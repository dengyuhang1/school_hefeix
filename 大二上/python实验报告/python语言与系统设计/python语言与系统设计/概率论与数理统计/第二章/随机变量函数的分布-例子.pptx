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3" r:id="rId3"/>
  </p:sldIdLst>
  <p:sldSz cx="9144000" cy="6858000" type="screen4x3"/>
  <p:notesSz cx="6337300" cy="9077325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90204" pitchFamily="34" charset="0"/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90204" pitchFamily="34" charset="0"/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90204" pitchFamily="34" charset="0"/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90204" pitchFamily="34" charset="0"/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90204" pitchFamily="34" charset="0"/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隶书" pitchFamily="1" charset="-122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990000"/>
    <a:srgbClr val="00FF00"/>
    <a:srgbClr val="4D4D4D"/>
    <a:srgbClr val="C0C0C0"/>
    <a:srgbClr val="0000FF"/>
    <a:srgbClr val="FF7C8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78" y="-114"/>
      </p:cViewPr>
      <p:guideLst>
        <p:guide orient="horz" pos="2172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46375" cy="454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8075" tIns="44038" rIns="88075" bIns="44038" numCol="1" anchor="t" anchorCtr="0" compatLnSpc="1"/>
          <a:lstStyle>
            <a:lvl1pPr defTabSz="881380">
              <a:defRPr sz="1200" b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589338" y="0"/>
            <a:ext cx="2746375" cy="454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8075" tIns="44038" rIns="88075" bIns="44038" numCol="1" anchor="t" anchorCtr="0" compatLnSpc="1"/>
          <a:lstStyle>
            <a:lvl1pPr algn="r" defTabSz="881380">
              <a:defRPr sz="1200" b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898525" y="681038"/>
            <a:ext cx="4540250" cy="3403600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3413" y="4311650"/>
            <a:ext cx="5070475" cy="408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8075" tIns="44038" rIns="88075" bIns="44038" numCol="1" anchor="ctr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746375" cy="454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8075" tIns="44038" rIns="88075" bIns="44038" numCol="1" anchor="b" anchorCtr="0" compatLnSpc="1"/>
          <a:lstStyle>
            <a:lvl1pPr defTabSz="881380">
              <a:defRPr sz="1200" b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589338" y="8621713"/>
            <a:ext cx="2746375" cy="454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8075" tIns="44038" rIns="88075" bIns="44038" numCol="1" anchor="b" anchorCtr="0" compatLnSpc="1"/>
          <a:lstStyle>
            <a:lvl1pPr algn="r" defTabSz="881380">
              <a:defRPr sz="1200" b="0">
                <a:latin typeface="Arial" panose="020B0604020202090204" pitchFamily="34" charset="0"/>
              </a:defRPr>
            </a:lvl1pPr>
          </a:lstStyle>
          <a:p>
            <a:fld id="{15912BF0-2E33-48F5-9348-46DB44478265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B3FAD0-15A5-4BD9-A87E-3F9470DE24B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1B7431-DF92-450D-BF92-E778D690C4F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0508D4-5D47-419A-BF48-3C1A2E50A2E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630DEC-200B-4F5E-89F6-840999D08F7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23798F-91E6-4863-A479-9602CCC4621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DC7EC7B-FBA8-4B0C-837D-ED4AB66ACE6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87663F-EA91-4D9F-943F-1211ECBE90C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775A65-3308-4B8F-8C55-DF3785DD2EF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F40038-8780-4E26-A414-BB66DCFF6F0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2E4002-6070-4710-9C47-2ADE311EEF4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1138" y="333375"/>
            <a:ext cx="2006600" cy="56864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9750" y="333375"/>
            <a:ext cx="5868988" cy="56864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C7715E-E5B3-4276-A874-DC4223C8D80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333375"/>
            <a:ext cx="8001000" cy="1216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smtClean="0"/>
              <a:t>单击此处编辑母版标题样式</a:t>
            </a:r>
            <a:endParaRPr 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smtClean="0"/>
              <a:t>单击此处编辑母版文本样式</a:t>
            </a:r>
            <a:endParaRPr lang="zh-CN" smtClean="0"/>
          </a:p>
          <a:p>
            <a:pPr lvl="1"/>
            <a:r>
              <a:rPr lang="zh-CN" smtClean="0"/>
              <a:t>第二级</a:t>
            </a:r>
            <a:endParaRPr lang="zh-CN" smtClean="0"/>
          </a:p>
          <a:p>
            <a:pPr lvl="2"/>
            <a:r>
              <a:rPr lang="zh-CN" smtClean="0"/>
              <a:t>第三级</a:t>
            </a:r>
            <a:endParaRPr lang="zh-CN" smtClean="0"/>
          </a:p>
          <a:p>
            <a:pPr lvl="3"/>
            <a:r>
              <a:rPr lang="zh-CN" smtClean="0"/>
              <a:t>第四级</a:t>
            </a:r>
            <a:endParaRPr lang="zh-CN" smtClean="0"/>
          </a:p>
          <a:p>
            <a:pPr lvl="4"/>
            <a:r>
              <a:rPr lang="zh-CN" smtClean="0"/>
              <a:t>第五级</a:t>
            </a:r>
            <a:endParaRPr lang="zh-CN" smtClean="0"/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 flipV="1">
            <a:off x="179388" y="6453188"/>
            <a:ext cx="8713787" cy="0"/>
          </a:xfrm>
          <a:prstGeom prst="line">
            <a:avLst/>
          </a:prstGeom>
          <a:noFill/>
          <a:ln w="57150" cmpd="thinThick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038725" y="6453188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b="0">
                <a:solidFill>
                  <a:schemeClr val="accent2"/>
                </a:solidFill>
                <a:latin typeface="Monotype Corsiva" pitchFamily="2" charset="0"/>
              </a:defRPr>
            </a:lvl1pPr>
          </a:lstStyle>
          <a:p>
            <a:fld id="{BDBA20F4-2916-4DC7-BD82-DF46D7B1328C}" type="slidenum">
              <a:rPr lang="en-US"/>
            </a:fld>
            <a:endParaRPr lang="en-US"/>
          </a:p>
        </p:txBody>
      </p:sp>
      <p:sp>
        <p:nvSpPr>
          <p:cNvPr id="1030" name="Text Box 9"/>
          <p:cNvSpPr txBox="1">
            <a:spLocks noChangeArrowheads="1"/>
          </p:cNvSpPr>
          <p:nvPr/>
        </p:nvSpPr>
        <p:spPr bwMode="auto">
          <a:xfrm>
            <a:off x="7308850" y="6453188"/>
            <a:ext cx="1557338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800" b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2" charset="0"/>
              </a:rPr>
              <a:t>2005 He Xianzhi</a:t>
            </a:r>
            <a:endParaRPr lang="en-US" sz="1800" b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onotype Corsiva" pitchFamily="2" charset="0"/>
            </a:endParaRPr>
          </a:p>
        </p:txBody>
      </p:sp>
      <p:sp>
        <p:nvSpPr>
          <p:cNvPr id="1031" name="Text Box 14" descr="小纸屑"/>
          <p:cNvSpPr txBox="1">
            <a:spLocks noChangeArrowheads="1"/>
          </p:cNvSpPr>
          <p:nvPr/>
        </p:nvSpPr>
        <p:spPr bwMode="auto">
          <a:xfrm>
            <a:off x="34925" y="6453188"/>
            <a:ext cx="4681538" cy="334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1600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1" charset="-122"/>
                <a:ea typeface="仿宋_GB2312" pitchFamily="1" charset="-122"/>
              </a:rPr>
              <a:t>合肥工业大学精品课程 概率论与数理统计</a:t>
            </a:r>
            <a:endParaRPr lang="zh-CN" altLang="en-US" sz="1600" i="1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1" charset="-122"/>
              <a:ea typeface="仿宋_GB2312" pitchFamily="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 autoUpdateAnimBg="0"/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804030504040204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 descr="0081"/>
          <p:cNvSpPr txBox="1">
            <a:spLocks noChangeArrowheads="1"/>
          </p:cNvSpPr>
          <p:nvPr/>
        </p:nvSpPr>
        <p:spPr bwMode="auto">
          <a:xfrm>
            <a:off x="372616" y="2132856"/>
            <a:ext cx="419938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0" dirty="0" smtClean="0">
                <a:latin typeface="楷体" pitchFamily="49" charset="-122"/>
                <a:ea typeface="楷体" pitchFamily="49" charset="-122"/>
              </a:rPr>
              <a:t>求</a:t>
            </a:r>
            <a:r>
              <a:rPr lang="en-US" altLang="zh-CN" b="0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0" i="1" dirty="0" smtClean="0"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Y=</a:t>
            </a:r>
            <a:r>
              <a:rPr lang="en-US" altLang="zh-CN" b="0" i="1" dirty="0" err="1" smtClean="0"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sinX </a:t>
            </a:r>
            <a:r>
              <a:rPr lang="zh-CN" altLang="en-US" b="0" dirty="0" smtClean="0">
                <a:latin typeface="楷体" pitchFamily="49" charset="-122"/>
                <a:ea typeface="楷体" pitchFamily="49" charset="-122"/>
              </a:rPr>
              <a:t>的概率密度</a:t>
            </a:r>
            <a:r>
              <a:rPr lang="en-US" altLang="zh-CN" b="0" dirty="0" smtClean="0">
                <a:latin typeface="楷体" pitchFamily="49" charset="-122"/>
                <a:ea typeface="楷体" pitchFamily="49" charset="-122"/>
              </a:rPr>
              <a:t>.</a:t>
            </a:r>
            <a:endParaRPr lang="zh-CN" altLang="en-US" b="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76200" y="204788"/>
            <a:ext cx="89154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</a:rPr>
              <a:t>       </a:t>
            </a:r>
            <a:r>
              <a:rPr lang="zh-CN" altLang="en-US" b="0" dirty="0" smtClean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b="0" dirty="0" smtClean="0">
                <a:latin typeface="楷体" pitchFamily="49" charset="-122"/>
                <a:ea typeface="楷体" pitchFamily="49" charset="-122"/>
              </a:rPr>
              <a:t>.  </a:t>
            </a:r>
            <a:r>
              <a:rPr lang="zh-CN" altLang="en-US" b="0" dirty="0" smtClean="0">
                <a:latin typeface="楷体" pitchFamily="49" charset="-122"/>
                <a:ea typeface="楷体" pitchFamily="49" charset="-122"/>
              </a:rPr>
              <a:t>设</a:t>
            </a:r>
            <a:r>
              <a:rPr lang="en-US" altLang="zh-CN" b="0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0" i="1" dirty="0" smtClean="0">
                <a:latin typeface="Times New Roman" panose="02020503050405090304" pitchFamily="18" charset="0"/>
                <a:ea typeface="楷体" pitchFamily="49" charset="-122"/>
                <a:cs typeface="Times New Roman" panose="02020503050405090304" pitchFamily="18" charset="0"/>
              </a:rPr>
              <a:t>X </a:t>
            </a:r>
            <a:r>
              <a:rPr lang="zh-CN" altLang="en-US" b="0" dirty="0" smtClean="0">
                <a:latin typeface="楷体" pitchFamily="49" charset="-122"/>
                <a:ea typeface="楷体" pitchFamily="49" charset="-122"/>
              </a:rPr>
              <a:t>的概率密度为</a:t>
            </a:r>
            <a:endParaRPr lang="en-US" b="0" dirty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2627784" y="764704"/>
          <a:ext cx="3140657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38404800" imgH="15849600" progId="Equation.DSMT4">
                  <p:embed/>
                </p:oleObj>
              </mc:Choice>
              <mc:Fallback>
                <p:oleObj name="Equation" r:id="rId1" imgW="38404800" imgH="158496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784" y="764704"/>
                        <a:ext cx="3140657" cy="12961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2">
  <a:themeElements>
    <a:clrScheme name="ch2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ch2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隶书" pitchFamily="1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隶书" pitchFamily="1" charset="-122"/>
            <a:ea typeface="宋体" pitchFamily="2" charset="-122"/>
          </a:defRPr>
        </a:defPPr>
      </a:lstStyle>
    </a:lnDef>
  </a:objectDefaults>
  <a:extraClrSchemeLst>
    <a:extraClrScheme>
      <a:clrScheme name="ch2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2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2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2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2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2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2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2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2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ch2</Template>
  <TotalTime>0</TotalTime>
  <Words>36</Words>
  <Application>WPS 演示</Application>
  <PresentationFormat>全屏显示(4:3)</PresentationFormat>
  <Paragraphs>4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9" baseType="lpstr">
      <vt:lpstr>Arial</vt:lpstr>
      <vt:lpstr>宋体</vt:lpstr>
      <vt:lpstr>Wingdings</vt:lpstr>
      <vt:lpstr>隶书</vt:lpstr>
      <vt:lpstr>报隶-简</vt:lpstr>
      <vt:lpstr>汉仪书宋二KW</vt:lpstr>
      <vt:lpstr>Monotype Corsiva</vt:lpstr>
      <vt:lpstr>苹方-简</vt:lpstr>
      <vt:lpstr>仿宋_GB2312</vt:lpstr>
      <vt:lpstr>Verdana</vt:lpstr>
      <vt:lpstr>楷体_GB2312</vt:lpstr>
      <vt:lpstr>汉仪楷体简</vt:lpstr>
      <vt:lpstr>Times New Roman</vt:lpstr>
      <vt:lpstr>方正楷体简体</vt:lpstr>
      <vt:lpstr>楷体</vt:lpstr>
      <vt:lpstr>汉仪楷体KW</vt:lpstr>
      <vt:lpstr>宋体</vt:lpstr>
      <vt:lpstr>Times New Roman</vt:lpstr>
      <vt:lpstr>微软雅黑</vt:lpstr>
      <vt:lpstr>汉仪旗黑</vt:lpstr>
      <vt:lpstr>宋体</vt:lpstr>
      <vt:lpstr>Arial Unicode MS</vt:lpstr>
      <vt:lpstr>Symbol</vt:lpstr>
      <vt:lpstr>Kingsoft Sign</vt:lpstr>
      <vt:lpstr>宋体-简</vt:lpstr>
      <vt:lpstr>方正仿宋_GBK</vt:lpstr>
      <vt:lpstr>ch2</vt:lpstr>
      <vt:lpstr>Equation.DSMT4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随机变量及其分布</dc:title>
  <dc:creator>admin</dc:creator>
  <cp:lastModifiedBy>基础部-金建军</cp:lastModifiedBy>
  <cp:revision>95</cp:revision>
  <dcterms:created xsi:type="dcterms:W3CDTF">2023-11-29T10:47:28Z</dcterms:created>
  <dcterms:modified xsi:type="dcterms:W3CDTF">2023-11-29T10:47:28Z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2052-6.3.0.8471</vt:lpwstr>
  </property>
  <property fmtid="{D5CDD505-2E9C-101B-9397-08002B2CF9AE}" pid="3" name="ICV">
    <vt:lpwstr>39C8E89B18F51B17BF166765CFE4060D_42</vt:lpwstr>
  </property>
</Properties>
</file>