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8" r:id="rId2"/>
    <p:sldId id="256" r:id="rId3"/>
    <p:sldId id="290" r:id="rId4"/>
    <p:sldId id="603" r:id="rId5"/>
    <p:sldId id="296" r:id="rId6"/>
    <p:sldId id="339" r:id="rId7"/>
    <p:sldId id="627" r:id="rId8"/>
    <p:sldId id="338" r:id="rId9"/>
    <p:sldId id="604" r:id="rId10"/>
    <p:sldId id="605" r:id="rId11"/>
    <p:sldId id="606" r:id="rId12"/>
    <p:sldId id="609" r:id="rId13"/>
    <p:sldId id="607" r:id="rId14"/>
    <p:sldId id="340" r:id="rId15"/>
    <p:sldId id="341" r:id="rId16"/>
    <p:sldId id="343" r:id="rId17"/>
    <p:sldId id="297" r:id="rId18"/>
    <p:sldId id="608" r:id="rId19"/>
    <p:sldId id="304" r:id="rId20"/>
    <p:sldId id="301" r:id="rId21"/>
    <p:sldId id="298" r:id="rId22"/>
    <p:sldId id="308" r:id="rId23"/>
    <p:sldId id="302" r:id="rId24"/>
    <p:sldId id="305" r:id="rId25"/>
    <p:sldId id="312" r:id="rId26"/>
    <p:sldId id="313" r:id="rId27"/>
    <p:sldId id="314" r:id="rId28"/>
    <p:sldId id="628" r:id="rId29"/>
    <p:sldId id="315" r:id="rId30"/>
    <p:sldId id="316" r:id="rId31"/>
    <p:sldId id="593" r:id="rId32"/>
    <p:sldId id="311" r:id="rId33"/>
  </p:sldIdLst>
  <p:sldSz cx="12192000" cy="6858000"/>
  <p:notesSz cx="6858000" cy="9144000"/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9FB95D0-CFA1-4186-9476-4BB1D2005734}">
          <p14:sldIdLst>
            <p14:sldId id="258"/>
            <p14:sldId id="256"/>
            <p14:sldId id="290"/>
            <p14:sldId id="603"/>
            <p14:sldId id="296"/>
            <p14:sldId id="339"/>
            <p14:sldId id="627"/>
            <p14:sldId id="338"/>
            <p14:sldId id="604"/>
            <p14:sldId id="605"/>
            <p14:sldId id="606"/>
            <p14:sldId id="609"/>
            <p14:sldId id="607"/>
            <p14:sldId id="340"/>
            <p14:sldId id="341"/>
            <p14:sldId id="343"/>
            <p14:sldId id="297"/>
            <p14:sldId id="608"/>
            <p14:sldId id="304"/>
            <p14:sldId id="301"/>
            <p14:sldId id="298"/>
            <p14:sldId id="308"/>
          </p14:sldIdLst>
        </p14:section>
        <p14:section name="无标题节" id="{F66907B6-572A-4C8C-B32F-18E8874DE5F6}">
          <p14:sldIdLst>
            <p14:sldId id="302"/>
            <p14:sldId id="305"/>
            <p14:sldId id="312"/>
            <p14:sldId id="313"/>
            <p14:sldId id="314"/>
            <p14:sldId id="628"/>
            <p14:sldId id="315"/>
            <p14:sldId id="316"/>
            <p14:sldId id="593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E87"/>
    <a:srgbClr val="E73A1C"/>
    <a:srgbClr val="26CCC5"/>
    <a:srgbClr val="166DBC"/>
    <a:srgbClr val="134F85"/>
    <a:srgbClr val="4BAC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598" autoAdjust="0"/>
  </p:normalViewPr>
  <p:slideViewPr>
    <p:cSldViewPr snapToGrid="0" snapToObjects="1">
      <p:cViewPr varScale="1">
        <p:scale>
          <a:sx n="37" d="100"/>
          <a:sy n="37" d="100"/>
        </p:scale>
        <p:origin x="5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2-16T01:07:3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1 0 10785 0 0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7CE4F-55EC-46C0-A1F9-6BD8F4BE0E6B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BDA6A-29CD-4D28-B6EA-E8D4FFDF60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823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685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97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667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194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477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122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496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61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729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916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278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528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019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339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669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909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691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540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954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#include&lt;iostream&gt;</a:t>
            </a:r>
          </a:p>
          <a:p>
            <a:r>
              <a:rPr lang="en-US" altLang="zh-CN" dirty="0"/>
              <a:t>#include&lt;fstream&gt;</a:t>
            </a:r>
          </a:p>
          <a:p>
            <a:endParaRPr lang="en-US" altLang="zh-CN" dirty="0"/>
          </a:p>
          <a:p>
            <a:r>
              <a:rPr lang="en-US" altLang="zh-CN" dirty="0"/>
              <a:t>using namespace std;</a:t>
            </a:r>
          </a:p>
          <a:p>
            <a:r>
              <a:rPr lang="en-US" altLang="zh-CN" dirty="0"/>
              <a:t>int main( )</a:t>
            </a:r>
          </a:p>
          <a:p>
            <a:r>
              <a:rPr lang="en-US" altLang="zh-CN" dirty="0"/>
              <a:t>{	float f = 123.23;	</a:t>
            </a:r>
          </a:p>
          <a:p>
            <a:r>
              <a:rPr lang="en-US" altLang="zh-CN" dirty="0"/>
              <a:t>	int n = 10;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ofstream</a:t>
            </a:r>
            <a:r>
              <a:rPr lang="en-US" altLang="zh-CN" dirty="0"/>
              <a:t> </a:t>
            </a:r>
            <a:r>
              <a:rPr lang="en-US" altLang="zh-CN" dirty="0" err="1"/>
              <a:t>outfile</a:t>
            </a:r>
            <a:r>
              <a:rPr lang="en-US" altLang="zh-CN" dirty="0"/>
              <a:t>; //</a:t>
            </a:r>
            <a:r>
              <a:rPr lang="zh-CN" altLang="en-US" dirty="0"/>
              <a:t>创建文件</a:t>
            </a:r>
          </a:p>
          <a:p>
            <a:r>
              <a:rPr lang="zh-CN" altLang="en-US" dirty="0"/>
              <a:t>	</a:t>
            </a:r>
            <a:r>
              <a:rPr lang="en-US" altLang="zh-CN" dirty="0" err="1"/>
              <a:t>outfile.open</a:t>
            </a:r>
            <a:r>
              <a:rPr lang="en-US" altLang="zh-CN" dirty="0"/>
              <a:t>("out.txt"); //</a:t>
            </a:r>
            <a:r>
              <a:rPr lang="zh-CN" altLang="en-US" dirty="0"/>
              <a:t>打开文件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if (!</a:t>
            </a:r>
            <a:r>
              <a:rPr lang="en-US" altLang="zh-CN" dirty="0" err="1"/>
              <a:t>outfile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&lt;&lt;"Cannot open out.txt for output!\n";</a:t>
            </a:r>
          </a:p>
          <a:p>
            <a:r>
              <a:rPr lang="en-US" altLang="zh-CN" dirty="0"/>
              <a:t>		return 1 ;	//</a:t>
            </a:r>
            <a:r>
              <a:rPr lang="zh-CN" altLang="en-US" dirty="0"/>
              <a:t>返回</a:t>
            </a:r>
            <a:r>
              <a:rPr lang="en-US" altLang="zh-CN" dirty="0"/>
              <a:t>1</a:t>
            </a:r>
            <a:r>
              <a:rPr lang="zh-CN" altLang="en-US" dirty="0"/>
              <a:t>表示打开文件不成功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outfile</a:t>
            </a:r>
            <a:r>
              <a:rPr lang="en-US" altLang="zh-CN" dirty="0"/>
              <a:t>&lt;&lt; n &lt;&lt; " " &lt;&lt; f &lt;&lt; "\n"; //</a:t>
            </a:r>
            <a:r>
              <a:rPr lang="zh-CN" altLang="en-US" dirty="0"/>
              <a:t>写文件</a:t>
            </a:r>
          </a:p>
          <a:p>
            <a:r>
              <a:rPr lang="zh-CN" altLang="en-US" dirty="0"/>
              <a:t>	</a:t>
            </a:r>
            <a:r>
              <a:rPr lang="en-US" altLang="zh-CN" dirty="0" err="1"/>
              <a:t>outfile</a:t>
            </a:r>
            <a:r>
              <a:rPr lang="en-US" altLang="zh-CN" dirty="0"/>
              <a:t>&lt;&lt;"This is a text file";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outfile.close</a:t>
            </a:r>
            <a:r>
              <a:rPr lang="en-US" altLang="zh-CN" dirty="0"/>
              <a:t>(); //</a:t>
            </a:r>
            <a:r>
              <a:rPr lang="zh-CN" altLang="en-US" dirty="0"/>
              <a:t>关闭文件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42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#include&lt;iostream&gt;</a:t>
            </a:r>
          </a:p>
          <a:p>
            <a:r>
              <a:rPr lang="en-US" altLang="zh-CN" dirty="0"/>
              <a:t>#include&lt;fstream&gt;</a:t>
            </a:r>
          </a:p>
          <a:p>
            <a:r>
              <a:rPr lang="en-US" altLang="zh-CN" dirty="0"/>
              <a:t>using namespace std;</a:t>
            </a:r>
          </a:p>
          <a:p>
            <a:r>
              <a:rPr lang="en-US" altLang="zh-CN" dirty="0"/>
              <a:t>int main( )</a:t>
            </a:r>
          </a:p>
          <a:p>
            <a:r>
              <a:rPr lang="en-US" altLang="zh-CN" dirty="0"/>
              <a:t>{	</a:t>
            </a:r>
            <a:r>
              <a:rPr lang="en-US" altLang="zh-CN" dirty="0" err="1"/>
              <a:t>ifstream</a:t>
            </a:r>
            <a:r>
              <a:rPr lang="en-US" altLang="zh-CN" dirty="0"/>
              <a:t> </a:t>
            </a:r>
            <a:r>
              <a:rPr lang="en-US" altLang="zh-CN" dirty="0" err="1"/>
              <a:t>infile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infile.open</a:t>
            </a:r>
            <a:r>
              <a:rPr lang="en-US" altLang="zh-CN" dirty="0"/>
              <a:t>("out.txt");</a:t>
            </a:r>
          </a:p>
          <a:p>
            <a:r>
              <a:rPr lang="en-US" altLang="zh-CN" dirty="0"/>
              <a:t>	if (!</a:t>
            </a:r>
            <a:r>
              <a:rPr lang="en-US" altLang="zh-CN" dirty="0" err="1"/>
              <a:t>infile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&lt;&lt;"Cannot open out.txt for input!\n";</a:t>
            </a:r>
          </a:p>
          <a:p>
            <a:r>
              <a:rPr lang="en-US" altLang="zh-CN" dirty="0"/>
              <a:t>		return 1 ;	// </a:t>
            </a:r>
            <a:r>
              <a:rPr lang="zh-CN" altLang="en-US" dirty="0"/>
              <a:t>返回</a:t>
            </a:r>
            <a:r>
              <a:rPr lang="en-US" altLang="zh-CN" dirty="0"/>
              <a:t>1</a:t>
            </a:r>
            <a:r>
              <a:rPr lang="zh-CN" altLang="en-US" dirty="0"/>
              <a:t>表示打开文件不成功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	float f;	int n;	char </a:t>
            </a:r>
            <a:r>
              <a:rPr lang="en-US" altLang="zh-CN" dirty="0" err="1"/>
              <a:t>ch</a:t>
            </a:r>
            <a:r>
              <a:rPr lang="en-US" altLang="zh-CN" dirty="0"/>
              <a:t>; char str[80];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infile</a:t>
            </a:r>
            <a:r>
              <a:rPr lang="en-US" altLang="zh-CN" dirty="0"/>
              <a:t>&gt;&gt; n &gt;&gt; f &gt;&gt; </a:t>
            </a:r>
            <a:r>
              <a:rPr lang="en-US" altLang="zh-CN" dirty="0" err="1"/>
              <a:t>ch</a:t>
            </a:r>
            <a:r>
              <a:rPr lang="en-US" altLang="zh-CN" dirty="0"/>
              <a:t> &gt;&gt; str;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n &lt;&lt; " " &lt;&lt; f &lt;&lt; " " &lt;&lt; </a:t>
            </a:r>
            <a:r>
              <a:rPr lang="en-US" altLang="zh-CN" dirty="0" err="1"/>
              <a:t>ch</a:t>
            </a:r>
            <a:r>
              <a:rPr lang="en-US" altLang="zh-CN" dirty="0"/>
              <a:t> &lt;&lt; "\n";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str 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infile.close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296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输入文件名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源文件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；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输出文件名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目标文件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#include&lt;fstream&gt;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using namespace std;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CopyFile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 char *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char *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	char 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	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from(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file_from,ios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::in); //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以文本方式打开文件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不存在则失败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 (!from) {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&lt;&lt;"Cannot open "&lt;&lt;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 for input!\n";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          return 1 ;	//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表示复制文件不成功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to(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	//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打开文件，如果不存在则创建新文件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 (!to) {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&lt;&lt;"Cannot open "&lt;&lt;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 for output!\n";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	return 1 ;	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} //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从流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中读一个字符到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中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成功的话则写入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，直到文件结束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while 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from.get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))    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to.put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	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from.close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		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to.close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	//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关闭文件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 // 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0</a:t>
            </a:r>
            <a:r>
              <a:rPr lang="zh-CN" altLang="en-US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表示文件复制成功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 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main()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	char source[30],object[30];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&lt;&lt;"Input source file name: ";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cin.getline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(source,30);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&lt;&lt;"Input target file name: ";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cin.getline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(object,30);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if(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CopyFile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source,object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)==1)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r>
              <a:rPr lang="en-US" altLang="zh-CN" sz="16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cerr</a:t>
            </a: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 Copy file failed\n";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0; 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6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736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0139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257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4391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26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930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#include&lt;iostream&gt;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using namespace std;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class Complex {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public: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Complex(double r = 0.0, double 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en-US" altLang="zh-CN" dirty="0">
                <a:latin typeface="Arial" panose="020B0604020202020204" pitchFamily="34" charset="0"/>
              </a:rPr>
              <a:t> = 0.0) : real(r), </a:t>
            </a:r>
            <a:r>
              <a:rPr lang="en-US" altLang="zh-CN" dirty="0" err="1">
                <a:latin typeface="Arial" panose="020B0604020202020204" pitchFamily="34" charset="0"/>
              </a:rPr>
              <a:t>imag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en-US" altLang="zh-CN" dirty="0">
                <a:latin typeface="Arial" panose="020B0604020202020204" pitchFamily="34" charset="0"/>
              </a:rPr>
              <a:t>) { }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friend Complex operator + (const Complex &amp;c1, const Complex &amp;c2);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friend Complex operator - (const Complex &amp;c1, const Complex &amp;c2);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friend Complex operator * (const Complex &amp;c1, const Complex &amp;c2);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friend Complex operator / (const Complex &amp;c1, const Complex &amp;c2);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friend </a:t>
            </a:r>
            <a:r>
              <a:rPr lang="en-US" altLang="zh-CN" dirty="0" err="1">
                <a:latin typeface="Arial" panose="020B0604020202020204" pitchFamily="34" charset="0"/>
              </a:rPr>
              <a:t>ostream</a:t>
            </a:r>
            <a:r>
              <a:rPr lang="en-US" altLang="zh-CN" dirty="0">
                <a:latin typeface="Arial" panose="020B0604020202020204" pitchFamily="34" charset="0"/>
              </a:rPr>
              <a:t>&amp; operator&lt;&lt;(</a:t>
            </a:r>
            <a:r>
              <a:rPr lang="en-US" altLang="zh-CN" dirty="0" err="1">
                <a:latin typeface="Arial" panose="020B0604020202020204" pitchFamily="34" charset="0"/>
              </a:rPr>
              <a:t>ostream</a:t>
            </a:r>
            <a:r>
              <a:rPr lang="en-US" altLang="zh-CN" dirty="0">
                <a:latin typeface="Arial" panose="020B0604020202020204" pitchFamily="34" charset="0"/>
              </a:rPr>
              <a:t>&amp; out, const Complex &amp; obj);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friend </a:t>
            </a:r>
            <a:r>
              <a:rPr lang="en-US" altLang="zh-CN" dirty="0" err="1">
                <a:latin typeface="Arial" panose="020B0604020202020204" pitchFamily="34" charset="0"/>
              </a:rPr>
              <a:t>istream</a:t>
            </a:r>
            <a:r>
              <a:rPr lang="en-US" altLang="zh-CN" dirty="0">
                <a:latin typeface="Arial" panose="020B0604020202020204" pitchFamily="34" charset="0"/>
              </a:rPr>
              <a:t>&amp; operator&gt;&gt;(</a:t>
            </a:r>
            <a:r>
              <a:rPr lang="en-US" altLang="zh-CN" dirty="0" err="1">
                <a:latin typeface="Arial" panose="020B0604020202020204" pitchFamily="34" charset="0"/>
              </a:rPr>
              <a:t>istream</a:t>
            </a:r>
            <a:r>
              <a:rPr lang="en-US" altLang="zh-CN" dirty="0">
                <a:latin typeface="Arial" panose="020B0604020202020204" pitchFamily="34" charset="0"/>
              </a:rPr>
              <a:t>&amp; in, Complex &amp; obj);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private: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double real;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double </a:t>
            </a:r>
            <a:r>
              <a:rPr lang="en-US" altLang="zh-CN" dirty="0" err="1">
                <a:latin typeface="Arial" panose="020B0604020202020204" pitchFamily="34" charset="0"/>
              </a:rPr>
              <a:t>imag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};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 err="1">
                <a:latin typeface="Arial" panose="020B0604020202020204" pitchFamily="34" charset="0"/>
              </a:rPr>
              <a:t>ostream</a:t>
            </a:r>
            <a:r>
              <a:rPr lang="en-US" altLang="zh-CN" dirty="0">
                <a:latin typeface="Arial" panose="020B0604020202020204" pitchFamily="34" charset="0"/>
              </a:rPr>
              <a:t>&amp; operator&lt;&lt;(</a:t>
            </a:r>
            <a:r>
              <a:rPr lang="en-US" altLang="zh-CN" dirty="0" err="1">
                <a:latin typeface="Arial" panose="020B0604020202020204" pitchFamily="34" charset="0"/>
              </a:rPr>
              <a:t>ostream</a:t>
            </a:r>
            <a:r>
              <a:rPr lang="en-US" altLang="zh-CN" dirty="0">
                <a:latin typeface="Arial" panose="020B0604020202020204" pitchFamily="34" charset="0"/>
              </a:rPr>
              <a:t>&amp; out, const Complex &amp; obj)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	if(</a:t>
            </a:r>
            <a:r>
              <a:rPr lang="en-US" altLang="zh-CN" dirty="0" err="1">
                <a:latin typeface="Arial" panose="020B0604020202020204" pitchFamily="34" charset="0"/>
              </a:rPr>
              <a:t>obj.real</a:t>
            </a:r>
            <a:r>
              <a:rPr lang="en-US" altLang="zh-CN" dirty="0">
                <a:latin typeface="Arial" panose="020B0604020202020204" pitchFamily="34" charset="0"/>
              </a:rPr>
              <a:t>!=0) out&lt;&lt;</a:t>
            </a:r>
            <a:r>
              <a:rPr lang="en-US" altLang="zh-CN" dirty="0" err="1">
                <a:latin typeface="Arial" panose="020B0604020202020204" pitchFamily="34" charset="0"/>
              </a:rPr>
              <a:t>obj.real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else if(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==0){out&lt;&lt;0&lt;&lt;'\n'; return out;}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if(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&gt;0)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{	if(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!=1) out&lt;&lt;'+'&lt;&lt;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&lt;&lt;'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en-US" altLang="zh-CN" dirty="0">
                <a:latin typeface="Arial" panose="020B0604020202020204" pitchFamily="34" charset="0"/>
              </a:rPr>
              <a:t>';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else out&lt;&lt;'+'&lt;&lt;'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en-US" altLang="zh-CN" dirty="0">
                <a:latin typeface="Arial" panose="020B0604020202020204" pitchFamily="34" charset="0"/>
              </a:rPr>
              <a:t>';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else if(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&lt;0)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{	if(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!=-1) out&lt;&lt;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&lt;&lt;'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en-US" altLang="zh-CN" dirty="0">
                <a:latin typeface="Arial" panose="020B0604020202020204" pitchFamily="34" charset="0"/>
              </a:rPr>
              <a:t>';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else out&lt;&lt;'-'&lt;&lt;'</a:t>
            </a:r>
            <a:r>
              <a:rPr lang="en-US" altLang="zh-CN" dirty="0" err="1">
                <a:latin typeface="Arial" panose="020B0604020202020204" pitchFamily="34" charset="0"/>
              </a:rPr>
              <a:t>i</a:t>
            </a:r>
            <a:r>
              <a:rPr lang="en-US" altLang="zh-CN" dirty="0">
                <a:latin typeface="Arial" panose="020B0604020202020204" pitchFamily="34" charset="0"/>
              </a:rPr>
              <a:t>';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 &lt;&lt;"\n";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	return out;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 err="1">
                <a:latin typeface="Arial" panose="020B0604020202020204" pitchFamily="34" charset="0"/>
              </a:rPr>
              <a:t>istream</a:t>
            </a:r>
            <a:r>
              <a:rPr lang="en-US" altLang="zh-CN" dirty="0">
                <a:latin typeface="Arial" panose="020B0604020202020204" pitchFamily="34" charset="0"/>
              </a:rPr>
              <a:t>&amp; operator&gt;&gt;(</a:t>
            </a:r>
            <a:r>
              <a:rPr lang="en-US" altLang="zh-CN" dirty="0" err="1">
                <a:latin typeface="Arial" panose="020B0604020202020204" pitchFamily="34" charset="0"/>
              </a:rPr>
              <a:t>istream</a:t>
            </a:r>
            <a:r>
              <a:rPr lang="en-US" altLang="zh-CN" dirty="0">
                <a:latin typeface="Arial" panose="020B0604020202020204" pitchFamily="34" charset="0"/>
              </a:rPr>
              <a:t>&amp; in, Complex &amp; obj)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{char c1,c2;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&lt;&lt;"please input the Complex </a:t>
            </a:r>
            <a:r>
              <a:rPr lang="en-US" altLang="zh-CN" dirty="0" err="1">
                <a:latin typeface="Arial" panose="020B0604020202020204" pitchFamily="34" charset="0"/>
              </a:rPr>
              <a:t>a+bi</a:t>
            </a:r>
            <a:r>
              <a:rPr lang="en-US" altLang="zh-CN" dirty="0">
                <a:latin typeface="Arial" panose="020B0604020202020204" pitchFamily="34" charset="0"/>
              </a:rPr>
              <a:t>:";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in&gt;&gt;</a:t>
            </a:r>
            <a:r>
              <a:rPr lang="en-US" altLang="zh-CN" dirty="0" err="1">
                <a:latin typeface="Arial" panose="020B0604020202020204" pitchFamily="34" charset="0"/>
              </a:rPr>
              <a:t>obj.real</a:t>
            </a:r>
            <a:r>
              <a:rPr lang="en-US" altLang="zh-CN" dirty="0">
                <a:latin typeface="Arial" panose="020B0604020202020204" pitchFamily="34" charset="0"/>
              </a:rPr>
              <a:t>&gt;&gt;c1&gt;&gt;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&gt;&gt;c2;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if(c1=='-')  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 = -</a:t>
            </a:r>
            <a:r>
              <a:rPr lang="en-US" altLang="zh-CN" dirty="0" err="1">
                <a:latin typeface="Arial" panose="020B0604020202020204" pitchFamily="34" charset="0"/>
              </a:rPr>
              <a:t>obj.imag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return in;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Complex operator + (const Complex &amp;c1, const Complex &amp;c2) {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Complex(c1.real + c2.real, c1.imag + c2.imag);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Complex operator - (const Complex &amp;c1, const Complex &amp;c2) {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Complex(c1.real - c2.real, c1.imag - c2.imag);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Complex operator * (const Complex &amp;c1, const Complex &amp;c2) {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Complex(c1.real * c2.real-c1.imag * c2.imag, c1.imag* c2.real + c1.real*c2.imag);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Complex operator / (const Complex &amp;c1, const Complex &amp;c2) {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double t=(c2.imag*c2.imag + c2.real*c2.real);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Complex((c1.real * c2.real+c1.imag * c2.imag)/t, (-c1.real * c2.imag+c1.imag * c2.real)/t);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int main() {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Complex c1, c2, c3;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cin</a:t>
            </a:r>
            <a:r>
              <a:rPr lang="en-US" altLang="zh-CN" dirty="0">
                <a:latin typeface="Arial" panose="020B0604020202020204" pitchFamily="34" charset="0"/>
              </a:rPr>
              <a:t>&gt;&gt;c1&gt;&gt;c2;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c3=c1+c2; 	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cout</a:t>
            </a:r>
            <a:r>
              <a:rPr lang="en-US" altLang="zh-CN" dirty="0">
                <a:latin typeface="Arial" panose="020B0604020202020204" pitchFamily="34" charset="0"/>
              </a:rPr>
              <a:t>&lt;&lt;c1&lt;&lt;c2&lt;&lt;c3&lt;&lt;</a:t>
            </a:r>
            <a:r>
              <a:rPr lang="en-US" altLang="zh-CN" dirty="0" err="1">
                <a:latin typeface="Arial" panose="020B0604020202020204" pitchFamily="34" charset="0"/>
              </a:rPr>
              <a:t>endl</a:t>
            </a:r>
            <a:r>
              <a:rPr lang="en-US" altLang="zh-CN" dirty="0">
                <a:latin typeface="Arial" panose="020B0604020202020204" pitchFamily="34" charset="0"/>
              </a:rPr>
              <a:t>;	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0;</a:t>
            </a:r>
          </a:p>
          <a:p>
            <a:r>
              <a:rPr lang="en-US" altLang="zh-CN">
                <a:latin typeface="Arial" panose="020B0604020202020204" pitchFamily="34" charset="0"/>
              </a:rPr>
              <a:t>}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8316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ABDA6A-29CD-4D28-B6EA-E8D4FFDF604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207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6096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gif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gif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7231" y="2388"/>
            <a:ext cx="12190413" cy="29650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2965058"/>
            <a:ext cx="121976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latin typeface="华光淡古印_CNKI" panose="02000500000000000000" pitchFamily="2" charset="-122"/>
                <a:ea typeface="华光淡古印_CNKI" panose="02000500000000000000" pitchFamily="2" charset="-122"/>
              </a:rPr>
              <a:t>第</a:t>
            </a:r>
            <a:r>
              <a:rPr lang="en-US" altLang="zh-CN" sz="6000" b="1" dirty="0">
                <a:latin typeface="华光淡古印_CNKI" panose="02000500000000000000" pitchFamily="2" charset="-122"/>
                <a:ea typeface="华光淡古印_CNKI" panose="02000500000000000000" pitchFamily="2" charset="-122"/>
              </a:rPr>
              <a:t>12</a:t>
            </a:r>
            <a:r>
              <a:rPr lang="zh-CN" altLang="en-US" sz="6000" b="1" dirty="0">
                <a:latin typeface="华光淡古印_CNKI" panose="02000500000000000000" pitchFamily="2" charset="-122"/>
                <a:ea typeface="华光淡古印_CNKI" panose="02000500000000000000" pitchFamily="2" charset="-122"/>
              </a:rPr>
              <a:t>讲 流类库与输入输出</a:t>
            </a:r>
            <a:endParaRPr lang="zh-CN" altLang="en-US" sz="6000" b="1" dirty="0">
              <a:latin typeface="华光淡古印_CNKI" panose="02000500000000000000" pitchFamily="2" charset="-122"/>
              <a:ea typeface="华光淡古印_CNKI" panose="02000500000000000000" pitchFamily="2" charset="-122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45249" y="2434852"/>
            <a:ext cx="363125" cy="413514"/>
            <a:chOff x="3170996" y="382686"/>
            <a:chExt cx="807829" cy="807829"/>
          </a:xfrm>
        </p:grpSpPr>
        <p:sp>
          <p:nvSpPr>
            <p:cNvPr id="6" name="椭圆 5"/>
            <p:cNvSpPr/>
            <p:nvPr/>
          </p:nvSpPr>
          <p:spPr>
            <a:xfrm>
              <a:off x="317099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349624" y="443558"/>
              <a:ext cx="450568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5"/>
                  </a:solidFill>
                </a:rPr>
                <a:t>R</a:t>
              </a:r>
              <a:endParaRPr kumimoji="1" lang="zh-CN" altLang="en-US" sz="18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121733" y="2434852"/>
            <a:ext cx="363124" cy="413514"/>
            <a:chOff x="2173906" y="382686"/>
            <a:chExt cx="807829" cy="807829"/>
          </a:xfrm>
        </p:grpSpPr>
        <p:sp>
          <p:nvSpPr>
            <p:cNvPr id="5" name="椭圆 4"/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355927" y="443558"/>
              <a:ext cx="443783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P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168766" y="2434852"/>
            <a:ext cx="363124" cy="413514"/>
            <a:chOff x="4168089" y="382686"/>
            <a:chExt cx="807830" cy="807829"/>
          </a:xfrm>
        </p:grpSpPr>
        <p:sp>
          <p:nvSpPr>
            <p:cNvPr id="9" name="椭圆 8"/>
            <p:cNvSpPr/>
            <p:nvPr/>
          </p:nvSpPr>
          <p:spPr>
            <a:xfrm>
              <a:off x="4168089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04865" y="443558"/>
              <a:ext cx="534260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3"/>
                  </a:solidFill>
                </a:rPr>
                <a:t>O</a:t>
              </a:r>
              <a:endParaRPr kumimoji="1" lang="zh-CN" altLang="en-US" sz="1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692282" y="2434852"/>
            <a:ext cx="363124" cy="413514"/>
            <a:chOff x="5165176" y="382686"/>
            <a:chExt cx="807829" cy="807829"/>
          </a:xfrm>
        </p:grpSpPr>
        <p:sp>
          <p:nvSpPr>
            <p:cNvPr id="15" name="椭圆 14"/>
            <p:cNvSpPr/>
            <p:nvPr/>
          </p:nvSpPr>
          <p:spPr>
            <a:xfrm>
              <a:off x="516517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rgbClr val="104D7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301956" y="443558"/>
              <a:ext cx="534259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1"/>
                  </a:solidFill>
                </a:rPr>
                <a:t>G</a:t>
              </a:r>
              <a:endParaRPr kumimoji="1" lang="zh-CN" altLang="en-US" sz="1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215798" y="2434852"/>
            <a:ext cx="363124" cy="413514"/>
            <a:chOff x="6162270" y="382686"/>
            <a:chExt cx="807830" cy="807829"/>
          </a:xfrm>
        </p:grpSpPr>
        <p:sp>
          <p:nvSpPr>
            <p:cNvPr id="18" name="椭圆 17"/>
            <p:cNvSpPr/>
            <p:nvPr/>
          </p:nvSpPr>
          <p:spPr>
            <a:xfrm>
              <a:off x="6162270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40893" y="443558"/>
              <a:ext cx="450570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6"/>
                  </a:solidFill>
                </a:rPr>
                <a:t>R</a:t>
              </a:r>
              <a:endParaRPr kumimoji="1" lang="zh-CN" altLang="en-US" sz="18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0" y="4193074"/>
            <a:ext cx="12197644" cy="4339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kumimoji="1" lang="en-US" altLang="zh-CN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“</a:t>
            </a:r>
            <a:r>
              <a:rPr kumimoji="1" lang="zh-CN" altLang="en-US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回到新起点</a:t>
            </a:r>
            <a:r>
              <a:rPr kumimoji="1" lang="en-US" altLang="zh-CN" b="1" dirty="0">
                <a:latin typeface="华光行书_CNKI" panose="02000500000000000000" pitchFamily="2" charset="-122"/>
                <a:ea typeface="华光行书_CNKI" panose="02000500000000000000" pitchFamily="2" charset="-122"/>
              </a:rPr>
              <a:t>”</a:t>
            </a:r>
          </a:p>
        </p:txBody>
      </p:sp>
      <p:cxnSp>
        <p:nvCxnSpPr>
          <p:cNvPr id="3" name="直线连接符 2"/>
          <p:cNvCxnSpPr>
            <a:cxnSpLocks/>
          </p:cNvCxnSpPr>
          <p:nvPr/>
        </p:nvCxnSpPr>
        <p:spPr>
          <a:xfrm>
            <a:off x="1730618" y="3946163"/>
            <a:ext cx="8724900" cy="0"/>
          </a:xfrm>
          <a:prstGeom prst="line">
            <a:avLst/>
          </a:prstGeom>
          <a:ln w="381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FF5E2B-968F-4983-AA69-D0255BF69A6B}"/>
              </a:ext>
            </a:extLst>
          </p:cNvPr>
          <p:cNvGrpSpPr/>
          <p:nvPr/>
        </p:nvGrpSpPr>
        <p:grpSpPr>
          <a:xfrm>
            <a:off x="6262830" y="2434852"/>
            <a:ext cx="363125" cy="413514"/>
            <a:chOff x="3170996" y="382686"/>
            <a:chExt cx="807829" cy="807829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9FDA05E-C5DE-4BD3-B147-0A8A8E4A7272}"/>
                </a:ext>
              </a:extLst>
            </p:cNvPr>
            <p:cNvSpPr/>
            <p:nvPr/>
          </p:nvSpPr>
          <p:spPr>
            <a:xfrm>
              <a:off x="317099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C448F4D-31E2-469F-9A7E-C21EECAAABD1}"/>
                </a:ext>
              </a:extLst>
            </p:cNvPr>
            <p:cNvSpPr txBox="1"/>
            <p:nvPr/>
          </p:nvSpPr>
          <p:spPr>
            <a:xfrm>
              <a:off x="3297601" y="443558"/>
              <a:ext cx="554615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5"/>
                  </a:solidFill>
                </a:rPr>
                <a:t>M</a:t>
              </a:r>
              <a:endParaRPr kumimoji="1" lang="zh-CN" altLang="en-US" sz="18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3B0A5A3-8939-4A4D-A5CE-CA844F988E59}"/>
              </a:ext>
            </a:extLst>
          </p:cNvPr>
          <p:cNvGrpSpPr/>
          <p:nvPr/>
        </p:nvGrpSpPr>
        <p:grpSpPr>
          <a:xfrm>
            <a:off x="5739314" y="2434852"/>
            <a:ext cx="363124" cy="413514"/>
            <a:chOff x="2173906" y="382686"/>
            <a:chExt cx="807829" cy="807829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481AC01-11C7-42EA-B1CC-0DEF571A0498}"/>
                </a:ext>
              </a:extLst>
            </p:cNvPr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A32D12B-6482-4BB8-9FD4-3FE7F1EE81A0}"/>
                </a:ext>
              </a:extLst>
            </p:cNvPr>
            <p:cNvSpPr txBox="1"/>
            <p:nvPr/>
          </p:nvSpPr>
          <p:spPr>
            <a:xfrm>
              <a:off x="2326521" y="443558"/>
              <a:ext cx="502594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A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E928632-5174-4A81-8188-2424A6BCE693}"/>
              </a:ext>
            </a:extLst>
          </p:cNvPr>
          <p:cNvGrpSpPr/>
          <p:nvPr/>
        </p:nvGrpSpPr>
        <p:grpSpPr>
          <a:xfrm>
            <a:off x="6786347" y="2434852"/>
            <a:ext cx="363124" cy="413514"/>
            <a:chOff x="4168089" y="382686"/>
            <a:chExt cx="807830" cy="807829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3F30FF9-B929-4714-AE37-FD8C1E60C9FA}"/>
                </a:ext>
              </a:extLst>
            </p:cNvPr>
            <p:cNvSpPr/>
            <p:nvPr/>
          </p:nvSpPr>
          <p:spPr>
            <a:xfrm>
              <a:off x="4168089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3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367262D-8BB8-4917-83EE-13C6F604B7DB}"/>
                </a:ext>
              </a:extLst>
            </p:cNvPr>
            <p:cNvSpPr txBox="1"/>
            <p:nvPr/>
          </p:nvSpPr>
          <p:spPr>
            <a:xfrm>
              <a:off x="4294687" y="443558"/>
              <a:ext cx="554617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3"/>
                  </a:solidFill>
                </a:rPr>
                <a:t>M</a:t>
              </a:r>
              <a:endParaRPr kumimoji="1" lang="zh-CN" altLang="en-US" sz="18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3B54DD-FA9B-4F67-A1B9-1A5BFBF4C1E8}"/>
              </a:ext>
            </a:extLst>
          </p:cNvPr>
          <p:cNvGrpSpPr/>
          <p:nvPr/>
        </p:nvGrpSpPr>
        <p:grpSpPr>
          <a:xfrm>
            <a:off x="7309863" y="2434852"/>
            <a:ext cx="363124" cy="413514"/>
            <a:chOff x="5165176" y="382686"/>
            <a:chExt cx="807829" cy="807829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4C96447-7AA1-416E-BE12-B2194AA8E056}"/>
                </a:ext>
              </a:extLst>
            </p:cNvPr>
            <p:cNvSpPr/>
            <p:nvPr/>
          </p:nvSpPr>
          <p:spPr>
            <a:xfrm>
              <a:off x="516517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rgbClr val="104D7E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8FC93182-7886-4A62-9FD2-52B8CBCA9AC3}"/>
                </a:ext>
              </a:extLst>
            </p:cNvPr>
            <p:cNvSpPr txBox="1"/>
            <p:nvPr/>
          </p:nvSpPr>
          <p:spPr>
            <a:xfrm>
              <a:off x="5393561" y="443558"/>
              <a:ext cx="351046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1"/>
                  </a:solidFill>
                </a:rPr>
                <a:t>I</a:t>
              </a:r>
              <a:endParaRPr kumimoji="1" lang="zh-CN" altLang="en-US" sz="1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E4F6443-905A-40E2-BC32-00244DBAACB0}"/>
              </a:ext>
            </a:extLst>
          </p:cNvPr>
          <p:cNvGrpSpPr/>
          <p:nvPr/>
        </p:nvGrpSpPr>
        <p:grpSpPr>
          <a:xfrm>
            <a:off x="7833379" y="2434852"/>
            <a:ext cx="363124" cy="413514"/>
            <a:chOff x="6162270" y="382686"/>
            <a:chExt cx="807830" cy="807829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96D3505-14F1-4BF5-8945-C781F2CA3DD7}"/>
                </a:ext>
              </a:extLst>
            </p:cNvPr>
            <p:cNvSpPr/>
            <p:nvPr/>
          </p:nvSpPr>
          <p:spPr>
            <a:xfrm>
              <a:off x="6162270" y="382686"/>
              <a:ext cx="807830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60A2BE7-434A-4388-96A8-24244761BE4C}"/>
                </a:ext>
              </a:extLst>
            </p:cNvPr>
            <p:cNvSpPr txBox="1"/>
            <p:nvPr/>
          </p:nvSpPr>
          <p:spPr>
            <a:xfrm>
              <a:off x="6314879" y="443558"/>
              <a:ext cx="502594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chemeClr val="accent6"/>
                  </a:solidFill>
                </a:rPr>
                <a:t>N</a:t>
              </a:r>
              <a:endParaRPr kumimoji="1" lang="zh-CN" altLang="en-US" sz="18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2608C73-10E9-4E79-A21B-887B7FF64371}"/>
              </a:ext>
            </a:extLst>
          </p:cNvPr>
          <p:cNvGrpSpPr/>
          <p:nvPr/>
        </p:nvGrpSpPr>
        <p:grpSpPr>
          <a:xfrm>
            <a:off x="8356894" y="2434852"/>
            <a:ext cx="363124" cy="413514"/>
            <a:chOff x="2173906" y="382686"/>
            <a:chExt cx="807829" cy="807829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E93575D-B2A7-4436-9F0F-52BCA3D0924E}"/>
                </a:ext>
              </a:extLst>
            </p:cNvPr>
            <p:cNvSpPr/>
            <p:nvPr/>
          </p:nvSpPr>
          <p:spPr>
            <a:xfrm>
              <a:off x="2173906" y="382686"/>
              <a:ext cx="807829" cy="807829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accent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6000"/>
                </a:lnSpc>
              </a:pPr>
              <a:endParaRPr kumimoji="1" lang="zh-CN" altLang="en-US" sz="1800" b="1" dirty="0">
                <a:solidFill>
                  <a:schemeClr val="accent2"/>
                </a:solidFill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DC5A2224-2232-4FF8-97F8-62FF709E299C}"/>
                </a:ext>
              </a:extLst>
            </p:cNvPr>
            <p:cNvSpPr txBox="1"/>
            <p:nvPr/>
          </p:nvSpPr>
          <p:spPr>
            <a:xfrm>
              <a:off x="2310689" y="443558"/>
              <a:ext cx="534259" cy="508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800" b="1" dirty="0">
                  <a:solidFill>
                    <a:srgbClr val="26CCC5"/>
                  </a:solidFill>
                </a:rPr>
                <a:t>G</a:t>
              </a:r>
              <a:endParaRPr kumimoji="1" lang="zh-CN" altLang="en-US" sz="1800" b="1" dirty="0">
                <a:solidFill>
                  <a:srgbClr val="26CCC5"/>
                </a:solidFill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2013217F-243B-3B15-C4EF-7377CBC6FA7D}"/>
              </a:ext>
            </a:extLst>
          </p:cNvPr>
          <p:cNvSpPr txBox="1"/>
          <p:nvPr/>
        </p:nvSpPr>
        <p:spPr>
          <a:xfrm>
            <a:off x="130978" y="5291201"/>
            <a:ext cx="12082298" cy="4247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kumimoji="1" lang="zh-CN" altLang="en-US" b="1" dirty="0"/>
              <a:t>计算机与信息学院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627" y="193734"/>
            <a:ext cx="12190413" cy="728917"/>
          </a:xfrm>
          <a:prstGeom prst="rect">
            <a:avLst/>
          </a:prstGeom>
          <a:solidFill>
            <a:srgbClr val="104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729992" y="226553"/>
            <a:ext cx="252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/>
              <a:t>目录</a:t>
            </a:r>
          </a:p>
        </p:txBody>
      </p:sp>
      <p:sp>
        <p:nvSpPr>
          <p:cNvPr id="80" name="Rectangle 5">
            <a:extLst>
              <a:ext uri="{FF2B5EF4-FFF2-40B4-BE49-F238E27FC236}">
                <a16:creationId xmlns:a16="http://schemas.microsoft.com/office/drawing/2014/main" id="{B7397FA8-FFF9-47E7-AB70-521BC687A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7" y="312204"/>
            <a:ext cx="747811" cy="897523"/>
          </a:xfrm>
          <a:prstGeom prst="roundRect">
            <a:avLst/>
          </a:prstGeom>
          <a:solidFill>
            <a:srgbClr val="134F85"/>
          </a:solidFill>
          <a:ln>
            <a:noFill/>
          </a:ln>
        </p:spPr>
        <p:txBody>
          <a:bodyPr lIns="68571" tIns="34285" rIns="68571" bIns="34285"/>
          <a:lstStyle/>
          <a:p>
            <a:endParaRPr lang="zh-CN" altLang="en-US" kern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85" name="Freeform 6">
            <a:extLst>
              <a:ext uri="{FF2B5EF4-FFF2-40B4-BE49-F238E27FC236}">
                <a16:creationId xmlns:a16="http://schemas.microsoft.com/office/drawing/2014/main" id="{51697D07-9E8B-4596-A1A4-60EC372D1875}"/>
              </a:ext>
            </a:extLst>
          </p:cNvPr>
          <p:cNvSpPr/>
          <p:nvPr/>
        </p:nvSpPr>
        <p:spPr bwMode="auto">
          <a:xfrm>
            <a:off x="158417" y="385414"/>
            <a:ext cx="571575" cy="718971"/>
          </a:xfrm>
          <a:custGeom>
            <a:avLst/>
            <a:gdLst>
              <a:gd name="T0" fmla="*/ 734716 w 1173"/>
              <a:gd name="T1" fmla="*/ 348495 h 1472"/>
              <a:gd name="T2" fmla="*/ 711330 w 1173"/>
              <a:gd name="T3" fmla="*/ 30615 h 1472"/>
              <a:gd name="T4" fmla="*/ 693141 w 1173"/>
              <a:gd name="T5" fmla="*/ 35175 h 1472"/>
              <a:gd name="T6" fmla="*/ 651565 w 1173"/>
              <a:gd name="T7" fmla="*/ 44295 h 1472"/>
              <a:gd name="T8" fmla="*/ 596997 w 1173"/>
              <a:gd name="T9" fmla="*/ 35175 h 1472"/>
              <a:gd name="T10" fmla="*/ 408609 w 1173"/>
              <a:gd name="T11" fmla="*/ 3257 h 1472"/>
              <a:gd name="T12" fmla="*/ 0 w 1173"/>
              <a:gd name="T13" fmla="*/ 500270 h 1472"/>
              <a:gd name="T14" fmla="*/ 417703 w 1173"/>
              <a:gd name="T15" fmla="*/ 955593 h 1472"/>
              <a:gd name="T16" fmla="*/ 762000 w 1173"/>
              <a:gd name="T17" fmla="*/ 707412 h 1472"/>
              <a:gd name="T18" fmla="*/ 706783 w 1173"/>
              <a:gd name="T19" fmla="*/ 674843 h 1472"/>
              <a:gd name="T20" fmla="*/ 449535 w 1173"/>
              <a:gd name="T21" fmla="*/ 891757 h 1472"/>
              <a:gd name="T22" fmla="*/ 188389 w 1173"/>
              <a:gd name="T23" fmla="*/ 472260 h 1472"/>
              <a:gd name="T24" fmla="*/ 417703 w 1173"/>
              <a:gd name="T25" fmla="*/ 67745 h 1472"/>
              <a:gd name="T26" fmla="*/ 679499 w 1173"/>
              <a:gd name="T27" fmla="*/ 371294 h 1472"/>
              <a:gd name="T28" fmla="*/ 734716 w 1173"/>
              <a:gd name="T29" fmla="*/ 348495 h 14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endParaRPr lang="zh-CN" altLang="en-US" kern="0">
              <a:solidFill>
                <a:sysClr val="windowText" lastClr="000000"/>
              </a:solidFill>
              <a:cs typeface="+mn-ea"/>
              <a:sym typeface="+mn-lt"/>
            </a:endParaRPr>
          </a:p>
        </p:txBody>
      </p:sp>
      <p:sp>
        <p:nvSpPr>
          <p:cNvPr id="94" name="Freeform 14">
            <a:extLst>
              <a:ext uri="{FF2B5EF4-FFF2-40B4-BE49-F238E27FC236}">
                <a16:creationId xmlns:a16="http://schemas.microsoft.com/office/drawing/2014/main" id="{C2734685-E184-4537-9B91-D51717144599}"/>
              </a:ext>
            </a:extLst>
          </p:cNvPr>
          <p:cNvSpPr/>
          <p:nvPr/>
        </p:nvSpPr>
        <p:spPr bwMode="auto">
          <a:xfrm>
            <a:off x="2927108" y="1805249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5" name="Freeform 15">
            <a:extLst>
              <a:ext uri="{FF2B5EF4-FFF2-40B4-BE49-F238E27FC236}">
                <a16:creationId xmlns:a16="http://schemas.microsoft.com/office/drawing/2014/main" id="{A793772A-5F44-4400-B13F-AC9E126E5742}"/>
              </a:ext>
            </a:extLst>
          </p:cNvPr>
          <p:cNvSpPr/>
          <p:nvPr/>
        </p:nvSpPr>
        <p:spPr bwMode="auto">
          <a:xfrm>
            <a:off x="3035414" y="1725477"/>
            <a:ext cx="593889" cy="73819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6279375 h 127"/>
              <a:gd name="T6" fmla="*/ 0 w 1038"/>
              <a:gd name="T7" fmla="*/ 76279375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6" name="Rectangle 16">
            <a:extLst>
              <a:ext uri="{FF2B5EF4-FFF2-40B4-BE49-F238E27FC236}">
                <a16:creationId xmlns:a16="http://schemas.microsoft.com/office/drawing/2014/main" id="{6F1CD838-5993-42AA-9AC7-009FCB69C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539" y="1725478"/>
            <a:ext cx="478444" cy="47744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97" name="Freeform 17">
            <a:extLst>
              <a:ext uri="{FF2B5EF4-FFF2-40B4-BE49-F238E27FC236}">
                <a16:creationId xmlns:a16="http://schemas.microsoft.com/office/drawing/2014/main" id="{720DB84E-10BF-474A-AB0E-14ED2E831F21}"/>
              </a:ext>
            </a:extLst>
          </p:cNvPr>
          <p:cNvSpPr/>
          <p:nvPr/>
        </p:nvSpPr>
        <p:spPr bwMode="auto">
          <a:xfrm>
            <a:off x="2927108" y="2488669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98" name="Freeform 18">
            <a:extLst>
              <a:ext uri="{FF2B5EF4-FFF2-40B4-BE49-F238E27FC236}">
                <a16:creationId xmlns:a16="http://schemas.microsoft.com/office/drawing/2014/main" id="{E8035C3D-2249-465E-A141-2FF566A87A8D}"/>
              </a:ext>
            </a:extLst>
          </p:cNvPr>
          <p:cNvSpPr/>
          <p:nvPr/>
        </p:nvSpPr>
        <p:spPr bwMode="auto">
          <a:xfrm>
            <a:off x="3035414" y="2408897"/>
            <a:ext cx="593889" cy="73819"/>
          </a:xfrm>
          <a:custGeom>
            <a:avLst/>
            <a:gdLst>
              <a:gd name="T0" fmla="*/ 58241460 w 1038"/>
              <a:gd name="T1" fmla="*/ 0 h 127"/>
              <a:gd name="T2" fmla="*/ 546306357 w 1038"/>
              <a:gd name="T3" fmla="*/ 0 h 127"/>
              <a:gd name="T4" fmla="*/ 604547817 w 1038"/>
              <a:gd name="T5" fmla="*/ 76279375 h 127"/>
              <a:gd name="T6" fmla="*/ 0 w 1038"/>
              <a:gd name="T7" fmla="*/ 76279375 h 127"/>
              <a:gd name="T8" fmla="*/ 58241460 w 1038"/>
              <a:gd name="T9" fmla="*/ 0 h 1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7">
                <a:moveTo>
                  <a:pt x="100" y="0"/>
                </a:moveTo>
                <a:lnTo>
                  <a:pt x="938" y="0"/>
                </a:lnTo>
                <a:lnTo>
                  <a:pt x="1038" y="127"/>
                </a:lnTo>
                <a:lnTo>
                  <a:pt x="0" y="127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3" name="Rectangle 19">
            <a:extLst>
              <a:ext uri="{FF2B5EF4-FFF2-40B4-BE49-F238E27FC236}">
                <a16:creationId xmlns:a16="http://schemas.microsoft.com/office/drawing/2014/main" id="{69CE7149-12BC-4EE7-BC62-49EBEB86C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539" y="2408897"/>
            <a:ext cx="478444" cy="47744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04" name="Freeform 20">
            <a:extLst>
              <a:ext uri="{FF2B5EF4-FFF2-40B4-BE49-F238E27FC236}">
                <a16:creationId xmlns:a16="http://schemas.microsoft.com/office/drawing/2014/main" id="{A0B57491-491C-4D07-96BC-7DBFD9537857}"/>
              </a:ext>
            </a:extLst>
          </p:cNvPr>
          <p:cNvSpPr/>
          <p:nvPr/>
        </p:nvSpPr>
        <p:spPr bwMode="auto">
          <a:xfrm>
            <a:off x="2927108" y="3119700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5" name="Freeform 21">
            <a:extLst>
              <a:ext uri="{FF2B5EF4-FFF2-40B4-BE49-F238E27FC236}">
                <a16:creationId xmlns:a16="http://schemas.microsoft.com/office/drawing/2014/main" id="{E942056E-E89F-49A8-9864-6DED726B8060}"/>
              </a:ext>
            </a:extLst>
          </p:cNvPr>
          <p:cNvSpPr/>
          <p:nvPr/>
        </p:nvSpPr>
        <p:spPr bwMode="auto">
          <a:xfrm>
            <a:off x="3035414" y="3038738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6" name="Rectangle 22">
            <a:extLst>
              <a:ext uri="{FF2B5EF4-FFF2-40B4-BE49-F238E27FC236}">
                <a16:creationId xmlns:a16="http://schemas.microsoft.com/office/drawing/2014/main" id="{F818DDC1-CCCA-418B-86B4-DBB22B523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539" y="3038738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07" name="Freeform 23">
            <a:extLst>
              <a:ext uri="{FF2B5EF4-FFF2-40B4-BE49-F238E27FC236}">
                <a16:creationId xmlns:a16="http://schemas.microsoft.com/office/drawing/2014/main" id="{7BE668D5-1A6B-4499-B31E-7E69CBF386BA}"/>
              </a:ext>
            </a:extLst>
          </p:cNvPr>
          <p:cNvSpPr/>
          <p:nvPr/>
        </p:nvSpPr>
        <p:spPr bwMode="auto">
          <a:xfrm>
            <a:off x="2927108" y="4400996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29733265-E06F-4932-910E-1C11B702C064}"/>
              </a:ext>
            </a:extLst>
          </p:cNvPr>
          <p:cNvSpPr/>
          <p:nvPr/>
        </p:nvSpPr>
        <p:spPr bwMode="auto">
          <a:xfrm>
            <a:off x="3035414" y="4320030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109" name="Rectangle 25">
            <a:extLst>
              <a:ext uri="{FF2B5EF4-FFF2-40B4-BE49-F238E27FC236}">
                <a16:creationId xmlns:a16="http://schemas.microsoft.com/office/drawing/2014/main" id="{826A0BD5-9C82-413A-AFE1-B9103A35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539" y="4320035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113" name="TextBox 63">
            <a:extLst>
              <a:ext uri="{FF2B5EF4-FFF2-40B4-BE49-F238E27FC236}">
                <a16:creationId xmlns:a16="http://schemas.microsoft.com/office/drawing/2014/main" id="{4913ECB2-6D19-44F0-8241-2134597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535" y="1867162"/>
            <a:ext cx="3437445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</a:rPr>
              <a:t>I/O</a:t>
            </a:r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</a:rPr>
              <a:t>流的概念及流类库结构</a:t>
            </a:r>
            <a:endParaRPr lang="en-US" altLang="zh-CN" sz="2200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</a:endParaRPr>
          </a:p>
        </p:txBody>
      </p:sp>
      <p:sp>
        <p:nvSpPr>
          <p:cNvPr id="114" name="TextBox 81">
            <a:extLst>
              <a:ext uri="{FF2B5EF4-FFF2-40B4-BE49-F238E27FC236}">
                <a16:creationId xmlns:a16="http://schemas.microsoft.com/office/drawing/2014/main" id="{3B78D7E4-54D2-41ED-A5BA-37E4865F5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810" y="1715954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5" name="TextBox 82">
            <a:extLst>
              <a:ext uri="{FF2B5EF4-FFF2-40B4-BE49-F238E27FC236}">
                <a16:creationId xmlns:a16="http://schemas.microsoft.com/office/drawing/2014/main" id="{A37238BC-680C-47E8-AF00-2D07C578E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536" y="2544626"/>
            <a:ext cx="3620256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3" tIns="34281" rIns="68563" bIns="34281">
            <a:spAutoFit/>
          </a:bodyPr>
          <a:lstStyle>
            <a:defPPr>
              <a:defRPr lang="en-US"/>
            </a:defPPr>
            <a:lvl1pPr>
              <a:defRPr sz="2200" b="1" kern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标准输入输出流</a:t>
            </a:r>
            <a:endParaRPr lang="en-US" altLang="zh-CN" dirty="0"/>
          </a:p>
        </p:txBody>
      </p:sp>
      <p:sp>
        <p:nvSpPr>
          <p:cNvPr id="116" name="TextBox 83">
            <a:extLst>
              <a:ext uri="{FF2B5EF4-FFF2-40B4-BE49-F238E27FC236}">
                <a16:creationId xmlns:a16="http://schemas.microsoft.com/office/drawing/2014/main" id="{02488E60-9DD1-4258-BC94-A36E4EB27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810" y="2421993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" name="TextBox 84">
            <a:extLst>
              <a:ext uri="{FF2B5EF4-FFF2-40B4-BE49-F238E27FC236}">
                <a16:creationId xmlns:a16="http://schemas.microsoft.com/office/drawing/2014/main" id="{59E0EA32-E21A-4834-9355-33D50F072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535" y="3168514"/>
            <a:ext cx="989660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defPPr>
              <a:defRPr lang="en-US"/>
            </a:defPPr>
            <a:lvl1pPr>
              <a:defRPr sz="2200" b="1" kern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文件流</a:t>
            </a:r>
            <a:endParaRPr lang="en-US" altLang="zh-CN" dirty="0"/>
          </a:p>
        </p:txBody>
      </p:sp>
      <p:sp>
        <p:nvSpPr>
          <p:cNvPr id="118" name="TextBox 85">
            <a:extLst>
              <a:ext uri="{FF2B5EF4-FFF2-40B4-BE49-F238E27FC236}">
                <a16:creationId xmlns:a16="http://schemas.microsoft.com/office/drawing/2014/main" id="{3B807396-F05B-485A-9E30-E6DA6D990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810" y="3036354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87">
            <a:extLst>
              <a:ext uri="{FF2B5EF4-FFF2-40B4-BE49-F238E27FC236}">
                <a16:creationId xmlns:a16="http://schemas.microsoft.com/office/drawing/2014/main" id="{720D5FDC-B234-4FA5-9FF1-49ABC77A1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810" y="4340275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6" name="Freeform 7">
            <a:extLst>
              <a:ext uri="{FF2B5EF4-FFF2-40B4-BE49-F238E27FC236}">
                <a16:creationId xmlns:a16="http://schemas.microsoft.com/office/drawing/2014/main" id="{F6B60A6D-7EC4-4227-8E28-9EB8881DEB58}"/>
              </a:ext>
            </a:extLst>
          </p:cNvPr>
          <p:cNvSpPr>
            <a:spLocks noEditPoints="1"/>
          </p:cNvSpPr>
          <p:nvPr/>
        </p:nvSpPr>
        <p:spPr bwMode="auto">
          <a:xfrm>
            <a:off x="801438" y="922651"/>
            <a:ext cx="1068129" cy="230399"/>
          </a:xfrm>
          <a:custGeom>
            <a:avLst/>
            <a:gdLst>
              <a:gd name="T0" fmla="*/ 31788 w 2195"/>
              <a:gd name="T1" fmla="*/ 181488 h 445"/>
              <a:gd name="T2" fmla="*/ 163483 w 2195"/>
              <a:gd name="T3" fmla="*/ 180183 h 445"/>
              <a:gd name="T4" fmla="*/ 98609 w 2195"/>
              <a:gd name="T5" fmla="*/ 289206 h 445"/>
              <a:gd name="T6" fmla="*/ 101204 w 2195"/>
              <a:gd name="T7" fmla="*/ 68548 h 445"/>
              <a:gd name="T8" fmla="*/ 98609 w 2195"/>
              <a:gd name="T9" fmla="*/ 289206 h 445"/>
              <a:gd name="T10" fmla="*/ 431413 w 2195"/>
              <a:gd name="T11" fmla="*/ 283331 h 445"/>
              <a:gd name="T12" fmla="*/ 400922 w 2195"/>
              <a:gd name="T13" fmla="*/ 152764 h 445"/>
              <a:gd name="T14" fmla="*/ 289339 w 2195"/>
              <a:gd name="T15" fmla="*/ 154069 h 445"/>
              <a:gd name="T16" fmla="*/ 259496 w 2195"/>
              <a:gd name="T17" fmla="*/ 284636 h 445"/>
              <a:gd name="T18" fmla="*/ 289339 w 2195"/>
              <a:gd name="T19" fmla="*/ 72465 h 445"/>
              <a:gd name="T20" fmla="*/ 358754 w 2195"/>
              <a:gd name="T21" fmla="*/ 66589 h 445"/>
              <a:gd name="T22" fmla="*/ 581921 w 2195"/>
              <a:gd name="T23" fmla="*/ 265704 h 445"/>
              <a:gd name="T24" fmla="*/ 555971 w 2195"/>
              <a:gd name="T25" fmla="*/ 287901 h 445"/>
              <a:gd name="T26" fmla="*/ 512506 w 2195"/>
              <a:gd name="T27" fmla="*/ 98578 h 445"/>
              <a:gd name="T28" fmla="*/ 483312 w 2195"/>
              <a:gd name="T29" fmla="*/ 72465 h 445"/>
              <a:gd name="T30" fmla="*/ 512506 w 2195"/>
              <a:gd name="T31" fmla="*/ 15668 h 445"/>
              <a:gd name="T32" fmla="*/ 542996 w 2195"/>
              <a:gd name="T33" fmla="*/ 72465 h 445"/>
              <a:gd name="T34" fmla="*/ 581921 w 2195"/>
              <a:gd name="T35" fmla="*/ 98578 h 445"/>
              <a:gd name="T36" fmla="*/ 542996 w 2195"/>
              <a:gd name="T37" fmla="*/ 241549 h 445"/>
              <a:gd name="T38" fmla="*/ 581921 w 2195"/>
              <a:gd name="T39" fmla="*/ 265704 h 445"/>
              <a:gd name="T40" fmla="*/ 787572 w 2195"/>
              <a:gd name="T41" fmla="*/ 162556 h 445"/>
              <a:gd name="T42" fmla="*/ 661716 w 2195"/>
              <a:gd name="T43" fmla="*/ 162556 h 445"/>
              <a:gd name="T44" fmla="*/ 819360 w 2195"/>
              <a:gd name="T45" fmla="*/ 226534 h 445"/>
              <a:gd name="T46" fmla="*/ 626684 w 2195"/>
              <a:gd name="T47" fmla="*/ 181488 h 445"/>
              <a:gd name="T48" fmla="*/ 820658 w 2195"/>
              <a:gd name="T49" fmla="*/ 181488 h 445"/>
              <a:gd name="T50" fmla="*/ 660419 w 2195"/>
              <a:gd name="T51" fmla="*/ 188670 h 445"/>
              <a:gd name="T52" fmla="*/ 787572 w 2195"/>
              <a:gd name="T53" fmla="*/ 218047 h 445"/>
              <a:gd name="T54" fmla="*/ 1054853 w 2195"/>
              <a:gd name="T55" fmla="*/ 283331 h 445"/>
              <a:gd name="T56" fmla="*/ 1025011 w 2195"/>
              <a:gd name="T57" fmla="*/ 152764 h 445"/>
              <a:gd name="T58" fmla="*/ 913428 w 2195"/>
              <a:gd name="T59" fmla="*/ 154069 h 445"/>
              <a:gd name="T60" fmla="*/ 882937 w 2195"/>
              <a:gd name="T61" fmla="*/ 284636 h 445"/>
              <a:gd name="T62" fmla="*/ 913428 w 2195"/>
              <a:gd name="T63" fmla="*/ 72465 h 445"/>
              <a:gd name="T64" fmla="*/ 982843 w 2195"/>
              <a:gd name="T65" fmla="*/ 66589 h 445"/>
              <a:gd name="T66" fmla="*/ 1206010 w 2195"/>
              <a:gd name="T67" fmla="*/ 265704 h 445"/>
              <a:gd name="T68" fmla="*/ 1179412 w 2195"/>
              <a:gd name="T69" fmla="*/ 287901 h 445"/>
              <a:gd name="T70" fmla="*/ 1136595 w 2195"/>
              <a:gd name="T71" fmla="*/ 98578 h 445"/>
              <a:gd name="T72" fmla="*/ 1107401 w 2195"/>
              <a:gd name="T73" fmla="*/ 72465 h 445"/>
              <a:gd name="T74" fmla="*/ 1136595 w 2195"/>
              <a:gd name="T75" fmla="*/ 15668 h 445"/>
              <a:gd name="T76" fmla="*/ 1166437 w 2195"/>
              <a:gd name="T77" fmla="*/ 72465 h 445"/>
              <a:gd name="T78" fmla="*/ 1206010 w 2195"/>
              <a:gd name="T79" fmla="*/ 98578 h 445"/>
              <a:gd name="T80" fmla="*/ 1166437 w 2195"/>
              <a:gd name="T81" fmla="*/ 241549 h 445"/>
              <a:gd name="T82" fmla="*/ 1206010 w 2195"/>
              <a:gd name="T83" fmla="*/ 265704 h 445"/>
              <a:gd name="T84" fmla="*/ 1414256 w 2195"/>
              <a:gd name="T85" fmla="*/ 123386 h 445"/>
              <a:gd name="T86" fmla="*/ 1256612 w 2195"/>
              <a:gd name="T87" fmla="*/ 126650 h 445"/>
              <a:gd name="T88" fmla="*/ 1390901 w 2195"/>
              <a:gd name="T89" fmla="*/ 229798 h 445"/>
              <a:gd name="T90" fmla="*/ 1278020 w 2195"/>
              <a:gd name="T91" fmla="*/ 218047 h 445"/>
              <a:gd name="T92" fmla="*/ 1337704 w 2195"/>
              <a:gd name="T93" fmla="*/ 289206 h 445"/>
              <a:gd name="T94" fmla="*/ 1346138 w 2195"/>
              <a:gd name="T95" fmla="*/ 164515 h 445"/>
              <a:gd name="T96" fmla="*/ 1334461 w 2195"/>
              <a:gd name="T97" fmla="*/ 94661 h 44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71" tIns="34285" rIns="68571" bIns="34285"/>
          <a:lstStyle/>
          <a:p>
            <a:endParaRPr lang="zh-CN" altLang="en-US" kern="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5" name="TextBox 88">
            <a:extLst>
              <a:ext uri="{FF2B5EF4-FFF2-40B4-BE49-F238E27FC236}">
                <a16:creationId xmlns:a16="http://schemas.microsoft.com/office/drawing/2014/main" id="{29EAA2D1-824A-4416-9953-B97434C5E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254" y="4442945"/>
            <a:ext cx="2087717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本章要求</a:t>
            </a:r>
            <a:r>
              <a:rPr lang="en-US" altLang="zh-CN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&amp;</a:t>
            </a:r>
            <a:r>
              <a:rPr lang="zh-CN" altLang="en-US" sz="2200" b="1" kern="0" dirty="0">
                <a:solidFill>
                  <a:srgbClr val="104E87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  <a:cs typeface="+mn-ea"/>
                <a:sym typeface="+mn-lt"/>
              </a:rPr>
              <a:t>作业</a:t>
            </a:r>
            <a:endParaRPr lang="zh-CN" altLang="en-US" b="1" kern="0" dirty="0">
              <a:solidFill>
                <a:srgbClr val="104E87"/>
              </a:solidFill>
              <a:latin typeface="华光淡古印_CNKI" panose="02000500000000000000" pitchFamily="2" charset="-122"/>
              <a:ea typeface="华光淡古印_CNKI" panose="02000500000000000000" pitchFamily="2" charset="-122"/>
              <a:cs typeface="+mn-ea"/>
              <a:sym typeface="+mn-lt"/>
            </a:endParaRPr>
          </a:p>
        </p:txBody>
      </p:sp>
      <p:sp>
        <p:nvSpPr>
          <p:cNvPr id="37" name="Freeform 23">
            <a:extLst>
              <a:ext uri="{FF2B5EF4-FFF2-40B4-BE49-F238E27FC236}">
                <a16:creationId xmlns:a16="http://schemas.microsoft.com/office/drawing/2014/main" id="{EB419AF0-08DE-49CC-93CC-55B7C26C4FF4}"/>
              </a:ext>
            </a:extLst>
          </p:cNvPr>
          <p:cNvSpPr/>
          <p:nvPr/>
        </p:nvSpPr>
        <p:spPr bwMode="auto">
          <a:xfrm>
            <a:off x="2927108" y="3755577"/>
            <a:ext cx="4797308" cy="454819"/>
          </a:xfrm>
          <a:custGeom>
            <a:avLst/>
            <a:gdLst>
              <a:gd name="T0" fmla="*/ 60743788 w 6963"/>
              <a:gd name="T1" fmla="*/ 0 h 794"/>
              <a:gd name="T2" fmla="*/ 2147483647 w 6963"/>
              <a:gd name="T3" fmla="*/ 0 h 794"/>
              <a:gd name="T4" fmla="*/ 2147483647 w 6963"/>
              <a:gd name="T5" fmla="*/ 50749524 h 794"/>
              <a:gd name="T6" fmla="*/ 2147483647 w 6963"/>
              <a:gd name="T7" fmla="*/ 412413298 h 794"/>
              <a:gd name="T8" fmla="*/ 2147483647 w 6963"/>
              <a:gd name="T9" fmla="*/ 463162822 h 794"/>
              <a:gd name="T10" fmla="*/ 60743788 w 6963"/>
              <a:gd name="T11" fmla="*/ 463162822 h 794"/>
              <a:gd name="T12" fmla="*/ 0 w 6963"/>
              <a:gd name="T13" fmla="*/ 412413298 h 794"/>
              <a:gd name="T14" fmla="*/ 0 w 6963"/>
              <a:gd name="T15" fmla="*/ 50749524 h 794"/>
              <a:gd name="T16" fmla="*/ 60743788 w 6963"/>
              <a:gd name="T17" fmla="*/ 0 h 7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6963" h="794">
                <a:moveTo>
                  <a:pt x="87" y="0"/>
                </a:moveTo>
                <a:lnTo>
                  <a:pt x="6876" y="0"/>
                </a:lnTo>
                <a:cubicBezTo>
                  <a:pt x="6924" y="0"/>
                  <a:pt x="6963" y="39"/>
                  <a:pt x="6963" y="87"/>
                </a:cubicBezTo>
                <a:lnTo>
                  <a:pt x="6963" y="707"/>
                </a:lnTo>
                <a:cubicBezTo>
                  <a:pt x="6963" y="755"/>
                  <a:pt x="6924" y="794"/>
                  <a:pt x="6876" y="794"/>
                </a:cubicBezTo>
                <a:lnTo>
                  <a:pt x="87" y="794"/>
                </a:lnTo>
                <a:cubicBezTo>
                  <a:pt x="39" y="794"/>
                  <a:pt x="0" y="755"/>
                  <a:pt x="0" y="707"/>
                </a:cubicBezTo>
                <a:lnTo>
                  <a:pt x="0" y="87"/>
                </a:lnTo>
                <a:cubicBezTo>
                  <a:pt x="0" y="39"/>
                  <a:pt x="39" y="0"/>
                  <a:pt x="87" y="0"/>
                </a:cubicBezTo>
                <a:close/>
              </a:path>
            </a:pathLst>
          </a:custGeom>
          <a:gradFill rotWithShape="0">
            <a:gsLst>
              <a:gs pos="0">
                <a:srgbClr val="F8F8F8"/>
              </a:gs>
              <a:gs pos="100000">
                <a:srgbClr val="EAEAEA"/>
              </a:gs>
            </a:gsLst>
            <a:lin ang="5400000"/>
          </a:gradFill>
          <a:ln w="10" cap="flat" cmpd="sng">
            <a:solidFill>
              <a:srgbClr val="DFDFE1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8" name="Freeform 24">
            <a:extLst>
              <a:ext uri="{FF2B5EF4-FFF2-40B4-BE49-F238E27FC236}">
                <a16:creationId xmlns:a16="http://schemas.microsoft.com/office/drawing/2014/main" id="{4BEFF87A-6328-450D-B57C-8BA853F29A1E}"/>
              </a:ext>
            </a:extLst>
          </p:cNvPr>
          <p:cNvSpPr/>
          <p:nvPr/>
        </p:nvSpPr>
        <p:spPr bwMode="auto">
          <a:xfrm>
            <a:off x="3035414" y="3674611"/>
            <a:ext cx="593889" cy="75009"/>
          </a:xfrm>
          <a:custGeom>
            <a:avLst/>
            <a:gdLst>
              <a:gd name="T0" fmla="*/ 58241460 w 1038"/>
              <a:gd name="T1" fmla="*/ 0 h 128"/>
              <a:gd name="T2" fmla="*/ 546306357 w 1038"/>
              <a:gd name="T3" fmla="*/ 0 h 128"/>
              <a:gd name="T4" fmla="*/ 604547817 w 1038"/>
              <a:gd name="T5" fmla="*/ 78143751 h 128"/>
              <a:gd name="T6" fmla="*/ 0 w 1038"/>
              <a:gd name="T7" fmla="*/ 78143751 h 128"/>
              <a:gd name="T8" fmla="*/ 58241460 w 1038"/>
              <a:gd name="T9" fmla="*/ 0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38" h="128">
                <a:moveTo>
                  <a:pt x="100" y="0"/>
                </a:moveTo>
                <a:lnTo>
                  <a:pt x="938" y="0"/>
                </a:lnTo>
                <a:lnTo>
                  <a:pt x="1038" y="128"/>
                </a:lnTo>
                <a:lnTo>
                  <a:pt x="0" y="128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lIns="68563" tIns="34281" rIns="68563" bIns="34281"/>
          <a:lstStyle/>
          <a:p>
            <a:endParaRPr lang="zh-CN" altLang="en-US"/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B11E4D62-BF7A-42F4-990E-5DA806741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539" y="3674616"/>
            <a:ext cx="478444" cy="478631"/>
          </a:xfrm>
          <a:prstGeom prst="rect">
            <a:avLst/>
          </a:prstGeom>
          <a:solidFill>
            <a:srgbClr val="134F85"/>
          </a:solidFill>
          <a:ln>
            <a:noFill/>
          </a:ln>
        </p:spPr>
        <p:txBody>
          <a:bodyPr lIns="68563" tIns="34281" rIns="68563" bIns="34281"/>
          <a:lstStyle/>
          <a:p>
            <a:pPr>
              <a:buFontTx/>
              <a:buNone/>
            </a:pPr>
            <a:endParaRPr lang="zh-CN" altLang="en-US"/>
          </a:p>
        </p:txBody>
      </p:sp>
      <p:sp>
        <p:nvSpPr>
          <p:cNvPr id="41" name="TextBox 87">
            <a:extLst>
              <a:ext uri="{FF2B5EF4-FFF2-40B4-BE49-F238E27FC236}">
                <a16:creationId xmlns:a16="http://schemas.microsoft.com/office/drawing/2014/main" id="{1F181F98-F5C0-4606-BFA3-352DFE8B5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810" y="3694856"/>
            <a:ext cx="311589" cy="48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63" tIns="34281" rIns="68563" bIns="3428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7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27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9" name="TextBox 86">
            <a:extLst>
              <a:ext uri="{FF2B5EF4-FFF2-40B4-BE49-F238E27FC236}">
                <a16:creationId xmlns:a16="http://schemas.microsoft.com/office/drawing/2014/main" id="{D6A325F5-B1C2-494E-AB5E-20656AA5B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108" y="3819851"/>
            <a:ext cx="2957146" cy="40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3" tIns="34281" rIns="68563" bIns="34281">
            <a:spAutoFit/>
          </a:bodyPr>
          <a:lstStyle>
            <a:defPPr>
              <a:defRPr lang="en-US"/>
            </a:defPPr>
            <a:lvl1pPr>
              <a:defRPr sz="2200" b="1" kern="0">
                <a:solidFill>
                  <a:srgbClr val="104E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华光淡古印_CNKI" panose="02000500000000000000" pitchFamily="2" charset="-122"/>
                <a:ea typeface="华光淡古印_CNKI" panose="02000500000000000000" pitchFamily="2" charset="-122"/>
                <a:sym typeface="+mn-lt"/>
              </a:rPr>
              <a:t>运算符</a:t>
            </a:r>
            <a:r>
              <a:rPr lang="en-US" altLang="zh-CN" dirty="0">
                <a:latin typeface="华光淡古印_CNKI" panose="02000500000000000000" pitchFamily="2" charset="-122"/>
                <a:ea typeface="华光淡古印_CNKI" panose="02000500000000000000" pitchFamily="2" charset="-122"/>
                <a:sym typeface="+mn-lt"/>
              </a:rPr>
              <a:t>&gt;&gt;</a:t>
            </a:r>
            <a:r>
              <a:rPr lang="zh-CN" altLang="en-US" dirty="0">
                <a:latin typeface="华光淡古印_CNKI" panose="02000500000000000000" pitchFamily="2" charset="-122"/>
                <a:ea typeface="华光淡古印_CNKI" panose="02000500000000000000" pitchFamily="2" charset="-122"/>
                <a:sym typeface="+mn-lt"/>
              </a:rPr>
              <a:t>和</a:t>
            </a:r>
            <a:r>
              <a:rPr lang="en-US" altLang="zh-CN" dirty="0">
                <a:latin typeface="华光淡古印_CNKI" panose="02000500000000000000" pitchFamily="2" charset="-122"/>
                <a:ea typeface="华光淡古印_CNKI" panose="02000500000000000000" pitchFamily="2" charset="-122"/>
                <a:sym typeface="+mn-lt"/>
              </a:rPr>
              <a:t>&lt;&lt;</a:t>
            </a:r>
            <a:r>
              <a:rPr lang="zh-CN" altLang="en-US" dirty="0">
                <a:latin typeface="华光淡古印_CNKI" panose="02000500000000000000" pitchFamily="2" charset="-122"/>
                <a:ea typeface="华光淡古印_CNKI" panose="02000500000000000000" pitchFamily="2" charset="-122"/>
                <a:sym typeface="+mn-lt"/>
              </a:rPr>
              <a:t>的重载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00"/>
                            </p:stCondLst>
                            <p:childTnLst>
                              <p:par>
                                <p:cTn id="2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00"/>
                            </p:stCondLst>
                            <p:childTnLst>
                              <p:par>
                                <p:cTn id="3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8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300"/>
                            </p:stCondLst>
                            <p:childTnLst>
                              <p:par>
                                <p:cTn id="6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7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2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4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9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2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7700"/>
                            </p:stCondLst>
                            <p:childTnLst>
                              <p:par>
                                <p:cTn id="10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4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1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86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3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9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9400"/>
                            </p:stCondLst>
                            <p:childTnLst>
                              <p:par>
                                <p:cTn id="12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4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98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3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1100"/>
                            </p:stCondLst>
                            <p:childTnLst>
                              <p:par>
                                <p:cTn id="1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14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1900"/>
                            </p:stCondLst>
                            <p:childTnLst>
                              <p:par>
                                <p:cTn id="14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0" grpId="0" animBg="1" autoUpdateAnimBg="0"/>
      <p:bldP spid="80" grpId="1" animBg="1"/>
      <p:bldP spid="85" grpId="0" animBg="1"/>
      <p:bldP spid="85" grpId="1" animBg="1"/>
      <p:bldP spid="94" grpId="0" animBg="1"/>
      <p:bldP spid="95" grpId="0" animBg="1"/>
      <p:bldP spid="96" grpId="0" animBg="1" autoUpdateAnimBg="0"/>
      <p:bldP spid="97" grpId="0" animBg="1"/>
      <p:bldP spid="98" grpId="0" animBg="1"/>
      <p:bldP spid="103" grpId="0" animBg="1" autoUpdateAnimBg="0"/>
      <p:bldP spid="104" grpId="0" animBg="1"/>
      <p:bldP spid="105" grpId="0" animBg="1"/>
      <p:bldP spid="106" grpId="0" animBg="1" autoUpdateAnimBg="0"/>
      <p:bldP spid="107" grpId="0" animBg="1"/>
      <p:bldP spid="108" grpId="0" animBg="1"/>
      <p:bldP spid="109" grpId="0" animBg="1" autoUpdateAnimBg="0"/>
      <p:bldP spid="113" grpId="0" autoUpdateAnimBg="0"/>
      <p:bldP spid="114" grpId="0" autoUpdateAnimBg="0"/>
      <p:bldP spid="115" grpId="0" autoUpdateAnimBg="0"/>
      <p:bldP spid="116" grpId="0" autoUpdateAnimBg="0"/>
      <p:bldP spid="117" grpId="0" autoUpdateAnimBg="0"/>
      <p:bldP spid="118" grpId="0" autoUpdateAnimBg="0"/>
      <p:bldP spid="120" grpId="0" autoUpdateAnimBg="0"/>
      <p:bldP spid="86" grpId="0" animBg="1"/>
      <p:bldP spid="86" grpId="1" animBg="1"/>
      <p:bldP spid="35" grpId="0" autoUpdateAnimBg="0"/>
      <p:bldP spid="37" grpId="0" animBg="1"/>
      <p:bldP spid="38" grpId="0" animBg="1"/>
      <p:bldP spid="39" grpId="0" animBg="1" autoUpdateAnimBg="0"/>
      <p:bldP spid="41" grpId="0" autoUpdateAnimBg="0"/>
      <p:bldP spid="11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cxnSp>
        <p:nvCxnSpPr>
          <p:cNvPr id="67" name="直线连接符 6">
            <a:extLst>
              <a:ext uri="{FF2B5EF4-FFF2-40B4-BE49-F238E27FC236}">
                <a16:creationId xmlns:a16="http://schemas.microsoft.com/office/drawing/2014/main" id="{AEF611B7-94DC-441C-A18C-E7C0B96C20B0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3">
            <a:extLst>
              <a:ext uri="{FF2B5EF4-FFF2-40B4-BE49-F238E27FC236}">
                <a16:creationId xmlns:a16="http://schemas.microsoft.com/office/drawing/2014/main" id="{8AFC6805-784B-430B-B240-0CEC5FDA7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69" y="1009198"/>
            <a:ext cx="5776563" cy="1386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9875" lvl="1" indent="-269875" eaLnBrk="1" hangingPunct="1">
              <a:spcBef>
                <a:spcPct val="30000"/>
              </a:spcBef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存储设备</a:t>
            </a:r>
          </a:p>
          <a:p>
            <a:pPr marL="0" lvl="1" indent="0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介质：硬盘、软盘、磁带、光盘、</a:t>
            </a:r>
            <a:r>
              <a:rPr kumimoji="1" lang="en-US" altLang="zh-CN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…</a:t>
            </a:r>
          </a:p>
          <a:p>
            <a:pPr marL="0" lvl="1" indent="0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en-US" sz="2400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组织：文件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144C6B-B623-4D5C-B49A-F2F6F628CE30}"/>
              </a:ext>
            </a:extLst>
          </p:cNvPr>
          <p:cNvSpPr/>
          <p:nvPr/>
        </p:nvSpPr>
        <p:spPr>
          <a:xfrm>
            <a:off x="6169256" y="1433495"/>
            <a:ext cx="3349881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fontAlgn="base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程序中的对象（变量）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0" lvl="1" fontAlgn="base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文件对象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022576-3C92-4450-9331-7E5DB7F11B92}"/>
              </a:ext>
            </a:extLst>
          </p:cNvPr>
          <p:cNvSpPr/>
          <p:nvPr/>
        </p:nvSpPr>
        <p:spPr>
          <a:xfrm>
            <a:off x="6215900" y="985457"/>
            <a:ext cx="35036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indent="-269875">
              <a:spcBef>
                <a:spcPct val="30000"/>
              </a:spcBef>
              <a:buSzPct val="75000"/>
              <a:buBlip>
                <a:blip r:embed="rId3"/>
              </a:buBlip>
              <a:tabLst>
                <a:tab pos="539750" algn="l"/>
              </a:tabLst>
            </a:pPr>
            <a:r>
              <a:rPr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程序与外界交换信息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4D9C537E-EB15-4E88-902B-48701DAAB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69" y="2632191"/>
            <a:ext cx="5878512" cy="253915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2pPr marL="0" lvl="1" fontAlgn="base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kumimoji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2pPr>
          </a:lstStyle>
          <a:p>
            <a:pPr marL="269875" lvl="1" indent="-269875">
              <a:spcBef>
                <a:spcPct val="30000"/>
              </a:spcBef>
              <a:buSzPct val="75000"/>
              <a:buBlip>
                <a:blip r:embed="rId3"/>
              </a:buBlip>
              <a:tabLst>
                <a:tab pos="539750" algn="l"/>
              </a:tabLst>
            </a:pPr>
            <a:r>
              <a:rPr lang="zh-CN" altLang="en-US" kern="0" dirty="0">
                <a:solidFill>
                  <a:srgbClr val="104E87"/>
                </a:solidFill>
              </a:rPr>
              <a:t>文件</a:t>
            </a:r>
          </a:p>
          <a:p>
            <a:pPr lvl="1"/>
            <a:r>
              <a:rPr lang="zh-CN" altLang="en-US" dirty="0"/>
              <a:t>作为输入</a:t>
            </a:r>
            <a:r>
              <a:rPr lang="en-US" altLang="zh-CN" dirty="0"/>
              <a:t>/</a:t>
            </a:r>
            <a:r>
              <a:rPr lang="zh-CN" altLang="en-US" dirty="0"/>
              <a:t>输出的对象</a:t>
            </a:r>
            <a:endParaRPr lang="en-US" altLang="zh-CN" dirty="0"/>
          </a:p>
          <a:p>
            <a:pPr lvl="1"/>
            <a:r>
              <a:rPr lang="zh-CN" altLang="en-US" dirty="0"/>
              <a:t>与外部设备之间建立关联</a:t>
            </a:r>
            <a:r>
              <a:rPr lang="en-US" altLang="zh-CN" dirty="0"/>
              <a:t>,</a:t>
            </a:r>
            <a:r>
              <a:rPr lang="zh-CN" altLang="en-US" dirty="0"/>
              <a:t>作为输入</a:t>
            </a:r>
            <a:r>
              <a:rPr lang="en-US" altLang="zh-CN" dirty="0"/>
              <a:t>/</a:t>
            </a:r>
            <a:r>
              <a:rPr lang="zh-CN" altLang="en-US" dirty="0"/>
              <a:t>输出设备的抽象描述</a:t>
            </a:r>
            <a:endParaRPr lang="en-US" altLang="zh-CN" dirty="0"/>
          </a:p>
          <a:p>
            <a:pPr lvl="1"/>
            <a:r>
              <a:rPr lang="zh-CN" altLang="en-US" dirty="0"/>
              <a:t>必须有唯一名字，可用于存储程序和数据，还可用于提高程序的</a:t>
            </a:r>
            <a:r>
              <a:rPr lang="zh-CN" altLang="en-US" dirty="0">
                <a:solidFill>
                  <a:srgbClr val="FF0000"/>
                </a:solidFill>
              </a:rPr>
              <a:t>设备无关性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C89BF69-9D54-4A33-8D84-41F35F7EA80F}"/>
              </a:ext>
            </a:extLst>
          </p:cNvPr>
          <p:cNvSpPr txBox="1"/>
          <p:nvPr/>
        </p:nvSpPr>
        <p:spPr>
          <a:xfrm>
            <a:off x="6024281" y="2850360"/>
            <a:ext cx="6021950" cy="190205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269875" indent="-269875">
              <a:spcBef>
                <a:spcPct val="30000"/>
              </a:spcBef>
              <a:buSzPct val="75000"/>
              <a:buBlip>
                <a:blip r:embed="rId3"/>
              </a:buBlip>
              <a:tabLst>
                <a:tab pos="539750" algn="l"/>
              </a:tabLst>
              <a:defRPr kern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pPr marL="269875" lvl="1" indent="-269875" fontAlgn="base">
              <a:spcBef>
                <a:spcPct val="30000"/>
              </a:spcBef>
              <a:spcAft>
                <a:spcPct val="0"/>
              </a:spcAft>
              <a:buClr>
                <a:srgbClr val="104E87"/>
              </a:buClr>
              <a:buSzPct val="75000"/>
              <a:buBlip>
                <a:blip r:embed="rId3"/>
              </a:buBlip>
              <a:tabLst>
                <a:tab pos="539750" algn="l"/>
              </a:tabLst>
            </a:pPr>
            <a:r>
              <a:rPr kumimoji="1"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输入输出流</a:t>
            </a:r>
            <a:endParaRPr kumimoji="1" lang="en-US" altLang="zh-CN" kern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>
              <a:buClr>
                <a:srgbClr val="104E87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流</a:t>
            </a:r>
            <a:r>
              <a:rPr lang="en-US" altLang="zh-CN" dirty="0"/>
              <a:t>:</a:t>
            </a:r>
            <a:r>
              <a:rPr lang="zh-CN" altLang="en-US" dirty="0"/>
              <a:t>有方向的字节序列</a:t>
            </a:r>
            <a:endParaRPr lang="en-US" altLang="zh-CN" dirty="0"/>
          </a:p>
          <a:p>
            <a:pPr>
              <a:buClr>
                <a:srgbClr val="104E87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输入流：</a:t>
            </a:r>
            <a:r>
              <a:rPr lang="en-US" altLang="zh-CN" b="1" dirty="0">
                <a:solidFill>
                  <a:srgbClr val="FF0000"/>
                </a:solidFill>
              </a:rPr>
              <a:t>(?)</a:t>
            </a:r>
            <a:r>
              <a:rPr lang="zh-CN" altLang="en-US" dirty="0"/>
              <a:t>流向</a:t>
            </a:r>
            <a:r>
              <a:rPr lang="zh-CN" altLang="en-US" b="1" dirty="0">
                <a:solidFill>
                  <a:srgbClr val="FF0000"/>
                </a:solidFill>
              </a:rPr>
              <a:t>内存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程序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的数据</a:t>
            </a:r>
            <a:r>
              <a:rPr lang="en-US" altLang="zh-CN" dirty="0"/>
              <a:t>(</a:t>
            </a:r>
            <a:r>
              <a:rPr lang="zh-CN" altLang="en-US" dirty="0"/>
              <a:t>读</a:t>
            </a:r>
            <a:r>
              <a:rPr lang="en-US" altLang="zh-CN" dirty="0"/>
              <a:t>)</a:t>
            </a:r>
          </a:p>
          <a:p>
            <a:pPr>
              <a:buClr>
                <a:srgbClr val="104E87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输出流：流出</a:t>
            </a:r>
            <a:r>
              <a:rPr lang="zh-CN" altLang="en-US" b="1" dirty="0">
                <a:solidFill>
                  <a:srgbClr val="FF0000"/>
                </a:solidFill>
              </a:rPr>
              <a:t>内存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程序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的数据</a:t>
            </a:r>
            <a:r>
              <a:rPr lang="en-US" altLang="zh-CN" dirty="0"/>
              <a:t>(</a:t>
            </a:r>
            <a:r>
              <a:rPr lang="zh-CN" altLang="en-US" dirty="0"/>
              <a:t>写</a:t>
            </a:r>
            <a:r>
              <a:rPr lang="en-US" altLang="zh-CN" dirty="0"/>
              <a:t>)</a:t>
            </a:r>
            <a:r>
              <a:rPr lang="en-US" altLang="zh-CN" b="1" dirty="0">
                <a:solidFill>
                  <a:srgbClr val="FF0000"/>
                </a:solidFill>
              </a:rPr>
              <a:t>(?)</a:t>
            </a:r>
            <a:endParaRPr lang="en-US" altLang="zh-CN" dirty="0"/>
          </a:p>
        </p:txBody>
      </p:sp>
      <p:sp>
        <p:nvSpPr>
          <p:cNvPr id="3" name="标注: 线形(带强调线) 2">
            <a:extLst>
              <a:ext uri="{FF2B5EF4-FFF2-40B4-BE49-F238E27FC236}">
                <a16:creationId xmlns:a16="http://schemas.microsoft.com/office/drawing/2014/main" id="{22447828-3E82-4D2B-B861-1190ADD03EC8}"/>
              </a:ext>
            </a:extLst>
          </p:cNvPr>
          <p:cNvSpPr/>
          <p:nvPr/>
        </p:nvSpPr>
        <p:spPr>
          <a:xfrm>
            <a:off x="9519138" y="2454331"/>
            <a:ext cx="2297724" cy="1183008"/>
          </a:xfrm>
          <a:prstGeom prst="accentCallout1">
            <a:avLst>
              <a:gd name="adj1" fmla="val 92293"/>
              <a:gd name="adj2" fmla="val -1048"/>
              <a:gd name="adj3" fmla="val 124575"/>
              <a:gd name="adj4" fmla="val -7791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鼠标，键盘，手柄，摄像头，文件，网络等</a:t>
            </a:r>
          </a:p>
        </p:txBody>
      </p:sp>
      <p:sp>
        <p:nvSpPr>
          <p:cNvPr id="14" name="标注: 线形(带强调线) 13">
            <a:extLst>
              <a:ext uri="{FF2B5EF4-FFF2-40B4-BE49-F238E27FC236}">
                <a16:creationId xmlns:a16="http://schemas.microsoft.com/office/drawing/2014/main" id="{641358D4-A2AF-4B99-87D1-8B1DB52EABD1}"/>
              </a:ext>
            </a:extLst>
          </p:cNvPr>
          <p:cNvSpPr/>
          <p:nvPr/>
        </p:nvSpPr>
        <p:spPr>
          <a:xfrm>
            <a:off x="9734600" y="4754811"/>
            <a:ext cx="2311631" cy="1117732"/>
          </a:xfrm>
          <a:prstGeom prst="accentCallout1">
            <a:avLst>
              <a:gd name="adj1" fmla="val 2033"/>
              <a:gd name="adj2" fmla="val 99576"/>
              <a:gd name="adj3" fmla="val -26034"/>
              <a:gd name="adj4" fmla="val 68019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kumimoji="1"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显示器，打印机，文件，网络等</a:t>
            </a:r>
          </a:p>
        </p:txBody>
      </p:sp>
    </p:spTree>
    <p:extLst>
      <p:ext uri="{BB962C8B-B14F-4D97-AF65-F5344CB8AC3E}">
        <p14:creationId xmlns:p14="http://schemas.microsoft.com/office/powerpoint/2010/main" val="392956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3" grpId="0"/>
      <p:bldP spid="25" grpId="0"/>
      <p:bldP spid="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985BF9-E684-4AA3-91CA-30F0432F3CE5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4AB2E108-3FB1-4BBB-88B0-645E5DFE2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031" y="1471486"/>
            <a:ext cx="10597661" cy="405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92F2EF1-1778-4C41-A4E3-15F93B4E7938}"/>
              </a:ext>
            </a:extLst>
          </p:cNvPr>
          <p:cNvSpPr txBox="1"/>
          <p:nvPr/>
        </p:nvSpPr>
        <p:spPr>
          <a:xfrm>
            <a:off x="793" y="976954"/>
            <a:ext cx="123084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流类是一个派生类体系</a:t>
            </a:r>
            <a:r>
              <a:rPr kumimoji="1" lang="en-US" altLang="zh-CN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</a:t>
            </a:r>
            <a:r>
              <a:rPr kumimoji="1" lang="en-US" altLang="zh-CN" dirty="0" err="1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ios</a:t>
            </a:r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是抽象类</a:t>
            </a:r>
            <a:r>
              <a:rPr kumimoji="1" lang="en-US" altLang="zh-CN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它的析构函数是虚函数</a:t>
            </a:r>
            <a:r>
              <a:rPr kumimoji="1" lang="en-US" altLang="zh-CN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作为所有基本流类的虚基类。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194332-25C2-44AE-A6F7-0147391D72F4}"/>
              </a:ext>
            </a:extLst>
          </p:cNvPr>
          <p:cNvSpPr txBox="1"/>
          <p:nvPr/>
        </p:nvSpPr>
        <p:spPr>
          <a:xfrm>
            <a:off x="8025335" y="5465547"/>
            <a:ext cx="1450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文件输入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文件输出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0CA4A3-C52E-4AC1-A588-E7E197809066}"/>
              </a:ext>
            </a:extLst>
          </p:cNvPr>
          <p:cNvSpPr txBox="1"/>
          <p:nvPr/>
        </p:nvSpPr>
        <p:spPr>
          <a:xfrm>
            <a:off x="3500760" y="5526005"/>
            <a:ext cx="14501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输入操作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输出操作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98055D-E028-45BA-B9D0-42A20CB8FA8E}"/>
              </a:ext>
            </a:extLst>
          </p:cNvPr>
          <p:cNvSpPr txBox="1"/>
          <p:nvPr/>
        </p:nvSpPr>
        <p:spPr>
          <a:xfrm>
            <a:off x="9844897" y="5483786"/>
            <a:ext cx="18657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字符串输入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字符串输出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7E8FC1-880E-4E17-B8A4-27DF0CA39921}"/>
              </a:ext>
            </a:extLst>
          </p:cNvPr>
          <p:cNvSpPr txBox="1"/>
          <p:nvPr/>
        </p:nvSpPr>
        <p:spPr>
          <a:xfrm>
            <a:off x="5477382" y="5624605"/>
            <a:ext cx="21289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输入输出操作</a:t>
            </a:r>
            <a:endParaRPr kumimoji="1" lang="en-US" altLang="zh-CN" dirty="0">
              <a:solidFill>
                <a:srgbClr val="134F85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4902FB-9F18-4C05-B833-F8A2DD47CBEA}"/>
              </a:ext>
            </a:extLst>
          </p:cNvPr>
          <p:cNvSpPr txBox="1"/>
          <p:nvPr/>
        </p:nvSpPr>
        <p:spPr>
          <a:xfrm>
            <a:off x="1184031" y="2843561"/>
            <a:ext cx="1771042" cy="461665"/>
          </a:xfrm>
          <a:prstGeom prst="rect">
            <a:avLst/>
          </a:prstGeom>
          <a:noFill/>
          <a:ln w="19050">
            <a:solidFill>
              <a:srgbClr val="E73A1C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45F276-A254-4AA5-A8F0-30D95EC49CFA}"/>
              </a:ext>
            </a:extLst>
          </p:cNvPr>
          <p:cNvSpPr txBox="1"/>
          <p:nvPr/>
        </p:nvSpPr>
        <p:spPr>
          <a:xfrm>
            <a:off x="3421708" y="1884238"/>
            <a:ext cx="1719003" cy="461665"/>
          </a:xfrm>
          <a:prstGeom prst="rect">
            <a:avLst/>
          </a:prstGeom>
          <a:noFill/>
          <a:ln w="19050">
            <a:solidFill>
              <a:srgbClr val="E73A1C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948CC3-1DB6-4CDE-94FD-B45D31081599}"/>
              </a:ext>
            </a:extLst>
          </p:cNvPr>
          <p:cNvSpPr txBox="1"/>
          <p:nvPr/>
        </p:nvSpPr>
        <p:spPr>
          <a:xfrm>
            <a:off x="3421708" y="3758571"/>
            <a:ext cx="1719003" cy="461665"/>
          </a:xfrm>
          <a:prstGeom prst="rect">
            <a:avLst/>
          </a:prstGeom>
          <a:noFill/>
          <a:ln w="19050">
            <a:solidFill>
              <a:srgbClr val="E73A1C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2B74B0D-E162-44CD-8A87-E1C4587FDD30}"/>
              </a:ext>
            </a:extLst>
          </p:cNvPr>
          <p:cNvSpPr txBox="1"/>
          <p:nvPr/>
        </p:nvSpPr>
        <p:spPr>
          <a:xfrm>
            <a:off x="3421708" y="4790989"/>
            <a:ext cx="1719003" cy="461665"/>
          </a:xfrm>
          <a:prstGeom prst="rect">
            <a:avLst/>
          </a:prstGeom>
          <a:noFill/>
          <a:ln w="19050">
            <a:solidFill>
              <a:srgbClr val="E73A1C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7" name="图片 3">
            <a:extLst>
              <a:ext uri="{FF2B5EF4-FFF2-40B4-BE49-F238E27FC236}">
                <a16:creationId xmlns:a16="http://schemas.microsoft.com/office/drawing/2014/main" id="{EAD6DA8A-953E-4C4B-AF69-FD8279985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16813"/>
            <a:ext cx="7889875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5">
            <a:extLst>
              <a:ext uri="{FF2B5EF4-FFF2-40B4-BE49-F238E27FC236}">
                <a16:creationId xmlns:a16="http://schemas.microsoft.com/office/drawing/2014/main" id="{A9A076E3-0144-46FB-8DA5-90E3BF92C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80" y="5770955"/>
            <a:ext cx="37052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5F169A5-238A-4DA5-9209-69151CD80227}"/>
                  </a:ext>
                </a:extLst>
              </p14:cNvPr>
              <p14:cNvContentPartPr/>
              <p14:nvPr/>
            </p14:nvContentPartPr>
            <p14:xfrm>
              <a:off x="7089190" y="6678843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5F169A5-238A-4DA5-9209-69151CD802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0550" y="666984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4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458324D-B69B-4372-A324-4D5680DA14E2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B5A686-D63D-42E4-AEED-B94F66A7A6C8}"/>
              </a:ext>
            </a:extLst>
          </p:cNvPr>
          <p:cNvSpPr/>
          <p:nvPr/>
        </p:nvSpPr>
        <p:spPr>
          <a:xfrm>
            <a:off x="273118" y="1074473"/>
            <a:ext cx="3070225" cy="523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流缓冲区的管理：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3C119F9-69B5-49B0-9A7F-660DCEAD8735}"/>
              </a:ext>
            </a:extLst>
          </p:cNvPr>
          <p:cNvSpPr/>
          <p:nvPr/>
        </p:nvSpPr>
        <p:spPr>
          <a:xfrm>
            <a:off x="247716" y="3378191"/>
            <a:ext cx="11942695" cy="954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8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streambuf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类是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整个</a:t>
            </a:r>
            <a:r>
              <a:rPr lang="en-US" altLang="zh-CN" sz="2800" dirty="0" err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IOStream</a:t>
            </a:r>
            <a:r>
              <a:rPr lang="en-US" altLang="zh-CN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 library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的核心，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定义的</a:t>
            </a:r>
            <a:r>
              <a:rPr lang="zh-CN" altLang="en-US" sz="28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流对象可以使用的所有读写操作的接口。</a:t>
            </a:r>
            <a:endParaRPr lang="zh-CN" altLang="en-US" sz="2800" dirty="0"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73DB8C-B904-49FE-80A5-8C20C4890E76}"/>
              </a:ext>
            </a:extLst>
          </p:cNvPr>
          <p:cNvSpPr/>
          <p:nvPr/>
        </p:nvSpPr>
        <p:spPr>
          <a:xfrm>
            <a:off x="247717" y="4361197"/>
            <a:ext cx="11942695" cy="954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istream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、</a:t>
            </a:r>
            <a:r>
              <a:rPr lang="zh-CN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ostream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、</a:t>
            </a:r>
            <a:r>
              <a:rPr lang="zh-CN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iostream类，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由</a:t>
            </a:r>
            <a:r>
              <a:rPr lang="zh-CN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从 streambuf 类对象作为成员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，</a:t>
            </a:r>
            <a:r>
              <a:rPr lang="zh-CN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执行输入和输出的流</a:t>
            </a: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操作</a:t>
            </a:r>
            <a:r>
              <a:rPr lang="zh-CN" altLang="zh-CN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。</a:t>
            </a:r>
          </a:p>
        </p:txBody>
      </p:sp>
      <p:pic>
        <p:nvPicPr>
          <p:cNvPr id="36" name="图片 1">
            <a:extLst>
              <a:ext uri="{FF2B5EF4-FFF2-40B4-BE49-F238E27FC236}">
                <a16:creationId xmlns:a16="http://schemas.microsoft.com/office/drawing/2014/main" id="{E1EAC648-7F1E-4BCA-914A-FAF0D854A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713" y="22755"/>
            <a:ext cx="5219700" cy="3103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矩形 3">
            <a:extLst>
              <a:ext uri="{FF2B5EF4-FFF2-40B4-BE49-F238E27FC236}">
                <a16:creationId xmlns:a16="http://schemas.microsoft.com/office/drawing/2014/main" id="{F3841100-BF66-411C-86B1-95FDDB3C1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43" y="1579644"/>
            <a:ext cx="39119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indent="-269875">
              <a:spcBef>
                <a:spcPct val="30000"/>
              </a:spcBef>
              <a:buSzPct val="75000"/>
              <a:buBlip>
                <a:blip r:embed="rId4"/>
              </a:buBlip>
              <a:tabLst>
                <a:tab pos="539750" algn="l"/>
              </a:tabLst>
            </a:pPr>
            <a:r>
              <a:rPr lang="zh-CN" altLang="en-US" b="1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为每个数据流开辟内存缓冲区，存放流中的数据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0182C22-9F7E-4018-B1CD-5FE058320978}"/>
              </a:ext>
            </a:extLst>
          </p:cNvPr>
          <p:cNvSpPr txBox="1"/>
          <p:nvPr/>
        </p:nvSpPr>
        <p:spPr>
          <a:xfrm>
            <a:off x="481971" y="5589857"/>
            <a:ext cx="6139542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r>
              <a:rPr lang="zh-CN" altLang="en-US" dirty="0"/>
              <a:t>输入设备</a:t>
            </a:r>
            <a:r>
              <a:rPr lang="en-US" altLang="zh-CN" dirty="0"/>
              <a:t>-&gt;</a:t>
            </a:r>
            <a:r>
              <a:rPr lang="zh-CN" altLang="en-US" dirty="0"/>
              <a:t>内存缓冲区</a:t>
            </a:r>
            <a:r>
              <a:rPr lang="en-US" altLang="zh-CN" dirty="0"/>
              <a:t>(stdin)-&gt;</a:t>
            </a:r>
            <a:r>
              <a:rPr lang="zh-CN" altLang="en-US" dirty="0"/>
              <a:t>程序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EE1AB13-D533-467A-8A7A-C812E67F38B7}"/>
              </a:ext>
            </a:extLst>
          </p:cNvPr>
          <p:cNvSpPr txBox="1"/>
          <p:nvPr/>
        </p:nvSpPr>
        <p:spPr>
          <a:xfrm>
            <a:off x="481971" y="6171808"/>
            <a:ext cx="6267172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r>
              <a:rPr lang="zh-CN" altLang="en-US" dirty="0"/>
              <a:t>程序</a:t>
            </a:r>
            <a:r>
              <a:rPr lang="en-US" altLang="zh-CN" dirty="0"/>
              <a:t>-&gt;</a:t>
            </a:r>
            <a:r>
              <a:rPr lang="zh-CN" altLang="en-US" dirty="0"/>
              <a:t>内存缓冲区</a:t>
            </a:r>
            <a:r>
              <a:rPr lang="en-US" altLang="zh-CN" dirty="0"/>
              <a:t>(</a:t>
            </a:r>
            <a:r>
              <a:rPr lang="en-US" altLang="zh-CN" dirty="0" err="1"/>
              <a:t>stdout</a:t>
            </a:r>
            <a:r>
              <a:rPr lang="en-US" altLang="zh-CN" dirty="0"/>
              <a:t>)-&gt;</a:t>
            </a:r>
            <a:r>
              <a:rPr lang="zh-CN" altLang="en-US" dirty="0"/>
              <a:t>输出设备</a:t>
            </a:r>
          </a:p>
        </p:txBody>
      </p:sp>
    </p:spTree>
    <p:extLst>
      <p:ext uri="{BB962C8B-B14F-4D97-AF65-F5344CB8AC3E}">
        <p14:creationId xmlns:p14="http://schemas.microsoft.com/office/powerpoint/2010/main" val="5981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16820F4-4997-403F-B23E-825E89BC5A74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9" name="直线连接符 6">
            <a:extLst>
              <a:ext uri="{FF2B5EF4-FFF2-40B4-BE49-F238E27FC236}">
                <a16:creationId xmlns:a16="http://schemas.microsoft.com/office/drawing/2014/main" id="{B2AA247E-DF53-44F0-B09F-20267C822A4D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7E7BB12-A309-455F-A526-61CA6A23327F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17B631-2348-4E1A-BA24-530C5379D8F1}"/>
              </a:ext>
            </a:extLst>
          </p:cNvPr>
          <p:cNvSpPr/>
          <p:nvPr/>
        </p:nvSpPr>
        <p:spPr>
          <a:xfrm>
            <a:off x="128344" y="1002128"/>
            <a:ext cx="8980657" cy="190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SzPct val="75000"/>
              <a:tabLst>
                <a:tab pos="539750" algn="l"/>
              </a:tabLst>
            </a:pPr>
            <a:r>
              <a:rPr lang="zh-CN" altLang="en-US" b="1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流类库重要的头文件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：</a:t>
            </a:r>
            <a:endParaRPr lang="en-US" altLang="zh-CN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9875" indent="-269875">
              <a:spcBef>
                <a:spcPct val="30000"/>
              </a:spcBef>
              <a:buSzPct val="75000"/>
              <a:buBlip>
                <a:blip r:embed="rId3"/>
              </a:buBlip>
              <a:tabLst>
                <a:tab pos="539750" algn="l"/>
              </a:tabLst>
            </a:pP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iostream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包含输入输出流的基本信息</a:t>
            </a:r>
            <a:endParaRPr lang="en-US" altLang="zh-CN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9875" indent="-269875">
              <a:spcBef>
                <a:spcPct val="30000"/>
              </a:spcBef>
              <a:buSzPct val="75000"/>
              <a:buBlip>
                <a:blip r:embed="rId3"/>
              </a:buBlip>
              <a:tabLst>
                <a:tab pos="539750" algn="l"/>
              </a:tabLst>
            </a:pP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fstream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包含建立文件，读写文件的各种操作和接口</a:t>
            </a:r>
            <a:endParaRPr lang="en-US" altLang="zh-CN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269875" indent="-269875">
              <a:spcBef>
                <a:spcPct val="30000"/>
              </a:spcBef>
              <a:buSzPct val="75000"/>
              <a:buBlip>
                <a:blip r:embed="rId3"/>
              </a:buBlip>
              <a:tabLst>
                <a:tab pos="539750" algn="l"/>
              </a:tabLst>
            </a:pP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iomanip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包含格式化输入输出操作算子，指定输入输出格式</a:t>
            </a:r>
            <a:endParaRPr lang="en-US" altLang="zh-CN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DA3D42-B5B1-4A45-A328-EC02D19C3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9127" y="44604"/>
            <a:ext cx="2092873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头文件是程序与类库的接口</a:t>
            </a: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6170BABA-8D74-4EAF-9FDC-C65CE1E57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79" y="3650620"/>
            <a:ext cx="4572000" cy="168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274638" indent="-274638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 eaLnBrk="1" hangingPunct="1">
              <a:lnSpc>
                <a:spcPct val="150000"/>
              </a:lnSpc>
              <a:buSzPct val="75000"/>
              <a:buFontTx/>
              <a:buBlip>
                <a:blip r:embed="rId4"/>
              </a:buBlip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ostream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150000"/>
              </a:lnSpc>
              <a:buSzPct val="75000"/>
              <a:buFontTx/>
              <a:buBlip>
                <a:blip r:embed="rId4"/>
              </a:buBlip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ofstream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</a:endParaRPr>
          </a:p>
          <a:p>
            <a:pPr lvl="1" eaLnBrk="1" hangingPunct="1">
              <a:lnSpc>
                <a:spcPct val="150000"/>
              </a:lnSpc>
              <a:buSzPct val="75000"/>
              <a:buFontTx/>
              <a:buBlip>
                <a:blip r:embed="rId4"/>
              </a:buBlip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ostringstream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843B6D1B-48CC-4443-B0A1-64C5E865B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45" y="3188955"/>
            <a:ext cx="2954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重要的三个输出流是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230EC1-F6ED-4B9D-8CFC-F8491C9F582A}"/>
              </a:ext>
            </a:extLst>
          </p:cNvPr>
          <p:cNvSpPr txBox="1">
            <a:spLocks/>
          </p:cNvSpPr>
          <p:nvPr/>
        </p:nvSpPr>
        <p:spPr>
          <a:xfrm>
            <a:off x="4116664" y="3650620"/>
            <a:ext cx="3890963" cy="1693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342900" indent="-3429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1pPr>
            <a:lvl2pPr marL="274638" lvl="1" indent="-274638">
              <a:lnSpc>
                <a:spcPct val="150000"/>
              </a:lnSpc>
              <a:buSzPct val="75000"/>
              <a:buFontTx/>
              <a:buBlip>
                <a:blip r:embed="rId4"/>
              </a:buBlip>
              <a:defRPr b="1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1"/>
            <a:r>
              <a:rPr lang="en-US" altLang="zh-CN" b="0" dirty="0" err="1"/>
              <a:t>istream</a:t>
            </a:r>
            <a:r>
              <a:rPr lang="en-US" altLang="zh-CN" b="0" dirty="0"/>
              <a:t> </a:t>
            </a:r>
          </a:p>
          <a:p>
            <a:pPr lvl="1"/>
            <a:r>
              <a:rPr lang="en-US" altLang="zh-CN" b="0" dirty="0" err="1"/>
              <a:t>ifstream</a:t>
            </a:r>
            <a:endParaRPr lang="en-US" altLang="zh-CN" b="0" dirty="0"/>
          </a:p>
          <a:p>
            <a:pPr lvl="1"/>
            <a:r>
              <a:rPr lang="en-US" altLang="zh-CN" b="0" dirty="0" err="1"/>
              <a:t>istringstream</a:t>
            </a:r>
            <a:endParaRPr lang="en-US" altLang="zh-CN" b="0" dirty="0"/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FBCDF5E2-2693-4478-B4F8-F437C3569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6576" y="3188677"/>
            <a:ext cx="3278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重要的三个输入流类：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83A069-8163-2D04-1BE0-465708619B64}"/>
              </a:ext>
            </a:extLst>
          </p:cNvPr>
          <p:cNvSpPr txBox="1"/>
          <p:nvPr/>
        </p:nvSpPr>
        <p:spPr>
          <a:xfrm>
            <a:off x="7765793" y="4632737"/>
            <a:ext cx="442541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zh-CN" altLang="en-US" b="1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流类库最重要两部分功能为：</a:t>
            </a:r>
          </a:p>
          <a:p>
            <a:pPr algn="l"/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①标准输入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(standard input/output)</a:t>
            </a:r>
            <a:endParaRPr lang="zh-CN" altLang="en-US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algn="l"/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②文件处理</a:t>
            </a:r>
          </a:p>
        </p:txBody>
      </p:sp>
    </p:spTree>
    <p:extLst>
      <p:ext uri="{BB962C8B-B14F-4D97-AF65-F5344CB8AC3E}">
        <p14:creationId xmlns:p14="http://schemas.microsoft.com/office/powerpoint/2010/main" val="429350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build="p"/>
      <p:bldP spid="10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CE1C179-C736-7AC7-0BED-CE85C3B9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105292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C8E0D4-7B75-72CF-3231-45C1C3A7A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879" y="0"/>
            <a:ext cx="5058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57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5CDD4F-A373-4C54-910E-623DEE637A41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4" name="直线连接符 6">
            <a:extLst>
              <a:ext uri="{FF2B5EF4-FFF2-40B4-BE49-F238E27FC236}">
                <a16:creationId xmlns:a16="http://schemas.microsoft.com/office/drawing/2014/main" id="{3A11AE7D-E24E-452C-BC02-4BE8A9628811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3BBEDE4-A51B-4D7F-800B-2E11EC36A235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pic>
        <p:nvPicPr>
          <p:cNvPr id="12" name="图片 3">
            <a:extLst>
              <a:ext uri="{FF2B5EF4-FFF2-40B4-BE49-F238E27FC236}">
                <a16:creationId xmlns:a16="http://schemas.microsoft.com/office/drawing/2014/main" id="{DC88F560-4890-470A-8736-1CD4CA4A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211" y="905715"/>
            <a:ext cx="8338096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3">
            <a:extLst>
              <a:ext uri="{FF2B5EF4-FFF2-40B4-BE49-F238E27FC236}">
                <a16:creationId xmlns:a16="http://schemas.microsoft.com/office/drawing/2014/main" id="{F59E2C2B-32C3-47AC-A59F-00CEFA856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" y="2829278"/>
            <a:ext cx="378037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638" lvl="1" indent="-274638">
              <a:buSzPct val="75000"/>
              <a:buFontTx/>
              <a:buBlip>
                <a:blip r:embed="rId4"/>
              </a:buBlip>
            </a:pPr>
            <a:r>
              <a:rPr lang="en-US" altLang="zh-CN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cout</a:t>
            </a:r>
            <a:r>
              <a:rPr lang="en-US" altLang="zh-CN" spc="-15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 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标准输出</a:t>
            </a:r>
            <a:r>
              <a:rPr lang="en-US" altLang="zh-CN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en-US" altLang="zh-CN" kern="0" spc="-15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ostream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</a:p>
          <a:p>
            <a:pPr marL="274638" lvl="1" indent="-274638">
              <a:buSzPct val="75000"/>
              <a:buFontTx/>
              <a:buBlip>
                <a:blip r:embed="rId4"/>
              </a:buBlip>
            </a:pPr>
            <a:r>
              <a:rPr lang="en-US" altLang="zh-CN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cerr</a:t>
            </a:r>
            <a:r>
              <a:rPr lang="en-US" altLang="zh-CN" spc="-15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 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标准错误输出</a:t>
            </a:r>
            <a:r>
              <a:rPr lang="en-US" altLang="zh-CN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没有缓冲</a:t>
            </a:r>
            <a:r>
              <a:rPr lang="en-US" altLang="zh-CN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发送给它的内容立即被输出。</a:t>
            </a:r>
          </a:p>
          <a:p>
            <a:pPr marL="274638" lvl="1" indent="-274638">
              <a:buSzPct val="75000"/>
              <a:buFontTx/>
              <a:buBlip>
                <a:blip r:embed="rId4"/>
              </a:buBlip>
            </a:pPr>
            <a:r>
              <a:rPr lang="en-US" altLang="zh-CN" spc="-15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clog 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类似于</a:t>
            </a:r>
            <a:r>
              <a:rPr lang="en-US" altLang="zh-CN" kern="0" spc="-15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cerr</a:t>
            </a:r>
            <a:r>
              <a:rPr lang="en-US" altLang="zh-CN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但是有缓冲</a:t>
            </a:r>
            <a:r>
              <a:rPr lang="en-US" altLang="zh-CN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zh-CN" altLang="en-US" kern="0" spc="-15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缓冲区满时被输出。</a:t>
            </a:r>
          </a:p>
        </p:txBody>
      </p:sp>
      <p:sp>
        <p:nvSpPr>
          <p:cNvPr id="14" name="矩形 5">
            <a:extLst>
              <a:ext uri="{FF2B5EF4-FFF2-40B4-BE49-F238E27FC236}">
                <a16:creationId xmlns:a16="http://schemas.microsoft.com/office/drawing/2014/main" id="{2C480AB4-D52D-4AA4-B69F-24958CEE4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0250" y="2367613"/>
            <a:ext cx="3390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预定义的输出流对象</a:t>
            </a:r>
            <a:r>
              <a:rPr kumimoji="1" lang="en-US" altLang="zh-CN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:</a:t>
            </a:r>
          </a:p>
        </p:txBody>
      </p:sp>
      <p:sp>
        <p:nvSpPr>
          <p:cNvPr id="15" name="矩形 5">
            <a:extLst>
              <a:ext uri="{FF2B5EF4-FFF2-40B4-BE49-F238E27FC236}">
                <a16:creationId xmlns:a16="http://schemas.microsoft.com/office/drawing/2014/main" id="{EB03D255-41BA-4526-84B1-7C342287A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4096"/>
            <a:ext cx="3390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预先定义的输入流对象</a:t>
            </a:r>
            <a:r>
              <a:rPr kumimoji="1" lang="en-US" altLang="zh-CN" b="1" dirty="0">
                <a:solidFill>
                  <a:srgbClr val="134F85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:</a:t>
            </a: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F682C341-F06F-4182-BF02-D75DBDE15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774" y="1467695"/>
            <a:ext cx="3558163" cy="59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74638" lvl="1" indent="-274638">
              <a:lnSpc>
                <a:spcPct val="150000"/>
              </a:lnSpc>
              <a:buSzPct val="75000"/>
              <a:buFontTx/>
              <a:buBlip>
                <a:blip r:embed="rId4"/>
              </a:buBlip>
            </a:pPr>
            <a:r>
              <a:rPr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cin</a:t>
            </a:r>
            <a:r>
              <a:rPr lang="zh-CN" altLang="en-US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标准输入</a:t>
            </a:r>
            <a:r>
              <a:rPr lang="en-US" altLang="zh-CN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,</a:t>
            </a:r>
            <a:r>
              <a:rPr lang="en-US" altLang="zh-CN" spc="-10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istream</a:t>
            </a:r>
            <a:r>
              <a:rPr lang="zh-CN" altLang="en-US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13380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518A2B3A-1671-42D2-AE4B-3BBD6D7F5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" y="953443"/>
            <a:ext cx="8172450" cy="19812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1BD105C-84D5-4120-92C3-9FDB12F2B739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83558E-2772-4707-9D20-FC7EFD1EC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963823"/>
            <a:ext cx="7386167" cy="31654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7C741D-BE4A-4947-926C-F624E869B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49217"/>
            <a:ext cx="6758074" cy="23812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9006F9F-0E86-4E83-ADE3-C694499B5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23" y="3870786"/>
            <a:ext cx="6297827" cy="371926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CC0E02B-1494-47F6-B77C-61DE802D4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40" y="4362505"/>
            <a:ext cx="6474111" cy="18894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BD1A9DB-907E-46D2-A59C-9574A0ACCE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02" y="4796623"/>
            <a:ext cx="6073666" cy="333784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B8DADBA-6779-45F7-9D0F-6074B33B57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555" y="5467229"/>
            <a:ext cx="6607113" cy="2781541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8091BF6-AEC3-4BA9-BFBC-8A81410503EE}"/>
              </a:ext>
            </a:extLst>
          </p:cNvPr>
          <p:cNvSpPr txBox="1"/>
          <p:nvPr/>
        </p:nvSpPr>
        <p:spPr>
          <a:xfrm>
            <a:off x="5194568" y="2010439"/>
            <a:ext cx="1219200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ED090A3-D38B-481B-9AF6-DC93B482F188}"/>
              </a:ext>
            </a:extLst>
          </p:cNvPr>
          <p:cNvSpPr txBox="1"/>
          <p:nvPr/>
        </p:nvSpPr>
        <p:spPr>
          <a:xfrm>
            <a:off x="6940668" y="1969386"/>
            <a:ext cx="1219200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005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16820F4-4997-403F-B23E-825E89BC5A74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9" name="直线连接符 6">
            <a:extLst>
              <a:ext uri="{FF2B5EF4-FFF2-40B4-BE49-F238E27FC236}">
                <a16:creationId xmlns:a16="http://schemas.microsoft.com/office/drawing/2014/main" id="{B2AA247E-DF53-44F0-B09F-20267C822A4D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DDFC551E-08D1-43C0-A8A8-E4587BB12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582" y="1463134"/>
            <a:ext cx="6143625" cy="448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E667A14-5624-48C6-A2D6-5E31A00E5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513" y="953444"/>
            <a:ext cx="6276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</a:t>
            </a:r>
            <a:r>
              <a:rPr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</a:t>
            </a:r>
            <a:r>
              <a:rPr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ostream</a:t>
            </a:r>
            <a:r>
              <a:rPr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类中分别重载了</a:t>
            </a:r>
            <a:r>
              <a:rPr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”&lt;&lt;”</a:t>
            </a:r>
            <a:r>
              <a:rPr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</a:t>
            </a:r>
            <a:r>
              <a:rPr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”&gt;&gt;”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317ACF-B3B0-4B25-9746-293134B8A542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12.1I/O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流的概念及流类库结构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35B7022-88EB-417B-A39A-19C682B44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15025" cy="451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BC46FC0-CB09-4439-BE86-4BC3DF294F61}"/>
              </a:ext>
            </a:extLst>
          </p:cNvPr>
          <p:cNvSpPr/>
          <p:nvPr/>
        </p:nvSpPr>
        <p:spPr>
          <a:xfrm>
            <a:off x="67072" y="4920777"/>
            <a:ext cx="7453312" cy="1136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ts val="4300"/>
              </a:lnSpc>
              <a:spcBef>
                <a:spcPts val="0"/>
              </a:spcBef>
              <a:buClr>
                <a:srgbClr val="0000FF"/>
              </a:buClr>
              <a:buSzPct val="70000"/>
              <a:buFontTx/>
              <a:buBlip>
                <a:blip r:embed="rId5"/>
              </a:buBlip>
              <a:tabLst>
                <a:tab pos="95250" algn="l"/>
              </a:tabLst>
              <a:defRPr/>
            </a:pPr>
            <a:r>
              <a:rPr lang="zh-CN" altLang="en-US" kern="0" spc="-1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读操作</a:t>
            </a:r>
            <a:r>
              <a:rPr lang="zh-CN" altLang="en-US" kern="0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在流数据抽象中被称为</a:t>
            </a:r>
            <a:r>
              <a:rPr lang="en-US" altLang="zh-CN" kern="0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kern="0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从流中</a:t>
            </a:r>
            <a:r>
              <a:rPr lang="en-US" altLang="zh-CN" kern="0" spc="-1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lang="zh-CN" altLang="en-US" kern="0" spc="-1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提取</a:t>
            </a:r>
            <a:r>
              <a:rPr lang="en-US" altLang="zh-CN" kern="0" spc="-1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&gt;&gt;</a:t>
            </a:r>
          </a:p>
          <a:p>
            <a:pPr>
              <a:lnSpc>
                <a:spcPts val="4300"/>
              </a:lnSpc>
              <a:spcBef>
                <a:spcPts val="0"/>
              </a:spcBef>
              <a:buClr>
                <a:srgbClr val="0000FF"/>
              </a:buClr>
              <a:buSzPct val="70000"/>
              <a:buFontTx/>
              <a:buBlip>
                <a:blip r:embed="rId5"/>
              </a:buBlip>
              <a:tabLst>
                <a:tab pos="95250" algn="l"/>
              </a:tabLst>
              <a:defRPr/>
            </a:pPr>
            <a:r>
              <a:rPr lang="zh-CN" altLang="en-US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写操作</a:t>
            </a:r>
            <a:r>
              <a:rPr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被称为</a:t>
            </a:r>
            <a:r>
              <a:rPr lang="en-US" altLang="zh-CN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向流中</a:t>
            </a:r>
            <a:r>
              <a:rPr lang="en-US" altLang="zh-CN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lang="zh-CN" altLang="en-US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插入</a:t>
            </a:r>
            <a:r>
              <a:rPr lang="en-US" altLang="zh-CN" kern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 </a:t>
            </a:r>
            <a:endParaRPr lang="zh-CN" altLang="en-US" kern="0" dirty="0">
              <a:solidFill>
                <a:srgbClr val="FF0000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450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7A7FE44-0F75-4CB2-884A-F0C353F784FF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1" name="直线连接符 6">
            <a:extLst>
              <a:ext uri="{FF2B5EF4-FFF2-40B4-BE49-F238E27FC236}">
                <a16:creationId xmlns:a16="http://schemas.microsoft.com/office/drawing/2014/main" id="{DC6A1F07-4B42-44DF-BB63-2EB7BA8343BF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894E17-B1CE-409B-B878-02ACB2B48E36}"/>
              </a:ext>
            </a:extLst>
          </p:cNvPr>
          <p:cNvSpPr txBox="1"/>
          <p:nvPr/>
        </p:nvSpPr>
        <p:spPr>
          <a:xfrm>
            <a:off x="247719" y="224527"/>
            <a:ext cx="4580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12.2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标准输入输出流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C26FF2-55E7-490C-A742-58C833D313C0}"/>
              </a:ext>
            </a:extLst>
          </p:cNvPr>
          <p:cNvSpPr/>
          <p:nvPr/>
        </p:nvSpPr>
        <p:spPr>
          <a:xfrm>
            <a:off x="5054180" y="1150561"/>
            <a:ext cx="3225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include&lt;iostream&gt;</a:t>
            </a:r>
          </a:p>
          <a:p>
            <a:pPr eaLnBrk="1" hangingPunct="1">
              <a:defRPr/>
            </a:pP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include&lt;</a:t>
            </a: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iomanip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&gt;</a:t>
            </a:r>
          </a:p>
          <a:p>
            <a:pPr eaLnBrk="1" hangingPunct="1">
              <a:defRPr/>
            </a:pP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using namespace std; </a:t>
            </a:r>
          </a:p>
        </p:txBody>
      </p:sp>
      <p:sp>
        <p:nvSpPr>
          <p:cNvPr id="17" name="矩形 1">
            <a:extLst>
              <a:ext uri="{FF2B5EF4-FFF2-40B4-BE49-F238E27FC236}">
                <a16:creationId xmlns:a16="http://schemas.microsoft.com/office/drawing/2014/main" id="{B1A9BB83-2053-4916-82C0-9F8BB1C71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5735"/>
            <a:ext cx="11967728" cy="2352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spc="-15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操纵符</a:t>
            </a:r>
            <a:r>
              <a:rPr lang="zh-CN" altLang="en-US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是令代码能以</a:t>
            </a:r>
            <a:r>
              <a:rPr lang="en-US" altLang="zh-CN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operator&lt;&lt;</a:t>
            </a:r>
            <a:r>
              <a:rPr lang="zh-CN" altLang="en-US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或 </a:t>
            </a:r>
            <a:r>
              <a:rPr lang="en-US" altLang="zh-CN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operator&gt;&gt; </a:t>
            </a:r>
            <a:r>
              <a:rPr lang="zh-CN" altLang="en-US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控制输入</a:t>
            </a:r>
            <a:r>
              <a:rPr lang="en-US" altLang="zh-CN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</a:t>
            </a:r>
            <a:r>
              <a:rPr lang="zh-CN" altLang="en-US" sz="2800" b="1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输出流的帮助函数。</a:t>
            </a:r>
          </a:p>
          <a:p>
            <a:pPr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特殊的函数</a:t>
            </a:r>
            <a:r>
              <a:rPr lang="en-US" altLang="zh-CN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可直接包含在输入</a:t>
            </a:r>
            <a:r>
              <a:rPr lang="en-US" altLang="zh-CN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</a:t>
            </a: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输出表达式中</a:t>
            </a:r>
            <a:endParaRPr lang="en-US" altLang="zh-CN" sz="2400" b="0" spc="-15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不带形式参数的操纵符定义在 </a:t>
            </a:r>
            <a:r>
              <a:rPr lang="en-US" altLang="zh-CN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iostream</a:t>
            </a: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中</a:t>
            </a:r>
            <a:endParaRPr lang="en-US" altLang="zh-CN" sz="2400" b="0" spc="-15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150000"/>
              </a:lnSpc>
              <a:buFontTx/>
              <a:buBlip>
                <a:blip r:embed="rId3"/>
              </a:buBlip>
            </a:pP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带形式参数的操纵符定义在 </a:t>
            </a:r>
            <a:r>
              <a:rPr lang="en-US" altLang="zh-CN" sz="2400" b="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iomanip</a:t>
            </a:r>
            <a:r>
              <a:rPr lang="en-US" altLang="zh-CN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zh-CN" altLang="en-US" sz="2400" b="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中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BA1307-64CB-486C-BCA7-D2DA56BF78AD}"/>
              </a:ext>
            </a:extLst>
          </p:cNvPr>
          <p:cNvSpPr/>
          <p:nvPr/>
        </p:nvSpPr>
        <p:spPr>
          <a:xfrm>
            <a:off x="1587" y="964928"/>
            <a:ext cx="53558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两种控制数据格式化输出方法：</a:t>
            </a:r>
            <a:endParaRPr lang="en-US" altLang="zh-CN" kern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buFontTx/>
              <a:buBlip>
                <a:blip r:embed="rId4"/>
              </a:buBlip>
              <a:defRPr/>
            </a:pPr>
            <a:r>
              <a:rPr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输入输出操纵符</a:t>
            </a:r>
            <a:r>
              <a:rPr lang="en-US" altLang="zh-CN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en-US" altLang="zh-CN" kern="0" dirty="0" err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iomanip</a:t>
            </a:r>
            <a:r>
              <a:rPr lang="en-US" altLang="zh-CN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</a:p>
          <a:p>
            <a:pPr marL="457200" indent="-457200" eaLnBrk="1" hangingPunct="1">
              <a:buFontTx/>
              <a:buBlip>
                <a:blip r:embed="rId4"/>
              </a:buBlip>
              <a:defRPr/>
            </a:pPr>
            <a:r>
              <a:rPr lang="zh-CN" altLang="en-US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类成员函数</a:t>
            </a:r>
            <a:r>
              <a:rPr lang="en-US" altLang="zh-CN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(iostream)</a:t>
            </a:r>
          </a:p>
        </p:txBody>
      </p:sp>
    </p:spTree>
    <p:extLst>
      <p:ext uri="{BB962C8B-B14F-4D97-AF65-F5344CB8AC3E}">
        <p14:creationId xmlns:p14="http://schemas.microsoft.com/office/powerpoint/2010/main" val="368326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7A7FE44-0F75-4CB2-884A-F0C353F784FF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B1BB676-FBCD-4698-A568-D803B57A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136"/>
            <a:ext cx="2313914" cy="6858000"/>
          </a:xfrm>
          <a:prstGeom prst="rect">
            <a:avLst/>
          </a:prstGeom>
        </p:spPr>
      </p:pic>
      <p:cxnSp>
        <p:nvCxnSpPr>
          <p:cNvPr id="11" name="直线连接符 6">
            <a:extLst>
              <a:ext uri="{FF2B5EF4-FFF2-40B4-BE49-F238E27FC236}">
                <a16:creationId xmlns:a16="http://schemas.microsoft.com/office/drawing/2014/main" id="{DC6A1F07-4B42-44DF-BB63-2EB7BA8343BF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A894E17-B1CE-409B-B878-02ACB2B48E36}"/>
              </a:ext>
            </a:extLst>
          </p:cNvPr>
          <p:cNvSpPr txBox="1"/>
          <p:nvPr/>
        </p:nvSpPr>
        <p:spPr>
          <a:xfrm>
            <a:off x="247719" y="224527"/>
            <a:ext cx="446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12.2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标准输入输出流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pic>
        <p:nvPicPr>
          <p:cNvPr id="19" name="图片 3">
            <a:extLst>
              <a:ext uri="{FF2B5EF4-FFF2-40B4-BE49-F238E27FC236}">
                <a16:creationId xmlns:a16="http://schemas.microsoft.com/office/drawing/2014/main" id="{48CAD9A9-B708-400A-88E3-0F47FFED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" y="905715"/>
            <a:ext cx="5777890" cy="533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A8B032F-06B9-4CB7-BB07-2BE452BECFBB}"/>
              </a:ext>
            </a:extLst>
          </p:cNvPr>
          <p:cNvCxnSpPr/>
          <p:nvPr/>
        </p:nvCxnSpPr>
        <p:spPr>
          <a:xfrm>
            <a:off x="1587" y="1981200"/>
            <a:ext cx="36442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2B76180-6929-4B1B-880D-32819F45E2EC}"/>
              </a:ext>
            </a:extLst>
          </p:cNvPr>
          <p:cNvCxnSpPr>
            <a:cxnSpLocks/>
          </p:cNvCxnSpPr>
          <p:nvPr/>
        </p:nvCxnSpPr>
        <p:spPr>
          <a:xfrm>
            <a:off x="998049" y="6244291"/>
            <a:ext cx="46407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F98C6EC-C60B-411E-87F4-20F8DE2EDEB2}"/>
              </a:ext>
            </a:extLst>
          </p:cNvPr>
          <p:cNvCxnSpPr>
            <a:cxnSpLocks/>
          </p:cNvCxnSpPr>
          <p:nvPr/>
        </p:nvCxnSpPr>
        <p:spPr>
          <a:xfrm flipV="1">
            <a:off x="7230275" y="379650"/>
            <a:ext cx="984165" cy="243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A4A7E60-0FC2-4BC4-B92C-D1112F902266}"/>
              </a:ext>
            </a:extLst>
          </p:cNvPr>
          <p:cNvCxnSpPr>
            <a:cxnSpLocks/>
          </p:cNvCxnSpPr>
          <p:nvPr/>
        </p:nvCxnSpPr>
        <p:spPr>
          <a:xfrm>
            <a:off x="6396016" y="903480"/>
            <a:ext cx="12762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893F4168-4A6A-4B0A-90DC-436CC7AA8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357" y="938221"/>
            <a:ext cx="2373701" cy="1723041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A2472E2-806A-44E1-ABCC-280F5A9364A7}"/>
              </a:ext>
            </a:extLst>
          </p:cNvPr>
          <p:cNvCxnSpPr>
            <a:cxnSpLocks/>
          </p:cNvCxnSpPr>
          <p:nvPr/>
        </p:nvCxnSpPr>
        <p:spPr>
          <a:xfrm>
            <a:off x="8295544" y="1947784"/>
            <a:ext cx="12762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E44B561-14FC-47E0-B0FD-E28E696477DD}"/>
              </a:ext>
            </a:extLst>
          </p:cNvPr>
          <p:cNvCxnSpPr>
            <a:cxnSpLocks/>
          </p:cNvCxnSpPr>
          <p:nvPr/>
        </p:nvCxnSpPr>
        <p:spPr>
          <a:xfrm>
            <a:off x="9033423" y="1174237"/>
            <a:ext cx="12762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08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7A7FE44-0F75-4CB2-884A-F0C353F784FF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1" name="直线连接符 6">
            <a:extLst>
              <a:ext uri="{FF2B5EF4-FFF2-40B4-BE49-F238E27FC236}">
                <a16:creationId xmlns:a16="http://schemas.microsoft.com/office/drawing/2014/main" id="{DC6A1F07-4B42-44DF-BB63-2EB7BA8343BF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53AF1F7-BE32-4626-902D-376477765630}"/>
              </a:ext>
            </a:extLst>
          </p:cNvPr>
          <p:cNvSpPr txBox="1"/>
          <p:nvPr/>
        </p:nvSpPr>
        <p:spPr>
          <a:xfrm>
            <a:off x="247719" y="224527"/>
            <a:ext cx="5423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12.2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标准输入输出流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81124A0-61FD-43E9-9681-544B6924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052226"/>
            <a:ext cx="3267929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int n = 64;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double d = 123.45;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double d2 =  </a:t>
            </a:r>
            <a:r>
              <a:rPr lang="fr-FR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5.0</a:t>
            </a:r>
            <a:r>
              <a:rPr lang="fr-FR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; </a:t>
            </a:r>
            <a:endParaRPr lang="en-US" altLang="zh-CN" sz="2400" b="0" dirty="0">
              <a:solidFill>
                <a:srgbClr val="104E87"/>
              </a:solidFill>
              <a:latin typeface="Comic Sans MS" panose="030F0702030302020204" pitchFamily="66" charset="0"/>
              <a:ea typeface="楷体_GB2312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FD8C6C9-5349-4CDD-B8C0-7F52D83024BF}"/>
              </a:ext>
            </a:extLst>
          </p:cNvPr>
          <p:cNvSpPr txBox="1"/>
          <p:nvPr/>
        </p:nvSpPr>
        <p:spPr>
          <a:xfrm>
            <a:off x="3779346" y="918968"/>
            <a:ext cx="8412654" cy="18097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//</a:t>
            </a:r>
            <a:r>
              <a:rPr lang="zh-CN" altLang="en-US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设置前缀和进制</a:t>
            </a:r>
            <a:endParaRPr lang="en-US" altLang="zh-CN" b="1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setiosflags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ios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::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showbase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setbase</a:t>
            </a: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(10)&lt;&lt;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n&lt;&lt;'\n’;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setbase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(8)&lt;&lt;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n&lt;&lt;'\n’;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cout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setbase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(16)&lt;&lt;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n&lt;&lt;'\n';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4F25A0-E312-4530-B43A-E02B3415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658" y="1615525"/>
            <a:ext cx="694609" cy="1022343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92A434E9-153B-4A2F-938F-6B0691CA62B2}"/>
              </a:ext>
            </a:extLst>
          </p:cNvPr>
          <p:cNvSpPr txBox="1"/>
          <p:nvPr/>
        </p:nvSpPr>
        <p:spPr>
          <a:xfrm>
            <a:off x="8551868" y="1260223"/>
            <a:ext cx="3640131" cy="1421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pitchFamily="66" charset="0"/>
              </a:rPr>
              <a:t>cout&lt;&lt;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showbase</a:t>
            </a:r>
            <a:r>
              <a:rPr lang="zh-CN" altLang="en-US" dirty="0">
                <a:latin typeface="Comic Sans MS" panose="030F0702030302020204" pitchFamily="66" charset="0"/>
              </a:rPr>
              <a:t>; 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pitchFamily="66" charset="0"/>
              </a:rPr>
              <a:t>cout&lt;&lt;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oct</a:t>
            </a:r>
            <a:r>
              <a:rPr lang="zh-CN" altLang="en-US" dirty="0">
                <a:latin typeface="Comic Sans MS" panose="030F0702030302020204" pitchFamily="66" charset="0"/>
              </a:rPr>
              <a:t>&lt;&lt;n&lt;&lt;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endl</a:t>
            </a:r>
            <a:r>
              <a:rPr lang="zh-CN" altLang="en-US" dirty="0">
                <a:latin typeface="Comic Sans MS" panose="030F0702030302020204" pitchFamily="66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pitchFamily="66" charset="0"/>
              </a:rPr>
              <a:t>cout&lt;&lt;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hex</a:t>
            </a:r>
            <a:r>
              <a:rPr lang="zh-CN" altLang="en-US" dirty="0">
                <a:latin typeface="Comic Sans MS" panose="030F0702030302020204" pitchFamily="66" charset="0"/>
              </a:rPr>
              <a:t>&lt;&lt;n&lt;&lt;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endl</a:t>
            </a:r>
            <a:r>
              <a:rPr lang="zh-CN" altLang="en-US" dirty="0">
                <a:latin typeface="Comic Sans MS" panose="030F0702030302020204" pitchFamily="66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Comic Sans MS" panose="030F0702030302020204" pitchFamily="66" charset="0"/>
              </a:rPr>
              <a:t>cout&lt;&lt;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dec</a:t>
            </a:r>
            <a:r>
              <a:rPr lang="zh-CN" altLang="en-US" dirty="0">
                <a:latin typeface="Comic Sans MS" panose="030F0702030302020204" pitchFamily="66" charset="0"/>
              </a:rPr>
              <a:t>&lt;&lt;n&lt;&lt;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endl</a:t>
            </a:r>
            <a:r>
              <a:rPr lang="zh-CN" altLang="en-US" dirty="0">
                <a:latin typeface="Comic Sans MS" panose="030F0702030302020204" pitchFamily="66" charset="0"/>
              </a:rPr>
              <a:t>;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AC706AFC-55A7-4E72-A8CB-1F0E54D9F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975" y="1615526"/>
            <a:ext cx="831024" cy="1022343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C8639098-FA9C-43F4-988A-22666B710539}"/>
              </a:ext>
            </a:extLst>
          </p:cNvPr>
          <p:cNvSpPr txBox="1"/>
          <p:nvPr/>
        </p:nvSpPr>
        <p:spPr>
          <a:xfrm>
            <a:off x="0" y="2820554"/>
            <a:ext cx="12190413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en-US" altLang="zh-CN" dirty="0"/>
              <a:t>//</a:t>
            </a:r>
            <a:r>
              <a:rPr lang="zh-CN" altLang="en-US" dirty="0"/>
              <a:t>设置宽度</a:t>
            </a:r>
            <a:r>
              <a:rPr lang="en-US" altLang="zh-CN" dirty="0"/>
              <a:t>(</a:t>
            </a:r>
            <a:r>
              <a:rPr lang="zh-CN" altLang="en-US" dirty="0"/>
              <a:t>一次性</a:t>
            </a:r>
            <a:r>
              <a:rPr lang="en-US" altLang="zh-CN" dirty="0"/>
              <a:t>)</a:t>
            </a:r>
            <a:r>
              <a:rPr lang="zh-CN" altLang="en-US" dirty="0"/>
              <a:t>、对齐和填充控制</a:t>
            </a:r>
            <a:r>
              <a:rPr lang="en-US" altLang="zh-CN" dirty="0"/>
              <a:t>(</a:t>
            </a:r>
            <a:r>
              <a:rPr lang="zh-CN" altLang="en-US" dirty="0"/>
              <a:t>永久性</a:t>
            </a:r>
            <a:r>
              <a:rPr lang="en-US" altLang="zh-CN" dirty="0"/>
              <a:t>)</a:t>
            </a:r>
          </a:p>
          <a:p>
            <a:pPr>
              <a:lnSpc>
                <a:spcPct val="90000"/>
              </a:lnSpc>
            </a:pPr>
            <a:r>
              <a:rPr lang="pt-BR" altLang="zh-CN" spc="-140" dirty="0">
                <a:latin typeface="Comic Sans MS" panose="030F0702030302020204" pitchFamily="66" charset="0"/>
              </a:rPr>
              <a:t>cout&lt;&lt;</a:t>
            </a:r>
            <a:r>
              <a:rPr lang="pt-BR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setw(7)</a:t>
            </a:r>
            <a:r>
              <a:rPr lang="pt-BR" altLang="zh-CN" spc="-140" dirty="0">
                <a:latin typeface="Comic Sans MS" panose="030F0702030302020204" pitchFamily="66" charset="0"/>
              </a:rPr>
              <a:t>&lt;&lt;n&lt;&lt;","&lt;&lt;n&lt;&lt;endl; </a:t>
            </a:r>
          </a:p>
          <a:p>
            <a:pPr>
              <a:lnSpc>
                <a:spcPct val="90000"/>
              </a:lnSpc>
            </a:pPr>
            <a:r>
              <a:rPr lang="en-US" altLang="zh-CN" spc="-140" dirty="0" err="1">
                <a:latin typeface="Comic Sans MS" panose="030F0702030302020204" pitchFamily="66" charset="0"/>
              </a:rPr>
              <a:t>cout</a:t>
            </a:r>
            <a:r>
              <a:rPr lang="en-US" altLang="zh-CN" spc="-140" dirty="0">
                <a:latin typeface="Comic Sans MS" panose="030F0702030302020204" pitchFamily="66" charset="0"/>
              </a:rPr>
              <a:t>&lt;&lt;</a:t>
            </a:r>
            <a:r>
              <a:rPr lang="en-US" altLang="zh-CN" spc="-14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setw</a:t>
            </a:r>
            <a:r>
              <a:rPr lang="en-US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(7)&lt;&lt;</a:t>
            </a:r>
            <a:r>
              <a:rPr lang="en-US" altLang="zh-CN" spc="-14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setiosflags</a:t>
            </a:r>
            <a:r>
              <a:rPr lang="en-US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(</a:t>
            </a:r>
            <a:r>
              <a:rPr lang="en-US" altLang="zh-CN" spc="-14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ios</a:t>
            </a:r>
            <a:r>
              <a:rPr lang="en-US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::left)&lt;&lt;</a:t>
            </a:r>
            <a:r>
              <a:rPr lang="en-US" altLang="zh-CN" spc="-140" dirty="0">
                <a:latin typeface="Comic Sans MS" panose="030F0702030302020204" pitchFamily="66" charset="0"/>
              </a:rPr>
              <a:t>n&lt;&lt;</a:t>
            </a:r>
            <a:r>
              <a:rPr lang="en-US" altLang="zh-CN" spc="-140" dirty="0" err="1">
                <a:latin typeface="Comic Sans MS" panose="030F0702030302020204" pitchFamily="66" charset="0"/>
              </a:rPr>
              <a:t>endl</a:t>
            </a:r>
            <a:r>
              <a:rPr lang="en-US" altLang="zh-CN" spc="-140" dirty="0">
                <a:latin typeface="Comic Sans MS" panose="030F0702030302020204" pitchFamily="66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pc="-140" dirty="0" err="1">
                <a:latin typeface="Comic Sans MS" panose="030F0702030302020204" pitchFamily="66" charset="0"/>
              </a:rPr>
              <a:t>cout</a:t>
            </a:r>
            <a:r>
              <a:rPr lang="en-US" altLang="zh-CN" spc="-140" dirty="0">
                <a:latin typeface="Comic Sans MS" panose="030F0702030302020204" pitchFamily="66" charset="0"/>
              </a:rPr>
              <a:t>&lt;&lt;</a:t>
            </a:r>
            <a:r>
              <a:rPr lang="en-US" altLang="zh-CN" spc="-14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setw</a:t>
            </a:r>
            <a:r>
              <a:rPr lang="en-US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(7)&lt;&lt;</a:t>
            </a:r>
            <a:r>
              <a:rPr lang="en-US" altLang="zh-CN" spc="-140" dirty="0">
                <a:latin typeface="Comic Sans MS" panose="030F0702030302020204" pitchFamily="66" charset="0"/>
              </a:rPr>
              <a:t>n&lt;&lt;'#'&lt;&lt;</a:t>
            </a:r>
            <a:r>
              <a:rPr lang="en-US" altLang="zh-CN" spc="-140" dirty="0" err="1">
                <a:latin typeface="Comic Sans MS" panose="030F0702030302020204" pitchFamily="66" charset="0"/>
              </a:rPr>
              <a:t>endl</a:t>
            </a:r>
            <a:r>
              <a:rPr lang="en-US" altLang="zh-CN" spc="-140" dirty="0">
                <a:latin typeface="Comic Sans MS" panose="030F0702030302020204" pitchFamily="66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pc="-140" dirty="0" err="1">
                <a:latin typeface="Comic Sans MS" panose="030F0702030302020204" pitchFamily="66" charset="0"/>
              </a:rPr>
              <a:t>cout</a:t>
            </a:r>
            <a:r>
              <a:rPr lang="en-US" altLang="zh-CN" spc="-140" dirty="0">
                <a:latin typeface="Comic Sans MS" panose="030F0702030302020204" pitchFamily="66" charset="0"/>
              </a:rPr>
              <a:t>&lt;&lt;</a:t>
            </a:r>
            <a:r>
              <a:rPr lang="en-US" altLang="zh-CN" spc="-14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setw</a:t>
            </a:r>
            <a:r>
              <a:rPr lang="en-US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(7)&lt;&lt;</a:t>
            </a:r>
            <a:r>
              <a:rPr lang="en-US" altLang="zh-CN" spc="-14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setfill</a:t>
            </a:r>
            <a:r>
              <a:rPr lang="en-US" altLang="zh-CN" spc="-140" dirty="0">
                <a:solidFill>
                  <a:srgbClr val="FF0000"/>
                </a:solidFill>
                <a:latin typeface="Comic Sans MS" panose="030F0702030302020204" pitchFamily="66" charset="0"/>
              </a:rPr>
              <a:t>('*')</a:t>
            </a:r>
            <a:r>
              <a:rPr lang="en-US" altLang="zh-CN" spc="-140" dirty="0">
                <a:latin typeface="Comic Sans MS" panose="030F0702030302020204" pitchFamily="66" charset="0"/>
              </a:rPr>
              <a:t>&lt;&lt;n&lt;&lt;'#'&lt;&lt;</a:t>
            </a:r>
            <a:r>
              <a:rPr lang="en-US" altLang="zh-CN" spc="-140" dirty="0" err="1">
                <a:latin typeface="Comic Sans MS" panose="030F0702030302020204" pitchFamily="66" charset="0"/>
              </a:rPr>
              <a:t>endl</a:t>
            </a:r>
            <a:r>
              <a:rPr lang="en-US" altLang="zh-CN" spc="-140" dirty="0">
                <a:latin typeface="Comic Sans MS" panose="030F0702030302020204" pitchFamily="66" charset="0"/>
              </a:rPr>
              <a:t>;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07D5E29-CE52-4168-BF7D-2323B28B1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468" y="3149149"/>
            <a:ext cx="1489745" cy="1425732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7D166625-B364-4534-947F-B826B9E5CA30}"/>
              </a:ext>
            </a:extLst>
          </p:cNvPr>
          <p:cNvSpPr txBox="1"/>
          <p:nvPr/>
        </p:nvSpPr>
        <p:spPr>
          <a:xfrm>
            <a:off x="7198385" y="3416883"/>
            <a:ext cx="3692769" cy="10895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pPr>
              <a:lnSpc>
                <a:spcPct val="90000"/>
              </a:lnSpc>
            </a:pPr>
            <a:r>
              <a:rPr lang="en-US" altLang="zh-CN" spc="-170" dirty="0" err="1">
                <a:latin typeface="Comic Sans MS" panose="030F0702030302020204" pitchFamily="66" charset="0"/>
              </a:rPr>
              <a:t>cout</a:t>
            </a:r>
            <a:r>
              <a:rPr lang="en-US" altLang="zh-CN" spc="-170" dirty="0">
                <a:latin typeface="Comic Sans MS" panose="030F0702030302020204" pitchFamily="66" charset="0"/>
              </a:rPr>
              <a:t>&lt;&lt;</a:t>
            </a:r>
            <a:r>
              <a:rPr lang="en-US" altLang="zh-CN" spc="-170" dirty="0" err="1">
                <a:latin typeface="Comic Sans MS" panose="030F0702030302020204" pitchFamily="66" charset="0"/>
              </a:rPr>
              <a:t>setw</a:t>
            </a:r>
            <a:r>
              <a:rPr lang="en-US" altLang="zh-CN" spc="-170" dirty="0">
                <a:latin typeface="Comic Sans MS" panose="030F0702030302020204" pitchFamily="66" charset="0"/>
              </a:rPr>
              <a:t>(7)&lt;&lt;n&lt;&lt;","&lt;&lt;n&lt;&lt;</a:t>
            </a:r>
            <a:r>
              <a:rPr lang="en-US" altLang="zh-CN" spc="-170" dirty="0" err="1">
                <a:latin typeface="Comic Sans MS" panose="030F0702030302020204" pitchFamily="66" charset="0"/>
              </a:rPr>
              <a:t>endl</a:t>
            </a:r>
            <a:r>
              <a:rPr lang="en-US" altLang="zh-CN" spc="-170" dirty="0">
                <a:latin typeface="Comic Sans MS" panose="030F0702030302020204" pitchFamily="66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pc="-170" dirty="0" err="1">
                <a:latin typeface="Comic Sans MS" panose="030F0702030302020204" pitchFamily="66" charset="0"/>
              </a:rPr>
              <a:t>cout</a:t>
            </a:r>
            <a:r>
              <a:rPr lang="en-US" altLang="zh-CN" spc="-170" dirty="0">
                <a:latin typeface="Comic Sans MS" panose="030F0702030302020204" pitchFamily="66" charset="0"/>
              </a:rPr>
              <a:t>&lt;&lt;</a:t>
            </a:r>
            <a:r>
              <a:rPr lang="en-US" altLang="zh-CN" spc="-170" dirty="0" err="1">
                <a:latin typeface="Comic Sans MS" panose="030F0702030302020204" pitchFamily="66" charset="0"/>
              </a:rPr>
              <a:t>setw</a:t>
            </a:r>
            <a:r>
              <a:rPr lang="en-US" altLang="zh-CN" spc="-170" dirty="0">
                <a:latin typeface="Comic Sans MS" panose="030F0702030302020204" pitchFamily="66" charset="0"/>
              </a:rPr>
              <a:t>(7)&lt;&lt;</a:t>
            </a:r>
            <a:r>
              <a:rPr lang="en-US" altLang="zh-CN" spc="-170" dirty="0">
                <a:solidFill>
                  <a:srgbClr val="FF0000"/>
                </a:solidFill>
                <a:latin typeface="Comic Sans MS" panose="030F0702030302020204" pitchFamily="66" charset="0"/>
              </a:rPr>
              <a:t>left</a:t>
            </a:r>
            <a:r>
              <a:rPr lang="en-US" altLang="zh-CN" spc="-170" dirty="0">
                <a:latin typeface="Comic Sans MS" panose="030F0702030302020204" pitchFamily="66" charset="0"/>
              </a:rPr>
              <a:t>&lt;&lt;n&lt;&lt;</a:t>
            </a:r>
            <a:r>
              <a:rPr lang="en-US" altLang="zh-CN" spc="-170" dirty="0" err="1">
                <a:latin typeface="Comic Sans MS" panose="030F0702030302020204" pitchFamily="66" charset="0"/>
              </a:rPr>
              <a:t>endl</a:t>
            </a:r>
            <a:r>
              <a:rPr lang="en-US" altLang="zh-CN" spc="-170" dirty="0">
                <a:latin typeface="Comic Sans MS" panose="030F0702030302020204" pitchFamily="66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spc="-170" dirty="0" err="1">
                <a:latin typeface="Comic Sans MS" panose="030F0702030302020204" pitchFamily="66" charset="0"/>
              </a:rPr>
              <a:t>cout</a:t>
            </a:r>
            <a:r>
              <a:rPr lang="en-US" altLang="zh-CN" spc="-170" dirty="0">
                <a:latin typeface="Comic Sans MS" panose="030F0702030302020204" pitchFamily="66" charset="0"/>
              </a:rPr>
              <a:t>&lt;&lt;</a:t>
            </a:r>
            <a:r>
              <a:rPr lang="en-US" altLang="zh-CN" spc="-170" dirty="0" err="1">
                <a:latin typeface="Comic Sans MS" panose="030F0702030302020204" pitchFamily="66" charset="0"/>
              </a:rPr>
              <a:t>setw</a:t>
            </a:r>
            <a:r>
              <a:rPr lang="en-US" altLang="zh-CN" spc="-170" dirty="0">
                <a:latin typeface="Comic Sans MS" panose="030F0702030302020204" pitchFamily="66" charset="0"/>
              </a:rPr>
              <a:t>(7)&lt;&lt;n&lt;&lt;'#'&lt;&lt;</a:t>
            </a:r>
            <a:r>
              <a:rPr lang="en-US" altLang="zh-CN" spc="-170" dirty="0" err="1">
                <a:latin typeface="Comic Sans MS" panose="030F0702030302020204" pitchFamily="66" charset="0"/>
              </a:rPr>
              <a:t>endl</a:t>
            </a:r>
            <a:r>
              <a:rPr lang="en-US" altLang="zh-CN" spc="-170" dirty="0">
                <a:latin typeface="Comic Sans MS" panose="030F0702030302020204" pitchFamily="66" charset="0"/>
              </a:rPr>
              <a:t>;</a:t>
            </a:r>
            <a:endParaRPr lang="zh-CN" altLang="en-US" spc="-170" dirty="0">
              <a:latin typeface="Comic Sans MS" panose="030F0702030302020204" pitchFamily="66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46CFFB82-3FE9-4E7A-9FCF-5C54C9488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154" y="3415774"/>
            <a:ext cx="1123413" cy="109063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F5DA94FF-CB91-4386-AAF7-6597B0190CC4}"/>
              </a:ext>
            </a:extLst>
          </p:cNvPr>
          <p:cNvSpPr txBox="1"/>
          <p:nvPr/>
        </p:nvSpPr>
        <p:spPr>
          <a:xfrm>
            <a:off x="0" y="4660334"/>
            <a:ext cx="9671538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r>
              <a:rPr lang="en-US" altLang="zh-CN" dirty="0"/>
              <a:t>//</a:t>
            </a:r>
            <a:r>
              <a:rPr lang="zh-CN" altLang="en-US" dirty="0"/>
              <a:t>输出精度控制</a:t>
            </a:r>
            <a:endParaRPr lang="en-US" altLang="zh-CN" dirty="0"/>
          </a:p>
          <a:p>
            <a:r>
              <a:rPr lang="en-US" altLang="zh-CN" dirty="0" err="1">
                <a:latin typeface="Comic Sans MS" panose="030F0702030302020204" pitchFamily="66" charset="0"/>
              </a:rPr>
              <a:t>cout</a:t>
            </a:r>
            <a:r>
              <a:rPr lang="en-US" altLang="zh-CN" dirty="0">
                <a:latin typeface="Comic Sans MS" panose="030F0702030302020204" pitchFamily="66" charset="0"/>
              </a:rPr>
              <a:t>&lt;&lt;d2&lt;&lt;",   "&lt;&lt;</a:t>
            </a:r>
            <a:r>
              <a:rPr lang="en-US" altLang="zh-CN" dirty="0" err="1">
                <a:latin typeface="Comic Sans MS" panose="030F0702030302020204" pitchFamily="66" charset="0"/>
              </a:rPr>
              <a:t>showpoint</a:t>
            </a:r>
            <a:r>
              <a:rPr lang="en-US" altLang="zh-CN" dirty="0">
                <a:latin typeface="Comic Sans MS" panose="030F0702030302020204" pitchFamily="66" charset="0"/>
              </a:rPr>
              <a:t>&lt;&lt;d2&lt;&lt;</a:t>
            </a:r>
            <a:r>
              <a:rPr lang="en-US" altLang="zh-CN" dirty="0" err="1">
                <a:latin typeface="Comic Sans MS" panose="030F0702030302020204" pitchFamily="66" charset="0"/>
              </a:rPr>
              <a:t>endl</a:t>
            </a:r>
            <a:r>
              <a:rPr lang="en-US" altLang="zh-CN" dirty="0">
                <a:latin typeface="Comic Sans MS" panose="030F0702030302020204" pitchFamily="66" charset="0"/>
              </a:rPr>
              <a:t>;</a:t>
            </a:r>
          </a:p>
          <a:p>
            <a:r>
              <a:rPr lang="en-US" altLang="zh-CN" dirty="0" err="1">
                <a:latin typeface="Comic Sans MS" panose="030F0702030302020204" pitchFamily="66" charset="0"/>
              </a:rPr>
              <a:t>cout</a:t>
            </a:r>
            <a:r>
              <a:rPr lang="en-US" altLang="zh-CN" dirty="0">
                <a:latin typeface="Comic Sans MS" panose="030F0702030302020204" pitchFamily="66" charset="0"/>
              </a:rPr>
              <a:t>&lt;&lt;</a:t>
            </a:r>
            <a:r>
              <a:rPr lang="en-US" altLang="zh-CN" dirty="0" err="1">
                <a:latin typeface="Comic Sans MS" panose="030F0702030302020204" pitchFamily="66" charset="0"/>
              </a:rPr>
              <a:t>setprecision</a:t>
            </a:r>
            <a:r>
              <a:rPr lang="en-US" altLang="zh-CN" dirty="0">
                <a:latin typeface="Comic Sans MS" panose="030F0702030302020204" pitchFamily="66" charset="0"/>
              </a:rPr>
              <a:t>(5)&lt;&lt;d&lt;&lt;</a:t>
            </a:r>
            <a:r>
              <a:rPr lang="en-US" altLang="zh-CN" dirty="0" err="1">
                <a:latin typeface="Comic Sans MS" panose="030F0702030302020204" pitchFamily="66" charset="0"/>
              </a:rPr>
              <a:t>endl</a:t>
            </a:r>
            <a:r>
              <a:rPr lang="en-US" altLang="zh-CN" dirty="0">
                <a:latin typeface="Comic Sans MS" panose="030F0702030302020204" pitchFamily="66" charset="0"/>
              </a:rPr>
              <a:t>;</a:t>
            </a:r>
          </a:p>
          <a:p>
            <a:r>
              <a:rPr lang="en-US" altLang="zh-CN" dirty="0" err="1">
                <a:latin typeface="Comic Sans MS" panose="030F0702030302020204" pitchFamily="66" charset="0"/>
              </a:rPr>
              <a:t>cout</a:t>
            </a:r>
            <a:r>
              <a:rPr lang="en-US" altLang="zh-CN" dirty="0">
                <a:latin typeface="Comic Sans MS" panose="030F0702030302020204" pitchFamily="66" charset="0"/>
              </a:rPr>
              <a:t>&lt;&lt;</a:t>
            </a:r>
            <a:r>
              <a:rPr lang="en-US" altLang="zh-CN" dirty="0" err="1">
                <a:latin typeface="Comic Sans MS" panose="030F0702030302020204" pitchFamily="66" charset="0"/>
              </a:rPr>
              <a:t>setiosflags</a:t>
            </a:r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en-US" altLang="zh-CN" dirty="0" err="1">
                <a:latin typeface="Comic Sans MS" panose="030F0702030302020204" pitchFamily="66" charset="0"/>
              </a:rPr>
              <a:t>ios</a:t>
            </a:r>
            <a:r>
              <a:rPr lang="en-US" altLang="zh-CN" dirty="0">
                <a:latin typeface="Comic Sans MS" panose="030F0702030302020204" pitchFamily="66" charset="0"/>
              </a:rPr>
              <a:t>::fixed)&lt;&lt;</a:t>
            </a:r>
            <a:r>
              <a:rPr lang="en-US" altLang="zh-CN" dirty="0" err="1">
                <a:latin typeface="Comic Sans MS" panose="030F0702030302020204" pitchFamily="66" charset="0"/>
              </a:rPr>
              <a:t>setprecision</a:t>
            </a:r>
            <a:r>
              <a:rPr lang="en-US" altLang="zh-CN" dirty="0">
                <a:latin typeface="Comic Sans MS" panose="030F0702030302020204" pitchFamily="66" charset="0"/>
              </a:rPr>
              <a:t>(6)&lt;&lt;d&lt;&lt;</a:t>
            </a:r>
            <a:r>
              <a:rPr lang="en-US" altLang="zh-CN" dirty="0" err="1">
                <a:latin typeface="Comic Sans MS" panose="030F0702030302020204" pitchFamily="66" charset="0"/>
              </a:rPr>
              <a:t>endl</a:t>
            </a:r>
            <a:r>
              <a:rPr lang="en-US" altLang="zh-CN" dirty="0">
                <a:latin typeface="Comic Sans MS" panose="030F0702030302020204" pitchFamily="66" charset="0"/>
              </a:rPr>
              <a:t>;</a:t>
            </a:r>
          </a:p>
          <a:p>
            <a:r>
              <a:rPr lang="en-US" altLang="zh-CN" dirty="0">
                <a:latin typeface="Comic Sans MS" panose="030F0702030302020204" pitchFamily="66" charset="0"/>
              </a:rPr>
              <a:t>//</a:t>
            </a:r>
            <a:r>
              <a:rPr lang="en-US" altLang="zh-CN" dirty="0" err="1">
                <a:latin typeface="Comic Sans MS" panose="030F0702030302020204" pitchFamily="66" charset="0"/>
              </a:rPr>
              <a:t>cout</a:t>
            </a:r>
            <a:r>
              <a:rPr lang="en-US" altLang="zh-CN" dirty="0">
                <a:latin typeface="Comic Sans MS" panose="030F0702030302020204" pitchFamily="66" charset="0"/>
              </a:rPr>
              <a:t>&lt;&lt;fixed&lt;&lt;&lt;&lt;</a:t>
            </a:r>
            <a:r>
              <a:rPr lang="en-US" altLang="zh-CN" dirty="0" err="1">
                <a:latin typeface="Comic Sans MS" panose="030F0702030302020204" pitchFamily="66" charset="0"/>
              </a:rPr>
              <a:t>setprecision</a:t>
            </a:r>
            <a:r>
              <a:rPr lang="en-US" altLang="zh-CN" dirty="0">
                <a:latin typeface="Comic Sans MS" panose="030F0702030302020204" pitchFamily="66" charset="0"/>
              </a:rPr>
              <a:t>(6)d&lt;&lt;</a:t>
            </a:r>
            <a:r>
              <a:rPr lang="en-US" altLang="zh-CN" dirty="0" err="1">
                <a:latin typeface="Comic Sans MS" panose="030F0702030302020204" pitchFamily="66" charset="0"/>
              </a:rPr>
              <a:t>endl</a:t>
            </a:r>
            <a:r>
              <a:rPr lang="en-US" altLang="zh-CN" dirty="0">
                <a:latin typeface="Comic Sans MS" panose="030F0702030302020204" pitchFamily="66" charset="0"/>
              </a:rPr>
              <a:t>;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E1C408A-1444-4F34-B693-58CDC6177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367" y="4988192"/>
            <a:ext cx="1816170" cy="1005647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26E66DB8-3F26-4268-AB83-B6852A579B70}"/>
              </a:ext>
            </a:extLst>
          </p:cNvPr>
          <p:cNvSpPr/>
          <p:nvPr/>
        </p:nvSpPr>
        <p:spPr>
          <a:xfrm>
            <a:off x="5997697" y="254976"/>
            <a:ext cx="2327031" cy="52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Tx/>
              <a:buBlip>
                <a:blip r:embed="rId7"/>
              </a:buBlip>
              <a:defRPr/>
            </a:pPr>
            <a:r>
              <a:rPr lang="zh-CN" altLang="en-US" sz="2800" b="1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操纵符</a:t>
            </a:r>
            <a:endParaRPr lang="en-US" altLang="zh-CN" sz="2800" b="1" kern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741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40" grpId="0" animBg="1"/>
      <p:bldP spid="45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5CDD4F-A373-4C54-910E-623DEE637A41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1" name="直线连接符 6">
            <a:extLst>
              <a:ext uri="{FF2B5EF4-FFF2-40B4-BE49-F238E27FC236}">
                <a16:creationId xmlns:a16="http://schemas.microsoft.com/office/drawing/2014/main" id="{3795EEBA-72E6-4EB9-983C-F2E9AAAA9E95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83085BD-F21C-49E9-89F6-982E64D9AB97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12.2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标准输入输出流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5160C9-CA1A-410F-9C77-146E991D8027}"/>
              </a:ext>
            </a:extLst>
          </p:cNvPr>
          <p:cNvSpPr/>
          <p:nvPr/>
        </p:nvSpPr>
        <p:spPr>
          <a:xfrm>
            <a:off x="79129" y="908004"/>
            <a:ext cx="2327031" cy="52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900" indent="-889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1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成员函数</a:t>
            </a:r>
            <a:endParaRPr lang="en-US" altLang="zh-CN" sz="2800" b="1" kern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1FD973-5D99-4392-A9A5-08CE33217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566865"/>
            <a:ext cx="3548246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fr-FR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int n = 64;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fr-FR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double d = 123.456789;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fr-FR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楷体_GB2312" pitchFamily="49" charset="-122"/>
              </a:rPr>
              <a:t>double d2 =  0.01777;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42B730-72B2-4255-B869-3FFD9EF3A0F8}"/>
              </a:ext>
            </a:extLst>
          </p:cNvPr>
          <p:cNvSpPr txBox="1"/>
          <p:nvPr/>
        </p:nvSpPr>
        <p:spPr>
          <a:xfrm>
            <a:off x="3355698" y="1129984"/>
            <a:ext cx="4822458" cy="44135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r>
              <a:rPr lang="en-US" altLang="zh-CN" dirty="0"/>
              <a:t>//</a:t>
            </a:r>
            <a:r>
              <a:rPr lang="zh-CN" altLang="en-US" dirty="0"/>
              <a:t>宽度、对齐和填充控制</a:t>
            </a:r>
            <a:endParaRPr lang="en-US" altLang="zh-CN" b="0" dirty="0">
              <a:latin typeface="Comic Sans MS" panose="030F0702030302020204" pitchFamily="66" charset="0"/>
            </a:endParaRPr>
          </a:p>
          <a:p>
            <a:r>
              <a:rPr lang="zh-CN" altLang="en-US" b="0" dirty="0">
                <a:latin typeface="Comic Sans MS" panose="030F0702030302020204" pitchFamily="66" charset="0"/>
              </a:rPr>
              <a:t>cout.width(10);</a:t>
            </a:r>
          </a:p>
          <a:p>
            <a:r>
              <a:rPr lang="zh-CN" altLang="en-US" b="0" dirty="0">
                <a:latin typeface="Comic Sans MS" panose="030F0702030302020204" pitchFamily="66" charset="0"/>
              </a:rPr>
              <a:t>cout.setf(ios::left);</a:t>
            </a:r>
          </a:p>
          <a:p>
            <a:r>
              <a:rPr lang="zh-CN" altLang="en-US" b="0" dirty="0">
                <a:latin typeface="Comic Sans MS" panose="030F0702030302020204" pitchFamily="66" charset="0"/>
              </a:rPr>
              <a:t>cout.fill('?');</a:t>
            </a:r>
          </a:p>
          <a:p>
            <a:r>
              <a:rPr lang="zh-CN" altLang="en-US" b="0" dirty="0">
                <a:latin typeface="Comic Sans MS" panose="030F0702030302020204" pitchFamily="66" charset="0"/>
              </a:rPr>
              <a:t>cout&lt;&lt;n&lt;&lt;'#'&lt;&lt;endl;</a:t>
            </a:r>
            <a:endParaRPr lang="en-US" altLang="zh-CN" b="0" dirty="0">
              <a:latin typeface="Comic Sans MS" panose="030F0702030302020204" pitchFamily="66" charset="0"/>
            </a:endParaRPr>
          </a:p>
          <a:p>
            <a:r>
              <a:rPr lang="en-US" altLang="zh-CN" dirty="0"/>
              <a:t>//</a:t>
            </a:r>
            <a:r>
              <a:rPr lang="zh-CN" altLang="en-US" dirty="0"/>
              <a:t>进制前缀</a:t>
            </a:r>
            <a:endParaRPr lang="en-US" altLang="zh-CN" b="0" dirty="0">
              <a:latin typeface="Comic Sans MS" panose="030F0702030302020204" pitchFamily="66" charset="0"/>
            </a:endParaRP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cout.setf</a:t>
            </a:r>
            <a:r>
              <a:rPr lang="en-US" altLang="zh-CN" b="0" dirty="0">
                <a:latin typeface="Comic Sans MS" panose="030F0702030302020204" pitchFamily="66" charset="0"/>
              </a:rPr>
              <a:t>(</a:t>
            </a:r>
            <a:r>
              <a:rPr lang="en-US" altLang="zh-CN" b="0" dirty="0" err="1">
                <a:latin typeface="Comic Sans MS" panose="030F0702030302020204" pitchFamily="66" charset="0"/>
              </a:rPr>
              <a:t>ios</a:t>
            </a:r>
            <a:r>
              <a:rPr lang="en-US" altLang="zh-CN" b="0" dirty="0">
                <a:latin typeface="Comic Sans MS" panose="030F0702030302020204" pitchFamily="66" charset="0"/>
              </a:rPr>
              <a:t>::</a:t>
            </a:r>
            <a:r>
              <a:rPr lang="en-US" altLang="zh-CN" b="0" dirty="0" err="1">
                <a:latin typeface="Comic Sans MS" panose="030F0702030302020204" pitchFamily="66" charset="0"/>
              </a:rPr>
              <a:t>showbase</a:t>
            </a:r>
            <a:r>
              <a:rPr lang="en-US" altLang="zh-CN" b="0" dirty="0">
                <a:latin typeface="Comic Sans MS" panose="030F0702030302020204" pitchFamily="66" charset="0"/>
              </a:rPr>
              <a:t>);</a:t>
            </a: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cout.unsetf</a:t>
            </a:r>
            <a:r>
              <a:rPr lang="en-US" altLang="zh-CN" b="0" dirty="0">
                <a:latin typeface="Comic Sans MS" panose="030F0702030302020204" pitchFamily="66" charset="0"/>
              </a:rPr>
              <a:t>(</a:t>
            </a:r>
            <a:r>
              <a:rPr lang="en-US" altLang="zh-CN" b="0" dirty="0" err="1">
                <a:latin typeface="Comic Sans MS" panose="030F0702030302020204" pitchFamily="66" charset="0"/>
              </a:rPr>
              <a:t>ios</a:t>
            </a:r>
            <a:r>
              <a:rPr lang="en-US" altLang="zh-CN" b="0" dirty="0">
                <a:latin typeface="Comic Sans MS" panose="030F0702030302020204" pitchFamily="66" charset="0"/>
              </a:rPr>
              <a:t>::dec);</a:t>
            </a: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cout.setf</a:t>
            </a:r>
            <a:r>
              <a:rPr lang="en-US" altLang="zh-CN" b="0" dirty="0">
                <a:latin typeface="Comic Sans MS" panose="030F0702030302020204" pitchFamily="66" charset="0"/>
              </a:rPr>
              <a:t>(</a:t>
            </a:r>
            <a:r>
              <a:rPr lang="en-US" altLang="zh-CN" b="0" dirty="0" err="1">
                <a:latin typeface="Comic Sans MS" panose="030F0702030302020204" pitchFamily="66" charset="0"/>
              </a:rPr>
              <a:t>ios</a:t>
            </a:r>
            <a:r>
              <a:rPr lang="en-US" altLang="zh-CN" b="0" dirty="0">
                <a:latin typeface="Comic Sans MS" panose="030F0702030302020204" pitchFamily="66" charset="0"/>
              </a:rPr>
              <a:t>::oct);</a:t>
            </a: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</a:t>
            </a:r>
            <a:r>
              <a:rPr lang="en-US" altLang="zh-CN" b="0" dirty="0">
                <a:latin typeface="Comic Sans MS" panose="030F0702030302020204" pitchFamily="66" charset="0"/>
              </a:rPr>
              <a:t>&lt;&lt;n&lt;&lt;</a:t>
            </a:r>
            <a:r>
              <a:rPr lang="en-US" altLang="zh-CN" b="0" dirty="0" err="1">
                <a:latin typeface="Comic Sans MS" panose="030F0702030302020204" pitchFamily="66" charset="0"/>
              </a:rPr>
              <a:t>endl</a:t>
            </a:r>
            <a:r>
              <a:rPr lang="en-US" altLang="zh-CN" b="0" dirty="0">
                <a:latin typeface="Comic Sans MS" panose="030F0702030302020204" pitchFamily="66" charset="0"/>
              </a:rPr>
              <a:t>;</a:t>
            </a: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cout.unsetf</a:t>
            </a:r>
            <a:r>
              <a:rPr lang="en-US" altLang="zh-CN" b="0" dirty="0">
                <a:latin typeface="Comic Sans MS" panose="030F0702030302020204" pitchFamily="66" charset="0"/>
              </a:rPr>
              <a:t>(</a:t>
            </a:r>
            <a:r>
              <a:rPr lang="en-US" altLang="zh-CN" b="0" dirty="0" err="1">
                <a:latin typeface="Comic Sans MS" panose="030F0702030302020204" pitchFamily="66" charset="0"/>
              </a:rPr>
              <a:t>ios</a:t>
            </a:r>
            <a:r>
              <a:rPr lang="en-US" altLang="zh-CN" b="0" dirty="0">
                <a:latin typeface="Comic Sans MS" panose="030F0702030302020204" pitchFamily="66" charset="0"/>
              </a:rPr>
              <a:t>::oct);</a:t>
            </a: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cout.setf</a:t>
            </a:r>
            <a:r>
              <a:rPr lang="en-US" altLang="zh-CN" b="0" dirty="0">
                <a:latin typeface="Comic Sans MS" panose="030F0702030302020204" pitchFamily="66" charset="0"/>
              </a:rPr>
              <a:t>(</a:t>
            </a:r>
            <a:r>
              <a:rPr lang="en-US" altLang="zh-CN" b="0" dirty="0" err="1">
                <a:latin typeface="Comic Sans MS" panose="030F0702030302020204" pitchFamily="66" charset="0"/>
              </a:rPr>
              <a:t>ios</a:t>
            </a:r>
            <a:r>
              <a:rPr lang="en-US" altLang="zh-CN" b="0" dirty="0">
                <a:latin typeface="Comic Sans MS" panose="030F0702030302020204" pitchFamily="66" charset="0"/>
              </a:rPr>
              <a:t>::hex);</a:t>
            </a:r>
          </a:p>
          <a:p>
            <a:r>
              <a:rPr lang="en-US" altLang="zh-CN" b="0" dirty="0" err="1">
                <a:latin typeface="Comic Sans MS" panose="030F0702030302020204" pitchFamily="66" charset="0"/>
              </a:rPr>
              <a:t>cout</a:t>
            </a:r>
            <a:r>
              <a:rPr lang="en-US" altLang="zh-CN" b="0" dirty="0">
                <a:latin typeface="Comic Sans MS" panose="030F0702030302020204" pitchFamily="66" charset="0"/>
              </a:rPr>
              <a:t>&lt;&lt;n&lt;&lt;</a:t>
            </a:r>
            <a:r>
              <a:rPr lang="en-US" altLang="zh-CN" b="0" dirty="0" err="1">
                <a:latin typeface="Comic Sans MS" panose="030F0702030302020204" pitchFamily="66" charset="0"/>
              </a:rPr>
              <a:t>endl</a:t>
            </a:r>
            <a:r>
              <a:rPr lang="en-US" altLang="zh-CN" b="0" dirty="0">
                <a:latin typeface="Comic Sans MS" panose="030F0702030302020204" pitchFamily="66" charset="0"/>
              </a:rPr>
              <a:t>;</a:t>
            </a:r>
            <a:endParaRPr lang="zh-CN" altLang="en-US" b="0" dirty="0">
              <a:latin typeface="Comic Sans MS" panose="030F0702030302020204" pitchFamily="66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33E01D-4314-4AF5-8E05-336E2096460A}"/>
              </a:ext>
            </a:extLst>
          </p:cNvPr>
          <p:cNvSpPr txBox="1"/>
          <p:nvPr/>
        </p:nvSpPr>
        <p:spPr>
          <a:xfrm>
            <a:off x="8250753" y="1129984"/>
            <a:ext cx="3548246" cy="40811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b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defRPr>
            </a:lvl1pPr>
          </a:lstStyle>
          <a:p>
            <a:r>
              <a:rPr lang="en-US" altLang="zh-CN" dirty="0"/>
              <a:t>//</a:t>
            </a:r>
            <a:r>
              <a:rPr lang="zh-CN" altLang="en-US" dirty="0"/>
              <a:t>精度控制</a:t>
            </a:r>
            <a:endParaRPr lang="en-US" altLang="zh-CN" dirty="0"/>
          </a:p>
          <a:p>
            <a:r>
              <a:rPr lang="zh-CN" altLang="en-US" dirty="0"/>
              <a:t>cout.precision(4);</a:t>
            </a:r>
          </a:p>
          <a:p>
            <a:r>
              <a:rPr lang="zh-CN" altLang="en-US" dirty="0"/>
              <a:t>cout&lt;&lt;d&lt;&lt;endl;</a:t>
            </a:r>
          </a:p>
          <a:p>
            <a:r>
              <a:rPr lang="zh-CN" altLang="en-US" dirty="0"/>
              <a:t>cout.precision(2);</a:t>
            </a:r>
          </a:p>
          <a:p>
            <a:r>
              <a:rPr lang="zh-CN" altLang="en-US" dirty="0"/>
              <a:t>cout&lt;&lt;d2&lt;&lt;endl;</a:t>
            </a:r>
          </a:p>
          <a:p>
            <a:r>
              <a:rPr lang="zh-CN" altLang="en-US" dirty="0"/>
              <a:t>cout.setf(ios::fixed);</a:t>
            </a:r>
          </a:p>
          <a:p>
            <a:r>
              <a:rPr lang="zh-CN" altLang="en-US" dirty="0"/>
              <a:t>cout.precision(4);</a:t>
            </a:r>
          </a:p>
          <a:p>
            <a:r>
              <a:rPr lang="zh-CN" altLang="en-US" dirty="0"/>
              <a:t>cout&lt;&lt;d&lt;&lt;endl;</a:t>
            </a:r>
          </a:p>
          <a:p>
            <a:r>
              <a:rPr lang="zh-CN" altLang="en-US" dirty="0"/>
              <a:t>cout.precision(2);</a:t>
            </a:r>
          </a:p>
          <a:p>
            <a:r>
              <a:rPr lang="zh-CN" altLang="en-US" dirty="0"/>
              <a:t>cout&lt;&lt;d2&lt;&lt;endl;</a:t>
            </a:r>
          </a:p>
          <a:p>
            <a:r>
              <a:rPr lang="zh-CN" altLang="en-US" dirty="0"/>
              <a:t>cout.precision(1);</a:t>
            </a:r>
          </a:p>
          <a:p>
            <a:r>
              <a:rPr lang="zh-CN" altLang="en-US" dirty="0"/>
              <a:t>cout&lt;&lt;d2&lt;&lt;endl;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3246C3-662E-4CD2-A371-0E2E0C04F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434" y="2415002"/>
            <a:ext cx="2020722" cy="43782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E95391A-EEF8-49C0-805A-52D4435A6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633" y="4069412"/>
            <a:ext cx="799185" cy="3604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A569122-CA97-4135-A902-76882F7C3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741" y="5123463"/>
            <a:ext cx="846692" cy="40570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03C1A78-9F65-4B48-8882-99C2545024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732" y="1846589"/>
            <a:ext cx="709266" cy="27188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E919DC9-5457-4D6F-96A4-083EA3019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6352" y="2482098"/>
            <a:ext cx="818007" cy="30137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0B47970-943E-4D8F-A957-FF882620ED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0866" y="3479953"/>
            <a:ext cx="1191781" cy="30137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41F1E0B-11E2-4C48-A177-6865BBC996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3066" y="4090741"/>
            <a:ext cx="659440" cy="32972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633E22A7-9834-48F9-B06B-38BDF96C28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83066" y="4781102"/>
            <a:ext cx="659440" cy="3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E2B3F79-ACE2-485E-BC3D-0FFB12B8FEBC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A590AA9C-64D8-40DC-B008-A4B0DD6196AD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50A5F9B-BEFD-4E2C-B501-8D71D2A4CBFA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12.2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标准输入输出流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7233FF-1A6C-42FE-9826-46CAF88B5BC6}"/>
              </a:ext>
            </a:extLst>
          </p:cNvPr>
          <p:cNvSpPr txBox="1"/>
          <p:nvPr/>
        </p:nvSpPr>
        <p:spPr>
          <a:xfrm>
            <a:off x="1587" y="940225"/>
            <a:ext cx="10696808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88900" indent="-88900">
              <a:buFontTx/>
              <a:buBlip>
                <a:blip r:embed="rId3"/>
              </a:buBlip>
              <a:defRPr sz="2800" b="1" kern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</a:lstStyle>
          <a:p>
            <a:pPr marL="0" indent="0">
              <a:buNone/>
            </a:pPr>
            <a:r>
              <a:rPr lang="zh-CN" altLang="en-US" dirty="0"/>
              <a:t>常用的输入输出成员函数</a:t>
            </a:r>
            <a:r>
              <a:rPr lang="en-US" altLang="zh-CN" dirty="0"/>
              <a:t>——</a:t>
            </a:r>
            <a:r>
              <a:rPr lang="zh-CN" altLang="en-US" dirty="0"/>
              <a:t>无格式输入输出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AE77FC-55DB-46C0-86E1-6D727543DC24}"/>
              </a:ext>
            </a:extLst>
          </p:cNvPr>
          <p:cNvSpPr txBox="1"/>
          <p:nvPr/>
        </p:nvSpPr>
        <p:spPr>
          <a:xfrm>
            <a:off x="142177" y="1364141"/>
            <a:ext cx="8455413" cy="886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  <a:buBlip>
                <a:blip r:embed="rId3"/>
              </a:buBlip>
              <a:defRPr/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输出：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put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write</a:t>
            </a:r>
          </a:p>
          <a:p>
            <a:pPr>
              <a:spcBef>
                <a:spcPct val="15000"/>
              </a:spcBef>
              <a:buBlip>
                <a:blip r:embed="rId3"/>
              </a:buBlip>
              <a:defRPr/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输入：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read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getline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peek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putback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ignore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87C109C-9E2E-4A45-95F4-212E85084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718" y="2040832"/>
            <a:ext cx="5559425" cy="123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400" kern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cout.write</a:t>
            </a:r>
            <a:r>
              <a:rPr lang="en-US" altLang="zh-CN" sz="2400" kern="0" dirty="0">
                <a:solidFill>
                  <a:srgbClr val="FF0000"/>
                </a:solidFill>
                <a:latin typeface="Comic Sans MS" panose="030F0702030302020204" pitchFamily="66" charset="0"/>
              </a:rPr>
              <a:t>(char *, </a:t>
            </a:r>
            <a:r>
              <a:rPr lang="en-US" altLang="zh-CN" sz="2400" kern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int</a:t>
            </a:r>
            <a:r>
              <a:rPr lang="en-US" altLang="zh-CN" sz="2400" kern="0" dirty="0">
                <a:solidFill>
                  <a:srgbClr val="FF0000"/>
                </a:solidFill>
                <a:latin typeface="Comic Sans MS" panose="030F0702030302020204" pitchFamily="66" charset="0"/>
              </a:rPr>
              <a:t>) ;</a:t>
            </a:r>
          </a:p>
          <a:p>
            <a:pPr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char buffer[]=“HAPPY BIRTHDAY”;</a:t>
            </a:r>
          </a:p>
          <a:p>
            <a:pPr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400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cout.write</a:t>
            </a:r>
            <a:r>
              <a:rPr lang="en-US" altLang="zh-CN" sz="2400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(buffer,10);</a:t>
            </a:r>
          </a:p>
        </p:txBody>
      </p:sp>
      <p:sp>
        <p:nvSpPr>
          <p:cNvPr id="20" name="矩形 1">
            <a:extLst>
              <a:ext uri="{FF2B5EF4-FFF2-40B4-BE49-F238E27FC236}">
                <a16:creationId xmlns:a16="http://schemas.microsoft.com/office/drawing/2014/main" id="{6A436FA2-FF96-4A14-88E4-C3787008E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039" y="950554"/>
            <a:ext cx="368866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 eaLnBrk="0" fontAlgn="base" hangingPunct="0">
              <a:spcAft>
                <a:spcPct val="0"/>
              </a:spcAft>
              <a:buClr>
                <a:srgbClr val="0000FF"/>
              </a:buClr>
              <a:buSzPct val="70000"/>
              <a:buFont typeface="Wingdings" pitchFamily="2" charset="2"/>
              <a:buNone/>
            </a:pPr>
            <a:r>
              <a:rPr lang="en-US" altLang="zh-CN" kern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cout.put</a:t>
            </a:r>
            <a:r>
              <a:rPr lang="en-US" altLang="zh-CN" kern="0" dirty="0">
                <a:solidFill>
                  <a:srgbClr val="FF0000"/>
                </a:solidFill>
                <a:latin typeface="Comic Sans MS" panose="030F0702030302020204" pitchFamily="66" charset="0"/>
              </a:rPr>
              <a:t>(char)</a:t>
            </a:r>
          </a:p>
          <a:p>
            <a:pPr marL="469900" indent="-469900" eaLnBrk="0" fontAlgn="base" hangingPunct="0">
              <a:spcAft>
                <a:spcPct val="0"/>
              </a:spcAft>
              <a:buClr>
                <a:srgbClr val="0000FF"/>
              </a:buClr>
              <a:buSzPct val="70000"/>
              <a:buFont typeface="Wingdings" pitchFamily="2" charset="2"/>
              <a:buNone/>
            </a:pP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cout.put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('A');</a:t>
            </a:r>
          </a:p>
          <a:p>
            <a:pPr marL="469900" indent="-469900" eaLnBrk="0" fontAlgn="base" hangingPunct="0">
              <a:spcAft>
                <a:spcPct val="0"/>
              </a:spcAft>
              <a:buClr>
                <a:srgbClr val="0000FF"/>
              </a:buClr>
              <a:buSzPct val="70000"/>
              <a:buFont typeface="Wingdings" pitchFamily="2" charset="2"/>
              <a:buNone/>
            </a:pP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cout.put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(65);</a:t>
            </a:r>
          </a:p>
          <a:p>
            <a:pPr marL="469900" indent="-469900" eaLnBrk="0" fontAlgn="base" hangingPunct="0">
              <a:spcAft>
                <a:spcPct val="0"/>
              </a:spcAft>
              <a:buClr>
                <a:srgbClr val="0000FF"/>
              </a:buClr>
              <a:buSzPct val="70000"/>
              <a:buFont typeface="Wingdings" pitchFamily="2" charset="2"/>
              <a:buNone/>
            </a:pPr>
            <a:r>
              <a:rPr lang="en-US" altLang="zh-CN" kern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cout.put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</a:rPr>
              <a:t>('A').put('\n');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6D8BCA-36B3-4560-B935-275C31FE4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0" y="3385655"/>
            <a:ext cx="6813028" cy="3153066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FD3233-579B-44D4-A2EF-97BC4DD86637}"/>
              </a:ext>
            </a:extLst>
          </p:cNvPr>
          <p:cNvCxnSpPr>
            <a:cxnSpLocks/>
          </p:cNvCxnSpPr>
          <p:nvPr/>
        </p:nvCxnSpPr>
        <p:spPr>
          <a:xfrm>
            <a:off x="122940" y="3669306"/>
            <a:ext cx="17586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5C9F7963-07AA-DC45-0C16-9FDBA6F4B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289" y="3552816"/>
            <a:ext cx="5765146" cy="1052368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E1C2889-C217-C12C-350D-B4825300E805}"/>
              </a:ext>
            </a:extLst>
          </p:cNvPr>
          <p:cNvCxnSpPr>
            <a:cxnSpLocks/>
          </p:cNvCxnSpPr>
          <p:nvPr/>
        </p:nvCxnSpPr>
        <p:spPr>
          <a:xfrm>
            <a:off x="5980289" y="3824934"/>
            <a:ext cx="175860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57D94B8-307C-B4D5-FA84-7B1380702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270" y="2774383"/>
            <a:ext cx="2530019" cy="540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E9BEED-A4F1-7C9C-F77E-608FA076AB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1280" y="2499696"/>
            <a:ext cx="938415" cy="47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8652452-7D6E-4EA8-B1D2-D815D76C6F72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1E07DA86-9018-45E5-ACC3-6FCA32021ACA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86DBDDD-30C2-4632-AC23-3756DEC03679}"/>
              </a:ext>
            </a:extLst>
          </p:cNvPr>
          <p:cNvSpPr txBox="1"/>
          <p:nvPr/>
        </p:nvSpPr>
        <p:spPr>
          <a:xfrm>
            <a:off x="247718" y="224527"/>
            <a:ext cx="9423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  <a:endParaRPr kumimoji="1" lang="en-US" altLang="zh-CN" sz="3200" b="1" dirty="0">
              <a:latin typeface="华光胖头鱼_CNKI" panose="02000500000000000000" pitchFamily="2" charset="-122"/>
              <a:ea typeface="华光胖头鱼_CNKI" panose="02000500000000000000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FD81AF-0D30-4EE9-843E-B3F8BF3A8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0" y="1100586"/>
            <a:ext cx="102455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kern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以文件为对象的输入输出，从磁盘文件读取数据，将数据输出到磁盘文件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F7E11F-985B-45AF-B4C6-A9919CAD6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51" y="1643525"/>
            <a:ext cx="656648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SzPct val="75000"/>
              <a:buBlip>
                <a:blip r:embed="rId3"/>
              </a:buBlip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输出文件流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从内存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流向外存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的数据</a:t>
            </a:r>
            <a:endParaRPr lang="en-US" altLang="zh-CN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spcBef>
                <a:spcPts val="1200"/>
              </a:spcBef>
              <a:buSzPct val="75000"/>
              <a:buBlip>
                <a:blip r:embed="rId3"/>
              </a:buBlip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输入文件流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从外存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流向内存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的数据</a:t>
            </a:r>
            <a:endParaRPr lang="en-US" altLang="zh-CN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spcBef>
                <a:spcPts val="1200"/>
              </a:spcBef>
              <a:buSzPct val="75000"/>
              <a:buBlip>
                <a:blip r:embed="rId3"/>
              </a:buBlip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每一个文件流都有一个内存缓冲区与之对应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346C88-F403-445B-80FE-0B916F1F9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51" y="3666523"/>
            <a:ext cx="996760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3</a:t>
            </a: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个用于文件操作的文件类：</a:t>
            </a:r>
            <a:endParaRPr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eaLnBrk="1" hangingPunct="1">
              <a:spcBef>
                <a:spcPts val="1200"/>
              </a:spcBef>
              <a:buSzPct val="75000"/>
              <a:buFontTx/>
              <a:buBlip>
                <a:blip r:embed="rId3"/>
              </a:buBlip>
              <a:defRPr/>
            </a:pPr>
            <a:r>
              <a:rPr lang="en-US" altLang="zh-CN" sz="2400" b="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</a:t>
            </a:r>
            <a:r>
              <a:rPr lang="zh-CN" altLang="en-US" sz="2400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</a:t>
            </a:r>
            <a:r>
              <a:rPr lang="en-US" altLang="zh-CN" sz="2400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  <a:r>
              <a:rPr lang="zh-CN" altLang="en-US" sz="2400" b="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</a:t>
            </a:r>
            <a:r>
              <a:rPr lang="en-US" altLang="zh-CN" sz="2400" b="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类派生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支持从磁盘文件的输入</a:t>
            </a:r>
          </a:p>
          <a:p>
            <a:pPr eaLnBrk="1" hangingPunct="1">
              <a:spcBef>
                <a:spcPts val="1200"/>
              </a:spcBef>
              <a:buSzPct val="75000"/>
              <a:buFontTx/>
              <a:buBlip>
                <a:blip r:embed="rId3"/>
              </a:buBlip>
              <a:defRPr/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类派生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支持向磁盘文件的输出</a:t>
            </a:r>
          </a:p>
          <a:p>
            <a:pPr eaLnBrk="1" hangingPunct="1">
              <a:spcBef>
                <a:spcPts val="1200"/>
              </a:spcBef>
              <a:buSzPct val="75000"/>
              <a:buFontTx/>
              <a:buBlip>
                <a:blip r:embed="rId3"/>
              </a:buBlip>
              <a:defRPr/>
            </a:pP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类派生，支持对磁盘文件的输入输出</a:t>
            </a:r>
          </a:p>
        </p:txBody>
      </p:sp>
    </p:spTree>
    <p:extLst>
      <p:ext uri="{BB962C8B-B14F-4D97-AF65-F5344CB8AC3E}">
        <p14:creationId xmlns:p14="http://schemas.microsoft.com/office/powerpoint/2010/main" val="176938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1" name="直线连接符 6">
            <a:extLst>
              <a:ext uri="{FF2B5EF4-FFF2-40B4-BE49-F238E27FC236}">
                <a16:creationId xmlns:a16="http://schemas.microsoft.com/office/drawing/2014/main" id="{C72C86B3-48FF-44F2-A481-4F51E943A80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68A894E-F0C0-4D60-B75B-7A827F3DF4F9}"/>
              </a:ext>
            </a:extLst>
          </p:cNvPr>
          <p:cNvSpPr txBox="1"/>
          <p:nvPr/>
        </p:nvSpPr>
        <p:spPr>
          <a:xfrm>
            <a:off x="247719" y="224527"/>
            <a:ext cx="7583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D0A71EEA-5AB0-40CC-B7F1-0F5B3359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66" y="960927"/>
            <a:ext cx="7994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创建文件流对象</a:t>
            </a:r>
          </a:p>
        </p:txBody>
      </p:sp>
      <p:sp>
        <p:nvSpPr>
          <p:cNvPr id="17" name="矩形 1">
            <a:extLst>
              <a:ext uri="{FF2B5EF4-FFF2-40B4-BE49-F238E27FC236}">
                <a16:creationId xmlns:a16="http://schemas.microsoft.com/office/drawing/2014/main" id="{36FB6DF9-22DA-4A1D-89D6-6009E61A8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846" y="1538219"/>
            <a:ext cx="7467193" cy="330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Comic Sans MS" panose="030F0702030302020204" pitchFamily="66" charset="0"/>
              </a:rPr>
              <a:t>#include&lt;fstream&gt;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using namespace std; 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int main( )	                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// 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建立不同的文件流 </a:t>
            </a:r>
          </a:p>
          <a:p>
            <a:pPr>
              <a:spcBef>
                <a:spcPct val="10000"/>
              </a:spcBef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{</a:t>
            </a:r>
            <a:r>
              <a:rPr lang="en-US" altLang="zh-CN" sz="2400" b="0" dirty="0">
                <a:latin typeface="Comic Sans MS" panose="030F0702030302020204" pitchFamily="66" charset="0"/>
              </a:rPr>
              <a:t>	</a:t>
            </a:r>
            <a:r>
              <a:rPr lang="en-US" altLang="zh-CN" sz="2400" b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ifstream</a:t>
            </a:r>
            <a:r>
              <a:rPr lang="en-US" altLang="zh-CN" sz="2400" b="0" dirty="0">
                <a:latin typeface="Comic Sans MS" panose="030F0702030302020204" pitchFamily="66" charset="0"/>
              </a:rPr>
              <a:t> </a:t>
            </a:r>
            <a:r>
              <a:rPr kumimoji="1"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ifile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;      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 input file 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只能读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Comic Sans MS" panose="030F0702030302020204" pitchFamily="66" charset="0"/>
              </a:rPr>
              <a:t>	</a:t>
            </a:r>
            <a:r>
              <a:rPr lang="en-US" altLang="zh-CN" sz="2400" b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ofstream</a:t>
            </a:r>
            <a:r>
              <a:rPr lang="en-US" altLang="zh-CN" sz="2400" b="0" dirty="0">
                <a:latin typeface="Comic Sans MS" panose="030F0702030302020204" pitchFamily="66" charset="0"/>
              </a:rPr>
              <a:t> </a:t>
            </a:r>
            <a:r>
              <a:rPr kumimoji="1"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ofile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;    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 output file stream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只能写</a:t>
            </a:r>
          </a:p>
          <a:p>
            <a:pPr>
              <a:spcBef>
                <a:spcPct val="10000"/>
              </a:spcBef>
            </a:pPr>
            <a:r>
              <a:rPr lang="zh-CN" altLang="en-US" sz="2400" b="0" dirty="0">
                <a:latin typeface="Comic Sans MS" panose="030F0702030302020204" pitchFamily="66" charset="0"/>
              </a:rPr>
              <a:t>	</a:t>
            </a:r>
            <a:r>
              <a:rPr lang="en-US" altLang="zh-CN" sz="2400" b="0" dirty="0" err="1">
                <a:solidFill>
                  <a:srgbClr val="FF0000"/>
                </a:solidFill>
                <a:latin typeface="Comic Sans MS" panose="030F0702030302020204" pitchFamily="66" charset="0"/>
              </a:rPr>
              <a:t>fstream</a:t>
            </a:r>
            <a:r>
              <a:rPr lang="en-US" altLang="zh-CN" sz="2400" b="0" dirty="0">
                <a:latin typeface="Comic Sans MS" panose="030F0702030302020204" pitchFamily="66" charset="0"/>
              </a:rPr>
              <a:t> </a:t>
            </a:r>
            <a:r>
              <a:rPr kumimoji="1"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iofile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;   </a:t>
            </a: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 I/O file stream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	return 0;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2F71B6A-2129-449A-BA54-ECFE60D0C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224527"/>
            <a:ext cx="7429500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41DE5D7-B908-4C05-9DC4-AB2FD7DA5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1231002"/>
            <a:ext cx="8916987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C8731CE-FA58-4FC9-9951-D4116C8FC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332727"/>
            <a:ext cx="7777163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D54D974-ABB8-4FA9-8530-2FCCC5AEF9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50" y="2789927"/>
            <a:ext cx="7942263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4489504-10C3-4975-BBBD-FBF509447C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00" y="4469502"/>
            <a:ext cx="81343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489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ECC2243-1568-4D97-BD92-7D269F963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4450"/>
            <a:ext cx="613092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CB38117-5228-475B-BDE6-74F990E18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1438"/>
            <a:ext cx="7397945" cy="226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6393257-328A-4047-B01B-485D126ED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4" y="2049463"/>
            <a:ext cx="7318571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CBAD6D-5DEE-48DB-8026-63CE649D13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096099"/>
            <a:ext cx="7397944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1">
            <a:extLst>
              <a:ext uri="{FF2B5EF4-FFF2-40B4-BE49-F238E27FC236}">
                <a16:creationId xmlns:a16="http://schemas.microsoft.com/office/drawing/2014/main" id="{A6CF2971-55E0-437D-B46E-0E418F4ED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944" y="1556544"/>
            <a:ext cx="4794055" cy="309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对文件的操作一般分为</a:t>
            </a:r>
            <a:r>
              <a:rPr lang="en-US" altLang="zh-CN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3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个步骤：</a:t>
            </a:r>
          </a:p>
          <a:p>
            <a:pPr algn="just"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1)</a:t>
            </a:r>
            <a:r>
              <a:rPr lang="zh-CN" altLang="en-US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打开文件：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使用文件打开函数打开文件，并与文件指针建立关系；</a:t>
            </a:r>
          </a:p>
          <a:p>
            <a:pPr algn="just"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2)</a:t>
            </a:r>
            <a:r>
              <a:rPr lang="zh-CN" altLang="en-US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操作文件：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利用文件指针和写文件、读文件函数进行文件操作；</a:t>
            </a:r>
          </a:p>
          <a:p>
            <a:pPr algn="just" eaLnBrk="1" hangingPunct="1">
              <a:spcBef>
                <a:spcPts val="60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3)</a:t>
            </a:r>
            <a:r>
              <a:rPr lang="zh-CN" altLang="en-US" sz="2400" b="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关闭文件：</a:t>
            </a:r>
            <a:r>
              <a:rPr lang="zh-CN" altLang="en-US" sz="24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使用文件关闭函数后再关闭文件。</a:t>
            </a:r>
          </a:p>
        </p:txBody>
      </p:sp>
    </p:spTree>
    <p:extLst>
      <p:ext uri="{BB962C8B-B14F-4D97-AF65-F5344CB8AC3E}">
        <p14:creationId xmlns:p14="http://schemas.microsoft.com/office/powerpoint/2010/main" val="117880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B14F42C0-3508-43EC-B402-C5D5AEE82C67}"/>
              </a:ext>
            </a:extLst>
          </p:cNvPr>
          <p:cNvCxnSpPr/>
          <p:nvPr/>
        </p:nvCxnSpPr>
        <p:spPr>
          <a:xfrm>
            <a:off x="0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55A6EC7-C695-4ECC-8019-63EC55AA33D4}"/>
              </a:ext>
            </a:extLst>
          </p:cNvPr>
          <p:cNvSpPr txBox="1"/>
          <p:nvPr/>
        </p:nvSpPr>
        <p:spPr>
          <a:xfrm>
            <a:off x="247719" y="224527"/>
            <a:ext cx="7583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3459CF-6EA9-4943-B74C-6624629AB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87" y="1897246"/>
            <a:ext cx="7989876" cy="20636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39C6799-2FDF-4FD3-A14B-02C99A7C2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87" y="4077767"/>
            <a:ext cx="8042787" cy="2240566"/>
          </a:xfrm>
          <a:prstGeom prst="rect">
            <a:avLst/>
          </a:prstGeom>
        </p:spPr>
      </p:pic>
      <p:sp>
        <p:nvSpPr>
          <p:cNvPr id="16" name="矩形 4">
            <a:extLst>
              <a:ext uri="{FF2B5EF4-FFF2-40B4-BE49-F238E27FC236}">
                <a16:creationId xmlns:a16="http://schemas.microsoft.com/office/drawing/2014/main" id="{1CF1B5A7-6332-477A-AF18-B7B169D7F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9610" y="2790003"/>
            <a:ext cx="3429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在创建流时调用构造函数直接与某文件相关联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398A55-BD09-4269-91F1-5C3D6D29A339}"/>
              </a:ext>
            </a:extLst>
          </p:cNvPr>
          <p:cNvSpPr txBox="1"/>
          <p:nvPr/>
        </p:nvSpPr>
        <p:spPr>
          <a:xfrm>
            <a:off x="7463790" y="3652498"/>
            <a:ext cx="4728210" cy="120032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 out("...", ios::out);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 in("...", ios::in);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fstream foi("...", ios::in|ios::out);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26036B-2670-4CB4-8E2D-A4B21A35B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2123" y="-85816"/>
            <a:ext cx="7989877" cy="1720448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773BDB1F-32E0-4072-A8F2-C2122678C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87" y="1339167"/>
            <a:ext cx="41918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rIns="18000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流文件打开</a:t>
            </a:r>
            <a:r>
              <a:rPr lang="en-US" altLang="zh-CN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构造函数</a:t>
            </a:r>
            <a:r>
              <a:rPr lang="en-US" altLang="zh-CN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与关闭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5635D04-17ED-46F7-9705-00B94E11A7DC}"/>
              </a:ext>
            </a:extLst>
          </p:cNvPr>
          <p:cNvSpPr txBox="1"/>
          <p:nvPr/>
        </p:nvSpPr>
        <p:spPr>
          <a:xfrm>
            <a:off x="10332720" y="5352120"/>
            <a:ext cx="1859280" cy="120032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.close(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.close(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foi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.close(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364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9D36DAF-D84E-461C-8E35-EA7C1551C17D}"/>
              </a:ext>
            </a:extLst>
          </p:cNvPr>
          <p:cNvSpPr txBox="1"/>
          <p:nvPr/>
        </p:nvSpPr>
        <p:spPr>
          <a:xfrm>
            <a:off x="247719" y="224527"/>
            <a:ext cx="7583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F9A19B-5BCE-49B1-AE45-DE85CA94F6B9}"/>
              </a:ext>
            </a:extLst>
          </p:cNvPr>
          <p:cNvSpPr/>
          <p:nvPr/>
        </p:nvSpPr>
        <p:spPr>
          <a:xfrm>
            <a:off x="3174" y="1815548"/>
            <a:ext cx="12188826" cy="2654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kumimoji="1"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::open(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char*, ios_base::openmode mode = ios_base::</a:t>
            </a:r>
            <a:r>
              <a:rPr kumimoji="1" lang="en-US" altLang="zh-CN" b="1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>
              <a:defRPr/>
            </a:pP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kumimoji="1"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::open(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string&amp;, ios_base::openmode mode = ios_base::</a:t>
            </a:r>
            <a:r>
              <a:rPr kumimoji="1" lang="en-US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>
              <a:defRPr/>
            </a:pPr>
            <a:endParaRPr kumimoji="1" lang="en-US" altLang="zh-CN" sz="100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kumimoji="1"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::open(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char*, ios_base::openmode mode = ios_base::</a:t>
            </a:r>
            <a:r>
              <a:rPr kumimoji="1" lang="zh-CN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>
              <a:defRPr/>
            </a:pP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kumimoji="1"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::open(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string&amp;, ios_base::openmode mode = ios_base::</a:t>
            </a:r>
            <a:r>
              <a:rPr kumimoji="1" lang="zh-CN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  <a:p>
            <a:pPr>
              <a:defRPr/>
            </a:pPr>
            <a:endParaRPr kumimoji="1" lang="en-US" altLang="zh-CN" sz="100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defRPr/>
            </a:pP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kumimoji="1"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fstream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::open(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char*, ios_base::openmode mode = ios_base::</a:t>
            </a:r>
            <a:r>
              <a:rPr kumimoji="1" lang="zh-CN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| ios_base::</a:t>
            </a:r>
            <a:r>
              <a:rPr kumimoji="1" lang="zh-CN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 </a:t>
            </a:r>
          </a:p>
          <a:p>
            <a:pPr>
              <a:defRPr/>
            </a:pP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void </a:t>
            </a:r>
            <a:r>
              <a:rPr kumimoji="1"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fstream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::open(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 string&amp;, ios_base::openmode mode = ios_base::</a:t>
            </a:r>
            <a:r>
              <a:rPr kumimoji="1" lang="zh-CN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</a:t>
            </a:r>
            <a:r>
              <a:rPr kumimoji="1" lang="zh-CN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| ios_base::</a:t>
            </a:r>
            <a:r>
              <a:rPr kumimoji="1" lang="zh-CN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</a:t>
            </a:r>
            <a:r>
              <a:rPr kumimoji="1"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 </a:t>
            </a: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id="{075F3A12-CF8E-481E-BC0F-02FDA13D9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020" y="16751"/>
            <a:ext cx="7458393" cy="120032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out; //</a:t>
            </a: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创建输出文件流</a:t>
            </a: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out.open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("Hello.txt", 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in|ios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  <a:r>
              <a:rPr kumimoji="1"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out|ios</a:t>
            </a:r>
            <a:r>
              <a:rPr kumimoji="1"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::binary)                 //</a:t>
            </a: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打开文本文件</a:t>
            </a: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Hello.txt</a:t>
            </a: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，使</a:t>
            </a:r>
            <a:r>
              <a:rPr kumimoji="1"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</a:t>
            </a:r>
            <a:r>
              <a:rPr kumimoji="1"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流与该文件相关联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7EE6664-35CA-40E2-AA69-15D61EAB9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696140"/>
              </p:ext>
            </p:extLst>
          </p:nvPr>
        </p:nvGraphicFramePr>
        <p:xfrm>
          <a:off x="140087" y="4574151"/>
          <a:ext cx="9367833" cy="1341120"/>
        </p:xfrm>
        <a:graphic>
          <a:graphicData uri="http://schemas.openxmlformats.org/drawingml/2006/table">
            <a:tbl>
              <a:tblPr/>
              <a:tblGrid>
                <a:gridCol w="1528526">
                  <a:extLst>
                    <a:ext uri="{9D8B030D-6E8A-4147-A177-3AD203B41FA5}">
                      <a16:colId xmlns:a16="http://schemas.microsoft.com/office/drawing/2014/main" val="817556431"/>
                    </a:ext>
                  </a:extLst>
                </a:gridCol>
                <a:gridCol w="1527717">
                  <a:extLst>
                    <a:ext uri="{9D8B030D-6E8A-4147-A177-3AD203B41FA5}">
                      <a16:colId xmlns:a16="http://schemas.microsoft.com/office/drawing/2014/main" val="161647398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3554721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45370628"/>
                    </a:ext>
                  </a:extLst>
                </a:gridCol>
                <a:gridCol w="1650380">
                  <a:extLst>
                    <a:ext uri="{9D8B030D-6E8A-4147-A177-3AD203B41FA5}">
                      <a16:colId xmlns:a16="http://schemas.microsoft.com/office/drawing/2014/main" val="1326568415"/>
                    </a:ext>
                  </a:extLst>
                </a:gridCol>
                <a:gridCol w="1460810">
                  <a:extLst>
                    <a:ext uri="{9D8B030D-6E8A-4147-A177-3AD203B41FA5}">
                      <a16:colId xmlns:a16="http://schemas.microsoft.com/office/drawing/2014/main" val="2620330481"/>
                    </a:ext>
                  </a:extLst>
                </a:gridCol>
              </a:tblGrid>
              <a:tr h="38661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ios</a:t>
                      </a:r>
                      <a:r>
                        <a:rPr lang="en-US" b="0" dirty="0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::in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ios</a:t>
                      </a:r>
                      <a:r>
                        <a:rPr lang="en-US" altLang="zh-CN" b="0" dirty="0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::out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ios</a:t>
                      </a:r>
                      <a:r>
                        <a:rPr lang="en-US" altLang="zh-CN" b="0" dirty="0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::ate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ios</a:t>
                      </a:r>
                      <a:r>
                        <a:rPr lang="en-US" altLang="zh-CN" b="0" dirty="0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::app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ios</a:t>
                      </a:r>
                      <a:r>
                        <a:rPr lang="en-US" altLang="zh-CN" b="0" dirty="0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::</a:t>
                      </a:r>
                      <a:r>
                        <a:rPr lang="en-US" altLang="zh-CN" b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trunc</a:t>
                      </a:r>
                      <a:endParaRPr lang="en-US" altLang="zh-CN" b="0" dirty="0">
                        <a:solidFill>
                          <a:srgbClr val="104E87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spc="-150" baseline="0" dirty="0" err="1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ios</a:t>
                      </a:r>
                      <a:r>
                        <a:rPr lang="en-US" altLang="zh-CN" b="0" spc="-150" baseline="0" dirty="0">
                          <a:solidFill>
                            <a:srgbClr val="104E87"/>
                          </a:solidFill>
                          <a:effectLst/>
                          <a:latin typeface="Comic Sans MS" panose="030F0702030302020204" pitchFamily="66" charset="0"/>
                        </a:rPr>
                        <a:t>::binary</a:t>
                      </a:r>
                    </a:p>
                  </a:txBody>
                  <a:tcPr marL="0" marR="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405951"/>
                  </a:ext>
                </a:extLst>
              </a:tr>
              <a:tr h="7163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i="0" kern="120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  <a:cs typeface="+mn-cs"/>
                        </a:rPr>
                        <a:t>为输入</a:t>
                      </a:r>
                      <a:r>
                        <a:rPr lang="en-US" altLang="zh-CN" sz="2400" b="0" i="0" kern="120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  <a:cs typeface="+mn-cs"/>
                        </a:rPr>
                        <a:t>(</a:t>
                      </a:r>
                      <a:r>
                        <a:rPr lang="zh-CN" altLang="en-US" sz="2400" b="0" i="0" kern="120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  <a:cs typeface="+mn-cs"/>
                        </a:rPr>
                        <a:t>读</a:t>
                      </a:r>
                      <a:r>
                        <a:rPr lang="en-US" altLang="zh-CN" sz="2400" b="0" i="0" kern="120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  <a:cs typeface="+mn-cs"/>
                        </a:rPr>
                        <a:t>)</a:t>
                      </a:r>
                      <a:r>
                        <a:rPr lang="zh-CN" altLang="en-US" sz="2400" b="0" i="0" kern="120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  <a:cs typeface="+mn-cs"/>
                        </a:rPr>
                        <a:t>打开文件</a:t>
                      </a:r>
                      <a:endParaRPr lang="en-US" b="0" dirty="0">
                        <a:solidFill>
                          <a:srgbClr val="104E87"/>
                        </a:solidFill>
                        <a:effectLst/>
                        <a:latin typeface="华光行书_CNKI" panose="02000500000000000000" pitchFamily="2" charset="-122"/>
                        <a:ea typeface="华光行书_CNKI" panose="02000500000000000000" pitchFamily="2" charset="-122"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为输出</a:t>
                      </a:r>
                      <a:r>
                        <a:rPr lang="en-US" altLang="zh-CN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(</a:t>
                      </a:r>
                      <a:r>
                        <a:rPr lang="zh-CN" altLang="en-US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写</a:t>
                      </a:r>
                      <a:r>
                        <a:rPr lang="en-US" altLang="zh-CN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)</a:t>
                      </a:r>
                      <a:r>
                        <a:rPr lang="zh-CN" altLang="en-US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打开文件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初始位置文件尾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以添加的方式打开文件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以覆盖方式打开文件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spc="-150" baseline="0" dirty="0">
                          <a:solidFill>
                            <a:srgbClr val="104E87"/>
                          </a:solidFill>
                          <a:effectLst/>
                          <a:latin typeface="华光行书_CNKI" panose="02000500000000000000" pitchFamily="2" charset="-122"/>
                          <a:ea typeface="华光行书_CNKI" panose="02000500000000000000" pitchFamily="2" charset="-122"/>
                        </a:rPr>
                        <a:t>二进制方式</a:t>
                      </a:r>
                    </a:p>
                  </a:txBody>
                  <a:tcPr marL="0" marR="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03676"/>
                  </a:ext>
                </a:extLst>
              </a:tr>
            </a:tbl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E1555A3C-65D5-41C8-994D-F644A2C53EBA}"/>
              </a:ext>
            </a:extLst>
          </p:cNvPr>
          <p:cNvSpPr txBox="1"/>
          <p:nvPr/>
        </p:nvSpPr>
        <p:spPr>
          <a:xfrm>
            <a:off x="10329546" y="1467433"/>
            <a:ext cx="1859280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.close(</a:t>
            </a: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06B9514C-35E0-436B-AF23-615BDD83C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87" y="1339167"/>
            <a:ext cx="61464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rIns="18000">
            <a:spAutoFit/>
          </a:bodyPr>
          <a:lstStyle/>
          <a:p>
            <a:pPr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流文件打开</a:t>
            </a:r>
            <a:r>
              <a:rPr lang="en-US" altLang="zh-CN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(open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成员函数</a:t>
            </a:r>
            <a:r>
              <a:rPr lang="en-US" altLang="zh-CN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kern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与关闭</a:t>
            </a:r>
          </a:p>
        </p:txBody>
      </p:sp>
    </p:spTree>
    <p:extLst>
      <p:ext uri="{BB962C8B-B14F-4D97-AF65-F5344CB8AC3E}">
        <p14:creationId xmlns:p14="http://schemas.microsoft.com/office/powerpoint/2010/main" val="227326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7" name="直线连接符 6"/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53F0018-CFD6-4B45-821F-BFF1528C7037}"/>
              </a:ext>
            </a:extLst>
          </p:cNvPr>
          <p:cNvSpPr txBox="1"/>
          <p:nvPr/>
        </p:nvSpPr>
        <p:spPr>
          <a:xfrm>
            <a:off x="247719" y="224527"/>
            <a:ext cx="7583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8A1F8C74-AE6E-4EB8-9502-E9BB1C495869}"/>
              </a:ext>
            </a:extLst>
          </p:cNvPr>
          <p:cNvSpPr txBox="1">
            <a:spLocks/>
          </p:cNvSpPr>
          <p:nvPr/>
        </p:nvSpPr>
        <p:spPr>
          <a:xfrm>
            <a:off x="-56039" y="1810466"/>
            <a:ext cx="6314625" cy="3550826"/>
          </a:xfrm>
          <a:prstGeom prst="rect">
            <a:avLst/>
          </a:prstGeom>
        </p:spPr>
        <p:txBody>
          <a:bodyPr/>
          <a:lstStyle>
            <a:lvl1pPr marL="457200" indent="-4572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42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37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打开一个文件并删除所有内容</a:t>
            </a:r>
          </a:p>
          <a:p>
            <a:pPr>
              <a:spcBef>
                <a:spcPts val="600"/>
              </a:spcBef>
              <a:buFontTx/>
              <a:buNone/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 fout("TEST.TXT");</a:t>
            </a:r>
          </a:p>
          <a:p>
            <a:pPr>
              <a:spcBef>
                <a:spcPts val="600"/>
              </a:spcBef>
              <a:buFontTx/>
              <a:buNone/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 fout("TEST.TXT",ios::out);</a:t>
            </a:r>
          </a:p>
          <a:p>
            <a:pPr>
              <a:spcBef>
                <a:spcPts val="600"/>
              </a:spcBef>
              <a:buFontTx/>
              <a:buNone/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 fout("TEST.TXT",ios::out|ios::trunc);</a:t>
            </a:r>
            <a:endParaRPr lang="en-US" altLang="zh-CN" sz="240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打开一个文件并追加内容</a:t>
            </a:r>
          </a:p>
          <a:p>
            <a:pPr>
              <a:spcBef>
                <a:spcPts val="600"/>
              </a:spcBef>
              <a:buFontTx/>
              <a:buNone/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 fout("TEST.TXT",ios::app);</a:t>
            </a:r>
            <a:endParaRPr lang="en-US" altLang="zh-CN" sz="2400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0" indent="0">
              <a:spcBef>
                <a:spcPts val="600"/>
              </a:spcBef>
              <a:buFont typeface="Wingdings" panose="05000000000000000000" pitchFamily="2" charset="2"/>
              <a:buBlip>
                <a:blip r:embed="rId3"/>
              </a:buBlip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打开一个文件进行二进制输出</a:t>
            </a:r>
          </a:p>
          <a:p>
            <a:pPr>
              <a:spcBef>
                <a:spcPts val="600"/>
              </a:spcBef>
              <a:buFontTx/>
              <a:buNone/>
              <a:defRPr/>
            </a:pPr>
            <a:r>
              <a:rPr lang="zh-CN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 fout("TEST.TXT",ios::binary);</a:t>
            </a: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6680BB14-785E-4FE1-B8C5-47BFD9FB4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176" y="3338168"/>
            <a:ext cx="566481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fstream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iofile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(”</a:t>
            </a:r>
            <a:r>
              <a:rPr lang="zh-CN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TEST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.txt”,</a:t>
            </a: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ios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in|ios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::out);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if(!</a:t>
            </a: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iofile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){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&lt;&lt;”</a:t>
            </a:r>
            <a:r>
              <a:rPr kumimoji="1"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不能打开文件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</a:t>
            </a:r>
            <a:r>
              <a:rPr lang="zh-CN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TEST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.txt”&lt;&lt;</a:t>
            </a:r>
            <a:r>
              <a:rPr kumimoji="1" lang="en-US" altLang="zh-CN" sz="2400" spc="-15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exit(1); //</a:t>
            </a:r>
            <a:r>
              <a:rPr kumimoji="1"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失败退回操作系统</a:t>
            </a:r>
            <a:endParaRPr kumimoji="1" lang="en-US" altLang="zh-CN" sz="2400" spc="-15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 </a:t>
            </a:r>
            <a:r>
              <a:rPr kumimoji="1" lang="zh-CN" altLang="en-US" sz="2400" spc="-15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9B5AAE-8ECC-4FE0-9325-F71A8CB8F417}"/>
              </a:ext>
            </a:extLst>
          </p:cNvPr>
          <p:cNvSpPr txBox="1"/>
          <p:nvPr/>
        </p:nvSpPr>
        <p:spPr>
          <a:xfrm>
            <a:off x="6665176" y="2248917"/>
            <a:ext cx="54065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Tx/>
              <a:buSzTx/>
              <a:buBlip>
                <a:blip r:embed="rId3"/>
              </a:buBlip>
              <a:defRPr/>
            </a:pPr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打开文件应该判断是否成功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若成功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文件流对象值为非零值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不成功为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0(NULL)</a:t>
            </a:r>
            <a:endParaRPr lang="zh-CN" altLang="en-US" spc="-1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634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753DD41-3915-4E83-9DE7-01AEA7545B6B}"/>
              </a:ext>
            </a:extLst>
          </p:cNvPr>
          <p:cNvSpPr txBox="1"/>
          <p:nvPr/>
        </p:nvSpPr>
        <p:spPr>
          <a:xfrm>
            <a:off x="247719" y="224527"/>
            <a:ext cx="7583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B3CB50-5378-4F34-85AE-B06B1EDA88AE}"/>
              </a:ext>
            </a:extLst>
          </p:cNvPr>
          <p:cNvSpPr/>
          <p:nvPr/>
        </p:nvSpPr>
        <p:spPr>
          <a:xfrm>
            <a:off x="107950" y="976282"/>
            <a:ext cx="9548813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"/>
              </a:spcBef>
              <a:defRPr/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把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个整数、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个浮点数和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个字符串写到名为</a:t>
            </a:r>
            <a:r>
              <a:rPr lang="en-US" altLang="zh-CN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out.txt</a:t>
            </a: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的文本文件中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520FADD8-4540-4997-91CD-83B9F442B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2373" y="373186"/>
            <a:ext cx="3167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数据从程序流向文件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4F3829E-1178-48C2-B462-5F904B7D6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437947"/>
            <a:ext cx="7987990" cy="5180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Char char="o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377950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827213" indent="-4381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297113" indent="-468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7543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2115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6687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125913" indent="-468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 )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	float f = 123.23;	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int n = 10;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800" kern="0" dirty="0" err="1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outfile</a:t>
            </a: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; //</a:t>
            </a:r>
            <a:r>
              <a:rPr lang="zh-CN" altLang="en-US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创建文件</a:t>
            </a:r>
            <a:endParaRPr lang="en-US" altLang="zh-CN" sz="2800" kern="0" dirty="0">
              <a:solidFill>
                <a:srgbClr val="104E87"/>
              </a:solidFill>
              <a:highlight>
                <a:srgbClr val="FFFF00"/>
              </a:highlight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outfile.open</a:t>
            </a: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("out.txt"); //</a:t>
            </a:r>
            <a:r>
              <a:rPr lang="zh-CN" altLang="en-US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打开文件</a:t>
            </a:r>
            <a:endParaRPr lang="en-US" altLang="zh-CN" sz="2800" kern="0" dirty="0">
              <a:solidFill>
                <a:srgbClr val="104E87"/>
              </a:solidFill>
              <a:highlight>
                <a:srgbClr val="FFFF00"/>
              </a:highlight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if (!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outfile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{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&lt;&lt;"Cannot open out.txt for output!\n";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return 1 ;	//</a:t>
            </a:r>
            <a:r>
              <a:rPr lang="zh-CN" altLang="en-US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表示打开文件不成功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outfile</a:t>
            </a: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&lt;&lt; n &lt;&lt; " " &lt;&lt; f &lt;&lt; "\n"; //</a:t>
            </a:r>
            <a:r>
              <a:rPr lang="zh-CN" altLang="en-US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写文件</a:t>
            </a:r>
            <a:endParaRPr lang="en-US" altLang="zh-CN" sz="2800" kern="0" dirty="0">
              <a:solidFill>
                <a:srgbClr val="104E87"/>
              </a:solidFill>
              <a:highlight>
                <a:srgbClr val="FFFF00"/>
              </a:highlight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outfile</a:t>
            </a:r>
            <a:r>
              <a:rPr lang="en-US" altLang="zh-CN" sz="2800" kern="0" dirty="0">
                <a:solidFill>
                  <a:srgbClr val="104E87"/>
                </a:solidFill>
                <a:highlight>
                  <a:srgbClr val="FFFF00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&lt;&lt;"This is a text file";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highlight>
                  <a:srgbClr val="26CCC5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highlight>
                  <a:srgbClr val="26CCC5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outfile.close</a:t>
            </a:r>
            <a:r>
              <a:rPr lang="en-US" altLang="zh-CN" sz="2800" kern="0" dirty="0">
                <a:solidFill>
                  <a:srgbClr val="104E87"/>
                </a:solidFill>
                <a:highlight>
                  <a:srgbClr val="26CCC5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(); //</a:t>
            </a:r>
            <a:r>
              <a:rPr lang="zh-CN" altLang="en-US" sz="2800" kern="0" dirty="0">
                <a:solidFill>
                  <a:srgbClr val="104E87"/>
                </a:solidFill>
                <a:highlight>
                  <a:srgbClr val="26CCC5"/>
                </a:highlight>
                <a:latin typeface="Comic Sans MS" panose="030F0702030302020204" pitchFamily="66" charset="0"/>
                <a:ea typeface="华光行书_CNKI" panose="02000500000000000000" pitchFamily="2" charset="-122"/>
              </a:rPr>
              <a:t>关闭文件</a:t>
            </a:r>
            <a:endParaRPr lang="en-US" altLang="zh-CN" sz="2800" kern="0" dirty="0">
              <a:solidFill>
                <a:srgbClr val="104E87"/>
              </a:solidFill>
              <a:highlight>
                <a:srgbClr val="26CCC5"/>
              </a:highlight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0;</a:t>
            </a:r>
          </a:p>
          <a:p>
            <a:pPr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C4CCB0C9-E657-4FE1-888C-A5B37C62E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4712028"/>
            <a:ext cx="4679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程序执行后，在当前目录下生成文件</a:t>
            </a:r>
            <a:r>
              <a:rPr lang="en-US" altLang="zh-CN" sz="24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out.Txt</a:t>
            </a:r>
            <a:r>
              <a:rPr lang="zh-CN" altLang="en-US" sz="24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，文件内容如下：</a:t>
            </a:r>
          </a:p>
        </p:txBody>
      </p:sp>
      <p:sp>
        <p:nvSpPr>
          <p:cNvPr id="2" name="标注: 弯曲线形(无边框) 1">
            <a:extLst>
              <a:ext uri="{FF2B5EF4-FFF2-40B4-BE49-F238E27FC236}">
                <a16:creationId xmlns:a16="http://schemas.microsoft.com/office/drawing/2014/main" id="{92EA8D6C-8DED-4127-9037-727C377C2519}"/>
              </a:ext>
            </a:extLst>
          </p:cNvPr>
          <p:cNvSpPr/>
          <p:nvPr/>
        </p:nvSpPr>
        <p:spPr>
          <a:xfrm>
            <a:off x="7096126" y="2828422"/>
            <a:ext cx="4300420" cy="461664"/>
          </a:xfrm>
          <a:prstGeom prst="callout2">
            <a:avLst>
              <a:gd name="adj1" fmla="val 42904"/>
              <a:gd name="adj2" fmla="val 3854"/>
              <a:gd name="adj3" fmla="val -22313"/>
              <a:gd name="adj4" fmla="val -36893"/>
              <a:gd name="adj5" fmla="val 83515"/>
              <a:gd name="adj6" fmla="val -17366"/>
            </a:avLst>
          </a:prstGeom>
          <a:noFill/>
          <a:ln w="12700">
            <a:solidFill>
              <a:srgbClr val="10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楷体_GB2312" pitchFamily="49" charset="-122"/>
              </a:rPr>
              <a:t>ofstream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楷体_GB2312" pitchFamily="49" charset="-122"/>
              </a:rPr>
              <a:t> </a:t>
            </a:r>
            <a:r>
              <a:rPr lang="en-US" altLang="zh-CN" sz="2400" kern="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outfile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楷体_GB2312" pitchFamily="49" charset="-122"/>
              </a:rPr>
              <a:t> (“test.txt"); </a:t>
            </a:r>
            <a:endParaRPr lang="zh-CN" altLang="en-US" sz="2400" dirty="0">
              <a:solidFill>
                <a:srgbClr val="FF0000"/>
              </a:solidFill>
              <a:latin typeface="Comic Sans MS" panose="030F0702030302020204" pitchFamily="66" charset="0"/>
              <a:ea typeface="楷体_GB2312" pitchFamily="49" charset="-122"/>
            </a:endParaRPr>
          </a:p>
        </p:txBody>
      </p:sp>
      <p:pic>
        <p:nvPicPr>
          <p:cNvPr id="23" name="图片 1">
            <a:extLst>
              <a:ext uri="{FF2B5EF4-FFF2-40B4-BE49-F238E27FC236}">
                <a16:creationId xmlns:a16="http://schemas.microsoft.com/office/drawing/2014/main" id="{3B022346-B4F6-41BB-A0C4-002F40EEC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339" y="5546725"/>
            <a:ext cx="4162068" cy="101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53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93" name="直线连接符 6">
            <a:extLst>
              <a:ext uri="{FF2B5EF4-FFF2-40B4-BE49-F238E27FC236}">
                <a16:creationId xmlns:a16="http://schemas.microsoft.com/office/drawing/2014/main" id="{B0EE72FA-E898-4A34-8A29-6C892B3B6CFB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B4C247E-7AA5-44CD-B3E0-FE5A61036A0D}"/>
              </a:ext>
            </a:extLst>
          </p:cNvPr>
          <p:cNvSpPr txBox="1"/>
          <p:nvPr/>
        </p:nvSpPr>
        <p:spPr>
          <a:xfrm>
            <a:off x="247719" y="224527"/>
            <a:ext cx="7583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12.3</a:t>
            </a:r>
            <a:r>
              <a:rPr kumimoji="1" lang="zh-CN" altLang="en-US" sz="3200" b="1" dirty="0">
                <a:latin typeface="华光胖头鱼_CNKI" panose="02000500000000000000" pitchFamily="2" charset="-122"/>
                <a:ea typeface="华光胖头鱼_CNKI" panose="02000500000000000000" pitchFamily="2" charset="-122"/>
              </a:rPr>
              <a:t>文件流</a:t>
            </a: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FE11B5E0-5D86-4759-8F08-B0F717730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4880" y="281596"/>
            <a:ext cx="3167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>
              <a:defRPr b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数据从文件流向程序</a:t>
            </a:r>
          </a:p>
        </p:txBody>
      </p:sp>
      <p:sp>
        <p:nvSpPr>
          <p:cNvPr id="10" name="矩形 3">
            <a:extLst>
              <a:ext uri="{FF2B5EF4-FFF2-40B4-BE49-F238E27FC236}">
                <a16:creationId xmlns:a16="http://schemas.microsoft.com/office/drawing/2014/main" id="{CD550562-CBE3-43D6-9D12-1DD43F58D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41438"/>
            <a:ext cx="7787268" cy="545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main( )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infile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infile.open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("out.txt");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if (!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infile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 {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&lt;&lt;"Cannot open out.txt for input!\n";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return 1 ;	// </a:t>
            </a:r>
            <a:r>
              <a:rPr lang="zh-CN" altLang="en-US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表示打开文件不成功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float f;	int n;	char 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 char str[80];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infile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&gt;&gt; n &gt;&gt; f &gt;&gt; 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&gt;&gt; str;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n &lt;&lt; " " &lt;&lt; f &lt;&lt; " " &lt;&lt; 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"\n";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&lt;&lt; str &lt;&lt;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endl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800" kern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infile.close</a:t>
            </a: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return 0;</a:t>
            </a:r>
          </a:p>
          <a:p>
            <a:pPr marL="469900" indent="-469900" eaLnBrk="0" fontAlgn="base" hangingPunct="0">
              <a:lnSpc>
                <a:spcPct val="80000"/>
              </a:lnSpc>
              <a:spcBef>
                <a:spcPct val="10000"/>
              </a:spcBef>
              <a:spcAft>
                <a:spcPct val="0"/>
              </a:spcAft>
              <a:buClr>
                <a:srgbClr val="0000FF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800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  <a:endParaRPr lang="zh-CN" altLang="en-US" sz="2800" kern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1" name="矩形 4">
            <a:extLst>
              <a:ext uri="{FF2B5EF4-FFF2-40B4-BE49-F238E27FC236}">
                <a16:creationId xmlns:a16="http://schemas.microsoft.com/office/drawing/2014/main" id="{15723B37-4D0F-423A-B68D-C201DC119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905715"/>
            <a:ext cx="5416868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"/>
              </a:spcBef>
            </a:pPr>
            <a:r>
              <a:rPr lang="zh-CN" altLang="en-US" kern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从上个程序建立的文件中读入相关数据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3B906222-69F0-41F2-85CF-5D63F94D9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7043" y="5504212"/>
            <a:ext cx="66449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缺省情况下，</a:t>
            </a: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&gt;&gt;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运算符号跳过空白符号</a:t>
            </a: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如空格回车</a:t>
            </a:r>
            <a:r>
              <a:rPr lang="en-US" altLang="zh-CN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),</a:t>
            </a:r>
            <a:r>
              <a:rPr lang="zh-CN" altLang="en-US" sz="2400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然后读入对应于输入对象类型的字符</a:t>
            </a:r>
          </a:p>
        </p:txBody>
      </p:sp>
      <p:pic>
        <p:nvPicPr>
          <p:cNvPr id="13" name="图片 1">
            <a:extLst>
              <a:ext uri="{FF2B5EF4-FFF2-40B4-BE49-F238E27FC236}">
                <a16:creationId xmlns:a16="http://schemas.microsoft.com/office/drawing/2014/main" id="{2498CEF4-E738-42E6-942E-1A1F210CF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410" y="905715"/>
            <a:ext cx="2604003" cy="14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322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">
            <a:extLst>
              <a:ext uri="{FF2B5EF4-FFF2-40B4-BE49-F238E27FC236}">
                <a16:creationId xmlns:a16="http://schemas.microsoft.com/office/drawing/2014/main" id="{62291D73-B30C-4EAF-B49E-8253585D5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5786" y="77590"/>
            <a:ext cx="31670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>
              <a:defRPr b="1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742950" indent="-28575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dirty="0"/>
              <a:t>数据从文件流向文件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782CB50-BCA5-4F11-81E5-A3ABC7FF994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7590"/>
            <a:ext cx="11972848" cy="4756150"/>
          </a:xfrm>
          <a:prstGeom prst="rect">
            <a:avLst/>
          </a:prstGeom>
        </p:spPr>
        <p:txBody>
          <a:bodyPr/>
          <a:lstStyle>
            <a:lvl1pPr marL="457200" indent="-4572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42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37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int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CopyFile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 char *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 char *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{	char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;	</a:t>
            </a:r>
            <a:endParaRPr lang="zh-CN" altLang="en-US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ifstream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file_from,ios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in|ios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::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nocreate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 </a:t>
            </a:r>
            <a:r>
              <a:rPr lang="en-US" altLang="zh-CN" sz="2400" spc="-2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//</a:t>
            </a:r>
            <a:r>
              <a:rPr lang="zh-CN" altLang="en-US" sz="2400" spc="-2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以文本方式打开文件</a:t>
            </a:r>
            <a:r>
              <a:rPr lang="en-US" altLang="zh-CN" sz="2400" spc="-2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spc="-2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不存在则失败</a:t>
            </a:r>
            <a:endParaRPr lang="en-US" altLang="zh-CN" sz="2400" spc="-2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 (!from) {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&lt;&lt;"Cannot open "&lt;&lt;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file_from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 for input!\n";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          return 1 ;	// 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表示复制文件不成功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ofstream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	// 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打开文件，如果不存在则创建新文件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if (!to) {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&lt;&lt;"Cannot open "&lt;&lt;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file_to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&lt;&lt;" for output!\n";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		return 1 ;	</a:t>
            </a:r>
          </a:p>
          <a:p>
            <a:pPr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} //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从流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中读一个字符到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中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成功的话则写入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，直到文件结束</a:t>
            </a: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while 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from.get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))   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to.put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ch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);	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from.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close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		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     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to.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close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();	// 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关闭文件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	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return 0; // 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0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表示文件复制成功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}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2" name="矩形 1">
            <a:extLst>
              <a:ext uri="{FF2B5EF4-FFF2-40B4-BE49-F238E27FC236}">
                <a16:creationId xmlns:a16="http://schemas.microsoft.com/office/drawing/2014/main" id="{AFB6492D-0FAC-43E9-8DAC-0ACF3B9C8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14" y="5623989"/>
            <a:ext cx="4132863" cy="4042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文本文件的操作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——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文件拷贝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E30BBB-F68A-429A-A2E3-AE9F80AA3FD6}"/>
              </a:ext>
            </a:extLst>
          </p:cNvPr>
          <p:cNvSpPr txBox="1"/>
          <p:nvPr/>
        </p:nvSpPr>
        <p:spPr>
          <a:xfrm>
            <a:off x="6536415" y="3773456"/>
            <a:ext cx="5654598" cy="30503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int main()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{	char source[30],object[30];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&lt;&lt;"Input source file name: 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cin.getline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(source,30);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cout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&lt;&lt;"Input target file name: 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cin.getline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(object,30);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if(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CopyFile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source,object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)==1)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	</a:t>
            </a:r>
            <a:r>
              <a:rPr lang="en-US" altLang="zh-CN" sz="2400" dirty="0" err="1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cerr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&lt;&lt;" Copy file failed\n";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	return 0;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}</a:t>
            </a:r>
            <a:endParaRPr lang="zh-CN" altLang="en-US" dirty="0">
              <a:solidFill>
                <a:srgbClr val="104E87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59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93A15E-95A4-4803-B6B7-408EEE304F56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0" name="直线连接符 6">
            <a:extLst>
              <a:ext uri="{FF2B5EF4-FFF2-40B4-BE49-F238E27FC236}">
                <a16:creationId xmlns:a16="http://schemas.microsoft.com/office/drawing/2014/main" id="{12F22D8F-613C-43AA-B50E-A9DF05644035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675E4F3-B0A3-43C3-A1E4-3F9E343EDE52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12.4 </a:t>
            </a:r>
            <a:r>
              <a:rPr lang="zh-CN" altLang="en-US" dirty="0">
                <a:sym typeface="+mn-lt"/>
              </a:rPr>
              <a:t>运算符</a:t>
            </a:r>
            <a:r>
              <a:rPr lang="en-US" altLang="zh-CN" dirty="0">
                <a:sym typeface="+mn-lt"/>
              </a:rPr>
              <a:t>&gt;&gt;</a:t>
            </a:r>
            <a:r>
              <a:rPr lang="zh-CN" altLang="en-US" dirty="0">
                <a:sym typeface="+mn-lt"/>
              </a:rPr>
              <a:t>和</a:t>
            </a:r>
            <a:r>
              <a:rPr lang="en-US" altLang="zh-CN" dirty="0">
                <a:sym typeface="+mn-lt"/>
              </a:rPr>
              <a:t>&lt;&lt;</a:t>
            </a:r>
            <a:r>
              <a:rPr lang="zh-CN" altLang="en-US" dirty="0">
                <a:sym typeface="+mn-lt"/>
              </a:rPr>
              <a:t>的重载</a:t>
            </a:r>
          </a:p>
        </p:txBody>
      </p:sp>
      <p:pic>
        <p:nvPicPr>
          <p:cNvPr id="11" name="图片 5">
            <a:extLst>
              <a:ext uri="{FF2B5EF4-FFF2-40B4-BE49-F238E27FC236}">
                <a16:creationId xmlns:a16="http://schemas.microsoft.com/office/drawing/2014/main" id="{0484A7AC-FAE0-4F96-B1FA-87C790E06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0522"/>
            <a:ext cx="7164288" cy="518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3">
            <a:extLst>
              <a:ext uri="{FF2B5EF4-FFF2-40B4-BE49-F238E27FC236}">
                <a16:creationId xmlns:a16="http://schemas.microsoft.com/office/drawing/2014/main" id="{9382129F-EB07-4B6E-8AB7-1C578B451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00" y="-25400"/>
            <a:ext cx="7596188" cy="530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881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93A15E-95A4-4803-B6B7-408EEE304F56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0" name="直线连接符 6">
            <a:extLst>
              <a:ext uri="{FF2B5EF4-FFF2-40B4-BE49-F238E27FC236}">
                <a16:creationId xmlns:a16="http://schemas.microsoft.com/office/drawing/2014/main" id="{12F22D8F-613C-43AA-B50E-A9DF05644035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4">
            <a:extLst>
              <a:ext uri="{FF2B5EF4-FFF2-40B4-BE49-F238E27FC236}">
                <a16:creationId xmlns:a16="http://schemas.microsoft.com/office/drawing/2014/main" id="{8FF34968-DE70-4A53-82E6-E11999D3A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" y="1028823"/>
            <a:ext cx="558641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类库中提供：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/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输入流类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全局类对象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cin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/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输出流类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ostream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全局类对象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/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/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在类库提供的头文件中已经对“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&lt;&lt;”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和“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&gt;&gt;”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进行了重载，使之作为流插入运算符和流提取运算符，能用来输出和输入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C++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标准类型的数据。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/>
            <a:endParaRPr lang="en-US" altLang="zh-CN" sz="2800" b="0" dirty="0"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eaLnBrk="1" hangingPunct="1"/>
            <a:r>
              <a:rPr lang="zh-CN" altLang="en-US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用户自己定义的类型的数据，如果想用</a:t>
            </a:r>
            <a:r>
              <a:rPr lang="en-US" altLang="zh-CN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</a:t>
            </a:r>
            <a:r>
              <a:rPr lang="zh-CN" altLang="en-US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和</a:t>
            </a:r>
            <a:r>
              <a:rPr lang="en-US" altLang="zh-CN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&gt;&gt;</a:t>
            </a:r>
            <a:r>
              <a:rPr lang="zh-CN" altLang="en-US" sz="2800" b="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输出和输入，必须对它们重载。</a:t>
            </a:r>
            <a:endParaRPr lang="en-US" altLang="zh-CN" sz="2800" b="0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6AD618-DD5A-4D43-A0A2-535C19F313C0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12.4 </a:t>
            </a:r>
            <a:r>
              <a:rPr lang="zh-CN" altLang="en-US" dirty="0">
                <a:sym typeface="+mn-lt"/>
              </a:rPr>
              <a:t>运算符</a:t>
            </a:r>
            <a:r>
              <a:rPr lang="en-US" altLang="zh-CN" dirty="0">
                <a:sym typeface="+mn-lt"/>
              </a:rPr>
              <a:t>&gt;&gt;</a:t>
            </a:r>
            <a:r>
              <a:rPr lang="zh-CN" altLang="en-US" dirty="0">
                <a:sym typeface="+mn-lt"/>
              </a:rPr>
              <a:t>和</a:t>
            </a:r>
            <a:r>
              <a:rPr lang="en-US" altLang="zh-CN" dirty="0">
                <a:sym typeface="+mn-lt"/>
              </a:rPr>
              <a:t>&lt;&lt;</a:t>
            </a:r>
            <a:r>
              <a:rPr lang="zh-CN" altLang="en-US" dirty="0">
                <a:sym typeface="+mn-lt"/>
              </a:rPr>
              <a:t>的重载</a:t>
            </a:r>
          </a:p>
        </p:txBody>
      </p:sp>
      <p:pic>
        <p:nvPicPr>
          <p:cNvPr id="19" name="图片 3">
            <a:extLst>
              <a:ext uri="{FF2B5EF4-FFF2-40B4-BE49-F238E27FC236}">
                <a16:creationId xmlns:a16="http://schemas.microsoft.com/office/drawing/2014/main" id="{E2786F12-D646-4074-8007-57D59DB8C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-64728"/>
            <a:ext cx="6583809" cy="30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4">
            <a:extLst>
              <a:ext uri="{FF2B5EF4-FFF2-40B4-BE49-F238E27FC236}">
                <a16:creationId xmlns:a16="http://schemas.microsoft.com/office/drawing/2014/main" id="{0AFEAF2B-D49A-45B8-8B6F-64BB8DFB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3013747"/>
            <a:ext cx="4298178" cy="2815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直接连接符 6">
            <a:extLst>
              <a:ext uri="{FF2B5EF4-FFF2-40B4-BE49-F238E27FC236}">
                <a16:creationId xmlns:a16="http://schemas.microsoft.com/office/drawing/2014/main" id="{F647E76D-12C0-4E10-88BE-5EC01EBAF61D}"/>
              </a:ext>
            </a:extLst>
          </p:cNvPr>
          <p:cNvCxnSpPr>
            <a:cxnSpLocks/>
          </p:cNvCxnSpPr>
          <p:nvPr/>
        </p:nvCxnSpPr>
        <p:spPr bwMode="auto">
          <a:xfrm>
            <a:off x="5676900" y="2022476"/>
            <a:ext cx="1244600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75305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93A15E-95A4-4803-B6B7-408EEE304F56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0" name="直线连接符 6">
            <a:extLst>
              <a:ext uri="{FF2B5EF4-FFF2-40B4-BE49-F238E27FC236}">
                <a16:creationId xmlns:a16="http://schemas.microsoft.com/office/drawing/2014/main" id="{12F22D8F-613C-43AA-B50E-A9DF05644035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3F4019-5958-4CE2-A9DA-43D0433F6B4D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12.4 </a:t>
            </a:r>
            <a:r>
              <a:rPr lang="zh-CN" altLang="en-US" dirty="0">
                <a:sym typeface="+mn-lt"/>
              </a:rPr>
              <a:t>运算符</a:t>
            </a:r>
            <a:r>
              <a:rPr lang="en-US" altLang="zh-CN" dirty="0">
                <a:sym typeface="+mn-lt"/>
              </a:rPr>
              <a:t>&gt;&gt;</a:t>
            </a:r>
            <a:r>
              <a:rPr lang="zh-CN" altLang="en-US" dirty="0">
                <a:sym typeface="+mn-lt"/>
              </a:rPr>
              <a:t>和</a:t>
            </a:r>
            <a:r>
              <a:rPr lang="en-US" altLang="zh-CN" dirty="0">
                <a:sym typeface="+mn-lt"/>
              </a:rPr>
              <a:t>&lt;&lt;</a:t>
            </a:r>
            <a:r>
              <a:rPr lang="zh-CN" altLang="en-US" dirty="0">
                <a:sym typeface="+mn-lt"/>
              </a:rPr>
              <a:t>的重载</a:t>
            </a:r>
          </a:p>
        </p:txBody>
      </p:sp>
      <p:sp>
        <p:nvSpPr>
          <p:cNvPr id="33" name="内容占位符 2">
            <a:extLst>
              <a:ext uri="{FF2B5EF4-FFF2-40B4-BE49-F238E27FC236}">
                <a16:creationId xmlns:a16="http://schemas.microsoft.com/office/drawing/2014/main" id="{91741885-FCAB-4F25-A775-08C7AA464964}"/>
              </a:ext>
            </a:extLst>
          </p:cNvPr>
          <p:cNvSpPr txBox="1">
            <a:spLocks noChangeArrowheads="1"/>
          </p:cNvSpPr>
          <p:nvPr/>
        </p:nvSpPr>
        <p:spPr>
          <a:xfrm>
            <a:off x="397701" y="1261392"/>
            <a:ext cx="7161931" cy="465138"/>
          </a:xfrm>
          <a:prstGeom prst="rect">
            <a:avLst/>
          </a:prstGeom>
        </p:spPr>
        <p:txBody>
          <a:bodyPr/>
          <a:lstStyle>
            <a:lvl1pPr marL="457200" indent="-4572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42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600" indent="-3810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37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0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600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输出运算符只能以</a:t>
            </a:r>
            <a:r>
              <a:rPr lang="zh-CN" altLang="en-US" sz="2400" b="1" dirty="0">
                <a:solidFill>
                  <a:srgbClr val="FF0000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友元方式</a:t>
            </a:r>
            <a:r>
              <a:rPr lang="zh-CN" altLang="en-US" sz="2400" b="1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重载，重载格式：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0B6077-14DB-4382-BBAF-188DDFB0D1B5}"/>
              </a:ext>
            </a:extLst>
          </p:cNvPr>
          <p:cNvSpPr/>
          <p:nvPr/>
        </p:nvSpPr>
        <p:spPr>
          <a:xfrm>
            <a:off x="397701" y="1995156"/>
            <a:ext cx="9144000" cy="18161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为了与标准库</a:t>
            </a:r>
            <a:r>
              <a:rPr lang="en-US" altLang="zh-CN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IO</a:t>
            </a: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操作一致，重载 </a:t>
            </a:r>
            <a:r>
              <a:rPr lang="en-US" altLang="zh-CN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&lt;&lt; </a:t>
            </a:r>
            <a:r>
              <a:rPr lang="zh-CN" altLang="en-US" sz="2800" b="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操作符时：</a:t>
            </a:r>
            <a:endParaRPr lang="en-US" altLang="zh-CN" sz="2800" b="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pPr marL="457200" indent="-4572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第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参数类型输出流的引用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ostream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&amp;</a:t>
            </a:r>
          </a:p>
          <a:p>
            <a:pPr marL="457200" indent="-4572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第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参数是类类型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对象的引用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返回值是对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ostream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形参的引用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317F341-0DEF-40BF-ADB3-768FCE975FFF}"/>
              </a:ext>
            </a:extLst>
          </p:cNvPr>
          <p:cNvSpPr/>
          <p:nvPr/>
        </p:nvSpPr>
        <p:spPr>
          <a:xfrm>
            <a:off x="558800" y="3811256"/>
            <a:ext cx="9620250" cy="576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400" spc="-100" dirty="0">
                <a:solidFill>
                  <a:srgbClr val="FF0000"/>
                </a:solidFill>
                <a:latin typeface="Comic Sans MS" panose="030F0702030302020204" pitchFamily="66" charset="0"/>
              </a:rPr>
              <a:t>friend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ostream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&amp; operator &lt;&lt; 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ostream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&amp;, 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自定义类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&amp;);</a:t>
            </a:r>
            <a:endParaRPr lang="zh-CN" altLang="en-US" sz="2400" dirty="0">
              <a:solidFill>
                <a:srgbClr val="FF00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5605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93A15E-95A4-4803-B6B7-408EEE304F56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0" name="直线连接符 6">
            <a:extLst>
              <a:ext uri="{FF2B5EF4-FFF2-40B4-BE49-F238E27FC236}">
                <a16:creationId xmlns:a16="http://schemas.microsoft.com/office/drawing/2014/main" id="{12F22D8F-613C-43AA-B50E-A9DF05644035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253F4019-5958-4CE2-A9DA-43D0433F6B4D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12.4 </a:t>
            </a:r>
            <a:r>
              <a:rPr lang="zh-CN" altLang="en-US" dirty="0">
                <a:sym typeface="+mn-lt"/>
              </a:rPr>
              <a:t>运算符</a:t>
            </a:r>
            <a:r>
              <a:rPr lang="en-US" altLang="zh-CN" dirty="0">
                <a:sym typeface="+mn-lt"/>
              </a:rPr>
              <a:t>&gt;&gt;</a:t>
            </a:r>
            <a:r>
              <a:rPr lang="zh-CN" altLang="en-US" dirty="0">
                <a:sym typeface="+mn-lt"/>
              </a:rPr>
              <a:t>和</a:t>
            </a:r>
            <a:r>
              <a:rPr lang="en-US" altLang="zh-CN" dirty="0">
                <a:sym typeface="+mn-lt"/>
              </a:rPr>
              <a:t>&lt;&lt;</a:t>
            </a:r>
            <a:r>
              <a:rPr lang="zh-CN" altLang="en-US" dirty="0">
                <a:sym typeface="+mn-lt"/>
              </a:rPr>
              <a:t>的重载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317F341-0DEF-40BF-ADB3-768FCE975FFF}"/>
              </a:ext>
            </a:extLst>
          </p:cNvPr>
          <p:cNvSpPr/>
          <p:nvPr/>
        </p:nvSpPr>
        <p:spPr>
          <a:xfrm>
            <a:off x="233775" y="1028823"/>
            <a:ext cx="9620250" cy="5762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z="2400" spc="-100" dirty="0">
                <a:solidFill>
                  <a:srgbClr val="FF0000"/>
                </a:solidFill>
                <a:latin typeface="Comic Sans MS" panose="030F0702030302020204" pitchFamily="66" charset="0"/>
              </a:rPr>
              <a:t>friend 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ostream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&amp; operator &lt;&lt; (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ostream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&amp;, </a:t>
            </a:r>
            <a:r>
              <a:rPr lang="en-US" altLang="zh-CN" sz="2400" dirty="0" err="1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自定义类 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&amp;);</a:t>
            </a:r>
            <a:endParaRPr lang="zh-CN" altLang="en-US" sz="2400" dirty="0">
              <a:solidFill>
                <a:srgbClr val="FF000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E410867-8AEC-4EF8-BB1F-F62881919B09}"/>
              </a:ext>
            </a:extLst>
          </p:cNvPr>
          <p:cNvSpPr/>
          <p:nvPr/>
        </p:nvSpPr>
        <p:spPr>
          <a:xfrm>
            <a:off x="9278520" y="2108529"/>
            <a:ext cx="3241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COMPLEX c3(2, 3);</a:t>
            </a:r>
          </a:p>
          <a:p>
            <a:r>
              <a:rPr lang="en-US" altLang="zh-CN" spc="-100" dirty="0" err="1">
                <a:solidFill>
                  <a:srgbClr val="104E87"/>
                </a:solidFill>
                <a:latin typeface="Comic Sans MS" panose="030F0702030302020204" pitchFamily="66" charset="0"/>
              </a:rPr>
              <a:t>cout</a:t>
            </a:r>
            <a:r>
              <a:rPr lang="en-US" altLang="zh-CN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&lt;&lt;c3;    </a:t>
            </a:r>
          </a:p>
          <a:p>
            <a:r>
              <a:rPr lang="en-US" altLang="zh-CN" spc="-100" dirty="0">
                <a:solidFill>
                  <a:srgbClr val="FF0000"/>
                </a:solidFill>
                <a:latin typeface="Comic Sans MS" panose="030F0702030302020204" pitchFamily="66" charset="0"/>
              </a:rPr>
              <a:t>operator&lt;&lt;(cout,c3);</a:t>
            </a:r>
            <a:endParaRPr lang="zh-CN" altLang="en-US" spc="-1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A12AF48-7920-4DB9-AB38-086A477B5A72}"/>
              </a:ext>
            </a:extLst>
          </p:cNvPr>
          <p:cNvSpPr/>
          <p:nvPr/>
        </p:nvSpPr>
        <p:spPr>
          <a:xfrm>
            <a:off x="7778737" y="4197312"/>
            <a:ext cx="45625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函数的返回值被声明为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ostream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对象的引用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可以连续输出，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如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:  </a:t>
            </a:r>
            <a:r>
              <a:rPr lang="en-US" altLang="zh-CN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cout</a:t>
            </a:r>
            <a:r>
              <a:rPr lang="en-US" altLang="zh-CN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&lt;&lt;c1&lt;&lt;c2&lt;&lt;c3;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770395-9985-B571-D7DB-675B8108D136}"/>
              </a:ext>
            </a:extLst>
          </p:cNvPr>
          <p:cNvSpPr txBox="1"/>
          <p:nvPr/>
        </p:nvSpPr>
        <p:spPr>
          <a:xfrm>
            <a:off x="233775" y="1565822"/>
            <a:ext cx="8764140" cy="526297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pc="-100">
                <a:solidFill>
                  <a:srgbClr val="104E87"/>
                </a:solidFill>
                <a:latin typeface="Comic Sans MS" panose="030F0702030302020204" pitchFamily="66" charset="0"/>
              </a:defRPr>
            </a:lvl1pPr>
          </a:lstStyle>
          <a:p>
            <a:r>
              <a:rPr lang="zh-CN" altLang="en-US" dirty="0"/>
              <a:t>ostream&amp; operator&lt;&lt;(ostream&amp; out, const Complex &amp; obj) </a:t>
            </a:r>
          </a:p>
          <a:p>
            <a:r>
              <a:rPr lang="zh-CN" altLang="en-US" dirty="0"/>
              <a:t>{	if(obj.real!=0) out&lt;&lt;obj.real;</a:t>
            </a:r>
          </a:p>
          <a:p>
            <a:r>
              <a:rPr lang="zh-CN" altLang="en-US" dirty="0"/>
              <a:t>	else if(obj.imag==0){out&lt;&lt;0&lt;&lt;'\n'; return out;} </a:t>
            </a:r>
          </a:p>
          <a:p>
            <a:r>
              <a:rPr lang="zh-CN" altLang="en-US" dirty="0"/>
              <a:t>	if(obj.imag&gt;0)</a:t>
            </a:r>
          </a:p>
          <a:p>
            <a:r>
              <a:rPr lang="zh-CN" altLang="en-US" dirty="0"/>
              <a:t>	{	if(obj.imag!=1) out&lt;&lt;'+'&lt;&lt;obj.imag&lt;&lt;'i';</a:t>
            </a:r>
          </a:p>
          <a:p>
            <a:r>
              <a:rPr lang="zh-CN" altLang="en-US" dirty="0"/>
              <a:t>		else out&lt;&lt;'+'&lt;&lt;'i';</a:t>
            </a:r>
          </a:p>
          <a:p>
            <a:r>
              <a:rPr lang="zh-CN" altLang="en-US" dirty="0"/>
              <a:t>	} </a:t>
            </a:r>
          </a:p>
          <a:p>
            <a:r>
              <a:rPr lang="zh-CN" altLang="en-US" dirty="0"/>
              <a:t>	else if(obj.imag&lt;0)</a:t>
            </a:r>
          </a:p>
          <a:p>
            <a:r>
              <a:rPr lang="zh-CN" altLang="en-US" dirty="0"/>
              <a:t>	{	if(obj.imag!=-1) out&lt;&lt;obj.imag&lt;&lt;'i';</a:t>
            </a:r>
          </a:p>
          <a:p>
            <a:r>
              <a:rPr lang="zh-CN" altLang="en-US" dirty="0"/>
              <a:t>		else out&lt;&lt;'-'&lt;&lt;'i';</a:t>
            </a:r>
          </a:p>
          <a:p>
            <a:r>
              <a:rPr lang="zh-CN" altLang="en-US" dirty="0"/>
              <a:t>	} </a:t>
            </a:r>
          </a:p>
          <a:p>
            <a:r>
              <a:rPr lang="zh-CN" altLang="en-US" dirty="0"/>
              <a:t>	cout &lt;&lt;"\n";</a:t>
            </a:r>
          </a:p>
          <a:p>
            <a:r>
              <a:rPr lang="zh-CN" altLang="en-US" dirty="0"/>
              <a:t> 	return out;</a:t>
            </a:r>
          </a:p>
          <a:p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576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93A15E-95A4-4803-B6B7-408EEE304F56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0" name="直线连接符 6">
            <a:extLst>
              <a:ext uri="{FF2B5EF4-FFF2-40B4-BE49-F238E27FC236}">
                <a16:creationId xmlns:a16="http://schemas.microsoft.com/office/drawing/2014/main" id="{12F22D8F-613C-43AA-B50E-A9DF05644035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4ABAA57-72AB-4FE9-95C1-5816E367AD14}"/>
              </a:ext>
            </a:extLst>
          </p:cNvPr>
          <p:cNvSpPr txBox="1">
            <a:spLocks/>
          </p:cNvSpPr>
          <p:nvPr/>
        </p:nvSpPr>
        <p:spPr>
          <a:xfrm>
            <a:off x="177800" y="1012253"/>
            <a:ext cx="8496300" cy="53498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457200" indent="-457200">
              <a:spcBef>
                <a:spcPct val="20000"/>
              </a:spcBef>
              <a:buFont typeface="Wingdings" panose="05000000000000000000" pitchFamily="2" charset="2"/>
              <a:buNone/>
              <a:defRPr b="1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defRPr>
            </a:lvl1pPr>
            <a:lvl2pPr marL="990600" indent="-381000">
              <a:spcBef>
                <a:spcPct val="20000"/>
              </a:spcBef>
              <a:buFont typeface="Arial" panose="020B0604020202020204"/>
              <a:buChar char="–"/>
              <a:defRPr sz="3735"/>
            </a:lvl2pPr>
            <a:lvl3pPr marL="1524000" indent="-304800">
              <a:spcBef>
                <a:spcPct val="20000"/>
              </a:spcBef>
              <a:buFont typeface="Arial" panose="020B0604020202020204"/>
              <a:buChar char="•"/>
              <a:defRPr sz="3200"/>
            </a:lvl3pPr>
            <a:lvl4pPr marL="2133600" indent="-304800">
              <a:spcBef>
                <a:spcPct val="20000"/>
              </a:spcBef>
              <a:buFont typeface="Arial" panose="020B0604020202020204"/>
              <a:buChar char="–"/>
              <a:defRPr sz="2665"/>
            </a:lvl4pPr>
            <a:lvl5pPr marL="2742565" indent="-304800">
              <a:spcBef>
                <a:spcPct val="20000"/>
              </a:spcBef>
              <a:buFont typeface="Arial" panose="020B0604020202020204"/>
              <a:buChar char="»"/>
              <a:defRPr sz="2665"/>
            </a:lvl5pPr>
            <a:lvl6pPr marL="3352165" indent="-304800">
              <a:spcBef>
                <a:spcPct val="20000"/>
              </a:spcBef>
              <a:buFont typeface="Arial" panose="020B0604020202020204"/>
              <a:buChar char="•"/>
              <a:defRPr sz="2665"/>
            </a:lvl6pPr>
            <a:lvl7pPr marL="3961765" indent="-304800">
              <a:spcBef>
                <a:spcPct val="20000"/>
              </a:spcBef>
              <a:buFont typeface="Arial" panose="020B0604020202020204"/>
              <a:buChar char="•"/>
              <a:defRPr sz="2665"/>
            </a:lvl7pPr>
            <a:lvl8pPr marL="4571365" indent="-304800">
              <a:spcBef>
                <a:spcPct val="20000"/>
              </a:spcBef>
              <a:buFont typeface="Arial" panose="020B0604020202020204"/>
              <a:buChar char="•"/>
              <a:defRPr sz="2665"/>
            </a:lvl8pPr>
            <a:lvl9pPr marL="5180965" indent="-304800">
              <a:spcBef>
                <a:spcPct val="20000"/>
              </a:spcBef>
              <a:buFont typeface="Arial" panose="020B0604020202020204"/>
              <a:buChar char="•"/>
              <a:defRPr sz="2665"/>
            </a:lvl9pPr>
          </a:lstStyle>
          <a:p>
            <a:r>
              <a:rPr lang="zh-CN" altLang="en-US" dirty="0"/>
              <a:t>输入操作运算符</a:t>
            </a:r>
            <a:r>
              <a:rPr lang="en-US" altLang="zh-CN" dirty="0"/>
              <a:t>&gt;&gt;</a:t>
            </a:r>
            <a:r>
              <a:rPr lang="zh-CN" altLang="en-US" dirty="0"/>
              <a:t>只能以友元方式重载，重载格式：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9F6C3F-B43D-498A-BE26-77E36171D4D0}"/>
              </a:ext>
            </a:extLst>
          </p:cNvPr>
          <p:cNvSpPr/>
          <p:nvPr/>
        </p:nvSpPr>
        <p:spPr>
          <a:xfrm>
            <a:off x="177800" y="1515490"/>
            <a:ext cx="9144000" cy="18161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重载 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&gt;&gt;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操作符时：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第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1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参数类型输入流的引用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&amp;</a:t>
            </a:r>
          </a:p>
          <a:p>
            <a:pPr marL="457200" indent="-4572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第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2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参数是类类型对象的引用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(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非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const</a:t>
            </a:r>
            <a:r>
              <a:rPr lang="en-US" altLang="zh-CN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)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，</a:t>
            </a:r>
            <a:endParaRPr lang="en-US" altLang="zh-CN" sz="2800" b="0" dirty="0">
              <a:solidFill>
                <a:srgbClr val="104E87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  <a:p>
            <a:pPr marL="457200" indent="-457200" eaLnBrk="1" hangingPunct="1">
              <a:buFontTx/>
              <a:buBlip>
                <a:blip r:embed="rId3"/>
              </a:buBlip>
              <a:defRPr/>
            </a:pP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返回值是对</a:t>
            </a:r>
            <a:r>
              <a:rPr lang="en-US" altLang="zh-CN" sz="2800" b="0" dirty="0" err="1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zh-CN" altLang="en-US" sz="2800" b="0" dirty="0">
                <a:solidFill>
                  <a:srgbClr val="104E87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形参的引用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47576F-E150-46E5-A5AC-7A821E3F10F2}"/>
              </a:ext>
            </a:extLst>
          </p:cNvPr>
          <p:cNvSpPr/>
          <p:nvPr/>
        </p:nvSpPr>
        <p:spPr>
          <a:xfrm>
            <a:off x="177800" y="3228188"/>
            <a:ext cx="9144000" cy="59644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kumimoji="1" lang="en-US" altLang="zh-CN" spc="-100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friend  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&amp; operator &gt;&gt; (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istream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 &amp;, 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自定义类 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  <a:ea typeface="华光行书_CNKI" panose="02000500000000000000" pitchFamily="2" charset="-122"/>
              </a:rPr>
              <a:t>&amp;);</a:t>
            </a: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  <a:ea typeface="华光行书_CNKI" panose="020005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0B5259-A14E-4844-BAC8-696832CFE13D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12.4 </a:t>
            </a:r>
            <a:r>
              <a:rPr lang="zh-CN" altLang="en-US" dirty="0">
                <a:sym typeface="+mn-lt"/>
              </a:rPr>
              <a:t>运算符</a:t>
            </a:r>
            <a:r>
              <a:rPr lang="en-US" altLang="zh-CN" dirty="0">
                <a:sym typeface="+mn-lt"/>
              </a:rPr>
              <a:t>&gt;&gt;</a:t>
            </a:r>
            <a:r>
              <a:rPr lang="zh-CN" altLang="en-US" dirty="0">
                <a:sym typeface="+mn-lt"/>
              </a:rPr>
              <a:t>和</a:t>
            </a:r>
            <a:r>
              <a:rPr lang="en-US" altLang="zh-CN" dirty="0">
                <a:sym typeface="+mn-lt"/>
              </a:rPr>
              <a:t>&lt;&lt;</a:t>
            </a:r>
            <a:r>
              <a:rPr lang="zh-CN" altLang="en-US" dirty="0">
                <a:sym typeface="+mn-lt"/>
              </a:rPr>
              <a:t>的重载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5B1055-3B95-4EFB-B7DE-326937275FA4}"/>
              </a:ext>
            </a:extLst>
          </p:cNvPr>
          <p:cNvSpPr/>
          <p:nvPr/>
        </p:nvSpPr>
        <p:spPr>
          <a:xfrm>
            <a:off x="285750" y="3939777"/>
            <a:ext cx="8280400" cy="23082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istream&amp; operator&gt;&gt;(istream&amp;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in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,</a:t>
            </a:r>
            <a:r>
              <a:rPr lang="en-US" altLang="zh-CN" sz="2400" spc="-100" dirty="0">
                <a:solidFill>
                  <a:srgbClr val="104E87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Complex 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&amp; obj)</a:t>
            </a:r>
          </a:p>
          <a:p>
            <a:pP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{char c1,c2;</a:t>
            </a:r>
          </a:p>
          <a:p>
            <a:pP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 cout&lt;&lt;"please input the Complex a+bi:";</a:t>
            </a:r>
          </a:p>
          <a:p>
            <a:pP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in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&gt;&gt;obj.real&gt;&gt;c1&gt;&gt;obj.imag&gt;&gt;c2;   </a:t>
            </a:r>
          </a:p>
          <a:p>
            <a:pP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 return </a:t>
            </a:r>
            <a:r>
              <a:rPr lang="en-US" altLang="zh-CN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in</a:t>
            </a: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;</a:t>
            </a:r>
          </a:p>
          <a:p>
            <a:pPr>
              <a:defRPr/>
            </a:pPr>
            <a:r>
              <a:rPr lang="zh-CN" altLang="en-US" sz="2400" dirty="0">
                <a:solidFill>
                  <a:srgbClr val="104E87"/>
                </a:solidFill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15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B3056BA-C01D-476A-A27F-73F20AEC6AB0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16" name="直线连接符 6">
            <a:extLst>
              <a:ext uri="{FF2B5EF4-FFF2-40B4-BE49-F238E27FC236}">
                <a16:creationId xmlns:a16="http://schemas.microsoft.com/office/drawing/2014/main" id="{0B0DB221-AA76-45F4-8E63-3AACE7C4D4AE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954C5949-2AF3-4932-AD7F-25C2C250A16A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12.4 </a:t>
            </a:r>
            <a:r>
              <a:rPr lang="zh-CN" altLang="en-US" dirty="0">
                <a:sym typeface="+mn-lt"/>
              </a:rPr>
              <a:t>运算符</a:t>
            </a:r>
            <a:r>
              <a:rPr lang="en-US" altLang="zh-CN" dirty="0">
                <a:sym typeface="+mn-lt"/>
              </a:rPr>
              <a:t>&gt;&gt;</a:t>
            </a:r>
            <a:r>
              <a:rPr lang="zh-CN" altLang="en-US" dirty="0">
                <a:sym typeface="+mn-lt"/>
              </a:rPr>
              <a:t>和</a:t>
            </a:r>
            <a:r>
              <a:rPr lang="en-US" altLang="zh-CN" dirty="0">
                <a:sym typeface="+mn-lt"/>
              </a:rPr>
              <a:t>&lt;&lt;</a:t>
            </a:r>
            <a:r>
              <a:rPr lang="zh-CN" altLang="en-US" dirty="0">
                <a:sym typeface="+mn-lt"/>
              </a:rPr>
              <a:t>的重载</a:t>
            </a:r>
          </a:p>
        </p:txBody>
      </p:sp>
      <p:pic>
        <p:nvPicPr>
          <p:cNvPr id="10" name="图片 3">
            <a:extLst>
              <a:ext uri="{FF2B5EF4-FFF2-40B4-BE49-F238E27FC236}">
                <a16:creationId xmlns:a16="http://schemas.microsoft.com/office/drawing/2014/main" id="{17ABB2A4-32CD-498E-B76E-DC32EA39F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" y="905715"/>
            <a:ext cx="7999413" cy="343391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CC43C6-FA6E-4F03-8351-FAA6F640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946" y="3337188"/>
            <a:ext cx="7281094" cy="2348740"/>
          </a:xfrm>
          <a:prstGeom prst="rect">
            <a:avLst/>
          </a:prstGeom>
          <a:ln>
            <a:solidFill>
              <a:srgbClr val="E73A1C"/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B9209B-5F8F-4B80-B1B6-47BB47C25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019" y="5068546"/>
            <a:ext cx="8026981" cy="1874825"/>
          </a:xfrm>
          <a:prstGeom prst="rect">
            <a:avLst/>
          </a:prstGeom>
          <a:ln>
            <a:solidFill>
              <a:srgbClr val="E73A1C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EDDBCE-60A0-4CFB-B85C-11D8E67B9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916233"/>
            <a:ext cx="3582420" cy="23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4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21D18D-8680-4C7B-8886-B9B1009968B8}"/>
              </a:ext>
            </a:extLst>
          </p:cNvPr>
          <p:cNvSpPr/>
          <p:nvPr/>
        </p:nvSpPr>
        <p:spPr>
          <a:xfrm>
            <a:off x="794" y="176798"/>
            <a:ext cx="12190413" cy="728917"/>
          </a:xfrm>
          <a:prstGeom prst="rect">
            <a:avLst/>
          </a:prstGeom>
          <a:solidFill>
            <a:srgbClr val="26C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/>
          </a:p>
        </p:txBody>
      </p:sp>
      <p:cxnSp>
        <p:nvCxnSpPr>
          <p:cNvPr id="5" name="直线连接符 6">
            <a:extLst>
              <a:ext uri="{FF2B5EF4-FFF2-40B4-BE49-F238E27FC236}">
                <a16:creationId xmlns:a16="http://schemas.microsoft.com/office/drawing/2014/main" id="{EE898CF8-EB9D-4A7A-AA70-B99D9082A28C}"/>
              </a:ext>
            </a:extLst>
          </p:cNvPr>
          <p:cNvCxnSpPr/>
          <p:nvPr/>
        </p:nvCxnSpPr>
        <p:spPr>
          <a:xfrm>
            <a:off x="1587" y="905715"/>
            <a:ext cx="12190413" cy="0"/>
          </a:xfrm>
          <a:prstGeom prst="line">
            <a:avLst/>
          </a:prstGeom>
          <a:ln>
            <a:solidFill>
              <a:srgbClr val="104D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F22E5A1-145A-46B4-A45E-58FCC11B823F}"/>
              </a:ext>
            </a:extLst>
          </p:cNvPr>
          <p:cNvSpPr txBox="1"/>
          <p:nvPr/>
        </p:nvSpPr>
        <p:spPr>
          <a:xfrm>
            <a:off x="397701" y="310423"/>
            <a:ext cx="610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3200" b="1">
                <a:latin typeface="华光胖头鱼_CNKI" panose="02000500000000000000" pitchFamily="2" charset="-122"/>
                <a:ea typeface="华光胖头鱼_CNKI" panose="02000500000000000000" pitchFamily="2" charset="-122"/>
              </a:defRPr>
            </a:lvl1pPr>
          </a:lstStyle>
          <a:p>
            <a:r>
              <a:rPr lang="en-US" altLang="zh-CN" dirty="0">
                <a:sym typeface="+mn-lt"/>
              </a:rPr>
              <a:t>12.5 </a:t>
            </a:r>
            <a:r>
              <a:rPr lang="zh-CN" altLang="en-US" dirty="0">
                <a:sym typeface="+mn-lt"/>
              </a:rPr>
              <a:t>作业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4650E7-A65A-4DF3-AC38-36C38D652E7F}"/>
              </a:ext>
            </a:extLst>
          </p:cNvPr>
          <p:cNvSpPr txBox="1"/>
          <p:nvPr/>
        </p:nvSpPr>
        <p:spPr>
          <a:xfrm>
            <a:off x="307974" y="1204152"/>
            <a:ext cx="73628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1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)</a:t>
            </a:r>
            <a:r>
              <a:rPr lang="zh-CN" altLang="en-US" sz="2400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前章排序算法，数据从文件读入，结果输出到文件</a:t>
            </a:r>
            <a:endParaRPr lang="en-US" altLang="zh-CN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  <a:p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2)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为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complex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重载</a:t>
            </a:r>
            <a:r>
              <a:rPr lang="en-US" altLang="zh-CN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&gt;&gt;&lt;&lt;</a:t>
            </a:r>
            <a:r>
              <a:rPr lang="zh-CN" altLang="en-US" dirty="0">
                <a:solidFill>
                  <a:srgbClr val="104E87"/>
                </a:solidFill>
                <a:latin typeface="华光行书_CNKI" panose="02000500000000000000" pitchFamily="2" charset="-122"/>
                <a:ea typeface="华光行书_CNKI" panose="02000500000000000000" pitchFamily="2" charset="-122"/>
              </a:rPr>
              <a:t>运算符</a:t>
            </a:r>
            <a:endParaRPr lang="zh-CN" altLang="en-US" sz="2400" dirty="0">
              <a:solidFill>
                <a:srgbClr val="104E87"/>
              </a:solidFill>
              <a:latin typeface="华光行书_CNKI" panose="02000500000000000000" pitchFamily="2" charset="-122"/>
              <a:ea typeface="华光行书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454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7E2989-3412-4FE4-B581-8540857CAB9C}"/>
              </a:ext>
            </a:extLst>
          </p:cNvPr>
          <p:cNvSpPr txBox="1"/>
          <p:nvPr/>
        </p:nvSpPr>
        <p:spPr>
          <a:xfrm>
            <a:off x="2408663" y="880946"/>
            <a:ext cx="769434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700" b="1" dirty="0">
                <a:solidFill>
                  <a:srgbClr val="104E87"/>
                </a:solidFill>
                <a:latin typeface="Berlin Sans FB Demi" panose="020E0802020502020306" pitchFamily="34" charset="0"/>
              </a:rPr>
              <a:t>END</a:t>
            </a:r>
            <a:endParaRPr lang="zh-CN" altLang="en-US" sz="28700" b="1" dirty="0">
              <a:solidFill>
                <a:srgbClr val="104E87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228903"/>
      </p:ext>
    </p:extLst>
  </p:cSld>
  <p:clrMapOvr>
    <a:masterClrMapping/>
  </p:clrMapOvr>
</p:sld>
</file>

<file path=ppt/theme/theme1.xml><?xml version="1.0" encoding="utf-8"?>
<a:theme xmlns:a="http://schemas.openxmlformats.org/drawingml/2006/main" name="www.2ppt.com">
  <a:themeElements>
    <a:clrScheme name="自定义 78">
      <a:dk1>
        <a:srgbClr val="191919"/>
      </a:dk1>
      <a:lt1>
        <a:sysClr val="window" lastClr="FFFFFF"/>
      </a:lt1>
      <a:dk2>
        <a:srgbClr val="EFEFEF"/>
      </a:dk2>
      <a:lt2>
        <a:srgbClr val="2D2D2D"/>
      </a:lt2>
      <a:accent1>
        <a:srgbClr val="104D7E"/>
      </a:accent1>
      <a:accent2>
        <a:srgbClr val="26CCC5"/>
      </a:accent2>
      <a:accent3>
        <a:srgbClr val="1B8DA8"/>
      </a:accent3>
      <a:accent4>
        <a:srgbClr val="104E87"/>
      </a:accent4>
      <a:accent5>
        <a:srgbClr val="4BACC6"/>
      </a:accent5>
      <a:accent6>
        <a:srgbClr val="808684"/>
      </a:accent6>
      <a:hlink>
        <a:srgbClr val="808080"/>
      </a:hlink>
      <a:folHlink>
        <a:srgbClr val="800080"/>
      </a:folHlink>
    </a:clrScheme>
    <a:fontScheme name="Century Gothic">
      <a:majorFont>
        <a:latin typeface="Century Gothic"/>
        <a:ea typeface="微软雅黑"/>
        <a:cs typeface=""/>
      </a:majorFont>
      <a:minorFont>
        <a:latin typeface="Century Gothic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46833</TotalTime>
  <Words>4223</Words>
  <Application>Microsoft Office PowerPoint</Application>
  <PresentationFormat>宽屏</PresentationFormat>
  <Paragraphs>513</Paragraphs>
  <Slides>32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Helvetica Neue</vt:lpstr>
      <vt:lpstr>华光淡古印_CNKI</vt:lpstr>
      <vt:lpstr>华光胖头鱼_CNKI</vt:lpstr>
      <vt:lpstr>华光行书_CNKI</vt:lpstr>
      <vt:lpstr>Arial</vt:lpstr>
      <vt:lpstr>Berlin Sans FB Demi</vt:lpstr>
      <vt:lpstr>Calibri</vt:lpstr>
      <vt:lpstr>Comic Sans MS</vt:lpstr>
      <vt:lpstr>Times New Roman</vt:lpstr>
      <vt:lpstr>Wingdings</vt:lpstr>
      <vt:lpstr>www.2ppt.com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www.2ppt.com-爱PPT提供资源下载</dc:title>
  <dc:subject>www.2ppt.com-爱PPT提供资源下载</dc:subject>
  <dc:creator>www.2ppt.com-爱PPT提供资源下载</dc:creator>
  <dc:description>www.2ppt.com-爱PPT提供资源下载</dc:description>
  <cp:lastModifiedBy>帅 方</cp:lastModifiedBy>
  <cp:revision>130</cp:revision>
  <dcterms:created xsi:type="dcterms:W3CDTF">2021-06-17T00:48:49Z</dcterms:created>
  <dcterms:modified xsi:type="dcterms:W3CDTF">2024-12-05T10:23:50Z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A09F084E-AD41-489F-8076-AA5BE3082BCA}" pid="100">
    <vt:ui4>5</vt:ui4>
  </property>
  <property fmtid="{64440492-4C8B-11D1-8B70-080036B11A03}" pid="11">
    <vt:lpwstr>www.2ppt.com-爱PPT提供资源下载</vt:lpwstr>
  </property>
  <property fmtid="{D5CDD505-2E9C-101B-9397-08002B2CF9AE}" pid="2" name="ContentTypeId">
    <vt:lpwstr>0x0101000DE64AEEDD9B7A4D93545ACBE97D4615</vt:lpwstr>
  </property>
  <property fmtid="{D5CDD505-2E9C-101B-9397-08002B2CF9AE}" pid="3" name="ICV">
    <vt:lpwstr>40B5B57ECECA411187AECB4299FD3BFC</vt:lpwstr>
  </property>
  <property fmtid="{D5CDD505-2E9C-101B-9397-08002B2CF9AE}" pid="4" name="KSOProductBuildVer">
    <vt:lpwstr>2052-11.1.0.10577</vt:lpwstr>
  </property>
</Properties>
</file>