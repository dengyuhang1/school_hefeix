
<file path=[Content_Types].xml><?xml version="1.0" encoding="utf-8"?>
<Types xmlns="http://schemas.openxmlformats.org/package/2006/content-types">
  <Default Extension="gif" ContentType="image/gif"/>
  <Default Extension="png" ContentType="image/png"/>
  <Default Extension="png&amp;ehk=ymfrClsLj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ink/ink1.xml" ContentType="application/inkml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ink/ink2.xml" ContentType="application/inkml+xml"/>
  <Override PartName="/ppt/notesSlides/notesSlide17.xml" ContentType="application/vnd.openxmlformats-officedocument.presentationml.notesSlide+xml"/>
  <Override PartName="/ppt/ink/ink3.xml" ContentType="application/inkml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51"/>
  </p:notesMasterIdLst>
  <p:handoutMasterIdLst>
    <p:handoutMasterId r:id="rId52"/>
  </p:handoutMasterIdLst>
  <p:sldIdLst>
    <p:sldId id="258" r:id="rId2"/>
    <p:sldId id="256" r:id="rId3"/>
    <p:sldId id="290" r:id="rId4"/>
    <p:sldId id="404" r:id="rId5"/>
    <p:sldId id="363" r:id="rId6"/>
    <p:sldId id="343" r:id="rId7"/>
    <p:sldId id="293" r:id="rId8"/>
    <p:sldId id="335" r:id="rId9"/>
    <p:sldId id="326" r:id="rId10"/>
    <p:sldId id="327" r:id="rId11"/>
    <p:sldId id="324" r:id="rId12"/>
    <p:sldId id="328" r:id="rId13"/>
    <p:sldId id="344" r:id="rId14"/>
    <p:sldId id="331" r:id="rId15"/>
    <p:sldId id="333" r:id="rId16"/>
    <p:sldId id="334" r:id="rId17"/>
    <p:sldId id="332" r:id="rId18"/>
    <p:sldId id="345" r:id="rId19"/>
    <p:sldId id="336" r:id="rId20"/>
    <p:sldId id="381" r:id="rId21"/>
    <p:sldId id="337" r:id="rId22"/>
    <p:sldId id="347" r:id="rId23"/>
    <p:sldId id="346" r:id="rId24"/>
    <p:sldId id="348" r:id="rId25"/>
    <p:sldId id="338" r:id="rId26"/>
    <p:sldId id="416" r:id="rId27"/>
    <p:sldId id="295" r:id="rId28"/>
    <p:sldId id="417" r:id="rId29"/>
    <p:sldId id="339" r:id="rId30"/>
    <p:sldId id="323" r:id="rId31"/>
    <p:sldId id="398" r:id="rId32"/>
    <p:sldId id="376" r:id="rId33"/>
    <p:sldId id="399" r:id="rId34"/>
    <p:sldId id="400" r:id="rId35"/>
    <p:sldId id="412" r:id="rId36"/>
    <p:sldId id="401" r:id="rId37"/>
    <p:sldId id="413" r:id="rId38"/>
    <p:sldId id="402" r:id="rId39"/>
    <p:sldId id="403" r:id="rId40"/>
    <p:sldId id="414" r:id="rId41"/>
    <p:sldId id="340" r:id="rId42"/>
    <p:sldId id="377" r:id="rId43"/>
    <p:sldId id="341" r:id="rId44"/>
    <p:sldId id="322" r:id="rId45"/>
    <p:sldId id="378" r:id="rId46"/>
    <p:sldId id="351" r:id="rId47"/>
    <p:sldId id="379" r:id="rId48"/>
    <p:sldId id="352" r:id="rId49"/>
    <p:sldId id="396" r:id="rId50"/>
  </p:sldIdLst>
  <p:sldSz cx="12192000" cy="6858000"/>
  <p:notesSz cx="6858000" cy="9144000"/>
  <p:defaultTextStyle>
    <a:defPPr>
      <a:defRPr lang="en-US"/>
    </a:defPPr>
    <a:lvl1pPr marL="0" algn="l" defTabSz="6096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600" algn="l" defTabSz="6096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9200" algn="l" defTabSz="6096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800" algn="l" defTabSz="6096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8400" algn="l" defTabSz="6096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8000" algn="l" defTabSz="6096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7600" algn="l" defTabSz="6096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7200" algn="l" defTabSz="6096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6800" algn="l" defTabSz="6096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4FEB7B8E-3482-48F0-A81E-FE42F3EB5D79}">
          <p14:sldIdLst>
            <p14:sldId id="258"/>
            <p14:sldId id="256"/>
            <p14:sldId id="290"/>
            <p14:sldId id="404"/>
            <p14:sldId id="363"/>
            <p14:sldId id="343"/>
            <p14:sldId id="293"/>
            <p14:sldId id="335"/>
            <p14:sldId id="326"/>
            <p14:sldId id="327"/>
            <p14:sldId id="324"/>
            <p14:sldId id="328"/>
            <p14:sldId id="344"/>
            <p14:sldId id="331"/>
            <p14:sldId id="333"/>
            <p14:sldId id="334"/>
            <p14:sldId id="332"/>
            <p14:sldId id="345"/>
          </p14:sldIdLst>
        </p14:section>
        <p14:section name="无标题节" id="{E6A53838-ED94-4DC2-8C29-7D83F1AE6B23}">
          <p14:sldIdLst>
            <p14:sldId id="336"/>
            <p14:sldId id="381"/>
            <p14:sldId id="337"/>
            <p14:sldId id="347"/>
            <p14:sldId id="346"/>
            <p14:sldId id="348"/>
            <p14:sldId id="338"/>
            <p14:sldId id="416"/>
            <p14:sldId id="295"/>
            <p14:sldId id="417"/>
            <p14:sldId id="339"/>
            <p14:sldId id="323"/>
            <p14:sldId id="398"/>
            <p14:sldId id="376"/>
            <p14:sldId id="399"/>
            <p14:sldId id="400"/>
            <p14:sldId id="412"/>
            <p14:sldId id="401"/>
            <p14:sldId id="413"/>
            <p14:sldId id="402"/>
            <p14:sldId id="403"/>
            <p14:sldId id="414"/>
            <p14:sldId id="340"/>
            <p14:sldId id="377"/>
            <p14:sldId id="341"/>
            <p14:sldId id="322"/>
            <p14:sldId id="378"/>
            <p14:sldId id="351"/>
            <p14:sldId id="379"/>
            <p14:sldId id="352"/>
            <p14:sldId id="396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04E87"/>
    <a:srgbClr val="D2E8FA"/>
    <a:srgbClr val="68B1EE"/>
    <a:srgbClr val="FFCE33"/>
    <a:srgbClr val="87C1F1"/>
    <a:srgbClr val="ADD4F5"/>
    <a:srgbClr val="FFE181"/>
    <a:srgbClr val="9FCDF3"/>
    <a:srgbClr val="98C9F2"/>
    <a:srgbClr val="92C7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中度样式 2 - 强调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73A0DAA-6AF3-43AB-8588-CEC1D06C72B9}" styleName="中度样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C4B1156A-380E-4F78-BDF5-A606A8083BF9}" styleName="中度样式 4 - 强调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46F890A9-2807-4EBB-B81D-B2AA78EC7F39}" styleName="深色样式 2 - 强调 5/强调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91EBBBCC-DAD2-459C-BE2E-F6DE35CF9A28}" styleName="深色样式 2 - 强调 3/强调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D7AC3CCA-C797-4891-BE02-D94E43425B78}" styleName="中度样式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16DA210-FB5B-4158-B5E0-FEB733F419BA}" styleName="浅色样式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973" autoAdjust="0"/>
    <p:restoredTop sz="79099" autoAdjust="0"/>
  </p:normalViewPr>
  <p:slideViewPr>
    <p:cSldViewPr snapToGrid="0" snapToObjects="1">
      <p:cViewPr varScale="1">
        <p:scale>
          <a:sx n="65" d="100"/>
          <a:sy n="65" d="100"/>
        </p:scale>
        <p:origin x="960" y="3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49" d="100"/>
        <a:sy n="149" d="100"/>
      </p:scale>
      <p:origin x="0" y="-19603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  <a:t>2024/10/29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1T09:27:57.0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13 1328 0 0,'8'-10'-264'0'0,"10"8"0"0"0,0 22 0 0 0,-6 12 0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10-28T00:03:08.9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 0 400 0 0,'0'0'-15'0'0,"0"13"394"0"0,0-3-91 0 0,0-2-85 0 0,0 27 1043 0 0,0-26-886 0 0,0-5-161 0 0,0 2 22 0 0,1-10-424 0 0,-1-2-37 0 0,-4 7-1246 0 0,0 1 814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10-28T00:03:08.9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 0 400 0 0,'0'0'-15'0'0,"0"13"394"0"0,0-3-91 0 0,0-2-85 0 0,0 27 1043 0 0,0-26-886 0 0,0-5-161 0 0,0 2 22 0 0,1-10-424 0 0,-1-2-37 0 0,-4 7-1246 0 0,0 1 814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4T06:53:20.3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257 1 2208 0 0,'-256'34'4493'0'0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4T06:53:20.7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32767 0 0,'333'239'-288'0'0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4T06:53:26.5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485 660 32767 0 0,'-484'-660'-1132'0'0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4T06:53:27.8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0 0 18902 0 0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CD7CE4F-55EC-46C0-A1F9-6BD8F4BE0E6B}" type="datetimeFigureOut">
              <a:rPr lang="zh-CN" altLang="en-US" smtClean="0"/>
              <a:t>2024/10/29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ABDA6A-29CD-4D28-B6EA-E8D4FFDF604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6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92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8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84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80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76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72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68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ABDA6A-29CD-4D28-B6EA-E8D4FFDF6043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0782393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b="0" i="0" dirty="0">
              <a:solidFill>
                <a:srgbClr val="333333"/>
              </a:solidFill>
              <a:effectLst/>
              <a:latin typeface="Helvetica Neue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ABDA6A-29CD-4D28-B6EA-E8D4FFDF6043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5768586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ABDA6A-29CD-4D28-B6EA-E8D4FFDF6043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5897318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学校 与 报道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ABDA6A-29CD-4D28-B6EA-E8D4FFDF6043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2853423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ABDA6A-29CD-4D28-B6EA-E8D4FFDF6043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5026507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ABDA6A-29CD-4D28-B6EA-E8D4FFDF6043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6555539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ABDA6A-29CD-4D28-B6EA-E8D4FFDF6043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2547270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ABDA6A-29CD-4D28-B6EA-E8D4FFDF6043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3066535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ABDA6A-29CD-4D28-B6EA-E8D4FFDF6043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3670589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ABDA6A-29CD-4D28-B6EA-E8D4FFDF6043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1267871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#include &lt;iostream&gt;</a:t>
            </a:r>
          </a:p>
          <a:p>
            <a:r>
              <a:rPr lang="en-US" altLang="zh-CN" dirty="0"/>
              <a:t>#include &lt;string&gt;</a:t>
            </a:r>
          </a:p>
          <a:p>
            <a:r>
              <a:rPr lang="en-US" altLang="zh-CN" dirty="0"/>
              <a:t>using namespace std;</a:t>
            </a:r>
          </a:p>
          <a:p>
            <a:endParaRPr lang="en-US" altLang="zh-CN" dirty="0"/>
          </a:p>
          <a:p>
            <a:r>
              <a:rPr lang="en-US" altLang="zh-CN" dirty="0"/>
              <a:t>class Clock{</a:t>
            </a:r>
          </a:p>
          <a:p>
            <a:r>
              <a:rPr lang="en-US" altLang="zh-CN" dirty="0"/>
              <a:t>public: </a:t>
            </a:r>
          </a:p>
          <a:p>
            <a:r>
              <a:rPr lang="en-US" altLang="zh-CN" dirty="0"/>
              <a:t>          void </a:t>
            </a:r>
            <a:r>
              <a:rPr lang="en-US" altLang="zh-CN" dirty="0" err="1"/>
              <a:t>setTime</a:t>
            </a:r>
            <a:r>
              <a:rPr lang="en-US" altLang="zh-CN" dirty="0"/>
              <a:t>(int </a:t>
            </a:r>
            <a:r>
              <a:rPr lang="en-US" altLang="zh-CN" dirty="0" err="1"/>
              <a:t>newH</a:t>
            </a:r>
            <a:r>
              <a:rPr lang="en-US" altLang="zh-CN" dirty="0"/>
              <a:t>, int </a:t>
            </a:r>
            <a:r>
              <a:rPr lang="en-US" altLang="zh-CN" dirty="0" err="1"/>
              <a:t>newM</a:t>
            </a:r>
            <a:r>
              <a:rPr lang="en-US" altLang="zh-CN" dirty="0"/>
              <a:t>, int </a:t>
            </a:r>
            <a:r>
              <a:rPr lang="en-US" altLang="zh-CN" dirty="0" err="1"/>
              <a:t>newS</a:t>
            </a:r>
            <a:r>
              <a:rPr lang="en-US" altLang="zh-CN" dirty="0"/>
              <a:t>);</a:t>
            </a:r>
          </a:p>
          <a:p>
            <a:r>
              <a:rPr lang="en-US" altLang="zh-CN" dirty="0"/>
              <a:t>          void </a:t>
            </a:r>
            <a:r>
              <a:rPr lang="en-US" altLang="zh-CN" dirty="0" err="1"/>
              <a:t>showTime</a:t>
            </a:r>
            <a:r>
              <a:rPr lang="en-US" altLang="zh-CN" dirty="0"/>
              <a:t>();</a:t>
            </a:r>
          </a:p>
          <a:p>
            <a:r>
              <a:rPr lang="en-US" altLang="zh-CN" dirty="0"/>
              <a:t>private:</a:t>
            </a:r>
          </a:p>
          <a:p>
            <a:r>
              <a:rPr lang="en-US" altLang="zh-CN" dirty="0"/>
              <a:t>           int hour, minute, second;</a:t>
            </a:r>
          </a:p>
          <a:p>
            <a:r>
              <a:rPr lang="en-US" altLang="zh-CN" dirty="0"/>
              <a:t>};</a:t>
            </a:r>
          </a:p>
          <a:p>
            <a:endParaRPr lang="en-US" altLang="zh-CN" dirty="0"/>
          </a:p>
          <a:p>
            <a:r>
              <a:rPr lang="en-US" altLang="zh-CN" dirty="0"/>
              <a:t>void Clock::</a:t>
            </a:r>
            <a:r>
              <a:rPr lang="en-US" altLang="zh-CN" dirty="0" err="1"/>
              <a:t>setTime</a:t>
            </a:r>
            <a:r>
              <a:rPr lang="en-US" altLang="zh-CN" dirty="0"/>
              <a:t>(int </a:t>
            </a:r>
            <a:r>
              <a:rPr lang="en-US" altLang="zh-CN" dirty="0" err="1"/>
              <a:t>newH</a:t>
            </a:r>
            <a:r>
              <a:rPr lang="en-US" altLang="zh-CN" dirty="0"/>
              <a:t>, int </a:t>
            </a:r>
            <a:r>
              <a:rPr lang="en-US" altLang="zh-CN" dirty="0" err="1"/>
              <a:t>newM</a:t>
            </a:r>
            <a:r>
              <a:rPr lang="en-US" altLang="zh-CN" dirty="0"/>
              <a:t>, int </a:t>
            </a:r>
            <a:r>
              <a:rPr lang="en-US" altLang="zh-CN" dirty="0" err="1"/>
              <a:t>newS</a:t>
            </a:r>
            <a:r>
              <a:rPr lang="en-US" altLang="zh-CN" dirty="0"/>
              <a:t>){</a:t>
            </a:r>
          </a:p>
          <a:p>
            <a:r>
              <a:rPr lang="en-US" altLang="zh-CN" dirty="0"/>
              <a:t>    hour = </a:t>
            </a:r>
            <a:r>
              <a:rPr lang="en-US" altLang="zh-CN" dirty="0" err="1"/>
              <a:t>newH</a:t>
            </a:r>
            <a:r>
              <a:rPr lang="en-US" altLang="zh-CN" dirty="0"/>
              <a:t>;     </a:t>
            </a:r>
          </a:p>
          <a:p>
            <a:r>
              <a:rPr lang="en-US" altLang="zh-CN" dirty="0"/>
              <a:t>    minute = </a:t>
            </a:r>
            <a:r>
              <a:rPr lang="en-US" altLang="zh-CN" dirty="0" err="1"/>
              <a:t>newM</a:t>
            </a:r>
            <a:r>
              <a:rPr lang="en-US" altLang="zh-CN" dirty="0"/>
              <a:t>;  </a:t>
            </a:r>
          </a:p>
          <a:p>
            <a:r>
              <a:rPr lang="en-US" altLang="zh-CN" dirty="0"/>
              <a:t>    second = </a:t>
            </a:r>
            <a:r>
              <a:rPr lang="en-US" altLang="zh-CN" dirty="0" err="1"/>
              <a:t>newS</a:t>
            </a:r>
            <a:r>
              <a:rPr lang="en-US" altLang="zh-CN" dirty="0"/>
              <a:t>;</a:t>
            </a:r>
          </a:p>
          <a:p>
            <a:r>
              <a:rPr lang="en-US" altLang="zh-CN" dirty="0"/>
              <a:t>}</a:t>
            </a:r>
          </a:p>
          <a:p>
            <a:endParaRPr lang="en-US" altLang="zh-CN" dirty="0"/>
          </a:p>
          <a:p>
            <a:r>
              <a:rPr lang="en-US" altLang="zh-CN" dirty="0"/>
              <a:t>void Clock::</a:t>
            </a:r>
            <a:r>
              <a:rPr lang="en-US" altLang="zh-CN" dirty="0" err="1"/>
              <a:t>showTime</a:t>
            </a:r>
            <a:r>
              <a:rPr lang="en-US" altLang="zh-CN" dirty="0"/>
              <a:t>(){</a:t>
            </a:r>
          </a:p>
          <a:p>
            <a:r>
              <a:rPr lang="en-US" altLang="zh-CN" dirty="0"/>
              <a:t>  </a:t>
            </a:r>
            <a:r>
              <a:rPr lang="en-US" altLang="zh-CN" dirty="0" err="1"/>
              <a:t>cout</a:t>
            </a:r>
            <a:r>
              <a:rPr lang="en-US" altLang="zh-CN" dirty="0"/>
              <a:t>&lt;&lt;hour&lt;&lt;":"&lt;&lt;minute&lt;&lt;":"&lt;&lt;second&lt;&lt;</a:t>
            </a:r>
            <a:r>
              <a:rPr lang="en-US" altLang="zh-CN" dirty="0" err="1"/>
              <a:t>endl</a:t>
            </a:r>
            <a:r>
              <a:rPr lang="en-US" altLang="zh-CN" dirty="0"/>
              <a:t>;</a:t>
            </a:r>
          </a:p>
          <a:p>
            <a:r>
              <a:rPr lang="en-US" altLang="zh-CN" dirty="0"/>
              <a:t>}</a:t>
            </a:r>
          </a:p>
          <a:p>
            <a:endParaRPr lang="en-US" altLang="zh-CN" dirty="0"/>
          </a:p>
          <a:p>
            <a:r>
              <a:rPr lang="en-US" altLang="zh-CN" dirty="0"/>
              <a:t>int main ()</a:t>
            </a:r>
          </a:p>
          <a:p>
            <a:r>
              <a:rPr lang="en-US" altLang="zh-CN" dirty="0"/>
              <a:t>{</a:t>
            </a:r>
          </a:p>
          <a:p>
            <a:r>
              <a:rPr lang="en-US" altLang="zh-CN" dirty="0"/>
              <a:t>  Clock c1,c2;</a:t>
            </a:r>
          </a:p>
          <a:p>
            <a:r>
              <a:rPr lang="en-US" altLang="zh-CN" dirty="0"/>
              <a:t>  return 0;</a:t>
            </a:r>
          </a:p>
          <a:p>
            <a:r>
              <a:rPr lang="en-US" altLang="zh-CN" dirty="0"/>
              <a:t>}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ABDA6A-29CD-4D28-B6EA-E8D4FFDF6043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06582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ABDA6A-29CD-4D28-B6EA-E8D4FFDF6043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431244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ABDA6A-29CD-4D28-B6EA-E8D4FFDF6043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993583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dirty="0">
                <a:solidFill>
                  <a:schemeClr val="tx1"/>
                </a:solidFill>
                <a:ea typeface="宋体" panose="02010600030101010101" pitchFamily="2" charset="-122"/>
              </a:rPr>
              <a:t>int main(){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dirty="0">
                <a:solidFill>
                  <a:schemeClr val="tx1"/>
                </a:solidFill>
                <a:ea typeface="宋体" panose="02010600030101010101" pitchFamily="2" charset="-122"/>
              </a:rPr>
              <a:t>rectangle p;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dirty="0" err="1">
                <a:solidFill>
                  <a:schemeClr val="tx1"/>
                </a:solidFill>
                <a:ea typeface="宋体" panose="02010600030101010101" pitchFamily="2" charset="-122"/>
              </a:rPr>
              <a:t>p.input</a:t>
            </a:r>
            <a:r>
              <a:rPr lang="en-US" altLang="zh-CN" sz="1600" dirty="0">
                <a:solidFill>
                  <a:schemeClr val="tx1"/>
                </a:solidFill>
                <a:ea typeface="宋体" panose="02010600030101010101" pitchFamily="2" charset="-122"/>
              </a:rPr>
              <a:t> (4,6);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dirty="0" err="1">
                <a:solidFill>
                  <a:schemeClr val="tx1"/>
                </a:solidFill>
                <a:ea typeface="宋体" panose="02010600030101010101" pitchFamily="2" charset="-122"/>
              </a:rPr>
              <a:t>cout</a:t>
            </a:r>
            <a:r>
              <a:rPr lang="en-US" altLang="zh-CN" sz="1600" dirty="0">
                <a:solidFill>
                  <a:schemeClr val="tx1"/>
                </a:solidFill>
                <a:ea typeface="宋体" panose="02010600030101010101" pitchFamily="2" charset="-122"/>
              </a:rPr>
              <a:t>&lt;&lt;"</a:t>
            </a:r>
            <a:r>
              <a:rPr lang="zh-CN" altLang="en-US" sz="1600" dirty="0">
                <a:solidFill>
                  <a:schemeClr val="tx1"/>
                </a:solidFill>
                <a:ea typeface="宋体" panose="02010600030101010101" pitchFamily="2" charset="-122"/>
              </a:rPr>
              <a:t>面积为：</a:t>
            </a:r>
            <a:r>
              <a:rPr lang="en-US" altLang="zh-CN" sz="1600" dirty="0">
                <a:solidFill>
                  <a:schemeClr val="tx1"/>
                </a:solidFill>
                <a:ea typeface="宋体" panose="02010600030101010101" pitchFamily="2" charset="-122"/>
              </a:rPr>
              <a:t>"&lt;&lt;</a:t>
            </a:r>
            <a:r>
              <a:rPr lang="en-US" altLang="zh-CN" sz="1600" dirty="0" err="1">
                <a:solidFill>
                  <a:schemeClr val="tx1"/>
                </a:solidFill>
                <a:ea typeface="宋体" panose="02010600030101010101" pitchFamily="2" charset="-122"/>
              </a:rPr>
              <a:t>p.computearea</a:t>
            </a:r>
            <a:r>
              <a:rPr lang="en-US" altLang="zh-CN" sz="1600" dirty="0">
                <a:solidFill>
                  <a:schemeClr val="tx1"/>
                </a:solidFill>
                <a:ea typeface="宋体" panose="02010600030101010101" pitchFamily="2" charset="-122"/>
              </a:rPr>
              <a:t>()&lt;&lt;</a:t>
            </a:r>
            <a:r>
              <a:rPr lang="en-US" altLang="zh-CN" sz="1600" dirty="0" err="1">
                <a:solidFill>
                  <a:schemeClr val="tx1"/>
                </a:solidFill>
                <a:ea typeface="宋体" panose="02010600030101010101" pitchFamily="2" charset="-122"/>
              </a:rPr>
              <a:t>endl</a:t>
            </a:r>
            <a:r>
              <a:rPr lang="en-US" altLang="zh-CN" sz="1600" dirty="0">
                <a:solidFill>
                  <a:schemeClr val="tx1"/>
                </a:solidFill>
                <a:ea typeface="宋体" panose="02010600030101010101" pitchFamily="2" charset="-122"/>
              </a:rPr>
              <a:t>;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dirty="0" err="1">
                <a:solidFill>
                  <a:schemeClr val="tx1"/>
                </a:solidFill>
                <a:ea typeface="宋体" panose="02010600030101010101" pitchFamily="2" charset="-122"/>
              </a:rPr>
              <a:t>cout</a:t>
            </a:r>
            <a:r>
              <a:rPr lang="en-US" altLang="zh-CN" sz="1600" dirty="0">
                <a:solidFill>
                  <a:schemeClr val="tx1"/>
                </a:solidFill>
                <a:ea typeface="宋体" panose="02010600030101010101" pitchFamily="2" charset="-122"/>
              </a:rPr>
              <a:t>&lt;&lt;"</a:t>
            </a:r>
            <a:r>
              <a:rPr lang="zh-CN" altLang="en-US" sz="1600" dirty="0">
                <a:solidFill>
                  <a:schemeClr val="tx1"/>
                </a:solidFill>
                <a:ea typeface="宋体" panose="02010600030101010101" pitchFamily="2" charset="-122"/>
              </a:rPr>
              <a:t>周长为：</a:t>
            </a:r>
            <a:r>
              <a:rPr lang="en-US" altLang="zh-CN" sz="1600" dirty="0">
                <a:solidFill>
                  <a:schemeClr val="tx1"/>
                </a:solidFill>
                <a:ea typeface="宋体" panose="02010600030101010101" pitchFamily="2" charset="-122"/>
              </a:rPr>
              <a:t>"&lt;&lt;</a:t>
            </a:r>
            <a:r>
              <a:rPr lang="en-US" altLang="zh-CN" sz="1600" dirty="0" err="1">
                <a:solidFill>
                  <a:schemeClr val="tx1"/>
                </a:solidFill>
                <a:ea typeface="宋体" panose="02010600030101010101" pitchFamily="2" charset="-122"/>
              </a:rPr>
              <a:t>p.computecir</a:t>
            </a:r>
            <a:r>
              <a:rPr lang="en-US" altLang="zh-CN" sz="1600" dirty="0">
                <a:solidFill>
                  <a:schemeClr val="tx1"/>
                </a:solidFill>
                <a:ea typeface="宋体" panose="02010600030101010101" pitchFamily="2" charset="-122"/>
              </a:rPr>
              <a:t>()&lt;&lt;</a:t>
            </a:r>
            <a:r>
              <a:rPr lang="en-US" altLang="zh-CN" sz="1600" dirty="0" err="1">
                <a:solidFill>
                  <a:schemeClr val="tx1"/>
                </a:solidFill>
                <a:ea typeface="宋体" panose="02010600030101010101" pitchFamily="2" charset="-122"/>
              </a:rPr>
              <a:t>endl</a:t>
            </a:r>
            <a:r>
              <a:rPr lang="en-US" altLang="zh-CN" sz="1600" dirty="0">
                <a:solidFill>
                  <a:schemeClr val="tx1"/>
                </a:solidFill>
                <a:ea typeface="宋体" panose="02010600030101010101" pitchFamily="2" charset="-122"/>
              </a:rPr>
              <a:t>;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dirty="0">
                <a:solidFill>
                  <a:schemeClr val="tx1"/>
                </a:solidFill>
                <a:ea typeface="宋体" panose="02010600030101010101" pitchFamily="2" charset="-122"/>
              </a:rPr>
              <a:t>return 0;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dirty="0">
                <a:solidFill>
                  <a:schemeClr val="tx1"/>
                </a:solidFill>
                <a:ea typeface="宋体" panose="02010600030101010101" pitchFamily="2" charset="-122"/>
              </a:rPr>
              <a:t>}</a:t>
            </a:r>
            <a:endParaRPr lang="zh-CN" altLang="en-US" sz="1600" dirty="0">
              <a:solidFill>
                <a:schemeClr val="tx1"/>
              </a:solidFill>
              <a:ea typeface="宋体" panose="02010600030101010101" pitchFamily="2" charset="-122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ABDA6A-29CD-4D28-B6EA-E8D4FFDF6043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5252537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dirty="0">
                <a:solidFill>
                  <a:schemeClr val="tx1"/>
                </a:solidFill>
                <a:ea typeface="宋体" panose="02010600030101010101" pitchFamily="2" charset="-122"/>
              </a:rPr>
              <a:t>int main(){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dirty="0">
                <a:solidFill>
                  <a:schemeClr val="tx1"/>
                </a:solidFill>
                <a:ea typeface="宋体" panose="02010600030101010101" pitchFamily="2" charset="-122"/>
              </a:rPr>
              <a:t>rectangle p;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dirty="0" err="1">
                <a:solidFill>
                  <a:schemeClr val="tx1"/>
                </a:solidFill>
                <a:ea typeface="宋体" panose="02010600030101010101" pitchFamily="2" charset="-122"/>
              </a:rPr>
              <a:t>p.input</a:t>
            </a:r>
            <a:r>
              <a:rPr lang="en-US" altLang="zh-CN" sz="1600" dirty="0">
                <a:solidFill>
                  <a:schemeClr val="tx1"/>
                </a:solidFill>
                <a:ea typeface="宋体" panose="02010600030101010101" pitchFamily="2" charset="-122"/>
              </a:rPr>
              <a:t> (4,6);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dirty="0" err="1">
                <a:solidFill>
                  <a:schemeClr val="tx1"/>
                </a:solidFill>
                <a:ea typeface="宋体" panose="02010600030101010101" pitchFamily="2" charset="-122"/>
              </a:rPr>
              <a:t>cout</a:t>
            </a:r>
            <a:r>
              <a:rPr lang="en-US" altLang="zh-CN" sz="1600" dirty="0">
                <a:solidFill>
                  <a:schemeClr val="tx1"/>
                </a:solidFill>
                <a:ea typeface="宋体" panose="02010600030101010101" pitchFamily="2" charset="-122"/>
              </a:rPr>
              <a:t>&lt;&lt;"</a:t>
            </a:r>
            <a:r>
              <a:rPr lang="zh-CN" altLang="en-US" sz="1600" dirty="0">
                <a:solidFill>
                  <a:schemeClr val="tx1"/>
                </a:solidFill>
                <a:ea typeface="宋体" panose="02010600030101010101" pitchFamily="2" charset="-122"/>
              </a:rPr>
              <a:t>面积为：</a:t>
            </a:r>
            <a:r>
              <a:rPr lang="en-US" altLang="zh-CN" sz="1600" dirty="0">
                <a:solidFill>
                  <a:schemeClr val="tx1"/>
                </a:solidFill>
                <a:ea typeface="宋体" panose="02010600030101010101" pitchFamily="2" charset="-122"/>
              </a:rPr>
              <a:t>"&lt;&lt;</a:t>
            </a:r>
            <a:r>
              <a:rPr lang="en-US" altLang="zh-CN" sz="1600" dirty="0" err="1">
                <a:solidFill>
                  <a:schemeClr val="tx1"/>
                </a:solidFill>
                <a:ea typeface="宋体" panose="02010600030101010101" pitchFamily="2" charset="-122"/>
              </a:rPr>
              <a:t>p.computearea</a:t>
            </a:r>
            <a:r>
              <a:rPr lang="en-US" altLang="zh-CN" sz="1600" dirty="0">
                <a:solidFill>
                  <a:schemeClr val="tx1"/>
                </a:solidFill>
                <a:ea typeface="宋体" panose="02010600030101010101" pitchFamily="2" charset="-122"/>
              </a:rPr>
              <a:t>()&lt;&lt;</a:t>
            </a:r>
            <a:r>
              <a:rPr lang="en-US" altLang="zh-CN" sz="1600" dirty="0" err="1">
                <a:solidFill>
                  <a:schemeClr val="tx1"/>
                </a:solidFill>
                <a:ea typeface="宋体" panose="02010600030101010101" pitchFamily="2" charset="-122"/>
              </a:rPr>
              <a:t>endl</a:t>
            </a:r>
            <a:r>
              <a:rPr lang="en-US" altLang="zh-CN" sz="1600" dirty="0">
                <a:solidFill>
                  <a:schemeClr val="tx1"/>
                </a:solidFill>
                <a:ea typeface="宋体" panose="02010600030101010101" pitchFamily="2" charset="-122"/>
              </a:rPr>
              <a:t>;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dirty="0" err="1">
                <a:solidFill>
                  <a:schemeClr val="tx1"/>
                </a:solidFill>
                <a:ea typeface="宋体" panose="02010600030101010101" pitchFamily="2" charset="-122"/>
              </a:rPr>
              <a:t>cout</a:t>
            </a:r>
            <a:r>
              <a:rPr lang="en-US" altLang="zh-CN" sz="1600" dirty="0">
                <a:solidFill>
                  <a:schemeClr val="tx1"/>
                </a:solidFill>
                <a:ea typeface="宋体" panose="02010600030101010101" pitchFamily="2" charset="-122"/>
              </a:rPr>
              <a:t>&lt;&lt;"</a:t>
            </a:r>
            <a:r>
              <a:rPr lang="zh-CN" altLang="en-US" sz="1600" dirty="0">
                <a:solidFill>
                  <a:schemeClr val="tx1"/>
                </a:solidFill>
                <a:ea typeface="宋体" panose="02010600030101010101" pitchFamily="2" charset="-122"/>
              </a:rPr>
              <a:t>周长为：</a:t>
            </a:r>
            <a:r>
              <a:rPr lang="en-US" altLang="zh-CN" sz="1600" dirty="0">
                <a:solidFill>
                  <a:schemeClr val="tx1"/>
                </a:solidFill>
                <a:ea typeface="宋体" panose="02010600030101010101" pitchFamily="2" charset="-122"/>
              </a:rPr>
              <a:t>"&lt;&lt;</a:t>
            </a:r>
            <a:r>
              <a:rPr lang="en-US" altLang="zh-CN" sz="1600" dirty="0" err="1">
                <a:solidFill>
                  <a:schemeClr val="tx1"/>
                </a:solidFill>
                <a:ea typeface="宋体" panose="02010600030101010101" pitchFamily="2" charset="-122"/>
              </a:rPr>
              <a:t>p.computecir</a:t>
            </a:r>
            <a:r>
              <a:rPr lang="en-US" altLang="zh-CN" sz="1600" dirty="0">
                <a:solidFill>
                  <a:schemeClr val="tx1"/>
                </a:solidFill>
                <a:ea typeface="宋体" panose="02010600030101010101" pitchFamily="2" charset="-122"/>
              </a:rPr>
              <a:t>()&lt;&lt;</a:t>
            </a:r>
            <a:r>
              <a:rPr lang="en-US" altLang="zh-CN" sz="1600" dirty="0" err="1">
                <a:solidFill>
                  <a:schemeClr val="tx1"/>
                </a:solidFill>
                <a:ea typeface="宋体" panose="02010600030101010101" pitchFamily="2" charset="-122"/>
              </a:rPr>
              <a:t>endl</a:t>
            </a:r>
            <a:r>
              <a:rPr lang="en-US" altLang="zh-CN" sz="1600" dirty="0">
                <a:solidFill>
                  <a:schemeClr val="tx1"/>
                </a:solidFill>
                <a:ea typeface="宋体" panose="02010600030101010101" pitchFamily="2" charset="-122"/>
              </a:rPr>
              <a:t>;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dirty="0">
                <a:solidFill>
                  <a:schemeClr val="tx1"/>
                </a:solidFill>
                <a:ea typeface="宋体" panose="02010600030101010101" pitchFamily="2" charset="-122"/>
              </a:rPr>
              <a:t>return 0;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dirty="0">
                <a:solidFill>
                  <a:schemeClr val="tx1"/>
                </a:solidFill>
                <a:ea typeface="宋体" panose="02010600030101010101" pitchFamily="2" charset="-122"/>
              </a:rPr>
              <a:t>}</a:t>
            </a:r>
            <a:endParaRPr lang="zh-CN" altLang="en-US" sz="1600" dirty="0">
              <a:solidFill>
                <a:schemeClr val="tx1"/>
              </a:solidFill>
              <a:ea typeface="宋体" panose="02010600030101010101" pitchFamily="2" charset="-122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ABDA6A-29CD-4D28-B6EA-E8D4FFDF6043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6374927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spcBef>
                <a:spcPct val="0"/>
              </a:spcBef>
            </a:pPr>
            <a:r>
              <a:rPr lang="en-US" altLang="zh-CN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#include&lt;iostream&gt;</a:t>
            </a:r>
          </a:p>
          <a:p>
            <a:pPr eaLnBrk="1" hangingPunct="1">
              <a:spcBef>
                <a:spcPct val="0"/>
              </a:spcBef>
            </a:pPr>
            <a:r>
              <a:rPr lang="en-US" altLang="zh-CN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#include &lt;</a:t>
            </a:r>
            <a:r>
              <a:rPr lang="en-US" altLang="zh-CN" dirty="0" err="1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fstream</a:t>
            </a:r>
            <a:r>
              <a:rPr lang="en-US" altLang="zh-CN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&gt;</a:t>
            </a:r>
          </a:p>
          <a:p>
            <a:pPr eaLnBrk="1" hangingPunct="1">
              <a:spcBef>
                <a:spcPct val="0"/>
              </a:spcBef>
            </a:pPr>
            <a:r>
              <a:rPr lang="en-US" altLang="zh-CN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#include &lt;</a:t>
            </a:r>
            <a:r>
              <a:rPr lang="en-US" altLang="zh-CN" dirty="0" err="1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stdlib.h</a:t>
            </a:r>
            <a:r>
              <a:rPr lang="en-US" altLang="zh-CN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&gt;</a:t>
            </a:r>
          </a:p>
          <a:p>
            <a:pPr eaLnBrk="1" hangingPunct="1">
              <a:spcBef>
                <a:spcPct val="0"/>
              </a:spcBef>
            </a:pPr>
            <a:r>
              <a:rPr lang="en-US" altLang="zh-CN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using namespace std;</a:t>
            </a:r>
          </a:p>
          <a:p>
            <a:pPr eaLnBrk="1" hangingPunct="1">
              <a:spcBef>
                <a:spcPct val="0"/>
              </a:spcBef>
            </a:pPr>
            <a:endParaRPr lang="en-US" altLang="zh-CN" dirty="0">
              <a:solidFill>
                <a:srgbClr val="FF0000"/>
              </a:solidFill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 eaLnBrk="1" hangingPunct="1">
              <a:spcBef>
                <a:spcPct val="0"/>
              </a:spcBef>
            </a:pPr>
            <a:r>
              <a:rPr lang="en-US" altLang="zh-CN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class Clock{</a:t>
            </a:r>
          </a:p>
          <a:p>
            <a:pPr eaLnBrk="1" hangingPunct="1">
              <a:spcBef>
                <a:spcPct val="0"/>
              </a:spcBef>
            </a:pPr>
            <a:r>
              <a:rPr lang="en-US" altLang="zh-CN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public: </a:t>
            </a:r>
          </a:p>
          <a:p>
            <a:pPr eaLnBrk="1" hangingPunct="1">
              <a:spcBef>
                <a:spcPct val="0"/>
              </a:spcBef>
            </a:pPr>
            <a:r>
              <a:rPr lang="en-US" altLang="zh-CN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    void </a:t>
            </a:r>
            <a:r>
              <a:rPr lang="en-US" altLang="zh-CN" dirty="0" err="1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setTime</a:t>
            </a:r>
            <a:r>
              <a:rPr lang="en-US" altLang="zh-CN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(int </a:t>
            </a:r>
            <a:r>
              <a:rPr lang="en-US" altLang="zh-CN" dirty="0" err="1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newH</a:t>
            </a:r>
            <a:r>
              <a:rPr lang="en-US" altLang="zh-CN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, int </a:t>
            </a:r>
            <a:r>
              <a:rPr lang="en-US" altLang="zh-CN" dirty="0" err="1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newM</a:t>
            </a:r>
            <a:r>
              <a:rPr lang="en-US" altLang="zh-CN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, int </a:t>
            </a:r>
            <a:r>
              <a:rPr lang="en-US" altLang="zh-CN" dirty="0" err="1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newS</a:t>
            </a:r>
            <a:r>
              <a:rPr lang="en-US" altLang="zh-CN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);</a:t>
            </a:r>
          </a:p>
          <a:p>
            <a:pPr eaLnBrk="1" hangingPunct="1">
              <a:spcBef>
                <a:spcPct val="0"/>
              </a:spcBef>
            </a:pPr>
            <a:r>
              <a:rPr lang="en-US" altLang="zh-CN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    void </a:t>
            </a:r>
            <a:r>
              <a:rPr lang="en-US" altLang="zh-CN" dirty="0" err="1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showTime</a:t>
            </a:r>
            <a:r>
              <a:rPr lang="en-US" altLang="zh-CN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();</a:t>
            </a:r>
          </a:p>
          <a:p>
            <a:pPr eaLnBrk="1" hangingPunct="1">
              <a:spcBef>
                <a:spcPct val="0"/>
              </a:spcBef>
            </a:pPr>
            <a:r>
              <a:rPr lang="en-US" altLang="zh-CN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    Clock(int </a:t>
            </a:r>
            <a:r>
              <a:rPr lang="en-US" altLang="zh-CN" dirty="0" err="1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newH</a:t>
            </a:r>
            <a:r>
              <a:rPr lang="en-US" altLang="zh-CN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, int </a:t>
            </a:r>
            <a:r>
              <a:rPr lang="en-US" altLang="zh-CN" dirty="0" err="1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newMe</a:t>
            </a:r>
            <a:r>
              <a:rPr lang="en-US" altLang="zh-CN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, int </a:t>
            </a:r>
            <a:r>
              <a:rPr lang="en-US" altLang="zh-CN" dirty="0" err="1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newS</a:t>
            </a:r>
            <a:r>
              <a:rPr lang="en-US" altLang="zh-CN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);</a:t>
            </a:r>
          </a:p>
          <a:p>
            <a:pPr eaLnBrk="1" hangingPunct="1">
              <a:spcBef>
                <a:spcPct val="0"/>
              </a:spcBef>
            </a:pPr>
            <a:r>
              <a:rPr lang="en-US" altLang="zh-CN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private:</a:t>
            </a:r>
          </a:p>
          <a:p>
            <a:pPr eaLnBrk="1" hangingPunct="1">
              <a:spcBef>
                <a:spcPct val="0"/>
              </a:spcBef>
            </a:pPr>
            <a:r>
              <a:rPr lang="en-US" altLang="zh-CN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    int hour, minute, second;</a:t>
            </a:r>
          </a:p>
          <a:p>
            <a:pPr eaLnBrk="1" hangingPunct="1">
              <a:spcBef>
                <a:spcPct val="0"/>
              </a:spcBef>
            </a:pPr>
            <a:r>
              <a:rPr lang="en-US" altLang="zh-CN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};</a:t>
            </a:r>
          </a:p>
          <a:p>
            <a:pPr eaLnBrk="1" hangingPunct="1">
              <a:spcBef>
                <a:spcPct val="0"/>
              </a:spcBef>
            </a:pPr>
            <a:endParaRPr lang="en-US" altLang="zh-CN" dirty="0">
              <a:solidFill>
                <a:srgbClr val="FF0000"/>
              </a:solidFill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 eaLnBrk="1" hangingPunct="1">
              <a:spcBef>
                <a:spcPct val="0"/>
              </a:spcBef>
            </a:pPr>
            <a:r>
              <a:rPr lang="en-US" altLang="zh-CN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Clock:: Clock(int </a:t>
            </a:r>
            <a:r>
              <a:rPr lang="en-US" altLang="zh-CN" dirty="0" err="1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newH</a:t>
            </a:r>
            <a:r>
              <a:rPr lang="en-US" altLang="zh-CN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, int </a:t>
            </a:r>
            <a:r>
              <a:rPr lang="en-US" altLang="zh-CN" dirty="0" err="1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newM</a:t>
            </a:r>
            <a:r>
              <a:rPr lang="en-US" altLang="zh-CN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, int </a:t>
            </a:r>
            <a:r>
              <a:rPr lang="en-US" altLang="zh-CN" dirty="0" err="1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newS</a:t>
            </a:r>
            <a:r>
              <a:rPr lang="en-US" altLang="zh-CN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){</a:t>
            </a:r>
          </a:p>
          <a:p>
            <a:pPr eaLnBrk="1" hangingPunct="1">
              <a:spcBef>
                <a:spcPct val="0"/>
              </a:spcBef>
            </a:pPr>
            <a:r>
              <a:rPr lang="en-US" altLang="zh-CN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    hour = </a:t>
            </a:r>
            <a:r>
              <a:rPr lang="en-US" altLang="zh-CN" dirty="0" err="1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newH</a:t>
            </a:r>
            <a:r>
              <a:rPr lang="en-US" altLang="zh-CN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;     </a:t>
            </a:r>
          </a:p>
          <a:p>
            <a:pPr eaLnBrk="1" hangingPunct="1">
              <a:spcBef>
                <a:spcPct val="0"/>
              </a:spcBef>
            </a:pPr>
            <a:r>
              <a:rPr lang="en-US" altLang="zh-CN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    minute = </a:t>
            </a:r>
            <a:r>
              <a:rPr lang="en-US" altLang="zh-CN" dirty="0" err="1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newM</a:t>
            </a:r>
            <a:r>
              <a:rPr lang="en-US" altLang="zh-CN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;  </a:t>
            </a:r>
          </a:p>
          <a:p>
            <a:pPr eaLnBrk="1" hangingPunct="1">
              <a:spcBef>
                <a:spcPct val="0"/>
              </a:spcBef>
            </a:pPr>
            <a:r>
              <a:rPr lang="en-US" altLang="zh-CN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    second = </a:t>
            </a:r>
            <a:r>
              <a:rPr lang="en-US" altLang="zh-CN" dirty="0" err="1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newS</a:t>
            </a:r>
            <a:r>
              <a:rPr lang="en-US" altLang="zh-CN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;</a:t>
            </a:r>
          </a:p>
          <a:p>
            <a:pPr eaLnBrk="1" hangingPunct="1">
              <a:spcBef>
                <a:spcPct val="0"/>
              </a:spcBef>
            </a:pPr>
            <a:r>
              <a:rPr lang="en-US" altLang="zh-CN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}</a:t>
            </a:r>
          </a:p>
          <a:p>
            <a:pPr eaLnBrk="1" hangingPunct="1">
              <a:spcBef>
                <a:spcPct val="0"/>
              </a:spcBef>
            </a:pPr>
            <a:endParaRPr lang="en-US" altLang="zh-CN" dirty="0">
              <a:solidFill>
                <a:srgbClr val="FF0000"/>
              </a:solidFill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 eaLnBrk="1" hangingPunct="1">
              <a:spcBef>
                <a:spcPct val="0"/>
              </a:spcBef>
            </a:pPr>
            <a:endParaRPr lang="en-US" altLang="zh-CN" dirty="0">
              <a:solidFill>
                <a:srgbClr val="FF0000"/>
              </a:solidFill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 eaLnBrk="1" hangingPunct="1">
              <a:spcBef>
                <a:spcPct val="0"/>
              </a:spcBef>
            </a:pPr>
            <a:r>
              <a:rPr lang="en-US" altLang="zh-CN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void Clock::</a:t>
            </a:r>
            <a:r>
              <a:rPr lang="en-US" altLang="zh-CN" dirty="0" err="1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setTime</a:t>
            </a:r>
            <a:r>
              <a:rPr lang="en-US" altLang="zh-CN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(int </a:t>
            </a:r>
            <a:r>
              <a:rPr lang="en-US" altLang="zh-CN" dirty="0" err="1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newH</a:t>
            </a:r>
            <a:r>
              <a:rPr lang="en-US" altLang="zh-CN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, int </a:t>
            </a:r>
            <a:r>
              <a:rPr lang="en-US" altLang="zh-CN" dirty="0" err="1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newM</a:t>
            </a:r>
            <a:r>
              <a:rPr lang="en-US" altLang="zh-CN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, int </a:t>
            </a:r>
            <a:r>
              <a:rPr lang="en-US" altLang="zh-CN" dirty="0" err="1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newS</a:t>
            </a:r>
            <a:r>
              <a:rPr lang="en-US" altLang="zh-CN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){</a:t>
            </a:r>
          </a:p>
          <a:p>
            <a:pPr eaLnBrk="1" hangingPunct="1">
              <a:spcBef>
                <a:spcPct val="0"/>
              </a:spcBef>
            </a:pPr>
            <a:r>
              <a:rPr lang="en-US" altLang="zh-CN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    hour = </a:t>
            </a:r>
            <a:r>
              <a:rPr lang="en-US" altLang="zh-CN" dirty="0" err="1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newH</a:t>
            </a:r>
            <a:r>
              <a:rPr lang="en-US" altLang="zh-CN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;     </a:t>
            </a:r>
          </a:p>
          <a:p>
            <a:pPr eaLnBrk="1" hangingPunct="1">
              <a:spcBef>
                <a:spcPct val="0"/>
              </a:spcBef>
            </a:pPr>
            <a:r>
              <a:rPr lang="en-US" altLang="zh-CN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    minute = </a:t>
            </a:r>
            <a:r>
              <a:rPr lang="en-US" altLang="zh-CN" dirty="0" err="1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newM</a:t>
            </a:r>
            <a:r>
              <a:rPr lang="en-US" altLang="zh-CN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;  </a:t>
            </a:r>
          </a:p>
          <a:p>
            <a:pPr eaLnBrk="1" hangingPunct="1">
              <a:spcBef>
                <a:spcPct val="0"/>
              </a:spcBef>
            </a:pPr>
            <a:r>
              <a:rPr lang="en-US" altLang="zh-CN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    second = </a:t>
            </a:r>
            <a:r>
              <a:rPr lang="en-US" altLang="zh-CN" dirty="0" err="1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newS</a:t>
            </a:r>
            <a:r>
              <a:rPr lang="en-US" altLang="zh-CN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;</a:t>
            </a:r>
          </a:p>
          <a:p>
            <a:pPr eaLnBrk="1" hangingPunct="1">
              <a:spcBef>
                <a:spcPct val="0"/>
              </a:spcBef>
            </a:pPr>
            <a:r>
              <a:rPr lang="en-US" altLang="zh-CN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}</a:t>
            </a:r>
          </a:p>
          <a:p>
            <a:pPr eaLnBrk="1" hangingPunct="1">
              <a:spcBef>
                <a:spcPct val="0"/>
              </a:spcBef>
            </a:pPr>
            <a:endParaRPr lang="en-US" altLang="zh-CN" dirty="0">
              <a:solidFill>
                <a:srgbClr val="FF0000"/>
              </a:solidFill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 eaLnBrk="1" hangingPunct="1">
              <a:spcBef>
                <a:spcPct val="0"/>
              </a:spcBef>
            </a:pPr>
            <a:r>
              <a:rPr lang="en-US" altLang="zh-CN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void Clock::</a:t>
            </a:r>
            <a:r>
              <a:rPr lang="en-US" altLang="zh-CN" dirty="0" err="1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showTime</a:t>
            </a:r>
            <a:r>
              <a:rPr lang="en-US" altLang="zh-CN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(){</a:t>
            </a:r>
          </a:p>
          <a:p>
            <a:pPr eaLnBrk="1" hangingPunct="1">
              <a:spcBef>
                <a:spcPct val="0"/>
              </a:spcBef>
            </a:pPr>
            <a:r>
              <a:rPr lang="en-US" altLang="zh-CN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  </a:t>
            </a:r>
            <a:r>
              <a:rPr lang="en-US" altLang="zh-CN" dirty="0" err="1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cout</a:t>
            </a:r>
            <a:r>
              <a:rPr lang="en-US" altLang="zh-CN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&lt;&lt;hour&lt;&lt;":"&lt;&lt;minute&lt;&lt;":"&lt;&lt;second&lt;&lt;</a:t>
            </a:r>
            <a:r>
              <a:rPr lang="en-US" altLang="zh-CN" dirty="0" err="1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endl</a:t>
            </a:r>
            <a:r>
              <a:rPr lang="en-US" altLang="zh-CN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;</a:t>
            </a:r>
          </a:p>
          <a:p>
            <a:pPr eaLnBrk="1" hangingPunct="1">
              <a:spcBef>
                <a:spcPct val="0"/>
              </a:spcBef>
            </a:pPr>
            <a:r>
              <a:rPr lang="en-US" altLang="zh-CN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}</a:t>
            </a:r>
          </a:p>
          <a:p>
            <a:pPr eaLnBrk="1" hangingPunct="1">
              <a:spcBef>
                <a:spcPct val="0"/>
              </a:spcBef>
            </a:pPr>
            <a:endParaRPr lang="en-US" altLang="zh-CN" dirty="0">
              <a:solidFill>
                <a:srgbClr val="FF0000"/>
              </a:solidFill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 eaLnBrk="1" hangingPunct="1">
              <a:spcBef>
                <a:spcPct val="0"/>
              </a:spcBef>
            </a:pPr>
            <a:r>
              <a:rPr lang="en-US" altLang="zh-CN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int main()</a:t>
            </a:r>
          </a:p>
          <a:p>
            <a:pPr eaLnBrk="1" hangingPunct="1">
              <a:spcBef>
                <a:spcPct val="0"/>
              </a:spcBef>
            </a:pPr>
            <a:r>
              <a:rPr lang="en-US" altLang="zh-CN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{	Clock  c1(1,1,1),;</a:t>
            </a:r>
          </a:p>
          <a:p>
            <a:pPr eaLnBrk="1" hangingPunct="1">
              <a:spcBef>
                <a:spcPct val="0"/>
              </a:spcBef>
            </a:pPr>
            <a:r>
              <a:rPr lang="en-US" altLang="zh-CN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//	c1.setTime(0,0,0);</a:t>
            </a:r>
          </a:p>
          <a:p>
            <a:pPr eaLnBrk="1" hangingPunct="1">
              <a:spcBef>
                <a:spcPct val="0"/>
              </a:spcBef>
            </a:pPr>
            <a:r>
              <a:rPr lang="en-US" altLang="zh-CN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//	c2.setTime(12,0,0);</a:t>
            </a:r>
          </a:p>
          <a:p>
            <a:pPr eaLnBrk="1" hangingPunct="1">
              <a:spcBef>
                <a:spcPct val="0"/>
              </a:spcBef>
            </a:pPr>
            <a:r>
              <a:rPr lang="en-US" altLang="zh-CN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	c1.showTime();</a:t>
            </a:r>
          </a:p>
          <a:p>
            <a:pPr eaLnBrk="1" hangingPunct="1">
              <a:spcBef>
                <a:spcPct val="0"/>
              </a:spcBef>
            </a:pPr>
            <a:r>
              <a:rPr lang="en-US" altLang="zh-CN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//	c2.showTime();</a:t>
            </a:r>
          </a:p>
          <a:p>
            <a:pPr eaLnBrk="1" hangingPunct="1">
              <a:spcBef>
                <a:spcPct val="0"/>
              </a:spcBef>
            </a:pPr>
            <a:r>
              <a:rPr lang="en-US" altLang="zh-CN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	return 0;</a:t>
            </a:r>
          </a:p>
          <a:p>
            <a:pPr eaLnBrk="1" hangingPunct="1">
              <a:spcBef>
                <a:spcPct val="0"/>
              </a:spcBef>
            </a:pPr>
            <a:r>
              <a:rPr lang="en-US" altLang="zh-CN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}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ABDA6A-29CD-4D28-B6EA-E8D4FFDF6043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943019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spcBef>
                <a:spcPct val="0"/>
              </a:spcBef>
            </a:pPr>
            <a:r>
              <a:rPr lang="en-US" altLang="zh-CN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#include&lt;iostream&gt;</a:t>
            </a:r>
          </a:p>
          <a:p>
            <a:pPr eaLnBrk="1" hangingPunct="1">
              <a:spcBef>
                <a:spcPct val="0"/>
              </a:spcBef>
            </a:pPr>
            <a:r>
              <a:rPr lang="en-US" altLang="zh-CN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#include &lt;</a:t>
            </a:r>
            <a:r>
              <a:rPr lang="en-US" altLang="zh-CN" dirty="0" err="1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fstream</a:t>
            </a:r>
            <a:r>
              <a:rPr lang="en-US" altLang="zh-CN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&gt;</a:t>
            </a:r>
          </a:p>
          <a:p>
            <a:pPr eaLnBrk="1" hangingPunct="1">
              <a:spcBef>
                <a:spcPct val="0"/>
              </a:spcBef>
            </a:pPr>
            <a:r>
              <a:rPr lang="en-US" altLang="zh-CN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#include &lt;</a:t>
            </a:r>
            <a:r>
              <a:rPr lang="en-US" altLang="zh-CN" dirty="0" err="1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stdlib.h</a:t>
            </a:r>
            <a:r>
              <a:rPr lang="en-US" altLang="zh-CN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&gt;</a:t>
            </a:r>
          </a:p>
          <a:p>
            <a:pPr eaLnBrk="1" hangingPunct="1">
              <a:spcBef>
                <a:spcPct val="0"/>
              </a:spcBef>
            </a:pPr>
            <a:r>
              <a:rPr lang="en-US" altLang="zh-CN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using namespace std;</a:t>
            </a:r>
          </a:p>
          <a:p>
            <a:pPr eaLnBrk="1" hangingPunct="1">
              <a:spcBef>
                <a:spcPct val="0"/>
              </a:spcBef>
            </a:pPr>
            <a:endParaRPr lang="en-US" altLang="zh-CN" dirty="0">
              <a:solidFill>
                <a:srgbClr val="FF0000"/>
              </a:solidFill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 eaLnBrk="1" hangingPunct="1">
              <a:spcBef>
                <a:spcPct val="0"/>
              </a:spcBef>
            </a:pPr>
            <a:r>
              <a:rPr lang="en-US" altLang="zh-CN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class Clock{</a:t>
            </a:r>
          </a:p>
          <a:p>
            <a:pPr eaLnBrk="1" hangingPunct="1">
              <a:spcBef>
                <a:spcPct val="0"/>
              </a:spcBef>
            </a:pPr>
            <a:r>
              <a:rPr lang="en-US" altLang="zh-CN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public: </a:t>
            </a:r>
          </a:p>
          <a:p>
            <a:pPr eaLnBrk="1" hangingPunct="1">
              <a:spcBef>
                <a:spcPct val="0"/>
              </a:spcBef>
            </a:pPr>
            <a:r>
              <a:rPr lang="en-US" altLang="zh-CN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    void </a:t>
            </a:r>
            <a:r>
              <a:rPr lang="en-US" altLang="zh-CN" dirty="0" err="1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setTime</a:t>
            </a:r>
            <a:r>
              <a:rPr lang="en-US" altLang="zh-CN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(int </a:t>
            </a:r>
            <a:r>
              <a:rPr lang="en-US" altLang="zh-CN" dirty="0" err="1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newH</a:t>
            </a:r>
            <a:r>
              <a:rPr lang="en-US" altLang="zh-CN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, int </a:t>
            </a:r>
            <a:r>
              <a:rPr lang="en-US" altLang="zh-CN" dirty="0" err="1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newM</a:t>
            </a:r>
            <a:r>
              <a:rPr lang="en-US" altLang="zh-CN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, int </a:t>
            </a:r>
            <a:r>
              <a:rPr lang="en-US" altLang="zh-CN" dirty="0" err="1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newS</a:t>
            </a:r>
            <a:r>
              <a:rPr lang="en-US" altLang="zh-CN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);</a:t>
            </a:r>
          </a:p>
          <a:p>
            <a:pPr eaLnBrk="1" hangingPunct="1">
              <a:spcBef>
                <a:spcPct val="0"/>
              </a:spcBef>
            </a:pPr>
            <a:r>
              <a:rPr lang="en-US" altLang="zh-CN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    void </a:t>
            </a:r>
            <a:r>
              <a:rPr lang="en-US" altLang="zh-CN" dirty="0" err="1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showTime</a:t>
            </a:r>
            <a:r>
              <a:rPr lang="en-US" altLang="zh-CN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();</a:t>
            </a:r>
          </a:p>
          <a:p>
            <a:pPr eaLnBrk="1" hangingPunct="1">
              <a:spcBef>
                <a:spcPct val="0"/>
              </a:spcBef>
            </a:pPr>
            <a:r>
              <a:rPr lang="en-US" altLang="zh-CN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    Clock(int </a:t>
            </a:r>
            <a:r>
              <a:rPr lang="en-US" altLang="zh-CN" dirty="0" err="1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newH</a:t>
            </a:r>
            <a:r>
              <a:rPr lang="en-US" altLang="zh-CN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, int </a:t>
            </a:r>
            <a:r>
              <a:rPr lang="en-US" altLang="zh-CN" dirty="0" err="1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newMe</a:t>
            </a:r>
            <a:r>
              <a:rPr lang="en-US" altLang="zh-CN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, int </a:t>
            </a:r>
            <a:r>
              <a:rPr lang="en-US" altLang="zh-CN" dirty="0" err="1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newS</a:t>
            </a:r>
            <a:r>
              <a:rPr lang="en-US" altLang="zh-CN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);</a:t>
            </a:r>
          </a:p>
          <a:p>
            <a:pPr eaLnBrk="1" hangingPunct="1">
              <a:spcBef>
                <a:spcPct val="0"/>
              </a:spcBef>
            </a:pPr>
            <a:r>
              <a:rPr lang="en-US" altLang="zh-CN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private:</a:t>
            </a:r>
          </a:p>
          <a:p>
            <a:pPr eaLnBrk="1" hangingPunct="1">
              <a:spcBef>
                <a:spcPct val="0"/>
              </a:spcBef>
            </a:pPr>
            <a:r>
              <a:rPr lang="en-US" altLang="zh-CN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    int hour, minute, second;</a:t>
            </a:r>
          </a:p>
          <a:p>
            <a:pPr eaLnBrk="1" hangingPunct="1">
              <a:spcBef>
                <a:spcPct val="0"/>
              </a:spcBef>
            </a:pPr>
            <a:r>
              <a:rPr lang="en-US" altLang="zh-CN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};</a:t>
            </a:r>
          </a:p>
          <a:p>
            <a:pPr eaLnBrk="1" hangingPunct="1">
              <a:spcBef>
                <a:spcPct val="0"/>
              </a:spcBef>
            </a:pPr>
            <a:endParaRPr lang="en-US" altLang="zh-CN" dirty="0">
              <a:solidFill>
                <a:srgbClr val="FF0000"/>
              </a:solidFill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 eaLnBrk="1" hangingPunct="1">
              <a:spcBef>
                <a:spcPct val="0"/>
              </a:spcBef>
            </a:pPr>
            <a:r>
              <a:rPr lang="en-US" altLang="zh-CN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Clock:: Clock(int </a:t>
            </a:r>
            <a:r>
              <a:rPr lang="en-US" altLang="zh-CN" dirty="0" err="1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newH</a:t>
            </a:r>
            <a:r>
              <a:rPr lang="en-US" altLang="zh-CN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, int </a:t>
            </a:r>
            <a:r>
              <a:rPr lang="en-US" altLang="zh-CN" dirty="0" err="1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newM</a:t>
            </a:r>
            <a:r>
              <a:rPr lang="en-US" altLang="zh-CN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, int </a:t>
            </a:r>
            <a:r>
              <a:rPr lang="en-US" altLang="zh-CN" dirty="0" err="1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newS</a:t>
            </a:r>
            <a:r>
              <a:rPr lang="en-US" altLang="zh-CN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){</a:t>
            </a:r>
          </a:p>
          <a:p>
            <a:pPr eaLnBrk="1" hangingPunct="1">
              <a:spcBef>
                <a:spcPct val="0"/>
              </a:spcBef>
            </a:pPr>
            <a:r>
              <a:rPr lang="en-US" altLang="zh-CN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    hour = </a:t>
            </a:r>
            <a:r>
              <a:rPr lang="en-US" altLang="zh-CN" dirty="0" err="1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newH</a:t>
            </a:r>
            <a:r>
              <a:rPr lang="en-US" altLang="zh-CN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;     </a:t>
            </a:r>
          </a:p>
          <a:p>
            <a:pPr eaLnBrk="1" hangingPunct="1">
              <a:spcBef>
                <a:spcPct val="0"/>
              </a:spcBef>
            </a:pPr>
            <a:r>
              <a:rPr lang="en-US" altLang="zh-CN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    minute = </a:t>
            </a:r>
            <a:r>
              <a:rPr lang="en-US" altLang="zh-CN" dirty="0" err="1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newM</a:t>
            </a:r>
            <a:r>
              <a:rPr lang="en-US" altLang="zh-CN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;  </a:t>
            </a:r>
          </a:p>
          <a:p>
            <a:pPr eaLnBrk="1" hangingPunct="1">
              <a:spcBef>
                <a:spcPct val="0"/>
              </a:spcBef>
            </a:pPr>
            <a:r>
              <a:rPr lang="en-US" altLang="zh-CN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    second = </a:t>
            </a:r>
            <a:r>
              <a:rPr lang="en-US" altLang="zh-CN" dirty="0" err="1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newS</a:t>
            </a:r>
            <a:r>
              <a:rPr lang="en-US" altLang="zh-CN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;</a:t>
            </a:r>
          </a:p>
          <a:p>
            <a:pPr eaLnBrk="1" hangingPunct="1">
              <a:spcBef>
                <a:spcPct val="0"/>
              </a:spcBef>
            </a:pPr>
            <a:r>
              <a:rPr lang="en-US" altLang="zh-CN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}</a:t>
            </a:r>
          </a:p>
          <a:p>
            <a:pPr eaLnBrk="1" hangingPunct="1">
              <a:spcBef>
                <a:spcPct val="0"/>
              </a:spcBef>
            </a:pPr>
            <a:endParaRPr lang="en-US" altLang="zh-CN" dirty="0">
              <a:solidFill>
                <a:srgbClr val="FF0000"/>
              </a:solidFill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 eaLnBrk="1" hangingPunct="1">
              <a:spcBef>
                <a:spcPct val="0"/>
              </a:spcBef>
            </a:pPr>
            <a:endParaRPr lang="en-US" altLang="zh-CN" dirty="0">
              <a:solidFill>
                <a:srgbClr val="FF0000"/>
              </a:solidFill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 eaLnBrk="1" hangingPunct="1">
              <a:spcBef>
                <a:spcPct val="0"/>
              </a:spcBef>
            </a:pPr>
            <a:r>
              <a:rPr lang="en-US" altLang="zh-CN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void Clock::</a:t>
            </a:r>
            <a:r>
              <a:rPr lang="en-US" altLang="zh-CN" dirty="0" err="1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setTime</a:t>
            </a:r>
            <a:r>
              <a:rPr lang="en-US" altLang="zh-CN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(int </a:t>
            </a:r>
            <a:r>
              <a:rPr lang="en-US" altLang="zh-CN" dirty="0" err="1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newH</a:t>
            </a:r>
            <a:r>
              <a:rPr lang="en-US" altLang="zh-CN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, int </a:t>
            </a:r>
            <a:r>
              <a:rPr lang="en-US" altLang="zh-CN" dirty="0" err="1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newM</a:t>
            </a:r>
            <a:r>
              <a:rPr lang="en-US" altLang="zh-CN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, int </a:t>
            </a:r>
            <a:r>
              <a:rPr lang="en-US" altLang="zh-CN" dirty="0" err="1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newS</a:t>
            </a:r>
            <a:r>
              <a:rPr lang="en-US" altLang="zh-CN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){</a:t>
            </a:r>
          </a:p>
          <a:p>
            <a:pPr eaLnBrk="1" hangingPunct="1">
              <a:spcBef>
                <a:spcPct val="0"/>
              </a:spcBef>
            </a:pPr>
            <a:r>
              <a:rPr lang="en-US" altLang="zh-CN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    hour = </a:t>
            </a:r>
            <a:r>
              <a:rPr lang="en-US" altLang="zh-CN" dirty="0" err="1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newH</a:t>
            </a:r>
            <a:r>
              <a:rPr lang="en-US" altLang="zh-CN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;     </a:t>
            </a:r>
          </a:p>
          <a:p>
            <a:pPr eaLnBrk="1" hangingPunct="1">
              <a:spcBef>
                <a:spcPct val="0"/>
              </a:spcBef>
            </a:pPr>
            <a:r>
              <a:rPr lang="en-US" altLang="zh-CN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    minute = </a:t>
            </a:r>
            <a:r>
              <a:rPr lang="en-US" altLang="zh-CN" dirty="0" err="1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newM</a:t>
            </a:r>
            <a:r>
              <a:rPr lang="en-US" altLang="zh-CN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;  </a:t>
            </a:r>
          </a:p>
          <a:p>
            <a:pPr eaLnBrk="1" hangingPunct="1">
              <a:spcBef>
                <a:spcPct val="0"/>
              </a:spcBef>
            </a:pPr>
            <a:r>
              <a:rPr lang="en-US" altLang="zh-CN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    second = </a:t>
            </a:r>
            <a:r>
              <a:rPr lang="en-US" altLang="zh-CN" dirty="0" err="1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newS</a:t>
            </a:r>
            <a:r>
              <a:rPr lang="en-US" altLang="zh-CN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;</a:t>
            </a:r>
          </a:p>
          <a:p>
            <a:pPr eaLnBrk="1" hangingPunct="1">
              <a:spcBef>
                <a:spcPct val="0"/>
              </a:spcBef>
            </a:pPr>
            <a:r>
              <a:rPr lang="en-US" altLang="zh-CN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}</a:t>
            </a:r>
          </a:p>
          <a:p>
            <a:pPr eaLnBrk="1" hangingPunct="1">
              <a:spcBef>
                <a:spcPct val="0"/>
              </a:spcBef>
            </a:pPr>
            <a:endParaRPr lang="en-US" altLang="zh-CN" dirty="0">
              <a:solidFill>
                <a:srgbClr val="FF0000"/>
              </a:solidFill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 eaLnBrk="1" hangingPunct="1">
              <a:spcBef>
                <a:spcPct val="0"/>
              </a:spcBef>
            </a:pPr>
            <a:r>
              <a:rPr lang="en-US" altLang="zh-CN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void Clock::</a:t>
            </a:r>
            <a:r>
              <a:rPr lang="en-US" altLang="zh-CN" dirty="0" err="1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showTime</a:t>
            </a:r>
            <a:r>
              <a:rPr lang="en-US" altLang="zh-CN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(){</a:t>
            </a:r>
          </a:p>
          <a:p>
            <a:pPr eaLnBrk="1" hangingPunct="1">
              <a:spcBef>
                <a:spcPct val="0"/>
              </a:spcBef>
            </a:pPr>
            <a:r>
              <a:rPr lang="en-US" altLang="zh-CN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  </a:t>
            </a:r>
            <a:r>
              <a:rPr lang="en-US" altLang="zh-CN" dirty="0" err="1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cout</a:t>
            </a:r>
            <a:r>
              <a:rPr lang="en-US" altLang="zh-CN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&lt;&lt;hour&lt;&lt;":"&lt;&lt;minute&lt;&lt;":"&lt;&lt;second&lt;&lt;</a:t>
            </a:r>
            <a:r>
              <a:rPr lang="en-US" altLang="zh-CN" dirty="0" err="1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endl</a:t>
            </a:r>
            <a:r>
              <a:rPr lang="en-US" altLang="zh-CN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;</a:t>
            </a:r>
          </a:p>
          <a:p>
            <a:pPr eaLnBrk="1" hangingPunct="1">
              <a:spcBef>
                <a:spcPct val="0"/>
              </a:spcBef>
            </a:pPr>
            <a:r>
              <a:rPr lang="en-US" altLang="zh-CN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}</a:t>
            </a:r>
          </a:p>
          <a:p>
            <a:pPr eaLnBrk="1" hangingPunct="1">
              <a:spcBef>
                <a:spcPct val="0"/>
              </a:spcBef>
            </a:pPr>
            <a:endParaRPr lang="en-US" altLang="zh-CN" dirty="0">
              <a:solidFill>
                <a:srgbClr val="FF0000"/>
              </a:solidFill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 eaLnBrk="1" hangingPunct="1">
              <a:spcBef>
                <a:spcPct val="0"/>
              </a:spcBef>
            </a:pPr>
            <a:r>
              <a:rPr lang="en-US" altLang="zh-CN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int main()</a:t>
            </a:r>
          </a:p>
          <a:p>
            <a:pPr eaLnBrk="1" hangingPunct="1">
              <a:spcBef>
                <a:spcPct val="0"/>
              </a:spcBef>
            </a:pPr>
            <a:r>
              <a:rPr lang="en-US" altLang="zh-CN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{	Clock  c1(1,1,1),;</a:t>
            </a:r>
          </a:p>
          <a:p>
            <a:pPr eaLnBrk="1" hangingPunct="1">
              <a:spcBef>
                <a:spcPct val="0"/>
              </a:spcBef>
            </a:pPr>
            <a:r>
              <a:rPr lang="en-US" altLang="zh-CN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//	c1.setTime(0,0,0);</a:t>
            </a:r>
          </a:p>
          <a:p>
            <a:pPr eaLnBrk="1" hangingPunct="1">
              <a:spcBef>
                <a:spcPct val="0"/>
              </a:spcBef>
            </a:pPr>
            <a:r>
              <a:rPr lang="en-US" altLang="zh-CN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//	c2.setTime(12,0,0);</a:t>
            </a:r>
          </a:p>
          <a:p>
            <a:pPr eaLnBrk="1" hangingPunct="1">
              <a:spcBef>
                <a:spcPct val="0"/>
              </a:spcBef>
            </a:pPr>
            <a:r>
              <a:rPr lang="en-US" altLang="zh-CN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	c1.showTime();</a:t>
            </a:r>
          </a:p>
          <a:p>
            <a:pPr eaLnBrk="1" hangingPunct="1">
              <a:spcBef>
                <a:spcPct val="0"/>
              </a:spcBef>
            </a:pPr>
            <a:r>
              <a:rPr lang="en-US" altLang="zh-CN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//	c2.showTime();</a:t>
            </a:r>
          </a:p>
          <a:p>
            <a:pPr eaLnBrk="1" hangingPunct="1">
              <a:spcBef>
                <a:spcPct val="0"/>
              </a:spcBef>
            </a:pPr>
            <a:r>
              <a:rPr lang="en-US" altLang="zh-CN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	return 0;</a:t>
            </a:r>
          </a:p>
          <a:p>
            <a:pPr eaLnBrk="1" hangingPunct="1">
              <a:spcBef>
                <a:spcPct val="0"/>
              </a:spcBef>
            </a:pPr>
            <a:r>
              <a:rPr lang="en-US" altLang="zh-CN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}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ABDA6A-29CD-4D28-B6EA-E8D4FFDF6043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3073021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ABDA6A-29CD-4D28-B6EA-E8D4FFDF6043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1791659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ABDA6A-29CD-4D28-B6EA-E8D4FFDF6043}" type="slidenum">
              <a:rPr lang="zh-CN" altLang="en-US" smtClean="0"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8691778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ABDA6A-29CD-4D28-B6EA-E8D4FFDF6043}" type="slidenum">
              <a:rPr lang="zh-CN" altLang="en-US" smtClean="0"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6345678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542CD2-D50E-ECF7-C0A9-2335DB2A63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DF79EE5-039A-5463-53D5-C8ABEF2D948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958FD49-F844-5E03-420A-9B66DFB2B6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#include &lt;iostream&gt;</a:t>
            </a:r>
          </a:p>
          <a:p>
            <a:r>
              <a:rPr lang="en-US" altLang="zh-CN" dirty="0"/>
              <a:t>#include &lt;</a:t>
            </a:r>
            <a:r>
              <a:rPr lang="en-US" altLang="zh-CN" dirty="0" err="1"/>
              <a:t>cmath</a:t>
            </a:r>
            <a:r>
              <a:rPr lang="en-US" altLang="zh-CN" dirty="0"/>
              <a:t>&gt;</a:t>
            </a:r>
          </a:p>
          <a:p>
            <a:r>
              <a:rPr lang="en-US" altLang="zh-CN" dirty="0"/>
              <a:t>using namespace std;</a:t>
            </a:r>
          </a:p>
          <a:p>
            <a:endParaRPr lang="en-US" altLang="zh-CN" dirty="0"/>
          </a:p>
          <a:p>
            <a:r>
              <a:rPr lang="en-US" altLang="zh-CN" dirty="0"/>
              <a:t>class Point {</a:t>
            </a:r>
          </a:p>
          <a:p>
            <a:r>
              <a:rPr lang="en-US" altLang="zh-CN" dirty="0"/>
              <a:t>public: Point(int xx=0, int </a:t>
            </a:r>
            <a:r>
              <a:rPr lang="en-US" altLang="zh-CN" dirty="0" err="1"/>
              <a:t>yy</a:t>
            </a:r>
            <a:r>
              <a:rPr lang="en-US" altLang="zh-CN" dirty="0"/>
              <a:t>=0);   </a:t>
            </a:r>
          </a:p>
          <a:p>
            <a:r>
              <a:rPr lang="en-US" altLang="zh-CN" dirty="0"/>
              <a:t>  	    Point(Point &amp;p);</a:t>
            </a:r>
          </a:p>
          <a:p>
            <a:r>
              <a:rPr lang="en-US" altLang="zh-CN" dirty="0"/>
              <a:t>		void </a:t>
            </a:r>
            <a:r>
              <a:rPr lang="en-US" altLang="zh-CN" dirty="0" err="1"/>
              <a:t>setXY</a:t>
            </a:r>
            <a:r>
              <a:rPr lang="en-US" altLang="zh-CN" dirty="0"/>
              <a:t>(int xx , int </a:t>
            </a:r>
            <a:r>
              <a:rPr lang="en-US" altLang="zh-CN" dirty="0" err="1"/>
              <a:t>yy</a:t>
            </a:r>
            <a:r>
              <a:rPr lang="en-US" altLang="zh-CN" dirty="0"/>
              <a:t>){x=xx; y=</a:t>
            </a:r>
            <a:r>
              <a:rPr lang="en-US" altLang="zh-CN" dirty="0" err="1"/>
              <a:t>yy</a:t>
            </a:r>
            <a:r>
              <a:rPr lang="en-US" altLang="zh-CN" dirty="0"/>
              <a:t>;};</a:t>
            </a:r>
          </a:p>
          <a:p>
            <a:r>
              <a:rPr lang="en-US" altLang="zh-CN" dirty="0"/>
              <a:t>		int </a:t>
            </a:r>
            <a:r>
              <a:rPr lang="en-US" altLang="zh-CN" dirty="0" err="1"/>
              <a:t>getX</a:t>
            </a:r>
            <a:r>
              <a:rPr lang="en-US" altLang="zh-CN" dirty="0"/>
              <a:t>() { return x; }</a:t>
            </a:r>
          </a:p>
          <a:p>
            <a:r>
              <a:rPr lang="en-US" altLang="zh-CN" dirty="0"/>
              <a:t>		int </a:t>
            </a:r>
            <a:r>
              <a:rPr lang="en-US" altLang="zh-CN" dirty="0" err="1"/>
              <a:t>getY</a:t>
            </a:r>
            <a:r>
              <a:rPr lang="en-US" altLang="zh-CN" dirty="0"/>
              <a:t>() { return y; }</a:t>
            </a:r>
          </a:p>
          <a:p>
            <a:r>
              <a:rPr lang="en-US" altLang="zh-CN" dirty="0"/>
              <a:t>private:  int x, y;</a:t>
            </a:r>
          </a:p>
          <a:p>
            <a:r>
              <a:rPr lang="en-US" altLang="zh-CN" dirty="0"/>
              <a:t>};</a:t>
            </a:r>
          </a:p>
          <a:p>
            <a:endParaRPr lang="en-US" altLang="zh-CN" dirty="0"/>
          </a:p>
          <a:p>
            <a:r>
              <a:rPr lang="en-US" altLang="zh-CN" dirty="0"/>
              <a:t>Point::Point(int xx, int </a:t>
            </a:r>
            <a:r>
              <a:rPr lang="en-US" altLang="zh-CN" dirty="0" err="1"/>
              <a:t>yy</a:t>
            </a:r>
            <a:r>
              <a:rPr lang="en-US" altLang="zh-CN" dirty="0"/>
              <a:t>){</a:t>
            </a:r>
          </a:p>
          <a:p>
            <a:r>
              <a:rPr lang="en-US" altLang="zh-CN" dirty="0"/>
              <a:t>	x = xx; </a:t>
            </a:r>
          </a:p>
          <a:p>
            <a:r>
              <a:rPr lang="en-US" altLang="zh-CN" dirty="0"/>
              <a:t>	y = </a:t>
            </a:r>
            <a:r>
              <a:rPr lang="en-US" altLang="zh-CN" dirty="0" err="1"/>
              <a:t>yy</a:t>
            </a:r>
            <a:r>
              <a:rPr lang="en-US" altLang="zh-CN" dirty="0"/>
              <a:t>;</a:t>
            </a:r>
          </a:p>
          <a:p>
            <a:r>
              <a:rPr lang="en-US" altLang="zh-CN" dirty="0"/>
              <a:t>	</a:t>
            </a:r>
            <a:r>
              <a:rPr lang="en-US" altLang="zh-CN" dirty="0" err="1"/>
              <a:t>cout</a:t>
            </a:r>
            <a:r>
              <a:rPr lang="en-US" altLang="zh-CN" dirty="0"/>
              <a:t> &lt;&lt; "Calling constructor of Point\n" ;</a:t>
            </a:r>
          </a:p>
          <a:p>
            <a:r>
              <a:rPr lang="en-US" altLang="zh-CN" dirty="0"/>
              <a:t>}</a:t>
            </a:r>
          </a:p>
          <a:p>
            <a:r>
              <a:rPr lang="en-US" altLang="zh-CN" dirty="0"/>
              <a:t>Point::Point(Point &amp;p) {</a:t>
            </a:r>
          </a:p>
          <a:p>
            <a:r>
              <a:rPr lang="en-US" altLang="zh-CN" dirty="0"/>
              <a:t>	x = </a:t>
            </a:r>
            <a:r>
              <a:rPr lang="en-US" altLang="zh-CN" dirty="0" err="1"/>
              <a:t>p.x</a:t>
            </a:r>
            <a:r>
              <a:rPr lang="en-US" altLang="zh-CN" dirty="0"/>
              <a:t>; </a:t>
            </a:r>
          </a:p>
          <a:p>
            <a:r>
              <a:rPr lang="en-US" altLang="zh-CN" dirty="0"/>
              <a:t>	y = </a:t>
            </a:r>
            <a:r>
              <a:rPr lang="en-US" altLang="zh-CN" dirty="0" err="1"/>
              <a:t>p.y</a:t>
            </a:r>
            <a:r>
              <a:rPr lang="en-US" altLang="zh-CN" dirty="0"/>
              <a:t>;</a:t>
            </a:r>
          </a:p>
          <a:p>
            <a:r>
              <a:rPr lang="en-US" altLang="zh-CN" dirty="0"/>
              <a:t>	</a:t>
            </a:r>
            <a:r>
              <a:rPr lang="en-US" altLang="zh-CN" dirty="0" err="1"/>
              <a:t>cout</a:t>
            </a:r>
            <a:r>
              <a:rPr lang="en-US" altLang="zh-CN" dirty="0"/>
              <a:t> &lt;&lt; "Calling copy constructor of Point\n" ;</a:t>
            </a:r>
          </a:p>
          <a:p>
            <a:r>
              <a:rPr lang="en-US" altLang="zh-CN" dirty="0"/>
              <a:t>}</a:t>
            </a:r>
          </a:p>
          <a:p>
            <a:r>
              <a:rPr lang="en-US" altLang="zh-CN" dirty="0"/>
              <a:t>void Point::</a:t>
            </a:r>
            <a:r>
              <a:rPr lang="en-US" altLang="zh-CN" dirty="0" err="1"/>
              <a:t>setXY</a:t>
            </a:r>
            <a:r>
              <a:rPr lang="en-US" altLang="zh-CN" dirty="0"/>
              <a:t>(int xx , int </a:t>
            </a:r>
            <a:r>
              <a:rPr lang="en-US" altLang="zh-CN" dirty="0" err="1"/>
              <a:t>yy</a:t>
            </a:r>
            <a:r>
              <a:rPr lang="en-US" altLang="zh-CN" dirty="0"/>
              <a:t>) {x=xx; y=</a:t>
            </a:r>
            <a:r>
              <a:rPr lang="en-US" altLang="zh-CN" dirty="0" err="1"/>
              <a:t>yy</a:t>
            </a:r>
            <a:r>
              <a:rPr lang="en-US" altLang="zh-CN" dirty="0"/>
              <a:t>;}</a:t>
            </a:r>
          </a:p>
          <a:p>
            <a:endParaRPr lang="en-US" altLang="zh-CN" dirty="0"/>
          </a:p>
          <a:p>
            <a:r>
              <a:rPr lang="en-US" altLang="zh-CN" dirty="0"/>
              <a:t>class Line {</a:t>
            </a:r>
          </a:p>
          <a:p>
            <a:r>
              <a:rPr lang="en-US" altLang="zh-CN" dirty="0"/>
              <a:t>public: Line(Point xp1, Point xp2);</a:t>
            </a:r>
          </a:p>
          <a:p>
            <a:r>
              <a:rPr lang="en-US" altLang="zh-CN" dirty="0"/>
              <a:t>	    Line(Line &amp;</a:t>
            </a:r>
            <a:r>
              <a:rPr lang="en-US" altLang="zh-CN" dirty="0" err="1"/>
              <a:t>lin</a:t>
            </a:r>
            <a:r>
              <a:rPr lang="en-US" altLang="zh-CN" dirty="0"/>
              <a:t>);</a:t>
            </a:r>
          </a:p>
          <a:p>
            <a:r>
              <a:rPr lang="en-US" altLang="zh-CN" dirty="0"/>
              <a:t>	    double </a:t>
            </a:r>
            <a:r>
              <a:rPr lang="en-US" altLang="zh-CN" dirty="0" err="1"/>
              <a:t>getLen</a:t>
            </a:r>
            <a:r>
              <a:rPr lang="en-US" altLang="zh-CN" dirty="0"/>
              <a:t>(); </a:t>
            </a:r>
          </a:p>
          <a:p>
            <a:r>
              <a:rPr lang="en-US" altLang="zh-CN" dirty="0"/>
              <a:t>private: Point p1, p2;</a:t>
            </a:r>
          </a:p>
          <a:p>
            <a:r>
              <a:rPr lang="en-US" altLang="zh-CN" dirty="0"/>
              <a:t>};</a:t>
            </a:r>
          </a:p>
          <a:p>
            <a:endParaRPr lang="en-US" altLang="zh-CN" dirty="0"/>
          </a:p>
          <a:p>
            <a:r>
              <a:rPr lang="en-US" altLang="zh-CN" dirty="0"/>
              <a:t>Line::Line(Point xp1, Point xp2) : p1(xp1), p2(xp2){</a:t>
            </a:r>
          </a:p>
          <a:p>
            <a:r>
              <a:rPr lang="en-US" altLang="zh-CN" dirty="0"/>
              <a:t>	</a:t>
            </a:r>
            <a:r>
              <a:rPr lang="en-US" altLang="zh-CN" dirty="0" err="1"/>
              <a:t>cout</a:t>
            </a:r>
            <a:r>
              <a:rPr lang="en-US" altLang="zh-CN" dirty="0"/>
              <a:t> &lt;&lt; "Calling constructor of Line\n" ;</a:t>
            </a:r>
          </a:p>
          <a:p>
            <a:r>
              <a:rPr lang="en-US" altLang="zh-CN" dirty="0"/>
              <a:t>}</a:t>
            </a:r>
          </a:p>
          <a:p>
            <a:r>
              <a:rPr lang="en-US" altLang="zh-CN" dirty="0"/>
              <a:t>Line::Line (Line &amp;</a:t>
            </a:r>
            <a:r>
              <a:rPr lang="en-US" altLang="zh-CN" dirty="0" err="1"/>
              <a:t>lin</a:t>
            </a:r>
            <a:r>
              <a:rPr lang="en-US" altLang="zh-CN" dirty="0"/>
              <a:t>): p1(lin.p1), p2(lin.p2) {</a:t>
            </a:r>
          </a:p>
          <a:p>
            <a:r>
              <a:rPr lang="en-US" altLang="zh-CN" dirty="0"/>
              <a:t>	</a:t>
            </a:r>
            <a:r>
              <a:rPr lang="en-US" altLang="zh-CN" dirty="0" err="1"/>
              <a:t>cout</a:t>
            </a:r>
            <a:r>
              <a:rPr lang="en-US" altLang="zh-CN" dirty="0"/>
              <a:t> &lt;&lt; "Calling copy constructor of Line\n" ;</a:t>
            </a:r>
          </a:p>
          <a:p>
            <a:r>
              <a:rPr lang="en-US" altLang="zh-CN" dirty="0"/>
              <a:t>}</a:t>
            </a:r>
          </a:p>
          <a:p>
            <a:endParaRPr lang="en-US" altLang="zh-CN" dirty="0"/>
          </a:p>
          <a:p>
            <a:r>
              <a:rPr lang="en-US" altLang="zh-CN" dirty="0"/>
              <a:t>double Line::</a:t>
            </a:r>
            <a:r>
              <a:rPr lang="en-US" altLang="zh-CN" dirty="0" err="1"/>
              <a:t>getLen</a:t>
            </a:r>
            <a:r>
              <a:rPr lang="en-US" altLang="zh-CN" dirty="0"/>
              <a:t>(){</a:t>
            </a:r>
          </a:p>
          <a:p>
            <a:r>
              <a:rPr lang="en-US" altLang="zh-CN" dirty="0"/>
              <a:t>	double x = p1.getX() - p2.getX();</a:t>
            </a:r>
          </a:p>
          <a:p>
            <a:r>
              <a:rPr lang="en-US" altLang="zh-CN" dirty="0"/>
              <a:t>	double y = p1.getY() - p2.getY();</a:t>
            </a:r>
          </a:p>
          <a:p>
            <a:r>
              <a:rPr lang="en-US" altLang="zh-CN" dirty="0"/>
              <a:t>	double </a:t>
            </a:r>
            <a:r>
              <a:rPr lang="en-US" altLang="zh-CN" dirty="0" err="1"/>
              <a:t>len</a:t>
            </a:r>
            <a:r>
              <a:rPr lang="en-US" altLang="zh-CN" dirty="0"/>
              <a:t> = sqrt(x * x + y * y);</a:t>
            </a:r>
          </a:p>
          <a:p>
            <a:r>
              <a:rPr lang="en-US" altLang="zh-CN" dirty="0"/>
              <a:t>	return </a:t>
            </a:r>
            <a:r>
              <a:rPr lang="en-US" altLang="zh-CN" dirty="0" err="1"/>
              <a:t>len</a:t>
            </a:r>
            <a:r>
              <a:rPr lang="en-US" altLang="zh-CN" dirty="0"/>
              <a:t>;</a:t>
            </a:r>
          </a:p>
          <a:p>
            <a:r>
              <a:rPr lang="en-US" altLang="zh-CN" dirty="0"/>
              <a:t>}</a:t>
            </a:r>
          </a:p>
          <a:p>
            <a:endParaRPr lang="en-US" altLang="zh-CN" dirty="0"/>
          </a:p>
          <a:p>
            <a:r>
              <a:rPr lang="en-US" altLang="zh-CN" dirty="0"/>
              <a:t>int main ()</a:t>
            </a:r>
          </a:p>
          <a:p>
            <a:r>
              <a:rPr lang="en-US" altLang="zh-CN" dirty="0"/>
              <a:t>{</a:t>
            </a:r>
          </a:p>
          <a:p>
            <a:r>
              <a:rPr lang="en-US" altLang="zh-CN" dirty="0"/>
              <a:t>  	Point myp1(1, 1), myp2(4, 5);</a:t>
            </a:r>
          </a:p>
          <a:p>
            <a:r>
              <a:rPr lang="en-US" altLang="zh-CN" dirty="0"/>
              <a:t>	Line line(myp1, myp2);</a:t>
            </a:r>
          </a:p>
          <a:p>
            <a:r>
              <a:rPr lang="en-US" altLang="zh-CN" dirty="0"/>
              <a:t>	Line line2(line);	</a:t>
            </a:r>
          </a:p>
          <a:p>
            <a:r>
              <a:rPr lang="en-US" altLang="zh-CN" dirty="0"/>
              <a:t>	</a:t>
            </a:r>
            <a:r>
              <a:rPr lang="en-US" altLang="zh-CN" dirty="0" err="1"/>
              <a:t>cout</a:t>
            </a:r>
            <a:r>
              <a:rPr lang="en-US" altLang="zh-CN" dirty="0"/>
              <a:t> &lt;&lt; "The length of the line is: ";</a:t>
            </a:r>
          </a:p>
          <a:p>
            <a:r>
              <a:rPr lang="en-US" altLang="zh-CN" dirty="0"/>
              <a:t>	</a:t>
            </a:r>
            <a:r>
              <a:rPr lang="en-US" altLang="zh-CN" dirty="0" err="1"/>
              <a:t>cout</a:t>
            </a:r>
            <a:r>
              <a:rPr lang="en-US" altLang="zh-CN" dirty="0"/>
              <a:t> &lt;&lt; </a:t>
            </a:r>
            <a:r>
              <a:rPr lang="en-US" altLang="zh-CN" dirty="0" err="1"/>
              <a:t>line.getLen</a:t>
            </a:r>
            <a:r>
              <a:rPr lang="en-US" altLang="zh-CN" dirty="0"/>
              <a:t>() &lt;&lt;'\n';</a:t>
            </a:r>
          </a:p>
          <a:p>
            <a:r>
              <a:rPr lang="en-US" altLang="zh-CN" dirty="0"/>
              <a:t>	</a:t>
            </a:r>
            <a:r>
              <a:rPr lang="en-US" altLang="zh-CN" dirty="0" err="1"/>
              <a:t>cout</a:t>
            </a:r>
            <a:r>
              <a:rPr lang="en-US" altLang="zh-CN" dirty="0"/>
              <a:t> &lt;&lt; "The length of the line2 is: ";</a:t>
            </a:r>
          </a:p>
          <a:p>
            <a:r>
              <a:rPr lang="en-US" altLang="zh-CN" dirty="0"/>
              <a:t>	</a:t>
            </a:r>
            <a:r>
              <a:rPr lang="en-US" altLang="zh-CN" dirty="0" err="1"/>
              <a:t>cout</a:t>
            </a:r>
            <a:r>
              <a:rPr lang="en-US" altLang="zh-CN" dirty="0"/>
              <a:t> &lt;&lt; line2.getLen() &lt;&lt; '\n'; </a:t>
            </a:r>
          </a:p>
          <a:p>
            <a:endParaRPr lang="en-US" altLang="zh-CN" dirty="0"/>
          </a:p>
          <a:p>
            <a:r>
              <a:rPr lang="en-US" altLang="zh-CN" dirty="0"/>
              <a:t>  return 0;</a:t>
            </a:r>
          </a:p>
          <a:p>
            <a:r>
              <a:rPr lang="en-US" altLang="zh-CN" dirty="0"/>
              <a:t>}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7908D19-5A91-2269-69F2-19C5AC380C8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ABDA6A-29CD-4D28-B6EA-E8D4FFDF6043}" type="slidenum">
              <a:rPr lang="zh-CN" altLang="en-US" smtClean="0"/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1184468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#include &lt;iostream&gt;</a:t>
            </a:r>
          </a:p>
          <a:p>
            <a:r>
              <a:rPr lang="en-US" altLang="zh-CN" dirty="0"/>
              <a:t>#include &lt;</a:t>
            </a:r>
            <a:r>
              <a:rPr lang="en-US" altLang="zh-CN" dirty="0" err="1"/>
              <a:t>cmath</a:t>
            </a:r>
            <a:r>
              <a:rPr lang="en-US" altLang="zh-CN" dirty="0"/>
              <a:t>&gt;</a:t>
            </a:r>
          </a:p>
          <a:p>
            <a:r>
              <a:rPr lang="en-US" altLang="zh-CN" dirty="0"/>
              <a:t>using namespace std;</a:t>
            </a:r>
          </a:p>
          <a:p>
            <a:endParaRPr lang="en-US" altLang="zh-CN" dirty="0"/>
          </a:p>
          <a:p>
            <a:r>
              <a:rPr lang="en-US" altLang="zh-CN" dirty="0"/>
              <a:t>class Point {</a:t>
            </a:r>
          </a:p>
          <a:p>
            <a:r>
              <a:rPr lang="en-US" altLang="zh-CN" dirty="0"/>
              <a:t>public: Point(int xx=0, int </a:t>
            </a:r>
            <a:r>
              <a:rPr lang="en-US" altLang="zh-CN" dirty="0" err="1"/>
              <a:t>yy</a:t>
            </a:r>
            <a:r>
              <a:rPr lang="en-US" altLang="zh-CN" dirty="0"/>
              <a:t>=0);   </a:t>
            </a:r>
          </a:p>
          <a:p>
            <a:r>
              <a:rPr lang="en-US" altLang="zh-CN" dirty="0"/>
              <a:t>  	    Point(Point &amp;p);</a:t>
            </a:r>
          </a:p>
          <a:p>
            <a:r>
              <a:rPr lang="en-US" altLang="zh-CN" dirty="0"/>
              <a:t>		void </a:t>
            </a:r>
            <a:r>
              <a:rPr lang="en-US" altLang="zh-CN" dirty="0" err="1"/>
              <a:t>setXY</a:t>
            </a:r>
            <a:r>
              <a:rPr lang="en-US" altLang="zh-CN" dirty="0"/>
              <a:t>(int xx , int </a:t>
            </a:r>
            <a:r>
              <a:rPr lang="en-US" altLang="zh-CN" dirty="0" err="1"/>
              <a:t>yy</a:t>
            </a:r>
            <a:r>
              <a:rPr lang="en-US" altLang="zh-CN" dirty="0"/>
              <a:t>){x=xx; y=</a:t>
            </a:r>
            <a:r>
              <a:rPr lang="en-US" altLang="zh-CN" dirty="0" err="1"/>
              <a:t>yy</a:t>
            </a:r>
            <a:r>
              <a:rPr lang="en-US" altLang="zh-CN" dirty="0"/>
              <a:t>;};</a:t>
            </a:r>
          </a:p>
          <a:p>
            <a:r>
              <a:rPr lang="en-US" altLang="zh-CN" dirty="0"/>
              <a:t>		int </a:t>
            </a:r>
            <a:r>
              <a:rPr lang="en-US" altLang="zh-CN" dirty="0" err="1"/>
              <a:t>getX</a:t>
            </a:r>
            <a:r>
              <a:rPr lang="en-US" altLang="zh-CN" dirty="0"/>
              <a:t>() { return x; }</a:t>
            </a:r>
          </a:p>
          <a:p>
            <a:r>
              <a:rPr lang="en-US" altLang="zh-CN" dirty="0"/>
              <a:t>		int </a:t>
            </a:r>
            <a:r>
              <a:rPr lang="en-US" altLang="zh-CN" dirty="0" err="1"/>
              <a:t>getY</a:t>
            </a:r>
            <a:r>
              <a:rPr lang="en-US" altLang="zh-CN" dirty="0"/>
              <a:t>() { return y; }</a:t>
            </a:r>
          </a:p>
          <a:p>
            <a:r>
              <a:rPr lang="en-US" altLang="zh-CN" dirty="0"/>
              <a:t>private:  int x, y;</a:t>
            </a:r>
          </a:p>
          <a:p>
            <a:r>
              <a:rPr lang="en-US" altLang="zh-CN" dirty="0"/>
              <a:t>};</a:t>
            </a:r>
          </a:p>
          <a:p>
            <a:endParaRPr lang="en-US" altLang="zh-CN" dirty="0"/>
          </a:p>
          <a:p>
            <a:r>
              <a:rPr lang="en-US" altLang="zh-CN" dirty="0"/>
              <a:t>Point::Point(int xx, int </a:t>
            </a:r>
            <a:r>
              <a:rPr lang="en-US" altLang="zh-CN" dirty="0" err="1"/>
              <a:t>yy</a:t>
            </a:r>
            <a:r>
              <a:rPr lang="en-US" altLang="zh-CN" dirty="0"/>
              <a:t>){</a:t>
            </a:r>
          </a:p>
          <a:p>
            <a:r>
              <a:rPr lang="en-US" altLang="zh-CN" dirty="0"/>
              <a:t>	x = xx; </a:t>
            </a:r>
          </a:p>
          <a:p>
            <a:r>
              <a:rPr lang="en-US" altLang="zh-CN" dirty="0"/>
              <a:t>	y = </a:t>
            </a:r>
            <a:r>
              <a:rPr lang="en-US" altLang="zh-CN" dirty="0" err="1"/>
              <a:t>yy</a:t>
            </a:r>
            <a:r>
              <a:rPr lang="en-US" altLang="zh-CN" dirty="0"/>
              <a:t>;</a:t>
            </a:r>
          </a:p>
          <a:p>
            <a:r>
              <a:rPr lang="en-US" altLang="zh-CN" dirty="0"/>
              <a:t>	</a:t>
            </a:r>
            <a:r>
              <a:rPr lang="en-US" altLang="zh-CN" dirty="0" err="1"/>
              <a:t>cout</a:t>
            </a:r>
            <a:r>
              <a:rPr lang="en-US" altLang="zh-CN" dirty="0"/>
              <a:t> &lt;&lt; "Calling constructor of Point\n" ;</a:t>
            </a:r>
          </a:p>
          <a:p>
            <a:r>
              <a:rPr lang="en-US" altLang="zh-CN" dirty="0"/>
              <a:t>}</a:t>
            </a:r>
          </a:p>
          <a:p>
            <a:r>
              <a:rPr lang="en-US" altLang="zh-CN" dirty="0"/>
              <a:t>Point::Point(Point &amp;p) {</a:t>
            </a:r>
          </a:p>
          <a:p>
            <a:r>
              <a:rPr lang="en-US" altLang="zh-CN" dirty="0"/>
              <a:t>	x = </a:t>
            </a:r>
            <a:r>
              <a:rPr lang="en-US" altLang="zh-CN" dirty="0" err="1"/>
              <a:t>p.x</a:t>
            </a:r>
            <a:r>
              <a:rPr lang="en-US" altLang="zh-CN" dirty="0"/>
              <a:t>; </a:t>
            </a:r>
          </a:p>
          <a:p>
            <a:r>
              <a:rPr lang="en-US" altLang="zh-CN" dirty="0"/>
              <a:t>	y = </a:t>
            </a:r>
            <a:r>
              <a:rPr lang="en-US" altLang="zh-CN" dirty="0" err="1"/>
              <a:t>p.y</a:t>
            </a:r>
            <a:r>
              <a:rPr lang="en-US" altLang="zh-CN" dirty="0"/>
              <a:t>;</a:t>
            </a:r>
          </a:p>
          <a:p>
            <a:r>
              <a:rPr lang="en-US" altLang="zh-CN" dirty="0"/>
              <a:t>	</a:t>
            </a:r>
            <a:r>
              <a:rPr lang="en-US" altLang="zh-CN" dirty="0" err="1"/>
              <a:t>cout</a:t>
            </a:r>
            <a:r>
              <a:rPr lang="en-US" altLang="zh-CN" dirty="0"/>
              <a:t> &lt;&lt; "Calling copy constructor of Point\n" ;</a:t>
            </a:r>
          </a:p>
          <a:p>
            <a:r>
              <a:rPr lang="en-US" altLang="zh-CN" dirty="0"/>
              <a:t>}</a:t>
            </a:r>
          </a:p>
          <a:p>
            <a:r>
              <a:rPr lang="en-US" altLang="zh-CN" dirty="0"/>
              <a:t>void Point::</a:t>
            </a:r>
            <a:r>
              <a:rPr lang="en-US" altLang="zh-CN" dirty="0" err="1"/>
              <a:t>setXY</a:t>
            </a:r>
            <a:r>
              <a:rPr lang="en-US" altLang="zh-CN" dirty="0"/>
              <a:t>(int xx , int </a:t>
            </a:r>
            <a:r>
              <a:rPr lang="en-US" altLang="zh-CN" dirty="0" err="1"/>
              <a:t>yy</a:t>
            </a:r>
            <a:r>
              <a:rPr lang="en-US" altLang="zh-CN" dirty="0"/>
              <a:t>) {x=xx; y=</a:t>
            </a:r>
            <a:r>
              <a:rPr lang="en-US" altLang="zh-CN" dirty="0" err="1"/>
              <a:t>yy</a:t>
            </a:r>
            <a:r>
              <a:rPr lang="en-US" altLang="zh-CN" dirty="0"/>
              <a:t>;}</a:t>
            </a:r>
          </a:p>
          <a:p>
            <a:endParaRPr lang="en-US" altLang="zh-CN" dirty="0"/>
          </a:p>
          <a:p>
            <a:r>
              <a:rPr lang="en-US" altLang="zh-CN" dirty="0"/>
              <a:t>class Line {</a:t>
            </a:r>
          </a:p>
          <a:p>
            <a:r>
              <a:rPr lang="en-US" altLang="zh-CN" dirty="0"/>
              <a:t>public: Line(Point xp1, Point xp2);</a:t>
            </a:r>
          </a:p>
          <a:p>
            <a:r>
              <a:rPr lang="en-US" altLang="zh-CN" dirty="0"/>
              <a:t>	    Line(Line &amp;</a:t>
            </a:r>
            <a:r>
              <a:rPr lang="en-US" altLang="zh-CN" dirty="0" err="1"/>
              <a:t>lin</a:t>
            </a:r>
            <a:r>
              <a:rPr lang="en-US" altLang="zh-CN" dirty="0"/>
              <a:t>);</a:t>
            </a:r>
          </a:p>
          <a:p>
            <a:r>
              <a:rPr lang="en-US" altLang="zh-CN" dirty="0"/>
              <a:t>	    double </a:t>
            </a:r>
            <a:r>
              <a:rPr lang="en-US" altLang="zh-CN" dirty="0" err="1"/>
              <a:t>getLen</a:t>
            </a:r>
            <a:r>
              <a:rPr lang="en-US" altLang="zh-CN" dirty="0"/>
              <a:t>(); </a:t>
            </a:r>
          </a:p>
          <a:p>
            <a:r>
              <a:rPr lang="en-US" altLang="zh-CN" dirty="0"/>
              <a:t>private: Point p1, p2;</a:t>
            </a:r>
          </a:p>
          <a:p>
            <a:r>
              <a:rPr lang="en-US" altLang="zh-CN" dirty="0"/>
              <a:t>};</a:t>
            </a:r>
          </a:p>
          <a:p>
            <a:endParaRPr lang="en-US" altLang="zh-CN" dirty="0"/>
          </a:p>
          <a:p>
            <a:r>
              <a:rPr lang="en-US" altLang="zh-CN" dirty="0"/>
              <a:t>Line::Line(Point xp1, Point xp2) : p1(xp1), p2(xp2){</a:t>
            </a:r>
          </a:p>
          <a:p>
            <a:r>
              <a:rPr lang="en-US" altLang="zh-CN" dirty="0"/>
              <a:t>	</a:t>
            </a:r>
            <a:r>
              <a:rPr lang="en-US" altLang="zh-CN" dirty="0" err="1"/>
              <a:t>cout</a:t>
            </a:r>
            <a:r>
              <a:rPr lang="en-US" altLang="zh-CN" dirty="0"/>
              <a:t> &lt;&lt; "Calling constructor of Line\n" ;</a:t>
            </a:r>
          </a:p>
          <a:p>
            <a:r>
              <a:rPr lang="en-US" altLang="zh-CN" dirty="0"/>
              <a:t>}</a:t>
            </a:r>
          </a:p>
          <a:p>
            <a:r>
              <a:rPr lang="en-US" altLang="zh-CN" dirty="0"/>
              <a:t>Line::Line (Line &amp;</a:t>
            </a:r>
            <a:r>
              <a:rPr lang="en-US" altLang="zh-CN" dirty="0" err="1"/>
              <a:t>lin</a:t>
            </a:r>
            <a:r>
              <a:rPr lang="en-US" altLang="zh-CN" dirty="0"/>
              <a:t>): p1(lin.p1), p2(lin.p2) {</a:t>
            </a:r>
          </a:p>
          <a:p>
            <a:r>
              <a:rPr lang="en-US" altLang="zh-CN" dirty="0"/>
              <a:t>	</a:t>
            </a:r>
            <a:r>
              <a:rPr lang="en-US" altLang="zh-CN" dirty="0" err="1"/>
              <a:t>cout</a:t>
            </a:r>
            <a:r>
              <a:rPr lang="en-US" altLang="zh-CN" dirty="0"/>
              <a:t> &lt;&lt; "Calling copy constructor of Line\n" ;</a:t>
            </a:r>
          </a:p>
          <a:p>
            <a:r>
              <a:rPr lang="en-US" altLang="zh-CN" dirty="0"/>
              <a:t>}</a:t>
            </a:r>
          </a:p>
          <a:p>
            <a:endParaRPr lang="en-US" altLang="zh-CN" dirty="0"/>
          </a:p>
          <a:p>
            <a:r>
              <a:rPr lang="en-US" altLang="zh-CN" dirty="0"/>
              <a:t>double Line::</a:t>
            </a:r>
            <a:r>
              <a:rPr lang="en-US" altLang="zh-CN" dirty="0" err="1"/>
              <a:t>getLen</a:t>
            </a:r>
            <a:r>
              <a:rPr lang="en-US" altLang="zh-CN" dirty="0"/>
              <a:t>(){</a:t>
            </a:r>
          </a:p>
          <a:p>
            <a:r>
              <a:rPr lang="en-US" altLang="zh-CN" dirty="0"/>
              <a:t>	double x = p1.getX() - p2.getX();</a:t>
            </a:r>
          </a:p>
          <a:p>
            <a:r>
              <a:rPr lang="en-US" altLang="zh-CN" dirty="0"/>
              <a:t>	double y = p1.getY() - p2.getY();</a:t>
            </a:r>
          </a:p>
          <a:p>
            <a:r>
              <a:rPr lang="en-US" altLang="zh-CN" dirty="0"/>
              <a:t>	double </a:t>
            </a:r>
            <a:r>
              <a:rPr lang="en-US" altLang="zh-CN" dirty="0" err="1"/>
              <a:t>len</a:t>
            </a:r>
            <a:r>
              <a:rPr lang="en-US" altLang="zh-CN" dirty="0"/>
              <a:t> = sqrt(x * x + y * y);</a:t>
            </a:r>
          </a:p>
          <a:p>
            <a:r>
              <a:rPr lang="en-US" altLang="zh-CN" dirty="0"/>
              <a:t>	return </a:t>
            </a:r>
            <a:r>
              <a:rPr lang="en-US" altLang="zh-CN" dirty="0" err="1"/>
              <a:t>len</a:t>
            </a:r>
            <a:r>
              <a:rPr lang="en-US" altLang="zh-CN" dirty="0"/>
              <a:t>;</a:t>
            </a:r>
          </a:p>
          <a:p>
            <a:r>
              <a:rPr lang="en-US" altLang="zh-CN" dirty="0"/>
              <a:t>}</a:t>
            </a:r>
          </a:p>
          <a:p>
            <a:endParaRPr lang="en-US" altLang="zh-CN" dirty="0"/>
          </a:p>
          <a:p>
            <a:r>
              <a:rPr lang="en-US" altLang="zh-CN" dirty="0"/>
              <a:t>int main ()</a:t>
            </a:r>
          </a:p>
          <a:p>
            <a:r>
              <a:rPr lang="en-US" altLang="zh-CN" dirty="0"/>
              <a:t>{</a:t>
            </a:r>
          </a:p>
          <a:p>
            <a:r>
              <a:rPr lang="en-US" altLang="zh-CN" dirty="0"/>
              <a:t>  	Point myp1(1, 1), myp2(4, 5);</a:t>
            </a:r>
          </a:p>
          <a:p>
            <a:r>
              <a:rPr lang="en-US" altLang="zh-CN" dirty="0"/>
              <a:t>	Line line(myp1, myp2);</a:t>
            </a:r>
          </a:p>
          <a:p>
            <a:r>
              <a:rPr lang="en-US" altLang="zh-CN" dirty="0"/>
              <a:t>	Line line2(line);	</a:t>
            </a:r>
          </a:p>
          <a:p>
            <a:r>
              <a:rPr lang="en-US" altLang="zh-CN" dirty="0"/>
              <a:t>	</a:t>
            </a:r>
            <a:r>
              <a:rPr lang="en-US" altLang="zh-CN" dirty="0" err="1"/>
              <a:t>cout</a:t>
            </a:r>
            <a:r>
              <a:rPr lang="en-US" altLang="zh-CN" dirty="0"/>
              <a:t> &lt;&lt; "The length of the line is: ";</a:t>
            </a:r>
          </a:p>
          <a:p>
            <a:r>
              <a:rPr lang="en-US" altLang="zh-CN" dirty="0"/>
              <a:t>	</a:t>
            </a:r>
            <a:r>
              <a:rPr lang="en-US" altLang="zh-CN" dirty="0" err="1"/>
              <a:t>cout</a:t>
            </a:r>
            <a:r>
              <a:rPr lang="en-US" altLang="zh-CN" dirty="0"/>
              <a:t> &lt;&lt; </a:t>
            </a:r>
            <a:r>
              <a:rPr lang="en-US" altLang="zh-CN" dirty="0" err="1"/>
              <a:t>line.getLen</a:t>
            </a:r>
            <a:r>
              <a:rPr lang="en-US" altLang="zh-CN" dirty="0"/>
              <a:t>() &lt;&lt;'\n';</a:t>
            </a:r>
          </a:p>
          <a:p>
            <a:r>
              <a:rPr lang="en-US" altLang="zh-CN" dirty="0"/>
              <a:t>	</a:t>
            </a:r>
            <a:r>
              <a:rPr lang="en-US" altLang="zh-CN" dirty="0" err="1"/>
              <a:t>cout</a:t>
            </a:r>
            <a:r>
              <a:rPr lang="en-US" altLang="zh-CN" dirty="0"/>
              <a:t> &lt;&lt; "The length of the line2 is: ";</a:t>
            </a:r>
          </a:p>
          <a:p>
            <a:r>
              <a:rPr lang="en-US" altLang="zh-CN" dirty="0"/>
              <a:t>	</a:t>
            </a:r>
            <a:r>
              <a:rPr lang="en-US" altLang="zh-CN" dirty="0" err="1"/>
              <a:t>cout</a:t>
            </a:r>
            <a:r>
              <a:rPr lang="en-US" altLang="zh-CN" dirty="0"/>
              <a:t> &lt;&lt; line2.getLen() &lt;&lt; '\n'; </a:t>
            </a:r>
          </a:p>
          <a:p>
            <a:endParaRPr lang="en-US" altLang="zh-CN" dirty="0"/>
          </a:p>
          <a:p>
            <a:r>
              <a:rPr lang="en-US" altLang="zh-CN" dirty="0"/>
              <a:t>  return 0;</a:t>
            </a:r>
          </a:p>
          <a:p>
            <a:r>
              <a:rPr lang="en-US" altLang="zh-CN" dirty="0"/>
              <a:t>}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ABDA6A-29CD-4D28-B6EA-E8D4FFDF6043}" type="slidenum">
              <a:rPr lang="zh-CN" altLang="en-US" smtClean="0"/>
              <a:t>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1695865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52168B-1652-9C4C-E161-9DE4A07D65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932D5A36-470B-5539-EAD1-FC47BCC7C43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5D07BE1-3EEE-8560-1902-8ED3FD3C09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#include &lt;iostream&gt;</a:t>
            </a:r>
          </a:p>
          <a:p>
            <a:r>
              <a:rPr lang="en-US" altLang="zh-CN" dirty="0"/>
              <a:t>#include &lt;</a:t>
            </a:r>
            <a:r>
              <a:rPr lang="en-US" altLang="zh-CN" dirty="0" err="1"/>
              <a:t>cmath</a:t>
            </a:r>
            <a:r>
              <a:rPr lang="en-US" altLang="zh-CN" dirty="0"/>
              <a:t>&gt;</a:t>
            </a:r>
          </a:p>
          <a:p>
            <a:r>
              <a:rPr lang="en-US" altLang="zh-CN" dirty="0"/>
              <a:t>using namespace std;</a:t>
            </a:r>
          </a:p>
          <a:p>
            <a:endParaRPr lang="en-US" altLang="zh-CN" dirty="0"/>
          </a:p>
          <a:p>
            <a:r>
              <a:rPr lang="en-US" altLang="zh-CN" dirty="0"/>
              <a:t>class Point {</a:t>
            </a:r>
          </a:p>
          <a:p>
            <a:r>
              <a:rPr lang="en-US" altLang="zh-CN" dirty="0"/>
              <a:t>public: Point(int xx=0, int </a:t>
            </a:r>
            <a:r>
              <a:rPr lang="en-US" altLang="zh-CN" dirty="0" err="1"/>
              <a:t>yy</a:t>
            </a:r>
            <a:r>
              <a:rPr lang="en-US" altLang="zh-CN" dirty="0"/>
              <a:t>=0);   </a:t>
            </a:r>
          </a:p>
          <a:p>
            <a:r>
              <a:rPr lang="en-US" altLang="zh-CN" dirty="0"/>
              <a:t>  	    Point(Point &amp;p);</a:t>
            </a:r>
          </a:p>
          <a:p>
            <a:r>
              <a:rPr lang="en-US" altLang="zh-CN" dirty="0"/>
              <a:t>		void </a:t>
            </a:r>
            <a:r>
              <a:rPr lang="en-US" altLang="zh-CN" dirty="0" err="1"/>
              <a:t>setXY</a:t>
            </a:r>
            <a:r>
              <a:rPr lang="en-US" altLang="zh-CN" dirty="0"/>
              <a:t>(int xx , int </a:t>
            </a:r>
            <a:r>
              <a:rPr lang="en-US" altLang="zh-CN" dirty="0" err="1"/>
              <a:t>yy</a:t>
            </a:r>
            <a:r>
              <a:rPr lang="en-US" altLang="zh-CN" dirty="0"/>
              <a:t>){x=xx; y=</a:t>
            </a:r>
            <a:r>
              <a:rPr lang="en-US" altLang="zh-CN" dirty="0" err="1"/>
              <a:t>yy</a:t>
            </a:r>
            <a:r>
              <a:rPr lang="en-US" altLang="zh-CN" dirty="0"/>
              <a:t>;};</a:t>
            </a:r>
          </a:p>
          <a:p>
            <a:r>
              <a:rPr lang="en-US" altLang="zh-CN" dirty="0"/>
              <a:t>		int </a:t>
            </a:r>
            <a:r>
              <a:rPr lang="en-US" altLang="zh-CN" dirty="0" err="1"/>
              <a:t>getX</a:t>
            </a:r>
            <a:r>
              <a:rPr lang="en-US" altLang="zh-CN" dirty="0"/>
              <a:t>() { return x; }</a:t>
            </a:r>
          </a:p>
          <a:p>
            <a:r>
              <a:rPr lang="en-US" altLang="zh-CN" dirty="0"/>
              <a:t>		int </a:t>
            </a:r>
            <a:r>
              <a:rPr lang="en-US" altLang="zh-CN" dirty="0" err="1"/>
              <a:t>getY</a:t>
            </a:r>
            <a:r>
              <a:rPr lang="en-US" altLang="zh-CN" dirty="0"/>
              <a:t>() { return y; }</a:t>
            </a:r>
          </a:p>
          <a:p>
            <a:r>
              <a:rPr lang="en-US" altLang="zh-CN" dirty="0"/>
              <a:t>private:  int x, y;</a:t>
            </a:r>
          </a:p>
          <a:p>
            <a:r>
              <a:rPr lang="en-US" altLang="zh-CN" dirty="0"/>
              <a:t>};</a:t>
            </a:r>
          </a:p>
          <a:p>
            <a:endParaRPr lang="en-US" altLang="zh-CN" dirty="0"/>
          </a:p>
          <a:p>
            <a:r>
              <a:rPr lang="en-US" altLang="zh-CN" dirty="0"/>
              <a:t>Point::Point(int xx, int </a:t>
            </a:r>
            <a:r>
              <a:rPr lang="en-US" altLang="zh-CN" dirty="0" err="1"/>
              <a:t>yy</a:t>
            </a:r>
            <a:r>
              <a:rPr lang="en-US" altLang="zh-CN" dirty="0"/>
              <a:t>){</a:t>
            </a:r>
          </a:p>
          <a:p>
            <a:r>
              <a:rPr lang="en-US" altLang="zh-CN" dirty="0"/>
              <a:t>	x = xx; </a:t>
            </a:r>
          </a:p>
          <a:p>
            <a:r>
              <a:rPr lang="en-US" altLang="zh-CN" dirty="0"/>
              <a:t>	y = </a:t>
            </a:r>
            <a:r>
              <a:rPr lang="en-US" altLang="zh-CN" dirty="0" err="1"/>
              <a:t>yy</a:t>
            </a:r>
            <a:r>
              <a:rPr lang="en-US" altLang="zh-CN" dirty="0"/>
              <a:t>;</a:t>
            </a:r>
          </a:p>
          <a:p>
            <a:r>
              <a:rPr lang="en-US" altLang="zh-CN" dirty="0"/>
              <a:t>	</a:t>
            </a:r>
            <a:r>
              <a:rPr lang="en-US" altLang="zh-CN" dirty="0" err="1"/>
              <a:t>cout</a:t>
            </a:r>
            <a:r>
              <a:rPr lang="en-US" altLang="zh-CN" dirty="0"/>
              <a:t> &lt;&lt; "Calling constructor of Point\n" ;</a:t>
            </a:r>
          </a:p>
          <a:p>
            <a:r>
              <a:rPr lang="en-US" altLang="zh-CN" dirty="0"/>
              <a:t>}</a:t>
            </a:r>
          </a:p>
          <a:p>
            <a:r>
              <a:rPr lang="en-US" altLang="zh-CN" dirty="0"/>
              <a:t>Point::Point(Point &amp;p) {</a:t>
            </a:r>
          </a:p>
          <a:p>
            <a:r>
              <a:rPr lang="en-US" altLang="zh-CN" dirty="0"/>
              <a:t>	x = </a:t>
            </a:r>
            <a:r>
              <a:rPr lang="en-US" altLang="zh-CN" dirty="0" err="1"/>
              <a:t>p.x</a:t>
            </a:r>
            <a:r>
              <a:rPr lang="en-US" altLang="zh-CN" dirty="0"/>
              <a:t>; </a:t>
            </a:r>
          </a:p>
          <a:p>
            <a:r>
              <a:rPr lang="en-US" altLang="zh-CN" dirty="0"/>
              <a:t>	y = </a:t>
            </a:r>
            <a:r>
              <a:rPr lang="en-US" altLang="zh-CN" dirty="0" err="1"/>
              <a:t>p.y</a:t>
            </a:r>
            <a:r>
              <a:rPr lang="en-US" altLang="zh-CN" dirty="0"/>
              <a:t>;</a:t>
            </a:r>
          </a:p>
          <a:p>
            <a:r>
              <a:rPr lang="en-US" altLang="zh-CN" dirty="0"/>
              <a:t>	</a:t>
            </a:r>
            <a:r>
              <a:rPr lang="en-US" altLang="zh-CN" dirty="0" err="1"/>
              <a:t>cout</a:t>
            </a:r>
            <a:r>
              <a:rPr lang="en-US" altLang="zh-CN" dirty="0"/>
              <a:t> &lt;&lt; "Calling copy constructor of Point\n" ;</a:t>
            </a:r>
          </a:p>
          <a:p>
            <a:r>
              <a:rPr lang="en-US" altLang="zh-CN" dirty="0"/>
              <a:t>}</a:t>
            </a:r>
          </a:p>
          <a:p>
            <a:r>
              <a:rPr lang="en-US" altLang="zh-CN" dirty="0"/>
              <a:t>void Point::</a:t>
            </a:r>
            <a:r>
              <a:rPr lang="en-US" altLang="zh-CN" dirty="0" err="1"/>
              <a:t>setXY</a:t>
            </a:r>
            <a:r>
              <a:rPr lang="en-US" altLang="zh-CN" dirty="0"/>
              <a:t>(int xx , int </a:t>
            </a:r>
            <a:r>
              <a:rPr lang="en-US" altLang="zh-CN" dirty="0" err="1"/>
              <a:t>yy</a:t>
            </a:r>
            <a:r>
              <a:rPr lang="en-US" altLang="zh-CN" dirty="0"/>
              <a:t>) {x=xx; y=</a:t>
            </a:r>
            <a:r>
              <a:rPr lang="en-US" altLang="zh-CN" dirty="0" err="1"/>
              <a:t>yy</a:t>
            </a:r>
            <a:r>
              <a:rPr lang="en-US" altLang="zh-CN" dirty="0"/>
              <a:t>;}</a:t>
            </a:r>
          </a:p>
          <a:p>
            <a:endParaRPr lang="en-US" altLang="zh-CN" dirty="0"/>
          </a:p>
          <a:p>
            <a:r>
              <a:rPr lang="en-US" altLang="zh-CN" dirty="0"/>
              <a:t>class Line {</a:t>
            </a:r>
          </a:p>
          <a:p>
            <a:r>
              <a:rPr lang="en-US" altLang="zh-CN" dirty="0"/>
              <a:t>public: Line(Point xp1, Point xp2);</a:t>
            </a:r>
          </a:p>
          <a:p>
            <a:r>
              <a:rPr lang="en-US" altLang="zh-CN" dirty="0"/>
              <a:t>	    Line(Line &amp;</a:t>
            </a:r>
            <a:r>
              <a:rPr lang="en-US" altLang="zh-CN" dirty="0" err="1"/>
              <a:t>lin</a:t>
            </a:r>
            <a:r>
              <a:rPr lang="en-US" altLang="zh-CN" dirty="0"/>
              <a:t>);</a:t>
            </a:r>
          </a:p>
          <a:p>
            <a:r>
              <a:rPr lang="en-US" altLang="zh-CN" dirty="0"/>
              <a:t>	    double </a:t>
            </a:r>
            <a:r>
              <a:rPr lang="en-US" altLang="zh-CN" dirty="0" err="1"/>
              <a:t>getLen</a:t>
            </a:r>
            <a:r>
              <a:rPr lang="en-US" altLang="zh-CN" dirty="0"/>
              <a:t>(); </a:t>
            </a:r>
          </a:p>
          <a:p>
            <a:r>
              <a:rPr lang="en-US" altLang="zh-CN" dirty="0"/>
              <a:t>private: Point p1, p2;</a:t>
            </a:r>
          </a:p>
          <a:p>
            <a:r>
              <a:rPr lang="en-US" altLang="zh-CN" dirty="0"/>
              <a:t>};</a:t>
            </a:r>
          </a:p>
          <a:p>
            <a:endParaRPr lang="en-US" altLang="zh-CN" dirty="0"/>
          </a:p>
          <a:p>
            <a:r>
              <a:rPr lang="en-US" altLang="zh-CN" dirty="0"/>
              <a:t>Line::Line(Point xp1, Point xp2) : p1(xp1), p2(xp2){</a:t>
            </a:r>
          </a:p>
          <a:p>
            <a:r>
              <a:rPr lang="en-US" altLang="zh-CN" dirty="0"/>
              <a:t>	</a:t>
            </a:r>
            <a:r>
              <a:rPr lang="en-US" altLang="zh-CN" dirty="0" err="1"/>
              <a:t>cout</a:t>
            </a:r>
            <a:r>
              <a:rPr lang="en-US" altLang="zh-CN" dirty="0"/>
              <a:t> &lt;&lt; "Calling constructor of Line\n" ;</a:t>
            </a:r>
          </a:p>
          <a:p>
            <a:r>
              <a:rPr lang="en-US" altLang="zh-CN" dirty="0"/>
              <a:t>}</a:t>
            </a:r>
          </a:p>
          <a:p>
            <a:r>
              <a:rPr lang="en-US" altLang="zh-CN" dirty="0"/>
              <a:t>Line::Line (Line &amp;</a:t>
            </a:r>
            <a:r>
              <a:rPr lang="en-US" altLang="zh-CN" dirty="0" err="1"/>
              <a:t>lin</a:t>
            </a:r>
            <a:r>
              <a:rPr lang="en-US" altLang="zh-CN" dirty="0"/>
              <a:t>): p1(lin.p1), p2(lin.p2) {</a:t>
            </a:r>
          </a:p>
          <a:p>
            <a:r>
              <a:rPr lang="en-US" altLang="zh-CN" dirty="0"/>
              <a:t>	</a:t>
            </a:r>
            <a:r>
              <a:rPr lang="en-US" altLang="zh-CN" dirty="0" err="1"/>
              <a:t>cout</a:t>
            </a:r>
            <a:r>
              <a:rPr lang="en-US" altLang="zh-CN" dirty="0"/>
              <a:t> &lt;&lt; "Calling copy constructor of Line\n" ;</a:t>
            </a:r>
          </a:p>
          <a:p>
            <a:r>
              <a:rPr lang="en-US" altLang="zh-CN" dirty="0"/>
              <a:t>}</a:t>
            </a:r>
          </a:p>
          <a:p>
            <a:endParaRPr lang="en-US" altLang="zh-CN" dirty="0"/>
          </a:p>
          <a:p>
            <a:r>
              <a:rPr lang="en-US" altLang="zh-CN" dirty="0"/>
              <a:t>double Line::</a:t>
            </a:r>
            <a:r>
              <a:rPr lang="en-US" altLang="zh-CN" dirty="0" err="1"/>
              <a:t>getLen</a:t>
            </a:r>
            <a:r>
              <a:rPr lang="en-US" altLang="zh-CN" dirty="0"/>
              <a:t>(){</a:t>
            </a:r>
          </a:p>
          <a:p>
            <a:r>
              <a:rPr lang="en-US" altLang="zh-CN" dirty="0"/>
              <a:t>	double x = p1.getX() - p2.getX();</a:t>
            </a:r>
          </a:p>
          <a:p>
            <a:r>
              <a:rPr lang="en-US" altLang="zh-CN" dirty="0"/>
              <a:t>	double y = p1.getY() - p2.getY();</a:t>
            </a:r>
          </a:p>
          <a:p>
            <a:r>
              <a:rPr lang="en-US" altLang="zh-CN" dirty="0"/>
              <a:t>	double </a:t>
            </a:r>
            <a:r>
              <a:rPr lang="en-US" altLang="zh-CN" dirty="0" err="1"/>
              <a:t>len</a:t>
            </a:r>
            <a:r>
              <a:rPr lang="en-US" altLang="zh-CN" dirty="0"/>
              <a:t> = sqrt(x * x + y * y);</a:t>
            </a:r>
          </a:p>
          <a:p>
            <a:r>
              <a:rPr lang="en-US" altLang="zh-CN" dirty="0"/>
              <a:t>	return </a:t>
            </a:r>
            <a:r>
              <a:rPr lang="en-US" altLang="zh-CN" dirty="0" err="1"/>
              <a:t>len</a:t>
            </a:r>
            <a:r>
              <a:rPr lang="en-US" altLang="zh-CN" dirty="0"/>
              <a:t>;</a:t>
            </a:r>
          </a:p>
          <a:p>
            <a:r>
              <a:rPr lang="en-US" altLang="zh-CN" dirty="0"/>
              <a:t>}</a:t>
            </a:r>
          </a:p>
          <a:p>
            <a:endParaRPr lang="en-US" altLang="zh-CN" dirty="0"/>
          </a:p>
          <a:p>
            <a:r>
              <a:rPr lang="en-US" altLang="zh-CN" dirty="0"/>
              <a:t>int main ()</a:t>
            </a:r>
          </a:p>
          <a:p>
            <a:r>
              <a:rPr lang="en-US" altLang="zh-CN" dirty="0"/>
              <a:t>{</a:t>
            </a:r>
          </a:p>
          <a:p>
            <a:r>
              <a:rPr lang="en-US" altLang="zh-CN" dirty="0"/>
              <a:t>  	Point myp1(1, 1), myp2(4, 5);</a:t>
            </a:r>
          </a:p>
          <a:p>
            <a:r>
              <a:rPr lang="en-US" altLang="zh-CN" dirty="0"/>
              <a:t>	Line line(myp1, myp2);</a:t>
            </a:r>
          </a:p>
          <a:p>
            <a:r>
              <a:rPr lang="en-US" altLang="zh-CN" dirty="0"/>
              <a:t>	Line line2(line);	</a:t>
            </a:r>
          </a:p>
          <a:p>
            <a:r>
              <a:rPr lang="en-US" altLang="zh-CN" dirty="0"/>
              <a:t>	</a:t>
            </a:r>
            <a:r>
              <a:rPr lang="en-US" altLang="zh-CN" dirty="0" err="1"/>
              <a:t>cout</a:t>
            </a:r>
            <a:r>
              <a:rPr lang="en-US" altLang="zh-CN" dirty="0"/>
              <a:t> &lt;&lt; "The length of the line is: ";</a:t>
            </a:r>
          </a:p>
          <a:p>
            <a:r>
              <a:rPr lang="en-US" altLang="zh-CN" dirty="0"/>
              <a:t>	</a:t>
            </a:r>
            <a:r>
              <a:rPr lang="en-US" altLang="zh-CN" dirty="0" err="1"/>
              <a:t>cout</a:t>
            </a:r>
            <a:r>
              <a:rPr lang="en-US" altLang="zh-CN" dirty="0"/>
              <a:t> &lt;&lt; </a:t>
            </a:r>
            <a:r>
              <a:rPr lang="en-US" altLang="zh-CN" dirty="0" err="1"/>
              <a:t>line.getLen</a:t>
            </a:r>
            <a:r>
              <a:rPr lang="en-US" altLang="zh-CN" dirty="0"/>
              <a:t>() &lt;&lt;'\n';</a:t>
            </a:r>
          </a:p>
          <a:p>
            <a:r>
              <a:rPr lang="en-US" altLang="zh-CN" dirty="0"/>
              <a:t>	</a:t>
            </a:r>
            <a:r>
              <a:rPr lang="en-US" altLang="zh-CN" dirty="0" err="1"/>
              <a:t>cout</a:t>
            </a:r>
            <a:r>
              <a:rPr lang="en-US" altLang="zh-CN" dirty="0"/>
              <a:t> &lt;&lt; "The length of the line2 is: ";</a:t>
            </a:r>
          </a:p>
          <a:p>
            <a:r>
              <a:rPr lang="en-US" altLang="zh-CN" dirty="0"/>
              <a:t>	</a:t>
            </a:r>
            <a:r>
              <a:rPr lang="en-US" altLang="zh-CN" dirty="0" err="1"/>
              <a:t>cout</a:t>
            </a:r>
            <a:r>
              <a:rPr lang="en-US" altLang="zh-CN" dirty="0"/>
              <a:t> &lt;&lt; line2.getLen() &lt;&lt; '\n'; </a:t>
            </a:r>
          </a:p>
          <a:p>
            <a:endParaRPr lang="en-US" altLang="zh-CN" dirty="0"/>
          </a:p>
          <a:p>
            <a:r>
              <a:rPr lang="en-US" altLang="zh-CN" dirty="0"/>
              <a:t>  return 0;</a:t>
            </a:r>
          </a:p>
          <a:p>
            <a:r>
              <a:rPr lang="en-US" altLang="zh-CN" dirty="0"/>
              <a:t>}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DEE1110-CF89-BCAD-1290-6D62215651F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ABDA6A-29CD-4D28-B6EA-E8D4FFDF6043}" type="slidenum">
              <a:rPr lang="zh-CN" altLang="en-US" smtClean="0"/>
              <a:t>28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0096074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ABDA6A-29CD-4D28-B6EA-E8D4FFDF6043}" type="slidenum">
              <a:rPr lang="zh-CN" altLang="en-US" smtClean="0"/>
              <a:t>29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0196989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ABDA6A-29CD-4D28-B6EA-E8D4FFDF6043}" type="slidenum">
              <a:rPr lang="zh-CN" altLang="en-US" smtClean="0"/>
              <a:t>30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2179816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#include &lt;iostream&gt;</a:t>
            </a:r>
          </a:p>
          <a:p>
            <a:r>
              <a:rPr lang="en-US" altLang="zh-CN" dirty="0"/>
              <a:t>#include &lt;</a:t>
            </a:r>
            <a:r>
              <a:rPr lang="en-US" altLang="zh-CN" dirty="0" err="1"/>
              <a:t>cmath</a:t>
            </a:r>
            <a:r>
              <a:rPr lang="en-US" altLang="zh-CN" dirty="0"/>
              <a:t>&gt;</a:t>
            </a:r>
          </a:p>
          <a:p>
            <a:r>
              <a:rPr lang="en-US" altLang="zh-CN" dirty="0"/>
              <a:t>#include &lt;</a:t>
            </a:r>
            <a:r>
              <a:rPr lang="en-US" altLang="zh-CN" dirty="0" err="1"/>
              <a:t>iomanip</a:t>
            </a:r>
            <a:r>
              <a:rPr lang="en-US" altLang="zh-CN" dirty="0"/>
              <a:t>&gt;</a:t>
            </a:r>
          </a:p>
          <a:p>
            <a:r>
              <a:rPr lang="en-US" altLang="zh-CN" dirty="0"/>
              <a:t>using namespace std;</a:t>
            </a:r>
          </a:p>
          <a:p>
            <a:endParaRPr lang="en-US" altLang="zh-CN" dirty="0"/>
          </a:p>
          <a:p>
            <a:r>
              <a:rPr lang="en-US" altLang="zh-CN" dirty="0"/>
              <a:t>class Point {	</a:t>
            </a:r>
          </a:p>
          <a:p>
            <a:r>
              <a:rPr lang="en-US" altLang="zh-CN" dirty="0"/>
              <a:t>public:		</a:t>
            </a:r>
          </a:p>
          <a:p>
            <a:r>
              <a:rPr lang="en-US" altLang="zh-CN" dirty="0"/>
              <a:t>	Point();</a:t>
            </a:r>
          </a:p>
          <a:p>
            <a:r>
              <a:rPr lang="en-US" altLang="zh-CN" dirty="0"/>
              <a:t>	Point(int x, int y);</a:t>
            </a:r>
          </a:p>
          <a:p>
            <a:r>
              <a:rPr lang="en-US" altLang="zh-CN" dirty="0"/>
              <a:t>	~Point();</a:t>
            </a:r>
          </a:p>
          <a:p>
            <a:r>
              <a:rPr lang="en-US" altLang="zh-CN" dirty="0"/>
              <a:t>	void move(int </a:t>
            </a:r>
            <a:r>
              <a:rPr lang="en-US" altLang="zh-CN" dirty="0" err="1"/>
              <a:t>newX,int</a:t>
            </a:r>
            <a:r>
              <a:rPr lang="en-US" altLang="zh-CN" dirty="0"/>
              <a:t> </a:t>
            </a:r>
            <a:r>
              <a:rPr lang="en-US" altLang="zh-CN" dirty="0" err="1"/>
              <a:t>newY</a:t>
            </a:r>
            <a:r>
              <a:rPr lang="en-US" altLang="zh-CN" dirty="0"/>
              <a:t>);</a:t>
            </a:r>
          </a:p>
          <a:p>
            <a:r>
              <a:rPr lang="en-US" altLang="zh-CN" dirty="0"/>
              <a:t>	int </a:t>
            </a:r>
            <a:r>
              <a:rPr lang="en-US" altLang="zh-CN" dirty="0" err="1"/>
              <a:t>getX</a:t>
            </a:r>
            <a:r>
              <a:rPr lang="en-US" altLang="zh-CN" dirty="0"/>
              <a:t>() const { return x; }</a:t>
            </a:r>
          </a:p>
          <a:p>
            <a:r>
              <a:rPr lang="en-US" altLang="zh-CN" dirty="0"/>
              <a:t>	int </a:t>
            </a:r>
            <a:r>
              <a:rPr lang="en-US" altLang="zh-CN" dirty="0" err="1"/>
              <a:t>getY</a:t>
            </a:r>
            <a:r>
              <a:rPr lang="en-US" altLang="zh-CN" dirty="0"/>
              <a:t>() const { return y; }</a:t>
            </a:r>
          </a:p>
          <a:p>
            <a:r>
              <a:rPr lang="en-US" altLang="zh-CN" dirty="0"/>
              <a:t>private:				</a:t>
            </a:r>
          </a:p>
          <a:p>
            <a:r>
              <a:rPr lang="en-US" altLang="zh-CN" dirty="0"/>
              <a:t>	int x, y;</a:t>
            </a:r>
          </a:p>
          <a:p>
            <a:r>
              <a:rPr lang="en-US" altLang="zh-CN" dirty="0"/>
              <a:t>};</a:t>
            </a:r>
          </a:p>
          <a:p>
            <a:r>
              <a:rPr lang="en-US" altLang="zh-CN" dirty="0"/>
              <a:t>Point::Point() {</a:t>
            </a:r>
          </a:p>
          <a:p>
            <a:r>
              <a:rPr lang="en-US" altLang="zh-CN" dirty="0"/>
              <a:t>	x = y = 0;</a:t>
            </a:r>
          </a:p>
          <a:p>
            <a:r>
              <a:rPr lang="en-US" altLang="zh-CN" dirty="0"/>
              <a:t>	</a:t>
            </a:r>
            <a:r>
              <a:rPr lang="en-US" altLang="zh-CN" dirty="0" err="1"/>
              <a:t>cout</a:t>
            </a:r>
            <a:r>
              <a:rPr lang="en-US" altLang="zh-CN" dirty="0"/>
              <a:t> &lt;&lt; "Default Constructor called." &lt;&lt; </a:t>
            </a:r>
            <a:r>
              <a:rPr lang="en-US" altLang="zh-CN" dirty="0" err="1"/>
              <a:t>endl</a:t>
            </a:r>
            <a:r>
              <a:rPr lang="en-US" altLang="zh-CN" dirty="0"/>
              <a:t>;</a:t>
            </a:r>
          </a:p>
          <a:p>
            <a:r>
              <a:rPr lang="en-US" altLang="zh-CN" dirty="0"/>
              <a:t>}</a:t>
            </a:r>
          </a:p>
          <a:p>
            <a:r>
              <a:rPr lang="en-US" altLang="zh-CN" dirty="0"/>
              <a:t>Point::Point(int x, int y) : x(x), y(y) {</a:t>
            </a:r>
          </a:p>
          <a:p>
            <a:r>
              <a:rPr lang="en-US" altLang="zh-CN" dirty="0"/>
              <a:t>	</a:t>
            </a:r>
            <a:r>
              <a:rPr lang="en-US" altLang="zh-CN" dirty="0" err="1"/>
              <a:t>cout</a:t>
            </a:r>
            <a:r>
              <a:rPr lang="en-US" altLang="zh-CN" dirty="0"/>
              <a:t> &lt;&lt; "Constructor called." &lt;&lt; </a:t>
            </a:r>
            <a:r>
              <a:rPr lang="en-US" altLang="zh-CN" dirty="0" err="1"/>
              <a:t>endl</a:t>
            </a:r>
            <a:r>
              <a:rPr lang="en-US" altLang="zh-CN" dirty="0"/>
              <a:t>;</a:t>
            </a:r>
          </a:p>
          <a:p>
            <a:r>
              <a:rPr lang="en-US" altLang="zh-CN" dirty="0"/>
              <a:t>}</a:t>
            </a:r>
          </a:p>
          <a:p>
            <a:r>
              <a:rPr lang="en-US" altLang="zh-CN" dirty="0"/>
              <a:t>Point::~Point() {</a:t>
            </a:r>
          </a:p>
          <a:p>
            <a:r>
              <a:rPr lang="en-US" altLang="zh-CN" dirty="0"/>
              <a:t>	</a:t>
            </a:r>
            <a:r>
              <a:rPr lang="en-US" altLang="zh-CN" dirty="0" err="1"/>
              <a:t>cout</a:t>
            </a:r>
            <a:r>
              <a:rPr lang="en-US" altLang="zh-CN" dirty="0"/>
              <a:t> &lt;&lt; "Destructor called." &lt;&lt; </a:t>
            </a:r>
            <a:r>
              <a:rPr lang="en-US" altLang="zh-CN" dirty="0" err="1"/>
              <a:t>endl</a:t>
            </a:r>
            <a:r>
              <a:rPr lang="en-US" altLang="zh-CN" dirty="0"/>
              <a:t>;</a:t>
            </a:r>
          </a:p>
          <a:p>
            <a:r>
              <a:rPr lang="en-US" altLang="zh-CN" dirty="0"/>
              <a:t>}</a:t>
            </a:r>
          </a:p>
          <a:p>
            <a:r>
              <a:rPr lang="en-US" altLang="zh-CN" dirty="0"/>
              <a:t>void Point::move(int </a:t>
            </a:r>
            <a:r>
              <a:rPr lang="en-US" altLang="zh-CN" dirty="0" err="1"/>
              <a:t>newX,int</a:t>
            </a:r>
            <a:r>
              <a:rPr lang="en-US" altLang="zh-CN" dirty="0"/>
              <a:t> </a:t>
            </a:r>
            <a:r>
              <a:rPr lang="en-US" altLang="zh-CN" dirty="0" err="1"/>
              <a:t>newY</a:t>
            </a:r>
            <a:r>
              <a:rPr lang="en-US" altLang="zh-CN" dirty="0"/>
              <a:t>) {</a:t>
            </a:r>
          </a:p>
          <a:p>
            <a:r>
              <a:rPr lang="en-US" altLang="zh-CN" dirty="0"/>
              <a:t>	</a:t>
            </a:r>
            <a:r>
              <a:rPr lang="en-US" altLang="zh-CN" dirty="0" err="1"/>
              <a:t>cout</a:t>
            </a:r>
            <a:r>
              <a:rPr lang="en-US" altLang="zh-CN" dirty="0"/>
              <a:t> &lt;&lt; "Moving the point to (" &lt;&lt; </a:t>
            </a:r>
            <a:r>
              <a:rPr lang="en-US" altLang="zh-CN" dirty="0" err="1"/>
              <a:t>newX</a:t>
            </a:r>
            <a:r>
              <a:rPr lang="en-US" altLang="zh-CN" dirty="0"/>
              <a:t> &lt;&lt; ", " &lt;&lt; </a:t>
            </a:r>
            <a:r>
              <a:rPr lang="en-US" altLang="zh-CN" dirty="0" err="1"/>
              <a:t>newY</a:t>
            </a:r>
            <a:r>
              <a:rPr lang="en-US" altLang="zh-CN" dirty="0"/>
              <a:t> &lt;&lt; ")" &lt;&lt; </a:t>
            </a:r>
            <a:r>
              <a:rPr lang="en-US" altLang="zh-CN" dirty="0" err="1"/>
              <a:t>endl</a:t>
            </a:r>
            <a:r>
              <a:rPr lang="en-US" altLang="zh-CN" dirty="0"/>
              <a:t>;</a:t>
            </a:r>
          </a:p>
          <a:p>
            <a:r>
              <a:rPr lang="en-US" altLang="zh-CN" dirty="0"/>
              <a:t>	x = </a:t>
            </a:r>
            <a:r>
              <a:rPr lang="en-US" altLang="zh-CN" dirty="0" err="1"/>
              <a:t>newX</a:t>
            </a:r>
            <a:r>
              <a:rPr lang="en-US" altLang="zh-CN" dirty="0"/>
              <a:t>;</a:t>
            </a:r>
          </a:p>
          <a:p>
            <a:r>
              <a:rPr lang="en-US" altLang="zh-CN" dirty="0"/>
              <a:t>	y = </a:t>
            </a:r>
            <a:r>
              <a:rPr lang="en-US" altLang="zh-CN" dirty="0" err="1"/>
              <a:t>newY</a:t>
            </a:r>
            <a:r>
              <a:rPr lang="en-US" altLang="zh-CN" dirty="0"/>
              <a:t>;</a:t>
            </a:r>
          </a:p>
          <a:p>
            <a:r>
              <a:rPr lang="en-US" altLang="zh-CN" dirty="0"/>
              <a:t>}</a:t>
            </a:r>
          </a:p>
          <a:p>
            <a:endParaRPr lang="en-US" altLang="zh-CN" dirty="0"/>
          </a:p>
          <a:p>
            <a:r>
              <a:rPr lang="en-US" altLang="zh-CN" dirty="0"/>
              <a:t>int main() {</a:t>
            </a:r>
          </a:p>
          <a:p>
            <a:r>
              <a:rPr lang="en-US" altLang="zh-CN" dirty="0"/>
              <a:t>	Point a[2];</a:t>
            </a:r>
          </a:p>
          <a:p>
            <a:r>
              <a:rPr lang="en-US" altLang="zh-CN" dirty="0"/>
              <a:t>	Point b[2]={Point(1,2),Point(3,4)};</a:t>
            </a:r>
          </a:p>
          <a:p>
            <a:r>
              <a:rPr lang="en-US" altLang="zh-CN" dirty="0"/>
              <a:t>	return 0;</a:t>
            </a:r>
          </a:p>
          <a:p>
            <a:r>
              <a:rPr lang="en-US" altLang="zh-CN" dirty="0"/>
              <a:t>}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ABDA6A-29CD-4D28-B6EA-E8D4FFDF6043}" type="slidenum">
              <a:rPr lang="zh-CN" altLang="en-US" smtClean="0"/>
              <a:t>31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1695865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>
                <a:latin typeface="Arial" panose="020B0604020202020204" pitchFamily="34" charset="0"/>
              </a:rPr>
              <a:t>#include&lt;iostream&gt;</a:t>
            </a:r>
          </a:p>
          <a:p>
            <a:r>
              <a:rPr lang="en-US" altLang="zh-CN" dirty="0">
                <a:latin typeface="Arial" panose="020B0604020202020204" pitchFamily="34" charset="0"/>
              </a:rPr>
              <a:t>using namespace std;</a:t>
            </a:r>
          </a:p>
          <a:p>
            <a:endParaRPr lang="en-US" altLang="zh-CN" dirty="0">
              <a:latin typeface="Arial" panose="020B0604020202020204" pitchFamily="34" charset="0"/>
            </a:endParaRPr>
          </a:p>
          <a:p>
            <a:r>
              <a:rPr lang="en-US" altLang="zh-CN" dirty="0">
                <a:latin typeface="Arial" panose="020B0604020202020204" pitchFamily="34" charset="0"/>
              </a:rPr>
              <a:t>class Point {</a:t>
            </a:r>
          </a:p>
          <a:p>
            <a:r>
              <a:rPr lang="en-US" altLang="zh-CN" dirty="0">
                <a:latin typeface="Arial" panose="020B0604020202020204" pitchFamily="34" charset="0"/>
              </a:rPr>
              <a:t>public:  </a:t>
            </a:r>
          </a:p>
          <a:p>
            <a:r>
              <a:rPr lang="en-US" altLang="zh-CN" dirty="0">
                <a:latin typeface="Arial" panose="020B0604020202020204" pitchFamily="34" charset="0"/>
              </a:rPr>
              <a:t>	Point(int xx=0, int </a:t>
            </a:r>
            <a:r>
              <a:rPr lang="en-US" altLang="zh-CN" dirty="0" err="1">
                <a:latin typeface="Arial" panose="020B0604020202020204" pitchFamily="34" charset="0"/>
              </a:rPr>
              <a:t>yy</a:t>
            </a:r>
            <a:r>
              <a:rPr lang="en-US" altLang="zh-CN" dirty="0">
                <a:latin typeface="Arial" panose="020B0604020202020204" pitchFamily="34" charset="0"/>
              </a:rPr>
              <a:t>=0); </a:t>
            </a:r>
          </a:p>
          <a:p>
            <a:r>
              <a:rPr lang="en-US" altLang="zh-CN" dirty="0">
                <a:latin typeface="Arial" panose="020B0604020202020204" pitchFamily="34" charset="0"/>
              </a:rPr>
              <a:t>	Point(Point &amp;p);</a:t>
            </a:r>
          </a:p>
          <a:p>
            <a:r>
              <a:rPr lang="en-US" altLang="zh-CN" dirty="0">
                <a:latin typeface="Arial" panose="020B0604020202020204" pitchFamily="34" charset="0"/>
              </a:rPr>
              <a:t>    void </a:t>
            </a:r>
            <a:r>
              <a:rPr lang="en-US" altLang="zh-CN" dirty="0" err="1">
                <a:latin typeface="Arial" panose="020B0604020202020204" pitchFamily="34" charset="0"/>
              </a:rPr>
              <a:t>setXY</a:t>
            </a:r>
            <a:r>
              <a:rPr lang="en-US" altLang="zh-CN" dirty="0">
                <a:latin typeface="Arial" panose="020B0604020202020204" pitchFamily="34" charset="0"/>
              </a:rPr>
              <a:t>(int xx , int </a:t>
            </a:r>
            <a:r>
              <a:rPr lang="en-US" altLang="zh-CN" dirty="0" err="1">
                <a:latin typeface="Arial" panose="020B0604020202020204" pitchFamily="34" charset="0"/>
              </a:rPr>
              <a:t>yy</a:t>
            </a:r>
            <a:r>
              <a:rPr lang="en-US" altLang="zh-CN" dirty="0">
                <a:latin typeface="Arial" panose="020B0604020202020204" pitchFamily="34" charset="0"/>
              </a:rPr>
              <a:t>);</a:t>
            </a:r>
          </a:p>
          <a:p>
            <a:r>
              <a:rPr lang="en-US" altLang="zh-CN" dirty="0">
                <a:latin typeface="Arial" panose="020B0604020202020204" pitchFamily="34" charset="0"/>
              </a:rPr>
              <a:t>	int </a:t>
            </a:r>
            <a:r>
              <a:rPr lang="en-US" altLang="zh-CN" dirty="0" err="1">
                <a:latin typeface="Arial" panose="020B0604020202020204" pitchFamily="34" charset="0"/>
              </a:rPr>
              <a:t>getX</a:t>
            </a:r>
            <a:r>
              <a:rPr lang="en-US" altLang="zh-CN" dirty="0">
                <a:latin typeface="Arial" panose="020B0604020202020204" pitchFamily="34" charset="0"/>
              </a:rPr>
              <a:t>() { return x; }</a:t>
            </a:r>
          </a:p>
          <a:p>
            <a:r>
              <a:rPr lang="en-US" altLang="zh-CN" dirty="0">
                <a:latin typeface="Arial" panose="020B0604020202020204" pitchFamily="34" charset="0"/>
              </a:rPr>
              <a:t>	int </a:t>
            </a:r>
            <a:r>
              <a:rPr lang="en-US" altLang="zh-CN" dirty="0" err="1">
                <a:latin typeface="Arial" panose="020B0604020202020204" pitchFamily="34" charset="0"/>
              </a:rPr>
              <a:t>getY</a:t>
            </a:r>
            <a:r>
              <a:rPr lang="en-US" altLang="zh-CN" dirty="0">
                <a:latin typeface="Arial" panose="020B0604020202020204" pitchFamily="34" charset="0"/>
              </a:rPr>
              <a:t>() { return y; }</a:t>
            </a:r>
          </a:p>
          <a:p>
            <a:r>
              <a:rPr lang="en-US" altLang="zh-CN" dirty="0">
                <a:latin typeface="Arial" panose="020B0604020202020204" pitchFamily="34" charset="0"/>
              </a:rPr>
              <a:t>private: int x, y;</a:t>
            </a:r>
          </a:p>
          <a:p>
            <a:r>
              <a:rPr lang="en-US" altLang="zh-CN" dirty="0">
                <a:latin typeface="Arial" panose="020B0604020202020204" pitchFamily="34" charset="0"/>
              </a:rPr>
              <a:t>};</a:t>
            </a:r>
          </a:p>
          <a:p>
            <a:endParaRPr lang="en-US" altLang="zh-CN" dirty="0">
              <a:latin typeface="Arial" panose="020B0604020202020204" pitchFamily="34" charset="0"/>
            </a:endParaRPr>
          </a:p>
          <a:p>
            <a:endParaRPr lang="en-US" altLang="zh-CN" dirty="0">
              <a:latin typeface="Arial" panose="020B0604020202020204" pitchFamily="34" charset="0"/>
            </a:endParaRPr>
          </a:p>
          <a:p>
            <a:r>
              <a:rPr lang="en-US" altLang="zh-CN" dirty="0">
                <a:latin typeface="Arial" panose="020B0604020202020204" pitchFamily="34" charset="0"/>
              </a:rPr>
              <a:t>Point::Point(int xx, int </a:t>
            </a:r>
            <a:r>
              <a:rPr lang="en-US" altLang="zh-CN" dirty="0" err="1">
                <a:latin typeface="Arial" panose="020B0604020202020204" pitchFamily="34" charset="0"/>
              </a:rPr>
              <a:t>yy</a:t>
            </a:r>
            <a:r>
              <a:rPr lang="en-US" altLang="zh-CN" dirty="0">
                <a:latin typeface="Arial" panose="020B0604020202020204" pitchFamily="34" charset="0"/>
              </a:rPr>
              <a:t>){</a:t>
            </a:r>
          </a:p>
          <a:p>
            <a:r>
              <a:rPr lang="en-US" altLang="zh-CN" dirty="0">
                <a:latin typeface="Arial" panose="020B0604020202020204" pitchFamily="34" charset="0"/>
              </a:rPr>
              <a:t>	x = xx; </a:t>
            </a:r>
          </a:p>
          <a:p>
            <a:r>
              <a:rPr lang="en-US" altLang="zh-CN" dirty="0">
                <a:latin typeface="Arial" panose="020B0604020202020204" pitchFamily="34" charset="0"/>
              </a:rPr>
              <a:t>	y = </a:t>
            </a:r>
            <a:r>
              <a:rPr lang="en-US" altLang="zh-CN" dirty="0" err="1">
                <a:latin typeface="Arial" panose="020B0604020202020204" pitchFamily="34" charset="0"/>
              </a:rPr>
              <a:t>yy</a:t>
            </a:r>
            <a:r>
              <a:rPr lang="en-US" altLang="zh-CN" dirty="0">
                <a:latin typeface="Arial" panose="020B0604020202020204" pitchFamily="34" charset="0"/>
              </a:rPr>
              <a:t>;</a:t>
            </a:r>
          </a:p>
          <a:p>
            <a:r>
              <a:rPr lang="en-US" altLang="zh-CN" dirty="0">
                <a:latin typeface="Arial" panose="020B0604020202020204" pitchFamily="34" charset="0"/>
              </a:rPr>
              <a:t>}</a:t>
            </a:r>
          </a:p>
          <a:p>
            <a:r>
              <a:rPr lang="en-US" altLang="zh-CN" dirty="0">
                <a:latin typeface="Arial" panose="020B0604020202020204" pitchFamily="34" charset="0"/>
              </a:rPr>
              <a:t>Point::Point(Point &amp;p) {</a:t>
            </a:r>
          </a:p>
          <a:p>
            <a:r>
              <a:rPr lang="en-US" altLang="zh-CN" dirty="0">
                <a:latin typeface="Arial" panose="020B0604020202020204" pitchFamily="34" charset="0"/>
              </a:rPr>
              <a:t>	x = </a:t>
            </a:r>
            <a:r>
              <a:rPr lang="en-US" altLang="zh-CN" dirty="0" err="1">
                <a:latin typeface="Arial" panose="020B0604020202020204" pitchFamily="34" charset="0"/>
              </a:rPr>
              <a:t>p.x</a:t>
            </a:r>
            <a:r>
              <a:rPr lang="en-US" altLang="zh-CN" dirty="0">
                <a:latin typeface="Arial" panose="020B0604020202020204" pitchFamily="34" charset="0"/>
              </a:rPr>
              <a:t>; </a:t>
            </a:r>
          </a:p>
          <a:p>
            <a:r>
              <a:rPr lang="en-US" altLang="zh-CN" dirty="0">
                <a:latin typeface="Arial" panose="020B0604020202020204" pitchFamily="34" charset="0"/>
              </a:rPr>
              <a:t>	y = </a:t>
            </a:r>
            <a:r>
              <a:rPr lang="en-US" altLang="zh-CN" dirty="0" err="1">
                <a:latin typeface="Arial" panose="020B0604020202020204" pitchFamily="34" charset="0"/>
              </a:rPr>
              <a:t>p.y</a:t>
            </a:r>
            <a:r>
              <a:rPr lang="en-US" altLang="zh-CN" dirty="0">
                <a:latin typeface="Arial" panose="020B0604020202020204" pitchFamily="34" charset="0"/>
              </a:rPr>
              <a:t>;</a:t>
            </a:r>
          </a:p>
          <a:p>
            <a:r>
              <a:rPr lang="en-US" altLang="zh-CN" dirty="0">
                <a:latin typeface="Arial" panose="020B0604020202020204" pitchFamily="34" charset="0"/>
              </a:rPr>
              <a:t>	</a:t>
            </a:r>
            <a:r>
              <a:rPr lang="en-US" altLang="zh-CN" dirty="0" err="1">
                <a:latin typeface="Arial" panose="020B0604020202020204" pitchFamily="34" charset="0"/>
              </a:rPr>
              <a:t>cout</a:t>
            </a:r>
            <a:r>
              <a:rPr lang="en-US" altLang="zh-CN" dirty="0">
                <a:latin typeface="Arial" panose="020B0604020202020204" pitchFamily="34" charset="0"/>
              </a:rPr>
              <a:t> &lt;&lt; "Calling the copy constructor of Point\n" ;</a:t>
            </a:r>
          </a:p>
          <a:p>
            <a:r>
              <a:rPr lang="en-US" altLang="zh-CN" dirty="0">
                <a:latin typeface="Arial" panose="020B0604020202020204" pitchFamily="34" charset="0"/>
              </a:rPr>
              <a:t>}</a:t>
            </a:r>
          </a:p>
          <a:p>
            <a:r>
              <a:rPr lang="en-US" altLang="zh-CN" dirty="0">
                <a:latin typeface="Arial" panose="020B0604020202020204" pitchFamily="34" charset="0"/>
              </a:rPr>
              <a:t>void Point::</a:t>
            </a:r>
            <a:r>
              <a:rPr lang="en-US" altLang="zh-CN" dirty="0" err="1">
                <a:latin typeface="Arial" panose="020B0604020202020204" pitchFamily="34" charset="0"/>
              </a:rPr>
              <a:t>setXY</a:t>
            </a:r>
            <a:r>
              <a:rPr lang="en-US" altLang="zh-CN" dirty="0">
                <a:latin typeface="Arial" panose="020B0604020202020204" pitchFamily="34" charset="0"/>
              </a:rPr>
              <a:t>(int xx , int </a:t>
            </a:r>
            <a:r>
              <a:rPr lang="en-US" altLang="zh-CN" dirty="0" err="1">
                <a:latin typeface="Arial" panose="020B0604020202020204" pitchFamily="34" charset="0"/>
              </a:rPr>
              <a:t>yy</a:t>
            </a:r>
            <a:r>
              <a:rPr lang="en-US" altLang="zh-CN" dirty="0">
                <a:latin typeface="Arial" panose="020B0604020202020204" pitchFamily="34" charset="0"/>
              </a:rPr>
              <a:t>) {</a:t>
            </a:r>
          </a:p>
          <a:p>
            <a:r>
              <a:rPr lang="en-US" altLang="zh-CN" dirty="0">
                <a:latin typeface="Arial" panose="020B0604020202020204" pitchFamily="34" charset="0"/>
              </a:rPr>
              <a:t>	x=xx; </a:t>
            </a:r>
          </a:p>
          <a:p>
            <a:r>
              <a:rPr lang="en-US" altLang="zh-CN" dirty="0">
                <a:latin typeface="Arial" panose="020B0604020202020204" pitchFamily="34" charset="0"/>
              </a:rPr>
              <a:t>	y=</a:t>
            </a:r>
            <a:r>
              <a:rPr lang="en-US" altLang="zh-CN" dirty="0" err="1">
                <a:latin typeface="Arial" panose="020B0604020202020204" pitchFamily="34" charset="0"/>
              </a:rPr>
              <a:t>yy</a:t>
            </a:r>
            <a:r>
              <a:rPr lang="en-US" altLang="zh-CN" dirty="0">
                <a:latin typeface="Arial" panose="020B0604020202020204" pitchFamily="34" charset="0"/>
              </a:rPr>
              <a:t>;</a:t>
            </a:r>
          </a:p>
          <a:p>
            <a:r>
              <a:rPr lang="en-US" altLang="zh-CN" dirty="0">
                <a:latin typeface="Arial" panose="020B0604020202020204" pitchFamily="34" charset="0"/>
              </a:rPr>
              <a:t>}</a:t>
            </a:r>
          </a:p>
          <a:p>
            <a:endParaRPr lang="en-US" altLang="zh-CN" dirty="0">
              <a:latin typeface="Arial" panose="020B0604020202020204" pitchFamily="34" charset="0"/>
            </a:endParaRPr>
          </a:p>
          <a:p>
            <a:r>
              <a:rPr lang="en-US" altLang="zh-CN" dirty="0">
                <a:latin typeface="Arial" panose="020B0604020202020204" pitchFamily="34" charset="0"/>
              </a:rPr>
              <a:t>int main()</a:t>
            </a:r>
          </a:p>
          <a:p>
            <a:r>
              <a:rPr lang="en-US" altLang="zh-CN" dirty="0">
                <a:latin typeface="Arial" panose="020B0604020202020204" pitchFamily="34" charset="0"/>
              </a:rPr>
              <a:t>{	Point  myp1(4, 5);</a:t>
            </a:r>
          </a:p>
          <a:p>
            <a:r>
              <a:rPr lang="en-US" altLang="zh-CN" dirty="0">
                <a:latin typeface="Arial" panose="020B0604020202020204" pitchFamily="34" charset="0"/>
              </a:rPr>
              <a:t>	Point* p = &amp;myp1;</a:t>
            </a:r>
          </a:p>
          <a:p>
            <a:r>
              <a:rPr lang="en-US" altLang="zh-CN" dirty="0">
                <a:latin typeface="Arial" panose="020B0604020202020204" pitchFamily="34" charset="0"/>
              </a:rPr>
              <a:t>	</a:t>
            </a:r>
            <a:r>
              <a:rPr lang="en-US" altLang="zh-CN" dirty="0" err="1">
                <a:latin typeface="Arial" panose="020B0604020202020204" pitchFamily="34" charset="0"/>
              </a:rPr>
              <a:t>cout</a:t>
            </a:r>
            <a:r>
              <a:rPr lang="en-US" altLang="zh-CN" dirty="0">
                <a:latin typeface="Arial" panose="020B0604020202020204" pitchFamily="34" charset="0"/>
              </a:rPr>
              <a:t> &lt;&lt; p-&gt;</a:t>
            </a:r>
            <a:r>
              <a:rPr lang="en-US" altLang="zh-CN" dirty="0" err="1">
                <a:latin typeface="Arial" panose="020B0604020202020204" pitchFamily="34" charset="0"/>
              </a:rPr>
              <a:t>getX</a:t>
            </a:r>
            <a:r>
              <a:rPr lang="en-US" altLang="zh-CN" dirty="0">
                <a:latin typeface="Arial" panose="020B0604020202020204" pitchFamily="34" charset="0"/>
              </a:rPr>
              <a:t>()&lt;&lt;","&lt;&lt;p-&gt;</a:t>
            </a:r>
            <a:r>
              <a:rPr lang="en-US" altLang="zh-CN" dirty="0" err="1">
                <a:latin typeface="Arial" panose="020B0604020202020204" pitchFamily="34" charset="0"/>
              </a:rPr>
              <a:t>getY</a:t>
            </a:r>
            <a:r>
              <a:rPr lang="en-US" altLang="zh-CN" dirty="0">
                <a:latin typeface="Arial" panose="020B0604020202020204" pitchFamily="34" charset="0"/>
              </a:rPr>
              <a:t>()&lt;&lt;'\n';</a:t>
            </a:r>
          </a:p>
          <a:p>
            <a:r>
              <a:rPr lang="en-US" altLang="zh-CN" dirty="0">
                <a:latin typeface="Arial" panose="020B0604020202020204" pitchFamily="34" charset="0"/>
              </a:rPr>
              <a:t>	</a:t>
            </a:r>
            <a:r>
              <a:rPr lang="en-US" altLang="zh-CN" dirty="0" err="1">
                <a:latin typeface="Arial" panose="020B0604020202020204" pitchFamily="34" charset="0"/>
              </a:rPr>
              <a:t>cout</a:t>
            </a:r>
            <a:r>
              <a:rPr lang="en-US" altLang="zh-CN" dirty="0">
                <a:latin typeface="Arial" panose="020B0604020202020204" pitchFamily="34" charset="0"/>
              </a:rPr>
              <a:t> &lt;&lt; myp1.getX()&lt;&lt;","&lt;&lt;myp1.getY()&lt;&lt;'\n';</a:t>
            </a:r>
          </a:p>
          <a:p>
            <a:r>
              <a:rPr lang="en-US" altLang="zh-CN" dirty="0">
                <a:latin typeface="Arial" panose="020B0604020202020204" pitchFamily="34" charset="0"/>
              </a:rPr>
              <a:t>	return 0;</a:t>
            </a:r>
          </a:p>
          <a:p>
            <a:r>
              <a:rPr lang="en-US" altLang="zh-CN" dirty="0">
                <a:latin typeface="Arial" panose="020B0604020202020204" pitchFamily="34" charset="0"/>
              </a:rPr>
              <a:t>}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ABDA6A-29CD-4D28-B6EA-E8D4FFDF6043}" type="slidenum">
              <a:rPr lang="zh-CN" altLang="en-US" smtClean="0"/>
              <a:t>32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25296633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ABDA6A-29CD-4D28-B6EA-E8D4FFDF6043}" type="slidenum">
              <a:rPr lang="zh-CN" altLang="en-US" smtClean="0"/>
              <a:t>33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45010459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调用成员函数时，对象的地址被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ABDA6A-29CD-4D28-B6EA-E8D4FFDF6043}" type="slidenum">
              <a:rPr lang="zh-CN" altLang="en-US" smtClean="0"/>
              <a:t>34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50046793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150000"/>
              </a:lnSpc>
              <a:spcBef>
                <a:spcPts val="1200"/>
              </a:spcBef>
              <a:buClrTx/>
              <a:buSzTx/>
              <a:buFontTx/>
              <a:buNone/>
            </a:pPr>
            <a:r>
              <a:rPr kumimoji="1" lang="en-US" altLang="zh-CN" sz="1600" dirty="0">
                <a:solidFill>
                  <a:schemeClr val="tx1"/>
                </a:solidFill>
              </a:rPr>
              <a:t>#include&lt;iostream&gt;</a:t>
            </a:r>
          </a:p>
          <a:p>
            <a:pPr eaLnBrk="1" hangingPunct="1">
              <a:lnSpc>
                <a:spcPct val="150000"/>
              </a:lnSpc>
              <a:spcBef>
                <a:spcPts val="1200"/>
              </a:spcBef>
              <a:buClrTx/>
              <a:buSzTx/>
              <a:buFontTx/>
              <a:buNone/>
            </a:pPr>
            <a:r>
              <a:rPr kumimoji="1" lang="en-US" altLang="zh-CN" sz="1600" dirty="0">
                <a:solidFill>
                  <a:schemeClr val="tx1"/>
                </a:solidFill>
              </a:rPr>
              <a:t>#include &lt;</a:t>
            </a:r>
            <a:r>
              <a:rPr kumimoji="1" lang="en-US" altLang="zh-CN" sz="1600" dirty="0" err="1">
                <a:solidFill>
                  <a:schemeClr val="tx1"/>
                </a:solidFill>
              </a:rPr>
              <a:t>cstring</a:t>
            </a:r>
            <a:r>
              <a:rPr kumimoji="1" lang="en-US" altLang="zh-CN" sz="1600" dirty="0">
                <a:solidFill>
                  <a:schemeClr val="tx1"/>
                </a:solidFill>
              </a:rPr>
              <a:t>&gt;</a:t>
            </a:r>
          </a:p>
          <a:p>
            <a:pPr eaLnBrk="1" hangingPunct="1">
              <a:lnSpc>
                <a:spcPct val="150000"/>
              </a:lnSpc>
              <a:spcBef>
                <a:spcPts val="1200"/>
              </a:spcBef>
              <a:buClrTx/>
              <a:buSzTx/>
              <a:buFontTx/>
              <a:buNone/>
            </a:pPr>
            <a:r>
              <a:rPr kumimoji="1" lang="en-US" altLang="zh-CN" sz="1600" dirty="0">
                <a:solidFill>
                  <a:schemeClr val="tx1"/>
                </a:solidFill>
              </a:rPr>
              <a:t>using namespace std;</a:t>
            </a:r>
          </a:p>
          <a:p>
            <a:pPr eaLnBrk="1" hangingPunct="1">
              <a:lnSpc>
                <a:spcPct val="150000"/>
              </a:lnSpc>
              <a:spcBef>
                <a:spcPts val="1200"/>
              </a:spcBef>
              <a:buClrTx/>
              <a:buSzTx/>
              <a:buFontTx/>
              <a:buNone/>
            </a:pPr>
            <a:endParaRPr kumimoji="1" lang="en-US" altLang="zh-CN" sz="1600" dirty="0">
              <a:solidFill>
                <a:schemeClr val="tx1"/>
              </a:solidFill>
            </a:endParaRPr>
          </a:p>
          <a:p>
            <a:pPr eaLnBrk="1" hangingPunct="1">
              <a:lnSpc>
                <a:spcPct val="150000"/>
              </a:lnSpc>
              <a:spcBef>
                <a:spcPts val="1200"/>
              </a:spcBef>
              <a:buClrTx/>
              <a:buSzTx/>
              <a:buFontTx/>
              <a:buNone/>
            </a:pPr>
            <a:r>
              <a:rPr kumimoji="1" lang="en-US" altLang="zh-CN" sz="1600" dirty="0">
                <a:solidFill>
                  <a:schemeClr val="tx1"/>
                </a:solidFill>
              </a:rPr>
              <a:t>class Name {</a:t>
            </a:r>
          </a:p>
          <a:p>
            <a:pPr eaLnBrk="1" hangingPunct="1">
              <a:lnSpc>
                <a:spcPct val="150000"/>
              </a:lnSpc>
              <a:spcBef>
                <a:spcPts val="1200"/>
              </a:spcBef>
              <a:buClrTx/>
              <a:buSzTx/>
              <a:buFontTx/>
              <a:buNone/>
            </a:pPr>
            <a:r>
              <a:rPr kumimoji="1" lang="en-US" altLang="zh-CN" sz="1600" dirty="0">
                <a:solidFill>
                  <a:schemeClr val="tx1"/>
                </a:solidFill>
              </a:rPr>
              <a:t>public:</a:t>
            </a:r>
          </a:p>
          <a:p>
            <a:pPr eaLnBrk="1" hangingPunct="1">
              <a:lnSpc>
                <a:spcPct val="150000"/>
              </a:lnSpc>
              <a:spcBef>
                <a:spcPts val="1200"/>
              </a:spcBef>
              <a:buClrTx/>
              <a:buSzTx/>
              <a:buFontTx/>
              <a:buNone/>
            </a:pPr>
            <a:r>
              <a:rPr kumimoji="1" lang="en-US" altLang="zh-CN" sz="1600" dirty="0">
                <a:solidFill>
                  <a:schemeClr val="tx1"/>
                </a:solidFill>
              </a:rPr>
              <a:t>    Name();</a:t>
            </a:r>
          </a:p>
          <a:p>
            <a:pPr eaLnBrk="1" hangingPunct="1">
              <a:lnSpc>
                <a:spcPct val="150000"/>
              </a:lnSpc>
              <a:spcBef>
                <a:spcPts val="1200"/>
              </a:spcBef>
              <a:buClrTx/>
              <a:buSzTx/>
              <a:buFontTx/>
              <a:buNone/>
            </a:pPr>
            <a:r>
              <a:rPr kumimoji="1" lang="en-US" altLang="zh-CN" sz="1600" dirty="0">
                <a:solidFill>
                  <a:schemeClr val="tx1"/>
                </a:solidFill>
              </a:rPr>
              <a:t>    Name(char *s);</a:t>
            </a:r>
          </a:p>
          <a:p>
            <a:pPr eaLnBrk="1" hangingPunct="1">
              <a:lnSpc>
                <a:spcPct val="150000"/>
              </a:lnSpc>
              <a:spcBef>
                <a:spcPts val="1200"/>
              </a:spcBef>
              <a:buClrTx/>
              <a:buSzTx/>
              <a:buFontTx/>
              <a:buNone/>
            </a:pPr>
            <a:r>
              <a:rPr kumimoji="1" lang="en-US" altLang="zh-CN" sz="1600" dirty="0">
                <a:solidFill>
                  <a:schemeClr val="tx1"/>
                </a:solidFill>
              </a:rPr>
              <a:t>    ~Name();</a:t>
            </a:r>
          </a:p>
          <a:p>
            <a:pPr eaLnBrk="1" hangingPunct="1">
              <a:lnSpc>
                <a:spcPct val="150000"/>
              </a:lnSpc>
              <a:spcBef>
                <a:spcPts val="1200"/>
              </a:spcBef>
              <a:buClrTx/>
              <a:buSzTx/>
              <a:buFontTx/>
              <a:buNone/>
            </a:pPr>
            <a:r>
              <a:rPr kumimoji="1" lang="en-US" altLang="zh-CN" sz="1600" dirty="0">
                <a:solidFill>
                  <a:schemeClr val="tx1"/>
                </a:solidFill>
              </a:rPr>
              <a:t>    void set(char *s);      </a:t>
            </a:r>
          </a:p>
          <a:p>
            <a:pPr eaLnBrk="1" hangingPunct="1">
              <a:lnSpc>
                <a:spcPct val="150000"/>
              </a:lnSpc>
              <a:spcBef>
                <a:spcPts val="1200"/>
              </a:spcBef>
              <a:buClrTx/>
              <a:buSzTx/>
              <a:buFontTx/>
              <a:buNone/>
            </a:pPr>
            <a:r>
              <a:rPr kumimoji="1" lang="en-US" altLang="zh-CN" sz="1600" dirty="0">
                <a:solidFill>
                  <a:schemeClr val="tx1"/>
                </a:solidFill>
              </a:rPr>
              <a:t>    void show();</a:t>
            </a:r>
          </a:p>
          <a:p>
            <a:pPr eaLnBrk="1" hangingPunct="1">
              <a:lnSpc>
                <a:spcPct val="150000"/>
              </a:lnSpc>
              <a:spcBef>
                <a:spcPts val="1200"/>
              </a:spcBef>
              <a:buClrTx/>
              <a:buSzTx/>
              <a:buFontTx/>
              <a:buNone/>
            </a:pPr>
            <a:r>
              <a:rPr kumimoji="1" lang="en-US" altLang="zh-CN" sz="1600" dirty="0">
                <a:solidFill>
                  <a:schemeClr val="tx1"/>
                </a:solidFill>
              </a:rPr>
              <a:t>private:</a:t>
            </a:r>
          </a:p>
          <a:p>
            <a:pPr eaLnBrk="1" hangingPunct="1">
              <a:lnSpc>
                <a:spcPct val="150000"/>
              </a:lnSpc>
              <a:spcBef>
                <a:spcPts val="1200"/>
              </a:spcBef>
              <a:buClrTx/>
              <a:buSzTx/>
              <a:buFontTx/>
              <a:buNone/>
            </a:pPr>
            <a:r>
              <a:rPr kumimoji="1" lang="en-US" altLang="zh-CN" sz="1600" dirty="0">
                <a:solidFill>
                  <a:schemeClr val="tx1"/>
                </a:solidFill>
              </a:rPr>
              <a:t>   char *p;</a:t>
            </a:r>
          </a:p>
          <a:p>
            <a:pPr eaLnBrk="1" hangingPunct="1">
              <a:lnSpc>
                <a:spcPct val="150000"/>
              </a:lnSpc>
              <a:spcBef>
                <a:spcPts val="1200"/>
              </a:spcBef>
              <a:buClrTx/>
              <a:buSzTx/>
              <a:buFontTx/>
              <a:buNone/>
            </a:pPr>
            <a:r>
              <a:rPr kumimoji="1" lang="en-US" altLang="zh-CN" sz="1600" dirty="0">
                <a:solidFill>
                  <a:schemeClr val="tx1"/>
                </a:solidFill>
              </a:rPr>
              <a:t>};</a:t>
            </a:r>
          </a:p>
          <a:p>
            <a:pPr eaLnBrk="1" hangingPunct="1">
              <a:lnSpc>
                <a:spcPct val="150000"/>
              </a:lnSpc>
              <a:spcBef>
                <a:spcPts val="1200"/>
              </a:spcBef>
              <a:buClrTx/>
              <a:buSzTx/>
              <a:buFontTx/>
              <a:buNone/>
            </a:pPr>
            <a:r>
              <a:rPr kumimoji="1" lang="en-US" altLang="zh-CN" sz="1600" dirty="0">
                <a:solidFill>
                  <a:schemeClr val="tx1"/>
                </a:solidFill>
              </a:rPr>
              <a:t>Name::Name(){p=NULL;}</a:t>
            </a:r>
          </a:p>
          <a:p>
            <a:pPr eaLnBrk="1" hangingPunct="1">
              <a:lnSpc>
                <a:spcPct val="150000"/>
              </a:lnSpc>
              <a:spcBef>
                <a:spcPts val="1200"/>
              </a:spcBef>
              <a:buClrTx/>
              <a:buSzTx/>
              <a:buFontTx/>
              <a:buNone/>
            </a:pPr>
            <a:endParaRPr kumimoji="1" lang="en-US" altLang="zh-CN" sz="1600" dirty="0">
              <a:solidFill>
                <a:schemeClr val="tx1"/>
              </a:solidFill>
            </a:endParaRPr>
          </a:p>
          <a:p>
            <a:pPr eaLnBrk="1" hangingPunct="1">
              <a:lnSpc>
                <a:spcPct val="150000"/>
              </a:lnSpc>
              <a:spcBef>
                <a:spcPts val="1200"/>
              </a:spcBef>
              <a:buClrTx/>
              <a:buSzTx/>
              <a:buFontTx/>
              <a:buNone/>
            </a:pPr>
            <a:r>
              <a:rPr kumimoji="1" lang="en-US" altLang="zh-CN" sz="1600" dirty="0">
                <a:solidFill>
                  <a:schemeClr val="tx1"/>
                </a:solidFill>
              </a:rPr>
              <a:t>Name::Name(char *s){  </a:t>
            </a:r>
          </a:p>
          <a:p>
            <a:pPr eaLnBrk="1" hangingPunct="1">
              <a:lnSpc>
                <a:spcPct val="150000"/>
              </a:lnSpc>
              <a:spcBef>
                <a:spcPts val="1200"/>
              </a:spcBef>
              <a:buClrTx/>
              <a:buSzTx/>
              <a:buFontTx/>
              <a:buNone/>
            </a:pPr>
            <a:r>
              <a:rPr kumimoji="1" lang="en-US" altLang="zh-CN" sz="1600" dirty="0">
                <a:solidFill>
                  <a:schemeClr val="tx1"/>
                </a:solidFill>
              </a:rPr>
              <a:t>	p=new char[</a:t>
            </a:r>
            <a:r>
              <a:rPr kumimoji="1" lang="en-US" altLang="zh-CN" sz="1600" dirty="0" err="1">
                <a:solidFill>
                  <a:schemeClr val="tx1"/>
                </a:solidFill>
              </a:rPr>
              <a:t>strlen</a:t>
            </a:r>
            <a:r>
              <a:rPr kumimoji="1" lang="en-US" altLang="zh-CN" sz="1600" dirty="0">
                <a:solidFill>
                  <a:schemeClr val="tx1"/>
                </a:solidFill>
              </a:rPr>
              <a:t>(s)+1];</a:t>
            </a:r>
          </a:p>
          <a:p>
            <a:pPr eaLnBrk="1" hangingPunct="1">
              <a:lnSpc>
                <a:spcPct val="150000"/>
              </a:lnSpc>
              <a:spcBef>
                <a:spcPts val="1200"/>
              </a:spcBef>
              <a:buClrTx/>
              <a:buSzTx/>
              <a:buFontTx/>
              <a:buNone/>
            </a:pPr>
            <a:r>
              <a:rPr kumimoji="1" lang="en-US" altLang="zh-CN" sz="1600" dirty="0">
                <a:solidFill>
                  <a:schemeClr val="tx1"/>
                </a:solidFill>
              </a:rPr>
              <a:t>	</a:t>
            </a:r>
            <a:r>
              <a:rPr kumimoji="1" lang="en-US" altLang="zh-CN" sz="1600" dirty="0" err="1">
                <a:solidFill>
                  <a:schemeClr val="tx1"/>
                </a:solidFill>
              </a:rPr>
              <a:t>strcpy</a:t>
            </a:r>
            <a:r>
              <a:rPr kumimoji="1" lang="en-US" altLang="zh-CN" sz="1600" dirty="0">
                <a:solidFill>
                  <a:schemeClr val="tx1"/>
                </a:solidFill>
              </a:rPr>
              <a:t>(</a:t>
            </a:r>
            <a:r>
              <a:rPr kumimoji="1" lang="en-US" altLang="zh-CN" sz="1600" dirty="0" err="1">
                <a:solidFill>
                  <a:schemeClr val="tx1"/>
                </a:solidFill>
              </a:rPr>
              <a:t>p,s</a:t>
            </a:r>
            <a:r>
              <a:rPr kumimoji="1" lang="en-US" altLang="zh-CN" sz="1600" dirty="0">
                <a:solidFill>
                  <a:schemeClr val="tx1"/>
                </a:solidFill>
              </a:rPr>
              <a:t>);</a:t>
            </a:r>
          </a:p>
          <a:p>
            <a:pPr eaLnBrk="1" hangingPunct="1">
              <a:lnSpc>
                <a:spcPct val="150000"/>
              </a:lnSpc>
              <a:spcBef>
                <a:spcPts val="1200"/>
              </a:spcBef>
              <a:buClrTx/>
              <a:buSzTx/>
              <a:buFontTx/>
              <a:buNone/>
            </a:pPr>
            <a:r>
              <a:rPr kumimoji="1" lang="en-US" altLang="zh-CN" sz="1600" dirty="0">
                <a:solidFill>
                  <a:schemeClr val="tx1"/>
                </a:solidFill>
              </a:rPr>
              <a:t>}</a:t>
            </a:r>
          </a:p>
          <a:p>
            <a:pPr eaLnBrk="1" hangingPunct="1">
              <a:lnSpc>
                <a:spcPct val="150000"/>
              </a:lnSpc>
              <a:spcBef>
                <a:spcPts val="1200"/>
              </a:spcBef>
              <a:buClrTx/>
              <a:buSzTx/>
              <a:buFontTx/>
              <a:buNone/>
            </a:pPr>
            <a:endParaRPr kumimoji="1" lang="en-US" altLang="zh-CN" sz="1600" dirty="0">
              <a:solidFill>
                <a:schemeClr val="tx1"/>
              </a:solidFill>
            </a:endParaRPr>
          </a:p>
          <a:p>
            <a:pPr eaLnBrk="1" hangingPunct="1">
              <a:lnSpc>
                <a:spcPct val="150000"/>
              </a:lnSpc>
              <a:spcBef>
                <a:spcPts val="1200"/>
              </a:spcBef>
              <a:buClrTx/>
              <a:buSzTx/>
              <a:buFontTx/>
              <a:buNone/>
            </a:pPr>
            <a:r>
              <a:rPr kumimoji="1" lang="en-US" altLang="zh-CN" sz="1600" dirty="0">
                <a:solidFill>
                  <a:schemeClr val="tx1"/>
                </a:solidFill>
              </a:rPr>
              <a:t>Name::~Name(){</a:t>
            </a:r>
          </a:p>
          <a:p>
            <a:pPr eaLnBrk="1" hangingPunct="1">
              <a:lnSpc>
                <a:spcPct val="150000"/>
              </a:lnSpc>
              <a:spcBef>
                <a:spcPts val="1200"/>
              </a:spcBef>
              <a:buClrTx/>
              <a:buSzTx/>
              <a:buFontTx/>
              <a:buNone/>
            </a:pPr>
            <a:r>
              <a:rPr kumimoji="1" lang="en-US" altLang="zh-CN" sz="1600" dirty="0">
                <a:solidFill>
                  <a:schemeClr val="tx1"/>
                </a:solidFill>
              </a:rPr>
              <a:t>	</a:t>
            </a:r>
            <a:r>
              <a:rPr kumimoji="1" lang="en-US" altLang="zh-CN" sz="1600" dirty="0" err="1">
                <a:solidFill>
                  <a:schemeClr val="tx1"/>
                </a:solidFill>
              </a:rPr>
              <a:t>cout</a:t>
            </a:r>
            <a:r>
              <a:rPr kumimoji="1" lang="en-US" altLang="zh-CN" sz="1600" dirty="0">
                <a:solidFill>
                  <a:schemeClr val="tx1"/>
                </a:solidFill>
              </a:rPr>
              <a:t>&lt;&lt;"Destructing."&lt;&lt;</a:t>
            </a:r>
            <a:r>
              <a:rPr kumimoji="1" lang="en-US" altLang="zh-CN" sz="1600" dirty="0" err="1">
                <a:solidFill>
                  <a:schemeClr val="tx1"/>
                </a:solidFill>
              </a:rPr>
              <a:t>endl</a:t>
            </a:r>
            <a:r>
              <a:rPr kumimoji="1" lang="en-US" altLang="zh-CN" sz="1600" dirty="0">
                <a:solidFill>
                  <a:schemeClr val="tx1"/>
                </a:solidFill>
              </a:rPr>
              <a:t>;</a:t>
            </a:r>
          </a:p>
          <a:p>
            <a:pPr eaLnBrk="1" hangingPunct="1">
              <a:lnSpc>
                <a:spcPct val="150000"/>
              </a:lnSpc>
              <a:spcBef>
                <a:spcPts val="1200"/>
              </a:spcBef>
              <a:buClrTx/>
              <a:buSzTx/>
              <a:buFontTx/>
              <a:buNone/>
            </a:pPr>
            <a:r>
              <a:rPr kumimoji="1" lang="en-US" altLang="zh-CN" sz="1600" dirty="0">
                <a:solidFill>
                  <a:schemeClr val="tx1"/>
                </a:solidFill>
              </a:rPr>
              <a:t>	if(p!=NULL) delete [] p;</a:t>
            </a:r>
          </a:p>
          <a:p>
            <a:pPr eaLnBrk="1" hangingPunct="1">
              <a:lnSpc>
                <a:spcPct val="150000"/>
              </a:lnSpc>
              <a:spcBef>
                <a:spcPts val="1200"/>
              </a:spcBef>
              <a:buClrTx/>
              <a:buSzTx/>
              <a:buFontTx/>
              <a:buNone/>
            </a:pPr>
            <a:r>
              <a:rPr kumimoji="1" lang="en-US" altLang="zh-CN" sz="1600" dirty="0">
                <a:solidFill>
                  <a:schemeClr val="tx1"/>
                </a:solidFill>
              </a:rPr>
              <a:t>}</a:t>
            </a:r>
          </a:p>
          <a:p>
            <a:pPr eaLnBrk="1" hangingPunct="1">
              <a:lnSpc>
                <a:spcPct val="150000"/>
              </a:lnSpc>
              <a:spcBef>
                <a:spcPts val="1200"/>
              </a:spcBef>
              <a:buClrTx/>
              <a:buSzTx/>
              <a:buFontTx/>
              <a:buNone/>
            </a:pPr>
            <a:endParaRPr kumimoji="1" lang="en-US" altLang="zh-CN" sz="1600" dirty="0">
              <a:solidFill>
                <a:schemeClr val="tx1"/>
              </a:solidFill>
            </a:endParaRPr>
          </a:p>
          <a:p>
            <a:pPr eaLnBrk="1" hangingPunct="1">
              <a:lnSpc>
                <a:spcPct val="150000"/>
              </a:lnSpc>
              <a:spcBef>
                <a:spcPts val="1200"/>
              </a:spcBef>
              <a:buClrTx/>
              <a:buSzTx/>
              <a:buFontTx/>
              <a:buNone/>
            </a:pPr>
            <a:r>
              <a:rPr kumimoji="1" lang="en-US" altLang="zh-CN" sz="1600" dirty="0">
                <a:solidFill>
                  <a:schemeClr val="tx1"/>
                </a:solidFill>
              </a:rPr>
              <a:t>void Name::set(char *s){</a:t>
            </a:r>
            <a:r>
              <a:rPr kumimoji="1" lang="en-US" altLang="zh-CN" sz="1600" dirty="0" err="1">
                <a:solidFill>
                  <a:schemeClr val="tx1"/>
                </a:solidFill>
              </a:rPr>
              <a:t>strcpy</a:t>
            </a:r>
            <a:r>
              <a:rPr kumimoji="1" lang="en-US" altLang="zh-CN" sz="1600" dirty="0">
                <a:solidFill>
                  <a:schemeClr val="tx1"/>
                </a:solidFill>
              </a:rPr>
              <a:t>(</a:t>
            </a:r>
            <a:r>
              <a:rPr kumimoji="1" lang="en-US" altLang="zh-CN" sz="1600" dirty="0" err="1">
                <a:solidFill>
                  <a:schemeClr val="tx1"/>
                </a:solidFill>
              </a:rPr>
              <a:t>p,s</a:t>
            </a:r>
            <a:r>
              <a:rPr kumimoji="1" lang="en-US" altLang="zh-CN" sz="1600" dirty="0">
                <a:solidFill>
                  <a:schemeClr val="tx1"/>
                </a:solidFill>
              </a:rPr>
              <a:t>);}</a:t>
            </a:r>
          </a:p>
          <a:p>
            <a:pPr eaLnBrk="1" hangingPunct="1">
              <a:lnSpc>
                <a:spcPct val="150000"/>
              </a:lnSpc>
              <a:spcBef>
                <a:spcPts val="1200"/>
              </a:spcBef>
              <a:buClrTx/>
              <a:buSzTx/>
              <a:buFontTx/>
              <a:buNone/>
            </a:pPr>
            <a:endParaRPr kumimoji="1" lang="en-US" altLang="zh-CN" sz="1600" dirty="0">
              <a:solidFill>
                <a:schemeClr val="tx1"/>
              </a:solidFill>
            </a:endParaRPr>
          </a:p>
          <a:p>
            <a:pPr eaLnBrk="1" hangingPunct="1">
              <a:lnSpc>
                <a:spcPct val="150000"/>
              </a:lnSpc>
              <a:spcBef>
                <a:spcPts val="1200"/>
              </a:spcBef>
              <a:buClrTx/>
              <a:buSzTx/>
              <a:buFontTx/>
              <a:buNone/>
            </a:pPr>
            <a:r>
              <a:rPr kumimoji="1" lang="en-US" altLang="zh-CN" sz="1600" dirty="0">
                <a:solidFill>
                  <a:schemeClr val="tx1"/>
                </a:solidFill>
              </a:rPr>
              <a:t>void Name::show(){</a:t>
            </a:r>
            <a:r>
              <a:rPr kumimoji="1" lang="en-US" altLang="zh-CN" sz="1600" dirty="0" err="1">
                <a:solidFill>
                  <a:schemeClr val="tx1"/>
                </a:solidFill>
              </a:rPr>
              <a:t>cout</a:t>
            </a:r>
            <a:r>
              <a:rPr kumimoji="1" lang="en-US" altLang="zh-CN" sz="1600" dirty="0">
                <a:solidFill>
                  <a:schemeClr val="tx1"/>
                </a:solidFill>
              </a:rPr>
              <a:t>&lt;&lt;p&lt;&lt;</a:t>
            </a:r>
            <a:r>
              <a:rPr kumimoji="1" lang="en-US" altLang="zh-CN" sz="1600" dirty="0" err="1">
                <a:solidFill>
                  <a:schemeClr val="tx1"/>
                </a:solidFill>
              </a:rPr>
              <a:t>endl</a:t>
            </a:r>
            <a:r>
              <a:rPr kumimoji="1" lang="en-US" altLang="zh-CN" sz="1600" dirty="0">
                <a:solidFill>
                  <a:schemeClr val="tx1"/>
                </a:solidFill>
              </a:rPr>
              <a:t>;}</a:t>
            </a:r>
          </a:p>
          <a:p>
            <a:pPr eaLnBrk="1" hangingPunct="1">
              <a:lnSpc>
                <a:spcPct val="150000"/>
              </a:lnSpc>
              <a:spcBef>
                <a:spcPts val="1200"/>
              </a:spcBef>
              <a:buClrTx/>
              <a:buSzTx/>
              <a:buFontTx/>
              <a:buNone/>
            </a:pPr>
            <a:endParaRPr kumimoji="1" lang="en-US" altLang="zh-CN" sz="1600" dirty="0">
              <a:solidFill>
                <a:schemeClr val="tx1"/>
              </a:solidFill>
            </a:endParaRPr>
          </a:p>
          <a:p>
            <a:pPr eaLnBrk="1" hangingPunct="1">
              <a:lnSpc>
                <a:spcPct val="150000"/>
              </a:lnSpc>
              <a:spcBef>
                <a:spcPts val="1200"/>
              </a:spcBef>
              <a:buClrTx/>
              <a:buSzTx/>
              <a:buFontTx/>
              <a:buNone/>
            </a:pPr>
            <a:r>
              <a:rPr kumimoji="1" lang="en-US" altLang="zh-CN" sz="1600" dirty="0">
                <a:solidFill>
                  <a:schemeClr val="tx1"/>
                </a:solidFill>
              </a:rPr>
              <a:t>int main(){</a:t>
            </a:r>
          </a:p>
          <a:p>
            <a:pPr eaLnBrk="1" hangingPunct="1">
              <a:lnSpc>
                <a:spcPct val="150000"/>
              </a:lnSpc>
              <a:spcBef>
                <a:spcPts val="1200"/>
              </a:spcBef>
              <a:buClrTx/>
              <a:buSzTx/>
              <a:buFontTx/>
              <a:buNone/>
            </a:pPr>
            <a:r>
              <a:rPr kumimoji="1" lang="en-US" altLang="zh-CN" sz="1600" dirty="0">
                <a:solidFill>
                  <a:schemeClr val="tx1"/>
                </a:solidFill>
              </a:rPr>
              <a:t>	char </a:t>
            </a:r>
            <a:r>
              <a:rPr kumimoji="1" lang="en-US" altLang="zh-CN" sz="1600" dirty="0" err="1">
                <a:solidFill>
                  <a:schemeClr val="tx1"/>
                </a:solidFill>
              </a:rPr>
              <a:t>temp_str</a:t>
            </a:r>
            <a:r>
              <a:rPr kumimoji="1" lang="en-US" altLang="zh-CN" sz="1600" dirty="0">
                <a:solidFill>
                  <a:schemeClr val="tx1"/>
                </a:solidFill>
              </a:rPr>
              <a:t>[20]="wang";</a:t>
            </a:r>
          </a:p>
          <a:p>
            <a:pPr eaLnBrk="1" hangingPunct="1">
              <a:lnSpc>
                <a:spcPct val="150000"/>
              </a:lnSpc>
              <a:spcBef>
                <a:spcPts val="1200"/>
              </a:spcBef>
              <a:buClrTx/>
              <a:buSzTx/>
              <a:buFontTx/>
              <a:buNone/>
            </a:pPr>
            <a:r>
              <a:rPr kumimoji="1" lang="en-US" altLang="zh-CN" sz="1600" dirty="0">
                <a:solidFill>
                  <a:schemeClr val="tx1"/>
                </a:solidFill>
              </a:rPr>
              <a:t>	Name </a:t>
            </a:r>
            <a:r>
              <a:rPr kumimoji="1" lang="en-US" altLang="zh-CN" sz="1600" dirty="0" err="1">
                <a:solidFill>
                  <a:schemeClr val="tx1"/>
                </a:solidFill>
              </a:rPr>
              <a:t>myname</a:t>
            </a:r>
            <a:r>
              <a:rPr kumimoji="1" lang="en-US" altLang="zh-CN" sz="1600" dirty="0">
                <a:solidFill>
                  <a:schemeClr val="tx1"/>
                </a:solidFill>
              </a:rPr>
              <a:t>(</a:t>
            </a:r>
            <a:r>
              <a:rPr kumimoji="1" lang="en-US" altLang="zh-CN" sz="1600" dirty="0" err="1">
                <a:solidFill>
                  <a:schemeClr val="tx1"/>
                </a:solidFill>
              </a:rPr>
              <a:t>temp_str</a:t>
            </a:r>
            <a:r>
              <a:rPr kumimoji="1" lang="en-US" altLang="zh-CN" sz="1600" dirty="0">
                <a:solidFill>
                  <a:schemeClr val="tx1"/>
                </a:solidFill>
              </a:rPr>
              <a:t>) ;</a:t>
            </a:r>
          </a:p>
          <a:p>
            <a:pPr eaLnBrk="1" hangingPunct="1">
              <a:lnSpc>
                <a:spcPct val="150000"/>
              </a:lnSpc>
              <a:spcBef>
                <a:spcPts val="1200"/>
              </a:spcBef>
              <a:buClrTx/>
              <a:buSzTx/>
              <a:buFontTx/>
              <a:buNone/>
            </a:pPr>
            <a:r>
              <a:rPr kumimoji="1" lang="en-US" altLang="zh-CN" sz="1600" dirty="0">
                <a:solidFill>
                  <a:schemeClr val="tx1"/>
                </a:solidFill>
              </a:rPr>
              <a:t>	Name </a:t>
            </a:r>
            <a:r>
              <a:rPr kumimoji="1" lang="en-US" altLang="zh-CN" sz="1600" dirty="0" err="1">
                <a:solidFill>
                  <a:schemeClr val="tx1"/>
                </a:solidFill>
              </a:rPr>
              <a:t>yourname</a:t>
            </a:r>
            <a:r>
              <a:rPr kumimoji="1" lang="en-US" altLang="zh-CN" sz="1600" dirty="0">
                <a:solidFill>
                  <a:schemeClr val="tx1"/>
                </a:solidFill>
              </a:rPr>
              <a:t>(</a:t>
            </a:r>
            <a:r>
              <a:rPr kumimoji="1" lang="en-US" altLang="zh-CN" sz="1600" dirty="0" err="1">
                <a:solidFill>
                  <a:schemeClr val="tx1"/>
                </a:solidFill>
              </a:rPr>
              <a:t>myname</a:t>
            </a:r>
            <a:r>
              <a:rPr kumimoji="1" lang="en-US" altLang="zh-CN" sz="1600" dirty="0">
                <a:solidFill>
                  <a:schemeClr val="tx1"/>
                </a:solidFill>
              </a:rPr>
              <a:t>); </a:t>
            </a:r>
            <a:r>
              <a:rPr kumimoji="1" lang="en-US" altLang="zh-CN" sz="1600" dirty="0" err="1">
                <a:solidFill>
                  <a:schemeClr val="tx1"/>
                </a:solidFill>
              </a:rPr>
              <a:t>myname.show</a:t>
            </a:r>
            <a:r>
              <a:rPr kumimoji="1" lang="en-US" altLang="zh-CN" sz="1600" dirty="0">
                <a:solidFill>
                  <a:schemeClr val="tx1"/>
                </a:solidFill>
              </a:rPr>
              <a:t>(); </a:t>
            </a:r>
          </a:p>
          <a:p>
            <a:pPr eaLnBrk="1" hangingPunct="1">
              <a:lnSpc>
                <a:spcPct val="150000"/>
              </a:lnSpc>
              <a:spcBef>
                <a:spcPts val="1200"/>
              </a:spcBef>
              <a:buClrTx/>
              <a:buSzTx/>
              <a:buFontTx/>
              <a:buNone/>
            </a:pPr>
            <a:r>
              <a:rPr kumimoji="1" lang="en-US" altLang="zh-CN" sz="1600" dirty="0">
                <a:solidFill>
                  <a:schemeClr val="tx1"/>
                </a:solidFill>
              </a:rPr>
              <a:t>	</a:t>
            </a:r>
            <a:r>
              <a:rPr kumimoji="1" lang="en-US" altLang="zh-CN" sz="1600" dirty="0" err="1">
                <a:solidFill>
                  <a:schemeClr val="tx1"/>
                </a:solidFill>
              </a:rPr>
              <a:t>yourname.show</a:t>
            </a:r>
            <a:r>
              <a:rPr kumimoji="1" lang="en-US" altLang="zh-CN" sz="1600" dirty="0">
                <a:solidFill>
                  <a:schemeClr val="tx1"/>
                </a:solidFill>
              </a:rPr>
              <a:t>();</a:t>
            </a:r>
          </a:p>
          <a:p>
            <a:pPr eaLnBrk="1" hangingPunct="1">
              <a:lnSpc>
                <a:spcPct val="150000"/>
              </a:lnSpc>
              <a:spcBef>
                <a:spcPts val="1200"/>
              </a:spcBef>
              <a:buClrTx/>
              <a:buSzTx/>
              <a:buFontTx/>
              <a:buNone/>
            </a:pPr>
            <a:r>
              <a:rPr kumimoji="1" lang="en-US" altLang="zh-CN" sz="1600" dirty="0">
                <a:solidFill>
                  <a:schemeClr val="tx1"/>
                </a:solidFill>
              </a:rPr>
              <a:t>	</a:t>
            </a:r>
            <a:r>
              <a:rPr kumimoji="1" lang="en-US" altLang="zh-CN" sz="1600" dirty="0" err="1">
                <a:solidFill>
                  <a:schemeClr val="tx1"/>
                </a:solidFill>
              </a:rPr>
              <a:t>cin</a:t>
            </a:r>
            <a:r>
              <a:rPr kumimoji="1" lang="en-US" altLang="zh-CN" sz="1600" dirty="0">
                <a:solidFill>
                  <a:schemeClr val="tx1"/>
                </a:solidFill>
              </a:rPr>
              <a:t>&gt;&gt;</a:t>
            </a:r>
            <a:r>
              <a:rPr kumimoji="1" lang="en-US" altLang="zh-CN" sz="1600" dirty="0" err="1">
                <a:solidFill>
                  <a:schemeClr val="tx1"/>
                </a:solidFill>
              </a:rPr>
              <a:t>temp_str</a:t>
            </a:r>
            <a:r>
              <a:rPr kumimoji="1" lang="en-US" altLang="zh-CN" sz="1600" dirty="0">
                <a:solidFill>
                  <a:schemeClr val="tx1"/>
                </a:solidFill>
              </a:rPr>
              <a:t>;</a:t>
            </a:r>
          </a:p>
          <a:p>
            <a:pPr eaLnBrk="1" hangingPunct="1">
              <a:lnSpc>
                <a:spcPct val="150000"/>
              </a:lnSpc>
              <a:spcBef>
                <a:spcPts val="1200"/>
              </a:spcBef>
              <a:buClrTx/>
              <a:buSzTx/>
              <a:buFontTx/>
              <a:buNone/>
            </a:pPr>
            <a:r>
              <a:rPr kumimoji="1" lang="en-US" altLang="zh-CN" sz="1600" dirty="0">
                <a:solidFill>
                  <a:schemeClr val="tx1"/>
                </a:solidFill>
              </a:rPr>
              <a:t>	</a:t>
            </a:r>
            <a:r>
              <a:rPr kumimoji="1" lang="en-US" altLang="zh-CN" sz="1600" dirty="0" err="1">
                <a:solidFill>
                  <a:schemeClr val="tx1"/>
                </a:solidFill>
              </a:rPr>
              <a:t>yourname.set</a:t>
            </a:r>
            <a:r>
              <a:rPr kumimoji="1" lang="en-US" altLang="zh-CN" sz="1600" dirty="0">
                <a:solidFill>
                  <a:schemeClr val="tx1"/>
                </a:solidFill>
              </a:rPr>
              <a:t>(</a:t>
            </a:r>
            <a:r>
              <a:rPr kumimoji="1" lang="en-US" altLang="zh-CN" sz="1600" dirty="0" err="1">
                <a:solidFill>
                  <a:schemeClr val="tx1"/>
                </a:solidFill>
              </a:rPr>
              <a:t>temp_str</a:t>
            </a:r>
            <a:r>
              <a:rPr kumimoji="1" lang="en-US" altLang="zh-CN" sz="1600" dirty="0">
                <a:solidFill>
                  <a:schemeClr val="tx1"/>
                </a:solidFill>
              </a:rPr>
              <a:t>);</a:t>
            </a:r>
          </a:p>
          <a:p>
            <a:pPr eaLnBrk="1" hangingPunct="1">
              <a:lnSpc>
                <a:spcPct val="150000"/>
              </a:lnSpc>
              <a:spcBef>
                <a:spcPts val="1200"/>
              </a:spcBef>
              <a:buClrTx/>
              <a:buSzTx/>
              <a:buFontTx/>
              <a:buNone/>
            </a:pPr>
            <a:r>
              <a:rPr kumimoji="1" lang="en-US" altLang="zh-CN" sz="1600" dirty="0">
                <a:solidFill>
                  <a:schemeClr val="tx1"/>
                </a:solidFill>
              </a:rPr>
              <a:t>	</a:t>
            </a:r>
            <a:r>
              <a:rPr kumimoji="1" lang="en-US" altLang="zh-CN" sz="1600" dirty="0" err="1">
                <a:solidFill>
                  <a:schemeClr val="tx1"/>
                </a:solidFill>
              </a:rPr>
              <a:t>myname.show</a:t>
            </a:r>
            <a:r>
              <a:rPr kumimoji="1" lang="en-US" altLang="zh-CN" sz="1600" dirty="0">
                <a:solidFill>
                  <a:schemeClr val="tx1"/>
                </a:solidFill>
              </a:rPr>
              <a:t>();</a:t>
            </a:r>
          </a:p>
          <a:p>
            <a:pPr eaLnBrk="1" hangingPunct="1">
              <a:lnSpc>
                <a:spcPct val="150000"/>
              </a:lnSpc>
              <a:spcBef>
                <a:spcPts val="1200"/>
              </a:spcBef>
              <a:buClrTx/>
              <a:buSzTx/>
              <a:buFontTx/>
              <a:buNone/>
            </a:pPr>
            <a:r>
              <a:rPr kumimoji="1" lang="en-US" altLang="zh-CN" sz="1600" dirty="0">
                <a:solidFill>
                  <a:schemeClr val="tx1"/>
                </a:solidFill>
              </a:rPr>
              <a:t>	</a:t>
            </a:r>
            <a:r>
              <a:rPr kumimoji="1" lang="en-US" altLang="zh-CN" sz="1600" dirty="0" err="1">
                <a:solidFill>
                  <a:schemeClr val="tx1"/>
                </a:solidFill>
              </a:rPr>
              <a:t>yourname.show</a:t>
            </a:r>
            <a:r>
              <a:rPr kumimoji="1" lang="en-US" altLang="zh-CN" sz="1600" dirty="0">
                <a:solidFill>
                  <a:schemeClr val="tx1"/>
                </a:solidFill>
              </a:rPr>
              <a:t>();	</a:t>
            </a:r>
          </a:p>
          <a:p>
            <a:pPr eaLnBrk="1" hangingPunct="1">
              <a:lnSpc>
                <a:spcPct val="150000"/>
              </a:lnSpc>
              <a:spcBef>
                <a:spcPts val="1200"/>
              </a:spcBef>
              <a:buClrTx/>
              <a:buSzTx/>
              <a:buFontTx/>
              <a:buNone/>
            </a:pPr>
            <a:r>
              <a:rPr kumimoji="1" lang="en-US" altLang="zh-CN" sz="1600" dirty="0">
                <a:solidFill>
                  <a:schemeClr val="tx1"/>
                </a:solidFill>
              </a:rPr>
              <a:t>	return 0;</a:t>
            </a:r>
          </a:p>
          <a:p>
            <a:pPr eaLnBrk="1" hangingPunct="1">
              <a:lnSpc>
                <a:spcPct val="150000"/>
              </a:lnSpc>
              <a:spcBef>
                <a:spcPts val="1200"/>
              </a:spcBef>
              <a:buClrTx/>
              <a:buSzTx/>
              <a:buFontTx/>
              <a:buNone/>
            </a:pPr>
            <a:r>
              <a:rPr kumimoji="1" lang="en-US" altLang="zh-CN" sz="1600" dirty="0">
                <a:solidFill>
                  <a:schemeClr val="tx1"/>
                </a:solidFill>
              </a:rPr>
              <a:t>}</a:t>
            </a:r>
            <a:endParaRPr kumimoji="1" lang="zh-CN" altLang="en-US" sz="1600" dirty="0">
              <a:solidFill>
                <a:schemeClr val="tx1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ABDA6A-29CD-4D28-B6EA-E8D4FFDF6043}" type="slidenum">
              <a:rPr lang="zh-CN" altLang="en-US" smtClean="0"/>
              <a:t>36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8603298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150000"/>
              </a:lnSpc>
              <a:spcBef>
                <a:spcPts val="1200"/>
              </a:spcBef>
              <a:buClrTx/>
              <a:buSzTx/>
              <a:buFontTx/>
              <a:buNone/>
            </a:pPr>
            <a:r>
              <a:rPr kumimoji="1" lang="en-US" altLang="zh-CN" sz="1600" dirty="0">
                <a:solidFill>
                  <a:schemeClr val="tx1"/>
                </a:solidFill>
              </a:rPr>
              <a:t>#include&lt;iostream&gt;</a:t>
            </a:r>
          </a:p>
          <a:p>
            <a:pPr eaLnBrk="1" hangingPunct="1">
              <a:lnSpc>
                <a:spcPct val="150000"/>
              </a:lnSpc>
              <a:spcBef>
                <a:spcPts val="1200"/>
              </a:spcBef>
              <a:buClrTx/>
              <a:buSzTx/>
              <a:buFontTx/>
              <a:buNone/>
            </a:pPr>
            <a:r>
              <a:rPr kumimoji="1" lang="en-US" altLang="zh-CN" sz="1600" dirty="0">
                <a:solidFill>
                  <a:schemeClr val="tx1"/>
                </a:solidFill>
              </a:rPr>
              <a:t>#include &lt;</a:t>
            </a:r>
            <a:r>
              <a:rPr kumimoji="1" lang="en-US" altLang="zh-CN" sz="1600" dirty="0" err="1">
                <a:solidFill>
                  <a:schemeClr val="tx1"/>
                </a:solidFill>
              </a:rPr>
              <a:t>cstring</a:t>
            </a:r>
            <a:r>
              <a:rPr kumimoji="1" lang="en-US" altLang="zh-CN" sz="1600" dirty="0">
                <a:solidFill>
                  <a:schemeClr val="tx1"/>
                </a:solidFill>
              </a:rPr>
              <a:t>&gt;</a:t>
            </a:r>
          </a:p>
          <a:p>
            <a:pPr eaLnBrk="1" hangingPunct="1">
              <a:lnSpc>
                <a:spcPct val="150000"/>
              </a:lnSpc>
              <a:spcBef>
                <a:spcPts val="1200"/>
              </a:spcBef>
              <a:buClrTx/>
              <a:buSzTx/>
              <a:buFontTx/>
              <a:buNone/>
            </a:pPr>
            <a:r>
              <a:rPr kumimoji="1" lang="en-US" altLang="zh-CN" sz="1600" dirty="0">
                <a:solidFill>
                  <a:schemeClr val="tx1"/>
                </a:solidFill>
              </a:rPr>
              <a:t>using namespace std;</a:t>
            </a:r>
          </a:p>
          <a:p>
            <a:pPr eaLnBrk="1" hangingPunct="1">
              <a:lnSpc>
                <a:spcPct val="150000"/>
              </a:lnSpc>
              <a:spcBef>
                <a:spcPts val="1200"/>
              </a:spcBef>
              <a:buClrTx/>
              <a:buSzTx/>
              <a:buFontTx/>
              <a:buNone/>
            </a:pPr>
            <a:endParaRPr kumimoji="1" lang="en-US" altLang="zh-CN" sz="1600" dirty="0">
              <a:solidFill>
                <a:schemeClr val="tx1"/>
              </a:solidFill>
            </a:endParaRPr>
          </a:p>
          <a:p>
            <a:pPr eaLnBrk="1" hangingPunct="1">
              <a:lnSpc>
                <a:spcPct val="150000"/>
              </a:lnSpc>
              <a:spcBef>
                <a:spcPts val="1200"/>
              </a:spcBef>
              <a:buClrTx/>
              <a:buSzTx/>
              <a:buFontTx/>
              <a:buNone/>
            </a:pPr>
            <a:r>
              <a:rPr kumimoji="1" lang="en-US" altLang="zh-CN" sz="1600" dirty="0">
                <a:solidFill>
                  <a:schemeClr val="tx1"/>
                </a:solidFill>
              </a:rPr>
              <a:t>class Name {</a:t>
            </a:r>
          </a:p>
          <a:p>
            <a:pPr eaLnBrk="1" hangingPunct="1">
              <a:lnSpc>
                <a:spcPct val="150000"/>
              </a:lnSpc>
              <a:spcBef>
                <a:spcPts val="1200"/>
              </a:spcBef>
              <a:buClrTx/>
              <a:buSzTx/>
              <a:buFontTx/>
              <a:buNone/>
            </a:pPr>
            <a:r>
              <a:rPr kumimoji="1" lang="en-US" altLang="zh-CN" sz="1600" dirty="0">
                <a:solidFill>
                  <a:schemeClr val="tx1"/>
                </a:solidFill>
              </a:rPr>
              <a:t>public:</a:t>
            </a:r>
          </a:p>
          <a:p>
            <a:pPr eaLnBrk="1" hangingPunct="1">
              <a:lnSpc>
                <a:spcPct val="150000"/>
              </a:lnSpc>
              <a:spcBef>
                <a:spcPts val="1200"/>
              </a:spcBef>
              <a:buClrTx/>
              <a:buSzTx/>
              <a:buFontTx/>
              <a:buNone/>
            </a:pPr>
            <a:r>
              <a:rPr kumimoji="1" lang="en-US" altLang="zh-CN" sz="1600" dirty="0">
                <a:solidFill>
                  <a:schemeClr val="tx1"/>
                </a:solidFill>
              </a:rPr>
              <a:t>    Name();</a:t>
            </a:r>
          </a:p>
          <a:p>
            <a:pPr eaLnBrk="1" hangingPunct="1">
              <a:lnSpc>
                <a:spcPct val="150000"/>
              </a:lnSpc>
              <a:spcBef>
                <a:spcPts val="1200"/>
              </a:spcBef>
              <a:buClrTx/>
              <a:buSzTx/>
              <a:buFontTx/>
              <a:buNone/>
            </a:pPr>
            <a:r>
              <a:rPr kumimoji="1" lang="en-US" altLang="zh-CN" sz="1600" dirty="0">
                <a:solidFill>
                  <a:schemeClr val="tx1"/>
                </a:solidFill>
              </a:rPr>
              <a:t>    Name(char *s);</a:t>
            </a:r>
          </a:p>
          <a:p>
            <a:pPr eaLnBrk="1" hangingPunct="1">
              <a:lnSpc>
                <a:spcPct val="150000"/>
              </a:lnSpc>
              <a:spcBef>
                <a:spcPts val="1200"/>
              </a:spcBef>
              <a:buClrTx/>
              <a:buSzTx/>
              <a:buFontTx/>
              <a:buNone/>
            </a:pPr>
            <a:r>
              <a:rPr kumimoji="1" lang="en-US" altLang="zh-CN" sz="1600" dirty="0">
                <a:solidFill>
                  <a:schemeClr val="tx1"/>
                </a:solidFill>
              </a:rPr>
              <a:t>    ~Name();</a:t>
            </a:r>
          </a:p>
          <a:p>
            <a:pPr eaLnBrk="1" hangingPunct="1">
              <a:lnSpc>
                <a:spcPct val="150000"/>
              </a:lnSpc>
              <a:spcBef>
                <a:spcPts val="1200"/>
              </a:spcBef>
              <a:buClrTx/>
              <a:buSzTx/>
              <a:buFontTx/>
              <a:buNone/>
            </a:pPr>
            <a:r>
              <a:rPr kumimoji="1" lang="en-US" altLang="zh-CN" sz="1600" dirty="0">
                <a:solidFill>
                  <a:schemeClr val="tx1"/>
                </a:solidFill>
              </a:rPr>
              <a:t>    void set(char *s);      </a:t>
            </a:r>
          </a:p>
          <a:p>
            <a:pPr eaLnBrk="1" hangingPunct="1">
              <a:lnSpc>
                <a:spcPct val="150000"/>
              </a:lnSpc>
              <a:spcBef>
                <a:spcPts val="1200"/>
              </a:spcBef>
              <a:buClrTx/>
              <a:buSzTx/>
              <a:buFontTx/>
              <a:buNone/>
            </a:pPr>
            <a:r>
              <a:rPr kumimoji="1" lang="en-US" altLang="zh-CN" sz="1600" dirty="0">
                <a:solidFill>
                  <a:schemeClr val="tx1"/>
                </a:solidFill>
              </a:rPr>
              <a:t>    void show();</a:t>
            </a:r>
          </a:p>
          <a:p>
            <a:pPr eaLnBrk="1" hangingPunct="1">
              <a:lnSpc>
                <a:spcPct val="150000"/>
              </a:lnSpc>
              <a:spcBef>
                <a:spcPts val="1200"/>
              </a:spcBef>
              <a:buClrTx/>
              <a:buSzTx/>
              <a:buFontTx/>
              <a:buNone/>
            </a:pPr>
            <a:r>
              <a:rPr kumimoji="1" lang="en-US" altLang="zh-CN" sz="1600" dirty="0">
                <a:solidFill>
                  <a:schemeClr val="tx1"/>
                </a:solidFill>
              </a:rPr>
              <a:t>private:</a:t>
            </a:r>
          </a:p>
          <a:p>
            <a:pPr eaLnBrk="1" hangingPunct="1">
              <a:lnSpc>
                <a:spcPct val="150000"/>
              </a:lnSpc>
              <a:spcBef>
                <a:spcPts val="1200"/>
              </a:spcBef>
              <a:buClrTx/>
              <a:buSzTx/>
              <a:buFontTx/>
              <a:buNone/>
            </a:pPr>
            <a:r>
              <a:rPr kumimoji="1" lang="en-US" altLang="zh-CN" sz="1600" dirty="0">
                <a:solidFill>
                  <a:schemeClr val="tx1"/>
                </a:solidFill>
              </a:rPr>
              <a:t>   char *p;</a:t>
            </a:r>
          </a:p>
          <a:p>
            <a:pPr eaLnBrk="1" hangingPunct="1">
              <a:lnSpc>
                <a:spcPct val="150000"/>
              </a:lnSpc>
              <a:spcBef>
                <a:spcPts val="1200"/>
              </a:spcBef>
              <a:buClrTx/>
              <a:buSzTx/>
              <a:buFontTx/>
              <a:buNone/>
            </a:pPr>
            <a:r>
              <a:rPr kumimoji="1" lang="en-US" altLang="zh-CN" sz="1600" dirty="0">
                <a:solidFill>
                  <a:schemeClr val="tx1"/>
                </a:solidFill>
              </a:rPr>
              <a:t>};</a:t>
            </a:r>
          </a:p>
          <a:p>
            <a:pPr eaLnBrk="1" hangingPunct="1">
              <a:lnSpc>
                <a:spcPct val="150000"/>
              </a:lnSpc>
              <a:spcBef>
                <a:spcPts val="1200"/>
              </a:spcBef>
              <a:buClrTx/>
              <a:buSzTx/>
              <a:buFontTx/>
              <a:buNone/>
            </a:pPr>
            <a:r>
              <a:rPr kumimoji="1" lang="en-US" altLang="zh-CN" sz="1600" dirty="0">
                <a:solidFill>
                  <a:schemeClr val="tx1"/>
                </a:solidFill>
              </a:rPr>
              <a:t>Name::Name(){p=NULL;}</a:t>
            </a:r>
          </a:p>
          <a:p>
            <a:pPr eaLnBrk="1" hangingPunct="1">
              <a:lnSpc>
                <a:spcPct val="150000"/>
              </a:lnSpc>
              <a:spcBef>
                <a:spcPts val="1200"/>
              </a:spcBef>
              <a:buClrTx/>
              <a:buSzTx/>
              <a:buFontTx/>
              <a:buNone/>
            </a:pPr>
            <a:endParaRPr kumimoji="1" lang="en-US" altLang="zh-CN" sz="1600" dirty="0">
              <a:solidFill>
                <a:schemeClr val="tx1"/>
              </a:solidFill>
            </a:endParaRPr>
          </a:p>
          <a:p>
            <a:pPr eaLnBrk="1" hangingPunct="1">
              <a:lnSpc>
                <a:spcPct val="150000"/>
              </a:lnSpc>
              <a:spcBef>
                <a:spcPts val="1200"/>
              </a:spcBef>
              <a:buClrTx/>
              <a:buSzTx/>
              <a:buFontTx/>
              <a:buNone/>
            </a:pPr>
            <a:r>
              <a:rPr kumimoji="1" lang="en-US" altLang="zh-CN" sz="1600" dirty="0">
                <a:solidFill>
                  <a:schemeClr val="tx1"/>
                </a:solidFill>
              </a:rPr>
              <a:t>Name::Name(char *s){  </a:t>
            </a:r>
          </a:p>
          <a:p>
            <a:pPr eaLnBrk="1" hangingPunct="1">
              <a:lnSpc>
                <a:spcPct val="150000"/>
              </a:lnSpc>
              <a:spcBef>
                <a:spcPts val="1200"/>
              </a:spcBef>
              <a:buClrTx/>
              <a:buSzTx/>
              <a:buFontTx/>
              <a:buNone/>
            </a:pPr>
            <a:r>
              <a:rPr kumimoji="1" lang="en-US" altLang="zh-CN" sz="1600" dirty="0">
                <a:solidFill>
                  <a:schemeClr val="tx1"/>
                </a:solidFill>
              </a:rPr>
              <a:t>	p=new char[</a:t>
            </a:r>
            <a:r>
              <a:rPr kumimoji="1" lang="en-US" altLang="zh-CN" sz="1600" dirty="0" err="1">
                <a:solidFill>
                  <a:schemeClr val="tx1"/>
                </a:solidFill>
              </a:rPr>
              <a:t>strlen</a:t>
            </a:r>
            <a:r>
              <a:rPr kumimoji="1" lang="en-US" altLang="zh-CN" sz="1600" dirty="0">
                <a:solidFill>
                  <a:schemeClr val="tx1"/>
                </a:solidFill>
              </a:rPr>
              <a:t>(s)+1];</a:t>
            </a:r>
          </a:p>
          <a:p>
            <a:pPr eaLnBrk="1" hangingPunct="1">
              <a:lnSpc>
                <a:spcPct val="150000"/>
              </a:lnSpc>
              <a:spcBef>
                <a:spcPts val="1200"/>
              </a:spcBef>
              <a:buClrTx/>
              <a:buSzTx/>
              <a:buFontTx/>
              <a:buNone/>
            </a:pPr>
            <a:r>
              <a:rPr kumimoji="1" lang="en-US" altLang="zh-CN" sz="1600" dirty="0">
                <a:solidFill>
                  <a:schemeClr val="tx1"/>
                </a:solidFill>
              </a:rPr>
              <a:t>	</a:t>
            </a:r>
            <a:r>
              <a:rPr kumimoji="1" lang="en-US" altLang="zh-CN" sz="1600" dirty="0" err="1">
                <a:solidFill>
                  <a:schemeClr val="tx1"/>
                </a:solidFill>
              </a:rPr>
              <a:t>strcpy</a:t>
            </a:r>
            <a:r>
              <a:rPr kumimoji="1" lang="en-US" altLang="zh-CN" sz="1600" dirty="0">
                <a:solidFill>
                  <a:schemeClr val="tx1"/>
                </a:solidFill>
              </a:rPr>
              <a:t>(</a:t>
            </a:r>
            <a:r>
              <a:rPr kumimoji="1" lang="en-US" altLang="zh-CN" sz="1600" dirty="0" err="1">
                <a:solidFill>
                  <a:schemeClr val="tx1"/>
                </a:solidFill>
              </a:rPr>
              <a:t>p,s</a:t>
            </a:r>
            <a:r>
              <a:rPr kumimoji="1" lang="en-US" altLang="zh-CN" sz="1600" dirty="0">
                <a:solidFill>
                  <a:schemeClr val="tx1"/>
                </a:solidFill>
              </a:rPr>
              <a:t>);</a:t>
            </a:r>
          </a:p>
          <a:p>
            <a:pPr eaLnBrk="1" hangingPunct="1">
              <a:lnSpc>
                <a:spcPct val="150000"/>
              </a:lnSpc>
              <a:spcBef>
                <a:spcPts val="1200"/>
              </a:spcBef>
              <a:buClrTx/>
              <a:buSzTx/>
              <a:buFontTx/>
              <a:buNone/>
            </a:pPr>
            <a:r>
              <a:rPr kumimoji="1" lang="en-US" altLang="zh-CN" sz="1600" dirty="0">
                <a:solidFill>
                  <a:schemeClr val="tx1"/>
                </a:solidFill>
              </a:rPr>
              <a:t>}</a:t>
            </a:r>
          </a:p>
          <a:p>
            <a:pPr eaLnBrk="1" hangingPunct="1">
              <a:lnSpc>
                <a:spcPct val="150000"/>
              </a:lnSpc>
              <a:spcBef>
                <a:spcPts val="1200"/>
              </a:spcBef>
              <a:buClrTx/>
              <a:buSzTx/>
              <a:buFontTx/>
              <a:buNone/>
            </a:pPr>
            <a:endParaRPr kumimoji="1" lang="en-US" altLang="zh-CN" sz="1600" dirty="0">
              <a:solidFill>
                <a:schemeClr val="tx1"/>
              </a:solidFill>
            </a:endParaRPr>
          </a:p>
          <a:p>
            <a:pPr eaLnBrk="1" hangingPunct="1">
              <a:lnSpc>
                <a:spcPct val="150000"/>
              </a:lnSpc>
              <a:spcBef>
                <a:spcPts val="1200"/>
              </a:spcBef>
              <a:buClrTx/>
              <a:buSzTx/>
              <a:buFontTx/>
              <a:buNone/>
            </a:pPr>
            <a:r>
              <a:rPr kumimoji="1" lang="en-US" altLang="zh-CN" sz="1600" dirty="0">
                <a:solidFill>
                  <a:schemeClr val="tx1"/>
                </a:solidFill>
              </a:rPr>
              <a:t>Name::~Name(){</a:t>
            </a:r>
          </a:p>
          <a:p>
            <a:pPr eaLnBrk="1" hangingPunct="1">
              <a:lnSpc>
                <a:spcPct val="150000"/>
              </a:lnSpc>
              <a:spcBef>
                <a:spcPts val="1200"/>
              </a:spcBef>
              <a:buClrTx/>
              <a:buSzTx/>
              <a:buFontTx/>
              <a:buNone/>
            </a:pPr>
            <a:r>
              <a:rPr kumimoji="1" lang="en-US" altLang="zh-CN" sz="1600" dirty="0">
                <a:solidFill>
                  <a:schemeClr val="tx1"/>
                </a:solidFill>
              </a:rPr>
              <a:t>	</a:t>
            </a:r>
            <a:r>
              <a:rPr kumimoji="1" lang="en-US" altLang="zh-CN" sz="1600" dirty="0" err="1">
                <a:solidFill>
                  <a:schemeClr val="tx1"/>
                </a:solidFill>
              </a:rPr>
              <a:t>cout</a:t>
            </a:r>
            <a:r>
              <a:rPr kumimoji="1" lang="en-US" altLang="zh-CN" sz="1600" dirty="0">
                <a:solidFill>
                  <a:schemeClr val="tx1"/>
                </a:solidFill>
              </a:rPr>
              <a:t>&lt;&lt;"Destructing."&lt;&lt;</a:t>
            </a:r>
            <a:r>
              <a:rPr kumimoji="1" lang="en-US" altLang="zh-CN" sz="1600" dirty="0" err="1">
                <a:solidFill>
                  <a:schemeClr val="tx1"/>
                </a:solidFill>
              </a:rPr>
              <a:t>endl</a:t>
            </a:r>
            <a:r>
              <a:rPr kumimoji="1" lang="en-US" altLang="zh-CN" sz="1600" dirty="0">
                <a:solidFill>
                  <a:schemeClr val="tx1"/>
                </a:solidFill>
              </a:rPr>
              <a:t>;</a:t>
            </a:r>
          </a:p>
          <a:p>
            <a:pPr eaLnBrk="1" hangingPunct="1">
              <a:lnSpc>
                <a:spcPct val="150000"/>
              </a:lnSpc>
              <a:spcBef>
                <a:spcPts val="1200"/>
              </a:spcBef>
              <a:buClrTx/>
              <a:buSzTx/>
              <a:buFontTx/>
              <a:buNone/>
            </a:pPr>
            <a:r>
              <a:rPr kumimoji="1" lang="en-US" altLang="zh-CN" sz="1600" dirty="0">
                <a:solidFill>
                  <a:schemeClr val="tx1"/>
                </a:solidFill>
              </a:rPr>
              <a:t>	if(p!=NULL) delete [] p;</a:t>
            </a:r>
          </a:p>
          <a:p>
            <a:pPr eaLnBrk="1" hangingPunct="1">
              <a:lnSpc>
                <a:spcPct val="150000"/>
              </a:lnSpc>
              <a:spcBef>
                <a:spcPts val="1200"/>
              </a:spcBef>
              <a:buClrTx/>
              <a:buSzTx/>
              <a:buFontTx/>
              <a:buNone/>
            </a:pPr>
            <a:r>
              <a:rPr kumimoji="1" lang="en-US" altLang="zh-CN" sz="1600" dirty="0">
                <a:solidFill>
                  <a:schemeClr val="tx1"/>
                </a:solidFill>
              </a:rPr>
              <a:t>}</a:t>
            </a:r>
          </a:p>
          <a:p>
            <a:pPr eaLnBrk="1" hangingPunct="1">
              <a:lnSpc>
                <a:spcPct val="150000"/>
              </a:lnSpc>
              <a:spcBef>
                <a:spcPts val="1200"/>
              </a:spcBef>
              <a:buClrTx/>
              <a:buSzTx/>
              <a:buFontTx/>
              <a:buNone/>
            </a:pPr>
            <a:endParaRPr kumimoji="1" lang="en-US" altLang="zh-CN" sz="1600" dirty="0">
              <a:solidFill>
                <a:schemeClr val="tx1"/>
              </a:solidFill>
            </a:endParaRPr>
          </a:p>
          <a:p>
            <a:pPr eaLnBrk="1" hangingPunct="1">
              <a:lnSpc>
                <a:spcPct val="150000"/>
              </a:lnSpc>
              <a:spcBef>
                <a:spcPts val="1200"/>
              </a:spcBef>
              <a:buClrTx/>
              <a:buSzTx/>
              <a:buFontTx/>
              <a:buNone/>
            </a:pPr>
            <a:r>
              <a:rPr kumimoji="1" lang="en-US" altLang="zh-CN" sz="1600" dirty="0">
                <a:solidFill>
                  <a:schemeClr val="tx1"/>
                </a:solidFill>
              </a:rPr>
              <a:t>void Name::set(char *s){</a:t>
            </a:r>
            <a:r>
              <a:rPr kumimoji="1" lang="en-US" altLang="zh-CN" sz="1600" dirty="0" err="1">
                <a:solidFill>
                  <a:schemeClr val="tx1"/>
                </a:solidFill>
              </a:rPr>
              <a:t>strcpy</a:t>
            </a:r>
            <a:r>
              <a:rPr kumimoji="1" lang="en-US" altLang="zh-CN" sz="1600" dirty="0">
                <a:solidFill>
                  <a:schemeClr val="tx1"/>
                </a:solidFill>
              </a:rPr>
              <a:t>(</a:t>
            </a:r>
            <a:r>
              <a:rPr kumimoji="1" lang="en-US" altLang="zh-CN" sz="1600" dirty="0" err="1">
                <a:solidFill>
                  <a:schemeClr val="tx1"/>
                </a:solidFill>
              </a:rPr>
              <a:t>p,s</a:t>
            </a:r>
            <a:r>
              <a:rPr kumimoji="1" lang="en-US" altLang="zh-CN" sz="1600" dirty="0">
                <a:solidFill>
                  <a:schemeClr val="tx1"/>
                </a:solidFill>
              </a:rPr>
              <a:t>);}</a:t>
            </a:r>
          </a:p>
          <a:p>
            <a:pPr eaLnBrk="1" hangingPunct="1">
              <a:lnSpc>
                <a:spcPct val="150000"/>
              </a:lnSpc>
              <a:spcBef>
                <a:spcPts val="1200"/>
              </a:spcBef>
              <a:buClrTx/>
              <a:buSzTx/>
              <a:buFontTx/>
              <a:buNone/>
            </a:pPr>
            <a:endParaRPr kumimoji="1" lang="en-US" altLang="zh-CN" sz="1600" dirty="0">
              <a:solidFill>
                <a:schemeClr val="tx1"/>
              </a:solidFill>
            </a:endParaRPr>
          </a:p>
          <a:p>
            <a:pPr eaLnBrk="1" hangingPunct="1">
              <a:lnSpc>
                <a:spcPct val="150000"/>
              </a:lnSpc>
              <a:spcBef>
                <a:spcPts val="1200"/>
              </a:spcBef>
              <a:buClrTx/>
              <a:buSzTx/>
              <a:buFontTx/>
              <a:buNone/>
            </a:pPr>
            <a:r>
              <a:rPr kumimoji="1" lang="en-US" altLang="zh-CN" sz="1600" dirty="0">
                <a:solidFill>
                  <a:schemeClr val="tx1"/>
                </a:solidFill>
              </a:rPr>
              <a:t>void Name::show(){</a:t>
            </a:r>
            <a:r>
              <a:rPr kumimoji="1" lang="en-US" altLang="zh-CN" sz="1600" dirty="0" err="1">
                <a:solidFill>
                  <a:schemeClr val="tx1"/>
                </a:solidFill>
              </a:rPr>
              <a:t>cout</a:t>
            </a:r>
            <a:r>
              <a:rPr kumimoji="1" lang="en-US" altLang="zh-CN" sz="1600" dirty="0">
                <a:solidFill>
                  <a:schemeClr val="tx1"/>
                </a:solidFill>
              </a:rPr>
              <a:t>&lt;&lt;p&lt;&lt;</a:t>
            </a:r>
            <a:r>
              <a:rPr kumimoji="1" lang="en-US" altLang="zh-CN" sz="1600" dirty="0" err="1">
                <a:solidFill>
                  <a:schemeClr val="tx1"/>
                </a:solidFill>
              </a:rPr>
              <a:t>endl</a:t>
            </a:r>
            <a:r>
              <a:rPr kumimoji="1" lang="en-US" altLang="zh-CN" sz="1600" dirty="0">
                <a:solidFill>
                  <a:schemeClr val="tx1"/>
                </a:solidFill>
              </a:rPr>
              <a:t>;}</a:t>
            </a:r>
          </a:p>
          <a:p>
            <a:pPr eaLnBrk="1" hangingPunct="1">
              <a:lnSpc>
                <a:spcPct val="150000"/>
              </a:lnSpc>
              <a:spcBef>
                <a:spcPts val="1200"/>
              </a:spcBef>
              <a:buClrTx/>
              <a:buSzTx/>
              <a:buFontTx/>
              <a:buNone/>
            </a:pPr>
            <a:endParaRPr kumimoji="1" lang="en-US" altLang="zh-CN" sz="1600" dirty="0">
              <a:solidFill>
                <a:schemeClr val="tx1"/>
              </a:solidFill>
            </a:endParaRPr>
          </a:p>
          <a:p>
            <a:pPr eaLnBrk="1" hangingPunct="1">
              <a:lnSpc>
                <a:spcPct val="150000"/>
              </a:lnSpc>
              <a:spcBef>
                <a:spcPts val="1200"/>
              </a:spcBef>
              <a:buClrTx/>
              <a:buSzTx/>
              <a:buFontTx/>
              <a:buNone/>
            </a:pPr>
            <a:r>
              <a:rPr kumimoji="1" lang="en-US" altLang="zh-CN" sz="1600" dirty="0">
                <a:solidFill>
                  <a:schemeClr val="tx1"/>
                </a:solidFill>
              </a:rPr>
              <a:t>int main(){</a:t>
            </a:r>
          </a:p>
          <a:p>
            <a:pPr eaLnBrk="1" hangingPunct="1">
              <a:lnSpc>
                <a:spcPct val="150000"/>
              </a:lnSpc>
              <a:spcBef>
                <a:spcPts val="1200"/>
              </a:spcBef>
              <a:buClrTx/>
              <a:buSzTx/>
              <a:buFontTx/>
              <a:buNone/>
            </a:pPr>
            <a:r>
              <a:rPr kumimoji="1" lang="en-US" altLang="zh-CN" sz="1600" dirty="0">
                <a:solidFill>
                  <a:schemeClr val="tx1"/>
                </a:solidFill>
              </a:rPr>
              <a:t>	char </a:t>
            </a:r>
            <a:r>
              <a:rPr kumimoji="1" lang="en-US" altLang="zh-CN" sz="1600" dirty="0" err="1">
                <a:solidFill>
                  <a:schemeClr val="tx1"/>
                </a:solidFill>
              </a:rPr>
              <a:t>temp_str</a:t>
            </a:r>
            <a:r>
              <a:rPr kumimoji="1" lang="en-US" altLang="zh-CN" sz="1600" dirty="0">
                <a:solidFill>
                  <a:schemeClr val="tx1"/>
                </a:solidFill>
              </a:rPr>
              <a:t>[20]="wang";</a:t>
            </a:r>
          </a:p>
          <a:p>
            <a:pPr eaLnBrk="1" hangingPunct="1">
              <a:lnSpc>
                <a:spcPct val="150000"/>
              </a:lnSpc>
              <a:spcBef>
                <a:spcPts val="1200"/>
              </a:spcBef>
              <a:buClrTx/>
              <a:buSzTx/>
              <a:buFontTx/>
              <a:buNone/>
            </a:pPr>
            <a:r>
              <a:rPr kumimoji="1" lang="en-US" altLang="zh-CN" sz="1600" dirty="0">
                <a:solidFill>
                  <a:schemeClr val="tx1"/>
                </a:solidFill>
              </a:rPr>
              <a:t>	Name </a:t>
            </a:r>
            <a:r>
              <a:rPr kumimoji="1" lang="en-US" altLang="zh-CN" sz="1600" dirty="0" err="1">
                <a:solidFill>
                  <a:schemeClr val="tx1"/>
                </a:solidFill>
              </a:rPr>
              <a:t>myname</a:t>
            </a:r>
            <a:r>
              <a:rPr kumimoji="1" lang="en-US" altLang="zh-CN" sz="1600" dirty="0">
                <a:solidFill>
                  <a:schemeClr val="tx1"/>
                </a:solidFill>
              </a:rPr>
              <a:t>(</a:t>
            </a:r>
            <a:r>
              <a:rPr kumimoji="1" lang="en-US" altLang="zh-CN" sz="1600" dirty="0" err="1">
                <a:solidFill>
                  <a:schemeClr val="tx1"/>
                </a:solidFill>
              </a:rPr>
              <a:t>temp_str</a:t>
            </a:r>
            <a:r>
              <a:rPr kumimoji="1" lang="en-US" altLang="zh-CN" sz="1600" dirty="0">
                <a:solidFill>
                  <a:schemeClr val="tx1"/>
                </a:solidFill>
              </a:rPr>
              <a:t>) ;</a:t>
            </a:r>
          </a:p>
          <a:p>
            <a:pPr eaLnBrk="1" hangingPunct="1">
              <a:lnSpc>
                <a:spcPct val="150000"/>
              </a:lnSpc>
              <a:spcBef>
                <a:spcPts val="1200"/>
              </a:spcBef>
              <a:buClrTx/>
              <a:buSzTx/>
              <a:buFontTx/>
              <a:buNone/>
            </a:pPr>
            <a:r>
              <a:rPr kumimoji="1" lang="en-US" altLang="zh-CN" sz="1600" dirty="0">
                <a:solidFill>
                  <a:schemeClr val="tx1"/>
                </a:solidFill>
              </a:rPr>
              <a:t>	Name </a:t>
            </a:r>
            <a:r>
              <a:rPr kumimoji="1" lang="en-US" altLang="zh-CN" sz="1600" dirty="0" err="1">
                <a:solidFill>
                  <a:schemeClr val="tx1"/>
                </a:solidFill>
              </a:rPr>
              <a:t>yourname</a:t>
            </a:r>
            <a:r>
              <a:rPr kumimoji="1" lang="en-US" altLang="zh-CN" sz="1600" dirty="0">
                <a:solidFill>
                  <a:schemeClr val="tx1"/>
                </a:solidFill>
              </a:rPr>
              <a:t>(</a:t>
            </a:r>
            <a:r>
              <a:rPr kumimoji="1" lang="en-US" altLang="zh-CN" sz="1600" dirty="0" err="1">
                <a:solidFill>
                  <a:schemeClr val="tx1"/>
                </a:solidFill>
              </a:rPr>
              <a:t>myname</a:t>
            </a:r>
            <a:r>
              <a:rPr kumimoji="1" lang="en-US" altLang="zh-CN" sz="1600" dirty="0">
                <a:solidFill>
                  <a:schemeClr val="tx1"/>
                </a:solidFill>
              </a:rPr>
              <a:t>); </a:t>
            </a:r>
            <a:r>
              <a:rPr kumimoji="1" lang="en-US" altLang="zh-CN" sz="1600" dirty="0" err="1">
                <a:solidFill>
                  <a:schemeClr val="tx1"/>
                </a:solidFill>
              </a:rPr>
              <a:t>myname.show</a:t>
            </a:r>
            <a:r>
              <a:rPr kumimoji="1" lang="en-US" altLang="zh-CN" sz="1600" dirty="0">
                <a:solidFill>
                  <a:schemeClr val="tx1"/>
                </a:solidFill>
              </a:rPr>
              <a:t>(); </a:t>
            </a:r>
          </a:p>
          <a:p>
            <a:pPr eaLnBrk="1" hangingPunct="1">
              <a:lnSpc>
                <a:spcPct val="150000"/>
              </a:lnSpc>
              <a:spcBef>
                <a:spcPts val="1200"/>
              </a:spcBef>
              <a:buClrTx/>
              <a:buSzTx/>
              <a:buFontTx/>
              <a:buNone/>
            </a:pPr>
            <a:r>
              <a:rPr kumimoji="1" lang="en-US" altLang="zh-CN" sz="1600" dirty="0">
                <a:solidFill>
                  <a:schemeClr val="tx1"/>
                </a:solidFill>
              </a:rPr>
              <a:t>	</a:t>
            </a:r>
            <a:r>
              <a:rPr kumimoji="1" lang="en-US" altLang="zh-CN" sz="1600" dirty="0" err="1">
                <a:solidFill>
                  <a:schemeClr val="tx1"/>
                </a:solidFill>
              </a:rPr>
              <a:t>yourname.show</a:t>
            </a:r>
            <a:r>
              <a:rPr kumimoji="1" lang="en-US" altLang="zh-CN" sz="1600" dirty="0">
                <a:solidFill>
                  <a:schemeClr val="tx1"/>
                </a:solidFill>
              </a:rPr>
              <a:t>();</a:t>
            </a:r>
          </a:p>
          <a:p>
            <a:pPr eaLnBrk="1" hangingPunct="1">
              <a:lnSpc>
                <a:spcPct val="150000"/>
              </a:lnSpc>
              <a:spcBef>
                <a:spcPts val="1200"/>
              </a:spcBef>
              <a:buClrTx/>
              <a:buSzTx/>
              <a:buFontTx/>
              <a:buNone/>
            </a:pPr>
            <a:r>
              <a:rPr kumimoji="1" lang="en-US" altLang="zh-CN" sz="1600" dirty="0">
                <a:solidFill>
                  <a:schemeClr val="tx1"/>
                </a:solidFill>
              </a:rPr>
              <a:t>	</a:t>
            </a:r>
            <a:r>
              <a:rPr kumimoji="1" lang="en-US" altLang="zh-CN" sz="1600" dirty="0" err="1">
                <a:solidFill>
                  <a:schemeClr val="tx1"/>
                </a:solidFill>
              </a:rPr>
              <a:t>cin</a:t>
            </a:r>
            <a:r>
              <a:rPr kumimoji="1" lang="en-US" altLang="zh-CN" sz="1600" dirty="0">
                <a:solidFill>
                  <a:schemeClr val="tx1"/>
                </a:solidFill>
              </a:rPr>
              <a:t>&gt;&gt;</a:t>
            </a:r>
            <a:r>
              <a:rPr kumimoji="1" lang="en-US" altLang="zh-CN" sz="1600" dirty="0" err="1">
                <a:solidFill>
                  <a:schemeClr val="tx1"/>
                </a:solidFill>
              </a:rPr>
              <a:t>temp_str</a:t>
            </a:r>
            <a:r>
              <a:rPr kumimoji="1" lang="en-US" altLang="zh-CN" sz="1600" dirty="0">
                <a:solidFill>
                  <a:schemeClr val="tx1"/>
                </a:solidFill>
              </a:rPr>
              <a:t>;</a:t>
            </a:r>
          </a:p>
          <a:p>
            <a:pPr eaLnBrk="1" hangingPunct="1">
              <a:lnSpc>
                <a:spcPct val="150000"/>
              </a:lnSpc>
              <a:spcBef>
                <a:spcPts val="1200"/>
              </a:spcBef>
              <a:buClrTx/>
              <a:buSzTx/>
              <a:buFontTx/>
              <a:buNone/>
            </a:pPr>
            <a:r>
              <a:rPr kumimoji="1" lang="en-US" altLang="zh-CN" sz="1600" dirty="0">
                <a:solidFill>
                  <a:schemeClr val="tx1"/>
                </a:solidFill>
              </a:rPr>
              <a:t>	</a:t>
            </a:r>
            <a:r>
              <a:rPr kumimoji="1" lang="en-US" altLang="zh-CN" sz="1600" dirty="0" err="1">
                <a:solidFill>
                  <a:schemeClr val="tx1"/>
                </a:solidFill>
              </a:rPr>
              <a:t>yourname.set</a:t>
            </a:r>
            <a:r>
              <a:rPr kumimoji="1" lang="en-US" altLang="zh-CN" sz="1600" dirty="0">
                <a:solidFill>
                  <a:schemeClr val="tx1"/>
                </a:solidFill>
              </a:rPr>
              <a:t>(</a:t>
            </a:r>
            <a:r>
              <a:rPr kumimoji="1" lang="en-US" altLang="zh-CN" sz="1600" dirty="0" err="1">
                <a:solidFill>
                  <a:schemeClr val="tx1"/>
                </a:solidFill>
              </a:rPr>
              <a:t>temp_str</a:t>
            </a:r>
            <a:r>
              <a:rPr kumimoji="1" lang="en-US" altLang="zh-CN" sz="1600" dirty="0">
                <a:solidFill>
                  <a:schemeClr val="tx1"/>
                </a:solidFill>
              </a:rPr>
              <a:t>);</a:t>
            </a:r>
          </a:p>
          <a:p>
            <a:pPr eaLnBrk="1" hangingPunct="1">
              <a:lnSpc>
                <a:spcPct val="150000"/>
              </a:lnSpc>
              <a:spcBef>
                <a:spcPts val="1200"/>
              </a:spcBef>
              <a:buClrTx/>
              <a:buSzTx/>
              <a:buFontTx/>
              <a:buNone/>
            </a:pPr>
            <a:r>
              <a:rPr kumimoji="1" lang="en-US" altLang="zh-CN" sz="1600" dirty="0">
                <a:solidFill>
                  <a:schemeClr val="tx1"/>
                </a:solidFill>
              </a:rPr>
              <a:t>	</a:t>
            </a:r>
            <a:r>
              <a:rPr kumimoji="1" lang="en-US" altLang="zh-CN" sz="1600" dirty="0" err="1">
                <a:solidFill>
                  <a:schemeClr val="tx1"/>
                </a:solidFill>
              </a:rPr>
              <a:t>myname.show</a:t>
            </a:r>
            <a:r>
              <a:rPr kumimoji="1" lang="en-US" altLang="zh-CN" sz="1600" dirty="0">
                <a:solidFill>
                  <a:schemeClr val="tx1"/>
                </a:solidFill>
              </a:rPr>
              <a:t>();</a:t>
            </a:r>
          </a:p>
          <a:p>
            <a:pPr eaLnBrk="1" hangingPunct="1">
              <a:lnSpc>
                <a:spcPct val="150000"/>
              </a:lnSpc>
              <a:spcBef>
                <a:spcPts val="1200"/>
              </a:spcBef>
              <a:buClrTx/>
              <a:buSzTx/>
              <a:buFontTx/>
              <a:buNone/>
            </a:pPr>
            <a:r>
              <a:rPr kumimoji="1" lang="en-US" altLang="zh-CN" sz="1600" dirty="0">
                <a:solidFill>
                  <a:schemeClr val="tx1"/>
                </a:solidFill>
              </a:rPr>
              <a:t>	</a:t>
            </a:r>
            <a:r>
              <a:rPr kumimoji="1" lang="en-US" altLang="zh-CN" sz="1600" dirty="0" err="1">
                <a:solidFill>
                  <a:schemeClr val="tx1"/>
                </a:solidFill>
              </a:rPr>
              <a:t>yourname.show</a:t>
            </a:r>
            <a:r>
              <a:rPr kumimoji="1" lang="en-US" altLang="zh-CN" sz="1600" dirty="0">
                <a:solidFill>
                  <a:schemeClr val="tx1"/>
                </a:solidFill>
              </a:rPr>
              <a:t>();	</a:t>
            </a:r>
          </a:p>
          <a:p>
            <a:pPr eaLnBrk="1" hangingPunct="1">
              <a:lnSpc>
                <a:spcPct val="150000"/>
              </a:lnSpc>
              <a:spcBef>
                <a:spcPts val="1200"/>
              </a:spcBef>
              <a:buClrTx/>
              <a:buSzTx/>
              <a:buFontTx/>
              <a:buNone/>
            </a:pPr>
            <a:r>
              <a:rPr kumimoji="1" lang="en-US" altLang="zh-CN" sz="1600" dirty="0">
                <a:solidFill>
                  <a:schemeClr val="tx1"/>
                </a:solidFill>
              </a:rPr>
              <a:t>	return 0;</a:t>
            </a:r>
          </a:p>
          <a:p>
            <a:pPr eaLnBrk="1" hangingPunct="1">
              <a:lnSpc>
                <a:spcPct val="150000"/>
              </a:lnSpc>
              <a:spcBef>
                <a:spcPts val="1200"/>
              </a:spcBef>
              <a:buClrTx/>
              <a:buSzTx/>
              <a:buFontTx/>
              <a:buNone/>
            </a:pPr>
            <a:r>
              <a:rPr kumimoji="1" lang="en-US" altLang="zh-CN" sz="1600" dirty="0">
                <a:solidFill>
                  <a:schemeClr val="tx1"/>
                </a:solidFill>
              </a:rPr>
              <a:t>}</a:t>
            </a:r>
            <a:endParaRPr kumimoji="1" lang="zh-CN" altLang="en-US" sz="1600" dirty="0">
              <a:solidFill>
                <a:schemeClr val="tx1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ABDA6A-29CD-4D28-B6EA-E8D4FFDF6043}" type="slidenum">
              <a:rPr lang="zh-CN" altLang="en-US" smtClean="0"/>
              <a:t>37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97111752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150000"/>
              </a:lnSpc>
              <a:spcBef>
                <a:spcPts val="1200"/>
              </a:spcBef>
              <a:buClrTx/>
              <a:buSzTx/>
              <a:buFontTx/>
              <a:buNone/>
            </a:pPr>
            <a:endParaRPr kumimoji="1" lang="zh-CN" altLang="en-US" sz="1600" dirty="0">
              <a:solidFill>
                <a:schemeClr val="tx1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ABDA6A-29CD-4D28-B6EA-E8D4FFDF6043}" type="slidenum">
              <a:rPr lang="zh-CN" altLang="en-US" smtClean="0"/>
              <a:t>38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9939943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150000"/>
              </a:lnSpc>
              <a:spcBef>
                <a:spcPts val="1200"/>
              </a:spcBef>
              <a:buClrTx/>
              <a:buSzTx/>
              <a:buFontTx/>
              <a:buNone/>
            </a:pPr>
            <a:endParaRPr kumimoji="1" lang="zh-CN" altLang="en-US" sz="1600" dirty="0">
              <a:solidFill>
                <a:schemeClr val="tx1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ABDA6A-29CD-4D28-B6EA-E8D4FFDF6043}" type="slidenum">
              <a:rPr lang="zh-CN" altLang="en-US" smtClean="0"/>
              <a:t>39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008008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ABDA6A-29CD-4D28-B6EA-E8D4FFDF6043}" type="slidenum">
              <a:rPr lang="zh-CN" altLang="en-US" smtClean="0"/>
              <a:t>41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27185993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ABDA6A-29CD-4D28-B6EA-E8D4FFDF6043}" type="slidenum">
              <a:rPr lang="zh-CN" altLang="en-US" smtClean="0"/>
              <a:t>42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39232244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ABDA6A-29CD-4D28-B6EA-E8D4FFDF6043}" type="slidenum">
              <a:rPr lang="zh-CN" altLang="en-US" smtClean="0"/>
              <a:t>43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8398743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ABDA6A-29CD-4D28-B6EA-E8D4FFDF6043}" type="slidenum">
              <a:rPr lang="zh-CN" altLang="en-US" smtClean="0"/>
              <a:t>44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25960434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ABDA6A-29CD-4D28-B6EA-E8D4FFDF6043}" type="slidenum">
              <a:rPr lang="zh-CN" altLang="en-US" smtClean="0"/>
              <a:t>45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73422439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>
                <a:latin typeface="Arial" panose="020B0604020202020204" pitchFamily="34" charset="0"/>
              </a:rPr>
              <a:t>#include&lt;iostream&gt;</a:t>
            </a:r>
          </a:p>
          <a:p>
            <a:r>
              <a:rPr lang="en-US" altLang="zh-CN" dirty="0">
                <a:latin typeface="Arial" panose="020B0604020202020204" pitchFamily="34" charset="0"/>
              </a:rPr>
              <a:t>#include &lt;</a:t>
            </a:r>
            <a:r>
              <a:rPr lang="en-US" altLang="zh-CN" dirty="0" err="1">
                <a:latin typeface="Arial" panose="020B0604020202020204" pitchFamily="34" charset="0"/>
              </a:rPr>
              <a:t>ctime</a:t>
            </a:r>
            <a:r>
              <a:rPr lang="en-US" altLang="zh-CN" dirty="0">
                <a:latin typeface="Arial" panose="020B0604020202020204" pitchFamily="34" charset="0"/>
              </a:rPr>
              <a:t>&gt;</a:t>
            </a:r>
          </a:p>
          <a:p>
            <a:r>
              <a:rPr lang="en-US" altLang="zh-CN" dirty="0">
                <a:latin typeface="Arial" panose="020B0604020202020204" pitchFamily="34" charset="0"/>
              </a:rPr>
              <a:t>using namespace std;</a:t>
            </a:r>
          </a:p>
          <a:p>
            <a:endParaRPr lang="en-US" altLang="zh-CN" dirty="0">
              <a:latin typeface="Arial" panose="020B0604020202020204" pitchFamily="34" charset="0"/>
            </a:endParaRPr>
          </a:p>
          <a:p>
            <a:r>
              <a:rPr lang="en-US" altLang="zh-CN" dirty="0">
                <a:latin typeface="Arial" panose="020B0604020202020204" pitchFamily="34" charset="0"/>
              </a:rPr>
              <a:t>class CIRCULAR_NUMBERS {</a:t>
            </a:r>
          </a:p>
          <a:p>
            <a:r>
              <a:rPr lang="en-US" altLang="zh-CN" dirty="0">
                <a:latin typeface="Arial" panose="020B0604020202020204" pitchFamily="34" charset="0"/>
              </a:rPr>
              <a:t>  public:</a:t>
            </a:r>
          </a:p>
          <a:p>
            <a:r>
              <a:rPr lang="en-US" altLang="zh-CN" dirty="0">
                <a:latin typeface="Arial" panose="020B0604020202020204" pitchFamily="34" charset="0"/>
              </a:rPr>
              <a:t>      CIRCULAR_NUMBERS(int min, int max, int value);</a:t>
            </a:r>
          </a:p>
          <a:p>
            <a:r>
              <a:rPr lang="en-US" altLang="zh-CN" dirty="0">
                <a:latin typeface="Arial" panose="020B0604020202020204" pitchFamily="34" charset="0"/>
              </a:rPr>
              <a:t>      void </a:t>
            </a:r>
            <a:r>
              <a:rPr lang="en-US" altLang="zh-CN" dirty="0" err="1">
                <a:latin typeface="Arial" panose="020B0604020202020204" pitchFamily="34" charset="0"/>
              </a:rPr>
              <a:t>set_mode</a:t>
            </a:r>
            <a:r>
              <a:rPr lang="en-US" altLang="zh-CN" dirty="0">
                <a:latin typeface="Arial" panose="020B0604020202020204" pitchFamily="34" charset="0"/>
              </a:rPr>
              <a:t>(int min, int max);   //</a:t>
            </a:r>
            <a:r>
              <a:rPr lang="zh-CN" altLang="en-US" dirty="0">
                <a:latin typeface="Arial" panose="020B0604020202020204" pitchFamily="34" charset="0"/>
              </a:rPr>
              <a:t>设置循环计数器的上、下限</a:t>
            </a:r>
          </a:p>
          <a:p>
            <a:r>
              <a:rPr lang="zh-CN" altLang="en-US" dirty="0">
                <a:latin typeface="Arial" panose="020B0604020202020204" pitchFamily="34" charset="0"/>
              </a:rPr>
              <a:t>      </a:t>
            </a:r>
            <a:r>
              <a:rPr lang="en-US" altLang="zh-CN" dirty="0">
                <a:latin typeface="Arial" panose="020B0604020202020204" pitchFamily="34" charset="0"/>
              </a:rPr>
              <a:t>void </a:t>
            </a:r>
            <a:r>
              <a:rPr lang="en-US" altLang="zh-CN" dirty="0" err="1">
                <a:latin typeface="Arial" panose="020B0604020202020204" pitchFamily="34" charset="0"/>
              </a:rPr>
              <a:t>set_value</a:t>
            </a:r>
            <a:r>
              <a:rPr lang="en-US" altLang="zh-CN" dirty="0">
                <a:latin typeface="Arial" panose="020B0604020202020204" pitchFamily="34" charset="0"/>
              </a:rPr>
              <a:t>(int value);                 //</a:t>
            </a:r>
            <a:r>
              <a:rPr lang="zh-CN" altLang="en-US" dirty="0">
                <a:latin typeface="Arial" panose="020B0604020202020204" pitchFamily="34" charset="0"/>
              </a:rPr>
              <a:t>设置循环计数器的当前值</a:t>
            </a:r>
          </a:p>
          <a:p>
            <a:r>
              <a:rPr lang="zh-CN" altLang="en-US" dirty="0">
                <a:latin typeface="Arial" panose="020B0604020202020204" pitchFamily="34" charset="0"/>
              </a:rPr>
              <a:t>      </a:t>
            </a:r>
            <a:r>
              <a:rPr lang="en-US" altLang="zh-CN" dirty="0">
                <a:latin typeface="Arial" panose="020B0604020202020204" pitchFamily="34" charset="0"/>
              </a:rPr>
              <a:t>int </a:t>
            </a:r>
            <a:r>
              <a:rPr lang="en-US" altLang="zh-CN" dirty="0" err="1">
                <a:latin typeface="Arial" panose="020B0604020202020204" pitchFamily="34" charset="0"/>
              </a:rPr>
              <a:t>get_value</a:t>
            </a:r>
            <a:r>
              <a:rPr lang="en-US" altLang="zh-CN" dirty="0">
                <a:latin typeface="Arial" panose="020B0604020202020204" pitchFamily="34" charset="0"/>
              </a:rPr>
              <a:t>();                                //</a:t>
            </a:r>
            <a:r>
              <a:rPr lang="zh-CN" altLang="en-US" dirty="0">
                <a:latin typeface="Arial" panose="020B0604020202020204" pitchFamily="34" charset="0"/>
              </a:rPr>
              <a:t>查询循环计数器的当前值</a:t>
            </a:r>
          </a:p>
          <a:p>
            <a:r>
              <a:rPr lang="zh-CN" altLang="en-US" dirty="0">
                <a:latin typeface="Arial" panose="020B0604020202020204" pitchFamily="34" charset="0"/>
              </a:rPr>
              <a:t>      </a:t>
            </a:r>
            <a:r>
              <a:rPr lang="en-US" altLang="zh-CN" dirty="0">
                <a:latin typeface="Arial" panose="020B0604020202020204" pitchFamily="34" charset="0"/>
              </a:rPr>
              <a:t>void increment();                             //</a:t>
            </a:r>
            <a:r>
              <a:rPr lang="zh-CN" altLang="en-US" dirty="0">
                <a:latin typeface="Arial" panose="020B0604020202020204" pitchFamily="34" charset="0"/>
              </a:rPr>
              <a:t>循环计数器加</a:t>
            </a:r>
            <a:r>
              <a:rPr lang="en-US" altLang="zh-CN" dirty="0">
                <a:latin typeface="Arial" panose="020B0604020202020204" pitchFamily="34" charset="0"/>
              </a:rPr>
              <a:t>1</a:t>
            </a:r>
          </a:p>
          <a:p>
            <a:r>
              <a:rPr lang="en-US" altLang="zh-CN" dirty="0">
                <a:latin typeface="Arial" panose="020B0604020202020204" pitchFamily="34" charset="0"/>
              </a:rPr>
              <a:t>      void decrement();                            // </a:t>
            </a:r>
            <a:r>
              <a:rPr lang="zh-CN" altLang="en-US" dirty="0">
                <a:latin typeface="Arial" panose="020B0604020202020204" pitchFamily="34" charset="0"/>
              </a:rPr>
              <a:t>循环计数器减</a:t>
            </a:r>
            <a:r>
              <a:rPr lang="en-US" altLang="zh-CN" dirty="0">
                <a:latin typeface="Arial" panose="020B0604020202020204" pitchFamily="34" charset="0"/>
              </a:rPr>
              <a:t>1</a:t>
            </a:r>
          </a:p>
          <a:p>
            <a:r>
              <a:rPr lang="en-US" altLang="zh-CN" dirty="0">
                <a:latin typeface="Arial" panose="020B0604020202020204" pitchFamily="34" charset="0"/>
              </a:rPr>
              <a:t>  private:</a:t>
            </a:r>
          </a:p>
          <a:p>
            <a:r>
              <a:rPr lang="en-US" altLang="zh-CN" dirty="0">
                <a:latin typeface="Arial" panose="020B0604020202020204" pitchFamily="34" charset="0"/>
              </a:rPr>
              <a:t>      int </a:t>
            </a:r>
            <a:r>
              <a:rPr lang="en-US" altLang="zh-CN" dirty="0" err="1">
                <a:latin typeface="Arial" panose="020B0604020202020204" pitchFamily="34" charset="0"/>
              </a:rPr>
              <a:t>min_val</a:t>
            </a:r>
            <a:r>
              <a:rPr lang="en-US" altLang="zh-CN" dirty="0">
                <a:latin typeface="Arial" panose="020B0604020202020204" pitchFamily="34" charset="0"/>
              </a:rPr>
              <a:t>; // </a:t>
            </a:r>
            <a:r>
              <a:rPr lang="zh-CN" altLang="en-US" dirty="0">
                <a:latin typeface="Arial" panose="020B0604020202020204" pitchFamily="34" charset="0"/>
              </a:rPr>
              <a:t>最小值</a:t>
            </a:r>
          </a:p>
          <a:p>
            <a:r>
              <a:rPr lang="zh-CN" altLang="en-US" dirty="0">
                <a:latin typeface="Arial" panose="020B0604020202020204" pitchFamily="34" charset="0"/>
              </a:rPr>
              <a:t>      </a:t>
            </a:r>
            <a:r>
              <a:rPr lang="en-US" altLang="zh-CN" dirty="0">
                <a:latin typeface="Arial" panose="020B0604020202020204" pitchFamily="34" charset="0"/>
              </a:rPr>
              <a:t>int </a:t>
            </a:r>
            <a:r>
              <a:rPr lang="en-US" altLang="zh-CN" dirty="0" err="1">
                <a:latin typeface="Arial" panose="020B0604020202020204" pitchFamily="34" charset="0"/>
              </a:rPr>
              <a:t>max_val</a:t>
            </a:r>
            <a:r>
              <a:rPr lang="en-US" altLang="zh-CN" dirty="0">
                <a:latin typeface="Arial" panose="020B0604020202020204" pitchFamily="34" charset="0"/>
              </a:rPr>
              <a:t>; // </a:t>
            </a:r>
            <a:r>
              <a:rPr lang="zh-CN" altLang="en-US" dirty="0">
                <a:latin typeface="Arial" panose="020B0604020202020204" pitchFamily="34" charset="0"/>
              </a:rPr>
              <a:t>最大值</a:t>
            </a:r>
          </a:p>
          <a:p>
            <a:r>
              <a:rPr lang="zh-CN" altLang="en-US" dirty="0">
                <a:latin typeface="Arial" panose="020B0604020202020204" pitchFamily="34" charset="0"/>
              </a:rPr>
              <a:t>      </a:t>
            </a:r>
            <a:r>
              <a:rPr lang="en-US" altLang="zh-CN" dirty="0">
                <a:latin typeface="Arial" panose="020B0604020202020204" pitchFamily="34" charset="0"/>
              </a:rPr>
              <a:t>int current; // </a:t>
            </a:r>
            <a:r>
              <a:rPr lang="zh-CN" altLang="en-US" dirty="0">
                <a:latin typeface="Arial" panose="020B0604020202020204" pitchFamily="34" charset="0"/>
              </a:rPr>
              <a:t>当前值</a:t>
            </a:r>
          </a:p>
          <a:p>
            <a:r>
              <a:rPr lang="zh-CN" altLang="en-US" dirty="0">
                <a:latin typeface="Arial" panose="020B0604020202020204" pitchFamily="34" charset="0"/>
              </a:rPr>
              <a:t> </a:t>
            </a:r>
            <a:r>
              <a:rPr lang="en-US" altLang="zh-CN" dirty="0">
                <a:latin typeface="Arial" panose="020B0604020202020204" pitchFamily="34" charset="0"/>
              </a:rPr>
              <a:t>};</a:t>
            </a:r>
          </a:p>
          <a:p>
            <a:r>
              <a:rPr lang="en-US" altLang="zh-CN" dirty="0">
                <a:latin typeface="Arial" panose="020B0604020202020204" pitchFamily="34" charset="0"/>
              </a:rPr>
              <a:t>CIRCULAR_NUMBERS::CIRCULAR_NUMBERS(int min, int max, int value)</a:t>
            </a:r>
          </a:p>
          <a:p>
            <a:r>
              <a:rPr lang="en-US" altLang="zh-CN" dirty="0">
                <a:latin typeface="Arial" panose="020B0604020202020204" pitchFamily="34" charset="0"/>
              </a:rPr>
              <a:t>{	</a:t>
            </a:r>
            <a:r>
              <a:rPr lang="en-US" altLang="zh-CN" dirty="0" err="1">
                <a:latin typeface="Arial" panose="020B0604020202020204" pitchFamily="34" charset="0"/>
              </a:rPr>
              <a:t>min_val</a:t>
            </a:r>
            <a:r>
              <a:rPr lang="en-US" altLang="zh-CN" dirty="0">
                <a:latin typeface="Arial" panose="020B0604020202020204" pitchFamily="34" charset="0"/>
              </a:rPr>
              <a:t> = (min &lt;= max) ? min : max;</a:t>
            </a:r>
          </a:p>
          <a:p>
            <a:r>
              <a:rPr lang="en-US" altLang="zh-CN" dirty="0">
                <a:latin typeface="Arial" panose="020B0604020202020204" pitchFamily="34" charset="0"/>
              </a:rPr>
              <a:t>	</a:t>
            </a:r>
            <a:r>
              <a:rPr lang="en-US" altLang="zh-CN" dirty="0" err="1">
                <a:latin typeface="Arial" panose="020B0604020202020204" pitchFamily="34" charset="0"/>
              </a:rPr>
              <a:t>max_val</a:t>
            </a:r>
            <a:r>
              <a:rPr lang="en-US" altLang="zh-CN" dirty="0">
                <a:latin typeface="Arial" panose="020B0604020202020204" pitchFamily="34" charset="0"/>
              </a:rPr>
              <a:t> = (min &lt;= max) ? max : min;</a:t>
            </a:r>
          </a:p>
          <a:p>
            <a:r>
              <a:rPr lang="en-US" altLang="zh-CN" dirty="0">
                <a:latin typeface="Arial" panose="020B0604020202020204" pitchFamily="34" charset="0"/>
              </a:rPr>
              <a:t>	if (value &lt; </a:t>
            </a:r>
            <a:r>
              <a:rPr lang="en-US" altLang="zh-CN" dirty="0" err="1">
                <a:latin typeface="Arial" panose="020B0604020202020204" pitchFamily="34" charset="0"/>
              </a:rPr>
              <a:t>min_val</a:t>
            </a:r>
            <a:r>
              <a:rPr lang="en-US" altLang="zh-CN" dirty="0">
                <a:latin typeface="Arial" panose="020B0604020202020204" pitchFamily="34" charset="0"/>
              </a:rPr>
              <a:t>) current = </a:t>
            </a:r>
            <a:r>
              <a:rPr lang="en-US" altLang="zh-CN" dirty="0" err="1">
                <a:latin typeface="Arial" panose="020B0604020202020204" pitchFamily="34" charset="0"/>
              </a:rPr>
              <a:t>min_val</a:t>
            </a:r>
            <a:r>
              <a:rPr lang="en-US" altLang="zh-CN" dirty="0">
                <a:latin typeface="Arial" panose="020B0604020202020204" pitchFamily="34" charset="0"/>
              </a:rPr>
              <a:t>;</a:t>
            </a:r>
          </a:p>
          <a:p>
            <a:r>
              <a:rPr lang="en-US" altLang="zh-CN" dirty="0">
                <a:latin typeface="Arial" panose="020B0604020202020204" pitchFamily="34" charset="0"/>
              </a:rPr>
              <a:t>	else {</a:t>
            </a:r>
          </a:p>
          <a:p>
            <a:r>
              <a:rPr lang="en-US" altLang="zh-CN" dirty="0">
                <a:latin typeface="Arial" panose="020B0604020202020204" pitchFamily="34" charset="0"/>
              </a:rPr>
              <a:t>		if (value &gt; </a:t>
            </a:r>
            <a:r>
              <a:rPr lang="en-US" altLang="zh-CN" dirty="0" err="1">
                <a:latin typeface="Arial" panose="020B0604020202020204" pitchFamily="34" charset="0"/>
              </a:rPr>
              <a:t>max_val</a:t>
            </a:r>
            <a:r>
              <a:rPr lang="en-US" altLang="zh-CN" dirty="0">
                <a:latin typeface="Arial" panose="020B0604020202020204" pitchFamily="34" charset="0"/>
              </a:rPr>
              <a:t>) current = </a:t>
            </a:r>
            <a:r>
              <a:rPr lang="en-US" altLang="zh-CN" dirty="0" err="1">
                <a:latin typeface="Arial" panose="020B0604020202020204" pitchFamily="34" charset="0"/>
              </a:rPr>
              <a:t>max_val</a:t>
            </a:r>
            <a:r>
              <a:rPr lang="en-US" altLang="zh-CN" dirty="0">
                <a:latin typeface="Arial" panose="020B0604020202020204" pitchFamily="34" charset="0"/>
              </a:rPr>
              <a:t>;</a:t>
            </a:r>
          </a:p>
          <a:p>
            <a:r>
              <a:rPr lang="en-US" altLang="zh-CN" dirty="0">
                <a:latin typeface="Arial" panose="020B0604020202020204" pitchFamily="34" charset="0"/>
              </a:rPr>
              <a:t>		else current = value;</a:t>
            </a:r>
          </a:p>
          <a:p>
            <a:r>
              <a:rPr lang="en-US" altLang="zh-CN" dirty="0">
                <a:latin typeface="Arial" panose="020B0604020202020204" pitchFamily="34" charset="0"/>
              </a:rPr>
              <a:t>	}</a:t>
            </a:r>
          </a:p>
          <a:p>
            <a:r>
              <a:rPr lang="en-US" altLang="zh-CN" dirty="0">
                <a:latin typeface="Arial" panose="020B0604020202020204" pitchFamily="34" charset="0"/>
              </a:rPr>
              <a:t>	return;</a:t>
            </a:r>
          </a:p>
          <a:p>
            <a:r>
              <a:rPr lang="en-US" altLang="zh-CN" dirty="0">
                <a:latin typeface="Arial" panose="020B0604020202020204" pitchFamily="34" charset="0"/>
              </a:rPr>
              <a:t>} </a:t>
            </a:r>
          </a:p>
          <a:p>
            <a:r>
              <a:rPr lang="en-US" altLang="zh-CN" dirty="0">
                <a:latin typeface="Arial" panose="020B0604020202020204" pitchFamily="34" charset="0"/>
              </a:rPr>
              <a:t>void CIRCULAR_NUMBERS::</a:t>
            </a:r>
            <a:r>
              <a:rPr lang="en-US" altLang="zh-CN" dirty="0" err="1">
                <a:latin typeface="Arial" panose="020B0604020202020204" pitchFamily="34" charset="0"/>
              </a:rPr>
              <a:t>set_mode</a:t>
            </a:r>
            <a:r>
              <a:rPr lang="en-US" altLang="zh-CN" dirty="0">
                <a:latin typeface="Arial" panose="020B0604020202020204" pitchFamily="34" charset="0"/>
              </a:rPr>
              <a:t>(int min, int max)</a:t>
            </a:r>
          </a:p>
          <a:p>
            <a:r>
              <a:rPr lang="en-US" altLang="zh-CN" dirty="0">
                <a:latin typeface="Arial" panose="020B0604020202020204" pitchFamily="34" charset="0"/>
              </a:rPr>
              <a:t>{	</a:t>
            </a:r>
            <a:r>
              <a:rPr lang="en-US" altLang="zh-CN" dirty="0" err="1">
                <a:latin typeface="Arial" panose="020B0604020202020204" pitchFamily="34" charset="0"/>
              </a:rPr>
              <a:t>min_val</a:t>
            </a:r>
            <a:r>
              <a:rPr lang="en-US" altLang="zh-CN" dirty="0">
                <a:latin typeface="Arial" panose="020B0604020202020204" pitchFamily="34" charset="0"/>
              </a:rPr>
              <a:t>=min;</a:t>
            </a:r>
          </a:p>
          <a:p>
            <a:r>
              <a:rPr lang="en-US" altLang="zh-CN" dirty="0">
                <a:latin typeface="Arial" panose="020B0604020202020204" pitchFamily="34" charset="0"/>
              </a:rPr>
              <a:t>	</a:t>
            </a:r>
            <a:r>
              <a:rPr lang="en-US" altLang="zh-CN" dirty="0" err="1">
                <a:latin typeface="Arial" panose="020B0604020202020204" pitchFamily="34" charset="0"/>
              </a:rPr>
              <a:t>max_val</a:t>
            </a:r>
            <a:r>
              <a:rPr lang="en-US" altLang="zh-CN" dirty="0">
                <a:latin typeface="Arial" panose="020B0604020202020204" pitchFamily="34" charset="0"/>
              </a:rPr>
              <a:t>=max;</a:t>
            </a:r>
          </a:p>
          <a:p>
            <a:r>
              <a:rPr lang="en-US" altLang="zh-CN" dirty="0">
                <a:latin typeface="Arial" panose="020B0604020202020204" pitchFamily="34" charset="0"/>
              </a:rPr>
              <a:t>	return;</a:t>
            </a:r>
          </a:p>
          <a:p>
            <a:r>
              <a:rPr lang="en-US" altLang="zh-CN" dirty="0">
                <a:latin typeface="Arial" panose="020B0604020202020204" pitchFamily="34" charset="0"/>
              </a:rPr>
              <a:t>}</a:t>
            </a:r>
          </a:p>
          <a:p>
            <a:r>
              <a:rPr lang="en-US" altLang="zh-CN" dirty="0">
                <a:latin typeface="Arial" panose="020B0604020202020204" pitchFamily="34" charset="0"/>
              </a:rPr>
              <a:t>void CIRCULAR_NUMBERS::</a:t>
            </a:r>
            <a:r>
              <a:rPr lang="en-US" altLang="zh-CN" dirty="0" err="1">
                <a:latin typeface="Arial" panose="020B0604020202020204" pitchFamily="34" charset="0"/>
              </a:rPr>
              <a:t>set_value</a:t>
            </a:r>
            <a:r>
              <a:rPr lang="en-US" altLang="zh-CN" dirty="0">
                <a:latin typeface="Arial" panose="020B0604020202020204" pitchFamily="34" charset="0"/>
              </a:rPr>
              <a:t>(int value)</a:t>
            </a:r>
          </a:p>
          <a:p>
            <a:r>
              <a:rPr lang="en-US" altLang="zh-CN" dirty="0">
                <a:latin typeface="Arial" panose="020B0604020202020204" pitchFamily="34" charset="0"/>
              </a:rPr>
              <a:t>{	current=value;</a:t>
            </a:r>
          </a:p>
          <a:p>
            <a:r>
              <a:rPr lang="en-US" altLang="zh-CN" dirty="0">
                <a:latin typeface="Arial" panose="020B0604020202020204" pitchFamily="34" charset="0"/>
              </a:rPr>
              <a:t>	return;</a:t>
            </a:r>
          </a:p>
          <a:p>
            <a:r>
              <a:rPr lang="en-US" altLang="zh-CN" dirty="0">
                <a:latin typeface="Arial" panose="020B0604020202020204" pitchFamily="34" charset="0"/>
              </a:rPr>
              <a:t>}</a:t>
            </a:r>
          </a:p>
          <a:p>
            <a:r>
              <a:rPr lang="en-US" altLang="zh-CN" dirty="0">
                <a:latin typeface="Arial" panose="020B0604020202020204" pitchFamily="34" charset="0"/>
              </a:rPr>
              <a:t>int CIRCULAR_NUMBERS::</a:t>
            </a:r>
            <a:r>
              <a:rPr lang="en-US" altLang="zh-CN" dirty="0" err="1">
                <a:latin typeface="Arial" panose="020B0604020202020204" pitchFamily="34" charset="0"/>
              </a:rPr>
              <a:t>get_value</a:t>
            </a:r>
            <a:r>
              <a:rPr lang="en-US" altLang="zh-CN" dirty="0">
                <a:latin typeface="Arial" panose="020B0604020202020204" pitchFamily="34" charset="0"/>
              </a:rPr>
              <a:t>()</a:t>
            </a:r>
          </a:p>
          <a:p>
            <a:r>
              <a:rPr lang="en-US" altLang="zh-CN" dirty="0">
                <a:latin typeface="Arial" panose="020B0604020202020204" pitchFamily="34" charset="0"/>
              </a:rPr>
              <a:t>{	return current;</a:t>
            </a:r>
          </a:p>
          <a:p>
            <a:r>
              <a:rPr lang="en-US" altLang="zh-CN" dirty="0">
                <a:latin typeface="Arial" panose="020B0604020202020204" pitchFamily="34" charset="0"/>
              </a:rPr>
              <a:t>}</a:t>
            </a:r>
          </a:p>
          <a:p>
            <a:r>
              <a:rPr lang="en-US" altLang="zh-CN" dirty="0">
                <a:latin typeface="Arial" panose="020B0604020202020204" pitchFamily="34" charset="0"/>
              </a:rPr>
              <a:t>void CIRCULAR_NUMBERS::increment()</a:t>
            </a:r>
          </a:p>
          <a:p>
            <a:r>
              <a:rPr lang="en-US" altLang="zh-CN" dirty="0">
                <a:latin typeface="Arial" panose="020B0604020202020204" pitchFamily="34" charset="0"/>
              </a:rPr>
              <a:t>{	int mode=max_val-min_val+1;</a:t>
            </a:r>
          </a:p>
          <a:p>
            <a:r>
              <a:rPr lang="en-US" altLang="zh-CN" dirty="0">
                <a:latin typeface="Arial" panose="020B0604020202020204" pitchFamily="34" charset="0"/>
              </a:rPr>
              <a:t>	current=((current-</a:t>
            </a:r>
            <a:r>
              <a:rPr lang="en-US" altLang="zh-CN" dirty="0" err="1">
                <a:latin typeface="Arial" panose="020B0604020202020204" pitchFamily="34" charset="0"/>
              </a:rPr>
              <a:t>min_val</a:t>
            </a:r>
            <a:r>
              <a:rPr lang="en-US" altLang="zh-CN" dirty="0">
                <a:latin typeface="Arial" panose="020B0604020202020204" pitchFamily="34" charset="0"/>
              </a:rPr>
              <a:t>)+1)%</a:t>
            </a:r>
            <a:r>
              <a:rPr lang="en-US" altLang="zh-CN" dirty="0" err="1">
                <a:latin typeface="Arial" panose="020B0604020202020204" pitchFamily="34" charset="0"/>
              </a:rPr>
              <a:t>mode+min_val</a:t>
            </a:r>
            <a:r>
              <a:rPr lang="en-US" altLang="zh-CN" dirty="0">
                <a:latin typeface="Arial" panose="020B0604020202020204" pitchFamily="34" charset="0"/>
              </a:rPr>
              <a:t>;</a:t>
            </a:r>
          </a:p>
          <a:p>
            <a:r>
              <a:rPr lang="en-US" altLang="zh-CN" dirty="0">
                <a:latin typeface="Arial" panose="020B0604020202020204" pitchFamily="34" charset="0"/>
              </a:rPr>
              <a:t>	return;</a:t>
            </a:r>
          </a:p>
          <a:p>
            <a:r>
              <a:rPr lang="en-US" altLang="zh-CN" dirty="0">
                <a:latin typeface="Arial" panose="020B0604020202020204" pitchFamily="34" charset="0"/>
              </a:rPr>
              <a:t>}</a:t>
            </a:r>
          </a:p>
          <a:p>
            <a:r>
              <a:rPr lang="en-US" altLang="zh-CN" dirty="0">
                <a:latin typeface="Arial" panose="020B0604020202020204" pitchFamily="34" charset="0"/>
              </a:rPr>
              <a:t>void CIRCULAR_NUMBERS::decrement()</a:t>
            </a:r>
          </a:p>
          <a:p>
            <a:r>
              <a:rPr lang="en-US" altLang="zh-CN" dirty="0">
                <a:latin typeface="Arial" panose="020B0604020202020204" pitchFamily="34" charset="0"/>
              </a:rPr>
              <a:t>{	int mode=max_val-min_val+1;</a:t>
            </a:r>
          </a:p>
          <a:p>
            <a:r>
              <a:rPr lang="en-US" altLang="zh-CN" dirty="0">
                <a:latin typeface="Arial" panose="020B0604020202020204" pitchFamily="34" charset="0"/>
              </a:rPr>
              <a:t>	current=((current-</a:t>
            </a:r>
            <a:r>
              <a:rPr lang="en-US" altLang="zh-CN" dirty="0" err="1">
                <a:latin typeface="Arial" panose="020B0604020202020204" pitchFamily="34" charset="0"/>
              </a:rPr>
              <a:t>min_val</a:t>
            </a:r>
            <a:r>
              <a:rPr lang="en-US" altLang="zh-CN" dirty="0">
                <a:latin typeface="Arial" panose="020B0604020202020204" pitchFamily="34" charset="0"/>
              </a:rPr>
              <a:t>)-1+mode)%</a:t>
            </a:r>
            <a:r>
              <a:rPr lang="en-US" altLang="zh-CN" dirty="0" err="1">
                <a:latin typeface="Arial" panose="020B0604020202020204" pitchFamily="34" charset="0"/>
              </a:rPr>
              <a:t>mode+min_val</a:t>
            </a:r>
            <a:r>
              <a:rPr lang="en-US" altLang="zh-CN" dirty="0">
                <a:latin typeface="Arial" panose="020B0604020202020204" pitchFamily="34" charset="0"/>
              </a:rPr>
              <a:t>;</a:t>
            </a:r>
          </a:p>
          <a:p>
            <a:r>
              <a:rPr lang="en-US" altLang="zh-CN" dirty="0">
                <a:latin typeface="Arial" panose="020B0604020202020204" pitchFamily="34" charset="0"/>
              </a:rPr>
              <a:t>	return;</a:t>
            </a:r>
          </a:p>
          <a:p>
            <a:r>
              <a:rPr lang="en-US" altLang="zh-CN" dirty="0">
                <a:latin typeface="Arial" panose="020B0604020202020204" pitchFamily="34" charset="0"/>
              </a:rPr>
              <a:t>}</a:t>
            </a:r>
          </a:p>
          <a:p>
            <a:r>
              <a:rPr lang="en-US" altLang="zh-CN" dirty="0">
                <a:latin typeface="Arial" panose="020B0604020202020204" pitchFamily="34" charset="0"/>
              </a:rPr>
              <a:t>class Clock {</a:t>
            </a:r>
          </a:p>
          <a:p>
            <a:r>
              <a:rPr lang="en-US" altLang="zh-CN" dirty="0">
                <a:latin typeface="Arial" panose="020B0604020202020204" pitchFamily="34" charset="0"/>
              </a:rPr>
              <a:t>public:</a:t>
            </a:r>
          </a:p>
          <a:p>
            <a:r>
              <a:rPr lang="en-US" altLang="zh-CN" dirty="0">
                <a:latin typeface="Arial" panose="020B0604020202020204" pitchFamily="34" charset="0"/>
              </a:rPr>
              <a:t>	Clock(int </a:t>
            </a:r>
            <a:r>
              <a:rPr lang="en-US" altLang="zh-CN" dirty="0" err="1">
                <a:latin typeface="Arial" panose="020B0604020202020204" pitchFamily="34" charset="0"/>
              </a:rPr>
              <a:t>hh</a:t>
            </a:r>
            <a:r>
              <a:rPr lang="en-US" altLang="zh-CN" dirty="0">
                <a:latin typeface="Arial" panose="020B0604020202020204" pitchFamily="34" charset="0"/>
              </a:rPr>
              <a:t>, int mm, int ss);</a:t>
            </a:r>
          </a:p>
          <a:p>
            <a:r>
              <a:rPr lang="en-US" altLang="zh-CN" dirty="0">
                <a:latin typeface="Arial" panose="020B0604020202020204" pitchFamily="34" charset="0"/>
              </a:rPr>
              <a:t>	Clock();</a:t>
            </a:r>
          </a:p>
          <a:p>
            <a:r>
              <a:rPr lang="en-US" altLang="zh-CN" dirty="0">
                <a:latin typeface="Arial" panose="020B0604020202020204" pitchFamily="34" charset="0"/>
              </a:rPr>
              <a:t>	void </a:t>
            </a:r>
            <a:r>
              <a:rPr lang="en-US" altLang="zh-CN" dirty="0" err="1">
                <a:latin typeface="Arial" panose="020B0604020202020204" pitchFamily="34" charset="0"/>
              </a:rPr>
              <a:t>setTime</a:t>
            </a:r>
            <a:r>
              <a:rPr lang="en-US" altLang="zh-CN" dirty="0">
                <a:latin typeface="Arial" panose="020B0604020202020204" pitchFamily="34" charset="0"/>
              </a:rPr>
              <a:t>( int </a:t>
            </a:r>
            <a:r>
              <a:rPr lang="en-US" altLang="zh-CN" dirty="0" err="1">
                <a:latin typeface="Arial" panose="020B0604020202020204" pitchFamily="34" charset="0"/>
              </a:rPr>
              <a:t>newH</a:t>
            </a:r>
            <a:r>
              <a:rPr lang="en-US" altLang="zh-CN" dirty="0">
                <a:latin typeface="Arial" panose="020B0604020202020204" pitchFamily="34" charset="0"/>
              </a:rPr>
              <a:t>, int </a:t>
            </a:r>
            <a:r>
              <a:rPr lang="en-US" altLang="zh-CN" dirty="0" err="1">
                <a:latin typeface="Arial" panose="020B0604020202020204" pitchFamily="34" charset="0"/>
              </a:rPr>
              <a:t>newM</a:t>
            </a:r>
            <a:r>
              <a:rPr lang="en-US" altLang="zh-CN" dirty="0">
                <a:latin typeface="Arial" panose="020B0604020202020204" pitchFamily="34" charset="0"/>
              </a:rPr>
              <a:t>, int </a:t>
            </a:r>
            <a:r>
              <a:rPr lang="en-US" altLang="zh-CN" dirty="0" err="1">
                <a:latin typeface="Arial" panose="020B0604020202020204" pitchFamily="34" charset="0"/>
              </a:rPr>
              <a:t>newS</a:t>
            </a:r>
            <a:r>
              <a:rPr lang="en-US" altLang="zh-CN" dirty="0">
                <a:latin typeface="Arial" panose="020B0604020202020204" pitchFamily="34" charset="0"/>
              </a:rPr>
              <a:t>);</a:t>
            </a:r>
          </a:p>
          <a:p>
            <a:r>
              <a:rPr lang="en-US" altLang="zh-CN" dirty="0">
                <a:latin typeface="Arial" panose="020B0604020202020204" pitchFamily="34" charset="0"/>
              </a:rPr>
              <a:t>	void </a:t>
            </a:r>
            <a:r>
              <a:rPr lang="en-US" altLang="zh-CN" dirty="0" err="1">
                <a:latin typeface="Arial" panose="020B0604020202020204" pitchFamily="34" charset="0"/>
              </a:rPr>
              <a:t>showTime</a:t>
            </a:r>
            <a:r>
              <a:rPr lang="en-US" altLang="zh-CN" dirty="0">
                <a:latin typeface="Arial" panose="020B0604020202020204" pitchFamily="34" charset="0"/>
              </a:rPr>
              <a:t>();</a:t>
            </a:r>
          </a:p>
          <a:p>
            <a:r>
              <a:rPr lang="en-US" altLang="zh-CN" dirty="0">
                <a:latin typeface="Arial" panose="020B0604020202020204" pitchFamily="34" charset="0"/>
              </a:rPr>
              <a:t>	void update();</a:t>
            </a:r>
          </a:p>
          <a:p>
            <a:endParaRPr lang="en-US" altLang="zh-CN" dirty="0">
              <a:latin typeface="Arial" panose="020B0604020202020204" pitchFamily="34" charset="0"/>
            </a:endParaRPr>
          </a:p>
          <a:p>
            <a:r>
              <a:rPr lang="en-US" altLang="zh-CN" dirty="0">
                <a:latin typeface="Arial" panose="020B0604020202020204" pitchFamily="34" charset="0"/>
              </a:rPr>
              <a:t>private:</a:t>
            </a:r>
          </a:p>
          <a:p>
            <a:r>
              <a:rPr lang="en-US" altLang="zh-CN" dirty="0">
                <a:latin typeface="Arial" panose="020B0604020202020204" pitchFamily="34" charset="0"/>
              </a:rPr>
              <a:t>	CIRCULAR_NUMBERS hour;</a:t>
            </a:r>
          </a:p>
          <a:p>
            <a:r>
              <a:rPr lang="en-US" altLang="zh-CN" dirty="0">
                <a:latin typeface="Arial" panose="020B0604020202020204" pitchFamily="34" charset="0"/>
              </a:rPr>
              <a:t>	CIRCULAR_NUMBERS minute;</a:t>
            </a:r>
          </a:p>
          <a:p>
            <a:r>
              <a:rPr lang="en-US" altLang="zh-CN" dirty="0">
                <a:latin typeface="Arial" panose="020B0604020202020204" pitchFamily="34" charset="0"/>
              </a:rPr>
              <a:t>	CIRCULAR_NUMBERS second;</a:t>
            </a:r>
          </a:p>
          <a:p>
            <a:r>
              <a:rPr lang="en-US" altLang="zh-CN" dirty="0">
                <a:latin typeface="Arial" panose="020B0604020202020204" pitchFamily="34" charset="0"/>
              </a:rPr>
              <a:t>};</a:t>
            </a:r>
          </a:p>
          <a:p>
            <a:r>
              <a:rPr lang="en-US" altLang="zh-CN" dirty="0">
                <a:latin typeface="Arial" panose="020B0604020202020204" pitchFamily="34" charset="0"/>
              </a:rPr>
              <a:t>Clock::Clock(int </a:t>
            </a:r>
            <a:r>
              <a:rPr lang="en-US" altLang="zh-CN" dirty="0" err="1">
                <a:latin typeface="Arial" panose="020B0604020202020204" pitchFamily="34" charset="0"/>
              </a:rPr>
              <a:t>hh</a:t>
            </a:r>
            <a:r>
              <a:rPr lang="en-US" altLang="zh-CN" dirty="0">
                <a:latin typeface="Arial" panose="020B0604020202020204" pitchFamily="34" charset="0"/>
              </a:rPr>
              <a:t>, int mm, int ss): hour(0,23,hh), minute(0,59,mm), second(0,59,ss)</a:t>
            </a:r>
          </a:p>
          <a:p>
            <a:r>
              <a:rPr lang="en-US" altLang="zh-CN" dirty="0">
                <a:latin typeface="Arial" panose="020B0604020202020204" pitchFamily="34" charset="0"/>
              </a:rPr>
              <a:t>{return;</a:t>
            </a:r>
          </a:p>
          <a:p>
            <a:r>
              <a:rPr lang="en-US" altLang="zh-CN" dirty="0">
                <a:latin typeface="Arial" panose="020B0604020202020204" pitchFamily="34" charset="0"/>
              </a:rPr>
              <a:t>}</a:t>
            </a:r>
          </a:p>
          <a:p>
            <a:endParaRPr lang="en-US" altLang="zh-CN" dirty="0">
              <a:latin typeface="Arial" panose="020B0604020202020204" pitchFamily="34" charset="0"/>
            </a:endParaRPr>
          </a:p>
          <a:p>
            <a:r>
              <a:rPr lang="en-US" altLang="zh-CN" dirty="0">
                <a:latin typeface="Arial" panose="020B0604020202020204" pitchFamily="34" charset="0"/>
              </a:rPr>
              <a:t>Clock::Clock(): hour(0,23,0), minute(0,59,0), second(0,59,0)</a:t>
            </a:r>
          </a:p>
          <a:p>
            <a:r>
              <a:rPr lang="en-US" altLang="zh-CN" dirty="0">
                <a:latin typeface="Arial" panose="020B0604020202020204" pitchFamily="34" charset="0"/>
              </a:rPr>
              <a:t>{return;</a:t>
            </a:r>
          </a:p>
          <a:p>
            <a:r>
              <a:rPr lang="en-US" altLang="zh-CN" dirty="0">
                <a:latin typeface="Arial" panose="020B0604020202020204" pitchFamily="34" charset="0"/>
              </a:rPr>
              <a:t>}</a:t>
            </a:r>
          </a:p>
          <a:p>
            <a:endParaRPr lang="en-US" altLang="zh-CN" dirty="0">
              <a:latin typeface="Arial" panose="020B0604020202020204" pitchFamily="34" charset="0"/>
            </a:endParaRPr>
          </a:p>
          <a:p>
            <a:r>
              <a:rPr lang="en-US" altLang="zh-CN" dirty="0">
                <a:latin typeface="Arial" panose="020B0604020202020204" pitchFamily="34" charset="0"/>
              </a:rPr>
              <a:t>void Clock::</a:t>
            </a:r>
            <a:r>
              <a:rPr lang="en-US" altLang="zh-CN" dirty="0" err="1">
                <a:latin typeface="Arial" panose="020B0604020202020204" pitchFamily="34" charset="0"/>
              </a:rPr>
              <a:t>showTime</a:t>
            </a:r>
            <a:r>
              <a:rPr lang="en-US" altLang="zh-CN" dirty="0">
                <a:latin typeface="Arial" panose="020B0604020202020204" pitchFamily="34" charset="0"/>
              </a:rPr>
              <a:t>() //</a:t>
            </a:r>
            <a:r>
              <a:rPr lang="zh-CN" altLang="en-US" dirty="0">
                <a:latin typeface="Arial" panose="020B0604020202020204" pitchFamily="34" charset="0"/>
              </a:rPr>
              <a:t>显示时间</a:t>
            </a:r>
          </a:p>
          <a:p>
            <a:r>
              <a:rPr lang="en-US" altLang="zh-CN" dirty="0">
                <a:latin typeface="Arial" panose="020B0604020202020204" pitchFamily="34" charset="0"/>
              </a:rPr>
              <a:t>{</a:t>
            </a:r>
          </a:p>
          <a:p>
            <a:r>
              <a:rPr lang="en-US" altLang="zh-CN" dirty="0" err="1">
                <a:latin typeface="Arial" panose="020B0604020202020204" pitchFamily="34" charset="0"/>
              </a:rPr>
              <a:t>cout</a:t>
            </a:r>
            <a:r>
              <a:rPr lang="en-US" altLang="zh-CN" dirty="0">
                <a:latin typeface="Arial" panose="020B0604020202020204" pitchFamily="34" charset="0"/>
              </a:rPr>
              <a:t>&lt;&lt;</a:t>
            </a:r>
            <a:r>
              <a:rPr lang="en-US" altLang="zh-CN" dirty="0" err="1">
                <a:latin typeface="Arial" panose="020B0604020202020204" pitchFamily="34" charset="0"/>
              </a:rPr>
              <a:t>hour.get_value</a:t>
            </a:r>
            <a:r>
              <a:rPr lang="en-US" altLang="zh-CN" dirty="0">
                <a:latin typeface="Arial" panose="020B0604020202020204" pitchFamily="34" charset="0"/>
              </a:rPr>
              <a:t>()&lt;&lt;":"&lt;&lt;</a:t>
            </a:r>
            <a:r>
              <a:rPr lang="en-US" altLang="zh-CN" dirty="0" err="1">
                <a:latin typeface="Arial" panose="020B0604020202020204" pitchFamily="34" charset="0"/>
              </a:rPr>
              <a:t>minute.get_value</a:t>
            </a:r>
            <a:r>
              <a:rPr lang="en-US" altLang="zh-CN" dirty="0">
                <a:latin typeface="Arial" panose="020B0604020202020204" pitchFamily="34" charset="0"/>
              </a:rPr>
              <a:t>()&lt;&lt;":"&lt;&lt;</a:t>
            </a:r>
            <a:r>
              <a:rPr lang="en-US" altLang="zh-CN" dirty="0" err="1">
                <a:latin typeface="Arial" panose="020B0604020202020204" pitchFamily="34" charset="0"/>
              </a:rPr>
              <a:t>second.get_value</a:t>
            </a:r>
            <a:r>
              <a:rPr lang="en-US" altLang="zh-CN" dirty="0">
                <a:latin typeface="Arial" panose="020B0604020202020204" pitchFamily="34" charset="0"/>
              </a:rPr>
              <a:t>()&lt;&lt;</a:t>
            </a:r>
            <a:r>
              <a:rPr lang="en-US" altLang="zh-CN" dirty="0" err="1">
                <a:latin typeface="Arial" panose="020B0604020202020204" pitchFamily="34" charset="0"/>
              </a:rPr>
              <a:t>endl</a:t>
            </a:r>
            <a:r>
              <a:rPr lang="en-US" altLang="zh-CN" dirty="0">
                <a:latin typeface="Arial" panose="020B0604020202020204" pitchFamily="34" charset="0"/>
              </a:rPr>
              <a:t>;</a:t>
            </a:r>
          </a:p>
          <a:p>
            <a:r>
              <a:rPr lang="en-US" altLang="zh-CN" dirty="0">
                <a:latin typeface="Arial" panose="020B0604020202020204" pitchFamily="34" charset="0"/>
              </a:rPr>
              <a:t>return;</a:t>
            </a:r>
          </a:p>
          <a:p>
            <a:r>
              <a:rPr lang="en-US" altLang="zh-CN" dirty="0">
                <a:latin typeface="Arial" panose="020B0604020202020204" pitchFamily="34" charset="0"/>
              </a:rPr>
              <a:t>}</a:t>
            </a:r>
          </a:p>
          <a:p>
            <a:endParaRPr lang="en-US" altLang="zh-CN" dirty="0">
              <a:latin typeface="Arial" panose="020B0604020202020204" pitchFamily="34" charset="0"/>
            </a:endParaRPr>
          </a:p>
          <a:p>
            <a:r>
              <a:rPr lang="en-US" altLang="zh-CN" dirty="0">
                <a:latin typeface="Arial" panose="020B0604020202020204" pitchFamily="34" charset="0"/>
              </a:rPr>
              <a:t>void Clock::</a:t>
            </a:r>
            <a:r>
              <a:rPr lang="en-US" altLang="zh-CN" dirty="0" err="1">
                <a:latin typeface="Arial" panose="020B0604020202020204" pitchFamily="34" charset="0"/>
              </a:rPr>
              <a:t>setTime</a:t>
            </a:r>
            <a:r>
              <a:rPr lang="en-US" altLang="zh-CN" dirty="0">
                <a:latin typeface="Arial" panose="020B0604020202020204" pitchFamily="34" charset="0"/>
              </a:rPr>
              <a:t>(int </a:t>
            </a:r>
            <a:r>
              <a:rPr lang="en-US" altLang="zh-CN" dirty="0" err="1">
                <a:latin typeface="Arial" panose="020B0604020202020204" pitchFamily="34" charset="0"/>
              </a:rPr>
              <a:t>newH</a:t>
            </a:r>
            <a:r>
              <a:rPr lang="en-US" altLang="zh-CN" dirty="0">
                <a:latin typeface="Arial" panose="020B0604020202020204" pitchFamily="34" charset="0"/>
              </a:rPr>
              <a:t>, int </a:t>
            </a:r>
            <a:r>
              <a:rPr lang="en-US" altLang="zh-CN" dirty="0" err="1">
                <a:latin typeface="Arial" panose="020B0604020202020204" pitchFamily="34" charset="0"/>
              </a:rPr>
              <a:t>newM</a:t>
            </a:r>
            <a:r>
              <a:rPr lang="en-US" altLang="zh-CN" dirty="0">
                <a:latin typeface="Arial" panose="020B0604020202020204" pitchFamily="34" charset="0"/>
              </a:rPr>
              <a:t>, int </a:t>
            </a:r>
            <a:r>
              <a:rPr lang="en-US" altLang="zh-CN" dirty="0" err="1">
                <a:latin typeface="Arial" panose="020B0604020202020204" pitchFamily="34" charset="0"/>
              </a:rPr>
              <a:t>newS</a:t>
            </a:r>
            <a:r>
              <a:rPr lang="en-US" altLang="zh-CN" dirty="0">
                <a:latin typeface="Arial" panose="020B0604020202020204" pitchFamily="34" charset="0"/>
              </a:rPr>
              <a:t>){</a:t>
            </a:r>
          </a:p>
          <a:p>
            <a:r>
              <a:rPr lang="en-US" altLang="zh-CN" dirty="0">
                <a:latin typeface="Arial" panose="020B0604020202020204" pitchFamily="34" charset="0"/>
              </a:rPr>
              <a:t>	 </a:t>
            </a:r>
            <a:r>
              <a:rPr lang="en-US" altLang="zh-CN" dirty="0" err="1">
                <a:latin typeface="Arial" panose="020B0604020202020204" pitchFamily="34" charset="0"/>
              </a:rPr>
              <a:t>hour.set_value</a:t>
            </a:r>
            <a:r>
              <a:rPr lang="en-US" altLang="zh-CN" dirty="0">
                <a:latin typeface="Arial" panose="020B0604020202020204" pitchFamily="34" charset="0"/>
              </a:rPr>
              <a:t>(</a:t>
            </a:r>
            <a:r>
              <a:rPr lang="en-US" altLang="zh-CN" dirty="0" err="1">
                <a:latin typeface="Arial" panose="020B0604020202020204" pitchFamily="34" charset="0"/>
              </a:rPr>
              <a:t>newH</a:t>
            </a:r>
            <a:r>
              <a:rPr lang="en-US" altLang="zh-CN" dirty="0">
                <a:latin typeface="Arial" panose="020B0604020202020204" pitchFamily="34" charset="0"/>
              </a:rPr>
              <a:t>);</a:t>
            </a:r>
          </a:p>
          <a:p>
            <a:r>
              <a:rPr lang="en-US" altLang="zh-CN" dirty="0">
                <a:latin typeface="Arial" panose="020B0604020202020204" pitchFamily="34" charset="0"/>
              </a:rPr>
              <a:t>	 </a:t>
            </a:r>
            <a:r>
              <a:rPr lang="en-US" altLang="zh-CN" dirty="0" err="1">
                <a:latin typeface="Arial" panose="020B0604020202020204" pitchFamily="34" charset="0"/>
              </a:rPr>
              <a:t>minute.set_value</a:t>
            </a:r>
            <a:r>
              <a:rPr lang="en-US" altLang="zh-CN" dirty="0">
                <a:latin typeface="Arial" panose="020B0604020202020204" pitchFamily="34" charset="0"/>
              </a:rPr>
              <a:t>(</a:t>
            </a:r>
            <a:r>
              <a:rPr lang="en-US" altLang="zh-CN" dirty="0" err="1">
                <a:latin typeface="Arial" panose="020B0604020202020204" pitchFamily="34" charset="0"/>
              </a:rPr>
              <a:t>newM</a:t>
            </a:r>
            <a:r>
              <a:rPr lang="en-US" altLang="zh-CN" dirty="0">
                <a:latin typeface="Arial" panose="020B0604020202020204" pitchFamily="34" charset="0"/>
              </a:rPr>
              <a:t>);</a:t>
            </a:r>
          </a:p>
          <a:p>
            <a:r>
              <a:rPr lang="en-US" altLang="zh-CN" dirty="0">
                <a:latin typeface="Arial" panose="020B0604020202020204" pitchFamily="34" charset="0"/>
              </a:rPr>
              <a:t>	 </a:t>
            </a:r>
            <a:r>
              <a:rPr lang="en-US" altLang="zh-CN" dirty="0" err="1">
                <a:latin typeface="Arial" panose="020B0604020202020204" pitchFamily="34" charset="0"/>
              </a:rPr>
              <a:t>second.set_value</a:t>
            </a:r>
            <a:r>
              <a:rPr lang="en-US" altLang="zh-CN" dirty="0">
                <a:latin typeface="Arial" panose="020B0604020202020204" pitchFamily="34" charset="0"/>
              </a:rPr>
              <a:t>(</a:t>
            </a:r>
            <a:r>
              <a:rPr lang="en-US" altLang="zh-CN" dirty="0" err="1">
                <a:latin typeface="Arial" panose="020B0604020202020204" pitchFamily="34" charset="0"/>
              </a:rPr>
              <a:t>newS</a:t>
            </a:r>
            <a:r>
              <a:rPr lang="en-US" altLang="zh-CN" dirty="0">
                <a:latin typeface="Arial" panose="020B0604020202020204" pitchFamily="34" charset="0"/>
              </a:rPr>
              <a:t>);</a:t>
            </a:r>
          </a:p>
          <a:p>
            <a:r>
              <a:rPr lang="en-US" altLang="zh-CN" dirty="0">
                <a:latin typeface="Arial" panose="020B0604020202020204" pitchFamily="34" charset="0"/>
              </a:rPr>
              <a:t>   </a:t>
            </a:r>
          </a:p>
          <a:p>
            <a:r>
              <a:rPr lang="en-US" altLang="zh-CN" dirty="0">
                <a:latin typeface="Arial" panose="020B0604020202020204" pitchFamily="34" charset="0"/>
              </a:rPr>
              <a:t>}</a:t>
            </a:r>
          </a:p>
          <a:p>
            <a:r>
              <a:rPr lang="en-US" altLang="zh-CN" dirty="0">
                <a:latin typeface="Arial" panose="020B0604020202020204" pitchFamily="34" charset="0"/>
              </a:rPr>
              <a:t>void Clock::update()   // </a:t>
            </a:r>
            <a:r>
              <a:rPr lang="zh-CN" altLang="en-US" dirty="0">
                <a:latin typeface="Arial" panose="020B0604020202020204" pitchFamily="34" charset="0"/>
              </a:rPr>
              <a:t>刷新时间</a:t>
            </a:r>
          </a:p>
          <a:p>
            <a:r>
              <a:rPr lang="en-US" altLang="zh-CN" dirty="0">
                <a:latin typeface="Arial" panose="020B0604020202020204" pitchFamily="34" charset="0"/>
              </a:rPr>
              <a:t>{</a:t>
            </a:r>
          </a:p>
          <a:p>
            <a:r>
              <a:rPr lang="en-US" altLang="zh-CN" dirty="0">
                <a:latin typeface="Arial" panose="020B0604020202020204" pitchFamily="34" charset="0"/>
              </a:rPr>
              <a:t>	</a:t>
            </a:r>
            <a:r>
              <a:rPr lang="en-US" altLang="zh-CN" dirty="0" err="1">
                <a:latin typeface="Arial" panose="020B0604020202020204" pitchFamily="34" charset="0"/>
              </a:rPr>
              <a:t>second.increment</a:t>
            </a:r>
            <a:r>
              <a:rPr lang="en-US" altLang="zh-CN" dirty="0">
                <a:latin typeface="Arial" panose="020B0604020202020204" pitchFamily="34" charset="0"/>
              </a:rPr>
              <a:t>();</a:t>
            </a:r>
          </a:p>
          <a:p>
            <a:r>
              <a:rPr lang="en-US" altLang="zh-CN" dirty="0">
                <a:latin typeface="Arial" panose="020B0604020202020204" pitchFamily="34" charset="0"/>
              </a:rPr>
              <a:t>	if(</a:t>
            </a:r>
            <a:r>
              <a:rPr lang="en-US" altLang="zh-CN" dirty="0" err="1">
                <a:latin typeface="Arial" panose="020B0604020202020204" pitchFamily="34" charset="0"/>
              </a:rPr>
              <a:t>second.get_value</a:t>
            </a:r>
            <a:r>
              <a:rPr lang="en-US" altLang="zh-CN" dirty="0">
                <a:latin typeface="Arial" panose="020B0604020202020204" pitchFamily="34" charset="0"/>
              </a:rPr>
              <a:t>()==0) {</a:t>
            </a:r>
          </a:p>
          <a:p>
            <a:r>
              <a:rPr lang="en-US" altLang="zh-CN" dirty="0">
                <a:latin typeface="Arial" panose="020B0604020202020204" pitchFamily="34" charset="0"/>
              </a:rPr>
              <a:t>		</a:t>
            </a:r>
            <a:r>
              <a:rPr lang="en-US" altLang="zh-CN" dirty="0" err="1">
                <a:latin typeface="Arial" panose="020B0604020202020204" pitchFamily="34" charset="0"/>
              </a:rPr>
              <a:t>minute.increment</a:t>
            </a:r>
            <a:r>
              <a:rPr lang="en-US" altLang="zh-CN" dirty="0">
                <a:latin typeface="Arial" panose="020B0604020202020204" pitchFamily="34" charset="0"/>
              </a:rPr>
              <a:t>();</a:t>
            </a:r>
          </a:p>
          <a:p>
            <a:r>
              <a:rPr lang="en-US" altLang="zh-CN" dirty="0">
                <a:latin typeface="Arial" panose="020B0604020202020204" pitchFamily="34" charset="0"/>
              </a:rPr>
              <a:t>		if(</a:t>
            </a:r>
            <a:r>
              <a:rPr lang="en-US" altLang="zh-CN" dirty="0" err="1">
                <a:latin typeface="Arial" panose="020B0604020202020204" pitchFamily="34" charset="0"/>
              </a:rPr>
              <a:t>minute.get_value</a:t>
            </a:r>
            <a:r>
              <a:rPr lang="en-US" altLang="zh-CN" dirty="0">
                <a:latin typeface="Arial" panose="020B0604020202020204" pitchFamily="34" charset="0"/>
              </a:rPr>
              <a:t>()==0)</a:t>
            </a:r>
            <a:r>
              <a:rPr lang="en-US" altLang="zh-CN" dirty="0" err="1">
                <a:latin typeface="Arial" panose="020B0604020202020204" pitchFamily="34" charset="0"/>
              </a:rPr>
              <a:t>hour.increment</a:t>
            </a:r>
            <a:r>
              <a:rPr lang="en-US" altLang="zh-CN" dirty="0">
                <a:latin typeface="Arial" panose="020B0604020202020204" pitchFamily="34" charset="0"/>
              </a:rPr>
              <a:t>();</a:t>
            </a:r>
          </a:p>
          <a:p>
            <a:r>
              <a:rPr lang="en-US" altLang="zh-CN" dirty="0">
                <a:latin typeface="Arial" panose="020B0604020202020204" pitchFamily="34" charset="0"/>
              </a:rPr>
              <a:t>	}</a:t>
            </a:r>
          </a:p>
          <a:p>
            <a:r>
              <a:rPr lang="en-US" altLang="zh-CN" dirty="0">
                <a:latin typeface="Arial" panose="020B0604020202020204" pitchFamily="34" charset="0"/>
              </a:rPr>
              <a:t>	return;</a:t>
            </a:r>
          </a:p>
          <a:p>
            <a:r>
              <a:rPr lang="en-US" altLang="zh-CN" dirty="0">
                <a:latin typeface="Arial" panose="020B0604020202020204" pitchFamily="34" charset="0"/>
              </a:rPr>
              <a:t>}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ABDA6A-29CD-4D28-B6EA-E8D4FFDF6043}" type="slidenum">
              <a:rPr lang="zh-CN" altLang="en-US" smtClean="0"/>
              <a:t>46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86364836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>
                <a:latin typeface="Arial" panose="020B0604020202020204" pitchFamily="34" charset="0"/>
              </a:rPr>
              <a:t>#include&lt;iostream&gt;</a:t>
            </a:r>
          </a:p>
          <a:p>
            <a:r>
              <a:rPr lang="en-US" altLang="zh-CN" dirty="0">
                <a:latin typeface="Arial" panose="020B0604020202020204" pitchFamily="34" charset="0"/>
              </a:rPr>
              <a:t>#include &lt;</a:t>
            </a:r>
            <a:r>
              <a:rPr lang="en-US" altLang="zh-CN" dirty="0" err="1">
                <a:latin typeface="Arial" panose="020B0604020202020204" pitchFamily="34" charset="0"/>
              </a:rPr>
              <a:t>ctime</a:t>
            </a:r>
            <a:r>
              <a:rPr lang="en-US" altLang="zh-CN" dirty="0">
                <a:latin typeface="Arial" panose="020B0604020202020204" pitchFamily="34" charset="0"/>
              </a:rPr>
              <a:t>&gt;</a:t>
            </a:r>
          </a:p>
          <a:p>
            <a:r>
              <a:rPr lang="en-US" altLang="zh-CN" dirty="0">
                <a:latin typeface="Arial" panose="020B0604020202020204" pitchFamily="34" charset="0"/>
              </a:rPr>
              <a:t>using namespace std;</a:t>
            </a:r>
          </a:p>
          <a:p>
            <a:endParaRPr lang="en-US" altLang="zh-CN" dirty="0">
              <a:latin typeface="Arial" panose="020B0604020202020204" pitchFamily="34" charset="0"/>
            </a:endParaRPr>
          </a:p>
          <a:p>
            <a:r>
              <a:rPr lang="en-US" altLang="zh-CN" dirty="0">
                <a:latin typeface="Arial" panose="020B0604020202020204" pitchFamily="34" charset="0"/>
              </a:rPr>
              <a:t>class CIRCULAR_NUMBERS {</a:t>
            </a:r>
          </a:p>
          <a:p>
            <a:r>
              <a:rPr lang="en-US" altLang="zh-CN" dirty="0">
                <a:latin typeface="Arial" panose="020B0604020202020204" pitchFamily="34" charset="0"/>
              </a:rPr>
              <a:t>  public:</a:t>
            </a:r>
          </a:p>
          <a:p>
            <a:r>
              <a:rPr lang="en-US" altLang="zh-CN" dirty="0">
                <a:latin typeface="Arial" panose="020B0604020202020204" pitchFamily="34" charset="0"/>
              </a:rPr>
              <a:t>      CIRCULAR_NUMBERS(int min, int max, int value);</a:t>
            </a:r>
          </a:p>
          <a:p>
            <a:r>
              <a:rPr lang="en-US" altLang="zh-CN" dirty="0">
                <a:latin typeface="Arial" panose="020B0604020202020204" pitchFamily="34" charset="0"/>
              </a:rPr>
              <a:t>      void </a:t>
            </a:r>
            <a:r>
              <a:rPr lang="en-US" altLang="zh-CN" dirty="0" err="1">
                <a:latin typeface="Arial" panose="020B0604020202020204" pitchFamily="34" charset="0"/>
              </a:rPr>
              <a:t>set_mode</a:t>
            </a:r>
            <a:r>
              <a:rPr lang="en-US" altLang="zh-CN" dirty="0">
                <a:latin typeface="Arial" panose="020B0604020202020204" pitchFamily="34" charset="0"/>
              </a:rPr>
              <a:t>(int min, int max);   //</a:t>
            </a:r>
            <a:r>
              <a:rPr lang="zh-CN" altLang="en-US" dirty="0">
                <a:latin typeface="Arial" panose="020B0604020202020204" pitchFamily="34" charset="0"/>
              </a:rPr>
              <a:t>设置循环计数器的上、下限</a:t>
            </a:r>
          </a:p>
          <a:p>
            <a:r>
              <a:rPr lang="zh-CN" altLang="en-US" dirty="0">
                <a:latin typeface="Arial" panose="020B0604020202020204" pitchFamily="34" charset="0"/>
              </a:rPr>
              <a:t>      </a:t>
            </a:r>
            <a:r>
              <a:rPr lang="en-US" altLang="zh-CN" dirty="0">
                <a:latin typeface="Arial" panose="020B0604020202020204" pitchFamily="34" charset="0"/>
              </a:rPr>
              <a:t>void </a:t>
            </a:r>
            <a:r>
              <a:rPr lang="en-US" altLang="zh-CN" dirty="0" err="1">
                <a:latin typeface="Arial" panose="020B0604020202020204" pitchFamily="34" charset="0"/>
              </a:rPr>
              <a:t>set_value</a:t>
            </a:r>
            <a:r>
              <a:rPr lang="en-US" altLang="zh-CN" dirty="0">
                <a:latin typeface="Arial" panose="020B0604020202020204" pitchFamily="34" charset="0"/>
              </a:rPr>
              <a:t>(int value);                 //</a:t>
            </a:r>
            <a:r>
              <a:rPr lang="zh-CN" altLang="en-US" dirty="0">
                <a:latin typeface="Arial" panose="020B0604020202020204" pitchFamily="34" charset="0"/>
              </a:rPr>
              <a:t>设置循环计数器的当前值</a:t>
            </a:r>
          </a:p>
          <a:p>
            <a:r>
              <a:rPr lang="zh-CN" altLang="en-US" dirty="0">
                <a:latin typeface="Arial" panose="020B0604020202020204" pitchFamily="34" charset="0"/>
              </a:rPr>
              <a:t>      </a:t>
            </a:r>
            <a:r>
              <a:rPr lang="en-US" altLang="zh-CN" dirty="0">
                <a:latin typeface="Arial" panose="020B0604020202020204" pitchFamily="34" charset="0"/>
              </a:rPr>
              <a:t>int </a:t>
            </a:r>
            <a:r>
              <a:rPr lang="en-US" altLang="zh-CN" dirty="0" err="1">
                <a:latin typeface="Arial" panose="020B0604020202020204" pitchFamily="34" charset="0"/>
              </a:rPr>
              <a:t>get_value</a:t>
            </a:r>
            <a:r>
              <a:rPr lang="en-US" altLang="zh-CN" dirty="0">
                <a:latin typeface="Arial" panose="020B0604020202020204" pitchFamily="34" charset="0"/>
              </a:rPr>
              <a:t>();                                //</a:t>
            </a:r>
            <a:r>
              <a:rPr lang="zh-CN" altLang="en-US" dirty="0">
                <a:latin typeface="Arial" panose="020B0604020202020204" pitchFamily="34" charset="0"/>
              </a:rPr>
              <a:t>查询循环计数器的当前值</a:t>
            </a:r>
          </a:p>
          <a:p>
            <a:r>
              <a:rPr lang="zh-CN" altLang="en-US" dirty="0">
                <a:latin typeface="Arial" panose="020B0604020202020204" pitchFamily="34" charset="0"/>
              </a:rPr>
              <a:t>      </a:t>
            </a:r>
            <a:r>
              <a:rPr lang="en-US" altLang="zh-CN" dirty="0">
                <a:latin typeface="Arial" panose="020B0604020202020204" pitchFamily="34" charset="0"/>
              </a:rPr>
              <a:t>void increment();                             //</a:t>
            </a:r>
            <a:r>
              <a:rPr lang="zh-CN" altLang="en-US" dirty="0">
                <a:latin typeface="Arial" panose="020B0604020202020204" pitchFamily="34" charset="0"/>
              </a:rPr>
              <a:t>循环计数器加</a:t>
            </a:r>
            <a:r>
              <a:rPr lang="en-US" altLang="zh-CN" dirty="0">
                <a:latin typeface="Arial" panose="020B0604020202020204" pitchFamily="34" charset="0"/>
              </a:rPr>
              <a:t>1</a:t>
            </a:r>
          </a:p>
          <a:p>
            <a:r>
              <a:rPr lang="en-US" altLang="zh-CN" dirty="0">
                <a:latin typeface="Arial" panose="020B0604020202020204" pitchFamily="34" charset="0"/>
              </a:rPr>
              <a:t>      void decrement();                            // </a:t>
            </a:r>
            <a:r>
              <a:rPr lang="zh-CN" altLang="en-US" dirty="0">
                <a:latin typeface="Arial" panose="020B0604020202020204" pitchFamily="34" charset="0"/>
              </a:rPr>
              <a:t>循环计数器减</a:t>
            </a:r>
            <a:r>
              <a:rPr lang="en-US" altLang="zh-CN" dirty="0">
                <a:latin typeface="Arial" panose="020B0604020202020204" pitchFamily="34" charset="0"/>
              </a:rPr>
              <a:t>1</a:t>
            </a:r>
          </a:p>
          <a:p>
            <a:r>
              <a:rPr lang="en-US" altLang="zh-CN" dirty="0">
                <a:latin typeface="Arial" panose="020B0604020202020204" pitchFamily="34" charset="0"/>
              </a:rPr>
              <a:t>  private:</a:t>
            </a:r>
          </a:p>
          <a:p>
            <a:r>
              <a:rPr lang="en-US" altLang="zh-CN" dirty="0">
                <a:latin typeface="Arial" panose="020B0604020202020204" pitchFamily="34" charset="0"/>
              </a:rPr>
              <a:t>      int </a:t>
            </a:r>
            <a:r>
              <a:rPr lang="en-US" altLang="zh-CN" dirty="0" err="1">
                <a:latin typeface="Arial" panose="020B0604020202020204" pitchFamily="34" charset="0"/>
              </a:rPr>
              <a:t>min_val</a:t>
            </a:r>
            <a:r>
              <a:rPr lang="en-US" altLang="zh-CN" dirty="0">
                <a:latin typeface="Arial" panose="020B0604020202020204" pitchFamily="34" charset="0"/>
              </a:rPr>
              <a:t>; // </a:t>
            </a:r>
            <a:r>
              <a:rPr lang="zh-CN" altLang="en-US" dirty="0">
                <a:latin typeface="Arial" panose="020B0604020202020204" pitchFamily="34" charset="0"/>
              </a:rPr>
              <a:t>最小值</a:t>
            </a:r>
          </a:p>
          <a:p>
            <a:r>
              <a:rPr lang="zh-CN" altLang="en-US" dirty="0">
                <a:latin typeface="Arial" panose="020B0604020202020204" pitchFamily="34" charset="0"/>
              </a:rPr>
              <a:t>      </a:t>
            </a:r>
            <a:r>
              <a:rPr lang="en-US" altLang="zh-CN" dirty="0">
                <a:latin typeface="Arial" panose="020B0604020202020204" pitchFamily="34" charset="0"/>
              </a:rPr>
              <a:t>int </a:t>
            </a:r>
            <a:r>
              <a:rPr lang="en-US" altLang="zh-CN" dirty="0" err="1">
                <a:latin typeface="Arial" panose="020B0604020202020204" pitchFamily="34" charset="0"/>
              </a:rPr>
              <a:t>max_val</a:t>
            </a:r>
            <a:r>
              <a:rPr lang="en-US" altLang="zh-CN" dirty="0">
                <a:latin typeface="Arial" panose="020B0604020202020204" pitchFamily="34" charset="0"/>
              </a:rPr>
              <a:t>; // </a:t>
            </a:r>
            <a:r>
              <a:rPr lang="zh-CN" altLang="en-US" dirty="0">
                <a:latin typeface="Arial" panose="020B0604020202020204" pitchFamily="34" charset="0"/>
              </a:rPr>
              <a:t>最大值</a:t>
            </a:r>
          </a:p>
          <a:p>
            <a:r>
              <a:rPr lang="zh-CN" altLang="en-US" dirty="0">
                <a:latin typeface="Arial" panose="020B0604020202020204" pitchFamily="34" charset="0"/>
              </a:rPr>
              <a:t>      </a:t>
            </a:r>
            <a:r>
              <a:rPr lang="en-US" altLang="zh-CN" dirty="0">
                <a:latin typeface="Arial" panose="020B0604020202020204" pitchFamily="34" charset="0"/>
              </a:rPr>
              <a:t>int current; // </a:t>
            </a:r>
            <a:r>
              <a:rPr lang="zh-CN" altLang="en-US" dirty="0">
                <a:latin typeface="Arial" panose="020B0604020202020204" pitchFamily="34" charset="0"/>
              </a:rPr>
              <a:t>当前值</a:t>
            </a:r>
          </a:p>
          <a:p>
            <a:r>
              <a:rPr lang="zh-CN" altLang="en-US" dirty="0">
                <a:latin typeface="Arial" panose="020B0604020202020204" pitchFamily="34" charset="0"/>
              </a:rPr>
              <a:t> </a:t>
            </a:r>
            <a:r>
              <a:rPr lang="en-US" altLang="zh-CN" dirty="0">
                <a:latin typeface="Arial" panose="020B0604020202020204" pitchFamily="34" charset="0"/>
              </a:rPr>
              <a:t>};</a:t>
            </a:r>
          </a:p>
          <a:p>
            <a:r>
              <a:rPr lang="en-US" altLang="zh-CN" dirty="0">
                <a:latin typeface="Arial" panose="020B0604020202020204" pitchFamily="34" charset="0"/>
              </a:rPr>
              <a:t>CIRCULAR_NUMBERS::CIRCULAR_NUMBERS(int min, int max, int value)</a:t>
            </a:r>
          </a:p>
          <a:p>
            <a:r>
              <a:rPr lang="en-US" altLang="zh-CN" dirty="0">
                <a:latin typeface="Arial" panose="020B0604020202020204" pitchFamily="34" charset="0"/>
              </a:rPr>
              <a:t>{	</a:t>
            </a:r>
            <a:r>
              <a:rPr lang="en-US" altLang="zh-CN" dirty="0" err="1">
                <a:latin typeface="Arial" panose="020B0604020202020204" pitchFamily="34" charset="0"/>
              </a:rPr>
              <a:t>min_val</a:t>
            </a:r>
            <a:r>
              <a:rPr lang="en-US" altLang="zh-CN" dirty="0">
                <a:latin typeface="Arial" panose="020B0604020202020204" pitchFamily="34" charset="0"/>
              </a:rPr>
              <a:t> = (min &lt;= max) ? min : max;</a:t>
            </a:r>
          </a:p>
          <a:p>
            <a:r>
              <a:rPr lang="en-US" altLang="zh-CN" dirty="0">
                <a:latin typeface="Arial" panose="020B0604020202020204" pitchFamily="34" charset="0"/>
              </a:rPr>
              <a:t>	</a:t>
            </a:r>
            <a:r>
              <a:rPr lang="en-US" altLang="zh-CN" dirty="0" err="1">
                <a:latin typeface="Arial" panose="020B0604020202020204" pitchFamily="34" charset="0"/>
              </a:rPr>
              <a:t>max_val</a:t>
            </a:r>
            <a:r>
              <a:rPr lang="en-US" altLang="zh-CN" dirty="0">
                <a:latin typeface="Arial" panose="020B0604020202020204" pitchFamily="34" charset="0"/>
              </a:rPr>
              <a:t> = (min &lt;= max) ? max : min;</a:t>
            </a:r>
          </a:p>
          <a:p>
            <a:r>
              <a:rPr lang="en-US" altLang="zh-CN" dirty="0">
                <a:latin typeface="Arial" panose="020B0604020202020204" pitchFamily="34" charset="0"/>
              </a:rPr>
              <a:t>	if (value &lt; </a:t>
            </a:r>
            <a:r>
              <a:rPr lang="en-US" altLang="zh-CN" dirty="0" err="1">
                <a:latin typeface="Arial" panose="020B0604020202020204" pitchFamily="34" charset="0"/>
              </a:rPr>
              <a:t>min_val</a:t>
            </a:r>
            <a:r>
              <a:rPr lang="en-US" altLang="zh-CN" dirty="0">
                <a:latin typeface="Arial" panose="020B0604020202020204" pitchFamily="34" charset="0"/>
              </a:rPr>
              <a:t>) current = </a:t>
            </a:r>
            <a:r>
              <a:rPr lang="en-US" altLang="zh-CN" dirty="0" err="1">
                <a:latin typeface="Arial" panose="020B0604020202020204" pitchFamily="34" charset="0"/>
              </a:rPr>
              <a:t>min_val</a:t>
            </a:r>
            <a:r>
              <a:rPr lang="en-US" altLang="zh-CN" dirty="0">
                <a:latin typeface="Arial" panose="020B0604020202020204" pitchFamily="34" charset="0"/>
              </a:rPr>
              <a:t>;</a:t>
            </a:r>
          </a:p>
          <a:p>
            <a:r>
              <a:rPr lang="en-US" altLang="zh-CN" dirty="0">
                <a:latin typeface="Arial" panose="020B0604020202020204" pitchFamily="34" charset="0"/>
              </a:rPr>
              <a:t>	else {</a:t>
            </a:r>
          </a:p>
          <a:p>
            <a:r>
              <a:rPr lang="en-US" altLang="zh-CN" dirty="0">
                <a:latin typeface="Arial" panose="020B0604020202020204" pitchFamily="34" charset="0"/>
              </a:rPr>
              <a:t>		if (value &gt; </a:t>
            </a:r>
            <a:r>
              <a:rPr lang="en-US" altLang="zh-CN" dirty="0" err="1">
                <a:latin typeface="Arial" panose="020B0604020202020204" pitchFamily="34" charset="0"/>
              </a:rPr>
              <a:t>max_val</a:t>
            </a:r>
            <a:r>
              <a:rPr lang="en-US" altLang="zh-CN" dirty="0">
                <a:latin typeface="Arial" panose="020B0604020202020204" pitchFamily="34" charset="0"/>
              </a:rPr>
              <a:t>) current = </a:t>
            </a:r>
            <a:r>
              <a:rPr lang="en-US" altLang="zh-CN" dirty="0" err="1">
                <a:latin typeface="Arial" panose="020B0604020202020204" pitchFamily="34" charset="0"/>
              </a:rPr>
              <a:t>max_val</a:t>
            </a:r>
            <a:r>
              <a:rPr lang="en-US" altLang="zh-CN" dirty="0">
                <a:latin typeface="Arial" panose="020B0604020202020204" pitchFamily="34" charset="0"/>
              </a:rPr>
              <a:t>;</a:t>
            </a:r>
          </a:p>
          <a:p>
            <a:r>
              <a:rPr lang="en-US" altLang="zh-CN" dirty="0">
                <a:latin typeface="Arial" panose="020B0604020202020204" pitchFamily="34" charset="0"/>
              </a:rPr>
              <a:t>		else current = value;</a:t>
            </a:r>
          </a:p>
          <a:p>
            <a:r>
              <a:rPr lang="en-US" altLang="zh-CN" dirty="0">
                <a:latin typeface="Arial" panose="020B0604020202020204" pitchFamily="34" charset="0"/>
              </a:rPr>
              <a:t>	}</a:t>
            </a:r>
          </a:p>
          <a:p>
            <a:r>
              <a:rPr lang="en-US" altLang="zh-CN" dirty="0">
                <a:latin typeface="Arial" panose="020B0604020202020204" pitchFamily="34" charset="0"/>
              </a:rPr>
              <a:t>	return;</a:t>
            </a:r>
          </a:p>
          <a:p>
            <a:r>
              <a:rPr lang="en-US" altLang="zh-CN" dirty="0">
                <a:latin typeface="Arial" panose="020B0604020202020204" pitchFamily="34" charset="0"/>
              </a:rPr>
              <a:t>} </a:t>
            </a:r>
          </a:p>
          <a:p>
            <a:r>
              <a:rPr lang="en-US" altLang="zh-CN" dirty="0">
                <a:latin typeface="Arial" panose="020B0604020202020204" pitchFamily="34" charset="0"/>
              </a:rPr>
              <a:t>void CIRCULAR_NUMBERS::</a:t>
            </a:r>
            <a:r>
              <a:rPr lang="en-US" altLang="zh-CN" dirty="0" err="1">
                <a:latin typeface="Arial" panose="020B0604020202020204" pitchFamily="34" charset="0"/>
              </a:rPr>
              <a:t>set_mode</a:t>
            </a:r>
            <a:r>
              <a:rPr lang="en-US" altLang="zh-CN" dirty="0">
                <a:latin typeface="Arial" panose="020B0604020202020204" pitchFamily="34" charset="0"/>
              </a:rPr>
              <a:t>(int min, int max)</a:t>
            </a:r>
          </a:p>
          <a:p>
            <a:r>
              <a:rPr lang="en-US" altLang="zh-CN" dirty="0">
                <a:latin typeface="Arial" panose="020B0604020202020204" pitchFamily="34" charset="0"/>
              </a:rPr>
              <a:t>{	</a:t>
            </a:r>
            <a:r>
              <a:rPr lang="en-US" altLang="zh-CN" dirty="0" err="1">
                <a:latin typeface="Arial" panose="020B0604020202020204" pitchFamily="34" charset="0"/>
              </a:rPr>
              <a:t>min_val</a:t>
            </a:r>
            <a:r>
              <a:rPr lang="en-US" altLang="zh-CN" dirty="0">
                <a:latin typeface="Arial" panose="020B0604020202020204" pitchFamily="34" charset="0"/>
              </a:rPr>
              <a:t>=min;</a:t>
            </a:r>
          </a:p>
          <a:p>
            <a:r>
              <a:rPr lang="en-US" altLang="zh-CN" dirty="0">
                <a:latin typeface="Arial" panose="020B0604020202020204" pitchFamily="34" charset="0"/>
              </a:rPr>
              <a:t>	</a:t>
            </a:r>
            <a:r>
              <a:rPr lang="en-US" altLang="zh-CN" dirty="0" err="1">
                <a:latin typeface="Arial" panose="020B0604020202020204" pitchFamily="34" charset="0"/>
              </a:rPr>
              <a:t>max_val</a:t>
            </a:r>
            <a:r>
              <a:rPr lang="en-US" altLang="zh-CN" dirty="0">
                <a:latin typeface="Arial" panose="020B0604020202020204" pitchFamily="34" charset="0"/>
              </a:rPr>
              <a:t>=max;</a:t>
            </a:r>
          </a:p>
          <a:p>
            <a:r>
              <a:rPr lang="en-US" altLang="zh-CN" dirty="0">
                <a:latin typeface="Arial" panose="020B0604020202020204" pitchFamily="34" charset="0"/>
              </a:rPr>
              <a:t>	return;</a:t>
            </a:r>
          </a:p>
          <a:p>
            <a:r>
              <a:rPr lang="en-US" altLang="zh-CN" dirty="0">
                <a:latin typeface="Arial" panose="020B0604020202020204" pitchFamily="34" charset="0"/>
              </a:rPr>
              <a:t>}</a:t>
            </a:r>
          </a:p>
          <a:p>
            <a:r>
              <a:rPr lang="en-US" altLang="zh-CN" dirty="0">
                <a:latin typeface="Arial" panose="020B0604020202020204" pitchFamily="34" charset="0"/>
              </a:rPr>
              <a:t>void CIRCULAR_NUMBERS::</a:t>
            </a:r>
            <a:r>
              <a:rPr lang="en-US" altLang="zh-CN" dirty="0" err="1">
                <a:latin typeface="Arial" panose="020B0604020202020204" pitchFamily="34" charset="0"/>
              </a:rPr>
              <a:t>set_value</a:t>
            </a:r>
            <a:r>
              <a:rPr lang="en-US" altLang="zh-CN" dirty="0">
                <a:latin typeface="Arial" panose="020B0604020202020204" pitchFamily="34" charset="0"/>
              </a:rPr>
              <a:t>(int value)</a:t>
            </a:r>
          </a:p>
          <a:p>
            <a:r>
              <a:rPr lang="en-US" altLang="zh-CN" dirty="0">
                <a:latin typeface="Arial" panose="020B0604020202020204" pitchFamily="34" charset="0"/>
              </a:rPr>
              <a:t>{	current=value;</a:t>
            </a:r>
          </a:p>
          <a:p>
            <a:r>
              <a:rPr lang="en-US" altLang="zh-CN" dirty="0">
                <a:latin typeface="Arial" panose="020B0604020202020204" pitchFamily="34" charset="0"/>
              </a:rPr>
              <a:t>	return;</a:t>
            </a:r>
          </a:p>
          <a:p>
            <a:r>
              <a:rPr lang="en-US" altLang="zh-CN" dirty="0">
                <a:latin typeface="Arial" panose="020B0604020202020204" pitchFamily="34" charset="0"/>
              </a:rPr>
              <a:t>}</a:t>
            </a:r>
          </a:p>
          <a:p>
            <a:r>
              <a:rPr lang="en-US" altLang="zh-CN" dirty="0">
                <a:latin typeface="Arial" panose="020B0604020202020204" pitchFamily="34" charset="0"/>
              </a:rPr>
              <a:t>int CIRCULAR_NUMBERS::</a:t>
            </a:r>
            <a:r>
              <a:rPr lang="en-US" altLang="zh-CN" dirty="0" err="1">
                <a:latin typeface="Arial" panose="020B0604020202020204" pitchFamily="34" charset="0"/>
              </a:rPr>
              <a:t>get_value</a:t>
            </a:r>
            <a:r>
              <a:rPr lang="en-US" altLang="zh-CN" dirty="0">
                <a:latin typeface="Arial" panose="020B0604020202020204" pitchFamily="34" charset="0"/>
              </a:rPr>
              <a:t>()</a:t>
            </a:r>
          </a:p>
          <a:p>
            <a:r>
              <a:rPr lang="en-US" altLang="zh-CN" dirty="0">
                <a:latin typeface="Arial" panose="020B0604020202020204" pitchFamily="34" charset="0"/>
              </a:rPr>
              <a:t>{	return current;</a:t>
            </a:r>
          </a:p>
          <a:p>
            <a:r>
              <a:rPr lang="en-US" altLang="zh-CN" dirty="0">
                <a:latin typeface="Arial" panose="020B0604020202020204" pitchFamily="34" charset="0"/>
              </a:rPr>
              <a:t>}</a:t>
            </a:r>
          </a:p>
          <a:p>
            <a:r>
              <a:rPr lang="en-US" altLang="zh-CN" dirty="0">
                <a:latin typeface="Arial" panose="020B0604020202020204" pitchFamily="34" charset="0"/>
              </a:rPr>
              <a:t>void CIRCULAR_NUMBERS::increment()</a:t>
            </a:r>
          </a:p>
          <a:p>
            <a:r>
              <a:rPr lang="en-US" altLang="zh-CN" dirty="0">
                <a:latin typeface="Arial" panose="020B0604020202020204" pitchFamily="34" charset="0"/>
              </a:rPr>
              <a:t>{	int mode=max_val-min_val+1;</a:t>
            </a:r>
          </a:p>
          <a:p>
            <a:r>
              <a:rPr lang="en-US" altLang="zh-CN" dirty="0">
                <a:latin typeface="Arial" panose="020B0604020202020204" pitchFamily="34" charset="0"/>
              </a:rPr>
              <a:t>	current=((current-</a:t>
            </a:r>
            <a:r>
              <a:rPr lang="en-US" altLang="zh-CN" dirty="0" err="1">
                <a:latin typeface="Arial" panose="020B0604020202020204" pitchFamily="34" charset="0"/>
              </a:rPr>
              <a:t>min_val</a:t>
            </a:r>
            <a:r>
              <a:rPr lang="en-US" altLang="zh-CN" dirty="0">
                <a:latin typeface="Arial" panose="020B0604020202020204" pitchFamily="34" charset="0"/>
              </a:rPr>
              <a:t>)+1)%</a:t>
            </a:r>
            <a:r>
              <a:rPr lang="en-US" altLang="zh-CN" dirty="0" err="1">
                <a:latin typeface="Arial" panose="020B0604020202020204" pitchFamily="34" charset="0"/>
              </a:rPr>
              <a:t>mode+min_val</a:t>
            </a:r>
            <a:r>
              <a:rPr lang="en-US" altLang="zh-CN" dirty="0">
                <a:latin typeface="Arial" panose="020B0604020202020204" pitchFamily="34" charset="0"/>
              </a:rPr>
              <a:t>;</a:t>
            </a:r>
          </a:p>
          <a:p>
            <a:r>
              <a:rPr lang="en-US" altLang="zh-CN" dirty="0">
                <a:latin typeface="Arial" panose="020B0604020202020204" pitchFamily="34" charset="0"/>
              </a:rPr>
              <a:t>	return;</a:t>
            </a:r>
          </a:p>
          <a:p>
            <a:r>
              <a:rPr lang="en-US" altLang="zh-CN" dirty="0">
                <a:latin typeface="Arial" panose="020B0604020202020204" pitchFamily="34" charset="0"/>
              </a:rPr>
              <a:t>}</a:t>
            </a:r>
          </a:p>
          <a:p>
            <a:r>
              <a:rPr lang="en-US" altLang="zh-CN" dirty="0">
                <a:latin typeface="Arial" panose="020B0604020202020204" pitchFamily="34" charset="0"/>
              </a:rPr>
              <a:t>void CIRCULAR_NUMBERS::decrement()</a:t>
            </a:r>
          </a:p>
          <a:p>
            <a:r>
              <a:rPr lang="en-US" altLang="zh-CN" dirty="0">
                <a:latin typeface="Arial" panose="020B0604020202020204" pitchFamily="34" charset="0"/>
              </a:rPr>
              <a:t>{	int mode=max_val-min_val+1;</a:t>
            </a:r>
          </a:p>
          <a:p>
            <a:r>
              <a:rPr lang="en-US" altLang="zh-CN" dirty="0">
                <a:latin typeface="Arial" panose="020B0604020202020204" pitchFamily="34" charset="0"/>
              </a:rPr>
              <a:t>	current=((current-</a:t>
            </a:r>
            <a:r>
              <a:rPr lang="en-US" altLang="zh-CN" dirty="0" err="1">
                <a:latin typeface="Arial" panose="020B0604020202020204" pitchFamily="34" charset="0"/>
              </a:rPr>
              <a:t>min_val</a:t>
            </a:r>
            <a:r>
              <a:rPr lang="en-US" altLang="zh-CN" dirty="0">
                <a:latin typeface="Arial" panose="020B0604020202020204" pitchFamily="34" charset="0"/>
              </a:rPr>
              <a:t>)-1+mode)%</a:t>
            </a:r>
            <a:r>
              <a:rPr lang="en-US" altLang="zh-CN" dirty="0" err="1">
                <a:latin typeface="Arial" panose="020B0604020202020204" pitchFamily="34" charset="0"/>
              </a:rPr>
              <a:t>mode+min_val</a:t>
            </a:r>
            <a:r>
              <a:rPr lang="en-US" altLang="zh-CN" dirty="0">
                <a:latin typeface="Arial" panose="020B0604020202020204" pitchFamily="34" charset="0"/>
              </a:rPr>
              <a:t>;</a:t>
            </a:r>
          </a:p>
          <a:p>
            <a:r>
              <a:rPr lang="en-US" altLang="zh-CN" dirty="0">
                <a:latin typeface="Arial" panose="020B0604020202020204" pitchFamily="34" charset="0"/>
              </a:rPr>
              <a:t>	return;</a:t>
            </a:r>
          </a:p>
          <a:p>
            <a:r>
              <a:rPr lang="en-US" altLang="zh-CN" dirty="0">
                <a:latin typeface="Arial" panose="020B0604020202020204" pitchFamily="34" charset="0"/>
              </a:rPr>
              <a:t>}</a:t>
            </a:r>
          </a:p>
          <a:p>
            <a:r>
              <a:rPr lang="en-US" altLang="zh-CN" dirty="0">
                <a:latin typeface="Arial" panose="020B0604020202020204" pitchFamily="34" charset="0"/>
              </a:rPr>
              <a:t>class Clock {</a:t>
            </a:r>
          </a:p>
          <a:p>
            <a:r>
              <a:rPr lang="en-US" altLang="zh-CN" dirty="0">
                <a:latin typeface="Arial" panose="020B0604020202020204" pitchFamily="34" charset="0"/>
              </a:rPr>
              <a:t>public:</a:t>
            </a:r>
          </a:p>
          <a:p>
            <a:r>
              <a:rPr lang="en-US" altLang="zh-CN" dirty="0">
                <a:latin typeface="Arial" panose="020B0604020202020204" pitchFamily="34" charset="0"/>
              </a:rPr>
              <a:t>	Clock(int </a:t>
            </a:r>
            <a:r>
              <a:rPr lang="en-US" altLang="zh-CN" dirty="0" err="1">
                <a:latin typeface="Arial" panose="020B0604020202020204" pitchFamily="34" charset="0"/>
              </a:rPr>
              <a:t>hh</a:t>
            </a:r>
            <a:r>
              <a:rPr lang="en-US" altLang="zh-CN" dirty="0">
                <a:latin typeface="Arial" panose="020B0604020202020204" pitchFamily="34" charset="0"/>
              </a:rPr>
              <a:t>, int mm, int ss);</a:t>
            </a:r>
          </a:p>
          <a:p>
            <a:r>
              <a:rPr lang="en-US" altLang="zh-CN" dirty="0">
                <a:latin typeface="Arial" panose="020B0604020202020204" pitchFamily="34" charset="0"/>
              </a:rPr>
              <a:t>	Clock();</a:t>
            </a:r>
          </a:p>
          <a:p>
            <a:r>
              <a:rPr lang="en-US" altLang="zh-CN" dirty="0">
                <a:latin typeface="Arial" panose="020B0604020202020204" pitchFamily="34" charset="0"/>
              </a:rPr>
              <a:t>	void </a:t>
            </a:r>
            <a:r>
              <a:rPr lang="en-US" altLang="zh-CN" dirty="0" err="1">
                <a:latin typeface="Arial" panose="020B0604020202020204" pitchFamily="34" charset="0"/>
              </a:rPr>
              <a:t>setTime</a:t>
            </a:r>
            <a:r>
              <a:rPr lang="en-US" altLang="zh-CN" dirty="0">
                <a:latin typeface="Arial" panose="020B0604020202020204" pitchFamily="34" charset="0"/>
              </a:rPr>
              <a:t>( int </a:t>
            </a:r>
            <a:r>
              <a:rPr lang="en-US" altLang="zh-CN" dirty="0" err="1">
                <a:latin typeface="Arial" panose="020B0604020202020204" pitchFamily="34" charset="0"/>
              </a:rPr>
              <a:t>newH</a:t>
            </a:r>
            <a:r>
              <a:rPr lang="en-US" altLang="zh-CN" dirty="0">
                <a:latin typeface="Arial" panose="020B0604020202020204" pitchFamily="34" charset="0"/>
              </a:rPr>
              <a:t>, int </a:t>
            </a:r>
            <a:r>
              <a:rPr lang="en-US" altLang="zh-CN" dirty="0" err="1">
                <a:latin typeface="Arial" panose="020B0604020202020204" pitchFamily="34" charset="0"/>
              </a:rPr>
              <a:t>newM</a:t>
            </a:r>
            <a:r>
              <a:rPr lang="en-US" altLang="zh-CN" dirty="0">
                <a:latin typeface="Arial" panose="020B0604020202020204" pitchFamily="34" charset="0"/>
              </a:rPr>
              <a:t>, int </a:t>
            </a:r>
            <a:r>
              <a:rPr lang="en-US" altLang="zh-CN" dirty="0" err="1">
                <a:latin typeface="Arial" panose="020B0604020202020204" pitchFamily="34" charset="0"/>
              </a:rPr>
              <a:t>newS</a:t>
            </a:r>
            <a:r>
              <a:rPr lang="en-US" altLang="zh-CN" dirty="0">
                <a:latin typeface="Arial" panose="020B0604020202020204" pitchFamily="34" charset="0"/>
              </a:rPr>
              <a:t>);</a:t>
            </a:r>
          </a:p>
          <a:p>
            <a:r>
              <a:rPr lang="en-US" altLang="zh-CN" dirty="0">
                <a:latin typeface="Arial" panose="020B0604020202020204" pitchFamily="34" charset="0"/>
              </a:rPr>
              <a:t>	void </a:t>
            </a:r>
            <a:r>
              <a:rPr lang="en-US" altLang="zh-CN" dirty="0" err="1">
                <a:latin typeface="Arial" panose="020B0604020202020204" pitchFamily="34" charset="0"/>
              </a:rPr>
              <a:t>showTime</a:t>
            </a:r>
            <a:r>
              <a:rPr lang="en-US" altLang="zh-CN" dirty="0">
                <a:latin typeface="Arial" panose="020B0604020202020204" pitchFamily="34" charset="0"/>
              </a:rPr>
              <a:t>();</a:t>
            </a:r>
          </a:p>
          <a:p>
            <a:r>
              <a:rPr lang="en-US" altLang="zh-CN" dirty="0">
                <a:latin typeface="Arial" panose="020B0604020202020204" pitchFamily="34" charset="0"/>
              </a:rPr>
              <a:t>	void update();</a:t>
            </a:r>
          </a:p>
          <a:p>
            <a:endParaRPr lang="en-US" altLang="zh-CN" dirty="0">
              <a:latin typeface="Arial" panose="020B0604020202020204" pitchFamily="34" charset="0"/>
            </a:endParaRPr>
          </a:p>
          <a:p>
            <a:r>
              <a:rPr lang="en-US" altLang="zh-CN" dirty="0">
                <a:latin typeface="Arial" panose="020B0604020202020204" pitchFamily="34" charset="0"/>
              </a:rPr>
              <a:t>private:</a:t>
            </a:r>
          </a:p>
          <a:p>
            <a:r>
              <a:rPr lang="en-US" altLang="zh-CN" dirty="0">
                <a:latin typeface="Arial" panose="020B0604020202020204" pitchFamily="34" charset="0"/>
              </a:rPr>
              <a:t>	CIRCULAR_NUMBERS hour;</a:t>
            </a:r>
          </a:p>
          <a:p>
            <a:r>
              <a:rPr lang="en-US" altLang="zh-CN" dirty="0">
                <a:latin typeface="Arial" panose="020B0604020202020204" pitchFamily="34" charset="0"/>
              </a:rPr>
              <a:t>	CIRCULAR_NUMBERS minute;</a:t>
            </a:r>
          </a:p>
          <a:p>
            <a:r>
              <a:rPr lang="en-US" altLang="zh-CN" dirty="0">
                <a:latin typeface="Arial" panose="020B0604020202020204" pitchFamily="34" charset="0"/>
              </a:rPr>
              <a:t>	CIRCULAR_NUMBERS second;</a:t>
            </a:r>
          </a:p>
          <a:p>
            <a:r>
              <a:rPr lang="en-US" altLang="zh-CN" dirty="0">
                <a:latin typeface="Arial" panose="020B0604020202020204" pitchFamily="34" charset="0"/>
              </a:rPr>
              <a:t>};</a:t>
            </a:r>
          </a:p>
          <a:p>
            <a:r>
              <a:rPr lang="en-US" altLang="zh-CN" dirty="0">
                <a:latin typeface="Arial" panose="020B0604020202020204" pitchFamily="34" charset="0"/>
              </a:rPr>
              <a:t>Clock::Clock(int </a:t>
            </a:r>
            <a:r>
              <a:rPr lang="en-US" altLang="zh-CN" dirty="0" err="1">
                <a:latin typeface="Arial" panose="020B0604020202020204" pitchFamily="34" charset="0"/>
              </a:rPr>
              <a:t>hh</a:t>
            </a:r>
            <a:r>
              <a:rPr lang="en-US" altLang="zh-CN" dirty="0">
                <a:latin typeface="Arial" panose="020B0604020202020204" pitchFamily="34" charset="0"/>
              </a:rPr>
              <a:t>, int mm, int ss): hour(0,23,hh), minute(0,59,mm), second(0,59,ss)</a:t>
            </a:r>
          </a:p>
          <a:p>
            <a:r>
              <a:rPr lang="en-US" altLang="zh-CN" dirty="0">
                <a:latin typeface="Arial" panose="020B0604020202020204" pitchFamily="34" charset="0"/>
              </a:rPr>
              <a:t>{return;</a:t>
            </a:r>
          </a:p>
          <a:p>
            <a:r>
              <a:rPr lang="en-US" altLang="zh-CN" dirty="0">
                <a:latin typeface="Arial" panose="020B0604020202020204" pitchFamily="34" charset="0"/>
              </a:rPr>
              <a:t>}</a:t>
            </a:r>
          </a:p>
          <a:p>
            <a:endParaRPr lang="en-US" altLang="zh-CN" dirty="0">
              <a:latin typeface="Arial" panose="020B0604020202020204" pitchFamily="34" charset="0"/>
            </a:endParaRPr>
          </a:p>
          <a:p>
            <a:r>
              <a:rPr lang="en-US" altLang="zh-CN" dirty="0">
                <a:latin typeface="Arial" panose="020B0604020202020204" pitchFamily="34" charset="0"/>
              </a:rPr>
              <a:t>Clock::Clock(): hour(0,23,0), minute(0,59,0), second(0,59,0)</a:t>
            </a:r>
          </a:p>
          <a:p>
            <a:r>
              <a:rPr lang="en-US" altLang="zh-CN" dirty="0">
                <a:latin typeface="Arial" panose="020B0604020202020204" pitchFamily="34" charset="0"/>
              </a:rPr>
              <a:t>{return;</a:t>
            </a:r>
          </a:p>
          <a:p>
            <a:r>
              <a:rPr lang="en-US" altLang="zh-CN" dirty="0">
                <a:latin typeface="Arial" panose="020B0604020202020204" pitchFamily="34" charset="0"/>
              </a:rPr>
              <a:t>}</a:t>
            </a:r>
          </a:p>
          <a:p>
            <a:endParaRPr lang="en-US" altLang="zh-CN" dirty="0">
              <a:latin typeface="Arial" panose="020B0604020202020204" pitchFamily="34" charset="0"/>
            </a:endParaRPr>
          </a:p>
          <a:p>
            <a:r>
              <a:rPr lang="en-US" altLang="zh-CN" dirty="0">
                <a:latin typeface="Arial" panose="020B0604020202020204" pitchFamily="34" charset="0"/>
              </a:rPr>
              <a:t>void Clock::</a:t>
            </a:r>
            <a:r>
              <a:rPr lang="en-US" altLang="zh-CN" dirty="0" err="1">
                <a:latin typeface="Arial" panose="020B0604020202020204" pitchFamily="34" charset="0"/>
              </a:rPr>
              <a:t>showTime</a:t>
            </a:r>
            <a:r>
              <a:rPr lang="en-US" altLang="zh-CN" dirty="0">
                <a:latin typeface="Arial" panose="020B0604020202020204" pitchFamily="34" charset="0"/>
              </a:rPr>
              <a:t>() //</a:t>
            </a:r>
            <a:r>
              <a:rPr lang="zh-CN" altLang="en-US" dirty="0">
                <a:latin typeface="Arial" panose="020B0604020202020204" pitchFamily="34" charset="0"/>
              </a:rPr>
              <a:t>显示时间</a:t>
            </a:r>
          </a:p>
          <a:p>
            <a:r>
              <a:rPr lang="en-US" altLang="zh-CN" dirty="0">
                <a:latin typeface="Arial" panose="020B0604020202020204" pitchFamily="34" charset="0"/>
              </a:rPr>
              <a:t>{</a:t>
            </a:r>
          </a:p>
          <a:p>
            <a:r>
              <a:rPr lang="en-US" altLang="zh-CN" dirty="0" err="1">
                <a:latin typeface="Arial" panose="020B0604020202020204" pitchFamily="34" charset="0"/>
              </a:rPr>
              <a:t>cout</a:t>
            </a:r>
            <a:r>
              <a:rPr lang="en-US" altLang="zh-CN" dirty="0">
                <a:latin typeface="Arial" panose="020B0604020202020204" pitchFamily="34" charset="0"/>
              </a:rPr>
              <a:t>&lt;&lt;</a:t>
            </a:r>
            <a:r>
              <a:rPr lang="en-US" altLang="zh-CN" dirty="0" err="1">
                <a:latin typeface="Arial" panose="020B0604020202020204" pitchFamily="34" charset="0"/>
              </a:rPr>
              <a:t>hour.get_value</a:t>
            </a:r>
            <a:r>
              <a:rPr lang="en-US" altLang="zh-CN" dirty="0">
                <a:latin typeface="Arial" panose="020B0604020202020204" pitchFamily="34" charset="0"/>
              </a:rPr>
              <a:t>()&lt;&lt;":"&lt;&lt;</a:t>
            </a:r>
            <a:r>
              <a:rPr lang="en-US" altLang="zh-CN" dirty="0" err="1">
                <a:latin typeface="Arial" panose="020B0604020202020204" pitchFamily="34" charset="0"/>
              </a:rPr>
              <a:t>minute.get_value</a:t>
            </a:r>
            <a:r>
              <a:rPr lang="en-US" altLang="zh-CN" dirty="0">
                <a:latin typeface="Arial" panose="020B0604020202020204" pitchFamily="34" charset="0"/>
              </a:rPr>
              <a:t>()&lt;&lt;":"&lt;&lt;</a:t>
            </a:r>
            <a:r>
              <a:rPr lang="en-US" altLang="zh-CN" dirty="0" err="1">
                <a:latin typeface="Arial" panose="020B0604020202020204" pitchFamily="34" charset="0"/>
              </a:rPr>
              <a:t>second.get_value</a:t>
            </a:r>
            <a:r>
              <a:rPr lang="en-US" altLang="zh-CN" dirty="0">
                <a:latin typeface="Arial" panose="020B0604020202020204" pitchFamily="34" charset="0"/>
              </a:rPr>
              <a:t>()&lt;&lt;</a:t>
            </a:r>
            <a:r>
              <a:rPr lang="en-US" altLang="zh-CN" dirty="0" err="1">
                <a:latin typeface="Arial" panose="020B0604020202020204" pitchFamily="34" charset="0"/>
              </a:rPr>
              <a:t>endl</a:t>
            </a:r>
            <a:r>
              <a:rPr lang="en-US" altLang="zh-CN" dirty="0">
                <a:latin typeface="Arial" panose="020B0604020202020204" pitchFamily="34" charset="0"/>
              </a:rPr>
              <a:t>;</a:t>
            </a:r>
          </a:p>
          <a:p>
            <a:r>
              <a:rPr lang="en-US" altLang="zh-CN" dirty="0">
                <a:latin typeface="Arial" panose="020B0604020202020204" pitchFamily="34" charset="0"/>
              </a:rPr>
              <a:t>return;</a:t>
            </a:r>
          </a:p>
          <a:p>
            <a:r>
              <a:rPr lang="en-US" altLang="zh-CN" dirty="0">
                <a:latin typeface="Arial" panose="020B0604020202020204" pitchFamily="34" charset="0"/>
              </a:rPr>
              <a:t>}</a:t>
            </a:r>
          </a:p>
          <a:p>
            <a:endParaRPr lang="en-US" altLang="zh-CN" dirty="0">
              <a:latin typeface="Arial" panose="020B0604020202020204" pitchFamily="34" charset="0"/>
            </a:endParaRPr>
          </a:p>
          <a:p>
            <a:r>
              <a:rPr lang="en-US" altLang="zh-CN" dirty="0">
                <a:latin typeface="Arial" panose="020B0604020202020204" pitchFamily="34" charset="0"/>
              </a:rPr>
              <a:t>void Clock::</a:t>
            </a:r>
            <a:r>
              <a:rPr lang="en-US" altLang="zh-CN" dirty="0" err="1">
                <a:latin typeface="Arial" panose="020B0604020202020204" pitchFamily="34" charset="0"/>
              </a:rPr>
              <a:t>setTime</a:t>
            </a:r>
            <a:r>
              <a:rPr lang="en-US" altLang="zh-CN" dirty="0">
                <a:latin typeface="Arial" panose="020B0604020202020204" pitchFamily="34" charset="0"/>
              </a:rPr>
              <a:t>(int </a:t>
            </a:r>
            <a:r>
              <a:rPr lang="en-US" altLang="zh-CN" dirty="0" err="1">
                <a:latin typeface="Arial" panose="020B0604020202020204" pitchFamily="34" charset="0"/>
              </a:rPr>
              <a:t>newH</a:t>
            </a:r>
            <a:r>
              <a:rPr lang="en-US" altLang="zh-CN" dirty="0">
                <a:latin typeface="Arial" panose="020B0604020202020204" pitchFamily="34" charset="0"/>
              </a:rPr>
              <a:t>, int </a:t>
            </a:r>
            <a:r>
              <a:rPr lang="en-US" altLang="zh-CN" dirty="0" err="1">
                <a:latin typeface="Arial" panose="020B0604020202020204" pitchFamily="34" charset="0"/>
              </a:rPr>
              <a:t>newM</a:t>
            </a:r>
            <a:r>
              <a:rPr lang="en-US" altLang="zh-CN" dirty="0">
                <a:latin typeface="Arial" panose="020B0604020202020204" pitchFamily="34" charset="0"/>
              </a:rPr>
              <a:t>, int </a:t>
            </a:r>
            <a:r>
              <a:rPr lang="en-US" altLang="zh-CN" dirty="0" err="1">
                <a:latin typeface="Arial" panose="020B0604020202020204" pitchFamily="34" charset="0"/>
              </a:rPr>
              <a:t>newS</a:t>
            </a:r>
            <a:r>
              <a:rPr lang="en-US" altLang="zh-CN" dirty="0">
                <a:latin typeface="Arial" panose="020B0604020202020204" pitchFamily="34" charset="0"/>
              </a:rPr>
              <a:t>){</a:t>
            </a:r>
          </a:p>
          <a:p>
            <a:r>
              <a:rPr lang="en-US" altLang="zh-CN" dirty="0">
                <a:latin typeface="Arial" panose="020B0604020202020204" pitchFamily="34" charset="0"/>
              </a:rPr>
              <a:t>	 </a:t>
            </a:r>
            <a:r>
              <a:rPr lang="en-US" altLang="zh-CN" dirty="0" err="1">
                <a:latin typeface="Arial" panose="020B0604020202020204" pitchFamily="34" charset="0"/>
              </a:rPr>
              <a:t>hour.set_value</a:t>
            </a:r>
            <a:r>
              <a:rPr lang="en-US" altLang="zh-CN" dirty="0">
                <a:latin typeface="Arial" panose="020B0604020202020204" pitchFamily="34" charset="0"/>
              </a:rPr>
              <a:t>(</a:t>
            </a:r>
            <a:r>
              <a:rPr lang="en-US" altLang="zh-CN" dirty="0" err="1">
                <a:latin typeface="Arial" panose="020B0604020202020204" pitchFamily="34" charset="0"/>
              </a:rPr>
              <a:t>newH</a:t>
            </a:r>
            <a:r>
              <a:rPr lang="en-US" altLang="zh-CN" dirty="0">
                <a:latin typeface="Arial" panose="020B0604020202020204" pitchFamily="34" charset="0"/>
              </a:rPr>
              <a:t>);</a:t>
            </a:r>
          </a:p>
          <a:p>
            <a:r>
              <a:rPr lang="en-US" altLang="zh-CN" dirty="0">
                <a:latin typeface="Arial" panose="020B0604020202020204" pitchFamily="34" charset="0"/>
              </a:rPr>
              <a:t>	 </a:t>
            </a:r>
            <a:r>
              <a:rPr lang="en-US" altLang="zh-CN" dirty="0" err="1">
                <a:latin typeface="Arial" panose="020B0604020202020204" pitchFamily="34" charset="0"/>
              </a:rPr>
              <a:t>minute.set_value</a:t>
            </a:r>
            <a:r>
              <a:rPr lang="en-US" altLang="zh-CN" dirty="0">
                <a:latin typeface="Arial" panose="020B0604020202020204" pitchFamily="34" charset="0"/>
              </a:rPr>
              <a:t>(</a:t>
            </a:r>
            <a:r>
              <a:rPr lang="en-US" altLang="zh-CN" dirty="0" err="1">
                <a:latin typeface="Arial" panose="020B0604020202020204" pitchFamily="34" charset="0"/>
              </a:rPr>
              <a:t>newM</a:t>
            </a:r>
            <a:r>
              <a:rPr lang="en-US" altLang="zh-CN" dirty="0">
                <a:latin typeface="Arial" panose="020B0604020202020204" pitchFamily="34" charset="0"/>
              </a:rPr>
              <a:t>);</a:t>
            </a:r>
          </a:p>
          <a:p>
            <a:r>
              <a:rPr lang="en-US" altLang="zh-CN" dirty="0">
                <a:latin typeface="Arial" panose="020B0604020202020204" pitchFamily="34" charset="0"/>
              </a:rPr>
              <a:t>	 </a:t>
            </a:r>
            <a:r>
              <a:rPr lang="en-US" altLang="zh-CN" dirty="0" err="1">
                <a:latin typeface="Arial" panose="020B0604020202020204" pitchFamily="34" charset="0"/>
              </a:rPr>
              <a:t>second.set_value</a:t>
            </a:r>
            <a:r>
              <a:rPr lang="en-US" altLang="zh-CN" dirty="0">
                <a:latin typeface="Arial" panose="020B0604020202020204" pitchFamily="34" charset="0"/>
              </a:rPr>
              <a:t>(</a:t>
            </a:r>
            <a:r>
              <a:rPr lang="en-US" altLang="zh-CN" dirty="0" err="1">
                <a:latin typeface="Arial" panose="020B0604020202020204" pitchFamily="34" charset="0"/>
              </a:rPr>
              <a:t>newS</a:t>
            </a:r>
            <a:r>
              <a:rPr lang="en-US" altLang="zh-CN" dirty="0">
                <a:latin typeface="Arial" panose="020B0604020202020204" pitchFamily="34" charset="0"/>
              </a:rPr>
              <a:t>);</a:t>
            </a:r>
          </a:p>
          <a:p>
            <a:r>
              <a:rPr lang="en-US" altLang="zh-CN" dirty="0">
                <a:latin typeface="Arial" panose="020B0604020202020204" pitchFamily="34" charset="0"/>
              </a:rPr>
              <a:t>   </a:t>
            </a:r>
          </a:p>
          <a:p>
            <a:r>
              <a:rPr lang="en-US" altLang="zh-CN" dirty="0">
                <a:latin typeface="Arial" panose="020B0604020202020204" pitchFamily="34" charset="0"/>
              </a:rPr>
              <a:t>}</a:t>
            </a:r>
          </a:p>
          <a:p>
            <a:r>
              <a:rPr lang="en-US" altLang="zh-CN" dirty="0">
                <a:latin typeface="Arial" panose="020B0604020202020204" pitchFamily="34" charset="0"/>
              </a:rPr>
              <a:t>void Clock::update()   // </a:t>
            </a:r>
            <a:r>
              <a:rPr lang="zh-CN" altLang="en-US" dirty="0">
                <a:latin typeface="Arial" panose="020B0604020202020204" pitchFamily="34" charset="0"/>
              </a:rPr>
              <a:t>刷新时间</a:t>
            </a:r>
          </a:p>
          <a:p>
            <a:r>
              <a:rPr lang="en-US" altLang="zh-CN" dirty="0">
                <a:latin typeface="Arial" panose="020B0604020202020204" pitchFamily="34" charset="0"/>
              </a:rPr>
              <a:t>{</a:t>
            </a:r>
          </a:p>
          <a:p>
            <a:r>
              <a:rPr lang="en-US" altLang="zh-CN" dirty="0">
                <a:latin typeface="Arial" panose="020B0604020202020204" pitchFamily="34" charset="0"/>
              </a:rPr>
              <a:t>	</a:t>
            </a:r>
            <a:r>
              <a:rPr lang="en-US" altLang="zh-CN" dirty="0" err="1">
                <a:latin typeface="Arial" panose="020B0604020202020204" pitchFamily="34" charset="0"/>
              </a:rPr>
              <a:t>second.increment</a:t>
            </a:r>
            <a:r>
              <a:rPr lang="en-US" altLang="zh-CN" dirty="0">
                <a:latin typeface="Arial" panose="020B0604020202020204" pitchFamily="34" charset="0"/>
              </a:rPr>
              <a:t>();</a:t>
            </a:r>
          </a:p>
          <a:p>
            <a:r>
              <a:rPr lang="en-US" altLang="zh-CN" dirty="0">
                <a:latin typeface="Arial" panose="020B0604020202020204" pitchFamily="34" charset="0"/>
              </a:rPr>
              <a:t>	if(</a:t>
            </a:r>
            <a:r>
              <a:rPr lang="en-US" altLang="zh-CN" dirty="0" err="1">
                <a:latin typeface="Arial" panose="020B0604020202020204" pitchFamily="34" charset="0"/>
              </a:rPr>
              <a:t>second.get_value</a:t>
            </a:r>
            <a:r>
              <a:rPr lang="en-US" altLang="zh-CN" dirty="0">
                <a:latin typeface="Arial" panose="020B0604020202020204" pitchFamily="34" charset="0"/>
              </a:rPr>
              <a:t>()==0) {</a:t>
            </a:r>
          </a:p>
          <a:p>
            <a:r>
              <a:rPr lang="en-US" altLang="zh-CN" dirty="0">
                <a:latin typeface="Arial" panose="020B0604020202020204" pitchFamily="34" charset="0"/>
              </a:rPr>
              <a:t>		</a:t>
            </a:r>
            <a:r>
              <a:rPr lang="en-US" altLang="zh-CN" dirty="0" err="1">
                <a:latin typeface="Arial" panose="020B0604020202020204" pitchFamily="34" charset="0"/>
              </a:rPr>
              <a:t>minute.increment</a:t>
            </a:r>
            <a:r>
              <a:rPr lang="en-US" altLang="zh-CN" dirty="0">
                <a:latin typeface="Arial" panose="020B0604020202020204" pitchFamily="34" charset="0"/>
              </a:rPr>
              <a:t>();</a:t>
            </a:r>
          </a:p>
          <a:p>
            <a:r>
              <a:rPr lang="en-US" altLang="zh-CN" dirty="0">
                <a:latin typeface="Arial" panose="020B0604020202020204" pitchFamily="34" charset="0"/>
              </a:rPr>
              <a:t>		if(</a:t>
            </a:r>
            <a:r>
              <a:rPr lang="en-US" altLang="zh-CN" dirty="0" err="1">
                <a:latin typeface="Arial" panose="020B0604020202020204" pitchFamily="34" charset="0"/>
              </a:rPr>
              <a:t>minute.get_value</a:t>
            </a:r>
            <a:r>
              <a:rPr lang="en-US" altLang="zh-CN" dirty="0">
                <a:latin typeface="Arial" panose="020B0604020202020204" pitchFamily="34" charset="0"/>
              </a:rPr>
              <a:t>()==0)</a:t>
            </a:r>
            <a:r>
              <a:rPr lang="en-US" altLang="zh-CN" dirty="0" err="1">
                <a:latin typeface="Arial" panose="020B0604020202020204" pitchFamily="34" charset="0"/>
              </a:rPr>
              <a:t>hour.increment</a:t>
            </a:r>
            <a:r>
              <a:rPr lang="en-US" altLang="zh-CN" dirty="0">
                <a:latin typeface="Arial" panose="020B0604020202020204" pitchFamily="34" charset="0"/>
              </a:rPr>
              <a:t>();</a:t>
            </a:r>
          </a:p>
          <a:p>
            <a:r>
              <a:rPr lang="en-US" altLang="zh-CN" dirty="0">
                <a:latin typeface="Arial" panose="020B0604020202020204" pitchFamily="34" charset="0"/>
              </a:rPr>
              <a:t>	}</a:t>
            </a:r>
          </a:p>
          <a:p>
            <a:r>
              <a:rPr lang="en-US" altLang="zh-CN" dirty="0">
                <a:latin typeface="Arial" panose="020B0604020202020204" pitchFamily="34" charset="0"/>
              </a:rPr>
              <a:t>	return;</a:t>
            </a:r>
          </a:p>
          <a:p>
            <a:r>
              <a:rPr lang="en-US" altLang="zh-CN" dirty="0">
                <a:latin typeface="Arial" panose="020B0604020202020204" pitchFamily="34" charset="0"/>
              </a:rPr>
              <a:t>}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ABDA6A-29CD-4D28-B6EA-E8D4FFDF6043}" type="slidenum">
              <a:rPr lang="zh-CN" altLang="en-US" smtClean="0"/>
              <a:t>47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44051299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ABDA6A-29CD-4D28-B6EA-E8D4FFDF6043}" type="slidenum">
              <a:rPr lang="zh-CN" altLang="en-US" smtClean="0"/>
              <a:t>48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977684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Blank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2_Blank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609600" rtl="0" eaLnBrk="1" latinLnBrk="0" hangingPunct="1">
        <a:spcBef>
          <a:spcPct val="0"/>
        </a:spcBef>
        <a:buNone/>
        <a:defRPr sz="586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200" indent="-457200" algn="l" defTabSz="609600" rtl="0" eaLnBrk="1" latinLnBrk="0" hangingPunct="1">
        <a:spcBef>
          <a:spcPct val="20000"/>
        </a:spcBef>
        <a:buFont typeface="Arial" panose="020B0604020202020204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defTabSz="609600" rtl="0" eaLnBrk="1" latinLnBrk="0" hangingPunct="1">
        <a:spcBef>
          <a:spcPct val="20000"/>
        </a:spcBef>
        <a:buFont typeface="Arial" panose="020B0604020202020204"/>
        <a:buChar char="–"/>
        <a:defRPr sz="3735" kern="1200">
          <a:solidFill>
            <a:schemeClr val="tx1"/>
          </a:solidFill>
          <a:latin typeface="+mn-lt"/>
          <a:ea typeface="+mn-ea"/>
          <a:cs typeface="+mn-cs"/>
        </a:defRPr>
      </a:lvl2pPr>
      <a:lvl3pPr marL="1524000" indent="-304800" algn="l" defTabSz="6096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600" indent="-304800" algn="l" defTabSz="609600" rtl="0" eaLnBrk="1" latinLnBrk="0" hangingPunct="1">
        <a:spcBef>
          <a:spcPct val="20000"/>
        </a:spcBef>
        <a:buFont typeface="Arial" panose="020B0604020202020204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2565" indent="-304800" algn="l" defTabSz="609600" rtl="0" eaLnBrk="1" latinLnBrk="0" hangingPunct="1">
        <a:spcBef>
          <a:spcPct val="20000"/>
        </a:spcBef>
        <a:buFont typeface="Arial" panose="020B0604020202020204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165" indent="-304800" algn="l" defTabSz="609600" rtl="0" eaLnBrk="1" latinLnBrk="0" hangingPunct="1">
        <a:spcBef>
          <a:spcPct val="20000"/>
        </a:spcBef>
        <a:buFont typeface="Arial" panose="020B0604020202020204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1765" indent="-304800" algn="l" defTabSz="609600" rtl="0" eaLnBrk="1" latinLnBrk="0" hangingPunct="1">
        <a:spcBef>
          <a:spcPct val="20000"/>
        </a:spcBef>
        <a:buFont typeface="Arial" panose="020B0604020202020204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1365" indent="-304800" algn="l" defTabSz="609600" rtl="0" eaLnBrk="1" latinLnBrk="0" hangingPunct="1">
        <a:spcBef>
          <a:spcPct val="20000"/>
        </a:spcBef>
        <a:buFont typeface="Arial" panose="020B0604020202020204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0965" indent="-304800" algn="l" defTabSz="609600" rtl="0" eaLnBrk="1" latinLnBrk="0" hangingPunct="1">
        <a:spcBef>
          <a:spcPct val="20000"/>
        </a:spcBef>
        <a:buFont typeface="Arial" panose="020B0604020202020204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6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6096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6096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6096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6096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365" algn="l" defTabSz="6096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6965" algn="l" defTabSz="6096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565" algn="l" defTabSz="6096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165" algn="l" defTabSz="6096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customXml" Target="../ink/ink1.xml"/><Relationship Id="rId4" Type="http://schemas.microsoft.com/office/2007/relationships/hdphoto" Target="../media/hdphoto1.wdp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gi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gi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1.gif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gif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png"/><Relationship Id="rId4" Type="http://schemas.openxmlformats.org/officeDocument/2006/relationships/customXml" Target="../ink/ink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customXml" Target="../ink/ink3.xm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png"/></Relationships>
</file>

<file path=ppt/slides/_rels/slide2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gif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microsoft.com/office/2007/relationships/hdphoto" Target="../media/hdphoto2.wdp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gif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gif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gif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gif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gif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&amp;ehk=ymfrClsLj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&amp;ehk=ymfrClsLj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&amp;ehk=ymfrClsLj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&amp;ehk=ymfrClsLj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customXml" Target="../ink/ink6.xml"/><Relationship Id="rId3" Type="http://schemas.openxmlformats.org/officeDocument/2006/relationships/image" Target="../media/image12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5.xml"/><Relationship Id="rId11" Type="http://schemas.openxmlformats.org/officeDocument/2006/relationships/image" Target="../media/image27.png"/><Relationship Id="rId5" Type="http://schemas.openxmlformats.org/officeDocument/2006/relationships/image" Target="../media/image24.png"/><Relationship Id="rId10" Type="http://schemas.openxmlformats.org/officeDocument/2006/relationships/customXml" Target="../ink/ink7.xml"/><Relationship Id="rId4" Type="http://schemas.openxmlformats.org/officeDocument/2006/relationships/customXml" Target="../ink/ink4.xml"/><Relationship Id="rId9" Type="http://schemas.openxmlformats.org/officeDocument/2006/relationships/image" Target="../media/image26.png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5" Type="http://schemas.openxmlformats.org/officeDocument/2006/relationships/image" Target="../media/image23.png"/><Relationship Id="rId4" Type="http://schemas.openxmlformats.org/officeDocument/2006/relationships/image" Target="../media/image21.png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7231" y="2388"/>
            <a:ext cx="12190413" cy="296505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3200" dirty="0"/>
          </a:p>
        </p:txBody>
      </p:sp>
      <p:sp>
        <p:nvSpPr>
          <p:cNvPr id="4" name="文本框 3"/>
          <p:cNvSpPr txBox="1"/>
          <p:nvPr/>
        </p:nvSpPr>
        <p:spPr>
          <a:xfrm>
            <a:off x="7232" y="2930500"/>
            <a:ext cx="1219041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6000" dirty="0">
                <a:latin typeface="华文琥珀" panose="02010800040101010101" pitchFamily="2" charset="-122"/>
                <a:ea typeface="华文琥珀" panose="02010800040101010101" pitchFamily="2" charset="-122"/>
              </a:rPr>
              <a:t>第七讲类与对象</a:t>
            </a:r>
            <a:endParaRPr lang="zh-CN" altLang="en-US" sz="6000" b="1" dirty="0">
              <a:cs typeface="+mn-ea"/>
              <a:sym typeface="+mn-lt"/>
            </a:endParaRPr>
          </a:p>
        </p:txBody>
      </p:sp>
      <p:grpSp>
        <p:nvGrpSpPr>
          <p:cNvPr id="11" name="组合 10"/>
          <p:cNvGrpSpPr/>
          <p:nvPr/>
        </p:nvGrpSpPr>
        <p:grpSpPr>
          <a:xfrm>
            <a:off x="3645249" y="2434852"/>
            <a:ext cx="363125" cy="413514"/>
            <a:chOff x="3170996" y="382686"/>
            <a:chExt cx="807829" cy="807829"/>
          </a:xfrm>
        </p:grpSpPr>
        <p:sp>
          <p:nvSpPr>
            <p:cNvPr id="6" name="椭圆 5"/>
            <p:cNvSpPr/>
            <p:nvPr/>
          </p:nvSpPr>
          <p:spPr>
            <a:xfrm>
              <a:off x="3170996" y="382686"/>
              <a:ext cx="807829" cy="807829"/>
            </a:xfrm>
            <a:prstGeom prst="ellipse">
              <a:avLst/>
            </a:prstGeom>
            <a:solidFill>
              <a:schemeClr val="tx1"/>
            </a:solidFill>
            <a:ln w="76200" cmpd="sng">
              <a:solidFill>
                <a:schemeClr val="accent5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ts val="6000"/>
                </a:lnSpc>
              </a:pPr>
              <a:endParaRPr kumimoji="1" lang="zh-CN" altLang="en-US" sz="1800" b="1" dirty="0">
                <a:solidFill>
                  <a:schemeClr val="accent2"/>
                </a:solidFill>
              </a:endParaRPr>
            </a:p>
          </p:txBody>
        </p:sp>
        <p:sp>
          <p:nvSpPr>
            <p:cNvPr id="7" name="文本框 6"/>
            <p:cNvSpPr txBox="1"/>
            <p:nvPr/>
          </p:nvSpPr>
          <p:spPr>
            <a:xfrm>
              <a:off x="3349624" y="443558"/>
              <a:ext cx="450568" cy="50885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-US" altLang="zh-CN" sz="1800" b="1" dirty="0">
                  <a:solidFill>
                    <a:schemeClr val="accent5"/>
                  </a:solidFill>
                </a:rPr>
                <a:t>R</a:t>
              </a:r>
              <a:endParaRPr kumimoji="1" lang="zh-CN" altLang="en-US" sz="1800" b="1" dirty="0">
                <a:solidFill>
                  <a:schemeClr val="accent5"/>
                </a:solidFill>
              </a:endParaRPr>
            </a:p>
          </p:txBody>
        </p:sp>
      </p:grpSp>
      <p:grpSp>
        <p:nvGrpSpPr>
          <p:cNvPr id="2" name="组合 1"/>
          <p:cNvGrpSpPr/>
          <p:nvPr/>
        </p:nvGrpSpPr>
        <p:grpSpPr>
          <a:xfrm>
            <a:off x="3121733" y="2434852"/>
            <a:ext cx="363124" cy="413514"/>
            <a:chOff x="2173906" y="382686"/>
            <a:chExt cx="807829" cy="807829"/>
          </a:xfrm>
        </p:grpSpPr>
        <p:sp>
          <p:nvSpPr>
            <p:cNvPr id="5" name="椭圆 4"/>
            <p:cNvSpPr/>
            <p:nvPr/>
          </p:nvSpPr>
          <p:spPr>
            <a:xfrm>
              <a:off x="2173906" y="382686"/>
              <a:ext cx="807829" cy="807829"/>
            </a:xfrm>
            <a:prstGeom prst="ellipse">
              <a:avLst/>
            </a:prstGeom>
            <a:solidFill>
              <a:schemeClr val="tx1"/>
            </a:solidFill>
            <a:ln w="76200" cmpd="sng">
              <a:solidFill>
                <a:schemeClr val="accent2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ts val="6000"/>
                </a:lnSpc>
              </a:pPr>
              <a:endParaRPr kumimoji="1" lang="zh-CN" altLang="en-US" sz="1800" b="1" dirty="0">
                <a:solidFill>
                  <a:schemeClr val="accent2"/>
                </a:solidFill>
              </a:endParaRPr>
            </a:p>
          </p:txBody>
        </p:sp>
        <p:sp>
          <p:nvSpPr>
            <p:cNvPr id="8" name="文本框 7"/>
            <p:cNvSpPr txBox="1"/>
            <p:nvPr/>
          </p:nvSpPr>
          <p:spPr>
            <a:xfrm>
              <a:off x="2355927" y="443558"/>
              <a:ext cx="443783" cy="50885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-US" altLang="zh-CN" sz="1800" b="1" dirty="0">
                  <a:solidFill>
                    <a:srgbClr val="26CCC5"/>
                  </a:solidFill>
                </a:rPr>
                <a:t>P</a:t>
              </a:r>
              <a:endParaRPr kumimoji="1" lang="zh-CN" altLang="en-US" sz="1800" b="1" dirty="0">
                <a:solidFill>
                  <a:srgbClr val="26CCC5"/>
                </a:solidFill>
              </a:endParaRPr>
            </a:p>
          </p:txBody>
        </p:sp>
      </p:grpSp>
      <p:grpSp>
        <p:nvGrpSpPr>
          <p:cNvPr id="12" name="组合 11"/>
          <p:cNvGrpSpPr/>
          <p:nvPr/>
        </p:nvGrpSpPr>
        <p:grpSpPr>
          <a:xfrm>
            <a:off x="4168766" y="2434852"/>
            <a:ext cx="363124" cy="413514"/>
            <a:chOff x="4168089" y="382686"/>
            <a:chExt cx="807830" cy="807829"/>
          </a:xfrm>
        </p:grpSpPr>
        <p:sp>
          <p:nvSpPr>
            <p:cNvPr id="9" name="椭圆 8"/>
            <p:cNvSpPr/>
            <p:nvPr/>
          </p:nvSpPr>
          <p:spPr>
            <a:xfrm>
              <a:off x="4168089" y="382686"/>
              <a:ext cx="807830" cy="807829"/>
            </a:xfrm>
            <a:prstGeom prst="ellipse">
              <a:avLst/>
            </a:prstGeom>
            <a:solidFill>
              <a:schemeClr val="tx1"/>
            </a:solidFill>
            <a:ln w="76200" cmpd="sng">
              <a:solidFill>
                <a:schemeClr val="accent3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ts val="6000"/>
                </a:lnSpc>
              </a:pPr>
              <a:endParaRPr kumimoji="1" lang="zh-CN" altLang="en-US" sz="1800" b="1" dirty="0">
                <a:solidFill>
                  <a:schemeClr val="accent2"/>
                </a:solidFill>
              </a:endParaRPr>
            </a:p>
          </p:txBody>
        </p:sp>
        <p:sp>
          <p:nvSpPr>
            <p:cNvPr id="10" name="文本框 9"/>
            <p:cNvSpPr txBox="1"/>
            <p:nvPr/>
          </p:nvSpPr>
          <p:spPr>
            <a:xfrm>
              <a:off x="4304865" y="443558"/>
              <a:ext cx="534260" cy="50885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-US" altLang="zh-CN" sz="1800" b="1" dirty="0">
                  <a:solidFill>
                    <a:schemeClr val="accent3"/>
                  </a:solidFill>
                </a:rPr>
                <a:t>O</a:t>
              </a:r>
              <a:endParaRPr kumimoji="1" lang="zh-CN" altLang="en-US" sz="1800" b="1" dirty="0">
                <a:solidFill>
                  <a:schemeClr val="accent3"/>
                </a:solidFill>
              </a:endParaRPr>
            </a:p>
          </p:txBody>
        </p:sp>
      </p:grpSp>
      <p:grpSp>
        <p:nvGrpSpPr>
          <p:cNvPr id="13" name="组合 12"/>
          <p:cNvGrpSpPr/>
          <p:nvPr/>
        </p:nvGrpSpPr>
        <p:grpSpPr>
          <a:xfrm>
            <a:off x="4692282" y="2434852"/>
            <a:ext cx="363124" cy="413514"/>
            <a:chOff x="5165176" y="382686"/>
            <a:chExt cx="807829" cy="807829"/>
          </a:xfrm>
        </p:grpSpPr>
        <p:sp>
          <p:nvSpPr>
            <p:cNvPr id="15" name="椭圆 14"/>
            <p:cNvSpPr/>
            <p:nvPr/>
          </p:nvSpPr>
          <p:spPr>
            <a:xfrm>
              <a:off x="5165176" y="382686"/>
              <a:ext cx="807829" cy="807829"/>
            </a:xfrm>
            <a:prstGeom prst="ellipse">
              <a:avLst/>
            </a:prstGeom>
            <a:solidFill>
              <a:schemeClr val="tx1"/>
            </a:solidFill>
            <a:ln w="76200" cmpd="sng">
              <a:solidFill>
                <a:srgbClr val="104D7E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ts val="6000"/>
                </a:lnSpc>
              </a:pPr>
              <a:endParaRPr kumimoji="1" lang="zh-CN" altLang="en-US" sz="1800" b="1" dirty="0">
                <a:solidFill>
                  <a:schemeClr val="accent2"/>
                </a:solidFill>
              </a:endParaRPr>
            </a:p>
          </p:txBody>
        </p:sp>
        <p:sp>
          <p:nvSpPr>
            <p:cNvPr id="16" name="文本框 15"/>
            <p:cNvSpPr txBox="1"/>
            <p:nvPr/>
          </p:nvSpPr>
          <p:spPr>
            <a:xfrm>
              <a:off x="5301956" y="443558"/>
              <a:ext cx="534259" cy="50885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-US" altLang="zh-CN" sz="1800" b="1" dirty="0">
                  <a:solidFill>
                    <a:schemeClr val="accent1"/>
                  </a:solidFill>
                </a:rPr>
                <a:t>G</a:t>
              </a:r>
              <a:endParaRPr kumimoji="1" lang="zh-CN" altLang="en-US" sz="1800" b="1" dirty="0">
                <a:solidFill>
                  <a:schemeClr val="accent1"/>
                </a:solidFill>
              </a:endParaRPr>
            </a:p>
          </p:txBody>
        </p:sp>
      </p:grpSp>
      <p:grpSp>
        <p:nvGrpSpPr>
          <p:cNvPr id="14" name="组合 13"/>
          <p:cNvGrpSpPr/>
          <p:nvPr/>
        </p:nvGrpSpPr>
        <p:grpSpPr>
          <a:xfrm>
            <a:off x="5215798" y="2434852"/>
            <a:ext cx="363124" cy="413514"/>
            <a:chOff x="6162270" y="382686"/>
            <a:chExt cx="807830" cy="807829"/>
          </a:xfrm>
        </p:grpSpPr>
        <p:sp>
          <p:nvSpPr>
            <p:cNvPr id="18" name="椭圆 17"/>
            <p:cNvSpPr/>
            <p:nvPr/>
          </p:nvSpPr>
          <p:spPr>
            <a:xfrm>
              <a:off x="6162270" y="382686"/>
              <a:ext cx="807830" cy="807829"/>
            </a:xfrm>
            <a:prstGeom prst="ellipse">
              <a:avLst/>
            </a:prstGeom>
            <a:solidFill>
              <a:schemeClr val="tx1"/>
            </a:solidFill>
            <a:ln w="76200" cmpd="sng">
              <a:solidFill>
                <a:schemeClr val="accent6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ts val="6000"/>
                </a:lnSpc>
              </a:pPr>
              <a:endParaRPr kumimoji="1" lang="zh-CN" altLang="en-US" sz="1800" b="1" dirty="0">
                <a:solidFill>
                  <a:schemeClr val="accent2"/>
                </a:solidFill>
              </a:endParaRPr>
            </a:p>
          </p:txBody>
        </p:sp>
        <p:sp>
          <p:nvSpPr>
            <p:cNvPr id="19" name="文本框 18"/>
            <p:cNvSpPr txBox="1"/>
            <p:nvPr/>
          </p:nvSpPr>
          <p:spPr>
            <a:xfrm>
              <a:off x="6340893" y="443558"/>
              <a:ext cx="450570" cy="50885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-US" altLang="zh-CN" sz="1800" b="1" dirty="0">
                  <a:solidFill>
                    <a:schemeClr val="accent6"/>
                  </a:solidFill>
                </a:rPr>
                <a:t>R</a:t>
              </a:r>
              <a:endParaRPr kumimoji="1" lang="zh-CN" altLang="en-US" sz="1800" b="1" dirty="0">
                <a:solidFill>
                  <a:schemeClr val="accent6"/>
                </a:solidFill>
              </a:endParaRPr>
            </a:p>
          </p:txBody>
        </p:sp>
      </p:grpSp>
      <p:sp>
        <p:nvSpPr>
          <p:cNvPr id="17" name="文本框 16"/>
          <p:cNvSpPr txBox="1"/>
          <p:nvPr/>
        </p:nvSpPr>
        <p:spPr>
          <a:xfrm>
            <a:off x="7232" y="5264421"/>
            <a:ext cx="12184768" cy="4247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>
              <a:lnSpc>
                <a:spcPct val="90000"/>
              </a:lnSpc>
            </a:pPr>
            <a:r>
              <a:rPr kumimoji="1" lang="zh-CN" altLang="en-US" b="1" dirty="0"/>
              <a:t>计算机与信息学院</a:t>
            </a:r>
          </a:p>
        </p:txBody>
      </p:sp>
      <p:cxnSp>
        <p:nvCxnSpPr>
          <p:cNvPr id="3" name="直线连接符 2"/>
          <p:cNvCxnSpPr/>
          <p:nvPr/>
        </p:nvCxnSpPr>
        <p:spPr>
          <a:xfrm>
            <a:off x="3462144" y="3946163"/>
            <a:ext cx="5267715" cy="0"/>
          </a:xfrm>
          <a:prstGeom prst="line">
            <a:avLst/>
          </a:prstGeom>
          <a:ln w="3810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82FF5E2B-968F-4983-AA69-D0255BF69A6B}"/>
              </a:ext>
            </a:extLst>
          </p:cNvPr>
          <p:cNvGrpSpPr/>
          <p:nvPr/>
        </p:nvGrpSpPr>
        <p:grpSpPr>
          <a:xfrm>
            <a:off x="6262830" y="2434852"/>
            <a:ext cx="363125" cy="413514"/>
            <a:chOff x="3170996" y="382686"/>
            <a:chExt cx="807829" cy="807829"/>
          </a:xfrm>
        </p:grpSpPr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69FDA05E-C5DE-4BD3-B147-0A8A8E4A7272}"/>
                </a:ext>
              </a:extLst>
            </p:cNvPr>
            <p:cNvSpPr/>
            <p:nvPr/>
          </p:nvSpPr>
          <p:spPr>
            <a:xfrm>
              <a:off x="3170996" y="382686"/>
              <a:ext cx="807829" cy="807829"/>
            </a:xfrm>
            <a:prstGeom prst="ellipse">
              <a:avLst/>
            </a:prstGeom>
            <a:solidFill>
              <a:schemeClr val="tx1"/>
            </a:solidFill>
            <a:ln w="76200" cmpd="sng">
              <a:solidFill>
                <a:schemeClr val="accent5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ts val="6000"/>
                </a:lnSpc>
              </a:pPr>
              <a:endParaRPr kumimoji="1" lang="zh-CN" altLang="en-US" sz="1800" b="1" dirty="0">
                <a:solidFill>
                  <a:schemeClr val="accent2"/>
                </a:solidFill>
              </a:endParaRPr>
            </a:p>
          </p:txBody>
        </p:sp>
        <p:sp>
          <p:nvSpPr>
            <p:cNvPr id="23" name="文本框 22">
              <a:extLst>
                <a:ext uri="{FF2B5EF4-FFF2-40B4-BE49-F238E27FC236}">
                  <a16:creationId xmlns:a16="http://schemas.microsoft.com/office/drawing/2014/main" id="{DC448F4D-31E2-469F-9A7E-C21EECAAABD1}"/>
                </a:ext>
              </a:extLst>
            </p:cNvPr>
            <p:cNvSpPr txBox="1"/>
            <p:nvPr/>
          </p:nvSpPr>
          <p:spPr>
            <a:xfrm>
              <a:off x="3297601" y="443558"/>
              <a:ext cx="554615" cy="50885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-US" altLang="zh-CN" sz="1800" b="1" dirty="0">
                  <a:solidFill>
                    <a:schemeClr val="accent5"/>
                  </a:solidFill>
                </a:rPr>
                <a:t>M</a:t>
              </a:r>
              <a:endParaRPr kumimoji="1" lang="zh-CN" altLang="en-US" sz="1800" b="1" dirty="0">
                <a:solidFill>
                  <a:schemeClr val="accent5"/>
                </a:solidFill>
              </a:endParaRPr>
            </a:p>
          </p:txBody>
        </p:sp>
      </p:grp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53B0A5A3-8939-4A4D-A5CE-CA844F988E59}"/>
              </a:ext>
            </a:extLst>
          </p:cNvPr>
          <p:cNvGrpSpPr/>
          <p:nvPr/>
        </p:nvGrpSpPr>
        <p:grpSpPr>
          <a:xfrm>
            <a:off x="5739314" y="2434852"/>
            <a:ext cx="363124" cy="413514"/>
            <a:chOff x="2173906" y="382686"/>
            <a:chExt cx="807829" cy="807829"/>
          </a:xfrm>
        </p:grpSpPr>
        <p:sp>
          <p:nvSpPr>
            <p:cNvPr id="25" name="椭圆 24">
              <a:extLst>
                <a:ext uri="{FF2B5EF4-FFF2-40B4-BE49-F238E27FC236}">
                  <a16:creationId xmlns:a16="http://schemas.microsoft.com/office/drawing/2014/main" id="{B481AC01-11C7-42EA-B1CC-0DEF571A0498}"/>
                </a:ext>
              </a:extLst>
            </p:cNvPr>
            <p:cNvSpPr/>
            <p:nvPr/>
          </p:nvSpPr>
          <p:spPr>
            <a:xfrm>
              <a:off x="2173906" y="382686"/>
              <a:ext cx="807829" cy="807829"/>
            </a:xfrm>
            <a:prstGeom prst="ellipse">
              <a:avLst/>
            </a:prstGeom>
            <a:solidFill>
              <a:schemeClr val="tx1"/>
            </a:solidFill>
            <a:ln w="76200" cmpd="sng">
              <a:solidFill>
                <a:schemeClr val="accent2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ts val="6000"/>
                </a:lnSpc>
              </a:pPr>
              <a:endParaRPr kumimoji="1" lang="zh-CN" altLang="en-US" sz="1800" b="1" dirty="0">
                <a:solidFill>
                  <a:schemeClr val="accent2"/>
                </a:solidFill>
              </a:endParaRPr>
            </a:p>
          </p:txBody>
        </p:sp>
        <p:sp>
          <p:nvSpPr>
            <p:cNvPr id="26" name="文本框 25">
              <a:extLst>
                <a:ext uri="{FF2B5EF4-FFF2-40B4-BE49-F238E27FC236}">
                  <a16:creationId xmlns:a16="http://schemas.microsoft.com/office/drawing/2014/main" id="{9A32D12B-6482-4BB8-9FD4-3FE7F1EE81A0}"/>
                </a:ext>
              </a:extLst>
            </p:cNvPr>
            <p:cNvSpPr txBox="1"/>
            <p:nvPr/>
          </p:nvSpPr>
          <p:spPr>
            <a:xfrm>
              <a:off x="2326521" y="443558"/>
              <a:ext cx="502594" cy="50885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-US" altLang="zh-CN" sz="1800" b="1" dirty="0">
                  <a:solidFill>
                    <a:srgbClr val="26CCC5"/>
                  </a:solidFill>
                </a:rPr>
                <a:t>A</a:t>
              </a:r>
              <a:endParaRPr kumimoji="1" lang="zh-CN" altLang="en-US" sz="1800" b="1" dirty="0">
                <a:solidFill>
                  <a:srgbClr val="26CCC5"/>
                </a:solidFill>
              </a:endParaRPr>
            </a:p>
          </p:txBody>
        </p:sp>
      </p:grp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5E928632-5174-4A81-8188-2424A6BCE693}"/>
              </a:ext>
            </a:extLst>
          </p:cNvPr>
          <p:cNvGrpSpPr/>
          <p:nvPr/>
        </p:nvGrpSpPr>
        <p:grpSpPr>
          <a:xfrm>
            <a:off x="6786347" y="2434852"/>
            <a:ext cx="363124" cy="413514"/>
            <a:chOff x="4168089" y="382686"/>
            <a:chExt cx="807830" cy="807829"/>
          </a:xfrm>
        </p:grpSpPr>
        <p:sp>
          <p:nvSpPr>
            <p:cNvPr id="28" name="椭圆 27">
              <a:extLst>
                <a:ext uri="{FF2B5EF4-FFF2-40B4-BE49-F238E27FC236}">
                  <a16:creationId xmlns:a16="http://schemas.microsoft.com/office/drawing/2014/main" id="{E3F30FF9-B929-4714-AE37-FD8C1E60C9FA}"/>
                </a:ext>
              </a:extLst>
            </p:cNvPr>
            <p:cNvSpPr/>
            <p:nvPr/>
          </p:nvSpPr>
          <p:spPr>
            <a:xfrm>
              <a:off x="4168089" y="382686"/>
              <a:ext cx="807830" cy="807829"/>
            </a:xfrm>
            <a:prstGeom prst="ellipse">
              <a:avLst/>
            </a:prstGeom>
            <a:solidFill>
              <a:schemeClr val="tx1"/>
            </a:solidFill>
            <a:ln w="76200" cmpd="sng">
              <a:solidFill>
                <a:schemeClr val="accent3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ts val="6000"/>
                </a:lnSpc>
              </a:pPr>
              <a:endParaRPr kumimoji="1" lang="zh-CN" altLang="en-US" sz="1800" b="1" dirty="0">
                <a:solidFill>
                  <a:schemeClr val="accent2"/>
                </a:solidFill>
              </a:endParaRPr>
            </a:p>
          </p:txBody>
        </p:sp>
        <p:sp>
          <p:nvSpPr>
            <p:cNvPr id="29" name="文本框 28">
              <a:extLst>
                <a:ext uri="{FF2B5EF4-FFF2-40B4-BE49-F238E27FC236}">
                  <a16:creationId xmlns:a16="http://schemas.microsoft.com/office/drawing/2014/main" id="{F367262D-8BB8-4917-83EE-13C6F604B7DB}"/>
                </a:ext>
              </a:extLst>
            </p:cNvPr>
            <p:cNvSpPr txBox="1"/>
            <p:nvPr/>
          </p:nvSpPr>
          <p:spPr>
            <a:xfrm>
              <a:off x="4294687" y="443558"/>
              <a:ext cx="554617" cy="50885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-US" altLang="zh-CN" sz="1800" b="1" dirty="0">
                  <a:solidFill>
                    <a:schemeClr val="accent3"/>
                  </a:solidFill>
                </a:rPr>
                <a:t>M</a:t>
              </a:r>
              <a:endParaRPr kumimoji="1" lang="zh-CN" altLang="en-US" sz="1800" b="1" dirty="0">
                <a:solidFill>
                  <a:schemeClr val="accent3"/>
                </a:solidFill>
              </a:endParaRPr>
            </a:p>
          </p:txBody>
        </p:sp>
      </p:grpSp>
      <p:grpSp>
        <p:nvGrpSpPr>
          <p:cNvPr id="30" name="组合 29">
            <a:extLst>
              <a:ext uri="{FF2B5EF4-FFF2-40B4-BE49-F238E27FC236}">
                <a16:creationId xmlns:a16="http://schemas.microsoft.com/office/drawing/2014/main" id="{713B54DD-FA9B-4F67-A1B9-1A5BFBF4C1E8}"/>
              </a:ext>
            </a:extLst>
          </p:cNvPr>
          <p:cNvGrpSpPr/>
          <p:nvPr/>
        </p:nvGrpSpPr>
        <p:grpSpPr>
          <a:xfrm>
            <a:off x="7309863" y="2434852"/>
            <a:ext cx="363124" cy="413514"/>
            <a:chOff x="5165176" y="382686"/>
            <a:chExt cx="807829" cy="807829"/>
          </a:xfrm>
        </p:grpSpPr>
        <p:sp>
          <p:nvSpPr>
            <p:cNvPr id="31" name="椭圆 30">
              <a:extLst>
                <a:ext uri="{FF2B5EF4-FFF2-40B4-BE49-F238E27FC236}">
                  <a16:creationId xmlns:a16="http://schemas.microsoft.com/office/drawing/2014/main" id="{74C96447-7AA1-416E-BE12-B2194AA8E056}"/>
                </a:ext>
              </a:extLst>
            </p:cNvPr>
            <p:cNvSpPr/>
            <p:nvPr/>
          </p:nvSpPr>
          <p:spPr>
            <a:xfrm>
              <a:off x="5165176" y="382686"/>
              <a:ext cx="807829" cy="807829"/>
            </a:xfrm>
            <a:prstGeom prst="ellipse">
              <a:avLst/>
            </a:prstGeom>
            <a:solidFill>
              <a:schemeClr val="tx1"/>
            </a:solidFill>
            <a:ln w="76200" cmpd="sng">
              <a:solidFill>
                <a:srgbClr val="104D7E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ts val="6000"/>
                </a:lnSpc>
              </a:pPr>
              <a:endParaRPr kumimoji="1" lang="zh-CN" altLang="en-US" sz="1800" b="1" dirty="0">
                <a:solidFill>
                  <a:schemeClr val="accent2"/>
                </a:solidFill>
              </a:endParaRPr>
            </a:p>
          </p:txBody>
        </p:sp>
        <p:sp>
          <p:nvSpPr>
            <p:cNvPr id="32" name="文本框 31">
              <a:extLst>
                <a:ext uri="{FF2B5EF4-FFF2-40B4-BE49-F238E27FC236}">
                  <a16:creationId xmlns:a16="http://schemas.microsoft.com/office/drawing/2014/main" id="{8FC93182-7886-4A62-9FD2-52B8CBCA9AC3}"/>
                </a:ext>
              </a:extLst>
            </p:cNvPr>
            <p:cNvSpPr txBox="1"/>
            <p:nvPr/>
          </p:nvSpPr>
          <p:spPr>
            <a:xfrm>
              <a:off x="5393561" y="443558"/>
              <a:ext cx="351046" cy="50885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-US" altLang="zh-CN" sz="1800" b="1" dirty="0">
                  <a:solidFill>
                    <a:schemeClr val="accent1"/>
                  </a:solidFill>
                </a:rPr>
                <a:t>I</a:t>
              </a:r>
              <a:endParaRPr kumimoji="1" lang="zh-CN" altLang="en-US" sz="1800" b="1" dirty="0">
                <a:solidFill>
                  <a:schemeClr val="accent1"/>
                </a:solidFill>
              </a:endParaRPr>
            </a:p>
          </p:txBody>
        </p:sp>
      </p:grp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AE4F6443-905A-40E2-BC32-00244DBAACB0}"/>
              </a:ext>
            </a:extLst>
          </p:cNvPr>
          <p:cNvGrpSpPr/>
          <p:nvPr/>
        </p:nvGrpSpPr>
        <p:grpSpPr>
          <a:xfrm>
            <a:off x="7833379" y="2434852"/>
            <a:ext cx="363124" cy="413514"/>
            <a:chOff x="6162270" y="382686"/>
            <a:chExt cx="807830" cy="807829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196D3505-14F1-4BF5-8945-C781F2CA3DD7}"/>
                </a:ext>
              </a:extLst>
            </p:cNvPr>
            <p:cNvSpPr/>
            <p:nvPr/>
          </p:nvSpPr>
          <p:spPr>
            <a:xfrm>
              <a:off x="6162270" y="382686"/>
              <a:ext cx="807830" cy="807829"/>
            </a:xfrm>
            <a:prstGeom prst="ellipse">
              <a:avLst/>
            </a:prstGeom>
            <a:solidFill>
              <a:schemeClr val="tx1"/>
            </a:solidFill>
            <a:ln w="76200" cmpd="sng">
              <a:solidFill>
                <a:schemeClr val="accent6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ts val="6000"/>
                </a:lnSpc>
              </a:pPr>
              <a:endParaRPr kumimoji="1" lang="zh-CN" altLang="en-US" sz="1800" b="1" dirty="0">
                <a:solidFill>
                  <a:schemeClr val="accent2"/>
                </a:solidFill>
              </a:endParaRPr>
            </a:p>
          </p:txBody>
        </p:sp>
        <p:sp>
          <p:nvSpPr>
            <p:cNvPr id="35" name="文本框 34">
              <a:extLst>
                <a:ext uri="{FF2B5EF4-FFF2-40B4-BE49-F238E27FC236}">
                  <a16:creationId xmlns:a16="http://schemas.microsoft.com/office/drawing/2014/main" id="{C60A2BE7-434A-4388-96A8-24244761BE4C}"/>
                </a:ext>
              </a:extLst>
            </p:cNvPr>
            <p:cNvSpPr txBox="1"/>
            <p:nvPr/>
          </p:nvSpPr>
          <p:spPr>
            <a:xfrm>
              <a:off x="6314879" y="443558"/>
              <a:ext cx="502594" cy="50885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-US" altLang="zh-CN" sz="1800" b="1" dirty="0">
                  <a:solidFill>
                    <a:schemeClr val="accent6"/>
                  </a:solidFill>
                </a:rPr>
                <a:t>N</a:t>
              </a:r>
              <a:endParaRPr kumimoji="1" lang="zh-CN" altLang="en-US" sz="1800" b="1" dirty="0">
                <a:solidFill>
                  <a:schemeClr val="accent6"/>
                </a:solidFill>
              </a:endParaRPr>
            </a:p>
          </p:txBody>
        </p:sp>
      </p:grpSp>
      <p:grpSp>
        <p:nvGrpSpPr>
          <p:cNvPr id="36" name="组合 35">
            <a:extLst>
              <a:ext uri="{FF2B5EF4-FFF2-40B4-BE49-F238E27FC236}">
                <a16:creationId xmlns:a16="http://schemas.microsoft.com/office/drawing/2014/main" id="{02608C73-10E9-4E79-A21B-887B7FF64371}"/>
              </a:ext>
            </a:extLst>
          </p:cNvPr>
          <p:cNvGrpSpPr/>
          <p:nvPr/>
        </p:nvGrpSpPr>
        <p:grpSpPr>
          <a:xfrm>
            <a:off x="8356894" y="2434852"/>
            <a:ext cx="363124" cy="413514"/>
            <a:chOff x="2173906" y="382686"/>
            <a:chExt cx="807829" cy="807829"/>
          </a:xfrm>
        </p:grpSpPr>
        <p:sp>
          <p:nvSpPr>
            <p:cNvPr id="37" name="椭圆 36">
              <a:extLst>
                <a:ext uri="{FF2B5EF4-FFF2-40B4-BE49-F238E27FC236}">
                  <a16:creationId xmlns:a16="http://schemas.microsoft.com/office/drawing/2014/main" id="{EE93575D-B2A7-4436-9F0F-52BCA3D0924E}"/>
                </a:ext>
              </a:extLst>
            </p:cNvPr>
            <p:cNvSpPr/>
            <p:nvPr/>
          </p:nvSpPr>
          <p:spPr>
            <a:xfrm>
              <a:off x="2173906" y="382686"/>
              <a:ext cx="807829" cy="807829"/>
            </a:xfrm>
            <a:prstGeom prst="ellipse">
              <a:avLst/>
            </a:prstGeom>
            <a:solidFill>
              <a:schemeClr val="tx1"/>
            </a:solidFill>
            <a:ln w="76200" cmpd="sng">
              <a:solidFill>
                <a:schemeClr val="accent2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ts val="6000"/>
                </a:lnSpc>
              </a:pPr>
              <a:endParaRPr kumimoji="1" lang="zh-CN" altLang="en-US" sz="1800" b="1" dirty="0">
                <a:solidFill>
                  <a:schemeClr val="accent2"/>
                </a:solidFill>
              </a:endParaRPr>
            </a:p>
          </p:txBody>
        </p:sp>
        <p:sp>
          <p:nvSpPr>
            <p:cNvPr id="38" name="文本框 37">
              <a:extLst>
                <a:ext uri="{FF2B5EF4-FFF2-40B4-BE49-F238E27FC236}">
                  <a16:creationId xmlns:a16="http://schemas.microsoft.com/office/drawing/2014/main" id="{DC5A2224-2232-4FF8-97F8-62FF709E299C}"/>
                </a:ext>
              </a:extLst>
            </p:cNvPr>
            <p:cNvSpPr txBox="1"/>
            <p:nvPr/>
          </p:nvSpPr>
          <p:spPr>
            <a:xfrm>
              <a:off x="2310689" y="443558"/>
              <a:ext cx="534259" cy="50885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-US" altLang="zh-CN" sz="1800" b="1" dirty="0">
                  <a:solidFill>
                    <a:srgbClr val="26CCC5"/>
                  </a:solidFill>
                </a:rPr>
                <a:t>G</a:t>
              </a:r>
              <a:endParaRPr kumimoji="1" lang="zh-CN" altLang="en-US" sz="1800" b="1" dirty="0">
                <a:solidFill>
                  <a:srgbClr val="26CCC5"/>
                </a:solidFill>
              </a:endParaRPr>
            </a:p>
          </p:txBody>
        </p:sp>
      </p:grpSp>
      <p:sp>
        <p:nvSpPr>
          <p:cNvPr id="40" name="文本框 39">
            <a:extLst>
              <a:ext uri="{FF2B5EF4-FFF2-40B4-BE49-F238E27FC236}">
                <a16:creationId xmlns:a16="http://schemas.microsoft.com/office/drawing/2014/main" id="{D7A90910-1FA4-4F26-8CEA-21951F5FFB92}"/>
              </a:ext>
            </a:extLst>
          </p:cNvPr>
          <p:cNvSpPr txBox="1"/>
          <p:nvPr/>
        </p:nvSpPr>
        <p:spPr>
          <a:xfrm>
            <a:off x="0" y="4160905"/>
            <a:ext cx="1219764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3200" b="1" dirty="0">
                <a:latin typeface="华光行书_CNKI" panose="02000500000000000000" pitchFamily="2" charset="-122"/>
                <a:ea typeface="华光行书_CNKI" panose="02000500000000000000" pitchFamily="2" charset="-122"/>
              </a:rPr>
              <a:t>Everything is Object</a:t>
            </a:r>
            <a:endParaRPr lang="zh-CN" altLang="en-US" sz="3200" b="1" dirty="0">
              <a:latin typeface="华光行书_CNKI" panose="02000500000000000000" pitchFamily="2" charset="-122"/>
              <a:ea typeface="华光行书_CNKI" panose="02000500000000000000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53627" y="193734"/>
            <a:ext cx="12190413" cy="728917"/>
          </a:xfrm>
          <a:prstGeom prst="rect">
            <a:avLst/>
          </a:prstGeom>
          <a:solidFill>
            <a:srgbClr val="104E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3200"/>
          </a:p>
        </p:txBody>
      </p:sp>
      <p:sp>
        <p:nvSpPr>
          <p:cNvPr id="127" name="文本框 126">
            <a:extLst>
              <a:ext uri="{FF2B5EF4-FFF2-40B4-BE49-F238E27FC236}">
                <a16:creationId xmlns:a16="http://schemas.microsoft.com/office/drawing/2014/main" id="{A0D18D39-EE2F-463B-87BB-41399EDF9A9D}"/>
              </a:ext>
            </a:extLst>
          </p:cNvPr>
          <p:cNvSpPr txBox="1"/>
          <p:nvPr/>
        </p:nvSpPr>
        <p:spPr>
          <a:xfrm>
            <a:off x="729992" y="226553"/>
            <a:ext cx="25280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3600" b="1" dirty="0"/>
              <a:t>目录</a:t>
            </a:r>
          </a:p>
        </p:txBody>
      </p:sp>
      <p:sp>
        <p:nvSpPr>
          <p:cNvPr id="128" name="Rectangle 5">
            <a:extLst>
              <a:ext uri="{FF2B5EF4-FFF2-40B4-BE49-F238E27FC236}">
                <a16:creationId xmlns:a16="http://schemas.microsoft.com/office/drawing/2014/main" id="{E5C78249-4896-4BB7-9A62-F1354ABBD8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627" y="312204"/>
            <a:ext cx="747811" cy="897523"/>
          </a:xfrm>
          <a:prstGeom prst="roundRect">
            <a:avLst/>
          </a:prstGeom>
          <a:solidFill>
            <a:srgbClr val="134F85"/>
          </a:solidFill>
          <a:ln>
            <a:noFill/>
          </a:ln>
        </p:spPr>
        <p:txBody>
          <a:bodyPr lIns="68571" tIns="34285" rIns="68571" bIns="34285"/>
          <a:lstStyle/>
          <a:p>
            <a:endParaRPr lang="zh-CN" altLang="en-US" kern="0" dirty="0">
              <a:solidFill>
                <a:sysClr val="windowText" lastClr="00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lt"/>
            </a:endParaRPr>
          </a:p>
        </p:txBody>
      </p:sp>
      <p:sp>
        <p:nvSpPr>
          <p:cNvPr id="129" name="Freeform 6">
            <a:extLst>
              <a:ext uri="{FF2B5EF4-FFF2-40B4-BE49-F238E27FC236}">
                <a16:creationId xmlns:a16="http://schemas.microsoft.com/office/drawing/2014/main" id="{EF3F4735-7AFF-4C5A-B62F-79E5B939F1CB}"/>
              </a:ext>
            </a:extLst>
          </p:cNvPr>
          <p:cNvSpPr/>
          <p:nvPr/>
        </p:nvSpPr>
        <p:spPr bwMode="auto">
          <a:xfrm>
            <a:off x="158417" y="385414"/>
            <a:ext cx="571575" cy="718971"/>
          </a:xfrm>
          <a:custGeom>
            <a:avLst/>
            <a:gdLst>
              <a:gd name="T0" fmla="*/ 734716 w 1173"/>
              <a:gd name="T1" fmla="*/ 348495 h 1472"/>
              <a:gd name="T2" fmla="*/ 711330 w 1173"/>
              <a:gd name="T3" fmla="*/ 30615 h 1472"/>
              <a:gd name="T4" fmla="*/ 693141 w 1173"/>
              <a:gd name="T5" fmla="*/ 35175 h 1472"/>
              <a:gd name="T6" fmla="*/ 651565 w 1173"/>
              <a:gd name="T7" fmla="*/ 44295 h 1472"/>
              <a:gd name="T8" fmla="*/ 596997 w 1173"/>
              <a:gd name="T9" fmla="*/ 35175 h 1472"/>
              <a:gd name="T10" fmla="*/ 408609 w 1173"/>
              <a:gd name="T11" fmla="*/ 3257 h 1472"/>
              <a:gd name="T12" fmla="*/ 0 w 1173"/>
              <a:gd name="T13" fmla="*/ 500270 h 1472"/>
              <a:gd name="T14" fmla="*/ 417703 w 1173"/>
              <a:gd name="T15" fmla="*/ 955593 h 1472"/>
              <a:gd name="T16" fmla="*/ 762000 w 1173"/>
              <a:gd name="T17" fmla="*/ 707412 h 1472"/>
              <a:gd name="T18" fmla="*/ 706783 w 1173"/>
              <a:gd name="T19" fmla="*/ 674843 h 1472"/>
              <a:gd name="T20" fmla="*/ 449535 w 1173"/>
              <a:gd name="T21" fmla="*/ 891757 h 1472"/>
              <a:gd name="T22" fmla="*/ 188389 w 1173"/>
              <a:gd name="T23" fmla="*/ 472260 h 1472"/>
              <a:gd name="T24" fmla="*/ 417703 w 1173"/>
              <a:gd name="T25" fmla="*/ 67745 h 1472"/>
              <a:gd name="T26" fmla="*/ 679499 w 1173"/>
              <a:gd name="T27" fmla="*/ 371294 h 1472"/>
              <a:gd name="T28" fmla="*/ 734716 w 1173"/>
              <a:gd name="T29" fmla="*/ 348495 h 1472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</a:gdLst>
            <a:ahLst/>
            <a:cxnLst>
              <a:cxn ang="T30">
                <a:pos x="T0" y="T1"/>
              </a:cxn>
              <a:cxn ang="T31">
                <a:pos x="T2" y="T3"/>
              </a:cxn>
              <a:cxn ang="T32">
                <a:pos x="T4" y="T5"/>
              </a:cxn>
              <a:cxn ang="T33">
                <a:pos x="T6" y="T7"/>
              </a:cxn>
              <a:cxn ang="T34">
                <a:pos x="T8" y="T9"/>
              </a:cxn>
              <a:cxn ang="T35">
                <a:pos x="T10" y="T11"/>
              </a:cxn>
              <a:cxn ang="T36">
                <a:pos x="T12" y="T13"/>
              </a:cxn>
              <a:cxn ang="T37">
                <a:pos x="T14" y="T15"/>
              </a:cxn>
              <a:cxn ang="T38">
                <a:pos x="T16" y="T17"/>
              </a:cxn>
              <a:cxn ang="T39">
                <a:pos x="T18" y="T19"/>
              </a:cxn>
              <a:cxn ang="T40">
                <a:pos x="T20" y="T21"/>
              </a:cxn>
              <a:cxn ang="T41">
                <a:pos x="T22" y="T23"/>
              </a:cxn>
              <a:cxn ang="T42">
                <a:pos x="T24" y="T25"/>
              </a:cxn>
              <a:cxn ang="T43">
                <a:pos x="T26" y="T27"/>
              </a:cxn>
              <a:cxn ang="T44">
                <a:pos x="T28" y="T29"/>
              </a:cxn>
            </a:cxnLst>
            <a:rect l="0" t="0" r="r" b="b"/>
            <a:pathLst>
              <a:path w="1173" h="1472">
                <a:moveTo>
                  <a:pt x="1131" y="535"/>
                </a:moveTo>
                <a:lnTo>
                  <a:pt x="1095" y="47"/>
                </a:lnTo>
                <a:cubicBezTo>
                  <a:pt x="1090" y="47"/>
                  <a:pt x="1081" y="49"/>
                  <a:pt x="1067" y="54"/>
                </a:cubicBezTo>
                <a:cubicBezTo>
                  <a:pt x="1043" y="64"/>
                  <a:pt x="1022" y="68"/>
                  <a:pt x="1003" y="68"/>
                </a:cubicBezTo>
                <a:cubicBezTo>
                  <a:pt x="975" y="68"/>
                  <a:pt x="947" y="64"/>
                  <a:pt x="919" y="54"/>
                </a:cubicBezTo>
                <a:cubicBezTo>
                  <a:pt x="810" y="17"/>
                  <a:pt x="714" y="0"/>
                  <a:pt x="629" y="5"/>
                </a:cubicBezTo>
                <a:cubicBezTo>
                  <a:pt x="214" y="24"/>
                  <a:pt x="5" y="278"/>
                  <a:pt x="0" y="768"/>
                </a:cubicBezTo>
                <a:cubicBezTo>
                  <a:pt x="5" y="1225"/>
                  <a:pt x="219" y="1458"/>
                  <a:pt x="643" y="1467"/>
                </a:cubicBezTo>
                <a:cubicBezTo>
                  <a:pt x="912" y="1472"/>
                  <a:pt x="1088" y="1345"/>
                  <a:pt x="1173" y="1086"/>
                </a:cubicBezTo>
                <a:lnTo>
                  <a:pt x="1088" y="1036"/>
                </a:lnTo>
                <a:cubicBezTo>
                  <a:pt x="999" y="1258"/>
                  <a:pt x="867" y="1369"/>
                  <a:pt x="692" y="1369"/>
                </a:cubicBezTo>
                <a:cubicBezTo>
                  <a:pt x="424" y="1359"/>
                  <a:pt x="290" y="1145"/>
                  <a:pt x="290" y="725"/>
                </a:cubicBezTo>
                <a:cubicBezTo>
                  <a:pt x="290" y="316"/>
                  <a:pt x="408" y="108"/>
                  <a:pt x="643" y="104"/>
                </a:cubicBezTo>
                <a:cubicBezTo>
                  <a:pt x="827" y="94"/>
                  <a:pt x="961" y="250"/>
                  <a:pt x="1046" y="570"/>
                </a:cubicBezTo>
                <a:lnTo>
                  <a:pt x="1131" y="53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lIns="68571" tIns="34285" rIns="68571" bIns="34285"/>
          <a:lstStyle/>
          <a:p>
            <a:endParaRPr lang="zh-CN" altLang="en-US" kern="0">
              <a:solidFill>
                <a:sysClr val="windowText" lastClr="000000"/>
              </a:solidFill>
              <a:cs typeface="+mn-ea"/>
              <a:sym typeface="+mn-lt"/>
            </a:endParaRPr>
          </a:p>
        </p:txBody>
      </p:sp>
      <p:sp>
        <p:nvSpPr>
          <p:cNvPr id="130" name="Freeform 7">
            <a:extLst>
              <a:ext uri="{FF2B5EF4-FFF2-40B4-BE49-F238E27FC236}">
                <a16:creationId xmlns:a16="http://schemas.microsoft.com/office/drawing/2014/main" id="{DDF3AA5B-43DC-4FE2-9F53-6611D0592634}"/>
              </a:ext>
            </a:extLst>
          </p:cNvPr>
          <p:cNvSpPr>
            <a:spLocks noEditPoints="1"/>
          </p:cNvSpPr>
          <p:nvPr/>
        </p:nvSpPr>
        <p:spPr bwMode="auto">
          <a:xfrm>
            <a:off x="801438" y="922651"/>
            <a:ext cx="1068129" cy="230399"/>
          </a:xfrm>
          <a:custGeom>
            <a:avLst/>
            <a:gdLst>
              <a:gd name="T0" fmla="*/ 31788 w 2195"/>
              <a:gd name="T1" fmla="*/ 181488 h 445"/>
              <a:gd name="T2" fmla="*/ 163483 w 2195"/>
              <a:gd name="T3" fmla="*/ 180183 h 445"/>
              <a:gd name="T4" fmla="*/ 98609 w 2195"/>
              <a:gd name="T5" fmla="*/ 289206 h 445"/>
              <a:gd name="T6" fmla="*/ 101204 w 2195"/>
              <a:gd name="T7" fmla="*/ 68548 h 445"/>
              <a:gd name="T8" fmla="*/ 98609 w 2195"/>
              <a:gd name="T9" fmla="*/ 289206 h 445"/>
              <a:gd name="T10" fmla="*/ 431413 w 2195"/>
              <a:gd name="T11" fmla="*/ 283331 h 445"/>
              <a:gd name="T12" fmla="*/ 400922 w 2195"/>
              <a:gd name="T13" fmla="*/ 152764 h 445"/>
              <a:gd name="T14" fmla="*/ 289339 w 2195"/>
              <a:gd name="T15" fmla="*/ 154069 h 445"/>
              <a:gd name="T16" fmla="*/ 259496 w 2195"/>
              <a:gd name="T17" fmla="*/ 284636 h 445"/>
              <a:gd name="T18" fmla="*/ 289339 w 2195"/>
              <a:gd name="T19" fmla="*/ 72465 h 445"/>
              <a:gd name="T20" fmla="*/ 358754 w 2195"/>
              <a:gd name="T21" fmla="*/ 66589 h 445"/>
              <a:gd name="T22" fmla="*/ 581921 w 2195"/>
              <a:gd name="T23" fmla="*/ 265704 h 445"/>
              <a:gd name="T24" fmla="*/ 555971 w 2195"/>
              <a:gd name="T25" fmla="*/ 287901 h 445"/>
              <a:gd name="T26" fmla="*/ 512506 w 2195"/>
              <a:gd name="T27" fmla="*/ 98578 h 445"/>
              <a:gd name="T28" fmla="*/ 483312 w 2195"/>
              <a:gd name="T29" fmla="*/ 72465 h 445"/>
              <a:gd name="T30" fmla="*/ 512506 w 2195"/>
              <a:gd name="T31" fmla="*/ 15668 h 445"/>
              <a:gd name="T32" fmla="*/ 542996 w 2195"/>
              <a:gd name="T33" fmla="*/ 72465 h 445"/>
              <a:gd name="T34" fmla="*/ 581921 w 2195"/>
              <a:gd name="T35" fmla="*/ 98578 h 445"/>
              <a:gd name="T36" fmla="*/ 542996 w 2195"/>
              <a:gd name="T37" fmla="*/ 241549 h 445"/>
              <a:gd name="T38" fmla="*/ 581921 w 2195"/>
              <a:gd name="T39" fmla="*/ 265704 h 445"/>
              <a:gd name="T40" fmla="*/ 787572 w 2195"/>
              <a:gd name="T41" fmla="*/ 162556 h 445"/>
              <a:gd name="T42" fmla="*/ 661716 w 2195"/>
              <a:gd name="T43" fmla="*/ 162556 h 445"/>
              <a:gd name="T44" fmla="*/ 819360 w 2195"/>
              <a:gd name="T45" fmla="*/ 226534 h 445"/>
              <a:gd name="T46" fmla="*/ 626684 w 2195"/>
              <a:gd name="T47" fmla="*/ 181488 h 445"/>
              <a:gd name="T48" fmla="*/ 820658 w 2195"/>
              <a:gd name="T49" fmla="*/ 181488 h 445"/>
              <a:gd name="T50" fmla="*/ 660419 w 2195"/>
              <a:gd name="T51" fmla="*/ 188670 h 445"/>
              <a:gd name="T52" fmla="*/ 787572 w 2195"/>
              <a:gd name="T53" fmla="*/ 218047 h 445"/>
              <a:gd name="T54" fmla="*/ 1054853 w 2195"/>
              <a:gd name="T55" fmla="*/ 283331 h 445"/>
              <a:gd name="T56" fmla="*/ 1025011 w 2195"/>
              <a:gd name="T57" fmla="*/ 152764 h 445"/>
              <a:gd name="T58" fmla="*/ 913428 w 2195"/>
              <a:gd name="T59" fmla="*/ 154069 h 445"/>
              <a:gd name="T60" fmla="*/ 882937 w 2195"/>
              <a:gd name="T61" fmla="*/ 284636 h 445"/>
              <a:gd name="T62" fmla="*/ 913428 w 2195"/>
              <a:gd name="T63" fmla="*/ 72465 h 445"/>
              <a:gd name="T64" fmla="*/ 982843 w 2195"/>
              <a:gd name="T65" fmla="*/ 66589 h 445"/>
              <a:gd name="T66" fmla="*/ 1206010 w 2195"/>
              <a:gd name="T67" fmla="*/ 265704 h 445"/>
              <a:gd name="T68" fmla="*/ 1179412 w 2195"/>
              <a:gd name="T69" fmla="*/ 287901 h 445"/>
              <a:gd name="T70" fmla="*/ 1136595 w 2195"/>
              <a:gd name="T71" fmla="*/ 98578 h 445"/>
              <a:gd name="T72" fmla="*/ 1107401 w 2195"/>
              <a:gd name="T73" fmla="*/ 72465 h 445"/>
              <a:gd name="T74" fmla="*/ 1136595 w 2195"/>
              <a:gd name="T75" fmla="*/ 15668 h 445"/>
              <a:gd name="T76" fmla="*/ 1166437 w 2195"/>
              <a:gd name="T77" fmla="*/ 72465 h 445"/>
              <a:gd name="T78" fmla="*/ 1206010 w 2195"/>
              <a:gd name="T79" fmla="*/ 98578 h 445"/>
              <a:gd name="T80" fmla="*/ 1166437 w 2195"/>
              <a:gd name="T81" fmla="*/ 241549 h 445"/>
              <a:gd name="T82" fmla="*/ 1206010 w 2195"/>
              <a:gd name="T83" fmla="*/ 265704 h 445"/>
              <a:gd name="T84" fmla="*/ 1414256 w 2195"/>
              <a:gd name="T85" fmla="*/ 123386 h 445"/>
              <a:gd name="T86" fmla="*/ 1256612 w 2195"/>
              <a:gd name="T87" fmla="*/ 126650 h 445"/>
              <a:gd name="T88" fmla="*/ 1390901 w 2195"/>
              <a:gd name="T89" fmla="*/ 229798 h 445"/>
              <a:gd name="T90" fmla="*/ 1278020 w 2195"/>
              <a:gd name="T91" fmla="*/ 218047 h 445"/>
              <a:gd name="T92" fmla="*/ 1337704 w 2195"/>
              <a:gd name="T93" fmla="*/ 289206 h 445"/>
              <a:gd name="T94" fmla="*/ 1346138 w 2195"/>
              <a:gd name="T95" fmla="*/ 164515 h 445"/>
              <a:gd name="T96" fmla="*/ 1334461 w 2195"/>
              <a:gd name="T97" fmla="*/ 94661 h 445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</a:gdLst>
            <a:ahLst/>
            <a:cxnLst>
              <a:cxn ang="T98">
                <a:pos x="T0" y="T1"/>
              </a:cxn>
              <a:cxn ang="T99">
                <a:pos x="T2" y="T3"/>
              </a:cxn>
              <a:cxn ang="T100">
                <a:pos x="T4" y="T5"/>
              </a:cxn>
              <a:cxn ang="T101">
                <a:pos x="T6" y="T7"/>
              </a:cxn>
              <a:cxn ang="T102">
                <a:pos x="T8" y="T9"/>
              </a:cxn>
              <a:cxn ang="T103">
                <a:pos x="T10" y="T11"/>
              </a:cxn>
              <a:cxn ang="T104">
                <a:pos x="T12" y="T13"/>
              </a:cxn>
              <a:cxn ang="T105">
                <a:pos x="T14" y="T15"/>
              </a:cxn>
              <a:cxn ang="T106">
                <a:pos x="T16" y="T17"/>
              </a:cxn>
              <a:cxn ang="T107">
                <a:pos x="T18" y="T19"/>
              </a:cxn>
              <a:cxn ang="T108">
                <a:pos x="T20" y="T21"/>
              </a:cxn>
              <a:cxn ang="T109">
                <a:pos x="T22" y="T23"/>
              </a:cxn>
              <a:cxn ang="T110">
                <a:pos x="T24" y="T25"/>
              </a:cxn>
              <a:cxn ang="T111">
                <a:pos x="T26" y="T27"/>
              </a:cxn>
              <a:cxn ang="T112">
                <a:pos x="T28" y="T29"/>
              </a:cxn>
              <a:cxn ang="T113">
                <a:pos x="T30" y="T31"/>
              </a:cxn>
              <a:cxn ang="T114">
                <a:pos x="T32" y="T33"/>
              </a:cxn>
              <a:cxn ang="T115">
                <a:pos x="T34" y="T35"/>
              </a:cxn>
              <a:cxn ang="T116">
                <a:pos x="T36" y="T37"/>
              </a:cxn>
              <a:cxn ang="T117">
                <a:pos x="T38" y="T39"/>
              </a:cxn>
              <a:cxn ang="T118">
                <a:pos x="T40" y="T41"/>
              </a:cxn>
              <a:cxn ang="T119">
                <a:pos x="T42" y="T43"/>
              </a:cxn>
              <a:cxn ang="T120">
                <a:pos x="T44" y="T45"/>
              </a:cxn>
              <a:cxn ang="T121">
                <a:pos x="T46" y="T47"/>
              </a:cxn>
              <a:cxn ang="T122">
                <a:pos x="T48" y="T49"/>
              </a:cxn>
              <a:cxn ang="T123">
                <a:pos x="T50" y="T51"/>
              </a:cxn>
              <a:cxn ang="T124">
                <a:pos x="T52" y="T53"/>
              </a:cxn>
              <a:cxn ang="T125">
                <a:pos x="T54" y="T55"/>
              </a:cxn>
              <a:cxn ang="T126">
                <a:pos x="T56" y="T57"/>
              </a:cxn>
              <a:cxn ang="T127">
                <a:pos x="T58" y="T59"/>
              </a:cxn>
              <a:cxn ang="T128">
                <a:pos x="T60" y="T61"/>
              </a:cxn>
              <a:cxn ang="T129">
                <a:pos x="T62" y="T63"/>
              </a:cxn>
              <a:cxn ang="T130">
                <a:pos x="T64" y="T65"/>
              </a:cxn>
              <a:cxn ang="T131">
                <a:pos x="T66" y="T67"/>
              </a:cxn>
              <a:cxn ang="T132">
                <a:pos x="T68" y="T69"/>
              </a:cxn>
              <a:cxn ang="T133">
                <a:pos x="T70" y="T71"/>
              </a:cxn>
              <a:cxn ang="T134">
                <a:pos x="T72" y="T73"/>
              </a:cxn>
              <a:cxn ang="T135">
                <a:pos x="T74" y="T75"/>
              </a:cxn>
              <a:cxn ang="T136">
                <a:pos x="T76" y="T77"/>
              </a:cxn>
              <a:cxn ang="T137">
                <a:pos x="T78" y="T79"/>
              </a:cxn>
              <a:cxn ang="T138">
                <a:pos x="T80" y="T81"/>
              </a:cxn>
              <a:cxn ang="T139">
                <a:pos x="T82" y="T83"/>
              </a:cxn>
              <a:cxn ang="T140">
                <a:pos x="T84" y="T85"/>
              </a:cxn>
              <a:cxn ang="T141">
                <a:pos x="T86" y="T87"/>
              </a:cxn>
              <a:cxn ang="T142">
                <a:pos x="T88" y="T89"/>
              </a:cxn>
              <a:cxn ang="T143">
                <a:pos x="T90" y="T91"/>
              </a:cxn>
              <a:cxn ang="T144">
                <a:pos x="T92" y="T93"/>
              </a:cxn>
              <a:cxn ang="T145">
                <a:pos x="T94" y="T95"/>
              </a:cxn>
              <a:cxn ang="T146">
                <a:pos x="T96" y="T97"/>
              </a:cxn>
            </a:cxnLst>
            <a:rect l="0" t="0" r="r" b="b"/>
            <a:pathLst>
              <a:path w="2195" h="445">
                <a:moveTo>
                  <a:pt x="154" y="142"/>
                </a:moveTo>
                <a:cubicBezTo>
                  <a:pt x="86" y="144"/>
                  <a:pt x="51" y="189"/>
                  <a:pt x="49" y="278"/>
                </a:cubicBezTo>
                <a:cubicBezTo>
                  <a:pt x="51" y="361"/>
                  <a:pt x="86" y="405"/>
                  <a:pt x="154" y="407"/>
                </a:cubicBezTo>
                <a:cubicBezTo>
                  <a:pt x="218" y="405"/>
                  <a:pt x="251" y="361"/>
                  <a:pt x="252" y="276"/>
                </a:cubicBezTo>
                <a:cubicBezTo>
                  <a:pt x="248" y="193"/>
                  <a:pt x="215" y="148"/>
                  <a:pt x="154" y="142"/>
                </a:cubicBezTo>
                <a:close/>
                <a:moveTo>
                  <a:pt x="152" y="443"/>
                </a:moveTo>
                <a:cubicBezTo>
                  <a:pt x="55" y="437"/>
                  <a:pt x="5" y="383"/>
                  <a:pt x="0" y="280"/>
                </a:cubicBezTo>
                <a:cubicBezTo>
                  <a:pt x="3" y="166"/>
                  <a:pt x="55" y="107"/>
                  <a:pt x="156" y="105"/>
                </a:cubicBezTo>
                <a:cubicBezTo>
                  <a:pt x="250" y="109"/>
                  <a:pt x="299" y="165"/>
                  <a:pt x="303" y="274"/>
                </a:cubicBezTo>
                <a:cubicBezTo>
                  <a:pt x="302" y="385"/>
                  <a:pt x="251" y="442"/>
                  <a:pt x="152" y="443"/>
                </a:cubicBezTo>
                <a:close/>
                <a:moveTo>
                  <a:pt x="665" y="227"/>
                </a:moveTo>
                <a:lnTo>
                  <a:pt x="665" y="434"/>
                </a:lnTo>
                <a:lnTo>
                  <a:pt x="618" y="434"/>
                </a:lnTo>
                <a:lnTo>
                  <a:pt x="618" y="234"/>
                </a:lnTo>
                <a:cubicBezTo>
                  <a:pt x="616" y="174"/>
                  <a:pt x="591" y="144"/>
                  <a:pt x="542" y="142"/>
                </a:cubicBezTo>
                <a:cubicBezTo>
                  <a:pt x="484" y="150"/>
                  <a:pt x="452" y="181"/>
                  <a:pt x="446" y="236"/>
                </a:cubicBezTo>
                <a:lnTo>
                  <a:pt x="446" y="434"/>
                </a:lnTo>
                <a:lnTo>
                  <a:pt x="400" y="436"/>
                </a:lnTo>
                <a:lnTo>
                  <a:pt x="400" y="111"/>
                </a:lnTo>
                <a:lnTo>
                  <a:pt x="446" y="111"/>
                </a:lnTo>
                <a:lnTo>
                  <a:pt x="446" y="160"/>
                </a:lnTo>
                <a:cubicBezTo>
                  <a:pt x="472" y="123"/>
                  <a:pt x="507" y="104"/>
                  <a:pt x="553" y="102"/>
                </a:cubicBezTo>
                <a:cubicBezTo>
                  <a:pt x="628" y="102"/>
                  <a:pt x="665" y="144"/>
                  <a:pt x="665" y="227"/>
                </a:cubicBezTo>
                <a:close/>
                <a:moveTo>
                  <a:pt x="897" y="407"/>
                </a:moveTo>
                <a:lnTo>
                  <a:pt x="906" y="432"/>
                </a:lnTo>
                <a:cubicBezTo>
                  <a:pt x="891" y="438"/>
                  <a:pt x="875" y="441"/>
                  <a:pt x="857" y="441"/>
                </a:cubicBezTo>
                <a:cubicBezTo>
                  <a:pt x="811" y="442"/>
                  <a:pt x="788" y="419"/>
                  <a:pt x="790" y="370"/>
                </a:cubicBezTo>
                <a:lnTo>
                  <a:pt x="790" y="151"/>
                </a:lnTo>
                <a:lnTo>
                  <a:pt x="745" y="151"/>
                </a:lnTo>
                <a:lnTo>
                  <a:pt x="745" y="111"/>
                </a:lnTo>
                <a:lnTo>
                  <a:pt x="790" y="111"/>
                </a:lnTo>
                <a:lnTo>
                  <a:pt x="790" y="24"/>
                </a:lnTo>
                <a:lnTo>
                  <a:pt x="837" y="0"/>
                </a:lnTo>
                <a:lnTo>
                  <a:pt x="837" y="111"/>
                </a:lnTo>
                <a:lnTo>
                  <a:pt x="897" y="111"/>
                </a:lnTo>
                <a:lnTo>
                  <a:pt x="897" y="151"/>
                </a:lnTo>
                <a:lnTo>
                  <a:pt x="837" y="151"/>
                </a:lnTo>
                <a:lnTo>
                  <a:pt x="837" y="370"/>
                </a:lnTo>
                <a:cubicBezTo>
                  <a:pt x="835" y="398"/>
                  <a:pt x="847" y="411"/>
                  <a:pt x="872" y="410"/>
                </a:cubicBezTo>
                <a:cubicBezTo>
                  <a:pt x="881" y="410"/>
                  <a:pt x="890" y="409"/>
                  <a:pt x="897" y="407"/>
                </a:cubicBezTo>
                <a:close/>
                <a:moveTo>
                  <a:pt x="1020" y="249"/>
                </a:moveTo>
                <a:lnTo>
                  <a:pt x="1214" y="249"/>
                </a:lnTo>
                <a:cubicBezTo>
                  <a:pt x="1211" y="184"/>
                  <a:pt x="1179" y="150"/>
                  <a:pt x="1118" y="147"/>
                </a:cubicBezTo>
                <a:cubicBezTo>
                  <a:pt x="1057" y="153"/>
                  <a:pt x="1024" y="187"/>
                  <a:pt x="1020" y="249"/>
                </a:cubicBezTo>
                <a:close/>
                <a:moveTo>
                  <a:pt x="1214" y="334"/>
                </a:moveTo>
                <a:lnTo>
                  <a:pt x="1263" y="347"/>
                </a:lnTo>
                <a:cubicBezTo>
                  <a:pt x="1245" y="413"/>
                  <a:pt x="1198" y="445"/>
                  <a:pt x="1120" y="443"/>
                </a:cubicBezTo>
                <a:cubicBezTo>
                  <a:pt x="1021" y="439"/>
                  <a:pt x="969" y="384"/>
                  <a:pt x="966" y="278"/>
                </a:cubicBezTo>
                <a:cubicBezTo>
                  <a:pt x="971" y="167"/>
                  <a:pt x="1021" y="109"/>
                  <a:pt x="1118" y="105"/>
                </a:cubicBezTo>
                <a:cubicBezTo>
                  <a:pt x="1213" y="107"/>
                  <a:pt x="1262" y="165"/>
                  <a:pt x="1265" y="278"/>
                </a:cubicBezTo>
                <a:cubicBezTo>
                  <a:pt x="1265" y="284"/>
                  <a:pt x="1265" y="288"/>
                  <a:pt x="1265" y="289"/>
                </a:cubicBezTo>
                <a:lnTo>
                  <a:pt x="1018" y="289"/>
                </a:lnTo>
                <a:cubicBezTo>
                  <a:pt x="1021" y="362"/>
                  <a:pt x="1054" y="401"/>
                  <a:pt x="1118" y="405"/>
                </a:cubicBezTo>
                <a:cubicBezTo>
                  <a:pt x="1169" y="405"/>
                  <a:pt x="1200" y="382"/>
                  <a:pt x="1214" y="334"/>
                </a:cubicBezTo>
                <a:close/>
                <a:moveTo>
                  <a:pt x="1626" y="227"/>
                </a:moveTo>
                <a:lnTo>
                  <a:pt x="1626" y="434"/>
                </a:lnTo>
                <a:lnTo>
                  <a:pt x="1580" y="434"/>
                </a:lnTo>
                <a:lnTo>
                  <a:pt x="1580" y="234"/>
                </a:lnTo>
                <a:cubicBezTo>
                  <a:pt x="1578" y="174"/>
                  <a:pt x="1553" y="144"/>
                  <a:pt x="1504" y="142"/>
                </a:cubicBezTo>
                <a:cubicBezTo>
                  <a:pt x="1446" y="150"/>
                  <a:pt x="1414" y="181"/>
                  <a:pt x="1408" y="236"/>
                </a:cubicBezTo>
                <a:lnTo>
                  <a:pt x="1408" y="434"/>
                </a:lnTo>
                <a:lnTo>
                  <a:pt x="1361" y="436"/>
                </a:lnTo>
                <a:lnTo>
                  <a:pt x="1361" y="111"/>
                </a:lnTo>
                <a:lnTo>
                  <a:pt x="1408" y="111"/>
                </a:lnTo>
                <a:lnTo>
                  <a:pt x="1408" y="160"/>
                </a:lnTo>
                <a:cubicBezTo>
                  <a:pt x="1433" y="123"/>
                  <a:pt x="1469" y="104"/>
                  <a:pt x="1515" y="102"/>
                </a:cubicBezTo>
                <a:cubicBezTo>
                  <a:pt x="1589" y="102"/>
                  <a:pt x="1626" y="144"/>
                  <a:pt x="1626" y="227"/>
                </a:cubicBezTo>
                <a:close/>
                <a:moveTo>
                  <a:pt x="1859" y="407"/>
                </a:moveTo>
                <a:lnTo>
                  <a:pt x="1868" y="432"/>
                </a:lnTo>
                <a:cubicBezTo>
                  <a:pt x="1853" y="438"/>
                  <a:pt x="1836" y="441"/>
                  <a:pt x="1818" y="441"/>
                </a:cubicBezTo>
                <a:cubicBezTo>
                  <a:pt x="1772" y="442"/>
                  <a:pt x="1750" y="419"/>
                  <a:pt x="1752" y="370"/>
                </a:cubicBezTo>
                <a:lnTo>
                  <a:pt x="1752" y="151"/>
                </a:lnTo>
                <a:lnTo>
                  <a:pt x="1707" y="151"/>
                </a:lnTo>
                <a:lnTo>
                  <a:pt x="1707" y="111"/>
                </a:lnTo>
                <a:lnTo>
                  <a:pt x="1752" y="111"/>
                </a:lnTo>
                <a:lnTo>
                  <a:pt x="1752" y="24"/>
                </a:lnTo>
                <a:lnTo>
                  <a:pt x="1798" y="0"/>
                </a:lnTo>
                <a:lnTo>
                  <a:pt x="1798" y="111"/>
                </a:lnTo>
                <a:lnTo>
                  <a:pt x="1859" y="111"/>
                </a:lnTo>
                <a:lnTo>
                  <a:pt x="1859" y="151"/>
                </a:lnTo>
                <a:lnTo>
                  <a:pt x="1798" y="151"/>
                </a:lnTo>
                <a:lnTo>
                  <a:pt x="1798" y="370"/>
                </a:lnTo>
                <a:cubicBezTo>
                  <a:pt x="1797" y="398"/>
                  <a:pt x="1809" y="411"/>
                  <a:pt x="1834" y="410"/>
                </a:cubicBezTo>
                <a:cubicBezTo>
                  <a:pt x="1843" y="410"/>
                  <a:pt x="1851" y="409"/>
                  <a:pt x="1859" y="407"/>
                </a:cubicBezTo>
                <a:close/>
                <a:moveTo>
                  <a:pt x="2131" y="203"/>
                </a:moveTo>
                <a:lnTo>
                  <a:pt x="2180" y="189"/>
                </a:lnTo>
                <a:cubicBezTo>
                  <a:pt x="2167" y="133"/>
                  <a:pt x="2125" y="104"/>
                  <a:pt x="2055" y="102"/>
                </a:cubicBezTo>
                <a:cubicBezTo>
                  <a:pt x="1982" y="105"/>
                  <a:pt x="1943" y="136"/>
                  <a:pt x="1937" y="194"/>
                </a:cubicBezTo>
                <a:cubicBezTo>
                  <a:pt x="1934" y="249"/>
                  <a:pt x="1976" y="281"/>
                  <a:pt x="2062" y="292"/>
                </a:cubicBezTo>
                <a:cubicBezTo>
                  <a:pt x="2118" y="302"/>
                  <a:pt x="2146" y="322"/>
                  <a:pt x="2144" y="352"/>
                </a:cubicBezTo>
                <a:cubicBezTo>
                  <a:pt x="2143" y="387"/>
                  <a:pt x="2115" y="406"/>
                  <a:pt x="2062" y="407"/>
                </a:cubicBezTo>
                <a:cubicBezTo>
                  <a:pt x="2013" y="409"/>
                  <a:pt x="1982" y="384"/>
                  <a:pt x="1970" y="334"/>
                </a:cubicBezTo>
                <a:lnTo>
                  <a:pt x="1924" y="347"/>
                </a:lnTo>
                <a:cubicBezTo>
                  <a:pt x="1941" y="413"/>
                  <a:pt x="1988" y="445"/>
                  <a:pt x="2062" y="443"/>
                </a:cubicBezTo>
                <a:cubicBezTo>
                  <a:pt x="2148" y="442"/>
                  <a:pt x="2192" y="410"/>
                  <a:pt x="2193" y="350"/>
                </a:cubicBezTo>
                <a:cubicBezTo>
                  <a:pt x="2195" y="298"/>
                  <a:pt x="2155" y="265"/>
                  <a:pt x="2075" y="252"/>
                </a:cubicBezTo>
                <a:cubicBezTo>
                  <a:pt x="2014" y="241"/>
                  <a:pt x="1985" y="222"/>
                  <a:pt x="1986" y="194"/>
                </a:cubicBezTo>
                <a:cubicBezTo>
                  <a:pt x="1990" y="162"/>
                  <a:pt x="2014" y="146"/>
                  <a:pt x="2057" y="145"/>
                </a:cubicBezTo>
                <a:cubicBezTo>
                  <a:pt x="2097" y="145"/>
                  <a:pt x="2122" y="164"/>
                  <a:pt x="2131" y="203"/>
                </a:cubicBezTo>
                <a:close/>
              </a:path>
            </a:pathLst>
          </a:custGeom>
          <a:solidFill>
            <a:srgbClr val="4D4D4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lIns="68571" tIns="34285" rIns="68571" bIns="34285"/>
          <a:lstStyle/>
          <a:p>
            <a:endParaRPr lang="zh-CN" altLang="en-US" kern="0" dirty="0">
              <a:latin typeface="Times New Roman" panose="02020603050405020304" pitchFamily="18" charset="0"/>
              <a:cs typeface="Times New Roman" panose="02020603050405020304" pitchFamily="18" charset="0"/>
              <a:sym typeface="+mn-lt"/>
            </a:endParaRPr>
          </a:p>
        </p:txBody>
      </p:sp>
      <p:sp>
        <p:nvSpPr>
          <p:cNvPr id="2" name="Freeform 14">
            <a:extLst>
              <a:ext uri="{FF2B5EF4-FFF2-40B4-BE49-F238E27FC236}">
                <a16:creationId xmlns:a16="http://schemas.microsoft.com/office/drawing/2014/main" id="{5AF90227-4094-00C6-3DA5-566974BB762D}"/>
              </a:ext>
            </a:extLst>
          </p:cNvPr>
          <p:cNvSpPr/>
          <p:nvPr/>
        </p:nvSpPr>
        <p:spPr bwMode="auto">
          <a:xfrm>
            <a:off x="2837214" y="1153050"/>
            <a:ext cx="4797308" cy="454819"/>
          </a:xfrm>
          <a:custGeom>
            <a:avLst/>
            <a:gdLst>
              <a:gd name="T0" fmla="*/ 60743788 w 6963"/>
              <a:gd name="T1" fmla="*/ 0 h 794"/>
              <a:gd name="T2" fmla="*/ 2147483647 w 6963"/>
              <a:gd name="T3" fmla="*/ 0 h 794"/>
              <a:gd name="T4" fmla="*/ 2147483647 w 6963"/>
              <a:gd name="T5" fmla="*/ 50749524 h 794"/>
              <a:gd name="T6" fmla="*/ 2147483647 w 6963"/>
              <a:gd name="T7" fmla="*/ 412413298 h 794"/>
              <a:gd name="T8" fmla="*/ 2147483647 w 6963"/>
              <a:gd name="T9" fmla="*/ 463162822 h 794"/>
              <a:gd name="T10" fmla="*/ 60743788 w 6963"/>
              <a:gd name="T11" fmla="*/ 463162822 h 794"/>
              <a:gd name="T12" fmla="*/ 0 w 6963"/>
              <a:gd name="T13" fmla="*/ 412413298 h 794"/>
              <a:gd name="T14" fmla="*/ 0 w 6963"/>
              <a:gd name="T15" fmla="*/ 50749524 h 794"/>
              <a:gd name="T16" fmla="*/ 60743788 w 6963"/>
              <a:gd name="T17" fmla="*/ 0 h 794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0" t="0" r="r" b="b"/>
            <a:pathLst>
              <a:path w="6963" h="794">
                <a:moveTo>
                  <a:pt x="87" y="0"/>
                </a:moveTo>
                <a:lnTo>
                  <a:pt x="6876" y="0"/>
                </a:lnTo>
                <a:cubicBezTo>
                  <a:pt x="6924" y="0"/>
                  <a:pt x="6963" y="39"/>
                  <a:pt x="6963" y="87"/>
                </a:cubicBezTo>
                <a:lnTo>
                  <a:pt x="6963" y="707"/>
                </a:lnTo>
                <a:cubicBezTo>
                  <a:pt x="6963" y="755"/>
                  <a:pt x="6924" y="794"/>
                  <a:pt x="6876" y="794"/>
                </a:cubicBezTo>
                <a:lnTo>
                  <a:pt x="87" y="794"/>
                </a:lnTo>
                <a:cubicBezTo>
                  <a:pt x="39" y="794"/>
                  <a:pt x="0" y="755"/>
                  <a:pt x="0" y="707"/>
                </a:cubicBezTo>
                <a:lnTo>
                  <a:pt x="0" y="87"/>
                </a:lnTo>
                <a:cubicBezTo>
                  <a:pt x="0" y="39"/>
                  <a:pt x="39" y="0"/>
                  <a:pt x="87" y="0"/>
                </a:cubicBezTo>
                <a:close/>
              </a:path>
            </a:pathLst>
          </a:custGeom>
          <a:gradFill rotWithShape="0">
            <a:gsLst>
              <a:gs pos="0">
                <a:srgbClr val="F8F8F8"/>
              </a:gs>
              <a:gs pos="100000">
                <a:srgbClr val="EAEAEA"/>
              </a:gs>
            </a:gsLst>
            <a:lin ang="5400000"/>
          </a:gradFill>
          <a:ln w="10" cap="flat" cmpd="sng">
            <a:solidFill>
              <a:srgbClr val="DFDFE1"/>
            </a:solidFill>
            <a:rou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68563" tIns="34281" rIns="68563" bIns="34281"/>
          <a:lstStyle/>
          <a:p>
            <a:endParaRPr lang="zh-CN" altLang="en-US"/>
          </a:p>
        </p:txBody>
      </p:sp>
      <p:sp>
        <p:nvSpPr>
          <p:cNvPr id="3" name="Freeform 15">
            <a:extLst>
              <a:ext uri="{FF2B5EF4-FFF2-40B4-BE49-F238E27FC236}">
                <a16:creationId xmlns:a16="http://schemas.microsoft.com/office/drawing/2014/main" id="{BA73EA3E-905A-D665-36CA-088DB15C025F}"/>
              </a:ext>
            </a:extLst>
          </p:cNvPr>
          <p:cNvSpPr/>
          <p:nvPr/>
        </p:nvSpPr>
        <p:spPr bwMode="auto">
          <a:xfrm>
            <a:off x="2945520" y="1073278"/>
            <a:ext cx="593889" cy="73819"/>
          </a:xfrm>
          <a:custGeom>
            <a:avLst/>
            <a:gdLst>
              <a:gd name="T0" fmla="*/ 58241460 w 1038"/>
              <a:gd name="T1" fmla="*/ 0 h 127"/>
              <a:gd name="T2" fmla="*/ 546306357 w 1038"/>
              <a:gd name="T3" fmla="*/ 0 h 127"/>
              <a:gd name="T4" fmla="*/ 604547817 w 1038"/>
              <a:gd name="T5" fmla="*/ 76279375 h 127"/>
              <a:gd name="T6" fmla="*/ 0 w 1038"/>
              <a:gd name="T7" fmla="*/ 76279375 h 127"/>
              <a:gd name="T8" fmla="*/ 58241460 w 1038"/>
              <a:gd name="T9" fmla="*/ 0 h 127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038" h="127">
                <a:moveTo>
                  <a:pt x="100" y="0"/>
                </a:moveTo>
                <a:lnTo>
                  <a:pt x="938" y="0"/>
                </a:lnTo>
                <a:lnTo>
                  <a:pt x="1038" y="127"/>
                </a:lnTo>
                <a:lnTo>
                  <a:pt x="0" y="127"/>
                </a:lnTo>
                <a:lnTo>
                  <a:pt x="100" y="0"/>
                </a:lnTo>
                <a:close/>
              </a:path>
            </a:pathLst>
          </a:custGeom>
          <a:solidFill>
            <a:schemeClr val="accent5">
              <a:lumMod val="50000"/>
            </a:schemeClr>
          </a:solidFill>
          <a:ln>
            <a:noFill/>
          </a:ln>
        </p:spPr>
        <p:txBody>
          <a:bodyPr lIns="68563" tIns="34281" rIns="68563" bIns="34281"/>
          <a:lstStyle/>
          <a:p>
            <a:endParaRPr lang="zh-CN" altLang="en-US"/>
          </a:p>
        </p:txBody>
      </p:sp>
      <p:sp>
        <p:nvSpPr>
          <p:cNvPr id="5" name="Rectangle 16">
            <a:extLst>
              <a:ext uri="{FF2B5EF4-FFF2-40B4-BE49-F238E27FC236}">
                <a16:creationId xmlns:a16="http://schemas.microsoft.com/office/drawing/2014/main" id="{F45DE5BF-587D-FCF7-FDDB-26B2639CE5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02645" y="1073279"/>
            <a:ext cx="478444" cy="477441"/>
          </a:xfrm>
          <a:prstGeom prst="rect">
            <a:avLst/>
          </a:prstGeom>
          <a:solidFill>
            <a:srgbClr val="134F85"/>
          </a:solidFill>
          <a:ln>
            <a:noFill/>
          </a:ln>
        </p:spPr>
        <p:txBody>
          <a:bodyPr lIns="68563" tIns="34281" rIns="68563" bIns="34281"/>
          <a:lstStyle/>
          <a:p>
            <a:pPr>
              <a:buFontTx/>
              <a:buNone/>
            </a:pPr>
            <a:endParaRPr lang="zh-CN" altLang="en-US"/>
          </a:p>
        </p:txBody>
      </p:sp>
      <p:sp>
        <p:nvSpPr>
          <p:cNvPr id="6" name="TextBox 63">
            <a:extLst>
              <a:ext uri="{FF2B5EF4-FFF2-40B4-BE49-F238E27FC236}">
                <a16:creationId xmlns:a16="http://schemas.microsoft.com/office/drawing/2014/main" id="{F9A79DD4-6E64-15C0-11CA-3B853B0AAB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59641" y="1214963"/>
            <a:ext cx="3078420" cy="4077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8563" tIns="34281" rIns="68563" bIns="34281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200" b="1" kern="0" dirty="0">
                <a:solidFill>
                  <a:srgbClr val="104E87"/>
                </a:solidFill>
                <a:latin typeface="华光淡古印_CNKI" panose="02000500000000000000" pitchFamily="2" charset="-122"/>
                <a:ea typeface="华光淡古印_CNKI" panose="02000500000000000000" pitchFamily="2" charset="-122"/>
                <a:cs typeface="+mn-ea"/>
                <a:sym typeface="+mn-lt"/>
              </a:rPr>
              <a:t>面向对象的基本特点</a:t>
            </a:r>
            <a:endParaRPr lang="zh-CN" altLang="en-US" sz="2400" b="1" kern="0" dirty="0">
              <a:solidFill>
                <a:srgbClr val="104E87"/>
              </a:solidFill>
              <a:latin typeface="华光淡古印_CNKI" panose="02000500000000000000" pitchFamily="2" charset="-122"/>
              <a:ea typeface="华光淡古印_CNKI" panose="02000500000000000000" pitchFamily="2" charset="-122"/>
              <a:cs typeface="+mn-ea"/>
              <a:sym typeface="+mn-lt"/>
            </a:endParaRPr>
          </a:p>
        </p:txBody>
      </p:sp>
      <p:sp>
        <p:nvSpPr>
          <p:cNvPr id="7" name="TextBox 81">
            <a:extLst>
              <a:ext uri="{FF2B5EF4-FFF2-40B4-BE49-F238E27FC236}">
                <a16:creationId xmlns:a16="http://schemas.microsoft.com/office/drawing/2014/main" id="{CBACE37A-8581-4BA4-B385-AC3589565D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66916" y="1063755"/>
            <a:ext cx="311589" cy="4847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8563" tIns="34281" rIns="68563" bIns="34281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zh-CN" sz="27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endParaRPr lang="zh-CN" altLang="en-US" sz="2700" b="1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8" name="Freeform 17">
            <a:extLst>
              <a:ext uri="{FF2B5EF4-FFF2-40B4-BE49-F238E27FC236}">
                <a16:creationId xmlns:a16="http://schemas.microsoft.com/office/drawing/2014/main" id="{5656CD8F-BBB5-7EC8-8203-7FC128BF1D70}"/>
              </a:ext>
            </a:extLst>
          </p:cNvPr>
          <p:cNvSpPr/>
          <p:nvPr/>
        </p:nvSpPr>
        <p:spPr bwMode="auto">
          <a:xfrm>
            <a:off x="2837214" y="1737614"/>
            <a:ext cx="4797308" cy="454819"/>
          </a:xfrm>
          <a:custGeom>
            <a:avLst/>
            <a:gdLst>
              <a:gd name="T0" fmla="*/ 60743788 w 6963"/>
              <a:gd name="T1" fmla="*/ 0 h 794"/>
              <a:gd name="T2" fmla="*/ 2147483647 w 6963"/>
              <a:gd name="T3" fmla="*/ 0 h 794"/>
              <a:gd name="T4" fmla="*/ 2147483647 w 6963"/>
              <a:gd name="T5" fmla="*/ 50749524 h 794"/>
              <a:gd name="T6" fmla="*/ 2147483647 w 6963"/>
              <a:gd name="T7" fmla="*/ 412413298 h 794"/>
              <a:gd name="T8" fmla="*/ 2147483647 w 6963"/>
              <a:gd name="T9" fmla="*/ 463162822 h 794"/>
              <a:gd name="T10" fmla="*/ 60743788 w 6963"/>
              <a:gd name="T11" fmla="*/ 463162822 h 794"/>
              <a:gd name="T12" fmla="*/ 0 w 6963"/>
              <a:gd name="T13" fmla="*/ 412413298 h 794"/>
              <a:gd name="T14" fmla="*/ 0 w 6963"/>
              <a:gd name="T15" fmla="*/ 50749524 h 794"/>
              <a:gd name="T16" fmla="*/ 60743788 w 6963"/>
              <a:gd name="T17" fmla="*/ 0 h 794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0" t="0" r="r" b="b"/>
            <a:pathLst>
              <a:path w="6963" h="794">
                <a:moveTo>
                  <a:pt x="87" y="0"/>
                </a:moveTo>
                <a:lnTo>
                  <a:pt x="6876" y="0"/>
                </a:lnTo>
                <a:cubicBezTo>
                  <a:pt x="6924" y="0"/>
                  <a:pt x="6963" y="39"/>
                  <a:pt x="6963" y="87"/>
                </a:cubicBezTo>
                <a:lnTo>
                  <a:pt x="6963" y="707"/>
                </a:lnTo>
                <a:cubicBezTo>
                  <a:pt x="6963" y="755"/>
                  <a:pt x="6924" y="794"/>
                  <a:pt x="6876" y="794"/>
                </a:cubicBezTo>
                <a:lnTo>
                  <a:pt x="87" y="794"/>
                </a:lnTo>
                <a:cubicBezTo>
                  <a:pt x="39" y="794"/>
                  <a:pt x="0" y="755"/>
                  <a:pt x="0" y="707"/>
                </a:cubicBezTo>
                <a:lnTo>
                  <a:pt x="0" y="87"/>
                </a:lnTo>
                <a:cubicBezTo>
                  <a:pt x="0" y="39"/>
                  <a:pt x="39" y="0"/>
                  <a:pt x="87" y="0"/>
                </a:cubicBezTo>
                <a:close/>
              </a:path>
            </a:pathLst>
          </a:custGeom>
          <a:gradFill rotWithShape="0">
            <a:gsLst>
              <a:gs pos="0">
                <a:srgbClr val="F8F8F8"/>
              </a:gs>
              <a:gs pos="100000">
                <a:srgbClr val="EAEAEA"/>
              </a:gs>
            </a:gsLst>
            <a:lin ang="5400000"/>
          </a:gradFill>
          <a:ln w="10" cap="flat" cmpd="sng">
            <a:solidFill>
              <a:srgbClr val="DFDFE1"/>
            </a:solidFill>
            <a:rou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68563" tIns="34281" rIns="68563" bIns="34281"/>
          <a:lstStyle/>
          <a:p>
            <a:endParaRPr lang="zh-CN" altLang="en-US"/>
          </a:p>
        </p:txBody>
      </p:sp>
      <p:sp>
        <p:nvSpPr>
          <p:cNvPr id="9" name="Freeform 18">
            <a:extLst>
              <a:ext uri="{FF2B5EF4-FFF2-40B4-BE49-F238E27FC236}">
                <a16:creationId xmlns:a16="http://schemas.microsoft.com/office/drawing/2014/main" id="{17844E38-462B-E642-F122-CCFF6C188B51}"/>
              </a:ext>
            </a:extLst>
          </p:cNvPr>
          <p:cNvSpPr/>
          <p:nvPr/>
        </p:nvSpPr>
        <p:spPr bwMode="auto">
          <a:xfrm>
            <a:off x="2945520" y="1657842"/>
            <a:ext cx="593889" cy="73819"/>
          </a:xfrm>
          <a:custGeom>
            <a:avLst/>
            <a:gdLst>
              <a:gd name="T0" fmla="*/ 58241460 w 1038"/>
              <a:gd name="T1" fmla="*/ 0 h 127"/>
              <a:gd name="T2" fmla="*/ 546306357 w 1038"/>
              <a:gd name="T3" fmla="*/ 0 h 127"/>
              <a:gd name="T4" fmla="*/ 604547817 w 1038"/>
              <a:gd name="T5" fmla="*/ 76279375 h 127"/>
              <a:gd name="T6" fmla="*/ 0 w 1038"/>
              <a:gd name="T7" fmla="*/ 76279375 h 127"/>
              <a:gd name="T8" fmla="*/ 58241460 w 1038"/>
              <a:gd name="T9" fmla="*/ 0 h 127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038" h="127">
                <a:moveTo>
                  <a:pt x="100" y="0"/>
                </a:moveTo>
                <a:lnTo>
                  <a:pt x="938" y="0"/>
                </a:lnTo>
                <a:lnTo>
                  <a:pt x="1038" y="127"/>
                </a:lnTo>
                <a:lnTo>
                  <a:pt x="0" y="127"/>
                </a:lnTo>
                <a:lnTo>
                  <a:pt x="100" y="0"/>
                </a:lnTo>
                <a:close/>
              </a:path>
            </a:pathLst>
          </a:custGeom>
          <a:solidFill>
            <a:schemeClr val="accent5">
              <a:lumMod val="50000"/>
            </a:schemeClr>
          </a:solidFill>
          <a:ln>
            <a:noFill/>
          </a:ln>
        </p:spPr>
        <p:txBody>
          <a:bodyPr lIns="68563" tIns="34281" rIns="68563" bIns="34281"/>
          <a:lstStyle/>
          <a:p>
            <a:endParaRPr lang="zh-CN" altLang="en-US"/>
          </a:p>
        </p:txBody>
      </p:sp>
      <p:sp>
        <p:nvSpPr>
          <p:cNvPr id="10" name="Rectangle 19">
            <a:extLst>
              <a:ext uri="{FF2B5EF4-FFF2-40B4-BE49-F238E27FC236}">
                <a16:creationId xmlns:a16="http://schemas.microsoft.com/office/drawing/2014/main" id="{A296CA31-A18C-B6C5-F17D-0903353D2D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02645" y="1657842"/>
            <a:ext cx="478444" cy="477441"/>
          </a:xfrm>
          <a:prstGeom prst="rect">
            <a:avLst/>
          </a:prstGeom>
          <a:solidFill>
            <a:srgbClr val="134F85"/>
          </a:solidFill>
          <a:ln>
            <a:noFill/>
          </a:ln>
        </p:spPr>
        <p:txBody>
          <a:bodyPr lIns="68563" tIns="34281" rIns="68563" bIns="34281"/>
          <a:lstStyle/>
          <a:p>
            <a:pPr>
              <a:buFontTx/>
              <a:buNone/>
            </a:pPr>
            <a:endParaRPr lang="zh-CN" altLang="en-US"/>
          </a:p>
        </p:txBody>
      </p:sp>
      <p:sp>
        <p:nvSpPr>
          <p:cNvPr id="11" name="TextBox 82">
            <a:extLst>
              <a:ext uri="{FF2B5EF4-FFF2-40B4-BE49-F238E27FC236}">
                <a16:creationId xmlns:a16="http://schemas.microsoft.com/office/drawing/2014/main" id="{33D007C7-4779-FA34-CB34-DF490891E8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59641" y="1793571"/>
            <a:ext cx="1375983" cy="438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8563" tIns="34281" rIns="68563" bIns="34281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 kern="0" dirty="0">
                <a:solidFill>
                  <a:srgbClr val="104E87"/>
                </a:solidFill>
                <a:latin typeface="华光淡古印_CNKI" panose="02000500000000000000" pitchFamily="2" charset="-122"/>
                <a:ea typeface="华光淡古印_CNKI" panose="02000500000000000000" pitchFamily="2" charset="-122"/>
                <a:cs typeface="+mn-ea"/>
                <a:sym typeface="+mn-lt"/>
              </a:rPr>
              <a:t>类与对象</a:t>
            </a:r>
          </a:p>
        </p:txBody>
      </p:sp>
      <p:sp>
        <p:nvSpPr>
          <p:cNvPr id="12" name="TextBox 83">
            <a:extLst>
              <a:ext uri="{FF2B5EF4-FFF2-40B4-BE49-F238E27FC236}">
                <a16:creationId xmlns:a16="http://schemas.microsoft.com/office/drawing/2014/main" id="{6476F220-E809-894D-7D76-206E8FEB71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66916" y="1670938"/>
            <a:ext cx="311589" cy="4847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8563" tIns="34281" rIns="68563" bIns="34281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zh-CN" sz="27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endParaRPr lang="zh-CN" altLang="en-US" sz="2700" b="1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3" name="Freeform 20">
            <a:extLst>
              <a:ext uri="{FF2B5EF4-FFF2-40B4-BE49-F238E27FC236}">
                <a16:creationId xmlns:a16="http://schemas.microsoft.com/office/drawing/2014/main" id="{97D41ADE-B508-670D-2C75-5C6F2D3779EE}"/>
              </a:ext>
            </a:extLst>
          </p:cNvPr>
          <p:cNvSpPr/>
          <p:nvPr/>
        </p:nvSpPr>
        <p:spPr bwMode="auto">
          <a:xfrm>
            <a:off x="2837214" y="2282146"/>
            <a:ext cx="4797308" cy="454819"/>
          </a:xfrm>
          <a:custGeom>
            <a:avLst/>
            <a:gdLst>
              <a:gd name="T0" fmla="*/ 60743788 w 6963"/>
              <a:gd name="T1" fmla="*/ 0 h 794"/>
              <a:gd name="T2" fmla="*/ 2147483647 w 6963"/>
              <a:gd name="T3" fmla="*/ 0 h 794"/>
              <a:gd name="T4" fmla="*/ 2147483647 w 6963"/>
              <a:gd name="T5" fmla="*/ 50749524 h 794"/>
              <a:gd name="T6" fmla="*/ 2147483647 w 6963"/>
              <a:gd name="T7" fmla="*/ 412413298 h 794"/>
              <a:gd name="T8" fmla="*/ 2147483647 w 6963"/>
              <a:gd name="T9" fmla="*/ 463162822 h 794"/>
              <a:gd name="T10" fmla="*/ 60743788 w 6963"/>
              <a:gd name="T11" fmla="*/ 463162822 h 794"/>
              <a:gd name="T12" fmla="*/ 0 w 6963"/>
              <a:gd name="T13" fmla="*/ 412413298 h 794"/>
              <a:gd name="T14" fmla="*/ 0 w 6963"/>
              <a:gd name="T15" fmla="*/ 50749524 h 794"/>
              <a:gd name="T16" fmla="*/ 60743788 w 6963"/>
              <a:gd name="T17" fmla="*/ 0 h 794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0" t="0" r="r" b="b"/>
            <a:pathLst>
              <a:path w="6963" h="794">
                <a:moveTo>
                  <a:pt x="87" y="0"/>
                </a:moveTo>
                <a:lnTo>
                  <a:pt x="6876" y="0"/>
                </a:lnTo>
                <a:cubicBezTo>
                  <a:pt x="6924" y="0"/>
                  <a:pt x="6963" y="39"/>
                  <a:pt x="6963" y="87"/>
                </a:cubicBezTo>
                <a:lnTo>
                  <a:pt x="6963" y="707"/>
                </a:lnTo>
                <a:cubicBezTo>
                  <a:pt x="6963" y="755"/>
                  <a:pt x="6924" y="794"/>
                  <a:pt x="6876" y="794"/>
                </a:cubicBezTo>
                <a:lnTo>
                  <a:pt x="87" y="794"/>
                </a:lnTo>
                <a:cubicBezTo>
                  <a:pt x="39" y="794"/>
                  <a:pt x="0" y="755"/>
                  <a:pt x="0" y="707"/>
                </a:cubicBezTo>
                <a:lnTo>
                  <a:pt x="0" y="87"/>
                </a:lnTo>
                <a:cubicBezTo>
                  <a:pt x="0" y="39"/>
                  <a:pt x="39" y="0"/>
                  <a:pt x="87" y="0"/>
                </a:cubicBezTo>
                <a:close/>
              </a:path>
            </a:pathLst>
          </a:custGeom>
          <a:gradFill rotWithShape="0">
            <a:gsLst>
              <a:gs pos="0">
                <a:srgbClr val="F8F8F8"/>
              </a:gs>
              <a:gs pos="100000">
                <a:srgbClr val="EAEAEA"/>
              </a:gs>
            </a:gsLst>
            <a:lin ang="5400000"/>
          </a:gradFill>
          <a:ln w="10" cap="flat" cmpd="sng">
            <a:solidFill>
              <a:srgbClr val="DFDFE1"/>
            </a:solidFill>
            <a:rou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68563" tIns="34281" rIns="68563" bIns="34281"/>
          <a:lstStyle/>
          <a:p>
            <a:endParaRPr lang="zh-CN" altLang="en-US"/>
          </a:p>
        </p:txBody>
      </p:sp>
      <p:sp>
        <p:nvSpPr>
          <p:cNvPr id="14" name="Freeform 21">
            <a:extLst>
              <a:ext uri="{FF2B5EF4-FFF2-40B4-BE49-F238E27FC236}">
                <a16:creationId xmlns:a16="http://schemas.microsoft.com/office/drawing/2014/main" id="{5455B026-5C52-1680-D8CF-9B26F250E6C7}"/>
              </a:ext>
            </a:extLst>
          </p:cNvPr>
          <p:cNvSpPr/>
          <p:nvPr/>
        </p:nvSpPr>
        <p:spPr bwMode="auto">
          <a:xfrm>
            <a:off x="2945520" y="2201184"/>
            <a:ext cx="593889" cy="75009"/>
          </a:xfrm>
          <a:custGeom>
            <a:avLst/>
            <a:gdLst>
              <a:gd name="T0" fmla="*/ 58241460 w 1038"/>
              <a:gd name="T1" fmla="*/ 0 h 128"/>
              <a:gd name="T2" fmla="*/ 546306357 w 1038"/>
              <a:gd name="T3" fmla="*/ 0 h 128"/>
              <a:gd name="T4" fmla="*/ 604547817 w 1038"/>
              <a:gd name="T5" fmla="*/ 78143751 h 128"/>
              <a:gd name="T6" fmla="*/ 0 w 1038"/>
              <a:gd name="T7" fmla="*/ 78143751 h 128"/>
              <a:gd name="T8" fmla="*/ 58241460 w 1038"/>
              <a:gd name="T9" fmla="*/ 0 h 12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038" h="128">
                <a:moveTo>
                  <a:pt x="100" y="0"/>
                </a:moveTo>
                <a:lnTo>
                  <a:pt x="938" y="0"/>
                </a:lnTo>
                <a:lnTo>
                  <a:pt x="1038" y="128"/>
                </a:lnTo>
                <a:lnTo>
                  <a:pt x="0" y="128"/>
                </a:lnTo>
                <a:lnTo>
                  <a:pt x="100" y="0"/>
                </a:lnTo>
                <a:close/>
              </a:path>
            </a:pathLst>
          </a:custGeom>
          <a:solidFill>
            <a:schemeClr val="accent5">
              <a:lumMod val="50000"/>
            </a:schemeClr>
          </a:solidFill>
          <a:ln>
            <a:noFill/>
          </a:ln>
        </p:spPr>
        <p:txBody>
          <a:bodyPr lIns="68563" tIns="34281" rIns="68563" bIns="34281"/>
          <a:lstStyle/>
          <a:p>
            <a:endParaRPr lang="zh-CN" altLang="en-US"/>
          </a:p>
        </p:txBody>
      </p:sp>
      <p:sp>
        <p:nvSpPr>
          <p:cNvPr id="15" name="Rectangle 22">
            <a:extLst>
              <a:ext uri="{FF2B5EF4-FFF2-40B4-BE49-F238E27FC236}">
                <a16:creationId xmlns:a16="http://schemas.microsoft.com/office/drawing/2014/main" id="{5BF80A30-85F7-D474-6ACE-61ED21ED07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02645" y="2201184"/>
            <a:ext cx="478444" cy="478631"/>
          </a:xfrm>
          <a:prstGeom prst="rect">
            <a:avLst/>
          </a:prstGeom>
          <a:solidFill>
            <a:srgbClr val="134F85"/>
          </a:solidFill>
          <a:ln>
            <a:noFill/>
          </a:ln>
        </p:spPr>
        <p:txBody>
          <a:bodyPr lIns="68563" tIns="34281" rIns="68563" bIns="34281"/>
          <a:lstStyle/>
          <a:p>
            <a:pPr>
              <a:buFontTx/>
              <a:buNone/>
            </a:pPr>
            <a:endParaRPr lang="zh-CN" altLang="en-US"/>
          </a:p>
        </p:txBody>
      </p:sp>
      <p:sp>
        <p:nvSpPr>
          <p:cNvPr id="16" name="TextBox 84">
            <a:extLst>
              <a:ext uri="{FF2B5EF4-FFF2-40B4-BE49-F238E27FC236}">
                <a16:creationId xmlns:a16="http://schemas.microsoft.com/office/drawing/2014/main" id="{1DE318E8-25F2-E8B6-A75C-EA7C0E79A8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59641" y="2330960"/>
            <a:ext cx="2692049" cy="4077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8563" tIns="34281" rIns="68563" bIns="34281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200" b="1" kern="0" dirty="0">
                <a:solidFill>
                  <a:srgbClr val="104E87"/>
                </a:solidFill>
                <a:latin typeface="华光淡古印_CNKI" panose="02000500000000000000" pitchFamily="2" charset="-122"/>
                <a:ea typeface="华光淡古印_CNKI" panose="02000500000000000000" pitchFamily="2" charset="-122"/>
                <a:cs typeface="+mn-ea"/>
                <a:sym typeface="+mn-lt"/>
              </a:rPr>
              <a:t>构造函数与析构函数</a:t>
            </a:r>
            <a:endParaRPr lang="zh-CN" altLang="en-US" b="1" kern="0" dirty="0">
              <a:solidFill>
                <a:srgbClr val="104E87"/>
              </a:solidFill>
              <a:latin typeface="华光淡古印_CNKI" panose="02000500000000000000" pitchFamily="2" charset="-122"/>
              <a:ea typeface="华光淡古印_CNKI" panose="02000500000000000000" pitchFamily="2" charset="-122"/>
              <a:cs typeface="+mn-ea"/>
              <a:sym typeface="+mn-lt"/>
            </a:endParaRPr>
          </a:p>
        </p:txBody>
      </p:sp>
      <p:sp>
        <p:nvSpPr>
          <p:cNvPr id="17" name="TextBox 85">
            <a:extLst>
              <a:ext uri="{FF2B5EF4-FFF2-40B4-BE49-F238E27FC236}">
                <a16:creationId xmlns:a16="http://schemas.microsoft.com/office/drawing/2014/main" id="{D876E13E-16C3-9495-6876-7EF506AD9D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66916" y="2198800"/>
            <a:ext cx="311589" cy="4847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8563" tIns="34281" rIns="68563" bIns="34281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zh-CN" sz="27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3</a:t>
            </a:r>
            <a:endParaRPr lang="zh-CN" altLang="en-US" sz="2700" b="1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8" name="Freeform 23">
            <a:extLst>
              <a:ext uri="{FF2B5EF4-FFF2-40B4-BE49-F238E27FC236}">
                <a16:creationId xmlns:a16="http://schemas.microsoft.com/office/drawing/2014/main" id="{2974B164-B059-97C2-BDFE-BFA2995D9D9F}"/>
              </a:ext>
            </a:extLst>
          </p:cNvPr>
          <p:cNvSpPr/>
          <p:nvPr/>
        </p:nvSpPr>
        <p:spPr bwMode="auto">
          <a:xfrm>
            <a:off x="2837214" y="2866709"/>
            <a:ext cx="4797308" cy="454819"/>
          </a:xfrm>
          <a:custGeom>
            <a:avLst/>
            <a:gdLst>
              <a:gd name="T0" fmla="*/ 60743788 w 6963"/>
              <a:gd name="T1" fmla="*/ 0 h 794"/>
              <a:gd name="T2" fmla="*/ 2147483647 w 6963"/>
              <a:gd name="T3" fmla="*/ 0 h 794"/>
              <a:gd name="T4" fmla="*/ 2147483647 w 6963"/>
              <a:gd name="T5" fmla="*/ 50749524 h 794"/>
              <a:gd name="T6" fmla="*/ 2147483647 w 6963"/>
              <a:gd name="T7" fmla="*/ 412413298 h 794"/>
              <a:gd name="T8" fmla="*/ 2147483647 w 6963"/>
              <a:gd name="T9" fmla="*/ 463162822 h 794"/>
              <a:gd name="T10" fmla="*/ 60743788 w 6963"/>
              <a:gd name="T11" fmla="*/ 463162822 h 794"/>
              <a:gd name="T12" fmla="*/ 0 w 6963"/>
              <a:gd name="T13" fmla="*/ 412413298 h 794"/>
              <a:gd name="T14" fmla="*/ 0 w 6963"/>
              <a:gd name="T15" fmla="*/ 50749524 h 794"/>
              <a:gd name="T16" fmla="*/ 60743788 w 6963"/>
              <a:gd name="T17" fmla="*/ 0 h 794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0" t="0" r="r" b="b"/>
            <a:pathLst>
              <a:path w="6963" h="794">
                <a:moveTo>
                  <a:pt x="87" y="0"/>
                </a:moveTo>
                <a:lnTo>
                  <a:pt x="6876" y="0"/>
                </a:lnTo>
                <a:cubicBezTo>
                  <a:pt x="6924" y="0"/>
                  <a:pt x="6963" y="39"/>
                  <a:pt x="6963" y="87"/>
                </a:cubicBezTo>
                <a:lnTo>
                  <a:pt x="6963" y="707"/>
                </a:lnTo>
                <a:cubicBezTo>
                  <a:pt x="6963" y="755"/>
                  <a:pt x="6924" y="794"/>
                  <a:pt x="6876" y="794"/>
                </a:cubicBezTo>
                <a:lnTo>
                  <a:pt x="87" y="794"/>
                </a:lnTo>
                <a:cubicBezTo>
                  <a:pt x="39" y="794"/>
                  <a:pt x="0" y="755"/>
                  <a:pt x="0" y="707"/>
                </a:cubicBezTo>
                <a:lnTo>
                  <a:pt x="0" y="87"/>
                </a:lnTo>
                <a:cubicBezTo>
                  <a:pt x="0" y="39"/>
                  <a:pt x="39" y="0"/>
                  <a:pt x="87" y="0"/>
                </a:cubicBezTo>
                <a:close/>
              </a:path>
            </a:pathLst>
          </a:custGeom>
          <a:gradFill rotWithShape="0">
            <a:gsLst>
              <a:gs pos="0">
                <a:srgbClr val="F8F8F8"/>
              </a:gs>
              <a:gs pos="100000">
                <a:srgbClr val="EAEAEA"/>
              </a:gs>
            </a:gsLst>
            <a:lin ang="5400000"/>
          </a:gradFill>
          <a:ln w="10" cap="flat" cmpd="sng">
            <a:solidFill>
              <a:srgbClr val="DFDFE1"/>
            </a:solidFill>
            <a:rou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68563" tIns="34281" rIns="68563" bIns="34281"/>
          <a:lstStyle/>
          <a:p>
            <a:endParaRPr lang="zh-CN" altLang="en-US" dirty="0"/>
          </a:p>
        </p:txBody>
      </p:sp>
      <p:sp>
        <p:nvSpPr>
          <p:cNvPr id="19" name="Freeform 24">
            <a:extLst>
              <a:ext uri="{FF2B5EF4-FFF2-40B4-BE49-F238E27FC236}">
                <a16:creationId xmlns:a16="http://schemas.microsoft.com/office/drawing/2014/main" id="{82FF1B37-9285-6E88-70A7-36BB365A9347}"/>
              </a:ext>
            </a:extLst>
          </p:cNvPr>
          <p:cNvSpPr/>
          <p:nvPr/>
        </p:nvSpPr>
        <p:spPr bwMode="auto">
          <a:xfrm>
            <a:off x="2945520" y="2785747"/>
            <a:ext cx="593889" cy="75009"/>
          </a:xfrm>
          <a:custGeom>
            <a:avLst/>
            <a:gdLst>
              <a:gd name="T0" fmla="*/ 58241460 w 1038"/>
              <a:gd name="T1" fmla="*/ 0 h 128"/>
              <a:gd name="T2" fmla="*/ 546306357 w 1038"/>
              <a:gd name="T3" fmla="*/ 0 h 128"/>
              <a:gd name="T4" fmla="*/ 604547817 w 1038"/>
              <a:gd name="T5" fmla="*/ 78143751 h 128"/>
              <a:gd name="T6" fmla="*/ 0 w 1038"/>
              <a:gd name="T7" fmla="*/ 78143751 h 128"/>
              <a:gd name="T8" fmla="*/ 58241460 w 1038"/>
              <a:gd name="T9" fmla="*/ 0 h 12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038" h="128">
                <a:moveTo>
                  <a:pt x="100" y="0"/>
                </a:moveTo>
                <a:lnTo>
                  <a:pt x="938" y="0"/>
                </a:lnTo>
                <a:lnTo>
                  <a:pt x="1038" y="128"/>
                </a:lnTo>
                <a:lnTo>
                  <a:pt x="0" y="128"/>
                </a:lnTo>
                <a:lnTo>
                  <a:pt x="100" y="0"/>
                </a:lnTo>
                <a:close/>
              </a:path>
            </a:pathLst>
          </a:custGeom>
          <a:solidFill>
            <a:schemeClr val="accent5">
              <a:lumMod val="50000"/>
            </a:schemeClr>
          </a:solidFill>
          <a:ln>
            <a:noFill/>
          </a:ln>
        </p:spPr>
        <p:txBody>
          <a:bodyPr lIns="68563" tIns="34281" rIns="68563" bIns="34281"/>
          <a:lstStyle/>
          <a:p>
            <a:endParaRPr lang="zh-CN" altLang="en-US"/>
          </a:p>
        </p:txBody>
      </p:sp>
      <p:sp>
        <p:nvSpPr>
          <p:cNvPr id="20" name="Rectangle 25">
            <a:extLst>
              <a:ext uri="{FF2B5EF4-FFF2-40B4-BE49-F238E27FC236}">
                <a16:creationId xmlns:a16="http://schemas.microsoft.com/office/drawing/2014/main" id="{AAAEB5EA-71F4-8541-075F-46B12F6935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02645" y="2785748"/>
            <a:ext cx="478444" cy="478631"/>
          </a:xfrm>
          <a:prstGeom prst="rect">
            <a:avLst/>
          </a:prstGeom>
          <a:solidFill>
            <a:srgbClr val="134F85"/>
          </a:solidFill>
          <a:ln>
            <a:noFill/>
          </a:ln>
        </p:spPr>
        <p:txBody>
          <a:bodyPr lIns="68563" tIns="34281" rIns="68563" bIns="34281"/>
          <a:lstStyle/>
          <a:p>
            <a:pPr>
              <a:buFontTx/>
              <a:buNone/>
            </a:pPr>
            <a:endParaRPr lang="zh-CN" altLang="en-US"/>
          </a:p>
        </p:txBody>
      </p:sp>
      <p:sp>
        <p:nvSpPr>
          <p:cNvPr id="21" name="TextBox 87">
            <a:extLst>
              <a:ext uri="{FF2B5EF4-FFF2-40B4-BE49-F238E27FC236}">
                <a16:creationId xmlns:a16="http://schemas.microsoft.com/office/drawing/2014/main" id="{8C398CC8-CEAE-4BF6-48F6-05B1BF138D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66916" y="2805988"/>
            <a:ext cx="311589" cy="4847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8563" tIns="34281" rIns="68563" bIns="34281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zh-CN" sz="27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4</a:t>
            </a:r>
            <a:endParaRPr lang="zh-CN" altLang="en-US" sz="2700" b="1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2" name="TextBox 84">
            <a:extLst>
              <a:ext uri="{FF2B5EF4-FFF2-40B4-BE49-F238E27FC236}">
                <a16:creationId xmlns:a16="http://schemas.microsoft.com/office/drawing/2014/main" id="{05B34139-2AC5-2055-F0A7-9BCAD614D6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59641" y="2942268"/>
            <a:ext cx="1010499" cy="4077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8563" tIns="34281" rIns="68563" bIns="34281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200" b="1" kern="0" dirty="0">
                <a:solidFill>
                  <a:srgbClr val="104E87"/>
                </a:solidFill>
                <a:latin typeface="华光淡古印_CNKI" panose="02000500000000000000" pitchFamily="2" charset="-122"/>
                <a:ea typeface="华光淡古印_CNKI" panose="02000500000000000000" pitchFamily="2" charset="-122"/>
                <a:cs typeface="+mn-ea"/>
                <a:sym typeface="+mn-lt"/>
              </a:rPr>
              <a:t>组合类</a:t>
            </a:r>
            <a:endParaRPr lang="zh-CN" altLang="en-US" sz="2000" b="1" kern="0" dirty="0">
              <a:solidFill>
                <a:srgbClr val="104E87"/>
              </a:solidFill>
              <a:latin typeface="华光淡古印_CNKI" panose="02000500000000000000" pitchFamily="2" charset="-122"/>
              <a:ea typeface="华光淡古印_CNKI" panose="02000500000000000000" pitchFamily="2" charset="-122"/>
              <a:cs typeface="+mn-ea"/>
              <a:sym typeface="+mn-lt"/>
            </a:endParaRPr>
          </a:p>
        </p:txBody>
      </p:sp>
      <p:sp>
        <p:nvSpPr>
          <p:cNvPr id="23" name="Freeform 26">
            <a:extLst>
              <a:ext uri="{FF2B5EF4-FFF2-40B4-BE49-F238E27FC236}">
                <a16:creationId xmlns:a16="http://schemas.microsoft.com/office/drawing/2014/main" id="{F5F44AD6-4150-8EBE-BC68-09A8D3447744}"/>
              </a:ext>
            </a:extLst>
          </p:cNvPr>
          <p:cNvSpPr/>
          <p:nvPr/>
        </p:nvSpPr>
        <p:spPr bwMode="auto">
          <a:xfrm>
            <a:off x="2837214" y="3431932"/>
            <a:ext cx="4797308" cy="454819"/>
          </a:xfrm>
          <a:custGeom>
            <a:avLst/>
            <a:gdLst>
              <a:gd name="T0" fmla="*/ 60743788 w 6963"/>
              <a:gd name="T1" fmla="*/ 0 h 794"/>
              <a:gd name="T2" fmla="*/ 2147483647 w 6963"/>
              <a:gd name="T3" fmla="*/ 0 h 794"/>
              <a:gd name="T4" fmla="*/ 2147483647 w 6963"/>
              <a:gd name="T5" fmla="*/ 50166012 h 794"/>
              <a:gd name="T6" fmla="*/ 2147483647 w 6963"/>
              <a:gd name="T7" fmla="*/ 412413298 h 794"/>
              <a:gd name="T8" fmla="*/ 2147483647 w 6963"/>
              <a:gd name="T9" fmla="*/ 463162822 h 794"/>
              <a:gd name="T10" fmla="*/ 60743788 w 6963"/>
              <a:gd name="T11" fmla="*/ 463162822 h 794"/>
              <a:gd name="T12" fmla="*/ 0 w 6963"/>
              <a:gd name="T13" fmla="*/ 412413298 h 794"/>
              <a:gd name="T14" fmla="*/ 0 w 6963"/>
              <a:gd name="T15" fmla="*/ 50166012 h 794"/>
              <a:gd name="T16" fmla="*/ 60743788 w 6963"/>
              <a:gd name="T17" fmla="*/ 0 h 794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0" t="0" r="r" b="b"/>
            <a:pathLst>
              <a:path w="6963" h="794">
                <a:moveTo>
                  <a:pt x="87" y="0"/>
                </a:moveTo>
                <a:lnTo>
                  <a:pt x="6876" y="0"/>
                </a:lnTo>
                <a:cubicBezTo>
                  <a:pt x="6924" y="0"/>
                  <a:pt x="6963" y="39"/>
                  <a:pt x="6963" y="86"/>
                </a:cubicBezTo>
                <a:lnTo>
                  <a:pt x="6963" y="707"/>
                </a:lnTo>
                <a:cubicBezTo>
                  <a:pt x="6963" y="754"/>
                  <a:pt x="6924" y="794"/>
                  <a:pt x="6876" y="794"/>
                </a:cubicBezTo>
                <a:lnTo>
                  <a:pt x="87" y="794"/>
                </a:lnTo>
                <a:cubicBezTo>
                  <a:pt x="39" y="794"/>
                  <a:pt x="0" y="754"/>
                  <a:pt x="0" y="707"/>
                </a:cubicBezTo>
                <a:lnTo>
                  <a:pt x="0" y="86"/>
                </a:lnTo>
                <a:cubicBezTo>
                  <a:pt x="0" y="39"/>
                  <a:pt x="39" y="0"/>
                  <a:pt x="87" y="0"/>
                </a:cubicBezTo>
                <a:close/>
              </a:path>
            </a:pathLst>
          </a:custGeom>
          <a:gradFill rotWithShape="0">
            <a:gsLst>
              <a:gs pos="0">
                <a:srgbClr val="F8F8F8"/>
              </a:gs>
              <a:gs pos="100000">
                <a:srgbClr val="EAEAEA"/>
              </a:gs>
            </a:gsLst>
            <a:lin ang="5400000"/>
          </a:gradFill>
          <a:ln w="10" cap="flat" cmpd="sng">
            <a:solidFill>
              <a:srgbClr val="DFDFE1"/>
            </a:solidFill>
            <a:rou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68563" tIns="34281" rIns="68563" bIns="34281"/>
          <a:lstStyle/>
          <a:p>
            <a:endParaRPr lang="zh-CN" altLang="en-US"/>
          </a:p>
        </p:txBody>
      </p:sp>
      <p:sp>
        <p:nvSpPr>
          <p:cNvPr id="24" name="Freeform 27">
            <a:extLst>
              <a:ext uri="{FF2B5EF4-FFF2-40B4-BE49-F238E27FC236}">
                <a16:creationId xmlns:a16="http://schemas.microsoft.com/office/drawing/2014/main" id="{453AF128-F142-43D3-0646-87705F9551D0}"/>
              </a:ext>
            </a:extLst>
          </p:cNvPr>
          <p:cNvSpPr/>
          <p:nvPr/>
        </p:nvSpPr>
        <p:spPr bwMode="auto">
          <a:xfrm>
            <a:off x="2945520" y="3352159"/>
            <a:ext cx="593889" cy="72628"/>
          </a:xfrm>
          <a:custGeom>
            <a:avLst/>
            <a:gdLst>
              <a:gd name="T0" fmla="*/ 58241460 w 1038"/>
              <a:gd name="T1" fmla="*/ 0 h 127"/>
              <a:gd name="T2" fmla="*/ 546306357 w 1038"/>
              <a:gd name="T3" fmla="*/ 0 h 127"/>
              <a:gd name="T4" fmla="*/ 604547817 w 1038"/>
              <a:gd name="T5" fmla="*/ 73837831 h 127"/>
              <a:gd name="T6" fmla="*/ 0 w 1038"/>
              <a:gd name="T7" fmla="*/ 73837831 h 127"/>
              <a:gd name="T8" fmla="*/ 58241460 w 1038"/>
              <a:gd name="T9" fmla="*/ 0 h 127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038" h="127">
                <a:moveTo>
                  <a:pt x="100" y="0"/>
                </a:moveTo>
                <a:lnTo>
                  <a:pt x="938" y="0"/>
                </a:lnTo>
                <a:lnTo>
                  <a:pt x="1038" y="127"/>
                </a:lnTo>
                <a:lnTo>
                  <a:pt x="0" y="127"/>
                </a:lnTo>
                <a:lnTo>
                  <a:pt x="100" y="0"/>
                </a:lnTo>
                <a:close/>
              </a:path>
            </a:pathLst>
          </a:custGeom>
          <a:solidFill>
            <a:schemeClr val="accent5">
              <a:lumMod val="50000"/>
            </a:schemeClr>
          </a:solidFill>
          <a:ln>
            <a:noFill/>
          </a:ln>
        </p:spPr>
        <p:txBody>
          <a:bodyPr lIns="68563" tIns="34281" rIns="68563" bIns="34281"/>
          <a:lstStyle/>
          <a:p>
            <a:endParaRPr lang="zh-CN" altLang="en-US"/>
          </a:p>
        </p:txBody>
      </p:sp>
      <p:sp>
        <p:nvSpPr>
          <p:cNvPr id="25" name="Rectangle 28">
            <a:extLst>
              <a:ext uri="{FF2B5EF4-FFF2-40B4-BE49-F238E27FC236}">
                <a16:creationId xmlns:a16="http://schemas.microsoft.com/office/drawing/2014/main" id="{49859F6B-B362-9C64-0892-DCE677D222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02645" y="3352157"/>
            <a:ext cx="478444" cy="476251"/>
          </a:xfrm>
          <a:prstGeom prst="rect">
            <a:avLst/>
          </a:prstGeom>
          <a:solidFill>
            <a:srgbClr val="134F85"/>
          </a:solidFill>
          <a:ln>
            <a:noFill/>
          </a:ln>
        </p:spPr>
        <p:txBody>
          <a:bodyPr lIns="68563" tIns="34281" rIns="68563" bIns="34281"/>
          <a:lstStyle/>
          <a:p>
            <a:pPr>
              <a:buFontTx/>
              <a:buNone/>
            </a:pPr>
            <a:endParaRPr lang="zh-CN" altLang="en-US"/>
          </a:p>
        </p:txBody>
      </p:sp>
      <p:sp>
        <p:nvSpPr>
          <p:cNvPr id="26" name="TextBox 88">
            <a:extLst>
              <a:ext uri="{FF2B5EF4-FFF2-40B4-BE49-F238E27FC236}">
                <a16:creationId xmlns:a16="http://schemas.microsoft.com/office/drawing/2014/main" id="{DA917341-1516-129F-71C6-2CC90285BB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54191" y="3460458"/>
            <a:ext cx="1273391" cy="4077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8563" tIns="34281" rIns="68563" bIns="34281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200" b="1" kern="0" dirty="0">
                <a:solidFill>
                  <a:srgbClr val="104E87"/>
                </a:solidFill>
                <a:latin typeface="华光淡古印_CNKI" panose="02000500000000000000" pitchFamily="2" charset="-122"/>
                <a:ea typeface="华光淡古印_CNKI" panose="02000500000000000000" pitchFamily="2" charset="-122"/>
                <a:cs typeface="+mn-ea"/>
                <a:sym typeface="+mn-lt"/>
              </a:rPr>
              <a:t>对象数组</a:t>
            </a:r>
            <a:endParaRPr lang="zh-CN" altLang="en-US" sz="2000" b="1" kern="0" dirty="0">
              <a:solidFill>
                <a:srgbClr val="104E87"/>
              </a:solidFill>
              <a:latin typeface="华光淡古印_CNKI" panose="02000500000000000000" pitchFamily="2" charset="-122"/>
              <a:ea typeface="华光淡古印_CNKI" panose="02000500000000000000" pitchFamily="2" charset="-122"/>
              <a:cs typeface="+mn-ea"/>
              <a:sym typeface="+mn-lt"/>
            </a:endParaRPr>
          </a:p>
        </p:txBody>
      </p:sp>
      <p:sp>
        <p:nvSpPr>
          <p:cNvPr id="27" name="TextBox 89">
            <a:extLst>
              <a:ext uri="{FF2B5EF4-FFF2-40B4-BE49-F238E27FC236}">
                <a16:creationId xmlns:a16="http://schemas.microsoft.com/office/drawing/2014/main" id="{07C2270E-1883-C0D3-0B34-A50F9E8872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66916" y="3366446"/>
            <a:ext cx="311589" cy="4847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8563" tIns="34281" rIns="68563" bIns="34281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zh-CN" sz="27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5</a:t>
            </a:r>
            <a:endParaRPr lang="zh-CN" altLang="en-US" sz="2700" b="1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8" name="Freeform 26">
            <a:extLst>
              <a:ext uri="{FF2B5EF4-FFF2-40B4-BE49-F238E27FC236}">
                <a16:creationId xmlns:a16="http://schemas.microsoft.com/office/drawing/2014/main" id="{4282FE01-5BC3-2F17-9E54-1924A6704D89}"/>
              </a:ext>
            </a:extLst>
          </p:cNvPr>
          <p:cNvSpPr/>
          <p:nvPr/>
        </p:nvSpPr>
        <p:spPr bwMode="auto">
          <a:xfrm>
            <a:off x="2862289" y="4018221"/>
            <a:ext cx="4797308" cy="454819"/>
          </a:xfrm>
          <a:custGeom>
            <a:avLst/>
            <a:gdLst>
              <a:gd name="T0" fmla="*/ 60743788 w 6963"/>
              <a:gd name="T1" fmla="*/ 0 h 794"/>
              <a:gd name="T2" fmla="*/ 2147483647 w 6963"/>
              <a:gd name="T3" fmla="*/ 0 h 794"/>
              <a:gd name="T4" fmla="*/ 2147483647 w 6963"/>
              <a:gd name="T5" fmla="*/ 50166012 h 794"/>
              <a:gd name="T6" fmla="*/ 2147483647 w 6963"/>
              <a:gd name="T7" fmla="*/ 412413298 h 794"/>
              <a:gd name="T8" fmla="*/ 2147483647 w 6963"/>
              <a:gd name="T9" fmla="*/ 463162822 h 794"/>
              <a:gd name="T10" fmla="*/ 60743788 w 6963"/>
              <a:gd name="T11" fmla="*/ 463162822 h 794"/>
              <a:gd name="T12" fmla="*/ 0 w 6963"/>
              <a:gd name="T13" fmla="*/ 412413298 h 794"/>
              <a:gd name="T14" fmla="*/ 0 w 6963"/>
              <a:gd name="T15" fmla="*/ 50166012 h 794"/>
              <a:gd name="T16" fmla="*/ 60743788 w 6963"/>
              <a:gd name="T17" fmla="*/ 0 h 794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0" t="0" r="r" b="b"/>
            <a:pathLst>
              <a:path w="6963" h="794">
                <a:moveTo>
                  <a:pt x="87" y="0"/>
                </a:moveTo>
                <a:lnTo>
                  <a:pt x="6876" y="0"/>
                </a:lnTo>
                <a:cubicBezTo>
                  <a:pt x="6924" y="0"/>
                  <a:pt x="6963" y="39"/>
                  <a:pt x="6963" y="86"/>
                </a:cubicBezTo>
                <a:lnTo>
                  <a:pt x="6963" y="707"/>
                </a:lnTo>
                <a:cubicBezTo>
                  <a:pt x="6963" y="754"/>
                  <a:pt x="6924" y="794"/>
                  <a:pt x="6876" y="794"/>
                </a:cubicBezTo>
                <a:lnTo>
                  <a:pt x="87" y="794"/>
                </a:lnTo>
                <a:cubicBezTo>
                  <a:pt x="39" y="794"/>
                  <a:pt x="0" y="754"/>
                  <a:pt x="0" y="707"/>
                </a:cubicBezTo>
                <a:lnTo>
                  <a:pt x="0" y="86"/>
                </a:lnTo>
                <a:cubicBezTo>
                  <a:pt x="0" y="39"/>
                  <a:pt x="39" y="0"/>
                  <a:pt x="87" y="0"/>
                </a:cubicBezTo>
                <a:close/>
              </a:path>
            </a:pathLst>
          </a:custGeom>
          <a:gradFill rotWithShape="0">
            <a:gsLst>
              <a:gs pos="0">
                <a:srgbClr val="F8F8F8"/>
              </a:gs>
              <a:gs pos="100000">
                <a:srgbClr val="EAEAEA"/>
              </a:gs>
            </a:gsLst>
            <a:lin ang="5400000"/>
          </a:gradFill>
          <a:ln w="10" cap="flat" cmpd="sng">
            <a:solidFill>
              <a:srgbClr val="DFDFE1"/>
            </a:solidFill>
            <a:rou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68563" tIns="34281" rIns="68563" bIns="34281"/>
          <a:lstStyle/>
          <a:p>
            <a:endParaRPr lang="zh-CN" altLang="en-US"/>
          </a:p>
        </p:txBody>
      </p:sp>
      <p:sp>
        <p:nvSpPr>
          <p:cNvPr id="29" name="Freeform 27">
            <a:extLst>
              <a:ext uri="{FF2B5EF4-FFF2-40B4-BE49-F238E27FC236}">
                <a16:creationId xmlns:a16="http://schemas.microsoft.com/office/drawing/2014/main" id="{B447B22B-DB26-4DAB-2088-B0633598E195}"/>
              </a:ext>
            </a:extLst>
          </p:cNvPr>
          <p:cNvSpPr/>
          <p:nvPr/>
        </p:nvSpPr>
        <p:spPr bwMode="auto">
          <a:xfrm>
            <a:off x="2970595" y="3938448"/>
            <a:ext cx="593889" cy="72628"/>
          </a:xfrm>
          <a:custGeom>
            <a:avLst/>
            <a:gdLst>
              <a:gd name="T0" fmla="*/ 58241460 w 1038"/>
              <a:gd name="T1" fmla="*/ 0 h 127"/>
              <a:gd name="T2" fmla="*/ 546306357 w 1038"/>
              <a:gd name="T3" fmla="*/ 0 h 127"/>
              <a:gd name="T4" fmla="*/ 604547817 w 1038"/>
              <a:gd name="T5" fmla="*/ 73837831 h 127"/>
              <a:gd name="T6" fmla="*/ 0 w 1038"/>
              <a:gd name="T7" fmla="*/ 73837831 h 127"/>
              <a:gd name="T8" fmla="*/ 58241460 w 1038"/>
              <a:gd name="T9" fmla="*/ 0 h 127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038" h="127">
                <a:moveTo>
                  <a:pt x="100" y="0"/>
                </a:moveTo>
                <a:lnTo>
                  <a:pt x="938" y="0"/>
                </a:lnTo>
                <a:lnTo>
                  <a:pt x="1038" y="127"/>
                </a:lnTo>
                <a:lnTo>
                  <a:pt x="0" y="127"/>
                </a:lnTo>
                <a:lnTo>
                  <a:pt x="100" y="0"/>
                </a:lnTo>
                <a:close/>
              </a:path>
            </a:pathLst>
          </a:custGeom>
          <a:solidFill>
            <a:schemeClr val="accent5">
              <a:lumMod val="50000"/>
            </a:schemeClr>
          </a:solidFill>
          <a:ln>
            <a:noFill/>
          </a:ln>
        </p:spPr>
        <p:txBody>
          <a:bodyPr lIns="68563" tIns="34281" rIns="68563" bIns="34281"/>
          <a:lstStyle/>
          <a:p>
            <a:endParaRPr lang="zh-CN" altLang="en-US"/>
          </a:p>
        </p:txBody>
      </p:sp>
      <p:sp>
        <p:nvSpPr>
          <p:cNvPr id="30" name="Rectangle 28">
            <a:extLst>
              <a:ext uri="{FF2B5EF4-FFF2-40B4-BE49-F238E27FC236}">
                <a16:creationId xmlns:a16="http://schemas.microsoft.com/office/drawing/2014/main" id="{EFEA3827-C999-B09E-6A4F-9459F90B2F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27720" y="3938446"/>
            <a:ext cx="478444" cy="476251"/>
          </a:xfrm>
          <a:prstGeom prst="rect">
            <a:avLst/>
          </a:prstGeom>
          <a:solidFill>
            <a:srgbClr val="134F85"/>
          </a:solidFill>
          <a:ln>
            <a:noFill/>
          </a:ln>
        </p:spPr>
        <p:txBody>
          <a:bodyPr lIns="68563" tIns="34281" rIns="68563" bIns="34281"/>
          <a:lstStyle/>
          <a:p>
            <a:pPr>
              <a:buFontTx/>
              <a:buNone/>
            </a:pPr>
            <a:endParaRPr lang="zh-CN" altLang="en-US"/>
          </a:p>
        </p:txBody>
      </p:sp>
      <p:sp>
        <p:nvSpPr>
          <p:cNvPr id="31" name="TextBox 88">
            <a:extLst>
              <a:ext uri="{FF2B5EF4-FFF2-40B4-BE49-F238E27FC236}">
                <a16:creationId xmlns:a16="http://schemas.microsoft.com/office/drawing/2014/main" id="{D2C9615C-98D1-A86F-D5E9-EAB6FB7368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79266" y="4046747"/>
            <a:ext cx="2631135" cy="4077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8563" tIns="34281" rIns="68563" bIns="34281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200" b="1" kern="0" dirty="0">
                <a:solidFill>
                  <a:srgbClr val="104E87"/>
                </a:solidFill>
                <a:latin typeface="华光淡古印_CNKI" panose="02000500000000000000" pitchFamily="2" charset="-122"/>
                <a:ea typeface="华光淡古印_CNKI" panose="02000500000000000000" pitchFamily="2" charset="-122"/>
                <a:cs typeface="+mn-ea"/>
                <a:sym typeface="+mn-lt"/>
              </a:rPr>
              <a:t>对象指针</a:t>
            </a:r>
            <a:r>
              <a:rPr lang="en-US" altLang="zh-CN" sz="2200" b="1" kern="0" dirty="0">
                <a:solidFill>
                  <a:srgbClr val="104E87"/>
                </a:solidFill>
                <a:latin typeface="华光淡古印_CNKI" panose="02000500000000000000" pitchFamily="2" charset="-122"/>
                <a:ea typeface="华光淡古印_CNKI" panose="02000500000000000000" pitchFamily="2" charset="-122"/>
                <a:cs typeface="+mn-ea"/>
                <a:sym typeface="+mn-lt"/>
              </a:rPr>
              <a:t>&amp;This</a:t>
            </a:r>
            <a:r>
              <a:rPr lang="zh-CN" altLang="en-US" sz="2200" b="1" kern="0" dirty="0">
                <a:solidFill>
                  <a:srgbClr val="104E87"/>
                </a:solidFill>
                <a:latin typeface="华光淡古印_CNKI" panose="02000500000000000000" pitchFamily="2" charset="-122"/>
                <a:ea typeface="华光淡古印_CNKI" panose="02000500000000000000" pitchFamily="2" charset="-122"/>
                <a:cs typeface="+mn-ea"/>
                <a:sym typeface="+mn-lt"/>
              </a:rPr>
              <a:t>指针</a:t>
            </a:r>
            <a:endParaRPr lang="zh-CN" altLang="en-US" sz="2000" b="1" kern="0" dirty="0">
              <a:solidFill>
                <a:srgbClr val="104E87"/>
              </a:solidFill>
              <a:latin typeface="华光淡古印_CNKI" panose="02000500000000000000" pitchFamily="2" charset="-122"/>
              <a:ea typeface="华光淡古印_CNKI" panose="02000500000000000000" pitchFamily="2" charset="-122"/>
              <a:cs typeface="+mn-ea"/>
              <a:sym typeface="+mn-lt"/>
            </a:endParaRPr>
          </a:p>
        </p:txBody>
      </p:sp>
      <p:sp>
        <p:nvSpPr>
          <p:cNvPr id="32" name="TextBox 89">
            <a:extLst>
              <a:ext uri="{FF2B5EF4-FFF2-40B4-BE49-F238E27FC236}">
                <a16:creationId xmlns:a16="http://schemas.microsoft.com/office/drawing/2014/main" id="{EA41D2F1-3828-628B-F674-5C60F04254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91991" y="3952735"/>
            <a:ext cx="311589" cy="4847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8563" tIns="34281" rIns="68563" bIns="34281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zh-CN" sz="27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6</a:t>
            </a:r>
            <a:endParaRPr lang="zh-CN" altLang="en-US" sz="2700" b="1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3" name="Freeform 26">
            <a:extLst>
              <a:ext uri="{FF2B5EF4-FFF2-40B4-BE49-F238E27FC236}">
                <a16:creationId xmlns:a16="http://schemas.microsoft.com/office/drawing/2014/main" id="{98650C69-4FBA-0B34-7872-F17D02D27AF6}"/>
              </a:ext>
            </a:extLst>
          </p:cNvPr>
          <p:cNvSpPr/>
          <p:nvPr/>
        </p:nvSpPr>
        <p:spPr bwMode="auto">
          <a:xfrm>
            <a:off x="2866044" y="4585229"/>
            <a:ext cx="4797308" cy="454819"/>
          </a:xfrm>
          <a:custGeom>
            <a:avLst/>
            <a:gdLst>
              <a:gd name="T0" fmla="*/ 60743788 w 6963"/>
              <a:gd name="T1" fmla="*/ 0 h 794"/>
              <a:gd name="T2" fmla="*/ 2147483647 w 6963"/>
              <a:gd name="T3" fmla="*/ 0 h 794"/>
              <a:gd name="T4" fmla="*/ 2147483647 w 6963"/>
              <a:gd name="T5" fmla="*/ 50166012 h 794"/>
              <a:gd name="T6" fmla="*/ 2147483647 w 6963"/>
              <a:gd name="T7" fmla="*/ 412413298 h 794"/>
              <a:gd name="T8" fmla="*/ 2147483647 w 6963"/>
              <a:gd name="T9" fmla="*/ 463162822 h 794"/>
              <a:gd name="T10" fmla="*/ 60743788 w 6963"/>
              <a:gd name="T11" fmla="*/ 463162822 h 794"/>
              <a:gd name="T12" fmla="*/ 0 w 6963"/>
              <a:gd name="T13" fmla="*/ 412413298 h 794"/>
              <a:gd name="T14" fmla="*/ 0 w 6963"/>
              <a:gd name="T15" fmla="*/ 50166012 h 794"/>
              <a:gd name="T16" fmla="*/ 60743788 w 6963"/>
              <a:gd name="T17" fmla="*/ 0 h 794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0" t="0" r="r" b="b"/>
            <a:pathLst>
              <a:path w="6963" h="794">
                <a:moveTo>
                  <a:pt x="87" y="0"/>
                </a:moveTo>
                <a:lnTo>
                  <a:pt x="6876" y="0"/>
                </a:lnTo>
                <a:cubicBezTo>
                  <a:pt x="6924" y="0"/>
                  <a:pt x="6963" y="39"/>
                  <a:pt x="6963" y="86"/>
                </a:cubicBezTo>
                <a:lnTo>
                  <a:pt x="6963" y="707"/>
                </a:lnTo>
                <a:cubicBezTo>
                  <a:pt x="6963" y="754"/>
                  <a:pt x="6924" y="794"/>
                  <a:pt x="6876" y="794"/>
                </a:cubicBezTo>
                <a:lnTo>
                  <a:pt x="87" y="794"/>
                </a:lnTo>
                <a:cubicBezTo>
                  <a:pt x="39" y="794"/>
                  <a:pt x="0" y="754"/>
                  <a:pt x="0" y="707"/>
                </a:cubicBezTo>
                <a:lnTo>
                  <a:pt x="0" y="86"/>
                </a:lnTo>
                <a:cubicBezTo>
                  <a:pt x="0" y="39"/>
                  <a:pt x="39" y="0"/>
                  <a:pt x="87" y="0"/>
                </a:cubicBezTo>
                <a:close/>
              </a:path>
            </a:pathLst>
          </a:custGeom>
          <a:gradFill rotWithShape="0">
            <a:gsLst>
              <a:gs pos="0">
                <a:srgbClr val="F8F8F8"/>
              </a:gs>
              <a:gs pos="100000">
                <a:srgbClr val="EAEAEA"/>
              </a:gs>
            </a:gsLst>
            <a:lin ang="5400000"/>
          </a:gradFill>
          <a:ln w="10" cap="flat" cmpd="sng">
            <a:solidFill>
              <a:srgbClr val="DFDFE1"/>
            </a:solidFill>
            <a:rou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68563" tIns="34281" rIns="68563" bIns="34281"/>
          <a:lstStyle/>
          <a:p>
            <a:endParaRPr lang="zh-CN" altLang="en-US"/>
          </a:p>
        </p:txBody>
      </p:sp>
      <p:sp>
        <p:nvSpPr>
          <p:cNvPr id="34" name="Freeform 27">
            <a:extLst>
              <a:ext uri="{FF2B5EF4-FFF2-40B4-BE49-F238E27FC236}">
                <a16:creationId xmlns:a16="http://schemas.microsoft.com/office/drawing/2014/main" id="{CE9E0F11-0DB0-713B-D6BC-FADD1DD3AA82}"/>
              </a:ext>
            </a:extLst>
          </p:cNvPr>
          <p:cNvSpPr/>
          <p:nvPr/>
        </p:nvSpPr>
        <p:spPr bwMode="auto">
          <a:xfrm>
            <a:off x="2974350" y="4505456"/>
            <a:ext cx="593889" cy="72628"/>
          </a:xfrm>
          <a:custGeom>
            <a:avLst/>
            <a:gdLst>
              <a:gd name="T0" fmla="*/ 58241460 w 1038"/>
              <a:gd name="T1" fmla="*/ 0 h 127"/>
              <a:gd name="T2" fmla="*/ 546306357 w 1038"/>
              <a:gd name="T3" fmla="*/ 0 h 127"/>
              <a:gd name="T4" fmla="*/ 604547817 w 1038"/>
              <a:gd name="T5" fmla="*/ 73837831 h 127"/>
              <a:gd name="T6" fmla="*/ 0 w 1038"/>
              <a:gd name="T7" fmla="*/ 73837831 h 127"/>
              <a:gd name="T8" fmla="*/ 58241460 w 1038"/>
              <a:gd name="T9" fmla="*/ 0 h 127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038" h="127">
                <a:moveTo>
                  <a:pt x="100" y="0"/>
                </a:moveTo>
                <a:lnTo>
                  <a:pt x="938" y="0"/>
                </a:lnTo>
                <a:lnTo>
                  <a:pt x="1038" y="127"/>
                </a:lnTo>
                <a:lnTo>
                  <a:pt x="0" y="127"/>
                </a:lnTo>
                <a:lnTo>
                  <a:pt x="100" y="0"/>
                </a:lnTo>
                <a:close/>
              </a:path>
            </a:pathLst>
          </a:custGeom>
          <a:solidFill>
            <a:schemeClr val="accent5">
              <a:lumMod val="50000"/>
            </a:schemeClr>
          </a:solidFill>
          <a:ln>
            <a:noFill/>
          </a:ln>
        </p:spPr>
        <p:txBody>
          <a:bodyPr lIns="68563" tIns="34281" rIns="68563" bIns="34281"/>
          <a:lstStyle/>
          <a:p>
            <a:endParaRPr lang="zh-CN" altLang="en-US"/>
          </a:p>
        </p:txBody>
      </p:sp>
      <p:sp>
        <p:nvSpPr>
          <p:cNvPr id="35" name="Rectangle 28">
            <a:extLst>
              <a:ext uri="{FF2B5EF4-FFF2-40B4-BE49-F238E27FC236}">
                <a16:creationId xmlns:a16="http://schemas.microsoft.com/office/drawing/2014/main" id="{6EB51C0A-9C10-235C-E059-D9856491CE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31475" y="4505454"/>
            <a:ext cx="478444" cy="476251"/>
          </a:xfrm>
          <a:prstGeom prst="rect">
            <a:avLst/>
          </a:prstGeom>
          <a:solidFill>
            <a:srgbClr val="134F85"/>
          </a:solidFill>
          <a:ln>
            <a:noFill/>
          </a:ln>
        </p:spPr>
        <p:txBody>
          <a:bodyPr lIns="68563" tIns="34281" rIns="68563" bIns="34281"/>
          <a:lstStyle/>
          <a:p>
            <a:pPr>
              <a:buFontTx/>
              <a:buNone/>
            </a:pPr>
            <a:endParaRPr lang="zh-CN" altLang="en-US"/>
          </a:p>
        </p:txBody>
      </p:sp>
      <p:sp>
        <p:nvSpPr>
          <p:cNvPr id="36" name="TextBox 88">
            <a:extLst>
              <a:ext uri="{FF2B5EF4-FFF2-40B4-BE49-F238E27FC236}">
                <a16:creationId xmlns:a16="http://schemas.microsoft.com/office/drawing/2014/main" id="{42BE77C1-ABD9-2AED-3526-261947F517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83021" y="4613755"/>
            <a:ext cx="3382943" cy="4077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8563" tIns="34281" rIns="68563" bIns="34281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200" b="1" kern="0" dirty="0">
                <a:solidFill>
                  <a:srgbClr val="104E87"/>
                </a:solidFill>
                <a:latin typeface="华光淡古印_CNKI" panose="02000500000000000000" pitchFamily="2" charset="-122"/>
                <a:ea typeface="华光淡古印_CNKI" panose="02000500000000000000" pitchFamily="2" charset="-122"/>
                <a:cs typeface="+mn-ea"/>
                <a:sym typeface="+mn-lt"/>
              </a:rPr>
              <a:t>深拷贝和浅拷贝（复制）</a:t>
            </a:r>
            <a:endParaRPr lang="zh-CN" altLang="en-US" sz="2000" b="1" kern="0" dirty="0">
              <a:solidFill>
                <a:srgbClr val="104E87"/>
              </a:solidFill>
              <a:latin typeface="华光淡古印_CNKI" panose="02000500000000000000" pitchFamily="2" charset="-122"/>
              <a:ea typeface="华光淡古印_CNKI" panose="02000500000000000000" pitchFamily="2" charset="-122"/>
              <a:cs typeface="+mn-ea"/>
              <a:sym typeface="+mn-lt"/>
            </a:endParaRPr>
          </a:p>
        </p:txBody>
      </p:sp>
      <p:sp>
        <p:nvSpPr>
          <p:cNvPr id="37" name="TextBox 89">
            <a:extLst>
              <a:ext uri="{FF2B5EF4-FFF2-40B4-BE49-F238E27FC236}">
                <a16:creationId xmlns:a16="http://schemas.microsoft.com/office/drawing/2014/main" id="{210FFF19-603C-A3BD-366D-9A82A3FC43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95746" y="4519743"/>
            <a:ext cx="311589" cy="4847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8563" tIns="34281" rIns="68563" bIns="34281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zh-CN" sz="27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7</a:t>
            </a:r>
            <a:endParaRPr lang="zh-CN" altLang="en-US" sz="2700" b="1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8" name="Freeform 26">
            <a:extLst>
              <a:ext uri="{FF2B5EF4-FFF2-40B4-BE49-F238E27FC236}">
                <a16:creationId xmlns:a16="http://schemas.microsoft.com/office/drawing/2014/main" id="{BBE627BA-922E-52F5-8965-2612D1E4B36F}"/>
              </a:ext>
            </a:extLst>
          </p:cNvPr>
          <p:cNvSpPr/>
          <p:nvPr/>
        </p:nvSpPr>
        <p:spPr bwMode="auto">
          <a:xfrm>
            <a:off x="2891119" y="5171518"/>
            <a:ext cx="4797308" cy="454819"/>
          </a:xfrm>
          <a:custGeom>
            <a:avLst/>
            <a:gdLst>
              <a:gd name="T0" fmla="*/ 60743788 w 6963"/>
              <a:gd name="T1" fmla="*/ 0 h 794"/>
              <a:gd name="T2" fmla="*/ 2147483647 w 6963"/>
              <a:gd name="T3" fmla="*/ 0 h 794"/>
              <a:gd name="T4" fmla="*/ 2147483647 w 6963"/>
              <a:gd name="T5" fmla="*/ 50166012 h 794"/>
              <a:gd name="T6" fmla="*/ 2147483647 w 6963"/>
              <a:gd name="T7" fmla="*/ 412413298 h 794"/>
              <a:gd name="T8" fmla="*/ 2147483647 w 6963"/>
              <a:gd name="T9" fmla="*/ 463162822 h 794"/>
              <a:gd name="T10" fmla="*/ 60743788 w 6963"/>
              <a:gd name="T11" fmla="*/ 463162822 h 794"/>
              <a:gd name="T12" fmla="*/ 0 w 6963"/>
              <a:gd name="T13" fmla="*/ 412413298 h 794"/>
              <a:gd name="T14" fmla="*/ 0 w 6963"/>
              <a:gd name="T15" fmla="*/ 50166012 h 794"/>
              <a:gd name="T16" fmla="*/ 60743788 w 6963"/>
              <a:gd name="T17" fmla="*/ 0 h 794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0" t="0" r="r" b="b"/>
            <a:pathLst>
              <a:path w="6963" h="794">
                <a:moveTo>
                  <a:pt x="87" y="0"/>
                </a:moveTo>
                <a:lnTo>
                  <a:pt x="6876" y="0"/>
                </a:lnTo>
                <a:cubicBezTo>
                  <a:pt x="6924" y="0"/>
                  <a:pt x="6963" y="39"/>
                  <a:pt x="6963" y="86"/>
                </a:cubicBezTo>
                <a:lnTo>
                  <a:pt x="6963" y="707"/>
                </a:lnTo>
                <a:cubicBezTo>
                  <a:pt x="6963" y="754"/>
                  <a:pt x="6924" y="794"/>
                  <a:pt x="6876" y="794"/>
                </a:cubicBezTo>
                <a:lnTo>
                  <a:pt x="87" y="794"/>
                </a:lnTo>
                <a:cubicBezTo>
                  <a:pt x="39" y="794"/>
                  <a:pt x="0" y="754"/>
                  <a:pt x="0" y="707"/>
                </a:cubicBezTo>
                <a:lnTo>
                  <a:pt x="0" y="86"/>
                </a:lnTo>
                <a:cubicBezTo>
                  <a:pt x="0" y="39"/>
                  <a:pt x="39" y="0"/>
                  <a:pt x="87" y="0"/>
                </a:cubicBezTo>
                <a:close/>
              </a:path>
            </a:pathLst>
          </a:custGeom>
          <a:gradFill rotWithShape="0">
            <a:gsLst>
              <a:gs pos="0">
                <a:srgbClr val="F8F8F8"/>
              </a:gs>
              <a:gs pos="100000">
                <a:srgbClr val="EAEAEA"/>
              </a:gs>
            </a:gsLst>
            <a:lin ang="5400000"/>
          </a:gradFill>
          <a:ln w="10" cap="flat" cmpd="sng">
            <a:solidFill>
              <a:srgbClr val="DFDFE1"/>
            </a:solidFill>
            <a:rou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68563" tIns="34281" rIns="68563" bIns="34281"/>
          <a:lstStyle/>
          <a:p>
            <a:endParaRPr lang="zh-CN" altLang="en-US"/>
          </a:p>
        </p:txBody>
      </p:sp>
      <p:sp>
        <p:nvSpPr>
          <p:cNvPr id="39" name="Freeform 27">
            <a:extLst>
              <a:ext uri="{FF2B5EF4-FFF2-40B4-BE49-F238E27FC236}">
                <a16:creationId xmlns:a16="http://schemas.microsoft.com/office/drawing/2014/main" id="{A199B683-484F-F730-D535-24889ABE5C41}"/>
              </a:ext>
            </a:extLst>
          </p:cNvPr>
          <p:cNvSpPr/>
          <p:nvPr/>
        </p:nvSpPr>
        <p:spPr bwMode="auto">
          <a:xfrm>
            <a:off x="2999425" y="5091745"/>
            <a:ext cx="593889" cy="72628"/>
          </a:xfrm>
          <a:custGeom>
            <a:avLst/>
            <a:gdLst>
              <a:gd name="T0" fmla="*/ 58241460 w 1038"/>
              <a:gd name="T1" fmla="*/ 0 h 127"/>
              <a:gd name="T2" fmla="*/ 546306357 w 1038"/>
              <a:gd name="T3" fmla="*/ 0 h 127"/>
              <a:gd name="T4" fmla="*/ 604547817 w 1038"/>
              <a:gd name="T5" fmla="*/ 73837831 h 127"/>
              <a:gd name="T6" fmla="*/ 0 w 1038"/>
              <a:gd name="T7" fmla="*/ 73837831 h 127"/>
              <a:gd name="T8" fmla="*/ 58241460 w 1038"/>
              <a:gd name="T9" fmla="*/ 0 h 127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038" h="127">
                <a:moveTo>
                  <a:pt x="100" y="0"/>
                </a:moveTo>
                <a:lnTo>
                  <a:pt x="938" y="0"/>
                </a:lnTo>
                <a:lnTo>
                  <a:pt x="1038" y="127"/>
                </a:lnTo>
                <a:lnTo>
                  <a:pt x="0" y="127"/>
                </a:lnTo>
                <a:lnTo>
                  <a:pt x="100" y="0"/>
                </a:lnTo>
                <a:close/>
              </a:path>
            </a:pathLst>
          </a:custGeom>
          <a:solidFill>
            <a:schemeClr val="accent5">
              <a:lumMod val="50000"/>
            </a:schemeClr>
          </a:solidFill>
          <a:ln>
            <a:noFill/>
          </a:ln>
        </p:spPr>
        <p:txBody>
          <a:bodyPr lIns="68563" tIns="34281" rIns="68563" bIns="34281"/>
          <a:lstStyle/>
          <a:p>
            <a:endParaRPr lang="zh-CN" altLang="en-US"/>
          </a:p>
        </p:txBody>
      </p:sp>
      <p:sp>
        <p:nvSpPr>
          <p:cNvPr id="40" name="Rectangle 28">
            <a:extLst>
              <a:ext uri="{FF2B5EF4-FFF2-40B4-BE49-F238E27FC236}">
                <a16:creationId xmlns:a16="http://schemas.microsoft.com/office/drawing/2014/main" id="{7EA6E32B-1905-701C-33CA-4492BC6DD2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56550" y="5091743"/>
            <a:ext cx="478444" cy="476251"/>
          </a:xfrm>
          <a:prstGeom prst="rect">
            <a:avLst/>
          </a:prstGeom>
          <a:solidFill>
            <a:srgbClr val="134F85"/>
          </a:solidFill>
          <a:ln>
            <a:noFill/>
          </a:ln>
        </p:spPr>
        <p:txBody>
          <a:bodyPr lIns="68563" tIns="34281" rIns="68563" bIns="34281"/>
          <a:lstStyle/>
          <a:p>
            <a:pPr>
              <a:buFontTx/>
              <a:buNone/>
            </a:pPr>
            <a:endParaRPr lang="zh-CN" altLang="en-US"/>
          </a:p>
        </p:txBody>
      </p:sp>
      <p:sp>
        <p:nvSpPr>
          <p:cNvPr id="41" name="TextBox 88">
            <a:extLst>
              <a:ext uri="{FF2B5EF4-FFF2-40B4-BE49-F238E27FC236}">
                <a16:creationId xmlns:a16="http://schemas.microsoft.com/office/drawing/2014/main" id="{7B203211-8C91-E0A6-1C25-6CB1BCDAFC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08096" y="5200044"/>
            <a:ext cx="2692049" cy="4077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8563" tIns="34281" rIns="68563" bIns="34281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200" b="1" kern="0" dirty="0">
                <a:solidFill>
                  <a:srgbClr val="104E87"/>
                </a:solidFill>
                <a:latin typeface="华光淡古印_CNKI" panose="02000500000000000000" pitchFamily="2" charset="-122"/>
                <a:ea typeface="华光淡古印_CNKI" panose="02000500000000000000" pitchFamily="2" charset="-122"/>
                <a:cs typeface="+mn-ea"/>
                <a:sym typeface="+mn-lt"/>
              </a:rPr>
              <a:t>案例：模拟数字时钟</a:t>
            </a:r>
            <a:endParaRPr lang="zh-CN" altLang="en-US" sz="2000" b="1" kern="0" dirty="0">
              <a:solidFill>
                <a:srgbClr val="104E87"/>
              </a:solidFill>
              <a:latin typeface="华光淡古印_CNKI" panose="02000500000000000000" pitchFamily="2" charset="-122"/>
              <a:ea typeface="华光淡古印_CNKI" panose="02000500000000000000" pitchFamily="2" charset="-122"/>
              <a:cs typeface="+mn-ea"/>
              <a:sym typeface="+mn-lt"/>
            </a:endParaRPr>
          </a:p>
        </p:txBody>
      </p:sp>
      <p:sp>
        <p:nvSpPr>
          <p:cNvPr id="42" name="TextBox 89">
            <a:extLst>
              <a:ext uri="{FF2B5EF4-FFF2-40B4-BE49-F238E27FC236}">
                <a16:creationId xmlns:a16="http://schemas.microsoft.com/office/drawing/2014/main" id="{082E7A8C-E716-6FAC-78AE-7C1BA09A91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20821" y="5106032"/>
            <a:ext cx="311589" cy="4847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8563" tIns="34281" rIns="68563" bIns="34281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zh-CN" sz="27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8</a:t>
            </a:r>
            <a:endParaRPr lang="zh-CN" altLang="en-US" sz="2700" b="1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3" name="Freeform 26">
            <a:extLst>
              <a:ext uri="{FF2B5EF4-FFF2-40B4-BE49-F238E27FC236}">
                <a16:creationId xmlns:a16="http://schemas.microsoft.com/office/drawing/2014/main" id="{0E2542F1-CE31-070F-08BA-2DB63DDFC735}"/>
              </a:ext>
            </a:extLst>
          </p:cNvPr>
          <p:cNvSpPr/>
          <p:nvPr/>
        </p:nvSpPr>
        <p:spPr bwMode="auto">
          <a:xfrm>
            <a:off x="2891119" y="5756418"/>
            <a:ext cx="4797308" cy="454819"/>
          </a:xfrm>
          <a:custGeom>
            <a:avLst/>
            <a:gdLst>
              <a:gd name="T0" fmla="*/ 60743788 w 6963"/>
              <a:gd name="T1" fmla="*/ 0 h 794"/>
              <a:gd name="T2" fmla="*/ 2147483647 w 6963"/>
              <a:gd name="T3" fmla="*/ 0 h 794"/>
              <a:gd name="T4" fmla="*/ 2147483647 w 6963"/>
              <a:gd name="T5" fmla="*/ 50166012 h 794"/>
              <a:gd name="T6" fmla="*/ 2147483647 w 6963"/>
              <a:gd name="T7" fmla="*/ 412413298 h 794"/>
              <a:gd name="T8" fmla="*/ 2147483647 w 6963"/>
              <a:gd name="T9" fmla="*/ 463162822 h 794"/>
              <a:gd name="T10" fmla="*/ 60743788 w 6963"/>
              <a:gd name="T11" fmla="*/ 463162822 h 794"/>
              <a:gd name="T12" fmla="*/ 0 w 6963"/>
              <a:gd name="T13" fmla="*/ 412413298 h 794"/>
              <a:gd name="T14" fmla="*/ 0 w 6963"/>
              <a:gd name="T15" fmla="*/ 50166012 h 794"/>
              <a:gd name="T16" fmla="*/ 60743788 w 6963"/>
              <a:gd name="T17" fmla="*/ 0 h 794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0" t="0" r="r" b="b"/>
            <a:pathLst>
              <a:path w="6963" h="794">
                <a:moveTo>
                  <a:pt x="87" y="0"/>
                </a:moveTo>
                <a:lnTo>
                  <a:pt x="6876" y="0"/>
                </a:lnTo>
                <a:cubicBezTo>
                  <a:pt x="6924" y="0"/>
                  <a:pt x="6963" y="39"/>
                  <a:pt x="6963" y="86"/>
                </a:cubicBezTo>
                <a:lnTo>
                  <a:pt x="6963" y="707"/>
                </a:lnTo>
                <a:cubicBezTo>
                  <a:pt x="6963" y="754"/>
                  <a:pt x="6924" y="794"/>
                  <a:pt x="6876" y="794"/>
                </a:cubicBezTo>
                <a:lnTo>
                  <a:pt x="87" y="794"/>
                </a:lnTo>
                <a:cubicBezTo>
                  <a:pt x="39" y="794"/>
                  <a:pt x="0" y="754"/>
                  <a:pt x="0" y="707"/>
                </a:cubicBezTo>
                <a:lnTo>
                  <a:pt x="0" y="86"/>
                </a:lnTo>
                <a:cubicBezTo>
                  <a:pt x="0" y="39"/>
                  <a:pt x="39" y="0"/>
                  <a:pt x="87" y="0"/>
                </a:cubicBezTo>
                <a:close/>
              </a:path>
            </a:pathLst>
          </a:custGeom>
          <a:gradFill rotWithShape="0">
            <a:gsLst>
              <a:gs pos="0">
                <a:srgbClr val="F8F8F8"/>
              </a:gs>
              <a:gs pos="100000">
                <a:srgbClr val="EAEAEA"/>
              </a:gs>
            </a:gsLst>
            <a:lin ang="5400000"/>
          </a:gradFill>
          <a:ln w="10" cap="flat" cmpd="sng">
            <a:solidFill>
              <a:srgbClr val="DFDFE1"/>
            </a:solidFill>
            <a:rou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68563" tIns="34281" rIns="68563" bIns="34281"/>
          <a:lstStyle/>
          <a:p>
            <a:endParaRPr lang="zh-CN" altLang="en-US"/>
          </a:p>
        </p:txBody>
      </p:sp>
      <p:sp>
        <p:nvSpPr>
          <p:cNvPr id="44" name="Freeform 27">
            <a:extLst>
              <a:ext uri="{FF2B5EF4-FFF2-40B4-BE49-F238E27FC236}">
                <a16:creationId xmlns:a16="http://schemas.microsoft.com/office/drawing/2014/main" id="{C5FF63E6-6395-75D1-B2D7-828F8D608A36}"/>
              </a:ext>
            </a:extLst>
          </p:cNvPr>
          <p:cNvSpPr/>
          <p:nvPr/>
        </p:nvSpPr>
        <p:spPr bwMode="auto">
          <a:xfrm>
            <a:off x="2999425" y="5676645"/>
            <a:ext cx="593889" cy="72628"/>
          </a:xfrm>
          <a:custGeom>
            <a:avLst/>
            <a:gdLst>
              <a:gd name="T0" fmla="*/ 58241460 w 1038"/>
              <a:gd name="T1" fmla="*/ 0 h 127"/>
              <a:gd name="T2" fmla="*/ 546306357 w 1038"/>
              <a:gd name="T3" fmla="*/ 0 h 127"/>
              <a:gd name="T4" fmla="*/ 604547817 w 1038"/>
              <a:gd name="T5" fmla="*/ 73837831 h 127"/>
              <a:gd name="T6" fmla="*/ 0 w 1038"/>
              <a:gd name="T7" fmla="*/ 73837831 h 127"/>
              <a:gd name="T8" fmla="*/ 58241460 w 1038"/>
              <a:gd name="T9" fmla="*/ 0 h 127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038" h="127">
                <a:moveTo>
                  <a:pt x="100" y="0"/>
                </a:moveTo>
                <a:lnTo>
                  <a:pt x="938" y="0"/>
                </a:lnTo>
                <a:lnTo>
                  <a:pt x="1038" y="127"/>
                </a:lnTo>
                <a:lnTo>
                  <a:pt x="0" y="127"/>
                </a:lnTo>
                <a:lnTo>
                  <a:pt x="100" y="0"/>
                </a:lnTo>
                <a:close/>
              </a:path>
            </a:pathLst>
          </a:custGeom>
          <a:solidFill>
            <a:schemeClr val="accent5">
              <a:lumMod val="50000"/>
            </a:schemeClr>
          </a:solidFill>
          <a:ln>
            <a:noFill/>
          </a:ln>
        </p:spPr>
        <p:txBody>
          <a:bodyPr lIns="68563" tIns="34281" rIns="68563" bIns="34281"/>
          <a:lstStyle/>
          <a:p>
            <a:endParaRPr lang="zh-CN" altLang="en-US"/>
          </a:p>
        </p:txBody>
      </p:sp>
      <p:sp>
        <p:nvSpPr>
          <p:cNvPr id="45" name="Rectangle 28">
            <a:extLst>
              <a:ext uri="{FF2B5EF4-FFF2-40B4-BE49-F238E27FC236}">
                <a16:creationId xmlns:a16="http://schemas.microsoft.com/office/drawing/2014/main" id="{736D93F1-2993-2C60-5977-5AFF4F4883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56550" y="5676643"/>
            <a:ext cx="478444" cy="476251"/>
          </a:xfrm>
          <a:prstGeom prst="rect">
            <a:avLst/>
          </a:prstGeom>
          <a:solidFill>
            <a:srgbClr val="134F85"/>
          </a:solidFill>
          <a:ln>
            <a:noFill/>
          </a:ln>
        </p:spPr>
        <p:txBody>
          <a:bodyPr lIns="68563" tIns="34281" rIns="68563" bIns="34281"/>
          <a:lstStyle/>
          <a:p>
            <a:pPr>
              <a:buFontTx/>
              <a:buNone/>
            </a:pPr>
            <a:endParaRPr lang="zh-CN" altLang="en-US"/>
          </a:p>
        </p:txBody>
      </p:sp>
      <p:sp>
        <p:nvSpPr>
          <p:cNvPr id="46" name="TextBox 88">
            <a:extLst>
              <a:ext uri="{FF2B5EF4-FFF2-40B4-BE49-F238E27FC236}">
                <a16:creationId xmlns:a16="http://schemas.microsoft.com/office/drawing/2014/main" id="{13AED01F-91FC-7E0B-09C2-93F250CEEA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08096" y="5784944"/>
            <a:ext cx="2071687" cy="4077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8563" tIns="34281" rIns="68563" bIns="34281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200" b="1" kern="0" dirty="0">
                <a:solidFill>
                  <a:srgbClr val="104E87"/>
                </a:solidFill>
                <a:latin typeface="华光淡古印_CNKI" panose="02000500000000000000" pitchFamily="2" charset="-122"/>
                <a:ea typeface="华光淡古印_CNKI" panose="02000500000000000000" pitchFamily="2" charset="-122"/>
                <a:cs typeface="+mn-ea"/>
                <a:sym typeface="+mn-lt"/>
              </a:rPr>
              <a:t>本章要求</a:t>
            </a:r>
            <a:r>
              <a:rPr lang="en-US" altLang="zh-CN" sz="2200" b="1" kern="0" dirty="0">
                <a:solidFill>
                  <a:srgbClr val="104E87"/>
                </a:solidFill>
                <a:latin typeface="华光淡古印_CNKI" panose="02000500000000000000" pitchFamily="2" charset="-122"/>
                <a:ea typeface="华光淡古印_CNKI" panose="02000500000000000000" pitchFamily="2" charset="-122"/>
                <a:cs typeface="+mn-ea"/>
                <a:sym typeface="+mn-lt"/>
              </a:rPr>
              <a:t>&amp;</a:t>
            </a:r>
            <a:r>
              <a:rPr lang="zh-CN" altLang="en-US" sz="2200" b="1" kern="0" dirty="0">
                <a:solidFill>
                  <a:srgbClr val="104E87"/>
                </a:solidFill>
                <a:latin typeface="华光淡古印_CNKI" panose="02000500000000000000" pitchFamily="2" charset="-122"/>
                <a:ea typeface="华光淡古印_CNKI" panose="02000500000000000000" pitchFamily="2" charset="-122"/>
                <a:cs typeface="+mn-ea"/>
                <a:sym typeface="+mn-lt"/>
              </a:rPr>
              <a:t>作业</a:t>
            </a:r>
            <a:endParaRPr lang="zh-CN" altLang="en-US" sz="2000" b="1" kern="0" dirty="0">
              <a:solidFill>
                <a:srgbClr val="104E87"/>
              </a:solidFill>
              <a:latin typeface="华光淡古印_CNKI" panose="02000500000000000000" pitchFamily="2" charset="-122"/>
              <a:ea typeface="华光淡古印_CNKI" panose="02000500000000000000" pitchFamily="2" charset="-122"/>
              <a:cs typeface="+mn-ea"/>
              <a:sym typeface="+mn-lt"/>
            </a:endParaRPr>
          </a:p>
        </p:txBody>
      </p:sp>
      <p:sp>
        <p:nvSpPr>
          <p:cNvPr id="47" name="TextBox 89">
            <a:extLst>
              <a:ext uri="{FF2B5EF4-FFF2-40B4-BE49-F238E27FC236}">
                <a16:creationId xmlns:a16="http://schemas.microsoft.com/office/drawing/2014/main" id="{68E71FC6-E5C1-ED62-F494-C77163D61C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20821" y="5690932"/>
            <a:ext cx="311589" cy="4847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8563" tIns="34281" rIns="68563" bIns="34281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zh-CN" sz="27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9</a:t>
            </a:r>
            <a:endParaRPr lang="zh-CN" altLang="en-US" sz="2700" b="1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300" fill="hold"/>
                                        <p:tgtEl>
                                          <p:spTgt spid="1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300" fill="hold"/>
                                        <p:tgtEl>
                                          <p:spTgt spid="1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300" fill="hold"/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3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400" fill="hold"/>
                                        <p:tgtEl>
                                          <p:spTgt spid="1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400" fill="hold"/>
                                        <p:tgtEl>
                                          <p:spTgt spid="1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000"/>
                            </p:stCondLst>
                            <p:childTnLst>
                              <p:par>
                                <p:cTn id="34" presetID="2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1500"/>
                            </p:stCondLst>
                            <p:childTnLst>
                              <p:par>
                                <p:cTn id="3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1800"/>
                            </p:stCondLst>
                            <p:childTnLst>
                              <p:par>
                                <p:cTn id="4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2300"/>
                            </p:stCondLst>
                            <p:childTnLst>
                              <p:par>
                                <p:cTn id="47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4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4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4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2700"/>
                            </p:stCondLst>
                            <p:childTnLst>
                              <p:par>
                                <p:cTn id="5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" presetClass="entr" presetSubtype="6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3300"/>
                            </p:stCondLst>
                            <p:childTnLst>
                              <p:par>
                                <p:cTn id="6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4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3600"/>
                            </p:stCondLst>
                            <p:childTnLst>
                              <p:par>
                                <p:cTn id="6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4100"/>
                            </p:stCondLst>
                            <p:childTnLst>
                              <p:par>
                                <p:cTn id="70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5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4500"/>
                            </p:stCondLst>
                            <p:childTnLst>
                              <p:par>
                                <p:cTn id="7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2" presetClass="entr" presetSubtype="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5200"/>
                            </p:stCondLst>
                            <p:childTnLst>
                              <p:par>
                                <p:cTn id="8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5500"/>
                            </p:stCondLst>
                            <p:childTnLst>
                              <p:par>
                                <p:cTn id="8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6000"/>
                            </p:stCondLst>
                            <p:childTnLst>
                              <p:par>
                                <p:cTn id="93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5" dur="4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4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4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8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>
                            <p:stCondLst>
                              <p:cond delay="6400"/>
                            </p:stCondLst>
                            <p:childTnLst>
                              <p:par>
                                <p:cTn id="10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2" presetClass="entr" presetSubtype="6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7" fill="hold">
                            <p:stCondLst>
                              <p:cond delay="7200"/>
                            </p:stCondLst>
                            <p:childTnLst>
                              <p:par>
                                <p:cTn id="108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0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1" fill="hold">
                            <p:stCondLst>
                              <p:cond delay="7500"/>
                            </p:stCondLst>
                            <p:childTnLst>
                              <p:par>
                                <p:cTn id="11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5" fill="hold">
                            <p:stCondLst>
                              <p:cond delay="8000"/>
                            </p:stCondLst>
                            <p:childTnLst>
                              <p:par>
                                <p:cTn id="116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8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9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0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1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2" fill="hold">
                            <p:stCondLst>
                              <p:cond delay="8400"/>
                            </p:stCondLst>
                            <p:childTnLst>
                              <p:par>
                                <p:cTn id="12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2" presetClass="entr" presetSubtype="6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9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0" fill="hold">
                            <p:stCondLst>
                              <p:cond delay="9300"/>
                            </p:stCondLst>
                            <p:childTnLst>
                              <p:par>
                                <p:cTn id="13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3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4" fill="hold">
                            <p:stCondLst>
                              <p:cond delay="9600"/>
                            </p:stCondLst>
                            <p:childTnLst>
                              <p:par>
                                <p:cTn id="13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8" fill="hold">
                            <p:stCondLst>
                              <p:cond delay="10100"/>
                            </p:stCondLst>
                            <p:childTnLst>
                              <p:par>
                                <p:cTn id="139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1" dur="4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2" dur="4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3" dur="4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4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5" fill="hold">
                            <p:stCondLst>
                              <p:cond delay="10500"/>
                            </p:stCondLst>
                            <p:childTnLst>
                              <p:par>
                                <p:cTn id="14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presetID="2" presetClass="entr" presetSubtype="6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1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2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3" fill="hold">
                            <p:stCondLst>
                              <p:cond delay="11400"/>
                            </p:stCondLst>
                            <p:childTnLst>
                              <p:par>
                                <p:cTn id="154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6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7" fill="hold">
                            <p:stCondLst>
                              <p:cond delay="11700"/>
                            </p:stCondLst>
                            <p:childTnLst>
                              <p:par>
                                <p:cTn id="15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1" fill="hold">
                            <p:stCondLst>
                              <p:cond delay="12200"/>
                            </p:stCondLst>
                            <p:childTnLst>
                              <p:par>
                                <p:cTn id="162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4" dur="4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5" dur="4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6" dur="4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7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8" fill="hold">
                            <p:stCondLst>
                              <p:cond delay="12600"/>
                            </p:stCondLst>
                            <p:childTnLst>
                              <p:par>
                                <p:cTn id="16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2" presetID="2" presetClass="entr" presetSubtype="6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4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5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6" fill="hold">
                            <p:stCondLst>
                              <p:cond delay="13500"/>
                            </p:stCondLst>
                            <p:childTnLst>
                              <p:par>
                                <p:cTn id="177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9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0" fill="hold">
                            <p:stCondLst>
                              <p:cond delay="13800"/>
                            </p:stCondLst>
                            <p:childTnLst>
                              <p:par>
                                <p:cTn id="18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4" fill="hold">
                            <p:stCondLst>
                              <p:cond delay="14300"/>
                            </p:stCondLst>
                            <p:childTnLst>
                              <p:par>
                                <p:cTn id="185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7" dur="4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8" dur="4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9" dur="4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0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1" fill="hold">
                            <p:stCondLst>
                              <p:cond delay="14700"/>
                            </p:stCondLst>
                            <p:childTnLst>
                              <p:par>
                                <p:cTn id="19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4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5" presetID="2" presetClass="entr" presetSubtype="6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7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8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9" fill="hold">
                            <p:stCondLst>
                              <p:cond delay="15600"/>
                            </p:stCondLst>
                            <p:childTnLst>
                              <p:par>
                                <p:cTn id="200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2" dur="3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3" fill="hold">
                            <p:stCondLst>
                              <p:cond delay="15900"/>
                            </p:stCondLst>
                            <p:childTnLst>
                              <p:par>
                                <p:cTn id="20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6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7" fill="hold">
                            <p:stCondLst>
                              <p:cond delay="16400"/>
                            </p:stCondLst>
                            <p:childTnLst>
                              <p:par>
                                <p:cTn id="208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0" dur="4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1" dur="4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2" dur="4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3" dur="4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4" fill="hold">
                            <p:stCondLst>
                              <p:cond delay="16800"/>
                            </p:stCondLst>
                            <p:childTnLst>
                              <p:par>
                                <p:cTn id="21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8" presetID="2" presetClass="entr" presetSubtype="6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0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1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2" fill="hold">
                            <p:stCondLst>
                              <p:cond delay="17700"/>
                            </p:stCondLst>
                            <p:childTnLst>
                              <p:par>
                                <p:cTn id="22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5" dur="3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6" fill="hold">
                            <p:stCondLst>
                              <p:cond delay="18000"/>
                            </p:stCondLst>
                            <p:childTnLst>
                              <p:par>
                                <p:cTn id="22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9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0" fill="hold">
                            <p:stCondLst>
                              <p:cond delay="18500"/>
                            </p:stCondLst>
                            <p:childTnLst>
                              <p:par>
                                <p:cTn id="231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3" dur="4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4" dur="4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5" dur="4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6" dur="4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7" fill="hold">
                            <p:stCondLst>
                              <p:cond delay="18900"/>
                            </p:stCondLst>
                            <p:childTnLst>
                              <p:par>
                                <p:cTn id="23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0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7" grpId="0"/>
      <p:bldP spid="128" grpId="0" animBg="1" autoUpdateAnimBg="0"/>
      <p:bldP spid="128" grpId="1" animBg="1"/>
      <p:bldP spid="129" grpId="0" animBg="1"/>
      <p:bldP spid="129" grpId="1" animBg="1"/>
      <p:bldP spid="130" grpId="0" animBg="1"/>
      <p:bldP spid="130" grpId="1" animBg="1"/>
      <p:bldP spid="2" grpId="0" animBg="1"/>
      <p:bldP spid="3" grpId="0" animBg="1"/>
      <p:bldP spid="5" grpId="0" animBg="1" autoUpdateAnimBg="0"/>
      <p:bldP spid="6" grpId="0" autoUpdateAnimBg="0"/>
      <p:bldP spid="7" grpId="0" autoUpdateAnimBg="0"/>
      <p:bldP spid="8" grpId="0" animBg="1"/>
      <p:bldP spid="9" grpId="0" animBg="1"/>
      <p:bldP spid="10" grpId="0" animBg="1" autoUpdateAnimBg="0"/>
      <p:bldP spid="11" grpId="0" autoUpdateAnimBg="0"/>
      <p:bldP spid="12" grpId="0" autoUpdateAnimBg="0"/>
      <p:bldP spid="13" grpId="0" animBg="1"/>
      <p:bldP spid="14" grpId="0" animBg="1"/>
      <p:bldP spid="15" grpId="0" animBg="1" autoUpdateAnimBg="0"/>
      <p:bldP spid="16" grpId="0" autoUpdateAnimBg="0"/>
      <p:bldP spid="17" grpId="0" autoUpdateAnimBg="0"/>
      <p:bldP spid="18" grpId="0" animBg="1"/>
      <p:bldP spid="19" grpId="0" animBg="1"/>
      <p:bldP spid="20" grpId="0" animBg="1" autoUpdateAnimBg="0"/>
      <p:bldP spid="21" grpId="0" autoUpdateAnimBg="0"/>
      <p:bldP spid="22" grpId="0" autoUpdateAnimBg="0"/>
      <p:bldP spid="23" grpId="0" animBg="1"/>
      <p:bldP spid="24" grpId="0" animBg="1"/>
      <p:bldP spid="25" grpId="0" animBg="1" autoUpdateAnimBg="0"/>
      <p:bldP spid="26" grpId="0" autoUpdateAnimBg="0"/>
      <p:bldP spid="27" grpId="0" autoUpdateAnimBg="0"/>
      <p:bldP spid="28" grpId="0" animBg="1"/>
      <p:bldP spid="29" grpId="0" animBg="1"/>
      <p:bldP spid="30" grpId="0" animBg="1" autoUpdateAnimBg="0"/>
      <p:bldP spid="31" grpId="0" autoUpdateAnimBg="0"/>
      <p:bldP spid="32" grpId="0" autoUpdateAnimBg="0"/>
      <p:bldP spid="33" grpId="0" animBg="1"/>
      <p:bldP spid="34" grpId="0" animBg="1"/>
      <p:bldP spid="35" grpId="0" animBg="1" autoUpdateAnimBg="0"/>
      <p:bldP spid="36" grpId="0" autoUpdateAnimBg="0"/>
      <p:bldP spid="37" grpId="0" autoUpdateAnimBg="0"/>
      <p:bldP spid="38" grpId="0" animBg="1"/>
      <p:bldP spid="39" grpId="0" animBg="1"/>
      <p:bldP spid="40" grpId="0" animBg="1" autoUpdateAnimBg="0"/>
      <p:bldP spid="41" grpId="0" autoUpdateAnimBg="0"/>
      <p:bldP spid="42" grpId="0" autoUpdateAnimBg="0"/>
      <p:bldP spid="43" grpId="0" animBg="1"/>
      <p:bldP spid="44" grpId="0" animBg="1"/>
      <p:bldP spid="45" grpId="0" animBg="1" autoUpdateAnimBg="0"/>
      <p:bldP spid="46" grpId="0" autoUpdateAnimBg="0"/>
      <p:bldP spid="47" grpId="0" autoUpdateAnimBg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794" y="176798"/>
            <a:ext cx="12190413" cy="728917"/>
          </a:xfrm>
          <a:prstGeom prst="rect">
            <a:avLst/>
          </a:prstGeom>
          <a:solidFill>
            <a:srgbClr val="26CC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3200"/>
          </a:p>
        </p:txBody>
      </p:sp>
      <p:sp>
        <p:nvSpPr>
          <p:cNvPr id="5" name="文本框 4"/>
          <p:cNvSpPr txBox="1"/>
          <p:nvPr/>
        </p:nvSpPr>
        <p:spPr>
          <a:xfrm>
            <a:off x="247719" y="224527"/>
            <a:ext cx="802877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kumimoji="1" sz="3200" b="1">
                <a:latin typeface="华光胖头鱼_CNKI" panose="02000500000000000000" pitchFamily="2" charset="-122"/>
                <a:ea typeface="华光胖头鱼_CNKI" panose="02000500000000000000" pitchFamily="2" charset="-122"/>
              </a:defRPr>
            </a:lvl1pPr>
          </a:lstStyle>
          <a:p>
            <a:r>
              <a:rPr lang="en-US" altLang="zh-CN" dirty="0"/>
              <a:t>7.1</a:t>
            </a:r>
            <a:r>
              <a:rPr lang="zh-CN" altLang="en-US" dirty="0">
                <a:sym typeface="+mn-lt"/>
              </a:rPr>
              <a:t>面向对象的基本特点</a:t>
            </a:r>
            <a:endParaRPr lang="zh-CN" altLang="en-US" dirty="0"/>
          </a:p>
        </p:txBody>
      </p:sp>
      <p:cxnSp>
        <p:nvCxnSpPr>
          <p:cNvPr id="7" name="直线连接符 6"/>
          <p:cNvCxnSpPr/>
          <p:nvPr/>
        </p:nvCxnSpPr>
        <p:spPr>
          <a:xfrm>
            <a:off x="1587" y="905715"/>
            <a:ext cx="12190413" cy="0"/>
          </a:xfrm>
          <a:prstGeom prst="line">
            <a:avLst/>
          </a:prstGeom>
          <a:ln>
            <a:solidFill>
              <a:srgbClr val="104D7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文本框 10">
            <a:extLst>
              <a:ext uri="{FF2B5EF4-FFF2-40B4-BE49-F238E27FC236}">
                <a16:creationId xmlns:a16="http://schemas.microsoft.com/office/drawing/2014/main" id="{4A5B6234-A432-4EDB-8B97-65FC19558373}"/>
              </a:ext>
            </a:extLst>
          </p:cNvPr>
          <p:cNvSpPr txBox="1"/>
          <p:nvPr/>
        </p:nvSpPr>
        <p:spPr>
          <a:xfrm>
            <a:off x="247718" y="912014"/>
            <a:ext cx="9689677" cy="20601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3900"/>
              </a:lnSpc>
            </a:pPr>
            <a:r>
              <a:rPr kumimoji="1" lang="zh-CN" altLang="en-US" sz="2400" dirty="0">
                <a:solidFill>
                  <a:schemeClr val="accent1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程序世界的</a:t>
            </a:r>
            <a:r>
              <a:rPr kumimoji="1" lang="zh-CN" altLang="en-US" sz="2400" b="1" dirty="0">
                <a:solidFill>
                  <a:srgbClr val="FF0000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两种世界观</a:t>
            </a:r>
            <a:endParaRPr kumimoji="1" lang="en-US" altLang="zh-CN" b="1" dirty="0">
              <a:solidFill>
                <a:srgbClr val="FF0000"/>
              </a:solidFill>
              <a:latin typeface="华光行书_CNKI" panose="02000500000000000000" pitchFamily="2" charset="-122"/>
              <a:ea typeface="华光行书_CNKI" panose="02000500000000000000" pitchFamily="2" charset="-122"/>
            </a:endParaRPr>
          </a:p>
          <a:p>
            <a:pPr marL="228600" indent="-228600">
              <a:lnSpc>
                <a:spcPts val="3900"/>
              </a:lnSpc>
              <a:buFont typeface="Wingdings" panose="05000000000000000000" pitchFamily="2" charset="2"/>
              <a:buChar char="l"/>
            </a:pPr>
            <a:r>
              <a:rPr kumimoji="1" lang="zh-CN" altLang="en-US" sz="2400" dirty="0">
                <a:solidFill>
                  <a:srgbClr val="FF0000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过程论</a:t>
            </a:r>
            <a:r>
              <a:rPr kumimoji="1" lang="en-US" altLang="zh-CN" sz="2400" dirty="0">
                <a:solidFill>
                  <a:schemeClr val="accent1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——</a:t>
            </a:r>
            <a:r>
              <a:rPr kumimoji="1" lang="en-US" altLang="zh-CN" dirty="0">
                <a:solidFill>
                  <a:schemeClr val="accent1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procedure oriented programming</a:t>
            </a:r>
            <a:r>
              <a:rPr kumimoji="1" lang="zh-CN" altLang="en-US" dirty="0">
                <a:solidFill>
                  <a:schemeClr val="accent1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（</a:t>
            </a:r>
            <a:r>
              <a:rPr kumimoji="1" lang="en-US" altLang="zh-CN" dirty="0">
                <a:solidFill>
                  <a:schemeClr val="accent1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POP</a:t>
            </a:r>
            <a:r>
              <a:rPr kumimoji="1" lang="zh-CN" altLang="en-US" dirty="0">
                <a:solidFill>
                  <a:schemeClr val="accent1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）</a:t>
            </a:r>
            <a:endParaRPr kumimoji="1" lang="en-US" altLang="zh-CN" dirty="0">
              <a:solidFill>
                <a:schemeClr val="accent1"/>
              </a:solidFill>
              <a:latin typeface="华光行书_CNKI" panose="02000500000000000000" pitchFamily="2" charset="-122"/>
              <a:ea typeface="华光行书_CNKI" panose="02000500000000000000" pitchFamily="2" charset="-122"/>
            </a:endParaRPr>
          </a:p>
          <a:p>
            <a:pPr marL="228600" indent="-228600">
              <a:lnSpc>
                <a:spcPts val="3900"/>
              </a:lnSpc>
              <a:buFont typeface="Wingdings" panose="05000000000000000000" pitchFamily="2" charset="2"/>
              <a:buChar char="l"/>
            </a:pPr>
            <a:r>
              <a:rPr kumimoji="1" lang="zh-CN" altLang="en-US" b="1" dirty="0">
                <a:solidFill>
                  <a:srgbClr val="FF0000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对象论</a:t>
            </a:r>
            <a:r>
              <a:rPr kumimoji="1" lang="en-US" altLang="zh-CN" dirty="0">
                <a:solidFill>
                  <a:schemeClr val="accent1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——object oriented programming</a:t>
            </a:r>
            <a:r>
              <a:rPr kumimoji="1" lang="zh-CN" altLang="en-US" dirty="0">
                <a:solidFill>
                  <a:schemeClr val="accent1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（</a:t>
            </a:r>
            <a:r>
              <a:rPr kumimoji="1" lang="en-US" altLang="zh-CN" dirty="0">
                <a:solidFill>
                  <a:schemeClr val="accent1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OOP</a:t>
            </a:r>
            <a:r>
              <a:rPr kumimoji="1" lang="zh-CN" altLang="en-US" dirty="0">
                <a:solidFill>
                  <a:schemeClr val="accent1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）</a:t>
            </a:r>
            <a:endParaRPr kumimoji="1" lang="en-US" altLang="zh-CN" dirty="0">
              <a:solidFill>
                <a:schemeClr val="accent1"/>
              </a:solidFill>
              <a:latin typeface="华光行书_CNKI" panose="02000500000000000000" pitchFamily="2" charset="-122"/>
              <a:ea typeface="华光行书_CNKI" panose="02000500000000000000" pitchFamily="2" charset="-122"/>
            </a:endParaRPr>
          </a:p>
          <a:p>
            <a:pPr marL="228600" indent="-228600">
              <a:lnSpc>
                <a:spcPts val="3900"/>
              </a:lnSpc>
              <a:buFont typeface="Wingdings" panose="05000000000000000000" pitchFamily="2" charset="2"/>
              <a:buChar char="l"/>
            </a:pPr>
            <a:endParaRPr kumimoji="1" lang="en-US" altLang="zh-CN" sz="2400" dirty="0">
              <a:solidFill>
                <a:schemeClr val="accent1"/>
              </a:solidFill>
              <a:latin typeface="华光行书_CNKI" panose="02000500000000000000" pitchFamily="2" charset="-122"/>
              <a:ea typeface="华光行书_CNKI" panose="02000500000000000000" pitchFamily="2" charset="-122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039B1370-16CE-5117-2A8E-D9144AE6CC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4502" y="2405239"/>
            <a:ext cx="4195555" cy="1733877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9CD1A354-FD0C-AB2F-54E8-0B4DDD8A72F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7" y="4168358"/>
            <a:ext cx="4718470" cy="2060177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2BA9FD31-F254-EC79-AC49-CB0DC9C29F1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12376" y="5843751"/>
            <a:ext cx="2007681" cy="869995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1F10D07F-9FF7-B669-637F-CDD01A698C7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23485" y="2665851"/>
            <a:ext cx="5548543" cy="30050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95632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794" y="176798"/>
            <a:ext cx="12190413" cy="728917"/>
          </a:xfrm>
          <a:prstGeom prst="rect">
            <a:avLst/>
          </a:prstGeom>
          <a:solidFill>
            <a:srgbClr val="26CC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3200"/>
          </a:p>
        </p:txBody>
      </p:sp>
      <p:sp>
        <p:nvSpPr>
          <p:cNvPr id="5" name="文本框 4"/>
          <p:cNvSpPr txBox="1"/>
          <p:nvPr/>
        </p:nvSpPr>
        <p:spPr>
          <a:xfrm>
            <a:off x="247719" y="224527"/>
            <a:ext cx="802877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kumimoji="1" sz="3200" b="1">
                <a:latin typeface="华光胖头鱼_CNKI" panose="02000500000000000000" pitchFamily="2" charset="-122"/>
                <a:ea typeface="华光胖头鱼_CNKI" panose="02000500000000000000" pitchFamily="2" charset="-122"/>
              </a:defRPr>
            </a:lvl1pPr>
          </a:lstStyle>
          <a:p>
            <a:r>
              <a:rPr lang="en-US" altLang="zh-CN" dirty="0"/>
              <a:t>7.1</a:t>
            </a:r>
            <a:r>
              <a:rPr lang="zh-CN" altLang="en-US" dirty="0">
                <a:sym typeface="+mn-lt"/>
              </a:rPr>
              <a:t>面向对象的基本特点</a:t>
            </a:r>
            <a:endParaRPr lang="zh-CN" altLang="en-US" dirty="0"/>
          </a:p>
        </p:txBody>
      </p:sp>
      <p:cxnSp>
        <p:nvCxnSpPr>
          <p:cNvPr id="7" name="直线连接符 6"/>
          <p:cNvCxnSpPr/>
          <p:nvPr/>
        </p:nvCxnSpPr>
        <p:spPr>
          <a:xfrm>
            <a:off x="1587" y="905715"/>
            <a:ext cx="12190413" cy="0"/>
          </a:xfrm>
          <a:prstGeom prst="line">
            <a:avLst/>
          </a:prstGeom>
          <a:ln>
            <a:solidFill>
              <a:srgbClr val="104D7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5" name="图片 14">
            <a:extLst>
              <a:ext uri="{FF2B5EF4-FFF2-40B4-BE49-F238E27FC236}">
                <a16:creationId xmlns:a16="http://schemas.microsoft.com/office/drawing/2014/main" id="{2E6FDFF8-8F71-149A-8978-DC789017058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2094" b="89529" l="7692" r="92593">
                        <a14:foregroundMark x1="36752" y1="27225" x2="36752" y2="27225"/>
                        <a14:foregroundMark x1="50142" y1="27749" x2="50142" y2="27749"/>
                        <a14:foregroundMark x1="61254" y1="7853" x2="61254" y2="7853"/>
                        <a14:foregroundMark x1="72365" y1="18325" x2="73504" y2="19372"/>
                        <a14:foregroundMark x1="87179" y1="32984" x2="87179" y2="32984"/>
                        <a14:foregroundMark x1="49003" y1="56021" x2="49003" y2="56021"/>
                        <a14:foregroundMark x1="73789" y1="53403" x2="73789" y2="53403"/>
                        <a14:foregroundMark x1="92593" y1="60733" x2="92593" y2="60733"/>
                        <a14:foregroundMark x1="85755" y1="79058" x2="85755" y2="79058"/>
                        <a14:foregroundMark x1="61254" y1="89005" x2="61254" y2="89005"/>
                        <a14:foregroundMark x1="30199" y1="83246" x2="30199" y2="83246"/>
                        <a14:foregroundMark x1="8262" y1="81675" x2="8262" y2="81675"/>
                        <a14:foregroundMark x1="8547" y1="56545" x2="8547" y2="56545"/>
                        <a14:foregroundMark x1="19943" y1="36126" x2="19943" y2="36126"/>
                        <a14:foregroundMark x1="54416" y1="7853" x2="65242" y2="6806"/>
                        <a14:foregroundMark x1="30769" y1="41361" x2="38177" y2="27749"/>
                        <a14:foregroundMark x1="16809" y1="36649" x2="27066" y2="23560"/>
                        <a14:foregroundMark x1="10541" y1="32984" x2="27350" y2="23037"/>
                        <a14:foregroundMark x1="27350" y1="23037" x2="31339" y2="23037"/>
                        <a14:foregroundMark x1="13390" y1="32461" x2="21368" y2="25654"/>
                        <a14:foregroundMark x1="10826" y1="45550" x2="20228" y2="57592"/>
                        <a14:foregroundMark x1="12536" y1="85864" x2="22792" y2="72251"/>
                        <a14:foregroundMark x1="22792" y1="72251" x2="22792" y2="72251"/>
                        <a14:foregroundMark x1="29345" y1="67539" x2="32194" y2="79581"/>
                        <a14:foregroundMark x1="67806" y1="63874" x2="65242" y2="82199"/>
                        <a14:foregroundMark x1="73504" y1="62827" x2="77493" y2="74346"/>
                        <a14:foregroundMark x1="77208" y1="42932" x2="77208" y2="42932"/>
                        <a14:foregroundMark x1="72365" y1="40314" x2="72365" y2="39791"/>
                        <a14:foregroundMark x1="71510" y1="30366" x2="71510" y2="30366"/>
                        <a14:foregroundMark x1="68091" y1="35079" x2="70085" y2="33508"/>
                        <a14:foregroundMark x1="68376" y1="2094" x2="66667" y2="12042"/>
                        <a14:foregroundMark x1="58689" y1="5236" x2="64957" y2="3141"/>
                        <a14:foregroundMark x1="54701" y1="6283" x2="64103" y2="3665"/>
                        <a14:foregroundMark x1="49003" y1="22513" x2="56125" y2="9948"/>
                        <a14:foregroundMark x1="57550" y1="14136" x2="65527" y2="10471"/>
                        <a14:foregroundMark x1="56980" y1="14660" x2="68946" y2="12042"/>
                        <a14:foregroundMark x1="49858" y1="50262" x2="49858" y2="50262"/>
                        <a14:foregroundMark x1="38746" y1="50262" x2="48433" y2="48691"/>
                        <a14:foregroundMark x1="46439" y1="65969" x2="46439" y2="65969"/>
                        <a14:foregroundMark x1="54131" y1="67016" x2="54131" y2="67016"/>
                        <a14:foregroundMark x1="43305" y1="65969" x2="56125" y2="68586"/>
                        <a14:foregroundMark x1="56125" y1="68586" x2="57550" y2="68063"/>
                      </a14:backgroundRemoval>
                    </a14:imgEffect>
                    <a14:imgEffect>
                      <a14:artisticPhotocopy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842898" y="3191437"/>
            <a:ext cx="4018030" cy="2186449"/>
          </a:xfrm>
          <a:prstGeom prst="rect">
            <a:avLst/>
          </a:prstGeom>
        </p:spPr>
      </p:pic>
      <p:sp>
        <p:nvSpPr>
          <p:cNvPr id="16" name="文本框 15">
            <a:extLst>
              <a:ext uri="{FF2B5EF4-FFF2-40B4-BE49-F238E27FC236}">
                <a16:creationId xmlns:a16="http://schemas.microsoft.com/office/drawing/2014/main" id="{0C690CE7-6059-5059-C08E-CC277E95BBB6}"/>
              </a:ext>
            </a:extLst>
          </p:cNvPr>
          <p:cNvSpPr txBox="1"/>
          <p:nvPr/>
        </p:nvSpPr>
        <p:spPr>
          <a:xfrm>
            <a:off x="247718" y="912014"/>
            <a:ext cx="9689677" cy="20601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3900"/>
              </a:lnSpc>
            </a:pPr>
            <a:r>
              <a:rPr kumimoji="1" lang="zh-CN" altLang="en-US" sz="2400" dirty="0">
                <a:solidFill>
                  <a:schemeClr val="accent1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程序世界的</a:t>
            </a:r>
            <a:r>
              <a:rPr kumimoji="1" lang="zh-CN" altLang="en-US" sz="2400" b="1" dirty="0">
                <a:solidFill>
                  <a:srgbClr val="FF0000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两种世界观</a:t>
            </a:r>
            <a:endParaRPr kumimoji="1" lang="en-US" altLang="zh-CN" b="1" dirty="0">
              <a:solidFill>
                <a:srgbClr val="FF0000"/>
              </a:solidFill>
              <a:latin typeface="华光行书_CNKI" panose="02000500000000000000" pitchFamily="2" charset="-122"/>
              <a:ea typeface="华光行书_CNKI" panose="02000500000000000000" pitchFamily="2" charset="-122"/>
            </a:endParaRPr>
          </a:p>
          <a:p>
            <a:pPr marL="228600" indent="-228600">
              <a:lnSpc>
                <a:spcPts val="3900"/>
              </a:lnSpc>
              <a:buFont typeface="Wingdings" panose="05000000000000000000" pitchFamily="2" charset="2"/>
              <a:buChar char="l"/>
            </a:pPr>
            <a:r>
              <a:rPr kumimoji="1" lang="zh-CN" altLang="en-US" sz="2400" dirty="0">
                <a:solidFill>
                  <a:srgbClr val="FF0000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过程论</a:t>
            </a:r>
            <a:r>
              <a:rPr kumimoji="1" lang="en-US" altLang="zh-CN" sz="2400" dirty="0">
                <a:solidFill>
                  <a:schemeClr val="accent1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——</a:t>
            </a:r>
            <a:r>
              <a:rPr kumimoji="1" lang="en-US" altLang="zh-CN" dirty="0">
                <a:solidFill>
                  <a:schemeClr val="accent1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procedure oriented programming</a:t>
            </a:r>
            <a:r>
              <a:rPr kumimoji="1" lang="zh-CN" altLang="en-US" dirty="0">
                <a:solidFill>
                  <a:schemeClr val="accent1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（</a:t>
            </a:r>
            <a:r>
              <a:rPr kumimoji="1" lang="en-US" altLang="zh-CN" dirty="0">
                <a:solidFill>
                  <a:schemeClr val="accent1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POP</a:t>
            </a:r>
            <a:r>
              <a:rPr kumimoji="1" lang="zh-CN" altLang="en-US" dirty="0">
                <a:solidFill>
                  <a:schemeClr val="accent1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）</a:t>
            </a:r>
            <a:endParaRPr kumimoji="1" lang="en-US" altLang="zh-CN" dirty="0">
              <a:solidFill>
                <a:schemeClr val="accent1"/>
              </a:solidFill>
              <a:latin typeface="华光行书_CNKI" panose="02000500000000000000" pitchFamily="2" charset="-122"/>
              <a:ea typeface="华光行书_CNKI" panose="02000500000000000000" pitchFamily="2" charset="-122"/>
            </a:endParaRPr>
          </a:p>
          <a:p>
            <a:pPr marL="228600" indent="-228600">
              <a:lnSpc>
                <a:spcPts val="3900"/>
              </a:lnSpc>
              <a:buFont typeface="Wingdings" panose="05000000000000000000" pitchFamily="2" charset="2"/>
              <a:buChar char="l"/>
            </a:pPr>
            <a:r>
              <a:rPr kumimoji="1" lang="zh-CN" altLang="en-US" b="1" dirty="0">
                <a:solidFill>
                  <a:srgbClr val="FF0000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对象论</a:t>
            </a:r>
            <a:r>
              <a:rPr kumimoji="1" lang="en-US" altLang="zh-CN" dirty="0">
                <a:solidFill>
                  <a:schemeClr val="accent1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——object oriented programming</a:t>
            </a:r>
            <a:r>
              <a:rPr kumimoji="1" lang="zh-CN" altLang="en-US" dirty="0">
                <a:solidFill>
                  <a:schemeClr val="accent1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（</a:t>
            </a:r>
            <a:r>
              <a:rPr kumimoji="1" lang="en-US" altLang="zh-CN" dirty="0">
                <a:solidFill>
                  <a:schemeClr val="accent1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OOP</a:t>
            </a:r>
            <a:r>
              <a:rPr kumimoji="1" lang="zh-CN" altLang="en-US" dirty="0">
                <a:solidFill>
                  <a:schemeClr val="accent1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）</a:t>
            </a:r>
            <a:endParaRPr kumimoji="1" lang="en-US" altLang="zh-CN" dirty="0">
              <a:solidFill>
                <a:schemeClr val="accent1"/>
              </a:solidFill>
              <a:latin typeface="华光行书_CNKI" panose="02000500000000000000" pitchFamily="2" charset="-122"/>
              <a:ea typeface="华光行书_CNKI" panose="02000500000000000000" pitchFamily="2" charset="-122"/>
            </a:endParaRPr>
          </a:p>
          <a:p>
            <a:pPr marL="228600" indent="-228600">
              <a:lnSpc>
                <a:spcPts val="3900"/>
              </a:lnSpc>
              <a:buFont typeface="Wingdings" panose="05000000000000000000" pitchFamily="2" charset="2"/>
              <a:buChar char="l"/>
            </a:pPr>
            <a:endParaRPr kumimoji="1" lang="en-US" altLang="zh-CN" sz="2400" dirty="0">
              <a:solidFill>
                <a:schemeClr val="accent1"/>
              </a:solidFill>
              <a:latin typeface="华光行书_CNKI" panose="02000500000000000000" pitchFamily="2" charset="-122"/>
              <a:ea typeface="华光行书_CNKI" panose="02000500000000000000" pitchFamily="2" charset="-122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3" name="墨迹 52">
                <a:extLst>
                  <a:ext uri="{FF2B5EF4-FFF2-40B4-BE49-F238E27FC236}">
                    <a16:creationId xmlns:a16="http://schemas.microsoft.com/office/drawing/2014/main" id="{FC8357EB-29C8-48A5-DF03-14A8CE3A3278}"/>
                  </a:ext>
                </a:extLst>
              </p14:cNvPr>
              <p14:cNvContentPartPr/>
              <p14:nvPr/>
            </p14:nvContentPartPr>
            <p14:xfrm>
              <a:off x="205229" y="2496989"/>
              <a:ext cx="20520" cy="19080"/>
            </p14:xfrm>
          </p:contentPart>
        </mc:Choice>
        <mc:Fallback xmlns="">
          <p:pic>
            <p:nvPicPr>
              <p:cNvPr id="53" name="墨迹 52">
                <a:extLst>
                  <a:ext uri="{FF2B5EF4-FFF2-40B4-BE49-F238E27FC236}">
                    <a16:creationId xmlns:a16="http://schemas.microsoft.com/office/drawing/2014/main" id="{FC8357EB-29C8-48A5-DF03-14A8CE3A3278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96229" y="2488349"/>
                <a:ext cx="38160" cy="36720"/>
              </a:xfrm>
              <a:prstGeom prst="rect">
                <a:avLst/>
              </a:prstGeom>
            </p:spPr>
          </p:pic>
        </mc:Fallback>
      </mc:AlternateContent>
      <p:pic>
        <p:nvPicPr>
          <p:cNvPr id="3" name="图片 2">
            <a:extLst>
              <a:ext uri="{FF2B5EF4-FFF2-40B4-BE49-F238E27FC236}">
                <a16:creationId xmlns:a16="http://schemas.microsoft.com/office/drawing/2014/main" id="{C50B1592-4CC0-E22F-BC47-BCBEEA06723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7268" y="2688614"/>
            <a:ext cx="5191125" cy="2981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99694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椭圆 2">
            <a:extLst>
              <a:ext uri="{FF2B5EF4-FFF2-40B4-BE49-F238E27FC236}">
                <a16:creationId xmlns:a16="http://schemas.microsoft.com/office/drawing/2014/main" id="{E556CEE1-C685-4A01-A763-FE8C3A714689}"/>
              </a:ext>
            </a:extLst>
          </p:cNvPr>
          <p:cNvSpPr/>
          <p:nvPr/>
        </p:nvSpPr>
        <p:spPr>
          <a:xfrm>
            <a:off x="5223421" y="1302190"/>
            <a:ext cx="2994373" cy="1882301"/>
          </a:xfrm>
          <a:prstGeom prst="ellipse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794" y="176798"/>
            <a:ext cx="12190413" cy="728917"/>
          </a:xfrm>
          <a:prstGeom prst="rect">
            <a:avLst/>
          </a:prstGeom>
          <a:solidFill>
            <a:srgbClr val="26CC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3200"/>
          </a:p>
        </p:txBody>
      </p:sp>
      <p:sp>
        <p:nvSpPr>
          <p:cNvPr id="5" name="文本框 4"/>
          <p:cNvSpPr txBox="1"/>
          <p:nvPr/>
        </p:nvSpPr>
        <p:spPr>
          <a:xfrm>
            <a:off x="247719" y="224527"/>
            <a:ext cx="802877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kumimoji="1" sz="3200" b="1">
                <a:latin typeface="华光胖头鱼_CNKI" panose="02000500000000000000" pitchFamily="2" charset="-122"/>
                <a:ea typeface="华光胖头鱼_CNKI" panose="02000500000000000000" pitchFamily="2" charset="-122"/>
              </a:defRPr>
            </a:lvl1pPr>
          </a:lstStyle>
          <a:p>
            <a:r>
              <a:rPr lang="en-US" altLang="zh-CN" dirty="0"/>
              <a:t>7.1</a:t>
            </a:r>
            <a:r>
              <a:rPr lang="zh-CN" altLang="en-US" dirty="0">
                <a:sym typeface="+mn-lt"/>
              </a:rPr>
              <a:t>面向对象的基本特点</a:t>
            </a:r>
            <a:endParaRPr lang="zh-CN" altLang="en-US" dirty="0"/>
          </a:p>
        </p:txBody>
      </p:sp>
      <p:cxnSp>
        <p:nvCxnSpPr>
          <p:cNvPr id="7" name="直线连接符 6"/>
          <p:cNvCxnSpPr/>
          <p:nvPr/>
        </p:nvCxnSpPr>
        <p:spPr>
          <a:xfrm>
            <a:off x="1587" y="905715"/>
            <a:ext cx="12190413" cy="0"/>
          </a:xfrm>
          <a:prstGeom prst="line">
            <a:avLst/>
          </a:prstGeom>
          <a:ln>
            <a:solidFill>
              <a:srgbClr val="104D7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文本框 10">
            <a:extLst>
              <a:ext uri="{FF2B5EF4-FFF2-40B4-BE49-F238E27FC236}">
                <a16:creationId xmlns:a16="http://schemas.microsoft.com/office/drawing/2014/main" id="{4A5B6234-A432-4EDB-8B97-65FC19558373}"/>
              </a:ext>
            </a:extLst>
          </p:cNvPr>
          <p:cNvSpPr txBox="1"/>
          <p:nvPr/>
        </p:nvSpPr>
        <p:spPr>
          <a:xfrm>
            <a:off x="132619" y="991606"/>
            <a:ext cx="6430172" cy="15600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3900"/>
              </a:lnSpc>
            </a:pPr>
            <a:r>
              <a:rPr kumimoji="1" lang="zh-CN" altLang="en-US" sz="2400" dirty="0">
                <a:solidFill>
                  <a:schemeClr val="accent1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程序世界的两种世界观</a:t>
            </a:r>
            <a:endParaRPr kumimoji="1" lang="en-US" altLang="zh-CN" dirty="0">
              <a:solidFill>
                <a:schemeClr val="accent1"/>
              </a:solidFill>
              <a:latin typeface="华光行书_CNKI" panose="02000500000000000000" pitchFamily="2" charset="-122"/>
              <a:ea typeface="华光行书_CNKI" panose="02000500000000000000" pitchFamily="2" charset="-122"/>
            </a:endParaRPr>
          </a:p>
          <a:p>
            <a:pPr marL="228600" indent="-228600">
              <a:lnSpc>
                <a:spcPts val="3900"/>
              </a:lnSpc>
              <a:buFont typeface="Wingdings" panose="05000000000000000000" pitchFamily="2" charset="2"/>
              <a:buChar char="l"/>
            </a:pPr>
            <a:r>
              <a:rPr kumimoji="1" lang="zh-CN" altLang="en-US" sz="2400" dirty="0">
                <a:solidFill>
                  <a:schemeClr val="accent1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过程论</a:t>
            </a:r>
            <a:endParaRPr kumimoji="1" lang="en-US" altLang="zh-CN" sz="2400" dirty="0">
              <a:solidFill>
                <a:schemeClr val="accent1"/>
              </a:solidFill>
              <a:latin typeface="华光行书_CNKI" panose="02000500000000000000" pitchFamily="2" charset="-122"/>
              <a:ea typeface="华光行书_CNKI" panose="02000500000000000000" pitchFamily="2" charset="-122"/>
            </a:endParaRPr>
          </a:p>
          <a:p>
            <a:pPr marL="228600" indent="-228600">
              <a:lnSpc>
                <a:spcPts val="3900"/>
              </a:lnSpc>
              <a:buFont typeface="Wingdings" panose="05000000000000000000" pitchFamily="2" charset="2"/>
              <a:buChar char="l"/>
            </a:pPr>
            <a:r>
              <a:rPr kumimoji="1" lang="zh-CN" altLang="en-US" dirty="0">
                <a:solidFill>
                  <a:schemeClr val="accent1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对象论</a:t>
            </a:r>
            <a:endParaRPr kumimoji="1" lang="en-US" altLang="zh-CN" sz="2400" dirty="0">
              <a:solidFill>
                <a:schemeClr val="accent1"/>
              </a:solidFill>
              <a:latin typeface="华光行书_CNKI" panose="02000500000000000000" pitchFamily="2" charset="-122"/>
              <a:ea typeface="华光行书_CNKI" panose="02000500000000000000" pitchFamily="2" charset="-122"/>
            </a:endParaRP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70C15646-98EF-485B-BF91-C651DDEAB16E}"/>
              </a:ext>
            </a:extLst>
          </p:cNvPr>
          <p:cNvSpPr/>
          <p:nvPr/>
        </p:nvSpPr>
        <p:spPr>
          <a:xfrm>
            <a:off x="5588080" y="1541833"/>
            <a:ext cx="846305" cy="758758"/>
          </a:xfrm>
          <a:prstGeom prst="ellipse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latin typeface="华光行书_CNKI" panose="02000500000000000000" pitchFamily="2" charset="-122"/>
                <a:ea typeface="华光行书_CNKI" panose="02000500000000000000" pitchFamily="2" charset="-122"/>
              </a:rPr>
              <a:t>数据</a:t>
            </a:r>
          </a:p>
        </p:txBody>
      </p:sp>
      <p:sp>
        <p:nvSpPr>
          <p:cNvPr id="49" name="椭圆 48">
            <a:extLst>
              <a:ext uri="{FF2B5EF4-FFF2-40B4-BE49-F238E27FC236}">
                <a16:creationId xmlns:a16="http://schemas.microsoft.com/office/drawing/2014/main" id="{7B38FB0E-9569-4F03-A6B4-1F956B3BE637}"/>
              </a:ext>
            </a:extLst>
          </p:cNvPr>
          <p:cNvSpPr/>
          <p:nvPr/>
        </p:nvSpPr>
        <p:spPr>
          <a:xfrm>
            <a:off x="7053522" y="1551561"/>
            <a:ext cx="877236" cy="758757"/>
          </a:xfrm>
          <a:prstGeom prst="ellipse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latin typeface="华光行书_CNKI" panose="02000500000000000000" pitchFamily="2" charset="-122"/>
                <a:ea typeface="华光行书_CNKI" panose="02000500000000000000" pitchFamily="2" charset="-122"/>
              </a:rPr>
              <a:t>逻辑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8A9E8A9-1E9B-4F03-B4E7-4904B17677C1}"/>
              </a:ext>
            </a:extLst>
          </p:cNvPr>
          <p:cNvSpPr txBox="1"/>
          <p:nvPr/>
        </p:nvSpPr>
        <p:spPr>
          <a:xfrm rot="516408">
            <a:off x="5421186" y="2310689"/>
            <a:ext cx="131952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latin typeface="华光行书_CNKI" panose="02000500000000000000" pitchFamily="2" charset="-122"/>
                <a:ea typeface="华光行书_CNKI" panose="02000500000000000000" pitchFamily="2" charset="-122"/>
              </a:rPr>
              <a:t>静</a:t>
            </a:r>
            <a:r>
              <a:rPr lang="en-US" altLang="zh-CN" sz="2000" dirty="0">
                <a:latin typeface="华光行书_CNKI" panose="02000500000000000000" pitchFamily="2" charset="-122"/>
                <a:ea typeface="华光行书_CNKI" panose="02000500000000000000" pitchFamily="2" charset="-122"/>
              </a:rPr>
              <a:t>,</a:t>
            </a:r>
            <a:r>
              <a:rPr lang="zh-CN" altLang="en-US" sz="2000" dirty="0">
                <a:latin typeface="华光行书_CNKI" panose="02000500000000000000" pitchFamily="2" charset="-122"/>
                <a:ea typeface="华光行书_CNKI" panose="02000500000000000000" pitchFamily="2" charset="-122"/>
              </a:rPr>
              <a:t>描述世界的状态</a:t>
            </a:r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id="{02E2D1BF-A077-4A48-8D42-A40E4DED9F69}"/>
              </a:ext>
            </a:extLst>
          </p:cNvPr>
          <p:cNvSpPr txBox="1"/>
          <p:nvPr/>
        </p:nvSpPr>
        <p:spPr>
          <a:xfrm rot="21128272">
            <a:off x="6844062" y="2236082"/>
            <a:ext cx="131952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latin typeface="华光行书_CNKI" panose="02000500000000000000" pitchFamily="2" charset="-122"/>
                <a:ea typeface="华光行书_CNKI" panose="02000500000000000000" pitchFamily="2" charset="-122"/>
              </a:rPr>
              <a:t>动</a:t>
            </a:r>
            <a:r>
              <a:rPr lang="en-US" altLang="zh-CN" sz="2000" dirty="0">
                <a:latin typeface="华光行书_CNKI" panose="02000500000000000000" pitchFamily="2" charset="-122"/>
                <a:ea typeface="华光行书_CNKI" panose="02000500000000000000" pitchFamily="2" charset="-122"/>
              </a:rPr>
              <a:t>,</a:t>
            </a:r>
            <a:r>
              <a:rPr lang="zh-CN" altLang="en-US" sz="2000" dirty="0">
                <a:latin typeface="华光行书_CNKI" panose="02000500000000000000" pitchFamily="2" charset="-122"/>
                <a:ea typeface="华光行书_CNKI" panose="02000500000000000000" pitchFamily="2" charset="-122"/>
              </a:rPr>
              <a:t>推动世界的演进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8D3248A7-ADAA-497A-B610-773BB7FFA629}"/>
              </a:ext>
            </a:extLst>
          </p:cNvPr>
          <p:cNvSpPr txBox="1"/>
          <p:nvPr/>
        </p:nvSpPr>
        <p:spPr>
          <a:xfrm>
            <a:off x="6144685" y="922753"/>
            <a:ext cx="121155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b="1" dirty="0">
                <a:solidFill>
                  <a:srgbClr val="134F85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程序</a:t>
            </a:r>
          </a:p>
        </p:txBody>
      </p:sp>
      <p:sp>
        <p:nvSpPr>
          <p:cNvPr id="9" name="标注: 上箭头 8">
            <a:extLst>
              <a:ext uri="{FF2B5EF4-FFF2-40B4-BE49-F238E27FC236}">
                <a16:creationId xmlns:a16="http://schemas.microsoft.com/office/drawing/2014/main" id="{D2584E5F-7E09-4D7C-9E70-116D6E866CAA}"/>
              </a:ext>
            </a:extLst>
          </p:cNvPr>
          <p:cNvSpPr/>
          <p:nvPr/>
        </p:nvSpPr>
        <p:spPr>
          <a:xfrm rot="1245511">
            <a:off x="3910518" y="2812014"/>
            <a:ext cx="2899706" cy="2109455"/>
          </a:xfrm>
          <a:prstGeom prst="upArrowCallout">
            <a:avLst>
              <a:gd name="adj1" fmla="val 6296"/>
              <a:gd name="adj2" fmla="val 5531"/>
              <a:gd name="adj3" fmla="val 11775"/>
              <a:gd name="adj4" fmla="val 72961"/>
            </a:avLst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60C42132-34FB-454B-A834-108CCF283F96}"/>
              </a:ext>
            </a:extLst>
          </p:cNvPr>
          <p:cNvSpPr txBox="1"/>
          <p:nvPr/>
        </p:nvSpPr>
        <p:spPr>
          <a:xfrm rot="1245511">
            <a:off x="3730042" y="3310360"/>
            <a:ext cx="2917144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latin typeface="华光行书_CNKI" panose="02000500000000000000" pitchFamily="2" charset="-122"/>
                <a:ea typeface="华光行书_CNKI" panose="02000500000000000000" pitchFamily="2" charset="-122"/>
              </a:rPr>
              <a:t>数据与逻辑分离</a:t>
            </a:r>
            <a:endParaRPr lang="en-US" altLang="zh-CN" sz="2000" dirty="0">
              <a:latin typeface="华光行书_CNKI" panose="02000500000000000000" pitchFamily="2" charset="-122"/>
              <a:ea typeface="华光行书_CNKI" panose="02000500000000000000" pitchFamily="2" charset="-122"/>
            </a:endParaRPr>
          </a:p>
          <a:p>
            <a:r>
              <a:rPr lang="zh-CN" altLang="en-US" sz="2000" dirty="0">
                <a:latin typeface="华光行书_CNKI" panose="02000500000000000000" pitchFamily="2" charset="-122"/>
                <a:ea typeface="华光行书_CNKI" panose="02000500000000000000" pitchFamily="2" charset="-122"/>
              </a:rPr>
              <a:t>用逻辑定义过程</a:t>
            </a:r>
            <a:endParaRPr lang="en-US" altLang="zh-CN" sz="2000" dirty="0">
              <a:latin typeface="华光行书_CNKI" panose="02000500000000000000" pitchFamily="2" charset="-122"/>
              <a:ea typeface="华光行书_CNKI" panose="02000500000000000000" pitchFamily="2" charset="-122"/>
            </a:endParaRPr>
          </a:p>
          <a:p>
            <a:r>
              <a:rPr lang="zh-CN" altLang="en-US" sz="2000" dirty="0">
                <a:latin typeface="华光行书_CNKI" panose="02000500000000000000" pitchFamily="2" charset="-122"/>
                <a:ea typeface="华光行书_CNKI" panose="02000500000000000000" pitchFamily="2" charset="-122"/>
              </a:rPr>
              <a:t>过程明确过程处理数据</a:t>
            </a:r>
            <a:endParaRPr lang="en-US" altLang="zh-CN" sz="2000" dirty="0">
              <a:latin typeface="华光行书_CNKI" panose="02000500000000000000" pitchFamily="2" charset="-122"/>
              <a:ea typeface="华光行书_CNKI" panose="02000500000000000000" pitchFamily="2" charset="-122"/>
            </a:endParaRPr>
          </a:p>
          <a:p>
            <a:r>
              <a:rPr lang="zh-CN" altLang="en-US" sz="2000" dirty="0">
                <a:latin typeface="华光行书_CNKI" panose="02000500000000000000" pitchFamily="2" charset="-122"/>
                <a:ea typeface="华光行书_CNKI" panose="02000500000000000000" pitchFamily="2" charset="-122"/>
              </a:rPr>
              <a:t>演变是在逻辑作用下改变数据的过程</a:t>
            </a:r>
          </a:p>
        </p:txBody>
      </p:sp>
      <p:sp>
        <p:nvSpPr>
          <p:cNvPr id="62" name="标注: 上箭头 61">
            <a:extLst>
              <a:ext uri="{FF2B5EF4-FFF2-40B4-BE49-F238E27FC236}">
                <a16:creationId xmlns:a16="http://schemas.microsoft.com/office/drawing/2014/main" id="{2ABBA871-ABE5-4A0A-9D6C-248C38F78629}"/>
              </a:ext>
            </a:extLst>
          </p:cNvPr>
          <p:cNvSpPr/>
          <p:nvPr/>
        </p:nvSpPr>
        <p:spPr>
          <a:xfrm rot="20354429">
            <a:off x="7114790" y="2600922"/>
            <a:ext cx="2678770" cy="2231316"/>
          </a:xfrm>
          <a:prstGeom prst="upArrowCallout">
            <a:avLst>
              <a:gd name="adj1" fmla="val 6296"/>
              <a:gd name="adj2" fmla="val 5531"/>
              <a:gd name="adj3" fmla="val 11775"/>
              <a:gd name="adj4" fmla="val 72961"/>
            </a:avLst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3" name="文本框 62">
            <a:extLst>
              <a:ext uri="{FF2B5EF4-FFF2-40B4-BE49-F238E27FC236}">
                <a16:creationId xmlns:a16="http://schemas.microsoft.com/office/drawing/2014/main" id="{C808708D-3397-49BD-97AC-3E9C77E0EC5B}"/>
              </a:ext>
            </a:extLst>
          </p:cNvPr>
          <p:cNvSpPr txBox="1"/>
          <p:nvPr/>
        </p:nvSpPr>
        <p:spPr>
          <a:xfrm rot="20292221">
            <a:off x="7191872" y="3158788"/>
            <a:ext cx="2762231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latin typeface="华光行书_CNKI" panose="02000500000000000000" pitchFamily="2" charset="-122"/>
                <a:ea typeface="华光行书_CNKI" panose="02000500000000000000" pitchFamily="2" charset="-122"/>
              </a:rPr>
              <a:t>数据与逻辑相互依存</a:t>
            </a:r>
            <a:endParaRPr lang="en-US" altLang="zh-CN" sz="2000" dirty="0">
              <a:latin typeface="华光行书_CNKI" panose="02000500000000000000" pitchFamily="2" charset="-122"/>
              <a:ea typeface="华光行书_CNKI" panose="02000500000000000000" pitchFamily="2" charset="-122"/>
            </a:endParaRPr>
          </a:p>
          <a:p>
            <a:r>
              <a:rPr lang="zh-CN" altLang="en-US" sz="2000" dirty="0">
                <a:latin typeface="华光行书_CNKI" panose="02000500000000000000" pitchFamily="2" charset="-122"/>
                <a:ea typeface="华光行书_CNKI" panose="02000500000000000000" pitchFamily="2" charset="-122"/>
              </a:rPr>
              <a:t>世界由对象构成</a:t>
            </a:r>
            <a:endParaRPr lang="en-US" altLang="zh-CN" sz="2000" dirty="0">
              <a:latin typeface="华光行书_CNKI" panose="02000500000000000000" pitchFamily="2" charset="-122"/>
              <a:ea typeface="华光行书_CNKI" panose="02000500000000000000" pitchFamily="2" charset="-122"/>
            </a:endParaRPr>
          </a:p>
          <a:p>
            <a:r>
              <a:rPr lang="zh-CN" altLang="en-US" sz="2000" dirty="0">
                <a:latin typeface="华光行书_CNKI" panose="02000500000000000000" pitchFamily="2" charset="-122"/>
                <a:ea typeface="华光行书_CNKI" panose="02000500000000000000" pitchFamily="2" charset="-122"/>
              </a:rPr>
              <a:t>对象包括数据和逻辑</a:t>
            </a:r>
            <a:endParaRPr lang="en-US" altLang="zh-CN" sz="2000" dirty="0">
              <a:latin typeface="华光行书_CNKI" panose="02000500000000000000" pitchFamily="2" charset="-122"/>
              <a:ea typeface="华光行书_CNKI" panose="02000500000000000000" pitchFamily="2" charset="-122"/>
            </a:endParaRPr>
          </a:p>
          <a:p>
            <a:r>
              <a:rPr lang="zh-CN" altLang="en-US" sz="2000" dirty="0">
                <a:latin typeface="华光行书_CNKI" panose="02000500000000000000" pitchFamily="2" charset="-122"/>
                <a:ea typeface="华光行书_CNKI" panose="02000500000000000000" pitchFamily="2" charset="-122"/>
              </a:rPr>
              <a:t>演变是在对象之间相互作用的结果</a:t>
            </a:r>
            <a:endParaRPr lang="en-US" altLang="zh-CN" sz="2000" dirty="0">
              <a:latin typeface="华光行书_CNKI" panose="02000500000000000000" pitchFamily="2" charset="-122"/>
              <a:ea typeface="华光行书_CNKI" panose="02000500000000000000" pitchFamily="2" charset="-122"/>
            </a:endParaRPr>
          </a:p>
        </p:txBody>
      </p:sp>
      <p:sp>
        <p:nvSpPr>
          <p:cNvPr id="64" name="文本框 63">
            <a:extLst>
              <a:ext uri="{FF2B5EF4-FFF2-40B4-BE49-F238E27FC236}">
                <a16:creationId xmlns:a16="http://schemas.microsoft.com/office/drawing/2014/main" id="{27745E64-1263-4B37-A430-0D90D32A2F8D}"/>
              </a:ext>
            </a:extLst>
          </p:cNvPr>
          <p:cNvSpPr txBox="1"/>
          <p:nvPr/>
        </p:nvSpPr>
        <p:spPr>
          <a:xfrm rot="1445351">
            <a:off x="4219496" y="2711114"/>
            <a:ext cx="109481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b="1" dirty="0">
                <a:solidFill>
                  <a:srgbClr val="134F85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过程论</a:t>
            </a:r>
          </a:p>
        </p:txBody>
      </p:sp>
      <p:sp>
        <p:nvSpPr>
          <p:cNvPr id="65" name="文本框 64">
            <a:extLst>
              <a:ext uri="{FF2B5EF4-FFF2-40B4-BE49-F238E27FC236}">
                <a16:creationId xmlns:a16="http://schemas.microsoft.com/office/drawing/2014/main" id="{FD3D2D91-9829-4DA2-B442-82C34993B678}"/>
              </a:ext>
            </a:extLst>
          </p:cNvPr>
          <p:cNvSpPr txBox="1"/>
          <p:nvPr/>
        </p:nvSpPr>
        <p:spPr>
          <a:xfrm rot="20386455">
            <a:off x="8401082" y="2616946"/>
            <a:ext cx="103997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b="1" dirty="0">
                <a:solidFill>
                  <a:srgbClr val="134F85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对象论</a:t>
            </a:r>
          </a:p>
        </p:txBody>
      </p:sp>
    </p:spTree>
    <p:extLst>
      <p:ext uri="{BB962C8B-B14F-4D97-AF65-F5344CB8AC3E}">
        <p14:creationId xmlns:p14="http://schemas.microsoft.com/office/powerpoint/2010/main" val="24132081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794" y="176798"/>
            <a:ext cx="12190413" cy="728917"/>
          </a:xfrm>
          <a:prstGeom prst="rect">
            <a:avLst/>
          </a:prstGeom>
          <a:solidFill>
            <a:srgbClr val="26CC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3200"/>
          </a:p>
        </p:txBody>
      </p:sp>
      <p:sp>
        <p:nvSpPr>
          <p:cNvPr id="5" name="文本框 4"/>
          <p:cNvSpPr txBox="1"/>
          <p:nvPr/>
        </p:nvSpPr>
        <p:spPr>
          <a:xfrm>
            <a:off x="247719" y="224527"/>
            <a:ext cx="802877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kumimoji="1" sz="3200" b="1">
                <a:latin typeface="华光胖头鱼_CNKI" panose="02000500000000000000" pitchFamily="2" charset="-122"/>
                <a:ea typeface="华光胖头鱼_CNKI" panose="02000500000000000000" pitchFamily="2" charset="-122"/>
              </a:defRPr>
            </a:lvl1pPr>
          </a:lstStyle>
          <a:p>
            <a:r>
              <a:rPr lang="en-US" altLang="zh-CN" dirty="0"/>
              <a:t>7.1</a:t>
            </a:r>
            <a:r>
              <a:rPr lang="zh-CN" altLang="en-US" dirty="0">
                <a:sym typeface="+mn-lt"/>
              </a:rPr>
              <a:t>面向对象的基本特点</a:t>
            </a:r>
            <a:endParaRPr lang="zh-CN" altLang="en-US" dirty="0"/>
          </a:p>
        </p:txBody>
      </p:sp>
      <p:cxnSp>
        <p:nvCxnSpPr>
          <p:cNvPr id="7" name="直线连接符 6"/>
          <p:cNvCxnSpPr/>
          <p:nvPr/>
        </p:nvCxnSpPr>
        <p:spPr>
          <a:xfrm>
            <a:off x="1587" y="905715"/>
            <a:ext cx="12190413" cy="0"/>
          </a:xfrm>
          <a:prstGeom prst="line">
            <a:avLst/>
          </a:prstGeom>
          <a:ln>
            <a:solidFill>
              <a:srgbClr val="104D7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0E9203F1-DDF0-48D3-A8A3-E9E4735679E8}"/>
              </a:ext>
            </a:extLst>
          </p:cNvPr>
          <p:cNvGrpSpPr/>
          <p:nvPr/>
        </p:nvGrpSpPr>
        <p:grpSpPr>
          <a:xfrm>
            <a:off x="1566411" y="2089282"/>
            <a:ext cx="3805268" cy="2686631"/>
            <a:chOff x="1148697" y="1086714"/>
            <a:chExt cx="7075524" cy="5442710"/>
          </a:xfrm>
        </p:grpSpPr>
        <p:sp>
          <p:nvSpPr>
            <p:cNvPr id="16" name="任意多边形: 形状 15">
              <a:extLst>
                <a:ext uri="{FF2B5EF4-FFF2-40B4-BE49-F238E27FC236}">
                  <a16:creationId xmlns:a16="http://schemas.microsoft.com/office/drawing/2014/main" id="{1D22D655-6AA3-4329-A3DE-35671C26CB9B}"/>
                </a:ext>
              </a:extLst>
            </p:cNvPr>
            <p:cNvSpPr/>
            <p:nvPr/>
          </p:nvSpPr>
          <p:spPr>
            <a:xfrm>
              <a:off x="5535522" y="4787757"/>
              <a:ext cx="2688699" cy="1741667"/>
            </a:xfrm>
            <a:custGeom>
              <a:avLst/>
              <a:gdLst>
                <a:gd name="connsiteX0" fmla="*/ 0 w 2688699"/>
                <a:gd name="connsiteY0" fmla="*/ 174167 h 1741667"/>
                <a:gd name="connsiteX1" fmla="*/ 174167 w 2688699"/>
                <a:gd name="connsiteY1" fmla="*/ 0 h 1741667"/>
                <a:gd name="connsiteX2" fmla="*/ 2514532 w 2688699"/>
                <a:gd name="connsiteY2" fmla="*/ 0 h 1741667"/>
                <a:gd name="connsiteX3" fmla="*/ 2688699 w 2688699"/>
                <a:gd name="connsiteY3" fmla="*/ 174167 h 1741667"/>
                <a:gd name="connsiteX4" fmla="*/ 2688699 w 2688699"/>
                <a:gd name="connsiteY4" fmla="*/ 1567500 h 1741667"/>
                <a:gd name="connsiteX5" fmla="*/ 2514532 w 2688699"/>
                <a:gd name="connsiteY5" fmla="*/ 1741667 h 1741667"/>
                <a:gd name="connsiteX6" fmla="*/ 174167 w 2688699"/>
                <a:gd name="connsiteY6" fmla="*/ 1741667 h 1741667"/>
                <a:gd name="connsiteX7" fmla="*/ 0 w 2688699"/>
                <a:gd name="connsiteY7" fmla="*/ 1567500 h 1741667"/>
                <a:gd name="connsiteX8" fmla="*/ 0 w 2688699"/>
                <a:gd name="connsiteY8" fmla="*/ 174167 h 17416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688699" h="1741667">
                  <a:moveTo>
                    <a:pt x="0" y="174167"/>
                  </a:moveTo>
                  <a:cubicBezTo>
                    <a:pt x="0" y="77977"/>
                    <a:pt x="77977" y="0"/>
                    <a:pt x="174167" y="0"/>
                  </a:cubicBezTo>
                  <a:lnTo>
                    <a:pt x="2514532" y="0"/>
                  </a:lnTo>
                  <a:cubicBezTo>
                    <a:pt x="2610722" y="0"/>
                    <a:pt x="2688699" y="77977"/>
                    <a:pt x="2688699" y="174167"/>
                  </a:cubicBezTo>
                  <a:lnTo>
                    <a:pt x="2688699" y="1567500"/>
                  </a:lnTo>
                  <a:cubicBezTo>
                    <a:pt x="2688699" y="1663690"/>
                    <a:pt x="2610722" y="1741667"/>
                    <a:pt x="2514532" y="1741667"/>
                  </a:cubicBezTo>
                  <a:lnTo>
                    <a:pt x="174167" y="1741667"/>
                  </a:lnTo>
                  <a:cubicBezTo>
                    <a:pt x="77977" y="1741667"/>
                    <a:pt x="0" y="1663690"/>
                    <a:pt x="0" y="1567500"/>
                  </a:cubicBezTo>
                  <a:lnTo>
                    <a:pt x="0" y="174167"/>
                  </a:lnTo>
                  <a:close/>
                </a:path>
              </a:pathLst>
            </a:custGeom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031559" tIns="660366" rIns="224949" bIns="224949" numCol="1" spcCol="1270" anchor="t" anchorCtr="0">
              <a:noAutofit/>
            </a:bodyPr>
            <a:lstStyle/>
            <a:p>
              <a:pPr marL="285750" lvl="1" indent="-285750" algn="l" defTabSz="16891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endParaRPr lang="zh-CN" altLang="en-US" sz="3800" kern="1200"/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16512582-5869-4A4A-A062-1E1008DF0DDB}"/>
                </a:ext>
              </a:extLst>
            </p:cNvPr>
            <p:cNvSpPr/>
            <p:nvPr/>
          </p:nvSpPr>
          <p:spPr>
            <a:xfrm>
              <a:off x="1148697" y="4787757"/>
              <a:ext cx="2688699" cy="1741667"/>
            </a:xfrm>
            <a:custGeom>
              <a:avLst/>
              <a:gdLst>
                <a:gd name="connsiteX0" fmla="*/ 0 w 2688699"/>
                <a:gd name="connsiteY0" fmla="*/ 174167 h 1741667"/>
                <a:gd name="connsiteX1" fmla="*/ 174167 w 2688699"/>
                <a:gd name="connsiteY1" fmla="*/ 0 h 1741667"/>
                <a:gd name="connsiteX2" fmla="*/ 2514532 w 2688699"/>
                <a:gd name="connsiteY2" fmla="*/ 0 h 1741667"/>
                <a:gd name="connsiteX3" fmla="*/ 2688699 w 2688699"/>
                <a:gd name="connsiteY3" fmla="*/ 174167 h 1741667"/>
                <a:gd name="connsiteX4" fmla="*/ 2688699 w 2688699"/>
                <a:gd name="connsiteY4" fmla="*/ 1567500 h 1741667"/>
                <a:gd name="connsiteX5" fmla="*/ 2514532 w 2688699"/>
                <a:gd name="connsiteY5" fmla="*/ 1741667 h 1741667"/>
                <a:gd name="connsiteX6" fmla="*/ 174167 w 2688699"/>
                <a:gd name="connsiteY6" fmla="*/ 1741667 h 1741667"/>
                <a:gd name="connsiteX7" fmla="*/ 0 w 2688699"/>
                <a:gd name="connsiteY7" fmla="*/ 1567500 h 1741667"/>
                <a:gd name="connsiteX8" fmla="*/ 0 w 2688699"/>
                <a:gd name="connsiteY8" fmla="*/ 174167 h 17416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688699" h="1741667">
                  <a:moveTo>
                    <a:pt x="0" y="174167"/>
                  </a:moveTo>
                  <a:cubicBezTo>
                    <a:pt x="0" y="77977"/>
                    <a:pt x="77977" y="0"/>
                    <a:pt x="174167" y="0"/>
                  </a:cubicBezTo>
                  <a:lnTo>
                    <a:pt x="2514532" y="0"/>
                  </a:lnTo>
                  <a:cubicBezTo>
                    <a:pt x="2610722" y="0"/>
                    <a:pt x="2688699" y="77977"/>
                    <a:pt x="2688699" y="174167"/>
                  </a:cubicBezTo>
                  <a:lnTo>
                    <a:pt x="2688699" y="1567500"/>
                  </a:lnTo>
                  <a:cubicBezTo>
                    <a:pt x="2688699" y="1663690"/>
                    <a:pt x="2610722" y="1741667"/>
                    <a:pt x="2514532" y="1741667"/>
                  </a:cubicBezTo>
                  <a:lnTo>
                    <a:pt x="174167" y="1741667"/>
                  </a:lnTo>
                  <a:cubicBezTo>
                    <a:pt x="77977" y="1741667"/>
                    <a:pt x="0" y="1663690"/>
                    <a:pt x="0" y="1567500"/>
                  </a:cubicBezTo>
                  <a:lnTo>
                    <a:pt x="0" y="174167"/>
                  </a:lnTo>
                  <a:close/>
                </a:path>
              </a:pathLst>
            </a:custGeom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224949" tIns="660366" rIns="1031559" bIns="224949" numCol="1" spcCol="1270" anchor="t" anchorCtr="0">
              <a:noAutofit/>
            </a:bodyPr>
            <a:lstStyle/>
            <a:p>
              <a:pPr marL="285750" lvl="1" indent="-285750" algn="l" defTabSz="16891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endParaRPr lang="zh-CN" altLang="en-US" sz="3800" kern="1200"/>
            </a:p>
          </p:txBody>
        </p:sp>
        <p:sp>
          <p:nvSpPr>
            <p:cNvPr id="18" name="任意多边形: 形状 17">
              <a:extLst>
                <a:ext uri="{FF2B5EF4-FFF2-40B4-BE49-F238E27FC236}">
                  <a16:creationId xmlns:a16="http://schemas.microsoft.com/office/drawing/2014/main" id="{BFB77B94-F4BB-419C-8793-66E055483F4A}"/>
                </a:ext>
              </a:extLst>
            </p:cNvPr>
            <p:cNvSpPr/>
            <p:nvPr/>
          </p:nvSpPr>
          <p:spPr>
            <a:xfrm>
              <a:off x="5535522" y="1086714"/>
              <a:ext cx="2688699" cy="1741667"/>
            </a:xfrm>
            <a:custGeom>
              <a:avLst/>
              <a:gdLst>
                <a:gd name="connsiteX0" fmla="*/ 0 w 2688699"/>
                <a:gd name="connsiteY0" fmla="*/ 174167 h 1741667"/>
                <a:gd name="connsiteX1" fmla="*/ 174167 w 2688699"/>
                <a:gd name="connsiteY1" fmla="*/ 0 h 1741667"/>
                <a:gd name="connsiteX2" fmla="*/ 2514532 w 2688699"/>
                <a:gd name="connsiteY2" fmla="*/ 0 h 1741667"/>
                <a:gd name="connsiteX3" fmla="*/ 2688699 w 2688699"/>
                <a:gd name="connsiteY3" fmla="*/ 174167 h 1741667"/>
                <a:gd name="connsiteX4" fmla="*/ 2688699 w 2688699"/>
                <a:gd name="connsiteY4" fmla="*/ 1567500 h 1741667"/>
                <a:gd name="connsiteX5" fmla="*/ 2514532 w 2688699"/>
                <a:gd name="connsiteY5" fmla="*/ 1741667 h 1741667"/>
                <a:gd name="connsiteX6" fmla="*/ 174167 w 2688699"/>
                <a:gd name="connsiteY6" fmla="*/ 1741667 h 1741667"/>
                <a:gd name="connsiteX7" fmla="*/ 0 w 2688699"/>
                <a:gd name="connsiteY7" fmla="*/ 1567500 h 1741667"/>
                <a:gd name="connsiteX8" fmla="*/ 0 w 2688699"/>
                <a:gd name="connsiteY8" fmla="*/ 174167 h 17416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688699" h="1741667">
                  <a:moveTo>
                    <a:pt x="0" y="174167"/>
                  </a:moveTo>
                  <a:cubicBezTo>
                    <a:pt x="0" y="77977"/>
                    <a:pt x="77977" y="0"/>
                    <a:pt x="174167" y="0"/>
                  </a:cubicBezTo>
                  <a:lnTo>
                    <a:pt x="2514532" y="0"/>
                  </a:lnTo>
                  <a:cubicBezTo>
                    <a:pt x="2610722" y="0"/>
                    <a:pt x="2688699" y="77977"/>
                    <a:pt x="2688699" y="174167"/>
                  </a:cubicBezTo>
                  <a:lnTo>
                    <a:pt x="2688699" y="1567500"/>
                  </a:lnTo>
                  <a:cubicBezTo>
                    <a:pt x="2688699" y="1663690"/>
                    <a:pt x="2610722" y="1741667"/>
                    <a:pt x="2514532" y="1741667"/>
                  </a:cubicBezTo>
                  <a:lnTo>
                    <a:pt x="174167" y="1741667"/>
                  </a:lnTo>
                  <a:cubicBezTo>
                    <a:pt x="77977" y="1741667"/>
                    <a:pt x="0" y="1663690"/>
                    <a:pt x="0" y="1567500"/>
                  </a:cubicBezTo>
                  <a:lnTo>
                    <a:pt x="0" y="174167"/>
                  </a:lnTo>
                  <a:close/>
                </a:path>
              </a:pathLst>
            </a:custGeom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031559" tIns="224949" rIns="224949" bIns="660366" numCol="1" spcCol="1270" anchor="t" anchorCtr="0">
              <a:noAutofit/>
            </a:bodyPr>
            <a:lstStyle/>
            <a:p>
              <a:pPr marL="285750" lvl="1" indent="-285750" algn="l" defTabSz="16891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endParaRPr lang="zh-CN" altLang="en-US" sz="3800" kern="1200"/>
            </a:p>
          </p:txBody>
        </p:sp>
        <p:sp>
          <p:nvSpPr>
            <p:cNvPr id="20" name="任意多边形: 形状 19">
              <a:extLst>
                <a:ext uri="{FF2B5EF4-FFF2-40B4-BE49-F238E27FC236}">
                  <a16:creationId xmlns:a16="http://schemas.microsoft.com/office/drawing/2014/main" id="{941EB25E-1FAE-4D78-9720-7FB29E032762}"/>
                </a:ext>
              </a:extLst>
            </p:cNvPr>
            <p:cNvSpPr/>
            <p:nvPr/>
          </p:nvSpPr>
          <p:spPr>
            <a:xfrm>
              <a:off x="1148697" y="1086714"/>
              <a:ext cx="2688699" cy="1741667"/>
            </a:xfrm>
            <a:custGeom>
              <a:avLst/>
              <a:gdLst>
                <a:gd name="connsiteX0" fmla="*/ 0 w 2688699"/>
                <a:gd name="connsiteY0" fmla="*/ 174167 h 1741667"/>
                <a:gd name="connsiteX1" fmla="*/ 174167 w 2688699"/>
                <a:gd name="connsiteY1" fmla="*/ 0 h 1741667"/>
                <a:gd name="connsiteX2" fmla="*/ 2514532 w 2688699"/>
                <a:gd name="connsiteY2" fmla="*/ 0 h 1741667"/>
                <a:gd name="connsiteX3" fmla="*/ 2688699 w 2688699"/>
                <a:gd name="connsiteY3" fmla="*/ 174167 h 1741667"/>
                <a:gd name="connsiteX4" fmla="*/ 2688699 w 2688699"/>
                <a:gd name="connsiteY4" fmla="*/ 1567500 h 1741667"/>
                <a:gd name="connsiteX5" fmla="*/ 2514532 w 2688699"/>
                <a:gd name="connsiteY5" fmla="*/ 1741667 h 1741667"/>
                <a:gd name="connsiteX6" fmla="*/ 174167 w 2688699"/>
                <a:gd name="connsiteY6" fmla="*/ 1741667 h 1741667"/>
                <a:gd name="connsiteX7" fmla="*/ 0 w 2688699"/>
                <a:gd name="connsiteY7" fmla="*/ 1567500 h 1741667"/>
                <a:gd name="connsiteX8" fmla="*/ 0 w 2688699"/>
                <a:gd name="connsiteY8" fmla="*/ 174167 h 17416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688699" h="1741667">
                  <a:moveTo>
                    <a:pt x="0" y="174167"/>
                  </a:moveTo>
                  <a:cubicBezTo>
                    <a:pt x="0" y="77977"/>
                    <a:pt x="77977" y="0"/>
                    <a:pt x="174167" y="0"/>
                  </a:cubicBezTo>
                  <a:lnTo>
                    <a:pt x="2514532" y="0"/>
                  </a:lnTo>
                  <a:cubicBezTo>
                    <a:pt x="2610722" y="0"/>
                    <a:pt x="2688699" y="77977"/>
                    <a:pt x="2688699" y="174167"/>
                  </a:cubicBezTo>
                  <a:lnTo>
                    <a:pt x="2688699" y="1567500"/>
                  </a:lnTo>
                  <a:cubicBezTo>
                    <a:pt x="2688699" y="1663690"/>
                    <a:pt x="2610722" y="1741667"/>
                    <a:pt x="2514532" y="1741667"/>
                  </a:cubicBezTo>
                  <a:lnTo>
                    <a:pt x="174167" y="1741667"/>
                  </a:lnTo>
                  <a:cubicBezTo>
                    <a:pt x="77977" y="1741667"/>
                    <a:pt x="0" y="1663690"/>
                    <a:pt x="0" y="1567500"/>
                  </a:cubicBezTo>
                  <a:lnTo>
                    <a:pt x="0" y="174167"/>
                  </a:lnTo>
                  <a:close/>
                </a:path>
              </a:pathLst>
            </a:custGeom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224949" tIns="224949" rIns="1031559" bIns="660366" numCol="1" spcCol="1270" anchor="t" anchorCtr="0">
              <a:noAutofit/>
            </a:bodyPr>
            <a:lstStyle/>
            <a:p>
              <a:pPr marL="0" lvl="1" algn="l" defTabSz="16891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</a:pPr>
              <a:endParaRPr lang="zh-CN" altLang="en-US" sz="1100" kern="1200" dirty="0"/>
            </a:p>
          </p:txBody>
        </p:sp>
      </p:grpSp>
      <p:sp>
        <p:nvSpPr>
          <p:cNvPr id="13" name="矩形 12">
            <a:extLst>
              <a:ext uri="{FF2B5EF4-FFF2-40B4-BE49-F238E27FC236}">
                <a16:creationId xmlns:a16="http://schemas.microsoft.com/office/drawing/2014/main" id="{4631D44E-FB7C-4391-84F5-F679992520EE}"/>
              </a:ext>
            </a:extLst>
          </p:cNvPr>
          <p:cNvSpPr/>
          <p:nvPr/>
        </p:nvSpPr>
        <p:spPr>
          <a:xfrm>
            <a:off x="1975911" y="2729529"/>
            <a:ext cx="2986268" cy="1365812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accent1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object oriented programming(OOP)</a:t>
            </a: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EF34AA58-497F-4E02-8DB1-51ABAC15B4C9}"/>
              </a:ext>
            </a:extLst>
          </p:cNvPr>
          <p:cNvSpPr txBox="1"/>
          <p:nvPr/>
        </p:nvSpPr>
        <p:spPr>
          <a:xfrm>
            <a:off x="1753732" y="2148238"/>
            <a:ext cx="1085608" cy="490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 algn="l" defTabSz="168910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</a:pPr>
            <a:r>
              <a:rPr lang="zh-CN" altLang="en-US" sz="2800" dirty="0">
                <a:solidFill>
                  <a:srgbClr val="104E87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抽象</a:t>
            </a:r>
            <a:endParaRPr lang="zh-CN" altLang="en-US" sz="2800" kern="1200" dirty="0">
              <a:solidFill>
                <a:srgbClr val="104E87"/>
              </a:solidFill>
              <a:latin typeface="华光行书_CNKI" panose="02000500000000000000" pitchFamily="2" charset="-122"/>
              <a:ea typeface="华光行书_CNKI" panose="02000500000000000000" pitchFamily="2" charset="-122"/>
            </a:endParaRP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9B87827D-02FF-4C42-82C5-5A3E6BC09B6B}"/>
              </a:ext>
            </a:extLst>
          </p:cNvPr>
          <p:cNvSpPr txBox="1"/>
          <p:nvPr/>
        </p:nvSpPr>
        <p:spPr>
          <a:xfrm>
            <a:off x="4407800" y="4285009"/>
            <a:ext cx="1085608" cy="490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 algn="l" defTabSz="168910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</a:pPr>
            <a:r>
              <a:rPr lang="zh-CN" altLang="en-US" sz="2800" dirty="0">
                <a:solidFill>
                  <a:srgbClr val="104E87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多态</a:t>
            </a:r>
            <a:endParaRPr lang="zh-CN" altLang="en-US" sz="2800" kern="1200" dirty="0">
              <a:solidFill>
                <a:srgbClr val="104E87"/>
              </a:solidFill>
              <a:latin typeface="华光行书_CNKI" panose="02000500000000000000" pitchFamily="2" charset="-122"/>
              <a:ea typeface="华光行书_CNKI" panose="02000500000000000000" pitchFamily="2" charset="-122"/>
            </a:endParaRP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70204867-0D36-463F-8E9B-2D8C412F6B26}"/>
              </a:ext>
            </a:extLst>
          </p:cNvPr>
          <p:cNvSpPr txBox="1"/>
          <p:nvPr/>
        </p:nvSpPr>
        <p:spPr>
          <a:xfrm>
            <a:off x="4436929" y="2148238"/>
            <a:ext cx="1085608" cy="490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 algn="l" defTabSz="168910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</a:pPr>
            <a:r>
              <a:rPr lang="zh-CN" altLang="en-US" sz="2800" dirty="0">
                <a:solidFill>
                  <a:srgbClr val="104E87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封装</a:t>
            </a:r>
            <a:endParaRPr lang="zh-CN" altLang="en-US" sz="2800" kern="1200" dirty="0">
              <a:solidFill>
                <a:srgbClr val="104E87"/>
              </a:solidFill>
              <a:latin typeface="华光行书_CNKI" panose="02000500000000000000" pitchFamily="2" charset="-122"/>
              <a:ea typeface="华光行书_CNKI" panose="02000500000000000000" pitchFamily="2" charset="-122"/>
            </a:endParaRP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68228442-8973-484B-AC17-1ACBAEB50825}"/>
              </a:ext>
            </a:extLst>
          </p:cNvPr>
          <p:cNvSpPr txBox="1"/>
          <p:nvPr/>
        </p:nvSpPr>
        <p:spPr>
          <a:xfrm>
            <a:off x="1751609" y="4285009"/>
            <a:ext cx="1085608" cy="490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 algn="l" defTabSz="168910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</a:pPr>
            <a:r>
              <a:rPr lang="zh-CN" altLang="en-US" sz="2800" dirty="0">
                <a:solidFill>
                  <a:srgbClr val="104E87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继承</a:t>
            </a:r>
            <a:endParaRPr lang="zh-CN" altLang="en-US" sz="2800" kern="1200" dirty="0">
              <a:solidFill>
                <a:srgbClr val="104E87"/>
              </a:solidFill>
              <a:latin typeface="华光行书_CNKI" panose="02000500000000000000" pitchFamily="2" charset="-122"/>
              <a:ea typeface="华光行书_CNKI" panose="02000500000000000000" pitchFamily="2" charset="-122"/>
            </a:endParaRPr>
          </a:p>
        </p:txBody>
      </p:sp>
      <p:pic>
        <p:nvPicPr>
          <p:cNvPr id="29" name="图片 28">
            <a:extLst>
              <a:ext uri="{FF2B5EF4-FFF2-40B4-BE49-F238E27FC236}">
                <a16:creationId xmlns:a16="http://schemas.microsoft.com/office/drawing/2014/main" id="{BA01460B-8E87-41DE-ADCA-D513892098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53977" y="1201"/>
            <a:ext cx="2662112" cy="2947803"/>
          </a:xfrm>
          <a:prstGeom prst="rect">
            <a:avLst/>
          </a:prstGeom>
        </p:spPr>
      </p:pic>
      <p:pic>
        <p:nvPicPr>
          <p:cNvPr id="31" name="图片 30">
            <a:extLst>
              <a:ext uri="{FF2B5EF4-FFF2-40B4-BE49-F238E27FC236}">
                <a16:creationId xmlns:a16="http://schemas.microsoft.com/office/drawing/2014/main" id="{C18AF195-5A2A-4B3B-852E-5DD01E3DF47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22785" y="3344170"/>
            <a:ext cx="1862400" cy="2769095"/>
          </a:xfrm>
          <a:prstGeom prst="rect">
            <a:avLst/>
          </a:prstGeom>
        </p:spPr>
      </p:pic>
      <p:pic>
        <p:nvPicPr>
          <p:cNvPr id="33" name="图片 32">
            <a:extLst>
              <a:ext uri="{FF2B5EF4-FFF2-40B4-BE49-F238E27FC236}">
                <a16:creationId xmlns:a16="http://schemas.microsoft.com/office/drawing/2014/main" id="{E9D7E2E4-7456-43F4-B6AC-230887FEAAE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84558" y="3310388"/>
            <a:ext cx="1881561" cy="28028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63672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794" y="176798"/>
            <a:ext cx="12190413" cy="728917"/>
          </a:xfrm>
          <a:prstGeom prst="rect">
            <a:avLst/>
          </a:prstGeom>
          <a:solidFill>
            <a:srgbClr val="26CC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3200"/>
          </a:p>
        </p:txBody>
      </p:sp>
      <p:cxnSp>
        <p:nvCxnSpPr>
          <p:cNvPr id="7" name="直线连接符 6"/>
          <p:cNvCxnSpPr/>
          <p:nvPr/>
        </p:nvCxnSpPr>
        <p:spPr>
          <a:xfrm>
            <a:off x="1587" y="905715"/>
            <a:ext cx="12190413" cy="0"/>
          </a:xfrm>
          <a:prstGeom prst="line">
            <a:avLst/>
          </a:prstGeom>
          <a:ln>
            <a:solidFill>
              <a:srgbClr val="104D7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 Box 12">
            <a:extLst>
              <a:ext uri="{FF2B5EF4-FFF2-40B4-BE49-F238E27FC236}">
                <a16:creationId xmlns:a16="http://schemas.microsoft.com/office/drawing/2014/main" id="{AADDA80B-BEE7-4F5D-AD80-D2D222C003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2946" y="2232529"/>
            <a:ext cx="4916199" cy="415498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SzPct val="70000"/>
              <a:buFont typeface="Wingdings" pitchFamily="2" charset="2"/>
              <a:buChar char="o"/>
              <a:defRPr sz="32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n"/>
              <a:defRPr sz="28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o"/>
              <a:defRPr sz="24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n"/>
              <a:defRPr sz="20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lang="zh-CN" altLang="en-US" sz="2400" dirty="0">
                <a:solidFill>
                  <a:srgbClr val="134F85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对同一类对象的共同属性和行为进行概括，形成类</a:t>
            </a:r>
            <a:endParaRPr lang="en-US" altLang="zh-CN" sz="2400" dirty="0">
              <a:solidFill>
                <a:srgbClr val="134F85"/>
              </a:solidFill>
              <a:latin typeface="华光行书_CNKI" panose="02000500000000000000" pitchFamily="2" charset="-122"/>
              <a:ea typeface="华光行书_CNKI" panose="02000500000000000000" pitchFamily="2" charset="-122"/>
            </a:endParaRPr>
          </a:p>
          <a:p>
            <a:pPr marL="342900" indent="-342900" eaLnBrk="1" hangingPunct="1">
              <a:spcBef>
                <a:spcPct val="50000"/>
              </a:spcBef>
              <a:buClrTx/>
              <a:buSzTx/>
              <a:buFont typeface="Wingdings" pitchFamily="2" charset="2"/>
              <a:buBlip>
                <a:blip r:embed="rId3"/>
              </a:buBlip>
              <a:defRPr/>
            </a:pPr>
            <a:r>
              <a:rPr lang="zh-CN" altLang="en-US" sz="2400" dirty="0">
                <a:solidFill>
                  <a:srgbClr val="134F85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先注意问题本质及描述，其次实现过程或细节</a:t>
            </a:r>
            <a:endParaRPr lang="en-US" altLang="zh-CN" sz="2400" dirty="0">
              <a:solidFill>
                <a:srgbClr val="134F85"/>
              </a:solidFill>
              <a:latin typeface="华光行书_CNKI" panose="02000500000000000000" pitchFamily="2" charset="-122"/>
              <a:ea typeface="华光行书_CNKI" panose="02000500000000000000" pitchFamily="2" charset="-122"/>
            </a:endParaRPr>
          </a:p>
          <a:p>
            <a:pPr marL="342900" indent="-342900" eaLnBrk="1" hangingPunct="1">
              <a:spcBef>
                <a:spcPct val="50000"/>
              </a:spcBef>
              <a:buClrTx/>
              <a:buSzTx/>
              <a:buFont typeface="Wingdings" pitchFamily="2" charset="2"/>
              <a:buBlip>
                <a:blip r:embed="rId3"/>
              </a:buBlip>
              <a:defRPr/>
            </a:pPr>
            <a:r>
              <a:rPr lang="zh-CN" altLang="en-US" sz="2400" dirty="0">
                <a:solidFill>
                  <a:srgbClr val="134F85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数据</a:t>
            </a:r>
            <a:r>
              <a:rPr lang="zh-CN" altLang="en-US" sz="2400" dirty="0">
                <a:solidFill>
                  <a:srgbClr val="FF0000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抽象</a:t>
            </a:r>
            <a:r>
              <a:rPr lang="zh-CN" altLang="en-US" sz="2400" dirty="0">
                <a:solidFill>
                  <a:srgbClr val="134F85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：描述某类对象的属性或状态</a:t>
            </a:r>
            <a:endParaRPr lang="en-US" altLang="zh-CN" sz="2400" dirty="0">
              <a:solidFill>
                <a:srgbClr val="134F85"/>
              </a:solidFill>
              <a:latin typeface="华光行书_CNKI" panose="02000500000000000000" pitchFamily="2" charset="-122"/>
              <a:ea typeface="华光行书_CNKI" panose="02000500000000000000" pitchFamily="2" charset="-122"/>
            </a:endParaRPr>
          </a:p>
          <a:p>
            <a:pPr marL="342900" indent="-342900" eaLnBrk="1" hangingPunct="1">
              <a:spcBef>
                <a:spcPct val="50000"/>
              </a:spcBef>
              <a:buClrTx/>
              <a:buSzTx/>
              <a:buFont typeface="Wingdings" pitchFamily="2" charset="2"/>
              <a:buBlip>
                <a:blip r:embed="rId3"/>
              </a:buBlip>
              <a:defRPr/>
            </a:pPr>
            <a:r>
              <a:rPr lang="zh-CN" altLang="en-US" sz="2400" dirty="0">
                <a:solidFill>
                  <a:srgbClr val="134F85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代码</a:t>
            </a:r>
            <a:r>
              <a:rPr lang="zh-CN" altLang="en-US" sz="2400" dirty="0">
                <a:solidFill>
                  <a:srgbClr val="FF0000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抽象</a:t>
            </a:r>
            <a:r>
              <a:rPr lang="zh-CN" altLang="en-US" sz="2400" dirty="0">
                <a:solidFill>
                  <a:srgbClr val="134F85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：描述某类对象共有的行为特征或功能。</a:t>
            </a:r>
            <a:endParaRPr lang="en-US" altLang="zh-CN" sz="2400" dirty="0">
              <a:solidFill>
                <a:srgbClr val="134F85"/>
              </a:solidFill>
              <a:latin typeface="华光行书_CNKI" panose="02000500000000000000" pitchFamily="2" charset="-122"/>
              <a:ea typeface="华光行书_CNKI" panose="02000500000000000000" pitchFamily="2" charset="-122"/>
            </a:endParaRPr>
          </a:p>
          <a:p>
            <a:pPr marL="342900" indent="-342900" eaLnBrk="1" hangingPunct="1">
              <a:spcBef>
                <a:spcPct val="50000"/>
              </a:spcBef>
              <a:buClrTx/>
              <a:buSzTx/>
              <a:buFont typeface="Wingdings" pitchFamily="2" charset="2"/>
              <a:buBlip>
                <a:blip r:embed="rId3"/>
              </a:buBlip>
              <a:defRPr/>
            </a:pPr>
            <a:r>
              <a:rPr lang="zh-CN" altLang="en-US" sz="2400" dirty="0">
                <a:solidFill>
                  <a:srgbClr val="FF0000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抽象</a:t>
            </a:r>
            <a:r>
              <a:rPr lang="zh-CN" altLang="en-US" sz="2400" dirty="0">
                <a:solidFill>
                  <a:srgbClr val="134F85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的实现：类</a:t>
            </a:r>
          </a:p>
        </p:txBody>
      </p:sp>
      <p:pic>
        <p:nvPicPr>
          <p:cNvPr id="14" name="Picture 46" descr="200641472033436">
            <a:extLst>
              <a:ext uri="{FF2B5EF4-FFF2-40B4-BE49-F238E27FC236}">
                <a16:creationId xmlns:a16="http://schemas.microsoft.com/office/drawing/2014/main" id="{B70B9D2F-6D6A-4AFC-B7C2-3CEA640946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81045" y="963022"/>
            <a:ext cx="1219200" cy="1217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" name="矩形 8">
            <a:extLst>
              <a:ext uri="{FF2B5EF4-FFF2-40B4-BE49-F238E27FC236}">
                <a16:creationId xmlns:a16="http://schemas.microsoft.com/office/drawing/2014/main" id="{DB49EF46-0430-4F45-99AF-D96B1E8104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7555" y="1257840"/>
            <a:ext cx="1008063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Char char="o"/>
              <a:defRPr sz="32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o"/>
              <a:defRPr sz="24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n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dirty="0">
                <a:solidFill>
                  <a:srgbClr val="FF0000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抽象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A35DA1C-1080-419F-B219-E911553889F6}"/>
              </a:ext>
            </a:extLst>
          </p:cNvPr>
          <p:cNvSpPr txBox="1"/>
          <p:nvPr/>
        </p:nvSpPr>
        <p:spPr>
          <a:xfrm>
            <a:off x="247719" y="224527"/>
            <a:ext cx="802877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kumimoji="1" sz="3200" b="1">
                <a:latin typeface="华光胖头鱼_CNKI" panose="02000500000000000000" pitchFamily="2" charset="-122"/>
                <a:ea typeface="华光胖头鱼_CNKI" panose="02000500000000000000" pitchFamily="2" charset="-122"/>
              </a:defRPr>
            </a:lvl1pPr>
          </a:lstStyle>
          <a:p>
            <a:r>
              <a:rPr lang="en-US" altLang="zh-CN" dirty="0"/>
              <a:t>7.1</a:t>
            </a:r>
            <a:r>
              <a:rPr lang="zh-CN" altLang="en-US" dirty="0">
                <a:sym typeface="+mn-lt"/>
              </a:rPr>
              <a:t>面向对象的基本特点</a:t>
            </a:r>
            <a:endParaRPr lang="zh-CN" altLang="en-US" dirty="0"/>
          </a:p>
        </p:txBody>
      </p:sp>
      <p:sp>
        <p:nvSpPr>
          <p:cNvPr id="24" name="Text Box 12">
            <a:extLst>
              <a:ext uri="{FF2B5EF4-FFF2-40B4-BE49-F238E27FC236}">
                <a16:creationId xmlns:a16="http://schemas.microsoft.com/office/drawing/2014/main" id="{EB88DFCB-BAC6-4A73-A42C-F842D67063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82551" y="1087247"/>
            <a:ext cx="6244077" cy="157003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SzPct val="70000"/>
              <a:buFont typeface="Wingdings" pitchFamily="2" charset="2"/>
              <a:buChar char="o"/>
              <a:defRPr sz="32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n"/>
              <a:defRPr sz="28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o"/>
              <a:defRPr sz="24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n"/>
              <a:defRPr sz="20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lang="zh-CN" altLang="en-US" sz="2400" dirty="0">
                <a:solidFill>
                  <a:srgbClr val="134F85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抽象实例</a:t>
            </a:r>
            <a:r>
              <a:rPr lang="en-US" altLang="zh-CN" sz="2400" dirty="0">
                <a:solidFill>
                  <a:srgbClr val="134F85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——</a:t>
            </a:r>
            <a:r>
              <a:rPr lang="zh-CN" altLang="en-US" sz="2400" dirty="0">
                <a:solidFill>
                  <a:srgbClr val="134F85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钟表</a:t>
            </a:r>
            <a:endParaRPr lang="en-US" altLang="zh-CN" sz="2400" dirty="0">
              <a:solidFill>
                <a:srgbClr val="134F85"/>
              </a:solidFill>
              <a:latin typeface="华光行书_CNKI" panose="02000500000000000000" pitchFamily="2" charset="-122"/>
              <a:ea typeface="华光行书_CNKI" panose="02000500000000000000" pitchFamily="2" charset="-122"/>
            </a:endParaRPr>
          </a:p>
          <a:p>
            <a:pPr marL="342900" indent="-342900" defTabSz="622300" eaLnBrk="1" hangingPunct="1">
              <a:spcBef>
                <a:spcPct val="50000"/>
              </a:spcBef>
              <a:buClrTx/>
              <a:buSzTx/>
              <a:buFont typeface="Wingdings" pitchFamily="2" charset="2"/>
              <a:buBlip>
                <a:blip r:embed="rId3"/>
              </a:buBlip>
              <a:defRPr/>
            </a:pPr>
            <a:r>
              <a:rPr lang="zh-CN" altLang="en-US" sz="2400" dirty="0">
                <a:solidFill>
                  <a:srgbClr val="134F85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数据</a:t>
            </a:r>
            <a:r>
              <a:rPr lang="zh-CN" altLang="en-US" sz="2400" dirty="0">
                <a:solidFill>
                  <a:srgbClr val="FF0000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抽象</a:t>
            </a:r>
            <a:r>
              <a:rPr lang="zh-CN" altLang="en-US" sz="2400" dirty="0">
                <a:solidFill>
                  <a:srgbClr val="134F85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：</a:t>
            </a:r>
            <a:r>
              <a:rPr lang="en-US" altLang="zh-CN" sz="2400" dirty="0" err="1">
                <a:solidFill>
                  <a:srgbClr val="134F85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int</a:t>
            </a:r>
            <a:r>
              <a:rPr lang="en-US" altLang="zh-CN" sz="2400" dirty="0">
                <a:solidFill>
                  <a:srgbClr val="134F85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 hour</a:t>
            </a:r>
            <a:r>
              <a:rPr lang="zh-CN" altLang="en-US" sz="2400" dirty="0">
                <a:solidFill>
                  <a:srgbClr val="134F85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，</a:t>
            </a:r>
            <a:r>
              <a:rPr lang="en-US" altLang="zh-CN" sz="2400" dirty="0" err="1">
                <a:solidFill>
                  <a:srgbClr val="134F85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int</a:t>
            </a:r>
            <a:r>
              <a:rPr lang="en-US" altLang="zh-CN" sz="2400" dirty="0">
                <a:solidFill>
                  <a:srgbClr val="134F85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 minute, </a:t>
            </a:r>
            <a:r>
              <a:rPr lang="en-US" altLang="zh-CN" sz="2400" dirty="0" err="1">
                <a:solidFill>
                  <a:srgbClr val="134F85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int</a:t>
            </a:r>
            <a:r>
              <a:rPr lang="en-US" altLang="zh-CN" sz="2400" dirty="0">
                <a:solidFill>
                  <a:srgbClr val="134F85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 second</a:t>
            </a:r>
          </a:p>
          <a:p>
            <a:pPr marL="342900" indent="-342900" eaLnBrk="1" hangingPunct="1">
              <a:spcBef>
                <a:spcPct val="50000"/>
              </a:spcBef>
              <a:buClrTx/>
              <a:buSzTx/>
              <a:buFont typeface="Wingdings" pitchFamily="2" charset="2"/>
              <a:buBlip>
                <a:blip r:embed="rId3"/>
              </a:buBlip>
              <a:defRPr/>
            </a:pPr>
            <a:r>
              <a:rPr lang="zh-CN" altLang="en-US" sz="2400" dirty="0">
                <a:solidFill>
                  <a:srgbClr val="134F85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代码</a:t>
            </a:r>
            <a:r>
              <a:rPr lang="zh-CN" altLang="en-US" sz="2400" dirty="0">
                <a:solidFill>
                  <a:srgbClr val="FF0000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抽象</a:t>
            </a:r>
            <a:r>
              <a:rPr lang="zh-CN" altLang="en-US" sz="2400" dirty="0">
                <a:solidFill>
                  <a:srgbClr val="134F85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：</a:t>
            </a:r>
            <a:r>
              <a:rPr lang="en-US" altLang="zh-CN" sz="2400" dirty="0" err="1">
                <a:solidFill>
                  <a:srgbClr val="134F85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setTime</a:t>
            </a:r>
            <a:r>
              <a:rPr lang="en-US" altLang="zh-CN" sz="2400" dirty="0">
                <a:solidFill>
                  <a:srgbClr val="134F85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(), </a:t>
            </a:r>
            <a:r>
              <a:rPr lang="en-US" altLang="zh-CN" sz="2400" dirty="0" err="1">
                <a:solidFill>
                  <a:srgbClr val="134F85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showTime</a:t>
            </a:r>
            <a:r>
              <a:rPr lang="en-US" altLang="zh-CN" sz="2400" dirty="0">
                <a:solidFill>
                  <a:srgbClr val="134F85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()</a:t>
            </a:r>
            <a:r>
              <a:rPr lang="zh-CN" altLang="en-US" sz="2400" dirty="0">
                <a:solidFill>
                  <a:srgbClr val="134F85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。</a:t>
            </a:r>
            <a:endParaRPr lang="en-US" altLang="zh-CN" sz="2400" dirty="0">
              <a:solidFill>
                <a:srgbClr val="134F85"/>
              </a:solidFill>
              <a:latin typeface="华光行书_CNKI" panose="02000500000000000000" pitchFamily="2" charset="-122"/>
              <a:ea typeface="华光行书_CNKI" panose="02000500000000000000" pitchFamily="2" charset="-122"/>
            </a:endParaRPr>
          </a:p>
        </p:txBody>
      </p:sp>
      <p:sp>
        <p:nvSpPr>
          <p:cNvPr id="25" name="Text Box 12">
            <a:extLst>
              <a:ext uri="{FF2B5EF4-FFF2-40B4-BE49-F238E27FC236}">
                <a16:creationId xmlns:a16="http://schemas.microsoft.com/office/drawing/2014/main" id="{FD989193-725A-4E88-9502-665BC041EB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60587" y="3003389"/>
            <a:ext cx="6688003" cy="267765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SzPct val="70000"/>
              <a:buFont typeface="Wingdings" pitchFamily="2" charset="2"/>
              <a:buChar char="o"/>
              <a:defRPr sz="32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n"/>
              <a:defRPr sz="28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o"/>
              <a:defRPr sz="24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n"/>
              <a:defRPr sz="20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ts val="0"/>
              </a:spcBef>
              <a:buClrTx/>
              <a:buSzTx/>
              <a:buFontTx/>
              <a:buNone/>
              <a:defRPr/>
            </a:pPr>
            <a:r>
              <a:rPr lang="en-US" altLang="zh-CN" sz="2400" dirty="0">
                <a:solidFill>
                  <a:srgbClr val="FF0000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class</a:t>
            </a:r>
            <a:r>
              <a:rPr lang="en-US" altLang="zh-CN" sz="2400" dirty="0">
                <a:solidFill>
                  <a:schemeClr val="tx1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 </a:t>
            </a:r>
            <a:r>
              <a:rPr lang="en-US" altLang="zh-CN" sz="2400" dirty="0">
                <a:solidFill>
                  <a:srgbClr val="7030A0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Clock</a:t>
            </a:r>
            <a:r>
              <a:rPr lang="en-US" altLang="zh-CN" sz="2400" dirty="0">
                <a:solidFill>
                  <a:srgbClr val="FF0000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{</a:t>
            </a:r>
          </a:p>
          <a:p>
            <a:pPr eaLnBrk="1" hangingPunct="1">
              <a:spcBef>
                <a:spcPts val="0"/>
              </a:spcBef>
              <a:buClrTx/>
              <a:buSzTx/>
              <a:buFontTx/>
              <a:buNone/>
              <a:defRPr/>
            </a:pPr>
            <a:r>
              <a:rPr lang="en-US" altLang="zh-CN" sz="2400" dirty="0">
                <a:solidFill>
                  <a:srgbClr val="FF0000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public:</a:t>
            </a:r>
            <a:r>
              <a:rPr lang="en-US" altLang="zh-CN" sz="2400" dirty="0">
                <a:solidFill>
                  <a:schemeClr val="tx1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 </a:t>
            </a:r>
          </a:p>
          <a:p>
            <a:pPr eaLnBrk="1" hangingPunct="1">
              <a:spcBef>
                <a:spcPts val="0"/>
              </a:spcBef>
              <a:buClrTx/>
              <a:buSzTx/>
              <a:buFontTx/>
              <a:buNone/>
              <a:defRPr/>
            </a:pPr>
            <a:r>
              <a:rPr lang="en-US" altLang="zh-CN" sz="2400" dirty="0">
                <a:solidFill>
                  <a:schemeClr val="tx1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  </a:t>
            </a:r>
            <a:r>
              <a:rPr lang="en-US" altLang="zh-CN" sz="2400" dirty="0">
                <a:solidFill>
                  <a:srgbClr val="134F85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void </a:t>
            </a:r>
            <a:r>
              <a:rPr lang="en-US" altLang="zh-CN" sz="2400" dirty="0" err="1">
                <a:solidFill>
                  <a:srgbClr val="134F85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setTime</a:t>
            </a:r>
            <a:r>
              <a:rPr lang="en-US" altLang="zh-CN" sz="2400" dirty="0">
                <a:solidFill>
                  <a:srgbClr val="134F85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(int hour</a:t>
            </a:r>
            <a:r>
              <a:rPr lang="zh-CN" altLang="en-US" sz="2400" dirty="0">
                <a:solidFill>
                  <a:srgbClr val="134F85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，</a:t>
            </a:r>
            <a:r>
              <a:rPr lang="en-US" altLang="zh-CN" sz="2400" dirty="0">
                <a:solidFill>
                  <a:srgbClr val="134F85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int minute, int second);</a:t>
            </a:r>
          </a:p>
          <a:p>
            <a:pPr eaLnBrk="1" hangingPunct="1">
              <a:spcBef>
                <a:spcPts val="0"/>
              </a:spcBef>
              <a:buClrTx/>
              <a:buSzTx/>
              <a:buFontTx/>
              <a:buNone/>
              <a:defRPr/>
            </a:pPr>
            <a:r>
              <a:rPr lang="en-US" altLang="zh-CN" sz="2400" dirty="0">
                <a:solidFill>
                  <a:srgbClr val="134F85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  void </a:t>
            </a:r>
            <a:r>
              <a:rPr lang="en-US" altLang="zh-CN" sz="2400" dirty="0" err="1">
                <a:solidFill>
                  <a:srgbClr val="134F85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showTime</a:t>
            </a:r>
            <a:r>
              <a:rPr lang="en-US" altLang="zh-CN" sz="2400" dirty="0">
                <a:solidFill>
                  <a:srgbClr val="134F85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();</a:t>
            </a:r>
          </a:p>
          <a:p>
            <a:pPr eaLnBrk="1" hangingPunct="1">
              <a:spcBef>
                <a:spcPts val="0"/>
              </a:spcBef>
              <a:buClrTx/>
              <a:buSzTx/>
              <a:buFontTx/>
              <a:buNone/>
              <a:defRPr/>
            </a:pPr>
            <a:r>
              <a:rPr lang="en-US" altLang="zh-CN" sz="2400" dirty="0">
                <a:solidFill>
                  <a:srgbClr val="FF0000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private:</a:t>
            </a:r>
          </a:p>
          <a:p>
            <a:pPr eaLnBrk="1" hangingPunct="1">
              <a:spcBef>
                <a:spcPts val="0"/>
              </a:spcBef>
              <a:buClrTx/>
              <a:buSzTx/>
              <a:buFontTx/>
              <a:buNone/>
              <a:defRPr/>
            </a:pPr>
            <a:r>
              <a:rPr lang="en-US" altLang="zh-CN" sz="2400" dirty="0">
                <a:solidFill>
                  <a:schemeClr val="tx1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   </a:t>
            </a:r>
            <a:r>
              <a:rPr lang="en-US" altLang="zh-CN" sz="2400" dirty="0">
                <a:solidFill>
                  <a:srgbClr val="134F85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int hour, minute, second;</a:t>
            </a:r>
          </a:p>
          <a:p>
            <a:pPr eaLnBrk="1" hangingPunct="1">
              <a:spcBef>
                <a:spcPts val="0"/>
              </a:spcBef>
              <a:buClrTx/>
              <a:buSzTx/>
              <a:buFontTx/>
              <a:buNone/>
              <a:defRPr/>
            </a:pPr>
            <a:r>
              <a:rPr lang="en-US" altLang="zh-CN" sz="2400" dirty="0">
                <a:solidFill>
                  <a:srgbClr val="FF0000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};</a:t>
            </a:r>
          </a:p>
        </p:txBody>
      </p:sp>
      <p:sp>
        <p:nvSpPr>
          <p:cNvPr id="26" name="线形标注 1 2">
            <a:extLst>
              <a:ext uri="{FF2B5EF4-FFF2-40B4-BE49-F238E27FC236}">
                <a16:creationId xmlns:a16="http://schemas.microsoft.com/office/drawing/2014/main" id="{AA5E9547-B4D0-49BB-BE6E-41C5390D5725}"/>
              </a:ext>
            </a:extLst>
          </p:cNvPr>
          <p:cNvSpPr/>
          <p:nvPr/>
        </p:nvSpPr>
        <p:spPr bwMode="auto">
          <a:xfrm>
            <a:off x="9493976" y="5217049"/>
            <a:ext cx="2087563" cy="431800"/>
          </a:xfrm>
          <a:prstGeom prst="borderCallout1">
            <a:avLst>
              <a:gd name="adj1" fmla="val 37717"/>
              <a:gd name="adj2" fmla="val -1299"/>
              <a:gd name="adj3" fmla="val -4852"/>
              <a:gd name="adj4" fmla="val -27626"/>
            </a:avLst>
          </a:prstGeom>
          <a:solidFill>
            <a:schemeClr val="accent1">
              <a:lumMod val="40000"/>
              <a:lumOff val="60000"/>
            </a:schemeClr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 eaLnBrk="1" hangingPunct="1">
              <a:defRPr/>
            </a:pPr>
            <a:r>
              <a:rPr lang="zh-CN" altLang="en-US" sz="2400" dirty="0">
                <a:latin typeface="华光行书_CNKI" panose="02000500000000000000" pitchFamily="2" charset="-122"/>
                <a:ea typeface="华光行书_CNKI" panose="02000500000000000000" pitchFamily="2" charset="-122"/>
              </a:rPr>
              <a:t>数据抽象</a:t>
            </a:r>
          </a:p>
        </p:txBody>
      </p:sp>
      <p:sp>
        <p:nvSpPr>
          <p:cNvPr id="27" name="线形标注 1 10">
            <a:extLst>
              <a:ext uri="{FF2B5EF4-FFF2-40B4-BE49-F238E27FC236}">
                <a16:creationId xmlns:a16="http://schemas.microsoft.com/office/drawing/2014/main" id="{B0340345-EECB-4811-B5D1-9C1DC1CDC094}"/>
              </a:ext>
            </a:extLst>
          </p:cNvPr>
          <p:cNvSpPr/>
          <p:nvPr/>
        </p:nvSpPr>
        <p:spPr bwMode="auto">
          <a:xfrm>
            <a:off x="10340575" y="3212325"/>
            <a:ext cx="1510113" cy="454025"/>
          </a:xfrm>
          <a:prstGeom prst="borderCallout1">
            <a:avLst>
              <a:gd name="adj1" fmla="val 37717"/>
              <a:gd name="adj2" fmla="val -1300"/>
              <a:gd name="adj3" fmla="val 137514"/>
              <a:gd name="adj4" fmla="val -69116"/>
            </a:avLst>
          </a:prstGeom>
          <a:solidFill>
            <a:schemeClr val="accent1">
              <a:lumMod val="40000"/>
              <a:lumOff val="60000"/>
            </a:schemeClr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 eaLnBrk="1" hangingPunct="1">
              <a:defRPr/>
            </a:pPr>
            <a:r>
              <a:rPr lang="zh-CN" altLang="en-US" sz="2400" dirty="0">
                <a:latin typeface="华光行书_CNKI" panose="02000500000000000000" pitchFamily="2" charset="-122"/>
                <a:ea typeface="华光行书_CNKI" panose="02000500000000000000" pitchFamily="2" charset="-122"/>
              </a:rPr>
              <a:t>代码抽象</a:t>
            </a:r>
          </a:p>
        </p:txBody>
      </p:sp>
    </p:spTree>
    <p:extLst>
      <p:ext uri="{BB962C8B-B14F-4D97-AF65-F5344CB8AC3E}">
        <p14:creationId xmlns:p14="http://schemas.microsoft.com/office/powerpoint/2010/main" val="26408895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26" grpId="0" animBg="1"/>
      <p:bldP spid="27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794" y="176798"/>
            <a:ext cx="12190413" cy="728917"/>
          </a:xfrm>
          <a:prstGeom prst="rect">
            <a:avLst/>
          </a:prstGeom>
          <a:solidFill>
            <a:srgbClr val="26CC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3200"/>
          </a:p>
        </p:txBody>
      </p:sp>
      <p:cxnSp>
        <p:nvCxnSpPr>
          <p:cNvPr id="7" name="直线连接符 6"/>
          <p:cNvCxnSpPr/>
          <p:nvPr/>
        </p:nvCxnSpPr>
        <p:spPr>
          <a:xfrm>
            <a:off x="1587" y="905715"/>
            <a:ext cx="12190413" cy="0"/>
          </a:xfrm>
          <a:prstGeom prst="line">
            <a:avLst/>
          </a:prstGeom>
          <a:ln>
            <a:solidFill>
              <a:srgbClr val="104D7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 Box 12">
            <a:extLst>
              <a:ext uri="{FF2B5EF4-FFF2-40B4-BE49-F238E27FC236}">
                <a16:creationId xmlns:a16="http://schemas.microsoft.com/office/drawing/2014/main" id="{AC5F5F0C-2B05-41EB-A739-79494C60D5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66912" y="2419350"/>
            <a:ext cx="9551577" cy="267765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SzPct val="70000"/>
              <a:buFont typeface="Wingdings" pitchFamily="2" charset="2"/>
              <a:buChar char="o"/>
              <a:defRPr sz="32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n"/>
              <a:defRPr sz="28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o"/>
              <a:defRPr sz="24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n"/>
              <a:defRPr sz="20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ts val="0"/>
              </a:spcBef>
              <a:buClrTx/>
              <a:buSzTx/>
              <a:buFontTx/>
              <a:buNone/>
              <a:defRPr/>
            </a:pPr>
            <a:r>
              <a:rPr lang="en-US" altLang="zh-CN" sz="2400" dirty="0">
                <a:solidFill>
                  <a:srgbClr val="00B050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class Clock{</a:t>
            </a:r>
          </a:p>
          <a:p>
            <a:pPr eaLnBrk="1" hangingPunct="1">
              <a:spcBef>
                <a:spcPts val="0"/>
              </a:spcBef>
              <a:buClrTx/>
              <a:buSzTx/>
              <a:buFontTx/>
              <a:buNone/>
              <a:defRPr/>
            </a:pPr>
            <a:r>
              <a:rPr lang="en-US" altLang="zh-CN" sz="2400" dirty="0">
                <a:solidFill>
                  <a:srgbClr val="FF0000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public:</a:t>
            </a:r>
            <a:r>
              <a:rPr lang="en-US" altLang="zh-CN" sz="2400" dirty="0">
                <a:solidFill>
                  <a:schemeClr val="tx1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 </a:t>
            </a:r>
          </a:p>
          <a:p>
            <a:pPr eaLnBrk="1" hangingPunct="1">
              <a:spcBef>
                <a:spcPts val="0"/>
              </a:spcBef>
              <a:buClrTx/>
              <a:buSzTx/>
              <a:buFontTx/>
              <a:buNone/>
              <a:defRPr/>
            </a:pPr>
            <a:r>
              <a:rPr lang="en-US" altLang="zh-CN" sz="2400" dirty="0">
                <a:solidFill>
                  <a:schemeClr val="tx1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          </a:t>
            </a:r>
            <a:r>
              <a:rPr lang="en-US" altLang="zh-CN" sz="2400" dirty="0">
                <a:solidFill>
                  <a:srgbClr val="134F85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void </a:t>
            </a:r>
            <a:r>
              <a:rPr lang="en-US" altLang="zh-CN" sz="2400" dirty="0" err="1">
                <a:solidFill>
                  <a:srgbClr val="134F85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setTime</a:t>
            </a:r>
            <a:r>
              <a:rPr lang="en-US" altLang="zh-CN" sz="2400" dirty="0">
                <a:solidFill>
                  <a:srgbClr val="134F85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(</a:t>
            </a:r>
            <a:r>
              <a:rPr lang="en-US" altLang="zh-CN" sz="2400" dirty="0" err="1">
                <a:solidFill>
                  <a:srgbClr val="134F85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int</a:t>
            </a:r>
            <a:r>
              <a:rPr lang="en-US" altLang="zh-CN" sz="2400" dirty="0">
                <a:solidFill>
                  <a:srgbClr val="134F85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 hour</a:t>
            </a:r>
            <a:r>
              <a:rPr lang="zh-CN" altLang="en-US" sz="2400" dirty="0">
                <a:solidFill>
                  <a:srgbClr val="134F85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，</a:t>
            </a:r>
            <a:r>
              <a:rPr lang="en-US" altLang="zh-CN" sz="2400" dirty="0" err="1">
                <a:solidFill>
                  <a:srgbClr val="134F85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int</a:t>
            </a:r>
            <a:r>
              <a:rPr lang="en-US" altLang="zh-CN" sz="2400" dirty="0">
                <a:solidFill>
                  <a:srgbClr val="134F85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 minute, </a:t>
            </a:r>
            <a:r>
              <a:rPr lang="en-US" altLang="zh-CN" sz="2400" dirty="0" err="1">
                <a:solidFill>
                  <a:srgbClr val="134F85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int</a:t>
            </a:r>
            <a:r>
              <a:rPr lang="en-US" altLang="zh-CN" sz="2400" dirty="0">
                <a:solidFill>
                  <a:srgbClr val="134F85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 second );</a:t>
            </a:r>
          </a:p>
          <a:p>
            <a:pPr eaLnBrk="1" hangingPunct="1">
              <a:spcBef>
                <a:spcPts val="0"/>
              </a:spcBef>
              <a:buClrTx/>
              <a:buSzTx/>
              <a:buFontTx/>
              <a:buNone/>
              <a:defRPr/>
            </a:pPr>
            <a:r>
              <a:rPr lang="en-US" altLang="zh-CN" sz="2400" dirty="0">
                <a:solidFill>
                  <a:srgbClr val="134F85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          void </a:t>
            </a:r>
            <a:r>
              <a:rPr lang="en-US" altLang="zh-CN" sz="2400" dirty="0" err="1">
                <a:solidFill>
                  <a:srgbClr val="134F85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showTime</a:t>
            </a:r>
            <a:r>
              <a:rPr lang="en-US" altLang="zh-CN" sz="2400" dirty="0">
                <a:solidFill>
                  <a:srgbClr val="134F85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();</a:t>
            </a:r>
          </a:p>
          <a:p>
            <a:pPr eaLnBrk="1" hangingPunct="1">
              <a:spcBef>
                <a:spcPts val="0"/>
              </a:spcBef>
              <a:buClrTx/>
              <a:buSzTx/>
              <a:buFontTx/>
              <a:buNone/>
              <a:defRPr/>
            </a:pPr>
            <a:r>
              <a:rPr lang="en-US" altLang="zh-CN" sz="2400" dirty="0">
                <a:solidFill>
                  <a:srgbClr val="FF0000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private:</a:t>
            </a:r>
          </a:p>
          <a:p>
            <a:pPr eaLnBrk="1" hangingPunct="1">
              <a:spcBef>
                <a:spcPts val="0"/>
              </a:spcBef>
              <a:buClrTx/>
              <a:buSzTx/>
              <a:buFontTx/>
              <a:buNone/>
              <a:defRPr/>
            </a:pPr>
            <a:r>
              <a:rPr lang="en-US" altLang="zh-CN" sz="2400" dirty="0">
                <a:solidFill>
                  <a:srgbClr val="134F85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           </a:t>
            </a:r>
            <a:r>
              <a:rPr lang="en-US" altLang="zh-CN" sz="2400" dirty="0" err="1">
                <a:solidFill>
                  <a:srgbClr val="134F85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int</a:t>
            </a:r>
            <a:r>
              <a:rPr lang="en-US" altLang="zh-CN" sz="2400" dirty="0">
                <a:solidFill>
                  <a:srgbClr val="134F85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 hour, minute, second;</a:t>
            </a:r>
          </a:p>
          <a:p>
            <a:pPr eaLnBrk="1" hangingPunct="1">
              <a:spcBef>
                <a:spcPts val="0"/>
              </a:spcBef>
              <a:buClrTx/>
              <a:buSzTx/>
              <a:buFontTx/>
              <a:buNone/>
              <a:defRPr/>
            </a:pPr>
            <a:r>
              <a:rPr lang="en-US" altLang="zh-CN" sz="2400" dirty="0">
                <a:solidFill>
                  <a:srgbClr val="00B050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};</a:t>
            </a:r>
          </a:p>
        </p:txBody>
      </p:sp>
      <p:sp>
        <p:nvSpPr>
          <p:cNvPr id="13" name="任意多边形 7">
            <a:extLst>
              <a:ext uri="{FF2B5EF4-FFF2-40B4-BE49-F238E27FC236}">
                <a16:creationId xmlns:a16="http://schemas.microsoft.com/office/drawing/2014/main" id="{164D8391-9775-4848-B316-0564B6CD3B4B}"/>
              </a:ext>
            </a:extLst>
          </p:cNvPr>
          <p:cNvSpPr>
            <a:spLocks/>
          </p:cNvSpPr>
          <p:nvPr/>
        </p:nvSpPr>
        <p:spPr bwMode="auto">
          <a:xfrm>
            <a:off x="1647825" y="3105150"/>
            <a:ext cx="304800" cy="1066800"/>
          </a:xfrm>
          <a:custGeom>
            <a:avLst/>
            <a:gdLst>
              <a:gd name="T0" fmla="*/ 304800 w 304800"/>
              <a:gd name="T1" fmla="*/ 0 h 1066800"/>
              <a:gd name="T2" fmla="*/ 304800 w 304800"/>
              <a:gd name="T3" fmla="*/ 0 h 1066800"/>
              <a:gd name="T4" fmla="*/ 190500 w 304800"/>
              <a:gd name="T5" fmla="*/ 228600 h 1066800"/>
              <a:gd name="T6" fmla="*/ 152400 w 304800"/>
              <a:gd name="T7" fmla="*/ 304800 h 1066800"/>
              <a:gd name="T8" fmla="*/ 76200 w 304800"/>
              <a:gd name="T9" fmla="*/ 476250 h 1066800"/>
              <a:gd name="T10" fmla="*/ 19050 w 304800"/>
              <a:gd name="T11" fmla="*/ 742950 h 1066800"/>
              <a:gd name="T12" fmla="*/ 0 w 304800"/>
              <a:gd name="T13" fmla="*/ 800100 h 1066800"/>
              <a:gd name="T14" fmla="*/ 0 w 304800"/>
              <a:gd name="T15" fmla="*/ 800100 h 1066800"/>
              <a:gd name="T16" fmla="*/ 133350 w 304800"/>
              <a:gd name="T17" fmla="*/ 895350 h 1066800"/>
              <a:gd name="T18" fmla="*/ 190500 w 304800"/>
              <a:gd name="T19" fmla="*/ 914400 h 1066800"/>
              <a:gd name="T20" fmla="*/ 247650 w 304800"/>
              <a:gd name="T21" fmla="*/ 952500 h 1066800"/>
              <a:gd name="T22" fmla="*/ 285750 w 304800"/>
              <a:gd name="T23" fmla="*/ 1066800 h 1066800"/>
              <a:gd name="T24" fmla="*/ 285750 w 304800"/>
              <a:gd name="T25" fmla="*/ 1066800 h 1066800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0" t="0" r="r" b="b"/>
            <a:pathLst>
              <a:path w="304800" h="1066800">
                <a:moveTo>
                  <a:pt x="304800" y="0"/>
                </a:moveTo>
                <a:lnTo>
                  <a:pt x="304800" y="0"/>
                </a:lnTo>
                <a:lnTo>
                  <a:pt x="190500" y="228600"/>
                </a:lnTo>
                <a:cubicBezTo>
                  <a:pt x="177800" y="254000"/>
                  <a:pt x="168152" y="281171"/>
                  <a:pt x="152400" y="304800"/>
                </a:cubicBezTo>
                <a:cubicBezTo>
                  <a:pt x="109255" y="369518"/>
                  <a:pt x="91313" y="385570"/>
                  <a:pt x="76200" y="476250"/>
                </a:cubicBezTo>
                <a:cubicBezTo>
                  <a:pt x="60213" y="572172"/>
                  <a:pt x="50695" y="648014"/>
                  <a:pt x="19050" y="742950"/>
                </a:cubicBezTo>
                <a:lnTo>
                  <a:pt x="0" y="800100"/>
                </a:lnTo>
                <a:cubicBezTo>
                  <a:pt x="44450" y="831850"/>
                  <a:pt x="86510" y="867246"/>
                  <a:pt x="133350" y="895350"/>
                </a:cubicBezTo>
                <a:cubicBezTo>
                  <a:pt x="150569" y="905681"/>
                  <a:pt x="172539" y="905420"/>
                  <a:pt x="190500" y="914400"/>
                </a:cubicBezTo>
                <a:cubicBezTo>
                  <a:pt x="210978" y="924639"/>
                  <a:pt x="228600" y="939800"/>
                  <a:pt x="247650" y="952500"/>
                </a:cubicBezTo>
                <a:lnTo>
                  <a:pt x="285750" y="1066800"/>
                </a:lnTo>
              </a:path>
            </a:pathLst>
          </a:custGeom>
          <a:noFill/>
          <a:ln w="28575" cap="flat" cmpd="sng" algn="ctr">
            <a:solidFill>
              <a:srgbClr val="FF3300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>
              <a:latin typeface="华光行书_CNKI" panose="02000500000000000000" pitchFamily="2" charset="-122"/>
              <a:ea typeface="华光行书_CNKI" panose="02000500000000000000" pitchFamily="2" charset="-122"/>
            </a:endParaRPr>
          </a:p>
        </p:txBody>
      </p:sp>
      <p:sp>
        <p:nvSpPr>
          <p:cNvPr id="16" name="矩形 10">
            <a:extLst>
              <a:ext uri="{FF2B5EF4-FFF2-40B4-BE49-F238E27FC236}">
                <a16:creationId xmlns:a16="http://schemas.microsoft.com/office/drawing/2014/main" id="{8F9E02FD-E441-4440-A9D0-92094BF37B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7490" y="3060700"/>
            <a:ext cx="553998" cy="15414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eaVert" wrap="non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Char char="o"/>
              <a:defRPr sz="32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o"/>
              <a:defRPr sz="24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n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>
                <a:solidFill>
                  <a:srgbClr val="FF0000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访问权限</a:t>
            </a:r>
          </a:p>
        </p:txBody>
      </p:sp>
      <p:sp>
        <p:nvSpPr>
          <p:cNvPr id="17" name="任意多边形 11">
            <a:extLst>
              <a:ext uri="{FF2B5EF4-FFF2-40B4-BE49-F238E27FC236}">
                <a16:creationId xmlns:a16="http://schemas.microsoft.com/office/drawing/2014/main" id="{77ADA6BE-DBA6-49DD-B667-35F4B978A0FC}"/>
              </a:ext>
            </a:extLst>
          </p:cNvPr>
          <p:cNvSpPr>
            <a:spLocks/>
          </p:cNvSpPr>
          <p:nvPr/>
        </p:nvSpPr>
        <p:spPr bwMode="auto">
          <a:xfrm>
            <a:off x="3743325" y="2419350"/>
            <a:ext cx="2819400" cy="1352550"/>
          </a:xfrm>
          <a:custGeom>
            <a:avLst/>
            <a:gdLst>
              <a:gd name="T0" fmla="*/ 0 w 2819400"/>
              <a:gd name="T1" fmla="*/ 800100 h 1352550"/>
              <a:gd name="T2" fmla="*/ 0 w 2819400"/>
              <a:gd name="T3" fmla="*/ 800100 h 1352550"/>
              <a:gd name="T4" fmla="*/ 171450 w 2819400"/>
              <a:gd name="T5" fmla="*/ 781050 h 1352550"/>
              <a:gd name="T6" fmla="*/ 247650 w 2819400"/>
              <a:gd name="T7" fmla="*/ 742950 h 1352550"/>
              <a:gd name="T8" fmla="*/ 304800 w 2819400"/>
              <a:gd name="T9" fmla="*/ 723900 h 1352550"/>
              <a:gd name="T10" fmla="*/ 438150 w 2819400"/>
              <a:gd name="T11" fmla="*/ 685800 h 1352550"/>
              <a:gd name="T12" fmla="*/ 552450 w 2819400"/>
              <a:gd name="T13" fmla="*/ 609600 h 1352550"/>
              <a:gd name="T14" fmla="*/ 666750 w 2819400"/>
              <a:gd name="T15" fmla="*/ 571500 h 1352550"/>
              <a:gd name="T16" fmla="*/ 742950 w 2819400"/>
              <a:gd name="T17" fmla="*/ 552450 h 1352550"/>
              <a:gd name="T18" fmla="*/ 876300 w 2819400"/>
              <a:gd name="T19" fmla="*/ 495300 h 1352550"/>
              <a:gd name="T20" fmla="*/ 1162050 w 2819400"/>
              <a:gd name="T21" fmla="*/ 457200 h 1352550"/>
              <a:gd name="T22" fmla="*/ 1333500 w 2819400"/>
              <a:gd name="T23" fmla="*/ 400050 h 1352550"/>
              <a:gd name="T24" fmla="*/ 1390650 w 2819400"/>
              <a:gd name="T25" fmla="*/ 381000 h 1352550"/>
              <a:gd name="T26" fmla="*/ 1466850 w 2819400"/>
              <a:gd name="T27" fmla="*/ 342900 h 1352550"/>
              <a:gd name="T28" fmla="*/ 1543050 w 2819400"/>
              <a:gd name="T29" fmla="*/ 323850 h 1352550"/>
              <a:gd name="T30" fmla="*/ 1657350 w 2819400"/>
              <a:gd name="T31" fmla="*/ 285750 h 1352550"/>
              <a:gd name="T32" fmla="*/ 1733550 w 2819400"/>
              <a:gd name="T33" fmla="*/ 266700 h 1352550"/>
              <a:gd name="T34" fmla="*/ 1924050 w 2819400"/>
              <a:gd name="T35" fmla="*/ 209550 h 1352550"/>
              <a:gd name="T36" fmla="*/ 1981200 w 2819400"/>
              <a:gd name="T37" fmla="*/ 171450 h 1352550"/>
              <a:gd name="T38" fmla="*/ 2076450 w 2819400"/>
              <a:gd name="T39" fmla="*/ 152400 h 1352550"/>
              <a:gd name="T40" fmla="*/ 2133600 w 2819400"/>
              <a:gd name="T41" fmla="*/ 133350 h 1352550"/>
              <a:gd name="T42" fmla="*/ 2247900 w 2819400"/>
              <a:gd name="T43" fmla="*/ 114300 h 1352550"/>
              <a:gd name="T44" fmla="*/ 2305050 w 2819400"/>
              <a:gd name="T45" fmla="*/ 95250 h 1352550"/>
              <a:gd name="T46" fmla="*/ 2457450 w 2819400"/>
              <a:gd name="T47" fmla="*/ 57150 h 1352550"/>
              <a:gd name="T48" fmla="*/ 2514600 w 2819400"/>
              <a:gd name="T49" fmla="*/ 38100 h 1352550"/>
              <a:gd name="T50" fmla="*/ 2667000 w 2819400"/>
              <a:gd name="T51" fmla="*/ 19050 h 1352550"/>
              <a:gd name="T52" fmla="*/ 2762250 w 2819400"/>
              <a:gd name="T53" fmla="*/ 0 h 1352550"/>
              <a:gd name="T54" fmla="*/ 2819400 w 2819400"/>
              <a:gd name="T55" fmla="*/ 19050 h 1352550"/>
              <a:gd name="T56" fmla="*/ 2762250 w 2819400"/>
              <a:gd name="T57" fmla="*/ 38100 h 1352550"/>
              <a:gd name="T58" fmla="*/ 2705100 w 2819400"/>
              <a:gd name="T59" fmla="*/ 95250 h 1352550"/>
              <a:gd name="T60" fmla="*/ 2590800 w 2819400"/>
              <a:gd name="T61" fmla="*/ 171450 h 1352550"/>
              <a:gd name="T62" fmla="*/ 2571750 w 2819400"/>
              <a:gd name="T63" fmla="*/ 228600 h 1352550"/>
              <a:gd name="T64" fmla="*/ 2438400 w 2819400"/>
              <a:gd name="T65" fmla="*/ 381000 h 1352550"/>
              <a:gd name="T66" fmla="*/ 2381250 w 2819400"/>
              <a:gd name="T67" fmla="*/ 400050 h 1352550"/>
              <a:gd name="T68" fmla="*/ 2343150 w 2819400"/>
              <a:gd name="T69" fmla="*/ 457200 h 1352550"/>
              <a:gd name="T70" fmla="*/ 2171700 w 2819400"/>
              <a:gd name="T71" fmla="*/ 552450 h 1352550"/>
              <a:gd name="T72" fmla="*/ 2133600 w 2819400"/>
              <a:gd name="T73" fmla="*/ 609600 h 1352550"/>
              <a:gd name="T74" fmla="*/ 2076450 w 2819400"/>
              <a:gd name="T75" fmla="*/ 647700 h 1352550"/>
              <a:gd name="T76" fmla="*/ 2038350 w 2819400"/>
              <a:gd name="T77" fmla="*/ 762000 h 1352550"/>
              <a:gd name="T78" fmla="*/ 2019300 w 2819400"/>
              <a:gd name="T79" fmla="*/ 819150 h 1352550"/>
              <a:gd name="T80" fmla="*/ 2000250 w 2819400"/>
              <a:gd name="T81" fmla="*/ 876300 h 1352550"/>
              <a:gd name="T82" fmla="*/ 1962150 w 2819400"/>
              <a:gd name="T83" fmla="*/ 933450 h 1352550"/>
              <a:gd name="T84" fmla="*/ 1943100 w 2819400"/>
              <a:gd name="T85" fmla="*/ 990600 h 1352550"/>
              <a:gd name="T86" fmla="*/ 1828800 w 2819400"/>
              <a:gd name="T87" fmla="*/ 1047750 h 1352550"/>
              <a:gd name="T88" fmla="*/ 1771650 w 2819400"/>
              <a:gd name="T89" fmla="*/ 1085850 h 1352550"/>
              <a:gd name="T90" fmla="*/ 1600200 w 2819400"/>
              <a:gd name="T91" fmla="*/ 1181100 h 1352550"/>
              <a:gd name="T92" fmla="*/ 1600200 w 2819400"/>
              <a:gd name="T93" fmla="*/ 1181100 h 1352550"/>
              <a:gd name="T94" fmla="*/ 1485900 w 2819400"/>
              <a:gd name="T95" fmla="*/ 1257300 h 1352550"/>
              <a:gd name="T96" fmla="*/ 1371600 w 2819400"/>
              <a:gd name="T97" fmla="*/ 1295400 h 1352550"/>
              <a:gd name="T98" fmla="*/ 1314450 w 2819400"/>
              <a:gd name="T99" fmla="*/ 1314450 h 1352550"/>
              <a:gd name="T100" fmla="*/ 1257300 w 2819400"/>
              <a:gd name="T101" fmla="*/ 1333500 h 1352550"/>
              <a:gd name="T102" fmla="*/ 1219200 w 2819400"/>
              <a:gd name="T103" fmla="*/ 1352550 h 1352550"/>
              <a:gd name="T104" fmla="*/ 1219200 w 2819400"/>
              <a:gd name="T105" fmla="*/ 1352550 h 1352550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</a:gdLst>
            <a:ahLst/>
            <a:cxnLst>
              <a:cxn ang="T106">
                <a:pos x="T0" y="T1"/>
              </a:cxn>
              <a:cxn ang="T107">
                <a:pos x="T2" y="T3"/>
              </a:cxn>
              <a:cxn ang="T108">
                <a:pos x="T4" y="T5"/>
              </a:cxn>
              <a:cxn ang="T109">
                <a:pos x="T6" y="T7"/>
              </a:cxn>
              <a:cxn ang="T110">
                <a:pos x="T8" y="T9"/>
              </a:cxn>
              <a:cxn ang="T111">
                <a:pos x="T10" y="T11"/>
              </a:cxn>
              <a:cxn ang="T112">
                <a:pos x="T12" y="T13"/>
              </a:cxn>
              <a:cxn ang="T113">
                <a:pos x="T14" y="T15"/>
              </a:cxn>
              <a:cxn ang="T114">
                <a:pos x="T16" y="T17"/>
              </a:cxn>
              <a:cxn ang="T115">
                <a:pos x="T18" y="T19"/>
              </a:cxn>
              <a:cxn ang="T116">
                <a:pos x="T20" y="T21"/>
              </a:cxn>
              <a:cxn ang="T117">
                <a:pos x="T22" y="T23"/>
              </a:cxn>
              <a:cxn ang="T118">
                <a:pos x="T24" y="T25"/>
              </a:cxn>
              <a:cxn ang="T119">
                <a:pos x="T26" y="T27"/>
              </a:cxn>
              <a:cxn ang="T120">
                <a:pos x="T28" y="T29"/>
              </a:cxn>
              <a:cxn ang="T121">
                <a:pos x="T30" y="T31"/>
              </a:cxn>
              <a:cxn ang="T122">
                <a:pos x="T32" y="T33"/>
              </a:cxn>
              <a:cxn ang="T123">
                <a:pos x="T34" y="T35"/>
              </a:cxn>
              <a:cxn ang="T124">
                <a:pos x="T36" y="T37"/>
              </a:cxn>
              <a:cxn ang="T125">
                <a:pos x="T38" y="T39"/>
              </a:cxn>
              <a:cxn ang="T126">
                <a:pos x="T40" y="T41"/>
              </a:cxn>
              <a:cxn ang="T127">
                <a:pos x="T42" y="T43"/>
              </a:cxn>
              <a:cxn ang="T128">
                <a:pos x="T44" y="T45"/>
              </a:cxn>
              <a:cxn ang="T129">
                <a:pos x="T46" y="T47"/>
              </a:cxn>
              <a:cxn ang="T130">
                <a:pos x="T48" y="T49"/>
              </a:cxn>
              <a:cxn ang="T131">
                <a:pos x="T50" y="T51"/>
              </a:cxn>
              <a:cxn ang="T132">
                <a:pos x="T52" y="T53"/>
              </a:cxn>
              <a:cxn ang="T133">
                <a:pos x="T54" y="T55"/>
              </a:cxn>
              <a:cxn ang="T134">
                <a:pos x="T56" y="T57"/>
              </a:cxn>
              <a:cxn ang="T135">
                <a:pos x="T58" y="T59"/>
              </a:cxn>
              <a:cxn ang="T136">
                <a:pos x="T60" y="T61"/>
              </a:cxn>
              <a:cxn ang="T137">
                <a:pos x="T62" y="T63"/>
              </a:cxn>
              <a:cxn ang="T138">
                <a:pos x="T64" y="T65"/>
              </a:cxn>
              <a:cxn ang="T139">
                <a:pos x="T66" y="T67"/>
              </a:cxn>
              <a:cxn ang="T140">
                <a:pos x="T68" y="T69"/>
              </a:cxn>
              <a:cxn ang="T141">
                <a:pos x="T70" y="T71"/>
              </a:cxn>
              <a:cxn ang="T142">
                <a:pos x="T72" y="T73"/>
              </a:cxn>
              <a:cxn ang="T143">
                <a:pos x="T74" y="T75"/>
              </a:cxn>
              <a:cxn ang="T144">
                <a:pos x="T76" y="T77"/>
              </a:cxn>
              <a:cxn ang="T145">
                <a:pos x="T78" y="T79"/>
              </a:cxn>
              <a:cxn ang="T146">
                <a:pos x="T80" y="T81"/>
              </a:cxn>
              <a:cxn ang="T147">
                <a:pos x="T82" y="T83"/>
              </a:cxn>
              <a:cxn ang="T148">
                <a:pos x="T84" y="T85"/>
              </a:cxn>
              <a:cxn ang="T149">
                <a:pos x="T86" y="T87"/>
              </a:cxn>
              <a:cxn ang="T150">
                <a:pos x="T88" y="T89"/>
              </a:cxn>
              <a:cxn ang="T151">
                <a:pos x="T90" y="T91"/>
              </a:cxn>
              <a:cxn ang="T152">
                <a:pos x="T92" y="T93"/>
              </a:cxn>
              <a:cxn ang="T153">
                <a:pos x="T94" y="T95"/>
              </a:cxn>
              <a:cxn ang="T154">
                <a:pos x="T96" y="T97"/>
              </a:cxn>
              <a:cxn ang="T155">
                <a:pos x="T98" y="T99"/>
              </a:cxn>
              <a:cxn ang="T156">
                <a:pos x="T100" y="T101"/>
              </a:cxn>
              <a:cxn ang="T157">
                <a:pos x="T102" y="T103"/>
              </a:cxn>
              <a:cxn ang="T158">
                <a:pos x="T104" y="T105"/>
              </a:cxn>
            </a:cxnLst>
            <a:rect l="0" t="0" r="r" b="b"/>
            <a:pathLst>
              <a:path w="2819400" h="1352550">
                <a:moveTo>
                  <a:pt x="0" y="800100"/>
                </a:moveTo>
                <a:lnTo>
                  <a:pt x="0" y="800100"/>
                </a:lnTo>
                <a:cubicBezTo>
                  <a:pt x="57150" y="793750"/>
                  <a:pt x="115421" y="793980"/>
                  <a:pt x="171450" y="781050"/>
                </a:cubicBezTo>
                <a:cubicBezTo>
                  <a:pt x="199121" y="774664"/>
                  <a:pt x="221548" y="754137"/>
                  <a:pt x="247650" y="742950"/>
                </a:cubicBezTo>
                <a:cubicBezTo>
                  <a:pt x="266107" y="735040"/>
                  <a:pt x="285492" y="729417"/>
                  <a:pt x="304800" y="723900"/>
                </a:cubicBezTo>
                <a:cubicBezTo>
                  <a:pt x="325110" y="718097"/>
                  <a:pt x="413969" y="699234"/>
                  <a:pt x="438150" y="685800"/>
                </a:cubicBezTo>
                <a:cubicBezTo>
                  <a:pt x="478178" y="663562"/>
                  <a:pt x="509009" y="624080"/>
                  <a:pt x="552450" y="609600"/>
                </a:cubicBezTo>
                <a:cubicBezTo>
                  <a:pt x="590550" y="596900"/>
                  <a:pt x="627788" y="581240"/>
                  <a:pt x="666750" y="571500"/>
                </a:cubicBezTo>
                <a:cubicBezTo>
                  <a:pt x="692150" y="565150"/>
                  <a:pt x="718435" y="561643"/>
                  <a:pt x="742950" y="552450"/>
                </a:cubicBezTo>
                <a:cubicBezTo>
                  <a:pt x="827662" y="520683"/>
                  <a:pt x="798890" y="512502"/>
                  <a:pt x="876300" y="495300"/>
                </a:cubicBezTo>
                <a:cubicBezTo>
                  <a:pt x="961810" y="476298"/>
                  <a:pt x="1079509" y="466371"/>
                  <a:pt x="1162050" y="457200"/>
                </a:cubicBezTo>
                <a:lnTo>
                  <a:pt x="1333500" y="400050"/>
                </a:lnTo>
                <a:cubicBezTo>
                  <a:pt x="1352550" y="393700"/>
                  <a:pt x="1372689" y="389980"/>
                  <a:pt x="1390650" y="381000"/>
                </a:cubicBezTo>
                <a:cubicBezTo>
                  <a:pt x="1416050" y="368300"/>
                  <a:pt x="1440260" y="352871"/>
                  <a:pt x="1466850" y="342900"/>
                </a:cubicBezTo>
                <a:cubicBezTo>
                  <a:pt x="1491365" y="333707"/>
                  <a:pt x="1517972" y="331373"/>
                  <a:pt x="1543050" y="323850"/>
                </a:cubicBezTo>
                <a:cubicBezTo>
                  <a:pt x="1581517" y="312310"/>
                  <a:pt x="1618388" y="295490"/>
                  <a:pt x="1657350" y="285750"/>
                </a:cubicBezTo>
                <a:cubicBezTo>
                  <a:pt x="1682750" y="279400"/>
                  <a:pt x="1708472" y="274223"/>
                  <a:pt x="1733550" y="266700"/>
                </a:cubicBezTo>
                <a:cubicBezTo>
                  <a:pt x="1965447" y="197131"/>
                  <a:pt x="1748417" y="253458"/>
                  <a:pt x="1924050" y="209550"/>
                </a:cubicBezTo>
                <a:cubicBezTo>
                  <a:pt x="1943100" y="196850"/>
                  <a:pt x="1959763" y="179489"/>
                  <a:pt x="1981200" y="171450"/>
                </a:cubicBezTo>
                <a:cubicBezTo>
                  <a:pt x="2011517" y="160081"/>
                  <a:pt x="2045038" y="160253"/>
                  <a:pt x="2076450" y="152400"/>
                </a:cubicBezTo>
                <a:cubicBezTo>
                  <a:pt x="2095931" y="147530"/>
                  <a:pt x="2113998" y="137706"/>
                  <a:pt x="2133600" y="133350"/>
                </a:cubicBezTo>
                <a:cubicBezTo>
                  <a:pt x="2171306" y="124971"/>
                  <a:pt x="2210194" y="122679"/>
                  <a:pt x="2247900" y="114300"/>
                </a:cubicBezTo>
                <a:cubicBezTo>
                  <a:pt x="2267502" y="109944"/>
                  <a:pt x="2285677" y="100534"/>
                  <a:pt x="2305050" y="95250"/>
                </a:cubicBezTo>
                <a:cubicBezTo>
                  <a:pt x="2355568" y="81472"/>
                  <a:pt x="2407774" y="73709"/>
                  <a:pt x="2457450" y="57150"/>
                </a:cubicBezTo>
                <a:cubicBezTo>
                  <a:pt x="2476500" y="50800"/>
                  <a:pt x="2494843" y="41692"/>
                  <a:pt x="2514600" y="38100"/>
                </a:cubicBezTo>
                <a:cubicBezTo>
                  <a:pt x="2564970" y="28942"/>
                  <a:pt x="2616400" y="26835"/>
                  <a:pt x="2667000" y="19050"/>
                </a:cubicBezTo>
                <a:cubicBezTo>
                  <a:pt x="2699002" y="14127"/>
                  <a:pt x="2730500" y="6350"/>
                  <a:pt x="2762250" y="0"/>
                </a:cubicBezTo>
                <a:cubicBezTo>
                  <a:pt x="2781300" y="6350"/>
                  <a:pt x="2819400" y="-1030"/>
                  <a:pt x="2819400" y="19050"/>
                </a:cubicBezTo>
                <a:cubicBezTo>
                  <a:pt x="2819400" y="39130"/>
                  <a:pt x="2778958" y="26961"/>
                  <a:pt x="2762250" y="38100"/>
                </a:cubicBezTo>
                <a:cubicBezTo>
                  <a:pt x="2739834" y="53044"/>
                  <a:pt x="2726366" y="78710"/>
                  <a:pt x="2705100" y="95250"/>
                </a:cubicBezTo>
                <a:cubicBezTo>
                  <a:pt x="2668955" y="123363"/>
                  <a:pt x="2590800" y="171450"/>
                  <a:pt x="2590800" y="171450"/>
                </a:cubicBezTo>
                <a:cubicBezTo>
                  <a:pt x="2584450" y="190500"/>
                  <a:pt x="2581502" y="211047"/>
                  <a:pt x="2571750" y="228600"/>
                </a:cubicBezTo>
                <a:cubicBezTo>
                  <a:pt x="2527788" y="307731"/>
                  <a:pt x="2511181" y="344610"/>
                  <a:pt x="2438400" y="381000"/>
                </a:cubicBezTo>
                <a:cubicBezTo>
                  <a:pt x="2420439" y="389980"/>
                  <a:pt x="2400300" y="393700"/>
                  <a:pt x="2381250" y="400050"/>
                </a:cubicBezTo>
                <a:cubicBezTo>
                  <a:pt x="2368550" y="419100"/>
                  <a:pt x="2360380" y="442123"/>
                  <a:pt x="2343150" y="457200"/>
                </a:cubicBezTo>
                <a:cubicBezTo>
                  <a:pt x="2262530" y="527743"/>
                  <a:pt x="2250194" y="526285"/>
                  <a:pt x="2171700" y="552450"/>
                </a:cubicBezTo>
                <a:cubicBezTo>
                  <a:pt x="2159000" y="571500"/>
                  <a:pt x="2149789" y="593411"/>
                  <a:pt x="2133600" y="609600"/>
                </a:cubicBezTo>
                <a:cubicBezTo>
                  <a:pt x="2117411" y="625789"/>
                  <a:pt x="2088584" y="628285"/>
                  <a:pt x="2076450" y="647700"/>
                </a:cubicBezTo>
                <a:cubicBezTo>
                  <a:pt x="2055165" y="681756"/>
                  <a:pt x="2051050" y="723900"/>
                  <a:pt x="2038350" y="762000"/>
                </a:cubicBezTo>
                <a:lnTo>
                  <a:pt x="2019300" y="819150"/>
                </a:lnTo>
                <a:cubicBezTo>
                  <a:pt x="2012950" y="838200"/>
                  <a:pt x="2011389" y="859592"/>
                  <a:pt x="2000250" y="876300"/>
                </a:cubicBezTo>
                <a:cubicBezTo>
                  <a:pt x="1987550" y="895350"/>
                  <a:pt x="1972389" y="912972"/>
                  <a:pt x="1962150" y="933450"/>
                </a:cubicBezTo>
                <a:cubicBezTo>
                  <a:pt x="1953170" y="951411"/>
                  <a:pt x="1955644" y="974920"/>
                  <a:pt x="1943100" y="990600"/>
                </a:cubicBezTo>
                <a:cubicBezTo>
                  <a:pt x="1906704" y="1036096"/>
                  <a:pt x="1874814" y="1024743"/>
                  <a:pt x="1828800" y="1047750"/>
                </a:cubicBezTo>
                <a:cubicBezTo>
                  <a:pt x="1808322" y="1057989"/>
                  <a:pt x="1789239" y="1071193"/>
                  <a:pt x="1771650" y="1085850"/>
                </a:cubicBezTo>
                <a:cubicBezTo>
                  <a:pt x="1657586" y="1180903"/>
                  <a:pt x="1782567" y="1120311"/>
                  <a:pt x="1600200" y="1181100"/>
                </a:cubicBezTo>
                <a:cubicBezTo>
                  <a:pt x="1562100" y="1206500"/>
                  <a:pt x="1529341" y="1242820"/>
                  <a:pt x="1485900" y="1257300"/>
                </a:cubicBezTo>
                <a:lnTo>
                  <a:pt x="1371600" y="1295400"/>
                </a:lnTo>
                <a:lnTo>
                  <a:pt x="1314450" y="1314450"/>
                </a:lnTo>
                <a:cubicBezTo>
                  <a:pt x="1295400" y="1320800"/>
                  <a:pt x="1275261" y="1324520"/>
                  <a:pt x="1257300" y="1333500"/>
                </a:cubicBezTo>
                <a:lnTo>
                  <a:pt x="1219200" y="1352550"/>
                </a:lnTo>
              </a:path>
            </a:pathLst>
          </a:custGeom>
          <a:noFill/>
          <a:ln w="2857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>
              <a:latin typeface="华光行书_CNKI" panose="02000500000000000000" pitchFamily="2" charset="-122"/>
              <a:ea typeface="华光行书_CNKI" panose="02000500000000000000" pitchFamily="2" charset="-122"/>
            </a:endParaRPr>
          </a:p>
        </p:txBody>
      </p:sp>
      <p:sp>
        <p:nvSpPr>
          <p:cNvPr id="18" name="TextBox 12">
            <a:extLst>
              <a:ext uri="{FF2B5EF4-FFF2-40B4-BE49-F238E27FC236}">
                <a16:creationId xmlns:a16="http://schemas.microsoft.com/office/drawing/2014/main" id="{6A835831-4491-4601-B363-93B9ECF6BA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40425" y="1957388"/>
            <a:ext cx="1944688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Char char="o"/>
              <a:defRPr sz="32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o"/>
              <a:defRPr sz="24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n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dirty="0">
                <a:solidFill>
                  <a:srgbClr val="134F85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外部接口</a:t>
            </a:r>
          </a:p>
        </p:txBody>
      </p:sp>
      <p:sp>
        <p:nvSpPr>
          <p:cNvPr id="19" name="任意多边形 14">
            <a:extLst>
              <a:ext uri="{FF2B5EF4-FFF2-40B4-BE49-F238E27FC236}">
                <a16:creationId xmlns:a16="http://schemas.microsoft.com/office/drawing/2014/main" id="{4C784D54-1F4E-418F-BAAE-89BB2C8810D2}"/>
              </a:ext>
            </a:extLst>
          </p:cNvPr>
          <p:cNvSpPr>
            <a:spLocks/>
          </p:cNvSpPr>
          <p:nvPr/>
        </p:nvSpPr>
        <p:spPr bwMode="auto">
          <a:xfrm>
            <a:off x="800100" y="2593975"/>
            <a:ext cx="1257300" cy="2333625"/>
          </a:xfrm>
          <a:custGeom>
            <a:avLst/>
            <a:gdLst>
              <a:gd name="T0" fmla="*/ 1159199 w 1257419"/>
              <a:gd name="T1" fmla="*/ 53806 h 2333978"/>
              <a:gd name="T2" fmla="*/ 1159199 w 1257419"/>
              <a:gd name="T3" fmla="*/ 53806 h 2333978"/>
              <a:gd name="T4" fmla="*/ 418139 w 1257419"/>
              <a:gd name="T5" fmla="*/ 34837 h 2333978"/>
              <a:gd name="T6" fmla="*/ 361151 w 1257419"/>
              <a:gd name="T7" fmla="*/ 72775 h 2333978"/>
              <a:gd name="T8" fmla="*/ 247148 w 1257419"/>
              <a:gd name="T9" fmla="*/ 110713 h 2333978"/>
              <a:gd name="T10" fmla="*/ 190133 w 1257419"/>
              <a:gd name="T11" fmla="*/ 129682 h 2333978"/>
              <a:gd name="T12" fmla="*/ 190133 w 1257419"/>
              <a:gd name="T13" fmla="*/ 2254597 h 2333978"/>
              <a:gd name="T14" fmla="*/ 608153 w 1257419"/>
              <a:gd name="T15" fmla="*/ 2273569 h 2333978"/>
              <a:gd name="T16" fmla="*/ 1197209 w 1257419"/>
              <a:gd name="T17" fmla="*/ 2292540 h 2333978"/>
              <a:gd name="T18" fmla="*/ 1254206 w 1257419"/>
              <a:gd name="T19" fmla="*/ 2273569 h 2333978"/>
              <a:gd name="T20" fmla="*/ 1254206 w 1257419"/>
              <a:gd name="T21" fmla="*/ 2273569 h 2333978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0" t="0" r="r" b="b"/>
            <a:pathLst>
              <a:path w="1257419" h="2333978">
                <a:moveTo>
                  <a:pt x="1162169" y="54022"/>
                </a:moveTo>
                <a:lnTo>
                  <a:pt x="1162169" y="54022"/>
                </a:lnTo>
                <a:cubicBezTo>
                  <a:pt x="840232" y="-17519"/>
                  <a:pt x="933390" y="-11771"/>
                  <a:pt x="419219" y="34972"/>
                </a:cubicBezTo>
                <a:cubicBezTo>
                  <a:pt x="396418" y="37045"/>
                  <a:pt x="382991" y="63773"/>
                  <a:pt x="362069" y="73072"/>
                </a:cubicBezTo>
                <a:cubicBezTo>
                  <a:pt x="325369" y="89383"/>
                  <a:pt x="285869" y="98472"/>
                  <a:pt x="247769" y="111172"/>
                </a:cubicBezTo>
                <a:lnTo>
                  <a:pt x="190619" y="130222"/>
                </a:lnTo>
                <a:cubicBezTo>
                  <a:pt x="-39845" y="821614"/>
                  <a:pt x="-86182" y="939992"/>
                  <a:pt x="190619" y="2263822"/>
                </a:cubicBezTo>
                <a:cubicBezTo>
                  <a:pt x="219240" y="2400706"/>
                  <a:pt x="470019" y="2276522"/>
                  <a:pt x="609719" y="2282872"/>
                </a:cubicBezTo>
                <a:cubicBezTo>
                  <a:pt x="874743" y="2371213"/>
                  <a:pt x="683890" y="2322577"/>
                  <a:pt x="1200269" y="2301922"/>
                </a:cubicBezTo>
                <a:lnTo>
                  <a:pt x="1257419" y="2282872"/>
                </a:lnTo>
              </a:path>
            </a:pathLst>
          </a:custGeom>
          <a:noFill/>
          <a:ln w="28575" cap="flat" cmpd="sng" algn="ctr">
            <a:solidFill>
              <a:srgbClr val="00B050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>
              <a:latin typeface="华光行书_CNKI" panose="02000500000000000000" pitchFamily="2" charset="-122"/>
              <a:ea typeface="华光行书_CNKI" panose="02000500000000000000" pitchFamily="2" charset="-122"/>
            </a:endParaRPr>
          </a:p>
        </p:txBody>
      </p:sp>
      <p:sp>
        <p:nvSpPr>
          <p:cNvPr id="20" name="矩形 15">
            <a:extLst>
              <a:ext uri="{FF2B5EF4-FFF2-40B4-BE49-F238E27FC236}">
                <a16:creationId xmlns:a16="http://schemas.microsoft.com/office/drawing/2014/main" id="{627FB6E8-B390-4F03-B46A-AB258ACF9B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865" y="3213100"/>
            <a:ext cx="553998" cy="15414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eaVert" wrap="non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Char char="o"/>
              <a:defRPr sz="32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o"/>
              <a:defRPr sz="24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n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>
                <a:solidFill>
                  <a:srgbClr val="00B050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封装边界</a:t>
            </a:r>
          </a:p>
        </p:txBody>
      </p:sp>
      <p:pic>
        <p:nvPicPr>
          <p:cNvPr id="21" name="Picture 46" descr="200641472033436">
            <a:extLst>
              <a:ext uri="{FF2B5EF4-FFF2-40B4-BE49-F238E27FC236}">
                <a16:creationId xmlns:a16="http://schemas.microsoft.com/office/drawing/2014/main" id="{F8E878E9-84CB-4351-8BCE-F772E7E8A9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5513" y="881063"/>
            <a:ext cx="1219200" cy="1217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" name="矩形 8">
            <a:extLst>
              <a:ext uri="{FF2B5EF4-FFF2-40B4-BE49-F238E27FC236}">
                <a16:creationId xmlns:a16="http://schemas.microsoft.com/office/drawing/2014/main" id="{38F64BFD-AE09-412A-A73D-769E5F0B4A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5650" y="1196975"/>
            <a:ext cx="1008063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Char char="o"/>
              <a:defRPr sz="32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o"/>
              <a:defRPr sz="24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n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>
                <a:solidFill>
                  <a:srgbClr val="FF0000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封装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DA582C7E-7FCD-4173-A17C-ED41B8313C1A}"/>
              </a:ext>
            </a:extLst>
          </p:cNvPr>
          <p:cNvSpPr txBox="1"/>
          <p:nvPr/>
        </p:nvSpPr>
        <p:spPr>
          <a:xfrm>
            <a:off x="1464489" y="5328135"/>
            <a:ext cx="610583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dirty="0">
                <a:solidFill>
                  <a:srgbClr val="134F85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使用者不必了解实现细节。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3D141973-62D2-4AA5-B1DE-EA7E2E7DDDC6}"/>
              </a:ext>
            </a:extLst>
          </p:cNvPr>
          <p:cNvSpPr txBox="1"/>
          <p:nvPr/>
        </p:nvSpPr>
        <p:spPr>
          <a:xfrm>
            <a:off x="247719" y="224527"/>
            <a:ext cx="802877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kumimoji="1" sz="3200" b="1">
                <a:latin typeface="华光胖头鱼_CNKI" panose="02000500000000000000" pitchFamily="2" charset="-122"/>
                <a:ea typeface="华光胖头鱼_CNKI" panose="02000500000000000000" pitchFamily="2" charset="-122"/>
              </a:defRPr>
            </a:lvl1pPr>
          </a:lstStyle>
          <a:p>
            <a:r>
              <a:rPr lang="en-US" altLang="zh-CN" dirty="0"/>
              <a:t>7.1</a:t>
            </a:r>
            <a:r>
              <a:rPr lang="zh-CN" altLang="en-US" dirty="0">
                <a:sym typeface="+mn-lt"/>
              </a:rPr>
              <a:t>面向对象的基本特点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0168031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8" grpId="0"/>
      <p:bldP spid="20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361AC8F0-CA86-4C80-8995-4838D9BC9C2A}"/>
              </a:ext>
            </a:extLst>
          </p:cNvPr>
          <p:cNvSpPr/>
          <p:nvPr/>
        </p:nvSpPr>
        <p:spPr>
          <a:xfrm>
            <a:off x="794" y="176798"/>
            <a:ext cx="12190413" cy="728917"/>
          </a:xfrm>
          <a:prstGeom prst="rect">
            <a:avLst/>
          </a:prstGeom>
          <a:solidFill>
            <a:srgbClr val="26CC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3200"/>
          </a:p>
        </p:txBody>
      </p:sp>
      <p:cxnSp>
        <p:nvCxnSpPr>
          <p:cNvPr id="3" name="直线连接符 6">
            <a:extLst>
              <a:ext uri="{FF2B5EF4-FFF2-40B4-BE49-F238E27FC236}">
                <a16:creationId xmlns:a16="http://schemas.microsoft.com/office/drawing/2014/main" id="{14FE4CAB-AC93-422D-886E-178E5C292406}"/>
              </a:ext>
            </a:extLst>
          </p:cNvPr>
          <p:cNvCxnSpPr/>
          <p:nvPr/>
        </p:nvCxnSpPr>
        <p:spPr>
          <a:xfrm>
            <a:off x="1587" y="905715"/>
            <a:ext cx="12190413" cy="0"/>
          </a:xfrm>
          <a:prstGeom prst="line">
            <a:avLst/>
          </a:prstGeom>
          <a:ln>
            <a:solidFill>
              <a:srgbClr val="104D7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文本框 6">
            <a:extLst>
              <a:ext uri="{FF2B5EF4-FFF2-40B4-BE49-F238E27FC236}">
                <a16:creationId xmlns:a16="http://schemas.microsoft.com/office/drawing/2014/main" id="{CAE0A85D-1260-40D4-9224-841EEE58117E}"/>
              </a:ext>
            </a:extLst>
          </p:cNvPr>
          <p:cNvSpPr txBox="1"/>
          <p:nvPr/>
        </p:nvSpPr>
        <p:spPr>
          <a:xfrm>
            <a:off x="247719" y="224527"/>
            <a:ext cx="802877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kumimoji="1" sz="3200" b="1">
                <a:latin typeface="华光胖头鱼_CNKI" panose="02000500000000000000" pitchFamily="2" charset="-122"/>
                <a:ea typeface="华光胖头鱼_CNKI" panose="02000500000000000000" pitchFamily="2" charset="-122"/>
              </a:defRPr>
            </a:lvl1pPr>
          </a:lstStyle>
          <a:p>
            <a:r>
              <a:rPr lang="en-US" altLang="zh-CN" dirty="0"/>
              <a:t>7.1</a:t>
            </a:r>
            <a:r>
              <a:rPr lang="zh-CN" altLang="en-US" dirty="0">
                <a:sym typeface="+mn-lt"/>
              </a:rPr>
              <a:t>面向对象的基本特点</a:t>
            </a:r>
            <a:endParaRPr lang="zh-CN" altLang="en-US" dirty="0"/>
          </a:p>
        </p:txBody>
      </p:sp>
      <p:sp>
        <p:nvSpPr>
          <p:cNvPr id="8" name="矩形 8">
            <a:extLst>
              <a:ext uri="{FF2B5EF4-FFF2-40B4-BE49-F238E27FC236}">
                <a16:creationId xmlns:a16="http://schemas.microsoft.com/office/drawing/2014/main" id="{5BBE4C01-45F0-4785-8E50-4F798F2646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792" y="1168554"/>
            <a:ext cx="8013700" cy="2540696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pPr marL="457200" indent="-457200" eaLnBrk="1" hangingPunct="1">
              <a:lnSpc>
                <a:spcPct val="130000"/>
              </a:lnSpc>
              <a:buFontTx/>
              <a:buBlip>
                <a:blip r:embed="rId3"/>
              </a:buBlip>
              <a:defRPr/>
            </a:pPr>
            <a:r>
              <a:rPr lang="zh-CN" altLang="en-US" sz="3200" dirty="0">
                <a:solidFill>
                  <a:srgbClr val="FF0000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抽象</a:t>
            </a:r>
            <a:endParaRPr lang="en-US" altLang="zh-CN" sz="3200" dirty="0">
              <a:solidFill>
                <a:srgbClr val="FF0000"/>
              </a:solidFill>
              <a:latin typeface="华光行书_CNKI" panose="02000500000000000000" pitchFamily="2" charset="-122"/>
              <a:ea typeface="华光行书_CNKI" panose="02000500000000000000" pitchFamily="2" charset="-122"/>
            </a:endParaRPr>
          </a:p>
          <a:p>
            <a:pPr marL="457200" indent="-457200" eaLnBrk="1" hangingPunct="1">
              <a:lnSpc>
                <a:spcPct val="130000"/>
              </a:lnSpc>
              <a:buFontTx/>
              <a:buBlip>
                <a:blip r:embed="rId3"/>
              </a:buBlip>
              <a:defRPr/>
            </a:pPr>
            <a:r>
              <a:rPr lang="zh-CN" altLang="en-US" sz="3200" dirty="0">
                <a:solidFill>
                  <a:srgbClr val="FF0000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封装</a:t>
            </a:r>
            <a:endParaRPr lang="en-US" altLang="zh-CN" sz="3200" dirty="0">
              <a:solidFill>
                <a:srgbClr val="FF0000"/>
              </a:solidFill>
              <a:latin typeface="华光行书_CNKI" panose="02000500000000000000" pitchFamily="2" charset="-122"/>
              <a:ea typeface="华光行书_CNKI" panose="02000500000000000000" pitchFamily="2" charset="-122"/>
            </a:endParaRPr>
          </a:p>
          <a:p>
            <a:pPr marL="457200" indent="-457200" eaLnBrk="1" hangingPunct="1">
              <a:lnSpc>
                <a:spcPct val="130000"/>
              </a:lnSpc>
              <a:buFontTx/>
              <a:buBlip>
                <a:blip r:embed="rId3"/>
              </a:buBlip>
              <a:defRPr/>
            </a:pPr>
            <a:r>
              <a:rPr lang="zh-CN" altLang="en-US" sz="3200" dirty="0">
                <a:solidFill>
                  <a:srgbClr val="134F85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继承：</a:t>
            </a:r>
            <a:r>
              <a:rPr lang="zh-CN" altLang="en-US" sz="2800" dirty="0">
                <a:solidFill>
                  <a:srgbClr val="134F85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在已有类基础上进行扩展，形成新类</a:t>
            </a:r>
            <a:r>
              <a:rPr lang="en-US" altLang="zh-CN" sz="2800" dirty="0">
                <a:solidFill>
                  <a:srgbClr val="134F85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   </a:t>
            </a:r>
          </a:p>
          <a:p>
            <a:pPr marL="457200" indent="-457200" eaLnBrk="1" hangingPunct="1">
              <a:lnSpc>
                <a:spcPct val="130000"/>
              </a:lnSpc>
              <a:buFontTx/>
              <a:buBlip>
                <a:blip r:embed="rId3"/>
              </a:buBlip>
              <a:defRPr/>
            </a:pPr>
            <a:r>
              <a:rPr lang="zh-CN" altLang="en-US" sz="2800" dirty="0">
                <a:solidFill>
                  <a:srgbClr val="134F85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多态：同一名称，不同功能实现。</a:t>
            </a:r>
            <a:endParaRPr lang="en-US" altLang="zh-CN" sz="2800" dirty="0">
              <a:solidFill>
                <a:srgbClr val="134F85"/>
              </a:solidFill>
              <a:latin typeface="华光行书_CNKI" panose="02000500000000000000" pitchFamily="2" charset="-122"/>
              <a:ea typeface="华光行书_CNKI" panose="02000500000000000000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866740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F16F5705-5824-489F-964E-8114B799397D}"/>
              </a:ext>
            </a:extLst>
          </p:cNvPr>
          <p:cNvSpPr/>
          <p:nvPr/>
        </p:nvSpPr>
        <p:spPr>
          <a:xfrm>
            <a:off x="794" y="176798"/>
            <a:ext cx="12190413" cy="728917"/>
          </a:xfrm>
          <a:prstGeom prst="rect">
            <a:avLst/>
          </a:prstGeom>
          <a:solidFill>
            <a:srgbClr val="26CC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3200"/>
          </a:p>
        </p:txBody>
      </p:sp>
      <p:cxnSp>
        <p:nvCxnSpPr>
          <p:cNvPr id="6" name="直线连接符 6">
            <a:extLst>
              <a:ext uri="{FF2B5EF4-FFF2-40B4-BE49-F238E27FC236}">
                <a16:creationId xmlns:a16="http://schemas.microsoft.com/office/drawing/2014/main" id="{8568D9E0-8C73-4938-A8CD-8452B0938C36}"/>
              </a:ext>
            </a:extLst>
          </p:cNvPr>
          <p:cNvCxnSpPr/>
          <p:nvPr/>
        </p:nvCxnSpPr>
        <p:spPr>
          <a:xfrm>
            <a:off x="1587" y="905715"/>
            <a:ext cx="12190413" cy="0"/>
          </a:xfrm>
          <a:prstGeom prst="line">
            <a:avLst/>
          </a:prstGeom>
          <a:ln>
            <a:solidFill>
              <a:srgbClr val="104D7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4">
            <a:extLst>
              <a:ext uri="{FF2B5EF4-FFF2-40B4-BE49-F238E27FC236}">
                <a16:creationId xmlns:a16="http://schemas.microsoft.com/office/drawing/2014/main" id="{DF56BFF7-618B-4B57-A8CD-0A13299D4F0A}"/>
              </a:ext>
            </a:extLst>
          </p:cNvPr>
          <p:cNvSpPr txBox="1">
            <a:spLocks noChangeArrowheads="1"/>
          </p:cNvSpPr>
          <p:nvPr/>
        </p:nvSpPr>
        <p:spPr>
          <a:xfrm>
            <a:off x="212926" y="967711"/>
            <a:ext cx="6624638" cy="2554545"/>
          </a:xfrm>
          <a:prstGeom prst="rect">
            <a:avLst/>
          </a:prstGeom>
        </p:spPr>
        <p:txBody>
          <a:bodyPr>
            <a:spAutoFit/>
          </a:bodyPr>
          <a:lstStyle>
            <a:lvl1pPr algn="ctr" defTabSz="609600" rtl="0" eaLnBrk="1" latinLnBrk="0" hangingPunct="1">
              <a:spcBef>
                <a:spcPct val="0"/>
              </a:spcBef>
              <a:buNone/>
              <a:defRPr sz="5865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defRPr/>
            </a:pPr>
            <a:r>
              <a:rPr kumimoji="1" lang="zh-CN" altLang="en-US" sz="3200" b="1" dirty="0">
                <a:solidFill>
                  <a:srgbClr val="157E9F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类型   变量</a:t>
            </a:r>
            <a:endParaRPr kumimoji="1" lang="en-US" altLang="zh-CN" sz="3200" b="1" dirty="0">
              <a:solidFill>
                <a:srgbClr val="157E9F"/>
              </a:solidFill>
              <a:latin typeface="华光行书_CNKI" panose="02000500000000000000" pitchFamily="2" charset="-122"/>
              <a:ea typeface="华光行书_CNKI" panose="02000500000000000000" pitchFamily="2" charset="-122"/>
            </a:endParaRPr>
          </a:p>
          <a:p>
            <a:pPr algn="l">
              <a:defRPr/>
            </a:pPr>
            <a:endParaRPr kumimoji="1" lang="en-US" altLang="zh-CN" sz="3200" b="1" dirty="0">
              <a:solidFill>
                <a:srgbClr val="157E9F"/>
              </a:solidFill>
              <a:latin typeface="华光行书_CNKI" panose="02000500000000000000" pitchFamily="2" charset="-122"/>
              <a:ea typeface="华光行书_CNKI" panose="02000500000000000000" pitchFamily="2" charset="-122"/>
            </a:endParaRPr>
          </a:p>
          <a:p>
            <a:pPr algn="l">
              <a:defRPr/>
            </a:pPr>
            <a:endParaRPr kumimoji="1" lang="en-US" altLang="zh-CN" sz="3200" b="1" dirty="0">
              <a:solidFill>
                <a:srgbClr val="157E9F"/>
              </a:solidFill>
              <a:latin typeface="华光行书_CNKI" panose="02000500000000000000" pitchFamily="2" charset="-122"/>
              <a:ea typeface="华光行书_CNKI" panose="02000500000000000000" pitchFamily="2" charset="-122"/>
            </a:endParaRPr>
          </a:p>
          <a:p>
            <a:pPr algn="l">
              <a:defRPr/>
            </a:pPr>
            <a:endParaRPr kumimoji="1" lang="en-US" altLang="zh-CN" sz="3200" b="1" dirty="0">
              <a:solidFill>
                <a:srgbClr val="157E9F"/>
              </a:solidFill>
              <a:latin typeface="华光行书_CNKI" panose="02000500000000000000" pitchFamily="2" charset="-122"/>
              <a:ea typeface="华光行书_CNKI" panose="02000500000000000000" pitchFamily="2" charset="-122"/>
            </a:endParaRPr>
          </a:p>
          <a:p>
            <a:pPr algn="l">
              <a:defRPr/>
            </a:pPr>
            <a:r>
              <a:rPr kumimoji="1" lang="zh-CN" altLang="en-US" sz="3200" b="1" dirty="0">
                <a:solidFill>
                  <a:srgbClr val="157E9F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类      对象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8377184E-C6CB-4905-A65F-B369E2BC5231}"/>
              </a:ext>
            </a:extLst>
          </p:cNvPr>
          <p:cNvSpPr txBox="1"/>
          <p:nvPr/>
        </p:nvSpPr>
        <p:spPr>
          <a:xfrm>
            <a:off x="247719" y="224527"/>
            <a:ext cx="802877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kumimoji="1" sz="3200" b="1">
                <a:latin typeface="华光胖头鱼_CNKI" panose="02000500000000000000" pitchFamily="2" charset="-122"/>
                <a:ea typeface="华光胖头鱼_CNKI" panose="02000500000000000000" pitchFamily="2" charset="-122"/>
              </a:defRPr>
            </a:lvl1pPr>
          </a:lstStyle>
          <a:p>
            <a:r>
              <a:rPr lang="en-US" altLang="zh-CN" dirty="0"/>
              <a:t>7.2</a:t>
            </a:r>
            <a:r>
              <a:rPr lang="zh-CN" altLang="en-US" dirty="0"/>
              <a:t>类与对象</a:t>
            </a:r>
          </a:p>
        </p:txBody>
      </p:sp>
      <p:sp>
        <p:nvSpPr>
          <p:cNvPr id="13" name="TextBox 7">
            <a:extLst>
              <a:ext uri="{FF2B5EF4-FFF2-40B4-BE49-F238E27FC236}">
                <a16:creationId xmlns:a16="http://schemas.microsoft.com/office/drawing/2014/main" id="{0F161AA3-FDCC-4771-9806-3CD2CCC216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33190" y="1215163"/>
            <a:ext cx="4973791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Char char="o"/>
              <a:defRPr sz="32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o"/>
              <a:defRPr sz="24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n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3600" dirty="0">
                <a:solidFill>
                  <a:srgbClr val="134F85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如何设计一个类？</a:t>
            </a:r>
          </a:p>
        </p:txBody>
      </p:sp>
    </p:spTree>
    <p:extLst>
      <p:ext uri="{BB962C8B-B14F-4D97-AF65-F5344CB8AC3E}">
        <p14:creationId xmlns:p14="http://schemas.microsoft.com/office/powerpoint/2010/main" val="933175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矩形 193">
            <a:extLst>
              <a:ext uri="{FF2B5EF4-FFF2-40B4-BE49-F238E27FC236}">
                <a16:creationId xmlns:a16="http://schemas.microsoft.com/office/drawing/2014/main" id="{2A1AA281-37A5-4F2A-A1DB-AB2AB5501F5F}"/>
              </a:ext>
            </a:extLst>
          </p:cNvPr>
          <p:cNvSpPr/>
          <p:nvPr/>
        </p:nvSpPr>
        <p:spPr>
          <a:xfrm>
            <a:off x="794" y="176798"/>
            <a:ext cx="12190413" cy="728917"/>
          </a:xfrm>
          <a:prstGeom prst="rect">
            <a:avLst/>
          </a:prstGeom>
          <a:solidFill>
            <a:srgbClr val="26CC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3200"/>
          </a:p>
        </p:txBody>
      </p:sp>
      <p:sp>
        <p:nvSpPr>
          <p:cNvPr id="15" name="Text Box 8">
            <a:extLst>
              <a:ext uri="{FF2B5EF4-FFF2-40B4-BE49-F238E27FC236}">
                <a16:creationId xmlns:a16="http://schemas.microsoft.com/office/drawing/2014/main" id="{6CC3330B-0FD4-4133-B71D-2D85B12F2B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1338" y="2347913"/>
            <a:ext cx="609600" cy="21240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SzPct val="70000"/>
              <a:buFont typeface="Wingdings" pitchFamily="2" charset="2"/>
              <a:buChar char="o"/>
              <a:defRPr sz="32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n"/>
              <a:defRPr sz="28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o"/>
              <a:defRPr sz="24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n"/>
              <a:defRPr sz="20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zh-CN" altLang="en-US" sz="2400" dirty="0">
                <a:solidFill>
                  <a:srgbClr val="134F85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访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zh-CN" altLang="en-US" sz="2400" dirty="0">
                <a:solidFill>
                  <a:srgbClr val="134F85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问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zh-CN" altLang="en-US" sz="2400" dirty="0">
                <a:solidFill>
                  <a:srgbClr val="134F85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限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zh-CN" altLang="en-US" sz="2400" dirty="0">
                <a:solidFill>
                  <a:srgbClr val="134F85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制</a:t>
            </a:r>
          </a:p>
        </p:txBody>
      </p:sp>
      <p:sp>
        <p:nvSpPr>
          <p:cNvPr id="16" name="AutoShape 9">
            <a:extLst>
              <a:ext uri="{FF2B5EF4-FFF2-40B4-BE49-F238E27FC236}">
                <a16:creationId xmlns:a16="http://schemas.microsoft.com/office/drawing/2014/main" id="{AD1D4206-3780-4636-BCE8-68F01B5E865E}"/>
              </a:ext>
            </a:extLst>
          </p:cNvPr>
          <p:cNvSpPr>
            <a:spLocks/>
          </p:cNvSpPr>
          <p:nvPr/>
        </p:nvSpPr>
        <p:spPr bwMode="auto">
          <a:xfrm>
            <a:off x="5943752" y="1929591"/>
            <a:ext cx="384175" cy="2667000"/>
          </a:xfrm>
          <a:prstGeom prst="rightBrace">
            <a:avLst>
              <a:gd name="adj1" fmla="val 117647"/>
              <a:gd name="adj2" fmla="val 50000"/>
            </a:avLst>
          </a:prstGeom>
          <a:noFill/>
          <a:ln w="9525">
            <a:solidFill>
              <a:schemeClr val="accent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bg2"/>
              </a:buClr>
              <a:buSzPct val="70000"/>
              <a:buFont typeface="Wingdings" pitchFamily="2" charset="2"/>
              <a:buChar char="o"/>
              <a:defRPr sz="32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n"/>
              <a:defRPr sz="28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o"/>
              <a:defRPr sz="24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n"/>
              <a:defRPr sz="20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endParaRPr lang="zh-CN" altLang="en-US" sz="2000">
              <a:solidFill>
                <a:schemeClr val="tx1"/>
              </a:solidFill>
              <a:latin typeface="华光行书_CNKI" panose="02000500000000000000" pitchFamily="2" charset="-122"/>
              <a:ea typeface="华光行书_CNKI" panose="02000500000000000000" pitchFamily="2" charset="-122"/>
            </a:endParaRPr>
          </a:p>
        </p:txBody>
      </p:sp>
      <p:sp>
        <p:nvSpPr>
          <p:cNvPr id="17" name="Text Box 10">
            <a:extLst>
              <a:ext uri="{FF2B5EF4-FFF2-40B4-BE49-F238E27FC236}">
                <a16:creationId xmlns:a16="http://schemas.microsoft.com/office/drawing/2014/main" id="{FD04069F-E233-4DB7-8E89-ED2B8E11DF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64286" y="2884914"/>
            <a:ext cx="1575519" cy="830997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SzPct val="70000"/>
              <a:buFont typeface="Wingdings" pitchFamily="2" charset="2"/>
              <a:buChar char="o"/>
              <a:defRPr sz="32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n"/>
              <a:defRPr sz="28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o"/>
              <a:defRPr sz="24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n"/>
              <a:defRPr sz="20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ts val="0"/>
              </a:spcBef>
              <a:buClrTx/>
              <a:buSzTx/>
              <a:buFontTx/>
              <a:buNone/>
              <a:defRPr/>
            </a:pPr>
            <a:r>
              <a:rPr kumimoji="1" lang="zh-CN" altLang="en-US" sz="2400" dirty="0">
                <a:solidFill>
                  <a:srgbClr val="134F85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数据</a:t>
            </a:r>
            <a:endParaRPr kumimoji="1" lang="en-US" altLang="zh-CN" sz="2400" dirty="0">
              <a:solidFill>
                <a:srgbClr val="134F85"/>
              </a:solidFill>
              <a:latin typeface="华光行书_CNKI" panose="02000500000000000000" pitchFamily="2" charset="-122"/>
              <a:ea typeface="华光行书_CNKI" panose="02000500000000000000" pitchFamily="2" charset="-122"/>
            </a:endParaRPr>
          </a:p>
          <a:p>
            <a:pPr eaLnBrk="1" hangingPunct="1">
              <a:spcBef>
                <a:spcPts val="0"/>
              </a:spcBef>
              <a:buClrTx/>
              <a:buSzTx/>
              <a:buFontTx/>
              <a:buNone/>
              <a:defRPr/>
            </a:pPr>
            <a:r>
              <a:rPr kumimoji="1" lang="zh-CN" altLang="en-US" sz="2400" dirty="0">
                <a:solidFill>
                  <a:srgbClr val="134F85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函数</a:t>
            </a:r>
          </a:p>
        </p:txBody>
      </p:sp>
      <p:sp>
        <p:nvSpPr>
          <p:cNvPr id="18" name="Rectangle 11">
            <a:extLst>
              <a:ext uri="{FF2B5EF4-FFF2-40B4-BE49-F238E27FC236}">
                <a16:creationId xmlns:a16="http://schemas.microsoft.com/office/drawing/2014/main" id="{A6D990BE-5B4F-4751-9A87-E094D8177F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84338" y="1143000"/>
            <a:ext cx="1970087" cy="519113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kumimoji="1" lang="zh-CN" altLang="en-US" sz="2800" dirty="0"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光行书_CNKI" panose="02000500000000000000" pitchFamily="2" charset="-122"/>
                <a:ea typeface="华光行书_CNKI" panose="02000500000000000000" pitchFamily="2" charset="-122"/>
              </a:rPr>
              <a:t>类名标识符</a:t>
            </a:r>
          </a:p>
        </p:txBody>
      </p:sp>
      <p:sp>
        <p:nvSpPr>
          <p:cNvPr id="19" name="Rectangle 12">
            <a:extLst>
              <a:ext uri="{FF2B5EF4-FFF2-40B4-BE49-F238E27FC236}">
                <a16:creationId xmlns:a16="http://schemas.microsoft.com/office/drawing/2014/main" id="{4BF316F2-68E8-4925-B37D-F1EB5339F7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9538" y="1814513"/>
            <a:ext cx="3885636" cy="3507114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wrap="square">
            <a:spAutoFit/>
          </a:bodyPr>
          <a:lstStyle/>
          <a:p>
            <a:pPr eaLnBrk="1" hangingPunct="1">
              <a:lnSpc>
                <a:spcPct val="90000"/>
              </a:lnSpc>
              <a:spcBef>
                <a:spcPct val="50000"/>
              </a:spcBef>
              <a:buClr>
                <a:schemeClr val="tx2"/>
              </a:buClr>
              <a:buSzPct val="75000"/>
              <a:buFont typeface="Wingdings" pitchFamily="2" charset="2"/>
              <a:buNone/>
              <a:defRPr/>
            </a:pPr>
            <a:r>
              <a:rPr kumimoji="1" lang="en-US" altLang="zh-CN" sz="280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光行书_CNKI" panose="02000500000000000000" pitchFamily="2" charset="-122"/>
                <a:ea typeface="华光行书_CNKI" panose="02000500000000000000" pitchFamily="2" charset="-122"/>
              </a:rPr>
              <a:t>private</a:t>
            </a:r>
            <a:r>
              <a:rPr kumimoji="1" lang="zh-CN" altLang="en-US" sz="280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光行书_CNKI" panose="02000500000000000000" pitchFamily="2" charset="-122"/>
                <a:ea typeface="华光行书_CNKI" panose="02000500000000000000" pitchFamily="2" charset="-122"/>
              </a:rPr>
              <a:t>：</a:t>
            </a:r>
            <a:r>
              <a:rPr kumimoji="1" lang="zh-CN" altLang="en-US" sz="2800" dirty="0">
                <a:effectLst>
                  <a:outerShdw blurRad="38100" dist="38100" dir="2700000" algn="tl">
                    <a:srgbClr val="C0C0C0"/>
                  </a:outerShdw>
                </a:effectLst>
                <a:latin typeface="华光行书_CNKI" panose="02000500000000000000" pitchFamily="2" charset="-122"/>
                <a:ea typeface="华光行书_CNKI" panose="02000500000000000000" pitchFamily="2" charset="-122"/>
              </a:rPr>
              <a:t>  </a:t>
            </a:r>
          </a:p>
          <a:p>
            <a:pPr eaLnBrk="1" hangingPunct="1">
              <a:lnSpc>
                <a:spcPct val="90000"/>
              </a:lnSpc>
              <a:spcBef>
                <a:spcPct val="50000"/>
              </a:spcBef>
              <a:buClr>
                <a:schemeClr val="tx2"/>
              </a:buClr>
              <a:buSzPct val="75000"/>
              <a:buFont typeface="Wingdings" pitchFamily="2" charset="2"/>
              <a:buNone/>
              <a:defRPr/>
            </a:pPr>
            <a:r>
              <a:rPr kumimoji="1" lang="zh-CN" altLang="en-US" sz="2800" dirty="0">
                <a:effectLst>
                  <a:outerShdw blurRad="38100" dist="38100" dir="2700000" algn="tl">
                    <a:srgbClr val="C0C0C0"/>
                  </a:outerShdw>
                </a:effectLst>
                <a:latin typeface="华光行书_CNKI" panose="02000500000000000000" pitchFamily="2" charset="-122"/>
                <a:ea typeface="华光行书_CNKI" panose="02000500000000000000" pitchFamily="2" charset="-122"/>
              </a:rPr>
              <a:t>   </a:t>
            </a:r>
            <a:r>
              <a:rPr kumimoji="1" lang="zh-CN" altLang="en-US" sz="2800" dirty="0">
                <a:solidFill>
                  <a:srgbClr val="134F85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光行书_CNKI" panose="02000500000000000000" pitchFamily="2" charset="-122"/>
                <a:ea typeface="华光行书_CNKI" panose="02000500000000000000" pitchFamily="2" charset="-122"/>
              </a:rPr>
              <a:t>私有成员</a:t>
            </a:r>
            <a:endParaRPr kumimoji="1" lang="en-US" altLang="zh-CN" sz="2800" dirty="0">
              <a:solidFill>
                <a:srgbClr val="134F85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华光行书_CNKI" panose="02000500000000000000" pitchFamily="2" charset="-122"/>
              <a:ea typeface="华光行书_CNKI" panose="02000500000000000000" pitchFamily="2" charset="-122"/>
            </a:endParaRPr>
          </a:p>
          <a:p>
            <a:pPr eaLnBrk="1" hangingPunct="1">
              <a:lnSpc>
                <a:spcPct val="90000"/>
              </a:lnSpc>
              <a:spcBef>
                <a:spcPct val="50000"/>
              </a:spcBef>
              <a:buClr>
                <a:schemeClr val="tx2"/>
              </a:buClr>
              <a:buSzPct val="75000"/>
              <a:buFont typeface="Wingdings" pitchFamily="2" charset="2"/>
              <a:buNone/>
              <a:defRPr/>
            </a:pPr>
            <a:r>
              <a:rPr kumimoji="1" lang="en-US" altLang="zh-CN" sz="280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光行书_CNKI" panose="02000500000000000000" pitchFamily="2" charset="-122"/>
                <a:ea typeface="华光行书_CNKI" panose="02000500000000000000" pitchFamily="2" charset="-122"/>
              </a:rPr>
              <a:t>public</a:t>
            </a:r>
            <a:r>
              <a:rPr kumimoji="1" lang="zh-CN" altLang="en-US" sz="280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光行书_CNKI" panose="02000500000000000000" pitchFamily="2" charset="-122"/>
                <a:ea typeface="华光行书_CNKI" panose="02000500000000000000" pitchFamily="2" charset="-122"/>
              </a:rPr>
              <a:t>：</a:t>
            </a:r>
            <a:r>
              <a:rPr kumimoji="1" lang="zh-CN" altLang="en-US" sz="2800" dirty="0">
                <a:effectLst>
                  <a:outerShdw blurRad="38100" dist="38100" dir="2700000" algn="tl">
                    <a:srgbClr val="C0C0C0"/>
                  </a:outerShdw>
                </a:effectLst>
                <a:latin typeface="华光行书_CNKI" panose="02000500000000000000" pitchFamily="2" charset="-122"/>
                <a:ea typeface="华光行书_CNKI" panose="02000500000000000000" pitchFamily="2" charset="-122"/>
              </a:rPr>
              <a:t>  </a:t>
            </a:r>
          </a:p>
          <a:p>
            <a:pPr eaLnBrk="1" hangingPunct="1">
              <a:lnSpc>
                <a:spcPct val="90000"/>
              </a:lnSpc>
              <a:spcBef>
                <a:spcPct val="50000"/>
              </a:spcBef>
              <a:buClr>
                <a:schemeClr val="tx2"/>
              </a:buClr>
              <a:buSzPct val="75000"/>
              <a:buFont typeface="Wingdings" pitchFamily="2" charset="2"/>
              <a:buNone/>
              <a:defRPr/>
            </a:pPr>
            <a:r>
              <a:rPr kumimoji="1" lang="zh-CN" altLang="en-US" sz="2800" dirty="0">
                <a:effectLst>
                  <a:outerShdw blurRad="38100" dist="38100" dir="2700000" algn="tl">
                    <a:srgbClr val="C0C0C0"/>
                  </a:outerShdw>
                </a:effectLst>
                <a:latin typeface="华光行书_CNKI" panose="02000500000000000000" pitchFamily="2" charset="-122"/>
                <a:ea typeface="华光行书_CNKI" panose="02000500000000000000" pitchFamily="2" charset="-122"/>
              </a:rPr>
              <a:t>  </a:t>
            </a:r>
            <a:r>
              <a:rPr kumimoji="1" lang="zh-CN" altLang="en-US" sz="2800" dirty="0">
                <a:solidFill>
                  <a:srgbClr val="134F85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光行书_CNKI" panose="02000500000000000000" pitchFamily="2" charset="-122"/>
                <a:ea typeface="华光行书_CNKI" panose="02000500000000000000" pitchFamily="2" charset="-122"/>
              </a:rPr>
              <a:t>公有成员</a:t>
            </a:r>
            <a:r>
              <a:rPr kumimoji="1" lang="en-US" altLang="zh-CN" sz="2800" dirty="0">
                <a:solidFill>
                  <a:srgbClr val="134F85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光行书_CNKI" panose="02000500000000000000" pitchFamily="2" charset="-122"/>
                <a:ea typeface="华光行书_CNKI" panose="02000500000000000000" pitchFamily="2" charset="-122"/>
              </a:rPr>
              <a:t>(</a:t>
            </a:r>
            <a:r>
              <a:rPr kumimoji="1" lang="zh-CN" altLang="en-US" sz="280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光行书_CNKI" panose="02000500000000000000" pitchFamily="2" charset="-122"/>
                <a:ea typeface="华光行书_CNKI" panose="02000500000000000000" pitchFamily="2" charset="-122"/>
              </a:rPr>
              <a:t>外部接口</a:t>
            </a:r>
            <a:r>
              <a:rPr kumimoji="1" lang="en-US" altLang="zh-CN" sz="2800" dirty="0">
                <a:solidFill>
                  <a:srgbClr val="134F85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光行书_CNKI" panose="02000500000000000000" pitchFamily="2" charset="-122"/>
                <a:ea typeface="华光行书_CNKI" panose="02000500000000000000" pitchFamily="2" charset="-122"/>
              </a:rPr>
              <a:t>)</a:t>
            </a:r>
          </a:p>
          <a:p>
            <a:pPr eaLnBrk="1" hangingPunct="1">
              <a:lnSpc>
                <a:spcPct val="90000"/>
              </a:lnSpc>
              <a:spcBef>
                <a:spcPct val="50000"/>
              </a:spcBef>
              <a:buClr>
                <a:schemeClr val="tx2"/>
              </a:buClr>
              <a:buSzPct val="75000"/>
              <a:buFont typeface="Wingdings" pitchFamily="2" charset="2"/>
              <a:buNone/>
              <a:defRPr/>
            </a:pPr>
            <a:r>
              <a:rPr kumimoji="1" lang="en-US" altLang="zh-CN" sz="280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光行书_CNKI" panose="02000500000000000000" pitchFamily="2" charset="-122"/>
                <a:ea typeface="华光行书_CNKI" panose="02000500000000000000" pitchFamily="2" charset="-122"/>
              </a:rPr>
              <a:t>protected</a:t>
            </a:r>
            <a:r>
              <a:rPr kumimoji="1" lang="zh-CN" altLang="en-US" sz="280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光行书_CNKI" panose="02000500000000000000" pitchFamily="2" charset="-122"/>
                <a:ea typeface="华光行书_CNKI" panose="02000500000000000000" pitchFamily="2" charset="-122"/>
              </a:rPr>
              <a:t>：</a:t>
            </a:r>
          </a:p>
          <a:p>
            <a:pPr eaLnBrk="1" hangingPunct="1">
              <a:lnSpc>
                <a:spcPct val="90000"/>
              </a:lnSpc>
              <a:spcBef>
                <a:spcPct val="50000"/>
              </a:spcBef>
              <a:buClr>
                <a:schemeClr val="tx2"/>
              </a:buClr>
              <a:buSzPct val="75000"/>
              <a:buFont typeface="Wingdings" pitchFamily="2" charset="2"/>
              <a:buNone/>
              <a:defRPr/>
            </a:pPr>
            <a:r>
              <a:rPr kumimoji="1" lang="zh-CN" altLang="en-US" sz="2800" dirty="0">
                <a:effectLst>
                  <a:outerShdw blurRad="38100" dist="38100" dir="2700000" algn="tl">
                    <a:srgbClr val="C0C0C0"/>
                  </a:outerShdw>
                </a:effectLst>
                <a:latin typeface="华光行书_CNKI" panose="02000500000000000000" pitchFamily="2" charset="-122"/>
                <a:ea typeface="华光行书_CNKI" panose="02000500000000000000" pitchFamily="2" charset="-122"/>
              </a:rPr>
              <a:t>   </a:t>
            </a:r>
            <a:r>
              <a:rPr kumimoji="1" lang="zh-CN" altLang="en-US" sz="2800" dirty="0">
                <a:solidFill>
                  <a:srgbClr val="134F85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光行书_CNKI" panose="02000500000000000000" pitchFamily="2" charset="-122"/>
                <a:ea typeface="华光行书_CNKI" panose="02000500000000000000" pitchFamily="2" charset="-122"/>
              </a:rPr>
              <a:t>保护成员</a:t>
            </a:r>
            <a:endParaRPr kumimoji="1" lang="en-US" altLang="zh-CN" sz="2800" dirty="0">
              <a:solidFill>
                <a:srgbClr val="134F85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华光行书_CNKI" panose="02000500000000000000" pitchFamily="2" charset="-122"/>
              <a:ea typeface="华光行书_CNKI" panose="02000500000000000000" pitchFamily="2" charset="-122"/>
            </a:endParaRPr>
          </a:p>
        </p:txBody>
      </p:sp>
      <p:sp>
        <p:nvSpPr>
          <p:cNvPr id="20" name="Rectangle 13">
            <a:extLst>
              <a:ext uri="{FF2B5EF4-FFF2-40B4-BE49-F238E27FC236}">
                <a16:creationId xmlns:a16="http://schemas.microsoft.com/office/drawing/2014/main" id="{A984BCBA-CAB4-450C-875D-16194005D9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3233" y="1143000"/>
            <a:ext cx="3773384" cy="4713598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wrap="squar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50000"/>
              </a:spcBef>
              <a:buClr>
                <a:schemeClr val="tx2"/>
              </a:buClr>
              <a:buSzPct val="75000"/>
              <a:buFont typeface="Wingdings" pitchFamily="2" charset="2"/>
              <a:buNone/>
              <a:defRPr/>
            </a:pPr>
            <a:r>
              <a:rPr kumimoji="1" lang="en-US" altLang="zh-CN" sz="2800" dirty="0"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光行书_CNKI" panose="02000500000000000000" pitchFamily="2" charset="-122"/>
                <a:ea typeface="华光行书_CNKI" panose="02000500000000000000" pitchFamily="2" charset="-122"/>
              </a:rPr>
              <a:t>               {</a:t>
            </a:r>
          </a:p>
          <a:p>
            <a:pPr eaLnBrk="1" hangingPunct="1">
              <a:lnSpc>
                <a:spcPct val="90000"/>
              </a:lnSpc>
              <a:spcBef>
                <a:spcPct val="50000"/>
              </a:spcBef>
              <a:buClr>
                <a:schemeClr val="tx2"/>
              </a:buClr>
              <a:buSzPct val="75000"/>
              <a:buFont typeface="Wingdings" pitchFamily="2" charset="2"/>
              <a:buNone/>
              <a:defRPr/>
            </a:pPr>
            <a:endParaRPr kumimoji="1" lang="en-US" altLang="zh-CN" sz="2800" dirty="0">
              <a:solidFill>
                <a:srgbClr val="0000CC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华光行书_CNKI" panose="02000500000000000000" pitchFamily="2" charset="-122"/>
              <a:ea typeface="华光行书_CNKI" panose="02000500000000000000" pitchFamily="2" charset="-122"/>
            </a:endParaRPr>
          </a:p>
          <a:p>
            <a:pPr eaLnBrk="1" hangingPunct="1">
              <a:lnSpc>
                <a:spcPct val="90000"/>
              </a:lnSpc>
              <a:spcBef>
                <a:spcPct val="50000"/>
              </a:spcBef>
              <a:buClr>
                <a:schemeClr val="tx2"/>
              </a:buClr>
              <a:buSzPct val="75000"/>
              <a:buFont typeface="Wingdings" pitchFamily="2" charset="2"/>
              <a:buNone/>
              <a:defRPr/>
            </a:pPr>
            <a:endParaRPr kumimoji="1" lang="en-US" altLang="zh-CN" sz="2800" dirty="0">
              <a:solidFill>
                <a:srgbClr val="0000CC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华光行书_CNKI" panose="02000500000000000000" pitchFamily="2" charset="-122"/>
              <a:ea typeface="华光行书_CNKI" panose="02000500000000000000" pitchFamily="2" charset="-122"/>
            </a:endParaRPr>
          </a:p>
          <a:p>
            <a:pPr eaLnBrk="1" hangingPunct="1">
              <a:lnSpc>
                <a:spcPct val="90000"/>
              </a:lnSpc>
              <a:spcBef>
                <a:spcPct val="50000"/>
              </a:spcBef>
              <a:buClr>
                <a:schemeClr val="tx2"/>
              </a:buClr>
              <a:buSzPct val="75000"/>
              <a:buFont typeface="Wingdings" pitchFamily="2" charset="2"/>
              <a:buNone/>
              <a:defRPr/>
            </a:pPr>
            <a:endParaRPr kumimoji="1" lang="en-US" altLang="zh-CN" sz="2800" dirty="0">
              <a:solidFill>
                <a:srgbClr val="0000CC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华光行书_CNKI" panose="02000500000000000000" pitchFamily="2" charset="-122"/>
              <a:ea typeface="华光行书_CNKI" panose="02000500000000000000" pitchFamily="2" charset="-122"/>
            </a:endParaRPr>
          </a:p>
          <a:p>
            <a:pPr eaLnBrk="1" hangingPunct="1">
              <a:lnSpc>
                <a:spcPct val="90000"/>
              </a:lnSpc>
              <a:spcBef>
                <a:spcPct val="50000"/>
              </a:spcBef>
              <a:buClr>
                <a:schemeClr val="tx2"/>
              </a:buClr>
              <a:buSzPct val="75000"/>
              <a:buFont typeface="Wingdings" pitchFamily="2" charset="2"/>
              <a:buNone/>
              <a:defRPr/>
            </a:pPr>
            <a:endParaRPr kumimoji="1" lang="en-US" altLang="zh-CN" sz="2800" dirty="0">
              <a:solidFill>
                <a:srgbClr val="0000CC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华光行书_CNKI" panose="02000500000000000000" pitchFamily="2" charset="-122"/>
              <a:ea typeface="华光行书_CNKI" panose="02000500000000000000" pitchFamily="2" charset="-122"/>
            </a:endParaRPr>
          </a:p>
          <a:p>
            <a:pPr eaLnBrk="1" hangingPunct="1">
              <a:lnSpc>
                <a:spcPct val="90000"/>
              </a:lnSpc>
              <a:spcBef>
                <a:spcPct val="50000"/>
              </a:spcBef>
              <a:buClr>
                <a:schemeClr val="tx2"/>
              </a:buClr>
              <a:buSzPct val="75000"/>
              <a:buFont typeface="Wingdings" pitchFamily="2" charset="2"/>
              <a:buNone/>
              <a:defRPr/>
            </a:pPr>
            <a:r>
              <a:rPr kumimoji="1" lang="en-US" altLang="zh-CN" sz="2800" dirty="0"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光行书_CNKI" panose="02000500000000000000" pitchFamily="2" charset="-122"/>
                <a:ea typeface="华光行书_CNKI" panose="02000500000000000000" pitchFamily="2" charset="-122"/>
              </a:rPr>
              <a:t>	</a:t>
            </a:r>
          </a:p>
          <a:p>
            <a:pPr eaLnBrk="1" hangingPunct="1">
              <a:lnSpc>
                <a:spcPct val="90000"/>
              </a:lnSpc>
              <a:spcBef>
                <a:spcPct val="50000"/>
              </a:spcBef>
              <a:buClr>
                <a:schemeClr val="tx2"/>
              </a:buClr>
              <a:buSzPct val="75000"/>
              <a:buFont typeface="Wingdings" pitchFamily="2" charset="2"/>
              <a:buNone/>
              <a:defRPr/>
            </a:pPr>
            <a:r>
              <a:rPr kumimoji="1" lang="en-US" altLang="zh-CN" sz="2800" dirty="0"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光行书_CNKI" panose="02000500000000000000" pitchFamily="2" charset="-122"/>
                <a:ea typeface="华光行书_CNKI" panose="02000500000000000000" pitchFamily="2" charset="-122"/>
              </a:rPr>
              <a:t>	</a:t>
            </a:r>
          </a:p>
          <a:p>
            <a:pPr eaLnBrk="1" hangingPunct="1">
              <a:lnSpc>
                <a:spcPct val="90000"/>
              </a:lnSpc>
              <a:spcBef>
                <a:spcPct val="50000"/>
              </a:spcBef>
              <a:buClr>
                <a:schemeClr val="tx2"/>
              </a:buClr>
              <a:buSzPct val="75000"/>
              <a:buFont typeface="Wingdings" pitchFamily="2" charset="2"/>
              <a:buNone/>
              <a:defRPr/>
            </a:pPr>
            <a:r>
              <a:rPr kumimoji="1" lang="en-US" altLang="zh-CN" sz="2800" dirty="0"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光行书_CNKI" panose="02000500000000000000" pitchFamily="2" charset="-122"/>
                <a:ea typeface="华光行书_CNKI" panose="02000500000000000000" pitchFamily="2" charset="-122"/>
              </a:rPr>
              <a:t>}</a:t>
            </a:r>
            <a:r>
              <a:rPr kumimoji="1" lang="zh-CN" altLang="en-US" sz="280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光行书_CNKI" panose="02000500000000000000" pitchFamily="2" charset="-122"/>
                <a:ea typeface="华光行书_CNKI" panose="02000500000000000000" pitchFamily="2" charset="-122"/>
              </a:rPr>
              <a:t>；</a:t>
            </a:r>
          </a:p>
        </p:txBody>
      </p:sp>
      <p:sp>
        <p:nvSpPr>
          <p:cNvPr id="21" name="Rectangle 14">
            <a:extLst>
              <a:ext uri="{FF2B5EF4-FFF2-40B4-BE49-F238E27FC236}">
                <a16:creationId xmlns:a16="http://schemas.microsoft.com/office/drawing/2014/main" id="{9FCF64AD-20EF-48D4-B2A7-9AF6AE5717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938" y="1052513"/>
            <a:ext cx="939681" cy="584775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kumimoji="1" lang="en-US" altLang="zh-CN" sz="320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光行书_CNKI" panose="02000500000000000000" pitchFamily="2" charset="-122"/>
                <a:ea typeface="华光行书_CNKI" panose="02000500000000000000" pitchFamily="2" charset="-122"/>
              </a:rPr>
              <a:t>class</a:t>
            </a:r>
          </a:p>
        </p:txBody>
      </p:sp>
      <p:sp>
        <p:nvSpPr>
          <p:cNvPr id="22" name="AutoShape 15">
            <a:extLst>
              <a:ext uri="{FF2B5EF4-FFF2-40B4-BE49-F238E27FC236}">
                <a16:creationId xmlns:a16="http://schemas.microsoft.com/office/drawing/2014/main" id="{4AFC1CAC-1C5F-4211-9834-858D9D960979}"/>
              </a:ext>
            </a:extLst>
          </p:cNvPr>
          <p:cNvSpPr>
            <a:spLocks/>
          </p:cNvSpPr>
          <p:nvPr/>
        </p:nvSpPr>
        <p:spPr bwMode="auto">
          <a:xfrm>
            <a:off x="1074738" y="2043113"/>
            <a:ext cx="381000" cy="2514600"/>
          </a:xfrm>
          <a:prstGeom prst="leftBrace">
            <a:avLst>
              <a:gd name="adj1" fmla="val 55000"/>
              <a:gd name="adj2" fmla="val 50000"/>
            </a:avLst>
          </a:prstGeom>
          <a:noFill/>
          <a:ln w="12700" cap="sq">
            <a:solidFill>
              <a:schemeClr val="tx2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bg2"/>
              </a:buClr>
              <a:buSzPct val="70000"/>
              <a:buFont typeface="Wingdings" pitchFamily="2" charset="2"/>
              <a:buChar char="o"/>
              <a:defRPr sz="32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n"/>
              <a:defRPr sz="28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o"/>
              <a:defRPr sz="24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n"/>
              <a:defRPr sz="20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endParaRPr lang="zh-CN" altLang="en-US" sz="2000">
              <a:solidFill>
                <a:schemeClr val="tx1"/>
              </a:solidFill>
              <a:latin typeface="华光行书_CNKI" panose="02000500000000000000" pitchFamily="2" charset="-122"/>
              <a:ea typeface="华光行书_CNKI" panose="02000500000000000000" pitchFamily="2" charset="-122"/>
            </a:endParaRPr>
          </a:p>
        </p:txBody>
      </p:sp>
      <p:sp>
        <p:nvSpPr>
          <p:cNvPr id="23" name="Rectangle 16">
            <a:extLst>
              <a:ext uri="{FF2B5EF4-FFF2-40B4-BE49-F238E27FC236}">
                <a16:creationId xmlns:a16="http://schemas.microsoft.com/office/drawing/2014/main" id="{F9D98A42-0720-4129-8CEB-0D5A021436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750" y="5672138"/>
            <a:ext cx="5649913" cy="83026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SzPct val="70000"/>
              <a:buFont typeface="Wingdings" pitchFamily="2" charset="2"/>
              <a:buChar char="o"/>
              <a:defRPr sz="32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n"/>
              <a:defRPr sz="28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o"/>
              <a:defRPr sz="24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n"/>
              <a:defRPr sz="20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pPr eaLnBrk="1" hangingPunct="1">
              <a:buClr>
                <a:schemeClr val="folHlink"/>
              </a:buClr>
              <a:buSzPct val="60000"/>
              <a:buFont typeface="Wingdings" pitchFamily="2" charset="2"/>
              <a:buNone/>
              <a:defRPr/>
            </a:pPr>
            <a:r>
              <a:rPr kumimoji="1" lang="zh-CN" altLang="en-US" sz="2400" dirty="0">
                <a:solidFill>
                  <a:srgbClr val="134F85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类中定义的数据</a:t>
            </a:r>
            <a:r>
              <a:rPr kumimoji="1" lang="en-US" altLang="zh-CN" sz="2400" dirty="0">
                <a:solidFill>
                  <a:srgbClr val="134F85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(</a:t>
            </a:r>
            <a:r>
              <a:rPr kumimoji="1" lang="zh-CN" altLang="en-US" sz="2400" dirty="0">
                <a:solidFill>
                  <a:srgbClr val="134F85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变量</a:t>
            </a:r>
            <a:r>
              <a:rPr kumimoji="1" lang="en-US" altLang="zh-CN" sz="2400" dirty="0">
                <a:solidFill>
                  <a:srgbClr val="134F85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)</a:t>
            </a:r>
            <a:r>
              <a:rPr kumimoji="1" lang="zh-CN" altLang="en-US" sz="2400" dirty="0">
                <a:solidFill>
                  <a:srgbClr val="134F85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称为</a:t>
            </a:r>
            <a:r>
              <a:rPr kumimoji="1" lang="zh-CN" altLang="en-US" sz="2400" dirty="0">
                <a:solidFill>
                  <a:srgbClr val="FF0000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成员数据</a:t>
            </a:r>
            <a:br>
              <a:rPr kumimoji="1" lang="zh-CN" altLang="en-US" sz="2400" dirty="0">
                <a:solidFill>
                  <a:srgbClr val="FF0000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</a:br>
            <a:r>
              <a:rPr kumimoji="1" lang="zh-CN" altLang="en-US" sz="2400" dirty="0">
                <a:solidFill>
                  <a:srgbClr val="134F85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类中定义的函数</a:t>
            </a:r>
            <a:r>
              <a:rPr kumimoji="1" lang="en-US" altLang="zh-CN" sz="2400" dirty="0">
                <a:solidFill>
                  <a:srgbClr val="134F85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(</a:t>
            </a:r>
            <a:r>
              <a:rPr kumimoji="1" lang="zh-CN" altLang="en-US" sz="2400" dirty="0">
                <a:solidFill>
                  <a:srgbClr val="134F85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行为操作</a:t>
            </a:r>
            <a:r>
              <a:rPr kumimoji="1" lang="en-US" altLang="zh-CN" sz="2400" dirty="0">
                <a:solidFill>
                  <a:srgbClr val="134F85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)</a:t>
            </a:r>
            <a:r>
              <a:rPr kumimoji="1" lang="zh-CN" altLang="en-US" sz="2400" dirty="0">
                <a:solidFill>
                  <a:srgbClr val="134F85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称为</a:t>
            </a:r>
            <a:r>
              <a:rPr kumimoji="1" lang="zh-CN" altLang="en-US" sz="2400" dirty="0">
                <a:solidFill>
                  <a:srgbClr val="FF0000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成员函数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A93A44A1-5843-480A-ACC8-8954598E3240}"/>
              </a:ext>
            </a:extLst>
          </p:cNvPr>
          <p:cNvSpPr txBox="1"/>
          <p:nvPr/>
        </p:nvSpPr>
        <p:spPr>
          <a:xfrm>
            <a:off x="247719" y="224527"/>
            <a:ext cx="802877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kumimoji="1" sz="3200" b="1">
                <a:latin typeface="华光胖头鱼_CNKI" panose="02000500000000000000" pitchFamily="2" charset="-122"/>
                <a:ea typeface="华光胖头鱼_CNKI" panose="02000500000000000000" pitchFamily="2" charset="-122"/>
              </a:defRPr>
            </a:lvl1pPr>
          </a:lstStyle>
          <a:p>
            <a:r>
              <a:rPr lang="en-US" altLang="zh-CN" dirty="0"/>
              <a:t>7.2</a:t>
            </a:r>
            <a:r>
              <a:rPr lang="zh-CN" altLang="en-US" dirty="0"/>
              <a:t>类与对象</a:t>
            </a:r>
          </a:p>
        </p:txBody>
      </p:sp>
      <p:sp>
        <p:nvSpPr>
          <p:cNvPr id="2" name="标注: 弯曲线形 1">
            <a:extLst>
              <a:ext uri="{FF2B5EF4-FFF2-40B4-BE49-F238E27FC236}">
                <a16:creationId xmlns:a16="http://schemas.microsoft.com/office/drawing/2014/main" id="{43E283D2-3855-4A00-8916-BFD9B7A1C873}"/>
              </a:ext>
            </a:extLst>
          </p:cNvPr>
          <p:cNvSpPr/>
          <p:nvPr/>
        </p:nvSpPr>
        <p:spPr>
          <a:xfrm>
            <a:off x="3711575" y="2571033"/>
            <a:ext cx="2156746" cy="830262"/>
          </a:xfrm>
          <a:prstGeom prst="borderCallout2">
            <a:avLst>
              <a:gd name="adj1" fmla="val 31297"/>
              <a:gd name="adj2" fmla="val 1176"/>
              <a:gd name="adj3" fmla="val 32123"/>
              <a:gd name="adj4" fmla="val -15624"/>
              <a:gd name="adj5" fmla="val 80090"/>
              <a:gd name="adj6" fmla="val -64402"/>
            </a:avLst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kumimoji="1" lang="zh-CN" altLang="en-US" sz="2400" dirty="0">
                <a:solidFill>
                  <a:srgbClr val="134F85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类对象可以访问的数据和函数</a:t>
            </a:r>
          </a:p>
        </p:txBody>
      </p:sp>
      <p:sp>
        <p:nvSpPr>
          <p:cNvPr id="29" name="标注: 弯曲线形 28">
            <a:extLst>
              <a:ext uri="{FF2B5EF4-FFF2-40B4-BE49-F238E27FC236}">
                <a16:creationId xmlns:a16="http://schemas.microsoft.com/office/drawing/2014/main" id="{5847D524-7A4F-406C-95AC-030D04514F15}"/>
              </a:ext>
            </a:extLst>
          </p:cNvPr>
          <p:cNvSpPr/>
          <p:nvPr/>
        </p:nvSpPr>
        <p:spPr>
          <a:xfrm>
            <a:off x="3973113" y="1297090"/>
            <a:ext cx="1739736" cy="756398"/>
          </a:xfrm>
          <a:prstGeom prst="borderCallout2">
            <a:avLst>
              <a:gd name="adj1" fmla="val 72369"/>
              <a:gd name="adj2" fmla="val -1436"/>
              <a:gd name="adj3" fmla="val 74624"/>
              <a:gd name="adj4" fmla="val -21847"/>
              <a:gd name="adj5" fmla="val 100161"/>
              <a:gd name="adj6" fmla="val -78831"/>
            </a:avLst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kumimoji="1" lang="zh-CN" altLang="en-US" sz="2400" dirty="0">
                <a:solidFill>
                  <a:srgbClr val="FF0000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只能</a:t>
            </a:r>
            <a:r>
              <a:rPr kumimoji="1" lang="zh-CN" altLang="en-US" sz="2400" dirty="0">
                <a:solidFill>
                  <a:srgbClr val="134F85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被类成员函数访问</a:t>
            </a:r>
          </a:p>
        </p:txBody>
      </p:sp>
      <p:sp>
        <p:nvSpPr>
          <p:cNvPr id="30" name="Text Box 17">
            <a:extLst>
              <a:ext uri="{FF2B5EF4-FFF2-40B4-BE49-F238E27FC236}">
                <a16:creationId xmlns:a16="http://schemas.microsoft.com/office/drawing/2014/main" id="{F66B0F33-EBDA-40AF-913A-D16B98AA6B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20605" y="5550410"/>
            <a:ext cx="2438400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Char char="o"/>
              <a:defRPr sz="32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o"/>
              <a:defRPr sz="24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n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000" dirty="0">
                <a:solidFill>
                  <a:srgbClr val="104E87"/>
                </a:solidFill>
                <a:latin typeface="Comic Sans MS" panose="030F0702030302020204" pitchFamily="66" charset="0"/>
                <a:ea typeface="宋体" panose="02010600030101010101" pitchFamily="2" charset="-122"/>
              </a:rPr>
              <a:t>class C {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000" dirty="0">
                <a:solidFill>
                  <a:srgbClr val="104E87"/>
                </a:solidFill>
                <a:latin typeface="Comic Sans MS" panose="030F0702030302020204" pitchFamily="66" charset="0"/>
                <a:ea typeface="宋体" panose="02010600030101010101" pitchFamily="2" charset="-122"/>
              </a:rPr>
              <a:t>     int x;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000" dirty="0">
                <a:solidFill>
                  <a:srgbClr val="104E87"/>
                </a:solidFill>
                <a:latin typeface="Comic Sans MS" panose="030F0702030302020204" pitchFamily="66" charset="0"/>
                <a:ea typeface="宋体" panose="02010600030101010101" pitchFamily="2" charset="-122"/>
              </a:rPr>
              <a:t>    void m();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000" dirty="0">
                <a:solidFill>
                  <a:srgbClr val="104E87"/>
                </a:solidFill>
                <a:latin typeface="Comic Sans MS" panose="030F0702030302020204" pitchFamily="66" charset="0"/>
                <a:ea typeface="宋体" panose="02010600030101010101" pitchFamily="2" charset="-122"/>
              </a:rPr>
              <a:t>};</a:t>
            </a:r>
          </a:p>
        </p:txBody>
      </p:sp>
      <p:sp>
        <p:nvSpPr>
          <p:cNvPr id="31" name="Text Box 18">
            <a:extLst>
              <a:ext uri="{FF2B5EF4-FFF2-40B4-BE49-F238E27FC236}">
                <a16:creationId xmlns:a16="http://schemas.microsoft.com/office/drawing/2014/main" id="{E1B01040-0FB6-4325-B72E-4416276C14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43080" y="5436110"/>
            <a:ext cx="2438400" cy="14773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Char char="o"/>
              <a:defRPr sz="32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o"/>
              <a:defRPr sz="24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n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000">
                <a:solidFill>
                  <a:srgbClr val="104E87"/>
                </a:solidFill>
                <a:latin typeface="Comic Sans MS" panose="030F0702030302020204" pitchFamily="66" charset="0"/>
                <a:ea typeface="宋体" panose="02010600030101010101" pitchFamily="2" charset="-122"/>
              </a:rPr>
              <a:t>class C {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000">
                <a:solidFill>
                  <a:srgbClr val="104E87"/>
                </a:solidFill>
                <a:latin typeface="Comic Sans MS" panose="030F0702030302020204" pitchFamily="66" charset="0"/>
                <a:ea typeface="宋体" panose="02010600030101010101" pitchFamily="2" charset="-122"/>
              </a:rPr>
              <a:t>private: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000">
                <a:solidFill>
                  <a:srgbClr val="104E87"/>
                </a:solidFill>
                <a:latin typeface="Comic Sans MS" panose="030F0702030302020204" pitchFamily="66" charset="0"/>
                <a:ea typeface="宋体" panose="02010600030101010101" pitchFamily="2" charset="-122"/>
              </a:rPr>
              <a:t>    int x;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000">
                <a:solidFill>
                  <a:srgbClr val="104E87"/>
                </a:solidFill>
                <a:latin typeface="Comic Sans MS" panose="030F0702030302020204" pitchFamily="66" charset="0"/>
                <a:ea typeface="宋体" panose="02010600030101010101" pitchFamily="2" charset="-122"/>
              </a:rPr>
              <a:t>    void m();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000">
                <a:solidFill>
                  <a:srgbClr val="104E87"/>
                </a:solidFill>
                <a:latin typeface="Comic Sans MS" panose="030F0702030302020204" pitchFamily="66" charset="0"/>
                <a:ea typeface="宋体" panose="02010600030101010101" pitchFamily="2" charset="-122"/>
              </a:rPr>
              <a:t>};</a:t>
            </a:r>
          </a:p>
        </p:txBody>
      </p:sp>
      <p:sp>
        <p:nvSpPr>
          <p:cNvPr id="32" name="Text Box 19">
            <a:extLst>
              <a:ext uri="{FF2B5EF4-FFF2-40B4-BE49-F238E27FC236}">
                <a16:creationId xmlns:a16="http://schemas.microsoft.com/office/drawing/2014/main" id="{1F4806B1-48E3-4CBA-91DA-E28A5D78D1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49680" y="5277360"/>
            <a:ext cx="2438400" cy="14773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Char char="o"/>
              <a:defRPr sz="32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o"/>
              <a:defRPr sz="24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n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000">
                <a:solidFill>
                  <a:srgbClr val="104E87"/>
                </a:solidFill>
                <a:latin typeface="Comic Sans MS" panose="030F0702030302020204" pitchFamily="66" charset="0"/>
                <a:ea typeface="宋体" panose="02010600030101010101" pitchFamily="2" charset="-122"/>
              </a:rPr>
              <a:t>class C {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000">
                <a:solidFill>
                  <a:srgbClr val="104E87"/>
                </a:solidFill>
                <a:latin typeface="Comic Sans MS" panose="030F0702030302020204" pitchFamily="66" charset="0"/>
                <a:ea typeface="宋体" panose="02010600030101010101" pitchFamily="2" charset="-122"/>
              </a:rPr>
              <a:t>    int x;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000">
                <a:solidFill>
                  <a:srgbClr val="104E87"/>
                </a:solidFill>
                <a:latin typeface="Comic Sans MS" panose="030F0702030302020204" pitchFamily="66" charset="0"/>
                <a:ea typeface="宋体" panose="02010600030101010101" pitchFamily="2" charset="-122"/>
              </a:rPr>
              <a:t>public: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000">
                <a:solidFill>
                  <a:srgbClr val="104E87"/>
                </a:solidFill>
                <a:latin typeface="Comic Sans MS" panose="030F0702030302020204" pitchFamily="66" charset="0"/>
                <a:ea typeface="宋体" panose="02010600030101010101" pitchFamily="2" charset="-122"/>
              </a:rPr>
              <a:t>    void m();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000">
                <a:solidFill>
                  <a:srgbClr val="104E87"/>
                </a:solidFill>
                <a:latin typeface="Comic Sans MS" panose="030F0702030302020204" pitchFamily="66" charset="0"/>
                <a:ea typeface="宋体" panose="02010600030101010101" pitchFamily="2" charset="-122"/>
              </a:rPr>
              <a:t>};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23714B64-14A6-4B92-9F85-5692C03F40CF}"/>
              </a:ext>
            </a:extLst>
          </p:cNvPr>
          <p:cNvSpPr/>
          <p:nvPr/>
        </p:nvSpPr>
        <p:spPr>
          <a:xfrm>
            <a:off x="7191117" y="4525738"/>
            <a:ext cx="4213123" cy="830997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txBody>
          <a:bodyPr wrap="square">
            <a:spAutoFit/>
          </a:bodyPr>
          <a:lstStyle/>
          <a:p>
            <a:pPr eaLnBrk="1" hangingPunct="1">
              <a:spcBef>
                <a:spcPts val="0"/>
              </a:spcBef>
              <a:buFont typeface="Georgia" panose="02040502050405020303" pitchFamily="18" charset="0"/>
              <a:buNone/>
              <a:defRPr/>
            </a:pPr>
            <a:r>
              <a:rPr lang="zh-CN" altLang="zh-CN" dirty="0">
                <a:solidFill>
                  <a:srgbClr val="104E87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如果</a:t>
            </a:r>
            <a:r>
              <a:rPr lang="zh-CN" altLang="en-US" dirty="0">
                <a:solidFill>
                  <a:srgbClr val="104E87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紧跟在类名后面声明私有成员，则</a:t>
            </a:r>
            <a:r>
              <a:rPr lang="zh-CN" altLang="zh-CN" dirty="0">
                <a:solidFill>
                  <a:srgbClr val="104E87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关键字</a:t>
            </a:r>
            <a:r>
              <a:rPr lang="en-US" altLang="zh-CN" dirty="0">
                <a:solidFill>
                  <a:srgbClr val="104E87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private</a:t>
            </a:r>
            <a:r>
              <a:rPr lang="zh-CN" altLang="en-US" dirty="0">
                <a:solidFill>
                  <a:srgbClr val="104E87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可</a:t>
            </a:r>
            <a:r>
              <a:rPr lang="zh-CN" altLang="zh-CN" dirty="0">
                <a:solidFill>
                  <a:srgbClr val="104E87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省略</a:t>
            </a:r>
            <a:endParaRPr lang="zh-CN" altLang="en-US" dirty="0">
              <a:solidFill>
                <a:srgbClr val="104E87"/>
              </a:solidFill>
              <a:latin typeface="华光行书_CNKI" panose="02000500000000000000" pitchFamily="2" charset="-122"/>
              <a:ea typeface="华光行书_CNKI" panose="02000500000000000000" pitchFamily="2" charset="-122"/>
            </a:endParaRPr>
          </a:p>
        </p:txBody>
      </p:sp>
      <p:sp>
        <p:nvSpPr>
          <p:cNvPr id="34" name="任意多边形: 形状 33">
            <a:extLst>
              <a:ext uri="{FF2B5EF4-FFF2-40B4-BE49-F238E27FC236}">
                <a16:creationId xmlns:a16="http://schemas.microsoft.com/office/drawing/2014/main" id="{9379AEC3-C00D-4C98-8269-22C7B2E3BA37}"/>
              </a:ext>
            </a:extLst>
          </p:cNvPr>
          <p:cNvSpPr/>
          <p:nvPr/>
        </p:nvSpPr>
        <p:spPr bwMode="auto">
          <a:xfrm>
            <a:off x="8465574" y="5459922"/>
            <a:ext cx="226706" cy="1387428"/>
          </a:xfrm>
          <a:custGeom>
            <a:avLst/>
            <a:gdLst>
              <a:gd name="connsiteX0" fmla="*/ 429491 w 429491"/>
              <a:gd name="connsiteY0" fmla="*/ 0 h 2161309"/>
              <a:gd name="connsiteX1" fmla="*/ 374073 w 429491"/>
              <a:gd name="connsiteY1" fmla="*/ 124691 h 2161309"/>
              <a:gd name="connsiteX2" fmla="*/ 332509 w 429491"/>
              <a:gd name="connsiteY2" fmla="*/ 152400 h 2161309"/>
              <a:gd name="connsiteX3" fmla="*/ 318655 w 429491"/>
              <a:gd name="connsiteY3" fmla="*/ 193963 h 2161309"/>
              <a:gd name="connsiteX4" fmla="*/ 290945 w 429491"/>
              <a:gd name="connsiteY4" fmla="*/ 235527 h 2161309"/>
              <a:gd name="connsiteX5" fmla="*/ 277091 w 429491"/>
              <a:gd name="connsiteY5" fmla="*/ 277091 h 2161309"/>
              <a:gd name="connsiteX6" fmla="*/ 277091 w 429491"/>
              <a:gd name="connsiteY6" fmla="*/ 692727 h 2161309"/>
              <a:gd name="connsiteX7" fmla="*/ 290945 w 429491"/>
              <a:gd name="connsiteY7" fmla="*/ 734291 h 2161309"/>
              <a:gd name="connsiteX8" fmla="*/ 332509 w 429491"/>
              <a:gd name="connsiteY8" fmla="*/ 789709 h 2161309"/>
              <a:gd name="connsiteX9" fmla="*/ 346364 w 429491"/>
              <a:gd name="connsiteY9" fmla="*/ 831272 h 2161309"/>
              <a:gd name="connsiteX10" fmla="*/ 374073 w 429491"/>
              <a:gd name="connsiteY10" fmla="*/ 928254 h 2161309"/>
              <a:gd name="connsiteX11" fmla="*/ 360218 w 429491"/>
              <a:gd name="connsiteY11" fmla="*/ 997527 h 2161309"/>
              <a:gd name="connsiteX12" fmla="*/ 304800 w 429491"/>
              <a:gd name="connsiteY12" fmla="*/ 1108363 h 2161309"/>
              <a:gd name="connsiteX13" fmla="*/ 249382 w 429491"/>
              <a:gd name="connsiteY13" fmla="*/ 1149927 h 2161309"/>
              <a:gd name="connsiteX14" fmla="*/ 235527 w 429491"/>
              <a:gd name="connsiteY14" fmla="*/ 1205345 h 2161309"/>
              <a:gd name="connsiteX15" fmla="*/ 221673 w 429491"/>
              <a:gd name="connsiteY15" fmla="*/ 1288472 h 2161309"/>
              <a:gd name="connsiteX16" fmla="*/ 207818 w 429491"/>
              <a:gd name="connsiteY16" fmla="*/ 1330036 h 2161309"/>
              <a:gd name="connsiteX17" fmla="*/ 221673 w 429491"/>
              <a:gd name="connsiteY17" fmla="*/ 1440872 h 2161309"/>
              <a:gd name="connsiteX18" fmla="*/ 249382 w 429491"/>
              <a:gd name="connsiteY18" fmla="*/ 1468582 h 2161309"/>
              <a:gd name="connsiteX19" fmla="*/ 304800 w 429491"/>
              <a:gd name="connsiteY19" fmla="*/ 1593272 h 2161309"/>
              <a:gd name="connsiteX20" fmla="*/ 290945 w 429491"/>
              <a:gd name="connsiteY20" fmla="*/ 1801091 h 2161309"/>
              <a:gd name="connsiteX21" fmla="*/ 249382 w 429491"/>
              <a:gd name="connsiteY21" fmla="*/ 1828800 h 2161309"/>
              <a:gd name="connsiteX22" fmla="*/ 207818 w 429491"/>
              <a:gd name="connsiteY22" fmla="*/ 1911927 h 2161309"/>
              <a:gd name="connsiteX23" fmla="*/ 166255 w 429491"/>
              <a:gd name="connsiteY23" fmla="*/ 1953491 h 2161309"/>
              <a:gd name="connsiteX24" fmla="*/ 96982 w 429491"/>
              <a:gd name="connsiteY24" fmla="*/ 2064327 h 2161309"/>
              <a:gd name="connsiteX25" fmla="*/ 69273 w 429491"/>
              <a:gd name="connsiteY25" fmla="*/ 2119745 h 2161309"/>
              <a:gd name="connsiteX26" fmla="*/ 0 w 429491"/>
              <a:gd name="connsiteY26" fmla="*/ 2161309 h 21613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429491" h="2161309">
                <a:moveTo>
                  <a:pt x="429491" y="0"/>
                </a:moveTo>
                <a:cubicBezTo>
                  <a:pt x="411018" y="41564"/>
                  <a:pt x="398492" y="86318"/>
                  <a:pt x="374073" y="124691"/>
                </a:cubicBezTo>
                <a:cubicBezTo>
                  <a:pt x="365133" y="138739"/>
                  <a:pt x="342911" y="139398"/>
                  <a:pt x="332509" y="152400"/>
                </a:cubicBezTo>
                <a:cubicBezTo>
                  <a:pt x="323386" y="163804"/>
                  <a:pt x="325186" y="180901"/>
                  <a:pt x="318655" y="193963"/>
                </a:cubicBezTo>
                <a:cubicBezTo>
                  <a:pt x="311208" y="208856"/>
                  <a:pt x="300182" y="221672"/>
                  <a:pt x="290945" y="235527"/>
                </a:cubicBezTo>
                <a:cubicBezTo>
                  <a:pt x="286327" y="249382"/>
                  <a:pt x="280633" y="262923"/>
                  <a:pt x="277091" y="277091"/>
                </a:cubicBezTo>
                <a:cubicBezTo>
                  <a:pt x="240389" y="423900"/>
                  <a:pt x="263206" y="498333"/>
                  <a:pt x="277091" y="692727"/>
                </a:cubicBezTo>
                <a:cubicBezTo>
                  <a:pt x="278131" y="707294"/>
                  <a:pt x="283699" y="721611"/>
                  <a:pt x="290945" y="734291"/>
                </a:cubicBezTo>
                <a:cubicBezTo>
                  <a:pt x="302401" y="754340"/>
                  <a:pt x="318654" y="771236"/>
                  <a:pt x="332509" y="789709"/>
                </a:cubicBezTo>
                <a:cubicBezTo>
                  <a:pt x="337127" y="803563"/>
                  <a:pt x="342352" y="817230"/>
                  <a:pt x="346364" y="831272"/>
                </a:cubicBezTo>
                <a:cubicBezTo>
                  <a:pt x="381157" y="953047"/>
                  <a:pt x="340854" y="828601"/>
                  <a:pt x="374073" y="928254"/>
                </a:cubicBezTo>
                <a:cubicBezTo>
                  <a:pt x="369455" y="951345"/>
                  <a:pt x="365929" y="974682"/>
                  <a:pt x="360218" y="997527"/>
                </a:cubicBezTo>
                <a:cubicBezTo>
                  <a:pt x="350556" y="1036173"/>
                  <a:pt x="330446" y="1079053"/>
                  <a:pt x="304800" y="1108363"/>
                </a:cubicBezTo>
                <a:cubicBezTo>
                  <a:pt x="289594" y="1125741"/>
                  <a:pt x="267855" y="1136072"/>
                  <a:pt x="249382" y="1149927"/>
                </a:cubicBezTo>
                <a:cubicBezTo>
                  <a:pt x="244764" y="1168400"/>
                  <a:pt x="239261" y="1186674"/>
                  <a:pt x="235527" y="1205345"/>
                </a:cubicBezTo>
                <a:cubicBezTo>
                  <a:pt x="230018" y="1232891"/>
                  <a:pt x="227767" y="1261050"/>
                  <a:pt x="221673" y="1288472"/>
                </a:cubicBezTo>
                <a:cubicBezTo>
                  <a:pt x="218505" y="1302728"/>
                  <a:pt x="212436" y="1316181"/>
                  <a:pt x="207818" y="1330036"/>
                </a:cubicBezTo>
                <a:cubicBezTo>
                  <a:pt x="212436" y="1366981"/>
                  <a:pt x="210974" y="1405209"/>
                  <a:pt x="221673" y="1440872"/>
                </a:cubicBezTo>
                <a:cubicBezTo>
                  <a:pt x="225426" y="1453383"/>
                  <a:pt x="243540" y="1456899"/>
                  <a:pt x="249382" y="1468582"/>
                </a:cubicBezTo>
                <a:cubicBezTo>
                  <a:pt x="348299" y="1666419"/>
                  <a:pt x="223296" y="1471018"/>
                  <a:pt x="304800" y="1593272"/>
                </a:cubicBezTo>
                <a:cubicBezTo>
                  <a:pt x="300182" y="1662545"/>
                  <a:pt x="306846" y="1733510"/>
                  <a:pt x="290945" y="1801091"/>
                </a:cubicBezTo>
                <a:cubicBezTo>
                  <a:pt x="287131" y="1817299"/>
                  <a:pt x="259373" y="1815479"/>
                  <a:pt x="249382" y="1828800"/>
                </a:cubicBezTo>
                <a:cubicBezTo>
                  <a:pt x="230794" y="1853584"/>
                  <a:pt x="225002" y="1886150"/>
                  <a:pt x="207818" y="1911927"/>
                </a:cubicBezTo>
                <a:cubicBezTo>
                  <a:pt x="196950" y="1928230"/>
                  <a:pt x="177779" y="1937645"/>
                  <a:pt x="166255" y="1953491"/>
                </a:cubicBezTo>
                <a:cubicBezTo>
                  <a:pt x="140630" y="1988726"/>
                  <a:pt x="116466" y="2025359"/>
                  <a:pt x="96982" y="2064327"/>
                </a:cubicBezTo>
                <a:cubicBezTo>
                  <a:pt x="87746" y="2082800"/>
                  <a:pt x="82495" y="2103879"/>
                  <a:pt x="69273" y="2119745"/>
                </a:cubicBezTo>
                <a:cubicBezTo>
                  <a:pt x="57332" y="2134074"/>
                  <a:pt x="18902" y="2151858"/>
                  <a:pt x="0" y="2161309"/>
                </a:cubicBezTo>
              </a:path>
            </a:pathLst>
          </a:custGeom>
          <a:ln>
            <a:headEnd type="none" w="med" len="med"/>
            <a:tailEnd type="none" w="med" len="med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/>
          <a:lstStyle/>
          <a:p>
            <a:pPr eaLnBrk="1" hangingPunct="1">
              <a:defRPr/>
            </a:pPr>
            <a:endParaRPr lang="zh-CN" altLang="en-US" sz="2000">
              <a:solidFill>
                <a:srgbClr val="104E87"/>
              </a:solidFill>
              <a:latin typeface="Comic Sans MS" panose="030F0702030302020204" pitchFamily="66" charset="0"/>
            </a:endParaRPr>
          </a:p>
        </p:txBody>
      </p:sp>
      <p:sp>
        <p:nvSpPr>
          <p:cNvPr id="35" name="任意多边形: 形状 34">
            <a:extLst>
              <a:ext uri="{FF2B5EF4-FFF2-40B4-BE49-F238E27FC236}">
                <a16:creationId xmlns:a16="http://schemas.microsoft.com/office/drawing/2014/main" id="{ACE37DFA-A24D-4098-B94A-4813ACDC053A}"/>
              </a:ext>
            </a:extLst>
          </p:cNvPr>
          <p:cNvSpPr/>
          <p:nvPr/>
        </p:nvSpPr>
        <p:spPr bwMode="auto">
          <a:xfrm>
            <a:off x="10228980" y="5390073"/>
            <a:ext cx="208269" cy="1364616"/>
          </a:xfrm>
          <a:custGeom>
            <a:avLst/>
            <a:gdLst>
              <a:gd name="connsiteX0" fmla="*/ 0 w 390369"/>
              <a:gd name="connsiteY0" fmla="*/ 0 h 2341418"/>
              <a:gd name="connsiteX1" fmla="*/ 41564 w 390369"/>
              <a:gd name="connsiteY1" fmla="*/ 41564 h 2341418"/>
              <a:gd name="connsiteX2" fmla="*/ 96982 w 390369"/>
              <a:gd name="connsiteY2" fmla="*/ 138545 h 2341418"/>
              <a:gd name="connsiteX3" fmla="*/ 110837 w 390369"/>
              <a:gd name="connsiteY3" fmla="*/ 193964 h 2341418"/>
              <a:gd name="connsiteX4" fmla="*/ 124691 w 390369"/>
              <a:gd name="connsiteY4" fmla="*/ 318655 h 2341418"/>
              <a:gd name="connsiteX5" fmla="*/ 152400 w 390369"/>
              <a:gd name="connsiteY5" fmla="*/ 471055 h 2341418"/>
              <a:gd name="connsiteX6" fmla="*/ 180110 w 390369"/>
              <a:gd name="connsiteY6" fmla="*/ 512618 h 2341418"/>
              <a:gd name="connsiteX7" fmla="*/ 152400 w 390369"/>
              <a:gd name="connsiteY7" fmla="*/ 762000 h 2341418"/>
              <a:gd name="connsiteX8" fmla="*/ 124691 w 390369"/>
              <a:gd name="connsiteY8" fmla="*/ 803564 h 2341418"/>
              <a:gd name="connsiteX9" fmla="*/ 110837 w 390369"/>
              <a:gd name="connsiteY9" fmla="*/ 858982 h 2341418"/>
              <a:gd name="connsiteX10" fmla="*/ 96982 w 390369"/>
              <a:gd name="connsiteY10" fmla="*/ 900545 h 2341418"/>
              <a:gd name="connsiteX11" fmla="*/ 166255 w 390369"/>
              <a:gd name="connsiteY11" fmla="*/ 969818 h 2341418"/>
              <a:gd name="connsiteX12" fmla="*/ 221673 w 390369"/>
              <a:gd name="connsiteY12" fmla="*/ 1080655 h 2341418"/>
              <a:gd name="connsiteX13" fmla="*/ 235528 w 390369"/>
              <a:gd name="connsiteY13" fmla="*/ 1163782 h 2341418"/>
              <a:gd name="connsiteX14" fmla="*/ 249382 w 390369"/>
              <a:gd name="connsiteY14" fmla="*/ 1205345 h 2341418"/>
              <a:gd name="connsiteX15" fmla="*/ 235528 w 390369"/>
              <a:gd name="connsiteY15" fmla="*/ 1343891 h 2341418"/>
              <a:gd name="connsiteX16" fmla="*/ 207819 w 390369"/>
              <a:gd name="connsiteY16" fmla="*/ 1385455 h 2341418"/>
              <a:gd name="connsiteX17" fmla="*/ 166255 w 390369"/>
              <a:gd name="connsiteY17" fmla="*/ 1468582 h 2341418"/>
              <a:gd name="connsiteX18" fmla="*/ 110837 w 390369"/>
              <a:gd name="connsiteY18" fmla="*/ 1593273 h 2341418"/>
              <a:gd name="connsiteX19" fmla="*/ 83128 w 390369"/>
              <a:gd name="connsiteY19" fmla="*/ 1676400 h 2341418"/>
              <a:gd name="connsiteX20" fmla="*/ 55419 w 390369"/>
              <a:gd name="connsiteY20" fmla="*/ 1731818 h 2341418"/>
              <a:gd name="connsiteX21" fmla="*/ 110837 w 390369"/>
              <a:gd name="connsiteY21" fmla="*/ 1842655 h 2341418"/>
              <a:gd name="connsiteX22" fmla="*/ 152400 w 390369"/>
              <a:gd name="connsiteY22" fmla="*/ 1856509 h 2341418"/>
              <a:gd name="connsiteX23" fmla="*/ 207819 w 390369"/>
              <a:gd name="connsiteY23" fmla="*/ 1884218 h 2341418"/>
              <a:gd name="connsiteX24" fmla="*/ 277091 w 390369"/>
              <a:gd name="connsiteY24" fmla="*/ 1981200 h 2341418"/>
              <a:gd name="connsiteX25" fmla="*/ 290946 w 390369"/>
              <a:gd name="connsiteY25" fmla="*/ 2022764 h 2341418"/>
              <a:gd name="connsiteX26" fmla="*/ 318655 w 390369"/>
              <a:gd name="connsiteY26" fmla="*/ 2064327 h 2341418"/>
              <a:gd name="connsiteX27" fmla="*/ 387928 w 390369"/>
              <a:gd name="connsiteY27" fmla="*/ 2216727 h 2341418"/>
              <a:gd name="connsiteX28" fmla="*/ 387928 w 390369"/>
              <a:gd name="connsiteY28" fmla="*/ 2341418 h 23414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390369" h="2341418">
                <a:moveTo>
                  <a:pt x="0" y="0"/>
                </a:moveTo>
                <a:cubicBezTo>
                  <a:pt x="13855" y="13855"/>
                  <a:pt x="29021" y="26512"/>
                  <a:pt x="41564" y="41564"/>
                </a:cubicBezTo>
                <a:cubicBezTo>
                  <a:pt x="59835" y="63490"/>
                  <a:pt x="87742" y="113906"/>
                  <a:pt x="96982" y="138545"/>
                </a:cubicBezTo>
                <a:cubicBezTo>
                  <a:pt x="103668" y="156374"/>
                  <a:pt x="106219" y="175491"/>
                  <a:pt x="110837" y="193964"/>
                </a:cubicBezTo>
                <a:cubicBezTo>
                  <a:pt x="115455" y="235528"/>
                  <a:pt x="119805" y="277122"/>
                  <a:pt x="124691" y="318655"/>
                </a:cubicBezTo>
                <a:cubicBezTo>
                  <a:pt x="129098" y="356116"/>
                  <a:pt x="131189" y="428633"/>
                  <a:pt x="152400" y="471055"/>
                </a:cubicBezTo>
                <a:cubicBezTo>
                  <a:pt x="159847" y="485948"/>
                  <a:pt x="170873" y="498764"/>
                  <a:pt x="180110" y="512618"/>
                </a:cubicBezTo>
                <a:cubicBezTo>
                  <a:pt x="179281" y="524223"/>
                  <a:pt x="177752" y="702847"/>
                  <a:pt x="152400" y="762000"/>
                </a:cubicBezTo>
                <a:cubicBezTo>
                  <a:pt x="145841" y="777305"/>
                  <a:pt x="133927" y="789709"/>
                  <a:pt x="124691" y="803564"/>
                </a:cubicBezTo>
                <a:cubicBezTo>
                  <a:pt x="120073" y="822037"/>
                  <a:pt x="116068" y="840673"/>
                  <a:pt x="110837" y="858982"/>
                </a:cubicBezTo>
                <a:cubicBezTo>
                  <a:pt x="106825" y="873024"/>
                  <a:pt x="90451" y="887483"/>
                  <a:pt x="96982" y="900545"/>
                </a:cubicBezTo>
                <a:cubicBezTo>
                  <a:pt x="111586" y="929753"/>
                  <a:pt x="166255" y="969818"/>
                  <a:pt x="166255" y="969818"/>
                </a:cubicBezTo>
                <a:cubicBezTo>
                  <a:pt x="198095" y="1065337"/>
                  <a:pt x="173311" y="1032292"/>
                  <a:pt x="221673" y="1080655"/>
                </a:cubicBezTo>
                <a:cubicBezTo>
                  <a:pt x="226291" y="1108364"/>
                  <a:pt x="229434" y="1136360"/>
                  <a:pt x="235528" y="1163782"/>
                </a:cubicBezTo>
                <a:cubicBezTo>
                  <a:pt x="238696" y="1178038"/>
                  <a:pt x="249382" y="1190741"/>
                  <a:pt x="249382" y="1205345"/>
                </a:cubicBezTo>
                <a:cubicBezTo>
                  <a:pt x="249382" y="1251757"/>
                  <a:pt x="245964" y="1298667"/>
                  <a:pt x="235528" y="1343891"/>
                </a:cubicBezTo>
                <a:cubicBezTo>
                  <a:pt x="231784" y="1360116"/>
                  <a:pt x="215266" y="1370562"/>
                  <a:pt x="207819" y="1385455"/>
                </a:cubicBezTo>
                <a:cubicBezTo>
                  <a:pt x="150458" y="1500176"/>
                  <a:pt x="245666" y="1349464"/>
                  <a:pt x="166255" y="1468582"/>
                </a:cubicBezTo>
                <a:cubicBezTo>
                  <a:pt x="135107" y="1593168"/>
                  <a:pt x="177415" y="1446799"/>
                  <a:pt x="110837" y="1593273"/>
                </a:cubicBezTo>
                <a:cubicBezTo>
                  <a:pt x="98751" y="1619863"/>
                  <a:pt x="93976" y="1649281"/>
                  <a:pt x="83128" y="1676400"/>
                </a:cubicBezTo>
                <a:cubicBezTo>
                  <a:pt x="75458" y="1695576"/>
                  <a:pt x="64655" y="1713345"/>
                  <a:pt x="55419" y="1731818"/>
                </a:cubicBezTo>
                <a:cubicBezTo>
                  <a:pt x="63787" y="1752737"/>
                  <a:pt x="86423" y="1823124"/>
                  <a:pt x="110837" y="1842655"/>
                </a:cubicBezTo>
                <a:cubicBezTo>
                  <a:pt x="122241" y="1851778"/>
                  <a:pt x="138977" y="1850756"/>
                  <a:pt x="152400" y="1856509"/>
                </a:cubicBezTo>
                <a:cubicBezTo>
                  <a:pt x="171383" y="1864645"/>
                  <a:pt x="189346" y="1874982"/>
                  <a:pt x="207819" y="1884218"/>
                </a:cubicBezTo>
                <a:cubicBezTo>
                  <a:pt x="217233" y="1896770"/>
                  <a:pt x="266961" y="1960941"/>
                  <a:pt x="277091" y="1981200"/>
                </a:cubicBezTo>
                <a:cubicBezTo>
                  <a:pt x="283622" y="1994262"/>
                  <a:pt x="284415" y="2009702"/>
                  <a:pt x="290946" y="2022764"/>
                </a:cubicBezTo>
                <a:cubicBezTo>
                  <a:pt x="298393" y="2037657"/>
                  <a:pt x="309830" y="2050207"/>
                  <a:pt x="318655" y="2064327"/>
                </a:cubicBezTo>
                <a:cubicBezTo>
                  <a:pt x="349134" y="2113093"/>
                  <a:pt x="380026" y="2157461"/>
                  <a:pt x="387928" y="2216727"/>
                </a:cubicBezTo>
                <a:cubicBezTo>
                  <a:pt x="393421" y="2257926"/>
                  <a:pt x="387928" y="2299854"/>
                  <a:pt x="387928" y="2341418"/>
                </a:cubicBezTo>
              </a:path>
            </a:pathLst>
          </a:custGeom>
          <a:ln>
            <a:headEnd type="none" w="med" len="med"/>
            <a:tailEnd type="none" w="med" len="med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/>
          <a:lstStyle/>
          <a:p>
            <a:pPr eaLnBrk="1" hangingPunct="1">
              <a:defRPr/>
            </a:pPr>
            <a:endParaRPr lang="zh-CN" altLang="en-US" sz="2000">
              <a:solidFill>
                <a:srgbClr val="104E87"/>
              </a:solidFill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99925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3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4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3" dur="2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8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8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4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9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utoUpdateAnimBg="0"/>
      <p:bldP spid="16" grpId="0" animBg="1"/>
      <p:bldP spid="17" grpId="0" autoUpdateAnimBg="0"/>
      <p:bldP spid="18" grpId="0" autoUpdateAnimBg="0"/>
      <p:bldP spid="19" grpId="0" autoUpdateAnimBg="0"/>
      <p:bldP spid="20" grpId="0" autoUpdateAnimBg="0"/>
      <p:bldP spid="21" grpId="0" autoUpdateAnimBg="0"/>
      <p:bldP spid="22" grpId="0" animBg="1"/>
      <p:bldP spid="23" grpId="0"/>
      <p:bldP spid="2" grpId="0" animBg="1"/>
      <p:bldP spid="29" grpId="0" animBg="1"/>
      <p:bldP spid="30" grpId="0"/>
      <p:bldP spid="31" grpId="0" autoUpdateAnimBg="0"/>
      <p:bldP spid="32" grpId="0"/>
      <p:bldP spid="33" grpId="0" animBg="1"/>
      <p:bldP spid="34" grpId="0" animBg="1"/>
      <p:bldP spid="35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74369A15-2C0D-4640-ADC3-2A8BAA1BCF9C}"/>
              </a:ext>
            </a:extLst>
          </p:cNvPr>
          <p:cNvSpPr/>
          <p:nvPr/>
        </p:nvSpPr>
        <p:spPr>
          <a:xfrm>
            <a:off x="794" y="176798"/>
            <a:ext cx="12190413" cy="728917"/>
          </a:xfrm>
          <a:prstGeom prst="rect">
            <a:avLst/>
          </a:prstGeom>
          <a:solidFill>
            <a:srgbClr val="26CC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3200"/>
          </a:p>
        </p:txBody>
      </p:sp>
      <p:cxnSp>
        <p:nvCxnSpPr>
          <p:cNvPr id="4" name="直线连接符 6">
            <a:extLst>
              <a:ext uri="{FF2B5EF4-FFF2-40B4-BE49-F238E27FC236}">
                <a16:creationId xmlns:a16="http://schemas.microsoft.com/office/drawing/2014/main" id="{4E9F1813-23BA-43BB-8E8B-E17AA319A034}"/>
              </a:ext>
            </a:extLst>
          </p:cNvPr>
          <p:cNvCxnSpPr/>
          <p:nvPr/>
        </p:nvCxnSpPr>
        <p:spPr>
          <a:xfrm>
            <a:off x="1587" y="905715"/>
            <a:ext cx="12190413" cy="0"/>
          </a:xfrm>
          <a:prstGeom prst="line">
            <a:avLst/>
          </a:prstGeom>
          <a:ln>
            <a:solidFill>
              <a:srgbClr val="104D7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5DE999E9-C3ED-425F-BA48-5478128CEB5F}"/>
              </a:ext>
            </a:extLst>
          </p:cNvPr>
          <p:cNvSpPr txBox="1"/>
          <p:nvPr/>
        </p:nvSpPr>
        <p:spPr>
          <a:xfrm>
            <a:off x="247719" y="224527"/>
            <a:ext cx="802877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kumimoji="1" sz="3200" b="1">
                <a:latin typeface="华光胖头鱼_CNKI" panose="02000500000000000000" pitchFamily="2" charset="-122"/>
                <a:ea typeface="华光胖头鱼_CNKI" panose="02000500000000000000" pitchFamily="2" charset="-122"/>
              </a:defRPr>
            </a:lvl1pPr>
          </a:lstStyle>
          <a:p>
            <a:r>
              <a:rPr lang="en-US" altLang="zh-CN" dirty="0"/>
              <a:t>7.2</a:t>
            </a:r>
            <a:r>
              <a:rPr lang="zh-CN" altLang="en-US" dirty="0"/>
              <a:t>类与对象</a:t>
            </a:r>
          </a:p>
        </p:txBody>
      </p:sp>
      <p:sp>
        <p:nvSpPr>
          <p:cNvPr id="10" name="Text Box 12">
            <a:extLst>
              <a:ext uri="{FF2B5EF4-FFF2-40B4-BE49-F238E27FC236}">
                <a16:creationId xmlns:a16="http://schemas.microsoft.com/office/drawing/2014/main" id="{0BAB8566-2EA3-43C2-818C-9192819225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1053535"/>
            <a:ext cx="7219950" cy="2417762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SzPct val="70000"/>
              <a:buFont typeface="Wingdings" pitchFamily="2" charset="2"/>
              <a:buChar char="o"/>
              <a:defRPr sz="32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n"/>
              <a:defRPr sz="28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o"/>
              <a:defRPr sz="24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n"/>
              <a:defRPr sz="20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ts val="0"/>
              </a:spcBef>
              <a:buClrTx/>
              <a:buSzTx/>
              <a:buFontTx/>
              <a:buNone/>
              <a:defRPr/>
            </a:pPr>
            <a:r>
              <a:rPr lang="en-US" altLang="zh-CN" sz="2400" dirty="0">
                <a:solidFill>
                  <a:srgbClr val="134F85"/>
                </a:solidFill>
                <a:latin typeface="+mn-lt"/>
                <a:ea typeface="黑体" panose="02010609060101010101" pitchFamily="49" charset="-122"/>
              </a:rPr>
              <a:t>class Clock{</a:t>
            </a:r>
          </a:p>
          <a:p>
            <a:pPr eaLnBrk="1" hangingPunct="1">
              <a:lnSpc>
                <a:spcPct val="90000"/>
              </a:lnSpc>
              <a:spcBef>
                <a:spcPts val="0"/>
              </a:spcBef>
              <a:buClrTx/>
              <a:buSzTx/>
              <a:buFontTx/>
              <a:buNone/>
              <a:defRPr/>
            </a:pPr>
            <a:r>
              <a:rPr lang="en-US" altLang="zh-CN" sz="2400" dirty="0">
                <a:solidFill>
                  <a:srgbClr val="134F85"/>
                </a:solidFill>
                <a:latin typeface="+mn-lt"/>
                <a:ea typeface="黑体" panose="02010609060101010101" pitchFamily="49" charset="-122"/>
              </a:rPr>
              <a:t>public: </a:t>
            </a:r>
          </a:p>
          <a:p>
            <a:pPr eaLnBrk="1" hangingPunct="1">
              <a:lnSpc>
                <a:spcPct val="90000"/>
              </a:lnSpc>
              <a:spcBef>
                <a:spcPts val="0"/>
              </a:spcBef>
              <a:buClrTx/>
              <a:buSzTx/>
              <a:buFontTx/>
              <a:buNone/>
              <a:defRPr/>
            </a:pPr>
            <a:r>
              <a:rPr lang="en-US" altLang="zh-CN" sz="2400" dirty="0">
                <a:solidFill>
                  <a:srgbClr val="134F85"/>
                </a:solidFill>
                <a:latin typeface="+mn-lt"/>
                <a:ea typeface="黑体" panose="02010609060101010101" pitchFamily="49" charset="-122"/>
              </a:rPr>
              <a:t>          void </a:t>
            </a:r>
            <a:r>
              <a:rPr lang="en-US" altLang="zh-CN" sz="2400" dirty="0" err="1">
                <a:solidFill>
                  <a:srgbClr val="134F85"/>
                </a:solidFill>
                <a:ea typeface="黑体" panose="02010609060101010101" pitchFamily="49" charset="-122"/>
              </a:rPr>
              <a:t>setTime</a:t>
            </a:r>
            <a:r>
              <a:rPr lang="en-US" altLang="zh-CN" sz="2400" dirty="0">
                <a:solidFill>
                  <a:srgbClr val="134F85"/>
                </a:solidFill>
                <a:ea typeface="黑体" panose="02010609060101010101" pitchFamily="49" charset="-122"/>
              </a:rPr>
              <a:t>(</a:t>
            </a:r>
            <a:r>
              <a:rPr lang="en-US" altLang="zh-CN" sz="2400" dirty="0" err="1">
                <a:solidFill>
                  <a:srgbClr val="134F85"/>
                </a:solidFill>
                <a:ea typeface="黑体" panose="02010609060101010101" pitchFamily="49" charset="-122"/>
              </a:rPr>
              <a:t>int</a:t>
            </a:r>
            <a:r>
              <a:rPr lang="en-US" altLang="zh-CN" sz="2400" dirty="0">
                <a:solidFill>
                  <a:srgbClr val="134F85"/>
                </a:solidFill>
                <a:ea typeface="黑体" panose="02010609060101010101" pitchFamily="49" charset="-122"/>
              </a:rPr>
              <a:t> </a:t>
            </a:r>
            <a:r>
              <a:rPr lang="en-US" altLang="zh-CN" sz="2400" dirty="0" err="1">
                <a:solidFill>
                  <a:srgbClr val="134F85"/>
                </a:solidFill>
                <a:ea typeface="黑体" panose="02010609060101010101" pitchFamily="49" charset="-122"/>
              </a:rPr>
              <a:t>newH</a:t>
            </a:r>
            <a:r>
              <a:rPr lang="en-US" altLang="zh-CN" sz="2400" dirty="0">
                <a:solidFill>
                  <a:srgbClr val="134F85"/>
                </a:solidFill>
                <a:ea typeface="黑体" panose="02010609060101010101" pitchFamily="49" charset="-122"/>
              </a:rPr>
              <a:t>, </a:t>
            </a:r>
            <a:r>
              <a:rPr lang="en-US" altLang="zh-CN" sz="2400" dirty="0" err="1">
                <a:solidFill>
                  <a:srgbClr val="134F85"/>
                </a:solidFill>
                <a:ea typeface="黑体" panose="02010609060101010101" pitchFamily="49" charset="-122"/>
              </a:rPr>
              <a:t>int</a:t>
            </a:r>
            <a:r>
              <a:rPr lang="en-US" altLang="zh-CN" sz="2400" dirty="0">
                <a:solidFill>
                  <a:srgbClr val="134F85"/>
                </a:solidFill>
                <a:ea typeface="黑体" panose="02010609060101010101" pitchFamily="49" charset="-122"/>
              </a:rPr>
              <a:t> </a:t>
            </a:r>
            <a:r>
              <a:rPr lang="en-US" altLang="zh-CN" sz="2400" dirty="0" err="1">
                <a:solidFill>
                  <a:srgbClr val="134F85"/>
                </a:solidFill>
                <a:ea typeface="黑体" panose="02010609060101010101" pitchFamily="49" charset="-122"/>
              </a:rPr>
              <a:t>newM</a:t>
            </a:r>
            <a:r>
              <a:rPr lang="en-US" altLang="zh-CN" sz="2400" dirty="0">
                <a:solidFill>
                  <a:srgbClr val="134F85"/>
                </a:solidFill>
                <a:ea typeface="黑体" panose="02010609060101010101" pitchFamily="49" charset="-122"/>
              </a:rPr>
              <a:t>, </a:t>
            </a:r>
            <a:r>
              <a:rPr lang="en-US" altLang="zh-CN" sz="2400" dirty="0" err="1">
                <a:solidFill>
                  <a:srgbClr val="134F85"/>
                </a:solidFill>
                <a:ea typeface="黑体" panose="02010609060101010101" pitchFamily="49" charset="-122"/>
              </a:rPr>
              <a:t>int</a:t>
            </a:r>
            <a:r>
              <a:rPr lang="en-US" altLang="zh-CN" sz="2400" dirty="0">
                <a:solidFill>
                  <a:srgbClr val="134F85"/>
                </a:solidFill>
                <a:ea typeface="黑体" panose="02010609060101010101" pitchFamily="49" charset="-122"/>
              </a:rPr>
              <a:t> </a:t>
            </a:r>
            <a:r>
              <a:rPr lang="en-US" altLang="zh-CN" sz="2400" dirty="0" err="1">
                <a:solidFill>
                  <a:srgbClr val="134F85"/>
                </a:solidFill>
                <a:ea typeface="黑体" panose="02010609060101010101" pitchFamily="49" charset="-122"/>
              </a:rPr>
              <a:t>newS</a:t>
            </a:r>
            <a:r>
              <a:rPr lang="en-US" altLang="zh-CN" sz="2400" dirty="0">
                <a:solidFill>
                  <a:srgbClr val="134F85"/>
                </a:solidFill>
                <a:latin typeface="+mn-lt"/>
                <a:ea typeface="黑体" panose="02010609060101010101" pitchFamily="49" charset="-122"/>
              </a:rPr>
              <a:t>);</a:t>
            </a:r>
          </a:p>
          <a:p>
            <a:pPr eaLnBrk="1" hangingPunct="1">
              <a:lnSpc>
                <a:spcPct val="90000"/>
              </a:lnSpc>
              <a:spcBef>
                <a:spcPts val="0"/>
              </a:spcBef>
              <a:buClrTx/>
              <a:buSzTx/>
              <a:buFontTx/>
              <a:buNone/>
              <a:defRPr/>
            </a:pPr>
            <a:r>
              <a:rPr lang="en-US" altLang="zh-CN" sz="2400" dirty="0">
                <a:solidFill>
                  <a:srgbClr val="134F85"/>
                </a:solidFill>
                <a:latin typeface="+mn-lt"/>
                <a:ea typeface="黑体" panose="02010609060101010101" pitchFamily="49" charset="-122"/>
              </a:rPr>
              <a:t>          void </a:t>
            </a:r>
            <a:r>
              <a:rPr lang="en-US" altLang="zh-CN" sz="2400" dirty="0" err="1">
                <a:solidFill>
                  <a:srgbClr val="134F85"/>
                </a:solidFill>
                <a:latin typeface="+mn-lt"/>
                <a:ea typeface="黑体" panose="02010609060101010101" pitchFamily="49" charset="-122"/>
              </a:rPr>
              <a:t>showTime</a:t>
            </a:r>
            <a:r>
              <a:rPr lang="en-US" altLang="zh-CN" sz="2400" dirty="0">
                <a:solidFill>
                  <a:srgbClr val="134F85"/>
                </a:solidFill>
                <a:latin typeface="+mn-lt"/>
                <a:ea typeface="黑体" panose="02010609060101010101" pitchFamily="49" charset="-122"/>
              </a:rPr>
              <a:t>();</a:t>
            </a:r>
          </a:p>
          <a:p>
            <a:pPr eaLnBrk="1" hangingPunct="1">
              <a:lnSpc>
                <a:spcPct val="90000"/>
              </a:lnSpc>
              <a:spcBef>
                <a:spcPts val="0"/>
              </a:spcBef>
              <a:buClrTx/>
              <a:buSzTx/>
              <a:buFontTx/>
              <a:buNone/>
              <a:defRPr/>
            </a:pPr>
            <a:r>
              <a:rPr lang="en-US" altLang="zh-CN" sz="2400" dirty="0">
                <a:solidFill>
                  <a:srgbClr val="134F85"/>
                </a:solidFill>
                <a:latin typeface="+mn-lt"/>
                <a:ea typeface="黑体" panose="02010609060101010101" pitchFamily="49" charset="-122"/>
              </a:rPr>
              <a:t>private:</a:t>
            </a:r>
          </a:p>
          <a:p>
            <a:pPr eaLnBrk="1" hangingPunct="1">
              <a:lnSpc>
                <a:spcPct val="90000"/>
              </a:lnSpc>
              <a:spcBef>
                <a:spcPts val="0"/>
              </a:spcBef>
              <a:buClrTx/>
              <a:buSzTx/>
              <a:buFontTx/>
              <a:buNone/>
              <a:defRPr/>
            </a:pPr>
            <a:r>
              <a:rPr lang="en-US" altLang="zh-CN" sz="2400" dirty="0">
                <a:solidFill>
                  <a:srgbClr val="134F85"/>
                </a:solidFill>
                <a:latin typeface="+mn-lt"/>
                <a:ea typeface="黑体" panose="02010609060101010101" pitchFamily="49" charset="-122"/>
              </a:rPr>
              <a:t>           </a:t>
            </a:r>
            <a:r>
              <a:rPr lang="en-US" altLang="zh-CN" sz="2400" dirty="0" err="1">
                <a:solidFill>
                  <a:srgbClr val="134F85"/>
                </a:solidFill>
                <a:latin typeface="+mn-lt"/>
                <a:ea typeface="黑体" panose="02010609060101010101" pitchFamily="49" charset="-122"/>
              </a:rPr>
              <a:t>int</a:t>
            </a:r>
            <a:r>
              <a:rPr lang="en-US" altLang="zh-CN" sz="2400" dirty="0">
                <a:solidFill>
                  <a:srgbClr val="134F85"/>
                </a:solidFill>
                <a:latin typeface="+mn-lt"/>
                <a:ea typeface="黑体" panose="02010609060101010101" pitchFamily="49" charset="-122"/>
              </a:rPr>
              <a:t> </a:t>
            </a:r>
            <a:r>
              <a:rPr lang="en-US" altLang="zh-CN" sz="2400" dirty="0">
                <a:solidFill>
                  <a:srgbClr val="134F85"/>
                </a:solidFill>
                <a:ea typeface="黑体" panose="02010609060101010101" pitchFamily="49" charset="-122"/>
              </a:rPr>
              <a:t>hour, minute, second;</a:t>
            </a:r>
            <a:endParaRPr lang="en-US" altLang="zh-CN" sz="2400" dirty="0">
              <a:solidFill>
                <a:srgbClr val="134F85"/>
              </a:solidFill>
              <a:latin typeface="+mn-lt"/>
              <a:ea typeface="黑体" panose="02010609060101010101" pitchFamily="49" charset="-122"/>
            </a:endParaRPr>
          </a:p>
          <a:p>
            <a:pPr eaLnBrk="1" hangingPunct="1">
              <a:lnSpc>
                <a:spcPct val="90000"/>
              </a:lnSpc>
              <a:spcBef>
                <a:spcPts val="0"/>
              </a:spcBef>
              <a:buClrTx/>
              <a:buSzTx/>
              <a:buFontTx/>
              <a:buNone/>
              <a:defRPr/>
            </a:pPr>
            <a:r>
              <a:rPr lang="en-US" altLang="zh-CN" sz="2400" dirty="0">
                <a:solidFill>
                  <a:srgbClr val="134F85"/>
                </a:solidFill>
                <a:latin typeface="+mn-lt"/>
                <a:ea typeface="黑体" panose="02010609060101010101" pitchFamily="49" charset="-122"/>
              </a:rPr>
              <a:t>};</a:t>
            </a:r>
          </a:p>
        </p:txBody>
      </p:sp>
      <p:sp>
        <p:nvSpPr>
          <p:cNvPr id="11" name="AutoShape 27">
            <a:extLst>
              <a:ext uri="{FF2B5EF4-FFF2-40B4-BE49-F238E27FC236}">
                <a16:creationId xmlns:a16="http://schemas.microsoft.com/office/drawing/2014/main" id="{6F1592E3-B197-4A44-BFCB-57F49BBE0E78}"/>
              </a:ext>
            </a:extLst>
          </p:cNvPr>
          <p:cNvSpPr>
            <a:spLocks/>
          </p:cNvSpPr>
          <p:nvPr/>
        </p:nvSpPr>
        <p:spPr bwMode="auto">
          <a:xfrm>
            <a:off x="1175024" y="3462420"/>
            <a:ext cx="2552136" cy="742950"/>
          </a:xfrm>
          <a:prstGeom prst="borderCallout1">
            <a:avLst>
              <a:gd name="adj1" fmla="val 1488"/>
              <a:gd name="adj2" fmla="val 100386"/>
              <a:gd name="adj3" fmla="val -45566"/>
              <a:gd name="adj4" fmla="val 80116"/>
            </a:avLst>
          </a:prstGeom>
          <a:solidFill>
            <a:srgbClr val="FFFF99"/>
          </a:solidFill>
          <a:ln w="9525">
            <a:solidFill>
              <a:schemeClr val="accent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Char char="o"/>
              <a:defRPr sz="32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o"/>
              <a:defRPr sz="24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n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b="0" dirty="0">
                <a:solidFill>
                  <a:srgbClr val="134F85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数据成员定义就如同定义普通变量一样</a:t>
            </a:r>
          </a:p>
        </p:txBody>
      </p:sp>
      <p:sp>
        <p:nvSpPr>
          <p:cNvPr id="12" name="Text Box 12">
            <a:extLst>
              <a:ext uri="{FF2B5EF4-FFF2-40B4-BE49-F238E27FC236}">
                <a16:creationId xmlns:a16="http://schemas.microsoft.com/office/drawing/2014/main" id="{808539C2-47AD-41AC-AA13-32EABEB182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86074" y="3579891"/>
            <a:ext cx="7017800" cy="193833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SzPct val="70000"/>
              <a:buFont typeface="Wingdings" pitchFamily="2" charset="2"/>
              <a:buChar char="o"/>
              <a:defRPr sz="32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n"/>
              <a:defRPr sz="28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o"/>
              <a:defRPr sz="24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n"/>
              <a:defRPr sz="20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ts val="0"/>
              </a:spcBef>
              <a:buClrTx/>
              <a:buSzTx/>
              <a:buFontTx/>
              <a:buNone/>
              <a:defRPr/>
            </a:pPr>
            <a:r>
              <a:rPr lang="en-US" altLang="zh-CN" sz="2400" dirty="0">
                <a:solidFill>
                  <a:srgbClr val="134F85"/>
                </a:solidFill>
                <a:latin typeface="+mn-lt"/>
                <a:ea typeface="黑体" panose="02010609060101010101" pitchFamily="49" charset="-122"/>
              </a:rPr>
              <a:t>void </a:t>
            </a:r>
            <a:r>
              <a:rPr lang="en-US" altLang="zh-CN" sz="2400" b="1" dirty="0">
                <a:solidFill>
                  <a:srgbClr val="FF0000"/>
                </a:solidFill>
                <a:ea typeface="黑体" panose="02010609060101010101" pitchFamily="49" charset="-122"/>
              </a:rPr>
              <a:t>Clock::</a:t>
            </a:r>
            <a:r>
              <a:rPr lang="en-US" altLang="zh-CN" sz="2400" dirty="0" err="1">
                <a:solidFill>
                  <a:srgbClr val="134F85"/>
                </a:solidFill>
                <a:latin typeface="+mn-lt"/>
                <a:ea typeface="黑体" panose="02010609060101010101" pitchFamily="49" charset="-122"/>
              </a:rPr>
              <a:t>setTime</a:t>
            </a:r>
            <a:r>
              <a:rPr lang="en-US" altLang="zh-CN" sz="2400" dirty="0">
                <a:solidFill>
                  <a:srgbClr val="134F85"/>
                </a:solidFill>
                <a:latin typeface="+mn-lt"/>
                <a:ea typeface="黑体" panose="02010609060101010101" pitchFamily="49" charset="-122"/>
              </a:rPr>
              <a:t>(</a:t>
            </a:r>
            <a:r>
              <a:rPr lang="en-US" altLang="zh-CN" sz="2400" dirty="0" err="1">
                <a:solidFill>
                  <a:srgbClr val="134F85"/>
                </a:solidFill>
                <a:ea typeface="黑体" panose="02010609060101010101" pitchFamily="49" charset="-122"/>
              </a:rPr>
              <a:t>int</a:t>
            </a:r>
            <a:r>
              <a:rPr lang="en-US" altLang="zh-CN" sz="2400" dirty="0">
                <a:solidFill>
                  <a:srgbClr val="134F85"/>
                </a:solidFill>
                <a:ea typeface="黑体" panose="02010609060101010101" pitchFamily="49" charset="-122"/>
              </a:rPr>
              <a:t> </a:t>
            </a:r>
            <a:r>
              <a:rPr lang="en-US" altLang="zh-CN" sz="2400" dirty="0" err="1">
                <a:solidFill>
                  <a:srgbClr val="134F85"/>
                </a:solidFill>
                <a:ea typeface="黑体" panose="02010609060101010101" pitchFamily="49" charset="-122"/>
              </a:rPr>
              <a:t>newH</a:t>
            </a:r>
            <a:r>
              <a:rPr lang="en-US" altLang="zh-CN" sz="2400" dirty="0">
                <a:solidFill>
                  <a:srgbClr val="134F85"/>
                </a:solidFill>
                <a:ea typeface="黑体" panose="02010609060101010101" pitchFamily="49" charset="-122"/>
              </a:rPr>
              <a:t>, </a:t>
            </a:r>
            <a:r>
              <a:rPr lang="en-US" altLang="zh-CN" sz="2400" dirty="0" err="1">
                <a:solidFill>
                  <a:srgbClr val="134F85"/>
                </a:solidFill>
                <a:ea typeface="黑体" panose="02010609060101010101" pitchFamily="49" charset="-122"/>
              </a:rPr>
              <a:t>int</a:t>
            </a:r>
            <a:r>
              <a:rPr lang="en-US" altLang="zh-CN" sz="2400" dirty="0">
                <a:solidFill>
                  <a:srgbClr val="134F85"/>
                </a:solidFill>
                <a:ea typeface="黑体" panose="02010609060101010101" pitchFamily="49" charset="-122"/>
              </a:rPr>
              <a:t> </a:t>
            </a:r>
            <a:r>
              <a:rPr lang="en-US" altLang="zh-CN" sz="2400" dirty="0" err="1">
                <a:solidFill>
                  <a:srgbClr val="134F85"/>
                </a:solidFill>
                <a:ea typeface="黑体" panose="02010609060101010101" pitchFamily="49" charset="-122"/>
              </a:rPr>
              <a:t>newM</a:t>
            </a:r>
            <a:r>
              <a:rPr lang="en-US" altLang="zh-CN" sz="2400" dirty="0">
                <a:solidFill>
                  <a:srgbClr val="134F85"/>
                </a:solidFill>
                <a:ea typeface="黑体" panose="02010609060101010101" pitchFamily="49" charset="-122"/>
              </a:rPr>
              <a:t>, </a:t>
            </a:r>
            <a:r>
              <a:rPr lang="en-US" altLang="zh-CN" sz="2400" dirty="0" err="1">
                <a:solidFill>
                  <a:srgbClr val="134F85"/>
                </a:solidFill>
                <a:ea typeface="黑体" panose="02010609060101010101" pitchFamily="49" charset="-122"/>
              </a:rPr>
              <a:t>int</a:t>
            </a:r>
            <a:r>
              <a:rPr lang="en-US" altLang="zh-CN" sz="2400" dirty="0">
                <a:solidFill>
                  <a:srgbClr val="134F85"/>
                </a:solidFill>
                <a:ea typeface="黑体" panose="02010609060101010101" pitchFamily="49" charset="-122"/>
              </a:rPr>
              <a:t> </a:t>
            </a:r>
            <a:r>
              <a:rPr lang="en-US" altLang="zh-CN" sz="2400" dirty="0" err="1">
                <a:solidFill>
                  <a:srgbClr val="134F85"/>
                </a:solidFill>
                <a:ea typeface="黑体" panose="02010609060101010101" pitchFamily="49" charset="-122"/>
              </a:rPr>
              <a:t>newS</a:t>
            </a:r>
            <a:r>
              <a:rPr lang="en-US" altLang="zh-CN" sz="2400" dirty="0">
                <a:solidFill>
                  <a:srgbClr val="134F85"/>
                </a:solidFill>
                <a:latin typeface="+mn-lt"/>
                <a:ea typeface="黑体" panose="02010609060101010101" pitchFamily="49" charset="-122"/>
              </a:rPr>
              <a:t>){</a:t>
            </a:r>
          </a:p>
          <a:p>
            <a:pPr eaLnBrk="1" hangingPunct="1">
              <a:spcBef>
                <a:spcPts val="0"/>
              </a:spcBef>
              <a:buClrTx/>
              <a:buSzTx/>
              <a:buFontTx/>
              <a:buNone/>
              <a:defRPr/>
            </a:pPr>
            <a:r>
              <a:rPr lang="en-US" altLang="zh-CN" sz="2400" dirty="0">
                <a:solidFill>
                  <a:srgbClr val="134F85"/>
                </a:solidFill>
                <a:latin typeface="+mn-lt"/>
                <a:ea typeface="黑体" panose="02010609060101010101" pitchFamily="49" charset="-122"/>
              </a:rPr>
              <a:t>    hour = </a:t>
            </a:r>
            <a:r>
              <a:rPr lang="en-US" altLang="zh-CN" sz="2400" dirty="0" err="1">
                <a:solidFill>
                  <a:srgbClr val="134F85"/>
                </a:solidFill>
                <a:latin typeface="+mn-lt"/>
                <a:ea typeface="黑体" panose="02010609060101010101" pitchFamily="49" charset="-122"/>
              </a:rPr>
              <a:t>newH</a:t>
            </a:r>
            <a:r>
              <a:rPr lang="en-US" altLang="zh-CN" sz="2400" dirty="0">
                <a:solidFill>
                  <a:srgbClr val="134F85"/>
                </a:solidFill>
                <a:latin typeface="+mn-lt"/>
                <a:ea typeface="黑体" panose="02010609060101010101" pitchFamily="49" charset="-122"/>
              </a:rPr>
              <a:t>;     </a:t>
            </a:r>
          </a:p>
          <a:p>
            <a:pPr eaLnBrk="1" hangingPunct="1">
              <a:spcBef>
                <a:spcPts val="0"/>
              </a:spcBef>
              <a:buClrTx/>
              <a:buSzTx/>
              <a:buFontTx/>
              <a:buNone/>
              <a:defRPr/>
            </a:pPr>
            <a:r>
              <a:rPr lang="en-US" altLang="zh-CN" sz="2400" dirty="0">
                <a:solidFill>
                  <a:srgbClr val="134F85"/>
                </a:solidFill>
                <a:latin typeface="+mn-lt"/>
                <a:ea typeface="黑体" panose="02010609060101010101" pitchFamily="49" charset="-122"/>
              </a:rPr>
              <a:t>    minute = </a:t>
            </a:r>
            <a:r>
              <a:rPr lang="en-US" altLang="zh-CN" sz="2400" dirty="0" err="1">
                <a:solidFill>
                  <a:srgbClr val="134F85"/>
                </a:solidFill>
                <a:latin typeface="+mn-lt"/>
                <a:ea typeface="黑体" panose="02010609060101010101" pitchFamily="49" charset="-122"/>
              </a:rPr>
              <a:t>newM</a:t>
            </a:r>
            <a:r>
              <a:rPr lang="en-US" altLang="zh-CN" sz="2400" dirty="0">
                <a:solidFill>
                  <a:srgbClr val="134F85"/>
                </a:solidFill>
                <a:latin typeface="+mn-lt"/>
                <a:ea typeface="黑体" panose="02010609060101010101" pitchFamily="49" charset="-122"/>
              </a:rPr>
              <a:t>;  </a:t>
            </a:r>
          </a:p>
          <a:p>
            <a:pPr eaLnBrk="1" hangingPunct="1">
              <a:spcBef>
                <a:spcPts val="0"/>
              </a:spcBef>
              <a:buClrTx/>
              <a:buSzTx/>
              <a:buFontTx/>
              <a:buNone/>
              <a:defRPr/>
            </a:pPr>
            <a:r>
              <a:rPr lang="en-US" altLang="zh-CN" sz="2400" dirty="0">
                <a:solidFill>
                  <a:srgbClr val="134F85"/>
                </a:solidFill>
                <a:latin typeface="+mn-lt"/>
                <a:ea typeface="黑体" panose="02010609060101010101" pitchFamily="49" charset="-122"/>
              </a:rPr>
              <a:t>    second = </a:t>
            </a:r>
            <a:r>
              <a:rPr lang="en-US" altLang="zh-CN" sz="2400" dirty="0" err="1">
                <a:solidFill>
                  <a:srgbClr val="134F85"/>
                </a:solidFill>
                <a:latin typeface="+mn-lt"/>
                <a:ea typeface="黑体" panose="02010609060101010101" pitchFamily="49" charset="-122"/>
              </a:rPr>
              <a:t>newS</a:t>
            </a:r>
            <a:r>
              <a:rPr lang="en-US" altLang="zh-CN" sz="2400" dirty="0">
                <a:solidFill>
                  <a:srgbClr val="134F85"/>
                </a:solidFill>
                <a:latin typeface="+mn-lt"/>
                <a:ea typeface="黑体" panose="02010609060101010101" pitchFamily="49" charset="-122"/>
              </a:rPr>
              <a:t>;</a:t>
            </a:r>
          </a:p>
          <a:p>
            <a:pPr eaLnBrk="1" hangingPunct="1">
              <a:spcBef>
                <a:spcPts val="0"/>
              </a:spcBef>
              <a:buClrTx/>
              <a:buSzTx/>
              <a:buFontTx/>
              <a:buNone/>
              <a:defRPr/>
            </a:pPr>
            <a:r>
              <a:rPr lang="en-US" altLang="zh-CN" sz="2400" dirty="0">
                <a:solidFill>
                  <a:srgbClr val="134F85"/>
                </a:solidFill>
                <a:latin typeface="+mn-lt"/>
                <a:ea typeface="黑体" panose="02010609060101010101" pitchFamily="49" charset="-122"/>
              </a:rPr>
              <a:t>}</a:t>
            </a:r>
          </a:p>
        </p:txBody>
      </p:sp>
      <p:sp>
        <p:nvSpPr>
          <p:cNvPr id="13" name="Text Box 12">
            <a:extLst>
              <a:ext uri="{FF2B5EF4-FFF2-40B4-BE49-F238E27FC236}">
                <a16:creationId xmlns:a16="http://schemas.microsoft.com/office/drawing/2014/main" id="{B03461C0-C4F7-4A08-A42E-DC1814399E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45946" y="5480873"/>
            <a:ext cx="7472721" cy="1200329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SzPct val="70000"/>
              <a:buFont typeface="Wingdings" pitchFamily="2" charset="2"/>
              <a:buChar char="o"/>
              <a:defRPr sz="32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n"/>
              <a:defRPr sz="28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o"/>
              <a:defRPr sz="24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n"/>
              <a:defRPr sz="20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ts val="0"/>
              </a:spcBef>
              <a:buClrTx/>
              <a:buSzTx/>
              <a:buFontTx/>
              <a:buNone/>
              <a:defRPr/>
            </a:pPr>
            <a:r>
              <a:rPr lang="en-US" altLang="zh-CN" sz="2400" dirty="0">
                <a:solidFill>
                  <a:srgbClr val="134F85"/>
                </a:solidFill>
                <a:latin typeface="+mn-lt"/>
                <a:ea typeface="黑体" panose="02010609060101010101" pitchFamily="49" charset="-122"/>
              </a:rPr>
              <a:t>void </a:t>
            </a:r>
            <a:r>
              <a:rPr lang="en-US" altLang="zh-CN" sz="2400" b="1" dirty="0">
                <a:solidFill>
                  <a:srgbClr val="FF0000"/>
                </a:solidFill>
                <a:ea typeface="黑体" panose="02010609060101010101" pitchFamily="49" charset="-122"/>
              </a:rPr>
              <a:t>Clock::</a:t>
            </a:r>
            <a:r>
              <a:rPr lang="en-US" altLang="zh-CN" sz="2400" dirty="0" err="1">
                <a:solidFill>
                  <a:srgbClr val="134F85"/>
                </a:solidFill>
                <a:latin typeface="+mn-lt"/>
                <a:ea typeface="黑体" panose="02010609060101010101" pitchFamily="49" charset="-122"/>
              </a:rPr>
              <a:t>showTime</a:t>
            </a:r>
            <a:r>
              <a:rPr lang="en-US" altLang="zh-CN" sz="2400" dirty="0">
                <a:solidFill>
                  <a:srgbClr val="134F85"/>
                </a:solidFill>
                <a:latin typeface="+mn-lt"/>
                <a:ea typeface="黑体" panose="02010609060101010101" pitchFamily="49" charset="-122"/>
              </a:rPr>
              <a:t>(){</a:t>
            </a:r>
          </a:p>
          <a:p>
            <a:pPr eaLnBrk="1" hangingPunct="1">
              <a:spcBef>
                <a:spcPts val="0"/>
              </a:spcBef>
              <a:buClrTx/>
              <a:buSzTx/>
              <a:buFontTx/>
              <a:buNone/>
              <a:defRPr/>
            </a:pPr>
            <a:r>
              <a:rPr lang="en-US" altLang="zh-CN" sz="2400" dirty="0">
                <a:solidFill>
                  <a:srgbClr val="134F85"/>
                </a:solidFill>
                <a:latin typeface="+mn-lt"/>
                <a:ea typeface="黑体" panose="02010609060101010101" pitchFamily="49" charset="-122"/>
              </a:rPr>
              <a:t>  </a:t>
            </a:r>
            <a:r>
              <a:rPr lang="en-US" altLang="zh-CN" sz="2400" dirty="0" err="1">
                <a:solidFill>
                  <a:srgbClr val="134F85"/>
                </a:solidFill>
                <a:latin typeface="+mn-lt"/>
                <a:ea typeface="黑体" panose="02010609060101010101" pitchFamily="49" charset="-122"/>
              </a:rPr>
              <a:t>cout</a:t>
            </a:r>
            <a:r>
              <a:rPr lang="en-US" altLang="zh-CN" sz="2400" dirty="0">
                <a:solidFill>
                  <a:srgbClr val="134F85"/>
                </a:solidFill>
                <a:latin typeface="+mn-lt"/>
                <a:ea typeface="黑体" panose="02010609060101010101" pitchFamily="49" charset="-122"/>
              </a:rPr>
              <a:t>&lt;&lt;hour&lt;&lt;":"&lt;&lt;minute&lt;&lt;":"&lt;&lt;second&lt;&lt;</a:t>
            </a:r>
            <a:r>
              <a:rPr lang="en-US" altLang="zh-CN" sz="2400" dirty="0" err="1">
                <a:solidFill>
                  <a:srgbClr val="134F85"/>
                </a:solidFill>
                <a:latin typeface="+mn-lt"/>
                <a:ea typeface="黑体" panose="02010609060101010101" pitchFamily="49" charset="-122"/>
              </a:rPr>
              <a:t>endl</a:t>
            </a:r>
            <a:r>
              <a:rPr lang="en-US" altLang="zh-CN" sz="2400" dirty="0">
                <a:solidFill>
                  <a:srgbClr val="134F85"/>
                </a:solidFill>
                <a:latin typeface="+mn-lt"/>
                <a:ea typeface="黑体" panose="02010609060101010101" pitchFamily="49" charset="-122"/>
              </a:rPr>
              <a:t>;</a:t>
            </a:r>
          </a:p>
          <a:p>
            <a:pPr eaLnBrk="1" hangingPunct="1">
              <a:spcBef>
                <a:spcPts val="0"/>
              </a:spcBef>
              <a:buClrTx/>
              <a:buSzTx/>
              <a:buFontTx/>
              <a:buNone/>
              <a:defRPr/>
            </a:pPr>
            <a:r>
              <a:rPr lang="en-US" altLang="zh-CN" sz="2400" dirty="0">
                <a:solidFill>
                  <a:srgbClr val="134F85"/>
                </a:solidFill>
                <a:latin typeface="+mn-lt"/>
                <a:ea typeface="黑体" panose="02010609060101010101" pitchFamily="49" charset="-122"/>
              </a:rPr>
              <a:t>}</a:t>
            </a:r>
          </a:p>
        </p:txBody>
      </p:sp>
      <p:sp>
        <p:nvSpPr>
          <p:cNvPr id="14" name="Rectangle 5">
            <a:extLst>
              <a:ext uri="{FF2B5EF4-FFF2-40B4-BE49-F238E27FC236}">
                <a16:creationId xmlns:a16="http://schemas.microsoft.com/office/drawing/2014/main" id="{063A01FA-ACCC-4227-9287-16B445CFE6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90801" y="2311530"/>
            <a:ext cx="5613073" cy="109876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SzPct val="70000"/>
              <a:buFont typeface="Wingdings" pitchFamily="2" charset="2"/>
              <a:buChar char="o"/>
              <a:defRPr sz="32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n"/>
              <a:defRPr sz="28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o"/>
              <a:defRPr sz="24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n"/>
              <a:defRPr sz="20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zh-CN" altLang="en-US" sz="2400" dirty="0">
                <a:solidFill>
                  <a:srgbClr val="134F85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返回类型 </a:t>
            </a:r>
            <a:r>
              <a:rPr kumimoji="1" lang="zh-CN" altLang="en-US" sz="2400" b="1" dirty="0">
                <a:solidFill>
                  <a:srgbClr val="FF0000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类名</a:t>
            </a:r>
            <a:r>
              <a:rPr kumimoji="1" lang="en-US" altLang="zh-CN" sz="2400" b="1" dirty="0">
                <a:solidFill>
                  <a:srgbClr val="FF0000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::</a:t>
            </a:r>
            <a:r>
              <a:rPr kumimoji="1" lang="zh-CN" altLang="en-US" sz="2400" dirty="0">
                <a:solidFill>
                  <a:srgbClr val="134F85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成员函数名</a:t>
            </a:r>
            <a:r>
              <a:rPr kumimoji="1" lang="en-US" altLang="zh-CN" sz="2400" dirty="0">
                <a:solidFill>
                  <a:srgbClr val="134F85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(</a:t>
            </a:r>
            <a:r>
              <a:rPr kumimoji="1" lang="zh-CN" altLang="en-US" sz="2400" dirty="0">
                <a:solidFill>
                  <a:srgbClr val="134F85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形参表</a:t>
            </a:r>
            <a:r>
              <a:rPr kumimoji="1" lang="en-US" altLang="zh-CN" sz="2400" dirty="0">
                <a:solidFill>
                  <a:srgbClr val="134F85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)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kumimoji="1" lang="en-US" altLang="zh-CN" sz="2400" dirty="0">
                <a:solidFill>
                  <a:srgbClr val="134F85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{   </a:t>
            </a:r>
            <a:r>
              <a:rPr kumimoji="1" lang="zh-CN" altLang="en-US" sz="2400" dirty="0">
                <a:solidFill>
                  <a:srgbClr val="134F85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函数体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kumimoji="1" lang="en-US" altLang="zh-CN" sz="2400" dirty="0">
                <a:solidFill>
                  <a:srgbClr val="134F85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}</a:t>
            </a:r>
          </a:p>
        </p:txBody>
      </p:sp>
      <p:sp>
        <p:nvSpPr>
          <p:cNvPr id="15" name="AutoShape 27">
            <a:extLst>
              <a:ext uri="{FF2B5EF4-FFF2-40B4-BE49-F238E27FC236}">
                <a16:creationId xmlns:a16="http://schemas.microsoft.com/office/drawing/2014/main" id="{A1BC32A2-DB09-4E65-801F-542FD21BAFCE}"/>
              </a:ext>
            </a:extLst>
          </p:cNvPr>
          <p:cNvSpPr>
            <a:spLocks/>
          </p:cNvSpPr>
          <p:nvPr/>
        </p:nvSpPr>
        <p:spPr bwMode="auto">
          <a:xfrm>
            <a:off x="2993923" y="1053534"/>
            <a:ext cx="4085303" cy="657711"/>
          </a:xfrm>
          <a:prstGeom prst="borderCallout1">
            <a:avLst>
              <a:gd name="adj1" fmla="val 3842"/>
              <a:gd name="adj2" fmla="val 417"/>
              <a:gd name="adj3" fmla="val 135409"/>
              <a:gd name="adj4" fmla="val -20965"/>
            </a:avLst>
          </a:prstGeom>
          <a:solidFill>
            <a:srgbClr val="FFFF99"/>
          </a:solidFill>
          <a:ln w="9525">
            <a:solidFill>
              <a:schemeClr val="accent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Char char="o"/>
              <a:defRPr sz="32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o"/>
              <a:defRPr sz="24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n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b="0" dirty="0">
                <a:solidFill>
                  <a:srgbClr val="134F85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成员函数：类内定义，类外声明</a:t>
            </a:r>
          </a:p>
        </p:txBody>
      </p:sp>
    </p:spTree>
    <p:extLst>
      <p:ext uri="{BB962C8B-B14F-4D97-AF65-F5344CB8AC3E}">
        <p14:creationId xmlns:p14="http://schemas.microsoft.com/office/powerpoint/2010/main" val="41130836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 autoUpdateAnimBg="0"/>
      <p:bldP spid="12" grpId="0"/>
      <p:bldP spid="13" grpId="0"/>
      <p:bldP spid="14" grpId="0"/>
      <p:bldP spid="15" grpId="0" animBg="1" autoUpdateAnimBg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74369A15-2C0D-4640-ADC3-2A8BAA1BCF9C}"/>
              </a:ext>
            </a:extLst>
          </p:cNvPr>
          <p:cNvSpPr/>
          <p:nvPr/>
        </p:nvSpPr>
        <p:spPr>
          <a:xfrm>
            <a:off x="794" y="176798"/>
            <a:ext cx="12190413" cy="728917"/>
          </a:xfrm>
          <a:prstGeom prst="rect">
            <a:avLst/>
          </a:prstGeom>
          <a:solidFill>
            <a:srgbClr val="26CC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3200"/>
          </a:p>
        </p:txBody>
      </p:sp>
      <p:cxnSp>
        <p:nvCxnSpPr>
          <p:cNvPr id="4" name="直线连接符 6">
            <a:extLst>
              <a:ext uri="{FF2B5EF4-FFF2-40B4-BE49-F238E27FC236}">
                <a16:creationId xmlns:a16="http://schemas.microsoft.com/office/drawing/2014/main" id="{4E9F1813-23BA-43BB-8E8B-E17AA319A034}"/>
              </a:ext>
            </a:extLst>
          </p:cNvPr>
          <p:cNvCxnSpPr/>
          <p:nvPr/>
        </p:nvCxnSpPr>
        <p:spPr>
          <a:xfrm>
            <a:off x="1587" y="905715"/>
            <a:ext cx="12190413" cy="0"/>
          </a:xfrm>
          <a:prstGeom prst="line">
            <a:avLst/>
          </a:prstGeom>
          <a:ln>
            <a:solidFill>
              <a:srgbClr val="104D7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5DE999E9-C3ED-425F-BA48-5478128CEB5F}"/>
              </a:ext>
            </a:extLst>
          </p:cNvPr>
          <p:cNvSpPr txBox="1"/>
          <p:nvPr/>
        </p:nvSpPr>
        <p:spPr>
          <a:xfrm>
            <a:off x="247719" y="224527"/>
            <a:ext cx="802877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kumimoji="1" sz="3200" b="1">
                <a:latin typeface="华光胖头鱼_CNKI" panose="02000500000000000000" pitchFamily="2" charset="-122"/>
                <a:ea typeface="华光胖头鱼_CNKI" panose="02000500000000000000" pitchFamily="2" charset="-122"/>
              </a:defRPr>
            </a:lvl1pPr>
          </a:lstStyle>
          <a:p>
            <a:r>
              <a:rPr lang="en-US" altLang="zh-CN" dirty="0"/>
              <a:t>7.2</a:t>
            </a:r>
            <a:r>
              <a:rPr lang="zh-CN" altLang="en-US" dirty="0"/>
              <a:t>类与对象</a:t>
            </a:r>
          </a:p>
        </p:txBody>
      </p:sp>
      <p:sp>
        <p:nvSpPr>
          <p:cNvPr id="15" name="AutoShape 27">
            <a:extLst>
              <a:ext uri="{FF2B5EF4-FFF2-40B4-BE49-F238E27FC236}">
                <a16:creationId xmlns:a16="http://schemas.microsoft.com/office/drawing/2014/main" id="{A1BC32A2-DB09-4E65-801F-542FD21BAFCE}"/>
              </a:ext>
            </a:extLst>
          </p:cNvPr>
          <p:cNvSpPr>
            <a:spLocks/>
          </p:cNvSpPr>
          <p:nvPr/>
        </p:nvSpPr>
        <p:spPr bwMode="auto">
          <a:xfrm>
            <a:off x="2993923" y="1053534"/>
            <a:ext cx="4085303" cy="657711"/>
          </a:xfrm>
          <a:prstGeom prst="borderCallout1">
            <a:avLst>
              <a:gd name="adj1" fmla="val 102507"/>
              <a:gd name="adj2" fmla="val 417"/>
              <a:gd name="adj3" fmla="val 238558"/>
              <a:gd name="adj4" fmla="val -14466"/>
            </a:avLst>
          </a:prstGeom>
          <a:solidFill>
            <a:srgbClr val="FFFF99"/>
          </a:solidFill>
          <a:ln w="9525">
            <a:solidFill>
              <a:schemeClr val="accent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Char char="o"/>
              <a:defRPr sz="32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o"/>
              <a:defRPr sz="24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n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b="0" dirty="0">
                <a:solidFill>
                  <a:srgbClr val="134F85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成员函数：类内定义，类内声明</a:t>
            </a:r>
          </a:p>
        </p:txBody>
      </p:sp>
      <p:sp>
        <p:nvSpPr>
          <p:cNvPr id="16" name="Text Box 12">
            <a:extLst>
              <a:ext uri="{FF2B5EF4-FFF2-40B4-BE49-F238E27FC236}">
                <a16:creationId xmlns:a16="http://schemas.microsoft.com/office/drawing/2014/main" id="{B887DCCE-302A-4F29-8290-FC15850065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139" y="1859063"/>
            <a:ext cx="8501063" cy="3748088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SzPct val="70000"/>
              <a:buFont typeface="Wingdings" pitchFamily="2" charset="2"/>
              <a:buChar char="o"/>
              <a:defRPr sz="32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n"/>
              <a:defRPr sz="28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o"/>
              <a:defRPr sz="24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n"/>
              <a:defRPr sz="20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ts val="0"/>
              </a:spcBef>
              <a:buClrTx/>
              <a:buSzTx/>
              <a:buFontTx/>
              <a:buNone/>
              <a:defRPr/>
            </a:pPr>
            <a:r>
              <a:rPr lang="en-US" altLang="zh-CN" sz="2400" dirty="0">
                <a:solidFill>
                  <a:srgbClr val="134F85"/>
                </a:solidFill>
                <a:latin typeface="+mn-lt"/>
                <a:ea typeface="黑体" panose="02010609060101010101" pitchFamily="49" charset="-122"/>
              </a:rPr>
              <a:t>class Clock{</a:t>
            </a:r>
          </a:p>
          <a:p>
            <a:pPr eaLnBrk="1" hangingPunct="1">
              <a:lnSpc>
                <a:spcPct val="90000"/>
              </a:lnSpc>
              <a:spcBef>
                <a:spcPts val="0"/>
              </a:spcBef>
              <a:buClrTx/>
              <a:buSzTx/>
              <a:buFontTx/>
              <a:buNone/>
              <a:defRPr/>
            </a:pPr>
            <a:r>
              <a:rPr lang="en-US" altLang="zh-CN" sz="2400" dirty="0">
                <a:solidFill>
                  <a:srgbClr val="134F85"/>
                </a:solidFill>
                <a:latin typeface="+mn-lt"/>
                <a:ea typeface="黑体" panose="02010609060101010101" pitchFamily="49" charset="-122"/>
              </a:rPr>
              <a:t>public: </a:t>
            </a:r>
          </a:p>
          <a:p>
            <a:pPr eaLnBrk="1" hangingPunct="1">
              <a:lnSpc>
                <a:spcPct val="90000"/>
              </a:lnSpc>
              <a:spcBef>
                <a:spcPts val="0"/>
              </a:spcBef>
              <a:buClrTx/>
              <a:buSzTx/>
              <a:buFontTx/>
              <a:buNone/>
              <a:defRPr/>
            </a:pPr>
            <a:r>
              <a:rPr lang="en-US" altLang="zh-CN" sz="2400" dirty="0">
                <a:solidFill>
                  <a:srgbClr val="134F85"/>
                </a:solidFill>
                <a:latin typeface="+mn-lt"/>
                <a:ea typeface="黑体" panose="02010609060101010101" pitchFamily="49" charset="-122"/>
              </a:rPr>
              <a:t>          void </a:t>
            </a:r>
            <a:r>
              <a:rPr lang="en-US" altLang="zh-CN" sz="2400" dirty="0" err="1">
                <a:solidFill>
                  <a:srgbClr val="134F85"/>
                </a:solidFill>
                <a:latin typeface="+mn-lt"/>
                <a:ea typeface="黑体" panose="02010609060101010101" pitchFamily="49" charset="-122"/>
              </a:rPr>
              <a:t>setTime</a:t>
            </a:r>
            <a:r>
              <a:rPr lang="en-US" altLang="zh-CN" sz="2400" dirty="0">
                <a:solidFill>
                  <a:srgbClr val="134F85"/>
                </a:solidFill>
                <a:latin typeface="+mn-lt"/>
                <a:ea typeface="黑体" panose="02010609060101010101" pitchFamily="49" charset="-122"/>
              </a:rPr>
              <a:t>(</a:t>
            </a:r>
            <a:r>
              <a:rPr lang="en-US" altLang="zh-CN" sz="2400" dirty="0" err="1">
                <a:solidFill>
                  <a:srgbClr val="134F85"/>
                </a:solidFill>
                <a:ea typeface="黑体" panose="02010609060101010101" pitchFamily="49" charset="-122"/>
              </a:rPr>
              <a:t>int</a:t>
            </a:r>
            <a:r>
              <a:rPr lang="en-US" altLang="zh-CN" sz="2400" dirty="0">
                <a:solidFill>
                  <a:srgbClr val="134F85"/>
                </a:solidFill>
                <a:ea typeface="黑体" panose="02010609060101010101" pitchFamily="49" charset="-122"/>
              </a:rPr>
              <a:t> </a:t>
            </a:r>
            <a:r>
              <a:rPr lang="en-US" altLang="zh-CN" sz="2400" dirty="0" err="1">
                <a:solidFill>
                  <a:srgbClr val="134F85"/>
                </a:solidFill>
                <a:ea typeface="黑体" panose="02010609060101010101" pitchFamily="49" charset="-122"/>
              </a:rPr>
              <a:t>newH</a:t>
            </a:r>
            <a:r>
              <a:rPr lang="en-US" altLang="zh-CN" sz="2400" dirty="0">
                <a:solidFill>
                  <a:srgbClr val="134F85"/>
                </a:solidFill>
                <a:ea typeface="黑体" panose="02010609060101010101" pitchFamily="49" charset="-122"/>
              </a:rPr>
              <a:t>, </a:t>
            </a:r>
            <a:r>
              <a:rPr lang="en-US" altLang="zh-CN" sz="2400" dirty="0" err="1">
                <a:solidFill>
                  <a:srgbClr val="134F85"/>
                </a:solidFill>
                <a:ea typeface="黑体" panose="02010609060101010101" pitchFamily="49" charset="-122"/>
              </a:rPr>
              <a:t>int</a:t>
            </a:r>
            <a:r>
              <a:rPr lang="en-US" altLang="zh-CN" sz="2400" dirty="0">
                <a:solidFill>
                  <a:srgbClr val="134F85"/>
                </a:solidFill>
                <a:ea typeface="黑体" panose="02010609060101010101" pitchFamily="49" charset="-122"/>
              </a:rPr>
              <a:t> </a:t>
            </a:r>
            <a:r>
              <a:rPr lang="en-US" altLang="zh-CN" sz="2400" dirty="0" err="1">
                <a:solidFill>
                  <a:srgbClr val="134F85"/>
                </a:solidFill>
                <a:ea typeface="黑体" panose="02010609060101010101" pitchFamily="49" charset="-122"/>
              </a:rPr>
              <a:t>newM</a:t>
            </a:r>
            <a:r>
              <a:rPr lang="en-US" altLang="zh-CN" sz="2400" dirty="0">
                <a:solidFill>
                  <a:srgbClr val="134F85"/>
                </a:solidFill>
                <a:ea typeface="黑体" panose="02010609060101010101" pitchFamily="49" charset="-122"/>
              </a:rPr>
              <a:t>, </a:t>
            </a:r>
            <a:r>
              <a:rPr lang="en-US" altLang="zh-CN" sz="2400" dirty="0" err="1">
                <a:solidFill>
                  <a:srgbClr val="134F85"/>
                </a:solidFill>
                <a:ea typeface="黑体" panose="02010609060101010101" pitchFamily="49" charset="-122"/>
              </a:rPr>
              <a:t>int</a:t>
            </a:r>
            <a:r>
              <a:rPr lang="en-US" altLang="zh-CN" sz="2400" dirty="0">
                <a:solidFill>
                  <a:srgbClr val="134F85"/>
                </a:solidFill>
                <a:ea typeface="黑体" panose="02010609060101010101" pitchFamily="49" charset="-122"/>
              </a:rPr>
              <a:t> </a:t>
            </a:r>
            <a:r>
              <a:rPr lang="en-US" altLang="zh-CN" sz="2400" dirty="0" err="1">
                <a:solidFill>
                  <a:srgbClr val="134F85"/>
                </a:solidFill>
                <a:ea typeface="黑体" panose="02010609060101010101" pitchFamily="49" charset="-122"/>
              </a:rPr>
              <a:t>newS</a:t>
            </a:r>
            <a:r>
              <a:rPr lang="en-US" altLang="zh-CN" sz="2400" dirty="0">
                <a:solidFill>
                  <a:srgbClr val="134F85"/>
                </a:solidFill>
                <a:latin typeface="+mn-lt"/>
                <a:ea typeface="黑体" panose="02010609060101010101" pitchFamily="49" charset="-122"/>
              </a:rPr>
              <a:t>){</a:t>
            </a:r>
          </a:p>
          <a:p>
            <a:pPr eaLnBrk="1" hangingPunct="1">
              <a:lnSpc>
                <a:spcPct val="90000"/>
              </a:lnSpc>
              <a:spcBef>
                <a:spcPts val="0"/>
              </a:spcBef>
              <a:buClrTx/>
              <a:buSzTx/>
              <a:buFontTx/>
              <a:buNone/>
              <a:defRPr/>
            </a:pPr>
            <a:r>
              <a:rPr lang="en-US" altLang="zh-CN" sz="2400" dirty="0">
                <a:solidFill>
                  <a:srgbClr val="134F85"/>
                </a:solidFill>
                <a:latin typeface="+mn-lt"/>
                <a:ea typeface="黑体" panose="02010609060101010101" pitchFamily="49" charset="-122"/>
              </a:rPr>
              <a:t>          hour = </a:t>
            </a:r>
            <a:r>
              <a:rPr lang="en-US" altLang="zh-CN" sz="2400" dirty="0" err="1">
                <a:solidFill>
                  <a:srgbClr val="134F85"/>
                </a:solidFill>
                <a:latin typeface="+mn-lt"/>
                <a:ea typeface="黑体" panose="02010609060101010101" pitchFamily="49" charset="-122"/>
              </a:rPr>
              <a:t>newH</a:t>
            </a:r>
            <a:r>
              <a:rPr lang="en-US" altLang="zh-CN" sz="2400" dirty="0">
                <a:solidFill>
                  <a:srgbClr val="134F85"/>
                </a:solidFill>
                <a:latin typeface="+mn-lt"/>
                <a:ea typeface="黑体" panose="02010609060101010101" pitchFamily="49" charset="-122"/>
              </a:rPr>
              <a:t>;     minute = </a:t>
            </a:r>
            <a:r>
              <a:rPr lang="en-US" altLang="zh-CN" sz="2400" dirty="0" err="1">
                <a:solidFill>
                  <a:srgbClr val="134F85"/>
                </a:solidFill>
                <a:latin typeface="+mn-lt"/>
                <a:ea typeface="黑体" panose="02010609060101010101" pitchFamily="49" charset="-122"/>
              </a:rPr>
              <a:t>newM</a:t>
            </a:r>
            <a:r>
              <a:rPr lang="en-US" altLang="zh-CN" sz="2400" dirty="0">
                <a:solidFill>
                  <a:srgbClr val="134F85"/>
                </a:solidFill>
                <a:latin typeface="+mn-lt"/>
                <a:ea typeface="黑体" panose="02010609060101010101" pitchFamily="49" charset="-122"/>
              </a:rPr>
              <a:t>;   second = </a:t>
            </a:r>
            <a:r>
              <a:rPr lang="en-US" altLang="zh-CN" sz="2400" dirty="0" err="1">
                <a:solidFill>
                  <a:srgbClr val="134F85"/>
                </a:solidFill>
                <a:latin typeface="+mn-lt"/>
                <a:ea typeface="黑体" panose="02010609060101010101" pitchFamily="49" charset="-122"/>
              </a:rPr>
              <a:t>newS</a:t>
            </a:r>
            <a:r>
              <a:rPr lang="en-US" altLang="zh-CN" sz="2400" dirty="0">
                <a:solidFill>
                  <a:srgbClr val="134F85"/>
                </a:solidFill>
                <a:latin typeface="+mn-lt"/>
                <a:ea typeface="黑体" panose="02010609060101010101" pitchFamily="49" charset="-122"/>
              </a:rPr>
              <a:t>;</a:t>
            </a:r>
          </a:p>
          <a:p>
            <a:pPr eaLnBrk="1" hangingPunct="1">
              <a:lnSpc>
                <a:spcPct val="90000"/>
              </a:lnSpc>
              <a:spcBef>
                <a:spcPts val="0"/>
              </a:spcBef>
              <a:buClrTx/>
              <a:buSzTx/>
              <a:buFontTx/>
              <a:buNone/>
              <a:defRPr/>
            </a:pPr>
            <a:r>
              <a:rPr lang="en-US" altLang="zh-CN" sz="2400" dirty="0">
                <a:solidFill>
                  <a:srgbClr val="134F85"/>
                </a:solidFill>
                <a:latin typeface="+mn-lt"/>
                <a:ea typeface="黑体" panose="02010609060101010101" pitchFamily="49" charset="-122"/>
              </a:rPr>
              <a:t>          }</a:t>
            </a:r>
          </a:p>
          <a:p>
            <a:pPr eaLnBrk="1" hangingPunct="1">
              <a:lnSpc>
                <a:spcPct val="90000"/>
              </a:lnSpc>
              <a:spcBef>
                <a:spcPts val="0"/>
              </a:spcBef>
              <a:buClrTx/>
              <a:buSzTx/>
              <a:buFontTx/>
              <a:buNone/>
              <a:defRPr/>
            </a:pPr>
            <a:r>
              <a:rPr lang="en-US" altLang="zh-CN" sz="2400" dirty="0">
                <a:solidFill>
                  <a:srgbClr val="134F85"/>
                </a:solidFill>
                <a:latin typeface="+mn-lt"/>
                <a:ea typeface="黑体" panose="02010609060101010101" pitchFamily="49" charset="-122"/>
              </a:rPr>
              <a:t>          void </a:t>
            </a:r>
            <a:r>
              <a:rPr lang="en-US" altLang="zh-CN" sz="2400" dirty="0" err="1">
                <a:solidFill>
                  <a:srgbClr val="134F85"/>
                </a:solidFill>
                <a:latin typeface="+mn-lt"/>
                <a:ea typeface="黑体" panose="02010609060101010101" pitchFamily="49" charset="-122"/>
              </a:rPr>
              <a:t>showTime</a:t>
            </a:r>
            <a:r>
              <a:rPr lang="en-US" altLang="zh-CN" sz="2400" dirty="0">
                <a:solidFill>
                  <a:srgbClr val="134F85"/>
                </a:solidFill>
                <a:latin typeface="+mn-lt"/>
                <a:ea typeface="黑体" panose="02010609060101010101" pitchFamily="49" charset="-122"/>
              </a:rPr>
              <a:t>(){</a:t>
            </a:r>
          </a:p>
          <a:p>
            <a:pPr eaLnBrk="1" hangingPunct="1">
              <a:lnSpc>
                <a:spcPct val="90000"/>
              </a:lnSpc>
              <a:spcBef>
                <a:spcPts val="0"/>
              </a:spcBef>
              <a:buClrTx/>
              <a:buSzTx/>
              <a:buFontTx/>
              <a:buNone/>
              <a:defRPr/>
            </a:pPr>
            <a:r>
              <a:rPr lang="en-US" altLang="zh-CN" sz="2400" dirty="0">
                <a:solidFill>
                  <a:srgbClr val="134F85"/>
                </a:solidFill>
                <a:latin typeface="+mn-lt"/>
                <a:ea typeface="黑体" panose="02010609060101010101" pitchFamily="49" charset="-122"/>
              </a:rPr>
              <a:t>           </a:t>
            </a:r>
            <a:r>
              <a:rPr lang="en-US" altLang="zh-CN" sz="2400" dirty="0" err="1">
                <a:solidFill>
                  <a:srgbClr val="134F85"/>
                </a:solidFill>
                <a:latin typeface="+mn-lt"/>
                <a:ea typeface="黑体" panose="02010609060101010101" pitchFamily="49" charset="-122"/>
              </a:rPr>
              <a:t>cout</a:t>
            </a:r>
            <a:r>
              <a:rPr lang="en-US" altLang="zh-CN" sz="2400" dirty="0">
                <a:solidFill>
                  <a:srgbClr val="134F85"/>
                </a:solidFill>
                <a:latin typeface="+mn-lt"/>
                <a:ea typeface="黑体" panose="02010609060101010101" pitchFamily="49" charset="-122"/>
              </a:rPr>
              <a:t>&lt;&lt;hour&lt;&lt;“:”&lt;&lt;minute</a:t>
            </a:r>
            <a:r>
              <a:rPr lang="en-US" altLang="zh-CN" sz="2400" dirty="0">
                <a:solidFill>
                  <a:srgbClr val="134F85"/>
                </a:solidFill>
                <a:ea typeface="黑体" panose="02010609060101010101" pitchFamily="49" charset="-122"/>
              </a:rPr>
              <a:t>&lt;&lt;“:”&lt;&lt;second&lt;&lt;</a:t>
            </a:r>
            <a:r>
              <a:rPr lang="en-US" altLang="zh-CN" sz="2400" dirty="0" err="1">
                <a:solidFill>
                  <a:srgbClr val="134F85"/>
                </a:solidFill>
                <a:ea typeface="黑体" panose="02010609060101010101" pitchFamily="49" charset="-122"/>
              </a:rPr>
              <a:t>endl</a:t>
            </a:r>
            <a:r>
              <a:rPr lang="en-US" altLang="zh-CN" sz="2400" dirty="0">
                <a:solidFill>
                  <a:srgbClr val="134F85"/>
                </a:solidFill>
                <a:ea typeface="黑体" panose="02010609060101010101" pitchFamily="49" charset="-122"/>
              </a:rPr>
              <a:t>;</a:t>
            </a:r>
            <a:endParaRPr lang="en-US" altLang="zh-CN" sz="2400" dirty="0">
              <a:solidFill>
                <a:srgbClr val="134F85"/>
              </a:solidFill>
              <a:latin typeface="+mn-lt"/>
              <a:ea typeface="黑体" panose="02010609060101010101" pitchFamily="49" charset="-122"/>
            </a:endParaRPr>
          </a:p>
          <a:p>
            <a:pPr eaLnBrk="1" hangingPunct="1">
              <a:lnSpc>
                <a:spcPct val="90000"/>
              </a:lnSpc>
              <a:spcBef>
                <a:spcPts val="0"/>
              </a:spcBef>
              <a:buClrTx/>
              <a:buSzTx/>
              <a:buFontTx/>
              <a:buNone/>
              <a:defRPr/>
            </a:pPr>
            <a:r>
              <a:rPr lang="en-US" altLang="zh-CN" sz="2400" dirty="0">
                <a:solidFill>
                  <a:srgbClr val="134F85"/>
                </a:solidFill>
                <a:latin typeface="+mn-lt"/>
                <a:ea typeface="黑体" panose="02010609060101010101" pitchFamily="49" charset="-122"/>
              </a:rPr>
              <a:t>          }</a:t>
            </a:r>
          </a:p>
          <a:p>
            <a:pPr eaLnBrk="1" hangingPunct="1">
              <a:lnSpc>
                <a:spcPct val="90000"/>
              </a:lnSpc>
              <a:spcBef>
                <a:spcPts val="0"/>
              </a:spcBef>
              <a:buClrTx/>
              <a:buSzTx/>
              <a:buFontTx/>
              <a:buNone/>
              <a:defRPr/>
            </a:pPr>
            <a:r>
              <a:rPr lang="en-US" altLang="zh-CN" sz="2400" dirty="0">
                <a:solidFill>
                  <a:srgbClr val="134F85"/>
                </a:solidFill>
                <a:latin typeface="+mn-lt"/>
                <a:ea typeface="黑体" panose="02010609060101010101" pitchFamily="49" charset="-122"/>
              </a:rPr>
              <a:t>private:</a:t>
            </a:r>
          </a:p>
          <a:p>
            <a:pPr eaLnBrk="1" hangingPunct="1">
              <a:lnSpc>
                <a:spcPct val="90000"/>
              </a:lnSpc>
              <a:spcBef>
                <a:spcPts val="0"/>
              </a:spcBef>
              <a:buClrTx/>
              <a:buSzTx/>
              <a:buFontTx/>
              <a:buNone/>
              <a:defRPr/>
            </a:pPr>
            <a:r>
              <a:rPr lang="en-US" altLang="zh-CN" sz="2400" dirty="0">
                <a:solidFill>
                  <a:srgbClr val="134F85"/>
                </a:solidFill>
                <a:latin typeface="+mn-lt"/>
                <a:ea typeface="黑体" panose="02010609060101010101" pitchFamily="49" charset="-122"/>
              </a:rPr>
              <a:t>           </a:t>
            </a:r>
            <a:r>
              <a:rPr lang="en-US" altLang="zh-CN" sz="2400" dirty="0" err="1">
                <a:solidFill>
                  <a:srgbClr val="134F85"/>
                </a:solidFill>
                <a:latin typeface="+mn-lt"/>
                <a:ea typeface="黑体" panose="02010609060101010101" pitchFamily="49" charset="-122"/>
              </a:rPr>
              <a:t>int</a:t>
            </a:r>
            <a:r>
              <a:rPr lang="en-US" altLang="zh-CN" sz="2400" dirty="0">
                <a:solidFill>
                  <a:srgbClr val="134F85"/>
                </a:solidFill>
                <a:latin typeface="+mn-lt"/>
                <a:ea typeface="黑体" panose="02010609060101010101" pitchFamily="49" charset="-122"/>
              </a:rPr>
              <a:t> </a:t>
            </a:r>
            <a:r>
              <a:rPr lang="en-US" altLang="zh-CN" sz="2400" dirty="0">
                <a:solidFill>
                  <a:srgbClr val="134F85"/>
                </a:solidFill>
                <a:ea typeface="黑体" panose="02010609060101010101" pitchFamily="49" charset="-122"/>
              </a:rPr>
              <a:t>hour, minute, second;</a:t>
            </a:r>
            <a:endParaRPr lang="en-US" altLang="zh-CN" sz="2400" dirty="0">
              <a:solidFill>
                <a:srgbClr val="134F85"/>
              </a:solidFill>
              <a:latin typeface="+mn-lt"/>
              <a:ea typeface="黑体" panose="02010609060101010101" pitchFamily="49" charset="-122"/>
            </a:endParaRPr>
          </a:p>
          <a:p>
            <a:pPr eaLnBrk="1" hangingPunct="1">
              <a:lnSpc>
                <a:spcPct val="90000"/>
              </a:lnSpc>
              <a:spcBef>
                <a:spcPts val="0"/>
              </a:spcBef>
              <a:buClrTx/>
              <a:buSzTx/>
              <a:buFontTx/>
              <a:buNone/>
              <a:defRPr/>
            </a:pPr>
            <a:r>
              <a:rPr lang="en-US" altLang="zh-CN" sz="2400" dirty="0">
                <a:solidFill>
                  <a:srgbClr val="134F85"/>
                </a:solidFill>
                <a:latin typeface="+mn-lt"/>
                <a:ea typeface="黑体" panose="02010609060101010101" pitchFamily="49" charset="-122"/>
              </a:rPr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val="19454405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 autoUpdateAnimBg="0"/>
      <p:bldP spid="16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74369A15-2C0D-4640-ADC3-2A8BAA1BCF9C}"/>
              </a:ext>
            </a:extLst>
          </p:cNvPr>
          <p:cNvSpPr/>
          <p:nvPr/>
        </p:nvSpPr>
        <p:spPr>
          <a:xfrm>
            <a:off x="794" y="176798"/>
            <a:ext cx="12190413" cy="728917"/>
          </a:xfrm>
          <a:prstGeom prst="rect">
            <a:avLst/>
          </a:prstGeom>
          <a:solidFill>
            <a:srgbClr val="26CC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3200"/>
          </a:p>
        </p:txBody>
      </p:sp>
      <p:cxnSp>
        <p:nvCxnSpPr>
          <p:cNvPr id="4" name="直线连接符 6">
            <a:extLst>
              <a:ext uri="{FF2B5EF4-FFF2-40B4-BE49-F238E27FC236}">
                <a16:creationId xmlns:a16="http://schemas.microsoft.com/office/drawing/2014/main" id="{4E9F1813-23BA-43BB-8E8B-E17AA319A034}"/>
              </a:ext>
            </a:extLst>
          </p:cNvPr>
          <p:cNvCxnSpPr/>
          <p:nvPr/>
        </p:nvCxnSpPr>
        <p:spPr>
          <a:xfrm>
            <a:off x="1587" y="905715"/>
            <a:ext cx="12190413" cy="0"/>
          </a:xfrm>
          <a:prstGeom prst="line">
            <a:avLst/>
          </a:prstGeom>
          <a:ln>
            <a:solidFill>
              <a:srgbClr val="104D7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4">
            <a:extLst>
              <a:ext uri="{FF2B5EF4-FFF2-40B4-BE49-F238E27FC236}">
                <a16:creationId xmlns:a16="http://schemas.microsoft.com/office/drawing/2014/main" id="{F3EFB6CA-3553-477B-9E1A-7CB24DDFF0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6020" y="1927373"/>
            <a:ext cx="2735262" cy="512762"/>
          </a:xfrm>
          <a:prstGeom prst="rect">
            <a:avLst/>
          </a:prstGeom>
          <a:noFill/>
          <a:ln>
            <a:noFill/>
          </a:ln>
        </p:spPr>
        <p:txBody>
          <a:bodyPr anchor="b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pPr eaLnBrk="1" hangingPunct="1">
              <a:defRPr/>
            </a:pPr>
            <a:r>
              <a:rPr lang="en-US" altLang="zh-CN" sz="2800" dirty="0">
                <a:solidFill>
                  <a:srgbClr val="134F85"/>
                </a:solidFill>
                <a:ea typeface="黑体" panose="02010609060101010101" pitchFamily="49" charset="-122"/>
              </a:rPr>
              <a:t>Clock  c1,c2;</a:t>
            </a:r>
            <a:endParaRPr lang="zh-CN" altLang="en-US" sz="2800" b="0" kern="0" dirty="0">
              <a:solidFill>
                <a:srgbClr val="134F85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41A8377F-2C9F-4947-A962-179E270B2F8C}"/>
              </a:ext>
            </a:extLst>
          </p:cNvPr>
          <p:cNvSpPr txBox="1"/>
          <p:nvPr/>
        </p:nvSpPr>
        <p:spPr>
          <a:xfrm>
            <a:off x="247719" y="224527"/>
            <a:ext cx="802877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kumimoji="1" sz="3200" b="1">
                <a:latin typeface="华光胖头鱼_CNKI" panose="02000500000000000000" pitchFamily="2" charset="-122"/>
                <a:ea typeface="华光胖头鱼_CNKI" panose="02000500000000000000" pitchFamily="2" charset="-122"/>
              </a:defRPr>
            </a:lvl1pPr>
          </a:lstStyle>
          <a:p>
            <a:r>
              <a:rPr lang="en-US" altLang="zh-CN" dirty="0"/>
              <a:t>7.2</a:t>
            </a:r>
            <a:r>
              <a:rPr lang="zh-CN" altLang="en-US" dirty="0"/>
              <a:t>类与对象</a:t>
            </a:r>
          </a:p>
        </p:txBody>
      </p:sp>
      <p:sp>
        <p:nvSpPr>
          <p:cNvPr id="10" name="Rectangle 4">
            <a:extLst>
              <a:ext uri="{FF2B5EF4-FFF2-40B4-BE49-F238E27FC236}">
                <a16:creationId xmlns:a16="http://schemas.microsoft.com/office/drawing/2014/main" id="{8D55D4DF-3089-4DB1-A131-1CE4FF48C04A}"/>
              </a:ext>
            </a:extLst>
          </p:cNvPr>
          <p:cNvSpPr txBox="1">
            <a:spLocks noChangeArrowheads="1"/>
          </p:cNvSpPr>
          <p:nvPr/>
        </p:nvSpPr>
        <p:spPr>
          <a:xfrm>
            <a:off x="528638" y="1268413"/>
            <a:ext cx="8229600" cy="522287"/>
          </a:xfrm>
          <a:prstGeom prst="rect">
            <a:avLst/>
          </a:prstGeom>
        </p:spPr>
        <p:txBody>
          <a:bodyPr/>
          <a:lstStyle>
            <a:lvl1pPr algn="ctr" defTabSz="609600" rtl="0" eaLnBrk="1" latinLnBrk="0" hangingPunct="1">
              <a:spcBef>
                <a:spcPct val="0"/>
              </a:spcBef>
              <a:buNone/>
              <a:defRPr sz="5865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800" dirty="0">
                <a:solidFill>
                  <a:srgbClr val="134F85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创建对象，与普通变量定义一样：</a:t>
            </a:r>
          </a:p>
        </p:txBody>
      </p:sp>
      <p:sp>
        <p:nvSpPr>
          <p:cNvPr id="11" name="AutoShape 10">
            <a:extLst>
              <a:ext uri="{FF2B5EF4-FFF2-40B4-BE49-F238E27FC236}">
                <a16:creationId xmlns:a16="http://schemas.microsoft.com/office/drawing/2014/main" id="{B0EE8784-6282-4EDC-815F-4949417646D2}"/>
              </a:ext>
            </a:extLst>
          </p:cNvPr>
          <p:cNvSpPr>
            <a:spLocks/>
          </p:cNvSpPr>
          <p:nvPr/>
        </p:nvSpPr>
        <p:spPr bwMode="auto">
          <a:xfrm>
            <a:off x="247719" y="2623536"/>
            <a:ext cx="5308600" cy="865187"/>
          </a:xfrm>
          <a:prstGeom prst="borderCallout1">
            <a:avLst>
              <a:gd name="adj1" fmla="val -4261"/>
              <a:gd name="adj2" fmla="val 19231"/>
              <a:gd name="adj3" fmla="val -29622"/>
              <a:gd name="adj4" fmla="val 33316"/>
            </a:avLst>
          </a:prstGeom>
          <a:solidFill>
            <a:srgbClr val="FFFF99"/>
          </a:solidFill>
          <a:ln w="9525">
            <a:solidFill>
              <a:schemeClr val="accent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Char char="o"/>
              <a:defRPr sz="32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o"/>
              <a:defRPr sz="24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n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zh-CN" altLang="en-US" sz="2400" b="0" dirty="0">
                <a:solidFill>
                  <a:srgbClr val="134F85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只分配用于保存</a:t>
            </a:r>
            <a:r>
              <a:rPr kumimoji="1" lang="zh-CN" altLang="en-US" sz="2400" b="0" dirty="0">
                <a:solidFill>
                  <a:srgbClr val="FF0000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数据</a:t>
            </a:r>
            <a:r>
              <a:rPr kumimoji="1" lang="zh-CN" altLang="en-US" sz="2400" b="0" dirty="0">
                <a:solidFill>
                  <a:srgbClr val="134F85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的内存</a:t>
            </a:r>
            <a:r>
              <a:rPr kumimoji="1" lang="en-US" altLang="zh-CN" sz="2400" b="0" dirty="0">
                <a:solidFill>
                  <a:srgbClr val="134F85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,</a:t>
            </a:r>
            <a:r>
              <a:rPr kumimoji="1" lang="zh-CN" altLang="en-US" sz="2400" b="0" dirty="0">
                <a:solidFill>
                  <a:srgbClr val="134F85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成员函数代码放于公共区域中</a:t>
            </a:r>
            <a:r>
              <a:rPr kumimoji="1" lang="en-US" altLang="zh-CN" sz="2400" b="0" dirty="0">
                <a:solidFill>
                  <a:srgbClr val="134F85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,</a:t>
            </a:r>
            <a:r>
              <a:rPr kumimoji="1" lang="zh-CN" altLang="en-US" sz="2400" b="0" dirty="0">
                <a:solidFill>
                  <a:srgbClr val="134F85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为每个对象共享。</a:t>
            </a:r>
          </a:p>
        </p:txBody>
      </p:sp>
      <p:sp>
        <p:nvSpPr>
          <p:cNvPr id="16" name="Rectangle 11">
            <a:extLst>
              <a:ext uri="{FF2B5EF4-FFF2-40B4-BE49-F238E27FC236}">
                <a16:creationId xmlns:a16="http://schemas.microsoft.com/office/drawing/2014/main" id="{B7F6801F-E752-4F70-B267-CF2B39B2EA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78613" y="1651038"/>
            <a:ext cx="2253994" cy="1570038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en-US" altLang="zh-CN" sz="2400" dirty="0">
                <a:solidFill>
                  <a:srgbClr val="134F85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hour</a:t>
            </a:r>
          </a:p>
          <a:p>
            <a:pPr eaLnBrk="1" hangingPunct="1">
              <a:spcBef>
                <a:spcPct val="50000"/>
              </a:spcBef>
              <a:defRPr/>
            </a:pPr>
            <a:r>
              <a:rPr lang="en-US" altLang="zh-CN" sz="2400" dirty="0">
                <a:solidFill>
                  <a:srgbClr val="134F85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minute</a:t>
            </a:r>
          </a:p>
          <a:p>
            <a:pPr eaLnBrk="1" hangingPunct="1">
              <a:spcBef>
                <a:spcPct val="50000"/>
              </a:spcBef>
              <a:defRPr/>
            </a:pPr>
            <a:r>
              <a:rPr lang="en-US" altLang="zh-CN" sz="2400" dirty="0">
                <a:solidFill>
                  <a:srgbClr val="134F85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second</a:t>
            </a:r>
            <a:endParaRPr kumimoji="1" lang="en-US" altLang="zh-CN" sz="2400" b="0" dirty="0">
              <a:solidFill>
                <a:srgbClr val="134F85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Comic Sans MS" panose="030F0702030302020204" pitchFamily="66" charset="0"/>
              <a:ea typeface="华光行书_CNKI" panose="02000500000000000000" pitchFamily="2" charset="-122"/>
            </a:endParaRPr>
          </a:p>
        </p:txBody>
      </p:sp>
      <p:sp>
        <p:nvSpPr>
          <p:cNvPr id="17" name="Text Box 12">
            <a:extLst>
              <a:ext uri="{FF2B5EF4-FFF2-40B4-BE49-F238E27FC236}">
                <a16:creationId xmlns:a16="http://schemas.microsoft.com/office/drawing/2014/main" id="{5D78E61E-2E89-4D51-95A3-B62845EF4C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00826" y="1175389"/>
            <a:ext cx="8858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Char char="o"/>
              <a:defRPr sz="32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o"/>
              <a:defRPr sz="24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n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en-US" altLang="zh-CN" sz="2400" b="0" dirty="0">
                <a:solidFill>
                  <a:srgbClr val="134F85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c1</a:t>
            </a:r>
          </a:p>
        </p:txBody>
      </p:sp>
      <p:sp>
        <p:nvSpPr>
          <p:cNvPr id="18" name="Oval 13">
            <a:extLst>
              <a:ext uri="{FF2B5EF4-FFF2-40B4-BE49-F238E27FC236}">
                <a16:creationId xmlns:a16="http://schemas.microsoft.com/office/drawing/2014/main" id="{BC138761-4FCF-4186-AC4C-97E558F648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534650" y="3222663"/>
            <a:ext cx="1366838" cy="685800"/>
          </a:xfrm>
          <a:prstGeom prst="ellipse">
            <a:avLst/>
          </a:prstGeom>
          <a:solidFill>
            <a:srgbClr val="FFC000"/>
          </a:solidFill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Char char="o"/>
              <a:defRPr sz="32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o"/>
              <a:defRPr sz="24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n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rgbClr val="134F85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setTime</a:t>
            </a:r>
            <a:endParaRPr kumimoji="1" lang="en-US" altLang="zh-CN" sz="2400" b="0">
              <a:solidFill>
                <a:srgbClr val="134F85"/>
              </a:solidFill>
              <a:latin typeface="Comic Sans MS" panose="030F0702030302020204" pitchFamily="66" charset="0"/>
              <a:ea typeface="华光行书_CNKI" panose="02000500000000000000" pitchFamily="2" charset="-122"/>
            </a:endParaRPr>
          </a:p>
        </p:txBody>
      </p:sp>
      <p:sp>
        <p:nvSpPr>
          <p:cNvPr id="19" name="Oval 14">
            <a:extLst>
              <a:ext uri="{FF2B5EF4-FFF2-40B4-BE49-F238E27FC236}">
                <a16:creationId xmlns:a16="http://schemas.microsoft.com/office/drawing/2014/main" id="{EF08F3EA-E726-44A4-BB89-FFFE719016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61625" y="4168813"/>
            <a:ext cx="1512888" cy="762000"/>
          </a:xfrm>
          <a:prstGeom prst="ellipse">
            <a:avLst/>
          </a:prstGeom>
          <a:solidFill>
            <a:srgbClr val="FFC000"/>
          </a:solidFill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Char char="o"/>
              <a:defRPr sz="32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o"/>
              <a:defRPr sz="24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n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dirty="0" err="1">
                <a:solidFill>
                  <a:srgbClr val="134F85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showTime</a:t>
            </a:r>
            <a:endParaRPr kumimoji="1" lang="en-US" altLang="zh-CN" sz="2400" b="0" dirty="0">
              <a:solidFill>
                <a:srgbClr val="134F85"/>
              </a:solidFill>
              <a:latin typeface="Comic Sans MS" panose="030F0702030302020204" pitchFamily="66" charset="0"/>
              <a:ea typeface="华光行书_CNKI" panose="02000500000000000000" pitchFamily="2" charset="-122"/>
            </a:endParaRPr>
          </a:p>
        </p:txBody>
      </p:sp>
      <p:sp>
        <p:nvSpPr>
          <p:cNvPr id="21" name="Rectangle 18">
            <a:extLst>
              <a:ext uri="{FF2B5EF4-FFF2-40B4-BE49-F238E27FC236}">
                <a16:creationId xmlns:a16="http://schemas.microsoft.com/office/drawing/2014/main" id="{599E5A12-D8B3-47C6-AB6B-5DE033EDDA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94513" y="4587913"/>
            <a:ext cx="1479550" cy="1570038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en-US" altLang="zh-CN" sz="2400" dirty="0">
                <a:solidFill>
                  <a:srgbClr val="134F85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hour</a:t>
            </a:r>
          </a:p>
          <a:p>
            <a:pPr eaLnBrk="1" hangingPunct="1">
              <a:spcBef>
                <a:spcPct val="50000"/>
              </a:spcBef>
              <a:defRPr/>
            </a:pPr>
            <a:r>
              <a:rPr lang="en-US" altLang="zh-CN" sz="2400" dirty="0">
                <a:solidFill>
                  <a:srgbClr val="134F85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minute</a:t>
            </a:r>
          </a:p>
          <a:p>
            <a:pPr eaLnBrk="1" hangingPunct="1">
              <a:spcBef>
                <a:spcPct val="50000"/>
              </a:spcBef>
              <a:defRPr/>
            </a:pPr>
            <a:r>
              <a:rPr lang="en-US" altLang="zh-CN" sz="2400" dirty="0">
                <a:solidFill>
                  <a:srgbClr val="134F85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second</a:t>
            </a:r>
            <a:endParaRPr kumimoji="1" lang="en-US" altLang="zh-CN" sz="2400" b="0" dirty="0">
              <a:solidFill>
                <a:srgbClr val="134F85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Comic Sans MS" panose="030F0702030302020204" pitchFamily="66" charset="0"/>
              <a:ea typeface="华光行书_CNKI" panose="02000500000000000000" pitchFamily="2" charset="-122"/>
            </a:endParaRPr>
          </a:p>
        </p:txBody>
      </p:sp>
      <p:sp>
        <p:nvSpPr>
          <p:cNvPr id="22" name="Text Box 19">
            <a:extLst>
              <a:ext uri="{FF2B5EF4-FFF2-40B4-BE49-F238E27FC236}">
                <a16:creationId xmlns:a16="http://schemas.microsoft.com/office/drawing/2014/main" id="{D055636D-E53C-499D-A7E7-6DA1A9E4BF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72275" y="4193859"/>
            <a:ext cx="8858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Char char="o"/>
              <a:defRPr sz="32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o"/>
              <a:defRPr sz="24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n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en-US" altLang="zh-CN" sz="2400" b="0" dirty="0">
                <a:solidFill>
                  <a:srgbClr val="134F85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c2</a:t>
            </a:r>
          </a:p>
        </p:txBody>
      </p:sp>
      <p:sp>
        <p:nvSpPr>
          <p:cNvPr id="23" name="Rectangle 25">
            <a:extLst>
              <a:ext uri="{FF2B5EF4-FFF2-40B4-BE49-F238E27FC236}">
                <a16:creationId xmlns:a16="http://schemas.microsoft.com/office/drawing/2014/main" id="{123F1FB3-C9A1-495B-89D9-DDAA2A7931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245725" y="3033751"/>
            <a:ext cx="1816100" cy="2133600"/>
          </a:xfrm>
          <a:prstGeom prst="rect">
            <a:avLst/>
          </a:prstGeom>
          <a:noFill/>
          <a:ln w="12700" cap="sq">
            <a:solidFill>
              <a:schemeClr val="accent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Char char="o"/>
              <a:defRPr sz="32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o"/>
              <a:defRPr sz="24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n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000">
              <a:solidFill>
                <a:srgbClr val="134F85"/>
              </a:solidFill>
              <a:latin typeface="Comic Sans MS" panose="030F0702030302020204" pitchFamily="66" charset="0"/>
              <a:ea typeface="华光行书_CNKI" panose="02000500000000000000" pitchFamily="2" charset="-122"/>
            </a:endParaRPr>
          </a:p>
        </p:txBody>
      </p:sp>
      <p:sp>
        <p:nvSpPr>
          <p:cNvPr id="24" name="Rectangle 9">
            <a:extLst>
              <a:ext uri="{FF2B5EF4-FFF2-40B4-BE49-F238E27FC236}">
                <a16:creationId xmlns:a16="http://schemas.microsoft.com/office/drawing/2014/main" id="{56890337-FA72-4EA6-8E4D-64D66BC9AA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50238" y="4849206"/>
            <a:ext cx="1439862" cy="461665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wrap="squar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Char char="o"/>
              <a:defRPr sz="32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o"/>
              <a:defRPr sz="24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n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dirty="0" err="1">
                <a:solidFill>
                  <a:srgbClr val="134F85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setTime</a:t>
            </a:r>
            <a:endParaRPr kumimoji="1" lang="en-US" altLang="zh-CN" sz="2400" b="0" dirty="0">
              <a:solidFill>
                <a:srgbClr val="134F85"/>
              </a:solidFill>
              <a:latin typeface="Comic Sans MS" panose="030F0702030302020204" pitchFamily="66" charset="0"/>
              <a:ea typeface="华光行书_CNKI" panose="02000500000000000000" pitchFamily="2" charset="-122"/>
            </a:endParaRPr>
          </a:p>
        </p:txBody>
      </p:sp>
      <p:sp>
        <p:nvSpPr>
          <p:cNvPr id="25" name="Rectangle 10">
            <a:extLst>
              <a:ext uri="{FF2B5EF4-FFF2-40B4-BE49-F238E27FC236}">
                <a16:creationId xmlns:a16="http://schemas.microsoft.com/office/drawing/2014/main" id="{1F4AF1B6-8B80-4110-AE65-B425CB2D78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5138" y="5600738"/>
            <a:ext cx="1604962" cy="461963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Char char="o"/>
              <a:defRPr sz="32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o"/>
              <a:defRPr sz="24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n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dirty="0" err="1">
                <a:solidFill>
                  <a:srgbClr val="134F85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showTime</a:t>
            </a:r>
            <a:endParaRPr kumimoji="1" lang="en-US" altLang="zh-CN" sz="2400" b="0" dirty="0">
              <a:solidFill>
                <a:srgbClr val="134F85"/>
              </a:solidFill>
              <a:latin typeface="Comic Sans MS" panose="030F0702030302020204" pitchFamily="66" charset="0"/>
              <a:ea typeface="华光行书_CNKI" panose="02000500000000000000" pitchFamily="2" charset="-122"/>
            </a:endParaRPr>
          </a:p>
        </p:txBody>
      </p:sp>
      <p:cxnSp>
        <p:nvCxnSpPr>
          <p:cNvPr id="26" name="直接箭头连接符 27">
            <a:extLst>
              <a:ext uri="{FF2B5EF4-FFF2-40B4-BE49-F238E27FC236}">
                <a16:creationId xmlns:a16="http://schemas.microsoft.com/office/drawing/2014/main" id="{A642AAFC-7825-42DB-8BF7-96E1EF903E68}"/>
              </a:ext>
            </a:extLst>
          </p:cNvPr>
          <p:cNvCxnSpPr>
            <a:cxnSpLocks noChangeShapeType="1"/>
            <a:stCxn id="14" idx="3"/>
            <a:endCxn id="18" idx="2"/>
          </p:cNvCxnSpPr>
          <p:nvPr/>
        </p:nvCxnSpPr>
        <p:spPr bwMode="auto">
          <a:xfrm>
            <a:off x="9561257" y="2102359"/>
            <a:ext cx="973393" cy="1463204"/>
          </a:xfrm>
          <a:prstGeom prst="straightConnector1">
            <a:avLst/>
          </a:prstGeom>
          <a:noFill/>
          <a:ln w="9525" algn="ctr">
            <a:solidFill>
              <a:schemeClr val="accent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7" name="直接箭头连接符 29">
            <a:extLst>
              <a:ext uri="{FF2B5EF4-FFF2-40B4-BE49-F238E27FC236}">
                <a16:creationId xmlns:a16="http://schemas.microsoft.com/office/drawing/2014/main" id="{4728BB64-8FCA-44B8-A5F6-853AFED8474E}"/>
              </a:ext>
            </a:extLst>
          </p:cNvPr>
          <p:cNvCxnSpPr>
            <a:cxnSpLocks noChangeShapeType="1"/>
            <a:stCxn id="24" idx="3"/>
            <a:endCxn id="18" idx="2"/>
          </p:cNvCxnSpPr>
          <p:nvPr/>
        </p:nvCxnSpPr>
        <p:spPr bwMode="auto">
          <a:xfrm flipV="1">
            <a:off x="9690100" y="3565563"/>
            <a:ext cx="844550" cy="1514476"/>
          </a:xfrm>
          <a:prstGeom prst="straightConnector1">
            <a:avLst/>
          </a:prstGeom>
          <a:noFill/>
          <a:ln w="9525" algn="ctr">
            <a:solidFill>
              <a:schemeClr val="accent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8" name="直接箭头连接符 31">
            <a:extLst>
              <a:ext uri="{FF2B5EF4-FFF2-40B4-BE49-F238E27FC236}">
                <a16:creationId xmlns:a16="http://schemas.microsoft.com/office/drawing/2014/main" id="{F1DB29A2-41C9-4930-8DA0-D2FFDCB3BC00}"/>
              </a:ext>
            </a:extLst>
          </p:cNvPr>
          <p:cNvCxnSpPr>
            <a:cxnSpLocks noChangeShapeType="1"/>
            <a:stCxn id="15" idx="2"/>
            <a:endCxn id="19" idx="2"/>
          </p:cNvCxnSpPr>
          <p:nvPr/>
        </p:nvCxnSpPr>
        <p:spPr bwMode="auto">
          <a:xfrm>
            <a:off x="8814594" y="2925801"/>
            <a:ext cx="1647031" cy="1624012"/>
          </a:xfrm>
          <a:prstGeom prst="straightConnector1">
            <a:avLst/>
          </a:prstGeom>
          <a:noFill/>
          <a:ln w="9525" algn="ctr">
            <a:solidFill>
              <a:schemeClr val="accent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9" name="直接箭头连接符 33">
            <a:extLst>
              <a:ext uri="{FF2B5EF4-FFF2-40B4-BE49-F238E27FC236}">
                <a16:creationId xmlns:a16="http://schemas.microsoft.com/office/drawing/2014/main" id="{525CC923-CC9E-4FED-8927-F77D87A5D499}"/>
              </a:ext>
            </a:extLst>
          </p:cNvPr>
          <p:cNvCxnSpPr>
            <a:cxnSpLocks noChangeShapeType="1"/>
            <a:stCxn id="25" idx="3"/>
            <a:endCxn id="19" idx="2"/>
          </p:cNvCxnSpPr>
          <p:nvPr/>
        </p:nvCxnSpPr>
        <p:spPr bwMode="auto">
          <a:xfrm flipV="1">
            <a:off x="9690100" y="4549813"/>
            <a:ext cx="771525" cy="1281907"/>
          </a:xfrm>
          <a:prstGeom prst="straightConnector1">
            <a:avLst/>
          </a:prstGeom>
          <a:noFill/>
          <a:ln w="9525" algn="ctr">
            <a:solidFill>
              <a:schemeClr val="accent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0" name="Text Box 12">
            <a:extLst>
              <a:ext uri="{FF2B5EF4-FFF2-40B4-BE49-F238E27FC236}">
                <a16:creationId xmlns:a16="http://schemas.microsoft.com/office/drawing/2014/main" id="{432CCECE-A97B-4581-9813-26EED9BCB9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245725" y="2500351"/>
            <a:ext cx="18161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Char char="o"/>
              <a:defRPr sz="32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o"/>
              <a:defRPr sz="24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n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zh-CN" altLang="en-US" sz="2400" b="0">
                <a:solidFill>
                  <a:srgbClr val="134F85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公共代码区</a:t>
            </a:r>
            <a:endParaRPr kumimoji="1" lang="en-US" altLang="zh-CN" sz="2400" b="0">
              <a:solidFill>
                <a:srgbClr val="134F85"/>
              </a:solidFill>
              <a:latin typeface="Comic Sans MS" panose="030F0702030302020204" pitchFamily="66" charset="0"/>
              <a:ea typeface="华光行书_CNKI" panose="02000500000000000000" pitchFamily="2" charset="-122"/>
            </a:endParaRPr>
          </a:p>
        </p:txBody>
      </p:sp>
      <p:sp>
        <p:nvSpPr>
          <p:cNvPr id="31" name="Text Box 12">
            <a:extLst>
              <a:ext uri="{FF2B5EF4-FFF2-40B4-BE49-F238E27FC236}">
                <a16:creationId xmlns:a16="http://schemas.microsoft.com/office/drawing/2014/main" id="{5F4564D1-37C8-427A-B1A7-E521B4E386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36025" y="1189076"/>
            <a:ext cx="18161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Char char="o"/>
              <a:defRPr sz="32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o"/>
              <a:defRPr sz="24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n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zh-CN" altLang="en-US" sz="2400" b="0">
                <a:solidFill>
                  <a:srgbClr val="134F85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接口</a:t>
            </a:r>
            <a:endParaRPr kumimoji="1" lang="en-US" altLang="zh-CN" sz="2400" b="0">
              <a:solidFill>
                <a:srgbClr val="134F85"/>
              </a:solidFill>
              <a:latin typeface="Comic Sans MS" panose="030F0702030302020204" pitchFamily="66" charset="0"/>
              <a:ea typeface="华光行书_CNKI" panose="02000500000000000000" pitchFamily="2" charset="-122"/>
            </a:endParaRPr>
          </a:p>
        </p:txBody>
      </p:sp>
      <p:sp>
        <p:nvSpPr>
          <p:cNvPr id="14" name="Rectangle 9">
            <a:extLst>
              <a:ext uri="{FF2B5EF4-FFF2-40B4-BE49-F238E27FC236}">
                <a16:creationId xmlns:a16="http://schemas.microsoft.com/office/drawing/2014/main" id="{126901E5-D8BE-4D08-9007-AE1576BB81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77213" y="1871526"/>
            <a:ext cx="1384044" cy="461665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wrap="squar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Char char="o"/>
              <a:defRPr sz="32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o"/>
              <a:defRPr sz="24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n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dirty="0" err="1">
                <a:solidFill>
                  <a:srgbClr val="134F85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setTime</a:t>
            </a:r>
            <a:endParaRPr kumimoji="1" lang="en-US" altLang="zh-CN" sz="2400" b="0" dirty="0">
              <a:solidFill>
                <a:srgbClr val="134F85"/>
              </a:solidFill>
              <a:latin typeface="Comic Sans MS" panose="030F0702030302020204" pitchFamily="66" charset="0"/>
              <a:ea typeface="华光行书_CNKI" panose="02000500000000000000" pitchFamily="2" charset="-122"/>
            </a:endParaRPr>
          </a:p>
        </p:txBody>
      </p:sp>
      <p:sp>
        <p:nvSpPr>
          <p:cNvPr id="15" name="Rectangle 10">
            <a:extLst>
              <a:ext uri="{FF2B5EF4-FFF2-40B4-BE49-F238E27FC236}">
                <a16:creationId xmlns:a16="http://schemas.microsoft.com/office/drawing/2014/main" id="{F1CA01F2-0AE5-4655-B79E-37265A63AD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12113" y="2463838"/>
            <a:ext cx="1604962" cy="461963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Char char="o"/>
              <a:defRPr sz="32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o"/>
              <a:defRPr sz="24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n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dirty="0" err="1">
                <a:solidFill>
                  <a:srgbClr val="134F85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showTime</a:t>
            </a:r>
            <a:endParaRPr kumimoji="1" lang="en-US" altLang="zh-CN" sz="2400" b="0" dirty="0">
              <a:solidFill>
                <a:srgbClr val="134F85"/>
              </a:solidFill>
              <a:latin typeface="Comic Sans MS" panose="030F0702030302020204" pitchFamily="66" charset="0"/>
              <a:ea typeface="华光行书_CNKI" panose="02000500000000000000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055885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1" grpId="0" animBg="1" autoUpdateAnimBg="0"/>
      <p:bldP spid="16" grpId="0" animBg="1"/>
      <p:bldP spid="17" grpId="0"/>
      <p:bldP spid="18" grpId="0" animBg="1"/>
      <p:bldP spid="19" grpId="0" animBg="1"/>
      <p:bldP spid="21" grpId="0" animBg="1"/>
      <p:bldP spid="22" grpId="0"/>
      <p:bldP spid="23" grpId="0" animBg="1"/>
      <p:bldP spid="24" grpId="0" animBg="1"/>
      <p:bldP spid="25" grpId="0" animBg="1"/>
      <p:bldP spid="30" grpId="0"/>
      <p:bldP spid="31" grpId="0"/>
      <p:bldP spid="14" grpId="0" animBg="1"/>
      <p:bldP spid="15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378F810F-F2E5-4F75-88F1-D61F41264244}"/>
              </a:ext>
            </a:extLst>
          </p:cNvPr>
          <p:cNvSpPr/>
          <p:nvPr/>
        </p:nvSpPr>
        <p:spPr>
          <a:xfrm>
            <a:off x="794" y="176798"/>
            <a:ext cx="12190413" cy="728917"/>
          </a:xfrm>
          <a:prstGeom prst="rect">
            <a:avLst/>
          </a:prstGeom>
          <a:solidFill>
            <a:srgbClr val="26CC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3200"/>
          </a:p>
        </p:txBody>
      </p:sp>
      <p:cxnSp>
        <p:nvCxnSpPr>
          <p:cNvPr id="3" name="直线连接符 6">
            <a:extLst>
              <a:ext uri="{FF2B5EF4-FFF2-40B4-BE49-F238E27FC236}">
                <a16:creationId xmlns:a16="http://schemas.microsoft.com/office/drawing/2014/main" id="{06EAB57C-218D-42A5-90B0-84BCF4F5265C}"/>
              </a:ext>
            </a:extLst>
          </p:cNvPr>
          <p:cNvCxnSpPr/>
          <p:nvPr/>
        </p:nvCxnSpPr>
        <p:spPr>
          <a:xfrm>
            <a:off x="1587" y="905715"/>
            <a:ext cx="12190413" cy="0"/>
          </a:xfrm>
          <a:prstGeom prst="line">
            <a:avLst/>
          </a:prstGeom>
          <a:ln>
            <a:solidFill>
              <a:srgbClr val="104D7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 Box 8">
            <a:extLst>
              <a:ext uri="{FF2B5EF4-FFF2-40B4-BE49-F238E27FC236}">
                <a16:creationId xmlns:a16="http://schemas.microsoft.com/office/drawing/2014/main" id="{E2D20980-7E60-4C67-9D6F-3F7582A0F6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9088" y="1196975"/>
            <a:ext cx="3455987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Char char="o"/>
              <a:defRPr sz="32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o"/>
              <a:defRPr sz="24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n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dirty="0">
                <a:solidFill>
                  <a:srgbClr val="134F85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对象成员的访问</a:t>
            </a:r>
          </a:p>
        </p:txBody>
      </p:sp>
      <p:sp>
        <p:nvSpPr>
          <p:cNvPr id="14" name="Rectangle 7">
            <a:extLst>
              <a:ext uri="{FF2B5EF4-FFF2-40B4-BE49-F238E27FC236}">
                <a16:creationId xmlns:a16="http://schemas.microsoft.com/office/drawing/2014/main" id="{376308CE-38D9-4C65-B031-5127B4B1F0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750" y="1773238"/>
            <a:ext cx="10993489" cy="227479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SzPct val="70000"/>
              <a:buFont typeface="Wingdings" pitchFamily="2" charset="2"/>
              <a:buChar char="o"/>
              <a:defRPr sz="32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n"/>
              <a:defRPr sz="28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o"/>
              <a:defRPr sz="24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n"/>
              <a:defRPr sz="20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kumimoji="1" lang="zh-CN" altLang="en-US" sz="2400" dirty="0">
                <a:solidFill>
                  <a:srgbClr val="134F85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通过类的对象访问</a:t>
            </a:r>
            <a:r>
              <a:rPr kumimoji="1" lang="zh-CN" altLang="en-US" sz="2400" b="1" u="sng" dirty="0">
                <a:solidFill>
                  <a:srgbClr val="FF0000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公有</a:t>
            </a:r>
            <a:r>
              <a:rPr kumimoji="1" lang="zh-CN" altLang="en-US" sz="2400" dirty="0">
                <a:solidFill>
                  <a:srgbClr val="134F85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成员（注意成员的访问权限）</a:t>
            </a:r>
          </a:p>
          <a:p>
            <a:pPr marL="342900" indent="-342900"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 typeface="Wingdings" pitchFamily="2" charset="2"/>
              <a:buBlip>
                <a:blip r:embed="rId2"/>
              </a:buBlip>
              <a:defRPr/>
            </a:pPr>
            <a:r>
              <a:rPr kumimoji="1" lang="zh-CN" altLang="en-US" sz="2400" dirty="0">
                <a:solidFill>
                  <a:srgbClr val="134F85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对象名</a:t>
            </a:r>
            <a:r>
              <a:rPr kumimoji="1" lang="en-US" altLang="zh-CN" sz="2400" dirty="0">
                <a:solidFill>
                  <a:srgbClr val="134F85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.</a:t>
            </a:r>
            <a:r>
              <a:rPr kumimoji="1" lang="zh-CN" altLang="en-US" sz="2400" dirty="0">
                <a:solidFill>
                  <a:srgbClr val="134F85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成员名；</a:t>
            </a:r>
            <a:endParaRPr kumimoji="1" lang="en-US" altLang="zh-CN" sz="2400" dirty="0">
              <a:solidFill>
                <a:srgbClr val="134F85"/>
              </a:solidFill>
              <a:latin typeface="Comic Sans MS" panose="030F0702030302020204" pitchFamily="66" charset="0"/>
              <a:ea typeface="华光行书_CNKI" panose="02000500000000000000" pitchFamily="2" charset="-122"/>
            </a:endParaRPr>
          </a:p>
          <a:p>
            <a:pPr marL="342900" indent="-342900"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 typeface="Wingdings" pitchFamily="2" charset="2"/>
              <a:buBlip>
                <a:blip r:embed="rId2"/>
              </a:buBlip>
              <a:defRPr/>
            </a:pPr>
            <a:r>
              <a:rPr kumimoji="1" lang="zh-CN" altLang="en-US" sz="2400" dirty="0">
                <a:solidFill>
                  <a:srgbClr val="134F85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对象名</a:t>
            </a:r>
            <a:r>
              <a:rPr kumimoji="1" lang="en-US" altLang="zh-CN" sz="2400" dirty="0">
                <a:solidFill>
                  <a:srgbClr val="134F85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.</a:t>
            </a:r>
            <a:r>
              <a:rPr kumimoji="1" lang="zh-CN" altLang="en-US" sz="2400" dirty="0">
                <a:solidFill>
                  <a:srgbClr val="134F85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成员函数名</a:t>
            </a:r>
            <a:r>
              <a:rPr kumimoji="1" lang="en-US" altLang="zh-CN" sz="2400" dirty="0">
                <a:solidFill>
                  <a:srgbClr val="134F85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(</a:t>
            </a:r>
            <a:r>
              <a:rPr kumimoji="1" lang="zh-CN" altLang="en-US" sz="2400" dirty="0">
                <a:solidFill>
                  <a:srgbClr val="134F85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参数表</a:t>
            </a:r>
            <a:r>
              <a:rPr kumimoji="1" lang="en-US" altLang="zh-CN" sz="2400" dirty="0">
                <a:solidFill>
                  <a:srgbClr val="134F85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) ; 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kumimoji="1" lang="en-US" altLang="zh-CN" sz="2400" dirty="0">
                <a:solidFill>
                  <a:srgbClr val="134F85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	c1.setTime(0,0,0); </a:t>
            </a:r>
            <a:endParaRPr kumimoji="1" lang="en-US" altLang="zh-CN" sz="2400" b="0" dirty="0">
              <a:solidFill>
                <a:srgbClr val="134F85"/>
              </a:solidFill>
              <a:latin typeface="Comic Sans MS" panose="030F0702030302020204" pitchFamily="66" charset="0"/>
              <a:ea typeface="华光行书_CNKI" panose="02000500000000000000" pitchFamily="2" charset="-122"/>
            </a:endParaRP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kumimoji="1" lang="en-US" altLang="zh-CN" sz="2400" dirty="0">
                <a:solidFill>
                  <a:srgbClr val="134F85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	c1.showTime();</a:t>
            </a:r>
          </a:p>
        </p:txBody>
      </p:sp>
      <p:sp>
        <p:nvSpPr>
          <p:cNvPr id="15" name="Rectangle 10">
            <a:extLst>
              <a:ext uri="{FF2B5EF4-FFF2-40B4-BE49-F238E27FC236}">
                <a16:creationId xmlns:a16="http://schemas.microsoft.com/office/drawing/2014/main" id="{3F34CC12-C404-4455-A0AE-CE9569BEAF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06586" y="2652037"/>
            <a:ext cx="431485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Char char="o"/>
              <a:defRPr sz="32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o"/>
              <a:defRPr sz="24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n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 dirty="0">
                <a:solidFill>
                  <a:srgbClr val="134F85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//</a:t>
            </a:r>
            <a:r>
              <a:rPr kumimoji="1" lang="zh-CN" altLang="en-US" sz="2400" b="0" dirty="0">
                <a:solidFill>
                  <a:srgbClr val="134F85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私有成员类外不能访问</a:t>
            </a:r>
          </a:p>
        </p:txBody>
      </p:sp>
      <p:sp>
        <p:nvSpPr>
          <p:cNvPr id="16" name="AutoShape 11">
            <a:extLst>
              <a:ext uri="{FF2B5EF4-FFF2-40B4-BE49-F238E27FC236}">
                <a16:creationId xmlns:a16="http://schemas.microsoft.com/office/drawing/2014/main" id="{5C8BDAB1-D60D-4BDD-9BF1-763EA7041448}"/>
              </a:ext>
            </a:extLst>
          </p:cNvPr>
          <p:cNvSpPr>
            <a:spLocks/>
          </p:cNvSpPr>
          <p:nvPr/>
        </p:nvSpPr>
        <p:spPr bwMode="auto">
          <a:xfrm>
            <a:off x="4344219" y="970277"/>
            <a:ext cx="3384550" cy="792162"/>
          </a:xfrm>
          <a:prstGeom prst="borderCallout1">
            <a:avLst>
              <a:gd name="adj1" fmla="val 3260"/>
              <a:gd name="adj2" fmla="val 1236"/>
              <a:gd name="adj3" fmla="val 183982"/>
              <a:gd name="adj4" fmla="val -70619"/>
            </a:avLst>
          </a:prstGeom>
          <a:solidFill>
            <a:srgbClr val="FFFF99"/>
          </a:solidFill>
          <a:ln w="9525">
            <a:solidFill>
              <a:schemeClr val="accent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Char char="o"/>
              <a:defRPr sz="32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o"/>
              <a:defRPr sz="24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n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0" dirty="0">
                <a:solidFill>
                  <a:srgbClr val="134F85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对于对象成员的使用要用到“成员访问 运算符</a:t>
            </a:r>
          </a:p>
        </p:txBody>
      </p:sp>
      <p:pic>
        <p:nvPicPr>
          <p:cNvPr id="17" name="Picture 18">
            <a:extLst>
              <a:ext uri="{FF2B5EF4-FFF2-40B4-BE49-F238E27FC236}">
                <a16:creationId xmlns:a16="http://schemas.microsoft.com/office/drawing/2014/main" id="{83578734-8D01-4B25-934A-C3373F8227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02712" y="2191683"/>
            <a:ext cx="519112" cy="604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" name="Text Box 8">
            <a:extLst>
              <a:ext uri="{FF2B5EF4-FFF2-40B4-BE49-F238E27FC236}">
                <a16:creationId xmlns:a16="http://schemas.microsoft.com/office/drawing/2014/main" id="{BAB9E735-0A90-4C9C-A818-0E1A09FEA8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9088" y="4205963"/>
            <a:ext cx="10093273" cy="12317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Char char="o"/>
              <a:defRPr sz="32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o"/>
              <a:defRPr sz="24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n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30000"/>
              </a:spcBef>
              <a:buClr>
                <a:srgbClr val="CC0000"/>
              </a:buClr>
              <a:buFont typeface="Wingdings" panose="05000000000000000000" pitchFamily="2" charset="2"/>
              <a:buChar char="n"/>
            </a:pPr>
            <a:r>
              <a:rPr kumimoji="1" lang="zh-CN" altLang="en-US" sz="2800" dirty="0">
                <a:solidFill>
                  <a:srgbClr val="FF0000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类对象</a:t>
            </a:r>
            <a:r>
              <a:rPr kumimoji="1" lang="zh-CN" altLang="en-US" sz="2800" dirty="0">
                <a:solidFill>
                  <a:srgbClr val="134F85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只允许访问公有性质的成员</a:t>
            </a:r>
            <a:r>
              <a:rPr kumimoji="1" lang="en-US" altLang="zh-CN" sz="2800" dirty="0">
                <a:solidFill>
                  <a:srgbClr val="134F85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,</a:t>
            </a:r>
            <a:r>
              <a:rPr kumimoji="1" lang="zh-CN" altLang="en-US" sz="2800" dirty="0">
                <a:solidFill>
                  <a:srgbClr val="134F85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这体现了类的封装功能。</a:t>
            </a:r>
            <a:endParaRPr kumimoji="1" lang="en-US" altLang="zh-CN" sz="2800" dirty="0">
              <a:solidFill>
                <a:srgbClr val="134F85"/>
              </a:solidFill>
              <a:latin typeface="Comic Sans MS" panose="030F0702030302020204" pitchFamily="66" charset="0"/>
              <a:ea typeface="华光行书_CNKI" panose="02000500000000000000" pitchFamily="2" charset="-122"/>
            </a:endParaRPr>
          </a:p>
          <a:p>
            <a:pPr eaLnBrk="1" hangingPunct="1">
              <a:lnSpc>
                <a:spcPct val="120000"/>
              </a:lnSpc>
              <a:spcBef>
                <a:spcPct val="30000"/>
              </a:spcBef>
              <a:buClr>
                <a:srgbClr val="CC0000"/>
              </a:buClr>
              <a:buFont typeface="Wingdings" panose="05000000000000000000" pitchFamily="2" charset="2"/>
              <a:buChar char="n"/>
            </a:pPr>
            <a:r>
              <a:rPr kumimoji="1" lang="zh-CN" altLang="en-US" sz="2800" dirty="0">
                <a:solidFill>
                  <a:srgbClr val="FF0000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类成员</a:t>
            </a:r>
            <a:r>
              <a:rPr kumimoji="1" lang="zh-CN" altLang="en-US" sz="2800" dirty="0">
                <a:solidFill>
                  <a:srgbClr val="134F85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可以访问该类的其他成员。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75D7036D-B4FB-462A-AC0C-57CE1138A097}"/>
              </a:ext>
            </a:extLst>
          </p:cNvPr>
          <p:cNvSpPr txBox="1"/>
          <p:nvPr/>
        </p:nvSpPr>
        <p:spPr>
          <a:xfrm>
            <a:off x="247719" y="224527"/>
            <a:ext cx="802877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kumimoji="1" sz="3200" b="1">
                <a:latin typeface="华光胖头鱼_CNKI" panose="02000500000000000000" pitchFamily="2" charset="-122"/>
                <a:ea typeface="华光胖头鱼_CNKI" panose="02000500000000000000" pitchFamily="2" charset="-122"/>
              </a:defRPr>
            </a:lvl1pPr>
          </a:lstStyle>
          <a:p>
            <a:r>
              <a:rPr lang="en-US" altLang="zh-CN" dirty="0"/>
              <a:t>7.2</a:t>
            </a:r>
            <a:r>
              <a:rPr lang="zh-CN" altLang="en-US" dirty="0"/>
              <a:t>类与对象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20FF4617-386F-4564-B82C-AFEBE6653327}"/>
              </a:ext>
            </a:extLst>
          </p:cNvPr>
          <p:cNvSpPr txBox="1"/>
          <p:nvPr/>
        </p:nvSpPr>
        <p:spPr>
          <a:xfrm>
            <a:off x="8606586" y="2211612"/>
            <a:ext cx="273582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 sz="2400" dirty="0">
                <a:solidFill>
                  <a:srgbClr val="134F85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 c1.hour = 12;</a:t>
            </a:r>
            <a:endParaRPr lang="zh-CN" altLang="en-US" dirty="0"/>
          </a:p>
        </p:txBody>
      </p:sp>
      <p:sp>
        <p:nvSpPr>
          <p:cNvPr id="13" name="Text Box 12">
            <a:extLst>
              <a:ext uri="{FF2B5EF4-FFF2-40B4-BE49-F238E27FC236}">
                <a16:creationId xmlns:a16="http://schemas.microsoft.com/office/drawing/2014/main" id="{20B96D6E-48EB-4E49-A564-BDEA3D96B4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40131" y="5480873"/>
            <a:ext cx="7472721" cy="1200329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SzPct val="70000"/>
              <a:buFont typeface="Wingdings" pitchFamily="2" charset="2"/>
              <a:buChar char="o"/>
              <a:defRPr sz="32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n"/>
              <a:defRPr sz="28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o"/>
              <a:defRPr sz="24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n"/>
              <a:defRPr sz="20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ts val="0"/>
              </a:spcBef>
              <a:buClrTx/>
              <a:buSzTx/>
              <a:buFontTx/>
              <a:buNone/>
              <a:defRPr/>
            </a:pPr>
            <a:r>
              <a:rPr lang="en-US" altLang="zh-CN" sz="2400" dirty="0">
                <a:solidFill>
                  <a:srgbClr val="134F85"/>
                </a:solidFill>
                <a:latin typeface="+mn-lt"/>
                <a:ea typeface="黑体" panose="02010609060101010101" pitchFamily="49" charset="-122"/>
              </a:rPr>
              <a:t>void </a:t>
            </a:r>
            <a:r>
              <a:rPr lang="en-US" altLang="zh-CN" sz="2400" b="1" dirty="0">
                <a:solidFill>
                  <a:srgbClr val="FF0000"/>
                </a:solidFill>
                <a:ea typeface="黑体" panose="02010609060101010101" pitchFamily="49" charset="-122"/>
              </a:rPr>
              <a:t>Clock::</a:t>
            </a:r>
            <a:r>
              <a:rPr lang="en-US" altLang="zh-CN" sz="2400" dirty="0" err="1">
                <a:solidFill>
                  <a:srgbClr val="134F85"/>
                </a:solidFill>
                <a:latin typeface="+mn-lt"/>
                <a:ea typeface="黑体" panose="02010609060101010101" pitchFamily="49" charset="-122"/>
              </a:rPr>
              <a:t>showTime</a:t>
            </a:r>
            <a:r>
              <a:rPr lang="en-US" altLang="zh-CN" sz="2400" dirty="0">
                <a:solidFill>
                  <a:srgbClr val="134F85"/>
                </a:solidFill>
                <a:latin typeface="+mn-lt"/>
                <a:ea typeface="黑体" panose="02010609060101010101" pitchFamily="49" charset="-122"/>
              </a:rPr>
              <a:t>(){</a:t>
            </a:r>
          </a:p>
          <a:p>
            <a:pPr eaLnBrk="1" hangingPunct="1">
              <a:spcBef>
                <a:spcPts val="0"/>
              </a:spcBef>
              <a:buClrTx/>
              <a:buSzTx/>
              <a:buFontTx/>
              <a:buNone/>
              <a:defRPr/>
            </a:pPr>
            <a:r>
              <a:rPr lang="en-US" altLang="zh-CN" sz="2400" dirty="0">
                <a:solidFill>
                  <a:srgbClr val="134F85"/>
                </a:solidFill>
                <a:latin typeface="+mn-lt"/>
                <a:ea typeface="黑体" panose="02010609060101010101" pitchFamily="49" charset="-122"/>
              </a:rPr>
              <a:t>  </a:t>
            </a:r>
            <a:r>
              <a:rPr lang="en-US" altLang="zh-CN" sz="2400" dirty="0" err="1">
                <a:solidFill>
                  <a:srgbClr val="134F85"/>
                </a:solidFill>
                <a:latin typeface="+mn-lt"/>
                <a:ea typeface="黑体" panose="02010609060101010101" pitchFamily="49" charset="-122"/>
              </a:rPr>
              <a:t>cout</a:t>
            </a:r>
            <a:r>
              <a:rPr lang="en-US" altLang="zh-CN" sz="2400" dirty="0">
                <a:solidFill>
                  <a:srgbClr val="134F85"/>
                </a:solidFill>
                <a:latin typeface="+mn-lt"/>
                <a:ea typeface="黑体" panose="02010609060101010101" pitchFamily="49" charset="-122"/>
              </a:rPr>
              <a:t>&lt;&lt;hour&lt;&lt;":"&lt;&lt;minute&lt;&lt;":"&lt;&lt;second&lt;&lt;</a:t>
            </a:r>
            <a:r>
              <a:rPr lang="en-US" altLang="zh-CN" sz="2400" dirty="0" err="1">
                <a:solidFill>
                  <a:srgbClr val="134F85"/>
                </a:solidFill>
                <a:latin typeface="+mn-lt"/>
                <a:ea typeface="黑体" panose="02010609060101010101" pitchFamily="49" charset="-122"/>
              </a:rPr>
              <a:t>endl</a:t>
            </a:r>
            <a:r>
              <a:rPr lang="en-US" altLang="zh-CN" sz="2400" dirty="0">
                <a:solidFill>
                  <a:srgbClr val="134F85"/>
                </a:solidFill>
                <a:latin typeface="+mn-lt"/>
                <a:ea typeface="黑体" panose="02010609060101010101" pitchFamily="49" charset="-122"/>
              </a:rPr>
              <a:t>;</a:t>
            </a:r>
          </a:p>
          <a:p>
            <a:pPr eaLnBrk="1" hangingPunct="1">
              <a:spcBef>
                <a:spcPts val="0"/>
              </a:spcBef>
              <a:buClrTx/>
              <a:buSzTx/>
              <a:buFontTx/>
              <a:buNone/>
              <a:defRPr/>
            </a:pPr>
            <a:r>
              <a:rPr lang="en-US" altLang="zh-CN" sz="2400" dirty="0">
                <a:solidFill>
                  <a:srgbClr val="134F85"/>
                </a:solidFill>
                <a:latin typeface="+mn-lt"/>
                <a:ea typeface="黑体" panose="02010609060101010101" pitchFamily="49" charset="-122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2007731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500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5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500"/>
                            </p:stCondLst>
                            <p:childTnLst>
                              <p:par>
                                <p:cTn id="50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2" dur="500"/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 animBg="1" autoUpdateAnimBg="0"/>
      <p:bldP spid="20" grpId="0"/>
      <p:bldP spid="13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8D768E76-F61A-4F60-998E-F440AB4D7B99}"/>
              </a:ext>
            </a:extLst>
          </p:cNvPr>
          <p:cNvSpPr/>
          <p:nvPr/>
        </p:nvSpPr>
        <p:spPr>
          <a:xfrm>
            <a:off x="794" y="176798"/>
            <a:ext cx="12190413" cy="728917"/>
          </a:xfrm>
          <a:prstGeom prst="rect">
            <a:avLst/>
          </a:prstGeom>
          <a:solidFill>
            <a:srgbClr val="26CC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3200"/>
          </a:p>
        </p:txBody>
      </p:sp>
      <p:cxnSp>
        <p:nvCxnSpPr>
          <p:cNvPr id="7" name="直线连接符 6">
            <a:extLst>
              <a:ext uri="{FF2B5EF4-FFF2-40B4-BE49-F238E27FC236}">
                <a16:creationId xmlns:a16="http://schemas.microsoft.com/office/drawing/2014/main" id="{B219F298-1C08-49C8-AF7D-CCAFD5B99670}"/>
              </a:ext>
            </a:extLst>
          </p:cNvPr>
          <p:cNvCxnSpPr/>
          <p:nvPr/>
        </p:nvCxnSpPr>
        <p:spPr>
          <a:xfrm>
            <a:off x="1587" y="905715"/>
            <a:ext cx="12190413" cy="0"/>
          </a:xfrm>
          <a:prstGeom prst="line">
            <a:avLst/>
          </a:prstGeom>
          <a:ln>
            <a:solidFill>
              <a:srgbClr val="104D7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25">
            <a:extLst>
              <a:ext uri="{FF2B5EF4-FFF2-40B4-BE49-F238E27FC236}">
                <a16:creationId xmlns:a16="http://schemas.microsoft.com/office/drawing/2014/main" id="{F2CCAD44-B135-464E-8AC0-E760E79E09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72213" y="974250"/>
            <a:ext cx="3298723" cy="411805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SzPct val="70000"/>
              <a:buFont typeface="Wingdings" pitchFamily="2" charset="2"/>
              <a:buChar char="o"/>
              <a:defRPr sz="32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n"/>
              <a:defRPr sz="28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o"/>
              <a:defRPr sz="24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n"/>
              <a:defRPr sz="20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en-US" altLang="zh-CN" sz="2400" b="0" dirty="0">
                <a:solidFill>
                  <a:srgbClr val="134F85"/>
                </a:solidFill>
                <a:latin typeface="+mj-lt"/>
                <a:ea typeface="宋体" pitchFamily="2" charset="-122"/>
              </a:rPr>
              <a:t>int main(){</a:t>
            </a:r>
          </a:p>
          <a:p>
            <a:pPr eaLnBrk="1" hangingPunct="1">
              <a:buFont typeface="Wingdings" pitchFamily="2" charset="2"/>
              <a:buNone/>
              <a:defRPr/>
            </a:pPr>
            <a:r>
              <a:rPr kumimoji="1" lang="en-US" altLang="zh-CN" sz="2400" b="0" dirty="0">
                <a:solidFill>
                  <a:srgbClr val="134F85"/>
                </a:solidFill>
                <a:latin typeface="+mj-lt"/>
                <a:ea typeface="宋体" pitchFamily="2" charset="-122"/>
              </a:rPr>
              <a:t>Clock  c1,c2;</a:t>
            </a:r>
          </a:p>
          <a:p>
            <a:pPr eaLnBrk="1" hangingPunct="1">
              <a:buFont typeface="Wingdings" pitchFamily="2" charset="2"/>
              <a:buNone/>
              <a:defRPr/>
            </a:pPr>
            <a:r>
              <a:rPr kumimoji="1" lang="en-US" altLang="zh-CN" sz="2400" b="0" dirty="0">
                <a:solidFill>
                  <a:srgbClr val="134F85"/>
                </a:solidFill>
                <a:latin typeface="+mj-lt"/>
                <a:ea typeface="宋体" pitchFamily="2" charset="-122"/>
              </a:rPr>
              <a:t>c1.setTime(12,0,0);</a:t>
            </a:r>
            <a:endParaRPr kumimoji="1" lang="zh-CN" altLang="en-US" sz="2400" b="0" dirty="0">
              <a:solidFill>
                <a:srgbClr val="134F85"/>
              </a:solidFill>
              <a:latin typeface="+mj-lt"/>
              <a:ea typeface="宋体" pitchFamily="2" charset="-122"/>
            </a:endParaRPr>
          </a:p>
          <a:p>
            <a:pPr eaLnBrk="1" hangingPunct="1">
              <a:spcBef>
                <a:spcPct val="50000"/>
              </a:spcBef>
              <a:buClrTx/>
              <a:buSzTx/>
              <a:buFont typeface="Wingdings" pitchFamily="2" charset="2"/>
              <a:buNone/>
              <a:defRPr/>
            </a:pPr>
            <a:r>
              <a:rPr kumimoji="1" lang="en-US" altLang="zh-CN" sz="2400" b="0" dirty="0">
                <a:solidFill>
                  <a:srgbClr val="134F85"/>
                </a:solidFill>
                <a:latin typeface="+mj-lt"/>
                <a:ea typeface="宋体" pitchFamily="2" charset="-122"/>
              </a:rPr>
              <a:t>c1.showTime();</a:t>
            </a:r>
          </a:p>
          <a:p>
            <a:pPr eaLnBrk="1" hangingPunct="1">
              <a:spcBef>
                <a:spcPct val="50000"/>
              </a:spcBef>
              <a:buClrTx/>
              <a:buSzTx/>
              <a:buFont typeface="Wingdings" pitchFamily="2" charset="2"/>
              <a:buNone/>
              <a:defRPr/>
            </a:pPr>
            <a:r>
              <a:rPr kumimoji="1" lang="en-US" altLang="zh-CN" sz="2400" b="0" dirty="0">
                <a:solidFill>
                  <a:srgbClr val="134F85"/>
                </a:solidFill>
                <a:latin typeface="+mj-lt"/>
                <a:ea typeface="宋体" pitchFamily="2" charset="-122"/>
              </a:rPr>
              <a:t>c2</a:t>
            </a:r>
            <a:r>
              <a:rPr kumimoji="1" lang="zh-CN" altLang="en-US" sz="2400" dirty="0">
                <a:solidFill>
                  <a:srgbClr val="134F85"/>
                </a:solidFill>
                <a:latin typeface="+mj-lt"/>
                <a:ea typeface="宋体" pitchFamily="2" charset="-122"/>
              </a:rPr>
              <a:t> </a:t>
            </a:r>
            <a:r>
              <a:rPr kumimoji="1" lang="en-US" altLang="zh-CN" sz="2400" dirty="0">
                <a:solidFill>
                  <a:srgbClr val="134F85"/>
                </a:solidFill>
                <a:latin typeface="+mj-lt"/>
                <a:ea typeface="宋体" pitchFamily="2" charset="-122"/>
              </a:rPr>
              <a:t>= c1</a:t>
            </a:r>
            <a:r>
              <a:rPr kumimoji="1" lang="en-US" altLang="zh-CN" sz="2400" b="0" dirty="0">
                <a:solidFill>
                  <a:srgbClr val="134F85"/>
                </a:solidFill>
                <a:latin typeface="+mj-lt"/>
                <a:ea typeface="宋体" pitchFamily="2" charset="-122"/>
              </a:rPr>
              <a:t> ;</a:t>
            </a:r>
            <a:endParaRPr kumimoji="1" lang="zh-CN" altLang="en-US" sz="2400" b="0" dirty="0">
              <a:solidFill>
                <a:srgbClr val="134F85"/>
              </a:solidFill>
              <a:latin typeface="+mj-lt"/>
              <a:ea typeface="宋体" pitchFamily="2" charset="-122"/>
            </a:endParaRPr>
          </a:p>
          <a:p>
            <a:pPr eaLnBrk="1" hangingPunct="1">
              <a:spcBef>
                <a:spcPct val="50000"/>
              </a:spcBef>
              <a:buClrTx/>
              <a:buSzTx/>
              <a:buFont typeface="Wingdings" pitchFamily="2" charset="2"/>
              <a:buNone/>
              <a:defRPr/>
            </a:pPr>
            <a:r>
              <a:rPr kumimoji="1" lang="en-US" altLang="zh-CN" sz="2400" b="0" dirty="0">
                <a:solidFill>
                  <a:srgbClr val="134F85"/>
                </a:solidFill>
                <a:latin typeface="+mj-lt"/>
                <a:ea typeface="宋体" pitchFamily="2" charset="-122"/>
              </a:rPr>
              <a:t>c2.showTime();</a:t>
            </a:r>
            <a:endParaRPr kumimoji="1" lang="zh-CN" altLang="en-US" sz="2400" b="0" dirty="0">
              <a:solidFill>
                <a:srgbClr val="134F85"/>
              </a:solidFill>
              <a:latin typeface="+mj-lt"/>
              <a:ea typeface="宋体" pitchFamily="2" charset="-122"/>
            </a:endParaRP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en-US" altLang="zh-CN" sz="2400" b="0" dirty="0">
                <a:solidFill>
                  <a:srgbClr val="134F85"/>
                </a:solidFill>
                <a:latin typeface="+mj-lt"/>
                <a:ea typeface="宋体" pitchFamily="2" charset="-122"/>
              </a:rPr>
              <a:t>return 0;	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en-US" altLang="zh-CN" sz="2400" b="0" dirty="0">
                <a:solidFill>
                  <a:srgbClr val="134F85"/>
                </a:solidFill>
                <a:latin typeface="+mj-lt"/>
                <a:ea typeface="宋体" pitchFamily="2" charset="-122"/>
              </a:rPr>
              <a:t>}</a:t>
            </a:r>
          </a:p>
        </p:txBody>
      </p:sp>
      <p:sp>
        <p:nvSpPr>
          <p:cNvPr id="10" name="Text Box 12">
            <a:extLst>
              <a:ext uri="{FF2B5EF4-FFF2-40B4-BE49-F238E27FC236}">
                <a16:creationId xmlns:a16="http://schemas.microsoft.com/office/drawing/2014/main" id="{1AB9A2F3-3040-4D9C-A959-4AD166596E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1053535"/>
            <a:ext cx="7219950" cy="2417762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SzPct val="70000"/>
              <a:buFont typeface="Wingdings" pitchFamily="2" charset="2"/>
              <a:buChar char="o"/>
              <a:defRPr sz="32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n"/>
              <a:defRPr sz="28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o"/>
              <a:defRPr sz="24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n"/>
              <a:defRPr sz="20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ts val="0"/>
              </a:spcBef>
              <a:buClrTx/>
              <a:buSzTx/>
              <a:buFontTx/>
              <a:buNone/>
              <a:defRPr/>
            </a:pPr>
            <a:r>
              <a:rPr lang="en-US" altLang="zh-CN" sz="2400" dirty="0">
                <a:solidFill>
                  <a:srgbClr val="134F85"/>
                </a:solidFill>
                <a:latin typeface="+mn-lt"/>
                <a:ea typeface="黑体" panose="02010609060101010101" pitchFamily="49" charset="-122"/>
              </a:rPr>
              <a:t>class Clock{</a:t>
            </a:r>
          </a:p>
          <a:p>
            <a:pPr eaLnBrk="1" hangingPunct="1">
              <a:lnSpc>
                <a:spcPct val="90000"/>
              </a:lnSpc>
              <a:spcBef>
                <a:spcPts val="0"/>
              </a:spcBef>
              <a:buClrTx/>
              <a:buSzTx/>
              <a:buFontTx/>
              <a:buNone/>
              <a:defRPr/>
            </a:pPr>
            <a:r>
              <a:rPr lang="en-US" altLang="zh-CN" sz="2400" dirty="0">
                <a:solidFill>
                  <a:srgbClr val="134F85"/>
                </a:solidFill>
                <a:latin typeface="+mn-lt"/>
                <a:ea typeface="黑体" panose="02010609060101010101" pitchFamily="49" charset="-122"/>
              </a:rPr>
              <a:t>public: </a:t>
            </a:r>
          </a:p>
          <a:p>
            <a:pPr eaLnBrk="1" hangingPunct="1">
              <a:lnSpc>
                <a:spcPct val="90000"/>
              </a:lnSpc>
              <a:spcBef>
                <a:spcPts val="0"/>
              </a:spcBef>
              <a:buClrTx/>
              <a:buSzTx/>
              <a:buFontTx/>
              <a:buNone/>
              <a:defRPr/>
            </a:pPr>
            <a:r>
              <a:rPr lang="en-US" altLang="zh-CN" sz="2400" dirty="0">
                <a:solidFill>
                  <a:srgbClr val="134F85"/>
                </a:solidFill>
                <a:latin typeface="+mn-lt"/>
                <a:ea typeface="黑体" panose="02010609060101010101" pitchFamily="49" charset="-122"/>
              </a:rPr>
              <a:t>          void </a:t>
            </a:r>
            <a:r>
              <a:rPr lang="en-US" altLang="zh-CN" sz="2400" dirty="0" err="1">
                <a:solidFill>
                  <a:srgbClr val="134F85"/>
                </a:solidFill>
                <a:ea typeface="黑体" panose="02010609060101010101" pitchFamily="49" charset="-122"/>
              </a:rPr>
              <a:t>setTime</a:t>
            </a:r>
            <a:r>
              <a:rPr lang="en-US" altLang="zh-CN" sz="2400" dirty="0">
                <a:solidFill>
                  <a:srgbClr val="134F85"/>
                </a:solidFill>
                <a:ea typeface="黑体" panose="02010609060101010101" pitchFamily="49" charset="-122"/>
              </a:rPr>
              <a:t>(</a:t>
            </a:r>
            <a:r>
              <a:rPr lang="en-US" altLang="zh-CN" sz="2400" dirty="0" err="1">
                <a:solidFill>
                  <a:srgbClr val="134F85"/>
                </a:solidFill>
                <a:ea typeface="黑体" panose="02010609060101010101" pitchFamily="49" charset="-122"/>
              </a:rPr>
              <a:t>int</a:t>
            </a:r>
            <a:r>
              <a:rPr lang="en-US" altLang="zh-CN" sz="2400" dirty="0">
                <a:solidFill>
                  <a:srgbClr val="134F85"/>
                </a:solidFill>
                <a:ea typeface="黑体" panose="02010609060101010101" pitchFamily="49" charset="-122"/>
              </a:rPr>
              <a:t> </a:t>
            </a:r>
            <a:r>
              <a:rPr lang="en-US" altLang="zh-CN" sz="2400" dirty="0" err="1">
                <a:solidFill>
                  <a:srgbClr val="134F85"/>
                </a:solidFill>
                <a:ea typeface="黑体" panose="02010609060101010101" pitchFamily="49" charset="-122"/>
              </a:rPr>
              <a:t>newH</a:t>
            </a:r>
            <a:r>
              <a:rPr lang="en-US" altLang="zh-CN" sz="2400" dirty="0">
                <a:solidFill>
                  <a:srgbClr val="134F85"/>
                </a:solidFill>
                <a:ea typeface="黑体" panose="02010609060101010101" pitchFamily="49" charset="-122"/>
              </a:rPr>
              <a:t>, </a:t>
            </a:r>
            <a:r>
              <a:rPr lang="en-US" altLang="zh-CN" sz="2400" dirty="0" err="1">
                <a:solidFill>
                  <a:srgbClr val="134F85"/>
                </a:solidFill>
                <a:ea typeface="黑体" panose="02010609060101010101" pitchFamily="49" charset="-122"/>
              </a:rPr>
              <a:t>int</a:t>
            </a:r>
            <a:r>
              <a:rPr lang="en-US" altLang="zh-CN" sz="2400" dirty="0">
                <a:solidFill>
                  <a:srgbClr val="134F85"/>
                </a:solidFill>
                <a:ea typeface="黑体" panose="02010609060101010101" pitchFamily="49" charset="-122"/>
              </a:rPr>
              <a:t> </a:t>
            </a:r>
            <a:r>
              <a:rPr lang="en-US" altLang="zh-CN" sz="2400" dirty="0" err="1">
                <a:solidFill>
                  <a:srgbClr val="134F85"/>
                </a:solidFill>
                <a:ea typeface="黑体" panose="02010609060101010101" pitchFamily="49" charset="-122"/>
              </a:rPr>
              <a:t>newM</a:t>
            </a:r>
            <a:r>
              <a:rPr lang="en-US" altLang="zh-CN" sz="2400" dirty="0">
                <a:solidFill>
                  <a:srgbClr val="134F85"/>
                </a:solidFill>
                <a:ea typeface="黑体" panose="02010609060101010101" pitchFamily="49" charset="-122"/>
              </a:rPr>
              <a:t>, </a:t>
            </a:r>
            <a:r>
              <a:rPr lang="en-US" altLang="zh-CN" sz="2400" dirty="0" err="1">
                <a:solidFill>
                  <a:srgbClr val="134F85"/>
                </a:solidFill>
                <a:ea typeface="黑体" panose="02010609060101010101" pitchFamily="49" charset="-122"/>
              </a:rPr>
              <a:t>int</a:t>
            </a:r>
            <a:r>
              <a:rPr lang="en-US" altLang="zh-CN" sz="2400" dirty="0">
                <a:solidFill>
                  <a:srgbClr val="134F85"/>
                </a:solidFill>
                <a:ea typeface="黑体" panose="02010609060101010101" pitchFamily="49" charset="-122"/>
              </a:rPr>
              <a:t> </a:t>
            </a:r>
            <a:r>
              <a:rPr lang="en-US" altLang="zh-CN" sz="2400" dirty="0" err="1">
                <a:solidFill>
                  <a:srgbClr val="134F85"/>
                </a:solidFill>
                <a:ea typeface="黑体" panose="02010609060101010101" pitchFamily="49" charset="-122"/>
              </a:rPr>
              <a:t>newS</a:t>
            </a:r>
            <a:r>
              <a:rPr lang="en-US" altLang="zh-CN" sz="2400" dirty="0">
                <a:solidFill>
                  <a:srgbClr val="134F85"/>
                </a:solidFill>
                <a:latin typeface="+mn-lt"/>
                <a:ea typeface="黑体" panose="02010609060101010101" pitchFamily="49" charset="-122"/>
              </a:rPr>
              <a:t>);</a:t>
            </a:r>
          </a:p>
          <a:p>
            <a:pPr eaLnBrk="1" hangingPunct="1">
              <a:lnSpc>
                <a:spcPct val="90000"/>
              </a:lnSpc>
              <a:spcBef>
                <a:spcPts val="0"/>
              </a:spcBef>
              <a:buClrTx/>
              <a:buSzTx/>
              <a:buFontTx/>
              <a:buNone/>
              <a:defRPr/>
            </a:pPr>
            <a:r>
              <a:rPr lang="en-US" altLang="zh-CN" sz="2400" dirty="0">
                <a:solidFill>
                  <a:srgbClr val="134F85"/>
                </a:solidFill>
                <a:latin typeface="+mn-lt"/>
                <a:ea typeface="黑体" panose="02010609060101010101" pitchFamily="49" charset="-122"/>
              </a:rPr>
              <a:t>          void </a:t>
            </a:r>
            <a:r>
              <a:rPr lang="en-US" altLang="zh-CN" sz="2400" dirty="0" err="1">
                <a:solidFill>
                  <a:srgbClr val="134F85"/>
                </a:solidFill>
                <a:latin typeface="+mn-lt"/>
                <a:ea typeface="黑体" panose="02010609060101010101" pitchFamily="49" charset="-122"/>
              </a:rPr>
              <a:t>showTime</a:t>
            </a:r>
            <a:r>
              <a:rPr lang="en-US" altLang="zh-CN" sz="2400" dirty="0">
                <a:solidFill>
                  <a:srgbClr val="134F85"/>
                </a:solidFill>
                <a:latin typeface="+mn-lt"/>
                <a:ea typeface="黑体" panose="02010609060101010101" pitchFamily="49" charset="-122"/>
              </a:rPr>
              <a:t>();</a:t>
            </a:r>
          </a:p>
          <a:p>
            <a:pPr eaLnBrk="1" hangingPunct="1">
              <a:lnSpc>
                <a:spcPct val="90000"/>
              </a:lnSpc>
              <a:spcBef>
                <a:spcPts val="0"/>
              </a:spcBef>
              <a:buClrTx/>
              <a:buSzTx/>
              <a:buFontTx/>
              <a:buNone/>
              <a:defRPr/>
            </a:pPr>
            <a:r>
              <a:rPr lang="en-US" altLang="zh-CN" sz="2400" dirty="0">
                <a:solidFill>
                  <a:srgbClr val="134F85"/>
                </a:solidFill>
                <a:latin typeface="+mn-lt"/>
                <a:ea typeface="黑体" panose="02010609060101010101" pitchFamily="49" charset="-122"/>
              </a:rPr>
              <a:t>private:</a:t>
            </a:r>
          </a:p>
          <a:p>
            <a:pPr eaLnBrk="1" hangingPunct="1">
              <a:lnSpc>
                <a:spcPct val="90000"/>
              </a:lnSpc>
              <a:spcBef>
                <a:spcPts val="0"/>
              </a:spcBef>
              <a:buClrTx/>
              <a:buSzTx/>
              <a:buFontTx/>
              <a:buNone/>
              <a:defRPr/>
            </a:pPr>
            <a:r>
              <a:rPr lang="en-US" altLang="zh-CN" sz="2400" dirty="0">
                <a:solidFill>
                  <a:srgbClr val="134F85"/>
                </a:solidFill>
                <a:latin typeface="+mn-lt"/>
                <a:ea typeface="黑体" panose="02010609060101010101" pitchFamily="49" charset="-122"/>
              </a:rPr>
              <a:t>           </a:t>
            </a:r>
            <a:r>
              <a:rPr lang="en-US" altLang="zh-CN" sz="2400" dirty="0" err="1">
                <a:solidFill>
                  <a:srgbClr val="134F85"/>
                </a:solidFill>
                <a:latin typeface="+mn-lt"/>
                <a:ea typeface="黑体" panose="02010609060101010101" pitchFamily="49" charset="-122"/>
              </a:rPr>
              <a:t>int</a:t>
            </a:r>
            <a:r>
              <a:rPr lang="en-US" altLang="zh-CN" sz="2400" dirty="0">
                <a:solidFill>
                  <a:srgbClr val="134F85"/>
                </a:solidFill>
                <a:latin typeface="+mn-lt"/>
                <a:ea typeface="黑体" panose="02010609060101010101" pitchFamily="49" charset="-122"/>
              </a:rPr>
              <a:t> </a:t>
            </a:r>
            <a:r>
              <a:rPr lang="en-US" altLang="zh-CN" sz="2400" dirty="0">
                <a:solidFill>
                  <a:srgbClr val="134F85"/>
                </a:solidFill>
                <a:ea typeface="黑体" panose="02010609060101010101" pitchFamily="49" charset="-122"/>
              </a:rPr>
              <a:t>hour, minute, second;</a:t>
            </a:r>
            <a:endParaRPr lang="en-US" altLang="zh-CN" sz="2400" dirty="0">
              <a:solidFill>
                <a:srgbClr val="134F85"/>
              </a:solidFill>
              <a:latin typeface="+mn-lt"/>
              <a:ea typeface="黑体" panose="02010609060101010101" pitchFamily="49" charset="-122"/>
            </a:endParaRPr>
          </a:p>
          <a:p>
            <a:pPr eaLnBrk="1" hangingPunct="1">
              <a:lnSpc>
                <a:spcPct val="90000"/>
              </a:lnSpc>
              <a:spcBef>
                <a:spcPts val="0"/>
              </a:spcBef>
              <a:buClrTx/>
              <a:buSzTx/>
              <a:buFontTx/>
              <a:buNone/>
              <a:defRPr/>
            </a:pPr>
            <a:r>
              <a:rPr lang="en-US" altLang="zh-CN" sz="2400" dirty="0">
                <a:solidFill>
                  <a:srgbClr val="134F85"/>
                </a:solidFill>
                <a:latin typeface="+mn-lt"/>
                <a:ea typeface="黑体" panose="02010609060101010101" pitchFamily="49" charset="-122"/>
              </a:rPr>
              <a:t>};</a:t>
            </a:r>
          </a:p>
        </p:txBody>
      </p:sp>
      <p:sp>
        <p:nvSpPr>
          <p:cNvPr id="11" name="Text Box 12">
            <a:extLst>
              <a:ext uri="{FF2B5EF4-FFF2-40B4-BE49-F238E27FC236}">
                <a16:creationId xmlns:a16="http://schemas.microsoft.com/office/drawing/2014/main" id="{52C5431E-6638-4A5D-A268-FD393C6EED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064" y="3707960"/>
            <a:ext cx="7017800" cy="193833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SzPct val="70000"/>
              <a:buFont typeface="Wingdings" pitchFamily="2" charset="2"/>
              <a:buChar char="o"/>
              <a:defRPr sz="32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n"/>
              <a:defRPr sz="28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o"/>
              <a:defRPr sz="24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n"/>
              <a:defRPr sz="20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ts val="0"/>
              </a:spcBef>
              <a:buClrTx/>
              <a:buSzTx/>
              <a:buFontTx/>
              <a:buNone/>
              <a:defRPr/>
            </a:pPr>
            <a:r>
              <a:rPr lang="en-US" altLang="zh-CN" sz="2400" dirty="0">
                <a:solidFill>
                  <a:srgbClr val="134F85"/>
                </a:solidFill>
                <a:latin typeface="+mn-lt"/>
                <a:ea typeface="黑体" panose="02010609060101010101" pitchFamily="49" charset="-122"/>
              </a:rPr>
              <a:t>void </a:t>
            </a:r>
            <a:r>
              <a:rPr lang="en-US" altLang="zh-CN" sz="2400" b="1" dirty="0">
                <a:solidFill>
                  <a:srgbClr val="FF0000"/>
                </a:solidFill>
                <a:ea typeface="黑体" panose="02010609060101010101" pitchFamily="49" charset="-122"/>
              </a:rPr>
              <a:t>Clock::</a:t>
            </a:r>
            <a:r>
              <a:rPr lang="en-US" altLang="zh-CN" sz="2400" dirty="0" err="1">
                <a:solidFill>
                  <a:srgbClr val="134F85"/>
                </a:solidFill>
                <a:latin typeface="+mn-lt"/>
                <a:ea typeface="黑体" panose="02010609060101010101" pitchFamily="49" charset="-122"/>
              </a:rPr>
              <a:t>setTime</a:t>
            </a:r>
            <a:r>
              <a:rPr lang="en-US" altLang="zh-CN" sz="2400" dirty="0">
                <a:solidFill>
                  <a:srgbClr val="134F85"/>
                </a:solidFill>
                <a:latin typeface="+mn-lt"/>
                <a:ea typeface="黑体" panose="02010609060101010101" pitchFamily="49" charset="-122"/>
              </a:rPr>
              <a:t>(</a:t>
            </a:r>
            <a:r>
              <a:rPr lang="en-US" altLang="zh-CN" sz="2400" dirty="0" err="1">
                <a:solidFill>
                  <a:srgbClr val="134F85"/>
                </a:solidFill>
                <a:ea typeface="黑体" panose="02010609060101010101" pitchFamily="49" charset="-122"/>
              </a:rPr>
              <a:t>int</a:t>
            </a:r>
            <a:r>
              <a:rPr lang="en-US" altLang="zh-CN" sz="2400" dirty="0">
                <a:solidFill>
                  <a:srgbClr val="134F85"/>
                </a:solidFill>
                <a:ea typeface="黑体" panose="02010609060101010101" pitchFamily="49" charset="-122"/>
              </a:rPr>
              <a:t> </a:t>
            </a:r>
            <a:r>
              <a:rPr lang="en-US" altLang="zh-CN" sz="2400" dirty="0" err="1">
                <a:solidFill>
                  <a:srgbClr val="134F85"/>
                </a:solidFill>
                <a:ea typeface="黑体" panose="02010609060101010101" pitchFamily="49" charset="-122"/>
              </a:rPr>
              <a:t>newH</a:t>
            </a:r>
            <a:r>
              <a:rPr lang="en-US" altLang="zh-CN" sz="2400" dirty="0">
                <a:solidFill>
                  <a:srgbClr val="134F85"/>
                </a:solidFill>
                <a:ea typeface="黑体" panose="02010609060101010101" pitchFamily="49" charset="-122"/>
              </a:rPr>
              <a:t>, </a:t>
            </a:r>
            <a:r>
              <a:rPr lang="en-US" altLang="zh-CN" sz="2400" dirty="0" err="1">
                <a:solidFill>
                  <a:srgbClr val="134F85"/>
                </a:solidFill>
                <a:ea typeface="黑体" panose="02010609060101010101" pitchFamily="49" charset="-122"/>
              </a:rPr>
              <a:t>int</a:t>
            </a:r>
            <a:r>
              <a:rPr lang="en-US" altLang="zh-CN" sz="2400" dirty="0">
                <a:solidFill>
                  <a:srgbClr val="134F85"/>
                </a:solidFill>
                <a:ea typeface="黑体" panose="02010609060101010101" pitchFamily="49" charset="-122"/>
              </a:rPr>
              <a:t> </a:t>
            </a:r>
            <a:r>
              <a:rPr lang="en-US" altLang="zh-CN" sz="2400" dirty="0" err="1">
                <a:solidFill>
                  <a:srgbClr val="134F85"/>
                </a:solidFill>
                <a:ea typeface="黑体" panose="02010609060101010101" pitchFamily="49" charset="-122"/>
              </a:rPr>
              <a:t>newM</a:t>
            </a:r>
            <a:r>
              <a:rPr lang="en-US" altLang="zh-CN" sz="2400" dirty="0">
                <a:solidFill>
                  <a:srgbClr val="134F85"/>
                </a:solidFill>
                <a:ea typeface="黑体" panose="02010609060101010101" pitchFamily="49" charset="-122"/>
              </a:rPr>
              <a:t>, </a:t>
            </a:r>
            <a:r>
              <a:rPr lang="en-US" altLang="zh-CN" sz="2400" dirty="0" err="1">
                <a:solidFill>
                  <a:srgbClr val="134F85"/>
                </a:solidFill>
                <a:ea typeface="黑体" panose="02010609060101010101" pitchFamily="49" charset="-122"/>
              </a:rPr>
              <a:t>int</a:t>
            </a:r>
            <a:r>
              <a:rPr lang="en-US" altLang="zh-CN" sz="2400" dirty="0">
                <a:solidFill>
                  <a:srgbClr val="134F85"/>
                </a:solidFill>
                <a:ea typeface="黑体" panose="02010609060101010101" pitchFamily="49" charset="-122"/>
              </a:rPr>
              <a:t> </a:t>
            </a:r>
            <a:r>
              <a:rPr lang="en-US" altLang="zh-CN" sz="2400" dirty="0" err="1">
                <a:solidFill>
                  <a:srgbClr val="134F85"/>
                </a:solidFill>
                <a:ea typeface="黑体" panose="02010609060101010101" pitchFamily="49" charset="-122"/>
              </a:rPr>
              <a:t>newS</a:t>
            </a:r>
            <a:r>
              <a:rPr lang="en-US" altLang="zh-CN" sz="2400" dirty="0">
                <a:solidFill>
                  <a:srgbClr val="134F85"/>
                </a:solidFill>
                <a:latin typeface="+mn-lt"/>
                <a:ea typeface="黑体" panose="02010609060101010101" pitchFamily="49" charset="-122"/>
              </a:rPr>
              <a:t>){</a:t>
            </a:r>
          </a:p>
          <a:p>
            <a:pPr eaLnBrk="1" hangingPunct="1">
              <a:spcBef>
                <a:spcPts val="0"/>
              </a:spcBef>
              <a:buClrTx/>
              <a:buSzTx/>
              <a:buFontTx/>
              <a:buNone/>
              <a:defRPr/>
            </a:pPr>
            <a:r>
              <a:rPr lang="en-US" altLang="zh-CN" sz="2400" dirty="0">
                <a:solidFill>
                  <a:srgbClr val="134F85"/>
                </a:solidFill>
                <a:latin typeface="+mn-lt"/>
                <a:ea typeface="黑体" panose="02010609060101010101" pitchFamily="49" charset="-122"/>
              </a:rPr>
              <a:t>    hour = </a:t>
            </a:r>
            <a:r>
              <a:rPr lang="en-US" altLang="zh-CN" sz="2400" dirty="0" err="1">
                <a:solidFill>
                  <a:srgbClr val="134F85"/>
                </a:solidFill>
                <a:latin typeface="+mn-lt"/>
                <a:ea typeface="黑体" panose="02010609060101010101" pitchFamily="49" charset="-122"/>
              </a:rPr>
              <a:t>newH</a:t>
            </a:r>
            <a:r>
              <a:rPr lang="en-US" altLang="zh-CN" sz="2400" dirty="0">
                <a:solidFill>
                  <a:srgbClr val="134F85"/>
                </a:solidFill>
                <a:latin typeface="+mn-lt"/>
                <a:ea typeface="黑体" panose="02010609060101010101" pitchFamily="49" charset="-122"/>
              </a:rPr>
              <a:t>;     </a:t>
            </a:r>
          </a:p>
          <a:p>
            <a:pPr eaLnBrk="1" hangingPunct="1">
              <a:spcBef>
                <a:spcPts val="0"/>
              </a:spcBef>
              <a:buClrTx/>
              <a:buSzTx/>
              <a:buFontTx/>
              <a:buNone/>
              <a:defRPr/>
            </a:pPr>
            <a:r>
              <a:rPr lang="en-US" altLang="zh-CN" sz="2400" dirty="0">
                <a:solidFill>
                  <a:srgbClr val="134F85"/>
                </a:solidFill>
                <a:latin typeface="+mn-lt"/>
                <a:ea typeface="黑体" panose="02010609060101010101" pitchFamily="49" charset="-122"/>
              </a:rPr>
              <a:t>    minute = </a:t>
            </a:r>
            <a:r>
              <a:rPr lang="en-US" altLang="zh-CN" sz="2400" dirty="0" err="1">
                <a:solidFill>
                  <a:srgbClr val="134F85"/>
                </a:solidFill>
                <a:latin typeface="+mn-lt"/>
                <a:ea typeface="黑体" panose="02010609060101010101" pitchFamily="49" charset="-122"/>
              </a:rPr>
              <a:t>newM</a:t>
            </a:r>
            <a:r>
              <a:rPr lang="en-US" altLang="zh-CN" sz="2400" dirty="0">
                <a:solidFill>
                  <a:srgbClr val="134F85"/>
                </a:solidFill>
                <a:latin typeface="+mn-lt"/>
                <a:ea typeface="黑体" panose="02010609060101010101" pitchFamily="49" charset="-122"/>
              </a:rPr>
              <a:t>;  </a:t>
            </a:r>
          </a:p>
          <a:p>
            <a:pPr eaLnBrk="1" hangingPunct="1">
              <a:spcBef>
                <a:spcPts val="0"/>
              </a:spcBef>
              <a:buClrTx/>
              <a:buSzTx/>
              <a:buFontTx/>
              <a:buNone/>
              <a:defRPr/>
            </a:pPr>
            <a:r>
              <a:rPr lang="en-US" altLang="zh-CN" sz="2400" dirty="0">
                <a:solidFill>
                  <a:srgbClr val="134F85"/>
                </a:solidFill>
                <a:latin typeface="+mn-lt"/>
                <a:ea typeface="黑体" panose="02010609060101010101" pitchFamily="49" charset="-122"/>
              </a:rPr>
              <a:t>    second = </a:t>
            </a:r>
            <a:r>
              <a:rPr lang="en-US" altLang="zh-CN" sz="2400" dirty="0" err="1">
                <a:solidFill>
                  <a:srgbClr val="134F85"/>
                </a:solidFill>
                <a:latin typeface="+mn-lt"/>
                <a:ea typeface="黑体" panose="02010609060101010101" pitchFamily="49" charset="-122"/>
              </a:rPr>
              <a:t>newS</a:t>
            </a:r>
            <a:r>
              <a:rPr lang="en-US" altLang="zh-CN" sz="2400" dirty="0">
                <a:solidFill>
                  <a:srgbClr val="134F85"/>
                </a:solidFill>
                <a:latin typeface="+mn-lt"/>
                <a:ea typeface="黑体" panose="02010609060101010101" pitchFamily="49" charset="-122"/>
              </a:rPr>
              <a:t>;</a:t>
            </a:r>
          </a:p>
          <a:p>
            <a:pPr eaLnBrk="1" hangingPunct="1">
              <a:spcBef>
                <a:spcPts val="0"/>
              </a:spcBef>
              <a:buClrTx/>
              <a:buSzTx/>
              <a:buFontTx/>
              <a:buNone/>
              <a:defRPr/>
            </a:pPr>
            <a:r>
              <a:rPr lang="en-US" altLang="zh-CN" sz="2400" dirty="0">
                <a:solidFill>
                  <a:srgbClr val="134F85"/>
                </a:solidFill>
                <a:latin typeface="+mn-lt"/>
                <a:ea typeface="黑体" panose="02010609060101010101" pitchFamily="49" charset="-122"/>
              </a:rPr>
              <a:t>}</a:t>
            </a:r>
          </a:p>
        </p:txBody>
      </p:sp>
      <p:sp>
        <p:nvSpPr>
          <p:cNvPr id="12" name="Text Box 12">
            <a:extLst>
              <a:ext uri="{FF2B5EF4-FFF2-40B4-BE49-F238E27FC236}">
                <a16:creationId xmlns:a16="http://schemas.microsoft.com/office/drawing/2014/main" id="{4216B32F-869E-4807-828D-116DE32CDA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936" y="5608942"/>
            <a:ext cx="7472721" cy="1200329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SzPct val="70000"/>
              <a:buFont typeface="Wingdings" pitchFamily="2" charset="2"/>
              <a:buChar char="o"/>
              <a:defRPr sz="32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n"/>
              <a:defRPr sz="28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o"/>
              <a:defRPr sz="24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n"/>
              <a:defRPr sz="20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ts val="0"/>
              </a:spcBef>
              <a:buClrTx/>
              <a:buSzTx/>
              <a:buFontTx/>
              <a:buNone/>
              <a:defRPr/>
            </a:pPr>
            <a:r>
              <a:rPr lang="en-US" altLang="zh-CN" sz="2400" dirty="0">
                <a:solidFill>
                  <a:srgbClr val="134F85"/>
                </a:solidFill>
                <a:latin typeface="+mn-lt"/>
                <a:ea typeface="黑体" panose="02010609060101010101" pitchFamily="49" charset="-122"/>
              </a:rPr>
              <a:t>void </a:t>
            </a:r>
            <a:r>
              <a:rPr lang="en-US" altLang="zh-CN" sz="2400" b="1" dirty="0">
                <a:solidFill>
                  <a:srgbClr val="FF0000"/>
                </a:solidFill>
                <a:ea typeface="黑体" panose="02010609060101010101" pitchFamily="49" charset="-122"/>
              </a:rPr>
              <a:t>Clock::</a:t>
            </a:r>
            <a:r>
              <a:rPr lang="en-US" altLang="zh-CN" sz="2400" dirty="0" err="1">
                <a:solidFill>
                  <a:srgbClr val="134F85"/>
                </a:solidFill>
                <a:latin typeface="+mn-lt"/>
                <a:ea typeface="黑体" panose="02010609060101010101" pitchFamily="49" charset="-122"/>
              </a:rPr>
              <a:t>showTime</a:t>
            </a:r>
            <a:r>
              <a:rPr lang="en-US" altLang="zh-CN" sz="2400" dirty="0">
                <a:solidFill>
                  <a:srgbClr val="134F85"/>
                </a:solidFill>
                <a:latin typeface="+mn-lt"/>
                <a:ea typeface="黑体" panose="02010609060101010101" pitchFamily="49" charset="-122"/>
              </a:rPr>
              <a:t>(){</a:t>
            </a:r>
          </a:p>
          <a:p>
            <a:pPr eaLnBrk="1" hangingPunct="1">
              <a:spcBef>
                <a:spcPts val="0"/>
              </a:spcBef>
              <a:buClrTx/>
              <a:buSzTx/>
              <a:buFontTx/>
              <a:buNone/>
              <a:defRPr/>
            </a:pPr>
            <a:r>
              <a:rPr lang="en-US" altLang="zh-CN" sz="2400" dirty="0">
                <a:solidFill>
                  <a:srgbClr val="134F85"/>
                </a:solidFill>
                <a:latin typeface="+mn-lt"/>
                <a:ea typeface="黑体" panose="02010609060101010101" pitchFamily="49" charset="-122"/>
              </a:rPr>
              <a:t>  </a:t>
            </a:r>
            <a:r>
              <a:rPr lang="en-US" altLang="zh-CN" sz="2400" dirty="0" err="1">
                <a:solidFill>
                  <a:srgbClr val="134F85"/>
                </a:solidFill>
                <a:latin typeface="+mn-lt"/>
                <a:ea typeface="黑体" panose="02010609060101010101" pitchFamily="49" charset="-122"/>
              </a:rPr>
              <a:t>cout</a:t>
            </a:r>
            <a:r>
              <a:rPr lang="en-US" altLang="zh-CN" sz="2400" dirty="0">
                <a:solidFill>
                  <a:srgbClr val="134F85"/>
                </a:solidFill>
                <a:latin typeface="+mn-lt"/>
                <a:ea typeface="黑体" panose="02010609060101010101" pitchFamily="49" charset="-122"/>
              </a:rPr>
              <a:t>&lt;&lt;hour&lt;&lt;":"&lt;&lt;minute&lt;&lt;":"&lt;&lt;second&lt;&lt;</a:t>
            </a:r>
            <a:r>
              <a:rPr lang="en-US" altLang="zh-CN" sz="2400" dirty="0" err="1">
                <a:solidFill>
                  <a:srgbClr val="134F85"/>
                </a:solidFill>
                <a:latin typeface="+mn-lt"/>
                <a:ea typeface="黑体" panose="02010609060101010101" pitchFamily="49" charset="-122"/>
              </a:rPr>
              <a:t>endl</a:t>
            </a:r>
            <a:r>
              <a:rPr lang="en-US" altLang="zh-CN" sz="2400" dirty="0">
                <a:solidFill>
                  <a:srgbClr val="134F85"/>
                </a:solidFill>
                <a:latin typeface="+mn-lt"/>
                <a:ea typeface="黑体" panose="02010609060101010101" pitchFamily="49" charset="-122"/>
              </a:rPr>
              <a:t>;</a:t>
            </a:r>
          </a:p>
          <a:p>
            <a:pPr eaLnBrk="1" hangingPunct="1">
              <a:spcBef>
                <a:spcPts val="0"/>
              </a:spcBef>
              <a:buClrTx/>
              <a:buSzTx/>
              <a:buFontTx/>
              <a:buNone/>
              <a:defRPr/>
            </a:pPr>
            <a:r>
              <a:rPr lang="en-US" altLang="zh-CN" sz="2400" dirty="0">
                <a:solidFill>
                  <a:srgbClr val="134F85"/>
                </a:solidFill>
                <a:latin typeface="+mn-lt"/>
                <a:ea typeface="黑体" panose="02010609060101010101" pitchFamily="49" charset="-122"/>
              </a:rPr>
              <a:t>}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13636FC4-CE8A-4F32-9EF7-06F29B994E11}"/>
              </a:ext>
            </a:extLst>
          </p:cNvPr>
          <p:cNvSpPr txBox="1"/>
          <p:nvPr/>
        </p:nvSpPr>
        <p:spPr>
          <a:xfrm>
            <a:off x="247719" y="224527"/>
            <a:ext cx="802877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kumimoji="1" sz="3200" b="1">
                <a:latin typeface="华光胖头鱼_CNKI" panose="02000500000000000000" pitchFamily="2" charset="-122"/>
                <a:ea typeface="华光胖头鱼_CNKI" panose="02000500000000000000" pitchFamily="2" charset="-122"/>
              </a:defRPr>
            </a:lvl1pPr>
          </a:lstStyle>
          <a:p>
            <a:r>
              <a:rPr lang="en-US" altLang="zh-CN" dirty="0"/>
              <a:t>7.2</a:t>
            </a:r>
            <a:r>
              <a:rPr lang="zh-CN" altLang="en-US" dirty="0"/>
              <a:t>类与对象</a:t>
            </a:r>
          </a:p>
        </p:txBody>
      </p:sp>
      <p:sp>
        <p:nvSpPr>
          <p:cNvPr id="16" name="Text Box 11">
            <a:extLst>
              <a:ext uri="{FF2B5EF4-FFF2-40B4-BE49-F238E27FC236}">
                <a16:creationId xmlns:a16="http://schemas.microsoft.com/office/drawing/2014/main" id="{898DDCBE-6561-4D3F-9979-4A95924FEA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20343" y="4290281"/>
            <a:ext cx="3749518" cy="1200329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Char char="o"/>
              <a:defRPr sz="32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o"/>
              <a:defRPr sz="24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n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kumimoji="1" lang="en-US" altLang="zh-CN" sz="2400" b="0" dirty="0">
                <a:solidFill>
                  <a:schemeClr val="accent6">
                    <a:lumMod val="60000"/>
                    <a:lumOff val="40000"/>
                  </a:schemeClr>
                </a:solidFill>
                <a:latin typeface="+mj-lt"/>
                <a:ea typeface="宋体" panose="02010600030101010101" pitchFamily="2" charset="-122"/>
              </a:rPr>
              <a:t>c2.hour = c1.hour;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kumimoji="1" lang="en-US" altLang="zh-CN" sz="2400" b="0" dirty="0">
                <a:solidFill>
                  <a:schemeClr val="accent6">
                    <a:lumMod val="60000"/>
                    <a:lumOff val="40000"/>
                  </a:schemeClr>
                </a:solidFill>
                <a:latin typeface="+mj-lt"/>
                <a:ea typeface="宋体" panose="02010600030101010101" pitchFamily="2" charset="-122"/>
              </a:rPr>
              <a:t>c2.minute = c1.minute</a:t>
            </a:r>
          </a:p>
          <a:p>
            <a:pPr eaLnBrk="1" hangingPunct="1"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1" lang="en-US" altLang="zh-CN" sz="2400" b="0" dirty="0">
                <a:solidFill>
                  <a:schemeClr val="accent6">
                    <a:lumMod val="60000"/>
                    <a:lumOff val="40000"/>
                  </a:schemeClr>
                </a:solidFill>
                <a:latin typeface="+mj-lt"/>
                <a:ea typeface="宋体" panose="02010600030101010101" pitchFamily="2" charset="-122"/>
              </a:rPr>
              <a:t>c2.second = c1.second</a:t>
            </a:r>
          </a:p>
        </p:txBody>
      </p:sp>
      <p:sp>
        <p:nvSpPr>
          <p:cNvPr id="17" name="下箭头 1">
            <a:extLst>
              <a:ext uri="{FF2B5EF4-FFF2-40B4-BE49-F238E27FC236}">
                <a16:creationId xmlns:a16="http://schemas.microsoft.com/office/drawing/2014/main" id="{C4C4D05B-BEC2-48D8-AB02-7812DDCB689B}"/>
              </a:ext>
            </a:extLst>
          </p:cNvPr>
          <p:cNvSpPr>
            <a:spLocks noChangeArrowheads="1"/>
          </p:cNvSpPr>
          <p:nvPr/>
        </p:nvSpPr>
        <p:spPr bwMode="auto">
          <a:xfrm rot="3401796">
            <a:off x="7808463" y="2836358"/>
            <a:ext cx="449436" cy="1807978"/>
          </a:xfrm>
          <a:prstGeom prst="downArrow">
            <a:avLst>
              <a:gd name="adj1" fmla="val 39733"/>
              <a:gd name="adj2" fmla="val 42134"/>
            </a:avLst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Char char="o"/>
              <a:defRPr sz="32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o"/>
              <a:defRPr sz="24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n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0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579010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6" grpId="0"/>
      <p:bldP spid="17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378F810F-F2E5-4F75-88F1-D61F41264244}"/>
              </a:ext>
            </a:extLst>
          </p:cNvPr>
          <p:cNvSpPr/>
          <p:nvPr/>
        </p:nvSpPr>
        <p:spPr>
          <a:xfrm>
            <a:off x="794" y="176798"/>
            <a:ext cx="12190413" cy="728917"/>
          </a:xfrm>
          <a:prstGeom prst="rect">
            <a:avLst/>
          </a:prstGeom>
          <a:solidFill>
            <a:srgbClr val="26CC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3200"/>
          </a:p>
        </p:txBody>
      </p:sp>
      <p:cxnSp>
        <p:nvCxnSpPr>
          <p:cNvPr id="3" name="直线连接符 6">
            <a:extLst>
              <a:ext uri="{FF2B5EF4-FFF2-40B4-BE49-F238E27FC236}">
                <a16:creationId xmlns:a16="http://schemas.microsoft.com/office/drawing/2014/main" id="{06EAB57C-218D-42A5-90B0-84BCF4F5265C}"/>
              </a:ext>
            </a:extLst>
          </p:cNvPr>
          <p:cNvCxnSpPr/>
          <p:nvPr/>
        </p:nvCxnSpPr>
        <p:spPr>
          <a:xfrm>
            <a:off x="1587" y="905715"/>
            <a:ext cx="12190413" cy="0"/>
          </a:xfrm>
          <a:prstGeom prst="line">
            <a:avLst/>
          </a:prstGeom>
          <a:ln>
            <a:solidFill>
              <a:srgbClr val="104D7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2">
            <a:extLst>
              <a:ext uri="{FF2B5EF4-FFF2-40B4-BE49-F238E27FC236}">
                <a16:creationId xmlns:a16="http://schemas.microsoft.com/office/drawing/2014/main" id="{6E5DE92D-5E03-4351-9837-DD96224C95C4}"/>
              </a:ext>
            </a:extLst>
          </p:cNvPr>
          <p:cNvSpPr txBox="1">
            <a:spLocks noChangeArrowheads="1"/>
          </p:cNvSpPr>
          <p:nvPr/>
        </p:nvSpPr>
        <p:spPr>
          <a:xfrm>
            <a:off x="108797" y="947297"/>
            <a:ext cx="4881716" cy="457106"/>
          </a:xfrm>
          <a:prstGeom prst="rect">
            <a:avLst/>
          </a:prstGeom>
        </p:spPr>
        <p:txBody>
          <a:bodyPr/>
          <a:lstStyle>
            <a:lvl1pPr algn="ctr" defTabSz="609600" rtl="0" eaLnBrk="1" latinLnBrk="0" hangingPunct="1">
              <a:spcBef>
                <a:spcPct val="0"/>
              </a:spcBef>
              <a:buNone/>
              <a:defRPr sz="5865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defRPr/>
            </a:pPr>
            <a:r>
              <a:rPr kumimoji="1" lang="zh-CN" altLang="en-US" sz="3200" dirty="0">
                <a:solidFill>
                  <a:srgbClr val="134F85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求矩形的面积和周长</a:t>
            </a:r>
            <a:endParaRPr lang="zh-CN" altLang="en-US" sz="4000" b="1" dirty="0">
              <a:solidFill>
                <a:srgbClr val="134F85"/>
              </a:solidFill>
              <a:latin typeface="华光行书_CNKI" panose="02000500000000000000" pitchFamily="2" charset="-122"/>
              <a:ea typeface="华光行书_CNKI" panose="02000500000000000000" pitchFamily="2" charset="-122"/>
            </a:endParaRPr>
          </a:p>
        </p:txBody>
      </p:sp>
      <p:sp>
        <p:nvSpPr>
          <p:cNvPr id="13" name="Text Box 4">
            <a:extLst>
              <a:ext uri="{FF2B5EF4-FFF2-40B4-BE49-F238E27FC236}">
                <a16:creationId xmlns:a16="http://schemas.microsoft.com/office/drawing/2014/main" id="{644F8C64-6B19-4D62-AA14-13746C1526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" y="1538219"/>
            <a:ext cx="4769918" cy="96949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wrap="square" lIns="18000" rIns="18000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SzPct val="70000"/>
              <a:buFont typeface="Wingdings" pitchFamily="2" charset="2"/>
              <a:buChar char="o"/>
              <a:defRPr sz="32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n"/>
              <a:defRPr sz="28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o"/>
              <a:defRPr sz="24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n"/>
              <a:defRPr sz="20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ts val="600"/>
              </a:spcBef>
              <a:buClrTx/>
              <a:buSzTx/>
              <a:buFontTx/>
              <a:buNone/>
              <a:defRPr/>
            </a:pPr>
            <a:r>
              <a:rPr kumimoji="1" lang="zh-CN" altLang="en-US" sz="2800" dirty="0">
                <a:solidFill>
                  <a:srgbClr val="134F85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过程化思想实现</a:t>
            </a:r>
            <a:r>
              <a:rPr kumimoji="1" lang="en-US" altLang="zh-CN" sz="2800" dirty="0">
                <a:solidFill>
                  <a:srgbClr val="134F85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--</a:t>
            </a:r>
            <a:r>
              <a:rPr kumimoji="1" lang="zh-CN" altLang="en-US" sz="2800" dirty="0">
                <a:solidFill>
                  <a:srgbClr val="134F85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设计流程</a:t>
            </a:r>
            <a:endParaRPr kumimoji="1" lang="en-US" altLang="zh-CN" sz="2800" dirty="0">
              <a:solidFill>
                <a:srgbClr val="134F85"/>
              </a:solidFill>
              <a:latin typeface="华光行书_CNKI" panose="02000500000000000000" pitchFamily="2" charset="-122"/>
              <a:ea typeface="华光行书_CNKI" panose="02000500000000000000" pitchFamily="2" charset="-122"/>
            </a:endParaRPr>
          </a:p>
          <a:p>
            <a:pPr eaLnBrk="1" hangingPunct="1">
              <a:spcBef>
                <a:spcPts val="600"/>
              </a:spcBef>
              <a:buClrTx/>
              <a:buSzTx/>
              <a:buFontTx/>
              <a:buNone/>
              <a:defRPr/>
            </a:pPr>
            <a:r>
              <a:rPr lang="zh-CN" altLang="en-US" sz="2400" dirty="0">
                <a:solidFill>
                  <a:srgbClr val="134F85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输入</a:t>
            </a:r>
            <a:r>
              <a:rPr lang="en-US" altLang="zh-CN" sz="2400" dirty="0">
                <a:solidFill>
                  <a:srgbClr val="134F85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-》</a:t>
            </a:r>
            <a:r>
              <a:rPr lang="zh-CN" altLang="en-US" sz="2400" dirty="0">
                <a:solidFill>
                  <a:srgbClr val="134F85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计算</a:t>
            </a:r>
            <a:r>
              <a:rPr lang="en-US" altLang="zh-CN" sz="2400" dirty="0">
                <a:solidFill>
                  <a:srgbClr val="134F85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-》</a:t>
            </a:r>
            <a:r>
              <a:rPr lang="zh-CN" altLang="en-US" sz="2400" dirty="0">
                <a:solidFill>
                  <a:srgbClr val="134F85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输出</a:t>
            </a:r>
            <a:endParaRPr kumimoji="1" lang="en-US" altLang="zh-CN" sz="2400" dirty="0">
              <a:solidFill>
                <a:srgbClr val="134F85"/>
              </a:solidFill>
              <a:latin typeface="华光行书_CNKI" panose="02000500000000000000" pitchFamily="2" charset="-122"/>
              <a:ea typeface="华光行书_CNKI" panose="02000500000000000000" pitchFamily="2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FAAABA23-E5A1-4D00-900C-2365F553B122}"/>
              </a:ext>
            </a:extLst>
          </p:cNvPr>
          <p:cNvSpPr/>
          <p:nvPr/>
        </p:nvSpPr>
        <p:spPr>
          <a:xfrm>
            <a:off x="0" y="2507715"/>
            <a:ext cx="4769918" cy="4154984"/>
          </a:xfrm>
          <a:prstGeom prst="rect">
            <a:avLst/>
          </a:prstGeom>
          <a:solidFill>
            <a:srgbClr val="FFD243"/>
          </a:solidFill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zh-CN" spc="-100" dirty="0">
                <a:solidFill>
                  <a:srgbClr val="134F85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//</a:t>
            </a:r>
            <a:r>
              <a:rPr lang="zh-CN" altLang="zh-CN" spc="-100" dirty="0">
                <a:solidFill>
                  <a:srgbClr val="134F85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定义变量</a:t>
            </a:r>
            <a:endParaRPr lang="en-US" altLang="zh-CN" dirty="0">
              <a:solidFill>
                <a:srgbClr val="134F85"/>
              </a:solidFill>
              <a:latin typeface="Comic Sans MS" panose="030F0702030302020204" pitchFamily="66" charset="0"/>
              <a:ea typeface="华光行书_CNKI" panose="02000500000000000000" pitchFamily="2" charset="-122"/>
            </a:endParaRPr>
          </a:p>
          <a:p>
            <a:pPr>
              <a:defRPr/>
            </a:pPr>
            <a:r>
              <a:rPr lang="en-US" altLang="zh-CN" dirty="0">
                <a:solidFill>
                  <a:srgbClr val="134F85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double  length, wide, area, </a:t>
            </a:r>
            <a:r>
              <a:rPr lang="en-US" altLang="zh-CN" dirty="0" err="1">
                <a:solidFill>
                  <a:srgbClr val="134F85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cir</a:t>
            </a:r>
            <a:r>
              <a:rPr lang="en-US" altLang="zh-CN" dirty="0">
                <a:solidFill>
                  <a:srgbClr val="134F85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;</a:t>
            </a:r>
            <a:r>
              <a:rPr lang="en-US" altLang="zh-CN" spc="-100" dirty="0">
                <a:solidFill>
                  <a:srgbClr val="134F85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 </a:t>
            </a:r>
          </a:p>
          <a:p>
            <a:pPr>
              <a:defRPr/>
            </a:pPr>
            <a:r>
              <a:rPr lang="en-US" altLang="zh-CN" dirty="0" err="1">
                <a:solidFill>
                  <a:srgbClr val="134F85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cout</a:t>
            </a:r>
            <a:r>
              <a:rPr lang="en-US" altLang="zh-CN" dirty="0">
                <a:solidFill>
                  <a:srgbClr val="134F85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&lt;&lt;”</a:t>
            </a:r>
            <a:r>
              <a:rPr lang="zh-CN" altLang="zh-CN" dirty="0">
                <a:solidFill>
                  <a:srgbClr val="134F85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请输入长和宽</a:t>
            </a:r>
            <a:r>
              <a:rPr lang="en-US" altLang="zh-CN" dirty="0">
                <a:solidFill>
                  <a:srgbClr val="134F85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”;</a:t>
            </a:r>
          </a:p>
          <a:p>
            <a:pPr>
              <a:defRPr/>
            </a:pPr>
            <a:r>
              <a:rPr lang="en-US" altLang="zh-CN" dirty="0">
                <a:solidFill>
                  <a:srgbClr val="134F85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//</a:t>
            </a:r>
            <a:r>
              <a:rPr lang="zh-CN" altLang="en-US" dirty="0">
                <a:solidFill>
                  <a:srgbClr val="134F85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输入</a:t>
            </a:r>
            <a:endParaRPr lang="zh-CN" altLang="zh-CN" dirty="0">
              <a:solidFill>
                <a:srgbClr val="134F85"/>
              </a:solidFill>
              <a:latin typeface="Comic Sans MS" panose="030F0702030302020204" pitchFamily="66" charset="0"/>
              <a:ea typeface="华光行书_CNKI" panose="02000500000000000000" pitchFamily="2" charset="-122"/>
            </a:endParaRPr>
          </a:p>
          <a:p>
            <a:pPr>
              <a:defRPr/>
            </a:pPr>
            <a:r>
              <a:rPr lang="en-US" altLang="zh-CN" dirty="0" err="1">
                <a:solidFill>
                  <a:srgbClr val="134F85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cin</a:t>
            </a:r>
            <a:r>
              <a:rPr lang="en-US" altLang="zh-CN" dirty="0">
                <a:solidFill>
                  <a:srgbClr val="134F85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&gt;&gt;length&gt;&gt;wide;   </a:t>
            </a:r>
          </a:p>
          <a:p>
            <a:pPr>
              <a:defRPr/>
            </a:pPr>
            <a:r>
              <a:rPr lang="en-US" altLang="zh-CN" dirty="0">
                <a:solidFill>
                  <a:srgbClr val="134F85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//</a:t>
            </a:r>
            <a:r>
              <a:rPr lang="zh-CN" altLang="en-US" dirty="0">
                <a:solidFill>
                  <a:srgbClr val="134F85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计算</a:t>
            </a:r>
            <a:endParaRPr lang="zh-CN" altLang="zh-CN" dirty="0">
              <a:solidFill>
                <a:srgbClr val="134F85"/>
              </a:solidFill>
              <a:latin typeface="Comic Sans MS" panose="030F0702030302020204" pitchFamily="66" charset="0"/>
              <a:ea typeface="华光行书_CNKI" panose="02000500000000000000" pitchFamily="2" charset="-122"/>
            </a:endParaRPr>
          </a:p>
          <a:p>
            <a:pPr>
              <a:defRPr/>
            </a:pPr>
            <a:r>
              <a:rPr lang="en-US" altLang="zh-CN" dirty="0">
                <a:solidFill>
                  <a:srgbClr val="134F85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area = length *wide;  </a:t>
            </a:r>
          </a:p>
          <a:p>
            <a:pPr>
              <a:defRPr/>
            </a:pPr>
            <a:r>
              <a:rPr lang="en-US" altLang="zh-CN" dirty="0" err="1">
                <a:solidFill>
                  <a:srgbClr val="134F85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cir</a:t>
            </a:r>
            <a:r>
              <a:rPr lang="en-US" altLang="zh-CN" dirty="0">
                <a:solidFill>
                  <a:srgbClr val="134F85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 = 2*(</a:t>
            </a:r>
            <a:r>
              <a:rPr lang="en-US" altLang="zh-CN" dirty="0" err="1">
                <a:solidFill>
                  <a:srgbClr val="134F85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length+wide</a:t>
            </a:r>
            <a:r>
              <a:rPr lang="en-US" altLang="zh-CN" dirty="0">
                <a:solidFill>
                  <a:srgbClr val="134F85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);</a:t>
            </a:r>
          </a:p>
          <a:p>
            <a:pPr>
              <a:defRPr/>
            </a:pPr>
            <a:r>
              <a:rPr lang="en-US" altLang="zh-CN" dirty="0">
                <a:solidFill>
                  <a:srgbClr val="134F85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//</a:t>
            </a:r>
            <a:r>
              <a:rPr lang="zh-CN" altLang="en-US" dirty="0">
                <a:solidFill>
                  <a:srgbClr val="134F85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输出</a:t>
            </a:r>
            <a:endParaRPr lang="zh-CN" altLang="zh-CN" dirty="0">
              <a:solidFill>
                <a:srgbClr val="134F85"/>
              </a:solidFill>
              <a:latin typeface="Comic Sans MS" panose="030F0702030302020204" pitchFamily="66" charset="0"/>
              <a:ea typeface="华光行书_CNKI" panose="02000500000000000000" pitchFamily="2" charset="-122"/>
            </a:endParaRPr>
          </a:p>
          <a:p>
            <a:pPr>
              <a:defRPr/>
            </a:pPr>
            <a:r>
              <a:rPr lang="en-US" altLang="zh-CN" dirty="0" err="1">
                <a:solidFill>
                  <a:srgbClr val="134F85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cout</a:t>
            </a:r>
            <a:r>
              <a:rPr lang="en-US" altLang="zh-CN" dirty="0">
                <a:solidFill>
                  <a:srgbClr val="134F85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&lt;&lt;</a:t>
            </a:r>
            <a:r>
              <a:rPr lang="en-US" altLang="zh-CN" sz="1800" dirty="0">
                <a:solidFill>
                  <a:srgbClr val="134F85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”</a:t>
            </a:r>
            <a:r>
              <a:rPr lang="zh-CN" altLang="zh-CN" sz="1800" dirty="0">
                <a:solidFill>
                  <a:srgbClr val="134F85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长</a:t>
            </a:r>
            <a:r>
              <a:rPr lang="en-US" altLang="zh-CN" sz="1800" dirty="0">
                <a:solidFill>
                  <a:srgbClr val="134F85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:”&lt;&lt;</a:t>
            </a:r>
            <a:r>
              <a:rPr lang="en-US" altLang="zh-CN" dirty="0">
                <a:solidFill>
                  <a:srgbClr val="134F85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length</a:t>
            </a:r>
            <a:r>
              <a:rPr lang="en-US" altLang="zh-CN" sz="1800" dirty="0">
                <a:solidFill>
                  <a:srgbClr val="134F85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&lt;&lt;”,</a:t>
            </a:r>
            <a:r>
              <a:rPr lang="zh-CN" altLang="zh-CN" sz="1800" dirty="0">
                <a:solidFill>
                  <a:srgbClr val="134F85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宽</a:t>
            </a:r>
            <a:r>
              <a:rPr lang="en-US" altLang="zh-CN" sz="1800" dirty="0">
                <a:solidFill>
                  <a:srgbClr val="134F85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:”</a:t>
            </a:r>
            <a:r>
              <a:rPr lang="en-US" altLang="zh-CN" dirty="0">
                <a:solidFill>
                  <a:srgbClr val="134F85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&lt;&lt;wide;  </a:t>
            </a:r>
            <a:endParaRPr lang="zh-CN" altLang="zh-CN" dirty="0">
              <a:solidFill>
                <a:srgbClr val="134F85"/>
              </a:solidFill>
              <a:latin typeface="Comic Sans MS" panose="030F0702030302020204" pitchFamily="66" charset="0"/>
              <a:ea typeface="华光行书_CNKI" panose="02000500000000000000" pitchFamily="2" charset="-122"/>
            </a:endParaRPr>
          </a:p>
          <a:p>
            <a:pPr>
              <a:defRPr/>
            </a:pPr>
            <a:r>
              <a:rPr lang="en-US" altLang="zh-CN" dirty="0" err="1">
                <a:solidFill>
                  <a:srgbClr val="134F85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cout</a:t>
            </a:r>
            <a:r>
              <a:rPr lang="en-US" altLang="zh-CN" dirty="0">
                <a:solidFill>
                  <a:srgbClr val="134F85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&lt;&lt;”,</a:t>
            </a:r>
            <a:r>
              <a:rPr lang="zh-CN" altLang="zh-CN" dirty="0">
                <a:solidFill>
                  <a:srgbClr val="134F85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面积：</a:t>
            </a:r>
            <a:r>
              <a:rPr lang="en-US" altLang="zh-CN" dirty="0">
                <a:solidFill>
                  <a:srgbClr val="134F85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”&lt;&lt;area;</a:t>
            </a:r>
            <a:endParaRPr lang="zh-CN" altLang="zh-CN" dirty="0">
              <a:solidFill>
                <a:srgbClr val="134F85"/>
              </a:solidFill>
              <a:latin typeface="Comic Sans MS" panose="030F0702030302020204" pitchFamily="66" charset="0"/>
              <a:ea typeface="华光行书_CNKI" panose="02000500000000000000" pitchFamily="2" charset="-122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6F988830-E459-4504-9861-35F800F37328}"/>
              </a:ext>
            </a:extLst>
          </p:cNvPr>
          <p:cNvSpPr/>
          <p:nvPr/>
        </p:nvSpPr>
        <p:spPr>
          <a:xfrm>
            <a:off x="4844097" y="888848"/>
            <a:ext cx="7347903" cy="5952286"/>
          </a:xfrm>
          <a:prstGeom prst="rect">
            <a:avLst/>
          </a:prstGeom>
          <a:solidFill>
            <a:srgbClr val="FFD243"/>
          </a:solidFill>
        </p:spPr>
        <p:txBody>
          <a:bodyPr wrap="square" lIns="0" tIns="0" rIns="0" bIns="0" anchor="ctr" anchorCtr="0">
            <a:noAutofit/>
          </a:bodyPr>
          <a:lstStyle/>
          <a:p>
            <a:pPr>
              <a:lnSpc>
                <a:spcPts val="2300"/>
              </a:lnSpc>
              <a:defRPr/>
            </a:pPr>
            <a:r>
              <a:rPr lang="en-US" altLang="zh-CN" dirty="0">
                <a:solidFill>
                  <a:srgbClr val="134F85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double </a:t>
            </a:r>
            <a:r>
              <a:rPr lang="en-US" altLang="zh-CN" dirty="0" err="1">
                <a:solidFill>
                  <a:srgbClr val="134F85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rectanglearea</a:t>
            </a:r>
            <a:r>
              <a:rPr lang="en-US" altLang="zh-CN" dirty="0">
                <a:solidFill>
                  <a:srgbClr val="134F85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(double </a:t>
            </a:r>
            <a:r>
              <a:rPr lang="en-US" altLang="zh-CN" dirty="0" err="1">
                <a:solidFill>
                  <a:srgbClr val="134F85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len</a:t>
            </a:r>
            <a:r>
              <a:rPr lang="en-US" altLang="zh-CN" dirty="0">
                <a:solidFill>
                  <a:srgbClr val="134F85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, double </a:t>
            </a:r>
            <a:r>
              <a:rPr lang="en-US" altLang="zh-CN" dirty="0" err="1">
                <a:solidFill>
                  <a:srgbClr val="134F85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wid</a:t>
            </a:r>
            <a:r>
              <a:rPr lang="en-US" altLang="zh-CN" dirty="0">
                <a:solidFill>
                  <a:srgbClr val="134F85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){</a:t>
            </a:r>
          </a:p>
          <a:p>
            <a:pPr>
              <a:lnSpc>
                <a:spcPts val="2300"/>
              </a:lnSpc>
              <a:defRPr/>
            </a:pPr>
            <a:r>
              <a:rPr lang="en-US" altLang="zh-CN" dirty="0">
                <a:solidFill>
                  <a:srgbClr val="134F85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	return </a:t>
            </a:r>
            <a:r>
              <a:rPr lang="en-US" altLang="zh-CN" dirty="0" err="1">
                <a:solidFill>
                  <a:srgbClr val="134F85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len</a:t>
            </a:r>
            <a:r>
              <a:rPr lang="en-US" altLang="zh-CN" dirty="0">
                <a:solidFill>
                  <a:srgbClr val="134F85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*</a:t>
            </a:r>
            <a:r>
              <a:rPr lang="en-US" altLang="zh-CN" dirty="0" err="1">
                <a:solidFill>
                  <a:srgbClr val="134F85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wid</a:t>
            </a:r>
            <a:r>
              <a:rPr lang="en-US" altLang="zh-CN" dirty="0">
                <a:solidFill>
                  <a:srgbClr val="134F85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;</a:t>
            </a:r>
          </a:p>
          <a:p>
            <a:pPr>
              <a:lnSpc>
                <a:spcPts val="2300"/>
              </a:lnSpc>
              <a:defRPr/>
            </a:pPr>
            <a:r>
              <a:rPr lang="en-US" altLang="zh-CN" dirty="0">
                <a:solidFill>
                  <a:srgbClr val="134F85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}</a:t>
            </a:r>
          </a:p>
          <a:p>
            <a:pPr>
              <a:lnSpc>
                <a:spcPts val="2300"/>
              </a:lnSpc>
              <a:defRPr/>
            </a:pPr>
            <a:r>
              <a:rPr lang="en-US" altLang="zh-CN" dirty="0">
                <a:solidFill>
                  <a:srgbClr val="134F85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double </a:t>
            </a:r>
            <a:r>
              <a:rPr lang="en-US" altLang="zh-CN" dirty="0" err="1">
                <a:solidFill>
                  <a:srgbClr val="134F85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rectanglecir</a:t>
            </a:r>
            <a:r>
              <a:rPr lang="en-US" altLang="zh-CN" dirty="0">
                <a:solidFill>
                  <a:srgbClr val="134F85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(double </a:t>
            </a:r>
            <a:r>
              <a:rPr lang="en-US" altLang="zh-CN" dirty="0" err="1">
                <a:solidFill>
                  <a:srgbClr val="134F85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len</a:t>
            </a:r>
            <a:r>
              <a:rPr lang="en-US" altLang="zh-CN" dirty="0">
                <a:solidFill>
                  <a:srgbClr val="134F85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, double </a:t>
            </a:r>
            <a:r>
              <a:rPr lang="en-US" altLang="zh-CN" dirty="0" err="1">
                <a:solidFill>
                  <a:srgbClr val="134F85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wid</a:t>
            </a:r>
            <a:r>
              <a:rPr lang="en-US" altLang="zh-CN" dirty="0">
                <a:solidFill>
                  <a:srgbClr val="134F85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){</a:t>
            </a:r>
          </a:p>
          <a:p>
            <a:pPr>
              <a:lnSpc>
                <a:spcPts val="2300"/>
              </a:lnSpc>
              <a:defRPr/>
            </a:pPr>
            <a:r>
              <a:rPr lang="en-US" altLang="zh-CN" dirty="0">
                <a:solidFill>
                  <a:srgbClr val="134F85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	return (</a:t>
            </a:r>
            <a:r>
              <a:rPr lang="en-US" altLang="zh-CN" dirty="0" err="1">
                <a:solidFill>
                  <a:srgbClr val="134F85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len+wid</a:t>
            </a:r>
            <a:r>
              <a:rPr lang="en-US" altLang="zh-CN" dirty="0">
                <a:solidFill>
                  <a:srgbClr val="134F85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)*2;</a:t>
            </a:r>
          </a:p>
          <a:p>
            <a:pPr>
              <a:lnSpc>
                <a:spcPts val="2300"/>
              </a:lnSpc>
              <a:defRPr/>
            </a:pPr>
            <a:r>
              <a:rPr lang="en-US" altLang="zh-CN" dirty="0">
                <a:solidFill>
                  <a:srgbClr val="134F85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}</a:t>
            </a:r>
          </a:p>
          <a:p>
            <a:pPr>
              <a:lnSpc>
                <a:spcPts val="2300"/>
              </a:lnSpc>
              <a:defRPr/>
            </a:pPr>
            <a:endParaRPr lang="en-US" altLang="zh-CN" dirty="0">
              <a:solidFill>
                <a:srgbClr val="134F85"/>
              </a:solidFill>
              <a:latin typeface="Comic Sans MS" panose="030F0702030302020204" pitchFamily="66" charset="0"/>
              <a:ea typeface="华光行书_CNKI" panose="02000500000000000000" pitchFamily="2" charset="-122"/>
            </a:endParaRPr>
          </a:p>
          <a:p>
            <a:pPr>
              <a:spcBef>
                <a:spcPct val="0"/>
              </a:spcBef>
            </a:pPr>
            <a:r>
              <a:rPr lang="en-US" altLang="zh-CN" dirty="0">
                <a:solidFill>
                  <a:srgbClr val="134F85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int main(){</a:t>
            </a:r>
          </a:p>
          <a:p>
            <a:pPr>
              <a:defRPr/>
            </a:pPr>
            <a:r>
              <a:rPr lang="en-US" altLang="zh-CN" dirty="0">
                <a:solidFill>
                  <a:srgbClr val="134F85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double  length, wide, area, </a:t>
            </a:r>
            <a:r>
              <a:rPr lang="en-US" altLang="zh-CN" dirty="0" err="1">
                <a:solidFill>
                  <a:srgbClr val="134F85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cir</a:t>
            </a:r>
            <a:r>
              <a:rPr lang="en-US" altLang="zh-CN" dirty="0">
                <a:solidFill>
                  <a:srgbClr val="134F85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; </a:t>
            </a:r>
          </a:p>
          <a:p>
            <a:pPr>
              <a:defRPr/>
            </a:pPr>
            <a:r>
              <a:rPr lang="en-US" altLang="zh-CN" dirty="0" err="1">
                <a:solidFill>
                  <a:srgbClr val="134F85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cin</a:t>
            </a:r>
            <a:r>
              <a:rPr lang="en-US" altLang="zh-CN" dirty="0">
                <a:solidFill>
                  <a:srgbClr val="134F85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&gt;&gt;length&gt;&gt;wide;</a:t>
            </a:r>
          </a:p>
          <a:p>
            <a:pPr>
              <a:spcBef>
                <a:spcPct val="0"/>
              </a:spcBef>
            </a:pPr>
            <a:r>
              <a:rPr lang="en-US" altLang="zh-CN" dirty="0" err="1">
                <a:solidFill>
                  <a:srgbClr val="134F85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cout</a:t>
            </a:r>
            <a:r>
              <a:rPr lang="en-US" altLang="zh-CN" dirty="0">
                <a:solidFill>
                  <a:srgbClr val="134F85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&lt;&lt;"</a:t>
            </a:r>
            <a:r>
              <a:rPr lang="zh-CN" altLang="en-US" dirty="0">
                <a:solidFill>
                  <a:srgbClr val="134F85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面积为</a:t>
            </a:r>
            <a:r>
              <a:rPr lang="en-US" altLang="zh-CN" dirty="0">
                <a:solidFill>
                  <a:srgbClr val="134F85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:"&lt;&lt;</a:t>
            </a:r>
            <a:r>
              <a:rPr lang="en-US" altLang="zh-CN" dirty="0" err="1">
                <a:solidFill>
                  <a:srgbClr val="134F85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rectanglearea</a:t>
            </a:r>
            <a:r>
              <a:rPr lang="en-US" altLang="zh-CN" dirty="0">
                <a:solidFill>
                  <a:srgbClr val="134F85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(length, wide)&lt;&lt;</a:t>
            </a:r>
            <a:r>
              <a:rPr lang="en-US" altLang="zh-CN" dirty="0" err="1">
                <a:solidFill>
                  <a:srgbClr val="134F85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endl</a:t>
            </a:r>
            <a:r>
              <a:rPr lang="en-US" altLang="zh-CN" dirty="0">
                <a:solidFill>
                  <a:srgbClr val="134F85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;</a:t>
            </a:r>
          </a:p>
          <a:p>
            <a:pPr>
              <a:spcBef>
                <a:spcPct val="0"/>
              </a:spcBef>
            </a:pPr>
            <a:r>
              <a:rPr lang="en-US" altLang="zh-CN" dirty="0" err="1">
                <a:solidFill>
                  <a:srgbClr val="134F85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cout</a:t>
            </a:r>
            <a:r>
              <a:rPr lang="en-US" altLang="zh-CN" dirty="0">
                <a:solidFill>
                  <a:srgbClr val="134F85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&lt;&lt;"</a:t>
            </a:r>
            <a:r>
              <a:rPr lang="zh-CN" altLang="en-US" dirty="0">
                <a:solidFill>
                  <a:srgbClr val="134F85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周长为</a:t>
            </a:r>
            <a:r>
              <a:rPr lang="en-US" altLang="zh-CN" dirty="0">
                <a:solidFill>
                  <a:srgbClr val="134F85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:"&lt;&lt;</a:t>
            </a:r>
            <a:r>
              <a:rPr lang="en-US" altLang="zh-CN" dirty="0" err="1">
                <a:solidFill>
                  <a:srgbClr val="134F85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rectanglecir</a:t>
            </a:r>
            <a:r>
              <a:rPr lang="en-US" altLang="zh-CN" dirty="0">
                <a:solidFill>
                  <a:srgbClr val="134F85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(length, wide)&lt;&lt;</a:t>
            </a:r>
            <a:r>
              <a:rPr lang="en-US" altLang="zh-CN" dirty="0" err="1">
                <a:solidFill>
                  <a:srgbClr val="134F85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endl</a:t>
            </a:r>
            <a:r>
              <a:rPr lang="en-US" altLang="zh-CN" dirty="0">
                <a:solidFill>
                  <a:srgbClr val="134F85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;</a:t>
            </a:r>
          </a:p>
          <a:p>
            <a:pPr>
              <a:spcBef>
                <a:spcPct val="0"/>
              </a:spcBef>
            </a:pPr>
            <a:r>
              <a:rPr lang="en-US" altLang="zh-CN" dirty="0">
                <a:solidFill>
                  <a:srgbClr val="134F85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return 0;</a:t>
            </a:r>
          </a:p>
          <a:p>
            <a:pPr>
              <a:spcBef>
                <a:spcPct val="0"/>
              </a:spcBef>
            </a:pPr>
            <a:r>
              <a:rPr lang="en-US" altLang="zh-CN" dirty="0">
                <a:solidFill>
                  <a:srgbClr val="134F85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}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4E3D693E-FDB1-4A2B-B3D0-C1BA40321855}"/>
              </a:ext>
            </a:extLst>
          </p:cNvPr>
          <p:cNvSpPr txBox="1"/>
          <p:nvPr/>
        </p:nvSpPr>
        <p:spPr>
          <a:xfrm>
            <a:off x="247719" y="224527"/>
            <a:ext cx="802877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kumimoji="1" sz="3200" b="1">
                <a:latin typeface="华光胖头鱼_CNKI" panose="02000500000000000000" pitchFamily="2" charset="-122"/>
                <a:ea typeface="华光胖头鱼_CNKI" panose="02000500000000000000" pitchFamily="2" charset="-122"/>
              </a:defRPr>
            </a:lvl1pPr>
          </a:lstStyle>
          <a:p>
            <a:r>
              <a:rPr lang="en-US" altLang="zh-CN" dirty="0"/>
              <a:t>7.2</a:t>
            </a:r>
            <a:r>
              <a:rPr lang="zh-CN" altLang="en-US" dirty="0"/>
              <a:t>类与对象</a:t>
            </a:r>
          </a:p>
        </p:txBody>
      </p:sp>
    </p:spTree>
    <p:extLst>
      <p:ext uri="{BB962C8B-B14F-4D97-AF65-F5344CB8AC3E}">
        <p14:creationId xmlns:p14="http://schemas.microsoft.com/office/powerpoint/2010/main" val="37555641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1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5" grpId="0" animBg="1"/>
      <p:bldP spid="18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378F810F-F2E5-4F75-88F1-D61F41264244}"/>
              </a:ext>
            </a:extLst>
          </p:cNvPr>
          <p:cNvSpPr/>
          <p:nvPr/>
        </p:nvSpPr>
        <p:spPr>
          <a:xfrm>
            <a:off x="794" y="176798"/>
            <a:ext cx="12190413" cy="728917"/>
          </a:xfrm>
          <a:prstGeom prst="rect">
            <a:avLst/>
          </a:prstGeom>
          <a:solidFill>
            <a:srgbClr val="26CC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3200"/>
          </a:p>
        </p:txBody>
      </p:sp>
      <p:cxnSp>
        <p:nvCxnSpPr>
          <p:cNvPr id="3" name="直线连接符 6">
            <a:extLst>
              <a:ext uri="{FF2B5EF4-FFF2-40B4-BE49-F238E27FC236}">
                <a16:creationId xmlns:a16="http://schemas.microsoft.com/office/drawing/2014/main" id="{06EAB57C-218D-42A5-90B0-84BCF4F5265C}"/>
              </a:ext>
            </a:extLst>
          </p:cNvPr>
          <p:cNvCxnSpPr/>
          <p:nvPr/>
        </p:nvCxnSpPr>
        <p:spPr>
          <a:xfrm>
            <a:off x="1587" y="905715"/>
            <a:ext cx="12190413" cy="0"/>
          </a:xfrm>
          <a:prstGeom prst="line">
            <a:avLst/>
          </a:prstGeom>
          <a:ln>
            <a:solidFill>
              <a:srgbClr val="104D7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2">
            <a:extLst>
              <a:ext uri="{FF2B5EF4-FFF2-40B4-BE49-F238E27FC236}">
                <a16:creationId xmlns:a16="http://schemas.microsoft.com/office/drawing/2014/main" id="{6E5DE92D-5E03-4351-9837-DD96224C95C4}"/>
              </a:ext>
            </a:extLst>
          </p:cNvPr>
          <p:cNvSpPr txBox="1">
            <a:spLocks noChangeArrowheads="1"/>
          </p:cNvSpPr>
          <p:nvPr/>
        </p:nvSpPr>
        <p:spPr>
          <a:xfrm>
            <a:off x="108797" y="947297"/>
            <a:ext cx="4881716" cy="457106"/>
          </a:xfrm>
          <a:prstGeom prst="rect">
            <a:avLst/>
          </a:prstGeom>
        </p:spPr>
        <p:txBody>
          <a:bodyPr/>
          <a:lstStyle>
            <a:lvl1pPr algn="ctr" defTabSz="609600" rtl="0" eaLnBrk="1" latinLnBrk="0" hangingPunct="1">
              <a:spcBef>
                <a:spcPct val="0"/>
              </a:spcBef>
              <a:buNone/>
              <a:defRPr sz="5865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defRPr/>
            </a:pPr>
            <a:r>
              <a:rPr kumimoji="1" lang="zh-CN" altLang="en-US" sz="3200" dirty="0">
                <a:solidFill>
                  <a:srgbClr val="134F85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求矩形的面积和周长</a:t>
            </a:r>
            <a:endParaRPr lang="zh-CN" altLang="en-US" sz="4000" b="1" dirty="0">
              <a:solidFill>
                <a:srgbClr val="134F85"/>
              </a:solidFill>
              <a:latin typeface="华光行书_CNKI" panose="02000500000000000000" pitchFamily="2" charset="-122"/>
              <a:ea typeface="华光行书_CNKI" panose="02000500000000000000" pitchFamily="2" charset="-122"/>
            </a:endParaRPr>
          </a:p>
        </p:txBody>
      </p:sp>
      <p:sp>
        <p:nvSpPr>
          <p:cNvPr id="14" name="Text Box 4">
            <a:extLst>
              <a:ext uri="{FF2B5EF4-FFF2-40B4-BE49-F238E27FC236}">
                <a16:creationId xmlns:a16="http://schemas.microsoft.com/office/drawing/2014/main" id="{454D2901-9F13-422E-9B9B-78A7D727C2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87" y="1514053"/>
            <a:ext cx="7020922" cy="120590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wrap="square" lIns="0" tIns="0" rIns="0" bIns="0" anchor="ctr" anchorCtr="1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Char char="o"/>
              <a:defRPr sz="32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o"/>
              <a:defRPr sz="24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n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ts val="0"/>
              </a:spcBef>
              <a:buClrTx/>
              <a:buSzTx/>
              <a:buNone/>
            </a:pPr>
            <a:r>
              <a:rPr kumimoji="1" lang="zh-CN" altLang="en-US" sz="2800" dirty="0">
                <a:solidFill>
                  <a:srgbClr val="134F85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面向对象的思想实现</a:t>
            </a:r>
            <a:r>
              <a:rPr kumimoji="1" lang="en-US" altLang="zh-CN" sz="2800" dirty="0">
                <a:solidFill>
                  <a:srgbClr val="134F85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--</a:t>
            </a:r>
            <a:r>
              <a:rPr lang="zh-CN" altLang="zh-CN" sz="2800" dirty="0">
                <a:solidFill>
                  <a:srgbClr val="134F85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设计</a:t>
            </a:r>
            <a:r>
              <a:rPr lang="zh-CN" altLang="en-US" sz="2800" dirty="0">
                <a:solidFill>
                  <a:srgbClr val="134F85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矩形</a:t>
            </a:r>
            <a:r>
              <a:rPr lang="zh-CN" altLang="zh-CN" sz="2800" dirty="0">
                <a:solidFill>
                  <a:srgbClr val="134F85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类</a:t>
            </a:r>
            <a:endParaRPr lang="en-US" altLang="zh-CN" sz="2800" dirty="0">
              <a:solidFill>
                <a:srgbClr val="134F85"/>
              </a:solidFill>
              <a:latin typeface="华光行书_CNKI" panose="02000500000000000000" pitchFamily="2" charset="-122"/>
              <a:ea typeface="华光行书_CNKI" panose="02000500000000000000" pitchFamily="2" charset="-122"/>
            </a:endParaRPr>
          </a:p>
          <a:p>
            <a:pPr eaLnBrk="1" hangingPunct="1">
              <a:spcBef>
                <a:spcPts val="0"/>
              </a:spcBef>
              <a:buClrTx/>
              <a:buSzTx/>
              <a:buFontTx/>
              <a:buNone/>
            </a:pPr>
            <a:r>
              <a:rPr lang="zh-CN" altLang="zh-CN" sz="2400" dirty="0">
                <a:solidFill>
                  <a:srgbClr val="134F85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描述</a:t>
            </a:r>
            <a:r>
              <a:rPr lang="zh-CN" altLang="en-US" sz="2400" dirty="0">
                <a:solidFill>
                  <a:srgbClr val="134F85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矩形</a:t>
            </a:r>
            <a:r>
              <a:rPr lang="zh-CN" altLang="zh-CN" sz="2400" dirty="0">
                <a:solidFill>
                  <a:srgbClr val="134F85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属性的数据</a:t>
            </a:r>
            <a:r>
              <a:rPr lang="en-US" altLang="zh-CN" sz="2400" dirty="0">
                <a:solidFill>
                  <a:srgbClr val="134F85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:</a:t>
            </a:r>
            <a:r>
              <a:rPr lang="zh-CN" altLang="zh-CN" sz="2400" dirty="0">
                <a:solidFill>
                  <a:srgbClr val="134F85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长、宽；</a:t>
            </a:r>
            <a:endParaRPr lang="en-US" altLang="zh-CN" sz="2400" dirty="0">
              <a:solidFill>
                <a:srgbClr val="134F85"/>
              </a:solidFill>
              <a:latin typeface="华光行书_CNKI" panose="02000500000000000000" pitchFamily="2" charset="-122"/>
              <a:ea typeface="华光行书_CNKI" panose="02000500000000000000" pitchFamily="2" charset="-122"/>
            </a:endParaRPr>
          </a:p>
          <a:p>
            <a:pPr eaLnBrk="1" hangingPunct="1">
              <a:spcBef>
                <a:spcPts val="0"/>
              </a:spcBef>
              <a:buClrTx/>
              <a:buSzTx/>
              <a:buFontTx/>
              <a:buNone/>
            </a:pPr>
            <a:r>
              <a:rPr lang="zh-CN" altLang="zh-CN" sz="2400" dirty="0">
                <a:solidFill>
                  <a:srgbClr val="134F85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描述</a:t>
            </a:r>
            <a:r>
              <a:rPr lang="zh-CN" altLang="en-US" sz="2400" dirty="0">
                <a:solidFill>
                  <a:srgbClr val="134F85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矩形</a:t>
            </a:r>
            <a:r>
              <a:rPr lang="zh-CN" altLang="zh-CN" sz="2400" dirty="0">
                <a:solidFill>
                  <a:srgbClr val="134F85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行为</a:t>
            </a:r>
            <a:r>
              <a:rPr lang="zh-CN" altLang="en-US" sz="2400" dirty="0">
                <a:solidFill>
                  <a:srgbClr val="134F85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的函数</a:t>
            </a:r>
            <a:r>
              <a:rPr lang="en-US" altLang="zh-CN" sz="2400" dirty="0">
                <a:solidFill>
                  <a:srgbClr val="134F85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:</a:t>
            </a:r>
            <a:r>
              <a:rPr lang="zh-CN" altLang="zh-CN" sz="2400" dirty="0">
                <a:solidFill>
                  <a:srgbClr val="134F85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接受输入</a:t>
            </a:r>
            <a:r>
              <a:rPr lang="en-US" altLang="zh-CN" sz="2400" dirty="0">
                <a:solidFill>
                  <a:srgbClr val="134F85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,</a:t>
            </a:r>
            <a:r>
              <a:rPr lang="zh-CN" altLang="zh-CN" sz="2400" dirty="0">
                <a:solidFill>
                  <a:srgbClr val="134F85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计算面积</a:t>
            </a:r>
            <a:r>
              <a:rPr lang="en-US" altLang="zh-CN" sz="2400" dirty="0">
                <a:solidFill>
                  <a:srgbClr val="134F85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,</a:t>
            </a:r>
            <a:r>
              <a:rPr lang="zh-CN" altLang="en-US" sz="2400" dirty="0">
                <a:solidFill>
                  <a:srgbClr val="134F85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计算周长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6F988830-E459-4504-9861-35F800F37328}"/>
              </a:ext>
            </a:extLst>
          </p:cNvPr>
          <p:cNvSpPr/>
          <p:nvPr/>
        </p:nvSpPr>
        <p:spPr>
          <a:xfrm>
            <a:off x="6864914" y="897031"/>
            <a:ext cx="5325499" cy="5960967"/>
          </a:xfrm>
          <a:prstGeom prst="rect">
            <a:avLst/>
          </a:prstGeom>
          <a:solidFill>
            <a:srgbClr val="FFD243"/>
          </a:solidFill>
        </p:spPr>
        <p:txBody>
          <a:bodyPr wrap="square" lIns="0" tIns="0" rIns="0" bIns="0" anchor="ctr" anchorCtr="0">
            <a:noAutofit/>
          </a:bodyPr>
          <a:lstStyle/>
          <a:p>
            <a:pPr>
              <a:lnSpc>
                <a:spcPts val="2300"/>
              </a:lnSpc>
              <a:defRPr/>
            </a:pPr>
            <a:r>
              <a:rPr lang="en-US" altLang="zh-CN" sz="2400" dirty="0">
                <a:solidFill>
                  <a:srgbClr val="134F85"/>
                </a:solidFill>
                <a:latin typeface="Comic Sans MS" panose="030F0702030302020204" pitchFamily="66" charset="0"/>
                <a:ea typeface="黑体" panose="02010609060101010101" pitchFamily="49" charset="-122"/>
              </a:rPr>
              <a:t>class rectangle{</a:t>
            </a:r>
            <a:endParaRPr lang="zh-CN" altLang="zh-CN" sz="2400" dirty="0">
              <a:solidFill>
                <a:srgbClr val="134F85"/>
              </a:solidFill>
              <a:latin typeface="Comic Sans MS" panose="030F0702030302020204" pitchFamily="66" charset="0"/>
              <a:ea typeface="黑体" panose="02010609060101010101" pitchFamily="49" charset="-122"/>
            </a:endParaRPr>
          </a:p>
          <a:p>
            <a:pPr>
              <a:lnSpc>
                <a:spcPts val="2300"/>
              </a:lnSpc>
              <a:defRPr/>
            </a:pPr>
            <a:r>
              <a:rPr lang="en-US" altLang="zh-CN" sz="2400" dirty="0">
                <a:solidFill>
                  <a:srgbClr val="134F85"/>
                </a:solidFill>
                <a:latin typeface="Comic Sans MS" panose="030F0702030302020204" pitchFamily="66" charset="0"/>
                <a:ea typeface="黑体" panose="02010609060101010101" pitchFamily="49" charset="-122"/>
              </a:rPr>
              <a:t>private:</a:t>
            </a:r>
            <a:endParaRPr lang="zh-CN" altLang="zh-CN" sz="2400" dirty="0">
              <a:solidFill>
                <a:srgbClr val="134F85"/>
              </a:solidFill>
              <a:latin typeface="Comic Sans MS" panose="030F0702030302020204" pitchFamily="66" charset="0"/>
              <a:ea typeface="黑体" panose="02010609060101010101" pitchFamily="49" charset="-122"/>
            </a:endParaRPr>
          </a:p>
          <a:p>
            <a:pPr>
              <a:lnSpc>
                <a:spcPts val="2300"/>
              </a:lnSpc>
              <a:defRPr/>
            </a:pPr>
            <a:r>
              <a:rPr lang="en-US" altLang="zh-CN" sz="2400" dirty="0">
                <a:solidFill>
                  <a:srgbClr val="134F85"/>
                </a:solidFill>
                <a:latin typeface="Comic Sans MS" panose="030F0702030302020204" pitchFamily="66" charset="0"/>
                <a:ea typeface="黑体" panose="02010609060101010101" pitchFamily="49" charset="-122"/>
              </a:rPr>
              <a:t>	double length</a:t>
            </a:r>
            <a:r>
              <a:rPr lang="en-US" altLang="zh-CN" dirty="0">
                <a:solidFill>
                  <a:srgbClr val="134F85"/>
                </a:solidFill>
                <a:latin typeface="Comic Sans MS" panose="030F0702030302020204" pitchFamily="66" charset="0"/>
                <a:ea typeface="黑体" panose="02010609060101010101" pitchFamily="49" charset="-122"/>
              </a:rPr>
              <a:t>, </a:t>
            </a:r>
            <a:r>
              <a:rPr lang="en-US" altLang="zh-CN" sz="2400" dirty="0">
                <a:solidFill>
                  <a:srgbClr val="134F85"/>
                </a:solidFill>
                <a:latin typeface="Comic Sans MS" panose="030F0702030302020204" pitchFamily="66" charset="0"/>
                <a:ea typeface="黑体" panose="02010609060101010101" pitchFamily="49" charset="-122"/>
              </a:rPr>
              <a:t>wide;</a:t>
            </a:r>
            <a:endParaRPr lang="zh-CN" altLang="zh-CN" sz="2400" dirty="0">
              <a:solidFill>
                <a:srgbClr val="134F85"/>
              </a:solidFill>
              <a:latin typeface="Comic Sans MS" panose="030F0702030302020204" pitchFamily="66" charset="0"/>
              <a:ea typeface="黑体" panose="02010609060101010101" pitchFamily="49" charset="-122"/>
            </a:endParaRPr>
          </a:p>
          <a:p>
            <a:pPr>
              <a:lnSpc>
                <a:spcPts val="2300"/>
              </a:lnSpc>
              <a:defRPr/>
            </a:pPr>
            <a:r>
              <a:rPr lang="en-US" altLang="zh-CN" sz="2400" dirty="0">
                <a:solidFill>
                  <a:srgbClr val="134F85"/>
                </a:solidFill>
                <a:latin typeface="Comic Sans MS" panose="030F0702030302020204" pitchFamily="66" charset="0"/>
                <a:ea typeface="黑体" panose="02010609060101010101" pitchFamily="49" charset="-122"/>
              </a:rPr>
              <a:t>public:</a:t>
            </a:r>
            <a:endParaRPr lang="zh-CN" altLang="zh-CN" sz="2400" dirty="0">
              <a:solidFill>
                <a:srgbClr val="134F85"/>
              </a:solidFill>
              <a:latin typeface="Comic Sans MS" panose="030F0702030302020204" pitchFamily="66" charset="0"/>
              <a:ea typeface="黑体" panose="02010609060101010101" pitchFamily="49" charset="-122"/>
            </a:endParaRPr>
          </a:p>
          <a:p>
            <a:pPr>
              <a:lnSpc>
                <a:spcPts val="2300"/>
              </a:lnSpc>
              <a:defRPr/>
            </a:pPr>
            <a:r>
              <a:rPr lang="en-US" altLang="zh-CN" dirty="0">
                <a:solidFill>
                  <a:srgbClr val="134F85"/>
                </a:solidFill>
                <a:latin typeface="Comic Sans MS" panose="030F0702030302020204" pitchFamily="66" charset="0"/>
                <a:ea typeface="黑体" panose="02010609060101010101" pitchFamily="49" charset="-122"/>
              </a:rPr>
              <a:t>	</a:t>
            </a:r>
            <a:r>
              <a:rPr lang="en-US" altLang="zh-CN" sz="2400" dirty="0">
                <a:solidFill>
                  <a:srgbClr val="134F85"/>
                </a:solidFill>
                <a:latin typeface="Comic Sans MS" panose="030F0702030302020204" pitchFamily="66" charset="0"/>
                <a:ea typeface="黑体" panose="02010609060101010101" pitchFamily="49" charset="-122"/>
              </a:rPr>
              <a:t>void input(double </a:t>
            </a:r>
            <a:r>
              <a:rPr lang="en-US" altLang="zh-CN" sz="2400" dirty="0" err="1">
                <a:solidFill>
                  <a:srgbClr val="134F85"/>
                </a:solidFill>
                <a:latin typeface="Comic Sans MS" panose="030F0702030302020204" pitchFamily="66" charset="0"/>
                <a:ea typeface="黑体" panose="02010609060101010101" pitchFamily="49" charset="-122"/>
              </a:rPr>
              <a:t>len</a:t>
            </a:r>
            <a:r>
              <a:rPr lang="en-US" altLang="zh-CN" sz="2400" dirty="0">
                <a:solidFill>
                  <a:srgbClr val="134F85"/>
                </a:solidFill>
                <a:latin typeface="Comic Sans MS" panose="030F0702030302020204" pitchFamily="66" charset="0"/>
                <a:ea typeface="黑体" panose="02010609060101010101" pitchFamily="49" charset="-122"/>
              </a:rPr>
              <a:t>, double w){</a:t>
            </a:r>
          </a:p>
          <a:p>
            <a:pPr>
              <a:lnSpc>
                <a:spcPts val="2300"/>
              </a:lnSpc>
              <a:defRPr/>
            </a:pPr>
            <a:r>
              <a:rPr lang="en-US" altLang="zh-CN" dirty="0">
                <a:solidFill>
                  <a:srgbClr val="134F85"/>
                </a:solidFill>
                <a:latin typeface="Comic Sans MS" panose="030F0702030302020204" pitchFamily="66" charset="0"/>
                <a:ea typeface="黑体" panose="02010609060101010101" pitchFamily="49" charset="-122"/>
              </a:rPr>
              <a:t>		</a:t>
            </a:r>
            <a:r>
              <a:rPr lang="en-US" altLang="zh-CN" sz="2400" dirty="0">
                <a:solidFill>
                  <a:srgbClr val="134F85"/>
                </a:solidFill>
                <a:latin typeface="Comic Sans MS" panose="030F0702030302020204" pitchFamily="66" charset="0"/>
                <a:ea typeface="黑体" panose="02010609060101010101" pitchFamily="49" charset="-122"/>
              </a:rPr>
              <a:t>length = </a:t>
            </a:r>
            <a:r>
              <a:rPr lang="en-US" altLang="zh-CN" sz="2400" dirty="0" err="1">
                <a:solidFill>
                  <a:srgbClr val="134F85"/>
                </a:solidFill>
                <a:latin typeface="Comic Sans MS" panose="030F0702030302020204" pitchFamily="66" charset="0"/>
                <a:ea typeface="黑体" panose="02010609060101010101" pitchFamily="49" charset="-122"/>
              </a:rPr>
              <a:t>len</a:t>
            </a:r>
            <a:r>
              <a:rPr lang="en-US" altLang="zh-CN" sz="2400" dirty="0">
                <a:solidFill>
                  <a:srgbClr val="134F85"/>
                </a:solidFill>
                <a:latin typeface="Comic Sans MS" panose="030F0702030302020204" pitchFamily="66" charset="0"/>
                <a:ea typeface="黑体" panose="02010609060101010101" pitchFamily="49" charset="-122"/>
              </a:rPr>
              <a:t>; wide = w;</a:t>
            </a:r>
          </a:p>
          <a:p>
            <a:pPr>
              <a:lnSpc>
                <a:spcPts val="2000"/>
              </a:lnSpc>
              <a:defRPr/>
            </a:pPr>
            <a:r>
              <a:rPr lang="en-US" altLang="zh-CN" dirty="0">
                <a:solidFill>
                  <a:srgbClr val="134F85"/>
                </a:solidFill>
                <a:latin typeface="Comic Sans MS" panose="030F0702030302020204" pitchFamily="66" charset="0"/>
                <a:ea typeface="黑体" panose="02010609060101010101" pitchFamily="49" charset="-122"/>
              </a:rPr>
              <a:t>	</a:t>
            </a:r>
            <a:r>
              <a:rPr lang="en-US" altLang="zh-CN" sz="2400" dirty="0">
                <a:solidFill>
                  <a:srgbClr val="134F85"/>
                </a:solidFill>
                <a:latin typeface="Comic Sans MS" panose="030F0702030302020204" pitchFamily="66" charset="0"/>
                <a:ea typeface="黑体" panose="02010609060101010101" pitchFamily="49" charset="-122"/>
              </a:rPr>
              <a:t>}</a:t>
            </a:r>
            <a:endParaRPr lang="zh-CN" altLang="zh-CN" sz="2400" dirty="0">
              <a:solidFill>
                <a:srgbClr val="134F85"/>
              </a:solidFill>
              <a:latin typeface="Comic Sans MS" panose="030F0702030302020204" pitchFamily="66" charset="0"/>
              <a:ea typeface="黑体" panose="02010609060101010101" pitchFamily="49" charset="-122"/>
            </a:endParaRPr>
          </a:p>
          <a:p>
            <a:pPr>
              <a:lnSpc>
                <a:spcPts val="2300"/>
              </a:lnSpc>
              <a:defRPr/>
            </a:pPr>
            <a:r>
              <a:rPr lang="en-US" altLang="zh-CN" sz="2400" dirty="0">
                <a:solidFill>
                  <a:srgbClr val="134F85"/>
                </a:solidFill>
                <a:latin typeface="Comic Sans MS" panose="030F0702030302020204" pitchFamily="66" charset="0"/>
                <a:ea typeface="黑体" panose="02010609060101010101" pitchFamily="49" charset="-122"/>
              </a:rPr>
              <a:t>	double </a:t>
            </a:r>
            <a:r>
              <a:rPr lang="en-US" altLang="zh-CN" sz="2400" dirty="0" err="1">
                <a:solidFill>
                  <a:srgbClr val="134F85"/>
                </a:solidFill>
                <a:latin typeface="Comic Sans MS" panose="030F0702030302020204" pitchFamily="66" charset="0"/>
                <a:ea typeface="黑体" panose="02010609060101010101" pitchFamily="49" charset="-122"/>
              </a:rPr>
              <a:t>computearea</a:t>
            </a:r>
            <a:r>
              <a:rPr lang="en-US" altLang="zh-CN" sz="2400" dirty="0">
                <a:solidFill>
                  <a:srgbClr val="134F85"/>
                </a:solidFill>
                <a:latin typeface="Comic Sans MS" panose="030F0702030302020204" pitchFamily="66" charset="0"/>
                <a:ea typeface="黑体" panose="02010609060101010101" pitchFamily="49" charset="-122"/>
              </a:rPr>
              <a:t>(){</a:t>
            </a:r>
          </a:p>
          <a:p>
            <a:pPr>
              <a:lnSpc>
                <a:spcPts val="2300"/>
              </a:lnSpc>
              <a:defRPr/>
            </a:pPr>
            <a:r>
              <a:rPr lang="en-US" altLang="zh-CN" dirty="0">
                <a:solidFill>
                  <a:srgbClr val="134F85"/>
                </a:solidFill>
                <a:latin typeface="Comic Sans MS" panose="030F0702030302020204" pitchFamily="66" charset="0"/>
                <a:ea typeface="黑体" panose="02010609060101010101" pitchFamily="49" charset="-122"/>
              </a:rPr>
              <a:t>		</a:t>
            </a:r>
            <a:r>
              <a:rPr lang="en-US" altLang="zh-CN" sz="2400" dirty="0">
                <a:solidFill>
                  <a:srgbClr val="134F85"/>
                </a:solidFill>
                <a:latin typeface="Comic Sans MS" panose="030F0702030302020204" pitchFamily="66" charset="0"/>
                <a:ea typeface="黑体" panose="02010609060101010101" pitchFamily="49" charset="-122"/>
              </a:rPr>
              <a:t>double area = length *wide;</a:t>
            </a:r>
          </a:p>
          <a:p>
            <a:pPr>
              <a:lnSpc>
                <a:spcPts val="2300"/>
              </a:lnSpc>
              <a:defRPr/>
            </a:pPr>
            <a:r>
              <a:rPr lang="en-US" altLang="zh-CN" dirty="0">
                <a:solidFill>
                  <a:srgbClr val="134F85"/>
                </a:solidFill>
                <a:latin typeface="Comic Sans MS" panose="030F0702030302020204" pitchFamily="66" charset="0"/>
                <a:ea typeface="黑体" panose="02010609060101010101" pitchFamily="49" charset="-122"/>
              </a:rPr>
              <a:t>		</a:t>
            </a:r>
            <a:r>
              <a:rPr lang="en-US" altLang="zh-CN" sz="2400" dirty="0">
                <a:solidFill>
                  <a:srgbClr val="134F85"/>
                </a:solidFill>
                <a:latin typeface="Comic Sans MS" panose="030F0702030302020204" pitchFamily="66" charset="0"/>
                <a:ea typeface="黑体" panose="02010609060101010101" pitchFamily="49" charset="-122"/>
              </a:rPr>
              <a:t> return area;</a:t>
            </a:r>
          </a:p>
          <a:p>
            <a:pPr>
              <a:lnSpc>
                <a:spcPts val="2000"/>
              </a:lnSpc>
              <a:defRPr/>
            </a:pPr>
            <a:r>
              <a:rPr lang="en-US" altLang="zh-CN" dirty="0">
                <a:solidFill>
                  <a:srgbClr val="134F85"/>
                </a:solidFill>
                <a:latin typeface="Comic Sans MS" panose="030F0702030302020204" pitchFamily="66" charset="0"/>
                <a:ea typeface="黑体" panose="02010609060101010101" pitchFamily="49" charset="-122"/>
              </a:rPr>
              <a:t>	</a:t>
            </a:r>
            <a:r>
              <a:rPr lang="en-US" altLang="zh-CN" sz="2400" dirty="0">
                <a:solidFill>
                  <a:srgbClr val="134F85"/>
                </a:solidFill>
                <a:latin typeface="Comic Sans MS" panose="030F0702030302020204" pitchFamily="66" charset="0"/>
                <a:ea typeface="黑体" panose="02010609060101010101" pitchFamily="49" charset="-122"/>
              </a:rPr>
              <a:t>}</a:t>
            </a:r>
          </a:p>
          <a:p>
            <a:pPr>
              <a:lnSpc>
                <a:spcPts val="2300"/>
              </a:lnSpc>
              <a:defRPr/>
            </a:pPr>
            <a:r>
              <a:rPr lang="en-US" altLang="zh-CN" sz="2400" dirty="0">
                <a:solidFill>
                  <a:srgbClr val="134F85"/>
                </a:solidFill>
                <a:latin typeface="Comic Sans MS" panose="030F0702030302020204" pitchFamily="66" charset="0"/>
                <a:ea typeface="黑体" panose="02010609060101010101" pitchFamily="49" charset="-122"/>
              </a:rPr>
              <a:t>	double </a:t>
            </a:r>
            <a:r>
              <a:rPr lang="en-US" altLang="zh-CN" sz="2400" dirty="0" err="1">
                <a:solidFill>
                  <a:srgbClr val="134F85"/>
                </a:solidFill>
                <a:latin typeface="Comic Sans MS" panose="030F0702030302020204" pitchFamily="66" charset="0"/>
                <a:ea typeface="黑体" panose="02010609060101010101" pitchFamily="49" charset="-122"/>
              </a:rPr>
              <a:t>computecir</a:t>
            </a:r>
            <a:r>
              <a:rPr lang="en-US" altLang="zh-CN" sz="2400" dirty="0">
                <a:solidFill>
                  <a:srgbClr val="134F85"/>
                </a:solidFill>
                <a:latin typeface="Comic Sans MS" panose="030F0702030302020204" pitchFamily="66" charset="0"/>
                <a:ea typeface="黑体" panose="02010609060101010101" pitchFamily="49" charset="-122"/>
              </a:rPr>
              <a:t>(){</a:t>
            </a:r>
          </a:p>
          <a:p>
            <a:pPr>
              <a:lnSpc>
                <a:spcPts val="2300"/>
              </a:lnSpc>
              <a:defRPr/>
            </a:pPr>
            <a:r>
              <a:rPr lang="en-US" altLang="zh-CN" dirty="0">
                <a:solidFill>
                  <a:srgbClr val="134F85"/>
                </a:solidFill>
                <a:latin typeface="Comic Sans MS" panose="030F0702030302020204" pitchFamily="66" charset="0"/>
                <a:ea typeface="黑体" panose="02010609060101010101" pitchFamily="49" charset="-122"/>
              </a:rPr>
              <a:t>		</a:t>
            </a:r>
            <a:r>
              <a:rPr lang="en-US" altLang="zh-CN" sz="2400" dirty="0">
                <a:solidFill>
                  <a:srgbClr val="134F85"/>
                </a:solidFill>
                <a:latin typeface="Comic Sans MS" panose="030F0702030302020204" pitchFamily="66" charset="0"/>
                <a:ea typeface="黑体" panose="02010609060101010101" pitchFamily="49" charset="-122"/>
              </a:rPr>
              <a:t>double </a:t>
            </a:r>
            <a:r>
              <a:rPr lang="en-US" altLang="zh-CN" sz="2400" dirty="0" err="1">
                <a:solidFill>
                  <a:srgbClr val="134F85"/>
                </a:solidFill>
                <a:latin typeface="Comic Sans MS" panose="030F0702030302020204" pitchFamily="66" charset="0"/>
                <a:ea typeface="黑体" panose="02010609060101010101" pitchFamily="49" charset="-122"/>
              </a:rPr>
              <a:t>cir</a:t>
            </a:r>
            <a:r>
              <a:rPr lang="en-US" altLang="zh-CN" sz="2400" dirty="0">
                <a:solidFill>
                  <a:srgbClr val="134F85"/>
                </a:solidFill>
                <a:latin typeface="Comic Sans MS" panose="030F0702030302020204" pitchFamily="66" charset="0"/>
                <a:ea typeface="黑体" panose="02010609060101010101" pitchFamily="49" charset="-122"/>
              </a:rPr>
              <a:t>= 2*(</a:t>
            </a:r>
            <a:r>
              <a:rPr lang="en-US" altLang="zh-CN" sz="2400" dirty="0" err="1">
                <a:solidFill>
                  <a:srgbClr val="134F85"/>
                </a:solidFill>
                <a:latin typeface="Comic Sans MS" panose="030F0702030302020204" pitchFamily="66" charset="0"/>
                <a:ea typeface="黑体" panose="02010609060101010101" pitchFamily="49" charset="-122"/>
              </a:rPr>
              <a:t>length+wide</a:t>
            </a:r>
            <a:r>
              <a:rPr lang="en-US" altLang="zh-CN" sz="2400" dirty="0">
                <a:solidFill>
                  <a:srgbClr val="134F85"/>
                </a:solidFill>
                <a:latin typeface="Comic Sans MS" panose="030F0702030302020204" pitchFamily="66" charset="0"/>
                <a:ea typeface="黑体" panose="02010609060101010101" pitchFamily="49" charset="-122"/>
              </a:rPr>
              <a:t>);</a:t>
            </a:r>
          </a:p>
          <a:p>
            <a:pPr>
              <a:lnSpc>
                <a:spcPts val="2300"/>
              </a:lnSpc>
              <a:defRPr/>
            </a:pPr>
            <a:r>
              <a:rPr lang="en-US" altLang="zh-CN" dirty="0">
                <a:solidFill>
                  <a:srgbClr val="134F85"/>
                </a:solidFill>
                <a:latin typeface="Comic Sans MS" panose="030F0702030302020204" pitchFamily="66" charset="0"/>
                <a:ea typeface="黑体" panose="02010609060101010101" pitchFamily="49" charset="-122"/>
              </a:rPr>
              <a:t>		</a:t>
            </a:r>
            <a:r>
              <a:rPr lang="en-US" altLang="zh-CN" sz="2400" dirty="0">
                <a:solidFill>
                  <a:srgbClr val="134F85"/>
                </a:solidFill>
                <a:latin typeface="Comic Sans MS" panose="030F0702030302020204" pitchFamily="66" charset="0"/>
                <a:ea typeface="黑体" panose="02010609060101010101" pitchFamily="49" charset="-122"/>
              </a:rPr>
              <a:t> return </a:t>
            </a:r>
            <a:r>
              <a:rPr lang="en-US" altLang="zh-CN" sz="2400" dirty="0" err="1">
                <a:solidFill>
                  <a:srgbClr val="134F85"/>
                </a:solidFill>
                <a:latin typeface="Comic Sans MS" panose="030F0702030302020204" pitchFamily="66" charset="0"/>
                <a:ea typeface="黑体" panose="02010609060101010101" pitchFamily="49" charset="-122"/>
              </a:rPr>
              <a:t>cir</a:t>
            </a:r>
            <a:r>
              <a:rPr lang="en-US" altLang="zh-CN" sz="2400" dirty="0">
                <a:solidFill>
                  <a:srgbClr val="134F85"/>
                </a:solidFill>
                <a:latin typeface="Comic Sans MS" panose="030F0702030302020204" pitchFamily="66" charset="0"/>
                <a:ea typeface="黑体" panose="02010609060101010101" pitchFamily="49" charset="-122"/>
              </a:rPr>
              <a:t>;</a:t>
            </a:r>
          </a:p>
          <a:p>
            <a:pPr>
              <a:lnSpc>
                <a:spcPts val="2000"/>
              </a:lnSpc>
              <a:defRPr/>
            </a:pPr>
            <a:r>
              <a:rPr lang="en-US" altLang="zh-CN" dirty="0">
                <a:solidFill>
                  <a:srgbClr val="134F85"/>
                </a:solidFill>
                <a:latin typeface="Comic Sans MS" panose="030F0702030302020204" pitchFamily="66" charset="0"/>
                <a:ea typeface="黑体" panose="02010609060101010101" pitchFamily="49" charset="-122"/>
              </a:rPr>
              <a:t>	</a:t>
            </a:r>
            <a:r>
              <a:rPr lang="en-US" altLang="zh-CN" sz="2400" dirty="0">
                <a:solidFill>
                  <a:srgbClr val="134F85"/>
                </a:solidFill>
                <a:latin typeface="Comic Sans MS" panose="030F0702030302020204" pitchFamily="66" charset="0"/>
                <a:ea typeface="黑体" panose="02010609060101010101" pitchFamily="49" charset="-122"/>
              </a:rPr>
              <a:t>}</a:t>
            </a:r>
            <a:endParaRPr lang="zh-CN" altLang="zh-CN" sz="2400" dirty="0">
              <a:solidFill>
                <a:srgbClr val="134F85"/>
              </a:solidFill>
              <a:latin typeface="Comic Sans MS" panose="030F0702030302020204" pitchFamily="66" charset="0"/>
              <a:ea typeface="黑体" panose="02010609060101010101" pitchFamily="49" charset="-122"/>
            </a:endParaRPr>
          </a:p>
          <a:p>
            <a:pPr>
              <a:lnSpc>
                <a:spcPts val="2000"/>
              </a:lnSpc>
              <a:defRPr/>
            </a:pPr>
            <a:r>
              <a:rPr lang="en-US" altLang="zh-CN" sz="2400" dirty="0">
                <a:solidFill>
                  <a:srgbClr val="134F85"/>
                </a:solidFill>
                <a:latin typeface="Comic Sans MS" panose="030F0702030302020204" pitchFamily="66" charset="0"/>
                <a:ea typeface="黑体" panose="02010609060101010101" pitchFamily="49" charset="-122"/>
              </a:rPr>
              <a:t>};</a:t>
            </a:r>
            <a:endParaRPr lang="zh-CN" altLang="zh-CN" sz="2400" dirty="0">
              <a:solidFill>
                <a:srgbClr val="134F85"/>
              </a:solidFill>
              <a:latin typeface="Comic Sans MS" panose="030F0702030302020204" pitchFamily="66" charset="0"/>
              <a:ea typeface="黑体" panose="02010609060101010101" pitchFamily="49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FA9B1C4C-70FE-47AA-A61E-A881D0751B66}"/>
              </a:ext>
            </a:extLst>
          </p:cNvPr>
          <p:cNvSpPr txBox="1"/>
          <p:nvPr/>
        </p:nvSpPr>
        <p:spPr>
          <a:xfrm>
            <a:off x="298822" y="3436374"/>
            <a:ext cx="6268065" cy="267765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dirty="0">
                <a:solidFill>
                  <a:srgbClr val="134F85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int main(){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dirty="0">
                <a:solidFill>
                  <a:srgbClr val="134F85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rectangle p;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dirty="0" err="1">
                <a:solidFill>
                  <a:srgbClr val="134F85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p.input</a:t>
            </a:r>
            <a:r>
              <a:rPr lang="en-US" altLang="zh-CN" sz="2400" dirty="0">
                <a:solidFill>
                  <a:srgbClr val="134F85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 (4,6);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dirty="0" err="1">
                <a:solidFill>
                  <a:srgbClr val="134F85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cout</a:t>
            </a:r>
            <a:r>
              <a:rPr lang="en-US" altLang="zh-CN" sz="2400" dirty="0">
                <a:solidFill>
                  <a:srgbClr val="134F85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&lt;&lt;"</a:t>
            </a:r>
            <a:r>
              <a:rPr lang="zh-CN" altLang="en-US" sz="2400" dirty="0">
                <a:solidFill>
                  <a:srgbClr val="134F85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面积为：</a:t>
            </a:r>
            <a:r>
              <a:rPr lang="en-US" altLang="zh-CN" sz="2400" dirty="0">
                <a:solidFill>
                  <a:srgbClr val="134F85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"&lt;&lt;</a:t>
            </a:r>
            <a:r>
              <a:rPr lang="en-US" altLang="zh-CN" sz="2400" dirty="0" err="1">
                <a:solidFill>
                  <a:srgbClr val="134F85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p.computearea</a:t>
            </a:r>
            <a:r>
              <a:rPr lang="en-US" altLang="zh-CN" sz="2400" dirty="0">
                <a:solidFill>
                  <a:srgbClr val="134F85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()&lt;&lt;</a:t>
            </a:r>
            <a:r>
              <a:rPr lang="en-US" altLang="zh-CN" sz="2400" dirty="0" err="1">
                <a:solidFill>
                  <a:srgbClr val="134F85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endl</a:t>
            </a:r>
            <a:r>
              <a:rPr lang="en-US" altLang="zh-CN" sz="2400" dirty="0">
                <a:solidFill>
                  <a:srgbClr val="134F85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;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dirty="0" err="1">
                <a:solidFill>
                  <a:srgbClr val="134F85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cout</a:t>
            </a:r>
            <a:r>
              <a:rPr lang="en-US" altLang="zh-CN" sz="2400" dirty="0">
                <a:solidFill>
                  <a:srgbClr val="134F85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&lt;&lt;"</a:t>
            </a:r>
            <a:r>
              <a:rPr lang="zh-CN" altLang="en-US" sz="2400" dirty="0">
                <a:solidFill>
                  <a:srgbClr val="134F85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周长为：</a:t>
            </a:r>
            <a:r>
              <a:rPr lang="en-US" altLang="zh-CN" sz="2400" dirty="0">
                <a:solidFill>
                  <a:srgbClr val="134F85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"&lt;&lt;</a:t>
            </a:r>
            <a:r>
              <a:rPr lang="en-US" altLang="zh-CN" sz="2400" dirty="0" err="1">
                <a:solidFill>
                  <a:srgbClr val="134F85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p.computecir</a:t>
            </a:r>
            <a:r>
              <a:rPr lang="en-US" altLang="zh-CN" sz="2400" dirty="0">
                <a:solidFill>
                  <a:srgbClr val="134F85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()&lt;&lt;</a:t>
            </a:r>
            <a:r>
              <a:rPr lang="en-US" altLang="zh-CN" sz="2400" dirty="0" err="1">
                <a:solidFill>
                  <a:srgbClr val="134F85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endl</a:t>
            </a:r>
            <a:r>
              <a:rPr lang="en-US" altLang="zh-CN" sz="2400" dirty="0">
                <a:solidFill>
                  <a:srgbClr val="134F85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;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dirty="0">
                <a:solidFill>
                  <a:srgbClr val="134F85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return 0;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dirty="0">
                <a:solidFill>
                  <a:srgbClr val="134F85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}</a:t>
            </a:r>
            <a:endParaRPr lang="zh-CN" altLang="en-US" sz="2400" dirty="0">
              <a:solidFill>
                <a:srgbClr val="134F85"/>
              </a:solidFill>
              <a:latin typeface="华光行书_CNKI" panose="02000500000000000000" pitchFamily="2" charset="-122"/>
              <a:ea typeface="华光行书_CNKI" panose="02000500000000000000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533DC06-F5EC-4100-B2D4-5ECFAB3F0035}"/>
              </a:ext>
            </a:extLst>
          </p:cNvPr>
          <p:cNvSpPr txBox="1"/>
          <p:nvPr/>
        </p:nvSpPr>
        <p:spPr>
          <a:xfrm>
            <a:off x="247719" y="224527"/>
            <a:ext cx="802877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kumimoji="1" sz="3200" b="1">
                <a:latin typeface="华光胖头鱼_CNKI" panose="02000500000000000000" pitchFamily="2" charset="-122"/>
                <a:ea typeface="华光胖头鱼_CNKI" panose="02000500000000000000" pitchFamily="2" charset="-122"/>
              </a:defRPr>
            </a:lvl1pPr>
          </a:lstStyle>
          <a:p>
            <a:r>
              <a:rPr lang="en-US" altLang="zh-CN" dirty="0"/>
              <a:t>7.2</a:t>
            </a:r>
            <a:r>
              <a:rPr lang="zh-CN" altLang="en-US" dirty="0"/>
              <a:t>类与对象</a:t>
            </a:r>
          </a:p>
        </p:txBody>
      </p:sp>
    </p:spTree>
    <p:extLst>
      <p:ext uri="{BB962C8B-B14F-4D97-AF65-F5344CB8AC3E}">
        <p14:creationId xmlns:p14="http://schemas.microsoft.com/office/powerpoint/2010/main" val="25302336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1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2)">
                                      <p:cBhvr>
                                        <p:cTn id="10" dur="2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8" grpId="0" animBg="1"/>
      <p:bldP spid="11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>
            <a:extLst>
              <a:ext uri="{FF2B5EF4-FFF2-40B4-BE49-F238E27FC236}">
                <a16:creationId xmlns:a16="http://schemas.microsoft.com/office/drawing/2014/main" id="{0321CC45-122C-4815-AB74-6812ECD67E8A}"/>
              </a:ext>
            </a:extLst>
          </p:cNvPr>
          <p:cNvSpPr/>
          <p:nvPr/>
        </p:nvSpPr>
        <p:spPr>
          <a:xfrm>
            <a:off x="794" y="176798"/>
            <a:ext cx="12190413" cy="728917"/>
          </a:xfrm>
          <a:prstGeom prst="rect">
            <a:avLst/>
          </a:prstGeom>
          <a:solidFill>
            <a:srgbClr val="26CC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3200"/>
          </a:p>
        </p:txBody>
      </p:sp>
      <p:cxnSp>
        <p:nvCxnSpPr>
          <p:cNvPr id="9" name="直线连接符 6">
            <a:extLst>
              <a:ext uri="{FF2B5EF4-FFF2-40B4-BE49-F238E27FC236}">
                <a16:creationId xmlns:a16="http://schemas.microsoft.com/office/drawing/2014/main" id="{714E748F-686D-4BD8-80EF-EC7F4D81F264}"/>
              </a:ext>
            </a:extLst>
          </p:cNvPr>
          <p:cNvCxnSpPr/>
          <p:nvPr/>
        </p:nvCxnSpPr>
        <p:spPr>
          <a:xfrm>
            <a:off x="1587" y="905715"/>
            <a:ext cx="12190413" cy="0"/>
          </a:xfrm>
          <a:prstGeom prst="line">
            <a:avLst/>
          </a:prstGeom>
          <a:ln>
            <a:solidFill>
              <a:srgbClr val="104D7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文本框 9">
            <a:extLst>
              <a:ext uri="{FF2B5EF4-FFF2-40B4-BE49-F238E27FC236}">
                <a16:creationId xmlns:a16="http://schemas.microsoft.com/office/drawing/2014/main" id="{0058EF67-E4FF-4979-824E-F88C42CB13B3}"/>
              </a:ext>
            </a:extLst>
          </p:cNvPr>
          <p:cNvSpPr txBox="1"/>
          <p:nvPr/>
        </p:nvSpPr>
        <p:spPr>
          <a:xfrm>
            <a:off x="247719" y="224527"/>
            <a:ext cx="802877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kumimoji="1" sz="3200" b="1">
                <a:latin typeface="华光胖头鱼_CNKI" panose="02000500000000000000" pitchFamily="2" charset="-122"/>
                <a:ea typeface="华光胖头鱼_CNKI" panose="02000500000000000000" pitchFamily="2" charset="-122"/>
              </a:defRPr>
            </a:lvl1pPr>
          </a:lstStyle>
          <a:p>
            <a:r>
              <a:rPr lang="en-US" altLang="zh-CN" dirty="0"/>
              <a:t>7.3</a:t>
            </a:r>
            <a:r>
              <a:rPr lang="zh-CN" altLang="en-US" dirty="0"/>
              <a:t>构造</a:t>
            </a:r>
            <a:r>
              <a:rPr lang="zh-CN" altLang="en-US" dirty="0">
                <a:sym typeface="+mn-lt"/>
              </a:rPr>
              <a:t>函数与析构函数</a:t>
            </a:r>
            <a:endParaRPr lang="zh-CN" altLang="en-US" dirty="0"/>
          </a:p>
        </p:txBody>
      </p:sp>
      <p:sp>
        <p:nvSpPr>
          <p:cNvPr id="11" name="TextBox 1">
            <a:extLst>
              <a:ext uri="{FF2B5EF4-FFF2-40B4-BE49-F238E27FC236}">
                <a16:creationId xmlns:a16="http://schemas.microsoft.com/office/drawing/2014/main" id="{1C519D55-B4F6-40A1-8DEB-64FCA64C64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87" y="1065245"/>
            <a:ext cx="2417533" cy="11387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Char char="o"/>
              <a:defRPr sz="32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o"/>
              <a:defRPr sz="24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n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0" dirty="0">
                <a:solidFill>
                  <a:srgbClr val="134F85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变量的初始化：</a:t>
            </a:r>
            <a:endParaRPr lang="en-US" altLang="zh-CN" sz="2400" b="0" dirty="0">
              <a:solidFill>
                <a:srgbClr val="134F85"/>
              </a:solidFill>
              <a:latin typeface="Comic Sans MS" panose="030F0702030302020204" pitchFamily="66" charset="0"/>
              <a:ea typeface="华光行书_CNKI" panose="02000500000000000000" pitchFamily="2" charset="-122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b="0" dirty="0">
                <a:solidFill>
                  <a:srgbClr val="134F85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int </a:t>
            </a:r>
            <a:r>
              <a:rPr lang="en-US" altLang="zh-CN" sz="2000" b="0" dirty="0" err="1">
                <a:solidFill>
                  <a:srgbClr val="134F85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i</a:t>
            </a:r>
            <a:r>
              <a:rPr lang="en-US" altLang="zh-CN" sz="2000" b="0" dirty="0">
                <a:solidFill>
                  <a:srgbClr val="134F85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 = 10</a:t>
            </a:r>
            <a:r>
              <a:rPr lang="zh-CN" altLang="en-US" sz="2000" b="0" dirty="0">
                <a:solidFill>
                  <a:srgbClr val="134F85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；</a:t>
            </a:r>
            <a:endParaRPr lang="en-US" altLang="zh-CN" sz="2000" b="0" dirty="0">
              <a:solidFill>
                <a:srgbClr val="134F85"/>
              </a:solidFill>
              <a:latin typeface="Comic Sans MS" panose="030F0702030302020204" pitchFamily="66" charset="0"/>
              <a:ea typeface="华光行书_CNKI" panose="02000500000000000000" pitchFamily="2" charset="-122"/>
            </a:endParaRPr>
          </a:p>
          <a:p>
            <a:pPr eaLnBrk="1" hangingPunct="1"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r>
              <a:rPr lang="en-US" altLang="zh-CN" sz="2000" b="0" dirty="0">
                <a:solidFill>
                  <a:srgbClr val="134F85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int </a:t>
            </a:r>
            <a:r>
              <a:rPr lang="en-US" altLang="zh-CN" sz="2000" b="0" dirty="0" err="1">
                <a:solidFill>
                  <a:srgbClr val="134F85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i</a:t>
            </a:r>
            <a:r>
              <a:rPr lang="en-US" altLang="zh-CN" sz="2000" b="0" dirty="0">
                <a:solidFill>
                  <a:srgbClr val="134F85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 (10)</a:t>
            </a:r>
            <a:r>
              <a:rPr lang="zh-CN" altLang="en-US" sz="2400" b="0" dirty="0">
                <a:solidFill>
                  <a:srgbClr val="134F85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；</a:t>
            </a:r>
            <a:endParaRPr lang="en-US" altLang="zh-CN" sz="2400" b="0" dirty="0">
              <a:solidFill>
                <a:srgbClr val="134F85"/>
              </a:solidFill>
              <a:latin typeface="Comic Sans MS" panose="030F0702030302020204" pitchFamily="66" charset="0"/>
              <a:ea typeface="华光行书_CNKI" panose="02000500000000000000" pitchFamily="2" charset="-122"/>
            </a:endParaRPr>
          </a:p>
        </p:txBody>
      </p:sp>
      <p:sp>
        <p:nvSpPr>
          <p:cNvPr id="12" name="矩形 2">
            <a:extLst>
              <a:ext uri="{FF2B5EF4-FFF2-40B4-BE49-F238E27FC236}">
                <a16:creationId xmlns:a16="http://schemas.microsoft.com/office/drawing/2014/main" id="{D492EB92-5ECE-4618-B4E8-005B5181D4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87" y="2825212"/>
            <a:ext cx="205105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Char char="o"/>
              <a:defRPr sz="32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o"/>
              <a:defRPr sz="24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n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000" b="0" dirty="0">
                <a:solidFill>
                  <a:srgbClr val="134F85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Clock  c1;</a:t>
            </a:r>
          </a:p>
        </p:txBody>
      </p:sp>
      <p:sp>
        <p:nvSpPr>
          <p:cNvPr id="14" name="Rectangle 7">
            <a:extLst>
              <a:ext uri="{FF2B5EF4-FFF2-40B4-BE49-F238E27FC236}">
                <a16:creationId xmlns:a16="http://schemas.microsoft.com/office/drawing/2014/main" id="{0713EE69-8314-43CB-BB66-A4895C0019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94887"/>
            <a:ext cx="2036762" cy="584200"/>
          </a:xfrm>
          <a:prstGeom prst="rect">
            <a:avLst/>
          </a:prstGeom>
          <a:noFill/>
          <a:ln>
            <a:noFill/>
          </a:ln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SzPct val="70000"/>
              <a:buFont typeface="Wingdings" pitchFamily="2" charset="2"/>
              <a:buChar char="o"/>
              <a:defRPr sz="32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n"/>
              <a:defRPr sz="28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o"/>
              <a:defRPr sz="24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n"/>
              <a:defRPr sz="20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zh-CN" altLang="en-US" b="1" dirty="0">
                <a:solidFill>
                  <a:srgbClr val="FF0000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构造函数</a:t>
            </a:r>
          </a:p>
        </p:txBody>
      </p:sp>
      <p:sp>
        <p:nvSpPr>
          <p:cNvPr id="15" name="Rectangle 7">
            <a:extLst>
              <a:ext uri="{FF2B5EF4-FFF2-40B4-BE49-F238E27FC236}">
                <a16:creationId xmlns:a16="http://schemas.microsoft.com/office/drawing/2014/main" id="{047E2086-812D-4B89-B9D9-5FE9A945AF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87" y="2363547"/>
            <a:ext cx="3736731" cy="461665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SzPct val="70000"/>
              <a:buFont typeface="Wingdings" pitchFamily="2" charset="2"/>
              <a:buChar char="o"/>
              <a:defRPr sz="32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n"/>
              <a:defRPr sz="28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o"/>
              <a:defRPr sz="24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n"/>
              <a:defRPr sz="20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zh-CN" altLang="en-US" sz="2400" dirty="0">
                <a:solidFill>
                  <a:srgbClr val="134F85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创建类对象时如何初始化？</a:t>
            </a:r>
          </a:p>
        </p:txBody>
      </p:sp>
      <p:sp>
        <p:nvSpPr>
          <p:cNvPr id="19" name="Text Box 12">
            <a:extLst>
              <a:ext uri="{FF2B5EF4-FFF2-40B4-BE49-F238E27FC236}">
                <a16:creationId xmlns:a16="http://schemas.microsoft.com/office/drawing/2014/main" id="{45499236-B3AE-4B66-A4C7-05470745B0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38317" y="1605176"/>
            <a:ext cx="8452095" cy="2751522"/>
          </a:xfrm>
          <a:prstGeom prst="rect">
            <a:avLst/>
          </a:prstGeom>
          <a:gradFill flip="none" rotWithShape="1">
            <a:gsLst>
              <a:gs pos="0">
                <a:srgbClr val="449EE8">
                  <a:tint val="66000"/>
                  <a:satMod val="160000"/>
                </a:srgbClr>
              </a:gs>
              <a:gs pos="50000">
                <a:srgbClr val="449EE8">
                  <a:tint val="44500"/>
                  <a:satMod val="160000"/>
                </a:srgbClr>
              </a:gs>
              <a:gs pos="100000">
                <a:srgbClr val="449EE8">
                  <a:tint val="23500"/>
                  <a:satMod val="16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SzPct val="70000"/>
              <a:buFont typeface="Wingdings" pitchFamily="2" charset="2"/>
              <a:buChar char="o"/>
              <a:defRPr sz="32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n"/>
              <a:defRPr sz="28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o"/>
              <a:defRPr sz="24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n"/>
              <a:defRPr sz="20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ts val="0"/>
              </a:spcBef>
              <a:buClrTx/>
              <a:buSzTx/>
              <a:buFontTx/>
              <a:buNone/>
              <a:defRPr/>
            </a:pPr>
            <a:r>
              <a:rPr lang="en-US" altLang="zh-CN" sz="2400" dirty="0">
                <a:solidFill>
                  <a:srgbClr val="134F85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class Clock{</a:t>
            </a:r>
          </a:p>
          <a:p>
            <a:pPr eaLnBrk="1" hangingPunct="1">
              <a:lnSpc>
                <a:spcPct val="90000"/>
              </a:lnSpc>
              <a:spcBef>
                <a:spcPts val="0"/>
              </a:spcBef>
              <a:buClrTx/>
              <a:buSzTx/>
              <a:buFontTx/>
              <a:buNone/>
              <a:defRPr/>
            </a:pPr>
            <a:r>
              <a:rPr lang="en-US" altLang="zh-CN" sz="2400" dirty="0">
                <a:solidFill>
                  <a:srgbClr val="134F85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      public: </a:t>
            </a:r>
          </a:p>
          <a:p>
            <a:pPr eaLnBrk="1" hangingPunct="1">
              <a:lnSpc>
                <a:spcPct val="90000"/>
              </a:lnSpc>
              <a:spcBef>
                <a:spcPts val="0"/>
              </a:spcBef>
              <a:buClrTx/>
              <a:buSzTx/>
              <a:buFontTx/>
              <a:buNone/>
              <a:defRPr/>
            </a:pPr>
            <a:r>
              <a:rPr lang="en-US" altLang="zh-CN" sz="2400" dirty="0">
                <a:solidFill>
                  <a:srgbClr val="134F85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          </a:t>
            </a:r>
            <a:r>
              <a:rPr lang="en-US" altLang="zh-CN" sz="2400" dirty="0">
                <a:solidFill>
                  <a:srgbClr val="FF0000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Clock(int </a:t>
            </a:r>
            <a:r>
              <a:rPr lang="en-US" altLang="zh-CN" sz="2400" dirty="0" err="1">
                <a:solidFill>
                  <a:srgbClr val="FF0000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newH</a:t>
            </a:r>
            <a:r>
              <a:rPr lang="en-US" altLang="zh-CN" sz="2400" dirty="0">
                <a:solidFill>
                  <a:srgbClr val="FF0000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, int </a:t>
            </a:r>
            <a:r>
              <a:rPr lang="en-US" altLang="zh-CN" sz="2400" dirty="0" err="1">
                <a:solidFill>
                  <a:srgbClr val="FF0000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newMe</a:t>
            </a:r>
            <a:r>
              <a:rPr lang="en-US" altLang="zh-CN" sz="2400" dirty="0">
                <a:solidFill>
                  <a:srgbClr val="FF0000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, int </a:t>
            </a:r>
            <a:r>
              <a:rPr lang="en-US" altLang="zh-CN" sz="2400" dirty="0" err="1">
                <a:solidFill>
                  <a:srgbClr val="FF0000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newS</a:t>
            </a:r>
            <a:r>
              <a:rPr lang="en-US" altLang="zh-CN" sz="2400" dirty="0">
                <a:solidFill>
                  <a:srgbClr val="FF0000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);</a:t>
            </a:r>
          </a:p>
          <a:p>
            <a:pPr eaLnBrk="1" hangingPunct="1">
              <a:lnSpc>
                <a:spcPct val="90000"/>
              </a:lnSpc>
              <a:spcBef>
                <a:spcPts val="0"/>
              </a:spcBef>
              <a:buClrTx/>
              <a:buSzTx/>
              <a:buFontTx/>
              <a:buNone/>
              <a:defRPr/>
            </a:pPr>
            <a:r>
              <a:rPr lang="en-US" altLang="zh-CN" sz="2400" dirty="0">
                <a:solidFill>
                  <a:srgbClr val="134F85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          void </a:t>
            </a:r>
            <a:r>
              <a:rPr lang="en-US" altLang="zh-CN" sz="2400" dirty="0" err="1">
                <a:solidFill>
                  <a:srgbClr val="134F85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setTime</a:t>
            </a:r>
            <a:r>
              <a:rPr lang="en-US" altLang="zh-CN" sz="2400" dirty="0">
                <a:solidFill>
                  <a:srgbClr val="134F85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(</a:t>
            </a:r>
            <a:r>
              <a:rPr lang="en-US" altLang="zh-CN" sz="2400" dirty="0" err="1">
                <a:solidFill>
                  <a:srgbClr val="134F85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int</a:t>
            </a:r>
            <a:r>
              <a:rPr lang="en-US" altLang="zh-CN" sz="2400" dirty="0">
                <a:solidFill>
                  <a:srgbClr val="134F85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 </a:t>
            </a:r>
            <a:r>
              <a:rPr lang="en-US" altLang="zh-CN" sz="2400" dirty="0" err="1">
                <a:solidFill>
                  <a:srgbClr val="134F85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newH</a:t>
            </a:r>
            <a:r>
              <a:rPr lang="en-US" altLang="zh-CN" sz="2400" dirty="0">
                <a:solidFill>
                  <a:srgbClr val="134F85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, </a:t>
            </a:r>
            <a:r>
              <a:rPr lang="en-US" altLang="zh-CN" sz="2400" dirty="0" err="1">
                <a:solidFill>
                  <a:srgbClr val="134F85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int</a:t>
            </a:r>
            <a:r>
              <a:rPr lang="en-US" altLang="zh-CN" sz="2400" dirty="0">
                <a:solidFill>
                  <a:srgbClr val="134F85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 </a:t>
            </a:r>
            <a:r>
              <a:rPr lang="en-US" altLang="zh-CN" sz="2400" dirty="0" err="1">
                <a:solidFill>
                  <a:srgbClr val="134F85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newMe</a:t>
            </a:r>
            <a:r>
              <a:rPr lang="en-US" altLang="zh-CN" sz="2400" dirty="0">
                <a:solidFill>
                  <a:srgbClr val="134F85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, </a:t>
            </a:r>
            <a:r>
              <a:rPr lang="en-US" altLang="zh-CN" sz="2400" dirty="0" err="1">
                <a:solidFill>
                  <a:srgbClr val="134F85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int</a:t>
            </a:r>
            <a:r>
              <a:rPr lang="en-US" altLang="zh-CN" sz="2400" dirty="0">
                <a:solidFill>
                  <a:srgbClr val="134F85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 </a:t>
            </a:r>
            <a:r>
              <a:rPr lang="en-US" altLang="zh-CN" sz="2400" dirty="0" err="1">
                <a:solidFill>
                  <a:srgbClr val="134F85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newS</a:t>
            </a:r>
            <a:r>
              <a:rPr lang="en-US" altLang="zh-CN" sz="2400" dirty="0">
                <a:solidFill>
                  <a:srgbClr val="134F85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);</a:t>
            </a:r>
          </a:p>
          <a:p>
            <a:pPr eaLnBrk="1" hangingPunct="1">
              <a:lnSpc>
                <a:spcPct val="90000"/>
              </a:lnSpc>
              <a:spcBef>
                <a:spcPts val="0"/>
              </a:spcBef>
              <a:buClrTx/>
              <a:buSzTx/>
              <a:buFontTx/>
              <a:buNone/>
              <a:defRPr/>
            </a:pPr>
            <a:r>
              <a:rPr lang="en-US" altLang="zh-CN" sz="2400" dirty="0">
                <a:solidFill>
                  <a:srgbClr val="134F85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          void </a:t>
            </a:r>
            <a:r>
              <a:rPr lang="en-US" altLang="zh-CN" sz="2400" dirty="0" err="1">
                <a:solidFill>
                  <a:srgbClr val="134F85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showTime</a:t>
            </a:r>
            <a:r>
              <a:rPr lang="en-US" altLang="zh-CN" sz="2400" dirty="0">
                <a:solidFill>
                  <a:srgbClr val="134F85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();</a:t>
            </a:r>
          </a:p>
          <a:p>
            <a:pPr eaLnBrk="1" hangingPunct="1">
              <a:lnSpc>
                <a:spcPct val="90000"/>
              </a:lnSpc>
              <a:spcBef>
                <a:spcPts val="0"/>
              </a:spcBef>
              <a:buClrTx/>
              <a:buSzTx/>
              <a:buFontTx/>
              <a:buNone/>
              <a:defRPr/>
            </a:pPr>
            <a:r>
              <a:rPr lang="en-US" altLang="zh-CN" sz="2400" dirty="0">
                <a:solidFill>
                  <a:srgbClr val="134F85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      private:</a:t>
            </a:r>
          </a:p>
          <a:p>
            <a:pPr eaLnBrk="1" hangingPunct="1">
              <a:lnSpc>
                <a:spcPct val="90000"/>
              </a:lnSpc>
              <a:spcBef>
                <a:spcPts val="0"/>
              </a:spcBef>
              <a:buClrTx/>
              <a:buSzTx/>
              <a:buFontTx/>
              <a:buNone/>
              <a:defRPr/>
            </a:pPr>
            <a:r>
              <a:rPr lang="en-US" altLang="zh-CN" sz="2400" dirty="0">
                <a:solidFill>
                  <a:srgbClr val="134F85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           </a:t>
            </a:r>
            <a:r>
              <a:rPr lang="en-US" altLang="zh-CN" sz="2400" dirty="0" err="1">
                <a:solidFill>
                  <a:srgbClr val="134F85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int</a:t>
            </a:r>
            <a:r>
              <a:rPr lang="en-US" altLang="zh-CN" sz="2400" dirty="0">
                <a:solidFill>
                  <a:srgbClr val="134F85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 hour, minute, second;</a:t>
            </a:r>
          </a:p>
          <a:p>
            <a:pPr eaLnBrk="1" hangingPunct="1">
              <a:lnSpc>
                <a:spcPct val="90000"/>
              </a:lnSpc>
              <a:spcBef>
                <a:spcPts val="0"/>
              </a:spcBef>
              <a:buClrTx/>
              <a:buSzTx/>
              <a:buFontTx/>
              <a:buNone/>
              <a:defRPr/>
            </a:pPr>
            <a:r>
              <a:rPr lang="en-US" altLang="zh-CN" sz="2400" dirty="0">
                <a:solidFill>
                  <a:srgbClr val="134F85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};</a:t>
            </a:r>
          </a:p>
        </p:txBody>
      </p:sp>
      <p:sp>
        <p:nvSpPr>
          <p:cNvPr id="20" name="Text Box 12">
            <a:extLst>
              <a:ext uri="{FF2B5EF4-FFF2-40B4-BE49-F238E27FC236}">
                <a16:creationId xmlns:a16="http://schemas.microsoft.com/office/drawing/2014/main" id="{2CAC961A-0F3B-449C-8577-ED0AD551E9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83120" y="4152706"/>
            <a:ext cx="7307292" cy="2308324"/>
          </a:xfrm>
          <a:prstGeom prst="rect">
            <a:avLst/>
          </a:prstGeom>
          <a:gradFill flip="none" rotWithShape="1">
            <a:gsLst>
              <a:gs pos="0">
                <a:srgbClr val="76B8EE">
                  <a:tint val="66000"/>
                  <a:satMod val="160000"/>
                </a:srgbClr>
              </a:gs>
              <a:gs pos="50000">
                <a:srgbClr val="76B8EE">
                  <a:tint val="44500"/>
                  <a:satMod val="160000"/>
                </a:srgbClr>
              </a:gs>
              <a:gs pos="100000">
                <a:srgbClr val="76B8EE">
                  <a:tint val="23500"/>
                  <a:satMod val="160000"/>
                </a:srgbClr>
              </a:gs>
            </a:gsLst>
            <a:lin ang="5400000" scaled="1"/>
            <a:tileRect/>
          </a:gradFill>
          <a:ln>
            <a:solidFill>
              <a:schemeClr val="accent1"/>
            </a:solidFill>
          </a:ln>
        </p:spPr>
        <p:txBody>
          <a:bodyPr wrap="square" lIns="0" rIns="0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SzPct val="70000"/>
              <a:buFont typeface="Wingdings" pitchFamily="2" charset="2"/>
              <a:buChar char="o"/>
              <a:defRPr sz="32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n"/>
              <a:defRPr sz="28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o"/>
              <a:defRPr sz="24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n"/>
              <a:defRPr sz="20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ts val="0"/>
              </a:spcBef>
              <a:buClrTx/>
              <a:buSzTx/>
              <a:buFontTx/>
              <a:buNone/>
              <a:defRPr/>
            </a:pPr>
            <a:r>
              <a:rPr lang="en-US" altLang="zh-CN" sz="2400" dirty="0">
                <a:solidFill>
                  <a:srgbClr val="FF0000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Clock:: Clock</a:t>
            </a:r>
            <a:r>
              <a:rPr lang="en-US" altLang="zh-CN" sz="2400" dirty="0">
                <a:solidFill>
                  <a:srgbClr val="134F85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(</a:t>
            </a:r>
            <a:r>
              <a:rPr lang="en-US" altLang="zh-CN" sz="2400" dirty="0" err="1">
                <a:solidFill>
                  <a:srgbClr val="134F85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int</a:t>
            </a:r>
            <a:r>
              <a:rPr lang="en-US" altLang="zh-CN" sz="2400" dirty="0">
                <a:solidFill>
                  <a:srgbClr val="134F85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 </a:t>
            </a:r>
            <a:r>
              <a:rPr lang="en-US" altLang="zh-CN" sz="2400" dirty="0" err="1">
                <a:solidFill>
                  <a:srgbClr val="134F85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newH</a:t>
            </a:r>
            <a:r>
              <a:rPr lang="en-US" altLang="zh-CN" sz="2400" dirty="0">
                <a:solidFill>
                  <a:srgbClr val="134F85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, </a:t>
            </a:r>
            <a:r>
              <a:rPr lang="en-US" altLang="zh-CN" sz="2400" dirty="0" err="1">
                <a:solidFill>
                  <a:srgbClr val="134F85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int</a:t>
            </a:r>
            <a:r>
              <a:rPr lang="en-US" altLang="zh-CN" sz="2400" dirty="0">
                <a:solidFill>
                  <a:srgbClr val="134F85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 </a:t>
            </a:r>
            <a:r>
              <a:rPr lang="en-US" altLang="zh-CN" sz="2400" dirty="0" err="1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newM</a:t>
            </a:r>
            <a:r>
              <a:rPr lang="en-US" altLang="zh-CN" sz="2400" dirty="0">
                <a:solidFill>
                  <a:srgbClr val="134F85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, </a:t>
            </a:r>
            <a:r>
              <a:rPr lang="en-US" altLang="zh-CN" sz="2400" dirty="0" err="1">
                <a:solidFill>
                  <a:srgbClr val="134F85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int</a:t>
            </a:r>
            <a:r>
              <a:rPr lang="en-US" altLang="zh-CN" sz="2400" dirty="0">
                <a:solidFill>
                  <a:srgbClr val="134F85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 </a:t>
            </a:r>
            <a:r>
              <a:rPr lang="en-US" altLang="zh-CN" sz="2400" dirty="0" err="1">
                <a:solidFill>
                  <a:srgbClr val="134F85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newS</a:t>
            </a:r>
            <a:r>
              <a:rPr lang="en-US" altLang="zh-CN" sz="2400" dirty="0">
                <a:solidFill>
                  <a:srgbClr val="134F85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){</a:t>
            </a:r>
          </a:p>
          <a:p>
            <a:pPr eaLnBrk="1" hangingPunct="1">
              <a:spcBef>
                <a:spcPts val="0"/>
              </a:spcBef>
              <a:buClrTx/>
              <a:buSzTx/>
              <a:buFontTx/>
              <a:buNone/>
              <a:defRPr/>
            </a:pPr>
            <a:r>
              <a:rPr lang="en-US" altLang="zh-CN" sz="2400" dirty="0">
                <a:solidFill>
                  <a:srgbClr val="134F85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    hour = </a:t>
            </a:r>
            <a:r>
              <a:rPr lang="en-US" altLang="zh-CN" sz="2400" dirty="0" err="1">
                <a:solidFill>
                  <a:srgbClr val="134F85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newH</a:t>
            </a:r>
            <a:r>
              <a:rPr lang="en-US" altLang="zh-CN" sz="2400" dirty="0">
                <a:solidFill>
                  <a:srgbClr val="134F85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;     </a:t>
            </a:r>
          </a:p>
          <a:p>
            <a:pPr eaLnBrk="1" hangingPunct="1">
              <a:spcBef>
                <a:spcPts val="0"/>
              </a:spcBef>
              <a:buClrTx/>
              <a:buSzTx/>
              <a:buFontTx/>
              <a:buNone/>
              <a:defRPr/>
            </a:pPr>
            <a:r>
              <a:rPr lang="en-US" altLang="zh-CN" sz="2400" dirty="0">
                <a:solidFill>
                  <a:srgbClr val="134F85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    minute = </a:t>
            </a:r>
            <a:r>
              <a:rPr lang="en-US" altLang="zh-CN" sz="2400" dirty="0" err="1">
                <a:solidFill>
                  <a:srgbClr val="134F85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newM</a:t>
            </a:r>
            <a:r>
              <a:rPr lang="en-US" altLang="zh-CN" sz="2400" dirty="0">
                <a:solidFill>
                  <a:srgbClr val="134F85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;  </a:t>
            </a:r>
          </a:p>
          <a:p>
            <a:pPr eaLnBrk="1" hangingPunct="1">
              <a:spcBef>
                <a:spcPts val="0"/>
              </a:spcBef>
              <a:buClrTx/>
              <a:buSzTx/>
              <a:buFontTx/>
              <a:buNone/>
              <a:defRPr/>
            </a:pPr>
            <a:r>
              <a:rPr lang="en-US" altLang="zh-CN" sz="2400" dirty="0">
                <a:solidFill>
                  <a:srgbClr val="134F85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    second = </a:t>
            </a:r>
            <a:r>
              <a:rPr lang="en-US" altLang="zh-CN" sz="2400" dirty="0" err="1">
                <a:solidFill>
                  <a:srgbClr val="134F85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newS</a:t>
            </a:r>
            <a:r>
              <a:rPr lang="en-US" altLang="zh-CN" sz="2400" dirty="0">
                <a:solidFill>
                  <a:srgbClr val="134F85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;</a:t>
            </a:r>
          </a:p>
          <a:p>
            <a:pPr eaLnBrk="1" hangingPunct="1">
              <a:spcBef>
                <a:spcPts val="0"/>
              </a:spcBef>
              <a:buClrTx/>
              <a:buSzTx/>
              <a:buFontTx/>
              <a:buNone/>
              <a:defRPr/>
            </a:pPr>
            <a:r>
              <a:rPr lang="en-US" altLang="zh-CN" sz="2400" dirty="0">
                <a:solidFill>
                  <a:srgbClr val="134F85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    </a:t>
            </a:r>
            <a:r>
              <a:rPr lang="en-US" altLang="zh-CN" sz="2400" dirty="0" err="1">
                <a:solidFill>
                  <a:srgbClr val="134F85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cout</a:t>
            </a:r>
            <a:r>
              <a:rPr lang="en-US" altLang="zh-CN" sz="2400" dirty="0">
                <a:solidFill>
                  <a:srgbClr val="134F85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&lt;&lt;“</a:t>
            </a:r>
            <a:r>
              <a:rPr lang="zh-CN" altLang="en-US" sz="2400" dirty="0">
                <a:solidFill>
                  <a:srgbClr val="134F85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有参构造函数被调用</a:t>
            </a:r>
            <a:r>
              <a:rPr lang="en-US" altLang="zh-CN" sz="2400" dirty="0">
                <a:solidFill>
                  <a:srgbClr val="134F85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\n”;</a:t>
            </a:r>
          </a:p>
          <a:p>
            <a:pPr eaLnBrk="1" hangingPunct="1">
              <a:spcBef>
                <a:spcPts val="0"/>
              </a:spcBef>
              <a:buClrTx/>
              <a:buSzTx/>
              <a:buFontTx/>
              <a:buNone/>
              <a:defRPr/>
            </a:pPr>
            <a:r>
              <a:rPr lang="en-US" altLang="zh-CN" sz="2400" dirty="0">
                <a:solidFill>
                  <a:srgbClr val="134F85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}</a:t>
            </a:r>
          </a:p>
        </p:txBody>
      </p:sp>
      <p:sp>
        <p:nvSpPr>
          <p:cNvPr id="21" name="Rectangle 25">
            <a:extLst>
              <a:ext uri="{FF2B5EF4-FFF2-40B4-BE49-F238E27FC236}">
                <a16:creationId xmlns:a16="http://schemas.microsoft.com/office/drawing/2014/main" id="{EF5B0A3D-442F-40F4-93F4-5A98E2E4F0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72086" y="5009861"/>
            <a:ext cx="2419914" cy="1884848"/>
          </a:xfrm>
          <a:prstGeom prst="rect">
            <a:avLst/>
          </a:prstGeom>
          <a:gradFill flip="none" rotWithShape="1">
            <a:gsLst>
              <a:gs pos="0">
                <a:srgbClr val="98C9F2">
                  <a:tint val="66000"/>
                  <a:satMod val="160000"/>
                </a:srgbClr>
              </a:gs>
              <a:gs pos="50000">
                <a:srgbClr val="98C9F2">
                  <a:tint val="44500"/>
                  <a:satMod val="160000"/>
                </a:srgbClr>
              </a:gs>
              <a:gs pos="100000">
                <a:srgbClr val="98C9F2">
                  <a:tint val="23500"/>
                  <a:satMod val="160000"/>
                </a:srgbClr>
              </a:gs>
            </a:gsLst>
            <a:lin ang="8100000" scaled="1"/>
            <a:tileRect/>
          </a:gradFill>
          <a:ln>
            <a:solidFill>
              <a:schemeClr val="accent1"/>
            </a:solidFill>
          </a:ln>
        </p:spPr>
        <p:txBody>
          <a:bodyPr wrap="square" tIns="0" bIns="0">
            <a:no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SzPct val="70000"/>
              <a:buFont typeface="Wingdings" pitchFamily="2" charset="2"/>
              <a:buChar char="o"/>
              <a:defRPr sz="32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n"/>
              <a:defRPr sz="28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o"/>
              <a:defRPr sz="24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n"/>
              <a:defRPr sz="20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ts val="0"/>
              </a:spcBef>
              <a:buClrTx/>
              <a:buSzTx/>
              <a:buFontTx/>
              <a:buNone/>
              <a:defRPr/>
            </a:pPr>
            <a:r>
              <a:rPr kumimoji="1" lang="en-US" altLang="zh-CN" sz="2400" dirty="0" err="1">
                <a:solidFill>
                  <a:srgbClr val="134F85"/>
                </a:solidFill>
                <a:latin typeface="Comic Sans MS" panose="030F0702030302020204" pitchFamily="66" charset="0"/>
                <a:ea typeface="宋体" pitchFamily="2" charset="-122"/>
              </a:rPr>
              <a:t>int</a:t>
            </a:r>
            <a:r>
              <a:rPr kumimoji="1" lang="en-US" altLang="zh-CN" sz="2400" dirty="0">
                <a:solidFill>
                  <a:srgbClr val="134F85"/>
                </a:solidFill>
                <a:latin typeface="Comic Sans MS" panose="030F0702030302020204" pitchFamily="66" charset="0"/>
                <a:ea typeface="宋体" pitchFamily="2" charset="-122"/>
              </a:rPr>
              <a:t> main()</a:t>
            </a:r>
          </a:p>
          <a:p>
            <a:pPr eaLnBrk="1" hangingPunct="1">
              <a:spcBef>
                <a:spcPts val="0"/>
              </a:spcBef>
              <a:buClrTx/>
              <a:buSzTx/>
              <a:buFontTx/>
              <a:buNone/>
              <a:defRPr/>
            </a:pPr>
            <a:r>
              <a:rPr kumimoji="1" lang="en-US" altLang="zh-CN" sz="2400" dirty="0">
                <a:solidFill>
                  <a:srgbClr val="134F85"/>
                </a:solidFill>
                <a:latin typeface="Comic Sans MS" panose="030F0702030302020204" pitchFamily="66" charset="0"/>
                <a:ea typeface="宋体" pitchFamily="2" charset="-122"/>
              </a:rPr>
              <a:t>{Clock  c(0,0,0);</a:t>
            </a:r>
          </a:p>
          <a:p>
            <a:pPr eaLnBrk="1" hangingPunct="1">
              <a:spcBef>
                <a:spcPts val="0"/>
              </a:spcBef>
              <a:buClrTx/>
              <a:buSzTx/>
              <a:buFont typeface="Wingdings" pitchFamily="2" charset="2"/>
              <a:buNone/>
              <a:defRPr/>
            </a:pPr>
            <a:r>
              <a:rPr kumimoji="1" lang="en-US" altLang="zh-CN" sz="2400" dirty="0">
                <a:solidFill>
                  <a:srgbClr val="134F85"/>
                </a:solidFill>
                <a:latin typeface="Comic Sans MS" panose="030F0702030302020204" pitchFamily="66" charset="0"/>
                <a:ea typeface="宋体" pitchFamily="2" charset="-122"/>
              </a:rPr>
              <a:t>  </a:t>
            </a:r>
            <a:r>
              <a:rPr kumimoji="1" lang="en-US" altLang="zh-CN" sz="2400" dirty="0" err="1">
                <a:solidFill>
                  <a:srgbClr val="134F85"/>
                </a:solidFill>
                <a:latin typeface="Comic Sans MS" panose="030F0702030302020204" pitchFamily="66" charset="0"/>
                <a:ea typeface="宋体" pitchFamily="2" charset="-122"/>
              </a:rPr>
              <a:t>c.showTime</a:t>
            </a:r>
            <a:r>
              <a:rPr kumimoji="1" lang="en-US" altLang="zh-CN" sz="2400" dirty="0">
                <a:solidFill>
                  <a:srgbClr val="134F85"/>
                </a:solidFill>
                <a:latin typeface="Comic Sans MS" panose="030F0702030302020204" pitchFamily="66" charset="0"/>
                <a:ea typeface="宋体" pitchFamily="2" charset="-122"/>
              </a:rPr>
              <a:t>();</a:t>
            </a:r>
            <a:endParaRPr kumimoji="1" lang="zh-CN" altLang="en-US" sz="2400" dirty="0">
              <a:solidFill>
                <a:srgbClr val="134F85"/>
              </a:solidFill>
              <a:latin typeface="Comic Sans MS" panose="030F0702030302020204" pitchFamily="66" charset="0"/>
              <a:ea typeface="宋体" pitchFamily="2" charset="-122"/>
            </a:endParaRPr>
          </a:p>
          <a:p>
            <a:pPr eaLnBrk="1" hangingPunct="1">
              <a:spcBef>
                <a:spcPts val="0"/>
              </a:spcBef>
              <a:buClrTx/>
              <a:buSzTx/>
              <a:buFontTx/>
              <a:buNone/>
              <a:defRPr/>
            </a:pPr>
            <a:r>
              <a:rPr kumimoji="1" lang="en-US" altLang="zh-CN" sz="2400" dirty="0">
                <a:solidFill>
                  <a:srgbClr val="134F85"/>
                </a:solidFill>
                <a:latin typeface="Comic Sans MS" panose="030F0702030302020204" pitchFamily="66" charset="0"/>
                <a:ea typeface="宋体" pitchFamily="2" charset="-122"/>
              </a:rPr>
              <a:t> return 0</a:t>
            </a:r>
            <a:r>
              <a:rPr kumimoji="1" lang="zh-CN" altLang="en-US" sz="2400" dirty="0">
                <a:solidFill>
                  <a:srgbClr val="134F85"/>
                </a:solidFill>
                <a:latin typeface="Comic Sans MS" panose="030F0702030302020204" pitchFamily="66" charset="0"/>
                <a:ea typeface="宋体" pitchFamily="2" charset="-122"/>
              </a:rPr>
              <a:t>；</a:t>
            </a:r>
            <a:r>
              <a:rPr kumimoji="1" lang="en-US" altLang="zh-CN" sz="2400" dirty="0">
                <a:solidFill>
                  <a:srgbClr val="134F85"/>
                </a:solidFill>
                <a:latin typeface="Comic Sans MS" panose="030F0702030302020204" pitchFamily="66" charset="0"/>
                <a:ea typeface="宋体" pitchFamily="2" charset="-122"/>
              </a:rPr>
              <a:t>	</a:t>
            </a:r>
          </a:p>
          <a:p>
            <a:pPr eaLnBrk="1" hangingPunct="1">
              <a:spcBef>
                <a:spcPts val="0"/>
              </a:spcBef>
              <a:buClrTx/>
              <a:buSzTx/>
              <a:buFontTx/>
              <a:buNone/>
              <a:defRPr/>
            </a:pPr>
            <a:r>
              <a:rPr kumimoji="1" lang="en-US" altLang="zh-CN" sz="2400" dirty="0">
                <a:solidFill>
                  <a:srgbClr val="134F85"/>
                </a:solidFill>
                <a:latin typeface="Comic Sans MS" panose="030F0702030302020204" pitchFamily="66" charset="0"/>
                <a:ea typeface="宋体" pitchFamily="2" charset="-122"/>
              </a:rPr>
              <a:t>}</a:t>
            </a:r>
          </a:p>
        </p:txBody>
      </p:sp>
      <p:sp>
        <p:nvSpPr>
          <p:cNvPr id="22" name="Text Box 12">
            <a:extLst>
              <a:ext uri="{FF2B5EF4-FFF2-40B4-BE49-F238E27FC236}">
                <a16:creationId xmlns:a16="http://schemas.microsoft.com/office/drawing/2014/main" id="{98A60B30-389E-4044-80BB-1495E2A29C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60142" y="0"/>
            <a:ext cx="6630270" cy="1702771"/>
          </a:xfrm>
          <a:prstGeom prst="rect">
            <a:avLst/>
          </a:prstGeom>
          <a:solidFill>
            <a:srgbClr val="FFE181"/>
          </a:solidFill>
          <a:ln>
            <a:solidFill>
              <a:schemeClr val="bg1"/>
            </a:solidFill>
          </a:ln>
        </p:spPr>
        <p:txBody>
          <a:bodyPr wrap="square" lIns="0" rIns="0" anchor="ctr" anchorCtr="0">
            <a:no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SzPct val="70000"/>
              <a:buFont typeface="Wingdings" pitchFamily="2" charset="2"/>
              <a:buChar char="o"/>
              <a:defRPr sz="32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n"/>
              <a:defRPr sz="28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o"/>
              <a:defRPr sz="24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n"/>
              <a:defRPr sz="20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ts val="0"/>
              </a:spcBef>
              <a:buClrTx/>
              <a:buSzTx/>
              <a:buFontTx/>
              <a:buNone/>
              <a:defRPr/>
            </a:pPr>
            <a:r>
              <a:rPr lang="en-US" altLang="zh-CN" sz="2400" dirty="0">
                <a:solidFill>
                  <a:srgbClr val="104E87"/>
                </a:solidFill>
                <a:latin typeface="Comic Sans MS" panose="030F0702030302020204" pitchFamily="66" charset="0"/>
                <a:ea typeface="黑体" panose="02010609060101010101" pitchFamily="49" charset="-122"/>
              </a:rPr>
              <a:t>Clock:: Clock(</a:t>
            </a:r>
            <a:r>
              <a:rPr lang="en-US" altLang="zh-CN" sz="2400" dirty="0" err="1">
                <a:solidFill>
                  <a:srgbClr val="104E87"/>
                </a:solidFill>
                <a:latin typeface="Comic Sans MS" panose="030F0702030302020204" pitchFamily="66" charset="0"/>
                <a:ea typeface="黑体" panose="02010609060101010101" pitchFamily="49" charset="-122"/>
              </a:rPr>
              <a:t>int</a:t>
            </a:r>
            <a:r>
              <a:rPr lang="en-US" altLang="zh-CN" sz="2400" dirty="0">
                <a:solidFill>
                  <a:srgbClr val="104E87"/>
                </a:solidFill>
                <a:latin typeface="Comic Sans MS" panose="030F0702030302020204" pitchFamily="66" charset="0"/>
                <a:ea typeface="黑体" panose="02010609060101010101" pitchFamily="49" charset="-122"/>
              </a:rPr>
              <a:t> </a:t>
            </a:r>
            <a:r>
              <a:rPr lang="en-US" altLang="zh-CN" sz="2400" dirty="0" err="1">
                <a:solidFill>
                  <a:srgbClr val="104E87"/>
                </a:solidFill>
                <a:latin typeface="Comic Sans MS" panose="030F0702030302020204" pitchFamily="66" charset="0"/>
                <a:ea typeface="黑体" panose="02010609060101010101" pitchFamily="49" charset="-122"/>
              </a:rPr>
              <a:t>newH</a:t>
            </a:r>
            <a:r>
              <a:rPr lang="en-US" altLang="zh-CN" sz="2400" dirty="0">
                <a:solidFill>
                  <a:srgbClr val="104E87"/>
                </a:solidFill>
                <a:latin typeface="Comic Sans MS" panose="030F0702030302020204" pitchFamily="66" charset="0"/>
                <a:ea typeface="黑体" panose="02010609060101010101" pitchFamily="49" charset="-122"/>
              </a:rPr>
              <a:t>, </a:t>
            </a:r>
            <a:r>
              <a:rPr lang="en-US" altLang="zh-CN" sz="2400" dirty="0" err="1">
                <a:solidFill>
                  <a:srgbClr val="104E87"/>
                </a:solidFill>
                <a:latin typeface="Comic Sans MS" panose="030F0702030302020204" pitchFamily="66" charset="0"/>
                <a:ea typeface="黑体" panose="02010609060101010101" pitchFamily="49" charset="-122"/>
              </a:rPr>
              <a:t>int</a:t>
            </a:r>
            <a:r>
              <a:rPr lang="en-US" altLang="zh-CN" sz="2400" dirty="0">
                <a:solidFill>
                  <a:srgbClr val="104E87"/>
                </a:solidFill>
                <a:latin typeface="Comic Sans MS" panose="030F0702030302020204" pitchFamily="66" charset="0"/>
                <a:ea typeface="黑体" panose="02010609060101010101" pitchFamily="49" charset="-122"/>
              </a:rPr>
              <a:t> </a:t>
            </a:r>
            <a:r>
              <a:rPr lang="en-US" altLang="zh-CN" sz="2400" dirty="0" err="1">
                <a:solidFill>
                  <a:srgbClr val="104E87"/>
                </a:solidFill>
                <a:latin typeface="Comic Sans MS" panose="030F0702030302020204" pitchFamily="66" charset="0"/>
                <a:ea typeface="黑体" panose="02010609060101010101" pitchFamily="49" charset="-122"/>
              </a:rPr>
              <a:t>newMe</a:t>
            </a:r>
            <a:r>
              <a:rPr lang="en-US" altLang="zh-CN" sz="2400" dirty="0">
                <a:solidFill>
                  <a:srgbClr val="104E87"/>
                </a:solidFill>
                <a:latin typeface="Comic Sans MS" panose="030F0702030302020204" pitchFamily="66" charset="0"/>
                <a:ea typeface="黑体" panose="02010609060101010101" pitchFamily="49" charset="-122"/>
              </a:rPr>
              <a:t>, </a:t>
            </a:r>
            <a:r>
              <a:rPr lang="en-US" altLang="zh-CN" sz="2400" dirty="0" err="1">
                <a:solidFill>
                  <a:srgbClr val="104E87"/>
                </a:solidFill>
                <a:latin typeface="Comic Sans MS" panose="030F0702030302020204" pitchFamily="66" charset="0"/>
                <a:ea typeface="黑体" panose="02010609060101010101" pitchFamily="49" charset="-122"/>
              </a:rPr>
              <a:t>int</a:t>
            </a:r>
            <a:r>
              <a:rPr lang="en-US" altLang="zh-CN" sz="2400" dirty="0">
                <a:solidFill>
                  <a:srgbClr val="104E87"/>
                </a:solidFill>
                <a:latin typeface="Comic Sans MS" panose="030F0702030302020204" pitchFamily="66" charset="0"/>
                <a:ea typeface="黑体" panose="02010609060101010101" pitchFamily="49" charset="-122"/>
              </a:rPr>
              <a:t> </a:t>
            </a:r>
            <a:r>
              <a:rPr lang="en-US" altLang="zh-CN" sz="2400" dirty="0" err="1">
                <a:solidFill>
                  <a:srgbClr val="104E87"/>
                </a:solidFill>
                <a:latin typeface="Comic Sans MS" panose="030F0702030302020204" pitchFamily="66" charset="0"/>
                <a:ea typeface="黑体" panose="02010609060101010101" pitchFamily="49" charset="-122"/>
              </a:rPr>
              <a:t>newS</a:t>
            </a:r>
            <a:r>
              <a:rPr lang="en-US" altLang="zh-CN" sz="2400" dirty="0">
                <a:solidFill>
                  <a:srgbClr val="104E87"/>
                </a:solidFill>
                <a:latin typeface="Comic Sans MS" panose="030F0702030302020204" pitchFamily="66" charset="0"/>
                <a:ea typeface="黑体" panose="02010609060101010101" pitchFamily="49" charset="-122"/>
              </a:rPr>
              <a:t>)</a:t>
            </a:r>
            <a:r>
              <a:rPr lang="en-US" altLang="zh-CN" sz="2400" dirty="0">
                <a:solidFill>
                  <a:srgbClr val="FF0000"/>
                </a:solidFill>
                <a:latin typeface="Comic Sans MS" panose="030F0702030302020204" pitchFamily="66" charset="0"/>
                <a:ea typeface="黑体" panose="02010609060101010101" pitchFamily="49" charset="-122"/>
              </a:rPr>
              <a:t>: hour(</a:t>
            </a:r>
            <a:r>
              <a:rPr lang="en-US" altLang="zh-CN" sz="2400" dirty="0" err="1">
                <a:solidFill>
                  <a:srgbClr val="FF0000"/>
                </a:solidFill>
                <a:latin typeface="Comic Sans MS" panose="030F0702030302020204" pitchFamily="66" charset="0"/>
                <a:ea typeface="黑体" panose="02010609060101010101" pitchFamily="49" charset="-122"/>
              </a:rPr>
              <a:t>newH</a:t>
            </a:r>
            <a:r>
              <a:rPr lang="en-US" altLang="zh-CN" sz="2400" dirty="0">
                <a:solidFill>
                  <a:srgbClr val="FF0000"/>
                </a:solidFill>
                <a:latin typeface="Comic Sans MS" panose="030F0702030302020204" pitchFamily="66" charset="0"/>
                <a:ea typeface="黑体" panose="02010609060101010101" pitchFamily="49" charset="-122"/>
              </a:rPr>
              <a:t>),minute(</a:t>
            </a:r>
            <a:r>
              <a:rPr lang="en-US" altLang="zh-CN" sz="2400" dirty="0" err="1">
                <a:solidFill>
                  <a:srgbClr val="FF0000"/>
                </a:solidFill>
                <a:latin typeface="Comic Sans MS" panose="030F0702030302020204" pitchFamily="66" charset="0"/>
                <a:ea typeface="黑体" panose="02010609060101010101" pitchFamily="49" charset="-122"/>
              </a:rPr>
              <a:t>newM</a:t>
            </a:r>
            <a:r>
              <a:rPr lang="en-US" altLang="zh-CN" sz="2400" dirty="0">
                <a:solidFill>
                  <a:srgbClr val="FF0000"/>
                </a:solidFill>
                <a:latin typeface="Comic Sans MS" panose="030F0702030302020204" pitchFamily="66" charset="0"/>
                <a:ea typeface="黑体" panose="02010609060101010101" pitchFamily="49" charset="-122"/>
              </a:rPr>
              <a:t>),second(</a:t>
            </a:r>
            <a:r>
              <a:rPr lang="en-US" altLang="zh-CN" sz="2400" dirty="0" err="1">
                <a:solidFill>
                  <a:srgbClr val="FF0000"/>
                </a:solidFill>
                <a:latin typeface="Comic Sans MS" panose="030F0702030302020204" pitchFamily="66" charset="0"/>
                <a:ea typeface="黑体" panose="02010609060101010101" pitchFamily="49" charset="-122"/>
              </a:rPr>
              <a:t>newS</a:t>
            </a:r>
            <a:r>
              <a:rPr lang="en-US" altLang="zh-CN" sz="2400" dirty="0">
                <a:solidFill>
                  <a:srgbClr val="FF0000"/>
                </a:solidFill>
                <a:latin typeface="Comic Sans MS" panose="030F0702030302020204" pitchFamily="66" charset="0"/>
                <a:ea typeface="黑体" panose="02010609060101010101" pitchFamily="49" charset="-122"/>
              </a:rPr>
              <a:t>)</a:t>
            </a:r>
          </a:p>
          <a:p>
            <a:pPr eaLnBrk="1" hangingPunct="1">
              <a:spcBef>
                <a:spcPts val="0"/>
              </a:spcBef>
              <a:buClrTx/>
              <a:buSzTx/>
              <a:buNone/>
              <a:defRPr/>
            </a:pPr>
            <a:r>
              <a:rPr lang="en-US" altLang="zh-CN" sz="2400" dirty="0">
                <a:solidFill>
                  <a:srgbClr val="104E87"/>
                </a:solidFill>
                <a:latin typeface="Comic Sans MS" panose="030F0702030302020204" pitchFamily="66" charset="0"/>
                <a:ea typeface="黑体" panose="02010609060101010101" pitchFamily="49" charset="-122"/>
              </a:rPr>
              <a:t>{</a:t>
            </a:r>
            <a:r>
              <a:rPr lang="en-US" altLang="zh-CN" sz="2400" dirty="0" err="1">
                <a:solidFill>
                  <a:srgbClr val="134F85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cout</a:t>
            </a:r>
            <a:r>
              <a:rPr lang="en-US" altLang="zh-CN" sz="2400" dirty="0">
                <a:solidFill>
                  <a:srgbClr val="134F85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&lt;&lt;“</a:t>
            </a:r>
            <a:r>
              <a:rPr lang="zh-CN" altLang="en-US" sz="2400" dirty="0">
                <a:solidFill>
                  <a:srgbClr val="134F85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有参构造函数被调用</a:t>
            </a:r>
            <a:r>
              <a:rPr lang="en-US" altLang="zh-CN" sz="2400" dirty="0">
                <a:solidFill>
                  <a:srgbClr val="134F85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\n”;</a:t>
            </a:r>
            <a:endParaRPr lang="en-US" altLang="zh-CN" sz="2400" dirty="0">
              <a:solidFill>
                <a:srgbClr val="104E87"/>
              </a:solidFill>
              <a:latin typeface="Comic Sans MS" panose="030F0702030302020204" pitchFamily="66" charset="0"/>
              <a:ea typeface="黑体" panose="02010609060101010101" pitchFamily="49" charset="-122"/>
            </a:endParaRPr>
          </a:p>
          <a:p>
            <a:pPr eaLnBrk="1" hangingPunct="1">
              <a:spcBef>
                <a:spcPts val="0"/>
              </a:spcBef>
              <a:buClrTx/>
              <a:buSzTx/>
              <a:buFontTx/>
              <a:buNone/>
              <a:defRPr/>
            </a:pPr>
            <a:r>
              <a:rPr lang="en-US" altLang="zh-CN" sz="2400" dirty="0">
                <a:solidFill>
                  <a:srgbClr val="104E87"/>
                </a:solidFill>
                <a:latin typeface="Comic Sans MS" panose="030F0702030302020204" pitchFamily="66" charset="0"/>
                <a:ea typeface="黑体" panose="02010609060101010101" pitchFamily="49" charset="-122"/>
              </a:rPr>
              <a:t>}</a:t>
            </a:r>
          </a:p>
        </p:txBody>
      </p:sp>
      <p:sp>
        <p:nvSpPr>
          <p:cNvPr id="23" name="Rectangle 25">
            <a:extLst>
              <a:ext uri="{FF2B5EF4-FFF2-40B4-BE49-F238E27FC236}">
                <a16:creationId xmlns:a16="http://schemas.microsoft.com/office/drawing/2014/main" id="{7669EFEF-ED49-426F-93CD-6CE1168A78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08723" y="1147132"/>
            <a:ext cx="5083277" cy="120015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SzPct val="70000"/>
              <a:buFont typeface="Wingdings" pitchFamily="2" charset="2"/>
              <a:buChar char="o"/>
              <a:defRPr sz="32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n"/>
              <a:defRPr sz="28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o"/>
              <a:defRPr sz="24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n"/>
              <a:defRPr sz="20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ts val="0"/>
              </a:spcBef>
              <a:buClrTx/>
              <a:buSzTx/>
              <a:buFontTx/>
              <a:buNone/>
              <a:defRPr/>
            </a:pPr>
            <a:r>
              <a:rPr kumimoji="1" lang="zh-CN" altLang="en-US" sz="2400" b="1" dirty="0">
                <a:solidFill>
                  <a:srgbClr val="FF0000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初始化列表</a:t>
            </a:r>
            <a:endParaRPr kumimoji="1" lang="en-US" altLang="zh-CN" sz="2400" b="1" dirty="0">
              <a:solidFill>
                <a:srgbClr val="FF0000"/>
              </a:solidFill>
              <a:latin typeface="华光行书_CNKI" panose="02000500000000000000" pitchFamily="2" charset="-122"/>
              <a:ea typeface="华光行书_CNKI" panose="02000500000000000000" pitchFamily="2" charset="-122"/>
            </a:endParaRPr>
          </a:p>
          <a:p>
            <a:pPr eaLnBrk="1" hangingPunct="1">
              <a:spcBef>
                <a:spcPts val="0"/>
              </a:spcBef>
              <a:buClrTx/>
              <a:buSzTx/>
              <a:buNone/>
              <a:defRPr/>
            </a:pPr>
            <a:r>
              <a:rPr kumimoji="1" lang="zh-CN" altLang="en-US" sz="2400" dirty="0">
                <a:solidFill>
                  <a:schemeClr val="tx1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在构造函数的加冒号，冒号后面对对象成员进行初始化，之间用逗号分隔</a:t>
            </a:r>
            <a:endParaRPr kumimoji="1" lang="en-US" altLang="zh-CN" sz="2400" dirty="0">
              <a:solidFill>
                <a:schemeClr val="tx1"/>
              </a:solidFill>
              <a:latin typeface="华光行书_CNKI" panose="02000500000000000000" pitchFamily="2" charset="-122"/>
              <a:ea typeface="华光行书_CNKI" panose="02000500000000000000" pitchFamily="2" charset="-122"/>
            </a:endParaRPr>
          </a:p>
        </p:txBody>
      </p:sp>
      <p:sp>
        <p:nvSpPr>
          <p:cNvPr id="16" name="Rectangle 7">
            <a:extLst>
              <a:ext uri="{FF2B5EF4-FFF2-40B4-BE49-F238E27FC236}">
                <a16:creationId xmlns:a16="http://schemas.microsoft.com/office/drawing/2014/main" id="{8D44D096-2E6D-43A1-A751-5474B15F1E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272677"/>
            <a:ext cx="4883120" cy="258532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wrap="square" lIns="0" tIns="0" rIns="0" bIns="0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SzPct val="70000"/>
              <a:buFont typeface="Wingdings" pitchFamily="2" charset="2"/>
              <a:buChar char="o"/>
              <a:defRPr sz="32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n"/>
              <a:defRPr sz="28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o"/>
              <a:defRPr sz="24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n"/>
              <a:defRPr sz="20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pPr marL="176213" indent="-176213" eaLnBrk="1" hangingPunct="1">
              <a:spcBef>
                <a:spcPct val="0"/>
              </a:spcBef>
              <a:buClrTx/>
              <a:buSzTx/>
              <a:buBlip>
                <a:blip r:embed="rId3"/>
              </a:buBlip>
              <a:defRPr/>
            </a:pPr>
            <a:r>
              <a:rPr lang="zh-CN" altLang="en-US" sz="2400" b="0" spc="-100" dirty="0">
                <a:solidFill>
                  <a:srgbClr val="134F85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特殊的成员函数</a:t>
            </a:r>
            <a:r>
              <a:rPr lang="en-US" altLang="zh-CN" sz="2400" spc="-100" dirty="0">
                <a:solidFill>
                  <a:srgbClr val="134F85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,</a:t>
            </a:r>
            <a:r>
              <a:rPr lang="zh-CN" altLang="en-US" sz="2400" spc="-100" dirty="0">
                <a:solidFill>
                  <a:srgbClr val="134F85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创建对象时将对象初始化</a:t>
            </a:r>
            <a:endParaRPr lang="en-US" altLang="zh-CN" sz="2400" b="0" spc="-100" dirty="0">
              <a:solidFill>
                <a:srgbClr val="134F85"/>
              </a:solidFill>
              <a:latin typeface="Comic Sans MS" panose="030F0702030302020204" pitchFamily="66" charset="0"/>
              <a:ea typeface="华光行书_CNKI" panose="02000500000000000000" pitchFamily="2" charset="-122"/>
            </a:endParaRPr>
          </a:p>
          <a:p>
            <a:pPr marL="176213" indent="-176213" eaLnBrk="1" hangingPunct="1">
              <a:spcBef>
                <a:spcPct val="0"/>
              </a:spcBef>
              <a:buClrTx/>
              <a:buSzTx/>
              <a:buBlip>
                <a:blip r:embed="rId3"/>
              </a:buBlip>
              <a:defRPr/>
            </a:pPr>
            <a:r>
              <a:rPr lang="zh-CN" altLang="en-US" sz="2400" spc="-100" dirty="0">
                <a:solidFill>
                  <a:srgbClr val="134F85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函数名与类名相同</a:t>
            </a:r>
            <a:endParaRPr lang="en-US" altLang="zh-CN" sz="2400" spc="-100" dirty="0">
              <a:solidFill>
                <a:srgbClr val="134F85"/>
              </a:solidFill>
              <a:latin typeface="Comic Sans MS" panose="030F0702030302020204" pitchFamily="66" charset="0"/>
              <a:ea typeface="华光行书_CNKI" panose="02000500000000000000" pitchFamily="2" charset="-122"/>
            </a:endParaRPr>
          </a:p>
          <a:p>
            <a:pPr marL="176213" indent="-176213" eaLnBrk="1" hangingPunct="1">
              <a:spcBef>
                <a:spcPct val="0"/>
              </a:spcBef>
              <a:buClrTx/>
              <a:buSzTx/>
              <a:buBlip>
                <a:blip r:embed="rId3"/>
              </a:buBlip>
              <a:defRPr/>
            </a:pPr>
            <a:r>
              <a:rPr lang="zh-CN" altLang="en-US" sz="2400" spc="-100" dirty="0">
                <a:solidFill>
                  <a:srgbClr val="134F85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不能定义返回值</a:t>
            </a:r>
            <a:r>
              <a:rPr lang="en-US" altLang="zh-CN" sz="2400" spc="-100" dirty="0">
                <a:solidFill>
                  <a:srgbClr val="134F85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,</a:t>
            </a:r>
            <a:r>
              <a:rPr lang="zh-CN" altLang="en-US" sz="2400" spc="-100" dirty="0">
                <a:solidFill>
                  <a:srgbClr val="134F85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不能有</a:t>
            </a:r>
            <a:r>
              <a:rPr lang="en-US" altLang="zh-CN" sz="2400" spc="-100" dirty="0">
                <a:solidFill>
                  <a:srgbClr val="134F85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return</a:t>
            </a:r>
            <a:r>
              <a:rPr lang="zh-CN" altLang="en-US" sz="2400" spc="-100" dirty="0">
                <a:solidFill>
                  <a:srgbClr val="134F85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语句</a:t>
            </a:r>
            <a:endParaRPr lang="en-US" altLang="zh-CN" sz="2400" spc="-100" dirty="0">
              <a:solidFill>
                <a:srgbClr val="134F85"/>
              </a:solidFill>
              <a:latin typeface="Comic Sans MS" panose="030F0702030302020204" pitchFamily="66" charset="0"/>
              <a:ea typeface="华光行书_CNKI" panose="02000500000000000000" pitchFamily="2" charset="-122"/>
            </a:endParaRPr>
          </a:p>
          <a:p>
            <a:pPr marL="176213" indent="-176213" eaLnBrk="1" hangingPunct="1">
              <a:spcBef>
                <a:spcPct val="0"/>
              </a:spcBef>
              <a:buClrTx/>
              <a:buSzTx/>
              <a:buBlip>
                <a:blip r:embed="rId3"/>
              </a:buBlip>
              <a:defRPr/>
            </a:pPr>
            <a:r>
              <a:rPr lang="zh-CN" altLang="en-US" sz="2400" spc="-100" dirty="0">
                <a:solidFill>
                  <a:srgbClr val="134F85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可无参，可有参，可默认参数值</a:t>
            </a:r>
            <a:endParaRPr lang="en-US" altLang="zh-CN" sz="2400" spc="-100" dirty="0">
              <a:solidFill>
                <a:srgbClr val="134F85"/>
              </a:solidFill>
              <a:latin typeface="Comic Sans MS" panose="030F0702030302020204" pitchFamily="66" charset="0"/>
              <a:ea typeface="华光行书_CNKI" panose="02000500000000000000" pitchFamily="2" charset="-122"/>
            </a:endParaRPr>
          </a:p>
          <a:p>
            <a:pPr marL="176213" indent="-176213" eaLnBrk="1" hangingPunct="1">
              <a:spcBef>
                <a:spcPct val="0"/>
              </a:spcBef>
              <a:buClrTx/>
              <a:buSzTx/>
              <a:buBlip>
                <a:blip r:embed="rId3"/>
              </a:buBlip>
              <a:defRPr/>
            </a:pPr>
            <a:r>
              <a:rPr lang="zh-CN" altLang="en-US" sz="2400" spc="-100" dirty="0">
                <a:solidFill>
                  <a:srgbClr val="134F85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可以重载</a:t>
            </a:r>
            <a:endParaRPr lang="en-US" altLang="zh-CN" sz="2400" spc="-100" dirty="0">
              <a:solidFill>
                <a:srgbClr val="134F85"/>
              </a:solidFill>
              <a:latin typeface="Comic Sans MS" panose="030F0702030302020204" pitchFamily="66" charset="0"/>
              <a:ea typeface="华光行书_CNKI" panose="02000500000000000000" pitchFamily="2" charset="-122"/>
            </a:endParaRPr>
          </a:p>
          <a:p>
            <a:pPr marL="176213" indent="-176213" eaLnBrk="1" hangingPunct="1">
              <a:spcBef>
                <a:spcPct val="0"/>
              </a:spcBef>
              <a:buClrTx/>
              <a:buSzTx/>
              <a:buBlip>
                <a:blip r:embed="rId3"/>
              </a:buBlip>
              <a:defRPr/>
            </a:pPr>
            <a:r>
              <a:rPr lang="zh-CN" altLang="en-US" sz="2400" b="0" spc="-100" dirty="0">
                <a:solidFill>
                  <a:srgbClr val="134F85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创建对象时被自动调用</a:t>
            </a:r>
            <a:endParaRPr lang="en-US" altLang="zh-CN" sz="2400" b="0" spc="-100" dirty="0">
              <a:solidFill>
                <a:srgbClr val="134F85"/>
              </a:solidFill>
              <a:latin typeface="Comic Sans MS" panose="030F0702030302020204" pitchFamily="66" charset="0"/>
              <a:ea typeface="华光行书_CNKI" panose="02000500000000000000" pitchFamily="2" charset="-122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" name="墨迹 1">
                <a:extLst>
                  <a:ext uri="{FF2B5EF4-FFF2-40B4-BE49-F238E27FC236}">
                    <a16:creationId xmlns:a16="http://schemas.microsoft.com/office/drawing/2014/main" id="{42C52D3E-7DC1-45ED-AAF0-28C0B732C2D6}"/>
                  </a:ext>
                </a:extLst>
              </p14:cNvPr>
              <p14:cNvContentPartPr/>
              <p14:nvPr/>
            </p14:nvContentPartPr>
            <p14:xfrm>
              <a:off x="5151459" y="4307323"/>
              <a:ext cx="3240" cy="30960"/>
            </p14:xfrm>
          </p:contentPart>
        </mc:Choice>
        <mc:Fallback xmlns="">
          <p:pic>
            <p:nvPicPr>
              <p:cNvPr id="2" name="墨迹 1">
                <a:extLst>
                  <a:ext uri="{FF2B5EF4-FFF2-40B4-BE49-F238E27FC236}">
                    <a16:creationId xmlns:a16="http://schemas.microsoft.com/office/drawing/2014/main" id="{42C52D3E-7DC1-45ED-AAF0-28C0B732C2D6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142819" y="4298323"/>
                <a:ext cx="20880" cy="48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5085882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6" presetClass="entr" presetSubtype="2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3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4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4" grpId="0" build="allAtOnce"/>
      <p:bldP spid="15" grpId="0"/>
      <p:bldP spid="19" grpId="0" animBg="1"/>
      <p:bldP spid="20" grpId="0" animBg="1"/>
      <p:bldP spid="21" grpId="0" animBg="1"/>
      <p:bldP spid="22" grpId="0" animBg="1"/>
      <p:bldP spid="23" grpId="0" animBg="1"/>
      <p:bldP spid="16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>
            <a:extLst>
              <a:ext uri="{FF2B5EF4-FFF2-40B4-BE49-F238E27FC236}">
                <a16:creationId xmlns:a16="http://schemas.microsoft.com/office/drawing/2014/main" id="{0321CC45-122C-4815-AB74-6812ECD67E8A}"/>
              </a:ext>
            </a:extLst>
          </p:cNvPr>
          <p:cNvSpPr/>
          <p:nvPr/>
        </p:nvSpPr>
        <p:spPr>
          <a:xfrm>
            <a:off x="794" y="176798"/>
            <a:ext cx="12190413" cy="728917"/>
          </a:xfrm>
          <a:prstGeom prst="rect">
            <a:avLst/>
          </a:prstGeom>
          <a:solidFill>
            <a:srgbClr val="26CC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3200"/>
          </a:p>
        </p:txBody>
      </p:sp>
      <p:cxnSp>
        <p:nvCxnSpPr>
          <p:cNvPr id="9" name="直线连接符 6">
            <a:extLst>
              <a:ext uri="{FF2B5EF4-FFF2-40B4-BE49-F238E27FC236}">
                <a16:creationId xmlns:a16="http://schemas.microsoft.com/office/drawing/2014/main" id="{714E748F-686D-4BD8-80EF-EC7F4D81F264}"/>
              </a:ext>
            </a:extLst>
          </p:cNvPr>
          <p:cNvCxnSpPr/>
          <p:nvPr/>
        </p:nvCxnSpPr>
        <p:spPr>
          <a:xfrm>
            <a:off x="1587" y="905715"/>
            <a:ext cx="12190413" cy="0"/>
          </a:xfrm>
          <a:prstGeom prst="line">
            <a:avLst/>
          </a:prstGeom>
          <a:ln>
            <a:solidFill>
              <a:srgbClr val="104D7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文本框 9">
            <a:extLst>
              <a:ext uri="{FF2B5EF4-FFF2-40B4-BE49-F238E27FC236}">
                <a16:creationId xmlns:a16="http://schemas.microsoft.com/office/drawing/2014/main" id="{0058EF67-E4FF-4979-824E-F88C42CB13B3}"/>
              </a:ext>
            </a:extLst>
          </p:cNvPr>
          <p:cNvSpPr txBox="1"/>
          <p:nvPr/>
        </p:nvSpPr>
        <p:spPr>
          <a:xfrm>
            <a:off x="247719" y="224527"/>
            <a:ext cx="802877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kumimoji="1" sz="3200" b="1">
                <a:latin typeface="华光胖头鱼_CNKI" panose="02000500000000000000" pitchFamily="2" charset="-122"/>
                <a:ea typeface="华光胖头鱼_CNKI" panose="02000500000000000000" pitchFamily="2" charset="-122"/>
              </a:defRPr>
            </a:lvl1pPr>
          </a:lstStyle>
          <a:p>
            <a:r>
              <a:rPr lang="en-US" altLang="zh-CN" dirty="0"/>
              <a:t>7.3</a:t>
            </a:r>
            <a:r>
              <a:rPr lang="zh-CN" altLang="en-US" dirty="0"/>
              <a:t>构造</a:t>
            </a:r>
            <a:r>
              <a:rPr lang="zh-CN" altLang="en-US" dirty="0">
                <a:sym typeface="+mn-lt"/>
              </a:rPr>
              <a:t>函数与析构函数</a:t>
            </a:r>
            <a:endParaRPr lang="zh-CN" altLang="en-US" dirty="0"/>
          </a:p>
        </p:txBody>
      </p:sp>
      <p:sp>
        <p:nvSpPr>
          <p:cNvPr id="14" name="Rectangle 7">
            <a:extLst>
              <a:ext uri="{FF2B5EF4-FFF2-40B4-BE49-F238E27FC236}">
                <a16:creationId xmlns:a16="http://schemas.microsoft.com/office/drawing/2014/main" id="{0713EE69-8314-43CB-BB66-A4895C0019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352" y="984837"/>
            <a:ext cx="2036762" cy="584200"/>
          </a:xfrm>
          <a:prstGeom prst="rect">
            <a:avLst/>
          </a:prstGeom>
          <a:noFill/>
          <a:ln>
            <a:noFill/>
          </a:ln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SzPct val="70000"/>
              <a:buFont typeface="Wingdings" pitchFamily="2" charset="2"/>
              <a:buChar char="o"/>
              <a:defRPr sz="32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n"/>
              <a:defRPr sz="28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o"/>
              <a:defRPr sz="24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n"/>
              <a:defRPr sz="20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zh-CN" altLang="en-US" b="1" dirty="0">
                <a:solidFill>
                  <a:srgbClr val="FF0000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构造函数</a:t>
            </a:r>
          </a:p>
        </p:txBody>
      </p:sp>
      <p:sp>
        <p:nvSpPr>
          <p:cNvPr id="19" name="Text Box 12">
            <a:extLst>
              <a:ext uri="{FF2B5EF4-FFF2-40B4-BE49-F238E27FC236}">
                <a16:creationId xmlns:a16="http://schemas.microsoft.com/office/drawing/2014/main" id="{45499236-B3AE-4B66-A4C7-05470745B0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11691" y="1809541"/>
            <a:ext cx="8452095" cy="2751522"/>
          </a:xfrm>
          <a:prstGeom prst="rect">
            <a:avLst/>
          </a:prstGeom>
          <a:gradFill flip="none" rotWithShape="1">
            <a:gsLst>
              <a:gs pos="0">
                <a:srgbClr val="449EE8">
                  <a:tint val="66000"/>
                  <a:satMod val="160000"/>
                </a:srgbClr>
              </a:gs>
              <a:gs pos="50000">
                <a:srgbClr val="449EE8">
                  <a:tint val="44500"/>
                  <a:satMod val="160000"/>
                </a:srgbClr>
              </a:gs>
              <a:gs pos="100000">
                <a:srgbClr val="449EE8">
                  <a:tint val="23500"/>
                  <a:satMod val="16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SzPct val="70000"/>
              <a:buFont typeface="Wingdings" pitchFamily="2" charset="2"/>
              <a:buChar char="o"/>
              <a:defRPr sz="32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n"/>
              <a:defRPr sz="28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o"/>
              <a:defRPr sz="24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n"/>
              <a:defRPr sz="20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ts val="0"/>
              </a:spcBef>
              <a:buClrTx/>
              <a:buSzTx/>
              <a:buFontTx/>
              <a:buNone/>
              <a:defRPr/>
            </a:pPr>
            <a:r>
              <a:rPr lang="en-US" altLang="zh-CN" sz="2400" dirty="0">
                <a:solidFill>
                  <a:srgbClr val="134F85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class Clock{</a:t>
            </a:r>
          </a:p>
          <a:p>
            <a:pPr eaLnBrk="1" hangingPunct="1">
              <a:lnSpc>
                <a:spcPct val="90000"/>
              </a:lnSpc>
              <a:spcBef>
                <a:spcPts val="0"/>
              </a:spcBef>
              <a:buClrTx/>
              <a:buSzTx/>
              <a:buFontTx/>
              <a:buNone/>
              <a:defRPr/>
            </a:pPr>
            <a:r>
              <a:rPr lang="en-US" altLang="zh-CN" sz="2400" dirty="0">
                <a:solidFill>
                  <a:srgbClr val="134F85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      public: </a:t>
            </a:r>
          </a:p>
          <a:p>
            <a:pPr eaLnBrk="1" hangingPunct="1">
              <a:lnSpc>
                <a:spcPct val="90000"/>
              </a:lnSpc>
              <a:spcBef>
                <a:spcPts val="0"/>
              </a:spcBef>
              <a:buClrTx/>
              <a:buSzTx/>
              <a:buFontTx/>
              <a:buNone/>
              <a:defRPr/>
            </a:pPr>
            <a:r>
              <a:rPr lang="en-US" altLang="zh-CN" sz="2400" dirty="0">
                <a:solidFill>
                  <a:srgbClr val="134F85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          </a:t>
            </a:r>
            <a:r>
              <a:rPr lang="en-US" altLang="zh-CN" sz="2400" dirty="0">
                <a:solidFill>
                  <a:srgbClr val="FF0000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Clock(int </a:t>
            </a:r>
            <a:r>
              <a:rPr lang="en-US" altLang="zh-CN" sz="2400" dirty="0" err="1">
                <a:solidFill>
                  <a:srgbClr val="FF0000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newH</a:t>
            </a:r>
            <a:r>
              <a:rPr lang="en-US" altLang="zh-CN" sz="2400" dirty="0">
                <a:solidFill>
                  <a:srgbClr val="FF0000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, int </a:t>
            </a:r>
            <a:r>
              <a:rPr lang="en-US" altLang="zh-CN" sz="2400" dirty="0" err="1">
                <a:solidFill>
                  <a:srgbClr val="FF0000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newMe</a:t>
            </a:r>
            <a:r>
              <a:rPr lang="en-US" altLang="zh-CN" sz="2400" dirty="0">
                <a:solidFill>
                  <a:srgbClr val="FF0000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, int </a:t>
            </a:r>
            <a:r>
              <a:rPr lang="en-US" altLang="zh-CN" sz="2400" dirty="0" err="1">
                <a:solidFill>
                  <a:srgbClr val="FF0000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newS</a:t>
            </a:r>
            <a:r>
              <a:rPr lang="en-US" altLang="zh-CN" sz="2400" dirty="0">
                <a:solidFill>
                  <a:srgbClr val="FF0000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);</a:t>
            </a:r>
          </a:p>
          <a:p>
            <a:pPr eaLnBrk="1" hangingPunct="1">
              <a:lnSpc>
                <a:spcPct val="90000"/>
              </a:lnSpc>
              <a:spcBef>
                <a:spcPts val="0"/>
              </a:spcBef>
              <a:buClrTx/>
              <a:buSzTx/>
              <a:buFontTx/>
              <a:buNone/>
              <a:defRPr/>
            </a:pPr>
            <a:r>
              <a:rPr lang="en-US" altLang="zh-CN" sz="2400" dirty="0">
                <a:solidFill>
                  <a:srgbClr val="134F85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          void </a:t>
            </a:r>
            <a:r>
              <a:rPr lang="en-US" altLang="zh-CN" sz="2400" dirty="0" err="1">
                <a:solidFill>
                  <a:srgbClr val="134F85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setTime</a:t>
            </a:r>
            <a:r>
              <a:rPr lang="en-US" altLang="zh-CN" sz="2400" dirty="0">
                <a:solidFill>
                  <a:srgbClr val="134F85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(</a:t>
            </a:r>
            <a:r>
              <a:rPr lang="en-US" altLang="zh-CN" sz="2400" dirty="0" err="1">
                <a:solidFill>
                  <a:srgbClr val="134F85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int</a:t>
            </a:r>
            <a:r>
              <a:rPr lang="en-US" altLang="zh-CN" sz="2400" dirty="0">
                <a:solidFill>
                  <a:srgbClr val="134F85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 </a:t>
            </a:r>
            <a:r>
              <a:rPr lang="en-US" altLang="zh-CN" sz="2400" dirty="0" err="1">
                <a:solidFill>
                  <a:srgbClr val="134F85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newH</a:t>
            </a:r>
            <a:r>
              <a:rPr lang="en-US" altLang="zh-CN" sz="2400" dirty="0">
                <a:solidFill>
                  <a:srgbClr val="134F85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, </a:t>
            </a:r>
            <a:r>
              <a:rPr lang="en-US" altLang="zh-CN" sz="2400" dirty="0" err="1">
                <a:solidFill>
                  <a:srgbClr val="134F85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int</a:t>
            </a:r>
            <a:r>
              <a:rPr lang="en-US" altLang="zh-CN" sz="2400" dirty="0">
                <a:solidFill>
                  <a:srgbClr val="134F85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 </a:t>
            </a:r>
            <a:r>
              <a:rPr lang="en-US" altLang="zh-CN" sz="2400" dirty="0" err="1">
                <a:solidFill>
                  <a:srgbClr val="134F85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newMe</a:t>
            </a:r>
            <a:r>
              <a:rPr lang="en-US" altLang="zh-CN" sz="2400" dirty="0">
                <a:solidFill>
                  <a:srgbClr val="134F85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, </a:t>
            </a:r>
            <a:r>
              <a:rPr lang="en-US" altLang="zh-CN" sz="2400" dirty="0" err="1">
                <a:solidFill>
                  <a:srgbClr val="134F85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int</a:t>
            </a:r>
            <a:r>
              <a:rPr lang="en-US" altLang="zh-CN" sz="2400" dirty="0">
                <a:solidFill>
                  <a:srgbClr val="134F85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 </a:t>
            </a:r>
            <a:r>
              <a:rPr lang="en-US" altLang="zh-CN" sz="2400" dirty="0" err="1">
                <a:solidFill>
                  <a:srgbClr val="134F85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newS</a:t>
            </a:r>
            <a:r>
              <a:rPr lang="en-US" altLang="zh-CN" sz="2400" dirty="0">
                <a:solidFill>
                  <a:srgbClr val="134F85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);</a:t>
            </a:r>
          </a:p>
          <a:p>
            <a:pPr eaLnBrk="1" hangingPunct="1">
              <a:lnSpc>
                <a:spcPct val="90000"/>
              </a:lnSpc>
              <a:spcBef>
                <a:spcPts val="0"/>
              </a:spcBef>
              <a:buClrTx/>
              <a:buSzTx/>
              <a:buFontTx/>
              <a:buNone/>
              <a:defRPr/>
            </a:pPr>
            <a:r>
              <a:rPr lang="en-US" altLang="zh-CN" sz="2400" dirty="0">
                <a:solidFill>
                  <a:srgbClr val="134F85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          void </a:t>
            </a:r>
            <a:r>
              <a:rPr lang="en-US" altLang="zh-CN" sz="2400" dirty="0" err="1">
                <a:solidFill>
                  <a:srgbClr val="134F85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showTime</a:t>
            </a:r>
            <a:r>
              <a:rPr lang="en-US" altLang="zh-CN" sz="2400" dirty="0">
                <a:solidFill>
                  <a:srgbClr val="134F85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();</a:t>
            </a:r>
          </a:p>
          <a:p>
            <a:pPr eaLnBrk="1" hangingPunct="1">
              <a:lnSpc>
                <a:spcPct val="90000"/>
              </a:lnSpc>
              <a:spcBef>
                <a:spcPts val="0"/>
              </a:spcBef>
              <a:buClrTx/>
              <a:buSzTx/>
              <a:buFontTx/>
              <a:buNone/>
              <a:defRPr/>
            </a:pPr>
            <a:r>
              <a:rPr lang="en-US" altLang="zh-CN" sz="2400" dirty="0">
                <a:solidFill>
                  <a:srgbClr val="134F85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      private:</a:t>
            </a:r>
          </a:p>
          <a:p>
            <a:pPr eaLnBrk="1" hangingPunct="1">
              <a:lnSpc>
                <a:spcPct val="90000"/>
              </a:lnSpc>
              <a:spcBef>
                <a:spcPts val="0"/>
              </a:spcBef>
              <a:buClrTx/>
              <a:buSzTx/>
              <a:buFontTx/>
              <a:buNone/>
              <a:defRPr/>
            </a:pPr>
            <a:r>
              <a:rPr lang="en-US" altLang="zh-CN" sz="2400" dirty="0">
                <a:solidFill>
                  <a:srgbClr val="134F85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           </a:t>
            </a:r>
            <a:r>
              <a:rPr lang="en-US" altLang="zh-CN" sz="2400" dirty="0" err="1">
                <a:solidFill>
                  <a:srgbClr val="134F85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int</a:t>
            </a:r>
            <a:r>
              <a:rPr lang="en-US" altLang="zh-CN" sz="2400" dirty="0">
                <a:solidFill>
                  <a:srgbClr val="134F85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 hour, minute, second;</a:t>
            </a:r>
          </a:p>
          <a:p>
            <a:pPr eaLnBrk="1" hangingPunct="1">
              <a:lnSpc>
                <a:spcPct val="90000"/>
              </a:lnSpc>
              <a:spcBef>
                <a:spcPts val="0"/>
              </a:spcBef>
              <a:buClrTx/>
              <a:buSzTx/>
              <a:buFontTx/>
              <a:buNone/>
              <a:defRPr/>
            </a:pPr>
            <a:r>
              <a:rPr lang="en-US" altLang="zh-CN" sz="2400" dirty="0">
                <a:solidFill>
                  <a:srgbClr val="134F85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};</a:t>
            </a:r>
          </a:p>
        </p:txBody>
      </p:sp>
      <p:sp>
        <p:nvSpPr>
          <p:cNvPr id="20" name="Text Box 12">
            <a:extLst>
              <a:ext uri="{FF2B5EF4-FFF2-40B4-BE49-F238E27FC236}">
                <a16:creationId xmlns:a16="http://schemas.microsoft.com/office/drawing/2014/main" id="{2CAC961A-0F3B-449C-8577-ED0AD551E9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4534099"/>
            <a:ext cx="7307292" cy="2308324"/>
          </a:xfrm>
          <a:prstGeom prst="rect">
            <a:avLst/>
          </a:prstGeom>
          <a:gradFill flip="none" rotWithShape="1">
            <a:gsLst>
              <a:gs pos="0">
                <a:srgbClr val="76B8EE">
                  <a:tint val="66000"/>
                  <a:satMod val="160000"/>
                </a:srgbClr>
              </a:gs>
              <a:gs pos="50000">
                <a:srgbClr val="76B8EE">
                  <a:tint val="44500"/>
                  <a:satMod val="160000"/>
                </a:srgbClr>
              </a:gs>
              <a:gs pos="100000">
                <a:srgbClr val="76B8EE">
                  <a:tint val="23500"/>
                  <a:satMod val="160000"/>
                </a:srgbClr>
              </a:gs>
            </a:gsLst>
            <a:lin ang="5400000" scaled="1"/>
            <a:tileRect/>
          </a:gradFill>
          <a:ln>
            <a:solidFill>
              <a:schemeClr val="accent1"/>
            </a:solidFill>
          </a:ln>
        </p:spPr>
        <p:txBody>
          <a:bodyPr wrap="square" lIns="0" rIns="0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SzPct val="70000"/>
              <a:buFont typeface="Wingdings" pitchFamily="2" charset="2"/>
              <a:buChar char="o"/>
              <a:defRPr sz="32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n"/>
              <a:defRPr sz="28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o"/>
              <a:defRPr sz="24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n"/>
              <a:defRPr sz="20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ts val="0"/>
              </a:spcBef>
              <a:buClrTx/>
              <a:buSzTx/>
              <a:buFontTx/>
              <a:buNone/>
              <a:defRPr/>
            </a:pPr>
            <a:r>
              <a:rPr lang="en-US" altLang="zh-CN" sz="2400" dirty="0">
                <a:solidFill>
                  <a:srgbClr val="FF0000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Clock:: Clock</a:t>
            </a:r>
            <a:r>
              <a:rPr lang="en-US" altLang="zh-CN" sz="2400" dirty="0">
                <a:solidFill>
                  <a:srgbClr val="134F85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(</a:t>
            </a:r>
            <a:r>
              <a:rPr lang="en-US" altLang="zh-CN" sz="2400" dirty="0" err="1">
                <a:solidFill>
                  <a:srgbClr val="134F85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int</a:t>
            </a:r>
            <a:r>
              <a:rPr lang="en-US" altLang="zh-CN" sz="2400" dirty="0">
                <a:solidFill>
                  <a:srgbClr val="134F85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 </a:t>
            </a:r>
            <a:r>
              <a:rPr lang="en-US" altLang="zh-CN" sz="2400" dirty="0" err="1">
                <a:solidFill>
                  <a:srgbClr val="134F85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newH</a:t>
            </a:r>
            <a:r>
              <a:rPr lang="en-US" altLang="zh-CN" sz="2400" dirty="0">
                <a:solidFill>
                  <a:srgbClr val="134F85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, </a:t>
            </a:r>
            <a:r>
              <a:rPr lang="en-US" altLang="zh-CN" sz="2400" dirty="0" err="1">
                <a:solidFill>
                  <a:srgbClr val="134F85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int</a:t>
            </a:r>
            <a:r>
              <a:rPr lang="en-US" altLang="zh-CN" sz="2400" dirty="0">
                <a:solidFill>
                  <a:srgbClr val="134F85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 </a:t>
            </a:r>
            <a:r>
              <a:rPr lang="en-US" altLang="zh-CN" sz="2400" dirty="0" err="1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newM</a:t>
            </a:r>
            <a:r>
              <a:rPr lang="en-US" altLang="zh-CN" sz="2400" dirty="0">
                <a:solidFill>
                  <a:srgbClr val="134F85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, </a:t>
            </a:r>
            <a:r>
              <a:rPr lang="en-US" altLang="zh-CN" sz="2400" dirty="0" err="1">
                <a:solidFill>
                  <a:srgbClr val="134F85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int</a:t>
            </a:r>
            <a:r>
              <a:rPr lang="en-US" altLang="zh-CN" sz="2400" dirty="0">
                <a:solidFill>
                  <a:srgbClr val="134F85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 </a:t>
            </a:r>
            <a:r>
              <a:rPr lang="en-US" altLang="zh-CN" sz="2400" dirty="0" err="1">
                <a:solidFill>
                  <a:srgbClr val="134F85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newS</a:t>
            </a:r>
            <a:r>
              <a:rPr lang="en-US" altLang="zh-CN" sz="2400" dirty="0">
                <a:solidFill>
                  <a:srgbClr val="134F85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){</a:t>
            </a:r>
          </a:p>
          <a:p>
            <a:pPr eaLnBrk="1" hangingPunct="1">
              <a:spcBef>
                <a:spcPts val="0"/>
              </a:spcBef>
              <a:buClrTx/>
              <a:buSzTx/>
              <a:buFontTx/>
              <a:buNone/>
              <a:defRPr/>
            </a:pPr>
            <a:r>
              <a:rPr lang="en-US" altLang="zh-CN" sz="2400" dirty="0">
                <a:solidFill>
                  <a:srgbClr val="134F85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    hour = </a:t>
            </a:r>
            <a:r>
              <a:rPr lang="en-US" altLang="zh-CN" sz="2400" dirty="0" err="1">
                <a:solidFill>
                  <a:srgbClr val="134F85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newH</a:t>
            </a:r>
            <a:r>
              <a:rPr lang="en-US" altLang="zh-CN" sz="2400" dirty="0">
                <a:solidFill>
                  <a:srgbClr val="134F85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;     </a:t>
            </a:r>
          </a:p>
          <a:p>
            <a:pPr eaLnBrk="1" hangingPunct="1">
              <a:spcBef>
                <a:spcPts val="0"/>
              </a:spcBef>
              <a:buClrTx/>
              <a:buSzTx/>
              <a:buFontTx/>
              <a:buNone/>
              <a:defRPr/>
            </a:pPr>
            <a:r>
              <a:rPr lang="en-US" altLang="zh-CN" sz="2400" dirty="0">
                <a:solidFill>
                  <a:srgbClr val="134F85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    minute = </a:t>
            </a:r>
            <a:r>
              <a:rPr lang="en-US" altLang="zh-CN" sz="2400" dirty="0" err="1">
                <a:solidFill>
                  <a:srgbClr val="134F85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newM</a:t>
            </a:r>
            <a:r>
              <a:rPr lang="en-US" altLang="zh-CN" sz="2400" dirty="0">
                <a:solidFill>
                  <a:srgbClr val="134F85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;  </a:t>
            </a:r>
          </a:p>
          <a:p>
            <a:pPr eaLnBrk="1" hangingPunct="1">
              <a:spcBef>
                <a:spcPts val="0"/>
              </a:spcBef>
              <a:buClrTx/>
              <a:buSzTx/>
              <a:buFontTx/>
              <a:buNone/>
              <a:defRPr/>
            </a:pPr>
            <a:r>
              <a:rPr lang="en-US" altLang="zh-CN" sz="2400" dirty="0">
                <a:solidFill>
                  <a:srgbClr val="134F85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    second = </a:t>
            </a:r>
            <a:r>
              <a:rPr lang="en-US" altLang="zh-CN" sz="2400" dirty="0" err="1">
                <a:solidFill>
                  <a:srgbClr val="134F85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newS</a:t>
            </a:r>
            <a:r>
              <a:rPr lang="en-US" altLang="zh-CN" sz="2400" dirty="0">
                <a:solidFill>
                  <a:srgbClr val="134F85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;</a:t>
            </a:r>
          </a:p>
          <a:p>
            <a:pPr eaLnBrk="1" hangingPunct="1">
              <a:spcBef>
                <a:spcPts val="0"/>
              </a:spcBef>
              <a:buClrTx/>
              <a:buSzTx/>
              <a:buFontTx/>
              <a:buNone/>
              <a:defRPr/>
            </a:pPr>
            <a:r>
              <a:rPr lang="en-US" altLang="zh-CN" sz="2400" dirty="0">
                <a:solidFill>
                  <a:srgbClr val="134F85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    </a:t>
            </a:r>
            <a:r>
              <a:rPr lang="en-US" altLang="zh-CN" sz="2400" dirty="0" err="1">
                <a:solidFill>
                  <a:srgbClr val="134F85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cout</a:t>
            </a:r>
            <a:r>
              <a:rPr lang="en-US" altLang="zh-CN" sz="2400" dirty="0">
                <a:solidFill>
                  <a:srgbClr val="134F85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&lt;&lt;“</a:t>
            </a:r>
            <a:r>
              <a:rPr lang="zh-CN" altLang="en-US" sz="2400" dirty="0">
                <a:solidFill>
                  <a:srgbClr val="134F85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有参构造函数被调用</a:t>
            </a:r>
            <a:r>
              <a:rPr lang="en-US" altLang="zh-CN" sz="2400" dirty="0">
                <a:solidFill>
                  <a:srgbClr val="134F85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\n”;</a:t>
            </a:r>
          </a:p>
          <a:p>
            <a:pPr eaLnBrk="1" hangingPunct="1">
              <a:spcBef>
                <a:spcPts val="0"/>
              </a:spcBef>
              <a:buClrTx/>
              <a:buSzTx/>
              <a:buFontTx/>
              <a:buNone/>
              <a:defRPr/>
            </a:pPr>
            <a:r>
              <a:rPr lang="en-US" altLang="zh-CN" sz="2400" dirty="0">
                <a:solidFill>
                  <a:srgbClr val="134F85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}</a:t>
            </a:r>
          </a:p>
        </p:txBody>
      </p:sp>
      <p:sp>
        <p:nvSpPr>
          <p:cNvPr id="21" name="Rectangle 25">
            <a:extLst>
              <a:ext uri="{FF2B5EF4-FFF2-40B4-BE49-F238E27FC236}">
                <a16:creationId xmlns:a16="http://schemas.microsoft.com/office/drawing/2014/main" id="{EF5B0A3D-442F-40F4-93F4-5A98E2E4F0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30447" y="4936569"/>
            <a:ext cx="2419914" cy="1884848"/>
          </a:xfrm>
          <a:prstGeom prst="rect">
            <a:avLst/>
          </a:prstGeom>
          <a:gradFill flip="none" rotWithShape="1">
            <a:gsLst>
              <a:gs pos="0">
                <a:srgbClr val="98C9F2">
                  <a:tint val="66000"/>
                  <a:satMod val="160000"/>
                </a:srgbClr>
              </a:gs>
              <a:gs pos="50000">
                <a:srgbClr val="98C9F2">
                  <a:tint val="44500"/>
                  <a:satMod val="160000"/>
                </a:srgbClr>
              </a:gs>
              <a:gs pos="100000">
                <a:srgbClr val="98C9F2">
                  <a:tint val="23500"/>
                  <a:satMod val="160000"/>
                </a:srgbClr>
              </a:gs>
            </a:gsLst>
            <a:lin ang="8100000" scaled="1"/>
            <a:tileRect/>
          </a:gradFill>
          <a:ln>
            <a:solidFill>
              <a:schemeClr val="accent1"/>
            </a:solidFill>
          </a:ln>
        </p:spPr>
        <p:txBody>
          <a:bodyPr wrap="square" tIns="0" bIns="0">
            <a:no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SzPct val="70000"/>
              <a:buFont typeface="Wingdings" pitchFamily="2" charset="2"/>
              <a:buChar char="o"/>
              <a:defRPr sz="32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n"/>
              <a:defRPr sz="28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o"/>
              <a:defRPr sz="24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n"/>
              <a:defRPr sz="20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ts val="0"/>
              </a:spcBef>
              <a:buClrTx/>
              <a:buSzTx/>
              <a:buFontTx/>
              <a:buNone/>
              <a:defRPr/>
            </a:pPr>
            <a:r>
              <a:rPr kumimoji="1" lang="en-US" altLang="zh-CN" sz="2400" dirty="0" err="1">
                <a:solidFill>
                  <a:srgbClr val="134F85"/>
                </a:solidFill>
                <a:latin typeface="Comic Sans MS" panose="030F0702030302020204" pitchFamily="66" charset="0"/>
                <a:ea typeface="宋体" pitchFamily="2" charset="-122"/>
              </a:rPr>
              <a:t>int</a:t>
            </a:r>
            <a:r>
              <a:rPr kumimoji="1" lang="en-US" altLang="zh-CN" sz="2400" dirty="0">
                <a:solidFill>
                  <a:srgbClr val="134F85"/>
                </a:solidFill>
                <a:latin typeface="Comic Sans MS" panose="030F0702030302020204" pitchFamily="66" charset="0"/>
                <a:ea typeface="宋体" pitchFamily="2" charset="-122"/>
              </a:rPr>
              <a:t> main()</a:t>
            </a:r>
          </a:p>
          <a:p>
            <a:pPr eaLnBrk="1" hangingPunct="1">
              <a:spcBef>
                <a:spcPts val="0"/>
              </a:spcBef>
              <a:buClrTx/>
              <a:buSzTx/>
              <a:buFontTx/>
              <a:buNone/>
              <a:defRPr/>
            </a:pPr>
            <a:r>
              <a:rPr kumimoji="1" lang="en-US" altLang="zh-CN" sz="2400" dirty="0">
                <a:solidFill>
                  <a:srgbClr val="134F85"/>
                </a:solidFill>
                <a:latin typeface="Comic Sans MS" panose="030F0702030302020204" pitchFamily="66" charset="0"/>
                <a:ea typeface="宋体" pitchFamily="2" charset="-122"/>
              </a:rPr>
              <a:t>{Clock  c(0,0,0);</a:t>
            </a:r>
          </a:p>
          <a:p>
            <a:pPr eaLnBrk="1" hangingPunct="1">
              <a:spcBef>
                <a:spcPts val="0"/>
              </a:spcBef>
              <a:buClrTx/>
              <a:buSzTx/>
              <a:buFont typeface="Wingdings" pitchFamily="2" charset="2"/>
              <a:buNone/>
              <a:defRPr/>
            </a:pPr>
            <a:r>
              <a:rPr kumimoji="1" lang="en-US" altLang="zh-CN" sz="2400" dirty="0">
                <a:solidFill>
                  <a:srgbClr val="134F85"/>
                </a:solidFill>
                <a:latin typeface="Comic Sans MS" panose="030F0702030302020204" pitchFamily="66" charset="0"/>
                <a:ea typeface="宋体" pitchFamily="2" charset="-122"/>
              </a:rPr>
              <a:t>  </a:t>
            </a:r>
            <a:r>
              <a:rPr kumimoji="1" lang="en-US" altLang="zh-CN" sz="2400" dirty="0" err="1">
                <a:solidFill>
                  <a:srgbClr val="134F85"/>
                </a:solidFill>
                <a:latin typeface="Comic Sans MS" panose="030F0702030302020204" pitchFamily="66" charset="0"/>
                <a:ea typeface="宋体" pitchFamily="2" charset="-122"/>
              </a:rPr>
              <a:t>c.showTime</a:t>
            </a:r>
            <a:r>
              <a:rPr kumimoji="1" lang="en-US" altLang="zh-CN" sz="2400" dirty="0">
                <a:solidFill>
                  <a:srgbClr val="134F85"/>
                </a:solidFill>
                <a:latin typeface="Comic Sans MS" panose="030F0702030302020204" pitchFamily="66" charset="0"/>
                <a:ea typeface="宋体" pitchFamily="2" charset="-122"/>
              </a:rPr>
              <a:t>();</a:t>
            </a:r>
            <a:endParaRPr kumimoji="1" lang="zh-CN" altLang="en-US" sz="2400" dirty="0">
              <a:solidFill>
                <a:srgbClr val="134F85"/>
              </a:solidFill>
              <a:latin typeface="Comic Sans MS" panose="030F0702030302020204" pitchFamily="66" charset="0"/>
              <a:ea typeface="宋体" pitchFamily="2" charset="-122"/>
            </a:endParaRPr>
          </a:p>
          <a:p>
            <a:pPr eaLnBrk="1" hangingPunct="1">
              <a:spcBef>
                <a:spcPts val="0"/>
              </a:spcBef>
              <a:buClrTx/>
              <a:buSzTx/>
              <a:buFontTx/>
              <a:buNone/>
              <a:defRPr/>
            </a:pPr>
            <a:r>
              <a:rPr kumimoji="1" lang="en-US" altLang="zh-CN" sz="2400" dirty="0">
                <a:solidFill>
                  <a:srgbClr val="134F85"/>
                </a:solidFill>
                <a:latin typeface="Comic Sans MS" panose="030F0702030302020204" pitchFamily="66" charset="0"/>
                <a:ea typeface="宋体" pitchFamily="2" charset="-122"/>
              </a:rPr>
              <a:t> return 0</a:t>
            </a:r>
            <a:r>
              <a:rPr kumimoji="1" lang="zh-CN" altLang="en-US" sz="2400" dirty="0">
                <a:solidFill>
                  <a:srgbClr val="134F85"/>
                </a:solidFill>
                <a:latin typeface="Comic Sans MS" panose="030F0702030302020204" pitchFamily="66" charset="0"/>
                <a:ea typeface="宋体" pitchFamily="2" charset="-122"/>
              </a:rPr>
              <a:t>；</a:t>
            </a:r>
            <a:r>
              <a:rPr kumimoji="1" lang="en-US" altLang="zh-CN" sz="2400" dirty="0">
                <a:solidFill>
                  <a:srgbClr val="134F85"/>
                </a:solidFill>
                <a:latin typeface="Comic Sans MS" panose="030F0702030302020204" pitchFamily="66" charset="0"/>
                <a:ea typeface="宋体" pitchFamily="2" charset="-122"/>
              </a:rPr>
              <a:t>	</a:t>
            </a:r>
          </a:p>
          <a:p>
            <a:pPr eaLnBrk="1" hangingPunct="1">
              <a:spcBef>
                <a:spcPts val="0"/>
              </a:spcBef>
              <a:buClrTx/>
              <a:buSzTx/>
              <a:buFontTx/>
              <a:buNone/>
              <a:defRPr/>
            </a:pPr>
            <a:r>
              <a:rPr kumimoji="1" lang="en-US" altLang="zh-CN" sz="2400" dirty="0">
                <a:solidFill>
                  <a:srgbClr val="134F85"/>
                </a:solidFill>
                <a:latin typeface="Comic Sans MS" panose="030F0702030302020204" pitchFamily="66" charset="0"/>
                <a:ea typeface="宋体" pitchFamily="2" charset="-122"/>
              </a:rPr>
              <a:t>}</a:t>
            </a:r>
          </a:p>
        </p:txBody>
      </p:sp>
      <p:sp>
        <p:nvSpPr>
          <p:cNvPr id="22" name="Text Box 12">
            <a:extLst>
              <a:ext uri="{FF2B5EF4-FFF2-40B4-BE49-F238E27FC236}">
                <a16:creationId xmlns:a16="http://schemas.microsoft.com/office/drawing/2014/main" id="{98A60B30-389E-4044-80BB-1495E2A29C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61730" y="54329"/>
            <a:ext cx="6630270" cy="1702771"/>
          </a:xfrm>
          <a:prstGeom prst="rect">
            <a:avLst/>
          </a:prstGeom>
          <a:solidFill>
            <a:srgbClr val="FFE181"/>
          </a:solidFill>
          <a:ln>
            <a:solidFill>
              <a:schemeClr val="bg1"/>
            </a:solidFill>
          </a:ln>
        </p:spPr>
        <p:txBody>
          <a:bodyPr wrap="square" lIns="0" rIns="0" anchor="ctr" anchorCtr="0">
            <a:no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SzPct val="70000"/>
              <a:buFont typeface="Wingdings" pitchFamily="2" charset="2"/>
              <a:buChar char="o"/>
              <a:defRPr sz="32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n"/>
              <a:defRPr sz="28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o"/>
              <a:defRPr sz="24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n"/>
              <a:defRPr sz="20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ts val="0"/>
              </a:spcBef>
              <a:buClrTx/>
              <a:buSzTx/>
              <a:buFontTx/>
              <a:buNone/>
              <a:defRPr/>
            </a:pPr>
            <a:r>
              <a:rPr lang="en-US" altLang="zh-CN" sz="2400" dirty="0">
                <a:solidFill>
                  <a:srgbClr val="104E87"/>
                </a:solidFill>
                <a:latin typeface="Comic Sans MS" panose="030F0702030302020204" pitchFamily="66" charset="0"/>
                <a:ea typeface="黑体" panose="02010609060101010101" pitchFamily="49" charset="-122"/>
              </a:rPr>
              <a:t>Clock:: Clock(</a:t>
            </a:r>
            <a:r>
              <a:rPr lang="en-US" altLang="zh-CN" sz="2400" dirty="0" err="1">
                <a:solidFill>
                  <a:srgbClr val="104E87"/>
                </a:solidFill>
                <a:latin typeface="Comic Sans MS" panose="030F0702030302020204" pitchFamily="66" charset="0"/>
                <a:ea typeface="黑体" panose="02010609060101010101" pitchFamily="49" charset="-122"/>
              </a:rPr>
              <a:t>int</a:t>
            </a:r>
            <a:r>
              <a:rPr lang="en-US" altLang="zh-CN" sz="2400" dirty="0">
                <a:solidFill>
                  <a:srgbClr val="104E87"/>
                </a:solidFill>
                <a:latin typeface="Comic Sans MS" panose="030F0702030302020204" pitchFamily="66" charset="0"/>
                <a:ea typeface="黑体" panose="02010609060101010101" pitchFamily="49" charset="-122"/>
              </a:rPr>
              <a:t> </a:t>
            </a:r>
            <a:r>
              <a:rPr lang="en-US" altLang="zh-CN" sz="2400" dirty="0" err="1">
                <a:solidFill>
                  <a:srgbClr val="104E87"/>
                </a:solidFill>
                <a:latin typeface="Comic Sans MS" panose="030F0702030302020204" pitchFamily="66" charset="0"/>
                <a:ea typeface="黑体" panose="02010609060101010101" pitchFamily="49" charset="-122"/>
              </a:rPr>
              <a:t>newH</a:t>
            </a:r>
            <a:r>
              <a:rPr lang="en-US" altLang="zh-CN" sz="2400" dirty="0">
                <a:solidFill>
                  <a:srgbClr val="104E87"/>
                </a:solidFill>
                <a:latin typeface="Comic Sans MS" panose="030F0702030302020204" pitchFamily="66" charset="0"/>
                <a:ea typeface="黑体" panose="02010609060101010101" pitchFamily="49" charset="-122"/>
              </a:rPr>
              <a:t>, </a:t>
            </a:r>
            <a:r>
              <a:rPr lang="en-US" altLang="zh-CN" sz="2400" dirty="0" err="1">
                <a:solidFill>
                  <a:srgbClr val="104E87"/>
                </a:solidFill>
                <a:latin typeface="Comic Sans MS" panose="030F0702030302020204" pitchFamily="66" charset="0"/>
                <a:ea typeface="黑体" panose="02010609060101010101" pitchFamily="49" charset="-122"/>
              </a:rPr>
              <a:t>int</a:t>
            </a:r>
            <a:r>
              <a:rPr lang="en-US" altLang="zh-CN" sz="2400" dirty="0">
                <a:solidFill>
                  <a:srgbClr val="104E87"/>
                </a:solidFill>
                <a:latin typeface="Comic Sans MS" panose="030F0702030302020204" pitchFamily="66" charset="0"/>
                <a:ea typeface="黑体" panose="02010609060101010101" pitchFamily="49" charset="-122"/>
              </a:rPr>
              <a:t> </a:t>
            </a:r>
            <a:r>
              <a:rPr lang="en-US" altLang="zh-CN" sz="2400" dirty="0" err="1">
                <a:solidFill>
                  <a:srgbClr val="104E87"/>
                </a:solidFill>
                <a:latin typeface="Comic Sans MS" panose="030F0702030302020204" pitchFamily="66" charset="0"/>
                <a:ea typeface="黑体" panose="02010609060101010101" pitchFamily="49" charset="-122"/>
              </a:rPr>
              <a:t>newMe</a:t>
            </a:r>
            <a:r>
              <a:rPr lang="en-US" altLang="zh-CN" sz="2400" dirty="0">
                <a:solidFill>
                  <a:srgbClr val="104E87"/>
                </a:solidFill>
                <a:latin typeface="Comic Sans MS" panose="030F0702030302020204" pitchFamily="66" charset="0"/>
                <a:ea typeface="黑体" panose="02010609060101010101" pitchFamily="49" charset="-122"/>
              </a:rPr>
              <a:t>, </a:t>
            </a:r>
            <a:r>
              <a:rPr lang="en-US" altLang="zh-CN" sz="2400" dirty="0" err="1">
                <a:solidFill>
                  <a:srgbClr val="104E87"/>
                </a:solidFill>
                <a:latin typeface="Comic Sans MS" panose="030F0702030302020204" pitchFamily="66" charset="0"/>
                <a:ea typeface="黑体" panose="02010609060101010101" pitchFamily="49" charset="-122"/>
              </a:rPr>
              <a:t>int</a:t>
            </a:r>
            <a:r>
              <a:rPr lang="en-US" altLang="zh-CN" sz="2400" dirty="0">
                <a:solidFill>
                  <a:srgbClr val="104E87"/>
                </a:solidFill>
                <a:latin typeface="Comic Sans MS" panose="030F0702030302020204" pitchFamily="66" charset="0"/>
                <a:ea typeface="黑体" panose="02010609060101010101" pitchFamily="49" charset="-122"/>
              </a:rPr>
              <a:t> </a:t>
            </a:r>
            <a:r>
              <a:rPr lang="en-US" altLang="zh-CN" sz="2400" dirty="0" err="1">
                <a:solidFill>
                  <a:srgbClr val="104E87"/>
                </a:solidFill>
                <a:latin typeface="Comic Sans MS" panose="030F0702030302020204" pitchFamily="66" charset="0"/>
                <a:ea typeface="黑体" panose="02010609060101010101" pitchFamily="49" charset="-122"/>
              </a:rPr>
              <a:t>newS</a:t>
            </a:r>
            <a:r>
              <a:rPr lang="en-US" altLang="zh-CN" sz="2400" dirty="0">
                <a:solidFill>
                  <a:srgbClr val="104E87"/>
                </a:solidFill>
                <a:latin typeface="Comic Sans MS" panose="030F0702030302020204" pitchFamily="66" charset="0"/>
                <a:ea typeface="黑体" panose="02010609060101010101" pitchFamily="49" charset="-122"/>
              </a:rPr>
              <a:t>)</a:t>
            </a:r>
            <a:r>
              <a:rPr lang="en-US" altLang="zh-CN" sz="2400" dirty="0">
                <a:solidFill>
                  <a:srgbClr val="FF0000"/>
                </a:solidFill>
                <a:latin typeface="Comic Sans MS" panose="030F0702030302020204" pitchFamily="66" charset="0"/>
                <a:ea typeface="黑体" panose="02010609060101010101" pitchFamily="49" charset="-122"/>
              </a:rPr>
              <a:t>: hour(</a:t>
            </a:r>
            <a:r>
              <a:rPr lang="en-US" altLang="zh-CN" sz="2400" dirty="0" err="1">
                <a:solidFill>
                  <a:srgbClr val="FF0000"/>
                </a:solidFill>
                <a:latin typeface="Comic Sans MS" panose="030F0702030302020204" pitchFamily="66" charset="0"/>
                <a:ea typeface="黑体" panose="02010609060101010101" pitchFamily="49" charset="-122"/>
              </a:rPr>
              <a:t>newH</a:t>
            </a:r>
            <a:r>
              <a:rPr lang="en-US" altLang="zh-CN" sz="2400" dirty="0">
                <a:solidFill>
                  <a:srgbClr val="FF0000"/>
                </a:solidFill>
                <a:latin typeface="Comic Sans MS" panose="030F0702030302020204" pitchFamily="66" charset="0"/>
                <a:ea typeface="黑体" panose="02010609060101010101" pitchFamily="49" charset="-122"/>
              </a:rPr>
              <a:t>),minute(</a:t>
            </a:r>
            <a:r>
              <a:rPr lang="en-US" altLang="zh-CN" sz="2400" dirty="0" err="1">
                <a:solidFill>
                  <a:srgbClr val="FF0000"/>
                </a:solidFill>
                <a:latin typeface="Comic Sans MS" panose="030F0702030302020204" pitchFamily="66" charset="0"/>
                <a:ea typeface="黑体" panose="02010609060101010101" pitchFamily="49" charset="-122"/>
              </a:rPr>
              <a:t>newM</a:t>
            </a:r>
            <a:r>
              <a:rPr lang="en-US" altLang="zh-CN" sz="2400" dirty="0">
                <a:solidFill>
                  <a:srgbClr val="FF0000"/>
                </a:solidFill>
                <a:latin typeface="Comic Sans MS" panose="030F0702030302020204" pitchFamily="66" charset="0"/>
                <a:ea typeface="黑体" panose="02010609060101010101" pitchFamily="49" charset="-122"/>
              </a:rPr>
              <a:t>),second(</a:t>
            </a:r>
            <a:r>
              <a:rPr lang="en-US" altLang="zh-CN" sz="2400" dirty="0" err="1">
                <a:solidFill>
                  <a:srgbClr val="FF0000"/>
                </a:solidFill>
                <a:latin typeface="Comic Sans MS" panose="030F0702030302020204" pitchFamily="66" charset="0"/>
                <a:ea typeface="黑体" panose="02010609060101010101" pitchFamily="49" charset="-122"/>
              </a:rPr>
              <a:t>newS</a:t>
            </a:r>
            <a:r>
              <a:rPr lang="en-US" altLang="zh-CN" sz="2400" dirty="0">
                <a:solidFill>
                  <a:srgbClr val="FF0000"/>
                </a:solidFill>
                <a:latin typeface="Comic Sans MS" panose="030F0702030302020204" pitchFamily="66" charset="0"/>
                <a:ea typeface="黑体" panose="02010609060101010101" pitchFamily="49" charset="-122"/>
              </a:rPr>
              <a:t>)</a:t>
            </a:r>
          </a:p>
          <a:p>
            <a:pPr eaLnBrk="1" hangingPunct="1">
              <a:spcBef>
                <a:spcPts val="0"/>
              </a:spcBef>
              <a:buClrTx/>
              <a:buSzTx/>
              <a:buNone/>
              <a:defRPr/>
            </a:pPr>
            <a:r>
              <a:rPr lang="en-US" altLang="zh-CN" sz="2400" dirty="0">
                <a:solidFill>
                  <a:srgbClr val="104E87"/>
                </a:solidFill>
                <a:latin typeface="Comic Sans MS" panose="030F0702030302020204" pitchFamily="66" charset="0"/>
                <a:ea typeface="黑体" panose="02010609060101010101" pitchFamily="49" charset="-122"/>
              </a:rPr>
              <a:t>{</a:t>
            </a:r>
            <a:r>
              <a:rPr lang="en-US" altLang="zh-CN" sz="2400" dirty="0" err="1">
                <a:solidFill>
                  <a:srgbClr val="134F85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cout</a:t>
            </a:r>
            <a:r>
              <a:rPr lang="en-US" altLang="zh-CN" sz="2400" dirty="0">
                <a:solidFill>
                  <a:srgbClr val="134F85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&lt;&lt;“</a:t>
            </a:r>
            <a:r>
              <a:rPr lang="zh-CN" altLang="en-US" sz="2400" dirty="0">
                <a:solidFill>
                  <a:srgbClr val="134F85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有参构造函数被调用</a:t>
            </a:r>
            <a:r>
              <a:rPr lang="en-US" altLang="zh-CN" sz="2400" dirty="0">
                <a:solidFill>
                  <a:srgbClr val="134F85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\n”;</a:t>
            </a:r>
            <a:endParaRPr lang="en-US" altLang="zh-CN" sz="2400" dirty="0">
              <a:solidFill>
                <a:srgbClr val="104E87"/>
              </a:solidFill>
              <a:latin typeface="Comic Sans MS" panose="030F0702030302020204" pitchFamily="66" charset="0"/>
              <a:ea typeface="黑体" panose="02010609060101010101" pitchFamily="49" charset="-122"/>
            </a:endParaRPr>
          </a:p>
          <a:p>
            <a:pPr eaLnBrk="1" hangingPunct="1">
              <a:spcBef>
                <a:spcPts val="0"/>
              </a:spcBef>
              <a:buClrTx/>
              <a:buSzTx/>
              <a:buFontTx/>
              <a:buNone/>
              <a:defRPr/>
            </a:pPr>
            <a:r>
              <a:rPr lang="en-US" altLang="zh-CN" sz="2400" dirty="0">
                <a:solidFill>
                  <a:srgbClr val="104E87"/>
                </a:solidFill>
                <a:latin typeface="Comic Sans MS" panose="030F0702030302020204" pitchFamily="66" charset="0"/>
                <a:ea typeface="黑体" panose="02010609060101010101" pitchFamily="49" charset="-122"/>
              </a:rPr>
              <a:t>}</a:t>
            </a:r>
          </a:p>
        </p:txBody>
      </p:sp>
      <p:sp>
        <p:nvSpPr>
          <p:cNvPr id="23" name="Rectangle 25">
            <a:extLst>
              <a:ext uri="{FF2B5EF4-FFF2-40B4-BE49-F238E27FC236}">
                <a16:creationId xmlns:a16="http://schemas.microsoft.com/office/drawing/2014/main" id="{7669EFEF-ED49-426F-93CD-6CE1168A78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51573" y="1347776"/>
            <a:ext cx="3540427" cy="156966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SzPct val="70000"/>
              <a:buFont typeface="Wingdings" pitchFamily="2" charset="2"/>
              <a:buChar char="o"/>
              <a:defRPr sz="32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n"/>
              <a:defRPr sz="28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o"/>
              <a:defRPr sz="24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n"/>
              <a:defRPr sz="20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ts val="0"/>
              </a:spcBef>
              <a:buClrTx/>
              <a:buSzTx/>
              <a:buFontTx/>
              <a:buNone/>
              <a:defRPr/>
            </a:pPr>
            <a:r>
              <a:rPr kumimoji="1" lang="zh-CN" altLang="en-US" sz="2400" b="1" dirty="0">
                <a:solidFill>
                  <a:srgbClr val="FF0000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初始化列表</a:t>
            </a:r>
            <a:endParaRPr kumimoji="1" lang="en-US" altLang="zh-CN" sz="2400" b="1" dirty="0">
              <a:solidFill>
                <a:srgbClr val="FF0000"/>
              </a:solidFill>
              <a:latin typeface="华光行书_CNKI" panose="02000500000000000000" pitchFamily="2" charset="-122"/>
              <a:ea typeface="华光行书_CNKI" panose="02000500000000000000" pitchFamily="2" charset="-122"/>
            </a:endParaRPr>
          </a:p>
          <a:p>
            <a:pPr eaLnBrk="1" hangingPunct="1">
              <a:spcBef>
                <a:spcPts val="0"/>
              </a:spcBef>
              <a:buClrTx/>
              <a:buSzTx/>
              <a:buNone/>
              <a:defRPr/>
            </a:pPr>
            <a:r>
              <a:rPr kumimoji="1" lang="zh-CN" altLang="en-US" sz="2400" dirty="0">
                <a:solidFill>
                  <a:schemeClr val="tx1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在构造函数的加冒号，冒号后面对对象成员进行初始化，之间用逗号分隔</a:t>
            </a:r>
            <a:endParaRPr kumimoji="1" lang="en-US" altLang="zh-CN" sz="2400" dirty="0">
              <a:solidFill>
                <a:schemeClr val="tx1"/>
              </a:solidFill>
              <a:latin typeface="华光行书_CNKI" panose="02000500000000000000" pitchFamily="2" charset="-122"/>
              <a:ea typeface="华光行书_CNKI" panose="02000500000000000000" pitchFamily="2" charset="-122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墨迹 1">
                <a:extLst>
                  <a:ext uri="{FF2B5EF4-FFF2-40B4-BE49-F238E27FC236}">
                    <a16:creationId xmlns:a16="http://schemas.microsoft.com/office/drawing/2014/main" id="{42C52D3E-7DC1-45ED-AAF0-28C0B732C2D6}"/>
                  </a:ext>
                </a:extLst>
              </p14:cNvPr>
              <p14:cNvContentPartPr/>
              <p14:nvPr/>
            </p14:nvContentPartPr>
            <p14:xfrm>
              <a:off x="5151459" y="4307323"/>
              <a:ext cx="3240" cy="30960"/>
            </p14:xfrm>
          </p:contentPart>
        </mc:Choice>
        <mc:Fallback xmlns="">
          <p:pic>
            <p:nvPicPr>
              <p:cNvPr id="2" name="墨迹 1">
                <a:extLst>
                  <a:ext uri="{FF2B5EF4-FFF2-40B4-BE49-F238E27FC236}">
                    <a16:creationId xmlns:a16="http://schemas.microsoft.com/office/drawing/2014/main" id="{42C52D3E-7DC1-45ED-AAF0-28C0B732C2D6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142819" y="4298323"/>
                <a:ext cx="20880" cy="48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9978260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6" presetClass="entr" presetSubtype="2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1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2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build="allAtOnce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>
            <a:extLst>
              <a:ext uri="{FF2B5EF4-FFF2-40B4-BE49-F238E27FC236}">
                <a16:creationId xmlns:a16="http://schemas.microsoft.com/office/drawing/2014/main" id="{0321CC45-122C-4815-AB74-6812ECD67E8A}"/>
              </a:ext>
            </a:extLst>
          </p:cNvPr>
          <p:cNvSpPr/>
          <p:nvPr/>
        </p:nvSpPr>
        <p:spPr>
          <a:xfrm>
            <a:off x="794" y="176798"/>
            <a:ext cx="12190413" cy="728917"/>
          </a:xfrm>
          <a:prstGeom prst="rect">
            <a:avLst/>
          </a:prstGeom>
          <a:solidFill>
            <a:srgbClr val="26CC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3200"/>
          </a:p>
        </p:txBody>
      </p:sp>
      <p:cxnSp>
        <p:nvCxnSpPr>
          <p:cNvPr id="9" name="直线连接符 6">
            <a:extLst>
              <a:ext uri="{FF2B5EF4-FFF2-40B4-BE49-F238E27FC236}">
                <a16:creationId xmlns:a16="http://schemas.microsoft.com/office/drawing/2014/main" id="{714E748F-686D-4BD8-80EF-EC7F4D81F264}"/>
              </a:ext>
            </a:extLst>
          </p:cNvPr>
          <p:cNvCxnSpPr/>
          <p:nvPr/>
        </p:nvCxnSpPr>
        <p:spPr>
          <a:xfrm>
            <a:off x="1587" y="905715"/>
            <a:ext cx="12190413" cy="0"/>
          </a:xfrm>
          <a:prstGeom prst="line">
            <a:avLst/>
          </a:prstGeom>
          <a:ln>
            <a:solidFill>
              <a:srgbClr val="104D7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文本框 15">
            <a:extLst>
              <a:ext uri="{FF2B5EF4-FFF2-40B4-BE49-F238E27FC236}">
                <a16:creationId xmlns:a16="http://schemas.microsoft.com/office/drawing/2014/main" id="{F4CBD7C5-3ADE-4895-BD62-2F750018FBA3}"/>
              </a:ext>
            </a:extLst>
          </p:cNvPr>
          <p:cNvSpPr txBox="1"/>
          <p:nvPr/>
        </p:nvSpPr>
        <p:spPr>
          <a:xfrm>
            <a:off x="247719" y="224527"/>
            <a:ext cx="802877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kumimoji="1" sz="3200" b="1">
                <a:latin typeface="华光胖头鱼_CNKI" panose="02000500000000000000" pitchFamily="2" charset="-122"/>
                <a:ea typeface="华光胖头鱼_CNKI" panose="02000500000000000000" pitchFamily="2" charset="-122"/>
              </a:defRPr>
            </a:lvl1pPr>
          </a:lstStyle>
          <a:p>
            <a:r>
              <a:rPr lang="en-US" altLang="zh-CN" dirty="0"/>
              <a:t>7.3</a:t>
            </a:r>
            <a:r>
              <a:rPr lang="zh-CN" altLang="en-US" dirty="0"/>
              <a:t>构造</a:t>
            </a:r>
            <a:r>
              <a:rPr lang="zh-CN" altLang="en-US" dirty="0">
                <a:sym typeface="+mn-lt"/>
              </a:rPr>
              <a:t>函数与析构函数</a:t>
            </a:r>
            <a:endParaRPr lang="zh-CN" altLang="en-US" dirty="0"/>
          </a:p>
        </p:txBody>
      </p:sp>
      <p:sp>
        <p:nvSpPr>
          <p:cNvPr id="17" name="Rectangle 25">
            <a:extLst>
              <a:ext uri="{FF2B5EF4-FFF2-40B4-BE49-F238E27FC236}">
                <a16:creationId xmlns:a16="http://schemas.microsoft.com/office/drawing/2014/main" id="{2FB8A54A-3E41-420F-9BCA-E47D24A4DE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37442"/>
            <a:ext cx="2816942" cy="196229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wrap="square">
            <a:no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SzPct val="70000"/>
              <a:buFont typeface="Wingdings" pitchFamily="2" charset="2"/>
              <a:buChar char="o"/>
              <a:defRPr sz="32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n"/>
              <a:defRPr sz="28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o"/>
              <a:defRPr sz="24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n"/>
              <a:defRPr sz="20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ts val="0"/>
              </a:spcBef>
              <a:buClrTx/>
              <a:buSzTx/>
              <a:buFontTx/>
              <a:buNone/>
              <a:defRPr/>
            </a:pPr>
            <a:r>
              <a:rPr kumimoji="1" lang="en-US" altLang="zh-CN" sz="2400" dirty="0" err="1">
                <a:solidFill>
                  <a:srgbClr val="104E87"/>
                </a:solidFill>
                <a:latin typeface="Comic Sans MS" panose="030F0702030302020204" pitchFamily="66" charset="0"/>
                <a:ea typeface="宋体" pitchFamily="2" charset="-122"/>
              </a:rPr>
              <a:t>int</a:t>
            </a:r>
            <a:r>
              <a:rPr kumimoji="1" lang="en-US" altLang="zh-CN" sz="2400" dirty="0">
                <a:solidFill>
                  <a:srgbClr val="104E87"/>
                </a:solidFill>
                <a:latin typeface="Comic Sans MS" panose="030F0702030302020204" pitchFamily="66" charset="0"/>
                <a:ea typeface="宋体" pitchFamily="2" charset="-122"/>
              </a:rPr>
              <a:t> main()</a:t>
            </a:r>
          </a:p>
          <a:p>
            <a:pPr eaLnBrk="1" hangingPunct="1">
              <a:spcBef>
                <a:spcPts val="0"/>
              </a:spcBef>
              <a:buClrTx/>
              <a:buSzTx/>
              <a:buFontTx/>
              <a:buNone/>
              <a:defRPr/>
            </a:pPr>
            <a:r>
              <a:rPr kumimoji="1" lang="en-US" altLang="zh-CN" sz="2400" dirty="0">
                <a:solidFill>
                  <a:srgbClr val="104E87"/>
                </a:solidFill>
                <a:latin typeface="Comic Sans MS" panose="030F0702030302020204" pitchFamily="66" charset="0"/>
                <a:ea typeface="宋体" pitchFamily="2" charset="-122"/>
              </a:rPr>
              <a:t>{Clock  c;</a:t>
            </a:r>
          </a:p>
          <a:p>
            <a:pPr eaLnBrk="1" hangingPunct="1">
              <a:spcBef>
                <a:spcPts val="0"/>
              </a:spcBef>
              <a:buClrTx/>
              <a:buSzTx/>
              <a:buFont typeface="Wingdings" pitchFamily="2" charset="2"/>
              <a:buNone/>
              <a:defRPr/>
            </a:pPr>
            <a:r>
              <a:rPr kumimoji="1" lang="en-US" altLang="zh-CN" sz="2400" dirty="0">
                <a:solidFill>
                  <a:srgbClr val="104E87"/>
                </a:solidFill>
                <a:latin typeface="Comic Sans MS" panose="030F0702030302020204" pitchFamily="66" charset="0"/>
                <a:ea typeface="宋体" pitchFamily="2" charset="-122"/>
              </a:rPr>
              <a:t>  </a:t>
            </a:r>
            <a:r>
              <a:rPr kumimoji="1" lang="en-US" altLang="zh-CN" sz="2400" dirty="0" err="1">
                <a:solidFill>
                  <a:srgbClr val="104E87"/>
                </a:solidFill>
                <a:latin typeface="Comic Sans MS" panose="030F0702030302020204" pitchFamily="66" charset="0"/>
                <a:ea typeface="宋体" pitchFamily="2" charset="-122"/>
              </a:rPr>
              <a:t>c.showTime</a:t>
            </a:r>
            <a:r>
              <a:rPr kumimoji="1" lang="en-US" altLang="zh-CN" sz="2400" dirty="0">
                <a:solidFill>
                  <a:srgbClr val="104E87"/>
                </a:solidFill>
                <a:latin typeface="Comic Sans MS" panose="030F0702030302020204" pitchFamily="66" charset="0"/>
                <a:ea typeface="宋体" pitchFamily="2" charset="-122"/>
              </a:rPr>
              <a:t>();</a:t>
            </a:r>
            <a:endParaRPr kumimoji="1" lang="zh-CN" altLang="en-US" sz="2400" dirty="0">
              <a:solidFill>
                <a:srgbClr val="104E87"/>
              </a:solidFill>
              <a:latin typeface="Comic Sans MS" panose="030F0702030302020204" pitchFamily="66" charset="0"/>
              <a:ea typeface="宋体" pitchFamily="2" charset="-122"/>
            </a:endParaRPr>
          </a:p>
          <a:p>
            <a:pPr eaLnBrk="1" hangingPunct="1">
              <a:spcBef>
                <a:spcPts val="0"/>
              </a:spcBef>
              <a:buClrTx/>
              <a:buSzTx/>
              <a:buFontTx/>
              <a:buNone/>
              <a:defRPr/>
            </a:pPr>
            <a:r>
              <a:rPr kumimoji="1" lang="en-US" altLang="zh-CN" sz="2400" dirty="0">
                <a:solidFill>
                  <a:srgbClr val="104E87"/>
                </a:solidFill>
                <a:latin typeface="Comic Sans MS" panose="030F0702030302020204" pitchFamily="66" charset="0"/>
                <a:ea typeface="宋体" pitchFamily="2" charset="-122"/>
              </a:rPr>
              <a:t> return 0</a:t>
            </a:r>
            <a:r>
              <a:rPr kumimoji="1" lang="zh-CN" altLang="en-US" sz="2400" dirty="0">
                <a:solidFill>
                  <a:srgbClr val="104E87"/>
                </a:solidFill>
                <a:latin typeface="Comic Sans MS" panose="030F0702030302020204" pitchFamily="66" charset="0"/>
                <a:ea typeface="宋体" pitchFamily="2" charset="-122"/>
              </a:rPr>
              <a:t>；</a:t>
            </a:r>
            <a:r>
              <a:rPr kumimoji="1" lang="en-US" altLang="zh-CN" sz="2400" dirty="0">
                <a:solidFill>
                  <a:srgbClr val="104E87"/>
                </a:solidFill>
                <a:latin typeface="Comic Sans MS" panose="030F0702030302020204" pitchFamily="66" charset="0"/>
                <a:ea typeface="宋体" pitchFamily="2" charset="-122"/>
              </a:rPr>
              <a:t>	</a:t>
            </a:r>
          </a:p>
          <a:p>
            <a:pPr eaLnBrk="1" hangingPunct="1">
              <a:spcBef>
                <a:spcPts val="0"/>
              </a:spcBef>
              <a:buClrTx/>
              <a:buSzTx/>
              <a:buFontTx/>
              <a:buNone/>
              <a:defRPr/>
            </a:pPr>
            <a:r>
              <a:rPr kumimoji="1" lang="en-US" altLang="zh-CN" sz="2400" dirty="0">
                <a:solidFill>
                  <a:srgbClr val="104E87"/>
                </a:solidFill>
                <a:latin typeface="Comic Sans MS" panose="030F0702030302020204" pitchFamily="66" charset="0"/>
                <a:ea typeface="宋体" pitchFamily="2" charset="-122"/>
              </a:rPr>
              <a:t>}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43F3B8F1-BC17-48C4-999C-7206A74415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>
                        <a14:foregroundMark x1="47077" y1="70901" x2="46308" y2="79561"/>
                        <a14:foregroundMark x1="46308" y1="79561" x2="54615" y2="74827"/>
                        <a14:foregroundMark x1="54615" y1="74827" x2="43077" y2="77021"/>
                        <a14:foregroundMark x1="43077" y1="77021" x2="54615" y2="81986"/>
                        <a14:foregroundMark x1="54615" y1="81986" x2="56308" y2="73903"/>
                        <a14:foregroundMark x1="56308" y1="73903" x2="55385" y2="73557"/>
                        <a14:foregroundMark x1="40769" y1="78406" x2="47538" y2="83487"/>
                        <a14:foregroundMark x1="47538" y1="83487" x2="57077" y2="81062"/>
                        <a14:foregroundMark x1="57077" y1="81062" x2="56615" y2="79908"/>
                        <a14:foregroundMark x1="42769" y1="87875" x2="53385" y2="87298"/>
                        <a14:foregroundMark x1="42462" y1="87298" x2="46462" y2="87875"/>
                        <a14:foregroundMark x1="51692" y1="87875" x2="55385" y2="87875"/>
                        <a14:foregroundMark x1="45385" y1="87644" x2="54615" y2="87644"/>
                        <a14:foregroundMark x1="41385" y1="86028" x2="43692" y2="87529"/>
                        <a14:foregroundMark x1="40769" y1="84873" x2="42000" y2="86374"/>
                        <a14:foregroundMark x1="76308" y1="22055" x2="72923" y2="41224"/>
                        <a14:foregroundMark x1="72923" y1="41224" x2="72923" y2="4122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41402" y="1062194"/>
            <a:ext cx="934532" cy="12452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Rectangle 9">
            <a:extLst>
              <a:ext uri="{FF2B5EF4-FFF2-40B4-BE49-F238E27FC236}">
                <a16:creationId xmlns:a16="http://schemas.microsoft.com/office/drawing/2014/main" id="{74C6B76A-DA92-46F0-8B37-E4E7A35A6D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59008" y="1001473"/>
            <a:ext cx="4178711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Char char="o"/>
              <a:defRPr sz="32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o"/>
              <a:defRPr sz="24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n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dirty="0">
                <a:solidFill>
                  <a:srgbClr val="FF0000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若类中仅有带参数的构造函数，没无参数构造函数时，系统将无法创建不带参数的对象</a:t>
            </a:r>
          </a:p>
        </p:txBody>
      </p:sp>
      <p:sp>
        <p:nvSpPr>
          <p:cNvPr id="21" name="Text Box 12">
            <a:extLst>
              <a:ext uri="{FF2B5EF4-FFF2-40B4-BE49-F238E27FC236}">
                <a16:creationId xmlns:a16="http://schemas.microsoft.com/office/drawing/2014/main" id="{53BFC5E5-F656-4F70-9040-44D45507A6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793" y="2996153"/>
            <a:ext cx="8623932" cy="388076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wrap="square">
            <a:no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SzPct val="70000"/>
              <a:buFont typeface="Wingdings" pitchFamily="2" charset="2"/>
              <a:buChar char="o"/>
              <a:defRPr sz="32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n"/>
              <a:defRPr sz="28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o"/>
              <a:defRPr sz="24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n"/>
              <a:defRPr sz="20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ts val="0"/>
              </a:spcBef>
              <a:buClrTx/>
              <a:buSzTx/>
              <a:buFontTx/>
              <a:buNone/>
              <a:defRPr/>
            </a:pPr>
            <a:r>
              <a:rPr lang="en-US" altLang="zh-CN" sz="2400" dirty="0">
                <a:solidFill>
                  <a:srgbClr val="104E87"/>
                </a:solidFill>
                <a:latin typeface="Comic Sans MS" panose="030F0702030302020204" pitchFamily="66" charset="0"/>
                <a:ea typeface="黑体" panose="02010609060101010101" pitchFamily="49" charset="-122"/>
              </a:rPr>
              <a:t>class Clock{</a:t>
            </a:r>
          </a:p>
          <a:p>
            <a:pPr eaLnBrk="1" hangingPunct="1">
              <a:lnSpc>
                <a:spcPct val="90000"/>
              </a:lnSpc>
              <a:spcBef>
                <a:spcPts val="0"/>
              </a:spcBef>
              <a:buClrTx/>
              <a:buSzTx/>
              <a:buFontTx/>
              <a:buNone/>
              <a:defRPr/>
            </a:pPr>
            <a:r>
              <a:rPr lang="en-US" altLang="zh-CN" sz="2400" dirty="0">
                <a:solidFill>
                  <a:srgbClr val="104E87"/>
                </a:solidFill>
                <a:latin typeface="Comic Sans MS" panose="030F0702030302020204" pitchFamily="66" charset="0"/>
                <a:ea typeface="黑体" panose="02010609060101010101" pitchFamily="49" charset="-122"/>
              </a:rPr>
              <a:t>public: </a:t>
            </a:r>
          </a:p>
          <a:p>
            <a:pPr eaLnBrk="1" hangingPunct="1">
              <a:lnSpc>
                <a:spcPct val="90000"/>
              </a:lnSpc>
              <a:spcBef>
                <a:spcPts val="0"/>
              </a:spcBef>
              <a:buClrTx/>
              <a:buSzTx/>
              <a:buFontTx/>
              <a:buNone/>
              <a:defRPr/>
            </a:pPr>
            <a:r>
              <a:rPr lang="en-US" altLang="zh-CN" sz="2400" dirty="0">
                <a:solidFill>
                  <a:srgbClr val="104E87"/>
                </a:solidFill>
                <a:latin typeface="Comic Sans MS" panose="030F0702030302020204" pitchFamily="66" charset="0"/>
                <a:ea typeface="黑体" panose="02010609060101010101" pitchFamily="49" charset="-122"/>
              </a:rPr>
              <a:t>	Clock(int </a:t>
            </a:r>
            <a:r>
              <a:rPr lang="en-US" altLang="zh-CN" sz="2400" dirty="0" err="1">
                <a:solidFill>
                  <a:srgbClr val="104E87"/>
                </a:solidFill>
                <a:latin typeface="Comic Sans MS" panose="030F0702030302020204" pitchFamily="66" charset="0"/>
                <a:ea typeface="黑体" panose="02010609060101010101" pitchFamily="49" charset="-122"/>
              </a:rPr>
              <a:t>newH</a:t>
            </a:r>
            <a:r>
              <a:rPr lang="en-US" altLang="zh-CN" sz="2400" dirty="0">
                <a:solidFill>
                  <a:srgbClr val="104E87"/>
                </a:solidFill>
                <a:latin typeface="Comic Sans MS" panose="030F0702030302020204" pitchFamily="66" charset="0"/>
                <a:ea typeface="黑体" panose="02010609060101010101" pitchFamily="49" charset="-122"/>
              </a:rPr>
              <a:t>, int </a:t>
            </a:r>
            <a:r>
              <a:rPr lang="en-US" altLang="zh-CN" sz="2400" dirty="0" err="1">
                <a:solidFill>
                  <a:srgbClr val="104E87"/>
                </a:solidFill>
                <a:latin typeface="Comic Sans MS" panose="030F0702030302020204" pitchFamily="66" charset="0"/>
                <a:ea typeface="黑体" panose="02010609060101010101" pitchFamily="49" charset="-122"/>
              </a:rPr>
              <a:t>newMe</a:t>
            </a:r>
            <a:r>
              <a:rPr lang="en-US" altLang="zh-CN" sz="2400" dirty="0">
                <a:solidFill>
                  <a:srgbClr val="104E87"/>
                </a:solidFill>
                <a:latin typeface="Comic Sans MS" panose="030F0702030302020204" pitchFamily="66" charset="0"/>
                <a:ea typeface="黑体" panose="02010609060101010101" pitchFamily="49" charset="-122"/>
              </a:rPr>
              <a:t>, int </a:t>
            </a:r>
            <a:r>
              <a:rPr lang="en-US" altLang="zh-CN" sz="2400" dirty="0" err="1">
                <a:solidFill>
                  <a:srgbClr val="104E87"/>
                </a:solidFill>
                <a:latin typeface="Comic Sans MS" panose="030F0702030302020204" pitchFamily="66" charset="0"/>
                <a:ea typeface="黑体" panose="02010609060101010101" pitchFamily="49" charset="-122"/>
              </a:rPr>
              <a:t>newS</a:t>
            </a:r>
            <a:r>
              <a:rPr lang="en-US" altLang="zh-CN" sz="2400" dirty="0">
                <a:solidFill>
                  <a:srgbClr val="104E87"/>
                </a:solidFill>
                <a:latin typeface="Comic Sans MS" panose="030F0702030302020204" pitchFamily="66" charset="0"/>
                <a:ea typeface="黑体" panose="02010609060101010101" pitchFamily="49" charset="-122"/>
              </a:rPr>
              <a:t>);</a:t>
            </a:r>
          </a:p>
          <a:p>
            <a:pPr eaLnBrk="1" hangingPunct="1">
              <a:lnSpc>
                <a:spcPct val="90000"/>
              </a:lnSpc>
              <a:spcBef>
                <a:spcPts val="0"/>
              </a:spcBef>
              <a:buClrTx/>
              <a:buSzTx/>
              <a:buFontTx/>
              <a:buNone/>
              <a:defRPr/>
            </a:pPr>
            <a:r>
              <a:rPr lang="en-US" altLang="zh-CN" sz="2400" dirty="0">
                <a:solidFill>
                  <a:srgbClr val="FF0000"/>
                </a:solidFill>
                <a:latin typeface="Comic Sans MS" panose="030F0702030302020204" pitchFamily="66" charset="0"/>
                <a:ea typeface="黑体" panose="02010609060101010101" pitchFamily="49" charset="-122"/>
              </a:rPr>
              <a:t>	Clock(){</a:t>
            </a:r>
            <a:r>
              <a:rPr lang="en-US" altLang="zh-CN" sz="2400" dirty="0" err="1">
                <a:solidFill>
                  <a:srgbClr val="134F85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cout</a:t>
            </a:r>
            <a:r>
              <a:rPr lang="en-US" altLang="zh-CN" sz="2400" dirty="0">
                <a:solidFill>
                  <a:srgbClr val="134F85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&lt;&lt;“</a:t>
            </a:r>
            <a:r>
              <a:rPr lang="zh-CN" altLang="en-US" sz="2400" dirty="0">
                <a:solidFill>
                  <a:srgbClr val="134F85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无参构造函数被调用</a:t>
            </a:r>
            <a:r>
              <a:rPr lang="en-US" altLang="zh-CN" sz="2400" dirty="0">
                <a:solidFill>
                  <a:srgbClr val="134F85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\n”;</a:t>
            </a:r>
            <a:r>
              <a:rPr lang="en-US" altLang="zh-CN" sz="2400" dirty="0">
                <a:solidFill>
                  <a:srgbClr val="FF0000"/>
                </a:solidFill>
                <a:latin typeface="Comic Sans MS" panose="030F0702030302020204" pitchFamily="66" charset="0"/>
                <a:ea typeface="黑体" panose="02010609060101010101" pitchFamily="49" charset="-122"/>
              </a:rPr>
              <a:t> };//</a:t>
            </a:r>
            <a:r>
              <a:rPr lang="zh-CN" altLang="en-US" sz="2400" dirty="0">
                <a:solidFill>
                  <a:srgbClr val="FF0000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无参构造函数</a:t>
            </a:r>
            <a:endParaRPr lang="en-US" altLang="zh-CN" sz="2400" dirty="0">
              <a:solidFill>
                <a:srgbClr val="FF0000"/>
              </a:solidFill>
              <a:latin typeface="华光行书_CNKI" panose="02000500000000000000" pitchFamily="2" charset="-122"/>
              <a:ea typeface="华光行书_CNKI" panose="02000500000000000000" pitchFamily="2" charset="-122"/>
            </a:endParaRPr>
          </a:p>
          <a:p>
            <a:pPr eaLnBrk="1" hangingPunct="1">
              <a:lnSpc>
                <a:spcPct val="90000"/>
              </a:lnSpc>
              <a:spcBef>
                <a:spcPts val="0"/>
              </a:spcBef>
              <a:buClrTx/>
              <a:buSzTx/>
              <a:buFontTx/>
              <a:buNone/>
              <a:defRPr/>
            </a:pPr>
            <a:r>
              <a:rPr lang="en-US" altLang="zh-CN" sz="2400" dirty="0">
                <a:solidFill>
                  <a:srgbClr val="104E87"/>
                </a:solidFill>
                <a:latin typeface="Comic Sans MS" panose="030F0702030302020204" pitchFamily="66" charset="0"/>
                <a:ea typeface="黑体" panose="02010609060101010101" pitchFamily="49" charset="-122"/>
              </a:rPr>
              <a:t>	</a:t>
            </a:r>
            <a:r>
              <a:rPr lang="en-US" altLang="zh-CN" sz="2400" b="1" dirty="0">
                <a:solidFill>
                  <a:srgbClr val="104E87"/>
                </a:solidFill>
                <a:latin typeface="Comic Sans MS" panose="030F0702030302020204" pitchFamily="66" charset="0"/>
                <a:ea typeface="黑体" panose="02010609060101010101" pitchFamily="49" charset="-122"/>
              </a:rPr>
              <a:t>……</a:t>
            </a:r>
          </a:p>
          <a:p>
            <a:pPr eaLnBrk="1" hangingPunct="1">
              <a:lnSpc>
                <a:spcPct val="90000"/>
              </a:lnSpc>
              <a:spcBef>
                <a:spcPts val="0"/>
              </a:spcBef>
              <a:buClrTx/>
              <a:buSzTx/>
              <a:buFontTx/>
              <a:buNone/>
              <a:defRPr/>
            </a:pPr>
            <a:r>
              <a:rPr lang="en-US" altLang="zh-CN" sz="2400" dirty="0">
                <a:solidFill>
                  <a:srgbClr val="104E87"/>
                </a:solidFill>
                <a:latin typeface="Comic Sans MS" panose="030F0702030302020204" pitchFamily="66" charset="0"/>
                <a:ea typeface="黑体" panose="02010609060101010101" pitchFamily="49" charset="-122"/>
              </a:rPr>
              <a:t>private:</a:t>
            </a:r>
          </a:p>
          <a:p>
            <a:pPr eaLnBrk="1" hangingPunct="1">
              <a:lnSpc>
                <a:spcPct val="90000"/>
              </a:lnSpc>
              <a:spcBef>
                <a:spcPts val="0"/>
              </a:spcBef>
              <a:buClrTx/>
              <a:buSzTx/>
              <a:buFontTx/>
              <a:buNone/>
              <a:defRPr/>
            </a:pPr>
            <a:r>
              <a:rPr lang="en-US" altLang="zh-CN" sz="2400" dirty="0">
                <a:solidFill>
                  <a:srgbClr val="104E87"/>
                </a:solidFill>
                <a:latin typeface="Comic Sans MS" panose="030F0702030302020204" pitchFamily="66" charset="0"/>
                <a:ea typeface="黑体" panose="02010609060101010101" pitchFamily="49" charset="-122"/>
              </a:rPr>
              <a:t>           </a:t>
            </a:r>
            <a:r>
              <a:rPr lang="en-US" altLang="zh-CN" sz="2400" dirty="0" err="1">
                <a:solidFill>
                  <a:srgbClr val="104E87"/>
                </a:solidFill>
                <a:latin typeface="Comic Sans MS" panose="030F0702030302020204" pitchFamily="66" charset="0"/>
                <a:ea typeface="黑体" panose="02010609060101010101" pitchFamily="49" charset="-122"/>
              </a:rPr>
              <a:t>int</a:t>
            </a:r>
            <a:r>
              <a:rPr lang="en-US" altLang="zh-CN" sz="2400" dirty="0">
                <a:solidFill>
                  <a:srgbClr val="104E87"/>
                </a:solidFill>
                <a:latin typeface="Comic Sans MS" panose="030F0702030302020204" pitchFamily="66" charset="0"/>
                <a:ea typeface="黑体" panose="02010609060101010101" pitchFamily="49" charset="-122"/>
              </a:rPr>
              <a:t> hour, minute, second;</a:t>
            </a:r>
          </a:p>
          <a:p>
            <a:pPr eaLnBrk="1" hangingPunct="1">
              <a:lnSpc>
                <a:spcPct val="90000"/>
              </a:lnSpc>
              <a:spcBef>
                <a:spcPts val="0"/>
              </a:spcBef>
              <a:buClrTx/>
              <a:buSzTx/>
              <a:buFontTx/>
              <a:buNone/>
              <a:defRPr/>
            </a:pPr>
            <a:r>
              <a:rPr lang="en-US" altLang="zh-CN" sz="2400" dirty="0">
                <a:solidFill>
                  <a:srgbClr val="104E87"/>
                </a:solidFill>
                <a:latin typeface="Comic Sans MS" panose="030F0702030302020204" pitchFamily="66" charset="0"/>
                <a:ea typeface="黑体" panose="02010609060101010101" pitchFamily="49" charset="-122"/>
              </a:rPr>
              <a:t>};</a:t>
            </a:r>
          </a:p>
        </p:txBody>
      </p:sp>
      <p:sp>
        <p:nvSpPr>
          <p:cNvPr id="23" name="Text Box 12">
            <a:extLst>
              <a:ext uri="{FF2B5EF4-FFF2-40B4-BE49-F238E27FC236}">
                <a16:creationId xmlns:a16="http://schemas.microsoft.com/office/drawing/2014/main" id="{B9962147-D7C6-4AC0-A074-D1FBE0A459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64497" y="4457791"/>
            <a:ext cx="7227503" cy="2419124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SzPct val="70000"/>
              <a:buFont typeface="Wingdings" pitchFamily="2" charset="2"/>
              <a:buChar char="o"/>
              <a:defRPr sz="32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n"/>
              <a:defRPr sz="28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o"/>
              <a:defRPr sz="24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n"/>
              <a:defRPr sz="20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ts val="0"/>
              </a:spcBef>
              <a:buClrTx/>
              <a:buSzTx/>
              <a:buFontTx/>
              <a:buNone/>
              <a:defRPr/>
            </a:pPr>
            <a:r>
              <a:rPr lang="en-US" altLang="zh-CN" sz="2400" dirty="0">
                <a:solidFill>
                  <a:srgbClr val="104E87"/>
                </a:solidFill>
                <a:latin typeface="Comic Sans MS" panose="030F0702030302020204" pitchFamily="66" charset="0"/>
                <a:ea typeface="黑体" panose="02010609060101010101" pitchFamily="49" charset="-122"/>
              </a:rPr>
              <a:t>class Clock{</a:t>
            </a:r>
          </a:p>
          <a:p>
            <a:pPr eaLnBrk="1" hangingPunct="1">
              <a:lnSpc>
                <a:spcPct val="90000"/>
              </a:lnSpc>
              <a:spcBef>
                <a:spcPts val="0"/>
              </a:spcBef>
              <a:buClrTx/>
              <a:buSzTx/>
              <a:buFontTx/>
              <a:buNone/>
              <a:defRPr/>
            </a:pPr>
            <a:r>
              <a:rPr lang="en-US" altLang="zh-CN" sz="2400" dirty="0">
                <a:solidFill>
                  <a:srgbClr val="104E87"/>
                </a:solidFill>
                <a:latin typeface="Comic Sans MS" panose="030F0702030302020204" pitchFamily="66" charset="0"/>
                <a:ea typeface="黑体" panose="02010609060101010101" pitchFamily="49" charset="-122"/>
              </a:rPr>
              <a:t>public: </a:t>
            </a:r>
          </a:p>
          <a:p>
            <a:pPr eaLnBrk="1" hangingPunct="1">
              <a:lnSpc>
                <a:spcPct val="90000"/>
              </a:lnSpc>
              <a:spcBef>
                <a:spcPts val="0"/>
              </a:spcBef>
              <a:buClrTx/>
              <a:buSzTx/>
              <a:buFontTx/>
              <a:buNone/>
              <a:defRPr/>
            </a:pPr>
            <a:r>
              <a:rPr lang="en-US" altLang="zh-CN" sz="2400" dirty="0">
                <a:solidFill>
                  <a:srgbClr val="104E87"/>
                </a:solidFill>
                <a:latin typeface="Comic Sans MS" panose="030F0702030302020204" pitchFamily="66" charset="0"/>
                <a:ea typeface="黑体" panose="02010609060101010101" pitchFamily="49" charset="-122"/>
              </a:rPr>
              <a:t>	</a:t>
            </a:r>
            <a:r>
              <a:rPr lang="en-US" altLang="zh-CN" sz="2400" dirty="0">
                <a:solidFill>
                  <a:srgbClr val="FF0000"/>
                </a:solidFill>
                <a:latin typeface="Comic Sans MS" panose="030F0702030302020204" pitchFamily="66" charset="0"/>
                <a:ea typeface="黑体" panose="02010609060101010101" pitchFamily="49" charset="-122"/>
              </a:rPr>
              <a:t>Clock(int </a:t>
            </a:r>
            <a:r>
              <a:rPr lang="en-US" altLang="zh-CN" sz="2400" dirty="0" err="1">
                <a:solidFill>
                  <a:srgbClr val="FF0000"/>
                </a:solidFill>
                <a:latin typeface="Comic Sans MS" panose="030F0702030302020204" pitchFamily="66" charset="0"/>
                <a:ea typeface="黑体" panose="02010609060101010101" pitchFamily="49" charset="-122"/>
              </a:rPr>
              <a:t>newH</a:t>
            </a:r>
            <a:r>
              <a:rPr lang="en-US" altLang="zh-CN" sz="2400" dirty="0">
                <a:solidFill>
                  <a:srgbClr val="FF0000"/>
                </a:solidFill>
                <a:latin typeface="Comic Sans MS" panose="030F0702030302020204" pitchFamily="66" charset="0"/>
                <a:ea typeface="黑体" panose="02010609060101010101" pitchFamily="49" charset="-122"/>
              </a:rPr>
              <a:t>=0, int </a:t>
            </a:r>
            <a:r>
              <a:rPr lang="en-US" altLang="zh-CN" sz="2400" dirty="0" err="1">
                <a:solidFill>
                  <a:srgbClr val="FF0000"/>
                </a:solidFill>
                <a:latin typeface="Comic Sans MS" panose="030F0702030302020204" pitchFamily="66" charset="0"/>
                <a:ea typeface="黑体" panose="02010609060101010101" pitchFamily="49" charset="-122"/>
              </a:rPr>
              <a:t>newMe</a:t>
            </a:r>
            <a:r>
              <a:rPr lang="en-US" altLang="zh-CN" sz="2400" dirty="0">
                <a:solidFill>
                  <a:srgbClr val="FF0000"/>
                </a:solidFill>
                <a:latin typeface="Comic Sans MS" panose="030F0702030302020204" pitchFamily="66" charset="0"/>
                <a:ea typeface="黑体" panose="02010609060101010101" pitchFamily="49" charset="-122"/>
              </a:rPr>
              <a:t>=0, int news=0);</a:t>
            </a:r>
          </a:p>
          <a:p>
            <a:pPr eaLnBrk="1" hangingPunct="1">
              <a:lnSpc>
                <a:spcPct val="90000"/>
              </a:lnSpc>
              <a:spcBef>
                <a:spcPts val="0"/>
              </a:spcBef>
              <a:buClrTx/>
              <a:buSzTx/>
              <a:buFontTx/>
              <a:buNone/>
              <a:defRPr/>
            </a:pPr>
            <a:r>
              <a:rPr lang="en-US" altLang="zh-CN" sz="2400" dirty="0">
                <a:solidFill>
                  <a:srgbClr val="104E87"/>
                </a:solidFill>
                <a:latin typeface="Comic Sans MS" panose="030F0702030302020204" pitchFamily="66" charset="0"/>
                <a:ea typeface="黑体" panose="02010609060101010101" pitchFamily="49" charset="-122"/>
              </a:rPr>
              <a:t>	</a:t>
            </a:r>
            <a:r>
              <a:rPr lang="en-US" altLang="zh-CN" sz="2400" b="1" dirty="0">
                <a:solidFill>
                  <a:srgbClr val="104E87"/>
                </a:solidFill>
                <a:latin typeface="Comic Sans MS" panose="030F0702030302020204" pitchFamily="66" charset="0"/>
                <a:ea typeface="黑体" panose="02010609060101010101" pitchFamily="49" charset="-122"/>
              </a:rPr>
              <a:t>……</a:t>
            </a:r>
          </a:p>
          <a:p>
            <a:pPr eaLnBrk="1" hangingPunct="1">
              <a:lnSpc>
                <a:spcPct val="90000"/>
              </a:lnSpc>
              <a:spcBef>
                <a:spcPts val="0"/>
              </a:spcBef>
              <a:buClrTx/>
              <a:buSzTx/>
              <a:buFontTx/>
              <a:buNone/>
              <a:defRPr/>
            </a:pPr>
            <a:r>
              <a:rPr lang="en-US" altLang="zh-CN" sz="2400" dirty="0">
                <a:solidFill>
                  <a:srgbClr val="104E87"/>
                </a:solidFill>
                <a:latin typeface="Comic Sans MS" panose="030F0702030302020204" pitchFamily="66" charset="0"/>
                <a:ea typeface="黑体" panose="02010609060101010101" pitchFamily="49" charset="-122"/>
              </a:rPr>
              <a:t>private:</a:t>
            </a:r>
          </a:p>
          <a:p>
            <a:pPr eaLnBrk="1" hangingPunct="1">
              <a:lnSpc>
                <a:spcPct val="90000"/>
              </a:lnSpc>
              <a:spcBef>
                <a:spcPts val="0"/>
              </a:spcBef>
              <a:buClrTx/>
              <a:buSzTx/>
              <a:buFontTx/>
              <a:buNone/>
              <a:defRPr/>
            </a:pPr>
            <a:r>
              <a:rPr lang="en-US" altLang="zh-CN" sz="2400" dirty="0">
                <a:solidFill>
                  <a:srgbClr val="104E87"/>
                </a:solidFill>
                <a:latin typeface="Comic Sans MS" panose="030F0702030302020204" pitchFamily="66" charset="0"/>
                <a:ea typeface="黑体" panose="02010609060101010101" pitchFamily="49" charset="-122"/>
              </a:rPr>
              <a:t>           </a:t>
            </a:r>
            <a:r>
              <a:rPr lang="en-US" altLang="zh-CN" sz="2400" dirty="0" err="1">
                <a:solidFill>
                  <a:srgbClr val="104E87"/>
                </a:solidFill>
                <a:latin typeface="Comic Sans MS" panose="030F0702030302020204" pitchFamily="66" charset="0"/>
                <a:ea typeface="黑体" panose="02010609060101010101" pitchFamily="49" charset="-122"/>
              </a:rPr>
              <a:t>int</a:t>
            </a:r>
            <a:r>
              <a:rPr lang="en-US" altLang="zh-CN" sz="2400" dirty="0">
                <a:solidFill>
                  <a:srgbClr val="104E87"/>
                </a:solidFill>
                <a:latin typeface="Comic Sans MS" panose="030F0702030302020204" pitchFamily="66" charset="0"/>
                <a:ea typeface="黑体" panose="02010609060101010101" pitchFamily="49" charset="-122"/>
              </a:rPr>
              <a:t> hour, minute, second;</a:t>
            </a:r>
          </a:p>
          <a:p>
            <a:pPr eaLnBrk="1" hangingPunct="1">
              <a:lnSpc>
                <a:spcPct val="90000"/>
              </a:lnSpc>
              <a:spcBef>
                <a:spcPts val="0"/>
              </a:spcBef>
              <a:buClrTx/>
              <a:buSzTx/>
              <a:buFontTx/>
              <a:buNone/>
              <a:defRPr/>
            </a:pPr>
            <a:r>
              <a:rPr lang="en-US" altLang="zh-CN" sz="2400" dirty="0">
                <a:solidFill>
                  <a:srgbClr val="104E87"/>
                </a:solidFill>
                <a:latin typeface="Comic Sans MS" panose="030F0702030302020204" pitchFamily="66" charset="0"/>
                <a:ea typeface="黑体" panose="02010609060101010101" pitchFamily="49" charset="-122"/>
              </a:rPr>
              <a:t>};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785CDF44-DF90-40EF-9581-1BDC7F7FD4DE}"/>
              </a:ext>
            </a:extLst>
          </p:cNvPr>
          <p:cNvSpPr txBox="1"/>
          <p:nvPr/>
        </p:nvSpPr>
        <p:spPr>
          <a:xfrm>
            <a:off x="5412658" y="2890487"/>
            <a:ext cx="18140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2800" b="1" dirty="0">
                <a:solidFill>
                  <a:srgbClr val="104E87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方案一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DDF97368-60DB-4077-9591-B212CB8A1BBD}"/>
              </a:ext>
            </a:extLst>
          </p:cNvPr>
          <p:cNvSpPr txBox="1"/>
          <p:nvPr/>
        </p:nvSpPr>
        <p:spPr>
          <a:xfrm>
            <a:off x="10377948" y="4457790"/>
            <a:ext cx="18140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2800" b="1" dirty="0">
                <a:solidFill>
                  <a:srgbClr val="104E87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方案二 </a:t>
            </a:r>
          </a:p>
        </p:txBody>
      </p:sp>
      <p:sp>
        <p:nvSpPr>
          <p:cNvPr id="20" name="Rectangle 7">
            <a:extLst>
              <a:ext uri="{FF2B5EF4-FFF2-40B4-BE49-F238E27FC236}">
                <a16:creationId xmlns:a16="http://schemas.microsoft.com/office/drawing/2014/main" id="{92DFEA8D-7B34-4929-BD1A-01C0C635D9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794" y="953444"/>
            <a:ext cx="4570414" cy="25237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SzPct val="70000"/>
              <a:buFont typeface="Wingdings" pitchFamily="2" charset="2"/>
              <a:buChar char="o"/>
              <a:defRPr sz="32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n"/>
              <a:defRPr sz="28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o"/>
              <a:defRPr sz="24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n"/>
              <a:defRPr sz="20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defRPr/>
            </a:pPr>
            <a:r>
              <a:rPr lang="zh-CN" altLang="en-US" sz="28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隐含生成构造函数</a:t>
            </a:r>
            <a:endParaRPr lang="en-US" altLang="zh-CN" sz="2800" dirty="0">
              <a:solidFill>
                <a:srgbClr val="104E87"/>
              </a:solidFill>
              <a:latin typeface="Comic Sans MS" panose="030F0702030302020204" pitchFamily="66" charset="0"/>
              <a:ea typeface="华光行书_CNKI" panose="02000500000000000000" pitchFamily="2" charset="-122"/>
            </a:endParaRPr>
          </a:p>
          <a:p>
            <a:pPr marL="266700" indent="-266700" eaLnBrk="1" hangingPunct="1">
              <a:spcBef>
                <a:spcPct val="0"/>
              </a:spcBef>
              <a:spcAft>
                <a:spcPts val="600"/>
              </a:spcAft>
              <a:buClrTx/>
              <a:buSzTx/>
              <a:buFont typeface="Wingdings" pitchFamily="2" charset="2"/>
              <a:buBlip>
                <a:blip r:embed="rId4"/>
              </a:buBlip>
              <a:defRPr/>
            </a:pPr>
            <a:r>
              <a:rPr lang="zh-CN" altLang="en-US" sz="2400" b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若类中</a:t>
            </a:r>
            <a:r>
              <a:rPr lang="zh-CN" altLang="en-US" sz="2400" b="0" dirty="0">
                <a:solidFill>
                  <a:srgbClr val="FF0000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未定义构造函数，编辑器自动生成</a:t>
            </a:r>
            <a:r>
              <a:rPr lang="en-US" altLang="zh-CN" sz="2400" b="0" dirty="0">
                <a:solidFill>
                  <a:srgbClr val="FF0000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1</a:t>
            </a:r>
            <a:r>
              <a:rPr lang="zh-CN" altLang="en-US" sz="2400" b="0" dirty="0">
                <a:solidFill>
                  <a:srgbClr val="FF0000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个默认构造函数</a:t>
            </a:r>
            <a:r>
              <a:rPr lang="en-US" altLang="zh-CN" sz="2400" b="0" dirty="0">
                <a:solidFill>
                  <a:srgbClr val="FF0000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,</a:t>
            </a:r>
            <a:r>
              <a:rPr lang="zh-CN" altLang="en-US" sz="2400" b="0" dirty="0">
                <a:solidFill>
                  <a:srgbClr val="FF0000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负责创建对象</a:t>
            </a:r>
            <a:r>
              <a:rPr lang="en-US" altLang="zh-CN" sz="2400" b="0" dirty="0">
                <a:solidFill>
                  <a:srgbClr val="FF0000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,</a:t>
            </a:r>
            <a:r>
              <a:rPr lang="zh-CN" altLang="en-US" sz="2400" b="0" dirty="0">
                <a:solidFill>
                  <a:srgbClr val="FF0000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不做任何赋值</a:t>
            </a:r>
            <a:endParaRPr lang="en-US" altLang="zh-CN" sz="2400" b="0" dirty="0">
              <a:solidFill>
                <a:srgbClr val="FF0000"/>
              </a:solidFill>
              <a:latin typeface="Comic Sans MS" panose="030F0702030302020204" pitchFamily="66" charset="0"/>
              <a:ea typeface="华光行书_CNKI" panose="02000500000000000000" pitchFamily="2" charset="-122"/>
            </a:endParaRPr>
          </a:p>
          <a:p>
            <a:pPr marL="266700" indent="-266700" eaLnBrk="1" hangingPunct="1">
              <a:spcBef>
                <a:spcPct val="0"/>
              </a:spcBef>
              <a:spcAft>
                <a:spcPts val="600"/>
              </a:spcAft>
              <a:buClrTx/>
              <a:buSzTx/>
              <a:buFont typeface="Wingdings" pitchFamily="2" charset="2"/>
              <a:buBlip>
                <a:blip r:embed="rId4"/>
              </a:buBlip>
              <a:defRPr/>
            </a:pPr>
            <a:r>
              <a:rPr lang="zh-CN" altLang="en-US" sz="2400" b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只要类中提供了构造函数，</a:t>
            </a:r>
            <a:r>
              <a:rPr lang="en-US" altLang="zh-CN" sz="2400" b="0" dirty="0" err="1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c++</a:t>
            </a:r>
            <a:r>
              <a:rPr lang="zh-CN" altLang="en-US" sz="2400" b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就不提供默认构造函数</a:t>
            </a:r>
            <a:endParaRPr lang="en-US" altLang="zh-CN" sz="2400" b="0" dirty="0">
              <a:solidFill>
                <a:srgbClr val="104E87"/>
              </a:solidFill>
              <a:latin typeface="Comic Sans MS" panose="030F0702030302020204" pitchFamily="66" charset="0"/>
              <a:ea typeface="华光行书_CNKI" panose="02000500000000000000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302025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2" dur="5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6" dur="500"/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000"/>
                            </p:stCondLst>
                            <p:childTnLst>
                              <p:par>
                                <p:cTn id="28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0" dur="500"/>
                                        <p:tgtEl>
                                          <p:spTgt spid="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6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35" dur="2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6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38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43" dur="2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46" dur="2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/>
      <p:bldP spid="21" grpId="0" animBg="1"/>
      <p:bldP spid="23" grpId="0" animBg="1"/>
      <p:bldP spid="2" grpId="0"/>
      <p:bldP spid="24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>
            <a:extLst>
              <a:ext uri="{FF2B5EF4-FFF2-40B4-BE49-F238E27FC236}">
                <a16:creationId xmlns:a16="http://schemas.microsoft.com/office/drawing/2014/main" id="{0321CC45-122C-4815-AB74-6812ECD67E8A}"/>
              </a:ext>
            </a:extLst>
          </p:cNvPr>
          <p:cNvSpPr/>
          <p:nvPr/>
        </p:nvSpPr>
        <p:spPr>
          <a:xfrm>
            <a:off x="794" y="176798"/>
            <a:ext cx="12190413" cy="728917"/>
          </a:xfrm>
          <a:prstGeom prst="rect">
            <a:avLst/>
          </a:prstGeom>
          <a:solidFill>
            <a:srgbClr val="26CC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3200"/>
          </a:p>
        </p:txBody>
      </p:sp>
      <p:cxnSp>
        <p:nvCxnSpPr>
          <p:cNvPr id="9" name="直线连接符 6">
            <a:extLst>
              <a:ext uri="{FF2B5EF4-FFF2-40B4-BE49-F238E27FC236}">
                <a16:creationId xmlns:a16="http://schemas.microsoft.com/office/drawing/2014/main" id="{714E748F-686D-4BD8-80EF-EC7F4D81F264}"/>
              </a:ext>
            </a:extLst>
          </p:cNvPr>
          <p:cNvCxnSpPr/>
          <p:nvPr/>
        </p:nvCxnSpPr>
        <p:spPr>
          <a:xfrm>
            <a:off x="1587" y="905715"/>
            <a:ext cx="12190413" cy="0"/>
          </a:xfrm>
          <a:prstGeom prst="line">
            <a:avLst/>
          </a:prstGeom>
          <a:ln>
            <a:solidFill>
              <a:srgbClr val="104D7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文本框 15">
            <a:extLst>
              <a:ext uri="{FF2B5EF4-FFF2-40B4-BE49-F238E27FC236}">
                <a16:creationId xmlns:a16="http://schemas.microsoft.com/office/drawing/2014/main" id="{F4CBD7C5-3ADE-4895-BD62-2F750018FBA3}"/>
              </a:ext>
            </a:extLst>
          </p:cNvPr>
          <p:cNvSpPr txBox="1"/>
          <p:nvPr/>
        </p:nvSpPr>
        <p:spPr>
          <a:xfrm>
            <a:off x="247719" y="224527"/>
            <a:ext cx="802877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kumimoji="1" sz="3200" b="1">
                <a:latin typeface="华光胖头鱼_CNKI" panose="02000500000000000000" pitchFamily="2" charset="-122"/>
                <a:ea typeface="华光胖头鱼_CNKI" panose="02000500000000000000" pitchFamily="2" charset="-122"/>
              </a:defRPr>
            </a:lvl1pPr>
          </a:lstStyle>
          <a:p>
            <a:r>
              <a:rPr lang="en-US" altLang="zh-CN" dirty="0"/>
              <a:t>7.3</a:t>
            </a:r>
            <a:r>
              <a:rPr lang="zh-CN" altLang="en-US" dirty="0"/>
              <a:t>构造</a:t>
            </a:r>
            <a:r>
              <a:rPr lang="zh-CN" altLang="en-US" dirty="0">
                <a:sym typeface="+mn-lt"/>
              </a:rPr>
              <a:t>函数与析构函数</a:t>
            </a:r>
            <a:endParaRPr lang="zh-CN" altLang="en-US" dirty="0"/>
          </a:p>
        </p:txBody>
      </p:sp>
      <p:sp>
        <p:nvSpPr>
          <p:cNvPr id="6" name="Rectangle 25">
            <a:extLst>
              <a:ext uri="{FF2B5EF4-FFF2-40B4-BE49-F238E27FC236}">
                <a16:creationId xmlns:a16="http://schemas.microsoft.com/office/drawing/2014/main" id="{85C5A5B4-05DA-4821-B6CD-E665FAC313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05715"/>
            <a:ext cx="3554360" cy="2677656"/>
          </a:xfrm>
          <a:prstGeom prst="rect">
            <a:avLst/>
          </a:prstGeom>
          <a:solidFill>
            <a:srgbClr val="D2E8FA"/>
          </a:solidFill>
          <a:ln>
            <a:noFill/>
          </a:ln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SzPct val="70000"/>
              <a:buFont typeface="Wingdings" pitchFamily="2" charset="2"/>
              <a:buChar char="o"/>
              <a:defRPr sz="32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n"/>
              <a:defRPr sz="28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o"/>
              <a:defRPr sz="24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n"/>
              <a:defRPr sz="20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ts val="0"/>
              </a:spcBef>
              <a:buClrTx/>
              <a:buSzTx/>
              <a:buFontTx/>
              <a:buNone/>
              <a:defRPr/>
            </a:pPr>
            <a:r>
              <a:rPr kumimoji="1" lang="en-US" altLang="zh-CN" sz="2400" dirty="0" err="1">
                <a:solidFill>
                  <a:srgbClr val="104E87"/>
                </a:solidFill>
                <a:latin typeface="Comic Sans MS" panose="030F0702030302020204" pitchFamily="66" charset="0"/>
                <a:ea typeface="宋体" pitchFamily="2" charset="-122"/>
              </a:rPr>
              <a:t>int</a:t>
            </a:r>
            <a:r>
              <a:rPr kumimoji="1" lang="en-US" altLang="zh-CN" sz="2400" dirty="0">
                <a:solidFill>
                  <a:srgbClr val="104E87"/>
                </a:solidFill>
                <a:latin typeface="Comic Sans MS" panose="030F0702030302020204" pitchFamily="66" charset="0"/>
                <a:ea typeface="宋体" pitchFamily="2" charset="-122"/>
              </a:rPr>
              <a:t> main()</a:t>
            </a:r>
          </a:p>
          <a:p>
            <a:pPr eaLnBrk="1" hangingPunct="1">
              <a:spcBef>
                <a:spcPts val="0"/>
              </a:spcBef>
              <a:buClrTx/>
              <a:buSzTx/>
              <a:buFontTx/>
              <a:buNone/>
              <a:defRPr/>
            </a:pPr>
            <a:r>
              <a:rPr kumimoji="1" lang="en-US" altLang="zh-CN" sz="2400" dirty="0">
                <a:solidFill>
                  <a:srgbClr val="104E87"/>
                </a:solidFill>
                <a:latin typeface="Comic Sans MS" panose="030F0702030302020204" pitchFamily="66" charset="0"/>
                <a:ea typeface="宋体" pitchFamily="2" charset="-122"/>
              </a:rPr>
              <a:t>{ Clock  c1(8,10,0);</a:t>
            </a:r>
          </a:p>
          <a:p>
            <a:pPr eaLnBrk="1" hangingPunct="1">
              <a:spcBef>
                <a:spcPts val="0"/>
              </a:spcBef>
              <a:buClrTx/>
              <a:buSzTx/>
              <a:buFontTx/>
              <a:buNone/>
              <a:defRPr/>
            </a:pPr>
            <a:r>
              <a:rPr kumimoji="1" lang="en-US" altLang="zh-CN" sz="2400" dirty="0">
                <a:solidFill>
                  <a:srgbClr val="FF0000"/>
                </a:solidFill>
                <a:latin typeface="Comic Sans MS" panose="030F0702030302020204" pitchFamily="66" charset="0"/>
                <a:ea typeface="宋体" pitchFamily="2" charset="-122"/>
              </a:rPr>
              <a:t>   Clock  c2(c1);</a:t>
            </a:r>
          </a:p>
          <a:p>
            <a:pPr eaLnBrk="1" hangingPunct="1">
              <a:spcBef>
                <a:spcPts val="0"/>
              </a:spcBef>
              <a:buClrTx/>
              <a:buSzTx/>
              <a:buFont typeface="Wingdings" pitchFamily="2" charset="2"/>
              <a:buNone/>
              <a:defRPr/>
            </a:pPr>
            <a:r>
              <a:rPr kumimoji="1" lang="en-US" altLang="zh-CN" sz="2400" dirty="0">
                <a:solidFill>
                  <a:srgbClr val="104E87"/>
                </a:solidFill>
                <a:latin typeface="Comic Sans MS" panose="030F0702030302020204" pitchFamily="66" charset="0"/>
                <a:ea typeface="宋体" pitchFamily="2" charset="-122"/>
              </a:rPr>
              <a:t>   c1.showTime();</a:t>
            </a:r>
            <a:endParaRPr kumimoji="1" lang="zh-CN" altLang="en-US" sz="2400" dirty="0">
              <a:solidFill>
                <a:srgbClr val="104E87"/>
              </a:solidFill>
              <a:latin typeface="Comic Sans MS" panose="030F0702030302020204" pitchFamily="66" charset="0"/>
              <a:ea typeface="宋体" pitchFamily="2" charset="-122"/>
            </a:endParaRPr>
          </a:p>
          <a:p>
            <a:pPr eaLnBrk="1" hangingPunct="1">
              <a:spcBef>
                <a:spcPts val="0"/>
              </a:spcBef>
              <a:buClrTx/>
              <a:buSzTx/>
              <a:buFont typeface="Wingdings" pitchFamily="2" charset="2"/>
              <a:buNone/>
              <a:defRPr/>
            </a:pPr>
            <a:r>
              <a:rPr kumimoji="1" lang="en-US" altLang="zh-CN" sz="2400" dirty="0">
                <a:solidFill>
                  <a:srgbClr val="104E87"/>
                </a:solidFill>
                <a:latin typeface="Comic Sans MS" panose="030F0702030302020204" pitchFamily="66" charset="0"/>
                <a:ea typeface="宋体" pitchFamily="2" charset="-122"/>
              </a:rPr>
              <a:t>   c2.showTime();</a:t>
            </a:r>
          </a:p>
          <a:p>
            <a:pPr eaLnBrk="1" hangingPunct="1">
              <a:spcBef>
                <a:spcPts val="0"/>
              </a:spcBef>
              <a:buClrTx/>
              <a:buSzTx/>
              <a:buFontTx/>
              <a:buNone/>
              <a:defRPr/>
            </a:pPr>
            <a:r>
              <a:rPr kumimoji="1" lang="en-US" altLang="zh-CN" sz="2400" dirty="0">
                <a:solidFill>
                  <a:srgbClr val="104E87"/>
                </a:solidFill>
                <a:latin typeface="Comic Sans MS" panose="030F0702030302020204" pitchFamily="66" charset="0"/>
                <a:ea typeface="宋体" pitchFamily="2" charset="-122"/>
              </a:rPr>
              <a:t> return 0</a:t>
            </a:r>
            <a:r>
              <a:rPr kumimoji="1" lang="zh-CN" altLang="en-US" sz="2400" dirty="0">
                <a:solidFill>
                  <a:srgbClr val="104E87"/>
                </a:solidFill>
                <a:latin typeface="Comic Sans MS" panose="030F0702030302020204" pitchFamily="66" charset="0"/>
                <a:ea typeface="宋体" pitchFamily="2" charset="-122"/>
              </a:rPr>
              <a:t>；</a:t>
            </a:r>
            <a:r>
              <a:rPr kumimoji="1" lang="en-US" altLang="zh-CN" sz="2400" dirty="0">
                <a:solidFill>
                  <a:srgbClr val="104E87"/>
                </a:solidFill>
                <a:latin typeface="Comic Sans MS" panose="030F0702030302020204" pitchFamily="66" charset="0"/>
                <a:ea typeface="宋体" pitchFamily="2" charset="-122"/>
              </a:rPr>
              <a:t>	</a:t>
            </a:r>
          </a:p>
          <a:p>
            <a:pPr eaLnBrk="1" hangingPunct="1">
              <a:spcBef>
                <a:spcPts val="0"/>
              </a:spcBef>
              <a:buClrTx/>
              <a:buSzTx/>
              <a:buFontTx/>
              <a:buNone/>
              <a:defRPr/>
            </a:pPr>
            <a:r>
              <a:rPr kumimoji="1" lang="en-US" altLang="zh-CN" sz="2400" dirty="0">
                <a:solidFill>
                  <a:srgbClr val="104E87"/>
                </a:solidFill>
                <a:latin typeface="Comic Sans MS" panose="030F0702030302020204" pitchFamily="66" charset="0"/>
                <a:ea typeface="宋体" pitchFamily="2" charset="-122"/>
              </a:rPr>
              <a:t>}</a:t>
            </a:r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8EA02370-13D9-40DC-B0AB-04C92CD063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>
                        <a14:foregroundMark x1="47077" y1="70901" x2="46308" y2="79561"/>
                        <a14:foregroundMark x1="46308" y1="79561" x2="54615" y2="74827"/>
                        <a14:foregroundMark x1="54615" y1="74827" x2="43077" y2="77021"/>
                        <a14:foregroundMark x1="43077" y1="77021" x2="54615" y2="81986"/>
                        <a14:foregroundMark x1="54615" y1="81986" x2="56308" y2="73903"/>
                        <a14:foregroundMark x1="56308" y1="73903" x2="55385" y2="73557"/>
                        <a14:foregroundMark x1="40769" y1="78406" x2="47538" y2="83487"/>
                        <a14:foregroundMark x1="47538" y1="83487" x2="57077" y2="81062"/>
                        <a14:foregroundMark x1="57077" y1="81062" x2="56615" y2="79908"/>
                        <a14:foregroundMark x1="42769" y1="87875" x2="53385" y2="87298"/>
                        <a14:foregroundMark x1="42462" y1="87298" x2="46462" y2="87875"/>
                        <a14:foregroundMark x1="51692" y1="87875" x2="55385" y2="87875"/>
                        <a14:foregroundMark x1="45385" y1="87644" x2="54615" y2="87644"/>
                        <a14:foregroundMark x1="41385" y1="86028" x2="43692" y2="87529"/>
                        <a14:foregroundMark x1="40769" y1="84873" x2="42000" y2="86374"/>
                        <a14:foregroundMark x1="76308" y1="22055" x2="72923" y2="41224"/>
                        <a14:foregroundMark x1="72923" y1="41224" x2="72923" y2="4122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19828" y="1312917"/>
            <a:ext cx="934532" cy="12452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116C03A5-9DFD-4015-BBCC-21BF90F24293}"/>
              </a:ext>
            </a:extLst>
          </p:cNvPr>
          <p:cNvSpPr txBox="1"/>
          <p:nvPr/>
        </p:nvSpPr>
        <p:spPr>
          <a:xfrm>
            <a:off x="3554360" y="895085"/>
            <a:ext cx="615745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dirty="0">
                <a:solidFill>
                  <a:srgbClr val="104E87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调用什么构造函数？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2ED9514F-1A30-4D30-B767-145586F1FA54}"/>
              </a:ext>
            </a:extLst>
          </p:cNvPr>
          <p:cNvSpPr txBox="1"/>
          <p:nvPr/>
        </p:nvSpPr>
        <p:spPr>
          <a:xfrm>
            <a:off x="3554360" y="1312917"/>
            <a:ext cx="2938616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hangingPunct="1">
              <a:lnSpc>
                <a:spcPct val="150000"/>
              </a:lnSpc>
              <a:buFont typeface="Georgia" panose="02040502050405020303" pitchFamily="18" charset="0"/>
              <a:buNone/>
            </a:pPr>
            <a:r>
              <a:rPr lang="zh-CN" altLang="en-US" sz="3200" b="1" dirty="0">
                <a:solidFill>
                  <a:srgbClr val="FF0000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复制构造函数</a:t>
            </a:r>
            <a:endParaRPr lang="en-US" altLang="en-US" sz="3200" b="1" dirty="0">
              <a:solidFill>
                <a:srgbClr val="FF0000"/>
              </a:solidFill>
              <a:latin typeface="华光行书_CNKI" panose="02000500000000000000" pitchFamily="2" charset="-122"/>
              <a:ea typeface="华光行书_CNKI" panose="02000500000000000000" pitchFamily="2" charset="-122"/>
            </a:endParaRPr>
          </a:p>
        </p:txBody>
      </p:sp>
      <p:sp>
        <p:nvSpPr>
          <p:cNvPr id="12" name="矩形 6">
            <a:extLst>
              <a:ext uri="{FF2B5EF4-FFF2-40B4-BE49-F238E27FC236}">
                <a16:creationId xmlns:a16="http://schemas.microsoft.com/office/drawing/2014/main" id="{20197C5D-641B-4A04-91F1-E1AD9BFFEB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54360" y="2111994"/>
            <a:ext cx="4061844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269875" indent="-26987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lvl="1" indent="0" eaLnBrk="1" hangingPunct="1">
              <a:spcBef>
                <a:spcPts val="600"/>
              </a:spcBef>
              <a:buClr>
                <a:schemeClr val="accent2"/>
              </a:buClr>
              <a:buSzPct val="75000"/>
            </a:pPr>
            <a:r>
              <a:rPr lang="zh-CN" altLang="en-US" sz="2400" b="0" dirty="0">
                <a:solidFill>
                  <a:srgbClr val="104E87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定义对象时，用已存在的对象去化，调用复制构造函数</a:t>
            </a:r>
            <a:endParaRPr lang="en-US" altLang="zh-CN" sz="2400" b="0" dirty="0">
              <a:solidFill>
                <a:srgbClr val="104E87"/>
              </a:solidFill>
              <a:latin typeface="华光行书_CNKI" panose="02000500000000000000" pitchFamily="2" charset="-122"/>
              <a:ea typeface="华光行书_CNKI" panose="02000500000000000000" pitchFamily="2" charset="-122"/>
            </a:endParaRPr>
          </a:p>
        </p:txBody>
      </p:sp>
      <p:sp>
        <p:nvSpPr>
          <p:cNvPr id="15" name="Text Box 12">
            <a:extLst>
              <a:ext uri="{FF2B5EF4-FFF2-40B4-BE49-F238E27FC236}">
                <a16:creationId xmlns:a16="http://schemas.microsoft.com/office/drawing/2014/main" id="{3B6A3399-D6E4-472D-954B-0671259812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3636680"/>
            <a:ext cx="8819909" cy="32213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wrap="square">
            <a:no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SzPct val="70000"/>
              <a:buFont typeface="Wingdings" pitchFamily="2" charset="2"/>
              <a:buChar char="o"/>
              <a:defRPr sz="32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n"/>
              <a:defRPr sz="28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o"/>
              <a:defRPr sz="24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n"/>
              <a:defRPr sz="20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ts val="0"/>
              </a:spcBef>
              <a:buClrTx/>
              <a:buSzTx/>
              <a:buFontTx/>
              <a:buNone/>
              <a:defRPr/>
            </a:pPr>
            <a:r>
              <a:rPr lang="en-US" altLang="zh-CN" sz="24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class Clock{</a:t>
            </a:r>
          </a:p>
          <a:p>
            <a:pPr eaLnBrk="1" hangingPunct="1">
              <a:lnSpc>
                <a:spcPct val="90000"/>
              </a:lnSpc>
              <a:spcBef>
                <a:spcPts val="0"/>
              </a:spcBef>
              <a:buClrTx/>
              <a:buSzTx/>
              <a:buFontTx/>
              <a:buNone/>
              <a:defRPr/>
            </a:pPr>
            <a:r>
              <a:rPr lang="en-US" altLang="zh-CN" sz="24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public: </a:t>
            </a:r>
          </a:p>
          <a:p>
            <a:pPr eaLnBrk="1" hangingPunct="1">
              <a:lnSpc>
                <a:spcPct val="90000"/>
              </a:lnSpc>
              <a:spcBef>
                <a:spcPts val="0"/>
              </a:spcBef>
              <a:buClrTx/>
              <a:buSzTx/>
              <a:buFontTx/>
              <a:buNone/>
              <a:defRPr/>
            </a:pPr>
            <a:r>
              <a:rPr lang="en-US" altLang="zh-CN" sz="24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	Clock(int </a:t>
            </a:r>
            <a:r>
              <a:rPr lang="en-US" altLang="zh-CN" sz="2400" dirty="0" err="1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newH</a:t>
            </a:r>
            <a:r>
              <a:rPr lang="en-US" altLang="zh-CN" sz="24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, int </a:t>
            </a:r>
            <a:r>
              <a:rPr lang="en-US" altLang="zh-CN" sz="2400" dirty="0" err="1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newMe</a:t>
            </a:r>
            <a:r>
              <a:rPr lang="en-US" altLang="zh-CN" sz="24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, int </a:t>
            </a:r>
            <a:r>
              <a:rPr lang="en-US" altLang="zh-CN" sz="2400" dirty="0" err="1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newS</a:t>
            </a:r>
            <a:r>
              <a:rPr lang="en-US" altLang="zh-CN" sz="24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);//</a:t>
            </a:r>
            <a:r>
              <a:rPr lang="zh-CN" altLang="en-US" sz="24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有参构造函数</a:t>
            </a:r>
            <a:endParaRPr lang="en-US" altLang="zh-CN" sz="2400" dirty="0">
              <a:solidFill>
                <a:srgbClr val="104E87"/>
              </a:solidFill>
              <a:latin typeface="Comic Sans MS" panose="030F0702030302020204" pitchFamily="66" charset="0"/>
              <a:ea typeface="华光行书_CNKI" panose="02000500000000000000" pitchFamily="2" charset="-122"/>
            </a:endParaRPr>
          </a:p>
          <a:p>
            <a:pPr eaLnBrk="1" hangingPunct="1">
              <a:lnSpc>
                <a:spcPct val="90000"/>
              </a:lnSpc>
              <a:spcBef>
                <a:spcPts val="0"/>
              </a:spcBef>
              <a:buClrTx/>
              <a:buSzTx/>
              <a:buFontTx/>
              <a:buNone/>
              <a:defRPr/>
            </a:pPr>
            <a:r>
              <a:rPr lang="en-US" altLang="zh-CN" sz="24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	Clock();//</a:t>
            </a:r>
            <a:r>
              <a:rPr lang="zh-CN" altLang="en-US" sz="24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无参构造函数</a:t>
            </a:r>
            <a:endParaRPr lang="en-US" altLang="zh-CN" sz="2400" dirty="0">
              <a:solidFill>
                <a:srgbClr val="104E87"/>
              </a:solidFill>
              <a:latin typeface="Comic Sans MS" panose="030F0702030302020204" pitchFamily="66" charset="0"/>
              <a:ea typeface="华光行书_CNKI" panose="02000500000000000000" pitchFamily="2" charset="-122"/>
            </a:endParaRPr>
          </a:p>
          <a:p>
            <a:pPr eaLnBrk="1" hangingPunct="1">
              <a:lnSpc>
                <a:spcPct val="90000"/>
              </a:lnSpc>
              <a:spcBef>
                <a:spcPts val="0"/>
              </a:spcBef>
              <a:buClrTx/>
              <a:buSzTx/>
              <a:buFontTx/>
              <a:buNone/>
              <a:defRPr/>
            </a:pPr>
            <a:r>
              <a:rPr lang="en-US" altLang="zh-CN" sz="24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	Clock(Clock&amp; c);//</a:t>
            </a:r>
            <a:r>
              <a:rPr lang="zh-CN" altLang="en-US" sz="24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复制构造函数</a:t>
            </a:r>
            <a:endParaRPr lang="en-US" altLang="zh-CN" sz="2400" dirty="0">
              <a:solidFill>
                <a:srgbClr val="104E87"/>
              </a:solidFill>
              <a:latin typeface="Comic Sans MS" panose="030F0702030302020204" pitchFamily="66" charset="0"/>
              <a:ea typeface="华光行书_CNKI" panose="02000500000000000000" pitchFamily="2" charset="-122"/>
            </a:endParaRPr>
          </a:p>
          <a:p>
            <a:pPr eaLnBrk="1" hangingPunct="1">
              <a:lnSpc>
                <a:spcPct val="90000"/>
              </a:lnSpc>
              <a:spcBef>
                <a:spcPts val="0"/>
              </a:spcBef>
              <a:buClrTx/>
              <a:buSzTx/>
              <a:buFontTx/>
              <a:buNone/>
              <a:defRPr/>
            </a:pPr>
            <a:r>
              <a:rPr lang="en-US" altLang="zh-CN" sz="24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           </a:t>
            </a:r>
            <a:r>
              <a:rPr lang="en-US" altLang="zh-CN" sz="2400" b="1" dirty="0">
                <a:solidFill>
                  <a:srgbClr val="104E87"/>
                </a:solidFill>
                <a:latin typeface="Comic Sans MS" panose="030F0702030302020204" pitchFamily="66" charset="0"/>
                <a:ea typeface="黑体" panose="02010609060101010101" pitchFamily="49" charset="-122"/>
              </a:rPr>
              <a:t>……</a:t>
            </a:r>
          </a:p>
          <a:p>
            <a:pPr eaLnBrk="1" hangingPunct="1">
              <a:lnSpc>
                <a:spcPct val="90000"/>
              </a:lnSpc>
              <a:spcBef>
                <a:spcPts val="0"/>
              </a:spcBef>
              <a:buClrTx/>
              <a:buSzTx/>
              <a:buFontTx/>
              <a:buNone/>
              <a:defRPr/>
            </a:pPr>
            <a:r>
              <a:rPr lang="en-US" altLang="zh-CN" sz="24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private:</a:t>
            </a:r>
          </a:p>
          <a:p>
            <a:pPr eaLnBrk="1" hangingPunct="1">
              <a:lnSpc>
                <a:spcPct val="90000"/>
              </a:lnSpc>
              <a:spcBef>
                <a:spcPts val="0"/>
              </a:spcBef>
              <a:buClrTx/>
              <a:buSzTx/>
              <a:buFontTx/>
              <a:buNone/>
              <a:defRPr/>
            </a:pPr>
            <a:r>
              <a:rPr lang="en-US" altLang="zh-CN" sz="24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           </a:t>
            </a:r>
            <a:r>
              <a:rPr lang="en-US" altLang="zh-CN" sz="2400" dirty="0" err="1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int</a:t>
            </a:r>
            <a:r>
              <a:rPr lang="en-US" altLang="zh-CN" sz="24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 hour, minute, second;</a:t>
            </a:r>
          </a:p>
          <a:p>
            <a:pPr eaLnBrk="1" hangingPunct="1">
              <a:lnSpc>
                <a:spcPct val="90000"/>
              </a:lnSpc>
              <a:spcBef>
                <a:spcPts val="0"/>
              </a:spcBef>
              <a:buClrTx/>
              <a:buSzTx/>
              <a:buFontTx/>
              <a:buNone/>
              <a:defRPr/>
            </a:pPr>
            <a:r>
              <a:rPr lang="en-US" altLang="zh-CN" sz="24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};</a:t>
            </a:r>
          </a:p>
        </p:txBody>
      </p:sp>
      <p:sp>
        <p:nvSpPr>
          <p:cNvPr id="17" name="Rectangle 25">
            <a:extLst>
              <a:ext uri="{FF2B5EF4-FFF2-40B4-BE49-F238E27FC236}">
                <a16:creationId xmlns:a16="http://schemas.microsoft.com/office/drawing/2014/main" id="{235A95F7-B2ED-4D4A-9695-1039596A1A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00932" y="2518352"/>
            <a:ext cx="3289481" cy="272898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wrap="square">
            <a:no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SzPct val="70000"/>
              <a:buFont typeface="Wingdings" pitchFamily="2" charset="2"/>
              <a:buChar char="o"/>
              <a:defRPr sz="32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n"/>
              <a:defRPr sz="28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o"/>
              <a:defRPr sz="24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n"/>
              <a:defRPr sz="20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ts val="0"/>
              </a:spcBef>
              <a:buClrTx/>
              <a:buSzTx/>
              <a:buFontTx/>
              <a:buNone/>
              <a:defRPr/>
            </a:pPr>
            <a:r>
              <a:rPr kumimoji="1" lang="en-US" altLang="zh-CN" sz="2400" dirty="0" err="1">
                <a:solidFill>
                  <a:srgbClr val="104E87"/>
                </a:solidFill>
                <a:latin typeface="Comic Sans MS" panose="030F0702030302020204" pitchFamily="66" charset="0"/>
                <a:ea typeface="宋体" pitchFamily="2" charset="-122"/>
              </a:rPr>
              <a:t>int</a:t>
            </a:r>
            <a:r>
              <a:rPr kumimoji="1" lang="en-US" altLang="zh-CN" sz="2400" dirty="0">
                <a:solidFill>
                  <a:srgbClr val="104E87"/>
                </a:solidFill>
                <a:latin typeface="Comic Sans MS" panose="030F0702030302020204" pitchFamily="66" charset="0"/>
                <a:ea typeface="宋体" pitchFamily="2" charset="-122"/>
              </a:rPr>
              <a:t> main()</a:t>
            </a:r>
          </a:p>
          <a:p>
            <a:pPr eaLnBrk="1" hangingPunct="1">
              <a:spcBef>
                <a:spcPts val="0"/>
              </a:spcBef>
              <a:buClrTx/>
              <a:buSzTx/>
              <a:buFontTx/>
              <a:buNone/>
              <a:defRPr/>
            </a:pPr>
            <a:r>
              <a:rPr kumimoji="1" lang="en-US" altLang="zh-CN" sz="2400" dirty="0">
                <a:solidFill>
                  <a:srgbClr val="104E87"/>
                </a:solidFill>
                <a:latin typeface="Comic Sans MS" panose="030F0702030302020204" pitchFamily="66" charset="0"/>
                <a:ea typeface="宋体" pitchFamily="2" charset="-122"/>
              </a:rPr>
              <a:t>{ Clock  c1(8,10,0);</a:t>
            </a:r>
          </a:p>
          <a:p>
            <a:pPr eaLnBrk="1" hangingPunct="1">
              <a:spcBef>
                <a:spcPts val="0"/>
              </a:spcBef>
              <a:buClrTx/>
              <a:buSzTx/>
              <a:buFontTx/>
              <a:buNone/>
              <a:defRPr/>
            </a:pPr>
            <a:r>
              <a:rPr kumimoji="1" lang="en-US" altLang="zh-CN" sz="2400" dirty="0">
                <a:solidFill>
                  <a:srgbClr val="104E87"/>
                </a:solidFill>
                <a:latin typeface="Comic Sans MS" panose="030F0702030302020204" pitchFamily="66" charset="0"/>
                <a:ea typeface="宋体" pitchFamily="2" charset="-122"/>
              </a:rPr>
              <a:t>   Clock  c2(c1);</a:t>
            </a:r>
          </a:p>
          <a:p>
            <a:pPr eaLnBrk="1" hangingPunct="1">
              <a:spcBef>
                <a:spcPts val="0"/>
              </a:spcBef>
              <a:buClrTx/>
              <a:buSzTx/>
              <a:buFont typeface="Wingdings" pitchFamily="2" charset="2"/>
              <a:buNone/>
              <a:defRPr/>
            </a:pPr>
            <a:r>
              <a:rPr kumimoji="1" lang="en-US" altLang="zh-CN" sz="2400" dirty="0">
                <a:solidFill>
                  <a:srgbClr val="104E87"/>
                </a:solidFill>
                <a:latin typeface="Comic Sans MS" panose="030F0702030302020204" pitchFamily="66" charset="0"/>
                <a:ea typeface="宋体" pitchFamily="2" charset="-122"/>
              </a:rPr>
              <a:t>   c1.showTime();</a:t>
            </a:r>
            <a:endParaRPr kumimoji="1" lang="zh-CN" altLang="en-US" sz="2400" dirty="0">
              <a:solidFill>
                <a:srgbClr val="104E87"/>
              </a:solidFill>
              <a:latin typeface="Comic Sans MS" panose="030F0702030302020204" pitchFamily="66" charset="0"/>
              <a:ea typeface="宋体" pitchFamily="2" charset="-122"/>
            </a:endParaRPr>
          </a:p>
          <a:p>
            <a:pPr eaLnBrk="1" hangingPunct="1">
              <a:spcBef>
                <a:spcPts val="0"/>
              </a:spcBef>
              <a:buClrTx/>
              <a:buSzTx/>
              <a:buFont typeface="Wingdings" pitchFamily="2" charset="2"/>
              <a:buNone/>
              <a:defRPr/>
            </a:pPr>
            <a:r>
              <a:rPr kumimoji="1" lang="en-US" altLang="zh-CN" sz="2400" dirty="0">
                <a:solidFill>
                  <a:srgbClr val="104E87"/>
                </a:solidFill>
                <a:latin typeface="Comic Sans MS" panose="030F0702030302020204" pitchFamily="66" charset="0"/>
                <a:ea typeface="宋体" pitchFamily="2" charset="-122"/>
              </a:rPr>
              <a:t>   c2.showTime();</a:t>
            </a:r>
          </a:p>
          <a:p>
            <a:pPr eaLnBrk="1" hangingPunct="1">
              <a:spcBef>
                <a:spcPts val="0"/>
              </a:spcBef>
              <a:buClrTx/>
              <a:buSzTx/>
              <a:buFontTx/>
              <a:buNone/>
              <a:defRPr/>
            </a:pPr>
            <a:r>
              <a:rPr kumimoji="1" lang="en-US" altLang="zh-CN" sz="2400" dirty="0">
                <a:solidFill>
                  <a:srgbClr val="104E87"/>
                </a:solidFill>
                <a:latin typeface="Comic Sans MS" panose="030F0702030302020204" pitchFamily="66" charset="0"/>
                <a:ea typeface="宋体" pitchFamily="2" charset="-122"/>
              </a:rPr>
              <a:t> return 0</a:t>
            </a:r>
            <a:r>
              <a:rPr kumimoji="1" lang="zh-CN" altLang="en-US" sz="2400" dirty="0">
                <a:solidFill>
                  <a:srgbClr val="104E87"/>
                </a:solidFill>
                <a:latin typeface="Comic Sans MS" panose="030F0702030302020204" pitchFamily="66" charset="0"/>
                <a:ea typeface="宋体" pitchFamily="2" charset="-122"/>
              </a:rPr>
              <a:t>；</a:t>
            </a:r>
            <a:r>
              <a:rPr kumimoji="1" lang="en-US" altLang="zh-CN" sz="2400" dirty="0">
                <a:solidFill>
                  <a:srgbClr val="104E87"/>
                </a:solidFill>
                <a:latin typeface="Comic Sans MS" panose="030F0702030302020204" pitchFamily="66" charset="0"/>
                <a:ea typeface="宋体" pitchFamily="2" charset="-122"/>
              </a:rPr>
              <a:t>	</a:t>
            </a:r>
          </a:p>
          <a:p>
            <a:pPr eaLnBrk="1" hangingPunct="1">
              <a:spcBef>
                <a:spcPts val="0"/>
              </a:spcBef>
              <a:buClrTx/>
              <a:buSzTx/>
              <a:buFontTx/>
              <a:buNone/>
              <a:defRPr/>
            </a:pPr>
            <a:r>
              <a:rPr kumimoji="1" lang="en-US" altLang="zh-CN" sz="2400" dirty="0">
                <a:solidFill>
                  <a:srgbClr val="104E87"/>
                </a:solidFill>
                <a:latin typeface="Comic Sans MS" panose="030F0702030302020204" pitchFamily="66" charset="0"/>
                <a:ea typeface="宋体" pitchFamily="2" charset="-122"/>
              </a:rPr>
              <a:t>}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6BC519AC-9D2E-4A64-AD47-517E2A132936}"/>
              </a:ext>
            </a:extLst>
          </p:cNvPr>
          <p:cNvSpPr/>
          <p:nvPr/>
        </p:nvSpPr>
        <p:spPr>
          <a:xfrm>
            <a:off x="4644258" y="5359077"/>
            <a:ext cx="7546156" cy="1554049"/>
          </a:xfrm>
          <a:prstGeom prst="rect">
            <a:avLst/>
          </a:prstGeom>
          <a:solidFill>
            <a:srgbClr val="92C7F2"/>
          </a:solidFill>
          <a:ln>
            <a:noFill/>
          </a:ln>
        </p:spPr>
        <p:txBody>
          <a:bodyPr wrap="square" lIns="0" rIns="0">
            <a:noAutofit/>
          </a:bodyPr>
          <a:lstStyle/>
          <a:p>
            <a:pPr eaLnBrk="1" hangingPunct="1">
              <a:spcBef>
                <a:spcPts val="0"/>
              </a:spcBef>
              <a:defRPr/>
            </a:pPr>
            <a:r>
              <a:rPr lang="en-US" altLang="zh-CN" sz="2400" dirty="0">
                <a:solidFill>
                  <a:srgbClr val="FF0000"/>
                </a:solidFill>
                <a:latin typeface="Comic Sans MS" panose="030F0702030302020204" pitchFamily="66" charset="0"/>
                <a:ea typeface="黑体" panose="02010609060101010101" pitchFamily="49" charset="-122"/>
              </a:rPr>
              <a:t>Clock:: Clock(Clock&amp; c) </a:t>
            </a:r>
            <a:r>
              <a:rPr lang="en-US" altLang="zh-CN" sz="2400" dirty="0">
                <a:solidFill>
                  <a:srgbClr val="104E87"/>
                </a:solidFill>
                <a:latin typeface="Comic Sans MS" panose="030F0702030302020204" pitchFamily="66" charset="0"/>
                <a:ea typeface="黑体" panose="02010609060101010101" pitchFamily="49" charset="-122"/>
              </a:rPr>
              <a:t>{</a:t>
            </a:r>
          </a:p>
          <a:p>
            <a:pPr eaLnBrk="1" hangingPunct="1">
              <a:spcBef>
                <a:spcPts val="0"/>
              </a:spcBef>
              <a:defRPr/>
            </a:pPr>
            <a:r>
              <a:rPr lang="en-US" altLang="zh-CN" sz="2400" dirty="0">
                <a:solidFill>
                  <a:srgbClr val="104E87"/>
                </a:solidFill>
                <a:latin typeface="Comic Sans MS" panose="030F0702030302020204" pitchFamily="66" charset="0"/>
                <a:ea typeface="黑体" panose="02010609060101010101" pitchFamily="49" charset="-122"/>
              </a:rPr>
              <a:t>  hour=c. hour; minute =c. minute; second =c. second;</a:t>
            </a:r>
          </a:p>
          <a:p>
            <a:pPr>
              <a:defRPr/>
            </a:pPr>
            <a:r>
              <a:rPr lang="en-US" altLang="zh-CN" dirty="0">
                <a:solidFill>
                  <a:srgbClr val="104E87"/>
                </a:solidFill>
                <a:latin typeface="Comic Sans MS" panose="030F0702030302020204" pitchFamily="66" charset="0"/>
                <a:ea typeface="黑体" panose="02010609060101010101" pitchFamily="49" charset="-122"/>
              </a:rPr>
              <a:t>  </a:t>
            </a:r>
            <a:r>
              <a:rPr lang="en-US" altLang="zh-CN" dirty="0" err="1">
                <a:solidFill>
                  <a:srgbClr val="134F85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cout</a:t>
            </a:r>
            <a:r>
              <a:rPr lang="en-US" altLang="zh-CN" dirty="0">
                <a:solidFill>
                  <a:srgbClr val="134F85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&lt;&lt;“</a:t>
            </a:r>
            <a:r>
              <a:rPr lang="zh-CN" altLang="en-US" dirty="0">
                <a:solidFill>
                  <a:srgbClr val="134F85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复制构造函数被调用</a:t>
            </a:r>
            <a:r>
              <a:rPr lang="en-US" altLang="zh-CN" dirty="0">
                <a:solidFill>
                  <a:srgbClr val="134F85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\n”;</a:t>
            </a:r>
            <a:endParaRPr lang="en-US" altLang="zh-CN" sz="2400" dirty="0">
              <a:solidFill>
                <a:srgbClr val="104E87"/>
              </a:solidFill>
              <a:latin typeface="Comic Sans MS" panose="030F0702030302020204" pitchFamily="66" charset="0"/>
              <a:ea typeface="黑体" panose="02010609060101010101" pitchFamily="49" charset="-122"/>
            </a:endParaRPr>
          </a:p>
          <a:p>
            <a:pPr eaLnBrk="1" hangingPunct="1">
              <a:spcBef>
                <a:spcPts val="0"/>
              </a:spcBef>
              <a:defRPr/>
            </a:pPr>
            <a:r>
              <a:rPr lang="en-US" altLang="zh-CN" sz="2400" dirty="0">
                <a:solidFill>
                  <a:srgbClr val="104E87"/>
                </a:solidFill>
                <a:latin typeface="Comic Sans MS" panose="030F0702030302020204" pitchFamily="66" charset="0"/>
                <a:ea typeface="黑体" panose="02010609060101010101" pitchFamily="49" charset="-122"/>
              </a:rPr>
              <a:t>}</a:t>
            </a:r>
            <a:endParaRPr lang="zh-CN" altLang="en-US" sz="2400" dirty="0">
              <a:solidFill>
                <a:srgbClr val="104E87"/>
              </a:solidFill>
              <a:latin typeface="Comic Sans MS" panose="030F0702030302020204" pitchFamily="66" charset="0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591682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0" grpId="0"/>
      <p:bldP spid="11" grpId="0"/>
      <p:bldP spid="12" grpId="0"/>
      <p:bldP spid="15" grpId="0" animBg="1"/>
      <p:bldP spid="17" grpId="0" animBg="1"/>
      <p:bldP spid="19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>
            <a:extLst>
              <a:ext uri="{FF2B5EF4-FFF2-40B4-BE49-F238E27FC236}">
                <a16:creationId xmlns:a16="http://schemas.microsoft.com/office/drawing/2014/main" id="{0321CC45-122C-4815-AB74-6812ECD67E8A}"/>
              </a:ext>
            </a:extLst>
          </p:cNvPr>
          <p:cNvSpPr/>
          <p:nvPr/>
        </p:nvSpPr>
        <p:spPr>
          <a:xfrm>
            <a:off x="794" y="176798"/>
            <a:ext cx="12190413" cy="728917"/>
          </a:xfrm>
          <a:prstGeom prst="rect">
            <a:avLst/>
          </a:prstGeom>
          <a:solidFill>
            <a:srgbClr val="26CC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3200"/>
          </a:p>
        </p:txBody>
      </p:sp>
      <p:cxnSp>
        <p:nvCxnSpPr>
          <p:cNvPr id="9" name="直线连接符 6">
            <a:extLst>
              <a:ext uri="{FF2B5EF4-FFF2-40B4-BE49-F238E27FC236}">
                <a16:creationId xmlns:a16="http://schemas.microsoft.com/office/drawing/2014/main" id="{714E748F-686D-4BD8-80EF-EC7F4D81F264}"/>
              </a:ext>
            </a:extLst>
          </p:cNvPr>
          <p:cNvCxnSpPr/>
          <p:nvPr/>
        </p:nvCxnSpPr>
        <p:spPr>
          <a:xfrm>
            <a:off x="1587" y="905715"/>
            <a:ext cx="12190413" cy="0"/>
          </a:xfrm>
          <a:prstGeom prst="line">
            <a:avLst/>
          </a:prstGeom>
          <a:ln>
            <a:solidFill>
              <a:srgbClr val="104D7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文本框 15">
            <a:extLst>
              <a:ext uri="{FF2B5EF4-FFF2-40B4-BE49-F238E27FC236}">
                <a16:creationId xmlns:a16="http://schemas.microsoft.com/office/drawing/2014/main" id="{F4CBD7C5-3ADE-4895-BD62-2F750018FBA3}"/>
              </a:ext>
            </a:extLst>
          </p:cNvPr>
          <p:cNvSpPr txBox="1"/>
          <p:nvPr/>
        </p:nvSpPr>
        <p:spPr>
          <a:xfrm>
            <a:off x="247719" y="224527"/>
            <a:ext cx="802877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kumimoji="1" sz="3200" b="1">
                <a:latin typeface="华光胖头鱼_CNKI" panose="02000500000000000000" pitchFamily="2" charset="-122"/>
                <a:ea typeface="华光胖头鱼_CNKI" panose="02000500000000000000" pitchFamily="2" charset="-122"/>
              </a:defRPr>
            </a:lvl1pPr>
          </a:lstStyle>
          <a:p>
            <a:r>
              <a:rPr lang="en-US" altLang="zh-CN" dirty="0"/>
              <a:t>7.3</a:t>
            </a:r>
            <a:r>
              <a:rPr lang="zh-CN" altLang="en-US" dirty="0"/>
              <a:t>构造</a:t>
            </a:r>
            <a:r>
              <a:rPr lang="zh-CN" altLang="en-US" dirty="0">
                <a:sym typeface="+mn-lt"/>
              </a:rPr>
              <a:t>函数与析构函数</a:t>
            </a:r>
            <a:endParaRPr lang="zh-CN" altLang="en-US" dirty="0"/>
          </a:p>
        </p:txBody>
      </p:sp>
      <p:sp>
        <p:nvSpPr>
          <p:cNvPr id="15" name="Text Box 12">
            <a:extLst>
              <a:ext uri="{FF2B5EF4-FFF2-40B4-BE49-F238E27FC236}">
                <a16:creationId xmlns:a16="http://schemas.microsoft.com/office/drawing/2014/main" id="{15364731-EC6B-4547-971C-1E4DCC192F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1589" y="873102"/>
            <a:ext cx="7184053" cy="306229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wrap="square">
            <a:no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SzPct val="70000"/>
              <a:buFont typeface="Wingdings" pitchFamily="2" charset="2"/>
              <a:buChar char="o"/>
              <a:defRPr sz="32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n"/>
              <a:defRPr sz="28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o"/>
              <a:defRPr sz="24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n"/>
              <a:defRPr sz="20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ts val="0"/>
              </a:spcBef>
              <a:buClrTx/>
              <a:buSzTx/>
              <a:buFontTx/>
              <a:buNone/>
              <a:defRPr/>
            </a:pPr>
            <a:r>
              <a:rPr lang="en-US" altLang="zh-CN" sz="24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class Clock{</a:t>
            </a:r>
          </a:p>
          <a:p>
            <a:pPr eaLnBrk="1" hangingPunct="1">
              <a:lnSpc>
                <a:spcPct val="90000"/>
              </a:lnSpc>
              <a:spcBef>
                <a:spcPts val="0"/>
              </a:spcBef>
              <a:buClrTx/>
              <a:buSzTx/>
              <a:buFontTx/>
              <a:buNone/>
              <a:defRPr/>
            </a:pPr>
            <a:r>
              <a:rPr lang="en-US" altLang="zh-CN" sz="24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public: </a:t>
            </a:r>
          </a:p>
          <a:p>
            <a:pPr eaLnBrk="1" hangingPunct="1">
              <a:lnSpc>
                <a:spcPct val="90000"/>
              </a:lnSpc>
              <a:spcBef>
                <a:spcPts val="0"/>
              </a:spcBef>
              <a:buClrTx/>
              <a:buSzTx/>
              <a:buFontTx/>
              <a:buNone/>
              <a:defRPr/>
            </a:pPr>
            <a:r>
              <a:rPr lang="en-US" altLang="zh-CN" sz="24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	Clock(int </a:t>
            </a:r>
            <a:r>
              <a:rPr lang="en-US" altLang="zh-CN" sz="2400" dirty="0" err="1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newH</a:t>
            </a:r>
            <a:r>
              <a:rPr lang="en-US" altLang="zh-CN" sz="24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, int </a:t>
            </a:r>
            <a:r>
              <a:rPr lang="en-US" altLang="zh-CN" sz="2400" dirty="0" err="1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newMe</a:t>
            </a:r>
            <a:r>
              <a:rPr lang="en-US" altLang="zh-CN" sz="24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, int </a:t>
            </a:r>
            <a:r>
              <a:rPr lang="en-US" altLang="zh-CN" sz="2400" dirty="0" err="1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newS</a:t>
            </a:r>
            <a:r>
              <a:rPr lang="en-US" altLang="zh-CN" sz="24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);</a:t>
            </a:r>
          </a:p>
          <a:p>
            <a:pPr eaLnBrk="1" hangingPunct="1">
              <a:lnSpc>
                <a:spcPct val="90000"/>
              </a:lnSpc>
              <a:spcBef>
                <a:spcPts val="0"/>
              </a:spcBef>
              <a:buClrTx/>
              <a:buSzTx/>
              <a:buFontTx/>
              <a:buNone/>
              <a:defRPr/>
            </a:pPr>
            <a:r>
              <a:rPr lang="en-US" altLang="zh-CN" sz="24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	Clock();//</a:t>
            </a:r>
            <a:r>
              <a:rPr lang="zh-CN" altLang="en-US" sz="24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无参构造函数</a:t>
            </a:r>
            <a:endParaRPr lang="en-US" altLang="zh-CN" sz="2400" dirty="0">
              <a:solidFill>
                <a:srgbClr val="104E87"/>
              </a:solidFill>
              <a:latin typeface="Comic Sans MS" panose="030F0702030302020204" pitchFamily="66" charset="0"/>
              <a:ea typeface="华光行书_CNKI" panose="02000500000000000000" pitchFamily="2" charset="-122"/>
            </a:endParaRPr>
          </a:p>
          <a:p>
            <a:pPr eaLnBrk="1" hangingPunct="1">
              <a:lnSpc>
                <a:spcPct val="90000"/>
              </a:lnSpc>
              <a:spcBef>
                <a:spcPts val="0"/>
              </a:spcBef>
              <a:buClrTx/>
              <a:buSzTx/>
              <a:buFontTx/>
              <a:buNone/>
              <a:defRPr/>
            </a:pPr>
            <a:r>
              <a:rPr lang="en-US" altLang="zh-CN" sz="24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	Clock(Clock&amp; c);//</a:t>
            </a:r>
            <a:r>
              <a:rPr lang="zh-CN" altLang="en-US" sz="24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复制构造函数</a:t>
            </a:r>
            <a:endParaRPr lang="en-US" altLang="zh-CN" sz="2400" dirty="0">
              <a:solidFill>
                <a:srgbClr val="104E87"/>
              </a:solidFill>
              <a:latin typeface="Comic Sans MS" panose="030F0702030302020204" pitchFamily="66" charset="0"/>
              <a:ea typeface="华光行书_CNKI" panose="02000500000000000000" pitchFamily="2" charset="-122"/>
            </a:endParaRPr>
          </a:p>
          <a:p>
            <a:pPr eaLnBrk="1" hangingPunct="1">
              <a:lnSpc>
                <a:spcPct val="90000"/>
              </a:lnSpc>
              <a:spcBef>
                <a:spcPts val="0"/>
              </a:spcBef>
              <a:buClrTx/>
              <a:buSzTx/>
              <a:buFontTx/>
              <a:buNone/>
              <a:defRPr/>
            </a:pPr>
            <a:r>
              <a:rPr lang="en-US" altLang="zh-CN" sz="24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           </a:t>
            </a:r>
            <a:r>
              <a:rPr lang="en-US" altLang="zh-CN" sz="2400" b="1" dirty="0">
                <a:solidFill>
                  <a:srgbClr val="104E87"/>
                </a:solidFill>
                <a:latin typeface="Comic Sans MS" panose="030F0702030302020204" pitchFamily="66" charset="0"/>
                <a:ea typeface="黑体" panose="02010609060101010101" pitchFamily="49" charset="-122"/>
              </a:rPr>
              <a:t>……</a:t>
            </a:r>
          </a:p>
          <a:p>
            <a:pPr eaLnBrk="1" hangingPunct="1">
              <a:lnSpc>
                <a:spcPct val="90000"/>
              </a:lnSpc>
              <a:spcBef>
                <a:spcPts val="0"/>
              </a:spcBef>
              <a:buClrTx/>
              <a:buSzTx/>
              <a:buFontTx/>
              <a:buNone/>
              <a:defRPr/>
            </a:pPr>
            <a:r>
              <a:rPr lang="en-US" altLang="zh-CN" sz="24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private:</a:t>
            </a:r>
          </a:p>
          <a:p>
            <a:pPr eaLnBrk="1" hangingPunct="1">
              <a:lnSpc>
                <a:spcPct val="90000"/>
              </a:lnSpc>
              <a:spcBef>
                <a:spcPts val="0"/>
              </a:spcBef>
              <a:buClrTx/>
              <a:buSzTx/>
              <a:buFontTx/>
              <a:buNone/>
              <a:defRPr/>
            </a:pPr>
            <a:r>
              <a:rPr lang="en-US" altLang="zh-CN" sz="24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           </a:t>
            </a:r>
            <a:r>
              <a:rPr lang="en-US" altLang="zh-CN" sz="2400" dirty="0" err="1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int</a:t>
            </a:r>
            <a:r>
              <a:rPr lang="en-US" altLang="zh-CN" sz="24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 hour, minute, second;</a:t>
            </a:r>
          </a:p>
          <a:p>
            <a:pPr eaLnBrk="1" hangingPunct="1">
              <a:lnSpc>
                <a:spcPct val="90000"/>
              </a:lnSpc>
              <a:spcBef>
                <a:spcPts val="0"/>
              </a:spcBef>
              <a:buClrTx/>
              <a:buSzTx/>
              <a:buFontTx/>
              <a:buNone/>
              <a:defRPr/>
            </a:pPr>
            <a:r>
              <a:rPr lang="en-US" altLang="zh-CN" sz="24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};</a:t>
            </a:r>
          </a:p>
        </p:txBody>
      </p:sp>
      <p:sp>
        <p:nvSpPr>
          <p:cNvPr id="19" name="Rectangle 25">
            <a:extLst>
              <a:ext uri="{FF2B5EF4-FFF2-40B4-BE49-F238E27FC236}">
                <a16:creationId xmlns:a16="http://schemas.microsoft.com/office/drawing/2014/main" id="{D780E30E-12ED-4BF2-AE99-8CABAE202E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" y="4017692"/>
            <a:ext cx="3777441" cy="284030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wrap="square">
            <a:no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SzPct val="70000"/>
              <a:buFont typeface="Wingdings" pitchFamily="2" charset="2"/>
              <a:buChar char="o"/>
              <a:defRPr sz="32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n"/>
              <a:defRPr sz="28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o"/>
              <a:defRPr sz="24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n"/>
              <a:defRPr sz="20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ts val="0"/>
              </a:spcBef>
              <a:buClrTx/>
              <a:buSzTx/>
              <a:buFontTx/>
              <a:buNone/>
              <a:defRPr/>
            </a:pPr>
            <a:r>
              <a:rPr kumimoji="1" lang="en-US" altLang="zh-CN" sz="2400" dirty="0" err="1">
                <a:solidFill>
                  <a:srgbClr val="104E87"/>
                </a:solidFill>
                <a:latin typeface="Comic Sans MS" panose="030F0702030302020204" pitchFamily="66" charset="0"/>
                <a:ea typeface="宋体" pitchFamily="2" charset="-122"/>
              </a:rPr>
              <a:t>int</a:t>
            </a:r>
            <a:r>
              <a:rPr kumimoji="1" lang="en-US" altLang="zh-CN" sz="2400" dirty="0">
                <a:solidFill>
                  <a:srgbClr val="104E87"/>
                </a:solidFill>
                <a:latin typeface="Comic Sans MS" panose="030F0702030302020204" pitchFamily="66" charset="0"/>
                <a:ea typeface="宋体" pitchFamily="2" charset="-122"/>
              </a:rPr>
              <a:t> main()</a:t>
            </a:r>
          </a:p>
          <a:p>
            <a:pPr eaLnBrk="1" hangingPunct="1">
              <a:spcBef>
                <a:spcPts val="0"/>
              </a:spcBef>
              <a:buClrTx/>
              <a:buSzTx/>
              <a:buFontTx/>
              <a:buNone/>
              <a:defRPr/>
            </a:pPr>
            <a:r>
              <a:rPr kumimoji="1" lang="en-US" altLang="zh-CN" sz="2400" dirty="0">
                <a:solidFill>
                  <a:srgbClr val="104E87"/>
                </a:solidFill>
                <a:latin typeface="Comic Sans MS" panose="030F0702030302020204" pitchFamily="66" charset="0"/>
                <a:ea typeface="宋体" pitchFamily="2" charset="-122"/>
              </a:rPr>
              <a:t>{ Clock  c1(8,10,0), c2;</a:t>
            </a:r>
          </a:p>
          <a:p>
            <a:pPr eaLnBrk="1" hangingPunct="1">
              <a:spcBef>
                <a:spcPts val="0"/>
              </a:spcBef>
              <a:buClrTx/>
              <a:buSzTx/>
              <a:buFontTx/>
              <a:buNone/>
              <a:defRPr/>
            </a:pPr>
            <a:r>
              <a:rPr kumimoji="1" lang="en-US" altLang="zh-CN" sz="2400" dirty="0">
                <a:solidFill>
                  <a:srgbClr val="104E87"/>
                </a:solidFill>
                <a:latin typeface="Comic Sans MS" panose="030F0702030302020204" pitchFamily="66" charset="0"/>
                <a:ea typeface="宋体" pitchFamily="2" charset="-122"/>
              </a:rPr>
              <a:t>   Clock  c3(c1);</a:t>
            </a:r>
          </a:p>
          <a:p>
            <a:pPr eaLnBrk="1" hangingPunct="1">
              <a:spcBef>
                <a:spcPts val="0"/>
              </a:spcBef>
              <a:buClrTx/>
              <a:buSzTx/>
              <a:buNone/>
              <a:defRPr/>
            </a:pPr>
            <a:r>
              <a:rPr kumimoji="1" lang="en-US" altLang="zh-CN" sz="2400" dirty="0">
                <a:solidFill>
                  <a:srgbClr val="104E87"/>
                </a:solidFill>
                <a:latin typeface="Comic Sans MS" panose="030F0702030302020204" pitchFamily="66" charset="0"/>
                <a:ea typeface="宋体" pitchFamily="2" charset="-122"/>
              </a:rPr>
              <a:t>   fun1( c1 );</a:t>
            </a:r>
          </a:p>
          <a:p>
            <a:pPr eaLnBrk="1" hangingPunct="1">
              <a:spcBef>
                <a:spcPts val="0"/>
              </a:spcBef>
              <a:buClrTx/>
              <a:buSzTx/>
              <a:buFont typeface="Wingdings" pitchFamily="2" charset="2"/>
              <a:buNone/>
              <a:defRPr/>
            </a:pPr>
            <a:r>
              <a:rPr kumimoji="1" lang="en-US" altLang="zh-CN" sz="2400" dirty="0">
                <a:solidFill>
                  <a:srgbClr val="104E87"/>
                </a:solidFill>
                <a:latin typeface="Comic Sans MS" panose="030F0702030302020204" pitchFamily="66" charset="0"/>
                <a:ea typeface="宋体" pitchFamily="2" charset="-122"/>
              </a:rPr>
              <a:t>   c1.showTime();</a:t>
            </a:r>
            <a:endParaRPr kumimoji="1" lang="zh-CN" altLang="en-US" sz="2400" dirty="0">
              <a:solidFill>
                <a:srgbClr val="104E87"/>
              </a:solidFill>
              <a:latin typeface="Comic Sans MS" panose="030F0702030302020204" pitchFamily="66" charset="0"/>
              <a:ea typeface="宋体" pitchFamily="2" charset="-122"/>
            </a:endParaRPr>
          </a:p>
          <a:p>
            <a:pPr eaLnBrk="1" hangingPunct="1">
              <a:spcBef>
                <a:spcPts val="0"/>
              </a:spcBef>
              <a:buClrTx/>
              <a:buSzTx/>
              <a:buFont typeface="Wingdings" pitchFamily="2" charset="2"/>
              <a:buNone/>
              <a:defRPr/>
            </a:pPr>
            <a:r>
              <a:rPr kumimoji="1" lang="en-US" altLang="zh-CN" sz="2400" dirty="0">
                <a:solidFill>
                  <a:srgbClr val="104E87"/>
                </a:solidFill>
                <a:latin typeface="Comic Sans MS" panose="030F0702030302020204" pitchFamily="66" charset="0"/>
                <a:ea typeface="宋体" pitchFamily="2" charset="-122"/>
              </a:rPr>
              <a:t>   c2.showTime();</a:t>
            </a:r>
          </a:p>
          <a:p>
            <a:pPr eaLnBrk="1" hangingPunct="1">
              <a:spcBef>
                <a:spcPts val="0"/>
              </a:spcBef>
              <a:buClrTx/>
              <a:buSzTx/>
              <a:buFontTx/>
              <a:buNone/>
              <a:defRPr/>
            </a:pPr>
            <a:r>
              <a:rPr kumimoji="1" lang="en-US" altLang="zh-CN" sz="2400" dirty="0">
                <a:solidFill>
                  <a:srgbClr val="104E87"/>
                </a:solidFill>
                <a:latin typeface="Comic Sans MS" panose="030F0702030302020204" pitchFamily="66" charset="0"/>
                <a:ea typeface="宋体" pitchFamily="2" charset="-122"/>
              </a:rPr>
              <a:t> return 0</a:t>
            </a:r>
            <a:r>
              <a:rPr kumimoji="1" lang="zh-CN" altLang="en-US" sz="2400" dirty="0">
                <a:solidFill>
                  <a:srgbClr val="104E87"/>
                </a:solidFill>
                <a:latin typeface="Comic Sans MS" panose="030F0702030302020204" pitchFamily="66" charset="0"/>
                <a:ea typeface="宋体" pitchFamily="2" charset="-122"/>
              </a:rPr>
              <a:t>；</a:t>
            </a:r>
            <a:r>
              <a:rPr kumimoji="1" lang="en-US" altLang="zh-CN" sz="2400" dirty="0">
                <a:solidFill>
                  <a:srgbClr val="104E87"/>
                </a:solidFill>
                <a:latin typeface="Comic Sans MS" panose="030F0702030302020204" pitchFamily="66" charset="0"/>
                <a:ea typeface="宋体" pitchFamily="2" charset="-122"/>
              </a:rPr>
              <a:t>	</a:t>
            </a:r>
          </a:p>
          <a:p>
            <a:pPr eaLnBrk="1" hangingPunct="1">
              <a:spcBef>
                <a:spcPts val="0"/>
              </a:spcBef>
              <a:buClrTx/>
              <a:buSzTx/>
              <a:buFontTx/>
              <a:buNone/>
              <a:defRPr/>
            </a:pPr>
            <a:r>
              <a:rPr kumimoji="1" lang="en-US" altLang="zh-CN" sz="2400" dirty="0">
                <a:solidFill>
                  <a:srgbClr val="104E87"/>
                </a:solidFill>
                <a:latin typeface="Comic Sans MS" panose="030F0702030302020204" pitchFamily="66" charset="0"/>
                <a:ea typeface="宋体" pitchFamily="2" charset="-122"/>
              </a:rPr>
              <a:t>}</a:t>
            </a:r>
          </a:p>
        </p:txBody>
      </p:sp>
      <p:sp>
        <p:nvSpPr>
          <p:cNvPr id="22" name="矩形 6">
            <a:extLst>
              <a:ext uri="{FF2B5EF4-FFF2-40B4-BE49-F238E27FC236}">
                <a16:creationId xmlns:a16="http://schemas.microsoft.com/office/drawing/2014/main" id="{B1225A6F-26E8-464C-AC20-A64F896916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77440" y="4493894"/>
            <a:ext cx="8458804" cy="15388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rIns="0">
            <a:spAutoFit/>
          </a:bodyPr>
          <a:lstStyle>
            <a:lvl1pPr marL="342900" indent="-3429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269875" indent="-26987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lvl="1" eaLnBrk="1" hangingPunct="1">
              <a:spcBef>
                <a:spcPts val="600"/>
              </a:spcBef>
              <a:buClr>
                <a:schemeClr val="accent2"/>
              </a:buClr>
              <a:buSzPct val="75000"/>
              <a:buFontTx/>
              <a:buBlip>
                <a:blip r:embed="rId3"/>
              </a:buBlip>
            </a:pPr>
            <a:r>
              <a:rPr lang="zh-CN" altLang="en-US" sz="2800" b="1" dirty="0">
                <a:solidFill>
                  <a:srgbClr val="FF0000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创建对象时一定会调用构造函数</a:t>
            </a:r>
            <a:endParaRPr lang="en-US" altLang="zh-CN" sz="2800" dirty="0">
              <a:solidFill>
                <a:srgbClr val="FF0000"/>
              </a:solidFill>
              <a:latin typeface="华光行书_CNKI" panose="02000500000000000000" pitchFamily="2" charset="-122"/>
              <a:ea typeface="华光行书_CNKI" panose="02000500000000000000" pitchFamily="2" charset="-122"/>
            </a:endParaRPr>
          </a:p>
          <a:p>
            <a:pPr lvl="1" eaLnBrk="1" hangingPunct="1">
              <a:spcBef>
                <a:spcPts val="600"/>
              </a:spcBef>
              <a:buClr>
                <a:schemeClr val="accent2"/>
              </a:buClr>
              <a:buSzPct val="75000"/>
              <a:buFontTx/>
              <a:buBlip>
                <a:blip r:embed="rId3"/>
              </a:buBlip>
            </a:pPr>
            <a:r>
              <a:rPr lang="zh-CN" altLang="en-US" sz="2800" b="1" spc="-100" dirty="0">
                <a:solidFill>
                  <a:srgbClr val="FF0000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根据定义对象带的参数不同</a:t>
            </a:r>
            <a:r>
              <a:rPr lang="en-US" altLang="zh-CN" sz="2800" b="1" spc="-100" dirty="0">
                <a:solidFill>
                  <a:srgbClr val="FF0000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,</a:t>
            </a:r>
            <a:r>
              <a:rPr lang="zh-CN" altLang="en-US" sz="2800" b="1" spc="-100" dirty="0">
                <a:solidFill>
                  <a:srgbClr val="FF0000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自动调用相应的构造函数</a:t>
            </a:r>
            <a:endParaRPr lang="en-US" altLang="zh-CN" sz="2800" spc="-100" dirty="0">
              <a:solidFill>
                <a:srgbClr val="FF0000"/>
              </a:solidFill>
              <a:latin typeface="华光行书_CNKI" panose="02000500000000000000" pitchFamily="2" charset="-122"/>
              <a:ea typeface="华光行书_CNKI" panose="02000500000000000000" pitchFamily="2" charset="-122"/>
            </a:endParaRPr>
          </a:p>
          <a:p>
            <a:pPr lvl="1" eaLnBrk="1" hangingPunct="1">
              <a:spcBef>
                <a:spcPts val="600"/>
              </a:spcBef>
              <a:buClr>
                <a:schemeClr val="accent2"/>
              </a:buClr>
              <a:buSzPct val="75000"/>
              <a:buFontTx/>
              <a:buBlip>
                <a:blip r:embed="rId3"/>
              </a:buBlip>
            </a:pPr>
            <a:r>
              <a:rPr lang="zh-CN" altLang="en-US" sz="2800" b="1" dirty="0">
                <a:solidFill>
                  <a:srgbClr val="FF0000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如果没有成功调用构造函数，就不能创建对象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B2D8EB4F-4E31-4AA4-927B-6BA7189005B7}"/>
              </a:ext>
            </a:extLst>
          </p:cNvPr>
          <p:cNvSpPr txBox="1"/>
          <p:nvPr/>
        </p:nvSpPr>
        <p:spPr>
          <a:xfrm>
            <a:off x="7280476" y="887464"/>
            <a:ext cx="4909937" cy="169369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wrap="square" anchor="ctr" anchorCtr="0">
            <a:noAutofit/>
          </a:bodyPr>
          <a:lstStyle>
            <a:defPPr>
              <a:defRPr lang="en-US"/>
            </a:defPPr>
            <a:lvl1pPr>
              <a:lnSpc>
                <a:spcPct val="90000"/>
              </a:lnSpc>
              <a:spcBef>
                <a:spcPts val="0"/>
              </a:spcBef>
              <a:buClrTx/>
              <a:buSzTx/>
              <a:buFontTx/>
              <a:buNone/>
              <a:defRPr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n"/>
              <a:defRPr sz="28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o"/>
              <a:defRPr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n"/>
              <a:defRPr sz="20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r>
              <a:rPr lang="en-US" altLang="zh-CN" dirty="0"/>
              <a:t>void fun1(Clock c) {</a:t>
            </a:r>
          </a:p>
          <a:p>
            <a:r>
              <a:rPr lang="en-US" altLang="zh-CN" dirty="0"/>
              <a:t>   </a:t>
            </a:r>
            <a:r>
              <a:rPr lang="en-US" altLang="zh-CN" dirty="0" err="1"/>
              <a:t>c.showTime</a:t>
            </a:r>
            <a:r>
              <a:rPr lang="en-US" altLang="zh-CN" dirty="0"/>
              <a:t>();</a:t>
            </a:r>
          </a:p>
          <a:p>
            <a:r>
              <a:rPr lang="en-US" altLang="zh-CN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9866592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" dur="2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9" grpId="0" animBg="1"/>
      <p:bldP spid="22" grpId="0"/>
      <p:bldP spid="25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>
            <a:extLst>
              <a:ext uri="{FF2B5EF4-FFF2-40B4-BE49-F238E27FC236}">
                <a16:creationId xmlns:a16="http://schemas.microsoft.com/office/drawing/2014/main" id="{0321CC45-122C-4815-AB74-6812ECD67E8A}"/>
              </a:ext>
            </a:extLst>
          </p:cNvPr>
          <p:cNvSpPr/>
          <p:nvPr/>
        </p:nvSpPr>
        <p:spPr>
          <a:xfrm>
            <a:off x="794" y="176798"/>
            <a:ext cx="12190413" cy="728917"/>
          </a:xfrm>
          <a:prstGeom prst="rect">
            <a:avLst/>
          </a:prstGeom>
          <a:solidFill>
            <a:srgbClr val="26CC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3200"/>
          </a:p>
        </p:txBody>
      </p:sp>
      <p:cxnSp>
        <p:nvCxnSpPr>
          <p:cNvPr id="9" name="直线连接符 6">
            <a:extLst>
              <a:ext uri="{FF2B5EF4-FFF2-40B4-BE49-F238E27FC236}">
                <a16:creationId xmlns:a16="http://schemas.microsoft.com/office/drawing/2014/main" id="{714E748F-686D-4BD8-80EF-EC7F4D81F264}"/>
              </a:ext>
            </a:extLst>
          </p:cNvPr>
          <p:cNvCxnSpPr/>
          <p:nvPr/>
        </p:nvCxnSpPr>
        <p:spPr>
          <a:xfrm>
            <a:off x="1587" y="905715"/>
            <a:ext cx="12190413" cy="0"/>
          </a:xfrm>
          <a:prstGeom prst="line">
            <a:avLst/>
          </a:prstGeom>
          <a:ln>
            <a:solidFill>
              <a:srgbClr val="104D7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文本框 15">
            <a:extLst>
              <a:ext uri="{FF2B5EF4-FFF2-40B4-BE49-F238E27FC236}">
                <a16:creationId xmlns:a16="http://schemas.microsoft.com/office/drawing/2014/main" id="{F4CBD7C5-3ADE-4895-BD62-2F750018FBA3}"/>
              </a:ext>
            </a:extLst>
          </p:cNvPr>
          <p:cNvSpPr txBox="1"/>
          <p:nvPr/>
        </p:nvSpPr>
        <p:spPr>
          <a:xfrm>
            <a:off x="247719" y="224527"/>
            <a:ext cx="802877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kumimoji="1" sz="3200" b="1">
                <a:latin typeface="华光胖头鱼_CNKI" panose="02000500000000000000" pitchFamily="2" charset="-122"/>
                <a:ea typeface="华光胖头鱼_CNKI" panose="02000500000000000000" pitchFamily="2" charset="-122"/>
              </a:defRPr>
            </a:lvl1pPr>
          </a:lstStyle>
          <a:p>
            <a:r>
              <a:rPr lang="en-US" altLang="zh-CN" dirty="0"/>
              <a:t>7.3</a:t>
            </a:r>
            <a:r>
              <a:rPr lang="zh-CN" altLang="en-US" dirty="0"/>
              <a:t>构造</a:t>
            </a:r>
            <a:r>
              <a:rPr lang="zh-CN" altLang="en-US" dirty="0">
                <a:sym typeface="+mn-lt"/>
              </a:rPr>
              <a:t>函数与析构函数</a:t>
            </a:r>
            <a:endParaRPr lang="zh-CN" altLang="en-US" dirty="0"/>
          </a:p>
        </p:txBody>
      </p:sp>
      <p:sp>
        <p:nvSpPr>
          <p:cNvPr id="14" name="Rectangle 7">
            <a:extLst>
              <a:ext uri="{FF2B5EF4-FFF2-40B4-BE49-F238E27FC236}">
                <a16:creationId xmlns:a16="http://schemas.microsoft.com/office/drawing/2014/main" id="{DDD8AB5B-7A75-48E5-81BE-669D8869B4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613" y="1176338"/>
            <a:ext cx="5040312" cy="3416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SzPct val="70000"/>
              <a:buFont typeface="Wingdings" pitchFamily="2" charset="2"/>
              <a:buChar char="o"/>
              <a:defRPr sz="32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n"/>
              <a:defRPr sz="28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o"/>
              <a:defRPr sz="24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n"/>
              <a:defRPr sz="20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defRPr/>
            </a:pPr>
            <a:r>
              <a:rPr lang="zh-CN" altLang="en-US" sz="28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析构函数</a:t>
            </a:r>
            <a:endParaRPr lang="en-US" altLang="zh-CN" sz="2800" dirty="0">
              <a:solidFill>
                <a:srgbClr val="104E87"/>
              </a:solidFill>
              <a:latin typeface="Comic Sans MS" panose="030F0702030302020204" pitchFamily="66" charset="0"/>
              <a:ea typeface="华光行书_CNKI" panose="02000500000000000000" pitchFamily="2" charset="-122"/>
            </a:endParaRPr>
          </a:p>
          <a:p>
            <a:pPr marL="457200" indent="-457200" eaLnBrk="1" hangingPunct="1">
              <a:spcBef>
                <a:spcPct val="0"/>
              </a:spcBef>
              <a:spcAft>
                <a:spcPts val="600"/>
              </a:spcAft>
              <a:buClrTx/>
              <a:buSzTx/>
              <a:buFont typeface="Wingdings" pitchFamily="2" charset="2"/>
              <a:buBlip>
                <a:blip r:embed="rId3"/>
              </a:buBlip>
              <a:defRPr/>
            </a:pPr>
            <a:r>
              <a:rPr kumimoji="1" lang="zh-CN" altLang="en-US" sz="2400" b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为撤销一个类对象做清理工作，如释放由构造函数分配的内存等</a:t>
            </a:r>
          </a:p>
          <a:p>
            <a:pPr marL="457200" indent="-457200" eaLnBrk="1" hangingPunct="1">
              <a:spcBef>
                <a:spcPct val="0"/>
              </a:spcBef>
              <a:spcAft>
                <a:spcPts val="600"/>
              </a:spcAft>
              <a:buClrTx/>
              <a:buSzTx/>
              <a:buFont typeface="Wingdings" pitchFamily="2" charset="2"/>
              <a:buBlip>
                <a:blip r:embed="rId3"/>
              </a:buBlip>
              <a:defRPr/>
            </a:pPr>
            <a:r>
              <a:rPr lang="zh-CN" altLang="en-US" sz="2400" b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析构函数也是特殊的类成员函数</a:t>
            </a:r>
            <a:endParaRPr lang="en-US" altLang="zh-CN" sz="2400" b="0" dirty="0">
              <a:solidFill>
                <a:srgbClr val="104E87"/>
              </a:solidFill>
              <a:latin typeface="Comic Sans MS" panose="030F0702030302020204" pitchFamily="66" charset="0"/>
              <a:ea typeface="华光行书_CNKI" panose="02000500000000000000" pitchFamily="2" charset="-122"/>
            </a:endParaRPr>
          </a:p>
          <a:p>
            <a:pPr marL="457200" indent="-457200" eaLnBrk="1" hangingPunct="1">
              <a:spcBef>
                <a:spcPct val="0"/>
              </a:spcBef>
              <a:spcAft>
                <a:spcPts val="600"/>
              </a:spcAft>
              <a:buClrTx/>
              <a:buSzTx/>
              <a:buFont typeface="Wingdings" pitchFamily="2" charset="2"/>
              <a:buBlip>
                <a:blip r:embed="rId3"/>
              </a:buBlip>
              <a:defRPr/>
            </a:pPr>
            <a:r>
              <a:rPr lang="zh-CN" altLang="en-US" sz="2400" b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无返回类型，无参数，不能主动调用，也没有重载</a:t>
            </a:r>
            <a:endParaRPr lang="en-US" altLang="zh-CN" sz="2400" b="0" dirty="0">
              <a:solidFill>
                <a:srgbClr val="104E87"/>
              </a:solidFill>
              <a:latin typeface="Comic Sans MS" panose="030F0702030302020204" pitchFamily="66" charset="0"/>
              <a:ea typeface="华光行书_CNKI" panose="02000500000000000000" pitchFamily="2" charset="-122"/>
            </a:endParaRPr>
          </a:p>
          <a:p>
            <a:pPr marL="457200" indent="-457200" eaLnBrk="1" hangingPunct="1">
              <a:spcBef>
                <a:spcPct val="0"/>
              </a:spcBef>
              <a:spcAft>
                <a:spcPts val="600"/>
              </a:spcAft>
              <a:buClrTx/>
              <a:buSzTx/>
              <a:buFont typeface="Wingdings" pitchFamily="2" charset="2"/>
              <a:buBlip>
                <a:blip r:embed="rId3"/>
              </a:buBlip>
              <a:defRPr/>
            </a:pPr>
            <a:r>
              <a:rPr lang="zh-CN" altLang="en-US" sz="2400" b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类对象的生命期结束的时候，由系统自动调用 </a:t>
            </a:r>
          </a:p>
        </p:txBody>
      </p:sp>
      <p:sp>
        <p:nvSpPr>
          <p:cNvPr id="17" name="Text Box 12">
            <a:extLst>
              <a:ext uri="{FF2B5EF4-FFF2-40B4-BE49-F238E27FC236}">
                <a16:creationId xmlns:a16="http://schemas.microsoft.com/office/drawing/2014/main" id="{9BD2AB6F-E10A-4F37-9178-A6B70CAEB3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07947" y="1932917"/>
            <a:ext cx="7184053" cy="339761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wrap="square">
            <a:no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SzPct val="70000"/>
              <a:buFont typeface="Wingdings" pitchFamily="2" charset="2"/>
              <a:buChar char="o"/>
              <a:defRPr sz="32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n"/>
              <a:defRPr sz="28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o"/>
              <a:defRPr sz="24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n"/>
              <a:defRPr sz="20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ts val="0"/>
              </a:spcBef>
              <a:buClrTx/>
              <a:buSzTx/>
              <a:buFontTx/>
              <a:buNone/>
              <a:defRPr/>
            </a:pPr>
            <a:r>
              <a:rPr lang="en-US" altLang="zh-CN" sz="24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class Clock{</a:t>
            </a:r>
          </a:p>
          <a:p>
            <a:pPr eaLnBrk="1" hangingPunct="1">
              <a:lnSpc>
                <a:spcPct val="90000"/>
              </a:lnSpc>
              <a:spcBef>
                <a:spcPts val="0"/>
              </a:spcBef>
              <a:buClrTx/>
              <a:buSzTx/>
              <a:buFontTx/>
              <a:buNone/>
              <a:defRPr/>
            </a:pPr>
            <a:r>
              <a:rPr lang="en-US" altLang="zh-CN" sz="24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public: </a:t>
            </a:r>
          </a:p>
          <a:p>
            <a:pPr eaLnBrk="1" hangingPunct="1">
              <a:lnSpc>
                <a:spcPct val="90000"/>
              </a:lnSpc>
              <a:spcBef>
                <a:spcPts val="0"/>
              </a:spcBef>
              <a:buClrTx/>
              <a:buSzTx/>
              <a:buFontTx/>
              <a:buNone/>
              <a:defRPr/>
            </a:pPr>
            <a:r>
              <a:rPr lang="en-US" altLang="zh-CN" sz="24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	Clock(int </a:t>
            </a:r>
            <a:r>
              <a:rPr lang="en-US" altLang="zh-CN" sz="2400" dirty="0" err="1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newH</a:t>
            </a:r>
            <a:r>
              <a:rPr lang="en-US" altLang="zh-CN" sz="24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, int </a:t>
            </a:r>
            <a:r>
              <a:rPr lang="en-US" altLang="zh-CN" sz="2400" dirty="0" err="1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newMe</a:t>
            </a:r>
            <a:r>
              <a:rPr lang="en-US" altLang="zh-CN" sz="24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, int </a:t>
            </a:r>
            <a:r>
              <a:rPr lang="en-US" altLang="zh-CN" sz="2400" dirty="0" err="1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newS</a:t>
            </a:r>
            <a:r>
              <a:rPr lang="en-US" altLang="zh-CN" sz="24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);</a:t>
            </a:r>
          </a:p>
          <a:p>
            <a:pPr eaLnBrk="1" hangingPunct="1">
              <a:lnSpc>
                <a:spcPct val="90000"/>
              </a:lnSpc>
              <a:spcBef>
                <a:spcPts val="0"/>
              </a:spcBef>
              <a:buClrTx/>
              <a:buSzTx/>
              <a:buFontTx/>
              <a:buNone/>
              <a:defRPr/>
            </a:pPr>
            <a:r>
              <a:rPr lang="en-US" altLang="zh-CN" sz="24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	Clock();//</a:t>
            </a:r>
            <a:r>
              <a:rPr lang="zh-CN" altLang="en-US" sz="24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无参构造函数</a:t>
            </a:r>
            <a:endParaRPr lang="en-US" altLang="zh-CN" sz="2400" dirty="0">
              <a:solidFill>
                <a:srgbClr val="104E87"/>
              </a:solidFill>
              <a:latin typeface="Comic Sans MS" panose="030F0702030302020204" pitchFamily="66" charset="0"/>
              <a:ea typeface="华光行书_CNKI" panose="02000500000000000000" pitchFamily="2" charset="-122"/>
            </a:endParaRPr>
          </a:p>
          <a:p>
            <a:pPr eaLnBrk="1" hangingPunct="1">
              <a:lnSpc>
                <a:spcPct val="90000"/>
              </a:lnSpc>
              <a:spcBef>
                <a:spcPts val="0"/>
              </a:spcBef>
              <a:buClrTx/>
              <a:buSzTx/>
              <a:buFontTx/>
              <a:buNone/>
              <a:defRPr/>
            </a:pPr>
            <a:r>
              <a:rPr lang="en-US" altLang="zh-CN" sz="24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	Clock(Clock&amp; c);//</a:t>
            </a:r>
            <a:r>
              <a:rPr lang="zh-CN" altLang="en-US" sz="24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复制构造函数</a:t>
            </a:r>
            <a:endParaRPr lang="en-US" altLang="zh-CN" sz="2400" dirty="0">
              <a:solidFill>
                <a:srgbClr val="104E87"/>
              </a:solidFill>
              <a:latin typeface="Comic Sans MS" panose="030F0702030302020204" pitchFamily="66" charset="0"/>
              <a:ea typeface="华光行书_CNKI" panose="02000500000000000000" pitchFamily="2" charset="-122"/>
            </a:endParaRPr>
          </a:p>
          <a:p>
            <a:pPr eaLnBrk="1" hangingPunct="1">
              <a:lnSpc>
                <a:spcPct val="90000"/>
              </a:lnSpc>
              <a:spcBef>
                <a:spcPts val="0"/>
              </a:spcBef>
              <a:buClrTx/>
              <a:buSzTx/>
              <a:buFontTx/>
              <a:buNone/>
              <a:defRPr/>
            </a:pPr>
            <a:r>
              <a:rPr lang="en-US" altLang="zh-CN" sz="2400" dirty="0">
                <a:solidFill>
                  <a:srgbClr val="FF0000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      ~Clock();//</a:t>
            </a:r>
            <a:r>
              <a:rPr lang="zh-CN" altLang="en-US" sz="2400" dirty="0">
                <a:solidFill>
                  <a:srgbClr val="FF0000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析构函数</a:t>
            </a:r>
            <a:endParaRPr lang="en-US" altLang="zh-CN" sz="2400" dirty="0">
              <a:solidFill>
                <a:srgbClr val="104E87"/>
              </a:solidFill>
              <a:latin typeface="Comic Sans MS" panose="030F0702030302020204" pitchFamily="66" charset="0"/>
              <a:ea typeface="华光行书_CNKI" panose="02000500000000000000" pitchFamily="2" charset="-122"/>
            </a:endParaRPr>
          </a:p>
          <a:p>
            <a:pPr eaLnBrk="1" hangingPunct="1">
              <a:lnSpc>
                <a:spcPct val="90000"/>
              </a:lnSpc>
              <a:spcBef>
                <a:spcPts val="0"/>
              </a:spcBef>
              <a:buClrTx/>
              <a:buSzTx/>
              <a:buFontTx/>
              <a:buNone/>
              <a:defRPr/>
            </a:pPr>
            <a:r>
              <a:rPr lang="en-US" altLang="zh-CN" sz="24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           </a:t>
            </a:r>
            <a:r>
              <a:rPr lang="en-US" altLang="zh-CN" sz="2400" b="1" dirty="0">
                <a:solidFill>
                  <a:srgbClr val="104E87"/>
                </a:solidFill>
                <a:latin typeface="Comic Sans MS" panose="030F0702030302020204" pitchFamily="66" charset="0"/>
                <a:ea typeface="黑体" panose="02010609060101010101" pitchFamily="49" charset="-122"/>
              </a:rPr>
              <a:t>……</a:t>
            </a:r>
          </a:p>
          <a:p>
            <a:pPr eaLnBrk="1" hangingPunct="1">
              <a:lnSpc>
                <a:spcPct val="90000"/>
              </a:lnSpc>
              <a:spcBef>
                <a:spcPts val="0"/>
              </a:spcBef>
              <a:buClrTx/>
              <a:buSzTx/>
              <a:buFontTx/>
              <a:buNone/>
              <a:defRPr/>
            </a:pPr>
            <a:r>
              <a:rPr lang="en-US" altLang="zh-CN" sz="24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private:</a:t>
            </a:r>
          </a:p>
          <a:p>
            <a:pPr eaLnBrk="1" hangingPunct="1">
              <a:lnSpc>
                <a:spcPct val="90000"/>
              </a:lnSpc>
              <a:spcBef>
                <a:spcPts val="0"/>
              </a:spcBef>
              <a:buClrTx/>
              <a:buSzTx/>
              <a:buFontTx/>
              <a:buNone/>
              <a:defRPr/>
            </a:pPr>
            <a:r>
              <a:rPr lang="en-US" altLang="zh-CN" sz="24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           </a:t>
            </a:r>
            <a:r>
              <a:rPr lang="en-US" altLang="zh-CN" sz="2400" dirty="0" err="1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int</a:t>
            </a:r>
            <a:r>
              <a:rPr lang="en-US" altLang="zh-CN" sz="24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 hour, minute, second;</a:t>
            </a:r>
          </a:p>
          <a:p>
            <a:pPr eaLnBrk="1" hangingPunct="1">
              <a:lnSpc>
                <a:spcPct val="90000"/>
              </a:lnSpc>
              <a:spcBef>
                <a:spcPts val="0"/>
              </a:spcBef>
              <a:buClrTx/>
              <a:buSzTx/>
              <a:buFontTx/>
              <a:buNone/>
              <a:defRPr/>
            </a:pPr>
            <a:r>
              <a:rPr lang="en-US" altLang="zh-CN" sz="24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};</a:t>
            </a:r>
          </a:p>
        </p:txBody>
      </p:sp>
      <p:sp>
        <p:nvSpPr>
          <p:cNvPr id="18" name="矩形 5">
            <a:extLst>
              <a:ext uri="{FF2B5EF4-FFF2-40B4-BE49-F238E27FC236}">
                <a16:creationId xmlns:a16="http://schemas.microsoft.com/office/drawing/2014/main" id="{01327B7C-1D38-4A0B-B709-9D5AD64907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546600"/>
            <a:ext cx="4896091" cy="1089025"/>
          </a:xfrm>
          <a:prstGeom prst="rect">
            <a:avLst/>
          </a:prstGeom>
          <a:solidFill>
            <a:srgbClr val="CCE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Char char="o"/>
              <a:defRPr sz="32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o"/>
              <a:defRPr sz="24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n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dirty="0">
                <a:solidFill>
                  <a:srgbClr val="FF0000"/>
                </a:solidFill>
                <a:latin typeface="Comic Sans MS" panose="030F0702030302020204" pitchFamily="66" charset="0"/>
                <a:ea typeface="黑体" panose="02010609060101010101" pitchFamily="49" charset="-122"/>
              </a:rPr>
              <a:t>Clock:: ~Clock(){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altLang="zh-CN" sz="2400" dirty="0">
              <a:solidFill>
                <a:srgbClr val="FF0000"/>
              </a:solidFill>
              <a:latin typeface="Comic Sans MS" panose="030F0702030302020204" pitchFamily="66" charset="0"/>
              <a:ea typeface="黑体" panose="02010609060101010101" pitchFamily="49" charset="-122"/>
            </a:endParaRP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dirty="0">
                <a:solidFill>
                  <a:srgbClr val="FF0000"/>
                </a:solidFill>
                <a:latin typeface="Comic Sans MS" panose="030F0702030302020204" pitchFamily="66" charset="0"/>
                <a:ea typeface="黑体" panose="02010609060101010101" pitchFamily="49" charset="-122"/>
              </a:rPr>
              <a:t>}</a:t>
            </a:r>
          </a:p>
        </p:txBody>
      </p:sp>
      <p:sp>
        <p:nvSpPr>
          <p:cNvPr id="20" name="矩形 6">
            <a:extLst>
              <a:ext uri="{FF2B5EF4-FFF2-40B4-BE49-F238E27FC236}">
                <a16:creationId xmlns:a16="http://schemas.microsoft.com/office/drawing/2014/main" id="{66725D9E-19E7-4172-8EE6-BA2387E61D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2588" y="4868863"/>
            <a:ext cx="395653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Char char="o"/>
              <a:defRPr sz="32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o"/>
              <a:defRPr sz="24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n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dirty="0">
                <a:solidFill>
                  <a:srgbClr val="FF0000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 </a:t>
            </a:r>
            <a:r>
              <a:rPr lang="en-US" altLang="zh-CN" sz="2400" dirty="0" err="1">
                <a:solidFill>
                  <a:srgbClr val="FF0000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cout</a:t>
            </a:r>
            <a:r>
              <a:rPr lang="en-US" altLang="zh-CN" sz="2400" dirty="0">
                <a:solidFill>
                  <a:srgbClr val="FF0000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&lt;&lt;“</a:t>
            </a:r>
            <a:r>
              <a:rPr lang="zh-CN" altLang="en-US" sz="2400" dirty="0">
                <a:solidFill>
                  <a:srgbClr val="FF0000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析构函数被调用</a:t>
            </a:r>
            <a:r>
              <a:rPr lang="en-US" altLang="zh-CN" sz="2400" dirty="0">
                <a:solidFill>
                  <a:srgbClr val="FF0000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\n”;</a:t>
            </a:r>
            <a:endParaRPr lang="zh-CN" altLang="en-US" sz="2400" dirty="0">
              <a:solidFill>
                <a:schemeClr val="tx1"/>
              </a:solidFill>
              <a:latin typeface="Comic Sans MS" panose="030F0702030302020204" pitchFamily="66" charset="0"/>
              <a:ea typeface="华光行书_CNKI" panose="02000500000000000000" pitchFamily="2" charset="-122"/>
            </a:endParaRPr>
          </a:p>
        </p:txBody>
      </p:sp>
      <p:sp>
        <p:nvSpPr>
          <p:cNvPr id="21" name="Rectangle 25">
            <a:extLst>
              <a:ext uri="{FF2B5EF4-FFF2-40B4-BE49-F238E27FC236}">
                <a16:creationId xmlns:a16="http://schemas.microsoft.com/office/drawing/2014/main" id="{8533CB71-0326-4DEE-B1A4-7A75F1500C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07154" y="5408160"/>
            <a:ext cx="7184846" cy="144984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wrap="square">
            <a:noAutofit/>
          </a:bodyPr>
          <a:lstStyle/>
          <a:p>
            <a:pPr>
              <a:lnSpc>
                <a:spcPct val="90000"/>
              </a:lnSpc>
            </a:pPr>
            <a:r>
              <a:rPr lang="en-US" altLang="zh-CN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int main()</a:t>
            </a:r>
          </a:p>
          <a:p>
            <a:pPr>
              <a:lnSpc>
                <a:spcPct val="90000"/>
              </a:lnSpc>
            </a:pPr>
            <a:r>
              <a:rPr lang="en-US" altLang="zh-CN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{Clock  c1;</a:t>
            </a:r>
          </a:p>
          <a:p>
            <a:pPr>
              <a:lnSpc>
                <a:spcPct val="90000"/>
              </a:lnSpc>
            </a:pPr>
            <a:r>
              <a:rPr lang="en-US" altLang="zh-CN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  return 0</a:t>
            </a:r>
            <a:r>
              <a:rPr lang="zh-CN" altLang="en-US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；</a:t>
            </a:r>
            <a:r>
              <a:rPr lang="en-US" altLang="zh-CN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	</a:t>
            </a:r>
          </a:p>
          <a:p>
            <a:pPr>
              <a:lnSpc>
                <a:spcPct val="90000"/>
              </a:lnSpc>
            </a:pPr>
            <a:r>
              <a:rPr lang="en-US" altLang="zh-CN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}</a:t>
            </a:r>
          </a:p>
        </p:txBody>
      </p:sp>
      <p:sp>
        <p:nvSpPr>
          <p:cNvPr id="12" name="Rectangle 10">
            <a:extLst>
              <a:ext uri="{FF2B5EF4-FFF2-40B4-BE49-F238E27FC236}">
                <a16:creationId xmlns:a16="http://schemas.microsoft.com/office/drawing/2014/main" id="{0F5DCE03-6B84-4F3E-BF1E-9C71FBE3F8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11604" y="581090"/>
            <a:ext cx="6432677" cy="13542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SzPct val="70000"/>
              <a:buFont typeface="Wingdings" pitchFamily="2" charset="2"/>
              <a:buChar char="o"/>
              <a:defRPr sz="32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n"/>
              <a:defRPr sz="28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o"/>
              <a:defRPr sz="24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n"/>
              <a:defRPr sz="20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defRPr/>
            </a:pPr>
            <a:r>
              <a:rPr kumimoji="1" lang="zh-CN" altLang="en-US" sz="24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 </a:t>
            </a:r>
          </a:p>
          <a:p>
            <a:pPr marL="342900" indent="-342900" eaLnBrk="1" hangingPunct="1">
              <a:spcBef>
                <a:spcPct val="0"/>
              </a:spcBef>
              <a:spcAft>
                <a:spcPts val="600"/>
              </a:spcAft>
              <a:buClrTx/>
              <a:buSzTx/>
              <a:buFont typeface="Wingdings" pitchFamily="2" charset="2"/>
              <a:buBlip>
                <a:blip r:embed="rId3"/>
              </a:buBlip>
              <a:defRPr/>
            </a:pPr>
            <a:r>
              <a:rPr kumimoji="1" lang="zh-CN" altLang="en-US" sz="2400" b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 与类同名</a:t>
            </a:r>
            <a:r>
              <a:rPr kumimoji="1" lang="en-US" altLang="zh-CN" sz="2400" b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,</a:t>
            </a:r>
            <a:r>
              <a:rPr kumimoji="1" lang="zh-CN" altLang="en-US" sz="2400" b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之前冠以波浪号；</a:t>
            </a:r>
            <a:endParaRPr kumimoji="1" lang="en-US" altLang="zh-CN" sz="2400" b="0" dirty="0">
              <a:solidFill>
                <a:srgbClr val="104E87"/>
              </a:solidFill>
              <a:latin typeface="Comic Sans MS" panose="030F0702030302020204" pitchFamily="66" charset="0"/>
              <a:ea typeface="华光行书_CNKI" panose="02000500000000000000" pitchFamily="2" charset="-122"/>
            </a:endParaRPr>
          </a:p>
          <a:p>
            <a:pPr marL="342900" indent="-342900" eaLnBrk="1" hangingPunct="1">
              <a:spcBef>
                <a:spcPct val="0"/>
              </a:spcBef>
              <a:spcAft>
                <a:spcPts val="600"/>
              </a:spcAft>
              <a:buClrTx/>
              <a:buSzTx/>
              <a:buFont typeface="Wingdings" pitchFamily="2" charset="2"/>
              <a:buBlip>
                <a:blip r:embed="rId3"/>
              </a:buBlip>
              <a:defRPr/>
            </a:pPr>
            <a:r>
              <a:rPr kumimoji="1" lang="zh-CN" altLang="en-US" sz="2400" b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如无定义</a:t>
            </a:r>
            <a:r>
              <a:rPr kumimoji="1" lang="en-US" altLang="zh-CN" sz="2400" b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,</a:t>
            </a:r>
            <a:r>
              <a:rPr kumimoji="1" lang="zh-CN" altLang="en-US" sz="2400" b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系统会自动生成缺省的析构函数</a:t>
            </a:r>
          </a:p>
        </p:txBody>
      </p:sp>
    </p:spTree>
    <p:extLst>
      <p:ext uri="{BB962C8B-B14F-4D97-AF65-F5344CB8AC3E}">
        <p14:creationId xmlns:p14="http://schemas.microsoft.com/office/powerpoint/2010/main" val="31173775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000"/>
                            </p:stCondLst>
                            <p:childTnLst>
                              <p:par>
                                <p:cTn id="24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500"/>
                            </p:stCondLst>
                            <p:childTnLst>
                              <p:par>
                                <p:cTn id="30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"/>
                            </p:stCondLst>
                            <p:childTnLst>
                              <p:par>
                                <p:cTn id="41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1000"/>
                            </p:stCondLst>
                            <p:childTnLst>
                              <p:par>
                                <p:cTn id="4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4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6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20" grpId="0"/>
      <p:bldP spid="21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>
            <a:extLst>
              <a:ext uri="{FF2B5EF4-FFF2-40B4-BE49-F238E27FC236}">
                <a16:creationId xmlns:a16="http://schemas.microsoft.com/office/drawing/2014/main" id="{0321CC45-122C-4815-AB74-6812ECD67E8A}"/>
              </a:ext>
            </a:extLst>
          </p:cNvPr>
          <p:cNvSpPr/>
          <p:nvPr/>
        </p:nvSpPr>
        <p:spPr>
          <a:xfrm>
            <a:off x="794" y="176798"/>
            <a:ext cx="12190413" cy="728917"/>
          </a:xfrm>
          <a:prstGeom prst="rect">
            <a:avLst/>
          </a:prstGeom>
          <a:solidFill>
            <a:srgbClr val="26CC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3200"/>
          </a:p>
        </p:txBody>
      </p:sp>
      <p:cxnSp>
        <p:nvCxnSpPr>
          <p:cNvPr id="9" name="直线连接符 6">
            <a:extLst>
              <a:ext uri="{FF2B5EF4-FFF2-40B4-BE49-F238E27FC236}">
                <a16:creationId xmlns:a16="http://schemas.microsoft.com/office/drawing/2014/main" id="{714E748F-686D-4BD8-80EF-EC7F4D81F264}"/>
              </a:ext>
            </a:extLst>
          </p:cNvPr>
          <p:cNvCxnSpPr/>
          <p:nvPr/>
        </p:nvCxnSpPr>
        <p:spPr>
          <a:xfrm>
            <a:off x="1587" y="905715"/>
            <a:ext cx="12190413" cy="0"/>
          </a:xfrm>
          <a:prstGeom prst="line">
            <a:avLst/>
          </a:prstGeom>
          <a:ln>
            <a:solidFill>
              <a:srgbClr val="104D7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文本框 9">
            <a:extLst>
              <a:ext uri="{FF2B5EF4-FFF2-40B4-BE49-F238E27FC236}">
                <a16:creationId xmlns:a16="http://schemas.microsoft.com/office/drawing/2014/main" id="{0058EF67-E4FF-4979-824E-F88C42CB13B3}"/>
              </a:ext>
            </a:extLst>
          </p:cNvPr>
          <p:cNvSpPr txBox="1"/>
          <p:nvPr/>
        </p:nvSpPr>
        <p:spPr>
          <a:xfrm>
            <a:off x="247719" y="224527"/>
            <a:ext cx="802877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kumimoji="1" sz="3200" b="1">
                <a:latin typeface="华光胖头鱼_CNKI" panose="02000500000000000000" pitchFamily="2" charset="-122"/>
                <a:ea typeface="华光胖头鱼_CNKI" panose="02000500000000000000" pitchFamily="2" charset="-122"/>
              </a:defRPr>
            </a:lvl1pPr>
          </a:lstStyle>
          <a:p>
            <a:r>
              <a:rPr lang="en-US" altLang="zh-CN" dirty="0"/>
              <a:t>7.4</a:t>
            </a:r>
            <a:r>
              <a:rPr lang="zh-CN" altLang="en-US" dirty="0">
                <a:sym typeface="+mn-lt"/>
              </a:rPr>
              <a:t>组合类</a:t>
            </a:r>
            <a:endParaRPr lang="zh-CN" altLang="en-US" dirty="0"/>
          </a:p>
        </p:txBody>
      </p:sp>
      <p:sp>
        <p:nvSpPr>
          <p:cNvPr id="12" name="Rectangle 7">
            <a:extLst>
              <a:ext uri="{FF2B5EF4-FFF2-40B4-BE49-F238E27FC236}">
                <a16:creationId xmlns:a16="http://schemas.microsoft.com/office/drawing/2014/main" id="{A6136E87-431D-4388-A798-F73D838544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5738" y="1118393"/>
            <a:ext cx="6503987" cy="1262063"/>
          </a:xfrm>
          <a:prstGeom prst="rect">
            <a:avLst/>
          </a:prstGeom>
          <a:noFill/>
          <a:ln>
            <a:noFill/>
          </a:ln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SzPct val="70000"/>
              <a:buFont typeface="Wingdings" pitchFamily="2" charset="2"/>
              <a:buChar char="o"/>
              <a:defRPr sz="32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n"/>
              <a:defRPr sz="28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o"/>
              <a:defRPr sz="24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n"/>
              <a:defRPr sz="20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zh-CN" altLang="en-US" sz="2800" dirty="0">
                <a:solidFill>
                  <a:srgbClr val="104E87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组合的概念</a:t>
            </a:r>
            <a:endParaRPr lang="en-US" altLang="zh-CN" sz="2800" dirty="0">
              <a:solidFill>
                <a:srgbClr val="104E87"/>
              </a:solidFill>
              <a:latin typeface="华光行书_CNKI" panose="02000500000000000000" pitchFamily="2" charset="-122"/>
              <a:ea typeface="华光行书_CNKI" panose="02000500000000000000" pitchFamily="2" charset="-122"/>
            </a:endParaRPr>
          </a:p>
          <a:p>
            <a:pPr marL="457200" indent="-457200" eaLnBrk="1" hangingPunct="1">
              <a:spcBef>
                <a:spcPct val="0"/>
              </a:spcBef>
              <a:buClrTx/>
              <a:buSzTx/>
              <a:buFont typeface="Wingdings" pitchFamily="2" charset="2"/>
              <a:buBlip>
                <a:blip r:embed="rId2"/>
              </a:buBlip>
              <a:defRPr/>
            </a:pPr>
            <a:r>
              <a:rPr lang="zh-CN" altLang="en-US" sz="2400" b="0" dirty="0">
                <a:solidFill>
                  <a:srgbClr val="104E87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类成员是另一个类对象</a:t>
            </a:r>
            <a:endParaRPr lang="en-US" altLang="zh-CN" sz="2400" b="0" dirty="0">
              <a:solidFill>
                <a:srgbClr val="104E87"/>
              </a:solidFill>
              <a:latin typeface="华光行书_CNKI" panose="02000500000000000000" pitchFamily="2" charset="-122"/>
              <a:ea typeface="华光行书_CNKI" panose="02000500000000000000" pitchFamily="2" charset="-122"/>
            </a:endParaRPr>
          </a:p>
          <a:p>
            <a:pPr marL="457200" indent="-457200" eaLnBrk="1" hangingPunct="1">
              <a:spcBef>
                <a:spcPct val="0"/>
              </a:spcBef>
              <a:buClrTx/>
              <a:buSzTx/>
              <a:buFont typeface="Wingdings" pitchFamily="2" charset="2"/>
              <a:buBlip>
                <a:blip r:embed="rId2"/>
              </a:buBlip>
              <a:defRPr/>
            </a:pPr>
            <a:r>
              <a:rPr lang="zh-CN" altLang="en-US" sz="2400" b="0" dirty="0">
                <a:solidFill>
                  <a:srgbClr val="104E87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可以在已有抽象的基础上实现更复杂的抽象</a:t>
            </a:r>
            <a:endParaRPr lang="en-US" altLang="zh-CN" sz="2400" b="0" dirty="0">
              <a:solidFill>
                <a:srgbClr val="104E87"/>
              </a:solidFill>
              <a:latin typeface="华光行书_CNKI" panose="02000500000000000000" pitchFamily="2" charset="-122"/>
              <a:ea typeface="华光行书_CNKI" panose="02000500000000000000" pitchFamily="2" charset="-122"/>
            </a:endParaRPr>
          </a:p>
        </p:txBody>
      </p:sp>
      <p:sp>
        <p:nvSpPr>
          <p:cNvPr id="13" name="Rectangle 8">
            <a:extLst>
              <a:ext uri="{FF2B5EF4-FFF2-40B4-BE49-F238E27FC236}">
                <a16:creationId xmlns:a16="http://schemas.microsoft.com/office/drawing/2014/main" id="{90990613-9882-44C7-B914-DB960C5CE9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17742" y="1002128"/>
            <a:ext cx="2904895" cy="26776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SzPct val="70000"/>
              <a:buFont typeface="Wingdings" pitchFamily="2" charset="2"/>
              <a:buChar char="o"/>
              <a:defRPr sz="32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n"/>
              <a:defRPr sz="28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o"/>
              <a:defRPr sz="24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n"/>
              <a:defRPr sz="20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2400" b="0" dirty="0">
                <a:solidFill>
                  <a:srgbClr val="104E87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class X {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2400" b="0" dirty="0">
                <a:solidFill>
                  <a:srgbClr val="104E87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    </a:t>
            </a:r>
            <a:r>
              <a:rPr lang="zh-CN" altLang="en-US" sz="2400" b="0" dirty="0">
                <a:solidFill>
                  <a:srgbClr val="104E87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类名</a:t>
            </a:r>
            <a:r>
              <a:rPr lang="en-US" altLang="zh-CN" sz="2400" b="0" dirty="0">
                <a:solidFill>
                  <a:srgbClr val="104E87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1  </a:t>
            </a:r>
            <a:r>
              <a:rPr lang="zh-CN" altLang="en-US" sz="2400" b="0" dirty="0">
                <a:solidFill>
                  <a:srgbClr val="104E87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成员名</a:t>
            </a:r>
            <a:r>
              <a:rPr lang="en-US" altLang="zh-CN" sz="2400" b="0" dirty="0">
                <a:solidFill>
                  <a:srgbClr val="104E87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1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2400" b="0" dirty="0">
                <a:solidFill>
                  <a:srgbClr val="104E87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    </a:t>
            </a:r>
            <a:r>
              <a:rPr lang="zh-CN" altLang="en-US" sz="2400" b="0" dirty="0">
                <a:solidFill>
                  <a:srgbClr val="104E87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类名</a:t>
            </a:r>
            <a:r>
              <a:rPr lang="en-US" altLang="zh-CN" sz="2400" b="0" dirty="0">
                <a:solidFill>
                  <a:srgbClr val="104E87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2  </a:t>
            </a:r>
            <a:r>
              <a:rPr lang="zh-CN" altLang="en-US" sz="2400" b="0" dirty="0">
                <a:solidFill>
                  <a:srgbClr val="104E87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成员名</a:t>
            </a:r>
            <a:r>
              <a:rPr lang="en-US" altLang="zh-CN" sz="2400" b="0" dirty="0">
                <a:solidFill>
                  <a:srgbClr val="104E87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2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2400" b="0" dirty="0">
                <a:solidFill>
                  <a:srgbClr val="104E87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    ... ...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2400" b="0" dirty="0">
                <a:solidFill>
                  <a:srgbClr val="104E87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    </a:t>
            </a:r>
            <a:r>
              <a:rPr lang="zh-CN" altLang="en-US" sz="2400" b="0" dirty="0">
                <a:solidFill>
                  <a:srgbClr val="104E87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类名</a:t>
            </a:r>
            <a:r>
              <a:rPr lang="en-US" altLang="zh-CN" sz="2400" b="0" dirty="0">
                <a:solidFill>
                  <a:srgbClr val="104E87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n  </a:t>
            </a:r>
            <a:r>
              <a:rPr lang="zh-CN" altLang="en-US" sz="2400" b="0" dirty="0">
                <a:solidFill>
                  <a:srgbClr val="104E87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成员名</a:t>
            </a:r>
            <a:r>
              <a:rPr lang="en-US" altLang="zh-CN" sz="2400" b="0" dirty="0">
                <a:solidFill>
                  <a:srgbClr val="104E87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n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2400" b="0" dirty="0">
                <a:solidFill>
                  <a:srgbClr val="104E87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  ... ...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2400" b="0" dirty="0">
                <a:solidFill>
                  <a:srgbClr val="104E87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};</a:t>
            </a:r>
          </a:p>
        </p:txBody>
      </p:sp>
      <p:sp>
        <p:nvSpPr>
          <p:cNvPr id="2" name="矩形 2">
            <a:extLst>
              <a:ext uri="{FF2B5EF4-FFF2-40B4-BE49-F238E27FC236}">
                <a16:creationId xmlns:a16="http://schemas.microsoft.com/office/drawing/2014/main" id="{D65642EC-EC9B-258A-7FA4-33A8B8E1D7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7719" y="3430789"/>
            <a:ext cx="745147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r>
              <a:rPr lang="zh-CN" altLang="en-US" sz="2400" b="0" dirty="0">
                <a:solidFill>
                  <a:srgbClr val="104E87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设计一个表示二维平面的线段类，计算线段的长度。</a:t>
            </a:r>
          </a:p>
        </p:txBody>
      </p:sp>
      <p:sp>
        <p:nvSpPr>
          <p:cNvPr id="3" name="Text Box 12">
            <a:extLst>
              <a:ext uri="{FF2B5EF4-FFF2-40B4-BE49-F238E27FC236}">
                <a16:creationId xmlns:a16="http://schemas.microsoft.com/office/drawing/2014/main" id="{E84107F8-9BF9-85FA-54E0-171B1235D3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7719" y="4120510"/>
            <a:ext cx="5121451" cy="15696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SzPct val="70000"/>
              <a:buFont typeface="Wingdings" pitchFamily="2" charset="2"/>
              <a:buChar char="o"/>
              <a:defRPr sz="32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n"/>
              <a:defRPr sz="28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o"/>
              <a:defRPr sz="24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n"/>
              <a:defRPr sz="20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lang="zh-CN" altLang="en-US" sz="2400" dirty="0">
                <a:solidFill>
                  <a:srgbClr val="134F85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抽象实例</a:t>
            </a:r>
            <a:r>
              <a:rPr lang="en-US" altLang="zh-CN" sz="2400" dirty="0">
                <a:solidFill>
                  <a:srgbClr val="134F85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——</a:t>
            </a:r>
            <a:r>
              <a:rPr lang="zh-CN" altLang="en-US" sz="2400" dirty="0">
                <a:solidFill>
                  <a:srgbClr val="134F85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线段</a:t>
            </a:r>
            <a:endParaRPr lang="en-US" altLang="zh-CN" sz="2400" dirty="0">
              <a:solidFill>
                <a:srgbClr val="134F85"/>
              </a:solidFill>
              <a:latin typeface="华光行书_CNKI" panose="02000500000000000000" pitchFamily="2" charset="-122"/>
              <a:ea typeface="华光行书_CNKI" panose="02000500000000000000" pitchFamily="2" charset="-122"/>
            </a:endParaRPr>
          </a:p>
          <a:p>
            <a:pPr marL="342900" indent="-342900" defTabSz="622300" eaLnBrk="1" hangingPunct="1">
              <a:spcBef>
                <a:spcPct val="50000"/>
              </a:spcBef>
              <a:buClrTx/>
              <a:buSzTx/>
              <a:buFont typeface="Wingdings" pitchFamily="2" charset="2"/>
              <a:buBlip>
                <a:blip r:embed="rId2"/>
              </a:buBlip>
              <a:defRPr/>
            </a:pPr>
            <a:r>
              <a:rPr lang="zh-CN" altLang="en-US" sz="2400" dirty="0">
                <a:solidFill>
                  <a:srgbClr val="134F85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数据</a:t>
            </a:r>
            <a:r>
              <a:rPr lang="zh-CN" altLang="en-US" sz="2400" dirty="0">
                <a:solidFill>
                  <a:srgbClr val="FF0000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抽象</a:t>
            </a:r>
            <a:r>
              <a:rPr lang="zh-CN" altLang="en-US" sz="2400" dirty="0">
                <a:solidFill>
                  <a:srgbClr val="134F85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：</a:t>
            </a:r>
            <a:r>
              <a:rPr lang="en-US" altLang="zh-CN" sz="2400" dirty="0">
                <a:solidFill>
                  <a:srgbClr val="134F85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point p1,p2</a:t>
            </a:r>
          </a:p>
          <a:p>
            <a:pPr marL="342900" indent="-342900" eaLnBrk="1" hangingPunct="1">
              <a:spcBef>
                <a:spcPct val="50000"/>
              </a:spcBef>
              <a:buClrTx/>
              <a:buSzTx/>
              <a:buFont typeface="Wingdings" pitchFamily="2" charset="2"/>
              <a:buBlip>
                <a:blip r:embed="rId2"/>
              </a:buBlip>
              <a:defRPr/>
            </a:pPr>
            <a:r>
              <a:rPr lang="zh-CN" altLang="en-US" sz="2400" dirty="0">
                <a:solidFill>
                  <a:srgbClr val="134F85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代码</a:t>
            </a:r>
            <a:r>
              <a:rPr lang="zh-CN" altLang="en-US" sz="2400" dirty="0">
                <a:solidFill>
                  <a:srgbClr val="FF0000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抽象</a:t>
            </a:r>
            <a:r>
              <a:rPr lang="zh-CN" altLang="en-US" sz="2400" dirty="0">
                <a:solidFill>
                  <a:srgbClr val="134F85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：</a:t>
            </a:r>
            <a:r>
              <a:rPr lang="en-US" altLang="zh-CN" sz="2400" dirty="0" err="1">
                <a:solidFill>
                  <a:srgbClr val="134F85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getLine</a:t>
            </a:r>
            <a:r>
              <a:rPr lang="en-US" altLang="zh-CN" sz="2400" dirty="0">
                <a:solidFill>
                  <a:srgbClr val="134F85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()</a:t>
            </a:r>
            <a:r>
              <a:rPr lang="zh-CN" altLang="en-US" sz="2400" dirty="0">
                <a:solidFill>
                  <a:srgbClr val="134F85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，构造函数。</a:t>
            </a:r>
            <a:endParaRPr lang="en-US" altLang="zh-CN" sz="2400" dirty="0">
              <a:solidFill>
                <a:srgbClr val="134F85"/>
              </a:solidFill>
              <a:latin typeface="华光行书_CNKI" panose="02000500000000000000" pitchFamily="2" charset="-122"/>
              <a:ea typeface="华光行书_CNKI" panose="02000500000000000000" pitchFamily="2" charset="-122"/>
            </a:endParaRPr>
          </a:p>
        </p:txBody>
      </p:sp>
      <p:sp>
        <p:nvSpPr>
          <p:cNvPr id="4" name="Text Box 12">
            <a:extLst>
              <a:ext uri="{FF2B5EF4-FFF2-40B4-BE49-F238E27FC236}">
                <a16:creationId xmlns:a16="http://schemas.microsoft.com/office/drawing/2014/main" id="{F9747F05-5EB7-0C84-C05A-4938353694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45992" y="4120510"/>
            <a:ext cx="6576645" cy="15696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SzPct val="70000"/>
              <a:buFont typeface="Wingdings" pitchFamily="2" charset="2"/>
              <a:buChar char="o"/>
              <a:defRPr sz="32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n"/>
              <a:defRPr sz="28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o"/>
              <a:defRPr sz="24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n"/>
              <a:defRPr sz="20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lang="zh-CN" altLang="en-US" sz="2400" dirty="0">
                <a:solidFill>
                  <a:srgbClr val="134F85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抽象实例</a:t>
            </a:r>
            <a:r>
              <a:rPr lang="en-US" altLang="zh-CN" sz="2400" dirty="0">
                <a:solidFill>
                  <a:srgbClr val="134F85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——</a:t>
            </a:r>
            <a:r>
              <a:rPr lang="zh-CN" altLang="en-US" sz="2400" dirty="0">
                <a:solidFill>
                  <a:srgbClr val="134F85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点</a:t>
            </a:r>
            <a:endParaRPr lang="en-US" altLang="zh-CN" sz="2400" dirty="0">
              <a:solidFill>
                <a:srgbClr val="134F85"/>
              </a:solidFill>
              <a:latin typeface="华光行书_CNKI" panose="02000500000000000000" pitchFamily="2" charset="-122"/>
              <a:ea typeface="华光行书_CNKI" panose="02000500000000000000" pitchFamily="2" charset="-122"/>
            </a:endParaRPr>
          </a:p>
          <a:p>
            <a:pPr marL="342900" indent="-342900" defTabSz="622300" eaLnBrk="1" hangingPunct="1">
              <a:spcBef>
                <a:spcPct val="50000"/>
              </a:spcBef>
              <a:buClrTx/>
              <a:buSzTx/>
              <a:buFont typeface="Wingdings" pitchFamily="2" charset="2"/>
              <a:buBlip>
                <a:blip r:embed="rId2"/>
              </a:buBlip>
              <a:defRPr/>
            </a:pPr>
            <a:r>
              <a:rPr lang="zh-CN" altLang="en-US" sz="2400" dirty="0">
                <a:solidFill>
                  <a:srgbClr val="134F85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数据</a:t>
            </a:r>
            <a:r>
              <a:rPr lang="zh-CN" altLang="en-US" sz="2400" dirty="0">
                <a:solidFill>
                  <a:srgbClr val="FF0000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抽象</a:t>
            </a:r>
            <a:r>
              <a:rPr lang="zh-CN" altLang="en-US" sz="2400" dirty="0">
                <a:solidFill>
                  <a:srgbClr val="134F85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：</a:t>
            </a:r>
            <a:r>
              <a:rPr lang="en-US" altLang="zh-CN" sz="2400" dirty="0">
                <a:solidFill>
                  <a:srgbClr val="134F85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int x</a:t>
            </a:r>
            <a:r>
              <a:rPr lang="zh-CN" altLang="en-US" sz="2400" dirty="0">
                <a:solidFill>
                  <a:srgbClr val="134F85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，</a:t>
            </a:r>
            <a:r>
              <a:rPr lang="en-US" altLang="zh-CN" sz="2400" dirty="0">
                <a:solidFill>
                  <a:srgbClr val="134F85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y</a:t>
            </a:r>
          </a:p>
          <a:p>
            <a:pPr marL="342900" indent="-342900" eaLnBrk="1" hangingPunct="1">
              <a:spcBef>
                <a:spcPct val="50000"/>
              </a:spcBef>
              <a:buClrTx/>
              <a:buSzTx/>
              <a:buFont typeface="Wingdings" pitchFamily="2" charset="2"/>
              <a:buBlip>
                <a:blip r:embed="rId2"/>
              </a:buBlip>
              <a:defRPr/>
            </a:pPr>
            <a:r>
              <a:rPr lang="zh-CN" altLang="en-US" sz="2400" dirty="0">
                <a:solidFill>
                  <a:srgbClr val="134F85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代码</a:t>
            </a:r>
            <a:r>
              <a:rPr lang="zh-CN" altLang="en-US" sz="2400" dirty="0">
                <a:solidFill>
                  <a:srgbClr val="FF0000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抽象</a:t>
            </a:r>
            <a:r>
              <a:rPr lang="zh-CN" altLang="en-US" sz="2400" dirty="0">
                <a:solidFill>
                  <a:srgbClr val="134F85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：</a:t>
            </a:r>
            <a:r>
              <a:rPr lang="en-US" altLang="zh-CN" sz="2400" dirty="0" err="1">
                <a:solidFill>
                  <a:srgbClr val="134F85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setXY</a:t>
            </a:r>
            <a:r>
              <a:rPr lang="en-US" altLang="zh-CN" sz="2400" dirty="0">
                <a:solidFill>
                  <a:srgbClr val="134F85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(), </a:t>
            </a:r>
            <a:r>
              <a:rPr lang="en-US" altLang="zh-CN" sz="2400" dirty="0" err="1">
                <a:solidFill>
                  <a:srgbClr val="134F85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getX</a:t>
            </a:r>
            <a:r>
              <a:rPr lang="en-US" altLang="zh-CN" sz="2400" dirty="0">
                <a:solidFill>
                  <a:srgbClr val="134F85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(), </a:t>
            </a:r>
            <a:r>
              <a:rPr lang="en-US" altLang="zh-CN" sz="2400" dirty="0" err="1">
                <a:solidFill>
                  <a:srgbClr val="134F85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getY</a:t>
            </a:r>
            <a:r>
              <a:rPr lang="en-US" altLang="zh-CN" sz="2400" dirty="0">
                <a:solidFill>
                  <a:srgbClr val="134F85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(),</a:t>
            </a:r>
            <a:r>
              <a:rPr lang="zh-CN" altLang="en-US" sz="2400" dirty="0">
                <a:solidFill>
                  <a:srgbClr val="134F85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构造函数。</a:t>
            </a:r>
            <a:endParaRPr lang="en-US" altLang="zh-CN" sz="2400" dirty="0">
              <a:solidFill>
                <a:srgbClr val="134F85"/>
              </a:solidFill>
              <a:latin typeface="华光行书_CNKI" panose="02000500000000000000" pitchFamily="2" charset="-122"/>
              <a:ea typeface="华光行书_CNKI" panose="02000500000000000000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2868606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EF47E8-4E45-3F3D-6141-2759067837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D089AA29-55D9-255C-6F46-69F2B712E52E}"/>
              </a:ext>
            </a:extLst>
          </p:cNvPr>
          <p:cNvSpPr/>
          <p:nvPr/>
        </p:nvSpPr>
        <p:spPr>
          <a:xfrm>
            <a:off x="794" y="176798"/>
            <a:ext cx="12190413" cy="728917"/>
          </a:xfrm>
          <a:prstGeom prst="rect">
            <a:avLst/>
          </a:prstGeom>
          <a:solidFill>
            <a:srgbClr val="26CC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3200"/>
          </a:p>
        </p:txBody>
      </p:sp>
      <p:cxnSp>
        <p:nvCxnSpPr>
          <p:cNvPr id="7" name="直线连接符 6">
            <a:extLst>
              <a:ext uri="{FF2B5EF4-FFF2-40B4-BE49-F238E27FC236}">
                <a16:creationId xmlns:a16="http://schemas.microsoft.com/office/drawing/2014/main" id="{22B69681-0819-50F2-2CFC-C08B795D3879}"/>
              </a:ext>
            </a:extLst>
          </p:cNvPr>
          <p:cNvCxnSpPr/>
          <p:nvPr/>
        </p:nvCxnSpPr>
        <p:spPr>
          <a:xfrm>
            <a:off x="1587" y="905715"/>
            <a:ext cx="12190413" cy="0"/>
          </a:xfrm>
          <a:prstGeom prst="line">
            <a:avLst/>
          </a:prstGeom>
          <a:ln>
            <a:solidFill>
              <a:srgbClr val="104D7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文本框 14">
            <a:extLst>
              <a:ext uri="{FF2B5EF4-FFF2-40B4-BE49-F238E27FC236}">
                <a16:creationId xmlns:a16="http://schemas.microsoft.com/office/drawing/2014/main" id="{667D7F80-BE93-F2C3-2605-49828A1E458F}"/>
              </a:ext>
            </a:extLst>
          </p:cNvPr>
          <p:cNvSpPr txBox="1"/>
          <p:nvPr/>
        </p:nvSpPr>
        <p:spPr>
          <a:xfrm>
            <a:off x="247719" y="166652"/>
            <a:ext cx="802877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kumimoji="1" sz="3200" b="1">
                <a:latin typeface="华光胖头鱼_CNKI" panose="02000500000000000000" pitchFamily="2" charset="-122"/>
                <a:ea typeface="华光胖头鱼_CNKI" panose="02000500000000000000" pitchFamily="2" charset="-122"/>
              </a:defRPr>
            </a:lvl1pPr>
          </a:lstStyle>
          <a:p>
            <a:r>
              <a:rPr lang="en-US" altLang="zh-CN" dirty="0"/>
              <a:t>7.4</a:t>
            </a:r>
            <a:r>
              <a:rPr lang="zh-CN" altLang="en-US" dirty="0">
                <a:sym typeface="+mn-lt"/>
              </a:rPr>
              <a:t>组合类</a:t>
            </a:r>
            <a:endParaRPr lang="zh-CN" altLang="en-US" dirty="0"/>
          </a:p>
        </p:txBody>
      </p:sp>
      <p:sp>
        <p:nvSpPr>
          <p:cNvPr id="25" name="矩形 2">
            <a:extLst>
              <a:ext uri="{FF2B5EF4-FFF2-40B4-BE49-F238E27FC236}">
                <a16:creationId xmlns:a16="http://schemas.microsoft.com/office/drawing/2014/main" id="{2AA2485B-581A-8B36-2332-D62361B48C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62105" y="200266"/>
            <a:ext cx="745147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r>
              <a:rPr lang="zh-CN" altLang="en-US" sz="2400" b="0" dirty="0">
                <a:solidFill>
                  <a:srgbClr val="104E87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设计一个表示二维平面的线段类，计算线段的长度。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6F81AB81-6535-5567-AB74-C6F8842EFB1E}"/>
              </a:ext>
            </a:extLst>
          </p:cNvPr>
          <p:cNvSpPr txBox="1"/>
          <p:nvPr/>
        </p:nvSpPr>
        <p:spPr>
          <a:xfrm>
            <a:off x="6614989" y="3715645"/>
            <a:ext cx="5395109" cy="2554545"/>
          </a:xfrm>
          <a:prstGeom prst="rect">
            <a:avLst/>
          </a:prstGeom>
          <a:solidFill>
            <a:srgbClr val="9FCDF3"/>
          </a:solidFill>
          <a:ln>
            <a:noFill/>
          </a:ln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2000" b="0">
                <a:solidFill>
                  <a:srgbClr val="104E87"/>
                </a:solidFill>
                <a:latin typeface="Comic Sans MS" panose="030F0702030302020204" pitchFamily="66" charset="0"/>
                <a:ea typeface="楷体_GB2312" pitchFamily="49" charset="-122"/>
              </a:defRPr>
            </a:lvl1pPr>
            <a:lvl2pPr marL="742950" indent="-285750">
              <a:defRPr sz="2000" b="1"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000" b="1"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000" b="1"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000" b="1"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r>
              <a:rPr lang="zh-CN" altLang="en-US" spc="-100" dirty="0"/>
              <a:t>Point::Point(int xx, int yy){</a:t>
            </a:r>
          </a:p>
          <a:p>
            <a:r>
              <a:rPr lang="zh-CN" altLang="en-US" spc="-100" dirty="0"/>
              <a:t> x = xx; y = yy;</a:t>
            </a:r>
          </a:p>
          <a:p>
            <a:r>
              <a:rPr lang="zh-CN" altLang="en-US" spc="-100" dirty="0"/>
              <a:t>cout &lt;&lt; "Calling constructor of Point\n";</a:t>
            </a:r>
          </a:p>
          <a:p>
            <a:r>
              <a:rPr lang="zh-CN" altLang="en-US" spc="-100" dirty="0"/>
              <a:t>}</a:t>
            </a:r>
          </a:p>
          <a:p>
            <a:r>
              <a:rPr lang="zh-CN" altLang="en-US" spc="-100" dirty="0"/>
              <a:t>Point::Point(Point &amp;p) {</a:t>
            </a:r>
          </a:p>
          <a:p>
            <a:r>
              <a:rPr lang="zh-CN" altLang="en-US" spc="-100" dirty="0"/>
              <a:t> x = p.x; y = p.y;</a:t>
            </a:r>
          </a:p>
          <a:p>
            <a:r>
              <a:rPr lang="zh-CN" altLang="en-US" spc="-100" dirty="0"/>
              <a:t>cout &lt;&lt; "Calling copy constructor of Point\n";</a:t>
            </a:r>
          </a:p>
          <a:p>
            <a:r>
              <a:rPr lang="zh-CN" altLang="en-US" spc="-100" dirty="0"/>
              <a:t>}</a:t>
            </a: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9EE54F88-12D4-E9F5-4D51-3F78F26D1FAB}"/>
              </a:ext>
            </a:extLst>
          </p:cNvPr>
          <p:cNvSpPr txBox="1"/>
          <p:nvPr/>
        </p:nvSpPr>
        <p:spPr>
          <a:xfrm>
            <a:off x="6578233" y="1033408"/>
            <a:ext cx="5396696" cy="2554545"/>
          </a:xfrm>
          <a:prstGeom prst="rect">
            <a:avLst/>
          </a:prstGeom>
          <a:solidFill>
            <a:srgbClr val="9FCDF3"/>
          </a:solidFill>
          <a:ln>
            <a:noFill/>
          </a:ln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2000" b="0">
                <a:solidFill>
                  <a:srgbClr val="104E87"/>
                </a:solidFill>
                <a:latin typeface="Comic Sans MS" panose="030F0702030302020204" pitchFamily="66" charset="0"/>
                <a:ea typeface="楷体_GB2312" pitchFamily="49" charset="-122"/>
              </a:defRPr>
            </a:lvl1pPr>
            <a:lvl2pPr marL="742950" indent="-285750">
              <a:defRPr sz="2000" b="1"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lvl="2" indent="-228600">
              <a:defRPr sz="2000" b="0">
                <a:solidFill>
                  <a:srgbClr val="104E87"/>
                </a:solidFill>
                <a:latin typeface="Comic Sans MS" panose="030F0702030302020204" pitchFamily="66" charset="0"/>
                <a:ea typeface="楷体_GB2312" pitchFamily="49" charset="-122"/>
              </a:defRPr>
            </a:lvl3pPr>
            <a:lvl4pPr marL="1600200" indent="-228600">
              <a:defRPr sz="2000" b="1"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000" b="1"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r>
              <a:rPr lang="zh-CN" altLang="en-US" dirty="0"/>
              <a:t>class Point {</a:t>
            </a:r>
          </a:p>
          <a:p>
            <a:r>
              <a:rPr lang="zh-CN" altLang="en-US" dirty="0"/>
              <a:t>public: Point(int xx=0, int yy=0);   </a:t>
            </a:r>
          </a:p>
          <a:p>
            <a:r>
              <a:rPr lang="zh-CN" altLang="en-US" dirty="0"/>
              <a:t>  	Point(Point &amp;p);</a:t>
            </a:r>
          </a:p>
          <a:p>
            <a:r>
              <a:rPr lang="zh-CN" altLang="en-US" dirty="0"/>
              <a:t>	void setXY(int xx , int yy){x=xx; y=yy;};</a:t>
            </a:r>
          </a:p>
          <a:p>
            <a:r>
              <a:rPr lang="zh-CN" altLang="en-US" dirty="0"/>
              <a:t>	int getX() { return x; }</a:t>
            </a:r>
          </a:p>
          <a:p>
            <a:r>
              <a:rPr lang="zh-CN" altLang="en-US" dirty="0"/>
              <a:t>	int getY() { return y; }</a:t>
            </a:r>
          </a:p>
          <a:p>
            <a:r>
              <a:rPr lang="zh-CN" altLang="en-US" dirty="0"/>
              <a:t>private:  int x, y;</a:t>
            </a:r>
          </a:p>
          <a:p>
            <a:r>
              <a:rPr lang="zh-CN" altLang="en-US" dirty="0"/>
              <a:t>};</a:t>
            </a:r>
          </a:p>
        </p:txBody>
      </p:sp>
      <p:sp>
        <p:nvSpPr>
          <p:cNvPr id="2" name="Text Box 12">
            <a:extLst>
              <a:ext uri="{FF2B5EF4-FFF2-40B4-BE49-F238E27FC236}">
                <a16:creationId xmlns:a16="http://schemas.microsoft.com/office/drawing/2014/main" id="{C0E0B758-B630-FA4C-C1AA-E0694EC483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88" y="1033408"/>
            <a:ext cx="6576645" cy="15696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SzPct val="70000"/>
              <a:buFont typeface="Wingdings" pitchFamily="2" charset="2"/>
              <a:buChar char="o"/>
              <a:defRPr sz="32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n"/>
              <a:defRPr sz="28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o"/>
              <a:defRPr sz="24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n"/>
              <a:defRPr sz="20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lang="zh-CN" altLang="en-US" sz="2400" dirty="0">
                <a:solidFill>
                  <a:srgbClr val="134F85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抽象实例</a:t>
            </a:r>
            <a:r>
              <a:rPr lang="en-US" altLang="zh-CN" sz="2400" dirty="0">
                <a:solidFill>
                  <a:srgbClr val="134F85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——</a:t>
            </a:r>
            <a:r>
              <a:rPr lang="zh-CN" altLang="en-US" sz="2400" dirty="0">
                <a:solidFill>
                  <a:srgbClr val="134F85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点</a:t>
            </a:r>
            <a:endParaRPr lang="en-US" altLang="zh-CN" sz="2400" dirty="0">
              <a:solidFill>
                <a:srgbClr val="134F85"/>
              </a:solidFill>
              <a:latin typeface="华光行书_CNKI" panose="02000500000000000000" pitchFamily="2" charset="-122"/>
              <a:ea typeface="华光行书_CNKI" panose="02000500000000000000" pitchFamily="2" charset="-122"/>
            </a:endParaRPr>
          </a:p>
          <a:p>
            <a:pPr marL="342900" indent="-342900" defTabSz="622300" eaLnBrk="1" hangingPunct="1">
              <a:spcBef>
                <a:spcPct val="50000"/>
              </a:spcBef>
              <a:buClrTx/>
              <a:buSzTx/>
              <a:buFont typeface="Wingdings" pitchFamily="2" charset="2"/>
              <a:buBlip>
                <a:blip r:embed="rId3"/>
              </a:buBlip>
              <a:defRPr/>
            </a:pPr>
            <a:r>
              <a:rPr lang="zh-CN" altLang="en-US" sz="2400" dirty="0">
                <a:solidFill>
                  <a:srgbClr val="134F85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数据</a:t>
            </a:r>
            <a:r>
              <a:rPr lang="zh-CN" altLang="en-US" sz="2400" dirty="0">
                <a:solidFill>
                  <a:srgbClr val="FF0000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抽象</a:t>
            </a:r>
            <a:r>
              <a:rPr lang="zh-CN" altLang="en-US" sz="2400" dirty="0">
                <a:solidFill>
                  <a:srgbClr val="134F85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：</a:t>
            </a:r>
            <a:r>
              <a:rPr lang="en-US" altLang="zh-CN" sz="2400" dirty="0">
                <a:solidFill>
                  <a:srgbClr val="134F85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int x</a:t>
            </a:r>
            <a:r>
              <a:rPr lang="zh-CN" altLang="en-US" sz="2400" dirty="0">
                <a:solidFill>
                  <a:srgbClr val="134F85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，</a:t>
            </a:r>
            <a:r>
              <a:rPr lang="en-US" altLang="zh-CN" sz="2400" dirty="0">
                <a:solidFill>
                  <a:srgbClr val="134F85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y</a:t>
            </a:r>
          </a:p>
          <a:p>
            <a:pPr marL="342900" indent="-342900" eaLnBrk="1" hangingPunct="1">
              <a:spcBef>
                <a:spcPct val="50000"/>
              </a:spcBef>
              <a:buClrTx/>
              <a:buSzTx/>
              <a:buFont typeface="Wingdings" pitchFamily="2" charset="2"/>
              <a:buBlip>
                <a:blip r:embed="rId3"/>
              </a:buBlip>
              <a:defRPr/>
            </a:pPr>
            <a:r>
              <a:rPr lang="zh-CN" altLang="en-US" sz="2400" dirty="0">
                <a:solidFill>
                  <a:srgbClr val="134F85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代码</a:t>
            </a:r>
            <a:r>
              <a:rPr lang="zh-CN" altLang="en-US" sz="2400" dirty="0">
                <a:solidFill>
                  <a:srgbClr val="FF0000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抽象</a:t>
            </a:r>
            <a:r>
              <a:rPr lang="zh-CN" altLang="en-US" sz="2400" dirty="0">
                <a:solidFill>
                  <a:srgbClr val="134F85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：</a:t>
            </a:r>
            <a:r>
              <a:rPr lang="en-US" altLang="zh-CN" sz="2400" dirty="0" err="1">
                <a:solidFill>
                  <a:srgbClr val="134F85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setXY</a:t>
            </a:r>
            <a:r>
              <a:rPr lang="en-US" altLang="zh-CN" sz="2400" dirty="0">
                <a:solidFill>
                  <a:srgbClr val="134F85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(), </a:t>
            </a:r>
            <a:r>
              <a:rPr lang="en-US" altLang="zh-CN" sz="2400" dirty="0" err="1">
                <a:solidFill>
                  <a:srgbClr val="134F85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getX</a:t>
            </a:r>
            <a:r>
              <a:rPr lang="en-US" altLang="zh-CN" sz="2400" dirty="0">
                <a:solidFill>
                  <a:srgbClr val="134F85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(), </a:t>
            </a:r>
            <a:r>
              <a:rPr lang="en-US" altLang="zh-CN" sz="2400" dirty="0" err="1">
                <a:solidFill>
                  <a:srgbClr val="134F85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getY</a:t>
            </a:r>
            <a:r>
              <a:rPr lang="en-US" altLang="zh-CN" sz="2400" dirty="0">
                <a:solidFill>
                  <a:srgbClr val="134F85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(),</a:t>
            </a:r>
            <a:r>
              <a:rPr lang="zh-CN" altLang="en-US" sz="2400" dirty="0">
                <a:solidFill>
                  <a:srgbClr val="134F85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构造函数。</a:t>
            </a:r>
            <a:endParaRPr lang="en-US" altLang="zh-CN" sz="2400" dirty="0">
              <a:solidFill>
                <a:srgbClr val="134F85"/>
              </a:solidFill>
              <a:latin typeface="华光行书_CNKI" panose="02000500000000000000" pitchFamily="2" charset="-122"/>
              <a:ea typeface="华光行书_CNKI" panose="02000500000000000000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8021678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/>
      </p:transition>
    </mc:Choice>
    <mc:Fallback xmlns=""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794" y="176798"/>
            <a:ext cx="12190413" cy="728917"/>
          </a:xfrm>
          <a:prstGeom prst="rect">
            <a:avLst/>
          </a:prstGeom>
          <a:solidFill>
            <a:srgbClr val="26CC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3200"/>
          </a:p>
        </p:txBody>
      </p:sp>
      <p:cxnSp>
        <p:nvCxnSpPr>
          <p:cNvPr id="7" name="直线连接符 6"/>
          <p:cNvCxnSpPr/>
          <p:nvPr/>
        </p:nvCxnSpPr>
        <p:spPr>
          <a:xfrm>
            <a:off x="1587" y="905715"/>
            <a:ext cx="12190413" cy="0"/>
          </a:xfrm>
          <a:prstGeom prst="line">
            <a:avLst/>
          </a:prstGeom>
          <a:ln>
            <a:solidFill>
              <a:srgbClr val="104D7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文本框 14">
            <a:extLst>
              <a:ext uri="{FF2B5EF4-FFF2-40B4-BE49-F238E27FC236}">
                <a16:creationId xmlns:a16="http://schemas.microsoft.com/office/drawing/2014/main" id="{F679EBDF-50D5-4277-BF34-39B775231134}"/>
              </a:ext>
            </a:extLst>
          </p:cNvPr>
          <p:cNvSpPr txBox="1"/>
          <p:nvPr/>
        </p:nvSpPr>
        <p:spPr>
          <a:xfrm>
            <a:off x="247719" y="166652"/>
            <a:ext cx="802877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kumimoji="1" sz="3200" b="1">
                <a:latin typeface="华光胖头鱼_CNKI" panose="02000500000000000000" pitchFamily="2" charset="-122"/>
                <a:ea typeface="华光胖头鱼_CNKI" panose="02000500000000000000" pitchFamily="2" charset="-122"/>
              </a:defRPr>
            </a:lvl1pPr>
          </a:lstStyle>
          <a:p>
            <a:r>
              <a:rPr lang="en-US" altLang="zh-CN" dirty="0"/>
              <a:t>7.4</a:t>
            </a:r>
            <a:r>
              <a:rPr lang="zh-CN" altLang="en-US" dirty="0">
                <a:sym typeface="+mn-lt"/>
              </a:rPr>
              <a:t>组合类</a:t>
            </a:r>
            <a:endParaRPr lang="zh-CN" altLang="en-US" dirty="0"/>
          </a:p>
        </p:txBody>
      </p:sp>
      <p:sp>
        <p:nvSpPr>
          <p:cNvPr id="25" name="矩形 2">
            <a:extLst>
              <a:ext uri="{FF2B5EF4-FFF2-40B4-BE49-F238E27FC236}">
                <a16:creationId xmlns:a16="http://schemas.microsoft.com/office/drawing/2014/main" id="{76CD5028-5C9E-4D75-BC07-4E58B71F51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62105" y="200266"/>
            <a:ext cx="745147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r>
              <a:rPr lang="zh-CN" altLang="en-US" sz="2400" b="0" dirty="0">
                <a:solidFill>
                  <a:srgbClr val="104E87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设计一个表示二维平面的线段类，计算线段的长度。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643C9C59-4F24-4051-B83C-A104AC46D19C}"/>
              </a:ext>
            </a:extLst>
          </p:cNvPr>
          <p:cNvSpPr txBox="1"/>
          <p:nvPr/>
        </p:nvSpPr>
        <p:spPr>
          <a:xfrm>
            <a:off x="5930266" y="896079"/>
            <a:ext cx="6166415" cy="1938992"/>
          </a:xfrm>
          <a:prstGeom prst="rect">
            <a:avLst/>
          </a:prstGeom>
          <a:solidFill>
            <a:srgbClr val="FFCE33"/>
          </a:solidFill>
          <a:ln>
            <a:noFill/>
          </a:ln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2000" b="0">
                <a:solidFill>
                  <a:srgbClr val="104E87"/>
                </a:solidFill>
                <a:latin typeface="Comic Sans MS" panose="030F0702030302020204" pitchFamily="66" charset="0"/>
                <a:ea typeface="楷体_GB2312" pitchFamily="49" charset="-122"/>
              </a:defRPr>
            </a:lvl1pPr>
            <a:lvl2pPr marL="742950" indent="-285750">
              <a:defRPr sz="2000" b="1"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lvl="2" indent="-228600">
              <a:defRPr sz="2000" b="0">
                <a:solidFill>
                  <a:srgbClr val="104E87"/>
                </a:solidFill>
                <a:latin typeface="Comic Sans MS" panose="030F0702030302020204" pitchFamily="66" charset="0"/>
                <a:ea typeface="楷体_GB2312" pitchFamily="49" charset="-122"/>
              </a:defRPr>
            </a:lvl3pPr>
            <a:lvl4pPr marL="1600200" indent="-228600">
              <a:defRPr sz="2000" b="1"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000" b="1"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r>
              <a:rPr lang="zh-CN" altLang="en-US" dirty="0"/>
              <a:t>class Line {</a:t>
            </a:r>
          </a:p>
          <a:p>
            <a:r>
              <a:rPr lang="zh-CN" altLang="en-US" dirty="0"/>
              <a:t>public: Line(Point xp1, Point xp2);</a:t>
            </a:r>
          </a:p>
          <a:p>
            <a:r>
              <a:rPr lang="zh-CN" altLang="en-US" dirty="0"/>
              <a:t>	    Line(Line &amp;lin);</a:t>
            </a:r>
          </a:p>
          <a:p>
            <a:r>
              <a:rPr lang="zh-CN" altLang="en-US" dirty="0"/>
              <a:t>	    double getLen(); </a:t>
            </a:r>
          </a:p>
          <a:p>
            <a:r>
              <a:rPr lang="zh-CN" altLang="en-US" dirty="0"/>
              <a:t>private: Point p1, p2;</a:t>
            </a:r>
          </a:p>
          <a:p>
            <a:r>
              <a:rPr lang="zh-CN" altLang="en-US" dirty="0"/>
              <a:t>};</a:t>
            </a:r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551D132F-498C-6920-A0DA-5830D86428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319" y="2527179"/>
            <a:ext cx="8375650" cy="892552"/>
          </a:xfrm>
          <a:prstGeom prst="rect">
            <a:avLst/>
          </a:prstGeom>
          <a:noFill/>
          <a:ln>
            <a:noFill/>
          </a:ln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SzPct val="70000"/>
              <a:buFont typeface="Wingdings" pitchFamily="2" charset="2"/>
              <a:buChar char="o"/>
              <a:defRPr sz="32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n"/>
              <a:defRPr sz="28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o"/>
              <a:defRPr sz="24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n"/>
              <a:defRPr sz="20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zh-CN" altLang="en-US" sz="2800" dirty="0">
                <a:solidFill>
                  <a:srgbClr val="104E87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组合类构造函数</a:t>
            </a:r>
            <a:endParaRPr lang="en-US" altLang="zh-CN" sz="2800" dirty="0">
              <a:solidFill>
                <a:srgbClr val="104E87"/>
              </a:solidFill>
              <a:latin typeface="华光行书_CNKI" panose="02000500000000000000" pitchFamily="2" charset="-122"/>
              <a:ea typeface="华光行书_CNKI" panose="02000500000000000000" pitchFamily="2" charset="-122"/>
            </a:endParaRPr>
          </a:p>
          <a:p>
            <a:pPr marL="457200" indent="-457200" eaLnBrk="1" hangingPunct="1">
              <a:spcBef>
                <a:spcPct val="0"/>
              </a:spcBef>
              <a:buClrTx/>
              <a:buSzTx/>
              <a:buFont typeface="Wingdings" pitchFamily="2" charset="2"/>
              <a:buBlip>
                <a:blip r:embed="rId3"/>
              </a:buBlip>
              <a:defRPr/>
            </a:pPr>
            <a:r>
              <a:rPr lang="zh-CN" altLang="en-US" sz="2400" b="0" dirty="0">
                <a:solidFill>
                  <a:srgbClr val="104E87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不仅要负责本类成员数据初始化，还要对对象成员初始化</a:t>
            </a:r>
            <a:endParaRPr lang="en-US" altLang="zh-CN" sz="2400" b="0" dirty="0">
              <a:solidFill>
                <a:srgbClr val="104E87"/>
              </a:solidFill>
              <a:latin typeface="华光行书_CNKI" panose="02000500000000000000" pitchFamily="2" charset="-122"/>
              <a:ea typeface="华光行书_CNKI" panose="02000500000000000000" pitchFamily="2" charset="-122"/>
            </a:endParaRPr>
          </a:p>
        </p:txBody>
      </p:sp>
      <p:sp>
        <p:nvSpPr>
          <p:cNvPr id="8" name="Text Box 12">
            <a:extLst>
              <a:ext uri="{FF2B5EF4-FFF2-40B4-BE49-F238E27FC236}">
                <a16:creationId xmlns:a16="http://schemas.microsoft.com/office/drawing/2014/main" id="{CA6A8736-9A9E-CAF6-AC96-F36642FF1A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5319" y="890349"/>
            <a:ext cx="5121451" cy="1354217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SzPct val="70000"/>
              <a:buFont typeface="Wingdings" pitchFamily="2" charset="2"/>
              <a:buChar char="o"/>
              <a:defRPr sz="32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n"/>
              <a:defRPr sz="28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o"/>
              <a:defRPr sz="24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n"/>
              <a:defRPr sz="20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ts val="600"/>
              </a:spcBef>
              <a:buClrTx/>
              <a:buSzTx/>
              <a:buFontTx/>
              <a:buNone/>
              <a:defRPr/>
            </a:pPr>
            <a:r>
              <a:rPr lang="zh-CN" altLang="en-US" sz="2400" dirty="0">
                <a:solidFill>
                  <a:srgbClr val="134F85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抽象实例</a:t>
            </a:r>
            <a:r>
              <a:rPr lang="en-US" altLang="zh-CN" sz="2400" dirty="0">
                <a:solidFill>
                  <a:srgbClr val="134F85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——</a:t>
            </a:r>
            <a:r>
              <a:rPr lang="zh-CN" altLang="en-US" sz="2400" dirty="0">
                <a:solidFill>
                  <a:srgbClr val="134F85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线段</a:t>
            </a:r>
            <a:endParaRPr lang="en-US" altLang="zh-CN" sz="2400" dirty="0">
              <a:solidFill>
                <a:srgbClr val="134F85"/>
              </a:solidFill>
              <a:latin typeface="华光行书_CNKI" panose="02000500000000000000" pitchFamily="2" charset="-122"/>
              <a:ea typeface="华光行书_CNKI" panose="02000500000000000000" pitchFamily="2" charset="-122"/>
            </a:endParaRPr>
          </a:p>
          <a:p>
            <a:pPr marL="342900" indent="-342900" defTabSz="622300" eaLnBrk="1" hangingPunct="1">
              <a:spcBef>
                <a:spcPts val="600"/>
              </a:spcBef>
              <a:buClrTx/>
              <a:buSzTx/>
              <a:buFont typeface="Wingdings" pitchFamily="2" charset="2"/>
              <a:buBlip>
                <a:blip r:embed="rId3"/>
              </a:buBlip>
              <a:defRPr/>
            </a:pPr>
            <a:r>
              <a:rPr lang="zh-CN" altLang="en-US" sz="2400" dirty="0">
                <a:solidFill>
                  <a:srgbClr val="134F85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数据</a:t>
            </a:r>
            <a:r>
              <a:rPr lang="zh-CN" altLang="en-US" sz="2400" dirty="0">
                <a:solidFill>
                  <a:srgbClr val="FF0000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抽象</a:t>
            </a:r>
            <a:r>
              <a:rPr lang="zh-CN" altLang="en-US" sz="2400" dirty="0">
                <a:solidFill>
                  <a:srgbClr val="134F85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：</a:t>
            </a:r>
            <a:r>
              <a:rPr lang="en-US" altLang="zh-CN" sz="2400" dirty="0">
                <a:solidFill>
                  <a:srgbClr val="134F85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point p1,p2</a:t>
            </a:r>
          </a:p>
          <a:p>
            <a:pPr marL="342900" indent="-342900" eaLnBrk="1" hangingPunct="1">
              <a:spcBef>
                <a:spcPts val="600"/>
              </a:spcBef>
              <a:buClrTx/>
              <a:buSzTx/>
              <a:buFont typeface="Wingdings" pitchFamily="2" charset="2"/>
              <a:buBlip>
                <a:blip r:embed="rId3"/>
              </a:buBlip>
              <a:defRPr/>
            </a:pPr>
            <a:r>
              <a:rPr lang="zh-CN" altLang="en-US" sz="2400" dirty="0">
                <a:solidFill>
                  <a:srgbClr val="134F85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代码</a:t>
            </a:r>
            <a:r>
              <a:rPr lang="zh-CN" altLang="en-US" sz="2400" dirty="0">
                <a:solidFill>
                  <a:srgbClr val="FF0000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抽象</a:t>
            </a:r>
            <a:r>
              <a:rPr lang="zh-CN" altLang="en-US" sz="2400" dirty="0">
                <a:solidFill>
                  <a:srgbClr val="134F85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：</a:t>
            </a:r>
            <a:r>
              <a:rPr lang="en-US" altLang="zh-CN" sz="2400" dirty="0" err="1">
                <a:solidFill>
                  <a:srgbClr val="134F85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getLine</a:t>
            </a:r>
            <a:r>
              <a:rPr lang="en-US" altLang="zh-CN" sz="2400" dirty="0">
                <a:solidFill>
                  <a:srgbClr val="134F85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()</a:t>
            </a:r>
            <a:r>
              <a:rPr lang="zh-CN" altLang="en-US" sz="2400" dirty="0">
                <a:solidFill>
                  <a:srgbClr val="134F85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，构造函数。</a:t>
            </a:r>
            <a:endParaRPr lang="en-US" altLang="zh-CN" sz="2400" dirty="0">
              <a:solidFill>
                <a:srgbClr val="134F85"/>
              </a:solidFill>
              <a:latin typeface="华光行书_CNKI" panose="02000500000000000000" pitchFamily="2" charset="-122"/>
              <a:ea typeface="华光行书_CNKI" panose="02000500000000000000" pitchFamily="2" charset="-122"/>
            </a:endParaRPr>
          </a:p>
        </p:txBody>
      </p:sp>
      <p:sp>
        <p:nvSpPr>
          <p:cNvPr id="9" name="Rectangle 7">
            <a:extLst>
              <a:ext uri="{FF2B5EF4-FFF2-40B4-BE49-F238E27FC236}">
                <a16:creationId xmlns:a16="http://schemas.microsoft.com/office/drawing/2014/main" id="{8B80C750-0CD3-25C9-2379-201107763D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662" y="3702344"/>
            <a:ext cx="6191250" cy="523875"/>
          </a:xfrm>
          <a:prstGeom prst="rect">
            <a:avLst/>
          </a:prstGeom>
          <a:noFill/>
          <a:ln>
            <a:noFill/>
          </a:ln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SzPct val="70000"/>
              <a:buFont typeface="Wingdings" pitchFamily="2" charset="2"/>
              <a:buChar char="o"/>
              <a:defRPr sz="32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n"/>
              <a:defRPr sz="28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o"/>
              <a:defRPr sz="24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n"/>
              <a:defRPr sz="20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zh-CN" altLang="en-US" sz="2800" b="0" dirty="0">
                <a:solidFill>
                  <a:srgbClr val="104E87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如何调用对象成员带参的构造函数？</a:t>
            </a:r>
            <a:endParaRPr lang="en-US" altLang="zh-CN" sz="2800" b="0" dirty="0">
              <a:solidFill>
                <a:srgbClr val="104E87"/>
              </a:solidFill>
              <a:latin typeface="华光行书_CNKI" panose="02000500000000000000" pitchFamily="2" charset="-122"/>
              <a:ea typeface="华光行书_CNKI" panose="02000500000000000000" pitchFamily="2" charset="-122"/>
            </a:endParaRPr>
          </a:p>
        </p:txBody>
      </p:sp>
      <p:sp>
        <p:nvSpPr>
          <p:cNvPr id="10" name="矩形 4">
            <a:extLst>
              <a:ext uri="{FF2B5EF4-FFF2-40B4-BE49-F238E27FC236}">
                <a16:creationId xmlns:a16="http://schemas.microsoft.com/office/drawing/2014/main" id="{D9CFC53A-19BB-4C85-0BB9-E8BA758CFA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137903"/>
            <a:ext cx="9530462" cy="6848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Char char="o"/>
              <a:defRPr sz="32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o"/>
              <a:defRPr sz="24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n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457200" indent="-457200">
              <a:lnSpc>
                <a:spcPct val="150000"/>
              </a:lnSpc>
              <a:spcBef>
                <a:spcPct val="0"/>
              </a:spcBef>
              <a:buClrTx/>
              <a:buSzTx/>
              <a:buBlip>
                <a:blip r:embed="rId3"/>
              </a:buBlip>
              <a:defRPr/>
            </a:pPr>
            <a:r>
              <a:rPr lang="zh-CN" altLang="en-US" sz="2400" dirty="0">
                <a:solidFill>
                  <a:srgbClr val="104E87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通过</a:t>
            </a:r>
            <a:r>
              <a:rPr lang="zh-CN" altLang="zh-CN" sz="2800" dirty="0">
                <a:solidFill>
                  <a:srgbClr val="FF0000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构造函数的初始化列表</a:t>
            </a:r>
            <a:r>
              <a:rPr lang="zh-CN" altLang="en-US" sz="2400" dirty="0">
                <a:solidFill>
                  <a:srgbClr val="104E87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，给带参构造函数传递参数</a:t>
            </a:r>
            <a:endParaRPr lang="zh-CN" altLang="zh-CN" sz="2400" dirty="0">
              <a:solidFill>
                <a:srgbClr val="104E87"/>
              </a:solidFill>
              <a:latin typeface="华光行书_CNKI" panose="02000500000000000000" pitchFamily="2" charset="-122"/>
              <a:ea typeface="华光行书_CNKI" panose="02000500000000000000" pitchFamily="2" charset="-122"/>
            </a:endParaRPr>
          </a:p>
        </p:txBody>
      </p:sp>
      <p:sp>
        <p:nvSpPr>
          <p:cNvPr id="11" name="Rectangle 7">
            <a:extLst>
              <a:ext uri="{FF2B5EF4-FFF2-40B4-BE49-F238E27FC236}">
                <a16:creationId xmlns:a16="http://schemas.microsoft.com/office/drawing/2014/main" id="{5B092132-72ED-2EAE-117B-FD5FFCE20B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662" y="4947949"/>
            <a:ext cx="9802505" cy="156966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SzPct val="70000"/>
              <a:buFont typeface="Wingdings" pitchFamily="2" charset="2"/>
              <a:buChar char="o"/>
              <a:defRPr sz="32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n"/>
              <a:defRPr sz="28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o"/>
              <a:defRPr sz="24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n"/>
              <a:defRPr sz="20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spcAft>
                <a:spcPts val="1200"/>
              </a:spcAft>
              <a:buClrTx/>
              <a:buSzTx/>
              <a:buFontTx/>
              <a:buNone/>
              <a:defRPr/>
            </a:pPr>
            <a:r>
              <a:rPr lang="zh-CN" altLang="en-US" sz="2800" dirty="0">
                <a:solidFill>
                  <a:srgbClr val="104E87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组合类构造函数构造顺序：</a:t>
            </a:r>
            <a:endParaRPr lang="en-US" altLang="zh-CN" sz="2800" dirty="0">
              <a:solidFill>
                <a:srgbClr val="104E87"/>
              </a:solidFill>
              <a:latin typeface="华光行书_CNKI" panose="02000500000000000000" pitchFamily="2" charset="-122"/>
              <a:ea typeface="华光行书_CNKI" panose="02000500000000000000" pitchFamily="2" charset="-122"/>
            </a:endParaRPr>
          </a:p>
          <a:p>
            <a:pPr marL="457200" indent="-457200" eaLnBrk="1" hangingPunct="1">
              <a:spcBef>
                <a:spcPct val="0"/>
              </a:spcBef>
              <a:spcAft>
                <a:spcPts val="1200"/>
              </a:spcAft>
              <a:buClrTx/>
              <a:buSzTx/>
              <a:buFont typeface="Wingdings" pitchFamily="2" charset="2"/>
              <a:buBlip>
                <a:blip r:embed="rId3"/>
              </a:buBlip>
              <a:defRPr/>
            </a:pPr>
            <a:r>
              <a:rPr lang="zh-CN" altLang="en-US" sz="2400" b="0" dirty="0">
                <a:solidFill>
                  <a:srgbClr val="104E87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先执行对象成员构造函数，再执行组合类构造函数</a:t>
            </a:r>
            <a:endParaRPr lang="en-US" altLang="zh-CN" sz="2400" b="0" dirty="0">
              <a:solidFill>
                <a:srgbClr val="104E87"/>
              </a:solidFill>
              <a:latin typeface="华光行书_CNKI" panose="02000500000000000000" pitchFamily="2" charset="-122"/>
              <a:ea typeface="华光行书_CNKI" panose="02000500000000000000" pitchFamily="2" charset="-122"/>
            </a:endParaRPr>
          </a:p>
          <a:p>
            <a:pPr marL="457200" indent="-457200" eaLnBrk="1" hangingPunct="1">
              <a:spcBef>
                <a:spcPct val="0"/>
              </a:spcBef>
              <a:spcAft>
                <a:spcPts val="1200"/>
              </a:spcAft>
              <a:buClrTx/>
              <a:buSzTx/>
              <a:buFont typeface="Wingdings" pitchFamily="2" charset="2"/>
              <a:buBlip>
                <a:blip r:embed="rId3"/>
              </a:buBlip>
              <a:defRPr/>
            </a:pPr>
            <a:r>
              <a:rPr lang="zh-CN" altLang="en-US" sz="2400" b="0" dirty="0">
                <a:solidFill>
                  <a:srgbClr val="104E87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如果有多个对象成员，按对象成员的定义顺序执行相应构造函数</a:t>
            </a:r>
            <a:endParaRPr lang="en-US" altLang="zh-CN" sz="2400" b="0" dirty="0">
              <a:solidFill>
                <a:srgbClr val="104E87"/>
              </a:solidFill>
              <a:latin typeface="华光行书_CNKI" panose="02000500000000000000" pitchFamily="2" charset="-122"/>
              <a:ea typeface="华光行书_CNKI" panose="02000500000000000000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656896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9" dur="5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4" dur="5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9" grpId="0"/>
      <p:bldP spid="10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08975F-2D6C-5646-1AC1-5CA6DCA4B8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F34918B0-CAE6-7F39-8E77-8228EE692947}"/>
              </a:ext>
            </a:extLst>
          </p:cNvPr>
          <p:cNvSpPr/>
          <p:nvPr/>
        </p:nvSpPr>
        <p:spPr>
          <a:xfrm>
            <a:off x="794" y="176798"/>
            <a:ext cx="12190413" cy="728917"/>
          </a:xfrm>
          <a:prstGeom prst="rect">
            <a:avLst/>
          </a:prstGeom>
          <a:solidFill>
            <a:srgbClr val="26CC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3200"/>
          </a:p>
        </p:txBody>
      </p:sp>
      <p:cxnSp>
        <p:nvCxnSpPr>
          <p:cNvPr id="7" name="直线连接符 6">
            <a:extLst>
              <a:ext uri="{FF2B5EF4-FFF2-40B4-BE49-F238E27FC236}">
                <a16:creationId xmlns:a16="http://schemas.microsoft.com/office/drawing/2014/main" id="{C57A2EC4-9495-9281-92B9-385908C97681}"/>
              </a:ext>
            </a:extLst>
          </p:cNvPr>
          <p:cNvCxnSpPr/>
          <p:nvPr/>
        </p:nvCxnSpPr>
        <p:spPr>
          <a:xfrm>
            <a:off x="1587" y="905715"/>
            <a:ext cx="12190413" cy="0"/>
          </a:xfrm>
          <a:prstGeom prst="line">
            <a:avLst/>
          </a:prstGeom>
          <a:ln>
            <a:solidFill>
              <a:srgbClr val="104D7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文本框 14">
            <a:extLst>
              <a:ext uri="{FF2B5EF4-FFF2-40B4-BE49-F238E27FC236}">
                <a16:creationId xmlns:a16="http://schemas.microsoft.com/office/drawing/2014/main" id="{7710D667-2E94-C8AD-8F5E-1328FDE32409}"/>
              </a:ext>
            </a:extLst>
          </p:cNvPr>
          <p:cNvSpPr txBox="1"/>
          <p:nvPr/>
        </p:nvSpPr>
        <p:spPr>
          <a:xfrm>
            <a:off x="247719" y="166652"/>
            <a:ext cx="802877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kumimoji="1" sz="3200" b="1">
                <a:latin typeface="华光胖头鱼_CNKI" panose="02000500000000000000" pitchFamily="2" charset="-122"/>
                <a:ea typeface="华光胖头鱼_CNKI" panose="02000500000000000000" pitchFamily="2" charset="-122"/>
              </a:defRPr>
            </a:lvl1pPr>
          </a:lstStyle>
          <a:p>
            <a:r>
              <a:rPr lang="en-US" altLang="zh-CN" dirty="0"/>
              <a:t>7.4</a:t>
            </a:r>
            <a:r>
              <a:rPr lang="zh-CN" altLang="en-US" dirty="0">
                <a:sym typeface="+mn-lt"/>
              </a:rPr>
              <a:t>组合类</a:t>
            </a:r>
            <a:endParaRPr lang="zh-CN" altLang="en-US" dirty="0"/>
          </a:p>
        </p:txBody>
      </p:sp>
      <p:sp>
        <p:nvSpPr>
          <p:cNvPr id="25" name="矩形 2">
            <a:extLst>
              <a:ext uri="{FF2B5EF4-FFF2-40B4-BE49-F238E27FC236}">
                <a16:creationId xmlns:a16="http://schemas.microsoft.com/office/drawing/2014/main" id="{F84E1B8B-CC08-A88D-32C2-451C18698D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62105" y="200266"/>
            <a:ext cx="745147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r>
              <a:rPr lang="zh-CN" altLang="en-US" sz="2400" b="0" dirty="0">
                <a:solidFill>
                  <a:srgbClr val="104E87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设计一个表示二维平面的线段类，计算线段的长度。</a:t>
            </a: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8BF3D84F-AF3A-F312-8F25-E02CD931EBCB}"/>
              </a:ext>
            </a:extLst>
          </p:cNvPr>
          <p:cNvSpPr txBox="1"/>
          <p:nvPr/>
        </p:nvSpPr>
        <p:spPr>
          <a:xfrm>
            <a:off x="0" y="981885"/>
            <a:ext cx="5396696" cy="2554545"/>
          </a:xfrm>
          <a:prstGeom prst="rect">
            <a:avLst/>
          </a:prstGeom>
          <a:solidFill>
            <a:srgbClr val="9FCDF3"/>
          </a:solidFill>
          <a:ln>
            <a:noFill/>
          </a:ln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2000" b="0">
                <a:solidFill>
                  <a:srgbClr val="104E87"/>
                </a:solidFill>
                <a:latin typeface="Comic Sans MS" panose="030F0702030302020204" pitchFamily="66" charset="0"/>
                <a:ea typeface="楷体_GB2312" pitchFamily="49" charset="-122"/>
              </a:defRPr>
            </a:lvl1pPr>
            <a:lvl2pPr marL="742950" indent="-285750">
              <a:defRPr sz="2000" b="1"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lvl="2" indent="-228600">
              <a:defRPr sz="2000" b="0">
                <a:solidFill>
                  <a:srgbClr val="104E87"/>
                </a:solidFill>
                <a:latin typeface="Comic Sans MS" panose="030F0702030302020204" pitchFamily="66" charset="0"/>
                <a:ea typeface="楷体_GB2312" pitchFamily="49" charset="-122"/>
              </a:defRPr>
            </a:lvl3pPr>
            <a:lvl4pPr marL="1600200" indent="-228600">
              <a:defRPr sz="2000" b="1"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000" b="1"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r>
              <a:rPr lang="zh-CN" altLang="en-US" dirty="0"/>
              <a:t>class Point {</a:t>
            </a:r>
          </a:p>
          <a:p>
            <a:r>
              <a:rPr lang="zh-CN" altLang="en-US" dirty="0"/>
              <a:t>public: Point(int xx=0, int yy=0);   </a:t>
            </a:r>
          </a:p>
          <a:p>
            <a:r>
              <a:rPr lang="zh-CN" altLang="en-US" dirty="0"/>
              <a:t>  	Point(Point &amp;p);</a:t>
            </a:r>
          </a:p>
          <a:p>
            <a:r>
              <a:rPr lang="zh-CN" altLang="en-US" dirty="0"/>
              <a:t>	void setXY(int xx , int yy){x=xx; y=yy;};</a:t>
            </a:r>
          </a:p>
          <a:p>
            <a:r>
              <a:rPr lang="zh-CN" altLang="en-US" dirty="0"/>
              <a:t>	int getX() { return x; }</a:t>
            </a:r>
          </a:p>
          <a:p>
            <a:r>
              <a:rPr lang="zh-CN" altLang="en-US" dirty="0"/>
              <a:t>	int getY() { return y; }</a:t>
            </a:r>
          </a:p>
          <a:p>
            <a:r>
              <a:rPr lang="zh-CN" altLang="en-US" dirty="0"/>
              <a:t>private:  int x, y;</a:t>
            </a:r>
          </a:p>
          <a:p>
            <a:r>
              <a:rPr lang="zh-CN" altLang="en-US" dirty="0"/>
              <a:t>};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F8767B7B-ED21-B7A5-6651-4A72540742A6}"/>
              </a:ext>
            </a:extLst>
          </p:cNvPr>
          <p:cNvSpPr txBox="1"/>
          <p:nvPr/>
        </p:nvSpPr>
        <p:spPr>
          <a:xfrm>
            <a:off x="5593981" y="568013"/>
            <a:ext cx="6166415" cy="1938992"/>
          </a:xfrm>
          <a:prstGeom prst="rect">
            <a:avLst/>
          </a:prstGeom>
          <a:solidFill>
            <a:srgbClr val="FFCE33"/>
          </a:solidFill>
          <a:ln>
            <a:noFill/>
          </a:ln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2000" b="0">
                <a:solidFill>
                  <a:srgbClr val="104E87"/>
                </a:solidFill>
                <a:latin typeface="Comic Sans MS" panose="030F0702030302020204" pitchFamily="66" charset="0"/>
                <a:ea typeface="楷体_GB2312" pitchFamily="49" charset="-122"/>
              </a:defRPr>
            </a:lvl1pPr>
            <a:lvl2pPr marL="742950" indent="-285750">
              <a:defRPr sz="2000" b="1"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lvl="2" indent="-228600">
              <a:defRPr sz="2000" b="0">
                <a:solidFill>
                  <a:srgbClr val="104E87"/>
                </a:solidFill>
                <a:latin typeface="Comic Sans MS" panose="030F0702030302020204" pitchFamily="66" charset="0"/>
                <a:ea typeface="楷体_GB2312" pitchFamily="49" charset="-122"/>
              </a:defRPr>
            </a:lvl3pPr>
            <a:lvl4pPr marL="1600200" indent="-228600">
              <a:defRPr sz="2000" b="1"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000" b="1"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r>
              <a:rPr lang="zh-CN" altLang="en-US" dirty="0"/>
              <a:t>class Line {</a:t>
            </a:r>
          </a:p>
          <a:p>
            <a:r>
              <a:rPr lang="zh-CN" altLang="en-US" dirty="0"/>
              <a:t>public: Line(Point xp1, Point xp2);</a:t>
            </a:r>
          </a:p>
          <a:p>
            <a:r>
              <a:rPr lang="zh-CN" altLang="en-US" dirty="0"/>
              <a:t>	    Line(Line &amp;lin);</a:t>
            </a:r>
          </a:p>
          <a:p>
            <a:r>
              <a:rPr lang="zh-CN" altLang="en-US" dirty="0"/>
              <a:t>	    double getLen(); </a:t>
            </a:r>
          </a:p>
          <a:p>
            <a:r>
              <a:rPr lang="zh-CN" altLang="en-US" dirty="0"/>
              <a:t>private: Point p1, p2;</a:t>
            </a:r>
          </a:p>
          <a:p>
            <a:r>
              <a:rPr lang="zh-CN" altLang="en-US" dirty="0"/>
              <a:t>};</a:t>
            </a: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75EC55E5-9196-3F18-A547-73BF8D2FA125}"/>
              </a:ext>
            </a:extLst>
          </p:cNvPr>
          <p:cNvSpPr txBox="1"/>
          <p:nvPr/>
        </p:nvSpPr>
        <p:spPr>
          <a:xfrm>
            <a:off x="5620990" y="2717450"/>
            <a:ext cx="6139406" cy="3785652"/>
          </a:xfrm>
          <a:prstGeom prst="rect">
            <a:avLst/>
          </a:prstGeom>
          <a:solidFill>
            <a:srgbClr val="FFCE33"/>
          </a:solidFill>
          <a:ln>
            <a:noFill/>
          </a:ln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2000" b="0">
                <a:solidFill>
                  <a:srgbClr val="104E87"/>
                </a:solidFill>
                <a:latin typeface="Comic Sans MS" panose="030F0702030302020204" pitchFamily="66" charset="0"/>
                <a:ea typeface="楷体_GB2312" pitchFamily="49" charset="-122"/>
              </a:defRPr>
            </a:lvl1pPr>
            <a:lvl2pPr marL="742950" indent="-285750">
              <a:defRPr sz="2000" b="1"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lvl="2" indent="-228600">
              <a:defRPr sz="2000" b="0">
                <a:solidFill>
                  <a:srgbClr val="104E87"/>
                </a:solidFill>
                <a:latin typeface="Comic Sans MS" panose="030F0702030302020204" pitchFamily="66" charset="0"/>
                <a:ea typeface="楷体_GB2312" pitchFamily="49" charset="-122"/>
              </a:defRPr>
            </a:lvl3pPr>
            <a:lvl4pPr marL="1600200" indent="-228600">
              <a:defRPr sz="2000" b="1"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000" b="1"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r>
              <a:rPr lang="zh-CN" altLang="en-US" dirty="0"/>
              <a:t>Line::Line(Point xp1, Point xp2) : p1(xp1), p2(xp2){</a:t>
            </a:r>
          </a:p>
          <a:p>
            <a:r>
              <a:rPr lang="zh-CN" altLang="en-US" dirty="0"/>
              <a:t>	cout &lt;&lt; "Calling constructor of Line\n" ;</a:t>
            </a:r>
          </a:p>
          <a:p>
            <a:r>
              <a:rPr lang="zh-CN" altLang="en-US" dirty="0"/>
              <a:t>}</a:t>
            </a:r>
          </a:p>
          <a:p>
            <a:r>
              <a:rPr lang="zh-CN" altLang="en-US" dirty="0"/>
              <a:t>Line::Line (Line &amp;lin): p1(lin.p1), p2(lin.p2) {</a:t>
            </a:r>
          </a:p>
          <a:p>
            <a:r>
              <a:rPr lang="zh-CN" altLang="en-US" dirty="0"/>
              <a:t>	cout &lt;&lt; "Calling copy constructor of Line\n" ;</a:t>
            </a:r>
          </a:p>
          <a:p>
            <a:r>
              <a:rPr lang="zh-CN" altLang="en-US" dirty="0"/>
              <a:t>}</a:t>
            </a:r>
          </a:p>
          <a:p>
            <a:r>
              <a:rPr lang="zh-CN" altLang="en-US" dirty="0"/>
              <a:t>double Line::getLen(){</a:t>
            </a:r>
          </a:p>
          <a:p>
            <a:r>
              <a:rPr lang="zh-CN" altLang="en-US" dirty="0"/>
              <a:t>	double x = p1.getX() - p2.getX();</a:t>
            </a:r>
          </a:p>
          <a:p>
            <a:r>
              <a:rPr lang="zh-CN" altLang="en-US" dirty="0"/>
              <a:t>	double y = p1.getY() - p2.getY();</a:t>
            </a:r>
          </a:p>
          <a:p>
            <a:r>
              <a:rPr lang="zh-CN" altLang="en-US" dirty="0"/>
              <a:t>	double len = sqrt(x * x + y * y);</a:t>
            </a:r>
          </a:p>
          <a:p>
            <a:r>
              <a:rPr lang="zh-CN" altLang="en-US" dirty="0"/>
              <a:t>	return len;</a:t>
            </a:r>
          </a:p>
          <a:p>
            <a:r>
              <a:rPr lang="zh-CN" altLang="en-US" dirty="0"/>
              <a:t>}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645E8661-293E-8FE1-2C35-8474AE25E7CC}"/>
              </a:ext>
            </a:extLst>
          </p:cNvPr>
          <p:cNvSpPr txBox="1"/>
          <p:nvPr/>
        </p:nvSpPr>
        <p:spPr>
          <a:xfrm>
            <a:off x="2127707" y="6272269"/>
            <a:ext cx="324086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0" dirty="0">
                <a:solidFill>
                  <a:srgbClr val="104E87"/>
                </a:solidFill>
                <a:latin typeface="Comic Sans MS" panose="030F0702030302020204" pitchFamily="66" charset="0"/>
              </a:rPr>
              <a:t>Line line(myp1, myp2);</a:t>
            </a:r>
          </a:p>
        </p:txBody>
      </p:sp>
      <p:sp>
        <p:nvSpPr>
          <p:cNvPr id="2" name="矩形 14">
            <a:extLst>
              <a:ext uri="{FF2B5EF4-FFF2-40B4-BE49-F238E27FC236}">
                <a16:creationId xmlns:a16="http://schemas.microsoft.com/office/drawing/2014/main" id="{471B1A16-FCA6-6200-2C78-A7CDEC9F81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7719" y="3479849"/>
            <a:ext cx="5050151" cy="3170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r>
              <a:rPr lang="zh-CN" altLang="en-US" b="0" dirty="0">
                <a:solidFill>
                  <a:srgbClr val="104E87"/>
                </a:solidFill>
                <a:latin typeface="Comic Sans MS" panose="030F0702030302020204" pitchFamily="66" charset="0"/>
              </a:rPr>
              <a:t>int main() {</a:t>
            </a:r>
          </a:p>
          <a:p>
            <a:r>
              <a:rPr lang="zh-CN" altLang="en-US" b="0" dirty="0">
                <a:solidFill>
                  <a:srgbClr val="104E87"/>
                </a:solidFill>
                <a:latin typeface="Comic Sans MS" panose="030F0702030302020204" pitchFamily="66" charset="0"/>
              </a:rPr>
              <a:t>Point myp1(1, 1), myp2(4, 5);</a:t>
            </a:r>
          </a:p>
          <a:p>
            <a:r>
              <a:rPr lang="zh-CN" altLang="en-US" b="0" dirty="0">
                <a:solidFill>
                  <a:srgbClr val="104E87"/>
                </a:solidFill>
                <a:latin typeface="Comic Sans MS" panose="030F0702030302020204" pitchFamily="66" charset="0"/>
              </a:rPr>
              <a:t>Line line(myp1, myp2);</a:t>
            </a:r>
          </a:p>
          <a:p>
            <a:r>
              <a:rPr lang="zh-CN" altLang="en-US" b="0" dirty="0">
                <a:solidFill>
                  <a:srgbClr val="104E87"/>
                </a:solidFill>
                <a:latin typeface="Comic Sans MS" panose="030F0702030302020204" pitchFamily="66" charset="0"/>
              </a:rPr>
              <a:t>Line line2(line);	</a:t>
            </a:r>
          </a:p>
          <a:p>
            <a:r>
              <a:rPr lang="zh-CN" altLang="en-US" b="0" dirty="0">
                <a:solidFill>
                  <a:srgbClr val="104E87"/>
                </a:solidFill>
                <a:latin typeface="Comic Sans MS" panose="030F0702030302020204" pitchFamily="66" charset="0"/>
              </a:rPr>
              <a:t>cout &lt;&lt; "The length of the line is: ";</a:t>
            </a:r>
          </a:p>
          <a:p>
            <a:r>
              <a:rPr lang="en-US" altLang="zh-CN" b="0" dirty="0" err="1">
                <a:solidFill>
                  <a:srgbClr val="104E87"/>
                </a:solidFill>
                <a:latin typeface="Comic Sans MS" panose="030F0702030302020204" pitchFamily="66" charset="0"/>
              </a:rPr>
              <a:t>cout</a:t>
            </a:r>
            <a:r>
              <a:rPr lang="en-US" altLang="zh-CN" b="0" dirty="0">
                <a:solidFill>
                  <a:srgbClr val="104E87"/>
                </a:solidFill>
                <a:latin typeface="Comic Sans MS" panose="030F0702030302020204" pitchFamily="66" charset="0"/>
              </a:rPr>
              <a:t> &lt;&lt; </a:t>
            </a:r>
            <a:r>
              <a:rPr lang="en-US" altLang="zh-CN" b="0" dirty="0" err="1">
                <a:solidFill>
                  <a:srgbClr val="104E87"/>
                </a:solidFill>
                <a:latin typeface="Comic Sans MS" panose="030F0702030302020204" pitchFamily="66" charset="0"/>
              </a:rPr>
              <a:t>line.getLen</a:t>
            </a:r>
            <a:r>
              <a:rPr lang="en-US" altLang="zh-CN" b="0" dirty="0">
                <a:solidFill>
                  <a:srgbClr val="104E87"/>
                </a:solidFill>
                <a:latin typeface="Comic Sans MS" panose="030F0702030302020204" pitchFamily="66" charset="0"/>
              </a:rPr>
              <a:t>() &lt;&lt;'\n';</a:t>
            </a:r>
          </a:p>
          <a:p>
            <a:r>
              <a:rPr lang="en-US" altLang="zh-CN" b="0" dirty="0" err="1">
                <a:solidFill>
                  <a:srgbClr val="104E87"/>
                </a:solidFill>
                <a:latin typeface="Comic Sans MS" panose="030F0702030302020204" pitchFamily="66" charset="0"/>
              </a:rPr>
              <a:t>cout</a:t>
            </a:r>
            <a:r>
              <a:rPr lang="en-US" altLang="zh-CN" b="0" dirty="0">
                <a:solidFill>
                  <a:srgbClr val="104E87"/>
                </a:solidFill>
                <a:latin typeface="Comic Sans MS" panose="030F0702030302020204" pitchFamily="66" charset="0"/>
              </a:rPr>
              <a:t> &lt;&lt; "The length of the line2 is: ";</a:t>
            </a:r>
          </a:p>
          <a:p>
            <a:r>
              <a:rPr lang="en-US" altLang="zh-CN" b="0" dirty="0" err="1">
                <a:solidFill>
                  <a:srgbClr val="104E87"/>
                </a:solidFill>
                <a:latin typeface="Comic Sans MS" panose="030F0702030302020204" pitchFamily="66" charset="0"/>
              </a:rPr>
              <a:t>cout</a:t>
            </a:r>
            <a:r>
              <a:rPr lang="en-US" altLang="zh-CN" b="0" dirty="0">
                <a:solidFill>
                  <a:srgbClr val="104E87"/>
                </a:solidFill>
                <a:latin typeface="Comic Sans MS" panose="030F0702030302020204" pitchFamily="66" charset="0"/>
              </a:rPr>
              <a:t> &lt;&lt; line2.getLen() &lt;&lt; '\n’; </a:t>
            </a:r>
          </a:p>
          <a:p>
            <a:r>
              <a:rPr lang="zh-CN" altLang="en-US" b="0" dirty="0">
                <a:solidFill>
                  <a:srgbClr val="104E87"/>
                </a:solidFill>
                <a:latin typeface="Comic Sans MS" panose="030F0702030302020204" pitchFamily="66" charset="0"/>
              </a:rPr>
              <a:t>return 0;</a:t>
            </a:r>
          </a:p>
          <a:p>
            <a:r>
              <a:rPr lang="zh-CN" altLang="en-US" b="0" dirty="0">
                <a:solidFill>
                  <a:srgbClr val="104E87"/>
                </a:solidFill>
                <a:latin typeface="Comic Sans MS" panose="030F0702030302020204" pitchFamily="66" charset="0"/>
              </a:rPr>
              <a:t>}</a:t>
            </a:r>
          </a:p>
        </p:txBody>
      </p:sp>
      <p:sp>
        <p:nvSpPr>
          <p:cNvPr id="5" name="矩形 16">
            <a:extLst>
              <a:ext uri="{FF2B5EF4-FFF2-40B4-BE49-F238E27FC236}">
                <a16:creationId xmlns:a16="http://schemas.microsoft.com/office/drawing/2014/main" id="{405226FF-52B1-65E4-8BC1-69A7479FAF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9724" y="4124989"/>
            <a:ext cx="2460565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r>
              <a:rPr lang="zh-CN" altLang="en-US" dirty="0">
                <a:solidFill>
                  <a:srgbClr val="104E87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组合类线段</a:t>
            </a:r>
            <a:r>
              <a:rPr lang="en-US" altLang="zh-CN" dirty="0">
                <a:solidFill>
                  <a:srgbClr val="104E87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Line</a:t>
            </a:r>
            <a:r>
              <a:rPr lang="zh-CN" altLang="en-US" dirty="0">
                <a:solidFill>
                  <a:srgbClr val="104E87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类</a:t>
            </a:r>
            <a:endParaRPr lang="en-US" altLang="zh-CN" dirty="0">
              <a:solidFill>
                <a:srgbClr val="104E87"/>
              </a:solidFill>
              <a:latin typeface="华光行书_CNKI" panose="02000500000000000000" pitchFamily="2" charset="-122"/>
              <a:ea typeface="华光行书_CNKI" panose="02000500000000000000" pitchFamily="2" charset="-122"/>
            </a:endParaRPr>
          </a:p>
          <a:p>
            <a:r>
              <a:rPr lang="zh-CN" altLang="en-US" dirty="0">
                <a:solidFill>
                  <a:srgbClr val="FF0000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观察构造函数调用</a:t>
            </a:r>
          </a:p>
        </p:txBody>
      </p:sp>
    </p:spTree>
    <p:extLst>
      <p:ext uri="{BB962C8B-B14F-4D97-AF65-F5344CB8AC3E}">
        <p14:creationId xmlns:p14="http://schemas.microsoft.com/office/powerpoint/2010/main" val="30824391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794" y="176798"/>
            <a:ext cx="12190413" cy="728917"/>
          </a:xfrm>
          <a:prstGeom prst="rect">
            <a:avLst/>
          </a:prstGeom>
          <a:solidFill>
            <a:srgbClr val="26CC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3200"/>
          </a:p>
        </p:txBody>
      </p:sp>
      <p:cxnSp>
        <p:nvCxnSpPr>
          <p:cNvPr id="7" name="直线连接符 6"/>
          <p:cNvCxnSpPr/>
          <p:nvPr/>
        </p:nvCxnSpPr>
        <p:spPr>
          <a:xfrm>
            <a:off x="1587" y="905715"/>
            <a:ext cx="12190413" cy="0"/>
          </a:xfrm>
          <a:prstGeom prst="line">
            <a:avLst/>
          </a:prstGeom>
          <a:ln>
            <a:solidFill>
              <a:srgbClr val="104D7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 Box 7">
            <a:extLst>
              <a:ext uri="{FF2B5EF4-FFF2-40B4-BE49-F238E27FC236}">
                <a16:creationId xmlns:a16="http://schemas.microsoft.com/office/drawing/2014/main" id="{69EB4C41-26EB-4698-A2A6-97DD757434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87" y="953444"/>
            <a:ext cx="12189620" cy="29238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SzPct val="70000"/>
              <a:buFont typeface="Wingdings" pitchFamily="2" charset="2"/>
              <a:buChar char="o"/>
              <a:defRPr sz="32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n"/>
              <a:defRPr sz="28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o"/>
              <a:defRPr sz="24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n"/>
              <a:defRPr sz="20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pPr marL="342900" indent="-342900" eaLnBrk="1" hangingPunct="1">
              <a:spcBef>
                <a:spcPts val="0"/>
              </a:spcBef>
              <a:spcAft>
                <a:spcPts val="1200"/>
              </a:spcAft>
              <a:buClrTx/>
              <a:buSzTx/>
              <a:buFont typeface="Wingdings" pitchFamily="2" charset="2"/>
              <a:buBlip>
                <a:blip r:embed="rId3"/>
              </a:buBlip>
              <a:defRPr/>
            </a:pPr>
            <a:r>
              <a:rPr kumimoji="1" lang="zh-CN" altLang="en-US" sz="2400" dirty="0">
                <a:solidFill>
                  <a:srgbClr val="104E87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当建立</a:t>
            </a:r>
            <a:r>
              <a:rPr kumimoji="1" lang="en-US" altLang="zh-CN" sz="2400" dirty="0">
                <a:solidFill>
                  <a:srgbClr val="104E87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X</a:t>
            </a:r>
            <a:r>
              <a:rPr kumimoji="1" lang="zh-CN" altLang="en-US" sz="2400" dirty="0">
                <a:solidFill>
                  <a:srgbClr val="104E87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类的对象时，先调用对象成员的构造函数，再执行</a:t>
            </a:r>
            <a:r>
              <a:rPr kumimoji="1" lang="en-US" altLang="zh-CN" sz="2400" dirty="0">
                <a:solidFill>
                  <a:srgbClr val="104E87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X</a:t>
            </a:r>
            <a:r>
              <a:rPr kumimoji="1" lang="zh-CN" altLang="en-US" sz="2400" dirty="0">
                <a:solidFill>
                  <a:srgbClr val="104E87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类的构造函数。</a:t>
            </a:r>
            <a:endParaRPr kumimoji="1" lang="en-US" altLang="zh-CN" sz="2400" dirty="0">
              <a:solidFill>
                <a:srgbClr val="104E87"/>
              </a:solidFill>
              <a:latin typeface="华光行书_CNKI" panose="02000500000000000000" pitchFamily="2" charset="-122"/>
              <a:ea typeface="华光行书_CNKI" panose="02000500000000000000" pitchFamily="2" charset="-122"/>
            </a:endParaRPr>
          </a:p>
          <a:p>
            <a:pPr eaLnBrk="1" hangingPunct="1">
              <a:spcBef>
                <a:spcPts val="0"/>
              </a:spcBef>
              <a:spcAft>
                <a:spcPts val="1200"/>
              </a:spcAft>
              <a:buClrTx/>
              <a:buSzTx/>
              <a:buFont typeface="Wingdings" pitchFamily="2" charset="2"/>
              <a:buNone/>
              <a:defRPr/>
            </a:pPr>
            <a:r>
              <a:rPr kumimoji="1" lang="zh-CN" altLang="en-US" sz="2400" dirty="0">
                <a:solidFill>
                  <a:srgbClr val="FF0000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         先客人</a:t>
            </a:r>
            <a:r>
              <a:rPr kumimoji="1" lang="en-US" altLang="zh-CN" sz="2400" dirty="0">
                <a:solidFill>
                  <a:srgbClr val="FF0000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(</a:t>
            </a:r>
            <a:r>
              <a:rPr kumimoji="1" lang="zh-CN" altLang="en-US" sz="2400" dirty="0">
                <a:solidFill>
                  <a:srgbClr val="FF0000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按照客人出场顺序</a:t>
            </a:r>
            <a:r>
              <a:rPr kumimoji="1" lang="en-US" altLang="zh-CN" sz="2400" dirty="0">
                <a:solidFill>
                  <a:srgbClr val="FF0000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)</a:t>
            </a:r>
            <a:r>
              <a:rPr kumimoji="1" lang="zh-CN" altLang="en-US" sz="2400" dirty="0">
                <a:solidFill>
                  <a:srgbClr val="FF0000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，后自己</a:t>
            </a:r>
            <a:endParaRPr kumimoji="1" lang="en-US" altLang="zh-CN" sz="2400" dirty="0">
              <a:solidFill>
                <a:srgbClr val="FF0000"/>
              </a:solidFill>
              <a:latin typeface="华光行书_CNKI" panose="02000500000000000000" pitchFamily="2" charset="-122"/>
              <a:ea typeface="华光行书_CNKI" panose="02000500000000000000" pitchFamily="2" charset="-122"/>
            </a:endParaRPr>
          </a:p>
          <a:p>
            <a:pPr marL="342900" indent="-342900" eaLnBrk="1" hangingPunct="1">
              <a:spcBef>
                <a:spcPts val="0"/>
              </a:spcBef>
              <a:spcAft>
                <a:spcPts val="1200"/>
              </a:spcAft>
              <a:buClrTx/>
              <a:buSzTx/>
              <a:buFont typeface="Wingdings" pitchFamily="2" charset="2"/>
              <a:buBlip>
                <a:blip r:embed="rId3"/>
              </a:buBlip>
              <a:defRPr/>
            </a:pPr>
            <a:r>
              <a:rPr kumimoji="1" lang="zh-CN" altLang="en-US" sz="2400" dirty="0">
                <a:solidFill>
                  <a:srgbClr val="104E87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析构函数的调用顺序是先执行</a:t>
            </a:r>
            <a:r>
              <a:rPr kumimoji="1" lang="en-US" altLang="zh-CN" sz="2400" dirty="0">
                <a:solidFill>
                  <a:srgbClr val="104E87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X</a:t>
            </a:r>
            <a:r>
              <a:rPr kumimoji="1" lang="zh-CN" altLang="en-US" sz="2400" dirty="0">
                <a:solidFill>
                  <a:srgbClr val="104E87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类的析构函数，然后再调用对象成员的析构函数。</a:t>
            </a:r>
          </a:p>
          <a:p>
            <a:pPr eaLnBrk="1" hangingPunct="1"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defRPr/>
            </a:pPr>
            <a:r>
              <a:rPr kumimoji="1" lang="zh-CN" altLang="en-US" sz="2400" dirty="0">
                <a:solidFill>
                  <a:srgbClr val="104E87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         </a:t>
            </a:r>
            <a:r>
              <a:rPr kumimoji="1" lang="zh-CN" altLang="en-US" sz="2400" dirty="0">
                <a:solidFill>
                  <a:srgbClr val="FF0000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先自己，后客人</a:t>
            </a:r>
            <a:endParaRPr kumimoji="1" lang="en-US" altLang="zh-CN" sz="2400" dirty="0">
              <a:solidFill>
                <a:srgbClr val="FF0000"/>
              </a:solidFill>
              <a:latin typeface="华光行书_CNKI" panose="02000500000000000000" pitchFamily="2" charset="-122"/>
              <a:ea typeface="华光行书_CNKI" panose="02000500000000000000" pitchFamily="2" charset="-122"/>
            </a:endParaRPr>
          </a:p>
          <a:p>
            <a:pPr marL="342900" indent="-342900" eaLnBrk="1" hangingPunct="1">
              <a:spcBef>
                <a:spcPts val="0"/>
              </a:spcBef>
              <a:spcAft>
                <a:spcPts val="1200"/>
              </a:spcAft>
              <a:buClrTx/>
              <a:buSzTx/>
              <a:buBlip>
                <a:blip r:embed="rId3"/>
              </a:buBlip>
              <a:defRPr/>
            </a:pPr>
            <a:r>
              <a:rPr kumimoji="1" lang="zh-CN" altLang="en-US" sz="2400" dirty="0">
                <a:solidFill>
                  <a:srgbClr val="104E87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对象成员的构造函数的调用顺序：</a:t>
            </a:r>
            <a:r>
              <a:rPr kumimoji="1" lang="zh-CN" altLang="en-US" sz="2400" dirty="0">
                <a:solidFill>
                  <a:srgbClr val="FF0000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取决于这些对象成员的说明顺序</a:t>
            </a:r>
            <a:r>
              <a:rPr kumimoji="1" lang="zh-CN" altLang="en-US" sz="2400" dirty="0">
                <a:solidFill>
                  <a:srgbClr val="104E87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，</a:t>
            </a:r>
            <a:r>
              <a:rPr kumimoji="1" lang="zh-CN" altLang="en-US" sz="2400" dirty="0">
                <a:solidFill>
                  <a:srgbClr val="FF0000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与它们在初始化列表中给出的顺序无关</a:t>
            </a:r>
            <a:r>
              <a:rPr kumimoji="1" lang="zh-CN" altLang="en-US" sz="2400" dirty="0">
                <a:solidFill>
                  <a:srgbClr val="104E87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。</a:t>
            </a:r>
            <a:endParaRPr kumimoji="1" lang="en-US" altLang="zh-CN" sz="2400" dirty="0">
              <a:solidFill>
                <a:srgbClr val="104E87"/>
              </a:solidFill>
              <a:latin typeface="华光行书_CNKI" panose="02000500000000000000" pitchFamily="2" charset="-122"/>
              <a:ea typeface="华光行书_CNKI" panose="02000500000000000000" pitchFamily="2" charset="-122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91A09216-0F50-46AC-AB88-47F906C36DB7}"/>
              </a:ext>
            </a:extLst>
          </p:cNvPr>
          <p:cNvSpPr txBox="1"/>
          <p:nvPr/>
        </p:nvSpPr>
        <p:spPr>
          <a:xfrm>
            <a:off x="247719" y="224527"/>
            <a:ext cx="802877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kumimoji="1" sz="3200" b="1">
                <a:latin typeface="华光胖头鱼_CNKI" panose="02000500000000000000" pitchFamily="2" charset="-122"/>
                <a:ea typeface="华光胖头鱼_CNKI" panose="02000500000000000000" pitchFamily="2" charset="-122"/>
              </a:defRPr>
            </a:lvl1pPr>
          </a:lstStyle>
          <a:p>
            <a:r>
              <a:rPr lang="en-US" altLang="zh-CN" dirty="0"/>
              <a:t>7.4</a:t>
            </a:r>
            <a:r>
              <a:rPr lang="zh-CN" altLang="en-US" dirty="0">
                <a:sym typeface="+mn-lt"/>
              </a:rPr>
              <a:t>组合类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1188871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/>
      </p:transition>
    </mc:Choice>
    <mc:Fallback xmlns="">
      <p:transition spd="slow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794" y="176798"/>
            <a:ext cx="12190413" cy="728917"/>
          </a:xfrm>
          <a:prstGeom prst="rect">
            <a:avLst/>
          </a:prstGeom>
          <a:solidFill>
            <a:srgbClr val="26CC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3200"/>
          </a:p>
        </p:txBody>
      </p:sp>
      <p:cxnSp>
        <p:nvCxnSpPr>
          <p:cNvPr id="7" name="直线连接符 6"/>
          <p:cNvCxnSpPr/>
          <p:nvPr/>
        </p:nvCxnSpPr>
        <p:spPr>
          <a:xfrm>
            <a:off x="1587" y="905715"/>
            <a:ext cx="12190413" cy="0"/>
          </a:xfrm>
          <a:prstGeom prst="line">
            <a:avLst/>
          </a:prstGeom>
          <a:ln>
            <a:solidFill>
              <a:srgbClr val="104D7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矩形 8">
            <a:extLst>
              <a:ext uri="{FF2B5EF4-FFF2-40B4-BE49-F238E27FC236}">
                <a16:creationId xmlns:a16="http://schemas.microsoft.com/office/drawing/2014/main" id="{17F25A70-AC85-4242-8656-99CBE328D46A}"/>
              </a:ext>
            </a:extLst>
          </p:cNvPr>
          <p:cNvSpPr/>
          <p:nvPr/>
        </p:nvSpPr>
        <p:spPr>
          <a:xfrm>
            <a:off x="-26988" y="908050"/>
            <a:ext cx="6662250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66928" indent="-457200">
              <a:buClr>
                <a:srgbClr val="104E87"/>
              </a:buClr>
              <a:buSzPct val="90000"/>
              <a:buFont typeface="+mj-ea"/>
              <a:buAutoNum type="circleNumDbPlain"/>
              <a:defRPr/>
            </a:pPr>
            <a:r>
              <a:rPr lang="zh-CN" altLang="en-US" dirty="0">
                <a:solidFill>
                  <a:srgbClr val="104E87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声明</a:t>
            </a:r>
            <a:r>
              <a:rPr lang="en-US" altLang="zh-CN" dirty="0">
                <a:solidFill>
                  <a:srgbClr val="104E87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:</a:t>
            </a:r>
          </a:p>
          <a:p>
            <a:pPr marL="411162" lvl="1" eaLnBrk="1" fontAlgn="auto" hangingPunct="1">
              <a:spcAft>
                <a:spcPts val="0"/>
              </a:spcAft>
              <a:buFont typeface="Georgia"/>
              <a:buNone/>
              <a:defRPr/>
            </a:pPr>
            <a:r>
              <a:rPr lang="zh-CN" altLang="en-US" dirty="0">
                <a:solidFill>
                  <a:srgbClr val="104E87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类名 数组名</a:t>
            </a:r>
            <a:r>
              <a:rPr lang="en-US" altLang="zh-CN" dirty="0">
                <a:solidFill>
                  <a:srgbClr val="104E87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[</a:t>
            </a:r>
            <a:r>
              <a:rPr lang="zh-CN" altLang="en-US" dirty="0">
                <a:solidFill>
                  <a:srgbClr val="104E87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元素个数</a:t>
            </a:r>
            <a:r>
              <a:rPr lang="en-US" altLang="zh-CN" dirty="0">
                <a:solidFill>
                  <a:srgbClr val="104E87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]</a:t>
            </a:r>
            <a:r>
              <a:rPr lang="zh-CN" altLang="en-US" dirty="0">
                <a:solidFill>
                  <a:srgbClr val="104E87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；</a:t>
            </a:r>
            <a:endParaRPr lang="en-US" altLang="zh-CN" dirty="0">
              <a:solidFill>
                <a:srgbClr val="104E87"/>
              </a:solidFill>
              <a:latin typeface="华光行书_CNKI" panose="02000500000000000000" pitchFamily="2" charset="-122"/>
              <a:ea typeface="华光行书_CNKI" panose="02000500000000000000" pitchFamily="2" charset="-122"/>
            </a:endParaRPr>
          </a:p>
          <a:p>
            <a:pPr marL="566928" indent="-457200">
              <a:buClr>
                <a:srgbClr val="104E87"/>
              </a:buClr>
              <a:buSzPct val="90000"/>
              <a:buFont typeface="+mj-ea"/>
              <a:buAutoNum type="circleNumDbPlain"/>
              <a:defRPr/>
            </a:pPr>
            <a:r>
              <a:rPr lang="zh-CN" altLang="en-US" sz="2400" dirty="0">
                <a:solidFill>
                  <a:srgbClr val="104E87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访问方法：</a:t>
            </a:r>
            <a:r>
              <a:rPr lang="zh-CN" altLang="en-US" dirty="0">
                <a:solidFill>
                  <a:srgbClr val="104E87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通过下标访问</a:t>
            </a:r>
            <a:endParaRPr lang="en-US" altLang="zh-CN" dirty="0">
              <a:solidFill>
                <a:srgbClr val="104E87"/>
              </a:solidFill>
              <a:latin typeface="华光行书_CNKI" panose="02000500000000000000" pitchFamily="2" charset="-122"/>
              <a:ea typeface="华光行书_CNKI" panose="02000500000000000000" pitchFamily="2" charset="-122"/>
            </a:endParaRPr>
          </a:p>
          <a:p>
            <a:pPr marL="109728">
              <a:buClr>
                <a:srgbClr val="104E87"/>
              </a:buClr>
              <a:buSzPct val="90000"/>
              <a:defRPr/>
            </a:pPr>
            <a:r>
              <a:rPr lang="en-US" altLang="zh-CN" dirty="0">
                <a:solidFill>
                  <a:srgbClr val="104E87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	</a:t>
            </a:r>
            <a:r>
              <a:rPr lang="zh-CN" altLang="en-US" dirty="0">
                <a:solidFill>
                  <a:srgbClr val="104E87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数组名</a:t>
            </a:r>
            <a:r>
              <a:rPr lang="en-US" altLang="zh-CN" dirty="0">
                <a:solidFill>
                  <a:srgbClr val="104E87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[</a:t>
            </a:r>
            <a:r>
              <a:rPr lang="zh-CN" altLang="en-US" dirty="0">
                <a:solidFill>
                  <a:srgbClr val="104E87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下标</a:t>
            </a:r>
            <a:r>
              <a:rPr lang="en-US" altLang="zh-CN" dirty="0">
                <a:solidFill>
                  <a:srgbClr val="104E87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].</a:t>
            </a:r>
            <a:r>
              <a:rPr lang="zh-CN" altLang="en-US" dirty="0">
                <a:solidFill>
                  <a:srgbClr val="104E87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成员名</a:t>
            </a:r>
            <a:endParaRPr lang="en-US" altLang="zh-CN" dirty="0">
              <a:solidFill>
                <a:srgbClr val="104E87"/>
              </a:solidFill>
              <a:latin typeface="华光行书_CNKI" panose="02000500000000000000" pitchFamily="2" charset="-122"/>
              <a:ea typeface="华光行书_CNKI" panose="02000500000000000000" pitchFamily="2" charset="-122"/>
            </a:endParaRPr>
          </a:p>
          <a:p>
            <a:pPr marL="566928" indent="-457200">
              <a:buClr>
                <a:srgbClr val="104E87"/>
              </a:buClr>
              <a:buSzPct val="90000"/>
              <a:buFont typeface="+mj-ea"/>
              <a:buAutoNum type="circleNumDbPlain" startAt="3"/>
              <a:defRPr/>
            </a:pPr>
            <a:r>
              <a:rPr lang="zh-CN" altLang="en-US" dirty="0">
                <a:solidFill>
                  <a:srgbClr val="104E87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对象数组初始化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3C58452-2C76-447C-8DC8-5EB8FFAFEDB7}"/>
              </a:ext>
            </a:extLst>
          </p:cNvPr>
          <p:cNvSpPr/>
          <p:nvPr/>
        </p:nvSpPr>
        <p:spPr>
          <a:xfrm>
            <a:off x="133657" y="2778697"/>
            <a:ext cx="4980721" cy="29084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eaLnBrk="1" fontAlgn="auto" hangingPunct="1">
              <a:spcBef>
                <a:spcPts val="600"/>
              </a:spcBef>
              <a:spcAft>
                <a:spcPts val="0"/>
              </a:spcAft>
              <a:buClr>
                <a:srgbClr val="FF3300"/>
              </a:buClr>
              <a:buSzPct val="76000"/>
              <a:buFont typeface="Wingdings" panose="05000000000000000000" pitchFamily="2" charset="2"/>
              <a:buChar char="n"/>
              <a:defRPr/>
            </a:pPr>
            <a:r>
              <a:rPr lang="zh-CN" altLang="en-US" sz="2400" dirty="0">
                <a:solidFill>
                  <a:srgbClr val="104E87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每个元素对象被创建时，都会调用类构造函数初始化该对象。</a:t>
            </a:r>
            <a:endParaRPr lang="en-US" altLang="zh-CN" sz="2400" dirty="0">
              <a:solidFill>
                <a:srgbClr val="104E87"/>
              </a:solidFill>
              <a:latin typeface="华光行书_CNKI" panose="02000500000000000000" pitchFamily="2" charset="-122"/>
              <a:ea typeface="华光行书_CNKI" panose="02000500000000000000" pitchFamily="2" charset="-122"/>
            </a:endParaRPr>
          </a:p>
          <a:p>
            <a:pPr marL="342900" indent="-342900" eaLnBrk="1" fontAlgn="auto" hangingPunct="1">
              <a:spcBef>
                <a:spcPts val="600"/>
              </a:spcBef>
              <a:spcAft>
                <a:spcPts val="0"/>
              </a:spcAft>
              <a:buClr>
                <a:srgbClr val="FF3300"/>
              </a:buClr>
              <a:buSzPct val="76000"/>
              <a:buFont typeface="Wingdings" panose="05000000000000000000" pitchFamily="2" charset="2"/>
              <a:buChar char="n"/>
              <a:defRPr/>
            </a:pPr>
            <a:r>
              <a:rPr lang="zh-CN" altLang="en-US" sz="2400" dirty="0">
                <a:solidFill>
                  <a:srgbClr val="104E87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通过</a:t>
            </a:r>
            <a:r>
              <a:rPr lang="zh-CN" altLang="en-US" dirty="0">
                <a:solidFill>
                  <a:srgbClr val="104E87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带参构造函数</a:t>
            </a:r>
            <a:r>
              <a:rPr lang="zh-CN" altLang="en-US" sz="2400" dirty="0">
                <a:solidFill>
                  <a:srgbClr val="104E87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初始化值</a:t>
            </a:r>
            <a:endParaRPr lang="en-US" altLang="zh-CN" sz="2400" dirty="0">
              <a:solidFill>
                <a:srgbClr val="104E87"/>
              </a:solidFill>
              <a:latin typeface="华光行书_CNKI" panose="02000500000000000000" pitchFamily="2" charset="-122"/>
              <a:ea typeface="华光行书_CNKI" panose="02000500000000000000" pitchFamily="2" charset="-122"/>
            </a:endParaRPr>
          </a:p>
          <a:p>
            <a:pPr eaLnBrk="1" fontAlgn="auto" hangingPunct="1">
              <a:spcBef>
                <a:spcPts val="600"/>
              </a:spcBef>
              <a:spcAft>
                <a:spcPts val="0"/>
              </a:spcAft>
              <a:buClr>
                <a:srgbClr val="FF3300"/>
              </a:buClr>
              <a:buSzPct val="76000"/>
              <a:defRPr/>
            </a:pPr>
            <a:endParaRPr lang="en-US" altLang="zh-CN" sz="2400" dirty="0">
              <a:solidFill>
                <a:srgbClr val="104E87"/>
              </a:solidFill>
              <a:latin typeface="华光行书_CNKI" panose="02000500000000000000" pitchFamily="2" charset="-122"/>
              <a:ea typeface="华光行书_CNKI" panose="02000500000000000000" pitchFamily="2" charset="-122"/>
            </a:endParaRPr>
          </a:p>
          <a:p>
            <a:pPr marL="342900" indent="-342900" eaLnBrk="1" fontAlgn="auto" hangingPunct="1">
              <a:spcBef>
                <a:spcPts val="600"/>
              </a:spcBef>
              <a:spcAft>
                <a:spcPts val="0"/>
              </a:spcAft>
              <a:buClr>
                <a:srgbClr val="FF3300"/>
              </a:buClr>
              <a:buSzPct val="76000"/>
              <a:buFont typeface="Wingdings" panose="05000000000000000000" pitchFamily="2" charset="2"/>
              <a:buChar char="n"/>
              <a:defRPr/>
            </a:pPr>
            <a:r>
              <a:rPr lang="zh-CN" altLang="en-US" sz="2400" dirty="0">
                <a:solidFill>
                  <a:srgbClr val="104E87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如果没有为数组元素指定显式初始值，数组元素便使用默认值初始化（缺省构造函数）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52EA256B-B7C1-413B-BF9C-42DD27CE7A42}"/>
              </a:ext>
            </a:extLst>
          </p:cNvPr>
          <p:cNvSpPr txBox="1"/>
          <p:nvPr/>
        </p:nvSpPr>
        <p:spPr>
          <a:xfrm>
            <a:off x="7771606" y="185004"/>
            <a:ext cx="4418807" cy="3360920"/>
          </a:xfrm>
          <a:prstGeom prst="rect">
            <a:avLst/>
          </a:prstGeom>
          <a:solidFill>
            <a:schemeClr val="accent2"/>
          </a:solidFill>
        </p:spPr>
        <p:txBody>
          <a:bodyPr wrap="square">
            <a:spAutoFit/>
          </a:bodyPr>
          <a:lstStyle/>
          <a:p>
            <a:pPr marL="360000" indent="-252000" eaLnBrk="1" fontAlgn="auto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en-US" altLang="zh-CN" sz="2400" noProof="1">
                <a:solidFill>
                  <a:srgbClr val="104E87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  <a:cs typeface="Consolas" pitchFamily="49" charset="0"/>
              </a:rPr>
              <a:t>class Point {	</a:t>
            </a:r>
            <a:endParaRPr lang="zh-CN" altLang="en-US" sz="2400" noProof="1">
              <a:solidFill>
                <a:srgbClr val="104E87"/>
              </a:solidFill>
              <a:latin typeface="华光行书_CNKI" panose="02000500000000000000" pitchFamily="2" charset="-122"/>
              <a:ea typeface="华光行书_CNKI" panose="02000500000000000000" pitchFamily="2" charset="-122"/>
              <a:cs typeface="Consolas" pitchFamily="49" charset="0"/>
            </a:endParaRPr>
          </a:p>
          <a:p>
            <a:pPr marL="360000" indent="-252000" eaLnBrk="1" fontAlgn="auto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en-US" altLang="zh-CN" sz="2400" noProof="1">
                <a:solidFill>
                  <a:srgbClr val="104E87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  <a:cs typeface="Consolas" pitchFamily="49" charset="0"/>
              </a:rPr>
              <a:t>public:		</a:t>
            </a:r>
            <a:endParaRPr lang="zh-CN" altLang="en-US" sz="2400" noProof="1">
              <a:solidFill>
                <a:srgbClr val="104E87"/>
              </a:solidFill>
              <a:latin typeface="华光行书_CNKI" panose="02000500000000000000" pitchFamily="2" charset="-122"/>
              <a:ea typeface="华光行书_CNKI" panose="02000500000000000000" pitchFamily="2" charset="-122"/>
              <a:cs typeface="Consolas" pitchFamily="49" charset="0"/>
            </a:endParaRPr>
          </a:p>
          <a:p>
            <a:pPr marL="360000" indent="-252000" eaLnBrk="1" fontAlgn="auto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zh-CN" altLang="en-US" sz="2400" noProof="1">
                <a:solidFill>
                  <a:srgbClr val="104E87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  <a:cs typeface="Consolas" pitchFamily="49" charset="0"/>
              </a:rPr>
              <a:t>	</a:t>
            </a:r>
            <a:r>
              <a:rPr lang="en-US" altLang="zh-CN" sz="2400" noProof="1">
                <a:solidFill>
                  <a:srgbClr val="FF0000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  <a:cs typeface="Consolas" pitchFamily="49" charset="0"/>
              </a:rPr>
              <a:t>Point();</a:t>
            </a:r>
          </a:p>
          <a:p>
            <a:pPr marL="360000" indent="-252000" eaLnBrk="1" fontAlgn="auto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en-US" altLang="zh-CN" sz="2400" noProof="1">
                <a:solidFill>
                  <a:srgbClr val="FF0000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  <a:cs typeface="Consolas" pitchFamily="49" charset="0"/>
              </a:rPr>
              <a:t>	Point(int x, int y);</a:t>
            </a:r>
          </a:p>
          <a:p>
            <a:pPr marL="360000" indent="-252000" eaLnBrk="1" fontAlgn="auto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en-US" altLang="zh-CN" sz="2400" noProof="1">
                <a:solidFill>
                  <a:srgbClr val="FF0000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  <a:cs typeface="Consolas" pitchFamily="49" charset="0"/>
              </a:rPr>
              <a:t>	~Point();</a:t>
            </a:r>
          </a:p>
          <a:p>
            <a:pPr marL="360000" indent="-252000" eaLnBrk="1" fontAlgn="auto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en-US" altLang="zh-CN" sz="2400" noProof="1">
                <a:solidFill>
                  <a:srgbClr val="104E87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  <a:cs typeface="Consolas" pitchFamily="49" charset="0"/>
              </a:rPr>
              <a:t>	void move(int newX,int newY);</a:t>
            </a:r>
          </a:p>
          <a:p>
            <a:pPr marL="360000" indent="-252000" eaLnBrk="1" fontAlgn="auto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en-US" altLang="zh-CN" sz="2400" noProof="1">
                <a:solidFill>
                  <a:srgbClr val="104E87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  <a:cs typeface="Consolas" pitchFamily="49" charset="0"/>
              </a:rPr>
              <a:t>	int getX() const { return x; }</a:t>
            </a:r>
          </a:p>
          <a:p>
            <a:pPr marL="360000" indent="-252000" eaLnBrk="1" fontAlgn="auto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en-US" altLang="zh-CN" sz="2400" noProof="1">
                <a:solidFill>
                  <a:srgbClr val="104E87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  <a:cs typeface="Consolas" pitchFamily="49" charset="0"/>
              </a:rPr>
              <a:t>	int getY() const { return y; }</a:t>
            </a:r>
          </a:p>
          <a:p>
            <a:pPr marL="360000" indent="-252000" eaLnBrk="1" fontAlgn="auto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en-US" altLang="zh-CN" sz="2400" noProof="1">
                <a:solidFill>
                  <a:srgbClr val="104E87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  <a:cs typeface="Consolas" pitchFamily="49" charset="0"/>
              </a:rPr>
              <a:t>private:				</a:t>
            </a:r>
            <a:endParaRPr lang="zh-CN" altLang="en-US" sz="2400" noProof="1">
              <a:solidFill>
                <a:srgbClr val="104E87"/>
              </a:solidFill>
              <a:latin typeface="华光行书_CNKI" panose="02000500000000000000" pitchFamily="2" charset="-122"/>
              <a:ea typeface="华光行书_CNKI" panose="02000500000000000000" pitchFamily="2" charset="-122"/>
              <a:cs typeface="Consolas" pitchFamily="49" charset="0"/>
            </a:endParaRPr>
          </a:p>
          <a:p>
            <a:pPr marL="360000" indent="-252000" eaLnBrk="1" fontAlgn="auto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zh-CN" altLang="en-US" sz="2400" noProof="1">
                <a:solidFill>
                  <a:srgbClr val="104E87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  <a:cs typeface="Consolas" pitchFamily="49" charset="0"/>
              </a:rPr>
              <a:t>	</a:t>
            </a:r>
            <a:r>
              <a:rPr lang="en-US" altLang="zh-CN" sz="2400" noProof="1">
                <a:solidFill>
                  <a:srgbClr val="104E87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  <a:cs typeface="Consolas" pitchFamily="49" charset="0"/>
              </a:rPr>
              <a:t>int x, y;</a:t>
            </a:r>
          </a:p>
          <a:p>
            <a:pPr marL="360000" indent="-252000" eaLnBrk="1" fontAlgn="auto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en-US" altLang="zh-CN" sz="2400" noProof="1">
                <a:solidFill>
                  <a:srgbClr val="104E87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  <a:cs typeface="Consolas" pitchFamily="49" charset="0"/>
              </a:rPr>
              <a:t>};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27DD28DB-ED88-4C11-82DA-BC6535580D83}"/>
              </a:ext>
            </a:extLst>
          </p:cNvPr>
          <p:cNvSpPr txBox="1"/>
          <p:nvPr/>
        </p:nvSpPr>
        <p:spPr>
          <a:xfrm>
            <a:off x="545220" y="3996239"/>
            <a:ext cx="441880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dirty="0">
                <a:solidFill>
                  <a:srgbClr val="00B050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  <a:cs typeface="Times New Roman" pitchFamily="18" charset="0"/>
              </a:rPr>
              <a:t>Point a[2]={Point(1,2),Point(3,4)};</a:t>
            </a:r>
            <a:endParaRPr lang="zh-CN" altLang="en-US" dirty="0">
              <a:latin typeface="华光行书_CNKI" panose="02000500000000000000" pitchFamily="2" charset="-122"/>
              <a:ea typeface="华光行书_CNKI" panose="02000500000000000000" pitchFamily="2" charset="-122"/>
            </a:endParaRPr>
          </a:p>
        </p:txBody>
      </p:sp>
      <p:sp>
        <p:nvSpPr>
          <p:cNvPr id="15" name="矩形 6">
            <a:extLst>
              <a:ext uri="{FF2B5EF4-FFF2-40B4-BE49-F238E27FC236}">
                <a16:creationId xmlns:a16="http://schemas.microsoft.com/office/drawing/2014/main" id="{1C2C14BB-FA28-4317-B7EF-AC3F3F337B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39891" y="1260731"/>
            <a:ext cx="158248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00B050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  <a:cs typeface="Times New Roman" pitchFamily="18" charset="0"/>
              </a:rPr>
              <a:t>Point a[2];</a:t>
            </a:r>
            <a:endParaRPr lang="zh-CN" altLang="en-US" dirty="0">
              <a:solidFill>
                <a:srgbClr val="00B050"/>
              </a:solidFill>
              <a:latin typeface="华光行书_CNKI" panose="02000500000000000000" pitchFamily="2" charset="-122"/>
              <a:ea typeface="华光行书_CNKI" panose="02000500000000000000" pitchFamily="2" charset="-122"/>
              <a:cs typeface="Times New Roman" pitchFamily="18" charset="0"/>
            </a:endParaRPr>
          </a:p>
        </p:txBody>
      </p:sp>
      <p:sp>
        <p:nvSpPr>
          <p:cNvPr id="16" name="矩形 6">
            <a:extLst>
              <a:ext uri="{FF2B5EF4-FFF2-40B4-BE49-F238E27FC236}">
                <a16:creationId xmlns:a16="http://schemas.microsoft.com/office/drawing/2014/main" id="{0A53383A-0E78-47EE-AEC5-27FB243910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83942" y="2054912"/>
            <a:ext cx="210796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00B050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  <a:cs typeface="Times New Roman" pitchFamily="18" charset="0"/>
              </a:rPr>
              <a:t>a[1].</a:t>
            </a:r>
            <a:r>
              <a:rPr lang="en-US" altLang="zh-CN" dirty="0" err="1">
                <a:solidFill>
                  <a:srgbClr val="00B050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  <a:cs typeface="Times New Roman" pitchFamily="18" charset="0"/>
              </a:rPr>
              <a:t>getX</a:t>
            </a:r>
            <a:r>
              <a:rPr lang="en-US" altLang="zh-CN" dirty="0">
                <a:solidFill>
                  <a:srgbClr val="00B050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  <a:cs typeface="Times New Roman" pitchFamily="18" charset="0"/>
              </a:rPr>
              <a:t>();</a:t>
            </a:r>
            <a:endParaRPr lang="zh-CN" altLang="en-US" dirty="0">
              <a:solidFill>
                <a:srgbClr val="00B050"/>
              </a:solidFill>
              <a:latin typeface="华光行书_CNKI" panose="02000500000000000000" pitchFamily="2" charset="-122"/>
              <a:ea typeface="华光行书_CNKI" panose="02000500000000000000" pitchFamily="2" charset="-122"/>
              <a:cs typeface="Times New Roman" pitchFamily="18" charset="0"/>
            </a:endParaRPr>
          </a:p>
        </p:txBody>
      </p:sp>
      <p:sp>
        <p:nvSpPr>
          <p:cNvPr id="17" name="矩形 4">
            <a:extLst>
              <a:ext uri="{FF2B5EF4-FFF2-40B4-BE49-F238E27FC236}">
                <a16:creationId xmlns:a16="http://schemas.microsoft.com/office/drawing/2014/main" id="{A91A626F-B3CB-4A03-9338-8ACA15A36D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44523" y="3765406"/>
            <a:ext cx="498072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363538">
              <a:spcBef>
                <a:spcPts val="600"/>
              </a:spcBef>
              <a:buBlip>
                <a:blip r:embed="rId3"/>
              </a:buBlip>
            </a:pPr>
            <a:r>
              <a:rPr lang="zh-CN" altLang="en-US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对象数组元素的构造和析构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F03AED1A-14EF-4EEF-A968-892FCCF2D4B1}"/>
              </a:ext>
            </a:extLst>
          </p:cNvPr>
          <p:cNvSpPr/>
          <p:nvPr/>
        </p:nvSpPr>
        <p:spPr>
          <a:xfrm>
            <a:off x="5944523" y="4227071"/>
            <a:ext cx="6247477" cy="29084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Bef>
                <a:spcPts val="600"/>
              </a:spcBef>
              <a:buClr>
                <a:srgbClr val="FF3300"/>
              </a:buClr>
              <a:buSzPct val="76000"/>
              <a:buFont typeface="Wingdings" panose="05000000000000000000" pitchFamily="2" charset="2"/>
              <a:buChar char="n"/>
            </a:pPr>
            <a:r>
              <a:rPr lang="zh-CN" altLang="en-US" dirty="0">
                <a:solidFill>
                  <a:srgbClr val="104E87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各元素对象的初值要求相同时，可声明具有默认形参值的构造函数。</a:t>
            </a:r>
          </a:p>
          <a:p>
            <a:pPr marL="342900" indent="-342900">
              <a:spcBef>
                <a:spcPts val="600"/>
              </a:spcBef>
              <a:buClr>
                <a:srgbClr val="FF3300"/>
              </a:buClr>
              <a:buSzPct val="76000"/>
              <a:buFont typeface="Wingdings" panose="05000000000000000000" pitchFamily="2" charset="2"/>
              <a:buChar char="n"/>
            </a:pPr>
            <a:r>
              <a:rPr lang="zh-CN" altLang="en-US" dirty="0">
                <a:solidFill>
                  <a:srgbClr val="104E87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各元素对象的初值要求不同时，需声明带形参的构造函数。</a:t>
            </a:r>
            <a:endParaRPr lang="en-US" altLang="zh-CN" dirty="0">
              <a:solidFill>
                <a:srgbClr val="104E87"/>
              </a:solidFill>
              <a:latin typeface="华光行书_CNKI" panose="02000500000000000000" pitchFamily="2" charset="-122"/>
              <a:ea typeface="华光行书_CNKI" panose="02000500000000000000" pitchFamily="2" charset="-122"/>
            </a:endParaRPr>
          </a:p>
          <a:p>
            <a:pPr marL="342900" indent="-342900">
              <a:spcBef>
                <a:spcPts val="600"/>
              </a:spcBef>
              <a:buClr>
                <a:srgbClr val="FF3300"/>
              </a:buClr>
              <a:buSzPct val="76000"/>
              <a:buFont typeface="Wingdings" panose="05000000000000000000" pitchFamily="2" charset="2"/>
              <a:buChar char="n"/>
            </a:pPr>
            <a:r>
              <a:rPr lang="zh-CN" altLang="en-US" dirty="0">
                <a:solidFill>
                  <a:srgbClr val="104E87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当数组中每一个对象元素被删除时，系统都要调用一次析构函数。</a:t>
            </a:r>
          </a:p>
          <a:p>
            <a:pPr marL="342900" indent="-342900">
              <a:spcBef>
                <a:spcPts val="600"/>
              </a:spcBef>
              <a:buClr>
                <a:srgbClr val="FF3300"/>
              </a:buClr>
              <a:buSzPct val="76000"/>
              <a:buFont typeface="Wingdings" panose="05000000000000000000" pitchFamily="2" charset="2"/>
              <a:buChar char="n"/>
            </a:pPr>
            <a:endParaRPr lang="zh-CN" altLang="en-US" dirty="0">
              <a:solidFill>
                <a:srgbClr val="104E87"/>
              </a:solidFill>
              <a:latin typeface="华光行书_CNKI" panose="02000500000000000000" pitchFamily="2" charset="-122"/>
              <a:ea typeface="华光行书_CNKI" panose="02000500000000000000" pitchFamily="2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6DFAF62D-7142-06EF-0997-699F902086C1}"/>
              </a:ext>
            </a:extLst>
          </p:cNvPr>
          <p:cNvSpPr txBox="1"/>
          <p:nvPr/>
        </p:nvSpPr>
        <p:spPr>
          <a:xfrm>
            <a:off x="247719" y="305552"/>
            <a:ext cx="802877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kumimoji="1" sz="3200" b="1">
                <a:latin typeface="华光胖头鱼_CNKI" panose="02000500000000000000" pitchFamily="2" charset="-122"/>
                <a:ea typeface="华光胖头鱼_CNKI" panose="02000500000000000000" pitchFamily="2" charset="-122"/>
              </a:defRPr>
            </a:lvl1pPr>
          </a:lstStyle>
          <a:p>
            <a:r>
              <a:rPr lang="en-US" altLang="zh-CN" dirty="0"/>
              <a:t>7.5</a:t>
            </a:r>
            <a:r>
              <a:rPr lang="zh-CN" altLang="en-US" dirty="0">
                <a:sym typeface="+mn-lt"/>
              </a:rPr>
              <a:t>对象数组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415974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4" grpId="0"/>
      <p:bldP spid="17" grpId="0"/>
      <p:bldP spid="18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794" y="176798"/>
            <a:ext cx="12190413" cy="728917"/>
          </a:xfrm>
          <a:prstGeom prst="rect">
            <a:avLst/>
          </a:prstGeom>
          <a:solidFill>
            <a:srgbClr val="26CC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3200"/>
          </a:p>
        </p:txBody>
      </p:sp>
      <p:cxnSp>
        <p:nvCxnSpPr>
          <p:cNvPr id="7" name="直线连接符 6"/>
          <p:cNvCxnSpPr/>
          <p:nvPr/>
        </p:nvCxnSpPr>
        <p:spPr>
          <a:xfrm>
            <a:off x="1587" y="905715"/>
            <a:ext cx="12190413" cy="0"/>
          </a:xfrm>
          <a:prstGeom prst="line">
            <a:avLst/>
          </a:prstGeom>
          <a:ln>
            <a:solidFill>
              <a:srgbClr val="104D7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文本框 16">
            <a:extLst>
              <a:ext uri="{FF2B5EF4-FFF2-40B4-BE49-F238E27FC236}">
                <a16:creationId xmlns:a16="http://schemas.microsoft.com/office/drawing/2014/main" id="{10255F2D-D267-405A-8024-3EC88E460431}"/>
              </a:ext>
            </a:extLst>
          </p:cNvPr>
          <p:cNvSpPr txBox="1"/>
          <p:nvPr/>
        </p:nvSpPr>
        <p:spPr>
          <a:xfrm>
            <a:off x="0" y="1058568"/>
            <a:ext cx="9566031" cy="4255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60000" indent="-252000" eaLnBrk="1" fontAlgn="auto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en-US" altLang="zh-CN" sz="2000" noProof="1">
                <a:solidFill>
                  <a:srgbClr val="104E87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  <a:cs typeface="Consolas" pitchFamily="49" charset="0"/>
              </a:rPr>
              <a:t>Point::Point() {</a:t>
            </a:r>
          </a:p>
          <a:p>
            <a:pPr marL="360000" indent="-252000" eaLnBrk="1" fontAlgn="auto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en-US" altLang="zh-CN" sz="2000" noProof="1">
                <a:solidFill>
                  <a:srgbClr val="104E87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  <a:cs typeface="Consolas" pitchFamily="49" charset="0"/>
              </a:rPr>
              <a:t>	x = y = 0;</a:t>
            </a:r>
          </a:p>
          <a:p>
            <a:pPr marL="360000" indent="-252000" eaLnBrk="1" fontAlgn="auto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en-US" altLang="zh-CN" sz="2000" noProof="1">
                <a:solidFill>
                  <a:srgbClr val="104E87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  <a:cs typeface="Consolas" pitchFamily="49" charset="0"/>
              </a:rPr>
              <a:t>	cout &lt;&lt; "Default Constructor called." &lt;&lt; endl;</a:t>
            </a:r>
          </a:p>
          <a:p>
            <a:pPr marL="360000" indent="-252000" eaLnBrk="1" fontAlgn="auto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en-US" altLang="zh-CN" sz="2000" noProof="1">
                <a:solidFill>
                  <a:srgbClr val="104E87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  <a:cs typeface="Consolas" pitchFamily="49" charset="0"/>
              </a:rPr>
              <a:t>}</a:t>
            </a:r>
          </a:p>
          <a:p>
            <a:pPr marL="360000" indent="-252000" eaLnBrk="1" fontAlgn="auto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en-US" altLang="zh-CN" sz="2000" noProof="1">
                <a:solidFill>
                  <a:srgbClr val="104E87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  <a:cs typeface="Consolas" pitchFamily="49" charset="0"/>
              </a:rPr>
              <a:t>Point::Point(int x, int y) : x(x), y(y) {</a:t>
            </a:r>
          </a:p>
          <a:p>
            <a:pPr marL="360000" indent="-252000" eaLnBrk="1" fontAlgn="auto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en-US" altLang="zh-CN" sz="2000" noProof="1">
                <a:solidFill>
                  <a:srgbClr val="104E87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  <a:cs typeface="Consolas" pitchFamily="49" charset="0"/>
              </a:rPr>
              <a:t>	cout &lt;&lt; "Constructor called." &lt;&lt; endl;</a:t>
            </a:r>
          </a:p>
          <a:p>
            <a:pPr marL="360000" indent="-252000" eaLnBrk="1" fontAlgn="auto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en-US" altLang="zh-CN" sz="2000" noProof="1">
                <a:solidFill>
                  <a:srgbClr val="104E87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  <a:cs typeface="Consolas" pitchFamily="49" charset="0"/>
              </a:rPr>
              <a:t>}</a:t>
            </a:r>
          </a:p>
          <a:p>
            <a:pPr marL="360000" indent="-252000" eaLnBrk="1" fontAlgn="auto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en-US" altLang="zh-CN" sz="2000" noProof="1">
                <a:solidFill>
                  <a:srgbClr val="104E87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  <a:cs typeface="Consolas" pitchFamily="49" charset="0"/>
              </a:rPr>
              <a:t>Point::~Point() {</a:t>
            </a:r>
          </a:p>
          <a:p>
            <a:pPr marL="360000" indent="-252000" eaLnBrk="1" fontAlgn="auto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en-US" altLang="zh-CN" sz="2000" noProof="1">
                <a:solidFill>
                  <a:srgbClr val="104E87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  <a:cs typeface="Consolas" pitchFamily="49" charset="0"/>
              </a:rPr>
              <a:t>	cout &lt;&lt; "Destructor called." &lt;&lt; endl;</a:t>
            </a:r>
          </a:p>
          <a:p>
            <a:pPr marL="360000" indent="-252000" eaLnBrk="1" fontAlgn="auto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en-US" altLang="zh-CN" sz="2000" noProof="1">
                <a:solidFill>
                  <a:srgbClr val="104E87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  <a:cs typeface="Consolas" pitchFamily="49" charset="0"/>
              </a:rPr>
              <a:t>}</a:t>
            </a:r>
          </a:p>
          <a:p>
            <a:pPr marL="360000" indent="-252000" eaLnBrk="1" fontAlgn="auto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en-US" altLang="zh-CN" sz="2000" noProof="1">
                <a:solidFill>
                  <a:srgbClr val="104E87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  <a:cs typeface="Consolas" pitchFamily="49" charset="0"/>
              </a:rPr>
              <a:t>void Point::move(int newX,int newY) {</a:t>
            </a:r>
          </a:p>
          <a:p>
            <a:pPr marL="360000" indent="-252000" eaLnBrk="1" fontAlgn="auto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en-US" altLang="zh-CN" sz="2000" noProof="1">
                <a:solidFill>
                  <a:srgbClr val="104E87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  <a:cs typeface="Consolas" pitchFamily="49" charset="0"/>
              </a:rPr>
              <a:t>	cout &lt;&lt; "Moving the point to (" &lt;&lt; newX &lt;&lt; ", " &lt;&lt; newY &lt;&lt; ")" &lt;&lt; endl;</a:t>
            </a:r>
          </a:p>
          <a:p>
            <a:pPr marL="360000" indent="-252000" eaLnBrk="1" fontAlgn="auto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en-US" altLang="zh-CN" sz="2000" noProof="1">
                <a:solidFill>
                  <a:srgbClr val="104E87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  <a:cs typeface="Consolas" pitchFamily="49" charset="0"/>
              </a:rPr>
              <a:t>	x = newX;</a:t>
            </a:r>
          </a:p>
          <a:p>
            <a:pPr marL="360000" indent="-252000" eaLnBrk="1" fontAlgn="auto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en-US" altLang="zh-CN" sz="2000" noProof="1">
                <a:solidFill>
                  <a:srgbClr val="104E87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  <a:cs typeface="Consolas" pitchFamily="49" charset="0"/>
              </a:rPr>
              <a:t>	y = newY;</a:t>
            </a:r>
          </a:p>
          <a:p>
            <a:pPr marL="360000" indent="-252000" eaLnBrk="1" fontAlgn="auto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en-US" altLang="zh-CN" sz="2000" noProof="1">
                <a:solidFill>
                  <a:srgbClr val="104E87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  <a:cs typeface="Consolas" pitchFamily="49" charset="0"/>
              </a:rPr>
              <a:t>}</a:t>
            </a:r>
            <a:endParaRPr lang="zh-CN" altLang="en-US" sz="2000" dirty="0">
              <a:solidFill>
                <a:srgbClr val="104E87"/>
              </a:solidFill>
              <a:latin typeface="华光行书_CNKI" panose="02000500000000000000" pitchFamily="2" charset="-122"/>
              <a:ea typeface="华光行书_CNKI" panose="02000500000000000000" pitchFamily="2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585E6BFB-F3FB-4BD2-B865-31886233111B}"/>
              </a:ext>
            </a:extLst>
          </p:cNvPr>
          <p:cNvSpPr txBox="1"/>
          <p:nvPr/>
        </p:nvSpPr>
        <p:spPr>
          <a:xfrm>
            <a:off x="8042433" y="1002128"/>
            <a:ext cx="4149567" cy="2039020"/>
          </a:xfrm>
          <a:prstGeom prst="rect">
            <a:avLst/>
          </a:prstGeom>
          <a:solidFill>
            <a:schemeClr val="accent2"/>
          </a:solidFill>
        </p:spPr>
        <p:txBody>
          <a:bodyPr wrap="square">
            <a:spAutoFit/>
          </a:bodyPr>
          <a:lstStyle>
            <a:defPPr>
              <a:defRPr lang="en-US"/>
            </a:defPPr>
            <a:lvl1pPr marL="360000" indent="-252000" fontAlgn="auto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 sz="2000">
                <a:solidFill>
                  <a:srgbClr val="104E87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  <a:cs typeface="Consolas" pitchFamily="49" charset="0"/>
              </a:defRPr>
            </a:lvl1pPr>
          </a:lstStyle>
          <a:p>
            <a:r>
              <a:rPr lang="en-US" altLang="zh-CN" noProof="1"/>
              <a:t>int main() {</a:t>
            </a:r>
          </a:p>
          <a:p>
            <a:r>
              <a:rPr lang="en-US" altLang="zh-CN" noProof="1"/>
              <a:t>	Point a[2];</a:t>
            </a:r>
          </a:p>
          <a:p>
            <a:r>
              <a:rPr lang="en-US" altLang="zh-CN" dirty="0"/>
              <a:t>  Point b[2]={Point(1,2),Point(3,4)};</a:t>
            </a:r>
            <a:endParaRPr lang="en-US" altLang="zh-CN" noProof="1"/>
          </a:p>
          <a:p>
            <a:r>
              <a:rPr lang="en-US" altLang="zh-CN" noProof="1"/>
              <a:t>	for(int i = 0; i &lt; 2; i++)</a:t>
            </a:r>
          </a:p>
          <a:p>
            <a:r>
              <a:rPr lang="en-US" altLang="zh-CN" noProof="1"/>
              <a:t>		a[i].move(i + 10, i + 20);</a:t>
            </a:r>
          </a:p>
          <a:p>
            <a:r>
              <a:rPr lang="en-US" altLang="zh-CN" noProof="1"/>
              <a:t>	return 0;</a:t>
            </a:r>
          </a:p>
          <a:p>
            <a:r>
              <a:rPr lang="en-US" altLang="zh-CN" noProof="1"/>
              <a:t>}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C864651A-05D4-9955-C795-5E61E68F4E9A}"/>
              </a:ext>
            </a:extLst>
          </p:cNvPr>
          <p:cNvSpPr txBox="1"/>
          <p:nvPr/>
        </p:nvSpPr>
        <p:spPr>
          <a:xfrm>
            <a:off x="247719" y="305552"/>
            <a:ext cx="802877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kumimoji="1" sz="3200" b="1">
                <a:latin typeface="华光胖头鱼_CNKI" panose="02000500000000000000" pitchFamily="2" charset="-122"/>
                <a:ea typeface="华光胖头鱼_CNKI" panose="02000500000000000000" pitchFamily="2" charset="-122"/>
              </a:defRPr>
            </a:lvl1pPr>
          </a:lstStyle>
          <a:p>
            <a:r>
              <a:rPr lang="en-US" altLang="zh-CN" dirty="0"/>
              <a:t>7.5</a:t>
            </a:r>
            <a:r>
              <a:rPr lang="zh-CN" altLang="en-US" dirty="0">
                <a:sym typeface="+mn-lt"/>
              </a:rPr>
              <a:t>对象数组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325379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/>
      </p:transition>
    </mc:Choice>
    <mc:Fallback xmlns="">
      <p:transition spd="slow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794" y="176798"/>
            <a:ext cx="12190413" cy="728917"/>
          </a:xfrm>
          <a:prstGeom prst="rect">
            <a:avLst/>
          </a:prstGeom>
          <a:solidFill>
            <a:srgbClr val="26CC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3200"/>
          </a:p>
        </p:txBody>
      </p:sp>
      <p:cxnSp>
        <p:nvCxnSpPr>
          <p:cNvPr id="7" name="直线连接符 6"/>
          <p:cNvCxnSpPr/>
          <p:nvPr/>
        </p:nvCxnSpPr>
        <p:spPr>
          <a:xfrm>
            <a:off x="1587" y="905715"/>
            <a:ext cx="12190413" cy="0"/>
          </a:xfrm>
          <a:prstGeom prst="line">
            <a:avLst/>
          </a:prstGeom>
          <a:ln>
            <a:solidFill>
              <a:srgbClr val="104D7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2">
            <a:extLst>
              <a:ext uri="{FF2B5EF4-FFF2-40B4-BE49-F238E27FC236}">
                <a16:creationId xmlns:a16="http://schemas.microsoft.com/office/drawing/2014/main" id="{ACB04A19-EAE4-4A5D-B04D-1B93F9C979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381" y="761354"/>
            <a:ext cx="4050688" cy="7694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marL="457200" indent="-457200">
              <a:lnSpc>
                <a:spcPct val="150000"/>
              </a:lnSpc>
              <a:buFontTx/>
              <a:buBlip>
                <a:blip r:embed="rId3"/>
              </a:buBlip>
              <a:defRPr sz="2800" b="1">
                <a:solidFill>
                  <a:srgbClr val="104E87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defRPr>
            </a:lvl1pPr>
            <a:lvl2pPr marL="742950" indent="-285750">
              <a:defRPr sz="2000" b="1"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000" b="1"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000" b="1"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000" b="1"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r>
              <a:rPr lang="zh-CN" altLang="en-US" sz="3200" dirty="0"/>
              <a:t>对象指针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AFC6942B-B9B9-42C5-A057-CB3D7BEBCA14}"/>
              </a:ext>
            </a:extLst>
          </p:cNvPr>
          <p:cNvSpPr txBox="1"/>
          <p:nvPr/>
        </p:nvSpPr>
        <p:spPr>
          <a:xfrm>
            <a:off x="247719" y="224527"/>
            <a:ext cx="802877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kumimoji="1" sz="3200" b="1">
                <a:latin typeface="华光胖头鱼_CNKI" panose="02000500000000000000" pitchFamily="2" charset="-122"/>
                <a:ea typeface="华光胖头鱼_CNKI" panose="02000500000000000000" pitchFamily="2" charset="-122"/>
              </a:defRPr>
            </a:lvl1pPr>
          </a:lstStyle>
          <a:p>
            <a:r>
              <a:rPr lang="en-US" altLang="zh-CN" dirty="0"/>
              <a:t>7.6</a:t>
            </a:r>
            <a:r>
              <a:rPr lang="zh-CN" altLang="en-US" dirty="0"/>
              <a:t> 对象指针与</a:t>
            </a:r>
            <a:r>
              <a:rPr lang="en-US" altLang="zh-CN" dirty="0"/>
              <a:t>this</a:t>
            </a:r>
            <a:r>
              <a:rPr lang="zh-CN" altLang="en-US" dirty="0"/>
              <a:t>指针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E9E3407C-B62D-496A-B4E0-DF4ED60F0E08}"/>
              </a:ext>
            </a:extLst>
          </p:cNvPr>
          <p:cNvSpPr/>
          <p:nvPr/>
        </p:nvSpPr>
        <p:spPr>
          <a:xfrm>
            <a:off x="1588" y="1386433"/>
            <a:ext cx="3308771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66700" indent="-266700" eaLnBrk="1" fontAlgn="auto" hangingPunct="1">
              <a:lnSpc>
                <a:spcPct val="120000"/>
              </a:lnSpc>
              <a:spcAft>
                <a:spcPts val="0"/>
              </a:spcAft>
              <a:buClr>
                <a:srgbClr val="FF0000"/>
              </a:buClr>
              <a:buSzPct val="80000"/>
              <a:buFont typeface="宋体" panose="02010600030101010101" pitchFamily="2" charset="-122"/>
              <a:buChar char="〓"/>
              <a:defRPr/>
            </a:pPr>
            <a:r>
              <a:rPr lang="zh-CN" altLang="en-US" dirty="0">
                <a:solidFill>
                  <a:srgbClr val="104E87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声明形式：</a:t>
            </a:r>
            <a:endParaRPr lang="en-US" altLang="zh-CN" dirty="0">
              <a:solidFill>
                <a:srgbClr val="104E87"/>
              </a:solidFill>
              <a:latin typeface="华光行书_CNKI" panose="02000500000000000000" pitchFamily="2" charset="-122"/>
              <a:ea typeface="华光行书_CNKI" panose="02000500000000000000" pitchFamily="2" charset="-122"/>
            </a:endParaRPr>
          </a:p>
          <a:p>
            <a:pPr eaLnBrk="1" fontAlgn="auto" hangingPunct="1">
              <a:lnSpc>
                <a:spcPct val="120000"/>
              </a:lnSpc>
              <a:spcAft>
                <a:spcPts val="0"/>
              </a:spcAft>
              <a:buClr>
                <a:srgbClr val="FF0000"/>
              </a:buClr>
              <a:buSzPct val="80000"/>
              <a:defRPr/>
            </a:pPr>
            <a:r>
              <a:rPr lang="en-US" altLang="zh-CN" sz="2800" dirty="0">
                <a:solidFill>
                  <a:srgbClr val="104E87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  </a:t>
            </a:r>
            <a:r>
              <a:rPr lang="zh-CN" altLang="en-US" sz="2400" dirty="0">
                <a:solidFill>
                  <a:srgbClr val="104E87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类名 *对象指针名；</a:t>
            </a:r>
          </a:p>
          <a:p>
            <a:pPr marL="411162" lvl="1" eaLnBrk="1" fontAlgn="auto" hangingPunct="1">
              <a:spcAft>
                <a:spcPts val="0"/>
              </a:spcAft>
              <a:buFont typeface="Georgia"/>
              <a:buNone/>
              <a:defRPr/>
            </a:pPr>
            <a:r>
              <a:rPr lang="en-US" altLang="zh-CN" dirty="0">
                <a:solidFill>
                  <a:srgbClr val="104E87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  <a:cs typeface="Times New Roman" pitchFamily="18" charset="0"/>
              </a:rPr>
              <a:t>Point a(5,10);</a:t>
            </a:r>
          </a:p>
          <a:p>
            <a:pPr marL="109537" eaLnBrk="1" fontAlgn="auto" hangingPunct="1"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>
                <a:solidFill>
                  <a:srgbClr val="104E87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  <a:cs typeface="Times New Roman" pitchFamily="18" charset="0"/>
              </a:rPr>
              <a:t>  </a:t>
            </a:r>
            <a:r>
              <a:rPr lang="en-US" altLang="zh-CN" b="1" dirty="0" err="1">
                <a:solidFill>
                  <a:srgbClr val="FF0000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  <a:cs typeface="Times New Roman" pitchFamily="18" charset="0"/>
              </a:rPr>
              <a:t>Piont</a:t>
            </a:r>
            <a:r>
              <a:rPr lang="en-US" altLang="zh-CN" b="1" dirty="0">
                <a:solidFill>
                  <a:srgbClr val="FF0000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  <a:cs typeface="Times New Roman" pitchFamily="18" charset="0"/>
              </a:rPr>
              <a:t> *</a:t>
            </a:r>
            <a:r>
              <a:rPr lang="en-US" altLang="zh-CN" b="1" dirty="0" err="1">
                <a:solidFill>
                  <a:srgbClr val="FF0000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  <a:cs typeface="Times New Roman" pitchFamily="18" charset="0"/>
              </a:rPr>
              <a:t>ptr</a:t>
            </a:r>
            <a:r>
              <a:rPr lang="en-US" altLang="zh-CN" b="1" dirty="0">
                <a:solidFill>
                  <a:srgbClr val="FF0000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  <a:cs typeface="Times New Roman" pitchFamily="18" charset="0"/>
              </a:rPr>
              <a:t>;</a:t>
            </a:r>
          </a:p>
          <a:p>
            <a:pPr marL="109537" eaLnBrk="1" fontAlgn="auto" hangingPunct="1"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>
                <a:solidFill>
                  <a:srgbClr val="104E87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  <a:cs typeface="Times New Roman" pitchFamily="18" charset="0"/>
              </a:rPr>
              <a:t>  </a:t>
            </a:r>
            <a:r>
              <a:rPr lang="en-US" altLang="zh-CN" dirty="0" err="1">
                <a:solidFill>
                  <a:srgbClr val="104E87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  <a:cs typeface="Times New Roman" pitchFamily="18" charset="0"/>
              </a:rPr>
              <a:t>ptr</a:t>
            </a:r>
            <a:r>
              <a:rPr lang="en-US" altLang="zh-CN" dirty="0">
                <a:solidFill>
                  <a:srgbClr val="104E87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  <a:cs typeface="Times New Roman" pitchFamily="18" charset="0"/>
              </a:rPr>
              <a:t>=&amp;a;</a:t>
            </a:r>
          </a:p>
          <a:p>
            <a:pPr marL="266700" indent="-266700" eaLnBrk="1" fontAlgn="auto" hangingPunct="1">
              <a:lnSpc>
                <a:spcPct val="120000"/>
              </a:lnSpc>
              <a:spcAft>
                <a:spcPts val="0"/>
              </a:spcAft>
              <a:buClr>
                <a:srgbClr val="FF0000"/>
              </a:buClr>
              <a:buSzPct val="80000"/>
              <a:buFont typeface="宋体" panose="02010600030101010101" pitchFamily="2" charset="-122"/>
              <a:buChar char="〓"/>
              <a:defRPr/>
            </a:pPr>
            <a:r>
              <a:rPr lang="zh-CN" altLang="en-US" spc="-150" dirty="0">
                <a:solidFill>
                  <a:srgbClr val="104E87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通过指针访问对象成员</a:t>
            </a:r>
          </a:p>
          <a:p>
            <a:pPr marL="411162" lvl="1" eaLnBrk="1" fontAlgn="auto" hangingPunct="1">
              <a:lnSpc>
                <a:spcPct val="120000"/>
              </a:lnSpc>
              <a:spcAft>
                <a:spcPts val="0"/>
              </a:spcAft>
              <a:buFont typeface="Georgia"/>
              <a:buNone/>
              <a:defRPr/>
            </a:pPr>
            <a:r>
              <a:rPr lang="zh-CN" altLang="en-US" sz="2400" spc="-130" dirty="0">
                <a:solidFill>
                  <a:srgbClr val="104E87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对象指针名</a:t>
            </a:r>
            <a:r>
              <a:rPr lang="en-US" altLang="zh-CN" sz="2400" spc="-130" dirty="0">
                <a:solidFill>
                  <a:srgbClr val="104E87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-&gt;</a:t>
            </a:r>
            <a:r>
              <a:rPr lang="zh-CN" altLang="en-US" sz="2400" spc="-130" dirty="0">
                <a:solidFill>
                  <a:srgbClr val="104E87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成员名</a:t>
            </a:r>
          </a:p>
          <a:p>
            <a:pPr marL="109537" eaLnBrk="1" fontAlgn="auto" hangingPunct="1"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>
                <a:solidFill>
                  <a:srgbClr val="104E87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  <a:cs typeface="Times New Roman" pitchFamily="18" charset="0"/>
              </a:rPr>
              <a:t>	</a:t>
            </a:r>
            <a:r>
              <a:rPr lang="en-US" altLang="zh-CN" sz="2400" dirty="0" err="1">
                <a:solidFill>
                  <a:srgbClr val="104E87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  <a:cs typeface="Times New Roman" pitchFamily="18" charset="0"/>
              </a:rPr>
              <a:t>ptr</a:t>
            </a:r>
            <a:r>
              <a:rPr lang="en-US" altLang="zh-CN" sz="2400" dirty="0">
                <a:solidFill>
                  <a:srgbClr val="104E87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  <a:cs typeface="Times New Roman" pitchFamily="18" charset="0"/>
              </a:rPr>
              <a:t>-&gt;</a:t>
            </a:r>
            <a:r>
              <a:rPr lang="en-US" altLang="zh-CN" sz="2400" dirty="0" err="1">
                <a:solidFill>
                  <a:srgbClr val="104E87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  <a:cs typeface="Times New Roman" pitchFamily="18" charset="0"/>
              </a:rPr>
              <a:t>getx</a:t>
            </a:r>
            <a:r>
              <a:rPr lang="en-US" altLang="zh-CN" sz="2400" dirty="0">
                <a:solidFill>
                  <a:srgbClr val="104E87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  <a:cs typeface="Times New Roman" pitchFamily="18" charset="0"/>
              </a:rPr>
              <a:t>() </a:t>
            </a:r>
            <a:endParaRPr lang="en-US" altLang="zh-CN" sz="2400" dirty="0">
              <a:solidFill>
                <a:srgbClr val="104E87"/>
              </a:solidFill>
              <a:latin typeface="华光行书_CNKI" panose="02000500000000000000" pitchFamily="2" charset="-122"/>
              <a:ea typeface="华光行书_CNKI" panose="02000500000000000000" pitchFamily="2" charset="-122"/>
            </a:endParaRPr>
          </a:p>
          <a:p>
            <a:pPr marL="109537" eaLnBrk="1" fontAlgn="auto" hangingPunct="1"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>
                <a:solidFill>
                  <a:srgbClr val="104E87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	</a:t>
            </a:r>
            <a:r>
              <a:rPr lang="zh-CN" altLang="en-US" dirty="0">
                <a:solidFill>
                  <a:srgbClr val="104E87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等价于</a:t>
            </a:r>
            <a:endParaRPr lang="en-US" altLang="zh-CN" dirty="0">
              <a:solidFill>
                <a:srgbClr val="104E87"/>
              </a:solidFill>
              <a:latin typeface="华光行书_CNKI" panose="02000500000000000000" pitchFamily="2" charset="-122"/>
              <a:ea typeface="华光行书_CNKI" panose="02000500000000000000" pitchFamily="2" charset="-122"/>
            </a:endParaRPr>
          </a:p>
          <a:p>
            <a:pPr marL="109537" eaLnBrk="1" fontAlgn="auto" hangingPunct="1"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zh-CN" altLang="en-US" sz="2400" dirty="0">
                <a:solidFill>
                  <a:srgbClr val="104E87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 </a:t>
            </a:r>
            <a:r>
              <a:rPr lang="en-US" altLang="zh-CN" sz="2400" dirty="0">
                <a:solidFill>
                  <a:srgbClr val="104E87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	</a:t>
            </a:r>
            <a:r>
              <a:rPr lang="en-US" altLang="zh-CN" sz="2400" dirty="0">
                <a:solidFill>
                  <a:srgbClr val="104E87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  <a:cs typeface="Times New Roman" pitchFamily="18" charset="0"/>
              </a:rPr>
              <a:t>(*</a:t>
            </a:r>
            <a:r>
              <a:rPr lang="en-US" altLang="zh-CN" sz="2400" dirty="0" err="1">
                <a:solidFill>
                  <a:srgbClr val="104E87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  <a:cs typeface="Times New Roman" pitchFamily="18" charset="0"/>
              </a:rPr>
              <a:t>ptr</a:t>
            </a:r>
            <a:r>
              <a:rPr lang="en-US" altLang="zh-CN" sz="2400" dirty="0">
                <a:solidFill>
                  <a:srgbClr val="104E87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  <a:cs typeface="Times New Roman" pitchFamily="18" charset="0"/>
              </a:rPr>
              <a:t>).</a:t>
            </a:r>
            <a:r>
              <a:rPr lang="en-US" altLang="zh-CN" sz="2400" dirty="0" err="1">
                <a:solidFill>
                  <a:srgbClr val="104E87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  <a:cs typeface="Times New Roman" pitchFamily="18" charset="0"/>
              </a:rPr>
              <a:t>getx</a:t>
            </a:r>
            <a:r>
              <a:rPr lang="en-US" altLang="zh-CN" sz="2400" dirty="0">
                <a:solidFill>
                  <a:srgbClr val="104E87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  <a:cs typeface="Times New Roman" pitchFamily="18" charset="0"/>
              </a:rPr>
              <a:t>();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A6D8748D-7B17-4A3E-8E79-0CB7D1AD85E7}"/>
              </a:ext>
            </a:extLst>
          </p:cNvPr>
          <p:cNvSpPr txBox="1"/>
          <p:nvPr/>
        </p:nvSpPr>
        <p:spPr>
          <a:xfrm>
            <a:off x="3379195" y="782713"/>
            <a:ext cx="4387769" cy="3416320"/>
          </a:xfrm>
          <a:prstGeom prst="rect">
            <a:avLst/>
          </a:prstGeom>
          <a:solidFill>
            <a:srgbClr val="B7D3E8"/>
          </a:solidFill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104E87"/>
                </a:solidFill>
                <a:latin typeface="Comic Sans MS" panose="030F0702030302020204" pitchFamily="66" charset="0"/>
              </a:rPr>
              <a:t>class Point {</a:t>
            </a:r>
          </a:p>
          <a:p>
            <a:r>
              <a:rPr lang="zh-CN" altLang="en-US" dirty="0">
                <a:solidFill>
                  <a:srgbClr val="104E87"/>
                </a:solidFill>
                <a:latin typeface="Comic Sans MS" panose="030F0702030302020204" pitchFamily="66" charset="0"/>
              </a:rPr>
              <a:t>public:  </a:t>
            </a:r>
          </a:p>
          <a:p>
            <a:r>
              <a:rPr lang="zh-CN" altLang="en-US" dirty="0">
                <a:solidFill>
                  <a:srgbClr val="104E87"/>
                </a:solidFill>
                <a:latin typeface="Comic Sans MS" panose="030F0702030302020204" pitchFamily="66" charset="0"/>
              </a:rPr>
              <a:t>	Point(int xx=0, int yy=0); </a:t>
            </a:r>
          </a:p>
          <a:p>
            <a:r>
              <a:rPr lang="zh-CN" altLang="en-US" dirty="0">
                <a:solidFill>
                  <a:srgbClr val="104E87"/>
                </a:solidFill>
                <a:latin typeface="Comic Sans MS" panose="030F0702030302020204" pitchFamily="66" charset="0"/>
              </a:rPr>
              <a:t>	Point(Point &amp;p);</a:t>
            </a:r>
          </a:p>
          <a:p>
            <a:r>
              <a:rPr lang="zh-CN" altLang="en-US" dirty="0">
                <a:solidFill>
                  <a:srgbClr val="104E87"/>
                </a:solidFill>
                <a:latin typeface="Comic Sans MS" panose="030F0702030302020204" pitchFamily="66" charset="0"/>
              </a:rPr>
              <a:t>    void setXY(int xx , int yy);</a:t>
            </a:r>
          </a:p>
          <a:p>
            <a:r>
              <a:rPr lang="zh-CN" altLang="en-US" dirty="0">
                <a:solidFill>
                  <a:srgbClr val="104E87"/>
                </a:solidFill>
                <a:latin typeface="Comic Sans MS" panose="030F0702030302020204" pitchFamily="66" charset="0"/>
              </a:rPr>
              <a:t>	int getX() { return x; }</a:t>
            </a:r>
          </a:p>
          <a:p>
            <a:r>
              <a:rPr lang="zh-CN" altLang="en-US" dirty="0">
                <a:solidFill>
                  <a:srgbClr val="104E87"/>
                </a:solidFill>
                <a:latin typeface="Comic Sans MS" panose="030F0702030302020204" pitchFamily="66" charset="0"/>
              </a:rPr>
              <a:t>	int getY() { return y; }</a:t>
            </a:r>
          </a:p>
          <a:p>
            <a:r>
              <a:rPr lang="zh-CN" altLang="en-US" dirty="0">
                <a:solidFill>
                  <a:srgbClr val="104E87"/>
                </a:solidFill>
                <a:latin typeface="Comic Sans MS" panose="030F0702030302020204" pitchFamily="66" charset="0"/>
              </a:rPr>
              <a:t>private: int x, y;</a:t>
            </a:r>
          </a:p>
          <a:p>
            <a:r>
              <a:rPr lang="zh-CN" altLang="en-US" dirty="0">
                <a:solidFill>
                  <a:srgbClr val="104E87"/>
                </a:solidFill>
                <a:latin typeface="Comic Sans MS" panose="030F0702030302020204" pitchFamily="66" charset="0"/>
              </a:rPr>
              <a:t>};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DDFDF7FA-6144-43BA-BD9C-E06B2D93117C}"/>
              </a:ext>
            </a:extLst>
          </p:cNvPr>
          <p:cNvSpPr txBox="1"/>
          <p:nvPr/>
        </p:nvSpPr>
        <p:spPr>
          <a:xfrm>
            <a:off x="7773209" y="0"/>
            <a:ext cx="4387770" cy="1569660"/>
          </a:xfrm>
          <a:prstGeom prst="rect">
            <a:avLst/>
          </a:prstGeom>
          <a:solidFill>
            <a:srgbClr val="B7D3E8"/>
          </a:solidFill>
          <a:ln>
            <a:solidFill>
              <a:schemeClr val="accent1"/>
            </a:solidFill>
          </a:ln>
        </p:spPr>
        <p:txBody>
          <a:bodyPr wrap="square" lIns="0" rIns="0">
            <a:spAutoFit/>
          </a:bodyPr>
          <a:lstStyle/>
          <a:p>
            <a:r>
              <a:rPr lang="zh-CN" altLang="en-US" spc="-100" dirty="0">
                <a:solidFill>
                  <a:srgbClr val="104E87"/>
                </a:solidFill>
                <a:latin typeface="Comic Sans MS" panose="030F0702030302020204" pitchFamily="66" charset="0"/>
              </a:rPr>
              <a:t>void Point::setXY(int xx , int yy) {</a:t>
            </a:r>
          </a:p>
          <a:p>
            <a:r>
              <a:rPr lang="zh-CN" altLang="en-US" spc="-100" dirty="0">
                <a:solidFill>
                  <a:srgbClr val="104E87"/>
                </a:solidFill>
                <a:latin typeface="Comic Sans MS" panose="030F0702030302020204" pitchFamily="66" charset="0"/>
              </a:rPr>
              <a:t>	x=xx; </a:t>
            </a:r>
          </a:p>
          <a:p>
            <a:r>
              <a:rPr lang="zh-CN" altLang="en-US" spc="-100" dirty="0">
                <a:solidFill>
                  <a:srgbClr val="104E87"/>
                </a:solidFill>
                <a:latin typeface="Comic Sans MS" panose="030F0702030302020204" pitchFamily="66" charset="0"/>
              </a:rPr>
              <a:t>	y=yy;</a:t>
            </a:r>
          </a:p>
          <a:p>
            <a:r>
              <a:rPr lang="zh-CN" altLang="en-US" spc="-100" dirty="0">
                <a:solidFill>
                  <a:srgbClr val="104E87"/>
                </a:solidFill>
                <a:latin typeface="Comic Sans MS" panose="030F0702030302020204" pitchFamily="66" charset="0"/>
              </a:rPr>
              <a:t>}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B086269A-1537-4D6F-A416-70B96FDFB1FE}"/>
              </a:ext>
            </a:extLst>
          </p:cNvPr>
          <p:cNvSpPr txBox="1"/>
          <p:nvPr/>
        </p:nvSpPr>
        <p:spPr>
          <a:xfrm>
            <a:off x="7940233" y="1219461"/>
            <a:ext cx="4220745" cy="1569660"/>
          </a:xfrm>
          <a:prstGeom prst="rect">
            <a:avLst/>
          </a:prstGeom>
          <a:solidFill>
            <a:srgbClr val="B7D3E8"/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104E87"/>
                </a:solidFill>
                <a:latin typeface="Comic Sans MS" panose="030F0702030302020204" pitchFamily="66" charset="0"/>
              </a:rPr>
              <a:t>Point::Point(Point &amp;p) {</a:t>
            </a:r>
          </a:p>
          <a:p>
            <a:r>
              <a:rPr lang="zh-CN" altLang="en-US" dirty="0">
                <a:solidFill>
                  <a:srgbClr val="104E87"/>
                </a:solidFill>
                <a:latin typeface="Comic Sans MS" panose="030F0702030302020204" pitchFamily="66" charset="0"/>
              </a:rPr>
              <a:t>	x = p.x; </a:t>
            </a:r>
          </a:p>
          <a:p>
            <a:r>
              <a:rPr lang="zh-CN" altLang="en-US" dirty="0">
                <a:solidFill>
                  <a:srgbClr val="104E87"/>
                </a:solidFill>
                <a:latin typeface="Comic Sans MS" panose="030F0702030302020204" pitchFamily="66" charset="0"/>
              </a:rPr>
              <a:t>	y = p.y;</a:t>
            </a:r>
          </a:p>
          <a:p>
            <a:r>
              <a:rPr lang="zh-CN" altLang="en-US" dirty="0">
                <a:solidFill>
                  <a:srgbClr val="104E87"/>
                </a:solidFill>
                <a:latin typeface="Comic Sans MS" panose="030F0702030302020204" pitchFamily="66" charset="0"/>
              </a:rPr>
              <a:t>}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793DA619-EC06-4FF5-A4C0-CD24737CBB32}"/>
              </a:ext>
            </a:extLst>
          </p:cNvPr>
          <p:cNvSpPr txBox="1"/>
          <p:nvPr/>
        </p:nvSpPr>
        <p:spPr>
          <a:xfrm>
            <a:off x="3379195" y="4205116"/>
            <a:ext cx="8804816" cy="2428357"/>
          </a:xfrm>
          <a:prstGeom prst="rect">
            <a:avLst/>
          </a:prstGeom>
          <a:solidFill>
            <a:srgbClr val="B7D3E8"/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</a:pPr>
            <a:r>
              <a:rPr lang="en-US" altLang="zh-CN" dirty="0">
                <a:solidFill>
                  <a:srgbClr val="104E87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int main()</a:t>
            </a:r>
          </a:p>
          <a:p>
            <a:pPr>
              <a:lnSpc>
                <a:spcPct val="90000"/>
              </a:lnSpc>
            </a:pPr>
            <a:r>
              <a:rPr lang="en-US" altLang="zh-CN" dirty="0">
                <a:solidFill>
                  <a:srgbClr val="104E87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{	Point  myp1(4, 5);</a:t>
            </a:r>
          </a:p>
          <a:p>
            <a:pPr>
              <a:lnSpc>
                <a:spcPct val="90000"/>
              </a:lnSpc>
            </a:pPr>
            <a:r>
              <a:rPr lang="en-US" altLang="zh-CN" dirty="0">
                <a:solidFill>
                  <a:srgbClr val="104E87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	Point* p = &amp;myp1;</a:t>
            </a:r>
          </a:p>
          <a:p>
            <a:pPr>
              <a:lnSpc>
                <a:spcPct val="90000"/>
              </a:lnSpc>
            </a:pPr>
            <a:r>
              <a:rPr lang="en-US" altLang="zh-CN" dirty="0">
                <a:solidFill>
                  <a:srgbClr val="104E87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	</a:t>
            </a:r>
            <a:r>
              <a:rPr lang="en-US" altLang="zh-CN" dirty="0" err="1">
                <a:solidFill>
                  <a:srgbClr val="104E87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cout</a:t>
            </a:r>
            <a:r>
              <a:rPr lang="en-US" altLang="zh-CN" dirty="0">
                <a:solidFill>
                  <a:srgbClr val="104E87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 &lt;&lt; p-&gt;</a:t>
            </a:r>
            <a:r>
              <a:rPr lang="en-US" altLang="zh-CN" dirty="0" err="1">
                <a:solidFill>
                  <a:srgbClr val="104E87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getX</a:t>
            </a:r>
            <a:r>
              <a:rPr lang="en-US" altLang="zh-CN" dirty="0">
                <a:solidFill>
                  <a:srgbClr val="104E87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()&lt;&lt;","&lt;&lt;p-&gt;</a:t>
            </a:r>
            <a:r>
              <a:rPr lang="en-US" altLang="zh-CN" dirty="0" err="1">
                <a:solidFill>
                  <a:srgbClr val="104E87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getY</a:t>
            </a:r>
            <a:r>
              <a:rPr lang="en-US" altLang="zh-CN" dirty="0">
                <a:solidFill>
                  <a:srgbClr val="104E87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()&lt;&lt;'\n';</a:t>
            </a:r>
          </a:p>
          <a:p>
            <a:pPr>
              <a:lnSpc>
                <a:spcPct val="90000"/>
              </a:lnSpc>
            </a:pPr>
            <a:r>
              <a:rPr lang="en-US" altLang="zh-CN" dirty="0">
                <a:solidFill>
                  <a:srgbClr val="104E87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	</a:t>
            </a:r>
            <a:r>
              <a:rPr lang="en-US" altLang="zh-CN" dirty="0" err="1">
                <a:solidFill>
                  <a:srgbClr val="104E87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cout</a:t>
            </a:r>
            <a:r>
              <a:rPr lang="en-US" altLang="zh-CN" dirty="0">
                <a:solidFill>
                  <a:srgbClr val="104E87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 &lt;&lt; myp1.getX()&lt;&lt;","&lt;&lt;myp1.getY()&lt;&lt;'\n';</a:t>
            </a:r>
          </a:p>
          <a:p>
            <a:pPr>
              <a:lnSpc>
                <a:spcPct val="80000"/>
              </a:lnSpc>
            </a:pPr>
            <a:r>
              <a:rPr lang="en-US" altLang="zh-CN" dirty="0">
                <a:solidFill>
                  <a:srgbClr val="104E87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	return 0;</a:t>
            </a:r>
          </a:p>
          <a:p>
            <a:pPr>
              <a:lnSpc>
                <a:spcPct val="80000"/>
              </a:lnSpc>
            </a:pPr>
            <a:r>
              <a:rPr lang="en-US" altLang="zh-CN" dirty="0">
                <a:solidFill>
                  <a:srgbClr val="104E87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}</a:t>
            </a:r>
            <a:endParaRPr lang="zh-CN" altLang="en-US" dirty="0">
              <a:solidFill>
                <a:srgbClr val="104E87"/>
              </a:solidFill>
              <a:latin typeface="华光行书_CNKI" panose="02000500000000000000" pitchFamily="2" charset="-122"/>
              <a:ea typeface="华光行书_CNKI" panose="02000500000000000000" pitchFamily="2" charset="-122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750A4C16-D9B5-4B5D-841A-F6077E505C4F}"/>
              </a:ext>
            </a:extLst>
          </p:cNvPr>
          <p:cNvSpPr txBox="1"/>
          <p:nvPr/>
        </p:nvSpPr>
        <p:spPr>
          <a:xfrm>
            <a:off x="8174620" y="2436594"/>
            <a:ext cx="3986359" cy="1569660"/>
          </a:xfrm>
          <a:prstGeom prst="rect">
            <a:avLst/>
          </a:prstGeom>
          <a:solidFill>
            <a:srgbClr val="B7D3E8"/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104E87"/>
                </a:solidFill>
                <a:latin typeface="Comic Sans MS" panose="030F0702030302020204" pitchFamily="66" charset="0"/>
              </a:rPr>
              <a:t>Point::Point(int xx, int yy){</a:t>
            </a:r>
          </a:p>
          <a:p>
            <a:r>
              <a:rPr lang="zh-CN" altLang="en-US" dirty="0">
                <a:solidFill>
                  <a:srgbClr val="104E87"/>
                </a:solidFill>
                <a:latin typeface="Comic Sans MS" panose="030F0702030302020204" pitchFamily="66" charset="0"/>
              </a:rPr>
              <a:t>	x = xx; </a:t>
            </a:r>
          </a:p>
          <a:p>
            <a:r>
              <a:rPr lang="zh-CN" altLang="en-US" dirty="0">
                <a:solidFill>
                  <a:srgbClr val="104E87"/>
                </a:solidFill>
                <a:latin typeface="Comic Sans MS" panose="030F0702030302020204" pitchFamily="66" charset="0"/>
              </a:rPr>
              <a:t>	y = yy;</a:t>
            </a:r>
          </a:p>
          <a:p>
            <a:r>
              <a:rPr lang="zh-CN" altLang="en-US" dirty="0">
                <a:solidFill>
                  <a:srgbClr val="104E87"/>
                </a:solidFill>
                <a:latin typeface="Comic Sans MS" panose="030F0702030302020204" pitchFamily="66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0840802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5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1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5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1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4" presetClass="entr" presetSubtype="5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1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7" grpId="0" animBg="1"/>
      <p:bldP spid="25" grpId="0" animBg="1"/>
      <p:bldP spid="27" grpId="0" animBg="1"/>
      <p:bldP spid="24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794" y="176798"/>
            <a:ext cx="12190413" cy="728917"/>
          </a:xfrm>
          <a:prstGeom prst="rect">
            <a:avLst/>
          </a:prstGeom>
          <a:solidFill>
            <a:srgbClr val="26CC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3200"/>
          </a:p>
        </p:txBody>
      </p:sp>
      <p:cxnSp>
        <p:nvCxnSpPr>
          <p:cNvPr id="7" name="直线连接符 6"/>
          <p:cNvCxnSpPr/>
          <p:nvPr/>
        </p:nvCxnSpPr>
        <p:spPr>
          <a:xfrm>
            <a:off x="1587" y="905715"/>
            <a:ext cx="12190413" cy="0"/>
          </a:xfrm>
          <a:prstGeom prst="line">
            <a:avLst/>
          </a:prstGeom>
          <a:ln>
            <a:solidFill>
              <a:srgbClr val="104D7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2">
            <a:extLst>
              <a:ext uri="{FF2B5EF4-FFF2-40B4-BE49-F238E27FC236}">
                <a16:creationId xmlns:a16="http://schemas.microsoft.com/office/drawing/2014/main" id="{ACB04A19-EAE4-4A5D-B04D-1B93F9C979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381" y="761354"/>
            <a:ext cx="4050688" cy="7694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marL="457200" indent="-457200">
              <a:lnSpc>
                <a:spcPct val="150000"/>
              </a:lnSpc>
              <a:buFontTx/>
              <a:buBlip>
                <a:blip r:embed="rId3"/>
              </a:buBlip>
              <a:defRPr sz="2800" b="1">
                <a:solidFill>
                  <a:srgbClr val="104E87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defRPr>
            </a:lvl1pPr>
            <a:lvl2pPr marL="742950" indent="-285750">
              <a:defRPr sz="2000" b="1"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000" b="1"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000" b="1"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000" b="1"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r>
              <a:rPr lang="zh-CN" altLang="en-US" sz="3200" dirty="0"/>
              <a:t>对象的</a:t>
            </a:r>
            <a:r>
              <a:rPr lang="en-US" altLang="zh-CN" sz="3200" dirty="0"/>
              <a:t>this</a:t>
            </a:r>
            <a:r>
              <a:rPr lang="zh-CN" altLang="en-US" sz="3200" dirty="0"/>
              <a:t>指针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AFC6942B-B9B9-42C5-A057-CB3D7BEBCA14}"/>
              </a:ext>
            </a:extLst>
          </p:cNvPr>
          <p:cNvSpPr txBox="1"/>
          <p:nvPr/>
        </p:nvSpPr>
        <p:spPr>
          <a:xfrm>
            <a:off x="247719" y="224527"/>
            <a:ext cx="802877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kumimoji="1" sz="3200" b="1">
                <a:latin typeface="华光胖头鱼_CNKI" panose="02000500000000000000" pitchFamily="2" charset="-122"/>
                <a:ea typeface="华光胖头鱼_CNKI" panose="02000500000000000000" pitchFamily="2" charset="-122"/>
              </a:defRPr>
            </a:lvl1pPr>
          </a:lstStyle>
          <a:p>
            <a:r>
              <a:rPr lang="en-US" altLang="zh-CN" dirty="0"/>
              <a:t>7.6</a:t>
            </a:r>
            <a:r>
              <a:rPr lang="zh-CN" altLang="en-US" dirty="0"/>
              <a:t> 对象指针与</a:t>
            </a:r>
            <a:r>
              <a:rPr lang="en-US" altLang="zh-CN" dirty="0"/>
              <a:t>this</a:t>
            </a:r>
            <a:r>
              <a:rPr lang="zh-CN" altLang="en-US" dirty="0"/>
              <a:t>指针</a:t>
            </a:r>
          </a:p>
        </p:txBody>
      </p:sp>
      <p:sp>
        <p:nvSpPr>
          <p:cNvPr id="12" name="Rectangle 2">
            <a:extLst>
              <a:ext uri="{FF2B5EF4-FFF2-40B4-BE49-F238E27FC236}">
                <a16:creationId xmlns:a16="http://schemas.microsoft.com/office/drawing/2014/main" id="{20A9A96B-3F61-4C48-8BAB-CB921512ED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7719" y="3927017"/>
            <a:ext cx="2865871" cy="5454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eaLnBrk="1" hangingPunct="1">
              <a:defRPr/>
            </a:pPr>
            <a:r>
              <a:rPr lang="zh-CN" altLang="en-US" sz="2800" b="1" kern="0" dirty="0">
                <a:solidFill>
                  <a:srgbClr val="FF0000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  <a:cs typeface="+mj-cs"/>
              </a:rPr>
              <a:t>神秘的</a:t>
            </a:r>
            <a:r>
              <a:rPr lang="en-US" altLang="zh-CN" sz="2800" b="1" kern="0" dirty="0">
                <a:solidFill>
                  <a:srgbClr val="FF0000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  <a:cs typeface="+mj-cs"/>
              </a:rPr>
              <a:t>this</a:t>
            </a:r>
            <a:r>
              <a:rPr lang="zh-CN" altLang="en-US" sz="2800" b="1" kern="0" dirty="0">
                <a:solidFill>
                  <a:srgbClr val="FF0000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  <a:cs typeface="+mj-cs"/>
              </a:rPr>
              <a:t>指针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48192798-DBF7-4183-869C-822BABD1C2F2}"/>
              </a:ext>
            </a:extLst>
          </p:cNvPr>
          <p:cNvSpPr txBox="1"/>
          <p:nvPr/>
        </p:nvSpPr>
        <p:spPr>
          <a:xfrm>
            <a:off x="-11412" y="1988025"/>
            <a:ext cx="373710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dirty="0">
                <a:solidFill>
                  <a:srgbClr val="104E87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成员函数是类对象共享的，</a:t>
            </a:r>
            <a:r>
              <a:rPr lang="zh-CN" altLang="en-US" sz="2400" dirty="0">
                <a:solidFill>
                  <a:srgbClr val="104E87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类的所有对象调用的都是同一段代码，那么如何知道哪个对象在调用成员呢？</a:t>
            </a:r>
          </a:p>
        </p:txBody>
      </p:sp>
      <p:sp>
        <p:nvSpPr>
          <p:cNvPr id="18" name="Rectangle 2">
            <a:extLst>
              <a:ext uri="{FF2B5EF4-FFF2-40B4-BE49-F238E27FC236}">
                <a16:creationId xmlns:a16="http://schemas.microsoft.com/office/drawing/2014/main" id="{CCA77CF3-F4A1-40A8-9A18-B0223B2927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36702" y="1436428"/>
            <a:ext cx="2865871" cy="5454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eaLnBrk="1" hangingPunct="1">
              <a:defRPr/>
            </a:pPr>
            <a:r>
              <a:rPr lang="zh-CN" altLang="en-US" b="0" kern="0" dirty="0">
                <a:solidFill>
                  <a:srgbClr val="FF0000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  <a:cs typeface="+mj-cs"/>
              </a:rPr>
              <a:t>思考一个问题：</a:t>
            </a:r>
          </a:p>
        </p:txBody>
      </p:sp>
      <p:sp>
        <p:nvSpPr>
          <p:cNvPr id="19" name="矩形 2">
            <a:extLst>
              <a:ext uri="{FF2B5EF4-FFF2-40B4-BE49-F238E27FC236}">
                <a16:creationId xmlns:a16="http://schemas.microsoft.com/office/drawing/2014/main" id="{DC86A708-E8E0-4592-8BA9-29FB8DFC59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77070" y="933639"/>
            <a:ext cx="8088550" cy="2988510"/>
          </a:xfrm>
          <a:prstGeom prst="rect">
            <a:avLst/>
          </a:prstGeom>
          <a:solidFill>
            <a:srgbClr val="B7D3E8"/>
          </a:solidFill>
          <a:ln>
            <a:noFill/>
          </a:ln>
        </p:spPr>
        <p:txBody>
          <a:bodyPr wrap="square">
            <a:spAutoFit/>
          </a:bodyPr>
          <a:lstStyle>
            <a:lvl1pPr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90000"/>
              </a:lnSpc>
            </a:pPr>
            <a:r>
              <a:rPr lang="en-US" altLang="zh-CN" sz="2400" b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class Clock{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sz="2400" b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public: 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sz="2400" b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  void </a:t>
            </a:r>
            <a:r>
              <a:rPr lang="en-US" altLang="zh-CN" sz="2400" b="0" dirty="0" err="1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setTime</a:t>
            </a:r>
            <a:r>
              <a:rPr lang="en-US" altLang="zh-CN" sz="2400" b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(int </a:t>
            </a:r>
            <a:r>
              <a:rPr lang="en-US" altLang="zh-CN" sz="2400" b="0" dirty="0" err="1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newH</a:t>
            </a:r>
            <a:r>
              <a:rPr lang="en-US" altLang="zh-CN" sz="2400" b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, int </a:t>
            </a:r>
            <a:r>
              <a:rPr lang="en-US" altLang="zh-CN" sz="2400" b="0" dirty="0" err="1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newM</a:t>
            </a:r>
            <a:r>
              <a:rPr lang="en-US" altLang="zh-CN" sz="2400" b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, int </a:t>
            </a:r>
            <a:r>
              <a:rPr lang="en-US" altLang="zh-CN" sz="2400" b="0" dirty="0" err="1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newS</a:t>
            </a:r>
            <a:r>
              <a:rPr lang="en-US" altLang="zh-CN" sz="2400" b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) </a:t>
            </a:r>
          </a:p>
          <a:p>
            <a:pPr>
              <a:lnSpc>
                <a:spcPct val="90000"/>
              </a:lnSpc>
            </a:pPr>
            <a:r>
              <a:rPr lang="en-US" altLang="zh-CN" sz="2400" b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  {hour = </a:t>
            </a:r>
            <a:r>
              <a:rPr lang="en-US" altLang="zh-CN" sz="2400" b="0" dirty="0" err="1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newH</a:t>
            </a:r>
            <a:r>
              <a:rPr lang="en-US" altLang="zh-CN" sz="2400" b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; minute = </a:t>
            </a:r>
            <a:r>
              <a:rPr lang="en-US" altLang="zh-CN" sz="2400" b="0" dirty="0" err="1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newM</a:t>
            </a:r>
            <a:r>
              <a:rPr lang="en-US" altLang="zh-CN" sz="2400" b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; second = </a:t>
            </a:r>
            <a:r>
              <a:rPr lang="en-US" altLang="zh-CN" sz="2400" b="0" dirty="0" err="1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newS</a:t>
            </a:r>
            <a:r>
              <a:rPr lang="en-US" altLang="zh-CN" sz="2400" b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; }          </a:t>
            </a:r>
          </a:p>
          <a:p>
            <a:pPr>
              <a:spcBef>
                <a:spcPts val="600"/>
              </a:spcBef>
            </a:pPr>
            <a:r>
              <a:rPr lang="en-US" altLang="zh-CN" sz="2400" b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  void </a:t>
            </a:r>
            <a:r>
              <a:rPr lang="en-US" altLang="zh-CN" sz="2400" b="0" dirty="0" err="1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showTime</a:t>
            </a:r>
            <a:r>
              <a:rPr lang="en-US" altLang="zh-CN" sz="2400" b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()</a:t>
            </a:r>
          </a:p>
          <a:p>
            <a:r>
              <a:rPr lang="en-US" altLang="zh-CN" sz="2400" b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  {</a:t>
            </a:r>
            <a:r>
              <a:rPr lang="en-US" altLang="zh-CN" sz="2400" b="0" dirty="0" err="1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cout</a:t>
            </a:r>
            <a:r>
              <a:rPr lang="en-US" altLang="zh-CN" sz="2400" b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&lt;&lt;hour&lt;&lt;“:”&lt;&lt;minute&lt;&lt;“:”&lt;&lt;second&lt;&lt;</a:t>
            </a:r>
            <a:r>
              <a:rPr lang="en-US" altLang="zh-CN" sz="2400" b="0" dirty="0" err="1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endl</a:t>
            </a:r>
            <a:r>
              <a:rPr lang="en-US" altLang="zh-CN" sz="2400" b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; }         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sz="2400" b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private: int hour, minute, second;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sz="2400" b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};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64F73248-0016-4C01-8E2A-7C203493BE8D}"/>
              </a:ext>
            </a:extLst>
          </p:cNvPr>
          <p:cNvSpPr/>
          <p:nvPr/>
        </p:nvSpPr>
        <p:spPr>
          <a:xfrm>
            <a:off x="4262105" y="1635031"/>
            <a:ext cx="7903515" cy="76636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eaLnBrk="1" hangingPunct="1">
              <a:lnSpc>
                <a:spcPct val="90000"/>
              </a:lnSpc>
              <a:spcBef>
                <a:spcPts val="0"/>
              </a:spcBef>
              <a:defRPr/>
            </a:pPr>
            <a:r>
              <a:rPr lang="en-US" altLang="zh-CN" sz="2400" spc="-1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void </a:t>
            </a:r>
            <a:r>
              <a:rPr lang="en-US" altLang="zh-CN" sz="2400" spc="-100" dirty="0" err="1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setTime</a:t>
            </a:r>
            <a:r>
              <a:rPr lang="en-US" altLang="zh-CN" sz="2400" spc="-1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(Clock </a:t>
            </a:r>
            <a:r>
              <a:rPr lang="zh-CN" altLang="en-US" sz="2400" spc="-1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*</a:t>
            </a:r>
            <a:r>
              <a:rPr lang="en-US" altLang="zh-CN" sz="2400" spc="-1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this, int </a:t>
            </a:r>
            <a:r>
              <a:rPr lang="en-US" altLang="zh-CN" sz="2400" spc="-100" dirty="0" err="1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newH</a:t>
            </a:r>
            <a:r>
              <a:rPr lang="en-US" altLang="zh-CN" sz="2400" spc="-1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, int </a:t>
            </a:r>
            <a:r>
              <a:rPr lang="en-US" altLang="zh-CN" sz="2400" spc="-100" dirty="0" err="1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newM</a:t>
            </a:r>
            <a:r>
              <a:rPr lang="en-US" altLang="zh-CN" sz="2400" spc="-1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, int </a:t>
            </a:r>
            <a:r>
              <a:rPr lang="en-US" altLang="zh-CN" sz="2400" spc="-100" dirty="0" err="1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newS</a:t>
            </a:r>
            <a:r>
              <a:rPr lang="en-US" altLang="zh-CN" sz="2400" spc="-1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)</a:t>
            </a:r>
          </a:p>
          <a:p>
            <a:pPr eaLnBrk="1" hangingPunct="1">
              <a:lnSpc>
                <a:spcPct val="90000"/>
              </a:lnSpc>
              <a:spcBef>
                <a:spcPts val="0"/>
              </a:spcBef>
              <a:defRPr/>
            </a:pPr>
            <a:r>
              <a:rPr lang="en-US" altLang="zh-CN" sz="2400" spc="-1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{this-&gt;hour=</a:t>
            </a:r>
            <a:r>
              <a:rPr lang="en-US" altLang="zh-CN" sz="2400" spc="-100" dirty="0" err="1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newH</a:t>
            </a:r>
            <a:r>
              <a:rPr lang="en-US" altLang="zh-CN" sz="2400" spc="-1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; this-&gt;minute=</a:t>
            </a:r>
            <a:r>
              <a:rPr lang="en-US" altLang="zh-CN" sz="2400" spc="-100" dirty="0" err="1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newM</a:t>
            </a:r>
            <a:r>
              <a:rPr lang="en-US" altLang="zh-CN" sz="2400" spc="-1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; this-&gt;second=</a:t>
            </a:r>
            <a:r>
              <a:rPr lang="en-US" altLang="zh-CN" sz="2400" spc="-100" dirty="0" err="1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newS</a:t>
            </a:r>
            <a:r>
              <a:rPr lang="en-US" altLang="zh-CN" sz="2400" spc="-1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;}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045F03A9-0D93-48B2-A70C-194BA0870A25}"/>
              </a:ext>
            </a:extLst>
          </p:cNvPr>
          <p:cNvSpPr/>
          <p:nvPr/>
        </p:nvSpPr>
        <p:spPr>
          <a:xfrm>
            <a:off x="4262104" y="2336423"/>
            <a:ext cx="7903515" cy="7571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eaLnBrk="1" hangingPunct="1">
              <a:lnSpc>
                <a:spcPct val="90000"/>
              </a:lnSpc>
              <a:spcBef>
                <a:spcPts val="0"/>
              </a:spcBef>
              <a:defRPr/>
            </a:pPr>
            <a:r>
              <a:rPr lang="en-US" altLang="zh-CN" sz="2400" spc="-1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void </a:t>
            </a:r>
            <a:r>
              <a:rPr lang="en-US" altLang="zh-CN" sz="2400" spc="-100" dirty="0" err="1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showTime</a:t>
            </a:r>
            <a:r>
              <a:rPr lang="en-US" altLang="zh-CN" sz="2400" spc="-1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(Clock </a:t>
            </a:r>
            <a:r>
              <a:rPr lang="zh-CN" altLang="en-US" sz="2400" spc="-1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*</a:t>
            </a:r>
            <a:r>
              <a:rPr lang="en-US" altLang="zh-CN" sz="2400" spc="-1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this)</a:t>
            </a:r>
          </a:p>
          <a:p>
            <a:pPr>
              <a:lnSpc>
                <a:spcPct val="90000"/>
              </a:lnSpc>
              <a:defRPr/>
            </a:pPr>
            <a:r>
              <a:rPr lang="en-US" altLang="zh-CN" sz="2400" spc="-1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{</a:t>
            </a:r>
            <a:r>
              <a:rPr lang="en-US" altLang="zh-CN" spc="-100" dirty="0" err="1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cout</a:t>
            </a:r>
            <a:r>
              <a:rPr lang="en-US" altLang="zh-CN" spc="-1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&lt;&lt;this-&gt;hour&lt;&lt;‘:’&lt;&lt; this-&gt;minute&lt;&lt;‘:’&lt;&lt;this-&gt;second&lt;&lt;</a:t>
            </a:r>
            <a:r>
              <a:rPr lang="en-US" altLang="zh-CN" spc="-100" dirty="0" err="1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endl</a:t>
            </a:r>
            <a:r>
              <a:rPr lang="en-US" altLang="zh-CN" spc="-1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;</a:t>
            </a:r>
            <a:r>
              <a:rPr lang="en-US" altLang="zh-CN" sz="2400" spc="-1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}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D4A9A8DA-DCFA-44F8-86F7-75A9E53F0312}"/>
              </a:ext>
            </a:extLst>
          </p:cNvPr>
          <p:cNvSpPr txBox="1"/>
          <p:nvPr/>
        </p:nvSpPr>
        <p:spPr>
          <a:xfrm>
            <a:off x="52087" y="4708390"/>
            <a:ext cx="2737412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 b="0" dirty="0">
                <a:solidFill>
                  <a:srgbClr val="104E87"/>
                </a:solidFill>
                <a:latin typeface="Comic Sans MS" panose="030F0702030302020204" pitchFamily="66" charset="0"/>
                <a:ea typeface="宋体" panose="02010600030101010101" pitchFamily="2" charset="-122"/>
              </a:rPr>
              <a:t>Clock  </a:t>
            </a:r>
            <a:r>
              <a:rPr kumimoji="1" lang="en-US" altLang="zh-CN" sz="2400" b="0" dirty="0" err="1">
                <a:solidFill>
                  <a:srgbClr val="104E87"/>
                </a:solidFill>
                <a:latin typeface="Comic Sans MS" panose="030F0702030302020204" pitchFamily="66" charset="0"/>
                <a:ea typeface="宋体" panose="02010600030101010101" pitchFamily="2" charset="-122"/>
              </a:rPr>
              <a:t>p,q</a:t>
            </a:r>
            <a:r>
              <a:rPr kumimoji="1" lang="en-US" altLang="zh-CN" sz="2400" b="0" dirty="0">
                <a:solidFill>
                  <a:srgbClr val="104E87"/>
                </a:solidFill>
                <a:latin typeface="Comic Sans MS" panose="030F0702030302020204" pitchFamily="66" charset="0"/>
                <a:ea typeface="宋体" panose="02010600030101010101" pitchFamily="2" charset="-122"/>
              </a:rPr>
              <a:t>;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 b="0" dirty="0" err="1">
                <a:solidFill>
                  <a:srgbClr val="104E87"/>
                </a:solidFill>
                <a:latin typeface="Comic Sans MS" panose="030F0702030302020204" pitchFamily="66" charset="0"/>
                <a:ea typeface="宋体" panose="02010600030101010101" pitchFamily="2" charset="-122"/>
              </a:rPr>
              <a:t>p.settime</a:t>
            </a:r>
            <a:r>
              <a:rPr kumimoji="1" lang="en-US" altLang="zh-CN" sz="2400" b="0" dirty="0">
                <a:solidFill>
                  <a:srgbClr val="104E87"/>
                </a:solidFill>
                <a:latin typeface="Comic Sans MS" panose="030F0702030302020204" pitchFamily="66" charset="0"/>
                <a:ea typeface="宋体" panose="02010600030101010101" pitchFamily="2" charset="-122"/>
              </a:rPr>
              <a:t>(0,0,0);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 b="0" dirty="0" err="1">
                <a:solidFill>
                  <a:srgbClr val="104E87"/>
                </a:solidFill>
                <a:latin typeface="Comic Sans MS" panose="030F0702030302020204" pitchFamily="66" charset="0"/>
                <a:ea typeface="宋体" panose="02010600030101010101" pitchFamily="2" charset="-122"/>
              </a:rPr>
              <a:t>q.settime</a:t>
            </a:r>
            <a:r>
              <a:rPr kumimoji="1" lang="en-US" altLang="zh-CN" sz="2400" b="0" dirty="0">
                <a:solidFill>
                  <a:srgbClr val="104E87"/>
                </a:solidFill>
                <a:latin typeface="Comic Sans MS" panose="030F0702030302020204" pitchFamily="66" charset="0"/>
                <a:ea typeface="宋体" panose="02010600030101010101" pitchFamily="2" charset="-122"/>
              </a:rPr>
              <a:t>(12,0,0);</a:t>
            </a:r>
          </a:p>
          <a:p>
            <a:pPr>
              <a:spcBef>
                <a:spcPct val="0"/>
              </a:spcBef>
            </a:pPr>
            <a:r>
              <a:rPr kumimoji="1" lang="en-US" altLang="zh-CN" dirty="0" err="1">
                <a:solidFill>
                  <a:srgbClr val="104E87"/>
                </a:solidFill>
                <a:latin typeface="Comic Sans MS" panose="030F0702030302020204" pitchFamily="66" charset="0"/>
                <a:ea typeface="宋体" panose="02010600030101010101" pitchFamily="2" charset="-122"/>
              </a:rPr>
              <a:t>p.showTime</a:t>
            </a:r>
            <a:r>
              <a:rPr kumimoji="1" lang="en-US" altLang="zh-CN" dirty="0">
                <a:solidFill>
                  <a:srgbClr val="104E87"/>
                </a:solidFill>
                <a:latin typeface="Comic Sans MS" panose="030F0702030302020204" pitchFamily="66" charset="0"/>
                <a:ea typeface="宋体" panose="02010600030101010101" pitchFamily="2" charset="-122"/>
              </a:rPr>
              <a:t>()</a:t>
            </a:r>
          </a:p>
          <a:p>
            <a:pPr>
              <a:spcBef>
                <a:spcPct val="0"/>
              </a:spcBef>
            </a:pPr>
            <a:r>
              <a:rPr kumimoji="1" lang="en-US" altLang="zh-CN" dirty="0" err="1">
                <a:solidFill>
                  <a:srgbClr val="104E87"/>
                </a:solidFill>
                <a:latin typeface="Comic Sans MS" panose="030F0702030302020204" pitchFamily="66" charset="0"/>
                <a:ea typeface="宋体" panose="02010600030101010101" pitchFamily="2" charset="-122"/>
              </a:rPr>
              <a:t>q.showTime</a:t>
            </a:r>
            <a:r>
              <a:rPr kumimoji="1" lang="en-US" altLang="zh-CN" dirty="0">
                <a:solidFill>
                  <a:srgbClr val="104E87"/>
                </a:solidFill>
                <a:latin typeface="Comic Sans MS" panose="030F0702030302020204" pitchFamily="66" charset="0"/>
                <a:ea typeface="宋体" panose="02010600030101010101" pitchFamily="2" charset="-122"/>
              </a:rPr>
              <a:t>()</a:t>
            </a:r>
          </a:p>
        </p:txBody>
      </p:sp>
      <p:sp>
        <p:nvSpPr>
          <p:cNvPr id="36" name="Text Box 16">
            <a:extLst>
              <a:ext uri="{FF2B5EF4-FFF2-40B4-BE49-F238E27FC236}">
                <a16:creationId xmlns:a16="http://schemas.microsoft.com/office/drawing/2014/main" id="{E93A7547-5966-4BAA-86FA-AB201208E4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05483" y="3934354"/>
            <a:ext cx="652635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Char char="o"/>
              <a:defRPr sz="32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o"/>
              <a:defRPr sz="24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n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 b="0" dirty="0">
                <a:solidFill>
                  <a:srgbClr val="104E87"/>
                </a:solidFill>
                <a:latin typeface="Comic Sans MS" panose="030F0702030302020204" pitchFamily="66" charset="0"/>
                <a:ea typeface="宋体" panose="02010600030101010101" pitchFamily="2" charset="-122"/>
              </a:rPr>
              <a:t>0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 b="0" dirty="0">
                <a:solidFill>
                  <a:srgbClr val="104E87"/>
                </a:solidFill>
                <a:latin typeface="Comic Sans MS" panose="030F0702030302020204" pitchFamily="66" charset="0"/>
                <a:ea typeface="宋体" panose="02010600030101010101" pitchFamily="2" charset="-122"/>
              </a:rPr>
              <a:t>0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 b="0" dirty="0">
                <a:solidFill>
                  <a:srgbClr val="104E87"/>
                </a:solidFill>
                <a:latin typeface="Comic Sans MS" panose="030F0702030302020204" pitchFamily="66" charset="0"/>
                <a:ea typeface="宋体" panose="02010600030101010101" pitchFamily="2" charset="-122"/>
              </a:rPr>
              <a:t>0</a:t>
            </a:r>
          </a:p>
        </p:txBody>
      </p:sp>
      <p:sp>
        <p:nvSpPr>
          <p:cNvPr id="37" name="Text Box 17">
            <a:extLst>
              <a:ext uri="{FF2B5EF4-FFF2-40B4-BE49-F238E27FC236}">
                <a16:creationId xmlns:a16="http://schemas.microsoft.com/office/drawing/2014/main" id="{DA15501F-CACC-48E8-9F17-E09073BEBD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14881" y="5452882"/>
            <a:ext cx="914400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Char char="o"/>
              <a:defRPr sz="32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o"/>
              <a:defRPr sz="24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n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 b="0" dirty="0">
                <a:solidFill>
                  <a:srgbClr val="104E87"/>
                </a:solidFill>
                <a:latin typeface="Comic Sans MS" panose="030F0702030302020204" pitchFamily="66" charset="0"/>
                <a:ea typeface="宋体" panose="02010600030101010101" pitchFamily="2" charset="-122"/>
              </a:rPr>
              <a:t>12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 b="0" dirty="0">
                <a:solidFill>
                  <a:srgbClr val="104E87"/>
                </a:solidFill>
                <a:latin typeface="Comic Sans MS" panose="030F0702030302020204" pitchFamily="66" charset="0"/>
                <a:ea typeface="宋体" panose="02010600030101010101" pitchFamily="2" charset="-122"/>
              </a:rPr>
              <a:t>0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 b="0" dirty="0">
                <a:solidFill>
                  <a:srgbClr val="104E87"/>
                </a:solidFill>
                <a:latin typeface="Comic Sans MS" panose="030F0702030302020204" pitchFamily="66" charset="0"/>
                <a:ea typeface="宋体" panose="02010600030101010101" pitchFamily="2" charset="-122"/>
              </a:rPr>
              <a:t>0</a:t>
            </a: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18C568E7-3DAC-48A3-9B4E-DCF2D860A2DE}"/>
              </a:ext>
            </a:extLst>
          </p:cNvPr>
          <p:cNvGrpSpPr/>
          <p:nvPr/>
        </p:nvGrpSpPr>
        <p:grpSpPr>
          <a:xfrm>
            <a:off x="2703923" y="3480790"/>
            <a:ext cx="2391307" cy="1592442"/>
            <a:chOff x="3085890" y="3538663"/>
            <a:chExt cx="2391307" cy="1592442"/>
          </a:xfrm>
        </p:grpSpPr>
        <p:sp>
          <p:nvSpPr>
            <p:cNvPr id="30" name="Rectangle 9">
              <a:extLst>
                <a:ext uri="{FF2B5EF4-FFF2-40B4-BE49-F238E27FC236}">
                  <a16:creationId xmlns:a16="http://schemas.microsoft.com/office/drawing/2014/main" id="{A0A4AFC7-96B5-490E-89EE-93E519279BC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52979" y="3930776"/>
              <a:ext cx="1724218" cy="1200329"/>
            </a:xfrm>
            <a:prstGeom prst="rect">
              <a:avLst/>
            </a:prstGeom>
            <a:noFill/>
            <a:ln w="9525">
              <a:solidFill>
                <a:schemeClr val="accent1"/>
              </a:solidFill>
              <a:miter lim="800000"/>
              <a:headEnd/>
              <a:tailEnd/>
            </a:ln>
            <a:effectLst/>
          </p:spPr>
          <p:txBody>
            <a:bodyPr wrap="square" anchor="ctr">
              <a:spAutoFit/>
            </a:bodyPr>
            <a:lstStyle/>
            <a:p>
              <a:pPr eaLnBrk="1" hangingPunct="1">
                <a:spcBef>
                  <a:spcPts val="0"/>
                </a:spcBef>
                <a:defRPr/>
              </a:pPr>
              <a:r>
                <a:rPr kumimoji="1" lang="en-US" altLang="zh-CN" b="0" dirty="0">
                  <a:solidFill>
                    <a:srgbClr val="104E87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Comic Sans MS" panose="030F0702030302020204" pitchFamily="66" charset="0"/>
                </a:rPr>
                <a:t>hour</a:t>
              </a:r>
            </a:p>
            <a:p>
              <a:pPr eaLnBrk="1" hangingPunct="1">
                <a:spcBef>
                  <a:spcPts val="0"/>
                </a:spcBef>
                <a:defRPr/>
              </a:pPr>
              <a:r>
                <a:rPr kumimoji="1" lang="en-US" altLang="zh-CN" b="0" dirty="0" err="1">
                  <a:solidFill>
                    <a:srgbClr val="104E87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Comic Sans MS" panose="030F0702030302020204" pitchFamily="66" charset="0"/>
                </a:rPr>
                <a:t>mintue</a:t>
              </a:r>
              <a:endParaRPr kumimoji="1" lang="en-US" altLang="zh-CN" b="0" dirty="0">
                <a:solidFill>
                  <a:srgbClr val="104E87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anose="030F0702030302020204" pitchFamily="66" charset="0"/>
              </a:endParaRPr>
            </a:p>
            <a:p>
              <a:pPr eaLnBrk="1" hangingPunct="1">
                <a:spcBef>
                  <a:spcPts val="0"/>
                </a:spcBef>
                <a:defRPr/>
              </a:pPr>
              <a:r>
                <a:rPr kumimoji="1" lang="en-US" altLang="zh-CN" b="0" dirty="0">
                  <a:solidFill>
                    <a:srgbClr val="104E87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Comic Sans MS" panose="030F0702030302020204" pitchFamily="66" charset="0"/>
                </a:rPr>
                <a:t>second</a:t>
              </a:r>
            </a:p>
          </p:txBody>
        </p:sp>
        <p:sp>
          <p:nvSpPr>
            <p:cNvPr id="31" name="Text Box 10">
              <a:extLst>
                <a:ext uri="{FF2B5EF4-FFF2-40B4-BE49-F238E27FC236}">
                  <a16:creationId xmlns:a16="http://schemas.microsoft.com/office/drawing/2014/main" id="{7744F4E8-74A7-47FC-BF4D-BEBAF5AF404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63551" y="3538663"/>
              <a:ext cx="866775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SzPct val="70000"/>
                <a:buFont typeface="Wingdings" panose="05000000000000000000" pitchFamily="2" charset="2"/>
                <a:buChar char="o"/>
                <a:defRPr sz="3200">
                  <a:solidFill>
                    <a:srgbClr val="0000FF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Wingdings" panose="05000000000000000000" pitchFamily="2" charset="2"/>
                <a:buChar char="n"/>
                <a:defRPr sz="2800">
                  <a:solidFill>
                    <a:srgbClr val="0000FF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o"/>
                <a:defRPr sz="2400">
                  <a:solidFill>
                    <a:srgbClr val="0000FF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5000"/>
                <a:buFont typeface="Wingdings" panose="05000000000000000000" pitchFamily="2" charset="2"/>
                <a:buChar char="n"/>
                <a:defRPr sz="2000">
                  <a:solidFill>
                    <a:srgbClr val="0000FF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o"/>
                <a:defRPr sz="2000">
                  <a:solidFill>
                    <a:srgbClr val="0000FF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o"/>
                <a:defRPr sz="2000">
                  <a:solidFill>
                    <a:srgbClr val="0000FF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o"/>
                <a:defRPr sz="2000">
                  <a:solidFill>
                    <a:srgbClr val="0000FF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o"/>
                <a:defRPr sz="2000">
                  <a:solidFill>
                    <a:srgbClr val="0000FF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o"/>
                <a:defRPr sz="2000">
                  <a:solidFill>
                    <a:srgbClr val="0000FF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1" lang="en-US" altLang="zh-CN" sz="2400" b="0" dirty="0">
                  <a:solidFill>
                    <a:srgbClr val="104E87"/>
                  </a:solidFill>
                  <a:latin typeface="Comic Sans MS" panose="030F0702030302020204" pitchFamily="66" charset="0"/>
                </a:rPr>
                <a:t>p</a:t>
              </a:r>
            </a:p>
          </p:txBody>
        </p:sp>
        <p:sp>
          <p:nvSpPr>
            <p:cNvPr id="38" name="Text Box 20">
              <a:extLst>
                <a:ext uri="{FF2B5EF4-FFF2-40B4-BE49-F238E27FC236}">
                  <a16:creationId xmlns:a16="http://schemas.microsoft.com/office/drawing/2014/main" id="{AD968C16-E2A2-4DD3-8807-710E77BC117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85890" y="3943003"/>
              <a:ext cx="83820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SzPct val="70000"/>
                <a:buFont typeface="Wingdings" panose="05000000000000000000" pitchFamily="2" charset="2"/>
                <a:buChar char="o"/>
                <a:defRPr sz="3200">
                  <a:solidFill>
                    <a:srgbClr val="0000FF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Wingdings" panose="05000000000000000000" pitchFamily="2" charset="2"/>
                <a:buChar char="n"/>
                <a:defRPr sz="2800">
                  <a:solidFill>
                    <a:srgbClr val="0000FF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o"/>
                <a:defRPr sz="2400">
                  <a:solidFill>
                    <a:srgbClr val="0000FF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5000"/>
                <a:buFont typeface="Wingdings" panose="05000000000000000000" pitchFamily="2" charset="2"/>
                <a:buChar char="n"/>
                <a:defRPr sz="2000">
                  <a:solidFill>
                    <a:srgbClr val="0000FF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o"/>
                <a:defRPr sz="2000">
                  <a:solidFill>
                    <a:srgbClr val="0000FF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o"/>
                <a:defRPr sz="2000">
                  <a:solidFill>
                    <a:srgbClr val="0000FF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o"/>
                <a:defRPr sz="2000">
                  <a:solidFill>
                    <a:srgbClr val="0000FF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o"/>
                <a:defRPr sz="2000">
                  <a:solidFill>
                    <a:srgbClr val="0000FF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o"/>
                <a:defRPr sz="2000">
                  <a:solidFill>
                    <a:srgbClr val="0000FF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1" lang="en-US" altLang="zh-CN" sz="2400" b="0" dirty="0">
                  <a:solidFill>
                    <a:srgbClr val="104E87"/>
                  </a:solidFill>
                  <a:latin typeface="Comic Sans MS" panose="030F0702030302020204" pitchFamily="66" charset="0"/>
                  <a:ea typeface="宋体" panose="02010600030101010101" pitchFamily="2" charset="-122"/>
                </a:rPr>
                <a:t>100</a:t>
              </a:r>
            </a:p>
          </p:txBody>
        </p:sp>
      </p:grpSp>
      <p:grpSp>
        <p:nvGrpSpPr>
          <p:cNvPr id="8" name="组合 7">
            <a:extLst>
              <a:ext uri="{FF2B5EF4-FFF2-40B4-BE49-F238E27FC236}">
                <a16:creationId xmlns:a16="http://schemas.microsoft.com/office/drawing/2014/main" id="{FCD44FD3-B06B-494D-8EE1-52D66B098E36}"/>
              </a:ext>
            </a:extLst>
          </p:cNvPr>
          <p:cNvGrpSpPr/>
          <p:nvPr/>
        </p:nvGrpSpPr>
        <p:grpSpPr>
          <a:xfrm>
            <a:off x="2667299" y="5017933"/>
            <a:ext cx="2427931" cy="1572773"/>
            <a:chOff x="3049266" y="5075806"/>
            <a:chExt cx="2427931" cy="1572773"/>
          </a:xfrm>
        </p:grpSpPr>
        <p:sp>
          <p:nvSpPr>
            <p:cNvPr id="39" name="Text Box 21">
              <a:extLst>
                <a:ext uri="{FF2B5EF4-FFF2-40B4-BE49-F238E27FC236}">
                  <a16:creationId xmlns:a16="http://schemas.microsoft.com/office/drawing/2014/main" id="{0BBEAA7A-1A9E-40AD-B2AD-55ACCA30641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49266" y="5374180"/>
              <a:ext cx="83820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SzPct val="70000"/>
                <a:buFont typeface="Wingdings" panose="05000000000000000000" pitchFamily="2" charset="2"/>
                <a:buChar char="o"/>
                <a:defRPr sz="3200">
                  <a:solidFill>
                    <a:srgbClr val="0000FF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Wingdings" panose="05000000000000000000" pitchFamily="2" charset="2"/>
                <a:buChar char="n"/>
                <a:defRPr sz="2800">
                  <a:solidFill>
                    <a:srgbClr val="0000FF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o"/>
                <a:defRPr sz="2400">
                  <a:solidFill>
                    <a:srgbClr val="0000FF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5000"/>
                <a:buFont typeface="Wingdings" panose="05000000000000000000" pitchFamily="2" charset="2"/>
                <a:buChar char="n"/>
                <a:defRPr sz="2000">
                  <a:solidFill>
                    <a:srgbClr val="0000FF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o"/>
                <a:defRPr sz="2000">
                  <a:solidFill>
                    <a:srgbClr val="0000FF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o"/>
                <a:defRPr sz="2000">
                  <a:solidFill>
                    <a:srgbClr val="0000FF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o"/>
                <a:defRPr sz="2000">
                  <a:solidFill>
                    <a:srgbClr val="0000FF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o"/>
                <a:defRPr sz="2000">
                  <a:solidFill>
                    <a:srgbClr val="0000FF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o"/>
                <a:defRPr sz="2000">
                  <a:solidFill>
                    <a:srgbClr val="0000FF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1" lang="en-US" altLang="zh-CN" sz="2400" b="0" dirty="0">
                  <a:solidFill>
                    <a:srgbClr val="104E87"/>
                  </a:solidFill>
                  <a:latin typeface="Comic Sans MS" panose="030F0702030302020204" pitchFamily="66" charset="0"/>
                  <a:ea typeface="宋体" panose="02010600030101010101" pitchFamily="2" charset="-122"/>
                </a:rPr>
                <a:t>200</a:t>
              </a:r>
            </a:p>
          </p:txBody>
        </p:sp>
        <p:sp>
          <p:nvSpPr>
            <p:cNvPr id="40" name="Rectangle 9">
              <a:extLst>
                <a:ext uri="{FF2B5EF4-FFF2-40B4-BE49-F238E27FC236}">
                  <a16:creationId xmlns:a16="http://schemas.microsoft.com/office/drawing/2014/main" id="{73B09AFA-EE53-41AE-B8DB-4901FE9B24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52979" y="5448250"/>
              <a:ext cx="1724218" cy="1200329"/>
            </a:xfrm>
            <a:prstGeom prst="rect">
              <a:avLst/>
            </a:prstGeom>
            <a:noFill/>
            <a:ln w="9525">
              <a:solidFill>
                <a:schemeClr val="accent1"/>
              </a:solidFill>
              <a:miter lim="800000"/>
              <a:headEnd/>
              <a:tailEnd/>
            </a:ln>
            <a:effectLst/>
          </p:spPr>
          <p:txBody>
            <a:bodyPr wrap="square" anchor="ctr">
              <a:spAutoFit/>
            </a:bodyPr>
            <a:lstStyle/>
            <a:p>
              <a:pPr eaLnBrk="1" hangingPunct="1">
                <a:spcBef>
                  <a:spcPts val="0"/>
                </a:spcBef>
                <a:defRPr/>
              </a:pPr>
              <a:r>
                <a:rPr kumimoji="1" lang="en-US" altLang="zh-CN" b="0" dirty="0">
                  <a:solidFill>
                    <a:srgbClr val="104E87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Comic Sans MS" panose="030F0702030302020204" pitchFamily="66" charset="0"/>
                </a:rPr>
                <a:t>hour</a:t>
              </a:r>
            </a:p>
            <a:p>
              <a:pPr eaLnBrk="1" hangingPunct="1">
                <a:spcBef>
                  <a:spcPts val="0"/>
                </a:spcBef>
                <a:defRPr/>
              </a:pPr>
              <a:r>
                <a:rPr kumimoji="1" lang="en-US" altLang="zh-CN" b="0" dirty="0" err="1">
                  <a:solidFill>
                    <a:srgbClr val="104E87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Comic Sans MS" panose="030F0702030302020204" pitchFamily="66" charset="0"/>
                </a:rPr>
                <a:t>mintue</a:t>
              </a:r>
              <a:endParaRPr kumimoji="1" lang="en-US" altLang="zh-CN" b="0" dirty="0">
                <a:solidFill>
                  <a:srgbClr val="104E87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anose="030F0702030302020204" pitchFamily="66" charset="0"/>
              </a:endParaRPr>
            </a:p>
            <a:p>
              <a:pPr eaLnBrk="1" hangingPunct="1">
                <a:spcBef>
                  <a:spcPts val="0"/>
                </a:spcBef>
                <a:defRPr/>
              </a:pPr>
              <a:r>
                <a:rPr kumimoji="1" lang="en-US" altLang="zh-CN" b="0" dirty="0">
                  <a:solidFill>
                    <a:srgbClr val="104E87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Comic Sans MS" panose="030F0702030302020204" pitchFamily="66" charset="0"/>
                </a:rPr>
                <a:t>second</a:t>
              </a:r>
            </a:p>
          </p:txBody>
        </p:sp>
        <p:sp>
          <p:nvSpPr>
            <p:cNvPr id="41" name="Text Box 10">
              <a:extLst>
                <a:ext uri="{FF2B5EF4-FFF2-40B4-BE49-F238E27FC236}">
                  <a16:creationId xmlns:a16="http://schemas.microsoft.com/office/drawing/2014/main" id="{517D7231-433F-4F59-99A6-A32F8E3C99B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16800" y="5075806"/>
              <a:ext cx="866775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SzPct val="70000"/>
                <a:buFont typeface="Wingdings" panose="05000000000000000000" pitchFamily="2" charset="2"/>
                <a:buChar char="o"/>
                <a:defRPr sz="3200">
                  <a:solidFill>
                    <a:srgbClr val="0000FF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Wingdings" panose="05000000000000000000" pitchFamily="2" charset="2"/>
                <a:buChar char="n"/>
                <a:defRPr sz="2800">
                  <a:solidFill>
                    <a:srgbClr val="0000FF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o"/>
                <a:defRPr sz="2400">
                  <a:solidFill>
                    <a:srgbClr val="0000FF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5000"/>
                <a:buFont typeface="Wingdings" panose="05000000000000000000" pitchFamily="2" charset="2"/>
                <a:buChar char="n"/>
                <a:defRPr sz="2000">
                  <a:solidFill>
                    <a:srgbClr val="0000FF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o"/>
                <a:defRPr sz="2000">
                  <a:solidFill>
                    <a:srgbClr val="0000FF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o"/>
                <a:defRPr sz="2000">
                  <a:solidFill>
                    <a:srgbClr val="0000FF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o"/>
                <a:defRPr sz="2000">
                  <a:solidFill>
                    <a:srgbClr val="0000FF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o"/>
                <a:defRPr sz="2000">
                  <a:solidFill>
                    <a:srgbClr val="0000FF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o"/>
                <a:defRPr sz="2000">
                  <a:solidFill>
                    <a:srgbClr val="0000FF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1" lang="en-US" altLang="zh-CN" sz="2400" b="0" dirty="0">
                  <a:solidFill>
                    <a:srgbClr val="104E87"/>
                  </a:solidFill>
                  <a:latin typeface="Comic Sans MS" panose="030F0702030302020204" pitchFamily="66" charset="0"/>
                </a:rPr>
                <a:t>q</a:t>
              </a:r>
            </a:p>
          </p:txBody>
        </p:sp>
      </p:grpSp>
      <p:sp>
        <p:nvSpPr>
          <p:cNvPr id="42" name="Rectangle 18">
            <a:extLst>
              <a:ext uri="{FF2B5EF4-FFF2-40B4-BE49-F238E27FC236}">
                <a16:creationId xmlns:a16="http://schemas.microsoft.com/office/drawing/2014/main" id="{89FF8451-C852-441D-AEE3-D48D3508F2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50940" y="4466255"/>
            <a:ext cx="6988973" cy="425170"/>
          </a:xfrm>
          <a:prstGeom prst="rect">
            <a:avLst/>
          </a:prstGeom>
          <a:noFill/>
          <a:ln w="12700" cap="sq">
            <a:solidFill>
              <a:schemeClr val="accent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Char char="o"/>
              <a:defRPr sz="32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o"/>
              <a:defRPr sz="24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n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 b="0" spc="-100" dirty="0">
                <a:solidFill>
                  <a:srgbClr val="104E87"/>
                </a:solidFill>
                <a:latin typeface="Comic Sans MS" panose="030F0702030302020204" pitchFamily="66" charset="0"/>
                <a:ea typeface="宋体" panose="02010600030101010101" pitchFamily="2" charset="-122"/>
              </a:rPr>
              <a:t>this          void </a:t>
            </a:r>
            <a:r>
              <a:rPr kumimoji="1" lang="en-US" altLang="zh-CN" sz="2400" b="0" spc="-100" dirty="0" err="1">
                <a:solidFill>
                  <a:srgbClr val="104E87"/>
                </a:solidFill>
                <a:latin typeface="Comic Sans MS" panose="030F0702030302020204" pitchFamily="66" charset="0"/>
                <a:ea typeface="宋体" panose="02010600030101010101" pitchFamily="2" charset="-122"/>
              </a:rPr>
              <a:t>settime</a:t>
            </a:r>
            <a:r>
              <a:rPr kumimoji="1" lang="en-US" altLang="zh-CN" sz="2400" b="0" spc="-100" dirty="0">
                <a:solidFill>
                  <a:srgbClr val="104E87"/>
                </a:solidFill>
                <a:latin typeface="Comic Sans MS" panose="030F0702030302020204" pitchFamily="66" charset="0"/>
                <a:ea typeface="宋体" panose="02010600030101010101" pitchFamily="2" charset="-122"/>
              </a:rPr>
              <a:t>(int </a:t>
            </a:r>
            <a:r>
              <a:rPr kumimoji="1" lang="en-US" altLang="zh-CN" sz="2400" b="0" spc="-100" dirty="0" err="1">
                <a:solidFill>
                  <a:srgbClr val="104E87"/>
                </a:solidFill>
                <a:latin typeface="Comic Sans MS" panose="030F0702030302020204" pitchFamily="66" charset="0"/>
                <a:ea typeface="宋体" panose="02010600030101010101" pitchFamily="2" charset="-122"/>
              </a:rPr>
              <a:t>newH</a:t>
            </a:r>
            <a:r>
              <a:rPr kumimoji="1" lang="en-US" altLang="zh-CN" sz="2400" b="0" spc="-100" dirty="0">
                <a:solidFill>
                  <a:srgbClr val="104E87"/>
                </a:solidFill>
                <a:latin typeface="Comic Sans MS" panose="030F0702030302020204" pitchFamily="66" charset="0"/>
                <a:ea typeface="宋体" panose="02010600030101010101" pitchFamily="2" charset="-122"/>
              </a:rPr>
              <a:t>, int </a:t>
            </a:r>
            <a:r>
              <a:rPr kumimoji="1" lang="en-US" altLang="zh-CN" sz="2400" b="0" spc="-100" dirty="0" err="1">
                <a:solidFill>
                  <a:srgbClr val="104E87"/>
                </a:solidFill>
                <a:latin typeface="Comic Sans MS" panose="030F0702030302020204" pitchFamily="66" charset="0"/>
                <a:ea typeface="宋体" panose="02010600030101010101" pitchFamily="2" charset="-122"/>
              </a:rPr>
              <a:t>newM</a:t>
            </a:r>
            <a:r>
              <a:rPr kumimoji="1" lang="en-US" altLang="zh-CN" sz="2400" b="0" spc="-100" dirty="0">
                <a:solidFill>
                  <a:srgbClr val="104E87"/>
                </a:solidFill>
                <a:latin typeface="Comic Sans MS" panose="030F0702030302020204" pitchFamily="66" charset="0"/>
                <a:ea typeface="宋体" panose="02010600030101010101" pitchFamily="2" charset="-122"/>
              </a:rPr>
              <a:t>, int </a:t>
            </a:r>
            <a:r>
              <a:rPr kumimoji="1" lang="en-US" altLang="zh-CN" sz="2400" b="0" spc="-100" dirty="0" err="1">
                <a:solidFill>
                  <a:srgbClr val="104E87"/>
                </a:solidFill>
                <a:latin typeface="Comic Sans MS" panose="030F0702030302020204" pitchFamily="66" charset="0"/>
                <a:ea typeface="宋体" panose="02010600030101010101" pitchFamily="2" charset="-122"/>
              </a:rPr>
              <a:t>newS</a:t>
            </a:r>
            <a:r>
              <a:rPr kumimoji="1" lang="en-US" altLang="zh-CN" sz="2400" b="0" spc="-100" dirty="0">
                <a:solidFill>
                  <a:srgbClr val="104E87"/>
                </a:solidFill>
                <a:latin typeface="Comic Sans MS" panose="030F0702030302020204" pitchFamily="66" charset="0"/>
                <a:ea typeface="宋体" panose="02010600030101010101" pitchFamily="2" charset="-122"/>
              </a:rPr>
              <a:t>)</a:t>
            </a:r>
          </a:p>
        </p:txBody>
      </p:sp>
      <p:sp>
        <p:nvSpPr>
          <p:cNvPr id="44" name="Text Box 22">
            <a:extLst>
              <a:ext uri="{FF2B5EF4-FFF2-40B4-BE49-F238E27FC236}">
                <a16:creationId xmlns:a16="http://schemas.microsoft.com/office/drawing/2014/main" id="{5962AFD1-690B-4213-A33A-E2925C8375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84095" y="4466255"/>
            <a:ext cx="708494" cy="461665"/>
          </a:xfrm>
          <a:prstGeom prst="rect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Char char="o"/>
              <a:defRPr sz="32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o"/>
              <a:defRPr sz="24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n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en-US" altLang="zh-CN" sz="2400" b="0" dirty="0">
                <a:solidFill>
                  <a:srgbClr val="104E87"/>
                </a:solidFill>
                <a:latin typeface="Comic Sans MS" panose="030F0702030302020204" pitchFamily="66" charset="0"/>
                <a:ea typeface="宋体" panose="02010600030101010101" pitchFamily="2" charset="-122"/>
              </a:rPr>
              <a:t>100</a:t>
            </a:r>
          </a:p>
        </p:txBody>
      </p:sp>
      <p:sp>
        <p:nvSpPr>
          <p:cNvPr id="45" name="Text Box 26">
            <a:extLst>
              <a:ext uri="{FF2B5EF4-FFF2-40B4-BE49-F238E27FC236}">
                <a16:creationId xmlns:a16="http://schemas.microsoft.com/office/drawing/2014/main" id="{5EA10755-3D79-4969-AF54-28DD46631F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02969" y="4477557"/>
            <a:ext cx="745330" cy="461665"/>
          </a:xfrm>
          <a:prstGeom prst="rect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Char char="o"/>
              <a:defRPr sz="32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o"/>
              <a:defRPr sz="24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n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en-US" altLang="zh-CN" sz="2400" b="0" dirty="0">
                <a:solidFill>
                  <a:srgbClr val="104E87"/>
                </a:solidFill>
                <a:latin typeface="Comic Sans MS" panose="030F0702030302020204" pitchFamily="66" charset="0"/>
                <a:ea typeface="宋体" panose="02010600030101010101" pitchFamily="2" charset="-122"/>
              </a:rPr>
              <a:t>200</a:t>
            </a:r>
          </a:p>
        </p:txBody>
      </p:sp>
      <p:sp>
        <p:nvSpPr>
          <p:cNvPr id="46" name="Rectangle 27">
            <a:extLst>
              <a:ext uri="{FF2B5EF4-FFF2-40B4-BE49-F238E27FC236}">
                <a16:creationId xmlns:a16="http://schemas.microsoft.com/office/drawing/2014/main" id="{4AD1894F-2ADD-460C-AEF9-F43E3D2102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97446" y="5543713"/>
            <a:ext cx="3888682" cy="392304"/>
          </a:xfrm>
          <a:prstGeom prst="rect">
            <a:avLst/>
          </a:prstGeom>
          <a:noFill/>
          <a:ln w="12700" cap="sq">
            <a:solidFill>
              <a:schemeClr val="accent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Char char="o"/>
              <a:defRPr sz="32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o"/>
              <a:defRPr sz="24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n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 b="0" dirty="0">
                <a:solidFill>
                  <a:srgbClr val="104E87"/>
                </a:solidFill>
                <a:latin typeface="Comic Sans MS" panose="030F0702030302020204" pitchFamily="66" charset="0"/>
                <a:ea typeface="宋体" panose="02010600030101010101" pitchFamily="2" charset="-122"/>
              </a:rPr>
              <a:t>this          void showtime()</a:t>
            </a:r>
          </a:p>
        </p:txBody>
      </p:sp>
      <p:sp>
        <p:nvSpPr>
          <p:cNvPr id="48" name="Text Box 33">
            <a:extLst>
              <a:ext uri="{FF2B5EF4-FFF2-40B4-BE49-F238E27FC236}">
                <a16:creationId xmlns:a16="http://schemas.microsoft.com/office/drawing/2014/main" id="{2FACB64B-3FC1-4E84-9D84-DB14C16C4E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47720" y="5504004"/>
            <a:ext cx="690943" cy="461665"/>
          </a:xfrm>
          <a:prstGeom prst="rect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Char char="o"/>
              <a:defRPr sz="32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o"/>
              <a:defRPr sz="24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n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en-US" altLang="zh-CN" sz="2400" b="0" dirty="0">
                <a:solidFill>
                  <a:srgbClr val="104E87"/>
                </a:solidFill>
                <a:latin typeface="Comic Sans MS" panose="030F0702030302020204" pitchFamily="66" charset="0"/>
                <a:ea typeface="宋体" panose="02010600030101010101" pitchFamily="2" charset="-122"/>
              </a:rPr>
              <a:t>100</a:t>
            </a:r>
          </a:p>
        </p:txBody>
      </p:sp>
      <p:sp>
        <p:nvSpPr>
          <p:cNvPr id="49" name="Text Box 34">
            <a:extLst>
              <a:ext uri="{FF2B5EF4-FFF2-40B4-BE49-F238E27FC236}">
                <a16:creationId xmlns:a16="http://schemas.microsoft.com/office/drawing/2014/main" id="{0BD475F8-94D1-4BC5-8DF2-6CDF1281AF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82605" y="5516692"/>
            <a:ext cx="756058" cy="461665"/>
          </a:xfrm>
          <a:prstGeom prst="rect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Char char="o"/>
              <a:defRPr sz="32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o"/>
              <a:defRPr sz="24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n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en-US" altLang="zh-CN" sz="2400" b="0" dirty="0">
                <a:solidFill>
                  <a:srgbClr val="104E87"/>
                </a:solidFill>
                <a:latin typeface="Comic Sans MS" panose="030F0702030302020204" pitchFamily="66" charset="0"/>
                <a:ea typeface="宋体" panose="02010600030101010101" pitchFamily="2" charset="-122"/>
              </a:rPr>
              <a:t>200</a:t>
            </a:r>
          </a:p>
        </p:txBody>
      </p:sp>
      <p:sp>
        <p:nvSpPr>
          <p:cNvPr id="50" name="Line 24">
            <a:extLst>
              <a:ext uri="{FF2B5EF4-FFF2-40B4-BE49-F238E27FC236}">
                <a16:creationId xmlns:a16="http://schemas.microsoft.com/office/drawing/2014/main" id="{838B1AEE-77FA-4139-AC0D-E5C0C9DA652C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3648537" y="3745840"/>
            <a:ext cx="2447463" cy="618989"/>
          </a:xfrm>
          <a:prstGeom prst="line">
            <a:avLst/>
          </a:prstGeom>
          <a:noFill/>
          <a:ln w="25400" cap="sq">
            <a:solidFill>
              <a:schemeClr val="accent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51" name="Line 24">
            <a:extLst>
              <a:ext uri="{FF2B5EF4-FFF2-40B4-BE49-F238E27FC236}">
                <a16:creationId xmlns:a16="http://schemas.microsoft.com/office/drawing/2014/main" id="{EC2187D0-4C7E-43B0-8D37-BE5EC178410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505499" y="4799498"/>
            <a:ext cx="2297470" cy="525272"/>
          </a:xfrm>
          <a:prstGeom prst="line">
            <a:avLst/>
          </a:prstGeom>
          <a:noFill/>
          <a:ln w="25400" cap="sq">
            <a:solidFill>
              <a:schemeClr val="accent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52" name="Line 24">
            <a:extLst>
              <a:ext uri="{FF2B5EF4-FFF2-40B4-BE49-F238E27FC236}">
                <a16:creationId xmlns:a16="http://schemas.microsoft.com/office/drawing/2014/main" id="{DED2ADC2-DBF7-40DF-B96E-518E67B28FE3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3591201" y="3792894"/>
            <a:ext cx="2496248" cy="1788868"/>
          </a:xfrm>
          <a:prstGeom prst="line">
            <a:avLst/>
          </a:prstGeom>
          <a:noFill/>
          <a:ln w="25400" cap="sq">
            <a:solidFill>
              <a:schemeClr val="accent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53" name="Line 24">
            <a:extLst>
              <a:ext uri="{FF2B5EF4-FFF2-40B4-BE49-F238E27FC236}">
                <a16:creationId xmlns:a16="http://schemas.microsoft.com/office/drawing/2014/main" id="{99B7C74A-1973-49DD-B868-2DAA5355477D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3725688" y="5362588"/>
            <a:ext cx="2222032" cy="283229"/>
          </a:xfrm>
          <a:prstGeom prst="line">
            <a:avLst/>
          </a:prstGeom>
          <a:noFill/>
          <a:ln w="25400" cap="sq">
            <a:solidFill>
              <a:schemeClr val="accent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213310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2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5" dur="500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3" dur="500"/>
                                        <p:tgtEl>
                                          <p:spTgt spid="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17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6" dur="500"/>
                                        <p:tgtEl>
                                          <p:spTgt spid="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3" presetID="17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99" dur="500"/>
                                        <p:tgtEl>
                                          <p:spTgt spid="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5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6" presetID="17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8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0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1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6" dur="500"/>
                                        <p:tgtEl>
                                          <p:spTgt spid="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2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1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2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3" presetID="17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5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6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7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8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4" grpId="0"/>
      <p:bldP spid="18" grpId="0"/>
      <p:bldP spid="19" grpId="0" animBg="1"/>
      <p:bldP spid="20" grpId="0" animBg="1"/>
      <p:bldP spid="22" grpId="0" animBg="1"/>
      <p:bldP spid="23" grpId="0"/>
      <p:bldP spid="36" grpId="0" autoUpdateAnimBg="0"/>
      <p:bldP spid="37" grpId="0" autoUpdateAnimBg="0"/>
      <p:bldP spid="44" grpId="0" animBg="1" autoUpdateAnimBg="0"/>
      <p:bldP spid="45" grpId="0" animBg="1" autoUpdateAnimBg="0"/>
      <p:bldP spid="48" grpId="0" animBg="1" autoUpdateAnimBg="0"/>
      <p:bldP spid="49" grpId="0" animBg="1" autoUpdateAnimBg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794" y="176798"/>
            <a:ext cx="12190413" cy="728917"/>
          </a:xfrm>
          <a:prstGeom prst="rect">
            <a:avLst/>
          </a:prstGeom>
          <a:solidFill>
            <a:srgbClr val="26CC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3200"/>
          </a:p>
        </p:txBody>
      </p:sp>
      <p:cxnSp>
        <p:nvCxnSpPr>
          <p:cNvPr id="7" name="直线连接符 6"/>
          <p:cNvCxnSpPr/>
          <p:nvPr/>
        </p:nvCxnSpPr>
        <p:spPr>
          <a:xfrm>
            <a:off x="1587" y="905715"/>
            <a:ext cx="12190413" cy="0"/>
          </a:xfrm>
          <a:prstGeom prst="line">
            <a:avLst/>
          </a:prstGeom>
          <a:ln>
            <a:solidFill>
              <a:srgbClr val="104D7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2">
            <a:extLst>
              <a:ext uri="{FF2B5EF4-FFF2-40B4-BE49-F238E27FC236}">
                <a16:creationId xmlns:a16="http://schemas.microsoft.com/office/drawing/2014/main" id="{ACB04A19-EAE4-4A5D-B04D-1B93F9C979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381" y="761354"/>
            <a:ext cx="4050688" cy="7694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marL="457200" indent="-457200">
              <a:lnSpc>
                <a:spcPct val="150000"/>
              </a:lnSpc>
              <a:buFontTx/>
              <a:buBlip>
                <a:blip r:embed="rId3"/>
              </a:buBlip>
              <a:defRPr sz="2800" b="1">
                <a:solidFill>
                  <a:srgbClr val="104E87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defRPr>
            </a:lvl1pPr>
            <a:lvl2pPr marL="742950" indent="-285750">
              <a:defRPr sz="2000" b="1"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000" b="1"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000" b="1"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000" b="1"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r>
              <a:rPr lang="zh-CN" altLang="en-US" sz="3200" dirty="0"/>
              <a:t>对象的</a:t>
            </a:r>
            <a:r>
              <a:rPr lang="en-US" altLang="zh-CN" sz="3200" dirty="0"/>
              <a:t>this</a:t>
            </a:r>
            <a:r>
              <a:rPr lang="zh-CN" altLang="en-US" sz="3200" dirty="0"/>
              <a:t>指针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AFC6942B-B9B9-42C5-A057-CB3D7BEBCA14}"/>
              </a:ext>
            </a:extLst>
          </p:cNvPr>
          <p:cNvSpPr txBox="1"/>
          <p:nvPr/>
        </p:nvSpPr>
        <p:spPr>
          <a:xfrm>
            <a:off x="247719" y="224527"/>
            <a:ext cx="802877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kumimoji="1" sz="3200" b="1">
                <a:latin typeface="华光胖头鱼_CNKI" panose="02000500000000000000" pitchFamily="2" charset="-122"/>
                <a:ea typeface="华光胖头鱼_CNKI" panose="02000500000000000000" pitchFamily="2" charset="-122"/>
              </a:defRPr>
            </a:lvl1pPr>
          </a:lstStyle>
          <a:p>
            <a:r>
              <a:rPr lang="en-US" altLang="zh-CN" dirty="0"/>
              <a:t>7.6</a:t>
            </a:r>
            <a:r>
              <a:rPr lang="zh-CN" altLang="en-US" dirty="0"/>
              <a:t> 对象指针与</a:t>
            </a:r>
            <a:r>
              <a:rPr lang="en-US" altLang="zh-CN" dirty="0"/>
              <a:t>this</a:t>
            </a:r>
            <a:r>
              <a:rPr lang="zh-CN" altLang="en-US" dirty="0"/>
              <a:t>指针</a:t>
            </a:r>
          </a:p>
        </p:txBody>
      </p:sp>
      <p:sp>
        <p:nvSpPr>
          <p:cNvPr id="33" name="Rectangle 3">
            <a:extLst>
              <a:ext uri="{FF2B5EF4-FFF2-40B4-BE49-F238E27FC236}">
                <a16:creationId xmlns:a16="http://schemas.microsoft.com/office/drawing/2014/main" id="{C88C1876-2398-4986-BE79-38F46C1CB4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9210" y="1459012"/>
            <a:ext cx="11713579" cy="512268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lnSpc>
                <a:spcPct val="150000"/>
              </a:lnSpc>
              <a:buClr>
                <a:srgbClr val="104E87"/>
              </a:buClr>
              <a:buSzPct val="70000"/>
              <a:buFont typeface="Wingdings" pitchFamily="2" charset="2"/>
              <a:buChar char="n"/>
              <a:defRPr/>
            </a:pPr>
            <a:r>
              <a:rPr lang="en-US" altLang="zh-CN" kern="0" spc="-1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C++</a:t>
            </a:r>
            <a:r>
              <a:rPr lang="zh-CN" altLang="en-US" kern="0" spc="-1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为每个对象提供一个指针</a:t>
            </a:r>
            <a:r>
              <a:rPr lang="en-US" altLang="zh-CN" kern="0" spc="-1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this</a:t>
            </a:r>
            <a:r>
              <a:rPr lang="zh-CN" altLang="en-US" kern="0" spc="-1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，记录该对象的地址。</a:t>
            </a:r>
            <a:endParaRPr lang="en-US" altLang="zh-CN" kern="0" spc="-100" dirty="0">
              <a:solidFill>
                <a:srgbClr val="104E87"/>
              </a:solidFill>
              <a:latin typeface="Comic Sans MS" panose="030F0702030302020204" pitchFamily="66" charset="0"/>
              <a:ea typeface="华光行书_CNKI" panose="02000500000000000000" pitchFamily="2" charset="-122"/>
            </a:endParaRPr>
          </a:p>
          <a:p>
            <a:pPr>
              <a:lnSpc>
                <a:spcPct val="150000"/>
              </a:lnSpc>
              <a:buClr>
                <a:srgbClr val="104E87"/>
              </a:buClr>
              <a:buSzPct val="70000"/>
              <a:buFont typeface="Wingdings" pitchFamily="2" charset="2"/>
              <a:buChar char="n"/>
              <a:defRPr/>
            </a:pPr>
            <a:r>
              <a:rPr lang="zh-CN" altLang="en-US" kern="0" spc="-1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当通过对象来调用类的成员函数时，</a:t>
            </a:r>
            <a:r>
              <a:rPr lang="en-US" altLang="zh-CN" kern="0" spc="-1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this</a:t>
            </a:r>
            <a:r>
              <a:rPr lang="zh-CN" altLang="en-US" kern="0" spc="-1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指针作为一个隐式参数传递给成员函数</a:t>
            </a:r>
            <a:endParaRPr lang="en-US" altLang="zh-CN" kern="0" spc="-100" dirty="0">
              <a:solidFill>
                <a:srgbClr val="104E87"/>
              </a:solidFill>
              <a:latin typeface="Comic Sans MS" panose="030F0702030302020204" pitchFamily="66" charset="0"/>
              <a:ea typeface="华光行书_CNKI" panose="02000500000000000000" pitchFamily="2" charset="-122"/>
            </a:endParaRPr>
          </a:p>
          <a:p>
            <a:pPr>
              <a:lnSpc>
                <a:spcPct val="150000"/>
              </a:lnSpc>
              <a:buClr>
                <a:srgbClr val="104E87"/>
              </a:buClr>
              <a:buSzPct val="70000"/>
              <a:buFont typeface="Wingdings" pitchFamily="2" charset="2"/>
              <a:buChar char="n"/>
              <a:defRPr/>
            </a:pPr>
            <a:r>
              <a:rPr lang="zh-CN" altLang="en-US" kern="0" spc="-1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创建对象时</a:t>
            </a:r>
            <a:r>
              <a:rPr lang="en-US" altLang="zh-CN" kern="0" spc="-1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,</a:t>
            </a:r>
            <a:r>
              <a:rPr lang="zh-CN" altLang="en-US" kern="0" spc="-1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系统把</a:t>
            </a:r>
            <a:r>
              <a:rPr lang="en-US" altLang="zh-CN" kern="0" spc="-1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this</a:t>
            </a:r>
            <a:r>
              <a:rPr lang="zh-CN" altLang="en-US" kern="0" spc="-1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指针初始化为指向该对象</a:t>
            </a:r>
            <a:r>
              <a:rPr lang="en-US" altLang="zh-CN" kern="0" spc="-1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.</a:t>
            </a:r>
          </a:p>
          <a:p>
            <a:pPr>
              <a:lnSpc>
                <a:spcPct val="150000"/>
              </a:lnSpc>
              <a:buClr>
                <a:srgbClr val="104E87"/>
              </a:buClr>
              <a:buSzPct val="70000"/>
              <a:buFont typeface="Wingdings" pitchFamily="2" charset="2"/>
              <a:buChar char="n"/>
              <a:defRPr/>
            </a:pPr>
            <a:r>
              <a:rPr lang="en-US" altLang="zh-CN" kern="0" spc="-100" dirty="0">
                <a:solidFill>
                  <a:srgbClr val="FF0000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this </a:t>
            </a:r>
            <a:r>
              <a:rPr lang="zh-CN" altLang="en-US" kern="0" spc="-100" dirty="0">
                <a:solidFill>
                  <a:srgbClr val="FF0000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指针是一个常指针</a:t>
            </a:r>
            <a:r>
              <a:rPr lang="en-US" altLang="zh-CN" kern="0" spc="-100" dirty="0">
                <a:solidFill>
                  <a:srgbClr val="FF0000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,</a:t>
            </a:r>
            <a:r>
              <a:rPr lang="zh-CN" altLang="en-US" kern="0" spc="-100" dirty="0">
                <a:solidFill>
                  <a:srgbClr val="FF0000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不能在程序中修改或赋值</a:t>
            </a:r>
            <a:endParaRPr lang="en-US" altLang="zh-CN" kern="0" spc="-100" dirty="0">
              <a:solidFill>
                <a:srgbClr val="FF0000"/>
              </a:solidFill>
              <a:latin typeface="Comic Sans MS" panose="030F0702030302020204" pitchFamily="66" charset="0"/>
              <a:ea typeface="华光行书_CNKI" panose="02000500000000000000" pitchFamily="2" charset="-122"/>
            </a:endParaRPr>
          </a:p>
          <a:p>
            <a:pPr>
              <a:lnSpc>
                <a:spcPct val="150000"/>
              </a:lnSpc>
              <a:buClr>
                <a:srgbClr val="104E87"/>
              </a:buClr>
              <a:buSzPct val="70000"/>
              <a:buFont typeface="Wingdings" pitchFamily="2" charset="2"/>
              <a:buChar char="n"/>
              <a:defRPr/>
            </a:pPr>
            <a:r>
              <a:rPr lang="zh-CN" altLang="en-US" kern="0" spc="-1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不同的对象调用同一个成员函数时</a:t>
            </a:r>
            <a:r>
              <a:rPr lang="en-US" altLang="zh-CN" kern="0" spc="-1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,</a:t>
            </a:r>
            <a:r>
              <a:rPr lang="zh-CN" altLang="en-US" kern="0" spc="-1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编译器依据成员函数的</a:t>
            </a:r>
            <a:r>
              <a:rPr lang="en-US" altLang="zh-CN" kern="0" spc="-1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this</a:t>
            </a:r>
            <a:r>
              <a:rPr lang="zh-CN" altLang="en-US" kern="0" spc="-1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指针所指向，确定哪一个对象在调用该成员函数。</a:t>
            </a:r>
            <a:endParaRPr lang="en-US" altLang="zh-CN" kern="0" spc="-100" dirty="0">
              <a:solidFill>
                <a:srgbClr val="104E87"/>
              </a:solidFill>
              <a:latin typeface="Comic Sans MS" panose="030F0702030302020204" pitchFamily="66" charset="0"/>
              <a:ea typeface="华光行书_CNKI" panose="02000500000000000000" pitchFamily="2" charset="-122"/>
            </a:endParaRPr>
          </a:p>
          <a:p>
            <a:pPr>
              <a:lnSpc>
                <a:spcPct val="150000"/>
              </a:lnSpc>
              <a:buClr>
                <a:srgbClr val="104E87"/>
              </a:buClr>
              <a:buSzPct val="70000"/>
              <a:buFont typeface="Wingdings" pitchFamily="2" charset="2"/>
              <a:buChar char="n"/>
              <a:defRPr/>
            </a:pPr>
            <a:r>
              <a:rPr lang="en-US" altLang="zh-CN" kern="0" spc="-1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this</a:t>
            </a:r>
            <a:r>
              <a:rPr lang="zh-CN" altLang="en-US" kern="0" spc="-1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指针是一个局部数据</a:t>
            </a:r>
            <a:r>
              <a:rPr lang="en-US" altLang="zh-CN" kern="0" spc="-1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,</a:t>
            </a:r>
            <a:r>
              <a:rPr lang="zh-CN" altLang="en-US" kern="0" spc="-1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其作用域仅在一个对象内部</a:t>
            </a:r>
            <a:r>
              <a:rPr lang="en-US" altLang="zh-CN" kern="0" spc="-1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.</a:t>
            </a:r>
          </a:p>
          <a:p>
            <a:pPr>
              <a:lnSpc>
                <a:spcPct val="150000"/>
              </a:lnSpc>
              <a:buClr>
                <a:srgbClr val="104E87"/>
              </a:buClr>
              <a:buSzPct val="70000"/>
              <a:buFont typeface="Wingdings" pitchFamily="2" charset="2"/>
              <a:buChar char="n"/>
              <a:defRPr/>
            </a:pPr>
            <a:r>
              <a:rPr lang="zh-CN" altLang="en-US" kern="0" spc="-100" dirty="0">
                <a:solidFill>
                  <a:srgbClr val="FF0000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简单得说</a:t>
            </a:r>
            <a:r>
              <a:rPr lang="en-US" altLang="zh-CN" kern="0" spc="-100" dirty="0">
                <a:solidFill>
                  <a:srgbClr val="FF0000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this</a:t>
            </a:r>
            <a:r>
              <a:rPr lang="zh-CN" altLang="en-US" kern="0" spc="-100" dirty="0">
                <a:solidFill>
                  <a:srgbClr val="FF0000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就是指向对象自身的一个指针 </a:t>
            </a:r>
            <a:r>
              <a:rPr lang="en-US" altLang="zh-CN" kern="0" spc="-100" dirty="0">
                <a:solidFill>
                  <a:srgbClr val="FF0000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,</a:t>
            </a:r>
            <a:r>
              <a:rPr lang="zh-CN" altLang="en-US" kern="0" spc="-100" dirty="0">
                <a:solidFill>
                  <a:srgbClr val="FF0000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在运行时有效</a:t>
            </a:r>
          </a:p>
          <a:p>
            <a:pPr>
              <a:lnSpc>
                <a:spcPct val="150000"/>
              </a:lnSpc>
              <a:buClr>
                <a:srgbClr val="104E87"/>
              </a:buClr>
              <a:buSzPct val="70000"/>
              <a:buFont typeface="Wingdings" pitchFamily="2" charset="2"/>
              <a:buChar char="n"/>
              <a:defRPr/>
            </a:pPr>
            <a:endParaRPr lang="en-US" altLang="zh-CN" kern="0" spc="-100" dirty="0">
              <a:solidFill>
                <a:srgbClr val="104E87"/>
              </a:solidFill>
              <a:latin typeface="Comic Sans MS" panose="030F0702030302020204" pitchFamily="66" charset="0"/>
              <a:ea typeface="华光行书_CNKI" panose="02000500000000000000" pitchFamily="2" charset="-122"/>
            </a:endParaRPr>
          </a:p>
          <a:p>
            <a:pPr>
              <a:lnSpc>
                <a:spcPct val="150000"/>
              </a:lnSpc>
              <a:buClr>
                <a:srgbClr val="104E87"/>
              </a:buClr>
              <a:buSzPct val="70000"/>
              <a:buFont typeface="Wingdings" pitchFamily="2" charset="2"/>
              <a:buChar char="n"/>
              <a:defRPr/>
            </a:pPr>
            <a:endParaRPr lang="en-US" altLang="zh-CN" kern="0" spc="-100" dirty="0">
              <a:solidFill>
                <a:srgbClr val="104E87"/>
              </a:solidFill>
              <a:latin typeface="Comic Sans MS" panose="030F0702030302020204" pitchFamily="66" charset="0"/>
              <a:ea typeface="华光行书_CNKI" panose="02000500000000000000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1121744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/>
      </p:transition>
    </mc:Choice>
    <mc:Fallback xmlns="">
      <p:transition spd="slow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F213AF13-EC49-047C-00A7-743AFB157391}"/>
              </a:ext>
            </a:extLst>
          </p:cNvPr>
          <p:cNvSpPr txBox="1"/>
          <p:nvPr/>
        </p:nvSpPr>
        <p:spPr>
          <a:xfrm>
            <a:off x="1348154" y="713998"/>
            <a:ext cx="8909538" cy="44135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hangingPunct="1">
              <a:lnSpc>
                <a:spcPct val="90000"/>
              </a:lnSpc>
              <a:spcBef>
                <a:spcPts val="0"/>
              </a:spcBef>
              <a:buClrTx/>
              <a:buSzTx/>
              <a:buFontTx/>
              <a:buNone/>
              <a:defRPr/>
            </a:pPr>
            <a:r>
              <a:rPr lang="en-US" altLang="zh-CN" sz="2400" dirty="0">
                <a:solidFill>
                  <a:srgbClr val="134F85"/>
                </a:solidFill>
                <a:latin typeface="+mn-lt"/>
                <a:ea typeface="黑体" panose="02010609060101010101" pitchFamily="49" charset="-122"/>
              </a:rPr>
              <a:t>class Clock{</a:t>
            </a:r>
          </a:p>
          <a:p>
            <a:pPr eaLnBrk="1" hangingPunct="1">
              <a:lnSpc>
                <a:spcPct val="90000"/>
              </a:lnSpc>
              <a:spcBef>
                <a:spcPts val="0"/>
              </a:spcBef>
              <a:buClrTx/>
              <a:buSzTx/>
              <a:buFontTx/>
              <a:buNone/>
              <a:defRPr/>
            </a:pPr>
            <a:r>
              <a:rPr lang="en-US" altLang="zh-CN" sz="2400" dirty="0">
                <a:solidFill>
                  <a:srgbClr val="134F85"/>
                </a:solidFill>
                <a:latin typeface="+mn-lt"/>
                <a:ea typeface="黑体" panose="02010609060101010101" pitchFamily="49" charset="-122"/>
              </a:rPr>
              <a:t>public: </a:t>
            </a:r>
          </a:p>
          <a:p>
            <a:pPr eaLnBrk="1" hangingPunct="1">
              <a:lnSpc>
                <a:spcPct val="90000"/>
              </a:lnSpc>
              <a:spcBef>
                <a:spcPts val="0"/>
              </a:spcBef>
              <a:buClrTx/>
              <a:buSzTx/>
              <a:buFontTx/>
              <a:buNone/>
              <a:defRPr/>
            </a:pPr>
            <a:r>
              <a:rPr lang="en-US" altLang="zh-CN" dirty="0">
                <a:solidFill>
                  <a:srgbClr val="134F85"/>
                </a:solidFill>
                <a:ea typeface="黑体" panose="02010609060101010101" pitchFamily="49" charset="-122"/>
              </a:rPr>
              <a:t>	</a:t>
            </a:r>
            <a:r>
              <a:rPr lang="en-US" altLang="zh-CN" sz="2400" dirty="0">
                <a:solidFill>
                  <a:srgbClr val="134F85"/>
                </a:solidFill>
                <a:latin typeface="+mn-lt"/>
                <a:ea typeface="黑体" panose="02010609060101010101" pitchFamily="49" charset="-122"/>
              </a:rPr>
              <a:t>void </a:t>
            </a:r>
            <a:r>
              <a:rPr lang="en-US" altLang="zh-CN" sz="2400" dirty="0" err="1">
                <a:solidFill>
                  <a:srgbClr val="134F85"/>
                </a:solidFill>
                <a:latin typeface="+mn-lt"/>
                <a:ea typeface="黑体" panose="02010609060101010101" pitchFamily="49" charset="-122"/>
              </a:rPr>
              <a:t>setTime</a:t>
            </a:r>
            <a:r>
              <a:rPr lang="en-US" altLang="zh-CN" sz="2400" dirty="0">
                <a:solidFill>
                  <a:srgbClr val="134F85"/>
                </a:solidFill>
                <a:latin typeface="+mn-lt"/>
                <a:ea typeface="黑体" panose="02010609060101010101" pitchFamily="49" charset="-122"/>
              </a:rPr>
              <a:t>(</a:t>
            </a:r>
            <a:r>
              <a:rPr lang="en-US" altLang="zh-CN" sz="2400" dirty="0">
                <a:solidFill>
                  <a:srgbClr val="134F85"/>
                </a:solidFill>
                <a:ea typeface="黑体" panose="02010609060101010101" pitchFamily="49" charset="-122"/>
              </a:rPr>
              <a:t>int hour, int </a:t>
            </a:r>
            <a:r>
              <a:rPr lang="en-US" altLang="zh-CN" sz="2400" dirty="0">
                <a:solidFill>
                  <a:srgbClr val="134F85"/>
                </a:solidFill>
                <a:latin typeface="+mn-lt"/>
                <a:ea typeface="黑体" panose="02010609060101010101" pitchFamily="49" charset="-122"/>
              </a:rPr>
              <a:t>minute</a:t>
            </a:r>
            <a:r>
              <a:rPr lang="en-US" altLang="zh-CN" sz="2400" dirty="0">
                <a:solidFill>
                  <a:srgbClr val="134F85"/>
                </a:solidFill>
                <a:ea typeface="黑体" panose="02010609060101010101" pitchFamily="49" charset="-122"/>
              </a:rPr>
              <a:t>, int </a:t>
            </a:r>
            <a:r>
              <a:rPr lang="en-US" altLang="zh-CN" sz="2400" dirty="0">
                <a:solidFill>
                  <a:srgbClr val="134F85"/>
                </a:solidFill>
                <a:latin typeface="+mn-lt"/>
                <a:ea typeface="黑体" panose="02010609060101010101" pitchFamily="49" charset="-122"/>
              </a:rPr>
              <a:t>second){</a:t>
            </a:r>
          </a:p>
          <a:p>
            <a:pPr eaLnBrk="1" hangingPunct="1">
              <a:lnSpc>
                <a:spcPct val="90000"/>
              </a:lnSpc>
              <a:spcBef>
                <a:spcPts val="0"/>
              </a:spcBef>
              <a:buClrTx/>
              <a:buSzTx/>
              <a:buFontTx/>
              <a:buNone/>
              <a:defRPr/>
            </a:pPr>
            <a:r>
              <a:rPr lang="en-US" altLang="zh-CN" dirty="0">
                <a:solidFill>
                  <a:srgbClr val="134F85"/>
                </a:solidFill>
                <a:ea typeface="黑体" panose="02010609060101010101" pitchFamily="49" charset="-122"/>
              </a:rPr>
              <a:t>		</a:t>
            </a:r>
            <a:r>
              <a:rPr lang="en-US" altLang="zh-CN" sz="2400" dirty="0">
                <a:solidFill>
                  <a:srgbClr val="134F85"/>
                </a:solidFill>
                <a:latin typeface="+mn-lt"/>
                <a:ea typeface="黑体" panose="02010609060101010101" pitchFamily="49" charset="-122"/>
              </a:rPr>
              <a:t>this-&gt;hour = hour;     </a:t>
            </a:r>
          </a:p>
          <a:p>
            <a:pPr eaLnBrk="1" hangingPunct="1">
              <a:lnSpc>
                <a:spcPct val="90000"/>
              </a:lnSpc>
              <a:spcBef>
                <a:spcPts val="0"/>
              </a:spcBef>
              <a:buClrTx/>
              <a:buSzTx/>
              <a:buFontTx/>
              <a:buNone/>
              <a:defRPr/>
            </a:pPr>
            <a:r>
              <a:rPr lang="en-US" altLang="zh-CN" sz="2400" dirty="0">
                <a:solidFill>
                  <a:srgbClr val="134F85"/>
                </a:solidFill>
                <a:latin typeface="+mn-lt"/>
                <a:ea typeface="黑体" panose="02010609060101010101" pitchFamily="49" charset="-122"/>
              </a:rPr>
              <a:t>		this-&gt; minute = minute;   </a:t>
            </a:r>
          </a:p>
          <a:p>
            <a:pPr eaLnBrk="1" hangingPunct="1">
              <a:lnSpc>
                <a:spcPct val="90000"/>
              </a:lnSpc>
              <a:spcBef>
                <a:spcPts val="0"/>
              </a:spcBef>
              <a:buClrTx/>
              <a:buSzTx/>
              <a:buFontTx/>
              <a:buNone/>
              <a:defRPr/>
            </a:pPr>
            <a:r>
              <a:rPr lang="en-US" altLang="zh-CN" sz="2400" dirty="0">
                <a:solidFill>
                  <a:srgbClr val="134F85"/>
                </a:solidFill>
                <a:latin typeface="+mn-lt"/>
                <a:ea typeface="黑体" panose="02010609060101010101" pitchFamily="49" charset="-122"/>
              </a:rPr>
              <a:t>		this-&gt; second = second;</a:t>
            </a:r>
          </a:p>
          <a:p>
            <a:pPr eaLnBrk="1" hangingPunct="1">
              <a:lnSpc>
                <a:spcPct val="90000"/>
              </a:lnSpc>
              <a:spcBef>
                <a:spcPts val="0"/>
              </a:spcBef>
              <a:buClrTx/>
              <a:buSzTx/>
              <a:buFontTx/>
              <a:buNone/>
              <a:defRPr/>
            </a:pPr>
            <a:r>
              <a:rPr lang="en-US" altLang="zh-CN" sz="2400" dirty="0">
                <a:solidFill>
                  <a:srgbClr val="134F85"/>
                </a:solidFill>
                <a:latin typeface="+mn-lt"/>
                <a:ea typeface="黑体" panose="02010609060101010101" pitchFamily="49" charset="-122"/>
              </a:rPr>
              <a:t>          }</a:t>
            </a:r>
          </a:p>
          <a:p>
            <a:pPr eaLnBrk="1" hangingPunct="1">
              <a:lnSpc>
                <a:spcPct val="90000"/>
              </a:lnSpc>
              <a:spcBef>
                <a:spcPts val="0"/>
              </a:spcBef>
              <a:buClrTx/>
              <a:buSzTx/>
              <a:buFontTx/>
              <a:buNone/>
              <a:defRPr/>
            </a:pPr>
            <a:r>
              <a:rPr lang="en-US" altLang="zh-CN" sz="2400" dirty="0">
                <a:solidFill>
                  <a:srgbClr val="134F85"/>
                </a:solidFill>
                <a:latin typeface="+mn-lt"/>
                <a:ea typeface="黑体" panose="02010609060101010101" pitchFamily="49" charset="-122"/>
              </a:rPr>
              <a:t>          void </a:t>
            </a:r>
            <a:r>
              <a:rPr lang="en-US" altLang="zh-CN" sz="2400" dirty="0" err="1">
                <a:solidFill>
                  <a:srgbClr val="134F85"/>
                </a:solidFill>
                <a:latin typeface="+mn-lt"/>
                <a:ea typeface="黑体" panose="02010609060101010101" pitchFamily="49" charset="-122"/>
              </a:rPr>
              <a:t>showTime</a:t>
            </a:r>
            <a:r>
              <a:rPr lang="en-US" altLang="zh-CN" sz="2400" dirty="0">
                <a:solidFill>
                  <a:srgbClr val="134F85"/>
                </a:solidFill>
                <a:latin typeface="+mn-lt"/>
                <a:ea typeface="黑体" panose="02010609060101010101" pitchFamily="49" charset="-122"/>
              </a:rPr>
              <a:t>(){</a:t>
            </a:r>
          </a:p>
          <a:p>
            <a:pPr eaLnBrk="1" hangingPunct="1">
              <a:lnSpc>
                <a:spcPct val="90000"/>
              </a:lnSpc>
              <a:spcBef>
                <a:spcPts val="0"/>
              </a:spcBef>
              <a:buClrTx/>
              <a:buSzTx/>
              <a:buFontTx/>
              <a:buNone/>
              <a:defRPr/>
            </a:pPr>
            <a:r>
              <a:rPr lang="en-US" altLang="zh-CN" sz="2400" dirty="0">
                <a:solidFill>
                  <a:srgbClr val="134F85"/>
                </a:solidFill>
                <a:latin typeface="+mn-lt"/>
                <a:ea typeface="黑体" panose="02010609060101010101" pitchFamily="49" charset="-122"/>
              </a:rPr>
              <a:t>           </a:t>
            </a:r>
            <a:r>
              <a:rPr lang="en-US" altLang="zh-CN" sz="2400" dirty="0" err="1">
                <a:solidFill>
                  <a:srgbClr val="134F85"/>
                </a:solidFill>
                <a:latin typeface="+mn-lt"/>
                <a:ea typeface="黑体" panose="02010609060101010101" pitchFamily="49" charset="-122"/>
              </a:rPr>
              <a:t>cout</a:t>
            </a:r>
            <a:r>
              <a:rPr lang="en-US" altLang="zh-CN" sz="2400" dirty="0">
                <a:solidFill>
                  <a:srgbClr val="134F85"/>
                </a:solidFill>
                <a:latin typeface="+mn-lt"/>
                <a:ea typeface="黑体" panose="02010609060101010101" pitchFamily="49" charset="-122"/>
              </a:rPr>
              <a:t>&lt;&lt;hour&lt;&lt;“:”&lt;&lt;minute</a:t>
            </a:r>
            <a:r>
              <a:rPr lang="en-US" altLang="zh-CN" sz="2400" dirty="0">
                <a:solidFill>
                  <a:srgbClr val="134F85"/>
                </a:solidFill>
                <a:ea typeface="黑体" panose="02010609060101010101" pitchFamily="49" charset="-122"/>
              </a:rPr>
              <a:t>&lt;&lt;“:”&lt;&lt;second&lt;&lt;</a:t>
            </a:r>
            <a:r>
              <a:rPr lang="en-US" altLang="zh-CN" sz="2400" dirty="0" err="1">
                <a:solidFill>
                  <a:srgbClr val="134F85"/>
                </a:solidFill>
                <a:ea typeface="黑体" panose="02010609060101010101" pitchFamily="49" charset="-122"/>
              </a:rPr>
              <a:t>endl</a:t>
            </a:r>
            <a:r>
              <a:rPr lang="en-US" altLang="zh-CN" sz="2400" dirty="0">
                <a:solidFill>
                  <a:srgbClr val="134F85"/>
                </a:solidFill>
                <a:ea typeface="黑体" panose="02010609060101010101" pitchFamily="49" charset="-122"/>
              </a:rPr>
              <a:t>;</a:t>
            </a:r>
            <a:endParaRPr lang="en-US" altLang="zh-CN" sz="2400" dirty="0">
              <a:solidFill>
                <a:srgbClr val="134F85"/>
              </a:solidFill>
              <a:latin typeface="+mn-lt"/>
              <a:ea typeface="黑体" panose="02010609060101010101" pitchFamily="49" charset="-122"/>
            </a:endParaRPr>
          </a:p>
          <a:p>
            <a:pPr eaLnBrk="1" hangingPunct="1">
              <a:lnSpc>
                <a:spcPct val="90000"/>
              </a:lnSpc>
              <a:spcBef>
                <a:spcPts val="0"/>
              </a:spcBef>
              <a:buClrTx/>
              <a:buSzTx/>
              <a:buFontTx/>
              <a:buNone/>
              <a:defRPr/>
            </a:pPr>
            <a:r>
              <a:rPr lang="en-US" altLang="zh-CN" sz="2400" dirty="0">
                <a:solidFill>
                  <a:srgbClr val="134F85"/>
                </a:solidFill>
                <a:latin typeface="+mn-lt"/>
                <a:ea typeface="黑体" panose="02010609060101010101" pitchFamily="49" charset="-122"/>
              </a:rPr>
              <a:t>          }</a:t>
            </a:r>
          </a:p>
          <a:p>
            <a:pPr eaLnBrk="1" hangingPunct="1">
              <a:lnSpc>
                <a:spcPct val="90000"/>
              </a:lnSpc>
              <a:spcBef>
                <a:spcPts val="0"/>
              </a:spcBef>
              <a:buClrTx/>
              <a:buSzTx/>
              <a:buFontTx/>
              <a:buNone/>
              <a:defRPr/>
            </a:pPr>
            <a:r>
              <a:rPr lang="en-US" altLang="zh-CN" sz="2400" dirty="0">
                <a:solidFill>
                  <a:srgbClr val="134F85"/>
                </a:solidFill>
                <a:latin typeface="+mn-lt"/>
                <a:ea typeface="黑体" panose="02010609060101010101" pitchFamily="49" charset="-122"/>
              </a:rPr>
              <a:t>private:</a:t>
            </a:r>
          </a:p>
          <a:p>
            <a:pPr eaLnBrk="1" hangingPunct="1">
              <a:lnSpc>
                <a:spcPct val="90000"/>
              </a:lnSpc>
              <a:spcBef>
                <a:spcPts val="0"/>
              </a:spcBef>
              <a:buClrTx/>
              <a:buSzTx/>
              <a:buFontTx/>
              <a:buNone/>
              <a:defRPr/>
            </a:pPr>
            <a:r>
              <a:rPr lang="en-US" altLang="zh-CN" sz="2400" dirty="0">
                <a:solidFill>
                  <a:srgbClr val="134F85"/>
                </a:solidFill>
                <a:latin typeface="+mn-lt"/>
                <a:ea typeface="黑体" panose="02010609060101010101" pitchFamily="49" charset="-122"/>
              </a:rPr>
              <a:t>           int </a:t>
            </a:r>
            <a:r>
              <a:rPr lang="en-US" altLang="zh-CN" sz="2400" dirty="0">
                <a:solidFill>
                  <a:srgbClr val="134F85"/>
                </a:solidFill>
                <a:ea typeface="黑体" panose="02010609060101010101" pitchFamily="49" charset="-122"/>
              </a:rPr>
              <a:t>hour, minute, second;</a:t>
            </a:r>
            <a:endParaRPr lang="en-US" altLang="zh-CN" sz="2400" dirty="0">
              <a:solidFill>
                <a:srgbClr val="134F85"/>
              </a:solidFill>
              <a:latin typeface="+mn-lt"/>
              <a:ea typeface="黑体" panose="02010609060101010101" pitchFamily="49" charset="-122"/>
            </a:endParaRPr>
          </a:p>
          <a:p>
            <a:pPr eaLnBrk="1" hangingPunct="1">
              <a:lnSpc>
                <a:spcPct val="90000"/>
              </a:lnSpc>
              <a:spcBef>
                <a:spcPts val="0"/>
              </a:spcBef>
              <a:buClrTx/>
              <a:buSzTx/>
              <a:buFontTx/>
              <a:buNone/>
              <a:defRPr/>
            </a:pPr>
            <a:r>
              <a:rPr lang="en-US" altLang="zh-CN" sz="2400" dirty="0">
                <a:solidFill>
                  <a:srgbClr val="134F85"/>
                </a:solidFill>
                <a:latin typeface="+mn-lt"/>
                <a:ea typeface="黑体" panose="02010609060101010101" pitchFamily="49" charset="-122"/>
              </a:rPr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val="382056173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794" y="176798"/>
            <a:ext cx="12190413" cy="728917"/>
          </a:xfrm>
          <a:prstGeom prst="rect">
            <a:avLst/>
          </a:prstGeom>
          <a:solidFill>
            <a:srgbClr val="26CC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3200"/>
          </a:p>
        </p:txBody>
      </p:sp>
      <p:cxnSp>
        <p:nvCxnSpPr>
          <p:cNvPr id="7" name="直线连接符 6"/>
          <p:cNvCxnSpPr/>
          <p:nvPr/>
        </p:nvCxnSpPr>
        <p:spPr>
          <a:xfrm>
            <a:off x="1587" y="905715"/>
            <a:ext cx="12190413" cy="0"/>
          </a:xfrm>
          <a:prstGeom prst="line">
            <a:avLst/>
          </a:prstGeom>
          <a:ln>
            <a:solidFill>
              <a:srgbClr val="104D7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文本框 25">
            <a:extLst>
              <a:ext uri="{FF2B5EF4-FFF2-40B4-BE49-F238E27FC236}">
                <a16:creationId xmlns:a16="http://schemas.microsoft.com/office/drawing/2014/main" id="{AFC6942B-B9B9-42C5-A057-CB3D7BEBCA14}"/>
              </a:ext>
            </a:extLst>
          </p:cNvPr>
          <p:cNvSpPr txBox="1"/>
          <p:nvPr/>
        </p:nvSpPr>
        <p:spPr>
          <a:xfrm>
            <a:off x="247719" y="224527"/>
            <a:ext cx="802877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kumimoji="1" sz="3200" b="1">
                <a:latin typeface="华光胖头鱼_CNKI" panose="02000500000000000000" pitchFamily="2" charset="-122"/>
                <a:ea typeface="华光胖头鱼_CNKI" panose="02000500000000000000" pitchFamily="2" charset="-122"/>
              </a:defRPr>
            </a:lvl1pPr>
          </a:lstStyle>
          <a:p>
            <a:r>
              <a:rPr lang="en-US" altLang="zh-CN" dirty="0"/>
              <a:t>7.7</a:t>
            </a:r>
            <a:r>
              <a:rPr lang="zh-CN" altLang="en-US" dirty="0"/>
              <a:t> 深复制和浅复制</a:t>
            </a:r>
          </a:p>
        </p:txBody>
      </p:sp>
      <p:sp>
        <p:nvSpPr>
          <p:cNvPr id="17" name="Rectangle 2">
            <a:extLst>
              <a:ext uri="{FF2B5EF4-FFF2-40B4-BE49-F238E27FC236}">
                <a16:creationId xmlns:a16="http://schemas.microsoft.com/office/drawing/2014/main" id="{020302F7-5106-4660-813D-A879BCD17E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02564" y="285398"/>
            <a:ext cx="199679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Char char="o"/>
              <a:defRPr sz="32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o"/>
              <a:defRPr sz="24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n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ts val="600"/>
              </a:spcBef>
              <a:buClrTx/>
              <a:buSzTx/>
              <a:buFontTx/>
              <a:buNone/>
            </a:pPr>
            <a:r>
              <a:rPr kumimoji="1" lang="zh-CN" altLang="en-US" sz="2400" dirty="0">
                <a:solidFill>
                  <a:srgbClr val="FF0000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深浅</a:t>
            </a:r>
            <a:r>
              <a:rPr kumimoji="1" lang="en-US" altLang="zh-CN" sz="24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--</a:t>
            </a:r>
            <a:r>
              <a:rPr kumimoji="1" lang="en-US" altLang="zh-CN" sz="24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  <a:sym typeface="Wingdings" panose="05000000000000000000" pitchFamily="2" charset="2"/>
              </a:rPr>
              <a:t></a:t>
            </a:r>
            <a:r>
              <a:rPr kumimoji="1" lang="zh-CN" altLang="en-US" sz="24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  <a:sym typeface="Wingdings" panose="05000000000000000000" pitchFamily="2" charset="2"/>
              </a:rPr>
              <a:t>指针</a:t>
            </a:r>
            <a:endParaRPr kumimoji="1" lang="en-US" altLang="zh-CN" sz="2400" dirty="0">
              <a:solidFill>
                <a:srgbClr val="104E87"/>
              </a:solidFill>
              <a:latin typeface="Comic Sans MS" panose="030F0702030302020204" pitchFamily="66" charset="0"/>
              <a:ea typeface="华光行书_CNKI" panose="02000500000000000000" pitchFamily="2" charset="-122"/>
            </a:endParaRPr>
          </a:p>
        </p:txBody>
      </p:sp>
      <p:sp>
        <p:nvSpPr>
          <p:cNvPr id="6" name="矩形 3">
            <a:extLst>
              <a:ext uri="{FF2B5EF4-FFF2-40B4-BE49-F238E27FC236}">
                <a16:creationId xmlns:a16="http://schemas.microsoft.com/office/drawing/2014/main" id="{A320CC6C-9C49-4BCD-B878-89B3683FC2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87" y="937867"/>
            <a:ext cx="12188826" cy="12772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ts val="600"/>
              </a:spcBef>
            </a:pPr>
            <a:r>
              <a:rPr lang="zh-CN" altLang="en-US" sz="2400" b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浅复制：实现对象间数据元素的一一对应复制。</a:t>
            </a:r>
          </a:p>
          <a:p>
            <a:pPr eaLnBrk="1" hangingPunct="1">
              <a:spcBef>
                <a:spcPts val="600"/>
              </a:spcBef>
            </a:pPr>
            <a:r>
              <a:rPr lang="zh-CN" altLang="en-US" sz="2400" b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深复制：当被复制的对象数据成员有指针时，不是复制该指针成员本身，而是将指针所指内容进行复制。</a:t>
            </a:r>
          </a:p>
        </p:txBody>
      </p:sp>
      <p:sp>
        <p:nvSpPr>
          <p:cNvPr id="8" name="Text Box 4">
            <a:extLst>
              <a:ext uri="{FF2B5EF4-FFF2-40B4-BE49-F238E27FC236}">
                <a16:creationId xmlns:a16="http://schemas.microsoft.com/office/drawing/2014/main" id="{CF1FB923-7F96-4FFE-9E83-E0DC0E4B4A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70398" y="2247291"/>
            <a:ext cx="2973107" cy="323165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Char char="o"/>
              <a:defRPr sz="32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o"/>
              <a:defRPr sz="24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n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85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 dirty="0">
                <a:solidFill>
                  <a:srgbClr val="104E87"/>
                </a:solidFill>
                <a:latin typeface="Comic Sans MS" panose="030F0702030302020204" pitchFamily="66" charset="0"/>
                <a:ea typeface="宋体" panose="02010600030101010101" pitchFamily="2" charset="-122"/>
              </a:rPr>
              <a:t>class Name {</a:t>
            </a:r>
          </a:p>
          <a:p>
            <a:pPr eaLnBrk="1" hangingPunct="1">
              <a:lnSpc>
                <a:spcPct val="85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 dirty="0">
                <a:solidFill>
                  <a:srgbClr val="104E87"/>
                </a:solidFill>
                <a:latin typeface="Comic Sans MS" panose="030F0702030302020204" pitchFamily="66" charset="0"/>
                <a:ea typeface="宋体" panose="02010600030101010101" pitchFamily="2" charset="-122"/>
              </a:rPr>
              <a:t>public:</a:t>
            </a:r>
          </a:p>
          <a:p>
            <a:pPr eaLnBrk="1" hangingPunct="1">
              <a:lnSpc>
                <a:spcPct val="85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 dirty="0">
                <a:solidFill>
                  <a:srgbClr val="104E87"/>
                </a:solidFill>
                <a:latin typeface="Comic Sans MS" panose="030F0702030302020204" pitchFamily="66" charset="0"/>
                <a:ea typeface="宋体" panose="02010600030101010101" pitchFamily="2" charset="-122"/>
              </a:rPr>
              <a:t>    Name();</a:t>
            </a:r>
          </a:p>
          <a:p>
            <a:pPr eaLnBrk="1" hangingPunct="1">
              <a:lnSpc>
                <a:spcPct val="85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 dirty="0">
                <a:solidFill>
                  <a:srgbClr val="104E87"/>
                </a:solidFill>
                <a:latin typeface="Comic Sans MS" panose="030F0702030302020204" pitchFamily="66" charset="0"/>
                <a:ea typeface="宋体" panose="02010600030101010101" pitchFamily="2" charset="-122"/>
              </a:rPr>
              <a:t>    Name(char *s);</a:t>
            </a:r>
          </a:p>
          <a:p>
            <a:pPr eaLnBrk="1" hangingPunct="1">
              <a:lnSpc>
                <a:spcPct val="85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 dirty="0">
                <a:solidFill>
                  <a:srgbClr val="104E87"/>
                </a:solidFill>
                <a:latin typeface="Comic Sans MS" panose="030F0702030302020204" pitchFamily="66" charset="0"/>
                <a:ea typeface="宋体" panose="02010600030101010101" pitchFamily="2" charset="-122"/>
              </a:rPr>
              <a:t>    ~Name();</a:t>
            </a:r>
          </a:p>
          <a:p>
            <a:pPr eaLnBrk="1" hangingPunct="1">
              <a:lnSpc>
                <a:spcPct val="85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 dirty="0">
                <a:solidFill>
                  <a:srgbClr val="104E87"/>
                </a:solidFill>
                <a:latin typeface="Comic Sans MS" panose="030F0702030302020204" pitchFamily="66" charset="0"/>
                <a:ea typeface="宋体" panose="02010600030101010101" pitchFamily="2" charset="-122"/>
              </a:rPr>
              <a:t>    void set(char *s);      </a:t>
            </a:r>
          </a:p>
          <a:p>
            <a:pPr eaLnBrk="1" hangingPunct="1">
              <a:lnSpc>
                <a:spcPct val="85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 dirty="0">
                <a:solidFill>
                  <a:srgbClr val="104E87"/>
                </a:solidFill>
                <a:latin typeface="Comic Sans MS" panose="030F0702030302020204" pitchFamily="66" charset="0"/>
                <a:ea typeface="宋体" panose="02010600030101010101" pitchFamily="2" charset="-122"/>
              </a:rPr>
              <a:t>    void show();</a:t>
            </a:r>
          </a:p>
          <a:p>
            <a:pPr eaLnBrk="1" hangingPunct="1">
              <a:lnSpc>
                <a:spcPct val="85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 dirty="0">
                <a:solidFill>
                  <a:srgbClr val="104E87"/>
                </a:solidFill>
                <a:latin typeface="Comic Sans MS" panose="030F0702030302020204" pitchFamily="66" charset="0"/>
                <a:ea typeface="宋体" panose="02010600030101010101" pitchFamily="2" charset="-122"/>
              </a:rPr>
              <a:t>private:</a:t>
            </a:r>
          </a:p>
          <a:p>
            <a:pPr eaLnBrk="1" hangingPunct="1">
              <a:lnSpc>
                <a:spcPct val="85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 dirty="0">
                <a:solidFill>
                  <a:srgbClr val="104E87"/>
                </a:solidFill>
                <a:latin typeface="Comic Sans MS" panose="030F0702030302020204" pitchFamily="66" charset="0"/>
                <a:ea typeface="宋体" panose="02010600030101010101" pitchFamily="2" charset="-122"/>
              </a:rPr>
              <a:t>   char *p;</a:t>
            </a:r>
          </a:p>
          <a:p>
            <a:pPr eaLnBrk="1" hangingPunct="1">
              <a:lnSpc>
                <a:spcPct val="85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 dirty="0">
                <a:solidFill>
                  <a:srgbClr val="104E87"/>
                </a:solidFill>
                <a:latin typeface="Comic Sans MS" panose="030F0702030302020204" pitchFamily="66" charset="0"/>
                <a:ea typeface="宋体" panose="02010600030101010101" pitchFamily="2" charset="-122"/>
              </a:rPr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val="19667876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794" y="176798"/>
            <a:ext cx="12190413" cy="728917"/>
          </a:xfrm>
          <a:prstGeom prst="rect">
            <a:avLst/>
          </a:prstGeom>
          <a:solidFill>
            <a:srgbClr val="26CC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3200"/>
          </a:p>
        </p:txBody>
      </p:sp>
      <p:cxnSp>
        <p:nvCxnSpPr>
          <p:cNvPr id="7" name="直线连接符 6"/>
          <p:cNvCxnSpPr/>
          <p:nvPr/>
        </p:nvCxnSpPr>
        <p:spPr>
          <a:xfrm>
            <a:off x="1587" y="905715"/>
            <a:ext cx="12190413" cy="0"/>
          </a:xfrm>
          <a:prstGeom prst="line">
            <a:avLst/>
          </a:prstGeom>
          <a:ln>
            <a:solidFill>
              <a:srgbClr val="104D7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文本框 25">
            <a:extLst>
              <a:ext uri="{FF2B5EF4-FFF2-40B4-BE49-F238E27FC236}">
                <a16:creationId xmlns:a16="http://schemas.microsoft.com/office/drawing/2014/main" id="{AFC6942B-B9B9-42C5-A057-CB3D7BEBCA14}"/>
              </a:ext>
            </a:extLst>
          </p:cNvPr>
          <p:cNvSpPr txBox="1"/>
          <p:nvPr/>
        </p:nvSpPr>
        <p:spPr>
          <a:xfrm>
            <a:off x="247719" y="224527"/>
            <a:ext cx="802877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kumimoji="1" sz="3200" b="1">
                <a:latin typeface="华光胖头鱼_CNKI" panose="02000500000000000000" pitchFamily="2" charset="-122"/>
                <a:ea typeface="华光胖头鱼_CNKI" panose="02000500000000000000" pitchFamily="2" charset="-122"/>
              </a:defRPr>
            </a:lvl1pPr>
          </a:lstStyle>
          <a:p>
            <a:r>
              <a:rPr lang="en-US" altLang="zh-CN" dirty="0"/>
              <a:t>7.7</a:t>
            </a:r>
            <a:r>
              <a:rPr lang="zh-CN" altLang="en-US" dirty="0"/>
              <a:t> 深复制和浅复制</a:t>
            </a:r>
          </a:p>
        </p:txBody>
      </p:sp>
      <p:sp>
        <p:nvSpPr>
          <p:cNvPr id="17" name="Rectangle 2">
            <a:extLst>
              <a:ext uri="{FF2B5EF4-FFF2-40B4-BE49-F238E27FC236}">
                <a16:creationId xmlns:a16="http://schemas.microsoft.com/office/drawing/2014/main" id="{020302F7-5106-4660-813D-A879BCD17E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02564" y="285398"/>
            <a:ext cx="199679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Char char="o"/>
              <a:defRPr sz="32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o"/>
              <a:defRPr sz="24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n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ts val="600"/>
              </a:spcBef>
              <a:buClrTx/>
              <a:buSzTx/>
              <a:buFontTx/>
              <a:buNone/>
            </a:pPr>
            <a:r>
              <a:rPr kumimoji="1" lang="zh-CN" altLang="en-US" sz="2400" dirty="0">
                <a:solidFill>
                  <a:srgbClr val="FF0000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深浅</a:t>
            </a:r>
            <a:r>
              <a:rPr kumimoji="1" lang="en-US" altLang="zh-CN" sz="24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--</a:t>
            </a:r>
            <a:r>
              <a:rPr kumimoji="1" lang="en-US" altLang="zh-CN" sz="24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  <a:sym typeface="Wingdings" panose="05000000000000000000" pitchFamily="2" charset="2"/>
              </a:rPr>
              <a:t></a:t>
            </a:r>
            <a:r>
              <a:rPr kumimoji="1" lang="zh-CN" altLang="en-US" sz="24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  <a:sym typeface="Wingdings" panose="05000000000000000000" pitchFamily="2" charset="2"/>
              </a:rPr>
              <a:t>指针</a:t>
            </a:r>
            <a:endParaRPr kumimoji="1" lang="en-US" altLang="zh-CN" sz="2400" dirty="0">
              <a:solidFill>
                <a:srgbClr val="104E87"/>
              </a:solidFill>
              <a:latin typeface="Comic Sans MS" panose="030F0702030302020204" pitchFamily="66" charset="0"/>
              <a:ea typeface="华光行书_CNKI" panose="02000500000000000000" pitchFamily="2" charset="-122"/>
            </a:endParaRPr>
          </a:p>
        </p:txBody>
      </p:sp>
      <p:sp>
        <p:nvSpPr>
          <p:cNvPr id="8" name="Text Box 4">
            <a:extLst>
              <a:ext uri="{FF2B5EF4-FFF2-40B4-BE49-F238E27FC236}">
                <a16:creationId xmlns:a16="http://schemas.microsoft.com/office/drawing/2014/main" id="{CF1FB923-7F96-4FFE-9E83-E0DC0E4B4A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14349" y="928233"/>
            <a:ext cx="2973107" cy="323165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Char char="o"/>
              <a:defRPr sz="32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o"/>
              <a:defRPr sz="24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n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85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 dirty="0">
                <a:solidFill>
                  <a:srgbClr val="104E87"/>
                </a:solidFill>
                <a:latin typeface="Comic Sans MS" panose="030F0702030302020204" pitchFamily="66" charset="0"/>
                <a:ea typeface="宋体" panose="02010600030101010101" pitchFamily="2" charset="-122"/>
              </a:rPr>
              <a:t>class Name {</a:t>
            </a:r>
          </a:p>
          <a:p>
            <a:pPr eaLnBrk="1" hangingPunct="1">
              <a:lnSpc>
                <a:spcPct val="85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 dirty="0">
                <a:solidFill>
                  <a:srgbClr val="104E87"/>
                </a:solidFill>
                <a:latin typeface="Comic Sans MS" panose="030F0702030302020204" pitchFamily="66" charset="0"/>
                <a:ea typeface="宋体" panose="02010600030101010101" pitchFamily="2" charset="-122"/>
              </a:rPr>
              <a:t>public:</a:t>
            </a:r>
          </a:p>
          <a:p>
            <a:pPr eaLnBrk="1" hangingPunct="1">
              <a:lnSpc>
                <a:spcPct val="85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 dirty="0">
                <a:solidFill>
                  <a:srgbClr val="104E87"/>
                </a:solidFill>
                <a:latin typeface="Comic Sans MS" panose="030F0702030302020204" pitchFamily="66" charset="0"/>
                <a:ea typeface="宋体" panose="02010600030101010101" pitchFamily="2" charset="-122"/>
              </a:rPr>
              <a:t>    Name();</a:t>
            </a:r>
          </a:p>
          <a:p>
            <a:pPr eaLnBrk="1" hangingPunct="1">
              <a:lnSpc>
                <a:spcPct val="85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 dirty="0">
                <a:solidFill>
                  <a:srgbClr val="104E87"/>
                </a:solidFill>
                <a:latin typeface="Comic Sans MS" panose="030F0702030302020204" pitchFamily="66" charset="0"/>
                <a:ea typeface="宋体" panose="02010600030101010101" pitchFamily="2" charset="-122"/>
              </a:rPr>
              <a:t>    Name(char *s);</a:t>
            </a:r>
          </a:p>
          <a:p>
            <a:pPr eaLnBrk="1" hangingPunct="1">
              <a:lnSpc>
                <a:spcPct val="85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 dirty="0">
                <a:solidFill>
                  <a:srgbClr val="104E87"/>
                </a:solidFill>
                <a:latin typeface="Comic Sans MS" panose="030F0702030302020204" pitchFamily="66" charset="0"/>
                <a:ea typeface="宋体" panose="02010600030101010101" pitchFamily="2" charset="-122"/>
              </a:rPr>
              <a:t>    ~Name();</a:t>
            </a:r>
          </a:p>
          <a:p>
            <a:pPr eaLnBrk="1" hangingPunct="1">
              <a:lnSpc>
                <a:spcPct val="85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 dirty="0">
                <a:solidFill>
                  <a:srgbClr val="104E87"/>
                </a:solidFill>
                <a:latin typeface="Comic Sans MS" panose="030F0702030302020204" pitchFamily="66" charset="0"/>
                <a:ea typeface="宋体" panose="02010600030101010101" pitchFamily="2" charset="-122"/>
              </a:rPr>
              <a:t>    void set(char *s);      </a:t>
            </a:r>
          </a:p>
          <a:p>
            <a:pPr eaLnBrk="1" hangingPunct="1">
              <a:lnSpc>
                <a:spcPct val="85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 dirty="0">
                <a:solidFill>
                  <a:srgbClr val="104E87"/>
                </a:solidFill>
                <a:latin typeface="Comic Sans MS" panose="030F0702030302020204" pitchFamily="66" charset="0"/>
                <a:ea typeface="宋体" panose="02010600030101010101" pitchFamily="2" charset="-122"/>
              </a:rPr>
              <a:t>    void show();</a:t>
            </a:r>
          </a:p>
          <a:p>
            <a:pPr eaLnBrk="1" hangingPunct="1">
              <a:lnSpc>
                <a:spcPct val="85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 dirty="0">
                <a:solidFill>
                  <a:srgbClr val="104E87"/>
                </a:solidFill>
                <a:latin typeface="Comic Sans MS" panose="030F0702030302020204" pitchFamily="66" charset="0"/>
                <a:ea typeface="宋体" panose="02010600030101010101" pitchFamily="2" charset="-122"/>
              </a:rPr>
              <a:t>private:</a:t>
            </a:r>
          </a:p>
          <a:p>
            <a:pPr eaLnBrk="1" hangingPunct="1">
              <a:lnSpc>
                <a:spcPct val="85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 dirty="0">
                <a:solidFill>
                  <a:srgbClr val="104E87"/>
                </a:solidFill>
                <a:latin typeface="Comic Sans MS" panose="030F0702030302020204" pitchFamily="66" charset="0"/>
                <a:ea typeface="宋体" panose="02010600030101010101" pitchFamily="2" charset="-122"/>
              </a:rPr>
              <a:t>   char *p;</a:t>
            </a:r>
          </a:p>
          <a:p>
            <a:pPr eaLnBrk="1" hangingPunct="1">
              <a:lnSpc>
                <a:spcPct val="85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 dirty="0">
                <a:solidFill>
                  <a:srgbClr val="104E87"/>
                </a:solidFill>
                <a:latin typeface="Comic Sans MS" panose="030F0702030302020204" pitchFamily="66" charset="0"/>
                <a:ea typeface="宋体" panose="02010600030101010101" pitchFamily="2" charset="-122"/>
              </a:rPr>
              <a:t>};</a:t>
            </a:r>
          </a:p>
        </p:txBody>
      </p:sp>
      <p:sp>
        <p:nvSpPr>
          <p:cNvPr id="9" name="矩形 12">
            <a:extLst>
              <a:ext uri="{FF2B5EF4-FFF2-40B4-BE49-F238E27FC236}">
                <a16:creationId xmlns:a16="http://schemas.microsoft.com/office/drawing/2014/main" id="{F4BE63D6-7A21-4E06-A659-D0E9DAFBA7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26268" y="1894721"/>
            <a:ext cx="2974694" cy="72019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ct val="85000"/>
              </a:lnSpc>
              <a:spcBef>
                <a:spcPct val="0"/>
              </a:spcBef>
            </a:pPr>
            <a:r>
              <a:rPr kumimoji="1" lang="zh-CN" altLang="en-US" dirty="0">
                <a:solidFill>
                  <a:srgbClr val="104E87"/>
                </a:solidFill>
                <a:latin typeface="Comic Sans MS" panose="030F0702030302020204" pitchFamily="66" charset="0"/>
                <a:ea typeface="宋体" panose="02010600030101010101" pitchFamily="2" charset="-122"/>
              </a:rPr>
              <a:t>Name::Name()</a:t>
            </a:r>
          </a:p>
          <a:p>
            <a:pPr>
              <a:lnSpc>
                <a:spcPct val="85000"/>
              </a:lnSpc>
              <a:spcBef>
                <a:spcPct val="0"/>
              </a:spcBef>
            </a:pPr>
            <a:r>
              <a:rPr kumimoji="1" lang="zh-CN" altLang="en-US" dirty="0">
                <a:solidFill>
                  <a:srgbClr val="104E87"/>
                </a:solidFill>
                <a:latin typeface="Comic Sans MS" panose="030F0702030302020204" pitchFamily="66" charset="0"/>
                <a:ea typeface="宋体" panose="02010600030101010101" pitchFamily="2" charset="-122"/>
              </a:rPr>
              <a:t>{p=NULL;}</a:t>
            </a:r>
          </a:p>
        </p:txBody>
      </p:sp>
      <p:sp>
        <p:nvSpPr>
          <p:cNvPr id="10" name="矩形 4">
            <a:extLst>
              <a:ext uri="{FF2B5EF4-FFF2-40B4-BE49-F238E27FC236}">
                <a16:creationId xmlns:a16="http://schemas.microsoft.com/office/drawing/2014/main" id="{CFFD52EF-F803-40D3-85BB-C29F37F663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26268" y="2754969"/>
            <a:ext cx="4211637" cy="134806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ct val="85000"/>
              </a:lnSpc>
              <a:spcBef>
                <a:spcPct val="0"/>
              </a:spcBef>
            </a:pPr>
            <a:r>
              <a:rPr kumimoji="1" lang="zh-CN" altLang="en-US" dirty="0">
                <a:solidFill>
                  <a:srgbClr val="104E87"/>
                </a:solidFill>
                <a:latin typeface="Comic Sans MS" panose="030F0702030302020204" pitchFamily="66" charset="0"/>
                <a:ea typeface="宋体" panose="02010600030101010101" pitchFamily="2" charset="-122"/>
              </a:rPr>
              <a:t>Name::Name(char *s)</a:t>
            </a:r>
          </a:p>
          <a:p>
            <a:pPr>
              <a:lnSpc>
                <a:spcPct val="85000"/>
              </a:lnSpc>
              <a:spcBef>
                <a:spcPct val="0"/>
              </a:spcBef>
            </a:pPr>
            <a:r>
              <a:rPr kumimoji="1" lang="zh-CN" altLang="en-US" dirty="0">
                <a:solidFill>
                  <a:srgbClr val="104E87"/>
                </a:solidFill>
                <a:latin typeface="Comic Sans MS" panose="030F0702030302020204" pitchFamily="66" charset="0"/>
                <a:ea typeface="宋体" panose="02010600030101010101" pitchFamily="2" charset="-122"/>
              </a:rPr>
              <a:t>{  p=new char[strlen(s)+1];</a:t>
            </a:r>
          </a:p>
          <a:p>
            <a:pPr>
              <a:lnSpc>
                <a:spcPct val="85000"/>
              </a:lnSpc>
              <a:spcBef>
                <a:spcPct val="0"/>
              </a:spcBef>
            </a:pPr>
            <a:r>
              <a:rPr kumimoji="1" lang="zh-CN" altLang="en-US" dirty="0">
                <a:solidFill>
                  <a:srgbClr val="104E87"/>
                </a:solidFill>
                <a:latin typeface="Comic Sans MS" panose="030F0702030302020204" pitchFamily="66" charset="0"/>
                <a:ea typeface="宋体" panose="02010600030101010101" pitchFamily="2" charset="-122"/>
              </a:rPr>
              <a:t>   strcpy(p,s);</a:t>
            </a:r>
          </a:p>
          <a:p>
            <a:pPr>
              <a:lnSpc>
                <a:spcPct val="85000"/>
              </a:lnSpc>
              <a:spcBef>
                <a:spcPct val="0"/>
              </a:spcBef>
            </a:pPr>
            <a:r>
              <a:rPr kumimoji="1" lang="zh-CN" altLang="en-US" dirty="0">
                <a:solidFill>
                  <a:srgbClr val="104E87"/>
                </a:solidFill>
                <a:latin typeface="Comic Sans MS" panose="030F0702030302020204" pitchFamily="66" charset="0"/>
                <a:ea typeface="宋体" panose="02010600030101010101" pitchFamily="2" charset="-122"/>
              </a:rPr>
              <a:t>}</a:t>
            </a:r>
          </a:p>
        </p:txBody>
      </p:sp>
      <p:sp>
        <p:nvSpPr>
          <p:cNvPr id="11" name="矩形 14">
            <a:extLst>
              <a:ext uri="{FF2B5EF4-FFF2-40B4-BE49-F238E27FC236}">
                <a16:creationId xmlns:a16="http://schemas.microsoft.com/office/drawing/2014/main" id="{D2065738-802A-41E9-BD56-FD6A0771AA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26268" y="4323955"/>
            <a:ext cx="4211637" cy="134806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ct val="85000"/>
              </a:lnSpc>
              <a:spcBef>
                <a:spcPct val="0"/>
              </a:spcBef>
            </a:pPr>
            <a:r>
              <a:rPr kumimoji="1" lang="zh-CN" altLang="en-US" dirty="0">
                <a:solidFill>
                  <a:srgbClr val="104E87"/>
                </a:solidFill>
                <a:latin typeface="Comic Sans MS" panose="030F0702030302020204" pitchFamily="66" charset="0"/>
                <a:ea typeface="宋体" panose="02010600030101010101" pitchFamily="2" charset="-122"/>
              </a:rPr>
              <a:t>Name::~Name()</a:t>
            </a:r>
          </a:p>
          <a:p>
            <a:pPr>
              <a:lnSpc>
                <a:spcPct val="85000"/>
              </a:lnSpc>
              <a:spcBef>
                <a:spcPct val="0"/>
              </a:spcBef>
            </a:pPr>
            <a:r>
              <a:rPr kumimoji="1" lang="zh-CN" altLang="en-US" dirty="0">
                <a:solidFill>
                  <a:srgbClr val="104E87"/>
                </a:solidFill>
                <a:latin typeface="Comic Sans MS" panose="030F0702030302020204" pitchFamily="66" charset="0"/>
                <a:ea typeface="宋体" panose="02010600030101010101" pitchFamily="2" charset="-122"/>
              </a:rPr>
              <a:t>{ cout&lt;&lt;"Destructing."&lt;&lt;endl;</a:t>
            </a:r>
          </a:p>
          <a:p>
            <a:pPr>
              <a:lnSpc>
                <a:spcPct val="85000"/>
              </a:lnSpc>
              <a:spcBef>
                <a:spcPct val="0"/>
              </a:spcBef>
            </a:pPr>
            <a:r>
              <a:rPr kumimoji="1" lang="zh-CN" altLang="en-US" dirty="0">
                <a:solidFill>
                  <a:srgbClr val="104E87"/>
                </a:solidFill>
                <a:latin typeface="Comic Sans MS" panose="030F0702030302020204" pitchFamily="66" charset="0"/>
                <a:ea typeface="宋体" panose="02010600030101010101" pitchFamily="2" charset="-122"/>
              </a:rPr>
              <a:t>   if(p!=NULL) delete [] p;</a:t>
            </a:r>
          </a:p>
          <a:p>
            <a:pPr>
              <a:lnSpc>
                <a:spcPct val="85000"/>
              </a:lnSpc>
              <a:spcBef>
                <a:spcPct val="0"/>
              </a:spcBef>
            </a:pPr>
            <a:r>
              <a:rPr kumimoji="1" lang="zh-CN" altLang="en-US" dirty="0">
                <a:solidFill>
                  <a:srgbClr val="104E87"/>
                </a:solidFill>
                <a:latin typeface="Comic Sans MS" panose="030F0702030302020204" pitchFamily="66" charset="0"/>
                <a:ea typeface="宋体" panose="02010600030101010101" pitchFamily="2" charset="-122"/>
              </a:rPr>
              <a:t>}</a:t>
            </a:r>
          </a:p>
        </p:txBody>
      </p:sp>
      <p:sp>
        <p:nvSpPr>
          <p:cNvPr id="12" name="矩形 13">
            <a:extLst>
              <a:ext uri="{FF2B5EF4-FFF2-40B4-BE49-F238E27FC236}">
                <a16:creationId xmlns:a16="http://schemas.microsoft.com/office/drawing/2014/main" id="{B359743A-635C-478C-8C84-C3C3F924C7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52764" y="992989"/>
            <a:ext cx="4219606" cy="72019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ct val="85000"/>
              </a:lnSpc>
              <a:spcBef>
                <a:spcPct val="0"/>
              </a:spcBef>
            </a:pPr>
            <a:r>
              <a:rPr kumimoji="1" lang="zh-CN" altLang="en-US" dirty="0">
                <a:solidFill>
                  <a:srgbClr val="104E87"/>
                </a:solidFill>
                <a:latin typeface="Comic Sans MS" panose="030F0702030302020204" pitchFamily="66" charset="0"/>
                <a:ea typeface="宋体" panose="02010600030101010101" pitchFamily="2" charset="-122"/>
              </a:rPr>
              <a:t>void Name::set(char *s)</a:t>
            </a:r>
          </a:p>
          <a:p>
            <a:pPr>
              <a:lnSpc>
                <a:spcPct val="85000"/>
              </a:lnSpc>
              <a:spcBef>
                <a:spcPct val="0"/>
              </a:spcBef>
            </a:pPr>
            <a:r>
              <a:rPr kumimoji="1" lang="zh-CN" altLang="en-US" dirty="0">
                <a:solidFill>
                  <a:srgbClr val="104E87"/>
                </a:solidFill>
                <a:latin typeface="Comic Sans MS" panose="030F0702030302020204" pitchFamily="66" charset="0"/>
                <a:ea typeface="宋体" panose="02010600030101010101" pitchFamily="2" charset="-122"/>
              </a:rPr>
              <a:t>{strcpy(p,s);}</a:t>
            </a:r>
          </a:p>
        </p:txBody>
      </p:sp>
      <p:sp>
        <p:nvSpPr>
          <p:cNvPr id="13" name="矩形 5">
            <a:extLst>
              <a:ext uri="{FF2B5EF4-FFF2-40B4-BE49-F238E27FC236}">
                <a16:creationId xmlns:a16="http://schemas.microsoft.com/office/drawing/2014/main" id="{DD83213C-9670-48A0-B074-944BA7E67D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84087" y="953444"/>
            <a:ext cx="4211637" cy="72019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ct val="85000"/>
              </a:lnSpc>
              <a:spcBef>
                <a:spcPct val="0"/>
              </a:spcBef>
            </a:pPr>
            <a:r>
              <a:rPr kumimoji="1" lang="zh-CN" altLang="en-US" dirty="0">
                <a:solidFill>
                  <a:srgbClr val="104E87"/>
                </a:solidFill>
                <a:latin typeface="Comic Sans MS" panose="030F0702030302020204" pitchFamily="66" charset="0"/>
                <a:ea typeface="宋体" panose="02010600030101010101" pitchFamily="2" charset="-122"/>
              </a:rPr>
              <a:t>void Name::show()</a:t>
            </a:r>
          </a:p>
          <a:p>
            <a:pPr>
              <a:lnSpc>
                <a:spcPct val="85000"/>
              </a:lnSpc>
              <a:spcBef>
                <a:spcPct val="0"/>
              </a:spcBef>
            </a:pPr>
            <a:r>
              <a:rPr kumimoji="1" lang="zh-CN" altLang="en-US" dirty="0">
                <a:solidFill>
                  <a:srgbClr val="104E87"/>
                </a:solidFill>
                <a:latin typeface="Comic Sans MS" panose="030F0702030302020204" pitchFamily="66" charset="0"/>
                <a:ea typeface="宋体" panose="02010600030101010101" pitchFamily="2" charset="-122"/>
              </a:rPr>
              <a:t>{cout&lt;&lt;p&lt;&lt;endl;}</a:t>
            </a:r>
          </a:p>
        </p:txBody>
      </p:sp>
      <p:sp>
        <p:nvSpPr>
          <p:cNvPr id="16" name="矩形 8">
            <a:extLst>
              <a:ext uri="{FF2B5EF4-FFF2-40B4-BE49-F238E27FC236}">
                <a16:creationId xmlns:a16="http://schemas.microsoft.com/office/drawing/2014/main" id="{82A2CD14-F768-42AA-9E3C-34F07B565C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79570" y="1778902"/>
            <a:ext cx="4211637" cy="452431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txBody>
          <a:bodyPr wrap="square">
            <a:spAutoFit/>
          </a:bodyPr>
          <a:lstStyle>
            <a:lvl1pPr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zh-CN" altLang="en-US" sz="2400" b="0" dirty="0">
                <a:solidFill>
                  <a:srgbClr val="104E87"/>
                </a:solidFill>
                <a:latin typeface="Comic Sans MS" panose="030F0702030302020204" pitchFamily="66" charset="0"/>
                <a:ea typeface="宋体" panose="02010600030101010101" pitchFamily="2" charset="-122"/>
              </a:rPr>
              <a:t>int main()</a:t>
            </a:r>
          </a:p>
          <a:p>
            <a:pPr eaLnBrk="1" hangingPunct="1"/>
            <a:r>
              <a:rPr lang="zh-CN" altLang="en-US" sz="2400" b="0" dirty="0">
                <a:solidFill>
                  <a:srgbClr val="104E87"/>
                </a:solidFill>
                <a:latin typeface="Comic Sans MS" panose="030F0702030302020204" pitchFamily="66" charset="0"/>
                <a:ea typeface="宋体" panose="02010600030101010101" pitchFamily="2" charset="-122"/>
              </a:rPr>
              <a:t>{</a:t>
            </a:r>
            <a:r>
              <a:rPr lang="zh-CN" altLang="en-US" sz="2400" b="0" dirty="0">
                <a:solidFill>
                  <a:srgbClr val="FF0000"/>
                </a:solidFill>
                <a:latin typeface="Comic Sans MS" panose="030F0702030302020204" pitchFamily="66" charset="0"/>
                <a:ea typeface="宋体" panose="02010600030101010101" pitchFamily="2" charset="-122"/>
              </a:rPr>
              <a:t>char temp_str[20]="wang"</a:t>
            </a:r>
            <a:r>
              <a:rPr lang="en-US" altLang="zh-CN" sz="2400" b="0" dirty="0">
                <a:solidFill>
                  <a:srgbClr val="FF0000"/>
                </a:solidFill>
                <a:latin typeface="Comic Sans MS" panose="030F0702030302020204" pitchFamily="66" charset="0"/>
                <a:ea typeface="宋体" panose="02010600030101010101" pitchFamily="2" charset="-122"/>
              </a:rPr>
              <a:t>;</a:t>
            </a:r>
          </a:p>
          <a:p>
            <a:pPr eaLnBrk="1" hangingPunct="1"/>
            <a:r>
              <a:rPr lang="zh-CN" altLang="en-US" sz="2400" b="0" dirty="0">
                <a:solidFill>
                  <a:srgbClr val="FF0000"/>
                </a:solidFill>
                <a:latin typeface="Comic Sans MS" panose="030F0702030302020204" pitchFamily="66" charset="0"/>
                <a:ea typeface="宋体" panose="02010600030101010101" pitchFamily="2" charset="-122"/>
              </a:rPr>
              <a:t>Name myname(temp_str)</a:t>
            </a:r>
            <a:r>
              <a:rPr lang="en-US" altLang="zh-CN" sz="2400" b="0" dirty="0">
                <a:solidFill>
                  <a:srgbClr val="FF0000"/>
                </a:solidFill>
                <a:latin typeface="Comic Sans MS" panose="030F0702030302020204" pitchFamily="66" charset="0"/>
                <a:ea typeface="宋体" panose="02010600030101010101" pitchFamily="2" charset="-122"/>
              </a:rPr>
              <a:t> ;</a:t>
            </a:r>
          </a:p>
          <a:p>
            <a:r>
              <a:rPr lang="zh-CN" altLang="en-US" sz="2400" b="0" dirty="0">
                <a:solidFill>
                  <a:srgbClr val="FF0000"/>
                </a:solidFill>
                <a:latin typeface="Comic Sans MS" panose="030F0702030302020204" pitchFamily="66" charset="0"/>
                <a:ea typeface="宋体" panose="02010600030101010101" pitchFamily="2" charset="-122"/>
              </a:rPr>
              <a:t>Name yourname(myname);</a:t>
            </a:r>
            <a:r>
              <a:rPr lang="zh-CN" altLang="en-US" sz="2400" b="0" dirty="0">
                <a:latin typeface="Comic Sans MS" panose="030F0702030302020204" pitchFamily="66" charset="0"/>
                <a:ea typeface="宋体" panose="02010600030101010101" pitchFamily="2" charset="-122"/>
              </a:rPr>
              <a:t> </a:t>
            </a:r>
            <a:r>
              <a:rPr lang="zh-CN" altLang="en-US" sz="2400" b="0" dirty="0">
                <a:solidFill>
                  <a:srgbClr val="104E87"/>
                </a:solidFill>
                <a:latin typeface="Comic Sans MS" panose="030F0702030302020204" pitchFamily="66" charset="0"/>
                <a:ea typeface="宋体" panose="02010600030101010101" pitchFamily="2" charset="-122"/>
              </a:rPr>
              <a:t>myname.show(); </a:t>
            </a:r>
            <a:endParaRPr lang="en-US" altLang="zh-CN" sz="2400" b="0" dirty="0">
              <a:solidFill>
                <a:srgbClr val="104E87"/>
              </a:solidFill>
              <a:latin typeface="Comic Sans MS" panose="030F0702030302020204" pitchFamily="66" charset="0"/>
              <a:ea typeface="宋体" panose="02010600030101010101" pitchFamily="2" charset="-122"/>
            </a:endParaRPr>
          </a:p>
          <a:p>
            <a:pPr eaLnBrk="1" hangingPunct="1"/>
            <a:r>
              <a:rPr lang="zh-CN" altLang="en-US" sz="2400" b="0" dirty="0">
                <a:solidFill>
                  <a:srgbClr val="104E87"/>
                </a:solidFill>
                <a:latin typeface="Comic Sans MS" panose="030F0702030302020204" pitchFamily="66" charset="0"/>
                <a:ea typeface="宋体" panose="02010600030101010101" pitchFamily="2" charset="-122"/>
              </a:rPr>
              <a:t>yourname.show();</a:t>
            </a:r>
          </a:p>
          <a:p>
            <a:pPr eaLnBrk="1" hangingPunct="1"/>
            <a:r>
              <a:rPr lang="zh-CN" altLang="en-US" sz="2400" b="0" dirty="0">
                <a:solidFill>
                  <a:srgbClr val="104E87"/>
                </a:solidFill>
                <a:latin typeface="Comic Sans MS" panose="030F0702030302020204" pitchFamily="66" charset="0"/>
                <a:ea typeface="宋体" panose="02010600030101010101" pitchFamily="2" charset="-122"/>
              </a:rPr>
              <a:t>cin&gt;&gt;temp_str;</a:t>
            </a:r>
          </a:p>
          <a:p>
            <a:pPr eaLnBrk="1" hangingPunct="1"/>
            <a:r>
              <a:rPr lang="zh-CN" altLang="en-US" sz="2400" b="0" dirty="0">
                <a:solidFill>
                  <a:srgbClr val="FF0000"/>
                </a:solidFill>
                <a:latin typeface="Comic Sans MS" panose="030F0702030302020204" pitchFamily="66" charset="0"/>
                <a:ea typeface="宋体" panose="02010600030101010101" pitchFamily="2" charset="-122"/>
              </a:rPr>
              <a:t>yourname.set(temp_str);</a:t>
            </a:r>
          </a:p>
          <a:p>
            <a:pPr eaLnBrk="1" hangingPunct="1"/>
            <a:r>
              <a:rPr lang="zh-CN" altLang="en-US" sz="2400" b="0" dirty="0">
                <a:solidFill>
                  <a:srgbClr val="104E87"/>
                </a:solidFill>
                <a:latin typeface="Comic Sans MS" panose="030F0702030302020204" pitchFamily="66" charset="0"/>
                <a:ea typeface="宋体" panose="02010600030101010101" pitchFamily="2" charset="-122"/>
              </a:rPr>
              <a:t>myname.show();</a:t>
            </a:r>
            <a:endParaRPr lang="en-US" altLang="zh-CN" sz="2400" b="0" dirty="0">
              <a:solidFill>
                <a:srgbClr val="104E87"/>
              </a:solidFill>
              <a:latin typeface="Comic Sans MS" panose="030F0702030302020204" pitchFamily="66" charset="0"/>
              <a:ea typeface="宋体" panose="02010600030101010101" pitchFamily="2" charset="-122"/>
            </a:endParaRPr>
          </a:p>
          <a:p>
            <a:pPr eaLnBrk="1" hangingPunct="1"/>
            <a:r>
              <a:rPr lang="zh-CN" altLang="en-US" sz="2400" b="0" dirty="0">
                <a:solidFill>
                  <a:srgbClr val="104E87"/>
                </a:solidFill>
                <a:latin typeface="Comic Sans MS" panose="030F0702030302020204" pitchFamily="66" charset="0"/>
                <a:ea typeface="宋体" panose="02010600030101010101" pitchFamily="2" charset="-122"/>
              </a:rPr>
              <a:t>yourname.show();	</a:t>
            </a:r>
          </a:p>
          <a:p>
            <a:pPr eaLnBrk="1" hangingPunct="1"/>
            <a:r>
              <a:rPr lang="zh-CN" altLang="en-US" sz="2400" b="0" dirty="0">
                <a:solidFill>
                  <a:srgbClr val="104E87"/>
                </a:solidFill>
                <a:latin typeface="Comic Sans MS" panose="030F0702030302020204" pitchFamily="66" charset="0"/>
                <a:ea typeface="宋体" panose="02010600030101010101" pitchFamily="2" charset="-122"/>
              </a:rPr>
              <a:t>return 0;</a:t>
            </a:r>
          </a:p>
          <a:p>
            <a:pPr eaLnBrk="1" hangingPunct="1"/>
            <a:r>
              <a:rPr lang="zh-CN" altLang="en-US" sz="2400" b="0" dirty="0">
                <a:solidFill>
                  <a:srgbClr val="104E87"/>
                </a:solidFill>
                <a:latin typeface="Comic Sans MS" panose="030F0702030302020204" pitchFamily="66" charset="0"/>
                <a:ea typeface="宋体" panose="02010600030101010101" pitchFamily="2" charset="-122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7165993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6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794" y="176798"/>
            <a:ext cx="12190413" cy="728917"/>
          </a:xfrm>
          <a:prstGeom prst="rect">
            <a:avLst/>
          </a:prstGeom>
          <a:solidFill>
            <a:srgbClr val="26CC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3200"/>
          </a:p>
        </p:txBody>
      </p:sp>
      <p:cxnSp>
        <p:nvCxnSpPr>
          <p:cNvPr id="7" name="直线连接符 6"/>
          <p:cNvCxnSpPr/>
          <p:nvPr/>
        </p:nvCxnSpPr>
        <p:spPr>
          <a:xfrm>
            <a:off x="1587" y="905715"/>
            <a:ext cx="12190413" cy="0"/>
          </a:xfrm>
          <a:prstGeom prst="line">
            <a:avLst/>
          </a:prstGeom>
          <a:ln>
            <a:solidFill>
              <a:srgbClr val="104D7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文本框 25">
            <a:extLst>
              <a:ext uri="{FF2B5EF4-FFF2-40B4-BE49-F238E27FC236}">
                <a16:creationId xmlns:a16="http://schemas.microsoft.com/office/drawing/2014/main" id="{AFC6942B-B9B9-42C5-A057-CB3D7BEBCA14}"/>
              </a:ext>
            </a:extLst>
          </p:cNvPr>
          <p:cNvSpPr txBox="1"/>
          <p:nvPr/>
        </p:nvSpPr>
        <p:spPr>
          <a:xfrm>
            <a:off x="247719" y="224527"/>
            <a:ext cx="802877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kumimoji="1" sz="3200" b="1">
                <a:latin typeface="华光胖头鱼_CNKI" panose="02000500000000000000" pitchFamily="2" charset="-122"/>
                <a:ea typeface="华光胖头鱼_CNKI" panose="02000500000000000000" pitchFamily="2" charset="-122"/>
              </a:defRPr>
            </a:lvl1pPr>
          </a:lstStyle>
          <a:p>
            <a:r>
              <a:rPr lang="en-US" altLang="zh-CN" dirty="0"/>
              <a:t>7.7</a:t>
            </a:r>
            <a:r>
              <a:rPr lang="zh-CN" altLang="en-US" dirty="0"/>
              <a:t> 深复制和浅复制</a:t>
            </a:r>
          </a:p>
        </p:txBody>
      </p:sp>
      <p:sp>
        <p:nvSpPr>
          <p:cNvPr id="14" name="Rectangle 5">
            <a:extLst>
              <a:ext uri="{FF2B5EF4-FFF2-40B4-BE49-F238E27FC236}">
                <a16:creationId xmlns:a16="http://schemas.microsoft.com/office/drawing/2014/main" id="{838E19A2-DB8B-4DE2-A287-BD2B37E597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03312" y="3495675"/>
            <a:ext cx="1693863" cy="531813"/>
          </a:xfrm>
          <a:prstGeom prst="rect">
            <a:avLst/>
          </a:prstGeom>
          <a:noFill/>
          <a:ln w="9525">
            <a:solidFill>
              <a:srgbClr val="104E87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Char char="o"/>
              <a:defRPr sz="32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o"/>
              <a:defRPr sz="24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n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15" name="Text Box 6">
            <a:extLst>
              <a:ext uri="{FF2B5EF4-FFF2-40B4-BE49-F238E27FC236}">
                <a16:creationId xmlns:a16="http://schemas.microsoft.com/office/drawing/2014/main" id="{19471942-7549-4746-9E8D-C1B969D708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11262" y="3484563"/>
            <a:ext cx="7921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defPPr>
              <a:defRPr lang="en-US"/>
            </a:defPPr>
            <a:lvl1pPr>
              <a:spcBef>
                <a:spcPct val="50000"/>
              </a:spcBef>
              <a:buClrTx/>
              <a:buSzTx/>
              <a:buFontTx/>
              <a:buNone/>
              <a:defRPr kumimoji="1" b="0">
                <a:solidFill>
                  <a:srgbClr val="104E87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o"/>
              <a:defRPr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n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r>
              <a:rPr lang="en-US" altLang="zh-CN" dirty="0"/>
              <a:t>p</a:t>
            </a:r>
          </a:p>
        </p:txBody>
      </p:sp>
      <p:sp>
        <p:nvSpPr>
          <p:cNvPr id="18" name="Text Box 8">
            <a:extLst>
              <a:ext uri="{FF2B5EF4-FFF2-40B4-BE49-F238E27FC236}">
                <a16:creationId xmlns:a16="http://schemas.microsoft.com/office/drawing/2014/main" id="{8E420C21-279E-44B2-87C1-BF573EB336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31987" y="3556000"/>
            <a:ext cx="719138" cy="4064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9525">
            <a:solidFill>
              <a:srgbClr val="104E87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Char char="o"/>
              <a:defRPr sz="32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o"/>
              <a:defRPr sz="24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n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 typeface="Wingdings" panose="05000000000000000000" pitchFamily="2" charset="2"/>
              <a:buChar char="l"/>
            </a:pPr>
            <a:r>
              <a:rPr kumimoji="1" lang="en-US" altLang="zh-CN" sz="2000" b="0" dirty="0">
                <a:solidFill>
                  <a:schemeClr val="tx1"/>
                </a:solidFill>
                <a:ea typeface="宋体" panose="02010600030101010101" pitchFamily="2" charset="-122"/>
              </a:rPr>
              <a:t> </a:t>
            </a:r>
          </a:p>
        </p:txBody>
      </p:sp>
      <p:sp>
        <p:nvSpPr>
          <p:cNvPr id="19" name="Text Box 9">
            <a:extLst>
              <a:ext uri="{FF2B5EF4-FFF2-40B4-BE49-F238E27FC236}">
                <a16:creationId xmlns:a16="http://schemas.microsoft.com/office/drawing/2014/main" id="{742C7572-EA36-479A-8D6D-7AE0753730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73550" y="3967163"/>
            <a:ext cx="1651000" cy="466725"/>
          </a:xfrm>
          <a:prstGeom prst="rect">
            <a:avLst/>
          </a:prstGeom>
          <a:solidFill>
            <a:schemeClr val="tx1"/>
          </a:solidFill>
          <a:ln w="9525">
            <a:solidFill>
              <a:srgbClr val="104E87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Char char="o"/>
              <a:defRPr sz="32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o"/>
              <a:defRPr sz="24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n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en-US" altLang="zh-CN" sz="2400" b="0">
                <a:solidFill>
                  <a:srgbClr val="104E87"/>
                </a:solidFill>
                <a:ea typeface="宋体" panose="02010600030101010101" pitchFamily="2" charset="-122"/>
              </a:rPr>
              <a:t>wang</a:t>
            </a:r>
          </a:p>
        </p:txBody>
      </p:sp>
      <p:sp>
        <p:nvSpPr>
          <p:cNvPr id="20" name="Line 12">
            <a:extLst>
              <a:ext uri="{FF2B5EF4-FFF2-40B4-BE49-F238E27FC236}">
                <a16:creationId xmlns:a16="http://schemas.microsoft.com/office/drawing/2014/main" id="{F7189842-F9C3-4FCB-B1D4-02DCADB94C8F}"/>
              </a:ext>
            </a:extLst>
          </p:cNvPr>
          <p:cNvSpPr>
            <a:spLocks noChangeShapeType="1"/>
          </p:cNvSpPr>
          <p:nvPr/>
        </p:nvSpPr>
        <p:spPr bwMode="auto">
          <a:xfrm>
            <a:off x="2112962" y="3752850"/>
            <a:ext cx="2090738" cy="336550"/>
          </a:xfrm>
          <a:prstGeom prst="line">
            <a:avLst/>
          </a:prstGeom>
          <a:noFill/>
          <a:ln w="9525">
            <a:solidFill>
              <a:srgbClr val="104E87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1" name="Text Box 13">
            <a:extLst>
              <a:ext uri="{FF2B5EF4-FFF2-40B4-BE49-F238E27FC236}">
                <a16:creationId xmlns:a16="http://schemas.microsoft.com/office/drawing/2014/main" id="{F76A72ED-BED9-4A5C-8FC9-0F7FCCEE46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5000" y="2944813"/>
            <a:ext cx="2197100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Char char="o"/>
              <a:defRPr sz="32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o"/>
              <a:defRPr sz="24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n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800" dirty="0">
                <a:solidFill>
                  <a:srgbClr val="104E87"/>
                </a:solidFill>
                <a:latin typeface="Comic Sans MS" panose="030F0702030302020204" pitchFamily="66" charset="0"/>
              </a:rPr>
              <a:t>myname</a:t>
            </a:r>
            <a:endParaRPr kumimoji="1" lang="en-US" altLang="zh-CN" sz="2800" dirty="0">
              <a:solidFill>
                <a:srgbClr val="104E87"/>
              </a:solidFill>
              <a:latin typeface="Comic Sans MS" panose="030F0702030302020204" pitchFamily="66" charset="0"/>
              <a:ea typeface="宋体" panose="02010600030101010101" pitchFamily="2" charset="-122"/>
            </a:endParaRPr>
          </a:p>
        </p:txBody>
      </p:sp>
      <p:sp>
        <p:nvSpPr>
          <p:cNvPr id="22" name="Rectangle 15">
            <a:extLst>
              <a:ext uri="{FF2B5EF4-FFF2-40B4-BE49-F238E27FC236}">
                <a16:creationId xmlns:a16="http://schemas.microsoft.com/office/drawing/2014/main" id="{2E624515-B0E4-4F60-8BC4-6B5A58FFB0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03312" y="4689475"/>
            <a:ext cx="1693863" cy="614363"/>
          </a:xfrm>
          <a:prstGeom prst="rect">
            <a:avLst/>
          </a:prstGeom>
          <a:noFill/>
          <a:ln w="9525">
            <a:solidFill>
              <a:srgbClr val="104E87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Char char="o"/>
              <a:defRPr sz="32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o"/>
              <a:defRPr sz="24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n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23" name="Text Box 16">
            <a:extLst>
              <a:ext uri="{FF2B5EF4-FFF2-40B4-BE49-F238E27FC236}">
                <a16:creationId xmlns:a16="http://schemas.microsoft.com/office/drawing/2014/main" id="{BC2C0C3A-2BF6-48F7-BC56-7541EE3BB2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74750" y="4697413"/>
            <a:ext cx="7921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Char char="o"/>
              <a:defRPr sz="32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o"/>
              <a:defRPr sz="24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n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en-US" altLang="zh-CN" sz="2400" b="0" dirty="0">
                <a:solidFill>
                  <a:srgbClr val="104E87"/>
                </a:solidFill>
                <a:latin typeface="Comic Sans MS" panose="030F0702030302020204" pitchFamily="66" charset="0"/>
                <a:ea typeface="宋体" panose="02010600030101010101" pitchFamily="2" charset="-122"/>
              </a:rPr>
              <a:t>p</a:t>
            </a:r>
          </a:p>
        </p:txBody>
      </p:sp>
      <p:sp>
        <p:nvSpPr>
          <p:cNvPr id="24" name="Text Box 18">
            <a:extLst>
              <a:ext uri="{FF2B5EF4-FFF2-40B4-BE49-F238E27FC236}">
                <a16:creationId xmlns:a16="http://schemas.microsoft.com/office/drawing/2014/main" id="{4699C662-3BED-4E80-97D7-B0951368B6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95475" y="4802188"/>
            <a:ext cx="719137" cy="4064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9525">
            <a:solidFill>
              <a:srgbClr val="104E87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Char char="o"/>
              <a:defRPr sz="32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o"/>
              <a:defRPr sz="24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n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 typeface="Wingdings" panose="05000000000000000000" pitchFamily="2" charset="2"/>
              <a:buChar char="l"/>
            </a:pPr>
            <a:r>
              <a:rPr kumimoji="1" lang="en-US" altLang="zh-CN" sz="2000" b="0" dirty="0">
                <a:solidFill>
                  <a:schemeClr val="tx1"/>
                </a:solidFill>
                <a:ea typeface="宋体" panose="02010600030101010101" pitchFamily="2" charset="-122"/>
              </a:rPr>
              <a:t> </a:t>
            </a:r>
          </a:p>
        </p:txBody>
      </p:sp>
      <p:sp>
        <p:nvSpPr>
          <p:cNvPr id="25" name="Text Box 19">
            <a:extLst>
              <a:ext uri="{FF2B5EF4-FFF2-40B4-BE49-F238E27FC236}">
                <a16:creationId xmlns:a16="http://schemas.microsoft.com/office/drawing/2014/main" id="{6714EE2E-6A37-4309-A92F-97565B9C42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5000" y="4151313"/>
            <a:ext cx="1944687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defPPr>
              <a:defRPr lang="en-US"/>
            </a:defPPr>
            <a:lvl1pPr>
              <a:spcBef>
                <a:spcPct val="50000"/>
              </a:spcBef>
              <a:buClrTx/>
              <a:buSzTx/>
              <a:buFontTx/>
              <a:buNone/>
              <a:defRPr sz="2800">
                <a:solidFill>
                  <a:srgbClr val="104E87"/>
                </a:solidFill>
                <a:latin typeface="Comic Sans MS" panose="030F0702030302020204" pitchFamily="66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o"/>
              <a:defRPr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n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r>
              <a:rPr lang="en-US" altLang="zh-CN" dirty="0"/>
              <a:t>your</a:t>
            </a:r>
            <a:r>
              <a:rPr lang="zh-CN" altLang="en-US" dirty="0"/>
              <a:t>name</a:t>
            </a:r>
            <a:endParaRPr lang="en-US" altLang="zh-CN" dirty="0"/>
          </a:p>
        </p:txBody>
      </p:sp>
      <p:sp>
        <p:nvSpPr>
          <p:cNvPr id="27" name="Line 20">
            <a:extLst>
              <a:ext uri="{FF2B5EF4-FFF2-40B4-BE49-F238E27FC236}">
                <a16:creationId xmlns:a16="http://schemas.microsoft.com/office/drawing/2014/main" id="{EFA72FCA-070D-40E3-B891-16B6C8A6DE6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112962" y="4122737"/>
            <a:ext cx="2090738" cy="870108"/>
          </a:xfrm>
          <a:prstGeom prst="line">
            <a:avLst/>
          </a:prstGeom>
          <a:noFill/>
          <a:ln w="9525">
            <a:solidFill>
              <a:srgbClr val="104E87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58432171-CE9B-4EEF-8039-7529339842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1415" y="1459924"/>
            <a:ext cx="4493538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b="1" dirty="0">
                <a:solidFill>
                  <a:srgbClr val="104E87"/>
                </a:solidFill>
                <a:latin typeface="Comic Sans MS" panose="030F0702030302020204" pitchFamily="66" charset="0"/>
                <a:ea typeface="宋体" panose="02010600030101010101" pitchFamily="2" charset="-122"/>
              </a:rPr>
              <a:t>Name myname(temp_str)</a:t>
            </a:r>
            <a:r>
              <a:rPr lang="en-US" altLang="zh-CN" b="1" dirty="0">
                <a:solidFill>
                  <a:srgbClr val="104E87"/>
                </a:solidFill>
                <a:latin typeface="Comic Sans MS" panose="030F0702030302020204" pitchFamily="66" charset="0"/>
                <a:ea typeface="宋体" panose="02010600030101010101" pitchFamily="2" charset="-122"/>
              </a:rPr>
              <a:t> </a:t>
            </a:r>
            <a:r>
              <a:rPr lang="zh-CN" altLang="en-US" b="1" dirty="0">
                <a:solidFill>
                  <a:srgbClr val="104E87"/>
                </a:solidFill>
                <a:latin typeface="Comic Sans MS" panose="030F0702030302020204" pitchFamily="66" charset="0"/>
                <a:ea typeface="宋体" panose="02010600030101010101" pitchFamily="2" charset="-122"/>
              </a:rPr>
              <a:t>; </a:t>
            </a:r>
            <a:endParaRPr lang="en-US" altLang="zh-CN" b="1" dirty="0">
              <a:solidFill>
                <a:srgbClr val="104E87"/>
              </a:solidFill>
              <a:latin typeface="Comic Sans MS" panose="030F0702030302020204" pitchFamily="66" charset="0"/>
              <a:ea typeface="宋体" panose="02010600030101010101" pitchFamily="2" charset="-122"/>
            </a:endParaRPr>
          </a:p>
          <a:p>
            <a:r>
              <a:rPr lang="zh-CN" altLang="en-US" b="1" dirty="0">
                <a:solidFill>
                  <a:srgbClr val="104E87"/>
                </a:solidFill>
                <a:latin typeface="Comic Sans MS" panose="030F0702030302020204" pitchFamily="66" charset="0"/>
                <a:ea typeface="宋体" panose="02010600030101010101" pitchFamily="2" charset="-122"/>
              </a:rPr>
              <a:t>Name yourname(myname);	</a:t>
            </a:r>
          </a:p>
        </p:txBody>
      </p:sp>
      <p:sp>
        <p:nvSpPr>
          <p:cNvPr id="29" name="矩形 24">
            <a:extLst>
              <a:ext uri="{FF2B5EF4-FFF2-40B4-BE49-F238E27FC236}">
                <a16:creationId xmlns:a16="http://schemas.microsoft.com/office/drawing/2014/main" id="{DFD45809-6E13-465C-B569-EC264BB7DC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1606" y="967402"/>
            <a:ext cx="422904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zh-CN" altLang="en-US" sz="2400">
                <a:solidFill>
                  <a:srgbClr val="104E87"/>
                </a:solidFill>
                <a:latin typeface="Comic Sans MS" panose="030F0702030302020204" pitchFamily="66" charset="0"/>
                <a:ea typeface="宋体" panose="02010600030101010101" pitchFamily="2" charset="-122"/>
              </a:rPr>
              <a:t>char temp_str[20]="wang"</a:t>
            </a:r>
            <a:r>
              <a:rPr lang="en-US" altLang="zh-CN" sz="2400">
                <a:solidFill>
                  <a:srgbClr val="104E87"/>
                </a:solidFill>
                <a:latin typeface="Comic Sans MS" panose="030F0702030302020204" pitchFamily="66" charset="0"/>
                <a:ea typeface="宋体" panose="02010600030101010101" pitchFamily="2" charset="-122"/>
              </a:rPr>
              <a:t>;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17B39D5C-09B1-421E-8472-12201AF62B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15263" y="1014999"/>
            <a:ext cx="1768433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zh-CN" altLang="en-US" sz="2800" dirty="0">
                <a:solidFill>
                  <a:srgbClr val="104E87"/>
                </a:solidFill>
                <a:latin typeface="Comic Sans MS" panose="030F0702030302020204" pitchFamily="66" charset="0"/>
                <a:ea typeface="宋体" panose="02010600030101010101" pitchFamily="2" charset="-122"/>
              </a:rPr>
              <a:t>temp_str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049069A1-8369-4482-A3E3-6DBAF334B0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0050" y="5854700"/>
            <a:ext cx="387638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b="1" dirty="0">
                <a:solidFill>
                  <a:srgbClr val="104E87"/>
                </a:solidFill>
                <a:latin typeface="Comic Sans MS" panose="030F0702030302020204" pitchFamily="66" charset="0"/>
                <a:ea typeface="宋体" panose="02010600030101010101" pitchFamily="2" charset="-122"/>
              </a:rPr>
              <a:t>yourname.set(temp_str);</a:t>
            </a:r>
          </a:p>
        </p:txBody>
      </p:sp>
      <p:sp>
        <p:nvSpPr>
          <p:cNvPr id="32" name="Text Box 9">
            <a:extLst>
              <a:ext uri="{FF2B5EF4-FFF2-40B4-BE49-F238E27FC236}">
                <a16:creationId xmlns:a16="http://schemas.microsoft.com/office/drawing/2014/main" id="{2A30D45D-079C-49FF-9914-4A31A67212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91662" y="1014999"/>
            <a:ext cx="1652588" cy="466725"/>
          </a:xfrm>
          <a:prstGeom prst="rect">
            <a:avLst/>
          </a:prstGeom>
          <a:solidFill>
            <a:schemeClr val="tx1"/>
          </a:solidFill>
          <a:ln w="9525">
            <a:solidFill>
              <a:srgbClr val="104E87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Char char="o"/>
              <a:defRPr sz="32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o"/>
              <a:defRPr sz="24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n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en-US" altLang="zh-CN" sz="2400" b="0">
                <a:solidFill>
                  <a:srgbClr val="104E87"/>
                </a:solidFill>
                <a:ea typeface="宋体" panose="02010600030101010101" pitchFamily="2" charset="-122"/>
              </a:rPr>
              <a:t>wang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D2955ECD-05EF-4E2B-9FFB-57FB8C612C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4650" y="5360988"/>
            <a:ext cx="245291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b="1" dirty="0">
                <a:solidFill>
                  <a:srgbClr val="104E87"/>
                </a:solidFill>
                <a:latin typeface="Comic Sans MS" panose="030F0702030302020204" pitchFamily="66" charset="0"/>
                <a:ea typeface="宋体" panose="02010600030101010101" pitchFamily="2" charset="-122"/>
              </a:rPr>
              <a:t>cin&gt;&gt;temp_str;</a:t>
            </a:r>
          </a:p>
        </p:txBody>
      </p:sp>
      <p:sp>
        <p:nvSpPr>
          <p:cNvPr id="34" name="Text Box 21">
            <a:extLst>
              <a:ext uri="{FF2B5EF4-FFF2-40B4-BE49-F238E27FC236}">
                <a16:creationId xmlns:a16="http://schemas.microsoft.com/office/drawing/2014/main" id="{867D06A9-FCBF-47C7-9F4A-0A0018B75A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91663" y="1007675"/>
            <a:ext cx="1652588" cy="461962"/>
          </a:xfrm>
          <a:prstGeom prst="rect">
            <a:avLst/>
          </a:prstGeom>
          <a:solidFill>
            <a:schemeClr val="tx1"/>
          </a:solidFill>
          <a:ln w="9525">
            <a:solidFill>
              <a:srgbClr val="104E87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Char char="o"/>
              <a:defRPr sz="32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o"/>
              <a:defRPr sz="24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n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en-US" altLang="zh-CN" sz="2400" b="0" dirty="0">
                <a:solidFill>
                  <a:srgbClr val="FF0000"/>
                </a:solidFill>
                <a:ea typeface="宋体" panose="02010600030101010101" pitchFamily="2" charset="-122"/>
              </a:rPr>
              <a:t>fang</a:t>
            </a:r>
          </a:p>
        </p:txBody>
      </p:sp>
      <p:sp>
        <p:nvSpPr>
          <p:cNvPr id="35" name="Text Box 21">
            <a:extLst>
              <a:ext uri="{FF2B5EF4-FFF2-40B4-BE49-F238E27FC236}">
                <a16:creationId xmlns:a16="http://schemas.microsoft.com/office/drawing/2014/main" id="{5100D27E-6338-478C-9610-FCDBB9D106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57259" y="3959225"/>
            <a:ext cx="1667291" cy="466725"/>
          </a:xfrm>
          <a:prstGeom prst="rect">
            <a:avLst/>
          </a:prstGeom>
          <a:solidFill>
            <a:schemeClr val="tx1"/>
          </a:solidFill>
          <a:ln w="9525">
            <a:solidFill>
              <a:srgbClr val="104E87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Char char="o"/>
              <a:defRPr sz="32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o"/>
              <a:defRPr sz="24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n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en-US" altLang="zh-CN" sz="2400" b="0" dirty="0">
                <a:solidFill>
                  <a:srgbClr val="FF0000"/>
                </a:solidFill>
                <a:ea typeface="宋体" panose="02010600030101010101" pitchFamily="2" charset="-122"/>
              </a:rPr>
              <a:t>fang</a:t>
            </a:r>
          </a:p>
        </p:txBody>
      </p:sp>
      <p:sp>
        <p:nvSpPr>
          <p:cNvPr id="36" name="矩形 2">
            <a:extLst>
              <a:ext uri="{FF2B5EF4-FFF2-40B4-BE49-F238E27FC236}">
                <a16:creationId xmlns:a16="http://schemas.microsoft.com/office/drawing/2014/main" id="{32BCB0A5-EBA4-4D18-9A1C-C5329D90E2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99000" y="1709738"/>
            <a:ext cx="4535487" cy="831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kumimoji="1" lang="en-US" altLang="zh-CN" sz="2400" dirty="0">
                <a:solidFill>
                  <a:srgbClr val="FF0000"/>
                </a:solidFill>
                <a:ea typeface="宋体" panose="02010600030101010101" pitchFamily="2" charset="-122"/>
              </a:rPr>
              <a:t>Name </a:t>
            </a:r>
            <a:r>
              <a:rPr kumimoji="1" lang="en-US" altLang="zh-CN" sz="2400" dirty="0">
                <a:solidFill>
                  <a:srgbClr val="FF0000"/>
                </a:solidFill>
                <a:ea typeface="黑体" panose="02010609060101010101" pitchFamily="49" charset="-122"/>
              </a:rPr>
              <a:t>::</a:t>
            </a:r>
            <a:r>
              <a:rPr kumimoji="1" lang="en-US" altLang="zh-CN" sz="2400" dirty="0">
                <a:solidFill>
                  <a:srgbClr val="FF0000"/>
                </a:solidFill>
                <a:ea typeface="宋体" panose="02010600030101010101" pitchFamily="2" charset="-122"/>
              </a:rPr>
              <a:t> Name</a:t>
            </a:r>
            <a:r>
              <a:rPr lang="en-US" altLang="zh-CN" sz="2400" dirty="0">
                <a:solidFill>
                  <a:srgbClr val="FF0000"/>
                </a:solidFill>
                <a:ea typeface="宋体" panose="02010600030101010101" pitchFamily="2" charset="-122"/>
              </a:rPr>
              <a:t>(const </a:t>
            </a:r>
            <a:r>
              <a:rPr kumimoji="1" lang="en-US" altLang="zh-CN" sz="2400" dirty="0">
                <a:solidFill>
                  <a:srgbClr val="FF0000"/>
                </a:solidFill>
                <a:ea typeface="宋体" panose="02010600030101010101" pitchFamily="2" charset="-122"/>
              </a:rPr>
              <a:t>Name</a:t>
            </a:r>
            <a:r>
              <a:rPr lang="en-US" altLang="zh-CN" sz="2400" dirty="0">
                <a:solidFill>
                  <a:srgbClr val="FF0000"/>
                </a:solidFill>
                <a:ea typeface="宋体" panose="02010600030101010101" pitchFamily="2" charset="-122"/>
              </a:rPr>
              <a:t>&amp; op) </a:t>
            </a:r>
          </a:p>
          <a:p>
            <a:pPr eaLnBrk="1" hangingPunct="1"/>
            <a:r>
              <a:rPr lang="en-US" altLang="zh-CN" sz="2400" dirty="0">
                <a:solidFill>
                  <a:srgbClr val="FF0000"/>
                </a:solidFill>
                <a:ea typeface="宋体" panose="02010600030101010101" pitchFamily="2" charset="-122"/>
              </a:rPr>
              <a:t>{ p=</a:t>
            </a:r>
            <a:r>
              <a:rPr lang="en-US" altLang="zh-CN" sz="2400" dirty="0" err="1">
                <a:solidFill>
                  <a:srgbClr val="FF0000"/>
                </a:solidFill>
                <a:ea typeface="宋体" panose="02010600030101010101" pitchFamily="2" charset="-122"/>
              </a:rPr>
              <a:t>op.p</a:t>
            </a:r>
            <a:r>
              <a:rPr lang="en-US" altLang="zh-CN" sz="2400" dirty="0">
                <a:solidFill>
                  <a:srgbClr val="FF0000"/>
                </a:solidFill>
                <a:ea typeface="宋体" panose="02010600030101010101" pitchFamily="2" charset="-122"/>
              </a:rPr>
              <a:t>; } </a:t>
            </a:r>
            <a:endParaRPr lang="zh-CN" altLang="en-US" sz="2400" dirty="0">
              <a:solidFill>
                <a:srgbClr val="FF0000"/>
              </a:solidFill>
              <a:ea typeface="宋体" panose="02010600030101010101" pitchFamily="2" charset="-122"/>
            </a:endParaRPr>
          </a:p>
        </p:txBody>
      </p:sp>
      <p:sp>
        <p:nvSpPr>
          <p:cNvPr id="37" name="Rectangle 22">
            <a:extLst>
              <a:ext uri="{FF2B5EF4-FFF2-40B4-BE49-F238E27FC236}">
                <a16:creationId xmlns:a16="http://schemas.microsoft.com/office/drawing/2014/main" id="{7D8F96D7-B3B9-4C7C-9A8F-B773114F3E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99000" y="5156919"/>
            <a:ext cx="6011643" cy="1098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Char char="o"/>
              <a:defRPr sz="32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o"/>
              <a:defRPr sz="24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n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90000"/>
              </a:lnSpc>
              <a:buClrTx/>
              <a:buSzTx/>
              <a:buFontTx/>
              <a:buNone/>
            </a:pPr>
            <a:r>
              <a:rPr kumimoji="1" lang="zh-CN" altLang="en-US" sz="2400" dirty="0">
                <a:solidFill>
                  <a:srgbClr val="FF0000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如果一个类包含指向动态存储空间指针类型的数据成员</a:t>
            </a:r>
            <a:r>
              <a:rPr kumimoji="1" lang="en-US" altLang="zh-CN" sz="2400" dirty="0">
                <a:solidFill>
                  <a:srgbClr val="FF0000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,</a:t>
            </a:r>
            <a:r>
              <a:rPr kumimoji="1" lang="zh-CN" altLang="en-US" sz="2400" dirty="0">
                <a:solidFill>
                  <a:srgbClr val="FF0000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则应为这个类设计复制构造函数，实现深拷贝</a:t>
            </a:r>
          </a:p>
        </p:txBody>
      </p:sp>
      <p:sp>
        <p:nvSpPr>
          <p:cNvPr id="2" name="矩形 4">
            <a:extLst>
              <a:ext uri="{FF2B5EF4-FFF2-40B4-BE49-F238E27FC236}">
                <a16:creationId xmlns:a16="http://schemas.microsoft.com/office/drawing/2014/main" id="{E372D15B-D0EF-6F7F-2118-8976220E64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94710" y="-14934"/>
            <a:ext cx="3897290" cy="134806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ct val="85000"/>
              </a:lnSpc>
              <a:spcBef>
                <a:spcPct val="0"/>
              </a:spcBef>
            </a:pPr>
            <a:r>
              <a:rPr kumimoji="1" lang="zh-CN" altLang="en-US" dirty="0">
                <a:solidFill>
                  <a:srgbClr val="104E87"/>
                </a:solidFill>
                <a:latin typeface="Comic Sans MS" panose="030F0702030302020204" pitchFamily="66" charset="0"/>
                <a:ea typeface="宋体" panose="02010600030101010101" pitchFamily="2" charset="-122"/>
              </a:rPr>
              <a:t>Name::Name(char *s)</a:t>
            </a:r>
          </a:p>
          <a:p>
            <a:pPr>
              <a:lnSpc>
                <a:spcPct val="85000"/>
              </a:lnSpc>
              <a:spcBef>
                <a:spcPct val="0"/>
              </a:spcBef>
            </a:pPr>
            <a:r>
              <a:rPr kumimoji="1" lang="zh-CN" altLang="en-US" dirty="0">
                <a:solidFill>
                  <a:srgbClr val="104E87"/>
                </a:solidFill>
                <a:latin typeface="Comic Sans MS" panose="030F0702030302020204" pitchFamily="66" charset="0"/>
                <a:ea typeface="宋体" panose="02010600030101010101" pitchFamily="2" charset="-122"/>
              </a:rPr>
              <a:t>{  p=new char[strlen(s)+1];</a:t>
            </a:r>
          </a:p>
          <a:p>
            <a:pPr>
              <a:lnSpc>
                <a:spcPct val="85000"/>
              </a:lnSpc>
              <a:spcBef>
                <a:spcPct val="0"/>
              </a:spcBef>
            </a:pPr>
            <a:r>
              <a:rPr kumimoji="1" lang="zh-CN" altLang="en-US" dirty="0">
                <a:solidFill>
                  <a:srgbClr val="104E87"/>
                </a:solidFill>
                <a:latin typeface="Comic Sans MS" panose="030F0702030302020204" pitchFamily="66" charset="0"/>
                <a:ea typeface="宋体" panose="02010600030101010101" pitchFamily="2" charset="-122"/>
              </a:rPr>
              <a:t>   strcpy(p,s);</a:t>
            </a:r>
          </a:p>
          <a:p>
            <a:pPr>
              <a:lnSpc>
                <a:spcPct val="85000"/>
              </a:lnSpc>
              <a:spcBef>
                <a:spcPct val="0"/>
              </a:spcBef>
            </a:pPr>
            <a:r>
              <a:rPr kumimoji="1" lang="zh-CN" altLang="en-US" dirty="0">
                <a:solidFill>
                  <a:srgbClr val="104E87"/>
                </a:solidFill>
                <a:latin typeface="Comic Sans MS" panose="030F0702030302020204" pitchFamily="66" charset="0"/>
                <a:ea typeface="宋体" panose="02010600030101010101" pitchFamily="2" charset="-122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5809991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/>
      <p:bldP spid="18" grpId="0" animBg="1"/>
      <p:bldP spid="19" grpId="0" animBg="1"/>
      <p:bldP spid="21" grpId="0"/>
      <p:bldP spid="22" grpId="0" animBg="1"/>
      <p:bldP spid="23" grpId="0"/>
      <p:bldP spid="24" grpId="0" animBg="1"/>
      <p:bldP spid="25" grpId="0"/>
      <p:bldP spid="28" grpId="0"/>
      <p:bldP spid="30" grpId="0"/>
      <p:bldP spid="31" grpId="0"/>
      <p:bldP spid="32" grpId="0" animBg="1"/>
      <p:bldP spid="33" grpId="0"/>
      <p:bldP spid="34" grpId="0" animBg="1"/>
      <p:bldP spid="35" grpId="0" animBg="1"/>
      <p:bldP spid="36" grpId="0"/>
      <p:bldP spid="37" grpId="0"/>
      <p:bldP spid="2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794" y="176798"/>
            <a:ext cx="12190413" cy="728917"/>
          </a:xfrm>
          <a:prstGeom prst="rect">
            <a:avLst/>
          </a:prstGeom>
          <a:solidFill>
            <a:srgbClr val="26CC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3200"/>
          </a:p>
        </p:txBody>
      </p:sp>
      <p:cxnSp>
        <p:nvCxnSpPr>
          <p:cNvPr id="7" name="直线连接符 6"/>
          <p:cNvCxnSpPr/>
          <p:nvPr/>
        </p:nvCxnSpPr>
        <p:spPr>
          <a:xfrm>
            <a:off x="1587" y="905715"/>
            <a:ext cx="12190413" cy="0"/>
          </a:xfrm>
          <a:prstGeom prst="line">
            <a:avLst/>
          </a:prstGeom>
          <a:ln>
            <a:solidFill>
              <a:srgbClr val="104D7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文本框 25">
            <a:extLst>
              <a:ext uri="{FF2B5EF4-FFF2-40B4-BE49-F238E27FC236}">
                <a16:creationId xmlns:a16="http://schemas.microsoft.com/office/drawing/2014/main" id="{AFC6942B-B9B9-42C5-A057-CB3D7BEBCA14}"/>
              </a:ext>
            </a:extLst>
          </p:cNvPr>
          <p:cNvSpPr txBox="1"/>
          <p:nvPr/>
        </p:nvSpPr>
        <p:spPr>
          <a:xfrm>
            <a:off x="247719" y="224527"/>
            <a:ext cx="802877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kumimoji="1" sz="3200" b="1">
                <a:latin typeface="华光胖头鱼_CNKI" panose="02000500000000000000" pitchFamily="2" charset="-122"/>
                <a:ea typeface="华光胖头鱼_CNKI" panose="02000500000000000000" pitchFamily="2" charset="-122"/>
              </a:defRPr>
            </a:lvl1pPr>
          </a:lstStyle>
          <a:p>
            <a:r>
              <a:rPr lang="en-US" altLang="zh-CN" dirty="0"/>
              <a:t>7.7</a:t>
            </a:r>
            <a:r>
              <a:rPr lang="zh-CN" altLang="en-US" dirty="0"/>
              <a:t> 深复制和浅复制</a:t>
            </a:r>
          </a:p>
        </p:txBody>
      </p:sp>
      <p:sp>
        <p:nvSpPr>
          <p:cNvPr id="38" name="Text Box 4">
            <a:extLst>
              <a:ext uri="{FF2B5EF4-FFF2-40B4-BE49-F238E27FC236}">
                <a16:creationId xmlns:a16="http://schemas.microsoft.com/office/drawing/2014/main" id="{9340042B-C815-4C19-AE13-1FD9F70379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577" y="905715"/>
            <a:ext cx="4259684" cy="35455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rIns="0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Char char="o"/>
              <a:defRPr sz="32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o"/>
              <a:defRPr sz="24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n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85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 dirty="0">
                <a:solidFill>
                  <a:srgbClr val="104E87"/>
                </a:solidFill>
                <a:latin typeface="Comic Sans MS" panose="030F0702030302020204" pitchFamily="66" charset="0"/>
                <a:ea typeface="宋体" panose="02010600030101010101" pitchFamily="2" charset="-122"/>
              </a:rPr>
              <a:t>class Name {</a:t>
            </a:r>
          </a:p>
          <a:p>
            <a:pPr eaLnBrk="1" hangingPunct="1">
              <a:lnSpc>
                <a:spcPct val="85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 dirty="0">
                <a:solidFill>
                  <a:srgbClr val="104E87"/>
                </a:solidFill>
                <a:latin typeface="Comic Sans MS" panose="030F0702030302020204" pitchFamily="66" charset="0"/>
                <a:ea typeface="宋体" panose="02010600030101010101" pitchFamily="2" charset="-122"/>
              </a:rPr>
              <a:t>public:</a:t>
            </a:r>
          </a:p>
          <a:p>
            <a:pPr eaLnBrk="1" hangingPunct="1">
              <a:lnSpc>
                <a:spcPct val="85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 dirty="0">
                <a:solidFill>
                  <a:srgbClr val="104E87"/>
                </a:solidFill>
                <a:latin typeface="Comic Sans MS" panose="030F0702030302020204" pitchFamily="66" charset="0"/>
                <a:ea typeface="宋体" panose="02010600030101010101" pitchFamily="2" charset="-122"/>
              </a:rPr>
              <a:t>    Name();</a:t>
            </a:r>
          </a:p>
          <a:p>
            <a:pPr eaLnBrk="1" hangingPunct="1">
              <a:lnSpc>
                <a:spcPct val="85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 dirty="0">
                <a:solidFill>
                  <a:srgbClr val="104E87"/>
                </a:solidFill>
                <a:latin typeface="Comic Sans MS" panose="030F0702030302020204" pitchFamily="66" charset="0"/>
                <a:ea typeface="宋体" panose="02010600030101010101" pitchFamily="2" charset="-122"/>
              </a:rPr>
              <a:t>    Name(char *s);</a:t>
            </a:r>
          </a:p>
          <a:p>
            <a:pPr eaLnBrk="1" hangingPunct="1">
              <a:lnSpc>
                <a:spcPct val="85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r>
              <a:rPr lang="en-US" altLang="zh-CN" sz="2400" dirty="0">
                <a:solidFill>
                  <a:schemeClr val="folHlink"/>
                </a:solidFill>
                <a:latin typeface="Comic Sans MS" panose="030F0702030302020204" pitchFamily="66" charset="0"/>
                <a:ea typeface="宋体" panose="02010600030101010101" pitchFamily="2" charset="-122"/>
              </a:rPr>
              <a:t>    </a:t>
            </a:r>
            <a:r>
              <a:rPr lang="en-US" altLang="zh-CN" sz="2400" dirty="0">
                <a:solidFill>
                  <a:srgbClr val="FF0000"/>
                </a:solidFill>
                <a:latin typeface="Comic Sans MS" panose="030F0702030302020204" pitchFamily="66" charset="0"/>
                <a:ea typeface="宋体" panose="02010600030101010101" pitchFamily="2" charset="-122"/>
              </a:rPr>
              <a:t>Name(const Name &amp;other</a:t>
            </a:r>
            <a:r>
              <a:rPr kumimoji="1" lang="en-US" altLang="zh-CN" sz="2400" dirty="0">
                <a:solidFill>
                  <a:srgbClr val="FF0000"/>
                </a:solidFill>
                <a:latin typeface="Comic Sans MS" panose="030F0702030302020204" pitchFamily="66" charset="0"/>
                <a:ea typeface="宋体" panose="02010600030101010101" pitchFamily="2" charset="-122"/>
              </a:rPr>
              <a:t>);</a:t>
            </a:r>
          </a:p>
          <a:p>
            <a:pPr eaLnBrk="1" hangingPunct="1">
              <a:lnSpc>
                <a:spcPct val="85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 dirty="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rPr>
              <a:t>    </a:t>
            </a:r>
            <a:r>
              <a:rPr kumimoji="1" lang="en-US" altLang="zh-CN" sz="2400" dirty="0">
                <a:solidFill>
                  <a:srgbClr val="104E87"/>
                </a:solidFill>
                <a:latin typeface="Comic Sans MS" panose="030F0702030302020204" pitchFamily="66" charset="0"/>
                <a:ea typeface="宋体" panose="02010600030101010101" pitchFamily="2" charset="-122"/>
              </a:rPr>
              <a:t>~Name();</a:t>
            </a:r>
          </a:p>
          <a:p>
            <a:pPr eaLnBrk="1" hangingPunct="1">
              <a:lnSpc>
                <a:spcPct val="85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 dirty="0">
                <a:solidFill>
                  <a:srgbClr val="104E87"/>
                </a:solidFill>
                <a:latin typeface="Comic Sans MS" panose="030F0702030302020204" pitchFamily="66" charset="0"/>
                <a:ea typeface="宋体" panose="02010600030101010101" pitchFamily="2" charset="-122"/>
              </a:rPr>
              <a:t>    void set(char *s);		</a:t>
            </a:r>
          </a:p>
          <a:p>
            <a:pPr eaLnBrk="1" hangingPunct="1">
              <a:lnSpc>
                <a:spcPct val="85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 dirty="0">
                <a:solidFill>
                  <a:srgbClr val="104E87"/>
                </a:solidFill>
                <a:latin typeface="Comic Sans MS" panose="030F0702030302020204" pitchFamily="66" charset="0"/>
                <a:ea typeface="宋体" panose="02010600030101010101" pitchFamily="2" charset="-122"/>
              </a:rPr>
              <a:t>    void show();</a:t>
            </a:r>
          </a:p>
          <a:p>
            <a:pPr eaLnBrk="1" hangingPunct="1">
              <a:lnSpc>
                <a:spcPct val="85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 dirty="0">
                <a:solidFill>
                  <a:srgbClr val="104E87"/>
                </a:solidFill>
                <a:latin typeface="Comic Sans MS" panose="030F0702030302020204" pitchFamily="66" charset="0"/>
                <a:ea typeface="宋体" panose="02010600030101010101" pitchFamily="2" charset="-122"/>
              </a:rPr>
              <a:t>private:</a:t>
            </a:r>
          </a:p>
          <a:p>
            <a:pPr eaLnBrk="1" hangingPunct="1">
              <a:lnSpc>
                <a:spcPct val="85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 dirty="0">
                <a:solidFill>
                  <a:srgbClr val="104E87"/>
                </a:solidFill>
                <a:latin typeface="Comic Sans MS" panose="030F0702030302020204" pitchFamily="66" charset="0"/>
                <a:ea typeface="宋体" panose="02010600030101010101" pitchFamily="2" charset="-122"/>
              </a:rPr>
              <a:t>   char *p;</a:t>
            </a:r>
          </a:p>
          <a:p>
            <a:pPr eaLnBrk="1" hangingPunct="1">
              <a:lnSpc>
                <a:spcPct val="85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 dirty="0">
                <a:solidFill>
                  <a:srgbClr val="104E87"/>
                </a:solidFill>
                <a:latin typeface="Comic Sans MS" panose="030F0702030302020204" pitchFamily="66" charset="0"/>
                <a:ea typeface="宋体" panose="02010600030101010101" pitchFamily="2" charset="-122"/>
              </a:rPr>
              <a:t>};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7C150FBA-561C-4874-86E8-E03A217CEA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89233"/>
            <a:ext cx="6372225" cy="2382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80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400" b="0" dirty="0">
                <a:solidFill>
                  <a:srgbClr val="FF0000"/>
                </a:solidFill>
                <a:latin typeface="Comic Sans MS" panose="030F0702030302020204" pitchFamily="66" charset="0"/>
                <a:ea typeface="宋体" panose="02010600030101010101" pitchFamily="2" charset="-122"/>
              </a:rPr>
              <a:t>Name:: Name(const Name &amp;other)</a:t>
            </a:r>
          </a:p>
          <a:p>
            <a:pPr eaLnBrk="1" hangingPunct="1">
              <a:lnSpc>
                <a:spcPct val="80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400" b="0" dirty="0">
                <a:solidFill>
                  <a:srgbClr val="104E87"/>
                </a:solidFill>
                <a:latin typeface="Comic Sans MS" panose="030F0702030302020204" pitchFamily="66" charset="0"/>
                <a:ea typeface="宋体" panose="02010600030101010101" pitchFamily="2" charset="-122"/>
              </a:rPr>
              <a:t>{     if (</a:t>
            </a:r>
            <a:r>
              <a:rPr lang="en-US" altLang="zh-CN" sz="2400" b="0" dirty="0" err="1">
                <a:solidFill>
                  <a:srgbClr val="104E87"/>
                </a:solidFill>
                <a:latin typeface="Comic Sans MS" panose="030F0702030302020204" pitchFamily="66" charset="0"/>
                <a:ea typeface="宋体" panose="02010600030101010101" pitchFamily="2" charset="-122"/>
              </a:rPr>
              <a:t>other.p</a:t>
            </a:r>
            <a:r>
              <a:rPr lang="en-US" altLang="zh-CN" sz="2400" b="0" dirty="0">
                <a:solidFill>
                  <a:srgbClr val="104E87"/>
                </a:solidFill>
                <a:latin typeface="Comic Sans MS" panose="030F0702030302020204" pitchFamily="66" charset="0"/>
                <a:ea typeface="宋体" panose="02010600030101010101" pitchFamily="2" charset="-122"/>
              </a:rPr>
              <a:t>!=NULL){</a:t>
            </a:r>
          </a:p>
          <a:p>
            <a:pPr eaLnBrk="1" hangingPunct="1">
              <a:lnSpc>
                <a:spcPct val="80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400" b="0" dirty="0">
                <a:solidFill>
                  <a:srgbClr val="104E87"/>
                </a:solidFill>
                <a:latin typeface="Comic Sans MS" panose="030F0702030302020204" pitchFamily="66" charset="0"/>
                <a:ea typeface="宋体" panose="02010600030101010101" pitchFamily="2" charset="-122"/>
              </a:rPr>
              <a:t>	p = new char[</a:t>
            </a:r>
            <a:r>
              <a:rPr lang="en-US" altLang="zh-CN" sz="2400" b="0" dirty="0" err="1">
                <a:solidFill>
                  <a:srgbClr val="104E87"/>
                </a:solidFill>
                <a:latin typeface="Comic Sans MS" panose="030F0702030302020204" pitchFamily="66" charset="0"/>
                <a:ea typeface="宋体" panose="02010600030101010101" pitchFamily="2" charset="-122"/>
              </a:rPr>
              <a:t>strlen</a:t>
            </a:r>
            <a:r>
              <a:rPr lang="en-US" altLang="zh-CN" sz="2400" b="0" dirty="0">
                <a:solidFill>
                  <a:srgbClr val="104E87"/>
                </a:solidFill>
                <a:latin typeface="Comic Sans MS" panose="030F0702030302020204" pitchFamily="66" charset="0"/>
                <a:ea typeface="宋体" panose="02010600030101010101" pitchFamily="2" charset="-122"/>
              </a:rPr>
              <a:t>(</a:t>
            </a:r>
            <a:r>
              <a:rPr lang="en-US" altLang="zh-CN" sz="2400" b="0" dirty="0" err="1">
                <a:solidFill>
                  <a:srgbClr val="104E87"/>
                </a:solidFill>
                <a:latin typeface="Comic Sans MS" panose="030F0702030302020204" pitchFamily="66" charset="0"/>
                <a:ea typeface="宋体" panose="02010600030101010101" pitchFamily="2" charset="-122"/>
              </a:rPr>
              <a:t>other.p</a:t>
            </a:r>
            <a:r>
              <a:rPr lang="en-US" altLang="zh-CN" sz="2400" b="0" dirty="0">
                <a:solidFill>
                  <a:srgbClr val="104E87"/>
                </a:solidFill>
                <a:latin typeface="Comic Sans MS" panose="030F0702030302020204" pitchFamily="66" charset="0"/>
                <a:ea typeface="宋体" panose="02010600030101010101" pitchFamily="2" charset="-122"/>
              </a:rPr>
              <a:t>) + 1];</a:t>
            </a:r>
          </a:p>
          <a:p>
            <a:pPr eaLnBrk="1" hangingPunct="1">
              <a:lnSpc>
                <a:spcPct val="80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400" b="0" dirty="0">
                <a:solidFill>
                  <a:srgbClr val="104E87"/>
                </a:solidFill>
                <a:latin typeface="Comic Sans MS" panose="030F0702030302020204" pitchFamily="66" charset="0"/>
                <a:ea typeface="宋体" panose="02010600030101010101" pitchFamily="2" charset="-122"/>
              </a:rPr>
              <a:t>	if (p!=NULL)	</a:t>
            </a:r>
            <a:r>
              <a:rPr lang="en-US" altLang="zh-CN" sz="2400" b="0" dirty="0" err="1">
                <a:solidFill>
                  <a:srgbClr val="104E87"/>
                </a:solidFill>
                <a:latin typeface="Comic Sans MS" panose="030F0702030302020204" pitchFamily="66" charset="0"/>
                <a:ea typeface="宋体" panose="02010600030101010101" pitchFamily="2" charset="-122"/>
              </a:rPr>
              <a:t>strcpy</a:t>
            </a:r>
            <a:r>
              <a:rPr lang="en-US" altLang="zh-CN" sz="2400" b="0" dirty="0">
                <a:solidFill>
                  <a:srgbClr val="104E87"/>
                </a:solidFill>
                <a:latin typeface="Comic Sans MS" panose="030F0702030302020204" pitchFamily="66" charset="0"/>
                <a:ea typeface="宋体" panose="02010600030101010101" pitchFamily="2" charset="-122"/>
              </a:rPr>
              <a:t>(p, </a:t>
            </a:r>
            <a:r>
              <a:rPr lang="en-US" altLang="zh-CN" sz="2400" b="0" dirty="0" err="1">
                <a:solidFill>
                  <a:srgbClr val="104E87"/>
                </a:solidFill>
                <a:latin typeface="Comic Sans MS" panose="030F0702030302020204" pitchFamily="66" charset="0"/>
                <a:ea typeface="宋体" panose="02010600030101010101" pitchFamily="2" charset="-122"/>
              </a:rPr>
              <a:t>other.p</a:t>
            </a:r>
            <a:r>
              <a:rPr lang="en-US" altLang="zh-CN" sz="2400" b="0" dirty="0">
                <a:solidFill>
                  <a:srgbClr val="104E87"/>
                </a:solidFill>
                <a:latin typeface="Comic Sans MS" panose="030F0702030302020204" pitchFamily="66" charset="0"/>
                <a:ea typeface="宋体" panose="02010600030101010101" pitchFamily="2" charset="-122"/>
              </a:rPr>
              <a:t>);</a:t>
            </a:r>
          </a:p>
          <a:p>
            <a:pPr eaLnBrk="1" hangingPunct="1">
              <a:lnSpc>
                <a:spcPct val="80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400" b="0" dirty="0">
                <a:solidFill>
                  <a:srgbClr val="104E87"/>
                </a:solidFill>
                <a:latin typeface="Comic Sans MS" panose="030F0702030302020204" pitchFamily="66" charset="0"/>
                <a:ea typeface="宋体" panose="02010600030101010101" pitchFamily="2" charset="-122"/>
              </a:rPr>
              <a:t>       }</a:t>
            </a:r>
          </a:p>
          <a:p>
            <a:pPr eaLnBrk="1" hangingPunct="1">
              <a:lnSpc>
                <a:spcPct val="80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400" b="0" dirty="0">
                <a:solidFill>
                  <a:srgbClr val="104E87"/>
                </a:solidFill>
                <a:latin typeface="Comic Sans MS" panose="030F0702030302020204" pitchFamily="66" charset="0"/>
                <a:ea typeface="宋体" panose="02010600030101010101" pitchFamily="2" charset="-122"/>
              </a:rPr>
              <a:t>       </a:t>
            </a:r>
            <a:r>
              <a:rPr lang="en-US" altLang="zh-CN" sz="2400" b="0" dirty="0" err="1">
                <a:solidFill>
                  <a:srgbClr val="104E87"/>
                </a:solidFill>
                <a:latin typeface="Comic Sans MS" panose="030F0702030302020204" pitchFamily="66" charset="0"/>
                <a:ea typeface="宋体" panose="02010600030101010101" pitchFamily="2" charset="-122"/>
              </a:rPr>
              <a:t>cout</a:t>
            </a:r>
            <a:r>
              <a:rPr lang="en-US" altLang="zh-CN" sz="2400" b="0" dirty="0">
                <a:solidFill>
                  <a:srgbClr val="104E87"/>
                </a:solidFill>
                <a:latin typeface="Comic Sans MS" panose="030F0702030302020204" pitchFamily="66" charset="0"/>
                <a:ea typeface="宋体" panose="02010600030101010101" pitchFamily="2" charset="-122"/>
              </a:rPr>
              <a:t> &lt;&lt; "Copy constructing.\n";</a:t>
            </a:r>
          </a:p>
          <a:p>
            <a:pPr eaLnBrk="1" hangingPunct="1">
              <a:lnSpc>
                <a:spcPct val="80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400" b="0" dirty="0">
                <a:solidFill>
                  <a:srgbClr val="104E87"/>
                </a:solidFill>
                <a:latin typeface="Comic Sans MS" panose="030F0702030302020204" pitchFamily="66" charset="0"/>
                <a:ea typeface="宋体" panose="02010600030101010101" pitchFamily="2" charset="-122"/>
              </a:rPr>
              <a:t>}</a:t>
            </a:r>
          </a:p>
        </p:txBody>
      </p:sp>
      <p:sp>
        <p:nvSpPr>
          <p:cNvPr id="40" name="矩形 6">
            <a:extLst>
              <a:ext uri="{FF2B5EF4-FFF2-40B4-BE49-F238E27FC236}">
                <a16:creationId xmlns:a16="http://schemas.microsoft.com/office/drawing/2014/main" id="{D55C5ECD-80DA-4CBE-AEFF-BA51768D05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43182" y="915912"/>
            <a:ext cx="4148026" cy="52629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rIns="0">
            <a:spAutoFit/>
          </a:bodyPr>
          <a:lstStyle>
            <a:lvl1pPr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zh-CN" altLang="en-US" sz="2400" b="0" dirty="0">
                <a:solidFill>
                  <a:srgbClr val="104E87"/>
                </a:solidFill>
                <a:latin typeface="Comic Sans MS" panose="030F0702030302020204" pitchFamily="66" charset="0"/>
                <a:ea typeface="宋体" panose="02010600030101010101" pitchFamily="2" charset="-122"/>
              </a:rPr>
              <a:t>int main()</a:t>
            </a:r>
          </a:p>
          <a:p>
            <a:pPr eaLnBrk="1" hangingPunct="1"/>
            <a:r>
              <a:rPr lang="zh-CN" altLang="en-US" sz="2400" b="0" dirty="0">
                <a:solidFill>
                  <a:srgbClr val="104E87"/>
                </a:solidFill>
                <a:latin typeface="Comic Sans MS" panose="030F0702030302020204" pitchFamily="66" charset="0"/>
                <a:ea typeface="宋体" panose="02010600030101010101" pitchFamily="2" charset="-122"/>
              </a:rPr>
              <a:t>{</a:t>
            </a:r>
            <a:r>
              <a:rPr lang="zh-CN" altLang="en-US" sz="2400" b="0" dirty="0">
                <a:solidFill>
                  <a:srgbClr val="FF0000"/>
                </a:solidFill>
                <a:latin typeface="Comic Sans MS" panose="030F0702030302020204" pitchFamily="66" charset="0"/>
                <a:ea typeface="宋体" panose="02010600030101010101" pitchFamily="2" charset="-122"/>
              </a:rPr>
              <a:t>char temp_str[20]="wang"</a:t>
            </a:r>
            <a:r>
              <a:rPr lang="en-US" altLang="zh-CN" sz="2400" b="0" dirty="0">
                <a:solidFill>
                  <a:srgbClr val="FF0000"/>
                </a:solidFill>
                <a:latin typeface="Comic Sans MS" panose="030F0702030302020204" pitchFamily="66" charset="0"/>
                <a:ea typeface="宋体" panose="02010600030101010101" pitchFamily="2" charset="-122"/>
              </a:rPr>
              <a:t>;</a:t>
            </a:r>
          </a:p>
          <a:p>
            <a:pPr eaLnBrk="1" hangingPunct="1"/>
            <a:r>
              <a:rPr lang="zh-CN" altLang="en-US" sz="2400" b="0" dirty="0">
                <a:solidFill>
                  <a:srgbClr val="FF0000"/>
                </a:solidFill>
                <a:latin typeface="Comic Sans MS" panose="030F0702030302020204" pitchFamily="66" charset="0"/>
                <a:ea typeface="宋体" panose="02010600030101010101" pitchFamily="2" charset="-122"/>
              </a:rPr>
              <a:t>Name myname(temp_str)</a:t>
            </a:r>
            <a:r>
              <a:rPr lang="en-US" altLang="zh-CN" sz="2400" b="0" dirty="0">
                <a:solidFill>
                  <a:srgbClr val="FF0000"/>
                </a:solidFill>
                <a:latin typeface="Comic Sans MS" panose="030F0702030302020204" pitchFamily="66" charset="0"/>
                <a:ea typeface="宋体" panose="02010600030101010101" pitchFamily="2" charset="-122"/>
              </a:rPr>
              <a:t> </a:t>
            </a:r>
            <a:r>
              <a:rPr lang="zh-CN" altLang="en-US" sz="2400" b="0" dirty="0">
                <a:solidFill>
                  <a:srgbClr val="FF0000"/>
                </a:solidFill>
                <a:latin typeface="Comic Sans MS" panose="030F0702030302020204" pitchFamily="66" charset="0"/>
                <a:ea typeface="宋体" panose="02010600030101010101" pitchFamily="2" charset="-122"/>
              </a:rPr>
              <a:t>;</a:t>
            </a:r>
            <a:r>
              <a:rPr lang="zh-CN" altLang="en-US" sz="2400" b="0" dirty="0">
                <a:latin typeface="Comic Sans MS" panose="030F0702030302020204" pitchFamily="66" charset="0"/>
                <a:ea typeface="宋体" panose="02010600030101010101" pitchFamily="2" charset="-122"/>
              </a:rPr>
              <a:t>	</a:t>
            </a:r>
            <a:endParaRPr lang="en-US" altLang="zh-CN" sz="2400" b="0" dirty="0">
              <a:solidFill>
                <a:srgbClr val="FF0000"/>
              </a:solidFill>
              <a:latin typeface="Comic Sans MS" panose="030F0702030302020204" pitchFamily="66" charset="0"/>
              <a:ea typeface="宋体" panose="02010600030101010101" pitchFamily="2" charset="-122"/>
            </a:endParaRPr>
          </a:p>
          <a:p>
            <a:pPr eaLnBrk="1" hangingPunct="1"/>
            <a:r>
              <a:rPr lang="zh-CN" altLang="en-US" sz="2400" b="0" dirty="0">
                <a:solidFill>
                  <a:srgbClr val="FF0000"/>
                </a:solidFill>
                <a:latin typeface="Comic Sans MS" panose="030F0702030302020204" pitchFamily="66" charset="0"/>
                <a:ea typeface="宋体" panose="02010600030101010101" pitchFamily="2" charset="-122"/>
              </a:rPr>
              <a:t>Name yourname(myname);</a:t>
            </a:r>
            <a:r>
              <a:rPr lang="zh-CN" altLang="en-US" sz="2400" b="0" dirty="0">
                <a:latin typeface="Comic Sans MS" panose="030F0702030302020204" pitchFamily="66" charset="0"/>
                <a:ea typeface="宋体" panose="02010600030101010101" pitchFamily="2" charset="-122"/>
              </a:rPr>
              <a:t>	</a:t>
            </a:r>
          </a:p>
          <a:p>
            <a:pPr eaLnBrk="1" hangingPunct="1"/>
            <a:r>
              <a:rPr lang="zh-CN" altLang="en-US" sz="2400" b="0" dirty="0">
                <a:solidFill>
                  <a:srgbClr val="104E87"/>
                </a:solidFill>
                <a:latin typeface="Comic Sans MS" panose="030F0702030302020204" pitchFamily="66" charset="0"/>
                <a:ea typeface="宋体" panose="02010600030101010101" pitchFamily="2" charset="-122"/>
              </a:rPr>
              <a:t>myname.show(); </a:t>
            </a:r>
            <a:endParaRPr lang="en-US" altLang="zh-CN" sz="2400" b="0" dirty="0">
              <a:solidFill>
                <a:srgbClr val="104E87"/>
              </a:solidFill>
              <a:latin typeface="Comic Sans MS" panose="030F0702030302020204" pitchFamily="66" charset="0"/>
              <a:ea typeface="宋体" panose="02010600030101010101" pitchFamily="2" charset="-122"/>
            </a:endParaRPr>
          </a:p>
          <a:p>
            <a:pPr eaLnBrk="1" hangingPunct="1"/>
            <a:r>
              <a:rPr lang="zh-CN" altLang="en-US" sz="2400" b="0" dirty="0">
                <a:solidFill>
                  <a:srgbClr val="104E87"/>
                </a:solidFill>
                <a:latin typeface="Comic Sans MS" panose="030F0702030302020204" pitchFamily="66" charset="0"/>
                <a:ea typeface="宋体" panose="02010600030101010101" pitchFamily="2" charset="-122"/>
              </a:rPr>
              <a:t>yourname.show();</a:t>
            </a:r>
          </a:p>
          <a:p>
            <a:pPr eaLnBrk="1" hangingPunct="1"/>
            <a:r>
              <a:rPr lang="zh-CN" altLang="en-US" sz="2400" b="0" dirty="0">
                <a:solidFill>
                  <a:srgbClr val="104E87"/>
                </a:solidFill>
                <a:latin typeface="Comic Sans MS" panose="030F0702030302020204" pitchFamily="66" charset="0"/>
                <a:ea typeface="宋体" panose="02010600030101010101" pitchFamily="2" charset="-122"/>
              </a:rPr>
              <a:t>cin&gt;&gt;temp_str;</a:t>
            </a:r>
          </a:p>
          <a:p>
            <a:pPr eaLnBrk="1" hangingPunct="1"/>
            <a:r>
              <a:rPr lang="zh-CN" altLang="en-US" sz="2400" b="0" dirty="0">
                <a:solidFill>
                  <a:srgbClr val="FF0000"/>
                </a:solidFill>
                <a:latin typeface="Comic Sans MS" panose="030F0702030302020204" pitchFamily="66" charset="0"/>
                <a:ea typeface="宋体" panose="02010600030101010101" pitchFamily="2" charset="-122"/>
              </a:rPr>
              <a:t>yourname.set(temp_str);</a:t>
            </a:r>
          </a:p>
          <a:p>
            <a:pPr eaLnBrk="1" hangingPunct="1"/>
            <a:r>
              <a:rPr lang="zh-CN" altLang="en-US" sz="2400" b="0" dirty="0">
                <a:solidFill>
                  <a:srgbClr val="104E87"/>
                </a:solidFill>
                <a:latin typeface="Comic Sans MS" panose="030F0702030302020204" pitchFamily="66" charset="0"/>
                <a:ea typeface="宋体" panose="02010600030101010101" pitchFamily="2" charset="-122"/>
              </a:rPr>
              <a:t>myname.show();</a:t>
            </a:r>
            <a:endParaRPr lang="en-US" altLang="zh-CN" sz="2400" b="0" dirty="0">
              <a:solidFill>
                <a:srgbClr val="104E87"/>
              </a:solidFill>
              <a:latin typeface="Comic Sans MS" panose="030F0702030302020204" pitchFamily="66" charset="0"/>
              <a:ea typeface="宋体" panose="02010600030101010101" pitchFamily="2" charset="-122"/>
            </a:endParaRPr>
          </a:p>
          <a:p>
            <a:pPr eaLnBrk="1" hangingPunct="1"/>
            <a:r>
              <a:rPr lang="zh-CN" altLang="en-US" sz="2400" b="0" dirty="0">
                <a:solidFill>
                  <a:srgbClr val="104E87"/>
                </a:solidFill>
                <a:latin typeface="Comic Sans MS" panose="030F0702030302020204" pitchFamily="66" charset="0"/>
                <a:ea typeface="宋体" panose="02010600030101010101" pitchFamily="2" charset="-122"/>
              </a:rPr>
              <a:t>yourname.show();	</a:t>
            </a:r>
          </a:p>
          <a:p>
            <a:pPr eaLnBrk="1" hangingPunct="1"/>
            <a:r>
              <a:rPr lang="zh-CN" altLang="en-US" sz="2400" b="0" dirty="0">
                <a:solidFill>
                  <a:srgbClr val="104E87"/>
                </a:solidFill>
                <a:latin typeface="Comic Sans MS" panose="030F0702030302020204" pitchFamily="66" charset="0"/>
                <a:ea typeface="宋体" panose="02010600030101010101" pitchFamily="2" charset="-122"/>
              </a:rPr>
              <a:t>return 0;</a:t>
            </a:r>
          </a:p>
          <a:p>
            <a:pPr eaLnBrk="1" hangingPunct="1"/>
            <a:r>
              <a:rPr lang="zh-CN" altLang="en-US" sz="2400" b="0" dirty="0">
                <a:solidFill>
                  <a:srgbClr val="104E87"/>
                </a:solidFill>
                <a:latin typeface="Comic Sans MS" panose="030F0702030302020204" pitchFamily="66" charset="0"/>
                <a:ea typeface="宋体" panose="02010600030101010101" pitchFamily="2" charset="-122"/>
              </a:rPr>
              <a:t>}</a:t>
            </a: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7CF13BCC-D8BA-4B23-B441-E991AA40D2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74517" y="1094977"/>
            <a:ext cx="153439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zh-CN" altLang="en-US" sz="2400" b="0" dirty="0">
                <a:solidFill>
                  <a:srgbClr val="104E87"/>
                </a:solidFill>
                <a:latin typeface="Comic Sans MS" panose="030F0702030302020204" pitchFamily="66" charset="0"/>
                <a:ea typeface="宋体" panose="02010600030101010101" pitchFamily="2" charset="-122"/>
              </a:rPr>
              <a:t>temp_str</a:t>
            </a:r>
          </a:p>
        </p:txBody>
      </p:sp>
      <p:sp>
        <p:nvSpPr>
          <p:cNvPr id="42" name="Text Box 9">
            <a:extLst>
              <a:ext uri="{FF2B5EF4-FFF2-40B4-BE49-F238E27FC236}">
                <a16:creationId xmlns:a16="http://schemas.microsoft.com/office/drawing/2014/main" id="{C931A16A-23D8-4FBA-910F-8714181E03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0600" y="1187633"/>
            <a:ext cx="1009732" cy="466725"/>
          </a:xfrm>
          <a:prstGeom prst="rect">
            <a:avLst/>
          </a:prstGeom>
          <a:solidFill>
            <a:schemeClr val="tx1"/>
          </a:solidFill>
          <a:ln w="9525">
            <a:solidFill>
              <a:srgbClr val="104E87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Char char="o"/>
              <a:defRPr sz="32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o"/>
              <a:defRPr sz="24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n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en-US" altLang="zh-CN" sz="2400" b="0">
                <a:solidFill>
                  <a:srgbClr val="104E87"/>
                </a:solidFill>
                <a:ea typeface="宋体" panose="02010600030101010101" pitchFamily="2" charset="-122"/>
              </a:rPr>
              <a:t>wang</a:t>
            </a:r>
          </a:p>
        </p:txBody>
      </p:sp>
      <p:sp>
        <p:nvSpPr>
          <p:cNvPr id="44" name="Rectangle 5">
            <a:extLst>
              <a:ext uri="{FF2B5EF4-FFF2-40B4-BE49-F238E27FC236}">
                <a16:creationId xmlns:a16="http://schemas.microsoft.com/office/drawing/2014/main" id="{2D688848-3894-4B9F-B4D4-AA87C0CFC3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96921" y="1840095"/>
            <a:ext cx="1693863" cy="531813"/>
          </a:xfrm>
          <a:prstGeom prst="rect">
            <a:avLst/>
          </a:prstGeom>
          <a:noFill/>
          <a:ln w="9525">
            <a:solidFill>
              <a:srgbClr val="104E87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Char char="o"/>
              <a:defRPr sz="32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o"/>
              <a:defRPr sz="24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n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45" name="Text Box 6">
            <a:extLst>
              <a:ext uri="{FF2B5EF4-FFF2-40B4-BE49-F238E27FC236}">
                <a16:creationId xmlns:a16="http://schemas.microsoft.com/office/drawing/2014/main" id="{E2C06F17-CB91-4CDF-87D9-FE4837F606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04871" y="1828983"/>
            <a:ext cx="7921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defPPr>
              <a:defRPr lang="en-US"/>
            </a:defPPr>
            <a:lvl1pPr>
              <a:spcBef>
                <a:spcPct val="50000"/>
              </a:spcBef>
              <a:buClrTx/>
              <a:buSzTx/>
              <a:buFontTx/>
              <a:buNone/>
              <a:defRPr kumimoji="1" b="0">
                <a:solidFill>
                  <a:srgbClr val="104E87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o"/>
              <a:defRPr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n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r>
              <a:rPr lang="en-US" altLang="zh-CN" dirty="0"/>
              <a:t>p</a:t>
            </a:r>
          </a:p>
        </p:txBody>
      </p:sp>
      <p:sp>
        <p:nvSpPr>
          <p:cNvPr id="46" name="Text Box 8">
            <a:extLst>
              <a:ext uri="{FF2B5EF4-FFF2-40B4-BE49-F238E27FC236}">
                <a16:creationId xmlns:a16="http://schemas.microsoft.com/office/drawing/2014/main" id="{24577323-F4B2-416D-A688-332B56E089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25596" y="1900420"/>
            <a:ext cx="719138" cy="4064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9525">
            <a:solidFill>
              <a:srgbClr val="104E87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Char char="o"/>
              <a:defRPr sz="32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o"/>
              <a:defRPr sz="24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n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 typeface="Wingdings" panose="05000000000000000000" pitchFamily="2" charset="2"/>
              <a:buChar char="l"/>
            </a:pPr>
            <a:r>
              <a:rPr kumimoji="1" lang="en-US" altLang="zh-CN" sz="2000" b="0" dirty="0">
                <a:solidFill>
                  <a:schemeClr val="tx1"/>
                </a:solidFill>
                <a:ea typeface="宋体" panose="02010600030101010101" pitchFamily="2" charset="-122"/>
              </a:rPr>
              <a:t> </a:t>
            </a:r>
          </a:p>
        </p:txBody>
      </p:sp>
      <p:sp>
        <p:nvSpPr>
          <p:cNvPr id="47" name="Text Box 9">
            <a:extLst>
              <a:ext uri="{FF2B5EF4-FFF2-40B4-BE49-F238E27FC236}">
                <a16:creationId xmlns:a16="http://schemas.microsoft.com/office/drawing/2014/main" id="{8787C3B3-E648-46FD-AE33-CCFB863A61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0600" y="1863907"/>
            <a:ext cx="1028190" cy="466725"/>
          </a:xfrm>
          <a:prstGeom prst="rect">
            <a:avLst/>
          </a:prstGeom>
          <a:solidFill>
            <a:schemeClr val="tx1"/>
          </a:solidFill>
          <a:ln w="9525">
            <a:solidFill>
              <a:srgbClr val="104E87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Char char="o"/>
              <a:defRPr sz="32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o"/>
              <a:defRPr sz="24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n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en-US" altLang="zh-CN" sz="2400" b="0">
                <a:solidFill>
                  <a:srgbClr val="104E87"/>
                </a:solidFill>
                <a:ea typeface="宋体" panose="02010600030101010101" pitchFamily="2" charset="-122"/>
              </a:rPr>
              <a:t>wang</a:t>
            </a:r>
          </a:p>
        </p:txBody>
      </p:sp>
      <p:sp>
        <p:nvSpPr>
          <p:cNvPr id="48" name="Line 12">
            <a:extLst>
              <a:ext uri="{FF2B5EF4-FFF2-40B4-BE49-F238E27FC236}">
                <a16:creationId xmlns:a16="http://schemas.microsoft.com/office/drawing/2014/main" id="{A7E3C991-B81D-4AD4-A478-3C874363F68C}"/>
              </a:ext>
            </a:extLst>
          </p:cNvPr>
          <p:cNvSpPr>
            <a:spLocks noChangeShapeType="1"/>
          </p:cNvSpPr>
          <p:nvPr/>
        </p:nvSpPr>
        <p:spPr bwMode="auto">
          <a:xfrm>
            <a:off x="5706571" y="2097270"/>
            <a:ext cx="1144029" cy="0"/>
          </a:xfrm>
          <a:prstGeom prst="line">
            <a:avLst/>
          </a:prstGeom>
          <a:noFill/>
          <a:ln w="9525">
            <a:solidFill>
              <a:srgbClr val="104E87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9" name="Text Box 13">
            <a:extLst>
              <a:ext uri="{FF2B5EF4-FFF2-40B4-BE49-F238E27FC236}">
                <a16:creationId xmlns:a16="http://schemas.microsoft.com/office/drawing/2014/main" id="{D033B03F-088F-4607-9FE7-915C3BB084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91537" y="1410339"/>
            <a:ext cx="1417374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Char char="o"/>
              <a:defRPr sz="32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o"/>
              <a:defRPr sz="24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n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800" dirty="0">
                <a:solidFill>
                  <a:srgbClr val="104E87"/>
                </a:solidFill>
                <a:latin typeface="Comic Sans MS" panose="030F0702030302020204" pitchFamily="66" charset="0"/>
              </a:rPr>
              <a:t>myname</a:t>
            </a:r>
            <a:endParaRPr kumimoji="1" lang="en-US" altLang="zh-CN" sz="2800" dirty="0">
              <a:solidFill>
                <a:srgbClr val="104E87"/>
              </a:solidFill>
              <a:latin typeface="Comic Sans MS" panose="030F0702030302020204" pitchFamily="66" charset="0"/>
              <a:ea typeface="宋体" panose="02010600030101010101" pitchFamily="2" charset="-122"/>
            </a:endParaRPr>
          </a:p>
        </p:txBody>
      </p:sp>
      <p:sp>
        <p:nvSpPr>
          <p:cNvPr id="51" name="Text Box 9">
            <a:extLst>
              <a:ext uri="{FF2B5EF4-FFF2-40B4-BE49-F238E27FC236}">
                <a16:creationId xmlns:a16="http://schemas.microsoft.com/office/drawing/2014/main" id="{0CD1AF9A-1A55-479B-AF24-E3B6A1EF21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81775" y="2766439"/>
            <a:ext cx="1051255" cy="466725"/>
          </a:xfrm>
          <a:prstGeom prst="rect">
            <a:avLst/>
          </a:prstGeom>
          <a:solidFill>
            <a:schemeClr val="tx1"/>
          </a:solidFill>
          <a:ln w="9525">
            <a:solidFill>
              <a:srgbClr val="104E87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Char char="o"/>
              <a:defRPr sz="32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o"/>
              <a:defRPr sz="24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n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en-US" altLang="zh-CN" sz="2400" b="0">
                <a:solidFill>
                  <a:srgbClr val="104E87"/>
                </a:solidFill>
                <a:ea typeface="宋体" panose="02010600030101010101" pitchFamily="2" charset="-122"/>
              </a:rPr>
              <a:t>wang</a:t>
            </a:r>
          </a:p>
        </p:txBody>
      </p:sp>
      <p:sp>
        <p:nvSpPr>
          <p:cNvPr id="52" name="Rectangle 15">
            <a:extLst>
              <a:ext uri="{FF2B5EF4-FFF2-40B4-BE49-F238E27FC236}">
                <a16:creationId xmlns:a16="http://schemas.microsoft.com/office/drawing/2014/main" id="{F30677D5-387D-4544-91B2-F0060F8654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30857" y="2712211"/>
            <a:ext cx="1693863" cy="614363"/>
          </a:xfrm>
          <a:prstGeom prst="rect">
            <a:avLst/>
          </a:prstGeom>
          <a:noFill/>
          <a:ln w="9525">
            <a:solidFill>
              <a:srgbClr val="104E87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Char char="o"/>
              <a:defRPr sz="32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o"/>
              <a:defRPr sz="24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n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53" name="Text Box 16">
            <a:extLst>
              <a:ext uri="{FF2B5EF4-FFF2-40B4-BE49-F238E27FC236}">
                <a16:creationId xmlns:a16="http://schemas.microsoft.com/office/drawing/2014/main" id="{37D7424A-2907-4499-A550-4FD3BE80FD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02295" y="2720149"/>
            <a:ext cx="7921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Char char="o"/>
              <a:defRPr sz="32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o"/>
              <a:defRPr sz="24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n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en-US" altLang="zh-CN" sz="2400" b="0" dirty="0">
                <a:solidFill>
                  <a:srgbClr val="104E87"/>
                </a:solidFill>
                <a:latin typeface="Comic Sans MS" panose="030F0702030302020204" pitchFamily="66" charset="0"/>
                <a:ea typeface="宋体" panose="02010600030101010101" pitchFamily="2" charset="-122"/>
              </a:rPr>
              <a:t>p</a:t>
            </a:r>
          </a:p>
        </p:txBody>
      </p:sp>
      <p:sp>
        <p:nvSpPr>
          <p:cNvPr id="54" name="Text Box 18">
            <a:extLst>
              <a:ext uri="{FF2B5EF4-FFF2-40B4-BE49-F238E27FC236}">
                <a16:creationId xmlns:a16="http://schemas.microsoft.com/office/drawing/2014/main" id="{CB6FB7EC-76ED-4148-B23A-9CDED705D6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23020" y="2824924"/>
            <a:ext cx="719137" cy="4064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9525">
            <a:solidFill>
              <a:srgbClr val="104E87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Char char="o"/>
              <a:defRPr sz="32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o"/>
              <a:defRPr sz="24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n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 typeface="Wingdings" panose="05000000000000000000" pitchFamily="2" charset="2"/>
              <a:buChar char="l"/>
            </a:pPr>
            <a:r>
              <a:rPr kumimoji="1" lang="en-US" altLang="zh-CN" sz="2000" b="0" dirty="0">
                <a:solidFill>
                  <a:schemeClr val="tx1"/>
                </a:solidFill>
                <a:ea typeface="宋体" panose="02010600030101010101" pitchFamily="2" charset="-122"/>
              </a:rPr>
              <a:t> </a:t>
            </a:r>
          </a:p>
        </p:txBody>
      </p:sp>
      <p:sp>
        <p:nvSpPr>
          <p:cNvPr id="55" name="Text Box 19">
            <a:extLst>
              <a:ext uri="{FF2B5EF4-FFF2-40B4-BE49-F238E27FC236}">
                <a16:creationId xmlns:a16="http://schemas.microsoft.com/office/drawing/2014/main" id="{0C18F110-A0FE-4565-8932-22BBDCFF51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22113" y="2274408"/>
            <a:ext cx="1944687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defPPr>
              <a:defRPr lang="en-US"/>
            </a:defPPr>
            <a:lvl1pPr>
              <a:spcBef>
                <a:spcPct val="50000"/>
              </a:spcBef>
              <a:buClrTx/>
              <a:buSzTx/>
              <a:buFontTx/>
              <a:buNone/>
              <a:defRPr sz="2800">
                <a:solidFill>
                  <a:srgbClr val="104E87"/>
                </a:solidFill>
                <a:latin typeface="Comic Sans MS" panose="030F0702030302020204" pitchFamily="66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o"/>
              <a:defRPr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n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r>
              <a:rPr lang="en-US" altLang="zh-CN" dirty="0"/>
              <a:t>your</a:t>
            </a:r>
            <a:r>
              <a:rPr lang="zh-CN" altLang="en-US" dirty="0"/>
              <a:t>name</a:t>
            </a:r>
            <a:endParaRPr lang="en-US" altLang="zh-CN" dirty="0"/>
          </a:p>
        </p:txBody>
      </p:sp>
      <p:sp>
        <p:nvSpPr>
          <p:cNvPr id="56" name="Line 20">
            <a:extLst>
              <a:ext uri="{FF2B5EF4-FFF2-40B4-BE49-F238E27FC236}">
                <a16:creationId xmlns:a16="http://schemas.microsoft.com/office/drawing/2014/main" id="{8F2B05CE-A066-43F3-B3FA-39A5166F067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740507" y="2999801"/>
            <a:ext cx="941268" cy="15779"/>
          </a:xfrm>
          <a:prstGeom prst="line">
            <a:avLst/>
          </a:prstGeom>
          <a:noFill/>
          <a:ln w="9525">
            <a:solidFill>
              <a:srgbClr val="104E87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3" name="Text Box 21">
            <a:extLst>
              <a:ext uri="{FF2B5EF4-FFF2-40B4-BE49-F238E27FC236}">
                <a16:creationId xmlns:a16="http://schemas.microsoft.com/office/drawing/2014/main" id="{5996570F-DD84-4F92-A79E-AF73314468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82842" y="2756073"/>
            <a:ext cx="1051255" cy="461962"/>
          </a:xfrm>
          <a:prstGeom prst="rect">
            <a:avLst/>
          </a:prstGeom>
          <a:solidFill>
            <a:schemeClr val="tx1"/>
          </a:solidFill>
          <a:ln w="9525">
            <a:solidFill>
              <a:srgbClr val="104E87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Char char="o"/>
              <a:defRPr sz="32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o"/>
              <a:defRPr sz="24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n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en-US" altLang="zh-CN" sz="2400" b="0" dirty="0">
                <a:solidFill>
                  <a:srgbClr val="FF0000"/>
                </a:solidFill>
                <a:ea typeface="宋体" panose="02010600030101010101" pitchFamily="2" charset="-122"/>
              </a:rPr>
              <a:t>fang</a:t>
            </a:r>
          </a:p>
        </p:txBody>
      </p:sp>
      <p:sp>
        <p:nvSpPr>
          <p:cNvPr id="58" name="Rectangle 22">
            <a:extLst>
              <a:ext uri="{FF2B5EF4-FFF2-40B4-BE49-F238E27FC236}">
                <a16:creationId xmlns:a16="http://schemas.microsoft.com/office/drawing/2014/main" id="{DC3785C1-7E09-4F3B-914F-C3B18239D1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09191" y="3587335"/>
            <a:ext cx="4951141" cy="4909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Char char="o"/>
              <a:defRPr sz="32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o"/>
              <a:defRPr sz="24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n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90000"/>
              </a:lnSpc>
              <a:buClrTx/>
              <a:buSzTx/>
              <a:buFontTx/>
              <a:buNone/>
            </a:pPr>
            <a:r>
              <a:rPr kumimoji="1" lang="zh-CN" altLang="en-US" sz="2800" dirty="0">
                <a:solidFill>
                  <a:srgbClr val="FF0000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深拷贝保证类对象之间的独立</a:t>
            </a:r>
          </a:p>
        </p:txBody>
      </p:sp>
    </p:spTree>
    <p:extLst>
      <p:ext uri="{BB962C8B-B14F-4D97-AF65-F5344CB8AC3E}">
        <p14:creationId xmlns:p14="http://schemas.microsoft.com/office/powerpoint/2010/main" val="15116926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6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9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/>
      <p:bldP spid="39" grpId="0"/>
      <p:bldP spid="40" grpId="0"/>
      <p:bldP spid="41" grpId="0"/>
      <p:bldP spid="42" grpId="0" animBg="1"/>
      <p:bldP spid="44" grpId="0" animBg="1"/>
      <p:bldP spid="45" grpId="0"/>
      <p:bldP spid="46" grpId="0" animBg="1"/>
      <p:bldP spid="47" grpId="0" animBg="1"/>
      <p:bldP spid="49" grpId="0"/>
      <p:bldP spid="51" grpId="0" animBg="1"/>
      <p:bldP spid="52" grpId="0" animBg="1"/>
      <p:bldP spid="53" grpId="0"/>
      <p:bldP spid="54" grpId="0" animBg="1"/>
      <p:bldP spid="55" grpId="0"/>
      <p:bldP spid="43" grpId="0" animBg="1"/>
      <p:bldP spid="58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2EB0F668-9D39-769E-A010-7B74B38BF969}"/>
              </a:ext>
            </a:extLst>
          </p:cNvPr>
          <p:cNvSpPr/>
          <p:nvPr/>
        </p:nvSpPr>
        <p:spPr>
          <a:xfrm>
            <a:off x="794" y="176798"/>
            <a:ext cx="12190413" cy="728917"/>
          </a:xfrm>
          <a:prstGeom prst="rect">
            <a:avLst/>
          </a:prstGeom>
          <a:solidFill>
            <a:srgbClr val="26CC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3200"/>
          </a:p>
        </p:txBody>
      </p:sp>
      <p:cxnSp>
        <p:nvCxnSpPr>
          <p:cNvPr id="3" name="直线连接符 6">
            <a:extLst>
              <a:ext uri="{FF2B5EF4-FFF2-40B4-BE49-F238E27FC236}">
                <a16:creationId xmlns:a16="http://schemas.microsoft.com/office/drawing/2014/main" id="{7FCAF0DF-0D67-63CD-49D2-99DF4D3F41CB}"/>
              </a:ext>
            </a:extLst>
          </p:cNvPr>
          <p:cNvCxnSpPr/>
          <p:nvPr/>
        </p:nvCxnSpPr>
        <p:spPr>
          <a:xfrm>
            <a:off x="1587" y="905715"/>
            <a:ext cx="12190413" cy="0"/>
          </a:xfrm>
          <a:prstGeom prst="line">
            <a:avLst/>
          </a:prstGeom>
          <a:ln>
            <a:solidFill>
              <a:srgbClr val="104D7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文本框 3">
            <a:extLst>
              <a:ext uri="{FF2B5EF4-FFF2-40B4-BE49-F238E27FC236}">
                <a16:creationId xmlns:a16="http://schemas.microsoft.com/office/drawing/2014/main" id="{58EA0B97-D9F7-187D-69B8-283B39A50BA0}"/>
              </a:ext>
            </a:extLst>
          </p:cNvPr>
          <p:cNvSpPr txBox="1"/>
          <p:nvPr/>
        </p:nvSpPr>
        <p:spPr>
          <a:xfrm>
            <a:off x="247719" y="224527"/>
            <a:ext cx="802877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kumimoji="1" sz="3200" b="1">
                <a:latin typeface="华光胖头鱼_CNKI" panose="02000500000000000000" pitchFamily="2" charset="-122"/>
                <a:ea typeface="华光胖头鱼_CNKI" panose="02000500000000000000" pitchFamily="2" charset="-122"/>
              </a:defRPr>
            </a:lvl1pPr>
          </a:lstStyle>
          <a:p>
            <a:r>
              <a:rPr lang="en-US" altLang="zh-CN" dirty="0"/>
              <a:t>7.7</a:t>
            </a:r>
            <a:r>
              <a:rPr lang="zh-CN" altLang="en-US" dirty="0"/>
              <a:t> 深复制和浅复制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576BF590-3C2D-C851-BDBC-788A770005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7" y="895230"/>
            <a:ext cx="7805980" cy="28699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438B26B3-98A4-3F90-7042-1ACE58238F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964070"/>
            <a:ext cx="9423819" cy="28699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E6F596D3-C12B-6FF6-492C-C6FE42493ADE}"/>
              </a:ext>
            </a:extLst>
          </p:cNvPr>
          <p:cNvSpPr txBox="1"/>
          <p:nvPr/>
        </p:nvSpPr>
        <p:spPr>
          <a:xfrm>
            <a:off x="9671538" y="0"/>
            <a:ext cx="2532184" cy="417345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wrap="square" lIns="0" rIns="0">
            <a:spAutoFit/>
          </a:bodyPr>
          <a:lstStyle>
            <a:defPPr>
              <a:defRPr lang="en-US"/>
            </a:defPPr>
            <a:lvl1pPr>
              <a:lnSpc>
                <a:spcPct val="85000"/>
              </a:lnSpc>
              <a:spcBef>
                <a:spcPct val="0"/>
              </a:spcBef>
              <a:buClrTx/>
              <a:buSzTx/>
              <a:buFontTx/>
              <a:buNone/>
              <a:defRPr kumimoji="1">
                <a:solidFill>
                  <a:srgbClr val="104E87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o"/>
              <a:defRPr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n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r>
              <a:rPr lang="en-US" altLang="zh-CN" dirty="0"/>
              <a:t>class Person{</a:t>
            </a:r>
          </a:p>
          <a:p>
            <a:r>
              <a:rPr lang="en-US" altLang="zh-CN" dirty="0"/>
              <a:t>public:</a:t>
            </a:r>
          </a:p>
          <a:p>
            <a:r>
              <a:rPr lang="en-US" altLang="zh-CN" dirty="0"/>
              <a:t>   string *name;	</a:t>
            </a:r>
            <a:r>
              <a:rPr lang="zh-CN" altLang="en-US" dirty="0"/>
              <a:t>    </a:t>
            </a:r>
            <a:endParaRPr lang="en-US" altLang="zh-CN" dirty="0"/>
          </a:p>
          <a:p>
            <a:r>
              <a:rPr lang="en-US" altLang="zh-CN" dirty="0"/>
              <a:t>   int age;	</a:t>
            </a:r>
          </a:p>
          <a:p>
            <a:r>
              <a:rPr lang="en-US" altLang="zh-CN" dirty="0"/>
              <a:t>   int gender;</a:t>
            </a:r>
          </a:p>
          <a:p>
            <a:r>
              <a:rPr lang="en-US" altLang="zh-CN" dirty="0"/>
              <a:t>};</a:t>
            </a:r>
          </a:p>
          <a:p>
            <a:endParaRPr lang="en-US" altLang="zh-CN" dirty="0"/>
          </a:p>
          <a:p>
            <a:r>
              <a:rPr lang="en-US" altLang="zh-CN" dirty="0"/>
              <a:t>Person A</a:t>
            </a:r>
            <a:r>
              <a:rPr lang="zh-CN" altLang="en-US" dirty="0"/>
              <a:t>；</a:t>
            </a:r>
          </a:p>
          <a:p>
            <a:r>
              <a:rPr lang="en-US" altLang="zh-CN" dirty="0"/>
              <a:t>A.name ="</a:t>
            </a:r>
            <a:r>
              <a:rPr lang="en-US" altLang="zh-CN" dirty="0" err="1"/>
              <a:t>linux</a:t>
            </a:r>
            <a:r>
              <a:rPr lang="en-US" altLang="zh-CN" dirty="0"/>
              <a:t>";</a:t>
            </a:r>
          </a:p>
          <a:p>
            <a:r>
              <a:rPr lang="en-US" altLang="zh-CN" dirty="0" err="1"/>
              <a:t>A.age</a:t>
            </a:r>
            <a:r>
              <a:rPr lang="en-US" altLang="zh-CN" dirty="0"/>
              <a:t>=27;</a:t>
            </a:r>
          </a:p>
          <a:p>
            <a:r>
              <a:rPr lang="en-US" altLang="zh-CN" dirty="0" err="1"/>
              <a:t>A.gender</a:t>
            </a:r>
            <a:r>
              <a:rPr lang="en-US" altLang="zh-CN" dirty="0"/>
              <a:t> = 1;</a:t>
            </a:r>
          </a:p>
          <a:p>
            <a:endParaRPr lang="en-US" altLang="zh-CN" dirty="0"/>
          </a:p>
          <a:p>
            <a:r>
              <a:rPr lang="en-US" altLang="zh-CN" dirty="0"/>
              <a:t>Person B = A;</a:t>
            </a:r>
          </a:p>
        </p:txBody>
      </p:sp>
    </p:spTree>
    <p:extLst>
      <p:ext uri="{BB962C8B-B14F-4D97-AF65-F5344CB8AC3E}">
        <p14:creationId xmlns:p14="http://schemas.microsoft.com/office/powerpoint/2010/main" val="100656785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794" y="176798"/>
            <a:ext cx="12190413" cy="728917"/>
          </a:xfrm>
          <a:prstGeom prst="rect">
            <a:avLst/>
          </a:prstGeom>
          <a:solidFill>
            <a:srgbClr val="26CC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3200"/>
          </a:p>
        </p:txBody>
      </p:sp>
      <p:cxnSp>
        <p:nvCxnSpPr>
          <p:cNvPr id="7" name="直线连接符 6"/>
          <p:cNvCxnSpPr/>
          <p:nvPr/>
        </p:nvCxnSpPr>
        <p:spPr>
          <a:xfrm>
            <a:off x="1587" y="905715"/>
            <a:ext cx="12190413" cy="0"/>
          </a:xfrm>
          <a:prstGeom prst="line">
            <a:avLst/>
          </a:prstGeom>
          <a:ln>
            <a:solidFill>
              <a:srgbClr val="104D7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CEF9F208-40D9-4FE7-8F7E-83E157E00C3B}"/>
              </a:ext>
            </a:extLst>
          </p:cNvPr>
          <p:cNvSpPr txBox="1"/>
          <p:nvPr/>
        </p:nvSpPr>
        <p:spPr>
          <a:xfrm>
            <a:off x="247719" y="224527"/>
            <a:ext cx="802877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kumimoji="1" sz="3200" b="1">
                <a:latin typeface="华光胖头鱼_CNKI" panose="02000500000000000000" pitchFamily="2" charset="-122"/>
                <a:ea typeface="华光胖头鱼_CNKI" panose="02000500000000000000" pitchFamily="2" charset="-122"/>
              </a:defRPr>
            </a:lvl1pPr>
          </a:lstStyle>
          <a:p>
            <a:r>
              <a:rPr lang="en-US" altLang="zh-CN" dirty="0"/>
              <a:t>7.8</a:t>
            </a:r>
            <a:r>
              <a:rPr lang="zh-CN" altLang="en-US" dirty="0"/>
              <a:t>编程案例：模拟数字时钟</a:t>
            </a:r>
          </a:p>
        </p:txBody>
      </p:sp>
      <p:sp>
        <p:nvSpPr>
          <p:cNvPr id="14" name="Rectangle 7">
            <a:extLst>
              <a:ext uri="{FF2B5EF4-FFF2-40B4-BE49-F238E27FC236}">
                <a16:creationId xmlns:a16="http://schemas.microsoft.com/office/drawing/2014/main" id="{013D042B-5E5F-4981-918D-EAC49010ED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884" y="928498"/>
            <a:ext cx="1890699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SzPct val="70000"/>
              <a:buFont typeface="Wingdings" pitchFamily="2" charset="2"/>
              <a:buChar char="o"/>
              <a:defRPr sz="32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n"/>
              <a:defRPr sz="28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o"/>
              <a:defRPr sz="24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n"/>
              <a:defRPr sz="20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zh-CN" altLang="en-US" sz="2800" dirty="0">
                <a:solidFill>
                  <a:srgbClr val="104E87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思路：</a:t>
            </a:r>
          </a:p>
        </p:txBody>
      </p:sp>
      <p:sp>
        <p:nvSpPr>
          <p:cNvPr id="16" name="Text Box 12">
            <a:extLst>
              <a:ext uri="{FF2B5EF4-FFF2-40B4-BE49-F238E27FC236}">
                <a16:creationId xmlns:a16="http://schemas.microsoft.com/office/drawing/2014/main" id="{34BD8394-EB6D-4A65-9DF1-0EE05D4E92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884" y="1444226"/>
            <a:ext cx="9336344" cy="275152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SzPct val="70000"/>
              <a:buFont typeface="Wingdings" pitchFamily="2" charset="2"/>
              <a:buChar char="o"/>
              <a:defRPr sz="32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n"/>
              <a:defRPr sz="28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o"/>
              <a:defRPr sz="24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n"/>
              <a:defRPr sz="20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ts val="0"/>
              </a:spcBef>
              <a:buClrTx/>
              <a:buSzTx/>
              <a:buFontTx/>
              <a:buNone/>
              <a:defRPr/>
            </a:pPr>
            <a:r>
              <a:rPr lang="en-US" altLang="zh-CN" sz="2400" dirty="0">
                <a:solidFill>
                  <a:srgbClr val="104E87"/>
                </a:solidFill>
                <a:latin typeface="Comic Sans MS" panose="030F0702030302020204" pitchFamily="66" charset="0"/>
                <a:ea typeface="黑体" panose="02010609060101010101" pitchFamily="49" charset="-122"/>
              </a:rPr>
              <a:t>class Clock{</a:t>
            </a:r>
          </a:p>
          <a:p>
            <a:pPr eaLnBrk="1" hangingPunct="1">
              <a:lnSpc>
                <a:spcPct val="90000"/>
              </a:lnSpc>
              <a:spcBef>
                <a:spcPts val="0"/>
              </a:spcBef>
              <a:buClrTx/>
              <a:buSzTx/>
              <a:buFontTx/>
              <a:buNone/>
              <a:defRPr/>
            </a:pPr>
            <a:r>
              <a:rPr lang="en-US" altLang="zh-CN" sz="2400" dirty="0">
                <a:solidFill>
                  <a:srgbClr val="104E87"/>
                </a:solidFill>
                <a:latin typeface="Comic Sans MS" panose="030F0702030302020204" pitchFamily="66" charset="0"/>
                <a:ea typeface="黑体" panose="02010609060101010101" pitchFamily="49" charset="-122"/>
              </a:rPr>
              <a:t>      public: </a:t>
            </a:r>
          </a:p>
          <a:p>
            <a:pPr eaLnBrk="1" hangingPunct="1">
              <a:lnSpc>
                <a:spcPct val="90000"/>
              </a:lnSpc>
              <a:spcBef>
                <a:spcPts val="0"/>
              </a:spcBef>
              <a:buClrTx/>
              <a:buSzTx/>
              <a:buFontTx/>
              <a:buNone/>
              <a:defRPr/>
            </a:pPr>
            <a:r>
              <a:rPr lang="en-US" altLang="zh-CN" sz="2400" dirty="0">
                <a:solidFill>
                  <a:srgbClr val="104E87"/>
                </a:solidFill>
                <a:latin typeface="Comic Sans MS" panose="030F0702030302020204" pitchFamily="66" charset="0"/>
                <a:ea typeface="黑体" panose="02010609060101010101" pitchFamily="49" charset="-122"/>
              </a:rPr>
              <a:t>          Clock(int </a:t>
            </a:r>
            <a:r>
              <a:rPr lang="en-US" altLang="zh-CN" sz="2400" dirty="0" err="1">
                <a:solidFill>
                  <a:srgbClr val="104E87"/>
                </a:solidFill>
                <a:latin typeface="Comic Sans MS" panose="030F0702030302020204" pitchFamily="66" charset="0"/>
                <a:ea typeface="黑体" panose="02010609060101010101" pitchFamily="49" charset="-122"/>
              </a:rPr>
              <a:t>newH</a:t>
            </a:r>
            <a:r>
              <a:rPr lang="en-US" altLang="zh-CN" sz="2400" dirty="0">
                <a:solidFill>
                  <a:srgbClr val="104E87"/>
                </a:solidFill>
                <a:latin typeface="Comic Sans MS" panose="030F0702030302020204" pitchFamily="66" charset="0"/>
                <a:ea typeface="黑体" panose="02010609060101010101" pitchFamily="49" charset="-122"/>
              </a:rPr>
              <a:t>=0, int </a:t>
            </a:r>
            <a:r>
              <a:rPr lang="en-US" altLang="zh-CN" sz="2400" dirty="0" err="1">
                <a:solidFill>
                  <a:srgbClr val="104E87"/>
                </a:solidFill>
                <a:latin typeface="Comic Sans MS" panose="030F0702030302020204" pitchFamily="66" charset="0"/>
                <a:ea typeface="黑体" panose="02010609060101010101" pitchFamily="49" charset="-122"/>
              </a:rPr>
              <a:t>newMe</a:t>
            </a:r>
            <a:r>
              <a:rPr lang="en-US" altLang="zh-CN" sz="2400" dirty="0">
                <a:solidFill>
                  <a:srgbClr val="104E87"/>
                </a:solidFill>
                <a:latin typeface="Comic Sans MS" panose="030F0702030302020204" pitchFamily="66" charset="0"/>
                <a:ea typeface="黑体" panose="02010609060101010101" pitchFamily="49" charset="-122"/>
              </a:rPr>
              <a:t>=0, int news=0);</a:t>
            </a:r>
          </a:p>
          <a:p>
            <a:pPr eaLnBrk="1" hangingPunct="1">
              <a:lnSpc>
                <a:spcPct val="90000"/>
              </a:lnSpc>
              <a:spcBef>
                <a:spcPts val="0"/>
              </a:spcBef>
              <a:buClrTx/>
              <a:buSzTx/>
              <a:buFontTx/>
              <a:buNone/>
              <a:defRPr/>
            </a:pPr>
            <a:r>
              <a:rPr lang="en-US" altLang="zh-CN" sz="2400" dirty="0">
                <a:solidFill>
                  <a:srgbClr val="104E87"/>
                </a:solidFill>
                <a:latin typeface="Comic Sans MS" panose="030F0702030302020204" pitchFamily="66" charset="0"/>
                <a:ea typeface="黑体" panose="02010609060101010101" pitchFamily="49" charset="-122"/>
              </a:rPr>
              <a:t>	   void </a:t>
            </a:r>
            <a:r>
              <a:rPr lang="en-US" altLang="zh-CN" sz="2400" dirty="0" err="1">
                <a:solidFill>
                  <a:srgbClr val="104E87"/>
                </a:solidFill>
                <a:latin typeface="Comic Sans MS" panose="030F0702030302020204" pitchFamily="66" charset="0"/>
                <a:ea typeface="黑体" panose="02010609060101010101" pitchFamily="49" charset="-122"/>
              </a:rPr>
              <a:t>setTime</a:t>
            </a:r>
            <a:r>
              <a:rPr lang="en-US" altLang="zh-CN" sz="2400" dirty="0">
                <a:solidFill>
                  <a:srgbClr val="104E87"/>
                </a:solidFill>
                <a:latin typeface="Comic Sans MS" panose="030F0702030302020204" pitchFamily="66" charset="0"/>
                <a:ea typeface="黑体" panose="02010609060101010101" pitchFamily="49" charset="-122"/>
              </a:rPr>
              <a:t>(int </a:t>
            </a:r>
            <a:r>
              <a:rPr lang="en-US" altLang="zh-CN" sz="2400" dirty="0" err="1">
                <a:solidFill>
                  <a:srgbClr val="104E87"/>
                </a:solidFill>
                <a:latin typeface="Comic Sans MS" panose="030F0702030302020204" pitchFamily="66" charset="0"/>
                <a:ea typeface="黑体" panose="02010609060101010101" pitchFamily="49" charset="-122"/>
              </a:rPr>
              <a:t>newH</a:t>
            </a:r>
            <a:r>
              <a:rPr lang="en-US" altLang="zh-CN" sz="2400" dirty="0">
                <a:solidFill>
                  <a:srgbClr val="104E87"/>
                </a:solidFill>
                <a:latin typeface="Comic Sans MS" panose="030F0702030302020204" pitchFamily="66" charset="0"/>
                <a:ea typeface="黑体" panose="02010609060101010101" pitchFamily="49" charset="-122"/>
              </a:rPr>
              <a:t>, int </a:t>
            </a:r>
            <a:r>
              <a:rPr lang="en-US" altLang="zh-CN" sz="2400" dirty="0" err="1">
                <a:solidFill>
                  <a:srgbClr val="104E87"/>
                </a:solidFill>
                <a:latin typeface="Comic Sans MS" panose="030F0702030302020204" pitchFamily="66" charset="0"/>
                <a:ea typeface="黑体" panose="02010609060101010101" pitchFamily="49" charset="-122"/>
              </a:rPr>
              <a:t>newMe</a:t>
            </a:r>
            <a:r>
              <a:rPr lang="en-US" altLang="zh-CN" sz="2400" dirty="0">
                <a:solidFill>
                  <a:srgbClr val="104E87"/>
                </a:solidFill>
                <a:latin typeface="Comic Sans MS" panose="030F0702030302020204" pitchFamily="66" charset="0"/>
                <a:ea typeface="黑体" panose="02010609060101010101" pitchFamily="49" charset="-122"/>
              </a:rPr>
              <a:t>, int </a:t>
            </a:r>
            <a:r>
              <a:rPr lang="en-US" altLang="zh-CN" sz="2400" dirty="0" err="1">
                <a:solidFill>
                  <a:srgbClr val="104E87"/>
                </a:solidFill>
                <a:latin typeface="Comic Sans MS" panose="030F0702030302020204" pitchFamily="66" charset="0"/>
                <a:ea typeface="黑体" panose="02010609060101010101" pitchFamily="49" charset="-122"/>
              </a:rPr>
              <a:t>newS</a:t>
            </a:r>
            <a:r>
              <a:rPr lang="en-US" altLang="zh-CN" sz="2400" dirty="0">
                <a:solidFill>
                  <a:srgbClr val="104E87"/>
                </a:solidFill>
                <a:latin typeface="Comic Sans MS" panose="030F0702030302020204" pitchFamily="66" charset="0"/>
                <a:ea typeface="黑体" panose="02010609060101010101" pitchFamily="49" charset="-122"/>
              </a:rPr>
              <a:t>);</a:t>
            </a:r>
          </a:p>
          <a:p>
            <a:pPr eaLnBrk="1" hangingPunct="1">
              <a:lnSpc>
                <a:spcPct val="90000"/>
              </a:lnSpc>
              <a:spcBef>
                <a:spcPts val="0"/>
              </a:spcBef>
              <a:buClrTx/>
              <a:buSzTx/>
              <a:buFontTx/>
              <a:buNone/>
              <a:defRPr/>
            </a:pPr>
            <a:r>
              <a:rPr lang="en-US" altLang="zh-CN" sz="2400" dirty="0">
                <a:solidFill>
                  <a:srgbClr val="104E87"/>
                </a:solidFill>
                <a:latin typeface="Comic Sans MS" panose="030F0702030302020204" pitchFamily="66" charset="0"/>
                <a:ea typeface="黑体" panose="02010609060101010101" pitchFamily="49" charset="-122"/>
              </a:rPr>
              <a:t>          void </a:t>
            </a:r>
            <a:r>
              <a:rPr lang="en-US" altLang="zh-CN" sz="2400" dirty="0" err="1">
                <a:solidFill>
                  <a:srgbClr val="104E87"/>
                </a:solidFill>
                <a:latin typeface="Comic Sans MS" panose="030F0702030302020204" pitchFamily="66" charset="0"/>
                <a:ea typeface="黑体" panose="02010609060101010101" pitchFamily="49" charset="-122"/>
              </a:rPr>
              <a:t>showTime</a:t>
            </a:r>
            <a:r>
              <a:rPr lang="en-US" altLang="zh-CN" sz="2400" dirty="0">
                <a:solidFill>
                  <a:srgbClr val="104E87"/>
                </a:solidFill>
                <a:latin typeface="Comic Sans MS" panose="030F0702030302020204" pitchFamily="66" charset="0"/>
                <a:ea typeface="黑体" panose="02010609060101010101" pitchFamily="49" charset="-122"/>
              </a:rPr>
              <a:t>();</a:t>
            </a:r>
          </a:p>
          <a:p>
            <a:pPr eaLnBrk="1" hangingPunct="1">
              <a:lnSpc>
                <a:spcPct val="90000"/>
              </a:lnSpc>
              <a:spcBef>
                <a:spcPts val="0"/>
              </a:spcBef>
              <a:buClrTx/>
              <a:buSzTx/>
              <a:buFontTx/>
              <a:buNone/>
              <a:defRPr/>
            </a:pPr>
            <a:r>
              <a:rPr lang="en-US" altLang="zh-CN" sz="2400" dirty="0">
                <a:solidFill>
                  <a:srgbClr val="104E87"/>
                </a:solidFill>
                <a:latin typeface="Comic Sans MS" panose="030F0702030302020204" pitchFamily="66" charset="0"/>
                <a:ea typeface="黑体" panose="02010609060101010101" pitchFamily="49" charset="-122"/>
              </a:rPr>
              <a:t>      private:</a:t>
            </a:r>
          </a:p>
          <a:p>
            <a:pPr eaLnBrk="1" hangingPunct="1">
              <a:lnSpc>
                <a:spcPct val="90000"/>
              </a:lnSpc>
              <a:spcBef>
                <a:spcPts val="0"/>
              </a:spcBef>
              <a:buClrTx/>
              <a:buSzTx/>
              <a:buFontTx/>
              <a:buNone/>
              <a:defRPr/>
            </a:pPr>
            <a:r>
              <a:rPr lang="en-US" altLang="zh-CN" sz="2400" dirty="0">
                <a:solidFill>
                  <a:srgbClr val="FF0000"/>
                </a:solidFill>
                <a:latin typeface="Comic Sans MS" panose="030F0702030302020204" pitchFamily="66" charset="0"/>
                <a:ea typeface="黑体" panose="02010609060101010101" pitchFamily="49" charset="-122"/>
              </a:rPr>
              <a:t>           </a:t>
            </a:r>
            <a:r>
              <a:rPr lang="en-US" altLang="zh-CN" sz="2400" dirty="0" err="1">
                <a:solidFill>
                  <a:srgbClr val="FF0000"/>
                </a:solidFill>
                <a:latin typeface="Comic Sans MS" panose="030F0702030302020204" pitchFamily="66" charset="0"/>
                <a:ea typeface="黑体" panose="02010609060101010101" pitchFamily="49" charset="-122"/>
              </a:rPr>
              <a:t>int</a:t>
            </a:r>
            <a:r>
              <a:rPr lang="en-US" altLang="zh-CN" sz="2400" dirty="0">
                <a:solidFill>
                  <a:srgbClr val="FF0000"/>
                </a:solidFill>
                <a:latin typeface="Comic Sans MS" panose="030F0702030302020204" pitchFamily="66" charset="0"/>
                <a:ea typeface="黑体" panose="02010609060101010101" pitchFamily="49" charset="-122"/>
              </a:rPr>
              <a:t> hour, minute, second;</a:t>
            </a:r>
          </a:p>
          <a:p>
            <a:pPr eaLnBrk="1" hangingPunct="1">
              <a:lnSpc>
                <a:spcPct val="90000"/>
              </a:lnSpc>
              <a:spcBef>
                <a:spcPts val="0"/>
              </a:spcBef>
              <a:buClrTx/>
              <a:buSzTx/>
              <a:buFontTx/>
              <a:buNone/>
              <a:defRPr/>
            </a:pPr>
            <a:r>
              <a:rPr lang="en-US" altLang="zh-CN" sz="2400" dirty="0">
                <a:solidFill>
                  <a:srgbClr val="104E87"/>
                </a:solidFill>
                <a:latin typeface="Comic Sans MS" panose="030F0702030302020204" pitchFamily="66" charset="0"/>
                <a:ea typeface="黑体" panose="02010609060101010101" pitchFamily="49" charset="-122"/>
              </a:rPr>
              <a:t>};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CD13F5E3-0AB3-4A23-B63C-EDAF5F9F37BC}"/>
              </a:ext>
            </a:extLst>
          </p:cNvPr>
          <p:cNvSpPr txBox="1"/>
          <p:nvPr/>
        </p:nvSpPr>
        <p:spPr>
          <a:xfrm>
            <a:off x="307552" y="4417154"/>
            <a:ext cx="5132549" cy="5222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zh-CN" altLang="en-US" sz="2800" dirty="0">
                <a:solidFill>
                  <a:srgbClr val="FF0000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时分秒的改变需要循环计数器</a:t>
            </a:r>
          </a:p>
        </p:txBody>
      </p:sp>
      <p:sp>
        <p:nvSpPr>
          <p:cNvPr id="20" name="Rectangle 7">
            <a:extLst>
              <a:ext uri="{FF2B5EF4-FFF2-40B4-BE49-F238E27FC236}">
                <a16:creationId xmlns:a16="http://schemas.microsoft.com/office/drawing/2014/main" id="{8AFAD97D-386B-4E4E-AF32-B7587687D0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92202" y="923956"/>
            <a:ext cx="959464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SzPct val="70000"/>
              <a:buFont typeface="Wingdings" pitchFamily="2" charset="2"/>
              <a:buChar char="o"/>
              <a:defRPr sz="32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n"/>
              <a:defRPr sz="28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o"/>
              <a:defRPr sz="24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n"/>
              <a:defRPr sz="20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zh-CN" altLang="en-US" sz="2800" dirty="0">
                <a:solidFill>
                  <a:srgbClr val="104E87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对所有的时钟对象进行抽象：哪些数据？哪些功能</a:t>
            </a:r>
            <a:r>
              <a:rPr lang="en-US" altLang="zh-CN" sz="2800" dirty="0">
                <a:solidFill>
                  <a:srgbClr val="104E87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(</a:t>
            </a:r>
            <a:r>
              <a:rPr lang="zh-CN" altLang="en-US" sz="2800" dirty="0">
                <a:solidFill>
                  <a:srgbClr val="104E87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函数</a:t>
            </a:r>
            <a:r>
              <a:rPr lang="en-US" altLang="zh-CN" sz="2800" dirty="0">
                <a:solidFill>
                  <a:srgbClr val="104E87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)</a:t>
            </a:r>
            <a:r>
              <a:rPr lang="zh-CN" altLang="en-US" sz="2800" dirty="0">
                <a:solidFill>
                  <a:srgbClr val="104E87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？</a:t>
            </a:r>
          </a:p>
        </p:txBody>
      </p:sp>
      <p:pic>
        <p:nvPicPr>
          <p:cNvPr id="9" name="Picture 46" descr="200641472033436">
            <a:extLst>
              <a:ext uri="{FF2B5EF4-FFF2-40B4-BE49-F238E27FC236}">
                <a16:creationId xmlns:a16="http://schemas.microsoft.com/office/drawing/2014/main" id="{778B0BB8-674F-4538-B2EA-CE7AFD8197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69367" y="905715"/>
            <a:ext cx="1219200" cy="1217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" name="墨迹 2">
                <a:extLst>
                  <a:ext uri="{FF2B5EF4-FFF2-40B4-BE49-F238E27FC236}">
                    <a16:creationId xmlns:a16="http://schemas.microsoft.com/office/drawing/2014/main" id="{3C7A14F0-EE0B-4D98-9B88-0CB4E1098B9E}"/>
                  </a:ext>
                </a:extLst>
              </p14:cNvPr>
              <p14:cNvContentPartPr/>
              <p14:nvPr/>
            </p14:nvContentPartPr>
            <p14:xfrm>
              <a:off x="8509828" y="300775"/>
              <a:ext cx="92520" cy="12960"/>
            </p14:xfrm>
          </p:contentPart>
        </mc:Choice>
        <mc:Fallback xmlns="">
          <p:pic>
            <p:nvPicPr>
              <p:cNvPr id="3" name="墨迹 2">
                <a:extLst>
                  <a:ext uri="{FF2B5EF4-FFF2-40B4-BE49-F238E27FC236}">
                    <a16:creationId xmlns:a16="http://schemas.microsoft.com/office/drawing/2014/main" id="{3C7A14F0-EE0B-4D98-9B88-0CB4E1098B9E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501188" y="292135"/>
                <a:ext cx="110160" cy="30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5" name="墨迹 4">
                <a:extLst>
                  <a:ext uri="{FF2B5EF4-FFF2-40B4-BE49-F238E27FC236}">
                    <a16:creationId xmlns:a16="http://schemas.microsoft.com/office/drawing/2014/main" id="{C4E83D33-5C5C-2885-A00B-A14D69358125}"/>
                  </a:ext>
                </a:extLst>
              </p14:cNvPr>
              <p14:cNvContentPartPr/>
              <p14:nvPr/>
            </p14:nvContentPartPr>
            <p14:xfrm>
              <a:off x="2841628" y="3110215"/>
              <a:ext cx="120600" cy="86760"/>
            </p14:xfrm>
          </p:contentPart>
        </mc:Choice>
        <mc:Fallback xmlns="">
          <p:pic>
            <p:nvPicPr>
              <p:cNvPr id="5" name="墨迹 4">
                <a:extLst>
                  <a:ext uri="{FF2B5EF4-FFF2-40B4-BE49-F238E27FC236}">
                    <a16:creationId xmlns:a16="http://schemas.microsoft.com/office/drawing/2014/main" id="{C4E83D33-5C5C-2885-A00B-A14D69358125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832988" y="3101575"/>
                <a:ext cx="138240" cy="104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6" name="墨迹 5">
                <a:extLst>
                  <a:ext uri="{FF2B5EF4-FFF2-40B4-BE49-F238E27FC236}">
                    <a16:creationId xmlns:a16="http://schemas.microsoft.com/office/drawing/2014/main" id="{E90BDE19-7085-98BF-650E-B9CEC7FB92BB}"/>
                  </a:ext>
                </a:extLst>
              </p14:cNvPr>
              <p14:cNvContentPartPr/>
              <p14:nvPr/>
            </p14:nvContentPartPr>
            <p14:xfrm>
              <a:off x="3526348" y="5776375"/>
              <a:ext cx="174960" cy="237960"/>
            </p14:xfrm>
          </p:contentPart>
        </mc:Choice>
        <mc:Fallback xmlns="">
          <p:pic>
            <p:nvPicPr>
              <p:cNvPr id="6" name="墨迹 5">
                <a:extLst>
                  <a:ext uri="{FF2B5EF4-FFF2-40B4-BE49-F238E27FC236}">
                    <a16:creationId xmlns:a16="http://schemas.microsoft.com/office/drawing/2014/main" id="{E90BDE19-7085-98BF-650E-B9CEC7FB92BB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3517708" y="5767375"/>
                <a:ext cx="192600" cy="255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1" name="墨迹 10">
                <a:extLst>
                  <a:ext uri="{FF2B5EF4-FFF2-40B4-BE49-F238E27FC236}">
                    <a16:creationId xmlns:a16="http://schemas.microsoft.com/office/drawing/2014/main" id="{8696037C-28AD-07E6-B6D3-04E022B504A5}"/>
                  </a:ext>
                </a:extLst>
              </p14:cNvPr>
              <p14:cNvContentPartPr/>
              <p14:nvPr/>
            </p14:nvContentPartPr>
            <p14:xfrm>
              <a:off x="8768308" y="2300935"/>
              <a:ext cx="360" cy="360"/>
            </p14:xfrm>
          </p:contentPart>
        </mc:Choice>
        <mc:Fallback xmlns="">
          <p:pic>
            <p:nvPicPr>
              <p:cNvPr id="11" name="墨迹 10">
                <a:extLst>
                  <a:ext uri="{FF2B5EF4-FFF2-40B4-BE49-F238E27FC236}">
                    <a16:creationId xmlns:a16="http://schemas.microsoft.com/office/drawing/2014/main" id="{8696037C-28AD-07E6-B6D3-04E022B504A5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8759308" y="2291935"/>
                <a:ext cx="18000" cy="18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5004557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9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794" y="176798"/>
            <a:ext cx="12190413" cy="728917"/>
          </a:xfrm>
          <a:prstGeom prst="rect">
            <a:avLst/>
          </a:prstGeom>
          <a:solidFill>
            <a:srgbClr val="26CC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3200"/>
          </a:p>
        </p:txBody>
      </p:sp>
      <p:cxnSp>
        <p:nvCxnSpPr>
          <p:cNvPr id="7" name="直线连接符 6"/>
          <p:cNvCxnSpPr/>
          <p:nvPr/>
        </p:nvCxnSpPr>
        <p:spPr>
          <a:xfrm>
            <a:off x="1587" y="905715"/>
            <a:ext cx="12190413" cy="0"/>
          </a:xfrm>
          <a:prstGeom prst="line">
            <a:avLst/>
          </a:prstGeom>
          <a:ln>
            <a:solidFill>
              <a:srgbClr val="104D7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3">
            <a:extLst>
              <a:ext uri="{FF2B5EF4-FFF2-40B4-BE49-F238E27FC236}">
                <a16:creationId xmlns:a16="http://schemas.microsoft.com/office/drawing/2014/main" id="{5FEFCDF0-71F0-43F8-9516-091089C964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0462" y="2036298"/>
            <a:ext cx="2959727" cy="981809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0000"/>
              <a:buFont typeface="Wingdings" panose="05000000000000000000" pitchFamily="2" charset="2"/>
              <a:buChar char="o"/>
              <a:defRPr sz="3200">
                <a:solidFill>
                  <a:srgbClr val="0000FF"/>
                </a:solidFill>
                <a:latin typeface="+mn-lt"/>
                <a:ea typeface="+mn-ea"/>
                <a:cs typeface="+mn-cs"/>
              </a:defRPr>
            </a:lvl1pPr>
            <a:lvl2pPr marL="908050" indent="-436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rgbClr val="0000FF"/>
                </a:solidFill>
                <a:latin typeface="+mn-lt"/>
                <a:ea typeface="+mn-ea"/>
              </a:defRPr>
            </a:lvl2pPr>
            <a:lvl3pPr marL="1377950" indent="-4683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o"/>
              <a:defRPr sz="2400">
                <a:solidFill>
                  <a:srgbClr val="0000FF"/>
                </a:solidFill>
                <a:latin typeface="+mn-lt"/>
                <a:ea typeface="+mn-ea"/>
              </a:defRPr>
            </a:lvl3pPr>
            <a:lvl4pPr marL="1827213" indent="-4381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anose="05000000000000000000" pitchFamily="2" charset="2"/>
              <a:buChar char="n"/>
              <a:defRPr sz="2000">
                <a:solidFill>
                  <a:srgbClr val="0000FF"/>
                </a:solidFill>
                <a:latin typeface="+mn-lt"/>
                <a:ea typeface="+mn-ea"/>
              </a:defRPr>
            </a:lvl4pPr>
            <a:lvl5pPr marL="2297113" indent="-4683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+mn-lt"/>
                <a:ea typeface="+mn-ea"/>
              </a:defRPr>
            </a:lvl5pPr>
            <a:lvl6pPr marL="2754313" indent="-468313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rgbClr val="0000FF"/>
                </a:solidFill>
                <a:latin typeface="+mn-lt"/>
                <a:ea typeface="+mn-ea"/>
              </a:defRPr>
            </a:lvl6pPr>
            <a:lvl7pPr marL="3211513" indent="-468313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rgbClr val="0000FF"/>
                </a:solidFill>
                <a:latin typeface="+mn-lt"/>
                <a:ea typeface="+mn-ea"/>
              </a:defRPr>
            </a:lvl7pPr>
            <a:lvl8pPr marL="3668713" indent="-468313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rgbClr val="0000FF"/>
                </a:solidFill>
                <a:latin typeface="+mn-lt"/>
                <a:ea typeface="+mn-ea"/>
              </a:defRPr>
            </a:lvl8pPr>
            <a:lvl9pPr marL="4125913" indent="-468313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rgbClr val="0000FF"/>
                </a:solidFill>
                <a:latin typeface="+mn-lt"/>
                <a:ea typeface="+mn-ea"/>
              </a:defRPr>
            </a:lvl9pPr>
          </a:lstStyle>
          <a:p>
            <a:pPr marL="711200" indent="-711200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000" kern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int </a:t>
            </a:r>
            <a:r>
              <a:rPr lang="en-US" altLang="zh-CN" sz="2000" kern="0" dirty="0" err="1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min_val</a:t>
            </a:r>
            <a:r>
              <a:rPr lang="en-US" altLang="zh-CN" sz="2000" kern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; // </a:t>
            </a:r>
            <a:r>
              <a:rPr lang="zh-CN" altLang="en-US" sz="2000" kern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最小值</a:t>
            </a:r>
          </a:p>
          <a:p>
            <a:pPr marL="711200" indent="-711200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000" kern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int </a:t>
            </a:r>
            <a:r>
              <a:rPr lang="en-US" altLang="zh-CN" sz="2000" kern="0" dirty="0" err="1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max_val</a:t>
            </a:r>
            <a:r>
              <a:rPr lang="en-US" altLang="zh-CN" sz="2000" kern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; // </a:t>
            </a:r>
            <a:r>
              <a:rPr lang="zh-CN" altLang="en-US" sz="2000" kern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最大值</a:t>
            </a:r>
            <a:endParaRPr lang="en-US" altLang="zh-CN" sz="2000" kern="0" dirty="0">
              <a:solidFill>
                <a:srgbClr val="104E87"/>
              </a:solidFill>
              <a:latin typeface="Comic Sans MS" panose="030F0702030302020204" pitchFamily="66" charset="0"/>
              <a:ea typeface="华光行书_CNKI" panose="02000500000000000000" pitchFamily="2" charset="-122"/>
            </a:endParaRPr>
          </a:p>
          <a:p>
            <a:pPr marL="711200" indent="-711200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000" kern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int current; // </a:t>
            </a:r>
            <a:r>
              <a:rPr lang="zh-CN" altLang="en-US" sz="2000" kern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当前值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9FE717A5-89F8-4C76-84A6-37718A89F02B}"/>
              </a:ext>
            </a:extLst>
          </p:cNvPr>
          <p:cNvSpPr txBox="1"/>
          <p:nvPr/>
        </p:nvSpPr>
        <p:spPr>
          <a:xfrm>
            <a:off x="247719" y="960800"/>
            <a:ext cx="2484437" cy="5238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zh-CN" altLang="en-US" sz="2800" dirty="0">
                <a:solidFill>
                  <a:srgbClr val="FF0000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循环计数器类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AA0EBFAE-1ABB-48A6-B76B-0CCB8427D420}"/>
              </a:ext>
            </a:extLst>
          </p:cNvPr>
          <p:cNvSpPr txBox="1"/>
          <p:nvPr/>
        </p:nvSpPr>
        <p:spPr>
          <a:xfrm>
            <a:off x="247719" y="224527"/>
            <a:ext cx="802877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kumimoji="1" sz="3200" b="1">
                <a:latin typeface="华光胖头鱼_CNKI" panose="02000500000000000000" pitchFamily="2" charset="-122"/>
                <a:ea typeface="华光胖头鱼_CNKI" panose="02000500000000000000" pitchFamily="2" charset="-122"/>
              </a:defRPr>
            </a:lvl1pPr>
          </a:lstStyle>
          <a:p>
            <a:r>
              <a:rPr lang="en-US" altLang="zh-CN" dirty="0"/>
              <a:t>7.8</a:t>
            </a:r>
            <a:r>
              <a:rPr lang="zh-CN" altLang="en-US" dirty="0"/>
              <a:t>编程案例：模拟数字时钟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2E295DAE-693F-4BE9-B610-41097A59E758}"/>
              </a:ext>
            </a:extLst>
          </p:cNvPr>
          <p:cNvSpPr txBox="1"/>
          <p:nvPr/>
        </p:nvSpPr>
        <p:spPr>
          <a:xfrm>
            <a:off x="308029" y="1529654"/>
            <a:ext cx="16022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104E87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数据抽象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9915BBD1-BA42-4834-9531-251DD809DD0E}"/>
              </a:ext>
            </a:extLst>
          </p:cNvPr>
          <p:cNvSpPr txBox="1"/>
          <p:nvPr/>
        </p:nvSpPr>
        <p:spPr>
          <a:xfrm>
            <a:off x="247719" y="3414718"/>
            <a:ext cx="16022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104E87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功能抽象</a:t>
            </a:r>
          </a:p>
        </p:txBody>
      </p:sp>
      <p:sp>
        <p:nvSpPr>
          <p:cNvPr id="13" name="Rectangle 3">
            <a:extLst>
              <a:ext uri="{FF2B5EF4-FFF2-40B4-BE49-F238E27FC236}">
                <a16:creationId xmlns:a16="http://schemas.microsoft.com/office/drawing/2014/main" id="{05A753EE-5E7F-4F21-9BCA-4B2705A247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8029" y="3876384"/>
            <a:ext cx="7766619" cy="1533608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0000"/>
              <a:buFont typeface="Wingdings" panose="05000000000000000000" pitchFamily="2" charset="2"/>
              <a:buChar char="o"/>
              <a:defRPr sz="3200">
                <a:solidFill>
                  <a:srgbClr val="0000FF"/>
                </a:solidFill>
                <a:latin typeface="+mn-lt"/>
                <a:ea typeface="+mn-ea"/>
                <a:cs typeface="+mn-cs"/>
              </a:defRPr>
            </a:lvl1pPr>
            <a:lvl2pPr marL="908050" indent="-436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rgbClr val="0000FF"/>
                </a:solidFill>
                <a:latin typeface="+mn-lt"/>
                <a:ea typeface="+mn-ea"/>
              </a:defRPr>
            </a:lvl2pPr>
            <a:lvl3pPr marL="1377950" indent="-4683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o"/>
              <a:defRPr sz="2400">
                <a:solidFill>
                  <a:srgbClr val="0000FF"/>
                </a:solidFill>
                <a:latin typeface="+mn-lt"/>
                <a:ea typeface="+mn-ea"/>
              </a:defRPr>
            </a:lvl3pPr>
            <a:lvl4pPr marL="1827213" indent="-4381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anose="05000000000000000000" pitchFamily="2" charset="2"/>
              <a:buChar char="n"/>
              <a:defRPr sz="2000">
                <a:solidFill>
                  <a:srgbClr val="0000FF"/>
                </a:solidFill>
                <a:latin typeface="+mn-lt"/>
                <a:ea typeface="+mn-ea"/>
              </a:defRPr>
            </a:lvl4pPr>
            <a:lvl5pPr marL="2297113" indent="-4683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+mn-lt"/>
                <a:ea typeface="+mn-ea"/>
              </a:defRPr>
            </a:lvl5pPr>
            <a:lvl6pPr marL="2754313" indent="-468313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rgbClr val="0000FF"/>
                </a:solidFill>
                <a:latin typeface="+mn-lt"/>
                <a:ea typeface="+mn-ea"/>
              </a:defRPr>
            </a:lvl6pPr>
            <a:lvl7pPr marL="3211513" indent="-468313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rgbClr val="0000FF"/>
                </a:solidFill>
                <a:latin typeface="+mn-lt"/>
                <a:ea typeface="+mn-ea"/>
              </a:defRPr>
            </a:lvl7pPr>
            <a:lvl8pPr marL="3668713" indent="-468313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rgbClr val="0000FF"/>
                </a:solidFill>
                <a:latin typeface="+mn-lt"/>
                <a:ea typeface="+mn-ea"/>
              </a:defRPr>
            </a:lvl8pPr>
            <a:lvl9pPr marL="4125913" indent="-468313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rgbClr val="0000FF"/>
                </a:solidFill>
                <a:latin typeface="+mn-lt"/>
                <a:ea typeface="+mn-ea"/>
              </a:defRPr>
            </a:lvl9pPr>
          </a:lstStyle>
          <a:p>
            <a:pPr marL="711200" indent="-711200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000" kern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void </a:t>
            </a:r>
            <a:r>
              <a:rPr lang="en-US" altLang="zh-CN" sz="2000" kern="0" dirty="0" err="1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set_mode</a:t>
            </a:r>
            <a:r>
              <a:rPr lang="en-US" altLang="zh-CN" sz="2000" kern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(int min, int max);   //</a:t>
            </a:r>
            <a:r>
              <a:rPr lang="zh-CN" altLang="en-US" sz="2000" kern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设置循环计数器的上、下限</a:t>
            </a:r>
          </a:p>
          <a:p>
            <a:pPr marL="711200" indent="-711200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000" kern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void </a:t>
            </a:r>
            <a:r>
              <a:rPr lang="en-US" altLang="zh-CN" sz="2000" kern="0" dirty="0" err="1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set_value</a:t>
            </a:r>
            <a:r>
              <a:rPr lang="en-US" altLang="zh-CN" sz="2000" kern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(int value);              //</a:t>
            </a:r>
            <a:r>
              <a:rPr lang="zh-CN" altLang="en-US" sz="2000" kern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设置循环计数器的当前值</a:t>
            </a:r>
          </a:p>
          <a:p>
            <a:pPr marL="711200" indent="-711200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000" kern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int </a:t>
            </a:r>
            <a:r>
              <a:rPr lang="en-US" altLang="zh-CN" sz="2000" kern="0" dirty="0" err="1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get_value</a:t>
            </a:r>
            <a:r>
              <a:rPr lang="en-US" altLang="zh-CN" sz="2000" kern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();                             //</a:t>
            </a:r>
            <a:r>
              <a:rPr lang="zh-CN" altLang="en-US" sz="2000" kern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查询循环计数器的当前值</a:t>
            </a:r>
          </a:p>
          <a:p>
            <a:pPr marL="711200" indent="-711200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000" kern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void increment();                           //</a:t>
            </a:r>
            <a:r>
              <a:rPr lang="zh-CN" altLang="en-US" sz="2000" kern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循环计数器加</a:t>
            </a:r>
            <a:r>
              <a:rPr lang="en-US" altLang="zh-CN" sz="2000" kern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1</a:t>
            </a:r>
          </a:p>
          <a:p>
            <a:pPr marL="711200" indent="-711200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000" kern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void decrement();                          // </a:t>
            </a:r>
            <a:r>
              <a:rPr lang="zh-CN" altLang="en-US" sz="2000" kern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循环计数器减</a:t>
            </a:r>
            <a:r>
              <a:rPr lang="en-US" altLang="zh-CN" sz="2000" kern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6485326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/>
      </p:transition>
    </mc:Choice>
    <mc:Fallback xmlns="">
      <p:transition spd="slow">
        <p:fade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794" y="176798"/>
            <a:ext cx="12190413" cy="728917"/>
          </a:xfrm>
          <a:prstGeom prst="rect">
            <a:avLst/>
          </a:prstGeom>
          <a:solidFill>
            <a:srgbClr val="26CC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3200"/>
          </a:p>
        </p:txBody>
      </p:sp>
      <p:cxnSp>
        <p:nvCxnSpPr>
          <p:cNvPr id="7" name="直线连接符 6"/>
          <p:cNvCxnSpPr/>
          <p:nvPr/>
        </p:nvCxnSpPr>
        <p:spPr>
          <a:xfrm>
            <a:off x="1587" y="905715"/>
            <a:ext cx="12190413" cy="0"/>
          </a:xfrm>
          <a:prstGeom prst="line">
            <a:avLst/>
          </a:prstGeom>
          <a:ln>
            <a:solidFill>
              <a:srgbClr val="104D7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3">
            <a:extLst>
              <a:ext uri="{FF2B5EF4-FFF2-40B4-BE49-F238E27FC236}">
                <a16:creationId xmlns:a16="http://schemas.microsoft.com/office/drawing/2014/main" id="{5FEFCDF0-71F0-43F8-9516-091089C964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87" y="905714"/>
            <a:ext cx="8713787" cy="365153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/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0000"/>
              <a:buFont typeface="Wingdings" panose="05000000000000000000" pitchFamily="2" charset="2"/>
              <a:buChar char="o"/>
              <a:defRPr sz="3200">
                <a:solidFill>
                  <a:srgbClr val="0000FF"/>
                </a:solidFill>
                <a:latin typeface="+mn-lt"/>
                <a:ea typeface="+mn-ea"/>
                <a:cs typeface="+mn-cs"/>
              </a:defRPr>
            </a:lvl1pPr>
            <a:lvl2pPr marL="908050" indent="-436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rgbClr val="0000FF"/>
                </a:solidFill>
                <a:latin typeface="+mn-lt"/>
                <a:ea typeface="+mn-ea"/>
              </a:defRPr>
            </a:lvl2pPr>
            <a:lvl3pPr marL="1377950" indent="-4683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o"/>
              <a:defRPr sz="2400">
                <a:solidFill>
                  <a:srgbClr val="0000FF"/>
                </a:solidFill>
                <a:latin typeface="+mn-lt"/>
                <a:ea typeface="+mn-ea"/>
              </a:defRPr>
            </a:lvl3pPr>
            <a:lvl4pPr marL="1827213" indent="-4381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anose="05000000000000000000" pitchFamily="2" charset="2"/>
              <a:buChar char="n"/>
              <a:defRPr sz="2000">
                <a:solidFill>
                  <a:srgbClr val="0000FF"/>
                </a:solidFill>
                <a:latin typeface="+mn-lt"/>
                <a:ea typeface="+mn-ea"/>
              </a:defRPr>
            </a:lvl4pPr>
            <a:lvl5pPr marL="2297113" indent="-4683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+mn-lt"/>
                <a:ea typeface="+mn-ea"/>
              </a:defRPr>
            </a:lvl5pPr>
            <a:lvl6pPr marL="2754313" indent="-468313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rgbClr val="0000FF"/>
                </a:solidFill>
                <a:latin typeface="+mn-lt"/>
                <a:ea typeface="+mn-ea"/>
              </a:defRPr>
            </a:lvl6pPr>
            <a:lvl7pPr marL="3211513" indent="-468313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rgbClr val="0000FF"/>
                </a:solidFill>
                <a:latin typeface="+mn-lt"/>
                <a:ea typeface="+mn-ea"/>
              </a:defRPr>
            </a:lvl7pPr>
            <a:lvl8pPr marL="3668713" indent="-468313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rgbClr val="0000FF"/>
                </a:solidFill>
                <a:latin typeface="+mn-lt"/>
                <a:ea typeface="+mn-ea"/>
              </a:defRPr>
            </a:lvl8pPr>
            <a:lvl9pPr marL="4125913" indent="-468313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rgbClr val="0000FF"/>
                </a:solidFill>
                <a:latin typeface="+mn-lt"/>
                <a:ea typeface="+mn-ea"/>
              </a:defRPr>
            </a:lvl9pPr>
          </a:lstStyle>
          <a:p>
            <a:pPr marL="711200" indent="-711200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000" kern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class CIRCULAR_NUMBERS {</a:t>
            </a:r>
          </a:p>
          <a:p>
            <a:pPr marL="711200" indent="-711200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000" kern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  public:</a:t>
            </a:r>
          </a:p>
          <a:p>
            <a:pPr marL="711200" indent="-711200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000" kern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      CIRCULAR_NUMBERS(int min=0, int max=0, int value=0);</a:t>
            </a:r>
          </a:p>
          <a:p>
            <a:pPr marL="711200" indent="-711200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000" kern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      void </a:t>
            </a:r>
            <a:r>
              <a:rPr lang="en-US" altLang="zh-CN" sz="2000" kern="0" dirty="0" err="1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set_mode</a:t>
            </a:r>
            <a:r>
              <a:rPr lang="en-US" altLang="zh-CN" sz="2000" kern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(</a:t>
            </a:r>
            <a:r>
              <a:rPr lang="en-US" altLang="zh-CN" sz="2000" kern="0" dirty="0" err="1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int</a:t>
            </a:r>
            <a:r>
              <a:rPr lang="en-US" altLang="zh-CN" sz="2000" kern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 min, </a:t>
            </a:r>
            <a:r>
              <a:rPr lang="en-US" altLang="zh-CN" sz="2000" kern="0" dirty="0" err="1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int</a:t>
            </a:r>
            <a:r>
              <a:rPr lang="en-US" altLang="zh-CN" sz="2000" kern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 max);   //</a:t>
            </a:r>
            <a:r>
              <a:rPr lang="zh-CN" altLang="en-US" sz="2000" kern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设置循环计数器的上、下限</a:t>
            </a:r>
          </a:p>
          <a:p>
            <a:pPr marL="711200" indent="-711200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000" kern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      void </a:t>
            </a:r>
            <a:r>
              <a:rPr lang="en-US" altLang="zh-CN" sz="2000" kern="0" dirty="0" err="1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set_value</a:t>
            </a:r>
            <a:r>
              <a:rPr lang="en-US" altLang="zh-CN" sz="2000" kern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(int value);              //</a:t>
            </a:r>
            <a:r>
              <a:rPr lang="zh-CN" altLang="en-US" sz="2000" kern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设置循环计数器的当前值</a:t>
            </a:r>
          </a:p>
          <a:p>
            <a:pPr marL="711200" indent="-711200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2000" kern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      </a:t>
            </a:r>
            <a:r>
              <a:rPr lang="en-US" altLang="zh-CN" sz="2000" kern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int </a:t>
            </a:r>
            <a:r>
              <a:rPr lang="en-US" altLang="zh-CN" sz="2000" kern="0" dirty="0" err="1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get_value</a:t>
            </a:r>
            <a:r>
              <a:rPr lang="en-US" altLang="zh-CN" sz="2000" kern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();                             //</a:t>
            </a:r>
            <a:r>
              <a:rPr lang="zh-CN" altLang="en-US" sz="2000" kern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查询循环计数器的当前值</a:t>
            </a:r>
          </a:p>
          <a:p>
            <a:pPr marL="711200" indent="-711200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2000" kern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      </a:t>
            </a:r>
            <a:r>
              <a:rPr lang="en-US" altLang="zh-CN" sz="2000" kern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void increment();                           //</a:t>
            </a:r>
            <a:r>
              <a:rPr lang="zh-CN" altLang="en-US" sz="2000" kern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循环计数器加</a:t>
            </a:r>
            <a:r>
              <a:rPr lang="en-US" altLang="zh-CN" sz="2000" kern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1</a:t>
            </a:r>
          </a:p>
          <a:p>
            <a:pPr marL="711200" indent="-711200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000" kern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      void decrement();                          // </a:t>
            </a:r>
            <a:r>
              <a:rPr lang="zh-CN" altLang="en-US" sz="2000" kern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循环计数器减</a:t>
            </a:r>
            <a:r>
              <a:rPr lang="en-US" altLang="zh-CN" sz="2000" kern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1</a:t>
            </a:r>
          </a:p>
          <a:p>
            <a:pPr marL="711200" indent="-711200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000" kern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  private:   int </a:t>
            </a:r>
            <a:r>
              <a:rPr lang="en-US" altLang="zh-CN" sz="2000" kern="0" dirty="0" err="1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min_val</a:t>
            </a:r>
            <a:r>
              <a:rPr lang="en-US" altLang="zh-CN" sz="2000" kern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; // </a:t>
            </a:r>
            <a:r>
              <a:rPr lang="zh-CN" altLang="en-US" sz="2000" kern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最小值</a:t>
            </a:r>
          </a:p>
          <a:p>
            <a:pPr marL="711200" indent="-711200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2000" kern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                 </a:t>
            </a:r>
            <a:r>
              <a:rPr lang="en-US" altLang="zh-CN" sz="2000" kern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int </a:t>
            </a:r>
            <a:r>
              <a:rPr lang="en-US" altLang="zh-CN" sz="2000" kern="0" dirty="0" err="1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max_val</a:t>
            </a:r>
            <a:r>
              <a:rPr lang="en-US" altLang="zh-CN" sz="2000" kern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; // </a:t>
            </a:r>
            <a:r>
              <a:rPr lang="zh-CN" altLang="en-US" sz="2000" kern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最大值</a:t>
            </a:r>
          </a:p>
          <a:p>
            <a:pPr marL="711200" indent="-711200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000" kern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	      int current; // </a:t>
            </a:r>
            <a:r>
              <a:rPr lang="zh-CN" altLang="en-US" sz="2000" kern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当前值</a:t>
            </a:r>
          </a:p>
          <a:p>
            <a:pPr marL="711200" indent="-711200">
              <a:lnSpc>
                <a:spcPct val="80000"/>
              </a:lnSpc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r>
              <a:rPr lang="zh-CN" altLang="en-US" sz="2000" kern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 </a:t>
            </a:r>
            <a:r>
              <a:rPr lang="en-US" altLang="zh-CN" sz="2000" kern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};</a:t>
            </a:r>
          </a:p>
        </p:txBody>
      </p:sp>
      <p:sp>
        <p:nvSpPr>
          <p:cNvPr id="11" name="矩形 1">
            <a:extLst>
              <a:ext uri="{FF2B5EF4-FFF2-40B4-BE49-F238E27FC236}">
                <a16:creationId xmlns:a16="http://schemas.microsoft.com/office/drawing/2014/main" id="{12F4A6FC-3E84-4CE9-8A46-4DF3BAE9B2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793076"/>
            <a:ext cx="10945812" cy="206492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>
            <a:spAutoFit/>
          </a:bodyPr>
          <a:lstStyle>
            <a:lvl1pPr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just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b="0" dirty="0">
                <a:solidFill>
                  <a:srgbClr val="104E87"/>
                </a:solidFill>
                <a:latin typeface="Comic Sans MS" panose="030F0702030302020204" pitchFamily="66" charset="0"/>
              </a:rPr>
              <a:t>CIRCULAR_NUMBERS::CIRCULAR_NUMBERS(int min, int max, int value)</a:t>
            </a:r>
          </a:p>
          <a:p>
            <a:pPr algn="just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b="0" dirty="0">
                <a:solidFill>
                  <a:srgbClr val="104E87"/>
                </a:solidFill>
                <a:latin typeface="Comic Sans MS" panose="030F0702030302020204" pitchFamily="66" charset="0"/>
              </a:rPr>
              <a:t>{	</a:t>
            </a:r>
            <a:r>
              <a:rPr lang="en-US" altLang="zh-CN" b="0" dirty="0" err="1">
                <a:solidFill>
                  <a:srgbClr val="104E87"/>
                </a:solidFill>
                <a:latin typeface="Comic Sans MS" panose="030F0702030302020204" pitchFamily="66" charset="0"/>
              </a:rPr>
              <a:t>min_val</a:t>
            </a:r>
            <a:r>
              <a:rPr lang="en-US" altLang="zh-CN" b="0" dirty="0">
                <a:solidFill>
                  <a:srgbClr val="104E87"/>
                </a:solidFill>
                <a:latin typeface="Comic Sans MS" panose="030F0702030302020204" pitchFamily="66" charset="0"/>
              </a:rPr>
              <a:t> = (min &lt;= max) ? min : max;</a:t>
            </a:r>
          </a:p>
          <a:p>
            <a:pPr algn="just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b="0" dirty="0">
                <a:solidFill>
                  <a:srgbClr val="104E87"/>
                </a:solidFill>
                <a:latin typeface="Comic Sans MS" panose="030F0702030302020204" pitchFamily="66" charset="0"/>
              </a:rPr>
              <a:t>	</a:t>
            </a:r>
            <a:r>
              <a:rPr lang="en-US" altLang="zh-CN" b="0" dirty="0" err="1">
                <a:solidFill>
                  <a:srgbClr val="104E87"/>
                </a:solidFill>
                <a:latin typeface="Comic Sans MS" panose="030F0702030302020204" pitchFamily="66" charset="0"/>
              </a:rPr>
              <a:t>max_val</a:t>
            </a:r>
            <a:r>
              <a:rPr lang="en-US" altLang="zh-CN" b="0" dirty="0">
                <a:solidFill>
                  <a:srgbClr val="104E87"/>
                </a:solidFill>
                <a:latin typeface="Comic Sans MS" panose="030F0702030302020204" pitchFamily="66" charset="0"/>
              </a:rPr>
              <a:t> = (min &lt;= max) ? max : min;</a:t>
            </a:r>
          </a:p>
          <a:p>
            <a:pPr algn="just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b="0" dirty="0">
                <a:solidFill>
                  <a:srgbClr val="104E87"/>
                </a:solidFill>
                <a:latin typeface="Comic Sans MS" panose="030F0702030302020204" pitchFamily="66" charset="0"/>
              </a:rPr>
              <a:t>	if (value &lt; </a:t>
            </a:r>
            <a:r>
              <a:rPr lang="en-US" altLang="zh-CN" b="0" dirty="0" err="1">
                <a:solidFill>
                  <a:srgbClr val="104E87"/>
                </a:solidFill>
                <a:latin typeface="Comic Sans MS" panose="030F0702030302020204" pitchFamily="66" charset="0"/>
              </a:rPr>
              <a:t>min_val</a:t>
            </a:r>
            <a:r>
              <a:rPr lang="en-US" altLang="zh-CN" b="0" dirty="0">
                <a:solidFill>
                  <a:srgbClr val="104E87"/>
                </a:solidFill>
                <a:latin typeface="Comic Sans MS" panose="030F0702030302020204" pitchFamily="66" charset="0"/>
              </a:rPr>
              <a:t>) current = </a:t>
            </a:r>
            <a:r>
              <a:rPr lang="en-US" altLang="zh-CN" b="0" dirty="0" err="1">
                <a:solidFill>
                  <a:srgbClr val="104E87"/>
                </a:solidFill>
                <a:latin typeface="Comic Sans MS" panose="030F0702030302020204" pitchFamily="66" charset="0"/>
              </a:rPr>
              <a:t>min_val</a:t>
            </a:r>
            <a:r>
              <a:rPr lang="en-US" altLang="zh-CN" b="0" dirty="0">
                <a:solidFill>
                  <a:srgbClr val="104E87"/>
                </a:solidFill>
                <a:latin typeface="Comic Sans MS" panose="030F0702030302020204" pitchFamily="66" charset="0"/>
              </a:rPr>
              <a:t>;</a:t>
            </a:r>
          </a:p>
          <a:p>
            <a:pPr algn="just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b="0" dirty="0">
                <a:solidFill>
                  <a:srgbClr val="104E87"/>
                </a:solidFill>
                <a:latin typeface="Comic Sans MS" panose="030F0702030302020204" pitchFamily="66" charset="0"/>
              </a:rPr>
              <a:t>	else {    if (value &gt; </a:t>
            </a:r>
            <a:r>
              <a:rPr lang="en-US" altLang="zh-CN" b="0" dirty="0" err="1">
                <a:solidFill>
                  <a:srgbClr val="104E87"/>
                </a:solidFill>
                <a:latin typeface="Comic Sans MS" panose="030F0702030302020204" pitchFamily="66" charset="0"/>
              </a:rPr>
              <a:t>max_val</a:t>
            </a:r>
            <a:r>
              <a:rPr lang="en-US" altLang="zh-CN" b="0" dirty="0">
                <a:solidFill>
                  <a:srgbClr val="104E87"/>
                </a:solidFill>
                <a:latin typeface="Comic Sans MS" panose="030F0702030302020204" pitchFamily="66" charset="0"/>
              </a:rPr>
              <a:t>) current = </a:t>
            </a:r>
            <a:r>
              <a:rPr lang="en-US" altLang="zh-CN" b="0" dirty="0" err="1">
                <a:solidFill>
                  <a:srgbClr val="104E87"/>
                </a:solidFill>
                <a:latin typeface="Comic Sans MS" panose="030F0702030302020204" pitchFamily="66" charset="0"/>
              </a:rPr>
              <a:t>max_val</a:t>
            </a:r>
            <a:r>
              <a:rPr lang="en-US" altLang="zh-CN" b="0" dirty="0">
                <a:solidFill>
                  <a:srgbClr val="104E87"/>
                </a:solidFill>
                <a:latin typeface="Comic Sans MS" panose="030F0702030302020204" pitchFamily="66" charset="0"/>
              </a:rPr>
              <a:t>;</a:t>
            </a:r>
          </a:p>
          <a:p>
            <a:pPr algn="just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b="0" dirty="0">
                <a:solidFill>
                  <a:srgbClr val="104E87"/>
                </a:solidFill>
                <a:latin typeface="Comic Sans MS" panose="030F0702030302020204" pitchFamily="66" charset="0"/>
              </a:rPr>
              <a:t>		     else current = value;</a:t>
            </a:r>
          </a:p>
          <a:p>
            <a:pPr algn="just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b="0" dirty="0">
                <a:solidFill>
                  <a:srgbClr val="104E87"/>
                </a:solidFill>
                <a:latin typeface="Comic Sans MS" panose="030F0702030302020204" pitchFamily="66" charset="0"/>
              </a:rPr>
              <a:t>	}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b="0" dirty="0">
                <a:solidFill>
                  <a:srgbClr val="104E87"/>
                </a:solidFill>
                <a:latin typeface="Comic Sans MS" panose="030F0702030302020204" pitchFamily="66" charset="0"/>
              </a:rPr>
              <a:t>}</a:t>
            </a:r>
            <a:r>
              <a:rPr lang="en-US" altLang="zh-CN" b="0" dirty="0">
                <a:solidFill>
                  <a:srgbClr val="104E87"/>
                </a:solidFill>
                <a:latin typeface="Comic Sans MS" panose="030F0702030302020204" pitchFamily="66" charset="0"/>
                <a:ea typeface="黑体" panose="02010609060101010101" pitchFamily="49" charset="-122"/>
              </a:rPr>
              <a:t> 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9FE717A5-89F8-4C76-84A6-37718A89F02B}"/>
              </a:ext>
            </a:extLst>
          </p:cNvPr>
          <p:cNvSpPr txBox="1"/>
          <p:nvPr/>
        </p:nvSpPr>
        <p:spPr>
          <a:xfrm>
            <a:off x="6230937" y="953444"/>
            <a:ext cx="2484437" cy="5238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zh-CN" altLang="en-US" sz="2800" dirty="0">
                <a:solidFill>
                  <a:srgbClr val="FF0000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循环计数器类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AA0EBFAE-1ABB-48A6-B76B-0CCB8427D420}"/>
              </a:ext>
            </a:extLst>
          </p:cNvPr>
          <p:cNvSpPr txBox="1"/>
          <p:nvPr/>
        </p:nvSpPr>
        <p:spPr>
          <a:xfrm>
            <a:off x="247719" y="224527"/>
            <a:ext cx="802877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kumimoji="1" sz="3200" b="1">
                <a:latin typeface="华光胖头鱼_CNKI" panose="02000500000000000000" pitchFamily="2" charset="-122"/>
                <a:ea typeface="华光胖头鱼_CNKI" panose="02000500000000000000" pitchFamily="2" charset="-122"/>
              </a:defRPr>
            </a:lvl1pPr>
          </a:lstStyle>
          <a:p>
            <a:r>
              <a:rPr lang="en-US" altLang="zh-CN" dirty="0"/>
              <a:t>7.8</a:t>
            </a:r>
            <a:r>
              <a:rPr lang="zh-CN" altLang="en-US" dirty="0"/>
              <a:t>编程案例：模拟数字时钟</a:t>
            </a:r>
          </a:p>
        </p:txBody>
      </p:sp>
    </p:spTree>
    <p:extLst>
      <p:ext uri="{BB962C8B-B14F-4D97-AF65-F5344CB8AC3E}">
        <p14:creationId xmlns:p14="http://schemas.microsoft.com/office/powerpoint/2010/main" val="26080279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0A6AFAA0-4112-4B8A-A83A-8E4C7768D97E}"/>
              </a:ext>
            </a:extLst>
          </p:cNvPr>
          <p:cNvSpPr/>
          <p:nvPr/>
        </p:nvSpPr>
        <p:spPr>
          <a:xfrm>
            <a:off x="794" y="176798"/>
            <a:ext cx="12190413" cy="728917"/>
          </a:xfrm>
          <a:prstGeom prst="rect">
            <a:avLst/>
          </a:prstGeom>
          <a:solidFill>
            <a:srgbClr val="26CC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3200"/>
          </a:p>
        </p:txBody>
      </p:sp>
      <p:cxnSp>
        <p:nvCxnSpPr>
          <p:cNvPr id="3" name="直线连接符 6">
            <a:extLst>
              <a:ext uri="{FF2B5EF4-FFF2-40B4-BE49-F238E27FC236}">
                <a16:creationId xmlns:a16="http://schemas.microsoft.com/office/drawing/2014/main" id="{7A5524DC-FCCA-4A5F-94B4-CD6A52B5CE6C}"/>
              </a:ext>
            </a:extLst>
          </p:cNvPr>
          <p:cNvCxnSpPr/>
          <p:nvPr/>
        </p:nvCxnSpPr>
        <p:spPr>
          <a:xfrm>
            <a:off x="1587" y="905715"/>
            <a:ext cx="12190413" cy="0"/>
          </a:xfrm>
          <a:prstGeom prst="line">
            <a:avLst/>
          </a:prstGeom>
          <a:ln>
            <a:solidFill>
              <a:srgbClr val="104D7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3">
            <a:extLst>
              <a:ext uri="{FF2B5EF4-FFF2-40B4-BE49-F238E27FC236}">
                <a16:creationId xmlns:a16="http://schemas.microsoft.com/office/drawing/2014/main" id="{087BEA7D-FB21-4FFB-AE39-881AD84381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87" y="953444"/>
            <a:ext cx="7003897" cy="5904555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0000"/>
              <a:buFont typeface="Wingdings" panose="05000000000000000000" pitchFamily="2" charset="2"/>
              <a:buChar char="o"/>
              <a:defRPr sz="3200">
                <a:solidFill>
                  <a:srgbClr val="0000FF"/>
                </a:solidFill>
                <a:latin typeface="+mn-lt"/>
                <a:ea typeface="+mn-ea"/>
                <a:cs typeface="+mn-cs"/>
              </a:defRPr>
            </a:lvl1pPr>
            <a:lvl2pPr marL="908050" indent="-436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rgbClr val="0000FF"/>
                </a:solidFill>
                <a:latin typeface="+mn-lt"/>
                <a:ea typeface="+mn-ea"/>
              </a:defRPr>
            </a:lvl2pPr>
            <a:lvl3pPr marL="1377950" indent="-4683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o"/>
              <a:defRPr sz="2400">
                <a:solidFill>
                  <a:srgbClr val="0000FF"/>
                </a:solidFill>
                <a:latin typeface="+mn-lt"/>
                <a:ea typeface="+mn-ea"/>
              </a:defRPr>
            </a:lvl3pPr>
            <a:lvl4pPr marL="1827213" indent="-4381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anose="05000000000000000000" pitchFamily="2" charset="2"/>
              <a:buChar char="n"/>
              <a:defRPr sz="2000">
                <a:solidFill>
                  <a:srgbClr val="0000FF"/>
                </a:solidFill>
                <a:latin typeface="+mn-lt"/>
                <a:ea typeface="+mn-ea"/>
              </a:defRPr>
            </a:lvl4pPr>
            <a:lvl5pPr marL="2297113" indent="-4683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+mn-lt"/>
                <a:ea typeface="+mn-ea"/>
              </a:defRPr>
            </a:lvl5pPr>
            <a:lvl6pPr marL="2754313" indent="-468313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rgbClr val="0000FF"/>
                </a:solidFill>
                <a:latin typeface="+mn-lt"/>
                <a:ea typeface="+mn-ea"/>
              </a:defRPr>
            </a:lvl6pPr>
            <a:lvl7pPr marL="3211513" indent="-468313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rgbClr val="0000FF"/>
                </a:solidFill>
                <a:latin typeface="+mn-lt"/>
                <a:ea typeface="+mn-ea"/>
              </a:defRPr>
            </a:lvl7pPr>
            <a:lvl8pPr marL="3668713" indent="-468313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rgbClr val="0000FF"/>
                </a:solidFill>
                <a:latin typeface="+mn-lt"/>
                <a:ea typeface="+mn-ea"/>
              </a:defRPr>
            </a:lvl8pPr>
            <a:lvl9pPr marL="4125913" indent="-468313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rgbClr val="0000FF"/>
                </a:solidFill>
                <a:latin typeface="+mn-lt"/>
                <a:ea typeface="+mn-ea"/>
              </a:defRPr>
            </a:lvl9pPr>
          </a:lstStyle>
          <a:p>
            <a:pPr marL="0" indent="0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en-US" sz="2000" kern="0" dirty="0">
                <a:solidFill>
                  <a:srgbClr val="104E87"/>
                </a:solidFill>
                <a:latin typeface="Comic Sans MS" panose="030F0702030302020204" pitchFamily="66" charset="0"/>
              </a:rPr>
              <a:t>void CIRCULAR_NUMBERS::</a:t>
            </a:r>
            <a:r>
              <a:rPr lang="en-US" altLang="en-US" sz="2000" kern="0" dirty="0" err="1">
                <a:solidFill>
                  <a:srgbClr val="104E87"/>
                </a:solidFill>
                <a:latin typeface="Comic Sans MS" panose="030F0702030302020204" pitchFamily="66" charset="0"/>
              </a:rPr>
              <a:t>set_mode</a:t>
            </a:r>
            <a:r>
              <a:rPr lang="en-US" altLang="en-US" sz="2000" kern="0" dirty="0">
                <a:solidFill>
                  <a:srgbClr val="104E87"/>
                </a:solidFill>
                <a:latin typeface="Comic Sans MS" panose="030F0702030302020204" pitchFamily="66" charset="0"/>
              </a:rPr>
              <a:t>(</a:t>
            </a:r>
            <a:r>
              <a:rPr lang="en-US" altLang="en-US" sz="2000" kern="0" dirty="0" err="1">
                <a:solidFill>
                  <a:srgbClr val="104E87"/>
                </a:solidFill>
                <a:latin typeface="Comic Sans MS" panose="030F0702030302020204" pitchFamily="66" charset="0"/>
              </a:rPr>
              <a:t>int</a:t>
            </a:r>
            <a:r>
              <a:rPr lang="en-US" altLang="en-US" sz="2000" kern="0" dirty="0">
                <a:solidFill>
                  <a:srgbClr val="104E87"/>
                </a:solidFill>
                <a:latin typeface="Comic Sans MS" panose="030F0702030302020204" pitchFamily="66" charset="0"/>
              </a:rPr>
              <a:t> min, </a:t>
            </a:r>
            <a:r>
              <a:rPr lang="en-US" altLang="en-US" sz="2000" kern="0" dirty="0" err="1">
                <a:solidFill>
                  <a:srgbClr val="104E87"/>
                </a:solidFill>
                <a:latin typeface="Comic Sans MS" panose="030F0702030302020204" pitchFamily="66" charset="0"/>
              </a:rPr>
              <a:t>int</a:t>
            </a:r>
            <a:r>
              <a:rPr lang="en-US" altLang="en-US" sz="2000" kern="0" dirty="0">
                <a:solidFill>
                  <a:srgbClr val="104E87"/>
                </a:solidFill>
                <a:latin typeface="Comic Sans MS" panose="030F0702030302020204" pitchFamily="66" charset="0"/>
              </a:rPr>
              <a:t> max)</a:t>
            </a:r>
          </a:p>
          <a:p>
            <a:pPr marL="0" indent="0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en-US" sz="2000" kern="0" dirty="0">
                <a:solidFill>
                  <a:srgbClr val="104E87"/>
                </a:solidFill>
                <a:latin typeface="Comic Sans MS" panose="030F0702030302020204" pitchFamily="66" charset="0"/>
              </a:rPr>
              <a:t>{     </a:t>
            </a:r>
            <a:r>
              <a:rPr lang="en-US" altLang="en-US" sz="2000" kern="0" dirty="0" err="1">
                <a:solidFill>
                  <a:srgbClr val="104E87"/>
                </a:solidFill>
                <a:latin typeface="Comic Sans MS" panose="030F0702030302020204" pitchFamily="66" charset="0"/>
              </a:rPr>
              <a:t>min_val</a:t>
            </a:r>
            <a:r>
              <a:rPr lang="en-US" altLang="en-US" sz="2000" kern="0" dirty="0">
                <a:solidFill>
                  <a:srgbClr val="104E87"/>
                </a:solidFill>
                <a:latin typeface="Comic Sans MS" panose="030F0702030302020204" pitchFamily="66" charset="0"/>
              </a:rPr>
              <a:t>=min;</a:t>
            </a:r>
          </a:p>
          <a:p>
            <a:pPr marL="0" indent="0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en-US" sz="2000" kern="0" dirty="0">
                <a:solidFill>
                  <a:srgbClr val="104E87"/>
                </a:solidFill>
                <a:latin typeface="Comic Sans MS" panose="030F0702030302020204" pitchFamily="66" charset="0"/>
              </a:rPr>
              <a:t>      </a:t>
            </a:r>
            <a:r>
              <a:rPr lang="en-US" altLang="en-US" sz="2000" kern="0" dirty="0" err="1">
                <a:solidFill>
                  <a:srgbClr val="104E87"/>
                </a:solidFill>
                <a:latin typeface="Comic Sans MS" panose="030F0702030302020204" pitchFamily="66" charset="0"/>
              </a:rPr>
              <a:t>max_val</a:t>
            </a:r>
            <a:r>
              <a:rPr lang="en-US" altLang="en-US" sz="2000" kern="0" dirty="0">
                <a:solidFill>
                  <a:srgbClr val="104E87"/>
                </a:solidFill>
                <a:latin typeface="Comic Sans MS" panose="030F0702030302020204" pitchFamily="66" charset="0"/>
              </a:rPr>
              <a:t>=max;</a:t>
            </a:r>
          </a:p>
          <a:p>
            <a:pPr marL="0" indent="0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en-US" sz="2000" kern="0" dirty="0">
                <a:solidFill>
                  <a:srgbClr val="104E87"/>
                </a:solidFill>
                <a:latin typeface="Comic Sans MS" panose="030F0702030302020204" pitchFamily="66" charset="0"/>
              </a:rPr>
              <a:t>}</a:t>
            </a:r>
          </a:p>
          <a:p>
            <a:pPr marL="0" indent="0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en-US" sz="2000" kern="0" dirty="0">
                <a:solidFill>
                  <a:srgbClr val="104E87"/>
                </a:solidFill>
                <a:latin typeface="Comic Sans MS" panose="030F0702030302020204" pitchFamily="66" charset="0"/>
              </a:rPr>
              <a:t>void CIRCULAR_NUMBERS::</a:t>
            </a:r>
            <a:r>
              <a:rPr lang="en-US" altLang="en-US" sz="2000" kern="0" dirty="0" err="1">
                <a:solidFill>
                  <a:srgbClr val="104E87"/>
                </a:solidFill>
                <a:latin typeface="Comic Sans MS" panose="030F0702030302020204" pitchFamily="66" charset="0"/>
              </a:rPr>
              <a:t>set_value</a:t>
            </a:r>
            <a:r>
              <a:rPr lang="en-US" altLang="en-US" sz="2000" kern="0" dirty="0">
                <a:solidFill>
                  <a:srgbClr val="104E87"/>
                </a:solidFill>
                <a:latin typeface="Comic Sans MS" panose="030F0702030302020204" pitchFamily="66" charset="0"/>
              </a:rPr>
              <a:t>(</a:t>
            </a:r>
            <a:r>
              <a:rPr lang="en-US" altLang="en-US" sz="2000" kern="0" dirty="0" err="1">
                <a:solidFill>
                  <a:srgbClr val="104E87"/>
                </a:solidFill>
                <a:latin typeface="Comic Sans MS" panose="030F0702030302020204" pitchFamily="66" charset="0"/>
              </a:rPr>
              <a:t>int</a:t>
            </a:r>
            <a:r>
              <a:rPr lang="en-US" altLang="en-US" sz="2000" kern="0" dirty="0">
                <a:solidFill>
                  <a:srgbClr val="104E87"/>
                </a:solidFill>
                <a:latin typeface="Comic Sans MS" panose="030F0702030302020204" pitchFamily="66" charset="0"/>
              </a:rPr>
              <a:t> value)</a:t>
            </a:r>
          </a:p>
          <a:p>
            <a:pPr marL="0" indent="0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en-US" sz="2000" kern="0" dirty="0">
                <a:solidFill>
                  <a:srgbClr val="104E87"/>
                </a:solidFill>
                <a:latin typeface="Comic Sans MS" panose="030F0702030302020204" pitchFamily="66" charset="0"/>
              </a:rPr>
              <a:t>{	current=value;</a:t>
            </a:r>
          </a:p>
          <a:p>
            <a:pPr marL="0" indent="0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en-US" sz="2000" kern="0" dirty="0">
                <a:solidFill>
                  <a:srgbClr val="104E87"/>
                </a:solidFill>
                <a:latin typeface="Comic Sans MS" panose="030F0702030302020204" pitchFamily="66" charset="0"/>
              </a:rPr>
              <a:t>}</a:t>
            </a:r>
          </a:p>
          <a:p>
            <a:pPr marL="0" indent="0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en-US" sz="2000" kern="0" dirty="0" err="1">
                <a:solidFill>
                  <a:srgbClr val="104E87"/>
                </a:solidFill>
                <a:latin typeface="Comic Sans MS" panose="030F0702030302020204" pitchFamily="66" charset="0"/>
              </a:rPr>
              <a:t>int</a:t>
            </a:r>
            <a:r>
              <a:rPr lang="en-US" altLang="en-US" sz="2000" kern="0" dirty="0">
                <a:solidFill>
                  <a:srgbClr val="104E87"/>
                </a:solidFill>
                <a:latin typeface="Comic Sans MS" panose="030F0702030302020204" pitchFamily="66" charset="0"/>
              </a:rPr>
              <a:t> CIRCULAR_NUMBERS::</a:t>
            </a:r>
            <a:r>
              <a:rPr lang="en-US" altLang="en-US" sz="2000" kern="0" dirty="0" err="1">
                <a:solidFill>
                  <a:srgbClr val="104E87"/>
                </a:solidFill>
                <a:latin typeface="Comic Sans MS" panose="030F0702030302020204" pitchFamily="66" charset="0"/>
              </a:rPr>
              <a:t>get_value</a:t>
            </a:r>
            <a:r>
              <a:rPr lang="en-US" altLang="en-US" sz="2000" kern="0" dirty="0">
                <a:solidFill>
                  <a:srgbClr val="104E87"/>
                </a:solidFill>
                <a:latin typeface="Comic Sans MS" panose="030F0702030302020204" pitchFamily="66" charset="0"/>
              </a:rPr>
              <a:t>()</a:t>
            </a:r>
          </a:p>
          <a:p>
            <a:pPr marL="0" indent="0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en-US" sz="2000" kern="0" dirty="0">
                <a:solidFill>
                  <a:srgbClr val="104E87"/>
                </a:solidFill>
                <a:latin typeface="Comic Sans MS" panose="030F0702030302020204" pitchFamily="66" charset="0"/>
              </a:rPr>
              <a:t>{	return current;</a:t>
            </a:r>
          </a:p>
          <a:p>
            <a:pPr marL="0" indent="0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en-US" sz="2000" kern="0" dirty="0">
                <a:solidFill>
                  <a:srgbClr val="104E87"/>
                </a:solidFill>
                <a:latin typeface="Comic Sans MS" panose="030F0702030302020204" pitchFamily="66" charset="0"/>
              </a:rPr>
              <a:t>}</a:t>
            </a:r>
          </a:p>
          <a:p>
            <a:pPr marL="0" indent="0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en-US" sz="2000" dirty="0">
                <a:solidFill>
                  <a:srgbClr val="104E87"/>
                </a:solidFill>
                <a:latin typeface="Comic Sans MS" panose="030F0702030302020204" pitchFamily="66" charset="0"/>
              </a:rPr>
              <a:t>void CIRCULAR_NUMBERS::increment()</a:t>
            </a:r>
          </a:p>
          <a:p>
            <a:pPr marL="0" indent="0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en-US" sz="2000" dirty="0">
                <a:solidFill>
                  <a:srgbClr val="104E87"/>
                </a:solidFill>
                <a:latin typeface="Comic Sans MS" panose="030F0702030302020204" pitchFamily="66" charset="0"/>
              </a:rPr>
              <a:t>{int mode=max_val-min_val+1;</a:t>
            </a:r>
          </a:p>
          <a:p>
            <a:pPr marL="0" indent="0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en-US" sz="2000" dirty="0">
                <a:solidFill>
                  <a:srgbClr val="104E87"/>
                </a:solidFill>
                <a:latin typeface="Comic Sans MS" panose="030F0702030302020204" pitchFamily="66" charset="0"/>
              </a:rPr>
              <a:t> current=((current-</a:t>
            </a:r>
            <a:r>
              <a:rPr lang="en-US" altLang="en-US" sz="2000" dirty="0" err="1">
                <a:solidFill>
                  <a:srgbClr val="104E87"/>
                </a:solidFill>
                <a:latin typeface="Comic Sans MS" panose="030F0702030302020204" pitchFamily="66" charset="0"/>
              </a:rPr>
              <a:t>min_val</a:t>
            </a:r>
            <a:r>
              <a:rPr lang="en-US" altLang="en-US" sz="2000" dirty="0">
                <a:solidFill>
                  <a:srgbClr val="104E87"/>
                </a:solidFill>
                <a:latin typeface="Comic Sans MS" panose="030F0702030302020204" pitchFamily="66" charset="0"/>
              </a:rPr>
              <a:t>)+1)%</a:t>
            </a:r>
            <a:r>
              <a:rPr lang="en-US" altLang="en-US" sz="2000" dirty="0" err="1">
                <a:solidFill>
                  <a:srgbClr val="104E87"/>
                </a:solidFill>
                <a:latin typeface="Comic Sans MS" panose="030F0702030302020204" pitchFamily="66" charset="0"/>
              </a:rPr>
              <a:t>mode+min_val</a:t>
            </a:r>
            <a:r>
              <a:rPr lang="en-US" altLang="en-US" sz="2000" dirty="0">
                <a:solidFill>
                  <a:srgbClr val="104E87"/>
                </a:solidFill>
                <a:latin typeface="Comic Sans MS" panose="030F0702030302020204" pitchFamily="66" charset="0"/>
              </a:rPr>
              <a:t>;</a:t>
            </a:r>
          </a:p>
          <a:p>
            <a:pPr marL="0" indent="0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en-US" sz="2000" dirty="0">
                <a:solidFill>
                  <a:srgbClr val="104E87"/>
                </a:solidFill>
                <a:latin typeface="Comic Sans MS" panose="030F0702030302020204" pitchFamily="66" charset="0"/>
              </a:rPr>
              <a:t>}</a:t>
            </a:r>
          </a:p>
          <a:p>
            <a:pPr marL="0" indent="0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en-US" sz="2000" dirty="0">
                <a:solidFill>
                  <a:srgbClr val="104E87"/>
                </a:solidFill>
                <a:latin typeface="Comic Sans MS" panose="030F0702030302020204" pitchFamily="66" charset="0"/>
              </a:rPr>
              <a:t>void CIRCULAR_NUMBERS::decrement()</a:t>
            </a:r>
          </a:p>
          <a:p>
            <a:pPr marL="0" indent="0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en-US" sz="2000" dirty="0">
                <a:solidFill>
                  <a:srgbClr val="104E87"/>
                </a:solidFill>
                <a:latin typeface="Comic Sans MS" panose="030F0702030302020204" pitchFamily="66" charset="0"/>
              </a:rPr>
              <a:t>{	</a:t>
            </a:r>
            <a:r>
              <a:rPr lang="en-US" altLang="en-US" sz="2000" dirty="0" err="1">
                <a:solidFill>
                  <a:srgbClr val="104E87"/>
                </a:solidFill>
                <a:latin typeface="Comic Sans MS" panose="030F0702030302020204" pitchFamily="66" charset="0"/>
              </a:rPr>
              <a:t>int</a:t>
            </a:r>
            <a:r>
              <a:rPr lang="en-US" altLang="en-US" sz="2000" dirty="0">
                <a:solidFill>
                  <a:srgbClr val="104E87"/>
                </a:solidFill>
                <a:latin typeface="Comic Sans MS" panose="030F0702030302020204" pitchFamily="66" charset="0"/>
              </a:rPr>
              <a:t> mode=max_val-min_val+1;</a:t>
            </a:r>
          </a:p>
          <a:p>
            <a:pPr marL="0" indent="0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en-US" sz="2000" dirty="0">
                <a:solidFill>
                  <a:srgbClr val="104E87"/>
                </a:solidFill>
                <a:latin typeface="Comic Sans MS" panose="030F0702030302020204" pitchFamily="66" charset="0"/>
              </a:rPr>
              <a:t>	current=((current-</a:t>
            </a:r>
            <a:r>
              <a:rPr lang="en-US" altLang="en-US" sz="2000" dirty="0" err="1">
                <a:solidFill>
                  <a:srgbClr val="104E87"/>
                </a:solidFill>
                <a:latin typeface="Comic Sans MS" panose="030F0702030302020204" pitchFamily="66" charset="0"/>
              </a:rPr>
              <a:t>min_val</a:t>
            </a:r>
            <a:r>
              <a:rPr lang="en-US" altLang="en-US" sz="2000" dirty="0">
                <a:solidFill>
                  <a:srgbClr val="104E87"/>
                </a:solidFill>
                <a:latin typeface="Comic Sans MS" panose="030F0702030302020204" pitchFamily="66" charset="0"/>
              </a:rPr>
              <a:t>)-1+mode)%</a:t>
            </a:r>
            <a:r>
              <a:rPr lang="en-US" altLang="en-US" sz="2000" dirty="0" err="1">
                <a:solidFill>
                  <a:srgbClr val="104E87"/>
                </a:solidFill>
                <a:latin typeface="Comic Sans MS" panose="030F0702030302020204" pitchFamily="66" charset="0"/>
              </a:rPr>
              <a:t>mode+min_val</a:t>
            </a:r>
            <a:r>
              <a:rPr lang="en-US" altLang="en-US" sz="2000" dirty="0">
                <a:solidFill>
                  <a:srgbClr val="104E87"/>
                </a:solidFill>
                <a:latin typeface="Comic Sans MS" panose="030F0702030302020204" pitchFamily="66" charset="0"/>
              </a:rPr>
              <a:t>;</a:t>
            </a:r>
          </a:p>
          <a:p>
            <a:pPr marL="0" indent="0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en-US" sz="2000" dirty="0">
                <a:solidFill>
                  <a:srgbClr val="104E87"/>
                </a:solidFill>
                <a:latin typeface="Comic Sans MS" panose="030F0702030302020204" pitchFamily="66" charset="0"/>
              </a:rPr>
              <a:t>}</a:t>
            </a:r>
            <a:endParaRPr lang="en-US" altLang="zh-CN" sz="2000" dirty="0">
              <a:solidFill>
                <a:srgbClr val="104E87"/>
              </a:solidFill>
              <a:latin typeface="Comic Sans MS" panose="030F0702030302020204" pitchFamily="66" charset="0"/>
            </a:endParaRPr>
          </a:p>
          <a:p>
            <a:pPr marL="0" indent="0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endParaRPr lang="en-US" altLang="en-US" sz="2000" kern="0" dirty="0">
              <a:solidFill>
                <a:srgbClr val="104E87"/>
              </a:solidFill>
              <a:latin typeface="Comic Sans MS" panose="030F0702030302020204" pitchFamily="66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E8D7DB8-61D8-4272-BA10-FBC1678CFB17}"/>
              </a:ext>
            </a:extLst>
          </p:cNvPr>
          <p:cNvSpPr txBox="1"/>
          <p:nvPr/>
        </p:nvSpPr>
        <p:spPr>
          <a:xfrm>
            <a:off x="247719" y="224527"/>
            <a:ext cx="802877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kumimoji="1" sz="3200" b="1">
                <a:latin typeface="华光胖头鱼_CNKI" panose="02000500000000000000" pitchFamily="2" charset="-122"/>
                <a:ea typeface="华光胖头鱼_CNKI" panose="02000500000000000000" pitchFamily="2" charset="-122"/>
              </a:defRPr>
            </a:lvl1pPr>
          </a:lstStyle>
          <a:p>
            <a:r>
              <a:rPr lang="en-US" altLang="zh-CN" dirty="0"/>
              <a:t>7.8</a:t>
            </a:r>
            <a:r>
              <a:rPr lang="zh-CN" altLang="en-US" dirty="0"/>
              <a:t>编程案例：模拟数字时钟</a:t>
            </a:r>
          </a:p>
        </p:txBody>
      </p:sp>
    </p:spTree>
    <p:extLst>
      <p:ext uri="{BB962C8B-B14F-4D97-AF65-F5344CB8AC3E}">
        <p14:creationId xmlns:p14="http://schemas.microsoft.com/office/powerpoint/2010/main" val="57920070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0A6AFAA0-4112-4B8A-A83A-8E4C7768D97E}"/>
              </a:ext>
            </a:extLst>
          </p:cNvPr>
          <p:cNvSpPr/>
          <p:nvPr/>
        </p:nvSpPr>
        <p:spPr>
          <a:xfrm>
            <a:off x="794" y="176798"/>
            <a:ext cx="12190413" cy="728917"/>
          </a:xfrm>
          <a:prstGeom prst="rect">
            <a:avLst/>
          </a:prstGeom>
          <a:solidFill>
            <a:srgbClr val="26CC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3200"/>
          </a:p>
        </p:txBody>
      </p:sp>
      <p:cxnSp>
        <p:nvCxnSpPr>
          <p:cNvPr id="3" name="直线连接符 6">
            <a:extLst>
              <a:ext uri="{FF2B5EF4-FFF2-40B4-BE49-F238E27FC236}">
                <a16:creationId xmlns:a16="http://schemas.microsoft.com/office/drawing/2014/main" id="{7A5524DC-FCCA-4A5F-94B4-CD6A52B5CE6C}"/>
              </a:ext>
            </a:extLst>
          </p:cNvPr>
          <p:cNvCxnSpPr/>
          <p:nvPr/>
        </p:nvCxnSpPr>
        <p:spPr>
          <a:xfrm>
            <a:off x="1587" y="905715"/>
            <a:ext cx="12190413" cy="0"/>
          </a:xfrm>
          <a:prstGeom prst="line">
            <a:avLst/>
          </a:prstGeom>
          <a:ln>
            <a:solidFill>
              <a:srgbClr val="104D7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矩形 3">
            <a:extLst>
              <a:ext uri="{FF2B5EF4-FFF2-40B4-BE49-F238E27FC236}">
                <a16:creationId xmlns:a16="http://schemas.microsoft.com/office/drawing/2014/main" id="{52D512FD-8941-4A78-8D0F-D8AACD1489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6586" y="1815316"/>
            <a:ext cx="6096001" cy="3844194"/>
          </a:xfrm>
          <a:prstGeom prst="rect">
            <a:avLst/>
          </a:prstGeom>
          <a:noFill/>
          <a:ln>
            <a:noFill/>
          </a:ln>
        </p:spPr>
        <p:txBody>
          <a:bodyPr wrap="square" lIns="0" rIns="0">
            <a:spAutoFit/>
          </a:bodyPr>
          <a:lstStyle>
            <a:lvl1pPr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lnSpc>
                <a:spcPct val="80000"/>
              </a:lnSpc>
              <a:spcBef>
                <a:spcPts val="600"/>
              </a:spcBef>
              <a:buFont typeface="Wingdings" panose="05000000000000000000" pitchFamily="2" charset="2"/>
              <a:buNone/>
            </a:pPr>
            <a:r>
              <a:rPr lang="en-US" altLang="zh-CN" sz="2200" b="0" dirty="0">
                <a:solidFill>
                  <a:srgbClr val="104E87"/>
                </a:solidFill>
                <a:latin typeface="Comic Sans MS" panose="030F0702030302020204" pitchFamily="66" charset="0"/>
              </a:rPr>
              <a:t>class Clock {</a:t>
            </a:r>
          </a:p>
          <a:p>
            <a:pPr>
              <a:lnSpc>
                <a:spcPct val="80000"/>
              </a:lnSpc>
              <a:spcBef>
                <a:spcPts val="600"/>
              </a:spcBef>
              <a:buFont typeface="Wingdings" panose="05000000000000000000" pitchFamily="2" charset="2"/>
              <a:buNone/>
            </a:pPr>
            <a:r>
              <a:rPr lang="en-US" altLang="zh-CN" sz="2200" b="0" dirty="0">
                <a:solidFill>
                  <a:srgbClr val="104E87"/>
                </a:solidFill>
                <a:latin typeface="Comic Sans MS" panose="030F0702030302020204" pitchFamily="66" charset="0"/>
              </a:rPr>
              <a:t>public:</a:t>
            </a:r>
          </a:p>
          <a:p>
            <a:pPr>
              <a:lnSpc>
                <a:spcPct val="80000"/>
              </a:lnSpc>
              <a:spcBef>
                <a:spcPts val="600"/>
              </a:spcBef>
              <a:buFont typeface="Wingdings" panose="05000000000000000000" pitchFamily="2" charset="2"/>
              <a:buNone/>
            </a:pPr>
            <a:r>
              <a:rPr lang="en-US" altLang="zh-CN" sz="2200" b="0" dirty="0">
                <a:solidFill>
                  <a:srgbClr val="104E87"/>
                </a:solidFill>
                <a:latin typeface="Comic Sans MS" panose="030F0702030302020204" pitchFamily="66" charset="0"/>
              </a:rPr>
              <a:t>  Clock(int </a:t>
            </a:r>
            <a:r>
              <a:rPr lang="en-US" altLang="zh-CN" sz="2200" b="0" dirty="0" err="1">
                <a:solidFill>
                  <a:srgbClr val="104E87"/>
                </a:solidFill>
                <a:latin typeface="Comic Sans MS" panose="030F0702030302020204" pitchFamily="66" charset="0"/>
              </a:rPr>
              <a:t>hh</a:t>
            </a:r>
            <a:r>
              <a:rPr lang="en-US" altLang="zh-CN" sz="2200" b="0" dirty="0">
                <a:solidFill>
                  <a:srgbClr val="104E87"/>
                </a:solidFill>
                <a:latin typeface="Comic Sans MS" panose="030F0702030302020204" pitchFamily="66" charset="0"/>
              </a:rPr>
              <a:t>=0, int mm=0, int ss=0);</a:t>
            </a:r>
          </a:p>
          <a:p>
            <a:pPr>
              <a:lnSpc>
                <a:spcPct val="80000"/>
              </a:lnSpc>
              <a:spcBef>
                <a:spcPts val="600"/>
              </a:spcBef>
            </a:pPr>
            <a:r>
              <a:rPr lang="en-US" altLang="zh-CN" sz="2200" b="0" dirty="0">
                <a:solidFill>
                  <a:srgbClr val="104E87"/>
                </a:solidFill>
                <a:latin typeface="Comic Sans MS" panose="030F0702030302020204" pitchFamily="66" charset="0"/>
                <a:ea typeface="黑体" panose="02010609060101010101" pitchFamily="49" charset="-122"/>
              </a:rPr>
              <a:t>  void </a:t>
            </a:r>
            <a:r>
              <a:rPr lang="en-US" altLang="zh-CN" sz="2200" b="0" dirty="0" err="1">
                <a:solidFill>
                  <a:srgbClr val="104E87"/>
                </a:solidFill>
                <a:latin typeface="Comic Sans MS" panose="030F0702030302020204" pitchFamily="66" charset="0"/>
                <a:ea typeface="黑体" panose="02010609060101010101" pitchFamily="49" charset="-122"/>
              </a:rPr>
              <a:t>setTime</a:t>
            </a:r>
            <a:r>
              <a:rPr lang="en-US" altLang="zh-CN" sz="2200" b="0" dirty="0">
                <a:solidFill>
                  <a:srgbClr val="104E87"/>
                </a:solidFill>
                <a:latin typeface="Comic Sans MS" panose="030F0702030302020204" pitchFamily="66" charset="0"/>
                <a:ea typeface="黑体" panose="02010609060101010101" pitchFamily="49" charset="-122"/>
              </a:rPr>
              <a:t>(int </a:t>
            </a:r>
            <a:r>
              <a:rPr lang="en-US" altLang="zh-CN" sz="2200" b="0" dirty="0" err="1">
                <a:solidFill>
                  <a:srgbClr val="104E87"/>
                </a:solidFill>
                <a:latin typeface="Comic Sans MS" panose="030F0702030302020204" pitchFamily="66" charset="0"/>
                <a:ea typeface="黑体" panose="02010609060101010101" pitchFamily="49" charset="-122"/>
              </a:rPr>
              <a:t>newH</a:t>
            </a:r>
            <a:r>
              <a:rPr lang="en-US" altLang="zh-CN" sz="2200" b="0" dirty="0">
                <a:solidFill>
                  <a:srgbClr val="104E87"/>
                </a:solidFill>
                <a:latin typeface="Comic Sans MS" panose="030F0702030302020204" pitchFamily="66" charset="0"/>
                <a:ea typeface="黑体" panose="02010609060101010101" pitchFamily="49" charset="-122"/>
              </a:rPr>
              <a:t>, int </a:t>
            </a:r>
            <a:r>
              <a:rPr lang="en-US" altLang="zh-CN" sz="2200" b="0" dirty="0" err="1">
                <a:solidFill>
                  <a:srgbClr val="104E87"/>
                </a:solidFill>
                <a:latin typeface="Comic Sans MS" panose="030F0702030302020204" pitchFamily="66" charset="0"/>
                <a:ea typeface="黑体" panose="02010609060101010101" pitchFamily="49" charset="-122"/>
              </a:rPr>
              <a:t>newMe</a:t>
            </a:r>
            <a:r>
              <a:rPr lang="en-US" altLang="zh-CN" sz="2200" b="0" dirty="0">
                <a:solidFill>
                  <a:srgbClr val="104E87"/>
                </a:solidFill>
                <a:latin typeface="Comic Sans MS" panose="030F0702030302020204" pitchFamily="66" charset="0"/>
                <a:ea typeface="黑体" panose="02010609060101010101" pitchFamily="49" charset="-122"/>
              </a:rPr>
              <a:t>, int </a:t>
            </a:r>
            <a:r>
              <a:rPr lang="en-US" altLang="zh-CN" sz="2200" b="0" dirty="0" err="1">
                <a:solidFill>
                  <a:srgbClr val="104E87"/>
                </a:solidFill>
                <a:latin typeface="Comic Sans MS" panose="030F0702030302020204" pitchFamily="66" charset="0"/>
                <a:ea typeface="黑体" panose="02010609060101010101" pitchFamily="49" charset="-122"/>
              </a:rPr>
              <a:t>newS</a:t>
            </a:r>
            <a:r>
              <a:rPr lang="en-US" altLang="zh-CN" sz="2200" b="0" dirty="0">
                <a:solidFill>
                  <a:srgbClr val="104E87"/>
                </a:solidFill>
                <a:latin typeface="Comic Sans MS" panose="030F0702030302020204" pitchFamily="66" charset="0"/>
                <a:ea typeface="黑体" panose="02010609060101010101" pitchFamily="49" charset="-122"/>
              </a:rPr>
              <a:t>);</a:t>
            </a:r>
            <a:r>
              <a:rPr lang="en-US" altLang="zh-CN" sz="2200" b="0" dirty="0">
                <a:solidFill>
                  <a:srgbClr val="104E87"/>
                </a:solidFill>
                <a:latin typeface="Comic Sans MS" panose="030F0702030302020204" pitchFamily="66" charset="0"/>
              </a:rPr>
              <a:t>	</a:t>
            </a:r>
          </a:p>
          <a:p>
            <a:pPr>
              <a:lnSpc>
                <a:spcPct val="80000"/>
              </a:lnSpc>
              <a:spcBef>
                <a:spcPts val="600"/>
              </a:spcBef>
              <a:buFont typeface="Wingdings" panose="05000000000000000000" pitchFamily="2" charset="2"/>
              <a:buNone/>
            </a:pPr>
            <a:r>
              <a:rPr lang="en-US" altLang="zh-CN" sz="2200" b="0" dirty="0">
                <a:solidFill>
                  <a:srgbClr val="104E87"/>
                </a:solidFill>
                <a:latin typeface="Comic Sans MS" panose="030F0702030302020204" pitchFamily="66" charset="0"/>
              </a:rPr>
              <a:t>  </a:t>
            </a:r>
            <a:r>
              <a:rPr lang="en-US" altLang="zh-CN" sz="2200" b="0" dirty="0">
                <a:solidFill>
                  <a:srgbClr val="FF0000"/>
                </a:solidFill>
                <a:latin typeface="Comic Sans MS" panose="030F0702030302020204" pitchFamily="66" charset="0"/>
              </a:rPr>
              <a:t>void </a:t>
            </a:r>
            <a:r>
              <a:rPr lang="en-US" altLang="zh-CN" sz="2200" b="0" dirty="0" err="1">
                <a:solidFill>
                  <a:srgbClr val="FF0000"/>
                </a:solidFill>
                <a:latin typeface="Comic Sans MS" panose="030F0702030302020204" pitchFamily="66" charset="0"/>
              </a:rPr>
              <a:t>show</a:t>
            </a:r>
            <a:r>
              <a:rPr lang="en-US" altLang="zh-CN" sz="2200" b="0" dirty="0" err="1">
                <a:solidFill>
                  <a:srgbClr val="FF0000"/>
                </a:solidFill>
                <a:latin typeface="Comic Sans MS" panose="030F0702030302020204" pitchFamily="66" charset="0"/>
                <a:ea typeface="黑体" panose="02010609060101010101" pitchFamily="49" charset="-122"/>
              </a:rPr>
              <a:t>Time</a:t>
            </a:r>
            <a:r>
              <a:rPr lang="en-US" altLang="zh-CN" sz="2200" b="0" dirty="0">
                <a:solidFill>
                  <a:srgbClr val="FF0000"/>
                </a:solidFill>
                <a:latin typeface="Comic Sans MS" panose="030F0702030302020204" pitchFamily="66" charset="0"/>
                <a:ea typeface="黑体" panose="02010609060101010101" pitchFamily="49" charset="-122"/>
              </a:rPr>
              <a:t> </a:t>
            </a:r>
            <a:r>
              <a:rPr lang="en-US" altLang="zh-CN" sz="2200" b="0" dirty="0">
                <a:solidFill>
                  <a:srgbClr val="FF0000"/>
                </a:solidFill>
                <a:latin typeface="Comic Sans MS" panose="030F0702030302020204" pitchFamily="66" charset="0"/>
              </a:rPr>
              <a:t>();</a:t>
            </a:r>
          </a:p>
          <a:p>
            <a:pPr>
              <a:lnSpc>
                <a:spcPct val="80000"/>
              </a:lnSpc>
              <a:spcBef>
                <a:spcPts val="600"/>
              </a:spcBef>
              <a:buFont typeface="Wingdings" panose="05000000000000000000" pitchFamily="2" charset="2"/>
              <a:buNone/>
            </a:pPr>
            <a:r>
              <a:rPr lang="en-US" altLang="zh-CN" sz="2200" b="0" dirty="0">
                <a:solidFill>
                  <a:srgbClr val="104E87"/>
                </a:solidFill>
                <a:latin typeface="Comic Sans MS" panose="030F0702030302020204" pitchFamily="66" charset="0"/>
              </a:rPr>
              <a:t>  </a:t>
            </a:r>
            <a:r>
              <a:rPr lang="en-US" altLang="zh-CN" sz="2200" b="0" dirty="0">
                <a:solidFill>
                  <a:srgbClr val="FF0000"/>
                </a:solidFill>
                <a:latin typeface="Comic Sans MS" panose="030F0702030302020204" pitchFamily="66" charset="0"/>
              </a:rPr>
              <a:t>void update();</a:t>
            </a:r>
          </a:p>
          <a:p>
            <a:pPr>
              <a:lnSpc>
                <a:spcPct val="80000"/>
              </a:lnSpc>
              <a:spcBef>
                <a:spcPts val="600"/>
              </a:spcBef>
              <a:buFont typeface="Wingdings" panose="05000000000000000000" pitchFamily="2" charset="2"/>
              <a:buNone/>
            </a:pPr>
            <a:r>
              <a:rPr lang="en-US" altLang="zh-CN" sz="2200" b="0" dirty="0">
                <a:solidFill>
                  <a:srgbClr val="104E87"/>
                </a:solidFill>
                <a:latin typeface="Comic Sans MS" panose="030F0702030302020204" pitchFamily="66" charset="0"/>
              </a:rPr>
              <a:t>private:</a:t>
            </a:r>
          </a:p>
          <a:p>
            <a:pPr>
              <a:lnSpc>
                <a:spcPct val="80000"/>
              </a:lnSpc>
              <a:spcBef>
                <a:spcPts val="600"/>
              </a:spcBef>
              <a:buFont typeface="Wingdings" panose="05000000000000000000" pitchFamily="2" charset="2"/>
              <a:buNone/>
            </a:pPr>
            <a:r>
              <a:rPr lang="en-US" altLang="zh-CN" sz="2200" b="0" dirty="0">
                <a:solidFill>
                  <a:srgbClr val="104E87"/>
                </a:solidFill>
                <a:latin typeface="Comic Sans MS" panose="030F0702030302020204" pitchFamily="66" charset="0"/>
              </a:rPr>
              <a:t>	</a:t>
            </a:r>
            <a:r>
              <a:rPr lang="en-US" altLang="zh-CN" sz="2200" b="0" dirty="0">
                <a:solidFill>
                  <a:srgbClr val="FF0000"/>
                </a:solidFill>
                <a:latin typeface="Comic Sans MS" panose="030F0702030302020204" pitchFamily="66" charset="0"/>
              </a:rPr>
              <a:t>CIRCULAR_NUMBERS hour;</a:t>
            </a:r>
          </a:p>
          <a:p>
            <a:pPr>
              <a:lnSpc>
                <a:spcPct val="80000"/>
              </a:lnSpc>
              <a:spcBef>
                <a:spcPts val="600"/>
              </a:spcBef>
              <a:buFont typeface="Wingdings" panose="05000000000000000000" pitchFamily="2" charset="2"/>
              <a:buNone/>
            </a:pPr>
            <a:r>
              <a:rPr lang="en-US" altLang="zh-CN" sz="2200" b="0" dirty="0">
                <a:solidFill>
                  <a:srgbClr val="FF0000"/>
                </a:solidFill>
                <a:latin typeface="Comic Sans MS" panose="030F0702030302020204" pitchFamily="66" charset="0"/>
              </a:rPr>
              <a:t>	CIRCULAR_NUMBERS minute;</a:t>
            </a:r>
          </a:p>
          <a:p>
            <a:pPr>
              <a:lnSpc>
                <a:spcPct val="80000"/>
              </a:lnSpc>
              <a:spcBef>
                <a:spcPts val="600"/>
              </a:spcBef>
              <a:buFont typeface="Wingdings" panose="05000000000000000000" pitchFamily="2" charset="2"/>
              <a:buNone/>
            </a:pPr>
            <a:r>
              <a:rPr lang="en-US" altLang="zh-CN" sz="2200" b="0" dirty="0">
                <a:solidFill>
                  <a:srgbClr val="FF0000"/>
                </a:solidFill>
                <a:latin typeface="Comic Sans MS" panose="030F0702030302020204" pitchFamily="66" charset="0"/>
              </a:rPr>
              <a:t>	CIRCULAR_NUMBERS second;</a:t>
            </a:r>
          </a:p>
          <a:p>
            <a:pPr>
              <a:lnSpc>
                <a:spcPct val="80000"/>
              </a:lnSpc>
              <a:spcBef>
                <a:spcPts val="600"/>
              </a:spcBef>
              <a:buFont typeface="Wingdings" panose="05000000000000000000" pitchFamily="2" charset="2"/>
              <a:buNone/>
            </a:pPr>
            <a:r>
              <a:rPr lang="en-US" altLang="zh-CN" sz="2200" b="0" dirty="0">
                <a:solidFill>
                  <a:srgbClr val="104E87"/>
                </a:solidFill>
                <a:latin typeface="Comic Sans MS" panose="030F0702030302020204" pitchFamily="66" charset="0"/>
              </a:rPr>
              <a:t>};</a:t>
            </a:r>
            <a:endParaRPr lang="zh-CN" altLang="en-US" sz="2200" b="0" dirty="0">
              <a:solidFill>
                <a:srgbClr val="104E87"/>
              </a:solidFill>
              <a:latin typeface="Comic Sans MS" panose="030F0702030302020204" pitchFamily="66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E8D7DB8-61D8-4272-BA10-FBC1678CFB17}"/>
              </a:ext>
            </a:extLst>
          </p:cNvPr>
          <p:cNvSpPr txBox="1"/>
          <p:nvPr/>
        </p:nvSpPr>
        <p:spPr>
          <a:xfrm>
            <a:off x="247719" y="224527"/>
            <a:ext cx="802877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kumimoji="1" sz="3200" b="1">
                <a:latin typeface="华光胖头鱼_CNKI" panose="02000500000000000000" pitchFamily="2" charset="-122"/>
                <a:ea typeface="华光胖头鱼_CNKI" panose="02000500000000000000" pitchFamily="2" charset="-122"/>
              </a:defRPr>
            </a:lvl1pPr>
          </a:lstStyle>
          <a:p>
            <a:r>
              <a:rPr lang="en-US" altLang="zh-CN" dirty="0"/>
              <a:t>7.8</a:t>
            </a:r>
            <a:r>
              <a:rPr lang="zh-CN" altLang="en-US" dirty="0"/>
              <a:t>编程案例：模拟数字时钟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5D47AB52-4864-45BB-B649-29F0B26F319F}"/>
              </a:ext>
            </a:extLst>
          </p:cNvPr>
          <p:cNvSpPr txBox="1"/>
          <p:nvPr/>
        </p:nvSpPr>
        <p:spPr>
          <a:xfrm>
            <a:off x="176586" y="1276281"/>
            <a:ext cx="2484437" cy="5238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zh-CN" altLang="en-US" sz="2800" dirty="0">
                <a:solidFill>
                  <a:srgbClr val="FF0000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时钟类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4D78161-C640-4CEE-806E-B98D304BC00A}"/>
              </a:ext>
            </a:extLst>
          </p:cNvPr>
          <p:cNvSpPr/>
          <p:nvPr/>
        </p:nvSpPr>
        <p:spPr>
          <a:xfrm>
            <a:off x="844803" y="916100"/>
            <a:ext cx="11346404" cy="39119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80000"/>
              </a:lnSpc>
              <a:spcBef>
                <a:spcPct val="5000"/>
              </a:spcBef>
              <a:buClr>
                <a:schemeClr val="accent1"/>
              </a:buClr>
              <a:buFont typeface="Wingdings" panose="05000000000000000000" pitchFamily="2" charset="2"/>
              <a:buNone/>
              <a:defRPr/>
            </a:pPr>
            <a:r>
              <a:rPr lang="en-US" altLang="zh-CN" kern="0" spc="-1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Clock::Clock(int </a:t>
            </a:r>
            <a:r>
              <a:rPr lang="en-US" altLang="zh-CN" kern="0" spc="-100" dirty="0" err="1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hh</a:t>
            </a:r>
            <a:r>
              <a:rPr lang="en-US" altLang="zh-CN" kern="0" spc="-1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, int mm, int ss): hour(0,23,hh), minute(0,59,mm), second(0,59,ss)</a:t>
            </a:r>
            <a:r>
              <a:rPr lang="en-US" altLang="zh-CN" sz="2400" kern="0" spc="-1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{ }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11D89203-D19C-4499-999D-6EBEDA371FA8}"/>
              </a:ext>
            </a:extLst>
          </p:cNvPr>
          <p:cNvSpPr/>
          <p:nvPr/>
        </p:nvSpPr>
        <p:spPr>
          <a:xfrm>
            <a:off x="5029200" y="1396324"/>
            <a:ext cx="7151024" cy="133299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80000"/>
              </a:lnSpc>
              <a:spcBef>
                <a:spcPct val="5000"/>
              </a:spcBef>
              <a:defRPr/>
            </a:pPr>
            <a:r>
              <a:rPr lang="en-US" altLang="zh-CN" sz="2400" kern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void Clock::</a:t>
            </a:r>
            <a:r>
              <a:rPr lang="en-US" altLang="zh-CN" sz="2400" kern="0" dirty="0" err="1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showTime</a:t>
            </a:r>
            <a:r>
              <a:rPr lang="en-US" altLang="zh-CN" sz="2400" kern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();  </a:t>
            </a:r>
            <a:endParaRPr lang="zh-CN" altLang="en-US" sz="2400" kern="0" dirty="0">
              <a:solidFill>
                <a:srgbClr val="104E87"/>
              </a:solidFill>
              <a:latin typeface="Comic Sans MS" panose="030F0702030302020204" pitchFamily="66" charset="0"/>
              <a:ea typeface="华光行书_CNKI" panose="02000500000000000000" pitchFamily="2" charset="-122"/>
            </a:endParaRPr>
          </a:p>
          <a:p>
            <a:pPr>
              <a:lnSpc>
                <a:spcPct val="80000"/>
              </a:lnSpc>
              <a:spcBef>
                <a:spcPct val="500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2400" kern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{  </a:t>
            </a:r>
            <a:r>
              <a:rPr lang="en-US" altLang="zh-CN" sz="2400" kern="0" dirty="0" err="1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cout</a:t>
            </a:r>
            <a:r>
              <a:rPr lang="en-US" altLang="zh-CN" sz="2400" kern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&lt;&lt;</a:t>
            </a:r>
            <a:r>
              <a:rPr lang="en-US" altLang="zh-CN" sz="2400" kern="0" dirty="0" err="1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hour.get_value</a:t>
            </a:r>
            <a:r>
              <a:rPr lang="en-US" altLang="zh-CN" sz="2400" kern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()&lt;&lt;“:”&lt;&lt;</a:t>
            </a:r>
            <a:r>
              <a:rPr lang="en-US" altLang="zh-CN" sz="2400" kern="0" dirty="0" err="1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minute.get_value</a:t>
            </a:r>
            <a:r>
              <a:rPr lang="en-US" altLang="zh-CN" sz="2400" kern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();</a:t>
            </a:r>
          </a:p>
          <a:p>
            <a:pPr>
              <a:lnSpc>
                <a:spcPct val="80000"/>
              </a:lnSpc>
              <a:spcBef>
                <a:spcPct val="500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2400" kern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   </a:t>
            </a:r>
            <a:r>
              <a:rPr lang="en-US" altLang="zh-CN" sz="2400" kern="0" dirty="0" err="1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cout</a:t>
            </a:r>
            <a:r>
              <a:rPr lang="en-US" altLang="zh-CN" sz="2400" kern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 &lt;&lt;":"&lt;&lt;</a:t>
            </a:r>
            <a:r>
              <a:rPr lang="en-US" altLang="zh-CN" sz="2400" kern="0" dirty="0" err="1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second.get_value</a:t>
            </a:r>
            <a:r>
              <a:rPr lang="en-US" altLang="zh-CN" sz="2400" kern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()&lt;&lt;</a:t>
            </a:r>
            <a:r>
              <a:rPr lang="en-US" altLang="zh-CN" sz="2400" kern="0" dirty="0" err="1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endl</a:t>
            </a:r>
            <a:r>
              <a:rPr lang="en-US" altLang="zh-CN" sz="2400" kern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;</a:t>
            </a:r>
          </a:p>
          <a:p>
            <a:pPr>
              <a:lnSpc>
                <a:spcPct val="80000"/>
              </a:lnSpc>
              <a:spcBef>
                <a:spcPct val="500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2400" kern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}</a:t>
            </a:r>
          </a:p>
        </p:txBody>
      </p:sp>
      <p:sp>
        <p:nvSpPr>
          <p:cNvPr id="11" name="矩形 3">
            <a:extLst>
              <a:ext uri="{FF2B5EF4-FFF2-40B4-BE49-F238E27FC236}">
                <a16:creationId xmlns:a16="http://schemas.microsoft.com/office/drawing/2014/main" id="{496053D0-D0DF-4297-81A5-0FC5F1BF64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84985" y="3148310"/>
            <a:ext cx="6307015" cy="138781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>
            <a:lvl1pPr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lnSpc>
                <a:spcPct val="80000"/>
              </a:lnSpc>
              <a:spcBef>
                <a:spcPct val="5000"/>
              </a:spcBef>
            </a:pPr>
            <a:r>
              <a:rPr lang="zh-CN" altLang="en-US" b="0" kern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void Clock::setTime(int newH, int newM, int newS){</a:t>
            </a:r>
          </a:p>
          <a:p>
            <a:pPr>
              <a:lnSpc>
                <a:spcPct val="80000"/>
              </a:lnSpc>
              <a:spcBef>
                <a:spcPct val="5000"/>
              </a:spcBef>
            </a:pPr>
            <a:r>
              <a:rPr lang="zh-CN" altLang="en-US" b="0" kern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	 hour.set_value(newH);</a:t>
            </a:r>
          </a:p>
          <a:p>
            <a:pPr>
              <a:lnSpc>
                <a:spcPct val="80000"/>
              </a:lnSpc>
              <a:spcBef>
                <a:spcPct val="5000"/>
              </a:spcBef>
            </a:pPr>
            <a:r>
              <a:rPr lang="zh-CN" altLang="en-US" b="0" kern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	 minute.set_value(newM);</a:t>
            </a:r>
          </a:p>
          <a:p>
            <a:pPr>
              <a:lnSpc>
                <a:spcPct val="80000"/>
              </a:lnSpc>
              <a:spcBef>
                <a:spcPct val="5000"/>
              </a:spcBef>
            </a:pPr>
            <a:r>
              <a:rPr lang="zh-CN" altLang="en-US" b="0" kern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	 second.set_value(newS);</a:t>
            </a:r>
          </a:p>
          <a:p>
            <a:pPr>
              <a:lnSpc>
                <a:spcPct val="80000"/>
              </a:lnSpc>
              <a:spcBef>
                <a:spcPct val="5000"/>
              </a:spcBef>
            </a:pPr>
            <a:r>
              <a:rPr lang="zh-CN" altLang="en-US" b="0" kern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}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FB4294FC-4BBF-4D3E-807D-C709AA1E630E}"/>
              </a:ext>
            </a:extLst>
          </p:cNvPr>
          <p:cNvSpPr/>
          <p:nvPr/>
        </p:nvSpPr>
        <p:spPr>
          <a:xfrm>
            <a:off x="5884985" y="4631257"/>
            <a:ext cx="6295239" cy="193008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80000"/>
              </a:lnSpc>
              <a:spcBef>
                <a:spcPct val="5000"/>
              </a:spcBef>
            </a:pPr>
            <a:r>
              <a:rPr lang="en-US" altLang="zh-CN" sz="2000" kern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void Clock::update()</a:t>
            </a:r>
            <a:endParaRPr lang="zh-CN" altLang="en-US" sz="2000" kern="0" dirty="0">
              <a:solidFill>
                <a:srgbClr val="104E87"/>
              </a:solidFill>
              <a:latin typeface="Comic Sans MS" panose="030F0702030302020204" pitchFamily="66" charset="0"/>
              <a:ea typeface="华光行书_CNKI" panose="02000500000000000000" pitchFamily="2" charset="-122"/>
            </a:endParaRPr>
          </a:p>
          <a:p>
            <a:pPr>
              <a:lnSpc>
                <a:spcPct val="80000"/>
              </a:lnSpc>
              <a:spcBef>
                <a:spcPct val="5000"/>
              </a:spcBef>
            </a:pPr>
            <a:r>
              <a:rPr lang="en-US" altLang="zh-CN" sz="2000" kern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{    </a:t>
            </a:r>
            <a:r>
              <a:rPr lang="en-US" altLang="zh-CN" sz="2000" kern="0" dirty="0" err="1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second.increment</a:t>
            </a:r>
            <a:r>
              <a:rPr lang="en-US" altLang="zh-CN" sz="2000" kern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();</a:t>
            </a:r>
          </a:p>
          <a:p>
            <a:pPr>
              <a:lnSpc>
                <a:spcPct val="80000"/>
              </a:lnSpc>
              <a:spcBef>
                <a:spcPct val="5000"/>
              </a:spcBef>
            </a:pPr>
            <a:r>
              <a:rPr lang="en-US" altLang="zh-CN" sz="2000" kern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	if(</a:t>
            </a:r>
            <a:r>
              <a:rPr lang="en-US" altLang="zh-CN" sz="2000" kern="0" dirty="0" err="1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second.get_value</a:t>
            </a:r>
            <a:r>
              <a:rPr lang="en-US" altLang="zh-CN" sz="2000" kern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()==0) {</a:t>
            </a:r>
          </a:p>
          <a:p>
            <a:pPr>
              <a:lnSpc>
                <a:spcPct val="80000"/>
              </a:lnSpc>
              <a:spcBef>
                <a:spcPct val="5000"/>
              </a:spcBef>
            </a:pPr>
            <a:r>
              <a:rPr lang="en-US" altLang="zh-CN" sz="2000" kern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		</a:t>
            </a:r>
            <a:r>
              <a:rPr lang="en-US" altLang="zh-CN" sz="2000" kern="0" dirty="0" err="1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minute.increment</a:t>
            </a:r>
            <a:r>
              <a:rPr lang="en-US" altLang="zh-CN" sz="2000" kern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();		if(</a:t>
            </a:r>
            <a:r>
              <a:rPr lang="en-US" altLang="zh-CN" sz="2000" kern="0" dirty="0" err="1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minute.get_value</a:t>
            </a:r>
            <a:r>
              <a:rPr lang="en-US" altLang="zh-CN" sz="2000" kern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()==0)</a:t>
            </a:r>
            <a:r>
              <a:rPr lang="en-US" altLang="zh-CN" sz="2000" kern="0" dirty="0" err="1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hour.increment</a:t>
            </a:r>
            <a:r>
              <a:rPr lang="en-US" altLang="zh-CN" sz="2000" kern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();</a:t>
            </a:r>
          </a:p>
          <a:p>
            <a:pPr>
              <a:lnSpc>
                <a:spcPct val="80000"/>
              </a:lnSpc>
              <a:spcBef>
                <a:spcPct val="5000"/>
              </a:spcBef>
            </a:pPr>
            <a:r>
              <a:rPr lang="en-US" altLang="zh-CN" sz="2000" kern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	}</a:t>
            </a:r>
          </a:p>
          <a:p>
            <a:pPr>
              <a:lnSpc>
                <a:spcPct val="80000"/>
              </a:lnSpc>
              <a:spcBef>
                <a:spcPct val="5000"/>
              </a:spcBef>
            </a:pPr>
            <a:r>
              <a:rPr lang="en-US" altLang="zh-CN" sz="2000" kern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170855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12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0A6AFAA0-4112-4B8A-A83A-8E4C7768D97E}"/>
              </a:ext>
            </a:extLst>
          </p:cNvPr>
          <p:cNvSpPr/>
          <p:nvPr/>
        </p:nvSpPr>
        <p:spPr>
          <a:xfrm>
            <a:off x="794" y="176798"/>
            <a:ext cx="12190413" cy="728917"/>
          </a:xfrm>
          <a:prstGeom prst="rect">
            <a:avLst/>
          </a:prstGeom>
          <a:solidFill>
            <a:srgbClr val="26CC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3200"/>
          </a:p>
        </p:txBody>
      </p:sp>
      <p:cxnSp>
        <p:nvCxnSpPr>
          <p:cNvPr id="3" name="直线连接符 6">
            <a:extLst>
              <a:ext uri="{FF2B5EF4-FFF2-40B4-BE49-F238E27FC236}">
                <a16:creationId xmlns:a16="http://schemas.microsoft.com/office/drawing/2014/main" id="{7A5524DC-FCCA-4A5F-94B4-CD6A52B5CE6C}"/>
              </a:ext>
            </a:extLst>
          </p:cNvPr>
          <p:cNvCxnSpPr/>
          <p:nvPr/>
        </p:nvCxnSpPr>
        <p:spPr>
          <a:xfrm>
            <a:off x="1587" y="905715"/>
            <a:ext cx="12190413" cy="0"/>
          </a:xfrm>
          <a:prstGeom prst="line">
            <a:avLst/>
          </a:prstGeom>
          <a:ln>
            <a:solidFill>
              <a:srgbClr val="104D7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文本框 14">
            <a:extLst>
              <a:ext uri="{FF2B5EF4-FFF2-40B4-BE49-F238E27FC236}">
                <a16:creationId xmlns:a16="http://schemas.microsoft.com/office/drawing/2014/main" id="{2E8D7DB8-61D8-4272-BA10-FBC1678CFB17}"/>
              </a:ext>
            </a:extLst>
          </p:cNvPr>
          <p:cNvSpPr txBox="1"/>
          <p:nvPr/>
        </p:nvSpPr>
        <p:spPr>
          <a:xfrm>
            <a:off x="247719" y="224527"/>
            <a:ext cx="802877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kumimoji="1" sz="3200" b="1">
                <a:latin typeface="华光胖头鱼_CNKI" panose="02000500000000000000" pitchFamily="2" charset="-122"/>
                <a:ea typeface="华光胖头鱼_CNKI" panose="02000500000000000000" pitchFamily="2" charset="-122"/>
              </a:defRPr>
            </a:lvl1pPr>
          </a:lstStyle>
          <a:p>
            <a:r>
              <a:rPr lang="en-US" altLang="zh-CN" dirty="0"/>
              <a:t>7.8</a:t>
            </a:r>
            <a:r>
              <a:rPr lang="zh-CN" altLang="en-US" dirty="0"/>
              <a:t>编程案例：模拟数字时钟</a:t>
            </a:r>
          </a:p>
        </p:txBody>
      </p:sp>
      <p:sp>
        <p:nvSpPr>
          <p:cNvPr id="11" name="Rectangle 3">
            <a:extLst>
              <a:ext uri="{FF2B5EF4-FFF2-40B4-BE49-F238E27FC236}">
                <a16:creationId xmlns:a16="http://schemas.microsoft.com/office/drawing/2014/main" id="{603711B3-4EB8-484D-A888-74574C6782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93786" y="1018556"/>
            <a:ext cx="4829909" cy="2727864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0000"/>
              <a:buFont typeface="Wingdings" panose="05000000000000000000" pitchFamily="2" charset="2"/>
              <a:buChar char="o"/>
              <a:defRPr sz="3200">
                <a:solidFill>
                  <a:srgbClr val="0000FF"/>
                </a:solidFill>
                <a:latin typeface="+mn-lt"/>
                <a:ea typeface="+mn-ea"/>
                <a:cs typeface="+mn-cs"/>
              </a:defRPr>
            </a:lvl1pPr>
            <a:lvl2pPr marL="908050" indent="-436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rgbClr val="0000FF"/>
                </a:solidFill>
                <a:latin typeface="+mn-lt"/>
                <a:ea typeface="+mn-ea"/>
              </a:defRPr>
            </a:lvl2pPr>
            <a:lvl3pPr marL="1377950" indent="-4683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o"/>
              <a:defRPr sz="2400">
                <a:solidFill>
                  <a:srgbClr val="0000FF"/>
                </a:solidFill>
                <a:latin typeface="+mn-lt"/>
                <a:ea typeface="+mn-ea"/>
              </a:defRPr>
            </a:lvl3pPr>
            <a:lvl4pPr marL="1827213" indent="-4381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anose="05000000000000000000" pitchFamily="2" charset="2"/>
              <a:buChar char="n"/>
              <a:defRPr sz="2000">
                <a:solidFill>
                  <a:srgbClr val="0000FF"/>
                </a:solidFill>
                <a:latin typeface="+mn-lt"/>
                <a:ea typeface="+mn-ea"/>
              </a:defRPr>
            </a:lvl4pPr>
            <a:lvl5pPr marL="2297113" indent="-4683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+mn-lt"/>
                <a:ea typeface="+mn-ea"/>
              </a:defRPr>
            </a:lvl5pPr>
            <a:lvl6pPr marL="2754313" indent="-468313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rgbClr val="0000FF"/>
                </a:solidFill>
                <a:latin typeface="+mn-lt"/>
                <a:ea typeface="+mn-ea"/>
              </a:defRPr>
            </a:lvl6pPr>
            <a:lvl7pPr marL="3211513" indent="-468313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rgbClr val="0000FF"/>
                </a:solidFill>
                <a:latin typeface="+mn-lt"/>
                <a:ea typeface="+mn-ea"/>
              </a:defRPr>
            </a:lvl7pPr>
            <a:lvl8pPr marL="3668713" indent="-468313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rgbClr val="0000FF"/>
                </a:solidFill>
                <a:latin typeface="+mn-lt"/>
                <a:ea typeface="+mn-ea"/>
              </a:defRPr>
            </a:lvl8pPr>
            <a:lvl9pPr marL="4125913" indent="-468313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rgbClr val="0000FF"/>
                </a:solidFill>
                <a:latin typeface="+mn-lt"/>
                <a:ea typeface="+mn-ea"/>
              </a:defRPr>
            </a:lvl9pPr>
          </a:lstStyle>
          <a:p>
            <a:pPr>
              <a:lnSpc>
                <a:spcPct val="80000"/>
              </a:lnSpc>
              <a:spcBef>
                <a:spcPct val="10000"/>
              </a:spcBef>
              <a:buFont typeface="Wingdings" panose="05000000000000000000" pitchFamily="2" charset="2"/>
              <a:buNone/>
              <a:defRPr/>
            </a:pPr>
            <a:r>
              <a:rPr lang="en-US" altLang="en-US" sz="2000" kern="0" spc="-100" dirty="0">
                <a:solidFill>
                  <a:srgbClr val="104E87"/>
                </a:solidFill>
                <a:latin typeface="Comic Sans MS" panose="030F0702030302020204" pitchFamily="66" charset="0"/>
              </a:rPr>
              <a:t>int main()</a:t>
            </a:r>
          </a:p>
          <a:p>
            <a:pPr>
              <a:lnSpc>
                <a:spcPct val="80000"/>
              </a:lnSpc>
              <a:spcBef>
                <a:spcPct val="10000"/>
              </a:spcBef>
              <a:buFont typeface="Wingdings" panose="05000000000000000000" pitchFamily="2" charset="2"/>
              <a:buNone/>
              <a:defRPr/>
            </a:pPr>
            <a:r>
              <a:rPr lang="en-US" altLang="en-US" sz="2000" kern="0" spc="-100" dirty="0">
                <a:solidFill>
                  <a:srgbClr val="104E87"/>
                </a:solidFill>
                <a:latin typeface="Comic Sans MS" panose="030F0702030302020204" pitchFamily="66" charset="0"/>
              </a:rPr>
              <a:t>{	Clock </a:t>
            </a:r>
            <a:r>
              <a:rPr lang="en-US" altLang="en-US" sz="2000" kern="0" spc="-100" dirty="0" err="1">
                <a:solidFill>
                  <a:srgbClr val="104E87"/>
                </a:solidFill>
                <a:latin typeface="Comic Sans MS" panose="030F0702030302020204" pitchFamily="66" charset="0"/>
              </a:rPr>
              <a:t>rolex</a:t>
            </a:r>
            <a:r>
              <a:rPr lang="en-US" altLang="en-US" sz="2000" kern="0" spc="-100" dirty="0">
                <a:solidFill>
                  <a:srgbClr val="104E87"/>
                </a:solidFill>
                <a:latin typeface="Comic Sans MS" panose="030F0702030302020204" pitchFamily="66" charset="0"/>
              </a:rPr>
              <a:t>(4,15,30);</a:t>
            </a:r>
          </a:p>
          <a:p>
            <a:pPr>
              <a:lnSpc>
                <a:spcPct val="80000"/>
              </a:lnSpc>
              <a:spcBef>
                <a:spcPct val="10000"/>
              </a:spcBef>
              <a:buFont typeface="Wingdings" panose="05000000000000000000" pitchFamily="2" charset="2"/>
              <a:buNone/>
              <a:defRPr/>
            </a:pPr>
            <a:r>
              <a:rPr lang="en-US" altLang="en-US" sz="2000" kern="0" spc="-100" dirty="0">
                <a:solidFill>
                  <a:srgbClr val="104E87"/>
                </a:solidFill>
                <a:latin typeface="Comic Sans MS" panose="030F0702030302020204" pitchFamily="66" charset="0"/>
              </a:rPr>
              <a:t>	</a:t>
            </a:r>
            <a:r>
              <a:rPr lang="en-US" altLang="en-US" sz="2000" kern="0" spc="-100" dirty="0" err="1">
                <a:solidFill>
                  <a:srgbClr val="104E87"/>
                </a:solidFill>
                <a:latin typeface="Comic Sans MS" panose="030F0702030302020204" pitchFamily="66" charset="0"/>
              </a:rPr>
              <a:t>cout</a:t>
            </a:r>
            <a:r>
              <a:rPr lang="en-US" altLang="en-US" sz="2000" kern="0" spc="-100" dirty="0">
                <a:solidFill>
                  <a:srgbClr val="104E87"/>
                </a:solidFill>
                <a:latin typeface="Comic Sans MS" panose="030F0702030302020204" pitchFamily="66" charset="0"/>
              </a:rPr>
              <a:t>&lt;&lt;"Rolex: \n"; </a:t>
            </a:r>
          </a:p>
          <a:p>
            <a:pPr>
              <a:lnSpc>
                <a:spcPct val="80000"/>
              </a:lnSpc>
              <a:spcBef>
                <a:spcPct val="10000"/>
              </a:spcBef>
              <a:buFont typeface="Wingdings" panose="05000000000000000000" pitchFamily="2" charset="2"/>
              <a:buNone/>
              <a:defRPr/>
            </a:pPr>
            <a:r>
              <a:rPr lang="en-US" altLang="en-US" sz="2000" kern="0" spc="-100" dirty="0">
                <a:solidFill>
                  <a:srgbClr val="104E87"/>
                </a:solidFill>
                <a:latin typeface="Comic Sans MS" panose="030F0702030302020204" pitchFamily="66" charset="0"/>
              </a:rPr>
              <a:t>	for(</a:t>
            </a:r>
            <a:r>
              <a:rPr lang="en-US" altLang="zh-CN" sz="2000" kern="0" spc="-100" dirty="0">
                <a:solidFill>
                  <a:srgbClr val="104E87"/>
                </a:solidFill>
                <a:latin typeface="Comic Sans MS" panose="030F0702030302020204" pitchFamily="66" charset="0"/>
              </a:rPr>
              <a:t>int </a:t>
            </a:r>
            <a:r>
              <a:rPr lang="en-US" altLang="en-US" sz="2000" kern="0" spc="-100" dirty="0">
                <a:solidFill>
                  <a:srgbClr val="104E87"/>
                </a:solidFill>
                <a:latin typeface="Comic Sans MS" panose="030F0702030302020204" pitchFamily="66" charset="0"/>
              </a:rPr>
              <a:t>loop=1; loop&lt;=100; loop=loop+1) {</a:t>
            </a:r>
          </a:p>
          <a:p>
            <a:pPr>
              <a:lnSpc>
                <a:spcPct val="80000"/>
              </a:lnSpc>
              <a:spcBef>
                <a:spcPct val="10000"/>
              </a:spcBef>
              <a:buFont typeface="Wingdings" panose="05000000000000000000" pitchFamily="2" charset="2"/>
              <a:buNone/>
              <a:defRPr/>
            </a:pPr>
            <a:r>
              <a:rPr lang="en-US" altLang="en-US" sz="2000" kern="0" spc="-100" dirty="0">
                <a:solidFill>
                  <a:srgbClr val="104E87"/>
                </a:solidFill>
                <a:latin typeface="Comic Sans MS" panose="030F0702030302020204" pitchFamily="66" charset="0"/>
              </a:rPr>
              <a:t>		</a:t>
            </a:r>
            <a:r>
              <a:rPr lang="en-US" altLang="en-US" sz="2000" kern="0" spc="-100" dirty="0" err="1">
                <a:solidFill>
                  <a:srgbClr val="104E87"/>
                </a:solidFill>
                <a:latin typeface="Comic Sans MS" panose="030F0702030302020204" pitchFamily="66" charset="0"/>
              </a:rPr>
              <a:t>rolex.update</a:t>
            </a:r>
            <a:r>
              <a:rPr lang="en-US" altLang="en-US" sz="2000" kern="0" spc="-100" dirty="0">
                <a:solidFill>
                  <a:srgbClr val="104E87"/>
                </a:solidFill>
                <a:latin typeface="Comic Sans MS" panose="030F0702030302020204" pitchFamily="66" charset="0"/>
              </a:rPr>
              <a:t>();</a:t>
            </a:r>
          </a:p>
          <a:p>
            <a:pPr>
              <a:lnSpc>
                <a:spcPct val="80000"/>
              </a:lnSpc>
              <a:spcBef>
                <a:spcPct val="10000"/>
              </a:spcBef>
              <a:buFont typeface="Wingdings" panose="05000000000000000000" pitchFamily="2" charset="2"/>
              <a:buNone/>
              <a:defRPr/>
            </a:pPr>
            <a:r>
              <a:rPr lang="en-US" altLang="en-US" sz="2000" kern="0" spc="-100" dirty="0">
                <a:solidFill>
                  <a:srgbClr val="104E87"/>
                </a:solidFill>
                <a:latin typeface="Comic Sans MS" panose="030F0702030302020204" pitchFamily="66" charset="0"/>
              </a:rPr>
              <a:t>		</a:t>
            </a:r>
            <a:r>
              <a:rPr lang="en-US" altLang="en-US" sz="2000" kern="0" spc="-100" dirty="0" err="1">
                <a:solidFill>
                  <a:srgbClr val="104E87"/>
                </a:solidFill>
                <a:latin typeface="Comic Sans MS" panose="030F0702030302020204" pitchFamily="66" charset="0"/>
              </a:rPr>
              <a:t>rolex.show</a:t>
            </a:r>
            <a:r>
              <a:rPr lang="en-US" altLang="zh-CN" sz="2000" spc="-100" dirty="0" err="1">
                <a:solidFill>
                  <a:srgbClr val="104E87"/>
                </a:solidFill>
                <a:latin typeface="Comic Sans MS" panose="030F0702030302020204" pitchFamily="66" charset="0"/>
                <a:ea typeface="黑体" panose="02010609060101010101" pitchFamily="49" charset="-122"/>
              </a:rPr>
              <a:t>Time</a:t>
            </a:r>
            <a:r>
              <a:rPr lang="en-US" altLang="zh-CN" sz="2000" spc="-100" dirty="0">
                <a:solidFill>
                  <a:srgbClr val="104E87"/>
                </a:solidFill>
                <a:latin typeface="Comic Sans MS" panose="030F0702030302020204" pitchFamily="66" charset="0"/>
                <a:ea typeface="黑体" panose="02010609060101010101" pitchFamily="49" charset="-122"/>
              </a:rPr>
              <a:t> </a:t>
            </a:r>
            <a:r>
              <a:rPr lang="en-US" altLang="en-US" sz="2000" kern="0" spc="-100" dirty="0">
                <a:solidFill>
                  <a:srgbClr val="104E87"/>
                </a:solidFill>
                <a:latin typeface="Comic Sans MS" panose="030F0702030302020204" pitchFamily="66" charset="0"/>
              </a:rPr>
              <a:t>();</a:t>
            </a:r>
          </a:p>
          <a:p>
            <a:pPr>
              <a:lnSpc>
                <a:spcPct val="80000"/>
              </a:lnSpc>
              <a:spcBef>
                <a:spcPct val="10000"/>
              </a:spcBef>
              <a:buFont typeface="Wingdings" panose="05000000000000000000" pitchFamily="2" charset="2"/>
              <a:buNone/>
              <a:defRPr/>
            </a:pPr>
            <a:r>
              <a:rPr lang="en-US" altLang="en-US" sz="2000" kern="0" spc="-100" dirty="0">
                <a:solidFill>
                  <a:srgbClr val="104E87"/>
                </a:solidFill>
                <a:latin typeface="Comic Sans MS" panose="030F0702030302020204" pitchFamily="66" charset="0"/>
              </a:rPr>
              <a:t>	}</a:t>
            </a:r>
            <a:endParaRPr lang="en-US" altLang="zh-CN" sz="2000" kern="0" spc="-100" dirty="0">
              <a:solidFill>
                <a:srgbClr val="104E87"/>
              </a:solidFill>
              <a:latin typeface="Comic Sans MS" panose="030F0702030302020204" pitchFamily="66" charset="0"/>
            </a:endParaRPr>
          </a:p>
          <a:p>
            <a:pPr>
              <a:lnSpc>
                <a:spcPct val="80000"/>
              </a:lnSpc>
              <a:spcBef>
                <a:spcPct val="10000"/>
              </a:spcBef>
              <a:buFont typeface="Wingdings" panose="05000000000000000000" pitchFamily="2" charset="2"/>
              <a:buNone/>
              <a:defRPr/>
            </a:pPr>
            <a:r>
              <a:rPr lang="en-US" altLang="en-US" sz="2000" kern="0" spc="-100" dirty="0">
                <a:solidFill>
                  <a:srgbClr val="104E87"/>
                </a:solidFill>
                <a:latin typeface="Comic Sans MS" panose="030F0702030302020204" pitchFamily="66" charset="0"/>
              </a:rPr>
              <a:t>	return 0;</a:t>
            </a:r>
          </a:p>
          <a:p>
            <a:pPr>
              <a:lnSpc>
                <a:spcPct val="80000"/>
              </a:lnSpc>
              <a:spcBef>
                <a:spcPct val="10000"/>
              </a:spcBef>
              <a:buFont typeface="Wingdings" panose="05000000000000000000" pitchFamily="2" charset="2"/>
              <a:buNone/>
              <a:defRPr/>
            </a:pPr>
            <a:r>
              <a:rPr lang="en-US" altLang="en-US" sz="2000" kern="0" spc="-100" dirty="0">
                <a:solidFill>
                  <a:srgbClr val="104E87"/>
                </a:solidFill>
                <a:latin typeface="Comic Sans MS" panose="030F0702030302020204" pitchFamily="66" charset="0"/>
              </a:rPr>
              <a:t>}</a:t>
            </a:r>
            <a:endParaRPr lang="en-US" altLang="zh-CN" sz="2000" kern="0" spc="-100" dirty="0">
              <a:solidFill>
                <a:srgbClr val="104E87"/>
              </a:solidFill>
              <a:latin typeface="Comic Sans MS" panose="030F0702030302020204" pitchFamily="66" charset="0"/>
            </a:endParaRPr>
          </a:p>
        </p:txBody>
      </p:sp>
      <p:sp>
        <p:nvSpPr>
          <p:cNvPr id="16" name="矩形 2">
            <a:extLst>
              <a:ext uri="{FF2B5EF4-FFF2-40B4-BE49-F238E27FC236}">
                <a16:creationId xmlns:a16="http://schemas.microsoft.com/office/drawing/2014/main" id="{1FFDD203-9DE9-4211-81F6-1944048356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25462" y="2300293"/>
            <a:ext cx="3341076" cy="954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r>
              <a:rPr lang="zh-CN" altLang="en-US" sz="2800" b="0" dirty="0">
                <a:solidFill>
                  <a:srgbClr val="FF0000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改进</a:t>
            </a:r>
            <a:r>
              <a:rPr lang="en-US" altLang="zh-CN" sz="2800" b="0" dirty="0">
                <a:solidFill>
                  <a:srgbClr val="FF0000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1</a:t>
            </a:r>
            <a:r>
              <a:rPr lang="zh-CN" altLang="en-US" sz="2800" b="0" dirty="0">
                <a:solidFill>
                  <a:srgbClr val="FF0000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：</a:t>
            </a:r>
            <a:endParaRPr lang="en-US" altLang="zh-CN" sz="2800" b="0" dirty="0">
              <a:solidFill>
                <a:srgbClr val="FF0000"/>
              </a:solidFill>
              <a:latin typeface="华光行书_CNKI" panose="02000500000000000000" pitchFamily="2" charset="-122"/>
              <a:ea typeface="华光行书_CNKI" panose="02000500000000000000" pitchFamily="2" charset="-122"/>
            </a:endParaRPr>
          </a:p>
          <a:p>
            <a:pPr marL="176213">
              <a:buFont typeface="Arial" panose="020B0604020202020204" pitchFamily="34" charset="0"/>
              <a:buChar char="•"/>
            </a:pPr>
            <a:r>
              <a:rPr lang="zh-CN" altLang="en-US" sz="2800" b="0" dirty="0">
                <a:solidFill>
                  <a:srgbClr val="104E87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取当前时间</a:t>
            </a:r>
            <a:endParaRPr lang="en-US" altLang="zh-CN" sz="2800" b="0" dirty="0">
              <a:solidFill>
                <a:srgbClr val="104E87"/>
              </a:solidFill>
              <a:latin typeface="华光行书_CNKI" panose="02000500000000000000" pitchFamily="2" charset="-122"/>
              <a:ea typeface="华光行书_CNKI" panose="02000500000000000000" pitchFamily="2" charset="-122"/>
            </a:endParaRPr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id="{3B516025-4C04-4D2F-8A58-6A804FF84505}"/>
              </a:ext>
            </a:extLst>
          </p:cNvPr>
          <p:cNvGrpSpPr/>
          <p:nvPr/>
        </p:nvGrpSpPr>
        <p:grpSpPr>
          <a:xfrm>
            <a:off x="6636995" y="-2630"/>
            <a:ext cx="5553418" cy="3279870"/>
            <a:chOff x="6638582" y="949794"/>
            <a:chExt cx="5553418" cy="3279870"/>
          </a:xfrm>
        </p:grpSpPr>
        <p:pic>
          <p:nvPicPr>
            <p:cNvPr id="5" name="图片 4">
              <a:extLst>
                <a:ext uri="{FF2B5EF4-FFF2-40B4-BE49-F238E27FC236}">
                  <a16:creationId xmlns:a16="http://schemas.microsoft.com/office/drawing/2014/main" id="{96D4F071-3703-45C5-AD00-F545C08D6AF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638582" y="949794"/>
              <a:ext cx="5553418" cy="3279870"/>
            </a:xfrm>
            <a:prstGeom prst="rect">
              <a:avLst/>
            </a:prstGeom>
          </p:spPr>
        </p:pic>
        <p:cxnSp>
          <p:nvCxnSpPr>
            <p:cNvPr id="8" name="直接连接符 7">
              <a:extLst>
                <a:ext uri="{FF2B5EF4-FFF2-40B4-BE49-F238E27FC236}">
                  <a16:creationId xmlns:a16="http://schemas.microsoft.com/office/drawing/2014/main" id="{CD2B2883-ED24-49E6-91F8-06CF8258A165}"/>
                </a:ext>
              </a:extLst>
            </p:cNvPr>
            <p:cNvCxnSpPr>
              <a:cxnSpLocks/>
            </p:cNvCxnSpPr>
            <p:nvPr/>
          </p:nvCxnSpPr>
          <p:spPr>
            <a:xfrm>
              <a:off x="6752492" y="2532185"/>
              <a:ext cx="3938954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接连接符 16">
              <a:extLst>
                <a:ext uri="{FF2B5EF4-FFF2-40B4-BE49-F238E27FC236}">
                  <a16:creationId xmlns:a16="http://schemas.microsoft.com/office/drawing/2014/main" id="{52375A58-5787-4401-85AB-0A4DA19FBFEE}"/>
                </a:ext>
              </a:extLst>
            </p:cNvPr>
            <p:cNvCxnSpPr>
              <a:cxnSpLocks/>
            </p:cNvCxnSpPr>
            <p:nvPr/>
          </p:nvCxnSpPr>
          <p:spPr>
            <a:xfrm>
              <a:off x="6752492" y="3915508"/>
              <a:ext cx="5076093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B784C8E9-F9E2-4023-BA29-5241C476745A}"/>
              </a:ext>
            </a:extLst>
          </p:cNvPr>
          <p:cNvSpPr txBox="1"/>
          <p:nvPr/>
        </p:nvSpPr>
        <p:spPr>
          <a:xfrm>
            <a:off x="4425462" y="3448648"/>
            <a:ext cx="778451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FF0000"/>
                </a:solidFill>
              </a:rPr>
              <a:t>time_t tt = time(NULL);</a:t>
            </a:r>
          </a:p>
          <a:p>
            <a:r>
              <a:rPr lang="zh-CN" altLang="en-US" b="1" dirty="0">
                <a:solidFill>
                  <a:srgbClr val="FF0000"/>
                </a:solidFill>
              </a:rPr>
              <a:t>tm* t= localtime(&amp;tt);</a:t>
            </a:r>
          </a:p>
          <a:p>
            <a:r>
              <a:rPr lang="zh-CN" altLang="en-US" b="1" dirty="0">
                <a:solidFill>
                  <a:srgbClr val="FF0000"/>
                </a:solidFill>
              </a:rPr>
              <a:t>Clock rolex(t-&gt;tm_hour,t-&gt;tm_min,t-&gt;tm_sec);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7CFF23E1-559F-4293-B53F-A5E55A2EA931}"/>
              </a:ext>
            </a:extLst>
          </p:cNvPr>
          <p:cNvSpPr txBox="1"/>
          <p:nvPr/>
        </p:nvSpPr>
        <p:spPr>
          <a:xfrm>
            <a:off x="10022858" y="-14871"/>
            <a:ext cx="2187117" cy="40011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2000" b="0">
                <a:solidFill>
                  <a:srgbClr val="104E87"/>
                </a:solidFill>
                <a:latin typeface="Comic Sans MS" panose="030F0702030302020204" pitchFamily="66" charset="0"/>
                <a:ea typeface="楷体_GB2312" pitchFamily="49" charset="-122"/>
              </a:defRPr>
            </a:lvl1pPr>
            <a:lvl2pPr marL="742950" indent="-285750">
              <a:defRPr sz="2000" b="1"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000" b="1"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000" b="1"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000" b="1"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ctr"/>
            <a:r>
              <a:rPr lang="zh-CN" altLang="en-US" dirty="0"/>
              <a:t>#include &lt;ctime&gt;</a:t>
            </a:r>
          </a:p>
        </p:txBody>
      </p:sp>
    </p:spTree>
    <p:extLst>
      <p:ext uri="{BB962C8B-B14F-4D97-AF65-F5344CB8AC3E}">
        <p14:creationId xmlns:p14="http://schemas.microsoft.com/office/powerpoint/2010/main" val="6700516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9" grpId="0"/>
      <p:bldP spid="26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0A6AFAA0-4112-4B8A-A83A-8E4C7768D97E}"/>
              </a:ext>
            </a:extLst>
          </p:cNvPr>
          <p:cNvSpPr/>
          <p:nvPr/>
        </p:nvSpPr>
        <p:spPr>
          <a:xfrm>
            <a:off x="794" y="176798"/>
            <a:ext cx="12190413" cy="728917"/>
          </a:xfrm>
          <a:prstGeom prst="rect">
            <a:avLst/>
          </a:prstGeom>
          <a:solidFill>
            <a:srgbClr val="26CC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3200"/>
          </a:p>
        </p:txBody>
      </p:sp>
      <p:cxnSp>
        <p:nvCxnSpPr>
          <p:cNvPr id="3" name="直线连接符 6">
            <a:extLst>
              <a:ext uri="{FF2B5EF4-FFF2-40B4-BE49-F238E27FC236}">
                <a16:creationId xmlns:a16="http://schemas.microsoft.com/office/drawing/2014/main" id="{7A5524DC-FCCA-4A5F-94B4-CD6A52B5CE6C}"/>
              </a:ext>
            </a:extLst>
          </p:cNvPr>
          <p:cNvCxnSpPr/>
          <p:nvPr/>
        </p:nvCxnSpPr>
        <p:spPr>
          <a:xfrm>
            <a:off x="1587" y="905715"/>
            <a:ext cx="12190413" cy="0"/>
          </a:xfrm>
          <a:prstGeom prst="line">
            <a:avLst/>
          </a:prstGeom>
          <a:ln>
            <a:solidFill>
              <a:srgbClr val="104D7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文本框 14">
            <a:extLst>
              <a:ext uri="{FF2B5EF4-FFF2-40B4-BE49-F238E27FC236}">
                <a16:creationId xmlns:a16="http://schemas.microsoft.com/office/drawing/2014/main" id="{2E8D7DB8-61D8-4272-BA10-FBC1678CFB17}"/>
              </a:ext>
            </a:extLst>
          </p:cNvPr>
          <p:cNvSpPr txBox="1"/>
          <p:nvPr/>
        </p:nvSpPr>
        <p:spPr>
          <a:xfrm>
            <a:off x="247719" y="224527"/>
            <a:ext cx="802877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kumimoji="1" sz="3200" b="1">
                <a:latin typeface="华光胖头鱼_CNKI" panose="02000500000000000000" pitchFamily="2" charset="-122"/>
                <a:ea typeface="华光胖头鱼_CNKI" panose="02000500000000000000" pitchFamily="2" charset="-122"/>
              </a:defRPr>
            </a:lvl1pPr>
          </a:lstStyle>
          <a:p>
            <a:r>
              <a:rPr lang="en-US" altLang="zh-CN"/>
              <a:t>7.8</a:t>
            </a:r>
            <a:r>
              <a:rPr lang="zh-CN" altLang="en-US" dirty="0"/>
              <a:t>编程案例：模拟数字时钟</a:t>
            </a:r>
          </a:p>
        </p:txBody>
      </p:sp>
      <p:grpSp>
        <p:nvGrpSpPr>
          <p:cNvPr id="22" name="组合 21">
            <a:extLst>
              <a:ext uri="{FF2B5EF4-FFF2-40B4-BE49-F238E27FC236}">
                <a16:creationId xmlns:a16="http://schemas.microsoft.com/office/drawing/2014/main" id="{2E5101DB-C27D-4E36-AA42-D645222B9E9F}"/>
              </a:ext>
            </a:extLst>
          </p:cNvPr>
          <p:cNvGrpSpPr/>
          <p:nvPr/>
        </p:nvGrpSpPr>
        <p:grpSpPr>
          <a:xfrm>
            <a:off x="1588" y="857031"/>
            <a:ext cx="5508258" cy="2996382"/>
            <a:chOff x="-40090" y="898967"/>
            <a:chExt cx="5020810" cy="2913600"/>
          </a:xfrm>
        </p:grpSpPr>
        <p:pic>
          <p:nvPicPr>
            <p:cNvPr id="17" name="图片 16">
              <a:extLst>
                <a:ext uri="{FF2B5EF4-FFF2-40B4-BE49-F238E27FC236}">
                  <a16:creationId xmlns:a16="http://schemas.microsoft.com/office/drawing/2014/main" id="{A9E0712F-D61B-4A64-8FA4-2B6633311E8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40090" y="898967"/>
              <a:ext cx="5020810" cy="2913600"/>
            </a:xfrm>
            <a:prstGeom prst="rect">
              <a:avLst/>
            </a:prstGeom>
          </p:spPr>
        </p:pic>
        <p:cxnSp>
          <p:nvCxnSpPr>
            <p:cNvPr id="18" name="直接连接符 17">
              <a:extLst>
                <a:ext uri="{FF2B5EF4-FFF2-40B4-BE49-F238E27FC236}">
                  <a16:creationId xmlns:a16="http://schemas.microsoft.com/office/drawing/2014/main" id="{5F539A60-05D7-43B7-8B59-33029EB193B4}"/>
                </a:ext>
              </a:extLst>
            </p:cNvPr>
            <p:cNvCxnSpPr>
              <a:cxnSpLocks/>
            </p:cNvCxnSpPr>
            <p:nvPr/>
          </p:nvCxnSpPr>
          <p:spPr>
            <a:xfrm>
              <a:off x="90452" y="1625012"/>
              <a:ext cx="3274071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7" name="图片 6">
            <a:extLst>
              <a:ext uri="{FF2B5EF4-FFF2-40B4-BE49-F238E27FC236}">
                <a16:creationId xmlns:a16="http://schemas.microsoft.com/office/drawing/2014/main" id="{14843DE2-7427-487C-BF3E-164F22450D0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899" y="2396613"/>
            <a:ext cx="7026249" cy="1844200"/>
          </a:xfrm>
          <a:prstGeom prst="rect">
            <a:avLst/>
          </a:prstGeom>
        </p:spPr>
      </p:pic>
      <p:sp>
        <p:nvSpPr>
          <p:cNvPr id="20" name="文本框 19">
            <a:extLst>
              <a:ext uri="{FF2B5EF4-FFF2-40B4-BE49-F238E27FC236}">
                <a16:creationId xmlns:a16="http://schemas.microsoft.com/office/drawing/2014/main" id="{21B8E6E2-EBD7-438A-991C-7C55FFCF45BB}"/>
              </a:ext>
            </a:extLst>
          </p:cNvPr>
          <p:cNvSpPr txBox="1"/>
          <p:nvPr/>
        </p:nvSpPr>
        <p:spPr>
          <a:xfrm>
            <a:off x="144804" y="5121288"/>
            <a:ext cx="662860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FF0000"/>
                </a:solidFill>
                <a:latin typeface="Comic Sans MS" panose="030F0702030302020204" pitchFamily="66" charset="0"/>
              </a:rPr>
              <a:t>clock_t start=clock();</a:t>
            </a:r>
          </a:p>
          <a:p>
            <a:r>
              <a:rPr lang="zh-CN" altLang="en-US" b="1" dirty="0">
                <a:solidFill>
                  <a:srgbClr val="FF0000"/>
                </a:solidFill>
                <a:latin typeface="Comic Sans MS" panose="030F0702030302020204" pitchFamily="66" charset="0"/>
              </a:rPr>
              <a:t>while(clock()-start&lt;CLOCKS_PER_SEC);</a:t>
            </a:r>
          </a:p>
        </p:txBody>
      </p:sp>
      <p:sp>
        <p:nvSpPr>
          <p:cNvPr id="21" name="矩形 2">
            <a:extLst>
              <a:ext uri="{FF2B5EF4-FFF2-40B4-BE49-F238E27FC236}">
                <a16:creationId xmlns:a16="http://schemas.microsoft.com/office/drawing/2014/main" id="{D475D63E-D536-4A4F-8131-274B44F0F3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658" y="4300188"/>
            <a:ext cx="4389747" cy="954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r>
              <a:rPr lang="zh-CN" altLang="en-US" sz="2800" b="0" dirty="0">
                <a:solidFill>
                  <a:srgbClr val="FF0000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改进</a:t>
            </a:r>
            <a:r>
              <a:rPr lang="en-US" altLang="zh-CN" sz="2800" b="0" dirty="0">
                <a:solidFill>
                  <a:srgbClr val="FF0000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2</a:t>
            </a:r>
            <a:r>
              <a:rPr lang="zh-CN" altLang="en-US" sz="2800" b="0" dirty="0">
                <a:solidFill>
                  <a:srgbClr val="FF0000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：</a:t>
            </a:r>
            <a:endParaRPr lang="en-US" altLang="zh-CN" sz="2800" b="0" dirty="0">
              <a:solidFill>
                <a:srgbClr val="FF0000"/>
              </a:solidFill>
              <a:latin typeface="华光行书_CNKI" panose="02000500000000000000" pitchFamily="2" charset="-122"/>
              <a:ea typeface="华光行书_CNKI" panose="02000500000000000000" pitchFamily="2" charset="-122"/>
            </a:endParaRPr>
          </a:p>
          <a:p>
            <a:pPr marL="176213">
              <a:buFont typeface="Arial" panose="020B0604020202020204" pitchFamily="34" charset="0"/>
              <a:buChar char="•"/>
            </a:pPr>
            <a:r>
              <a:rPr lang="zh-CN" altLang="en-US" sz="2800" b="0" dirty="0">
                <a:solidFill>
                  <a:srgbClr val="104E87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空循环实现延迟</a:t>
            </a:r>
            <a:endParaRPr lang="zh-CN" altLang="en-US" sz="2800" dirty="0">
              <a:solidFill>
                <a:srgbClr val="104E87"/>
              </a:solidFill>
              <a:latin typeface="华光行书_CNKI" panose="02000500000000000000" pitchFamily="2" charset="-122"/>
              <a:ea typeface="华光行书_CNKI" panose="02000500000000000000" pitchFamily="2" charset="-122"/>
            </a:endParaRPr>
          </a:p>
        </p:txBody>
      </p: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FD593856-209C-4ECD-A3A1-1A553B4A9FF9}"/>
              </a:ext>
            </a:extLst>
          </p:cNvPr>
          <p:cNvGrpSpPr/>
          <p:nvPr/>
        </p:nvGrpSpPr>
        <p:grpSpPr>
          <a:xfrm>
            <a:off x="9408852" y="0"/>
            <a:ext cx="2795665" cy="4771368"/>
            <a:chOff x="9408853" y="-60924"/>
            <a:chExt cx="2768248" cy="4832292"/>
          </a:xfrm>
        </p:grpSpPr>
        <p:pic>
          <p:nvPicPr>
            <p:cNvPr id="23" name="图片 22">
              <a:extLst>
                <a:ext uri="{FF2B5EF4-FFF2-40B4-BE49-F238E27FC236}">
                  <a16:creationId xmlns:a16="http://schemas.microsoft.com/office/drawing/2014/main" id="{F4E69FF2-2FBD-4350-B949-FD5D15B2E81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408853" y="-60924"/>
              <a:ext cx="2768248" cy="4832292"/>
            </a:xfrm>
            <a:prstGeom prst="rect">
              <a:avLst/>
            </a:prstGeom>
          </p:spPr>
        </p:pic>
        <p:cxnSp>
          <p:nvCxnSpPr>
            <p:cNvPr id="24" name="直接连接符 23">
              <a:extLst>
                <a:ext uri="{FF2B5EF4-FFF2-40B4-BE49-F238E27FC236}">
                  <a16:creationId xmlns:a16="http://schemas.microsoft.com/office/drawing/2014/main" id="{5868DE30-05CE-4047-8C6B-F5178A66B7FE}"/>
                </a:ext>
              </a:extLst>
            </p:cNvPr>
            <p:cNvCxnSpPr>
              <a:cxnSpLocks/>
            </p:cNvCxnSpPr>
            <p:nvPr/>
          </p:nvCxnSpPr>
          <p:spPr>
            <a:xfrm>
              <a:off x="9593604" y="3283544"/>
              <a:ext cx="1812950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8" name="图片 27">
            <a:extLst>
              <a:ext uri="{FF2B5EF4-FFF2-40B4-BE49-F238E27FC236}">
                <a16:creationId xmlns:a16="http://schemas.microsoft.com/office/drawing/2014/main" id="{D9A099AD-997F-4830-8ACC-957A4EFB39D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89787" y="4182778"/>
            <a:ext cx="6001419" cy="1406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31025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1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0A6AFAA0-4112-4B8A-A83A-8E4C7768D97E}"/>
              </a:ext>
            </a:extLst>
          </p:cNvPr>
          <p:cNvSpPr/>
          <p:nvPr/>
        </p:nvSpPr>
        <p:spPr>
          <a:xfrm>
            <a:off x="794" y="176798"/>
            <a:ext cx="12190413" cy="728917"/>
          </a:xfrm>
          <a:prstGeom prst="rect">
            <a:avLst/>
          </a:prstGeom>
          <a:solidFill>
            <a:srgbClr val="26CC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3200"/>
          </a:p>
        </p:txBody>
      </p:sp>
      <p:cxnSp>
        <p:nvCxnSpPr>
          <p:cNvPr id="3" name="直线连接符 6">
            <a:extLst>
              <a:ext uri="{FF2B5EF4-FFF2-40B4-BE49-F238E27FC236}">
                <a16:creationId xmlns:a16="http://schemas.microsoft.com/office/drawing/2014/main" id="{7A5524DC-FCCA-4A5F-94B4-CD6A52B5CE6C}"/>
              </a:ext>
            </a:extLst>
          </p:cNvPr>
          <p:cNvCxnSpPr/>
          <p:nvPr/>
        </p:nvCxnSpPr>
        <p:spPr>
          <a:xfrm>
            <a:off x="1587" y="905715"/>
            <a:ext cx="12190413" cy="0"/>
          </a:xfrm>
          <a:prstGeom prst="line">
            <a:avLst/>
          </a:prstGeom>
          <a:ln>
            <a:solidFill>
              <a:srgbClr val="104D7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文本框 14">
            <a:extLst>
              <a:ext uri="{FF2B5EF4-FFF2-40B4-BE49-F238E27FC236}">
                <a16:creationId xmlns:a16="http://schemas.microsoft.com/office/drawing/2014/main" id="{2E8D7DB8-61D8-4272-BA10-FBC1678CFB17}"/>
              </a:ext>
            </a:extLst>
          </p:cNvPr>
          <p:cNvSpPr txBox="1"/>
          <p:nvPr/>
        </p:nvSpPr>
        <p:spPr>
          <a:xfrm>
            <a:off x="247719" y="224527"/>
            <a:ext cx="802877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kumimoji="1" sz="3200" b="1">
                <a:latin typeface="华光胖头鱼_CNKI" panose="02000500000000000000" pitchFamily="2" charset="-122"/>
                <a:ea typeface="华光胖头鱼_CNKI" panose="02000500000000000000" pitchFamily="2" charset="-122"/>
              </a:defRPr>
            </a:lvl1pPr>
          </a:lstStyle>
          <a:p>
            <a:r>
              <a:rPr lang="en-US" altLang="zh-CN" dirty="0"/>
              <a:t>7.8</a:t>
            </a:r>
            <a:r>
              <a:rPr lang="zh-CN" altLang="en-US" dirty="0"/>
              <a:t>编程案例：模拟数字时钟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1B43AF7E-E62E-4967-8471-BD6A1E48A607}"/>
              </a:ext>
            </a:extLst>
          </p:cNvPr>
          <p:cNvSpPr txBox="1"/>
          <p:nvPr/>
        </p:nvSpPr>
        <p:spPr>
          <a:xfrm>
            <a:off x="572267" y="1284140"/>
            <a:ext cx="7379676" cy="40934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2000" b="0">
                <a:solidFill>
                  <a:srgbClr val="104E87"/>
                </a:solidFill>
                <a:latin typeface="Comic Sans MS" panose="030F0702030302020204" pitchFamily="66" charset="0"/>
                <a:ea typeface="楷体_GB2312" pitchFamily="49" charset="-122"/>
              </a:defRPr>
            </a:lvl1pPr>
            <a:lvl2pPr marL="742950" indent="-285750">
              <a:defRPr sz="2000" b="1"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000" b="1"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000" b="1"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000" b="1"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r>
              <a:rPr lang="zh-CN" altLang="en-US" dirty="0"/>
              <a:t>int main( )</a:t>
            </a:r>
          </a:p>
          <a:p>
            <a:r>
              <a:rPr lang="zh-CN" altLang="en-US" dirty="0"/>
              <a:t>{  	</a:t>
            </a:r>
            <a:r>
              <a:rPr lang="zh-CN" altLang="en-US" b="1" dirty="0">
                <a:solidFill>
                  <a:srgbClr val="FF0000"/>
                </a:solidFill>
              </a:rPr>
              <a:t>time_t tt = time(NULL);</a:t>
            </a:r>
          </a:p>
          <a:p>
            <a:r>
              <a:rPr lang="zh-CN" altLang="en-US" b="1" dirty="0">
                <a:solidFill>
                  <a:srgbClr val="FF0000"/>
                </a:solidFill>
              </a:rPr>
              <a:t>	tm* t= localtime(&amp;tt);</a:t>
            </a:r>
          </a:p>
          <a:p>
            <a:r>
              <a:rPr lang="zh-CN" altLang="en-US" b="1" dirty="0">
                <a:solidFill>
                  <a:srgbClr val="FF0000"/>
                </a:solidFill>
              </a:rPr>
              <a:t>	Clock rolex(t-&gt;tm_hour,t-&gt;tm_min,t-&gt;tm_sec);</a:t>
            </a:r>
          </a:p>
          <a:p>
            <a:r>
              <a:rPr lang="zh-CN" altLang="en-US" dirty="0"/>
              <a:t>	cout&lt;&lt;"Rolex: \n"; </a:t>
            </a:r>
          </a:p>
          <a:p>
            <a:r>
              <a:rPr lang="zh-CN" altLang="en-US" dirty="0"/>
              <a:t>	for(int loop=1; loop&lt;=20; loop=loop+1) {</a:t>
            </a:r>
          </a:p>
          <a:p>
            <a:r>
              <a:rPr lang="zh-CN" altLang="en-US" dirty="0"/>
              <a:t>     	</a:t>
            </a:r>
            <a:r>
              <a:rPr lang="zh-CN" altLang="en-US" b="1" dirty="0">
                <a:solidFill>
                  <a:srgbClr val="FF0000"/>
                </a:solidFill>
              </a:rPr>
              <a:t>clock_t start=clock();</a:t>
            </a:r>
          </a:p>
          <a:p>
            <a:r>
              <a:rPr lang="zh-CN" altLang="en-US" b="1" dirty="0">
                <a:solidFill>
                  <a:srgbClr val="FF0000"/>
                </a:solidFill>
              </a:rPr>
              <a:t>     	while(clock()-start&lt;CLOCKS_PER_SEC);</a:t>
            </a:r>
          </a:p>
          <a:p>
            <a:r>
              <a:rPr lang="zh-CN" altLang="en-US" dirty="0"/>
              <a:t>	rolex.update();</a:t>
            </a:r>
          </a:p>
          <a:p>
            <a:r>
              <a:rPr lang="zh-CN" altLang="en-US" dirty="0"/>
              <a:t>	rolex.showTime ();</a:t>
            </a:r>
          </a:p>
          <a:p>
            <a:r>
              <a:rPr lang="zh-CN" altLang="en-US" dirty="0"/>
              <a:t>	}</a:t>
            </a:r>
          </a:p>
          <a:p>
            <a:r>
              <a:rPr lang="zh-CN" altLang="en-US" dirty="0"/>
              <a:t>	return 0;</a:t>
            </a:r>
          </a:p>
          <a:p>
            <a:r>
              <a:rPr lang="zh-CN" altLang="en-US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29868128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561DD580-94DB-47FD-ADDA-8ED25B09FDC0}"/>
              </a:ext>
            </a:extLst>
          </p:cNvPr>
          <p:cNvSpPr txBox="1"/>
          <p:nvPr/>
        </p:nvSpPr>
        <p:spPr>
          <a:xfrm>
            <a:off x="2028091" y="1710968"/>
            <a:ext cx="8522677" cy="31547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9900" b="1" dirty="0">
                <a:solidFill>
                  <a:srgbClr val="104E87"/>
                </a:solidFill>
                <a:latin typeface="Showcard Gothic" panose="04020904020102020604" pitchFamily="82" charset="0"/>
              </a:rPr>
              <a:t>END</a:t>
            </a:r>
            <a:endParaRPr lang="zh-CN" altLang="en-US" sz="19900" b="1" dirty="0">
              <a:solidFill>
                <a:srgbClr val="104E87"/>
              </a:solidFill>
              <a:latin typeface="Showcard Gothic" panose="04020904020102020604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28149453"/>
      </p:ext>
    </p:extLst>
  </p:cSld>
  <p:clrMapOvr>
    <a:masterClrMapping/>
  </p:clrMapOvr>
</p:sld>
</file>

<file path=ppt/theme/theme1.xml><?xml version="1.0" encoding="utf-8"?>
<a:theme xmlns:a="http://schemas.openxmlformats.org/drawingml/2006/main" name="www.2ppt.com">
  <a:themeElements>
    <a:clrScheme name="自定义 78">
      <a:dk1>
        <a:srgbClr val="191919"/>
      </a:dk1>
      <a:lt1>
        <a:sysClr val="window" lastClr="FFFFFF"/>
      </a:lt1>
      <a:dk2>
        <a:srgbClr val="EFEFEF"/>
      </a:dk2>
      <a:lt2>
        <a:srgbClr val="2D2D2D"/>
      </a:lt2>
      <a:accent1>
        <a:srgbClr val="104D7E"/>
      </a:accent1>
      <a:accent2>
        <a:srgbClr val="26CCC5"/>
      </a:accent2>
      <a:accent3>
        <a:srgbClr val="1B8DA8"/>
      </a:accent3>
      <a:accent4>
        <a:srgbClr val="104E87"/>
      </a:accent4>
      <a:accent5>
        <a:srgbClr val="4BACC6"/>
      </a:accent5>
      <a:accent6>
        <a:srgbClr val="808684"/>
      </a:accent6>
      <a:hlink>
        <a:srgbClr val="808080"/>
      </a:hlink>
      <a:folHlink>
        <a:srgbClr val="800080"/>
      </a:folHlink>
    </a:clrScheme>
    <a:fontScheme name="Century Gothic">
      <a:majorFont>
        <a:latin typeface="Century Gothic"/>
        <a:ea typeface="微软雅黑"/>
        <a:cs typeface=""/>
      </a:majorFont>
      <a:minorFont>
        <a:latin typeface="Century Gothic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75392</TotalTime>
  <Words>10232</Words>
  <Application>Microsoft Office PowerPoint</Application>
  <PresentationFormat>宽屏</PresentationFormat>
  <Paragraphs>1677</Paragraphs>
  <Slides>49</Slides>
  <Notes>41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49</vt:i4>
      </vt:variant>
    </vt:vector>
  </HeadingPairs>
  <TitlesOfParts>
    <vt:vector size="63" baseType="lpstr">
      <vt:lpstr>Helvetica Neue</vt:lpstr>
      <vt:lpstr>黑体</vt:lpstr>
      <vt:lpstr>华光淡古印_CNKI</vt:lpstr>
      <vt:lpstr>华光行书_CNKI</vt:lpstr>
      <vt:lpstr>华文琥珀</vt:lpstr>
      <vt:lpstr>宋体</vt:lpstr>
      <vt:lpstr>Arial</vt:lpstr>
      <vt:lpstr>Calibri</vt:lpstr>
      <vt:lpstr>Comic Sans MS</vt:lpstr>
      <vt:lpstr>Georgia</vt:lpstr>
      <vt:lpstr>Showcard Gothic</vt:lpstr>
      <vt:lpstr>Times New Roman</vt:lpstr>
      <vt:lpstr>Wingdings</vt:lpstr>
      <vt:lpstr>www.2ppt.com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www.2ppt.com-爱PPT提供资源下载</dc:title>
  <dc:subject>www.2ppt.com-爱PPT提供资源下载</dc:subject>
  <dc:creator>www.2ppt.com-爱PPT提供资源下载</dc:creator>
  <dc:description>www.2ppt.com-爱PPT提供资源下载</dc:description>
  <cp:lastModifiedBy>帅 方</cp:lastModifiedBy>
  <cp:revision>117</cp:revision>
  <dcterms:created xsi:type="dcterms:W3CDTF">2021-06-17T00:48:49Z</dcterms:created>
  <dcterms:modified xsi:type="dcterms:W3CDTF">2024-10-29T11:57:14Z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0x0101000DE64AEEDD9B7A4D93545ACBE97D4615</vt:lpwstr>
  </property>
  <property fmtid="{D5CDD505-2E9C-101B-9397-08002B2CF9AE}" pid="3" name="ICV">
    <vt:lpwstr>40B5B57ECECA411187AECB4299FD3BFC</vt:lpwstr>
  </property>
  <property fmtid="{D5CDD505-2E9C-101B-9397-08002B2CF9AE}" pid="4" name="KSOProductBuildVer">
    <vt:lpwstr>2052-11.1.0.10577</vt:lpwstr>
  </property>
  <property fmtid="{A09F084E-AD41-489F-8076-AA5BE3082BCA}" pid="100">
    <vt:ui4>5</vt:ui4>
  </property>
  <property fmtid="{64440492-4C8B-11D1-8B70-080036B11A03}" pid="11">
    <vt:lpwstr>www.2ppt.com-爱PPT提供资源下载</vt:lpwstr>
  </property>
</Properties>
</file>