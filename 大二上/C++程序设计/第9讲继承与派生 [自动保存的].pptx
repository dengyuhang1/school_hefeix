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4"/>
  </p:notesMasterIdLst>
  <p:handoutMasterIdLst>
    <p:handoutMasterId r:id="rId45"/>
  </p:handoutMasterIdLst>
  <p:sldIdLst>
    <p:sldId id="258" r:id="rId2"/>
    <p:sldId id="256" r:id="rId3"/>
    <p:sldId id="297" r:id="rId4"/>
    <p:sldId id="380" r:id="rId5"/>
    <p:sldId id="298" r:id="rId6"/>
    <p:sldId id="340" r:id="rId7"/>
    <p:sldId id="296" r:id="rId8"/>
    <p:sldId id="341" r:id="rId9"/>
    <p:sldId id="342" r:id="rId10"/>
    <p:sldId id="343" r:id="rId11"/>
    <p:sldId id="381" r:id="rId12"/>
    <p:sldId id="345" r:id="rId13"/>
    <p:sldId id="382" r:id="rId14"/>
    <p:sldId id="346" r:id="rId15"/>
    <p:sldId id="347" r:id="rId16"/>
    <p:sldId id="348" r:id="rId17"/>
    <p:sldId id="350" r:id="rId18"/>
    <p:sldId id="351" r:id="rId19"/>
    <p:sldId id="353" r:id="rId20"/>
    <p:sldId id="354" r:id="rId21"/>
    <p:sldId id="355" r:id="rId22"/>
    <p:sldId id="356" r:id="rId23"/>
    <p:sldId id="357" r:id="rId24"/>
    <p:sldId id="375" r:id="rId25"/>
    <p:sldId id="378" r:id="rId26"/>
    <p:sldId id="384" r:id="rId27"/>
    <p:sldId id="358" r:id="rId28"/>
    <p:sldId id="361" r:id="rId29"/>
    <p:sldId id="362" r:id="rId30"/>
    <p:sldId id="363" r:id="rId31"/>
    <p:sldId id="364" r:id="rId32"/>
    <p:sldId id="365" r:id="rId33"/>
    <p:sldId id="366" r:id="rId34"/>
    <p:sldId id="367" r:id="rId35"/>
    <p:sldId id="368" r:id="rId36"/>
    <p:sldId id="369" r:id="rId37"/>
    <p:sldId id="370" r:id="rId38"/>
    <p:sldId id="372" r:id="rId39"/>
    <p:sldId id="371" r:id="rId40"/>
    <p:sldId id="373" r:id="rId41"/>
    <p:sldId id="290" r:id="rId42"/>
    <p:sldId id="376" r:id="rId43"/>
  </p:sldIdLst>
  <p:sldSz cx="12192000" cy="6858000"/>
  <p:notesSz cx="6858000" cy="9144000"/>
  <p:defaultTextStyle>
    <a:defPPr>
      <a:defRPr lang="en-US"/>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6DBC"/>
    <a:srgbClr val="104E87"/>
    <a:srgbClr val="E73A1C"/>
    <a:srgbClr val="134F85"/>
    <a:srgbClr val="4BACC6"/>
    <a:srgbClr val="26CCC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987" autoAdjust="0"/>
  </p:normalViewPr>
  <p:slideViewPr>
    <p:cSldViewPr snapToGrid="0" snapToObjects="1">
      <p:cViewPr varScale="1">
        <p:scale>
          <a:sx n="69" d="100"/>
          <a:sy n="69" d="100"/>
        </p:scale>
        <p:origin x="960" y="67"/>
      </p:cViewPr>
      <p:guideLst>
        <p:guide orient="horz" pos="2160"/>
        <p:guide pos="3840"/>
      </p:guideLst>
    </p:cSldViewPr>
  </p:slideViewPr>
  <p:notesTextViewPr>
    <p:cViewPr>
      <p:scale>
        <a:sx n="100" d="100"/>
        <a:sy n="100" d="100"/>
      </p:scale>
      <p:origin x="0" y="0"/>
    </p:cViewPr>
  </p:notesTextViewPr>
  <p:sorterViewPr>
    <p:cViewPr>
      <p:scale>
        <a:sx n="149" d="100"/>
        <a:sy n="149"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2024/11/18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D7CE4F-55EC-46C0-A1F9-6BD8F4BE0E6B}" type="datetimeFigureOut">
              <a:rPr lang="zh-CN" altLang="en-US" smtClean="0"/>
              <a:t>2024/11/18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ABDA6A-29CD-4D28-B6EA-E8D4FFDF604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在继承中发展，在发展中创新</a:t>
            </a:r>
          </a:p>
        </p:txBody>
      </p:sp>
      <p:sp>
        <p:nvSpPr>
          <p:cNvPr id="4" name="灯片编号占位符 3"/>
          <p:cNvSpPr>
            <a:spLocks noGrp="1"/>
          </p:cNvSpPr>
          <p:nvPr>
            <p:ph type="sldNum" sz="quarter" idx="5"/>
          </p:nvPr>
        </p:nvSpPr>
        <p:spPr/>
        <p:txBody>
          <a:bodyPr/>
          <a:lstStyle/>
          <a:p>
            <a:fld id="{A8ABDA6A-29CD-4D28-B6EA-E8D4FFDF6043}" type="slidenum">
              <a:rPr lang="zh-CN" altLang="en-US" smtClean="0"/>
              <a:t>1</a:t>
            </a:fld>
            <a:endParaRPr lang="zh-CN" altLang="en-US"/>
          </a:p>
        </p:txBody>
      </p:sp>
    </p:spTree>
    <p:extLst>
      <p:ext uri="{BB962C8B-B14F-4D97-AF65-F5344CB8AC3E}">
        <p14:creationId xmlns:p14="http://schemas.microsoft.com/office/powerpoint/2010/main" val="1207823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2</a:t>
            </a:fld>
            <a:endParaRPr lang="zh-CN" altLang="en-US"/>
          </a:p>
        </p:txBody>
      </p:sp>
    </p:spTree>
    <p:extLst>
      <p:ext uri="{BB962C8B-B14F-4D97-AF65-F5344CB8AC3E}">
        <p14:creationId xmlns:p14="http://schemas.microsoft.com/office/powerpoint/2010/main" val="957685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a:t>
            </a:fld>
            <a:endParaRPr lang="zh-CN" altLang="en-US"/>
          </a:p>
        </p:txBody>
      </p:sp>
    </p:spTree>
    <p:extLst>
      <p:ext uri="{BB962C8B-B14F-4D97-AF65-F5344CB8AC3E}">
        <p14:creationId xmlns:p14="http://schemas.microsoft.com/office/powerpoint/2010/main" val="3863909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4</a:t>
            </a:fld>
            <a:endParaRPr lang="zh-CN" altLang="en-US"/>
          </a:p>
        </p:txBody>
      </p:sp>
    </p:spTree>
    <p:extLst>
      <p:ext uri="{BB962C8B-B14F-4D97-AF65-F5344CB8AC3E}">
        <p14:creationId xmlns:p14="http://schemas.microsoft.com/office/powerpoint/2010/main" val="2444218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5</a:t>
            </a:fld>
            <a:endParaRPr lang="zh-CN" altLang="en-US"/>
          </a:p>
        </p:txBody>
      </p:sp>
    </p:spTree>
    <p:extLst>
      <p:ext uri="{BB962C8B-B14F-4D97-AF65-F5344CB8AC3E}">
        <p14:creationId xmlns:p14="http://schemas.microsoft.com/office/powerpoint/2010/main" val="2639954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6</a:t>
            </a:fld>
            <a:endParaRPr lang="zh-CN" altLang="en-US"/>
          </a:p>
        </p:txBody>
      </p:sp>
    </p:spTree>
    <p:extLst>
      <p:ext uri="{BB962C8B-B14F-4D97-AF65-F5344CB8AC3E}">
        <p14:creationId xmlns:p14="http://schemas.microsoft.com/office/powerpoint/2010/main" val="2240114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7</a:t>
            </a:fld>
            <a:endParaRPr lang="zh-CN" altLang="en-US"/>
          </a:p>
        </p:txBody>
      </p:sp>
    </p:spTree>
    <p:extLst>
      <p:ext uri="{BB962C8B-B14F-4D97-AF65-F5344CB8AC3E}">
        <p14:creationId xmlns:p14="http://schemas.microsoft.com/office/powerpoint/2010/main" val="1414194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8</a:t>
            </a:fld>
            <a:endParaRPr lang="zh-CN" altLang="en-US"/>
          </a:p>
        </p:txBody>
      </p:sp>
    </p:spTree>
    <p:extLst>
      <p:ext uri="{BB962C8B-B14F-4D97-AF65-F5344CB8AC3E}">
        <p14:creationId xmlns:p14="http://schemas.microsoft.com/office/powerpoint/2010/main" val="1720897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9</a:t>
            </a:fld>
            <a:endParaRPr lang="zh-CN" altLang="en-US"/>
          </a:p>
        </p:txBody>
      </p:sp>
    </p:spTree>
    <p:extLst>
      <p:ext uri="{BB962C8B-B14F-4D97-AF65-F5344CB8AC3E}">
        <p14:creationId xmlns:p14="http://schemas.microsoft.com/office/powerpoint/2010/main" val="4007118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10</a:t>
            </a:fld>
            <a:endParaRPr lang="zh-CN" altLang="en-US"/>
          </a:p>
        </p:txBody>
      </p:sp>
    </p:spTree>
    <p:extLst>
      <p:ext uri="{BB962C8B-B14F-4D97-AF65-F5344CB8AC3E}">
        <p14:creationId xmlns:p14="http://schemas.microsoft.com/office/powerpoint/2010/main" val="385197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class Point {	</a:t>
            </a:r>
          </a:p>
          <a:p>
            <a:r>
              <a:rPr lang="en-US" altLang="zh-CN" dirty="0"/>
              <a:t>public:	</a:t>
            </a:r>
          </a:p>
          <a:p>
            <a:r>
              <a:rPr lang="en-US" altLang="zh-CN" dirty="0"/>
              <a:t>	void </a:t>
            </a:r>
            <a:r>
              <a:rPr lang="en-US" altLang="zh-CN" dirty="0" err="1"/>
              <a:t>setPoint</a:t>
            </a:r>
            <a:r>
              <a:rPr lang="en-US" altLang="zh-CN" dirty="0"/>
              <a:t>(float x, float y);</a:t>
            </a:r>
          </a:p>
          <a:p>
            <a:r>
              <a:rPr lang="en-US" altLang="zh-CN" dirty="0"/>
              <a:t>	void move(float </a:t>
            </a:r>
            <a:r>
              <a:rPr lang="en-US" altLang="zh-CN" dirty="0" err="1"/>
              <a:t>offX</a:t>
            </a:r>
            <a:r>
              <a:rPr lang="en-US" altLang="zh-CN" dirty="0"/>
              <a:t>, float </a:t>
            </a:r>
            <a:r>
              <a:rPr lang="en-US" altLang="zh-CN" dirty="0" err="1"/>
              <a:t>offY</a:t>
            </a:r>
            <a:r>
              <a:rPr lang="en-US" altLang="zh-CN" dirty="0"/>
              <a:t>);</a:t>
            </a:r>
          </a:p>
          <a:p>
            <a:r>
              <a:rPr lang="en-US" altLang="zh-CN" dirty="0"/>
              <a:t>	float </a:t>
            </a:r>
            <a:r>
              <a:rPr lang="en-US" altLang="zh-CN" dirty="0" err="1"/>
              <a:t>getX</a:t>
            </a:r>
            <a:r>
              <a:rPr lang="en-US" altLang="zh-CN" dirty="0"/>
              <a:t>() const { return x; }</a:t>
            </a:r>
          </a:p>
          <a:p>
            <a:r>
              <a:rPr lang="en-US" altLang="zh-CN" dirty="0"/>
              <a:t>	float </a:t>
            </a:r>
            <a:r>
              <a:rPr lang="en-US" altLang="zh-CN" dirty="0" err="1"/>
              <a:t>getY</a:t>
            </a:r>
            <a:r>
              <a:rPr lang="en-US" altLang="zh-CN" dirty="0"/>
              <a:t>() const { return y; }</a:t>
            </a:r>
          </a:p>
          <a:p>
            <a:r>
              <a:rPr lang="en-US" altLang="zh-CN" dirty="0"/>
              <a:t>private:		</a:t>
            </a:r>
          </a:p>
          <a:p>
            <a:r>
              <a:rPr lang="en-US" altLang="zh-CN" dirty="0"/>
              <a:t>	float x, y;</a:t>
            </a:r>
          </a:p>
          <a:p>
            <a:r>
              <a:rPr lang="en-US" altLang="zh-CN" dirty="0"/>
              <a:t>};</a:t>
            </a:r>
          </a:p>
          <a:p>
            <a:endParaRPr lang="en-US" altLang="zh-CN" dirty="0"/>
          </a:p>
          <a:p>
            <a:r>
              <a:rPr lang="en-US" altLang="zh-CN" dirty="0"/>
              <a:t>///////////////////////////////////////////////////////////////////////////</a:t>
            </a:r>
          </a:p>
          <a:p>
            <a:r>
              <a:rPr lang="en-US" altLang="zh-CN" dirty="0"/>
              <a:t>#include "</a:t>
            </a:r>
            <a:r>
              <a:rPr lang="en-US" altLang="zh-CN" dirty="0" err="1"/>
              <a:t>point.h</a:t>
            </a:r>
            <a:r>
              <a:rPr lang="en-US" altLang="zh-CN" dirty="0"/>
              <a:t>"</a:t>
            </a:r>
          </a:p>
          <a:p>
            <a:r>
              <a:rPr lang="en-US" altLang="zh-CN" dirty="0"/>
              <a:t>class Rectangle: public Point{</a:t>
            </a:r>
          </a:p>
          <a:p>
            <a:r>
              <a:rPr lang="en-US" altLang="zh-CN" dirty="0"/>
              <a:t>public:	</a:t>
            </a:r>
          </a:p>
          <a:p>
            <a:r>
              <a:rPr lang="en-US" altLang="zh-CN" dirty="0"/>
              <a:t>	void </a:t>
            </a:r>
            <a:r>
              <a:rPr lang="en-US" altLang="zh-CN" dirty="0" err="1"/>
              <a:t>setRectangle</a:t>
            </a:r>
            <a:r>
              <a:rPr lang="en-US" altLang="zh-CN" dirty="0"/>
              <a:t>(float </a:t>
            </a:r>
            <a:r>
              <a:rPr lang="en-US" altLang="zh-CN" dirty="0" err="1"/>
              <a:t>x,float</a:t>
            </a:r>
            <a:r>
              <a:rPr lang="en-US" altLang="zh-CN" dirty="0"/>
              <a:t> y, float w, float h) </a:t>
            </a:r>
          </a:p>
          <a:p>
            <a:r>
              <a:rPr lang="en-US" altLang="zh-CN" dirty="0"/>
              <a:t>	{	</a:t>
            </a:r>
            <a:r>
              <a:rPr lang="en-US" altLang="zh-CN" dirty="0" err="1"/>
              <a:t>setPoint</a:t>
            </a:r>
            <a:r>
              <a:rPr lang="en-US" altLang="zh-CN" dirty="0"/>
              <a:t>(x, y); </a:t>
            </a:r>
          </a:p>
          <a:p>
            <a:r>
              <a:rPr lang="en-US" altLang="zh-CN" dirty="0"/>
              <a:t>		this-&gt;w = w;</a:t>
            </a:r>
          </a:p>
          <a:p>
            <a:r>
              <a:rPr lang="en-US" altLang="zh-CN" dirty="0"/>
              <a:t>		this-&gt;h = h;</a:t>
            </a:r>
          </a:p>
          <a:p>
            <a:r>
              <a:rPr lang="en-US" altLang="zh-CN" dirty="0"/>
              <a:t>	}</a:t>
            </a:r>
          </a:p>
          <a:p>
            <a:r>
              <a:rPr lang="en-US" altLang="zh-CN" dirty="0"/>
              <a:t>	float </a:t>
            </a:r>
            <a:r>
              <a:rPr lang="en-US" altLang="zh-CN" dirty="0" err="1"/>
              <a:t>getH</a:t>
            </a:r>
            <a:r>
              <a:rPr lang="en-US" altLang="zh-CN" dirty="0"/>
              <a:t>() const { return h; }</a:t>
            </a:r>
          </a:p>
          <a:p>
            <a:r>
              <a:rPr lang="en-US" altLang="zh-CN" dirty="0"/>
              <a:t>	float </a:t>
            </a:r>
            <a:r>
              <a:rPr lang="en-US" altLang="zh-CN" dirty="0" err="1"/>
              <a:t>getW</a:t>
            </a:r>
            <a:r>
              <a:rPr lang="en-US" altLang="zh-CN" dirty="0"/>
              <a:t>() const { return w; }</a:t>
            </a:r>
          </a:p>
          <a:p>
            <a:r>
              <a:rPr lang="en-US" altLang="zh-CN" dirty="0"/>
              <a:t>private:</a:t>
            </a:r>
          </a:p>
          <a:p>
            <a:r>
              <a:rPr lang="en-US" altLang="zh-CN" dirty="0"/>
              <a:t>	float w, h;</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11</a:t>
            </a:fld>
            <a:endParaRPr lang="zh-CN" altLang="en-US"/>
          </a:p>
        </p:txBody>
      </p:sp>
    </p:spTree>
    <p:extLst>
      <p:ext uri="{BB962C8B-B14F-4D97-AF65-F5344CB8AC3E}">
        <p14:creationId xmlns:p14="http://schemas.microsoft.com/office/powerpoint/2010/main" val="2762026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a:t>
            </a:r>
            <a:r>
              <a:rPr lang="en-US" altLang="zh-CN" dirty="0" err="1"/>
              <a:t>point.h</a:t>
            </a:r>
            <a:r>
              <a:rPr lang="en-US" altLang="zh-CN" dirty="0"/>
              <a:t>"</a:t>
            </a:r>
          </a:p>
          <a:p>
            <a:r>
              <a:rPr lang="en-US" altLang="zh-CN" dirty="0"/>
              <a:t>void Point::</a:t>
            </a:r>
            <a:r>
              <a:rPr lang="en-US" altLang="zh-CN" dirty="0" err="1"/>
              <a:t>setPoint</a:t>
            </a:r>
            <a:r>
              <a:rPr lang="en-US" altLang="zh-CN" dirty="0"/>
              <a:t>(float x , float y)</a:t>
            </a:r>
          </a:p>
          <a:p>
            <a:r>
              <a:rPr lang="en-US" altLang="zh-CN" dirty="0"/>
              <a:t>{	this-&gt;x = x;</a:t>
            </a:r>
          </a:p>
          <a:p>
            <a:r>
              <a:rPr lang="en-US" altLang="zh-CN" dirty="0"/>
              <a:t>	this-&gt;y = y;</a:t>
            </a:r>
          </a:p>
          <a:p>
            <a:r>
              <a:rPr lang="en-US" altLang="zh-CN" dirty="0"/>
              <a:t>}</a:t>
            </a:r>
          </a:p>
          <a:p>
            <a:r>
              <a:rPr lang="en-US" altLang="zh-CN" dirty="0"/>
              <a:t>void Point::move(float </a:t>
            </a:r>
            <a:r>
              <a:rPr lang="en-US" altLang="zh-CN" dirty="0" err="1"/>
              <a:t>offX</a:t>
            </a:r>
            <a:r>
              <a:rPr lang="en-US" altLang="zh-CN" dirty="0"/>
              <a:t>, float </a:t>
            </a:r>
            <a:r>
              <a:rPr lang="en-US" altLang="zh-CN" dirty="0" err="1"/>
              <a:t>offY</a:t>
            </a:r>
            <a:r>
              <a:rPr lang="en-US" altLang="zh-CN" dirty="0"/>
              <a:t>)</a:t>
            </a:r>
          </a:p>
          <a:p>
            <a:r>
              <a:rPr lang="en-US" altLang="zh-CN" dirty="0"/>
              <a:t>{	x += </a:t>
            </a:r>
            <a:r>
              <a:rPr lang="en-US" altLang="zh-CN" dirty="0" err="1"/>
              <a:t>offX</a:t>
            </a:r>
            <a:r>
              <a:rPr lang="en-US" altLang="zh-CN" dirty="0"/>
              <a:t>; </a:t>
            </a:r>
          </a:p>
          <a:p>
            <a:r>
              <a:rPr lang="en-US" altLang="zh-CN" dirty="0"/>
              <a:t>	y += </a:t>
            </a:r>
            <a:r>
              <a:rPr lang="en-US" altLang="zh-CN" dirty="0" err="1"/>
              <a:t>offY</a:t>
            </a:r>
            <a:r>
              <a:rPr lang="en-US" altLang="zh-CN" dirty="0"/>
              <a:t>; </a:t>
            </a:r>
          </a:p>
          <a:p>
            <a:r>
              <a:rPr lang="en-US" altLang="zh-CN" dirty="0"/>
              <a:t>}</a:t>
            </a:r>
          </a:p>
          <a:p>
            <a:r>
              <a:rPr lang="en-US" altLang="zh-CN" dirty="0"/>
              <a:t>////////////////////////////////////////////////////////////////////////</a:t>
            </a:r>
          </a:p>
          <a:p>
            <a:r>
              <a:rPr lang="en-US" altLang="zh-CN" dirty="0"/>
              <a:t>#include &lt;iostream&gt;</a:t>
            </a:r>
          </a:p>
          <a:p>
            <a:r>
              <a:rPr lang="en-US" altLang="zh-CN" dirty="0"/>
              <a:t>#include "</a:t>
            </a:r>
            <a:r>
              <a:rPr lang="en-US" altLang="zh-CN" dirty="0" err="1"/>
              <a:t>Rectangle.h</a:t>
            </a:r>
            <a:r>
              <a:rPr lang="en-US" altLang="zh-CN" dirty="0"/>
              <a:t>"</a:t>
            </a:r>
          </a:p>
          <a:p>
            <a:r>
              <a:rPr lang="en-US" altLang="zh-CN" dirty="0"/>
              <a:t>using namespace std;</a:t>
            </a:r>
          </a:p>
          <a:p>
            <a:endParaRPr lang="en-US" altLang="zh-CN" dirty="0"/>
          </a:p>
          <a:p>
            <a:r>
              <a:rPr lang="en-US" altLang="zh-CN" dirty="0"/>
              <a:t>int main() {</a:t>
            </a:r>
          </a:p>
          <a:p>
            <a:r>
              <a:rPr lang="en-US" altLang="zh-CN" dirty="0"/>
              <a:t>	Rectangle </a:t>
            </a:r>
            <a:r>
              <a:rPr lang="en-US" altLang="zh-CN" dirty="0" err="1"/>
              <a:t>rect</a:t>
            </a:r>
            <a:r>
              <a:rPr lang="en-US" altLang="zh-CN" dirty="0"/>
              <a:t>;</a:t>
            </a:r>
          </a:p>
          <a:p>
            <a:r>
              <a:rPr lang="en-US" altLang="zh-CN" dirty="0"/>
              <a:t>	</a:t>
            </a:r>
            <a:r>
              <a:rPr lang="en-US" altLang="zh-CN" dirty="0" err="1"/>
              <a:t>rect.setRectangle</a:t>
            </a:r>
            <a:r>
              <a:rPr lang="en-US" altLang="zh-CN" dirty="0"/>
              <a:t>(2,3,20,10);</a:t>
            </a:r>
          </a:p>
          <a:p>
            <a:r>
              <a:rPr lang="en-US" altLang="zh-CN" dirty="0"/>
              <a:t>	</a:t>
            </a:r>
            <a:r>
              <a:rPr lang="en-US" altLang="zh-CN" dirty="0" err="1"/>
              <a:t>cout</a:t>
            </a:r>
            <a:r>
              <a:rPr lang="en-US" altLang="zh-CN" dirty="0"/>
              <a:t>&lt;&lt;"</a:t>
            </a:r>
            <a:r>
              <a:rPr lang="zh-CN" altLang="en-US" dirty="0"/>
              <a:t>矩形的数据：</a:t>
            </a:r>
            <a:r>
              <a:rPr lang="en-US" altLang="zh-CN" dirty="0"/>
              <a:t>\n";</a:t>
            </a:r>
          </a:p>
          <a:p>
            <a:r>
              <a:rPr lang="en-US" altLang="zh-CN" dirty="0"/>
              <a:t>	</a:t>
            </a:r>
            <a:r>
              <a:rPr lang="en-US" altLang="zh-CN" dirty="0" err="1"/>
              <a:t>cout</a:t>
            </a:r>
            <a:r>
              <a:rPr lang="en-US" altLang="zh-CN" dirty="0"/>
              <a:t>&lt;&lt;</a:t>
            </a:r>
            <a:r>
              <a:rPr lang="en-US" altLang="zh-CN" dirty="0" err="1"/>
              <a:t>rect.getX</a:t>
            </a:r>
            <a:r>
              <a:rPr lang="en-US" altLang="zh-CN" dirty="0"/>
              <a:t>()&lt;&lt;","&lt;&lt;</a:t>
            </a:r>
            <a:r>
              <a:rPr lang="en-US" altLang="zh-CN" dirty="0" err="1"/>
              <a:t>rect.getY</a:t>
            </a:r>
            <a:r>
              <a:rPr lang="en-US" altLang="zh-CN" dirty="0"/>
              <a:t>()&lt;&lt;","&lt;&lt;</a:t>
            </a:r>
            <a:r>
              <a:rPr lang="en-US" altLang="zh-CN" dirty="0" err="1"/>
              <a:t>rect.getW</a:t>
            </a:r>
            <a:r>
              <a:rPr lang="en-US" altLang="zh-CN" dirty="0"/>
              <a:t>()&lt;&lt;","&lt;&lt;</a:t>
            </a:r>
            <a:r>
              <a:rPr lang="en-US" altLang="zh-CN" dirty="0" err="1"/>
              <a:t>rect.getH</a:t>
            </a:r>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12</a:t>
            </a:fld>
            <a:endParaRPr lang="zh-CN" altLang="en-US"/>
          </a:p>
        </p:txBody>
      </p:sp>
    </p:spTree>
    <p:extLst>
      <p:ext uri="{BB962C8B-B14F-4D97-AF65-F5344CB8AC3E}">
        <p14:creationId xmlns:p14="http://schemas.microsoft.com/office/powerpoint/2010/main" val="2333083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13</a:t>
            </a:fld>
            <a:endParaRPr lang="zh-CN" altLang="en-US"/>
          </a:p>
        </p:txBody>
      </p:sp>
    </p:spTree>
    <p:extLst>
      <p:ext uri="{BB962C8B-B14F-4D97-AF65-F5344CB8AC3E}">
        <p14:creationId xmlns:p14="http://schemas.microsoft.com/office/powerpoint/2010/main" val="456533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14</a:t>
            </a:fld>
            <a:endParaRPr lang="zh-CN" altLang="en-US"/>
          </a:p>
        </p:txBody>
      </p:sp>
    </p:spTree>
    <p:extLst>
      <p:ext uri="{BB962C8B-B14F-4D97-AF65-F5344CB8AC3E}">
        <p14:creationId xmlns:p14="http://schemas.microsoft.com/office/powerpoint/2010/main" val="2003498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15</a:t>
            </a:fld>
            <a:endParaRPr lang="zh-CN" altLang="en-US"/>
          </a:p>
        </p:txBody>
      </p:sp>
    </p:spTree>
    <p:extLst>
      <p:ext uri="{BB962C8B-B14F-4D97-AF65-F5344CB8AC3E}">
        <p14:creationId xmlns:p14="http://schemas.microsoft.com/office/powerpoint/2010/main" val="348088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16</a:t>
            </a:fld>
            <a:endParaRPr lang="zh-CN" altLang="en-US"/>
          </a:p>
        </p:txBody>
      </p:sp>
    </p:spTree>
    <p:extLst>
      <p:ext uri="{BB962C8B-B14F-4D97-AF65-F5344CB8AC3E}">
        <p14:creationId xmlns:p14="http://schemas.microsoft.com/office/powerpoint/2010/main" val="504700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17</a:t>
            </a:fld>
            <a:endParaRPr lang="zh-CN" altLang="en-US"/>
          </a:p>
        </p:txBody>
      </p:sp>
    </p:spTree>
    <p:extLst>
      <p:ext uri="{BB962C8B-B14F-4D97-AF65-F5344CB8AC3E}">
        <p14:creationId xmlns:p14="http://schemas.microsoft.com/office/powerpoint/2010/main" val="3218594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18</a:t>
            </a:fld>
            <a:endParaRPr lang="zh-CN" altLang="en-US"/>
          </a:p>
        </p:txBody>
      </p:sp>
    </p:spTree>
    <p:extLst>
      <p:ext uri="{BB962C8B-B14F-4D97-AF65-F5344CB8AC3E}">
        <p14:creationId xmlns:p14="http://schemas.microsoft.com/office/powerpoint/2010/main" val="39525445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19</a:t>
            </a:fld>
            <a:endParaRPr lang="zh-CN" altLang="en-US"/>
          </a:p>
        </p:txBody>
      </p:sp>
    </p:spTree>
    <p:extLst>
      <p:ext uri="{BB962C8B-B14F-4D97-AF65-F5344CB8AC3E}">
        <p14:creationId xmlns:p14="http://schemas.microsoft.com/office/powerpoint/2010/main" val="33115550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20</a:t>
            </a:fld>
            <a:endParaRPr lang="zh-CN" altLang="en-US"/>
          </a:p>
        </p:txBody>
      </p:sp>
    </p:spTree>
    <p:extLst>
      <p:ext uri="{BB962C8B-B14F-4D97-AF65-F5344CB8AC3E}">
        <p14:creationId xmlns:p14="http://schemas.microsoft.com/office/powerpoint/2010/main" val="15927828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21</a:t>
            </a:fld>
            <a:endParaRPr lang="zh-CN" altLang="en-US"/>
          </a:p>
        </p:txBody>
      </p:sp>
    </p:spTree>
    <p:extLst>
      <p:ext uri="{BB962C8B-B14F-4D97-AF65-F5344CB8AC3E}">
        <p14:creationId xmlns:p14="http://schemas.microsoft.com/office/powerpoint/2010/main" val="1436854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22</a:t>
            </a:fld>
            <a:endParaRPr lang="zh-CN" altLang="en-US"/>
          </a:p>
        </p:txBody>
      </p:sp>
    </p:spTree>
    <p:extLst>
      <p:ext uri="{BB962C8B-B14F-4D97-AF65-F5344CB8AC3E}">
        <p14:creationId xmlns:p14="http://schemas.microsoft.com/office/powerpoint/2010/main" val="3576958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23</a:t>
            </a:fld>
            <a:endParaRPr lang="zh-CN" altLang="en-US"/>
          </a:p>
        </p:txBody>
      </p:sp>
    </p:spTree>
    <p:extLst>
      <p:ext uri="{BB962C8B-B14F-4D97-AF65-F5344CB8AC3E}">
        <p14:creationId xmlns:p14="http://schemas.microsoft.com/office/powerpoint/2010/main" val="32140367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24</a:t>
            </a:fld>
            <a:endParaRPr lang="zh-CN" altLang="en-US"/>
          </a:p>
        </p:txBody>
      </p:sp>
    </p:spTree>
    <p:extLst>
      <p:ext uri="{BB962C8B-B14F-4D97-AF65-F5344CB8AC3E}">
        <p14:creationId xmlns:p14="http://schemas.microsoft.com/office/powerpoint/2010/main" val="13673355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25</a:t>
            </a:fld>
            <a:endParaRPr lang="zh-CN" altLang="en-US"/>
          </a:p>
        </p:txBody>
      </p:sp>
    </p:spTree>
    <p:extLst>
      <p:ext uri="{BB962C8B-B14F-4D97-AF65-F5344CB8AC3E}">
        <p14:creationId xmlns:p14="http://schemas.microsoft.com/office/powerpoint/2010/main" val="872072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26</a:t>
            </a:fld>
            <a:endParaRPr lang="zh-CN" altLang="en-US"/>
          </a:p>
        </p:txBody>
      </p:sp>
    </p:spTree>
    <p:extLst>
      <p:ext uri="{BB962C8B-B14F-4D97-AF65-F5344CB8AC3E}">
        <p14:creationId xmlns:p14="http://schemas.microsoft.com/office/powerpoint/2010/main" val="4066583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class Base1 {</a:t>
            </a:r>
          </a:p>
          <a:p>
            <a:r>
              <a:rPr lang="en-US" altLang="zh-CN" dirty="0"/>
              <a:t>public:</a:t>
            </a:r>
          </a:p>
          <a:p>
            <a:r>
              <a:rPr lang="en-US" altLang="zh-CN" dirty="0"/>
              <a:t>	int var;</a:t>
            </a:r>
          </a:p>
          <a:p>
            <a:r>
              <a:rPr lang="en-US" altLang="zh-CN" dirty="0"/>
              <a:t>	void fun() { </a:t>
            </a:r>
            <a:r>
              <a:rPr lang="en-US" altLang="zh-CN" dirty="0" err="1"/>
              <a:t>cout</a:t>
            </a:r>
            <a:r>
              <a:rPr lang="en-US" altLang="zh-CN" dirty="0"/>
              <a:t> &lt;&lt; "Member of Base1" &lt;&lt; </a:t>
            </a:r>
            <a:r>
              <a:rPr lang="en-US" altLang="zh-CN" dirty="0" err="1"/>
              <a:t>endl</a:t>
            </a:r>
            <a:r>
              <a:rPr lang="en-US" altLang="zh-CN" dirty="0"/>
              <a:t>; }</a:t>
            </a:r>
          </a:p>
          <a:p>
            <a:r>
              <a:rPr lang="en-US" altLang="zh-CN" dirty="0"/>
              <a:t>};</a:t>
            </a:r>
          </a:p>
          <a:p>
            <a:r>
              <a:rPr lang="en-US" altLang="zh-CN" dirty="0"/>
              <a:t>class Base2 {</a:t>
            </a:r>
          </a:p>
          <a:p>
            <a:r>
              <a:rPr lang="en-US" altLang="zh-CN" dirty="0"/>
              <a:t>public:</a:t>
            </a:r>
          </a:p>
          <a:p>
            <a:r>
              <a:rPr lang="en-US" altLang="zh-CN" dirty="0"/>
              <a:t>	int var;</a:t>
            </a:r>
          </a:p>
          <a:p>
            <a:r>
              <a:rPr lang="en-US" altLang="zh-CN" dirty="0"/>
              <a:t>	void fun() { </a:t>
            </a:r>
            <a:r>
              <a:rPr lang="en-US" altLang="zh-CN" dirty="0" err="1"/>
              <a:t>cout</a:t>
            </a:r>
            <a:r>
              <a:rPr lang="en-US" altLang="zh-CN" dirty="0"/>
              <a:t> &lt;&lt; "Member of Base2" &lt;&lt; </a:t>
            </a:r>
            <a:r>
              <a:rPr lang="en-US" altLang="zh-CN" dirty="0" err="1"/>
              <a:t>endl</a:t>
            </a:r>
            <a:r>
              <a:rPr lang="en-US" altLang="zh-CN" dirty="0"/>
              <a:t>; }</a:t>
            </a:r>
          </a:p>
          <a:p>
            <a:r>
              <a:rPr lang="en-US" altLang="zh-CN" dirty="0"/>
              <a:t>};</a:t>
            </a:r>
          </a:p>
          <a:p>
            <a:r>
              <a:rPr lang="en-US" altLang="zh-CN" dirty="0"/>
              <a:t>class Derived: public Base1, public Base2{</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27</a:t>
            </a:fld>
            <a:endParaRPr lang="zh-CN" altLang="en-US"/>
          </a:p>
        </p:txBody>
      </p:sp>
    </p:spTree>
    <p:extLst>
      <p:ext uri="{BB962C8B-B14F-4D97-AF65-F5344CB8AC3E}">
        <p14:creationId xmlns:p14="http://schemas.microsoft.com/office/powerpoint/2010/main" val="19876318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28</a:t>
            </a:fld>
            <a:endParaRPr lang="zh-CN" altLang="en-US"/>
          </a:p>
        </p:txBody>
      </p:sp>
    </p:spTree>
    <p:extLst>
      <p:ext uri="{BB962C8B-B14F-4D97-AF65-F5344CB8AC3E}">
        <p14:creationId xmlns:p14="http://schemas.microsoft.com/office/powerpoint/2010/main" val="39331977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29</a:t>
            </a:fld>
            <a:endParaRPr lang="zh-CN" altLang="en-US"/>
          </a:p>
        </p:txBody>
      </p:sp>
    </p:spTree>
    <p:extLst>
      <p:ext uri="{BB962C8B-B14F-4D97-AF65-F5344CB8AC3E}">
        <p14:creationId xmlns:p14="http://schemas.microsoft.com/office/powerpoint/2010/main" val="86526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30</a:t>
            </a:fld>
            <a:endParaRPr lang="zh-CN" altLang="en-US"/>
          </a:p>
        </p:txBody>
      </p:sp>
    </p:spTree>
    <p:extLst>
      <p:ext uri="{BB962C8B-B14F-4D97-AF65-F5344CB8AC3E}">
        <p14:creationId xmlns:p14="http://schemas.microsoft.com/office/powerpoint/2010/main" val="26878123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31</a:t>
            </a:fld>
            <a:endParaRPr lang="zh-CN" altLang="en-US"/>
          </a:p>
        </p:txBody>
      </p:sp>
    </p:spTree>
    <p:extLst>
      <p:ext uri="{BB962C8B-B14F-4D97-AF65-F5344CB8AC3E}">
        <p14:creationId xmlns:p14="http://schemas.microsoft.com/office/powerpoint/2010/main" val="4102703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32</a:t>
            </a:fld>
            <a:endParaRPr lang="zh-CN" altLang="en-US"/>
          </a:p>
        </p:txBody>
      </p:sp>
    </p:spTree>
    <p:extLst>
      <p:ext uri="{BB962C8B-B14F-4D97-AF65-F5344CB8AC3E}">
        <p14:creationId xmlns:p14="http://schemas.microsoft.com/office/powerpoint/2010/main" val="3364716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33</a:t>
            </a:fld>
            <a:endParaRPr lang="zh-CN" altLang="en-US"/>
          </a:p>
        </p:txBody>
      </p:sp>
    </p:spTree>
    <p:extLst>
      <p:ext uri="{BB962C8B-B14F-4D97-AF65-F5344CB8AC3E}">
        <p14:creationId xmlns:p14="http://schemas.microsoft.com/office/powerpoint/2010/main" val="41364860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34</a:t>
            </a:fld>
            <a:endParaRPr lang="zh-CN" altLang="en-US"/>
          </a:p>
        </p:txBody>
      </p:sp>
    </p:spTree>
    <p:extLst>
      <p:ext uri="{BB962C8B-B14F-4D97-AF65-F5344CB8AC3E}">
        <p14:creationId xmlns:p14="http://schemas.microsoft.com/office/powerpoint/2010/main" val="23467043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35</a:t>
            </a:fld>
            <a:endParaRPr lang="zh-CN" altLang="en-US"/>
          </a:p>
        </p:txBody>
      </p:sp>
    </p:spTree>
    <p:extLst>
      <p:ext uri="{BB962C8B-B14F-4D97-AF65-F5344CB8AC3E}">
        <p14:creationId xmlns:p14="http://schemas.microsoft.com/office/powerpoint/2010/main" val="18192320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36</a:t>
            </a:fld>
            <a:endParaRPr lang="zh-CN" altLang="en-US"/>
          </a:p>
        </p:txBody>
      </p:sp>
    </p:spTree>
    <p:extLst>
      <p:ext uri="{BB962C8B-B14F-4D97-AF65-F5344CB8AC3E}">
        <p14:creationId xmlns:p14="http://schemas.microsoft.com/office/powerpoint/2010/main" val="30318698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37</a:t>
            </a:fld>
            <a:endParaRPr lang="zh-CN" altLang="en-US"/>
          </a:p>
        </p:txBody>
      </p:sp>
    </p:spTree>
    <p:extLst>
      <p:ext uri="{BB962C8B-B14F-4D97-AF65-F5344CB8AC3E}">
        <p14:creationId xmlns:p14="http://schemas.microsoft.com/office/powerpoint/2010/main" val="22424402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41</a:t>
            </a:fld>
            <a:endParaRPr lang="zh-CN" altLang="en-US"/>
          </a:p>
        </p:txBody>
      </p:sp>
    </p:spTree>
    <p:extLst>
      <p:ext uri="{BB962C8B-B14F-4D97-AF65-F5344CB8AC3E}">
        <p14:creationId xmlns:p14="http://schemas.microsoft.com/office/powerpoint/2010/main" val="2658973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5"/>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4"/>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accent3"/>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2_Blank">
    <p:bg>
      <p:bgPr>
        <a:solidFill>
          <a:schemeClr val="accent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6096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p:bodyStyle>
    <p:otherStyle>
      <a:defPPr>
        <a:defRPr lang="en-US"/>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7365" algn="l" defTabSz="609600" rtl="0" eaLnBrk="1" latinLnBrk="0" hangingPunct="1">
        <a:defRPr sz="2400" kern="1200">
          <a:solidFill>
            <a:schemeClr val="tx1"/>
          </a:solidFill>
          <a:latin typeface="+mn-lt"/>
          <a:ea typeface="+mn-ea"/>
          <a:cs typeface="+mn-cs"/>
        </a:defRPr>
      </a:lvl6pPr>
      <a:lvl7pPr marL="3656965" algn="l" defTabSz="609600" rtl="0" eaLnBrk="1" latinLnBrk="0" hangingPunct="1">
        <a:defRPr sz="2400" kern="1200">
          <a:solidFill>
            <a:schemeClr val="tx1"/>
          </a:solidFill>
          <a:latin typeface="+mn-lt"/>
          <a:ea typeface="+mn-ea"/>
          <a:cs typeface="+mn-cs"/>
        </a:defRPr>
      </a:lvl7pPr>
      <a:lvl8pPr marL="4266565" algn="l" defTabSz="609600" rtl="0" eaLnBrk="1" latinLnBrk="0" hangingPunct="1">
        <a:defRPr sz="2400" kern="1200">
          <a:solidFill>
            <a:schemeClr val="tx1"/>
          </a:solidFill>
          <a:latin typeface="+mn-lt"/>
          <a:ea typeface="+mn-ea"/>
          <a:cs typeface="+mn-cs"/>
        </a:defRPr>
      </a:lvl8pPr>
      <a:lvl9pPr marL="4876165" algn="l" defTabSz="6096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0" name="矩形 19"/>
          <p:cNvSpPr/>
          <p:nvPr/>
        </p:nvSpPr>
        <p:spPr>
          <a:xfrm>
            <a:off x="7231" y="2388"/>
            <a:ext cx="12190413" cy="2965058"/>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dirty="0"/>
          </a:p>
        </p:txBody>
      </p:sp>
      <p:sp>
        <p:nvSpPr>
          <p:cNvPr id="4" name="文本框 3"/>
          <p:cNvSpPr txBox="1"/>
          <p:nvPr/>
        </p:nvSpPr>
        <p:spPr>
          <a:xfrm>
            <a:off x="0" y="2965058"/>
            <a:ext cx="12197643" cy="1015663"/>
          </a:xfrm>
          <a:prstGeom prst="rect">
            <a:avLst/>
          </a:prstGeom>
          <a:noFill/>
        </p:spPr>
        <p:txBody>
          <a:bodyPr wrap="square" rtlCol="0">
            <a:spAutoFit/>
          </a:bodyPr>
          <a:lstStyle/>
          <a:p>
            <a:pPr algn="ctr"/>
            <a:r>
              <a:rPr lang="zh-CN" altLang="en-US" sz="6000" b="1" dirty="0">
                <a:latin typeface="华光淡古印_CNKI" panose="02000500000000000000" pitchFamily="2" charset="-122"/>
                <a:ea typeface="华光淡古印_CNKI" panose="02000500000000000000" pitchFamily="2" charset="-122"/>
              </a:rPr>
              <a:t>第</a:t>
            </a:r>
            <a:r>
              <a:rPr lang="en-US" altLang="zh-CN" sz="6000" b="1" dirty="0">
                <a:latin typeface="华光淡古印_CNKI" panose="02000500000000000000" pitchFamily="2" charset="-122"/>
                <a:ea typeface="华光淡古印_CNKI" panose="02000500000000000000" pitchFamily="2" charset="-122"/>
              </a:rPr>
              <a:t>9</a:t>
            </a:r>
            <a:r>
              <a:rPr lang="zh-CN" altLang="en-US" sz="6000" b="1" dirty="0">
                <a:latin typeface="华光淡古印_CNKI" panose="02000500000000000000" pitchFamily="2" charset="-122"/>
                <a:ea typeface="华光淡古印_CNKI" panose="02000500000000000000" pitchFamily="2" charset="-122"/>
              </a:rPr>
              <a:t>讲 继承与派生</a:t>
            </a:r>
            <a:endParaRPr lang="zh-CN" altLang="en-US" sz="6000" b="1" dirty="0">
              <a:latin typeface="华光淡古印_CNKI" panose="02000500000000000000" pitchFamily="2" charset="-122"/>
              <a:ea typeface="华光淡古印_CNKI" panose="02000500000000000000" pitchFamily="2" charset="-122"/>
              <a:sym typeface="+mn-lt"/>
            </a:endParaRPr>
          </a:p>
        </p:txBody>
      </p:sp>
      <p:grpSp>
        <p:nvGrpSpPr>
          <p:cNvPr id="11" name="组合 10"/>
          <p:cNvGrpSpPr/>
          <p:nvPr/>
        </p:nvGrpSpPr>
        <p:grpSpPr>
          <a:xfrm>
            <a:off x="3645249" y="2434852"/>
            <a:ext cx="363125" cy="413514"/>
            <a:chOff x="3170996" y="382686"/>
            <a:chExt cx="807829" cy="807829"/>
          </a:xfrm>
        </p:grpSpPr>
        <p:sp>
          <p:nvSpPr>
            <p:cNvPr id="6" name="椭圆 5"/>
            <p:cNvSpPr/>
            <p:nvPr/>
          </p:nvSpPr>
          <p:spPr>
            <a:xfrm>
              <a:off x="3170996" y="382686"/>
              <a:ext cx="807829" cy="807829"/>
            </a:xfrm>
            <a:prstGeom prst="ellipse">
              <a:avLst/>
            </a:prstGeom>
            <a:solidFill>
              <a:schemeClr val="tx1"/>
            </a:solidFill>
            <a:ln w="76200" cmpd="sng">
              <a:solidFill>
                <a:schemeClr val="accent5"/>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7" name="文本框 6"/>
            <p:cNvSpPr txBox="1"/>
            <p:nvPr/>
          </p:nvSpPr>
          <p:spPr>
            <a:xfrm>
              <a:off x="3349624" y="443558"/>
              <a:ext cx="450568" cy="508850"/>
            </a:xfrm>
            <a:prstGeom prst="rect">
              <a:avLst/>
            </a:prstGeom>
            <a:noFill/>
          </p:spPr>
          <p:txBody>
            <a:bodyPr wrap="none" rtlCol="0">
              <a:spAutoFit/>
            </a:bodyPr>
            <a:lstStyle/>
            <a:p>
              <a:pPr algn="ctr"/>
              <a:r>
                <a:rPr kumimoji="1" lang="en-US" altLang="zh-CN" sz="1800" b="1" dirty="0">
                  <a:solidFill>
                    <a:schemeClr val="accent5"/>
                  </a:solidFill>
                </a:rPr>
                <a:t>R</a:t>
              </a:r>
              <a:endParaRPr kumimoji="1" lang="zh-CN" altLang="en-US" sz="1800" b="1" dirty="0">
                <a:solidFill>
                  <a:schemeClr val="accent5"/>
                </a:solidFill>
              </a:endParaRPr>
            </a:p>
          </p:txBody>
        </p:sp>
      </p:grpSp>
      <p:grpSp>
        <p:nvGrpSpPr>
          <p:cNvPr id="2" name="组合 1"/>
          <p:cNvGrpSpPr/>
          <p:nvPr/>
        </p:nvGrpSpPr>
        <p:grpSpPr>
          <a:xfrm>
            <a:off x="3121733" y="2434852"/>
            <a:ext cx="363124" cy="413514"/>
            <a:chOff x="2173906" y="382686"/>
            <a:chExt cx="807829" cy="807829"/>
          </a:xfrm>
        </p:grpSpPr>
        <p:sp>
          <p:nvSpPr>
            <p:cNvPr id="5" name="椭圆 4"/>
            <p:cNvSpPr/>
            <p:nvPr/>
          </p:nvSpPr>
          <p:spPr>
            <a:xfrm>
              <a:off x="2173906" y="382686"/>
              <a:ext cx="807829" cy="807829"/>
            </a:xfrm>
            <a:prstGeom prst="ellipse">
              <a:avLst/>
            </a:prstGeom>
            <a:solidFill>
              <a:schemeClr val="tx1"/>
            </a:solidFill>
            <a:ln w="76200" cmpd="sng">
              <a:solidFill>
                <a:schemeClr val="accent2"/>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8" name="文本框 7"/>
            <p:cNvSpPr txBox="1"/>
            <p:nvPr/>
          </p:nvSpPr>
          <p:spPr>
            <a:xfrm>
              <a:off x="2355927" y="443558"/>
              <a:ext cx="443783" cy="508850"/>
            </a:xfrm>
            <a:prstGeom prst="rect">
              <a:avLst/>
            </a:prstGeom>
            <a:noFill/>
          </p:spPr>
          <p:txBody>
            <a:bodyPr wrap="none" rtlCol="0">
              <a:spAutoFit/>
            </a:bodyPr>
            <a:lstStyle/>
            <a:p>
              <a:pPr algn="ctr"/>
              <a:r>
                <a:rPr kumimoji="1" lang="en-US" altLang="zh-CN" sz="1800" b="1" dirty="0">
                  <a:solidFill>
                    <a:srgbClr val="26CCC5"/>
                  </a:solidFill>
                </a:rPr>
                <a:t>P</a:t>
              </a:r>
              <a:endParaRPr kumimoji="1" lang="zh-CN" altLang="en-US" sz="1800" b="1" dirty="0">
                <a:solidFill>
                  <a:srgbClr val="26CCC5"/>
                </a:solidFill>
              </a:endParaRPr>
            </a:p>
          </p:txBody>
        </p:sp>
      </p:grpSp>
      <p:grpSp>
        <p:nvGrpSpPr>
          <p:cNvPr id="12" name="组合 11"/>
          <p:cNvGrpSpPr/>
          <p:nvPr/>
        </p:nvGrpSpPr>
        <p:grpSpPr>
          <a:xfrm>
            <a:off x="4168766" y="2434852"/>
            <a:ext cx="363124" cy="413514"/>
            <a:chOff x="4168089" y="382686"/>
            <a:chExt cx="807830" cy="807829"/>
          </a:xfrm>
        </p:grpSpPr>
        <p:sp>
          <p:nvSpPr>
            <p:cNvPr id="9" name="椭圆 8"/>
            <p:cNvSpPr/>
            <p:nvPr/>
          </p:nvSpPr>
          <p:spPr>
            <a:xfrm>
              <a:off x="4168089" y="382686"/>
              <a:ext cx="807830" cy="807829"/>
            </a:xfrm>
            <a:prstGeom prst="ellipse">
              <a:avLst/>
            </a:prstGeom>
            <a:solidFill>
              <a:schemeClr val="tx1"/>
            </a:solidFill>
            <a:ln w="76200" cmpd="sng">
              <a:solidFill>
                <a:schemeClr val="accent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10" name="文本框 9"/>
            <p:cNvSpPr txBox="1"/>
            <p:nvPr/>
          </p:nvSpPr>
          <p:spPr>
            <a:xfrm>
              <a:off x="4304865" y="443558"/>
              <a:ext cx="534260" cy="508850"/>
            </a:xfrm>
            <a:prstGeom prst="rect">
              <a:avLst/>
            </a:prstGeom>
            <a:noFill/>
          </p:spPr>
          <p:txBody>
            <a:bodyPr wrap="none" rtlCol="0">
              <a:spAutoFit/>
            </a:bodyPr>
            <a:lstStyle/>
            <a:p>
              <a:pPr algn="ctr"/>
              <a:r>
                <a:rPr kumimoji="1" lang="en-US" altLang="zh-CN" sz="1800" b="1" dirty="0">
                  <a:solidFill>
                    <a:schemeClr val="accent3"/>
                  </a:solidFill>
                </a:rPr>
                <a:t>O</a:t>
              </a:r>
              <a:endParaRPr kumimoji="1" lang="zh-CN" altLang="en-US" sz="1800" b="1" dirty="0">
                <a:solidFill>
                  <a:schemeClr val="accent3"/>
                </a:solidFill>
              </a:endParaRPr>
            </a:p>
          </p:txBody>
        </p:sp>
      </p:grpSp>
      <p:grpSp>
        <p:nvGrpSpPr>
          <p:cNvPr id="13" name="组合 12"/>
          <p:cNvGrpSpPr/>
          <p:nvPr/>
        </p:nvGrpSpPr>
        <p:grpSpPr>
          <a:xfrm>
            <a:off x="4692282" y="2434852"/>
            <a:ext cx="363124" cy="413514"/>
            <a:chOff x="5165176" y="382686"/>
            <a:chExt cx="807829" cy="807829"/>
          </a:xfrm>
        </p:grpSpPr>
        <p:sp>
          <p:nvSpPr>
            <p:cNvPr id="15" name="椭圆 14"/>
            <p:cNvSpPr/>
            <p:nvPr/>
          </p:nvSpPr>
          <p:spPr>
            <a:xfrm>
              <a:off x="5165176" y="382686"/>
              <a:ext cx="807829" cy="807829"/>
            </a:xfrm>
            <a:prstGeom prst="ellipse">
              <a:avLst/>
            </a:prstGeom>
            <a:solidFill>
              <a:schemeClr val="tx1"/>
            </a:solidFill>
            <a:ln w="76200" cmpd="sng">
              <a:solidFill>
                <a:srgbClr val="104D7E"/>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16" name="文本框 15"/>
            <p:cNvSpPr txBox="1"/>
            <p:nvPr/>
          </p:nvSpPr>
          <p:spPr>
            <a:xfrm>
              <a:off x="5301956" y="443558"/>
              <a:ext cx="534259" cy="508850"/>
            </a:xfrm>
            <a:prstGeom prst="rect">
              <a:avLst/>
            </a:prstGeom>
            <a:noFill/>
          </p:spPr>
          <p:txBody>
            <a:bodyPr wrap="none" rtlCol="0">
              <a:spAutoFit/>
            </a:bodyPr>
            <a:lstStyle/>
            <a:p>
              <a:pPr algn="ctr"/>
              <a:r>
                <a:rPr kumimoji="1" lang="en-US" altLang="zh-CN" sz="1800" b="1" dirty="0">
                  <a:solidFill>
                    <a:schemeClr val="accent1"/>
                  </a:solidFill>
                </a:rPr>
                <a:t>G</a:t>
              </a:r>
              <a:endParaRPr kumimoji="1" lang="zh-CN" altLang="en-US" sz="1800" b="1" dirty="0">
                <a:solidFill>
                  <a:schemeClr val="accent1"/>
                </a:solidFill>
              </a:endParaRPr>
            </a:p>
          </p:txBody>
        </p:sp>
      </p:grpSp>
      <p:grpSp>
        <p:nvGrpSpPr>
          <p:cNvPr id="14" name="组合 13"/>
          <p:cNvGrpSpPr/>
          <p:nvPr/>
        </p:nvGrpSpPr>
        <p:grpSpPr>
          <a:xfrm>
            <a:off x="5215798" y="2434852"/>
            <a:ext cx="363124" cy="413514"/>
            <a:chOff x="6162270" y="382686"/>
            <a:chExt cx="807830" cy="807829"/>
          </a:xfrm>
        </p:grpSpPr>
        <p:sp>
          <p:nvSpPr>
            <p:cNvPr id="18" name="椭圆 17"/>
            <p:cNvSpPr/>
            <p:nvPr/>
          </p:nvSpPr>
          <p:spPr>
            <a:xfrm>
              <a:off x="6162270" y="382686"/>
              <a:ext cx="807830" cy="807829"/>
            </a:xfrm>
            <a:prstGeom prst="ellipse">
              <a:avLst/>
            </a:prstGeom>
            <a:solidFill>
              <a:schemeClr val="tx1"/>
            </a:solidFill>
            <a:ln w="76200" cmpd="sng">
              <a:solidFill>
                <a:schemeClr val="accent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19" name="文本框 18"/>
            <p:cNvSpPr txBox="1"/>
            <p:nvPr/>
          </p:nvSpPr>
          <p:spPr>
            <a:xfrm>
              <a:off x="6340893" y="443558"/>
              <a:ext cx="450570" cy="508850"/>
            </a:xfrm>
            <a:prstGeom prst="rect">
              <a:avLst/>
            </a:prstGeom>
            <a:noFill/>
          </p:spPr>
          <p:txBody>
            <a:bodyPr wrap="none" rtlCol="0">
              <a:spAutoFit/>
            </a:bodyPr>
            <a:lstStyle/>
            <a:p>
              <a:pPr algn="ctr"/>
              <a:r>
                <a:rPr kumimoji="1" lang="en-US" altLang="zh-CN" sz="1800" b="1" dirty="0">
                  <a:solidFill>
                    <a:schemeClr val="accent6"/>
                  </a:solidFill>
                </a:rPr>
                <a:t>R</a:t>
              </a:r>
              <a:endParaRPr kumimoji="1" lang="zh-CN" altLang="en-US" sz="1800" b="1" dirty="0">
                <a:solidFill>
                  <a:schemeClr val="accent6"/>
                </a:solidFill>
              </a:endParaRPr>
            </a:p>
          </p:txBody>
        </p:sp>
      </p:grpSp>
      <p:cxnSp>
        <p:nvCxnSpPr>
          <p:cNvPr id="3" name="直线连接符 2"/>
          <p:cNvCxnSpPr>
            <a:cxnSpLocks/>
          </p:cNvCxnSpPr>
          <p:nvPr/>
        </p:nvCxnSpPr>
        <p:spPr>
          <a:xfrm>
            <a:off x="1730618" y="3946163"/>
            <a:ext cx="8724900" cy="0"/>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1" name="组合 20">
            <a:extLst>
              <a:ext uri="{FF2B5EF4-FFF2-40B4-BE49-F238E27FC236}">
                <a16:creationId xmlns:a16="http://schemas.microsoft.com/office/drawing/2014/main" id="{82FF5E2B-968F-4983-AA69-D0255BF69A6B}"/>
              </a:ext>
            </a:extLst>
          </p:cNvPr>
          <p:cNvGrpSpPr/>
          <p:nvPr/>
        </p:nvGrpSpPr>
        <p:grpSpPr>
          <a:xfrm>
            <a:off x="6262830" y="2434852"/>
            <a:ext cx="363125" cy="413514"/>
            <a:chOff x="3170996" y="382686"/>
            <a:chExt cx="807829" cy="807829"/>
          </a:xfrm>
        </p:grpSpPr>
        <p:sp>
          <p:nvSpPr>
            <p:cNvPr id="22" name="椭圆 21">
              <a:extLst>
                <a:ext uri="{FF2B5EF4-FFF2-40B4-BE49-F238E27FC236}">
                  <a16:creationId xmlns:a16="http://schemas.microsoft.com/office/drawing/2014/main" id="{69FDA05E-C5DE-4BD3-B147-0A8A8E4A7272}"/>
                </a:ext>
              </a:extLst>
            </p:cNvPr>
            <p:cNvSpPr/>
            <p:nvPr/>
          </p:nvSpPr>
          <p:spPr>
            <a:xfrm>
              <a:off x="3170996" y="382686"/>
              <a:ext cx="807829" cy="807829"/>
            </a:xfrm>
            <a:prstGeom prst="ellipse">
              <a:avLst/>
            </a:prstGeom>
            <a:solidFill>
              <a:schemeClr val="tx1"/>
            </a:solidFill>
            <a:ln w="76200" cmpd="sng">
              <a:solidFill>
                <a:schemeClr val="accent5"/>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23" name="文本框 22">
              <a:extLst>
                <a:ext uri="{FF2B5EF4-FFF2-40B4-BE49-F238E27FC236}">
                  <a16:creationId xmlns:a16="http://schemas.microsoft.com/office/drawing/2014/main" id="{DC448F4D-31E2-469F-9A7E-C21EECAAABD1}"/>
                </a:ext>
              </a:extLst>
            </p:cNvPr>
            <p:cNvSpPr txBox="1"/>
            <p:nvPr/>
          </p:nvSpPr>
          <p:spPr>
            <a:xfrm>
              <a:off x="3297601" y="443558"/>
              <a:ext cx="554615" cy="508850"/>
            </a:xfrm>
            <a:prstGeom prst="rect">
              <a:avLst/>
            </a:prstGeom>
            <a:noFill/>
          </p:spPr>
          <p:txBody>
            <a:bodyPr wrap="none" rtlCol="0">
              <a:spAutoFit/>
            </a:bodyPr>
            <a:lstStyle/>
            <a:p>
              <a:pPr algn="ctr"/>
              <a:r>
                <a:rPr kumimoji="1" lang="en-US" altLang="zh-CN" sz="1800" b="1" dirty="0">
                  <a:solidFill>
                    <a:schemeClr val="accent5"/>
                  </a:solidFill>
                </a:rPr>
                <a:t>M</a:t>
              </a:r>
              <a:endParaRPr kumimoji="1" lang="zh-CN" altLang="en-US" sz="1800" b="1" dirty="0">
                <a:solidFill>
                  <a:schemeClr val="accent5"/>
                </a:solidFill>
              </a:endParaRPr>
            </a:p>
          </p:txBody>
        </p:sp>
      </p:grpSp>
      <p:grpSp>
        <p:nvGrpSpPr>
          <p:cNvPr id="24" name="组合 23">
            <a:extLst>
              <a:ext uri="{FF2B5EF4-FFF2-40B4-BE49-F238E27FC236}">
                <a16:creationId xmlns:a16="http://schemas.microsoft.com/office/drawing/2014/main" id="{53B0A5A3-8939-4A4D-A5CE-CA844F988E59}"/>
              </a:ext>
            </a:extLst>
          </p:cNvPr>
          <p:cNvGrpSpPr/>
          <p:nvPr/>
        </p:nvGrpSpPr>
        <p:grpSpPr>
          <a:xfrm>
            <a:off x="5739314" y="2434852"/>
            <a:ext cx="363124" cy="413514"/>
            <a:chOff x="2173906" y="382686"/>
            <a:chExt cx="807829" cy="807829"/>
          </a:xfrm>
        </p:grpSpPr>
        <p:sp>
          <p:nvSpPr>
            <p:cNvPr id="25" name="椭圆 24">
              <a:extLst>
                <a:ext uri="{FF2B5EF4-FFF2-40B4-BE49-F238E27FC236}">
                  <a16:creationId xmlns:a16="http://schemas.microsoft.com/office/drawing/2014/main" id="{B481AC01-11C7-42EA-B1CC-0DEF571A0498}"/>
                </a:ext>
              </a:extLst>
            </p:cNvPr>
            <p:cNvSpPr/>
            <p:nvPr/>
          </p:nvSpPr>
          <p:spPr>
            <a:xfrm>
              <a:off x="2173906" y="382686"/>
              <a:ext cx="807829" cy="807829"/>
            </a:xfrm>
            <a:prstGeom prst="ellipse">
              <a:avLst/>
            </a:prstGeom>
            <a:solidFill>
              <a:schemeClr val="tx1"/>
            </a:solidFill>
            <a:ln w="76200" cmpd="sng">
              <a:solidFill>
                <a:schemeClr val="accent2"/>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26" name="文本框 25">
              <a:extLst>
                <a:ext uri="{FF2B5EF4-FFF2-40B4-BE49-F238E27FC236}">
                  <a16:creationId xmlns:a16="http://schemas.microsoft.com/office/drawing/2014/main" id="{9A32D12B-6482-4BB8-9FD4-3FE7F1EE81A0}"/>
                </a:ext>
              </a:extLst>
            </p:cNvPr>
            <p:cNvSpPr txBox="1"/>
            <p:nvPr/>
          </p:nvSpPr>
          <p:spPr>
            <a:xfrm>
              <a:off x="2326521" y="443558"/>
              <a:ext cx="502594" cy="508850"/>
            </a:xfrm>
            <a:prstGeom prst="rect">
              <a:avLst/>
            </a:prstGeom>
            <a:noFill/>
          </p:spPr>
          <p:txBody>
            <a:bodyPr wrap="none" rtlCol="0">
              <a:spAutoFit/>
            </a:bodyPr>
            <a:lstStyle/>
            <a:p>
              <a:pPr algn="ctr"/>
              <a:r>
                <a:rPr kumimoji="1" lang="en-US" altLang="zh-CN" sz="1800" b="1" dirty="0">
                  <a:solidFill>
                    <a:srgbClr val="26CCC5"/>
                  </a:solidFill>
                </a:rPr>
                <a:t>A</a:t>
              </a:r>
              <a:endParaRPr kumimoji="1" lang="zh-CN" altLang="en-US" sz="1800" b="1" dirty="0">
                <a:solidFill>
                  <a:srgbClr val="26CCC5"/>
                </a:solidFill>
              </a:endParaRPr>
            </a:p>
          </p:txBody>
        </p:sp>
      </p:grpSp>
      <p:grpSp>
        <p:nvGrpSpPr>
          <p:cNvPr id="27" name="组合 26">
            <a:extLst>
              <a:ext uri="{FF2B5EF4-FFF2-40B4-BE49-F238E27FC236}">
                <a16:creationId xmlns:a16="http://schemas.microsoft.com/office/drawing/2014/main" id="{5E928632-5174-4A81-8188-2424A6BCE693}"/>
              </a:ext>
            </a:extLst>
          </p:cNvPr>
          <p:cNvGrpSpPr/>
          <p:nvPr/>
        </p:nvGrpSpPr>
        <p:grpSpPr>
          <a:xfrm>
            <a:off x="6786347" y="2434852"/>
            <a:ext cx="363124" cy="413514"/>
            <a:chOff x="4168089" y="382686"/>
            <a:chExt cx="807830" cy="807829"/>
          </a:xfrm>
        </p:grpSpPr>
        <p:sp>
          <p:nvSpPr>
            <p:cNvPr id="28" name="椭圆 27">
              <a:extLst>
                <a:ext uri="{FF2B5EF4-FFF2-40B4-BE49-F238E27FC236}">
                  <a16:creationId xmlns:a16="http://schemas.microsoft.com/office/drawing/2014/main" id="{E3F30FF9-B929-4714-AE37-FD8C1E60C9FA}"/>
                </a:ext>
              </a:extLst>
            </p:cNvPr>
            <p:cNvSpPr/>
            <p:nvPr/>
          </p:nvSpPr>
          <p:spPr>
            <a:xfrm>
              <a:off x="4168089" y="382686"/>
              <a:ext cx="807830" cy="807829"/>
            </a:xfrm>
            <a:prstGeom prst="ellipse">
              <a:avLst/>
            </a:prstGeom>
            <a:solidFill>
              <a:schemeClr val="tx1"/>
            </a:solidFill>
            <a:ln w="76200" cmpd="sng">
              <a:solidFill>
                <a:schemeClr val="accent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29" name="文本框 28">
              <a:extLst>
                <a:ext uri="{FF2B5EF4-FFF2-40B4-BE49-F238E27FC236}">
                  <a16:creationId xmlns:a16="http://schemas.microsoft.com/office/drawing/2014/main" id="{F367262D-8BB8-4917-83EE-13C6F604B7DB}"/>
                </a:ext>
              </a:extLst>
            </p:cNvPr>
            <p:cNvSpPr txBox="1"/>
            <p:nvPr/>
          </p:nvSpPr>
          <p:spPr>
            <a:xfrm>
              <a:off x="4294687" y="443558"/>
              <a:ext cx="554617" cy="508850"/>
            </a:xfrm>
            <a:prstGeom prst="rect">
              <a:avLst/>
            </a:prstGeom>
            <a:noFill/>
          </p:spPr>
          <p:txBody>
            <a:bodyPr wrap="none" rtlCol="0">
              <a:spAutoFit/>
            </a:bodyPr>
            <a:lstStyle/>
            <a:p>
              <a:pPr algn="ctr"/>
              <a:r>
                <a:rPr kumimoji="1" lang="en-US" altLang="zh-CN" sz="1800" b="1" dirty="0">
                  <a:solidFill>
                    <a:schemeClr val="accent3"/>
                  </a:solidFill>
                </a:rPr>
                <a:t>M</a:t>
              </a:r>
              <a:endParaRPr kumimoji="1" lang="zh-CN" altLang="en-US" sz="1800" b="1" dirty="0">
                <a:solidFill>
                  <a:schemeClr val="accent3"/>
                </a:solidFill>
              </a:endParaRPr>
            </a:p>
          </p:txBody>
        </p:sp>
      </p:grpSp>
      <p:grpSp>
        <p:nvGrpSpPr>
          <p:cNvPr id="30" name="组合 29">
            <a:extLst>
              <a:ext uri="{FF2B5EF4-FFF2-40B4-BE49-F238E27FC236}">
                <a16:creationId xmlns:a16="http://schemas.microsoft.com/office/drawing/2014/main" id="{713B54DD-FA9B-4F67-A1B9-1A5BFBF4C1E8}"/>
              </a:ext>
            </a:extLst>
          </p:cNvPr>
          <p:cNvGrpSpPr/>
          <p:nvPr/>
        </p:nvGrpSpPr>
        <p:grpSpPr>
          <a:xfrm>
            <a:off x="7309863" y="2434852"/>
            <a:ext cx="363124" cy="413514"/>
            <a:chOff x="5165176" y="382686"/>
            <a:chExt cx="807829" cy="807829"/>
          </a:xfrm>
        </p:grpSpPr>
        <p:sp>
          <p:nvSpPr>
            <p:cNvPr id="31" name="椭圆 30">
              <a:extLst>
                <a:ext uri="{FF2B5EF4-FFF2-40B4-BE49-F238E27FC236}">
                  <a16:creationId xmlns:a16="http://schemas.microsoft.com/office/drawing/2014/main" id="{74C96447-7AA1-416E-BE12-B2194AA8E056}"/>
                </a:ext>
              </a:extLst>
            </p:cNvPr>
            <p:cNvSpPr/>
            <p:nvPr/>
          </p:nvSpPr>
          <p:spPr>
            <a:xfrm>
              <a:off x="5165176" y="382686"/>
              <a:ext cx="807829" cy="807829"/>
            </a:xfrm>
            <a:prstGeom prst="ellipse">
              <a:avLst/>
            </a:prstGeom>
            <a:solidFill>
              <a:schemeClr val="tx1"/>
            </a:solidFill>
            <a:ln w="76200" cmpd="sng">
              <a:solidFill>
                <a:srgbClr val="104D7E"/>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32" name="文本框 31">
              <a:extLst>
                <a:ext uri="{FF2B5EF4-FFF2-40B4-BE49-F238E27FC236}">
                  <a16:creationId xmlns:a16="http://schemas.microsoft.com/office/drawing/2014/main" id="{8FC93182-7886-4A62-9FD2-52B8CBCA9AC3}"/>
                </a:ext>
              </a:extLst>
            </p:cNvPr>
            <p:cNvSpPr txBox="1"/>
            <p:nvPr/>
          </p:nvSpPr>
          <p:spPr>
            <a:xfrm>
              <a:off x="5393561" y="443558"/>
              <a:ext cx="351046" cy="508850"/>
            </a:xfrm>
            <a:prstGeom prst="rect">
              <a:avLst/>
            </a:prstGeom>
            <a:noFill/>
          </p:spPr>
          <p:txBody>
            <a:bodyPr wrap="none" rtlCol="0">
              <a:spAutoFit/>
            </a:bodyPr>
            <a:lstStyle/>
            <a:p>
              <a:pPr algn="ctr"/>
              <a:r>
                <a:rPr kumimoji="1" lang="en-US" altLang="zh-CN" sz="1800" b="1" dirty="0">
                  <a:solidFill>
                    <a:schemeClr val="accent1"/>
                  </a:solidFill>
                </a:rPr>
                <a:t>I</a:t>
              </a:r>
              <a:endParaRPr kumimoji="1" lang="zh-CN" altLang="en-US" sz="1800" b="1" dirty="0">
                <a:solidFill>
                  <a:schemeClr val="accent1"/>
                </a:solidFill>
              </a:endParaRPr>
            </a:p>
          </p:txBody>
        </p:sp>
      </p:grpSp>
      <p:grpSp>
        <p:nvGrpSpPr>
          <p:cNvPr id="33" name="组合 32">
            <a:extLst>
              <a:ext uri="{FF2B5EF4-FFF2-40B4-BE49-F238E27FC236}">
                <a16:creationId xmlns:a16="http://schemas.microsoft.com/office/drawing/2014/main" id="{AE4F6443-905A-40E2-BC32-00244DBAACB0}"/>
              </a:ext>
            </a:extLst>
          </p:cNvPr>
          <p:cNvGrpSpPr/>
          <p:nvPr/>
        </p:nvGrpSpPr>
        <p:grpSpPr>
          <a:xfrm>
            <a:off x="7833379" y="2434852"/>
            <a:ext cx="363124" cy="413514"/>
            <a:chOff x="6162270" y="382686"/>
            <a:chExt cx="807830" cy="807829"/>
          </a:xfrm>
        </p:grpSpPr>
        <p:sp>
          <p:nvSpPr>
            <p:cNvPr id="34" name="椭圆 33">
              <a:extLst>
                <a:ext uri="{FF2B5EF4-FFF2-40B4-BE49-F238E27FC236}">
                  <a16:creationId xmlns:a16="http://schemas.microsoft.com/office/drawing/2014/main" id="{196D3505-14F1-4BF5-8945-C781F2CA3DD7}"/>
                </a:ext>
              </a:extLst>
            </p:cNvPr>
            <p:cNvSpPr/>
            <p:nvPr/>
          </p:nvSpPr>
          <p:spPr>
            <a:xfrm>
              <a:off x="6162270" y="382686"/>
              <a:ext cx="807830" cy="807829"/>
            </a:xfrm>
            <a:prstGeom prst="ellipse">
              <a:avLst/>
            </a:prstGeom>
            <a:solidFill>
              <a:schemeClr val="tx1"/>
            </a:solidFill>
            <a:ln w="76200" cmpd="sng">
              <a:solidFill>
                <a:schemeClr val="accent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35" name="文本框 34">
              <a:extLst>
                <a:ext uri="{FF2B5EF4-FFF2-40B4-BE49-F238E27FC236}">
                  <a16:creationId xmlns:a16="http://schemas.microsoft.com/office/drawing/2014/main" id="{C60A2BE7-434A-4388-96A8-24244761BE4C}"/>
                </a:ext>
              </a:extLst>
            </p:cNvPr>
            <p:cNvSpPr txBox="1"/>
            <p:nvPr/>
          </p:nvSpPr>
          <p:spPr>
            <a:xfrm>
              <a:off x="6314879" y="443558"/>
              <a:ext cx="502594" cy="508850"/>
            </a:xfrm>
            <a:prstGeom prst="rect">
              <a:avLst/>
            </a:prstGeom>
            <a:noFill/>
          </p:spPr>
          <p:txBody>
            <a:bodyPr wrap="none" rtlCol="0">
              <a:spAutoFit/>
            </a:bodyPr>
            <a:lstStyle/>
            <a:p>
              <a:pPr algn="ctr"/>
              <a:r>
                <a:rPr kumimoji="1" lang="en-US" altLang="zh-CN" sz="1800" b="1" dirty="0">
                  <a:solidFill>
                    <a:schemeClr val="accent6"/>
                  </a:solidFill>
                </a:rPr>
                <a:t>N</a:t>
              </a:r>
              <a:endParaRPr kumimoji="1" lang="zh-CN" altLang="en-US" sz="1800" b="1" dirty="0">
                <a:solidFill>
                  <a:schemeClr val="accent6"/>
                </a:solidFill>
              </a:endParaRPr>
            </a:p>
          </p:txBody>
        </p:sp>
      </p:grpSp>
      <p:grpSp>
        <p:nvGrpSpPr>
          <p:cNvPr id="36" name="组合 35">
            <a:extLst>
              <a:ext uri="{FF2B5EF4-FFF2-40B4-BE49-F238E27FC236}">
                <a16:creationId xmlns:a16="http://schemas.microsoft.com/office/drawing/2014/main" id="{02608C73-10E9-4E79-A21B-887B7FF64371}"/>
              </a:ext>
            </a:extLst>
          </p:cNvPr>
          <p:cNvGrpSpPr/>
          <p:nvPr/>
        </p:nvGrpSpPr>
        <p:grpSpPr>
          <a:xfrm>
            <a:off x="8356894" y="2434852"/>
            <a:ext cx="363124" cy="413514"/>
            <a:chOff x="2173906" y="382686"/>
            <a:chExt cx="807829" cy="807829"/>
          </a:xfrm>
        </p:grpSpPr>
        <p:sp>
          <p:nvSpPr>
            <p:cNvPr id="37" name="椭圆 36">
              <a:extLst>
                <a:ext uri="{FF2B5EF4-FFF2-40B4-BE49-F238E27FC236}">
                  <a16:creationId xmlns:a16="http://schemas.microsoft.com/office/drawing/2014/main" id="{EE93575D-B2A7-4436-9F0F-52BCA3D0924E}"/>
                </a:ext>
              </a:extLst>
            </p:cNvPr>
            <p:cNvSpPr/>
            <p:nvPr/>
          </p:nvSpPr>
          <p:spPr>
            <a:xfrm>
              <a:off x="2173906" y="382686"/>
              <a:ext cx="807829" cy="807829"/>
            </a:xfrm>
            <a:prstGeom prst="ellipse">
              <a:avLst/>
            </a:prstGeom>
            <a:solidFill>
              <a:schemeClr val="tx1"/>
            </a:solidFill>
            <a:ln w="76200" cmpd="sng">
              <a:solidFill>
                <a:schemeClr val="accent2"/>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38" name="文本框 37">
              <a:extLst>
                <a:ext uri="{FF2B5EF4-FFF2-40B4-BE49-F238E27FC236}">
                  <a16:creationId xmlns:a16="http://schemas.microsoft.com/office/drawing/2014/main" id="{DC5A2224-2232-4FF8-97F8-62FF709E299C}"/>
                </a:ext>
              </a:extLst>
            </p:cNvPr>
            <p:cNvSpPr txBox="1"/>
            <p:nvPr/>
          </p:nvSpPr>
          <p:spPr>
            <a:xfrm>
              <a:off x="2310689" y="443558"/>
              <a:ext cx="534259" cy="508850"/>
            </a:xfrm>
            <a:prstGeom prst="rect">
              <a:avLst/>
            </a:prstGeom>
            <a:noFill/>
          </p:spPr>
          <p:txBody>
            <a:bodyPr wrap="none" rtlCol="0">
              <a:spAutoFit/>
            </a:bodyPr>
            <a:lstStyle/>
            <a:p>
              <a:pPr algn="ctr"/>
              <a:r>
                <a:rPr kumimoji="1" lang="en-US" altLang="zh-CN" sz="1800" b="1" dirty="0">
                  <a:solidFill>
                    <a:srgbClr val="26CCC5"/>
                  </a:solidFill>
                </a:rPr>
                <a:t>G</a:t>
              </a:r>
              <a:endParaRPr kumimoji="1" lang="zh-CN" altLang="en-US" sz="1800" b="1" dirty="0">
                <a:solidFill>
                  <a:srgbClr val="26CCC5"/>
                </a:solidFill>
              </a:endParaRPr>
            </a:p>
          </p:txBody>
        </p:sp>
      </p:grpSp>
      <p:sp>
        <p:nvSpPr>
          <p:cNvPr id="39" name="文本框 38">
            <a:extLst>
              <a:ext uri="{FF2B5EF4-FFF2-40B4-BE49-F238E27FC236}">
                <a16:creationId xmlns:a16="http://schemas.microsoft.com/office/drawing/2014/main" id="{571BD5F4-75BC-47D9-AA5C-7EB13A99FBE7}"/>
              </a:ext>
            </a:extLst>
          </p:cNvPr>
          <p:cNvSpPr txBox="1"/>
          <p:nvPr/>
        </p:nvSpPr>
        <p:spPr>
          <a:xfrm>
            <a:off x="3374649" y="4141914"/>
            <a:ext cx="5498624" cy="490904"/>
          </a:xfrm>
          <a:prstGeom prst="rect">
            <a:avLst/>
          </a:prstGeom>
          <a:noFill/>
          <a:ln>
            <a:noFill/>
          </a:ln>
        </p:spPr>
        <p:txBody>
          <a:bodyPr wrap="square" rtlCol="0">
            <a:spAutoFit/>
          </a:bodyPr>
          <a:lstStyle/>
          <a:p>
            <a:pPr algn="ctr">
              <a:lnSpc>
                <a:spcPct val="90000"/>
              </a:lnSpc>
            </a:pPr>
            <a:r>
              <a:rPr kumimoji="1" lang="zh-CN" altLang="en-US" sz="2800" b="1" dirty="0">
                <a:latin typeface="华光行书_CNKI" panose="02000500000000000000" pitchFamily="2" charset="-122"/>
                <a:ea typeface="华光行书_CNKI" panose="02000500000000000000" pitchFamily="2" charset="-122"/>
              </a:rPr>
              <a:t>继承</a:t>
            </a:r>
            <a:r>
              <a:rPr kumimoji="1" lang="en-US" altLang="zh-CN" sz="2800" b="1" dirty="0">
                <a:latin typeface="华光行书_CNKI" panose="02000500000000000000" pitchFamily="2" charset="-122"/>
                <a:ea typeface="华光行书_CNKI" panose="02000500000000000000" pitchFamily="2" charset="-122"/>
              </a:rPr>
              <a:t>&amp;</a:t>
            </a:r>
            <a:r>
              <a:rPr kumimoji="1" lang="zh-CN" altLang="en-US" sz="2800" b="1" dirty="0">
                <a:latin typeface="华光行书_CNKI" panose="02000500000000000000" pitchFamily="2" charset="-122"/>
                <a:ea typeface="华光行书_CNKI" panose="02000500000000000000" pitchFamily="2" charset="-122"/>
              </a:rPr>
              <a:t>发展</a:t>
            </a:r>
            <a:r>
              <a:rPr kumimoji="1" lang="en-US" altLang="zh-CN" sz="2800" b="1" dirty="0">
                <a:latin typeface="华光行书_CNKI" panose="02000500000000000000" pitchFamily="2" charset="-122"/>
                <a:ea typeface="华光行书_CNKI" panose="02000500000000000000" pitchFamily="2" charset="-122"/>
              </a:rPr>
              <a:t>&amp;</a:t>
            </a:r>
            <a:r>
              <a:rPr kumimoji="1" lang="zh-CN" altLang="en-US" sz="2800" b="1" dirty="0">
                <a:latin typeface="华光行书_CNKI" panose="02000500000000000000" pitchFamily="2" charset="-122"/>
                <a:ea typeface="华光行书_CNKI" panose="02000500000000000000" pitchFamily="2" charset="-122"/>
              </a:rPr>
              <a:t>创新</a:t>
            </a:r>
          </a:p>
        </p:txBody>
      </p:sp>
      <p:sp>
        <p:nvSpPr>
          <p:cNvPr id="17" name="文本框 16">
            <a:extLst>
              <a:ext uri="{FF2B5EF4-FFF2-40B4-BE49-F238E27FC236}">
                <a16:creationId xmlns:a16="http://schemas.microsoft.com/office/drawing/2014/main" id="{3C5A77EA-BAE4-3958-BCDB-B1FA14B786E0}"/>
              </a:ext>
            </a:extLst>
          </p:cNvPr>
          <p:cNvSpPr txBox="1"/>
          <p:nvPr/>
        </p:nvSpPr>
        <p:spPr>
          <a:xfrm>
            <a:off x="115346" y="5291201"/>
            <a:ext cx="12082298" cy="424732"/>
          </a:xfrm>
          <a:prstGeom prst="rect">
            <a:avLst/>
          </a:prstGeom>
          <a:noFill/>
          <a:ln>
            <a:noFill/>
          </a:ln>
        </p:spPr>
        <p:txBody>
          <a:bodyPr wrap="square" rtlCol="0">
            <a:spAutoFit/>
          </a:bodyPr>
          <a:lstStyle/>
          <a:p>
            <a:pPr algn="ctr">
              <a:lnSpc>
                <a:spcPct val="90000"/>
              </a:lnSpc>
            </a:pPr>
            <a:r>
              <a:rPr kumimoji="1" lang="zh-CN" altLang="en-US" b="1" dirty="0"/>
              <a:t>计算机与信息学院</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627" y="193734"/>
            <a:ext cx="12190413" cy="728917"/>
          </a:xfrm>
          <a:prstGeom prst="rect">
            <a:avLst/>
          </a:prstGeom>
          <a:solidFill>
            <a:srgbClr val="104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5" name="文本框 4"/>
          <p:cNvSpPr txBox="1"/>
          <p:nvPr/>
        </p:nvSpPr>
        <p:spPr>
          <a:xfrm>
            <a:off x="729992" y="226553"/>
            <a:ext cx="2528034" cy="646331"/>
          </a:xfrm>
          <a:prstGeom prst="rect">
            <a:avLst/>
          </a:prstGeom>
          <a:noFill/>
        </p:spPr>
        <p:txBody>
          <a:bodyPr wrap="square" rtlCol="0">
            <a:spAutoFit/>
          </a:bodyPr>
          <a:lstStyle/>
          <a:p>
            <a:r>
              <a:rPr kumimoji="1" lang="zh-CN" altLang="en-US" sz="3600" b="1" dirty="0"/>
              <a:t>目录</a:t>
            </a:r>
          </a:p>
        </p:txBody>
      </p:sp>
      <p:sp>
        <p:nvSpPr>
          <p:cNvPr id="80" name="Rectangle 5">
            <a:extLst>
              <a:ext uri="{FF2B5EF4-FFF2-40B4-BE49-F238E27FC236}">
                <a16:creationId xmlns:a16="http://schemas.microsoft.com/office/drawing/2014/main" id="{B7397FA8-FFF9-47E7-AB70-521BC687AE79}"/>
              </a:ext>
            </a:extLst>
          </p:cNvPr>
          <p:cNvSpPr>
            <a:spLocks noChangeArrowheads="1"/>
          </p:cNvSpPr>
          <p:nvPr/>
        </p:nvSpPr>
        <p:spPr bwMode="auto">
          <a:xfrm>
            <a:off x="53627" y="312204"/>
            <a:ext cx="747811" cy="897523"/>
          </a:xfrm>
          <a:prstGeom prst="roundRect">
            <a:avLst/>
          </a:prstGeom>
          <a:solidFill>
            <a:srgbClr val="134F85"/>
          </a:solidFill>
          <a:ln>
            <a:noFill/>
          </a:ln>
        </p:spPr>
        <p:txBody>
          <a:bodyPr lIns="68571" tIns="34285" rIns="68571" bIns="34285"/>
          <a:lstStyle/>
          <a:p>
            <a:endParaRPr lang="zh-CN" altLang="en-US" kern="0" dirty="0">
              <a:solidFill>
                <a:sysClr val="windowText" lastClr="000000"/>
              </a:solidFill>
              <a:latin typeface="Times New Roman" panose="02020603050405020304" pitchFamily="18" charset="0"/>
              <a:cs typeface="Times New Roman" panose="02020603050405020304" pitchFamily="18" charset="0"/>
              <a:sym typeface="+mn-lt"/>
            </a:endParaRPr>
          </a:p>
        </p:txBody>
      </p:sp>
      <p:sp>
        <p:nvSpPr>
          <p:cNvPr id="85" name="Freeform 6">
            <a:extLst>
              <a:ext uri="{FF2B5EF4-FFF2-40B4-BE49-F238E27FC236}">
                <a16:creationId xmlns:a16="http://schemas.microsoft.com/office/drawing/2014/main" id="{51697D07-9E8B-4596-A1A4-60EC372D1875}"/>
              </a:ext>
            </a:extLst>
          </p:cNvPr>
          <p:cNvSpPr/>
          <p:nvPr/>
        </p:nvSpPr>
        <p:spPr bwMode="auto">
          <a:xfrm>
            <a:off x="158417" y="385414"/>
            <a:ext cx="571575" cy="718971"/>
          </a:xfrm>
          <a:custGeom>
            <a:avLst/>
            <a:gdLst>
              <a:gd name="T0" fmla="*/ 734716 w 1173"/>
              <a:gd name="T1" fmla="*/ 348495 h 1472"/>
              <a:gd name="T2" fmla="*/ 711330 w 1173"/>
              <a:gd name="T3" fmla="*/ 30615 h 1472"/>
              <a:gd name="T4" fmla="*/ 693141 w 1173"/>
              <a:gd name="T5" fmla="*/ 35175 h 1472"/>
              <a:gd name="T6" fmla="*/ 651565 w 1173"/>
              <a:gd name="T7" fmla="*/ 44295 h 1472"/>
              <a:gd name="T8" fmla="*/ 596997 w 1173"/>
              <a:gd name="T9" fmla="*/ 35175 h 1472"/>
              <a:gd name="T10" fmla="*/ 408609 w 1173"/>
              <a:gd name="T11" fmla="*/ 3257 h 1472"/>
              <a:gd name="T12" fmla="*/ 0 w 1173"/>
              <a:gd name="T13" fmla="*/ 500270 h 1472"/>
              <a:gd name="T14" fmla="*/ 417703 w 1173"/>
              <a:gd name="T15" fmla="*/ 955593 h 1472"/>
              <a:gd name="T16" fmla="*/ 762000 w 1173"/>
              <a:gd name="T17" fmla="*/ 707412 h 1472"/>
              <a:gd name="T18" fmla="*/ 706783 w 1173"/>
              <a:gd name="T19" fmla="*/ 674843 h 1472"/>
              <a:gd name="T20" fmla="*/ 449535 w 1173"/>
              <a:gd name="T21" fmla="*/ 891757 h 1472"/>
              <a:gd name="T22" fmla="*/ 188389 w 1173"/>
              <a:gd name="T23" fmla="*/ 472260 h 1472"/>
              <a:gd name="T24" fmla="*/ 417703 w 1173"/>
              <a:gd name="T25" fmla="*/ 67745 h 1472"/>
              <a:gd name="T26" fmla="*/ 679499 w 1173"/>
              <a:gd name="T27" fmla="*/ 371294 h 1472"/>
              <a:gd name="T28" fmla="*/ 734716 w 1173"/>
              <a:gd name="T29" fmla="*/ 348495 h 1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68571" tIns="34285" rIns="68571" bIns="34285"/>
          <a:lstStyle/>
          <a:p>
            <a:endParaRPr lang="zh-CN" altLang="en-US" kern="0">
              <a:solidFill>
                <a:sysClr val="windowText" lastClr="000000"/>
              </a:solidFill>
              <a:cs typeface="+mn-ea"/>
              <a:sym typeface="+mn-lt"/>
            </a:endParaRPr>
          </a:p>
        </p:txBody>
      </p:sp>
      <p:sp>
        <p:nvSpPr>
          <p:cNvPr id="94" name="Freeform 14">
            <a:extLst>
              <a:ext uri="{FF2B5EF4-FFF2-40B4-BE49-F238E27FC236}">
                <a16:creationId xmlns:a16="http://schemas.microsoft.com/office/drawing/2014/main" id="{C2734685-E184-4537-9B91-D51717144599}"/>
              </a:ext>
            </a:extLst>
          </p:cNvPr>
          <p:cNvSpPr/>
          <p:nvPr/>
        </p:nvSpPr>
        <p:spPr bwMode="auto">
          <a:xfrm>
            <a:off x="2813767" y="1304284"/>
            <a:ext cx="4797308" cy="454819"/>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95" name="Freeform 15">
            <a:extLst>
              <a:ext uri="{FF2B5EF4-FFF2-40B4-BE49-F238E27FC236}">
                <a16:creationId xmlns:a16="http://schemas.microsoft.com/office/drawing/2014/main" id="{A793772A-5F44-4400-B13F-AC9E126E5742}"/>
              </a:ext>
            </a:extLst>
          </p:cNvPr>
          <p:cNvSpPr/>
          <p:nvPr/>
        </p:nvSpPr>
        <p:spPr bwMode="auto">
          <a:xfrm>
            <a:off x="2922073" y="1224512"/>
            <a:ext cx="593889" cy="73819"/>
          </a:xfrm>
          <a:custGeom>
            <a:avLst/>
            <a:gdLst>
              <a:gd name="T0" fmla="*/ 58241460 w 1038"/>
              <a:gd name="T1" fmla="*/ 0 h 127"/>
              <a:gd name="T2" fmla="*/ 546306357 w 1038"/>
              <a:gd name="T3" fmla="*/ 0 h 127"/>
              <a:gd name="T4" fmla="*/ 604547817 w 1038"/>
              <a:gd name="T5" fmla="*/ 76279375 h 127"/>
              <a:gd name="T6" fmla="*/ 0 w 1038"/>
              <a:gd name="T7" fmla="*/ 76279375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96" name="Rectangle 16">
            <a:extLst>
              <a:ext uri="{FF2B5EF4-FFF2-40B4-BE49-F238E27FC236}">
                <a16:creationId xmlns:a16="http://schemas.microsoft.com/office/drawing/2014/main" id="{6F1CD838-5993-42AA-9AC7-009FCB69C16F}"/>
              </a:ext>
            </a:extLst>
          </p:cNvPr>
          <p:cNvSpPr>
            <a:spLocks noChangeArrowheads="1"/>
          </p:cNvSpPr>
          <p:nvPr/>
        </p:nvSpPr>
        <p:spPr bwMode="auto">
          <a:xfrm>
            <a:off x="2979198" y="1224513"/>
            <a:ext cx="478444" cy="477441"/>
          </a:xfrm>
          <a:prstGeom prst="rect">
            <a:avLst/>
          </a:prstGeom>
          <a:solidFill>
            <a:srgbClr val="134F85"/>
          </a:solidFill>
          <a:ln>
            <a:noFill/>
          </a:ln>
        </p:spPr>
        <p:txBody>
          <a:bodyPr lIns="68563" tIns="34281" rIns="68563" bIns="34281"/>
          <a:lstStyle/>
          <a:p>
            <a:pPr>
              <a:buFontTx/>
              <a:buNone/>
            </a:pPr>
            <a:endParaRPr lang="zh-CN" altLang="en-US"/>
          </a:p>
        </p:txBody>
      </p:sp>
      <p:sp>
        <p:nvSpPr>
          <p:cNvPr id="97" name="Freeform 17">
            <a:extLst>
              <a:ext uri="{FF2B5EF4-FFF2-40B4-BE49-F238E27FC236}">
                <a16:creationId xmlns:a16="http://schemas.microsoft.com/office/drawing/2014/main" id="{720DB84E-10BF-474A-AB0E-14ED2E831F21}"/>
              </a:ext>
            </a:extLst>
          </p:cNvPr>
          <p:cNvSpPr/>
          <p:nvPr/>
        </p:nvSpPr>
        <p:spPr bwMode="auto">
          <a:xfrm>
            <a:off x="2813767" y="1987704"/>
            <a:ext cx="4797308" cy="454819"/>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98" name="Freeform 18">
            <a:extLst>
              <a:ext uri="{FF2B5EF4-FFF2-40B4-BE49-F238E27FC236}">
                <a16:creationId xmlns:a16="http://schemas.microsoft.com/office/drawing/2014/main" id="{E8035C3D-2249-465E-A141-2FF566A87A8D}"/>
              </a:ext>
            </a:extLst>
          </p:cNvPr>
          <p:cNvSpPr/>
          <p:nvPr/>
        </p:nvSpPr>
        <p:spPr bwMode="auto">
          <a:xfrm>
            <a:off x="2922073" y="1907932"/>
            <a:ext cx="593889" cy="73819"/>
          </a:xfrm>
          <a:custGeom>
            <a:avLst/>
            <a:gdLst>
              <a:gd name="T0" fmla="*/ 58241460 w 1038"/>
              <a:gd name="T1" fmla="*/ 0 h 127"/>
              <a:gd name="T2" fmla="*/ 546306357 w 1038"/>
              <a:gd name="T3" fmla="*/ 0 h 127"/>
              <a:gd name="T4" fmla="*/ 604547817 w 1038"/>
              <a:gd name="T5" fmla="*/ 76279375 h 127"/>
              <a:gd name="T6" fmla="*/ 0 w 1038"/>
              <a:gd name="T7" fmla="*/ 76279375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03" name="Rectangle 19">
            <a:extLst>
              <a:ext uri="{FF2B5EF4-FFF2-40B4-BE49-F238E27FC236}">
                <a16:creationId xmlns:a16="http://schemas.microsoft.com/office/drawing/2014/main" id="{69CE7149-12BC-4EE7-BC62-49EBEB86CDB6}"/>
              </a:ext>
            </a:extLst>
          </p:cNvPr>
          <p:cNvSpPr>
            <a:spLocks noChangeArrowheads="1"/>
          </p:cNvSpPr>
          <p:nvPr/>
        </p:nvSpPr>
        <p:spPr bwMode="auto">
          <a:xfrm>
            <a:off x="2979198" y="1907932"/>
            <a:ext cx="478444" cy="477441"/>
          </a:xfrm>
          <a:prstGeom prst="rect">
            <a:avLst/>
          </a:prstGeom>
          <a:solidFill>
            <a:srgbClr val="134F85"/>
          </a:solidFill>
          <a:ln>
            <a:noFill/>
          </a:ln>
        </p:spPr>
        <p:txBody>
          <a:bodyPr lIns="68563" tIns="34281" rIns="68563" bIns="34281"/>
          <a:lstStyle/>
          <a:p>
            <a:pPr>
              <a:buFontTx/>
              <a:buNone/>
            </a:pPr>
            <a:endParaRPr lang="zh-CN" altLang="en-US"/>
          </a:p>
        </p:txBody>
      </p:sp>
      <p:sp>
        <p:nvSpPr>
          <p:cNvPr id="104" name="Freeform 20">
            <a:extLst>
              <a:ext uri="{FF2B5EF4-FFF2-40B4-BE49-F238E27FC236}">
                <a16:creationId xmlns:a16="http://schemas.microsoft.com/office/drawing/2014/main" id="{A0B57491-491C-4D07-96BC-7DBFD9537857}"/>
              </a:ext>
            </a:extLst>
          </p:cNvPr>
          <p:cNvSpPr/>
          <p:nvPr/>
        </p:nvSpPr>
        <p:spPr bwMode="auto">
          <a:xfrm>
            <a:off x="2813767" y="2618735"/>
            <a:ext cx="4797308" cy="454819"/>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105" name="Freeform 21">
            <a:extLst>
              <a:ext uri="{FF2B5EF4-FFF2-40B4-BE49-F238E27FC236}">
                <a16:creationId xmlns:a16="http://schemas.microsoft.com/office/drawing/2014/main" id="{E942056E-E89F-49A8-9864-6DED726B8060}"/>
              </a:ext>
            </a:extLst>
          </p:cNvPr>
          <p:cNvSpPr/>
          <p:nvPr/>
        </p:nvSpPr>
        <p:spPr bwMode="auto">
          <a:xfrm>
            <a:off x="2922073" y="2537773"/>
            <a:ext cx="593889" cy="75009"/>
          </a:xfrm>
          <a:custGeom>
            <a:avLst/>
            <a:gdLst>
              <a:gd name="T0" fmla="*/ 58241460 w 1038"/>
              <a:gd name="T1" fmla="*/ 0 h 128"/>
              <a:gd name="T2" fmla="*/ 546306357 w 1038"/>
              <a:gd name="T3" fmla="*/ 0 h 128"/>
              <a:gd name="T4" fmla="*/ 604547817 w 1038"/>
              <a:gd name="T5" fmla="*/ 78143751 h 128"/>
              <a:gd name="T6" fmla="*/ 0 w 1038"/>
              <a:gd name="T7" fmla="*/ 78143751 h 128"/>
              <a:gd name="T8" fmla="*/ 58241460 w 1038"/>
              <a:gd name="T9" fmla="*/ 0 h 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8">
                <a:moveTo>
                  <a:pt x="100" y="0"/>
                </a:moveTo>
                <a:lnTo>
                  <a:pt x="938" y="0"/>
                </a:lnTo>
                <a:lnTo>
                  <a:pt x="1038" y="128"/>
                </a:lnTo>
                <a:lnTo>
                  <a:pt x="0" y="128"/>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06" name="Rectangle 22">
            <a:extLst>
              <a:ext uri="{FF2B5EF4-FFF2-40B4-BE49-F238E27FC236}">
                <a16:creationId xmlns:a16="http://schemas.microsoft.com/office/drawing/2014/main" id="{F818DDC1-CCCA-418B-86B4-DBB22B52367C}"/>
              </a:ext>
            </a:extLst>
          </p:cNvPr>
          <p:cNvSpPr>
            <a:spLocks noChangeArrowheads="1"/>
          </p:cNvSpPr>
          <p:nvPr/>
        </p:nvSpPr>
        <p:spPr bwMode="auto">
          <a:xfrm>
            <a:off x="2979198" y="2537773"/>
            <a:ext cx="478444" cy="478631"/>
          </a:xfrm>
          <a:prstGeom prst="rect">
            <a:avLst/>
          </a:prstGeom>
          <a:solidFill>
            <a:srgbClr val="134F85"/>
          </a:solidFill>
          <a:ln>
            <a:noFill/>
          </a:ln>
        </p:spPr>
        <p:txBody>
          <a:bodyPr lIns="68563" tIns="34281" rIns="68563" bIns="34281"/>
          <a:lstStyle/>
          <a:p>
            <a:pPr>
              <a:buFontTx/>
              <a:buNone/>
            </a:pPr>
            <a:endParaRPr lang="zh-CN" altLang="en-US"/>
          </a:p>
        </p:txBody>
      </p:sp>
      <p:sp>
        <p:nvSpPr>
          <p:cNvPr id="107" name="Freeform 23">
            <a:extLst>
              <a:ext uri="{FF2B5EF4-FFF2-40B4-BE49-F238E27FC236}">
                <a16:creationId xmlns:a16="http://schemas.microsoft.com/office/drawing/2014/main" id="{7BE668D5-1A6B-4499-B31E-7E69CBF386BA}"/>
              </a:ext>
            </a:extLst>
          </p:cNvPr>
          <p:cNvSpPr/>
          <p:nvPr/>
        </p:nvSpPr>
        <p:spPr bwMode="auto">
          <a:xfrm>
            <a:off x="2813767" y="3302154"/>
            <a:ext cx="4797308" cy="454819"/>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108" name="Freeform 24">
            <a:extLst>
              <a:ext uri="{FF2B5EF4-FFF2-40B4-BE49-F238E27FC236}">
                <a16:creationId xmlns:a16="http://schemas.microsoft.com/office/drawing/2014/main" id="{29733265-E06F-4932-910E-1C11B702C064}"/>
              </a:ext>
            </a:extLst>
          </p:cNvPr>
          <p:cNvSpPr/>
          <p:nvPr/>
        </p:nvSpPr>
        <p:spPr bwMode="auto">
          <a:xfrm>
            <a:off x="2922073" y="3221192"/>
            <a:ext cx="593889" cy="75009"/>
          </a:xfrm>
          <a:custGeom>
            <a:avLst/>
            <a:gdLst>
              <a:gd name="T0" fmla="*/ 58241460 w 1038"/>
              <a:gd name="T1" fmla="*/ 0 h 128"/>
              <a:gd name="T2" fmla="*/ 546306357 w 1038"/>
              <a:gd name="T3" fmla="*/ 0 h 128"/>
              <a:gd name="T4" fmla="*/ 604547817 w 1038"/>
              <a:gd name="T5" fmla="*/ 78143751 h 128"/>
              <a:gd name="T6" fmla="*/ 0 w 1038"/>
              <a:gd name="T7" fmla="*/ 78143751 h 128"/>
              <a:gd name="T8" fmla="*/ 58241460 w 1038"/>
              <a:gd name="T9" fmla="*/ 0 h 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8">
                <a:moveTo>
                  <a:pt x="100" y="0"/>
                </a:moveTo>
                <a:lnTo>
                  <a:pt x="938" y="0"/>
                </a:lnTo>
                <a:lnTo>
                  <a:pt x="1038" y="128"/>
                </a:lnTo>
                <a:lnTo>
                  <a:pt x="0" y="128"/>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09" name="Rectangle 25">
            <a:extLst>
              <a:ext uri="{FF2B5EF4-FFF2-40B4-BE49-F238E27FC236}">
                <a16:creationId xmlns:a16="http://schemas.microsoft.com/office/drawing/2014/main" id="{826A0BD5-9C82-413A-AFE1-B9103A35A993}"/>
              </a:ext>
            </a:extLst>
          </p:cNvPr>
          <p:cNvSpPr>
            <a:spLocks noChangeArrowheads="1"/>
          </p:cNvSpPr>
          <p:nvPr/>
        </p:nvSpPr>
        <p:spPr bwMode="auto">
          <a:xfrm>
            <a:off x="2979198" y="3221193"/>
            <a:ext cx="478444" cy="478631"/>
          </a:xfrm>
          <a:prstGeom prst="rect">
            <a:avLst/>
          </a:prstGeom>
          <a:solidFill>
            <a:srgbClr val="134F85"/>
          </a:solidFill>
          <a:ln>
            <a:noFill/>
          </a:ln>
        </p:spPr>
        <p:txBody>
          <a:bodyPr lIns="68563" tIns="34281" rIns="68563" bIns="34281"/>
          <a:lstStyle/>
          <a:p>
            <a:pPr>
              <a:buFontTx/>
              <a:buNone/>
            </a:pPr>
            <a:endParaRPr lang="zh-CN" altLang="en-US"/>
          </a:p>
        </p:txBody>
      </p:sp>
      <p:sp>
        <p:nvSpPr>
          <p:cNvPr id="110" name="Freeform 26">
            <a:extLst>
              <a:ext uri="{FF2B5EF4-FFF2-40B4-BE49-F238E27FC236}">
                <a16:creationId xmlns:a16="http://schemas.microsoft.com/office/drawing/2014/main" id="{4618206C-A116-4538-9959-658163FA8D3A}"/>
              </a:ext>
            </a:extLst>
          </p:cNvPr>
          <p:cNvSpPr/>
          <p:nvPr/>
        </p:nvSpPr>
        <p:spPr bwMode="auto">
          <a:xfrm>
            <a:off x="2813767" y="3941519"/>
            <a:ext cx="4797308" cy="454819"/>
          </a:xfrm>
          <a:custGeom>
            <a:avLst/>
            <a:gdLst>
              <a:gd name="T0" fmla="*/ 60743788 w 6963"/>
              <a:gd name="T1" fmla="*/ 0 h 794"/>
              <a:gd name="T2" fmla="*/ 2147483647 w 6963"/>
              <a:gd name="T3" fmla="*/ 0 h 794"/>
              <a:gd name="T4" fmla="*/ 2147483647 w 6963"/>
              <a:gd name="T5" fmla="*/ 50166012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166012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6"/>
                </a:cubicBezTo>
                <a:lnTo>
                  <a:pt x="6963" y="707"/>
                </a:lnTo>
                <a:cubicBezTo>
                  <a:pt x="6963" y="754"/>
                  <a:pt x="6924" y="794"/>
                  <a:pt x="6876" y="794"/>
                </a:cubicBezTo>
                <a:lnTo>
                  <a:pt x="87" y="794"/>
                </a:lnTo>
                <a:cubicBezTo>
                  <a:pt x="39" y="794"/>
                  <a:pt x="0" y="754"/>
                  <a:pt x="0" y="707"/>
                </a:cubicBezTo>
                <a:lnTo>
                  <a:pt x="0" y="86"/>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111" name="Freeform 27">
            <a:extLst>
              <a:ext uri="{FF2B5EF4-FFF2-40B4-BE49-F238E27FC236}">
                <a16:creationId xmlns:a16="http://schemas.microsoft.com/office/drawing/2014/main" id="{78378BF6-F0C7-4F22-8301-A24097E0EC85}"/>
              </a:ext>
            </a:extLst>
          </p:cNvPr>
          <p:cNvSpPr/>
          <p:nvPr/>
        </p:nvSpPr>
        <p:spPr bwMode="auto">
          <a:xfrm>
            <a:off x="2922073" y="3861746"/>
            <a:ext cx="593889" cy="72628"/>
          </a:xfrm>
          <a:custGeom>
            <a:avLst/>
            <a:gdLst>
              <a:gd name="T0" fmla="*/ 58241460 w 1038"/>
              <a:gd name="T1" fmla="*/ 0 h 127"/>
              <a:gd name="T2" fmla="*/ 546306357 w 1038"/>
              <a:gd name="T3" fmla="*/ 0 h 127"/>
              <a:gd name="T4" fmla="*/ 604547817 w 1038"/>
              <a:gd name="T5" fmla="*/ 73837831 h 127"/>
              <a:gd name="T6" fmla="*/ 0 w 1038"/>
              <a:gd name="T7" fmla="*/ 73837831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12" name="Rectangle 28">
            <a:extLst>
              <a:ext uri="{FF2B5EF4-FFF2-40B4-BE49-F238E27FC236}">
                <a16:creationId xmlns:a16="http://schemas.microsoft.com/office/drawing/2014/main" id="{F0B012EB-7CD4-4CDA-9CC2-CDB1F73F223B}"/>
              </a:ext>
            </a:extLst>
          </p:cNvPr>
          <p:cNvSpPr>
            <a:spLocks noChangeArrowheads="1"/>
          </p:cNvSpPr>
          <p:nvPr/>
        </p:nvSpPr>
        <p:spPr bwMode="auto">
          <a:xfrm>
            <a:off x="2979198" y="3861744"/>
            <a:ext cx="478444" cy="476251"/>
          </a:xfrm>
          <a:prstGeom prst="rect">
            <a:avLst/>
          </a:prstGeom>
          <a:solidFill>
            <a:srgbClr val="134F85"/>
          </a:solidFill>
          <a:ln>
            <a:noFill/>
          </a:ln>
        </p:spPr>
        <p:txBody>
          <a:bodyPr lIns="68563" tIns="34281" rIns="68563" bIns="34281"/>
          <a:lstStyle/>
          <a:p>
            <a:pPr>
              <a:buFontTx/>
              <a:buNone/>
            </a:pPr>
            <a:endParaRPr lang="zh-CN" altLang="en-US"/>
          </a:p>
        </p:txBody>
      </p:sp>
      <p:sp>
        <p:nvSpPr>
          <p:cNvPr id="113" name="TextBox 63">
            <a:extLst>
              <a:ext uri="{FF2B5EF4-FFF2-40B4-BE49-F238E27FC236}">
                <a16:creationId xmlns:a16="http://schemas.microsoft.com/office/drawing/2014/main" id="{4913ECB2-6D19-44F0-8241-2134597DCB5D}"/>
              </a:ext>
            </a:extLst>
          </p:cNvPr>
          <p:cNvSpPr txBox="1">
            <a:spLocks noChangeArrowheads="1"/>
          </p:cNvSpPr>
          <p:nvPr/>
        </p:nvSpPr>
        <p:spPr bwMode="auto">
          <a:xfrm>
            <a:off x="3536194" y="1366197"/>
            <a:ext cx="1557123"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继承与派生</a:t>
            </a:r>
            <a:endParaRPr lang="zh-CN" altLang="en-US" sz="2400"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14" name="TextBox 81">
            <a:extLst>
              <a:ext uri="{FF2B5EF4-FFF2-40B4-BE49-F238E27FC236}">
                <a16:creationId xmlns:a16="http://schemas.microsoft.com/office/drawing/2014/main" id="{3B78D7E4-54D2-41ED-A5BA-37E4865F51B4}"/>
              </a:ext>
            </a:extLst>
          </p:cNvPr>
          <p:cNvSpPr txBox="1">
            <a:spLocks noChangeArrowheads="1"/>
          </p:cNvSpPr>
          <p:nvPr/>
        </p:nvSpPr>
        <p:spPr bwMode="auto">
          <a:xfrm>
            <a:off x="3043469" y="1214989"/>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5" name="TextBox 82">
            <a:extLst>
              <a:ext uri="{FF2B5EF4-FFF2-40B4-BE49-F238E27FC236}">
                <a16:creationId xmlns:a16="http://schemas.microsoft.com/office/drawing/2014/main" id="{A37238BC-680C-47E8-AF00-2D07C578E27A}"/>
              </a:ext>
            </a:extLst>
          </p:cNvPr>
          <p:cNvSpPr txBox="1">
            <a:spLocks noChangeArrowheads="1"/>
          </p:cNvSpPr>
          <p:nvPr/>
        </p:nvSpPr>
        <p:spPr bwMode="auto">
          <a:xfrm>
            <a:off x="3536194" y="2043661"/>
            <a:ext cx="1557123"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访问控制权</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16" name="TextBox 83">
            <a:extLst>
              <a:ext uri="{FF2B5EF4-FFF2-40B4-BE49-F238E27FC236}">
                <a16:creationId xmlns:a16="http://schemas.microsoft.com/office/drawing/2014/main" id="{02488E60-9DD1-4258-BC94-A36E4EB2778C}"/>
              </a:ext>
            </a:extLst>
          </p:cNvPr>
          <p:cNvSpPr txBox="1">
            <a:spLocks noChangeArrowheads="1"/>
          </p:cNvSpPr>
          <p:nvPr/>
        </p:nvSpPr>
        <p:spPr bwMode="auto">
          <a:xfrm>
            <a:off x="3043469" y="1921028"/>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7" name="TextBox 84">
            <a:extLst>
              <a:ext uri="{FF2B5EF4-FFF2-40B4-BE49-F238E27FC236}">
                <a16:creationId xmlns:a16="http://schemas.microsoft.com/office/drawing/2014/main" id="{59E0EA32-E21A-4834-9355-33D50F0722B1}"/>
              </a:ext>
            </a:extLst>
          </p:cNvPr>
          <p:cNvSpPr txBox="1">
            <a:spLocks noChangeArrowheads="1"/>
          </p:cNvSpPr>
          <p:nvPr/>
        </p:nvSpPr>
        <p:spPr bwMode="auto">
          <a:xfrm>
            <a:off x="3536194" y="2667549"/>
            <a:ext cx="1861694"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类型兼容规则</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18" name="TextBox 85">
            <a:extLst>
              <a:ext uri="{FF2B5EF4-FFF2-40B4-BE49-F238E27FC236}">
                <a16:creationId xmlns:a16="http://schemas.microsoft.com/office/drawing/2014/main" id="{3B807396-F05B-485A-9E30-E6DA6D99007B}"/>
              </a:ext>
            </a:extLst>
          </p:cNvPr>
          <p:cNvSpPr txBox="1">
            <a:spLocks noChangeArrowheads="1"/>
          </p:cNvSpPr>
          <p:nvPr/>
        </p:nvSpPr>
        <p:spPr bwMode="auto">
          <a:xfrm>
            <a:off x="3043469" y="2535389"/>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9" name="TextBox 86">
            <a:extLst>
              <a:ext uri="{FF2B5EF4-FFF2-40B4-BE49-F238E27FC236}">
                <a16:creationId xmlns:a16="http://schemas.microsoft.com/office/drawing/2014/main" id="{D6A325F5-B1C2-494E-AB5E-20656AA5B30F}"/>
              </a:ext>
            </a:extLst>
          </p:cNvPr>
          <p:cNvSpPr txBox="1">
            <a:spLocks noChangeArrowheads="1"/>
          </p:cNvSpPr>
          <p:nvPr/>
        </p:nvSpPr>
        <p:spPr bwMode="auto">
          <a:xfrm>
            <a:off x="3536193" y="3354539"/>
            <a:ext cx="4074881"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3" tIns="34281" rIns="68563" bIns="34281">
            <a:spAutoFit/>
          </a:bodyPr>
          <a:lstStyle>
            <a:defPPr>
              <a:defRPr lang="en-US"/>
            </a:defPPr>
            <a:lvl1pPr>
              <a:defRPr sz="2200" b="1" kern="0">
                <a:solidFill>
                  <a:srgbClr val="104E87"/>
                </a:solidFill>
                <a:latin typeface="微软雅黑" panose="020B0503020204020204" pitchFamily="34" charset="-122"/>
                <a:ea typeface="微软雅黑" panose="020B0503020204020204" pitchFamily="34" charset="-122"/>
                <a:cs typeface="+mn-ea"/>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9pPr>
          </a:lstStyle>
          <a:p>
            <a:r>
              <a:rPr lang="zh-CN" altLang="en-US" dirty="0">
                <a:latin typeface="华光淡古印_CNKI" panose="02000500000000000000" pitchFamily="2" charset="-122"/>
                <a:ea typeface="华光淡古印_CNKI" panose="02000500000000000000" pitchFamily="2" charset="-122"/>
                <a:sym typeface="+mn-lt"/>
              </a:rPr>
              <a:t>派生的构造函数与析构函数</a:t>
            </a:r>
          </a:p>
        </p:txBody>
      </p:sp>
      <p:sp>
        <p:nvSpPr>
          <p:cNvPr id="120" name="TextBox 87">
            <a:extLst>
              <a:ext uri="{FF2B5EF4-FFF2-40B4-BE49-F238E27FC236}">
                <a16:creationId xmlns:a16="http://schemas.microsoft.com/office/drawing/2014/main" id="{720D5FDC-B234-4FA5-9FF1-49ABC77A1A29}"/>
              </a:ext>
            </a:extLst>
          </p:cNvPr>
          <p:cNvSpPr txBox="1">
            <a:spLocks noChangeArrowheads="1"/>
          </p:cNvSpPr>
          <p:nvPr/>
        </p:nvSpPr>
        <p:spPr bwMode="auto">
          <a:xfrm>
            <a:off x="3043469" y="3241433"/>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1" name="TextBox 88">
            <a:extLst>
              <a:ext uri="{FF2B5EF4-FFF2-40B4-BE49-F238E27FC236}">
                <a16:creationId xmlns:a16="http://schemas.microsoft.com/office/drawing/2014/main" id="{986CF14A-E3E4-4BBE-A385-21EC0C79CC1E}"/>
              </a:ext>
            </a:extLst>
          </p:cNvPr>
          <p:cNvSpPr txBox="1">
            <a:spLocks noChangeArrowheads="1"/>
          </p:cNvSpPr>
          <p:nvPr/>
        </p:nvSpPr>
        <p:spPr bwMode="auto">
          <a:xfrm>
            <a:off x="3530744" y="3970045"/>
            <a:ext cx="3259512"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派生类成员的标识与访问</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22" name="TextBox 89">
            <a:extLst>
              <a:ext uri="{FF2B5EF4-FFF2-40B4-BE49-F238E27FC236}">
                <a16:creationId xmlns:a16="http://schemas.microsoft.com/office/drawing/2014/main" id="{17E4F117-CDF4-4D7A-BD21-7FC3B76913BC}"/>
              </a:ext>
            </a:extLst>
          </p:cNvPr>
          <p:cNvSpPr txBox="1">
            <a:spLocks noChangeArrowheads="1"/>
          </p:cNvSpPr>
          <p:nvPr/>
        </p:nvSpPr>
        <p:spPr bwMode="auto">
          <a:xfrm>
            <a:off x="3043469" y="3876033"/>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6" name="Freeform 7">
            <a:extLst>
              <a:ext uri="{FF2B5EF4-FFF2-40B4-BE49-F238E27FC236}">
                <a16:creationId xmlns:a16="http://schemas.microsoft.com/office/drawing/2014/main" id="{F6B60A6D-7EC4-4227-8E28-9EB8881DEB58}"/>
              </a:ext>
            </a:extLst>
          </p:cNvPr>
          <p:cNvSpPr>
            <a:spLocks noEditPoints="1"/>
          </p:cNvSpPr>
          <p:nvPr/>
        </p:nvSpPr>
        <p:spPr bwMode="auto">
          <a:xfrm>
            <a:off x="801438" y="922651"/>
            <a:ext cx="1068129" cy="230399"/>
          </a:xfrm>
          <a:custGeom>
            <a:avLst/>
            <a:gdLst>
              <a:gd name="T0" fmla="*/ 31788 w 2195"/>
              <a:gd name="T1" fmla="*/ 181488 h 445"/>
              <a:gd name="T2" fmla="*/ 163483 w 2195"/>
              <a:gd name="T3" fmla="*/ 180183 h 445"/>
              <a:gd name="T4" fmla="*/ 98609 w 2195"/>
              <a:gd name="T5" fmla="*/ 289206 h 445"/>
              <a:gd name="T6" fmla="*/ 101204 w 2195"/>
              <a:gd name="T7" fmla="*/ 68548 h 445"/>
              <a:gd name="T8" fmla="*/ 98609 w 2195"/>
              <a:gd name="T9" fmla="*/ 289206 h 445"/>
              <a:gd name="T10" fmla="*/ 431413 w 2195"/>
              <a:gd name="T11" fmla="*/ 283331 h 445"/>
              <a:gd name="T12" fmla="*/ 400922 w 2195"/>
              <a:gd name="T13" fmla="*/ 152764 h 445"/>
              <a:gd name="T14" fmla="*/ 289339 w 2195"/>
              <a:gd name="T15" fmla="*/ 154069 h 445"/>
              <a:gd name="T16" fmla="*/ 259496 w 2195"/>
              <a:gd name="T17" fmla="*/ 284636 h 445"/>
              <a:gd name="T18" fmla="*/ 289339 w 2195"/>
              <a:gd name="T19" fmla="*/ 72465 h 445"/>
              <a:gd name="T20" fmla="*/ 358754 w 2195"/>
              <a:gd name="T21" fmla="*/ 66589 h 445"/>
              <a:gd name="T22" fmla="*/ 581921 w 2195"/>
              <a:gd name="T23" fmla="*/ 265704 h 445"/>
              <a:gd name="T24" fmla="*/ 555971 w 2195"/>
              <a:gd name="T25" fmla="*/ 287901 h 445"/>
              <a:gd name="T26" fmla="*/ 512506 w 2195"/>
              <a:gd name="T27" fmla="*/ 98578 h 445"/>
              <a:gd name="T28" fmla="*/ 483312 w 2195"/>
              <a:gd name="T29" fmla="*/ 72465 h 445"/>
              <a:gd name="T30" fmla="*/ 512506 w 2195"/>
              <a:gd name="T31" fmla="*/ 15668 h 445"/>
              <a:gd name="T32" fmla="*/ 542996 w 2195"/>
              <a:gd name="T33" fmla="*/ 72465 h 445"/>
              <a:gd name="T34" fmla="*/ 581921 w 2195"/>
              <a:gd name="T35" fmla="*/ 98578 h 445"/>
              <a:gd name="T36" fmla="*/ 542996 w 2195"/>
              <a:gd name="T37" fmla="*/ 241549 h 445"/>
              <a:gd name="T38" fmla="*/ 581921 w 2195"/>
              <a:gd name="T39" fmla="*/ 265704 h 445"/>
              <a:gd name="T40" fmla="*/ 787572 w 2195"/>
              <a:gd name="T41" fmla="*/ 162556 h 445"/>
              <a:gd name="T42" fmla="*/ 661716 w 2195"/>
              <a:gd name="T43" fmla="*/ 162556 h 445"/>
              <a:gd name="T44" fmla="*/ 819360 w 2195"/>
              <a:gd name="T45" fmla="*/ 226534 h 445"/>
              <a:gd name="T46" fmla="*/ 626684 w 2195"/>
              <a:gd name="T47" fmla="*/ 181488 h 445"/>
              <a:gd name="T48" fmla="*/ 820658 w 2195"/>
              <a:gd name="T49" fmla="*/ 181488 h 445"/>
              <a:gd name="T50" fmla="*/ 660419 w 2195"/>
              <a:gd name="T51" fmla="*/ 188670 h 445"/>
              <a:gd name="T52" fmla="*/ 787572 w 2195"/>
              <a:gd name="T53" fmla="*/ 218047 h 445"/>
              <a:gd name="T54" fmla="*/ 1054853 w 2195"/>
              <a:gd name="T55" fmla="*/ 283331 h 445"/>
              <a:gd name="T56" fmla="*/ 1025011 w 2195"/>
              <a:gd name="T57" fmla="*/ 152764 h 445"/>
              <a:gd name="T58" fmla="*/ 913428 w 2195"/>
              <a:gd name="T59" fmla="*/ 154069 h 445"/>
              <a:gd name="T60" fmla="*/ 882937 w 2195"/>
              <a:gd name="T61" fmla="*/ 284636 h 445"/>
              <a:gd name="T62" fmla="*/ 913428 w 2195"/>
              <a:gd name="T63" fmla="*/ 72465 h 445"/>
              <a:gd name="T64" fmla="*/ 982843 w 2195"/>
              <a:gd name="T65" fmla="*/ 66589 h 445"/>
              <a:gd name="T66" fmla="*/ 1206010 w 2195"/>
              <a:gd name="T67" fmla="*/ 265704 h 445"/>
              <a:gd name="T68" fmla="*/ 1179412 w 2195"/>
              <a:gd name="T69" fmla="*/ 287901 h 445"/>
              <a:gd name="T70" fmla="*/ 1136595 w 2195"/>
              <a:gd name="T71" fmla="*/ 98578 h 445"/>
              <a:gd name="T72" fmla="*/ 1107401 w 2195"/>
              <a:gd name="T73" fmla="*/ 72465 h 445"/>
              <a:gd name="T74" fmla="*/ 1136595 w 2195"/>
              <a:gd name="T75" fmla="*/ 15668 h 445"/>
              <a:gd name="T76" fmla="*/ 1166437 w 2195"/>
              <a:gd name="T77" fmla="*/ 72465 h 445"/>
              <a:gd name="T78" fmla="*/ 1206010 w 2195"/>
              <a:gd name="T79" fmla="*/ 98578 h 445"/>
              <a:gd name="T80" fmla="*/ 1166437 w 2195"/>
              <a:gd name="T81" fmla="*/ 241549 h 445"/>
              <a:gd name="T82" fmla="*/ 1206010 w 2195"/>
              <a:gd name="T83" fmla="*/ 265704 h 445"/>
              <a:gd name="T84" fmla="*/ 1414256 w 2195"/>
              <a:gd name="T85" fmla="*/ 123386 h 445"/>
              <a:gd name="T86" fmla="*/ 1256612 w 2195"/>
              <a:gd name="T87" fmla="*/ 126650 h 445"/>
              <a:gd name="T88" fmla="*/ 1390901 w 2195"/>
              <a:gd name="T89" fmla="*/ 229798 h 445"/>
              <a:gd name="T90" fmla="*/ 1278020 w 2195"/>
              <a:gd name="T91" fmla="*/ 218047 h 445"/>
              <a:gd name="T92" fmla="*/ 1337704 w 2195"/>
              <a:gd name="T93" fmla="*/ 289206 h 445"/>
              <a:gd name="T94" fmla="*/ 1346138 w 2195"/>
              <a:gd name="T95" fmla="*/ 164515 h 445"/>
              <a:gd name="T96" fmla="*/ 1334461 w 2195"/>
              <a:gd name="T97" fmla="*/ 94661 h 4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lIns="68571" tIns="34285" rIns="68571" bIns="34285"/>
          <a:lstStyle/>
          <a:p>
            <a:endParaRPr lang="zh-CN" altLang="en-US" kern="0" dirty="0">
              <a:latin typeface="Times New Roman" panose="02020603050405020304" pitchFamily="18" charset="0"/>
              <a:cs typeface="Times New Roman" panose="02020603050405020304" pitchFamily="18" charset="0"/>
              <a:sym typeface="+mn-lt"/>
            </a:endParaRPr>
          </a:p>
        </p:txBody>
      </p:sp>
      <p:sp>
        <p:nvSpPr>
          <p:cNvPr id="34" name="Freeform 26">
            <a:extLst>
              <a:ext uri="{FF2B5EF4-FFF2-40B4-BE49-F238E27FC236}">
                <a16:creationId xmlns:a16="http://schemas.microsoft.com/office/drawing/2014/main" id="{5FF15703-BF29-4CDB-B489-80F924AB1AF9}"/>
              </a:ext>
            </a:extLst>
          </p:cNvPr>
          <p:cNvSpPr/>
          <p:nvPr/>
        </p:nvSpPr>
        <p:spPr bwMode="auto">
          <a:xfrm>
            <a:off x="2826467" y="4627319"/>
            <a:ext cx="4797308" cy="454819"/>
          </a:xfrm>
          <a:custGeom>
            <a:avLst/>
            <a:gdLst>
              <a:gd name="T0" fmla="*/ 60743788 w 6963"/>
              <a:gd name="T1" fmla="*/ 0 h 794"/>
              <a:gd name="T2" fmla="*/ 2147483647 w 6963"/>
              <a:gd name="T3" fmla="*/ 0 h 794"/>
              <a:gd name="T4" fmla="*/ 2147483647 w 6963"/>
              <a:gd name="T5" fmla="*/ 50166012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166012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6"/>
                </a:cubicBezTo>
                <a:lnTo>
                  <a:pt x="6963" y="707"/>
                </a:lnTo>
                <a:cubicBezTo>
                  <a:pt x="6963" y="754"/>
                  <a:pt x="6924" y="794"/>
                  <a:pt x="6876" y="794"/>
                </a:cubicBezTo>
                <a:lnTo>
                  <a:pt x="87" y="794"/>
                </a:lnTo>
                <a:cubicBezTo>
                  <a:pt x="39" y="794"/>
                  <a:pt x="0" y="754"/>
                  <a:pt x="0" y="707"/>
                </a:cubicBezTo>
                <a:lnTo>
                  <a:pt x="0" y="86"/>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35" name="Freeform 27">
            <a:extLst>
              <a:ext uri="{FF2B5EF4-FFF2-40B4-BE49-F238E27FC236}">
                <a16:creationId xmlns:a16="http://schemas.microsoft.com/office/drawing/2014/main" id="{28272DC3-EAF3-4850-B1EA-CE1A5A9D0780}"/>
              </a:ext>
            </a:extLst>
          </p:cNvPr>
          <p:cNvSpPr/>
          <p:nvPr/>
        </p:nvSpPr>
        <p:spPr bwMode="auto">
          <a:xfrm>
            <a:off x="2934773" y="4547546"/>
            <a:ext cx="593889" cy="72628"/>
          </a:xfrm>
          <a:custGeom>
            <a:avLst/>
            <a:gdLst>
              <a:gd name="T0" fmla="*/ 58241460 w 1038"/>
              <a:gd name="T1" fmla="*/ 0 h 127"/>
              <a:gd name="T2" fmla="*/ 546306357 w 1038"/>
              <a:gd name="T3" fmla="*/ 0 h 127"/>
              <a:gd name="T4" fmla="*/ 604547817 w 1038"/>
              <a:gd name="T5" fmla="*/ 73837831 h 127"/>
              <a:gd name="T6" fmla="*/ 0 w 1038"/>
              <a:gd name="T7" fmla="*/ 73837831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36" name="Rectangle 28">
            <a:extLst>
              <a:ext uri="{FF2B5EF4-FFF2-40B4-BE49-F238E27FC236}">
                <a16:creationId xmlns:a16="http://schemas.microsoft.com/office/drawing/2014/main" id="{CA0947CC-0361-421C-8CD0-BFF94B17C05F}"/>
              </a:ext>
            </a:extLst>
          </p:cNvPr>
          <p:cNvSpPr>
            <a:spLocks noChangeArrowheads="1"/>
          </p:cNvSpPr>
          <p:nvPr/>
        </p:nvSpPr>
        <p:spPr bwMode="auto">
          <a:xfrm>
            <a:off x="2991898" y="4547544"/>
            <a:ext cx="478444" cy="476251"/>
          </a:xfrm>
          <a:prstGeom prst="rect">
            <a:avLst/>
          </a:prstGeom>
          <a:solidFill>
            <a:srgbClr val="134F85"/>
          </a:solidFill>
          <a:ln>
            <a:noFill/>
          </a:ln>
        </p:spPr>
        <p:txBody>
          <a:bodyPr lIns="68563" tIns="34281" rIns="68563" bIns="34281"/>
          <a:lstStyle/>
          <a:p>
            <a:pPr>
              <a:buFontTx/>
              <a:buNone/>
            </a:pPr>
            <a:endParaRPr lang="zh-CN" altLang="en-US"/>
          </a:p>
        </p:txBody>
      </p:sp>
      <p:sp>
        <p:nvSpPr>
          <p:cNvPr id="37" name="TextBox 88">
            <a:extLst>
              <a:ext uri="{FF2B5EF4-FFF2-40B4-BE49-F238E27FC236}">
                <a16:creationId xmlns:a16="http://schemas.microsoft.com/office/drawing/2014/main" id="{95F0ED78-FE15-4B69-9F52-DCE71E9291CB}"/>
              </a:ext>
            </a:extLst>
          </p:cNvPr>
          <p:cNvSpPr txBox="1">
            <a:spLocks noChangeArrowheads="1"/>
          </p:cNvSpPr>
          <p:nvPr/>
        </p:nvSpPr>
        <p:spPr bwMode="auto">
          <a:xfrm>
            <a:off x="3543444" y="4655845"/>
            <a:ext cx="989660"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虚基类</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38" name="TextBox 89">
            <a:extLst>
              <a:ext uri="{FF2B5EF4-FFF2-40B4-BE49-F238E27FC236}">
                <a16:creationId xmlns:a16="http://schemas.microsoft.com/office/drawing/2014/main" id="{FEBB7E20-A1B2-482E-B3D5-C215B4A1AD90}"/>
              </a:ext>
            </a:extLst>
          </p:cNvPr>
          <p:cNvSpPr txBox="1">
            <a:spLocks noChangeArrowheads="1"/>
          </p:cNvSpPr>
          <p:nvPr/>
        </p:nvSpPr>
        <p:spPr bwMode="auto">
          <a:xfrm>
            <a:off x="3056169" y="4561833"/>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Freeform 26">
            <a:extLst>
              <a:ext uri="{FF2B5EF4-FFF2-40B4-BE49-F238E27FC236}">
                <a16:creationId xmlns:a16="http://schemas.microsoft.com/office/drawing/2014/main" id="{35B8A5DC-937E-46EB-BBBE-C2D008BCF2B3}"/>
              </a:ext>
            </a:extLst>
          </p:cNvPr>
          <p:cNvSpPr/>
          <p:nvPr/>
        </p:nvSpPr>
        <p:spPr bwMode="auto">
          <a:xfrm>
            <a:off x="2826467" y="5287719"/>
            <a:ext cx="4797308" cy="454819"/>
          </a:xfrm>
          <a:custGeom>
            <a:avLst/>
            <a:gdLst>
              <a:gd name="T0" fmla="*/ 60743788 w 6963"/>
              <a:gd name="T1" fmla="*/ 0 h 794"/>
              <a:gd name="T2" fmla="*/ 2147483647 w 6963"/>
              <a:gd name="T3" fmla="*/ 0 h 794"/>
              <a:gd name="T4" fmla="*/ 2147483647 w 6963"/>
              <a:gd name="T5" fmla="*/ 50166012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166012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6"/>
                </a:cubicBezTo>
                <a:lnTo>
                  <a:pt x="6963" y="707"/>
                </a:lnTo>
                <a:cubicBezTo>
                  <a:pt x="6963" y="754"/>
                  <a:pt x="6924" y="794"/>
                  <a:pt x="6876" y="794"/>
                </a:cubicBezTo>
                <a:lnTo>
                  <a:pt x="87" y="794"/>
                </a:lnTo>
                <a:cubicBezTo>
                  <a:pt x="39" y="794"/>
                  <a:pt x="0" y="754"/>
                  <a:pt x="0" y="707"/>
                </a:cubicBezTo>
                <a:lnTo>
                  <a:pt x="0" y="86"/>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40" name="Freeform 27">
            <a:extLst>
              <a:ext uri="{FF2B5EF4-FFF2-40B4-BE49-F238E27FC236}">
                <a16:creationId xmlns:a16="http://schemas.microsoft.com/office/drawing/2014/main" id="{5B08BE0D-F5AE-4AA3-B6C9-E3590BCF9647}"/>
              </a:ext>
            </a:extLst>
          </p:cNvPr>
          <p:cNvSpPr/>
          <p:nvPr/>
        </p:nvSpPr>
        <p:spPr bwMode="auto">
          <a:xfrm>
            <a:off x="2934773" y="5207946"/>
            <a:ext cx="593889" cy="72628"/>
          </a:xfrm>
          <a:custGeom>
            <a:avLst/>
            <a:gdLst>
              <a:gd name="T0" fmla="*/ 58241460 w 1038"/>
              <a:gd name="T1" fmla="*/ 0 h 127"/>
              <a:gd name="T2" fmla="*/ 546306357 w 1038"/>
              <a:gd name="T3" fmla="*/ 0 h 127"/>
              <a:gd name="T4" fmla="*/ 604547817 w 1038"/>
              <a:gd name="T5" fmla="*/ 73837831 h 127"/>
              <a:gd name="T6" fmla="*/ 0 w 1038"/>
              <a:gd name="T7" fmla="*/ 73837831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41" name="Rectangle 28">
            <a:extLst>
              <a:ext uri="{FF2B5EF4-FFF2-40B4-BE49-F238E27FC236}">
                <a16:creationId xmlns:a16="http://schemas.microsoft.com/office/drawing/2014/main" id="{320F673F-335A-4A69-A35A-A7ECD992758C}"/>
              </a:ext>
            </a:extLst>
          </p:cNvPr>
          <p:cNvSpPr>
            <a:spLocks noChangeArrowheads="1"/>
          </p:cNvSpPr>
          <p:nvPr/>
        </p:nvSpPr>
        <p:spPr bwMode="auto">
          <a:xfrm>
            <a:off x="2991898" y="5207944"/>
            <a:ext cx="478444" cy="476251"/>
          </a:xfrm>
          <a:prstGeom prst="rect">
            <a:avLst/>
          </a:prstGeom>
          <a:solidFill>
            <a:srgbClr val="134F85"/>
          </a:solidFill>
          <a:ln>
            <a:noFill/>
          </a:ln>
        </p:spPr>
        <p:txBody>
          <a:bodyPr lIns="68563" tIns="34281" rIns="68563" bIns="34281"/>
          <a:lstStyle/>
          <a:p>
            <a:pPr>
              <a:buFontTx/>
              <a:buNone/>
            </a:pPr>
            <a:endParaRPr lang="zh-CN" altLang="en-US"/>
          </a:p>
        </p:txBody>
      </p:sp>
      <p:sp>
        <p:nvSpPr>
          <p:cNvPr id="42" name="TextBox 88">
            <a:extLst>
              <a:ext uri="{FF2B5EF4-FFF2-40B4-BE49-F238E27FC236}">
                <a16:creationId xmlns:a16="http://schemas.microsoft.com/office/drawing/2014/main" id="{83BB50D0-7587-4BDF-BFA1-673225CCFBDF}"/>
              </a:ext>
            </a:extLst>
          </p:cNvPr>
          <p:cNvSpPr txBox="1">
            <a:spLocks noChangeArrowheads="1"/>
          </p:cNvSpPr>
          <p:nvPr/>
        </p:nvSpPr>
        <p:spPr bwMode="auto">
          <a:xfrm>
            <a:off x="3543444" y="5316245"/>
            <a:ext cx="3826975"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实例：小型公司人员信息管理</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43" name="TextBox 89">
            <a:extLst>
              <a:ext uri="{FF2B5EF4-FFF2-40B4-BE49-F238E27FC236}">
                <a16:creationId xmlns:a16="http://schemas.microsoft.com/office/drawing/2014/main" id="{72FFD145-67DA-4A63-9A6D-F257D794DEF7}"/>
              </a:ext>
            </a:extLst>
          </p:cNvPr>
          <p:cNvSpPr txBox="1">
            <a:spLocks noChangeArrowheads="1"/>
          </p:cNvSpPr>
          <p:nvPr/>
        </p:nvSpPr>
        <p:spPr bwMode="auto">
          <a:xfrm>
            <a:off x="3056169" y="5222233"/>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7</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1" presetClass="entr" presetSubtype="0" fill="hold" grpId="0" nodeType="afterEffect">
                                  <p:stCondLst>
                                    <p:cond delay="0"/>
                                  </p:stCondLst>
                                  <p:childTnLst>
                                    <p:set>
                                      <p:cBhvr>
                                        <p:cTn id="12" dur="1" fill="hold">
                                          <p:stCondLst>
                                            <p:cond delay="0"/>
                                          </p:stCondLst>
                                        </p:cTn>
                                        <p:tgtEl>
                                          <p:spTgt spid="80"/>
                                        </p:tgtEl>
                                        <p:attrNameLst>
                                          <p:attrName>style.visibility</p:attrName>
                                        </p:attrNameLst>
                                      </p:cBhvr>
                                      <p:to>
                                        <p:strVal val="visible"/>
                                      </p:to>
                                    </p:set>
                                    <p:anim calcmode="lin" valueType="num">
                                      <p:cBhvr>
                                        <p:cTn id="13" dur="300" fill="hold"/>
                                        <p:tgtEl>
                                          <p:spTgt spid="80"/>
                                        </p:tgtEl>
                                        <p:attrNameLst>
                                          <p:attrName>ppt_w</p:attrName>
                                        </p:attrNameLst>
                                      </p:cBhvr>
                                      <p:tavLst>
                                        <p:tav tm="0">
                                          <p:val>
                                            <p:fltVal val="0"/>
                                          </p:val>
                                        </p:tav>
                                        <p:tav tm="100000">
                                          <p:val>
                                            <p:strVal val="#ppt_w"/>
                                          </p:val>
                                        </p:tav>
                                      </p:tavLst>
                                    </p:anim>
                                    <p:anim calcmode="lin" valueType="num">
                                      <p:cBhvr>
                                        <p:cTn id="14" dur="300" fill="hold"/>
                                        <p:tgtEl>
                                          <p:spTgt spid="80"/>
                                        </p:tgtEl>
                                        <p:attrNameLst>
                                          <p:attrName>ppt_h</p:attrName>
                                        </p:attrNameLst>
                                      </p:cBhvr>
                                      <p:tavLst>
                                        <p:tav tm="0">
                                          <p:val>
                                            <p:fltVal val="0"/>
                                          </p:val>
                                        </p:tav>
                                        <p:tav tm="100000">
                                          <p:val>
                                            <p:strVal val="#ppt_h"/>
                                          </p:val>
                                        </p:tav>
                                      </p:tavLst>
                                    </p:anim>
                                    <p:anim calcmode="lin" valueType="num">
                                      <p:cBhvr>
                                        <p:cTn id="15" dur="300" fill="hold"/>
                                        <p:tgtEl>
                                          <p:spTgt spid="80"/>
                                        </p:tgtEl>
                                        <p:attrNameLst>
                                          <p:attrName>style.rotation</p:attrName>
                                        </p:attrNameLst>
                                      </p:cBhvr>
                                      <p:tavLst>
                                        <p:tav tm="0">
                                          <p:val>
                                            <p:fltVal val="90"/>
                                          </p:val>
                                        </p:tav>
                                        <p:tav tm="100000">
                                          <p:val>
                                            <p:fltVal val="0"/>
                                          </p:val>
                                        </p:tav>
                                      </p:tavLst>
                                    </p:anim>
                                    <p:animEffect transition="in" filter="fade">
                                      <p:cBhvr>
                                        <p:cTn id="16" dur="300"/>
                                        <p:tgtEl>
                                          <p:spTgt spid="80"/>
                                        </p:tgtEl>
                                      </p:cBhvr>
                                    </p:animEffect>
                                  </p:childTnLst>
                                </p:cTn>
                              </p:par>
                            </p:childTnLst>
                          </p:cTn>
                        </p:par>
                        <p:par>
                          <p:cTn id="17" fill="hold">
                            <p:stCondLst>
                              <p:cond delay="1300"/>
                            </p:stCondLst>
                            <p:childTnLst>
                              <p:par>
                                <p:cTn id="18" presetID="42" presetClass="entr" presetSubtype="0" fill="hold" grpId="0" nodeType="afterEffect">
                                  <p:stCondLst>
                                    <p:cond delay="0"/>
                                  </p:stCondLst>
                                  <p:childTnLst>
                                    <p:set>
                                      <p:cBhvr>
                                        <p:cTn id="19" dur="1" fill="hold">
                                          <p:stCondLst>
                                            <p:cond delay="0"/>
                                          </p:stCondLst>
                                        </p:cTn>
                                        <p:tgtEl>
                                          <p:spTgt spid="85"/>
                                        </p:tgtEl>
                                        <p:attrNameLst>
                                          <p:attrName>style.visibility</p:attrName>
                                        </p:attrNameLst>
                                      </p:cBhvr>
                                      <p:to>
                                        <p:strVal val="visible"/>
                                      </p:to>
                                    </p:set>
                                    <p:animEffect transition="in" filter="fade">
                                      <p:cBhvr>
                                        <p:cTn id="20" dur="400"/>
                                        <p:tgtEl>
                                          <p:spTgt spid="85"/>
                                        </p:tgtEl>
                                      </p:cBhvr>
                                    </p:animEffect>
                                    <p:anim calcmode="lin" valueType="num">
                                      <p:cBhvr>
                                        <p:cTn id="21" dur="400" fill="hold"/>
                                        <p:tgtEl>
                                          <p:spTgt spid="85"/>
                                        </p:tgtEl>
                                        <p:attrNameLst>
                                          <p:attrName>ppt_x</p:attrName>
                                        </p:attrNameLst>
                                      </p:cBhvr>
                                      <p:tavLst>
                                        <p:tav tm="0">
                                          <p:val>
                                            <p:strVal val="#ppt_x"/>
                                          </p:val>
                                        </p:tav>
                                        <p:tav tm="100000">
                                          <p:val>
                                            <p:strVal val="#ppt_x"/>
                                          </p:val>
                                        </p:tav>
                                      </p:tavLst>
                                    </p:anim>
                                    <p:anim calcmode="lin" valueType="num">
                                      <p:cBhvr>
                                        <p:cTn id="22" dur="400" fill="hold"/>
                                        <p:tgtEl>
                                          <p:spTgt spid="85"/>
                                        </p:tgtEl>
                                        <p:attrNameLst>
                                          <p:attrName>ppt_y</p:attrName>
                                        </p:attrNameLst>
                                      </p:cBhvr>
                                      <p:tavLst>
                                        <p:tav tm="0">
                                          <p:val>
                                            <p:strVal val="#ppt_y+.1"/>
                                          </p:val>
                                        </p:tav>
                                        <p:tav tm="100000">
                                          <p:val>
                                            <p:strVal val="#ppt_y"/>
                                          </p:val>
                                        </p:tav>
                                      </p:tavLst>
                                    </p:anim>
                                  </p:childTnLst>
                                </p:cTn>
                              </p:par>
                            </p:childTnLst>
                          </p:cTn>
                        </p:par>
                        <p:par>
                          <p:cTn id="23" fill="hold">
                            <p:stCondLst>
                              <p:cond delay="1700"/>
                            </p:stCondLst>
                            <p:childTnLst>
                              <p:par>
                                <p:cTn id="24" presetID="22" presetClass="entr" presetSubtype="8" fill="hold" grpId="0" nodeType="afterEffect">
                                  <p:stCondLst>
                                    <p:cond delay="0"/>
                                  </p:stCondLst>
                                  <p:childTnLst>
                                    <p:set>
                                      <p:cBhvr>
                                        <p:cTn id="25" dur="1" fill="hold">
                                          <p:stCondLst>
                                            <p:cond delay="0"/>
                                          </p:stCondLst>
                                        </p:cTn>
                                        <p:tgtEl>
                                          <p:spTgt spid="86"/>
                                        </p:tgtEl>
                                        <p:attrNameLst>
                                          <p:attrName>style.visibility</p:attrName>
                                        </p:attrNameLst>
                                      </p:cBhvr>
                                      <p:to>
                                        <p:strVal val="visible"/>
                                      </p:to>
                                    </p:set>
                                    <p:animEffect transition="in" filter="wipe(left)">
                                      <p:cBhvr>
                                        <p:cTn id="26" dur="500"/>
                                        <p:tgtEl>
                                          <p:spTgt spid="86"/>
                                        </p:tgtEl>
                                      </p:cBhvr>
                                    </p:animEffect>
                                  </p:childTnLst>
                                </p:cTn>
                              </p:par>
                            </p:childTnLst>
                          </p:cTn>
                        </p:par>
                        <p:par>
                          <p:cTn id="27" fill="hold">
                            <p:stCondLst>
                              <p:cond delay="2200"/>
                            </p:stCondLst>
                            <p:childTnLst>
                              <p:par>
                                <p:cTn id="28" presetID="10" presetClass="entr" presetSubtype="0" fill="hold" grpId="1" nodeType="afterEffect">
                                  <p:stCondLst>
                                    <p:cond delay="0"/>
                                  </p:stCondLst>
                                  <p:childTnLst>
                                    <p:set>
                                      <p:cBhvr>
                                        <p:cTn id="29" dur="1" fill="hold">
                                          <p:stCondLst>
                                            <p:cond delay="0"/>
                                          </p:stCondLst>
                                        </p:cTn>
                                        <p:tgtEl>
                                          <p:spTgt spid="80"/>
                                        </p:tgtEl>
                                        <p:attrNameLst>
                                          <p:attrName>style.visibility</p:attrName>
                                        </p:attrNameLst>
                                      </p:cBhvr>
                                      <p:to>
                                        <p:strVal val="visible"/>
                                      </p:to>
                                    </p:set>
                                    <p:animEffect transition="in" filter="fade">
                                      <p:cBhvr>
                                        <p:cTn id="30" dur="500"/>
                                        <p:tgtEl>
                                          <p:spTgt spid="80"/>
                                        </p:tgtEl>
                                      </p:cBhvr>
                                    </p:animEffect>
                                  </p:childTnLst>
                                </p:cTn>
                              </p:par>
                              <p:par>
                                <p:cTn id="31" presetID="10" presetClass="entr" presetSubtype="0" fill="hold" grpId="1" nodeType="withEffect">
                                  <p:stCondLst>
                                    <p:cond delay="0"/>
                                  </p:stCondLst>
                                  <p:childTnLst>
                                    <p:set>
                                      <p:cBhvr>
                                        <p:cTn id="32" dur="1" fill="hold">
                                          <p:stCondLst>
                                            <p:cond delay="0"/>
                                          </p:stCondLst>
                                        </p:cTn>
                                        <p:tgtEl>
                                          <p:spTgt spid="85"/>
                                        </p:tgtEl>
                                        <p:attrNameLst>
                                          <p:attrName>style.visibility</p:attrName>
                                        </p:attrNameLst>
                                      </p:cBhvr>
                                      <p:to>
                                        <p:strVal val="visible"/>
                                      </p:to>
                                    </p:set>
                                    <p:animEffect transition="in" filter="fade">
                                      <p:cBhvr>
                                        <p:cTn id="33" dur="500"/>
                                        <p:tgtEl>
                                          <p:spTgt spid="85"/>
                                        </p:tgtEl>
                                      </p:cBhvr>
                                    </p:animEffect>
                                  </p:childTnLst>
                                </p:cTn>
                              </p:par>
                              <p:par>
                                <p:cTn id="34" presetID="10" presetClass="entr" presetSubtype="0" fill="hold" grpId="1" nodeType="withEffect">
                                  <p:stCondLst>
                                    <p:cond delay="0"/>
                                  </p:stCondLst>
                                  <p:childTnLst>
                                    <p:set>
                                      <p:cBhvr>
                                        <p:cTn id="35" dur="1" fill="hold">
                                          <p:stCondLst>
                                            <p:cond delay="0"/>
                                          </p:stCondLst>
                                        </p:cTn>
                                        <p:tgtEl>
                                          <p:spTgt spid="86"/>
                                        </p:tgtEl>
                                        <p:attrNameLst>
                                          <p:attrName>style.visibility</p:attrName>
                                        </p:attrNameLst>
                                      </p:cBhvr>
                                      <p:to>
                                        <p:strVal val="visible"/>
                                      </p:to>
                                    </p:set>
                                    <p:animEffect transition="in" filter="fade">
                                      <p:cBhvr>
                                        <p:cTn id="36" dur="500"/>
                                        <p:tgtEl>
                                          <p:spTgt spid="86"/>
                                        </p:tgtEl>
                                      </p:cBhvr>
                                    </p:animEffect>
                                  </p:childTnLst>
                                </p:cTn>
                              </p:par>
                            </p:childTnLst>
                          </p:cTn>
                        </p:par>
                        <p:par>
                          <p:cTn id="37" fill="hold">
                            <p:stCondLst>
                              <p:cond delay="2700"/>
                            </p:stCondLst>
                            <p:childTnLst>
                              <p:par>
                                <p:cTn id="38" presetID="2" presetClass="entr" presetSubtype="6" fill="hold" grpId="0" nodeType="afterEffect">
                                  <p:stCondLst>
                                    <p:cond delay="0"/>
                                  </p:stCondLst>
                                  <p:childTnLst>
                                    <p:set>
                                      <p:cBhvr>
                                        <p:cTn id="39" dur="1" fill="hold">
                                          <p:stCondLst>
                                            <p:cond delay="0"/>
                                          </p:stCondLst>
                                        </p:cTn>
                                        <p:tgtEl>
                                          <p:spTgt spid="94"/>
                                        </p:tgtEl>
                                        <p:attrNameLst>
                                          <p:attrName>style.visibility</p:attrName>
                                        </p:attrNameLst>
                                      </p:cBhvr>
                                      <p:to>
                                        <p:strVal val="visible"/>
                                      </p:to>
                                    </p:set>
                                    <p:anim calcmode="lin" valueType="num">
                                      <p:cBhvr additive="base">
                                        <p:cTn id="40" dur="500" fill="hold"/>
                                        <p:tgtEl>
                                          <p:spTgt spid="94"/>
                                        </p:tgtEl>
                                        <p:attrNameLst>
                                          <p:attrName>ppt_x</p:attrName>
                                        </p:attrNameLst>
                                      </p:cBhvr>
                                      <p:tavLst>
                                        <p:tav tm="0">
                                          <p:val>
                                            <p:strVal val="1+#ppt_w/2"/>
                                          </p:val>
                                        </p:tav>
                                        <p:tav tm="100000">
                                          <p:val>
                                            <p:strVal val="#ppt_x"/>
                                          </p:val>
                                        </p:tav>
                                      </p:tavLst>
                                    </p:anim>
                                    <p:anim calcmode="lin" valueType="num">
                                      <p:cBhvr additive="base">
                                        <p:cTn id="41" dur="500" fill="hold"/>
                                        <p:tgtEl>
                                          <p:spTgt spid="94"/>
                                        </p:tgtEl>
                                        <p:attrNameLst>
                                          <p:attrName>ppt_y</p:attrName>
                                        </p:attrNameLst>
                                      </p:cBhvr>
                                      <p:tavLst>
                                        <p:tav tm="0">
                                          <p:val>
                                            <p:strVal val="1+#ppt_h/2"/>
                                          </p:val>
                                        </p:tav>
                                        <p:tav tm="100000">
                                          <p:val>
                                            <p:strVal val="#ppt_y"/>
                                          </p:val>
                                        </p:tav>
                                      </p:tavLst>
                                    </p:anim>
                                  </p:childTnLst>
                                </p:cTn>
                              </p:par>
                              <p:par>
                                <p:cTn id="42" presetID="2" presetClass="entr" presetSubtype="6" fill="hold" grpId="0" nodeType="withEffect">
                                  <p:stCondLst>
                                    <p:cond delay="100"/>
                                  </p:stCondLst>
                                  <p:childTnLst>
                                    <p:set>
                                      <p:cBhvr>
                                        <p:cTn id="43" dur="1" fill="hold">
                                          <p:stCondLst>
                                            <p:cond delay="0"/>
                                          </p:stCondLst>
                                        </p:cTn>
                                        <p:tgtEl>
                                          <p:spTgt spid="97"/>
                                        </p:tgtEl>
                                        <p:attrNameLst>
                                          <p:attrName>style.visibility</p:attrName>
                                        </p:attrNameLst>
                                      </p:cBhvr>
                                      <p:to>
                                        <p:strVal val="visible"/>
                                      </p:to>
                                    </p:set>
                                    <p:anim calcmode="lin" valueType="num">
                                      <p:cBhvr additive="base">
                                        <p:cTn id="44" dur="500" fill="hold"/>
                                        <p:tgtEl>
                                          <p:spTgt spid="97"/>
                                        </p:tgtEl>
                                        <p:attrNameLst>
                                          <p:attrName>ppt_x</p:attrName>
                                        </p:attrNameLst>
                                      </p:cBhvr>
                                      <p:tavLst>
                                        <p:tav tm="0">
                                          <p:val>
                                            <p:strVal val="1+#ppt_w/2"/>
                                          </p:val>
                                        </p:tav>
                                        <p:tav tm="100000">
                                          <p:val>
                                            <p:strVal val="#ppt_x"/>
                                          </p:val>
                                        </p:tav>
                                      </p:tavLst>
                                    </p:anim>
                                    <p:anim calcmode="lin" valueType="num">
                                      <p:cBhvr additive="base">
                                        <p:cTn id="45" dur="500" fill="hold"/>
                                        <p:tgtEl>
                                          <p:spTgt spid="97"/>
                                        </p:tgtEl>
                                        <p:attrNameLst>
                                          <p:attrName>ppt_y</p:attrName>
                                        </p:attrNameLst>
                                      </p:cBhvr>
                                      <p:tavLst>
                                        <p:tav tm="0">
                                          <p:val>
                                            <p:strVal val="1+#ppt_h/2"/>
                                          </p:val>
                                        </p:tav>
                                        <p:tav tm="100000">
                                          <p:val>
                                            <p:strVal val="#ppt_y"/>
                                          </p:val>
                                        </p:tav>
                                      </p:tavLst>
                                    </p:anim>
                                  </p:childTnLst>
                                </p:cTn>
                              </p:par>
                              <p:par>
                                <p:cTn id="46" presetID="2" presetClass="entr" presetSubtype="6" fill="hold" grpId="0" nodeType="withEffect">
                                  <p:stCondLst>
                                    <p:cond delay="200"/>
                                  </p:stCondLst>
                                  <p:childTnLst>
                                    <p:set>
                                      <p:cBhvr>
                                        <p:cTn id="47" dur="1" fill="hold">
                                          <p:stCondLst>
                                            <p:cond delay="0"/>
                                          </p:stCondLst>
                                        </p:cTn>
                                        <p:tgtEl>
                                          <p:spTgt spid="104"/>
                                        </p:tgtEl>
                                        <p:attrNameLst>
                                          <p:attrName>style.visibility</p:attrName>
                                        </p:attrNameLst>
                                      </p:cBhvr>
                                      <p:to>
                                        <p:strVal val="visible"/>
                                      </p:to>
                                    </p:set>
                                    <p:anim calcmode="lin" valueType="num">
                                      <p:cBhvr additive="base">
                                        <p:cTn id="48" dur="500" fill="hold"/>
                                        <p:tgtEl>
                                          <p:spTgt spid="104"/>
                                        </p:tgtEl>
                                        <p:attrNameLst>
                                          <p:attrName>ppt_x</p:attrName>
                                        </p:attrNameLst>
                                      </p:cBhvr>
                                      <p:tavLst>
                                        <p:tav tm="0">
                                          <p:val>
                                            <p:strVal val="1+#ppt_w/2"/>
                                          </p:val>
                                        </p:tav>
                                        <p:tav tm="100000">
                                          <p:val>
                                            <p:strVal val="#ppt_x"/>
                                          </p:val>
                                        </p:tav>
                                      </p:tavLst>
                                    </p:anim>
                                    <p:anim calcmode="lin" valueType="num">
                                      <p:cBhvr additive="base">
                                        <p:cTn id="49" dur="500" fill="hold"/>
                                        <p:tgtEl>
                                          <p:spTgt spid="104"/>
                                        </p:tgtEl>
                                        <p:attrNameLst>
                                          <p:attrName>ppt_y</p:attrName>
                                        </p:attrNameLst>
                                      </p:cBhvr>
                                      <p:tavLst>
                                        <p:tav tm="0">
                                          <p:val>
                                            <p:strVal val="1+#ppt_h/2"/>
                                          </p:val>
                                        </p:tav>
                                        <p:tav tm="100000">
                                          <p:val>
                                            <p:strVal val="#ppt_y"/>
                                          </p:val>
                                        </p:tav>
                                      </p:tavLst>
                                    </p:anim>
                                  </p:childTnLst>
                                </p:cTn>
                              </p:par>
                              <p:par>
                                <p:cTn id="50" presetID="2" presetClass="entr" presetSubtype="6" fill="hold" grpId="0" nodeType="withEffect">
                                  <p:stCondLst>
                                    <p:cond delay="300"/>
                                  </p:stCondLst>
                                  <p:childTnLst>
                                    <p:set>
                                      <p:cBhvr>
                                        <p:cTn id="51" dur="1" fill="hold">
                                          <p:stCondLst>
                                            <p:cond delay="0"/>
                                          </p:stCondLst>
                                        </p:cTn>
                                        <p:tgtEl>
                                          <p:spTgt spid="107"/>
                                        </p:tgtEl>
                                        <p:attrNameLst>
                                          <p:attrName>style.visibility</p:attrName>
                                        </p:attrNameLst>
                                      </p:cBhvr>
                                      <p:to>
                                        <p:strVal val="visible"/>
                                      </p:to>
                                    </p:set>
                                    <p:anim calcmode="lin" valueType="num">
                                      <p:cBhvr additive="base">
                                        <p:cTn id="52" dur="500" fill="hold"/>
                                        <p:tgtEl>
                                          <p:spTgt spid="107"/>
                                        </p:tgtEl>
                                        <p:attrNameLst>
                                          <p:attrName>ppt_x</p:attrName>
                                        </p:attrNameLst>
                                      </p:cBhvr>
                                      <p:tavLst>
                                        <p:tav tm="0">
                                          <p:val>
                                            <p:strVal val="1+#ppt_w/2"/>
                                          </p:val>
                                        </p:tav>
                                        <p:tav tm="100000">
                                          <p:val>
                                            <p:strVal val="#ppt_x"/>
                                          </p:val>
                                        </p:tav>
                                      </p:tavLst>
                                    </p:anim>
                                    <p:anim calcmode="lin" valueType="num">
                                      <p:cBhvr additive="base">
                                        <p:cTn id="53" dur="500" fill="hold"/>
                                        <p:tgtEl>
                                          <p:spTgt spid="107"/>
                                        </p:tgtEl>
                                        <p:attrNameLst>
                                          <p:attrName>ppt_y</p:attrName>
                                        </p:attrNameLst>
                                      </p:cBhvr>
                                      <p:tavLst>
                                        <p:tav tm="0">
                                          <p:val>
                                            <p:strVal val="1+#ppt_h/2"/>
                                          </p:val>
                                        </p:tav>
                                        <p:tav tm="100000">
                                          <p:val>
                                            <p:strVal val="#ppt_y"/>
                                          </p:val>
                                        </p:tav>
                                      </p:tavLst>
                                    </p:anim>
                                  </p:childTnLst>
                                </p:cTn>
                              </p:par>
                              <p:par>
                                <p:cTn id="54" presetID="2" presetClass="entr" presetSubtype="6" fill="hold" grpId="0" nodeType="withEffect">
                                  <p:stCondLst>
                                    <p:cond delay="400"/>
                                  </p:stCondLst>
                                  <p:childTnLst>
                                    <p:set>
                                      <p:cBhvr>
                                        <p:cTn id="55" dur="1" fill="hold">
                                          <p:stCondLst>
                                            <p:cond delay="0"/>
                                          </p:stCondLst>
                                        </p:cTn>
                                        <p:tgtEl>
                                          <p:spTgt spid="110"/>
                                        </p:tgtEl>
                                        <p:attrNameLst>
                                          <p:attrName>style.visibility</p:attrName>
                                        </p:attrNameLst>
                                      </p:cBhvr>
                                      <p:to>
                                        <p:strVal val="visible"/>
                                      </p:to>
                                    </p:set>
                                    <p:anim calcmode="lin" valueType="num">
                                      <p:cBhvr additive="base">
                                        <p:cTn id="56" dur="500" fill="hold"/>
                                        <p:tgtEl>
                                          <p:spTgt spid="110"/>
                                        </p:tgtEl>
                                        <p:attrNameLst>
                                          <p:attrName>ppt_x</p:attrName>
                                        </p:attrNameLst>
                                      </p:cBhvr>
                                      <p:tavLst>
                                        <p:tav tm="0">
                                          <p:val>
                                            <p:strVal val="1+#ppt_w/2"/>
                                          </p:val>
                                        </p:tav>
                                        <p:tav tm="100000">
                                          <p:val>
                                            <p:strVal val="#ppt_x"/>
                                          </p:val>
                                        </p:tav>
                                      </p:tavLst>
                                    </p:anim>
                                    <p:anim calcmode="lin" valueType="num">
                                      <p:cBhvr additive="base">
                                        <p:cTn id="57" dur="500" fill="hold"/>
                                        <p:tgtEl>
                                          <p:spTgt spid="110"/>
                                        </p:tgtEl>
                                        <p:attrNameLst>
                                          <p:attrName>ppt_y</p:attrName>
                                        </p:attrNameLst>
                                      </p:cBhvr>
                                      <p:tavLst>
                                        <p:tav tm="0">
                                          <p:val>
                                            <p:strVal val="1+#ppt_h/2"/>
                                          </p:val>
                                        </p:tav>
                                        <p:tav tm="100000">
                                          <p:val>
                                            <p:strVal val="#ppt_y"/>
                                          </p:val>
                                        </p:tav>
                                      </p:tavLst>
                                    </p:anim>
                                  </p:childTnLst>
                                </p:cTn>
                              </p:par>
                            </p:childTnLst>
                          </p:cTn>
                        </p:par>
                        <p:par>
                          <p:cTn id="58" fill="hold">
                            <p:stCondLst>
                              <p:cond delay="3600"/>
                            </p:stCondLst>
                            <p:childTnLst>
                              <p:par>
                                <p:cTn id="59" presetID="22" presetClass="entr" presetSubtype="4" fill="hold" grpId="0" nodeType="afterEffect">
                                  <p:stCondLst>
                                    <p:cond delay="0"/>
                                  </p:stCondLst>
                                  <p:childTnLst>
                                    <p:set>
                                      <p:cBhvr>
                                        <p:cTn id="60" dur="1" fill="hold">
                                          <p:stCondLst>
                                            <p:cond delay="0"/>
                                          </p:stCondLst>
                                        </p:cTn>
                                        <p:tgtEl>
                                          <p:spTgt spid="95"/>
                                        </p:tgtEl>
                                        <p:attrNameLst>
                                          <p:attrName>style.visibility</p:attrName>
                                        </p:attrNameLst>
                                      </p:cBhvr>
                                      <p:to>
                                        <p:strVal val="visible"/>
                                      </p:to>
                                    </p:set>
                                    <p:animEffect transition="in" filter="wipe(down)">
                                      <p:cBhvr>
                                        <p:cTn id="61" dur="300"/>
                                        <p:tgtEl>
                                          <p:spTgt spid="95"/>
                                        </p:tgtEl>
                                      </p:cBhvr>
                                    </p:animEffect>
                                  </p:childTnLst>
                                </p:cTn>
                              </p:par>
                            </p:childTnLst>
                          </p:cTn>
                        </p:par>
                        <p:par>
                          <p:cTn id="62" fill="hold">
                            <p:stCondLst>
                              <p:cond delay="3900"/>
                            </p:stCondLst>
                            <p:childTnLst>
                              <p:par>
                                <p:cTn id="63" presetID="22" presetClass="entr" presetSubtype="1" fill="hold" grpId="0" nodeType="afterEffect">
                                  <p:stCondLst>
                                    <p:cond delay="0"/>
                                  </p:stCondLst>
                                  <p:childTnLst>
                                    <p:set>
                                      <p:cBhvr>
                                        <p:cTn id="64" dur="1" fill="hold">
                                          <p:stCondLst>
                                            <p:cond delay="0"/>
                                          </p:stCondLst>
                                        </p:cTn>
                                        <p:tgtEl>
                                          <p:spTgt spid="96"/>
                                        </p:tgtEl>
                                        <p:attrNameLst>
                                          <p:attrName>style.visibility</p:attrName>
                                        </p:attrNameLst>
                                      </p:cBhvr>
                                      <p:to>
                                        <p:strVal val="visible"/>
                                      </p:to>
                                    </p:set>
                                    <p:animEffect transition="in" filter="wipe(up)">
                                      <p:cBhvr>
                                        <p:cTn id="65" dur="500"/>
                                        <p:tgtEl>
                                          <p:spTgt spid="96"/>
                                        </p:tgtEl>
                                      </p:cBhvr>
                                    </p:animEffect>
                                  </p:childTnLst>
                                </p:cTn>
                              </p:par>
                            </p:childTnLst>
                          </p:cTn>
                        </p:par>
                        <p:par>
                          <p:cTn id="66" fill="hold">
                            <p:stCondLst>
                              <p:cond delay="4400"/>
                            </p:stCondLst>
                            <p:childTnLst>
                              <p:par>
                                <p:cTn id="67" presetID="31" presetClass="entr" presetSubtype="0" fill="hold" grpId="0" nodeType="afterEffect">
                                  <p:stCondLst>
                                    <p:cond delay="0"/>
                                  </p:stCondLst>
                                  <p:childTnLst>
                                    <p:set>
                                      <p:cBhvr>
                                        <p:cTn id="68" dur="1" fill="hold">
                                          <p:stCondLst>
                                            <p:cond delay="0"/>
                                          </p:stCondLst>
                                        </p:cTn>
                                        <p:tgtEl>
                                          <p:spTgt spid="114"/>
                                        </p:tgtEl>
                                        <p:attrNameLst>
                                          <p:attrName>style.visibility</p:attrName>
                                        </p:attrNameLst>
                                      </p:cBhvr>
                                      <p:to>
                                        <p:strVal val="visible"/>
                                      </p:to>
                                    </p:set>
                                    <p:anim calcmode="lin" valueType="num">
                                      <p:cBhvr>
                                        <p:cTn id="69" dur="400" fill="hold"/>
                                        <p:tgtEl>
                                          <p:spTgt spid="114"/>
                                        </p:tgtEl>
                                        <p:attrNameLst>
                                          <p:attrName>ppt_w</p:attrName>
                                        </p:attrNameLst>
                                      </p:cBhvr>
                                      <p:tavLst>
                                        <p:tav tm="0">
                                          <p:val>
                                            <p:fltVal val="0"/>
                                          </p:val>
                                        </p:tav>
                                        <p:tav tm="100000">
                                          <p:val>
                                            <p:strVal val="#ppt_w"/>
                                          </p:val>
                                        </p:tav>
                                      </p:tavLst>
                                    </p:anim>
                                    <p:anim calcmode="lin" valueType="num">
                                      <p:cBhvr>
                                        <p:cTn id="70" dur="400" fill="hold"/>
                                        <p:tgtEl>
                                          <p:spTgt spid="114"/>
                                        </p:tgtEl>
                                        <p:attrNameLst>
                                          <p:attrName>ppt_h</p:attrName>
                                        </p:attrNameLst>
                                      </p:cBhvr>
                                      <p:tavLst>
                                        <p:tav tm="0">
                                          <p:val>
                                            <p:fltVal val="0"/>
                                          </p:val>
                                        </p:tav>
                                        <p:tav tm="100000">
                                          <p:val>
                                            <p:strVal val="#ppt_h"/>
                                          </p:val>
                                        </p:tav>
                                      </p:tavLst>
                                    </p:anim>
                                    <p:anim calcmode="lin" valueType="num">
                                      <p:cBhvr>
                                        <p:cTn id="71" dur="400" fill="hold"/>
                                        <p:tgtEl>
                                          <p:spTgt spid="114"/>
                                        </p:tgtEl>
                                        <p:attrNameLst>
                                          <p:attrName>style.rotation</p:attrName>
                                        </p:attrNameLst>
                                      </p:cBhvr>
                                      <p:tavLst>
                                        <p:tav tm="0">
                                          <p:val>
                                            <p:fltVal val="90"/>
                                          </p:val>
                                        </p:tav>
                                        <p:tav tm="100000">
                                          <p:val>
                                            <p:fltVal val="0"/>
                                          </p:val>
                                        </p:tav>
                                      </p:tavLst>
                                    </p:anim>
                                    <p:animEffect transition="in" filter="fade">
                                      <p:cBhvr>
                                        <p:cTn id="72" dur="400"/>
                                        <p:tgtEl>
                                          <p:spTgt spid="114"/>
                                        </p:tgtEl>
                                      </p:cBhvr>
                                    </p:animEffect>
                                  </p:childTnLst>
                                </p:cTn>
                              </p:par>
                            </p:childTnLst>
                          </p:cTn>
                        </p:par>
                        <p:par>
                          <p:cTn id="73" fill="hold">
                            <p:stCondLst>
                              <p:cond delay="4800"/>
                            </p:stCondLst>
                            <p:childTnLst>
                              <p:par>
                                <p:cTn id="74" presetID="22" presetClass="entr" presetSubtype="8" fill="hold" grpId="0" nodeType="afterEffect">
                                  <p:stCondLst>
                                    <p:cond delay="0"/>
                                  </p:stCondLst>
                                  <p:childTnLst>
                                    <p:set>
                                      <p:cBhvr>
                                        <p:cTn id="75" dur="1" fill="hold">
                                          <p:stCondLst>
                                            <p:cond delay="0"/>
                                          </p:stCondLst>
                                        </p:cTn>
                                        <p:tgtEl>
                                          <p:spTgt spid="113"/>
                                        </p:tgtEl>
                                        <p:attrNameLst>
                                          <p:attrName>style.visibility</p:attrName>
                                        </p:attrNameLst>
                                      </p:cBhvr>
                                      <p:to>
                                        <p:strVal val="visible"/>
                                      </p:to>
                                    </p:set>
                                    <p:animEffect transition="in" filter="wipe(left)">
                                      <p:cBhvr>
                                        <p:cTn id="76" dur="500"/>
                                        <p:tgtEl>
                                          <p:spTgt spid="113"/>
                                        </p:tgtEl>
                                      </p:cBhvr>
                                    </p:animEffect>
                                  </p:childTnLst>
                                </p:cTn>
                              </p:par>
                            </p:childTnLst>
                          </p:cTn>
                        </p:par>
                        <p:par>
                          <p:cTn id="77" fill="hold">
                            <p:stCondLst>
                              <p:cond delay="5300"/>
                            </p:stCondLst>
                            <p:childTnLst>
                              <p:par>
                                <p:cTn id="78" presetID="22" presetClass="entr" presetSubtype="4" fill="hold" grpId="0" nodeType="afterEffect">
                                  <p:stCondLst>
                                    <p:cond delay="0"/>
                                  </p:stCondLst>
                                  <p:childTnLst>
                                    <p:set>
                                      <p:cBhvr>
                                        <p:cTn id="79" dur="1" fill="hold">
                                          <p:stCondLst>
                                            <p:cond delay="0"/>
                                          </p:stCondLst>
                                        </p:cTn>
                                        <p:tgtEl>
                                          <p:spTgt spid="98"/>
                                        </p:tgtEl>
                                        <p:attrNameLst>
                                          <p:attrName>style.visibility</p:attrName>
                                        </p:attrNameLst>
                                      </p:cBhvr>
                                      <p:to>
                                        <p:strVal val="visible"/>
                                      </p:to>
                                    </p:set>
                                    <p:animEffect transition="in" filter="wipe(down)">
                                      <p:cBhvr>
                                        <p:cTn id="80" dur="300"/>
                                        <p:tgtEl>
                                          <p:spTgt spid="98"/>
                                        </p:tgtEl>
                                      </p:cBhvr>
                                    </p:animEffect>
                                  </p:childTnLst>
                                </p:cTn>
                              </p:par>
                            </p:childTnLst>
                          </p:cTn>
                        </p:par>
                        <p:par>
                          <p:cTn id="81" fill="hold">
                            <p:stCondLst>
                              <p:cond delay="5600"/>
                            </p:stCondLst>
                            <p:childTnLst>
                              <p:par>
                                <p:cTn id="82" presetID="22" presetClass="entr" presetSubtype="1" fill="hold" grpId="0" nodeType="afterEffect">
                                  <p:stCondLst>
                                    <p:cond delay="0"/>
                                  </p:stCondLst>
                                  <p:childTnLst>
                                    <p:set>
                                      <p:cBhvr>
                                        <p:cTn id="83" dur="1" fill="hold">
                                          <p:stCondLst>
                                            <p:cond delay="0"/>
                                          </p:stCondLst>
                                        </p:cTn>
                                        <p:tgtEl>
                                          <p:spTgt spid="103"/>
                                        </p:tgtEl>
                                        <p:attrNameLst>
                                          <p:attrName>style.visibility</p:attrName>
                                        </p:attrNameLst>
                                      </p:cBhvr>
                                      <p:to>
                                        <p:strVal val="visible"/>
                                      </p:to>
                                    </p:set>
                                    <p:animEffect transition="in" filter="wipe(up)">
                                      <p:cBhvr>
                                        <p:cTn id="84" dur="500"/>
                                        <p:tgtEl>
                                          <p:spTgt spid="103"/>
                                        </p:tgtEl>
                                      </p:cBhvr>
                                    </p:animEffect>
                                  </p:childTnLst>
                                </p:cTn>
                              </p:par>
                            </p:childTnLst>
                          </p:cTn>
                        </p:par>
                        <p:par>
                          <p:cTn id="85" fill="hold">
                            <p:stCondLst>
                              <p:cond delay="6100"/>
                            </p:stCondLst>
                            <p:childTnLst>
                              <p:par>
                                <p:cTn id="86" presetID="31" presetClass="entr" presetSubtype="0" fill="hold" grpId="0" nodeType="afterEffect">
                                  <p:stCondLst>
                                    <p:cond delay="0"/>
                                  </p:stCondLst>
                                  <p:childTnLst>
                                    <p:set>
                                      <p:cBhvr>
                                        <p:cTn id="87" dur="1" fill="hold">
                                          <p:stCondLst>
                                            <p:cond delay="0"/>
                                          </p:stCondLst>
                                        </p:cTn>
                                        <p:tgtEl>
                                          <p:spTgt spid="116"/>
                                        </p:tgtEl>
                                        <p:attrNameLst>
                                          <p:attrName>style.visibility</p:attrName>
                                        </p:attrNameLst>
                                      </p:cBhvr>
                                      <p:to>
                                        <p:strVal val="visible"/>
                                      </p:to>
                                    </p:set>
                                    <p:anim calcmode="lin" valueType="num">
                                      <p:cBhvr>
                                        <p:cTn id="88" dur="400" fill="hold"/>
                                        <p:tgtEl>
                                          <p:spTgt spid="116"/>
                                        </p:tgtEl>
                                        <p:attrNameLst>
                                          <p:attrName>ppt_w</p:attrName>
                                        </p:attrNameLst>
                                      </p:cBhvr>
                                      <p:tavLst>
                                        <p:tav tm="0">
                                          <p:val>
                                            <p:fltVal val="0"/>
                                          </p:val>
                                        </p:tav>
                                        <p:tav tm="100000">
                                          <p:val>
                                            <p:strVal val="#ppt_w"/>
                                          </p:val>
                                        </p:tav>
                                      </p:tavLst>
                                    </p:anim>
                                    <p:anim calcmode="lin" valueType="num">
                                      <p:cBhvr>
                                        <p:cTn id="89" dur="400" fill="hold"/>
                                        <p:tgtEl>
                                          <p:spTgt spid="116"/>
                                        </p:tgtEl>
                                        <p:attrNameLst>
                                          <p:attrName>ppt_h</p:attrName>
                                        </p:attrNameLst>
                                      </p:cBhvr>
                                      <p:tavLst>
                                        <p:tav tm="0">
                                          <p:val>
                                            <p:fltVal val="0"/>
                                          </p:val>
                                        </p:tav>
                                        <p:tav tm="100000">
                                          <p:val>
                                            <p:strVal val="#ppt_h"/>
                                          </p:val>
                                        </p:tav>
                                      </p:tavLst>
                                    </p:anim>
                                    <p:anim calcmode="lin" valueType="num">
                                      <p:cBhvr>
                                        <p:cTn id="90" dur="400" fill="hold"/>
                                        <p:tgtEl>
                                          <p:spTgt spid="116"/>
                                        </p:tgtEl>
                                        <p:attrNameLst>
                                          <p:attrName>style.rotation</p:attrName>
                                        </p:attrNameLst>
                                      </p:cBhvr>
                                      <p:tavLst>
                                        <p:tav tm="0">
                                          <p:val>
                                            <p:fltVal val="90"/>
                                          </p:val>
                                        </p:tav>
                                        <p:tav tm="100000">
                                          <p:val>
                                            <p:fltVal val="0"/>
                                          </p:val>
                                        </p:tav>
                                      </p:tavLst>
                                    </p:anim>
                                    <p:animEffect transition="in" filter="fade">
                                      <p:cBhvr>
                                        <p:cTn id="91" dur="400"/>
                                        <p:tgtEl>
                                          <p:spTgt spid="116"/>
                                        </p:tgtEl>
                                      </p:cBhvr>
                                    </p:animEffect>
                                  </p:childTnLst>
                                </p:cTn>
                              </p:par>
                            </p:childTnLst>
                          </p:cTn>
                        </p:par>
                        <p:par>
                          <p:cTn id="92" fill="hold">
                            <p:stCondLst>
                              <p:cond delay="6500"/>
                            </p:stCondLst>
                            <p:childTnLst>
                              <p:par>
                                <p:cTn id="93" presetID="22" presetClass="entr" presetSubtype="8" fill="hold" grpId="0" nodeType="afterEffect">
                                  <p:stCondLst>
                                    <p:cond delay="0"/>
                                  </p:stCondLst>
                                  <p:childTnLst>
                                    <p:set>
                                      <p:cBhvr>
                                        <p:cTn id="94" dur="1" fill="hold">
                                          <p:stCondLst>
                                            <p:cond delay="0"/>
                                          </p:stCondLst>
                                        </p:cTn>
                                        <p:tgtEl>
                                          <p:spTgt spid="115"/>
                                        </p:tgtEl>
                                        <p:attrNameLst>
                                          <p:attrName>style.visibility</p:attrName>
                                        </p:attrNameLst>
                                      </p:cBhvr>
                                      <p:to>
                                        <p:strVal val="visible"/>
                                      </p:to>
                                    </p:set>
                                    <p:animEffect transition="in" filter="wipe(left)">
                                      <p:cBhvr>
                                        <p:cTn id="95" dur="500"/>
                                        <p:tgtEl>
                                          <p:spTgt spid="115"/>
                                        </p:tgtEl>
                                      </p:cBhvr>
                                    </p:animEffect>
                                  </p:childTnLst>
                                </p:cTn>
                              </p:par>
                            </p:childTnLst>
                          </p:cTn>
                        </p:par>
                        <p:par>
                          <p:cTn id="96" fill="hold">
                            <p:stCondLst>
                              <p:cond delay="7000"/>
                            </p:stCondLst>
                            <p:childTnLst>
                              <p:par>
                                <p:cTn id="97" presetID="22" presetClass="entr" presetSubtype="4" fill="hold" grpId="0" nodeType="afterEffect">
                                  <p:stCondLst>
                                    <p:cond delay="0"/>
                                  </p:stCondLst>
                                  <p:childTnLst>
                                    <p:set>
                                      <p:cBhvr>
                                        <p:cTn id="98" dur="1" fill="hold">
                                          <p:stCondLst>
                                            <p:cond delay="0"/>
                                          </p:stCondLst>
                                        </p:cTn>
                                        <p:tgtEl>
                                          <p:spTgt spid="105"/>
                                        </p:tgtEl>
                                        <p:attrNameLst>
                                          <p:attrName>style.visibility</p:attrName>
                                        </p:attrNameLst>
                                      </p:cBhvr>
                                      <p:to>
                                        <p:strVal val="visible"/>
                                      </p:to>
                                    </p:set>
                                    <p:animEffect transition="in" filter="wipe(down)">
                                      <p:cBhvr>
                                        <p:cTn id="99" dur="300"/>
                                        <p:tgtEl>
                                          <p:spTgt spid="105"/>
                                        </p:tgtEl>
                                      </p:cBhvr>
                                    </p:animEffect>
                                  </p:childTnLst>
                                </p:cTn>
                              </p:par>
                            </p:childTnLst>
                          </p:cTn>
                        </p:par>
                        <p:par>
                          <p:cTn id="100" fill="hold">
                            <p:stCondLst>
                              <p:cond delay="7300"/>
                            </p:stCondLst>
                            <p:childTnLst>
                              <p:par>
                                <p:cTn id="101" presetID="22" presetClass="entr" presetSubtype="1" fill="hold" grpId="0" nodeType="afterEffect">
                                  <p:stCondLst>
                                    <p:cond delay="0"/>
                                  </p:stCondLst>
                                  <p:childTnLst>
                                    <p:set>
                                      <p:cBhvr>
                                        <p:cTn id="102" dur="1" fill="hold">
                                          <p:stCondLst>
                                            <p:cond delay="0"/>
                                          </p:stCondLst>
                                        </p:cTn>
                                        <p:tgtEl>
                                          <p:spTgt spid="106"/>
                                        </p:tgtEl>
                                        <p:attrNameLst>
                                          <p:attrName>style.visibility</p:attrName>
                                        </p:attrNameLst>
                                      </p:cBhvr>
                                      <p:to>
                                        <p:strVal val="visible"/>
                                      </p:to>
                                    </p:set>
                                    <p:animEffect transition="in" filter="wipe(up)">
                                      <p:cBhvr>
                                        <p:cTn id="103" dur="500"/>
                                        <p:tgtEl>
                                          <p:spTgt spid="106"/>
                                        </p:tgtEl>
                                      </p:cBhvr>
                                    </p:animEffect>
                                  </p:childTnLst>
                                </p:cTn>
                              </p:par>
                            </p:childTnLst>
                          </p:cTn>
                        </p:par>
                        <p:par>
                          <p:cTn id="104" fill="hold">
                            <p:stCondLst>
                              <p:cond delay="7800"/>
                            </p:stCondLst>
                            <p:childTnLst>
                              <p:par>
                                <p:cTn id="105" presetID="31" presetClass="entr" presetSubtype="0" fill="hold" grpId="0" nodeType="afterEffect">
                                  <p:stCondLst>
                                    <p:cond delay="0"/>
                                  </p:stCondLst>
                                  <p:childTnLst>
                                    <p:set>
                                      <p:cBhvr>
                                        <p:cTn id="106" dur="1" fill="hold">
                                          <p:stCondLst>
                                            <p:cond delay="0"/>
                                          </p:stCondLst>
                                        </p:cTn>
                                        <p:tgtEl>
                                          <p:spTgt spid="118"/>
                                        </p:tgtEl>
                                        <p:attrNameLst>
                                          <p:attrName>style.visibility</p:attrName>
                                        </p:attrNameLst>
                                      </p:cBhvr>
                                      <p:to>
                                        <p:strVal val="visible"/>
                                      </p:to>
                                    </p:set>
                                    <p:anim calcmode="lin" valueType="num">
                                      <p:cBhvr>
                                        <p:cTn id="107" dur="400" fill="hold"/>
                                        <p:tgtEl>
                                          <p:spTgt spid="118"/>
                                        </p:tgtEl>
                                        <p:attrNameLst>
                                          <p:attrName>ppt_w</p:attrName>
                                        </p:attrNameLst>
                                      </p:cBhvr>
                                      <p:tavLst>
                                        <p:tav tm="0">
                                          <p:val>
                                            <p:fltVal val="0"/>
                                          </p:val>
                                        </p:tav>
                                        <p:tav tm="100000">
                                          <p:val>
                                            <p:strVal val="#ppt_w"/>
                                          </p:val>
                                        </p:tav>
                                      </p:tavLst>
                                    </p:anim>
                                    <p:anim calcmode="lin" valueType="num">
                                      <p:cBhvr>
                                        <p:cTn id="108" dur="400" fill="hold"/>
                                        <p:tgtEl>
                                          <p:spTgt spid="118"/>
                                        </p:tgtEl>
                                        <p:attrNameLst>
                                          <p:attrName>ppt_h</p:attrName>
                                        </p:attrNameLst>
                                      </p:cBhvr>
                                      <p:tavLst>
                                        <p:tav tm="0">
                                          <p:val>
                                            <p:fltVal val="0"/>
                                          </p:val>
                                        </p:tav>
                                        <p:tav tm="100000">
                                          <p:val>
                                            <p:strVal val="#ppt_h"/>
                                          </p:val>
                                        </p:tav>
                                      </p:tavLst>
                                    </p:anim>
                                    <p:anim calcmode="lin" valueType="num">
                                      <p:cBhvr>
                                        <p:cTn id="109" dur="400" fill="hold"/>
                                        <p:tgtEl>
                                          <p:spTgt spid="118"/>
                                        </p:tgtEl>
                                        <p:attrNameLst>
                                          <p:attrName>style.rotation</p:attrName>
                                        </p:attrNameLst>
                                      </p:cBhvr>
                                      <p:tavLst>
                                        <p:tav tm="0">
                                          <p:val>
                                            <p:fltVal val="90"/>
                                          </p:val>
                                        </p:tav>
                                        <p:tav tm="100000">
                                          <p:val>
                                            <p:fltVal val="0"/>
                                          </p:val>
                                        </p:tav>
                                      </p:tavLst>
                                    </p:anim>
                                    <p:animEffect transition="in" filter="fade">
                                      <p:cBhvr>
                                        <p:cTn id="110" dur="400"/>
                                        <p:tgtEl>
                                          <p:spTgt spid="118"/>
                                        </p:tgtEl>
                                      </p:cBhvr>
                                    </p:animEffect>
                                  </p:childTnLst>
                                </p:cTn>
                              </p:par>
                            </p:childTnLst>
                          </p:cTn>
                        </p:par>
                        <p:par>
                          <p:cTn id="111" fill="hold">
                            <p:stCondLst>
                              <p:cond delay="8200"/>
                            </p:stCondLst>
                            <p:childTnLst>
                              <p:par>
                                <p:cTn id="112" presetID="22" presetClass="entr" presetSubtype="8" fill="hold" grpId="0" nodeType="afterEffect">
                                  <p:stCondLst>
                                    <p:cond delay="0"/>
                                  </p:stCondLst>
                                  <p:childTnLst>
                                    <p:set>
                                      <p:cBhvr>
                                        <p:cTn id="113" dur="1" fill="hold">
                                          <p:stCondLst>
                                            <p:cond delay="0"/>
                                          </p:stCondLst>
                                        </p:cTn>
                                        <p:tgtEl>
                                          <p:spTgt spid="117"/>
                                        </p:tgtEl>
                                        <p:attrNameLst>
                                          <p:attrName>style.visibility</p:attrName>
                                        </p:attrNameLst>
                                      </p:cBhvr>
                                      <p:to>
                                        <p:strVal val="visible"/>
                                      </p:to>
                                    </p:set>
                                    <p:animEffect transition="in" filter="wipe(left)">
                                      <p:cBhvr>
                                        <p:cTn id="114" dur="500"/>
                                        <p:tgtEl>
                                          <p:spTgt spid="117"/>
                                        </p:tgtEl>
                                      </p:cBhvr>
                                    </p:animEffect>
                                  </p:childTnLst>
                                </p:cTn>
                              </p:par>
                            </p:childTnLst>
                          </p:cTn>
                        </p:par>
                        <p:par>
                          <p:cTn id="115" fill="hold">
                            <p:stCondLst>
                              <p:cond delay="8700"/>
                            </p:stCondLst>
                            <p:childTnLst>
                              <p:par>
                                <p:cTn id="116" presetID="22" presetClass="entr" presetSubtype="4" fill="hold" grpId="0" nodeType="afterEffect">
                                  <p:stCondLst>
                                    <p:cond delay="0"/>
                                  </p:stCondLst>
                                  <p:childTnLst>
                                    <p:set>
                                      <p:cBhvr>
                                        <p:cTn id="117" dur="1" fill="hold">
                                          <p:stCondLst>
                                            <p:cond delay="0"/>
                                          </p:stCondLst>
                                        </p:cTn>
                                        <p:tgtEl>
                                          <p:spTgt spid="108"/>
                                        </p:tgtEl>
                                        <p:attrNameLst>
                                          <p:attrName>style.visibility</p:attrName>
                                        </p:attrNameLst>
                                      </p:cBhvr>
                                      <p:to>
                                        <p:strVal val="visible"/>
                                      </p:to>
                                    </p:set>
                                    <p:animEffect transition="in" filter="wipe(down)">
                                      <p:cBhvr>
                                        <p:cTn id="118" dur="300"/>
                                        <p:tgtEl>
                                          <p:spTgt spid="108"/>
                                        </p:tgtEl>
                                      </p:cBhvr>
                                    </p:animEffect>
                                  </p:childTnLst>
                                </p:cTn>
                              </p:par>
                            </p:childTnLst>
                          </p:cTn>
                        </p:par>
                        <p:par>
                          <p:cTn id="119" fill="hold">
                            <p:stCondLst>
                              <p:cond delay="9000"/>
                            </p:stCondLst>
                            <p:childTnLst>
                              <p:par>
                                <p:cTn id="120" presetID="22" presetClass="entr" presetSubtype="1" fill="hold" grpId="0" nodeType="afterEffect">
                                  <p:stCondLst>
                                    <p:cond delay="0"/>
                                  </p:stCondLst>
                                  <p:childTnLst>
                                    <p:set>
                                      <p:cBhvr>
                                        <p:cTn id="121" dur="1" fill="hold">
                                          <p:stCondLst>
                                            <p:cond delay="0"/>
                                          </p:stCondLst>
                                        </p:cTn>
                                        <p:tgtEl>
                                          <p:spTgt spid="109"/>
                                        </p:tgtEl>
                                        <p:attrNameLst>
                                          <p:attrName>style.visibility</p:attrName>
                                        </p:attrNameLst>
                                      </p:cBhvr>
                                      <p:to>
                                        <p:strVal val="visible"/>
                                      </p:to>
                                    </p:set>
                                    <p:animEffect transition="in" filter="wipe(up)">
                                      <p:cBhvr>
                                        <p:cTn id="122" dur="500"/>
                                        <p:tgtEl>
                                          <p:spTgt spid="109"/>
                                        </p:tgtEl>
                                      </p:cBhvr>
                                    </p:animEffect>
                                  </p:childTnLst>
                                </p:cTn>
                              </p:par>
                            </p:childTnLst>
                          </p:cTn>
                        </p:par>
                        <p:par>
                          <p:cTn id="123" fill="hold">
                            <p:stCondLst>
                              <p:cond delay="9500"/>
                            </p:stCondLst>
                            <p:childTnLst>
                              <p:par>
                                <p:cTn id="124" presetID="31" presetClass="entr" presetSubtype="0" fill="hold" grpId="0" nodeType="afterEffect">
                                  <p:stCondLst>
                                    <p:cond delay="0"/>
                                  </p:stCondLst>
                                  <p:childTnLst>
                                    <p:set>
                                      <p:cBhvr>
                                        <p:cTn id="125" dur="1" fill="hold">
                                          <p:stCondLst>
                                            <p:cond delay="0"/>
                                          </p:stCondLst>
                                        </p:cTn>
                                        <p:tgtEl>
                                          <p:spTgt spid="120"/>
                                        </p:tgtEl>
                                        <p:attrNameLst>
                                          <p:attrName>style.visibility</p:attrName>
                                        </p:attrNameLst>
                                      </p:cBhvr>
                                      <p:to>
                                        <p:strVal val="visible"/>
                                      </p:to>
                                    </p:set>
                                    <p:anim calcmode="lin" valueType="num">
                                      <p:cBhvr>
                                        <p:cTn id="126" dur="400" fill="hold"/>
                                        <p:tgtEl>
                                          <p:spTgt spid="120"/>
                                        </p:tgtEl>
                                        <p:attrNameLst>
                                          <p:attrName>ppt_w</p:attrName>
                                        </p:attrNameLst>
                                      </p:cBhvr>
                                      <p:tavLst>
                                        <p:tav tm="0">
                                          <p:val>
                                            <p:fltVal val="0"/>
                                          </p:val>
                                        </p:tav>
                                        <p:tav tm="100000">
                                          <p:val>
                                            <p:strVal val="#ppt_w"/>
                                          </p:val>
                                        </p:tav>
                                      </p:tavLst>
                                    </p:anim>
                                    <p:anim calcmode="lin" valueType="num">
                                      <p:cBhvr>
                                        <p:cTn id="127" dur="400" fill="hold"/>
                                        <p:tgtEl>
                                          <p:spTgt spid="120"/>
                                        </p:tgtEl>
                                        <p:attrNameLst>
                                          <p:attrName>ppt_h</p:attrName>
                                        </p:attrNameLst>
                                      </p:cBhvr>
                                      <p:tavLst>
                                        <p:tav tm="0">
                                          <p:val>
                                            <p:fltVal val="0"/>
                                          </p:val>
                                        </p:tav>
                                        <p:tav tm="100000">
                                          <p:val>
                                            <p:strVal val="#ppt_h"/>
                                          </p:val>
                                        </p:tav>
                                      </p:tavLst>
                                    </p:anim>
                                    <p:anim calcmode="lin" valueType="num">
                                      <p:cBhvr>
                                        <p:cTn id="128" dur="400" fill="hold"/>
                                        <p:tgtEl>
                                          <p:spTgt spid="120"/>
                                        </p:tgtEl>
                                        <p:attrNameLst>
                                          <p:attrName>style.rotation</p:attrName>
                                        </p:attrNameLst>
                                      </p:cBhvr>
                                      <p:tavLst>
                                        <p:tav tm="0">
                                          <p:val>
                                            <p:fltVal val="90"/>
                                          </p:val>
                                        </p:tav>
                                        <p:tav tm="100000">
                                          <p:val>
                                            <p:fltVal val="0"/>
                                          </p:val>
                                        </p:tav>
                                      </p:tavLst>
                                    </p:anim>
                                    <p:animEffect transition="in" filter="fade">
                                      <p:cBhvr>
                                        <p:cTn id="129" dur="400"/>
                                        <p:tgtEl>
                                          <p:spTgt spid="120"/>
                                        </p:tgtEl>
                                      </p:cBhvr>
                                    </p:animEffect>
                                  </p:childTnLst>
                                </p:cTn>
                              </p:par>
                            </p:childTnLst>
                          </p:cTn>
                        </p:par>
                        <p:par>
                          <p:cTn id="130" fill="hold">
                            <p:stCondLst>
                              <p:cond delay="9900"/>
                            </p:stCondLst>
                            <p:childTnLst>
                              <p:par>
                                <p:cTn id="131" presetID="22" presetClass="entr" presetSubtype="8" fill="hold" grpId="0" nodeType="afterEffect">
                                  <p:stCondLst>
                                    <p:cond delay="0"/>
                                  </p:stCondLst>
                                  <p:childTnLst>
                                    <p:set>
                                      <p:cBhvr>
                                        <p:cTn id="132" dur="1" fill="hold">
                                          <p:stCondLst>
                                            <p:cond delay="0"/>
                                          </p:stCondLst>
                                        </p:cTn>
                                        <p:tgtEl>
                                          <p:spTgt spid="119"/>
                                        </p:tgtEl>
                                        <p:attrNameLst>
                                          <p:attrName>style.visibility</p:attrName>
                                        </p:attrNameLst>
                                      </p:cBhvr>
                                      <p:to>
                                        <p:strVal val="visible"/>
                                      </p:to>
                                    </p:set>
                                    <p:animEffect transition="in" filter="wipe(left)">
                                      <p:cBhvr>
                                        <p:cTn id="133" dur="500"/>
                                        <p:tgtEl>
                                          <p:spTgt spid="119"/>
                                        </p:tgtEl>
                                      </p:cBhvr>
                                    </p:animEffect>
                                  </p:childTnLst>
                                </p:cTn>
                              </p:par>
                            </p:childTnLst>
                          </p:cTn>
                        </p:par>
                        <p:par>
                          <p:cTn id="134" fill="hold">
                            <p:stCondLst>
                              <p:cond delay="10400"/>
                            </p:stCondLst>
                            <p:childTnLst>
                              <p:par>
                                <p:cTn id="135" presetID="22" presetClass="entr" presetSubtype="4" fill="hold" grpId="0" nodeType="afterEffect">
                                  <p:stCondLst>
                                    <p:cond delay="0"/>
                                  </p:stCondLst>
                                  <p:childTnLst>
                                    <p:set>
                                      <p:cBhvr>
                                        <p:cTn id="136" dur="1" fill="hold">
                                          <p:stCondLst>
                                            <p:cond delay="0"/>
                                          </p:stCondLst>
                                        </p:cTn>
                                        <p:tgtEl>
                                          <p:spTgt spid="111"/>
                                        </p:tgtEl>
                                        <p:attrNameLst>
                                          <p:attrName>style.visibility</p:attrName>
                                        </p:attrNameLst>
                                      </p:cBhvr>
                                      <p:to>
                                        <p:strVal val="visible"/>
                                      </p:to>
                                    </p:set>
                                    <p:animEffect transition="in" filter="wipe(down)">
                                      <p:cBhvr>
                                        <p:cTn id="137" dur="300"/>
                                        <p:tgtEl>
                                          <p:spTgt spid="111"/>
                                        </p:tgtEl>
                                      </p:cBhvr>
                                    </p:animEffect>
                                  </p:childTnLst>
                                </p:cTn>
                              </p:par>
                            </p:childTnLst>
                          </p:cTn>
                        </p:par>
                        <p:par>
                          <p:cTn id="138" fill="hold">
                            <p:stCondLst>
                              <p:cond delay="10700"/>
                            </p:stCondLst>
                            <p:childTnLst>
                              <p:par>
                                <p:cTn id="139" presetID="22" presetClass="entr" presetSubtype="1" fill="hold" grpId="0" nodeType="afterEffect">
                                  <p:stCondLst>
                                    <p:cond delay="0"/>
                                  </p:stCondLst>
                                  <p:childTnLst>
                                    <p:set>
                                      <p:cBhvr>
                                        <p:cTn id="140" dur="1" fill="hold">
                                          <p:stCondLst>
                                            <p:cond delay="0"/>
                                          </p:stCondLst>
                                        </p:cTn>
                                        <p:tgtEl>
                                          <p:spTgt spid="112"/>
                                        </p:tgtEl>
                                        <p:attrNameLst>
                                          <p:attrName>style.visibility</p:attrName>
                                        </p:attrNameLst>
                                      </p:cBhvr>
                                      <p:to>
                                        <p:strVal val="visible"/>
                                      </p:to>
                                    </p:set>
                                    <p:animEffect transition="in" filter="wipe(up)">
                                      <p:cBhvr>
                                        <p:cTn id="141" dur="500"/>
                                        <p:tgtEl>
                                          <p:spTgt spid="112"/>
                                        </p:tgtEl>
                                      </p:cBhvr>
                                    </p:animEffect>
                                  </p:childTnLst>
                                </p:cTn>
                              </p:par>
                            </p:childTnLst>
                          </p:cTn>
                        </p:par>
                        <p:par>
                          <p:cTn id="142" fill="hold">
                            <p:stCondLst>
                              <p:cond delay="11200"/>
                            </p:stCondLst>
                            <p:childTnLst>
                              <p:par>
                                <p:cTn id="143" presetID="31" presetClass="entr" presetSubtype="0" fill="hold" grpId="0" nodeType="afterEffect">
                                  <p:stCondLst>
                                    <p:cond delay="0"/>
                                  </p:stCondLst>
                                  <p:childTnLst>
                                    <p:set>
                                      <p:cBhvr>
                                        <p:cTn id="144" dur="1" fill="hold">
                                          <p:stCondLst>
                                            <p:cond delay="0"/>
                                          </p:stCondLst>
                                        </p:cTn>
                                        <p:tgtEl>
                                          <p:spTgt spid="122"/>
                                        </p:tgtEl>
                                        <p:attrNameLst>
                                          <p:attrName>style.visibility</p:attrName>
                                        </p:attrNameLst>
                                      </p:cBhvr>
                                      <p:to>
                                        <p:strVal val="visible"/>
                                      </p:to>
                                    </p:set>
                                    <p:anim calcmode="lin" valueType="num">
                                      <p:cBhvr>
                                        <p:cTn id="145" dur="400" fill="hold"/>
                                        <p:tgtEl>
                                          <p:spTgt spid="122"/>
                                        </p:tgtEl>
                                        <p:attrNameLst>
                                          <p:attrName>ppt_w</p:attrName>
                                        </p:attrNameLst>
                                      </p:cBhvr>
                                      <p:tavLst>
                                        <p:tav tm="0">
                                          <p:val>
                                            <p:fltVal val="0"/>
                                          </p:val>
                                        </p:tav>
                                        <p:tav tm="100000">
                                          <p:val>
                                            <p:strVal val="#ppt_w"/>
                                          </p:val>
                                        </p:tav>
                                      </p:tavLst>
                                    </p:anim>
                                    <p:anim calcmode="lin" valueType="num">
                                      <p:cBhvr>
                                        <p:cTn id="146" dur="400" fill="hold"/>
                                        <p:tgtEl>
                                          <p:spTgt spid="122"/>
                                        </p:tgtEl>
                                        <p:attrNameLst>
                                          <p:attrName>ppt_h</p:attrName>
                                        </p:attrNameLst>
                                      </p:cBhvr>
                                      <p:tavLst>
                                        <p:tav tm="0">
                                          <p:val>
                                            <p:fltVal val="0"/>
                                          </p:val>
                                        </p:tav>
                                        <p:tav tm="100000">
                                          <p:val>
                                            <p:strVal val="#ppt_h"/>
                                          </p:val>
                                        </p:tav>
                                      </p:tavLst>
                                    </p:anim>
                                    <p:anim calcmode="lin" valueType="num">
                                      <p:cBhvr>
                                        <p:cTn id="147" dur="400" fill="hold"/>
                                        <p:tgtEl>
                                          <p:spTgt spid="122"/>
                                        </p:tgtEl>
                                        <p:attrNameLst>
                                          <p:attrName>style.rotation</p:attrName>
                                        </p:attrNameLst>
                                      </p:cBhvr>
                                      <p:tavLst>
                                        <p:tav tm="0">
                                          <p:val>
                                            <p:fltVal val="90"/>
                                          </p:val>
                                        </p:tav>
                                        <p:tav tm="100000">
                                          <p:val>
                                            <p:fltVal val="0"/>
                                          </p:val>
                                        </p:tav>
                                      </p:tavLst>
                                    </p:anim>
                                    <p:animEffect transition="in" filter="fade">
                                      <p:cBhvr>
                                        <p:cTn id="148" dur="400"/>
                                        <p:tgtEl>
                                          <p:spTgt spid="122"/>
                                        </p:tgtEl>
                                      </p:cBhvr>
                                    </p:animEffect>
                                  </p:childTnLst>
                                </p:cTn>
                              </p:par>
                            </p:childTnLst>
                          </p:cTn>
                        </p:par>
                        <p:par>
                          <p:cTn id="149" fill="hold">
                            <p:stCondLst>
                              <p:cond delay="11600"/>
                            </p:stCondLst>
                            <p:childTnLst>
                              <p:par>
                                <p:cTn id="150" presetID="22" presetClass="entr" presetSubtype="8" fill="hold" grpId="0" nodeType="afterEffect">
                                  <p:stCondLst>
                                    <p:cond delay="0"/>
                                  </p:stCondLst>
                                  <p:childTnLst>
                                    <p:set>
                                      <p:cBhvr>
                                        <p:cTn id="151" dur="1" fill="hold">
                                          <p:stCondLst>
                                            <p:cond delay="0"/>
                                          </p:stCondLst>
                                        </p:cTn>
                                        <p:tgtEl>
                                          <p:spTgt spid="121"/>
                                        </p:tgtEl>
                                        <p:attrNameLst>
                                          <p:attrName>style.visibility</p:attrName>
                                        </p:attrNameLst>
                                      </p:cBhvr>
                                      <p:to>
                                        <p:strVal val="visible"/>
                                      </p:to>
                                    </p:set>
                                    <p:animEffect transition="in" filter="wipe(left)">
                                      <p:cBhvr>
                                        <p:cTn id="152" dur="500"/>
                                        <p:tgtEl>
                                          <p:spTgt spid="121"/>
                                        </p:tgtEl>
                                      </p:cBhvr>
                                    </p:animEffect>
                                  </p:childTnLst>
                                </p:cTn>
                              </p:par>
                              <p:par>
                                <p:cTn id="153" presetID="2" presetClass="entr" presetSubtype="6" fill="hold" grpId="0" nodeType="withEffect">
                                  <p:stCondLst>
                                    <p:cond delay="400"/>
                                  </p:stCondLst>
                                  <p:childTnLst>
                                    <p:set>
                                      <p:cBhvr>
                                        <p:cTn id="154" dur="1" fill="hold">
                                          <p:stCondLst>
                                            <p:cond delay="0"/>
                                          </p:stCondLst>
                                        </p:cTn>
                                        <p:tgtEl>
                                          <p:spTgt spid="34"/>
                                        </p:tgtEl>
                                        <p:attrNameLst>
                                          <p:attrName>style.visibility</p:attrName>
                                        </p:attrNameLst>
                                      </p:cBhvr>
                                      <p:to>
                                        <p:strVal val="visible"/>
                                      </p:to>
                                    </p:set>
                                    <p:anim calcmode="lin" valueType="num">
                                      <p:cBhvr additive="base">
                                        <p:cTn id="155" dur="500" fill="hold"/>
                                        <p:tgtEl>
                                          <p:spTgt spid="34"/>
                                        </p:tgtEl>
                                        <p:attrNameLst>
                                          <p:attrName>ppt_x</p:attrName>
                                        </p:attrNameLst>
                                      </p:cBhvr>
                                      <p:tavLst>
                                        <p:tav tm="0">
                                          <p:val>
                                            <p:strVal val="1+#ppt_w/2"/>
                                          </p:val>
                                        </p:tav>
                                        <p:tav tm="100000">
                                          <p:val>
                                            <p:strVal val="#ppt_x"/>
                                          </p:val>
                                        </p:tav>
                                      </p:tavLst>
                                    </p:anim>
                                    <p:anim calcmode="lin" valueType="num">
                                      <p:cBhvr additive="base">
                                        <p:cTn id="156" dur="500" fill="hold"/>
                                        <p:tgtEl>
                                          <p:spTgt spid="34"/>
                                        </p:tgtEl>
                                        <p:attrNameLst>
                                          <p:attrName>ppt_y</p:attrName>
                                        </p:attrNameLst>
                                      </p:cBhvr>
                                      <p:tavLst>
                                        <p:tav tm="0">
                                          <p:val>
                                            <p:strVal val="1+#ppt_h/2"/>
                                          </p:val>
                                        </p:tav>
                                        <p:tav tm="100000">
                                          <p:val>
                                            <p:strVal val="#ppt_y"/>
                                          </p:val>
                                        </p:tav>
                                      </p:tavLst>
                                    </p:anim>
                                  </p:childTnLst>
                                </p:cTn>
                              </p:par>
                            </p:childTnLst>
                          </p:cTn>
                        </p:par>
                        <p:par>
                          <p:cTn id="157" fill="hold">
                            <p:stCondLst>
                              <p:cond delay="12500"/>
                            </p:stCondLst>
                            <p:childTnLst>
                              <p:par>
                                <p:cTn id="158" presetID="22" presetClass="entr" presetSubtype="4" fill="hold" grpId="0" nodeType="afterEffect">
                                  <p:stCondLst>
                                    <p:cond delay="0"/>
                                  </p:stCondLst>
                                  <p:childTnLst>
                                    <p:set>
                                      <p:cBhvr>
                                        <p:cTn id="159" dur="1" fill="hold">
                                          <p:stCondLst>
                                            <p:cond delay="0"/>
                                          </p:stCondLst>
                                        </p:cTn>
                                        <p:tgtEl>
                                          <p:spTgt spid="35"/>
                                        </p:tgtEl>
                                        <p:attrNameLst>
                                          <p:attrName>style.visibility</p:attrName>
                                        </p:attrNameLst>
                                      </p:cBhvr>
                                      <p:to>
                                        <p:strVal val="visible"/>
                                      </p:to>
                                    </p:set>
                                    <p:animEffect transition="in" filter="wipe(down)">
                                      <p:cBhvr>
                                        <p:cTn id="160" dur="300"/>
                                        <p:tgtEl>
                                          <p:spTgt spid="35"/>
                                        </p:tgtEl>
                                      </p:cBhvr>
                                    </p:animEffect>
                                  </p:childTnLst>
                                </p:cTn>
                              </p:par>
                            </p:childTnLst>
                          </p:cTn>
                        </p:par>
                        <p:par>
                          <p:cTn id="161" fill="hold">
                            <p:stCondLst>
                              <p:cond delay="12800"/>
                            </p:stCondLst>
                            <p:childTnLst>
                              <p:par>
                                <p:cTn id="162" presetID="22" presetClass="entr" presetSubtype="1" fill="hold" grpId="0" nodeType="afterEffect">
                                  <p:stCondLst>
                                    <p:cond delay="0"/>
                                  </p:stCondLst>
                                  <p:childTnLst>
                                    <p:set>
                                      <p:cBhvr>
                                        <p:cTn id="163" dur="1" fill="hold">
                                          <p:stCondLst>
                                            <p:cond delay="0"/>
                                          </p:stCondLst>
                                        </p:cTn>
                                        <p:tgtEl>
                                          <p:spTgt spid="36"/>
                                        </p:tgtEl>
                                        <p:attrNameLst>
                                          <p:attrName>style.visibility</p:attrName>
                                        </p:attrNameLst>
                                      </p:cBhvr>
                                      <p:to>
                                        <p:strVal val="visible"/>
                                      </p:to>
                                    </p:set>
                                    <p:animEffect transition="in" filter="wipe(up)">
                                      <p:cBhvr>
                                        <p:cTn id="164" dur="500"/>
                                        <p:tgtEl>
                                          <p:spTgt spid="36"/>
                                        </p:tgtEl>
                                      </p:cBhvr>
                                    </p:animEffect>
                                  </p:childTnLst>
                                </p:cTn>
                              </p:par>
                            </p:childTnLst>
                          </p:cTn>
                        </p:par>
                        <p:par>
                          <p:cTn id="165" fill="hold">
                            <p:stCondLst>
                              <p:cond delay="13300"/>
                            </p:stCondLst>
                            <p:childTnLst>
                              <p:par>
                                <p:cTn id="166" presetID="31" presetClass="entr" presetSubtype="0" fill="hold" grpId="0" nodeType="afterEffect">
                                  <p:stCondLst>
                                    <p:cond delay="0"/>
                                  </p:stCondLst>
                                  <p:childTnLst>
                                    <p:set>
                                      <p:cBhvr>
                                        <p:cTn id="167" dur="1" fill="hold">
                                          <p:stCondLst>
                                            <p:cond delay="0"/>
                                          </p:stCondLst>
                                        </p:cTn>
                                        <p:tgtEl>
                                          <p:spTgt spid="38"/>
                                        </p:tgtEl>
                                        <p:attrNameLst>
                                          <p:attrName>style.visibility</p:attrName>
                                        </p:attrNameLst>
                                      </p:cBhvr>
                                      <p:to>
                                        <p:strVal val="visible"/>
                                      </p:to>
                                    </p:set>
                                    <p:anim calcmode="lin" valueType="num">
                                      <p:cBhvr>
                                        <p:cTn id="168" dur="400" fill="hold"/>
                                        <p:tgtEl>
                                          <p:spTgt spid="38"/>
                                        </p:tgtEl>
                                        <p:attrNameLst>
                                          <p:attrName>ppt_w</p:attrName>
                                        </p:attrNameLst>
                                      </p:cBhvr>
                                      <p:tavLst>
                                        <p:tav tm="0">
                                          <p:val>
                                            <p:fltVal val="0"/>
                                          </p:val>
                                        </p:tav>
                                        <p:tav tm="100000">
                                          <p:val>
                                            <p:strVal val="#ppt_w"/>
                                          </p:val>
                                        </p:tav>
                                      </p:tavLst>
                                    </p:anim>
                                    <p:anim calcmode="lin" valueType="num">
                                      <p:cBhvr>
                                        <p:cTn id="169" dur="400" fill="hold"/>
                                        <p:tgtEl>
                                          <p:spTgt spid="38"/>
                                        </p:tgtEl>
                                        <p:attrNameLst>
                                          <p:attrName>ppt_h</p:attrName>
                                        </p:attrNameLst>
                                      </p:cBhvr>
                                      <p:tavLst>
                                        <p:tav tm="0">
                                          <p:val>
                                            <p:fltVal val="0"/>
                                          </p:val>
                                        </p:tav>
                                        <p:tav tm="100000">
                                          <p:val>
                                            <p:strVal val="#ppt_h"/>
                                          </p:val>
                                        </p:tav>
                                      </p:tavLst>
                                    </p:anim>
                                    <p:anim calcmode="lin" valueType="num">
                                      <p:cBhvr>
                                        <p:cTn id="170" dur="400" fill="hold"/>
                                        <p:tgtEl>
                                          <p:spTgt spid="38"/>
                                        </p:tgtEl>
                                        <p:attrNameLst>
                                          <p:attrName>style.rotation</p:attrName>
                                        </p:attrNameLst>
                                      </p:cBhvr>
                                      <p:tavLst>
                                        <p:tav tm="0">
                                          <p:val>
                                            <p:fltVal val="90"/>
                                          </p:val>
                                        </p:tav>
                                        <p:tav tm="100000">
                                          <p:val>
                                            <p:fltVal val="0"/>
                                          </p:val>
                                        </p:tav>
                                      </p:tavLst>
                                    </p:anim>
                                    <p:animEffect transition="in" filter="fade">
                                      <p:cBhvr>
                                        <p:cTn id="171" dur="400"/>
                                        <p:tgtEl>
                                          <p:spTgt spid="38"/>
                                        </p:tgtEl>
                                      </p:cBhvr>
                                    </p:animEffect>
                                  </p:childTnLst>
                                </p:cTn>
                              </p:par>
                            </p:childTnLst>
                          </p:cTn>
                        </p:par>
                        <p:par>
                          <p:cTn id="172" fill="hold">
                            <p:stCondLst>
                              <p:cond delay="13700"/>
                            </p:stCondLst>
                            <p:childTnLst>
                              <p:par>
                                <p:cTn id="173" presetID="22" presetClass="entr" presetSubtype="8" fill="hold" grpId="0" nodeType="afterEffect">
                                  <p:stCondLst>
                                    <p:cond delay="0"/>
                                  </p:stCondLst>
                                  <p:childTnLst>
                                    <p:set>
                                      <p:cBhvr>
                                        <p:cTn id="174" dur="1" fill="hold">
                                          <p:stCondLst>
                                            <p:cond delay="0"/>
                                          </p:stCondLst>
                                        </p:cTn>
                                        <p:tgtEl>
                                          <p:spTgt spid="37"/>
                                        </p:tgtEl>
                                        <p:attrNameLst>
                                          <p:attrName>style.visibility</p:attrName>
                                        </p:attrNameLst>
                                      </p:cBhvr>
                                      <p:to>
                                        <p:strVal val="visible"/>
                                      </p:to>
                                    </p:set>
                                    <p:animEffect transition="in" filter="wipe(left)">
                                      <p:cBhvr>
                                        <p:cTn id="175" dur="500"/>
                                        <p:tgtEl>
                                          <p:spTgt spid="37"/>
                                        </p:tgtEl>
                                      </p:cBhvr>
                                    </p:animEffect>
                                  </p:childTnLst>
                                </p:cTn>
                              </p:par>
                              <p:par>
                                <p:cTn id="176" presetID="2" presetClass="entr" presetSubtype="6" fill="hold" grpId="0" nodeType="withEffect">
                                  <p:stCondLst>
                                    <p:cond delay="400"/>
                                  </p:stCondLst>
                                  <p:childTnLst>
                                    <p:set>
                                      <p:cBhvr>
                                        <p:cTn id="177" dur="1" fill="hold">
                                          <p:stCondLst>
                                            <p:cond delay="0"/>
                                          </p:stCondLst>
                                        </p:cTn>
                                        <p:tgtEl>
                                          <p:spTgt spid="39"/>
                                        </p:tgtEl>
                                        <p:attrNameLst>
                                          <p:attrName>style.visibility</p:attrName>
                                        </p:attrNameLst>
                                      </p:cBhvr>
                                      <p:to>
                                        <p:strVal val="visible"/>
                                      </p:to>
                                    </p:set>
                                    <p:anim calcmode="lin" valueType="num">
                                      <p:cBhvr additive="base">
                                        <p:cTn id="178" dur="500" fill="hold"/>
                                        <p:tgtEl>
                                          <p:spTgt spid="39"/>
                                        </p:tgtEl>
                                        <p:attrNameLst>
                                          <p:attrName>ppt_x</p:attrName>
                                        </p:attrNameLst>
                                      </p:cBhvr>
                                      <p:tavLst>
                                        <p:tav tm="0">
                                          <p:val>
                                            <p:strVal val="1+#ppt_w/2"/>
                                          </p:val>
                                        </p:tav>
                                        <p:tav tm="100000">
                                          <p:val>
                                            <p:strVal val="#ppt_x"/>
                                          </p:val>
                                        </p:tav>
                                      </p:tavLst>
                                    </p:anim>
                                    <p:anim calcmode="lin" valueType="num">
                                      <p:cBhvr additive="base">
                                        <p:cTn id="179" dur="500" fill="hold"/>
                                        <p:tgtEl>
                                          <p:spTgt spid="39"/>
                                        </p:tgtEl>
                                        <p:attrNameLst>
                                          <p:attrName>ppt_y</p:attrName>
                                        </p:attrNameLst>
                                      </p:cBhvr>
                                      <p:tavLst>
                                        <p:tav tm="0">
                                          <p:val>
                                            <p:strVal val="1+#ppt_h/2"/>
                                          </p:val>
                                        </p:tav>
                                        <p:tav tm="100000">
                                          <p:val>
                                            <p:strVal val="#ppt_y"/>
                                          </p:val>
                                        </p:tav>
                                      </p:tavLst>
                                    </p:anim>
                                  </p:childTnLst>
                                </p:cTn>
                              </p:par>
                            </p:childTnLst>
                          </p:cTn>
                        </p:par>
                        <p:par>
                          <p:cTn id="180" fill="hold">
                            <p:stCondLst>
                              <p:cond delay="14600"/>
                            </p:stCondLst>
                            <p:childTnLst>
                              <p:par>
                                <p:cTn id="181" presetID="22" presetClass="entr" presetSubtype="4" fill="hold" grpId="0" nodeType="afterEffect">
                                  <p:stCondLst>
                                    <p:cond delay="0"/>
                                  </p:stCondLst>
                                  <p:childTnLst>
                                    <p:set>
                                      <p:cBhvr>
                                        <p:cTn id="182" dur="1" fill="hold">
                                          <p:stCondLst>
                                            <p:cond delay="0"/>
                                          </p:stCondLst>
                                        </p:cTn>
                                        <p:tgtEl>
                                          <p:spTgt spid="40"/>
                                        </p:tgtEl>
                                        <p:attrNameLst>
                                          <p:attrName>style.visibility</p:attrName>
                                        </p:attrNameLst>
                                      </p:cBhvr>
                                      <p:to>
                                        <p:strVal val="visible"/>
                                      </p:to>
                                    </p:set>
                                    <p:animEffect transition="in" filter="wipe(down)">
                                      <p:cBhvr>
                                        <p:cTn id="183" dur="300"/>
                                        <p:tgtEl>
                                          <p:spTgt spid="40"/>
                                        </p:tgtEl>
                                      </p:cBhvr>
                                    </p:animEffect>
                                  </p:childTnLst>
                                </p:cTn>
                              </p:par>
                            </p:childTnLst>
                          </p:cTn>
                        </p:par>
                        <p:par>
                          <p:cTn id="184" fill="hold">
                            <p:stCondLst>
                              <p:cond delay="14900"/>
                            </p:stCondLst>
                            <p:childTnLst>
                              <p:par>
                                <p:cTn id="185" presetID="22" presetClass="entr" presetSubtype="1" fill="hold" grpId="0" nodeType="afterEffect">
                                  <p:stCondLst>
                                    <p:cond delay="0"/>
                                  </p:stCondLst>
                                  <p:childTnLst>
                                    <p:set>
                                      <p:cBhvr>
                                        <p:cTn id="186" dur="1" fill="hold">
                                          <p:stCondLst>
                                            <p:cond delay="0"/>
                                          </p:stCondLst>
                                        </p:cTn>
                                        <p:tgtEl>
                                          <p:spTgt spid="41"/>
                                        </p:tgtEl>
                                        <p:attrNameLst>
                                          <p:attrName>style.visibility</p:attrName>
                                        </p:attrNameLst>
                                      </p:cBhvr>
                                      <p:to>
                                        <p:strVal val="visible"/>
                                      </p:to>
                                    </p:set>
                                    <p:animEffect transition="in" filter="wipe(up)">
                                      <p:cBhvr>
                                        <p:cTn id="187" dur="500"/>
                                        <p:tgtEl>
                                          <p:spTgt spid="41"/>
                                        </p:tgtEl>
                                      </p:cBhvr>
                                    </p:animEffect>
                                  </p:childTnLst>
                                </p:cTn>
                              </p:par>
                            </p:childTnLst>
                          </p:cTn>
                        </p:par>
                        <p:par>
                          <p:cTn id="188" fill="hold">
                            <p:stCondLst>
                              <p:cond delay="15400"/>
                            </p:stCondLst>
                            <p:childTnLst>
                              <p:par>
                                <p:cTn id="189" presetID="31" presetClass="entr" presetSubtype="0" fill="hold" grpId="0" nodeType="afterEffect">
                                  <p:stCondLst>
                                    <p:cond delay="0"/>
                                  </p:stCondLst>
                                  <p:childTnLst>
                                    <p:set>
                                      <p:cBhvr>
                                        <p:cTn id="190" dur="1" fill="hold">
                                          <p:stCondLst>
                                            <p:cond delay="0"/>
                                          </p:stCondLst>
                                        </p:cTn>
                                        <p:tgtEl>
                                          <p:spTgt spid="43"/>
                                        </p:tgtEl>
                                        <p:attrNameLst>
                                          <p:attrName>style.visibility</p:attrName>
                                        </p:attrNameLst>
                                      </p:cBhvr>
                                      <p:to>
                                        <p:strVal val="visible"/>
                                      </p:to>
                                    </p:set>
                                    <p:anim calcmode="lin" valueType="num">
                                      <p:cBhvr>
                                        <p:cTn id="191" dur="400" fill="hold"/>
                                        <p:tgtEl>
                                          <p:spTgt spid="43"/>
                                        </p:tgtEl>
                                        <p:attrNameLst>
                                          <p:attrName>ppt_w</p:attrName>
                                        </p:attrNameLst>
                                      </p:cBhvr>
                                      <p:tavLst>
                                        <p:tav tm="0">
                                          <p:val>
                                            <p:fltVal val="0"/>
                                          </p:val>
                                        </p:tav>
                                        <p:tav tm="100000">
                                          <p:val>
                                            <p:strVal val="#ppt_w"/>
                                          </p:val>
                                        </p:tav>
                                      </p:tavLst>
                                    </p:anim>
                                    <p:anim calcmode="lin" valueType="num">
                                      <p:cBhvr>
                                        <p:cTn id="192" dur="400" fill="hold"/>
                                        <p:tgtEl>
                                          <p:spTgt spid="43"/>
                                        </p:tgtEl>
                                        <p:attrNameLst>
                                          <p:attrName>ppt_h</p:attrName>
                                        </p:attrNameLst>
                                      </p:cBhvr>
                                      <p:tavLst>
                                        <p:tav tm="0">
                                          <p:val>
                                            <p:fltVal val="0"/>
                                          </p:val>
                                        </p:tav>
                                        <p:tav tm="100000">
                                          <p:val>
                                            <p:strVal val="#ppt_h"/>
                                          </p:val>
                                        </p:tav>
                                      </p:tavLst>
                                    </p:anim>
                                    <p:anim calcmode="lin" valueType="num">
                                      <p:cBhvr>
                                        <p:cTn id="193" dur="400" fill="hold"/>
                                        <p:tgtEl>
                                          <p:spTgt spid="43"/>
                                        </p:tgtEl>
                                        <p:attrNameLst>
                                          <p:attrName>style.rotation</p:attrName>
                                        </p:attrNameLst>
                                      </p:cBhvr>
                                      <p:tavLst>
                                        <p:tav tm="0">
                                          <p:val>
                                            <p:fltVal val="90"/>
                                          </p:val>
                                        </p:tav>
                                        <p:tav tm="100000">
                                          <p:val>
                                            <p:fltVal val="0"/>
                                          </p:val>
                                        </p:tav>
                                      </p:tavLst>
                                    </p:anim>
                                    <p:animEffect transition="in" filter="fade">
                                      <p:cBhvr>
                                        <p:cTn id="194" dur="400"/>
                                        <p:tgtEl>
                                          <p:spTgt spid="43"/>
                                        </p:tgtEl>
                                      </p:cBhvr>
                                    </p:animEffect>
                                  </p:childTnLst>
                                </p:cTn>
                              </p:par>
                            </p:childTnLst>
                          </p:cTn>
                        </p:par>
                        <p:par>
                          <p:cTn id="195" fill="hold">
                            <p:stCondLst>
                              <p:cond delay="15800"/>
                            </p:stCondLst>
                            <p:childTnLst>
                              <p:par>
                                <p:cTn id="196" presetID="22" presetClass="entr" presetSubtype="8" fill="hold" grpId="0" nodeType="afterEffect">
                                  <p:stCondLst>
                                    <p:cond delay="0"/>
                                  </p:stCondLst>
                                  <p:childTnLst>
                                    <p:set>
                                      <p:cBhvr>
                                        <p:cTn id="197" dur="1" fill="hold">
                                          <p:stCondLst>
                                            <p:cond delay="0"/>
                                          </p:stCondLst>
                                        </p:cTn>
                                        <p:tgtEl>
                                          <p:spTgt spid="42"/>
                                        </p:tgtEl>
                                        <p:attrNameLst>
                                          <p:attrName>style.visibility</p:attrName>
                                        </p:attrNameLst>
                                      </p:cBhvr>
                                      <p:to>
                                        <p:strVal val="visible"/>
                                      </p:to>
                                    </p:set>
                                    <p:animEffect transition="in" filter="wipe(left)">
                                      <p:cBhvr>
                                        <p:cTn id="19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0" grpId="0" animBg="1" autoUpdateAnimBg="0"/>
      <p:bldP spid="80" grpId="1" animBg="1"/>
      <p:bldP spid="85" grpId="0" animBg="1"/>
      <p:bldP spid="85" grpId="1" animBg="1"/>
      <p:bldP spid="94" grpId="0" animBg="1"/>
      <p:bldP spid="95" grpId="0" animBg="1"/>
      <p:bldP spid="96" grpId="0" animBg="1" autoUpdateAnimBg="0"/>
      <p:bldP spid="97" grpId="0" animBg="1"/>
      <p:bldP spid="98" grpId="0" animBg="1"/>
      <p:bldP spid="103" grpId="0" animBg="1" autoUpdateAnimBg="0"/>
      <p:bldP spid="104" grpId="0" animBg="1"/>
      <p:bldP spid="105" grpId="0" animBg="1"/>
      <p:bldP spid="106" grpId="0" animBg="1" autoUpdateAnimBg="0"/>
      <p:bldP spid="107" grpId="0" animBg="1"/>
      <p:bldP spid="108" grpId="0" animBg="1"/>
      <p:bldP spid="109" grpId="0" animBg="1" autoUpdateAnimBg="0"/>
      <p:bldP spid="110" grpId="0" animBg="1"/>
      <p:bldP spid="111" grpId="0" animBg="1"/>
      <p:bldP spid="112" grpId="0" animBg="1" autoUpdateAnimBg="0"/>
      <p:bldP spid="113" grpId="0" autoUpdateAnimBg="0"/>
      <p:bldP spid="114" grpId="0" autoUpdateAnimBg="0"/>
      <p:bldP spid="115" grpId="0" autoUpdateAnimBg="0"/>
      <p:bldP spid="116" grpId="0" autoUpdateAnimBg="0"/>
      <p:bldP spid="117" grpId="0" autoUpdateAnimBg="0"/>
      <p:bldP spid="118" grpId="0" autoUpdateAnimBg="0"/>
      <p:bldP spid="119" grpId="0" autoUpdateAnimBg="0"/>
      <p:bldP spid="120" grpId="0" autoUpdateAnimBg="0"/>
      <p:bldP spid="121" grpId="0" autoUpdateAnimBg="0"/>
      <p:bldP spid="122" grpId="0" autoUpdateAnimBg="0"/>
      <p:bldP spid="86" grpId="0" animBg="1"/>
      <p:bldP spid="86" grpId="1" animBg="1"/>
      <p:bldP spid="34" grpId="0" animBg="1"/>
      <p:bldP spid="35" grpId="0" animBg="1"/>
      <p:bldP spid="36" grpId="0" animBg="1" autoUpdateAnimBg="0"/>
      <p:bldP spid="37" grpId="0" autoUpdateAnimBg="0"/>
      <p:bldP spid="38" grpId="0" autoUpdateAnimBg="0"/>
      <p:bldP spid="39" grpId="0" animBg="1"/>
      <p:bldP spid="40" grpId="0" animBg="1"/>
      <p:bldP spid="41" grpId="0" animBg="1" autoUpdateAnimBg="0"/>
      <p:bldP spid="42" grpId="0" autoUpdateAnimBg="0"/>
      <p:bldP spid="4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箭头: 右 96">
            <a:extLst>
              <a:ext uri="{FF2B5EF4-FFF2-40B4-BE49-F238E27FC236}">
                <a16:creationId xmlns:a16="http://schemas.microsoft.com/office/drawing/2014/main" id="{E61D3705-DB5C-1F3C-398A-DEA76030E78E}"/>
              </a:ext>
            </a:extLst>
          </p:cNvPr>
          <p:cNvSpPr/>
          <p:nvPr/>
        </p:nvSpPr>
        <p:spPr>
          <a:xfrm rot="3913398">
            <a:off x="6081451" y="4774291"/>
            <a:ext cx="527015" cy="284209"/>
          </a:xfrm>
          <a:prstGeom prst="rightArrow">
            <a:avLst>
              <a:gd name="adj1" fmla="val 46348"/>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6" name="箭头: 右 95">
            <a:extLst>
              <a:ext uri="{FF2B5EF4-FFF2-40B4-BE49-F238E27FC236}">
                <a16:creationId xmlns:a16="http://schemas.microsoft.com/office/drawing/2014/main" id="{E90F4D54-B77B-8D3D-5031-E9EDD88AB331}"/>
              </a:ext>
            </a:extLst>
          </p:cNvPr>
          <p:cNvSpPr/>
          <p:nvPr/>
        </p:nvSpPr>
        <p:spPr>
          <a:xfrm rot="3941215">
            <a:off x="4977311" y="4787882"/>
            <a:ext cx="527015" cy="284209"/>
          </a:xfrm>
          <a:prstGeom prst="rightArrow">
            <a:avLst>
              <a:gd name="adj1" fmla="val 46348"/>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5" name="箭头: 右 94">
            <a:extLst>
              <a:ext uri="{FF2B5EF4-FFF2-40B4-BE49-F238E27FC236}">
                <a16:creationId xmlns:a16="http://schemas.microsoft.com/office/drawing/2014/main" id="{04425FCD-BD3C-BC2F-18F8-DD04F238E1C1}"/>
              </a:ext>
            </a:extLst>
          </p:cNvPr>
          <p:cNvSpPr/>
          <p:nvPr/>
        </p:nvSpPr>
        <p:spPr>
          <a:xfrm rot="4555463">
            <a:off x="1403546" y="4753149"/>
            <a:ext cx="527015" cy="284209"/>
          </a:xfrm>
          <a:prstGeom prst="rightArrow">
            <a:avLst>
              <a:gd name="adj1" fmla="val 46348"/>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4" name="箭头: 右 93">
            <a:extLst>
              <a:ext uri="{FF2B5EF4-FFF2-40B4-BE49-F238E27FC236}">
                <a16:creationId xmlns:a16="http://schemas.microsoft.com/office/drawing/2014/main" id="{2B2B0B3E-45BD-07D0-FB6C-34FBD6FE6064}"/>
              </a:ext>
            </a:extLst>
          </p:cNvPr>
          <p:cNvSpPr/>
          <p:nvPr/>
        </p:nvSpPr>
        <p:spPr>
          <a:xfrm rot="7236028">
            <a:off x="4153819" y="4784688"/>
            <a:ext cx="527015" cy="284209"/>
          </a:xfrm>
          <a:prstGeom prst="rightArrow">
            <a:avLst>
              <a:gd name="adj1" fmla="val 46348"/>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1" name="箭头: 右 90">
            <a:extLst>
              <a:ext uri="{FF2B5EF4-FFF2-40B4-BE49-F238E27FC236}">
                <a16:creationId xmlns:a16="http://schemas.microsoft.com/office/drawing/2014/main" id="{D14F89FF-EC3D-06A2-00AD-1E1BFF533F87}"/>
              </a:ext>
            </a:extLst>
          </p:cNvPr>
          <p:cNvSpPr/>
          <p:nvPr/>
        </p:nvSpPr>
        <p:spPr>
          <a:xfrm rot="7236028">
            <a:off x="564458" y="4797218"/>
            <a:ext cx="527015" cy="284209"/>
          </a:xfrm>
          <a:prstGeom prst="rightArrow">
            <a:avLst>
              <a:gd name="adj1" fmla="val 46348"/>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6" name="箭头: 右 75">
            <a:extLst>
              <a:ext uri="{FF2B5EF4-FFF2-40B4-BE49-F238E27FC236}">
                <a16:creationId xmlns:a16="http://schemas.microsoft.com/office/drawing/2014/main" id="{71742B46-1753-A0ED-0136-7436240AE499}"/>
              </a:ext>
            </a:extLst>
          </p:cNvPr>
          <p:cNvSpPr/>
          <p:nvPr/>
        </p:nvSpPr>
        <p:spPr>
          <a:xfrm rot="3473543">
            <a:off x="5161844" y="3806114"/>
            <a:ext cx="653165" cy="253286"/>
          </a:xfrm>
          <a:prstGeom prst="rightArrow">
            <a:avLst>
              <a:gd name="adj1" fmla="val 46348"/>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88A1227C-1938-5693-63B7-E8565E425962}"/>
              </a:ext>
            </a:extLst>
          </p:cNvPr>
          <p:cNvSpPr/>
          <p:nvPr/>
        </p:nvSpPr>
        <p:spPr>
          <a:xfrm rot="6366949">
            <a:off x="4471220" y="3749706"/>
            <a:ext cx="603609" cy="310815"/>
          </a:xfrm>
          <a:prstGeom prst="rightArrow">
            <a:avLst>
              <a:gd name="adj1" fmla="val 46348"/>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 name="箭头: 右 2">
            <a:extLst>
              <a:ext uri="{FF2B5EF4-FFF2-40B4-BE49-F238E27FC236}">
                <a16:creationId xmlns:a16="http://schemas.microsoft.com/office/drawing/2014/main" id="{E5D3BDA8-5B6B-96BD-B32B-88979445EBE3}"/>
              </a:ext>
            </a:extLst>
          </p:cNvPr>
          <p:cNvSpPr/>
          <p:nvPr/>
        </p:nvSpPr>
        <p:spPr>
          <a:xfrm rot="7236028">
            <a:off x="1200203" y="3760765"/>
            <a:ext cx="785763" cy="307450"/>
          </a:xfrm>
          <a:prstGeom prst="rightArrow">
            <a:avLst>
              <a:gd name="adj1" fmla="val 46348"/>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 name="箭头: 右 5">
            <a:extLst>
              <a:ext uri="{FF2B5EF4-FFF2-40B4-BE49-F238E27FC236}">
                <a16:creationId xmlns:a16="http://schemas.microsoft.com/office/drawing/2014/main" id="{3E10D320-E147-48C0-BEE9-E959EBF5D8DB}"/>
              </a:ext>
            </a:extLst>
          </p:cNvPr>
          <p:cNvSpPr/>
          <p:nvPr/>
        </p:nvSpPr>
        <p:spPr>
          <a:xfrm rot="4126782">
            <a:off x="1950469" y="4397782"/>
            <a:ext cx="1417400" cy="304653"/>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135967CA-71C2-4523-B63E-64896F27FA26}"/>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9.1</a:t>
            </a:r>
            <a:r>
              <a:rPr lang="zh-CN" altLang="en-US" dirty="0">
                <a:sym typeface="+mn-lt"/>
              </a:rPr>
              <a:t>继承与派生</a:t>
            </a:r>
          </a:p>
        </p:txBody>
      </p:sp>
      <p:sp>
        <p:nvSpPr>
          <p:cNvPr id="10" name="Rectangle 8">
            <a:extLst>
              <a:ext uri="{FF2B5EF4-FFF2-40B4-BE49-F238E27FC236}">
                <a16:creationId xmlns:a16="http://schemas.microsoft.com/office/drawing/2014/main" id="{B1077460-BFE7-43A0-A780-69E3824D7735}"/>
              </a:ext>
            </a:extLst>
          </p:cNvPr>
          <p:cNvSpPr>
            <a:spLocks noChangeArrowheads="1"/>
          </p:cNvSpPr>
          <p:nvPr/>
        </p:nvSpPr>
        <p:spPr bwMode="auto">
          <a:xfrm>
            <a:off x="125883" y="934882"/>
            <a:ext cx="83518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800" dirty="0">
                <a:solidFill>
                  <a:srgbClr val="104E87"/>
                </a:solidFill>
                <a:latin typeface="华光行书_CNKI" panose="02000500000000000000" pitchFamily="2" charset="-122"/>
                <a:ea typeface="华光行书_CNKI" panose="02000500000000000000" pitchFamily="2" charset="-122"/>
              </a:rPr>
              <a:t>面向对象的特征</a:t>
            </a:r>
            <a:r>
              <a:rPr lang="en-US" altLang="zh-CN" sz="2800" dirty="0">
                <a:solidFill>
                  <a:srgbClr val="104E87"/>
                </a:solidFill>
                <a:latin typeface="华光行书_CNKI" panose="02000500000000000000" pitchFamily="2" charset="-122"/>
                <a:ea typeface="华光行书_CNKI" panose="02000500000000000000" pitchFamily="2" charset="-122"/>
              </a:rPr>
              <a:t>——</a:t>
            </a:r>
            <a:r>
              <a:rPr lang="zh-CN" altLang="en-US" sz="2800" dirty="0">
                <a:solidFill>
                  <a:srgbClr val="104E87"/>
                </a:solidFill>
                <a:latin typeface="华光行书_CNKI" panose="02000500000000000000" pitchFamily="2" charset="-122"/>
                <a:ea typeface="华光行书_CNKI" panose="02000500000000000000" pitchFamily="2" charset="-122"/>
              </a:rPr>
              <a:t>继承特征</a:t>
            </a:r>
          </a:p>
        </p:txBody>
      </p:sp>
      <p:sp>
        <p:nvSpPr>
          <p:cNvPr id="11" name="AutoShape 39">
            <a:extLst>
              <a:ext uri="{FF2B5EF4-FFF2-40B4-BE49-F238E27FC236}">
                <a16:creationId xmlns:a16="http://schemas.microsoft.com/office/drawing/2014/main" id="{3615557E-918E-4267-B603-F6645232C6EF}"/>
              </a:ext>
            </a:extLst>
          </p:cNvPr>
          <p:cNvSpPr>
            <a:spLocks noChangeArrowheads="1"/>
          </p:cNvSpPr>
          <p:nvPr/>
        </p:nvSpPr>
        <p:spPr bwMode="gray">
          <a:xfrm rot="10800000" flipH="1" flipV="1">
            <a:off x="2144487" y="3006830"/>
            <a:ext cx="2931164" cy="116335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48 w 21600"/>
              <a:gd name="T13" fmla="*/ 0 h 21600"/>
              <a:gd name="T14" fmla="*/ 21552 w 21600"/>
              <a:gd name="T15" fmla="*/ 11717 h 21600"/>
            </a:gdLst>
            <a:ahLst/>
            <a:cxnLst>
              <a:cxn ang="T8">
                <a:pos x="T0" y="T1"/>
              </a:cxn>
              <a:cxn ang="T9">
                <a:pos x="T2" y="T3"/>
              </a:cxn>
              <a:cxn ang="T10">
                <a:pos x="T4" y="T5"/>
              </a:cxn>
              <a:cxn ang="T11">
                <a:pos x="T6" y="T7"/>
              </a:cxn>
            </a:cxnLst>
            <a:rect l="T12" t="T13" r="T14" b="T15"/>
            <a:pathLst>
              <a:path w="21600" h="21600">
                <a:moveTo>
                  <a:pt x="1226" y="9068"/>
                </a:moveTo>
                <a:cubicBezTo>
                  <a:pt x="2063" y="4438"/>
                  <a:pt x="6094" y="1070"/>
                  <a:pt x="10800" y="1071"/>
                </a:cubicBezTo>
                <a:cubicBezTo>
                  <a:pt x="15505" y="1071"/>
                  <a:pt x="19536" y="4438"/>
                  <a:pt x="20373" y="9068"/>
                </a:cubicBezTo>
                <a:lnTo>
                  <a:pt x="21427" y="8877"/>
                </a:lnTo>
                <a:cubicBezTo>
                  <a:pt x="20497" y="3737"/>
                  <a:pt x="16023" y="-1"/>
                  <a:pt x="10799" y="0"/>
                </a:cubicBezTo>
                <a:cubicBezTo>
                  <a:pt x="5576" y="0"/>
                  <a:pt x="1102" y="3737"/>
                  <a:pt x="172" y="8877"/>
                </a:cubicBezTo>
                <a:lnTo>
                  <a:pt x="1226" y="9068"/>
                </a:lnTo>
                <a:close/>
              </a:path>
            </a:pathLst>
          </a:custGeom>
          <a:solidFill>
            <a:schemeClr val="tx1">
              <a:alpha val="47058"/>
            </a:schemeClr>
          </a:solidFill>
          <a:ln w="9525">
            <a:solidFill>
              <a:srgbClr val="000000"/>
            </a:solidFill>
            <a:miter lim="800000"/>
            <a:headEnd/>
            <a:tailEnd/>
          </a:ln>
        </p:spPr>
        <p:txBody>
          <a:bodyPr wrap="none" anchor="ct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nvGrpSpPr>
          <p:cNvPr id="12" name="Group 40">
            <a:extLst>
              <a:ext uri="{FF2B5EF4-FFF2-40B4-BE49-F238E27FC236}">
                <a16:creationId xmlns:a16="http://schemas.microsoft.com/office/drawing/2014/main" id="{8FABC8C4-75DA-4F6B-81E4-58916FA02521}"/>
              </a:ext>
            </a:extLst>
          </p:cNvPr>
          <p:cNvGrpSpPr>
            <a:grpSpLocks/>
          </p:cNvGrpSpPr>
          <p:nvPr/>
        </p:nvGrpSpPr>
        <p:grpSpPr bwMode="auto">
          <a:xfrm>
            <a:off x="1604744" y="3386757"/>
            <a:ext cx="1150937" cy="563441"/>
            <a:chOff x="647" y="2562"/>
            <a:chExt cx="1210" cy="1278"/>
          </a:xfrm>
        </p:grpSpPr>
        <p:pic>
          <p:nvPicPr>
            <p:cNvPr id="13" name="Picture 41" descr="light_shadow">
              <a:extLst>
                <a:ext uri="{FF2B5EF4-FFF2-40B4-BE49-F238E27FC236}">
                  <a16:creationId xmlns:a16="http://schemas.microsoft.com/office/drawing/2014/main" id="{6387C9EC-2748-4EFC-9812-E1F2CB3D619C}"/>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42" descr="circuler_1">
              <a:extLst>
                <a:ext uri="{FF2B5EF4-FFF2-40B4-BE49-F238E27FC236}">
                  <a16:creationId xmlns:a16="http://schemas.microsoft.com/office/drawing/2014/main" id="{5D2B0A56-4B51-4C8D-AF8A-A78C873B7D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Oval 43">
              <a:extLst>
                <a:ext uri="{FF2B5EF4-FFF2-40B4-BE49-F238E27FC236}">
                  <a16:creationId xmlns:a16="http://schemas.microsoft.com/office/drawing/2014/main" id="{FE0F5A6E-77FE-4250-81C7-F38E7F3CFFEF}"/>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17" name="Freeform 44">
              <a:extLst>
                <a:ext uri="{FF2B5EF4-FFF2-40B4-BE49-F238E27FC236}">
                  <a16:creationId xmlns:a16="http://schemas.microsoft.com/office/drawing/2014/main" id="{F319F7C9-46A2-4AC3-9A34-60F5E9E32A00}"/>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grpSp>
        <p:nvGrpSpPr>
          <p:cNvPr id="18" name="Group 46">
            <a:extLst>
              <a:ext uri="{FF2B5EF4-FFF2-40B4-BE49-F238E27FC236}">
                <a16:creationId xmlns:a16="http://schemas.microsoft.com/office/drawing/2014/main" id="{A9CB3B70-CA6C-4C94-9E20-86517999E0E0}"/>
              </a:ext>
            </a:extLst>
          </p:cNvPr>
          <p:cNvGrpSpPr>
            <a:grpSpLocks/>
          </p:cNvGrpSpPr>
          <p:nvPr/>
        </p:nvGrpSpPr>
        <p:grpSpPr bwMode="auto">
          <a:xfrm>
            <a:off x="2978833" y="2817930"/>
            <a:ext cx="1216025" cy="460450"/>
            <a:chOff x="647" y="2562"/>
            <a:chExt cx="1210" cy="1278"/>
          </a:xfrm>
        </p:grpSpPr>
        <p:pic>
          <p:nvPicPr>
            <p:cNvPr id="19" name="Picture 47" descr="light_shadow">
              <a:extLst>
                <a:ext uri="{FF2B5EF4-FFF2-40B4-BE49-F238E27FC236}">
                  <a16:creationId xmlns:a16="http://schemas.microsoft.com/office/drawing/2014/main" id="{9E44FB67-A950-411D-97C9-6F4B9286E645}"/>
                </a:ext>
              </a:extLst>
            </p:cNvPr>
            <p:cNvPicPr>
              <a:picLocks noChangeAspect="1" noChangeArrowheads="1"/>
            </p:cNvPicPr>
            <p:nvPr/>
          </p:nvPicPr>
          <p:blipFill>
            <a:blip r:embed="rId5">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48" descr="circuler_1">
              <a:extLst>
                <a:ext uri="{FF2B5EF4-FFF2-40B4-BE49-F238E27FC236}">
                  <a16:creationId xmlns:a16="http://schemas.microsoft.com/office/drawing/2014/main" id="{C1BA9E2A-8C04-44A9-8AD6-6EE7490D5B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Oval 49">
              <a:extLst>
                <a:ext uri="{FF2B5EF4-FFF2-40B4-BE49-F238E27FC236}">
                  <a16:creationId xmlns:a16="http://schemas.microsoft.com/office/drawing/2014/main" id="{7F2D4034-A1AF-4693-A047-E29B6CC478F7}"/>
                </a:ext>
              </a:extLst>
            </p:cNvPr>
            <p:cNvSpPr>
              <a:spLocks noChangeArrowheads="1"/>
            </p:cNvSpPr>
            <p:nvPr/>
          </p:nvSpPr>
          <p:spPr bwMode="gray">
            <a:xfrm>
              <a:off x="647" y="2562"/>
              <a:ext cx="1202" cy="1182"/>
            </a:xfrm>
            <a:prstGeom prst="ellipse">
              <a:avLst/>
            </a:prstGeom>
            <a:solidFill>
              <a:schemeClr val="folHlink">
                <a:alpha val="54901"/>
              </a:scheme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2000" b="0">
                <a:solidFill>
                  <a:srgbClr val="104E87"/>
                </a:solidFill>
                <a:latin typeface="华光行书_CNKI" panose="02000500000000000000" pitchFamily="2" charset="-122"/>
                <a:ea typeface="华光行书_CNKI" panose="02000500000000000000" pitchFamily="2" charset="-122"/>
              </a:endParaRPr>
            </a:p>
          </p:txBody>
        </p:sp>
        <p:sp>
          <p:nvSpPr>
            <p:cNvPr id="22" name="Freeform 50">
              <a:extLst>
                <a:ext uri="{FF2B5EF4-FFF2-40B4-BE49-F238E27FC236}">
                  <a16:creationId xmlns:a16="http://schemas.microsoft.com/office/drawing/2014/main" id="{58DF5E21-46B6-4715-9DB6-51E77F0C0A4B}"/>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sp>
        <p:nvSpPr>
          <p:cNvPr id="23" name="Rectangle 99">
            <a:extLst>
              <a:ext uri="{FF2B5EF4-FFF2-40B4-BE49-F238E27FC236}">
                <a16:creationId xmlns:a16="http://schemas.microsoft.com/office/drawing/2014/main" id="{9DF06704-9157-49FB-BC06-A7B6E66CA6D8}"/>
              </a:ext>
            </a:extLst>
          </p:cNvPr>
          <p:cNvSpPr>
            <a:spLocks noChangeArrowheads="1"/>
          </p:cNvSpPr>
          <p:nvPr/>
        </p:nvSpPr>
        <p:spPr bwMode="auto">
          <a:xfrm>
            <a:off x="3129387" y="280154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dirty="0">
                <a:solidFill>
                  <a:srgbClr val="104E87"/>
                </a:solidFill>
                <a:latin typeface="华光行书_CNKI" panose="02000500000000000000" pitchFamily="2" charset="-122"/>
                <a:ea typeface="华光行书_CNKI" panose="02000500000000000000" pitchFamily="2" charset="-122"/>
              </a:rPr>
              <a:t>车辆</a:t>
            </a:r>
          </a:p>
        </p:txBody>
      </p:sp>
      <p:sp>
        <p:nvSpPr>
          <p:cNvPr id="24" name="Rectangle 103">
            <a:extLst>
              <a:ext uri="{FF2B5EF4-FFF2-40B4-BE49-F238E27FC236}">
                <a16:creationId xmlns:a16="http://schemas.microsoft.com/office/drawing/2014/main" id="{AA10A0FE-CE48-4AD2-BC75-1B9C1B60CCE5}"/>
              </a:ext>
            </a:extLst>
          </p:cNvPr>
          <p:cNvSpPr>
            <a:spLocks noChangeArrowheads="1"/>
          </p:cNvSpPr>
          <p:nvPr/>
        </p:nvSpPr>
        <p:spPr bwMode="auto">
          <a:xfrm>
            <a:off x="1652057" y="3432375"/>
            <a:ext cx="1152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000" dirty="0">
                <a:solidFill>
                  <a:srgbClr val="104E87"/>
                </a:solidFill>
                <a:latin typeface="华光行书_CNKI" panose="02000500000000000000" pitchFamily="2" charset="-122"/>
                <a:ea typeface="华光行书_CNKI" panose="02000500000000000000" pitchFamily="2" charset="-122"/>
              </a:rPr>
              <a:t>机动车</a:t>
            </a:r>
          </a:p>
        </p:txBody>
      </p:sp>
      <p:grpSp>
        <p:nvGrpSpPr>
          <p:cNvPr id="26" name="Group 40">
            <a:extLst>
              <a:ext uri="{FF2B5EF4-FFF2-40B4-BE49-F238E27FC236}">
                <a16:creationId xmlns:a16="http://schemas.microsoft.com/office/drawing/2014/main" id="{13CF8B89-D050-49CE-A577-0ABCE54E632D}"/>
              </a:ext>
            </a:extLst>
          </p:cNvPr>
          <p:cNvGrpSpPr>
            <a:grpSpLocks/>
          </p:cNvGrpSpPr>
          <p:nvPr/>
        </p:nvGrpSpPr>
        <p:grpSpPr bwMode="auto">
          <a:xfrm>
            <a:off x="4448856" y="3366894"/>
            <a:ext cx="1150938" cy="524516"/>
            <a:chOff x="647" y="2562"/>
            <a:chExt cx="1210" cy="1278"/>
          </a:xfrm>
        </p:grpSpPr>
        <p:pic>
          <p:nvPicPr>
            <p:cNvPr id="27" name="Picture 41" descr="light_shadow">
              <a:extLst>
                <a:ext uri="{FF2B5EF4-FFF2-40B4-BE49-F238E27FC236}">
                  <a16:creationId xmlns:a16="http://schemas.microsoft.com/office/drawing/2014/main" id="{75B3030B-DFAC-48D0-8CF4-CCF02B1C093B}"/>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42" descr="circuler_1">
              <a:extLst>
                <a:ext uri="{FF2B5EF4-FFF2-40B4-BE49-F238E27FC236}">
                  <a16:creationId xmlns:a16="http://schemas.microsoft.com/office/drawing/2014/main" id="{0DC8391E-C817-4129-A6EB-37B6FD027F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Oval 43">
              <a:extLst>
                <a:ext uri="{FF2B5EF4-FFF2-40B4-BE49-F238E27FC236}">
                  <a16:creationId xmlns:a16="http://schemas.microsoft.com/office/drawing/2014/main" id="{A24B0A9E-B73B-4B44-B2EA-AA374159E0C9}"/>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30" name="Freeform 44">
              <a:extLst>
                <a:ext uri="{FF2B5EF4-FFF2-40B4-BE49-F238E27FC236}">
                  <a16:creationId xmlns:a16="http://schemas.microsoft.com/office/drawing/2014/main" id="{B2E2E3F5-A6A0-45F9-8FB3-63941EBC3849}"/>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sp>
        <p:nvSpPr>
          <p:cNvPr id="31" name="Rectangle 103">
            <a:extLst>
              <a:ext uri="{FF2B5EF4-FFF2-40B4-BE49-F238E27FC236}">
                <a16:creationId xmlns:a16="http://schemas.microsoft.com/office/drawing/2014/main" id="{8B687CBE-E8DB-4516-BC36-A4ABA545D4C4}"/>
              </a:ext>
            </a:extLst>
          </p:cNvPr>
          <p:cNvSpPr>
            <a:spLocks noChangeArrowheads="1"/>
          </p:cNvSpPr>
          <p:nvPr/>
        </p:nvSpPr>
        <p:spPr bwMode="auto">
          <a:xfrm>
            <a:off x="4414480" y="3395654"/>
            <a:ext cx="1439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000" spc="-150" dirty="0">
                <a:solidFill>
                  <a:srgbClr val="104E87"/>
                </a:solidFill>
                <a:latin typeface="华光行书_CNKI" panose="02000500000000000000" pitchFamily="2" charset="-122"/>
                <a:ea typeface="华光行书_CNKI" panose="02000500000000000000" pitchFamily="2" charset="-122"/>
              </a:rPr>
              <a:t>非机动车</a:t>
            </a:r>
          </a:p>
        </p:txBody>
      </p:sp>
      <p:grpSp>
        <p:nvGrpSpPr>
          <p:cNvPr id="32" name="Group 40">
            <a:extLst>
              <a:ext uri="{FF2B5EF4-FFF2-40B4-BE49-F238E27FC236}">
                <a16:creationId xmlns:a16="http://schemas.microsoft.com/office/drawing/2014/main" id="{269CEC6A-70D5-4CD9-B8F1-A9A9F1C963EC}"/>
              </a:ext>
            </a:extLst>
          </p:cNvPr>
          <p:cNvGrpSpPr>
            <a:grpSpLocks/>
          </p:cNvGrpSpPr>
          <p:nvPr/>
        </p:nvGrpSpPr>
        <p:grpSpPr bwMode="auto">
          <a:xfrm>
            <a:off x="2432606" y="5222518"/>
            <a:ext cx="1150938" cy="683853"/>
            <a:chOff x="647" y="2562"/>
            <a:chExt cx="1210" cy="1278"/>
          </a:xfrm>
        </p:grpSpPr>
        <p:pic>
          <p:nvPicPr>
            <p:cNvPr id="33" name="Picture 41" descr="light_shadow">
              <a:extLst>
                <a:ext uri="{FF2B5EF4-FFF2-40B4-BE49-F238E27FC236}">
                  <a16:creationId xmlns:a16="http://schemas.microsoft.com/office/drawing/2014/main" id="{473499AB-F5B5-4B9D-9A04-40E2C8FCF0C0}"/>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42" descr="circuler_1">
              <a:extLst>
                <a:ext uri="{FF2B5EF4-FFF2-40B4-BE49-F238E27FC236}">
                  <a16:creationId xmlns:a16="http://schemas.microsoft.com/office/drawing/2014/main" id="{CB2EB1A3-B919-4685-B142-70E3127A33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Oval 43">
              <a:extLst>
                <a:ext uri="{FF2B5EF4-FFF2-40B4-BE49-F238E27FC236}">
                  <a16:creationId xmlns:a16="http://schemas.microsoft.com/office/drawing/2014/main" id="{BAEF0DF2-6742-4A15-80C9-678E65CA559B}"/>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36" name="Freeform 44">
              <a:extLst>
                <a:ext uri="{FF2B5EF4-FFF2-40B4-BE49-F238E27FC236}">
                  <a16:creationId xmlns:a16="http://schemas.microsoft.com/office/drawing/2014/main" id="{2DE1D783-8F50-41DB-B1FF-1803938A3C69}"/>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sp>
        <p:nvSpPr>
          <p:cNvPr id="37" name="Rectangle 103">
            <a:extLst>
              <a:ext uri="{FF2B5EF4-FFF2-40B4-BE49-F238E27FC236}">
                <a16:creationId xmlns:a16="http://schemas.microsoft.com/office/drawing/2014/main" id="{393CABC3-345A-48C5-BD99-11B1F8D30003}"/>
              </a:ext>
            </a:extLst>
          </p:cNvPr>
          <p:cNvSpPr>
            <a:spLocks noChangeArrowheads="1"/>
          </p:cNvSpPr>
          <p:nvPr/>
        </p:nvSpPr>
        <p:spPr bwMode="auto">
          <a:xfrm>
            <a:off x="2656421" y="5341554"/>
            <a:ext cx="7192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000" dirty="0">
                <a:solidFill>
                  <a:srgbClr val="104E87"/>
                </a:solidFill>
                <a:latin typeface="华光行书_CNKI" panose="02000500000000000000" pitchFamily="2" charset="-122"/>
                <a:ea typeface="华光行书_CNKI" panose="02000500000000000000" pitchFamily="2" charset="-122"/>
              </a:rPr>
              <a:t>电车</a:t>
            </a:r>
          </a:p>
        </p:txBody>
      </p:sp>
      <p:grpSp>
        <p:nvGrpSpPr>
          <p:cNvPr id="39" name="Group 40">
            <a:extLst>
              <a:ext uri="{FF2B5EF4-FFF2-40B4-BE49-F238E27FC236}">
                <a16:creationId xmlns:a16="http://schemas.microsoft.com/office/drawing/2014/main" id="{E21B1961-A8C2-4F34-9D8B-C07F8F35E83C}"/>
              </a:ext>
            </a:extLst>
          </p:cNvPr>
          <p:cNvGrpSpPr>
            <a:grpSpLocks/>
          </p:cNvGrpSpPr>
          <p:nvPr/>
        </p:nvGrpSpPr>
        <p:grpSpPr bwMode="auto">
          <a:xfrm>
            <a:off x="689135" y="4256696"/>
            <a:ext cx="1150937" cy="632484"/>
            <a:chOff x="647" y="2562"/>
            <a:chExt cx="1210" cy="1278"/>
          </a:xfrm>
        </p:grpSpPr>
        <p:pic>
          <p:nvPicPr>
            <p:cNvPr id="40" name="Picture 41" descr="light_shadow">
              <a:extLst>
                <a:ext uri="{FF2B5EF4-FFF2-40B4-BE49-F238E27FC236}">
                  <a16:creationId xmlns:a16="http://schemas.microsoft.com/office/drawing/2014/main" id="{A74998D7-71D8-4E54-83F9-1FC265D22A86}"/>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2" descr="circuler_1">
              <a:extLst>
                <a:ext uri="{FF2B5EF4-FFF2-40B4-BE49-F238E27FC236}">
                  <a16:creationId xmlns:a16="http://schemas.microsoft.com/office/drawing/2014/main" id="{2AC61F1D-3007-44A9-BBCA-A9017FA2B4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Oval 43">
              <a:extLst>
                <a:ext uri="{FF2B5EF4-FFF2-40B4-BE49-F238E27FC236}">
                  <a16:creationId xmlns:a16="http://schemas.microsoft.com/office/drawing/2014/main" id="{5E313889-E777-467D-A593-4C1CC7E942CC}"/>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43" name="Freeform 44">
              <a:extLst>
                <a:ext uri="{FF2B5EF4-FFF2-40B4-BE49-F238E27FC236}">
                  <a16:creationId xmlns:a16="http://schemas.microsoft.com/office/drawing/2014/main" id="{1E0AE5F9-489B-4A47-BFB6-FF2D42293FDC}"/>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sp>
        <p:nvSpPr>
          <p:cNvPr id="44" name="Rectangle 103">
            <a:extLst>
              <a:ext uri="{FF2B5EF4-FFF2-40B4-BE49-F238E27FC236}">
                <a16:creationId xmlns:a16="http://schemas.microsoft.com/office/drawing/2014/main" id="{56492312-DBBF-4879-84CD-F843A491C0DA}"/>
              </a:ext>
            </a:extLst>
          </p:cNvPr>
          <p:cNvSpPr>
            <a:spLocks noChangeArrowheads="1"/>
          </p:cNvSpPr>
          <p:nvPr/>
        </p:nvSpPr>
        <p:spPr bwMode="auto">
          <a:xfrm>
            <a:off x="648248" y="4350480"/>
            <a:ext cx="1225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000" spc="-150" dirty="0">
                <a:solidFill>
                  <a:srgbClr val="104E87"/>
                </a:solidFill>
                <a:latin typeface="华光行书_CNKI" panose="02000500000000000000" pitchFamily="2" charset="-122"/>
                <a:ea typeface="华光行书_CNKI" panose="02000500000000000000" pitchFamily="2" charset="-122"/>
              </a:rPr>
              <a:t>内燃机车</a:t>
            </a:r>
          </a:p>
        </p:txBody>
      </p:sp>
      <p:grpSp>
        <p:nvGrpSpPr>
          <p:cNvPr id="45" name="Group 40">
            <a:extLst>
              <a:ext uri="{FF2B5EF4-FFF2-40B4-BE49-F238E27FC236}">
                <a16:creationId xmlns:a16="http://schemas.microsoft.com/office/drawing/2014/main" id="{4D5F5757-B9CC-4966-A9B6-9E6CAE7EB81A}"/>
              </a:ext>
            </a:extLst>
          </p:cNvPr>
          <p:cNvGrpSpPr>
            <a:grpSpLocks/>
          </p:cNvGrpSpPr>
          <p:nvPr/>
        </p:nvGrpSpPr>
        <p:grpSpPr bwMode="auto">
          <a:xfrm>
            <a:off x="1607" y="5152317"/>
            <a:ext cx="1150938" cy="806487"/>
            <a:chOff x="647" y="2562"/>
            <a:chExt cx="1210" cy="1278"/>
          </a:xfrm>
        </p:grpSpPr>
        <p:pic>
          <p:nvPicPr>
            <p:cNvPr id="46" name="Picture 41" descr="light_shadow">
              <a:extLst>
                <a:ext uri="{FF2B5EF4-FFF2-40B4-BE49-F238E27FC236}">
                  <a16:creationId xmlns:a16="http://schemas.microsoft.com/office/drawing/2014/main" id="{AE2BD0C2-D964-490D-946F-07D808EB1A45}"/>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42" descr="circuler_1">
              <a:extLst>
                <a:ext uri="{FF2B5EF4-FFF2-40B4-BE49-F238E27FC236}">
                  <a16:creationId xmlns:a16="http://schemas.microsoft.com/office/drawing/2014/main" id="{61AAA4E0-888E-4926-8ABB-63F7513C10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Oval 43">
              <a:extLst>
                <a:ext uri="{FF2B5EF4-FFF2-40B4-BE49-F238E27FC236}">
                  <a16:creationId xmlns:a16="http://schemas.microsoft.com/office/drawing/2014/main" id="{53CAFDB2-348B-4123-A864-A907ACE584E8}"/>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49" name="Freeform 44">
              <a:extLst>
                <a:ext uri="{FF2B5EF4-FFF2-40B4-BE49-F238E27FC236}">
                  <a16:creationId xmlns:a16="http://schemas.microsoft.com/office/drawing/2014/main" id="{1A9323F9-08DB-45CB-A547-950F91B95C9B}"/>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sp>
        <p:nvSpPr>
          <p:cNvPr id="50" name="Rectangle 103">
            <a:extLst>
              <a:ext uri="{FF2B5EF4-FFF2-40B4-BE49-F238E27FC236}">
                <a16:creationId xmlns:a16="http://schemas.microsoft.com/office/drawing/2014/main" id="{80433C47-6834-41E7-95F2-D6FC107E0C5C}"/>
              </a:ext>
            </a:extLst>
          </p:cNvPr>
          <p:cNvSpPr>
            <a:spLocks noChangeArrowheads="1"/>
          </p:cNvSpPr>
          <p:nvPr/>
        </p:nvSpPr>
        <p:spPr bwMode="auto">
          <a:xfrm>
            <a:off x="-33562" y="5309480"/>
            <a:ext cx="1225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lang="zh-CN" altLang="en-US" sz="2000" spc="-150" dirty="0">
                <a:solidFill>
                  <a:srgbClr val="104E87"/>
                </a:solidFill>
                <a:latin typeface="华光行书_CNKI" panose="02000500000000000000" pitchFamily="2" charset="-122"/>
                <a:ea typeface="华光行书_CNKI" panose="02000500000000000000" pitchFamily="2" charset="-122"/>
              </a:rPr>
              <a:t>柴油机车</a:t>
            </a:r>
          </a:p>
        </p:txBody>
      </p:sp>
      <p:grpSp>
        <p:nvGrpSpPr>
          <p:cNvPr id="51" name="Group 40">
            <a:extLst>
              <a:ext uri="{FF2B5EF4-FFF2-40B4-BE49-F238E27FC236}">
                <a16:creationId xmlns:a16="http://schemas.microsoft.com/office/drawing/2014/main" id="{738C8A6D-F630-41A7-B647-F8EAD80DE2D5}"/>
              </a:ext>
            </a:extLst>
          </p:cNvPr>
          <p:cNvGrpSpPr>
            <a:grpSpLocks/>
          </p:cNvGrpSpPr>
          <p:nvPr/>
        </p:nvGrpSpPr>
        <p:grpSpPr bwMode="auto">
          <a:xfrm>
            <a:off x="1236315" y="5152317"/>
            <a:ext cx="1150937" cy="806488"/>
            <a:chOff x="647" y="2562"/>
            <a:chExt cx="1210" cy="1278"/>
          </a:xfrm>
        </p:grpSpPr>
        <p:pic>
          <p:nvPicPr>
            <p:cNvPr id="52" name="Picture 41" descr="light_shadow">
              <a:extLst>
                <a:ext uri="{FF2B5EF4-FFF2-40B4-BE49-F238E27FC236}">
                  <a16:creationId xmlns:a16="http://schemas.microsoft.com/office/drawing/2014/main" id="{C270145B-D5F9-4A73-A427-CD2B9EC7546F}"/>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42" descr="circuler_1">
              <a:extLst>
                <a:ext uri="{FF2B5EF4-FFF2-40B4-BE49-F238E27FC236}">
                  <a16:creationId xmlns:a16="http://schemas.microsoft.com/office/drawing/2014/main" id="{8AE8ED0F-F985-400A-A6F5-C477B3B3D2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Oval 43">
              <a:extLst>
                <a:ext uri="{FF2B5EF4-FFF2-40B4-BE49-F238E27FC236}">
                  <a16:creationId xmlns:a16="http://schemas.microsoft.com/office/drawing/2014/main" id="{B52AE66F-27CF-4973-B890-0E422BF1816C}"/>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55" name="Freeform 44">
              <a:extLst>
                <a:ext uri="{FF2B5EF4-FFF2-40B4-BE49-F238E27FC236}">
                  <a16:creationId xmlns:a16="http://schemas.microsoft.com/office/drawing/2014/main" id="{FAD492F1-164B-4EE0-90BD-70DDF43C4ADE}"/>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sp>
        <p:nvSpPr>
          <p:cNvPr id="56" name="Rectangle 103">
            <a:extLst>
              <a:ext uri="{FF2B5EF4-FFF2-40B4-BE49-F238E27FC236}">
                <a16:creationId xmlns:a16="http://schemas.microsoft.com/office/drawing/2014/main" id="{D00CD9C9-2FE1-49D1-B811-D2252B85B91F}"/>
              </a:ext>
            </a:extLst>
          </p:cNvPr>
          <p:cNvSpPr>
            <a:spLocks noChangeArrowheads="1"/>
          </p:cNvSpPr>
          <p:nvPr/>
        </p:nvSpPr>
        <p:spPr bwMode="auto">
          <a:xfrm>
            <a:off x="1240870" y="5324483"/>
            <a:ext cx="1439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000" spc="-150" dirty="0">
                <a:solidFill>
                  <a:srgbClr val="104E87"/>
                </a:solidFill>
                <a:latin typeface="华光行书_CNKI" panose="02000500000000000000" pitchFamily="2" charset="-122"/>
                <a:ea typeface="华光行书_CNKI" panose="02000500000000000000" pitchFamily="2" charset="-122"/>
              </a:rPr>
              <a:t>汽油机车</a:t>
            </a:r>
          </a:p>
        </p:txBody>
      </p:sp>
      <p:grpSp>
        <p:nvGrpSpPr>
          <p:cNvPr id="58" name="Group 40">
            <a:extLst>
              <a:ext uri="{FF2B5EF4-FFF2-40B4-BE49-F238E27FC236}">
                <a16:creationId xmlns:a16="http://schemas.microsoft.com/office/drawing/2014/main" id="{7F809270-6A96-41E4-B249-FC67CD22D289}"/>
              </a:ext>
            </a:extLst>
          </p:cNvPr>
          <p:cNvGrpSpPr>
            <a:grpSpLocks/>
          </p:cNvGrpSpPr>
          <p:nvPr/>
        </p:nvGrpSpPr>
        <p:grpSpPr bwMode="auto">
          <a:xfrm>
            <a:off x="4155530" y="4194179"/>
            <a:ext cx="1150938" cy="647684"/>
            <a:chOff x="647" y="2562"/>
            <a:chExt cx="1210" cy="1278"/>
          </a:xfrm>
        </p:grpSpPr>
        <p:pic>
          <p:nvPicPr>
            <p:cNvPr id="59" name="Picture 41" descr="light_shadow">
              <a:extLst>
                <a:ext uri="{FF2B5EF4-FFF2-40B4-BE49-F238E27FC236}">
                  <a16:creationId xmlns:a16="http://schemas.microsoft.com/office/drawing/2014/main" id="{BEE3B108-725E-4616-BA21-25B9963CC9A7}"/>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42" descr="circuler_1">
              <a:extLst>
                <a:ext uri="{FF2B5EF4-FFF2-40B4-BE49-F238E27FC236}">
                  <a16:creationId xmlns:a16="http://schemas.microsoft.com/office/drawing/2014/main" id="{876FD55B-B5D4-4206-AB1A-093B3FE145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43">
              <a:extLst>
                <a:ext uri="{FF2B5EF4-FFF2-40B4-BE49-F238E27FC236}">
                  <a16:creationId xmlns:a16="http://schemas.microsoft.com/office/drawing/2014/main" id="{06B0EEDD-F855-452B-89EA-3684242A4F9D}"/>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62" name="Freeform 44">
              <a:extLst>
                <a:ext uri="{FF2B5EF4-FFF2-40B4-BE49-F238E27FC236}">
                  <a16:creationId xmlns:a16="http://schemas.microsoft.com/office/drawing/2014/main" id="{43A047CB-4BD9-44B1-9C5C-9DDD512E4E43}"/>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grpSp>
        <p:nvGrpSpPr>
          <p:cNvPr id="63" name="Group 40">
            <a:extLst>
              <a:ext uri="{FF2B5EF4-FFF2-40B4-BE49-F238E27FC236}">
                <a16:creationId xmlns:a16="http://schemas.microsoft.com/office/drawing/2014/main" id="{14E46CFB-EDFF-4184-96D5-3BA7BA5416BD}"/>
              </a:ext>
            </a:extLst>
          </p:cNvPr>
          <p:cNvGrpSpPr>
            <a:grpSpLocks/>
          </p:cNvGrpSpPr>
          <p:nvPr/>
        </p:nvGrpSpPr>
        <p:grpSpPr bwMode="auto">
          <a:xfrm>
            <a:off x="4821862" y="5151079"/>
            <a:ext cx="1150938" cy="744621"/>
            <a:chOff x="647" y="2562"/>
            <a:chExt cx="1210" cy="1278"/>
          </a:xfrm>
        </p:grpSpPr>
        <p:pic>
          <p:nvPicPr>
            <p:cNvPr id="64" name="Picture 41" descr="light_shadow">
              <a:extLst>
                <a:ext uri="{FF2B5EF4-FFF2-40B4-BE49-F238E27FC236}">
                  <a16:creationId xmlns:a16="http://schemas.microsoft.com/office/drawing/2014/main" id="{4977E638-4D80-40EA-82FD-FF7E906ACADA}"/>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42" descr="circuler_1">
              <a:extLst>
                <a:ext uri="{FF2B5EF4-FFF2-40B4-BE49-F238E27FC236}">
                  <a16:creationId xmlns:a16="http://schemas.microsoft.com/office/drawing/2014/main" id="{7F24F749-2CC4-4CB0-857F-43648FB774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Oval 43">
              <a:extLst>
                <a:ext uri="{FF2B5EF4-FFF2-40B4-BE49-F238E27FC236}">
                  <a16:creationId xmlns:a16="http://schemas.microsoft.com/office/drawing/2014/main" id="{724AF93F-626A-4845-9EFE-4E488EC79ACE}"/>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67" name="Freeform 44">
              <a:extLst>
                <a:ext uri="{FF2B5EF4-FFF2-40B4-BE49-F238E27FC236}">
                  <a16:creationId xmlns:a16="http://schemas.microsoft.com/office/drawing/2014/main" id="{BBF3FDA5-17EA-4058-BE48-9A2320551212}"/>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sp>
        <p:nvSpPr>
          <p:cNvPr id="68" name="Rectangle 103">
            <a:extLst>
              <a:ext uri="{FF2B5EF4-FFF2-40B4-BE49-F238E27FC236}">
                <a16:creationId xmlns:a16="http://schemas.microsoft.com/office/drawing/2014/main" id="{20808FFB-998B-4D11-BFCA-B02D8A921D32}"/>
              </a:ext>
            </a:extLst>
          </p:cNvPr>
          <p:cNvSpPr>
            <a:spLocks noChangeArrowheads="1"/>
          </p:cNvSpPr>
          <p:nvPr/>
        </p:nvSpPr>
        <p:spPr bwMode="auto">
          <a:xfrm>
            <a:off x="4857031" y="5295462"/>
            <a:ext cx="1225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000" dirty="0">
                <a:solidFill>
                  <a:srgbClr val="104E87"/>
                </a:solidFill>
                <a:latin typeface="华光行书_CNKI" panose="02000500000000000000" pitchFamily="2" charset="-122"/>
                <a:ea typeface="华光行书_CNKI" panose="02000500000000000000" pitchFamily="2" charset="-122"/>
              </a:rPr>
              <a:t> </a:t>
            </a:r>
            <a:r>
              <a:rPr lang="zh-CN" altLang="en-US" sz="2000" dirty="0">
                <a:solidFill>
                  <a:srgbClr val="104E87"/>
                </a:solidFill>
                <a:latin typeface="华光行书_CNKI" panose="02000500000000000000" pitchFamily="2" charset="-122"/>
                <a:ea typeface="华光行书_CNKI" panose="02000500000000000000" pitchFamily="2" charset="-122"/>
              </a:rPr>
              <a:t>自行车</a:t>
            </a:r>
          </a:p>
        </p:txBody>
      </p:sp>
      <p:grpSp>
        <p:nvGrpSpPr>
          <p:cNvPr id="69" name="Group 40">
            <a:extLst>
              <a:ext uri="{FF2B5EF4-FFF2-40B4-BE49-F238E27FC236}">
                <a16:creationId xmlns:a16="http://schemas.microsoft.com/office/drawing/2014/main" id="{2C592BC2-08F2-4E0A-A0C3-CEE737911F76}"/>
              </a:ext>
            </a:extLst>
          </p:cNvPr>
          <p:cNvGrpSpPr>
            <a:grpSpLocks/>
          </p:cNvGrpSpPr>
          <p:nvPr/>
        </p:nvGrpSpPr>
        <p:grpSpPr bwMode="auto">
          <a:xfrm>
            <a:off x="3639234" y="5151079"/>
            <a:ext cx="1150937" cy="738513"/>
            <a:chOff x="647" y="2562"/>
            <a:chExt cx="1210" cy="1278"/>
          </a:xfrm>
        </p:grpSpPr>
        <p:pic>
          <p:nvPicPr>
            <p:cNvPr id="70" name="Picture 41" descr="light_shadow">
              <a:extLst>
                <a:ext uri="{FF2B5EF4-FFF2-40B4-BE49-F238E27FC236}">
                  <a16:creationId xmlns:a16="http://schemas.microsoft.com/office/drawing/2014/main" id="{B9B796A0-2815-4640-89BB-EDE56853647A}"/>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Picture 42" descr="circuler_1">
              <a:extLst>
                <a:ext uri="{FF2B5EF4-FFF2-40B4-BE49-F238E27FC236}">
                  <a16:creationId xmlns:a16="http://schemas.microsoft.com/office/drawing/2014/main" id="{C6A39028-F488-44CC-B19B-FDB8A3A453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Oval 43">
              <a:extLst>
                <a:ext uri="{FF2B5EF4-FFF2-40B4-BE49-F238E27FC236}">
                  <a16:creationId xmlns:a16="http://schemas.microsoft.com/office/drawing/2014/main" id="{8D3E429B-3ECB-4681-BAAB-D028DE4E9E56}"/>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73" name="Freeform 44">
              <a:extLst>
                <a:ext uri="{FF2B5EF4-FFF2-40B4-BE49-F238E27FC236}">
                  <a16:creationId xmlns:a16="http://schemas.microsoft.com/office/drawing/2014/main" id="{51CC0EB2-6B61-4A37-9D8E-B8333877562E}"/>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sp>
        <p:nvSpPr>
          <p:cNvPr id="74" name="Rectangle 103">
            <a:extLst>
              <a:ext uri="{FF2B5EF4-FFF2-40B4-BE49-F238E27FC236}">
                <a16:creationId xmlns:a16="http://schemas.microsoft.com/office/drawing/2014/main" id="{09CE476F-A2F7-4948-A412-6FE8B1293254}"/>
              </a:ext>
            </a:extLst>
          </p:cNvPr>
          <p:cNvSpPr>
            <a:spLocks noChangeArrowheads="1"/>
          </p:cNvSpPr>
          <p:nvPr/>
        </p:nvSpPr>
        <p:spPr bwMode="auto">
          <a:xfrm>
            <a:off x="3635788" y="5319562"/>
            <a:ext cx="1439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000" dirty="0">
                <a:solidFill>
                  <a:srgbClr val="104E87"/>
                </a:solidFill>
                <a:latin typeface="华光行书_CNKI" panose="02000500000000000000" pitchFamily="2" charset="-122"/>
                <a:ea typeface="华光行书_CNKI" panose="02000500000000000000" pitchFamily="2" charset="-122"/>
              </a:rPr>
              <a:t>手推车</a:t>
            </a:r>
          </a:p>
        </p:txBody>
      </p:sp>
      <p:sp>
        <p:nvSpPr>
          <p:cNvPr id="75" name="Rectangle 103">
            <a:extLst>
              <a:ext uri="{FF2B5EF4-FFF2-40B4-BE49-F238E27FC236}">
                <a16:creationId xmlns:a16="http://schemas.microsoft.com/office/drawing/2014/main" id="{6A8EBFCB-C8B4-4BE4-A477-98E1838D9C01}"/>
              </a:ext>
            </a:extLst>
          </p:cNvPr>
          <p:cNvSpPr>
            <a:spLocks noChangeArrowheads="1"/>
          </p:cNvSpPr>
          <p:nvPr/>
        </p:nvSpPr>
        <p:spPr bwMode="auto">
          <a:xfrm>
            <a:off x="4255909" y="4287963"/>
            <a:ext cx="1225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000" dirty="0">
                <a:solidFill>
                  <a:srgbClr val="104E87"/>
                </a:solidFill>
                <a:latin typeface="华光行书_CNKI" panose="02000500000000000000" pitchFamily="2" charset="-122"/>
                <a:ea typeface="华光行书_CNKI" panose="02000500000000000000" pitchFamily="2" charset="-122"/>
              </a:rPr>
              <a:t>人力车</a:t>
            </a:r>
          </a:p>
        </p:txBody>
      </p:sp>
      <p:grpSp>
        <p:nvGrpSpPr>
          <p:cNvPr id="77" name="Group 40">
            <a:extLst>
              <a:ext uri="{FF2B5EF4-FFF2-40B4-BE49-F238E27FC236}">
                <a16:creationId xmlns:a16="http://schemas.microsoft.com/office/drawing/2014/main" id="{E4827C45-73EA-449A-8360-6B8DC04C4A35}"/>
              </a:ext>
            </a:extLst>
          </p:cNvPr>
          <p:cNvGrpSpPr>
            <a:grpSpLocks/>
          </p:cNvGrpSpPr>
          <p:nvPr/>
        </p:nvGrpSpPr>
        <p:grpSpPr bwMode="auto">
          <a:xfrm>
            <a:off x="5372656" y="4194179"/>
            <a:ext cx="1150937" cy="610597"/>
            <a:chOff x="647" y="2562"/>
            <a:chExt cx="1210" cy="1278"/>
          </a:xfrm>
        </p:grpSpPr>
        <p:pic>
          <p:nvPicPr>
            <p:cNvPr id="78" name="Picture 41" descr="light_shadow">
              <a:extLst>
                <a:ext uri="{FF2B5EF4-FFF2-40B4-BE49-F238E27FC236}">
                  <a16:creationId xmlns:a16="http://schemas.microsoft.com/office/drawing/2014/main" id="{2588FDB1-7971-49F1-9BD2-E369817365D2}"/>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Picture 42" descr="circuler_1">
              <a:extLst>
                <a:ext uri="{FF2B5EF4-FFF2-40B4-BE49-F238E27FC236}">
                  <a16:creationId xmlns:a16="http://schemas.microsoft.com/office/drawing/2014/main" id="{CC212338-568B-4FBC-B171-39CE2362D0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Oval 43">
              <a:extLst>
                <a:ext uri="{FF2B5EF4-FFF2-40B4-BE49-F238E27FC236}">
                  <a16:creationId xmlns:a16="http://schemas.microsoft.com/office/drawing/2014/main" id="{C56296E5-A53C-472E-A19C-EA5FD0A06D35}"/>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1800" b="0">
                <a:solidFill>
                  <a:srgbClr val="104E87"/>
                </a:solidFill>
                <a:latin typeface="华光行书_CNKI" panose="02000500000000000000" pitchFamily="2" charset="-122"/>
                <a:ea typeface="华光行书_CNKI" panose="02000500000000000000" pitchFamily="2" charset="-122"/>
              </a:endParaRPr>
            </a:p>
          </p:txBody>
        </p:sp>
        <p:sp>
          <p:nvSpPr>
            <p:cNvPr id="81" name="Freeform 44">
              <a:extLst>
                <a:ext uri="{FF2B5EF4-FFF2-40B4-BE49-F238E27FC236}">
                  <a16:creationId xmlns:a16="http://schemas.microsoft.com/office/drawing/2014/main" id="{732B921F-B473-49C2-82A9-FB7B4DB42DF6}"/>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olidFill>
                  <a:srgbClr val="104E87"/>
                </a:solidFill>
                <a:latin typeface="华光行书_CNKI" panose="02000500000000000000" pitchFamily="2" charset="-122"/>
                <a:ea typeface="华光行书_CNKI" panose="02000500000000000000" pitchFamily="2" charset="-122"/>
              </a:endParaRPr>
            </a:p>
          </p:txBody>
        </p:sp>
      </p:grpSp>
      <p:sp>
        <p:nvSpPr>
          <p:cNvPr id="82" name="Rectangle 103">
            <a:extLst>
              <a:ext uri="{FF2B5EF4-FFF2-40B4-BE49-F238E27FC236}">
                <a16:creationId xmlns:a16="http://schemas.microsoft.com/office/drawing/2014/main" id="{572C868F-7688-4631-A3E3-74F86A7A8E29}"/>
              </a:ext>
            </a:extLst>
          </p:cNvPr>
          <p:cNvSpPr>
            <a:spLocks noChangeArrowheads="1"/>
          </p:cNvSpPr>
          <p:nvPr/>
        </p:nvSpPr>
        <p:spPr bwMode="auto">
          <a:xfrm>
            <a:off x="5409057" y="4264773"/>
            <a:ext cx="1439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000" dirty="0">
                <a:solidFill>
                  <a:srgbClr val="104E87"/>
                </a:solidFill>
                <a:latin typeface="华光行书_CNKI" panose="02000500000000000000" pitchFamily="2" charset="-122"/>
                <a:ea typeface="华光行书_CNKI" panose="02000500000000000000" pitchFamily="2" charset="-122"/>
              </a:rPr>
              <a:t>蓄力车</a:t>
            </a:r>
          </a:p>
        </p:txBody>
      </p:sp>
      <p:grpSp>
        <p:nvGrpSpPr>
          <p:cNvPr id="83" name="Group 40">
            <a:extLst>
              <a:ext uri="{FF2B5EF4-FFF2-40B4-BE49-F238E27FC236}">
                <a16:creationId xmlns:a16="http://schemas.microsoft.com/office/drawing/2014/main" id="{87807238-22A6-4164-993D-8CBC68C92DBF}"/>
              </a:ext>
            </a:extLst>
          </p:cNvPr>
          <p:cNvGrpSpPr>
            <a:grpSpLocks/>
          </p:cNvGrpSpPr>
          <p:nvPr/>
        </p:nvGrpSpPr>
        <p:grpSpPr bwMode="auto">
          <a:xfrm>
            <a:off x="6057414" y="5151079"/>
            <a:ext cx="1150938" cy="716027"/>
            <a:chOff x="647" y="2562"/>
            <a:chExt cx="1210" cy="1278"/>
          </a:xfrm>
        </p:grpSpPr>
        <p:pic>
          <p:nvPicPr>
            <p:cNvPr id="84" name="Picture 41" descr="light_shadow">
              <a:extLst>
                <a:ext uri="{FF2B5EF4-FFF2-40B4-BE49-F238E27FC236}">
                  <a16:creationId xmlns:a16="http://schemas.microsoft.com/office/drawing/2014/main" id="{138F82E9-1636-4C13-A959-742FE8911A18}"/>
                </a:ext>
              </a:extLst>
            </p:cNvPr>
            <p:cNvPicPr>
              <a:picLocks noChangeAspect="1" noChangeArrowheads="1"/>
            </p:cNvPicPr>
            <p:nvPr/>
          </p:nvPicPr>
          <p:blipFill>
            <a:blip r:embed="rId3">
              <a:lum bright="-78000" contrast="-78000"/>
              <a:extLst>
                <a:ext uri="{28A0092B-C50C-407E-A947-70E740481C1C}">
                  <a14:useLocalDpi xmlns:a14="http://schemas.microsoft.com/office/drawing/2010/main" val="0"/>
                </a:ext>
              </a:extLst>
            </a:blip>
            <a:srcRect/>
            <a:stretch>
              <a:fillRect/>
            </a:stretch>
          </p:blipFill>
          <p:spPr bwMode="gray">
            <a:xfrm>
              <a:off x="762" y="3564"/>
              <a:ext cx="99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Picture 42" descr="circuler_1">
              <a:extLst>
                <a:ext uri="{FF2B5EF4-FFF2-40B4-BE49-F238E27FC236}">
                  <a16:creationId xmlns:a16="http://schemas.microsoft.com/office/drawing/2014/main" id="{45EE05BC-89E8-4713-B2E1-D2B40734E8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47" y="2562"/>
              <a:ext cx="1210" cy="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Oval 43">
              <a:extLst>
                <a:ext uri="{FF2B5EF4-FFF2-40B4-BE49-F238E27FC236}">
                  <a16:creationId xmlns:a16="http://schemas.microsoft.com/office/drawing/2014/main" id="{42E44151-68DD-4BF0-A28D-6568F399A7E6}"/>
                </a:ext>
              </a:extLst>
            </p:cNvPr>
            <p:cNvSpPr>
              <a:spLocks noChangeArrowheads="1"/>
            </p:cNvSpPr>
            <p:nvPr/>
          </p:nvSpPr>
          <p:spPr bwMode="gray">
            <a:xfrm>
              <a:off x="647" y="2562"/>
              <a:ext cx="1202" cy="1182"/>
            </a:xfrm>
            <a:prstGeom prst="ellipse">
              <a:avLst/>
            </a:prstGeom>
            <a:solidFill>
              <a:srgbClr val="E9D13F">
                <a:alpha val="5490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zh-CN" sz="2000" b="0">
                <a:solidFill>
                  <a:srgbClr val="104E87"/>
                </a:solidFill>
                <a:latin typeface="华光行书_CNKI" panose="02000500000000000000" pitchFamily="2" charset="-122"/>
                <a:ea typeface="华光行书_CNKI" panose="02000500000000000000" pitchFamily="2" charset="-122"/>
              </a:endParaRPr>
            </a:p>
          </p:txBody>
        </p:sp>
        <p:sp>
          <p:nvSpPr>
            <p:cNvPr id="87" name="Freeform 44">
              <a:extLst>
                <a:ext uri="{FF2B5EF4-FFF2-40B4-BE49-F238E27FC236}">
                  <a16:creationId xmlns:a16="http://schemas.microsoft.com/office/drawing/2014/main" id="{ACB48274-3737-4C98-A316-E9ED91857B7F}"/>
                </a:ext>
              </a:extLst>
            </p:cNvPr>
            <p:cNvSpPr>
              <a:spLocks/>
            </p:cNvSpPr>
            <p:nvPr/>
          </p:nvSpPr>
          <p:spPr bwMode="ltGray">
            <a:xfrm>
              <a:off x="771" y="2586"/>
              <a:ext cx="945" cy="409"/>
            </a:xfrm>
            <a:custGeom>
              <a:avLst/>
              <a:gdLst>
                <a:gd name="T0" fmla="*/ 1 w 1321"/>
                <a:gd name="T1" fmla="*/ 1 h 712"/>
                <a:gd name="T2" fmla="*/ 1 w 1321"/>
                <a:gd name="T3" fmla="*/ 1 h 712"/>
                <a:gd name="T4" fmla="*/ 1 w 1321"/>
                <a:gd name="T5" fmla="*/ 1 h 712"/>
                <a:gd name="T6" fmla="*/ 1 w 1321"/>
                <a:gd name="T7" fmla="*/ 1 h 712"/>
                <a:gd name="T8" fmla="*/ 1 w 1321"/>
                <a:gd name="T9" fmla="*/ 1 h 712"/>
                <a:gd name="T10" fmla="*/ 1 w 1321"/>
                <a:gd name="T11" fmla="*/ 1 h 712"/>
                <a:gd name="T12" fmla="*/ 1 w 1321"/>
                <a:gd name="T13" fmla="*/ 1 h 712"/>
                <a:gd name="T14" fmla="*/ 1 w 1321"/>
                <a:gd name="T15" fmla="*/ 1 h 712"/>
                <a:gd name="T16" fmla="*/ 1 w 1321"/>
                <a:gd name="T17" fmla="*/ 1 h 712"/>
                <a:gd name="T18" fmla="*/ 1 w 1321"/>
                <a:gd name="T19" fmla="*/ 1 h 712"/>
                <a:gd name="T20" fmla="*/ 1 w 1321"/>
                <a:gd name="T21" fmla="*/ 1 h 712"/>
                <a:gd name="T22" fmla="*/ 1 w 1321"/>
                <a:gd name="T23" fmla="*/ 1 h 712"/>
                <a:gd name="T24" fmla="*/ 1 w 1321"/>
                <a:gd name="T25" fmla="*/ 1 h 712"/>
                <a:gd name="T26" fmla="*/ 1 w 1321"/>
                <a:gd name="T27" fmla="*/ 1 h 712"/>
                <a:gd name="T28" fmla="*/ 1 w 1321"/>
                <a:gd name="T29" fmla="*/ 1 h 712"/>
                <a:gd name="T30" fmla="*/ 1 w 1321"/>
                <a:gd name="T31" fmla="*/ 1 h 712"/>
                <a:gd name="T32" fmla="*/ 1 w 1321"/>
                <a:gd name="T33" fmla="*/ 1 h 712"/>
                <a:gd name="T34" fmla="*/ 1 w 1321"/>
                <a:gd name="T35" fmla="*/ 1 h 712"/>
                <a:gd name="T36" fmla="*/ 1 w 1321"/>
                <a:gd name="T37" fmla="*/ 1 h 712"/>
                <a:gd name="T38" fmla="*/ 1 w 1321"/>
                <a:gd name="T39" fmla="*/ 1 h 712"/>
                <a:gd name="T40" fmla="*/ 1 w 1321"/>
                <a:gd name="T41" fmla="*/ 1 h 712"/>
                <a:gd name="T42" fmla="*/ 1 w 1321"/>
                <a:gd name="T43" fmla="*/ 1 h 712"/>
                <a:gd name="T44" fmla="*/ 1 w 1321"/>
                <a:gd name="T45" fmla="*/ 1 h 712"/>
                <a:gd name="T46" fmla="*/ 1 w 1321"/>
                <a:gd name="T47" fmla="*/ 1 h 712"/>
                <a:gd name="T48" fmla="*/ 1 w 1321"/>
                <a:gd name="T49" fmla="*/ 1 h 712"/>
                <a:gd name="T50" fmla="*/ 1 w 1321"/>
                <a:gd name="T51" fmla="*/ 1 h 712"/>
                <a:gd name="T52" fmla="*/ 1 w 1321"/>
                <a:gd name="T53" fmla="*/ 1 h 712"/>
                <a:gd name="T54" fmla="*/ 1 w 1321"/>
                <a:gd name="T55" fmla="*/ 1 h 712"/>
                <a:gd name="T56" fmla="*/ 0 w 1321"/>
                <a:gd name="T57" fmla="*/ 1 h 712"/>
                <a:gd name="T58" fmla="*/ 0 w 1321"/>
                <a:gd name="T59" fmla="*/ 1 h 712"/>
                <a:gd name="T60" fmla="*/ 1 w 1321"/>
                <a:gd name="T61" fmla="*/ 1 h 712"/>
                <a:gd name="T62" fmla="*/ 1 w 1321"/>
                <a:gd name="T63" fmla="*/ 1 h 712"/>
                <a:gd name="T64" fmla="*/ 1 w 1321"/>
                <a:gd name="T65" fmla="*/ 1 h 712"/>
                <a:gd name="T66" fmla="*/ 1 w 1321"/>
                <a:gd name="T67" fmla="*/ 1 h 712"/>
                <a:gd name="T68" fmla="*/ 1 w 1321"/>
                <a:gd name="T69" fmla="*/ 1 h 712"/>
                <a:gd name="T70" fmla="*/ 1 w 1321"/>
                <a:gd name="T71" fmla="*/ 1 h 712"/>
                <a:gd name="T72" fmla="*/ 1 w 1321"/>
                <a:gd name="T73" fmla="*/ 1 h 712"/>
                <a:gd name="T74" fmla="*/ 1 w 1321"/>
                <a:gd name="T75" fmla="*/ 1 h 712"/>
                <a:gd name="T76" fmla="*/ 1 w 1321"/>
                <a:gd name="T77" fmla="*/ 1 h 712"/>
                <a:gd name="T78" fmla="*/ 1 w 1321"/>
                <a:gd name="T79" fmla="*/ 1 h 712"/>
                <a:gd name="T80" fmla="*/ 1 w 1321"/>
                <a:gd name="T81" fmla="*/ 1 h 712"/>
                <a:gd name="T82" fmla="*/ 1 w 1321"/>
                <a:gd name="T83" fmla="*/ 0 h 712"/>
                <a:gd name="T84" fmla="*/ 1 w 1321"/>
                <a:gd name="T85" fmla="*/ 0 h 712"/>
                <a:gd name="T86" fmla="*/ 1 w 1321"/>
                <a:gd name="T87" fmla="*/ 1 h 712"/>
                <a:gd name="T88" fmla="*/ 1 w 1321"/>
                <a:gd name="T89" fmla="*/ 1 h 712"/>
                <a:gd name="T90" fmla="*/ 1 w 1321"/>
                <a:gd name="T91" fmla="*/ 1 h 712"/>
                <a:gd name="T92" fmla="*/ 1 w 1321"/>
                <a:gd name="T93" fmla="*/ 1 h 712"/>
                <a:gd name="T94" fmla="*/ 1 w 1321"/>
                <a:gd name="T95" fmla="*/ 1 h 712"/>
                <a:gd name="T96" fmla="*/ 1 w 1321"/>
                <a:gd name="T97" fmla="*/ 1 h 712"/>
                <a:gd name="T98" fmla="*/ 1 w 1321"/>
                <a:gd name="T99" fmla="*/ 1 h 712"/>
                <a:gd name="T100" fmla="*/ 1 w 1321"/>
                <a:gd name="T101" fmla="*/ 1 h 712"/>
                <a:gd name="T102" fmla="*/ 1 w 1321"/>
                <a:gd name="T103" fmla="*/ 1 h 712"/>
                <a:gd name="T104" fmla="*/ 1 w 1321"/>
                <a:gd name="T105" fmla="*/ 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7CBFE0">
                    <a:alpha val="0"/>
                  </a:srgbClr>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grpSp>
      <p:sp>
        <p:nvSpPr>
          <p:cNvPr id="88" name="Rectangle 103">
            <a:extLst>
              <a:ext uri="{FF2B5EF4-FFF2-40B4-BE49-F238E27FC236}">
                <a16:creationId xmlns:a16="http://schemas.microsoft.com/office/drawing/2014/main" id="{D4441457-F45D-497E-9E1D-F6CACDDA1F4A}"/>
              </a:ext>
            </a:extLst>
          </p:cNvPr>
          <p:cNvSpPr>
            <a:spLocks noChangeArrowheads="1"/>
          </p:cNvSpPr>
          <p:nvPr/>
        </p:nvSpPr>
        <p:spPr bwMode="auto">
          <a:xfrm>
            <a:off x="6201682" y="5295462"/>
            <a:ext cx="1225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000" dirty="0">
                <a:solidFill>
                  <a:srgbClr val="104E87"/>
                </a:solidFill>
                <a:latin typeface="华光行书_CNKI" panose="02000500000000000000" pitchFamily="2" charset="-122"/>
                <a:ea typeface="华光行书_CNKI" panose="02000500000000000000" pitchFamily="2" charset="-122"/>
              </a:rPr>
              <a:t> </a:t>
            </a:r>
            <a:r>
              <a:rPr lang="zh-CN" altLang="en-US" sz="2000" dirty="0">
                <a:solidFill>
                  <a:srgbClr val="104E87"/>
                </a:solidFill>
                <a:latin typeface="华光行书_CNKI" panose="02000500000000000000" pitchFamily="2" charset="-122"/>
                <a:ea typeface="华光行书_CNKI" panose="02000500000000000000" pitchFamily="2" charset="-122"/>
              </a:rPr>
              <a:t>马车</a:t>
            </a:r>
          </a:p>
        </p:txBody>
      </p:sp>
      <p:sp>
        <p:nvSpPr>
          <p:cNvPr id="89" name="矩形 88">
            <a:extLst>
              <a:ext uri="{FF2B5EF4-FFF2-40B4-BE49-F238E27FC236}">
                <a16:creationId xmlns:a16="http://schemas.microsoft.com/office/drawing/2014/main" id="{C5EF7696-64EF-472A-8749-3BF6527DE80C}"/>
              </a:ext>
            </a:extLst>
          </p:cNvPr>
          <p:cNvSpPr>
            <a:spLocks noChangeArrowheads="1"/>
          </p:cNvSpPr>
          <p:nvPr/>
        </p:nvSpPr>
        <p:spPr bwMode="auto">
          <a:xfrm>
            <a:off x="141035" y="1444572"/>
            <a:ext cx="67404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ts val="1200"/>
              </a:spcBef>
              <a:buClrTx/>
              <a:buSzTx/>
              <a:buFontTx/>
              <a:buNone/>
            </a:pPr>
            <a:r>
              <a:rPr kumimoji="1" lang="zh-CN" altLang="en-US" sz="2400" dirty="0">
                <a:solidFill>
                  <a:srgbClr val="104E87"/>
                </a:solidFill>
                <a:latin typeface="华光行书_CNKI" panose="02000500000000000000" pitchFamily="2" charset="-122"/>
                <a:ea typeface="华光行书_CNKI" panose="02000500000000000000" pitchFamily="2" charset="-122"/>
              </a:rPr>
              <a:t>继承的最大的优点：代码重用，提高变程效率。</a:t>
            </a:r>
          </a:p>
        </p:txBody>
      </p:sp>
      <p:sp>
        <p:nvSpPr>
          <p:cNvPr id="90" name="矩形 89">
            <a:extLst>
              <a:ext uri="{FF2B5EF4-FFF2-40B4-BE49-F238E27FC236}">
                <a16:creationId xmlns:a16="http://schemas.microsoft.com/office/drawing/2014/main" id="{40E7B22C-5ED1-4F66-8776-E05E968C5283}"/>
              </a:ext>
            </a:extLst>
          </p:cNvPr>
          <p:cNvSpPr>
            <a:spLocks noChangeArrowheads="1"/>
          </p:cNvSpPr>
          <p:nvPr/>
        </p:nvSpPr>
        <p:spPr bwMode="auto">
          <a:xfrm>
            <a:off x="93333" y="1924854"/>
            <a:ext cx="70489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104E87"/>
                </a:solidFill>
                <a:latin typeface="华光行书_CNKI" panose="02000500000000000000" pitchFamily="2" charset="-122"/>
                <a:ea typeface="华光行书_CNKI" panose="02000500000000000000" pitchFamily="2" charset="-122"/>
              </a:rPr>
              <a:t>子类共享基类中所定义的方法和数据的机制。</a:t>
            </a:r>
            <a:endParaRPr lang="zh-CN" altLang="en-US" sz="2400" dirty="0">
              <a:solidFill>
                <a:srgbClr val="104E87"/>
              </a:solidFill>
              <a:latin typeface="华光行书_CNKI" panose="02000500000000000000" pitchFamily="2" charset="-122"/>
              <a:ea typeface="华光行书_CNKI" panose="02000500000000000000" pitchFamily="2" charset="-122"/>
            </a:endParaRPr>
          </a:p>
        </p:txBody>
      </p:sp>
      <p:sp>
        <p:nvSpPr>
          <p:cNvPr id="93" name="矩形 92">
            <a:extLst>
              <a:ext uri="{FF2B5EF4-FFF2-40B4-BE49-F238E27FC236}">
                <a16:creationId xmlns:a16="http://schemas.microsoft.com/office/drawing/2014/main" id="{B9A56054-E71B-4BCC-B052-251218203439}"/>
              </a:ext>
            </a:extLst>
          </p:cNvPr>
          <p:cNvSpPr/>
          <p:nvPr/>
        </p:nvSpPr>
        <p:spPr>
          <a:xfrm>
            <a:off x="6668932" y="2944171"/>
            <a:ext cx="5422300" cy="2308324"/>
          </a:xfrm>
          <a:prstGeom prst="rect">
            <a:avLst/>
          </a:prstGeom>
        </p:spPr>
        <p:txBody>
          <a:bodyPr wrap="square">
            <a:spAutoFit/>
          </a:bodyPr>
          <a:lstStyle/>
          <a:p>
            <a:pPr marL="342900" indent="-342900" eaLnBrk="1" hangingPunct="1">
              <a:buFontTx/>
              <a:buBlip>
                <a:blip r:embed="rId7"/>
              </a:buBlip>
              <a:defRPr/>
            </a:pPr>
            <a:r>
              <a:rPr kumimoji="1" lang="zh-CN" altLang="en-US" dirty="0">
                <a:solidFill>
                  <a:srgbClr val="104E87"/>
                </a:solidFill>
                <a:latin typeface="华光行书_CNKI" panose="02000500000000000000" pitchFamily="2" charset="-122"/>
                <a:ea typeface="华光行书_CNKI" panose="02000500000000000000" pitchFamily="2" charset="-122"/>
              </a:rPr>
              <a:t>继承：保存已有特性，实现代码重用。</a:t>
            </a:r>
          </a:p>
          <a:p>
            <a:pPr marL="342900" indent="-342900" eaLnBrk="1" hangingPunct="1">
              <a:buFontTx/>
              <a:buBlip>
                <a:blip r:embed="rId7"/>
              </a:buBlip>
              <a:defRPr/>
            </a:pPr>
            <a:r>
              <a:rPr kumimoji="1" lang="zh-CN" altLang="en-US" dirty="0">
                <a:solidFill>
                  <a:srgbClr val="104E87"/>
                </a:solidFill>
                <a:latin typeface="华光行书_CNKI" panose="02000500000000000000" pitchFamily="2" charset="-122"/>
                <a:ea typeface="华光行书_CNKI" panose="02000500000000000000" pitchFamily="2" charset="-122"/>
              </a:rPr>
              <a:t>派生：增加新特性，当新的问题出现，原有程序不能完全解决时，需要对原有程序进行改造。</a:t>
            </a:r>
            <a:endParaRPr kumimoji="1" lang="en-US" altLang="zh-CN" dirty="0">
              <a:solidFill>
                <a:srgbClr val="104E87"/>
              </a:solidFill>
              <a:latin typeface="华光行书_CNKI" panose="02000500000000000000" pitchFamily="2" charset="-122"/>
              <a:ea typeface="华光行书_CNKI" panose="02000500000000000000" pitchFamily="2" charset="-122"/>
            </a:endParaRPr>
          </a:p>
          <a:p>
            <a:pPr marL="342900" indent="-342900" eaLnBrk="1" hangingPunct="1">
              <a:buFontTx/>
              <a:buBlip>
                <a:blip r:embed="rId7"/>
              </a:buBlip>
              <a:defRPr/>
            </a:pPr>
            <a:r>
              <a:rPr kumimoji="1" lang="zh-CN" altLang="en-US" dirty="0">
                <a:solidFill>
                  <a:srgbClr val="104E87"/>
                </a:solidFill>
                <a:latin typeface="华光行书_CNKI" panose="02000500000000000000" pitchFamily="2" charset="-122"/>
                <a:ea typeface="华光行书_CNKI" panose="02000500000000000000" pitchFamily="2" charset="-122"/>
              </a:rPr>
              <a:t>基类、父类</a:t>
            </a:r>
            <a:endParaRPr kumimoji="1" lang="en-US" altLang="zh-CN" dirty="0">
              <a:solidFill>
                <a:srgbClr val="104E87"/>
              </a:solidFill>
              <a:latin typeface="华光行书_CNKI" panose="02000500000000000000" pitchFamily="2" charset="-122"/>
              <a:ea typeface="华光行书_CNKI" panose="02000500000000000000" pitchFamily="2" charset="-122"/>
            </a:endParaRPr>
          </a:p>
          <a:p>
            <a:pPr marL="342900" indent="-342900" eaLnBrk="1" hangingPunct="1">
              <a:buFontTx/>
              <a:buBlip>
                <a:blip r:embed="rId7"/>
              </a:buBlip>
              <a:defRPr/>
            </a:pPr>
            <a:r>
              <a:rPr kumimoji="1" lang="zh-CN" altLang="en-US" dirty="0">
                <a:solidFill>
                  <a:srgbClr val="104E87"/>
                </a:solidFill>
                <a:latin typeface="华光行书_CNKI" panose="02000500000000000000" pitchFamily="2" charset="-122"/>
                <a:ea typeface="华光行书_CNKI" panose="02000500000000000000" pitchFamily="2" charset="-122"/>
              </a:rPr>
              <a:t>派生类、子类</a:t>
            </a:r>
          </a:p>
        </p:txBody>
      </p:sp>
    </p:spTree>
    <p:extLst>
      <p:ext uri="{BB962C8B-B14F-4D97-AF65-F5344CB8AC3E}">
        <p14:creationId xmlns:p14="http://schemas.microsoft.com/office/powerpoint/2010/main" val="389489134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circle(in)">
                                      <p:cBhvr>
                                        <p:cTn id="12" dur="2000"/>
                                        <p:tgtEl>
                                          <p:spTgt spid="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0"/>
                                        </p:tgtEl>
                                        <p:attrNameLst>
                                          <p:attrName>style.visibility</p:attrName>
                                        </p:attrNameLst>
                                      </p:cBhvr>
                                      <p:to>
                                        <p:strVal val="visible"/>
                                      </p:to>
                                    </p:set>
                                    <p:animEffect transition="in" filter="fade">
                                      <p:cBhvr>
                                        <p:cTn id="17" dur="500"/>
                                        <p:tgtEl>
                                          <p:spTgt spid="9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barn(inVertical)">
                                      <p:cBhvr>
                                        <p:cTn id="22"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9" grpId="0"/>
      <p:bldP spid="90" grpId="0"/>
      <p:bldP spid="9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输入输出流">
            <a:extLst>
              <a:ext uri="{FF2B5EF4-FFF2-40B4-BE49-F238E27FC236}">
                <a16:creationId xmlns:a16="http://schemas.microsoft.com/office/drawing/2014/main" id="{0E4B1F61-58AA-165B-10F1-95EDD47497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0687" y="48875"/>
            <a:ext cx="881062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8D4CBA37-DE6F-CD1E-8DC9-30DD7D1B2E97}"/>
              </a:ext>
            </a:extLst>
          </p:cNvPr>
          <p:cNvSpPr txBox="1"/>
          <p:nvPr/>
        </p:nvSpPr>
        <p:spPr>
          <a:xfrm rot="16200000">
            <a:off x="-2909919" y="3156142"/>
            <a:ext cx="6463308" cy="643466"/>
          </a:xfrm>
          <a:prstGeom prst="rect">
            <a:avLst/>
          </a:prstGeom>
          <a:solidFill>
            <a:schemeClr val="accent2"/>
          </a:solidFill>
        </p:spPr>
        <p:txBody>
          <a:bodyPr vert="vert"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sz="2400" spc="-180" dirty="0">
                <a:sym typeface="+mn-lt"/>
              </a:rPr>
              <a:t>9.1</a:t>
            </a:r>
            <a:r>
              <a:rPr lang="zh-CN" altLang="en-US" dirty="0">
                <a:sym typeface="+mn-lt"/>
              </a:rPr>
              <a:t>继承与派生</a:t>
            </a:r>
            <a:endParaRPr lang="en-US" altLang="zh-CN" dirty="0">
              <a:sym typeface="+mn-lt"/>
            </a:endParaRPr>
          </a:p>
          <a:p>
            <a:endParaRPr lang="en-US" altLang="zh-CN" dirty="0">
              <a:sym typeface="+mn-lt"/>
            </a:endParaRPr>
          </a:p>
          <a:p>
            <a:endParaRPr lang="en-US" altLang="zh-CN" dirty="0">
              <a:sym typeface="+mn-lt"/>
            </a:endParaRPr>
          </a:p>
          <a:p>
            <a:endParaRPr lang="en-US" altLang="zh-CN" dirty="0">
              <a:sym typeface="+mn-lt"/>
            </a:endParaRPr>
          </a:p>
          <a:p>
            <a:endParaRPr lang="en-US" altLang="zh-CN" dirty="0">
              <a:sym typeface="+mn-lt"/>
            </a:endParaRPr>
          </a:p>
          <a:p>
            <a:endParaRPr lang="en-US" altLang="zh-CN" dirty="0">
              <a:sym typeface="+mn-lt"/>
            </a:endParaRPr>
          </a:p>
          <a:p>
            <a:endParaRPr lang="en-US" altLang="zh-CN" dirty="0">
              <a:sym typeface="+mn-lt"/>
            </a:endParaRPr>
          </a:p>
          <a:p>
            <a:endParaRPr lang="zh-CN" altLang="en-US" dirty="0">
              <a:sym typeface="+mn-lt"/>
            </a:endParaRPr>
          </a:p>
        </p:txBody>
      </p:sp>
    </p:spTree>
    <p:extLst>
      <p:ext uri="{BB962C8B-B14F-4D97-AF65-F5344CB8AC3E}">
        <p14:creationId xmlns:p14="http://schemas.microsoft.com/office/powerpoint/2010/main" val="4161819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0" name="Rectangle 4">
            <a:extLst>
              <a:ext uri="{FF2B5EF4-FFF2-40B4-BE49-F238E27FC236}">
                <a16:creationId xmlns:a16="http://schemas.microsoft.com/office/drawing/2014/main" id="{02566135-06A3-43BF-94C5-3D85922AB60D}"/>
              </a:ext>
            </a:extLst>
          </p:cNvPr>
          <p:cNvSpPr>
            <a:spLocks noChangeArrowheads="1"/>
          </p:cNvSpPr>
          <p:nvPr/>
        </p:nvSpPr>
        <p:spPr bwMode="auto">
          <a:xfrm>
            <a:off x="130950" y="3889845"/>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D</a:t>
            </a:r>
          </a:p>
        </p:txBody>
      </p:sp>
      <p:sp>
        <p:nvSpPr>
          <p:cNvPr id="11" name="Rectangle 5">
            <a:extLst>
              <a:ext uri="{FF2B5EF4-FFF2-40B4-BE49-F238E27FC236}">
                <a16:creationId xmlns:a16="http://schemas.microsoft.com/office/drawing/2014/main" id="{7CD22BA2-DC0E-44B0-AC95-04AB21FD6884}"/>
              </a:ext>
            </a:extLst>
          </p:cNvPr>
          <p:cNvSpPr>
            <a:spLocks noChangeArrowheads="1"/>
          </p:cNvSpPr>
          <p:nvPr/>
        </p:nvSpPr>
        <p:spPr bwMode="auto">
          <a:xfrm>
            <a:off x="851675" y="1802282"/>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A</a:t>
            </a:r>
          </a:p>
        </p:txBody>
      </p:sp>
      <p:sp>
        <p:nvSpPr>
          <p:cNvPr id="12" name="Rectangle 6">
            <a:extLst>
              <a:ext uri="{FF2B5EF4-FFF2-40B4-BE49-F238E27FC236}">
                <a16:creationId xmlns:a16="http://schemas.microsoft.com/office/drawing/2014/main" id="{541BAB74-7297-4679-8C1C-0E55DC027B59}"/>
              </a:ext>
            </a:extLst>
          </p:cNvPr>
          <p:cNvSpPr>
            <a:spLocks noChangeArrowheads="1"/>
          </p:cNvSpPr>
          <p:nvPr/>
        </p:nvSpPr>
        <p:spPr bwMode="auto">
          <a:xfrm>
            <a:off x="130950" y="2881782"/>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B</a:t>
            </a:r>
          </a:p>
        </p:txBody>
      </p:sp>
      <p:sp>
        <p:nvSpPr>
          <p:cNvPr id="15" name="Rectangle 7">
            <a:extLst>
              <a:ext uri="{FF2B5EF4-FFF2-40B4-BE49-F238E27FC236}">
                <a16:creationId xmlns:a16="http://schemas.microsoft.com/office/drawing/2014/main" id="{2E07156A-FEC5-4D26-AB70-BAE289A3FBBD}"/>
              </a:ext>
            </a:extLst>
          </p:cNvPr>
          <p:cNvSpPr>
            <a:spLocks noChangeArrowheads="1"/>
          </p:cNvSpPr>
          <p:nvPr/>
        </p:nvSpPr>
        <p:spPr bwMode="auto">
          <a:xfrm>
            <a:off x="1570813" y="2881782"/>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C</a:t>
            </a:r>
          </a:p>
        </p:txBody>
      </p:sp>
      <p:sp>
        <p:nvSpPr>
          <p:cNvPr id="17" name="AutoShape 8">
            <a:extLst>
              <a:ext uri="{FF2B5EF4-FFF2-40B4-BE49-F238E27FC236}">
                <a16:creationId xmlns:a16="http://schemas.microsoft.com/office/drawing/2014/main" id="{74DF38DE-539D-4AB6-86D2-18F37A18F195}"/>
              </a:ext>
            </a:extLst>
          </p:cNvPr>
          <p:cNvSpPr>
            <a:spLocks noChangeArrowheads="1"/>
          </p:cNvSpPr>
          <p:nvPr/>
        </p:nvSpPr>
        <p:spPr bwMode="auto">
          <a:xfrm>
            <a:off x="1283475" y="2232495"/>
            <a:ext cx="287338" cy="217487"/>
          </a:xfrm>
          <a:prstGeom prst="triangle">
            <a:avLst>
              <a:gd name="adj" fmla="val 50000"/>
            </a:avLst>
          </a:prstGeom>
          <a:noFill/>
          <a:ln w="28575">
            <a:solidFill>
              <a:srgbClr val="FF3300"/>
            </a:solidFill>
            <a:miter lim="800000"/>
            <a:headEnd/>
            <a:tailEnd/>
          </a:ln>
        </p:spPr>
        <p:txBody>
          <a:bodyPr wrap="none" anchor="ctr"/>
          <a:lstStyle>
            <a:lvl1pPr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eaLnBrk="1" hangingPunct="1">
              <a:defRPr/>
            </a:pPr>
            <a:endParaRPr lang="zh-CN" altLang="en-US" sz="2400" b="0">
              <a:solidFill>
                <a:srgbClr val="104E87"/>
              </a:solidFill>
              <a:latin typeface="华光行书_CNKI" panose="02000500000000000000" pitchFamily="2" charset="-122"/>
              <a:ea typeface="华光行书_CNKI" panose="02000500000000000000" pitchFamily="2" charset="-122"/>
            </a:endParaRPr>
          </a:p>
        </p:txBody>
      </p:sp>
      <p:sp>
        <p:nvSpPr>
          <p:cNvPr id="21" name="Line 9">
            <a:extLst>
              <a:ext uri="{FF2B5EF4-FFF2-40B4-BE49-F238E27FC236}">
                <a16:creationId xmlns:a16="http://schemas.microsoft.com/office/drawing/2014/main" id="{B9EEFE20-317E-4443-A89B-85C5359FD704}"/>
              </a:ext>
            </a:extLst>
          </p:cNvPr>
          <p:cNvSpPr>
            <a:spLocks noChangeShapeType="1"/>
          </p:cNvSpPr>
          <p:nvPr/>
        </p:nvSpPr>
        <p:spPr bwMode="auto">
          <a:xfrm>
            <a:off x="1427938" y="2449982"/>
            <a:ext cx="0" cy="14287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22" name="Line 10">
            <a:extLst>
              <a:ext uri="{FF2B5EF4-FFF2-40B4-BE49-F238E27FC236}">
                <a16:creationId xmlns:a16="http://schemas.microsoft.com/office/drawing/2014/main" id="{3824EB8E-F941-4ECA-A84B-D6B59FBB75D6}"/>
              </a:ext>
            </a:extLst>
          </p:cNvPr>
          <p:cNvSpPr>
            <a:spLocks noChangeShapeType="1"/>
          </p:cNvSpPr>
          <p:nvPr/>
        </p:nvSpPr>
        <p:spPr bwMode="auto">
          <a:xfrm flipV="1">
            <a:off x="707213" y="2594445"/>
            <a:ext cx="1439862" cy="0"/>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23" name="Line 11">
            <a:extLst>
              <a:ext uri="{FF2B5EF4-FFF2-40B4-BE49-F238E27FC236}">
                <a16:creationId xmlns:a16="http://schemas.microsoft.com/office/drawing/2014/main" id="{3B5770CD-064B-4384-9D05-6B6C4F8DFA18}"/>
              </a:ext>
            </a:extLst>
          </p:cNvPr>
          <p:cNvSpPr>
            <a:spLocks noChangeShapeType="1"/>
          </p:cNvSpPr>
          <p:nvPr/>
        </p:nvSpPr>
        <p:spPr bwMode="auto">
          <a:xfrm>
            <a:off x="2147075" y="2594445"/>
            <a:ext cx="0" cy="28892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24" name="AutoShape 12">
            <a:extLst>
              <a:ext uri="{FF2B5EF4-FFF2-40B4-BE49-F238E27FC236}">
                <a16:creationId xmlns:a16="http://schemas.microsoft.com/office/drawing/2014/main" id="{6B0CD19C-D950-4FB2-A842-B7DFB325E93C}"/>
              </a:ext>
            </a:extLst>
          </p:cNvPr>
          <p:cNvSpPr>
            <a:spLocks noChangeArrowheads="1"/>
          </p:cNvSpPr>
          <p:nvPr/>
        </p:nvSpPr>
        <p:spPr bwMode="auto">
          <a:xfrm>
            <a:off x="562750" y="3386607"/>
            <a:ext cx="287338" cy="217488"/>
          </a:xfrm>
          <a:prstGeom prst="triangle">
            <a:avLst>
              <a:gd name="adj" fmla="val 50000"/>
            </a:avLst>
          </a:prstGeom>
          <a:noFill/>
          <a:ln w="28575">
            <a:solidFill>
              <a:srgbClr val="FF3300"/>
            </a:solidFill>
            <a:miter lim="800000"/>
            <a:headEnd/>
            <a:tailEnd/>
          </a:ln>
        </p:spPr>
        <p:txBody>
          <a:bodyPr wrap="none" anchor="ctr"/>
          <a:lstStyle>
            <a:lvl1pPr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eaLnBrk="1" hangingPunct="1">
              <a:defRPr/>
            </a:pPr>
            <a:endParaRPr lang="zh-CN" altLang="en-US" sz="2400" b="0">
              <a:solidFill>
                <a:srgbClr val="104E87"/>
              </a:solidFill>
              <a:latin typeface="华光行书_CNKI" panose="02000500000000000000" pitchFamily="2" charset="-122"/>
              <a:ea typeface="华光行书_CNKI" panose="02000500000000000000" pitchFamily="2" charset="-122"/>
            </a:endParaRPr>
          </a:p>
        </p:txBody>
      </p:sp>
      <p:sp>
        <p:nvSpPr>
          <p:cNvPr id="25" name="Line 13">
            <a:extLst>
              <a:ext uri="{FF2B5EF4-FFF2-40B4-BE49-F238E27FC236}">
                <a16:creationId xmlns:a16="http://schemas.microsoft.com/office/drawing/2014/main" id="{03F8BC5F-D825-4FEE-8C47-251F7C0D0844}"/>
              </a:ext>
            </a:extLst>
          </p:cNvPr>
          <p:cNvSpPr>
            <a:spLocks noChangeShapeType="1"/>
          </p:cNvSpPr>
          <p:nvPr/>
        </p:nvSpPr>
        <p:spPr bwMode="auto">
          <a:xfrm>
            <a:off x="707213" y="3604095"/>
            <a:ext cx="0" cy="285750"/>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26" name="Line 14">
            <a:extLst>
              <a:ext uri="{FF2B5EF4-FFF2-40B4-BE49-F238E27FC236}">
                <a16:creationId xmlns:a16="http://schemas.microsoft.com/office/drawing/2014/main" id="{9C70C24D-5759-4A5E-B120-F3617AF5E98D}"/>
              </a:ext>
            </a:extLst>
          </p:cNvPr>
          <p:cNvSpPr>
            <a:spLocks noChangeShapeType="1"/>
          </p:cNvSpPr>
          <p:nvPr/>
        </p:nvSpPr>
        <p:spPr bwMode="auto">
          <a:xfrm>
            <a:off x="707213" y="2594445"/>
            <a:ext cx="0" cy="28892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27" name="Rectangle 15">
            <a:extLst>
              <a:ext uri="{FF2B5EF4-FFF2-40B4-BE49-F238E27FC236}">
                <a16:creationId xmlns:a16="http://schemas.microsoft.com/office/drawing/2014/main" id="{F8B24A9A-74E6-40E6-BCB8-8FDDBD7C95D6}"/>
              </a:ext>
            </a:extLst>
          </p:cNvPr>
          <p:cNvSpPr>
            <a:spLocks noChangeArrowheads="1"/>
          </p:cNvSpPr>
          <p:nvPr/>
        </p:nvSpPr>
        <p:spPr bwMode="auto">
          <a:xfrm>
            <a:off x="2901489" y="974245"/>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A</a:t>
            </a:r>
          </a:p>
        </p:txBody>
      </p:sp>
      <p:sp>
        <p:nvSpPr>
          <p:cNvPr id="28" name="AutoShape 16">
            <a:extLst>
              <a:ext uri="{FF2B5EF4-FFF2-40B4-BE49-F238E27FC236}">
                <a16:creationId xmlns:a16="http://schemas.microsoft.com/office/drawing/2014/main" id="{2582EC11-8BB6-405B-8C5B-157686444B98}"/>
              </a:ext>
            </a:extLst>
          </p:cNvPr>
          <p:cNvSpPr>
            <a:spLocks noChangeArrowheads="1"/>
          </p:cNvSpPr>
          <p:nvPr/>
        </p:nvSpPr>
        <p:spPr bwMode="auto">
          <a:xfrm>
            <a:off x="3333289" y="1404458"/>
            <a:ext cx="287338" cy="217487"/>
          </a:xfrm>
          <a:prstGeom prst="triangle">
            <a:avLst>
              <a:gd name="adj" fmla="val 50000"/>
            </a:avLst>
          </a:prstGeom>
          <a:noFill/>
          <a:ln w="28575">
            <a:solidFill>
              <a:srgbClr val="FF3300"/>
            </a:solidFill>
            <a:miter lim="800000"/>
            <a:headEnd/>
            <a:tailEnd/>
          </a:ln>
        </p:spPr>
        <p:txBody>
          <a:bodyPr wrap="none" anchor="ctr"/>
          <a:lstStyle>
            <a:lvl1pPr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eaLnBrk="1" hangingPunct="1">
              <a:defRPr/>
            </a:pPr>
            <a:endParaRPr lang="zh-CN" altLang="en-US" sz="2400" b="0">
              <a:solidFill>
                <a:srgbClr val="104E87"/>
              </a:solidFill>
              <a:latin typeface="华光行书_CNKI" panose="02000500000000000000" pitchFamily="2" charset="-122"/>
              <a:ea typeface="华光行书_CNKI" panose="02000500000000000000" pitchFamily="2" charset="-122"/>
            </a:endParaRPr>
          </a:p>
        </p:txBody>
      </p:sp>
      <p:sp>
        <p:nvSpPr>
          <p:cNvPr id="29" name="Line 17">
            <a:extLst>
              <a:ext uri="{FF2B5EF4-FFF2-40B4-BE49-F238E27FC236}">
                <a16:creationId xmlns:a16="http://schemas.microsoft.com/office/drawing/2014/main" id="{9D15CE76-DCE5-44B5-8AB9-480CB739A2F9}"/>
              </a:ext>
            </a:extLst>
          </p:cNvPr>
          <p:cNvSpPr>
            <a:spLocks noChangeShapeType="1"/>
          </p:cNvSpPr>
          <p:nvPr/>
        </p:nvSpPr>
        <p:spPr bwMode="auto">
          <a:xfrm>
            <a:off x="3477752" y="1621945"/>
            <a:ext cx="0" cy="14287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30" name="Rectangle 18">
            <a:extLst>
              <a:ext uri="{FF2B5EF4-FFF2-40B4-BE49-F238E27FC236}">
                <a16:creationId xmlns:a16="http://schemas.microsoft.com/office/drawing/2014/main" id="{1885F66E-94C9-4EF7-A12B-8D40DFE8B76C}"/>
              </a:ext>
            </a:extLst>
          </p:cNvPr>
          <p:cNvSpPr>
            <a:spLocks noChangeArrowheads="1"/>
          </p:cNvSpPr>
          <p:nvPr/>
        </p:nvSpPr>
        <p:spPr bwMode="auto">
          <a:xfrm>
            <a:off x="4341352" y="974245"/>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B</a:t>
            </a:r>
          </a:p>
        </p:txBody>
      </p:sp>
      <p:sp>
        <p:nvSpPr>
          <p:cNvPr id="31" name="AutoShape 19">
            <a:extLst>
              <a:ext uri="{FF2B5EF4-FFF2-40B4-BE49-F238E27FC236}">
                <a16:creationId xmlns:a16="http://schemas.microsoft.com/office/drawing/2014/main" id="{7F90F06F-1C2E-4A1C-9F01-E9A73F9FBED1}"/>
              </a:ext>
            </a:extLst>
          </p:cNvPr>
          <p:cNvSpPr>
            <a:spLocks noChangeArrowheads="1"/>
          </p:cNvSpPr>
          <p:nvPr/>
        </p:nvSpPr>
        <p:spPr bwMode="auto">
          <a:xfrm>
            <a:off x="4773152" y="1404458"/>
            <a:ext cx="287337" cy="217487"/>
          </a:xfrm>
          <a:prstGeom prst="triangle">
            <a:avLst>
              <a:gd name="adj" fmla="val 50000"/>
            </a:avLst>
          </a:prstGeom>
          <a:noFill/>
          <a:ln w="28575">
            <a:solidFill>
              <a:srgbClr val="FF3300"/>
            </a:solidFill>
            <a:miter lim="800000"/>
            <a:headEnd/>
            <a:tailEnd/>
          </a:ln>
        </p:spPr>
        <p:txBody>
          <a:bodyPr wrap="none" anchor="ctr"/>
          <a:lstStyle>
            <a:lvl1pPr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eaLnBrk="1" hangingPunct="1">
              <a:defRPr/>
            </a:pPr>
            <a:endParaRPr lang="zh-CN" altLang="en-US" sz="2400" b="0">
              <a:solidFill>
                <a:srgbClr val="104E87"/>
              </a:solidFill>
              <a:latin typeface="华光行书_CNKI" panose="02000500000000000000" pitchFamily="2" charset="-122"/>
              <a:ea typeface="华光行书_CNKI" panose="02000500000000000000" pitchFamily="2" charset="-122"/>
            </a:endParaRPr>
          </a:p>
        </p:txBody>
      </p:sp>
      <p:sp>
        <p:nvSpPr>
          <p:cNvPr id="32" name="Line 20">
            <a:extLst>
              <a:ext uri="{FF2B5EF4-FFF2-40B4-BE49-F238E27FC236}">
                <a16:creationId xmlns:a16="http://schemas.microsoft.com/office/drawing/2014/main" id="{08BFDBB7-C387-42AF-90C6-6118750D19E5}"/>
              </a:ext>
            </a:extLst>
          </p:cNvPr>
          <p:cNvSpPr>
            <a:spLocks noChangeShapeType="1"/>
          </p:cNvSpPr>
          <p:nvPr/>
        </p:nvSpPr>
        <p:spPr bwMode="auto">
          <a:xfrm>
            <a:off x="4917614" y="1621945"/>
            <a:ext cx="0" cy="14287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33" name="Line 21">
            <a:extLst>
              <a:ext uri="{FF2B5EF4-FFF2-40B4-BE49-F238E27FC236}">
                <a16:creationId xmlns:a16="http://schemas.microsoft.com/office/drawing/2014/main" id="{EE3A4852-787A-41B6-88CE-4A311420CE39}"/>
              </a:ext>
            </a:extLst>
          </p:cNvPr>
          <p:cNvSpPr>
            <a:spLocks noChangeShapeType="1"/>
          </p:cNvSpPr>
          <p:nvPr/>
        </p:nvSpPr>
        <p:spPr bwMode="auto">
          <a:xfrm flipV="1">
            <a:off x="3477752" y="1766408"/>
            <a:ext cx="1439862" cy="0"/>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34" name="Line 22">
            <a:extLst>
              <a:ext uri="{FF2B5EF4-FFF2-40B4-BE49-F238E27FC236}">
                <a16:creationId xmlns:a16="http://schemas.microsoft.com/office/drawing/2014/main" id="{4D5D805F-8F9A-4BCA-A011-8C4875855E81}"/>
              </a:ext>
            </a:extLst>
          </p:cNvPr>
          <p:cNvSpPr>
            <a:spLocks noChangeShapeType="1"/>
          </p:cNvSpPr>
          <p:nvPr/>
        </p:nvSpPr>
        <p:spPr bwMode="auto">
          <a:xfrm>
            <a:off x="4196889" y="1766408"/>
            <a:ext cx="0" cy="28892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35" name="Rectangle 23">
            <a:extLst>
              <a:ext uri="{FF2B5EF4-FFF2-40B4-BE49-F238E27FC236}">
                <a16:creationId xmlns:a16="http://schemas.microsoft.com/office/drawing/2014/main" id="{B69340FB-1135-4380-85A0-DEF9989633A9}"/>
              </a:ext>
            </a:extLst>
          </p:cNvPr>
          <p:cNvSpPr>
            <a:spLocks noChangeArrowheads="1"/>
          </p:cNvSpPr>
          <p:nvPr/>
        </p:nvSpPr>
        <p:spPr bwMode="auto">
          <a:xfrm>
            <a:off x="3620627" y="2053745"/>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C</a:t>
            </a:r>
          </a:p>
        </p:txBody>
      </p:sp>
      <p:sp>
        <p:nvSpPr>
          <p:cNvPr id="36" name="Rectangle 24">
            <a:extLst>
              <a:ext uri="{FF2B5EF4-FFF2-40B4-BE49-F238E27FC236}">
                <a16:creationId xmlns:a16="http://schemas.microsoft.com/office/drawing/2014/main" id="{86CFD7A4-2376-4EE5-9FDD-0F8CA25E7235}"/>
              </a:ext>
            </a:extLst>
          </p:cNvPr>
          <p:cNvSpPr>
            <a:spLocks noChangeArrowheads="1"/>
          </p:cNvSpPr>
          <p:nvPr/>
        </p:nvSpPr>
        <p:spPr bwMode="auto">
          <a:xfrm>
            <a:off x="3641476" y="3458045"/>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A</a:t>
            </a:r>
          </a:p>
        </p:txBody>
      </p:sp>
      <p:sp>
        <p:nvSpPr>
          <p:cNvPr id="37" name="Rectangle 25">
            <a:extLst>
              <a:ext uri="{FF2B5EF4-FFF2-40B4-BE49-F238E27FC236}">
                <a16:creationId xmlns:a16="http://schemas.microsoft.com/office/drawing/2014/main" id="{DCBD9DD0-DF85-4722-8AE7-31D6ECFA3BB3}"/>
              </a:ext>
            </a:extLst>
          </p:cNvPr>
          <p:cNvSpPr>
            <a:spLocks noChangeArrowheads="1"/>
          </p:cNvSpPr>
          <p:nvPr/>
        </p:nvSpPr>
        <p:spPr bwMode="auto">
          <a:xfrm>
            <a:off x="2920751" y="4537545"/>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B</a:t>
            </a:r>
          </a:p>
        </p:txBody>
      </p:sp>
      <p:sp>
        <p:nvSpPr>
          <p:cNvPr id="38" name="Rectangle 26">
            <a:extLst>
              <a:ext uri="{FF2B5EF4-FFF2-40B4-BE49-F238E27FC236}">
                <a16:creationId xmlns:a16="http://schemas.microsoft.com/office/drawing/2014/main" id="{C8E37492-9BDA-4D6E-9277-E209D0FC6113}"/>
              </a:ext>
            </a:extLst>
          </p:cNvPr>
          <p:cNvSpPr>
            <a:spLocks noChangeArrowheads="1"/>
          </p:cNvSpPr>
          <p:nvPr/>
        </p:nvSpPr>
        <p:spPr bwMode="auto">
          <a:xfrm>
            <a:off x="4360614" y="4537545"/>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C</a:t>
            </a:r>
          </a:p>
        </p:txBody>
      </p:sp>
      <p:sp>
        <p:nvSpPr>
          <p:cNvPr id="39" name="AutoShape 27">
            <a:extLst>
              <a:ext uri="{FF2B5EF4-FFF2-40B4-BE49-F238E27FC236}">
                <a16:creationId xmlns:a16="http://schemas.microsoft.com/office/drawing/2014/main" id="{4D33A556-FC08-4009-8999-DE94B35696A4}"/>
              </a:ext>
            </a:extLst>
          </p:cNvPr>
          <p:cNvSpPr>
            <a:spLocks noChangeArrowheads="1"/>
          </p:cNvSpPr>
          <p:nvPr/>
        </p:nvSpPr>
        <p:spPr bwMode="auto">
          <a:xfrm>
            <a:off x="4073276" y="3888258"/>
            <a:ext cx="287338" cy="217487"/>
          </a:xfrm>
          <a:prstGeom prst="triangle">
            <a:avLst>
              <a:gd name="adj" fmla="val 50000"/>
            </a:avLst>
          </a:prstGeom>
          <a:noFill/>
          <a:ln w="28575">
            <a:solidFill>
              <a:srgbClr val="FF3300"/>
            </a:solidFill>
            <a:miter lim="800000"/>
            <a:headEnd/>
            <a:tailEnd/>
          </a:ln>
        </p:spPr>
        <p:txBody>
          <a:bodyPr wrap="none" anchor="ctr"/>
          <a:lstStyle>
            <a:lvl1pPr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eaLnBrk="1" hangingPunct="1">
              <a:defRPr/>
            </a:pPr>
            <a:endParaRPr lang="zh-CN" altLang="en-US" sz="2400" b="0">
              <a:solidFill>
                <a:srgbClr val="104E87"/>
              </a:solidFill>
              <a:latin typeface="华光行书_CNKI" panose="02000500000000000000" pitchFamily="2" charset="-122"/>
              <a:ea typeface="华光行书_CNKI" panose="02000500000000000000" pitchFamily="2" charset="-122"/>
            </a:endParaRPr>
          </a:p>
        </p:txBody>
      </p:sp>
      <p:sp>
        <p:nvSpPr>
          <p:cNvPr id="40" name="Line 28">
            <a:extLst>
              <a:ext uri="{FF2B5EF4-FFF2-40B4-BE49-F238E27FC236}">
                <a16:creationId xmlns:a16="http://schemas.microsoft.com/office/drawing/2014/main" id="{4D608C32-8842-4F2E-8474-7932D8B32895}"/>
              </a:ext>
            </a:extLst>
          </p:cNvPr>
          <p:cNvSpPr>
            <a:spLocks noChangeShapeType="1"/>
          </p:cNvSpPr>
          <p:nvPr/>
        </p:nvSpPr>
        <p:spPr bwMode="auto">
          <a:xfrm>
            <a:off x="4217739" y="4105745"/>
            <a:ext cx="0" cy="14287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41" name="Line 29">
            <a:extLst>
              <a:ext uri="{FF2B5EF4-FFF2-40B4-BE49-F238E27FC236}">
                <a16:creationId xmlns:a16="http://schemas.microsoft.com/office/drawing/2014/main" id="{A46E6EAA-F979-4265-AFF0-B1FBAA6D35DC}"/>
              </a:ext>
            </a:extLst>
          </p:cNvPr>
          <p:cNvSpPr>
            <a:spLocks noChangeShapeType="1"/>
          </p:cNvSpPr>
          <p:nvPr/>
        </p:nvSpPr>
        <p:spPr bwMode="auto">
          <a:xfrm flipV="1">
            <a:off x="3497014" y="4250208"/>
            <a:ext cx="1439862" cy="0"/>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42" name="Line 30">
            <a:extLst>
              <a:ext uri="{FF2B5EF4-FFF2-40B4-BE49-F238E27FC236}">
                <a16:creationId xmlns:a16="http://schemas.microsoft.com/office/drawing/2014/main" id="{6EEDCCB3-033F-4B64-AA17-AB2FAF5FCAFA}"/>
              </a:ext>
            </a:extLst>
          </p:cNvPr>
          <p:cNvSpPr>
            <a:spLocks noChangeShapeType="1"/>
          </p:cNvSpPr>
          <p:nvPr/>
        </p:nvSpPr>
        <p:spPr bwMode="auto">
          <a:xfrm>
            <a:off x="4936876" y="4250208"/>
            <a:ext cx="0" cy="28892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43" name="Line 31">
            <a:extLst>
              <a:ext uri="{FF2B5EF4-FFF2-40B4-BE49-F238E27FC236}">
                <a16:creationId xmlns:a16="http://schemas.microsoft.com/office/drawing/2014/main" id="{D2146892-9CD6-4EF9-A56F-EFEAF25A344D}"/>
              </a:ext>
            </a:extLst>
          </p:cNvPr>
          <p:cNvSpPr>
            <a:spLocks noChangeShapeType="1"/>
          </p:cNvSpPr>
          <p:nvPr/>
        </p:nvSpPr>
        <p:spPr bwMode="auto">
          <a:xfrm>
            <a:off x="3497014" y="4250208"/>
            <a:ext cx="0" cy="28892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44" name="AutoShape 32">
            <a:extLst>
              <a:ext uri="{FF2B5EF4-FFF2-40B4-BE49-F238E27FC236}">
                <a16:creationId xmlns:a16="http://schemas.microsoft.com/office/drawing/2014/main" id="{21D0CA59-E18F-425A-A1CE-7D4DE1B7A832}"/>
              </a:ext>
            </a:extLst>
          </p:cNvPr>
          <p:cNvSpPr>
            <a:spLocks noChangeArrowheads="1"/>
          </p:cNvSpPr>
          <p:nvPr/>
        </p:nvSpPr>
        <p:spPr bwMode="auto">
          <a:xfrm>
            <a:off x="3354139" y="4969345"/>
            <a:ext cx="287337" cy="217488"/>
          </a:xfrm>
          <a:prstGeom prst="triangle">
            <a:avLst>
              <a:gd name="adj" fmla="val 50000"/>
            </a:avLst>
          </a:prstGeom>
          <a:noFill/>
          <a:ln w="28575">
            <a:solidFill>
              <a:srgbClr val="FF3300"/>
            </a:solidFill>
            <a:miter lim="800000"/>
            <a:headEnd/>
            <a:tailEnd/>
          </a:ln>
        </p:spPr>
        <p:txBody>
          <a:bodyPr wrap="none" anchor="ctr"/>
          <a:lstStyle>
            <a:lvl1pPr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eaLnBrk="1" hangingPunct="1">
              <a:defRPr/>
            </a:pPr>
            <a:endParaRPr lang="zh-CN" altLang="en-US" sz="2400" b="0">
              <a:solidFill>
                <a:srgbClr val="104E87"/>
              </a:solidFill>
              <a:latin typeface="华光行书_CNKI" panose="02000500000000000000" pitchFamily="2" charset="-122"/>
              <a:ea typeface="华光行书_CNKI" panose="02000500000000000000" pitchFamily="2" charset="-122"/>
            </a:endParaRPr>
          </a:p>
        </p:txBody>
      </p:sp>
      <p:sp>
        <p:nvSpPr>
          <p:cNvPr id="45" name="AutoShape 33">
            <a:extLst>
              <a:ext uri="{FF2B5EF4-FFF2-40B4-BE49-F238E27FC236}">
                <a16:creationId xmlns:a16="http://schemas.microsoft.com/office/drawing/2014/main" id="{860D67A4-AA48-444F-9783-2CFE37C44560}"/>
              </a:ext>
            </a:extLst>
          </p:cNvPr>
          <p:cNvSpPr>
            <a:spLocks noChangeArrowheads="1"/>
          </p:cNvSpPr>
          <p:nvPr/>
        </p:nvSpPr>
        <p:spPr bwMode="auto">
          <a:xfrm>
            <a:off x="4794001" y="4969345"/>
            <a:ext cx="287338" cy="217488"/>
          </a:xfrm>
          <a:prstGeom prst="triangle">
            <a:avLst>
              <a:gd name="adj" fmla="val 50000"/>
            </a:avLst>
          </a:prstGeom>
          <a:noFill/>
          <a:ln w="28575">
            <a:solidFill>
              <a:srgbClr val="FF3300"/>
            </a:solidFill>
            <a:miter lim="800000"/>
            <a:headEnd/>
            <a:tailEnd/>
          </a:ln>
        </p:spPr>
        <p:txBody>
          <a:bodyPr wrap="none" anchor="ctr"/>
          <a:lstStyle>
            <a:lvl1pPr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eaLnBrk="1" hangingPunct="1">
              <a:defRPr/>
            </a:pPr>
            <a:endParaRPr lang="zh-CN" altLang="en-US" sz="2400" b="0">
              <a:solidFill>
                <a:srgbClr val="104E87"/>
              </a:solidFill>
              <a:latin typeface="华光行书_CNKI" panose="02000500000000000000" pitchFamily="2" charset="-122"/>
              <a:ea typeface="华光行书_CNKI" panose="02000500000000000000" pitchFamily="2" charset="-122"/>
            </a:endParaRPr>
          </a:p>
        </p:txBody>
      </p:sp>
      <p:sp>
        <p:nvSpPr>
          <p:cNvPr id="46" name="Line 34">
            <a:extLst>
              <a:ext uri="{FF2B5EF4-FFF2-40B4-BE49-F238E27FC236}">
                <a16:creationId xmlns:a16="http://schemas.microsoft.com/office/drawing/2014/main" id="{1FD2120F-2807-42E1-A339-4244CCE52B77}"/>
              </a:ext>
            </a:extLst>
          </p:cNvPr>
          <p:cNvSpPr>
            <a:spLocks noChangeShapeType="1"/>
          </p:cNvSpPr>
          <p:nvPr/>
        </p:nvSpPr>
        <p:spPr bwMode="auto">
          <a:xfrm flipV="1">
            <a:off x="3498601" y="5331295"/>
            <a:ext cx="1439863" cy="0"/>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47" name="Line 35">
            <a:extLst>
              <a:ext uri="{FF2B5EF4-FFF2-40B4-BE49-F238E27FC236}">
                <a16:creationId xmlns:a16="http://schemas.microsoft.com/office/drawing/2014/main" id="{B34A24E8-E26F-4DFD-8716-015746CB8163}"/>
              </a:ext>
            </a:extLst>
          </p:cNvPr>
          <p:cNvSpPr>
            <a:spLocks noChangeShapeType="1"/>
          </p:cNvSpPr>
          <p:nvPr/>
        </p:nvSpPr>
        <p:spPr bwMode="auto">
          <a:xfrm>
            <a:off x="4217739" y="5331295"/>
            <a:ext cx="0" cy="28892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48" name="Rectangle 36">
            <a:extLst>
              <a:ext uri="{FF2B5EF4-FFF2-40B4-BE49-F238E27FC236}">
                <a16:creationId xmlns:a16="http://schemas.microsoft.com/office/drawing/2014/main" id="{F1410124-6891-41B8-AFE1-0295C85E71B3}"/>
              </a:ext>
            </a:extLst>
          </p:cNvPr>
          <p:cNvSpPr>
            <a:spLocks noChangeArrowheads="1"/>
          </p:cNvSpPr>
          <p:nvPr/>
        </p:nvSpPr>
        <p:spPr bwMode="auto">
          <a:xfrm>
            <a:off x="3641476" y="5618633"/>
            <a:ext cx="1152525" cy="431800"/>
          </a:xfrm>
          <a:prstGeom prst="rect">
            <a:avLst/>
          </a:prstGeom>
          <a:noFill/>
          <a:ln w="28575">
            <a:solidFill>
              <a:srgbClr val="FF3300"/>
            </a:solidFill>
            <a:miter lim="800000"/>
            <a:headEnd/>
            <a:tailEnd/>
          </a:ln>
        </p:spPr>
        <p:txBody>
          <a:bodyPr wrap="none" lIns="0" tIns="0" rIns="0" bIns="0" anchor="ct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20000"/>
              </a:spcBef>
              <a:buClr>
                <a:schemeClr val="folHlink"/>
              </a:buClr>
              <a:buSzPct val="60000"/>
              <a:buFont typeface="Wingdings" pitchFamily="2" charset="2"/>
              <a:buNone/>
              <a:defRPr/>
            </a:pPr>
            <a:r>
              <a:rPr kumimoji="1" lang="en-US" altLang="zh-CN" sz="2400" b="0">
                <a:solidFill>
                  <a:srgbClr val="104E87"/>
                </a:solidFill>
                <a:latin typeface="华光行书_CNKI" panose="02000500000000000000" pitchFamily="2" charset="-122"/>
                <a:ea typeface="华光行书_CNKI" panose="02000500000000000000" pitchFamily="2" charset="-122"/>
              </a:rPr>
              <a:t>D</a:t>
            </a:r>
          </a:p>
        </p:txBody>
      </p:sp>
      <p:sp>
        <p:nvSpPr>
          <p:cNvPr id="49" name="Text Box 37">
            <a:extLst>
              <a:ext uri="{FF2B5EF4-FFF2-40B4-BE49-F238E27FC236}">
                <a16:creationId xmlns:a16="http://schemas.microsoft.com/office/drawing/2014/main" id="{C72336E2-4DFE-4B6A-8832-D98A2FF7BEC5}"/>
              </a:ext>
            </a:extLst>
          </p:cNvPr>
          <p:cNvSpPr txBox="1">
            <a:spLocks noChangeArrowheads="1"/>
          </p:cNvSpPr>
          <p:nvPr/>
        </p:nvSpPr>
        <p:spPr bwMode="auto">
          <a:xfrm>
            <a:off x="562750" y="4559770"/>
            <a:ext cx="1728788" cy="341632"/>
          </a:xfrm>
          <a:prstGeom prst="rect">
            <a:avLst/>
          </a:prstGeom>
          <a:noFill/>
          <a:ln>
            <a:noFill/>
          </a:ln>
        </p:spPr>
        <p:txBody>
          <a:bodyPr lIns="0" tIns="0" rIns="0" bIns="0">
            <a:spAutoFit/>
          </a:bodyP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50000"/>
              </a:spcBef>
              <a:buClr>
                <a:schemeClr val="folHlink"/>
              </a:buClr>
              <a:buSzPct val="60000"/>
              <a:buFont typeface="Wingdings" pitchFamily="2" charset="2"/>
              <a:buNone/>
              <a:defRPr/>
            </a:pPr>
            <a:r>
              <a:rPr kumimoji="1" lang="zh-CN" altLang="en-US" sz="2400" b="0" dirty="0">
                <a:solidFill>
                  <a:srgbClr val="104E87"/>
                </a:solidFill>
                <a:latin typeface="华光行书_CNKI" panose="02000500000000000000" pitchFamily="2" charset="-122"/>
                <a:ea typeface="华光行书_CNKI" panose="02000500000000000000" pitchFamily="2" charset="-122"/>
              </a:rPr>
              <a:t>单重继承</a:t>
            </a:r>
          </a:p>
        </p:txBody>
      </p:sp>
      <p:sp>
        <p:nvSpPr>
          <p:cNvPr id="50" name="Text Box 38">
            <a:extLst>
              <a:ext uri="{FF2B5EF4-FFF2-40B4-BE49-F238E27FC236}">
                <a16:creationId xmlns:a16="http://schemas.microsoft.com/office/drawing/2014/main" id="{711FCE2D-44D1-45AB-BD8F-62757CB36E06}"/>
              </a:ext>
            </a:extLst>
          </p:cNvPr>
          <p:cNvSpPr txBox="1">
            <a:spLocks noChangeArrowheads="1"/>
          </p:cNvSpPr>
          <p:nvPr/>
        </p:nvSpPr>
        <p:spPr bwMode="auto">
          <a:xfrm>
            <a:off x="3295189" y="2678120"/>
            <a:ext cx="1728788" cy="341632"/>
          </a:xfrm>
          <a:prstGeom prst="rect">
            <a:avLst/>
          </a:prstGeom>
          <a:noFill/>
          <a:ln>
            <a:noFill/>
          </a:ln>
        </p:spPr>
        <p:txBody>
          <a:bodyPr lIns="0" tIns="0" rIns="0" bIns="0">
            <a:spAutoFit/>
          </a:bodyP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50000"/>
              </a:spcBef>
              <a:buClr>
                <a:schemeClr val="folHlink"/>
              </a:buClr>
              <a:buSzPct val="60000"/>
              <a:buFont typeface="Wingdings" pitchFamily="2" charset="2"/>
              <a:buNone/>
              <a:defRPr/>
            </a:pPr>
            <a:r>
              <a:rPr kumimoji="1" lang="zh-CN" altLang="en-US" sz="2400" b="0" dirty="0">
                <a:solidFill>
                  <a:srgbClr val="104E87"/>
                </a:solidFill>
                <a:latin typeface="华光行书_CNKI" panose="02000500000000000000" pitchFamily="2" charset="-122"/>
                <a:ea typeface="华光行书_CNKI" panose="02000500000000000000" pitchFamily="2" charset="-122"/>
              </a:rPr>
              <a:t>多重继承</a:t>
            </a:r>
          </a:p>
        </p:txBody>
      </p:sp>
      <p:sp>
        <p:nvSpPr>
          <p:cNvPr id="51" name="Text Box 39">
            <a:extLst>
              <a:ext uri="{FF2B5EF4-FFF2-40B4-BE49-F238E27FC236}">
                <a16:creationId xmlns:a16="http://schemas.microsoft.com/office/drawing/2014/main" id="{3D386A05-B29C-4616-8495-740AF79C2EFD}"/>
              </a:ext>
            </a:extLst>
          </p:cNvPr>
          <p:cNvSpPr txBox="1">
            <a:spLocks noChangeArrowheads="1"/>
          </p:cNvSpPr>
          <p:nvPr/>
        </p:nvSpPr>
        <p:spPr bwMode="auto">
          <a:xfrm>
            <a:off x="3331701" y="6243006"/>
            <a:ext cx="1728788" cy="341632"/>
          </a:xfrm>
          <a:prstGeom prst="rect">
            <a:avLst/>
          </a:prstGeom>
          <a:noFill/>
          <a:ln>
            <a:noFill/>
          </a:ln>
        </p:spPr>
        <p:txBody>
          <a:bodyPr lIns="0" tIns="0" rIns="0" bIns="0">
            <a:spAutoFit/>
          </a:bodyP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50000"/>
              </a:spcBef>
              <a:buClr>
                <a:schemeClr val="folHlink"/>
              </a:buClr>
              <a:buSzPct val="60000"/>
              <a:buFont typeface="Wingdings" pitchFamily="2" charset="2"/>
              <a:buNone/>
              <a:defRPr/>
            </a:pPr>
            <a:r>
              <a:rPr kumimoji="1" lang="zh-CN" altLang="en-US" sz="2400" b="0" dirty="0">
                <a:solidFill>
                  <a:srgbClr val="104E87"/>
                </a:solidFill>
                <a:latin typeface="华光行书_CNKI" panose="02000500000000000000" pitchFamily="2" charset="-122"/>
                <a:ea typeface="华光行书_CNKI" panose="02000500000000000000" pitchFamily="2" charset="-122"/>
              </a:rPr>
              <a:t>重复继承</a:t>
            </a:r>
          </a:p>
        </p:txBody>
      </p:sp>
      <p:sp>
        <p:nvSpPr>
          <p:cNvPr id="52" name="Line 40">
            <a:extLst>
              <a:ext uri="{FF2B5EF4-FFF2-40B4-BE49-F238E27FC236}">
                <a16:creationId xmlns:a16="http://schemas.microsoft.com/office/drawing/2014/main" id="{B3CDE0B7-7996-4A61-9A75-4F626BBFD31B}"/>
              </a:ext>
            </a:extLst>
          </p:cNvPr>
          <p:cNvSpPr>
            <a:spLocks noChangeShapeType="1"/>
          </p:cNvSpPr>
          <p:nvPr/>
        </p:nvSpPr>
        <p:spPr bwMode="auto">
          <a:xfrm>
            <a:off x="3497014" y="5185245"/>
            <a:ext cx="0" cy="14287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53" name="Line 41">
            <a:extLst>
              <a:ext uri="{FF2B5EF4-FFF2-40B4-BE49-F238E27FC236}">
                <a16:creationId xmlns:a16="http://schemas.microsoft.com/office/drawing/2014/main" id="{46A75E98-F433-454E-AEBD-62AEAE716E4E}"/>
              </a:ext>
            </a:extLst>
          </p:cNvPr>
          <p:cNvSpPr>
            <a:spLocks noChangeShapeType="1"/>
          </p:cNvSpPr>
          <p:nvPr/>
        </p:nvSpPr>
        <p:spPr bwMode="auto">
          <a:xfrm>
            <a:off x="4936876" y="5185245"/>
            <a:ext cx="0" cy="142875"/>
          </a:xfrm>
          <a:prstGeom prst="line">
            <a:avLst/>
          </a:prstGeom>
          <a:noFill/>
          <a:ln w="28575">
            <a:solidFill>
              <a:srgbClr val="FF3300"/>
            </a:solidFill>
            <a:round/>
            <a:headEnd/>
            <a:tailEnd/>
          </a:ln>
        </p:spPr>
        <p:txBody>
          <a:bodyPr/>
          <a:lstStyle/>
          <a:p>
            <a:pPr eaLnBrk="1" hangingPunct="1">
              <a:defRPr/>
            </a:pPr>
            <a:endParaRPr lang="zh-CN" altLang="en-US">
              <a:solidFill>
                <a:srgbClr val="104E87"/>
              </a:solidFill>
              <a:latin typeface="华光行书_CNKI" panose="02000500000000000000" pitchFamily="2" charset="-122"/>
              <a:ea typeface="华光行书_CNKI" panose="02000500000000000000" pitchFamily="2" charset="-122"/>
            </a:endParaRPr>
          </a:p>
        </p:txBody>
      </p:sp>
      <p:sp>
        <p:nvSpPr>
          <p:cNvPr id="54" name="Text Box 39">
            <a:extLst>
              <a:ext uri="{FF2B5EF4-FFF2-40B4-BE49-F238E27FC236}">
                <a16:creationId xmlns:a16="http://schemas.microsoft.com/office/drawing/2014/main" id="{42C794BD-E33E-464F-967B-FCAA1B57E502}"/>
              </a:ext>
            </a:extLst>
          </p:cNvPr>
          <p:cNvSpPr txBox="1">
            <a:spLocks noChangeArrowheads="1"/>
          </p:cNvSpPr>
          <p:nvPr/>
        </p:nvSpPr>
        <p:spPr bwMode="auto">
          <a:xfrm>
            <a:off x="-235482" y="1040285"/>
            <a:ext cx="2735262" cy="341632"/>
          </a:xfrm>
          <a:prstGeom prst="rect">
            <a:avLst/>
          </a:prstGeom>
          <a:noFill/>
          <a:ln>
            <a:noFill/>
          </a:ln>
        </p:spPr>
        <p:txBody>
          <a:bodyPr lIns="0" tIns="0" rIns="0" bIns="0">
            <a:spAutoFit/>
          </a:bodyPr>
          <a:lstStyle>
            <a:lvl1pPr marL="342900" indent="-342900"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algn="ctr" eaLnBrk="1" hangingPunct="1">
              <a:lnSpc>
                <a:spcPct val="90000"/>
              </a:lnSpc>
              <a:spcBef>
                <a:spcPct val="50000"/>
              </a:spcBef>
              <a:buClr>
                <a:schemeClr val="folHlink"/>
              </a:buClr>
              <a:buSzPct val="60000"/>
              <a:buFont typeface="Wingdings" pitchFamily="2" charset="2"/>
              <a:buNone/>
              <a:defRPr/>
            </a:pPr>
            <a:r>
              <a:rPr kumimoji="1" lang="zh-CN" altLang="en-US" sz="2400" b="0" dirty="0">
                <a:solidFill>
                  <a:srgbClr val="104E87"/>
                </a:solidFill>
                <a:latin typeface="华光行书_CNKI" panose="02000500000000000000" pitchFamily="2" charset="-122"/>
                <a:ea typeface="华光行书_CNKI" panose="02000500000000000000" pitchFamily="2" charset="-122"/>
              </a:rPr>
              <a:t>继承的三种方式</a:t>
            </a:r>
            <a:r>
              <a:rPr kumimoji="1" lang="en-US" altLang="zh-CN" sz="2400" b="0" dirty="0">
                <a:solidFill>
                  <a:srgbClr val="104E87"/>
                </a:solidFill>
                <a:latin typeface="华光行书_CNKI" panose="02000500000000000000" pitchFamily="2" charset="-122"/>
                <a:ea typeface="华光行书_CNKI" panose="02000500000000000000" pitchFamily="2" charset="-122"/>
              </a:rPr>
              <a:t>:</a:t>
            </a:r>
            <a:endParaRPr kumimoji="1" lang="zh-CN" altLang="en-US" sz="2400" b="0" dirty="0">
              <a:solidFill>
                <a:srgbClr val="104E87"/>
              </a:solidFill>
              <a:latin typeface="华光行书_CNKI" panose="02000500000000000000" pitchFamily="2" charset="-122"/>
              <a:ea typeface="华光行书_CNKI" panose="02000500000000000000" pitchFamily="2" charset="-122"/>
            </a:endParaRPr>
          </a:p>
        </p:txBody>
      </p:sp>
      <p:sp>
        <p:nvSpPr>
          <p:cNvPr id="55" name="文本框 54">
            <a:extLst>
              <a:ext uri="{FF2B5EF4-FFF2-40B4-BE49-F238E27FC236}">
                <a16:creationId xmlns:a16="http://schemas.microsoft.com/office/drawing/2014/main" id="{DEC86DC7-EECF-467B-80B5-BB1D333809D6}"/>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9.1</a:t>
            </a:r>
            <a:r>
              <a:rPr lang="zh-CN" altLang="en-US" dirty="0">
                <a:sym typeface="+mn-lt"/>
              </a:rPr>
              <a:t>继承与派生</a:t>
            </a:r>
          </a:p>
        </p:txBody>
      </p:sp>
      <p:sp>
        <p:nvSpPr>
          <p:cNvPr id="56" name="内容占位符 2">
            <a:extLst>
              <a:ext uri="{FF2B5EF4-FFF2-40B4-BE49-F238E27FC236}">
                <a16:creationId xmlns:a16="http://schemas.microsoft.com/office/drawing/2014/main" id="{619ED009-65E4-4E91-AC1C-68C0724936F0}"/>
              </a:ext>
            </a:extLst>
          </p:cNvPr>
          <p:cNvSpPr txBox="1">
            <a:spLocks/>
          </p:cNvSpPr>
          <p:nvPr/>
        </p:nvSpPr>
        <p:spPr>
          <a:xfrm>
            <a:off x="6938662" y="1512477"/>
            <a:ext cx="5253338" cy="4296928"/>
          </a:xfrm>
          <a:prstGeom prst="rect">
            <a:avLst/>
          </a:prstGeom>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marL="0" indent="0">
              <a:spcBef>
                <a:spcPct val="0"/>
              </a:spcBef>
              <a:buNone/>
              <a:defRPr/>
            </a:pPr>
            <a:r>
              <a:rPr lang="zh-CN" altLang="en-US" sz="2400" dirty="0">
                <a:solidFill>
                  <a:srgbClr val="104E87"/>
                </a:solidFill>
                <a:latin typeface="华光行书_CNKI" panose="02000500000000000000" pitchFamily="2" charset="-122"/>
                <a:ea typeface="华光行书_CNKI" panose="02000500000000000000" pitchFamily="2" charset="-122"/>
              </a:rPr>
              <a:t>继承作用：</a:t>
            </a:r>
            <a:endParaRPr lang="en-US" altLang="zh-CN" sz="2400" dirty="0">
              <a:solidFill>
                <a:srgbClr val="104E87"/>
              </a:solidFill>
              <a:latin typeface="华光行书_CNKI" panose="02000500000000000000" pitchFamily="2" charset="-122"/>
              <a:ea typeface="华光行书_CNKI" panose="02000500000000000000" pitchFamily="2" charset="-122"/>
            </a:endParaRPr>
          </a:p>
          <a:p>
            <a:pPr marL="342900" indent="-342900">
              <a:spcBef>
                <a:spcPct val="0"/>
              </a:spcBef>
              <a:buFont typeface="Wingdings" panose="05000000000000000000" pitchFamily="2" charset="2"/>
              <a:buBlip>
                <a:blip r:embed="rId3"/>
              </a:buBlip>
              <a:defRPr/>
            </a:pPr>
            <a:r>
              <a:rPr lang="zh-CN" altLang="en-US" sz="2400" dirty="0">
                <a:solidFill>
                  <a:srgbClr val="104E87"/>
                </a:solidFill>
                <a:latin typeface="华光行书_CNKI" panose="02000500000000000000" pitchFamily="2" charset="-122"/>
                <a:ea typeface="华光行书_CNKI" panose="02000500000000000000" pitchFamily="2" charset="-122"/>
              </a:rPr>
              <a:t>吸收基类成员（</a:t>
            </a:r>
            <a:r>
              <a:rPr lang="zh-CN" altLang="en-US" sz="2400" dirty="0">
                <a:solidFill>
                  <a:srgbClr val="FF0000"/>
                </a:solidFill>
                <a:latin typeface="华光行书_CNKI" panose="02000500000000000000" pitchFamily="2" charset="-122"/>
                <a:ea typeface="华光行书_CNKI" panose="02000500000000000000" pitchFamily="2" charset="-122"/>
              </a:rPr>
              <a:t>继承</a:t>
            </a:r>
            <a:r>
              <a:rPr lang="zh-CN" altLang="en-US" sz="2400" dirty="0">
                <a:solidFill>
                  <a:srgbClr val="104E87"/>
                </a:solidFill>
                <a:latin typeface="华光行书_CNKI" panose="02000500000000000000" pitchFamily="2" charset="-122"/>
                <a:ea typeface="华光行书_CNKI" panose="02000500000000000000" pitchFamily="2" charset="-122"/>
              </a:rPr>
              <a:t>）</a:t>
            </a:r>
            <a:endParaRPr lang="en-US" altLang="zh-CN" sz="2400" dirty="0">
              <a:solidFill>
                <a:srgbClr val="104E87"/>
              </a:solidFill>
              <a:latin typeface="华光行书_CNKI" panose="02000500000000000000" pitchFamily="2" charset="-122"/>
              <a:ea typeface="华光行书_CNKI" panose="02000500000000000000" pitchFamily="2" charset="-122"/>
            </a:endParaRPr>
          </a:p>
          <a:p>
            <a:pPr marL="0" lvl="1" indent="0">
              <a:buFont typeface="Wingdings" panose="05000000000000000000" pitchFamily="2" charset="2"/>
              <a:buNone/>
              <a:defRPr/>
            </a:pPr>
            <a:r>
              <a:rPr lang="zh-CN" altLang="en-US" sz="2400" dirty="0">
                <a:solidFill>
                  <a:srgbClr val="104E87"/>
                </a:solidFill>
                <a:latin typeface="华光行书_CNKI" panose="02000500000000000000" pitchFamily="2" charset="-122"/>
                <a:ea typeface="华光行书_CNKI" panose="02000500000000000000" pitchFamily="2" charset="-122"/>
              </a:rPr>
              <a:t>派生类包含基类中除构造和析构函数之外的所有成员</a:t>
            </a:r>
            <a:endParaRPr lang="en-US" altLang="zh-CN" sz="2400" dirty="0">
              <a:solidFill>
                <a:srgbClr val="104E87"/>
              </a:solidFill>
              <a:latin typeface="华光行书_CNKI" panose="02000500000000000000" pitchFamily="2" charset="-122"/>
              <a:ea typeface="华光行书_CNKI" panose="02000500000000000000" pitchFamily="2" charset="-122"/>
            </a:endParaRPr>
          </a:p>
          <a:p>
            <a:pPr marL="342900" indent="-342900">
              <a:spcBef>
                <a:spcPct val="0"/>
              </a:spcBef>
              <a:buFont typeface="Wingdings" panose="05000000000000000000" pitchFamily="2" charset="2"/>
              <a:buBlip>
                <a:blip r:embed="rId3"/>
              </a:buBlip>
              <a:defRPr/>
            </a:pPr>
            <a:r>
              <a:rPr lang="zh-CN" altLang="en-US" sz="2400" dirty="0">
                <a:solidFill>
                  <a:srgbClr val="104E87"/>
                </a:solidFill>
                <a:latin typeface="华光行书_CNKI" panose="02000500000000000000" pitchFamily="2" charset="-122"/>
                <a:ea typeface="华光行书_CNKI" panose="02000500000000000000" pitchFamily="2" charset="-122"/>
              </a:rPr>
              <a:t>添加新的成员（</a:t>
            </a:r>
            <a:r>
              <a:rPr lang="zh-CN" altLang="en-US" sz="2400" dirty="0">
                <a:solidFill>
                  <a:srgbClr val="FF0000"/>
                </a:solidFill>
                <a:latin typeface="华光行书_CNKI" panose="02000500000000000000" pitchFamily="2" charset="-122"/>
                <a:ea typeface="华光行书_CNKI" panose="02000500000000000000" pitchFamily="2" charset="-122"/>
              </a:rPr>
              <a:t>创新</a:t>
            </a:r>
            <a:r>
              <a:rPr lang="zh-CN" altLang="en-US" sz="2400" dirty="0">
                <a:solidFill>
                  <a:srgbClr val="104E87"/>
                </a:solidFill>
                <a:latin typeface="华光行书_CNKI" panose="02000500000000000000" pitchFamily="2" charset="-122"/>
                <a:ea typeface="华光行书_CNKI" panose="02000500000000000000" pitchFamily="2" charset="-122"/>
              </a:rPr>
              <a:t>）</a:t>
            </a:r>
            <a:endParaRPr lang="en-US" altLang="zh-CN" sz="2400" dirty="0">
              <a:solidFill>
                <a:srgbClr val="104E87"/>
              </a:solidFill>
              <a:latin typeface="华光行书_CNKI" panose="02000500000000000000" pitchFamily="2" charset="-122"/>
              <a:ea typeface="华光行书_CNKI" panose="02000500000000000000" pitchFamily="2" charset="-122"/>
            </a:endParaRPr>
          </a:p>
          <a:p>
            <a:pPr marL="0" lvl="1" indent="0">
              <a:buFont typeface="Wingdings" panose="05000000000000000000" pitchFamily="2" charset="2"/>
              <a:buNone/>
              <a:defRPr/>
            </a:pPr>
            <a:r>
              <a:rPr lang="zh-CN" altLang="en-US" sz="2400" dirty="0">
                <a:solidFill>
                  <a:srgbClr val="104E87"/>
                </a:solidFill>
                <a:latin typeface="华光行书_CNKI" panose="02000500000000000000" pitchFamily="2" charset="-122"/>
                <a:ea typeface="华光行书_CNKI" panose="02000500000000000000" pitchFamily="2" charset="-122"/>
              </a:rPr>
              <a:t>派生类添加新成员，是继承与派生的核心，保证派生类在功能上有所发展</a:t>
            </a:r>
            <a:endParaRPr lang="en-US" altLang="zh-CN" sz="2400" dirty="0">
              <a:solidFill>
                <a:srgbClr val="104E87"/>
              </a:solidFill>
              <a:latin typeface="华光行书_CNKI" panose="02000500000000000000" pitchFamily="2" charset="-122"/>
              <a:ea typeface="华光行书_CNKI" panose="02000500000000000000" pitchFamily="2" charset="-122"/>
            </a:endParaRPr>
          </a:p>
          <a:p>
            <a:pPr marL="342900" indent="-342900">
              <a:spcBef>
                <a:spcPct val="0"/>
              </a:spcBef>
              <a:buBlip>
                <a:blip r:embed="rId3"/>
              </a:buBlip>
              <a:defRPr/>
            </a:pPr>
            <a:r>
              <a:rPr lang="zh-CN" altLang="en-US" sz="2400" dirty="0">
                <a:solidFill>
                  <a:srgbClr val="104E87"/>
                </a:solidFill>
                <a:latin typeface="华光行书_CNKI" panose="02000500000000000000" pitchFamily="2" charset="-122"/>
                <a:ea typeface="华光行书_CNKI" panose="02000500000000000000" pitchFamily="2" charset="-122"/>
              </a:rPr>
              <a:t>改造基类成员（</a:t>
            </a:r>
            <a:r>
              <a:rPr lang="zh-CN" altLang="en-US" sz="2400" dirty="0">
                <a:solidFill>
                  <a:srgbClr val="FF0000"/>
                </a:solidFill>
                <a:latin typeface="华光行书_CNKI" panose="02000500000000000000" pitchFamily="2" charset="-122"/>
                <a:ea typeface="华光行书_CNKI" panose="02000500000000000000" pitchFamily="2" charset="-122"/>
              </a:rPr>
              <a:t>发展</a:t>
            </a:r>
            <a:r>
              <a:rPr lang="zh-CN" altLang="en-US" sz="2400" dirty="0">
                <a:solidFill>
                  <a:srgbClr val="104E87"/>
                </a:solidFill>
                <a:latin typeface="华光行书_CNKI" panose="02000500000000000000" pitchFamily="2" charset="-122"/>
                <a:ea typeface="华光行书_CNKI" panose="02000500000000000000" pitchFamily="2" charset="-122"/>
              </a:rPr>
              <a:t>）</a:t>
            </a:r>
            <a:endParaRPr lang="en-US" altLang="zh-CN" sz="2400" dirty="0">
              <a:solidFill>
                <a:srgbClr val="104E87"/>
              </a:solidFill>
              <a:latin typeface="华光行书_CNKI" panose="02000500000000000000" pitchFamily="2" charset="-122"/>
              <a:ea typeface="华光行书_CNKI" panose="02000500000000000000" pitchFamily="2" charset="-122"/>
            </a:endParaRPr>
          </a:p>
          <a:p>
            <a:pPr marL="0" lvl="1" indent="0">
              <a:buFont typeface="Wingdings" panose="05000000000000000000" pitchFamily="2" charset="2"/>
              <a:buNone/>
              <a:defRPr/>
            </a:pPr>
            <a:r>
              <a:rPr lang="zh-CN" altLang="en-US" sz="2400" dirty="0">
                <a:solidFill>
                  <a:srgbClr val="104E87"/>
                </a:solidFill>
                <a:latin typeface="华光行书_CNKI" panose="02000500000000000000" pitchFamily="2" charset="-122"/>
                <a:ea typeface="华光行书_CNKI" panose="02000500000000000000" pitchFamily="2" charset="-122"/>
              </a:rPr>
              <a:t>派生类声明和基类成员同名的新成员，新成员覆盖基类同名成员</a:t>
            </a:r>
            <a:r>
              <a:rPr lang="en-US" altLang="zh-CN" sz="2400" dirty="0">
                <a:solidFill>
                  <a:srgbClr val="104E87"/>
                </a:solidFill>
                <a:latin typeface="华光行书_CNKI" panose="02000500000000000000" pitchFamily="2" charset="-122"/>
                <a:ea typeface="华光行书_CNKI" panose="02000500000000000000" pitchFamily="2" charset="-122"/>
              </a:rPr>
              <a:t>(</a:t>
            </a:r>
            <a:r>
              <a:rPr lang="zh-CN" altLang="en-US" sz="2400" dirty="0">
                <a:solidFill>
                  <a:srgbClr val="104E87"/>
                </a:solidFill>
                <a:latin typeface="华光行书_CNKI" panose="02000500000000000000" pitchFamily="2" charset="-122"/>
                <a:ea typeface="华光行书_CNKI" panose="02000500000000000000" pitchFamily="2" charset="-122"/>
              </a:rPr>
              <a:t>如果是成员函数，则参数表也要相同</a:t>
            </a:r>
            <a:r>
              <a:rPr lang="en-US" altLang="zh-CN" sz="2400" dirty="0">
                <a:solidFill>
                  <a:srgbClr val="104E87"/>
                </a:solidFill>
                <a:latin typeface="华光行书_CNKI" panose="02000500000000000000" pitchFamily="2" charset="-122"/>
                <a:ea typeface="华光行书_CNKI" panose="02000500000000000000" pitchFamily="2" charset="-122"/>
              </a:rPr>
              <a:t>)</a:t>
            </a:r>
          </a:p>
        </p:txBody>
      </p:sp>
    </p:spTree>
    <p:extLst>
      <p:ext uri="{BB962C8B-B14F-4D97-AF65-F5344CB8AC3E}">
        <p14:creationId xmlns:p14="http://schemas.microsoft.com/office/powerpoint/2010/main" val="105634413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fade">
                                      <p:cBhvr>
                                        <p:cTn id="40" dur="500"/>
                                        <p:tgtEl>
                                          <p:spTgt spid="49"/>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1000"/>
                                        <p:tgtEl>
                                          <p:spTgt spid="27"/>
                                        </p:tgtEl>
                                      </p:cBhvr>
                                    </p:animEffect>
                                    <p:anim calcmode="lin" valueType="num">
                                      <p:cBhvr>
                                        <p:cTn id="46" dur="1000" fill="hold"/>
                                        <p:tgtEl>
                                          <p:spTgt spid="27"/>
                                        </p:tgtEl>
                                        <p:attrNameLst>
                                          <p:attrName>ppt_x</p:attrName>
                                        </p:attrNameLst>
                                      </p:cBhvr>
                                      <p:tavLst>
                                        <p:tav tm="0">
                                          <p:val>
                                            <p:strVal val="#ppt_x"/>
                                          </p:val>
                                        </p:tav>
                                        <p:tav tm="100000">
                                          <p:val>
                                            <p:strVal val="#ppt_x"/>
                                          </p:val>
                                        </p:tav>
                                      </p:tavLst>
                                    </p:anim>
                                    <p:anim calcmode="lin" valueType="num">
                                      <p:cBhvr>
                                        <p:cTn id="47" dur="1000" fill="hold"/>
                                        <p:tgtEl>
                                          <p:spTgt spid="27"/>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1000"/>
                                        <p:tgtEl>
                                          <p:spTgt spid="28"/>
                                        </p:tgtEl>
                                      </p:cBhvr>
                                    </p:animEffect>
                                    <p:anim calcmode="lin" valueType="num">
                                      <p:cBhvr>
                                        <p:cTn id="51" dur="1000" fill="hold"/>
                                        <p:tgtEl>
                                          <p:spTgt spid="28"/>
                                        </p:tgtEl>
                                        <p:attrNameLst>
                                          <p:attrName>ppt_x</p:attrName>
                                        </p:attrNameLst>
                                      </p:cBhvr>
                                      <p:tavLst>
                                        <p:tav tm="0">
                                          <p:val>
                                            <p:strVal val="#ppt_x"/>
                                          </p:val>
                                        </p:tav>
                                        <p:tav tm="100000">
                                          <p:val>
                                            <p:strVal val="#ppt_x"/>
                                          </p:val>
                                        </p:tav>
                                      </p:tavLst>
                                    </p:anim>
                                    <p:anim calcmode="lin" valueType="num">
                                      <p:cBhvr>
                                        <p:cTn id="52" dur="1000" fill="hold"/>
                                        <p:tgtEl>
                                          <p:spTgt spid="28"/>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1000"/>
                                        <p:tgtEl>
                                          <p:spTgt spid="29"/>
                                        </p:tgtEl>
                                      </p:cBhvr>
                                    </p:animEffect>
                                    <p:anim calcmode="lin" valueType="num">
                                      <p:cBhvr>
                                        <p:cTn id="56" dur="1000" fill="hold"/>
                                        <p:tgtEl>
                                          <p:spTgt spid="29"/>
                                        </p:tgtEl>
                                        <p:attrNameLst>
                                          <p:attrName>ppt_x</p:attrName>
                                        </p:attrNameLst>
                                      </p:cBhvr>
                                      <p:tavLst>
                                        <p:tav tm="0">
                                          <p:val>
                                            <p:strVal val="#ppt_x"/>
                                          </p:val>
                                        </p:tav>
                                        <p:tav tm="100000">
                                          <p:val>
                                            <p:strVal val="#ppt_x"/>
                                          </p:val>
                                        </p:tav>
                                      </p:tavLst>
                                    </p:anim>
                                    <p:anim calcmode="lin" valueType="num">
                                      <p:cBhvr>
                                        <p:cTn id="57" dur="1000" fill="hold"/>
                                        <p:tgtEl>
                                          <p:spTgt spid="29"/>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1000"/>
                                        <p:tgtEl>
                                          <p:spTgt spid="30"/>
                                        </p:tgtEl>
                                      </p:cBhvr>
                                    </p:animEffect>
                                    <p:anim calcmode="lin" valueType="num">
                                      <p:cBhvr>
                                        <p:cTn id="61" dur="1000" fill="hold"/>
                                        <p:tgtEl>
                                          <p:spTgt spid="30"/>
                                        </p:tgtEl>
                                        <p:attrNameLst>
                                          <p:attrName>ppt_x</p:attrName>
                                        </p:attrNameLst>
                                      </p:cBhvr>
                                      <p:tavLst>
                                        <p:tav tm="0">
                                          <p:val>
                                            <p:strVal val="#ppt_x"/>
                                          </p:val>
                                        </p:tav>
                                        <p:tav tm="100000">
                                          <p:val>
                                            <p:strVal val="#ppt_x"/>
                                          </p:val>
                                        </p:tav>
                                      </p:tavLst>
                                    </p:anim>
                                    <p:anim calcmode="lin" valueType="num">
                                      <p:cBhvr>
                                        <p:cTn id="62" dur="1000" fill="hold"/>
                                        <p:tgtEl>
                                          <p:spTgt spid="30"/>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1000"/>
                                        <p:tgtEl>
                                          <p:spTgt spid="31"/>
                                        </p:tgtEl>
                                      </p:cBhvr>
                                    </p:animEffect>
                                    <p:anim calcmode="lin" valueType="num">
                                      <p:cBhvr>
                                        <p:cTn id="66" dur="1000" fill="hold"/>
                                        <p:tgtEl>
                                          <p:spTgt spid="31"/>
                                        </p:tgtEl>
                                        <p:attrNameLst>
                                          <p:attrName>ppt_x</p:attrName>
                                        </p:attrNameLst>
                                      </p:cBhvr>
                                      <p:tavLst>
                                        <p:tav tm="0">
                                          <p:val>
                                            <p:strVal val="#ppt_x"/>
                                          </p:val>
                                        </p:tav>
                                        <p:tav tm="100000">
                                          <p:val>
                                            <p:strVal val="#ppt_x"/>
                                          </p:val>
                                        </p:tav>
                                      </p:tavLst>
                                    </p:anim>
                                    <p:anim calcmode="lin" valueType="num">
                                      <p:cBhvr>
                                        <p:cTn id="67" dur="1000" fill="hold"/>
                                        <p:tgtEl>
                                          <p:spTgt spid="31"/>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1000"/>
                                        <p:tgtEl>
                                          <p:spTgt spid="32"/>
                                        </p:tgtEl>
                                      </p:cBhvr>
                                    </p:animEffect>
                                    <p:anim calcmode="lin" valueType="num">
                                      <p:cBhvr>
                                        <p:cTn id="71" dur="1000" fill="hold"/>
                                        <p:tgtEl>
                                          <p:spTgt spid="32"/>
                                        </p:tgtEl>
                                        <p:attrNameLst>
                                          <p:attrName>ppt_x</p:attrName>
                                        </p:attrNameLst>
                                      </p:cBhvr>
                                      <p:tavLst>
                                        <p:tav tm="0">
                                          <p:val>
                                            <p:strVal val="#ppt_x"/>
                                          </p:val>
                                        </p:tav>
                                        <p:tav tm="100000">
                                          <p:val>
                                            <p:strVal val="#ppt_x"/>
                                          </p:val>
                                        </p:tav>
                                      </p:tavLst>
                                    </p:anim>
                                    <p:anim calcmode="lin" valueType="num">
                                      <p:cBhvr>
                                        <p:cTn id="72" dur="1000" fill="hold"/>
                                        <p:tgtEl>
                                          <p:spTgt spid="32"/>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1000"/>
                                        <p:tgtEl>
                                          <p:spTgt spid="33"/>
                                        </p:tgtEl>
                                      </p:cBhvr>
                                    </p:animEffect>
                                    <p:anim calcmode="lin" valueType="num">
                                      <p:cBhvr>
                                        <p:cTn id="76" dur="1000" fill="hold"/>
                                        <p:tgtEl>
                                          <p:spTgt spid="33"/>
                                        </p:tgtEl>
                                        <p:attrNameLst>
                                          <p:attrName>ppt_x</p:attrName>
                                        </p:attrNameLst>
                                      </p:cBhvr>
                                      <p:tavLst>
                                        <p:tav tm="0">
                                          <p:val>
                                            <p:strVal val="#ppt_x"/>
                                          </p:val>
                                        </p:tav>
                                        <p:tav tm="100000">
                                          <p:val>
                                            <p:strVal val="#ppt_x"/>
                                          </p:val>
                                        </p:tav>
                                      </p:tavLst>
                                    </p:anim>
                                    <p:anim calcmode="lin" valueType="num">
                                      <p:cBhvr>
                                        <p:cTn id="77" dur="1000" fill="hold"/>
                                        <p:tgtEl>
                                          <p:spTgt spid="33"/>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1000"/>
                                        <p:tgtEl>
                                          <p:spTgt spid="34"/>
                                        </p:tgtEl>
                                      </p:cBhvr>
                                    </p:animEffect>
                                    <p:anim calcmode="lin" valueType="num">
                                      <p:cBhvr>
                                        <p:cTn id="81" dur="1000" fill="hold"/>
                                        <p:tgtEl>
                                          <p:spTgt spid="34"/>
                                        </p:tgtEl>
                                        <p:attrNameLst>
                                          <p:attrName>ppt_x</p:attrName>
                                        </p:attrNameLst>
                                      </p:cBhvr>
                                      <p:tavLst>
                                        <p:tav tm="0">
                                          <p:val>
                                            <p:strVal val="#ppt_x"/>
                                          </p:val>
                                        </p:tav>
                                        <p:tav tm="100000">
                                          <p:val>
                                            <p:strVal val="#ppt_x"/>
                                          </p:val>
                                        </p:tav>
                                      </p:tavLst>
                                    </p:anim>
                                    <p:anim calcmode="lin" valueType="num">
                                      <p:cBhvr>
                                        <p:cTn id="82" dur="1000" fill="hold"/>
                                        <p:tgtEl>
                                          <p:spTgt spid="34"/>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1000"/>
                                        <p:tgtEl>
                                          <p:spTgt spid="35"/>
                                        </p:tgtEl>
                                      </p:cBhvr>
                                    </p:animEffect>
                                    <p:anim calcmode="lin" valueType="num">
                                      <p:cBhvr>
                                        <p:cTn id="86" dur="1000" fill="hold"/>
                                        <p:tgtEl>
                                          <p:spTgt spid="35"/>
                                        </p:tgtEl>
                                        <p:attrNameLst>
                                          <p:attrName>ppt_x</p:attrName>
                                        </p:attrNameLst>
                                      </p:cBhvr>
                                      <p:tavLst>
                                        <p:tav tm="0">
                                          <p:val>
                                            <p:strVal val="#ppt_x"/>
                                          </p:val>
                                        </p:tav>
                                        <p:tav tm="100000">
                                          <p:val>
                                            <p:strVal val="#ppt_x"/>
                                          </p:val>
                                        </p:tav>
                                      </p:tavLst>
                                    </p:anim>
                                    <p:anim calcmode="lin" valueType="num">
                                      <p:cBhvr>
                                        <p:cTn id="87" dur="1000" fill="hold"/>
                                        <p:tgtEl>
                                          <p:spTgt spid="35"/>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50"/>
                                        </p:tgtEl>
                                        <p:attrNameLst>
                                          <p:attrName>style.visibility</p:attrName>
                                        </p:attrNameLst>
                                      </p:cBhvr>
                                      <p:to>
                                        <p:strVal val="visible"/>
                                      </p:to>
                                    </p:set>
                                    <p:animEffect transition="in" filter="fade">
                                      <p:cBhvr>
                                        <p:cTn id="90" dur="1000"/>
                                        <p:tgtEl>
                                          <p:spTgt spid="50"/>
                                        </p:tgtEl>
                                      </p:cBhvr>
                                    </p:animEffect>
                                    <p:anim calcmode="lin" valueType="num">
                                      <p:cBhvr>
                                        <p:cTn id="91" dur="1000" fill="hold"/>
                                        <p:tgtEl>
                                          <p:spTgt spid="50"/>
                                        </p:tgtEl>
                                        <p:attrNameLst>
                                          <p:attrName>ppt_x</p:attrName>
                                        </p:attrNameLst>
                                      </p:cBhvr>
                                      <p:tavLst>
                                        <p:tav tm="0">
                                          <p:val>
                                            <p:strVal val="#ppt_x"/>
                                          </p:val>
                                        </p:tav>
                                        <p:tav tm="100000">
                                          <p:val>
                                            <p:strVal val="#ppt_x"/>
                                          </p:val>
                                        </p:tav>
                                      </p:tavLst>
                                    </p:anim>
                                    <p:anim calcmode="lin" valueType="num">
                                      <p:cBhvr>
                                        <p:cTn id="92"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16" presetClass="entr" presetSubtype="21" fill="hold" grpId="0" nodeType="click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barn(inVertical)">
                                      <p:cBhvr>
                                        <p:cTn id="97" dur="500"/>
                                        <p:tgtEl>
                                          <p:spTgt spid="36"/>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barn(inVertical)">
                                      <p:cBhvr>
                                        <p:cTn id="100" dur="500"/>
                                        <p:tgtEl>
                                          <p:spTgt spid="37"/>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barn(inVertical)">
                                      <p:cBhvr>
                                        <p:cTn id="103" dur="500"/>
                                        <p:tgtEl>
                                          <p:spTgt spid="38"/>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barn(inVertical)">
                                      <p:cBhvr>
                                        <p:cTn id="106" dur="500"/>
                                        <p:tgtEl>
                                          <p:spTgt spid="39"/>
                                        </p:tgtEl>
                                      </p:cBhvr>
                                    </p:animEffect>
                                  </p:childTnLst>
                                </p:cTn>
                              </p:par>
                              <p:par>
                                <p:cTn id="107" presetID="16" presetClass="entr" presetSubtype="21"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barn(inVertical)">
                                      <p:cBhvr>
                                        <p:cTn id="109" dur="500"/>
                                        <p:tgtEl>
                                          <p:spTgt spid="40"/>
                                        </p:tgtEl>
                                      </p:cBhvr>
                                    </p:animEffect>
                                  </p:childTnLst>
                                </p:cTn>
                              </p:par>
                              <p:par>
                                <p:cTn id="110" presetID="16" presetClass="entr" presetSubtype="21"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barn(inVertical)">
                                      <p:cBhvr>
                                        <p:cTn id="112" dur="500"/>
                                        <p:tgtEl>
                                          <p:spTgt spid="41"/>
                                        </p:tgtEl>
                                      </p:cBhvr>
                                    </p:animEffect>
                                  </p:childTnLst>
                                </p:cTn>
                              </p:par>
                              <p:par>
                                <p:cTn id="113" presetID="16" presetClass="entr" presetSubtype="21"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barn(inVertical)">
                                      <p:cBhvr>
                                        <p:cTn id="115" dur="500"/>
                                        <p:tgtEl>
                                          <p:spTgt spid="42"/>
                                        </p:tgtEl>
                                      </p:cBhvr>
                                    </p:animEffect>
                                  </p:childTnLst>
                                </p:cTn>
                              </p:par>
                              <p:par>
                                <p:cTn id="116" presetID="16" presetClass="entr" presetSubtype="21"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barn(inVertical)">
                                      <p:cBhvr>
                                        <p:cTn id="118" dur="500"/>
                                        <p:tgtEl>
                                          <p:spTgt spid="43"/>
                                        </p:tgtEl>
                                      </p:cBhvr>
                                    </p:animEffect>
                                  </p:childTnLst>
                                </p:cTn>
                              </p:par>
                              <p:par>
                                <p:cTn id="119" presetID="16" presetClass="entr" presetSubtype="21"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barn(inVertical)">
                                      <p:cBhvr>
                                        <p:cTn id="121" dur="500"/>
                                        <p:tgtEl>
                                          <p:spTgt spid="44"/>
                                        </p:tgtEl>
                                      </p:cBhvr>
                                    </p:animEffect>
                                  </p:childTnLst>
                                </p:cTn>
                              </p:par>
                              <p:par>
                                <p:cTn id="122" presetID="16" presetClass="entr" presetSubtype="21"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barn(inVertical)">
                                      <p:cBhvr>
                                        <p:cTn id="124" dur="500"/>
                                        <p:tgtEl>
                                          <p:spTgt spid="45"/>
                                        </p:tgtEl>
                                      </p:cBhvr>
                                    </p:animEffect>
                                  </p:childTnLst>
                                </p:cTn>
                              </p:par>
                              <p:par>
                                <p:cTn id="125" presetID="16" presetClass="entr" presetSubtype="21"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barn(inVertical)">
                                      <p:cBhvr>
                                        <p:cTn id="127" dur="500"/>
                                        <p:tgtEl>
                                          <p:spTgt spid="46"/>
                                        </p:tgtEl>
                                      </p:cBhvr>
                                    </p:animEffect>
                                  </p:childTnLst>
                                </p:cTn>
                              </p:par>
                              <p:par>
                                <p:cTn id="128" presetID="16" presetClass="entr" presetSubtype="21"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barn(inVertical)">
                                      <p:cBhvr>
                                        <p:cTn id="130" dur="500"/>
                                        <p:tgtEl>
                                          <p:spTgt spid="47"/>
                                        </p:tgtEl>
                                      </p:cBhvr>
                                    </p:animEffect>
                                  </p:childTnLst>
                                </p:cTn>
                              </p:par>
                              <p:par>
                                <p:cTn id="131" presetID="16" presetClass="entr" presetSubtype="21"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barn(inVertical)">
                                      <p:cBhvr>
                                        <p:cTn id="133" dur="500"/>
                                        <p:tgtEl>
                                          <p:spTgt spid="48"/>
                                        </p:tgtEl>
                                      </p:cBhvr>
                                    </p:animEffect>
                                  </p:childTnLst>
                                </p:cTn>
                              </p:par>
                              <p:par>
                                <p:cTn id="134" presetID="16" presetClass="entr" presetSubtype="21" fill="hold" grpId="0" nodeType="with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barn(inVertical)">
                                      <p:cBhvr>
                                        <p:cTn id="136" dur="500"/>
                                        <p:tgtEl>
                                          <p:spTgt spid="51"/>
                                        </p:tgtEl>
                                      </p:cBhvr>
                                    </p:animEffect>
                                  </p:childTnLst>
                                </p:cTn>
                              </p:par>
                              <p:par>
                                <p:cTn id="137" presetID="16" presetClass="entr" presetSubtype="21" fill="hold" nodeType="withEffect">
                                  <p:stCondLst>
                                    <p:cond delay="0"/>
                                  </p:stCondLst>
                                  <p:childTnLst>
                                    <p:set>
                                      <p:cBhvr>
                                        <p:cTn id="138" dur="1" fill="hold">
                                          <p:stCondLst>
                                            <p:cond delay="0"/>
                                          </p:stCondLst>
                                        </p:cTn>
                                        <p:tgtEl>
                                          <p:spTgt spid="52"/>
                                        </p:tgtEl>
                                        <p:attrNameLst>
                                          <p:attrName>style.visibility</p:attrName>
                                        </p:attrNameLst>
                                      </p:cBhvr>
                                      <p:to>
                                        <p:strVal val="visible"/>
                                      </p:to>
                                    </p:set>
                                    <p:animEffect transition="in" filter="barn(inVertical)">
                                      <p:cBhvr>
                                        <p:cTn id="139" dur="500"/>
                                        <p:tgtEl>
                                          <p:spTgt spid="52"/>
                                        </p:tgtEl>
                                      </p:cBhvr>
                                    </p:animEffect>
                                  </p:childTnLst>
                                </p:cTn>
                              </p:par>
                              <p:par>
                                <p:cTn id="140" presetID="16" presetClass="entr" presetSubtype="21" fill="hold" nodeType="with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barn(inVertical)">
                                      <p:cBhvr>
                                        <p:cTn id="14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animBg="1"/>
      <p:bldP spid="17" grpId="0" animBg="1"/>
      <p:bldP spid="24" grpId="0" animBg="1"/>
      <p:bldP spid="27" grpId="0" animBg="1"/>
      <p:bldP spid="28" grpId="0" animBg="1"/>
      <p:bldP spid="30" grpId="0" animBg="1"/>
      <p:bldP spid="31" grpId="0" animBg="1"/>
      <p:bldP spid="35" grpId="0" animBg="1"/>
      <p:bldP spid="36" grpId="0" animBg="1"/>
      <p:bldP spid="37" grpId="0" animBg="1"/>
      <p:bldP spid="38" grpId="0" animBg="1"/>
      <p:bldP spid="39" grpId="0" animBg="1"/>
      <p:bldP spid="44" grpId="0" animBg="1"/>
      <p:bldP spid="45" grpId="0" animBg="1"/>
      <p:bldP spid="48" grpId="0" animBg="1"/>
      <p:bldP spid="49" grpId="0"/>
      <p:bldP spid="50" grpId="0"/>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55" name="文本框 54">
            <a:extLst>
              <a:ext uri="{FF2B5EF4-FFF2-40B4-BE49-F238E27FC236}">
                <a16:creationId xmlns:a16="http://schemas.microsoft.com/office/drawing/2014/main" id="{ECDC442D-4310-4E4C-BDBD-A18926B2D54D}"/>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9.1</a:t>
            </a:r>
            <a:r>
              <a:rPr lang="zh-CN" altLang="en-US" dirty="0">
                <a:sym typeface="+mn-lt"/>
              </a:rPr>
              <a:t>继承与派生</a:t>
            </a:r>
          </a:p>
        </p:txBody>
      </p:sp>
      <p:sp>
        <p:nvSpPr>
          <p:cNvPr id="6" name="Rectangle 2">
            <a:extLst>
              <a:ext uri="{FF2B5EF4-FFF2-40B4-BE49-F238E27FC236}">
                <a16:creationId xmlns:a16="http://schemas.microsoft.com/office/drawing/2014/main" id="{E0E0451F-8474-42D0-AB6E-91AAEC89B5D6}"/>
              </a:ext>
            </a:extLst>
          </p:cNvPr>
          <p:cNvSpPr txBox="1">
            <a:spLocks noChangeArrowheads="1"/>
          </p:cNvSpPr>
          <p:nvPr/>
        </p:nvSpPr>
        <p:spPr bwMode="auto">
          <a:xfrm>
            <a:off x="1" y="970804"/>
            <a:ext cx="5707464" cy="1933170"/>
          </a:xfrm>
          <a:prstGeom prst="rect">
            <a:avLst/>
          </a:prstGeom>
          <a:noFill/>
          <a:ln w="9525">
            <a:noFill/>
            <a:miter lim="800000"/>
            <a:headEnd/>
            <a:tailEnd/>
          </a:ln>
        </p:spPr>
        <p:txBody>
          <a:bodyPr/>
          <a:lstStyle/>
          <a:p>
            <a:pPr marL="469900" indent="-469900" eaLnBrk="1" hangingPunct="1">
              <a:spcBef>
                <a:spcPct val="20000"/>
              </a:spcBef>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华光行书_CNKI" panose="02000500000000000000" pitchFamily="2" charset="-122"/>
              </a:rPr>
              <a:t>class   </a:t>
            </a:r>
            <a:r>
              <a:rPr lang="zh-CN" altLang="en-US" kern="0" dirty="0">
                <a:solidFill>
                  <a:srgbClr val="104E87"/>
                </a:solidFill>
                <a:latin typeface="Comic Sans MS" panose="030F0702030302020204" pitchFamily="66" charset="0"/>
                <a:ea typeface="华光行书_CNKI" panose="02000500000000000000" pitchFamily="2" charset="-122"/>
              </a:rPr>
              <a:t>类名</a:t>
            </a:r>
            <a:r>
              <a:rPr lang="en-US" altLang="zh-CN" kern="0" dirty="0">
                <a:solidFill>
                  <a:srgbClr val="104E87"/>
                </a:solidFill>
                <a:latin typeface="Comic Sans MS" panose="030F0702030302020204" pitchFamily="66" charset="0"/>
                <a:ea typeface="华光行书_CNKI" panose="02000500000000000000" pitchFamily="2" charset="-122"/>
              </a:rPr>
              <a:t> {</a:t>
            </a:r>
          </a:p>
          <a:p>
            <a:pPr marL="469900" indent="-469900" algn="just" eaLnBrk="1" hangingPunct="1">
              <a:spcBef>
                <a:spcPts val="0"/>
              </a:spcBef>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华光行书_CNKI" panose="02000500000000000000" pitchFamily="2" charset="-122"/>
              </a:rPr>
              <a:t>		public:	       </a:t>
            </a:r>
            <a:r>
              <a:rPr lang="zh-CN" altLang="en-US" kern="0" dirty="0">
                <a:solidFill>
                  <a:srgbClr val="104E87"/>
                </a:solidFill>
                <a:latin typeface="Comic Sans MS" panose="030F0702030302020204" pitchFamily="66" charset="0"/>
                <a:ea typeface="华光行书_CNKI" panose="02000500000000000000" pitchFamily="2" charset="-122"/>
              </a:rPr>
              <a:t>公有成员说明列表</a:t>
            </a:r>
            <a:r>
              <a:rPr lang="en-US" altLang="zh-CN" kern="0" dirty="0">
                <a:solidFill>
                  <a:srgbClr val="104E87"/>
                </a:solidFill>
                <a:latin typeface="Comic Sans MS" panose="030F0702030302020204" pitchFamily="66" charset="0"/>
                <a:ea typeface="华光行书_CNKI" panose="02000500000000000000" pitchFamily="2" charset="-122"/>
              </a:rPr>
              <a:t>;</a:t>
            </a:r>
          </a:p>
          <a:p>
            <a:pPr marL="469900" indent="-469900" algn="just" eaLnBrk="1" hangingPunct="1">
              <a:spcBef>
                <a:spcPts val="0"/>
              </a:spcBef>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华光行书_CNKI" panose="02000500000000000000" pitchFamily="2" charset="-122"/>
              </a:rPr>
              <a:t>		protected:     </a:t>
            </a:r>
            <a:r>
              <a:rPr lang="zh-CN" altLang="en-US" kern="0" dirty="0">
                <a:solidFill>
                  <a:srgbClr val="104E87"/>
                </a:solidFill>
                <a:latin typeface="Comic Sans MS" panose="030F0702030302020204" pitchFamily="66" charset="0"/>
                <a:ea typeface="华光行书_CNKI" panose="02000500000000000000" pitchFamily="2" charset="-122"/>
              </a:rPr>
              <a:t>受保护成员说明列表</a:t>
            </a:r>
            <a:r>
              <a:rPr lang="en-US" altLang="zh-CN" kern="0" dirty="0">
                <a:solidFill>
                  <a:srgbClr val="104E87"/>
                </a:solidFill>
                <a:latin typeface="Comic Sans MS" panose="030F0702030302020204" pitchFamily="66" charset="0"/>
                <a:ea typeface="华光行书_CNKI" panose="02000500000000000000" pitchFamily="2" charset="-122"/>
              </a:rPr>
              <a:t>;</a:t>
            </a:r>
          </a:p>
          <a:p>
            <a:pPr marL="469900" indent="-469900" algn="just" eaLnBrk="1" hangingPunct="1">
              <a:spcBef>
                <a:spcPts val="0"/>
              </a:spcBef>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华光行书_CNKI" panose="02000500000000000000" pitchFamily="2" charset="-122"/>
              </a:rPr>
              <a:t>		private:	        </a:t>
            </a:r>
            <a:r>
              <a:rPr lang="zh-CN" altLang="en-US" kern="0" dirty="0">
                <a:solidFill>
                  <a:srgbClr val="104E87"/>
                </a:solidFill>
                <a:latin typeface="Comic Sans MS" panose="030F0702030302020204" pitchFamily="66" charset="0"/>
                <a:ea typeface="华光行书_CNKI" panose="02000500000000000000" pitchFamily="2" charset="-122"/>
              </a:rPr>
              <a:t>私有成员说明列表</a:t>
            </a:r>
            <a:r>
              <a:rPr lang="en-US" altLang="zh-CN" kern="0" dirty="0">
                <a:solidFill>
                  <a:srgbClr val="104E87"/>
                </a:solidFill>
                <a:latin typeface="Comic Sans MS" panose="030F0702030302020204" pitchFamily="66" charset="0"/>
                <a:ea typeface="华光行书_CNKI" panose="02000500000000000000" pitchFamily="2" charset="-122"/>
              </a:rPr>
              <a:t>;</a:t>
            </a:r>
          </a:p>
          <a:p>
            <a:pPr marL="469900" indent="-469900" algn="just" eaLnBrk="1" hangingPunct="1">
              <a:spcBef>
                <a:spcPct val="20000"/>
              </a:spcBef>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华光行书_CNKI" panose="02000500000000000000" pitchFamily="2" charset="-122"/>
              </a:rPr>
              <a:t>    };</a:t>
            </a:r>
          </a:p>
        </p:txBody>
      </p:sp>
      <p:sp>
        <p:nvSpPr>
          <p:cNvPr id="8" name="矩形 7">
            <a:extLst>
              <a:ext uri="{FF2B5EF4-FFF2-40B4-BE49-F238E27FC236}">
                <a16:creationId xmlns:a16="http://schemas.microsoft.com/office/drawing/2014/main" id="{882A0A0C-BC24-4F94-8677-03BF39DF40F4}"/>
              </a:ext>
            </a:extLst>
          </p:cNvPr>
          <p:cNvSpPr/>
          <p:nvPr/>
        </p:nvSpPr>
        <p:spPr>
          <a:xfrm>
            <a:off x="861180" y="1011145"/>
            <a:ext cx="5590037" cy="416365"/>
          </a:xfrm>
          <a:prstGeom prst="rect">
            <a:avLst/>
          </a:prstGeom>
          <a:solidFill>
            <a:schemeClr val="accent3">
              <a:lumMod val="60000"/>
              <a:lumOff val="40000"/>
            </a:schemeClr>
          </a:solidFill>
        </p:spPr>
        <p:txBody>
          <a:bodyPr wrap="square" tIns="0" bIns="0">
            <a:noAutofit/>
          </a:bodyPr>
          <a:lstStyle/>
          <a:p>
            <a:pPr marL="469900" indent="-469900" eaLnBrk="1" hangingPunct="1">
              <a:spcBef>
                <a:spcPct val="20000"/>
              </a:spcBef>
              <a:buClr>
                <a:schemeClr val="bg2"/>
              </a:buClr>
              <a:buSzPct val="70000"/>
              <a:buFont typeface="Wingdings" pitchFamily="2" charset="2"/>
              <a:buNone/>
              <a:defRPr/>
            </a:pPr>
            <a:r>
              <a:rPr lang="zh-CN" altLang="en-US" kern="0" dirty="0">
                <a:solidFill>
                  <a:srgbClr val="FF0000"/>
                </a:solidFill>
                <a:latin typeface="Comic Sans MS" panose="030F0702030302020204" pitchFamily="66" charset="0"/>
                <a:ea typeface="华光行书_CNKI" panose="02000500000000000000" pitchFamily="2" charset="-122"/>
              </a:rPr>
              <a:t>派生类名</a:t>
            </a:r>
            <a:r>
              <a:rPr lang="en-US" altLang="zh-CN" kern="0" dirty="0">
                <a:solidFill>
                  <a:srgbClr val="FF0000"/>
                </a:solidFill>
                <a:latin typeface="Comic Sans MS" panose="030F0702030302020204" pitchFamily="66" charset="0"/>
                <a:ea typeface="华光行书_CNKI" panose="02000500000000000000" pitchFamily="2" charset="-122"/>
              </a:rPr>
              <a:t>:  </a:t>
            </a:r>
            <a:r>
              <a:rPr lang="zh-CN" altLang="en-US" kern="0" dirty="0">
                <a:solidFill>
                  <a:srgbClr val="FF0000"/>
                </a:solidFill>
                <a:latin typeface="Comic Sans MS" panose="030F0702030302020204" pitchFamily="66" charset="0"/>
                <a:ea typeface="华光行书_CNKI" panose="02000500000000000000" pitchFamily="2" charset="-122"/>
              </a:rPr>
              <a:t>访问控制权  基类类名表</a:t>
            </a:r>
            <a:r>
              <a:rPr lang="en-US" altLang="zh-CN" kern="0" dirty="0">
                <a:solidFill>
                  <a:srgbClr val="FF0000"/>
                </a:solidFill>
                <a:latin typeface="Comic Sans MS" panose="030F0702030302020204" pitchFamily="66" charset="0"/>
                <a:ea typeface="华光行书_CNKI" panose="02000500000000000000" pitchFamily="2" charset="-122"/>
              </a:rPr>
              <a:t>{</a:t>
            </a:r>
          </a:p>
        </p:txBody>
      </p:sp>
      <p:sp>
        <p:nvSpPr>
          <p:cNvPr id="9" name="文本框 8">
            <a:extLst>
              <a:ext uri="{FF2B5EF4-FFF2-40B4-BE49-F238E27FC236}">
                <a16:creationId xmlns:a16="http://schemas.microsoft.com/office/drawing/2014/main" id="{57FE0EC3-5DA6-4D0D-89FB-328255580E3E}"/>
              </a:ext>
            </a:extLst>
          </p:cNvPr>
          <p:cNvSpPr txBox="1"/>
          <p:nvPr/>
        </p:nvSpPr>
        <p:spPr>
          <a:xfrm>
            <a:off x="382060" y="3138419"/>
            <a:ext cx="3220915" cy="1631216"/>
          </a:xfrm>
          <a:prstGeom prst="rect">
            <a:avLst/>
          </a:prstGeom>
          <a:noFill/>
        </p:spPr>
        <p:txBody>
          <a:bodyPr wrap="square">
            <a:spAutoFit/>
          </a:bodyPr>
          <a:lstStyle/>
          <a:p>
            <a:pPr marL="269875" indent="-269875" algn="just" eaLnBrk="1" hangingPunct="1">
              <a:spcBef>
                <a:spcPct val="20000"/>
              </a:spcBef>
              <a:buClr>
                <a:srgbClr val="104E87"/>
              </a:buClr>
              <a:buSzPct val="70000"/>
              <a:buFont typeface="Wingdings" panose="05000000000000000000" pitchFamily="2" charset="2"/>
              <a:buChar char="l"/>
              <a:defRPr/>
            </a:pPr>
            <a:r>
              <a:rPr lang="zh-CN" altLang="en-US" sz="2800" kern="0" dirty="0">
                <a:solidFill>
                  <a:srgbClr val="FF0000"/>
                </a:solidFill>
                <a:latin typeface="Comic Sans MS" panose="030F0702030302020204" pitchFamily="66" charset="0"/>
                <a:ea typeface="华光行书_CNKI" panose="02000500000000000000" pitchFamily="2" charset="-122"/>
              </a:rPr>
              <a:t>继承访问控制权</a:t>
            </a:r>
            <a:r>
              <a:rPr lang="en-US" altLang="zh-CN" sz="2800" kern="0" dirty="0">
                <a:solidFill>
                  <a:srgbClr val="FF0000"/>
                </a:solidFill>
                <a:latin typeface="Comic Sans MS" panose="030F0702030302020204" pitchFamily="66" charset="0"/>
                <a:ea typeface="华光行书_CNKI" panose="02000500000000000000" pitchFamily="2" charset="-122"/>
              </a:rPr>
              <a:t>:</a:t>
            </a:r>
          </a:p>
          <a:p>
            <a:pPr algn="just" eaLnBrk="1" hangingPunct="1">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华光行书_CNKI" panose="02000500000000000000" pitchFamily="2" charset="-122"/>
              </a:rPr>
              <a:t>Public</a:t>
            </a:r>
          </a:p>
          <a:p>
            <a:pPr algn="just" eaLnBrk="1" hangingPunct="1">
              <a:buClr>
                <a:schemeClr val="bg2"/>
              </a:buClr>
              <a:buSzPct val="70000"/>
              <a:buFont typeface="Wingdings" pitchFamily="2" charset="2"/>
              <a:buNone/>
              <a:defRPr/>
            </a:pPr>
            <a:r>
              <a:rPr lang="en-US" altLang="zh-CN" kern="0" dirty="0">
                <a:solidFill>
                  <a:srgbClr val="C00000"/>
                </a:solidFill>
                <a:latin typeface="Comic Sans MS" panose="030F0702030302020204" pitchFamily="66" charset="0"/>
                <a:ea typeface="华光行书_CNKI" panose="02000500000000000000" pitchFamily="2" charset="-122"/>
              </a:rPr>
              <a:t>Private</a:t>
            </a:r>
          </a:p>
          <a:p>
            <a:pPr algn="just" eaLnBrk="1" hangingPunct="1">
              <a:buClr>
                <a:schemeClr val="bg2"/>
              </a:buClr>
              <a:buSzPct val="70000"/>
              <a:buFont typeface="Wingdings" pitchFamily="2" charset="2"/>
              <a:buNone/>
              <a:defRPr/>
            </a:pPr>
            <a:r>
              <a:rPr lang="en-US" altLang="zh-CN" kern="0" dirty="0">
                <a:solidFill>
                  <a:srgbClr val="104E87"/>
                </a:solidFill>
                <a:latin typeface="Comic Sans MS" panose="030F0702030302020204" pitchFamily="66" charset="0"/>
                <a:ea typeface="华光行书_CNKI" panose="02000500000000000000" pitchFamily="2" charset="-122"/>
              </a:rPr>
              <a:t>Protected</a:t>
            </a:r>
          </a:p>
        </p:txBody>
      </p:sp>
      <p:sp>
        <p:nvSpPr>
          <p:cNvPr id="12" name="Text Box 12">
            <a:extLst>
              <a:ext uri="{FF2B5EF4-FFF2-40B4-BE49-F238E27FC236}">
                <a16:creationId xmlns:a16="http://schemas.microsoft.com/office/drawing/2014/main" id="{B8DA026F-F0F2-47BE-91B9-8A39042B007A}"/>
              </a:ext>
            </a:extLst>
          </p:cNvPr>
          <p:cNvSpPr txBox="1">
            <a:spLocks noChangeArrowheads="1"/>
          </p:cNvSpPr>
          <p:nvPr/>
        </p:nvSpPr>
        <p:spPr bwMode="auto">
          <a:xfrm>
            <a:off x="5896105" y="1672123"/>
            <a:ext cx="6295102" cy="2308324"/>
          </a:xfrm>
          <a:prstGeom prst="rect">
            <a:avLst/>
          </a:prstGeom>
          <a:noFill/>
          <a:ln>
            <a:noFill/>
          </a:ln>
        </p:spPr>
        <p:txBody>
          <a:bodyPr wrap="squar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lnSpc>
                <a:spcPct val="90000"/>
              </a:lnSpc>
              <a:spcBef>
                <a:spcPts val="0"/>
              </a:spcBef>
              <a:buClrTx/>
              <a:buSzTx/>
              <a:buFontTx/>
              <a:buNone/>
              <a:defRPr/>
            </a:pPr>
            <a:r>
              <a:rPr lang="en-US" altLang="zh-CN" sz="2000" dirty="0">
                <a:solidFill>
                  <a:srgbClr val="104E87"/>
                </a:solidFill>
                <a:latin typeface="Comic Sans MS" panose="030F0702030302020204" pitchFamily="66" charset="0"/>
                <a:ea typeface="华光行书_CNKI" panose="02000500000000000000" pitchFamily="2" charset="-122"/>
              </a:rPr>
              <a:t>class Clock{</a:t>
            </a:r>
          </a:p>
          <a:p>
            <a:pPr eaLnBrk="1" hangingPunct="1">
              <a:lnSpc>
                <a:spcPct val="90000"/>
              </a:lnSpc>
              <a:spcBef>
                <a:spcPts val="0"/>
              </a:spcBef>
              <a:buClrTx/>
              <a:buSzTx/>
              <a:buFontTx/>
              <a:buNone/>
              <a:defRPr/>
            </a:pPr>
            <a:r>
              <a:rPr lang="en-US" altLang="zh-CN" sz="2000" dirty="0">
                <a:solidFill>
                  <a:srgbClr val="104E87"/>
                </a:solidFill>
                <a:latin typeface="Comic Sans MS" panose="030F0702030302020204" pitchFamily="66" charset="0"/>
                <a:ea typeface="华光行书_CNKI" panose="02000500000000000000" pitchFamily="2" charset="-122"/>
              </a:rPr>
              <a:t>public: </a:t>
            </a:r>
          </a:p>
          <a:p>
            <a:pPr eaLnBrk="1" hangingPunct="1">
              <a:lnSpc>
                <a:spcPct val="90000"/>
              </a:lnSpc>
              <a:spcBef>
                <a:spcPts val="0"/>
              </a:spcBef>
              <a:buClrTx/>
              <a:buSzTx/>
              <a:buFontTx/>
              <a:buNone/>
              <a:defRPr/>
            </a:pPr>
            <a:r>
              <a:rPr lang="en-US" altLang="zh-CN" sz="2000" dirty="0">
                <a:solidFill>
                  <a:srgbClr val="104E87"/>
                </a:solidFill>
                <a:latin typeface="Comic Sans MS" panose="030F0702030302020204" pitchFamily="66" charset="0"/>
                <a:ea typeface="华光行书_CNKI" panose="02000500000000000000" pitchFamily="2" charset="-122"/>
              </a:rPr>
              <a:t>	Clock(int newH=0, int newMe=0, int newS=0);</a:t>
            </a:r>
          </a:p>
          <a:p>
            <a:pPr eaLnBrk="1" hangingPunct="1">
              <a:lnSpc>
                <a:spcPct val="90000"/>
              </a:lnSpc>
              <a:spcBef>
                <a:spcPts val="0"/>
              </a:spcBef>
              <a:buClrTx/>
              <a:buSzTx/>
              <a:buFontTx/>
              <a:buNone/>
              <a:defRPr/>
            </a:pPr>
            <a:r>
              <a:rPr lang="en-US" altLang="zh-CN" sz="2000" dirty="0">
                <a:solidFill>
                  <a:srgbClr val="104E87"/>
                </a:solidFill>
                <a:latin typeface="Comic Sans MS" panose="030F0702030302020204" pitchFamily="66" charset="0"/>
                <a:ea typeface="华光行书_CNKI" panose="02000500000000000000" pitchFamily="2" charset="-122"/>
              </a:rPr>
              <a:t>	void setTime(int newH, int newMe, int newS);</a:t>
            </a:r>
          </a:p>
          <a:p>
            <a:pPr eaLnBrk="1" hangingPunct="1">
              <a:lnSpc>
                <a:spcPct val="90000"/>
              </a:lnSpc>
              <a:spcBef>
                <a:spcPts val="0"/>
              </a:spcBef>
              <a:buClrTx/>
              <a:buSzTx/>
              <a:buFontTx/>
              <a:buNone/>
              <a:defRPr/>
            </a:pPr>
            <a:r>
              <a:rPr lang="en-US" altLang="zh-CN" sz="2000" dirty="0">
                <a:solidFill>
                  <a:srgbClr val="104E87"/>
                </a:solidFill>
                <a:latin typeface="Comic Sans MS" panose="030F0702030302020204" pitchFamily="66" charset="0"/>
                <a:ea typeface="华光行书_CNKI" panose="02000500000000000000" pitchFamily="2" charset="-122"/>
              </a:rPr>
              <a:t>	void showTime();</a:t>
            </a:r>
          </a:p>
          <a:p>
            <a:pPr eaLnBrk="1" hangingPunct="1">
              <a:lnSpc>
                <a:spcPct val="90000"/>
              </a:lnSpc>
              <a:spcBef>
                <a:spcPts val="0"/>
              </a:spcBef>
              <a:buClrTx/>
              <a:buSzTx/>
              <a:buFontTx/>
              <a:buNone/>
              <a:defRPr/>
            </a:pPr>
            <a:r>
              <a:rPr lang="en-US" altLang="zh-CN" sz="2000" dirty="0">
                <a:solidFill>
                  <a:srgbClr val="104E87"/>
                </a:solidFill>
                <a:latin typeface="Comic Sans MS" panose="030F0702030302020204" pitchFamily="66" charset="0"/>
                <a:ea typeface="华光行书_CNKI" panose="02000500000000000000" pitchFamily="2" charset="-122"/>
              </a:rPr>
              <a:t>private:</a:t>
            </a:r>
          </a:p>
          <a:p>
            <a:pPr eaLnBrk="1" hangingPunct="1">
              <a:lnSpc>
                <a:spcPct val="90000"/>
              </a:lnSpc>
              <a:spcBef>
                <a:spcPts val="0"/>
              </a:spcBef>
              <a:buClrTx/>
              <a:buSzTx/>
              <a:buFontTx/>
              <a:buNone/>
              <a:defRPr/>
            </a:pPr>
            <a:r>
              <a:rPr lang="en-US" altLang="zh-CN" sz="2000" dirty="0">
                <a:solidFill>
                  <a:srgbClr val="104E87"/>
                </a:solidFill>
                <a:latin typeface="Comic Sans MS" panose="030F0702030302020204" pitchFamily="66" charset="0"/>
                <a:ea typeface="华光行书_CNKI" panose="02000500000000000000" pitchFamily="2" charset="-122"/>
              </a:rPr>
              <a:t>	int hour, minute, second;</a:t>
            </a:r>
          </a:p>
          <a:p>
            <a:pPr eaLnBrk="1" hangingPunct="1">
              <a:lnSpc>
                <a:spcPct val="90000"/>
              </a:lnSpc>
              <a:spcBef>
                <a:spcPts val="0"/>
              </a:spcBef>
              <a:buClrTx/>
              <a:buSzTx/>
              <a:buFontTx/>
              <a:buNone/>
              <a:defRPr/>
            </a:pPr>
            <a:r>
              <a:rPr lang="en-US" altLang="zh-CN" sz="2000" dirty="0">
                <a:solidFill>
                  <a:srgbClr val="104E87"/>
                </a:solidFill>
                <a:latin typeface="Comic Sans MS" panose="030F0702030302020204" pitchFamily="66" charset="0"/>
                <a:ea typeface="华光行书_CNKI" panose="02000500000000000000" pitchFamily="2" charset="-122"/>
              </a:rPr>
              <a:t>};</a:t>
            </a:r>
          </a:p>
        </p:txBody>
      </p:sp>
      <p:sp>
        <p:nvSpPr>
          <p:cNvPr id="13" name="Rectangle 2">
            <a:extLst>
              <a:ext uri="{FF2B5EF4-FFF2-40B4-BE49-F238E27FC236}">
                <a16:creationId xmlns:a16="http://schemas.microsoft.com/office/drawing/2014/main" id="{548A95C6-2B5C-4A4E-8424-02175DC35416}"/>
              </a:ext>
            </a:extLst>
          </p:cNvPr>
          <p:cNvSpPr txBox="1">
            <a:spLocks noChangeArrowheads="1"/>
          </p:cNvSpPr>
          <p:nvPr/>
        </p:nvSpPr>
        <p:spPr bwMode="auto">
          <a:xfrm>
            <a:off x="5896898" y="4169586"/>
            <a:ext cx="6294309" cy="2308324"/>
          </a:xfrm>
          <a:prstGeom prst="rect">
            <a:avLst/>
          </a:prstGeom>
          <a:noFill/>
          <a:ln>
            <a:noFill/>
          </a:ln>
        </p:spPr>
        <p:txBody>
          <a:bodyPr wrap="square">
            <a:spAutoFit/>
          </a:bodyPr>
          <a:lstStyle>
            <a:defPPr>
              <a:defRPr lang="en-US"/>
            </a:defPPr>
            <a:lvl1pPr>
              <a:lnSpc>
                <a:spcPct val="90000"/>
              </a:lnSpc>
              <a:spcBef>
                <a:spcPts val="0"/>
              </a:spcBef>
              <a:buClrTx/>
              <a:buSzTx/>
              <a:buFontTx/>
              <a:buNone/>
              <a:defRPr sz="2000">
                <a:solidFill>
                  <a:srgbClr val="104E87"/>
                </a:solidFill>
                <a:latin typeface="Comic Sans MS" panose="030F0702030302020204" pitchFamily="66" charset="0"/>
                <a:ea typeface="黑体" panose="02010609060101010101"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r>
              <a:rPr lang="en-US" altLang="zh-CN" dirty="0">
                <a:ea typeface="华光行书_CNKI" panose="02000500000000000000" pitchFamily="2" charset="-122"/>
              </a:rPr>
              <a:t>Class TIME</a:t>
            </a:r>
            <a:r>
              <a:rPr lang="en-US" altLang="zh-CN" dirty="0">
                <a:solidFill>
                  <a:srgbClr val="FF0000"/>
                </a:solidFill>
                <a:ea typeface="华光行书_CNKI" panose="02000500000000000000" pitchFamily="2" charset="-122"/>
              </a:rPr>
              <a:t>: public Clock </a:t>
            </a:r>
            <a:r>
              <a:rPr lang="en-US" altLang="zh-CN" dirty="0">
                <a:ea typeface="华光行书_CNKI" panose="02000500000000000000" pitchFamily="2" charset="-122"/>
              </a:rPr>
              <a:t>{</a:t>
            </a:r>
          </a:p>
          <a:p>
            <a:r>
              <a:rPr lang="en-US" altLang="zh-CN" dirty="0">
                <a:ea typeface="华光行书_CNKI" panose="02000500000000000000" pitchFamily="2" charset="-122"/>
              </a:rPr>
              <a:t>public:</a:t>
            </a:r>
          </a:p>
          <a:p>
            <a:r>
              <a:rPr lang="en-US" altLang="zh-CN" dirty="0">
                <a:ea typeface="华光行书_CNKI" panose="02000500000000000000" pitchFamily="2" charset="-122"/>
              </a:rPr>
              <a:t> 	TIME(int yy = 0, int mm = 0, int dd = 0); </a:t>
            </a:r>
            <a:endParaRPr lang="zh-CN" altLang="en-US" dirty="0">
              <a:ea typeface="华光行书_CNKI" panose="02000500000000000000" pitchFamily="2" charset="-122"/>
            </a:endParaRPr>
          </a:p>
          <a:p>
            <a:r>
              <a:rPr lang="zh-CN" altLang="en-US" dirty="0">
                <a:ea typeface="华光行书_CNKI" panose="02000500000000000000" pitchFamily="2" charset="-122"/>
              </a:rPr>
              <a:t>	</a:t>
            </a:r>
            <a:r>
              <a:rPr lang="en-US" altLang="zh-CN" dirty="0">
                <a:ea typeface="华光行书_CNKI" panose="02000500000000000000" pitchFamily="2" charset="-122"/>
              </a:rPr>
              <a:t>void </a:t>
            </a:r>
            <a:r>
              <a:rPr lang="en-US" altLang="zh-CN" dirty="0" err="1">
                <a:ea typeface="华光行书_CNKI" panose="02000500000000000000" pitchFamily="2" charset="-122"/>
              </a:rPr>
              <a:t>setDate</a:t>
            </a:r>
            <a:r>
              <a:rPr lang="en-US" altLang="zh-CN" dirty="0">
                <a:ea typeface="华光行书_CNKI" panose="02000500000000000000" pitchFamily="2" charset="-122"/>
              </a:rPr>
              <a:t>(int </a:t>
            </a:r>
            <a:r>
              <a:rPr lang="en-US" altLang="zh-CN" dirty="0" err="1">
                <a:ea typeface="华光行书_CNKI" panose="02000500000000000000" pitchFamily="2" charset="-122"/>
              </a:rPr>
              <a:t>yy</a:t>
            </a:r>
            <a:r>
              <a:rPr lang="en-US" altLang="zh-CN" dirty="0">
                <a:ea typeface="华光行书_CNKI" panose="02000500000000000000" pitchFamily="2" charset="-122"/>
              </a:rPr>
              <a:t>, int mm, int dd); </a:t>
            </a:r>
            <a:r>
              <a:rPr lang="zh-CN" altLang="en-US" dirty="0">
                <a:ea typeface="华光行书_CNKI" panose="02000500000000000000" pitchFamily="2" charset="-122"/>
              </a:rPr>
              <a:t>	</a:t>
            </a:r>
          </a:p>
          <a:p>
            <a:r>
              <a:rPr lang="zh-CN" altLang="en-US" dirty="0">
                <a:ea typeface="华光行书_CNKI" panose="02000500000000000000" pitchFamily="2" charset="-122"/>
              </a:rPr>
              <a:t>	</a:t>
            </a:r>
            <a:r>
              <a:rPr lang="en-US" altLang="zh-CN" dirty="0">
                <a:ea typeface="华光行书_CNKI" panose="02000500000000000000" pitchFamily="2" charset="-122"/>
              </a:rPr>
              <a:t>void </a:t>
            </a:r>
            <a:r>
              <a:rPr lang="en-US" altLang="zh-CN" dirty="0" err="1">
                <a:ea typeface="华光行书_CNKI" panose="02000500000000000000" pitchFamily="2" charset="-122"/>
              </a:rPr>
              <a:t>showDate</a:t>
            </a:r>
            <a:r>
              <a:rPr lang="en-US" altLang="zh-CN" dirty="0">
                <a:ea typeface="华光行书_CNKI" panose="02000500000000000000" pitchFamily="2" charset="-122"/>
              </a:rPr>
              <a:t>(); </a:t>
            </a:r>
            <a:endParaRPr lang="zh-CN" altLang="en-US" dirty="0">
              <a:ea typeface="华光行书_CNKI" panose="02000500000000000000" pitchFamily="2" charset="-122"/>
            </a:endParaRPr>
          </a:p>
          <a:p>
            <a:r>
              <a:rPr lang="en-US" altLang="zh-CN" dirty="0">
                <a:ea typeface="华光行书_CNKI" panose="02000500000000000000" pitchFamily="2" charset="-122"/>
              </a:rPr>
              <a:t>private :</a:t>
            </a:r>
          </a:p>
          <a:p>
            <a:r>
              <a:rPr lang="en-US" altLang="zh-CN" dirty="0">
                <a:ea typeface="华光行书_CNKI" panose="02000500000000000000" pitchFamily="2" charset="-122"/>
              </a:rPr>
              <a:t>	int year, month, day;	// </a:t>
            </a:r>
            <a:r>
              <a:rPr lang="zh-CN" altLang="en-US" dirty="0">
                <a:ea typeface="华光行书_CNKI" panose="02000500000000000000" pitchFamily="2" charset="-122"/>
              </a:rPr>
              <a:t>年、月、日</a:t>
            </a:r>
            <a:endParaRPr lang="en-US" altLang="zh-CN" dirty="0">
              <a:ea typeface="华光行书_CNKI" panose="02000500000000000000" pitchFamily="2" charset="-122"/>
            </a:endParaRPr>
          </a:p>
          <a:p>
            <a:r>
              <a:rPr lang="en-US" altLang="zh-CN" dirty="0">
                <a:ea typeface="华光行书_CNKI" panose="02000500000000000000" pitchFamily="2" charset="-122"/>
              </a:rPr>
              <a:t>};</a:t>
            </a:r>
          </a:p>
        </p:txBody>
      </p:sp>
    </p:spTree>
    <p:extLst>
      <p:ext uri="{BB962C8B-B14F-4D97-AF65-F5344CB8AC3E}">
        <p14:creationId xmlns:p14="http://schemas.microsoft.com/office/powerpoint/2010/main" val="2967369261"/>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1E28F19E-BF80-4A79-B783-7078BDB0D652}"/>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9.2</a:t>
            </a:r>
            <a:r>
              <a:rPr lang="zh-CN" altLang="en-US" dirty="0">
                <a:sym typeface="+mn-lt"/>
              </a:rPr>
              <a:t>继承下的访问控制权</a:t>
            </a:r>
          </a:p>
        </p:txBody>
      </p:sp>
      <p:sp>
        <p:nvSpPr>
          <p:cNvPr id="12" name="Rectangle 4">
            <a:extLst>
              <a:ext uri="{FF2B5EF4-FFF2-40B4-BE49-F238E27FC236}">
                <a16:creationId xmlns:a16="http://schemas.microsoft.com/office/drawing/2014/main" id="{FD8E04C2-66B8-4C74-B3D8-8702DF9CFD95}"/>
              </a:ext>
            </a:extLst>
          </p:cNvPr>
          <p:cNvSpPr>
            <a:spLocks noChangeArrowheads="1"/>
          </p:cNvSpPr>
          <p:nvPr/>
        </p:nvSpPr>
        <p:spPr bwMode="auto">
          <a:xfrm>
            <a:off x="24462" y="922097"/>
            <a:ext cx="5632759" cy="2646878"/>
          </a:xfrm>
          <a:prstGeom prst="rect">
            <a:avLst/>
          </a:prstGeom>
          <a:noFill/>
          <a:ln>
            <a:noFill/>
          </a:ln>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nSpc>
                <a:spcPct val="150000"/>
              </a:lnSpc>
              <a:spcBef>
                <a:spcPct val="0"/>
              </a:spcBef>
            </a:pPr>
            <a:r>
              <a:rPr kumimoji="1" lang="zh-CN" altLang="en-US" b="0" dirty="0">
                <a:solidFill>
                  <a:srgbClr val="134F85"/>
                </a:solidFill>
                <a:latin typeface="华光行书_CNKI" panose="02000500000000000000" pitchFamily="2" charset="-122"/>
                <a:ea typeface="华光行书_CNKI" panose="02000500000000000000" pitchFamily="2" charset="-122"/>
              </a:rPr>
              <a:t>派生类对基类成员的访问有以下两种</a:t>
            </a:r>
            <a:r>
              <a:rPr kumimoji="1" lang="en-US" altLang="zh-CN" b="0" dirty="0">
                <a:solidFill>
                  <a:srgbClr val="134F85"/>
                </a:solidFill>
                <a:latin typeface="华光行书_CNKI" panose="02000500000000000000" pitchFamily="2" charset="-122"/>
                <a:ea typeface="华光行书_CNKI" panose="02000500000000000000" pitchFamily="2" charset="-122"/>
              </a:rPr>
              <a:t>:</a:t>
            </a:r>
          </a:p>
          <a:p>
            <a:pPr eaLnBrk="1" hangingPunct="1">
              <a:spcBef>
                <a:spcPts val="600"/>
              </a:spcBef>
              <a:buFont typeface="Wingdings" panose="05000000000000000000" pitchFamily="2" charset="2"/>
              <a:buChar char="l"/>
              <a:defRPr/>
            </a:pPr>
            <a:r>
              <a:rPr kumimoji="1" lang="zh-CN" altLang="en-US" b="0" dirty="0">
                <a:solidFill>
                  <a:srgbClr val="134F85"/>
                </a:solidFill>
                <a:latin typeface="华光行书_CNKI" panose="02000500000000000000" pitchFamily="2" charset="-122"/>
                <a:ea typeface="华光行书_CNKI" panose="02000500000000000000" pitchFamily="2" charset="-122"/>
              </a:rPr>
              <a:t>内部访问</a:t>
            </a:r>
            <a:r>
              <a:rPr kumimoji="1" lang="en-US" altLang="zh-CN" b="0" dirty="0">
                <a:solidFill>
                  <a:srgbClr val="134F85"/>
                </a:solidFill>
                <a:latin typeface="华光行书_CNKI" panose="02000500000000000000" pitchFamily="2" charset="-122"/>
                <a:ea typeface="华光行书_CNKI" panose="02000500000000000000" pitchFamily="2" charset="-122"/>
              </a:rPr>
              <a:t>(</a:t>
            </a:r>
            <a:r>
              <a:rPr kumimoji="1" lang="zh-CN" altLang="en-US" b="0" dirty="0">
                <a:solidFill>
                  <a:srgbClr val="134F85"/>
                </a:solidFill>
                <a:latin typeface="华光行书_CNKI" panose="02000500000000000000" pitchFamily="2" charset="-122"/>
                <a:ea typeface="华光行书_CNKI" panose="02000500000000000000" pitchFamily="2" charset="-122"/>
              </a:rPr>
              <a:t>派生类成员</a:t>
            </a:r>
            <a:r>
              <a:rPr kumimoji="1" lang="en-US" altLang="zh-CN" b="0" dirty="0">
                <a:solidFill>
                  <a:srgbClr val="134F85"/>
                </a:solidFill>
                <a:latin typeface="华光行书_CNKI" panose="02000500000000000000" pitchFamily="2" charset="-122"/>
                <a:ea typeface="华光行书_CNKI" panose="02000500000000000000" pitchFamily="2" charset="-122"/>
              </a:rPr>
              <a:t>):  </a:t>
            </a:r>
            <a:r>
              <a:rPr kumimoji="1" lang="zh-CN" altLang="en-US" b="0" dirty="0">
                <a:solidFill>
                  <a:srgbClr val="134F85"/>
                </a:solidFill>
                <a:latin typeface="华光行书_CNKI" panose="02000500000000000000" pitchFamily="2" charset="-122"/>
                <a:ea typeface="华光行书_CNKI" panose="02000500000000000000" pitchFamily="2" charset="-122"/>
              </a:rPr>
              <a:t>由派生类中新增成员对基类继承来的成员的访问。</a:t>
            </a:r>
            <a:endParaRPr kumimoji="1" lang="en-US" altLang="zh-CN" b="0" dirty="0">
              <a:solidFill>
                <a:srgbClr val="134F85"/>
              </a:solidFill>
              <a:latin typeface="华光行书_CNKI" panose="02000500000000000000" pitchFamily="2" charset="-122"/>
              <a:ea typeface="华光行书_CNKI" panose="02000500000000000000" pitchFamily="2" charset="-122"/>
            </a:endParaRPr>
          </a:p>
          <a:p>
            <a:pPr eaLnBrk="1" hangingPunct="1">
              <a:spcBef>
                <a:spcPts val="600"/>
              </a:spcBef>
              <a:buFont typeface="Wingdings" panose="05000000000000000000" pitchFamily="2" charset="2"/>
              <a:buChar char="l"/>
              <a:defRPr/>
            </a:pPr>
            <a:r>
              <a:rPr kumimoji="1" lang="zh-CN" altLang="en-US" b="0" dirty="0">
                <a:solidFill>
                  <a:srgbClr val="134F85"/>
                </a:solidFill>
                <a:latin typeface="华光行书_CNKI" panose="02000500000000000000" pitchFamily="2" charset="-122"/>
                <a:ea typeface="华光行书_CNKI" panose="02000500000000000000" pitchFamily="2" charset="-122"/>
              </a:rPr>
              <a:t>外部访问</a:t>
            </a:r>
            <a:r>
              <a:rPr kumimoji="1" lang="en-US" altLang="zh-CN" b="0" dirty="0">
                <a:solidFill>
                  <a:srgbClr val="134F85"/>
                </a:solidFill>
                <a:latin typeface="华光行书_CNKI" panose="02000500000000000000" pitchFamily="2" charset="-122"/>
                <a:ea typeface="华光行书_CNKI" panose="02000500000000000000" pitchFamily="2" charset="-122"/>
              </a:rPr>
              <a:t>(</a:t>
            </a:r>
            <a:r>
              <a:rPr kumimoji="1" lang="zh-CN" altLang="en-US" b="0" dirty="0">
                <a:solidFill>
                  <a:srgbClr val="134F85"/>
                </a:solidFill>
                <a:latin typeface="华光行书_CNKI" panose="02000500000000000000" pitchFamily="2" charset="-122"/>
                <a:ea typeface="华光行书_CNKI" panose="02000500000000000000" pitchFamily="2" charset="-122"/>
              </a:rPr>
              <a:t>派生类对象</a:t>
            </a:r>
            <a:r>
              <a:rPr kumimoji="1" lang="en-US" altLang="zh-CN" b="0" dirty="0">
                <a:solidFill>
                  <a:srgbClr val="134F85"/>
                </a:solidFill>
                <a:latin typeface="华光行书_CNKI" panose="02000500000000000000" pitchFamily="2" charset="-122"/>
                <a:ea typeface="华光行书_CNKI" panose="02000500000000000000" pitchFamily="2" charset="-122"/>
              </a:rPr>
              <a:t>):  </a:t>
            </a:r>
            <a:r>
              <a:rPr kumimoji="1" lang="zh-CN" altLang="en-US" b="0" dirty="0">
                <a:solidFill>
                  <a:srgbClr val="134F85"/>
                </a:solidFill>
                <a:latin typeface="华光行书_CNKI" panose="02000500000000000000" pitchFamily="2" charset="-122"/>
                <a:ea typeface="华光行书_CNKI" panose="02000500000000000000" pitchFamily="2" charset="-122"/>
              </a:rPr>
              <a:t>在派生类外部</a:t>
            </a:r>
            <a:r>
              <a:rPr kumimoji="1" lang="en-US" altLang="zh-CN" b="0" dirty="0">
                <a:solidFill>
                  <a:srgbClr val="134F85"/>
                </a:solidFill>
                <a:latin typeface="华光行书_CNKI" panose="02000500000000000000" pitchFamily="2" charset="-122"/>
                <a:ea typeface="华光行书_CNKI" panose="02000500000000000000" pitchFamily="2" charset="-122"/>
              </a:rPr>
              <a:t>,</a:t>
            </a:r>
            <a:r>
              <a:rPr kumimoji="1" lang="zh-CN" altLang="en-US" b="0" dirty="0">
                <a:solidFill>
                  <a:srgbClr val="134F85"/>
                </a:solidFill>
                <a:latin typeface="华光行书_CNKI" panose="02000500000000000000" pitchFamily="2" charset="-122"/>
                <a:ea typeface="华光行书_CNKI" panose="02000500000000000000" pitchFamily="2" charset="-122"/>
              </a:rPr>
              <a:t>通过派生类的对象对从基类继承来的成员的访问。</a:t>
            </a:r>
          </a:p>
        </p:txBody>
      </p:sp>
      <p:sp>
        <p:nvSpPr>
          <p:cNvPr id="13" name="Rectangle 4">
            <a:extLst>
              <a:ext uri="{FF2B5EF4-FFF2-40B4-BE49-F238E27FC236}">
                <a16:creationId xmlns:a16="http://schemas.microsoft.com/office/drawing/2014/main" id="{8EA2F11F-309C-4AE8-BDF3-5793A7A7A525}"/>
              </a:ext>
            </a:extLst>
          </p:cNvPr>
          <p:cNvSpPr>
            <a:spLocks noChangeArrowheads="1"/>
          </p:cNvSpPr>
          <p:nvPr/>
        </p:nvSpPr>
        <p:spPr bwMode="auto">
          <a:xfrm>
            <a:off x="42897" y="3704876"/>
            <a:ext cx="5130341" cy="2092881"/>
          </a:xfrm>
          <a:prstGeom prst="rect">
            <a:avLst/>
          </a:prstGeom>
          <a:noFill/>
          <a:ln>
            <a:noFill/>
          </a:ln>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spcBef>
                <a:spcPts val="600"/>
              </a:spcBef>
            </a:pPr>
            <a:r>
              <a:rPr kumimoji="1" lang="zh-CN" altLang="en-US" b="0" dirty="0">
                <a:solidFill>
                  <a:srgbClr val="FF0000"/>
                </a:solidFill>
                <a:latin typeface="华光行书_CNKI" panose="02000500000000000000" pitchFamily="2" charset="-122"/>
                <a:ea typeface="华光行书_CNKI" panose="02000500000000000000" pitchFamily="2" charset="-122"/>
              </a:rPr>
              <a:t>结论</a:t>
            </a:r>
            <a:endParaRPr kumimoji="1" lang="en-US" altLang="zh-CN" b="0" dirty="0">
              <a:solidFill>
                <a:srgbClr val="FF0000"/>
              </a:solidFill>
              <a:latin typeface="华光行书_CNKI" panose="02000500000000000000" pitchFamily="2" charset="-122"/>
              <a:ea typeface="华光行书_CNKI" panose="02000500000000000000" pitchFamily="2" charset="-122"/>
            </a:endParaRPr>
          </a:p>
          <a:p>
            <a:pPr eaLnBrk="1" hangingPunct="1">
              <a:spcBef>
                <a:spcPts val="600"/>
              </a:spcBef>
              <a:buFont typeface="Wingdings" panose="05000000000000000000" pitchFamily="2" charset="2"/>
              <a:buChar char="l"/>
              <a:defRPr/>
            </a:pPr>
            <a:r>
              <a:rPr kumimoji="1" lang="zh-CN" altLang="en-US" b="0" dirty="0">
                <a:solidFill>
                  <a:srgbClr val="FF0000"/>
                </a:solidFill>
                <a:latin typeface="华光行书_CNKI" panose="02000500000000000000" pitchFamily="2" charset="-122"/>
                <a:ea typeface="华光行书_CNKI" panose="02000500000000000000" pitchFamily="2" charset="-122"/>
              </a:rPr>
              <a:t>派生类成员：可访问基类中的公有成员和保护成员</a:t>
            </a:r>
            <a:endParaRPr kumimoji="1" lang="en-US" altLang="zh-CN" b="0" dirty="0">
              <a:solidFill>
                <a:srgbClr val="FF0000"/>
              </a:solidFill>
              <a:latin typeface="华光行书_CNKI" panose="02000500000000000000" pitchFamily="2" charset="-122"/>
              <a:ea typeface="华光行书_CNKI" panose="02000500000000000000" pitchFamily="2" charset="-122"/>
            </a:endParaRPr>
          </a:p>
          <a:p>
            <a:pPr eaLnBrk="1" hangingPunct="1">
              <a:spcBef>
                <a:spcPts val="600"/>
              </a:spcBef>
              <a:buFont typeface="Wingdings" panose="05000000000000000000" pitchFamily="2" charset="2"/>
              <a:buChar char="l"/>
              <a:defRPr/>
            </a:pPr>
            <a:r>
              <a:rPr kumimoji="1" lang="zh-CN" altLang="en-US" b="0" dirty="0">
                <a:solidFill>
                  <a:srgbClr val="FF0000"/>
                </a:solidFill>
                <a:latin typeface="华光行书_CNKI" panose="02000500000000000000" pitchFamily="2" charset="-122"/>
                <a:ea typeface="华光行书_CNKI" panose="02000500000000000000" pitchFamily="2" charset="-122"/>
              </a:rPr>
              <a:t>派生类对象：可访问公有继承下基类中的公有成员</a:t>
            </a:r>
            <a:endParaRPr kumimoji="1" lang="en-US" altLang="zh-CN" b="0" dirty="0">
              <a:solidFill>
                <a:srgbClr val="FF0000"/>
              </a:solidFill>
              <a:latin typeface="华光行书_CNKI" panose="02000500000000000000" pitchFamily="2" charset="-122"/>
              <a:ea typeface="华光行书_CNKI" panose="02000500000000000000" pitchFamily="2" charset="-122"/>
            </a:endParaRPr>
          </a:p>
        </p:txBody>
      </p:sp>
      <p:sp>
        <p:nvSpPr>
          <p:cNvPr id="8" name="Rectangle 17">
            <a:extLst>
              <a:ext uri="{FF2B5EF4-FFF2-40B4-BE49-F238E27FC236}">
                <a16:creationId xmlns:a16="http://schemas.microsoft.com/office/drawing/2014/main" id="{7A892A90-E596-48DE-9CCF-9C0CA2D53325}"/>
              </a:ext>
            </a:extLst>
          </p:cNvPr>
          <p:cNvSpPr>
            <a:spLocks noChangeArrowheads="1"/>
          </p:cNvSpPr>
          <p:nvPr/>
        </p:nvSpPr>
        <p:spPr bwMode="auto">
          <a:xfrm>
            <a:off x="5902114" y="1034458"/>
            <a:ext cx="2325129" cy="3939540"/>
          </a:xfrm>
          <a:prstGeom prst="rect">
            <a:avLst/>
          </a:prstGeom>
          <a:noFill/>
          <a:ln w="28575" algn="ctr">
            <a:noFill/>
            <a:miter lim="800000"/>
            <a:headEnd/>
            <a:tailEnd/>
          </a:ln>
        </p:spPr>
        <p:txBody>
          <a:bodyPr wrap="square">
            <a:spAutoFit/>
          </a:bodyPr>
          <a:lstStyle/>
          <a:p>
            <a:pPr eaLnBrk="1" hangingPunct="1">
              <a:defRPr/>
            </a:pPr>
            <a:r>
              <a:rPr kumimoji="1" lang="zh-CN" altLang="en-US" dirty="0">
                <a:solidFill>
                  <a:srgbClr val="104E87"/>
                </a:solidFill>
                <a:latin typeface="华光行书_CNKI" panose="02000500000000000000" pitchFamily="2" charset="-122"/>
                <a:ea typeface="华光行书_CNKI" panose="02000500000000000000" pitchFamily="2" charset="-122"/>
              </a:rPr>
              <a:t>三种继承方式</a:t>
            </a:r>
          </a:p>
          <a:p>
            <a:pPr marL="514350" indent="-514350" eaLnBrk="1" hangingPunct="1">
              <a:spcBef>
                <a:spcPts val="1200"/>
              </a:spcBef>
              <a:buFontTx/>
              <a:buAutoNum type="arabicParenBoth"/>
              <a:defRPr/>
            </a:pPr>
            <a:r>
              <a:rPr kumimoji="1" lang="zh-CN" altLang="en-US" dirty="0">
                <a:solidFill>
                  <a:srgbClr val="104E87"/>
                </a:solidFill>
                <a:latin typeface="华光行书_CNKI" panose="02000500000000000000" pitchFamily="2" charset="-122"/>
                <a:ea typeface="华光行书_CNKI" panose="02000500000000000000" pitchFamily="2" charset="-122"/>
              </a:rPr>
              <a:t>公有继承</a:t>
            </a:r>
            <a:endParaRPr kumimoji="1" lang="en-US" altLang="zh-CN" dirty="0">
              <a:solidFill>
                <a:srgbClr val="104E87"/>
              </a:solidFill>
              <a:latin typeface="华光行书_CNKI" panose="02000500000000000000" pitchFamily="2" charset="-122"/>
              <a:ea typeface="华光行书_CNKI" panose="02000500000000000000" pitchFamily="2" charset="-122"/>
            </a:endParaRPr>
          </a:p>
          <a:p>
            <a:pPr marL="514350" indent="-514350" eaLnBrk="1" hangingPunct="1">
              <a:defRPr/>
            </a:pPr>
            <a:endParaRPr kumimoji="1" lang="en-US" altLang="zh-CN" dirty="0">
              <a:solidFill>
                <a:srgbClr val="104E87"/>
              </a:solidFill>
              <a:latin typeface="华光行书_CNKI" panose="02000500000000000000" pitchFamily="2" charset="-122"/>
              <a:ea typeface="华光行书_CNKI" panose="02000500000000000000" pitchFamily="2" charset="-122"/>
            </a:endParaRPr>
          </a:p>
          <a:p>
            <a:pPr marL="514350" indent="-514350" eaLnBrk="1" hangingPunct="1">
              <a:defRPr/>
            </a:pPr>
            <a:endParaRPr kumimoji="1" lang="en-US" altLang="zh-CN" dirty="0">
              <a:solidFill>
                <a:srgbClr val="104E87"/>
              </a:solidFill>
              <a:latin typeface="华光行书_CNKI" panose="02000500000000000000" pitchFamily="2" charset="-122"/>
              <a:ea typeface="华光行书_CNKI" panose="02000500000000000000" pitchFamily="2" charset="-122"/>
            </a:endParaRPr>
          </a:p>
          <a:p>
            <a:pPr marL="514350" indent="-514350" eaLnBrk="1" hangingPunct="1">
              <a:defRPr/>
            </a:pPr>
            <a:endParaRPr kumimoji="1" lang="zh-CN" altLang="en-US" dirty="0">
              <a:solidFill>
                <a:srgbClr val="104E87"/>
              </a:solidFill>
              <a:latin typeface="华光行书_CNKI" panose="02000500000000000000" pitchFamily="2" charset="-122"/>
              <a:ea typeface="华光行书_CNKI" panose="02000500000000000000" pitchFamily="2" charset="-122"/>
            </a:endParaRPr>
          </a:p>
          <a:p>
            <a:pPr eaLnBrk="1" hangingPunct="1">
              <a:defRPr/>
            </a:pPr>
            <a:r>
              <a:rPr kumimoji="1" lang="en-US" altLang="zh-CN" dirty="0">
                <a:solidFill>
                  <a:srgbClr val="104E87"/>
                </a:solidFill>
                <a:latin typeface="华光行书_CNKI" panose="02000500000000000000" pitchFamily="2" charset="-122"/>
                <a:ea typeface="华光行书_CNKI" panose="02000500000000000000" pitchFamily="2" charset="-122"/>
              </a:rPr>
              <a:t>(2) </a:t>
            </a:r>
            <a:r>
              <a:rPr kumimoji="1" lang="zh-CN" altLang="en-US" dirty="0">
                <a:solidFill>
                  <a:srgbClr val="104E87"/>
                </a:solidFill>
                <a:latin typeface="华光行书_CNKI" panose="02000500000000000000" pitchFamily="2" charset="-122"/>
                <a:ea typeface="华光行书_CNKI" panose="02000500000000000000" pitchFamily="2" charset="-122"/>
              </a:rPr>
              <a:t>私有继承</a:t>
            </a:r>
            <a:endParaRPr kumimoji="1" lang="en-US" altLang="zh-CN" dirty="0">
              <a:solidFill>
                <a:srgbClr val="104E87"/>
              </a:solidFill>
              <a:latin typeface="华光行书_CNKI" panose="02000500000000000000" pitchFamily="2" charset="-122"/>
              <a:ea typeface="华光行书_CNKI" panose="02000500000000000000" pitchFamily="2" charset="-122"/>
            </a:endParaRPr>
          </a:p>
          <a:p>
            <a:pPr eaLnBrk="1" hangingPunct="1">
              <a:defRPr/>
            </a:pPr>
            <a:endParaRPr kumimoji="1" lang="en-US" altLang="zh-CN" dirty="0">
              <a:solidFill>
                <a:srgbClr val="104E87"/>
              </a:solidFill>
              <a:latin typeface="华光行书_CNKI" panose="02000500000000000000" pitchFamily="2" charset="-122"/>
              <a:ea typeface="华光行书_CNKI" panose="02000500000000000000" pitchFamily="2" charset="-122"/>
            </a:endParaRPr>
          </a:p>
          <a:p>
            <a:pPr eaLnBrk="1" hangingPunct="1">
              <a:defRPr/>
            </a:pPr>
            <a:endParaRPr kumimoji="1" lang="en-US" altLang="zh-CN" dirty="0">
              <a:solidFill>
                <a:srgbClr val="104E87"/>
              </a:solidFill>
              <a:latin typeface="华光行书_CNKI" panose="02000500000000000000" pitchFamily="2" charset="-122"/>
              <a:ea typeface="华光行书_CNKI" panose="02000500000000000000" pitchFamily="2" charset="-122"/>
            </a:endParaRPr>
          </a:p>
          <a:p>
            <a:pPr eaLnBrk="1" hangingPunct="1">
              <a:defRPr/>
            </a:pPr>
            <a:endParaRPr kumimoji="1" lang="zh-CN" altLang="en-US" dirty="0">
              <a:solidFill>
                <a:srgbClr val="104E87"/>
              </a:solidFill>
              <a:latin typeface="华光行书_CNKI" panose="02000500000000000000" pitchFamily="2" charset="-122"/>
              <a:ea typeface="华光行书_CNKI" panose="02000500000000000000" pitchFamily="2" charset="-122"/>
            </a:endParaRPr>
          </a:p>
          <a:p>
            <a:pPr eaLnBrk="1" hangingPunct="1">
              <a:defRPr/>
            </a:pPr>
            <a:r>
              <a:rPr kumimoji="1" lang="en-US" altLang="zh-CN" dirty="0">
                <a:solidFill>
                  <a:srgbClr val="104E87"/>
                </a:solidFill>
                <a:latin typeface="华光行书_CNKI" panose="02000500000000000000" pitchFamily="2" charset="-122"/>
                <a:ea typeface="华光行书_CNKI" panose="02000500000000000000" pitchFamily="2" charset="-122"/>
              </a:rPr>
              <a:t>(3) </a:t>
            </a:r>
            <a:r>
              <a:rPr kumimoji="1" lang="zh-CN" altLang="en-US" dirty="0">
                <a:solidFill>
                  <a:srgbClr val="104E87"/>
                </a:solidFill>
                <a:latin typeface="华光行书_CNKI" panose="02000500000000000000" pitchFamily="2" charset="-122"/>
                <a:ea typeface="华光行书_CNKI" panose="02000500000000000000" pitchFamily="2" charset="-122"/>
              </a:rPr>
              <a:t>保护继承</a:t>
            </a:r>
          </a:p>
        </p:txBody>
      </p:sp>
      <p:sp>
        <p:nvSpPr>
          <p:cNvPr id="9" name="Rectangle 17">
            <a:extLst>
              <a:ext uri="{FF2B5EF4-FFF2-40B4-BE49-F238E27FC236}">
                <a16:creationId xmlns:a16="http://schemas.microsoft.com/office/drawing/2014/main" id="{0E8ADF39-5DD4-43D6-B5BF-58B10A69054B}"/>
              </a:ext>
            </a:extLst>
          </p:cNvPr>
          <p:cNvSpPr>
            <a:spLocks noChangeArrowheads="1"/>
          </p:cNvSpPr>
          <p:nvPr/>
        </p:nvSpPr>
        <p:spPr bwMode="auto">
          <a:xfrm>
            <a:off x="7822796" y="1351508"/>
            <a:ext cx="4566821"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r>
              <a:rPr lang="en-US" altLang="zh-CN" b="0" spc="-100" dirty="0">
                <a:solidFill>
                  <a:srgbClr val="104E87"/>
                </a:solidFill>
                <a:latin typeface="华光行书_CNKI" panose="02000500000000000000" pitchFamily="2" charset="-122"/>
                <a:ea typeface="华光行书_CNKI" panose="02000500000000000000" pitchFamily="2" charset="-122"/>
              </a:rPr>
              <a:t>class </a:t>
            </a:r>
            <a:r>
              <a:rPr lang="en-US" altLang="zh-CN" b="0" kern="0" spc="-100" dirty="0">
                <a:solidFill>
                  <a:srgbClr val="104E87"/>
                </a:solidFill>
                <a:latin typeface="华光行书_CNKI" panose="02000500000000000000" pitchFamily="2" charset="-122"/>
                <a:ea typeface="华光行书_CNKI" panose="02000500000000000000" pitchFamily="2" charset="-122"/>
              </a:rPr>
              <a:t> TIME </a:t>
            </a:r>
            <a:r>
              <a:rPr lang="en-US" altLang="zh-CN" b="0" spc="-100" dirty="0">
                <a:solidFill>
                  <a:srgbClr val="FF0000"/>
                </a:solidFill>
                <a:latin typeface="华光行书_CNKI" panose="02000500000000000000" pitchFamily="2" charset="-122"/>
                <a:ea typeface="华光行书_CNKI" panose="02000500000000000000" pitchFamily="2" charset="-122"/>
              </a:rPr>
              <a:t>: public </a:t>
            </a:r>
            <a:r>
              <a:rPr lang="en-US" altLang="zh-CN" b="0" kern="0" spc="-100" dirty="0">
                <a:solidFill>
                  <a:srgbClr val="FF0000"/>
                </a:solidFill>
                <a:latin typeface="华光行书_CNKI" panose="02000500000000000000" pitchFamily="2" charset="-122"/>
                <a:ea typeface="华光行书_CNKI" panose="02000500000000000000" pitchFamily="2" charset="-122"/>
              </a:rPr>
              <a:t> </a:t>
            </a:r>
            <a:r>
              <a:rPr lang="en-US" altLang="zh-CN" b="0" kern="0" spc="-100" dirty="0">
                <a:solidFill>
                  <a:srgbClr val="104E87"/>
                </a:solidFill>
                <a:latin typeface="华光行书_CNKI" panose="02000500000000000000" pitchFamily="2" charset="-122"/>
                <a:ea typeface="华光行书_CNKI" panose="02000500000000000000" pitchFamily="2" charset="-122"/>
              </a:rPr>
              <a:t>Clock </a:t>
            </a:r>
            <a:r>
              <a:rPr lang="en-US" altLang="zh-CN" b="0" spc="-100" dirty="0">
                <a:solidFill>
                  <a:srgbClr val="104E87"/>
                </a:solidFill>
                <a:latin typeface="华光行书_CNKI" panose="02000500000000000000" pitchFamily="2" charset="-122"/>
                <a:ea typeface="华光行书_CNKI" panose="02000500000000000000" pitchFamily="2" charset="-122"/>
              </a:rPr>
              <a:t>{ </a:t>
            </a:r>
          </a:p>
          <a:p>
            <a:pPr eaLnBrk="1" hangingPunct="1">
              <a:defRPr/>
            </a:pPr>
            <a:r>
              <a:rPr lang="en-US" altLang="zh-CN" b="0" spc="-100" dirty="0">
                <a:solidFill>
                  <a:srgbClr val="104E87"/>
                </a:solidFill>
                <a:latin typeface="华光行书_CNKI" panose="02000500000000000000" pitchFamily="2" charset="-122"/>
                <a:ea typeface="华光行书_CNKI" panose="02000500000000000000" pitchFamily="2" charset="-122"/>
              </a:rPr>
              <a:t> </a:t>
            </a:r>
            <a:r>
              <a:rPr kumimoji="1" lang="en-US" altLang="zh-CN" b="0" spc="-100" dirty="0">
                <a:solidFill>
                  <a:srgbClr val="104E87"/>
                </a:solidFill>
                <a:latin typeface="华光行书_CNKI" panose="02000500000000000000" pitchFamily="2" charset="-122"/>
                <a:ea typeface="华光行书_CNKI" panose="02000500000000000000" pitchFamily="2" charset="-122"/>
              </a:rPr>
              <a:t>//……</a:t>
            </a:r>
            <a:endParaRPr kumimoji="1" lang="zh-CN" altLang="en-US" b="0" spc="-100" dirty="0">
              <a:solidFill>
                <a:srgbClr val="104E87"/>
              </a:solidFill>
              <a:latin typeface="华光行书_CNKI" panose="02000500000000000000" pitchFamily="2" charset="-122"/>
              <a:ea typeface="华光行书_CNKI" panose="02000500000000000000" pitchFamily="2" charset="-122"/>
            </a:endParaRPr>
          </a:p>
          <a:p>
            <a:pPr eaLnBrk="1" hangingPunct="1">
              <a:defRPr/>
            </a:pPr>
            <a:r>
              <a:rPr lang="en-US" altLang="zh-CN" b="0" spc="-100" dirty="0">
                <a:solidFill>
                  <a:srgbClr val="104E87"/>
                </a:solidFill>
                <a:latin typeface="华光行书_CNKI" panose="02000500000000000000" pitchFamily="2" charset="-122"/>
                <a:ea typeface="华光行书_CNKI" panose="02000500000000000000" pitchFamily="2" charset="-122"/>
              </a:rPr>
              <a:t>};</a:t>
            </a:r>
            <a:r>
              <a:rPr kumimoji="1" lang="en-US" altLang="zh-CN" b="0" spc="-100" dirty="0">
                <a:solidFill>
                  <a:srgbClr val="104E87"/>
                </a:solidFill>
                <a:latin typeface="华光行书_CNKI" panose="02000500000000000000" pitchFamily="2" charset="-122"/>
                <a:ea typeface="华光行书_CNKI" panose="02000500000000000000" pitchFamily="2" charset="-122"/>
              </a:rPr>
              <a:t> </a:t>
            </a:r>
          </a:p>
          <a:p>
            <a:pPr eaLnBrk="1" hangingPunct="1">
              <a:defRPr/>
            </a:pPr>
            <a:endParaRPr kumimoji="1" lang="en-US" altLang="zh-CN" b="0" spc="-100" dirty="0">
              <a:solidFill>
                <a:srgbClr val="104E87"/>
              </a:solidFill>
              <a:latin typeface="华光行书_CNKI" panose="02000500000000000000" pitchFamily="2" charset="-122"/>
              <a:ea typeface="华光行书_CNKI" panose="02000500000000000000" pitchFamily="2" charset="-122"/>
            </a:endParaRPr>
          </a:p>
          <a:p>
            <a:pPr eaLnBrk="1" hangingPunct="1">
              <a:defRPr/>
            </a:pPr>
            <a:r>
              <a:rPr lang="en-US" altLang="zh-CN" b="0" spc="-100" dirty="0">
                <a:solidFill>
                  <a:srgbClr val="104E87"/>
                </a:solidFill>
                <a:latin typeface="华光行书_CNKI" panose="02000500000000000000" pitchFamily="2" charset="-122"/>
                <a:ea typeface="华光行书_CNKI" panose="02000500000000000000" pitchFamily="2" charset="-122"/>
              </a:rPr>
              <a:t>class </a:t>
            </a:r>
            <a:r>
              <a:rPr lang="en-US" altLang="zh-CN" b="0" kern="0" spc="-100" dirty="0">
                <a:solidFill>
                  <a:srgbClr val="104E87"/>
                </a:solidFill>
                <a:latin typeface="华光行书_CNKI" panose="02000500000000000000" pitchFamily="2" charset="-122"/>
                <a:ea typeface="华光行书_CNKI" panose="02000500000000000000" pitchFamily="2" charset="-122"/>
              </a:rPr>
              <a:t> TIME </a:t>
            </a:r>
            <a:r>
              <a:rPr lang="en-US" altLang="zh-CN" b="0" spc="-100" dirty="0">
                <a:solidFill>
                  <a:srgbClr val="FF0000"/>
                </a:solidFill>
                <a:latin typeface="华光行书_CNKI" panose="02000500000000000000" pitchFamily="2" charset="-122"/>
                <a:ea typeface="华光行书_CNKI" panose="02000500000000000000" pitchFamily="2" charset="-122"/>
              </a:rPr>
              <a:t>:private </a:t>
            </a:r>
            <a:r>
              <a:rPr lang="en-US" altLang="zh-CN" b="0" kern="0" spc="-100" dirty="0">
                <a:solidFill>
                  <a:srgbClr val="FF0000"/>
                </a:solidFill>
                <a:latin typeface="华光行书_CNKI" panose="02000500000000000000" pitchFamily="2" charset="-122"/>
                <a:ea typeface="华光行书_CNKI" panose="02000500000000000000" pitchFamily="2" charset="-122"/>
              </a:rPr>
              <a:t> </a:t>
            </a:r>
            <a:r>
              <a:rPr lang="en-US" altLang="zh-CN" b="0" kern="0" spc="-100" dirty="0">
                <a:solidFill>
                  <a:srgbClr val="104E87"/>
                </a:solidFill>
                <a:latin typeface="华光行书_CNKI" panose="02000500000000000000" pitchFamily="2" charset="-122"/>
                <a:ea typeface="华光行书_CNKI" panose="02000500000000000000" pitchFamily="2" charset="-122"/>
              </a:rPr>
              <a:t>Clock</a:t>
            </a:r>
            <a:r>
              <a:rPr lang="en-US" altLang="zh-CN" b="0" spc="-100" dirty="0">
                <a:solidFill>
                  <a:srgbClr val="104E87"/>
                </a:solidFill>
                <a:latin typeface="华光行书_CNKI" panose="02000500000000000000" pitchFamily="2" charset="-122"/>
                <a:ea typeface="华光行书_CNKI" panose="02000500000000000000" pitchFamily="2" charset="-122"/>
              </a:rPr>
              <a:t> { </a:t>
            </a:r>
          </a:p>
          <a:p>
            <a:pPr eaLnBrk="1" hangingPunct="1">
              <a:defRPr/>
            </a:pPr>
            <a:r>
              <a:rPr lang="en-US" altLang="zh-CN" b="0" spc="-100" dirty="0">
                <a:solidFill>
                  <a:srgbClr val="104E87"/>
                </a:solidFill>
                <a:latin typeface="华光行书_CNKI" panose="02000500000000000000" pitchFamily="2" charset="-122"/>
                <a:ea typeface="华光行书_CNKI" panose="02000500000000000000" pitchFamily="2" charset="-122"/>
              </a:rPr>
              <a:t> </a:t>
            </a:r>
            <a:r>
              <a:rPr kumimoji="1" lang="en-US" altLang="zh-CN" b="0" spc="-100" dirty="0">
                <a:solidFill>
                  <a:srgbClr val="104E87"/>
                </a:solidFill>
                <a:latin typeface="华光行书_CNKI" panose="02000500000000000000" pitchFamily="2" charset="-122"/>
                <a:ea typeface="华光行书_CNKI" panose="02000500000000000000" pitchFamily="2" charset="-122"/>
              </a:rPr>
              <a:t>//……</a:t>
            </a:r>
            <a:endParaRPr kumimoji="1" lang="zh-CN" altLang="en-US" b="0" spc="-100" dirty="0">
              <a:solidFill>
                <a:srgbClr val="104E87"/>
              </a:solidFill>
              <a:latin typeface="华光行书_CNKI" panose="02000500000000000000" pitchFamily="2" charset="-122"/>
              <a:ea typeface="华光行书_CNKI" panose="02000500000000000000" pitchFamily="2" charset="-122"/>
            </a:endParaRPr>
          </a:p>
          <a:p>
            <a:pPr eaLnBrk="1" hangingPunct="1">
              <a:defRPr/>
            </a:pPr>
            <a:r>
              <a:rPr lang="en-US" altLang="zh-CN" b="0" spc="-100" dirty="0">
                <a:solidFill>
                  <a:srgbClr val="104E87"/>
                </a:solidFill>
                <a:latin typeface="华光行书_CNKI" panose="02000500000000000000" pitchFamily="2" charset="-122"/>
                <a:ea typeface="华光行书_CNKI" panose="02000500000000000000" pitchFamily="2" charset="-122"/>
              </a:rPr>
              <a:t>};</a:t>
            </a:r>
          </a:p>
          <a:p>
            <a:pPr eaLnBrk="1" hangingPunct="1">
              <a:defRPr/>
            </a:pPr>
            <a:endParaRPr lang="en-US" altLang="zh-CN" b="0" spc="-100" dirty="0">
              <a:solidFill>
                <a:srgbClr val="104E87"/>
              </a:solidFill>
              <a:latin typeface="华光行书_CNKI" panose="02000500000000000000" pitchFamily="2" charset="-122"/>
              <a:ea typeface="华光行书_CNKI" panose="02000500000000000000" pitchFamily="2" charset="-122"/>
            </a:endParaRPr>
          </a:p>
          <a:p>
            <a:pPr eaLnBrk="1" hangingPunct="1">
              <a:defRPr/>
            </a:pPr>
            <a:r>
              <a:rPr lang="en-US" altLang="zh-CN" b="0" spc="-100" dirty="0">
                <a:solidFill>
                  <a:srgbClr val="104E87"/>
                </a:solidFill>
                <a:latin typeface="华光行书_CNKI" panose="02000500000000000000" pitchFamily="2" charset="-122"/>
                <a:ea typeface="华光行书_CNKI" panose="02000500000000000000" pitchFamily="2" charset="-122"/>
              </a:rPr>
              <a:t>class </a:t>
            </a:r>
            <a:r>
              <a:rPr lang="en-US" altLang="zh-CN" b="0" kern="0" spc="-100" dirty="0">
                <a:solidFill>
                  <a:srgbClr val="104E87"/>
                </a:solidFill>
                <a:latin typeface="华光行书_CNKI" panose="02000500000000000000" pitchFamily="2" charset="-122"/>
                <a:ea typeface="华光行书_CNKI" panose="02000500000000000000" pitchFamily="2" charset="-122"/>
              </a:rPr>
              <a:t> TIME </a:t>
            </a:r>
            <a:r>
              <a:rPr lang="en-US" altLang="zh-CN" b="0" spc="-100" dirty="0">
                <a:solidFill>
                  <a:srgbClr val="FF0000"/>
                </a:solidFill>
                <a:latin typeface="华光行书_CNKI" panose="02000500000000000000" pitchFamily="2" charset="-122"/>
                <a:ea typeface="华光行书_CNKI" panose="02000500000000000000" pitchFamily="2" charset="-122"/>
              </a:rPr>
              <a:t>:protected </a:t>
            </a:r>
            <a:r>
              <a:rPr lang="en-US" altLang="zh-CN" b="0" kern="0" spc="-100" dirty="0">
                <a:solidFill>
                  <a:srgbClr val="FF0000"/>
                </a:solidFill>
                <a:latin typeface="华光行书_CNKI" panose="02000500000000000000" pitchFamily="2" charset="-122"/>
                <a:ea typeface="华光行书_CNKI" panose="02000500000000000000" pitchFamily="2" charset="-122"/>
              </a:rPr>
              <a:t> </a:t>
            </a:r>
            <a:r>
              <a:rPr lang="en-US" altLang="zh-CN" b="0" kern="0" spc="-100" dirty="0">
                <a:solidFill>
                  <a:srgbClr val="104E87"/>
                </a:solidFill>
                <a:latin typeface="华光行书_CNKI" panose="02000500000000000000" pitchFamily="2" charset="-122"/>
                <a:ea typeface="华光行书_CNKI" panose="02000500000000000000" pitchFamily="2" charset="-122"/>
              </a:rPr>
              <a:t>Clock</a:t>
            </a:r>
            <a:r>
              <a:rPr lang="en-US" altLang="zh-CN" b="0" spc="-100" dirty="0">
                <a:solidFill>
                  <a:srgbClr val="104E87"/>
                </a:solidFill>
                <a:latin typeface="华光行书_CNKI" panose="02000500000000000000" pitchFamily="2" charset="-122"/>
                <a:ea typeface="华光行书_CNKI" panose="02000500000000000000" pitchFamily="2" charset="-122"/>
              </a:rPr>
              <a:t> { </a:t>
            </a:r>
          </a:p>
          <a:p>
            <a:pPr eaLnBrk="1" hangingPunct="1">
              <a:defRPr/>
            </a:pPr>
            <a:r>
              <a:rPr lang="en-US" altLang="zh-CN" b="0" spc="-100" dirty="0">
                <a:solidFill>
                  <a:srgbClr val="104E87"/>
                </a:solidFill>
                <a:latin typeface="华光行书_CNKI" panose="02000500000000000000" pitchFamily="2" charset="-122"/>
                <a:ea typeface="华光行书_CNKI" panose="02000500000000000000" pitchFamily="2" charset="-122"/>
              </a:rPr>
              <a:t> </a:t>
            </a:r>
            <a:r>
              <a:rPr kumimoji="1" lang="en-US" altLang="zh-CN" b="0" spc="-100" dirty="0">
                <a:solidFill>
                  <a:srgbClr val="104E87"/>
                </a:solidFill>
                <a:latin typeface="华光行书_CNKI" panose="02000500000000000000" pitchFamily="2" charset="-122"/>
                <a:ea typeface="华光行书_CNKI" panose="02000500000000000000" pitchFamily="2" charset="-122"/>
              </a:rPr>
              <a:t>//……</a:t>
            </a:r>
            <a:endParaRPr kumimoji="1" lang="zh-CN" altLang="en-US" b="0" spc="-100" dirty="0">
              <a:solidFill>
                <a:srgbClr val="104E87"/>
              </a:solidFill>
              <a:latin typeface="华光行书_CNKI" panose="02000500000000000000" pitchFamily="2" charset="-122"/>
              <a:ea typeface="华光行书_CNKI" panose="02000500000000000000" pitchFamily="2" charset="-122"/>
            </a:endParaRPr>
          </a:p>
          <a:p>
            <a:pPr eaLnBrk="1" hangingPunct="1">
              <a:defRPr/>
            </a:pPr>
            <a:r>
              <a:rPr lang="en-US" altLang="zh-CN" b="0" spc="-100" dirty="0">
                <a:solidFill>
                  <a:srgbClr val="104E87"/>
                </a:solidFill>
                <a:latin typeface="华光行书_CNKI" panose="02000500000000000000" pitchFamily="2" charset="-122"/>
                <a:ea typeface="华光行书_CNKI" panose="02000500000000000000" pitchFamily="2" charset="-122"/>
              </a:rPr>
              <a:t>};</a:t>
            </a:r>
          </a:p>
        </p:txBody>
      </p:sp>
    </p:spTree>
    <p:extLst>
      <p:ext uri="{BB962C8B-B14F-4D97-AF65-F5344CB8AC3E}">
        <p14:creationId xmlns:p14="http://schemas.microsoft.com/office/powerpoint/2010/main" val="59818466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randombar(horizontal)">
                                      <p:cBhvr>
                                        <p:cTn id="7" dur="50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1E28F19E-BF80-4A79-B783-7078BDB0D652}"/>
              </a:ext>
            </a:extLst>
          </p:cNvPr>
          <p:cNvSpPr txBox="1"/>
          <p:nvPr/>
        </p:nvSpPr>
        <p:spPr>
          <a:xfrm>
            <a:off x="247718" y="224527"/>
            <a:ext cx="8444105"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9.2</a:t>
            </a:r>
            <a:r>
              <a:rPr lang="zh-CN" altLang="en-US" dirty="0">
                <a:sym typeface="+mn-lt"/>
              </a:rPr>
              <a:t>继承下的访问控制权</a:t>
            </a:r>
            <a:r>
              <a:rPr lang="en-US" altLang="zh-CN" dirty="0">
                <a:sym typeface="+mn-lt"/>
              </a:rPr>
              <a:t>——</a:t>
            </a:r>
            <a:r>
              <a:rPr lang="zh-CN" altLang="en-US" dirty="0">
                <a:sym typeface="+mn-lt"/>
              </a:rPr>
              <a:t>公有继承</a:t>
            </a:r>
          </a:p>
        </p:txBody>
      </p:sp>
      <p:sp>
        <p:nvSpPr>
          <p:cNvPr id="15" name="Text Box 6">
            <a:extLst>
              <a:ext uri="{FF2B5EF4-FFF2-40B4-BE49-F238E27FC236}">
                <a16:creationId xmlns:a16="http://schemas.microsoft.com/office/drawing/2014/main" id="{C07C09D3-8502-40B0-B491-605C81E6E1AB}"/>
              </a:ext>
            </a:extLst>
          </p:cNvPr>
          <p:cNvSpPr txBox="1">
            <a:spLocks noChangeArrowheads="1"/>
          </p:cNvSpPr>
          <p:nvPr/>
        </p:nvSpPr>
        <p:spPr bwMode="auto">
          <a:xfrm>
            <a:off x="475641" y="1865407"/>
            <a:ext cx="12196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public</a:t>
            </a:r>
          </a:p>
        </p:txBody>
      </p:sp>
      <p:sp>
        <p:nvSpPr>
          <p:cNvPr id="16" name="AutoShape 8">
            <a:extLst>
              <a:ext uri="{FF2B5EF4-FFF2-40B4-BE49-F238E27FC236}">
                <a16:creationId xmlns:a16="http://schemas.microsoft.com/office/drawing/2014/main" id="{FBEE9737-2AC0-49C2-9C01-2003C579A10B}"/>
              </a:ext>
            </a:extLst>
          </p:cNvPr>
          <p:cNvSpPr>
            <a:spLocks/>
          </p:cNvSpPr>
          <p:nvPr/>
        </p:nvSpPr>
        <p:spPr bwMode="auto">
          <a:xfrm>
            <a:off x="1869709" y="1649164"/>
            <a:ext cx="176581" cy="1005918"/>
          </a:xfrm>
          <a:prstGeom prst="leftBrace">
            <a:avLst>
              <a:gd name="adj1" fmla="val 15728"/>
              <a:gd name="adj2" fmla="val 50000"/>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17" name="Text Box 9">
            <a:extLst>
              <a:ext uri="{FF2B5EF4-FFF2-40B4-BE49-F238E27FC236}">
                <a16:creationId xmlns:a16="http://schemas.microsoft.com/office/drawing/2014/main" id="{9A365AA8-17FE-4474-8D94-386C7A0605AF}"/>
              </a:ext>
            </a:extLst>
          </p:cNvPr>
          <p:cNvSpPr txBox="1">
            <a:spLocks noChangeArrowheads="1"/>
          </p:cNvSpPr>
          <p:nvPr/>
        </p:nvSpPr>
        <p:spPr bwMode="auto">
          <a:xfrm>
            <a:off x="2014172" y="1425326"/>
            <a:ext cx="4322925"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ts val="60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public--&gt;             public              </a:t>
            </a:r>
          </a:p>
          <a:p>
            <a:pPr eaLnBrk="1" hangingPunct="1">
              <a:spcBef>
                <a:spcPts val="60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protected --&gt;    p</a:t>
            </a:r>
            <a:r>
              <a:rPr kumimoji="1" lang="en-US" altLang="zh-CN" sz="2400" dirty="0">
                <a:solidFill>
                  <a:srgbClr val="104E87"/>
                </a:solidFill>
                <a:latin typeface="Comic Sans MS" panose="030F0702030302020204" pitchFamily="66" charset="0"/>
                <a:ea typeface="宋体" panose="02010600030101010101" pitchFamily="2" charset="-122"/>
                <a:sym typeface="Wingdings" panose="05000000000000000000" pitchFamily="2" charset="2"/>
              </a:rPr>
              <a:t>rotected  </a:t>
            </a:r>
          </a:p>
          <a:p>
            <a:pPr eaLnBrk="1" hangingPunct="1">
              <a:spcBef>
                <a:spcPts val="60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sym typeface="Wingdings" panose="05000000000000000000" pitchFamily="2" charset="2"/>
              </a:rPr>
              <a:t>private--&gt;         inaccessible  </a:t>
            </a:r>
            <a:endParaRPr kumimoji="1" lang="en-US" altLang="zh-CN" sz="2400" dirty="0">
              <a:solidFill>
                <a:srgbClr val="104E87"/>
              </a:solidFill>
              <a:latin typeface="Comic Sans MS" panose="030F0702030302020204" pitchFamily="66" charset="0"/>
              <a:ea typeface="宋体" panose="02010600030101010101" pitchFamily="2" charset="-122"/>
            </a:endParaRPr>
          </a:p>
        </p:txBody>
      </p:sp>
      <p:sp>
        <p:nvSpPr>
          <p:cNvPr id="19" name="TextBox 1">
            <a:extLst>
              <a:ext uri="{FF2B5EF4-FFF2-40B4-BE49-F238E27FC236}">
                <a16:creationId xmlns:a16="http://schemas.microsoft.com/office/drawing/2014/main" id="{2EFD3136-A9E0-47F4-8390-B6BBB19D5C88}"/>
              </a:ext>
            </a:extLst>
          </p:cNvPr>
          <p:cNvSpPr txBox="1">
            <a:spLocks noChangeArrowheads="1"/>
          </p:cNvSpPr>
          <p:nvPr/>
        </p:nvSpPr>
        <p:spPr bwMode="auto">
          <a:xfrm>
            <a:off x="156798" y="991939"/>
            <a:ext cx="73445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spc="-160" dirty="0">
                <a:solidFill>
                  <a:srgbClr val="104E87"/>
                </a:solidFill>
                <a:latin typeface="华光行书_CNKI" panose="02000500000000000000" pitchFamily="2" charset="-122"/>
                <a:ea typeface="华光行书_CNKI" panose="02000500000000000000" pitchFamily="2" charset="-122"/>
              </a:rPr>
              <a:t>(1)</a:t>
            </a:r>
            <a:r>
              <a:rPr lang="zh-CN" altLang="en-US" sz="2400" spc="-160" dirty="0">
                <a:solidFill>
                  <a:srgbClr val="104E87"/>
                </a:solidFill>
                <a:latin typeface="华光行书_CNKI" panose="02000500000000000000" pitchFamily="2" charset="-122"/>
                <a:ea typeface="华光行书_CNKI" panose="02000500000000000000" pitchFamily="2" charset="-122"/>
              </a:rPr>
              <a:t>继承方式  基类中访问控制权  派生类中访问控制权</a:t>
            </a:r>
          </a:p>
        </p:txBody>
      </p:sp>
      <p:sp>
        <p:nvSpPr>
          <p:cNvPr id="14" name="Text Box 1">
            <a:extLst>
              <a:ext uri="{FF2B5EF4-FFF2-40B4-BE49-F238E27FC236}">
                <a16:creationId xmlns:a16="http://schemas.microsoft.com/office/drawing/2014/main" id="{F8788C25-908C-4DF0-8A91-6518027379EE}"/>
              </a:ext>
            </a:extLst>
          </p:cNvPr>
          <p:cNvSpPr txBox="1">
            <a:spLocks noChangeArrowheads="1"/>
          </p:cNvSpPr>
          <p:nvPr/>
        </p:nvSpPr>
        <p:spPr bwMode="auto">
          <a:xfrm>
            <a:off x="7644294" y="987669"/>
            <a:ext cx="2788558" cy="1882775"/>
          </a:xfrm>
          <a:prstGeom prst="rect">
            <a:avLst/>
          </a:prstGeom>
          <a:noFill/>
          <a:ln w="12700">
            <a:noFill/>
            <a:prstDash val="sysDot"/>
            <a:miter lim="800000"/>
            <a:headEnd/>
            <a:tailEnd/>
          </a:ln>
        </p:spPr>
        <p:txBody>
          <a:bodyPr lIns="0" tIns="0" rIns="0" bIns="0" anchor="ctr"/>
          <a:lstStyle/>
          <a:p>
            <a:pPr>
              <a:defRPr/>
            </a:pPr>
            <a:r>
              <a:rPr lang="en-US" altLang="zh-CN" dirty="0">
                <a:solidFill>
                  <a:srgbClr val="104E87"/>
                </a:solidFill>
                <a:latin typeface="Comic Sans MS" panose="030F0702030302020204" pitchFamily="66" charset="0"/>
                <a:cs typeface="Courier New" pitchFamily="49" charset="0"/>
              </a:rPr>
              <a:t>class Base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{public: int a1;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protected: int a2;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private: int a3;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a:t>
            </a:r>
            <a:endParaRPr lang="en-US" altLang="zh-CN" dirty="0">
              <a:solidFill>
                <a:srgbClr val="104E87"/>
              </a:solidFill>
              <a:latin typeface="Comic Sans MS" panose="030F0702030302020204" pitchFamily="66" charset="0"/>
            </a:endParaRPr>
          </a:p>
        </p:txBody>
      </p:sp>
      <p:sp>
        <p:nvSpPr>
          <p:cNvPr id="18" name="Text Box 4">
            <a:extLst>
              <a:ext uri="{FF2B5EF4-FFF2-40B4-BE49-F238E27FC236}">
                <a16:creationId xmlns:a16="http://schemas.microsoft.com/office/drawing/2014/main" id="{A5A43472-9E35-478E-BEB1-D36A7311C467}"/>
              </a:ext>
            </a:extLst>
          </p:cNvPr>
          <p:cNvSpPr txBox="1">
            <a:spLocks noChangeArrowheads="1"/>
          </p:cNvSpPr>
          <p:nvPr/>
        </p:nvSpPr>
        <p:spPr bwMode="auto">
          <a:xfrm>
            <a:off x="7501368" y="3130062"/>
            <a:ext cx="4690632" cy="2672861"/>
          </a:xfrm>
          <a:prstGeom prst="rect">
            <a:avLst/>
          </a:prstGeom>
          <a:noFill/>
          <a:ln w="12700">
            <a:noFill/>
            <a:prstDash val="sysDot"/>
            <a:miter lim="800000"/>
            <a:headEnd/>
            <a:tailEnd/>
          </a:ln>
        </p:spPr>
        <p:txBody>
          <a:bodyPr lIns="0" tIns="0" rIns="0" bIns="0" anchor="ctr"/>
          <a:lstStyle/>
          <a:p>
            <a:pPr>
              <a:defRPr/>
            </a:pP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class </a:t>
            </a:r>
            <a:r>
              <a:rPr lang="en-US" altLang="zh-CN" dirty="0" err="1">
                <a:solidFill>
                  <a:srgbClr val="104E87"/>
                </a:solidFill>
                <a:latin typeface="Comic Sans MS" panose="030F0702030302020204" pitchFamily="66" charset="0"/>
                <a:ea typeface="黑体" panose="02010609060101010101" pitchFamily="49" charset="-122"/>
                <a:cs typeface="Courier New" pitchFamily="49" charset="0"/>
              </a:rPr>
              <a:t>PublicClass</a:t>
            </a: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 </a:t>
            </a:r>
            <a:r>
              <a:rPr lang="en-US" altLang="zh-CN" dirty="0">
                <a:solidFill>
                  <a:srgbClr val="FF0000"/>
                </a:solidFill>
                <a:latin typeface="Comic Sans MS" panose="030F0702030302020204" pitchFamily="66" charset="0"/>
                <a:ea typeface="黑体" panose="02010609060101010101" pitchFamily="49" charset="-122"/>
                <a:cs typeface="Courier New" pitchFamily="49" charset="0"/>
              </a:rPr>
              <a:t>public</a:t>
            </a: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 Base{ </a:t>
            </a:r>
            <a:br>
              <a:rPr lang="en-US" altLang="zh-CN" dirty="0">
                <a:solidFill>
                  <a:srgbClr val="104E87"/>
                </a:solidFill>
                <a:latin typeface="Comic Sans MS" panose="030F0702030302020204" pitchFamily="66" charset="0"/>
                <a:ea typeface="黑体" panose="02010609060101010101" pitchFamily="49" charset="-122"/>
                <a:cs typeface="Courier New" pitchFamily="49" charset="0"/>
              </a:rPr>
            </a:b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public: </a:t>
            </a:r>
            <a:br>
              <a:rPr lang="en-US" altLang="zh-CN" dirty="0">
                <a:solidFill>
                  <a:srgbClr val="104E87"/>
                </a:solidFill>
                <a:latin typeface="Comic Sans MS" panose="030F0702030302020204" pitchFamily="66" charset="0"/>
                <a:ea typeface="黑体" panose="02010609060101010101" pitchFamily="49" charset="-122"/>
                <a:cs typeface="Courier New" pitchFamily="49" charset="0"/>
              </a:rPr>
            </a:b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void test() { </a:t>
            </a:r>
          </a:p>
          <a:p>
            <a:pPr>
              <a:defRPr/>
            </a:pP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  a1 = 1;//a1</a:t>
            </a:r>
            <a:r>
              <a:rPr lang="zh-CN" altLang="en-US" dirty="0">
                <a:solidFill>
                  <a:srgbClr val="104E87"/>
                </a:solidFill>
                <a:latin typeface="华光隶变_CNKI" panose="02000500000000000000" pitchFamily="2" charset="-122"/>
                <a:ea typeface="华光隶变_CNKI" panose="02000500000000000000" pitchFamily="2" charset="-122"/>
                <a:cs typeface="Courier New" pitchFamily="49" charset="0"/>
              </a:rPr>
              <a:t>仍然保持</a:t>
            </a: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public </a:t>
            </a:r>
            <a:br>
              <a:rPr lang="en-US" altLang="zh-CN" dirty="0">
                <a:solidFill>
                  <a:srgbClr val="104E87"/>
                </a:solidFill>
                <a:latin typeface="Comic Sans MS" panose="030F0702030302020204" pitchFamily="66" charset="0"/>
                <a:ea typeface="黑体" panose="02010609060101010101" pitchFamily="49" charset="-122"/>
                <a:cs typeface="Courier New" pitchFamily="49" charset="0"/>
              </a:rPr>
            </a:b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  a2 = 2;//a2</a:t>
            </a:r>
            <a:r>
              <a:rPr lang="zh-CN" altLang="en-US" dirty="0">
                <a:solidFill>
                  <a:srgbClr val="104E87"/>
                </a:solidFill>
                <a:latin typeface="华光隶变_CNKI" panose="02000500000000000000" pitchFamily="2" charset="-122"/>
                <a:ea typeface="华光隶变_CNKI" panose="02000500000000000000" pitchFamily="2" charset="-122"/>
                <a:cs typeface="Courier New" pitchFamily="49" charset="0"/>
              </a:rPr>
              <a:t>仍然保持</a:t>
            </a: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protected </a:t>
            </a:r>
            <a:br>
              <a:rPr lang="en-US" altLang="zh-CN" dirty="0">
                <a:solidFill>
                  <a:srgbClr val="104E87"/>
                </a:solidFill>
                <a:latin typeface="Comic Sans MS" panose="030F0702030302020204" pitchFamily="66" charset="0"/>
                <a:ea typeface="黑体" panose="02010609060101010101" pitchFamily="49" charset="-122"/>
                <a:cs typeface="Courier New" pitchFamily="49" charset="0"/>
              </a:rPr>
            </a:b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  a3=3;</a:t>
            </a:r>
            <a:br>
              <a:rPr lang="zh-CN" altLang="en-US" dirty="0">
                <a:solidFill>
                  <a:srgbClr val="104E87"/>
                </a:solidFill>
                <a:latin typeface="Comic Sans MS" panose="030F0702030302020204" pitchFamily="66" charset="0"/>
                <a:ea typeface="黑体" panose="02010609060101010101" pitchFamily="49" charset="-122"/>
                <a:cs typeface="Courier New" pitchFamily="49" charset="0"/>
              </a:rPr>
            </a:br>
            <a:r>
              <a:rPr lang="zh-CN" altLang="en-US" dirty="0">
                <a:solidFill>
                  <a:srgbClr val="104E87"/>
                </a:solidFill>
                <a:latin typeface="Comic Sans MS" panose="030F0702030302020204" pitchFamily="66" charset="0"/>
                <a:ea typeface="黑体" panose="02010609060101010101" pitchFamily="49" charset="-122"/>
                <a:cs typeface="Courier New" pitchFamily="49" charset="0"/>
              </a:rPr>
              <a:t> </a:t>
            </a: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 </a:t>
            </a:r>
            <a:br>
              <a:rPr lang="en-US" altLang="zh-CN" dirty="0">
                <a:solidFill>
                  <a:srgbClr val="104E87"/>
                </a:solidFill>
                <a:latin typeface="Comic Sans MS" panose="030F0702030302020204" pitchFamily="66" charset="0"/>
                <a:ea typeface="黑体" panose="02010609060101010101" pitchFamily="49" charset="-122"/>
                <a:cs typeface="Courier New" pitchFamily="49" charset="0"/>
              </a:rPr>
            </a:br>
            <a:r>
              <a:rPr lang="en-US" altLang="zh-CN" dirty="0">
                <a:solidFill>
                  <a:srgbClr val="104E87"/>
                </a:solidFill>
                <a:latin typeface="Comic Sans MS" panose="030F0702030302020204" pitchFamily="66" charset="0"/>
                <a:ea typeface="黑体" panose="02010609060101010101" pitchFamily="49" charset="-122"/>
                <a:cs typeface="Courier New" pitchFamily="49" charset="0"/>
              </a:rPr>
              <a:t>};</a:t>
            </a:r>
            <a:endParaRPr lang="en-US" altLang="zh-CN" dirty="0">
              <a:solidFill>
                <a:srgbClr val="104E87"/>
              </a:solidFill>
              <a:latin typeface="Comic Sans MS" panose="030F0702030302020204" pitchFamily="66" charset="0"/>
              <a:ea typeface="黑体" panose="02010609060101010101" pitchFamily="49" charset="-122"/>
            </a:endParaRPr>
          </a:p>
        </p:txBody>
      </p:sp>
      <p:sp>
        <p:nvSpPr>
          <p:cNvPr id="20" name="Rectangle 4">
            <a:extLst>
              <a:ext uri="{FF2B5EF4-FFF2-40B4-BE49-F238E27FC236}">
                <a16:creationId xmlns:a16="http://schemas.microsoft.com/office/drawing/2014/main" id="{A28D641E-56C9-4998-9AB5-8575AD45DE7E}"/>
              </a:ext>
            </a:extLst>
          </p:cNvPr>
          <p:cNvSpPr>
            <a:spLocks noChangeArrowheads="1"/>
          </p:cNvSpPr>
          <p:nvPr/>
        </p:nvSpPr>
        <p:spPr bwMode="auto">
          <a:xfrm>
            <a:off x="8570804" y="4808829"/>
            <a:ext cx="3724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1" dirty="0">
                <a:solidFill>
                  <a:srgbClr val="FF0000"/>
                </a:solidFill>
                <a:latin typeface="华光胖头鱼_CNKI" panose="02000500000000000000" pitchFamily="2" charset="-122"/>
                <a:ea typeface="华光胖头鱼_CNKI" panose="02000500000000000000" pitchFamily="2" charset="-122"/>
              </a:rPr>
              <a:t>×</a:t>
            </a:r>
            <a:r>
              <a:rPr lang="en-US" altLang="zh-CN" sz="2400" dirty="0">
                <a:solidFill>
                  <a:srgbClr val="104E87"/>
                </a:solidFill>
                <a:latin typeface="华光隶变_CNKI" panose="02000500000000000000" pitchFamily="2" charset="-122"/>
                <a:ea typeface="华光隶变_CNKI" panose="02000500000000000000" pitchFamily="2" charset="-122"/>
                <a:cs typeface="Courier New" panose="02070309020205020404" pitchFamily="49" charset="0"/>
              </a:rPr>
              <a:t>,</a:t>
            </a:r>
            <a:r>
              <a:rPr lang="zh-CN" altLang="en-US" sz="2400" dirty="0">
                <a:solidFill>
                  <a:srgbClr val="104E87"/>
                </a:solidFill>
                <a:latin typeface="华光隶变_CNKI" panose="02000500000000000000" pitchFamily="2" charset="-122"/>
                <a:ea typeface="华光隶变_CNKI" panose="02000500000000000000" pitchFamily="2" charset="-122"/>
                <a:cs typeface="Courier New" panose="02070309020205020404" pitchFamily="49" charset="0"/>
              </a:rPr>
              <a:t>基类私有成员不可访问</a:t>
            </a:r>
            <a:endParaRPr kumimoji="1" lang="zh-CN" altLang="en-US" sz="2400" dirty="0">
              <a:solidFill>
                <a:srgbClr val="104E87"/>
              </a:solidFill>
              <a:latin typeface="华光隶变_CNKI" panose="02000500000000000000" pitchFamily="2" charset="-122"/>
              <a:ea typeface="华光隶变_CNKI" panose="02000500000000000000" pitchFamily="2" charset="-122"/>
            </a:endParaRPr>
          </a:p>
        </p:txBody>
      </p:sp>
      <p:sp>
        <p:nvSpPr>
          <p:cNvPr id="21" name="AutoShape 27">
            <a:extLst>
              <a:ext uri="{FF2B5EF4-FFF2-40B4-BE49-F238E27FC236}">
                <a16:creationId xmlns:a16="http://schemas.microsoft.com/office/drawing/2014/main" id="{35CEA265-F7D9-4CB4-9328-2448D55A8CE6}"/>
              </a:ext>
            </a:extLst>
          </p:cNvPr>
          <p:cNvSpPr>
            <a:spLocks/>
          </p:cNvSpPr>
          <p:nvPr/>
        </p:nvSpPr>
        <p:spPr bwMode="auto">
          <a:xfrm>
            <a:off x="8025182" y="5418149"/>
            <a:ext cx="3500277" cy="1263053"/>
          </a:xfrm>
          <a:prstGeom prst="borderCallout1">
            <a:avLst>
              <a:gd name="adj1" fmla="val 4236"/>
              <a:gd name="adj2" fmla="val -1782"/>
              <a:gd name="adj3" fmla="val -27509"/>
              <a:gd name="adj4" fmla="val 21889"/>
            </a:avLst>
          </a:prstGeom>
          <a:solidFill>
            <a:srgbClr val="FFFF99"/>
          </a:solidFill>
          <a:ln w="9525">
            <a:solidFill>
              <a:srgbClr val="104E87"/>
            </a:solidFill>
            <a:miter lim="800000"/>
            <a:headEnd/>
            <a:tailEnd/>
          </a:ln>
        </p:spPr>
        <p:txBody>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just">
              <a:buFont typeface="Wingdings" panose="05000000000000000000" pitchFamily="2" charset="2"/>
              <a:buNone/>
            </a:pPr>
            <a:r>
              <a:rPr lang="zh-CN" altLang="en-US" sz="2400" spc="-100" dirty="0">
                <a:solidFill>
                  <a:srgbClr val="104E87"/>
                </a:solidFill>
                <a:latin typeface="Comic Sans MS" panose="030F0702030302020204" pitchFamily="66" charset="0"/>
                <a:ea typeface="华光行书_CNKI" panose="02000500000000000000" pitchFamily="2" charset="-122"/>
                <a:cs typeface="Courier New" panose="02070309020205020404" pitchFamily="49" charset="0"/>
              </a:rPr>
              <a:t>派生类成员</a:t>
            </a:r>
            <a:r>
              <a:rPr lang="zh-CN" altLang="en-US" sz="2400" spc="-100" dirty="0">
                <a:solidFill>
                  <a:srgbClr val="104E87"/>
                </a:solidFill>
                <a:latin typeface="Comic Sans MS" panose="030F0702030302020204" pitchFamily="66" charset="0"/>
                <a:ea typeface="华光行书_CNKI" panose="02000500000000000000" pitchFamily="2" charset="-122"/>
                <a:cs typeface="Times New Roman" panose="02020603050405020304" pitchFamily="18" charset="0"/>
              </a:rPr>
              <a:t>能访问基类中的</a:t>
            </a:r>
            <a:r>
              <a:rPr lang="en-US" altLang="zh-CN" sz="2400" spc="-100" dirty="0">
                <a:solidFill>
                  <a:srgbClr val="104E87"/>
                </a:solidFill>
                <a:latin typeface="Comic Sans MS" panose="030F0702030302020204" pitchFamily="66" charset="0"/>
                <a:ea typeface="华光行书_CNKI" panose="02000500000000000000" pitchFamily="2" charset="-122"/>
                <a:cs typeface="Times New Roman" panose="02020603050405020304" pitchFamily="18" charset="0"/>
              </a:rPr>
              <a:t>public/protected</a:t>
            </a:r>
            <a:r>
              <a:rPr lang="zh-CN" altLang="en-US" sz="2400" spc="-100" dirty="0">
                <a:solidFill>
                  <a:srgbClr val="104E87"/>
                </a:solidFill>
                <a:latin typeface="Comic Sans MS" panose="030F0702030302020204" pitchFamily="66" charset="0"/>
                <a:ea typeface="华光行书_CNKI" panose="02000500000000000000" pitchFamily="2" charset="-122"/>
                <a:cs typeface="Times New Roman" panose="02020603050405020304" pitchFamily="18" charset="0"/>
              </a:rPr>
              <a:t>成员</a:t>
            </a:r>
            <a:r>
              <a:rPr lang="en-US" altLang="zh-CN" sz="2400" spc="-100" dirty="0">
                <a:solidFill>
                  <a:srgbClr val="104E87"/>
                </a:solidFill>
                <a:latin typeface="Comic Sans MS" panose="030F0702030302020204" pitchFamily="66" charset="0"/>
                <a:ea typeface="华光行书_CNKI" panose="02000500000000000000" pitchFamily="2" charset="-122"/>
                <a:cs typeface="Times New Roman" panose="02020603050405020304" pitchFamily="18" charset="0"/>
              </a:rPr>
              <a:t>,</a:t>
            </a:r>
            <a:r>
              <a:rPr lang="zh-CN" altLang="en-US" sz="2400" spc="-100" dirty="0">
                <a:solidFill>
                  <a:srgbClr val="104E87"/>
                </a:solidFill>
                <a:latin typeface="Comic Sans MS" panose="030F0702030302020204" pitchFamily="66" charset="0"/>
                <a:ea typeface="华光行书_CNKI" panose="02000500000000000000" pitchFamily="2" charset="-122"/>
                <a:cs typeface="Times New Roman" panose="02020603050405020304" pitchFamily="18" charset="0"/>
              </a:rPr>
              <a:t>而不能访问</a:t>
            </a:r>
            <a:r>
              <a:rPr lang="en-US" altLang="zh-CN" sz="2400" spc="-100" dirty="0">
                <a:solidFill>
                  <a:srgbClr val="104E87"/>
                </a:solidFill>
                <a:latin typeface="Comic Sans MS" panose="030F0702030302020204" pitchFamily="66" charset="0"/>
                <a:ea typeface="华光行书_CNKI" panose="02000500000000000000" pitchFamily="2" charset="-122"/>
                <a:cs typeface="Times New Roman" panose="02020603050405020304" pitchFamily="18" charset="0"/>
              </a:rPr>
              <a:t>private</a:t>
            </a:r>
            <a:r>
              <a:rPr lang="zh-CN" altLang="en-US" sz="2400" spc="-100" dirty="0">
                <a:solidFill>
                  <a:srgbClr val="104E87"/>
                </a:solidFill>
                <a:latin typeface="Comic Sans MS" panose="030F0702030302020204" pitchFamily="66" charset="0"/>
                <a:ea typeface="华光行书_CNKI" panose="02000500000000000000" pitchFamily="2" charset="-122"/>
                <a:cs typeface="Times New Roman" panose="02020603050405020304" pitchFamily="18" charset="0"/>
              </a:rPr>
              <a:t>成员</a:t>
            </a:r>
            <a:endParaRPr kumimoji="1" lang="zh-CN" altLang="en-US" sz="2400" spc="-100" dirty="0">
              <a:solidFill>
                <a:srgbClr val="104E87"/>
              </a:solidFill>
              <a:latin typeface="Comic Sans MS" panose="030F0702030302020204" pitchFamily="66" charset="0"/>
              <a:ea typeface="华光行书_CNKI" panose="02000500000000000000" pitchFamily="2" charset="-122"/>
            </a:endParaRPr>
          </a:p>
        </p:txBody>
      </p:sp>
      <p:sp>
        <p:nvSpPr>
          <p:cNvPr id="22" name="Text Box 4">
            <a:extLst>
              <a:ext uri="{FF2B5EF4-FFF2-40B4-BE49-F238E27FC236}">
                <a16:creationId xmlns:a16="http://schemas.microsoft.com/office/drawing/2014/main" id="{18F95883-73A5-40E2-B300-5294442DF2EA}"/>
              </a:ext>
            </a:extLst>
          </p:cNvPr>
          <p:cNvSpPr txBox="1">
            <a:spLocks noChangeArrowheads="1"/>
          </p:cNvSpPr>
          <p:nvPr/>
        </p:nvSpPr>
        <p:spPr bwMode="auto">
          <a:xfrm>
            <a:off x="183235" y="3191346"/>
            <a:ext cx="3024187" cy="2714288"/>
          </a:xfrm>
          <a:prstGeom prst="rect">
            <a:avLst/>
          </a:prstGeom>
          <a:noFill/>
          <a:ln w="12700">
            <a:noFill/>
            <a:prstDash val="sysDot"/>
            <a:miter lim="800000"/>
            <a:headEnd/>
            <a:tailEnd/>
          </a:ln>
        </p:spPr>
        <p:txBody>
          <a:bodyPr lIns="0" tIns="0" rIns="0" bIns="0" anchor="ctr"/>
          <a:lstStyle>
            <a:defPPr>
              <a:defRPr lang="en-US"/>
            </a:defPPr>
            <a:lvl1pPr>
              <a:defRPr>
                <a:solidFill>
                  <a:srgbClr val="104E87"/>
                </a:solidFill>
                <a:latin typeface="Comic Sans MS" panose="030F0702030302020204" pitchFamily="66" charset="0"/>
                <a:cs typeface="Courier New" pitchFamily="49" charset="0"/>
              </a:defRPr>
            </a:lvl1pPr>
          </a:lstStyle>
          <a:p>
            <a:r>
              <a:rPr lang="en-US" altLang="zh-CN" dirty="0"/>
              <a:t>int main() </a:t>
            </a:r>
            <a:br>
              <a:rPr lang="en-US" altLang="zh-CN" dirty="0"/>
            </a:br>
            <a:r>
              <a:rPr lang="en-US" altLang="zh-CN" dirty="0"/>
              <a:t>{</a:t>
            </a:r>
            <a:r>
              <a:rPr lang="en-US" altLang="zh-CN" dirty="0" err="1"/>
              <a:t>publicClass</a:t>
            </a:r>
            <a:r>
              <a:rPr lang="en-US" altLang="zh-CN" dirty="0"/>
              <a:t> b;</a:t>
            </a:r>
          </a:p>
          <a:p>
            <a:r>
              <a:rPr lang="en-US" altLang="zh-CN" dirty="0" err="1"/>
              <a:t>b.test</a:t>
            </a:r>
            <a:r>
              <a:rPr lang="en-US" altLang="zh-CN" dirty="0"/>
              <a:t>();</a:t>
            </a:r>
          </a:p>
          <a:p>
            <a:r>
              <a:rPr lang="en-US" altLang="zh-CN" dirty="0" err="1"/>
              <a:t>cout</a:t>
            </a:r>
            <a:r>
              <a:rPr lang="en-US" altLang="zh-CN" dirty="0"/>
              <a:t>&lt;&lt;b.a1;</a:t>
            </a:r>
          </a:p>
          <a:p>
            <a:r>
              <a:rPr lang="en-US" altLang="zh-CN" dirty="0" err="1"/>
              <a:t>cout</a:t>
            </a:r>
            <a:r>
              <a:rPr lang="en-US" altLang="zh-CN" dirty="0"/>
              <a:t>&lt;&lt;b.a2; </a:t>
            </a:r>
          </a:p>
          <a:p>
            <a:r>
              <a:rPr lang="en-US" altLang="zh-CN" dirty="0" err="1"/>
              <a:t>cout</a:t>
            </a:r>
            <a:r>
              <a:rPr lang="en-US" altLang="zh-CN" dirty="0"/>
              <a:t>&lt;&lt;b.a3; </a:t>
            </a:r>
          </a:p>
          <a:p>
            <a:r>
              <a:rPr lang="en-US" altLang="zh-CN" dirty="0"/>
              <a:t>} </a:t>
            </a:r>
          </a:p>
        </p:txBody>
      </p:sp>
      <p:sp>
        <p:nvSpPr>
          <p:cNvPr id="23" name="Rectangle 4">
            <a:extLst>
              <a:ext uri="{FF2B5EF4-FFF2-40B4-BE49-F238E27FC236}">
                <a16:creationId xmlns:a16="http://schemas.microsoft.com/office/drawing/2014/main" id="{048C1990-253F-40EB-BF68-03703C87A16D}"/>
              </a:ext>
            </a:extLst>
          </p:cNvPr>
          <p:cNvSpPr>
            <a:spLocks noChangeArrowheads="1"/>
          </p:cNvSpPr>
          <p:nvPr/>
        </p:nvSpPr>
        <p:spPr bwMode="auto">
          <a:xfrm>
            <a:off x="1814167" y="4747274"/>
            <a:ext cx="543739" cy="523220"/>
          </a:xfrm>
          <a:prstGeom prst="rect">
            <a:avLst/>
          </a:prstGeom>
          <a:noFill/>
          <a:ln w="9525">
            <a:noFill/>
            <a:miter lim="800000"/>
            <a:headEnd/>
            <a:tailEnd/>
          </a:ln>
        </p:spPr>
        <p:txBody>
          <a:bodyPr wrap="none">
            <a:spAutoFit/>
          </a:bodyPr>
          <a:lstStyle/>
          <a:p>
            <a:pPr eaLnBrk="1" hangingPunct="1">
              <a:defRPr/>
            </a:pPr>
            <a:r>
              <a:rPr kumimoji="1" lang="en-US" altLang="zh-CN" sz="2800" dirty="0">
                <a:solidFill>
                  <a:srgbClr val="FF0000"/>
                </a:solidFill>
                <a:latin typeface="华光胖头鱼_CNKI" panose="02000500000000000000" pitchFamily="2" charset="-122"/>
                <a:ea typeface="华光胖头鱼_CNKI" panose="02000500000000000000" pitchFamily="2" charset="-122"/>
              </a:rPr>
              <a:t>×</a:t>
            </a:r>
            <a:endParaRPr kumimoji="1" lang="zh-CN" altLang="en-US" sz="1800" dirty="0">
              <a:solidFill>
                <a:srgbClr val="FF0000"/>
              </a:solidFill>
              <a:latin typeface="华光胖头鱼_CNKI" panose="02000500000000000000" pitchFamily="2" charset="-122"/>
              <a:ea typeface="华光胖头鱼_CNKI" panose="02000500000000000000" pitchFamily="2" charset="-122"/>
            </a:endParaRPr>
          </a:p>
        </p:txBody>
      </p:sp>
      <p:sp>
        <p:nvSpPr>
          <p:cNvPr id="24" name="Rectangle 4">
            <a:extLst>
              <a:ext uri="{FF2B5EF4-FFF2-40B4-BE49-F238E27FC236}">
                <a16:creationId xmlns:a16="http://schemas.microsoft.com/office/drawing/2014/main" id="{D700B80F-DD08-42FF-862F-560ABEEE4E1F}"/>
              </a:ext>
            </a:extLst>
          </p:cNvPr>
          <p:cNvSpPr>
            <a:spLocks noChangeArrowheads="1"/>
          </p:cNvSpPr>
          <p:nvPr/>
        </p:nvSpPr>
        <p:spPr bwMode="auto">
          <a:xfrm>
            <a:off x="1592048" y="5186794"/>
            <a:ext cx="714408" cy="523220"/>
          </a:xfrm>
          <a:prstGeom prst="rect">
            <a:avLst/>
          </a:prstGeom>
          <a:noFill/>
          <a:ln w="9525">
            <a:noFill/>
            <a:miter lim="800000"/>
            <a:headEnd/>
            <a:tailEnd/>
          </a:ln>
        </p:spPr>
        <p:txBody>
          <a:bodyPr wrap="square">
            <a:spAutoFit/>
          </a:bodyPr>
          <a:lstStyle/>
          <a:p>
            <a:pPr eaLnBrk="1" hangingPunct="1">
              <a:defRPr/>
            </a:pPr>
            <a:r>
              <a:rPr kumimoji="1" lang="en-US" altLang="zh-CN" sz="2800" dirty="0">
                <a:solidFill>
                  <a:srgbClr val="FF0000"/>
                </a:solidFill>
                <a:latin typeface="华光胖头鱼_CNKI" panose="02000500000000000000" pitchFamily="2" charset="-122"/>
                <a:ea typeface="华光胖头鱼_CNKI" panose="02000500000000000000" pitchFamily="2" charset="-122"/>
              </a:rPr>
              <a:t>×</a:t>
            </a:r>
            <a:endParaRPr kumimoji="1" lang="zh-CN" altLang="en-US" sz="1800" dirty="0">
              <a:latin typeface="华光胖头鱼_CNKI" panose="02000500000000000000" pitchFamily="2" charset="-122"/>
              <a:ea typeface="华光胖头鱼_CNKI" panose="02000500000000000000" pitchFamily="2" charset="-122"/>
            </a:endParaRPr>
          </a:p>
        </p:txBody>
      </p:sp>
      <p:sp>
        <p:nvSpPr>
          <p:cNvPr id="25" name="AutoShape 27">
            <a:extLst>
              <a:ext uri="{FF2B5EF4-FFF2-40B4-BE49-F238E27FC236}">
                <a16:creationId xmlns:a16="http://schemas.microsoft.com/office/drawing/2014/main" id="{193DD349-8F8D-4C2E-9066-5515BD0B2B08}"/>
              </a:ext>
            </a:extLst>
          </p:cNvPr>
          <p:cNvSpPr>
            <a:spLocks/>
          </p:cNvSpPr>
          <p:nvPr/>
        </p:nvSpPr>
        <p:spPr bwMode="auto">
          <a:xfrm>
            <a:off x="156798" y="5913348"/>
            <a:ext cx="5379358" cy="856560"/>
          </a:xfrm>
          <a:prstGeom prst="borderCallout1">
            <a:avLst>
              <a:gd name="adj1" fmla="val -4772"/>
              <a:gd name="adj2" fmla="val 28300"/>
              <a:gd name="adj3" fmla="val -112996"/>
              <a:gd name="adj4" fmla="val 35843"/>
            </a:avLst>
          </a:prstGeom>
          <a:solidFill>
            <a:srgbClr val="FFFF99"/>
          </a:solidFill>
          <a:ln w="9525">
            <a:solidFill>
              <a:srgbClr val="104E87"/>
            </a:solidFill>
            <a:miter lim="800000"/>
            <a:headEnd/>
            <a:tailEnd/>
          </a:ln>
        </p:spPr>
        <p:txBody>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buFont typeface="Wingdings" panose="05000000000000000000" pitchFamily="2" charset="2"/>
              <a:buNone/>
            </a:pPr>
            <a:r>
              <a:rPr lang="zh-CN" altLang="en-US" sz="2400" dirty="0">
                <a:solidFill>
                  <a:srgbClr val="104E87"/>
                </a:solidFill>
                <a:latin typeface="Comic Sans MS" panose="030F0702030302020204" pitchFamily="66" charset="0"/>
                <a:ea typeface="华光行书_CNKI" panose="02000500000000000000" pitchFamily="2" charset="-122"/>
                <a:cs typeface="Courier New" panose="02070309020205020404" pitchFamily="49" charset="0"/>
              </a:rPr>
              <a:t>派生类对象不可访问基类中</a:t>
            </a:r>
            <a:r>
              <a:rPr lang="en-US" altLang="zh-CN" sz="2400" dirty="0">
                <a:solidFill>
                  <a:srgbClr val="104E87"/>
                </a:solidFill>
                <a:latin typeface="Comic Sans MS" panose="030F0702030302020204" pitchFamily="66" charset="0"/>
                <a:ea typeface="华光行书_CNKI" panose="02000500000000000000" pitchFamily="2" charset="-122"/>
                <a:cs typeface="Courier New" panose="02070309020205020404" pitchFamily="49" charset="0"/>
              </a:rPr>
              <a:t>protected</a:t>
            </a:r>
            <a:r>
              <a:rPr lang="zh-CN" altLang="en-US" sz="2400" dirty="0">
                <a:solidFill>
                  <a:srgbClr val="104E87"/>
                </a:solidFill>
                <a:latin typeface="Comic Sans MS" panose="030F0702030302020204" pitchFamily="66" charset="0"/>
                <a:ea typeface="华光行书_CNKI" panose="02000500000000000000" pitchFamily="2" charset="-122"/>
                <a:cs typeface="Courier New" panose="02070309020205020404" pitchFamily="49" charset="0"/>
              </a:rPr>
              <a:t>成员和</a:t>
            </a:r>
            <a:r>
              <a:rPr lang="en-US" altLang="zh-CN" sz="2400" dirty="0">
                <a:solidFill>
                  <a:srgbClr val="104E87"/>
                </a:solidFill>
                <a:latin typeface="Comic Sans MS" panose="030F0702030302020204" pitchFamily="66" charset="0"/>
                <a:ea typeface="华光行书_CNKI" panose="02000500000000000000" pitchFamily="2" charset="-122"/>
                <a:cs typeface="Courier New" panose="02070309020205020404" pitchFamily="49" charset="0"/>
              </a:rPr>
              <a:t>private</a:t>
            </a:r>
            <a:r>
              <a:rPr lang="zh-CN" altLang="en-US" sz="2400" dirty="0">
                <a:solidFill>
                  <a:srgbClr val="104E87"/>
                </a:solidFill>
                <a:latin typeface="Comic Sans MS" panose="030F0702030302020204" pitchFamily="66" charset="0"/>
                <a:ea typeface="华光行书_CNKI" panose="02000500000000000000" pitchFamily="2" charset="-122"/>
                <a:cs typeface="Courier New" panose="02070309020205020404" pitchFamily="49" charset="0"/>
              </a:rPr>
              <a:t>成员</a:t>
            </a:r>
            <a:endParaRPr kumimoji="1" lang="zh-CN" altLang="en-US" sz="2400" dirty="0">
              <a:solidFill>
                <a:srgbClr val="104E87"/>
              </a:solidFill>
              <a:latin typeface="Comic Sans MS" panose="030F0702030302020204" pitchFamily="66" charset="0"/>
              <a:ea typeface="华光行书_CNKI" panose="02000500000000000000" pitchFamily="2" charset="-122"/>
              <a:cs typeface="Courier New" panose="02070309020205020404" pitchFamily="49" charset="0"/>
            </a:endParaRPr>
          </a:p>
        </p:txBody>
      </p:sp>
    </p:spTree>
    <p:extLst>
      <p:ext uri="{BB962C8B-B14F-4D97-AF65-F5344CB8AC3E}">
        <p14:creationId xmlns:p14="http://schemas.microsoft.com/office/powerpoint/2010/main" val="4276436396"/>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barn(inVertical)">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1+#ppt_w/2"/>
                                          </p:val>
                                        </p:tav>
                                        <p:tav tm="100000">
                                          <p:val>
                                            <p:strVal val="#ppt_x"/>
                                          </p:val>
                                        </p:tav>
                                      </p:tavLst>
                                    </p:anim>
                                    <p:anim calcmode="lin" valueType="num">
                                      <p:cBhvr additive="base">
                                        <p:cTn id="20"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linds(horizontal)">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additive="base">
                                        <p:cTn id="30" dur="500" fill="hold"/>
                                        <p:tgtEl>
                                          <p:spTgt spid="22"/>
                                        </p:tgtEl>
                                        <p:attrNameLst>
                                          <p:attrName>ppt_x</p:attrName>
                                        </p:attrNameLst>
                                      </p:cBhvr>
                                      <p:tavLst>
                                        <p:tav tm="0">
                                          <p:val>
                                            <p:strVal val="#ppt_x"/>
                                          </p:val>
                                        </p:tav>
                                        <p:tav tm="100000">
                                          <p:val>
                                            <p:strVal val="#ppt_x"/>
                                          </p:val>
                                        </p:tav>
                                      </p:tavLst>
                                    </p:anim>
                                    <p:anim calcmode="lin" valueType="num">
                                      <p:cBhvr additive="base">
                                        <p:cTn id="31"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fill="hold"/>
                                        <p:tgtEl>
                                          <p:spTgt spid="23"/>
                                        </p:tgtEl>
                                        <p:attrNameLst>
                                          <p:attrName>ppt_x</p:attrName>
                                        </p:attrNameLst>
                                      </p:cBhvr>
                                      <p:tavLst>
                                        <p:tav tm="0">
                                          <p:val>
                                            <p:strVal val="1+#ppt_w/2"/>
                                          </p:val>
                                        </p:tav>
                                        <p:tav tm="100000">
                                          <p:val>
                                            <p:strVal val="#ppt_x"/>
                                          </p:val>
                                        </p:tav>
                                      </p:tavLst>
                                    </p:anim>
                                    <p:anim calcmode="lin" valueType="num">
                                      <p:cBhvr additive="base">
                                        <p:cTn id="37"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500" fill="hold"/>
                                        <p:tgtEl>
                                          <p:spTgt spid="24"/>
                                        </p:tgtEl>
                                        <p:attrNameLst>
                                          <p:attrName>ppt_x</p:attrName>
                                        </p:attrNameLst>
                                      </p:cBhvr>
                                      <p:tavLst>
                                        <p:tav tm="0">
                                          <p:val>
                                            <p:strVal val="1+#ppt_w/2"/>
                                          </p:val>
                                        </p:tav>
                                        <p:tav tm="100000">
                                          <p:val>
                                            <p:strVal val="#ppt_x"/>
                                          </p:val>
                                        </p:tav>
                                      </p:tavLst>
                                    </p:anim>
                                    <p:anim calcmode="lin" valueType="num">
                                      <p:cBhvr additive="base">
                                        <p:cTn id="43"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blinds(horizontal)">
                                      <p:cBhvr>
                                        <p:cTn id="4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0" grpId="0" autoUpdateAnimBg="0"/>
      <p:bldP spid="21" grpId="0" animBg="1" autoUpdateAnimBg="0"/>
      <p:bldP spid="22" grpId="0" animBg="1"/>
      <p:bldP spid="23" grpId="0" autoUpdateAnimBg="0"/>
      <p:bldP spid="24" grpId="0" autoUpdateAnimBg="0"/>
      <p:bldP spid="25"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1E28F19E-BF80-4A79-B783-7078BDB0D652}"/>
              </a:ext>
            </a:extLst>
          </p:cNvPr>
          <p:cNvSpPr txBox="1"/>
          <p:nvPr/>
        </p:nvSpPr>
        <p:spPr>
          <a:xfrm>
            <a:off x="247718" y="224527"/>
            <a:ext cx="9227877"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9.2</a:t>
            </a:r>
            <a:r>
              <a:rPr lang="zh-CN" altLang="en-US" dirty="0">
                <a:sym typeface="+mn-lt"/>
              </a:rPr>
              <a:t>继承下的访问控制权</a:t>
            </a:r>
            <a:r>
              <a:rPr lang="en-US" altLang="zh-CN" dirty="0">
                <a:sym typeface="+mn-lt"/>
              </a:rPr>
              <a:t>——</a:t>
            </a:r>
            <a:r>
              <a:rPr lang="zh-CN" altLang="en-US" dirty="0">
                <a:sym typeface="+mn-lt"/>
              </a:rPr>
              <a:t>私有继承</a:t>
            </a:r>
          </a:p>
        </p:txBody>
      </p:sp>
      <p:sp>
        <p:nvSpPr>
          <p:cNvPr id="15" name="Text Box 6">
            <a:extLst>
              <a:ext uri="{FF2B5EF4-FFF2-40B4-BE49-F238E27FC236}">
                <a16:creationId xmlns:a16="http://schemas.microsoft.com/office/drawing/2014/main" id="{C07C09D3-8502-40B0-B491-605C81E6E1AB}"/>
              </a:ext>
            </a:extLst>
          </p:cNvPr>
          <p:cNvSpPr txBox="1">
            <a:spLocks noChangeArrowheads="1"/>
          </p:cNvSpPr>
          <p:nvPr/>
        </p:nvSpPr>
        <p:spPr bwMode="auto">
          <a:xfrm>
            <a:off x="475641" y="1865407"/>
            <a:ext cx="12196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private</a:t>
            </a:r>
          </a:p>
        </p:txBody>
      </p:sp>
      <p:sp>
        <p:nvSpPr>
          <p:cNvPr id="16" name="AutoShape 8">
            <a:extLst>
              <a:ext uri="{FF2B5EF4-FFF2-40B4-BE49-F238E27FC236}">
                <a16:creationId xmlns:a16="http://schemas.microsoft.com/office/drawing/2014/main" id="{FBEE9737-2AC0-49C2-9C01-2003C579A10B}"/>
              </a:ext>
            </a:extLst>
          </p:cNvPr>
          <p:cNvSpPr>
            <a:spLocks/>
          </p:cNvSpPr>
          <p:nvPr/>
        </p:nvSpPr>
        <p:spPr bwMode="auto">
          <a:xfrm>
            <a:off x="1869709" y="1649164"/>
            <a:ext cx="176581" cy="1005918"/>
          </a:xfrm>
          <a:prstGeom prst="leftBrace">
            <a:avLst>
              <a:gd name="adj1" fmla="val 15728"/>
              <a:gd name="adj2" fmla="val 50000"/>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17" name="Text Box 9">
            <a:extLst>
              <a:ext uri="{FF2B5EF4-FFF2-40B4-BE49-F238E27FC236}">
                <a16:creationId xmlns:a16="http://schemas.microsoft.com/office/drawing/2014/main" id="{9A365AA8-17FE-4474-8D94-386C7A0605AF}"/>
              </a:ext>
            </a:extLst>
          </p:cNvPr>
          <p:cNvSpPr txBox="1">
            <a:spLocks noChangeArrowheads="1"/>
          </p:cNvSpPr>
          <p:nvPr/>
        </p:nvSpPr>
        <p:spPr bwMode="auto">
          <a:xfrm>
            <a:off x="2014172" y="1425326"/>
            <a:ext cx="4322925"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ts val="600"/>
              </a:spcBef>
              <a:buClrTx/>
              <a:buSzTx/>
              <a:buNone/>
            </a:pPr>
            <a:r>
              <a:rPr kumimoji="1" lang="en-US" altLang="zh-CN" sz="2400" dirty="0">
                <a:solidFill>
                  <a:srgbClr val="104E87"/>
                </a:solidFill>
                <a:latin typeface="Comic Sans MS" panose="030F0702030302020204" pitchFamily="66" charset="0"/>
                <a:ea typeface="宋体" panose="02010600030101010101" pitchFamily="2" charset="-122"/>
              </a:rPr>
              <a:t>public--&gt;            private             </a:t>
            </a:r>
          </a:p>
          <a:p>
            <a:pPr>
              <a:spcBef>
                <a:spcPts val="600"/>
              </a:spcBef>
              <a:buClrTx/>
              <a:buSzTx/>
              <a:buNone/>
            </a:pPr>
            <a:r>
              <a:rPr kumimoji="1" lang="en-US" altLang="zh-CN" sz="2400" dirty="0">
                <a:solidFill>
                  <a:srgbClr val="104E87"/>
                </a:solidFill>
                <a:latin typeface="Comic Sans MS" panose="030F0702030302020204" pitchFamily="66" charset="0"/>
                <a:ea typeface="宋体" panose="02010600030101010101" pitchFamily="2" charset="-122"/>
              </a:rPr>
              <a:t>protected --&gt;    private</a:t>
            </a:r>
            <a:r>
              <a:rPr kumimoji="1" lang="en-US" altLang="zh-CN" sz="2400" dirty="0">
                <a:solidFill>
                  <a:srgbClr val="104E87"/>
                </a:solidFill>
                <a:latin typeface="Comic Sans MS" panose="030F0702030302020204" pitchFamily="66" charset="0"/>
                <a:ea typeface="宋体" panose="02010600030101010101" pitchFamily="2" charset="-122"/>
                <a:sym typeface="Wingdings" panose="05000000000000000000" pitchFamily="2" charset="2"/>
              </a:rPr>
              <a:t>  </a:t>
            </a:r>
          </a:p>
          <a:p>
            <a:pPr eaLnBrk="1" hangingPunct="1">
              <a:spcBef>
                <a:spcPts val="60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sym typeface="Wingdings" panose="05000000000000000000" pitchFamily="2" charset="2"/>
              </a:rPr>
              <a:t>private--&gt;         inaccessible  </a:t>
            </a:r>
            <a:endParaRPr kumimoji="1" lang="en-US" altLang="zh-CN" sz="2400" dirty="0">
              <a:solidFill>
                <a:srgbClr val="104E87"/>
              </a:solidFill>
              <a:latin typeface="Comic Sans MS" panose="030F0702030302020204" pitchFamily="66" charset="0"/>
              <a:ea typeface="宋体" panose="02010600030101010101" pitchFamily="2" charset="-122"/>
            </a:endParaRPr>
          </a:p>
        </p:txBody>
      </p:sp>
      <p:sp>
        <p:nvSpPr>
          <p:cNvPr id="19" name="TextBox 1">
            <a:extLst>
              <a:ext uri="{FF2B5EF4-FFF2-40B4-BE49-F238E27FC236}">
                <a16:creationId xmlns:a16="http://schemas.microsoft.com/office/drawing/2014/main" id="{2EFD3136-A9E0-47F4-8390-B6BBB19D5C88}"/>
              </a:ext>
            </a:extLst>
          </p:cNvPr>
          <p:cNvSpPr txBox="1">
            <a:spLocks noChangeArrowheads="1"/>
          </p:cNvSpPr>
          <p:nvPr/>
        </p:nvSpPr>
        <p:spPr bwMode="auto">
          <a:xfrm>
            <a:off x="156798" y="991939"/>
            <a:ext cx="72689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spc="-160" dirty="0">
                <a:solidFill>
                  <a:srgbClr val="104E87"/>
                </a:solidFill>
                <a:latin typeface="华光行书_CNKI" panose="02000500000000000000" pitchFamily="2" charset="-122"/>
                <a:ea typeface="华光行书_CNKI" panose="02000500000000000000" pitchFamily="2" charset="-122"/>
              </a:rPr>
              <a:t>(1)</a:t>
            </a:r>
            <a:r>
              <a:rPr lang="zh-CN" altLang="en-US" sz="2400" spc="-160" dirty="0">
                <a:solidFill>
                  <a:srgbClr val="104E87"/>
                </a:solidFill>
                <a:latin typeface="华光行书_CNKI" panose="02000500000000000000" pitchFamily="2" charset="-122"/>
                <a:ea typeface="华光行书_CNKI" panose="02000500000000000000" pitchFamily="2" charset="-122"/>
              </a:rPr>
              <a:t>继承方式  基类中访问控制权  派生类中访问控制权</a:t>
            </a:r>
          </a:p>
        </p:txBody>
      </p:sp>
      <p:sp>
        <p:nvSpPr>
          <p:cNvPr id="14" name="Text Box 1">
            <a:extLst>
              <a:ext uri="{FF2B5EF4-FFF2-40B4-BE49-F238E27FC236}">
                <a16:creationId xmlns:a16="http://schemas.microsoft.com/office/drawing/2014/main" id="{F8788C25-908C-4DF0-8A91-6518027379EE}"/>
              </a:ext>
            </a:extLst>
          </p:cNvPr>
          <p:cNvSpPr txBox="1">
            <a:spLocks noChangeArrowheads="1"/>
          </p:cNvSpPr>
          <p:nvPr/>
        </p:nvSpPr>
        <p:spPr bwMode="auto">
          <a:xfrm>
            <a:off x="7644294" y="987669"/>
            <a:ext cx="2788558" cy="1882775"/>
          </a:xfrm>
          <a:prstGeom prst="rect">
            <a:avLst/>
          </a:prstGeom>
          <a:noFill/>
          <a:ln w="12700">
            <a:noFill/>
            <a:prstDash val="sysDot"/>
            <a:miter lim="800000"/>
            <a:headEnd/>
            <a:tailEnd/>
          </a:ln>
        </p:spPr>
        <p:txBody>
          <a:bodyPr lIns="0" tIns="0" rIns="0" bIns="0" anchor="ctr"/>
          <a:lstStyle/>
          <a:p>
            <a:pPr>
              <a:defRPr/>
            </a:pPr>
            <a:r>
              <a:rPr lang="en-US" altLang="zh-CN" dirty="0">
                <a:solidFill>
                  <a:srgbClr val="104E87"/>
                </a:solidFill>
                <a:latin typeface="Comic Sans MS" panose="030F0702030302020204" pitchFamily="66" charset="0"/>
                <a:cs typeface="Courier New" pitchFamily="49" charset="0"/>
              </a:rPr>
              <a:t>class Base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{public: int a1;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protected: int a2;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private: int a3;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a:t>
            </a:r>
            <a:endParaRPr lang="en-US" altLang="zh-CN" dirty="0">
              <a:solidFill>
                <a:srgbClr val="104E87"/>
              </a:solidFill>
              <a:latin typeface="Comic Sans MS" panose="030F0702030302020204" pitchFamily="66" charset="0"/>
            </a:endParaRPr>
          </a:p>
        </p:txBody>
      </p:sp>
      <p:sp>
        <p:nvSpPr>
          <p:cNvPr id="18" name="Text Box 4">
            <a:extLst>
              <a:ext uri="{FF2B5EF4-FFF2-40B4-BE49-F238E27FC236}">
                <a16:creationId xmlns:a16="http://schemas.microsoft.com/office/drawing/2014/main" id="{A5A43472-9E35-478E-BEB1-D36A7311C467}"/>
              </a:ext>
            </a:extLst>
          </p:cNvPr>
          <p:cNvSpPr txBox="1">
            <a:spLocks noChangeArrowheads="1"/>
          </p:cNvSpPr>
          <p:nvPr/>
        </p:nvSpPr>
        <p:spPr bwMode="auto">
          <a:xfrm>
            <a:off x="7501368" y="3130062"/>
            <a:ext cx="4690632" cy="2672861"/>
          </a:xfrm>
          <a:prstGeom prst="rect">
            <a:avLst/>
          </a:prstGeom>
          <a:noFill/>
          <a:ln w="12700">
            <a:noFill/>
            <a:prstDash val="sysDot"/>
            <a:miter lim="800000"/>
            <a:headEnd/>
            <a:tailEnd/>
          </a:ln>
        </p:spPr>
        <p:txBody>
          <a:bodyPr lIns="0" tIns="0" rIns="0" bIns="0" anchor="ctr"/>
          <a:lstStyle/>
          <a:p>
            <a:pPr>
              <a:defRPr/>
            </a:pP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class </a:t>
            </a:r>
            <a:r>
              <a:rPr lang="en-US" altLang="zh-CN" dirty="0" err="1">
                <a:solidFill>
                  <a:srgbClr val="104E87"/>
                </a:solidFill>
                <a:latin typeface="华光行书_CNKI" panose="02000500000000000000" pitchFamily="2" charset="-122"/>
                <a:ea typeface="华光行书_CNKI" panose="02000500000000000000" pitchFamily="2" charset="-122"/>
                <a:cs typeface="Courier New" pitchFamily="49" charset="0"/>
              </a:rPr>
              <a:t>PrivateClass</a:t>
            </a: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 </a:t>
            </a:r>
            <a:r>
              <a:rPr lang="en-US" altLang="zh-CN" dirty="0">
                <a:solidFill>
                  <a:srgbClr val="FF0000"/>
                </a:solidFill>
                <a:latin typeface="华光行书_CNKI" panose="02000500000000000000" pitchFamily="2" charset="-122"/>
                <a:ea typeface="华光行书_CNKI" panose="02000500000000000000" pitchFamily="2" charset="-122"/>
                <a:cs typeface="Courier New" pitchFamily="49" charset="0"/>
              </a:rPr>
              <a:t>private</a:t>
            </a: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 Base{ </a:t>
            </a:r>
            <a:b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public: </a:t>
            </a:r>
            <a:b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void test() { </a:t>
            </a:r>
          </a:p>
          <a:p>
            <a:pPr>
              <a:defRPr/>
            </a:pP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  a1 = 1;//</a:t>
            </a:r>
            <a:r>
              <a:rPr lang="en-US" altLang="zh-CN" dirty="0">
                <a:solidFill>
                  <a:srgbClr val="000000"/>
                </a:solidFill>
                <a:latin typeface="华光行书_CNKI" panose="02000500000000000000" pitchFamily="2" charset="-122"/>
                <a:ea typeface="华光行书_CNKI" panose="02000500000000000000" pitchFamily="2" charset="-122"/>
                <a:cs typeface="Courier New" pitchFamily="49" charset="0"/>
              </a:rPr>
              <a:t> </a:t>
            </a: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a1</a:t>
            </a:r>
            <a:r>
              <a:rPr lang="zh-CN" altLang="en-US" dirty="0">
                <a:solidFill>
                  <a:srgbClr val="104E87"/>
                </a:solidFill>
                <a:latin typeface="华光行书_CNKI" panose="02000500000000000000" pitchFamily="2" charset="-122"/>
                <a:ea typeface="华光行书_CNKI" panose="02000500000000000000" pitchFamily="2" charset="-122"/>
                <a:cs typeface="Courier New" pitchFamily="49" charset="0"/>
              </a:rPr>
              <a:t>被转变为</a:t>
            </a: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private </a:t>
            </a:r>
            <a:b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  a2 = 2;//a2</a:t>
            </a:r>
            <a:r>
              <a:rPr lang="zh-CN" altLang="en-US" dirty="0">
                <a:solidFill>
                  <a:srgbClr val="104E87"/>
                </a:solidFill>
                <a:latin typeface="华光行书_CNKI" panose="02000500000000000000" pitchFamily="2" charset="-122"/>
                <a:ea typeface="华光行书_CNKI" panose="02000500000000000000" pitchFamily="2" charset="-122"/>
                <a:cs typeface="Courier New" pitchFamily="49" charset="0"/>
              </a:rPr>
              <a:t>被转变为</a:t>
            </a: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private </a:t>
            </a:r>
            <a:b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  a3=3;</a:t>
            </a:r>
            <a:br>
              <a:rPr lang="zh-CN" altLang="en-US"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zh-CN" altLang="en-US" dirty="0">
                <a:solidFill>
                  <a:srgbClr val="104E87"/>
                </a:solidFill>
                <a:latin typeface="华光行书_CNKI" panose="02000500000000000000" pitchFamily="2" charset="-122"/>
                <a:ea typeface="华光行书_CNKI" panose="02000500000000000000" pitchFamily="2" charset="-122"/>
                <a:cs typeface="Courier New" pitchFamily="49" charset="0"/>
              </a:rPr>
              <a:t> </a:t>
            </a: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 </a:t>
            </a:r>
            <a:b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a:t>
            </a:r>
            <a:endParaRPr lang="en-US" altLang="zh-CN" dirty="0">
              <a:solidFill>
                <a:srgbClr val="104E87"/>
              </a:solidFill>
              <a:latin typeface="华光行书_CNKI" panose="02000500000000000000" pitchFamily="2" charset="-122"/>
              <a:ea typeface="华光行书_CNKI" panose="02000500000000000000" pitchFamily="2" charset="-122"/>
            </a:endParaRPr>
          </a:p>
        </p:txBody>
      </p:sp>
      <p:sp>
        <p:nvSpPr>
          <p:cNvPr id="20" name="Rectangle 4">
            <a:extLst>
              <a:ext uri="{FF2B5EF4-FFF2-40B4-BE49-F238E27FC236}">
                <a16:creationId xmlns:a16="http://schemas.microsoft.com/office/drawing/2014/main" id="{A28D641E-56C9-4998-9AB5-8575AD45DE7E}"/>
              </a:ext>
            </a:extLst>
          </p:cNvPr>
          <p:cNvSpPr>
            <a:spLocks noChangeArrowheads="1"/>
          </p:cNvSpPr>
          <p:nvPr/>
        </p:nvSpPr>
        <p:spPr bwMode="auto">
          <a:xfrm>
            <a:off x="8570804" y="4808829"/>
            <a:ext cx="3724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1" dirty="0">
                <a:solidFill>
                  <a:srgbClr val="FF0000"/>
                </a:solidFill>
                <a:latin typeface="华光行书_CNKI" panose="02000500000000000000" pitchFamily="2" charset="-122"/>
                <a:ea typeface="华光行书_CNKI" panose="02000500000000000000" pitchFamily="2" charset="-122"/>
              </a:rPr>
              <a:t>×</a:t>
            </a:r>
            <a:r>
              <a:rPr lang="en-US" altLang="zh-CN" sz="24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rPr>
              <a:t>,</a:t>
            </a:r>
            <a:r>
              <a:rPr lang="zh-CN" altLang="en-US" sz="24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rPr>
              <a:t>基类私有成员不可访问</a:t>
            </a:r>
            <a:endParaRPr kumimoji="1" lang="zh-CN" altLang="en-US" sz="2400" dirty="0">
              <a:solidFill>
                <a:srgbClr val="104E87"/>
              </a:solidFill>
              <a:latin typeface="华光行书_CNKI" panose="02000500000000000000" pitchFamily="2" charset="-122"/>
              <a:ea typeface="华光行书_CNKI" panose="02000500000000000000" pitchFamily="2" charset="-122"/>
            </a:endParaRPr>
          </a:p>
        </p:txBody>
      </p:sp>
      <p:sp>
        <p:nvSpPr>
          <p:cNvPr id="21" name="AutoShape 27">
            <a:extLst>
              <a:ext uri="{FF2B5EF4-FFF2-40B4-BE49-F238E27FC236}">
                <a16:creationId xmlns:a16="http://schemas.microsoft.com/office/drawing/2014/main" id="{35CEA265-F7D9-4CB4-9328-2448D55A8CE6}"/>
              </a:ext>
            </a:extLst>
          </p:cNvPr>
          <p:cNvSpPr>
            <a:spLocks/>
          </p:cNvSpPr>
          <p:nvPr/>
        </p:nvSpPr>
        <p:spPr bwMode="auto">
          <a:xfrm>
            <a:off x="8025183" y="5418149"/>
            <a:ext cx="3724096" cy="1263053"/>
          </a:xfrm>
          <a:prstGeom prst="borderCallout1">
            <a:avLst>
              <a:gd name="adj1" fmla="val 4236"/>
              <a:gd name="adj2" fmla="val -1782"/>
              <a:gd name="adj3" fmla="val -27509"/>
              <a:gd name="adj4" fmla="val 21889"/>
            </a:avLst>
          </a:prstGeom>
          <a:solidFill>
            <a:srgbClr val="FFFF99"/>
          </a:solidFill>
          <a:ln w="9525">
            <a:solidFill>
              <a:srgbClr val="104E87"/>
            </a:solidFill>
            <a:miter lim="800000"/>
            <a:headEnd/>
            <a:tailEnd/>
          </a:ln>
        </p:spPr>
        <p:txBody>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just">
              <a:buFont typeface="Wingdings" panose="05000000000000000000" pitchFamily="2" charset="2"/>
              <a:buNone/>
            </a:pPr>
            <a:r>
              <a:rPr lang="zh-CN" altLang="en-US" sz="2400" spc="-1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rPr>
              <a:t>派生类成员</a:t>
            </a:r>
            <a:r>
              <a:rPr lang="zh-CN" altLang="en-US"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能访问基类中的</a:t>
            </a:r>
            <a:r>
              <a:rPr lang="en-US" altLang="zh-CN"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public/protected</a:t>
            </a:r>
            <a:r>
              <a:rPr lang="zh-CN" altLang="en-US"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成员</a:t>
            </a:r>
            <a:r>
              <a:rPr lang="en-US" altLang="zh-CN"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a:t>
            </a:r>
            <a:r>
              <a:rPr lang="zh-CN" altLang="en-US"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而不能访问</a:t>
            </a:r>
            <a:r>
              <a:rPr lang="en-US" altLang="zh-CN"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private</a:t>
            </a:r>
            <a:r>
              <a:rPr lang="zh-CN" altLang="en-US"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成员</a:t>
            </a:r>
            <a:endParaRPr kumimoji="1" lang="zh-CN" altLang="en-US" sz="2400" spc="-100" dirty="0">
              <a:solidFill>
                <a:srgbClr val="104E87"/>
              </a:solidFill>
              <a:latin typeface="华光行书_CNKI" panose="02000500000000000000" pitchFamily="2" charset="-122"/>
              <a:ea typeface="华光行书_CNKI" panose="02000500000000000000" pitchFamily="2" charset="-122"/>
            </a:endParaRPr>
          </a:p>
        </p:txBody>
      </p:sp>
      <p:sp>
        <p:nvSpPr>
          <p:cNvPr id="22" name="Text Box 4">
            <a:extLst>
              <a:ext uri="{FF2B5EF4-FFF2-40B4-BE49-F238E27FC236}">
                <a16:creationId xmlns:a16="http://schemas.microsoft.com/office/drawing/2014/main" id="{18F95883-73A5-40E2-B300-5294442DF2EA}"/>
              </a:ext>
            </a:extLst>
          </p:cNvPr>
          <p:cNvSpPr txBox="1">
            <a:spLocks noChangeArrowheads="1"/>
          </p:cNvSpPr>
          <p:nvPr/>
        </p:nvSpPr>
        <p:spPr bwMode="auto">
          <a:xfrm>
            <a:off x="247719" y="3256784"/>
            <a:ext cx="3024187" cy="2714288"/>
          </a:xfrm>
          <a:prstGeom prst="rect">
            <a:avLst/>
          </a:prstGeom>
          <a:noFill/>
          <a:ln w="12700">
            <a:noFill/>
            <a:prstDash val="sysDot"/>
            <a:miter lim="800000"/>
            <a:headEnd/>
            <a:tailEnd/>
          </a:ln>
        </p:spPr>
        <p:txBody>
          <a:bodyPr lIns="0" tIns="0" rIns="0" bIns="0" anchor="ctr"/>
          <a:lstStyle>
            <a:defPPr>
              <a:defRPr lang="en-US"/>
            </a:defPPr>
            <a:lvl1pPr>
              <a:defRPr>
                <a:solidFill>
                  <a:srgbClr val="104E87"/>
                </a:solidFill>
                <a:latin typeface="Comic Sans MS" panose="030F0702030302020204" pitchFamily="66" charset="0"/>
                <a:cs typeface="Courier New" pitchFamily="49" charset="0"/>
              </a:defRPr>
            </a:lvl1pPr>
          </a:lstStyle>
          <a:p>
            <a:r>
              <a:rPr lang="en-US" altLang="zh-CN" dirty="0"/>
              <a:t>int main() </a:t>
            </a:r>
            <a:br>
              <a:rPr lang="en-US" altLang="zh-CN" dirty="0"/>
            </a:br>
            <a:r>
              <a:rPr lang="en-US" altLang="zh-CN" dirty="0"/>
              <a:t>{</a:t>
            </a:r>
            <a:r>
              <a:rPr lang="en-US" altLang="zh-CN" dirty="0" err="1"/>
              <a:t>privateClass</a:t>
            </a:r>
            <a:r>
              <a:rPr lang="en-US" altLang="zh-CN" dirty="0"/>
              <a:t> b;</a:t>
            </a:r>
          </a:p>
          <a:p>
            <a:r>
              <a:rPr lang="en-US" altLang="zh-CN" dirty="0" err="1"/>
              <a:t>b.test</a:t>
            </a:r>
            <a:r>
              <a:rPr lang="en-US" altLang="zh-CN" dirty="0"/>
              <a:t>();</a:t>
            </a:r>
          </a:p>
          <a:p>
            <a:r>
              <a:rPr lang="en-US" altLang="zh-CN" dirty="0" err="1"/>
              <a:t>cout</a:t>
            </a:r>
            <a:r>
              <a:rPr lang="en-US" altLang="zh-CN" dirty="0"/>
              <a:t>&lt;&lt;b.a1;</a:t>
            </a:r>
          </a:p>
          <a:p>
            <a:r>
              <a:rPr lang="en-US" altLang="zh-CN" dirty="0" err="1"/>
              <a:t>cout</a:t>
            </a:r>
            <a:r>
              <a:rPr lang="en-US" altLang="zh-CN" dirty="0"/>
              <a:t>&lt;&lt;b.a2; </a:t>
            </a:r>
          </a:p>
          <a:p>
            <a:r>
              <a:rPr lang="en-US" altLang="zh-CN" dirty="0" err="1"/>
              <a:t>cout</a:t>
            </a:r>
            <a:r>
              <a:rPr lang="en-US" altLang="zh-CN" dirty="0"/>
              <a:t>&lt;&lt;b.a3; </a:t>
            </a:r>
          </a:p>
          <a:p>
            <a:r>
              <a:rPr lang="en-US" altLang="zh-CN" dirty="0"/>
              <a:t>} </a:t>
            </a:r>
          </a:p>
        </p:txBody>
      </p:sp>
      <p:sp>
        <p:nvSpPr>
          <p:cNvPr id="23" name="Rectangle 4">
            <a:extLst>
              <a:ext uri="{FF2B5EF4-FFF2-40B4-BE49-F238E27FC236}">
                <a16:creationId xmlns:a16="http://schemas.microsoft.com/office/drawing/2014/main" id="{048C1990-253F-40EB-BF68-03703C87A16D}"/>
              </a:ext>
            </a:extLst>
          </p:cNvPr>
          <p:cNvSpPr>
            <a:spLocks noChangeArrowheads="1"/>
          </p:cNvSpPr>
          <p:nvPr/>
        </p:nvSpPr>
        <p:spPr bwMode="auto">
          <a:xfrm>
            <a:off x="1814167" y="4747274"/>
            <a:ext cx="543739" cy="523220"/>
          </a:xfrm>
          <a:prstGeom prst="rect">
            <a:avLst/>
          </a:prstGeom>
          <a:noFill/>
          <a:ln w="9525">
            <a:noFill/>
            <a:miter lim="800000"/>
            <a:headEnd/>
            <a:tailEnd/>
          </a:ln>
        </p:spPr>
        <p:txBody>
          <a:bodyPr wrap="none">
            <a:spAutoFit/>
          </a:bodyPr>
          <a:lstStyle/>
          <a:p>
            <a:pPr eaLnBrk="1" hangingPunct="1">
              <a:defRPr/>
            </a:pPr>
            <a:r>
              <a:rPr kumimoji="1" lang="en-US" altLang="zh-CN" sz="2800" dirty="0">
                <a:solidFill>
                  <a:srgbClr val="FF0000"/>
                </a:solidFill>
                <a:latin typeface="华光胖头鱼_CNKI" panose="02000500000000000000" pitchFamily="2" charset="-122"/>
                <a:ea typeface="华光胖头鱼_CNKI" panose="02000500000000000000" pitchFamily="2" charset="-122"/>
              </a:rPr>
              <a:t>×</a:t>
            </a:r>
            <a:endParaRPr kumimoji="1" lang="zh-CN" altLang="en-US" sz="1800" dirty="0">
              <a:solidFill>
                <a:srgbClr val="FF0000"/>
              </a:solidFill>
              <a:latin typeface="华光胖头鱼_CNKI" panose="02000500000000000000" pitchFamily="2" charset="-122"/>
              <a:ea typeface="华光胖头鱼_CNKI" panose="02000500000000000000" pitchFamily="2" charset="-122"/>
            </a:endParaRPr>
          </a:p>
        </p:txBody>
      </p:sp>
      <p:sp>
        <p:nvSpPr>
          <p:cNvPr id="24" name="Rectangle 4">
            <a:extLst>
              <a:ext uri="{FF2B5EF4-FFF2-40B4-BE49-F238E27FC236}">
                <a16:creationId xmlns:a16="http://schemas.microsoft.com/office/drawing/2014/main" id="{D700B80F-DD08-42FF-862F-560ABEEE4E1F}"/>
              </a:ext>
            </a:extLst>
          </p:cNvPr>
          <p:cNvSpPr>
            <a:spLocks noChangeArrowheads="1"/>
          </p:cNvSpPr>
          <p:nvPr/>
        </p:nvSpPr>
        <p:spPr bwMode="auto">
          <a:xfrm>
            <a:off x="1869709" y="5178280"/>
            <a:ext cx="714408" cy="523220"/>
          </a:xfrm>
          <a:prstGeom prst="rect">
            <a:avLst/>
          </a:prstGeom>
          <a:noFill/>
          <a:ln w="9525">
            <a:noFill/>
            <a:miter lim="800000"/>
            <a:headEnd/>
            <a:tailEnd/>
          </a:ln>
        </p:spPr>
        <p:txBody>
          <a:bodyPr wrap="square">
            <a:spAutoFit/>
          </a:bodyPr>
          <a:lstStyle/>
          <a:p>
            <a:pPr eaLnBrk="1" hangingPunct="1">
              <a:defRPr/>
            </a:pPr>
            <a:r>
              <a:rPr kumimoji="1" lang="en-US" altLang="zh-CN" sz="2800" dirty="0">
                <a:solidFill>
                  <a:srgbClr val="FF0000"/>
                </a:solidFill>
                <a:latin typeface="华光胖头鱼_CNKI" panose="02000500000000000000" pitchFamily="2" charset="-122"/>
                <a:ea typeface="华光胖头鱼_CNKI" panose="02000500000000000000" pitchFamily="2" charset="-122"/>
              </a:rPr>
              <a:t>×</a:t>
            </a:r>
            <a:endParaRPr kumimoji="1" lang="zh-CN" altLang="en-US" sz="1800" dirty="0">
              <a:latin typeface="华光胖头鱼_CNKI" panose="02000500000000000000" pitchFamily="2" charset="-122"/>
              <a:ea typeface="华光胖头鱼_CNKI" panose="02000500000000000000" pitchFamily="2" charset="-122"/>
            </a:endParaRPr>
          </a:p>
        </p:txBody>
      </p:sp>
      <p:sp>
        <p:nvSpPr>
          <p:cNvPr id="25" name="AutoShape 27">
            <a:extLst>
              <a:ext uri="{FF2B5EF4-FFF2-40B4-BE49-F238E27FC236}">
                <a16:creationId xmlns:a16="http://schemas.microsoft.com/office/drawing/2014/main" id="{193DD349-8F8D-4C2E-9066-5515BD0B2B08}"/>
              </a:ext>
            </a:extLst>
          </p:cNvPr>
          <p:cNvSpPr>
            <a:spLocks/>
          </p:cNvSpPr>
          <p:nvPr/>
        </p:nvSpPr>
        <p:spPr bwMode="auto">
          <a:xfrm>
            <a:off x="1344477" y="5809044"/>
            <a:ext cx="2694773" cy="856560"/>
          </a:xfrm>
          <a:prstGeom prst="borderCallout1">
            <a:avLst>
              <a:gd name="adj1" fmla="val -8292"/>
              <a:gd name="adj2" fmla="val 31691"/>
              <a:gd name="adj3" fmla="val -154641"/>
              <a:gd name="adj4" fmla="val 21526"/>
            </a:avLst>
          </a:prstGeom>
          <a:solidFill>
            <a:srgbClr val="FFFF99"/>
          </a:solidFill>
          <a:ln w="9525">
            <a:solidFill>
              <a:srgbClr val="104E87"/>
            </a:solidFill>
            <a:miter lim="800000"/>
            <a:headEnd/>
            <a:tailEnd/>
          </a:ln>
        </p:spPr>
        <p:txBody>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buFont typeface="Wingdings" panose="05000000000000000000" pitchFamily="2" charset="2"/>
              <a:buNone/>
            </a:pPr>
            <a:r>
              <a:rPr lang="zh-CN" altLang="en-US" sz="24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rPr>
              <a:t>派生类对象不可访问基类中任何成员</a:t>
            </a:r>
            <a:endParaRPr kumimoji="1" lang="zh-CN" altLang="en-US" sz="24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endParaRPr>
          </a:p>
        </p:txBody>
      </p:sp>
      <p:sp>
        <p:nvSpPr>
          <p:cNvPr id="27" name="Rectangle 4">
            <a:extLst>
              <a:ext uri="{FF2B5EF4-FFF2-40B4-BE49-F238E27FC236}">
                <a16:creationId xmlns:a16="http://schemas.microsoft.com/office/drawing/2014/main" id="{A69BC038-7736-46EE-8069-AD703C49ACD0}"/>
              </a:ext>
            </a:extLst>
          </p:cNvPr>
          <p:cNvSpPr>
            <a:spLocks noChangeArrowheads="1"/>
          </p:cNvSpPr>
          <p:nvPr/>
        </p:nvSpPr>
        <p:spPr bwMode="auto">
          <a:xfrm>
            <a:off x="1677382" y="4342351"/>
            <a:ext cx="543739" cy="523220"/>
          </a:xfrm>
          <a:prstGeom prst="rect">
            <a:avLst/>
          </a:prstGeom>
          <a:noFill/>
          <a:ln w="9525">
            <a:noFill/>
            <a:miter lim="800000"/>
            <a:headEnd/>
            <a:tailEnd/>
          </a:ln>
        </p:spPr>
        <p:txBody>
          <a:bodyPr wrap="none">
            <a:spAutoFit/>
          </a:bodyPr>
          <a:lstStyle/>
          <a:p>
            <a:pPr eaLnBrk="1" hangingPunct="1">
              <a:defRPr/>
            </a:pPr>
            <a:r>
              <a:rPr kumimoji="1" lang="en-US" altLang="zh-CN" sz="2800" dirty="0">
                <a:solidFill>
                  <a:srgbClr val="FF0000"/>
                </a:solidFill>
                <a:latin typeface="华光胖头鱼_CNKI" panose="02000500000000000000" pitchFamily="2" charset="-122"/>
                <a:ea typeface="华光胖头鱼_CNKI" panose="02000500000000000000" pitchFamily="2" charset="-122"/>
              </a:rPr>
              <a:t>×</a:t>
            </a:r>
            <a:endParaRPr kumimoji="1" lang="zh-CN" altLang="en-US" sz="1800" dirty="0">
              <a:solidFill>
                <a:srgbClr val="FF0000"/>
              </a:solidFill>
              <a:latin typeface="华光胖头鱼_CNKI" panose="02000500000000000000" pitchFamily="2" charset="-122"/>
              <a:ea typeface="华光胖头鱼_CNKI" panose="02000500000000000000" pitchFamily="2" charset="-122"/>
            </a:endParaRPr>
          </a:p>
        </p:txBody>
      </p:sp>
    </p:spTree>
    <p:extLst>
      <p:ext uri="{BB962C8B-B14F-4D97-AF65-F5344CB8AC3E}">
        <p14:creationId xmlns:p14="http://schemas.microsoft.com/office/powerpoint/2010/main" val="283973582"/>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barn(inVertical)">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1+#ppt_w/2"/>
                                          </p:val>
                                        </p:tav>
                                        <p:tav tm="100000">
                                          <p:val>
                                            <p:strVal val="#ppt_x"/>
                                          </p:val>
                                        </p:tav>
                                      </p:tavLst>
                                    </p:anim>
                                    <p:anim calcmode="lin" valueType="num">
                                      <p:cBhvr additive="base">
                                        <p:cTn id="20"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linds(horizontal)">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additive="base">
                                        <p:cTn id="30" dur="500" fill="hold"/>
                                        <p:tgtEl>
                                          <p:spTgt spid="22"/>
                                        </p:tgtEl>
                                        <p:attrNameLst>
                                          <p:attrName>ppt_x</p:attrName>
                                        </p:attrNameLst>
                                      </p:cBhvr>
                                      <p:tavLst>
                                        <p:tav tm="0">
                                          <p:val>
                                            <p:strVal val="#ppt_x"/>
                                          </p:val>
                                        </p:tav>
                                        <p:tav tm="100000">
                                          <p:val>
                                            <p:strVal val="#ppt_x"/>
                                          </p:val>
                                        </p:tav>
                                      </p:tavLst>
                                    </p:anim>
                                    <p:anim calcmode="lin" valueType="num">
                                      <p:cBhvr additive="base">
                                        <p:cTn id="31"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additive="base">
                                        <p:cTn id="36" dur="500" fill="hold"/>
                                        <p:tgtEl>
                                          <p:spTgt spid="27"/>
                                        </p:tgtEl>
                                        <p:attrNameLst>
                                          <p:attrName>ppt_x</p:attrName>
                                        </p:attrNameLst>
                                      </p:cBhvr>
                                      <p:tavLst>
                                        <p:tav tm="0">
                                          <p:val>
                                            <p:strVal val="1+#ppt_w/2"/>
                                          </p:val>
                                        </p:tav>
                                        <p:tav tm="100000">
                                          <p:val>
                                            <p:strVal val="#ppt_x"/>
                                          </p:val>
                                        </p:tav>
                                      </p:tavLst>
                                    </p:anim>
                                    <p:anim calcmode="lin" valueType="num">
                                      <p:cBhvr additive="base">
                                        <p:cTn id="37"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1+#ppt_w/2"/>
                                          </p:val>
                                        </p:tav>
                                        <p:tav tm="100000">
                                          <p:val>
                                            <p:strVal val="#ppt_x"/>
                                          </p:val>
                                        </p:tav>
                                      </p:tavLst>
                                    </p:anim>
                                    <p:anim calcmode="lin" valueType="num">
                                      <p:cBhvr additive="base">
                                        <p:cTn id="43"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additive="base">
                                        <p:cTn id="48" dur="500" fill="hold"/>
                                        <p:tgtEl>
                                          <p:spTgt spid="24"/>
                                        </p:tgtEl>
                                        <p:attrNameLst>
                                          <p:attrName>ppt_x</p:attrName>
                                        </p:attrNameLst>
                                      </p:cBhvr>
                                      <p:tavLst>
                                        <p:tav tm="0">
                                          <p:val>
                                            <p:strVal val="1+#ppt_w/2"/>
                                          </p:val>
                                        </p:tav>
                                        <p:tav tm="100000">
                                          <p:val>
                                            <p:strVal val="#ppt_x"/>
                                          </p:val>
                                        </p:tav>
                                      </p:tavLst>
                                    </p:anim>
                                    <p:anim calcmode="lin" valueType="num">
                                      <p:cBhvr additive="base">
                                        <p:cTn id="49"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blinds(horizontal)">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0" grpId="0" autoUpdateAnimBg="0"/>
      <p:bldP spid="21" grpId="0" animBg="1" autoUpdateAnimBg="0"/>
      <p:bldP spid="22" grpId="0" animBg="1"/>
      <p:bldP spid="23" grpId="0" autoUpdateAnimBg="0"/>
      <p:bldP spid="24" grpId="0" autoUpdateAnimBg="0"/>
      <p:bldP spid="25" grpId="0" animBg="1" autoUpdateAnimBg="0"/>
      <p:bldP spid="2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1E28F19E-BF80-4A79-B783-7078BDB0D652}"/>
              </a:ext>
            </a:extLst>
          </p:cNvPr>
          <p:cNvSpPr txBox="1"/>
          <p:nvPr/>
        </p:nvSpPr>
        <p:spPr>
          <a:xfrm>
            <a:off x="247719" y="224527"/>
            <a:ext cx="773067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9.2</a:t>
            </a:r>
            <a:r>
              <a:rPr lang="zh-CN" altLang="en-US" dirty="0">
                <a:sym typeface="+mn-lt"/>
              </a:rPr>
              <a:t>继承下的访问控制权</a:t>
            </a:r>
            <a:r>
              <a:rPr lang="en-US" altLang="zh-CN" dirty="0">
                <a:sym typeface="+mn-lt"/>
              </a:rPr>
              <a:t>——</a:t>
            </a:r>
            <a:r>
              <a:rPr lang="zh-CN" altLang="en-US" dirty="0">
                <a:sym typeface="+mn-lt"/>
              </a:rPr>
              <a:t>保护继承</a:t>
            </a:r>
          </a:p>
        </p:txBody>
      </p:sp>
      <p:sp>
        <p:nvSpPr>
          <p:cNvPr id="15" name="Text Box 6">
            <a:extLst>
              <a:ext uri="{FF2B5EF4-FFF2-40B4-BE49-F238E27FC236}">
                <a16:creationId xmlns:a16="http://schemas.microsoft.com/office/drawing/2014/main" id="{C07C09D3-8502-40B0-B491-605C81E6E1AB}"/>
              </a:ext>
            </a:extLst>
          </p:cNvPr>
          <p:cNvSpPr txBox="1">
            <a:spLocks noChangeArrowheads="1"/>
          </p:cNvSpPr>
          <p:nvPr/>
        </p:nvSpPr>
        <p:spPr bwMode="auto">
          <a:xfrm>
            <a:off x="1587" y="1865407"/>
            <a:ext cx="1693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dirty="0">
                <a:solidFill>
                  <a:srgbClr val="104E87"/>
                </a:solidFill>
                <a:latin typeface="华光行书_CNKI" panose="02000500000000000000" pitchFamily="2" charset="-122"/>
                <a:ea typeface="华光行书_CNKI" panose="02000500000000000000" pitchFamily="2" charset="-122"/>
              </a:rPr>
              <a:t>protected</a:t>
            </a:r>
          </a:p>
        </p:txBody>
      </p:sp>
      <p:sp>
        <p:nvSpPr>
          <p:cNvPr id="16" name="AutoShape 8">
            <a:extLst>
              <a:ext uri="{FF2B5EF4-FFF2-40B4-BE49-F238E27FC236}">
                <a16:creationId xmlns:a16="http://schemas.microsoft.com/office/drawing/2014/main" id="{FBEE9737-2AC0-49C2-9C01-2003C579A10B}"/>
              </a:ext>
            </a:extLst>
          </p:cNvPr>
          <p:cNvSpPr>
            <a:spLocks/>
          </p:cNvSpPr>
          <p:nvPr/>
        </p:nvSpPr>
        <p:spPr bwMode="auto">
          <a:xfrm>
            <a:off x="1638601" y="1649164"/>
            <a:ext cx="176581" cy="1005918"/>
          </a:xfrm>
          <a:prstGeom prst="leftBrace">
            <a:avLst>
              <a:gd name="adj1" fmla="val 15728"/>
              <a:gd name="adj2" fmla="val 50000"/>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17" name="Text Box 9">
            <a:extLst>
              <a:ext uri="{FF2B5EF4-FFF2-40B4-BE49-F238E27FC236}">
                <a16:creationId xmlns:a16="http://schemas.microsoft.com/office/drawing/2014/main" id="{9A365AA8-17FE-4474-8D94-386C7A0605AF}"/>
              </a:ext>
            </a:extLst>
          </p:cNvPr>
          <p:cNvSpPr txBox="1">
            <a:spLocks noChangeArrowheads="1"/>
          </p:cNvSpPr>
          <p:nvPr/>
        </p:nvSpPr>
        <p:spPr bwMode="auto">
          <a:xfrm>
            <a:off x="1783064" y="1425326"/>
            <a:ext cx="4322925"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ts val="60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public--&gt;           p</a:t>
            </a:r>
            <a:r>
              <a:rPr kumimoji="1" lang="en-US" altLang="zh-CN" sz="2400" dirty="0">
                <a:solidFill>
                  <a:srgbClr val="104E87"/>
                </a:solidFill>
                <a:latin typeface="Comic Sans MS" panose="030F0702030302020204" pitchFamily="66" charset="0"/>
                <a:ea typeface="宋体" panose="02010600030101010101" pitchFamily="2" charset="-122"/>
                <a:sym typeface="Wingdings" panose="05000000000000000000" pitchFamily="2" charset="2"/>
              </a:rPr>
              <a:t>rotected</a:t>
            </a:r>
            <a:r>
              <a:rPr kumimoji="1" lang="en-US" altLang="zh-CN" sz="2400" dirty="0">
                <a:solidFill>
                  <a:srgbClr val="104E87"/>
                </a:solidFill>
                <a:latin typeface="Comic Sans MS" panose="030F0702030302020204" pitchFamily="66" charset="0"/>
                <a:ea typeface="宋体" panose="02010600030101010101" pitchFamily="2" charset="-122"/>
              </a:rPr>
              <a:t>              </a:t>
            </a:r>
          </a:p>
          <a:p>
            <a:pPr eaLnBrk="1" hangingPunct="1">
              <a:spcBef>
                <a:spcPts val="60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protected --&gt;    p</a:t>
            </a:r>
            <a:r>
              <a:rPr kumimoji="1" lang="en-US" altLang="zh-CN" sz="2400" dirty="0">
                <a:solidFill>
                  <a:srgbClr val="104E87"/>
                </a:solidFill>
                <a:latin typeface="Comic Sans MS" panose="030F0702030302020204" pitchFamily="66" charset="0"/>
                <a:ea typeface="宋体" panose="02010600030101010101" pitchFamily="2" charset="-122"/>
                <a:sym typeface="Wingdings" panose="05000000000000000000" pitchFamily="2" charset="2"/>
              </a:rPr>
              <a:t>rotected  </a:t>
            </a:r>
          </a:p>
          <a:p>
            <a:pPr eaLnBrk="1" hangingPunct="1">
              <a:spcBef>
                <a:spcPts val="60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sym typeface="Wingdings" panose="05000000000000000000" pitchFamily="2" charset="2"/>
              </a:rPr>
              <a:t>private--&gt;         inaccessible  </a:t>
            </a:r>
            <a:endParaRPr kumimoji="1" lang="en-US" altLang="zh-CN" sz="2400" dirty="0">
              <a:solidFill>
                <a:srgbClr val="104E87"/>
              </a:solidFill>
              <a:latin typeface="Comic Sans MS" panose="030F0702030302020204" pitchFamily="66" charset="0"/>
              <a:ea typeface="宋体" panose="02010600030101010101" pitchFamily="2" charset="-122"/>
            </a:endParaRPr>
          </a:p>
        </p:txBody>
      </p:sp>
      <p:sp>
        <p:nvSpPr>
          <p:cNvPr id="19" name="TextBox 1">
            <a:extLst>
              <a:ext uri="{FF2B5EF4-FFF2-40B4-BE49-F238E27FC236}">
                <a16:creationId xmlns:a16="http://schemas.microsoft.com/office/drawing/2014/main" id="{2EFD3136-A9E0-47F4-8390-B6BBB19D5C88}"/>
              </a:ext>
            </a:extLst>
          </p:cNvPr>
          <p:cNvSpPr txBox="1">
            <a:spLocks noChangeArrowheads="1"/>
          </p:cNvSpPr>
          <p:nvPr/>
        </p:nvSpPr>
        <p:spPr bwMode="auto">
          <a:xfrm>
            <a:off x="-94773" y="1031144"/>
            <a:ext cx="73895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en-US" altLang="zh-CN" sz="2400" spc="-160" dirty="0">
                <a:solidFill>
                  <a:srgbClr val="104E87"/>
                </a:solidFill>
                <a:latin typeface="华光行书_CNKI" panose="02000500000000000000" pitchFamily="2" charset="-122"/>
                <a:ea typeface="华光行书_CNKI" panose="02000500000000000000" pitchFamily="2" charset="-122"/>
              </a:rPr>
              <a:t>(2)</a:t>
            </a:r>
            <a:r>
              <a:rPr lang="zh-CN" altLang="en-US" sz="2400" spc="-160" dirty="0">
                <a:solidFill>
                  <a:srgbClr val="104E87"/>
                </a:solidFill>
                <a:latin typeface="华光行书_CNKI" panose="02000500000000000000" pitchFamily="2" charset="-122"/>
                <a:ea typeface="华光行书_CNKI" panose="02000500000000000000" pitchFamily="2" charset="-122"/>
              </a:rPr>
              <a:t>继承方式基 类中访问控制权  派生类中访问控制权</a:t>
            </a:r>
          </a:p>
        </p:txBody>
      </p:sp>
      <p:sp>
        <p:nvSpPr>
          <p:cNvPr id="14" name="Text Box 1">
            <a:extLst>
              <a:ext uri="{FF2B5EF4-FFF2-40B4-BE49-F238E27FC236}">
                <a16:creationId xmlns:a16="http://schemas.microsoft.com/office/drawing/2014/main" id="{F8788C25-908C-4DF0-8A91-6518027379EE}"/>
              </a:ext>
            </a:extLst>
          </p:cNvPr>
          <p:cNvSpPr txBox="1">
            <a:spLocks noChangeArrowheads="1"/>
          </p:cNvSpPr>
          <p:nvPr/>
        </p:nvSpPr>
        <p:spPr bwMode="auto">
          <a:xfrm>
            <a:off x="2810626" y="2951104"/>
            <a:ext cx="2788558" cy="1882775"/>
          </a:xfrm>
          <a:prstGeom prst="rect">
            <a:avLst/>
          </a:prstGeom>
          <a:noFill/>
          <a:ln w="12700">
            <a:noFill/>
            <a:prstDash val="sysDot"/>
            <a:miter lim="800000"/>
            <a:headEnd/>
            <a:tailEnd/>
          </a:ln>
        </p:spPr>
        <p:txBody>
          <a:bodyPr lIns="0" tIns="0" rIns="0" bIns="0" anchor="ctr"/>
          <a:lstStyle/>
          <a:p>
            <a:pPr>
              <a:defRPr/>
            </a:pPr>
            <a:r>
              <a:rPr lang="en-US" altLang="zh-CN" dirty="0">
                <a:solidFill>
                  <a:srgbClr val="104E87"/>
                </a:solidFill>
                <a:latin typeface="Comic Sans MS" panose="030F0702030302020204" pitchFamily="66" charset="0"/>
                <a:cs typeface="Courier New" pitchFamily="49" charset="0"/>
              </a:rPr>
              <a:t>class Base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{public: int a1;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protected: int a2;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private: int a3; </a:t>
            </a:r>
            <a:br>
              <a:rPr lang="en-US" altLang="zh-CN" dirty="0">
                <a:solidFill>
                  <a:srgbClr val="104E87"/>
                </a:solidFill>
                <a:latin typeface="Comic Sans MS" panose="030F0702030302020204" pitchFamily="66" charset="0"/>
                <a:cs typeface="Courier New" pitchFamily="49" charset="0"/>
              </a:rPr>
            </a:br>
            <a:r>
              <a:rPr lang="en-US" altLang="zh-CN" dirty="0">
                <a:solidFill>
                  <a:srgbClr val="104E87"/>
                </a:solidFill>
                <a:latin typeface="Comic Sans MS" panose="030F0702030302020204" pitchFamily="66" charset="0"/>
                <a:cs typeface="Courier New" pitchFamily="49" charset="0"/>
              </a:rPr>
              <a:t>};</a:t>
            </a:r>
            <a:endParaRPr lang="en-US" altLang="zh-CN" dirty="0">
              <a:solidFill>
                <a:srgbClr val="104E87"/>
              </a:solidFill>
              <a:latin typeface="Comic Sans MS" panose="030F0702030302020204" pitchFamily="66" charset="0"/>
            </a:endParaRPr>
          </a:p>
        </p:txBody>
      </p:sp>
      <p:sp>
        <p:nvSpPr>
          <p:cNvPr id="18" name="Text Box 4">
            <a:extLst>
              <a:ext uri="{FF2B5EF4-FFF2-40B4-BE49-F238E27FC236}">
                <a16:creationId xmlns:a16="http://schemas.microsoft.com/office/drawing/2014/main" id="{A5A43472-9E35-478E-BEB1-D36A7311C467}"/>
              </a:ext>
            </a:extLst>
          </p:cNvPr>
          <p:cNvSpPr txBox="1">
            <a:spLocks noChangeArrowheads="1"/>
          </p:cNvSpPr>
          <p:nvPr/>
        </p:nvSpPr>
        <p:spPr bwMode="auto">
          <a:xfrm>
            <a:off x="6096000" y="1516958"/>
            <a:ext cx="5009103" cy="2672861"/>
          </a:xfrm>
          <a:prstGeom prst="rect">
            <a:avLst/>
          </a:prstGeom>
          <a:noFill/>
          <a:ln w="12700">
            <a:noFill/>
            <a:prstDash val="sysDot"/>
            <a:miter lim="800000"/>
            <a:headEnd/>
            <a:tailEnd/>
          </a:ln>
        </p:spPr>
        <p:txBody>
          <a:bodyPr lIns="0" tIns="0" rIns="0" bIns="0" anchor="ctr"/>
          <a:lstStyle/>
          <a:p>
            <a:pPr>
              <a:defRPr/>
            </a:pP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class </a:t>
            </a:r>
            <a:r>
              <a:rPr lang="en-US" altLang="zh-CN" spc="-100" dirty="0" err="1">
                <a:solidFill>
                  <a:srgbClr val="104E87"/>
                </a:solidFill>
                <a:latin typeface="华光行书_CNKI" panose="02000500000000000000" pitchFamily="2" charset="-122"/>
                <a:ea typeface="华光行书_CNKI" panose="02000500000000000000" pitchFamily="2" charset="-122"/>
                <a:cs typeface="Courier New" pitchFamily="49" charset="0"/>
              </a:rPr>
              <a:t>ProtectedClass</a:t>
            </a: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 </a:t>
            </a:r>
            <a:r>
              <a:rPr lang="en-US" altLang="zh-CN" spc="-100" dirty="0">
                <a:solidFill>
                  <a:srgbClr val="FF0000"/>
                </a:solidFill>
                <a:latin typeface="华光行书_CNKI" panose="02000500000000000000" pitchFamily="2" charset="-122"/>
                <a:ea typeface="华光行书_CNKI" panose="02000500000000000000" pitchFamily="2" charset="-122"/>
                <a:cs typeface="Courier New" pitchFamily="49" charset="0"/>
              </a:rPr>
              <a:t>protected</a:t>
            </a: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 Base{ </a:t>
            </a:r>
            <a:b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public: </a:t>
            </a:r>
            <a:b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void test() { </a:t>
            </a:r>
          </a:p>
          <a:p>
            <a:pPr>
              <a:defRPr/>
            </a:pP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  a1 = 1;//</a:t>
            </a: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 a1</a:t>
            </a:r>
            <a:r>
              <a:rPr lang="zh-CN" altLang="en-US" dirty="0">
                <a:solidFill>
                  <a:srgbClr val="104E87"/>
                </a:solidFill>
                <a:latin typeface="华光行书_CNKI" panose="02000500000000000000" pitchFamily="2" charset="-122"/>
                <a:ea typeface="华光行书_CNKI" panose="02000500000000000000" pitchFamily="2" charset="-122"/>
                <a:cs typeface="Courier New" pitchFamily="49" charset="0"/>
              </a:rPr>
              <a:t>被转变为</a:t>
            </a:r>
            <a:r>
              <a:rPr kumimoji="1" lang="en-US" altLang="zh-CN" dirty="0">
                <a:solidFill>
                  <a:srgbClr val="104E87"/>
                </a:solidFill>
                <a:latin typeface="华光行书_CNKI" panose="02000500000000000000" pitchFamily="2" charset="-122"/>
                <a:ea typeface="华光行书_CNKI" panose="02000500000000000000" pitchFamily="2" charset="-122"/>
              </a:rPr>
              <a:t>protected</a:t>
            </a:r>
            <a:r>
              <a:rPr lang="en-US" altLang="zh-CN" dirty="0">
                <a:solidFill>
                  <a:srgbClr val="104E87"/>
                </a:solidFill>
                <a:latin typeface="华光行书_CNKI" panose="02000500000000000000" pitchFamily="2" charset="-122"/>
                <a:ea typeface="华光行书_CNKI" panose="02000500000000000000" pitchFamily="2" charset="-122"/>
                <a:cs typeface="Courier New" pitchFamily="49" charset="0"/>
              </a:rPr>
              <a:t> </a:t>
            </a:r>
            <a:b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  a2 = 2;//a2</a:t>
            </a:r>
            <a:r>
              <a:rPr lang="zh-CN" altLang="en-US" dirty="0">
                <a:solidFill>
                  <a:srgbClr val="104E87"/>
                </a:solidFill>
                <a:latin typeface="华光行书_CNKI" panose="02000500000000000000" pitchFamily="2" charset="-122"/>
                <a:ea typeface="华光行书_CNKI" panose="02000500000000000000" pitchFamily="2" charset="-122"/>
                <a:cs typeface="Courier New" pitchFamily="49" charset="0"/>
              </a:rPr>
              <a:t>被转变为</a:t>
            </a: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protected </a:t>
            </a:r>
            <a:b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  a3=3;</a:t>
            </a:r>
            <a:br>
              <a:rPr lang="zh-CN" altLang="en-US" spc="-100"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zh-CN" altLang="en-US" spc="-100" dirty="0">
                <a:solidFill>
                  <a:srgbClr val="104E87"/>
                </a:solidFill>
                <a:latin typeface="华光行书_CNKI" panose="02000500000000000000" pitchFamily="2" charset="-122"/>
                <a:ea typeface="华光行书_CNKI" panose="02000500000000000000" pitchFamily="2" charset="-122"/>
                <a:cs typeface="Courier New" pitchFamily="49" charset="0"/>
              </a:rPr>
              <a:t> </a:t>
            </a: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 </a:t>
            </a:r>
            <a:b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br>
            <a:r>
              <a:rPr lang="en-US" altLang="zh-CN" spc="-100" dirty="0">
                <a:solidFill>
                  <a:srgbClr val="104E87"/>
                </a:solidFill>
                <a:latin typeface="华光行书_CNKI" panose="02000500000000000000" pitchFamily="2" charset="-122"/>
                <a:ea typeface="华光行书_CNKI" panose="02000500000000000000" pitchFamily="2" charset="-122"/>
                <a:cs typeface="Courier New" pitchFamily="49" charset="0"/>
              </a:rPr>
              <a:t>};</a:t>
            </a:r>
            <a:endParaRPr lang="en-US" altLang="zh-CN" spc="-100" dirty="0">
              <a:solidFill>
                <a:srgbClr val="104E87"/>
              </a:solidFill>
              <a:latin typeface="华光行书_CNKI" panose="02000500000000000000" pitchFamily="2" charset="-122"/>
              <a:ea typeface="华光行书_CNKI" panose="02000500000000000000" pitchFamily="2" charset="-122"/>
            </a:endParaRPr>
          </a:p>
        </p:txBody>
      </p:sp>
      <p:sp>
        <p:nvSpPr>
          <p:cNvPr id="20" name="Rectangle 4">
            <a:extLst>
              <a:ext uri="{FF2B5EF4-FFF2-40B4-BE49-F238E27FC236}">
                <a16:creationId xmlns:a16="http://schemas.microsoft.com/office/drawing/2014/main" id="{A28D641E-56C9-4998-9AB5-8575AD45DE7E}"/>
              </a:ext>
            </a:extLst>
          </p:cNvPr>
          <p:cNvSpPr>
            <a:spLocks noChangeArrowheads="1"/>
          </p:cNvSpPr>
          <p:nvPr/>
        </p:nvSpPr>
        <p:spPr bwMode="auto">
          <a:xfrm>
            <a:off x="7294742" y="3153709"/>
            <a:ext cx="3724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1" dirty="0">
                <a:solidFill>
                  <a:srgbClr val="FF0000"/>
                </a:solidFill>
                <a:latin typeface="华光行书_CNKI" panose="02000500000000000000" pitchFamily="2" charset="-122"/>
                <a:ea typeface="华光行书_CNKI" panose="02000500000000000000" pitchFamily="2" charset="-122"/>
              </a:rPr>
              <a:t>×</a:t>
            </a:r>
            <a:r>
              <a:rPr lang="en-US" altLang="zh-CN" sz="24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rPr>
              <a:t>,</a:t>
            </a:r>
            <a:r>
              <a:rPr lang="zh-CN" altLang="en-US" sz="24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rPr>
              <a:t>基类私有成员不可访问</a:t>
            </a:r>
            <a:endParaRPr kumimoji="1" lang="zh-CN" altLang="en-US" sz="2400" dirty="0">
              <a:solidFill>
                <a:srgbClr val="104E87"/>
              </a:solidFill>
              <a:latin typeface="华光行书_CNKI" panose="02000500000000000000" pitchFamily="2" charset="-122"/>
              <a:ea typeface="华光行书_CNKI" panose="02000500000000000000" pitchFamily="2" charset="-122"/>
            </a:endParaRPr>
          </a:p>
        </p:txBody>
      </p:sp>
      <p:sp>
        <p:nvSpPr>
          <p:cNvPr id="21" name="AutoShape 27">
            <a:extLst>
              <a:ext uri="{FF2B5EF4-FFF2-40B4-BE49-F238E27FC236}">
                <a16:creationId xmlns:a16="http://schemas.microsoft.com/office/drawing/2014/main" id="{35CEA265-F7D9-4CB4-9328-2448D55A8CE6}"/>
              </a:ext>
            </a:extLst>
          </p:cNvPr>
          <p:cNvSpPr>
            <a:spLocks/>
          </p:cNvSpPr>
          <p:nvPr/>
        </p:nvSpPr>
        <p:spPr bwMode="auto">
          <a:xfrm>
            <a:off x="6622089" y="3587025"/>
            <a:ext cx="5496448" cy="755326"/>
          </a:xfrm>
          <a:prstGeom prst="borderCallout1">
            <a:avLst>
              <a:gd name="adj1" fmla="val 1244"/>
              <a:gd name="adj2" fmla="val 260"/>
              <a:gd name="adj3" fmla="val -28405"/>
              <a:gd name="adj4" fmla="val 15849"/>
            </a:avLst>
          </a:prstGeom>
          <a:solidFill>
            <a:srgbClr val="FFFF99"/>
          </a:solidFill>
          <a:ln w="9525">
            <a:solidFill>
              <a:srgbClr val="104E87"/>
            </a:solidFill>
            <a:miter lim="800000"/>
            <a:headEnd/>
            <a:tailEnd/>
          </a:ln>
        </p:spPr>
        <p:txBody>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just">
              <a:buFont typeface="Wingdings" panose="05000000000000000000" pitchFamily="2" charset="2"/>
              <a:buNone/>
            </a:pPr>
            <a:r>
              <a:rPr lang="zh-CN" altLang="en-US" sz="2400" spc="-1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rPr>
              <a:t>派生类成员</a:t>
            </a:r>
            <a:r>
              <a:rPr lang="zh-CN" altLang="en-US"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可访问基类中</a:t>
            </a:r>
            <a:r>
              <a:rPr lang="en-US" altLang="zh-CN" sz="22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public/protected</a:t>
            </a:r>
            <a:r>
              <a:rPr lang="zh-CN" altLang="en-US"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成员</a:t>
            </a:r>
            <a:r>
              <a:rPr lang="en-US" altLang="zh-CN"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a:t>
            </a:r>
            <a:r>
              <a:rPr lang="zh-CN" altLang="en-US"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而不能访问</a:t>
            </a:r>
            <a:r>
              <a:rPr lang="en-US" altLang="zh-CN"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private</a:t>
            </a:r>
            <a:r>
              <a:rPr lang="zh-CN" altLang="en-US" sz="2400" spc="-100" dirty="0">
                <a:solidFill>
                  <a:srgbClr val="104E87"/>
                </a:solidFill>
                <a:latin typeface="华光行书_CNKI" panose="02000500000000000000" pitchFamily="2" charset="-122"/>
                <a:ea typeface="华光行书_CNKI" panose="02000500000000000000" pitchFamily="2" charset="-122"/>
                <a:cs typeface="Times New Roman" panose="02020603050405020304" pitchFamily="18" charset="0"/>
              </a:rPr>
              <a:t>成员</a:t>
            </a:r>
            <a:endParaRPr kumimoji="1" lang="zh-CN" altLang="en-US" sz="2400" spc="-100" dirty="0">
              <a:solidFill>
                <a:srgbClr val="104E87"/>
              </a:solidFill>
              <a:latin typeface="华光行书_CNKI" panose="02000500000000000000" pitchFamily="2" charset="-122"/>
              <a:ea typeface="华光行书_CNKI" panose="02000500000000000000" pitchFamily="2" charset="-122"/>
            </a:endParaRPr>
          </a:p>
        </p:txBody>
      </p:sp>
      <p:sp>
        <p:nvSpPr>
          <p:cNvPr id="22" name="Text Box 4">
            <a:extLst>
              <a:ext uri="{FF2B5EF4-FFF2-40B4-BE49-F238E27FC236}">
                <a16:creationId xmlns:a16="http://schemas.microsoft.com/office/drawing/2014/main" id="{18F95883-73A5-40E2-B300-5294442DF2EA}"/>
              </a:ext>
            </a:extLst>
          </p:cNvPr>
          <p:cNvSpPr txBox="1">
            <a:spLocks noChangeArrowheads="1"/>
          </p:cNvSpPr>
          <p:nvPr/>
        </p:nvSpPr>
        <p:spPr bwMode="auto">
          <a:xfrm>
            <a:off x="156798" y="3237998"/>
            <a:ext cx="3024187" cy="2714288"/>
          </a:xfrm>
          <a:prstGeom prst="rect">
            <a:avLst/>
          </a:prstGeom>
          <a:noFill/>
          <a:ln w="12700">
            <a:noFill/>
            <a:prstDash val="sysDot"/>
            <a:miter lim="800000"/>
            <a:headEnd/>
            <a:tailEnd/>
          </a:ln>
        </p:spPr>
        <p:txBody>
          <a:bodyPr lIns="0" tIns="0" rIns="0" bIns="0" anchor="ctr"/>
          <a:lstStyle>
            <a:defPPr>
              <a:defRPr lang="en-US"/>
            </a:defPPr>
            <a:lvl1pPr>
              <a:defRPr>
                <a:solidFill>
                  <a:srgbClr val="104E87"/>
                </a:solidFill>
                <a:latin typeface="Comic Sans MS" panose="030F0702030302020204" pitchFamily="66" charset="0"/>
                <a:cs typeface="Courier New" pitchFamily="49" charset="0"/>
              </a:defRPr>
            </a:lvl1pPr>
          </a:lstStyle>
          <a:p>
            <a:r>
              <a:rPr lang="en-US" altLang="zh-CN" dirty="0"/>
              <a:t>int main() </a:t>
            </a:r>
            <a:br>
              <a:rPr lang="en-US" altLang="zh-CN" dirty="0"/>
            </a:br>
            <a:r>
              <a:rPr lang="en-US" altLang="zh-CN" dirty="0"/>
              <a:t>{</a:t>
            </a:r>
            <a:r>
              <a:rPr lang="en-US" altLang="zh-CN" dirty="0" err="1"/>
              <a:t>publicClass</a:t>
            </a:r>
            <a:r>
              <a:rPr lang="en-US" altLang="zh-CN" dirty="0"/>
              <a:t> b;</a:t>
            </a:r>
          </a:p>
          <a:p>
            <a:r>
              <a:rPr lang="en-US" altLang="zh-CN" dirty="0" err="1"/>
              <a:t>b.test</a:t>
            </a:r>
            <a:r>
              <a:rPr lang="en-US" altLang="zh-CN" dirty="0"/>
              <a:t>();</a:t>
            </a:r>
          </a:p>
          <a:p>
            <a:r>
              <a:rPr lang="en-US" altLang="zh-CN" dirty="0" err="1"/>
              <a:t>cout</a:t>
            </a:r>
            <a:r>
              <a:rPr lang="en-US" altLang="zh-CN" dirty="0"/>
              <a:t>&lt;&lt;b.a1;</a:t>
            </a:r>
          </a:p>
          <a:p>
            <a:r>
              <a:rPr lang="en-US" altLang="zh-CN" dirty="0" err="1"/>
              <a:t>cout</a:t>
            </a:r>
            <a:r>
              <a:rPr lang="en-US" altLang="zh-CN" dirty="0"/>
              <a:t>&lt;&lt;b.a2; </a:t>
            </a:r>
          </a:p>
          <a:p>
            <a:r>
              <a:rPr lang="en-US" altLang="zh-CN" dirty="0" err="1"/>
              <a:t>cout</a:t>
            </a:r>
            <a:r>
              <a:rPr lang="en-US" altLang="zh-CN" dirty="0"/>
              <a:t>&lt;&lt;b.a3; </a:t>
            </a:r>
          </a:p>
          <a:p>
            <a:r>
              <a:rPr lang="en-US" altLang="zh-CN" dirty="0"/>
              <a:t>} </a:t>
            </a:r>
          </a:p>
        </p:txBody>
      </p:sp>
      <p:sp>
        <p:nvSpPr>
          <p:cNvPr id="26" name="Rectangle 4">
            <a:extLst>
              <a:ext uri="{FF2B5EF4-FFF2-40B4-BE49-F238E27FC236}">
                <a16:creationId xmlns:a16="http://schemas.microsoft.com/office/drawing/2014/main" id="{AAA9D0AA-FB28-40DD-97F6-C0DC6A8F8586}"/>
              </a:ext>
            </a:extLst>
          </p:cNvPr>
          <p:cNvSpPr>
            <a:spLocks noChangeArrowheads="1"/>
          </p:cNvSpPr>
          <p:nvPr/>
        </p:nvSpPr>
        <p:spPr bwMode="auto">
          <a:xfrm>
            <a:off x="1814167" y="4747274"/>
            <a:ext cx="543739" cy="523220"/>
          </a:xfrm>
          <a:prstGeom prst="rect">
            <a:avLst/>
          </a:prstGeom>
          <a:noFill/>
          <a:ln w="9525">
            <a:noFill/>
            <a:miter lim="800000"/>
            <a:headEnd/>
            <a:tailEnd/>
          </a:ln>
        </p:spPr>
        <p:txBody>
          <a:bodyPr wrap="none">
            <a:spAutoFit/>
          </a:bodyPr>
          <a:lstStyle/>
          <a:p>
            <a:pPr eaLnBrk="1" hangingPunct="1">
              <a:defRPr/>
            </a:pPr>
            <a:r>
              <a:rPr kumimoji="1" lang="en-US" altLang="zh-CN" sz="2800" dirty="0">
                <a:solidFill>
                  <a:srgbClr val="FF0000"/>
                </a:solidFill>
                <a:latin typeface="华光胖头鱼_CNKI" panose="02000500000000000000" pitchFamily="2" charset="-122"/>
                <a:ea typeface="华光胖头鱼_CNKI" panose="02000500000000000000" pitchFamily="2" charset="-122"/>
              </a:rPr>
              <a:t>×</a:t>
            </a:r>
            <a:endParaRPr kumimoji="1" lang="zh-CN" altLang="en-US" sz="1800" dirty="0">
              <a:solidFill>
                <a:srgbClr val="FF0000"/>
              </a:solidFill>
              <a:latin typeface="华光胖头鱼_CNKI" panose="02000500000000000000" pitchFamily="2" charset="-122"/>
              <a:ea typeface="华光胖头鱼_CNKI" panose="02000500000000000000" pitchFamily="2" charset="-122"/>
            </a:endParaRPr>
          </a:p>
        </p:txBody>
      </p:sp>
      <p:sp>
        <p:nvSpPr>
          <p:cNvPr id="27" name="Rectangle 4">
            <a:extLst>
              <a:ext uri="{FF2B5EF4-FFF2-40B4-BE49-F238E27FC236}">
                <a16:creationId xmlns:a16="http://schemas.microsoft.com/office/drawing/2014/main" id="{3048304D-2255-41E7-B978-C5F5BDB00921}"/>
              </a:ext>
            </a:extLst>
          </p:cNvPr>
          <p:cNvSpPr>
            <a:spLocks noChangeArrowheads="1"/>
          </p:cNvSpPr>
          <p:nvPr/>
        </p:nvSpPr>
        <p:spPr bwMode="auto">
          <a:xfrm>
            <a:off x="1869709" y="5178280"/>
            <a:ext cx="714408" cy="523220"/>
          </a:xfrm>
          <a:prstGeom prst="rect">
            <a:avLst/>
          </a:prstGeom>
          <a:noFill/>
          <a:ln w="9525">
            <a:noFill/>
            <a:miter lim="800000"/>
            <a:headEnd/>
            <a:tailEnd/>
          </a:ln>
        </p:spPr>
        <p:txBody>
          <a:bodyPr wrap="square">
            <a:spAutoFit/>
          </a:bodyPr>
          <a:lstStyle/>
          <a:p>
            <a:pPr eaLnBrk="1" hangingPunct="1">
              <a:defRPr/>
            </a:pPr>
            <a:r>
              <a:rPr kumimoji="1" lang="en-US" altLang="zh-CN" sz="2800" dirty="0">
                <a:solidFill>
                  <a:srgbClr val="FF0000"/>
                </a:solidFill>
                <a:latin typeface="华光胖头鱼_CNKI" panose="02000500000000000000" pitchFamily="2" charset="-122"/>
                <a:ea typeface="华光胖头鱼_CNKI" panose="02000500000000000000" pitchFamily="2" charset="-122"/>
              </a:rPr>
              <a:t>×</a:t>
            </a:r>
            <a:endParaRPr kumimoji="1" lang="zh-CN" altLang="en-US" sz="1800" dirty="0">
              <a:latin typeface="华光胖头鱼_CNKI" panose="02000500000000000000" pitchFamily="2" charset="-122"/>
              <a:ea typeface="华光胖头鱼_CNKI" panose="02000500000000000000" pitchFamily="2" charset="-122"/>
            </a:endParaRPr>
          </a:p>
        </p:txBody>
      </p:sp>
      <p:sp>
        <p:nvSpPr>
          <p:cNvPr id="28" name="AutoShape 27">
            <a:extLst>
              <a:ext uri="{FF2B5EF4-FFF2-40B4-BE49-F238E27FC236}">
                <a16:creationId xmlns:a16="http://schemas.microsoft.com/office/drawing/2014/main" id="{D1A9DD31-C4C9-4F54-9F96-6F7CDEE98189}"/>
              </a:ext>
            </a:extLst>
          </p:cNvPr>
          <p:cNvSpPr>
            <a:spLocks/>
          </p:cNvSpPr>
          <p:nvPr/>
        </p:nvSpPr>
        <p:spPr bwMode="auto">
          <a:xfrm>
            <a:off x="247719" y="5878642"/>
            <a:ext cx="2694773" cy="856560"/>
          </a:xfrm>
          <a:prstGeom prst="borderCallout1">
            <a:avLst>
              <a:gd name="adj1" fmla="val 1093"/>
              <a:gd name="adj2" fmla="val 74572"/>
              <a:gd name="adj3" fmla="val -154641"/>
              <a:gd name="adj4" fmla="val 61425"/>
            </a:avLst>
          </a:prstGeom>
          <a:solidFill>
            <a:srgbClr val="FFFF99"/>
          </a:solidFill>
          <a:ln w="9525">
            <a:solidFill>
              <a:srgbClr val="104E87"/>
            </a:solidFill>
            <a:miter lim="800000"/>
            <a:headEnd/>
            <a:tailEnd/>
          </a:ln>
        </p:spPr>
        <p:txBody>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buFont typeface="Wingdings" panose="05000000000000000000" pitchFamily="2" charset="2"/>
              <a:buNone/>
            </a:pPr>
            <a:r>
              <a:rPr lang="zh-CN" altLang="en-US" sz="24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rPr>
              <a:t>派生类对象不可访问基类中任何成员</a:t>
            </a:r>
            <a:endParaRPr kumimoji="1" lang="zh-CN" altLang="en-US" sz="2400" dirty="0">
              <a:solidFill>
                <a:srgbClr val="104E87"/>
              </a:solidFill>
              <a:latin typeface="华光行书_CNKI" panose="02000500000000000000" pitchFamily="2" charset="-122"/>
              <a:ea typeface="华光行书_CNKI" panose="02000500000000000000" pitchFamily="2" charset="-122"/>
              <a:cs typeface="Courier New" panose="02070309020205020404" pitchFamily="49" charset="0"/>
            </a:endParaRPr>
          </a:p>
        </p:txBody>
      </p:sp>
      <p:sp>
        <p:nvSpPr>
          <p:cNvPr id="29" name="Rectangle 4">
            <a:extLst>
              <a:ext uri="{FF2B5EF4-FFF2-40B4-BE49-F238E27FC236}">
                <a16:creationId xmlns:a16="http://schemas.microsoft.com/office/drawing/2014/main" id="{A454C96D-BF79-4B15-8A56-7DE5DD162DEA}"/>
              </a:ext>
            </a:extLst>
          </p:cNvPr>
          <p:cNvSpPr>
            <a:spLocks noChangeArrowheads="1"/>
          </p:cNvSpPr>
          <p:nvPr/>
        </p:nvSpPr>
        <p:spPr bwMode="auto">
          <a:xfrm>
            <a:off x="1677382" y="4342351"/>
            <a:ext cx="543739" cy="523220"/>
          </a:xfrm>
          <a:prstGeom prst="rect">
            <a:avLst/>
          </a:prstGeom>
          <a:noFill/>
          <a:ln w="9525">
            <a:noFill/>
            <a:miter lim="800000"/>
            <a:headEnd/>
            <a:tailEnd/>
          </a:ln>
        </p:spPr>
        <p:txBody>
          <a:bodyPr wrap="none">
            <a:spAutoFit/>
          </a:bodyPr>
          <a:lstStyle/>
          <a:p>
            <a:pPr eaLnBrk="1" hangingPunct="1">
              <a:defRPr/>
            </a:pPr>
            <a:r>
              <a:rPr kumimoji="1" lang="en-US" altLang="zh-CN" sz="2800" dirty="0">
                <a:solidFill>
                  <a:srgbClr val="FF0000"/>
                </a:solidFill>
                <a:latin typeface="华光胖头鱼_CNKI" panose="02000500000000000000" pitchFamily="2" charset="-122"/>
                <a:ea typeface="华光胖头鱼_CNKI" panose="02000500000000000000" pitchFamily="2" charset="-122"/>
              </a:rPr>
              <a:t>×</a:t>
            </a:r>
            <a:endParaRPr kumimoji="1" lang="zh-CN" altLang="en-US" sz="1800" dirty="0">
              <a:solidFill>
                <a:srgbClr val="FF0000"/>
              </a:solidFill>
              <a:latin typeface="华光胖头鱼_CNKI" panose="02000500000000000000" pitchFamily="2" charset="-122"/>
              <a:ea typeface="华光胖头鱼_CNKI" panose="02000500000000000000" pitchFamily="2" charset="-122"/>
            </a:endParaRPr>
          </a:p>
        </p:txBody>
      </p:sp>
      <p:sp>
        <p:nvSpPr>
          <p:cNvPr id="23" name="Rectangle 1">
            <a:extLst>
              <a:ext uri="{FF2B5EF4-FFF2-40B4-BE49-F238E27FC236}">
                <a16:creationId xmlns:a16="http://schemas.microsoft.com/office/drawing/2014/main" id="{9348B897-818B-49A6-A708-B549452D7848}"/>
              </a:ext>
            </a:extLst>
          </p:cNvPr>
          <p:cNvSpPr>
            <a:spLocks noChangeArrowheads="1"/>
          </p:cNvSpPr>
          <p:nvPr/>
        </p:nvSpPr>
        <p:spPr bwMode="auto">
          <a:xfrm>
            <a:off x="3271906" y="4865571"/>
            <a:ext cx="8763295" cy="1354217"/>
          </a:xfrm>
          <a:prstGeom prst="rect">
            <a:avLst/>
          </a:prstGeom>
          <a:solidFill>
            <a:schemeClr val="accent4">
              <a:lumMod val="40000"/>
              <a:lumOff val="60000"/>
            </a:schemeClr>
          </a:solidFill>
          <a:ln w="28575" cap="flat" cmpd="sng" algn="ctr">
            <a:noFill/>
            <a:prstDash val="solid"/>
            <a:miter lim="800000"/>
            <a:headEnd/>
            <a:tailEnd/>
          </a:ln>
          <a:effectLst/>
        </p:spPr>
        <p:txBody>
          <a:bodyPr wrap="square" anchor="ctr">
            <a:spAutoFit/>
          </a:bodyPr>
          <a:lstStyle/>
          <a:p>
            <a:pPr>
              <a:spcAft>
                <a:spcPts val="600"/>
              </a:spcAft>
              <a:defRPr/>
            </a:pPr>
            <a:r>
              <a:rPr lang="en-US" altLang="zh-CN" dirty="0">
                <a:solidFill>
                  <a:srgbClr val="104E87"/>
                </a:solidFill>
                <a:latin typeface="华光行书_CNKI" panose="02000500000000000000" pitchFamily="2" charset="-122"/>
                <a:ea typeface="华光行书_CNKI" panose="02000500000000000000" pitchFamily="2" charset="-122"/>
                <a:cs typeface="Times New Roman" pitchFamily="18" charset="0"/>
              </a:rPr>
              <a:t>(1)</a:t>
            </a:r>
            <a:r>
              <a:rPr lang="zh-CN" altLang="en-US" dirty="0">
                <a:solidFill>
                  <a:srgbClr val="104E87"/>
                </a:solidFill>
                <a:latin typeface="华光行书_CNKI" panose="02000500000000000000" pitchFamily="2" charset="-122"/>
                <a:ea typeface="华光行书_CNKI" panose="02000500000000000000" pitchFamily="2" charset="-122"/>
                <a:cs typeface="Times New Roman" pitchFamily="18" charset="0"/>
              </a:rPr>
              <a:t>派生类成员而言，除了基类中私有成员，其他成员都可访问的。</a:t>
            </a:r>
            <a:endParaRPr lang="zh-CN" altLang="en-US" dirty="0">
              <a:solidFill>
                <a:srgbClr val="104E87"/>
              </a:solidFill>
              <a:latin typeface="华光行书_CNKI" panose="02000500000000000000" pitchFamily="2" charset="-122"/>
              <a:ea typeface="华光行书_CNKI" panose="02000500000000000000" pitchFamily="2" charset="-122"/>
            </a:endParaRPr>
          </a:p>
          <a:p>
            <a:pPr>
              <a:spcAft>
                <a:spcPts val="600"/>
              </a:spcAft>
              <a:defRPr/>
            </a:pPr>
            <a:r>
              <a:rPr lang="en-US" altLang="zh-CN" dirty="0">
                <a:solidFill>
                  <a:srgbClr val="104E87"/>
                </a:solidFill>
                <a:latin typeface="华光行书_CNKI" panose="02000500000000000000" pitchFamily="2" charset="-122"/>
                <a:ea typeface="华光行书_CNKI" panose="02000500000000000000" pitchFamily="2" charset="-122"/>
                <a:cs typeface="Times New Roman" pitchFamily="18" charset="0"/>
              </a:rPr>
              <a:t>(2)</a:t>
            </a:r>
            <a:r>
              <a:rPr lang="zh-CN" altLang="en-US" dirty="0">
                <a:solidFill>
                  <a:srgbClr val="104E87"/>
                </a:solidFill>
                <a:latin typeface="华光行书_CNKI" panose="02000500000000000000" pitchFamily="2" charset="-122"/>
                <a:ea typeface="华光行书_CNKI" panose="02000500000000000000" pitchFamily="2" charset="-122"/>
                <a:cs typeface="Times New Roman" pitchFamily="18" charset="0"/>
              </a:rPr>
              <a:t>派生类对象而言，只有公有继承下基类中的公有成员可访问。</a:t>
            </a:r>
            <a:endParaRPr lang="zh-CN" altLang="en-US" dirty="0">
              <a:solidFill>
                <a:srgbClr val="104E87"/>
              </a:solidFill>
              <a:latin typeface="华光行书_CNKI" panose="02000500000000000000" pitchFamily="2" charset="-122"/>
              <a:ea typeface="华光行书_CNKI" panose="02000500000000000000" pitchFamily="2" charset="-122"/>
            </a:endParaRPr>
          </a:p>
          <a:p>
            <a:pPr>
              <a:spcAft>
                <a:spcPts val="600"/>
              </a:spcAft>
              <a:defRPr/>
            </a:pPr>
            <a:r>
              <a:rPr lang="en-US" altLang="zh-CN" dirty="0">
                <a:solidFill>
                  <a:srgbClr val="104E87"/>
                </a:solidFill>
                <a:latin typeface="华光行书_CNKI" panose="02000500000000000000" pitchFamily="2" charset="-122"/>
                <a:ea typeface="华光行书_CNKI" panose="02000500000000000000" pitchFamily="2" charset="-122"/>
                <a:cs typeface="Times New Roman" pitchFamily="18" charset="0"/>
              </a:rPr>
              <a:t>(3)</a:t>
            </a:r>
            <a:r>
              <a:rPr lang="zh-CN" altLang="en-US" dirty="0">
                <a:solidFill>
                  <a:srgbClr val="104E87"/>
                </a:solidFill>
                <a:latin typeface="华光行书_CNKI" panose="02000500000000000000" pitchFamily="2" charset="-122"/>
                <a:ea typeface="华光行书_CNKI" panose="02000500000000000000" pitchFamily="2" charset="-122"/>
                <a:cs typeface="Times New Roman" pitchFamily="18" charset="0"/>
              </a:rPr>
              <a:t>不论何种继承方式，基类中的私有成员是不可访问的。</a:t>
            </a:r>
            <a:endParaRPr lang="zh-CN" altLang="en-US" dirty="0">
              <a:solidFill>
                <a:srgbClr val="104E87"/>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348024875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barn(inVertical)">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1+#ppt_w/2"/>
                                          </p:val>
                                        </p:tav>
                                        <p:tav tm="100000">
                                          <p:val>
                                            <p:strVal val="#ppt_x"/>
                                          </p:val>
                                        </p:tav>
                                      </p:tavLst>
                                    </p:anim>
                                    <p:anim calcmode="lin" valueType="num">
                                      <p:cBhvr additive="base">
                                        <p:cTn id="20"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linds(horizontal)">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additive="base">
                                        <p:cTn id="30" dur="500" fill="hold"/>
                                        <p:tgtEl>
                                          <p:spTgt spid="22"/>
                                        </p:tgtEl>
                                        <p:attrNameLst>
                                          <p:attrName>ppt_x</p:attrName>
                                        </p:attrNameLst>
                                      </p:cBhvr>
                                      <p:tavLst>
                                        <p:tav tm="0">
                                          <p:val>
                                            <p:strVal val="#ppt_x"/>
                                          </p:val>
                                        </p:tav>
                                        <p:tav tm="100000">
                                          <p:val>
                                            <p:strVal val="#ppt_x"/>
                                          </p:val>
                                        </p:tav>
                                      </p:tavLst>
                                    </p:anim>
                                    <p:anim calcmode="lin" valueType="num">
                                      <p:cBhvr additive="base">
                                        <p:cTn id="31"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additive="base">
                                        <p:cTn id="36" dur="500" fill="hold"/>
                                        <p:tgtEl>
                                          <p:spTgt spid="29"/>
                                        </p:tgtEl>
                                        <p:attrNameLst>
                                          <p:attrName>ppt_x</p:attrName>
                                        </p:attrNameLst>
                                      </p:cBhvr>
                                      <p:tavLst>
                                        <p:tav tm="0">
                                          <p:val>
                                            <p:strVal val="1+#ppt_w/2"/>
                                          </p:val>
                                        </p:tav>
                                        <p:tav tm="100000">
                                          <p:val>
                                            <p:strVal val="#ppt_x"/>
                                          </p:val>
                                        </p:tav>
                                      </p:tavLst>
                                    </p:anim>
                                    <p:anim calcmode="lin" valueType="num">
                                      <p:cBhvr additive="base">
                                        <p:cTn id="37"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 calcmode="lin" valueType="num">
                                      <p:cBhvr additive="base">
                                        <p:cTn id="42" dur="500" fill="hold"/>
                                        <p:tgtEl>
                                          <p:spTgt spid="26"/>
                                        </p:tgtEl>
                                        <p:attrNameLst>
                                          <p:attrName>ppt_x</p:attrName>
                                        </p:attrNameLst>
                                      </p:cBhvr>
                                      <p:tavLst>
                                        <p:tav tm="0">
                                          <p:val>
                                            <p:strVal val="1+#ppt_w/2"/>
                                          </p:val>
                                        </p:tav>
                                        <p:tav tm="100000">
                                          <p:val>
                                            <p:strVal val="#ppt_x"/>
                                          </p:val>
                                        </p:tav>
                                      </p:tavLst>
                                    </p:anim>
                                    <p:anim calcmode="lin" valueType="num">
                                      <p:cBhvr additive="base">
                                        <p:cTn id="43"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additive="base">
                                        <p:cTn id="48" dur="500" fill="hold"/>
                                        <p:tgtEl>
                                          <p:spTgt spid="27"/>
                                        </p:tgtEl>
                                        <p:attrNameLst>
                                          <p:attrName>ppt_x</p:attrName>
                                        </p:attrNameLst>
                                      </p:cBhvr>
                                      <p:tavLst>
                                        <p:tav tm="0">
                                          <p:val>
                                            <p:strVal val="1+#ppt_w/2"/>
                                          </p:val>
                                        </p:tav>
                                        <p:tav tm="100000">
                                          <p:val>
                                            <p:strVal val="#ppt_x"/>
                                          </p:val>
                                        </p:tav>
                                      </p:tavLst>
                                    </p:anim>
                                    <p:anim calcmode="lin" valueType="num">
                                      <p:cBhvr additive="base">
                                        <p:cTn id="49"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blinds(horizontal)">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randombar(horizontal)">
                                      <p:cBhvr>
                                        <p:cTn id="5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0" grpId="0" autoUpdateAnimBg="0"/>
      <p:bldP spid="21" grpId="0" animBg="1" autoUpdateAnimBg="0"/>
      <p:bldP spid="22" grpId="0" animBg="1"/>
      <p:bldP spid="26" grpId="0" autoUpdateAnimBg="0"/>
      <p:bldP spid="27" grpId="0" autoUpdateAnimBg="0"/>
      <p:bldP spid="28" grpId="0" animBg="1" autoUpdateAnimBg="0"/>
      <p:bldP spid="29" grpId="0" autoUpdateAnimBg="0"/>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236BB36C-F2DB-A586-8094-DF30C56CD132}"/>
              </a:ext>
            </a:extLst>
          </p:cNvPr>
          <p:cNvPicPr>
            <a:picLocks noChangeAspect="1"/>
          </p:cNvPicPr>
          <p:nvPr/>
        </p:nvPicPr>
        <p:blipFill>
          <a:blip r:embed="rId3"/>
          <a:stretch>
            <a:fillRect/>
          </a:stretch>
        </p:blipFill>
        <p:spPr>
          <a:xfrm>
            <a:off x="5660632" y="1369224"/>
            <a:ext cx="6363251" cy="4993475"/>
          </a:xfrm>
          <a:prstGeom prst="rect">
            <a:avLst/>
          </a:prstGeom>
        </p:spPr>
      </p:pic>
      <p:pic>
        <p:nvPicPr>
          <p:cNvPr id="3" name="图片 2">
            <a:extLst>
              <a:ext uri="{FF2B5EF4-FFF2-40B4-BE49-F238E27FC236}">
                <a16:creationId xmlns:a16="http://schemas.microsoft.com/office/drawing/2014/main" id="{F4D421E8-87F6-DAF2-F8EA-E556690F2F2E}"/>
              </a:ext>
            </a:extLst>
          </p:cNvPr>
          <p:cNvPicPr>
            <a:picLocks noChangeAspect="1"/>
          </p:cNvPicPr>
          <p:nvPr/>
        </p:nvPicPr>
        <p:blipFill>
          <a:blip r:embed="rId4"/>
          <a:stretch>
            <a:fillRect/>
          </a:stretch>
        </p:blipFill>
        <p:spPr>
          <a:xfrm>
            <a:off x="44057" y="906112"/>
            <a:ext cx="5616575" cy="4732686"/>
          </a:xfrm>
          <a:prstGeom prst="rect">
            <a:avLst/>
          </a:prstGeom>
        </p:spPr>
      </p:pic>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9.2</a:t>
            </a:r>
            <a:r>
              <a:rPr lang="zh-CN" altLang="en-US" dirty="0">
                <a:sym typeface="+mn-lt"/>
              </a:rPr>
              <a:t>继承下的访问控制权</a:t>
            </a:r>
          </a:p>
        </p:txBody>
      </p:sp>
      <p:cxnSp>
        <p:nvCxnSpPr>
          <p:cNvPr id="14" name="直接连接符 7">
            <a:extLst>
              <a:ext uri="{FF2B5EF4-FFF2-40B4-BE49-F238E27FC236}">
                <a16:creationId xmlns:a16="http://schemas.microsoft.com/office/drawing/2014/main" id="{742C9CF7-08E3-4538-B362-6813A90EFC3A}"/>
              </a:ext>
            </a:extLst>
          </p:cNvPr>
          <p:cNvCxnSpPr>
            <a:cxnSpLocks noChangeShapeType="1"/>
          </p:cNvCxnSpPr>
          <p:nvPr/>
        </p:nvCxnSpPr>
        <p:spPr bwMode="auto">
          <a:xfrm>
            <a:off x="1239091" y="2891960"/>
            <a:ext cx="4037759"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5" name="直接连接符 8">
            <a:extLst>
              <a:ext uri="{FF2B5EF4-FFF2-40B4-BE49-F238E27FC236}">
                <a16:creationId xmlns:a16="http://schemas.microsoft.com/office/drawing/2014/main" id="{B72DCFF4-B701-4D69-A47F-B53B40B8268C}"/>
              </a:ext>
            </a:extLst>
          </p:cNvPr>
          <p:cNvCxnSpPr>
            <a:cxnSpLocks/>
          </p:cNvCxnSpPr>
          <p:nvPr/>
        </p:nvCxnSpPr>
        <p:spPr bwMode="auto">
          <a:xfrm>
            <a:off x="1239091" y="3276135"/>
            <a:ext cx="3897312"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6" name="直接连接符 10">
            <a:extLst>
              <a:ext uri="{FF2B5EF4-FFF2-40B4-BE49-F238E27FC236}">
                <a16:creationId xmlns:a16="http://schemas.microsoft.com/office/drawing/2014/main" id="{D0FCF586-B5C1-4F7E-A62D-694033424543}"/>
              </a:ext>
            </a:extLst>
          </p:cNvPr>
          <p:cNvCxnSpPr>
            <a:cxnSpLocks/>
          </p:cNvCxnSpPr>
          <p:nvPr/>
        </p:nvCxnSpPr>
        <p:spPr bwMode="auto">
          <a:xfrm>
            <a:off x="1239091" y="3790485"/>
            <a:ext cx="3897312"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7" name="直接连接符 12">
            <a:extLst>
              <a:ext uri="{FF2B5EF4-FFF2-40B4-BE49-F238E27FC236}">
                <a16:creationId xmlns:a16="http://schemas.microsoft.com/office/drawing/2014/main" id="{BB63BD7C-C738-476A-959E-91D308E75CA0}"/>
              </a:ext>
            </a:extLst>
          </p:cNvPr>
          <p:cNvCxnSpPr>
            <a:cxnSpLocks/>
          </p:cNvCxnSpPr>
          <p:nvPr/>
        </p:nvCxnSpPr>
        <p:spPr bwMode="auto">
          <a:xfrm>
            <a:off x="1239091" y="4230223"/>
            <a:ext cx="3897312"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8" name="直接连接符 13">
            <a:extLst>
              <a:ext uri="{FF2B5EF4-FFF2-40B4-BE49-F238E27FC236}">
                <a16:creationId xmlns:a16="http://schemas.microsoft.com/office/drawing/2014/main" id="{1F99CF28-108B-43A6-8F7D-37F079358B5B}"/>
              </a:ext>
            </a:extLst>
          </p:cNvPr>
          <p:cNvCxnSpPr>
            <a:cxnSpLocks/>
          </p:cNvCxnSpPr>
          <p:nvPr/>
        </p:nvCxnSpPr>
        <p:spPr bwMode="auto">
          <a:xfrm>
            <a:off x="1239091" y="5192158"/>
            <a:ext cx="1296987"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9" name="直接连接符 15">
            <a:extLst>
              <a:ext uri="{FF2B5EF4-FFF2-40B4-BE49-F238E27FC236}">
                <a16:creationId xmlns:a16="http://schemas.microsoft.com/office/drawing/2014/main" id="{585CD936-70C1-4BCB-BF79-CD25A640C2C4}"/>
              </a:ext>
            </a:extLst>
          </p:cNvPr>
          <p:cNvCxnSpPr>
            <a:cxnSpLocks/>
          </p:cNvCxnSpPr>
          <p:nvPr/>
        </p:nvCxnSpPr>
        <p:spPr bwMode="auto">
          <a:xfrm>
            <a:off x="6591394" y="3252697"/>
            <a:ext cx="5432489"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20" name="直接连接符 17">
            <a:extLst>
              <a:ext uri="{FF2B5EF4-FFF2-40B4-BE49-F238E27FC236}">
                <a16:creationId xmlns:a16="http://schemas.microsoft.com/office/drawing/2014/main" id="{ACA7D185-12D8-45BF-855B-572FEFDE652D}"/>
              </a:ext>
            </a:extLst>
          </p:cNvPr>
          <p:cNvCxnSpPr>
            <a:cxnSpLocks/>
          </p:cNvCxnSpPr>
          <p:nvPr/>
        </p:nvCxnSpPr>
        <p:spPr bwMode="auto">
          <a:xfrm>
            <a:off x="6591394" y="4974012"/>
            <a:ext cx="3311525"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21" name="直接连接符 19">
            <a:extLst>
              <a:ext uri="{FF2B5EF4-FFF2-40B4-BE49-F238E27FC236}">
                <a16:creationId xmlns:a16="http://schemas.microsoft.com/office/drawing/2014/main" id="{5B3DA50F-2481-43D5-ACD1-B2E64F1C98B4}"/>
              </a:ext>
            </a:extLst>
          </p:cNvPr>
          <p:cNvCxnSpPr>
            <a:cxnSpLocks/>
          </p:cNvCxnSpPr>
          <p:nvPr/>
        </p:nvCxnSpPr>
        <p:spPr bwMode="auto">
          <a:xfrm>
            <a:off x="6591394" y="5257620"/>
            <a:ext cx="3311525"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22" name="直接连接符 20">
            <a:extLst>
              <a:ext uri="{FF2B5EF4-FFF2-40B4-BE49-F238E27FC236}">
                <a16:creationId xmlns:a16="http://schemas.microsoft.com/office/drawing/2014/main" id="{85A892AE-A01C-4573-AB06-9F844E632191}"/>
              </a:ext>
            </a:extLst>
          </p:cNvPr>
          <p:cNvCxnSpPr>
            <a:cxnSpLocks/>
          </p:cNvCxnSpPr>
          <p:nvPr/>
        </p:nvCxnSpPr>
        <p:spPr bwMode="auto">
          <a:xfrm>
            <a:off x="6588919" y="5959850"/>
            <a:ext cx="1150938"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23" name="矩形 23">
            <a:extLst>
              <a:ext uri="{FF2B5EF4-FFF2-40B4-BE49-F238E27FC236}">
                <a16:creationId xmlns:a16="http://schemas.microsoft.com/office/drawing/2014/main" id="{BEAB639C-2C45-4F34-BA5A-24D8C931D9DC}"/>
              </a:ext>
            </a:extLst>
          </p:cNvPr>
          <p:cNvSpPr>
            <a:spLocks noChangeArrowheads="1"/>
          </p:cNvSpPr>
          <p:nvPr/>
        </p:nvSpPr>
        <p:spPr bwMode="auto">
          <a:xfrm>
            <a:off x="7164388" y="907351"/>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u="sng" dirty="0">
                <a:solidFill>
                  <a:srgbClr val="FF0000"/>
                </a:solidFill>
                <a:ea typeface="黑体" panose="02010609060101010101" pitchFamily="49" charset="-122"/>
                <a:cs typeface="Times New Roman" panose="02020603050405020304" pitchFamily="18" charset="0"/>
              </a:rPr>
              <a:t>公有继承</a:t>
            </a:r>
            <a:endParaRPr lang="zh-CN" altLang="en-US" dirty="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25781413"/>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vertical)">
                                      <p:cBhvr>
                                        <p:cTn id="7" dur="500"/>
                                        <p:tgtEl>
                                          <p:spTgt spid="24"/>
                                        </p:tgtEl>
                                      </p:cBhvr>
                                    </p:animEffect>
                                  </p:childTnLst>
                                </p:cTn>
                              </p:par>
                              <p:par>
                                <p:cTn id="8" presetID="14" presetClass="entr" presetSubtype="5"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randombar(vertical)">
                                      <p:cBhvr>
                                        <p:cTn id="10" dur="500"/>
                                        <p:tgtEl>
                                          <p:spTgt spid="19"/>
                                        </p:tgtEl>
                                      </p:cBhvr>
                                    </p:animEffect>
                                  </p:childTnLst>
                                </p:cTn>
                              </p:par>
                              <p:par>
                                <p:cTn id="11" presetID="14" presetClass="entr" presetSubtype="5"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randombar(vertical)">
                                      <p:cBhvr>
                                        <p:cTn id="13" dur="500"/>
                                        <p:tgtEl>
                                          <p:spTgt spid="20"/>
                                        </p:tgtEl>
                                      </p:cBhvr>
                                    </p:animEffect>
                                  </p:childTnLst>
                                </p:cTn>
                              </p:par>
                              <p:par>
                                <p:cTn id="14" presetID="14" presetClass="entr" presetSubtype="5"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randombar(vertical)">
                                      <p:cBhvr>
                                        <p:cTn id="16" dur="500"/>
                                        <p:tgtEl>
                                          <p:spTgt spid="21"/>
                                        </p:tgtEl>
                                      </p:cBhvr>
                                    </p:animEffect>
                                  </p:childTnLst>
                                </p:cTn>
                              </p:par>
                              <p:par>
                                <p:cTn id="17" presetID="14" presetClass="entr" presetSubtype="5"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randombar(vertical)">
                                      <p:cBhvr>
                                        <p:cTn id="19" dur="500"/>
                                        <p:tgtEl>
                                          <p:spTgt spid="22"/>
                                        </p:tgtEl>
                                      </p:cBhvr>
                                    </p:animEffect>
                                  </p:childTnLst>
                                </p:cTn>
                              </p:par>
                              <p:par>
                                <p:cTn id="20" presetID="14" presetClass="entr" presetSubtype="5"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randombar(vertical)">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4">
            <a:extLst>
              <a:ext uri="{FF2B5EF4-FFF2-40B4-BE49-F238E27FC236}">
                <a16:creationId xmlns:a16="http://schemas.microsoft.com/office/drawing/2014/main" id="{EA65FCE6-1E41-435E-B17A-D7DA269B9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9356" y="1061746"/>
            <a:ext cx="5613430" cy="536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9.2</a:t>
            </a:r>
            <a:r>
              <a:rPr lang="zh-CN" altLang="en-US" dirty="0">
                <a:sym typeface="+mn-lt"/>
              </a:rPr>
              <a:t>继承下的访问控制权</a:t>
            </a:r>
          </a:p>
        </p:txBody>
      </p:sp>
      <p:sp>
        <p:nvSpPr>
          <p:cNvPr id="20" name="Text Box 2">
            <a:extLst>
              <a:ext uri="{FF2B5EF4-FFF2-40B4-BE49-F238E27FC236}">
                <a16:creationId xmlns:a16="http://schemas.microsoft.com/office/drawing/2014/main" id="{296F1E9C-6F80-429F-9984-937F9C627F41}"/>
              </a:ext>
            </a:extLst>
          </p:cNvPr>
          <p:cNvSpPr txBox="1">
            <a:spLocks noChangeArrowheads="1"/>
          </p:cNvSpPr>
          <p:nvPr/>
        </p:nvSpPr>
        <p:spPr bwMode="auto">
          <a:xfrm>
            <a:off x="-22503" y="881658"/>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dirty="0">
                <a:solidFill>
                  <a:srgbClr val="104E87"/>
                </a:solidFill>
                <a:latin typeface="Comic Sans MS" panose="030F0702030302020204" pitchFamily="66" charset="0"/>
                <a:ea typeface="宋体" panose="02010600030101010101" pitchFamily="2" charset="-122"/>
              </a:rPr>
              <a:t> </a:t>
            </a:r>
            <a:r>
              <a:rPr kumimoji="1" lang="en-US" altLang="zh-CN" sz="2400" dirty="0">
                <a:solidFill>
                  <a:srgbClr val="104E87"/>
                </a:solidFill>
                <a:latin typeface="Comic Sans MS" panose="030F0702030302020204" pitchFamily="66" charset="0"/>
                <a:ea typeface="宋体" panose="02010600030101010101" pitchFamily="2" charset="-122"/>
              </a:rPr>
              <a:t>Point</a:t>
            </a:r>
          </a:p>
        </p:txBody>
      </p:sp>
      <p:sp>
        <p:nvSpPr>
          <p:cNvPr id="22" name="Rectangle 4">
            <a:extLst>
              <a:ext uri="{FF2B5EF4-FFF2-40B4-BE49-F238E27FC236}">
                <a16:creationId xmlns:a16="http://schemas.microsoft.com/office/drawing/2014/main" id="{6CC8EAE6-CCF7-4258-89CD-5DED089C66B4}"/>
              </a:ext>
            </a:extLst>
          </p:cNvPr>
          <p:cNvSpPr>
            <a:spLocks noChangeArrowheads="1"/>
          </p:cNvSpPr>
          <p:nvPr/>
        </p:nvSpPr>
        <p:spPr bwMode="auto">
          <a:xfrm>
            <a:off x="1062584" y="896437"/>
            <a:ext cx="5689966" cy="1754326"/>
          </a:xfrm>
          <a:prstGeom prst="rect">
            <a:avLst/>
          </a:prstGeom>
          <a:noFill/>
          <a:ln>
            <a:solidFill>
              <a:srgbClr val="104E87"/>
            </a:solidFill>
          </a:ln>
        </p:spPr>
        <p:txBody>
          <a:bodyPr wrap="squar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a:lnSpc>
                <a:spcPct val="90000"/>
              </a:lnSpc>
              <a:spcBef>
                <a:spcPts val="0"/>
              </a:spcBef>
              <a:buFont typeface="Wingdings" pitchFamily="2" charset="2"/>
              <a:buNone/>
              <a:defRPr/>
            </a:pPr>
            <a:r>
              <a:rPr kumimoji="1" lang="zh-CN" altLang="en-US"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x, y;</a:t>
            </a:r>
            <a:endParaRPr lang="zh-CN" altLang="en-US" sz="2400" dirty="0">
              <a:solidFill>
                <a:srgbClr val="104E87"/>
              </a:solidFill>
              <a:latin typeface="Comic Sans MS" panose="030F0702030302020204" pitchFamily="66" charset="0"/>
            </a:endParaRPr>
          </a:p>
          <a:p>
            <a:pPr>
              <a:lnSpc>
                <a:spcPct val="90000"/>
              </a:lnSpc>
              <a:spcBef>
                <a:spcPts val="0"/>
              </a:spcBef>
              <a:buFont typeface="Wingdings" pitchFamily="2" charset="2"/>
              <a:buNone/>
              <a:defRPr/>
            </a:pPr>
            <a:r>
              <a:rPr kumimoji="1" lang="en-US" altLang="zh-CN"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void </a:t>
            </a:r>
            <a:r>
              <a:rPr lang="en-US" altLang="zh-CN" sz="2400" dirty="0" err="1">
                <a:solidFill>
                  <a:srgbClr val="104E87"/>
                </a:solidFill>
                <a:latin typeface="Comic Sans MS" panose="030F0702030302020204" pitchFamily="66" charset="0"/>
              </a:rPr>
              <a:t>setPoint</a:t>
            </a:r>
            <a:r>
              <a:rPr lang="en-US" altLang="zh-CN" sz="2400" dirty="0">
                <a:solidFill>
                  <a:srgbClr val="104E87"/>
                </a:solidFill>
                <a:latin typeface="Comic Sans MS" panose="030F0702030302020204" pitchFamily="66" charset="0"/>
              </a:rPr>
              <a:t>(float x , float y )</a:t>
            </a:r>
            <a:endParaRPr lang="zh-CN" altLang="en-US" sz="2400" dirty="0">
              <a:solidFill>
                <a:srgbClr val="104E87"/>
              </a:solidFill>
              <a:latin typeface="Comic Sans MS" panose="030F0702030302020204" pitchFamily="66" charset="0"/>
            </a:endParaRPr>
          </a:p>
          <a:p>
            <a:pPr>
              <a:lnSpc>
                <a:spcPct val="90000"/>
              </a:lnSpc>
              <a:spcBef>
                <a:spcPts val="0"/>
              </a:spcBef>
              <a:buFont typeface="Wingdings" pitchFamily="2" charset="2"/>
              <a:buNone/>
              <a:defRPr/>
            </a:pPr>
            <a:r>
              <a:rPr kumimoji="1" lang="en-US" altLang="zh-CN"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void move(float offX, float offY)</a:t>
            </a:r>
          </a:p>
          <a:p>
            <a:pPr>
              <a:lnSpc>
                <a:spcPct val="90000"/>
              </a:lnSpc>
              <a:spcBef>
                <a:spcPts val="0"/>
              </a:spcBef>
              <a:buFont typeface="Wingdings" pitchFamily="2" charset="2"/>
              <a:buNone/>
              <a:defRPr/>
            </a:pPr>
            <a:r>
              <a:rPr kumimoji="1" lang="en-US" altLang="zh-CN"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float </a:t>
            </a:r>
            <a:r>
              <a:rPr lang="en-US" altLang="zh-CN" sz="2400" dirty="0" err="1">
                <a:solidFill>
                  <a:srgbClr val="104E87"/>
                </a:solidFill>
                <a:latin typeface="Comic Sans MS" panose="030F0702030302020204" pitchFamily="66" charset="0"/>
              </a:rPr>
              <a:t>getX</a:t>
            </a:r>
            <a:r>
              <a:rPr lang="en-US" altLang="zh-CN" sz="2400" dirty="0">
                <a:solidFill>
                  <a:srgbClr val="104E87"/>
                </a:solidFill>
                <a:latin typeface="Comic Sans MS" panose="030F0702030302020204" pitchFamily="66" charset="0"/>
              </a:rPr>
              <a:t> ()</a:t>
            </a:r>
          </a:p>
          <a:p>
            <a:pPr>
              <a:lnSpc>
                <a:spcPct val="90000"/>
              </a:lnSpc>
              <a:spcBef>
                <a:spcPts val="0"/>
              </a:spcBef>
              <a:buFont typeface="Wingdings" pitchFamily="2" charset="2"/>
              <a:buNone/>
              <a:defRPr/>
            </a:pPr>
            <a:r>
              <a:rPr kumimoji="1" lang="en-US" altLang="zh-CN"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float getY()</a:t>
            </a:r>
            <a:endParaRPr lang="zh-CN" altLang="en-US" sz="2400" dirty="0">
              <a:solidFill>
                <a:srgbClr val="104E87"/>
              </a:solidFill>
              <a:latin typeface="Comic Sans MS" panose="030F0702030302020204" pitchFamily="66" charset="0"/>
            </a:endParaRPr>
          </a:p>
        </p:txBody>
      </p:sp>
      <p:sp>
        <p:nvSpPr>
          <p:cNvPr id="23" name="Text Box 6">
            <a:extLst>
              <a:ext uri="{FF2B5EF4-FFF2-40B4-BE49-F238E27FC236}">
                <a16:creationId xmlns:a16="http://schemas.microsoft.com/office/drawing/2014/main" id="{D1E0BD26-07E3-48E5-BC34-86E85C3D3633}"/>
              </a:ext>
            </a:extLst>
          </p:cNvPr>
          <p:cNvSpPr txBox="1">
            <a:spLocks noChangeArrowheads="1"/>
          </p:cNvSpPr>
          <p:nvPr/>
        </p:nvSpPr>
        <p:spPr bwMode="auto">
          <a:xfrm>
            <a:off x="-120686" y="2654860"/>
            <a:ext cx="21320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spc="-100" dirty="0">
                <a:solidFill>
                  <a:srgbClr val="104E87"/>
                </a:solidFill>
                <a:latin typeface="Comic Sans MS" panose="030F0702030302020204" pitchFamily="66" charset="0"/>
                <a:ea typeface="宋体" panose="02010600030101010101" pitchFamily="2" charset="-122"/>
              </a:rPr>
              <a:t> </a:t>
            </a:r>
            <a:r>
              <a:rPr kumimoji="1" lang="en-US" altLang="zh-CN" sz="2400" spc="-100" dirty="0">
                <a:solidFill>
                  <a:srgbClr val="104E87"/>
                </a:solidFill>
                <a:latin typeface="Comic Sans MS" panose="030F0702030302020204" pitchFamily="66" charset="0"/>
                <a:ea typeface="宋体" panose="02010600030101010101" pitchFamily="2" charset="-122"/>
              </a:rPr>
              <a:t>Rectangle</a:t>
            </a:r>
          </a:p>
        </p:txBody>
      </p:sp>
      <p:sp>
        <p:nvSpPr>
          <p:cNvPr id="25" name="AutoShape 9">
            <a:extLst>
              <a:ext uri="{FF2B5EF4-FFF2-40B4-BE49-F238E27FC236}">
                <a16:creationId xmlns:a16="http://schemas.microsoft.com/office/drawing/2014/main" id="{45DCBDAF-7155-4DF5-B35E-528394DA9845}"/>
              </a:ext>
            </a:extLst>
          </p:cNvPr>
          <p:cNvSpPr>
            <a:spLocks/>
          </p:cNvSpPr>
          <p:nvPr/>
        </p:nvSpPr>
        <p:spPr bwMode="auto">
          <a:xfrm>
            <a:off x="723895" y="3209551"/>
            <a:ext cx="295275" cy="1384300"/>
          </a:xfrm>
          <a:prstGeom prst="leftBrace">
            <a:avLst>
              <a:gd name="adj1" fmla="val 22210"/>
              <a:gd name="adj2" fmla="val 52343"/>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rgbClr val="104E87"/>
              </a:solidFill>
              <a:latin typeface="Comic Sans MS" panose="030F0702030302020204" pitchFamily="66" charset="0"/>
              <a:ea typeface="宋体" panose="02010600030101010101" pitchFamily="2" charset="-122"/>
            </a:endParaRPr>
          </a:p>
        </p:txBody>
      </p:sp>
      <p:sp>
        <p:nvSpPr>
          <p:cNvPr id="26" name="Text Box 10">
            <a:extLst>
              <a:ext uri="{FF2B5EF4-FFF2-40B4-BE49-F238E27FC236}">
                <a16:creationId xmlns:a16="http://schemas.microsoft.com/office/drawing/2014/main" id="{0F4707BC-B8B3-4E5E-836A-50676EAAFC62}"/>
              </a:ext>
            </a:extLst>
          </p:cNvPr>
          <p:cNvSpPr txBox="1">
            <a:spLocks noChangeArrowheads="1"/>
          </p:cNvSpPr>
          <p:nvPr/>
        </p:nvSpPr>
        <p:spPr bwMode="auto">
          <a:xfrm>
            <a:off x="346070" y="3456956"/>
            <a:ext cx="5762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dirty="0">
                <a:solidFill>
                  <a:srgbClr val="104E87"/>
                </a:solidFill>
                <a:latin typeface="华光行书_CNKI" panose="02000500000000000000" pitchFamily="2" charset="-122"/>
                <a:ea typeface="华光行书_CNKI" panose="02000500000000000000" pitchFamily="2" charset="-122"/>
              </a:rPr>
              <a:t>继承</a:t>
            </a:r>
          </a:p>
        </p:txBody>
      </p:sp>
      <p:sp>
        <p:nvSpPr>
          <p:cNvPr id="27" name="AutoShape 8">
            <a:extLst>
              <a:ext uri="{FF2B5EF4-FFF2-40B4-BE49-F238E27FC236}">
                <a16:creationId xmlns:a16="http://schemas.microsoft.com/office/drawing/2014/main" id="{C5E3A2C4-5F56-4FE9-8021-507287499587}"/>
              </a:ext>
            </a:extLst>
          </p:cNvPr>
          <p:cNvSpPr>
            <a:spLocks noChangeArrowheads="1"/>
          </p:cNvSpPr>
          <p:nvPr/>
        </p:nvSpPr>
        <p:spPr bwMode="auto">
          <a:xfrm>
            <a:off x="3659041" y="2655280"/>
            <a:ext cx="287338" cy="217488"/>
          </a:xfrm>
          <a:prstGeom prst="triangle">
            <a:avLst>
              <a:gd name="adj" fmla="val 50000"/>
            </a:avLst>
          </a:prstGeom>
          <a:noFill/>
          <a:ln w="28575">
            <a:solidFill>
              <a:srgbClr val="FF3300"/>
            </a:solidFill>
            <a:miter lim="800000"/>
            <a:headEnd/>
            <a:tailEnd/>
          </a:ln>
        </p:spPr>
        <p:txBody>
          <a:bodyPr wrap="none" anchor="ctr"/>
          <a:lstStyle>
            <a:lvl1pPr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eaLnBrk="1" hangingPunct="1">
              <a:defRPr/>
            </a:pPr>
            <a:endParaRPr lang="zh-CN" altLang="en-US" sz="2400">
              <a:solidFill>
                <a:srgbClr val="104E87"/>
              </a:solidFill>
              <a:latin typeface="Comic Sans MS" panose="030F0702030302020204" pitchFamily="66" charset="0"/>
              <a:ea typeface="黑体" panose="02010609060101010101" pitchFamily="49" charset="-122"/>
            </a:endParaRPr>
          </a:p>
        </p:txBody>
      </p:sp>
      <p:sp>
        <p:nvSpPr>
          <p:cNvPr id="28" name="Line 9">
            <a:extLst>
              <a:ext uri="{FF2B5EF4-FFF2-40B4-BE49-F238E27FC236}">
                <a16:creationId xmlns:a16="http://schemas.microsoft.com/office/drawing/2014/main" id="{B96CBE79-8515-467F-A737-793935E0D410}"/>
              </a:ext>
            </a:extLst>
          </p:cNvPr>
          <p:cNvSpPr>
            <a:spLocks noChangeShapeType="1"/>
          </p:cNvSpPr>
          <p:nvPr/>
        </p:nvSpPr>
        <p:spPr bwMode="auto">
          <a:xfrm>
            <a:off x="3803504" y="2872768"/>
            <a:ext cx="0" cy="244475"/>
          </a:xfrm>
          <a:prstGeom prst="line">
            <a:avLst/>
          </a:prstGeom>
          <a:noFill/>
          <a:ln w="28575">
            <a:solidFill>
              <a:srgbClr val="FF3300"/>
            </a:solidFill>
            <a:round/>
            <a:headEnd/>
            <a:tailEnd/>
          </a:ln>
        </p:spPr>
        <p:txBody>
          <a:bodyPr/>
          <a:lstStyle/>
          <a:p>
            <a:pPr eaLnBrk="1" hangingPunct="1">
              <a:defRPr/>
            </a:pPr>
            <a:endParaRPr lang="zh-CN" altLang="en-US" sz="2800">
              <a:solidFill>
                <a:srgbClr val="104E87"/>
              </a:solidFill>
              <a:latin typeface="Comic Sans MS" panose="030F0702030302020204" pitchFamily="66" charset="0"/>
              <a:ea typeface="黑体" panose="02010609060101010101" pitchFamily="49" charset="-122"/>
            </a:endParaRPr>
          </a:p>
        </p:txBody>
      </p:sp>
      <p:sp>
        <p:nvSpPr>
          <p:cNvPr id="29" name="AutoShape 9">
            <a:extLst>
              <a:ext uri="{FF2B5EF4-FFF2-40B4-BE49-F238E27FC236}">
                <a16:creationId xmlns:a16="http://schemas.microsoft.com/office/drawing/2014/main" id="{35A9BA1D-7F3A-4B43-9229-7E25C2965E99}"/>
              </a:ext>
            </a:extLst>
          </p:cNvPr>
          <p:cNvSpPr>
            <a:spLocks/>
          </p:cNvSpPr>
          <p:nvPr/>
        </p:nvSpPr>
        <p:spPr bwMode="auto">
          <a:xfrm>
            <a:off x="723895" y="4935384"/>
            <a:ext cx="198437" cy="1384300"/>
          </a:xfrm>
          <a:prstGeom prst="leftBrace">
            <a:avLst>
              <a:gd name="adj1" fmla="val 22135"/>
              <a:gd name="adj2" fmla="val 52343"/>
            </a:avLst>
          </a:prstGeom>
          <a:noFill/>
          <a:ln w="12700">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rgbClr val="104E87"/>
              </a:solidFill>
              <a:latin typeface="Comic Sans MS" panose="030F0702030302020204" pitchFamily="66" charset="0"/>
              <a:ea typeface="宋体" panose="02010600030101010101" pitchFamily="2" charset="-122"/>
            </a:endParaRPr>
          </a:p>
        </p:txBody>
      </p:sp>
      <p:sp>
        <p:nvSpPr>
          <p:cNvPr id="30" name="Text Box 10">
            <a:extLst>
              <a:ext uri="{FF2B5EF4-FFF2-40B4-BE49-F238E27FC236}">
                <a16:creationId xmlns:a16="http://schemas.microsoft.com/office/drawing/2014/main" id="{3EF83E9A-408E-490C-8185-98ABBA6C7982}"/>
              </a:ext>
            </a:extLst>
          </p:cNvPr>
          <p:cNvSpPr txBox="1">
            <a:spLocks noChangeArrowheads="1"/>
          </p:cNvSpPr>
          <p:nvPr/>
        </p:nvSpPr>
        <p:spPr bwMode="auto">
          <a:xfrm>
            <a:off x="295270" y="5091906"/>
            <a:ext cx="5762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dirty="0">
                <a:solidFill>
                  <a:srgbClr val="104E87"/>
                </a:solidFill>
                <a:latin typeface="华光行书_CNKI" panose="02000500000000000000" pitchFamily="2" charset="-122"/>
                <a:ea typeface="华光行书_CNKI" panose="02000500000000000000" pitchFamily="2" charset="-122"/>
              </a:rPr>
              <a:t>增加</a:t>
            </a:r>
          </a:p>
        </p:txBody>
      </p:sp>
      <p:sp>
        <p:nvSpPr>
          <p:cNvPr id="31" name="Rectangle 8">
            <a:extLst>
              <a:ext uri="{FF2B5EF4-FFF2-40B4-BE49-F238E27FC236}">
                <a16:creationId xmlns:a16="http://schemas.microsoft.com/office/drawing/2014/main" id="{5126FE1F-45BE-4270-BF90-914952833DD5}"/>
              </a:ext>
            </a:extLst>
          </p:cNvPr>
          <p:cNvSpPr>
            <a:spLocks noChangeArrowheads="1"/>
          </p:cNvSpPr>
          <p:nvPr/>
        </p:nvSpPr>
        <p:spPr bwMode="auto">
          <a:xfrm>
            <a:off x="1026726" y="3090256"/>
            <a:ext cx="5689965" cy="3083921"/>
          </a:xfrm>
          <a:prstGeom prst="rect">
            <a:avLst/>
          </a:prstGeom>
          <a:noFill/>
          <a:ln>
            <a:solidFill>
              <a:srgbClr val="104E87"/>
            </a:solidFill>
          </a:ln>
        </p:spPr>
        <p:txBody>
          <a:bodyPr wrap="squar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lnSpc>
                <a:spcPct val="90000"/>
              </a:lnSpc>
              <a:spcBef>
                <a:spcPts val="0"/>
              </a:spcBef>
              <a:buClrTx/>
              <a:buSzTx/>
              <a:buFontTx/>
              <a:buNone/>
              <a:defRPr/>
            </a:pPr>
            <a:r>
              <a:rPr lang="zh-CN" altLang="en-US" sz="2400" dirty="0">
                <a:solidFill>
                  <a:srgbClr val="FF0000"/>
                </a:solidFill>
                <a:latin typeface="Comic Sans MS" panose="030F0702030302020204" pitchFamily="66" charset="0"/>
              </a:rPr>
              <a:t> </a:t>
            </a:r>
            <a:r>
              <a:rPr lang="en-US" altLang="zh-CN" sz="2400" dirty="0">
                <a:solidFill>
                  <a:srgbClr val="FF0000"/>
                </a:solidFill>
                <a:latin typeface="Comic Sans MS" panose="030F0702030302020204" pitchFamily="66" charset="0"/>
                <a:sym typeface="Wingdings" pitchFamily="2" charset="2"/>
              </a:rPr>
              <a:t>X</a:t>
            </a:r>
            <a:r>
              <a:rPr lang="en-US" altLang="zh-CN" sz="2400" dirty="0">
                <a:solidFill>
                  <a:srgbClr val="FF0000"/>
                </a:solidFill>
                <a:latin typeface="Comic Sans MS" panose="030F0702030302020204" pitchFamily="66" charset="0"/>
              </a:rPr>
              <a:t>  x,y</a:t>
            </a:r>
          </a:p>
          <a:p>
            <a:pPr>
              <a:lnSpc>
                <a:spcPct val="90000"/>
              </a:lnSpc>
              <a:spcBef>
                <a:spcPts val="0"/>
              </a:spcBef>
              <a:buFont typeface="Wingdings" pitchFamily="2" charset="2"/>
              <a:buNone/>
              <a:defRPr/>
            </a:pPr>
            <a:r>
              <a:rPr lang="en-US" altLang="zh-CN" sz="2400" dirty="0">
                <a:solidFill>
                  <a:srgbClr val="FF0000"/>
                </a:solidFill>
                <a:latin typeface="Comic Sans MS" panose="030F0702030302020204" pitchFamily="66" charset="0"/>
              </a:rPr>
              <a:t>+ void </a:t>
            </a:r>
            <a:r>
              <a:rPr lang="en-US" altLang="zh-CN" sz="2400" dirty="0" err="1">
                <a:solidFill>
                  <a:srgbClr val="FF0000"/>
                </a:solidFill>
                <a:latin typeface="Comic Sans MS" panose="030F0702030302020204" pitchFamily="66" charset="0"/>
              </a:rPr>
              <a:t>setPoint</a:t>
            </a:r>
            <a:r>
              <a:rPr lang="en-US" altLang="zh-CN" sz="2400" dirty="0">
                <a:solidFill>
                  <a:srgbClr val="FF0000"/>
                </a:solidFill>
                <a:latin typeface="Comic Sans MS" panose="030F0702030302020204" pitchFamily="66" charset="0"/>
              </a:rPr>
              <a:t>(float x = 0, float y = 0)</a:t>
            </a:r>
            <a:endParaRPr lang="zh-CN" altLang="en-US" sz="2400" dirty="0">
              <a:solidFill>
                <a:srgbClr val="FF0000"/>
              </a:solidFill>
              <a:latin typeface="Comic Sans MS" panose="030F0702030302020204" pitchFamily="66" charset="0"/>
            </a:endParaRPr>
          </a:p>
          <a:p>
            <a:pPr>
              <a:lnSpc>
                <a:spcPct val="90000"/>
              </a:lnSpc>
              <a:spcBef>
                <a:spcPts val="0"/>
              </a:spcBef>
              <a:buFont typeface="Wingdings" pitchFamily="2" charset="2"/>
              <a:buNone/>
              <a:defRPr/>
            </a:pPr>
            <a:r>
              <a:rPr lang="en-US" altLang="zh-CN" sz="2400" dirty="0">
                <a:solidFill>
                  <a:srgbClr val="FF0000"/>
                </a:solidFill>
                <a:latin typeface="Comic Sans MS" panose="030F0702030302020204" pitchFamily="66" charset="0"/>
              </a:rPr>
              <a:t>+ void move(float offX, float offY)</a:t>
            </a:r>
          </a:p>
          <a:p>
            <a:pPr>
              <a:lnSpc>
                <a:spcPct val="90000"/>
              </a:lnSpc>
              <a:spcBef>
                <a:spcPts val="0"/>
              </a:spcBef>
              <a:buFont typeface="Wingdings" pitchFamily="2" charset="2"/>
              <a:buNone/>
              <a:defRPr/>
            </a:pPr>
            <a:r>
              <a:rPr lang="en-US" altLang="zh-CN" sz="2400" dirty="0">
                <a:solidFill>
                  <a:srgbClr val="FF0000"/>
                </a:solidFill>
                <a:latin typeface="Comic Sans MS" panose="030F0702030302020204" pitchFamily="66" charset="0"/>
              </a:rPr>
              <a:t>+ float getX() </a:t>
            </a:r>
          </a:p>
          <a:p>
            <a:pPr>
              <a:lnSpc>
                <a:spcPct val="90000"/>
              </a:lnSpc>
              <a:spcBef>
                <a:spcPts val="0"/>
              </a:spcBef>
              <a:buFont typeface="Wingdings" pitchFamily="2" charset="2"/>
              <a:buNone/>
              <a:defRPr/>
            </a:pPr>
            <a:r>
              <a:rPr lang="en-US" altLang="zh-CN" sz="2400" dirty="0">
                <a:solidFill>
                  <a:srgbClr val="FF0000"/>
                </a:solidFill>
                <a:latin typeface="Comic Sans MS" panose="030F0702030302020204" pitchFamily="66" charset="0"/>
              </a:rPr>
              <a:t>+ float </a:t>
            </a:r>
            <a:r>
              <a:rPr lang="en-US" altLang="zh-CN" sz="2400" dirty="0" err="1">
                <a:solidFill>
                  <a:srgbClr val="FF0000"/>
                </a:solidFill>
                <a:latin typeface="Comic Sans MS" panose="030F0702030302020204" pitchFamily="66" charset="0"/>
              </a:rPr>
              <a:t>getY</a:t>
            </a:r>
            <a:r>
              <a:rPr lang="en-US" altLang="zh-CN" sz="2400" dirty="0">
                <a:solidFill>
                  <a:srgbClr val="FF0000"/>
                </a:solidFill>
                <a:latin typeface="Comic Sans MS" panose="030F0702030302020204" pitchFamily="66" charset="0"/>
              </a:rPr>
              <a:t>()</a:t>
            </a:r>
          </a:p>
          <a:p>
            <a:pPr>
              <a:lnSpc>
                <a:spcPct val="90000"/>
              </a:lnSpc>
              <a:spcBef>
                <a:spcPts val="0"/>
              </a:spcBef>
              <a:buNone/>
              <a:defRPr/>
            </a:pPr>
            <a:r>
              <a:rPr kumimoji="1" lang="en-US" altLang="zh-CN" sz="2400" spc="-150" dirty="0">
                <a:solidFill>
                  <a:srgbClr val="104E87"/>
                </a:solidFill>
                <a:latin typeface="Comic Sans MS" panose="030F0702030302020204" pitchFamily="66" charset="0"/>
                <a:ea typeface="宋体" pitchFamily="2" charset="-122"/>
              </a:rPr>
              <a:t>+</a:t>
            </a:r>
            <a:r>
              <a:rPr kumimoji="1" lang="zh-CN" altLang="en-US" sz="2400" spc="-150" dirty="0">
                <a:solidFill>
                  <a:srgbClr val="104E87"/>
                </a:solidFill>
                <a:latin typeface="Comic Sans MS" panose="030F0702030302020204" pitchFamily="66" charset="0"/>
                <a:ea typeface="宋体" pitchFamily="2" charset="-122"/>
              </a:rPr>
              <a:t> void </a:t>
            </a:r>
            <a:r>
              <a:rPr kumimoji="1" lang="en-US" altLang="zh-CN" sz="2400" spc="-150" dirty="0">
                <a:solidFill>
                  <a:srgbClr val="104E87"/>
                </a:solidFill>
                <a:latin typeface="Comic Sans MS" panose="030F0702030302020204" pitchFamily="66" charset="0"/>
                <a:ea typeface="宋体" pitchFamily="2" charset="-122"/>
              </a:rPr>
              <a:t>set</a:t>
            </a:r>
            <a:r>
              <a:rPr kumimoji="1" lang="zh-CN" altLang="en-US" sz="2400" spc="-150" dirty="0">
                <a:solidFill>
                  <a:srgbClr val="104E87"/>
                </a:solidFill>
                <a:latin typeface="Comic Sans MS" panose="030F0702030302020204" pitchFamily="66" charset="0"/>
                <a:ea typeface="宋体" pitchFamily="2" charset="-122"/>
              </a:rPr>
              <a:t>Rectangle(float, float, float, float ) </a:t>
            </a:r>
            <a:endParaRPr kumimoji="1" lang="en-US" altLang="zh-CN" sz="2400" spc="-150" dirty="0">
              <a:solidFill>
                <a:srgbClr val="104E87"/>
              </a:solidFill>
              <a:latin typeface="Comic Sans MS" panose="030F0702030302020204" pitchFamily="66" charset="0"/>
              <a:ea typeface="宋体" pitchFamily="2" charset="-122"/>
            </a:endParaRPr>
          </a:p>
          <a:p>
            <a:pPr>
              <a:lnSpc>
                <a:spcPct val="90000"/>
              </a:lnSpc>
              <a:spcBef>
                <a:spcPts val="0"/>
              </a:spcBef>
              <a:buNone/>
              <a:defRPr/>
            </a:pPr>
            <a:r>
              <a:rPr kumimoji="1" lang="en-US" altLang="zh-CN" sz="2400" dirty="0">
                <a:solidFill>
                  <a:srgbClr val="104E87"/>
                </a:solidFill>
                <a:latin typeface="Comic Sans MS" panose="030F0702030302020204" pitchFamily="66" charset="0"/>
                <a:ea typeface="宋体" pitchFamily="2" charset="-122"/>
              </a:rPr>
              <a:t>+</a:t>
            </a:r>
            <a:r>
              <a:rPr kumimoji="1" lang="zh-CN" altLang="en-US" sz="2400" dirty="0">
                <a:solidFill>
                  <a:srgbClr val="104E87"/>
                </a:solidFill>
                <a:latin typeface="Comic Sans MS" panose="030F0702030302020204" pitchFamily="66" charset="0"/>
                <a:ea typeface="宋体" pitchFamily="2" charset="-122"/>
              </a:rPr>
              <a:t> float getH() const </a:t>
            </a:r>
            <a:endParaRPr kumimoji="1" lang="en-US" altLang="zh-CN" sz="2400" dirty="0">
              <a:solidFill>
                <a:srgbClr val="104E87"/>
              </a:solidFill>
              <a:latin typeface="Comic Sans MS" panose="030F0702030302020204" pitchFamily="66" charset="0"/>
              <a:ea typeface="宋体" pitchFamily="2" charset="-122"/>
            </a:endParaRPr>
          </a:p>
          <a:p>
            <a:pPr>
              <a:lnSpc>
                <a:spcPct val="90000"/>
              </a:lnSpc>
              <a:spcBef>
                <a:spcPts val="0"/>
              </a:spcBef>
              <a:buNone/>
              <a:defRPr/>
            </a:pPr>
            <a:r>
              <a:rPr kumimoji="1" lang="en-US" altLang="zh-CN" sz="2400" dirty="0">
                <a:solidFill>
                  <a:srgbClr val="104E87"/>
                </a:solidFill>
                <a:latin typeface="Comic Sans MS" panose="030F0702030302020204" pitchFamily="66" charset="0"/>
                <a:ea typeface="宋体" pitchFamily="2" charset="-122"/>
              </a:rPr>
              <a:t>+</a:t>
            </a:r>
            <a:r>
              <a:rPr kumimoji="1" lang="zh-CN" altLang="en-US" sz="2400" dirty="0">
                <a:solidFill>
                  <a:srgbClr val="104E87"/>
                </a:solidFill>
                <a:latin typeface="Comic Sans MS" panose="030F0702030302020204" pitchFamily="66" charset="0"/>
                <a:ea typeface="宋体" pitchFamily="2" charset="-122"/>
              </a:rPr>
              <a:t> float getW() cons</a:t>
            </a:r>
            <a:endParaRPr kumimoji="1" lang="en-US" altLang="zh-CN" sz="2400" dirty="0">
              <a:solidFill>
                <a:srgbClr val="104E87"/>
              </a:solidFill>
              <a:latin typeface="Comic Sans MS" panose="030F0702030302020204" pitchFamily="66" charset="0"/>
              <a:ea typeface="宋体" pitchFamily="2" charset="-122"/>
            </a:endParaRPr>
          </a:p>
          <a:p>
            <a:pPr>
              <a:lnSpc>
                <a:spcPct val="90000"/>
              </a:lnSpc>
              <a:spcBef>
                <a:spcPts val="0"/>
              </a:spcBef>
              <a:buNone/>
              <a:defRPr/>
            </a:pPr>
            <a:r>
              <a:rPr kumimoji="1" lang="en-US" altLang="zh-CN" sz="2400" dirty="0">
                <a:solidFill>
                  <a:srgbClr val="104E87"/>
                </a:solidFill>
                <a:latin typeface="Comic Sans MS" panose="030F0702030302020204" pitchFamily="66" charset="0"/>
                <a:ea typeface="宋体" pitchFamily="2" charset="-122"/>
              </a:rPr>
              <a:t>-float w, h</a:t>
            </a:r>
          </a:p>
        </p:txBody>
      </p:sp>
    </p:spTree>
    <p:extLst>
      <p:ext uri="{BB962C8B-B14F-4D97-AF65-F5344CB8AC3E}">
        <p14:creationId xmlns:p14="http://schemas.microsoft.com/office/powerpoint/2010/main" val="742566583"/>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randombar(horizontal)">
                                      <p:cBhvr>
                                        <p:cTn id="15" dur="500"/>
                                        <p:tgtEl>
                                          <p:spTgt spid="27"/>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randombar(horizontal)">
                                      <p:cBhvr>
                                        <p:cTn id="18" dur="500"/>
                                        <p:tgtEl>
                                          <p:spTgt spid="28"/>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randombar(horizontal)">
                                      <p:cBhvr>
                                        <p:cTn id="21" dur="500"/>
                                        <p:tgtEl>
                                          <p:spTgt spid="23"/>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randombar(horizontal)">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500"/>
                                        <p:tgtEl>
                                          <p:spTgt spid="26"/>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left)">
                                      <p:cBhvr>
                                        <p:cTn id="35" dur="500"/>
                                        <p:tgtEl>
                                          <p:spTgt spid="29"/>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lef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animBg="1"/>
      <p:bldP spid="23" grpId="0"/>
      <p:bldP spid="25" grpId="0" animBg="1"/>
      <p:bldP spid="26" grpId="0"/>
      <p:bldP spid="27" grpId="0" animBg="1"/>
      <p:bldP spid="28" grpId="0" animBg="1"/>
      <p:bldP spid="29" grpId="0" animBg="1"/>
      <p:bldP spid="30" grpId="0"/>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87C931A-CED1-DB67-55E9-911514FE4792}"/>
              </a:ext>
            </a:extLst>
          </p:cNvPr>
          <p:cNvPicPr>
            <a:picLocks noChangeAspect="1"/>
          </p:cNvPicPr>
          <p:nvPr/>
        </p:nvPicPr>
        <p:blipFill>
          <a:blip r:embed="rId3"/>
          <a:stretch>
            <a:fillRect/>
          </a:stretch>
        </p:blipFill>
        <p:spPr>
          <a:xfrm>
            <a:off x="5614908" y="1492480"/>
            <a:ext cx="6408975" cy="4732685"/>
          </a:xfrm>
          <a:prstGeom prst="rect">
            <a:avLst/>
          </a:prstGeom>
        </p:spPr>
      </p:pic>
      <p:pic>
        <p:nvPicPr>
          <p:cNvPr id="3" name="图片 2">
            <a:extLst>
              <a:ext uri="{FF2B5EF4-FFF2-40B4-BE49-F238E27FC236}">
                <a16:creationId xmlns:a16="http://schemas.microsoft.com/office/drawing/2014/main" id="{F4D421E8-87F6-DAF2-F8EA-E556690F2F2E}"/>
              </a:ext>
            </a:extLst>
          </p:cNvPr>
          <p:cNvPicPr>
            <a:picLocks noChangeAspect="1"/>
          </p:cNvPicPr>
          <p:nvPr/>
        </p:nvPicPr>
        <p:blipFill>
          <a:blip r:embed="rId4"/>
          <a:stretch>
            <a:fillRect/>
          </a:stretch>
        </p:blipFill>
        <p:spPr>
          <a:xfrm>
            <a:off x="44057" y="906112"/>
            <a:ext cx="5616575" cy="4732686"/>
          </a:xfrm>
          <a:prstGeom prst="rect">
            <a:avLst/>
          </a:prstGeom>
        </p:spPr>
      </p:pic>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9.2</a:t>
            </a:r>
            <a:r>
              <a:rPr lang="zh-CN" altLang="en-US" dirty="0">
                <a:sym typeface="+mn-lt"/>
              </a:rPr>
              <a:t>继承下的访问控制权</a:t>
            </a:r>
          </a:p>
        </p:txBody>
      </p:sp>
      <p:cxnSp>
        <p:nvCxnSpPr>
          <p:cNvPr id="14" name="直接连接符 7">
            <a:extLst>
              <a:ext uri="{FF2B5EF4-FFF2-40B4-BE49-F238E27FC236}">
                <a16:creationId xmlns:a16="http://schemas.microsoft.com/office/drawing/2014/main" id="{742C9CF7-08E3-4538-B362-6813A90EFC3A}"/>
              </a:ext>
            </a:extLst>
          </p:cNvPr>
          <p:cNvCxnSpPr>
            <a:cxnSpLocks noChangeShapeType="1"/>
          </p:cNvCxnSpPr>
          <p:nvPr/>
        </p:nvCxnSpPr>
        <p:spPr bwMode="auto">
          <a:xfrm>
            <a:off x="1239091" y="2891960"/>
            <a:ext cx="4037759"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5" name="直接连接符 8">
            <a:extLst>
              <a:ext uri="{FF2B5EF4-FFF2-40B4-BE49-F238E27FC236}">
                <a16:creationId xmlns:a16="http://schemas.microsoft.com/office/drawing/2014/main" id="{B72DCFF4-B701-4D69-A47F-B53B40B8268C}"/>
              </a:ext>
            </a:extLst>
          </p:cNvPr>
          <p:cNvCxnSpPr>
            <a:cxnSpLocks/>
          </p:cNvCxnSpPr>
          <p:nvPr/>
        </p:nvCxnSpPr>
        <p:spPr bwMode="auto">
          <a:xfrm>
            <a:off x="1239091" y="3276135"/>
            <a:ext cx="3897312"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6" name="直接连接符 10">
            <a:extLst>
              <a:ext uri="{FF2B5EF4-FFF2-40B4-BE49-F238E27FC236}">
                <a16:creationId xmlns:a16="http://schemas.microsoft.com/office/drawing/2014/main" id="{D0FCF586-B5C1-4F7E-A62D-694033424543}"/>
              </a:ext>
            </a:extLst>
          </p:cNvPr>
          <p:cNvCxnSpPr>
            <a:cxnSpLocks/>
          </p:cNvCxnSpPr>
          <p:nvPr/>
        </p:nvCxnSpPr>
        <p:spPr bwMode="auto">
          <a:xfrm>
            <a:off x="1239091" y="3790485"/>
            <a:ext cx="3897312"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7" name="直接连接符 12">
            <a:extLst>
              <a:ext uri="{FF2B5EF4-FFF2-40B4-BE49-F238E27FC236}">
                <a16:creationId xmlns:a16="http://schemas.microsoft.com/office/drawing/2014/main" id="{BB63BD7C-C738-476A-959E-91D308E75CA0}"/>
              </a:ext>
            </a:extLst>
          </p:cNvPr>
          <p:cNvCxnSpPr>
            <a:cxnSpLocks/>
          </p:cNvCxnSpPr>
          <p:nvPr/>
        </p:nvCxnSpPr>
        <p:spPr bwMode="auto">
          <a:xfrm>
            <a:off x="1239091" y="4230223"/>
            <a:ext cx="3897312"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8" name="直接连接符 13">
            <a:extLst>
              <a:ext uri="{FF2B5EF4-FFF2-40B4-BE49-F238E27FC236}">
                <a16:creationId xmlns:a16="http://schemas.microsoft.com/office/drawing/2014/main" id="{1F99CF28-108B-43A6-8F7D-37F079358B5B}"/>
              </a:ext>
            </a:extLst>
          </p:cNvPr>
          <p:cNvCxnSpPr>
            <a:cxnSpLocks/>
          </p:cNvCxnSpPr>
          <p:nvPr/>
        </p:nvCxnSpPr>
        <p:spPr bwMode="auto">
          <a:xfrm>
            <a:off x="1239091" y="5192158"/>
            <a:ext cx="1296987"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19" name="直接连接符 15">
            <a:extLst>
              <a:ext uri="{FF2B5EF4-FFF2-40B4-BE49-F238E27FC236}">
                <a16:creationId xmlns:a16="http://schemas.microsoft.com/office/drawing/2014/main" id="{585CD936-70C1-4BCB-BF79-CD25A640C2C4}"/>
              </a:ext>
            </a:extLst>
          </p:cNvPr>
          <p:cNvCxnSpPr>
            <a:cxnSpLocks/>
          </p:cNvCxnSpPr>
          <p:nvPr/>
        </p:nvCxnSpPr>
        <p:spPr bwMode="auto">
          <a:xfrm>
            <a:off x="6591394" y="3252697"/>
            <a:ext cx="5432489"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20" name="直接连接符 17">
            <a:extLst>
              <a:ext uri="{FF2B5EF4-FFF2-40B4-BE49-F238E27FC236}">
                <a16:creationId xmlns:a16="http://schemas.microsoft.com/office/drawing/2014/main" id="{ACA7D185-12D8-45BF-855B-572FEFDE652D}"/>
              </a:ext>
            </a:extLst>
          </p:cNvPr>
          <p:cNvCxnSpPr>
            <a:cxnSpLocks/>
          </p:cNvCxnSpPr>
          <p:nvPr/>
        </p:nvCxnSpPr>
        <p:spPr bwMode="auto">
          <a:xfrm>
            <a:off x="6591394" y="4897812"/>
            <a:ext cx="3311525"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21" name="直接连接符 19">
            <a:extLst>
              <a:ext uri="{FF2B5EF4-FFF2-40B4-BE49-F238E27FC236}">
                <a16:creationId xmlns:a16="http://schemas.microsoft.com/office/drawing/2014/main" id="{5B3DA50F-2481-43D5-ACD1-B2E64F1C98B4}"/>
              </a:ext>
            </a:extLst>
          </p:cNvPr>
          <p:cNvCxnSpPr>
            <a:cxnSpLocks/>
          </p:cNvCxnSpPr>
          <p:nvPr/>
        </p:nvCxnSpPr>
        <p:spPr bwMode="auto">
          <a:xfrm>
            <a:off x="6591394" y="5257620"/>
            <a:ext cx="3311525"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22" name="直接连接符 20">
            <a:extLst>
              <a:ext uri="{FF2B5EF4-FFF2-40B4-BE49-F238E27FC236}">
                <a16:creationId xmlns:a16="http://schemas.microsoft.com/office/drawing/2014/main" id="{85A892AE-A01C-4573-AB06-9F844E632191}"/>
              </a:ext>
            </a:extLst>
          </p:cNvPr>
          <p:cNvCxnSpPr>
            <a:cxnSpLocks/>
          </p:cNvCxnSpPr>
          <p:nvPr/>
        </p:nvCxnSpPr>
        <p:spPr bwMode="auto">
          <a:xfrm>
            <a:off x="6546360" y="5883650"/>
            <a:ext cx="1150938" cy="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6" name="矩形 23">
            <a:extLst>
              <a:ext uri="{FF2B5EF4-FFF2-40B4-BE49-F238E27FC236}">
                <a16:creationId xmlns:a16="http://schemas.microsoft.com/office/drawing/2014/main" id="{51F5D9FA-27BF-D2B4-210B-F35C7F7CF705}"/>
              </a:ext>
            </a:extLst>
          </p:cNvPr>
          <p:cNvSpPr>
            <a:spLocks noChangeArrowheads="1"/>
          </p:cNvSpPr>
          <p:nvPr/>
        </p:nvSpPr>
        <p:spPr bwMode="auto">
          <a:xfrm>
            <a:off x="7875630" y="286911"/>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u="sng">
                <a:solidFill>
                  <a:srgbClr val="FF0000"/>
                </a:solidFill>
                <a:ea typeface="黑体" panose="02010609060101010101" pitchFamily="49" charset="-122"/>
                <a:cs typeface="Times New Roman" panose="02020603050405020304" pitchFamily="18" charset="0"/>
              </a:rPr>
              <a:t>私有继承</a:t>
            </a:r>
            <a:endParaRPr lang="zh-CN" altLang="en-US">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6454888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randombar(vertical)">
                                      <p:cBhvr>
                                        <p:cTn id="7" dur="500"/>
                                        <p:tgtEl>
                                          <p:spTgt spid="19"/>
                                        </p:tgtEl>
                                      </p:cBhvr>
                                    </p:animEffect>
                                  </p:childTnLst>
                                </p:cTn>
                              </p:par>
                              <p:par>
                                <p:cTn id="8" presetID="14" presetClass="entr" presetSubtype="5"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randombar(vertical)">
                                      <p:cBhvr>
                                        <p:cTn id="10" dur="500"/>
                                        <p:tgtEl>
                                          <p:spTgt spid="20"/>
                                        </p:tgtEl>
                                      </p:cBhvr>
                                    </p:animEffect>
                                  </p:childTnLst>
                                </p:cTn>
                              </p:par>
                              <p:par>
                                <p:cTn id="11" presetID="14" presetClass="entr" presetSubtype="5"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randombar(vertical)">
                                      <p:cBhvr>
                                        <p:cTn id="13" dur="500"/>
                                        <p:tgtEl>
                                          <p:spTgt spid="21"/>
                                        </p:tgtEl>
                                      </p:cBhvr>
                                    </p:animEffect>
                                  </p:childTnLst>
                                </p:cTn>
                              </p:par>
                              <p:par>
                                <p:cTn id="14" presetID="14" presetClass="entr" presetSubtype="5"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randombar(vertical)">
                                      <p:cBhvr>
                                        <p:cTn id="1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9.2</a:t>
            </a:r>
            <a:r>
              <a:rPr lang="zh-CN" altLang="en-US" dirty="0">
                <a:sym typeface="+mn-lt"/>
              </a:rPr>
              <a:t>继承下的访问控制权</a:t>
            </a:r>
          </a:p>
        </p:txBody>
      </p:sp>
      <p:sp>
        <p:nvSpPr>
          <p:cNvPr id="20" name="Text Box 2">
            <a:extLst>
              <a:ext uri="{FF2B5EF4-FFF2-40B4-BE49-F238E27FC236}">
                <a16:creationId xmlns:a16="http://schemas.microsoft.com/office/drawing/2014/main" id="{296F1E9C-6F80-429F-9984-937F9C627F41}"/>
              </a:ext>
            </a:extLst>
          </p:cNvPr>
          <p:cNvSpPr txBox="1">
            <a:spLocks noChangeArrowheads="1"/>
          </p:cNvSpPr>
          <p:nvPr/>
        </p:nvSpPr>
        <p:spPr bwMode="auto">
          <a:xfrm>
            <a:off x="-141845" y="832238"/>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dirty="0">
                <a:solidFill>
                  <a:srgbClr val="104E87"/>
                </a:solidFill>
                <a:latin typeface="Comic Sans MS" panose="030F0702030302020204" pitchFamily="66" charset="0"/>
                <a:ea typeface="宋体" panose="02010600030101010101" pitchFamily="2" charset="-122"/>
              </a:rPr>
              <a:t> </a:t>
            </a:r>
            <a:r>
              <a:rPr kumimoji="1" lang="en-US" altLang="zh-CN" sz="2400" dirty="0">
                <a:solidFill>
                  <a:srgbClr val="104E87"/>
                </a:solidFill>
                <a:latin typeface="Comic Sans MS" panose="030F0702030302020204" pitchFamily="66" charset="0"/>
                <a:ea typeface="宋体" panose="02010600030101010101" pitchFamily="2" charset="-122"/>
              </a:rPr>
              <a:t>Point</a:t>
            </a:r>
          </a:p>
        </p:txBody>
      </p:sp>
      <p:sp>
        <p:nvSpPr>
          <p:cNvPr id="22" name="Rectangle 4">
            <a:extLst>
              <a:ext uri="{FF2B5EF4-FFF2-40B4-BE49-F238E27FC236}">
                <a16:creationId xmlns:a16="http://schemas.microsoft.com/office/drawing/2014/main" id="{6CC8EAE6-CCF7-4258-89CD-5DED089C66B4}"/>
              </a:ext>
            </a:extLst>
          </p:cNvPr>
          <p:cNvSpPr>
            <a:spLocks noChangeArrowheads="1"/>
          </p:cNvSpPr>
          <p:nvPr/>
        </p:nvSpPr>
        <p:spPr bwMode="auto">
          <a:xfrm>
            <a:off x="723900" y="1261506"/>
            <a:ext cx="5689966" cy="1754326"/>
          </a:xfrm>
          <a:prstGeom prst="rect">
            <a:avLst/>
          </a:prstGeom>
          <a:noFill/>
          <a:ln>
            <a:solidFill>
              <a:srgbClr val="104E87"/>
            </a:solidFill>
          </a:ln>
        </p:spPr>
        <p:txBody>
          <a:bodyPr wrap="squar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a:lnSpc>
                <a:spcPct val="90000"/>
              </a:lnSpc>
              <a:spcBef>
                <a:spcPts val="0"/>
              </a:spcBef>
              <a:buFont typeface="Wingdings" pitchFamily="2" charset="2"/>
              <a:buNone/>
              <a:defRPr/>
            </a:pPr>
            <a:r>
              <a:rPr kumimoji="1" lang="zh-CN" altLang="en-US"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x, y;</a:t>
            </a:r>
            <a:endParaRPr lang="zh-CN" altLang="en-US" sz="2400" dirty="0">
              <a:solidFill>
                <a:srgbClr val="104E87"/>
              </a:solidFill>
              <a:latin typeface="Comic Sans MS" panose="030F0702030302020204" pitchFamily="66" charset="0"/>
            </a:endParaRPr>
          </a:p>
          <a:p>
            <a:pPr>
              <a:lnSpc>
                <a:spcPct val="90000"/>
              </a:lnSpc>
              <a:spcBef>
                <a:spcPts val="0"/>
              </a:spcBef>
              <a:buFont typeface="Wingdings" pitchFamily="2" charset="2"/>
              <a:buNone/>
              <a:defRPr/>
            </a:pPr>
            <a:r>
              <a:rPr kumimoji="1" lang="en-US" altLang="zh-CN"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void </a:t>
            </a:r>
            <a:r>
              <a:rPr lang="en-US" altLang="zh-CN" sz="2400" dirty="0" err="1">
                <a:solidFill>
                  <a:srgbClr val="104E87"/>
                </a:solidFill>
                <a:latin typeface="Comic Sans MS" panose="030F0702030302020204" pitchFamily="66" charset="0"/>
              </a:rPr>
              <a:t>setPoint</a:t>
            </a:r>
            <a:r>
              <a:rPr lang="en-US" altLang="zh-CN" sz="2400" dirty="0">
                <a:solidFill>
                  <a:srgbClr val="104E87"/>
                </a:solidFill>
                <a:latin typeface="Comic Sans MS" panose="030F0702030302020204" pitchFamily="66" charset="0"/>
              </a:rPr>
              <a:t>(float x = 0, float y = 0)</a:t>
            </a:r>
            <a:endParaRPr lang="zh-CN" altLang="en-US" sz="2400" dirty="0">
              <a:solidFill>
                <a:srgbClr val="104E87"/>
              </a:solidFill>
              <a:latin typeface="Comic Sans MS" panose="030F0702030302020204" pitchFamily="66" charset="0"/>
            </a:endParaRPr>
          </a:p>
          <a:p>
            <a:pPr>
              <a:lnSpc>
                <a:spcPct val="90000"/>
              </a:lnSpc>
              <a:spcBef>
                <a:spcPts val="0"/>
              </a:spcBef>
              <a:buFont typeface="Wingdings" pitchFamily="2" charset="2"/>
              <a:buNone/>
              <a:defRPr/>
            </a:pPr>
            <a:r>
              <a:rPr kumimoji="1" lang="en-US" altLang="zh-CN"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void move(float offX, float offY)</a:t>
            </a:r>
          </a:p>
          <a:p>
            <a:pPr>
              <a:lnSpc>
                <a:spcPct val="90000"/>
              </a:lnSpc>
              <a:spcBef>
                <a:spcPts val="0"/>
              </a:spcBef>
              <a:buFont typeface="Wingdings" pitchFamily="2" charset="2"/>
              <a:buNone/>
              <a:defRPr/>
            </a:pPr>
            <a:r>
              <a:rPr kumimoji="1" lang="en-US" altLang="zh-CN"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float </a:t>
            </a:r>
            <a:r>
              <a:rPr lang="en-US" altLang="zh-CN" sz="2400" dirty="0" err="1">
                <a:solidFill>
                  <a:srgbClr val="104E87"/>
                </a:solidFill>
                <a:latin typeface="Comic Sans MS" panose="030F0702030302020204" pitchFamily="66" charset="0"/>
              </a:rPr>
              <a:t>getX</a:t>
            </a:r>
            <a:r>
              <a:rPr lang="en-US" altLang="zh-CN" sz="2400" dirty="0">
                <a:solidFill>
                  <a:srgbClr val="104E87"/>
                </a:solidFill>
                <a:latin typeface="Comic Sans MS" panose="030F0702030302020204" pitchFamily="66" charset="0"/>
              </a:rPr>
              <a:t> ()</a:t>
            </a:r>
          </a:p>
          <a:p>
            <a:pPr>
              <a:lnSpc>
                <a:spcPct val="90000"/>
              </a:lnSpc>
              <a:spcBef>
                <a:spcPts val="0"/>
              </a:spcBef>
              <a:buFont typeface="Wingdings" pitchFamily="2" charset="2"/>
              <a:buNone/>
              <a:defRPr/>
            </a:pPr>
            <a:r>
              <a:rPr kumimoji="1" lang="en-US" altLang="zh-CN" sz="2400" dirty="0">
                <a:solidFill>
                  <a:srgbClr val="104E87"/>
                </a:solidFill>
                <a:latin typeface="Comic Sans MS" panose="030F0702030302020204" pitchFamily="66" charset="0"/>
                <a:ea typeface="宋体" pitchFamily="2" charset="-122"/>
              </a:rPr>
              <a:t>+ </a:t>
            </a:r>
            <a:r>
              <a:rPr lang="en-US" altLang="zh-CN" sz="2400" dirty="0">
                <a:solidFill>
                  <a:srgbClr val="104E87"/>
                </a:solidFill>
                <a:latin typeface="Comic Sans MS" panose="030F0702030302020204" pitchFamily="66" charset="0"/>
              </a:rPr>
              <a:t>float getY()</a:t>
            </a:r>
            <a:endParaRPr lang="zh-CN" altLang="en-US" sz="2400" dirty="0">
              <a:solidFill>
                <a:srgbClr val="104E87"/>
              </a:solidFill>
              <a:latin typeface="Comic Sans MS" panose="030F0702030302020204" pitchFamily="66" charset="0"/>
            </a:endParaRPr>
          </a:p>
        </p:txBody>
      </p:sp>
      <p:sp>
        <p:nvSpPr>
          <p:cNvPr id="23" name="Text Box 6">
            <a:extLst>
              <a:ext uri="{FF2B5EF4-FFF2-40B4-BE49-F238E27FC236}">
                <a16:creationId xmlns:a16="http://schemas.microsoft.com/office/drawing/2014/main" id="{D1E0BD26-07E3-48E5-BC34-86E85C3D3633}"/>
              </a:ext>
            </a:extLst>
          </p:cNvPr>
          <p:cNvSpPr txBox="1">
            <a:spLocks noChangeArrowheads="1"/>
          </p:cNvSpPr>
          <p:nvPr/>
        </p:nvSpPr>
        <p:spPr bwMode="auto">
          <a:xfrm>
            <a:off x="-156544" y="2905238"/>
            <a:ext cx="21320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spc="-100" dirty="0">
                <a:solidFill>
                  <a:srgbClr val="104E87"/>
                </a:solidFill>
                <a:latin typeface="Comic Sans MS" panose="030F0702030302020204" pitchFamily="66" charset="0"/>
                <a:ea typeface="宋体" panose="02010600030101010101" pitchFamily="2" charset="-122"/>
              </a:rPr>
              <a:t> </a:t>
            </a:r>
            <a:r>
              <a:rPr kumimoji="1" lang="en-US" altLang="zh-CN" sz="2400" spc="-100" dirty="0">
                <a:solidFill>
                  <a:srgbClr val="104E87"/>
                </a:solidFill>
                <a:latin typeface="Comic Sans MS" panose="030F0702030302020204" pitchFamily="66" charset="0"/>
                <a:ea typeface="宋体" panose="02010600030101010101" pitchFamily="2" charset="-122"/>
              </a:rPr>
              <a:t>Rectangle</a:t>
            </a:r>
          </a:p>
        </p:txBody>
      </p:sp>
      <p:sp>
        <p:nvSpPr>
          <p:cNvPr id="25" name="AutoShape 9">
            <a:extLst>
              <a:ext uri="{FF2B5EF4-FFF2-40B4-BE49-F238E27FC236}">
                <a16:creationId xmlns:a16="http://schemas.microsoft.com/office/drawing/2014/main" id="{45DCBDAF-7155-4DF5-B35E-528394DA9845}"/>
              </a:ext>
            </a:extLst>
          </p:cNvPr>
          <p:cNvSpPr>
            <a:spLocks/>
          </p:cNvSpPr>
          <p:nvPr/>
        </p:nvSpPr>
        <p:spPr bwMode="auto">
          <a:xfrm>
            <a:off x="428625" y="3492587"/>
            <a:ext cx="295275" cy="1384300"/>
          </a:xfrm>
          <a:prstGeom prst="leftBrace">
            <a:avLst>
              <a:gd name="adj1" fmla="val 22210"/>
              <a:gd name="adj2" fmla="val 52343"/>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rgbClr val="104E87"/>
              </a:solidFill>
              <a:latin typeface="Comic Sans MS" panose="030F0702030302020204" pitchFamily="66" charset="0"/>
              <a:ea typeface="宋体" panose="02010600030101010101" pitchFamily="2" charset="-122"/>
            </a:endParaRPr>
          </a:p>
        </p:txBody>
      </p:sp>
      <p:sp>
        <p:nvSpPr>
          <p:cNvPr id="26" name="Text Box 10">
            <a:extLst>
              <a:ext uri="{FF2B5EF4-FFF2-40B4-BE49-F238E27FC236}">
                <a16:creationId xmlns:a16="http://schemas.microsoft.com/office/drawing/2014/main" id="{0F4707BC-B8B3-4E5E-836A-50676EAAFC62}"/>
              </a:ext>
            </a:extLst>
          </p:cNvPr>
          <p:cNvSpPr txBox="1">
            <a:spLocks noChangeArrowheads="1"/>
          </p:cNvSpPr>
          <p:nvPr/>
        </p:nvSpPr>
        <p:spPr bwMode="auto">
          <a:xfrm>
            <a:off x="50800" y="3739992"/>
            <a:ext cx="5762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dirty="0">
                <a:solidFill>
                  <a:srgbClr val="104E87"/>
                </a:solidFill>
                <a:latin typeface="华光隶变_CNKI" panose="02000500000000000000" pitchFamily="2" charset="-122"/>
                <a:ea typeface="华光隶变_CNKI" panose="02000500000000000000" pitchFamily="2" charset="-122"/>
              </a:rPr>
              <a:t>继承</a:t>
            </a:r>
          </a:p>
        </p:txBody>
      </p:sp>
      <p:sp>
        <p:nvSpPr>
          <p:cNvPr id="27" name="AutoShape 8">
            <a:extLst>
              <a:ext uri="{FF2B5EF4-FFF2-40B4-BE49-F238E27FC236}">
                <a16:creationId xmlns:a16="http://schemas.microsoft.com/office/drawing/2014/main" id="{C5E3A2C4-5F56-4FE9-8021-507287499587}"/>
              </a:ext>
            </a:extLst>
          </p:cNvPr>
          <p:cNvSpPr>
            <a:spLocks noChangeArrowheads="1"/>
          </p:cNvSpPr>
          <p:nvPr/>
        </p:nvSpPr>
        <p:spPr bwMode="auto">
          <a:xfrm>
            <a:off x="3838331" y="2960088"/>
            <a:ext cx="287338" cy="217488"/>
          </a:xfrm>
          <a:prstGeom prst="triangle">
            <a:avLst>
              <a:gd name="adj" fmla="val 50000"/>
            </a:avLst>
          </a:prstGeom>
          <a:noFill/>
          <a:ln w="28575">
            <a:solidFill>
              <a:srgbClr val="FF3300"/>
            </a:solidFill>
            <a:miter lim="800000"/>
            <a:headEnd/>
            <a:tailEnd/>
          </a:ln>
        </p:spPr>
        <p:txBody>
          <a:bodyPr wrap="none" anchor="ctr"/>
          <a:lstStyle>
            <a:lvl1pPr eaLnBrk="0" hangingPunct="0">
              <a:defRPr sz="2000" b="1">
                <a:solidFill>
                  <a:schemeClr val="tx1"/>
                </a:solidFill>
                <a:latin typeface="Times New Roman" pitchFamily="18" charset="0"/>
                <a:ea typeface="楷体_GB2312" pitchFamily="49" charset="-122"/>
              </a:defRPr>
            </a:lvl1pPr>
            <a:lvl2pPr marL="742950" indent="-285750" eaLnBrk="0" hangingPunct="0">
              <a:defRPr sz="2000" b="1">
                <a:solidFill>
                  <a:schemeClr val="tx1"/>
                </a:solidFill>
                <a:latin typeface="Times New Roman" pitchFamily="18" charset="0"/>
                <a:ea typeface="楷体_GB2312" pitchFamily="49" charset="-122"/>
              </a:defRPr>
            </a:lvl2pPr>
            <a:lvl3pPr marL="1143000" indent="-228600" eaLnBrk="0" hangingPunct="0">
              <a:defRPr sz="2000" b="1">
                <a:solidFill>
                  <a:schemeClr val="tx1"/>
                </a:solidFill>
                <a:latin typeface="Times New Roman" pitchFamily="18" charset="0"/>
                <a:ea typeface="楷体_GB2312" pitchFamily="49" charset="-122"/>
              </a:defRPr>
            </a:lvl3pPr>
            <a:lvl4pPr marL="1600200" indent="-228600" eaLnBrk="0" hangingPunct="0">
              <a:defRPr sz="2000" b="1">
                <a:solidFill>
                  <a:schemeClr val="tx1"/>
                </a:solidFill>
                <a:latin typeface="Times New Roman" pitchFamily="18" charset="0"/>
                <a:ea typeface="楷体_GB2312" pitchFamily="49" charset="-122"/>
              </a:defRPr>
            </a:lvl4pPr>
            <a:lvl5pPr marL="2057400" indent="-228600" eaLnBrk="0" hangingPunct="0">
              <a:defRPr sz="20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sz="2000" b="1">
                <a:solidFill>
                  <a:schemeClr val="tx1"/>
                </a:solidFill>
                <a:latin typeface="Times New Roman" pitchFamily="18" charset="0"/>
                <a:ea typeface="楷体_GB2312" pitchFamily="49" charset="-122"/>
              </a:defRPr>
            </a:lvl9pPr>
          </a:lstStyle>
          <a:p>
            <a:pPr eaLnBrk="1" hangingPunct="1">
              <a:defRPr/>
            </a:pPr>
            <a:endParaRPr lang="zh-CN" altLang="en-US" sz="2400">
              <a:solidFill>
                <a:srgbClr val="104E87"/>
              </a:solidFill>
              <a:latin typeface="Comic Sans MS" panose="030F0702030302020204" pitchFamily="66" charset="0"/>
              <a:ea typeface="黑体" panose="02010609060101010101" pitchFamily="49" charset="-122"/>
            </a:endParaRPr>
          </a:p>
        </p:txBody>
      </p:sp>
      <p:sp>
        <p:nvSpPr>
          <p:cNvPr id="28" name="Line 9">
            <a:extLst>
              <a:ext uri="{FF2B5EF4-FFF2-40B4-BE49-F238E27FC236}">
                <a16:creationId xmlns:a16="http://schemas.microsoft.com/office/drawing/2014/main" id="{B96CBE79-8515-467F-A737-793935E0D410}"/>
              </a:ext>
            </a:extLst>
          </p:cNvPr>
          <p:cNvSpPr>
            <a:spLocks noChangeShapeType="1"/>
          </p:cNvSpPr>
          <p:nvPr/>
        </p:nvSpPr>
        <p:spPr bwMode="auto">
          <a:xfrm>
            <a:off x="3982794" y="3155804"/>
            <a:ext cx="0" cy="244475"/>
          </a:xfrm>
          <a:prstGeom prst="line">
            <a:avLst/>
          </a:prstGeom>
          <a:noFill/>
          <a:ln w="28575">
            <a:solidFill>
              <a:srgbClr val="FF3300"/>
            </a:solidFill>
            <a:round/>
            <a:headEnd/>
            <a:tailEnd/>
          </a:ln>
        </p:spPr>
        <p:txBody>
          <a:bodyPr/>
          <a:lstStyle/>
          <a:p>
            <a:pPr eaLnBrk="1" hangingPunct="1">
              <a:defRPr/>
            </a:pPr>
            <a:endParaRPr lang="zh-CN" altLang="en-US" sz="2800">
              <a:solidFill>
                <a:srgbClr val="104E87"/>
              </a:solidFill>
              <a:latin typeface="Comic Sans MS" panose="030F0702030302020204" pitchFamily="66" charset="0"/>
              <a:ea typeface="黑体" panose="02010609060101010101" pitchFamily="49" charset="-122"/>
            </a:endParaRPr>
          </a:p>
        </p:txBody>
      </p:sp>
      <p:sp>
        <p:nvSpPr>
          <p:cNvPr id="29" name="AutoShape 9">
            <a:extLst>
              <a:ext uri="{FF2B5EF4-FFF2-40B4-BE49-F238E27FC236}">
                <a16:creationId xmlns:a16="http://schemas.microsoft.com/office/drawing/2014/main" id="{35A9BA1D-7F3A-4B43-9229-7E25C2965E99}"/>
              </a:ext>
            </a:extLst>
          </p:cNvPr>
          <p:cNvSpPr>
            <a:spLocks/>
          </p:cNvSpPr>
          <p:nvPr/>
        </p:nvSpPr>
        <p:spPr bwMode="auto">
          <a:xfrm>
            <a:off x="428625" y="5218420"/>
            <a:ext cx="198437" cy="1384300"/>
          </a:xfrm>
          <a:prstGeom prst="leftBrace">
            <a:avLst>
              <a:gd name="adj1" fmla="val 22135"/>
              <a:gd name="adj2" fmla="val 52343"/>
            </a:avLst>
          </a:prstGeom>
          <a:noFill/>
          <a:ln w="12700">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rgbClr val="104E87"/>
              </a:solidFill>
              <a:latin typeface="Comic Sans MS" panose="030F0702030302020204" pitchFamily="66" charset="0"/>
              <a:ea typeface="宋体" panose="02010600030101010101" pitchFamily="2" charset="-122"/>
            </a:endParaRPr>
          </a:p>
        </p:txBody>
      </p:sp>
      <p:sp>
        <p:nvSpPr>
          <p:cNvPr id="30" name="Text Box 10">
            <a:extLst>
              <a:ext uri="{FF2B5EF4-FFF2-40B4-BE49-F238E27FC236}">
                <a16:creationId xmlns:a16="http://schemas.microsoft.com/office/drawing/2014/main" id="{3EF83E9A-408E-490C-8185-98ABBA6C7982}"/>
              </a:ext>
            </a:extLst>
          </p:cNvPr>
          <p:cNvSpPr txBox="1">
            <a:spLocks noChangeArrowheads="1"/>
          </p:cNvSpPr>
          <p:nvPr/>
        </p:nvSpPr>
        <p:spPr bwMode="auto">
          <a:xfrm>
            <a:off x="0" y="5374942"/>
            <a:ext cx="5762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dirty="0">
                <a:solidFill>
                  <a:srgbClr val="104E87"/>
                </a:solidFill>
                <a:latin typeface="华光隶变_CNKI" panose="02000500000000000000" pitchFamily="2" charset="-122"/>
                <a:ea typeface="华光隶变_CNKI" panose="02000500000000000000" pitchFamily="2" charset="-122"/>
              </a:rPr>
              <a:t>增加</a:t>
            </a:r>
          </a:p>
        </p:txBody>
      </p:sp>
      <p:sp>
        <p:nvSpPr>
          <p:cNvPr id="31" name="Rectangle 8">
            <a:extLst>
              <a:ext uri="{FF2B5EF4-FFF2-40B4-BE49-F238E27FC236}">
                <a16:creationId xmlns:a16="http://schemas.microsoft.com/office/drawing/2014/main" id="{5126FE1F-45BE-4270-BF90-914952833DD5}"/>
              </a:ext>
            </a:extLst>
          </p:cNvPr>
          <p:cNvSpPr>
            <a:spLocks noChangeArrowheads="1"/>
          </p:cNvSpPr>
          <p:nvPr/>
        </p:nvSpPr>
        <p:spPr bwMode="auto">
          <a:xfrm>
            <a:off x="731456" y="3373292"/>
            <a:ext cx="5689965" cy="3083921"/>
          </a:xfrm>
          <a:prstGeom prst="rect">
            <a:avLst/>
          </a:prstGeom>
          <a:noFill/>
          <a:ln>
            <a:solidFill>
              <a:srgbClr val="104E87"/>
            </a:solidFill>
          </a:ln>
        </p:spPr>
        <p:txBody>
          <a:bodyPr wrap="squar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eaLnBrk="1" hangingPunct="1">
              <a:lnSpc>
                <a:spcPct val="90000"/>
              </a:lnSpc>
              <a:spcBef>
                <a:spcPts val="0"/>
              </a:spcBef>
              <a:buClrTx/>
              <a:buSzTx/>
              <a:buFontTx/>
              <a:buNone/>
              <a:defRPr/>
            </a:pPr>
            <a:r>
              <a:rPr lang="zh-CN" altLang="en-US" sz="2400" dirty="0">
                <a:solidFill>
                  <a:srgbClr val="FF0000"/>
                </a:solidFill>
                <a:latin typeface="Comic Sans MS" panose="030F0702030302020204" pitchFamily="66" charset="0"/>
              </a:rPr>
              <a:t> </a:t>
            </a:r>
            <a:r>
              <a:rPr lang="en-US" altLang="zh-CN" sz="2400" dirty="0">
                <a:solidFill>
                  <a:srgbClr val="FF0000"/>
                </a:solidFill>
                <a:latin typeface="Comic Sans MS" panose="030F0702030302020204" pitchFamily="66" charset="0"/>
                <a:sym typeface="Wingdings" pitchFamily="2" charset="2"/>
              </a:rPr>
              <a:t>X</a:t>
            </a:r>
            <a:r>
              <a:rPr lang="en-US" altLang="zh-CN" sz="2400" dirty="0">
                <a:solidFill>
                  <a:srgbClr val="FF0000"/>
                </a:solidFill>
                <a:latin typeface="Comic Sans MS" panose="030F0702030302020204" pitchFamily="66" charset="0"/>
              </a:rPr>
              <a:t>  x,y</a:t>
            </a:r>
          </a:p>
          <a:p>
            <a:pPr>
              <a:lnSpc>
                <a:spcPct val="90000"/>
              </a:lnSpc>
              <a:spcBef>
                <a:spcPts val="0"/>
              </a:spcBef>
              <a:buFont typeface="Wingdings" pitchFamily="2" charset="2"/>
              <a:buNone/>
              <a:defRPr/>
            </a:pPr>
            <a:r>
              <a:rPr lang="en-US" altLang="zh-CN" sz="2400" dirty="0">
                <a:solidFill>
                  <a:srgbClr val="FF0000"/>
                </a:solidFill>
                <a:latin typeface="Comic Sans MS" panose="030F0702030302020204" pitchFamily="66" charset="0"/>
              </a:rPr>
              <a:t>- void </a:t>
            </a:r>
            <a:r>
              <a:rPr lang="en-US" altLang="zh-CN" sz="2400" dirty="0" err="1">
                <a:solidFill>
                  <a:srgbClr val="FF0000"/>
                </a:solidFill>
                <a:latin typeface="Comic Sans MS" panose="030F0702030302020204" pitchFamily="66" charset="0"/>
              </a:rPr>
              <a:t>setPoint</a:t>
            </a:r>
            <a:r>
              <a:rPr lang="en-US" altLang="zh-CN" sz="2400" dirty="0">
                <a:solidFill>
                  <a:srgbClr val="FF0000"/>
                </a:solidFill>
                <a:latin typeface="Comic Sans MS" panose="030F0702030302020204" pitchFamily="66" charset="0"/>
              </a:rPr>
              <a:t>(float x = 0, float y = 0)</a:t>
            </a:r>
            <a:endParaRPr lang="zh-CN" altLang="en-US" sz="2400" dirty="0">
              <a:solidFill>
                <a:srgbClr val="FF0000"/>
              </a:solidFill>
              <a:latin typeface="Comic Sans MS" panose="030F0702030302020204" pitchFamily="66" charset="0"/>
            </a:endParaRPr>
          </a:p>
          <a:p>
            <a:pPr>
              <a:lnSpc>
                <a:spcPct val="90000"/>
              </a:lnSpc>
              <a:spcBef>
                <a:spcPts val="0"/>
              </a:spcBef>
              <a:buFont typeface="Wingdings" pitchFamily="2" charset="2"/>
              <a:buNone/>
              <a:defRPr/>
            </a:pPr>
            <a:r>
              <a:rPr lang="en-US" altLang="zh-CN" sz="2400" dirty="0">
                <a:solidFill>
                  <a:srgbClr val="FF0000"/>
                </a:solidFill>
                <a:latin typeface="Comic Sans MS" panose="030F0702030302020204" pitchFamily="66" charset="0"/>
              </a:rPr>
              <a:t>- void move(float offX, float offY)</a:t>
            </a:r>
          </a:p>
          <a:p>
            <a:pPr>
              <a:lnSpc>
                <a:spcPct val="90000"/>
              </a:lnSpc>
              <a:spcBef>
                <a:spcPts val="0"/>
              </a:spcBef>
              <a:buFont typeface="Wingdings" pitchFamily="2" charset="2"/>
              <a:buNone/>
              <a:defRPr/>
            </a:pPr>
            <a:r>
              <a:rPr lang="en-US" altLang="zh-CN" sz="2400" dirty="0">
                <a:solidFill>
                  <a:srgbClr val="FF0000"/>
                </a:solidFill>
                <a:latin typeface="Comic Sans MS" panose="030F0702030302020204" pitchFamily="66" charset="0"/>
              </a:rPr>
              <a:t>- float getX() </a:t>
            </a:r>
          </a:p>
          <a:p>
            <a:pPr>
              <a:lnSpc>
                <a:spcPct val="90000"/>
              </a:lnSpc>
              <a:spcBef>
                <a:spcPts val="0"/>
              </a:spcBef>
              <a:buFont typeface="Wingdings" pitchFamily="2" charset="2"/>
              <a:buNone/>
              <a:defRPr/>
            </a:pPr>
            <a:r>
              <a:rPr lang="en-US" altLang="zh-CN" sz="2400" dirty="0">
                <a:solidFill>
                  <a:srgbClr val="FF0000"/>
                </a:solidFill>
                <a:latin typeface="Comic Sans MS" panose="030F0702030302020204" pitchFamily="66" charset="0"/>
              </a:rPr>
              <a:t>- float </a:t>
            </a:r>
            <a:r>
              <a:rPr lang="en-US" altLang="zh-CN" sz="2400" dirty="0" err="1">
                <a:solidFill>
                  <a:srgbClr val="FF0000"/>
                </a:solidFill>
                <a:latin typeface="Comic Sans MS" panose="030F0702030302020204" pitchFamily="66" charset="0"/>
              </a:rPr>
              <a:t>getY</a:t>
            </a:r>
            <a:r>
              <a:rPr lang="en-US" altLang="zh-CN" sz="2400" dirty="0">
                <a:solidFill>
                  <a:srgbClr val="FF0000"/>
                </a:solidFill>
                <a:latin typeface="Comic Sans MS" panose="030F0702030302020204" pitchFamily="66" charset="0"/>
              </a:rPr>
              <a:t>()</a:t>
            </a:r>
          </a:p>
          <a:p>
            <a:pPr>
              <a:lnSpc>
                <a:spcPct val="90000"/>
              </a:lnSpc>
              <a:spcBef>
                <a:spcPts val="0"/>
              </a:spcBef>
              <a:buNone/>
              <a:defRPr/>
            </a:pPr>
            <a:r>
              <a:rPr kumimoji="1" lang="en-US" altLang="zh-CN" sz="2400" spc="-150" dirty="0">
                <a:solidFill>
                  <a:srgbClr val="104E87"/>
                </a:solidFill>
                <a:latin typeface="Comic Sans MS" panose="030F0702030302020204" pitchFamily="66" charset="0"/>
                <a:ea typeface="宋体" pitchFamily="2" charset="-122"/>
              </a:rPr>
              <a:t>+</a:t>
            </a:r>
            <a:r>
              <a:rPr kumimoji="1" lang="zh-CN" altLang="en-US" sz="2400" spc="-150" dirty="0">
                <a:solidFill>
                  <a:srgbClr val="104E87"/>
                </a:solidFill>
                <a:latin typeface="Comic Sans MS" panose="030F0702030302020204" pitchFamily="66" charset="0"/>
                <a:ea typeface="宋体" pitchFamily="2" charset="-122"/>
              </a:rPr>
              <a:t> void </a:t>
            </a:r>
            <a:r>
              <a:rPr kumimoji="1" lang="en-US" altLang="zh-CN" sz="2400" spc="-150" dirty="0">
                <a:solidFill>
                  <a:srgbClr val="104E87"/>
                </a:solidFill>
                <a:latin typeface="Comic Sans MS" panose="030F0702030302020204" pitchFamily="66" charset="0"/>
                <a:ea typeface="宋体" pitchFamily="2" charset="-122"/>
              </a:rPr>
              <a:t>set</a:t>
            </a:r>
            <a:r>
              <a:rPr kumimoji="1" lang="zh-CN" altLang="en-US" sz="2400" spc="-150" dirty="0">
                <a:solidFill>
                  <a:srgbClr val="104E87"/>
                </a:solidFill>
                <a:latin typeface="Comic Sans MS" panose="030F0702030302020204" pitchFamily="66" charset="0"/>
                <a:ea typeface="宋体" pitchFamily="2" charset="-122"/>
              </a:rPr>
              <a:t>Rectangle(float, float, float, float ) </a:t>
            </a:r>
            <a:endParaRPr kumimoji="1" lang="en-US" altLang="zh-CN" sz="2400" spc="-150" dirty="0">
              <a:solidFill>
                <a:srgbClr val="104E87"/>
              </a:solidFill>
              <a:latin typeface="Comic Sans MS" panose="030F0702030302020204" pitchFamily="66" charset="0"/>
              <a:ea typeface="宋体" pitchFamily="2" charset="-122"/>
            </a:endParaRPr>
          </a:p>
          <a:p>
            <a:pPr>
              <a:lnSpc>
                <a:spcPct val="90000"/>
              </a:lnSpc>
              <a:spcBef>
                <a:spcPts val="0"/>
              </a:spcBef>
              <a:buNone/>
              <a:defRPr/>
            </a:pPr>
            <a:r>
              <a:rPr kumimoji="1" lang="en-US" altLang="zh-CN" sz="2400" dirty="0">
                <a:solidFill>
                  <a:srgbClr val="104E87"/>
                </a:solidFill>
                <a:latin typeface="Comic Sans MS" panose="030F0702030302020204" pitchFamily="66" charset="0"/>
                <a:ea typeface="宋体" pitchFamily="2" charset="-122"/>
              </a:rPr>
              <a:t>+</a:t>
            </a:r>
            <a:r>
              <a:rPr kumimoji="1" lang="zh-CN" altLang="en-US" sz="2400" dirty="0">
                <a:solidFill>
                  <a:srgbClr val="104E87"/>
                </a:solidFill>
                <a:latin typeface="Comic Sans MS" panose="030F0702030302020204" pitchFamily="66" charset="0"/>
                <a:ea typeface="宋体" pitchFamily="2" charset="-122"/>
              </a:rPr>
              <a:t> float getH() const </a:t>
            </a:r>
            <a:endParaRPr kumimoji="1" lang="en-US" altLang="zh-CN" sz="2400" dirty="0">
              <a:solidFill>
                <a:srgbClr val="104E87"/>
              </a:solidFill>
              <a:latin typeface="Comic Sans MS" panose="030F0702030302020204" pitchFamily="66" charset="0"/>
              <a:ea typeface="宋体" pitchFamily="2" charset="-122"/>
            </a:endParaRPr>
          </a:p>
          <a:p>
            <a:pPr>
              <a:lnSpc>
                <a:spcPct val="90000"/>
              </a:lnSpc>
              <a:spcBef>
                <a:spcPts val="0"/>
              </a:spcBef>
              <a:buNone/>
              <a:defRPr/>
            </a:pPr>
            <a:r>
              <a:rPr kumimoji="1" lang="en-US" altLang="zh-CN" sz="2400" dirty="0">
                <a:solidFill>
                  <a:srgbClr val="104E87"/>
                </a:solidFill>
                <a:latin typeface="Comic Sans MS" panose="030F0702030302020204" pitchFamily="66" charset="0"/>
                <a:ea typeface="宋体" pitchFamily="2" charset="-122"/>
              </a:rPr>
              <a:t>+</a:t>
            </a:r>
            <a:r>
              <a:rPr kumimoji="1" lang="zh-CN" altLang="en-US" sz="2400" dirty="0">
                <a:solidFill>
                  <a:srgbClr val="104E87"/>
                </a:solidFill>
                <a:latin typeface="Comic Sans MS" panose="030F0702030302020204" pitchFamily="66" charset="0"/>
                <a:ea typeface="宋体" pitchFamily="2" charset="-122"/>
              </a:rPr>
              <a:t> float getW() cons</a:t>
            </a:r>
            <a:endParaRPr kumimoji="1" lang="en-US" altLang="zh-CN" sz="2400" dirty="0">
              <a:solidFill>
                <a:srgbClr val="104E87"/>
              </a:solidFill>
              <a:latin typeface="Comic Sans MS" panose="030F0702030302020204" pitchFamily="66" charset="0"/>
              <a:ea typeface="宋体" pitchFamily="2" charset="-122"/>
            </a:endParaRPr>
          </a:p>
          <a:p>
            <a:pPr>
              <a:lnSpc>
                <a:spcPct val="90000"/>
              </a:lnSpc>
              <a:spcBef>
                <a:spcPts val="0"/>
              </a:spcBef>
              <a:buNone/>
              <a:defRPr/>
            </a:pPr>
            <a:r>
              <a:rPr kumimoji="1" lang="en-US" altLang="zh-CN" sz="2400" dirty="0">
                <a:solidFill>
                  <a:srgbClr val="104E87"/>
                </a:solidFill>
                <a:latin typeface="Comic Sans MS" panose="030F0702030302020204" pitchFamily="66" charset="0"/>
                <a:ea typeface="宋体" pitchFamily="2" charset="-122"/>
              </a:rPr>
              <a:t>-float w, h</a:t>
            </a:r>
          </a:p>
        </p:txBody>
      </p:sp>
      <p:sp>
        <p:nvSpPr>
          <p:cNvPr id="16" name="矩形 5">
            <a:extLst>
              <a:ext uri="{FF2B5EF4-FFF2-40B4-BE49-F238E27FC236}">
                <a16:creationId xmlns:a16="http://schemas.microsoft.com/office/drawing/2014/main" id="{917A0907-BBF5-4DEE-A056-A1E38E5FD545}"/>
              </a:ext>
            </a:extLst>
          </p:cNvPr>
          <p:cNvSpPr>
            <a:spLocks noChangeArrowheads="1"/>
          </p:cNvSpPr>
          <p:nvPr/>
        </p:nvSpPr>
        <p:spPr bwMode="auto">
          <a:xfrm>
            <a:off x="7169929" y="347340"/>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u="sng" dirty="0">
                <a:solidFill>
                  <a:srgbClr val="FF0000"/>
                </a:solidFill>
                <a:latin typeface="华光隶变_CNKI" panose="02000500000000000000" pitchFamily="2" charset="-122"/>
                <a:ea typeface="华光隶变_CNKI" panose="02000500000000000000" pitchFamily="2" charset="-122"/>
                <a:cs typeface="Times New Roman" panose="02020603050405020304" pitchFamily="18" charset="0"/>
              </a:rPr>
              <a:t>私有继承</a:t>
            </a:r>
            <a:endParaRPr lang="zh-CN" altLang="en-US" dirty="0">
              <a:latin typeface="华光隶变_CNKI" panose="02000500000000000000" pitchFamily="2" charset="-122"/>
              <a:ea typeface="华光隶变_CNKI" panose="02000500000000000000"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53EE2E66-BFDC-077A-0D07-237D31041230}"/>
              </a:ext>
            </a:extLst>
          </p:cNvPr>
          <p:cNvPicPr>
            <a:picLocks noChangeAspect="1"/>
          </p:cNvPicPr>
          <p:nvPr/>
        </p:nvPicPr>
        <p:blipFill>
          <a:blip r:embed="rId3"/>
          <a:stretch>
            <a:fillRect/>
          </a:stretch>
        </p:blipFill>
        <p:spPr>
          <a:xfrm>
            <a:off x="6301358" y="0"/>
            <a:ext cx="5897406" cy="6858000"/>
          </a:xfrm>
          <a:prstGeom prst="rect">
            <a:avLst/>
          </a:prstGeom>
        </p:spPr>
      </p:pic>
    </p:spTree>
    <p:extLst>
      <p:ext uri="{BB962C8B-B14F-4D97-AF65-F5344CB8AC3E}">
        <p14:creationId xmlns:p14="http://schemas.microsoft.com/office/powerpoint/2010/main" val="350332017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randombar(horizontal)">
                                      <p:cBhvr>
                                        <p:cTn id="15" dur="500"/>
                                        <p:tgtEl>
                                          <p:spTgt spid="27"/>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randombar(horizontal)">
                                      <p:cBhvr>
                                        <p:cTn id="18" dur="500"/>
                                        <p:tgtEl>
                                          <p:spTgt spid="28"/>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randombar(horizontal)">
                                      <p:cBhvr>
                                        <p:cTn id="21" dur="500"/>
                                        <p:tgtEl>
                                          <p:spTgt spid="23"/>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randombar(horizontal)">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500"/>
                                        <p:tgtEl>
                                          <p:spTgt spid="26"/>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left)">
                                      <p:cBhvr>
                                        <p:cTn id="35" dur="500"/>
                                        <p:tgtEl>
                                          <p:spTgt spid="29"/>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left)">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barn(inVertical)">
                                      <p:cBhvr>
                                        <p:cTn id="4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animBg="1"/>
      <p:bldP spid="23" grpId="0"/>
      <p:bldP spid="25" grpId="0" animBg="1"/>
      <p:bldP spid="26" grpId="0"/>
      <p:bldP spid="27" grpId="0" animBg="1"/>
      <p:bldP spid="28" grpId="0" animBg="1"/>
      <p:bldP spid="29" grpId="0" animBg="1"/>
      <p:bldP spid="30" grpId="0"/>
      <p:bldP spid="3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8" y="224527"/>
            <a:ext cx="8208895"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9.2</a:t>
            </a:r>
            <a:r>
              <a:rPr lang="zh-CN" altLang="en-US" dirty="0">
                <a:sym typeface="+mn-lt"/>
              </a:rPr>
              <a:t>继承下的访问控制权</a:t>
            </a:r>
            <a:r>
              <a:rPr lang="en-US" altLang="zh-CN" dirty="0">
                <a:sym typeface="+mn-lt"/>
              </a:rPr>
              <a:t>——</a:t>
            </a:r>
            <a:r>
              <a:rPr lang="zh-CN" altLang="en-US" dirty="0">
                <a:sym typeface="+mn-lt"/>
              </a:rPr>
              <a:t>多继承</a:t>
            </a:r>
          </a:p>
        </p:txBody>
      </p:sp>
      <p:sp>
        <p:nvSpPr>
          <p:cNvPr id="17" name="内容占位符 2">
            <a:extLst>
              <a:ext uri="{FF2B5EF4-FFF2-40B4-BE49-F238E27FC236}">
                <a16:creationId xmlns:a16="http://schemas.microsoft.com/office/drawing/2014/main" id="{AFF090CE-4313-4D2C-8800-94FDB335C20C}"/>
              </a:ext>
            </a:extLst>
          </p:cNvPr>
          <p:cNvSpPr txBox="1">
            <a:spLocks noChangeArrowheads="1"/>
          </p:cNvSpPr>
          <p:nvPr/>
        </p:nvSpPr>
        <p:spPr>
          <a:xfrm>
            <a:off x="-9525" y="926532"/>
            <a:ext cx="3744913" cy="5172075"/>
          </a:xfrm>
          <a:prstGeom prst="rect">
            <a:avLst/>
          </a:prstGeom>
          <a:noFill/>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class A {</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public:</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	void </a:t>
            </a:r>
            <a:r>
              <a:rPr lang="en-US" altLang="zh-CN" sz="2400" dirty="0" err="1">
                <a:solidFill>
                  <a:srgbClr val="104E87"/>
                </a:solidFill>
                <a:latin typeface="Comic Sans MS" panose="030F0702030302020204" pitchFamily="66" charset="0"/>
              </a:rPr>
              <a:t>setA</a:t>
            </a:r>
            <a:r>
              <a:rPr lang="en-US" altLang="zh-CN" sz="2400" dirty="0">
                <a:solidFill>
                  <a:srgbClr val="104E87"/>
                </a:solidFill>
                <a:latin typeface="Comic Sans MS" panose="030F0702030302020204" pitchFamily="66" charset="0"/>
              </a:rPr>
              <a:t>(int);</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	void </a:t>
            </a:r>
            <a:r>
              <a:rPr lang="en-US" altLang="zh-CN" sz="2400" dirty="0" err="1">
                <a:solidFill>
                  <a:srgbClr val="104E87"/>
                </a:solidFill>
                <a:latin typeface="Comic Sans MS" panose="030F0702030302020204" pitchFamily="66" charset="0"/>
              </a:rPr>
              <a:t>showA</a:t>
            </a:r>
            <a:r>
              <a:rPr lang="en-US" altLang="zh-CN" sz="2400" dirty="0">
                <a:solidFill>
                  <a:srgbClr val="104E87"/>
                </a:solidFill>
                <a:latin typeface="Comic Sans MS" panose="030F0702030302020204" pitchFamily="66" charset="0"/>
              </a:rPr>
              <a:t>() const;</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private:</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	int a;</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class B {</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public:</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	void </a:t>
            </a:r>
            <a:r>
              <a:rPr lang="en-US" altLang="zh-CN" sz="2400" dirty="0" err="1">
                <a:solidFill>
                  <a:srgbClr val="104E87"/>
                </a:solidFill>
                <a:latin typeface="Comic Sans MS" panose="030F0702030302020204" pitchFamily="66" charset="0"/>
              </a:rPr>
              <a:t>setB</a:t>
            </a:r>
            <a:r>
              <a:rPr lang="en-US" altLang="zh-CN" sz="2400" dirty="0">
                <a:solidFill>
                  <a:srgbClr val="104E87"/>
                </a:solidFill>
                <a:latin typeface="Comic Sans MS" panose="030F0702030302020204" pitchFamily="66" charset="0"/>
              </a:rPr>
              <a:t>(int);</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	void </a:t>
            </a:r>
            <a:r>
              <a:rPr lang="en-US" altLang="zh-CN" sz="2400" dirty="0" err="1">
                <a:solidFill>
                  <a:srgbClr val="104E87"/>
                </a:solidFill>
                <a:latin typeface="Comic Sans MS" panose="030F0702030302020204" pitchFamily="66" charset="0"/>
              </a:rPr>
              <a:t>showB</a:t>
            </a:r>
            <a:r>
              <a:rPr lang="en-US" altLang="zh-CN" sz="2400" dirty="0">
                <a:solidFill>
                  <a:srgbClr val="104E87"/>
                </a:solidFill>
                <a:latin typeface="Comic Sans MS" panose="030F0702030302020204" pitchFamily="66" charset="0"/>
              </a:rPr>
              <a:t>() const;</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private:</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	int b;</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a:t>
            </a:r>
          </a:p>
          <a:p>
            <a:pPr marL="358775" indent="-250825">
              <a:spcBef>
                <a:spcPct val="0"/>
              </a:spcBef>
              <a:buFont typeface="Wingdings" panose="05000000000000000000" pitchFamily="2" charset="2"/>
              <a:buNone/>
              <a:defRPr/>
            </a:pPr>
            <a:endParaRPr lang="en-US" altLang="zh-CN" sz="2400" dirty="0">
              <a:solidFill>
                <a:srgbClr val="104E87"/>
              </a:solidFill>
              <a:latin typeface="Comic Sans MS" panose="030F0702030302020204" pitchFamily="66" charset="0"/>
            </a:endParaRPr>
          </a:p>
        </p:txBody>
      </p:sp>
      <p:sp>
        <p:nvSpPr>
          <p:cNvPr id="18" name="内容占位符 3">
            <a:extLst>
              <a:ext uri="{FF2B5EF4-FFF2-40B4-BE49-F238E27FC236}">
                <a16:creationId xmlns:a16="http://schemas.microsoft.com/office/drawing/2014/main" id="{5BA2A052-5371-4DE8-B6CC-4A0553F9D9E3}"/>
              </a:ext>
            </a:extLst>
          </p:cNvPr>
          <p:cNvSpPr txBox="1">
            <a:spLocks noChangeArrowheads="1"/>
          </p:cNvSpPr>
          <p:nvPr/>
        </p:nvSpPr>
        <p:spPr>
          <a:xfrm>
            <a:off x="3751263" y="953444"/>
            <a:ext cx="4344742" cy="2792413"/>
          </a:xfrm>
          <a:prstGeom prst="rect">
            <a:avLst/>
          </a:prstGeom>
          <a:noFill/>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class C : public </a:t>
            </a:r>
            <a:r>
              <a:rPr lang="en-US" altLang="zh-CN" sz="2400" dirty="0" err="1">
                <a:solidFill>
                  <a:srgbClr val="104E87"/>
                </a:solidFill>
                <a:latin typeface="Comic Sans MS" panose="030F0702030302020204" pitchFamily="66" charset="0"/>
              </a:rPr>
              <a:t>A,private</a:t>
            </a:r>
            <a:r>
              <a:rPr lang="en-US" altLang="zh-CN" sz="2400" dirty="0">
                <a:solidFill>
                  <a:srgbClr val="104E87"/>
                </a:solidFill>
                <a:latin typeface="Comic Sans MS" panose="030F0702030302020204" pitchFamily="66" charset="0"/>
              </a:rPr>
              <a:t> B{ </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public:</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	void </a:t>
            </a:r>
            <a:r>
              <a:rPr lang="en-US" altLang="zh-CN" sz="2400" dirty="0" err="1">
                <a:solidFill>
                  <a:srgbClr val="104E87"/>
                </a:solidFill>
                <a:latin typeface="Comic Sans MS" panose="030F0702030302020204" pitchFamily="66" charset="0"/>
              </a:rPr>
              <a:t>setC</a:t>
            </a:r>
            <a:r>
              <a:rPr lang="en-US" altLang="zh-CN" sz="2400" dirty="0">
                <a:solidFill>
                  <a:srgbClr val="104E87"/>
                </a:solidFill>
                <a:latin typeface="Comic Sans MS" panose="030F0702030302020204" pitchFamily="66" charset="0"/>
              </a:rPr>
              <a:t>(int, int, int);</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	void </a:t>
            </a:r>
            <a:r>
              <a:rPr lang="en-US" altLang="zh-CN" sz="2400" dirty="0" err="1">
                <a:solidFill>
                  <a:srgbClr val="104E87"/>
                </a:solidFill>
                <a:latin typeface="Comic Sans MS" panose="030F0702030302020204" pitchFamily="66" charset="0"/>
              </a:rPr>
              <a:t>showC</a:t>
            </a:r>
            <a:r>
              <a:rPr lang="en-US" altLang="zh-CN" sz="2400" dirty="0">
                <a:solidFill>
                  <a:srgbClr val="104E87"/>
                </a:solidFill>
                <a:latin typeface="Comic Sans MS" panose="030F0702030302020204" pitchFamily="66" charset="0"/>
              </a:rPr>
              <a:t>() const;</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private:</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	int c;</a:t>
            </a:r>
          </a:p>
          <a:p>
            <a:pPr marL="358775" indent="-250825">
              <a:spcBef>
                <a:spcPct val="0"/>
              </a:spcBef>
              <a:buFont typeface="Wingdings" panose="05000000000000000000" pitchFamily="2" charset="2"/>
              <a:buNone/>
              <a:defRPr/>
            </a:pPr>
            <a:r>
              <a:rPr lang="en-US" altLang="zh-CN" sz="2400" dirty="0">
                <a:solidFill>
                  <a:srgbClr val="104E87"/>
                </a:solidFill>
                <a:latin typeface="Comic Sans MS" panose="030F0702030302020204" pitchFamily="66" charset="0"/>
              </a:rPr>
              <a:t>};</a:t>
            </a:r>
          </a:p>
        </p:txBody>
      </p:sp>
      <p:sp>
        <p:nvSpPr>
          <p:cNvPr id="24" name="内容占位符 3">
            <a:extLst>
              <a:ext uri="{FF2B5EF4-FFF2-40B4-BE49-F238E27FC236}">
                <a16:creationId xmlns:a16="http://schemas.microsoft.com/office/drawing/2014/main" id="{C90624CE-F10C-4F58-A69D-8F482C0B6043}"/>
              </a:ext>
            </a:extLst>
          </p:cNvPr>
          <p:cNvSpPr txBox="1">
            <a:spLocks noChangeArrowheads="1"/>
          </p:cNvSpPr>
          <p:nvPr/>
        </p:nvSpPr>
        <p:spPr>
          <a:xfrm>
            <a:off x="8524082" y="905715"/>
            <a:ext cx="2833748" cy="3754437"/>
          </a:xfrm>
          <a:prstGeom prst="rect">
            <a:avLst/>
          </a:prstGeom>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marL="358775" indent="-250825">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int main() {</a:t>
            </a:r>
          </a:p>
          <a:p>
            <a:pPr marL="358775" indent="-250825">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	C obj;</a:t>
            </a:r>
          </a:p>
          <a:p>
            <a:pPr marL="358775" indent="-250825">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	</a:t>
            </a:r>
            <a:r>
              <a:rPr lang="en-US" altLang="zh-CN" sz="2400" dirty="0" err="1">
                <a:solidFill>
                  <a:srgbClr val="104E87"/>
                </a:solidFill>
                <a:latin typeface="Comic Sans MS" panose="030F0702030302020204" pitchFamily="66" charset="0"/>
              </a:rPr>
              <a:t>obj.setA</a:t>
            </a:r>
            <a:r>
              <a:rPr lang="en-US" altLang="zh-CN" sz="2400" dirty="0">
                <a:solidFill>
                  <a:srgbClr val="104E87"/>
                </a:solidFill>
                <a:latin typeface="Comic Sans MS" panose="030F0702030302020204" pitchFamily="66" charset="0"/>
              </a:rPr>
              <a:t>(5);</a:t>
            </a:r>
          </a:p>
          <a:p>
            <a:pPr marL="358775" indent="-250825">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	</a:t>
            </a:r>
            <a:r>
              <a:rPr lang="en-US" altLang="zh-CN" sz="2400" dirty="0" err="1">
                <a:solidFill>
                  <a:srgbClr val="104E87"/>
                </a:solidFill>
                <a:latin typeface="Comic Sans MS" panose="030F0702030302020204" pitchFamily="66" charset="0"/>
              </a:rPr>
              <a:t>obj.showA</a:t>
            </a:r>
            <a:r>
              <a:rPr lang="en-US" altLang="zh-CN" sz="2400" dirty="0">
                <a:solidFill>
                  <a:srgbClr val="104E87"/>
                </a:solidFill>
                <a:latin typeface="Comic Sans MS" panose="030F0702030302020204" pitchFamily="66" charset="0"/>
              </a:rPr>
              <a:t>();</a:t>
            </a:r>
          </a:p>
          <a:p>
            <a:pPr marL="358775" indent="-250825">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	</a:t>
            </a:r>
            <a:r>
              <a:rPr lang="en-US" altLang="zh-CN" sz="2400" dirty="0" err="1">
                <a:solidFill>
                  <a:srgbClr val="104E87"/>
                </a:solidFill>
                <a:latin typeface="Comic Sans MS" panose="030F0702030302020204" pitchFamily="66" charset="0"/>
              </a:rPr>
              <a:t>obj.setC</a:t>
            </a:r>
            <a:r>
              <a:rPr lang="en-US" altLang="zh-CN" sz="2400" dirty="0">
                <a:solidFill>
                  <a:srgbClr val="104E87"/>
                </a:solidFill>
                <a:latin typeface="Comic Sans MS" panose="030F0702030302020204" pitchFamily="66" charset="0"/>
              </a:rPr>
              <a:t>(6,7,9);</a:t>
            </a:r>
          </a:p>
          <a:p>
            <a:pPr marL="358775" indent="-250825">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	</a:t>
            </a:r>
            <a:r>
              <a:rPr lang="en-US" altLang="zh-CN" sz="2400" dirty="0" err="1">
                <a:solidFill>
                  <a:srgbClr val="104E87"/>
                </a:solidFill>
                <a:latin typeface="Comic Sans MS" panose="030F0702030302020204" pitchFamily="66" charset="0"/>
              </a:rPr>
              <a:t>obj.showC</a:t>
            </a:r>
            <a:r>
              <a:rPr lang="en-US" altLang="zh-CN" sz="2400" dirty="0">
                <a:solidFill>
                  <a:srgbClr val="104E87"/>
                </a:solidFill>
                <a:latin typeface="Comic Sans MS" panose="030F0702030302020204" pitchFamily="66" charset="0"/>
              </a:rPr>
              <a:t>();</a:t>
            </a:r>
          </a:p>
          <a:p>
            <a:pPr marL="358775" indent="-250825">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  </a:t>
            </a:r>
            <a:r>
              <a:rPr lang="en-US" altLang="zh-CN" sz="2400" dirty="0" err="1">
                <a:solidFill>
                  <a:srgbClr val="104E87"/>
                </a:solidFill>
                <a:latin typeface="Comic Sans MS" panose="030F0702030302020204" pitchFamily="66" charset="0"/>
              </a:rPr>
              <a:t>obj.setB</a:t>
            </a:r>
            <a:r>
              <a:rPr lang="en-US" altLang="zh-CN" sz="2400" dirty="0">
                <a:solidFill>
                  <a:srgbClr val="104E87"/>
                </a:solidFill>
                <a:latin typeface="Comic Sans MS" panose="030F0702030302020204" pitchFamily="66" charset="0"/>
              </a:rPr>
              <a:t>(6);  </a:t>
            </a:r>
            <a:endParaRPr lang="zh-CN" altLang="en-US" sz="2400" dirty="0">
              <a:solidFill>
                <a:srgbClr val="104E87"/>
              </a:solidFill>
              <a:latin typeface="Comic Sans MS" panose="030F0702030302020204" pitchFamily="66" charset="0"/>
            </a:endParaRPr>
          </a:p>
          <a:p>
            <a:pPr marL="358775" indent="-250825">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  </a:t>
            </a:r>
            <a:r>
              <a:rPr lang="en-US" altLang="zh-CN" sz="2400" dirty="0" err="1">
                <a:solidFill>
                  <a:srgbClr val="104E87"/>
                </a:solidFill>
                <a:latin typeface="Comic Sans MS" panose="030F0702030302020204" pitchFamily="66" charset="0"/>
              </a:rPr>
              <a:t>obj.showB</a:t>
            </a:r>
            <a:r>
              <a:rPr lang="en-US" altLang="zh-CN" sz="2400" dirty="0">
                <a:solidFill>
                  <a:srgbClr val="104E87"/>
                </a:solidFill>
                <a:latin typeface="Comic Sans MS" panose="030F0702030302020204" pitchFamily="66" charset="0"/>
              </a:rPr>
              <a:t>(); </a:t>
            </a:r>
            <a:endParaRPr lang="zh-CN" altLang="en-US" sz="2400" dirty="0">
              <a:solidFill>
                <a:srgbClr val="104E87"/>
              </a:solidFill>
              <a:latin typeface="Comic Sans MS" panose="030F0702030302020204" pitchFamily="66" charset="0"/>
            </a:endParaRPr>
          </a:p>
          <a:p>
            <a:pPr marL="358775" indent="-250825">
              <a:spcBef>
                <a:spcPct val="0"/>
              </a:spcBef>
              <a:buFont typeface="Wingdings" panose="05000000000000000000" pitchFamily="2" charset="2"/>
              <a:buNone/>
            </a:pPr>
            <a:r>
              <a:rPr lang="zh-CN" altLang="en-US" sz="2400" dirty="0">
                <a:solidFill>
                  <a:srgbClr val="104E87"/>
                </a:solidFill>
                <a:latin typeface="Comic Sans MS" panose="030F0702030302020204" pitchFamily="66" charset="0"/>
              </a:rPr>
              <a:t>	</a:t>
            </a:r>
            <a:r>
              <a:rPr lang="en-US" altLang="zh-CN" sz="2400" dirty="0">
                <a:solidFill>
                  <a:srgbClr val="104E87"/>
                </a:solidFill>
                <a:latin typeface="Comic Sans MS" panose="030F0702030302020204" pitchFamily="66" charset="0"/>
              </a:rPr>
              <a:t>return 0;</a:t>
            </a:r>
          </a:p>
          <a:p>
            <a:pPr marL="358775" indent="-250825">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a:t>
            </a:r>
          </a:p>
        </p:txBody>
      </p:sp>
      <p:sp>
        <p:nvSpPr>
          <p:cNvPr id="32" name="Rectangle 4">
            <a:extLst>
              <a:ext uri="{FF2B5EF4-FFF2-40B4-BE49-F238E27FC236}">
                <a16:creationId xmlns:a16="http://schemas.microsoft.com/office/drawing/2014/main" id="{1D6A8CF7-6D2E-4CAB-A694-BAB0365539F2}"/>
              </a:ext>
            </a:extLst>
          </p:cNvPr>
          <p:cNvSpPr>
            <a:spLocks noChangeArrowheads="1"/>
          </p:cNvSpPr>
          <p:nvPr/>
        </p:nvSpPr>
        <p:spPr bwMode="auto">
          <a:xfrm>
            <a:off x="10660918" y="2901101"/>
            <a:ext cx="696912" cy="708025"/>
          </a:xfrm>
          <a:prstGeom prst="rect">
            <a:avLst/>
          </a:prstGeom>
          <a:noFill/>
          <a:ln w="9525">
            <a:noFill/>
            <a:miter lim="800000"/>
            <a:headEnd/>
            <a:tailEnd/>
          </a:ln>
        </p:spPr>
        <p:txBody>
          <a:bodyPr wrap="none">
            <a:spAutoFit/>
          </a:bodyPr>
          <a:lstStyle/>
          <a:p>
            <a:pPr eaLnBrk="1" hangingPunct="1">
              <a:defRPr/>
            </a:pPr>
            <a:r>
              <a:rPr kumimoji="1" lang="en-US" altLang="zh-CN" sz="4000" dirty="0">
                <a:solidFill>
                  <a:srgbClr val="FF0000"/>
                </a:solidFill>
                <a:latin typeface="华文琥珀" panose="02010800040101010101" pitchFamily="2" charset="-122"/>
                <a:ea typeface="华文琥珀" panose="02010800040101010101" pitchFamily="2" charset="-122"/>
              </a:rPr>
              <a:t>×</a:t>
            </a:r>
            <a:endParaRPr kumimoji="1" lang="zh-CN" altLang="en-US" sz="2800" dirty="0">
              <a:solidFill>
                <a:srgbClr val="FF0000"/>
              </a:solidFill>
              <a:latin typeface="+mn-lt"/>
              <a:ea typeface="黑体" panose="02010609060101010101" pitchFamily="49" charset="-122"/>
            </a:endParaRPr>
          </a:p>
        </p:txBody>
      </p:sp>
      <p:sp>
        <p:nvSpPr>
          <p:cNvPr id="33" name="Rectangle 4">
            <a:extLst>
              <a:ext uri="{FF2B5EF4-FFF2-40B4-BE49-F238E27FC236}">
                <a16:creationId xmlns:a16="http://schemas.microsoft.com/office/drawing/2014/main" id="{62DF671F-CF08-4341-9C23-EC4BD9831A41}"/>
              </a:ext>
            </a:extLst>
          </p:cNvPr>
          <p:cNvSpPr>
            <a:spLocks noChangeArrowheads="1"/>
          </p:cNvSpPr>
          <p:nvPr/>
        </p:nvSpPr>
        <p:spPr bwMode="auto">
          <a:xfrm>
            <a:off x="10645043" y="3332901"/>
            <a:ext cx="696912" cy="708025"/>
          </a:xfrm>
          <a:prstGeom prst="rect">
            <a:avLst/>
          </a:prstGeom>
          <a:noFill/>
          <a:ln w="9525">
            <a:noFill/>
            <a:miter lim="800000"/>
            <a:headEnd/>
            <a:tailEnd/>
          </a:ln>
        </p:spPr>
        <p:txBody>
          <a:bodyPr wrap="none">
            <a:spAutoFit/>
          </a:bodyPr>
          <a:lstStyle/>
          <a:p>
            <a:pPr eaLnBrk="1" hangingPunct="1">
              <a:defRPr/>
            </a:pPr>
            <a:r>
              <a:rPr kumimoji="1" lang="en-US" altLang="zh-CN" sz="4000" dirty="0">
                <a:solidFill>
                  <a:srgbClr val="FF0000"/>
                </a:solidFill>
                <a:latin typeface="华文琥珀" panose="02010800040101010101" pitchFamily="2" charset="-122"/>
                <a:ea typeface="华文琥珀" panose="02010800040101010101" pitchFamily="2" charset="-122"/>
              </a:rPr>
              <a:t>×</a:t>
            </a:r>
            <a:endParaRPr kumimoji="1" lang="zh-CN" altLang="en-US" sz="2800" dirty="0">
              <a:solidFill>
                <a:srgbClr val="FF0000"/>
              </a:solidFill>
              <a:latin typeface="+mn-lt"/>
              <a:ea typeface="黑体" panose="02010609060101010101" pitchFamily="49" charset="-122"/>
            </a:endParaRPr>
          </a:p>
        </p:txBody>
      </p:sp>
    </p:spTree>
    <p:extLst>
      <p:ext uri="{BB962C8B-B14F-4D97-AF65-F5344CB8AC3E}">
        <p14:creationId xmlns:p14="http://schemas.microsoft.com/office/powerpoint/2010/main" val="3132745721"/>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1+#ppt_w/2"/>
                                          </p:val>
                                        </p:tav>
                                        <p:tav tm="100000">
                                          <p:val>
                                            <p:strVal val="#ppt_x"/>
                                          </p:val>
                                        </p:tav>
                                      </p:tavLst>
                                    </p:anim>
                                    <p:anim calcmode="lin" valueType="num">
                                      <p:cBhvr additive="base">
                                        <p:cTn id="8"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additive="base">
                                        <p:cTn id="13" dur="500" fill="hold"/>
                                        <p:tgtEl>
                                          <p:spTgt spid="33"/>
                                        </p:tgtEl>
                                        <p:attrNameLst>
                                          <p:attrName>ppt_x</p:attrName>
                                        </p:attrNameLst>
                                      </p:cBhvr>
                                      <p:tavLst>
                                        <p:tav tm="0">
                                          <p:val>
                                            <p:strVal val="1+#ppt_w/2"/>
                                          </p:val>
                                        </p:tav>
                                        <p:tav tm="100000">
                                          <p:val>
                                            <p:strVal val="#ppt_x"/>
                                          </p:val>
                                        </p:tav>
                                      </p:tavLst>
                                    </p:anim>
                                    <p:anim calcmode="lin" valueType="num">
                                      <p:cBhvr additive="base">
                                        <p:cTn id="14"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3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9.3</a:t>
            </a:r>
            <a:r>
              <a:rPr lang="zh-CN" altLang="en-US" dirty="0">
                <a:sym typeface="+mn-lt"/>
              </a:rPr>
              <a:t>类兼容性</a:t>
            </a:r>
          </a:p>
        </p:txBody>
      </p:sp>
      <p:sp>
        <p:nvSpPr>
          <p:cNvPr id="10" name="矩形 2">
            <a:extLst>
              <a:ext uri="{FF2B5EF4-FFF2-40B4-BE49-F238E27FC236}">
                <a16:creationId xmlns:a16="http://schemas.microsoft.com/office/drawing/2014/main" id="{BA882A77-79CD-4297-9372-571F1EA211E8}"/>
              </a:ext>
            </a:extLst>
          </p:cNvPr>
          <p:cNvSpPr>
            <a:spLocks noChangeArrowheads="1"/>
          </p:cNvSpPr>
          <p:nvPr/>
        </p:nvSpPr>
        <p:spPr bwMode="auto">
          <a:xfrm>
            <a:off x="23743" y="930246"/>
            <a:ext cx="11498804" cy="1200329"/>
          </a:xfrm>
          <a:prstGeom prst="rect">
            <a:avLst/>
          </a:prstGeom>
          <a:noFill/>
          <a:ln>
            <a:noFill/>
          </a:ln>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b="0" spc="-100" dirty="0">
                <a:solidFill>
                  <a:srgbClr val="104E87"/>
                </a:solidFill>
                <a:latin typeface="华光行书_CNKI" panose="02000500000000000000" pitchFamily="2" charset="-122"/>
                <a:ea typeface="华光行书_CNKI" panose="02000500000000000000" pitchFamily="2" charset="-122"/>
              </a:rPr>
              <a:t>通过</a:t>
            </a:r>
            <a:r>
              <a:rPr kumimoji="1" lang="zh-CN" altLang="en-US" b="0" spc="-100" dirty="0">
                <a:solidFill>
                  <a:srgbClr val="FF0000"/>
                </a:solidFill>
                <a:latin typeface="华光行书_CNKI" panose="02000500000000000000" pitchFamily="2" charset="-122"/>
                <a:ea typeface="华光行书_CNKI" panose="02000500000000000000" pitchFamily="2" charset="-122"/>
              </a:rPr>
              <a:t>公有继承</a:t>
            </a:r>
            <a:r>
              <a:rPr kumimoji="1" lang="en-US" altLang="zh-CN" spc="-100" dirty="0">
                <a:solidFill>
                  <a:srgbClr val="104E87"/>
                </a:solidFill>
                <a:latin typeface="华光行书_CNKI" panose="02000500000000000000" pitchFamily="2" charset="-122"/>
                <a:ea typeface="华光行书_CNKI" panose="02000500000000000000" pitchFamily="2" charset="-122"/>
              </a:rPr>
              <a:t>,</a:t>
            </a:r>
            <a:r>
              <a:rPr kumimoji="1" lang="zh-CN" altLang="en-US" b="0" spc="-100" dirty="0">
                <a:solidFill>
                  <a:srgbClr val="104E87"/>
                </a:solidFill>
                <a:latin typeface="华光行书_CNKI" panose="02000500000000000000" pitchFamily="2" charset="-122"/>
                <a:ea typeface="华光行书_CNKI" panose="02000500000000000000" pitchFamily="2" charset="-122"/>
              </a:rPr>
              <a:t>派生类拥有基类中除构造函数、析构函数之外的所有成员</a:t>
            </a:r>
            <a:r>
              <a:rPr kumimoji="1" lang="en-US" altLang="zh-CN" b="0" spc="-100" dirty="0">
                <a:solidFill>
                  <a:srgbClr val="104E87"/>
                </a:solidFill>
                <a:latin typeface="华光行书_CNKI" panose="02000500000000000000" pitchFamily="2" charset="-122"/>
                <a:ea typeface="华光行书_CNKI" panose="02000500000000000000" pitchFamily="2" charset="-122"/>
              </a:rPr>
              <a:t>,</a:t>
            </a:r>
            <a:r>
              <a:rPr kumimoji="1" lang="zh-CN" altLang="en-US" b="0" spc="-100" dirty="0">
                <a:solidFill>
                  <a:srgbClr val="104E87"/>
                </a:solidFill>
                <a:latin typeface="华光行书_CNKI" panose="02000500000000000000" pitchFamily="2" charset="-122"/>
                <a:ea typeface="华光行书_CNKI" panose="02000500000000000000" pitchFamily="2" charset="-122"/>
              </a:rPr>
              <a:t>且所有成员的访问控制属性也和基类基本相同</a:t>
            </a:r>
            <a:r>
              <a:rPr kumimoji="1" lang="en-US" altLang="zh-CN" b="0" spc="-100" dirty="0">
                <a:solidFill>
                  <a:srgbClr val="104E87"/>
                </a:solidFill>
                <a:latin typeface="华光行书_CNKI" panose="02000500000000000000" pitchFamily="2" charset="-122"/>
                <a:ea typeface="华光行书_CNKI" panose="02000500000000000000" pitchFamily="2" charset="-122"/>
              </a:rPr>
              <a:t>(</a:t>
            </a:r>
            <a:r>
              <a:rPr kumimoji="1" lang="zh-CN" altLang="en-US" b="0" spc="-100" dirty="0">
                <a:solidFill>
                  <a:srgbClr val="104E87"/>
                </a:solidFill>
                <a:latin typeface="华光行书_CNKI" panose="02000500000000000000" pitchFamily="2" charset="-122"/>
                <a:ea typeface="华光行书_CNKI" panose="02000500000000000000" pitchFamily="2" charset="-122"/>
              </a:rPr>
              <a:t>私有除外</a:t>
            </a:r>
            <a:r>
              <a:rPr kumimoji="1" lang="en-US" altLang="zh-CN" b="0" spc="-100" dirty="0">
                <a:solidFill>
                  <a:srgbClr val="104E87"/>
                </a:solidFill>
                <a:latin typeface="华光行书_CNKI" panose="02000500000000000000" pitchFamily="2" charset="-122"/>
                <a:ea typeface="华光行书_CNKI" panose="02000500000000000000" pitchFamily="2" charset="-122"/>
              </a:rPr>
              <a:t>)</a:t>
            </a:r>
            <a:r>
              <a:rPr kumimoji="1" lang="zh-CN" altLang="en-US" b="0" spc="-100" dirty="0">
                <a:solidFill>
                  <a:srgbClr val="104E87"/>
                </a:solidFill>
                <a:latin typeface="华光行书_CNKI" panose="02000500000000000000" pitchFamily="2" charset="-122"/>
                <a:ea typeface="华光行书_CNKI" panose="02000500000000000000" pitchFamily="2" charset="-122"/>
              </a:rPr>
              <a:t>。因此</a:t>
            </a:r>
            <a:r>
              <a:rPr kumimoji="1" lang="en-US" altLang="zh-CN" b="0" spc="-100" dirty="0">
                <a:solidFill>
                  <a:srgbClr val="104E87"/>
                </a:solidFill>
                <a:latin typeface="华光行书_CNKI" panose="02000500000000000000" pitchFamily="2" charset="-122"/>
                <a:ea typeface="华光行书_CNKI" panose="02000500000000000000" pitchFamily="2" charset="-122"/>
              </a:rPr>
              <a:t>,</a:t>
            </a:r>
            <a:r>
              <a:rPr kumimoji="1" lang="zh-CN" altLang="en-US" b="0" spc="-100" dirty="0">
                <a:solidFill>
                  <a:srgbClr val="104E87"/>
                </a:solidFill>
                <a:latin typeface="华光行书_CNKI" panose="02000500000000000000" pitchFamily="2" charset="-122"/>
                <a:ea typeface="华光行书_CNKI" panose="02000500000000000000" pitchFamily="2" charset="-122"/>
              </a:rPr>
              <a:t>公有派生类具备基类的所有功能。</a:t>
            </a:r>
            <a:endParaRPr kumimoji="1" lang="en-US" altLang="zh-CN" b="0" spc="-100" dirty="0">
              <a:solidFill>
                <a:srgbClr val="104E87"/>
              </a:solidFill>
              <a:latin typeface="华光行书_CNKI" panose="02000500000000000000" pitchFamily="2" charset="-122"/>
              <a:ea typeface="华光行书_CNKI" panose="02000500000000000000" pitchFamily="2" charset="-122"/>
            </a:endParaRPr>
          </a:p>
          <a:p>
            <a:pPr eaLnBrk="1" hangingPunct="1"/>
            <a:r>
              <a:rPr kumimoji="1" lang="zh-CN" altLang="en-US" b="0" spc="-100" dirty="0">
                <a:solidFill>
                  <a:srgbClr val="FF0000"/>
                </a:solidFill>
                <a:latin typeface="华光行书_CNKI" panose="02000500000000000000" pitchFamily="2" charset="-122"/>
                <a:ea typeface="华光行书_CNKI" panose="02000500000000000000" pitchFamily="2" charset="-122"/>
              </a:rPr>
              <a:t>类兼容性：凡是需要基类对象的地方，都可用公有派生类对象来替代。</a:t>
            </a:r>
          </a:p>
        </p:txBody>
      </p:sp>
      <p:sp>
        <p:nvSpPr>
          <p:cNvPr id="6" name="文本框 5">
            <a:extLst>
              <a:ext uri="{FF2B5EF4-FFF2-40B4-BE49-F238E27FC236}">
                <a16:creationId xmlns:a16="http://schemas.microsoft.com/office/drawing/2014/main" id="{F83647E7-3BAF-4982-A1F8-E97D11BE8871}"/>
              </a:ext>
            </a:extLst>
          </p:cNvPr>
          <p:cNvSpPr txBox="1"/>
          <p:nvPr/>
        </p:nvSpPr>
        <p:spPr>
          <a:xfrm>
            <a:off x="81975" y="2047866"/>
            <a:ext cx="4898659" cy="1421928"/>
          </a:xfrm>
          <a:prstGeom prst="rect">
            <a:avLst/>
          </a:prstGeom>
          <a:solidFill>
            <a:schemeClr val="accent3">
              <a:lumMod val="20000"/>
              <a:lumOff val="80000"/>
            </a:schemeClr>
          </a:solidFill>
        </p:spPr>
        <p:txBody>
          <a:bodyPr wrap="square" lIns="0" rIns="0">
            <a:spAutoFit/>
          </a:bodyPr>
          <a:lstStyle/>
          <a:p>
            <a:pPr>
              <a:lnSpc>
                <a:spcPct val="90000"/>
              </a:lnSpc>
            </a:pPr>
            <a:r>
              <a:rPr lang="zh-CN" altLang="en-US" spc="-100" dirty="0">
                <a:solidFill>
                  <a:srgbClr val="104E87"/>
                </a:solidFill>
                <a:latin typeface="Comic Sans MS" panose="030F0702030302020204" pitchFamily="66" charset="0"/>
              </a:rPr>
              <a:t>class Base1 { public:</a:t>
            </a:r>
          </a:p>
          <a:p>
            <a:pPr>
              <a:lnSpc>
                <a:spcPct val="90000"/>
              </a:lnSpc>
            </a:pPr>
            <a:r>
              <a:rPr lang="zh-CN" altLang="en-US" spc="-100" dirty="0">
                <a:solidFill>
                  <a:srgbClr val="104E87"/>
                </a:solidFill>
                <a:latin typeface="Comic Sans MS" panose="030F0702030302020204" pitchFamily="66" charset="0"/>
              </a:rPr>
              <a:t>   void display() const</a:t>
            </a:r>
          </a:p>
          <a:p>
            <a:pPr>
              <a:lnSpc>
                <a:spcPct val="90000"/>
              </a:lnSpc>
            </a:pPr>
            <a:r>
              <a:rPr lang="zh-CN" altLang="en-US" spc="-100" dirty="0">
                <a:solidFill>
                  <a:srgbClr val="104E87"/>
                </a:solidFill>
                <a:latin typeface="Comic Sans MS" panose="030F0702030302020204" pitchFamily="66" charset="0"/>
              </a:rPr>
              <a:t>   {cout &lt;&lt; "Base1::display()" &lt;&lt; endl;}</a:t>
            </a:r>
          </a:p>
          <a:p>
            <a:pPr>
              <a:lnSpc>
                <a:spcPct val="90000"/>
              </a:lnSpc>
            </a:pPr>
            <a:r>
              <a:rPr lang="zh-CN" altLang="en-US" spc="-100" dirty="0">
                <a:solidFill>
                  <a:srgbClr val="104E87"/>
                </a:solidFill>
                <a:latin typeface="Comic Sans MS" panose="030F0702030302020204" pitchFamily="66" charset="0"/>
              </a:rPr>
              <a:t>};</a:t>
            </a:r>
          </a:p>
        </p:txBody>
      </p:sp>
      <p:sp>
        <p:nvSpPr>
          <p:cNvPr id="8" name="文本框 7">
            <a:extLst>
              <a:ext uri="{FF2B5EF4-FFF2-40B4-BE49-F238E27FC236}">
                <a16:creationId xmlns:a16="http://schemas.microsoft.com/office/drawing/2014/main" id="{A37A75E4-3ECE-4E14-A5D4-E64884814B5A}"/>
              </a:ext>
            </a:extLst>
          </p:cNvPr>
          <p:cNvSpPr txBox="1"/>
          <p:nvPr/>
        </p:nvSpPr>
        <p:spPr>
          <a:xfrm>
            <a:off x="78801" y="3514289"/>
            <a:ext cx="4898659" cy="1421928"/>
          </a:xfrm>
          <a:prstGeom prst="rect">
            <a:avLst/>
          </a:prstGeom>
          <a:solidFill>
            <a:schemeClr val="accent4">
              <a:lumMod val="20000"/>
              <a:lumOff val="80000"/>
            </a:schemeClr>
          </a:solidFill>
        </p:spPr>
        <p:txBody>
          <a:bodyPr wrap="square" lIns="0" rIns="0">
            <a:spAutoFit/>
          </a:bodyPr>
          <a:lstStyle>
            <a:defPPr>
              <a:defRPr lang="en-US"/>
            </a:defPPr>
            <a:lvl1pPr>
              <a:defRPr spc="-100">
                <a:solidFill>
                  <a:srgbClr val="104E87"/>
                </a:solidFill>
                <a:latin typeface="Comic Sans MS" panose="030F0702030302020204" pitchFamily="66" charset="0"/>
              </a:defRPr>
            </a:lvl1pPr>
          </a:lstStyle>
          <a:p>
            <a:pPr>
              <a:lnSpc>
                <a:spcPct val="90000"/>
              </a:lnSpc>
            </a:pPr>
            <a:r>
              <a:rPr lang="zh-CN" altLang="en-US" dirty="0"/>
              <a:t>class Base2: public Base1 {public:</a:t>
            </a:r>
          </a:p>
          <a:p>
            <a:pPr>
              <a:lnSpc>
                <a:spcPct val="90000"/>
              </a:lnSpc>
            </a:pPr>
            <a:r>
              <a:rPr lang="zh-CN" altLang="en-US" dirty="0"/>
              <a:t>   void display() const</a:t>
            </a:r>
          </a:p>
          <a:p>
            <a:pPr>
              <a:lnSpc>
                <a:spcPct val="90000"/>
              </a:lnSpc>
            </a:pPr>
            <a:r>
              <a:rPr lang="zh-CN" altLang="en-US" dirty="0"/>
              <a:t>   {cout &lt;&lt; "Base2::display()" &lt;&lt; endl;}</a:t>
            </a:r>
          </a:p>
          <a:p>
            <a:pPr>
              <a:lnSpc>
                <a:spcPct val="90000"/>
              </a:lnSpc>
            </a:pPr>
            <a:r>
              <a:rPr lang="zh-CN" altLang="en-US" dirty="0"/>
              <a:t>};</a:t>
            </a:r>
          </a:p>
        </p:txBody>
      </p:sp>
      <p:sp>
        <p:nvSpPr>
          <p:cNvPr id="11" name="文本框 10">
            <a:extLst>
              <a:ext uri="{FF2B5EF4-FFF2-40B4-BE49-F238E27FC236}">
                <a16:creationId xmlns:a16="http://schemas.microsoft.com/office/drawing/2014/main" id="{A829489B-83E8-4FA3-B70E-9C94EB07A5AA}"/>
              </a:ext>
            </a:extLst>
          </p:cNvPr>
          <p:cNvSpPr txBox="1"/>
          <p:nvPr/>
        </p:nvSpPr>
        <p:spPr>
          <a:xfrm>
            <a:off x="77214" y="4988039"/>
            <a:ext cx="4900246" cy="1421928"/>
          </a:xfrm>
          <a:prstGeom prst="rect">
            <a:avLst/>
          </a:prstGeom>
          <a:solidFill>
            <a:schemeClr val="accent1">
              <a:lumMod val="40000"/>
              <a:lumOff val="60000"/>
            </a:schemeClr>
          </a:solidFill>
        </p:spPr>
        <p:txBody>
          <a:bodyPr wrap="square" lIns="0" rIns="0">
            <a:spAutoFit/>
          </a:bodyPr>
          <a:lstStyle>
            <a:defPPr>
              <a:defRPr lang="en-US"/>
            </a:defPPr>
            <a:lvl1pPr>
              <a:defRPr spc="-100">
                <a:solidFill>
                  <a:srgbClr val="104E87"/>
                </a:solidFill>
                <a:latin typeface="Comic Sans MS" panose="030F0702030302020204" pitchFamily="66" charset="0"/>
              </a:defRPr>
            </a:lvl1pPr>
          </a:lstStyle>
          <a:p>
            <a:pPr>
              <a:lnSpc>
                <a:spcPct val="90000"/>
              </a:lnSpc>
            </a:pPr>
            <a:r>
              <a:rPr lang="zh-CN" altLang="en-US" dirty="0"/>
              <a:t>class Derived: public Base2 {public:</a:t>
            </a:r>
          </a:p>
          <a:p>
            <a:pPr>
              <a:lnSpc>
                <a:spcPct val="90000"/>
              </a:lnSpc>
            </a:pPr>
            <a:r>
              <a:rPr lang="zh-CN" altLang="en-US" dirty="0"/>
              <a:t>   void display() const</a:t>
            </a:r>
          </a:p>
          <a:p>
            <a:pPr>
              <a:lnSpc>
                <a:spcPct val="90000"/>
              </a:lnSpc>
            </a:pPr>
            <a:r>
              <a:rPr lang="zh-CN" altLang="en-US" dirty="0"/>
              <a:t>   {cout &lt;&lt; "Derived::display()" &lt;&lt; endl;}</a:t>
            </a:r>
          </a:p>
          <a:p>
            <a:pPr>
              <a:lnSpc>
                <a:spcPct val="90000"/>
              </a:lnSpc>
            </a:pPr>
            <a:r>
              <a:rPr lang="zh-CN" altLang="en-US" dirty="0"/>
              <a:t>};</a:t>
            </a:r>
          </a:p>
        </p:txBody>
      </p:sp>
      <p:sp>
        <p:nvSpPr>
          <p:cNvPr id="12" name="文本框 11">
            <a:extLst>
              <a:ext uri="{FF2B5EF4-FFF2-40B4-BE49-F238E27FC236}">
                <a16:creationId xmlns:a16="http://schemas.microsoft.com/office/drawing/2014/main" id="{F6E9317C-3230-4C04-8B67-BFDE7C837965}"/>
              </a:ext>
            </a:extLst>
          </p:cNvPr>
          <p:cNvSpPr txBox="1"/>
          <p:nvPr/>
        </p:nvSpPr>
        <p:spPr>
          <a:xfrm>
            <a:off x="4958707" y="2129279"/>
            <a:ext cx="3423138" cy="830997"/>
          </a:xfrm>
          <a:prstGeom prst="rect">
            <a:avLst/>
          </a:prstGeom>
          <a:noFill/>
        </p:spPr>
        <p:txBody>
          <a:bodyPr wrap="square">
            <a:spAutoFit/>
          </a:bodyPr>
          <a:lstStyle>
            <a:defPPr>
              <a:defRPr lang="en-US"/>
            </a:defPPr>
            <a:lvl1pPr>
              <a:defRPr>
                <a:solidFill>
                  <a:srgbClr val="104E87"/>
                </a:solidFill>
                <a:latin typeface="Comic Sans MS" panose="030F0702030302020204" pitchFamily="66" charset="0"/>
              </a:defRPr>
            </a:lvl1pPr>
          </a:lstStyle>
          <a:p>
            <a:r>
              <a:rPr lang="zh-CN" altLang="en-US" dirty="0"/>
              <a:t>void fun(</a:t>
            </a:r>
            <a:r>
              <a:rPr lang="zh-CN" altLang="en-US" dirty="0">
                <a:solidFill>
                  <a:srgbClr val="FF0000"/>
                </a:solidFill>
              </a:rPr>
              <a:t>Base1 *ptr</a:t>
            </a:r>
            <a:r>
              <a:rPr lang="zh-CN" altLang="en-US" dirty="0"/>
              <a:t>) </a:t>
            </a:r>
          </a:p>
          <a:p>
            <a:r>
              <a:rPr lang="zh-CN" altLang="en-US" dirty="0"/>
              <a:t>{ptr-&gt;display();	}</a:t>
            </a:r>
          </a:p>
        </p:txBody>
      </p:sp>
      <p:sp>
        <p:nvSpPr>
          <p:cNvPr id="13" name="文本框 12">
            <a:extLst>
              <a:ext uri="{FF2B5EF4-FFF2-40B4-BE49-F238E27FC236}">
                <a16:creationId xmlns:a16="http://schemas.microsoft.com/office/drawing/2014/main" id="{F5CB14D3-4B24-4A12-99C1-363A8FAF49FC}"/>
              </a:ext>
            </a:extLst>
          </p:cNvPr>
          <p:cNvSpPr txBox="1"/>
          <p:nvPr/>
        </p:nvSpPr>
        <p:spPr>
          <a:xfrm>
            <a:off x="5061899" y="2947384"/>
            <a:ext cx="2835583" cy="3416320"/>
          </a:xfrm>
          <a:prstGeom prst="rect">
            <a:avLst/>
          </a:prstGeom>
          <a:noFill/>
        </p:spPr>
        <p:txBody>
          <a:bodyPr wrap="square" lIns="0" rIns="0">
            <a:spAutoFit/>
          </a:bodyPr>
          <a:lstStyle>
            <a:defPPr>
              <a:defRPr lang="en-US"/>
            </a:defPPr>
            <a:lvl1pPr>
              <a:defRPr spc="-100">
                <a:solidFill>
                  <a:srgbClr val="104E87"/>
                </a:solidFill>
                <a:latin typeface="Comic Sans MS" panose="030F0702030302020204" pitchFamily="66" charset="0"/>
              </a:defRPr>
            </a:lvl1pPr>
          </a:lstStyle>
          <a:p>
            <a:r>
              <a:rPr lang="zh-CN" altLang="en-US" dirty="0"/>
              <a:t>int main() {</a:t>
            </a:r>
          </a:p>
          <a:p>
            <a:r>
              <a:rPr lang="zh-CN" altLang="en-US" dirty="0"/>
              <a:t>Base1 base1;</a:t>
            </a:r>
          </a:p>
          <a:p>
            <a:r>
              <a:rPr lang="zh-CN" altLang="en-US" dirty="0"/>
              <a:t>Base2 base2;	</a:t>
            </a:r>
            <a:endParaRPr lang="en-US" altLang="zh-CN" dirty="0"/>
          </a:p>
          <a:p>
            <a:r>
              <a:rPr lang="zh-CN" altLang="en-US" dirty="0"/>
              <a:t>Derived derived; </a:t>
            </a:r>
            <a:endParaRPr lang="en-US" altLang="zh-CN" dirty="0"/>
          </a:p>
          <a:p>
            <a:r>
              <a:rPr lang="zh-CN" altLang="en-US" dirty="0"/>
              <a:t>fun</a:t>
            </a:r>
            <a:r>
              <a:rPr lang="zh-CN" altLang="en-US" dirty="0">
                <a:solidFill>
                  <a:srgbClr val="FF0000"/>
                </a:solidFill>
              </a:rPr>
              <a:t>(&amp;base1</a:t>
            </a:r>
            <a:r>
              <a:rPr lang="zh-CN" altLang="en-US" dirty="0"/>
              <a:t>);	</a:t>
            </a:r>
          </a:p>
          <a:p>
            <a:r>
              <a:rPr lang="zh-CN" altLang="en-US" dirty="0"/>
              <a:t>fun</a:t>
            </a:r>
            <a:r>
              <a:rPr lang="zh-CN" altLang="en-US" dirty="0">
                <a:solidFill>
                  <a:srgbClr val="FF0000"/>
                </a:solidFill>
              </a:rPr>
              <a:t>(&amp;base2</a:t>
            </a:r>
            <a:r>
              <a:rPr lang="zh-CN" altLang="en-US" dirty="0"/>
              <a:t>);</a:t>
            </a:r>
          </a:p>
          <a:p>
            <a:r>
              <a:rPr lang="zh-CN" altLang="en-US" dirty="0"/>
              <a:t>fun</a:t>
            </a:r>
            <a:r>
              <a:rPr lang="zh-CN" altLang="en-US" dirty="0">
                <a:solidFill>
                  <a:srgbClr val="FF0000"/>
                </a:solidFill>
              </a:rPr>
              <a:t>(&amp;derived</a:t>
            </a:r>
            <a:r>
              <a:rPr lang="zh-CN" altLang="en-US" dirty="0"/>
              <a:t>)</a:t>
            </a:r>
          </a:p>
          <a:p>
            <a:r>
              <a:rPr lang="zh-CN" altLang="en-US" dirty="0"/>
              <a:t>return 0;</a:t>
            </a:r>
          </a:p>
          <a:p>
            <a:r>
              <a:rPr lang="zh-CN" altLang="en-US" dirty="0"/>
              <a:t>}</a:t>
            </a:r>
          </a:p>
        </p:txBody>
      </p:sp>
      <p:sp>
        <p:nvSpPr>
          <p:cNvPr id="14" name="矩形 22">
            <a:extLst>
              <a:ext uri="{FF2B5EF4-FFF2-40B4-BE49-F238E27FC236}">
                <a16:creationId xmlns:a16="http://schemas.microsoft.com/office/drawing/2014/main" id="{B77C1D73-3722-4548-8306-5C7AF379FA57}"/>
              </a:ext>
            </a:extLst>
          </p:cNvPr>
          <p:cNvSpPr>
            <a:spLocks noChangeArrowheads="1"/>
          </p:cNvSpPr>
          <p:nvPr/>
        </p:nvSpPr>
        <p:spPr bwMode="auto">
          <a:xfrm>
            <a:off x="8442611" y="1957389"/>
            <a:ext cx="3455987" cy="1200150"/>
          </a:xfrm>
          <a:prstGeom prst="rect">
            <a:avLst/>
          </a:prstGeom>
          <a:noFill/>
        </p:spPr>
        <p:txBody>
          <a:bodyPr wrap="square" lIns="0" rIns="0">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r>
              <a:rPr lang="en-US" altLang="zh-CN" b="0" spc="-100" dirty="0">
                <a:solidFill>
                  <a:srgbClr val="104E87"/>
                </a:solidFill>
                <a:latin typeface="Comic Sans MS" panose="030F0702030302020204" pitchFamily="66" charset="0"/>
              </a:rPr>
              <a:t>Base1       obj1, *p;</a:t>
            </a:r>
          </a:p>
          <a:p>
            <a:r>
              <a:rPr lang="en-US" altLang="zh-CN" b="0" spc="-100" dirty="0">
                <a:solidFill>
                  <a:srgbClr val="104E87"/>
                </a:solidFill>
                <a:latin typeface="Comic Sans MS" panose="030F0702030302020204" pitchFamily="66" charset="0"/>
              </a:rPr>
              <a:t>Base2       obj2;</a:t>
            </a:r>
          </a:p>
          <a:p>
            <a:r>
              <a:rPr lang="en-US" altLang="zh-CN" b="0" spc="-100" dirty="0">
                <a:solidFill>
                  <a:srgbClr val="104E87"/>
                </a:solidFill>
                <a:latin typeface="Comic Sans MS" panose="030F0702030302020204" pitchFamily="66" charset="0"/>
              </a:rPr>
              <a:t>Derived    obj3, *p1;</a:t>
            </a:r>
          </a:p>
        </p:txBody>
      </p:sp>
      <p:sp>
        <p:nvSpPr>
          <p:cNvPr id="15" name="Rectangle 2">
            <a:extLst>
              <a:ext uri="{FF2B5EF4-FFF2-40B4-BE49-F238E27FC236}">
                <a16:creationId xmlns:a16="http://schemas.microsoft.com/office/drawing/2014/main" id="{7AFEB493-0B39-44D1-BEF1-B25FA4A24FE8}"/>
              </a:ext>
            </a:extLst>
          </p:cNvPr>
          <p:cNvSpPr txBox="1">
            <a:spLocks noChangeArrowheads="1"/>
          </p:cNvSpPr>
          <p:nvPr/>
        </p:nvSpPr>
        <p:spPr bwMode="auto">
          <a:xfrm>
            <a:off x="8285051" y="3351873"/>
            <a:ext cx="1791497" cy="1938992"/>
          </a:xfrm>
          <a:prstGeom prst="rect">
            <a:avLst/>
          </a:prstGeom>
          <a:noFill/>
        </p:spPr>
        <p:txBody>
          <a:bodyPr wrap="square" lIns="0" rIns="0">
            <a:spAutoFit/>
          </a:bodyPr>
          <a:lstStyle>
            <a:defPPr>
              <a:defRPr lang="en-US"/>
            </a:defPPr>
            <a:lvl1pPr eaLnBrk="0" hangingPunct="0">
              <a:defRPr b="0" spc="-100">
                <a:solidFill>
                  <a:srgbClr val="104E87"/>
                </a:solidFill>
                <a:latin typeface="Comic Sans MS" panose="030F0702030302020204" pitchFamily="66" charset="0"/>
                <a:ea typeface="宋体" pitchFamily="2" charset="-122"/>
              </a:defRPr>
            </a:lvl1pPr>
            <a:lvl2pPr marL="742950" indent="-285750" eaLnBrk="0" hangingPunct="0">
              <a:defRPr b="1">
                <a:latin typeface="Times New Roman" pitchFamily="18" charset="0"/>
                <a:ea typeface="宋体" pitchFamily="2" charset="-122"/>
              </a:defRPr>
            </a:lvl2pPr>
            <a:lvl3pPr marL="1143000" indent="-228600" eaLnBrk="0" hangingPunct="0">
              <a:defRPr b="1">
                <a:latin typeface="Times New Roman" pitchFamily="18" charset="0"/>
                <a:ea typeface="宋体" pitchFamily="2" charset="-122"/>
              </a:defRPr>
            </a:lvl3pPr>
            <a:lvl4pPr marL="1600200" indent="-228600" eaLnBrk="0" hangingPunct="0">
              <a:defRPr b="1">
                <a:latin typeface="Times New Roman" pitchFamily="18" charset="0"/>
                <a:ea typeface="宋体" pitchFamily="2" charset="-122"/>
              </a:defRPr>
            </a:lvl4pPr>
            <a:lvl5pPr marL="2057400" indent="-228600" eaLnBrk="0" hangingPunct="0">
              <a:defRPr b="1">
                <a:latin typeface="Times New Roman" pitchFamily="18" charset="0"/>
                <a:ea typeface="宋体" pitchFamily="2" charset="-122"/>
              </a:defRPr>
            </a:lvl5pPr>
            <a:lvl6pPr marL="2514600" indent="-228600" eaLnBrk="0" fontAlgn="base" hangingPunct="0">
              <a:spcBef>
                <a:spcPct val="0"/>
              </a:spcBef>
              <a:spcAft>
                <a:spcPct val="0"/>
              </a:spcAft>
              <a:defRPr b="1">
                <a:latin typeface="Times New Roman" pitchFamily="18" charset="0"/>
                <a:ea typeface="宋体" pitchFamily="2" charset="-122"/>
              </a:defRPr>
            </a:lvl6pPr>
            <a:lvl7pPr marL="2971800" indent="-228600" eaLnBrk="0" fontAlgn="base" hangingPunct="0">
              <a:spcBef>
                <a:spcPct val="0"/>
              </a:spcBef>
              <a:spcAft>
                <a:spcPct val="0"/>
              </a:spcAft>
              <a:defRPr b="1">
                <a:latin typeface="Times New Roman" pitchFamily="18" charset="0"/>
                <a:ea typeface="宋体" pitchFamily="2" charset="-122"/>
              </a:defRPr>
            </a:lvl7pPr>
            <a:lvl8pPr marL="3429000" indent="-228600" eaLnBrk="0" fontAlgn="base" hangingPunct="0">
              <a:spcBef>
                <a:spcPct val="0"/>
              </a:spcBef>
              <a:spcAft>
                <a:spcPct val="0"/>
              </a:spcAft>
              <a:defRPr b="1">
                <a:latin typeface="Times New Roman" pitchFamily="18" charset="0"/>
                <a:ea typeface="宋体" pitchFamily="2" charset="-122"/>
              </a:defRPr>
            </a:lvl8pPr>
            <a:lvl9pPr marL="3886200" indent="-228600" eaLnBrk="0" fontAlgn="base" hangingPunct="0">
              <a:spcBef>
                <a:spcPct val="0"/>
              </a:spcBef>
              <a:spcAft>
                <a:spcPct val="0"/>
              </a:spcAft>
              <a:defRPr b="1">
                <a:latin typeface="Times New Roman" pitchFamily="18" charset="0"/>
                <a:ea typeface="宋体" pitchFamily="2" charset="-122"/>
              </a:defRPr>
            </a:lvl9pPr>
          </a:lstStyle>
          <a:p>
            <a:r>
              <a:rPr lang="en-US" altLang="zh-CN" dirty="0"/>
              <a:t>p = &amp;obj1;</a:t>
            </a:r>
          </a:p>
          <a:p>
            <a:r>
              <a:rPr lang="en-US" altLang="zh-CN" dirty="0"/>
              <a:t>p = &amp;obj2;</a:t>
            </a:r>
          </a:p>
          <a:p>
            <a:r>
              <a:rPr lang="en-US" altLang="zh-CN" dirty="0"/>
              <a:t>p = &amp;obj3; </a:t>
            </a:r>
          </a:p>
          <a:p>
            <a:r>
              <a:rPr lang="en-US" altLang="zh-CN" dirty="0"/>
              <a:t>obj1 = obj2; </a:t>
            </a:r>
          </a:p>
          <a:p>
            <a:r>
              <a:rPr lang="en-US" altLang="zh-CN" dirty="0"/>
              <a:t>obj2 = obj3;</a:t>
            </a:r>
          </a:p>
        </p:txBody>
      </p:sp>
      <p:grpSp>
        <p:nvGrpSpPr>
          <p:cNvPr id="16" name="Group 3">
            <a:extLst>
              <a:ext uri="{FF2B5EF4-FFF2-40B4-BE49-F238E27FC236}">
                <a16:creationId xmlns:a16="http://schemas.microsoft.com/office/drawing/2014/main" id="{583DC1C2-1B9B-4B72-8D0A-2055DBFD847B}"/>
              </a:ext>
            </a:extLst>
          </p:cNvPr>
          <p:cNvGrpSpPr>
            <a:grpSpLocks/>
          </p:cNvGrpSpPr>
          <p:nvPr/>
        </p:nvGrpSpPr>
        <p:grpSpPr bwMode="auto">
          <a:xfrm>
            <a:off x="9721926" y="3766210"/>
            <a:ext cx="198560" cy="251296"/>
            <a:chOff x="3264" y="2544"/>
            <a:chExt cx="240" cy="240"/>
          </a:xfrm>
        </p:grpSpPr>
        <p:sp>
          <p:nvSpPr>
            <p:cNvPr id="17" name="Line 4">
              <a:extLst>
                <a:ext uri="{FF2B5EF4-FFF2-40B4-BE49-F238E27FC236}">
                  <a16:creationId xmlns:a16="http://schemas.microsoft.com/office/drawing/2014/main" id="{9BC54F25-947C-4C45-8BA2-EA668873B27D}"/>
                </a:ext>
              </a:extLst>
            </p:cNvPr>
            <p:cNvSpPr>
              <a:spLocks noChangeShapeType="1"/>
            </p:cNvSpPr>
            <p:nvPr/>
          </p:nvSpPr>
          <p:spPr bwMode="auto">
            <a:xfrm>
              <a:off x="3264" y="2688"/>
              <a:ext cx="48" cy="96"/>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sp>
          <p:nvSpPr>
            <p:cNvPr id="18" name="Line 5">
              <a:extLst>
                <a:ext uri="{FF2B5EF4-FFF2-40B4-BE49-F238E27FC236}">
                  <a16:creationId xmlns:a16="http://schemas.microsoft.com/office/drawing/2014/main" id="{526F9898-99B5-4F80-8748-ECEAA43C101D}"/>
                </a:ext>
              </a:extLst>
            </p:cNvPr>
            <p:cNvSpPr>
              <a:spLocks noChangeShapeType="1"/>
            </p:cNvSpPr>
            <p:nvPr/>
          </p:nvSpPr>
          <p:spPr bwMode="auto">
            <a:xfrm flipV="1">
              <a:off x="3312" y="2544"/>
              <a:ext cx="192" cy="240"/>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grpSp>
      <p:grpSp>
        <p:nvGrpSpPr>
          <p:cNvPr id="19" name="Group 9">
            <a:extLst>
              <a:ext uri="{FF2B5EF4-FFF2-40B4-BE49-F238E27FC236}">
                <a16:creationId xmlns:a16="http://schemas.microsoft.com/office/drawing/2014/main" id="{3665D705-FFE0-4BA7-9A82-E5E018A765E6}"/>
              </a:ext>
            </a:extLst>
          </p:cNvPr>
          <p:cNvGrpSpPr>
            <a:grpSpLocks/>
          </p:cNvGrpSpPr>
          <p:nvPr/>
        </p:nvGrpSpPr>
        <p:grpSpPr bwMode="auto">
          <a:xfrm>
            <a:off x="9710203" y="3422211"/>
            <a:ext cx="198560" cy="251296"/>
            <a:chOff x="3264" y="2544"/>
            <a:chExt cx="240" cy="240"/>
          </a:xfrm>
        </p:grpSpPr>
        <p:sp>
          <p:nvSpPr>
            <p:cNvPr id="20" name="Line 10">
              <a:extLst>
                <a:ext uri="{FF2B5EF4-FFF2-40B4-BE49-F238E27FC236}">
                  <a16:creationId xmlns:a16="http://schemas.microsoft.com/office/drawing/2014/main" id="{3D58577D-7855-4A1F-8DED-F2B9BAFF5BB5}"/>
                </a:ext>
              </a:extLst>
            </p:cNvPr>
            <p:cNvSpPr>
              <a:spLocks noChangeShapeType="1"/>
            </p:cNvSpPr>
            <p:nvPr/>
          </p:nvSpPr>
          <p:spPr bwMode="auto">
            <a:xfrm>
              <a:off x="3264" y="2688"/>
              <a:ext cx="48" cy="96"/>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sp>
          <p:nvSpPr>
            <p:cNvPr id="21" name="Line 11">
              <a:extLst>
                <a:ext uri="{FF2B5EF4-FFF2-40B4-BE49-F238E27FC236}">
                  <a16:creationId xmlns:a16="http://schemas.microsoft.com/office/drawing/2014/main" id="{4035C59C-BB11-4243-9BDA-8AFBAB76EA73}"/>
                </a:ext>
              </a:extLst>
            </p:cNvPr>
            <p:cNvSpPr>
              <a:spLocks noChangeShapeType="1"/>
            </p:cNvSpPr>
            <p:nvPr/>
          </p:nvSpPr>
          <p:spPr bwMode="auto">
            <a:xfrm flipV="1">
              <a:off x="3312" y="2544"/>
              <a:ext cx="192" cy="240"/>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grpSp>
      <p:grpSp>
        <p:nvGrpSpPr>
          <p:cNvPr id="22" name="Group 3">
            <a:extLst>
              <a:ext uri="{FF2B5EF4-FFF2-40B4-BE49-F238E27FC236}">
                <a16:creationId xmlns:a16="http://schemas.microsoft.com/office/drawing/2014/main" id="{989ECA84-8903-4095-BCDB-8B24D3ED5F3C}"/>
              </a:ext>
            </a:extLst>
          </p:cNvPr>
          <p:cNvGrpSpPr>
            <a:grpSpLocks/>
          </p:cNvGrpSpPr>
          <p:nvPr/>
        </p:nvGrpSpPr>
        <p:grpSpPr bwMode="auto">
          <a:xfrm>
            <a:off x="9747570" y="4082856"/>
            <a:ext cx="198560" cy="251296"/>
            <a:chOff x="3264" y="2544"/>
            <a:chExt cx="240" cy="240"/>
          </a:xfrm>
        </p:grpSpPr>
        <p:sp>
          <p:nvSpPr>
            <p:cNvPr id="23" name="Line 4">
              <a:extLst>
                <a:ext uri="{FF2B5EF4-FFF2-40B4-BE49-F238E27FC236}">
                  <a16:creationId xmlns:a16="http://schemas.microsoft.com/office/drawing/2014/main" id="{075259FF-1250-4314-8C6F-4D75205CE4CC}"/>
                </a:ext>
              </a:extLst>
            </p:cNvPr>
            <p:cNvSpPr>
              <a:spLocks noChangeShapeType="1"/>
            </p:cNvSpPr>
            <p:nvPr/>
          </p:nvSpPr>
          <p:spPr bwMode="auto">
            <a:xfrm>
              <a:off x="3264" y="2688"/>
              <a:ext cx="48" cy="96"/>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sp>
          <p:nvSpPr>
            <p:cNvPr id="24" name="Line 5">
              <a:extLst>
                <a:ext uri="{FF2B5EF4-FFF2-40B4-BE49-F238E27FC236}">
                  <a16:creationId xmlns:a16="http://schemas.microsoft.com/office/drawing/2014/main" id="{82B4C2F2-10AA-41B5-B9A1-27DFEF21B459}"/>
                </a:ext>
              </a:extLst>
            </p:cNvPr>
            <p:cNvSpPr>
              <a:spLocks noChangeShapeType="1"/>
            </p:cNvSpPr>
            <p:nvPr/>
          </p:nvSpPr>
          <p:spPr bwMode="auto">
            <a:xfrm flipV="1">
              <a:off x="3312" y="2544"/>
              <a:ext cx="192" cy="240"/>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grpSp>
      <p:grpSp>
        <p:nvGrpSpPr>
          <p:cNvPr id="25" name="Group 3">
            <a:extLst>
              <a:ext uri="{FF2B5EF4-FFF2-40B4-BE49-F238E27FC236}">
                <a16:creationId xmlns:a16="http://schemas.microsoft.com/office/drawing/2014/main" id="{DD9F218A-F419-4F22-9C6E-F36DAB383459}"/>
              </a:ext>
            </a:extLst>
          </p:cNvPr>
          <p:cNvGrpSpPr>
            <a:grpSpLocks/>
          </p:cNvGrpSpPr>
          <p:nvPr/>
        </p:nvGrpSpPr>
        <p:grpSpPr bwMode="auto">
          <a:xfrm>
            <a:off x="9865533" y="4485837"/>
            <a:ext cx="198560" cy="251296"/>
            <a:chOff x="3264" y="2544"/>
            <a:chExt cx="240" cy="240"/>
          </a:xfrm>
        </p:grpSpPr>
        <p:sp>
          <p:nvSpPr>
            <p:cNvPr id="26" name="Line 4">
              <a:extLst>
                <a:ext uri="{FF2B5EF4-FFF2-40B4-BE49-F238E27FC236}">
                  <a16:creationId xmlns:a16="http://schemas.microsoft.com/office/drawing/2014/main" id="{76AB33CF-FD2D-42E9-8DDC-402345FFD7CE}"/>
                </a:ext>
              </a:extLst>
            </p:cNvPr>
            <p:cNvSpPr>
              <a:spLocks noChangeShapeType="1"/>
            </p:cNvSpPr>
            <p:nvPr/>
          </p:nvSpPr>
          <p:spPr bwMode="auto">
            <a:xfrm>
              <a:off x="3264" y="2688"/>
              <a:ext cx="48" cy="96"/>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sp>
          <p:nvSpPr>
            <p:cNvPr id="27" name="Line 5">
              <a:extLst>
                <a:ext uri="{FF2B5EF4-FFF2-40B4-BE49-F238E27FC236}">
                  <a16:creationId xmlns:a16="http://schemas.microsoft.com/office/drawing/2014/main" id="{7DE11FB4-6F07-49A4-990D-245A273AFF9E}"/>
                </a:ext>
              </a:extLst>
            </p:cNvPr>
            <p:cNvSpPr>
              <a:spLocks noChangeShapeType="1"/>
            </p:cNvSpPr>
            <p:nvPr/>
          </p:nvSpPr>
          <p:spPr bwMode="auto">
            <a:xfrm flipV="1">
              <a:off x="3312" y="2544"/>
              <a:ext cx="192" cy="240"/>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grpSp>
      <p:grpSp>
        <p:nvGrpSpPr>
          <p:cNvPr id="28" name="Group 3">
            <a:extLst>
              <a:ext uri="{FF2B5EF4-FFF2-40B4-BE49-F238E27FC236}">
                <a16:creationId xmlns:a16="http://schemas.microsoft.com/office/drawing/2014/main" id="{95E31869-434E-4C93-AC0C-D9021AB568F0}"/>
              </a:ext>
            </a:extLst>
          </p:cNvPr>
          <p:cNvGrpSpPr>
            <a:grpSpLocks/>
          </p:cNvGrpSpPr>
          <p:nvPr/>
        </p:nvGrpSpPr>
        <p:grpSpPr bwMode="auto">
          <a:xfrm>
            <a:off x="9924881" y="4871355"/>
            <a:ext cx="198560" cy="251296"/>
            <a:chOff x="3264" y="2544"/>
            <a:chExt cx="240" cy="240"/>
          </a:xfrm>
        </p:grpSpPr>
        <p:sp>
          <p:nvSpPr>
            <p:cNvPr id="29" name="Line 4">
              <a:extLst>
                <a:ext uri="{FF2B5EF4-FFF2-40B4-BE49-F238E27FC236}">
                  <a16:creationId xmlns:a16="http://schemas.microsoft.com/office/drawing/2014/main" id="{8354F164-2EE5-4EC7-87B9-82275C496CFA}"/>
                </a:ext>
              </a:extLst>
            </p:cNvPr>
            <p:cNvSpPr>
              <a:spLocks noChangeShapeType="1"/>
            </p:cNvSpPr>
            <p:nvPr/>
          </p:nvSpPr>
          <p:spPr bwMode="auto">
            <a:xfrm>
              <a:off x="3264" y="2688"/>
              <a:ext cx="48" cy="96"/>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sp>
          <p:nvSpPr>
            <p:cNvPr id="30" name="Line 5">
              <a:extLst>
                <a:ext uri="{FF2B5EF4-FFF2-40B4-BE49-F238E27FC236}">
                  <a16:creationId xmlns:a16="http://schemas.microsoft.com/office/drawing/2014/main" id="{C7F8616D-DA30-4BC2-935E-7C239DD8CB1C}"/>
                </a:ext>
              </a:extLst>
            </p:cNvPr>
            <p:cNvSpPr>
              <a:spLocks noChangeShapeType="1"/>
            </p:cNvSpPr>
            <p:nvPr/>
          </p:nvSpPr>
          <p:spPr bwMode="auto">
            <a:xfrm flipV="1">
              <a:off x="3312" y="2544"/>
              <a:ext cx="192" cy="240"/>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grpSp>
      <p:sp>
        <p:nvSpPr>
          <p:cNvPr id="31" name="Rectangle 2">
            <a:extLst>
              <a:ext uri="{FF2B5EF4-FFF2-40B4-BE49-F238E27FC236}">
                <a16:creationId xmlns:a16="http://schemas.microsoft.com/office/drawing/2014/main" id="{38661B5A-9389-4CC4-AEF7-FA77A0129CFC}"/>
              </a:ext>
            </a:extLst>
          </p:cNvPr>
          <p:cNvSpPr txBox="1">
            <a:spLocks noChangeArrowheads="1"/>
          </p:cNvSpPr>
          <p:nvPr/>
        </p:nvSpPr>
        <p:spPr bwMode="auto">
          <a:xfrm>
            <a:off x="10448373" y="3498045"/>
            <a:ext cx="1953697" cy="1569660"/>
          </a:xfrm>
          <a:prstGeom prst="rect">
            <a:avLst/>
          </a:prstGeom>
          <a:noFill/>
        </p:spPr>
        <p:txBody>
          <a:bodyPr wrap="square" lIns="0" rIns="0">
            <a:spAutoFit/>
          </a:bodyPr>
          <a:lstStyle>
            <a:defPPr>
              <a:defRPr lang="en-US"/>
            </a:defPPr>
            <a:lvl1pPr eaLnBrk="0" hangingPunct="0">
              <a:defRPr b="0" spc="-100">
                <a:solidFill>
                  <a:srgbClr val="104E87"/>
                </a:solidFill>
                <a:latin typeface="Comic Sans MS" panose="030F0702030302020204" pitchFamily="66" charset="0"/>
                <a:ea typeface="宋体" pitchFamily="2" charset="-122"/>
              </a:defRPr>
            </a:lvl1pPr>
            <a:lvl2pPr marL="742950" indent="-285750" eaLnBrk="0" hangingPunct="0">
              <a:defRPr b="1">
                <a:latin typeface="Times New Roman" pitchFamily="18" charset="0"/>
                <a:ea typeface="宋体" pitchFamily="2" charset="-122"/>
              </a:defRPr>
            </a:lvl2pPr>
            <a:lvl3pPr marL="1143000" indent="-228600" eaLnBrk="0" hangingPunct="0">
              <a:defRPr b="1">
                <a:latin typeface="Times New Roman" pitchFamily="18" charset="0"/>
                <a:ea typeface="宋体" pitchFamily="2" charset="-122"/>
              </a:defRPr>
            </a:lvl3pPr>
            <a:lvl4pPr marL="1600200" indent="-228600" eaLnBrk="0" hangingPunct="0">
              <a:defRPr b="1">
                <a:latin typeface="Times New Roman" pitchFamily="18" charset="0"/>
                <a:ea typeface="宋体" pitchFamily="2" charset="-122"/>
              </a:defRPr>
            </a:lvl4pPr>
            <a:lvl5pPr marL="2057400" indent="-228600" eaLnBrk="0" hangingPunct="0">
              <a:defRPr b="1">
                <a:latin typeface="Times New Roman" pitchFamily="18" charset="0"/>
                <a:ea typeface="宋体" pitchFamily="2" charset="-122"/>
              </a:defRPr>
            </a:lvl5pPr>
            <a:lvl6pPr marL="2514600" indent="-228600" eaLnBrk="0" fontAlgn="base" hangingPunct="0">
              <a:spcBef>
                <a:spcPct val="0"/>
              </a:spcBef>
              <a:spcAft>
                <a:spcPct val="0"/>
              </a:spcAft>
              <a:defRPr b="1">
                <a:latin typeface="Times New Roman" pitchFamily="18" charset="0"/>
                <a:ea typeface="宋体" pitchFamily="2" charset="-122"/>
              </a:defRPr>
            </a:lvl6pPr>
            <a:lvl7pPr marL="2971800" indent="-228600" eaLnBrk="0" fontAlgn="base" hangingPunct="0">
              <a:spcBef>
                <a:spcPct val="0"/>
              </a:spcBef>
              <a:spcAft>
                <a:spcPct val="0"/>
              </a:spcAft>
              <a:defRPr b="1">
                <a:latin typeface="Times New Roman" pitchFamily="18" charset="0"/>
                <a:ea typeface="宋体" pitchFamily="2" charset="-122"/>
              </a:defRPr>
            </a:lvl7pPr>
            <a:lvl8pPr marL="3429000" indent="-228600" eaLnBrk="0" fontAlgn="base" hangingPunct="0">
              <a:spcBef>
                <a:spcPct val="0"/>
              </a:spcBef>
              <a:spcAft>
                <a:spcPct val="0"/>
              </a:spcAft>
              <a:defRPr b="1">
                <a:latin typeface="Times New Roman" pitchFamily="18" charset="0"/>
                <a:ea typeface="宋体" pitchFamily="2" charset="-122"/>
              </a:defRPr>
            </a:lvl8pPr>
            <a:lvl9pPr marL="3886200" indent="-228600" eaLnBrk="0" fontAlgn="base" hangingPunct="0">
              <a:spcBef>
                <a:spcPct val="0"/>
              </a:spcBef>
              <a:spcAft>
                <a:spcPct val="0"/>
              </a:spcAft>
              <a:defRPr b="1">
                <a:latin typeface="Times New Roman" pitchFamily="18" charset="0"/>
                <a:ea typeface="宋体" pitchFamily="2" charset="-122"/>
              </a:defRPr>
            </a:lvl9pPr>
          </a:lstStyle>
          <a:p>
            <a:r>
              <a:rPr lang="en-US" altLang="zh-CN" dirty="0"/>
              <a:t>p1 = &amp;obj1;</a:t>
            </a:r>
          </a:p>
          <a:p>
            <a:r>
              <a:rPr lang="en-US" altLang="zh-CN" dirty="0"/>
              <a:t>p1 = &amp;obj2;</a:t>
            </a:r>
          </a:p>
          <a:p>
            <a:r>
              <a:rPr lang="en-US" altLang="zh-CN" dirty="0"/>
              <a:t>p1 = &amp;obj3;</a:t>
            </a:r>
          </a:p>
          <a:p>
            <a:r>
              <a:rPr lang="en-US" altLang="zh-CN" dirty="0"/>
              <a:t>p = p1 ;	</a:t>
            </a:r>
          </a:p>
        </p:txBody>
      </p:sp>
      <p:grpSp>
        <p:nvGrpSpPr>
          <p:cNvPr id="32" name="Group 6">
            <a:extLst>
              <a:ext uri="{FF2B5EF4-FFF2-40B4-BE49-F238E27FC236}">
                <a16:creationId xmlns:a16="http://schemas.microsoft.com/office/drawing/2014/main" id="{DC544498-33C4-4DC0-AD85-C0ABA4618EB3}"/>
              </a:ext>
            </a:extLst>
          </p:cNvPr>
          <p:cNvGrpSpPr>
            <a:grpSpLocks/>
          </p:cNvGrpSpPr>
          <p:nvPr/>
        </p:nvGrpSpPr>
        <p:grpSpPr bwMode="auto">
          <a:xfrm>
            <a:off x="11898598" y="3626048"/>
            <a:ext cx="152400" cy="141567"/>
            <a:chOff x="3264" y="2976"/>
            <a:chExt cx="96" cy="144"/>
          </a:xfrm>
        </p:grpSpPr>
        <p:sp>
          <p:nvSpPr>
            <p:cNvPr id="33" name="Line 7">
              <a:extLst>
                <a:ext uri="{FF2B5EF4-FFF2-40B4-BE49-F238E27FC236}">
                  <a16:creationId xmlns:a16="http://schemas.microsoft.com/office/drawing/2014/main" id="{08DE99A3-A7A1-488C-B9D0-02CAA3EDA5E7}"/>
                </a:ext>
              </a:extLst>
            </p:cNvPr>
            <p:cNvSpPr>
              <a:spLocks noChangeShapeType="1"/>
            </p:cNvSpPr>
            <p:nvPr/>
          </p:nvSpPr>
          <p:spPr bwMode="auto">
            <a:xfrm>
              <a:off x="3264" y="2976"/>
              <a:ext cx="96" cy="144"/>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sp>
          <p:nvSpPr>
            <p:cNvPr id="34" name="Line 8">
              <a:extLst>
                <a:ext uri="{FF2B5EF4-FFF2-40B4-BE49-F238E27FC236}">
                  <a16:creationId xmlns:a16="http://schemas.microsoft.com/office/drawing/2014/main" id="{4D8ACE6C-B1BF-45D0-992A-1D1895306CFE}"/>
                </a:ext>
              </a:extLst>
            </p:cNvPr>
            <p:cNvSpPr>
              <a:spLocks noChangeShapeType="1"/>
            </p:cNvSpPr>
            <p:nvPr/>
          </p:nvSpPr>
          <p:spPr bwMode="auto">
            <a:xfrm flipH="1">
              <a:off x="3264" y="2976"/>
              <a:ext cx="96" cy="144"/>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grpSp>
      <p:grpSp>
        <p:nvGrpSpPr>
          <p:cNvPr id="35" name="Group 6">
            <a:extLst>
              <a:ext uri="{FF2B5EF4-FFF2-40B4-BE49-F238E27FC236}">
                <a16:creationId xmlns:a16="http://schemas.microsoft.com/office/drawing/2014/main" id="{A51C3E70-79F6-4D8D-AA3B-7D4E7DDC8CFB}"/>
              </a:ext>
            </a:extLst>
          </p:cNvPr>
          <p:cNvGrpSpPr>
            <a:grpSpLocks/>
          </p:cNvGrpSpPr>
          <p:nvPr/>
        </p:nvGrpSpPr>
        <p:grpSpPr bwMode="auto">
          <a:xfrm>
            <a:off x="11931935" y="4014864"/>
            <a:ext cx="152400" cy="141567"/>
            <a:chOff x="3264" y="2976"/>
            <a:chExt cx="96" cy="144"/>
          </a:xfrm>
        </p:grpSpPr>
        <p:sp>
          <p:nvSpPr>
            <p:cNvPr id="36" name="Line 7">
              <a:extLst>
                <a:ext uri="{FF2B5EF4-FFF2-40B4-BE49-F238E27FC236}">
                  <a16:creationId xmlns:a16="http://schemas.microsoft.com/office/drawing/2014/main" id="{A1F1DD14-1B08-4EF7-9A48-EADD063F50B3}"/>
                </a:ext>
              </a:extLst>
            </p:cNvPr>
            <p:cNvSpPr>
              <a:spLocks noChangeShapeType="1"/>
            </p:cNvSpPr>
            <p:nvPr/>
          </p:nvSpPr>
          <p:spPr bwMode="auto">
            <a:xfrm>
              <a:off x="3264" y="2976"/>
              <a:ext cx="96" cy="144"/>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sp>
          <p:nvSpPr>
            <p:cNvPr id="37" name="Line 8">
              <a:extLst>
                <a:ext uri="{FF2B5EF4-FFF2-40B4-BE49-F238E27FC236}">
                  <a16:creationId xmlns:a16="http://schemas.microsoft.com/office/drawing/2014/main" id="{8D248FF1-97D0-4628-9976-30DA1BB7C08E}"/>
                </a:ext>
              </a:extLst>
            </p:cNvPr>
            <p:cNvSpPr>
              <a:spLocks noChangeShapeType="1"/>
            </p:cNvSpPr>
            <p:nvPr/>
          </p:nvSpPr>
          <p:spPr bwMode="auto">
            <a:xfrm flipH="1">
              <a:off x="3264" y="2976"/>
              <a:ext cx="96" cy="144"/>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grpSp>
      <p:grpSp>
        <p:nvGrpSpPr>
          <p:cNvPr id="38" name="Group 3">
            <a:extLst>
              <a:ext uri="{FF2B5EF4-FFF2-40B4-BE49-F238E27FC236}">
                <a16:creationId xmlns:a16="http://schemas.microsoft.com/office/drawing/2014/main" id="{5239DECD-B44D-45F3-B78F-610CE8EA6941}"/>
              </a:ext>
            </a:extLst>
          </p:cNvPr>
          <p:cNvGrpSpPr>
            <a:grpSpLocks/>
          </p:cNvGrpSpPr>
          <p:nvPr/>
        </p:nvGrpSpPr>
        <p:grpSpPr bwMode="auto">
          <a:xfrm>
            <a:off x="11925707" y="4319560"/>
            <a:ext cx="198560" cy="251296"/>
            <a:chOff x="3264" y="2544"/>
            <a:chExt cx="240" cy="240"/>
          </a:xfrm>
        </p:grpSpPr>
        <p:sp>
          <p:nvSpPr>
            <p:cNvPr id="39" name="Line 4">
              <a:extLst>
                <a:ext uri="{FF2B5EF4-FFF2-40B4-BE49-F238E27FC236}">
                  <a16:creationId xmlns:a16="http://schemas.microsoft.com/office/drawing/2014/main" id="{0A542AD5-ED67-4E2E-93E6-EFF8555C0BEA}"/>
                </a:ext>
              </a:extLst>
            </p:cNvPr>
            <p:cNvSpPr>
              <a:spLocks noChangeShapeType="1"/>
            </p:cNvSpPr>
            <p:nvPr/>
          </p:nvSpPr>
          <p:spPr bwMode="auto">
            <a:xfrm>
              <a:off x="3264" y="2688"/>
              <a:ext cx="48" cy="96"/>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sp>
          <p:nvSpPr>
            <p:cNvPr id="40" name="Line 5">
              <a:extLst>
                <a:ext uri="{FF2B5EF4-FFF2-40B4-BE49-F238E27FC236}">
                  <a16:creationId xmlns:a16="http://schemas.microsoft.com/office/drawing/2014/main" id="{54473046-C013-4190-814C-8AB6288526B8}"/>
                </a:ext>
              </a:extLst>
            </p:cNvPr>
            <p:cNvSpPr>
              <a:spLocks noChangeShapeType="1"/>
            </p:cNvSpPr>
            <p:nvPr/>
          </p:nvSpPr>
          <p:spPr bwMode="auto">
            <a:xfrm flipV="1">
              <a:off x="3312" y="2544"/>
              <a:ext cx="192" cy="240"/>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grpSp>
      <p:grpSp>
        <p:nvGrpSpPr>
          <p:cNvPr id="41" name="Group 3">
            <a:extLst>
              <a:ext uri="{FF2B5EF4-FFF2-40B4-BE49-F238E27FC236}">
                <a16:creationId xmlns:a16="http://schemas.microsoft.com/office/drawing/2014/main" id="{3962852E-2257-4F83-A359-26A106C2CF90}"/>
              </a:ext>
            </a:extLst>
          </p:cNvPr>
          <p:cNvGrpSpPr>
            <a:grpSpLocks/>
          </p:cNvGrpSpPr>
          <p:nvPr/>
        </p:nvGrpSpPr>
        <p:grpSpPr bwMode="auto">
          <a:xfrm>
            <a:off x="11398675" y="4693668"/>
            <a:ext cx="198560" cy="251296"/>
            <a:chOff x="3264" y="2544"/>
            <a:chExt cx="240" cy="240"/>
          </a:xfrm>
        </p:grpSpPr>
        <p:sp>
          <p:nvSpPr>
            <p:cNvPr id="42" name="Line 4">
              <a:extLst>
                <a:ext uri="{FF2B5EF4-FFF2-40B4-BE49-F238E27FC236}">
                  <a16:creationId xmlns:a16="http://schemas.microsoft.com/office/drawing/2014/main" id="{E7533E4C-F391-4BCD-A39C-CF5CD595A550}"/>
                </a:ext>
              </a:extLst>
            </p:cNvPr>
            <p:cNvSpPr>
              <a:spLocks noChangeShapeType="1"/>
            </p:cNvSpPr>
            <p:nvPr/>
          </p:nvSpPr>
          <p:spPr bwMode="auto">
            <a:xfrm>
              <a:off x="3264" y="2688"/>
              <a:ext cx="48" cy="96"/>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sp>
          <p:nvSpPr>
            <p:cNvPr id="43" name="Line 5">
              <a:extLst>
                <a:ext uri="{FF2B5EF4-FFF2-40B4-BE49-F238E27FC236}">
                  <a16:creationId xmlns:a16="http://schemas.microsoft.com/office/drawing/2014/main" id="{2CD1F10D-E544-4037-977C-79AE6AEAA803}"/>
                </a:ext>
              </a:extLst>
            </p:cNvPr>
            <p:cNvSpPr>
              <a:spLocks noChangeShapeType="1"/>
            </p:cNvSpPr>
            <p:nvPr/>
          </p:nvSpPr>
          <p:spPr bwMode="auto">
            <a:xfrm flipV="1">
              <a:off x="3312" y="2544"/>
              <a:ext cx="192" cy="240"/>
            </a:xfrm>
            <a:prstGeom prst="line">
              <a:avLst/>
            </a:prstGeom>
            <a:noFill/>
            <a:ln w="38100">
              <a:solidFill>
                <a:srgbClr val="FF0000"/>
              </a:solidFill>
              <a:round/>
              <a:headEnd/>
              <a:tailEnd/>
            </a:ln>
          </p:spPr>
          <p:txBody>
            <a:bodyPr/>
            <a:lstStyle/>
            <a:p>
              <a:pPr eaLnBrk="1" hangingPunct="1">
                <a:defRPr/>
              </a:pPr>
              <a:endParaRPr lang="zh-CN" altLang="en-US">
                <a:latin typeface="+mn-lt"/>
                <a:ea typeface="黑体" panose="02010609060101010101" pitchFamily="49" charset="-122"/>
              </a:endParaRPr>
            </a:p>
          </p:txBody>
        </p:sp>
      </p:grpSp>
      <p:sp>
        <p:nvSpPr>
          <p:cNvPr id="44" name="矩形 11">
            <a:extLst>
              <a:ext uri="{FF2B5EF4-FFF2-40B4-BE49-F238E27FC236}">
                <a16:creationId xmlns:a16="http://schemas.microsoft.com/office/drawing/2014/main" id="{BC75C02E-54C2-4980-90FD-A216BAA027E3}"/>
              </a:ext>
            </a:extLst>
          </p:cNvPr>
          <p:cNvSpPr>
            <a:spLocks noChangeArrowheads="1"/>
          </p:cNvSpPr>
          <p:nvPr/>
        </p:nvSpPr>
        <p:spPr bwMode="auto">
          <a:xfrm>
            <a:off x="81975" y="6409967"/>
            <a:ext cx="47588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b="0" spc="-100" dirty="0">
                <a:solidFill>
                  <a:srgbClr val="104E87"/>
                </a:solidFill>
                <a:latin typeface="华光行书_CNKI" panose="02000500000000000000" pitchFamily="2" charset="-122"/>
                <a:ea typeface="华光行书_CNKI" panose="02000500000000000000" pitchFamily="2" charset="-122"/>
              </a:rPr>
              <a:t>只有</a:t>
            </a:r>
            <a:r>
              <a:rPr lang="zh-CN" altLang="en-US" b="0" spc="-100" dirty="0">
                <a:solidFill>
                  <a:srgbClr val="FF0000"/>
                </a:solidFill>
                <a:latin typeface="华光行书_CNKI" panose="02000500000000000000" pitchFamily="2" charset="-122"/>
                <a:ea typeface="华光行书_CNKI" panose="02000500000000000000" pitchFamily="2" charset="-122"/>
              </a:rPr>
              <a:t>公有派生类</a:t>
            </a:r>
            <a:r>
              <a:rPr lang="zh-CN" altLang="en-US" b="0" spc="-100" dirty="0">
                <a:solidFill>
                  <a:srgbClr val="104E87"/>
                </a:solidFill>
                <a:latin typeface="华光行书_CNKI" panose="02000500000000000000" pitchFamily="2" charset="-122"/>
                <a:ea typeface="华光行书_CNKI" panose="02000500000000000000" pitchFamily="2" charset="-122"/>
              </a:rPr>
              <a:t>才能兼容基类类型</a:t>
            </a:r>
          </a:p>
        </p:txBody>
      </p:sp>
      <p:sp>
        <p:nvSpPr>
          <p:cNvPr id="46" name="矩形 10">
            <a:extLst>
              <a:ext uri="{FF2B5EF4-FFF2-40B4-BE49-F238E27FC236}">
                <a16:creationId xmlns:a16="http://schemas.microsoft.com/office/drawing/2014/main" id="{0D774563-D924-460A-81BC-ED7FD0AACE39}"/>
              </a:ext>
            </a:extLst>
          </p:cNvPr>
          <p:cNvSpPr>
            <a:spLocks noChangeArrowheads="1"/>
          </p:cNvSpPr>
          <p:nvPr/>
        </p:nvSpPr>
        <p:spPr bwMode="auto">
          <a:xfrm>
            <a:off x="5083000" y="6056502"/>
            <a:ext cx="407892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pc="-100" dirty="0">
                <a:solidFill>
                  <a:srgbClr val="FF0000"/>
                </a:solidFill>
                <a:latin typeface="华光行书_CNKI" panose="02000500000000000000" pitchFamily="2" charset="-122"/>
                <a:ea typeface="华光行书_CNKI" panose="02000500000000000000" pitchFamily="2" charset="-122"/>
              </a:rPr>
              <a:t>允许将后代类的对象赋值给祖先类</a:t>
            </a:r>
            <a:r>
              <a:rPr lang="en-US" altLang="zh-CN" spc="-100" dirty="0">
                <a:solidFill>
                  <a:srgbClr val="FF0000"/>
                </a:solidFill>
                <a:latin typeface="华光行书_CNKI" panose="02000500000000000000" pitchFamily="2" charset="-122"/>
                <a:ea typeface="华光行书_CNKI" panose="02000500000000000000" pitchFamily="2" charset="-122"/>
              </a:rPr>
              <a:t>,</a:t>
            </a:r>
            <a:r>
              <a:rPr lang="zh-CN" altLang="en-US" spc="-100" dirty="0">
                <a:solidFill>
                  <a:srgbClr val="FF0000"/>
                </a:solidFill>
                <a:latin typeface="华光行书_CNKI" panose="02000500000000000000" pitchFamily="2" charset="-122"/>
                <a:ea typeface="华光行书_CNKI" panose="02000500000000000000" pitchFamily="2" charset="-122"/>
              </a:rPr>
              <a:t>但仅发挥祖先类的作用</a:t>
            </a:r>
          </a:p>
        </p:txBody>
      </p:sp>
    </p:spTree>
    <p:extLst>
      <p:ext uri="{BB962C8B-B14F-4D97-AF65-F5344CB8AC3E}">
        <p14:creationId xmlns:p14="http://schemas.microsoft.com/office/powerpoint/2010/main" val="32402894"/>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down)">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arn(inVertical)">
                                      <p:cBhvr>
                                        <p:cTn id="15" dur="500"/>
                                        <p:tgtEl>
                                          <p:spTgt spid="8"/>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inVertic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barn(inVertical)">
                                      <p:cBhvr>
                                        <p:cTn id="23" dur="500"/>
                                        <p:tgtEl>
                                          <p:spTgt spid="44"/>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arn(inVertical)">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arn(inVertical)">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randombar(horizontal)">
                                      <p:cBhvr>
                                        <p:cTn id="38" dur="500"/>
                                        <p:tgtEl>
                                          <p:spTgt spid="46"/>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barn(inVertical)">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barn(inVertical)">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barn(inVertical)">
                                      <p:cBhvr>
                                        <p:cTn id="73" dur="500"/>
                                        <p:tgtEl>
                                          <p:spTgt spid="31"/>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249"/>
                                          </p:stCondLst>
                                        </p:cTn>
                                        <p:tgtEl>
                                          <p:spTgt spid="32"/>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249"/>
                                          </p:stCondLst>
                                        </p:cTn>
                                        <p:tgtEl>
                                          <p:spTgt spid="35"/>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38"/>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animBg="1"/>
      <p:bldP spid="12" grpId="0"/>
      <p:bldP spid="13" grpId="0"/>
      <p:bldP spid="14" grpId="0"/>
      <p:bldP spid="15" grpId="0"/>
      <p:bldP spid="31" grpId="0"/>
      <p:bldP spid="44" grpId="0"/>
      <p:bldP spid="4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9.3</a:t>
            </a:r>
            <a:r>
              <a:rPr lang="zh-CN" altLang="en-US" dirty="0">
                <a:sym typeface="+mn-lt"/>
              </a:rPr>
              <a:t>类的兼容性</a:t>
            </a:r>
          </a:p>
        </p:txBody>
      </p:sp>
      <p:sp>
        <p:nvSpPr>
          <p:cNvPr id="11" name="矩形 10">
            <a:extLst>
              <a:ext uri="{FF2B5EF4-FFF2-40B4-BE49-F238E27FC236}">
                <a16:creationId xmlns:a16="http://schemas.microsoft.com/office/drawing/2014/main" id="{127868A9-53FD-4D07-9CB8-79B641E26685}"/>
              </a:ext>
            </a:extLst>
          </p:cNvPr>
          <p:cNvSpPr/>
          <p:nvPr/>
        </p:nvSpPr>
        <p:spPr>
          <a:xfrm>
            <a:off x="349319" y="1721925"/>
            <a:ext cx="9920096" cy="1508105"/>
          </a:xfrm>
          <a:prstGeom prst="rect">
            <a:avLst/>
          </a:prstGeom>
        </p:spPr>
        <p:txBody>
          <a:bodyPr wrap="square">
            <a:spAutoFit/>
          </a:bodyPr>
          <a:lstStyle/>
          <a:p>
            <a:pPr eaLnBrk="1" hangingPunct="1">
              <a:spcBef>
                <a:spcPts val="1200"/>
              </a:spcBef>
              <a:buClr>
                <a:schemeClr val="bg2"/>
              </a:buClr>
              <a:buSzPct val="70000"/>
              <a:buFontTx/>
              <a:buBlip>
                <a:blip r:embed="rId3"/>
              </a:buBlip>
              <a:defRPr/>
            </a:pPr>
            <a:r>
              <a:rPr lang="zh-CN" altLang="en-US" dirty="0">
                <a:solidFill>
                  <a:srgbClr val="104E87"/>
                </a:solidFill>
                <a:latin typeface="Comic Sans MS" panose="030F0702030302020204" pitchFamily="66" charset="0"/>
                <a:ea typeface="华光行书_CNKI" panose="02000500000000000000" pitchFamily="2" charset="-122"/>
              </a:rPr>
              <a:t>公有派生类的对象可以被当作基类对象使用，反之则禁止</a:t>
            </a:r>
            <a:endParaRPr lang="en-US" altLang="zh-CN" dirty="0">
              <a:solidFill>
                <a:srgbClr val="104E87"/>
              </a:solidFill>
              <a:latin typeface="Comic Sans MS" panose="030F0702030302020204" pitchFamily="66" charset="0"/>
              <a:ea typeface="华光行书_CNKI" panose="02000500000000000000" pitchFamily="2" charset="-122"/>
            </a:endParaRPr>
          </a:p>
          <a:p>
            <a:pPr eaLnBrk="1" hangingPunct="1">
              <a:spcBef>
                <a:spcPts val="1200"/>
              </a:spcBef>
              <a:buClr>
                <a:schemeClr val="bg2"/>
              </a:buClr>
              <a:buSzPct val="70000"/>
              <a:buFontTx/>
              <a:buBlip>
                <a:blip r:embed="rId3"/>
              </a:buBlip>
              <a:defRPr/>
            </a:pPr>
            <a:r>
              <a:rPr lang="zh-CN" altLang="en-US" dirty="0">
                <a:solidFill>
                  <a:srgbClr val="104E87"/>
                </a:solidFill>
                <a:latin typeface="Comic Sans MS" panose="030F0702030302020204" pitchFamily="66" charset="0"/>
                <a:ea typeface="华光行书_CNKI" panose="02000500000000000000" pitchFamily="2" charset="-122"/>
              </a:rPr>
              <a:t>通过基类对象名、指针只能使用从基类继承的成员</a:t>
            </a:r>
            <a:endParaRPr lang="en-US" altLang="zh-CN" dirty="0">
              <a:solidFill>
                <a:srgbClr val="104E87"/>
              </a:solidFill>
              <a:latin typeface="Comic Sans MS" panose="030F0702030302020204" pitchFamily="66" charset="0"/>
              <a:ea typeface="华光行书_CNKI" panose="02000500000000000000" pitchFamily="2" charset="-122"/>
            </a:endParaRPr>
          </a:p>
          <a:p>
            <a:pPr eaLnBrk="1" hangingPunct="1">
              <a:spcBef>
                <a:spcPts val="1200"/>
              </a:spcBef>
              <a:buClr>
                <a:schemeClr val="bg2"/>
              </a:buClr>
              <a:buSzPct val="70000"/>
              <a:buFontTx/>
              <a:buBlip>
                <a:blip r:embed="rId3"/>
              </a:buBlip>
              <a:defRPr/>
            </a:pPr>
            <a:r>
              <a:rPr lang="zh-CN" altLang="en-US" dirty="0">
                <a:solidFill>
                  <a:srgbClr val="104E87"/>
                </a:solidFill>
                <a:latin typeface="Comic Sans MS" panose="030F0702030302020204" pitchFamily="66" charset="0"/>
                <a:ea typeface="华光行书_CNKI" panose="02000500000000000000" pitchFamily="2" charset="-122"/>
              </a:rPr>
              <a:t>但此规则只适用于</a:t>
            </a:r>
            <a:r>
              <a:rPr lang="zh-CN" altLang="en-US" dirty="0">
                <a:solidFill>
                  <a:srgbClr val="FF0000"/>
                </a:solidFill>
                <a:latin typeface="Comic Sans MS" panose="030F0702030302020204" pitchFamily="66" charset="0"/>
                <a:ea typeface="华光行书_CNKI" panose="02000500000000000000" pitchFamily="2" charset="-122"/>
              </a:rPr>
              <a:t>公有派生</a:t>
            </a:r>
            <a:r>
              <a:rPr lang="zh-CN" altLang="en-US" dirty="0">
                <a:solidFill>
                  <a:srgbClr val="104E87"/>
                </a:solidFill>
                <a:latin typeface="Comic Sans MS" panose="030F0702030302020204" pitchFamily="66" charset="0"/>
                <a:ea typeface="华光行书_CNKI" panose="02000500000000000000" pitchFamily="2" charset="-122"/>
              </a:rPr>
              <a:t>，只有</a:t>
            </a:r>
            <a:r>
              <a:rPr lang="zh-CN" altLang="en-US" dirty="0">
                <a:solidFill>
                  <a:srgbClr val="FF0000"/>
                </a:solidFill>
                <a:latin typeface="Comic Sans MS" panose="030F0702030302020204" pitchFamily="66" charset="0"/>
                <a:ea typeface="华光行书_CNKI" panose="02000500000000000000" pitchFamily="2" charset="-122"/>
              </a:rPr>
              <a:t>公有派生类</a:t>
            </a:r>
            <a:r>
              <a:rPr lang="zh-CN" altLang="en-US" dirty="0">
                <a:solidFill>
                  <a:srgbClr val="104E87"/>
                </a:solidFill>
                <a:latin typeface="Comic Sans MS" panose="030F0702030302020204" pitchFamily="66" charset="0"/>
                <a:ea typeface="华光行书_CNKI" panose="02000500000000000000" pitchFamily="2" charset="-122"/>
              </a:rPr>
              <a:t>才能兼容基类类型</a:t>
            </a:r>
          </a:p>
        </p:txBody>
      </p:sp>
      <p:sp>
        <p:nvSpPr>
          <p:cNvPr id="13" name="矩形 6">
            <a:extLst>
              <a:ext uri="{FF2B5EF4-FFF2-40B4-BE49-F238E27FC236}">
                <a16:creationId xmlns:a16="http://schemas.microsoft.com/office/drawing/2014/main" id="{15C9CE90-CC0E-4A0C-BDDE-CFC20BF037C1}"/>
              </a:ext>
            </a:extLst>
          </p:cNvPr>
          <p:cNvSpPr>
            <a:spLocks noChangeArrowheads="1"/>
          </p:cNvSpPr>
          <p:nvPr/>
        </p:nvSpPr>
        <p:spPr bwMode="auto">
          <a:xfrm>
            <a:off x="247719" y="1039744"/>
            <a:ext cx="11943488" cy="548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ts val="3800"/>
              </a:lnSpc>
            </a:pPr>
            <a:r>
              <a:rPr kumimoji="1" lang="zh-CN" altLang="en-US" dirty="0">
                <a:solidFill>
                  <a:srgbClr val="FF0000"/>
                </a:solidFill>
                <a:latin typeface="Comic Sans MS" panose="030F0702030302020204" pitchFamily="66" charset="0"/>
                <a:ea typeface="华光行书_CNKI" panose="02000500000000000000" pitchFamily="2" charset="-122"/>
              </a:rPr>
              <a:t>赋值兼容规则是</a:t>
            </a:r>
            <a:r>
              <a:rPr kumimoji="1" lang="zh-CN" altLang="en-US" dirty="0">
                <a:solidFill>
                  <a:srgbClr val="104E87"/>
                </a:solidFill>
                <a:latin typeface="Comic Sans MS" panose="030F0702030302020204" pitchFamily="66" charset="0"/>
                <a:ea typeface="华光行书_CNKI" panose="02000500000000000000" pitchFamily="2" charset="-122"/>
              </a:rPr>
              <a:t>指在需要</a:t>
            </a:r>
            <a:r>
              <a:rPr kumimoji="1" lang="zh-CN" altLang="en-US" dirty="0">
                <a:solidFill>
                  <a:srgbClr val="FF0000"/>
                </a:solidFill>
                <a:latin typeface="Comic Sans MS" panose="030F0702030302020204" pitchFamily="66" charset="0"/>
                <a:ea typeface="华光行书_CNKI" panose="02000500000000000000" pitchFamily="2" charset="-122"/>
              </a:rPr>
              <a:t>基类</a:t>
            </a:r>
            <a:r>
              <a:rPr kumimoji="1" lang="zh-CN" altLang="en-US" dirty="0">
                <a:solidFill>
                  <a:srgbClr val="104E87"/>
                </a:solidFill>
                <a:latin typeface="Comic Sans MS" panose="030F0702030302020204" pitchFamily="66" charset="0"/>
                <a:ea typeface="华光行书_CNKI" panose="02000500000000000000" pitchFamily="2" charset="-122"/>
              </a:rPr>
              <a:t>对象的任何地方都可以使用</a:t>
            </a:r>
            <a:r>
              <a:rPr kumimoji="1" lang="zh-CN" altLang="en-US" dirty="0">
                <a:solidFill>
                  <a:srgbClr val="FF0000"/>
                </a:solidFill>
                <a:latin typeface="Comic Sans MS" panose="030F0702030302020204" pitchFamily="66" charset="0"/>
                <a:ea typeface="华光行书_CNKI" panose="02000500000000000000" pitchFamily="2" charset="-122"/>
              </a:rPr>
              <a:t>公有派生类</a:t>
            </a:r>
            <a:r>
              <a:rPr kumimoji="1" lang="zh-CN" altLang="en-US" dirty="0">
                <a:solidFill>
                  <a:srgbClr val="104E87"/>
                </a:solidFill>
                <a:latin typeface="Comic Sans MS" panose="030F0702030302020204" pitchFamily="66" charset="0"/>
                <a:ea typeface="华光行书_CNKI" panose="02000500000000000000" pitchFamily="2" charset="-122"/>
              </a:rPr>
              <a:t>的对象来替代</a:t>
            </a:r>
            <a:r>
              <a:rPr kumimoji="1" lang="zh-CN" altLang="en-US" dirty="0">
                <a:latin typeface="Comic Sans MS" panose="030F0702030302020204" pitchFamily="66" charset="0"/>
                <a:ea typeface="华光行书_CNKI" panose="02000500000000000000" pitchFamily="2" charset="-122"/>
              </a:rPr>
              <a:t>。</a:t>
            </a:r>
          </a:p>
        </p:txBody>
      </p:sp>
      <p:sp>
        <p:nvSpPr>
          <p:cNvPr id="15" name="矩形 14">
            <a:extLst>
              <a:ext uri="{FF2B5EF4-FFF2-40B4-BE49-F238E27FC236}">
                <a16:creationId xmlns:a16="http://schemas.microsoft.com/office/drawing/2014/main" id="{EAC74A82-6618-45CB-8180-598FF9773811}"/>
              </a:ext>
            </a:extLst>
          </p:cNvPr>
          <p:cNvSpPr/>
          <p:nvPr/>
        </p:nvSpPr>
        <p:spPr>
          <a:xfrm>
            <a:off x="349319" y="3445096"/>
            <a:ext cx="9770865" cy="2308324"/>
          </a:xfrm>
          <a:prstGeom prst="rect">
            <a:avLst/>
          </a:prstGeom>
        </p:spPr>
        <p:txBody>
          <a:bodyPr wrap="square">
            <a:spAutoFit/>
          </a:bodyPr>
          <a:lstStyle/>
          <a:p>
            <a:pPr indent="-342900">
              <a:buClr>
                <a:schemeClr val="bg2"/>
              </a:buClr>
              <a:buSzPct val="70000"/>
              <a:buBlip>
                <a:blip r:embed="rId3"/>
              </a:buBlip>
              <a:defRPr/>
            </a:pPr>
            <a:r>
              <a:rPr lang="zh-CN" altLang="en-US" noProof="1">
                <a:solidFill>
                  <a:srgbClr val="104E87"/>
                </a:solidFill>
                <a:latin typeface="Comic Sans MS" panose="030F0702030302020204" pitchFamily="66" charset="0"/>
                <a:ea typeface="华光行书_CNKI" panose="02000500000000000000" pitchFamily="2" charset="-122"/>
                <a:sym typeface="+mn-ea"/>
              </a:rPr>
              <a:t>派生类的对象可以隐含转换为基类对象。</a:t>
            </a:r>
          </a:p>
          <a:p>
            <a:pPr>
              <a:buClr>
                <a:schemeClr val="bg2"/>
              </a:buClr>
              <a:buSzPct val="70000"/>
              <a:defRPr/>
            </a:pPr>
            <a:r>
              <a:rPr lang="en-US" altLang="zh-CN" noProof="1">
                <a:solidFill>
                  <a:srgbClr val="104E87"/>
                </a:solidFill>
                <a:latin typeface="Comic Sans MS" panose="030F0702030302020204" pitchFamily="66" charset="0"/>
                <a:ea typeface="华光行书_CNKI" panose="02000500000000000000" pitchFamily="2" charset="-122"/>
                <a:sym typeface="+mn-ea"/>
              </a:rPr>
              <a:t>     </a:t>
            </a:r>
            <a:r>
              <a:rPr lang="en-US" altLang="zh-CN" dirty="0">
                <a:solidFill>
                  <a:srgbClr val="104E87"/>
                </a:solidFill>
                <a:latin typeface="Comic Sans MS" panose="030F0702030302020204" pitchFamily="66" charset="0"/>
                <a:ea typeface="华光行书_CNKI" panose="02000500000000000000" pitchFamily="2" charset="-122"/>
              </a:rPr>
              <a:t>obj1 = obj2;</a:t>
            </a:r>
            <a:endParaRPr lang="en-US" altLang="zh-CN" noProof="1">
              <a:solidFill>
                <a:srgbClr val="104E87"/>
              </a:solidFill>
              <a:latin typeface="Comic Sans MS" panose="030F0702030302020204" pitchFamily="66" charset="0"/>
              <a:ea typeface="华光行书_CNKI" panose="02000500000000000000" pitchFamily="2" charset="-122"/>
              <a:sym typeface="+mn-ea"/>
            </a:endParaRPr>
          </a:p>
          <a:p>
            <a:pPr indent="-342900">
              <a:buClr>
                <a:schemeClr val="bg2"/>
              </a:buClr>
              <a:buSzPct val="70000"/>
              <a:buBlip>
                <a:blip r:embed="rId3"/>
              </a:buBlip>
              <a:defRPr/>
            </a:pPr>
            <a:r>
              <a:rPr lang="zh-CN" altLang="en-US" noProof="1">
                <a:solidFill>
                  <a:srgbClr val="104E87"/>
                </a:solidFill>
                <a:latin typeface="Comic Sans MS" panose="030F0702030302020204" pitchFamily="66" charset="0"/>
                <a:ea typeface="华光行书_CNKI" panose="02000500000000000000" pitchFamily="2" charset="-122"/>
                <a:sym typeface="+mn-ea"/>
              </a:rPr>
              <a:t>派生类的对象可以初始化基类的引用。</a:t>
            </a:r>
          </a:p>
          <a:p>
            <a:pPr>
              <a:buClr>
                <a:schemeClr val="bg2"/>
              </a:buClr>
              <a:buSzPct val="70000"/>
              <a:defRPr/>
            </a:pPr>
            <a:r>
              <a:rPr lang="en-US" altLang="zh-CN" dirty="0">
                <a:solidFill>
                  <a:srgbClr val="104E87"/>
                </a:solidFill>
                <a:latin typeface="Comic Sans MS" panose="030F0702030302020204" pitchFamily="66" charset="0"/>
                <a:ea typeface="华光行书_CNKI" panose="02000500000000000000" pitchFamily="2" charset="-122"/>
              </a:rPr>
              <a:t>     Base1  &amp;obj = obj2;</a:t>
            </a:r>
            <a:endParaRPr lang="en-US" altLang="zh-CN" noProof="1">
              <a:solidFill>
                <a:srgbClr val="104E87"/>
              </a:solidFill>
              <a:latin typeface="Comic Sans MS" panose="030F0702030302020204" pitchFamily="66" charset="0"/>
              <a:ea typeface="华光行书_CNKI" panose="02000500000000000000" pitchFamily="2" charset="-122"/>
              <a:sym typeface="+mn-ea"/>
            </a:endParaRPr>
          </a:p>
          <a:p>
            <a:pPr indent="-342900">
              <a:buClr>
                <a:schemeClr val="bg2"/>
              </a:buClr>
              <a:buSzPct val="70000"/>
              <a:buBlip>
                <a:blip r:embed="rId3"/>
              </a:buBlip>
              <a:defRPr/>
            </a:pPr>
            <a:r>
              <a:rPr lang="zh-CN" altLang="en-US" noProof="1">
                <a:solidFill>
                  <a:srgbClr val="104E87"/>
                </a:solidFill>
                <a:latin typeface="Comic Sans MS" panose="030F0702030302020204" pitchFamily="66" charset="0"/>
                <a:ea typeface="华光行书_CNKI" panose="02000500000000000000" pitchFamily="2" charset="-122"/>
                <a:sym typeface="+mn-ea"/>
              </a:rPr>
              <a:t>派生类的指针可以隐含转换为基类的指针。</a:t>
            </a:r>
          </a:p>
          <a:p>
            <a:pPr marL="0" lvl="1">
              <a:buClr>
                <a:schemeClr val="bg2"/>
              </a:buClr>
              <a:buSzPct val="70000"/>
              <a:buFont typeface="Georgia" panose="02040502050405020303" pitchFamily="18" charset="0"/>
              <a:buNone/>
              <a:defRPr/>
            </a:pPr>
            <a:r>
              <a:rPr lang="en-US" altLang="zh-CN" dirty="0">
                <a:solidFill>
                  <a:srgbClr val="104E87"/>
                </a:solidFill>
                <a:latin typeface="Comic Sans MS" panose="030F0702030302020204" pitchFamily="66" charset="0"/>
                <a:ea typeface="华光行书_CNKI" panose="02000500000000000000" pitchFamily="2" charset="-122"/>
              </a:rPr>
              <a:t>     p = p1</a:t>
            </a:r>
            <a:r>
              <a:rPr lang="en-US" altLang="zh-CN" noProof="1">
                <a:solidFill>
                  <a:srgbClr val="104E87"/>
                </a:solidFill>
                <a:latin typeface="Comic Sans MS" panose="030F0702030302020204" pitchFamily="66" charset="0"/>
                <a:ea typeface="华光行书_CNKI" panose="02000500000000000000" pitchFamily="2" charset="-122"/>
                <a:sym typeface="+mn-ea"/>
              </a:rPr>
              <a:t>;</a:t>
            </a:r>
          </a:p>
        </p:txBody>
      </p:sp>
      <p:sp>
        <p:nvSpPr>
          <p:cNvPr id="8" name="矩形 22">
            <a:extLst>
              <a:ext uri="{FF2B5EF4-FFF2-40B4-BE49-F238E27FC236}">
                <a16:creationId xmlns:a16="http://schemas.microsoft.com/office/drawing/2014/main" id="{AA4E843F-2109-441F-8B26-ACE4F4F9657D}"/>
              </a:ext>
            </a:extLst>
          </p:cNvPr>
          <p:cNvSpPr>
            <a:spLocks noChangeArrowheads="1"/>
          </p:cNvSpPr>
          <p:nvPr/>
        </p:nvSpPr>
        <p:spPr bwMode="auto">
          <a:xfrm>
            <a:off x="9278954" y="3336584"/>
            <a:ext cx="2912254" cy="1569660"/>
          </a:xfrm>
          <a:prstGeom prst="rect">
            <a:avLst/>
          </a:prstGeom>
          <a:noFill/>
        </p:spPr>
        <p:txBody>
          <a:bodyPr wrap="square" lIns="0" rIns="0">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r>
              <a:rPr lang="en-US" altLang="zh-CN" b="0" spc="-100" dirty="0">
                <a:solidFill>
                  <a:srgbClr val="104E87"/>
                </a:solidFill>
                <a:latin typeface="Comic Sans MS" panose="030F0702030302020204" pitchFamily="66" charset="0"/>
              </a:rPr>
              <a:t>Base1       obj1, *p;</a:t>
            </a:r>
          </a:p>
          <a:p>
            <a:r>
              <a:rPr lang="en-US" altLang="zh-CN" b="0" spc="-100" dirty="0">
                <a:solidFill>
                  <a:srgbClr val="104E87"/>
                </a:solidFill>
                <a:latin typeface="Comic Sans MS" panose="030F0702030302020204" pitchFamily="66" charset="0"/>
              </a:rPr>
              <a:t>Base2       obj2;</a:t>
            </a:r>
          </a:p>
          <a:p>
            <a:r>
              <a:rPr lang="en-US" altLang="zh-CN" b="0" spc="-100" dirty="0">
                <a:solidFill>
                  <a:srgbClr val="104E87"/>
                </a:solidFill>
                <a:latin typeface="Comic Sans MS" panose="030F0702030302020204" pitchFamily="66" charset="0"/>
              </a:rPr>
              <a:t>Derived    obj3, *p1;</a:t>
            </a:r>
          </a:p>
          <a:p>
            <a:r>
              <a:rPr lang="en-US" altLang="zh-CN" b="0" dirty="0">
                <a:solidFill>
                  <a:srgbClr val="104E87"/>
                </a:solidFill>
                <a:latin typeface="Comic Sans MS" panose="030F0702030302020204" pitchFamily="66" charset="0"/>
                <a:ea typeface="华光行书_CNKI" panose="02000500000000000000" pitchFamily="2" charset="-122"/>
              </a:rPr>
              <a:t>p1 = &amp;obj3</a:t>
            </a:r>
            <a:r>
              <a:rPr lang="en-US" altLang="zh-CN" b="0" spc="-100" dirty="0">
                <a:solidFill>
                  <a:srgbClr val="104E87"/>
                </a:solidFill>
                <a:latin typeface="Comic Sans MS" panose="030F0702030302020204" pitchFamily="66" charset="0"/>
              </a:rPr>
              <a:t> ;</a:t>
            </a:r>
            <a:r>
              <a:rPr lang="en-US" altLang="zh-CN" b="0" dirty="0">
                <a:solidFill>
                  <a:srgbClr val="104E87"/>
                </a:solidFill>
                <a:latin typeface="Comic Sans MS" panose="030F0702030302020204" pitchFamily="66" charset="0"/>
                <a:ea typeface="华光行书_CNKI" panose="02000500000000000000" pitchFamily="2" charset="-122"/>
              </a:rPr>
              <a:t> </a:t>
            </a:r>
            <a:endParaRPr lang="en-US" altLang="zh-CN" b="0" spc="-100" dirty="0">
              <a:solidFill>
                <a:srgbClr val="104E87"/>
              </a:solidFill>
              <a:latin typeface="Comic Sans MS" panose="030F0702030302020204" pitchFamily="66" charset="0"/>
            </a:endParaRPr>
          </a:p>
        </p:txBody>
      </p:sp>
    </p:spTree>
    <p:extLst>
      <p:ext uri="{BB962C8B-B14F-4D97-AF65-F5344CB8AC3E}">
        <p14:creationId xmlns:p14="http://schemas.microsoft.com/office/powerpoint/2010/main" val="3163555491"/>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9.4</a:t>
            </a:r>
            <a:r>
              <a:rPr lang="zh-CN" altLang="en-US" dirty="0">
                <a:sym typeface="+mn-lt"/>
              </a:rPr>
              <a:t>派生类的构造函数和析构函数</a:t>
            </a:r>
          </a:p>
        </p:txBody>
      </p:sp>
      <p:sp>
        <p:nvSpPr>
          <p:cNvPr id="8" name="Rectangle 3">
            <a:extLst>
              <a:ext uri="{FF2B5EF4-FFF2-40B4-BE49-F238E27FC236}">
                <a16:creationId xmlns:a16="http://schemas.microsoft.com/office/drawing/2014/main" id="{0A0A31B3-3CDF-4638-8A11-49D625B0F1ED}"/>
              </a:ext>
            </a:extLst>
          </p:cNvPr>
          <p:cNvSpPr>
            <a:spLocks noChangeArrowheads="1"/>
          </p:cNvSpPr>
          <p:nvPr/>
        </p:nvSpPr>
        <p:spPr bwMode="auto">
          <a:xfrm>
            <a:off x="111211" y="1012688"/>
            <a:ext cx="12190413" cy="1600438"/>
          </a:xfrm>
          <a:prstGeom prst="rect">
            <a:avLst/>
          </a:prstGeom>
          <a:noFill/>
          <a:ln w="28575" cap="flat" cmpd="sng" algn="ctr">
            <a:noFill/>
            <a:prstDash val="solid"/>
            <a:miter lim="800000"/>
            <a:headEnd/>
            <a:tailEnd/>
          </a:ln>
          <a:effectLst/>
        </p:spPr>
        <p:txBody>
          <a:bodyPr wrap="square" anchor="ctr">
            <a:spAutoFit/>
          </a:bodyPr>
          <a:lstStyle/>
          <a:p>
            <a:pPr>
              <a:lnSpc>
                <a:spcPct val="150000"/>
              </a:lnSpc>
              <a:defRPr/>
            </a:pPr>
            <a:r>
              <a:rPr lang="zh-CN" altLang="en-US" sz="2800" dirty="0">
                <a:solidFill>
                  <a:srgbClr val="104E87"/>
                </a:solidFill>
                <a:latin typeface="华光行书_CNKI" panose="02000500000000000000" pitchFamily="2" charset="-122"/>
                <a:ea typeface="华光行书_CNKI" panose="02000500000000000000" pitchFamily="2" charset="-122"/>
                <a:cs typeface="Times New Roman" pitchFamily="18" charset="0"/>
              </a:rPr>
              <a:t>基类和派生类都有各自的构造函数和析构函数。</a:t>
            </a:r>
            <a:endParaRPr lang="en-US" altLang="zh-CN" sz="2800" dirty="0">
              <a:solidFill>
                <a:srgbClr val="104E87"/>
              </a:solidFill>
              <a:latin typeface="华光行书_CNKI" panose="02000500000000000000" pitchFamily="2" charset="-122"/>
              <a:ea typeface="华光行书_CNKI" panose="02000500000000000000" pitchFamily="2" charset="-122"/>
              <a:cs typeface="Times New Roman" pitchFamily="18" charset="0"/>
            </a:endParaRPr>
          </a:p>
          <a:p>
            <a:pPr>
              <a:defRPr/>
            </a:pPr>
            <a:r>
              <a:rPr lang="zh-CN" altLang="en-US" sz="2800" dirty="0">
                <a:solidFill>
                  <a:srgbClr val="FF0000"/>
                </a:solidFill>
                <a:latin typeface="华光行书_CNKI" panose="02000500000000000000" pitchFamily="2" charset="-122"/>
                <a:ea typeface="华光行书_CNKI" panose="02000500000000000000" pitchFamily="2" charset="-122"/>
                <a:cs typeface="Times New Roman" pitchFamily="18" charset="0"/>
              </a:rPr>
              <a:t>思考：</a:t>
            </a:r>
            <a:r>
              <a:rPr lang="zh-CN" altLang="en-US" sz="2800" dirty="0">
                <a:solidFill>
                  <a:srgbClr val="104E87"/>
                </a:solidFill>
                <a:latin typeface="华光行书_CNKI" panose="02000500000000000000" pitchFamily="2" charset="-122"/>
                <a:ea typeface="华光行书_CNKI" panose="02000500000000000000" pitchFamily="2" charset="-122"/>
                <a:cs typeface="Times New Roman" pitchFamily="18" charset="0"/>
              </a:rPr>
              <a:t>在派生类创建对象和撤销对象时，基类和派生类的构造函数和析构函数调用规则是怎样的？</a:t>
            </a:r>
            <a:endParaRPr lang="zh-CN" altLang="en-US" sz="2800" dirty="0">
              <a:solidFill>
                <a:srgbClr val="104E87"/>
              </a:solidFill>
              <a:latin typeface="华光行书_CNKI" panose="02000500000000000000" pitchFamily="2" charset="-122"/>
              <a:ea typeface="华光行书_CNKI" panose="02000500000000000000" pitchFamily="2" charset="-122"/>
            </a:endParaRPr>
          </a:p>
        </p:txBody>
      </p:sp>
      <p:sp>
        <p:nvSpPr>
          <p:cNvPr id="10" name="Rectangle 3">
            <a:extLst>
              <a:ext uri="{FF2B5EF4-FFF2-40B4-BE49-F238E27FC236}">
                <a16:creationId xmlns:a16="http://schemas.microsoft.com/office/drawing/2014/main" id="{756C4229-1654-4403-8A06-683C54B26715}"/>
              </a:ext>
            </a:extLst>
          </p:cNvPr>
          <p:cNvSpPr txBox="1">
            <a:spLocks noChangeArrowheads="1"/>
          </p:cNvSpPr>
          <p:nvPr/>
        </p:nvSpPr>
        <p:spPr>
          <a:xfrm>
            <a:off x="42256" y="2995027"/>
            <a:ext cx="5530642" cy="2071243"/>
          </a:xfrm>
          <a:prstGeom prst="rect">
            <a:avLst/>
          </a:prstGeom>
        </p:spPr>
        <p:txBody>
          <a:bodyPr/>
          <a:lstStyle>
            <a:lvl1pPr marL="469900" indent="-469900" algn="l" rtl="0" eaLnBrk="0" fontAlgn="base" hangingPunct="0">
              <a:spcBef>
                <a:spcPct val="20000"/>
              </a:spcBef>
              <a:spcAft>
                <a:spcPct val="0"/>
              </a:spcAft>
              <a:buClr>
                <a:schemeClr val="bg2"/>
              </a:buClr>
              <a:buSzPct val="70000"/>
              <a:buFont typeface="Wingdings" pitchFamily="2" charset="2"/>
              <a:buChar char="o"/>
              <a:defRPr sz="3200">
                <a:solidFill>
                  <a:srgbClr val="0000FF"/>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pPr eaLnBrk="1" hangingPunct="1">
              <a:buFont typeface="Wingdings" pitchFamily="2" charset="2"/>
              <a:buNone/>
              <a:defRPr/>
            </a:pPr>
            <a:r>
              <a:rPr lang="en-US" altLang="zh-CN" sz="2400" dirty="0">
                <a:solidFill>
                  <a:srgbClr val="104E87"/>
                </a:solidFill>
                <a:latin typeface="华光行书_CNKI" panose="02000500000000000000" pitchFamily="2" charset="-122"/>
                <a:ea typeface="华光行书_CNKI" panose="02000500000000000000" pitchFamily="2" charset="-122"/>
              </a:rPr>
              <a:t>1. </a:t>
            </a:r>
            <a:r>
              <a:rPr lang="zh-CN" altLang="en-US" sz="2400" dirty="0">
                <a:solidFill>
                  <a:srgbClr val="104E87"/>
                </a:solidFill>
                <a:latin typeface="华光行书_CNKI" panose="02000500000000000000" pitchFamily="2" charset="-122"/>
                <a:ea typeface="华光行书_CNKI" panose="02000500000000000000" pitchFamily="2" charset="-122"/>
              </a:rPr>
              <a:t>构造函数的调用次序 </a:t>
            </a:r>
          </a:p>
          <a:p>
            <a:pPr marL="271463" lvl="1" indent="0" eaLnBrk="1" hangingPunct="1">
              <a:spcBef>
                <a:spcPts val="1200"/>
              </a:spcBef>
              <a:buClr>
                <a:schemeClr val="bg2"/>
              </a:buClr>
              <a:buSzPct val="70000"/>
              <a:buBlip>
                <a:blip r:embed="rId3"/>
              </a:buBlip>
              <a:defRPr/>
            </a:pPr>
            <a:r>
              <a:rPr lang="zh-CN" altLang="en-US" sz="2400" dirty="0">
                <a:solidFill>
                  <a:srgbClr val="104E87"/>
                </a:solidFill>
                <a:latin typeface="华光行书_CNKI" panose="02000500000000000000" pitchFamily="2" charset="-122"/>
                <a:ea typeface="华光行书_CNKI" panose="02000500000000000000" pitchFamily="2" charset="-122"/>
              </a:rPr>
              <a:t>先调用其基类的构造函数</a:t>
            </a:r>
          </a:p>
          <a:p>
            <a:pPr marL="271463" lvl="1" indent="0" eaLnBrk="1" hangingPunct="1">
              <a:spcBef>
                <a:spcPts val="1200"/>
              </a:spcBef>
              <a:buClr>
                <a:schemeClr val="bg2"/>
              </a:buClr>
              <a:buSzPct val="70000"/>
              <a:buBlip>
                <a:blip r:embed="rId3"/>
              </a:buBlip>
              <a:defRPr/>
            </a:pPr>
            <a:r>
              <a:rPr lang="zh-CN" altLang="en-US" sz="2400" dirty="0">
                <a:solidFill>
                  <a:srgbClr val="104E87"/>
                </a:solidFill>
                <a:latin typeface="华光行书_CNKI" panose="02000500000000000000" pitchFamily="2" charset="-122"/>
                <a:ea typeface="华光行书_CNKI" panose="02000500000000000000" pitchFamily="2" charset="-122"/>
              </a:rPr>
              <a:t>再调用本类对象成员的构造函数</a:t>
            </a:r>
          </a:p>
          <a:p>
            <a:pPr marL="271463" lvl="1" indent="0" eaLnBrk="1" hangingPunct="1">
              <a:spcBef>
                <a:spcPts val="1200"/>
              </a:spcBef>
              <a:buClr>
                <a:schemeClr val="bg2"/>
              </a:buClr>
              <a:buSzPct val="70000"/>
              <a:buBlip>
                <a:blip r:embed="rId3"/>
              </a:buBlip>
              <a:defRPr/>
            </a:pPr>
            <a:r>
              <a:rPr lang="zh-CN" altLang="en-US" sz="2400" dirty="0">
                <a:solidFill>
                  <a:srgbClr val="104E87"/>
                </a:solidFill>
                <a:latin typeface="华光行书_CNKI" panose="02000500000000000000" pitchFamily="2" charset="-122"/>
                <a:ea typeface="华光行书_CNKI" panose="02000500000000000000" pitchFamily="2" charset="-122"/>
              </a:rPr>
              <a:t>最后才调用本类的构造函数</a:t>
            </a:r>
          </a:p>
        </p:txBody>
      </p:sp>
      <p:sp>
        <p:nvSpPr>
          <p:cNvPr id="12" name="Rectangle 3">
            <a:extLst>
              <a:ext uri="{FF2B5EF4-FFF2-40B4-BE49-F238E27FC236}">
                <a16:creationId xmlns:a16="http://schemas.microsoft.com/office/drawing/2014/main" id="{E3CA53B7-AD17-4DF6-94DA-F1F782E5340E}"/>
              </a:ext>
            </a:extLst>
          </p:cNvPr>
          <p:cNvSpPr txBox="1">
            <a:spLocks noChangeArrowheads="1"/>
          </p:cNvSpPr>
          <p:nvPr/>
        </p:nvSpPr>
        <p:spPr>
          <a:xfrm>
            <a:off x="6235249" y="2898613"/>
            <a:ext cx="5392459" cy="2071243"/>
          </a:xfrm>
          <a:prstGeom prst="rect">
            <a:avLst/>
          </a:prstGeom>
        </p:spPr>
        <p:txBody>
          <a:bodyPr/>
          <a:lstStyle>
            <a:lvl1pPr marL="469900" indent="-469900" algn="l" rtl="0" eaLnBrk="0" fontAlgn="base" hangingPunct="0">
              <a:spcBef>
                <a:spcPct val="20000"/>
              </a:spcBef>
              <a:spcAft>
                <a:spcPct val="0"/>
              </a:spcAft>
              <a:buClr>
                <a:schemeClr val="bg2"/>
              </a:buClr>
              <a:buSzPct val="70000"/>
              <a:buFont typeface="Wingdings" pitchFamily="2" charset="2"/>
              <a:buChar char="o"/>
              <a:defRPr sz="3200">
                <a:solidFill>
                  <a:srgbClr val="0000FF"/>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pPr eaLnBrk="1" hangingPunct="1">
              <a:buNone/>
              <a:defRPr/>
            </a:pPr>
            <a:r>
              <a:rPr lang="en-US" altLang="zh-CN" sz="2400" dirty="0">
                <a:solidFill>
                  <a:srgbClr val="104E87"/>
                </a:solidFill>
                <a:latin typeface="华光行书_CNKI" panose="02000500000000000000" pitchFamily="2" charset="-122"/>
                <a:ea typeface="华光行书_CNKI" panose="02000500000000000000" pitchFamily="2" charset="-122"/>
              </a:rPr>
              <a:t>2. </a:t>
            </a:r>
            <a:r>
              <a:rPr lang="zh-CN" altLang="en-US" sz="2400" dirty="0">
                <a:solidFill>
                  <a:srgbClr val="104E87"/>
                </a:solidFill>
                <a:latin typeface="华光行书_CNKI" panose="02000500000000000000" pitchFamily="2" charset="-122"/>
                <a:ea typeface="华光行书_CNKI" panose="02000500000000000000" pitchFamily="2" charset="-122"/>
              </a:rPr>
              <a:t>析构函数的调用次序</a:t>
            </a:r>
          </a:p>
          <a:p>
            <a:pPr marL="271463" lvl="1" indent="0" eaLnBrk="1" hangingPunct="1">
              <a:spcBef>
                <a:spcPts val="1200"/>
              </a:spcBef>
              <a:buClr>
                <a:schemeClr val="bg2"/>
              </a:buClr>
              <a:buSzPct val="70000"/>
              <a:buBlip>
                <a:blip r:embed="rId3"/>
              </a:buBlip>
              <a:defRPr/>
            </a:pPr>
            <a:r>
              <a:rPr lang="zh-CN" altLang="en-US" sz="2400" dirty="0">
                <a:solidFill>
                  <a:srgbClr val="104E87"/>
                </a:solidFill>
                <a:latin typeface="华光行书_CNKI" panose="02000500000000000000" pitchFamily="2" charset="-122"/>
                <a:ea typeface="华光行书_CNKI" panose="02000500000000000000" pitchFamily="2" charset="-122"/>
              </a:rPr>
              <a:t>先调用本类的析构函数</a:t>
            </a:r>
          </a:p>
          <a:p>
            <a:pPr marL="271463" lvl="1" indent="0" eaLnBrk="1" hangingPunct="1">
              <a:spcBef>
                <a:spcPts val="1200"/>
              </a:spcBef>
              <a:buClr>
                <a:schemeClr val="bg2"/>
              </a:buClr>
              <a:buSzPct val="70000"/>
              <a:buBlip>
                <a:blip r:embed="rId3"/>
              </a:buBlip>
              <a:defRPr/>
            </a:pPr>
            <a:r>
              <a:rPr lang="zh-CN" altLang="en-US" sz="2400" dirty="0">
                <a:solidFill>
                  <a:srgbClr val="104E87"/>
                </a:solidFill>
                <a:latin typeface="华光行书_CNKI" panose="02000500000000000000" pitchFamily="2" charset="-122"/>
                <a:ea typeface="华光行书_CNKI" panose="02000500000000000000" pitchFamily="2" charset="-122"/>
              </a:rPr>
              <a:t>再调用本类对象成员的析构函数</a:t>
            </a:r>
          </a:p>
          <a:p>
            <a:pPr marL="271463" lvl="1" indent="0" eaLnBrk="1" hangingPunct="1">
              <a:spcBef>
                <a:spcPts val="1200"/>
              </a:spcBef>
              <a:buClr>
                <a:schemeClr val="bg2"/>
              </a:buClr>
              <a:buSzPct val="70000"/>
              <a:buBlip>
                <a:blip r:embed="rId3"/>
              </a:buBlip>
              <a:defRPr/>
            </a:pPr>
            <a:r>
              <a:rPr lang="zh-CN" altLang="en-US" sz="2400" dirty="0">
                <a:solidFill>
                  <a:srgbClr val="104E87"/>
                </a:solidFill>
                <a:latin typeface="华光行书_CNKI" panose="02000500000000000000" pitchFamily="2" charset="-122"/>
                <a:ea typeface="华光行书_CNKI" panose="02000500000000000000" pitchFamily="2" charset="-122"/>
              </a:rPr>
              <a:t>最后才调用其基类的析构函数</a:t>
            </a:r>
          </a:p>
        </p:txBody>
      </p:sp>
    </p:spTree>
    <p:extLst>
      <p:ext uri="{BB962C8B-B14F-4D97-AF65-F5344CB8AC3E}">
        <p14:creationId xmlns:p14="http://schemas.microsoft.com/office/powerpoint/2010/main" val="1620185783"/>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arn(inVertical)">
                                      <p:cBhvr>
                                        <p:cTn id="7" dur="500"/>
                                        <p:tgtEl>
                                          <p:spTgt spid="10">
                                            <p:txEl>
                                              <p:pRg st="1" end="1"/>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animEffect transition="in" filter="barn(inVertical)">
                                      <p:cBhvr>
                                        <p:cTn id="11" dur="500"/>
                                        <p:tgtEl>
                                          <p:spTgt spid="10">
                                            <p:txEl>
                                              <p:pRg st="2" end="2"/>
                                            </p:txEl>
                                          </p:spTgt>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barn(inVertical)">
                                      <p:cBhvr>
                                        <p:cTn id="15" dur="500"/>
                                        <p:tgtEl>
                                          <p:spTgt spid="1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xEl>
                                              <p:pRg st="1" end="1"/>
                                            </p:txEl>
                                          </p:spTgt>
                                        </p:tgtEl>
                                        <p:attrNameLst>
                                          <p:attrName>style.visibility</p:attrName>
                                        </p:attrNameLst>
                                      </p:cBhvr>
                                      <p:to>
                                        <p:strVal val="visible"/>
                                      </p:to>
                                    </p:set>
                                    <p:animEffect transition="in" filter="fade">
                                      <p:cBhvr>
                                        <p:cTn id="20" dur="500"/>
                                        <p:tgtEl>
                                          <p:spTgt spid="12">
                                            <p:txEl>
                                              <p:pRg st="1" end="1"/>
                                            </p:txEl>
                                          </p:spTgt>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2">
                                            <p:txEl>
                                              <p:pRg st="2" end="2"/>
                                            </p:txEl>
                                          </p:spTgt>
                                        </p:tgtEl>
                                        <p:attrNameLst>
                                          <p:attrName>style.visibility</p:attrName>
                                        </p:attrNameLst>
                                      </p:cBhvr>
                                      <p:to>
                                        <p:strVal val="visible"/>
                                      </p:to>
                                    </p:set>
                                    <p:animEffect transition="in" filter="fade">
                                      <p:cBhvr>
                                        <p:cTn id="24" dur="500"/>
                                        <p:tgtEl>
                                          <p:spTgt spid="12">
                                            <p:txEl>
                                              <p:pRg st="2" end="2"/>
                                            </p:txEl>
                                          </p:spTgt>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12">
                                            <p:txEl>
                                              <p:pRg st="3" end="3"/>
                                            </p:txEl>
                                          </p:spTgt>
                                        </p:tgtEl>
                                        <p:attrNameLst>
                                          <p:attrName>style.visibility</p:attrName>
                                        </p:attrNameLst>
                                      </p:cBhvr>
                                      <p:to>
                                        <p:strVal val="visible"/>
                                      </p:to>
                                    </p:set>
                                    <p:animEffect transition="in" filter="fade">
                                      <p:cBhvr>
                                        <p:cTn id="28"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9.4</a:t>
            </a:r>
            <a:r>
              <a:rPr lang="zh-CN" altLang="en-US" dirty="0">
                <a:sym typeface="+mn-lt"/>
              </a:rPr>
              <a:t>派生类的构造函数和析构函数</a:t>
            </a:r>
          </a:p>
        </p:txBody>
      </p:sp>
      <p:sp>
        <p:nvSpPr>
          <p:cNvPr id="11" name="Rectangle 1">
            <a:extLst>
              <a:ext uri="{FF2B5EF4-FFF2-40B4-BE49-F238E27FC236}">
                <a16:creationId xmlns:a16="http://schemas.microsoft.com/office/drawing/2014/main" id="{65738911-16F8-4898-8AA0-B03EC2AD3A88}"/>
              </a:ext>
            </a:extLst>
          </p:cNvPr>
          <p:cNvSpPr>
            <a:spLocks noChangeArrowheads="1"/>
          </p:cNvSpPr>
          <p:nvPr/>
        </p:nvSpPr>
        <p:spPr bwMode="auto">
          <a:xfrm>
            <a:off x="0" y="953444"/>
            <a:ext cx="5820031" cy="528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nchor="ct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BC1{</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public:</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BC1(){</a:t>
            </a:r>
            <a:r>
              <a:rPr lang="en-US" altLang="zh-CN" sz="24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&lt;&lt;"BC1::() executes...\n";}</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~BC1(){</a:t>
            </a:r>
            <a:r>
              <a:rPr lang="en-US" altLang="zh-CN" sz="24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&lt;&lt;"~BC1::() executes...\n";}</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700"/>
              </a:lnSpc>
              <a:spcBef>
                <a:spcPct val="0"/>
              </a:spcBef>
              <a:buClrTx/>
              <a:buSzTx/>
              <a:buFontTx/>
              <a:buNone/>
            </a:pPr>
            <a:endPar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endParaRP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DC1:public BC1{</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public:</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DC1() {</a:t>
            </a:r>
            <a:r>
              <a:rPr lang="en-US" altLang="zh-CN" sz="24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&lt;&lt;"DC1::() executes...\n";}</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~DC1(){</a:t>
            </a:r>
            <a:r>
              <a:rPr lang="en-US" altLang="zh-CN" sz="24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&lt;&lt;"~DC1::() executes...\n";}</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int main()</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{DC1 d;</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return 0;</a:t>
            </a:r>
          </a:p>
          <a:p>
            <a:pPr>
              <a:lnSpc>
                <a:spcPts val="2700"/>
              </a:lnSpc>
              <a:spcBef>
                <a:spcPct val="0"/>
              </a:spcBef>
              <a:buClrTx/>
              <a:buSzTx/>
              <a:buFontTx/>
              <a:buNone/>
            </a:pPr>
            <a:r>
              <a:rPr lang="en-US" altLang="zh-CN" sz="24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a:t>
            </a:r>
          </a:p>
        </p:txBody>
      </p:sp>
      <p:sp>
        <p:nvSpPr>
          <p:cNvPr id="14" name="矩形 4">
            <a:extLst>
              <a:ext uri="{FF2B5EF4-FFF2-40B4-BE49-F238E27FC236}">
                <a16:creationId xmlns:a16="http://schemas.microsoft.com/office/drawing/2014/main" id="{F3EE48EB-C01F-481E-99BA-955A552A9199}"/>
              </a:ext>
            </a:extLst>
          </p:cNvPr>
          <p:cNvSpPr>
            <a:spLocks noChangeArrowheads="1"/>
          </p:cNvSpPr>
          <p:nvPr/>
        </p:nvSpPr>
        <p:spPr bwMode="auto">
          <a:xfrm>
            <a:off x="1418688" y="4653695"/>
            <a:ext cx="351015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zh-CN" sz="2400" dirty="0">
                <a:solidFill>
                  <a:srgbClr val="FF0000"/>
                </a:solidFill>
                <a:latin typeface="华光行书_CNKI" panose="02000500000000000000" pitchFamily="2" charset="-122"/>
                <a:ea typeface="华光行书_CNKI" panose="02000500000000000000" pitchFamily="2" charset="-122"/>
              </a:rPr>
              <a:t>创建派生类对象时</a:t>
            </a:r>
            <a:r>
              <a:rPr lang="en-US" altLang="zh-CN" sz="2400" dirty="0">
                <a:solidFill>
                  <a:srgbClr val="FF0000"/>
                </a:solidFill>
                <a:latin typeface="华光行书_CNKI" panose="02000500000000000000" pitchFamily="2" charset="-122"/>
                <a:ea typeface="华光行书_CNKI" panose="02000500000000000000" pitchFamily="2" charset="-122"/>
              </a:rPr>
              <a:t>,</a:t>
            </a:r>
            <a:r>
              <a:rPr lang="zh-CN" altLang="zh-CN" sz="2400" dirty="0">
                <a:solidFill>
                  <a:srgbClr val="FF0000"/>
                </a:solidFill>
                <a:latin typeface="华光行书_CNKI" panose="02000500000000000000" pitchFamily="2" charset="-122"/>
                <a:ea typeface="华光行书_CNKI" panose="02000500000000000000" pitchFamily="2" charset="-122"/>
              </a:rPr>
              <a:t>先执行基类构造函数</a:t>
            </a:r>
            <a:r>
              <a:rPr lang="en-US" altLang="zh-CN" sz="2400" dirty="0">
                <a:solidFill>
                  <a:srgbClr val="FF0000"/>
                </a:solidFill>
                <a:latin typeface="华光行书_CNKI" panose="02000500000000000000" pitchFamily="2" charset="-122"/>
                <a:ea typeface="华光行书_CNKI" panose="02000500000000000000" pitchFamily="2" charset="-122"/>
              </a:rPr>
              <a:t>,</a:t>
            </a:r>
            <a:r>
              <a:rPr lang="zh-CN" altLang="zh-CN" sz="2400" dirty="0">
                <a:solidFill>
                  <a:srgbClr val="FF0000"/>
                </a:solidFill>
                <a:latin typeface="华光行书_CNKI" panose="02000500000000000000" pitchFamily="2" charset="-122"/>
                <a:ea typeface="华光行书_CNKI" panose="02000500000000000000" pitchFamily="2" charset="-122"/>
              </a:rPr>
              <a:t>再执行派生类的构造函数</a:t>
            </a:r>
            <a:r>
              <a:rPr lang="en-US" altLang="zh-CN" sz="2400" dirty="0">
                <a:solidFill>
                  <a:srgbClr val="FF0000"/>
                </a:solidFill>
                <a:latin typeface="华光行书_CNKI" panose="02000500000000000000" pitchFamily="2" charset="-122"/>
                <a:ea typeface="华光行书_CNKI" panose="02000500000000000000" pitchFamily="2" charset="-122"/>
              </a:rPr>
              <a:t>;</a:t>
            </a:r>
            <a:r>
              <a:rPr lang="zh-CN" altLang="zh-CN" sz="2400" dirty="0">
                <a:solidFill>
                  <a:srgbClr val="FF0000"/>
                </a:solidFill>
                <a:latin typeface="华光行书_CNKI" panose="02000500000000000000" pitchFamily="2" charset="-122"/>
                <a:ea typeface="华光行书_CNKI" panose="02000500000000000000" pitchFamily="2" charset="-122"/>
              </a:rPr>
              <a:t>析构函数调用顺序反之</a:t>
            </a:r>
            <a:endParaRPr lang="zh-CN" altLang="en-US" sz="2400" dirty="0">
              <a:solidFill>
                <a:srgbClr val="FF0000"/>
              </a:solidFill>
              <a:latin typeface="华光行书_CNKI" panose="02000500000000000000" pitchFamily="2" charset="-122"/>
              <a:ea typeface="华光行书_CNKI" panose="02000500000000000000" pitchFamily="2" charset="-122"/>
            </a:endParaRPr>
          </a:p>
        </p:txBody>
      </p:sp>
      <p:sp>
        <p:nvSpPr>
          <p:cNvPr id="15" name="Rectangle 1">
            <a:extLst>
              <a:ext uri="{FF2B5EF4-FFF2-40B4-BE49-F238E27FC236}">
                <a16:creationId xmlns:a16="http://schemas.microsoft.com/office/drawing/2014/main" id="{FC482417-9439-4273-9A9A-4C62837C4A79}"/>
              </a:ext>
            </a:extLst>
          </p:cNvPr>
          <p:cNvSpPr>
            <a:spLocks noChangeArrowheads="1"/>
          </p:cNvSpPr>
          <p:nvPr/>
        </p:nvSpPr>
        <p:spPr bwMode="auto">
          <a:xfrm>
            <a:off x="6129302" y="953444"/>
            <a:ext cx="6096000" cy="1823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nchor="ctr">
            <a:spAutoFit/>
          </a:bodyPr>
          <a:lstStyle/>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BC2{</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public:</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BC2(){</a:t>
            </a:r>
            <a:r>
              <a:rPr lang="en-US" altLang="zh-CN"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&lt;&lt;"BC2::() executes...\n";}</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~BC2(){</a:t>
            </a:r>
            <a:r>
              <a:rPr lang="en-US" altLang="zh-CN"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&lt;&lt;"~BC2::() executes...\n";}</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p:txBody>
      </p:sp>
      <p:sp>
        <p:nvSpPr>
          <p:cNvPr id="16" name="Rectangle 1">
            <a:extLst>
              <a:ext uri="{FF2B5EF4-FFF2-40B4-BE49-F238E27FC236}">
                <a16:creationId xmlns:a16="http://schemas.microsoft.com/office/drawing/2014/main" id="{F60DE3CA-8856-42F0-A30D-802D7D5EA125}"/>
              </a:ext>
            </a:extLst>
          </p:cNvPr>
          <p:cNvSpPr>
            <a:spLocks noChangeArrowheads="1"/>
          </p:cNvSpPr>
          <p:nvPr/>
        </p:nvSpPr>
        <p:spPr bwMode="auto">
          <a:xfrm>
            <a:off x="6130095" y="2741044"/>
            <a:ext cx="6095207" cy="1880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nchor="ctr">
            <a:spAutoFit/>
          </a:bodyPr>
          <a:lstStyle/>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DC2:public BC2, public BC1{</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public:</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DC2() {</a:t>
            </a:r>
            <a:r>
              <a:rPr lang="en-US" altLang="zh-CN"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&lt;&lt;"DC2::() executes...\n";}</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~DC2(){</a:t>
            </a:r>
            <a:r>
              <a:rPr lang="en-US" altLang="zh-CN"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&lt;&lt;"~DC2::() executes...\n";}</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p:txBody>
      </p:sp>
      <p:sp>
        <p:nvSpPr>
          <p:cNvPr id="17" name="Rectangle 1">
            <a:extLst>
              <a:ext uri="{FF2B5EF4-FFF2-40B4-BE49-F238E27FC236}">
                <a16:creationId xmlns:a16="http://schemas.microsoft.com/office/drawing/2014/main" id="{4840E9F2-902B-4FFB-A323-0D89E90D1362}"/>
              </a:ext>
            </a:extLst>
          </p:cNvPr>
          <p:cNvSpPr>
            <a:spLocks noChangeArrowheads="1"/>
          </p:cNvSpPr>
          <p:nvPr/>
        </p:nvSpPr>
        <p:spPr bwMode="auto">
          <a:xfrm>
            <a:off x="6130095" y="4749562"/>
            <a:ext cx="230346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nchor="ctr">
            <a:spAutoFit/>
          </a:bodyPr>
          <a:lstStyle/>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int main()</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{DC2 d;</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return 0;</a:t>
            </a:r>
          </a:p>
          <a:p>
            <a:pPr>
              <a:lnSpc>
                <a:spcPts val="2700"/>
              </a:lnSpc>
              <a:spcBef>
                <a:spcPct val="0"/>
              </a:spcBef>
            </a:pPr>
            <a:r>
              <a:rPr lang="en-US" altLang="zh-CN"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a:t>
            </a:r>
          </a:p>
        </p:txBody>
      </p:sp>
      <p:pic>
        <p:nvPicPr>
          <p:cNvPr id="3" name="图片 2">
            <a:extLst>
              <a:ext uri="{FF2B5EF4-FFF2-40B4-BE49-F238E27FC236}">
                <a16:creationId xmlns:a16="http://schemas.microsoft.com/office/drawing/2014/main" id="{5A6D8C2F-12FD-42AC-A53E-A86412C45892}"/>
              </a:ext>
            </a:extLst>
          </p:cNvPr>
          <p:cNvPicPr>
            <a:picLocks noChangeAspect="1"/>
          </p:cNvPicPr>
          <p:nvPr/>
        </p:nvPicPr>
        <p:blipFill>
          <a:blip r:embed="rId3"/>
          <a:stretch>
            <a:fillRect/>
          </a:stretch>
        </p:blipFill>
        <p:spPr>
          <a:xfrm>
            <a:off x="8919232" y="224527"/>
            <a:ext cx="3025049" cy="1803667"/>
          </a:xfrm>
          <a:prstGeom prst="rect">
            <a:avLst/>
          </a:prstGeom>
        </p:spPr>
      </p:pic>
      <p:pic>
        <p:nvPicPr>
          <p:cNvPr id="6" name="图片 5">
            <a:extLst>
              <a:ext uri="{FF2B5EF4-FFF2-40B4-BE49-F238E27FC236}">
                <a16:creationId xmlns:a16="http://schemas.microsoft.com/office/drawing/2014/main" id="{F79BFE1C-9FFC-4938-A175-DE9545198A62}"/>
              </a:ext>
            </a:extLst>
          </p:cNvPr>
          <p:cNvPicPr>
            <a:picLocks noChangeAspect="1"/>
          </p:cNvPicPr>
          <p:nvPr/>
        </p:nvPicPr>
        <p:blipFill>
          <a:blip r:embed="rId4"/>
          <a:stretch>
            <a:fillRect/>
          </a:stretch>
        </p:blipFill>
        <p:spPr>
          <a:xfrm>
            <a:off x="3071614" y="2377348"/>
            <a:ext cx="2950516" cy="1391463"/>
          </a:xfrm>
          <a:prstGeom prst="rect">
            <a:avLst/>
          </a:prstGeom>
        </p:spPr>
      </p:pic>
      <p:sp>
        <p:nvSpPr>
          <p:cNvPr id="18" name="矩形 17">
            <a:extLst>
              <a:ext uri="{FF2B5EF4-FFF2-40B4-BE49-F238E27FC236}">
                <a16:creationId xmlns:a16="http://schemas.microsoft.com/office/drawing/2014/main" id="{88EBE4A8-AFA6-4BB5-A0F8-1095ABB556CB}"/>
              </a:ext>
            </a:extLst>
          </p:cNvPr>
          <p:cNvSpPr>
            <a:spLocks noChangeArrowheads="1"/>
          </p:cNvSpPr>
          <p:nvPr/>
        </p:nvSpPr>
        <p:spPr bwMode="auto">
          <a:xfrm>
            <a:off x="7982871" y="4795728"/>
            <a:ext cx="301223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0"/>
              </a:spcBef>
            </a:pPr>
            <a:r>
              <a:rPr lang="zh-CN" altLang="en-US" dirty="0">
                <a:solidFill>
                  <a:srgbClr val="FF0000"/>
                </a:solidFill>
                <a:latin typeface="华光行书_CNKI" panose="02000500000000000000" pitchFamily="2" charset="-122"/>
                <a:ea typeface="华光行书_CNKI" panose="02000500000000000000" pitchFamily="2" charset="-122"/>
              </a:rPr>
              <a:t>若</a:t>
            </a:r>
            <a:r>
              <a:rPr lang="zh-CN" altLang="zh-CN" dirty="0">
                <a:solidFill>
                  <a:srgbClr val="FF0000"/>
                </a:solidFill>
                <a:latin typeface="华光行书_CNKI" panose="02000500000000000000" pitchFamily="2" charset="-122"/>
                <a:ea typeface="华光行书_CNKI" panose="02000500000000000000" pitchFamily="2" charset="-122"/>
              </a:rPr>
              <a:t>有多个基类</a:t>
            </a:r>
            <a:r>
              <a:rPr lang="zh-CN" altLang="en-US" dirty="0">
                <a:solidFill>
                  <a:srgbClr val="FF0000"/>
                </a:solidFill>
                <a:latin typeface="华光行书_CNKI" panose="02000500000000000000" pitchFamily="2" charset="-122"/>
                <a:ea typeface="华光行书_CNKI" panose="02000500000000000000" pitchFamily="2" charset="-122"/>
              </a:rPr>
              <a:t>，</a:t>
            </a:r>
            <a:r>
              <a:rPr lang="zh-CN" altLang="zh-CN" dirty="0">
                <a:solidFill>
                  <a:srgbClr val="FF0000"/>
                </a:solidFill>
                <a:latin typeface="华光行书_CNKI" panose="02000500000000000000" pitchFamily="2" charset="-122"/>
                <a:ea typeface="华光行书_CNKI" panose="02000500000000000000" pitchFamily="2" charset="-122"/>
              </a:rPr>
              <a:t>基类构造函数调用顺序按照它们被声明的顺序</a:t>
            </a:r>
            <a:endParaRPr lang="zh-CN" altLang="en-US" dirty="0">
              <a:solidFill>
                <a:srgbClr val="FF0000"/>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313492376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randombar(vertical)">
                                      <p:cBhvr>
                                        <p:cTn id="17" dur="500"/>
                                        <p:tgtEl>
                                          <p:spTgt spid="15"/>
                                        </p:tgtEl>
                                      </p:cBhvr>
                                    </p:animEffect>
                                  </p:childTnLst>
                                </p:cTn>
                              </p:par>
                              <p:par>
                                <p:cTn id="18" presetID="14" presetClass="entr" presetSubtype="5"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randombar(vertical)">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randombar(horizontal)">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right)">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9.4</a:t>
            </a:r>
            <a:r>
              <a:rPr lang="zh-CN" altLang="en-US" dirty="0">
                <a:sym typeface="+mn-lt"/>
              </a:rPr>
              <a:t>派生类的构造函数和析构函数</a:t>
            </a:r>
          </a:p>
        </p:txBody>
      </p:sp>
      <p:sp>
        <p:nvSpPr>
          <p:cNvPr id="13" name="Rectangle 2">
            <a:extLst>
              <a:ext uri="{FF2B5EF4-FFF2-40B4-BE49-F238E27FC236}">
                <a16:creationId xmlns:a16="http://schemas.microsoft.com/office/drawing/2014/main" id="{5110A055-18A0-48DE-AF28-7198C659C606}"/>
              </a:ext>
            </a:extLst>
          </p:cNvPr>
          <p:cNvSpPr>
            <a:spLocks noChangeArrowheads="1"/>
          </p:cNvSpPr>
          <p:nvPr/>
        </p:nvSpPr>
        <p:spPr bwMode="auto">
          <a:xfrm>
            <a:off x="1588" y="1002128"/>
            <a:ext cx="5410672" cy="5760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rIns="0" anchor="ct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BC1{</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public:</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BC1(){</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&lt;&lt;"BC1::() executes...\n";}</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~BC1(){</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&lt;&lt;"~BC1::() executes...\n";}</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BC2{</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public:</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BC2(){</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&lt;&lt;"BC2::() executes...\n";}</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~BC2(){</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&lt;&lt;"~BC2::() executes...\n";}</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DC:</a:t>
            </a:r>
            <a:r>
              <a:rPr lang="en-US" altLang="zh-CN" sz="2400" spc="-100" dirty="0" err="1">
                <a:solidFill>
                  <a:srgbClr val="FF0000"/>
                </a:solidFill>
                <a:latin typeface="Comic Sans MS" panose="030F0702030302020204" pitchFamily="66" charset="0"/>
                <a:ea typeface="宋体" panose="02010600030101010101" pitchFamily="2" charset="-122"/>
                <a:cs typeface="Times New Roman" panose="02020603050405020304" pitchFamily="18" charset="0"/>
              </a:rPr>
              <a:t>public</a:t>
            </a:r>
            <a:r>
              <a:rPr lang="en-US" altLang="zh-CN" sz="2400" spc="-100" dirty="0">
                <a:solidFill>
                  <a:srgbClr val="FF0000"/>
                </a:solidFill>
                <a:latin typeface="Comic Sans MS" panose="030F0702030302020204" pitchFamily="66" charset="0"/>
                <a:ea typeface="宋体" panose="02010600030101010101" pitchFamily="2" charset="-122"/>
                <a:cs typeface="Times New Roman" panose="02020603050405020304" pitchFamily="18" charset="0"/>
              </a:rPr>
              <a:t> BC1, public BC2</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public:</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 {</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 executes...\n";}</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 executes...\n";}</a:t>
            </a:r>
          </a:p>
          <a:p>
            <a:pPr>
              <a:lnSpc>
                <a:spcPts val="2600"/>
              </a:lnSpc>
              <a:spcBef>
                <a:spcPct val="0"/>
              </a:spcBef>
              <a:buClrTx/>
              <a:buSzTx/>
              <a:buFontTx/>
              <a:buNone/>
            </a:pPr>
            <a:r>
              <a:rPr lang="en-US" altLang="zh-CN" sz="2400" spc="-100" dirty="0">
                <a:solidFill>
                  <a:srgbClr val="FF0000"/>
                </a:solidFill>
                <a:latin typeface="Comic Sans MS" panose="030F0702030302020204" pitchFamily="66" charset="0"/>
                <a:ea typeface="宋体" panose="02010600030101010101" pitchFamily="2" charset="-122"/>
                <a:cs typeface="Times New Roman" panose="02020603050405020304" pitchFamily="18" charset="0"/>
              </a:rPr>
              <a:t>  BC1 </a:t>
            </a:r>
            <a:r>
              <a:rPr lang="en-US" altLang="zh-CN" sz="2400" spc="-100" dirty="0" err="1">
                <a:solidFill>
                  <a:srgbClr val="FF0000"/>
                </a:solidFill>
                <a:latin typeface="Comic Sans MS" panose="030F0702030302020204" pitchFamily="66" charset="0"/>
                <a:ea typeface="宋体" panose="02010600030101010101" pitchFamily="2" charset="-122"/>
                <a:cs typeface="Times New Roman" panose="02020603050405020304" pitchFamily="18" charset="0"/>
              </a:rPr>
              <a:t>bc1</a:t>
            </a:r>
            <a:r>
              <a:rPr lang="en-US" altLang="zh-CN" sz="2400" spc="-100" dirty="0">
                <a:solidFill>
                  <a:srgbClr val="FF0000"/>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600"/>
              </a:lnSpc>
              <a:spcBef>
                <a:spcPct val="0"/>
              </a:spcBef>
              <a:buClrTx/>
              <a:buSzTx/>
              <a:buFontTx/>
              <a:buNone/>
            </a:pPr>
            <a:r>
              <a:rPr lang="en-US" altLang="zh-CN" sz="2400" spc="-100" dirty="0">
                <a:solidFill>
                  <a:srgbClr val="FF0000"/>
                </a:solidFill>
                <a:latin typeface="Comic Sans MS" panose="030F0702030302020204" pitchFamily="66" charset="0"/>
                <a:ea typeface="宋体" panose="02010600030101010101" pitchFamily="2" charset="-122"/>
                <a:cs typeface="Times New Roman" panose="02020603050405020304" pitchFamily="18" charset="0"/>
              </a:rPr>
              <a:t>  BC2 </a:t>
            </a:r>
            <a:r>
              <a:rPr lang="en-US" altLang="zh-CN" sz="2400" spc="-100" dirty="0" err="1">
                <a:solidFill>
                  <a:srgbClr val="FF0000"/>
                </a:solidFill>
                <a:latin typeface="Comic Sans MS" panose="030F0702030302020204" pitchFamily="66" charset="0"/>
                <a:ea typeface="宋体" panose="02010600030101010101" pitchFamily="2" charset="-122"/>
                <a:cs typeface="Times New Roman" panose="02020603050405020304" pitchFamily="18" charset="0"/>
              </a:rPr>
              <a:t>bc2</a:t>
            </a:r>
            <a:r>
              <a:rPr lang="en-US" altLang="zh-CN" sz="2400" spc="-100" dirty="0">
                <a:solidFill>
                  <a:srgbClr val="FF0000"/>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600"/>
              </a:lnSpc>
              <a:spcBef>
                <a:spcPct val="0"/>
              </a:spcBef>
              <a:buClrTx/>
              <a:buSzTx/>
              <a:buFontTx/>
              <a:buNone/>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p:txBody>
      </p:sp>
      <p:sp>
        <p:nvSpPr>
          <p:cNvPr id="19" name="Rectangle 2">
            <a:extLst>
              <a:ext uri="{FF2B5EF4-FFF2-40B4-BE49-F238E27FC236}">
                <a16:creationId xmlns:a16="http://schemas.microsoft.com/office/drawing/2014/main" id="{E7A6E568-5EFF-4D03-9F8F-4244EA9389B4}"/>
              </a:ext>
            </a:extLst>
          </p:cNvPr>
          <p:cNvSpPr>
            <a:spLocks noChangeArrowheads="1"/>
          </p:cNvSpPr>
          <p:nvPr/>
        </p:nvSpPr>
        <p:spPr bwMode="auto">
          <a:xfrm>
            <a:off x="5420627" y="875369"/>
            <a:ext cx="2195512" cy="1437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rIns="0" anchor="ctr">
            <a:spAutoFit/>
          </a:bodyPr>
          <a:lstStyle/>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int main()</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{DC d;</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return 0;</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a:t>
            </a:r>
          </a:p>
        </p:txBody>
      </p:sp>
      <p:pic>
        <p:nvPicPr>
          <p:cNvPr id="20" name="图片 19">
            <a:extLst>
              <a:ext uri="{FF2B5EF4-FFF2-40B4-BE49-F238E27FC236}">
                <a16:creationId xmlns:a16="http://schemas.microsoft.com/office/drawing/2014/main" id="{3121828C-1C50-4F21-ABA6-053A8B878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8716" y="2343160"/>
            <a:ext cx="2835275"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矩形 20">
            <a:extLst>
              <a:ext uri="{FF2B5EF4-FFF2-40B4-BE49-F238E27FC236}">
                <a16:creationId xmlns:a16="http://schemas.microsoft.com/office/drawing/2014/main" id="{9C0D6BE9-9F92-44D7-9CF7-C36503273837}"/>
              </a:ext>
            </a:extLst>
          </p:cNvPr>
          <p:cNvSpPr>
            <a:spLocks noChangeArrowheads="1"/>
          </p:cNvSpPr>
          <p:nvPr/>
        </p:nvSpPr>
        <p:spPr bwMode="auto">
          <a:xfrm>
            <a:off x="3126446" y="5802476"/>
            <a:ext cx="46905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0"/>
              </a:spcBef>
            </a:pPr>
            <a:r>
              <a:rPr lang="zh-CN" altLang="zh-CN" dirty="0">
                <a:solidFill>
                  <a:srgbClr val="FF0000"/>
                </a:solidFill>
                <a:latin typeface="华光行书_CNKI" panose="02000500000000000000" pitchFamily="2" charset="-122"/>
                <a:ea typeface="华光行书_CNKI" panose="02000500000000000000" pitchFamily="2" charset="-122"/>
              </a:rPr>
              <a:t>先调基类构造函数，再对象成员构造函数，最后派生类构造函数</a:t>
            </a:r>
            <a:r>
              <a:rPr lang="en-US" altLang="zh-CN" dirty="0">
                <a:solidFill>
                  <a:srgbClr val="FF0000"/>
                </a:solidFill>
                <a:latin typeface="华光行书_CNKI" panose="02000500000000000000" pitchFamily="2" charset="-122"/>
                <a:ea typeface="华光行书_CNKI" panose="02000500000000000000" pitchFamily="2" charset="-122"/>
              </a:rPr>
              <a:t>.</a:t>
            </a:r>
            <a:endParaRPr lang="zh-CN" altLang="en-US" dirty="0">
              <a:solidFill>
                <a:srgbClr val="FF0000"/>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27104055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1+#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barn(inVertical)">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9.4</a:t>
            </a:r>
            <a:r>
              <a:rPr lang="zh-CN" altLang="en-US" dirty="0">
                <a:sym typeface="+mn-lt"/>
              </a:rPr>
              <a:t>派生类的构造函数和析构函数</a:t>
            </a:r>
          </a:p>
        </p:txBody>
      </p:sp>
      <p:sp>
        <p:nvSpPr>
          <p:cNvPr id="10" name="Text Box 4">
            <a:extLst>
              <a:ext uri="{FF2B5EF4-FFF2-40B4-BE49-F238E27FC236}">
                <a16:creationId xmlns:a16="http://schemas.microsoft.com/office/drawing/2014/main" id="{CDAEDC0F-7C32-4E82-9BAC-1D857E009E56}"/>
              </a:ext>
            </a:extLst>
          </p:cNvPr>
          <p:cNvSpPr txBox="1">
            <a:spLocks noChangeArrowheads="1"/>
          </p:cNvSpPr>
          <p:nvPr/>
        </p:nvSpPr>
        <p:spPr bwMode="auto">
          <a:xfrm>
            <a:off x="1188061" y="4504823"/>
            <a:ext cx="5461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50000"/>
              </a:spcBef>
              <a:buClrTx/>
              <a:buSzTx/>
              <a:buFontTx/>
              <a:buNone/>
            </a:pPr>
            <a:r>
              <a:rPr lang="zh-CN" altLang="en-US" sz="2800">
                <a:solidFill>
                  <a:srgbClr val="FF0000"/>
                </a:solidFill>
                <a:latin typeface="华文琥珀" panose="02010800040101010101" pitchFamily="2" charset="-122"/>
                <a:ea typeface="华文琥珀" panose="02010800040101010101" pitchFamily="2" charset="-122"/>
              </a:rPr>
              <a:t>×</a:t>
            </a:r>
          </a:p>
        </p:txBody>
      </p:sp>
      <p:sp>
        <p:nvSpPr>
          <p:cNvPr id="11" name="Rectangle 1">
            <a:extLst>
              <a:ext uri="{FF2B5EF4-FFF2-40B4-BE49-F238E27FC236}">
                <a16:creationId xmlns:a16="http://schemas.microsoft.com/office/drawing/2014/main" id="{9C5978CE-0400-49FD-8432-21B3C88C9D69}"/>
              </a:ext>
            </a:extLst>
          </p:cNvPr>
          <p:cNvSpPr>
            <a:spLocks noChangeArrowheads="1"/>
          </p:cNvSpPr>
          <p:nvPr/>
        </p:nvSpPr>
        <p:spPr bwMode="auto">
          <a:xfrm>
            <a:off x="36756" y="942876"/>
            <a:ext cx="5917004" cy="476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rIns="0" anchor="ctr">
            <a:spAutoFit/>
          </a:bodyPr>
          <a:lstStyle/>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BC{</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public:</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BC(int a){</a:t>
            </a:r>
            <a:r>
              <a:rPr lang="en-US" altLang="zh-CN"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&lt;&lt;"BC::(int)  executes...\n"; }</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a:t>
            </a:r>
            <a:r>
              <a:rPr lang="en-US" altLang="zh-CN"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 executes...\n";}</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a:t>
            </a:r>
            <a:r>
              <a:rPr lang="en-US" altLang="zh-CN"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DC:public</a:t>
            </a: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public:</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 {</a:t>
            </a:r>
            <a:r>
              <a:rPr lang="en-US" altLang="zh-CN"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 executes...\n";}</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a:t>
            </a:r>
            <a:r>
              <a:rPr lang="en-US" altLang="zh-CN"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 executes...\n";}</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int main()</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{DC d;</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return 0;</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a:t>
            </a:r>
          </a:p>
        </p:txBody>
      </p:sp>
      <p:sp>
        <p:nvSpPr>
          <p:cNvPr id="14" name="矩形 13">
            <a:extLst>
              <a:ext uri="{FF2B5EF4-FFF2-40B4-BE49-F238E27FC236}">
                <a16:creationId xmlns:a16="http://schemas.microsoft.com/office/drawing/2014/main" id="{025444A1-B063-4C25-AFD4-33E08B44AAB7}"/>
              </a:ext>
            </a:extLst>
          </p:cNvPr>
          <p:cNvSpPr>
            <a:spLocks noChangeArrowheads="1"/>
          </p:cNvSpPr>
          <p:nvPr/>
        </p:nvSpPr>
        <p:spPr bwMode="auto">
          <a:xfrm>
            <a:off x="3656199" y="5047816"/>
            <a:ext cx="333787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None/>
            </a:pPr>
            <a:r>
              <a:rPr lang="zh-CN" altLang="en-US" sz="2800" dirty="0">
                <a:solidFill>
                  <a:srgbClr val="FF0000"/>
                </a:solidFill>
                <a:latin typeface="华光行书_CNKI" panose="02000500000000000000" pitchFamily="2" charset="-122"/>
                <a:ea typeface="华光行书_CNKI" panose="02000500000000000000" pitchFamily="2" charset="-122"/>
              </a:rPr>
              <a:t>基类只有带参构造函数，如何向基类构造函数传递参数</a:t>
            </a:r>
            <a:r>
              <a:rPr kumimoji="1" lang="en-US" altLang="zh-CN" sz="2800" dirty="0">
                <a:solidFill>
                  <a:srgbClr val="FF0000"/>
                </a:solidFill>
                <a:latin typeface="华光行书_CNKI" panose="02000500000000000000" pitchFamily="2" charset="-122"/>
                <a:ea typeface="华光行书_CNKI" panose="02000500000000000000" pitchFamily="2" charset="-122"/>
              </a:rPr>
              <a:t>?</a:t>
            </a:r>
          </a:p>
        </p:txBody>
      </p:sp>
      <p:sp>
        <p:nvSpPr>
          <p:cNvPr id="16" name="Text Box 2">
            <a:extLst>
              <a:ext uri="{FF2B5EF4-FFF2-40B4-BE49-F238E27FC236}">
                <a16:creationId xmlns:a16="http://schemas.microsoft.com/office/drawing/2014/main" id="{2134129D-91AD-4B3A-B9A0-E0193795CB4A}"/>
              </a:ext>
            </a:extLst>
          </p:cNvPr>
          <p:cNvSpPr txBox="1">
            <a:spLocks noChangeArrowheads="1"/>
          </p:cNvSpPr>
          <p:nvPr/>
        </p:nvSpPr>
        <p:spPr bwMode="auto">
          <a:xfrm>
            <a:off x="5999659" y="1330692"/>
            <a:ext cx="6155585" cy="1938992"/>
          </a:xfrm>
          <a:prstGeom prst="rect">
            <a:avLst/>
          </a:prstGeom>
          <a:noFill/>
          <a:ln>
            <a:noFill/>
          </a:ln>
        </p:spPr>
        <p:txBody>
          <a:bodyPr wrap="square">
            <a:spAutoFit/>
          </a:bodyP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spcBef>
                <a:spcPct val="50000"/>
              </a:spcBef>
              <a:defRPr/>
            </a:pPr>
            <a:r>
              <a:rPr kumimoji="1" lang="zh-CN" altLang="en-US" b="0" dirty="0">
                <a:solidFill>
                  <a:srgbClr val="104E87"/>
                </a:solidFill>
                <a:latin typeface="华光行书_CNKI" panose="02000500000000000000" pitchFamily="2" charset="-122"/>
                <a:ea typeface="华光行书_CNKI" panose="02000500000000000000" pitchFamily="2" charset="-122"/>
              </a:rPr>
              <a:t>解决方案：</a:t>
            </a:r>
          </a:p>
          <a:p>
            <a:pPr eaLnBrk="1" hangingPunct="1">
              <a:spcBef>
                <a:spcPct val="50000"/>
              </a:spcBef>
              <a:defRPr/>
            </a:pPr>
            <a:r>
              <a:rPr kumimoji="1" lang="zh-CN" altLang="en-US" b="0" dirty="0">
                <a:solidFill>
                  <a:srgbClr val="104E87"/>
                </a:solidFill>
                <a:latin typeface="华光行书_CNKI" panose="02000500000000000000" pitchFamily="2" charset="-122"/>
                <a:ea typeface="华光行书_CNKI" panose="02000500000000000000" pitchFamily="2" charset="-122"/>
              </a:rPr>
              <a:t>1 </a:t>
            </a:r>
            <a:r>
              <a:rPr kumimoji="1" lang="en-US" altLang="zh-CN" b="0" dirty="0">
                <a:solidFill>
                  <a:srgbClr val="104E87"/>
                </a:solidFill>
                <a:latin typeface="华光行书_CNKI" panose="02000500000000000000" pitchFamily="2" charset="-122"/>
                <a:ea typeface="华光行书_CNKI" panose="02000500000000000000" pitchFamily="2" charset="-122"/>
              </a:rPr>
              <a:t>BC</a:t>
            </a:r>
            <a:r>
              <a:rPr kumimoji="1" lang="zh-CN" altLang="en-US" b="0" dirty="0">
                <a:solidFill>
                  <a:srgbClr val="104E87"/>
                </a:solidFill>
                <a:latin typeface="华光行书_CNKI" panose="02000500000000000000" pitchFamily="2" charset="-122"/>
                <a:ea typeface="华光行书_CNKI" panose="02000500000000000000" pitchFamily="2" charset="-122"/>
              </a:rPr>
              <a:t>增加一个无参的或带默认值的构造函数</a:t>
            </a:r>
          </a:p>
          <a:p>
            <a:pPr eaLnBrk="1" hangingPunct="1">
              <a:spcBef>
                <a:spcPct val="50000"/>
              </a:spcBef>
              <a:defRPr/>
            </a:pPr>
            <a:r>
              <a:rPr kumimoji="1" lang="zh-CN" altLang="en-US" b="0" dirty="0">
                <a:solidFill>
                  <a:srgbClr val="104E87"/>
                </a:solidFill>
                <a:latin typeface="华光行书_CNKI" panose="02000500000000000000" pitchFamily="2" charset="-122"/>
                <a:ea typeface="华光行书_CNKI" panose="02000500000000000000" pitchFamily="2" charset="-122"/>
              </a:rPr>
              <a:t>2 </a:t>
            </a:r>
            <a:r>
              <a:rPr kumimoji="1" lang="zh-CN" altLang="en-US" b="0" dirty="0">
                <a:solidFill>
                  <a:srgbClr val="FF0000"/>
                </a:solidFill>
                <a:latin typeface="华光行书_CNKI" panose="02000500000000000000" pitchFamily="2" charset="-122"/>
                <a:ea typeface="华光行书_CNKI" panose="02000500000000000000" pitchFamily="2" charset="-122"/>
              </a:rPr>
              <a:t>在</a:t>
            </a:r>
            <a:r>
              <a:rPr kumimoji="1" lang="en-US" altLang="zh-CN" b="0" dirty="0">
                <a:solidFill>
                  <a:srgbClr val="FF0000"/>
                </a:solidFill>
                <a:latin typeface="华光行书_CNKI" panose="02000500000000000000" pitchFamily="2" charset="-122"/>
                <a:ea typeface="华光行书_CNKI" panose="02000500000000000000" pitchFamily="2" charset="-122"/>
              </a:rPr>
              <a:t>DC</a:t>
            </a:r>
            <a:r>
              <a:rPr kumimoji="1" lang="zh-CN" altLang="en-US" b="0" dirty="0">
                <a:solidFill>
                  <a:srgbClr val="FF0000"/>
                </a:solidFill>
                <a:latin typeface="华光行书_CNKI" panose="02000500000000000000" pitchFamily="2" charset="-122"/>
                <a:ea typeface="华光行书_CNKI" panose="02000500000000000000" pitchFamily="2" charset="-122"/>
              </a:rPr>
              <a:t>的构造函数初始化列表</a:t>
            </a:r>
            <a:r>
              <a:rPr kumimoji="1" lang="zh-CN" altLang="en-US" b="0" dirty="0">
                <a:solidFill>
                  <a:srgbClr val="104E87"/>
                </a:solidFill>
                <a:latin typeface="华光行书_CNKI" panose="02000500000000000000" pitchFamily="2" charset="-122"/>
                <a:ea typeface="华光行书_CNKI" panose="02000500000000000000" pitchFamily="2" charset="-122"/>
              </a:rPr>
              <a:t>中显示地调用</a:t>
            </a:r>
            <a:r>
              <a:rPr kumimoji="1" lang="en-US" altLang="zh-CN" b="0" dirty="0">
                <a:solidFill>
                  <a:srgbClr val="104E87"/>
                </a:solidFill>
                <a:latin typeface="华光行书_CNKI" panose="02000500000000000000" pitchFamily="2" charset="-122"/>
                <a:ea typeface="华光行书_CNKI" panose="02000500000000000000" pitchFamily="2" charset="-122"/>
              </a:rPr>
              <a:t>BC</a:t>
            </a:r>
            <a:r>
              <a:rPr kumimoji="1" lang="zh-CN" altLang="en-US" b="0" dirty="0">
                <a:solidFill>
                  <a:srgbClr val="104E87"/>
                </a:solidFill>
                <a:latin typeface="华光行书_CNKI" panose="02000500000000000000" pitchFamily="2" charset="-122"/>
                <a:ea typeface="华光行书_CNKI" panose="02000500000000000000" pitchFamily="2" charset="-122"/>
              </a:rPr>
              <a:t>的某个构造函数</a:t>
            </a:r>
          </a:p>
        </p:txBody>
      </p:sp>
    </p:spTree>
    <p:extLst>
      <p:ext uri="{BB962C8B-B14F-4D97-AF65-F5344CB8AC3E}">
        <p14:creationId xmlns:p14="http://schemas.microsoft.com/office/powerpoint/2010/main" val="289697592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inVertical)">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4"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9.4</a:t>
            </a:r>
            <a:r>
              <a:rPr lang="zh-CN" altLang="en-US" dirty="0">
                <a:sym typeface="+mn-lt"/>
              </a:rPr>
              <a:t>派生类的构造函数和析构函数</a:t>
            </a:r>
          </a:p>
        </p:txBody>
      </p:sp>
      <p:sp>
        <p:nvSpPr>
          <p:cNvPr id="12" name="Rectangle 3">
            <a:extLst>
              <a:ext uri="{FF2B5EF4-FFF2-40B4-BE49-F238E27FC236}">
                <a16:creationId xmlns:a16="http://schemas.microsoft.com/office/drawing/2014/main" id="{9A2DAD41-81A4-4F22-A595-A577F77D6704}"/>
              </a:ext>
            </a:extLst>
          </p:cNvPr>
          <p:cNvSpPr>
            <a:spLocks noChangeArrowheads="1"/>
          </p:cNvSpPr>
          <p:nvPr/>
        </p:nvSpPr>
        <p:spPr bwMode="auto">
          <a:xfrm>
            <a:off x="-63842" y="1638680"/>
            <a:ext cx="6159842" cy="5093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BC{</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public:</a:t>
            </a:r>
          </a:p>
          <a:p>
            <a:pPr indent="-342900">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BC(){</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 )  executes...\n";}</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BC(int a){</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&lt;&lt;"BC::(int)  executes...\n"; }</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 executes...\n";}</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DC:public</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public:</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 {</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 executes...\n";}</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~DC(){</a:t>
            </a:r>
            <a:r>
              <a:rPr lang="en-US" altLang="zh-CN" sz="2400"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&lt;&lt;"~DC::() executes...\n";}</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int main()</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{DC d;</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return 0;</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a:t>
            </a:r>
          </a:p>
        </p:txBody>
      </p:sp>
      <p:sp>
        <p:nvSpPr>
          <p:cNvPr id="17" name="Text Box 6">
            <a:extLst>
              <a:ext uri="{FF2B5EF4-FFF2-40B4-BE49-F238E27FC236}">
                <a16:creationId xmlns:a16="http://schemas.microsoft.com/office/drawing/2014/main" id="{9D208175-1E91-49E0-9F32-4B3930E71C32}"/>
              </a:ext>
            </a:extLst>
          </p:cNvPr>
          <p:cNvSpPr txBox="1">
            <a:spLocks noChangeArrowheads="1"/>
          </p:cNvSpPr>
          <p:nvPr/>
        </p:nvSpPr>
        <p:spPr bwMode="auto">
          <a:xfrm>
            <a:off x="150370" y="952334"/>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dirty="0">
                <a:solidFill>
                  <a:srgbClr val="104E87"/>
                </a:solidFill>
                <a:latin typeface="华光行书_CNKI" panose="02000500000000000000" pitchFamily="2" charset="-122"/>
                <a:ea typeface="华光行书_CNKI" panose="02000500000000000000" pitchFamily="2" charset="-122"/>
              </a:rPr>
              <a:t>方案1</a:t>
            </a:r>
          </a:p>
        </p:txBody>
      </p:sp>
      <p:sp>
        <p:nvSpPr>
          <p:cNvPr id="18" name="文本框 17">
            <a:extLst>
              <a:ext uri="{FF2B5EF4-FFF2-40B4-BE49-F238E27FC236}">
                <a16:creationId xmlns:a16="http://schemas.microsoft.com/office/drawing/2014/main" id="{4B6F8149-E407-4AB5-A905-0B6278889A18}"/>
              </a:ext>
            </a:extLst>
          </p:cNvPr>
          <p:cNvSpPr txBox="1"/>
          <p:nvPr/>
        </p:nvSpPr>
        <p:spPr>
          <a:xfrm>
            <a:off x="6096000" y="1542267"/>
            <a:ext cx="6159842" cy="5093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defPPr>
              <a:defRPr lang="en-US"/>
            </a:defPPr>
            <a:lvl1pPr>
              <a:lnSpc>
                <a:spcPts val="2600"/>
              </a:lnSpc>
              <a:spcBef>
                <a:spcPct val="0"/>
              </a:spcBef>
              <a:buClr>
                <a:schemeClr val="bg2"/>
              </a:buClr>
              <a:buSzPct val="70000"/>
              <a:buFont typeface="Wingdings" panose="05000000000000000000" pitchFamily="2" charset="2"/>
              <a:buChar char="o"/>
              <a:defRPr spc="-100">
                <a:solidFill>
                  <a:srgbClr val="104E87"/>
                </a:solidFill>
                <a:latin typeface="Comic Sans MS" panose="030F0702030302020204" pitchFamily="66" charset="0"/>
                <a:ea typeface="宋体" panose="02010600030101010101" pitchFamily="2" charset="-122"/>
                <a:cs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class BC{</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public:</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BC(int a){</a:t>
            </a:r>
            <a:r>
              <a:rPr lang="en-US" altLang="zh-CN"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&lt;&lt;"BC::(int)  executes...\n"; }</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~BC(){</a:t>
            </a:r>
            <a:r>
              <a:rPr lang="en-US" altLang="zh-CN" spc="-100" dirty="0" err="1">
                <a:solidFill>
                  <a:srgbClr val="104E87"/>
                </a:solidFill>
                <a:latin typeface="Comic Sans MS" panose="030F0702030302020204" pitchFamily="66" charset="0"/>
                <a:ea typeface="宋体" panose="02010600030101010101" pitchFamily="2" charset="-122"/>
                <a:cs typeface="Times New Roman" panose="02020603050405020304" pitchFamily="18" charset="0"/>
              </a:rPr>
              <a:t>cout</a:t>
            </a: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&lt;&lt;"~BC::() executes...\n";}</a:t>
            </a:r>
          </a:p>
          <a:p>
            <a:pPr>
              <a:lnSpc>
                <a:spcPts val="2600"/>
              </a:lnSpc>
              <a:spcBef>
                <a:spcPct val="0"/>
              </a:spcBef>
            </a:pPr>
            <a:r>
              <a:rPr lang="en-US" altLang="zh-CN"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a:t>
            </a:r>
            <a:endParaRPr lang="en-US" altLang="zh-CN" dirty="0"/>
          </a:p>
          <a:p>
            <a:r>
              <a:rPr lang="en-US" altLang="zh-CN" dirty="0"/>
              <a:t>class </a:t>
            </a:r>
            <a:r>
              <a:rPr lang="en-US" altLang="zh-CN" dirty="0" err="1"/>
              <a:t>DC:public</a:t>
            </a:r>
            <a:r>
              <a:rPr lang="en-US" altLang="zh-CN" dirty="0"/>
              <a:t> BC{</a:t>
            </a:r>
          </a:p>
          <a:p>
            <a:r>
              <a:rPr lang="en-US" altLang="zh-CN" dirty="0"/>
              <a:t>public:</a:t>
            </a:r>
          </a:p>
          <a:p>
            <a:r>
              <a:rPr lang="en-US" altLang="zh-CN" dirty="0"/>
              <a:t>  DC(int </a:t>
            </a:r>
            <a:r>
              <a:rPr lang="en-US" altLang="zh-CN" dirty="0" err="1"/>
              <a:t>i</a:t>
            </a:r>
            <a:r>
              <a:rPr lang="en-US" altLang="zh-CN" dirty="0">
                <a:solidFill>
                  <a:srgbClr val="FF0000"/>
                </a:solidFill>
              </a:rPr>
              <a:t>): BC(</a:t>
            </a:r>
            <a:r>
              <a:rPr lang="en-US" altLang="zh-CN" dirty="0" err="1">
                <a:solidFill>
                  <a:srgbClr val="FF0000"/>
                </a:solidFill>
              </a:rPr>
              <a:t>i</a:t>
            </a:r>
            <a:r>
              <a:rPr lang="en-US" altLang="zh-CN" dirty="0">
                <a:solidFill>
                  <a:srgbClr val="FF0000"/>
                </a:solidFill>
              </a:rPr>
              <a:t>) </a:t>
            </a:r>
            <a:r>
              <a:rPr lang="en-US" altLang="zh-CN" dirty="0"/>
              <a:t>{</a:t>
            </a:r>
            <a:r>
              <a:rPr lang="en-US" altLang="zh-CN" dirty="0" err="1"/>
              <a:t>cout</a:t>
            </a:r>
            <a:r>
              <a:rPr lang="en-US" altLang="zh-CN" dirty="0"/>
              <a:t>&lt;&lt;"DC::() executes...\n";}</a:t>
            </a:r>
          </a:p>
          <a:p>
            <a:r>
              <a:rPr lang="en-US" altLang="zh-CN" dirty="0"/>
              <a:t>  ~DC(){</a:t>
            </a:r>
            <a:r>
              <a:rPr lang="en-US" altLang="zh-CN" dirty="0" err="1"/>
              <a:t>cout</a:t>
            </a:r>
            <a:r>
              <a:rPr lang="en-US" altLang="zh-CN" dirty="0"/>
              <a:t>&lt;&lt;"~DC::() executes...\n";}</a:t>
            </a:r>
          </a:p>
          <a:p>
            <a:r>
              <a:rPr lang="en-US" altLang="zh-CN" dirty="0"/>
              <a:t>};</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int main()</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{DC d(5);</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return 0;</a:t>
            </a:r>
          </a:p>
          <a:p>
            <a:pPr>
              <a:lnSpc>
                <a:spcPts val="2600"/>
              </a:lnSpc>
              <a:spcBef>
                <a:spcPct val="0"/>
              </a:spcBef>
            </a:pPr>
            <a:r>
              <a:rPr lang="en-US" altLang="zh-CN" sz="2400" spc="-100" dirty="0">
                <a:solidFill>
                  <a:srgbClr val="104E87"/>
                </a:solidFill>
                <a:latin typeface="Comic Sans MS" panose="030F0702030302020204" pitchFamily="66" charset="0"/>
                <a:ea typeface="宋体" panose="02010600030101010101" pitchFamily="2" charset="-122"/>
                <a:cs typeface="Times New Roman" panose="02020603050405020304" pitchFamily="18" charset="0"/>
              </a:rPr>
              <a:t> }</a:t>
            </a:r>
          </a:p>
          <a:p>
            <a:endParaRPr lang="en-US" altLang="zh-CN" dirty="0"/>
          </a:p>
        </p:txBody>
      </p:sp>
      <p:sp>
        <p:nvSpPr>
          <p:cNvPr id="19" name="Text Box 6">
            <a:extLst>
              <a:ext uri="{FF2B5EF4-FFF2-40B4-BE49-F238E27FC236}">
                <a16:creationId xmlns:a16="http://schemas.microsoft.com/office/drawing/2014/main" id="{FCEA97F1-87BA-4EE5-A2AD-2C9B88E7E601}"/>
              </a:ext>
            </a:extLst>
          </p:cNvPr>
          <p:cNvSpPr txBox="1">
            <a:spLocks noChangeArrowheads="1"/>
          </p:cNvSpPr>
          <p:nvPr/>
        </p:nvSpPr>
        <p:spPr bwMode="auto">
          <a:xfrm>
            <a:off x="6250658" y="894965"/>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dirty="0">
                <a:solidFill>
                  <a:srgbClr val="104E87"/>
                </a:solidFill>
                <a:latin typeface="华光行书_CNKI" panose="02000500000000000000" pitchFamily="2" charset="-122"/>
                <a:ea typeface="华光行书_CNKI" panose="02000500000000000000" pitchFamily="2" charset="-122"/>
              </a:rPr>
              <a:t>方案</a:t>
            </a:r>
            <a:r>
              <a:rPr kumimoji="1" lang="en-US" altLang="zh-CN" sz="2400" dirty="0">
                <a:solidFill>
                  <a:srgbClr val="104E87"/>
                </a:solidFill>
                <a:latin typeface="华光行书_CNKI" panose="02000500000000000000" pitchFamily="2" charset="-122"/>
                <a:ea typeface="华光行书_CNKI" panose="02000500000000000000" pitchFamily="2" charset="-122"/>
              </a:rPr>
              <a:t>2</a:t>
            </a:r>
            <a:endParaRPr kumimoji="1" lang="zh-CN" altLang="en-US" sz="2400" dirty="0">
              <a:solidFill>
                <a:srgbClr val="104E87"/>
              </a:solidFill>
              <a:latin typeface="华光行书_CNKI" panose="02000500000000000000" pitchFamily="2" charset="-122"/>
              <a:ea typeface="华光行书_CNKI" panose="02000500000000000000" pitchFamily="2" charset="-122"/>
            </a:endParaRPr>
          </a:p>
        </p:txBody>
      </p:sp>
      <p:pic>
        <p:nvPicPr>
          <p:cNvPr id="20" name="图片 19">
            <a:extLst>
              <a:ext uri="{FF2B5EF4-FFF2-40B4-BE49-F238E27FC236}">
                <a16:creationId xmlns:a16="http://schemas.microsoft.com/office/drawing/2014/main" id="{8661AE50-ECD8-4947-9486-3A556F780AB0}"/>
              </a:ext>
            </a:extLst>
          </p:cNvPr>
          <p:cNvPicPr>
            <a:picLocks noChangeAspect="1"/>
          </p:cNvPicPr>
          <p:nvPr/>
        </p:nvPicPr>
        <p:blipFill>
          <a:blip r:embed="rId3"/>
          <a:stretch>
            <a:fillRect/>
          </a:stretch>
        </p:blipFill>
        <p:spPr>
          <a:xfrm>
            <a:off x="8606873" y="774091"/>
            <a:ext cx="3493235" cy="1350716"/>
          </a:xfrm>
          <a:prstGeom prst="rect">
            <a:avLst/>
          </a:prstGeom>
        </p:spPr>
      </p:pic>
      <p:cxnSp>
        <p:nvCxnSpPr>
          <p:cNvPr id="21" name="直线连接符 6">
            <a:extLst>
              <a:ext uri="{FF2B5EF4-FFF2-40B4-BE49-F238E27FC236}">
                <a16:creationId xmlns:a16="http://schemas.microsoft.com/office/drawing/2014/main" id="{1FA7CE19-9F30-4851-B1BA-BA2839E575D2}"/>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pic>
        <p:nvPicPr>
          <p:cNvPr id="5" name="图片 4">
            <a:extLst>
              <a:ext uri="{FF2B5EF4-FFF2-40B4-BE49-F238E27FC236}">
                <a16:creationId xmlns:a16="http://schemas.microsoft.com/office/drawing/2014/main" id="{8F366293-1D12-0553-C249-5503C4781C72}"/>
              </a:ext>
            </a:extLst>
          </p:cNvPr>
          <p:cNvPicPr>
            <a:picLocks noChangeAspect="1"/>
          </p:cNvPicPr>
          <p:nvPr/>
        </p:nvPicPr>
        <p:blipFill>
          <a:blip r:embed="rId4"/>
          <a:stretch>
            <a:fillRect/>
          </a:stretch>
        </p:blipFill>
        <p:spPr>
          <a:xfrm>
            <a:off x="2506585" y="809302"/>
            <a:ext cx="3020955" cy="1350715"/>
          </a:xfrm>
          <a:prstGeom prst="rect">
            <a:avLst/>
          </a:prstGeom>
        </p:spPr>
      </p:pic>
    </p:spTree>
    <p:extLst>
      <p:ext uri="{BB962C8B-B14F-4D97-AF65-F5344CB8AC3E}">
        <p14:creationId xmlns:p14="http://schemas.microsoft.com/office/powerpoint/2010/main" val="410934919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randombar(horizontal)">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397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9.4</a:t>
            </a:r>
            <a:r>
              <a:rPr lang="zh-CN" altLang="en-US" dirty="0">
                <a:sym typeface="+mn-lt"/>
              </a:rPr>
              <a:t>派生类的构造函数和析构函数</a:t>
            </a:r>
          </a:p>
        </p:txBody>
      </p:sp>
      <p:sp>
        <p:nvSpPr>
          <p:cNvPr id="10" name="矩形 9">
            <a:extLst>
              <a:ext uri="{FF2B5EF4-FFF2-40B4-BE49-F238E27FC236}">
                <a16:creationId xmlns:a16="http://schemas.microsoft.com/office/drawing/2014/main" id="{C124BC9D-2108-4A17-80CC-3EA5B1649F44}"/>
              </a:ext>
            </a:extLst>
          </p:cNvPr>
          <p:cNvSpPr>
            <a:spLocks noChangeArrowheads="1"/>
          </p:cNvSpPr>
          <p:nvPr/>
        </p:nvSpPr>
        <p:spPr bwMode="auto">
          <a:xfrm>
            <a:off x="0" y="965457"/>
            <a:ext cx="544969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spc="-150" dirty="0">
                <a:solidFill>
                  <a:srgbClr val="104E87"/>
                </a:solidFill>
                <a:latin typeface="华光行书_CNKI" panose="02000500000000000000" pitchFamily="2" charset="-122"/>
                <a:ea typeface="华光行书_CNKI" panose="02000500000000000000" pitchFamily="2" charset="-122"/>
              </a:rPr>
              <a:t>若</a:t>
            </a:r>
            <a:r>
              <a:rPr lang="zh-CN" altLang="zh-CN" sz="2400" spc="-150" dirty="0">
                <a:solidFill>
                  <a:srgbClr val="104E87"/>
                </a:solidFill>
                <a:latin typeface="华光行书_CNKI" panose="02000500000000000000" pitchFamily="2" charset="-122"/>
                <a:ea typeface="华光行书_CNKI" panose="02000500000000000000" pitchFamily="2" charset="-122"/>
              </a:rPr>
              <a:t>基类只有有参构造函数</a:t>
            </a:r>
            <a:r>
              <a:rPr lang="zh-CN" altLang="en-US" sz="2400" spc="-150" dirty="0">
                <a:solidFill>
                  <a:srgbClr val="104E87"/>
                </a:solidFill>
                <a:latin typeface="华光行书_CNKI" panose="02000500000000000000" pitchFamily="2" charset="-122"/>
                <a:ea typeface="华光行书_CNKI" panose="02000500000000000000" pitchFamily="2" charset="-122"/>
              </a:rPr>
              <a:t>且参数没有默认值，或需要给基类初始化，必须利用</a:t>
            </a:r>
            <a:r>
              <a:rPr lang="zh-CN" altLang="en-US" sz="2400" spc="-150" dirty="0">
                <a:solidFill>
                  <a:srgbClr val="FF0000"/>
                </a:solidFill>
                <a:latin typeface="华光行书_CNKI" panose="02000500000000000000" pitchFamily="2" charset="-122"/>
                <a:ea typeface="华光行书_CNKI" panose="02000500000000000000" pitchFamily="2" charset="-122"/>
              </a:rPr>
              <a:t>带初始化列表的派生类构造函数，向基类构造函数传参和</a:t>
            </a:r>
            <a:r>
              <a:rPr lang="zh-CN" altLang="zh-CN" sz="2400" spc="-150" dirty="0">
                <a:solidFill>
                  <a:srgbClr val="FF0000"/>
                </a:solidFill>
                <a:latin typeface="华光行书_CNKI" panose="02000500000000000000" pitchFamily="2" charset="-122"/>
                <a:ea typeface="华光行书_CNKI" panose="02000500000000000000" pitchFamily="2" charset="-122"/>
              </a:rPr>
              <a:t>调用</a:t>
            </a:r>
            <a:r>
              <a:rPr lang="zh-CN" altLang="en-US" sz="2400" spc="-150" dirty="0">
                <a:solidFill>
                  <a:srgbClr val="104E87"/>
                </a:solidFill>
                <a:latin typeface="华光行书_CNKI" panose="02000500000000000000" pitchFamily="2" charset="-122"/>
                <a:ea typeface="华光行书_CNKI" panose="02000500000000000000" pitchFamily="2" charset="-122"/>
              </a:rPr>
              <a:t>。</a:t>
            </a:r>
          </a:p>
        </p:txBody>
      </p:sp>
      <p:sp>
        <p:nvSpPr>
          <p:cNvPr id="11" name="矩形 10">
            <a:extLst>
              <a:ext uri="{FF2B5EF4-FFF2-40B4-BE49-F238E27FC236}">
                <a16:creationId xmlns:a16="http://schemas.microsoft.com/office/drawing/2014/main" id="{6FB5C5D7-E0B5-461A-8E9B-2DC21B8BE0FB}"/>
              </a:ext>
            </a:extLst>
          </p:cNvPr>
          <p:cNvSpPr>
            <a:spLocks noChangeArrowheads="1"/>
          </p:cNvSpPr>
          <p:nvPr/>
        </p:nvSpPr>
        <p:spPr bwMode="auto">
          <a:xfrm>
            <a:off x="1587" y="2468747"/>
            <a:ext cx="544969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just" eaLnBrk="1" hangingPunct="1">
              <a:spcBef>
                <a:spcPct val="0"/>
              </a:spcBef>
              <a:buClrTx/>
              <a:buSzTx/>
              <a:buFont typeface="Wingdings" panose="05000000000000000000" pitchFamily="2" charset="2"/>
              <a:buNone/>
            </a:pPr>
            <a:r>
              <a:rPr lang="zh-CN" altLang="en-US" sz="2400" spc="-150" dirty="0">
                <a:solidFill>
                  <a:srgbClr val="104E87"/>
                </a:solidFill>
                <a:latin typeface="华光行书_CNKI" panose="02000500000000000000" pitchFamily="2" charset="-122"/>
                <a:ea typeface="华光行书_CNKI" panose="02000500000000000000" pitchFamily="2" charset="-122"/>
              </a:rPr>
              <a:t>派生类名</a:t>
            </a:r>
            <a:r>
              <a:rPr lang="en-US" altLang="zh-CN" sz="2400" spc="-150" dirty="0">
                <a:solidFill>
                  <a:srgbClr val="104E87"/>
                </a:solidFill>
                <a:latin typeface="华光行书_CNKI" panose="02000500000000000000" pitchFamily="2" charset="-122"/>
                <a:ea typeface="华光行书_CNKI" panose="02000500000000000000" pitchFamily="2" charset="-122"/>
              </a:rPr>
              <a:t>(</a:t>
            </a:r>
            <a:r>
              <a:rPr lang="zh-CN" altLang="en-US" sz="2400" spc="-150" dirty="0">
                <a:solidFill>
                  <a:srgbClr val="104E87"/>
                </a:solidFill>
                <a:latin typeface="华光行书_CNKI" panose="02000500000000000000" pitchFamily="2" charset="-122"/>
                <a:ea typeface="华光行书_CNKI" panose="02000500000000000000" pitchFamily="2" charset="-122"/>
              </a:rPr>
              <a:t>参数表</a:t>
            </a:r>
            <a:r>
              <a:rPr lang="en-US" altLang="zh-CN" sz="2400" spc="-150" dirty="0">
                <a:solidFill>
                  <a:srgbClr val="104E87"/>
                </a:solidFill>
                <a:latin typeface="华光行书_CNKI" panose="02000500000000000000" pitchFamily="2" charset="-122"/>
                <a:ea typeface="华光行书_CNKI" panose="02000500000000000000" pitchFamily="2" charset="-122"/>
              </a:rPr>
              <a:t>):</a:t>
            </a:r>
            <a:r>
              <a:rPr lang="zh-CN" altLang="en-US" sz="2400" spc="-150" dirty="0">
                <a:solidFill>
                  <a:srgbClr val="104E87"/>
                </a:solidFill>
                <a:latin typeface="华光行书_CNKI" panose="02000500000000000000" pitchFamily="2" charset="-122"/>
                <a:ea typeface="华光行书_CNKI" panose="02000500000000000000" pitchFamily="2" charset="-122"/>
              </a:rPr>
              <a:t>基类名</a:t>
            </a:r>
            <a:r>
              <a:rPr lang="en-US" altLang="zh-CN" sz="2400" spc="-150" dirty="0">
                <a:solidFill>
                  <a:srgbClr val="104E87"/>
                </a:solidFill>
                <a:latin typeface="华光行书_CNKI" panose="02000500000000000000" pitchFamily="2" charset="-122"/>
                <a:ea typeface="华光行书_CNKI" panose="02000500000000000000" pitchFamily="2" charset="-122"/>
              </a:rPr>
              <a:t>(</a:t>
            </a:r>
            <a:r>
              <a:rPr lang="zh-CN" altLang="en-US" sz="2400" spc="-150" dirty="0">
                <a:solidFill>
                  <a:srgbClr val="104E87"/>
                </a:solidFill>
                <a:latin typeface="华光行书_CNKI" panose="02000500000000000000" pitchFamily="2" charset="-122"/>
                <a:ea typeface="华光行书_CNKI" panose="02000500000000000000" pitchFamily="2" charset="-122"/>
              </a:rPr>
              <a:t>参数</a:t>
            </a:r>
            <a:r>
              <a:rPr lang="en-US" altLang="zh-CN" sz="2400" spc="-150" dirty="0">
                <a:solidFill>
                  <a:srgbClr val="104E87"/>
                </a:solidFill>
                <a:latin typeface="华光行书_CNKI" panose="02000500000000000000" pitchFamily="2" charset="-122"/>
                <a:ea typeface="华光行书_CNKI" panose="02000500000000000000" pitchFamily="2" charset="-122"/>
              </a:rPr>
              <a:t>)</a:t>
            </a:r>
          </a:p>
          <a:p>
            <a:pPr algn="just" eaLnBrk="1" hangingPunct="1">
              <a:spcBef>
                <a:spcPct val="0"/>
              </a:spcBef>
              <a:buClrTx/>
              <a:buSzTx/>
              <a:buFont typeface="Wingdings" panose="05000000000000000000" pitchFamily="2" charset="2"/>
              <a:buNone/>
            </a:pPr>
            <a:r>
              <a:rPr lang="en-US" altLang="zh-CN" sz="2400" spc="-150" dirty="0">
                <a:solidFill>
                  <a:srgbClr val="104E87"/>
                </a:solidFill>
                <a:latin typeface="华光行书_CNKI" panose="02000500000000000000" pitchFamily="2" charset="-122"/>
                <a:ea typeface="华光行书_CNKI" panose="02000500000000000000" pitchFamily="2" charset="-122"/>
              </a:rPr>
              <a:t>{	</a:t>
            </a:r>
            <a:r>
              <a:rPr lang="zh-CN" altLang="en-US" sz="2400" spc="-150" dirty="0">
                <a:solidFill>
                  <a:srgbClr val="104E87"/>
                </a:solidFill>
                <a:latin typeface="华光行书_CNKI" panose="02000500000000000000" pitchFamily="2" charset="-122"/>
                <a:ea typeface="华光行书_CNKI" panose="02000500000000000000" pitchFamily="2" charset="-122"/>
              </a:rPr>
              <a:t>派生类构造函数体</a:t>
            </a:r>
          </a:p>
          <a:p>
            <a:pPr eaLnBrk="1" hangingPunct="1">
              <a:spcBef>
                <a:spcPct val="0"/>
              </a:spcBef>
              <a:buClrTx/>
              <a:buSzTx/>
              <a:buFont typeface="Wingdings" panose="05000000000000000000" pitchFamily="2" charset="2"/>
              <a:buNone/>
            </a:pPr>
            <a:r>
              <a:rPr lang="en-US" altLang="zh-CN" sz="2400" spc="-150" dirty="0">
                <a:solidFill>
                  <a:srgbClr val="104E87"/>
                </a:solidFill>
                <a:latin typeface="华光行书_CNKI" panose="02000500000000000000" pitchFamily="2" charset="-122"/>
                <a:ea typeface="华光行书_CNKI" panose="02000500000000000000" pitchFamily="2" charset="-122"/>
              </a:rPr>
              <a:t>} </a:t>
            </a:r>
          </a:p>
        </p:txBody>
      </p:sp>
      <p:sp>
        <p:nvSpPr>
          <p:cNvPr id="13" name="灯片编号占位符 1">
            <a:extLst>
              <a:ext uri="{FF2B5EF4-FFF2-40B4-BE49-F238E27FC236}">
                <a16:creationId xmlns:a16="http://schemas.microsoft.com/office/drawing/2014/main" id="{8B292368-736A-4089-85B7-EE0844D4B285}"/>
              </a:ext>
            </a:extLst>
          </p:cNvPr>
          <p:cNvSpPr txBox="1">
            <a:spLocks/>
          </p:cNvSpPr>
          <p:nvPr/>
        </p:nvSpPr>
        <p:spPr>
          <a:xfrm>
            <a:off x="6792981" y="5520715"/>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609600" rtl="0" eaLnBrk="1" latinLnBrk="0" hangingPunct="1">
              <a:spcBef>
                <a:spcPct val="20000"/>
              </a:spcBef>
              <a:buClr>
                <a:schemeClr val="bg2"/>
              </a:buClr>
              <a:buSzPct val="70000"/>
              <a:buFont typeface="Wingdings" panose="05000000000000000000" pitchFamily="2" charset="2"/>
              <a:buChar char="o"/>
              <a:defRPr sz="3200" kern="1200">
                <a:solidFill>
                  <a:srgbClr val="0000FF"/>
                </a:solidFill>
                <a:latin typeface="Times New Roman" panose="02020603050405020304" pitchFamily="18" charset="0"/>
                <a:ea typeface="楷体_GB2312" pitchFamily="49" charset="-122"/>
                <a:cs typeface="+mn-cs"/>
              </a:defRPr>
            </a:lvl1pPr>
            <a:lvl2pPr marL="742950" indent="-285750" algn="l" defTabSz="609600" rtl="0" eaLnBrk="1" latinLnBrk="0" hangingPunct="1">
              <a:spcBef>
                <a:spcPct val="20000"/>
              </a:spcBef>
              <a:buClr>
                <a:schemeClr val="accent2"/>
              </a:buClr>
              <a:buSzPct val="75000"/>
              <a:buFont typeface="Wingdings" panose="05000000000000000000" pitchFamily="2" charset="2"/>
              <a:buChar char="n"/>
              <a:defRPr sz="2800" kern="1200">
                <a:solidFill>
                  <a:srgbClr val="0000FF"/>
                </a:solidFill>
                <a:latin typeface="Times New Roman" panose="02020603050405020304" pitchFamily="18" charset="0"/>
                <a:ea typeface="楷体_GB2312" pitchFamily="49" charset="-122"/>
                <a:cs typeface="+mn-cs"/>
              </a:defRPr>
            </a:lvl2pPr>
            <a:lvl3pPr marL="1143000" indent="-228600" algn="l" defTabSz="609600" rtl="0" eaLnBrk="1" latinLnBrk="0" hangingPunct="1">
              <a:spcBef>
                <a:spcPct val="20000"/>
              </a:spcBef>
              <a:buClr>
                <a:schemeClr val="bg2"/>
              </a:buClr>
              <a:buSzPct val="65000"/>
              <a:buFont typeface="Wingdings" panose="05000000000000000000" pitchFamily="2" charset="2"/>
              <a:buChar char="o"/>
              <a:defRPr sz="2400" kern="1200">
                <a:solidFill>
                  <a:srgbClr val="0000FF"/>
                </a:solidFill>
                <a:latin typeface="Times New Roman" panose="02020603050405020304" pitchFamily="18" charset="0"/>
                <a:ea typeface="楷体_GB2312" pitchFamily="49" charset="-122"/>
                <a:cs typeface="+mn-cs"/>
              </a:defRPr>
            </a:lvl3pPr>
            <a:lvl4pPr marL="1600200" indent="-228600" algn="l" defTabSz="609600" rtl="0" eaLnBrk="1" latinLnBrk="0" hangingPunct="1">
              <a:spcBef>
                <a:spcPct val="20000"/>
              </a:spcBef>
              <a:buClr>
                <a:schemeClr val="accent2"/>
              </a:buClr>
              <a:buSzPct val="75000"/>
              <a:buFont typeface="Wingdings" panose="05000000000000000000" pitchFamily="2" charset="2"/>
              <a:buChar char="n"/>
              <a:defRPr sz="2000" kern="1200">
                <a:solidFill>
                  <a:srgbClr val="0000FF"/>
                </a:solidFill>
                <a:latin typeface="Times New Roman" panose="02020603050405020304" pitchFamily="18" charset="0"/>
                <a:ea typeface="楷体_GB2312" pitchFamily="49" charset="-122"/>
                <a:cs typeface="+mn-cs"/>
              </a:defRPr>
            </a:lvl4pPr>
            <a:lvl5pPr marL="2057400" indent="-228600" algn="l" defTabSz="609600" rtl="0" eaLnBrk="1" latinLnBrk="0" hangingPunct="1">
              <a:spcBef>
                <a:spcPct val="20000"/>
              </a:spcBef>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5pPr>
            <a:lvl6pPr marL="2514600" indent="-228600" algn="l" defTabSz="609600" rtl="0" eaLnBrk="0" fontAlgn="base" latinLnBrk="0" hangingPunct="0">
              <a:spcBef>
                <a:spcPct val="20000"/>
              </a:spcBef>
              <a:spcAft>
                <a:spcPct val="0"/>
              </a:spcAft>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6pPr>
            <a:lvl7pPr marL="2971800" indent="-228600" algn="l" defTabSz="609600" rtl="0" eaLnBrk="0" fontAlgn="base" latinLnBrk="0" hangingPunct="0">
              <a:spcBef>
                <a:spcPct val="20000"/>
              </a:spcBef>
              <a:spcAft>
                <a:spcPct val="0"/>
              </a:spcAft>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7pPr>
            <a:lvl8pPr marL="3429000" indent="-228600" algn="l" defTabSz="609600" rtl="0" eaLnBrk="0" fontAlgn="base" latinLnBrk="0" hangingPunct="0">
              <a:spcBef>
                <a:spcPct val="20000"/>
              </a:spcBef>
              <a:spcAft>
                <a:spcPct val="0"/>
              </a:spcAft>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8pPr>
            <a:lvl9pPr marL="3886200" indent="-228600" algn="l" defTabSz="609600" rtl="0" eaLnBrk="0" fontAlgn="base" latinLnBrk="0" hangingPunct="0">
              <a:spcBef>
                <a:spcPct val="20000"/>
              </a:spcBef>
              <a:spcAft>
                <a:spcPct val="0"/>
              </a:spcAft>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9pPr>
          </a:lstStyle>
          <a:p>
            <a:pPr>
              <a:spcBef>
                <a:spcPct val="0"/>
              </a:spcBef>
              <a:buClrTx/>
              <a:buSzTx/>
              <a:buFontTx/>
              <a:buNone/>
            </a:pPr>
            <a:fld id="{AE42355B-7C1C-4E9D-A903-30BA8608B920}" type="slidenum">
              <a:rPr lang="zh-CN" altLang="en-US" sz="1000" smtClean="0">
                <a:solidFill>
                  <a:schemeClr val="tx1"/>
                </a:solidFill>
                <a:latin typeface="华光隶变_CNKI" panose="02000500000000000000" pitchFamily="2" charset="-122"/>
                <a:ea typeface="华光隶变_CNKI" panose="02000500000000000000" pitchFamily="2" charset="-122"/>
              </a:rPr>
              <a:pPr>
                <a:spcBef>
                  <a:spcPct val="0"/>
                </a:spcBef>
                <a:buClrTx/>
                <a:buSzTx/>
                <a:buFontTx/>
                <a:buNone/>
              </a:pPr>
              <a:t>23</a:t>
            </a:fld>
            <a:endParaRPr lang="en-US" altLang="zh-CN" sz="1000">
              <a:solidFill>
                <a:schemeClr val="tx1"/>
              </a:solidFill>
              <a:latin typeface="华光隶变_CNKI" panose="02000500000000000000" pitchFamily="2" charset="-122"/>
              <a:ea typeface="华光隶变_CNKI" panose="02000500000000000000" pitchFamily="2" charset="-122"/>
            </a:endParaRPr>
          </a:p>
        </p:txBody>
      </p:sp>
      <p:cxnSp>
        <p:nvCxnSpPr>
          <p:cNvPr id="21" name="直线连接符 6">
            <a:extLst>
              <a:ext uri="{FF2B5EF4-FFF2-40B4-BE49-F238E27FC236}">
                <a16:creationId xmlns:a16="http://schemas.microsoft.com/office/drawing/2014/main" id="{F0579365-8081-4B3F-816F-CB25E3555C64}"/>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pic>
        <p:nvPicPr>
          <p:cNvPr id="14" name="图片 14">
            <a:extLst>
              <a:ext uri="{FF2B5EF4-FFF2-40B4-BE49-F238E27FC236}">
                <a16:creationId xmlns:a16="http://schemas.microsoft.com/office/drawing/2014/main" id="{C4D0CEAA-B34D-4F5E-8C52-8C3D2D1015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2110" y="0"/>
            <a:ext cx="5988303"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E1DDAD9C-1022-4028-93F9-AAEB5F443F89}"/>
              </a:ext>
            </a:extLst>
          </p:cNvPr>
          <p:cNvSpPr/>
          <p:nvPr/>
        </p:nvSpPr>
        <p:spPr>
          <a:xfrm>
            <a:off x="9424988" y="-9337"/>
            <a:ext cx="2765425" cy="400050"/>
          </a:xfrm>
          <a:prstGeom prst="rect">
            <a:avLst/>
          </a:prstGeom>
        </p:spPr>
        <p:txBody>
          <a:bodyPr wrap="none">
            <a:spAutoFit/>
          </a:bodyPr>
          <a:lstStyle/>
          <a:p>
            <a:pPr eaLnBrk="1" hangingPunct="1">
              <a:buFont typeface="Wingdings" pitchFamily="2" charset="2"/>
              <a:buNone/>
              <a:defRPr/>
            </a:pPr>
            <a:r>
              <a:rPr lang="zh-CN" altLang="en-US" sz="2000" kern="0" dirty="0">
                <a:solidFill>
                  <a:srgbClr val="104E87"/>
                </a:solidFill>
                <a:latin typeface="华光行书_CNKI" panose="02000500000000000000" pitchFamily="2" charset="-122"/>
                <a:ea typeface="华光行书_CNKI" panose="02000500000000000000" pitchFamily="2" charset="-122"/>
              </a:rPr>
              <a:t>多继承和组合类的例子</a:t>
            </a:r>
          </a:p>
        </p:txBody>
      </p:sp>
      <p:pic>
        <p:nvPicPr>
          <p:cNvPr id="17" name="图片 17">
            <a:extLst>
              <a:ext uri="{FF2B5EF4-FFF2-40B4-BE49-F238E27FC236}">
                <a16:creationId xmlns:a16="http://schemas.microsoft.com/office/drawing/2014/main" id="{6DF7A1BE-2F42-474F-8D85-A7E061319A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5521" y="3845874"/>
            <a:ext cx="859648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15">
            <a:extLst>
              <a:ext uri="{FF2B5EF4-FFF2-40B4-BE49-F238E27FC236}">
                <a16:creationId xmlns:a16="http://schemas.microsoft.com/office/drawing/2014/main" id="{B2CA3D1E-276B-457D-B332-6D697D641D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2111" y="1252869"/>
            <a:ext cx="5989890"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16">
            <a:extLst>
              <a:ext uri="{FF2B5EF4-FFF2-40B4-BE49-F238E27FC236}">
                <a16:creationId xmlns:a16="http://schemas.microsoft.com/office/drawing/2014/main" id="{8435DD36-9182-4AB9-8A0D-9CA3540C44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3697" y="2509981"/>
            <a:ext cx="5986716"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21">
            <a:extLst>
              <a:ext uri="{FF2B5EF4-FFF2-40B4-BE49-F238E27FC236}">
                <a16:creationId xmlns:a16="http://schemas.microsoft.com/office/drawing/2014/main" id="{E9AE780E-C130-4F43-834B-8F907331A4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79" y="2464131"/>
            <a:ext cx="3619500" cy="438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图片 7">
            <a:extLst>
              <a:ext uri="{FF2B5EF4-FFF2-40B4-BE49-F238E27FC236}">
                <a16:creationId xmlns:a16="http://schemas.microsoft.com/office/drawing/2014/main" id="{4E54691A-0BE8-4736-BF7F-42EB9F7BA43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96261" y="5747972"/>
            <a:ext cx="3052763"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789036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right)">
                                      <p:cBhvr>
                                        <p:cTn id="17" dur="500"/>
                                        <p:tgtEl>
                                          <p:spTgt spid="13"/>
                                        </p:tgtEl>
                                      </p:cBhvr>
                                    </p:animEffect>
                                  </p:childTnLst>
                                </p:cTn>
                              </p:par>
                              <p:par>
                                <p:cTn id="18" presetID="22" presetClass="entr" presetSubtype="2"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right)">
                                      <p:cBhvr>
                                        <p:cTn id="20" dur="500"/>
                                        <p:tgtEl>
                                          <p:spTgt spid="14"/>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right)">
                                      <p:cBhvr>
                                        <p:cTn id="23" dur="500"/>
                                        <p:tgtEl>
                                          <p:spTgt spid="16"/>
                                        </p:tgtEl>
                                      </p:cBhvr>
                                    </p:animEffect>
                                  </p:childTnLst>
                                </p:cTn>
                              </p:par>
                              <p:par>
                                <p:cTn id="24" presetID="22" presetClass="entr" presetSubtype="2"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right)">
                                      <p:cBhvr>
                                        <p:cTn id="26" dur="500"/>
                                        <p:tgtEl>
                                          <p:spTgt spid="17"/>
                                        </p:tgtEl>
                                      </p:cBhvr>
                                    </p:animEffect>
                                  </p:childTnLst>
                                </p:cTn>
                              </p:par>
                              <p:par>
                                <p:cTn id="27" presetID="22" presetClass="entr" presetSubtype="2"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right)">
                                      <p:cBhvr>
                                        <p:cTn id="29" dur="500"/>
                                        <p:tgtEl>
                                          <p:spTgt spid="19"/>
                                        </p:tgtEl>
                                      </p:cBhvr>
                                    </p:animEffect>
                                  </p:childTnLst>
                                </p:cTn>
                              </p:par>
                              <p:par>
                                <p:cTn id="30" presetID="22" presetClass="entr" presetSubtype="2"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righ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down)">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arn(inVertical)">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animBg="1"/>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10568964"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9.4</a:t>
            </a:r>
            <a:r>
              <a:rPr lang="zh-CN" altLang="en-US" dirty="0">
                <a:sym typeface="+mn-lt"/>
              </a:rPr>
              <a:t>派生类的构造函数和析构函数</a:t>
            </a:r>
            <a:r>
              <a:rPr lang="en-US" altLang="zh-CN" dirty="0">
                <a:sym typeface="+mn-lt"/>
              </a:rPr>
              <a:t>——</a:t>
            </a:r>
            <a:r>
              <a:rPr lang="zh-CN" altLang="en-US" dirty="0">
                <a:sym typeface="+mn-lt"/>
              </a:rPr>
              <a:t>复制构造函数</a:t>
            </a:r>
          </a:p>
        </p:txBody>
      </p:sp>
      <p:sp>
        <p:nvSpPr>
          <p:cNvPr id="15" name="矩形 14">
            <a:extLst>
              <a:ext uri="{FF2B5EF4-FFF2-40B4-BE49-F238E27FC236}">
                <a16:creationId xmlns:a16="http://schemas.microsoft.com/office/drawing/2014/main" id="{444EECFA-953E-47E3-89CF-A2DCACDCE869}"/>
              </a:ext>
            </a:extLst>
          </p:cNvPr>
          <p:cNvSpPr/>
          <p:nvPr/>
        </p:nvSpPr>
        <p:spPr>
          <a:xfrm>
            <a:off x="0" y="939016"/>
            <a:ext cx="4910918" cy="2831544"/>
          </a:xfrm>
          <a:prstGeom prst="rect">
            <a:avLst/>
          </a:prstGeom>
        </p:spPr>
        <p:txBody>
          <a:bodyPr wrap="square">
            <a:spAutoFit/>
          </a:bodyPr>
          <a:lstStyle/>
          <a:p>
            <a:pPr eaLnBrk="1" hangingPunct="1">
              <a:spcBef>
                <a:spcPts val="1200"/>
              </a:spcBef>
              <a:buClr>
                <a:schemeClr val="bg2"/>
              </a:buClr>
              <a:buSzPct val="70000"/>
              <a:buFontTx/>
              <a:buBlip>
                <a:blip r:embed="rId3"/>
              </a:buBlip>
              <a:defRPr/>
            </a:pPr>
            <a:r>
              <a:rPr lang="zh-CN" altLang="en-US" dirty="0">
                <a:solidFill>
                  <a:srgbClr val="104E87"/>
                </a:solidFill>
                <a:latin typeface="Comic Sans MS" panose="030F0702030302020204" pitchFamily="66" charset="0"/>
                <a:ea typeface="华光行书_CNKI" panose="02000500000000000000" pitchFamily="2" charset="-122"/>
              </a:rPr>
              <a:t>若派生类没编写复制构造函数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编译器会生成默认复制构造函数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该函数先调用基类的复制构造函数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再为派生类新增的成员对象执行拷贝。</a:t>
            </a:r>
          </a:p>
          <a:p>
            <a:pPr eaLnBrk="1" hangingPunct="1">
              <a:spcBef>
                <a:spcPts val="1200"/>
              </a:spcBef>
              <a:buClr>
                <a:schemeClr val="bg2"/>
              </a:buClr>
              <a:buSzPct val="70000"/>
              <a:buFontTx/>
              <a:buBlip>
                <a:blip r:embed="rId3"/>
              </a:buBlip>
              <a:defRPr/>
            </a:pPr>
            <a:r>
              <a:rPr lang="zh-CN" altLang="en-US" dirty="0">
                <a:solidFill>
                  <a:srgbClr val="104E87"/>
                </a:solidFill>
                <a:latin typeface="Comic Sans MS" panose="030F0702030302020204" pitchFamily="66" charset="0"/>
                <a:ea typeface="华光行书_CNKI" panose="02000500000000000000" pitchFamily="2" charset="-122"/>
              </a:rPr>
              <a:t>若编写派生类复制构造函数</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FF0000"/>
                </a:solidFill>
                <a:latin typeface="Comic Sans MS" panose="030F0702030302020204" pitchFamily="66" charset="0"/>
                <a:ea typeface="华光行书_CNKI" panose="02000500000000000000" pitchFamily="2" charset="-122"/>
              </a:rPr>
              <a:t>则需要为基类复制构造函数传递参数。</a:t>
            </a:r>
            <a:r>
              <a:rPr lang="zh-CN" altLang="en-US" dirty="0">
                <a:solidFill>
                  <a:srgbClr val="104E87"/>
                </a:solidFill>
                <a:latin typeface="Comic Sans MS" panose="030F0702030302020204" pitchFamily="66" charset="0"/>
                <a:ea typeface="华光行书_CNKI" panose="02000500000000000000" pitchFamily="2" charset="-122"/>
              </a:rPr>
              <a:t>例如</a:t>
            </a:r>
            <a:r>
              <a:rPr lang="en-US" altLang="zh-CN" dirty="0">
                <a:solidFill>
                  <a:srgbClr val="104E87"/>
                </a:solidFill>
                <a:latin typeface="Comic Sans MS" panose="030F0702030302020204" pitchFamily="66" charset="0"/>
                <a:ea typeface="华光行书_CNKI" panose="02000500000000000000" pitchFamily="2" charset="-122"/>
              </a:rPr>
              <a:t>: C::C(const C &amp;c1): B(c1) {…}</a:t>
            </a:r>
            <a:endParaRPr lang="zh-CN" altLang="en-US" dirty="0">
              <a:solidFill>
                <a:srgbClr val="104E87"/>
              </a:solidFill>
              <a:latin typeface="Comic Sans MS" panose="030F0702030302020204" pitchFamily="66" charset="0"/>
              <a:ea typeface="华光行书_CNKI" panose="02000500000000000000" pitchFamily="2" charset="-122"/>
            </a:endParaRPr>
          </a:p>
        </p:txBody>
      </p:sp>
      <p:cxnSp>
        <p:nvCxnSpPr>
          <p:cNvPr id="21" name="直线连接符 6">
            <a:extLst>
              <a:ext uri="{FF2B5EF4-FFF2-40B4-BE49-F238E27FC236}">
                <a16:creationId xmlns:a16="http://schemas.microsoft.com/office/drawing/2014/main" id="{F0579365-8081-4B3F-816F-CB25E3555C64}"/>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2" name="矩形 3">
            <a:extLst>
              <a:ext uri="{FF2B5EF4-FFF2-40B4-BE49-F238E27FC236}">
                <a16:creationId xmlns:a16="http://schemas.microsoft.com/office/drawing/2014/main" id="{8045E2B4-A08E-4566-9593-D1FA76910F34}"/>
              </a:ext>
            </a:extLst>
          </p:cNvPr>
          <p:cNvSpPr>
            <a:spLocks noChangeArrowheads="1"/>
          </p:cNvSpPr>
          <p:nvPr/>
        </p:nvSpPr>
        <p:spPr bwMode="auto">
          <a:xfrm>
            <a:off x="0" y="3893202"/>
            <a:ext cx="4910918" cy="2308324"/>
          </a:xfrm>
          <a:prstGeom prst="rect">
            <a:avLst/>
          </a:prstGeom>
          <a:solidFill>
            <a:schemeClr val="accent4">
              <a:lumMod val="40000"/>
              <a:lumOff val="60000"/>
            </a:schemeClr>
          </a:solidFill>
          <a:ln>
            <a:noFill/>
          </a:ln>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b="0" dirty="0">
                <a:solidFill>
                  <a:srgbClr val="104E87"/>
                </a:solidFill>
                <a:latin typeface="Comic Sans MS" panose="030F0702030302020204" pitchFamily="66" charset="0"/>
              </a:rPr>
              <a:t>class Base{</a:t>
            </a:r>
          </a:p>
          <a:p>
            <a:r>
              <a:rPr lang="en-US" altLang="zh-CN" b="0" dirty="0">
                <a:solidFill>
                  <a:srgbClr val="104E87"/>
                </a:solidFill>
                <a:latin typeface="Comic Sans MS" panose="030F0702030302020204" pitchFamily="66" charset="0"/>
              </a:rPr>
              <a:t>  int </a:t>
            </a:r>
            <a:r>
              <a:rPr lang="en-US" altLang="zh-CN" b="0" dirty="0" err="1">
                <a:solidFill>
                  <a:srgbClr val="104E87"/>
                </a:solidFill>
                <a:latin typeface="Comic Sans MS" panose="030F0702030302020204" pitchFamily="66" charset="0"/>
              </a:rPr>
              <a:t>i</a:t>
            </a:r>
            <a:r>
              <a:rPr lang="en-US" altLang="zh-CN" b="0" dirty="0">
                <a:solidFill>
                  <a:srgbClr val="104E87"/>
                </a:solidFill>
                <a:latin typeface="Comic Sans MS" panose="030F0702030302020204" pitchFamily="66" charset="0"/>
              </a:rPr>
              <a:t>;</a:t>
            </a:r>
          </a:p>
          <a:p>
            <a:r>
              <a:rPr lang="en-US" altLang="zh-CN" b="0" dirty="0">
                <a:solidFill>
                  <a:srgbClr val="104E87"/>
                </a:solidFill>
                <a:latin typeface="Comic Sans MS" panose="030F0702030302020204" pitchFamily="66" charset="0"/>
              </a:rPr>
              <a:t>public:</a:t>
            </a:r>
          </a:p>
          <a:p>
            <a:r>
              <a:rPr lang="en-US" altLang="zh-CN" b="0" dirty="0">
                <a:solidFill>
                  <a:srgbClr val="104E87"/>
                </a:solidFill>
                <a:latin typeface="Comic Sans MS" panose="030F0702030302020204" pitchFamily="66" charset="0"/>
              </a:rPr>
              <a:t>  Base(int k=0) :</a:t>
            </a:r>
            <a:r>
              <a:rPr lang="en-US" altLang="zh-CN" b="0" dirty="0" err="1">
                <a:solidFill>
                  <a:srgbClr val="104E87"/>
                </a:solidFill>
                <a:latin typeface="Comic Sans MS" panose="030F0702030302020204" pitchFamily="66" charset="0"/>
              </a:rPr>
              <a:t>i</a:t>
            </a:r>
            <a:r>
              <a:rPr lang="en-US" altLang="zh-CN" b="0" dirty="0">
                <a:solidFill>
                  <a:srgbClr val="104E87"/>
                </a:solidFill>
                <a:latin typeface="Comic Sans MS" panose="030F0702030302020204" pitchFamily="66" charset="0"/>
              </a:rPr>
              <a:t>(k) {}</a:t>
            </a:r>
          </a:p>
          <a:p>
            <a:r>
              <a:rPr lang="en-US" altLang="zh-CN" b="0" dirty="0">
                <a:solidFill>
                  <a:srgbClr val="104E87"/>
                </a:solidFill>
                <a:latin typeface="Comic Sans MS" panose="030F0702030302020204" pitchFamily="66" charset="0"/>
              </a:rPr>
              <a:t>  show(){</a:t>
            </a:r>
            <a:r>
              <a:rPr lang="en-US" altLang="zh-CN" b="0" dirty="0" err="1">
                <a:solidFill>
                  <a:srgbClr val="104E87"/>
                </a:solidFill>
                <a:latin typeface="Comic Sans MS" panose="030F0702030302020204" pitchFamily="66" charset="0"/>
              </a:rPr>
              <a:t>cout</a:t>
            </a:r>
            <a:r>
              <a:rPr lang="en-US" altLang="zh-CN" b="0" dirty="0">
                <a:solidFill>
                  <a:srgbClr val="104E87"/>
                </a:solidFill>
                <a:latin typeface="Comic Sans MS" panose="030F0702030302020204" pitchFamily="66" charset="0"/>
              </a:rPr>
              <a:t>&lt;&lt;"Base::</a:t>
            </a:r>
            <a:r>
              <a:rPr lang="en-US" altLang="zh-CN" b="0" dirty="0" err="1">
                <a:solidFill>
                  <a:srgbClr val="104E87"/>
                </a:solidFill>
                <a:latin typeface="Comic Sans MS" panose="030F0702030302020204" pitchFamily="66" charset="0"/>
              </a:rPr>
              <a:t>i</a:t>
            </a:r>
            <a:r>
              <a:rPr lang="en-US" altLang="zh-CN" b="0" dirty="0">
                <a:solidFill>
                  <a:srgbClr val="104E87"/>
                </a:solidFill>
                <a:latin typeface="Comic Sans MS" panose="030F0702030302020204" pitchFamily="66" charset="0"/>
              </a:rPr>
              <a:t>="&lt;&lt;</a:t>
            </a:r>
            <a:r>
              <a:rPr lang="en-US" altLang="zh-CN" b="0" dirty="0" err="1">
                <a:solidFill>
                  <a:srgbClr val="104E87"/>
                </a:solidFill>
                <a:latin typeface="Comic Sans MS" panose="030F0702030302020204" pitchFamily="66" charset="0"/>
              </a:rPr>
              <a:t>i</a:t>
            </a:r>
            <a:r>
              <a:rPr lang="en-US" altLang="zh-CN" b="0" dirty="0">
                <a:solidFill>
                  <a:srgbClr val="104E87"/>
                </a:solidFill>
                <a:latin typeface="Comic Sans MS" panose="030F0702030302020204" pitchFamily="66" charset="0"/>
              </a:rPr>
              <a:t>&lt;&lt;"\n";}</a:t>
            </a:r>
          </a:p>
          <a:p>
            <a:r>
              <a:rPr lang="en-US" altLang="zh-CN" b="0" dirty="0">
                <a:solidFill>
                  <a:srgbClr val="104E87"/>
                </a:solidFill>
                <a:latin typeface="Comic Sans MS" panose="030F0702030302020204" pitchFamily="66" charset="0"/>
              </a:rPr>
              <a:t>};</a:t>
            </a:r>
            <a:r>
              <a:rPr lang="zh-CN" altLang="en-US" dirty="0">
                <a:solidFill>
                  <a:srgbClr val="104E87"/>
                </a:solidFill>
                <a:latin typeface="Comic Sans MS" panose="030F0702030302020204" pitchFamily="66" charset="0"/>
              </a:rPr>
              <a:t> </a:t>
            </a:r>
            <a:endParaRPr lang="en-US" altLang="zh-CN" dirty="0">
              <a:solidFill>
                <a:srgbClr val="104E87"/>
              </a:solidFill>
              <a:latin typeface="Comic Sans MS" panose="030F0702030302020204" pitchFamily="66" charset="0"/>
            </a:endParaRPr>
          </a:p>
        </p:txBody>
      </p:sp>
      <p:sp>
        <p:nvSpPr>
          <p:cNvPr id="14" name="文本框 13">
            <a:extLst>
              <a:ext uri="{FF2B5EF4-FFF2-40B4-BE49-F238E27FC236}">
                <a16:creationId xmlns:a16="http://schemas.microsoft.com/office/drawing/2014/main" id="{F5AD8287-46F2-4ACA-956E-4BDCB6E43A0F}"/>
              </a:ext>
            </a:extLst>
          </p:cNvPr>
          <p:cNvSpPr txBox="1"/>
          <p:nvPr/>
        </p:nvSpPr>
        <p:spPr>
          <a:xfrm>
            <a:off x="5374888" y="917918"/>
            <a:ext cx="6659006" cy="2308324"/>
          </a:xfrm>
          <a:prstGeom prst="rect">
            <a:avLst/>
          </a:prstGeom>
          <a:solidFill>
            <a:schemeClr val="accent4">
              <a:lumMod val="20000"/>
              <a:lumOff val="80000"/>
            </a:schemeClr>
          </a:solidFill>
        </p:spPr>
        <p:txBody>
          <a:bodyPr wrap="square">
            <a:spAutoFit/>
          </a:bodyPr>
          <a:lstStyle/>
          <a:p>
            <a:r>
              <a:rPr lang="en-US" altLang="zh-CN" b="0" spc="-150" dirty="0">
                <a:solidFill>
                  <a:srgbClr val="104E87"/>
                </a:solidFill>
                <a:latin typeface="Comic Sans MS" panose="030F0702030302020204" pitchFamily="66" charset="0"/>
              </a:rPr>
              <a:t>class Derived: public Base{</a:t>
            </a:r>
          </a:p>
          <a:p>
            <a:r>
              <a:rPr lang="en-US" altLang="zh-CN" b="0" spc="-150" dirty="0">
                <a:solidFill>
                  <a:srgbClr val="104E87"/>
                </a:solidFill>
                <a:latin typeface="Comic Sans MS" panose="030F0702030302020204" pitchFamily="66" charset="0"/>
              </a:rPr>
              <a:t>  int j;</a:t>
            </a:r>
          </a:p>
          <a:p>
            <a:r>
              <a:rPr lang="en-US" altLang="zh-CN" b="0" spc="-150" dirty="0">
                <a:solidFill>
                  <a:srgbClr val="104E87"/>
                </a:solidFill>
                <a:latin typeface="Comic Sans MS" panose="030F0702030302020204" pitchFamily="66" charset="0"/>
              </a:rPr>
              <a:t>public:</a:t>
            </a:r>
          </a:p>
          <a:p>
            <a:r>
              <a:rPr lang="en-US" altLang="zh-CN" b="0" spc="-150" dirty="0">
                <a:solidFill>
                  <a:srgbClr val="104E87"/>
                </a:solidFill>
                <a:latin typeface="Comic Sans MS" panose="030F0702030302020204" pitchFamily="66" charset="0"/>
              </a:rPr>
              <a:t>  Derived(int x=2,int y=2) :Base(x),j(y){}</a:t>
            </a:r>
          </a:p>
          <a:p>
            <a:r>
              <a:rPr lang="en-US" altLang="zh-CN" b="0" spc="-150" dirty="0">
                <a:solidFill>
                  <a:srgbClr val="104E87"/>
                </a:solidFill>
                <a:latin typeface="Comic Sans MS" panose="030F0702030302020204" pitchFamily="66" charset="0"/>
              </a:rPr>
              <a:t>  Derived(const Derived &amp;obj) : </a:t>
            </a:r>
            <a:r>
              <a:rPr lang="en-US" altLang="zh-CN" b="0" spc="-150" dirty="0">
                <a:solidFill>
                  <a:srgbClr val="FF0000"/>
                </a:solidFill>
                <a:latin typeface="Comic Sans MS" panose="030F0702030302020204" pitchFamily="66" charset="0"/>
              </a:rPr>
              <a:t>Base(obj)</a:t>
            </a:r>
            <a:r>
              <a:rPr lang="en-US" altLang="zh-CN" b="0" spc="-150" dirty="0">
                <a:solidFill>
                  <a:srgbClr val="104E87"/>
                </a:solidFill>
                <a:latin typeface="Comic Sans MS" panose="030F0702030302020204" pitchFamily="66" charset="0"/>
              </a:rPr>
              <a:t>,j(</a:t>
            </a:r>
            <a:r>
              <a:rPr lang="en-US" altLang="zh-CN" b="0" spc="-150" dirty="0" err="1">
                <a:solidFill>
                  <a:srgbClr val="104E87"/>
                </a:solidFill>
                <a:latin typeface="Comic Sans MS" panose="030F0702030302020204" pitchFamily="66" charset="0"/>
              </a:rPr>
              <a:t>obj.j</a:t>
            </a:r>
            <a:r>
              <a:rPr lang="en-US" altLang="zh-CN" b="0" spc="-150" dirty="0">
                <a:solidFill>
                  <a:srgbClr val="104E87"/>
                </a:solidFill>
                <a:latin typeface="Comic Sans MS" panose="030F0702030302020204" pitchFamily="66" charset="0"/>
              </a:rPr>
              <a:t>){}</a:t>
            </a:r>
          </a:p>
          <a:p>
            <a:r>
              <a:rPr lang="en-US" altLang="zh-CN" b="0" spc="-150" dirty="0">
                <a:solidFill>
                  <a:srgbClr val="104E87"/>
                </a:solidFill>
                <a:latin typeface="Comic Sans MS" panose="030F0702030302020204" pitchFamily="66" charset="0"/>
              </a:rPr>
              <a:t>};</a:t>
            </a:r>
            <a:endParaRPr lang="zh-CN" altLang="en-US" spc="-150" dirty="0"/>
          </a:p>
        </p:txBody>
      </p:sp>
      <p:sp>
        <p:nvSpPr>
          <p:cNvPr id="16" name="文本框 15">
            <a:extLst>
              <a:ext uri="{FF2B5EF4-FFF2-40B4-BE49-F238E27FC236}">
                <a16:creationId xmlns:a16="http://schemas.microsoft.com/office/drawing/2014/main" id="{66BC7946-B146-4036-9CD5-659E35FC13C3}"/>
              </a:ext>
            </a:extLst>
          </p:cNvPr>
          <p:cNvSpPr txBox="1"/>
          <p:nvPr/>
        </p:nvSpPr>
        <p:spPr>
          <a:xfrm>
            <a:off x="9233209" y="4753"/>
            <a:ext cx="2957204" cy="1868525"/>
          </a:xfrm>
          <a:prstGeom prst="rect">
            <a:avLst/>
          </a:prstGeom>
          <a:solidFill>
            <a:srgbClr val="FFC000"/>
          </a:solidFill>
        </p:spPr>
        <p:txBody>
          <a:bodyPr wrap="square">
            <a:spAutoFit/>
          </a:bodyPr>
          <a:lstStyle/>
          <a:p>
            <a:pPr>
              <a:lnSpc>
                <a:spcPct val="80000"/>
              </a:lnSpc>
            </a:pPr>
            <a:r>
              <a:rPr lang="en-US" altLang="zh-CN" b="0" dirty="0">
                <a:solidFill>
                  <a:srgbClr val="104E87"/>
                </a:solidFill>
                <a:latin typeface="Comic Sans MS" panose="030F0702030302020204" pitchFamily="66" charset="0"/>
              </a:rPr>
              <a:t>int main()</a:t>
            </a:r>
          </a:p>
          <a:p>
            <a:pPr>
              <a:lnSpc>
                <a:spcPct val="80000"/>
              </a:lnSpc>
            </a:pPr>
            <a:r>
              <a:rPr lang="en-US" altLang="zh-CN" b="0" dirty="0">
                <a:solidFill>
                  <a:srgbClr val="104E87"/>
                </a:solidFill>
                <a:latin typeface="Comic Sans MS" panose="030F0702030302020204" pitchFamily="66" charset="0"/>
              </a:rPr>
              <a:t>{Derived d1(3,3);</a:t>
            </a:r>
          </a:p>
          <a:p>
            <a:pPr>
              <a:lnSpc>
                <a:spcPct val="80000"/>
              </a:lnSpc>
            </a:pPr>
            <a:r>
              <a:rPr lang="en-US" altLang="zh-CN" b="0" dirty="0">
                <a:solidFill>
                  <a:srgbClr val="104E87"/>
                </a:solidFill>
                <a:latin typeface="Comic Sans MS" panose="030F0702030302020204" pitchFamily="66" charset="0"/>
              </a:rPr>
              <a:t>Derived d2(d1);</a:t>
            </a:r>
          </a:p>
          <a:p>
            <a:pPr>
              <a:lnSpc>
                <a:spcPct val="80000"/>
              </a:lnSpc>
            </a:pPr>
            <a:r>
              <a:rPr lang="en-US" altLang="zh-CN" b="0" dirty="0">
                <a:solidFill>
                  <a:srgbClr val="104E87"/>
                </a:solidFill>
                <a:latin typeface="Comic Sans MS" panose="030F0702030302020204" pitchFamily="66" charset="0"/>
              </a:rPr>
              <a:t>d2.show();</a:t>
            </a:r>
          </a:p>
          <a:p>
            <a:pPr>
              <a:lnSpc>
                <a:spcPct val="80000"/>
              </a:lnSpc>
            </a:pPr>
            <a:r>
              <a:rPr lang="en-US" altLang="zh-CN" b="0" dirty="0">
                <a:solidFill>
                  <a:srgbClr val="104E87"/>
                </a:solidFill>
                <a:latin typeface="Comic Sans MS" panose="030F0702030302020204" pitchFamily="66" charset="0"/>
              </a:rPr>
              <a:t>return 0;</a:t>
            </a:r>
          </a:p>
          <a:p>
            <a:pPr>
              <a:lnSpc>
                <a:spcPct val="80000"/>
              </a:lnSpc>
            </a:pPr>
            <a:r>
              <a:rPr lang="en-US" altLang="zh-CN" b="0" dirty="0">
                <a:solidFill>
                  <a:srgbClr val="104E87"/>
                </a:solidFill>
                <a:latin typeface="Comic Sans MS" panose="030F0702030302020204" pitchFamily="66" charset="0"/>
              </a:rPr>
              <a:t> }</a:t>
            </a:r>
          </a:p>
        </p:txBody>
      </p:sp>
      <p:sp>
        <p:nvSpPr>
          <p:cNvPr id="17" name="矩形 16">
            <a:extLst>
              <a:ext uri="{FF2B5EF4-FFF2-40B4-BE49-F238E27FC236}">
                <a16:creationId xmlns:a16="http://schemas.microsoft.com/office/drawing/2014/main" id="{AEB9F0C2-95F3-4475-97EE-987FC451FDB6}"/>
              </a:ext>
            </a:extLst>
          </p:cNvPr>
          <p:cNvSpPr/>
          <p:nvPr/>
        </p:nvSpPr>
        <p:spPr>
          <a:xfrm>
            <a:off x="5278553" y="3308895"/>
            <a:ext cx="4356100" cy="461665"/>
          </a:xfrm>
          <a:prstGeom prst="rect">
            <a:avLst/>
          </a:prstGeom>
        </p:spPr>
        <p:txBody>
          <a:bodyPr>
            <a:spAutoFit/>
          </a:bodyPr>
          <a:lstStyle/>
          <a:p>
            <a:pPr>
              <a:defRPr/>
            </a:pPr>
            <a:r>
              <a:rPr lang="zh-CN" altLang="en-US" dirty="0">
                <a:solidFill>
                  <a:srgbClr val="FF0000"/>
                </a:solidFill>
                <a:latin typeface="Comic Sans MS" panose="030F0702030302020204" pitchFamily="66" charset="0"/>
                <a:ea typeface="华光行书_CNKI" panose="02000500000000000000" pitchFamily="2" charset="-122"/>
              </a:rPr>
              <a:t>如果省略</a:t>
            </a:r>
            <a:r>
              <a:rPr lang="en-US" altLang="zh-CN" b="0" dirty="0">
                <a:solidFill>
                  <a:srgbClr val="FF0000"/>
                </a:solidFill>
                <a:latin typeface="Comic Sans MS" panose="030F0702030302020204" pitchFamily="66" charset="0"/>
                <a:ea typeface="华光行书_CNKI" panose="02000500000000000000" pitchFamily="2" charset="-122"/>
              </a:rPr>
              <a:t>Base(obj)</a:t>
            </a:r>
            <a:r>
              <a:rPr lang="zh-CN" altLang="en-US" dirty="0">
                <a:solidFill>
                  <a:srgbClr val="FF0000"/>
                </a:solidFill>
                <a:latin typeface="Comic Sans MS" panose="030F0702030302020204" pitchFamily="66" charset="0"/>
                <a:ea typeface="华光行书_CNKI" panose="02000500000000000000" pitchFamily="2" charset="-122"/>
              </a:rPr>
              <a:t>会怎么样？</a:t>
            </a:r>
          </a:p>
        </p:txBody>
      </p:sp>
      <p:pic>
        <p:nvPicPr>
          <p:cNvPr id="18" name="图片 17">
            <a:extLst>
              <a:ext uri="{FF2B5EF4-FFF2-40B4-BE49-F238E27FC236}">
                <a16:creationId xmlns:a16="http://schemas.microsoft.com/office/drawing/2014/main" id="{35D1BF9D-8A8A-4871-81B4-6F282F567A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3440" y="3903822"/>
            <a:ext cx="1616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18">
            <a:extLst>
              <a:ext uri="{FF2B5EF4-FFF2-40B4-BE49-F238E27FC236}">
                <a16:creationId xmlns:a16="http://schemas.microsoft.com/office/drawing/2014/main" id="{B6635668-454C-42E0-B83C-7F56E55295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3128" y="4448335"/>
            <a:ext cx="1646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矩形 19">
            <a:extLst>
              <a:ext uri="{FF2B5EF4-FFF2-40B4-BE49-F238E27FC236}">
                <a16:creationId xmlns:a16="http://schemas.microsoft.com/office/drawing/2014/main" id="{68872371-B07B-4833-8AA4-6FCE1E845E6E}"/>
              </a:ext>
            </a:extLst>
          </p:cNvPr>
          <p:cNvSpPr/>
          <p:nvPr/>
        </p:nvSpPr>
        <p:spPr>
          <a:xfrm>
            <a:off x="5227753" y="3848260"/>
            <a:ext cx="2161169" cy="461665"/>
          </a:xfrm>
          <a:prstGeom prst="rect">
            <a:avLst/>
          </a:prstGeom>
        </p:spPr>
        <p:txBody>
          <a:bodyPr wrap="none">
            <a:spAutoFit/>
          </a:bodyPr>
          <a:lstStyle/>
          <a:p>
            <a:pPr>
              <a:defRPr/>
            </a:pPr>
            <a:r>
              <a:rPr lang="zh-CN" altLang="en-US" dirty="0">
                <a:solidFill>
                  <a:srgbClr val="FF0000"/>
                </a:solidFill>
                <a:latin typeface="Comic Sans MS" panose="030F0702030302020204" pitchFamily="66" charset="0"/>
                <a:ea typeface="华光行书_CNKI" panose="02000500000000000000" pitchFamily="2" charset="-122"/>
              </a:rPr>
              <a:t>省略</a:t>
            </a:r>
            <a:r>
              <a:rPr lang="en-US" altLang="zh-CN" b="0" dirty="0">
                <a:solidFill>
                  <a:srgbClr val="FF0000"/>
                </a:solidFill>
                <a:latin typeface="Comic Sans MS" panose="030F0702030302020204" pitchFamily="66" charset="0"/>
                <a:ea typeface="华光行书_CNKI" panose="02000500000000000000" pitchFamily="2" charset="-122"/>
              </a:rPr>
              <a:t>Base(obj)</a:t>
            </a:r>
            <a:endParaRPr lang="zh-CN" altLang="en-US" dirty="0">
              <a:latin typeface="Comic Sans MS" panose="030F0702030302020204" pitchFamily="66" charset="0"/>
              <a:ea typeface="华光行书_CNKI" panose="02000500000000000000" pitchFamily="2" charset="-122"/>
            </a:endParaRPr>
          </a:p>
        </p:txBody>
      </p:sp>
      <p:sp>
        <p:nvSpPr>
          <p:cNvPr id="22" name="矩形 21">
            <a:extLst>
              <a:ext uri="{FF2B5EF4-FFF2-40B4-BE49-F238E27FC236}">
                <a16:creationId xmlns:a16="http://schemas.microsoft.com/office/drawing/2014/main" id="{0ACA6472-EEA0-4BFA-89C0-6ED8E600B903}"/>
              </a:ext>
            </a:extLst>
          </p:cNvPr>
          <p:cNvSpPr/>
          <p:nvPr/>
        </p:nvSpPr>
        <p:spPr>
          <a:xfrm>
            <a:off x="5227753" y="4365785"/>
            <a:ext cx="2468946" cy="461665"/>
          </a:xfrm>
          <a:prstGeom prst="rect">
            <a:avLst/>
          </a:prstGeom>
        </p:spPr>
        <p:txBody>
          <a:bodyPr wrap="none">
            <a:spAutoFit/>
          </a:bodyPr>
          <a:lstStyle/>
          <a:p>
            <a:pPr>
              <a:defRPr/>
            </a:pPr>
            <a:r>
              <a:rPr lang="zh-CN" altLang="en-US" dirty="0">
                <a:solidFill>
                  <a:srgbClr val="FF0000"/>
                </a:solidFill>
                <a:latin typeface="Comic Sans MS" panose="030F0702030302020204" pitchFamily="66" charset="0"/>
                <a:ea typeface="华光行书_CNKI" panose="02000500000000000000" pitchFamily="2" charset="-122"/>
              </a:rPr>
              <a:t>不省略</a:t>
            </a:r>
            <a:r>
              <a:rPr lang="en-US" altLang="zh-CN" b="0" dirty="0">
                <a:solidFill>
                  <a:srgbClr val="FF0000"/>
                </a:solidFill>
                <a:latin typeface="Comic Sans MS" panose="030F0702030302020204" pitchFamily="66" charset="0"/>
                <a:ea typeface="华光行书_CNKI" panose="02000500000000000000" pitchFamily="2" charset="-122"/>
              </a:rPr>
              <a:t>Base(obj)</a:t>
            </a:r>
            <a:endParaRPr lang="zh-CN" altLang="en-US" dirty="0">
              <a:latin typeface="Comic Sans MS" panose="030F0702030302020204" pitchFamily="66" charset="0"/>
              <a:ea typeface="华光行书_CNKI" panose="02000500000000000000" pitchFamily="2" charset="-122"/>
            </a:endParaRPr>
          </a:p>
        </p:txBody>
      </p:sp>
      <p:sp>
        <p:nvSpPr>
          <p:cNvPr id="23" name="矩形 22">
            <a:extLst>
              <a:ext uri="{FF2B5EF4-FFF2-40B4-BE49-F238E27FC236}">
                <a16:creationId xmlns:a16="http://schemas.microsoft.com/office/drawing/2014/main" id="{4A01C618-FB87-431C-A481-81FF789E8F38}"/>
              </a:ext>
            </a:extLst>
          </p:cNvPr>
          <p:cNvSpPr/>
          <p:nvPr/>
        </p:nvSpPr>
        <p:spPr>
          <a:xfrm>
            <a:off x="5278553" y="5071670"/>
            <a:ext cx="6324600" cy="1200150"/>
          </a:xfrm>
          <a:prstGeom prst="rect">
            <a:avLst/>
          </a:prstGeom>
        </p:spPr>
        <p:txBody>
          <a:bodyPr>
            <a:spAutoFit/>
          </a:bodyPr>
          <a:lstStyle/>
          <a:p>
            <a:pPr>
              <a:defRPr/>
            </a:pPr>
            <a:r>
              <a:rPr lang="zh-CN" altLang="en-US" dirty="0">
                <a:solidFill>
                  <a:srgbClr val="FF0000"/>
                </a:solidFill>
                <a:latin typeface="Comic Sans MS" panose="030F0702030302020204" pitchFamily="66" charset="0"/>
                <a:ea typeface="华光行书_CNKI" panose="02000500000000000000" pitchFamily="2" charset="-122"/>
              </a:rPr>
              <a:t>如果省略，创建</a:t>
            </a:r>
            <a:r>
              <a:rPr lang="en-US" altLang="zh-CN" dirty="0">
                <a:solidFill>
                  <a:srgbClr val="FF0000"/>
                </a:solidFill>
                <a:latin typeface="Comic Sans MS" panose="030F0702030302020204" pitchFamily="66" charset="0"/>
                <a:ea typeface="华光行书_CNKI" panose="02000500000000000000" pitchFamily="2" charset="-122"/>
              </a:rPr>
              <a:t>d2</a:t>
            </a:r>
            <a:r>
              <a:rPr lang="zh-CN" altLang="en-US" dirty="0">
                <a:solidFill>
                  <a:srgbClr val="FF0000"/>
                </a:solidFill>
                <a:latin typeface="Comic Sans MS" panose="030F0702030302020204" pitchFamily="66" charset="0"/>
                <a:ea typeface="华光行书_CNKI" panose="02000500000000000000" pitchFamily="2" charset="-122"/>
              </a:rPr>
              <a:t>时，</a:t>
            </a:r>
            <a:r>
              <a:rPr lang="en-US" altLang="zh-CN" dirty="0">
                <a:solidFill>
                  <a:srgbClr val="FF0000"/>
                </a:solidFill>
                <a:latin typeface="Comic Sans MS" panose="030F0702030302020204" pitchFamily="66" charset="0"/>
                <a:ea typeface="华光行书_CNKI" panose="02000500000000000000" pitchFamily="2" charset="-122"/>
              </a:rPr>
              <a:t>d2</a:t>
            </a:r>
            <a:r>
              <a:rPr lang="zh-CN" altLang="en-US" dirty="0">
                <a:solidFill>
                  <a:srgbClr val="FF0000"/>
                </a:solidFill>
                <a:latin typeface="Comic Sans MS" panose="030F0702030302020204" pitchFamily="66" charset="0"/>
                <a:ea typeface="华光行书_CNKI" panose="02000500000000000000" pitchFamily="2" charset="-122"/>
              </a:rPr>
              <a:t>中派生类成员是从</a:t>
            </a:r>
            <a:r>
              <a:rPr lang="en-US" altLang="zh-CN" dirty="0">
                <a:solidFill>
                  <a:srgbClr val="FF0000"/>
                </a:solidFill>
                <a:latin typeface="Comic Sans MS" panose="030F0702030302020204" pitchFamily="66" charset="0"/>
                <a:ea typeface="华光行书_CNKI" panose="02000500000000000000" pitchFamily="2" charset="-122"/>
              </a:rPr>
              <a:t>d1</a:t>
            </a:r>
            <a:r>
              <a:rPr lang="zh-CN" altLang="en-US" dirty="0">
                <a:solidFill>
                  <a:srgbClr val="FF0000"/>
                </a:solidFill>
                <a:latin typeface="Comic Sans MS" panose="030F0702030302020204" pitchFamily="66" charset="0"/>
                <a:ea typeface="华光行书_CNKI" panose="02000500000000000000" pitchFamily="2" charset="-122"/>
              </a:rPr>
              <a:t>中拷贝过来的，而基类成员却是默认值，这与拷贝应该拷贝整个对象的初衷是违背的。</a:t>
            </a:r>
          </a:p>
        </p:txBody>
      </p:sp>
    </p:spTree>
    <p:extLst>
      <p:ext uri="{BB962C8B-B14F-4D97-AF65-F5344CB8AC3E}">
        <p14:creationId xmlns:p14="http://schemas.microsoft.com/office/powerpoint/2010/main" val="1602568696"/>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Vertic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inVertical)">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arn(inVertical)">
                                      <p:cBhvr>
                                        <p:cTn id="32" dur="500"/>
                                        <p:tgtEl>
                                          <p:spTgt spid="18"/>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barn(inVertical)">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barn(inVertical)">
                                      <p:cBhvr>
                                        <p:cTn id="40" dur="500"/>
                                        <p:tgtEl>
                                          <p:spTgt spid="19"/>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barn(inVertical)">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 calcmode="lin" valueType="num">
                                      <p:cBhvr additive="base">
                                        <p:cTn id="48" dur="500" fill="hold"/>
                                        <p:tgtEl>
                                          <p:spTgt spid="23"/>
                                        </p:tgtEl>
                                        <p:attrNameLst>
                                          <p:attrName>ppt_x</p:attrName>
                                        </p:attrNameLst>
                                      </p:cBhvr>
                                      <p:tavLst>
                                        <p:tav tm="0">
                                          <p:val>
                                            <p:strVal val="#ppt_x"/>
                                          </p:val>
                                        </p:tav>
                                        <p:tav tm="100000">
                                          <p:val>
                                            <p:strVal val="#ppt_x"/>
                                          </p:val>
                                        </p:tav>
                                      </p:tavLst>
                                    </p:anim>
                                    <p:anim calcmode="lin" valueType="num">
                                      <p:cBhvr additive="base">
                                        <p:cTn id="49"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2" grpId="0" animBg="1"/>
      <p:bldP spid="14" grpId="0" animBg="1"/>
      <p:bldP spid="16" grpId="0" animBg="1"/>
      <p:bldP spid="17" grpId="0"/>
      <p:bldP spid="20" grpId="0"/>
      <p:bldP spid="22" grpId="0"/>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dirty="0"/>
          </a:p>
        </p:txBody>
      </p:sp>
      <p:sp>
        <p:nvSpPr>
          <p:cNvPr id="9" name="文本框 8">
            <a:extLst>
              <a:ext uri="{FF2B5EF4-FFF2-40B4-BE49-F238E27FC236}">
                <a16:creationId xmlns:a16="http://schemas.microsoft.com/office/drawing/2014/main" id="{27C3D3B0-8684-4173-8F2B-F5A56F334419}"/>
              </a:ext>
            </a:extLst>
          </p:cNvPr>
          <p:cNvSpPr txBox="1"/>
          <p:nvPr/>
        </p:nvSpPr>
        <p:spPr>
          <a:xfrm>
            <a:off x="128585" y="223033"/>
            <a:ext cx="7055985"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9.5</a:t>
            </a:r>
            <a:r>
              <a:rPr lang="zh-CN" altLang="en-US" dirty="0">
                <a:sym typeface="+mn-lt"/>
              </a:rPr>
              <a:t>派生类同名成员</a:t>
            </a:r>
            <a:r>
              <a:rPr lang="en-US" altLang="zh-CN" dirty="0">
                <a:sym typeface="+mn-lt"/>
              </a:rPr>
              <a:t>--</a:t>
            </a:r>
            <a:r>
              <a:rPr lang="zh-CN" altLang="en-US" dirty="0">
                <a:sym typeface="+mn-lt"/>
              </a:rPr>
              <a:t>函数重写</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3" name="文本框 2">
            <a:extLst>
              <a:ext uri="{FF2B5EF4-FFF2-40B4-BE49-F238E27FC236}">
                <a16:creationId xmlns:a16="http://schemas.microsoft.com/office/drawing/2014/main" id="{DDC099B8-298F-AA32-17B3-6A926E4A8D42}"/>
              </a:ext>
            </a:extLst>
          </p:cNvPr>
          <p:cNvSpPr txBox="1"/>
          <p:nvPr/>
        </p:nvSpPr>
        <p:spPr>
          <a:xfrm>
            <a:off x="215590" y="1003622"/>
            <a:ext cx="11974823" cy="830997"/>
          </a:xfrm>
          <a:prstGeom prst="rect">
            <a:avLst/>
          </a:prstGeom>
        </p:spPr>
        <p:txBody>
          <a:bodyPr wrap="square">
            <a:spAutoFit/>
          </a:bodyPr>
          <a:lstStyle>
            <a:defPPr>
              <a:defRPr lang="en-US"/>
            </a:defPPr>
            <a:lvl1pPr>
              <a:spcBef>
                <a:spcPts val="600"/>
              </a:spcBef>
              <a:buClr>
                <a:schemeClr val="bg2"/>
              </a:buClr>
              <a:buSzPct val="70000"/>
              <a:defRPr>
                <a:solidFill>
                  <a:srgbClr val="104E87"/>
                </a:solidFill>
                <a:latin typeface="华光行书_CNKI" panose="02000500000000000000" pitchFamily="2" charset="-122"/>
                <a:ea typeface="华光行书_CNKI" panose="02000500000000000000" pitchFamily="2" charset="-122"/>
              </a:defRPr>
            </a:lvl1pPr>
          </a:lstStyle>
          <a:p>
            <a:r>
              <a:rPr lang="zh-CN" altLang="en-US" dirty="0"/>
              <a:t>函数重写（</a:t>
            </a:r>
            <a:r>
              <a:rPr lang="en-US" altLang="zh-CN" dirty="0"/>
              <a:t>Function Overriding</a:t>
            </a:r>
            <a:r>
              <a:rPr lang="zh-CN" altLang="en-US" dirty="0"/>
              <a:t>）是面向对象编程中的一个概念，在子类中定义一个与父类中同名的函数，以覆盖（重写）父类中的函数实现。</a:t>
            </a:r>
          </a:p>
        </p:txBody>
      </p:sp>
      <p:sp>
        <p:nvSpPr>
          <p:cNvPr id="7" name="文本框 6">
            <a:extLst>
              <a:ext uri="{FF2B5EF4-FFF2-40B4-BE49-F238E27FC236}">
                <a16:creationId xmlns:a16="http://schemas.microsoft.com/office/drawing/2014/main" id="{6DBB3A12-AD39-590D-6038-85B444E85941}"/>
              </a:ext>
            </a:extLst>
          </p:cNvPr>
          <p:cNvSpPr txBox="1"/>
          <p:nvPr/>
        </p:nvSpPr>
        <p:spPr>
          <a:xfrm>
            <a:off x="552025" y="4021113"/>
            <a:ext cx="3726060" cy="461665"/>
          </a:xfrm>
          <a:prstGeom prst="rect">
            <a:avLst/>
          </a:prstGeom>
          <a:noFill/>
        </p:spPr>
        <p:txBody>
          <a:bodyPr wrap="square">
            <a:spAutoFit/>
          </a:bodyPr>
          <a:lstStyle/>
          <a:p>
            <a:r>
              <a:rPr lang="zh-CN" altLang="en-US" dirty="0">
                <a:solidFill>
                  <a:srgbClr val="FF0000"/>
                </a:solidFill>
                <a:latin typeface="华光行书_CNKI" panose="02000500000000000000" pitchFamily="2" charset="-122"/>
                <a:ea typeface="华光行书_CNKI" panose="02000500000000000000" pitchFamily="2" charset="-122"/>
              </a:rPr>
              <a:t>派生类中有同名成员问题</a:t>
            </a:r>
            <a:endParaRPr lang="zh-CN" altLang="en-US" dirty="0">
              <a:solidFill>
                <a:srgbClr val="FF0000"/>
              </a:solidFill>
            </a:endParaRPr>
          </a:p>
        </p:txBody>
      </p:sp>
      <p:sp>
        <p:nvSpPr>
          <p:cNvPr id="10" name="文本框 9">
            <a:extLst>
              <a:ext uri="{FF2B5EF4-FFF2-40B4-BE49-F238E27FC236}">
                <a16:creationId xmlns:a16="http://schemas.microsoft.com/office/drawing/2014/main" id="{4044D7E5-034A-8BAF-F672-C6DF8FB5C0D1}"/>
              </a:ext>
            </a:extLst>
          </p:cNvPr>
          <p:cNvSpPr txBox="1"/>
          <p:nvPr/>
        </p:nvSpPr>
        <p:spPr>
          <a:xfrm>
            <a:off x="304800" y="2228671"/>
            <a:ext cx="11647713" cy="1200329"/>
          </a:xfrm>
          <a:prstGeom prst="rect">
            <a:avLst/>
          </a:prstGeom>
        </p:spPr>
        <p:txBody>
          <a:bodyPr wrap="square">
            <a:spAutoFit/>
          </a:bodyPr>
          <a:lstStyle>
            <a:defPPr>
              <a:defRPr lang="en-US"/>
            </a:defPPr>
            <a:lvl1pPr>
              <a:spcBef>
                <a:spcPts val="600"/>
              </a:spcBef>
              <a:buClr>
                <a:schemeClr val="bg2"/>
              </a:buClr>
              <a:buSzPct val="70000"/>
              <a:defRPr>
                <a:solidFill>
                  <a:srgbClr val="104E87"/>
                </a:solidFill>
                <a:latin typeface="华光行书_CNKI" panose="02000500000000000000" pitchFamily="2" charset="-122"/>
                <a:ea typeface="华光行书_CNKI" panose="02000500000000000000" pitchFamily="2" charset="-122"/>
              </a:defRPr>
            </a:lvl1pPr>
          </a:lstStyle>
          <a:p>
            <a:r>
              <a:rPr lang="zh-CN" altLang="en-US" dirty="0"/>
              <a:t>函数重写常用于实现多态性（</a:t>
            </a:r>
            <a:r>
              <a:rPr lang="en-US" altLang="zh-CN" dirty="0"/>
              <a:t>Polymorphism</a:t>
            </a:r>
            <a:r>
              <a:rPr lang="zh-CN" altLang="en-US" dirty="0"/>
              <a:t>），即同一个函数名可以在不同的类中具有不同的行为。通过函数重写，子类可以改变继承自父类的函数的行为，以满足子类特定的需求。</a:t>
            </a:r>
          </a:p>
        </p:txBody>
      </p:sp>
    </p:spTree>
    <p:extLst>
      <p:ext uri="{BB962C8B-B14F-4D97-AF65-F5344CB8AC3E}">
        <p14:creationId xmlns:p14="http://schemas.microsoft.com/office/powerpoint/2010/main" val="221507936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dirty="0"/>
          </a:p>
        </p:txBody>
      </p:sp>
      <p:sp>
        <p:nvSpPr>
          <p:cNvPr id="9" name="文本框 8">
            <a:extLst>
              <a:ext uri="{FF2B5EF4-FFF2-40B4-BE49-F238E27FC236}">
                <a16:creationId xmlns:a16="http://schemas.microsoft.com/office/drawing/2014/main" id="{27C3D3B0-8684-4173-8F2B-F5A56F334419}"/>
              </a:ext>
            </a:extLst>
          </p:cNvPr>
          <p:cNvSpPr txBox="1"/>
          <p:nvPr/>
        </p:nvSpPr>
        <p:spPr>
          <a:xfrm>
            <a:off x="128585" y="223033"/>
            <a:ext cx="4867957"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9.5</a:t>
            </a:r>
            <a:r>
              <a:rPr lang="zh-CN" altLang="en-US" dirty="0">
                <a:sym typeface="+mn-lt"/>
              </a:rPr>
              <a:t>派生类同名成员</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26" name="矩形 25">
            <a:extLst>
              <a:ext uri="{FF2B5EF4-FFF2-40B4-BE49-F238E27FC236}">
                <a16:creationId xmlns:a16="http://schemas.microsoft.com/office/drawing/2014/main" id="{376C21FE-B565-444A-8728-2617DA79F7C4}"/>
              </a:ext>
            </a:extLst>
          </p:cNvPr>
          <p:cNvSpPr/>
          <p:nvPr/>
        </p:nvSpPr>
        <p:spPr>
          <a:xfrm>
            <a:off x="279883" y="2186000"/>
            <a:ext cx="11476688" cy="2908489"/>
          </a:xfrm>
          <a:prstGeom prst="rect">
            <a:avLst/>
          </a:prstGeom>
        </p:spPr>
        <p:txBody>
          <a:bodyPr wrap="square">
            <a:spAutoFit/>
          </a:bodyPr>
          <a:lstStyle/>
          <a:p>
            <a:pPr>
              <a:spcBef>
                <a:spcPts val="600"/>
              </a:spcBef>
              <a:buClr>
                <a:schemeClr val="bg2"/>
              </a:buClr>
              <a:buSzPct val="70000"/>
            </a:pPr>
            <a:r>
              <a:rPr lang="zh-CN" altLang="en-US" dirty="0">
                <a:solidFill>
                  <a:srgbClr val="104E87"/>
                </a:solidFill>
                <a:latin typeface="华光行书_CNKI" panose="02000500000000000000" pitchFamily="2" charset="-122"/>
                <a:ea typeface="华光行书_CNKI" panose="02000500000000000000" pitchFamily="2" charset="-122"/>
              </a:rPr>
              <a:t>当派生类中有同名成员时：</a:t>
            </a:r>
          </a:p>
          <a:p>
            <a:pPr>
              <a:spcBef>
                <a:spcPts val="600"/>
              </a:spcBef>
              <a:buClr>
                <a:schemeClr val="bg2"/>
              </a:buClr>
              <a:buSzPct val="70000"/>
              <a:buBlip>
                <a:blip r:embed="rId3"/>
              </a:buBlip>
            </a:pPr>
            <a:r>
              <a:rPr lang="zh-CN" altLang="en-US" dirty="0">
                <a:solidFill>
                  <a:srgbClr val="104E87"/>
                </a:solidFill>
                <a:latin typeface="华光行书_CNKI" panose="02000500000000000000" pitchFamily="2" charset="-122"/>
                <a:ea typeface="华光行书_CNKI" panose="02000500000000000000" pitchFamily="2" charset="-122"/>
              </a:rPr>
              <a:t>若派生类新增成员与基类成员同名，则通过派生类对象使用的是派生类中的同名成员，隐藏了基类同名成员。</a:t>
            </a:r>
            <a:endParaRPr lang="en-US" altLang="zh-CN" dirty="0">
              <a:solidFill>
                <a:srgbClr val="104E87"/>
              </a:solidFill>
              <a:latin typeface="华光行书_CNKI" panose="02000500000000000000" pitchFamily="2" charset="-122"/>
              <a:ea typeface="华光行书_CNKI" panose="02000500000000000000" pitchFamily="2" charset="-122"/>
            </a:endParaRPr>
          </a:p>
          <a:p>
            <a:pPr>
              <a:spcBef>
                <a:spcPts val="600"/>
              </a:spcBef>
              <a:buClr>
                <a:schemeClr val="bg2"/>
              </a:buClr>
              <a:buSzPct val="70000"/>
              <a:buBlip>
                <a:blip r:embed="rId3"/>
              </a:buBlip>
            </a:pPr>
            <a:r>
              <a:rPr lang="zh-CN" altLang="en-US" dirty="0">
                <a:solidFill>
                  <a:srgbClr val="104E87"/>
                </a:solidFill>
                <a:latin typeface="华光行书_CNKI" panose="02000500000000000000" pitchFamily="2" charset="-122"/>
                <a:ea typeface="华光行书_CNKI" panose="02000500000000000000" pitchFamily="2" charset="-122"/>
              </a:rPr>
              <a:t>若通过派生类对象访问基类中被隐藏的同名成员，应使用基类名和作用域操作符（</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）来限定。</a:t>
            </a:r>
            <a:endParaRPr lang="en-US" altLang="zh-CN" dirty="0">
              <a:solidFill>
                <a:srgbClr val="104E87"/>
              </a:solidFill>
              <a:latin typeface="华光行书_CNKI" panose="02000500000000000000" pitchFamily="2" charset="-122"/>
              <a:ea typeface="华光行书_CNKI" panose="02000500000000000000" pitchFamily="2" charset="-122"/>
            </a:endParaRPr>
          </a:p>
          <a:p>
            <a:pPr>
              <a:spcBef>
                <a:spcPts val="600"/>
              </a:spcBef>
              <a:buClr>
                <a:schemeClr val="bg2"/>
              </a:buClr>
              <a:buSzPct val="70000"/>
              <a:buBlip>
                <a:blip r:embed="rId3"/>
              </a:buBlip>
            </a:pPr>
            <a:r>
              <a:rPr lang="zh-CN" altLang="en-US" dirty="0">
                <a:solidFill>
                  <a:srgbClr val="104E87"/>
                </a:solidFill>
                <a:latin typeface="华光行书_CNKI" panose="02000500000000000000" pitchFamily="2" charset="-122"/>
                <a:ea typeface="华光行书_CNKI" panose="02000500000000000000" pitchFamily="2" charset="-122"/>
              </a:rPr>
              <a:t>若来源于不同基类的成员同名，通过派生类对象访问同名成员会产生二义性，使用基类名和作用域操作符（</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）来限定</a:t>
            </a:r>
          </a:p>
        </p:txBody>
      </p:sp>
      <p:sp>
        <p:nvSpPr>
          <p:cNvPr id="6" name="文本框 5">
            <a:extLst>
              <a:ext uri="{FF2B5EF4-FFF2-40B4-BE49-F238E27FC236}">
                <a16:creationId xmlns:a16="http://schemas.microsoft.com/office/drawing/2014/main" id="{E8D69A02-CF21-3E8A-1EDB-1995B19268B3}"/>
              </a:ext>
            </a:extLst>
          </p:cNvPr>
          <p:cNvSpPr txBox="1"/>
          <p:nvPr/>
        </p:nvSpPr>
        <p:spPr>
          <a:xfrm>
            <a:off x="399626" y="1369435"/>
            <a:ext cx="3726060" cy="461665"/>
          </a:xfrm>
          <a:prstGeom prst="rect">
            <a:avLst/>
          </a:prstGeom>
          <a:noFill/>
        </p:spPr>
        <p:txBody>
          <a:bodyPr wrap="square">
            <a:spAutoFit/>
          </a:bodyPr>
          <a:lstStyle/>
          <a:p>
            <a:r>
              <a:rPr lang="zh-CN" altLang="en-US" dirty="0">
                <a:solidFill>
                  <a:srgbClr val="FF0000"/>
                </a:solidFill>
                <a:latin typeface="华光行书_CNKI" panose="02000500000000000000" pitchFamily="2" charset="-122"/>
                <a:ea typeface="华光行书_CNKI" panose="02000500000000000000" pitchFamily="2" charset="-122"/>
              </a:rPr>
              <a:t>派生类中有同名成员问题</a:t>
            </a:r>
            <a:endParaRPr lang="zh-CN" altLang="en-US" dirty="0">
              <a:solidFill>
                <a:srgbClr val="FF0000"/>
              </a:solidFill>
            </a:endParaRPr>
          </a:p>
        </p:txBody>
      </p:sp>
    </p:spTree>
    <p:extLst>
      <p:ext uri="{BB962C8B-B14F-4D97-AF65-F5344CB8AC3E}">
        <p14:creationId xmlns:p14="http://schemas.microsoft.com/office/powerpoint/2010/main" val="116833377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dirty="0"/>
          </a:p>
        </p:txBody>
      </p:sp>
      <p:sp>
        <p:nvSpPr>
          <p:cNvPr id="9" name="文本框 8">
            <a:extLst>
              <a:ext uri="{FF2B5EF4-FFF2-40B4-BE49-F238E27FC236}">
                <a16:creationId xmlns:a16="http://schemas.microsoft.com/office/drawing/2014/main" id="{27C3D3B0-8684-4173-8F2B-F5A56F334419}"/>
              </a:ext>
            </a:extLst>
          </p:cNvPr>
          <p:cNvSpPr txBox="1"/>
          <p:nvPr/>
        </p:nvSpPr>
        <p:spPr>
          <a:xfrm>
            <a:off x="128585" y="223033"/>
            <a:ext cx="11803219"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9.5</a:t>
            </a:r>
            <a:r>
              <a:rPr lang="zh-CN" altLang="en-US" dirty="0">
                <a:sym typeface="+mn-lt"/>
              </a:rPr>
              <a:t>派生类同名成员</a:t>
            </a:r>
            <a:r>
              <a:rPr lang="en-US" altLang="zh-CN" dirty="0">
                <a:sym typeface="+mn-lt"/>
              </a:rPr>
              <a:t>—</a:t>
            </a:r>
            <a:r>
              <a:rPr lang="zh-CN" altLang="en-US" dirty="0">
                <a:sym typeface="+mn-lt"/>
              </a:rPr>
              <a:t>多个父类具有同名函数二义性</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6" name="矩形 2">
            <a:extLst>
              <a:ext uri="{FF2B5EF4-FFF2-40B4-BE49-F238E27FC236}">
                <a16:creationId xmlns:a16="http://schemas.microsoft.com/office/drawing/2014/main" id="{2122BA6B-8FD8-4214-A96D-5D529791E25E}"/>
              </a:ext>
            </a:extLst>
          </p:cNvPr>
          <p:cNvSpPr>
            <a:spLocks noChangeArrowheads="1"/>
          </p:cNvSpPr>
          <p:nvPr/>
        </p:nvSpPr>
        <p:spPr bwMode="auto">
          <a:xfrm>
            <a:off x="0" y="960539"/>
            <a:ext cx="6284732" cy="1573059"/>
          </a:xfrm>
          <a:prstGeom prst="rect">
            <a:avLst/>
          </a:prstGeom>
          <a:noFill/>
          <a:ln>
            <a:noFill/>
          </a:ln>
        </p:spPr>
        <p:txBody>
          <a:bodyPr wrap="square">
            <a:spAutoFit/>
          </a:bodyPr>
          <a:lstStyle>
            <a:lvl1pPr marL="358775" indent="-250825">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b="0" spc="-150" dirty="0">
                <a:solidFill>
                  <a:srgbClr val="104E87"/>
                </a:solidFill>
                <a:latin typeface="Comic Sans MS" panose="030F0702030302020204" pitchFamily="66" charset="0"/>
              </a:rPr>
              <a:t>class Base1 {</a:t>
            </a:r>
          </a:p>
          <a:p>
            <a:pPr eaLnBrk="1" hangingPunct="1">
              <a:lnSpc>
                <a:spcPct val="80000"/>
              </a:lnSpc>
            </a:pPr>
            <a:r>
              <a:rPr lang="en-US" altLang="zh-CN" b="0" spc="-150" dirty="0">
                <a:solidFill>
                  <a:srgbClr val="104E87"/>
                </a:solidFill>
                <a:latin typeface="Comic Sans MS" panose="030F0702030302020204" pitchFamily="66" charset="0"/>
              </a:rPr>
              <a:t>public:</a:t>
            </a:r>
          </a:p>
          <a:p>
            <a:pPr eaLnBrk="1" hangingPunct="1">
              <a:lnSpc>
                <a:spcPct val="80000"/>
              </a:lnSpc>
            </a:pPr>
            <a:r>
              <a:rPr lang="en-US" altLang="zh-CN" b="0" spc="-150" dirty="0">
                <a:solidFill>
                  <a:srgbClr val="104E87"/>
                </a:solidFill>
                <a:latin typeface="Comic Sans MS" panose="030F0702030302020204" pitchFamily="66" charset="0"/>
              </a:rPr>
              <a:t>	int var;</a:t>
            </a:r>
          </a:p>
          <a:p>
            <a:pPr eaLnBrk="1" hangingPunct="1">
              <a:lnSpc>
                <a:spcPct val="80000"/>
              </a:lnSpc>
            </a:pPr>
            <a:r>
              <a:rPr lang="en-US" altLang="zh-CN" b="0" spc="-150" dirty="0">
                <a:solidFill>
                  <a:srgbClr val="104E87"/>
                </a:solidFill>
                <a:latin typeface="Comic Sans MS" panose="030F0702030302020204" pitchFamily="66" charset="0"/>
              </a:rPr>
              <a:t>	void fun() { </a:t>
            </a:r>
            <a:r>
              <a:rPr lang="en-US" altLang="zh-CN" b="0" spc="-150" dirty="0" err="1">
                <a:solidFill>
                  <a:srgbClr val="104E87"/>
                </a:solidFill>
                <a:latin typeface="Comic Sans MS" panose="030F0702030302020204" pitchFamily="66" charset="0"/>
              </a:rPr>
              <a:t>cout</a:t>
            </a:r>
            <a:r>
              <a:rPr lang="en-US" altLang="zh-CN" b="0" spc="-150" dirty="0">
                <a:solidFill>
                  <a:srgbClr val="104E87"/>
                </a:solidFill>
                <a:latin typeface="Comic Sans MS" panose="030F0702030302020204" pitchFamily="66" charset="0"/>
              </a:rPr>
              <a:t> &lt;&lt; "Member of Base1" &lt;&lt; </a:t>
            </a:r>
            <a:r>
              <a:rPr lang="en-US" altLang="zh-CN" b="0" spc="-150" dirty="0" err="1">
                <a:solidFill>
                  <a:srgbClr val="104E87"/>
                </a:solidFill>
                <a:latin typeface="Comic Sans MS" panose="030F0702030302020204" pitchFamily="66" charset="0"/>
              </a:rPr>
              <a:t>endl</a:t>
            </a:r>
            <a:r>
              <a:rPr lang="en-US" altLang="zh-CN" b="0" spc="-150" dirty="0">
                <a:solidFill>
                  <a:srgbClr val="104E87"/>
                </a:solidFill>
                <a:latin typeface="Comic Sans MS" panose="030F0702030302020204" pitchFamily="66" charset="0"/>
              </a:rPr>
              <a:t>; }</a:t>
            </a:r>
          </a:p>
          <a:p>
            <a:pPr eaLnBrk="1" hangingPunct="1">
              <a:lnSpc>
                <a:spcPct val="80000"/>
              </a:lnSpc>
            </a:pPr>
            <a:r>
              <a:rPr lang="en-US" altLang="zh-CN" b="0" spc="-150" dirty="0">
                <a:solidFill>
                  <a:srgbClr val="104E87"/>
                </a:solidFill>
                <a:latin typeface="Comic Sans MS" panose="030F0702030302020204" pitchFamily="66" charset="0"/>
              </a:rPr>
              <a:t>};</a:t>
            </a:r>
          </a:p>
        </p:txBody>
      </p:sp>
      <p:sp>
        <p:nvSpPr>
          <p:cNvPr id="8" name="矩形 2">
            <a:extLst>
              <a:ext uri="{FF2B5EF4-FFF2-40B4-BE49-F238E27FC236}">
                <a16:creationId xmlns:a16="http://schemas.microsoft.com/office/drawing/2014/main" id="{670BC34E-E0DD-4E75-BBA6-86E1AC5AFA94}"/>
              </a:ext>
            </a:extLst>
          </p:cNvPr>
          <p:cNvSpPr>
            <a:spLocks noChangeArrowheads="1"/>
          </p:cNvSpPr>
          <p:nvPr/>
        </p:nvSpPr>
        <p:spPr bwMode="auto">
          <a:xfrm>
            <a:off x="0" y="2588421"/>
            <a:ext cx="7652877" cy="1573059"/>
          </a:xfrm>
          <a:prstGeom prst="rect">
            <a:avLst/>
          </a:prstGeom>
          <a:noFill/>
          <a:ln>
            <a:noFill/>
          </a:ln>
        </p:spPr>
        <p:txBody>
          <a:bodyPr wrap="square">
            <a:spAutoFit/>
          </a:bodyPr>
          <a:lstStyle>
            <a:lvl1pPr marL="358775" indent="-250825">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b="0" dirty="0">
                <a:solidFill>
                  <a:srgbClr val="104E87"/>
                </a:solidFill>
                <a:latin typeface="Comic Sans MS" panose="030F0702030302020204" pitchFamily="66" charset="0"/>
              </a:rPr>
              <a:t>class Base2 {</a:t>
            </a:r>
          </a:p>
          <a:p>
            <a:pPr eaLnBrk="1" hangingPunct="1">
              <a:lnSpc>
                <a:spcPct val="80000"/>
              </a:lnSpc>
            </a:pPr>
            <a:r>
              <a:rPr lang="en-US" altLang="zh-CN" b="0" dirty="0">
                <a:solidFill>
                  <a:srgbClr val="104E87"/>
                </a:solidFill>
                <a:latin typeface="Comic Sans MS" panose="030F0702030302020204" pitchFamily="66" charset="0"/>
              </a:rPr>
              <a:t>public:</a:t>
            </a:r>
          </a:p>
          <a:p>
            <a:pPr eaLnBrk="1" hangingPunct="1">
              <a:lnSpc>
                <a:spcPct val="80000"/>
              </a:lnSpc>
            </a:pPr>
            <a:r>
              <a:rPr lang="en-US" altLang="zh-CN" b="0" dirty="0">
                <a:solidFill>
                  <a:srgbClr val="104E87"/>
                </a:solidFill>
                <a:latin typeface="Comic Sans MS" panose="030F0702030302020204" pitchFamily="66" charset="0"/>
              </a:rPr>
              <a:t>	int var;</a:t>
            </a:r>
          </a:p>
          <a:p>
            <a:pPr eaLnBrk="1" hangingPunct="1">
              <a:lnSpc>
                <a:spcPct val="80000"/>
              </a:lnSpc>
            </a:pPr>
            <a:r>
              <a:rPr lang="en-US" altLang="zh-CN" b="0" dirty="0">
                <a:solidFill>
                  <a:srgbClr val="104E87"/>
                </a:solidFill>
                <a:latin typeface="Comic Sans MS" panose="030F0702030302020204" pitchFamily="66" charset="0"/>
              </a:rPr>
              <a:t>	void fun() { </a:t>
            </a:r>
            <a:r>
              <a:rPr lang="en-US" altLang="zh-CN" b="0" dirty="0" err="1">
                <a:solidFill>
                  <a:srgbClr val="104E87"/>
                </a:solidFill>
                <a:latin typeface="Comic Sans MS" panose="030F0702030302020204" pitchFamily="66" charset="0"/>
              </a:rPr>
              <a:t>cout</a:t>
            </a:r>
            <a:r>
              <a:rPr lang="en-US" altLang="zh-CN" b="0" dirty="0">
                <a:solidFill>
                  <a:srgbClr val="104E87"/>
                </a:solidFill>
                <a:latin typeface="Comic Sans MS" panose="030F0702030302020204" pitchFamily="66" charset="0"/>
              </a:rPr>
              <a:t> &lt;&lt; "Member of Base2" &lt;&lt; </a:t>
            </a:r>
            <a:r>
              <a:rPr lang="en-US" altLang="zh-CN" b="0" dirty="0" err="1">
                <a:solidFill>
                  <a:srgbClr val="104E87"/>
                </a:solidFill>
                <a:latin typeface="Comic Sans MS" panose="030F0702030302020204" pitchFamily="66" charset="0"/>
              </a:rPr>
              <a:t>endl</a:t>
            </a:r>
            <a:r>
              <a:rPr lang="en-US" altLang="zh-CN" b="0" dirty="0">
                <a:solidFill>
                  <a:srgbClr val="104E87"/>
                </a:solidFill>
                <a:latin typeface="Comic Sans MS" panose="030F0702030302020204" pitchFamily="66" charset="0"/>
              </a:rPr>
              <a:t>; }</a:t>
            </a:r>
          </a:p>
          <a:p>
            <a:pPr eaLnBrk="1" hangingPunct="1">
              <a:lnSpc>
                <a:spcPct val="80000"/>
              </a:lnSpc>
            </a:pPr>
            <a:r>
              <a:rPr lang="en-US" altLang="zh-CN" b="0" dirty="0">
                <a:solidFill>
                  <a:srgbClr val="104E87"/>
                </a:solidFill>
                <a:latin typeface="Comic Sans MS" panose="030F0702030302020204" pitchFamily="66" charset="0"/>
              </a:rPr>
              <a:t>};</a:t>
            </a:r>
          </a:p>
        </p:txBody>
      </p:sp>
      <p:sp>
        <p:nvSpPr>
          <p:cNvPr id="7" name="矩形 2">
            <a:extLst>
              <a:ext uri="{FF2B5EF4-FFF2-40B4-BE49-F238E27FC236}">
                <a16:creationId xmlns:a16="http://schemas.microsoft.com/office/drawing/2014/main" id="{BAC64128-52CC-49B8-8A20-58BEE91A2F80}"/>
              </a:ext>
            </a:extLst>
          </p:cNvPr>
          <p:cNvSpPr>
            <a:spLocks noChangeArrowheads="1"/>
          </p:cNvSpPr>
          <p:nvPr/>
        </p:nvSpPr>
        <p:spPr bwMode="auto">
          <a:xfrm>
            <a:off x="206637" y="4462716"/>
            <a:ext cx="6078095" cy="686663"/>
          </a:xfrm>
          <a:prstGeom prst="rect">
            <a:avLst/>
          </a:prstGeom>
          <a:noFill/>
          <a:ln>
            <a:noFill/>
          </a:ln>
        </p:spPr>
        <p:txBody>
          <a:bodyPr wrap="square">
            <a:spAutoFit/>
          </a:bodyPr>
          <a:lstStyle>
            <a:lvl1pPr marL="358775" indent="-250825">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indent="0" eaLnBrk="1" hangingPunct="1">
              <a:lnSpc>
                <a:spcPct val="80000"/>
              </a:lnSpc>
            </a:pPr>
            <a:r>
              <a:rPr lang="en-US" altLang="zh-CN" b="0" dirty="0">
                <a:solidFill>
                  <a:srgbClr val="104E87"/>
                </a:solidFill>
                <a:latin typeface="Comic Sans MS" panose="030F0702030302020204" pitchFamily="66" charset="0"/>
              </a:rPr>
              <a:t>class Derived: public Base1, public Base2{</a:t>
            </a:r>
          </a:p>
          <a:p>
            <a:pPr marL="0" indent="0" eaLnBrk="1" hangingPunct="1">
              <a:lnSpc>
                <a:spcPct val="80000"/>
              </a:lnSpc>
            </a:pPr>
            <a:r>
              <a:rPr lang="en-US" altLang="zh-CN" b="0" dirty="0">
                <a:solidFill>
                  <a:srgbClr val="104E87"/>
                </a:solidFill>
                <a:latin typeface="Comic Sans MS" panose="030F0702030302020204" pitchFamily="66" charset="0"/>
              </a:rPr>
              <a:t>};</a:t>
            </a:r>
          </a:p>
        </p:txBody>
      </p:sp>
      <p:sp>
        <p:nvSpPr>
          <p:cNvPr id="10" name="矩形 2">
            <a:extLst>
              <a:ext uri="{FF2B5EF4-FFF2-40B4-BE49-F238E27FC236}">
                <a16:creationId xmlns:a16="http://schemas.microsoft.com/office/drawing/2014/main" id="{F75F3993-3C45-492B-ADA8-049B22F8B7BF}"/>
              </a:ext>
            </a:extLst>
          </p:cNvPr>
          <p:cNvSpPr>
            <a:spLocks noChangeArrowheads="1"/>
          </p:cNvSpPr>
          <p:nvPr/>
        </p:nvSpPr>
        <p:spPr bwMode="auto">
          <a:xfrm>
            <a:off x="7825579" y="1012802"/>
            <a:ext cx="3787837" cy="3961405"/>
          </a:xfrm>
          <a:prstGeom prst="rect">
            <a:avLst/>
          </a:prstGeom>
          <a:solidFill>
            <a:srgbClr val="92D050"/>
          </a:solidFill>
          <a:ln>
            <a:noFill/>
          </a:ln>
        </p:spPr>
        <p:txBody>
          <a:bodyPr wrap="square">
            <a:spAutoFit/>
          </a:bodyPr>
          <a:lstStyle>
            <a:lvl1pPr marL="358775" indent="-250825">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b="0" dirty="0">
                <a:solidFill>
                  <a:srgbClr val="104E87"/>
                </a:solidFill>
                <a:latin typeface="Comic Sans MS" panose="030F0702030302020204" pitchFamily="66" charset="0"/>
              </a:rPr>
              <a:t>int main() {</a:t>
            </a:r>
          </a:p>
          <a:p>
            <a:pPr eaLnBrk="1" hangingPunct="1">
              <a:lnSpc>
                <a:spcPct val="80000"/>
              </a:lnSpc>
            </a:pPr>
            <a:r>
              <a:rPr lang="en-US" altLang="zh-CN" b="0" dirty="0">
                <a:solidFill>
                  <a:srgbClr val="104E87"/>
                </a:solidFill>
                <a:latin typeface="Comic Sans MS" panose="030F0702030302020204" pitchFamily="66" charset="0"/>
              </a:rPr>
              <a:t>	Derived d;</a:t>
            </a:r>
          </a:p>
          <a:p>
            <a:pPr eaLnBrk="1" hangingPunct="1">
              <a:lnSpc>
                <a:spcPct val="80000"/>
              </a:lnSpc>
            </a:pPr>
            <a:r>
              <a:rPr lang="en-US" altLang="zh-CN" b="0" dirty="0">
                <a:solidFill>
                  <a:srgbClr val="104E87"/>
                </a:solidFill>
                <a:latin typeface="Comic Sans MS" panose="030F0702030302020204" pitchFamily="66" charset="0"/>
              </a:rPr>
              <a:t>	Derived *p = &amp;d;</a:t>
            </a:r>
          </a:p>
          <a:p>
            <a:pPr eaLnBrk="1" hangingPunct="1">
              <a:lnSpc>
                <a:spcPct val="80000"/>
              </a:lnSpc>
            </a:pPr>
            <a:endParaRPr lang="en-US" altLang="zh-CN" sz="1000" b="0" dirty="0">
              <a:solidFill>
                <a:srgbClr val="104E87"/>
              </a:solidFill>
              <a:latin typeface="Comic Sans MS" panose="030F0702030302020204" pitchFamily="66" charset="0"/>
            </a:endParaRPr>
          </a:p>
          <a:p>
            <a:pPr eaLnBrk="1" hangingPunct="1">
              <a:lnSpc>
                <a:spcPct val="80000"/>
              </a:lnSpc>
            </a:pPr>
            <a:r>
              <a:rPr lang="en-US" altLang="zh-CN" b="0" dirty="0">
                <a:solidFill>
                  <a:srgbClr val="104E87"/>
                </a:solidFill>
                <a:latin typeface="Comic Sans MS" panose="030F0702030302020204" pitchFamily="66" charset="0"/>
              </a:rPr>
              <a:t>	</a:t>
            </a:r>
            <a:r>
              <a:rPr lang="en-US" altLang="zh-CN" b="0" dirty="0" err="1">
                <a:solidFill>
                  <a:srgbClr val="104E87"/>
                </a:solidFill>
                <a:latin typeface="Comic Sans MS" panose="030F0702030302020204" pitchFamily="66" charset="0"/>
              </a:rPr>
              <a:t>d.var</a:t>
            </a:r>
            <a:r>
              <a:rPr lang="en-US" altLang="zh-CN" b="0" dirty="0">
                <a:solidFill>
                  <a:srgbClr val="104E87"/>
                </a:solidFill>
                <a:latin typeface="Comic Sans MS" panose="030F0702030302020204" pitchFamily="66" charset="0"/>
              </a:rPr>
              <a:t> = 1;</a:t>
            </a:r>
          </a:p>
          <a:p>
            <a:pPr eaLnBrk="1" hangingPunct="1">
              <a:lnSpc>
                <a:spcPct val="80000"/>
              </a:lnSpc>
            </a:pPr>
            <a:r>
              <a:rPr lang="en-US" altLang="zh-CN" b="0" dirty="0">
                <a:solidFill>
                  <a:srgbClr val="104E87"/>
                </a:solidFill>
                <a:latin typeface="Comic Sans MS" panose="030F0702030302020204" pitchFamily="66" charset="0"/>
              </a:rPr>
              <a:t>	</a:t>
            </a:r>
            <a:r>
              <a:rPr lang="en-US" altLang="zh-CN" b="0" dirty="0" err="1">
                <a:solidFill>
                  <a:srgbClr val="104E87"/>
                </a:solidFill>
                <a:latin typeface="Comic Sans MS" panose="030F0702030302020204" pitchFamily="66" charset="0"/>
              </a:rPr>
              <a:t>d.fun</a:t>
            </a:r>
            <a:r>
              <a:rPr lang="en-US" altLang="zh-CN" b="0" dirty="0">
                <a:solidFill>
                  <a:srgbClr val="104E87"/>
                </a:solidFill>
                <a:latin typeface="Comic Sans MS" panose="030F0702030302020204" pitchFamily="66" charset="0"/>
              </a:rPr>
              <a:t>();	</a:t>
            </a:r>
          </a:p>
          <a:p>
            <a:pPr eaLnBrk="1" hangingPunct="1">
              <a:lnSpc>
                <a:spcPct val="80000"/>
              </a:lnSpc>
            </a:pPr>
            <a:endParaRPr lang="zh-CN" altLang="en-US" sz="1000" b="0" dirty="0">
              <a:solidFill>
                <a:srgbClr val="104E87"/>
              </a:solidFill>
              <a:latin typeface="Comic Sans MS" panose="030F0702030302020204" pitchFamily="66" charset="0"/>
            </a:endParaRPr>
          </a:p>
          <a:p>
            <a:pPr eaLnBrk="1" hangingPunct="1">
              <a:lnSpc>
                <a:spcPct val="80000"/>
              </a:lnSpc>
            </a:pPr>
            <a:r>
              <a:rPr lang="zh-CN" altLang="en-US" b="0" dirty="0">
                <a:solidFill>
                  <a:srgbClr val="104E87"/>
                </a:solidFill>
                <a:latin typeface="Comic Sans MS" panose="030F0702030302020204" pitchFamily="66" charset="0"/>
              </a:rPr>
              <a:t>	</a:t>
            </a:r>
            <a:r>
              <a:rPr lang="en-US" altLang="zh-CN" b="0" dirty="0">
                <a:solidFill>
                  <a:srgbClr val="104E87"/>
                </a:solidFill>
                <a:latin typeface="Comic Sans MS" panose="030F0702030302020204" pitchFamily="66" charset="0"/>
              </a:rPr>
              <a:t>d.</a:t>
            </a:r>
            <a:r>
              <a:rPr lang="en-US" altLang="zh-CN" b="0" dirty="0">
                <a:solidFill>
                  <a:srgbClr val="FF0000"/>
                </a:solidFill>
                <a:latin typeface="Comic Sans MS" panose="030F0702030302020204" pitchFamily="66" charset="0"/>
              </a:rPr>
              <a:t>Base1::</a:t>
            </a:r>
            <a:r>
              <a:rPr lang="en-US" altLang="zh-CN" b="0" dirty="0">
                <a:solidFill>
                  <a:srgbClr val="104E87"/>
                </a:solidFill>
                <a:latin typeface="Comic Sans MS" panose="030F0702030302020204" pitchFamily="66" charset="0"/>
              </a:rPr>
              <a:t>var = 2;	</a:t>
            </a:r>
            <a:endParaRPr lang="zh-CN" altLang="en-US" b="0" dirty="0">
              <a:solidFill>
                <a:srgbClr val="104E87"/>
              </a:solidFill>
              <a:latin typeface="Comic Sans MS" panose="030F0702030302020204" pitchFamily="66" charset="0"/>
            </a:endParaRPr>
          </a:p>
          <a:p>
            <a:pPr eaLnBrk="1" hangingPunct="1">
              <a:lnSpc>
                <a:spcPct val="80000"/>
              </a:lnSpc>
            </a:pPr>
            <a:r>
              <a:rPr lang="zh-CN" altLang="en-US" b="0" dirty="0">
                <a:solidFill>
                  <a:srgbClr val="104E87"/>
                </a:solidFill>
                <a:latin typeface="Comic Sans MS" panose="030F0702030302020204" pitchFamily="66" charset="0"/>
              </a:rPr>
              <a:t>	</a:t>
            </a:r>
            <a:r>
              <a:rPr lang="en-US" altLang="zh-CN" b="0" dirty="0">
                <a:solidFill>
                  <a:srgbClr val="104E87"/>
                </a:solidFill>
                <a:latin typeface="Comic Sans MS" panose="030F0702030302020204" pitchFamily="66" charset="0"/>
              </a:rPr>
              <a:t>d.</a:t>
            </a:r>
            <a:r>
              <a:rPr lang="en-US" altLang="zh-CN" b="0" dirty="0">
                <a:solidFill>
                  <a:srgbClr val="FF0000"/>
                </a:solidFill>
                <a:latin typeface="Comic Sans MS" panose="030F0702030302020204" pitchFamily="66" charset="0"/>
              </a:rPr>
              <a:t>Base1::</a:t>
            </a:r>
            <a:r>
              <a:rPr lang="en-US" altLang="zh-CN" b="0" dirty="0">
                <a:solidFill>
                  <a:srgbClr val="104E87"/>
                </a:solidFill>
                <a:latin typeface="Comic Sans MS" panose="030F0702030302020204" pitchFamily="66" charset="0"/>
              </a:rPr>
              <a:t>fun();	</a:t>
            </a:r>
          </a:p>
          <a:p>
            <a:pPr eaLnBrk="1" hangingPunct="1">
              <a:lnSpc>
                <a:spcPct val="80000"/>
              </a:lnSpc>
            </a:pPr>
            <a:r>
              <a:rPr lang="zh-CN" altLang="en-US" sz="1400" b="0" dirty="0">
                <a:solidFill>
                  <a:srgbClr val="104E87"/>
                </a:solidFill>
                <a:latin typeface="Comic Sans MS" panose="030F0702030302020204" pitchFamily="66" charset="0"/>
              </a:rPr>
              <a:t>	</a:t>
            </a:r>
          </a:p>
          <a:p>
            <a:pPr eaLnBrk="1" hangingPunct="1">
              <a:lnSpc>
                <a:spcPct val="80000"/>
              </a:lnSpc>
            </a:pPr>
            <a:r>
              <a:rPr lang="zh-CN" altLang="en-US" b="0" dirty="0">
                <a:solidFill>
                  <a:srgbClr val="104E87"/>
                </a:solidFill>
                <a:latin typeface="Comic Sans MS" panose="030F0702030302020204" pitchFamily="66" charset="0"/>
              </a:rPr>
              <a:t>	</a:t>
            </a:r>
            <a:r>
              <a:rPr lang="en-US" altLang="zh-CN" b="0" dirty="0">
                <a:solidFill>
                  <a:srgbClr val="104E87"/>
                </a:solidFill>
                <a:latin typeface="Comic Sans MS" panose="030F0702030302020204" pitchFamily="66" charset="0"/>
              </a:rPr>
              <a:t>p-&gt;</a:t>
            </a:r>
            <a:r>
              <a:rPr lang="en-US" altLang="zh-CN" b="0" dirty="0">
                <a:solidFill>
                  <a:srgbClr val="FF0000"/>
                </a:solidFill>
                <a:latin typeface="Comic Sans MS" panose="030F0702030302020204" pitchFamily="66" charset="0"/>
              </a:rPr>
              <a:t>Base2::</a:t>
            </a:r>
            <a:r>
              <a:rPr lang="en-US" altLang="zh-CN" b="0" dirty="0">
                <a:solidFill>
                  <a:srgbClr val="104E87"/>
                </a:solidFill>
                <a:latin typeface="Comic Sans MS" panose="030F0702030302020204" pitchFamily="66" charset="0"/>
              </a:rPr>
              <a:t>var = 3;	</a:t>
            </a:r>
          </a:p>
          <a:p>
            <a:pPr eaLnBrk="1" hangingPunct="1">
              <a:lnSpc>
                <a:spcPct val="80000"/>
              </a:lnSpc>
            </a:pPr>
            <a:r>
              <a:rPr lang="zh-CN" altLang="en-US" b="0" dirty="0">
                <a:solidFill>
                  <a:srgbClr val="104E87"/>
                </a:solidFill>
                <a:latin typeface="Comic Sans MS" panose="030F0702030302020204" pitchFamily="66" charset="0"/>
              </a:rPr>
              <a:t>	</a:t>
            </a:r>
            <a:r>
              <a:rPr lang="en-US" altLang="zh-CN" b="0" dirty="0">
                <a:solidFill>
                  <a:srgbClr val="104E87"/>
                </a:solidFill>
                <a:latin typeface="Comic Sans MS" panose="030F0702030302020204" pitchFamily="66" charset="0"/>
              </a:rPr>
              <a:t>p-&gt;</a:t>
            </a:r>
            <a:r>
              <a:rPr lang="en-US" altLang="zh-CN" b="0" dirty="0">
                <a:solidFill>
                  <a:srgbClr val="FF0000"/>
                </a:solidFill>
                <a:latin typeface="Comic Sans MS" panose="030F0702030302020204" pitchFamily="66" charset="0"/>
              </a:rPr>
              <a:t>Base2::</a:t>
            </a:r>
            <a:r>
              <a:rPr lang="en-US" altLang="zh-CN" b="0" dirty="0">
                <a:solidFill>
                  <a:srgbClr val="104E87"/>
                </a:solidFill>
                <a:latin typeface="Comic Sans MS" panose="030F0702030302020204" pitchFamily="66" charset="0"/>
              </a:rPr>
              <a:t>fun();</a:t>
            </a:r>
          </a:p>
          <a:p>
            <a:pPr eaLnBrk="1" hangingPunct="1">
              <a:lnSpc>
                <a:spcPct val="80000"/>
              </a:lnSpc>
            </a:pPr>
            <a:r>
              <a:rPr lang="en-US" altLang="zh-CN" sz="1600" b="0" dirty="0">
                <a:solidFill>
                  <a:srgbClr val="104E87"/>
                </a:solidFill>
                <a:latin typeface="Comic Sans MS" panose="030F0702030302020204" pitchFamily="66" charset="0"/>
              </a:rPr>
              <a:t>	</a:t>
            </a:r>
            <a:endParaRPr lang="zh-CN" altLang="en-US" sz="1600" b="0" dirty="0">
              <a:solidFill>
                <a:srgbClr val="104E87"/>
              </a:solidFill>
              <a:latin typeface="Comic Sans MS" panose="030F0702030302020204" pitchFamily="66" charset="0"/>
            </a:endParaRPr>
          </a:p>
          <a:p>
            <a:pPr eaLnBrk="1" hangingPunct="1">
              <a:lnSpc>
                <a:spcPct val="80000"/>
              </a:lnSpc>
            </a:pPr>
            <a:r>
              <a:rPr lang="zh-CN" altLang="en-US" b="0" dirty="0">
                <a:solidFill>
                  <a:srgbClr val="104E87"/>
                </a:solidFill>
                <a:latin typeface="Comic Sans MS" panose="030F0702030302020204" pitchFamily="66" charset="0"/>
              </a:rPr>
              <a:t>	</a:t>
            </a:r>
            <a:r>
              <a:rPr lang="en-US" altLang="zh-CN" b="0" dirty="0">
                <a:solidFill>
                  <a:srgbClr val="104E87"/>
                </a:solidFill>
                <a:latin typeface="Comic Sans MS" panose="030F0702030302020204" pitchFamily="66" charset="0"/>
              </a:rPr>
              <a:t>return 0;</a:t>
            </a:r>
          </a:p>
          <a:p>
            <a:pPr eaLnBrk="1" hangingPunct="1">
              <a:lnSpc>
                <a:spcPct val="80000"/>
              </a:lnSpc>
            </a:pPr>
            <a:r>
              <a:rPr lang="en-US" altLang="zh-CN" b="0" dirty="0">
                <a:solidFill>
                  <a:srgbClr val="104E87"/>
                </a:solidFill>
                <a:latin typeface="Comic Sans MS" panose="030F0702030302020204" pitchFamily="66" charset="0"/>
              </a:rPr>
              <a:t>}</a:t>
            </a:r>
          </a:p>
        </p:txBody>
      </p:sp>
      <p:sp>
        <p:nvSpPr>
          <p:cNvPr id="11" name="Text Box 4">
            <a:extLst>
              <a:ext uri="{FF2B5EF4-FFF2-40B4-BE49-F238E27FC236}">
                <a16:creationId xmlns:a16="http://schemas.microsoft.com/office/drawing/2014/main" id="{73901A38-46ED-4217-9BDA-A6C9BBC14079}"/>
              </a:ext>
            </a:extLst>
          </p:cNvPr>
          <p:cNvSpPr txBox="1">
            <a:spLocks noChangeArrowheads="1"/>
          </p:cNvSpPr>
          <p:nvPr/>
        </p:nvSpPr>
        <p:spPr bwMode="auto">
          <a:xfrm>
            <a:off x="9382456" y="2070284"/>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50000"/>
              </a:spcBef>
              <a:buClrTx/>
              <a:buSzTx/>
              <a:buFontTx/>
              <a:buNone/>
            </a:pPr>
            <a:r>
              <a:rPr lang="zh-CN" altLang="en-US" sz="2800" dirty="0">
                <a:solidFill>
                  <a:srgbClr val="FF0000"/>
                </a:solidFill>
                <a:latin typeface="华文琥珀" panose="02010800040101010101" pitchFamily="2" charset="-122"/>
                <a:ea typeface="华文琥珀" panose="02010800040101010101" pitchFamily="2" charset="-122"/>
              </a:rPr>
              <a:t>×二义性</a:t>
            </a:r>
          </a:p>
        </p:txBody>
      </p:sp>
      <p:sp>
        <p:nvSpPr>
          <p:cNvPr id="12" name="Text Box 4">
            <a:extLst>
              <a:ext uri="{FF2B5EF4-FFF2-40B4-BE49-F238E27FC236}">
                <a16:creationId xmlns:a16="http://schemas.microsoft.com/office/drawing/2014/main" id="{D11AD1CA-F6B7-45CB-AAD7-A02A52FBA0E3}"/>
              </a:ext>
            </a:extLst>
          </p:cNvPr>
          <p:cNvSpPr txBox="1">
            <a:spLocks noChangeArrowheads="1"/>
          </p:cNvSpPr>
          <p:nvPr/>
        </p:nvSpPr>
        <p:spPr bwMode="auto">
          <a:xfrm>
            <a:off x="3574993" y="2331894"/>
            <a:ext cx="46657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b="0" spc="-150" dirty="0">
                <a:solidFill>
                  <a:srgbClr val="FF0000"/>
                </a:solidFill>
                <a:latin typeface="华光行书_CNKI" panose="02000500000000000000" pitchFamily="2" charset="-122"/>
                <a:ea typeface="华光行书_CNKI" panose="02000500000000000000" pitchFamily="2" charset="-122"/>
              </a:rPr>
              <a:t>方案一：</a:t>
            </a:r>
            <a:endParaRPr lang="en-US" altLang="zh-CN" b="0" spc="-150" dirty="0">
              <a:solidFill>
                <a:srgbClr val="FF0000"/>
              </a:solidFill>
              <a:latin typeface="华光行书_CNKI" panose="02000500000000000000" pitchFamily="2" charset="-122"/>
              <a:ea typeface="华光行书_CNKI" panose="02000500000000000000" pitchFamily="2" charset="-122"/>
            </a:endParaRPr>
          </a:p>
          <a:p>
            <a:r>
              <a:rPr lang="zh-CN" altLang="en-US" b="0" spc="-150" dirty="0">
                <a:solidFill>
                  <a:srgbClr val="FF0000"/>
                </a:solidFill>
                <a:latin typeface="华光行书_CNKI" panose="02000500000000000000" pitchFamily="2" charset="-122"/>
                <a:ea typeface="华光行书_CNKI" panose="02000500000000000000" pitchFamily="2" charset="-122"/>
              </a:rPr>
              <a:t>使用作用域分辨符 </a:t>
            </a:r>
            <a:r>
              <a:rPr lang="en-US" altLang="zh-CN" b="0" spc="-150" dirty="0">
                <a:solidFill>
                  <a:srgbClr val="FF0000"/>
                </a:solidFill>
                <a:latin typeface="华光行书_CNKI" panose="02000500000000000000" pitchFamily="2" charset="-122"/>
                <a:ea typeface="华光行书_CNKI" panose="02000500000000000000" pitchFamily="2" charset="-122"/>
              </a:rPr>
              <a:t>:: </a:t>
            </a:r>
            <a:r>
              <a:rPr lang="zh-CN" altLang="en-US" b="0" spc="-150" dirty="0">
                <a:solidFill>
                  <a:srgbClr val="FF0000"/>
                </a:solidFill>
                <a:latin typeface="华光行书_CNKI" panose="02000500000000000000" pitchFamily="2" charset="-122"/>
                <a:ea typeface="华光行书_CNKI" panose="02000500000000000000" pitchFamily="2" charset="-122"/>
              </a:rPr>
              <a:t>来指明基类</a:t>
            </a:r>
          </a:p>
        </p:txBody>
      </p:sp>
    </p:spTree>
    <p:extLst>
      <p:ext uri="{BB962C8B-B14F-4D97-AF65-F5344CB8AC3E}">
        <p14:creationId xmlns:p14="http://schemas.microsoft.com/office/powerpoint/2010/main" val="2881171376"/>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xEl>
                                              <p:pRg st="7" end="7"/>
                                            </p:txEl>
                                          </p:spTgt>
                                        </p:tgtEl>
                                        <p:attrNameLst>
                                          <p:attrName>style.visibility</p:attrName>
                                        </p:attrNameLst>
                                      </p:cBhvr>
                                      <p:to>
                                        <p:strVal val="visible"/>
                                      </p:to>
                                    </p:set>
                                    <p:animEffect transition="in" filter="wipe(down)">
                                      <p:cBhvr>
                                        <p:cTn id="12" dur="500"/>
                                        <p:tgtEl>
                                          <p:spTgt spid="10">
                                            <p:txEl>
                                              <p:pRg st="7" end="7"/>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0">
                                            <p:txEl>
                                              <p:pRg st="8" end="8"/>
                                            </p:txEl>
                                          </p:spTgt>
                                        </p:tgtEl>
                                        <p:attrNameLst>
                                          <p:attrName>style.visibility</p:attrName>
                                        </p:attrNameLst>
                                      </p:cBhvr>
                                      <p:to>
                                        <p:strVal val="visible"/>
                                      </p:to>
                                    </p:set>
                                    <p:animEffect transition="in" filter="wipe(down)">
                                      <p:cBhvr>
                                        <p:cTn id="15" dur="500"/>
                                        <p:tgtEl>
                                          <p:spTgt spid="10">
                                            <p:txEl>
                                              <p:pRg st="8" end="8"/>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10">
                                            <p:txEl>
                                              <p:pRg st="9" end="9"/>
                                            </p:txEl>
                                          </p:spTgt>
                                        </p:tgtEl>
                                        <p:attrNameLst>
                                          <p:attrName>style.visibility</p:attrName>
                                        </p:attrNameLst>
                                      </p:cBhvr>
                                      <p:to>
                                        <p:strVal val="visible"/>
                                      </p:to>
                                    </p:set>
                                    <p:animEffect transition="in" filter="wipe(down)">
                                      <p:cBhvr>
                                        <p:cTn id="18" dur="500"/>
                                        <p:tgtEl>
                                          <p:spTgt spid="10">
                                            <p:txEl>
                                              <p:pRg st="9" end="9"/>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0">
                                            <p:txEl>
                                              <p:pRg st="10" end="10"/>
                                            </p:txEl>
                                          </p:spTgt>
                                        </p:tgtEl>
                                        <p:attrNameLst>
                                          <p:attrName>style.visibility</p:attrName>
                                        </p:attrNameLst>
                                      </p:cBhvr>
                                      <p:to>
                                        <p:strVal val="visible"/>
                                      </p:to>
                                    </p:set>
                                    <p:animEffect transition="in" filter="wipe(down)">
                                      <p:cBhvr>
                                        <p:cTn id="21" dur="500"/>
                                        <p:tgtEl>
                                          <p:spTgt spid="10">
                                            <p:txEl>
                                              <p:pRg st="10" end="10"/>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0">
                                            <p:txEl>
                                              <p:pRg st="11" end="11"/>
                                            </p:txEl>
                                          </p:spTgt>
                                        </p:tgtEl>
                                        <p:attrNameLst>
                                          <p:attrName>style.visibility</p:attrName>
                                        </p:attrNameLst>
                                      </p:cBhvr>
                                      <p:to>
                                        <p:strVal val="visible"/>
                                      </p:to>
                                    </p:set>
                                    <p:animEffect transition="in" filter="wipe(down)">
                                      <p:cBhvr>
                                        <p:cTn id="24" dur="500"/>
                                        <p:tgtEl>
                                          <p:spTgt spid="10">
                                            <p:txEl>
                                              <p:pRg st="11" end="1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arn(inVertical)">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9.5</a:t>
            </a:r>
            <a:r>
              <a:rPr lang="zh-CN" altLang="en-US" dirty="0">
                <a:sym typeface="+mn-lt"/>
              </a:rPr>
              <a:t>派生类同名成员</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675F0145-CD99-4ADA-ABF7-811A8CEB5F95}"/>
              </a:ext>
            </a:extLst>
          </p:cNvPr>
          <p:cNvSpPr txBox="1"/>
          <p:nvPr/>
        </p:nvSpPr>
        <p:spPr>
          <a:xfrm>
            <a:off x="1587" y="953444"/>
            <a:ext cx="7184659" cy="4527714"/>
          </a:xfrm>
          <a:prstGeom prst="rect">
            <a:avLst/>
          </a:prstGeom>
          <a:noFill/>
        </p:spPr>
        <p:txBody>
          <a:bodyPr wrap="square">
            <a:spAutoFit/>
          </a:bodyPr>
          <a:lstStyle/>
          <a:p>
            <a:pPr eaLnBrk="1" hangingPunct="1">
              <a:lnSpc>
                <a:spcPct val="80000"/>
              </a:lnSpc>
            </a:pPr>
            <a:r>
              <a:rPr lang="en-US" altLang="zh-CN" sz="2400" spc="-100" dirty="0">
                <a:solidFill>
                  <a:srgbClr val="104E87"/>
                </a:solidFill>
                <a:latin typeface="Comic Sans MS" panose="030F0702030302020204" pitchFamily="66" charset="0"/>
              </a:rPr>
              <a:t>class Base1 {</a:t>
            </a:r>
          </a:p>
          <a:p>
            <a:pPr eaLnBrk="1" hangingPunct="1">
              <a:lnSpc>
                <a:spcPct val="80000"/>
              </a:lnSpc>
            </a:pPr>
            <a:r>
              <a:rPr lang="en-US" altLang="zh-CN" sz="2400" spc="-100" dirty="0">
                <a:solidFill>
                  <a:srgbClr val="104E87"/>
                </a:solidFill>
                <a:latin typeface="Comic Sans MS" panose="030F0702030302020204" pitchFamily="66" charset="0"/>
              </a:rPr>
              <a:t>public:</a:t>
            </a:r>
          </a:p>
          <a:p>
            <a:pPr eaLnBrk="1" hangingPunct="1">
              <a:lnSpc>
                <a:spcPct val="80000"/>
              </a:lnSpc>
            </a:pPr>
            <a:r>
              <a:rPr lang="en-US" altLang="zh-CN" sz="2400" spc="-100" dirty="0">
                <a:solidFill>
                  <a:srgbClr val="104E87"/>
                </a:solidFill>
                <a:latin typeface="Comic Sans MS" panose="030F0702030302020204" pitchFamily="66" charset="0"/>
              </a:rPr>
              <a:t>	int var;</a:t>
            </a:r>
          </a:p>
          <a:p>
            <a:pPr eaLnBrk="1" hangingPunct="1">
              <a:lnSpc>
                <a:spcPct val="80000"/>
              </a:lnSpc>
            </a:pPr>
            <a:r>
              <a:rPr lang="en-US" altLang="zh-CN" sz="2400" spc="-100" dirty="0">
                <a:solidFill>
                  <a:srgbClr val="104E87"/>
                </a:solidFill>
                <a:latin typeface="Comic Sans MS" panose="030F0702030302020204" pitchFamily="66" charset="0"/>
              </a:rPr>
              <a:t>	void fun() { </a:t>
            </a:r>
            <a:r>
              <a:rPr lang="en-US" altLang="zh-CN" sz="2400" spc="-100" dirty="0" err="1">
                <a:solidFill>
                  <a:srgbClr val="104E87"/>
                </a:solidFill>
                <a:latin typeface="Comic Sans MS" panose="030F0702030302020204" pitchFamily="66" charset="0"/>
              </a:rPr>
              <a:t>cout</a:t>
            </a:r>
            <a:r>
              <a:rPr lang="en-US" altLang="zh-CN" sz="2400" spc="-100" dirty="0">
                <a:solidFill>
                  <a:srgbClr val="104E87"/>
                </a:solidFill>
                <a:latin typeface="Comic Sans MS" panose="030F0702030302020204" pitchFamily="66" charset="0"/>
              </a:rPr>
              <a:t> &lt;&lt; "Member of Base1" &lt;&lt; </a:t>
            </a:r>
            <a:r>
              <a:rPr lang="en-US" altLang="zh-CN" sz="2400" spc="-100" dirty="0" err="1">
                <a:solidFill>
                  <a:srgbClr val="104E87"/>
                </a:solidFill>
                <a:latin typeface="Comic Sans MS" panose="030F0702030302020204" pitchFamily="66" charset="0"/>
              </a:rPr>
              <a:t>endl</a:t>
            </a:r>
            <a:r>
              <a:rPr lang="en-US" altLang="zh-CN" sz="2400" spc="-100" dirty="0">
                <a:solidFill>
                  <a:srgbClr val="104E87"/>
                </a:solidFill>
                <a:latin typeface="Comic Sans MS" panose="030F0702030302020204" pitchFamily="66" charset="0"/>
              </a:rPr>
              <a:t>; }</a:t>
            </a:r>
          </a:p>
          <a:p>
            <a:pPr eaLnBrk="1" hangingPunct="1">
              <a:lnSpc>
                <a:spcPct val="80000"/>
              </a:lnSpc>
            </a:pPr>
            <a:r>
              <a:rPr lang="en-US" altLang="zh-CN" sz="2400" spc="-100" dirty="0">
                <a:solidFill>
                  <a:srgbClr val="104E87"/>
                </a:solidFill>
                <a:latin typeface="Comic Sans MS" panose="030F0702030302020204" pitchFamily="66" charset="0"/>
              </a:rPr>
              <a:t>};</a:t>
            </a:r>
          </a:p>
          <a:p>
            <a:pPr eaLnBrk="1" hangingPunct="1">
              <a:lnSpc>
                <a:spcPct val="80000"/>
              </a:lnSpc>
            </a:pPr>
            <a:r>
              <a:rPr lang="en-US" altLang="zh-CN" sz="2400" spc="-100" dirty="0">
                <a:solidFill>
                  <a:srgbClr val="104E87"/>
                </a:solidFill>
                <a:latin typeface="Comic Sans MS" panose="030F0702030302020204" pitchFamily="66" charset="0"/>
              </a:rPr>
              <a:t>class Base2 {</a:t>
            </a:r>
          </a:p>
          <a:p>
            <a:pPr eaLnBrk="1" hangingPunct="1">
              <a:lnSpc>
                <a:spcPct val="80000"/>
              </a:lnSpc>
            </a:pPr>
            <a:r>
              <a:rPr lang="en-US" altLang="zh-CN" sz="2400" spc="-100" dirty="0">
                <a:solidFill>
                  <a:srgbClr val="104E87"/>
                </a:solidFill>
                <a:latin typeface="Comic Sans MS" panose="030F0702030302020204" pitchFamily="66" charset="0"/>
              </a:rPr>
              <a:t>public:</a:t>
            </a:r>
          </a:p>
          <a:p>
            <a:pPr eaLnBrk="1" hangingPunct="1">
              <a:lnSpc>
                <a:spcPct val="80000"/>
              </a:lnSpc>
            </a:pPr>
            <a:r>
              <a:rPr lang="en-US" altLang="zh-CN" sz="2400" spc="-100" dirty="0">
                <a:solidFill>
                  <a:srgbClr val="104E87"/>
                </a:solidFill>
                <a:latin typeface="Comic Sans MS" panose="030F0702030302020204" pitchFamily="66" charset="0"/>
              </a:rPr>
              <a:t>	int var;</a:t>
            </a:r>
          </a:p>
          <a:p>
            <a:pPr eaLnBrk="1" hangingPunct="1">
              <a:lnSpc>
                <a:spcPct val="80000"/>
              </a:lnSpc>
            </a:pPr>
            <a:r>
              <a:rPr lang="en-US" altLang="zh-CN" sz="2400" spc="-100" dirty="0">
                <a:solidFill>
                  <a:srgbClr val="104E87"/>
                </a:solidFill>
                <a:latin typeface="Comic Sans MS" panose="030F0702030302020204" pitchFamily="66" charset="0"/>
              </a:rPr>
              <a:t>	void fun() { </a:t>
            </a:r>
            <a:r>
              <a:rPr lang="en-US" altLang="zh-CN" sz="2400" spc="-100" dirty="0" err="1">
                <a:solidFill>
                  <a:srgbClr val="104E87"/>
                </a:solidFill>
                <a:latin typeface="Comic Sans MS" panose="030F0702030302020204" pitchFamily="66" charset="0"/>
              </a:rPr>
              <a:t>cout</a:t>
            </a:r>
            <a:r>
              <a:rPr lang="en-US" altLang="zh-CN" sz="2400" spc="-100" dirty="0">
                <a:solidFill>
                  <a:srgbClr val="104E87"/>
                </a:solidFill>
                <a:latin typeface="Comic Sans MS" panose="030F0702030302020204" pitchFamily="66" charset="0"/>
              </a:rPr>
              <a:t> &lt;&lt; "Member of Base2" &lt;&lt; </a:t>
            </a:r>
            <a:r>
              <a:rPr lang="en-US" altLang="zh-CN" sz="2400" spc="-100" dirty="0" err="1">
                <a:solidFill>
                  <a:srgbClr val="104E87"/>
                </a:solidFill>
                <a:latin typeface="Comic Sans MS" panose="030F0702030302020204" pitchFamily="66" charset="0"/>
              </a:rPr>
              <a:t>endl</a:t>
            </a:r>
            <a:r>
              <a:rPr lang="en-US" altLang="zh-CN" sz="2400" spc="-100" dirty="0">
                <a:solidFill>
                  <a:srgbClr val="104E87"/>
                </a:solidFill>
                <a:latin typeface="Comic Sans MS" panose="030F0702030302020204" pitchFamily="66" charset="0"/>
              </a:rPr>
              <a:t>; }</a:t>
            </a:r>
          </a:p>
          <a:p>
            <a:pPr eaLnBrk="1" hangingPunct="1">
              <a:lnSpc>
                <a:spcPct val="80000"/>
              </a:lnSpc>
            </a:pPr>
            <a:r>
              <a:rPr lang="en-US" altLang="zh-CN" sz="2400" spc="-100" dirty="0">
                <a:solidFill>
                  <a:srgbClr val="104E87"/>
                </a:solidFill>
                <a:latin typeface="Comic Sans MS" panose="030F0702030302020204" pitchFamily="66" charset="0"/>
              </a:rPr>
              <a:t>};</a:t>
            </a:r>
          </a:p>
          <a:p>
            <a:pPr eaLnBrk="1" hangingPunct="1">
              <a:lnSpc>
                <a:spcPct val="80000"/>
              </a:lnSpc>
            </a:pPr>
            <a:r>
              <a:rPr lang="en-US" altLang="zh-CN" sz="2400" spc="-100" dirty="0">
                <a:solidFill>
                  <a:srgbClr val="104E87"/>
                </a:solidFill>
                <a:latin typeface="Comic Sans MS" panose="030F0702030302020204" pitchFamily="66" charset="0"/>
              </a:rPr>
              <a:t>class Derived: public Base1, public Base2 {</a:t>
            </a:r>
          </a:p>
          <a:p>
            <a:pPr eaLnBrk="1" hangingPunct="1">
              <a:lnSpc>
                <a:spcPct val="80000"/>
              </a:lnSpc>
            </a:pPr>
            <a:r>
              <a:rPr lang="en-US" altLang="zh-CN" sz="2400" spc="-100" dirty="0">
                <a:solidFill>
                  <a:srgbClr val="104E87"/>
                </a:solidFill>
                <a:latin typeface="Comic Sans MS" panose="030F0702030302020204" pitchFamily="66" charset="0"/>
              </a:rPr>
              <a:t>public:</a:t>
            </a:r>
          </a:p>
          <a:p>
            <a:pPr eaLnBrk="1" hangingPunct="1">
              <a:lnSpc>
                <a:spcPct val="80000"/>
              </a:lnSpc>
            </a:pPr>
            <a:r>
              <a:rPr lang="en-US" altLang="zh-CN" sz="2400" spc="-100" dirty="0">
                <a:solidFill>
                  <a:srgbClr val="104E87"/>
                </a:solidFill>
                <a:latin typeface="Comic Sans MS" panose="030F0702030302020204" pitchFamily="66" charset="0"/>
              </a:rPr>
              <a:t>	</a:t>
            </a:r>
            <a:r>
              <a:rPr lang="en-US" altLang="zh-CN" sz="2400" spc="-100" dirty="0">
                <a:solidFill>
                  <a:srgbClr val="FF0000"/>
                </a:solidFill>
                <a:latin typeface="Comic Sans MS" panose="030F0702030302020204" pitchFamily="66" charset="0"/>
              </a:rPr>
              <a:t>int var;</a:t>
            </a:r>
            <a:endParaRPr lang="zh-CN" altLang="en-US" sz="2400" spc="-100" dirty="0">
              <a:solidFill>
                <a:srgbClr val="FF0000"/>
              </a:solidFill>
              <a:latin typeface="Comic Sans MS" panose="030F0702030302020204" pitchFamily="66" charset="0"/>
            </a:endParaRPr>
          </a:p>
          <a:p>
            <a:pPr eaLnBrk="1" hangingPunct="1">
              <a:lnSpc>
                <a:spcPct val="80000"/>
              </a:lnSpc>
            </a:pPr>
            <a:r>
              <a:rPr lang="zh-CN" altLang="en-US" sz="2400" spc="-100" dirty="0">
                <a:solidFill>
                  <a:srgbClr val="FF0000"/>
                </a:solidFill>
                <a:latin typeface="Comic Sans MS" panose="030F0702030302020204" pitchFamily="66" charset="0"/>
              </a:rPr>
              <a:t>	</a:t>
            </a:r>
            <a:r>
              <a:rPr lang="en-US" altLang="zh-CN" sz="2400" spc="-100" dirty="0">
                <a:solidFill>
                  <a:srgbClr val="FF0000"/>
                </a:solidFill>
                <a:latin typeface="Comic Sans MS" panose="030F0702030302020204" pitchFamily="66" charset="0"/>
              </a:rPr>
              <a:t>void fun() { </a:t>
            </a:r>
            <a:r>
              <a:rPr lang="en-US" altLang="zh-CN" sz="2400" spc="-100" dirty="0" err="1">
                <a:solidFill>
                  <a:srgbClr val="FF0000"/>
                </a:solidFill>
                <a:latin typeface="Comic Sans MS" panose="030F0702030302020204" pitchFamily="66" charset="0"/>
              </a:rPr>
              <a:t>cout</a:t>
            </a:r>
            <a:r>
              <a:rPr lang="en-US" altLang="zh-CN" sz="2400" spc="-100" dirty="0">
                <a:solidFill>
                  <a:srgbClr val="FF0000"/>
                </a:solidFill>
                <a:latin typeface="Comic Sans MS" panose="030F0702030302020204" pitchFamily="66" charset="0"/>
              </a:rPr>
              <a:t> &lt;&lt; "Member of Derived" &lt;&lt; </a:t>
            </a:r>
            <a:r>
              <a:rPr lang="en-US" altLang="zh-CN" sz="2400" spc="-100" dirty="0" err="1">
                <a:solidFill>
                  <a:srgbClr val="FF0000"/>
                </a:solidFill>
                <a:latin typeface="Comic Sans MS" panose="030F0702030302020204" pitchFamily="66" charset="0"/>
              </a:rPr>
              <a:t>endl</a:t>
            </a:r>
            <a:r>
              <a:rPr lang="en-US" altLang="zh-CN" sz="2400" spc="-100" dirty="0">
                <a:solidFill>
                  <a:srgbClr val="FF0000"/>
                </a:solidFill>
                <a:latin typeface="Comic Sans MS" panose="030F0702030302020204" pitchFamily="66" charset="0"/>
              </a:rPr>
              <a:t>; </a:t>
            </a:r>
            <a:r>
              <a:rPr lang="en-US" altLang="zh-CN" sz="2400" spc="-100" dirty="0">
                <a:solidFill>
                  <a:srgbClr val="104E87"/>
                </a:solidFill>
                <a:latin typeface="Comic Sans MS" panose="030F0702030302020204" pitchFamily="66" charset="0"/>
              </a:rPr>
              <a:t>}</a:t>
            </a:r>
          </a:p>
          <a:p>
            <a:pPr eaLnBrk="1" hangingPunct="1">
              <a:lnSpc>
                <a:spcPct val="80000"/>
              </a:lnSpc>
            </a:pPr>
            <a:r>
              <a:rPr lang="en-US" altLang="zh-CN" sz="2400" spc="-100" dirty="0">
                <a:solidFill>
                  <a:srgbClr val="104E87"/>
                </a:solidFill>
                <a:latin typeface="Comic Sans MS" panose="030F0702030302020204" pitchFamily="66" charset="0"/>
              </a:rPr>
              <a:t>};</a:t>
            </a:r>
          </a:p>
        </p:txBody>
      </p:sp>
      <p:sp>
        <p:nvSpPr>
          <p:cNvPr id="8" name="矩形 2">
            <a:extLst>
              <a:ext uri="{FF2B5EF4-FFF2-40B4-BE49-F238E27FC236}">
                <a16:creationId xmlns:a16="http://schemas.microsoft.com/office/drawing/2014/main" id="{6DBE2271-043D-495F-87A1-CA595804C428}"/>
              </a:ext>
            </a:extLst>
          </p:cNvPr>
          <p:cNvSpPr>
            <a:spLocks noChangeArrowheads="1"/>
          </p:cNvSpPr>
          <p:nvPr/>
        </p:nvSpPr>
        <p:spPr bwMode="auto">
          <a:xfrm>
            <a:off x="7384318" y="1164181"/>
            <a:ext cx="3447806" cy="4529638"/>
          </a:xfrm>
          <a:prstGeom prst="rect">
            <a:avLst/>
          </a:prstGeom>
          <a:noFill/>
        </p:spPr>
        <p:txBody>
          <a:bodyPr wrap="square">
            <a:spAutoFit/>
          </a:bodyPr>
          <a:lstStyle/>
          <a:p>
            <a:pPr>
              <a:lnSpc>
                <a:spcPct val="80000"/>
              </a:lnSpc>
            </a:pPr>
            <a:r>
              <a:rPr lang="en-US" altLang="zh-CN" spc="-100" dirty="0">
                <a:solidFill>
                  <a:srgbClr val="104E87"/>
                </a:solidFill>
                <a:latin typeface="Comic Sans MS" panose="030F0702030302020204" pitchFamily="66" charset="0"/>
              </a:rPr>
              <a:t>int main() {</a:t>
            </a:r>
          </a:p>
          <a:p>
            <a:pPr>
              <a:lnSpc>
                <a:spcPct val="80000"/>
              </a:lnSpc>
            </a:pPr>
            <a:r>
              <a:rPr lang="en-US" altLang="zh-CN" spc="-100" dirty="0">
                <a:solidFill>
                  <a:srgbClr val="104E87"/>
                </a:solidFill>
                <a:latin typeface="Comic Sans MS" panose="030F0702030302020204" pitchFamily="66" charset="0"/>
              </a:rPr>
              <a:t>	Derived d;</a:t>
            </a:r>
          </a:p>
          <a:p>
            <a:pPr>
              <a:lnSpc>
                <a:spcPct val="80000"/>
              </a:lnSpc>
            </a:pPr>
            <a:r>
              <a:rPr lang="en-US" altLang="zh-CN" spc="-100" dirty="0">
                <a:solidFill>
                  <a:srgbClr val="104E87"/>
                </a:solidFill>
                <a:latin typeface="Comic Sans MS" panose="030F0702030302020204" pitchFamily="66" charset="0"/>
              </a:rPr>
              <a:t>	Derived *p = &amp;d;</a:t>
            </a:r>
          </a:p>
          <a:p>
            <a:pPr>
              <a:lnSpc>
                <a:spcPct val="80000"/>
              </a:lnSpc>
            </a:pPr>
            <a:endParaRPr lang="en-US" altLang="zh-CN" spc="-100" dirty="0">
              <a:solidFill>
                <a:srgbClr val="104E87"/>
              </a:solidFill>
              <a:latin typeface="Comic Sans MS" panose="030F0702030302020204" pitchFamily="66" charset="0"/>
            </a:endParaRPr>
          </a:p>
          <a:p>
            <a:pPr>
              <a:lnSpc>
                <a:spcPct val="80000"/>
              </a:lnSpc>
            </a:pPr>
            <a:r>
              <a:rPr lang="en-US" altLang="zh-CN" spc="-100" dirty="0">
                <a:solidFill>
                  <a:srgbClr val="104E87"/>
                </a:solidFill>
                <a:latin typeface="Comic Sans MS" panose="030F0702030302020204" pitchFamily="66" charset="0"/>
              </a:rPr>
              <a:t>	</a:t>
            </a:r>
            <a:r>
              <a:rPr lang="en-US" altLang="zh-CN" spc="-100" dirty="0" err="1">
                <a:solidFill>
                  <a:srgbClr val="104E87"/>
                </a:solidFill>
                <a:latin typeface="Comic Sans MS" panose="030F0702030302020204" pitchFamily="66" charset="0"/>
              </a:rPr>
              <a:t>d.var</a:t>
            </a:r>
            <a:r>
              <a:rPr lang="en-US" altLang="zh-CN" spc="-100" dirty="0">
                <a:solidFill>
                  <a:srgbClr val="104E87"/>
                </a:solidFill>
                <a:latin typeface="Comic Sans MS" panose="030F0702030302020204" pitchFamily="66" charset="0"/>
              </a:rPr>
              <a:t> = 1;</a:t>
            </a:r>
          </a:p>
          <a:p>
            <a:pPr>
              <a:lnSpc>
                <a:spcPct val="80000"/>
              </a:lnSpc>
            </a:pPr>
            <a:r>
              <a:rPr lang="en-US" altLang="zh-CN" spc="-100" dirty="0">
                <a:solidFill>
                  <a:srgbClr val="104E87"/>
                </a:solidFill>
                <a:latin typeface="Comic Sans MS" panose="030F0702030302020204" pitchFamily="66" charset="0"/>
              </a:rPr>
              <a:t>	</a:t>
            </a:r>
            <a:r>
              <a:rPr lang="en-US" altLang="zh-CN" spc="-100" dirty="0" err="1">
                <a:solidFill>
                  <a:srgbClr val="104E87"/>
                </a:solidFill>
                <a:latin typeface="Comic Sans MS" panose="030F0702030302020204" pitchFamily="66" charset="0"/>
              </a:rPr>
              <a:t>d.fun</a:t>
            </a:r>
            <a:r>
              <a:rPr lang="en-US" altLang="zh-CN" spc="-100" dirty="0">
                <a:solidFill>
                  <a:srgbClr val="104E87"/>
                </a:solidFill>
                <a:latin typeface="Comic Sans MS" panose="030F0702030302020204" pitchFamily="66" charset="0"/>
              </a:rPr>
              <a:t>();	</a:t>
            </a:r>
          </a:p>
          <a:p>
            <a:pPr>
              <a:lnSpc>
                <a:spcPct val="80000"/>
              </a:lnSpc>
            </a:pPr>
            <a:endParaRPr lang="zh-CN" altLang="en-US" spc="-100" dirty="0">
              <a:solidFill>
                <a:srgbClr val="104E87"/>
              </a:solidFill>
              <a:latin typeface="Comic Sans MS" panose="030F0702030302020204" pitchFamily="66" charset="0"/>
            </a:endParaRPr>
          </a:p>
          <a:p>
            <a:pPr>
              <a:lnSpc>
                <a:spcPct val="80000"/>
              </a:lnSpc>
            </a:pPr>
            <a:r>
              <a:rPr lang="zh-CN" altLang="en-US" spc="-100" dirty="0">
                <a:solidFill>
                  <a:srgbClr val="104E87"/>
                </a:solidFill>
                <a:latin typeface="Comic Sans MS" panose="030F0702030302020204" pitchFamily="66" charset="0"/>
              </a:rPr>
              <a:t>	</a:t>
            </a:r>
            <a:r>
              <a:rPr lang="en-US" altLang="zh-CN" spc="-100" dirty="0">
                <a:solidFill>
                  <a:srgbClr val="104E87"/>
                </a:solidFill>
                <a:latin typeface="Comic Sans MS" panose="030F0702030302020204" pitchFamily="66" charset="0"/>
              </a:rPr>
              <a:t>d.Base1::var = 2;	</a:t>
            </a:r>
            <a:endParaRPr lang="zh-CN" altLang="en-US" spc="-100" dirty="0">
              <a:solidFill>
                <a:srgbClr val="104E87"/>
              </a:solidFill>
              <a:latin typeface="Comic Sans MS" panose="030F0702030302020204" pitchFamily="66" charset="0"/>
            </a:endParaRPr>
          </a:p>
          <a:p>
            <a:pPr>
              <a:lnSpc>
                <a:spcPct val="80000"/>
              </a:lnSpc>
            </a:pPr>
            <a:r>
              <a:rPr lang="zh-CN" altLang="en-US" spc="-100" dirty="0">
                <a:solidFill>
                  <a:srgbClr val="104E87"/>
                </a:solidFill>
                <a:latin typeface="Comic Sans MS" panose="030F0702030302020204" pitchFamily="66" charset="0"/>
              </a:rPr>
              <a:t>	</a:t>
            </a:r>
            <a:r>
              <a:rPr lang="en-US" altLang="zh-CN" spc="-100" dirty="0">
                <a:solidFill>
                  <a:srgbClr val="104E87"/>
                </a:solidFill>
                <a:latin typeface="Comic Sans MS" panose="030F0702030302020204" pitchFamily="66" charset="0"/>
              </a:rPr>
              <a:t>d.Base1::fun();	</a:t>
            </a:r>
          </a:p>
          <a:p>
            <a:pPr>
              <a:lnSpc>
                <a:spcPct val="80000"/>
              </a:lnSpc>
            </a:pPr>
            <a:r>
              <a:rPr lang="zh-CN" altLang="en-US" spc="-100" dirty="0">
                <a:solidFill>
                  <a:srgbClr val="104E87"/>
                </a:solidFill>
                <a:latin typeface="Comic Sans MS" panose="030F0702030302020204" pitchFamily="66" charset="0"/>
              </a:rPr>
              <a:t>	</a:t>
            </a:r>
          </a:p>
          <a:p>
            <a:pPr>
              <a:lnSpc>
                <a:spcPct val="80000"/>
              </a:lnSpc>
            </a:pPr>
            <a:r>
              <a:rPr lang="zh-CN" altLang="en-US" spc="-100" dirty="0">
                <a:solidFill>
                  <a:srgbClr val="104E87"/>
                </a:solidFill>
                <a:latin typeface="Comic Sans MS" panose="030F0702030302020204" pitchFamily="66" charset="0"/>
              </a:rPr>
              <a:t>	</a:t>
            </a:r>
            <a:r>
              <a:rPr lang="en-US" altLang="zh-CN" spc="-100" dirty="0">
                <a:solidFill>
                  <a:srgbClr val="104E87"/>
                </a:solidFill>
                <a:latin typeface="Comic Sans MS" panose="030F0702030302020204" pitchFamily="66" charset="0"/>
              </a:rPr>
              <a:t>p-&gt;Base2::var = 3;	</a:t>
            </a:r>
          </a:p>
          <a:p>
            <a:pPr>
              <a:lnSpc>
                <a:spcPct val="80000"/>
              </a:lnSpc>
            </a:pPr>
            <a:r>
              <a:rPr lang="zh-CN" altLang="en-US" spc="-100" dirty="0">
                <a:solidFill>
                  <a:srgbClr val="104E87"/>
                </a:solidFill>
                <a:latin typeface="Comic Sans MS" panose="030F0702030302020204" pitchFamily="66" charset="0"/>
              </a:rPr>
              <a:t>	</a:t>
            </a:r>
            <a:r>
              <a:rPr lang="en-US" altLang="zh-CN" spc="-100" dirty="0">
                <a:solidFill>
                  <a:srgbClr val="104E87"/>
                </a:solidFill>
                <a:latin typeface="Comic Sans MS" panose="030F0702030302020204" pitchFamily="66" charset="0"/>
              </a:rPr>
              <a:t>p-&gt;Base2::fun();</a:t>
            </a:r>
          </a:p>
          <a:p>
            <a:pPr>
              <a:lnSpc>
                <a:spcPct val="80000"/>
              </a:lnSpc>
            </a:pPr>
            <a:r>
              <a:rPr lang="en-US" altLang="zh-CN" spc="-100" dirty="0">
                <a:solidFill>
                  <a:srgbClr val="104E87"/>
                </a:solidFill>
                <a:latin typeface="Comic Sans MS" panose="030F0702030302020204" pitchFamily="66" charset="0"/>
              </a:rPr>
              <a:t>	</a:t>
            </a:r>
            <a:endParaRPr lang="zh-CN" altLang="en-US" spc="-100" dirty="0">
              <a:solidFill>
                <a:srgbClr val="104E87"/>
              </a:solidFill>
              <a:latin typeface="Comic Sans MS" panose="030F0702030302020204" pitchFamily="66" charset="0"/>
            </a:endParaRPr>
          </a:p>
          <a:p>
            <a:pPr>
              <a:lnSpc>
                <a:spcPct val="80000"/>
              </a:lnSpc>
            </a:pPr>
            <a:r>
              <a:rPr lang="zh-CN" altLang="en-US" spc="-100" dirty="0">
                <a:solidFill>
                  <a:srgbClr val="104E87"/>
                </a:solidFill>
                <a:latin typeface="Comic Sans MS" panose="030F0702030302020204" pitchFamily="66" charset="0"/>
              </a:rPr>
              <a:t>	</a:t>
            </a:r>
            <a:r>
              <a:rPr lang="en-US" altLang="zh-CN" spc="-100" dirty="0">
                <a:solidFill>
                  <a:srgbClr val="104E87"/>
                </a:solidFill>
                <a:latin typeface="Comic Sans MS" panose="030F0702030302020204" pitchFamily="66" charset="0"/>
              </a:rPr>
              <a:t>return 0;</a:t>
            </a:r>
          </a:p>
          <a:p>
            <a:pPr>
              <a:lnSpc>
                <a:spcPct val="80000"/>
              </a:lnSpc>
            </a:pPr>
            <a:r>
              <a:rPr lang="en-US" altLang="zh-CN" spc="-100" dirty="0">
                <a:solidFill>
                  <a:srgbClr val="104E87"/>
                </a:solidFill>
                <a:latin typeface="Comic Sans MS" panose="030F0702030302020204" pitchFamily="66" charset="0"/>
              </a:rPr>
              <a:t>}</a:t>
            </a:r>
          </a:p>
        </p:txBody>
      </p:sp>
      <p:sp>
        <p:nvSpPr>
          <p:cNvPr id="10" name="矩形 9">
            <a:extLst>
              <a:ext uri="{FF2B5EF4-FFF2-40B4-BE49-F238E27FC236}">
                <a16:creationId xmlns:a16="http://schemas.microsoft.com/office/drawing/2014/main" id="{F4F234F1-3E59-4E89-8EF9-4D6B30542A4A}"/>
              </a:ext>
            </a:extLst>
          </p:cNvPr>
          <p:cNvSpPr>
            <a:spLocks noChangeArrowheads="1"/>
          </p:cNvSpPr>
          <p:nvPr/>
        </p:nvSpPr>
        <p:spPr bwMode="auto">
          <a:xfrm>
            <a:off x="7384318" y="150673"/>
            <a:ext cx="374735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FF0000"/>
                </a:solidFill>
                <a:latin typeface="华光行书_CNKI" panose="02000500000000000000" pitchFamily="2" charset="-122"/>
                <a:ea typeface="华光行书_CNKI" panose="02000500000000000000" pitchFamily="2" charset="-122"/>
              </a:rPr>
              <a:t>方案二：同名隐藏</a:t>
            </a:r>
            <a:endParaRPr lang="en-US" altLang="zh-CN" dirty="0">
              <a:solidFill>
                <a:srgbClr val="FF0000"/>
              </a:solidFill>
              <a:latin typeface="华光行书_CNKI" panose="02000500000000000000" pitchFamily="2" charset="-122"/>
              <a:ea typeface="华光行书_CNKI" panose="02000500000000000000" pitchFamily="2" charset="-122"/>
            </a:endParaRPr>
          </a:p>
          <a:p>
            <a:r>
              <a:rPr lang="zh-CN" altLang="en-US" dirty="0">
                <a:solidFill>
                  <a:srgbClr val="FF0000"/>
                </a:solidFill>
                <a:latin typeface="华光行书_CNKI" panose="02000500000000000000" pitchFamily="2" charset="-122"/>
                <a:ea typeface="华光行书_CNKI" panose="02000500000000000000" pitchFamily="2" charset="-122"/>
              </a:rPr>
              <a:t>在派生类中声明同名成员</a:t>
            </a:r>
          </a:p>
        </p:txBody>
      </p:sp>
    </p:spTree>
    <p:extLst>
      <p:ext uri="{BB962C8B-B14F-4D97-AF65-F5344CB8AC3E}">
        <p14:creationId xmlns:p14="http://schemas.microsoft.com/office/powerpoint/2010/main" val="87854444"/>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animEffect transition="in" filter="randombar(horizontal)">
                                      <p:cBhvr>
                                        <p:cTn id="7" dur="500"/>
                                        <p:tgtEl>
                                          <p:spTgt spid="8">
                                            <p:txEl>
                                              <p:pRg st="7" end="7"/>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8">
                                            <p:txEl>
                                              <p:pRg st="8" end="8"/>
                                            </p:txEl>
                                          </p:spTgt>
                                        </p:tgtEl>
                                        <p:attrNameLst>
                                          <p:attrName>style.visibility</p:attrName>
                                        </p:attrNameLst>
                                      </p:cBhvr>
                                      <p:to>
                                        <p:strVal val="visible"/>
                                      </p:to>
                                    </p:set>
                                    <p:animEffect transition="in" filter="randombar(horizontal)">
                                      <p:cBhvr>
                                        <p:cTn id="10" dur="500"/>
                                        <p:tgtEl>
                                          <p:spTgt spid="8">
                                            <p:txEl>
                                              <p:pRg st="8" end="8"/>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8">
                                            <p:txEl>
                                              <p:pRg st="9" end="9"/>
                                            </p:txEl>
                                          </p:spTgt>
                                        </p:tgtEl>
                                        <p:attrNameLst>
                                          <p:attrName>style.visibility</p:attrName>
                                        </p:attrNameLst>
                                      </p:cBhvr>
                                      <p:to>
                                        <p:strVal val="visible"/>
                                      </p:to>
                                    </p:set>
                                    <p:animEffect transition="in" filter="randombar(horizontal)">
                                      <p:cBhvr>
                                        <p:cTn id="13" dur="500"/>
                                        <p:tgtEl>
                                          <p:spTgt spid="8">
                                            <p:txEl>
                                              <p:pRg st="9" end="9"/>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8">
                                            <p:txEl>
                                              <p:pRg st="10" end="10"/>
                                            </p:txEl>
                                          </p:spTgt>
                                        </p:tgtEl>
                                        <p:attrNameLst>
                                          <p:attrName>style.visibility</p:attrName>
                                        </p:attrNameLst>
                                      </p:cBhvr>
                                      <p:to>
                                        <p:strVal val="visible"/>
                                      </p:to>
                                    </p:set>
                                    <p:animEffect transition="in" filter="randombar(horizontal)">
                                      <p:cBhvr>
                                        <p:cTn id="16" dur="500"/>
                                        <p:tgtEl>
                                          <p:spTgt spid="8">
                                            <p:txEl>
                                              <p:pRg st="10" end="10"/>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8">
                                            <p:txEl>
                                              <p:pRg st="11" end="11"/>
                                            </p:txEl>
                                          </p:spTgt>
                                        </p:tgtEl>
                                        <p:attrNameLst>
                                          <p:attrName>style.visibility</p:attrName>
                                        </p:attrNameLst>
                                      </p:cBhvr>
                                      <p:to>
                                        <p:strVal val="visible"/>
                                      </p:to>
                                    </p:set>
                                    <p:animEffect transition="in" filter="randombar(horizontal)">
                                      <p:cBhvr>
                                        <p:cTn id="19" dur="500"/>
                                        <p:tgtEl>
                                          <p:spTgt spid="8">
                                            <p:txEl>
                                              <p:pRg st="11" end="1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1170848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9.5</a:t>
            </a:r>
            <a:r>
              <a:rPr lang="zh-CN" altLang="en-US" dirty="0">
                <a:sym typeface="+mn-lt"/>
              </a:rPr>
              <a:t>派生类同名成员</a:t>
            </a:r>
            <a:r>
              <a:rPr lang="en-US" altLang="zh-CN" dirty="0">
                <a:sym typeface="+mn-lt"/>
              </a:rPr>
              <a:t>——</a:t>
            </a:r>
            <a:r>
              <a:rPr lang="zh-CN" altLang="en-US" dirty="0">
                <a:sym typeface="+mn-lt"/>
              </a:rPr>
              <a:t>重复继承的二义性</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6" name="矩形 5">
            <a:extLst>
              <a:ext uri="{FF2B5EF4-FFF2-40B4-BE49-F238E27FC236}">
                <a16:creationId xmlns:a16="http://schemas.microsoft.com/office/drawing/2014/main" id="{34FF6DBF-8CAB-48FD-93A7-A93720F197C7}"/>
              </a:ext>
            </a:extLst>
          </p:cNvPr>
          <p:cNvSpPr/>
          <p:nvPr/>
        </p:nvSpPr>
        <p:spPr>
          <a:xfrm>
            <a:off x="136647" y="1080221"/>
            <a:ext cx="11708482" cy="502061"/>
          </a:xfrm>
          <a:prstGeom prst="rect">
            <a:avLst/>
          </a:prstGeom>
        </p:spPr>
        <p:txBody>
          <a:bodyPr wrap="square">
            <a:spAutoFit/>
          </a:bodyPr>
          <a:lstStyle/>
          <a:p>
            <a:pPr fontAlgn="auto">
              <a:lnSpc>
                <a:spcPts val="3300"/>
              </a:lnSpc>
              <a:spcBef>
                <a:spcPts val="1200"/>
              </a:spcBef>
              <a:spcAft>
                <a:spcPts val="0"/>
              </a:spcAft>
              <a:buClr>
                <a:schemeClr val="bg2"/>
              </a:buClr>
              <a:buSzPct val="70000"/>
              <a:buBlip>
                <a:blip r:embed="rId3"/>
              </a:buBlip>
              <a:defRPr/>
            </a:pPr>
            <a:r>
              <a:rPr lang="zh-CN" altLang="en-US" spc="-100" dirty="0">
                <a:solidFill>
                  <a:srgbClr val="104E87"/>
                </a:solidFill>
                <a:latin typeface="Comic Sans MS" panose="030F0702030302020204" pitchFamily="66" charset="0"/>
                <a:ea typeface="华光行书_CNKI" panose="02000500000000000000" pitchFamily="2" charset="-122"/>
              </a:rPr>
              <a:t>在多继承时，多个基类又有共同基类，则在访问此共同基类中的成员时，将产生二义性</a:t>
            </a:r>
          </a:p>
        </p:txBody>
      </p:sp>
      <p:sp>
        <p:nvSpPr>
          <p:cNvPr id="8" name="Rectangle 4">
            <a:extLst>
              <a:ext uri="{FF2B5EF4-FFF2-40B4-BE49-F238E27FC236}">
                <a16:creationId xmlns:a16="http://schemas.microsoft.com/office/drawing/2014/main" id="{C786C498-B4BC-42F9-9601-EA97A5A59900}"/>
              </a:ext>
            </a:extLst>
          </p:cNvPr>
          <p:cNvSpPr>
            <a:spLocks noChangeArrowheads="1"/>
          </p:cNvSpPr>
          <p:nvPr/>
        </p:nvSpPr>
        <p:spPr bwMode="auto">
          <a:xfrm>
            <a:off x="857372" y="2307367"/>
            <a:ext cx="1152525" cy="43180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1" lang="en-US" altLang="zh-CN" sz="2400">
                <a:solidFill>
                  <a:srgbClr val="104E87"/>
                </a:solidFill>
                <a:latin typeface="Comic Sans MS" panose="030F0702030302020204" pitchFamily="66" charset="0"/>
                <a:ea typeface="华光行书_CNKI" panose="02000500000000000000" pitchFamily="2" charset="-122"/>
              </a:rPr>
              <a:t>B</a:t>
            </a:r>
          </a:p>
        </p:txBody>
      </p:sp>
      <p:sp>
        <p:nvSpPr>
          <p:cNvPr id="10" name="Rectangle 5">
            <a:extLst>
              <a:ext uri="{FF2B5EF4-FFF2-40B4-BE49-F238E27FC236}">
                <a16:creationId xmlns:a16="http://schemas.microsoft.com/office/drawing/2014/main" id="{AFB262A6-D531-465C-93DE-35C8FF10CDFC}"/>
              </a:ext>
            </a:extLst>
          </p:cNvPr>
          <p:cNvSpPr>
            <a:spLocks noChangeArrowheads="1"/>
          </p:cNvSpPr>
          <p:nvPr/>
        </p:nvSpPr>
        <p:spPr bwMode="auto">
          <a:xfrm>
            <a:off x="136647" y="3386867"/>
            <a:ext cx="1152525" cy="43180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1" lang="en-US" altLang="zh-CN" sz="2400">
                <a:solidFill>
                  <a:srgbClr val="104E87"/>
                </a:solidFill>
                <a:latin typeface="Comic Sans MS" panose="030F0702030302020204" pitchFamily="66" charset="0"/>
                <a:ea typeface="华光行书_CNKI" panose="02000500000000000000" pitchFamily="2" charset="-122"/>
              </a:rPr>
              <a:t>B1</a:t>
            </a:r>
          </a:p>
        </p:txBody>
      </p:sp>
      <p:sp>
        <p:nvSpPr>
          <p:cNvPr id="11" name="Rectangle 6">
            <a:extLst>
              <a:ext uri="{FF2B5EF4-FFF2-40B4-BE49-F238E27FC236}">
                <a16:creationId xmlns:a16="http://schemas.microsoft.com/office/drawing/2014/main" id="{62F23667-76B8-4E80-AFF0-94725FF508DA}"/>
              </a:ext>
            </a:extLst>
          </p:cNvPr>
          <p:cNvSpPr>
            <a:spLocks noChangeArrowheads="1"/>
          </p:cNvSpPr>
          <p:nvPr/>
        </p:nvSpPr>
        <p:spPr bwMode="auto">
          <a:xfrm>
            <a:off x="1576509" y="3386867"/>
            <a:ext cx="1152525" cy="43180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1" lang="en-US" altLang="zh-CN" sz="2400">
                <a:solidFill>
                  <a:srgbClr val="104E87"/>
                </a:solidFill>
                <a:latin typeface="Comic Sans MS" panose="030F0702030302020204" pitchFamily="66" charset="0"/>
                <a:ea typeface="华光行书_CNKI" panose="02000500000000000000" pitchFamily="2" charset="-122"/>
              </a:rPr>
              <a:t>B2</a:t>
            </a:r>
          </a:p>
        </p:txBody>
      </p:sp>
      <p:sp>
        <p:nvSpPr>
          <p:cNvPr id="12" name="AutoShape 7">
            <a:extLst>
              <a:ext uri="{FF2B5EF4-FFF2-40B4-BE49-F238E27FC236}">
                <a16:creationId xmlns:a16="http://schemas.microsoft.com/office/drawing/2014/main" id="{FB556B2D-6CDD-4AEA-8DF9-B5ED48D6DEA1}"/>
              </a:ext>
            </a:extLst>
          </p:cNvPr>
          <p:cNvSpPr>
            <a:spLocks noChangeArrowheads="1"/>
          </p:cNvSpPr>
          <p:nvPr/>
        </p:nvSpPr>
        <p:spPr bwMode="auto">
          <a:xfrm>
            <a:off x="1289172" y="2737579"/>
            <a:ext cx="287337" cy="217488"/>
          </a:xfrm>
          <a:prstGeom prst="triangle">
            <a:avLst>
              <a:gd name="adj" fmla="val 50000"/>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rgbClr val="104E87"/>
              </a:solidFill>
              <a:latin typeface="Comic Sans MS" panose="030F0702030302020204" pitchFamily="66" charset="0"/>
              <a:ea typeface="华光行书_CNKI" panose="02000500000000000000" pitchFamily="2" charset="-122"/>
            </a:endParaRPr>
          </a:p>
        </p:txBody>
      </p:sp>
      <p:sp>
        <p:nvSpPr>
          <p:cNvPr id="13" name="Line 8">
            <a:extLst>
              <a:ext uri="{FF2B5EF4-FFF2-40B4-BE49-F238E27FC236}">
                <a16:creationId xmlns:a16="http://schemas.microsoft.com/office/drawing/2014/main" id="{3DA424C4-3C16-40BF-A00E-94C62ECED986}"/>
              </a:ext>
            </a:extLst>
          </p:cNvPr>
          <p:cNvSpPr>
            <a:spLocks noChangeShapeType="1"/>
          </p:cNvSpPr>
          <p:nvPr/>
        </p:nvSpPr>
        <p:spPr bwMode="auto">
          <a:xfrm>
            <a:off x="1433634" y="2955067"/>
            <a:ext cx="0" cy="142875"/>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14" name="Line 9">
            <a:extLst>
              <a:ext uri="{FF2B5EF4-FFF2-40B4-BE49-F238E27FC236}">
                <a16:creationId xmlns:a16="http://schemas.microsoft.com/office/drawing/2014/main" id="{957DE24F-0D9F-4562-A349-8DD2FD7ADA19}"/>
              </a:ext>
            </a:extLst>
          </p:cNvPr>
          <p:cNvSpPr>
            <a:spLocks noChangeShapeType="1"/>
          </p:cNvSpPr>
          <p:nvPr/>
        </p:nvSpPr>
        <p:spPr bwMode="auto">
          <a:xfrm flipV="1">
            <a:off x="712909" y="3099529"/>
            <a:ext cx="1439863"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15" name="Line 10">
            <a:extLst>
              <a:ext uri="{FF2B5EF4-FFF2-40B4-BE49-F238E27FC236}">
                <a16:creationId xmlns:a16="http://schemas.microsoft.com/office/drawing/2014/main" id="{3C74FD3C-3881-4D27-AEA3-ECB9B6ED43B1}"/>
              </a:ext>
            </a:extLst>
          </p:cNvPr>
          <p:cNvSpPr>
            <a:spLocks noChangeShapeType="1"/>
          </p:cNvSpPr>
          <p:nvPr/>
        </p:nvSpPr>
        <p:spPr bwMode="auto">
          <a:xfrm>
            <a:off x="2152772" y="3099529"/>
            <a:ext cx="0" cy="288925"/>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16" name="Line 11">
            <a:extLst>
              <a:ext uri="{FF2B5EF4-FFF2-40B4-BE49-F238E27FC236}">
                <a16:creationId xmlns:a16="http://schemas.microsoft.com/office/drawing/2014/main" id="{7DFB5F08-2D70-4CE6-91DE-2740A3E6730F}"/>
              </a:ext>
            </a:extLst>
          </p:cNvPr>
          <p:cNvSpPr>
            <a:spLocks noChangeShapeType="1"/>
          </p:cNvSpPr>
          <p:nvPr/>
        </p:nvSpPr>
        <p:spPr bwMode="auto">
          <a:xfrm>
            <a:off x="712909" y="3099529"/>
            <a:ext cx="0" cy="288925"/>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17" name="AutoShape 12">
            <a:extLst>
              <a:ext uri="{FF2B5EF4-FFF2-40B4-BE49-F238E27FC236}">
                <a16:creationId xmlns:a16="http://schemas.microsoft.com/office/drawing/2014/main" id="{FEFA6884-09ED-44F7-A1DF-0696C158AC9F}"/>
              </a:ext>
            </a:extLst>
          </p:cNvPr>
          <p:cNvSpPr>
            <a:spLocks noChangeArrowheads="1"/>
          </p:cNvSpPr>
          <p:nvPr/>
        </p:nvSpPr>
        <p:spPr bwMode="auto">
          <a:xfrm>
            <a:off x="570034" y="3818667"/>
            <a:ext cx="287338" cy="217487"/>
          </a:xfrm>
          <a:prstGeom prst="triangle">
            <a:avLst>
              <a:gd name="adj" fmla="val 50000"/>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rgbClr val="104E87"/>
              </a:solidFill>
              <a:latin typeface="Comic Sans MS" panose="030F0702030302020204" pitchFamily="66" charset="0"/>
              <a:ea typeface="华光行书_CNKI" panose="02000500000000000000" pitchFamily="2" charset="-122"/>
            </a:endParaRPr>
          </a:p>
        </p:txBody>
      </p:sp>
      <p:sp>
        <p:nvSpPr>
          <p:cNvPr id="18" name="AutoShape 13">
            <a:extLst>
              <a:ext uri="{FF2B5EF4-FFF2-40B4-BE49-F238E27FC236}">
                <a16:creationId xmlns:a16="http://schemas.microsoft.com/office/drawing/2014/main" id="{4F4014FF-5AED-4FCF-B499-B9048B684378}"/>
              </a:ext>
            </a:extLst>
          </p:cNvPr>
          <p:cNvSpPr>
            <a:spLocks noChangeArrowheads="1"/>
          </p:cNvSpPr>
          <p:nvPr/>
        </p:nvSpPr>
        <p:spPr bwMode="auto">
          <a:xfrm>
            <a:off x="2009897" y="3818667"/>
            <a:ext cx="287337" cy="217487"/>
          </a:xfrm>
          <a:prstGeom prst="triangle">
            <a:avLst>
              <a:gd name="adj" fmla="val 50000"/>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rgbClr val="104E87"/>
              </a:solidFill>
              <a:latin typeface="Comic Sans MS" panose="030F0702030302020204" pitchFamily="66" charset="0"/>
              <a:ea typeface="华光行书_CNKI" panose="02000500000000000000" pitchFamily="2" charset="-122"/>
            </a:endParaRPr>
          </a:p>
        </p:txBody>
      </p:sp>
      <p:sp>
        <p:nvSpPr>
          <p:cNvPr id="19" name="Line 14">
            <a:extLst>
              <a:ext uri="{FF2B5EF4-FFF2-40B4-BE49-F238E27FC236}">
                <a16:creationId xmlns:a16="http://schemas.microsoft.com/office/drawing/2014/main" id="{25AC136D-3F92-46CF-A160-9D21037081E4}"/>
              </a:ext>
            </a:extLst>
          </p:cNvPr>
          <p:cNvSpPr>
            <a:spLocks noChangeShapeType="1"/>
          </p:cNvSpPr>
          <p:nvPr/>
        </p:nvSpPr>
        <p:spPr bwMode="auto">
          <a:xfrm flipV="1">
            <a:off x="714497" y="4180617"/>
            <a:ext cx="1439862"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20" name="Line 15">
            <a:extLst>
              <a:ext uri="{FF2B5EF4-FFF2-40B4-BE49-F238E27FC236}">
                <a16:creationId xmlns:a16="http://schemas.microsoft.com/office/drawing/2014/main" id="{6337DCD6-0638-48C2-AC81-66E78CE04AE9}"/>
              </a:ext>
            </a:extLst>
          </p:cNvPr>
          <p:cNvSpPr>
            <a:spLocks noChangeShapeType="1"/>
          </p:cNvSpPr>
          <p:nvPr/>
        </p:nvSpPr>
        <p:spPr bwMode="auto">
          <a:xfrm>
            <a:off x="1433634" y="4180617"/>
            <a:ext cx="0" cy="288925"/>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21" name="Rectangle 16">
            <a:extLst>
              <a:ext uri="{FF2B5EF4-FFF2-40B4-BE49-F238E27FC236}">
                <a16:creationId xmlns:a16="http://schemas.microsoft.com/office/drawing/2014/main" id="{A16D97CC-D70B-4B48-93F0-AF530D729F9D}"/>
              </a:ext>
            </a:extLst>
          </p:cNvPr>
          <p:cNvSpPr>
            <a:spLocks noChangeArrowheads="1"/>
          </p:cNvSpPr>
          <p:nvPr/>
        </p:nvSpPr>
        <p:spPr bwMode="auto">
          <a:xfrm>
            <a:off x="857372" y="4467954"/>
            <a:ext cx="1152525" cy="43180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1" lang="en-US" altLang="zh-CN" sz="2400">
                <a:solidFill>
                  <a:srgbClr val="104E87"/>
                </a:solidFill>
                <a:latin typeface="Comic Sans MS" panose="030F0702030302020204" pitchFamily="66" charset="0"/>
                <a:ea typeface="华光行书_CNKI" panose="02000500000000000000" pitchFamily="2" charset="-122"/>
              </a:rPr>
              <a:t>D</a:t>
            </a:r>
          </a:p>
        </p:txBody>
      </p:sp>
      <p:sp>
        <p:nvSpPr>
          <p:cNvPr id="22" name="Line 17">
            <a:extLst>
              <a:ext uri="{FF2B5EF4-FFF2-40B4-BE49-F238E27FC236}">
                <a16:creationId xmlns:a16="http://schemas.microsoft.com/office/drawing/2014/main" id="{8584C857-5BC6-49C7-96DA-6A2DF5639BC3}"/>
              </a:ext>
            </a:extLst>
          </p:cNvPr>
          <p:cNvSpPr>
            <a:spLocks noChangeShapeType="1"/>
          </p:cNvSpPr>
          <p:nvPr/>
        </p:nvSpPr>
        <p:spPr bwMode="auto">
          <a:xfrm>
            <a:off x="712909" y="4034567"/>
            <a:ext cx="0" cy="142875"/>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23" name="Line 18">
            <a:extLst>
              <a:ext uri="{FF2B5EF4-FFF2-40B4-BE49-F238E27FC236}">
                <a16:creationId xmlns:a16="http://schemas.microsoft.com/office/drawing/2014/main" id="{9948B611-FA3E-402F-ADED-B9FF7D99B315}"/>
              </a:ext>
            </a:extLst>
          </p:cNvPr>
          <p:cNvSpPr>
            <a:spLocks noChangeShapeType="1"/>
          </p:cNvSpPr>
          <p:nvPr/>
        </p:nvSpPr>
        <p:spPr bwMode="auto">
          <a:xfrm>
            <a:off x="2152772" y="4034567"/>
            <a:ext cx="0" cy="142875"/>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25" name="文本框 24">
            <a:extLst>
              <a:ext uri="{FF2B5EF4-FFF2-40B4-BE49-F238E27FC236}">
                <a16:creationId xmlns:a16="http://schemas.microsoft.com/office/drawing/2014/main" id="{62881B08-A4F3-47AB-AD5F-72531E7E2652}"/>
              </a:ext>
            </a:extLst>
          </p:cNvPr>
          <p:cNvSpPr txBox="1"/>
          <p:nvPr/>
        </p:nvSpPr>
        <p:spPr>
          <a:xfrm>
            <a:off x="712909" y="5149690"/>
            <a:ext cx="1439860" cy="461665"/>
          </a:xfrm>
          <a:prstGeom prst="rect">
            <a:avLst/>
          </a:prstGeom>
          <a:noFill/>
        </p:spPr>
        <p:txBody>
          <a:bodyPr wrap="square">
            <a:spAutoFit/>
          </a:bodyPr>
          <a:lstStyle/>
          <a:p>
            <a:r>
              <a:rPr lang="zh-CN" altLang="en-US" dirty="0">
                <a:solidFill>
                  <a:srgbClr val="104E87"/>
                </a:solidFill>
                <a:latin typeface="Comic Sans MS" panose="030F0702030302020204" pitchFamily="66" charset="0"/>
                <a:ea typeface="华光行书_CNKI" panose="02000500000000000000" pitchFamily="2" charset="-122"/>
              </a:rPr>
              <a:t>重复继承</a:t>
            </a:r>
            <a:endParaRPr lang="zh-CN" altLang="en-US" dirty="0">
              <a:latin typeface="Comic Sans MS" panose="030F0702030302020204" pitchFamily="66" charset="0"/>
              <a:ea typeface="华光行书_CNKI" panose="02000500000000000000" pitchFamily="2" charset="-122"/>
            </a:endParaRPr>
          </a:p>
        </p:txBody>
      </p:sp>
      <p:sp>
        <p:nvSpPr>
          <p:cNvPr id="27" name="矩形 26">
            <a:extLst>
              <a:ext uri="{FF2B5EF4-FFF2-40B4-BE49-F238E27FC236}">
                <a16:creationId xmlns:a16="http://schemas.microsoft.com/office/drawing/2014/main" id="{B2A9B151-3B23-4149-9404-C36572045870}"/>
              </a:ext>
            </a:extLst>
          </p:cNvPr>
          <p:cNvSpPr/>
          <p:nvPr/>
        </p:nvSpPr>
        <p:spPr>
          <a:xfrm>
            <a:off x="3735510" y="1992965"/>
            <a:ext cx="6303718" cy="2799549"/>
          </a:xfrm>
          <a:prstGeom prst="rect">
            <a:avLst/>
          </a:prstGeom>
        </p:spPr>
        <p:txBody>
          <a:bodyPr wrap="square">
            <a:spAutoFit/>
          </a:bodyPr>
          <a:lstStyle/>
          <a:p>
            <a:pPr eaLnBrk="1" hangingPunct="1">
              <a:lnSpc>
                <a:spcPct val="150000"/>
              </a:lnSpc>
              <a:spcBef>
                <a:spcPts val="1200"/>
              </a:spcBef>
              <a:defRPr/>
            </a:pPr>
            <a:r>
              <a:rPr lang="zh-CN" altLang="en-US" dirty="0">
                <a:solidFill>
                  <a:srgbClr val="104E87"/>
                </a:solidFill>
                <a:latin typeface="Comic Sans MS" panose="030F0702030302020204" pitchFamily="66" charset="0"/>
                <a:ea typeface="华光行书_CNKI" panose="02000500000000000000" pitchFamily="2" charset="-122"/>
              </a:rPr>
              <a:t>一个派生类多次继承同一个基类</a:t>
            </a:r>
          </a:p>
          <a:p>
            <a:pPr eaLnBrk="1" hangingPunct="1">
              <a:lnSpc>
                <a:spcPct val="150000"/>
              </a:lnSpc>
              <a:defRPr/>
            </a:pPr>
            <a:r>
              <a:rPr lang="en-US" altLang="zh-CN" dirty="0">
                <a:solidFill>
                  <a:srgbClr val="104E87"/>
                </a:solidFill>
                <a:latin typeface="Comic Sans MS" panose="030F0702030302020204" pitchFamily="66" charset="0"/>
                <a:ea typeface="华光行书_CNKI" panose="02000500000000000000" pitchFamily="2" charset="-122"/>
              </a:rPr>
              <a:t>1)</a:t>
            </a:r>
            <a:r>
              <a:rPr lang="zh-CN" altLang="en-US" dirty="0">
                <a:solidFill>
                  <a:srgbClr val="104E87"/>
                </a:solidFill>
                <a:latin typeface="Comic Sans MS" panose="030F0702030302020204" pitchFamily="66" charset="0"/>
                <a:ea typeface="华光行书_CNKI" panose="02000500000000000000" pitchFamily="2" charset="-122"/>
              </a:rPr>
              <a:t>复制继承：</a:t>
            </a:r>
            <a:endParaRPr lang="en-US" altLang="zh-CN" dirty="0">
              <a:solidFill>
                <a:srgbClr val="104E87"/>
              </a:solidFill>
              <a:latin typeface="Comic Sans MS" panose="030F0702030302020204" pitchFamily="66" charset="0"/>
              <a:ea typeface="华光行书_CNKI" panose="02000500000000000000" pitchFamily="2" charset="-122"/>
            </a:endParaRPr>
          </a:p>
          <a:p>
            <a:pPr eaLnBrk="1" hangingPunct="1">
              <a:lnSpc>
                <a:spcPct val="150000"/>
              </a:lnSpc>
              <a:defRPr/>
            </a:pPr>
            <a:r>
              <a:rPr lang="zh-CN" altLang="en-US" dirty="0">
                <a:solidFill>
                  <a:srgbClr val="104E87"/>
                </a:solidFill>
                <a:latin typeface="Comic Sans MS" panose="030F0702030302020204" pitchFamily="66" charset="0"/>
                <a:ea typeface="华光行书_CNKI" panose="02000500000000000000" pitchFamily="2" charset="-122"/>
              </a:rPr>
              <a:t>被多次重复继承的基类有多个实体副本	</a:t>
            </a:r>
          </a:p>
          <a:p>
            <a:pPr eaLnBrk="1" hangingPunct="1">
              <a:lnSpc>
                <a:spcPct val="150000"/>
              </a:lnSpc>
              <a:defRPr/>
            </a:pPr>
            <a:r>
              <a:rPr lang="en-US" altLang="zh-CN" dirty="0">
                <a:solidFill>
                  <a:srgbClr val="104E87"/>
                </a:solidFill>
                <a:latin typeface="Comic Sans MS" panose="030F0702030302020204" pitchFamily="66" charset="0"/>
                <a:ea typeface="华光行书_CNKI" panose="02000500000000000000" pitchFamily="2" charset="-122"/>
              </a:rPr>
              <a:t>2)</a:t>
            </a:r>
            <a:r>
              <a:rPr lang="zh-CN" altLang="en-US" dirty="0">
                <a:solidFill>
                  <a:srgbClr val="104E87"/>
                </a:solidFill>
                <a:latin typeface="Comic Sans MS" panose="030F0702030302020204" pitchFamily="66" charset="0"/>
                <a:ea typeface="华光行书_CNKI" panose="02000500000000000000" pitchFamily="2" charset="-122"/>
              </a:rPr>
              <a:t>共享继承：</a:t>
            </a:r>
            <a:endParaRPr lang="en-US" altLang="zh-CN" dirty="0">
              <a:solidFill>
                <a:srgbClr val="104E87"/>
              </a:solidFill>
              <a:latin typeface="Comic Sans MS" panose="030F0702030302020204" pitchFamily="66" charset="0"/>
              <a:ea typeface="华光行书_CNKI" panose="02000500000000000000" pitchFamily="2" charset="-122"/>
            </a:endParaRPr>
          </a:p>
          <a:p>
            <a:pPr eaLnBrk="1" hangingPunct="1">
              <a:lnSpc>
                <a:spcPct val="150000"/>
              </a:lnSpc>
              <a:defRPr/>
            </a:pPr>
            <a:r>
              <a:rPr lang="zh-CN" altLang="en-US" dirty="0">
                <a:solidFill>
                  <a:srgbClr val="104E87"/>
                </a:solidFill>
                <a:latin typeface="Comic Sans MS" panose="030F0702030302020204" pitchFamily="66" charset="0"/>
                <a:ea typeface="华光行书_CNKI" panose="02000500000000000000" pitchFamily="2" charset="-122"/>
              </a:rPr>
              <a:t>被多次重复继承的基类只有一个实体副本</a:t>
            </a:r>
          </a:p>
        </p:txBody>
      </p:sp>
    </p:spTree>
    <p:extLst>
      <p:ext uri="{BB962C8B-B14F-4D97-AF65-F5344CB8AC3E}">
        <p14:creationId xmlns:p14="http://schemas.microsoft.com/office/powerpoint/2010/main" val="29446103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9.5</a:t>
            </a:r>
            <a:r>
              <a:rPr lang="zh-CN" altLang="en-US" dirty="0">
                <a:sym typeface="+mn-lt"/>
              </a:rPr>
              <a:t>派生类同名成员</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6" name="矩形 4">
            <a:extLst>
              <a:ext uri="{FF2B5EF4-FFF2-40B4-BE49-F238E27FC236}">
                <a16:creationId xmlns:a16="http://schemas.microsoft.com/office/drawing/2014/main" id="{00A54BA1-1559-404E-99A4-ED1A5C8A3DD4}"/>
              </a:ext>
            </a:extLst>
          </p:cNvPr>
          <p:cNvSpPr>
            <a:spLocks noChangeArrowheads="1"/>
          </p:cNvSpPr>
          <p:nvPr/>
        </p:nvSpPr>
        <p:spPr bwMode="auto">
          <a:xfrm>
            <a:off x="1586" y="809302"/>
            <a:ext cx="6856413" cy="5632311"/>
          </a:xfrm>
          <a:prstGeom prst="rect">
            <a:avLst/>
          </a:prstGeom>
          <a:solidFill>
            <a:schemeClr val="accent5">
              <a:lumMod val="20000"/>
              <a:lumOff val="80000"/>
            </a:schemeClr>
          </a:solidFill>
          <a:ln>
            <a:noFill/>
          </a:ln>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class </a:t>
            </a:r>
            <a:r>
              <a:rPr lang="en-US" altLang="zh-CN" b="0" spc="-100" dirty="0">
                <a:solidFill>
                  <a:srgbClr val="FF0000"/>
                </a:solidFill>
                <a:latin typeface="Comic Sans MS" panose="030F0702030302020204" pitchFamily="66" charset="0"/>
                <a:ea typeface="华光隶变_CNKI" panose="02000500000000000000" pitchFamily="2" charset="-122"/>
              </a:rPr>
              <a:t>Base0 </a:t>
            </a:r>
            <a:r>
              <a:rPr lang="en-US" altLang="zh-CN" b="0" spc="-100" dirty="0">
                <a:solidFill>
                  <a:srgbClr val="104E87"/>
                </a:solidFill>
                <a:latin typeface="Comic Sans MS" panose="030F0702030302020204" pitchFamily="66" charset="0"/>
                <a:ea typeface="华光隶变_CNKI" panose="02000500000000000000" pitchFamily="2" charset="-122"/>
              </a:rPr>
              <a:t>{</a:t>
            </a:r>
          </a:p>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public:</a:t>
            </a:r>
          </a:p>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int var0;</a:t>
            </a:r>
          </a:p>
          <a:p>
            <a:pPr>
              <a:buFont typeface="Georgia" panose="02040502050405020303" pitchFamily="18" charset="0"/>
              <a:buNone/>
            </a:pPr>
            <a:r>
              <a:rPr lang="en-US" altLang="zh-CN" b="0" spc="-150" dirty="0">
                <a:solidFill>
                  <a:srgbClr val="104E87"/>
                </a:solidFill>
                <a:latin typeface="Comic Sans MS" panose="030F0702030302020204" pitchFamily="66" charset="0"/>
                <a:ea typeface="华光隶变_CNKI" panose="02000500000000000000" pitchFamily="2" charset="-122"/>
              </a:rPr>
              <a:t>void fun0(){</a:t>
            </a:r>
            <a:r>
              <a:rPr lang="en-US" altLang="zh-CN" b="0" spc="-150" dirty="0" err="1">
                <a:solidFill>
                  <a:srgbClr val="104E87"/>
                </a:solidFill>
                <a:latin typeface="Comic Sans MS" panose="030F0702030302020204" pitchFamily="66" charset="0"/>
                <a:ea typeface="华光隶变_CNKI" panose="02000500000000000000" pitchFamily="2" charset="-122"/>
              </a:rPr>
              <a:t>cout</a:t>
            </a:r>
            <a:r>
              <a:rPr lang="en-US" altLang="zh-CN" b="0" spc="-150" dirty="0">
                <a:solidFill>
                  <a:srgbClr val="104E87"/>
                </a:solidFill>
                <a:latin typeface="Comic Sans MS" panose="030F0702030302020204" pitchFamily="66" charset="0"/>
                <a:ea typeface="华光隶变_CNKI" panose="02000500000000000000" pitchFamily="2" charset="-122"/>
              </a:rPr>
              <a:t> &lt;&lt;"Member of Base0"&lt;&lt;</a:t>
            </a:r>
            <a:r>
              <a:rPr lang="en-US" altLang="zh-CN" b="0" spc="-150" dirty="0" err="1">
                <a:solidFill>
                  <a:srgbClr val="104E87"/>
                </a:solidFill>
                <a:latin typeface="Comic Sans MS" panose="030F0702030302020204" pitchFamily="66" charset="0"/>
                <a:ea typeface="华光隶变_CNKI" panose="02000500000000000000" pitchFamily="2" charset="-122"/>
              </a:rPr>
              <a:t>endl</a:t>
            </a:r>
            <a:r>
              <a:rPr lang="en-US" altLang="zh-CN" b="0" spc="-150" dirty="0">
                <a:solidFill>
                  <a:srgbClr val="104E87"/>
                </a:solidFill>
                <a:latin typeface="Comic Sans MS" panose="030F0702030302020204" pitchFamily="66" charset="0"/>
                <a:ea typeface="华光隶变_CNKI" panose="02000500000000000000" pitchFamily="2" charset="-122"/>
              </a:rPr>
              <a:t>;}</a:t>
            </a:r>
          </a:p>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a:t>
            </a:r>
          </a:p>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class Base1: </a:t>
            </a:r>
            <a:r>
              <a:rPr lang="en-US" altLang="zh-CN" b="0" spc="-100" dirty="0">
                <a:solidFill>
                  <a:srgbClr val="FF0000"/>
                </a:solidFill>
                <a:latin typeface="Comic Sans MS" panose="030F0702030302020204" pitchFamily="66" charset="0"/>
                <a:ea typeface="华光隶变_CNKI" panose="02000500000000000000" pitchFamily="2" charset="-122"/>
              </a:rPr>
              <a:t>public Base0 </a:t>
            </a:r>
            <a:r>
              <a:rPr lang="en-US" altLang="zh-CN" b="0" spc="-100" dirty="0">
                <a:solidFill>
                  <a:srgbClr val="104E87"/>
                </a:solidFill>
                <a:latin typeface="Comic Sans MS" panose="030F0702030302020204" pitchFamily="66" charset="0"/>
                <a:ea typeface="华光隶变_CNKI" panose="02000500000000000000" pitchFamily="2" charset="-122"/>
              </a:rPr>
              <a:t>{	</a:t>
            </a:r>
          </a:p>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public:</a:t>
            </a:r>
            <a:r>
              <a:rPr lang="zh-CN" altLang="en-US" b="0" spc="-100" dirty="0">
                <a:solidFill>
                  <a:srgbClr val="104E87"/>
                </a:solidFill>
                <a:latin typeface="Comic Sans MS" panose="030F0702030302020204" pitchFamily="66" charset="0"/>
                <a:ea typeface="华光隶变_CNKI" panose="02000500000000000000" pitchFamily="2" charset="-122"/>
              </a:rPr>
              <a:t>  </a:t>
            </a:r>
            <a:r>
              <a:rPr lang="en-US" altLang="zh-CN" b="0" spc="-100" dirty="0">
                <a:solidFill>
                  <a:srgbClr val="104E87"/>
                </a:solidFill>
                <a:latin typeface="Comic Sans MS" panose="030F0702030302020204" pitchFamily="66" charset="0"/>
                <a:ea typeface="华光隶变_CNKI" panose="02000500000000000000" pitchFamily="2" charset="-122"/>
              </a:rPr>
              <a:t>int var1;</a:t>
            </a:r>
          </a:p>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a:t>
            </a:r>
          </a:p>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class Base2: </a:t>
            </a:r>
            <a:r>
              <a:rPr lang="en-US" altLang="zh-CN" b="0" spc="-100" dirty="0">
                <a:solidFill>
                  <a:srgbClr val="FF0000"/>
                </a:solidFill>
                <a:latin typeface="Comic Sans MS" panose="030F0702030302020204" pitchFamily="66" charset="0"/>
                <a:ea typeface="华光隶变_CNKI" panose="02000500000000000000" pitchFamily="2" charset="-122"/>
              </a:rPr>
              <a:t>public Base0 </a:t>
            </a:r>
            <a:r>
              <a:rPr lang="en-US" altLang="zh-CN" b="0" spc="-100" dirty="0">
                <a:solidFill>
                  <a:srgbClr val="104E87"/>
                </a:solidFill>
                <a:latin typeface="Comic Sans MS" panose="030F0702030302020204" pitchFamily="66" charset="0"/>
                <a:ea typeface="华光隶变_CNKI" panose="02000500000000000000" pitchFamily="2" charset="-122"/>
              </a:rPr>
              <a:t>{	</a:t>
            </a:r>
          </a:p>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public:</a:t>
            </a:r>
            <a:r>
              <a:rPr lang="zh-CN" altLang="en-US" b="0" spc="-100" dirty="0">
                <a:solidFill>
                  <a:srgbClr val="104E87"/>
                </a:solidFill>
                <a:latin typeface="Comic Sans MS" panose="030F0702030302020204" pitchFamily="66" charset="0"/>
                <a:ea typeface="华光隶变_CNKI" panose="02000500000000000000" pitchFamily="2" charset="-122"/>
              </a:rPr>
              <a:t>  </a:t>
            </a:r>
            <a:r>
              <a:rPr lang="en-US" altLang="zh-CN" b="0" spc="-100" dirty="0">
                <a:solidFill>
                  <a:srgbClr val="104E87"/>
                </a:solidFill>
                <a:latin typeface="Comic Sans MS" panose="030F0702030302020204" pitchFamily="66" charset="0"/>
                <a:ea typeface="华光隶变_CNKI" panose="02000500000000000000" pitchFamily="2" charset="-122"/>
              </a:rPr>
              <a:t>int var2;</a:t>
            </a:r>
          </a:p>
          <a:p>
            <a:pPr>
              <a:buFont typeface="Georgia" panose="02040502050405020303" pitchFamily="18" charset="0"/>
              <a:buNone/>
            </a:pPr>
            <a:r>
              <a:rPr lang="en-US" altLang="zh-CN" b="0" spc="-100" dirty="0">
                <a:solidFill>
                  <a:srgbClr val="104E87"/>
                </a:solidFill>
                <a:latin typeface="Comic Sans MS" panose="030F0702030302020204" pitchFamily="66" charset="0"/>
                <a:ea typeface="华光隶变_CNKI" panose="02000500000000000000" pitchFamily="2" charset="-122"/>
              </a:rPr>
              <a:t>};</a:t>
            </a:r>
          </a:p>
          <a:p>
            <a:r>
              <a:rPr lang="en-US" altLang="zh-CN" b="0" spc="-100" dirty="0">
                <a:solidFill>
                  <a:srgbClr val="104E87"/>
                </a:solidFill>
                <a:latin typeface="Comic Sans MS" panose="030F0702030302020204" pitchFamily="66" charset="0"/>
                <a:ea typeface="华光隶变_CNKI" panose="02000500000000000000" pitchFamily="2" charset="-122"/>
              </a:rPr>
              <a:t>class Derived: </a:t>
            </a:r>
            <a:r>
              <a:rPr lang="en-US" altLang="zh-CN" b="0" spc="-100" dirty="0">
                <a:solidFill>
                  <a:srgbClr val="FF0000"/>
                </a:solidFill>
                <a:latin typeface="Comic Sans MS" panose="030F0702030302020204" pitchFamily="66" charset="0"/>
                <a:ea typeface="华光隶变_CNKI" panose="02000500000000000000" pitchFamily="2" charset="-122"/>
              </a:rPr>
              <a:t>public Base1, public Base2</a:t>
            </a:r>
            <a:r>
              <a:rPr lang="en-US" altLang="zh-CN" b="0" spc="-100" dirty="0">
                <a:solidFill>
                  <a:srgbClr val="104E87"/>
                </a:solidFill>
                <a:latin typeface="Comic Sans MS" panose="030F0702030302020204" pitchFamily="66" charset="0"/>
                <a:ea typeface="华光隶变_CNKI" panose="02000500000000000000" pitchFamily="2" charset="-122"/>
              </a:rPr>
              <a:t>{ </a:t>
            </a:r>
          </a:p>
          <a:p>
            <a:r>
              <a:rPr lang="en-US" altLang="zh-CN" b="0" spc="-100" dirty="0">
                <a:solidFill>
                  <a:srgbClr val="104E87"/>
                </a:solidFill>
                <a:latin typeface="Comic Sans MS" panose="030F0702030302020204" pitchFamily="66" charset="0"/>
                <a:ea typeface="华光隶变_CNKI" panose="02000500000000000000" pitchFamily="2" charset="-122"/>
              </a:rPr>
              <a:t>public:</a:t>
            </a:r>
            <a:r>
              <a:rPr lang="zh-CN" altLang="en-US" b="0" spc="-100" dirty="0">
                <a:solidFill>
                  <a:srgbClr val="104E87"/>
                </a:solidFill>
                <a:latin typeface="Comic Sans MS" panose="030F0702030302020204" pitchFamily="66" charset="0"/>
                <a:ea typeface="华光隶变_CNKI" panose="02000500000000000000" pitchFamily="2" charset="-122"/>
              </a:rPr>
              <a:t> </a:t>
            </a:r>
            <a:r>
              <a:rPr lang="en-US" altLang="zh-CN" b="0" spc="-100" dirty="0">
                <a:solidFill>
                  <a:srgbClr val="104E87"/>
                </a:solidFill>
                <a:latin typeface="Comic Sans MS" panose="030F0702030302020204" pitchFamily="66" charset="0"/>
                <a:ea typeface="华光隶变_CNKI" panose="02000500000000000000" pitchFamily="2" charset="-122"/>
              </a:rPr>
              <a:t>int var;</a:t>
            </a:r>
          </a:p>
          <a:p>
            <a:r>
              <a:rPr lang="en-US" altLang="zh-CN" b="0" spc="-140" dirty="0">
                <a:solidFill>
                  <a:srgbClr val="104E87"/>
                </a:solidFill>
                <a:latin typeface="Comic Sans MS" panose="030F0702030302020204" pitchFamily="66" charset="0"/>
                <a:ea typeface="华光隶变_CNKI" panose="02000500000000000000" pitchFamily="2" charset="-122"/>
              </a:rPr>
              <a:t>void fun(){</a:t>
            </a:r>
            <a:r>
              <a:rPr lang="en-US" altLang="zh-CN" b="0" spc="-140" dirty="0" err="1">
                <a:solidFill>
                  <a:srgbClr val="104E87"/>
                </a:solidFill>
                <a:latin typeface="Comic Sans MS" panose="030F0702030302020204" pitchFamily="66" charset="0"/>
                <a:ea typeface="华光隶变_CNKI" panose="02000500000000000000" pitchFamily="2" charset="-122"/>
              </a:rPr>
              <a:t>cout</a:t>
            </a:r>
            <a:r>
              <a:rPr lang="en-US" altLang="zh-CN" b="0" spc="-140" dirty="0">
                <a:solidFill>
                  <a:srgbClr val="104E87"/>
                </a:solidFill>
                <a:latin typeface="Comic Sans MS" panose="030F0702030302020204" pitchFamily="66" charset="0"/>
                <a:ea typeface="华光隶变_CNKI" panose="02000500000000000000" pitchFamily="2" charset="-122"/>
              </a:rPr>
              <a:t>&lt;&lt;"Member of Derived" &lt;&lt;</a:t>
            </a:r>
            <a:r>
              <a:rPr lang="en-US" altLang="zh-CN" b="0" spc="-140" dirty="0" err="1">
                <a:solidFill>
                  <a:srgbClr val="104E87"/>
                </a:solidFill>
                <a:latin typeface="Comic Sans MS" panose="030F0702030302020204" pitchFamily="66" charset="0"/>
                <a:ea typeface="华光隶变_CNKI" panose="02000500000000000000" pitchFamily="2" charset="-122"/>
              </a:rPr>
              <a:t>endl</a:t>
            </a:r>
            <a:r>
              <a:rPr lang="en-US" altLang="zh-CN" b="0" spc="-140" dirty="0">
                <a:solidFill>
                  <a:srgbClr val="104E87"/>
                </a:solidFill>
                <a:latin typeface="Comic Sans MS" panose="030F0702030302020204" pitchFamily="66" charset="0"/>
                <a:ea typeface="华光隶变_CNKI" panose="02000500000000000000" pitchFamily="2" charset="-122"/>
              </a:rPr>
              <a:t>; }</a:t>
            </a:r>
          </a:p>
          <a:p>
            <a:r>
              <a:rPr lang="en-US" altLang="zh-CN" b="0" spc="-100" dirty="0">
                <a:solidFill>
                  <a:srgbClr val="104E87"/>
                </a:solidFill>
                <a:latin typeface="Comic Sans MS" panose="030F0702030302020204" pitchFamily="66" charset="0"/>
                <a:ea typeface="华光隶变_CNKI" panose="02000500000000000000" pitchFamily="2" charset="-122"/>
              </a:rPr>
              <a:t>};</a:t>
            </a:r>
          </a:p>
        </p:txBody>
      </p:sp>
      <p:sp>
        <p:nvSpPr>
          <p:cNvPr id="8" name="文本框 7">
            <a:extLst>
              <a:ext uri="{FF2B5EF4-FFF2-40B4-BE49-F238E27FC236}">
                <a16:creationId xmlns:a16="http://schemas.microsoft.com/office/drawing/2014/main" id="{01DF17CA-6E0B-47FF-B77D-BD93DE208044}"/>
              </a:ext>
            </a:extLst>
          </p:cNvPr>
          <p:cNvSpPr txBox="1"/>
          <p:nvPr/>
        </p:nvSpPr>
        <p:spPr>
          <a:xfrm>
            <a:off x="5812734" y="58071"/>
            <a:ext cx="4005016" cy="3046988"/>
          </a:xfrm>
          <a:prstGeom prst="rect">
            <a:avLst/>
          </a:prstGeom>
          <a:solidFill>
            <a:schemeClr val="accent1">
              <a:lumMod val="20000"/>
              <a:lumOff val="80000"/>
            </a:schemeClr>
          </a:solidFill>
          <a:ln>
            <a:noFill/>
          </a:ln>
        </p:spPr>
        <p:txBody>
          <a:bodyPr wrap="square">
            <a:spAutoFit/>
          </a:bodyPr>
          <a:lstStyle>
            <a:defPPr>
              <a:defRPr lang="en-US"/>
            </a:defPPr>
            <a:lvl1pPr>
              <a:buFont typeface="Georgia" panose="02040502050405020303" pitchFamily="18" charset="0"/>
              <a:buNone/>
              <a:defRPr b="0" spc="-100">
                <a:solidFill>
                  <a:srgbClr val="104E87"/>
                </a:solidFill>
                <a:latin typeface="Comic Sans MS" panose="030F0702030302020204" pitchFamily="66" charset="0"/>
                <a:ea typeface="华光隶变_CNKI" panose="02000500000000000000"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en-US" altLang="zh-CN" dirty="0">
                <a:latin typeface="华光行书_CNKI" panose="02000500000000000000" pitchFamily="2" charset="-122"/>
                <a:ea typeface="华光行书_CNKI" panose="02000500000000000000" pitchFamily="2" charset="-122"/>
              </a:rPr>
              <a:t>int main() {</a:t>
            </a:r>
            <a:endParaRPr lang="zh-CN" altLang="en-US" dirty="0">
              <a:latin typeface="华光行书_CNKI" panose="02000500000000000000" pitchFamily="2" charset="-122"/>
              <a:ea typeface="华光行书_CNKI" panose="02000500000000000000" pitchFamily="2" charset="-122"/>
            </a:endParaRPr>
          </a:p>
          <a:p>
            <a:r>
              <a:rPr lang="zh-CN" altLang="en-US" dirty="0">
                <a:latin typeface="华光行书_CNKI" panose="02000500000000000000" pitchFamily="2" charset="-122"/>
                <a:ea typeface="华光行书_CNKI" panose="02000500000000000000" pitchFamily="2" charset="-122"/>
              </a:rPr>
              <a:t>	</a:t>
            </a:r>
            <a:r>
              <a:rPr lang="en-US" altLang="zh-CN" dirty="0">
                <a:latin typeface="华光行书_CNKI" panose="02000500000000000000" pitchFamily="2" charset="-122"/>
                <a:ea typeface="华光行书_CNKI" panose="02000500000000000000" pitchFamily="2" charset="-122"/>
              </a:rPr>
              <a:t>Derived d;			</a:t>
            </a:r>
          </a:p>
          <a:p>
            <a:r>
              <a:rPr lang="en-US" altLang="zh-CN" dirty="0">
                <a:latin typeface="华光行书_CNKI" panose="02000500000000000000" pitchFamily="2" charset="-122"/>
                <a:ea typeface="华光行书_CNKI" panose="02000500000000000000" pitchFamily="2" charset="-122"/>
              </a:rPr>
              <a:t>	d.</a:t>
            </a:r>
            <a:r>
              <a:rPr lang="en-US" altLang="zh-CN" dirty="0">
                <a:solidFill>
                  <a:srgbClr val="FF0000"/>
                </a:solidFill>
                <a:latin typeface="华光行书_CNKI" panose="02000500000000000000" pitchFamily="2" charset="-122"/>
                <a:ea typeface="华光行书_CNKI" panose="02000500000000000000" pitchFamily="2" charset="-122"/>
              </a:rPr>
              <a:t>Base1::</a:t>
            </a:r>
            <a:r>
              <a:rPr lang="en-US" altLang="zh-CN" dirty="0">
                <a:latin typeface="华光行书_CNKI" panose="02000500000000000000" pitchFamily="2" charset="-122"/>
                <a:ea typeface="华光行书_CNKI" panose="02000500000000000000" pitchFamily="2" charset="-122"/>
              </a:rPr>
              <a:t>var0 = 2;	</a:t>
            </a:r>
          </a:p>
          <a:p>
            <a:r>
              <a:rPr lang="zh-CN" altLang="en-US" dirty="0">
                <a:latin typeface="华光行书_CNKI" panose="02000500000000000000" pitchFamily="2" charset="-122"/>
                <a:ea typeface="华光行书_CNKI" panose="02000500000000000000" pitchFamily="2" charset="-122"/>
              </a:rPr>
              <a:t>	</a:t>
            </a:r>
            <a:r>
              <a:rPr lang="en-US" altLang="zh-CN" dirty="0">
                <a:latin typeface="华光行书_CNKI" panose="02000500000000000000" pitchFamily="2" charset="-122"/>
                <a:ea typeface="华光行书_CNKI" panose="02000500000000000000" pitchFamily="2" charset="-122"/>
              </a:rPr>
              <a:t>d.</a:t>
            </a:r>
            <a:r>
              <a:rPr lang="en-US" altLang="zh-CN" dirty="0">
                <a:solidFill>
                  <a:srgbClr val="FF0000"/>
                </a:solidFill>
                <a:latin typeface="华光行书_CNKI" panose="02000500000000000000" pitchFamily="2" charset="-122"/>
                <a:ea typeface="华光行书_CNKI" panose="02000500000000000000" pitchFamily="2" charset="-122"/>
              </a:rPr>
              <a:t>Base1::</a:t>
            </a:r>
            <a:r>
              <a:rPr lang="en-US" altLang="zh-CN" dirty="0">
                <a:latin typeface="华光行书_CNKI" panose="02000500000000000000" pitchFamily="2" charset="-122"/>
                <a:ea typeface="华光行书_CNKI" panose="02000500000000000000" pitchFamily="2" charset="-122"/>
              </a:rPr>
              <a:t>fun0();</a:t>
            </a:r>
          </a:p>
          <a:p>
            <a:r>
              <a:rPr lang="en-US" altLang="zh-CN" dirty="0">
                <a:latin typeface="华光行书_CNKI" panose="02000500000000000000" pitchFamily="2" charset="-122"/>
                <a:ea typeface="华光行书_CNKI" panose="02000500000000000000" pitchFamily="2" charset="-122"/>
              </a:rPr>
              <a:t>	d.</a:t>
            </a:r>
            <a:r>
              <a:rPr lang="en-US" altLang="zh-CN" dirty="0">
                <a:solidFill>
                  <a:srgbClr val="FF0000"/>
                </a:solidFill>
                <a:latin typeface="华光行书_CNKI" panose="02000500000000000000" pitchFamily="2" charset="-122"/>
                <a:ea typeface="华光行书_CNKI" panose="02000500000000000000" pitchFamily="2" charset="-122"/>
              </a:rPr>
              <a:t>Base2::</a:t>
            </a:r>
            <a:r>
              <a:rPr lang="en-US" altLang="zh-CN" dirty="0">
                <a:latin typeface="华光行书_CNKI" panose="02000500000000000000" pitchFamily="2" charset="-122"/>
                <a:ea typeface="华光行书_CNKI" panose="02000500000000000000" pitchFamily="2" charset="-122"/>
              </a:rPr>
              <a:t>var0 = 3;	</a:t>
            </a:r>
          </a:p>
          <a:p>
            <a:r>
              <a:rPr lang="zh-CN" altLang="en-US" dirty="0">
                <a:latin typeface="华光行书_CNKI" panose="02000500000000000000" pitchFamily="2" charset="-122"/>
                <a:ea typeface="华光行书_CNKI" panose="02000500000000000000" pitchFamily="2" charset="-122"/>
              </a:rPr>
              <a:t>	</a:t>
            </a:r>
            <a:r>
              <a:rPr lang="en-US" altLang="zh-CN" dirty="0">
                <a:latin typeface="华光行书_CNKI" panose="02000500000000000000" pitchFamily="2" charset="-122"/>
                <a:ea typeface="华光行书_CNKI" panose="02000500000000000000" pitchFamily="2" charset="-122"/>
              </a:rPr>
              <a:t>d.</a:t>
            </a:r>
            <a:r>
              <a:rPr lang="en-US" altLang="zh-CN" dirty="0">
                <a:solidFill>
                  <a:srgbClr val="FF0000"/>
                </a:solidFill>
                <a:latin typeface="华光行书_CNKI" panose="02000500000000000000" pitchFamily="2" charset="-122"/>
                <a:ea typeface="华光行书_CNKI" panose="02000500000000000000" pitchFamily="2" charset="-122"/>
              </a:rPr>
              <a:t>Base2::</a:t>
            </a:r>
            <a:r>
              <a:rPr lang="en-US" altLang="zh-CN" dirty="0">
                <a:latin typeface="华光行书_CNKI" panose="02000500000000000000" pitchFamily="2" charset="-122"/>
                <a:ea typeface="华光行书_CNKI" panose="02000500000000000000" pitchFamily="2" charset="-122"/>
              </a:rPr>
              <a:t>fun0();</a:t>
            </a:r>
          </a:p>
          <a:p>
            <a:r>
              <a:rPr lang="en-US" altLang="zh-CN" dirty="0">
                <a:latin typeface="华光行书_CNKI" panose="02000500000000000000" pitchFamily="2" charset="-122"/>
                <a:ea typeface="华光行书_CNKI" panose="02000500000000000000" pitchFamily="2" charset="-122"/>
              </a:rPr>
              <a:t>	return 0;</a:t>
            </a:r>
          </a:p>
          <a:p>
            <a:r>
              <a:rPr lang="en-US" altLang="zh-CN" dirty="0">
                <a:latin typeface="华光行书_CNKI" panose="02000500000000000000" pitchFamily="2" charset="-122"/>
                <a:ea typeface="华光行书_CNKI" panose="02000500000000000000" pitchFamily="2" charset="-122"/>
              </a:rPr>
              <a:t>}</a:t>
            </a:r>
          </a:p>
        </p:txBody>
      </p:sp>
      <p:grpSp>
        <p:nvGrpSpPr>
          <p:cNvPr id="19" name="Group 31">
            <a:extLst>
              <a:ext uri="{FF2B5EF4-FFF2-40B4-BE49-F238E27FC236}">
                <a16:creationId xmlns:a16="http://schemas.microsoft.com/office/drawing/2014/main" id="{177284D4-26AA-4F61-A563-3E837AF0328F}"/>
              </a:ext>
            </a:extLst>
          </p:cNvPr>
          <p:cNvGrpSpPr>
            <a:grpSpLocks/>
          </p:cNvGrpSpPr>
          <p:nvPr/>
        </p:nvGrpSpPr>
        <p:grpSpPr bwMode="auto">
          <a:xfrm>
            <a:off x="5885605" y="3219885"/>
            <a:ext cx="4231666" cy="2126637"/>
            <a:chOff x="1008" y="1438"/>
            <a:chExt cx="3260" cy="1485"/>
          </a:xfrm>
        </p:grpSpPr>
        <p:sp>
          <p:nvSpPr>
            <p:cNvPr id="20" name="Freeform 5">
              <a:extLst>
                <a:ext uri="{FF2B5EF4-FFF2-40B4-BE49-F238E27FC236}">
                  <a16:creationId xmlns:a16="http://schemas.microsoft.com/office/drawing/2014/main" id="{EE02098B-A7C8-415D-9CD0-1216F4ECE488}"/>
                </a:ext>
              </a:extLst>
            </p:cNvPr>
            <p:cNvSpPr>
              <a:spLocks/>
            </p:cNvSpPr>
            <p:nvPr/>
          </p:nvSpPr>
          <p:spPr bwMode="auto">
            <a:xfrm>
              <a:off x="1008" y="1440"/>
              <a:ext cx="2874" cy="1483"/>
            </a:xfrm>
            <a:custGeom>
              <a:avLst/>
              <a:gdLst>
                <a:gd name="T0" fmla="*/ 3648 w 3696"/>
                <a:gd name="T1" fmla="*/ 0 h 2112"/>
                <a:gd name="T2" fmla="*/ 0 w 3696"/>
                <a:gd name="T3" fmla="*/ 0 h 2112"/>
                <a:gd name="T4" fmla="*/ 0 w 3696"/>
                <a:gd name="T5" fmla="*/ 2112 h 2112"/>
                <a:gd name="T6" fmla="*/ 3696 w 3696"/>
                <a:gd name="T7" fmla="*/ 2112 h 2112"/>
                <a:gd name="T8" fmla="*/ 0 60000 65536"/>
                <a:gd name="T9" fmla="*/ 0 60000 65536"/>
                <a:gd name="T10" fmla="*/ 0 60000 65536"/>
                <a:gd name="T11" fmla="*/ 0 60000 65536"/>
                <a:gd name="T12" fmla="*/ 0 w 3696"/>
                <a:gd name="T13" fmla="*/ 0 h 2112"/>
                <a:gd name="T14" fmla="*/ 3696 w 3696"/>
                <a:gd name="T15" fmla="*/ 2112 h 2112"/>
              </a:gdLst>
              <a:ahLst/>
              <a:cxnLst>
                <a:cxn ang="T8">
                  <a:pos x="T0" y="T1"/>
                </a:cxn>
                <a:cxn ang="T9">
                  <a:pos x="T2" y="T3"/>
                </a:cxn>
                <a:cxn ang="T10">
                  <a:pos x="T4" y="T5"/>
                </a:cxn>
                <a:cxn ang="T11">
                  <a:pos x="T6" y="T7"/>
                </a:cxn>
              </a:cxnLst>
              <a:rect l="T12" t="T13" r="T14" b="T15"/>
              <a:pathLst>
                <a:path w="3696" h="2112">
                  <a:moveTo>
                    <a:pt x="3648" y="0"/>
                  </a:moveTo>
                  <a:lnTo>
                    <a:pt x="0" y="0"/>
                  </a:lnTo>
                  <a:lnTo>
                    <a:pt x="0" y="2112"/>
                  </a:lnTo>
                  <a:lnTo>
                    <a:pt x="3696" y="2112"/>
                  </a:lnTo>
                </a:path>
              </a:pathLst>
            </a:custGeom>
            <a:noFill/>
            <a:ln w="9525">
              <a:solidFill>
                <a:srgbClr val="104E87"/>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21" name="Line 8">
              <a:extLst>
                <a:ext uri="{FF2B5EF4-FFF2-40B4-BE49-F238E27FC236}">
                  <a16:creationId xmlns:a16="http://schemas.microsoft.com/office/drawing/2014/main" id="{5032ED61-6300-4BA4-8916-A05B68E00FFC}"/>
                </a:ext>
              </a:extLst>
            </p:cNvPr>
            <p:cNvSpPr>
              <a:spLocks noChangeShapeType="1"/>
            </p:cNvSpPr>
            <p:nvPr/>
          </p:nvSpPr>
          <p:spPr bwMode="auto">
            <a:xfrm>
              <a:off x="1617" y="1440"/>
              <a:ext cx="0" cy="1465"/>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22" name="Line 9">
              <a:extLst>
                <a:ext uri="{FF2B5EF4-FFF2-40B4-BE49-F238E27FC236}">
                  <a16:creationId xmlns:a16="http://schemas.microsoft.com/office/drawing/2014/main" id="{C6F741B5-7E73-4A72-B2BA-2554D2CFC5BE}"/>
                </a:ext>
              </a:extLst>
            </p:cNvPr>
            <p:cNvSpPr>
              <a:spLocks noChangeShapeType="1"/>
            </p:cNvSpPr>
            <p:nvPr/>
          </p:nvSpPr>
          <p:spPr bwMode="auto">
            <a:xfrm>
              <a:off x="1008" y="2592"/>
              <a:ext cx="2274" cy="5"/>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23" name="Line 10">
              <a:extLst>
                <a:ext uri="{FF2B5EF4-FFF2-40B4-BE49-F238E27FC236}">
                  <a16:creationId xmlns:a16="http://schemas.microsoft.com/office/drawing/2014/main" id="{42D43AD0-F2C3-4835-B786-9F8A63E1FB7E}"/>
                </a:ext>
              </a:extLst>
            </p:cNvPr>
            <p:cNvSpPr>
              <a:spLocks noChangeShapeType="1"/>
            </p:cNvSpPr>
            <p:nvPr/>
          </p:nvSpPr>
          <p:spPr bwMode="auto">
            <a:xfrm>
              <a:off x="1008" y="2360"/>
              <a:ext cx="1528" cy="5"/>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25" name="Line 11">
              <a:extLst>
                <a:ext uri="{FF2B5EF4-FFF2-40B4-BE49-F238E27FC236}">
                  <a16:creationId xmlns:a16="http://schemas.microsoft.com/office/drawing/2014/main" id="{AD9E5BE4-DB83-4265-9AA1-235B612C6D3F}"/>
                </a:ext>
              </a:extLst>
            </p:cNvPr>
            <p:cNvSpPr>
              <a:spLocks noChangeShapeType="1"/>
            </p:cNvSpPr>
            <p:nvPr/>
          </p:nvSpPr>
          <p:spPr bwMode="auto">
            <a:xfrm flipV="1">
              <a:off x="1008" y="2007"/>
              <a:ext cx="2224" cy="9"/>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27" name="Line 12">
              <a:extLst>
                <a:ext uri="{FF2B5EF4-FFF2-40B4-BE49-F238E27FC236}">
                  <a16:creationId xmlns:a16="http://schemas.microsoft.com/office/drawing/2014/main" id="{E321B627-8D98-4606-B0A7-38BEE10CDD54}"/>
                </a:ext>
              </a:extLst>
            </p:cNvPr>
            <p:cNvSpPr>
              <a:spLocks noChangeShapeType="1"/>
            </p:cNvSpPr>
            <p:nvPr/>
          </p:nvSpPr>
          <p:spPr bwMode="auto">
            <a:xfrm flipV="1">
              <a:off x="1008" y="1779"/>
              <a:ext cx="1551" cy="1"/>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28" name="Text Box 13">
              <a:extLst>
                <a:ext uri="{FF2B5EF4-FFF2-40B4-BE49-F238E27FC236}">
                  <a16:creationId xmlns:a16="http://schemas.microsoft.com/office/drawing/2014/main" id="{7B592474-DD75-4418-AE6E-E16058DD4C62}"/>
                </a:ext>
              </a:extLst>
            </p:cNvPr>
            <p:cNvSpPr txBox="1">
              <a:spLocks noChangeArrowheads="1"/>
            </p:cNvSpPr>
            <p:nvPr/>
          </p:nvSpPr>
          <p:spPr bwMode="auto">
            <a:xfrm>
              <a:off x="1031" y="1453"/>
              <a:ext cx="685" cy="2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solidFill>
                    <a:srgbClr val="104E87"/>
                  </a:solidFill>
                  <a:latin typeface="华光行书_CNKI" panose="02000500000000000000" pitchFamily="2" charset="-122"/>
                  <a:ea typeface="华光行书_CNKI" panose="02000500000000000000" pitchFamily="2" charset="-122"/>
                </a:rPr>
                <a:t>var0</a:t>
              </a:r>
            </a:p>
          </p:txBody>
        </p:sp>
        <p:sp>
          <p:nvSpPr>
            <p:cNvPr id="29" name="Text Box 14">
              <a:extLst>
                <a:ext uri="{FF2B5EF4-FFF2-40B4-BE49-F238E27FC236}">
                  <a16:creationId xmlns:a16="http://schemas.microsoft.com/office/drawing/2014/main" id="{F2083949-7DD5-4937-A140-9036DC468D8A}"/>
                </a:ext>
              </a:extLst>
            </p:cNvPr>
            <p:cNvSpPr txBox="1">
              <a:spLocks noChangeArrowheads="1"/>
            </p:cNvSpPr>
            <p:nvPr/>
          </p:nvSpPr>
          <p:spPr bwMode="auto">
            <a:xfrm>
              <a:off x="1045" y="1735"/>
              <a:ext cx="726" cy="2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solidFill>
                    <a:srgbClr val="104E87"/>
                  </a:solidFill>
                  <a:latin typeface="华光行书_CNKI" panose="02000500000000000000" pitchFamily="2" charset="-122"/>
                  <a:ea typeface="华光行书_CNKI" panose="02000500000000000000" pitchFamily="2" charset="-122"/>
                </a:rPr>
                <a:t>var1</a:t>
              </a:r>
            </a:p>
          </p:txBody>
        </p:sp>
        <p:sp>
          <p:nvSpPr>
            <p:cNvPr id="30" name="Text Box 15">
              <a:extLst>
                <a:ext uri="{FF2B5EF4-FFF2-40B4-BE49-F238E27FC236}">
                  <a16:creationId xmlns:a16="http://schemas.microsoft.com/office/drawing/2014/main" id="{09C3D932-2480-418C-AE46-28132BC9DC86}"/>
                </a:ext>
              </a:extLst>
            </p:cNvPr>
            <p:cNvSpPr txBox="1">
              <a:spLocks noChangeArrowheads="1"/>
            </p:cNvSpPr>
            <p:nvPr/>
          </p:nvSpPr>
          <p:spPr bwMode="auto">
            <a:xfrm>
              <a:off x="1019" y="2046"/>
              <a:ext cx="635" cy="2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solidFill>
                    <a:srgbClr val="104E87"/>
                  </a:solidFill>
                  <a:latin typeface="华光行书_CNKI" panose="02000500000000000000" pitchFamily="2" charset="-122"/>
                  <a:ea typeface="华光行书_CNKI" panose="02000500000000000000" pitchFamily="2" charset="-122"/>
                </a:rPr>
                <a:t>var0</a:t>
              </a:r>
            </a:p>
          </p:txBody>
        </p:sp>
        <p:sp>
          <p:nvSpPr>
            <p:cNvPr id="31" name="Text Box 16">
              <a:extLst>
                <a:ext uri="{FF2B5EF4-FFF2-40B4-BE49-F238E27FC236}">
                  <a16:creationId xmlns:a16="http://schemas.microsoft.com/office/drawing/2014/main" id="{26BFCE9C-B282-4C4A-853D-CF87438AF2CA}"/>
                </a:ext>
              </a:extLst>
            </p:cNvPr>
            <p:cNvSpPr txBox="1">
              <a:spLocks noChangeArrowheads="1"/>
            </p:cNvSpPr>
            <p:nvPr/>
          </p:nvSpPr>
          <p:spPr bwMode="auto">
            <a:xfrm>
              <a:off x="1017" y="2318"/>
              <a:ext cx="631" cy="2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solidFill>
                    <a:srgbClr val="104E87"/>
                  </a:solidFill>
                  <a:latin typeface="华光行书_CNKI" panose="02000500000000000000" pitchFamily="2" charset="-122"/>
                  <a:ea typeface="华光行书_CNKI" panose="02000500000000000000" pitchFamily="2" charset="-122"/>
                </a:rPr>
                <a:t>var2</a:t>
              </a:r>
            </a:p>
          </p:txBody>
        </p:sp>
        <p:sp>
          <p:nvSpPr>
            <p:cNvPr id="32" name="Text Box 17">
              <a:extLst>
                <a:ext uri="{FF2B5EF4-FFF2-40B4-BE49-F238E27FC236}">
                  <a16:creationId xmlns:a16="http://schemas.microsoft.com/office/drawing/2014/main" id="{7948CBCB-1ABD-49D8-BDBD-F4BC4A81F1FC}"/>
                </a:ext>
              </a:extLst>
            </p:cNvPr>
            <p:cNvSpPr txBox="1">
              <a:spLocks noChangeArrowheads="1"/>
            </p:cNvSpPr>
            <p:nvPr/>
          </p:nvSpPr>
          <p:spPr bwMode="auto">
            <a:xfrm>
              <a:off x="1033" y="2603"/>
              <a:ext cx="594" cy="2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solidFill>
                    <a:srgbClr val="104E87"/>
                  </a:solidFill>
                  <a:latin typeface="华光行书_CNKI" panose="02000500000000000000" pitchFamily="2" charset="-122"/>
                  <a:ea typeface="华光行书_CNKI" panose="02000500000000000000" pitchFamily="2" charset="-122"/>
                </a:rPr>
                <a:t>var</a:t>
              </a:r>
            </a:p>
          </p:txBody>
        </p:sp>
        <p:sp>
          <p:nvSpPr>
            <p:cNvPr id="33" name="Line 19">
              <a:extLst>
                <a:ext uri="{FF2B5EF4-FFF2-40B4-BE49-F238E27FC236}">
                  <a16:creationId xmlns:a16="http://schemas.microsoft.com/office/drawing/2014/main" id="{C10EED13-E356-417D-A0FE-CB7961536611}"/>
                </a:ext>
              </a:extLst>
            </p:cNvPr>
            <p:cNvSpPr>
              <a:spLocks noChangeShapeType="1"/>
            </p:cNvSpPr>
            <p:nvPr/>
          </p:nvSpPr>
          <p:spPr bwMode="auto">
            <a:xfrm>
              <a:off x="2338" y="1440"/>
              <a:ext cx="0" cy="346"/>
            </a:xfrm>
            <a:prstGeom prst="line">
              <a:avLst/>
            </a:prstGeom>
            <a:noFill/>
            <a:ln w="9525">
              <a:solidFill>
                <a:srgbClr val="104E87"/>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34" name="Line 20">
              <a:extLst>
                <a:ext uri="{FF2B5EF4-FFF2-40B4-BE49-F238E27FC236}">
                  <a16:creationId xmlns:a16="http://schemas.microsoft.com/office/drawing/2014/main" id="{9D1F6EAA-99D0-44A6-8ED0-32C1DC9271C0}"/>
                </a:ext>
              </a:extLst>
            </p:cNvPr>
            <p:cNvSpPr>
              <a:spLocks noChangeShapeType="1"/>
            </p:cNvSpPr>
            <p:nvPr/>
          </p:nvSpPr>
          <p:spPr bwMode="auto">
            <a:xfrm>
              <a:off x="2353" y="2013"/>
              <a:ext cx="19" cy="347"/>
            </a:xfrm>
            <a:prstGeom prst="line">
              <a:avLst/>
            </a:prstGeom>
            <a:noFill/>
            <a:ln w="9525">
              <a:solidFill>
                <a:srgbClr val="104E87"/>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35" name="Line 21">
              <a:extLst>
                <a:ext uri="{FF2B5EF4-FFF2-40B4-BE49-F238E27FC236}">
                  <a16:creationId xmlns:a16="http://schemas.microsoft.com/office/drawing/2014/main" id="{E7AA9AA8-52E3-42C3-A865-B0A7777D73B6}"/>
                </a:ext>
              </a:extLst>
            </p:cNvPr>
            <p:cNvSpPr>
              <a:spLocks noChangeShapeType="1"/>
            </p:cNvSpPr>
            <p:nvPr/>
          </p:nvSpPr>
          <p:spPr bwMode="auto">
            <a:xfrm>
              <a:off x="3232" y="1440"/>
              <a:ext cx="0" cy="573"/>
            </a:xfrm>
            <a:prstGeom prst="line">
              <a:avLst/>
            </a:prstGeom>
            <a:noFill/>
            <a:ln w="9525">
              <a:solidFill>
                <a:srgbClr val="104E87"/>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36" name="Line 23">
              <a:extLst>
                <a:ext uri="{FF2B5EF4-FFF2-40B4-BE49-F238E27FC236}">
                  <a16:creationId xmlns:a16="http://schemas.microsoft.com/office/drawing/2014/main" id="{58FCC9C0-76ED-44E3-BCFA-A6EFD25729A8}"/>
                </a:ext>
              </a:extLst>
            </p:cNvPr>
            <p:cNvSpPr>
              <a:spLocks noChangeShapeType="1"/>
            </p:cNvSpPr>
            <p:nvPr/>
          </p:nvSpPr>
          <p:spPr bwMode="auto">
            <a:xfrm>
              <a:off x="3232" y="1998"/>
              <a:ext cx="0" cy="611"/>
            </a:xfrm>
            <a:prstGeom prst="line">
              <a:avLst/>
            </a:prstGeom>
            <a:noFill/>
            <a:ln w="9525">
              <a:solidFill>
                <a:srgbClr val="104E87"/>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37" name="Line 24">
              <a:extLst>
                <a:ext uri="{FF2B5EF4-FFF2-40B4-BE49-F238E27FC236}">
                  <a16:creationId xmlns:a16="http://schemas.microsoft.com/office/drawing/2014/main" id="{9AA8FB55-34C5-4EBE-8A03-76DEE42273D9}"/>
                </a:ext>
              </a:extLst>
            </p:cNvPr>
            <p:cNvSpPr>
              <a:spLocks noChangeShapeType="1"/>
            </p:cNvSpPr>
            <p:nvPr/>
          </p:nvSpPr>
          <p:spPr bwMode="auto">
            <a:xfrm>
              <a:off x="3836" y="1440"/>
              <a:ext cx="0" cy="1454"/>
            </a:xfrm>
            <a:prstGeom prst="line">
              <a:avLst/>
            </a:prstGeom>
            <a:noFill/>
            <a:ln w="9525">
              <a:solidFill>
                <a:srgbClr val="104E87"/>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华光行书_CNKI" panose="02000500000000000000" pitchFamily="2" charset="-122"/>
                <a:ea typeface="华光行书_CNKI" panose="02000500000000000000" pitchFamily="2" charset="-122"/>
              </a:endParaRPr>
            </a:p>
          </p:txBody>
        </p:sp>
        <p:sp>
          <p:nvSpPr>
            <p:cNvPr id="38" name="Text Box 25">
              <a:extLst>
                <a:ext uri="{FF2B5EF4-FFF2-40B4-BE49-F238E27FC236}">
                  <a16:creationId xmlns:a16="http://schemas.microsoft.com/office/drawing/2014/main" id="{BF6E1CF5-4AE8-4AC9-B679-90627A3DE95E}"/>
                </a:ext>
              </a:extLst>
            </p:cNvPr>
            <p:cNvSpPr txBox="1">
              <a:spLocks noChangeArrowheads="1"/>
            </p:cNvSpPr>
            <p:nvPr/>
          </p:nvSpPr>
          <p:spPr bwMode="auto">
            <a:xfrm>
              <a:off x="1631" y="1438"/>
              <a:ext cx="775" cy="41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000" b="0" dirty="0">
                  <a:solidFill>
                    <a:srgbClr val="104E87"/>
                  </a:solidFill>
                  <a:latin typeface="华光行书_CNKI" panose="02000500000000000000" pitchFamily="2" charset="-122"/>
                  <a:ea typeface="华光行书_CNKI" panose="02000500000000000000" pitchFamily="2" charset="-122"/>
                </a:rPr>
                <a:t>Base0</a:t>
              </a:r>
            </a:p>
            <a:p>
              <a:pPr eaLnBrk="1" hangingPunct="1">
                <a:lnSpc>
                  <a:spcPct val="80000"/>
                </a:lnSpc>
              </a:pPr>
              <a:r>
                <a:rPr lang="zh-CN" altLang="en-US" sz="2000" b="0" dirty="0">
                  <a:solidFill>
                    <a:srgbClr val="104E87"/>
                  </a:solidFill>
                  <a:latin typeface="华光行书_CNKI" panose="02000500000000000000" pitchFamily="2" charset="-122"/>
                  <a:ea typeface="华光行书_CNKI" panose="02000500000000000000" pitchFamily="2" charset="-122"/>
                </a:rPr>
                <a:t>类成员</a:t>
              </a:r>
            </a:p>
          </p:txBody>
        </p:sp>
        <p:sp>
          <p:nvSpPr>
            <p:cNvPr id="39" name="Text Box 26">
              <a:extLst>
                <a:ext uri="{FF2B5EF4-FFF2-40B4-BE49-F238E27FC236}">
                  <a16:creationId xmlns:a16="http://schemas.microsoft.com/office/drawing/2014/main" id="{25C14492-D765-4A72-81DF-25D3DED691BB}"/>
                </a:ext>
              </a:extLst>
            </p:cNvPr>
            <p:cNvSpPr txBox="1">
              <a:spLocks noChangeArrowheads="1"/>
            </p:cNvSpPr>
            <p:nvPr/>
          </p:nvSpPr>
          <p:spPr bwMode="auto">
            <a:xfrm>
              <a:off x="1669" y="2020"/>
              <a:ext cx="751" cy="41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nSpc>
                  <a:spcPct val="80000"/>
                </a:lnSpc>
                <a:defRPr sz="2000" b="0">
                  <a:solidFill>
                    <a:srgbClr val="104E87"/>
                  </a:solidFill>
                  <a:latin typeface="Comic Sans MS" panose="030F0702030302020204" pitchFamily="66" charset="0"/>
                  <a:ea typeface="华光隶变_CNKI" panose="02000500000000000000"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en-US" altLang="zh-CN" dirty="0">
                  <a:latin typeface="华光行书_CNKI" panose="02000500000000000000" pitchFamily="2" charset="-122"/>
                  <a:ea typeface="华光行书_CNKI" panose="02000500000000000000" pitchFamily="2" charset="-122"/>
                </a:rPr>
                <a:t>Base0</a:t>
              </a:r>
            </a:p>
            <a:p>
              <a:r>
                <a:rPr lang="zh-CN" altLang="en-US" dirty="0">
                  <a:latin typeface="华光行书_CNKI" panose="02000500000000000000" pitchFamily="2" charset="-122"/>
                  <a:ea typeface="华光行书_CNKI" panose="02000500000000000000" pitchFamily="2" charset="-122"/>
                </a:rPr>
                <a:t>类成员</a:t>
              </a:r>
            </a:p>
          </p:txBody>
        </p:sp>
        <p:sp>
          <p:nvSpPr>
            <p:cNvPr id="40" name="Text Box 27">
              <a:extLst>
                <a:ext uri="{FF2B5EF4-FFF2-40B4-BE49-F238E27FC236}">
                  <a16:creationId xmlns:a16="http://schemas.microsoft.com/office/drawing/2014/main" id="{BCE0FEED-88AC-496C-A17E-3F0BC1A5FD77}"/>
                </a:ext>
              </a:extLst>
            </p:cNvPr>
            <p:cNvSpPr txBox="1">
              <a:spLocks noChangeArrowheads="1"/>
            </p:cNvSpPr>
            <p:nvPr/>
          </p:nvSpPr>
          <p:spPr bwMode="auto">
            <a:xfrm>
              <a:off x="2602" y="1611"/>
              <a:ext cx="889" cy="2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solidFill>
                    <a:srgbClr val="104E87"/>
                  </a:solidFill>
                  <a:latin typeface="华光行书_CNKI" panose="02000500000000000000" pitchFamily="2" charset="-122"/>
                  <a:ea typeface="华光行书_CNKI" panose="02000500000000000000" pitchFamily="2" charset="-122"/>
                </a:rPr>
                <a:t>Base1</a:t>
              </a:r>
              <a:r>
                <a:rPr lang="zh-CN" altLang="en-US" sz="2000" b="0" dirty="0">
                  <a:solidFill>
                    <a:srgbClr val="104E87"/>
                  </a:solidFill>
                  <a:latin typeface="华光行书_CNKI" panose="02000500000000000000" pitchFamily="2" charset="-122"/>
                  <a:ea typeface="华光行书_CNKI" panose="02000500000000000000" pitchFamily="2" charset="-122"/>
                </a:rPr>
                <a:t>类</a:t>
              </a:r>
            </a:p>
          </p:txBody>
        </p:sp>
        <p:sp>
          <p:nvSpPr>
            <p:cNvPr id="41" name="Text Box 28">
              <a:extLst>
                <a:ext uri="{FF2B5EF4-FFF2-40B4-BE49-F238E27FC236}">
                  <a16:creationId xmlns:a16="http://schemas.microsoft.com/office/drawing/2014/main" id="{15F2B13D-B3FC-4F33-9E3C-B7E1EB1E0644}"/>
                </a:ext>
              </a:extLst>
            </p:cNvPr>
            <p:cNvSpPr txBox="1">
              <a:spLocks noChangeArrowheads="1"/>
            </p:cNvSpPr>
            <p:nvPr/>
          </p:nvSpPr>
          <p:spPr bwMode="auto">
            <a:xfrm>
              <a:off x="2536" y="2231"/>
              <a:ext cx="913" cy="2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solidFill>
                    <a:srgbClr val="104E87"/>
                  </a:solidFill>
                  <a:latin typeface="华光行书_CNKI" panose="02000500000000000000" pitchFamily="2" charset="-122"/>
                  <a:ea typeface="华光行书_CNKI" panose="02000500000000000000" pitchFamily="2" charset="-122"/>
                </a:rPr>
                <a:t>Base2</a:t>
              </a:r>
              <a:r>
                <a:rPr lang="zh-CN" altLang="en-US" sz="2000" b="0" dirty="0">
                  <a:solidFill>
                    <a:srgbClr val="104E87"/>
                  </a:solidFill>
                  <a:latin typeface="华光行书_CNKI" panose="02000500000000000000" pitchFamily="2" charset="-122"/>
                  <a:ea typeface="华光行书_CNKI" panose="02000500000000000000" pitchFamily="2" charset="-122"/>
                </a:rPr>
                <a:t>类</a:t>
              </a:r>
            </a:p>
          </p:txBody>
        </p:sp>
        <p:sp>
          <p:nvSpPr>
            <p:cNvPr id="42" name="Text Box 29">
              <a:extLst>
                <a:ext uri="{FF2B5EF4-FFF2-40B4-BE49-F238E27FC236}">
                  <a16:creationId xmlns:a16="http://schemas.microsoft.com/office/drawing/2014/main" id="{D077C9C1-5A32-4E6D-8858-12678C7C9891}"/>
                </a:ext>
              </a:extLst>
            </p:cNvPr>
            <p:cNvSpPr txBox="1">
              <a:spLocks noChangeArrowheads="1"/>
            </p:cNvSpPr>
            <p:nvPr/>
          </p:nvSpPr>
          <p:spPr bwMode="auto">
            <a:xfrm>
              <a:off x="3203" y="1850"/>
              <a:ext cx="1065" cy="2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solidFill>
                    <a:srgbClr val="104E87"/>
                  </a:solidFill>
                  <a:latin typeface="华光行书_CNKI" panose="02000500000000000000" pitchFamily="2" charset="-122"/>
                  <a:ea typeface="华光行书_CNKI" panose="02000500000000000000" pitchFamily="2" charset="-122"/>
                </a:rPr>
                <a:t>Derived</a:t>
              </a:r>
              <a:r>
                <a:rPr lang="zh-CN" altLang="en-US" sz="2000" b="0" dirty="0">
                  <a:solidFill>
                    <a:srgbClr val="104E87"/>
                  </a:solidFill>
                  <a:latin typeface="华光行书_CNKI" panose="02000500000000000000" pitchFamily="2" charset="-122"/>
                  <a:ea typeface="华光行书_CNKI" panose="02000500000000000000" pitchFamily="2" charset="-122"/>
                </a:rPr>
                <a:t>类</a:t>
              </a:r>
            </a:p>
          </p:txBody>
        </p:sp>
      </p:grpSp>
      <p:sp>
        <p:nvSpPr>
          <p:cNvPr id="43" name="Rectangle 34">
            <a:extLst>
              <a:ext uri="{FF2B5EF4-FFF2-40B4-BE49-F238E27FC236}">
                <a16:creationId xmlns:a16="http://schemas.microsoft.com/office/drawing/2014/main" id="{1C0D5CDC-1A2A-48E3-9A58-F10A4051CE8D}"/>
              </a:ext>
            </a:extLst>
          </p:cNvPr>
          <p:cNvSpPr>
            <a:spLocks noChangeArrowheads="1"/>
          </p:cNvSpPr>
          <p:nvPr/>
        </p:nvSpPr>
        <p:spPr bwMode="auto">
          <a:xfrm>
            <a:off x="10210800" y="905715"/>
            <a:ext cx="1979614" cy="1569660"/>
          </a:xfrm>
          <a:prstGeom prst="rect">
            <a:avLst/>
          </a:prstGeom>
          <a:solidFill>
            <a:schemeClr val="accent5">
              <a:lumMod val="20000"/>
              <a:lumOff val="80000"/>
            </a:schemeClr>
          </a:solidFill>
          <a:ln>
            <a:noFill/>
          </a:ln>
        </p:spPr>
        <p:txBody>
          <a:bodyPr wrap="square">
            <a:spAutoFit/>
          </a:bodyP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b="0" spc="-100" dirty="0">
                <a:solidFill>
                  <a:srgbClr val="104E87"/>
                </a:solidFill>
                <a:latin typeface="华光行书_CNKI" panose="02000500000000000000" pitchFamily="2" charset="-122"/>
                <a:ea typeface="华光行书_CNKI" panose="02000500000000000000" pitchFamily="2" charset="-122"/>
              </a:rPr>
              <a:t>有二义性：</a:t>
            </a:r>
          </a:p>
          <a:p>
            <a:r>
              <a:rPr lang="en-US" altLang="zh-CN" b="0" spc="-100" dirty="0">
                <a:solidFill>
                  <a:srgbClr val="104E87"/>
                </a:solidFill>
                <a:latin typeface="华光行书_CNKI" panose="02000500000000000000" pitchFamily="2" charset="-122"/>
                <a:ea typeface="华光行书_CNKI" panose="02000500000000000000" pitchFamily="2" charset="-122"/>
              </a:rPr>
              <a:t>Derived d;</a:t>
            </a:r>
          </a:p>
          <a:p>
            <a:r>
              <a:rPr lang="en-US" altLang="zh-CN" b="0" spc="-100" dirty="0">
                <a:solidFill>
                  <a:srgbClr val="104E87"/>
                </a:solidFill>
                <a:latin typeface="华光行书_CNKI" panose="02000500000000000000" pitchFamily="2" charset="-122"/>
                <a:ea typeface="华光行书_CNKI" panose="02000500000000000000" pitchFamily="2" charset="-122"/>
              </a:rPr>
              <a:t>d.var0</a:t>
            </a:r>
          </a:p>
          <a:p>
            <a:r>
              <a:rPr lang="en-US" altLang="zh-CN" b="0" spc="-100" dirty="0">
                <a:solidFill>
                  <a:srgbClr val="104E87"/>
                </a:solidFill>
                <a:latin typeface="华光行书_CNKI" panose="02000500000000000000" pitchFamily="2" charset="-122"/>
                <a:ea typeface="华光行书_CNKI" panose="02000500000000000000" pitchFamily="2" charset="-122"/>
              </a:rPr>
              <a:t>d.Base0::var0</a:t>
            </a:r>
          </a:p>
        </p:txBody>
      </p:sp>
      <p:sp>
        <p:nvSpPr>
          <p:cNvPr id="44" name="Text Box 35">
            <a:extLst>
              <a:ext uri="{FF2B5EF4-FFF2-40B4-BE49-F238E27FC236}">
                <a16:creationId xmlns:a16="http://schemas.microsoft.com/office/drawing/2014/main" id="{7ACB73E9-7502-45DC-91EF-8915E8A144BF}"/>
              </a:ext>
            </a:extLst>
          </p:cNvPr>
          <p:cNvSpPr txBox="1">
            <a:spLocks noChangeArrowheads="1"/>
          </p:cNvSpPr>
          <p:nvPr/>
        </p:nvSpPr>
        <p:spPr bwMode="auto">
          <a:xfrm>
            <a:off x="10210800" y="2489352"/>
            <a:ext cx="1981200" cy="1200150"/>
          </a:xfrm>
          <a:prstGeom prst="rect">
            <a:avLst/>
          </a:prstGeom>
          <a:solidFill>
            <a:schemeClr val="accent5">
              <a:lumMod val="20000"/>
              <a:lumOff val="80000"/>
            </a:schemeClr>
          </a:solidFill>
          <a:ln>
            <a:noFill/>
          </a:ln>
        </p:spPr>
        <p:txBody>
          <a:bodyPr wrap="square">
            <a:spAutoFit/>
          </a:bodyPr>
          <a:lstStyle>
            <a:defPPr>
              <a:defRPr lang="en-US"/>
            </a:defPPr>
            <a:lvl1pPr marL="342900" indent="-342900">
              <a:defRPr b="0" spc="-100">
                <a:solidFill>
                  <a:srgbClr val="104E87"/>
                </a:solidFill>
                <a:latin typeface="Comic Sans MS" panose="030F0702030302020204" pitchFamily="66" charset="0"/>
                <a:ea typeface="华光隶变_CNKI" panose="02000500000000000000" pitchFamily="2" charset="-122"/>
              </a:defRPr>
            </a:lvl1pPr>
            <a:lvl2pPr marL="742950" indent="-285750">
              <a:defRPr b="1">
                <a:latin typeface="Times New Roman" panose="02020603050405020304" pitchFamily="18" charset="0"/>
                <a:ea typeface="宋体" panose="02010600030101010101" pitchFamily="2" charset="-122"/>
              </a:defRPr>
            </a:lvl2pPr>
            <a:lvl3pPr marL="1143000" indent="-228600">
              <a:defRPr b="1">
                <a:latin typeface="Times New Roman" panose="02020603050405020304" pitchFamily="18" charset="0"/>
                <a:ea typeface="宋体" panose="02010600030101010101" pitchFamily="2" charset="-122"/>
              </a:defRPr>
            </a:lvl3pPr>
            <a:lvl4pPr marL="1600200" indent="-228600">
              <a:defRPr b="1">
                <a:latin typeface="Times New Roman" panose="02020603050405020304" pitchFamily="18" charset="0"/>
                <a:ea typeface="宋体" panose="02010600030101010101" pitchFamily="2" charset="-122"/>
              </a:defRPr>
            </a:lvl4pPr>
            <a:lvl5pPr marL="2057400" indent="-228600">
              <a:defRPr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latin typeface="Times New Roman" panose="02020603050405020304" pitchFamily="18" charset="0"/>
                <a:ea typeface="宋体" panose="02010600030101010101" pitchFamily="2" charset="-122"/>
              </a:defRPr>
            </a:lvl9pPr>
          </a:lstStyle>
          <a:p>
            <a:r>
              <a:rPr lang="zh-CN" altLang="en-US" dirty="0">
                <a:latin typeface="华光行书_CNKI" panose="02000500000000000000" pitchFamily="2" charset="-122"/>
                <a:ea typeface="华光行书_CNKI" panose="02000500000000000000" pitchFamily="2" charset="-122"/>
              </a:rPr>
              <a:t>无二义性：</a:t>
            </a:r>
          </a:p>
          <a:p>
            <a:r>
              <a:rPr lang="en-US" altLang="zh-CN" dirty="0">
                <a:latin typeface="华光行书_CNKI" panose="02000500000000000000" pitchFamily="2" charset="-122"/>
                <a:ea typeface="华光行书_CNKI" panose="02000500000000000000" pitchFamily="2" charset="-122"/>
              </a:rPr>
              <a:t>d.Base1::var0</a:t>
            </a:r>
          </a:p>
          <a:p>
            <a:r>
              <a:rPr lang="en-US" altLang="zh-CN" dirty="0">
                <a:latin typeface="华光行书_CNKI" panose="02000500000000000000" pitchFamily="2" charset="-122"/>
                <a:ea typeface="华光行书_CNKI" panose="02000500000000000000" pitchFamily="2" charset="-122"/>
              </a:rPr>
              <a:t>d.Base2::var0</a:t>
            </a:r>
          </a:p>
        </p:txBody>
      </p:sp>
      <p:sp>
        <p:nvSpPr>
          <p:cNvPr id="45" name="文本框 44">
            <a:extLst>
              <a:ext uri="{FF2B5EF4-FFF2-40B4-BE49-F238E27FC236}">
                <a16:creationId xmlns:a16="http://schemas.microsoft.com/office/drawing/2014/main" id="{A7F899A8-5E7F-4176-BB9D-A9C368C84A85}"/>
              </a:ext>
            </a:extLst>
          </p:cNvPr>
          <p:cNvSpPr txBox="1"/>
          <p:nvPr/>
        </p:nvSpPr>
        <p:spPr>
          <a:xfrm>
            <a:off x="6168154" y="5671068"/>
            <a:ext cx="5133371" cy="461665"/>
          </a:xfrm>
          <a:prstGeom prst="rect">
            <a:avLst/>
          </a:prstGeom>
          <a:noFill/>
        </p:spPr>
        <p:txBody>
          <a:bodyPr wrap="square">
            <a:spAutoFit/>
          </a:bodyPr>
          <a:lstStyle/>
          <a:p>
            <a:r>
              <a:rPr lang="zh-CN" altLang="en-US" dirty="0">
                <a:solidFill>
                  <a:srgbClr val="FF0000"/>
                </a:solidFill>
                <a:latin typeface="华光行书_CNKI" panose="02000500000000000000" pitchFamily="2" charset="-122"/>
                <a:ea typeface="华光行书_CNKI" panose="02000500000000000000" pitchFamily="2" charset="-122"/>
              </a:rPr>
              <a:t>复制继承会产生冗余和二义性</a:t>
            </a:r>
          </a:p>
        </p:txBody>
      </p:sp>
    </p:spTree>
    <p:extLst>
      <p:ext uri="{BB962C8B-B14F-4D97-AF65-F5344CB8AC3E}">
        <p14:creationId xmlns:p14="http://schemas.microsoft.com/office/powerpoint/2010/main" val="3131824460"/>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randombar(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barn(inVertical)">
                                      <p:cBhvr>
                                        <p:cTn id="12" dur="500"/>
                                        <p:tgtEl>
                                          <p:spTgt spid="43">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43">
                                            <p:txEl>
                                              <p:pRg st="2" end="2"/>
                                            </p:txEl>
                                          </p:spTgt>
                                        </p:tgtEl>
                                        <p:attrNameLst>
                                          <p:attrName>style.visibility</p:attrName>
                                        </p:attrNameLst>
                                      </p:cBhvr>
                                      <p:to>
                                        <p:strVal val="visible"/>
                                      </p:to>
                                    </p:set>
                                    <p:animEffect transition="in" filter="barn(inVertical)">
                                      <p:cBhvr>
                                        <p:cTn id="15" dur="500"/>
                                        <p:tgtEl>
                                          <p:spTgt spid="43">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43">
                                            <p:txEl>
                                              <p:pRg st="3" end="3"/>
                                            </p:txEl>
                                          </p:spTgt>
                                        </p:tgtEl>
                                        <p:attrNameLst>
                                          <p:attrName>style.visibility</p:attrName>
                                        </p:attrNameLst>
                                      </p:cBhvr>
                                      <p:to>
                                        <p:strVal val="visible"/>
                                      </p:to>
                                    </p:set>
                                    <p:animEffect transition="in" filter="barn(inVertical)">
                                      <p:cBhvr>
                                        <p:cTn id="18" dur="500"/>
                                        <p:tgtEl>
                                          <p:spTgt spid="4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barn(inVertical)">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4">
                                            <p:txEl>
                                              <p:pRg st="1" end="1"/>
                                            </p:txEl>
                                          </p:spTgt>
                                        </p:tgtEl>
                                        <p:attrNameLst>
                                          <p:attrName>style.visibility</p:attrName>
                                        </p:attrNameLst>
                                      </p:cBhvr>
                                      <p:to>
                                        <p:strVal val="visible"/>
                                      </p:to>
                                    </p:set>
                                    <p:animEffect transition="in" filter="barn(inVertical)">
                                      <p:cBhvr>
                                        <p:cTn id="32" dur="500"/>
                                        <p:tgtEl>
                                          <p:spTgt spid="44">
                                            <p:txEl>
                                              <p:pRg st="1" end="1"/>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44">
                                            <p:txEl>
                                              <p:pRg st="2" end="2"/>
                                            </p:txEl>
                                          </p:spTgt>
                                        </p:tgtEl>
                                        <p:attrNameLst>
                                          <p:attrName>style.visibility</p:attrName>
                                        </p:attrNameLst>
                                      </p:cBhvr>
                                      <p:to>
                                        <p:strVal val="visible"/>
                                      </p:to>
                                    </p:set>
                                    <p:animEffect transition="in" filter="barn(inVertical)">
                                      <p:cBhvr>
                                        <p:cTn id="35" dur="500"/>
                                        <p:tgtEl>
                                          <p:spTgt spid="44">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randombar(horizontal)">
                                      <p:cBhvr>
                                        <p:cTn id="4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9.6</a:t>
            </a:r>
            <a:r>
              <a:rPr lang="zh-CN" altLang="en-US" dirty="0">
                <a:sym typeface="+mn-lt"/>
              </a:rPr>
              <a:t>虚基类</a:t>
            </a:r>
            <a:r>
              <a:rPr lang="en-US" altLang="zh-CN" dirty="0">
                <a:sym typeface="+mn-lt"/>
              </a:rPr>
              <a:t>——</a:t>
            </a:r>
            <a:r>
              <a:rPr lang="zh-CN" altLang="en-US" dirty="0">
                <a:sym typeface="+mn-lt"/>
              </a:rPr>
              <a:t>共享继承</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12D52806-F0DF-431F-9C51-DD74B0C05B7D}"/>
              </a:ext>
            </a:extLst>
          </p:cNvPr>
          <p:cNvSpPr txBox="1"/>
          <p:nvPr/>
        </p:nvSpPr>
        <p:spPr>
          <a:xfrm>
            <a:off x="2201783" y="996664"/>
            <a:ext cx="9733689" cy="461665"/>
          </a:xfrm>
          <a:prstGeom prst="rect">
            <a:avLst/>
          </a:prstGeom>
          <a:noFill/>
        </p:spPr>
        <p:txBody>
          <a:bodyPr wrap="square">
            <a:spAutoFit/>
          </a:bodyPr>
          <a:lstStyle/>
          <a:p>
            <a:r>
              <a:rPr lang="zh-CN" altLang="en-US" sz="2400" dirty="0">
                <a:solidFill>
                  <a:srgbClr val="104E87"/>
                </a:solidFill>
                <a:latin typeface="华光行书_CNKI" panose="02000500000000000000" pitchFamily="2" charset="-122"/>
                <a:ea typeface="华光行书_CNKI" panose="02000500000000000000" pitchFamily="2" charset="-122"/>
              </a:rPr>
              <a:t>共享方式继承：用</a:t>
            </a:r>
            <a:r>
              <a:rPr lang="zh-CN" altLang="en-US" sz="2400" dirty="0">
                <a:solidFill>
                  <a:srgbClr val="FF0000"/>
                </a:solidFill>
                <a:latin typeface="华光行书_CNKI" panose="02000500000000000000" pitchFamily="2" charset="-122"/>
                <a:ea typeface="华光行书_CNKI" panose="02000500000000000000" pitchFamily="2" charset="-122"/>
              </a:rPr>
              <a:t>虚基类</a:t>
            </a:r>
            <a:r>
              <a:rPr lang="zh-CN" altLang="en-US" sz="2400" dirty="0">
                <a:solidFill>
                  <a:srgbClr val="104E87"/>
                </a:solidFill>
                <a:latin typeface="华光行书_CNKI" panose="02000500000000000000" pitchFamily="2" charset="-122"/>
                <a:ea typeface="华光行书_CNKI" panose="02000500000000000000" pitchFamily="2" charset="-122"/>
              </a:rPr>
              <a:t>机制保证任何派生类中只提供一个基类的副本</a:t>
            </a:r>
            <a:endParaRPr lang="zh-CN" altLang="en-US" dirty="0">
              <a:solidFill>
                <a:srgbClr val="104E87"/>
              </a:solidFill>
              <a:latin typeface="华光行书_CNKI" panose="02000500000000000000" pitchFamily="2" charset="-122"/>
              <a:ea typeface="华光行书_CNKI" panose="02000500000000000000" pitchFamily="2" charset="-122"/>
            </a:endParaRPr>
          </a:p>
        </p:txBody>
      </p:sp>
      <p:sp>
        <p:nvSpPr>
          <p:cNvPr id="8" name="矩形 4">
            <a:extLst>
              <a:ext uri="{FF2B5EF4-FFF2-40B4-BE49-F238E27FC236}">
                <a16:creationId xmlns:a16="http://schemas.microsoft.com/office/drawing/2014/main" id="{E93518AC-1D7B-44D7-BCBF-C1C55B24C46C}"/>
              </a:ext>
            </a:extLst>
          </p:cNvPr>
          <p:cNvSpPr>
            <a:spLocks noChangeArrowheads="1"/>
          </p:cNvSpPr>
          <p:nvPr/>
        </p:nvSpPr>
        <p:spPr bwMode="auto">
          <a:xfrm>
            <a:off x="1" y="996664"/>
            <a:ext cx="6073874" cy="5410712"/>
          </a:xfrm>
          <a:prstGeom prst="rect">
            <a:avLst/>
          </a:prstGeom>
          <a:noFill/>
        </p:spPr>
        <p:txBody>
          <a:bodyPr wrap="square">
            <a:spAutoFit/>
          </a:bodyPr>
          <a:lstStyle/>
          <a:p>
            <a:pPr>
              <a:lnSpc>
                <a:spcPct val="80000"/>
              </a:lnSpc>
            </a:pPr>
            <a:r>
              <a:rPr lang="en-US" altLang="zh-CN" spc="-100" dirty="0">
                <a:solidFill>
                  <a:srgbClr val="104E87"/>
                </a:solidFill>
                <a:latin typeface="Comic Sans MS" panose="030F0702030302020204" pitchFamily="66" charset="0"/>
              </a:rPr>
              <a:t>class Base0 {</a:t>
            </a:r>
          </a:p>
          <a:p>
            <a:pPr>
              <a:lnSpc>
                <a:spcPct val="80000"/>
              </a:lnSpc>
            </a:pPr>
            <a:r>
              <a:rPr lang="en-US" altLang="zh-CN" spc="-100" dirty="0">
                <a:solidFill>
                  <a:srgbClr val="104E87"/>
                </a:solidFill>
                <a:latin typeface="Comic Sans MS" panose="030F0702030302020204" pitchFamily="66" charset="0"/>
              </a:rPr>
              <a:t>public:</a:t>
            </a:r>
          </a:p>
          <a:p>
            <a:pPr>
              <a:lnSpc>
                <a:spcPct val="80000"/>
              </a:lnSpc>
            </a:pPr>
            <a:r>
              <a:rPr lang="en-US" altLang="zh-CN" spc="-100" dirty="0">
                <a:solidFill>
                  <a:srgbClr val="104E87"/>
                </a:solidFill>
                <a:latin typeface="Comic Sans MS" panose="030F0702030302020204" pitchFamily="66" charset="0"/>
              </a:rPr>
              <a:t>int var0;</a:t>
            </a:r>
          </a:p>
          <a:p>
            <a:pPr>
              <a:lnSpc>
                <a:spcPct val="80000"/>
              </a:lnSpc>
            </a:pPr>
            <a:r>
              <a:rPr lang="en-US" altLang="zh-CN" spc="-100" dirty="0">
                <a:solidFill>
                  <a:srgbClr val="104E87"/>
                </a:solidFill>
                <a:latin typeface="Comic Sans MS" panose="030F0702030302020204" pitchFamily="66" charset="0"/>
              </a:rPr>
              <a:t>void fun0(){</a:t>
            </a:r>
            <a:r>
              <a:rPr lang="en-US" altLang="zh-CN" spc="-100" dirty="0" err="1">
                <a:solidFill>
                  <a:srgbClr val="104E87"/>
                </a:solidFill>
                <a:latin typeface="Comic Sans MS" panose="030F0702030302020204" pitchFamily="66" charset="0"/>
              </a:rPr>
              <a:t>cout</a:t>
            </a:r>
            <a:r>
              <a:rPr lang="en-US" altLang="zh-CN" spc="-100" dirty="0">
                <a:solidFill>
                  <a:srgbClr val="104E87"/>
                </a:solidFill>
                <a:latin typeface="Comic Sans MS" panose="030F0702030302020204" pitchFamily="66" charset="0"/>
              </a:rPr>
              <a:t> &lt;&lt;"Member of Base0"&lt;&lt;</a:t>
            </a:r>
            <a:r>
              <a:rPr lang="en-US" altLang="zh-CN" spc="-100" dirty="0" err="1">
                <a:solidFill>
                  <a:srgbClr val="104E87"/>
                </a:solidFill>
                <a:latin typeface="Comic Sans MS" panose="030F0702030302020204" pitchFamily="66" charset="0"/>
              </a:rPr>
              <a:t>endl</a:t>
            </a:r>
            <a:r>
              <a:rPr lang="en-US" altLang="zh-CN" spc="-100" dirty="0">
                <a:solidFill>
                  <a:srgbClr val="104E87"/>
                </a:solidFill>
                <a:latin typeface="Comic Sans MS" panose="030F0702030302020204" pitchFamily="66" charset="0"/>
              </a:rPr>
              <a:t>;}</a:t>
            </a:r>
          </a:p>
          <a:p>
            <a:pPr>
              <a:lnSpc>
                <a:spcPct val="80000"/>
              </a:lnSpc>
            </a:pPr>
            <a:r>
              <a:rPr lang="en-US" altLang="zh-CN" spc="-100" dirty="0">
                <a:solidFill>
                  <a:srgbClr val="104E87"/>
                </a:solidFill>
                <a:latin typeface="Comic Sans MS" panose="030F0702030302020204" pitchFamily="66" charset="0"/>
              </a:rPr>
              <a:t>};</a:t>
            </a:r>
          </a:p>
          <a:p>
            <a:pPr>
              <a:lnSpc>
                <a:spcPct val="80000"/>
              </a:lnSpc>
            </a:pPr>
            <a:r>
              <a:rPr lang="en-US" altLang="zh-CN" spc="-100" dirty="0">
                <a:solidFill>
                  <a:srgbClr val="104E87"/>
                </a:solidFill>
                <a:latin typeface="Comic Sans MS" panose="030F0702030302020204" pitchFamily="66" charset="0"/>
              </a:rPr>
              <a:t>class Base1: </a:t>
            </a:r>
            <a:r>
              <a:rPr lang="en-US" altLang="zh-CN" spc="-100" dirty="0">
                <a:solidFill>
                  <a:srgbClr val="FF0000"/>
                </a:solidFill>
                <a:latin typeface="Comic Sans MS" panose="030F0702030302020204" pitchFamily="66" charset="0"/>
              </a:rPr>
              <a:t>virtual </a:t>
            </a:r>
            <a:r>
              <a:rPr lang="en-US" altLang="zh-CN" spc="-100" dirty="0">
                <a:solidFill>
                  <a:srgbClr val="104E87"/>
                </a:solidFill>
                <a:latin typeface="Comic Sans MS" panose="030F0702030302020204" pitchFamily="66" charset="0"/>
              </a:rPr>
              <a:t>public Base0 {	</a:t>
            </a:r>
          </a:p>
          <a:p>
            <a:pPr>
              <a:lnSpc>
                <a:spcPct val="80000"/>
              </a:lnSpc>
            </a:pPr>
            <a:r>
              <a:rPr lang="en-US" altLang="zh-CN" spc="-100" dirty="0">
                <a:solidFill>
                  <a:srgbClr val="104E87"/>
                </a:solidFill>
                <a:latin typeface="Comic Sans MS" panose="030F0702030302020204" pitchFamily="66" charset="0"/>
              </a:rPr>
              <a:t>public:</a:t>
            </a:r>
            <a:endParaRPr lang="zh-CN" altLang="en-US" spc="-100" dirty="0">
              <a:solidFill>
                <a:srgbClr val="104E87"/>
              </a:solidFill>
              <a:latin typeface="Comic Sans MS" panose="030F0702030302020204" pitchFamily="66" charset="0"/>
            </a:endParaRPr>
          </a:p>
          <a:p>
            <a:pPr>
              <a:lnSpc>
                <a:spcPct val="80000"/>
              </a:lnSpc>
            </a:pPr>
            <a:r>
              <a:rPr lang="en-US" altLang="zh-CN" spc="-100" dirty="0">
                <a:solidFill>
                  <a:srgbClr val="104E87"/>
                </a:solidFill>
                <a:latin typeface="Comic Sans MS" panose="030F0702030302020204" pitchFamily="66" charset="0"/>
              </a:rPr>
              <a:t>int var1;</a:t>
            </a:r>
          </a:p>
          <a:p>
            <a:pPr>
              <a:lnSpc>
                <a:spcPct val="80000"/>
              </a:lnSpc>
            </a:pPr>
            <a:r>
              <a:rPr lang="en-US" altLang="zh-CN" spc="-100" dirty="0">
                <a:solidFill>
                  <a:srgbClr val="104E87"/>
                </a:solidFill>
                <a:latin typeface="Comic Sans MS" panose="030F0702030302020204" pitchFamily="66" charset="0"/>
              </a:rPr>
              <a:t>};</a:t>
            </a:r>
          </a:p>
          <a:p>
            <a:pPr>
              <a:lnSpc>
                <a:spcPct val="80000"/>
              </a:lnSpc>
            </a:pPr>
            <a:r>
              <a:rPr lang="en-US" altLang="zh-CN" spc="-100" dirty="0">
                <a:solidFill>
                  <a:srgbClr val="104E87"/>
                </a:solidFill>
                <a:latin typeface="Comic Sans MS" panose="030F0702030302020204" pitchFamily="66" charset="0"/>
              </a:rPr>
              <a:t>class Base2: </a:t>
            </a:r>
            <a:r>
              <a:rPr lang="en-US" altLang="zh-CN" spc="-100" dirty="0">
                <a:solidFill>
                  <a:srgbClr val="FF0000"/>
                </a:solidFill>
                <a:latin typeface="Comic Sans MS" panose="030F0702030302020204" pitchFamily="66" charset="0"/>
              </a:rPr>
              <a:t>virtual</a:t>
            </a:r>
            <a:r>
              <a:rPr lang="en-US" altLang="zh-CN" spc="-100" dirty="0">
                <a:solidFill>
                  <a:srgbClr val="104E87"/>
                </a:solidFill>
                <a:latin typeface="Comic Sans MS" panose="030F0702030302020204" pitchFamily="66" charset="0"/>
              </a:rPr>
              <a:t> public Base0 {	</a:t>
            </a:r>
          </a:p>
          <a:p>
            <a:pPr>
              <a:lnSpc>
                <a:spcPct val="80000"/>
              </a:lnSpc>
            </a:pPr>
            <a:r>
              <a:rPr lang="en-US" altLang="zh-CN" spc="-100" dirty="0">
                <a:solidFill>
                  <a:srgbClr val="104E87"/>
                </a:solidFill>
                <a:latin typeface="Comic Sans MS" panose="030F0702030302020204" pitchFamily="66" charset="0"/>
              </a:rPr>
              <a:t>public:</a:t>
            </a:r>
            <a:endParaRPr lang="zh-CN" altLang="en-US" spc="-100" dirty="0">
              <a:solidFill>
                <a:srgbClr val="104E87"/>
              </a:solidFill>
              <a:latin typeface="Comic Sans MS" panose="030F0702030302020204" pitchFamily="66" charset="0"/>
            </a:endParaRPr>
          </a:p>
          <a:p>
            <a:pPr>
              <a:lnSpc>
                <a:spcPct val="80000"/>
              </a:lnSpc>
            </a:pPr>
            <a:r>
              <a:rPr lang="en-US" altLang="zh-CN" spc="-100" dirty="0">
                <a:solidFill>
                  <a:srgbClr val="104E87"/>
                </a:solidFill>
                <a:latin typeface="Comic Sans MS" panose="030F0702030302020204" pitchFamily="66" charset="0"/>
              </a:rPr>
              <a:t>int var2;</a:t>
            </a:r>
          </a:p>
          <a:p>
            <a:pPr>
              <a:lnSpc>
                <a:spcPct val="80000"/>
              </a:lnSpc>
            </a:pPr>
            <a:r>
              <a:rPr lang="en-US" altLang="zh-CN" spc="-100" dirty="0">
                <a:solidFill>
                  <a:srgbClr val="104E87"/>
                </a:solidFill>
                <a:latin typeface="Comic Sans MS" panose="030F0702030302020204" pitchFamily="66" charset="0"/>
              </a:rPr>
              <a:t>};</a:t>
            </a:r>
          </a:p>
          <a:p>
            <a:r>
              <a:rPr lang="en-US" altLang="zh-CN" spc="-100" dirty="0">
                <a:solidFill>
                  <a:srgbClr val="104E87"/>
                </a:solidFill>
                <a:latin typeface="Comic Sans MS" panose="030F0702030302020204" pitchFamily="66" charset="0"/>
                <a:ea typeface="华光隶变_CNKI" panose="02000500000000000000" pitchFamily="2" charset="-122"/>
              </a:rPr>
              <a:t>class Derived: public Base1, public Base2{ </a:t>
            </a:r>
          </a:p>
          <a:p>
            <a:r>
              <a:rPr lang="en-US" altLang="zh-CN" spc="-100" dirty="0">
                <a:solidFill>
                  <a:srgbClr val="104E87"/>
                </a:solidFill>
                <a:latin typeface="Comic Sans MS" panose="030F0702030302020204" pitchFamily="66" charset="0"/>
                <a:ea typeface="华光隶变_CNKI" panose="02000500000000000000" pitchFamily="2" charset="-122"/>
              </a:rPr>
              <a:t>public:</a:t>
            </a:r>
            <a:r>
              <a:rPr lang="zh-CN" altLang="en-US" spc="-100" dirty="0">
                <a:solidFill>
                  <a:srgbClr val="104E87"/>
                </a:solidFill>
                <a:latin typeface="Comic Sans MS" panose="030F0702030302020204" pitchFamily="66" charset="0"/>
                <a:ea typeface="华光隶变_CNKI" panose="02000500000000000000" pitchFamily="2" charset="-122"/>
              </a:rPr>
              <a:t> </a:t>
            </a:r>
            <a:r>
              <a:rPr lang="en-US" altLang="zh-CN" spc="-100" dirty="0">
                <a:solidFill>
                  <a:srgbClr val="104E87"/>
                </a:solidFill>
                <a:latin typeface="Comic Sans MS" panose="030F0702030302020204" pitchFamily="66" charset="0"/>
                <a:ea typeface="华光隶变_CNKI" panose="02000500000000000000" pitchFamily="2" charset="-122"/>
              </a:rPr>
              <a:t>int var;</a:t>
            </a:r>
          </a:p>
          <a:p>
            <a:r>
              <a:rPr lang="en-US" altLang="zh-CN" spc="-140" dirty="0">
                <a:solidFill>
                  <a:srgbClr val="104E87"/>
                </a:solidFill>
                <a:latin typeface="Comic Sans MS" panose="030F0702030302020204" pitchFamily="66" charset="0"/>
                <a:ea typeface="华光隶变_CNKI" panose="02000500000000000000" pitchFamily="2" charset="-122"/>
              </a:rPr>
              <a:t>void fun(){</a:t>
            </a:r>
            <a:r>
              <a:rPr lang="en-US" altLang="zh-CN" spc="-140" dirty="0" err="1">
                <a:solidFill>
                  <a:srgbClr val="104E87"/>
                </a:solidFill>
                <a:latin typeface="Comic Sans MS" panose="030F0702030302020204" pitchFamily="66" charset="0"/>
                <a:ea typeface="华光隶变_CNKI" panose="02000500000000000000" pitchFamily="2" charset="-122"/>
              </a:rPr>
              <a:t>cout</a:t>
            </a:r>
            <a:r>
              <a:rPr lang="en-US" altLang="zh-CN" spc="-140" dirty="0">
                <a:solidFill>
                  <a:srgbClr val="104E87"/>
                </a:solidFill>
                <a:latin typeface="Comic Sans MS" panose="030F0702030302020204" pitchFamily="66" charset="0"/>
                <a:ea typeface="华光隶变_CNKI" panose="02000500000000000000" pitchFamily="2" charset="-122"/>
              </a:rPr>
              <a:t>&lt;&lt;"Member of Derived" &lt;&lt;</a:t>
            </a:r>
            <a:r>
              <a:rPr lang="en-US" altLang="zh-CN" spc="-140" dirty="0" err="1">
                <a:solidFill>
                  <a:srgbClr val="104E87"/>
                </a:solidFill>
                <a:latin typeface="Comic Sans MS" panose="030F0702030302020204" pitchFamily="66" charset="0"/>
                <a:ea typeface="华光隶变_CNKI" panose="02000500000000000000" pitchFamily="2" charset="-122"/>
              </a:rPr>
              <a:t>endl</a:t>
            </a:r>
            <a:r>
              <a:rPr lang="en-US" altLang="zh-CN" spc="-140" dirty="0">
                <a:solidFill>
                  <a:srgbClr val="104E87"/>
                </a:solidFill>
                <a:latin typeface="Comic Sans MS" panose="030F0702030302020204" pitchFamily="66" charset="0"/>
                <a:ea typeface="华光隶变_CNKI" panose="02000500000000000000" pitchFamily="2" charset="-122"/>
              </a:rPr>
              <a:t>; }</a:t>
            </a:r>
          </a:p>
          <a:p>
            <a:r>
              <a:rPr lang="en-US" altLang="zh-CN" spc="-100" dirty="0">
                <a:solidFill>
                  <a:srgbClr val="104E87"/>
                </a:solidFill>
                <a:latin typeface="Comic Sans MS" panose="030F0702030302020204" pitchFamily="66" charset="0"/>
                <a:ea typeface="华光隶变_CNKI" panose="02000500000000000000" pitchFamily="2" charset="-122"/>
              </a:rPr>
              <a:t>};</a:t>
            </a:r>
          </a:p>
        </p:txBody>
      </p:sp>
      <p:sp>
        <p:nvSpPr>
          <p:cNvPr id="11" name="文本框 10">
            <a:extLst>
              <a:ext uri="{FF2B5EF4-FFF2-40B4-BE49-F238E27FC236}">
                <a16:creationId xmlns:a16="http://schemas.microsoft.com/office/drawing/2014/main" id="{DEC1A5D1-1B95-418E-A749-8C1427C4071C}"/>
              </a:ext>
            </a:extLst>
          </p:cNvPr>
          <p:cNvSpPr txBox="1"/>
          <p:nvPr/>
        </p:nvSpPr>
        <p:spPr>
          <a:xfrm>
            <a:off x="9765070" y="5571252"/>
            <a:ext cx="1786465" cy="982128"/>
          </a:xfrm>
          <a:prstGeom prst="rect">
            <a:avLst/>
          </a:prstGeom>
          <a:solidFill>
            <a:schemeClr val="accent2">
              <a:lumMod val="60000"/>
              <a:lumOff val="40000"/>
            </a:schemeClr>
          </a:solidFill>
        </p:spPr>
        <p:txBody>
          <a:bodyPr wrap="square">
            <a:spAutoFit/>
          </a:bodyPr>
          <a:lstStyle>
            <a:defPPr>
              <a:defRPr lang="en-US"/>
            </a:defPPr>
            <a:lvl1pPr>
              <a:lnSpc>
                <a:spcPct val="80000"/>
              </a:lnSpc>
              <a:defRPr spc="-100">
                <a:solidFill>
                  <a:srgbClr val="104E87"/>
                </a:solidFill>
                <a:latin typeface="Comic Sans MS" panose="030F0702030302020204" pitchFamily="66" charset="0"/>
              </a:defRPr>
            </a:lvl1pPr>
          </a:lstStyle>
          <a:p>
            <a:r>
              <a:rPr lang="en-US" altLang="zh-CN" dirty="0"/>
              <a:t>Derived d;</a:t>
            </a:r>
          </a:p>
          <a:p>
            <a:r>
              <a:rPr lang="en-US" altLang="zh-CN" dirty="0"/>
              <a:t>d.var0 = 2;</a:t>
            </a:r>
          </a:p>
          <a:p>
            <a:r>
              <a:rPr lang="en-US" altLang="zh-CN" dirty="0"/>
              <a:t>d.fun0();</a:t>
            </a:r>
          </a:p>
        </p:txBody>
      </p:sp>
      <p:sp>
        <p:nvSpPr>
          <p:cNvPr id="12" name="文本框 11">
            <a:extLst>
              <a:ext uri="{FF2B5EF4-FFF2-40B4-BE49-F238E27FC236}">
                <a16:creationId xmlns:a16="http://schemas.microsoft.com/office/drawing/2014/main" id="{1D6136DA-4D5A-4582-81C7-EDCBA9EDF433}"/>
              </a:ext>
            </a:extLst>
          </p:cNvPr>
          <p:cNvSpPr txBox="1"/>
          <p:nvPr/>
        </p:nvSpPr>
        <p:spPr>
          <a:xfrm>
            <a:off x="6073875" y="1421793"/>
            <a:ext cx="6155472" cy="1251112"/>
          </a:xfrm>
          <a:prstGeom prst="rect">
            <a:avLst/>
          </a:prstGeom>
          <a:noFill/>
        </p:spPr>
        <p:txBody>
          <a:bodyPr wrap="square">
            <a:spAutoFit/>
          </a:bodyPr>
          <a:lstStyle/>
          <a:p>
            <a:pPr>
              <a:lnSpc>
                <a:spcPct val="105000"/>
              </a:lnSpc>
              <a:spcBef>
                <a:spcPts val="1200"/>
              </a:spcBef>
              <a:defRPr/>
            </a:pPr>
            <a:r>
              <a:rPr lang="zh-CN" altLang="en-US" dirty="0">
                <a:solidFill>
                  <a:srgbClr val="FF0000"/>
                </a:solidFill>
                <a:latin typeface="华光行书_CNKI" panose="02000500000000000000" pitchFamily="2" charset="-122"/>
                <a:ea typeface="华光行书_CNKI" panose="02000500000000000000" pitchFamily="2" charset="-122"/>
              </a:rPr>
              <a:t>虚基类与普通</a:t>
            </a:r>
            <a:r>
              <a:rPr lang="zh-CN" altLang="en-US" sz="2400" dirty="0">
                <a:solidFill>
                  <a:srgbClr val="FF0000"/>
                </a:solidFill>
                <a:latin typeface="华光行书_CNKI" panose="02000500000000000000" pitchFamily="2" charset="-122"/>
                <a:ea typeface="华光行书_CNKI" panose="02000500000000000000" pitchFamily="2" charset="-122"/>
              </a:rPr>
              <a:t>基类之间的唯一区别只有在派生类重复继承了某一基类时才表现出来，虚基类用于实现共享继承。</a:t>
            </a:r>
          </a:p>
        </p:txBody>
      </p:sp>
      <p:grpSp>
        <p:nvGrpSpPr>
          <p:cNvPr id="42" name="组合 41">
            <a:extLst>
              <a:ext uri="{FF2B5EF4-FFF2-40B4-BE49-F238E27FC236}">
                <a16:creationId xmlns:a16="http://schemas.microsoft.com/office/drawing/2014/main" id="{EE319830-7331-43F4-B392-4F9DB51063CC}"/>
              </a:ext>
            </a:extLst>
          </p:cNvPr>
          <p:cNvGrpSpPr/>
          <p:nvPr/>
        </p:nvGrpSpPr>
        <p:grpSpPr>
          <a:xfrm>
            <a:off x="5709942" y="4291744"/>
            <a:ext cx="1442463" cy="831622"/>
            <a:chOff x="255431" y="2944758"/>
            <a:chExt cx="1654648" cy="831622"/>
          </a:xfrm>
        </p:grpSpPr>
        <p:sp>
          <p:nvSpPr>
            <p:cNvPr id="43" name="Text Box 69">
              <a:extLst>
                <a:ext uri="{FF2B5EF4-FFF2-40B4-BE49-F238E27FC236}">
                  <a16:creationId xmlns:a16="http://schemas.microsoft.com/office/drawing/2014/main" id="{F9DB6B39-9F6F-456F-9EF8-5AC48D40A569}"/>
                </a:ext>
              </a:extLst>
            </p:cNvPr>
            <p:cNvSpPr txBox="1">
              <a:spLocks noChangeArrowheads="1"/>
            </p:cNvSpPr>
            <p:nvPr/>
          </p:nvSpPr>
          <p:spPr bwMode="auto">
            <a:xfrm>
              <a:off x="255431" y="2944758"/>
              <a:ext cx="1654648" cy="372272"/>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spc="-150" dirty="0">
                  <a:solidFill>
                    <a:srgbClr val="104E87"/>
                  </a:solidFill>
                  <a:latin typeface="Comic Sans MS" panose="030F0702030302020204" pitchFamily="66" charset="0"/>
                </a:rPr>
                <a:t>Base1</a:t>
              </a:r>
            </a:p>
            <a:p>
              <a:pPr algn="ctr"/>
              <a:endParaRPr lang="en-US" altLang="zh-CN" b="0" spc="-150" dirty="0">
                <a:solidFill>
                  <a:srgbClr val="104E87"/>
                </a:solidFill>
                <a:latin typeface="Comic Sans MS" panose="030F0702030302020204" pitchFamily="66" charset="0"/>
              </a:endParaRPr>
            </a:p>
          </p:txBody>
        </p:sp>
        <p:sp>
          <p:nvSpPr>
            <p:cNvPr id="44" name="Text Box 70">
              <a:extLst>
                <a:ext uri="{FF2B5EF4-FFF2-40B4-BE49-F238E27FC236}">
                  <a16:creationId xmlns:a16="http://schemas.microsoft.com/office/drawing/2014/main" id="{E1D66985-BE47-45EB-806B-7AE41FCE1EFF}"/>
                </a:ext>
              </a:extLst>
            </p:cNvPr>
            <p:cNvSpPr txBox="1">
              <a:spLocks noChangeArrowheads="1"/>
            </p:cNvSpPr>
            <p:nvPr/>
          </p:nvSpPr>
          <p:spPr bwMode="auto">
            <a:xfrm>
              <a:off x="255431" y="3317738"/>
              <a:ext cx="1654648" cy="412921"/>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spc="-150" dirty="0">
                  <a:solidFill>
                    <a:srgbClr val="104E87"/>
                  </a:solidFill>
                  <a:latin typeface="Comic Sans MS" panose="030F0702030302020204" pitchFamily="66" charset="0"/>
                </a:rPr>
                <a:t>+ var1 : int</a:t>
              </a:r>
            </a:p>
          </p:txBody>
        </p:sp>
        <p:sp>
          <p:nvSpPr>
            <p:cNvPr id="45" name="Text Box 71">
              <a:extLst>
                <a:ext uri="{FF2B5EF4-FFF2-40B4-BE49-F238E27FC236}">
                  <a16:creationId xmlns:a16="http://schemas.microsoft.com/office/drawing/2014/main" id="{6069C781-C487-4F25-AA19-71FD2093F390}"/>
                </a:ext>
              </a:extLst>
            </p:cNvPr>
            <p:cNvSpPr txBox="1">
              <a:spLocks noChangeArrowheads="1"/>
            </p:cNvSpPr>
            <p:nvPr/>
          </p:nvSpPr>
          <p:spPr bwMode="auto">
            <a:xfrm>
              <a:off x="255431" y="3730661"/>
              <a:ext cx="1654648" cy="45719"/>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endParaRPr lang="zh-CN" altLang="zh-CN" b="0" spc="-150">
                <a:solidFill>
                  <a:srgbClr val="104E87"/>
                </a:solidFill>
                <a:latin typeface="Comic Sans MS" panose="030F0702030302020204" pitchFamily="66" charset="0"/>
              </a:endParaRPr>
            </a:p>
          </p:txBody>
        </p:sp>
      </p:grpSp>
      <p:grpSp>
        <p:nvGrpSpPr>
          <p:cNvPr id="46" name="组合 45">
            <a:extLst>
              <a:ext uri="{FF2B5EF4-FFF2-40B4-BE49-F238E27FC236}">
                <a16:creationId xmlns:a16="http://schemas.microsoft.com/office/drawing/2014/main" id="{0B4948F7-D8DD-4B7E-88D8-CB5F23267D25}"/>
              </a:ext>
            </a:extLst>
          </p:cNvPr>
          <p:cNvGrpSpPr/>
          <p:nvPr/>
        </p:nvGrpSpPr>
        <p:grpSpPr>
          <a:xfrm>
            <a:off x="7223340" y="4307300"/>
            <a:ext cx="1556247" cy="827084"/>
            <a:chOff x="2183407" y="2944759"/>
            <a:chExt cx="1662360" cy="827084"/>
          </a:xfrm>
        </p:grpSpPr>
        <p:sp>
          <p:nvSpPr>
            <p:cNvPr id="47" name="Text Box 73">
              <a:extLst>
                <a:ext uri="{FF2B5EF4-FFF2-40B4-BE49-F238E27FC236}">
                  <a16:creationId xmlns:a16="http://schemas.microsoft.com/office/drawing/2014/main" id="{15D1D1FB-71F6-43A7-B749-4D31775E1573}"/>
                </a:ext>
              </a:extLst>
            </p:cNvPr>
            <p:cNvSpPr txBox="1">
              <a:spLocks noChangeArrowheads="1"/>
            </p:cNvSpPr>
            <p:nvPr/>
          </p:nvSpPr>
          <p:spPr bwMode="auto">
            <a:xfrm>
              <a:off x="2184507" y="2944759"/>
              <a:ext cx="1661260" cy="371896"/>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kern="0" spc="-150" dirty="0">
                  <a:solidFill>
                    <a:srgbClr val="104E87"/>
                  </a:solidFill>
                  <a:latin typeface="Comic Sans MS" panose="030F0702030302020204" pitchFamily="66" charset="0"/>
                </a:rPr>
                <a:t>Base2</a:t>
              </a:r>
            </a:p>
          </p:txBody>
        </p:sp>
        <p:sp>
          <p:nvSpPr>
            <p:cNvPr id="48" name="Text Box 74">
              <a:extLst>
                <a:ext uri="{FF2B5EF4-FFF2-40B4-BE49-F238E27FC236}">
                  <a16:creationId xmlns:a16="http://schemas.microsoft.com/office/drawing/2014/main" id="{AC4BD872-3E9E-487C-801A-F8489D23629B}"/>
                </a:ext>
              </a:extLst>
            </p:cNvPr>
            <p:cNvSpPr txBox="1">
              <a:spLocks noChangeArrowheads="1"/>
            </p:cNvSpPr>
            <p:nvPr/>
          </p:nvSpPr>
          <p:spPr bwMode="auto">
            <a:xfrm>
              <a:off x="2183407" y="3323872"/>
              <a:ext cx="1662360" cy="371895"/>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kern="0" spc="-150" dirty="0">
                  <a:solidFill>
                    <a:srgbClr val="104E87"/>
                  </a:solidFill>
                  <a:latin typeface="Comic Sans MS" panose="030F0702030302020204" pitchFamily="66" charset="0"/>
                </a:rPr>
                <a:t>+ var2 : int</a:t>
              </a:r>
            </a:p>
          </p:txBody>
        </p:sp>
        <p:sp>
          <p:nvSpPr>
            <p:cNvPr id="49" name="Text Box 75">
              <a:extLst>
                <a:ext uri="{FF2B5EF4-FFF2-40B4-BE49-F238E27FC236}">
                  <a16:creationId xmlns:a16="http://schemas.microsoft.com/office/drawing/2014/main" id="{FC4B3565-4C1A-4EE9-A509-D6969A1EECE5}"/>
                </a:ext>
              </a:extLst>
            </p:cNvPr>
            <p:cNvSpPr txBox="1">
              <a:spLocks noChangeArrowheads="1"/>
            </p:cNvSpPr>
            <p:nvPr/>
          </p:nvSpPr>
          <p:spPr bwMode="auto">
            <a:xfrm>
              <a:off x="2183407" y="3696875"/>
              <a:ext cx="1662360" cy="74968"/>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endParaRPr lang="zh-CN" altLang="zh-CN" b="0" kern="0" spc="-150">
                <a:solidFill>
                  <a:srgbClr val="104E87"/>
                </a:solidFill>
                <a:latin typeface="Comic Sans MS" panose="030F0702030302020204" pitchFamily="66" charset="0"/>
              </a:endParaRPr>
            </a:p>
          </p:txBody>
        </p:sp>
      </p:grpSp>
      <p:grpSp>
        <p:nvGrpSpPr>
          <p:cNvPr id="50" name="组合 49">
            <a:extLst>
              <a:ext uri="{FF2B5EF4-FFF2-40B4-BE49-F238E27FC236}">
                <a16:creationId xmlns:a16="http://schemas.microsoft.com/office/drawing/2014/main" id="{6F9C6C8E-2510-4F11-909C-B84A19A13C0C}"/>
              </a:ext>
            </a:extLst>
          </p:cNvPr>
          <p:cNvGrpSpPr/>
          <p:nvPr/>
        </p:nvGrpSpPr>
        <p:grpSpPr>
          <a:xfrm>
            <a:off x="6340150" y="5560151"/>
            <a:ext cx="1703936" cy="1174713"/>
            <a:chOff x="952178" y="4228942"/>
            <a:chExt cx="2130244" cy="1174713"/>
          </a:xfrm>
        </p:grpSpPr>
        <p:sp>
          <p:nvSpPr>
            <p:cNvPr id="51" name="Text Box 77">
              <a:extLst>
                <a:ext uri="{FF2B5EF4-FFF2-40B4-BE49-F238E27FC236}">
                  <a16:creationId xmlns:a16="http://schemas.microsoft.com/office/drawing/2014/main" id="{E92D3565-D43A-4D2D-8E6B-47CBF772A727}"/>
                </a:ext>
              </a:extLst>
            </p:cNvPr>
            <p:cNvSpPr txBox="1">
              <a:spLocks noChangeArrowheads="1"/>
            </p:cNvSpPr>
            <p:nvPr/>
          </p:nvSpPr>
          <p:spPr bwMode="auto">
            <a:xfrm>
              <a:off x="953351" y="4228942"/>
              <a:ext cx="2129071" cy="388255"/>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spc="-150">
                  <a:solidFill>
                    <a:srgbClr val="104E87"/>
                  </a:solidFill>
                  <a:latin typeface="Comic Sans MS" panose="030F0702030302020204" pitchFamily="66" charset="0"/>
                </a:rPr>
                <a:t>Derived</a:t>
              </a:r>
            </a:p>
          </p:txBody>
        </p:sp>
        <p:sp>
          <p:nvSpPr>
            <p:cNvPr id="52" name="Text Box 78">
              <a:extLst>
                <a:ext uri="{FF2B5EF4-FFF2-40B4-BE49-F238E27FC236}">
                  <a16:creationId xmlns:a16="http://schemas.microsoft.com/office/drawing/2014/main" id="{04C08F27-013D-4F90-8548-A76BFC2751D7}"/>
                </a:ext>
              </a:extLst>
            </p:cNvPr>
            <p:cNvSpPr txBox="1">
              <a:spLocks noChangeArrowheads="1"/>
            </p:cNvSpPr>
            <p:nvPr/>
          </p:nvSpPr>
          <p:spPr bwMode="auto">
            <a:xfrm>
              <a:off x="952178" y="4622170"/>
              <a:ext cx="2129071" cy="388254"/>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spc="-150">
                  <a:solidFill>
                    <a:srgbClr val="104E87"/>
                  </a:solidFill>
                  <a:latin typeface="Comic Sans MS" panose="030F0702030302020204" pitchFamily="66" charset="0"/>
                </a:rPr>
                <a:t>+ var : int</a:t>
              </a:r>
            </a:p>
          </p:txBody>
        </p:sp>
        <p:sp>
          <p:nvSpPr>
            <p:cNvPr id="53" name="Text Box 79">
              <a:extLst>
                <a:ext uri="{FF2B5EF4-FFF2-40B4-BE49-F238E27FC236}">
                  <a16:creationId xmlns:a16="http://schemas.microsoft.com/office/drawing/2014/main" id="{A08613E0-00C2-4CE4-B0E8-3388DE78FD3B}"/>
                </a:ext>
              </a:extLst>
            </p:cNvPr>
            <p:cNvSpPr txBox="1">
              <a:spLocks noChangeArrowheads="1"/>
            </p:cNvSpPr>
            <p:nvPr/>
          </p:nvSpPr>
          <p:spPr bwMode="auto">
            <a:xfrm>
              <a:off x="952178" y="5015402"/>
              <a:ext cx="2129071" cy="388253"/>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spc="-150">
                  <a:solidFill>
                    <a:srgbClr val="104E87"/>
                  </a:solidFill>
                  <a:latin typeface="Comic Sans MS" panose="030F0702030302020204" pitchFamily="66" charset="0"/>
                </a:rPr>
                <a:t>+ fun() : void</a:t>
              </a:r>
            </a:p>
          </p:txBody>
        </p:sp>
      </p:grpSp>
      <p:sp>
        <p:nvSpPr>
          <p:cNvPr id="54" name="AutoShape 80">
            <a:extLst>
              <a:ext uri="{FF2B5EF4-FFF2-40B4-BE49-F238E27FC236}">
                <a16:creationId xmlns:a16="http://schemas.microsoft.com/office/drawing/2014/main" id="{27F7322D-A241-486F-B3DE-17FD916CB0B1}"/>
              </a:ext>
            </a:extLst>
          </p:cNvPr>
          <p:cNvSpPr>
            <a:spLocks noChangeArrowheads="1"/>
          </p:cNvSpPr>
          <p:nvPr/>
        </p:nvSpPr>
        <p:spPr bwMode="auto">
          <a:xfrm>
            <a:off x="6137718" y="5122923"/>
            <a:ext cx="328291" cy="200034"/>
          </a:xfrm>
          <a:prstGeom prst="triangle">
            <a:avLst>
              <a:gd name="adj" fmla="val 50000"/>
            </a:avLst>
          </a:prstGeom>
          <a:solidFill>
            <a:srgbClr val="104E87"/>
          </a:solidFill>
          <a:ln w="9525">
            <a:solidFill>
              <a:srgbClr val="104E87"/>
            </a:solidFill>
            <a:miter lim="800000"/>
            <a:headEnd/>
            <a:tailE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600" b="0" spc="-150">
              <a:solidFill>
                <a:srgbClr val="104E87"/>
              </a:solidFill>
              <a:latin typeface="Comic Sans MS" panose="030F0702030302020204" pitchFamily="66" charset="0"/>
              <a:ea typeface="隶书" panose="02010509060101010101" pitchFamily="49" charset="-122"/>
            </a:endParaRPr>
          </a:p>
        </p:txBody>
      </p:sp>
      <p:sp>
        <p:nvSpPr>
          <p:cNvPr id="55" name="AutoShape 81">
            <a:extLst>
              <a:ext uri="{FF2B5EF4-FFF2-40B4-BE49-F238E27FC236}">
                <a16:creationId xmlns:a16="http://schemas.microsoft.com/office/drawing/2014/main" id="{C7B178CA-8AB7-4136-AFCA-AFEEA34F0D07}"/>
              </a:ext>
            </a:extLst>
          </p:cNvPr>
          <p:cNvSpPr>
            <a:spLocks noChangeArrowheads="1"/>
          </p:cNvSpPr>
          <p:nvPr/>
        </p:nvSpPr>
        <p:spPr bwMode="auto">
          <a:xfrm>
            <a:off x="8087801" y="5098222"/>
            <a:ext cx="328291" cy="200034"/>
          </a:xfrm>
          <a:prstGeom prst="triangle">
            <a:avLst>
              <a:gd name="adj" fmla="val 50000"/>
            </a:avLst>
          </a:prstGeom>
          <a:solidFill>
            <a:srgbClr val="104E87"/>
          </a:solidFill>
          <a:ln w="9525">
            <a:solidFill>
              <a:schemeClr val="tx1"/>
            </a:solidFill>
            <a:miter lim="800000"/>
            <a:headEnd/>
            <a:tailE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600" b="0" spc="-150">
              <a:solidFill>
                <a:srgbClr val="104E87"/>
              </a:solidFill>
              <a:latin typeface="Comic Sans MS" panose="030F0702030302020204" pitchFamily="66" charset="0"/>
              <a:ea typeface="隶书" panose="02010509060101010101" pitchFamily="49" charset="-122"/>
            </a:endParaRPr>
          </a:p>
        </p:txBody>
      </p:sp>
      <p:grpSp>
        <p:nvGrpSpPr>
          <p:cNvPr id="56" name="组合 55">
            <a:extLst>
              <a:ext uri="{FF2B5EF4-FFF2-40B4-BE49-F238E27FC236}">
                <a16:creationId xmlns:a16="http://schemas.microsoft.com/office/drawing/2014/main" id="{F0080ADA-D542-48E1-81EC-5851D67275CA}"/>
              </a:ext>
            </a:extLst>
          </p:cNvPr>
          <p:cNvGrpSpPr/>
          <p:nvPr/>
        </p:nvGrpSpPr>
        <p:grpSpPr>
          <a:xfrm>
            <a:off x="6282998" y="5295630"/>
            <a:ext cx="1961556" cy="271589"/>
            <a:chOff x="953352" y="3957353"/>
            <a:chExt cx="1961556" cy="271589"/>
          </a:xfrm>
        </p:grpSpPr>
        <p:sp>
          <p:nvSpPr>
            <p:cNvPr id="57" name="Line 82">
              <a:extLst>
                <a:ext uri="{FF2B5EF4-FFF2-40B4-BE49-F238E27FC236}">
                  <a16:creationId xmlns:a16="http://schemas.microsoft.com/office/drawing/2014/main" id="{EBEB7591-4F9B-4776-8581-08AAC5505F06}"/>
                </a:ext>
              </a:extLst>
            </p:cNvPr>
            <p:cNvSpPr>
              <a:spLocks noChangeShapeType="1"/>
            </p:cNvSpPr>
            <p:nvPr/>
          </p:nvSpPr>
          <p:spPr bwMode="auto">
            <a:xfrm>
              <a:off x="953352" y="3967890"/>
              <a:ext cx="0" cy="115251"/>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a:lstStyle/>
            <a:p>
              <a:endParaRPr lang="zh-CN" altLang="en-US" spc="-150">
                <a:solidFill>
                  <a:srgbClr val="104E87"/>
                </a:solidFill>
                <a:latin typeface="Comic Sans MS" panose="030F0702030302020204" pitchFamily="66" charset="0"/>
              </a:endParaRPr>
            </a:p>
          </p:txBody>
        </p:sp>
        <p:sp>
          <p:nvSpPr>
            <p:cNvPr id="58" name="Line 83">
              <a:extLst>
                <a:ext uri="{FF2B5EF4-FFF2-40B4-BE49-F238E27FC236}">
                  <a16:creationId xmlns:a16="http://schemas.microsoft.com/office/drawing/2014/main" id="{976DFAC6-5C1E-424E-8455-5F8EFBDBD09C}"/>
                </a:ext>
              </a:extLst>
            </p:cNvPr>
            <p:cNvSpPr>
              <a:spLocks noChangeShapeType="1"/>
            </p:cNvSpPr>
            <p:nvPr/>
          </p:nvSpPr>
          <p:spPr bwMode="auto">
            <a:xfrm>
              <a:off x="2914907" y="3957353"/>
              <a:ext cx="0" cy="115251"/>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a:lstStyle/>
            <a:p>
              <a:endParaRPr lang="zh-CN" altLang="en-US" spc="-150">
                <a:solidFill>
                  <a:srgbClr val="104E87"/>
                </a:solidFill>
                <a:latin typeface="Comic Sans MS" panose="030F0702030302020204" pitchFamily="66" charset="0"/>
              </a:endParaRPr>
            </a:p>
          </p:txBody>
        </p:sp>
        <p:sp>
          <p:nvSpPr>
            <p:cNvPr id="59" name="Line 84">
              <a:extLst>
                <a:ext uri="{FF2B5EF4-FFF2-40B4-BE49-F238E27FC236}">
                  <a16:creationId xmlns:a16="http://schemas.microsoft.com/office/drawing/2014/main" id="{DE658792-B50A-463D-9819-258B042E900E}"/>
                </a:ext>
              </a:extLst>
            </p:cNvPr>
            <p:cNvSpPr>
              <a:spLocks noChangeShapeType="1"/>
            </p:cNvSpPr>
            <p:nvPr/>
          </p:nvSpPr>
          <p:spPr bwMode="auto">
            <a:xfrm>
              <a:off x="953352" y="4083141"/>
              <a:ext cx="1961556" cy="0"/>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a:lstStyle/>
            <a:p>
              <a:endParaRPr lang="zh-CN" altLang="en-US" spc="-150">
                <a:solidFill>
                  <a:srgbClr val="104E87"/>
                </a:solidFill>
                <a:latin typeface="Comic Sans MS" panose="030F0702030302020204" pitchFamily="66" charset="0"/>
              </a:endParaRPr>
            </a:p>
          </p:txBody>
        </p:sp>
        <p:sp>
          <p:nvSpPr>
            <p:cNvPr id="60" name="Line 85">
              <a:extLst>
                <a:ext uri="{FF2B5EF4-FFF2-40B4-BE49-F238E27FC236}">
                  <a16:creationId xmlns:a16="http://schemas.microsoft.com/office/drawing/2014/main" id="{C26D4343-9974-483D-AB43-E8A628029E4D}"/>
                </a:ext>
              </a:extLst>
            </p:cNvPr>
            <p:cNvSpPr>
              <a:spLocks noChangeShapeType="1"/>
            </p:cNvSpPr>
            <p:nvPr/>
          </p:nvSpPr>
          <p:spPr bwMode="auto">
            <a:xfrm flipV="1">
              <a:off x="1937713" y="4082708"/>
              <a:ext cx="0" cy="146234"/>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a:lstStyle/>
            <a:p>
              <a:endParaRPr lang="zh-CN" altLang="en-US" spc="-150">
                <a:solidFill>
                  <a:srgbClr val="104E87"/>
                </a:solidFill>
                <a:latin typeface="Comic Sans MS" panose="030F0702030302020204" pitchFamily="66" charset="0"/>
              </a:endParaRPr>
            </a:p>
          </p:txBody>
        </p:sp>
      </p:grpSp>
      <p:grpSp>
        <p:nvGrpSpPr>
          <p:cNvPr id="61" name="Group 86">
            <a:extLst>
              <a:ext uri="{FF2B5EF4-FFF2-40B4-BE49-F238E27FC236}">
                <a16:creationId xmlns:a16="http://schemas.microsoft.com/office/drawing/2014/main" id="{19563743-6419-4690-A617-53BB02767491}"/>
              </a:ext>
            </a:extLst>
          </p:cNvPr>
          <p:cNvGrpSpPr>
            <a:grpSpLocks/>
          </p:cNvGrpSpPr>
          <p:nvPr/>
        </p:nvGrpSpPr>
        <p:grpSpPr bwMode="auto">
          <a:xfrm>
            <a:off x="6238105" y="2760284"/>
            <a:ext cx="2198917" cy="1206554"/>
            <a:chOff x="6570" y="7732"/>
            <a:chExt cx="1495" cy="1665"/>
          </a:xfrm>
        </p:grpSpPr>
        <p:sp>
          <p:nvSpPr>
            <p:cNvPr id="62" name="Text Box 87">
              <a:extLst>
                <a:ext uri="{FF2B5EF4-FFF2-40B4-BE49-F238E27FC236}">
                  <a16:creationId xmlns:a16="http://schemas.microsoft.com/office/drawing/2014/main" id="{5388E899-FF66-4D9C-99A1-A3788368B4CA}"/>
                </a:ext>
              </a:extLst>
            </p:cNvPr>
            <p:cNvSpPr txBox="1">
              <a:spLocks noChangeArrowheads="1"/>
            </p:cNvSpPr>
            <p:nvPr/>
          </p:nvSpPr>
          <p:spPr bwMode="auto">
            <a:xfrm>
              <a:off x="6571" y="7732"/>
              <a:ext cx="1494" cy="555"/>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spc="-150" dirty="0">
                  <a:solidFill>
                    <a:srgbClr val="104E87"/>
                  </a:solidFill>
                  <a:latin typeface="Comic Sans MS" panose="030F0702030302020204" pitchFamily="66" charset="0"/>
                </a:rPr>
                <a:t>&lt;&lt;virtual&gt;&gt; Base0</a:t>
              </a:r>
            </a:p>
          </p:txBody>
        </p:sp>
        <p:sp>
          <p:nvSpPr>
            <p:cNvPr id="63" name="Text Box 88">
              <a:extLst>
                <a:ext uri="{FF2B5EF4-FFF2-40B4-BE49-F238E27FC236}">
                  <a16:creationId xmlns:a16="http://schemas.microsoft.com/office/drawing/2014/main" id="{03530283-93F1-4049-A119-6D255B86AA4C}"/>
                </a:ext>
              </a:extLst>
            </p:cNvPr>
            <p:cNvSpPr txBox="1">
              <a:spLocks noChangeArrowheads="1"/>
            </p:cNvSpPr>
            <p:nvPr/>
          </p:nvSpPr>
          <p:spPr bwMode="auto">
            <a:xfrm>
              <a:off x="6570" y="8287"/>
              <a:ext cx="1495" cy="555"/>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b="0" spc="-150" dirty="0">
                  <a:solidFill>
                    <a:srgbClr val="104E87"/>
                  </a:solidFill>
                  <a:latin typeface="Comic Sans MS" panose="030F0702030302020204" pitchFamily="66" charset="0"/>
                </a:rPr>
                <a:t>+ var0 : int</a:t>
              </a:r>
            </a:p>
          </p:txBody>
        </p:sp>
        <p:sp>
          <p:nvSpPr>
            <p:cNvPr id="64" name="Text Box 89">
              <a:extLst>
                <a:ext uri="{FF2B5EF4-FFF2-40B4-BE49-F238E27FC236}">
                  <a16:creationId xmlns:a16="http://schemas.microsoft.com/office/drawing/2014/main" id="{E26FAE55-33BE-49F1-AE65-B40C4E2DBAA0}"/>
                </a:ext>
              </a:extLst>
            </p:cNvPr>
            <p:cNvSpPr txBox="1">
              <a:spLocks noChangeArrowheads="1"/>
            </p:cNvSpPr>
            <p:nvPr/>
          </p:nvSpPr>
          <p:spPr bwMode="auto">
            <a:xfrm>
              <a:off x="6570" y="8842"/>
              <a:ext cx="1495" cy="555"/>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b="0" spc="-150" dirty="0">
                  <a:solidFill>
                    <a:srgbClr val="104E87"/>
                  </a:solidFill>
                  <a:latin typeface="Comic Sans MS" panose="030F0702030302020204" pitchFamily="66" charset="0"/>
                </a:rPr>
                <a:t>+ fun0() : void</a:t>
              </a:r>
            </a:p>
          </p:txBody>
        </p:sp>
      </p:grpSp>
      <p:sp>
        <p:nvSpPr>
          <p:cNvPr id="65" name="AutoShape 90">
            <a:extLst>
              <a:ext uri="{FF2B5EF4-FFF2-40B4-BE49-F238E27FC236}">
                <a16:creationId xmlns:a16="http://schemas.microsoft.com/office/drawing/2014/main" id="{5707A1DE-6FFA-4E3C-B8DD-B0E8E5B80253}"/>
              </a:ext>
            </a:extLst>
          </p:cNvPr>
          <p:cNvSpPr>
            <a:spLocks noChangeArrowheads="1"/>
          </p:cNvSpPr>
          <p:nvPr/>
        </p:nvSpPr>
        <p:spPr bwMode="auto">
          <a:xfrm>
            <a:off x="7152405" y="3958475"/>
            <a:ext cx="330115" cy="200034"/>
          </a:xfrm>
          <a:prstGeom prst="triangle">
            <a:avLst>
              <a:gd name="adj" fmla="val 50000"/>
            </a:avLst>
          </a:prstGeom>
          <a:solidFill>
            <a:srgbClr val="104E87"/>
          </a:solidFill>
          <a:ln w="9525">
            <a:solidFill>
              <a:schemeClr val="tx1"/>
            </a:solidFill>
            <a:miter lim="800000"/>
            <a:headEnd/>
            <a:tailE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600" b="0" spc="-150">
              <a:solidFill>
                <a:srgbClr val="104E87"/>
              </a:solidFill>
              <a:latin typeface="Comic Sans MS" panose="030F0702030302020204" pitchFamily="66" charset="0"/>
              <a:ea typeface="隶书" panose="02010509060101010101" pitchFamily="49" charset="-122"/>
            </a:endParaRPr>
          </a:p>
        </p:txBody>
      </p:sp>
      <p:grpSp>
        <p:nvGrpSpPr>
          <p:cNvPr id="66" name="组合 65">
            <a:extLst>
              <a:ext uri="{FF2B5EF4-FFF2-40B4-BE49-F238E27FC236}">
                <a16:creationId xmlns:a16="http://schemas.microsoft.com/office/drawing/2014/main" id="{BFB5B81B-2901-42D2-9C9A-72122317479D}"/>
              </a:ext>
            </a:extLst>
          </p:cNvPr>
          <p:cNvGrpSpPr/>
          <p:nvPr/>
        </p:nvGrpSpPr>
        <p:grpSpPr>
          <a:xfrm>
            <a:off x="6346224" y="4148308"/>
            <a:ext cx="1810536" cy="150865"/>
            <a:chOff x="451231" y="2767979"/>
            <a:chExt cx="2909023" cy="176780"/>
          </a:xfrm>
        </p:grpSpPr>
        <p:sp>
          <p:nvSpPr>
            <p:cNvPr id="67" name="Line 91">
              <a:extLst>
                <a:ext uri="{FF2B5EF4-FFF2-40B4-BE49-F238E27FC236}">
                  <a16:creationId xmlns:a16="http://schemas.microsoft.com/office/drawing/2014/main" id="{45240346-95A3-4480-AEDF-D510A254AF29}"/>
                </a:ext>
              </a:extLst>
            </p:cNvPr>
            <p:cNvSpPr>
              <a:spLocks noChangeShapeType="1"/>
            </p:cNvSpPr>
            <p:nvPr/>
          </p:nvSpPr>
          <p:spPr bwMode="auto">
            <a:xfrm>
              <a:off x="451231" y="2845236"/>
              <a:ext cx="2909023" cy="0"/>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a:lstStyle/>
            <a:p>
              <a:endParaRPr lang="zh-CN" altLang="en-US" spc="-150">
                <a:solidFill>
                  <a:srgbClr val="104E87"/>
                </a:solidFill>
                <a:latin typeface="Comic Sans MS" panose="030F0702030302020204" pitchFamily="66" charset="0"/>
              </a:endParaRPr>
            </a:p>
          </p:txBody>
        </p:sp>
        <p:sp>
          <p:nvSpPr>
            <p:cNvPr id="68" name="Line 92">
              <a:extLst>
                <a:ext uri="{FF2B5EF4-FFF2-40B4-BE49-F238E27FC236}">
                  <a16:creationId xmlns:a16="http://schemas.microsoft.com/office/drawing/2014/main" id="{2E789695-82A7-428D-9848-D887D2DB72FB}"/>
                </a:ext>
              </a:extLst>
            </p:cNvPr>
            <p:cNvSpPr>
              <a:spLocks noChangeShapeType="1"/>
            </p:cNvSpPr>
            <p:nvPr/>
          </p:nvSpPr>
          <p:spPr bwMode="auto">
            <a:xfrm>
              <a:off x="451231" y="2845236"/>
              <a:ext cx="0" cy="99523"/>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a:lstStyle/>
            <a:p>
              <a:endParaRPr lang="zh-CN" altLang="en-US" spc="-150">
                <a:solidFill>
                  <a:srgbClr val="104E87"/>
                </a:solidFill>
                <a:latin typeface="Comic Sans MS" panose="030F0702030302020204" pitchFamily="66" charset="0"/>
              </a:endParaRPr>
            </a:p>
          </p:txBody>
        </p:sp>
        <p:sp>
          <p:nvSpPr>
            <p:cNvPr id="69" name="Line 93">
              <a:extLst>
                <a:ext uri="{FF2B5EF4-FFF2-40B4-BE49-F238E27FC236}">
                  <a16:creationId xmlns:a16="http://schemas.microsoft.com/office/drawing/2014/main" id="{4A91AC4F-D125-4E13-B9E5-817458B14D73}"/>
                </a:ext>
              </a:extLst>
            </p:cNvPr>
            <p:cNvSpPr>
              <a:spLocks noChangeShapeType="1"/>
            </p:cNvSpPr>
            <p:nvPr/>
          </p:nvSpPr>
          <p:spPr bwMode="auto">
            <a:xfrm>
              <a:off x="3360254" y="2845236"/>
              <a:ext cx="0" cy="99523"/>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a:lstStyle/>
            <a:p>
              <a:endParaRPr lang="zh-CN" altLang="en-US" spc="-150">
                <a:solidFill>
                  <a:srgbClr val="104E87"/>
                </a:solidFill>
                <a:latin typeface="Comic Sans MS" panose="030F0702030302020204" pitchFamily="66" charset="0"/>
              </a:endParaRPr>
            </a:p>
          </p:txBody>
        </p:sp>
        <p:sp>
          <p:nvSpPr>
            <p:cNvPr id="70" name="Line 94">
              <a:extLst>
                <a:ext uri="{FF2B5EF4-FFF2-40B4-BE49-F238E27FC236}">
                  <a16:creationId xmlns:a16="http://schemas.microsoft.com/office/drawing/2014/main" id="{720A9966-C7AC-4109-9D31-FE5DB780D3C5}"/>
                </a:ext>
              </a:extLst>
            </p:cNvPr>
            <p:cNvSpPr>
              <a:spLocks noChangeShapeType="1"/>
            </p:cNvSpPr>
            <p:nvPr/>
          </p:nvSpPr>
          <p:spPr bwMode="auto">
            <a:xfrm>
              <a:off x="1988727" y="2767979"/>
              <a:ext cx="0" cy="77258"/>
            </a:xfrm>
            <a:prstGeom prst="line">
              <a:avLst/>
            </a:prstGeom>
            <a:noFill/>
            <a:ln w="9525">
              <a:solidFill>
                <a:srgbClr val="104E87"/>
              </a:solidFill>
              <a:round/>
              <a:headEnd/>
              <a:tailEnd/>
            </a:ln>
            <a:extLst>
              <a:ext uri="{909E8E84-426E-40DD-AFC4-6F175D3DCCD1}">
                <a14:hiddenFill xmlns:a14="http://schemas.microsoft.com/office/drawing/2010/main">
                  <a:noFill/>
                </a14:hiddenFill>
              </a:ext>
            </a:extLst>
          </p:spPr>
          <p:txBody>
            <a:bodyPr/>
            <a:lstStyle/>
            <a:p>
              <a:endParaRPr lang="zh-CN" altLang="en-US" spc="-150">
                <a:solidFill>
                  <a:srgbClr val="104E87"/>
                </a:solidFill>
                <a:latin typeface="Comic Sans MS" panose="030F0702030302020204" pitchFamily="66" charset="0"/>
              </a:endParaRPr>
            </a:p>
          </p:txBody>
        </p:sp>
      </p:grpSp>
      <p:sp>
        <p:nvSpPr>
          <p:cNvPr id="71" name="Text Box 65">
            <a:extLst>
              <a:ext uri="{FF2B5EF4-FFF2-40B4-BE49-F238E27FC236}">
                <a16:creationId xmlns:a16="http://schemas.microsoft.com/office/drawing/2014/main" id="{CF456DEE-9798-4010-B40E-4982807EC11A}"/>
              </a:ext>
            </a:extLst>
          </p:cNvPr>
          <p:cNvSpPr txBox="1">
            <a:spLocks noChangeArrowheads="1"/>
          </p:cNvSpPr>
          <p:nvPr/>
        </p:nvSpPr>
        <p:spPr bwMode="auto">
          <a:xfrm>
            <a:off x="9521024" y="2530364"/>
            <a:ext cx="2457524" cy="379430"/>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spc="-150">
                <a:solidFill>
                  <a:srgbClr val="104E87"/>
                </a:solidFill>
                <a:latin typeface="Comic Sans MS" panose="030F0702030302020204" pitchFamily="66" charset="0"/>
              </a:rPr>
              <a:t>Derived</a:t>
            </a:r>
            <a:endParaRPr lang="zh-CN" altLang="en-US" b="0" spc="-150">
              <a:solidFill>
                <a:srgbClr val="104E87"/>
              </a:solidFill>
              <a:latin typeface="Comic Sans MS" panose="030F0702030302020204" pitchFamily="66" charset="0"/>
            </a:endParaRPr>
          </a:p>
          <a:p>
            <a:pPr algn="ctr"/>
            <a:endParaRPr lang="en-US" altLang="zh-CN" b="0" spc="-150">
              <a:solidFill>
                <a:srgbClr val="104E87"/>
              </a:solidFill>
              <a:latin typeface="Comic Sans MS" panose="030F0702030302020204" pitchFamily="66" charset="0"/>
            </a:endParaRPr>
          </a:p>
        </p:txBody>
      </p:sp>
      <p:sp>
        <p:nvSpPr>
          <p:cNvPr id="72" name="Text Box 66">
            <a:extLst>
              <a:ext uri="{FF2B5EF4-FFF2-40B4-BE49-F238E27FC236}">
                <a16:creationId xmlns:a16="http://schemas.microsoft.com/office/drawing/2014/main" id="{515C16AB-BFFA-4A0F-B241-D27F46DDFA32}"/>
              </a:ext>
            </a:extLst>
          </p:cNvPr>
          <p:cNvSpPr txBox="1">
            <a:spLocks noChangeArrowheads="1"/>
          </p:cNvSpPr>
          <p:nvPr/>
        </p:nvSpPr>
        <p:spPr bwMode="auto">
          <a:xfrm>
            <a:off x="9515552" y="2906069"/>
            <a:ext cx="2462996" cy="1539075"/>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spc="-150" dirty="0">
                <a:solidFill>
                  <a:srgbClr val="104E87"/>
                </a:solidFill>
                <a:latin typeface="Comic Sans MS" panose="030F0702030302020204" pitchFamily="66" charset="0"/>
              </a:rPr>
              <a:t>Base0::var0:int</a:t>
            </a:r>
          </a:p>
          <a:p>
            <a:pPr algn="ctr"/>
            <a:r>
              <a:rPr lang="en-US" altLang="zh-CN" b="0" spc="-150" dirty="0">
                <a:solidFill>
                  <a:srgbClr val="104E87"/>
                </a:solidFill>
                <a:latin typeface="Comic Sans MS" panose="030F0702030302020204" pitchFamily="66" charset="0"/>
              </a:rPr>
              <a:t>Base1::var1:int</a:t>
            </a:r>
          </a:p>
          <a:p>
            <a:pPr algn="ctr"/>
            <a:r>
              <a:rPr lang="en-US" altLang="zh-CN" b="0" spc="-150" dirty="0">
                <a:solidFill>
                  <a:srgbClr val="104E87"/>
                </a:solidFill>
                <a:latin typeface="Comic Sans MS" panose="030F0702030302020204" pitchFamily="66" charset="0"/>
              </a:rPr>
              <a:t>Base2::var2:int</a:t>
            </a:r>
          </a:p>
          <a:p>
            <a:pPr algn="ctr"/>
            <a:r>
              <a:rPr lang="en-US" altLang="zh-CN" b="0" spc="-150" dirty="0">
                <a:solidFill>
                  <a:srgbClr val="104E87"/>
                </a:solidFill>
                <a:latin typeface="Comic Sans MS" panose="030F0702030302020204" pitchFamily="66" charset="0"/>
              </a:rPr>
              <a:t>var :int</a:t>
            </a:r>
          </a:p>
        </p:txBody>
      </p:sp>
      <p:sp>
        <p:nvSpPr>
          <p:cNvPr id="73" name="Text Box 67">
            <a:extLst>
              <a:ext uri="{FF2B5EF4-FFF2-40B4-BE49-F238E27FC236}">
                <a16:creationId xmlns:a16="http://schemas.microsoft.com/office/drawing/2014/main" id="{473D961C-3B6E-418B-8A9C-44D07B734A99}"/>
              </a:ext>
            </a:extLst>
          </p:cNvPr>
          <p:cNvSpPr txBox="1">
            <a:spLocks noChangeArrowheads="1"/>
          </p:cNvSpPr>
          <p:nvPr/>
        </p:nvSpPr>
        <p:spPr bwMode="auto">
          <a:xfrm>
            <a:off x="9521024" y="4438336"/>
            <a:ext cx="2457524" cy="763622"/>
          </a:xfrm>
          <a:prstGeom prst="rect">
            <a:avLst/>
          </a:prstGeom>
          <a:noFill/>
          <a:ln w="9525">
            <a:solidFill>
              <a:srgbClr val="104E87"/>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b="0" spc="-150" dirty="0">
                <a:solidFill>
                  <a:srgbClr val="104E87"/>
                </a:solidFill>
                <a:latin typeface="Comic Sans MS" panose="030F0702030302020204" pitchFamily="66" charset="0"/>
              </a:rPr>
              <a:t>Base0::fun0():void</a:t>
            </a:r>
          </a:p>
          <a:p>
            <a:pPr algn="ctr"/>
            <a:r>
              <a:rPr lang="en-US" altLang="zh-CN" b="0" spc="-150" dirty="0">
                <a:solidFill>
                  <a:srgbClr val="104E87"/>
                </a:solidFill>
                <a:latin typeface="Comic Sans MS" panose="030F0702030302020204" pitchFamily="66" charset="0"/>
              </a:rPr>
              <a:t>fun():void</a:t>
            </a:r>
          </a:p>
        </p:txBody>
      </p:sp>
    </p:spTree>
    <p:extLst>
      <p:ext uri="{BB962C8B-B14F-4D97-AF65-F5344CB8AC3E}">
        <p14:creationId xmlns:p14="http://schemas.microsoft.com/office/powerpoint/2010/main" val="286249442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barn(inVertical)">
                                      <p:cBhvr>
                                        <p:cTn id="12" dur="500"/>
                                        <p:tgtEl>
                                          <p:spTgt spid="42"/>
                                        </p:tgtEl>
                                      </p:cBhvr>
                                    </p:animEffect>
                                  </p:childTnLst>
                                </p:cTn>
                              </p:par>
                              <p:par>
                                <p:cTn id="13" presetID="16" presetClass="entr" presetSubtype="21"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barn(inVertical)">
                                      <p:cBhvr>
                                        <p:cTn id="15" dur="500"/>
                                        <p:tgtEl>
                                          <p:spTgt spid="46"/>
                                        </p:tgtEl>
                                      </p:cBhvr>
                                    </p:animEffect>
                                  </p:childTnLst>
                                </p:cTn>
                              </p:par>
                              <p:par>
                                <p:cTn id="16" presetID="16" presetClass="entr" presetSubtype="21" fill="hold" nodeType="with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barn(inVertical)">
                                      <p:cBhvr>
                                        <p:cTn id="18" dur="500"/>
                                        <p:tgtEl>
                                          <p:spTgt spid="50"/>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barn(inVertical)">
                                      <p:cBhvr>
                                        <p:cTn id="21" dur="500"/>
                                        <p:tgtEl>
                                          <p:spTgt spid="54"/>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55"/>
                                        </p:tgtEl>
                                        <p:attrNameLst>
                                          <p:attrName>style.visibility</p:attrName>
                                        </p:attrNameLst>
                                      </p:cBhvr>
                                      <p:to>
                                        <p:strVal val="visible"/>
                                      </p:to>
                                    </p:set>
                                    <p:animEffect transition="in" filter="barn(inVertical)">
                                      <p:cBhvr>
                                        <p:cTn id="24" dur="500"/>
                                        <p:tgtEl>
                                          <p:spTgt spid="55"/>
                                        </p:tgtEl>
                                      </p:cBhvr>
                                    </p:animEffect>
                                  </p:childTnLst>
                                </p:cTn>
                              </p:par>
                              <p:par>
                                <p:cTn id="25" presetID="16" presetClass="entr" presetSubtype="21" fill="hold" nodeType="with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barn(inVertical)">
                                      <p:cBhvr>
                                        <p:cTn id="27" dur="500"/>
                                        <p:tgtEl>
                                          <p:spTgt spid="56"/>
                                        </p:tgtEl>
                                      </p:cBhvr>
                                    </p:animEffect>
                                  </p:childTnLst>
                                </p:cTn>
                              </p:par>
                              <p:par>
                                <p:cTn id="28" presetID="16" presetClass="entr" presetSubtype="21" fill="hold" nodeType="with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barn(inVertical)">
                                      <p:cBhvr>
                                        <p:cTn id="30" dur="500"/>
                                        <p:tgtEl>
                                          <p:spTgt spid="61"/>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animEffect transition="in" filter="barn(inVertical)">
                                      <p:cBhvr>
                                        <p:cTn id="33" dur="500"/>
                                        <p:tgtEl>
                                          <p:spTgt spid="65"/>
                                        </p:tgtEl>
                                      </p:cBhvr>
                                    </p:animEffect>
                                  </p:childTnLst>
                                </p:cTn>
                              </p:par>
                              <p:par>
                                <p:cTn id="34" presetID="16" presetClass="entr" presetSubtype="21" fill="hold" nodeType="withEffect">
                                  <p:stCondLst>
                                    <p:cond delay="0"/>
                                  </p:stCondLst>
                                  <p:childTnLst>
                                    <p:set>
                                      <p:cBhvr>
                                        <p:cTn id="35" dur="1" fill="hold">
                                          <p:stCondLst>
                                            <p:cond delay="0"/>
                                          </p:stCondLst>
                                        </p:cTn>
                                        <p:tgtEl>
                                          <p:spTgt spid="66"/>
                                        </p:tgtEl>
                                        <p:attrNameLst>
                                          <p:attrName>style.visibility</p:attrName>
                                        </p:attrNameLst>
                                      </p:cBhvr>
                                      <p:to>
                                        <p:strVal val="visible"/>
                                      </p:to>
                                    </p:set>
                                    <p:animEffect transition="in" filter="barn(inVertical)">
                                      <p:cBhvr>
                                        <p:cTn id="36" dur="500"/>
                                        <p:tgtEl>
                                          <p:spTgt spid="66"/>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71"/>
                                        </p:tgtEl>
                                        <p:attrNameLst>
                                          <p:attrName>style.visibility</p:attrName>
                                        </p:attrNameLst>
                                      </p:cBhvr>
                                      <p:to>
                                        <p:strVal val="visible"/>
                                      </p:to>
                                    </p:set>
                                    <p:animEffect transition="in" filter="barn(inVertical)">
                                      <p:cBhvr>
                                        <p:cTn id="41" dur="500"/>
                                        <p:tgtEl>
                                          <p:spTgt spid="71"/>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barn(inVertical)">
                                      <p:cBhvr>
                                        <p:cTn id="44" dur="500"/>
                                        <p:tgtEl>
                                          <p:spTgt spid="72"/>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barn(inVertical)">
                                      <p:cBhvr>
                                        <p:cTn id="47" dur="500"/>
                                        <p:tgtEl>
                                          <p:spTgt spid="73"/>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randombar(horizontal)">
                                      <p:cBhvr>
                                        <p:cTn id="5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54" grpId="0" animBg="1"/>
      <p:bldP spid="55" grpId="0" animBg="1"/>
      <p:bldP spid="65" grpId="0" animBg="1"/>
      <p:bldP spid="71" grpId="0" animBg="1"/>
      <p:bldP spid="72" grpId="0" animBg="1"/>
      <p:bldP spid="7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9.6</a:t>
            </a:r>
            <a:r>
              <a:rPr lang="zh-CN" altLang="en-US" dirty="0">
                <a:sym typeface="+mn-lt"/>
              </a:rPr>
              <a:t>虚基类</a:t>
            </a:r>
            <a:r>
              <a:rPr lang="en-US" altLang="zh-CN" dirty="0">
                <a:sym typeface="+mn-lt"/>
              </a:rPr>
              <a:t>——</a:t>
            </a:r>
            <a:r>
              <a:rPr lang="zh-CN" altLang="en-US" dirty="0">
                <a:sym typeface="+mn-lt"/>
              </a:rPr>
              <a:t>共享继承</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2" name="矩形 11">
            <a:extLst>
              <a:ext uri="{FF2B5EF4-FFF2-40B4-BE49-F238E27FC236}">
                <a16:creationId xmlns:a16="http://schemas.microsoft.com/office/drawing/2014/main" id="{E9644E06-ABB9-487B-943B-3091C414D934}"/>
              </a:ext>
            </a:extLst>
          </p:cNvPr>
          <p:cNvSpPr/>
          <p:nvPr/>
        </p:nvSpPr>
        <p:spPr>
          <a:xfrm>
            <a:off x="486873" y="1167228"/>
            <a:ext cx="10866927" cy="3885679"/>
          </a:xfrm>
          <a:prstGeom prst="rect">
            <a:avLst/>
          </a:prstGeom>
        </p:spPr>
        <p:txBody>
          <a:bodyPr wrap="square">
            <a:spAutoFit/>
          </a:bodyPr>
          <a:lstStyle/>
          <a:p>
            <a:pPr>
              <a:lnSpc>
                <a:spcPts val="3300"/>
              </a:lnSpc>
              <a:spcBef>
                <a:spcPts val="1200"/>
              </a:spcBef>
              <a:buClr>
                <a:schemeClr val="bg2"/>
              </a:buClr>
              <a:buSzPct val="70000"/>
              <a:buBlip>
                <a:blip r:embed="rId3"/>
              </a:buBlip>
              <a:defRPr/>
            </a:pPr>
            <a:r>
              <a:rPr lang="zh-CN" altLang="en-US" spc="-100" dirty="0">
                <a:solidFill>
                  <a:srgbClr val="104E87"/>
                </a:solidFill>
                <a:latin typeface="华光行书_CNKI" panose="02000500000000000000" pitchFamily="2" charset="-122"/>
                <a:ea typeface="华光行书_CNKI" panose="02000500000000000000" pitchFamily="2" charset="-122"/>
              </a:rPr>
              <a:t>虚基类构造函数的调用总是先于普通基类的构造函数。 </a:t>
            </a:r>
          </a:p>
          <a:p>
            <a:pPr>
              <a:lnSpc>
                <a:spcPts val="3300"/>
              </a:lnSpc>
              <a:spcBef>
                <a:spcPts val="1200"/>
              </a:spcBef>
              <a:buClr>
                <a:schemeClr val="bg2"/>
              </a:buClr>
              <a:buSzPct val="70000"/>
              <a:buBlip>
                <a:blip r:embed="rId3"/>
              </a:buBlip>
              <a:defRPr/>
            </a:pPr>
            <a:r>
              <a:rPr lang="zh-CN" altLang="en-US" spc="-100" dirty="0">
                <a:solidFill>
                  <a:srgbClr val="104E87"/>
                </a:solidFill>
                <a:latin typeface="华光行书_CNKI" panose="02000500000000000000" pitchFamily="2" charset="-122"/>
                <a:ea typeface="华光行书_CNKI" panose="02000500000000000000" pitchFamily="2" charset="-122"/>
              </a:rPr>
              <a:t>虚基类的唯一副本只被初始化一次</a:t>
            </a:r>
          </a:p>
          <a:p>
            <a:pPr>
              <a:lnSpc>
                <a:spcPts val="3300"/>
              </a:lnSpc>
              <a:spcBef>
                <a:spcPts val="1200"/>
              </a:spcBef>
              <a:buClr>
                <a:schemeClr val="bg2"/>
              </a:buClr>
              <a:buSzPct val="70000"/>
              <a:buBlip>
                <a:blip r:embed="rId3"/>
              </a:buBlip>
              <a:defRPr/>
            </a:pPr>
            <a:r>
              <a:rPr lang="en-US" altLang="zh-CN" spc="-100" dirty="0">
                <a:solidFill>
                  <a:srgbClr val="104E87"/>
                </a:solidFill>
                <a:latin typeface="华光行书_CNKI" panose="02000500000000000000" pitchFamily="2" charset="-122"/>
                <a:ea typeface="华光行书_CNKI" panose="02000500000000000000" pitchFamily="2" charset="-122"/>
              </a:rPr>
              <a:t>C++</a:t>
            </a:r>
            <a:r>
              <a:rPr lang="zh-CN" altLang="en-US" spc="-100" dirty="0">
                <a:solidFill>
                  <a:srgbClr val="104E87"/>
                </a:solidFill>
                <a:latin typeface="华光行书_CNKI" panose="02000500000000000000" pitchFamily="2" charset="-122"/>
                <a:ea typeface="华光行书_CNKI" panose="02000500000000000000" pitchFamily="2" charset="-122"/>
              </a:rPr>
              <a:t>中构造函数的调用次序</a:t>
            </a:r>
          </a:p>
          <a:p>
            <a:pPr lvl="1" algn="just" eaLnBrk="1" hangingPunct="1">
              <a:buFont typeface="Wingdings" pitchFamily="2" charset="2"/>
              <a:buNone/>
              <a:defRPr/>
            </a:pPr>
            <a:r>
              <a:rPr lang="en-US" altLang="zh-CN" dirty="0">
                <a:solidFill>
                  <a:srgbClr val="FF3300"/>
                </a:solidFill>
                <a:latin typeface="华光行书_CNKI" panose="02000500000000000000" pitchFamily="2" charset="-122"/>
                <a:ea typeface="华光行书_CNKI" panose="02000500000000000000" pitchFamily="2" charset="-122"/>
              </a:rPr>
              <a:t>(1) </a:t>
            </a:r>
            <a:r>
              <a:rPr lang="zh-CN" altLang="en-US" dirty="0">
                <a:solidFill>
                  <a:srgbClr val="FF3300"/>
                </a:solidFill>
                <a:latin typeface="华光行书_CNKI" panose="02000500000000000000" pitchFamily="2" charset="-122"/>
                <a:ea typeface="华光行书_CNKI" panose="02000500000000000000" pitchFamily="2" charset="-122"/>
              </a:rPr>
              <a:t>最先调用虚基类的构造函数。</a:t>
            </a:r>
          </a:p>
          <a:p>
            <a:pPr lvl="1" algn="just" eaLnBrk="1" hangingPunct="1">
              <a:buFont typeface="Wingdings" pitchFamily="2" charset="2"/>
              <a:buNone/>
              <a:defRPr/>
            </a:pPr>
            <a:r>
              <a:rPr lang="en-US" altLang="zh-CN" dirty="0">
                <a:solidFill>
                  <a:srgbClr val="FF3300"/>
                </a:solidFill>
                <a:latin typeface="华光行书_CNKI" panose="02000500000000000000" pitchFamily="2" charset="-122"/>
                <a:ea typeface="华光行书_CNKI" panose="02000500000000000000" pitchFamily="2" charset="-122"/>
              </a:rPr>
              <a:t>(2)</a:t>
            </a:r>
            <a:r>
              <a:rPr lang="zh-CN" altLang="en-US" dirty="0">
                <a:solidFill>
                  <a:srgbClr val="FF3300"/>
                </a:solidFill>
                <a:latin typeface="华光行书_CNKI" panose="02000500000000000000" pitchFamily="2" charset="-122"/>
                <a:ea typeface="华光行书_CNKI" panose="02000500000000000000" pitchFamily="2" charset="-122"/>
              </a:rPr>
              <a:t>其次调用普通基类的构造函数，多个基类则按派生类声明时列出的次序、从左到右调用</a:t>
            </a:r>
            <a:r>
              <a:rPr lang="en-US" altLang="zh-CN" dirty="0">
                <a:solidFill>
                  <a:srgbClr val="FF3300"/>
                </a:solidFill>
                <a:latin typeface="华光行书_CNKI" panose="02000500000000000000" pitchFamily="2" charset="-122"/>
                <a:ea typeface="华光行书_CNKI" panose="02000500000000000000" pitchFamily="2" charset="-122"/>
              </a:rPr>
              <a:t>(</a:t>
            </a:r>
            <a:r>
              <a:rPr lang="zh-CN" altLang="en-US" dirty="0">
                <a:solidFill>
                  <a:srgbClr val="FF3300"/>
                </a:solidFill>
                <a:latin typeface="华光行书_CNKI" panose="02000500000000000000" pitchFamily="2" charset="-122"/>
                <a:ea typeface="华光行书_CNKI" panose="02000500000000000000" pitchFamily="2" charset="-122"/>
              </a:rPr>
              <a:t>不是初始化列表中的次序</a:t>
            </a:r>
            <a:r>
              <a:rPr lang="en-US" altLang="zh-CN" dirty="0">
                <a:solidFill>
                  <a:srgbClr val="FF3300"/>
                </a:solidFill>
                <a:latin typeface="华光行书_CNKI" panose="02000500000000000000" pitchFamily="2" charset="-122"/>
                <a:ea typeface="华光行书_CNKI" panose="02000500000000000000" pitchFamily="2" charset="-122"/>
              </a:rPr>
              <a:t>)</a:t>
            </a:r>
            <a:r>
              <a:rPr lang="zh-CN" altLang="en-US" dirty="0">
                <a:solidFill>
                  <a:srgbClr val="FF3300"/>
                </a:solidFill>
                <a:latin typeface="华光行书_CNKI" panose="02000500000000000000" pitchFamily="2" charset="-122"/>
                <a:ea typeface="华光行书_CNKI" panose="02000500000000000000" pitchFamily="2" charset="-122"/>
              </a:rPr>
              <a:t>。</a:t>
            </a:r>
          </a:p>
          <a:p>
            <a:pPr lvl="1" algn="just" eaLnBrk="1" hangingPunct="1">
              <a:buFont typeface="Wingdings" pitchFamily="2" charset="2"/>
              <a:buNone/>
              <a:defRPr/>
            </a:pPr>
            <a:r>
              <a:rPr lang="en-US" altLang="zh-CN" dirty="0">
                <a:solidFill>
                  <a:srgbClr val="FF3300"/>
                </a:solidFill>
                <a:latin typeface="华光行书_CNKI" panose="02000500000000000000" pitchFamily="2" charset="-122"/>
                <a:ea typeface="华光行书_CNKI" panose="02000500000000000000" pitchFamily="2" charset="-122"/>
              </a:rPr>
              <a:t>(3)</a:t>
            </a:r>
            <a:r>
              <a:rPr lang="zh-CN" altLang="en-US" dirty="0">
                <a:solidFill>
                  <a:srgbClr val="FF3300"/>
                </a:solidFill>
                <a:latin typeface="华光行书_CNKI" panose="02000500000000000000" pitchFamily="2" charset="-122"/>
                <a:ea typeface="华光行书_CNKI" panose="02000500000000000000" pitchFamily="2" charset="-122"/>
              </a:rPr>
              <a:t>再次调用对象成员的构造函数，按类声明中对象成员出现的次序调用</a:t>
            </a:r>
            <a:r>
              <a:rPr lang="en-US" altLang="zh-CN" dirty="0">
                <a:solidFill>
                  <a:srgbClr val="FF3300"/>
                </a:solidFill>
                <a:latin typeface="华光行书_CNKI" panose="02000500000000000000" pitchFamily="2" charset="-122"/>
                <a:ea typeface="华光行书_CNKI" panose="02000500000000000000" pitchFamily="2" charset="-122"/>
              </a:rPr>
              <a:t>(</a:t>
            </a:r>
            <a:r>
              <a:rPr lang="zh-CN" altLang="en-US" dirty="0">
                <a:solidFill>
                  <a:srgbClr val="FF3300"/>
                </a:solidFill>
                <a:latin typeface="华光行书_CNKI" panose="02000500000000000000" pitchFamily="2" charset="-122"/>
                <a:ea typeface="华光行书_CNKI" panose="02000500000000000000" pitchFamily="2" charset="-122"/>
              </a:rPr>
              <a:t>不是初始化列表中的次序</a:t>
            </a:r>
            <a:r>
              <a:rPr lang="en-US" altLang="zh-CN" dirty="0">
                <a:solidFill>
                  <a:srgbClr val="FF3300"/>
                </a:solidFill>
                <a:latin typeface="华光行书_CNKI" panose="02000500000000000000" pitchFamily="2" charset="-122"/>
                <a:ea typeface="华光行书_CNKI" panose="02000500000000000000" pitchFamily="2" charset="-122"/>
              </a:rPr>
              <a:t>)</a:t>
            </a:r>
            <a:r>
              <a:rPr lang="zh-CN" altLang="en-US" dirty="0">
                <a:solidFill>
                  <a:schemeClr val="bg2">
                    <a:lumMod val="60000"/>
                    <a:lumOff val="40000"/>
                  </a:schemeClr>
                </a:solidFill>
                <a:latin typeface="华光行书_CNKI" panose="02000500000000000000" pitchFamily="2" charset="-122"/>
                <a:ea typeface="华光行书_CNKI" panose="02000500000000000000" pitchFamily="2" charset="-122"/>
              </a:rPr>
              <a:t>。</a:t>
            </a:r>
          </a:p>
          <a:p>
            <a:pPr lvl="1" eaLnBrk="1" hangingPunct="1">
              <a:buFont typeface="Wingdings" pitchFamily="2" charset="2"/>
              <a:buNone/>
              <a:defRPr/>
            </a:pPr>
            <a:r>
              <a:rPr lang="en-US" altLang="zh-CN" dirty="0">
                <a:solidFill>
                  <a:srgbClr val="FF3300"/>
                </a:solidFill>
                <a:latin typeface="华光行书_CNKI" panose="02000500000000000000" pitchFamily="2" charset="-122"/>
                <a:ea typeface="华光行书_CNKI" panose="02000500000000000000" pitchFamily="2" charset="-122"/>
              </a:rPr>
              <a:t>(4) </a:t>
            </a:r>
            <a:r>
              <a:rPr lang="zh-CN" altLang="en-US" dirty="0">
                <a:solidFill>
                  <a:srgbClr val="FF3300"/>
                </a:solidFill>
                <a:latin typeface="华光行书_CNKI" panose="02000500000000000000" pitchFamily="2" charset="-122"/>
                <a:ea typeface="华光行书_CNKI" panose="02000500000000000000" pitchFamily="2" charset="-122"/>
              </a:rPr>
              <a:t>最后执行派生类的构造函数。</a:t>
            </a:r>
          </a:p>
        </p:txBody>
      </p:sp>
    </p:spTree>
    <p:extLst>
      <p:ext uri="{BB962C8B-B14F-4D97-AF65-F5344CB8AC3E}">
        <p14:creationId xmlns:p14="http://schemas.microsoft.com/office/powerpoint/2010/main" val="3538595794"/>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9" y="224527"/>
            <a:ext cx="6816960"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9.6</a:t>
            </a:r>
            <a:r>
              <a:rPr lang="zh-CN" altLang="en-US" dirty="0">
                <a:sym typeface="+mn-lt"/>
              </a:rPr>
              <a:t>虚基类</a:t>
            </a:r>
            <a:r>
              <a:rPr lang="en-US" altLang="zh-CN" dirty="0">
                <a:sym typeface="+mn-lt"/>
              </a:rPr>
              <a:t>——</a:t>
            </a:r>
            <a:r>
              <a:rPr lang="zh-CN" altLang="en-US" dirty="0">
                <a:sym typeface="+mn-lt"/>
              </a:rPr>
              <a:t>共享继承</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7" name="Rectangle 3">
            <a:extLst>
              <a:ext uri="{FF2B5EF4-FFF2-40B4-BE49-F238E27FC236}">
                <a16:creationId xmlns:a16="http://schemas.microsoft.com/office/drawing/2014/main" id="{B8E11820-2881-46F5-9A70-3D243527C574}"/>
              </a:ext>
            </a:extLst>
          </p:cNvPr>
          <p:cNvSpPr>
            <a:spLocks noChangeArrowheads="1"/>
          </p:cNvSpPr>
          <p:nvPr/>
        </p:nvSpPr>
        <p:spPr bwMode="auto">
          <a:xfrm>
            <a:off x="7660572" y="1002128"/>
            <a:ext cx="3149600" cy="2625655"/>
          </a:xfrm>
          <a:prstGeom prst="rect">
            <a:avLst/>
          </a:prstGeom>
          <a:noFill/>
          <a:ln>
            <a:noFill/>
          </a:ln>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lnSpc>
                <a:spcPct val="80000"/>
              </a:lnSpc>
              <a:spcBef>
                <a:spcPts val="600"/>
              </a:spcBef>
              <a:buClrTx/>
              <a:buSzTx/>
              <a:buFontTx/>
              <a:buNone/>
            </a:pPr>
            <a:r>
              <a:rPr kumimoji="1" lang="en-US" altLang="zh-CN" sz="2400" spc="-100" dirty="0">
                <a:solidFill>
                  <a:srgbClr val="104E87"/>
                </a:solidFill>
                <a:latin typeface="Comic Sans MS" panose="030F0702030302020204" pitchFamily="66" charset="0"/>
                <a:ea typeface="华光行书_CNKI" panose="02000500000000000000" pitchFamily="2" charset="-122"/>
              </a:rPr>
              <a:t>int main()</a:t>
            </a:r>
          </a:p>
          <a:p>
            <a:pPr eaLnBrk="1" hangingPunct="1">
              <a:lnSpc>
                <a:spcPct val="80000"/>
              </a:lnSpc>
              <a:spcBef>
                <a:spcPts val="600"/>
              </a:spcBef>
              <a:buClrTx/>
              <a:buSzTx/>
              <a:buFontTx/>
              <a:buNone/>
            </a:pPr>
            <a:r>
              <a:rPr kumimoji="1" lang="zh-CN" altLang="en-US" sz="2400" spc="-100" dirty="0">
                <a:solidFill>
                  <a:srgbClr val="104E87"/>
                </a:solidFill>
                <a:latin typeface="Comic Sans MS" panose="030F0702030302020204" pitchFamily="66" charset="0"/>
                <a:ea typeface="华光行书_CNKI" panose="02000500000000000000" pitchFamily="2" charset="-122"/>
              </a:rPr>
              <a:t>{</a:t>
            </a:r>
            <a:r>
              <a:rPr kumimoji="1" lang="en-US" altLang="zh-CN" sz="2400" spc="-100" dirty="0">
                <a:solidFill>
                  <a:srgbClr val="104E87"/>
                </a:solidFill>
                <a:latin typeface="Comic Sans MS" panose="030F0702030302020204" pitchFamily="66" charset="0"/>
                <a:ea typeface="华光行书_CNKI" panose="02000500000000000000" pitchFamily="2" charset="-122"/>
              </a:rPr>
              <a:t>DC z; </a:t>
            </a:r>
          </a:p>
          <a:p>
            <a:pPr eaLnBrk="1" hangingPunct="1">
              <a:lnSpc>
                <a:spcPct val="80000"/>
              </a:lnSpc>
              <a:spcBef>
                <a:spcPts val="600"/>
              </a:spcBef>
              <a:buClrTx/>
              <a:buSzTx/>
              <a:buFontTx/>
              <a:buNone/>
            </a:pPr>
            <a:r>
              <a:rPr kumimoji="1" lang="en-US" altLang="zh-CN" sz="2400" spc="-100" dirty="0">
                <a:solidFill>
                  <a:srgbClr val="104E87"/>
                </a:solidFill>
                <a:latin typeface="Comic Sans MS" panose="030F0702030302020204" pitchFamily="66" charset="0"/>
                <a:ea typeface="华光行书_CNKI" panose="02000500000000000000" pitchFamily="2" charset="-122"/>
              </a:rPr>
              <a:t> z.DC1::x=1;</a:t>
            </a:r>
          </a:p>
          <a:p>
            <a:pPr eaLnBrk="1" hangingPunct="1">
              <a:lnSpc>
                <a:spcPct val="80000"/>
              </a:lnSpc>
              <a:spcBef>
                <a:spcPts val="600"/>
              </a:spcBef>
              <a:buClrTx/>
              <a:buSzTx/>
              <a:buFontTx/>
              <a:buNone/>
            </a:pPr>
            <a:r>
              <a:rPr kumimoji="1" lang="en-US" altLang="zh-CN" sz="2400" spc="-100" dirty="0">
                <a:solidFill>
                  <a:srgbClr val="104E87"/>
                </a:solidFill>
                <a:latin typeface="Comic Sans MS" panose="030F0702030302020204" pitchFamily="66" charset="0"/>
                <a:ea typeface="华光行书_CNKI" panose="02000500000000000000" pitchFamily="2" charset="-122"/>
              </a:rPr>
              <a:t> z.DC2::x=2;</a:t>
            </a:r>
          </a:p>
          <a:p>
            <a:pPr eaLnBrk="1" hangingPunct="1">
              <a:lnSpc>
                <a:spcPct val="80000"/>
              </a:lnSpc>
              <a:spcBef>
                <a:spcPts val="600"/>
              </a:spcBef>
              <a:buClrTx/>
              <a:buSzTx/>
              <a:buFontTx/>
              <a:buNone/>
            </a:pPr>
            <a:r>
              <a:rPr kumimoji="1" lang="en-US" altLang="zh-CN" sz="2400" spc="-100" dirty="0">
                <a:solidFill>
                  <a:srgbClr val="104E87"/>
                </a:solidFill>
                <a:latin typeface="Comic Sans MS" panose="030F0702030302020204" pitchFamily="66" charset="0"/>
                <a:ea typeface="华光行书_CNKI" panose="02000500000000000000" pitchFamily="2" charset="-122"/>
              </a:rPr>
              <a:t> </a:t>
            </a:r>
            <a:r>
              <a:rPr kumimoji="1" lang="en-US" altLang="zh-CN" sz="2400" spc="-100" dirty="0" err="1">
                <a:solidFill>
                  <a:srgbClr val="104E87"/>
                </a:solidFill>
                <a:latin typeface="Comic Sans MS" panose="030F0702030302020204" pitchFamily="66" charset="0"/>
                <a:ea typeface="华光行书_CNKI" panose="02000500000000000000" pitchFamily="2" charset="-122"/>
              </a:rPr>
              <a:t>cout</a:t>
            </a:r>
            <a:r>
              <a:rPr kumimoji="1" lang="en-US" altLang="zh-CN" sz="2400" spc="-100" dirty="0">
                <a:solidFill>
                  <a:srgbClr val="104E87"/>
                </a:solidFill>
                <a:latin typeface="Comic Sans MS" panose="030F0702030302020204" pitchFamily="66" charset="0"/>
                <a:ea typeface="华光行书_CNKI" panose="02000500000000000000" pitchFamily="2" charset="-122"/>
              </a:rPr>
              <a:t>&lt;&lt;z.DC1::x&lt;&lt;</a:t>
            </a:r>
            <a:r>
              <a:rPr kumimoji="1" lang="en-US" altLang="zh-CN" sz="2400" spc="-100" dirty="0" err="1">
                <a:solidFill>
                  <a:srgbClr val="104E87"/>
                </a:solidFill>
                <a:latin typeface="Comic Sans MS" panose="030F0702030302020204" pitchFamily="66" charset="0"/>
                <a:ea typeface="华光行书_CNKI" panose="02000500000000000000" pitchFamily="2" charset="-122"/>
              </a:rPr>
              <a:t>endl</a:t>
            </a:r>
            <a:r>
              <a:rPr kumimoji="1" lang="en-US" altLang="zh-CN" sz="2400" spc="-100" dirty="0">
                <a:solidFill>
                  <a:srgbClr val="104E87"/>
                </a:solidFill>
                <a:latin typeface="Comic Sans MS" panose="030F0702030302020204" pitchFamily="66" charset="0"/>
                <a:ea typeface="华光行书_CNKI" panose="02000500000000000000" pitchFamily="2" charset="-122"/>
              </a:rPr>
              <a:t>;</a:t>
            </a:r>
          </a:p>
          <a:p>
            <a:pPr eaLnBrk="1" hangingPunct="1">
              <a:lnSpc>
                <a:spcPct val="80000"/>
              </a:lnSpc>
              <a:spcBef>
                <a:spcPts val="600"/>
              </a:spcBef>
              <a:buClrTx/>
              <a:buSzTx/>
              <a:buFontTx/>
              <a:buNone/>
            </a:pPr>
            <a:r>
              <a:rPr kumimoji="1" lang="en-US" altLang="zh-CN" sz="2400" spc="-100" dirty="0">
                <a:solidFill>
                  <a:srgbClr val="104E87"/>
                </a:solidFill>
                <a:latin typeface="Comic Sans MS" panose="030F0702030302020204" pitchFamily="66" charset="0"/>
                <a:ea typeface="华光行书_CNKI" panose="02000500000000000000" pitchFamily="2" charset="-122"/>
              </a:rPr>
              <a:t> </a:t>
            </a:r>
            <a:r>
              <a:rPr kumimoji="1" lang="en-US" altLang="zh-CN" sz="2400" spc="-100" dirty="0" err="1">
                <a:solidFill>
                  <a:srgbClr val="104E87"/>
                </a:solidFill>
                <a:latin typeface="Comic Sans MS" panose="030F0702030302020204" pitchFamily="66" charset="0"/>
                <a:ea typeface="华光行书_CNKI" panose="02000500000000000000" pitchFamily="2" charset="-122"/>
              </a:rPr>
              <a:t>cout</a:t>
            </a:r>
            <a:r>
              <a:rPr kumimoji="1" lang="en-US" altLang="zh-CN" sz="2400" spc="-100" dirty="0">
                <a:solidFill>
                  <a:srgbClr val="104E87"/>
                </a:solidFill>
                <a:latin typeface="Comic Sans MS" panose="030F0702030302020204" pitchFamily="66" charset="0"/>
                <a:ea typeface="华光行书_CNKI" panose="02000500000000000000" pitchFamily="2" charset="-122"/>
              </a:rPr>
              <a:t>&lt;&lt;z.DC2::x&lt;&lt;</a:t>
            </a:r>
            <a:r>
              <a:rPr kumimoji="1" lang="en-US" altLang="zh-CN" sz="2400" spc="-100" dirty="0" err="1">
                <a:solidFill>
                  <a:srgbClr val="104E87"/>
                </a:solidFill>
                <a:latin typeface="Comic Sans MS" panose="030F0702030302020204" pitchFamily="66" charset="0"/>
                <a:ea typeface="华光行书_CNKI" panose="02000500000000000000" pitchFamily="2" charset="-122"/>
              </a:rPr>
              <a:t>endl</a:t>
            </a:r>
            <a:r>
              <a:rPr kumimoji="1" lang="en-US" altLang="zh-CN" sz="2400" spc="-100" dirty="0">
                <a:solidFill>
                  <a:srgbClr val="104E87"/>
                </a:solidFill>
                <a:latin typeface="Comic Sans MS" panose="030F0702030302020204" pitchFamily="66" charset="0"/>
                <a:ea typeface="华光行书_CNKI" panose="02000500000000000000" pitchFamily="2" charset="-122"/>
              </a:rPr>
              <a:t>;</a:t>
            </a:r>
          </a:p>
          <a:p>
            <a:pPr eaLnBrk="1" hangingPunct="1">
              <a:lnSpc>
                <a:spcPct val="80000"/>
              </a:lnSpc>
              <a:spcBef>
                <a:spcPts val="600"/>
              </a:spcBef>
              <a:buClrTx/>
              <a:buSzTx/>
              <a:buFontTx/>
              <a:buNone/>
            </a:pPr>
            <a:r>
              <a:rPr kumimoji="1" lang="en-US" altLang="zh-CN" sz="2400" spc="-100" dirty="0">
                <a:solidFill>
                  <a:srgbClr val="104E87"/>
                </a:solidFill>
                <a:latin typeface="Comic Sans MS" panose="030F0702030302020204" pitchFamily="66" charset="0"/>
                <a:ea typeface="华光行书_CNKI" panose="02000500000000000000" pitchFamily="2" charset="-122"/>
              </a:rPr>
              <a:t>}</a:t>
            </a:r>
          </a:p>
        </p:txBody>
      </p:sp>
      <p:sp>
        <p:nvSpPr>
          <p:cNvPr id="8" name="Rectangle 5">
            <a:extLst>
              <a:ext uri="{FF2B5EF4-FFF2-40B4-BE49-F238E27FC236}">
                <a16:creationId xmlns:a16="http://schemas.microsoft.com/office/drawing/2014/main" id="{69870EDB-9152-43F9-9DB0-7571603F2EC3}"/>
              </a:ext>
            </a:extLst>
          </p:cNvPr>
          <p:cNvSpPr>
            <a:spLocks noChangeArrowheads="1"/>
          </p:cNvSpPr>
          <p:nvPr/>
        </p:nvSpPr>
        <p:spPr bwMode="auto">
          <a:xfrm>
            <a:off x="10216340" y="3813506"/>
            <a:ext cx="637606" cy="686663"/>
          </a:xfrm>
          <a:prstGeom prst="rect">
            <a:avLst/>
          </a:prstGeom>
          <a:noFill/>
          <a:ln>
            <a:noFill/>
          </a:ln>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lnSpc>
                <a:spcPct val="80000"/>
              </a:lnSpc>
              <a:spcBef>
                <a:spcPct val="0"/>
              </a:spcBef>
              <a:buClrTx/>
              <a:buSzTx/>
              <a:buFontTx/>
              <a:buNone/>
            </a:pPr>
            <a:r>
              <a:rPr kumimoji="1" lang="zh-CN" altLang="en-US" sz="2400" spc="-100" dirty="0">
                <a:solidFill>
                  <a:srgbClr val="104E87"/>
                </a:solidFill>
                <a:latin typeface="Comic Sans MS" panose="030F0702030302020204" pitchFamily="66" charset="0"/>
                <a:ea typeface="华光行书_CNKI" panose="02000500000000000000" pitchFamily="2" charset="-122"/>
              </a:rPr>
              <a:t>2</a:t>
            </a:r>
          </a:p>
          <a:p>
            <a:pPr eaLnBrk="1" hangingPunct="1">
              <a:lnSpc>
                <a:spcPct val="80000"/>
              </a:lnSpc>
              <a:spcBef>
                <a:spcPct val="0"/>
              </a:spcBef>
              <a:buClrTx/>
              <a:buSzTx/>
              <a:buFontTx/>
              <a:buNone/>
            </a:pPr>
            <a:r>
              <a:rPr kumimoji="1" lang="zh-CN" altLang="en-US" sz="2400" spc="-100" dirty="0">
                <a:solidFill>
                  <a:srgbClr val="104E87"/>
                </a:solidFill>
                <a:latin typeface="Comic Sans MS" panose="030F0702030302020204" pitchFamily="66" charset="0"/>
                <a:ea typeface="华光行书_CNKI" panose="02000500000000000000" pitchFamily="2" charset="-122"/>
              </a:rPr>
              <a:t>2</a:t>
            </a:r>
          </a:p>
        </p:txBody>
      </p:sp>
      <p:sp>
        <p:nvSpPr>
          <p:cNvPr id="10" name="Text Box 6">
            <a:extLst>
              <a:ext uri="{FF2B5EF4-FFF2-40B4-BE49-F238E27FC236}">
                <a16:creationId xmlns:a16="http://schemas.microsoft.com/office/drawing/2014/main" id="{A9FEFFFD-6181-4605-8DB7-A1AAED5EDF44}"/>
              </a:ext>
            </a:extLst>
          </p:cNvPr>
          <p:cNvSpPr txBox="1">
            <a:spLocks noChangeArrowheads="1"/>
          </p:cNvSpPr>
          <p:nvPr/>
        </p:nvSpPr>
        <p:spPr bwMode="auto">
          <a:xfrm>
            <a:off x="7704345" y="3627783"/>
            <a:ext cx="3062054" cy="763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nSpc>
                <a:spcPct val="80000"/>
              </a:lnSpc>
              <a:spcBef>
                <a:spcPts val="600"/>
              </a:spcBef>
              <a:buClrTx/>
              <a:buSzTx/>
              <a:buNone/>
            </a:pPr>
            <a:r>
              <a:rPr kumimoji="1" lang="zh-CN" altLang="en-US" sz="2400" spc="-100" dirty="0">
                <a:solidFill>
                  <a:srgbClr val="FF0000"/>
                </a:solidFill>
                <a:latin typeface="Comic Sans MS" panose="030F0702030302020204" pitchFamily="66" charset="0"/>
                <a:ea typeface="华光行书_CNKI" panose="02000500000000000000" pitchFamily="2" charset="-122"/>
              </a:rPr>
              <a:t>构造函数顺序：</a:t>
            </a:r>
            <a:endParaRPr kumimoji="1" lang="en-US" altLang="zh-CN" sz="2400" spc="-100" dirty="0">
              <a:solidFill>
                <a:srgbClr val="FF0000"/>
              </a:solidFill>
              <a:latin typeface="Comic Sans MS" panose="030F0702030302020204" pitchFamily="66" charset="0"/>
              <a:ea typeface="华光行书_CNKI" panose="02000500000000000000" pitchFamily="2" charset="-122"/>
            </a:endParaRPr>
          </a:p>
          <a:p>
            <a:pPr>
              <a:lnSpc>
                <a:spcPct val="80000"/>
              </a:lnSpc>
              <a:spcBef>
                <a:spcPts val="600"/>
              </a:spcBef>
              <a:buClrTx/>
              <a:buSzTx/>
              <a:buNone/>
            </a:pPr>
            <a:r>
              <a:rPr kumimoji="1" lang="en-US" altLang="zh-CN" sz="2400" spc="-100" dirty="0">
                <a:solidFill>
                  <a:srgbClr val="FF0000"/>
                </a:solidFill>
                <a:latin typeface="Comic Sans MS" panose="030F0702030302020204" pitchFamily="66" charset="0"/>
                <a:ea typeface="华光行书_CNKI" panose="02000500000000000000" pitchFamily="2" charset="-122"/>
              </a:rPr>
              <a:t>BC, DC1, DC2, DC</a:t>
            </a:r>
          </a:p>
        </p:txBody>
      </p:sp>
      <p:sp>
        <p:nvSpPr>
          <p:cNvPr id="11" name="Rectangle 5">
            <a:extLst>
              <a:ext uri="{FF2B5EF4-FFF2-40B4-BE49-F238E27FC236}">
                <a16:creationId xmlns:a16="http://schemas.microsoft.com/office/drawing/2014/main" id="{2E1F0A07-CBBA-4058-BCC1-0E765E40327C}"/>
              </a:ext>
            </a:extLst>
          </p:cNvPr>
          <p:cNvSpPr>
            <a:spLocks noChangeArrowheads="1"/>
          </p:cNvSpPr>
          <p:nvPr/>
        </p:nvSpPr>
        <p:spPr bwMode="auto">
          <a:xfrm>
            <a:off x="10718190" y="4931869"/>
            <a:ext cx="550053" cy="686663"/>
          </a:xfrm>
          <a:prstGeom prst="rect">
            <a:avLst/>
          </a:prstGeom>
          <a:noFill/>
          <a:ln>
            <a:noFill/>
          </a:ln>
        </p:spPr>
        <p:txBody>
          <a:bodyPr wrap="square">
            <a:spAutoFit/>
          </a:bodyPr>
          <a:lstStyle/>
          <a:p>
            <a:pPr>
              <a:lnSpc>
                <a:spcPct val="80000"/>
              </a:lnSpc>
              <a:spcBef>
                <a:spcPct val="0"/>
              </a:spcBef>
            </a:pPr>
            <a:r>
              <a:rPr kumimoji="1" lang="zh-CN" altLang="en-US" spc="-100" dirty="0">
                <a:solidFill>
                  <a:srgbClr val="104E87"/>
                </a:solidFill>
                <a:latin typeface="Comic Sans MS" panose="030F0702030302020204" pitchFamily="66" charset="0"/>
                <a:ea typeface="华光行书_CNKI" panose="02000500000000000000" pitchFamily="2" charset="-122"/>
              </a:rPr>
              <a:t>1</a:t>
            </a:r>
          </a:p>
          <a:p>
            <a:pPr>
              <a:lnSpc>
                <a:spcPct val="80000"/>
              </a:lnSpc>
              <a:spcBef>
                <a:spcPct val="0"/>
              </a:spcBef>
            </a:pPr>
            <a:r>
              <a:rPr kumimoji="1" lang="zh-CN" altLang="en-US" spc="-100" dirty="0">
                <a:solidFill>
                  <a:srgbClr val="104E87"/>
                </a:solidFill>
                <a:latin typeface="Comic Sans MS" panose="030F0702030302020204" pitchFamily="66" charset="0"/>
                <a:ea typeface="华光行书_CNKI" panose="02000500000000000000" pitchFamily="2" charset="-122"/>
              </a:rPr>
              <a:t>2</a:t>
            </a:r>
          </a:p>
        </p:txBody>
      </p:sp>
      <p:sp>
        <p:nvSpPr>
          <p:cNvPr id="13" name="Text Box 6">
            <a:extLst>
              <a:ext uri="{FF2B5EF4-FFF2-40B4-BE49-F238E27FC236}">
                <a16:creationId xmlns:a16="http://schemas.microsoft.com/office/drawing/2014/main" id="{47D99071-059F-4B3A-AD50-79381D2A9DD2}"/>
              </a:ext>
            </a:extLst>
          </p:cNvPr>
          <p:cNvSpPr txBox="1">
            <a:spLocks noChangeArrowheads="1"/>
          </p:cNvSpPr>
          <p:nvPr/>
        </p:nvSpPr>
        <p:spPr bwMode="auto">
          <a:xfrm>
            <a:off x="7704345" y="4550066"/>
            <a:ext cx="4405879" cy="763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80000"/>
              </a:lnSpc>
              <a:spcBef>
                <a:spcPts val="600"/>
              </a:spcBef>
              <a:buClrTx/>
              <a:buSzTx/>
              <a:buFont typeface="Wingdings" panose="05000000000000000000" pitchFamily="2" charset="2"/>
              <a:buNone/>
              <a:defRPr kumimoji="1" spc="-100">
                <a:solidFill>
                  <a:srgbClr val="FF0000"/>
                </a:solidFill>
                <a:latin typeface="Comic Sans MS" panose="030F0702030302020204" pitchFamily="66" charset="0"/>
                <a:ea typeface="华光行书_CNKI" panose="02000500000000000000"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zh-CN" altLang="en-US" dirty="0"/>
              <a:t>如果是普通基类，构造函数顺序：</a:t>
            </a:r>
            <a:endParaRPr lang="en-US" altLang="zh-CN" dirty="0"/>
          </a:p>
          <a:p>
            <a:r>
              <a:rPr lang="en-US" altLang="zh-CN" dirty="0"/>
              <a:t>BC, DC1, BC, DC2, DC</a:t>
            </a:r>
          </a:p>
        </p:txBody>
      </p:sp>
      <p:sp>
        <p:nvSpPr>
          <p:cNvPr id="12" name="文本框 11">
            <a:extLst>
              <a:ext uri="{FF2B5EF4-FFF2-40B4-BE49-F238E27FC236}">
                <a16:creationId xmlns:a16="http://schemas.microsoft.com/office/drawing/2014/main" id="{6519693C-F13B-48FE-AEAC-6A67E589A2D4}"/>
              </a:ext>
            </a:extLst>
          </p:cNvPr>
          <p:cNvSpPr txBox="1"/>
          <p:nvPr/>
        </p:nvSpPr>
        <p:spPr>
          <a:xfrm>
            <a:off x="-52159" y="905715"/>
            <a:ext cx="7800278" cy="4893647"/>
          </a:xfrm>
          <a:prstGeom prst="rect">
            <a:avLst/>
          </a:prstGeom>
          <a:noFill/>
        </p:spPr>
        <p:txBody>
          <a:bodyPr wrap="square">
            <a:spAutoFit/>
          </a:bodyPr>
          <a:lstStyle/>
          <a:p>
            <a:r>
              <a:rPr lang="zh-CN" altLang="en-US" dirty="0">
                <a:solidFill>
                  <a:srgbClr val="104E87"/>
                </a:solidFill>
                <a:latin typeface="Comic Sans MS" panose="030F0702030302020204" pitchFamily="66" charset="0"/>
              </a:rPr>
              <a:t>class BC{public:</a:t>
            </a:r>
          </a:p>
          <a:p>
            <a:r>
              <a:rPr lang="zh-CN" altLang="en-US" dirty="0">
                <a:solidFill>
                  <a:srgbClr val="104E87"/>
                </a:solidFill>
                <a:latin typeface="Comic Sans MS" panose="030F0702030302020204" pitchFamily="66" charset="0"/>
              </a:rPr>
              <a:t> int x;</a:t>
            </a:r>
          </a:p>
          <a:p>
            <a:r>
              <a:rPr lang="zh-CN" altLang="en-US" dirty="0">
                <a:solidFill>
                  <a:srgbClr val="104E87"/>
                </a:solidFill>
                <a:latin typeface="Comic Sans MS" panose="030F0702030302020204" pitchFamily="66" charset="0"/>
              </a:rPr>
              <a:t>BC(){ cout &lt;&lt; "Constructing BC " &lt;&lt; endl; }</a:t>
            </a:r>
          </a:p>
          <a:p>
            <a:r>
              <a:rPr lang="zh-CN" altLang="en-US" dirty="0">
                <a:solidFill>
                  <a:srgbClr val="104E87"/>
                </a:solidFill>
                <a:latin typeface="Comic Sans MS" panose="030F0702030302020204" pitchFamily="66" charset="0"/>
              </a:rPr>
              <a:t>};</a:t>
            </a:r>
          </a:p>
          <a:p>
            <a:r>
              <a:rPr lang="zh-CN" altLang="en-US" dirty="0">
                <a:solidFill>
                  <a:srgbClr val="104E87"/>
                </a:solidFill>
                <a:latin typeface="Comic Sans MS" panose="030F0702030302020204" pitchFamily="66" charset="0"/>
              </a:rPr>
              <a:t>class DC1:public </a:t>
            </a:r>
            <a:r>
              <a:rPr lang="zh-CN" altLang="en-US" dirty="0">
                <a:solidFill>
                  <a:srgbClr val="FF0000"/>
                </a:solidFill>
                <a:latin typeface="Comic Sans MS" panose="030F0702030302020204" pitchFamily="66" charset="0"/>
              </a:rPr>
              <a:t>virtual</a:t>
            </a:r>
            <a:r>
              <a:rPr lang="zh-CN" altLang="en-US" dirty="0">
                <a:solidFill>
                  <a:srgbClr val="104E87"/>
                </a:solidFill>
                <a:latin typeface="Comic Sans MS" panose="030F0702030302020204" pitchFamily="66" charset="0"/>
              </a:rPr>
              <a:t> BC{</a:t>
            </a:r>
          </a:p>
          <a:p>
            <a:r>
              <a:rPr lang="zh-CN" altLang="en-US" dirty="0">
                <a:solidFill>
                  <a:srgbClr val="104E87"/>
                </a:solidFill>
                <a:latin typeface="Comic Sans MS" panose="030F0702030302020204" pitchFamily="66" charset="0"/>
              </a:rPr>
              <a:t>public: DC1() { cout &lt;&lt; "Constructing DC1 " &lt;&lt; endl; }</a:t>
            </a:r>
          </a:p>
          <a:p>
            <a:r>
              <a:rPr lang="zh-CN" altLang="en-US" dirty="0">
                <a:solidFill>
                  <a:srgbClr val="104E87"/>
                </a:solidFill>
                <a:latin typeface="Comic Sans MS" panose="030F0702030302020204" pitchFamily="66" charset="0"/>
              </a:rPr>
              <a:t>};</a:t>
            </a:r>
          </a:p>
          <a:p>
            <a:r>
              <a:rPr lang="zh-CN" altLang="en-US" dirty="0">
                <a:solidFill>
                  <a:srgbClr val="104E87"/>
                </a:solidFill>
                <a:latin typeface="Comic Sans MS" panose="030F0702030302020204" pitchFamily="66" charset="0"/>
              </a:rPr>
              <a:t>class DC2:</a:t>
            </a:r>
            <a:r>
              <a:rPr lang="zh-CN" altLang="en-US" dirty="0">
                <a:solidFill>
                  <a:srgbClr val="FF0000"/>
                </a:solidFill>
                <a:latin typeface="Comic Sans MS" panose="030F0702030302020204" pitchFamily="66" charset="0"/>
              </a:rPr>
              <a:t>virtual</a:t>
            </a:r>
            <a:r>
              <a:rPr lang="zh-CN" altLang="en-US" dirty="0">
                <a:solidFill>
                  <a:srgbClr val="104E87"/>
                </a:solidFill>
                <a:latin typeface="Comic Sans MS" panose="030F0702030302020204" pitchFamily="66" charset="0"/>
              </a:rPr>
              <a:t> public BC{</a:t>
            </a:r>
          </a:p>
          <a:p>
            <a:r>
              <a:rPr lang="zh-CN" altLang="en-US" dirty="0">
                <a:solidFill>
                  <a:srgbClr val="104E87"/>
                </a:solidFill>
                <a:latin typeface="Comic Sans MS" panose="030F0702030302020204" pitchFamily="66" charset="0"/>
              </a:rPr>
              <a:t>public:	DC2() { cout &lt;&lt; "Constructing DC2 " &lt;&lt; endl; }</a:t>
            </a:r>
          </a:p>
          <a:p>
            <a:r>
              <a:rPr lang="zh-CN" altLang="en-US" dirty="0">
                <a:solidFill>
                  <a:srgbClr val="104E87"/>
                </a:solidFill>
                <a:latin typeface="Comic Sans MS" panose="030F0702030302020204" pitchFamily="66" charset="0"/>
              </a:rPr>
              <a:t>};</a:t>
            </a:r>
          </a:p>
          <a:p>
            <a:r>
              <a:rPr lang="zh-CN" altLang="en-US" dirty="0">
                <a:solidFill>
                  <a:srgbClr val="104E87"/>
                </a:solidFill>
                <a:latin typeface="Comic Sans MS" panose="030F0702030302020204" pitchFamily="66" charset="0"/>
              </a:rPr>
              <a:t>class DC:public DC1,public DC2{</a:t>
            </a:r>
          </a:p>
          <a:p>
            <a:r>
              <a:rPr lang="zh-CN" altLang="en-US" dirty="0">
                <a:solidFill>
                  <a:srgbClr val="104E87"/>
                </a:solidFill>
                <a:latin typeface="Comic Sans MS" panose="030F0702030302020204" pitchFamily="66" charset="0"/>
              </a:rPr>
              <a:t>public:	DC() { cout &lt;&lt; "Constructing DC " &lt;&lt; endl; }</a:t>
            </a:r>
          </a:p>
          <a:p>
            <a:r>
              <a:rPr lang="zh-CN" altLang="en-US" dirty="0">
                <a:solidFill>
                  <a:srgbClr val="104E87"/>
                </a:solidFill>
                <a:latin typeface="Comic Sans MS" panose="030F0702030302020204" pitchFamily="66" charset="0"/>
              </a:rPr>
              <a:t>};</a:t>
            </a:r>
          </a:p>
        </p:txBody>
      </p:sp>
    </p:spTree>
    <p:extLst>
      <p:ext uri="{BB962C8B-B14F-4D97-AF65-F5344CB8AC3E}">
        <p14:creationId xmlns:p14="http://schemas.microsoft.com/office/powerpoint/2010/main" val="269325186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8" y="224527"/>
            <a:ext cx="8273981"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9.7</a:t>
            </a:r>
            <a:r>
              <a:rPr lang="zh-CN" altLang="en-US" dirty="0">
                <a:sym typeface="+mn-lt"/>
              </a:rPr>
              <a:t>实例：小型公司人员信息管理</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2" name="矩形 11">
            <a:extLst>
              <a:ext uri="{FF2B5EF4-FFF2-40B4-BE49-F238E27FC236}">
                <a16:creationId xmlns:a16="http://schemas.microsoft.com/office/drawing/2014/main" id="{89351FAA-D292-4B6C-B4DB-72DD3D340107}"/>
              </a:ext>
            </a:extLst>
          </p:cNvPr>
          <p:cNvSpPr/>
          <p:nvPr/>
        </p:nvSpPr>
        <p:spPr>
          <a:xfrm>
            <a:off x="34924" y="1014828"/>
            <a:ext cx="12157075" cy="867930"/>
          </a:xfrm>
          <a:prstGeom prst="rect">
            <a:avLst/>
          </a:prstGeom>
        </p:spPr>
        <p:txBody>
          <a:bodyPr wrap="square">
            <a:spAutoFit/>
          </a:bodyPr>
          <a:lstStyle/>
          <a:p>
            <a:pPr>
              <a:spcBef>
                <a:spcPct val="10000"/>
              </a:spcBef>
              <a:buFont typeface="Wingdings" panose="05000000000000000000" pitchFamily="2" charset="2"/>
              <a:buNone/>
              <a:defRPr/>
            </a:pPr>
            <a:r>
              <a:rPr lang="zh-CN" altLang="en-US" dirty="0">
                <a:solidFill>
                  <a:srgbClr val="104E87"/>
                </a:solidFill>
                <a:latin typeface="Comic Sans MS" panose="030F0702030302020204" pitchFamily="66" charset="0"/>
                <a:ea typeface="华光行书_CNKI" panose="02000500000000000000" pitchFamily="2" charset="-122"/>
              </a:rPr>
              <a:t>某小型公司有四类人员：销售人员、技术人员、销售经理和经理。</a:t>
            </a:r>
            <a:endParaRPr lang="en-US" altLang="zh-CN" dirty="0">
              <a:solidFill>
                <a:srgbClr val="104E87"/>
              </a:solidFill>
              <a:latin typeface="Comic Sans MS" panose="030F0702030302020204" pitchFamily="66" charset="0"/>
              <a:ea typeface="华光行书_CNKI" panose="02000500000000000000" pitchFamily="2" charset="-122"/>
            </a:endParaRPr>
          </a:p>
          <a:p>
            <a:pPr>
              <a:spcBef>
                <a:spcPct val="10000"/>
              </a:spcBef>
              <a:buFont typeface="Wingdings" panose="05000000000000000000" pitchFamily="2" charset="2"/>
              <a:buNone/>
              <a:defRPr/>
            </a:pPr>
            <a:r>
              <a:rPr lang="zh-CN" altLang="en-US" dirty="0">
                <a:solidFill>
                  <a:srgbClr val="104E87"/>
                </a:solidFill>
                <a:latin typeface="Comic Sans MS" panose="030F0702030302020204" pitchFamily="66" charset="0"/>
                <a:ea typeface="华光行书_CNKI" panose="02000500000000000000" pitchFamily="2" charset="-122"/>
              </a:rPr>
              <a:t>要求：</a:t>
            </a:r>
            <a:endParaRPr lang="en-US" altLang="zh-CN" dirty="0">
              <a:solidFill>
                <a:srgbClr val="104E87"/>
              </a:solidFill>
              <a:latin typeface="Comic Sans MS" panose="030F0702030302020204" pitchFamily="66" charset="0"/>
              <a:ea typeface="华光行书_CNKI" panose="02000500000000000000" pitchFamily="2" charset="-122"/>
            </a:endParaRPr>
          </a:p>
        </p:txBody>
      </p:sp>
      <p:sp>
        <p:nvSpPr>
          <p:cNvPr id="14" name="文本框 13">
            <a:extLst>
              <a:ext uri="{FF2B5EF4-FFF2-40B4-BE49-F238E27FC236}">
                <a16:creationId xmlns:a16="http://schemas.microsoft.com/office/drawing/2014/main" id="{D21A0CE7-86E4-4E07-9B5C-00ACD2DD604B}"/>
              </a:ext>
            </a:extLst>
          </p:cNvPr>
          <p:cNvSpPr txBox="1"/>
          <p:nvPr/>
        </p:nvSpPr>
        <p:spPr>
          <a:xfrm>
            <a:off x="1189097" y="1325915"/>
            <a:ext cx="10591801" cy="2500556"/>
          </a:xfrm>
          <a:prstGeom prst="rect">
            <a:avLst/>
          </a:prstGeom>
          <a:noFill/>
        </p:spPr>
        <p:txBody>
          <a:bodyPr wrap="square">
            <a:spAutoFit/>
          </a:bodyPr>
          <a:lstStyle/>
          <a:p>
            <a:pPr marL="177800" indent="-177800">
              <a:lnSpc>
                <a:spcPts val="3300"/>
              </a:lnSpc>
              <a:spcBef>
                <a:spcPts val="1200"/>
              </a:spcBef>
              <a:buClr>
                <a:schemeClr val="bg2"/>
              </a:buClr>
              <a:buSzPct val="70000"/>
              <a:buBlip>
                <a:blip r:embed="rId3"/>
              </a:buBlip>
              <a:defRPr/>
            </a:pPr>
            <a:r>
              <a:rPr lang="zh-CN" altLang="en-US" spc="-100" dirty="0">
                <a:solidFill>
                  <a:srgbClr val="104E87"/>
                </a:solidFill>
                <a:latin typeface="Comic Sans MS" panose="030F0702030302020204" pitchFamily="66" charset="0"/>
                <a:ea typeface="华光行书_CNKI" panose="02000500000000000000" pitchFamily="2" charset="-122"/>
              </a:rPr>
              <a:t>存储姓名、编号、级别、当月薪水，计算月薪总额、显示个人全部信息。</a:t>
            </a:r>
            <a:endParaRPr lang="en-US" altLang="zh-CN" spc="-100" dirty="0">
              <a:solidFill>
                <a:srgbClr val="104E87"/>
              </a:solidFill>
              <a:latin typeface="Comic Sans MS" panose="030F0702030302020204" pitchFamily="66" charset="0"/>
              <a:ea typeface="华光行书_CNKI" panose="02000500000000000000" pitchFamily="2" charset="-122"/>
            </a:endParaRPr>
          </a:p>
          <a:p>
            <a:pPr>
              <a:lnSpc>
                <a:spcPts val="3300"/>
              </a:lnSpc>
              <a:buClr>
                <a:schemeClr val="bg2"/>
              </a:buClr>
              <a:buSzPct val="70000"/>
              <a:defRPr/>
            </a:pPr>
            <a:r>
              <a:rPr lang="zh-CN" altLang="en-US" spc="-100" dirty="0">
                <a:solidFill>
                  <a:srgbClr val="104E87"/>
                </a:solidFill>
                <a:latin typeface="Comic Sans MS" panose="030F0702030302020204" pitchFamily="66" charset="0"/>
                <a:ea typeface="华光行书_CNKI" panose="02000500000000000000" pitchFamily="2" charset="-122"/>
              </a:rPr>
              <a:t>  注：人员编号基数为</a:t>
            </a:r>
            <a:r>
              <a:rPr lang="en-US" altLang="zh-CN" spc="-100" dirty="0">
                <a:solidFill>
                  <a:srgbClr val="104E87"/>
                </a:solidFill>
                <a:latin typeface="Comic Sans MS" panose="030F0702030302020204" pitchFamily="66" charset="0"/>
                <a:ea typeface="华光行书_CNKI" panose="02000500000000000000" pitchFamily="2" charset="-122"/>
              </a:rPr>
              <a:t>1000</a:t>
            </a:r>
            <a:r>
              <a:rPr lang="zh-CN" altLang="en-US" spc="-100" dirty="0">
                <a:solidFill>
                  <a:srgbClr val="104E87"/>
                </a:solidFill>
                <a:latin typeface="Comic Sans MS" panose="030F0702030302020204" pitchFamily="66" charset="0"/>
                <a:ea typeface="华光行书_CNKI" panose="02000500000000000000" pitchFamily="2" charset="-122"/>
              </a:rPr>
              <a:t>，每增加一个人员，编号顺序加</a:t>
            </a:r>
            <a:r>
              <a:rPr lang="en-US" altLang="zh-CN" spc="-100" dirty="0">
                <a:solidFill>
                  <a:srgbClr val="104E87"/>
                </a:solidFill>
                <a:latin typeface="Comic Sans MS" panose="030F0702030302020204" pitchFamily="66" charset="0"/>
                <a:ea typeface="华光行书_CNKI" panose="02000500000000000000" pitchFamily="2" charset="-122"/>
              </a:rPr>
              <a:t>1</a:t>
            </a:r>
            <a:r>
              <a:rPr lang="zh-CN" altLang="en-US" spc="-100" dirty="0">
                <a:solidFill>
                  <a:srgbClr val="104E87"/>
                </a:solidFill>
                <a:latin typeface="Comic Sans MS" panose="030F0702030302020204" pitchFamily="66" charset="0"/>
                <a:ea typeface="华光行书_CNKI" panose="02000500000000000000" pitchFamily="2" charset="-122"/>
              </a:rPr>
              <a:t>。</a:t>
            </a:r>
          </a:p>
          <a:p>
            <a:pPr marL="177800" indent="-177800">
              <a:lnSpc>
                <a:spcPts val="3300"/>
              </a:lnSpc>
              <a:spcBef>
                <a:spcPts val="1200"/>
              </a:spcBef>
              <a:buClr>
                <a:schemeClr val="bg2"/>
              </a:buClr>
              <a:buSzPct val="70000"/>
              <a:buBlip>
                <a:blip r:embed="rId3"/>
              </a:buBlip>
              <a:defRPr/>
            </a:pPr>
            <a:r>
              <a:rPr lang="zh-CN" altLang="en-US" spc="-100" dirty="0">
                <a:solidFill>
                  <a:srgbClr val="104E87"/>
                </a:solidFill>
                <a:latin typeface="Comic Sans MS" panose="030F0702030302020204" pitchFamily="66" charset="0"/>
                <a:ea typeface="华光行书_CNKI" panose="02000500000000000000" pitchFamily="2" charset="-122"/>
              </a:rPr>
              <a:t>有提升级别的功能。为简单起见，所有人员的初始级别均为</a:t>
            </a:r>
            <a:r>
              <a:rPr lang="en-US" altLang="zh-CN" spc="-100" dirty="0">
                <a:solidFill>
                  <a:srgbClr val="104E87"/>
                </a:solidFill>
                <a:latin typeface="Comic Sans MS" panose="030F0702030302020204" pitchFamily="66" charset="0"/>
                <a:ea typeface="华光行书_CNKI" panose="02000500000000000000" pitchFamily="2" charset="-122"/>
              </a:rPr>
              <a:t>1</a:t>
            </a:r>
            <a:r>
              <a:rPr lang="zh-CN" altLang="en-US" spc="-100" dirty="0">
                <a:solidFill>
                  <a:srgbClr val="104E87"/>
                </a:solidFill>
                <a:latin typeface="Comic Sans MS" panose="030F0702030302020204" pitchFamily="66" charset="0"/>
                <a:ea typeface="华光行书_CNKI" panose="02000500000000000000" pitchFamily="2" charset="-122"/>
              </a:rPr>
              <a:t>级，然后进行升级，经理为</a:t>
            </a:r>
            <a:r>
              <a:rPr lang="en-US" altLang="zh-CN" spc="-100" dirty="0">
                <a:solidFill>
                  <a:srgbClr val="104E87"/>
                </a:solidFill>
                <a:latin typeface="Comic Sans MS" panose="030F0702030302020204" pitchFamily="66" charset="0"/>
                <a:ea typeface="华光行书_CNKI" panose="02000500000000000000" pitchFamily="2" charset="-122"/>
              </a:rPr>
              <a:t>4</a:t>
            </a:r>
            <a:r>
              <a:rPr lang="zh-CN" altLang="en-US" spc="-100" dirty="0">
                <a:solidFill>
                  <a:srgbClr val="104E87"/>
                </a:solidFill>
                <a:latin typeface="Comic Sans MS" panose="030F0702030302020204" pitchFamily="66" charset="0"/>
                <a:ea typeface="华光行书_CNKI" panose="02000500000000000000" pitchFamily="2" charset="-122"/>
              </a:rPr>
              <a:t>级，技术人员和销售经理为</a:t>
            </a:r>
            <a:r>
              <a:rPr lang="en-US" altLang="zh-CN" spc="-100" dirty="0">
                <a:solidFill>
                  <a:srgbClr val="104E87"/>
                </a:solidFill>
                <a:latin typeface="Comic Sans MS" panose="030F0702030302020204" pitchFamily="66" charset="0"/>
                <a:ea typeface="华光行书_CNKI" panose="02000500000000000000" pitchFamily="2" charset="-122"/>
              </a:rPr>
              <a:t>3</a:t>
            </a:r>
            <a:r>
              <a:rPr lang="zh-CN" altLang="en-US" spc="-100" dirty="0">
                <a:solidFill>
                  <a:srgbClr val="104E87"/>
                </a:solidFill>
                <a:latin typeface="Comic Sans MS" panose="030F0702030302020204" pitchFamily="66" charset="0"/>
                <a:ea typeface="华光行书_CNKI" panose="02000500000000000000" pitchFamily="2" charset="-122"/>
              </a:rPr>
              <a:t>级，销售人员</a:t>
            </a:r>
            <a:r>
              <a:rPr lang="en-US" altLang="zh-CN" spc="-100" dirty="0">
                <a:solidFill>
                  <a:srgbClr val="104E87"/>
                </a:solidFill>
                <a:latin typeface="Comic Sans MS" panose="030F0702030302020204" pitchFamily="66" charset="0"/>
                <a:ea typeface="华光行书_CNKI" panose="02000500000000000000" pitchFamily="2" charset="-122"/>
              </a:rPr>
              <a:t>1</a:t>
            </a:r>
            <a:r>
              <a:rPr lang="zh-CN" altLang="en-US" spc="-100" dirty="0">
                <a:solidFill>
                  <a:srgbClr val="104E87"/>
                </a:solidFill>
                <a:latin typeface="Comic Sans MS" panose="030F0702030302020204" pitchFamily="66" charset="0"/>
                <a:ea typeface="华光行书_CNKI" panose="02000500000000000000" pitchFamily="2" charset="-122"/>
              </a:rPr>
              <a:t>级。</a:t>
            </a:r>
            <a:endParaRPr lang="en-US" altLang="zh-CN" spc="-100" dirty="0">
              <a:solidFill>
                <a:srgbClr val="104E87"/>
              </a:solidFill>
              <a:latin typeface="Comic Sans MS" panose="030F0702030302020204" pitchFamily="66" charset="0"/>
              <a:ea typeface="华光行书_CNKI" panose="02000500000000000000" pitchFamily="2" charset="-122"/>
            </a:endParaRPr>
          </a:p>
          <a:p>
            <a:pPr marL="177800" indent="-177800">
              <a:lnSpc>
                <a:spcPts val="3300"/>
              </a:lnSpc>
              <a:spcBef>
                <a:spcPts val="1200"/>
              </a:spcBef>
              <a:buClr>
                <a:schemeClr val="bg2"/>
              </a:buClr>
              <a:buSzPct val="70000"/>
              <a:buBlip>
                <a:blip r:embed="rId3"/>
              </a:buBlip>
              <a:defRPr/>
            </a:pPr>
            <a:r>
              <a:rPr lang="zh-CN" altLang="en-US" spc="-100" dirty="0">
                <a:solidFill>
                  <a:srgbClr val="104E87"/>
                </a:solidFill>
                <a:latin typeface="Comic Sans MS" panose="030F0702030302020204" pitchFamily="66" charset="0"/>
                <a:ea typeface="华光行书_CNKI" panose="02000500000000000000" pitchFamily="2" charset="-122"/>
              </a:rPr>
              <a:t>月薪计算办法是：</a:t>
            </a:r>
            <a:endParaRPr lang="en-US" altLang="zh-CN" spc="-100" dirty="0">
              <a:solidFill>
                <a:srgbClr val="104E87"/>
              </a:solidFill>
              <a:latin typeface="Comic Sans MS" panose="030F0702030302020204" pitchFamily="66" charset="0"/>
              <a:ea typeface="华光行书_CNKI" panose="02000500000000000000" pitchFamily="2" charset="-122"/>
            </a:endParaRPr>
          </a:p>
        </p:txBody>
      </p:sp>
      <p:sp>
        <p:nvSpPr>
          <p:cNvPr id="15" name="文本框 14">
            <a:extLst>
              <a:ext uri="{FF2B5EF4-FFF2-40B4-BE49-F238E27FC236}">
                <a16:creationId xmlns:a16="http://schemas.microsoft.com/office/drawing/2014/main" id="{96393CE1-5A27-4DB6-B667-153B2173B107}"/>
              </a:ext>
            </a:extLst>
          </p:cNvPr>
          <p:cNvSpPr txBox="1"/>
          <p:nvPr/>
        </p:nvSpPr>
        <p:spPr>
          <a:xfrm>
            <a:off x="3783093" y="3398659"/>
            <a:ext cx="7219809" cy="2049792"/>
          </a:xfrm>
          <a:prstGeom prst="rect">
            <a:avLst/>
          </a:prstGeom>
          <a:noFill/>
        </p:spPr>
        <p:txBody>
          <a:bodyPr wrap="square">
            <a:spAutoFit/>
          </a:bodyPr>
          <a:lstStyle/>
          <a:p>
            <a:pPr marL="622300" indent="-622300">
              <a:spcBef>
                <a:spcPct val="10000"/>
              </a:spcBef>
              <a:defRPr/>
            </a:pPr>
            <a:r>
              <a:rPr lang="zh-CN" altLang="en-US" dirty="0">
                <a:solidFill>
                  <a:srgbClr val="104E87"/>
                </a:solidFill>
                <a:latin typeface="Comic Sans MS" panose="030F0702030302020204" pitchFamily="66" charset="0"/>
                <a:ea typeface="华光行书_CNKI" panose="02000500000000000000" pitchFamily="2" charset="-122"/>
              </a:rPr>
              <a:t>经理</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固定月薪</a:t>
            </a:r>
            <a:r>
              <a:rPr lang="en-US" altLang="zh-CN" dirty="0">
                <a:solidFill>
                  <a:srgbClr val="104E87"/>
                </a:solidFill>
                <a:latin typeface="Comic Sans MS" panose="030F0702030302020204" pitchFamily="66" charset="0"/>
                <a:ea typeface="华光行书_CNKI" panose="02000500000000000000" pitchFamily="2" charset="-122"/>
              </a:rPr>
              <a:t>8000</a:t>
            </a:r>
            <a:r>
              <a:rPr lang="zh-CN" altLang="en-US" dirty="0">
                <a:solidFill>
                  <a:srgbClr val="104E87"/>
                </a:solidFill>
                <a:latin typeface="Comic Sans MS" panose="030F0702030302020204" pitchFamily="66" charset="0"/>
                <a:ea typeface="华光行书_CNKI" panose="02000500000000000000" pitchFamily="2" charset="-122"/>
              </a:rPr>
              <a:t>元；</a:t>
            </a:r>
            <a:endParaRPr lang="en-US" altLang="zh-CN" dirty="0">
              <a:solidFill>
                <a:srgbClr val="104E87"/>
              </a:solidFill>
              <a:latin typeface="Comic Sans MS" panose="030F0702030302020204" pitchFamily="66" charset="0"/>
              <a:ea typeface="华光行书_CNKI" panose="02000500000000000000" pitchFamily="2" charset="-122"/>
            </a:endParaRPr>
          </a:p>
          <a:p>
            <a:pPr marL="622300" indent="-622300">
              <a:spcBef>
                <a:spcPct val="10000"/>
              </a:spcBef>
              <a:defRPr/>
            </a:pPr>
            <a:r>
              <a:rPr lang="zh-CN" altLang="en-US" dirty="0">
                <a:solidFill>
                  <a:srgbClr val="104E87"/>
                </a:solidFill>
                <a:latin typeface="Comic Sans MS" panose="030F0702030302020204" pitchFamily="66" charset="0"/>
                <a:ea typeface="华光行书_CNKI" panose="02000500000000000000" pitchFamily="2" charset="-122"/>
              </a:rPr>
              <a:t>技术人员</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月薪计算</a:t>
            </a:r>
            <a:r>
              <a:rPr lang="en-US" altLang="zh-CN" dirty="0">
                <a:solidFill>
                  <a:srgbClr val="104E87"/>
                </a:solidFill>
                <a:latin typeface="Comic Sans MS" panose="030F0702030302020204" pitchFamily="66" charset="0"/>
                <a:ea typeface="华光行书_CNKI" panose="02000500000000000000" pitchFamily="2" charset="-122"/>
              </a:rPr>
              <a:t>100</a:t>
            </a:r>
            <a:r>
              <a:rPr lang="zh-CN" altLang="en-US" dirty="0">
                <a:solidFill>
                  <a:srgbClr val="104E87"/>
                </a:solidFill>
                <a:latin typeface="Comic Sans MS" panose="030F0702030302020204" pitchFamily="66" charset="0"/>
                <a:ea typeface="华光行书_CNKI" panose="02000500000000000000" pitchFamily="2" charset="-122"/>
              </a:rPr>
              <a:t>元</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小时；</a:t>
            </a:r>
            <a:endParaRPr lang="en-US" altLang="zh-CN" dirty="0">
              <a:solidFill>
                <a:srgbClr val="104E87"/>
              </a:solidFill>
              <a:latin typeface="Comic Sans MS" panose="030F0702030302020204" pitchFamily="66" charset="0"/>
              <a:ea typeface="华光行书_CNKI" panose="02000500000000000000" pitchFamily="2" charset="-122"/>
            </a:endParaRPr>
          </a:p>
          <a:p>
            <a:pPr marL="622300" indent="-622300">
              <a:spcBef>
                <a:spcPct val="10000"/>
              </a:spcBef>
              <a:defRPr/>
            </a:pPr>
            <a:r>
              <a:rPr lang="zh-CN" altLang="en-US" dirty="0">
                <a:solidFill>
                  <a:srgbClr val="104E87"/>
                </a:solidFill>
                <a:latin typeface="Comic Sans MS" panose="030F0702030302020204" pitchFamily="66" charset="0"/>
                <a:ea typeface="华光行书_CNKI" panose="02000500000000000000" pitchFamily="2" charset="-122"/>
              </a:rPr>
              <a:t>销售人员</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当月销售额的</a:t>
            </a:r>
            <a:r>
              <a:rPr lang="en-US" altLang="zh-CN" dirty="0">
                <a:solidFill>
                  <a:srgbClr val="104E87"/>
                </a:solidFill>
                <a:latin typeface="Comic Sans MS" panose="030F0702030302020204" pitchFamily="66" charset="0"/>
                <a:ea typeface="华光行书_CNKI" panose="02000500000000000000" pitchFamily="2" charset="-122"/>
              </a:rPr>
              <a:t>4%</a:t>
            </a:r>
            <a:r>
              <a:rPr lang="zh-CN" altLang="en-US" dirty="0">
                <a:solidFill>
                  <a:srgbClr val="104E87"/>
                </a:solidFill>
                <a:latin typeface="Comic Sans MS" panose="030F0702030302020204" pitchFamily="66" charset="0"/>
                <a:ea typeface="华光行书_CNKI" panose="02000500000000000000" pitchFamily="2" charset="-122"/>
              </a:rPr>
              <a:t>提成；</a:t>
            </a:r>
            <a:r>
              <a:rPr lang="en-US" altLang="zh-CN" dirty="0">
                <a:solidFill>
                  <a:srgbClr val="104E87"/>
                </a:solidFill>
                <a:latin typeface="Comic Sans MS" panose="030F0702030302020204" pitchFamily="66" charset="0"/>
                <a:ea typeface="华光行书_CNKI" panose="02000500000000000000" pitchFamily="2" charset="-122"/>
              </a:rPr>
              <a:t>	</a:t>
            </a:r>
          </a:p>
          <a:p>
            <a:pPr>
              <a:spcBef>
                <a:spcPct val="10000"/>
              </a:spcBef>
              <a:defRPr/>
            </a:pPr>
            <a:r>
              <a:rPr lang="zh-CN" altLang="en-US" dirty="0">
                <a:solidFill>
                  <a:srgbClr val="104E87"/>
                </a:solidFill>
                <a:latin typeface="Comic Sans MS" panose="030F0702030302020204" pitchFamily="66" charset="0"/>
                <a:ea typeface="华光行书_CNKI" panose="02000500000000000000" pitchFamily="2" charset="-122"/>
              </a:rPr>
              <a:t>销售经理</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固定月薪为</a:t>
            </a:r>
            <a:r>
              <a:rPr lang="en-US" altLang="zh-CN" dirty="0">
                <a:solidFill>
                  <a:srgbClr val="104E87"/>
                </a:solidFill>
                <a:latin typeface="Comic Sans MS" panose="030F0702030302020204" pitchFamily="66" charset="0"/>
                <a:ea typeface="华光行书_CNKI" panose="02000500000000000000" pitchFamily="2" charset="-122"/>
              </a:rPr>
              <a:t>5000</a:t>
            </a:r>
            <a:r>
              <a:rPr lang="zh-CN" altLang="en-US" dirty="0">
                <a:solidFill>
                  <a:srgbClr val="104E87"/>
                </a:solidFill>
                <a:latin typeface="Comic Sans MS" panose="030F0702030302020204" pitchFamily="66" charset="0"/>
                <a:ea typeface="华光行书_CNKI" panose="02000500000000000000" pitchFamily="2" charset="-122"/>
              </a:rPr>
              <a:t>元</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销售提成</a:t>
            </a:r>
            <a:r>
              <a:rPr lang="en-US" altLang="zh-CN" dirty="0">
                <a:solidFill>
                  <a:srgbClr val="104E87"/>
                </a:solidFill>
                <a:latin typeface="Comic Sans MS" panose="030F0702030302020204" pitchFamily="66" charset="0"/>
                <a:ea typeface="华光行书_CNKI" panose="02000500000000000000" pitchFamily="2" charset="-122"/>
              </a:rPr>
              <a:t>(</a:t>
            </a:r>
            <a:r>
              <a:rPr lang="zh-CN" altLang="en-US" dirty="0">
                <a:solidFill>
                  <a:srgbClr val="104E87"/>
                </a:solidFill>
                <a:latin typeface="Comic Sans MS" panose="030F0702030302020204" pitchFamily="66" charset="0"/>
                <a:ea typeface="华光行书_CNKI" panose="02000500000000000000" pitchFamily="2" charset="-122"/>
              </a:rPr>
              <a:t>所管辖部门当月销售总额的 </a:t>
            </a:r>
            <a:r>
              <a:rPr lang="en-US" altLang="zh-CN" dirty="0">
                <a:solidFill>
                  <a:srgbClr val="104E87"/>
                </a:solidFill>
                <a:latin typeface="Comic Sans MS" panose="030F0702030302020204" pitchFamily="66" charset="0"/>
                <a:ea typeface="华光行书_CNKI" panose="02000500000000000000" pitchFamily="2" charset="-122"/>
              </a:rPr>
              <a:t>5‰)</a:t>
            </a:r>
            <a:endParaRPr lang="zh-CN" altLang="en-US" dirty="0">
              <a:solidFill>
                <a:srgbClr val="104E87"/>
              </a:solidFill>
              <a:latin typeface="Comic Sans MS" panose="030F0702030302020204" pitchFamily="66" charset="0"/>
              <a:ea typeface="华光行书_CNKI" panose="02000500000000000000" pitchFamily="2" charset="-122"/>
            </a:endParaRPr>
          </a:p>
        </p:txBody>
      </p:sp>
    </p:spTree>
    <p:extLst>
      <p:ext uri="{BB962C8B-B14F-4D97-AF65-F5344CB8AC3E}">
        <p14:creationId xmlns:p14="http://schemas.microsoft.com/office/powerpoint/2010/main" val="1812955512"/>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8" y="224527"/>
            <a:ext cx="8273981"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9.7</a:t>
            </a:r>
            <a:r>
              <a:rPr lang="zh-CN" altLang="en-US" dirty="0">
                <a:sym typeface="+mn-lt"/>
              </a:rPr>
              <a:t>实例：小型公司人员信息管理</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8" name="AutoShape 12">
            <a:extLst>
              <a:ext uri="{FF2B5EF4-FFF2-40B4-BE49-F238E27FC236}">
                <a16:creationId xmlns:a16="http://schemas.microsoft.com/office/drawing/2014/main" id="{4ADFA403-53AB-41E6-9C78-0A8016322D0F}"/>
              </a:ext>
            </a:extLst>
          </p:cNvPr>
          <p:cNvSpPr>
            <a:spLocks noChangeArrowheads="1"/>
          </p:cNvSpPr>
          <p:nvPr/>
        </p:nvSpPr>
        <p:spPr bwMode="auto">
          <a:xfrm>
            <a:off x="5518150" y="1927641"/>
            <a:ext cx="287338" cy="217487"/>
          </a:xfrm>
          <a:prstGeom prst="triangle">
            <a:avLst>
              <a:gd name="adj" fmla="val 50000"/>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sz="4000">
              <a:solidFill>
                <a:srgbClr val="104E87"/>
              </a:solidFill>
              <a:latin typeface="Comic Sans MS" panose="030F0702030302020204" pitchFamily="66" charset="0"/>
            </a:endParaRPr>
          </a:p>
        </p:txBody>
      </p:sp>
      <p:sp>
        <p:nvSpPr>
          <p:cNvPr id="10" name="Line 13">
            <a:extLst>
              <a:ext uri="{FF2B5EF4-FFF2-40B4-BE49-F238E27FC236}">
                <a16:creationId xmlns:a16="http://schemas.microsoft.com/office/drawing/2014/main" id="{B124C02B-1BB9-4743-8826-3336210B4FAF}"/>
              </a:ext>
            </a:extLst>
          </p:cNvPr>
          <p:cNvSpPr>
            <a:spLocks noChangeShapeType="1"/>
          </p:cNvSpPr>
          <p:nvPr/>
        </p:nvSpPr>
        <p:spPr bwMode="auto">
          <a:xfrm>
            <a:off x="5662613" y="2143541"/>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ndParaRPr>
          </a:p>
        </p:txBody>
      </p:sp>
      <p:sp>
        <p:nvSpPr>
          <p:cNvPr id="11" name="Line 14">
            <a:extLst>
              <a:ext uri="{FF2B5EF4-FFF2-40B4-BE49-F238E27FC236}">
                <a16:creationId xmlns:a16="http://schemas.microsoft.com/office/drawing/2014/main" id="{0A89343B-88C5-42CA-B1D2-76ED8906B5BA}"/>
              </a:ext>
            </a:extLst>
          </p:cNvPr>
          <p:cNvSpPr>
            <a:spLocks noChangeShapeType="1"/>
          </p:cNvSpPr>
          <p:nvPr/>
        </p:nvSpPr>
        <p:spPr bwMode="auto">
          <a:xfrm flipV="1">
            <a:off x="2854325" y="2288003"/>
            <a:ext cx="5688013" cy="0"/>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ndParaRPr>
          </a:p>
        </p:txBody>
      </p:sp>
      <p:sp>
        <p:nvSpPr>
          <p:cNvPr id="13" name="Line 15">
            <a:extLst>
              <a:ext uri="{FF2B5EF4-FFF2-40B4-BE49-F238E27FC236}">
                <a16:creationId xmlns:a16="http://schemas.microsoft.com/office/drawing/2014/main" id="{5986AB5F-C381-4E77-8D20-6595012167E4}"/>
              </a:ext>
            </a:extLst>
          </p:cNvPr>
          <p:cNvSpPr>
            <a:spLocks noChangeShapeType="1"/>
          </p:cNvSpPr>
          <p:nvPr/>
        </p:nvSpPr>
        <p:spPr bwMode="auto">
          <a:xfrm>
            <a:off x="5662613" y="2288003"/>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ndParaRPr>
          </a:p>
        </p:txBody>
      </p:sp>
      <p:sp>
        <p:nvSpPr>
          <p:cNvPr id="16" name="Line 16">
            <a:extLst>
              <a:ext uri="{FF2B5EF4-FFF2-40B4-BE49-F238E27FC236}">
                <a16:creationId xmlns:a16="http://schemas.microsoft.com/office/drawing/2014/main" id="{9239648F-20A2-40EF-A6C9-448375A54694}"/>
              </a:ext>
            </a:extLst>
          </p:cNvPr>
          <p:cNvSpPr>
            <a:spLocks noChangeShapeType="1"/>
          </p:cNvSpPr>
          <p:nvPr/>
        </p:nvSpPr>
        <p:spPr bwMode="auto">
          <a:xfrm>
            <a:off x="2854325" y="2288003"/>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ndParaRPr>
          </a:p>
        </p:txBody>
      </p:sp>
      <p:sp>
        <p:nvSpPr>
          <p:cNvPr id="17" name="AutoShape 17">
            <a:extLst>
              <a:ext uri="{FF2B5EF4-FFF2-40B4-BE49-F238E27FC236}">
                <a16:creationId xmlns:a16="http://schemas.microsoft.com/office/drawing/2014/main" id="{2C82D716-F54D-4388-B372-DA84BA638399}"/>
              </a:ext>
            </a:extLst>
          </p:cNvPr>
          <p:cNvSpPr>
            <a:spLocks noChangeArrowheads="1"/>
          </p:cNvSpPr>
          <p:nvPr/>
        </p:nvSpPr>
        <p:spPr bwMode="auto">
          <a:xfrm>
            <a:off x="5519738" y="3196053"/>
            <a:ext cx="287337" cy="217488"/>
          </a:xfrm>
          <a:prstGeom prst="triangle">
            <a:avLst>
              <a:gd name="adj" fmla="val 50000"/>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sz="4000">
              <a:solidFill>
                <a:srgbClr val="104E87"/>
              </a:solidFill>
              <a:latin typeface="Comic Sans MS" panose="030F0702030302020204" pitchFamily="66" charset="0"/>
            </a:endParaRPr>
          </a:p>
        </p:txBody>
      </p:sp>
      <p:sp>
        <p:nvSpPr>
          <p:cNvPr id="18" name="AutoShape 18">
            <a:extLst>
              <a:ext uri="{FF2B5EF4-FFF2-40B4-BE49-F238E27FC236}">
                <a16:creationId xmlns:a16="http://schemas.microsoft.com/office/drawing/2014/main" id="{60317B44-4709-42AF-ABAE-90BE1237B2ED}"/>
              </a:ext>
            </a:extLst>
          </p:cNvPr>
          <p:cNvSpPr>
            <a:spLocks noChangeArrowheads="1"/>
          </p:cNvSpPr>
          <p:nvPr/>
        </p:nvSpPr>
        <p:spPr bwMode="auto">
          <a:xfrm>
            <a:off x="8328025" y="3196053"/>
            <a:ext cx="287338" cy="217488"/>
          </a:xfrm>
          <a:prstGeom prst="triangle">
            <a:avLst>
              <a:gd name="adj" fmla="val 50000"/>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sz="4000">
              <a:solidFill>
                <a:srgbClr val="104E87"/>
              </a:solidFill>
              <a:latin typeface="Comic Sans MS" panose="030F0702030302020204" pitchFamily="66" charset="0"/>
            </a:endParaRPr>
          </a:p>
        </p:txBody>
      </p:sp>
      <p:sp>
        <p:nvSpPr>
          <p:cNvPr id="19" name="Line 19">
            <a:extLst>
              <a:ext uri="{FF2B5EF4-FFF2-40B4-BE49-F238E27FC236}">
                <a16:creationId xmlns:a16="http://schemas.microsoft.com/office/drawing/2014/main" id="{B7E0627B-525E-4C5C-B6F0-95B34F0E7E02}"/>
              </a:ext>
            </a:extLst>
          </p:cNvPr>
          <p:cNvSpPr>
            <a:spLocks noChangeShapeType="1"/>
          </p:cNvSpPr>
          <p:nvPr/>
        </p:nvSpPr>
        <p:spPr bwMode="auto">
          <a:xfrm flipV="1">
            <a:off x="5662613" y="3556416"/>
            <a:ext cx="2808287" cy="0"/>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ndParaRPr>
          </a:p>
        </p:txBody>
      </p:sp>
      <p:sp>
        <p:nvSpPr>
          <p:cNvPr id="20" name="Line 20">
            <a:extLst>
              <a:ext uri="{FF2B5EF4-FFF2-40B4-BE49-F238E27FC236}">
                <a16:creationId xmlns:a16="http://schemas.microsoft.com/office/drawing/2014/main" id="{8BBC3F64-D71C-4FF8-8D4A-22CFADAA38D0}"/>
              </a:ext>
            </a:extLst>
          </p:cNvPr>
          <p:cNvSpPr>
            <a:spLocks noChangeShapeType="1"/>
          </p:cNvSpPr>
          <p:nvPr/>
        </p:nvSpPr>
        <p:spPr bwMode="auto">
          <a:xfrm>
            <a:off x="7029450" y="3556416"/>
            <a:ext cx="0" cy="144462"/>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ndParaRPr>
          </a:p>
        </p:txBody>
      </p:sp>
      <p:sp>
        <p:nvSpPr>
          <p:cNvPr id="21" name="Line 22">
            <a:extLst>
              <a:ext uri="{FF2B5EF4-FFF2-40B4-BE49-F238E27FC236}">
                <a16:creationId xmlns:a16="http://schemas.microsoft.com/office/drawing/2014/main" id="{07E719C5-53B0-402A-8B06-B666883446BD}"/>
              </a:ext>
            </a:extLst>
          </p:cNvPr>
          <p:cNvSpPr>
            <a:spLocks noChangeShapeType="1"/>
          </p:cNvSpPr>
          <p:nvPr/>
        </p:nvSpPr>
        <p:spPr bwMode="auto">
          <a:xfrm>
            <a:off x="5662613" y="3411953"/>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ndParaRPr>
          </a:p>
        </p:txBody>
      </p:sp>
      <p:sp>
        <p:nvSpPr>
          <p:cNvPr id="22" name="Line 23">
            <a:extLst>
              <a:ext uri="{FF2B5EF4-FFF2-40B4-BE49-F238E27FC236}">
                <a16:creationId xmlns:a16="http://schemas.microsoft.com/office/drawing/2014/main" id="{755773F4-64CD-4D4F-A409-0EA83331E881}"/>
              </a:ext>
            </a:extLst>
          </p:cNvPr>
          <p:cNvSpPr>
            <a:spLocks noChangeShapeType="1"/>
          </p:cNvSpPr>
          <p:nvPr/>
        </p:nvSpPr>
        <p:spPr bwMode="auto">
          <a:xfrm>
            <a:off x="8470900" y="3411953"/>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ndParaRPr>
          </a:p>
        </p:txBody>
      </p:sp>
      <p:sp>
        <p:nvSpPr>
          <p:cNvPr id="23" name="Rectangle 24">
            <a:extLst>
              <a:ext uri="{FF2B5EF4-FFF2-40B4-BE49-F238E27FC236}">
                <a16:creationId xmlns:a16="http://schemas.microsoft.com/office/drawing/2014/main" id="{6904CAAF-A3C0-400A-8290-A6902C51274C}"/>
              </a:ext>
            </a:extLst>
          </p:cNvPr>
          <p:cNvSpPr>
            <a:spLocks noChangeArrowheads="1"/>
          </p:cNvSpPr>
          <p:nvPr/>
        </p:nvSpPr>
        <p:spPr bwMode="auto">
          <a:xfrm>
            <a:off x="4727575" y="1192628"/>
            <a:ext cx="1871663" cy="647700"/>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buClrTx/>
              <a:buSzTx/>
              <a:buFontTx/>
              <a:buNone/>
            </a:pPr>
            <a:r>
              <a:rPr kumimoji="1" lang="en-US" altLang="zh-CN" sz="2800">
                <a:solidFill>
                  <a:srgbClr val="104E87"/>
                </a:solidFill>
                <a:latin typeface="Comic Sans MS" panose="030F0702030302020204" pitchFamily="66" charset="0"/>
                <a:ea typeface="宋体" panose="02010600030101010101" pitchFamily="2" charset="-122"/>
              </a:rPr>
              <a:t>employee</a:t>
            </a:r>
          </a:p>
        </p:txBody>
      </p:sp>
      <p:sp>
        <p:nvSpPr>
          <p:cNvPr id="25" name="Rectangle 27">
            <a:extLst>
              <a:ext uri="{FF2B5EF4-FFF2-40B4-BE49-F238E27FC236}">
                <a16:creationId xmlns:a16="http://schemas.microsoft.com/office/drawing/2014/main" id="{9B2E02EF-2079-4A5B-8F45-5E6168BEEB39}"/>
              </a:ext>
            </a:extLst>
          </p:cNvPr>
          <p:cNvSpPr>
            <a:spLocks noChangeArrowheads="1"/>
          </p:cNvSpPr>
          <p:nvPr/>
        </p:nvSpPr>
        <p:spPr bwMode="auto">
          <a:xfrm>
            <a:off x="1628775" y="2416591"/>
            <a:ext cx="2233613" cy="706437"/>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buClrTx/>
              <a:buSzTx/>
              <a:buFontTx/>
              <a:buNone/>
            </a:pPr>
            <a:r>
              <a:rPr kumimoji="1" lang="en-US" altLang="zh-CN" sz="2800" dirty="0">
                <a:solidFill>
                  <a:srgbClr val="104E87"/>
                </a:solidFill>
                <a:latin typeface="Comic Sans MS" panose="030F0702030302020204" pitchFamily="66" charset="0"/>
                <a:ea typeface="宋体" panose="02010600030101010101" pitchFamily="2" charset="-122"/>
              </a:rPr>
              <a:t>technician</a:t>
            </a:r>
          </a:p>
        </p:txBody>
      </p:sp>
      <p:sp>
        <p:nvSpPr>
          <p:cNvPr id="26" name="Rectangle 30">
            <a:extLst>
              <a:ext uri="{FF2B5EF4-FFF2-40B4-BE49-F238E27FC236}">
                <a16:creationId xmlns:a16="http://schemas.microsoft.com/office/drawing/2014/main" id="{A2B999A3-AE87-406B-85DB-EE4231241239}"/>
              </a:ext>
            </a:extLst>
          </p:cNvPr>
          <p:cNvSpPr>
            <a:spLocks noChangeArrowheads="1"/>
          </p:cNvSpPr>
          <p:nvPr/>
        </p:nvSpPr>
        <p:spPr bwMode="auto">
          <a:xfrm>
            <a:off x="4581525" y="2418178"/>
            <a:ext cx="2233613" cy="704850"/>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buClrTx/>
              <a:buSzTx/>
              <a:buFontTx/>
              <a:buNone/>
            </a:pPr>
            <a:r>
              <a:rPr kumimoji="1" lang="en-US" altLang="zh-CN" sz="2800">
                <a:solidFill>
                  <a:srgbClr val="104E87"/>
                </a:solidFill>
                <a:latin typeface="Comic Sans MS" panose="030F0702030302020204" pitchFamily="66" charset="0"/>
                <a:ea typeface="宋体" panose="02010600030101010101" pitchFamily="2" charset="-122"/>
              </a:rPr>
              <a:t>manager</a:t>
            </a:r>
          </a:p>
        </p:txBody>
      </p:sp>
      <p:sp>
        <p:nvSpPr>
          <p:cNvPr id="27" name="Rectangle 36">
            <a:extLst>
              <a:ext uri="{FF2B5EF4-FFF2-40B4-BE49-F238E27FC236}">
                <a16:creationId xmlns:a16="http://schemas.microsoft.com/office/drawing/2014/main" id="{40322B32-E5EE-45A1-8104-40002F732452}"/>
              </a:ext>
            </a:extLst>
          </p:cNvPr>
          <p:cNvSpPr>
            <a:spLocks noChangeArrowheads="1"/>
          </p:cNvSpPr>
          <p:nvPr/>
        </p:nvSpPr>
        <p:spPr bwMode="auto">
          <a:xfrm>
            <a:off x="7389813" y="2418178"/>
            <a:ext cx="2233612" cy="704850"/>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buClrTx/>
              <a:buSzTx/>
              <a:buFontTx/>
              <a:buNone/>
            </a:pPr>
            <a:r>
              <a:rPr kumimoji="1" lang="en-US" altLang="zh-CN" sz="2800">
                <a:solidFill>
                  <a:srgbClr val="104E87"/>
                </a:solidFill>
                <a:latin typeface="Comic Sans MS" panose="030F0702030302020204" pitchFamily="66" charset="0"/>
                <a:ea typeface="宋体" panose="02010600030101010101" pitchFamily="2" charset="-122"/>
              </a:rPr>
              <a:t>salesman</a:t>
            </a:r>
          </a:p>
        </p:txBody>
      </p:sp>
      <p:sp>
        <p:nvSpPr>
          <p:cNvPr id="28" name="Rectangle 39">
            <a:extLst>
              <a:ext uri="{FF2B5EF4-FFF2-40B4-BE49-F238E27FC236}">
                <a16:creationId xmlns:a16="http://schemas.microsoft.com/office/drawing/2014/main" id="{B795DF2B-6487-4759-98E4-B4450620C985}"/>
              </a:ext>
            </a:extLst>
          </p:cNvPr>
          <p:cNvSpPr>
            <a:spLocks noChangeArrowheads="1"/>
          </p:cNvSpPr>
          <p:nvPr/>
        </p:nvSpPr>
        <p:spPr bwMode="auto">
          <a:xfrm>
            <a:off x="5805488" y="3697703"/>
            <a:ext cx="2665412" cy="650875"/>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buClrTx/>
              <a:buSzTx/>
              <a:buFontTx/>
              <a:buNone/>
            </a:pPr>
            <a:r>
              <a:rPr kumimoji="1" lang="en-US" altLang="zh-CN" sz="2800" dirty="0" err="1">
                <a:solidFill>
                  <a:srgbClr val="104E87"/>
                </a:solidFill>
                <a:latin typeface="Comic Sans MS" panose="030F0702030302020204" pitchFamily="66" charset="0"/>
                <a:ea typeface="宋体" panose="02010600030101010101" pitchFamily="2" charset="-122"/>
              </a:rPr>
              <a:t>salesmanager</a:t>
            </a:r>
            <a:endParaRPr kumimoji="1" lang="en-US" altLang="zh-CN" sz="2800" dirty="0">
              <a:solidFill>
                <a:srgbClr val="104E87"/>
              </a:solidFill>
              <a:latin typeface="Comic Sans MS" panose="030F0702030302020204" pitchFamily="66" charset="0"/>
              <a:ea typeface="宋体" panose="02010600030101010101" pitchFamily="2" charset="-122"/>
            </a:endParaRPr>
          </a:p>
        </p:txBody>
      </p:sp>
      <p:sp>
        <p:nvSpPr>
          <p:cNvPr id="29" name="Line 40">
            <a:extLst>
              <a:ext uri="{FF2B5EF4-FFF2-40B4-BE49-F238E27FC236}">
                <a16:creationId xmlns:a16="http://schemas.microsoft.com/office/drawing/2014/main" id="{69C0307D-3A2B-42E4-984C-E21F2BE4D48A}"/>
              </a:ext>
            </a:extLst>
          </p:cNvPr>
          <p:cNvSpPr>
            <a:spLocks noChangeShapeType="1"/>
          </p:cNvSpPr>
          <p:nvPr/>
        </p:nvSpPr>
        <p:spPr bwMode="auto">
          <a:xfrm>
            <a:off x="8542338" y="2288003"/>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ndParaRPr>
          </a:p>
        </p:txBody>
      </p:sp>
      <p:sp>
        <p:nvSpPr>
          <p:cNvPr id="30" name="矩形 29">
            <a:extLst>
              <a:ext uri="{FF2B5EF4-FFF2-40B4-BE49-F238E27FC236}">
                <a16:creationId xmlns:a16="http://schemas.microsoft.com/office/drawing/2014/main" id="{0528C20E-87B0-49B2-ACF3-E514658A7D68}"/>
              </a:ext>
            </a:extLst>
          </p:cNvPr>
          <p:cNvSpPr/>
          <p:nvPr/>
        </p:nvSpPr>
        <p:spPr>
          <a:xfrm>
            <a:off x="6713034" y="919488"/>
            <a:ext cx="4939982" cy="1200329"/>
          </a:xfrm>
          <a:prstGeom prst="rect">
            <a:avLst/>
          </a:prstGeom>
          <a:solidFill>
            <a:schemeClr val="accent1">
              <a:lumMod val="20000"/>
              <a:lumOff val="80000"/>
            </a:schemeClr>
          </a:solidFill>
        </p:spPr>
        <p:txBody>
          <a:bodyPr wrap="square">
            <a:spAutoFit/>
          </a:bodyPr>
          <a:lstStyle/>
          <a:p>
            <a:pPr>
              <a:defRPr/>
            </a:pPr>
            <a:r>
              <a:rPr lang="zh-CN" altLang="en-US" dirty="0">
                <a:solidFill>
                  <a:srgbClr val="104E87"/>
                </a:solidFill>
                <a:latin typeface="华光行书_CNKI" panose="02000500000000000000" pitchFamily="2" charset="-122"/>
                <a:ea typeface="华光行书_CNKI" panose="02000500000000000000" pitchFamily="2" charset="-122"/>
              </a:rPr>
              <a:t>基类</a:t>
            </a:r>
            <a:r>
              <a:rPr lang="en-US" altLang="zh-CN" dirty="0">
                <a:solidFill>
                  <a:srgbClr val="104E87"/>
                </a:solidFill>
                <a:latin typeface="华光行书_CNKI" panose="02000500000000000000" pitchFamily="2" charset="-122"/>
                <a:ea typeface="华光行书_CNKI" panose="02000500000000000000" pitchFamily="2" charset="-122"/>
              </a:rPr>
              <a:t>employee</a:t>
            </a:r>
            <a:r>
              <a:rPr lang="zh-CN" altLang="en-US" dirty="0">
                <a:solidFill>
                  <a:srgbClr val="104E87"/>
                </a:solidFill>
                <a:latin typeface="华光行书_CNKI" panose="02000500000000000000" pitchFamily="2" charset="-122"/>
                <a:ea typeface="华光行书_CNKI" panose="02000500000000000000" pitchFamily="2" charset="-122"/>
              </a:rPr>
              <a:t>：定义各类人员共同的信息和操作，规范各派生类的基本行为；定义构造函数和析构函数。</a:t>
            </a:r>
          </a:p>
        </p:txBody>
      </p:sp>
      <p:sp>
        <p:nvSpPr>
          <p:cNvPr id="31" name="矩形 30">
            <a:extLst>
              <a:ext uri="{FF2B5EF4-FFF2-40B4-BE49-F238E27FC236}">
                <a16:creationId xmlns:a16="http://schemas.microsoft.com/office/drawing/2014/main" id="{243F6C02-8915-4699-8A5F-A3BD31DF6BFB}"/>
              </a:ext>
            </a:extLst>
          </p:cNvPr>
          <p:cNvSpPr/>
          <p:nvPr/>
        </p:nvSpPr>
        <p:spPr>
          <a:xfrm>
            <a:off x="6163370" y="4430432"/>
            <a:ext cx="6028630" cy="1200329"/>
          </a:xfrm>
          <a:prstGeom prst="rect">
            <a:avLst/>
          </a:prstGeom>
          <a:solidFill>
            <a:schemeClr val="accent1">
              <a:lumMod val="20000"/>
              <a:lumOff val="80000"/>
            </a:schemeClr>
          </a:solidFill>
        </p:spPr>
        <p:txBody>
          <a:bodyPr wrap="square">
            <a:spAutoFit/>
          </a:bodyPr>
          <a:lstStyle/>
          <a:p>
            <a:r>
              <a:rPr lang="zh-CN" altLang="en-US" dirty="0">
                <a:solidFill>
                  <a:srgbClr val="104E87"/>
                </a:solidFill>
                <a:latin typeface="Comic Sans MS" panose="030F0702030302020204" pitchFamily="66" charset="0"/>
                <a:ea typeface="华光行书_CNKI" panose="02000500000000000000" pitchFamily="2" charset="-122"/>
              </a:rPr>
              <a:t>派生类</a:t>
            </a:r>
            <a:r>
              <a:rPr lang="en-US" altLang="zh-CN" dirty="0" err="1">
                <a:solidFill>
                  <a:srgbClr val="104E87"/>
                </a:solidFill>
                <a:latin typeface="Comic Sans MS" panose="030F0702030302020204" pitchFamily="66" charset="0"/>
                <a:ea typeface="华光行书_CNKI" panose="02000500000000000000" pitchFamily="2" charset="-122"/>
              </a:rPr>
              <a:t>salesmanager</a:t>
            </a:r>
            <a:r>
              <a:rPr lang="zh-CN" altLang="en-US" dirty="0">
                <a:solidFill>
                  <a:srgbClr val="104E87"/>
                </a:solidFill>
                <a:latin typeface="Comic Sans MS" panose="030F0702030302020204" pitchFamily="66" charset="0"/>
                <a:ea typeface="华光行书_CNKI" panose="02000500000000000000" pitchFamily="2" charset="-122"/>
              </a:rPr>
              <a:t>：两个基类</a:t>
            </a:r>
            <a:r>
              <a:rPr lang="en-US" altLang="zh-CN" dirty="0">
                <a:solidFill>
                  <a:srgbClr val="104E87"/>
                </a:solidFill>
                <a:latin typeface="Comic Sans MS" panose="030F0702030302020204" pitchFamily="66" charset="0"/>
                <a:ea typeface="华光行书_CNKI" panose="02000500000000000000" pitchFamily="2" charset="-122"/>
              </a:rPr>
              <a:t>manger</a:t>
            </a:r>
            <a:r>
              <a:rPr lang="zh-CN" altLang="en-US" dirty="0">
                <a:solidFill>
                  <a:srgbClr val="104E87"/>
                </a:solidFill>
                <a:latin typeface="Comic Sans MS" panose="030F0702030302020204" pitchFamily="66" charset="0"/>
                <a:ea typeface="华光行书_CNKI" panose="02000500000000000000" pitchFamily="2" charset="-122"/>
              </a:rPr>
              <a:t>和</a:t>
            </a:r>
            <a:r>
              <a:rPr lang="en-US" altLang="zh-CN" dirty="0" err="1">
                <a:solidFill>
                  <a:srgbClr val="104E87"/>
                </a:solidFill>
                <a:latin typeface="Comic Sans MS" panose="030F0702030302020204" pitchFamily="66" charset="0"/>
                <a:ea typeface="华光行书_CNKI" panose="02000500000000000000" pitchFamily="2" charset="-122"/>
              </a:rPr>
              <a:t>saleman</a:t>
            </a:r>
            <a:r>
              <a:rPr lang="zh-CN" altLang="en-US" dirty="0">
                <a:solidFill>
                  <a:srgbClr val="104E87"/>
                </a:solidFill>
                <a:latin typeface="Comic Sans MS" panose="030F0702030302020204" pitchFamily="66" charset="0"/>
                <a:ea typeface="华光行书_CNKI" panose="02000500000000000000" pitchFamily="2" charset="-122"/>
              </a:rPr>
              <a:t>，他们又有公共基类</a:t>
            </a:r>
            <a:r>
              <a:rPr lang="en-US" altLang="zh-CN" dirty="0">
                <a:solidFill>
                  <a:srgbClr val="104E87"/>
                </a:solidFill>
                <a:latin typeface="Comic Sans MS" panose="030F0702030302020204" pitchFamily="66" charset="0"/>
                <a:ea typeface="华光行书_CNKI" panose="02000500000000000000" pitchFamily="2" charset="-122"/>
              </a:rPr>
              <a:t>employee</a:t>
            </a:r>
            <a:r>
              <a:rPr lang="zh-CN" altLang="en-US" dirty="0">
                <a:solidFill>
                  <a:srgbClr val="104E87"/>
                </a:solidFill>
                <a:latin typeface="Comic Sans MS" panose="030F0702030302020204" pitchFamily="66" charset="0"/>
                <a:ea typeface="华光行书_CNKI" panose="02000500000000000000" pitchFamily="2" charset="-122"/>
              </a:rPr>
              <a:t>，为避免二义性，</a:t>
            </a:r>
            <a:r>
              <a:rPr lang="en-US" altLang="zh-CN" dirty="0">
                <a:solidFill>
                  <a:srgbClr val="104E87"/>
                </a:solidFill>
                <a:latin typeface="Comic Sans MS" panose="030F0702030302020204" pitchFamily="66" charset="0"/>
                <a:ea typeface="华光行书_CNKI" panose="02000500000000000000" pitchFamily="2" charset="-122"/>
              </a:rPr>
              <a:t>employee</a:t>
            </a:r>
            <a:r>
              <a:rPr lang="zh-CN" altLang="en-US" dirty="0">
                <a:solidFill>
                  <a:srgbClr val="104E87"/>
                </a:solidFill>
                <a:latin typeface="Comic Sans MS" panose="030F0702030302020204" pitchFamily="66" charset="0"/>
                <a:ea typeface="华光行书_CNKI" panose="02000500000000000000" pitchFamily="2" charset="-122"/>
              </a:rPr>
              <a:t>类被设计为虚基类。</a:t>
            </a:r>
          </a:p>
        </p:txBody>
      </p:sp>
      <p:sp>
        <p:nvSpPr>
          <p:cNvPr id="32" name="矩形 31">
            <a:extLst>
              <a:ext uri="{FF2B5EF4-FFF2-40B4-BE49-F238E27FC236}">
                <a16:creationId xmlns:a16="http://schemas.microsoft.com/office/drawing/2014/main" id="{06CC8D1E-46D0-41FC-A516-C844530458B4}"/>
              </a:ext>
            </a:extLst>
          </p:cNvPr>
          <p:cNvSpPr/>
          <p:nvPr/>
        </p:nvSpPr>
        <p:spPr>
          <a:xfrm>
            <a:off x="3177" y="3462939"/>
            <a:ext cx="5584821" cy="1569660"/>
          </a:xfrm>
          <a:prstGeom prst="rect">
            <a:avLst/>
          </a:prstGeom>
          <a:solidFill>
            <a:schemeClr val="accent1">
              <a:lumMod val="20000"/>
              <a:lumOff val="80000"/>
            </a:schemeClr>
          </a:solidFill>
        </p:spPr>
        <p:txBody>
          <a:bodyPr wrap="square" lIns="0" rIns="0">
            <a:spAutoFit/>
          </a:bodyPr>
          <a:lstStyle/>
          <a:p>
            <a:pPr>
              <a:defRPr/>
            </a:pPr>
            <a:r>
              <a:rPr lang="zh-CN" altLang="en-US" dirty="0">
                <a:solidFill>
                  <a:srgbClr val="104E87"/>
                </a:solidFill>
                <a:latin typeface="华光行书_CNKI" panose="02000500000000000000" pitchFamily="2" charset="-122"/>
                <a:ea typeface="华光行书_CNKI" panose="02000500000000000000" pitchFamily="2" charset="-122"/>
              </a:rPr>
              <a:t>各类人员月薪计算方法和人员信息显示内容不同，不能在基类中统一定义薪水计算函数和信息显示函数，但可以在基类里规范函数接口，在派生类中重新定义。</a:t>
            </a:r>
          </a:p>
        </p:txBody>
      </p:sp>
    </p:spTree>
    <p:extLst>
      <p:ext uri="{BB962C8B-B14F-4D97-AF65-F5344CB8AC3E}">
        <p14:creationId xmlns:p14="http://schemas.microsoft.com/office/powerpoint/2010/main" val="3586156944"/>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arn(inVertical)">
                                      <p:cBhvr>
                                        <p:cTn id="10" dur="500"/>
                                        <p:tgtEl>
                                          <p:spTgt spid="1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arn(inVertical)">
                                      <p:cBhvr>
                                        <p:cTn id="13" dur="500"/>
                                        <p:tgtEl>
                                          <p:spTgt spid="1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barn(inVertical)">
                                      <p:cBhvr>
                                        <p:cTn id="19" dur="500"/>
                                        <p:tgtEl>
                                          <p:spTgt spid="21"/>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arn(inVertical)">
                                      <p:cBhvr>
                                        <p:cTn id="22" dur="500"/>
                                        <p:tgtEl>
                                          <p:spTgt spid="22"/>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arn(inVertical)">
                                      <p:cBhvr>
                                        <p:cTn id="25" dur="50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randombar(horizontal)">
                                      <p:cBhvr>
                                        <p:cTn id="30" dur="50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wipe(left)">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right)">
                                      <p:cBhvr>
                                        <p:cTn id="4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8" grpId="0" animBg="1"/>
      <p:bldP spid="30" grpId="0" animBg="1"/>
      <p:bldP spid="31" grpId="0" animBg="1"/>
      <p:bldP spid="3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9" name="文本框 8">
            <a:extLst>
              <a:ext uri="{FF2B5EF4-FFF2-40B4-BE49-F238E27FC236}">
                <a16:creationId xmlns:a16="http://schemas.microsoft.com/office/drawing/2014/main" id="{27C3D3B0-8684-4173-8F2B-F5A56F334419}"/>
              </a:ext>
            </a:extLst>
          </p:cNvPr>
          <p:cNvSpPr txBox="1"/>
          <p:nvPr/>
        </p:nvSpPr>
        <p:spPr>
          <a:xfrm>
            <a:off x="247718" y="224527"/>
            <a:ext cx="8273981"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9.7</a:t>
            </a:r>
            <a:r>
              <a:rPr lang="zh-CN" altLang="en-US" dirty="0">
                <a:sym typeface="+mn-lt"/>
              </a:rPr>
              <a:t>实例：小型公司人员信息管理</a:t>
            </a:r>
          </a:p>
        </p:txBody>
      </p:sp>
      <p:cxnSp>
        <p:nvCxnSpPr>
          <p:cNvPr id="24" name="直线连接符 6">
            <a:extLst>
              <a:ext uri="{FF2B5EF4-FFF2-40B4-BE49-F238E27FC236}">
                <a16:creationId xmlns:a16="http://schemas.microsoft.com/office/drawing/2014/main" id="{27A13583-CA0B-4BC5-9B30-04163081978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34" name="Rectangle 9">
            <a:extLst>
              <a:ext uri="{FF2B5EF4-FFF2-40B4-BE49-F238E27FC236}">
                <a16:creationId xmlns:a16="http://schemas.microsoft.com/office/drawing/2014/main" id="{80ACB9F4-8394-4DD3-B1BC-D83983955C59}"/>
              </a:ext>
            </a:extLst>
          </p:cNvPr>
          <p:cNvSpPr>
            <a:spLocks noChangeArrowheads="1"/>
          </p:cNvSpPr>
          <p:nvPr/>
        </p:nvSpPr>
        <p:spPr bwMode="auto">
          <a:xfrm>
            <a:off x="4129859" y="1194640"/>
            <a:ext cx="2810627" cy="1295400"/>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nSpc>
                <a:spcPct val="80000"/>
              </a:lnSpc>
              <a:spcBef>
                <a:spcPct val="0"/>
              </a:spcBef>
              <a:buClrTx/>
              <a:buSzTx/>
              <a:buFontTx/>
              <a:buNone/>
            </a:pPr>
            <a:r>
              <a:rPr kumimoji="1" lang="en-US" altLang="zh-CN" sz="2000" dirty="0">
                <a:solidFill>
                  <a:srgbClr val="104E87"/>
                </a:solidFill>
                <a:latin typeface="Comic Sans MS" panose="030F0702030302020204" pitchFamily="66" charset="0"/>
                <a:ea typeface="华光隶变_CNKI" panose="02000500000000000000" pitchFamily="2" charset="-122"/>
              </a:rPr>
              <a:t> char *name; </a:t>
            </a:r>
          </a:p>
          <a:p>
            <a:pPr>
              <a:lnSpc>
                <a:spcPct val="80000"/>
              </a:lnSpc>
              <a:spcBef>
                <a:spcPct val="0"/>
              </a:spcBef>
              <a:buClrTx/>
              <a:buSzTx/>
              <a:buFontTx/>
              <a:buNone/>
            </a:pPr>
            <a:r>
              <a:rPr kumimoji="1" lang="en-US" altLang="zh-CN" sz="2000" dirty="0">
                <a:solidFill>
                  <a:srgbClr val="104E87"/>
                </a:solidFill>
                <a:latin typeface="Comic Sans MS" panose="030F0702030302020204" pitchFamily="66" charset="0"/>
                <a:ea typeface="华光隶变_CNKI" panose="02000500000000000000" pitchFamily="2" charset="-122"/>
              </a:rPr>
              <a:t> int </a:t>
            </a:r>
            <a:r>
              <a:rPr kumimoji="1" lang="en-US" altLang="zh-CN" sz="2000" dirty="0" err="1">
                <a:solidFill>
                  <a:srgbClr val="104E87"/>
                </a:solidFill>
                <a:latin typeface="Comic Sans MS" panose="030F0702030302020204" pitchFamily="66" charset="0"/>
                <a:ea typeface="华光隶变_CNKI" panose="02000500000000000000" pitchFamily="2" charset="-122"/>
              </a:rPr>
              <a:t>individualEmpNo</a:t>
            </a:r>
            <a:r>
              <a:rPr kumimoji="1" lang="en-US" altLang="zh-CN" sz="2000" dirty="0">
                <a:solidFill>
                  <a:srgbClr val="104E87"/>
                </a:solidFill>
                <a:latin typeface="Comic Sans MS" panose="030F0702030302020204" pitchFamily="66" charset="0"/>
                <a:ea typeface="华光隶变_CNKI" panose="02000500000000000000" pitchFamily="2" charset="-122"/>
              </a:rPr>
              <a:t>; </a:t>
            </a:r>
          </a:p>
          <a:p>
            <a:pPr>
              <a:lnSpc>
                <a:spcPct val="80000"/>
              </a:lnSpc>
              <a:spcBef>
                <a:spcPct val="0"/>
              </a:spcBef>
              <a:buClrTx/>
              <a:buSzTx/>
              <a:buFontTx/>
              <a:buNone/>
            </a:pPr>
            <a:r>
              <a:rPr kumimoji="1" lang="en-US" altLang="zh-CN" sz="2000" dirty="0">
                <a:solidFill>
                  <a:srgbClr val="104E87"/>
                </a:solidFill>
                <a:latin typeface="Comic Sans MS" panose="030F0702030302020204" pitchFamily="66" charset="0"/>
                <a:ea typeface="华光隶变_CNKI" panose="02000500000000000000" pitchFamily="2" charset="-122"/>
              </a:rPr>
              <a:t> int grade; </a:t>
            </a:r>
          </a:p>
          <a:p>
            <a:pPr>
              <a:lnSpc>
                <a:spcPct val="80000"/>
              </a:lnSpc>
              <a:spcBef>
                <a:spcPct val="0"/>
              </a:spcBef>
              <a:buClrTx/>
              <a:buSzTx/>
              <a:buFontTx/>
              <a:buNone/>
            </a:pPr>
            <a:r>
              <a:rPr kumimoji="1" lang="en-US" altLang="zh-CN" sz="2000" dirty="0">
                <a:solidFill>
                  <a:srgbClr val="104E87"/>
                </a:solidFill>
                <a:latin typeface="Comic Sans MS" panose="030F0702030302020204" pitchFamily="66" charset="0"/>
                <a:ea typeface="华光隶变_CNKI" panose="02000500000000000000" pitchFamily="2" charset="-122"/>
              </a:rPr>
              <a:t> float </a:t>
            </a:r>
            <a:r>
              <a:rPr kumimoji="1" lang="en-US" altLang="zh-CN" sz="2000" dirty="0" err="1">
                <a:solidFill>
                  <a:srgbClr val="104E87"/>
                </a:solidFill>
                <a:latin typeface="Comic Sans MS" panose="030F0702030302020204" pitchFamily="66" charset="0"/>
                <a:ea typeface="华光隶变_CNKI" panose="02000500000000000000" pitchFamily="2" charset="-122"/>
              </a:rPr>
              <a:t>accumPay</a:t>
            </a:r>
            <a:r>
              <a:rPr kumimoji="1" lang="en-US" altLang="zh-CN" sz="2000" dirty="0">
                <a:solidFill>
                  <a:srgbClr val="104E87"/>
                </a:solidFill>
                <a:latin typeface="Comic Sans MS" panose="030F0702030302020204" pitchFamily="66" charset="0"/>
                <a:ea typeface="华光隶变_CNKI" panose="02000500000000000000" pitchFamily="2" charset="-122"/>
              </a:rPr>
              <a:t>;</a:t>
            </a:r>
          </a:p>
          <a:p>
            <a:pPr>
              <a:lnSpc>
                <a:spcPct val="80000"/>
              </a:lnSpc>
              <a:spcBef>
                <a:spcPct val="0"/>
              </a:spcBef>
              <a:buClrTx/>
              <a:buSzTx/>
              <a:buFontTx/>
              <a:buNone/>
            </a:pPr>
            <a:r>
              <a:rPr kumimoji="1" lang="en-US" altLang="zh-CN" sz="2000" dirty="0">
                <a:solidFill>
                  <a:srgbClr val="104E87"/>
                </a:solidFill>
                <a:latin typeface="Comic Sans MS" panose="030F0702030302020204" pitchFamily="66" charset="0"/>
                <a:ea typeface="华光隶变_CNKI" panose="02000500000000000000" pitchFamily="2" charset="-122"/>
              </a:rPr>
              <a:t> </a:t>
            </a:r>
          </a:p>
        </p:txBody>
      </p:sp>
      <p:sp>
        <p:nvSpPr>
          <p:cNvPr id="35" name="Rectangle 11">
            <a:extLst>
              <a:ext uri="{FF2B5EF4-FFF2-40B4-BE49-F238E27FC236}">
                <a16:creationId xmlns:a16="http://schemas.microsoft.com/office/drawing/2014/main" id="{B52ECD8A-4BD0-4D65-B795-BC4449E460B9}"/>
              </a:ext>
            </a:extLst>
          </p:cNvPr>
          <p:cNvSpPr>
            <a:spLocks noChangeArrowheads="1"/>
          </p:cNvSpPr>
          <p:nvPr/>
        </p:nvSpPr>
        <p:spPr bwMode="auto">
          <a:xfrm>
            <a:off x="4129859" y="2509414"/>
            <a:ext cx="2810627" cy="790575"/>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void promote(int);             </a:t>
            </a:r>
          </a:p>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void pay();          </a:t>
            </a:r>
          </a:p>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void </a:t>
            </a:r>
            <a:r>
              <a:rPr kumimoji="1" lang="en-US" altLang="zh-CN" sz="2000" dirty="0" err="1">
                <a:solidFill>
                  <a:srgbClr val="104E87"/>
                </a:solidFill>
                <a:latin typeface="Comic Sans MS" panose="030F0702030302020204" pitchFamily="66" charset="0"/>
                <a:ea typeface="华光隶变_CNKI" panose="02000500000000000000" pitchFamily="2" charset="-122"/>
              </a:rPr>
              <a:t>displayStatus</a:t>
            </a:r>
            <a:r>
              <a:rPr kumimoji="1" lang="en-US" altLang="zh-CN" sz="2000" dirty="0">
                <a:solidFill>
                  <a:srgbClr val="104E87"/>
                </a:solidFill>
                <a:latin typeface="Comic Sans MS" panose="030F0702030302020204" pitchFamily="66" charset="0"/>
                <a:ea typeface="华光隶变_CNKI" panose="02000500000000000000" pitchFamily="2" charset="-122"/>
              </a:rPr>
              <a:t>();</a:t>
            </a:r>
          </a:p>
        </p:txBody>
      </p:sp>
      <p:sp>
        <p:nvSpPr>
          <p:cNvPr id="36" name="AutoShape 12">
            <a:extLst>
              <a:ext uri="{FF2B5EF4-FFF2-40B4-BE49-F238E27FC236}">
                <a16:creationId xmlns:a16="http://schemas.microsoft.com/office/drawing/2014/main" id="{B164AA9D-3D8F-456C-BD79-79F0366C662E}"/>
              </a:ext>
            </a:extLst>
          </p:cNvPr>
          <p:cNvSpPr>
            <a:spLocks noChangeArrowheads="1"/>
          </p:cNvSpPr>
          <p:nvPr/>
        </p:nvSpPr>
        <p:spPr bwMode="auto">
          <a:xfrm>
            <a:off x="5210946" y="3258714"/>
            <a:ext cx="280289" cy="217487"/>
          </a:xfrm>
          <a:prstGeom prst="triangle">
            <a:avLst>
              <a:gd name="adj" fmla="val 50000"/>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37" name="Line 13">
            <a:extLst>
              <a:ext uri="{FF2B5EF4-FFF2-40B4-BE49-F238E27FC236}">
                <a16:creationId xmlns:a16="http://schemas.microsoft.com/office/drawing/2014/main" id="{FB053A09-4B0F-410A-97B6-786E889F616A}"/>
              </a:ext>
            </a:extLst>
          </p:cNvPr>
          <p:cNvSpPr>
            <a:spLocks noChangeShapeType="1"/>
          </p:cNvSpPr>
          <p:nvPr/>
        </p:nvSpPr>
        <p:spPr bwMode="auto">
          <a:xfrm>
            <a:off x="5355409" y="3474614"/>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38" name="Line 14">
            <a:extLst>
              <a:ext uri="{FF2B5EF4-FFF2-40B4-BE49-F238E27FC236}">
                <a16:creationId xmlns:a16="http://schemas.microsoft.com/office/drawing/2014/main" id="{7BF34005-E95B-4BFD-B990-F8B873404182}"/>
              </a:ext>
            </a:extLst>
          </p:cNvPr>
          <p:cNvSpPr>
            <a:spLocks noChangeShapeType="1"/>
          </p:cNvSpPr>
          <p:nvPr/>
        </p:nvSpPr>
        <p:spPr bwMode="auto">
          <a:xfrm flipV="1">
            <a:off x="2547121" y="3591132"/>
            <a:ext cx="5688012" cy="27944"/>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39" name="Line 15">
            <a:extLst>
              <a:ext uri="{FF2B5EF4-FFF2-40B4-BE49-F238E27FC236}">
                <a16:creationId xmlns:a16="http://schemas.microsoft.com/office/drawing/2014/main" id="{EE0016C4-1803-43E5-9581-8D3D50C01CE2}"/>
              </a:ext>
            </a:extLst>
          </p:cNvPr>
          <p:cNvSpPr>
            <a:spLocks noChangeShapeType="1"/>
          </p:cNvSpPr>
          <p:nvPr/>
        </p:nvSpPr>
        <p:spPr bwMode="auto">
          <a:xfrm>
            <a:off x="5355409" y="3619076"/>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40" name="Line 16">
            <a:extLst>
              <a:ext uri="{FF2B5EF4-FFF2-40B4-BE49-F238E27FC236}">
                <a16:creationId xmlns:a16="http://schemas.microsoft.com/office/drawing/2014/main" id="{587C7438-7D0E-48CC-8AC5-FD0EEAFA71AD}"/>
              </a:ext>
            </a:extLst>
          </p:cNvPr>
          <p:cNvSpPr>
            <a:spLocks noChangeShapeType="1"/>
          </p:cNvSpPr>
          <p:nvPr/>
        </p:nvSpPr>
        <p:spPr bwMode="auto">
          <a:xfrm>
            <a:off x="2547121" y="3619076"/>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41" name="AutoShape 17">
            <a:extLst>
              <a:ext uri="{FF2B5EF4-FFF2-40B4-BE49-F238E27FC236}">
                <a16:creationId xmlns:a16="http://schemas.microsoft.com/office/drawing/2014/main" id="{8FC13FD8-7319-4C4E-9185-073EF96A68D8}"/>
              </a:ext>
            </a:extLst>
          </p:cNvPr>
          <p:cNvSpPr>
            <a:spLocks noChangeArrowheads="1"/>
          </p:cNvSpPr>
          <p:nvPr/>
        </p:nvSpPr>
        <p:spPr bwMode="auto">
          <a:xfrm>
            <a:off x="5212535" y="4982739"/>
            <a:ext cx="280288" cy="217487"/>
          </a:xfrm>
          <a:prstGeom prst="triangle">
            <a:avLst>
              <a:gd name="adj" fmla="val 50000"/>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sz="2000">
              <a:solidFill>
                <a:srgbClr val="104E87"/>
              </a:solidFill>
              <a:latin typeface="Comic Sans MS" panose="030F0702030302020204" pitchFamily="66" charset="0"/>
              <a:ea typeface="华光隶变_CNKI" panose="02000500000000000000" pitchFamily="2" charset="-122"/>
            </a:endParaRPr>
          </a:p>
        </p:txBody>
      </p:sp>
      <p:sp>
        <p:nvSpPr>
          <p:cNvPr id="42" name="AutoShape 18">
            <a:extLst>
              <a:ext uri="{FF2B5EF4-FFF2-40B4-BE49-F238E27FC236}">
                <a16:creationId xmlns:a16="http://schemas.microsoft.com/office/drawing/2014/main" id="{97210DF7-0841-450A-A477-61B7538756AD}"/>
              </a:ext>
            </a:extLst>
          </p:cNvPr>
          <p:cNvSpPr>
            <a:spLocks noChangeArrowheads="1"/>
          </p:cNvSpPr>
          <p:nvPr/>
        </p:nvSpPr>
        <p:spPr bwMode="auto">
          <a:xfrm>
            <a:off x="7817621" y="4982739"/>
            <a:ext cx="280289" cy="217487"/>
          </a:xfrm>
          <a:prstGeom prst="triangle">
            <a:avLst>
              <a:gd name="adj" fmla="val 50000"/>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sz="2000">
              <a:solidFill>
                <a:srgbClr val="104E87"/>
              </a:solidFill>
              <a:latin typeface="Comic Sans MS" panose="030F0702030302020204" pitchFamily="66" charset="0"/>
              <a:ea typeface="华光隶变_CNKI" panose="02000500000000000000" pitchFamily="2" charset="-122"/>
            </a:endParaRPr>
          </a:p>
        </p:txBody>
      </p:sp>
      <p:sp>
        <p:nvSpPr>
          <p:cNvPr id="43" name="Line 19">
            <a:extLst>
              <a:ext uri="{FF2B5EF4-FFF2-40B4-BE49-F238E27FC236}">
                <a16:creationId xmlns:a16="http://schemas.microsoft.com/office/drawing/2014/main" id="{B725922D-9661-4F66-9693-3F43D602780C}"/>
              </a:ext>
            </a:extLst>
          </p:cNvPr>
          <p:cNvSpPr>
            <a:spLocks noChangeShapeType="1"/>
          </p:cNvSpPr>
          <p:nvPr/>
        </p:nvSpPr>
        <p:spPr bwMode="auto">
          <a:xfrm flipV="1">
            <a:off x="5355410" y="5332946"/>
            <a:ext cx="2612926" cy="1015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44" name="Line 20">
            <a:extLst>
              <a:ext uri="{FF2B5EF4-FFF2-40B4-BE49-F238E27FC236}">
                <a16:creationId xmlns:a16="http://schemas.microsoft.com/office/drawing/2014/main" id="{F7E7F013-B0DA-4871-A202-F4162796451F}"/>
              </a:ext>
            </a:extLst>
          </p:cNvPr>
          <p:cNvSpPr>
            <a:spLocks noChangeShapeType="1"/>
          </p:cNvSpPr>
          <p:nvPr/>
        </p:nvSpPr>
        <p:spPr bwMode="auto">
          <a:xfrm>
            <a:off x="6747646" y="5343101"/>
            <a:ext cx="0" cy="144463"/>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45" name="Line 22">
            <a:extLst>
              <a:ext uri="{FF2B5EF4-FFF2-40B4-BE49-F238E27FC236}">
                <a16:creationId xmlns:a16="http://schemas.microsoft.com/office/drawing/2014/main" id="{51470BA9-ECF0-4629-B841-0E5662D50687}"/>
              </a:ext>
            </a:extLst>
          </p:cNvPr>
          <p:cNvSpPr>
            <a:spLocks noChangeShapeType="1"/>
          </p:cNvSpPr>
          <p:nvPr/>
        </p:nvSpPr>
        <p:spPr bwMode="auto">
          <a:xfrm>
            <a:off x="5355409" y="5198639"/>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46" name="Line 23">
            <a:extLst>
              <a:ext uri="{FF2B5EF4-FFF2-40B4-BE49-F238E27FC236}">
                <a16:creationId xmlns:a16="http://schemas.microsoft.com/office/drawing/2014/main" id="{ACF78E5B-D636-4400-9CA8-F0554E7EED21}"/>
              </a:ext>
            </a:extLst>
          </p:cNvPr>
          <p:cNvSpPr>
            <a:spLocks noChangeShapeType="1"/>
          </p:cNvSpPr>
          <p:nvPr/>
        </p:nvSpPr>
        <p:spPr bwMode="auto">
          <a:xfrm>
            <a:off x="7960496" y="5198639"/>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47" name="Rectangle 24">
            <a:extLst>
              <a:ext uri="{FF2B5EF4-FFF2-40B4-BE49-F238E27FC236}">
                <a16:creationId xmlns:a16="http://schemas.microsoft.com/office/drawing/2014/main" id="{F2D219B2-3A5D-4EAB-B519-D5EDC7B09C78}"/>
              </a:ext>
            </a:extLst>
          </p:cNvPr>
          <p:cNvSpPr>
            <a:spLocks noChangeArrowheads="1"/>
          </p:cNvSpPr>
          <p:nvPr/>
        </p:nvSpPr>
        <p:spPr bwMode="auto">
          <a:xfrm>
            <a:off x="4129859" y="905715"/>
            <a:ext cx="2810627" cy="288925"/>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buClrTx/>
              <a:buSzTx/>
              <a:buFontTx/>
              <a:buNone/>
            </a:pPr>
            <a:r>
              <a:rPr kumimoji="1" lang="en-US" altLang="zh-CN" sz="2000">
                <a:solidFill>
                  <a:srgbClr val="104E87"/>
                </a:solidFill>
                <a:latin typeface="Comic Sans MS" panose="030F0702030302020204" pitchFamily="66" charset="0"/>
                <a:ea typeface="华光隶变_CNKI" panose="02000500000000000000" pitchFamily="2" charset="-122"/>
              </a:rPr>
              <a:t>employee</a:t>
            </a:r>
          </a:p>
        </p:txBody>
      </p:sp>
      <p:sp>
        <p:nvSpPr>
          <p:cNvPr id="48" name="Rectangle 25">
            <a:extLst>
              <a:ext uri="{FF2B5EF4-FFF2-40B4-BE49-F238E27FC236}">
                <a16:creationId xmlns:a16="http://schemas.microsoft.com/office/drawing/2014/main" id="{F5CD6882-9917-4D36-9A88-B3904DE8D920}"/>
              </a:ext>
            </a:extLst>
          </p:cNvPr>
          <p:cNvSpPr>
            <a:spLocks noChangeArrowheads="1"/>
          </p:cNvSpPr>
          <p:nvPr/>
        </p:nvSpPr>
        <p:spPr bwMode="auto">
          <a:xfrm>
            <a:off x="1321572" y="4093739"/>
            <a:ext cx="2488528" cy="652462"/>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float </a:t>
            </a:r>
            <a:r>
              <a:rPr kumimoji="1" lang="en-US" altLang="zh-CN" sz="2000" dirty="0" err="1">
                <a:solidFill>
                  <a:srgbClr val="104E87"/>
                </a:solidFill>
                <a:latin typeface="Comic Sans MS" panose="030F0702030302020204" pitchFamily="66" charset="0"/>
                <a:ea typeface="华光隶变_CNKI" panose="02000500000000000000" pitchFamily="2" charset="-122"/>
              </a:rPr>
              <a:t>hourlyRate</a:t>
            </a:r>
            <a:r>
              <a:rPr kumimoji="1" lang="en-US" altLang="zh-CN" sz="2000" dirty="0">
                <a:solidFill>
                  <a:srgbClr val="104E87"/>
                </a:solidFill>
                <a:latin typeface="Comic Sans MS" panose="030F0702030302020204" pitchFamily="66" charset="0"/>
                <a:ea typeface="华光隶变_CNKI" panose="02000500000000000000" pitchFamily="2" charset="-122"/>
              </a:rPr>
              <a:t>;                </a:t>
            </a:r>
          </a:p>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int </a:t>
            </a:r>
            <a:r>
              <a:rPr kumimoji="1" lang="en-US" altLang="zh-CN" sz="2000" dirty="0" err="1">
                <a:solidFill>
                  <a:srgbClr val="104E87"/>
                </a:solidFill>
                <a:latin typeface="Comic Sans MS" panose="030F0702030302020204" pitchFamily="66" charset="0"/>
                <a:ea typeface="华光隶变_CNKI" panose="02000500000000000000" pitchFamily="2" charset="-122"/>
              </a:rPr>
              <a:t>workHours</a:t>
            </a:r>
            <a:r>
              <a:rPr kumimoji="1" lang="en-US" altLang="zh-CN" sz="2000" dirty="0">
                <a:solidFill>
                  <a:srgbClr val="104E87"/>
                </a:solidFill>
                <a:latin typeface="Comic Sans MS" panose="030F0702030302020204" pitchFamily="66" charset="0"/>
                <a:ea typeface="华光隶变_CNKI" panose="02000500000000000000" pitchFamily="2" charset="-122"/>
              </a:rPr>
              <a:t>; </a:t>
            </a:r>
          </a:p>
        </p:txBody>
      </p:sp>
      <p:sp>
        <p:nvSpPr>
          <p:cNvPr id="49" name="Rectangle 26">
            <a:extLst>
              <a:ext uri="{FF2B5EF4-FFF2-40B4-BE49-F238E27FC236}">
                <a16:creationId xmlns:a16="http://schemas.microsoft.com/office/drawing/2014/main" id="{000584E2-E30C-4283-BD01-E66948BD6D38}"/>
              </a:ext>
            </a:extLst>
          </p:cNvPr>
          <p:cNvSpPr>
            <a:spLocks noChangeArrowheads="1"/>
          </p:cNvSpPr>
          <p:nvPr/>
        </p:nvSpPr>
        <p:spPr bwMode="auto">
          <a:xfrm>
            <a:off x="1321572" y="4746202"/>
            <a:ext cx="2488528" cy="574672"/>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void pay();          </a:t>
            </a:r>
          </a:p>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void </a:t>
            </a:r>
            <a:r>
              <a:rPr kumimoji="1" lang="en-US" altLang="zh-CN" sz="2000" dirty="0" err="1">
                <a:solidFill>
                  <a:srgbClr val="104E87"/>
                </a:solidFill>
                <a:latin typeface="Comic Sans MS" panose="030F0702030302020204" pitchFamily="66" charset="0"/>
                <a:ea typeface="华光隶变_CNKI" panose="02000500000000000000" pitchFamily="2" charset="-122"/>
              </a:rPr>
              <a:t>displayStatus</a:t>
            </a:r>
            <a:r>
              <a:rPr kumimoji="1" lang="en-US" altLang="zh-CN" sz="2000" dirty="0">
                <a:solidFill>
                  <a:srgbClr val="104E87"/>
                </a:solidFill>
                <a:latin typeface="Comic Sans MS" panose="030F0702030302020204" pitchFamily="66" charset="0"/>
                <a:ea typeface="华光隶变_CNKI" panose="02000500000000000000" pitchFamily="2" charset="-122"/>
              </a:rPr>
              <a:t>();</a:t>
            </a:r>
          </a:p>
        </p:txBody>
      </p:sp>
      <p:sp>
        <p:nvSpPr>
          <p:cNvPr id="50" name="Rectangle 27">
            <a:extLst>
              <a:ext uri="{FF2B5EF4-FFF2-40B4-BE49-F238E27FC236}">
                <a16:creationId xmlns:a16="http://schemas.microsoft.com/office/drawing/2014/main" id="{56965ED1-56F0-4864-9A3E-182AE755AFD2}"/>
              </a:ext>
            </a:extLst>
          </p:cNvPr>
          <p:cNvSpPr>
            <a:spLocks noChangeArrowheads="1"/>
          </p:cNvSpPr>
          <p:nvPr/>
        </p:nvSpPr>
        <p:spPr bwMode="auto">
          <a:xfrm>
            <a:off x="1321572" y="3758777"/>
            <a:ext cx="2488528" cy="325437"/>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342900" indent="-342900" algn="ctr">
              <a:lnSpc>
                <a:spcPct val="80000"/>
              </a:lnSpc>
              <a:spcBef>
                <a:spcPct val="0"/>
              </a:spcBef>
            </a:pPr>
            <a:r>
              <a:rPr kumimoji="1" lang="en-US" altLang="zh-CN" sz="2000">
                <a:solidFill>
                  <a:srgbClr val="104E87"/>
                </a:solidFill>
                <a:latin typeface="Comic Sans MS" panose="030F0702030302020204" pitchFamily="66" charset="0"/>
                <a:ea typeface="华光隶变_CNKI" panose="02000500000000000000" pitchFamily="2" charset="-122"/>
              </a:rPr>
              <a:t>technician</a:t>
            </a:r>
          </a:p>
        </p:txBody>
      </p:sp>
      <p:sp>
        <p:nvSpPr>
          <p:cNvPr id="51" name="Rectangle 28">
            <a:extLst>
              <a:ext uri="{FF2B5EF4-FFF2-40B4-BE49-F238E27FC236}">
                <a16:creationId xmlns:a16="http://schemas.microsoft.com/office/drawing/2014/main" id="{F3D1DB7E-4DA5-4378-A929-552DFC31167A}"/>
              </a:ext>
            </a:extLst>
          </p:cNvPr>
          <p:cNvSpPr>
            <a:spLocks noChangeArrowheads="1"/>
          </p:cNvSpPr>
          <p:nvPr/>
        </p:nvSpPr>
        <p:spPr bwMode="auto">
          <a:xfrm>
            <a:off x="4129860" y="4049290"/>
            <a:ext cx="2488526" cy="360362"/>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float </a:t>
            </a:r>
            <a:r>
              <a:rPr kumimoji="1" lang="en-US" altLang="zh-CN" sz="2000" dirty="0" err="1">
                <a:solidFill>
                  <a:srgbClr val="104E87"/>
                </a:solidFill>
                <a:latin typeface="Comic Sans MS" panose="030F0702030302020204" pitchFamily="66" charset="0"/>
                <a:ea typeface="华光隶变_CNKI" panose="02000500000000000000" pitchFamily="2" charset="-122"/>
              </a:rPr>
              <a:t>monthlyPay</a:t>
            </a:r>
            <a:r>
              <a:rPr kumimoji="1" lang="en-US" altLang="zh-CN" sz="2000" dirty="0">
                <a:solidFill>
                  <a:srgbClr val="104E87"/>
                </a:solidFill>
                <a:latin typeface="Comic Sans MS" panose="030F0702030302020204" pitchFamily="66" charset="0"/>
                <a:ea typeface="华光隶变_CNKI" panose="02000500000000000000" pitchFamily="2" charset="-122"/>
              </a:rPr>
              <a:t>;                </a:t>
            </a:r>
          </a:p>
        </p:txBody>
      </p:sp>
      <p:sp>
        <p:nvSpPr>
          <p:cNvPr id="52" name="Rectangle 29">
            <a:extLst>
              <a:ext uri="{FF2B5EF4-FFF2-40B4-BE49-F238E27FC236}">
                <a16:creationId xmlns:a16="http://schemas.microsoft.com/office/drawing/2014/main" id="{7943D3D9-E68E-495E-93BE-8D0C5CC4679C}"/>
              </a:ext>
            </a:extLst>
          </p:cNvPr>
          <p:cNvSpPr>
            <a:spLocks noChangeArrowheads="1"/>
          </p:cNvSpPr>
          <p:nvPr/>
        </p:nvSpPr>
        <p:spPr bwMode="auto">
          <a:xfrm>
            <a:off x="4129859" y="4420764"/>
            <a:ext cx="2488527" cy="574672"/>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void pay();          </a:t>
            </a:r>
          </a:p>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void </a:t>
            </a:r>
            <a:r>
              <a:rPr kumimoji="1" lang="en-US" altLang="zh-CN" sz="2000" dirty="0" err="1">
                <a:solidFill>
                  <a:srgbClr val="104E87"/>
                </a:solidFill>
                <a:latin typeface="Comic Sans MS" panose="030F0702030302020204" pitchFamily="66" charset="0"/>
                <a:ea typeface="华光隶变_CNKI" panose="02000500000000000000" pitchFamily="2" charset="-122"/>
              </a:rPr>
              <a:t>displayStatus</a:t>
            </a:r>
            <a:r>
              <a:rPr kumimoji="1" lang="en-US" altLang="zh-CN" sz="2000" dirty="0">
                <a:solidFill>
                  <a:srgbClr val="104E87"/>
                </a:solidFill>
                <a:latin typeface="Comic Sans MS" panose="030F0702030302020204" pitchFamily="66" charset="0"/>
                <a:ea typeface="华光隶变_CNKI" panose="02000500000000000000" pitchFamily="2" charset="-122"/>
              </a:rPr>
              <a:t>();</a:t>
            </a:r>
          </a:p>
        </p:txBody>
      </p:sp>
      <p:sp>
        <p:nvSpPr>
          <p:cNvPr id="53" name="Rectangle 30">
            <a:extLst>
              <a:ext uri="{FF2B5EF4-FFF2-40B4-BE49-F238E27FC236}">
                <a16:creationId xmlns:a16="http://schemas.microsoft.com/office/drawing/2014/main" id="{7264C0A7-EDA3-4523-A1E8-2CC5473421D8}"/>
              </a:ext>
            </a:extLst>
          </p:cNvPr>
          <p:cNvSpPr>
            <a:spLocks noChangeArrowheads="1"/>
          </p:cNvSpPr>
          <p:nvPr/>
        </p:nvSpPr>
        <p:spPr bwMode="auto">
          <a:xfrm>
            <a:off x="4129859" y="3725439"/>
            <a:ext cx="2488525" cy="333371"/>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buClrTx/>
              <a:buSzTx/>
              <a:buFontTx/>
              <a:buNone/>
            </a:pPr>
            <a:r>
              <a:rPr kumimoji="1" lang="en-US" altLang="zh-CN" sz="2000">
                <a:solidFill>
                  <a:srgbClr val="104E87"/>
                </a:solidFill>
                <a:latin typeface="Comic Sans MS" panose="030F0702030302020204" pitchFamily="66" charset="0"/>
                <a:ea typeface="华光隶变_CNKI" panose="02000500000000000000" pitchFamily="2" charset="-122"/>
              </a:rPr>
              <a:t>manager</a:t>
            </a:r>
          </a:p>
        </p:txBody>
      </p:sp>
      <p:sp>
        <p:nvSpPr>
          <p:cNvPr id="54" name="Rectangle 34">
            <a:extLst>
              <a:ext uri="{FF2B5EF4-FFF2-40B4-BE49-F238E27FC236}">
                <a16:creationId xmlns:a16="http://schemas.microsoft.com/office/drawing/2014/main" id="{71EE027C-CCE5-4C41-ADA7-D7BEC330DFDE}"/>
              </a:ext>
            </a:extLst>
          </p:cNvPr>
          <p:cNvSpPr>
            <a:spLocks noChangeArrowheads="1"/>
          </p:cNvSpPr>
          <p:nvPr/>
        </p:nvSpPr>
        <p:spPr bwMode="auto">
          <a:xfrm>
            <a:off x="7082609" y="4050876"/>
            <a:ext cx="2567502" cy="502281"/>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float </a:t>
            </a:r>
            <a:r>
              <a:rPr kumimoji="1" lang="en-US" altLang="zh-CN" sz="2000" dirty="0" err="1">
                <a:solidFill>
                  <a:srgbClr val="104E87"/>
                </a:solidFill>
                <a:latin typeface="Comic Sans MS" panose="030F0702030302020204" pitchFamily="66" charset="0"/>
                <a:ea typeface="华光隶变_CNKI" panose="02000500000000000000" pitchFamily="2" charset="-122"/>
              </a:rPr>
              <a:t>Commrate</a:t>
            </a:r>
            <a:r>
              <a:rPr kumimoji="1" lang="en-US" altLang="zh-CN" sz="2000" dirty="0">
                <a:solidFill>
                  <a:srgbClr val="104E87"/>
                </a:solidFill>
                <a:latin typeface="Comic Sans MS" panose="030F0702030302020204" pitchFamily="66" charset="0"/>
                <a:ea typeface="华光隶变_CNKI" panose="02000500000000000000" pitchFamily="2" charset="-122"/>
              </a:rPr>
              <a:t>;                </a:t>
            </a:r>
          </a:p>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float sales;</a:t>
            </a:r>
          </a:p>
        </p:txBody>
      </p:sp>
      <p:sp>
        <p:nvSpPr>
          <p:cNvPr id="55" name="Rectangle 35">
            <a:extLst>
              <a:ext uri="{FF2B5EF4-FFF2-40B4-BE49-F238E27FC236}">
                <a16:creationId xmlns:a16="http://schemas.microsoft.com/office/drawing/2014/main" id="{EBD806C2-E2D5-4052-9CBF-EFDD20797D6A}"/>
              </a:ext>
            </a:extLst>
          </p:cNvPr>
          <p:cNvSpPr>
            <a:spLocks noChangeArrowheads="1"/>
          </p:cNvSpPr>
          <p:nvPr/>
        </p:nvSpPr>
        <p:spPr bwMode="auto">
          <a:xfrm>
            <a:off x="7082609" y="4563639"/>
            <a:ext cx="2567497" cy="502280"/>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void pay();          </a:t>
            </a:r>
          </a:p>
          <a:p>
            <a:pPr marL="342900" indent="-342900">
              <a:lnSpc>
                <a:spcPct val="80000"/>
              </a:lnSpc>
              <a:spcBef>
                <a:spcPct val="0"/>
              </a:spcBef>
            </a:pPr>
            <a:r>
              <a:rPr kumimoji="1" lang="en-US" altLang="zh-CN" sz="2000" dirty="0">
                <a:solidFill>
                  <a:srgbClr val="104E87"/>
                </a:solidFill>
                <a:latin typeface="Comic Sans MS" panose="030F0702030302020204" pitchFamily="66" charset="0"/>
                <a:ea typeface="华光隶变_CNKI" panose="02000500000000000000" pitchFamily="2" charset="-122"/>
              </a:rPr>
              <a:t> void </a:t>
            </a:r>
            <a:r>
              <a:rPr kumimoji="1" lang="en-US" altLang="zh-CN" sz="2000" dirty="0" err="1">
                <a:solidFill>
                  <a:srgbClr val="104E87"/>
                </a:solidFill>
                <a:latin typeface="Comic Sans MS" panose="030F0702030302020204" pitchFamily="66" charset="0"/>
                <a:ea typeface="华光隶变_CNKI" panose="02000500000000000000" pitchFamily="2" charset="-122"/>
              </a:rPr>
              <a:t>displayStatus</a:t>
            </a:r>
            <a:r>
              <a:rPr kumimoji="1" lang="en-US" altLang="zh-CN" sz="2000" dirty="0">
                <a:solidFill>
                  <a:srgbClr val="104E87"/>
                </a:solidFill>
                <a:latin typeface="Comic Sans MS" panose="030F0702030302020204" pitchFamily="66" charset="0"/>
                <a:ea typeface="华光隶变_CNKI" panose="02000500000000000000" pitchFamily="2" charset="-122"/>
              </a:rPr>
              <a:t>();</a:t>
            </a:r>
          </a:p>
        </p:txBody>
      </p:sp>
      <p:sp>
        <p:nvSpPr>
          <p:cNvPr id="56" name="Rectangle 36">
            <a:extLst>
              <a:ext uri="{FF2B5EF4-FFF2-40B4-BE49-F238E27FC236}">
                <a16:creationId xmlns:a16="http://schemas.microsoft.com/office/drawing/2014/main" id="{1B2180FE-716A-43A5-8C2F-820ACCF24AFA}"/>
              </a:ext>
            </a:extLst>
          </p:cNvPr>
          <p:cNvSpPr>
            <a:spLocks noChangeArrowheads="1"/>
          </p:cNvSpPr>
          <p:nvPr/>
        </p:nvSpPr>
        <p:spPr bwMode="auto">
          <a:xfrm>
            <a:off x="7082609" y="3734963"/>
            <a:ext cx="2567502" cy="323847"/>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buClrTx/>
              <a:buSzTx/>
              <a:buFontTx/>
              <a:buNone/>
            </a:pPr>
            <a:r>
              <a:rPr kumimoji="1" lang="en-US" altLang="zh-CN" sz="2000">
                <a:solidFill>
                  <a:srgbClr val="104E87"/>
                </a:solidFill>
                <a:latin typeface="Comic Sans MS" panose="030F0702030302020204" pitchFamily="66" charset="0"/>
                <a:ea typeface="华光隶变_CNKI" panose="02000500000000000000" pitchFamily="2" charset="-122"/>
              </a:rPr>
              <a:t>salesman</a:t>
            </a:r>
          </a:p>
        </p:txBody>
      </p:sp>
      <p:sp>
        <p:nvSpPr>
          <p:cNvPr id="57" name="Rectangle 37">
            <a:extLst>
              <a:ext uri="{FF2B5EF4-FFF2-40B4-BE49-F238E27FC236}">
                <a16:creationId xmlns:a16="http://schemas.microsoft.com/office/drawing/2014/main" id="{F399B00B-AA1D-4EAB-964D-05F8E3E69EF1}"/>
              </a:ext>
            </a:extLst>
          </p:cNvPr>
          <p:cNvSpPr>
            <a:spLocks noChangeArrowheads="1"/>
          </p:cNvSpPr>
          <p:nvPr/>
        </p:nvSpPr>
        <p:spPr bwMode="auto">
          <a:xfrm>
            <a:off x="5439546" y="5769937"/>
            <a:ext cx="2528790" cy="290505"/>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FontTx/>
              <a:buNone/>
            </a:pPr>
            <a:r>
              <a:rPr kumimoji="1" lang="en-US" altLang="zh-CN" sz="2000">
                <a:solidFill>
                  <a:srgbClr val="104E87"/>
                </a:solidFill>
                <a:latin typeface="Comic Sans MS" panose="030F0702030302020204" pitchFamily="66" charset="0"/>
                <a:ea typeface="华光隶变_CNKI" panose="02000500000000000000" pitchFamily="2" charset="-122"/>
              </a:rPr>
              <a:t> </a:t>
            </a:r>
          </a:p>
        </p:txBody>
      </p:sp>
      <p:sp>
        <p:nvSpPr>
          <p:cNvPr id="58" name="Rectangle 38">
            <a:extLst>
              <a:ext uri="{FF2B5EF4-FFF2-40B4-BE49-F238E27FC236}">
                <a16:creationId xmlns:a16="http://schemas.microsoft.com/office/drawing/2014/main" id="{A5E81EB9-118D-42A2-AD6A-34C23CC79E07}"/>
              </a:ext>
            </a:extLst>
          </p:cNvPr>
          <p:cNvSpPr>
            <a:spLocks noChangeArrowheads="1"/>
          </p:cNvSpPr>
          <p:nvPr/>
        </p:nvSpPr>
        <p:spPr bwMode="auto">
          <a:xfrm>
            <a:off x="5439546" y="6079701"/>
            <a:ext cx="2528790" cy="674688"/>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FontTx/>
              <a:buNone/>
            </a:pPr>
            <a:r>
              <a:rPr kumimoji="1" lang="en-US" altLang="zh-CN" sz="2000" dirty="0">
                <a:solidFill>
                  <a:srgbClr val="104E87"/>
                </a:solidFill>
                <a:latin typeface="Comic Sans MS" panose="030F0702030302020204" pitchFamily="66" charset="0"/>
                <a:ea typeface="华光隶变_CNKI" panose="02000500000000000000" pitchFamily="2" charset="-122"/>
              </a:rPr>
              <a:t> void pay();          </a:t>
            </a:r>
          </a:p>
          <a:p>
            <a:pPr>
              <a:spcBef>
                <a:spcPct val="0"/>
              </a:spcBef>
              <a:buClrTx/>
              <a:buSzTx/>
              <a:buFontTx/>
              <a:buNone/>
            </a:pPr>
            <a:r>
              <a:rPr kumimoji="1" lang="en-US" altLang="zh-CN" sz="2000" dirty="0">
                <a:solidFill>
                  <a:srgbClr val="104E87"/>
                </a:solidFill>
                <a:latin typeface="Comic Sans MS" panose="030F0702030302020204" pitchFamily="66" charset="0"/>
                <a:ea typeface="华光隶变_CNKI" panose="02000500000000000000" pitchFamily="2" charset="-122"/>
              </a:rPr>
              <a:t> void </a:t>
            </a:r>
            <a:r>
              <a:rPr kumimoji="1" lang="en-US" altLang="zh-CN" sz="2000" dirty="0" err="1">
                <a:solidFill>
                  <a:srgbClr val="104E87"/>
                </a:solidFill>
                <a:latin typeface="Comic Sans MS" panose="030F0702030302020204" pitchFamily="66" charset="0"/>
                <a:ea typeface="华光隶变_CNKI" panose="02000500000000000000" pitchFamily="2" charset="-122"/>
              </a:rPr>
              <a:t>displayStatus</a:t>
            </a:r>
            <a:r>
              <a:rPr kumimoji="1" lang="en-US" altLang="zh-CN" sz="2000" dirty="0">
                <a:solidFill>
                  <a:srgbClr val="104E87"/>
                </a:solidFill>
                <a:latin typeface="Comic Sans MS" panose="030F0702030302020204" pitchFamily="66" charset="0"/>
                <a:ea typeface="华光隶变_CNKI" panose="02000500000000000000" pitchFamily="2" charset="-122"/>
              </a:rPr>
              <a:t>();</a:t>
            </a:r>
          </a:p>
        </p:txBody>
      </p:sp>
      <p:sp>
        <p:nvSpPr>
          <p:cNvPr id="59" name="Rectangle 39">
            <a:extLst>
              <a:ext uri="{FF2B5EF4-FFF2-40B4-BE49-F238E27FC236}">
                <a16:creationId xmlns:a16="http://schemas.microsoft.com/office/drawing/2014/main" id="{9BDDA974-26A5-444F-B6CE-FE2C02DB7DCF}"/>
              </a:ext>
            </a:extLst>
          </p:cNvPr>
          <p:cNvSpPr>
            <a:spLocks noChangeArrowheads="1"/>
          </p:cNvSpPr>
          <p:nvPr/>
        </p:nvSpPr>
        <p:spPr bwMode="auto">
          <a:xfrm>
            <a:off x="5439546" y="5484389"/>
            <a:ext cx="2528790" cy="290506"/>
          </a:xfrm>
          <a:prstGeom prst="rect">
            <a:avLst/>
          </a:prstGeom>
          <a:noFill/>
          <a:ln w="28575">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908050" indent="-436563">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377950" indent="-468313">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827213" indent="-43815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297113" indent="-468313">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7543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32115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6687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41259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buClrTx/>
              <a:buSzTx/>
              <a:buFontTx/>
              <a:buNone/>
            </a:pPr>
            <a:r>
              <a:rPr kumimoji="1" lang="en-US" altLang="zh-CN" sz="2000">
                <a:solidFill>
                  <a:srgbClr val="104E87"/>
                </a:solidFill>
                <a:latin typeface="Comic Sans MS" panose="030F0702030302020204" pitchFamily="66" charset="0"/>
                <a:ea typeface="华光隶变_CNKI" panose="02000500000000000000" pitchFamily="2" charset="-122"/>
              </a:rPr>
              <a:t>salesmanager</a:t>
            </a:r>
          </a:p>
        </p:txBody>
      </p:sp>
      <p:sp>
        <p:nvSpPr>
          <p:cNvPr id="60" name="Line 40">
            <a:extLst>
              <a:ext uri="{FF2B5EF4-FFF2-40B4-BE49-F238E27FC236}">
                <a16:creationId xmlns:a16="http://schemas.microsoft.com/office/drawing/2014/main" id="{C20CBEAA-F060-4EDD-A6F4-3C7FF821E6AC}"/>
              </a:ext>
            </a:extLst>
          </p:cNvPr>
          <p:cNvSpPr>
            <a:spLocks noChangeShapeType="1"/>
          </p:cNvSpPr>
          <p:nvPr/>
        </p:nvSpPr>
        <p:spPr bwMode="auto">
          <a:xfrm>
            <a:off x="8235134" y="3619076"/>
            <a:ext cx="0" cy="142875"/>
          </a:xfrm>
          <a:prstGeom prst="line">
            <a:avLst/>
          </a:prstGeom>
          <a:noFill/>
          <a:ln w="28575">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104E87"/>
              </a:solidFill>
              <a:latin typeface="Comic Sans MS" panose="030F0702030302020204" pitchFamily="66" charset="0"/>
              <a:ea typeface="华光隶变_CNKI" panose="02000500000000000000" pitchFamily="2" charset="-122"/>
            </a:endParaRPr>
          </a:p>
        </p:txBody>
      </p:sp>
      <p:sp>
        <p:nvSpPr>
          <p:cNvPr id="61" name="矩形 31">
            <a:extLst>
              <a:ext uri="{FF2B5EF4-FFF2-40B4-BE49-F238E27FC236}">
                <a16:creationId xmlns:a16="http://schemas.microsoft.com/office/drawing/2014/main" id="{8CCB33C5-2AB2-45A7-93E1-81996437C8D2}"/>
              </a:ext>
            </a:extLst>
          </p:cNvPr>
          <p:cNvSpPr>
            <a:spLocks noChangeArrowheads="1"/>
          </p:cNvSpPr>
          <p:nvPr/>
        </p:nvSpPr>
        <p:spPr bwMode="auto">
          <a:xfrm>
            <a:off x="7027840" y="1235321"/>
            <a:ext cx="1988344" cy="2064668"/>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342900" indent="-342900">
              <a:lnSpc>
                <a:spcPct val="80000"/>
              </a:lnSpc>
              <a:spcBef>
                <a:spcPct val="0"/>
              </a:spcBef>
            </a:pPr>
            <a:r>
              <a:rPr kumimoji="1" lang="zh-CN" altLang="en-US" sz="2000" dirty="0">
                <a:solidFill>
                  <a:srgbClr val="104E87"/>
                </a:solidFill>
                <a:latin typeface="华光行书_CNKI" panose="02000500000000000000" pitchFamily="2" charset="-122"/>
                <a:ea typeface="华光行书_CNKI" panose="02000500000000000000" pitchFamily="2" charset="-122"/>
              </a:rPr>
              <a:t>姓名</a:t>
            </a:r>
            <a:endParaRPr kumimoji="1" lang="en-US" altLang="zh-CN" sz="2000" dirty="0">
              <a:solidFill>
                <a:srgbClr val="104E87"/>
              </a:solidFill>
              <a:latin typeface="华光行书_CNKI" panose="02000500000000000000" pitchFamily="2" charset="-122"/>
              <a:ea typeface="华光行书_CNKI" panose="02000500000000000000" pitchFamily="2" charset="-122"/>
            </a:endParaRPr>
          </a:p>
          <a:p>
            <a:pPr marL="342900" indent="-342900">
              <a:lnSpc>
                <a:spcPct val="80000"/>
              </a:lnSpc>
              <a:spcBef>
                <a:spcPct val="0"/>
              </a:spcBef>
            </a:pPr>
            <a:r>
              <a:rPr kumimoji="1" lang="zh-CN" altLang="en-US" sz="2000" dirty="0">
                <a:solidFill>
                  <a:srgbClr val="104E87"/>
                </a:solidFill>
                <a:latin typeface="华光行书_CNKI" panose="02000500000000000000" pitchFamily="2" charset="-122"/>
                <a:ea typeface="华光行书_CNKI" panose="02000500000000000000" pitchFamily="2" charset="-122"/>
              </a:rPr>
              <a:t>编号</a:t>
            </a:r>
            <a:endParaRPr kumimoji="1" lang="en-US" altLang="zh-CN" sz="2000" dirty="0">
              <a:solidFill>
                <a:srgbClr val="104E87"/>
              </a:solidFill>
              <a:latin typeface="华光行书_CNKI" panose="02000500000000000000" pitchFamily="2" charset="-122"/>
              <a:ea typeface="华光行书_CNKI" panose="02000500000000000000" pitchFamily="2" charset="-122"/>
            </a:endParaRPr>
          </a:p>
          <a:p>
            <a:pPr marL="342900" indent="-342900">
              <a:lnSpc>
                <a:spcPct val="80000"/>
              </a:lnSpc>
              <a:spcBef>
                <a:spcPct val="0"/>
              </a:spcBef>
            </a:pPr>
            <a:r>
              <a:rPr kumimoji="1" lang="zh-CN" altLang="en-US" sz="2000" dirty="0">
                <a:solidFill>
                  <a:srgbClr val="104E87"/>
                </a:solidFill>
                <a:latin typeface="华光行书_CNKI" panose="02000500000000000000" pitchFamily="2" charset="-122"/>
                <a:ea typeface="华光行书_CNKI" panose="02000500000000000000" pitchFamily="2" charset="-122"/>
              </a:rPr>
              <a:t>级别</a:t>
            </a:r>
            <a:endParaRPr kumimoji="1" lang="en-US" altLang="zh-CN" sz="2000" dirty="0">
              <a:solidFill>
                <a:srgbClr val="104E87"/>
              </a:solidFill>
              <a:latin typeface="华光行书_CNKI" panose="02000500000000000000" pitchFamily="2" charset="-122"/>
              <a:ea typeface="华光行书_CNKI" panose="02000500000000000000" pitchFamily="2" charset="-122"/>
            </a:endParaRPr>
          </a:p>
          <a:p>
            <a:pPr marL="342900" indent="-342900">
              <a:lnSpc>
                <a:spcPct val="80000"/>
              </a:lnSpc>
              <a:spcBef>
                <a:spcPct val="0"/>
              </a:spcBef>
            </a:pPr>
            <a:r>
              <a:rPr kumimoji="1" lang="zh-CN" altLang="en-US" sz="2000" dirty="0">
                <a:solidFill>
                  <a:srgbClr val="104E87"/>
                </a:solidFill>
                <a:latin typeface="华光行书_CNKI" panose="02000500000000000000" pitchFamily="2" charset="-122"/>
                <a:ea typeface="华光行书_CNKI" panose="02000500000000000000" pitchFamily="2" charset="-122"/>
              </a:rPr>
              <a:t>月薪水</a:t>
            </a:r>
            <a:endParaRPr kumimoji="1" lang="en-US" altLang="zh-CN" sz="2000" dirty="0">
              <a:solidFill>
                <a:srgbClr val="104E87"/>
              </a:solidFill>
              <a:latin typeface="华光行书_CNKI" panose="02000500000000000000" pitchFamily="2" charset="-122"/>
              <a:ea typeface="华光行书_CNKI" panose="02000500000000000000" pitchFamily="2" charset="-122"/>
            </a:endParaRPr>
          </a:p>
          <a:p>
            <a:pPr marL="342900" indent="-342900">
              <a:lnSpc>
                <a:spcPct val="80000"/>
              </a:lnSpc>
              <a:spcBef>
                <a:spcPct val="0"/>
              </a:spcBef>
            </a:pPr>
            <a:endParaRPr kumimoji="1" lang="en-US" altLang="zh-CN" sz="2000" dirty="0">
              <a:solidFill>
                <a:srgbClr val="104E87"/>
              </a:solidFill>
              <a:latin typeface="华光行书_CNKI" panose="02000500000000000000" pitchFamily="2" charset="-122"/>
              <a:ea typeface="华光行书_CNKI" panose="02000500000000000000" pitchFamily="2" charset="-122"/>
            </a:endParaRPr>
          </a:p>
          <a:p>
            <a:pPr marL="342900" indent="-342900">
              <a:lnSpc>
                <a:spcPct val="80000"/>
              </a:lnSpc>
              <a:spcBef>
                <a:spcPct val="0"/>
              </a:spcBef>
            </a:pPr>
            <a:endParaRPr kumimoji="1" lang="en-US" altLang="zh-CN" sz="2000" dirty="0">
              <a:solidFill>
                <a:srgbClr val="104E87"/>
              </a:solidFill>
              <a:latin typeface="华光行书_CNKI" panose="02000500000000000000" pitchFamily="2" charset="-122"/>
              <a:ea typeface="华光行书_CNKI" panose="02000500000000000000" pitchFamily="2" charset="-122"/>
            </a:endParaRPr>
          </a:p>
          <a:p>
            <a:pPr marL="342900" indent="-342900">
              <a:lnSpc>
                <a:spcPct val="80000"/>
              </a:lnSpc>
              <a:spcBef>
                <a:spcPct val="0"/>
              </a:spcBef>
            </a:pPr>
            <a:r>
              <a:rPr kumimoji="1" lang="zh-CN" altLang="en-US" sz="2000" dirty="0">
                <a:solidFill>
                  <a:srgbClr val="104E87"/>
                </a:solidFill>
                <a:latin typeface="华光行书_CNKI" panose="02000500000000000000" pitchFamily="2" charset="-122"/>
                <a:ea typeface="华光行书_CNKI" panose="02000500000000000000" pitchFamily="2" charset="-122"/>
              </a:rPr>
              <a:t>提升级别</a:t>
            </a:r>
            <a:endParaRPr kumimoji="1" lang="en-US" altLang="zh-CN" sz="2000" dirty="0">
              <a:solidFill>
                <a:srgbClr val="104E87"/>
              </a:solidFill>
              <a:latin typeface="华光行书_CNKI" panose="02000500000000000000" pitchFamily="2" charset="-122"/>
              <a:ea typeface="华光行书_CNKI" panose="02000500000000000000" pitchFamily="2" charset="-122"/>
            </a:endParaRPr>
          </a:p>
          <a:p>
            <a:pPr marL="342900" indent="-342900">
              <a:lnSpc>
                <a:spcPct val="80000"/>
              </a:lnSpc>
              <a:spcBef>
                <a:spcPct val="0"/>
              </a:spcBef>
            </a:pPr>
            <a:r>
              <a:rPr kumimoji="1" lang="zh-CN" altLang="en-US" sz="2000" dirty="0">
                <a:solidFill>
                  <a:srgbClr val="104E87"/>
                </a:solidFill>
                <a:latin typeface="华光行书_CNKI" panose="02000500000000000000" pitchFamily="2" charset="-122"/>
                <a:ea typeface="华光行书_CNKI" panose="02000500000000000000" pitchFamily="2" charset="-122"/>
              </a:rPr>
              <a:t>计算月薪总额</a:t>
            </a:r>
            <a:endParaRPr kumimoji="1" lang="en-US" altLang="zh-CN" sz="2000" dirty="0">
              <a:solidFill>
                <a:srgbClr val="104E87"/>
              </a:solidFill>
              <a:latin typeface="华光行书_CNKI" panose="02000500000000000000" pitchFamily="2" charset="-122"/>
              <a:ea typeface="华光行书_CNKI" panose="02000500000000000000" pitchFamily="2" charset="-122"/>
            </a:endParaRPr>
          </a:p>
          <a:p>
            <a:pPr marL="342900" indent="-342900">
              <a:lnSpc>
                <a:spcPct val="80000"/>
              </a:lnSpc>
              <a:spcBef>
                <a:spcPct val="0"/>
              </a:spcBef>
            </a:pPr>
            <a:r>
              <a:rPr kumimoji="1" lang="zh-CN" altLang="en-US" sz="2000" dirty="0">
                <a:solidFill>
                  <a:srgbClr val="104E87"/>
                </a:solidFill>
                <a:latin typeface="华光行书_CNKI" panose="02000500000000000000" pitchFamily="2" charset="-122"/>
                <a:ea typeface="华光行书_CNKI" panose="02000500000000000000" pitchFamily="2" charset="-122"/>
              </a:rPr>
              <a:t>显示全部信息</a:t>
            </a:r>
          </a:p>
        </p:txBody>
      </p:sp>
      <p:sp>
        <p:nvSpPr>
          <p:cNvPr id="3" name="文本框 2">
            <a:extLst>
              <a:ext uri="{FF2B5EF4-FFF2-40B4-BE49-F238E27FC236}">
                <a16:creationId xmlns:a16="http://schemas.microsoft.com/office/drawing/2014/main" id="{BB89C55A-EC37-C6A3-2DD4-B98AF874366C}"/>
              </a:ext>
            </a:extLst>
          </p:cNvPr>
          <p:cNvSpPr txBox="1"/>
          <p:nvPr/>
        </p:nvSpPr>
        <p:spPr>
          <a:xfrm>
            <a:off x="4129859" y="2109304"/>
            <a:ext cx="6801079" cy="400110"/>
          </a:xfrm>
          <a:prstGeom prst="rect">
            <a:avLst/>
          </a:prstGeom>
          <a:noFill/>
        </p:spPr>
        <p:txBody>
          <a:bodyPr wrap="square">
            <a:spAutoFit/>
          </a:bodyPr>
          <a:lstStyle/>
          <a:p>
            <a:r>
              <a:rPr kumimoji="1" lang="en-US" altLang="zh-CN" sz="2000" b="1" dirty="0">
                <a:solidFill>
                  <a:srgbClr val="FF0000"/>
                </a:solidFill>
                <a:latin typeface="Comic Sans MS" panose="030F0702030302020204" pitchFamily="66" charset="0"/>
                <a:ea typeface="华光隶变_CNKI" panose="02000500000000000000" pitchFamily="2" charset="-122"/>
              </a:rPr>
              <a:t>static </a:t>
            </a:r>
            <a:r>
              <a:rPr kumimoji="1" lang="en-US" altLang="zh-CN" sz="2000" dirty="0">
                <a:solidFill>
                  <a:srgbClr val="FF0000"/>
                </a:solidFill>
                <a:latin typeface="Comic Sans MS" panose="030F0702030302020204" pitchFamily="66" charset="0"/>
                <a:ea typeface="华光隶变_CNKI" panose="02000500000000000000" pitchFamily="2" charset="-122"/>
              </a:rPr>
              <a:t>int </a:t>
            </a:r>
            <a:r>
              <a:rPr kumimoji="1" lang="en-US" altLang="zh-CN" sz="2000" dirty="0" err="1">
                <a:solidFill>
                  <a:srgbClr val="FF0000"/>
                </a:solidFill>
                <a:latin typeface="Comic Sans MS" panose="030F0702030302020204" pitchFamily="66" charset="0"/>
                <a:ea typeface="华光隶变_CNKI" panose="02000500000000000000" pitchFamily="2" charset="-122"/>
              </a:rPr>
              <a:t>employeeNo</a:t>
            </a:r>
            <a:r>
              <a:rPr kumimoji="1" lang="en-US" altLang="zh-CN" sz="2000" dirty="0">
                <a:solidFill>
                  <a:srgbClr val="FF0000"/>
                </a:solidFill>
                <a:latin typeface="Comic Sans MS" panose="030F0702030302020204" pitchFamily="66" charset="0"/>
                <a:ea typeface="华光隶变_CNKI" panose="02000500000000000000" pitchFamily="2" charset="-122"/>
              </a:rPr>
              <a:t>  </a:t>
            </a:r>
            <a:r>
              <a:rPr kumimoji="1" lang="zh-CN" altLang="en-US" sz="2000" dirty="0">
                <a:solidFill>
                  <a:srgbClr val="104E87"/>
                </a:solidFill>
                <a:latin typeface="华光行书_CNKI" panose="02000500000000000000" pitchFamily="2" charset="-122"/>
                <a:ea typeface="华光行书_CNKI" panose="02000500000000000000" pitchFamily="2" charset="-122"/>
              </a:rPr>
              <a:t>公司最大编号</a:t>
            </a:r>
            <a:endParaRPr kumimoji="1" lang="en-US" altLang="zh-CN" sz="2000" dirty="0">
              <a:solidFill>
                <a:srgbClr val="104E87"/>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3599006912"/>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A71FAEF0-81AC-48A2-9EDB-CA333A27D68C}"/>
              </a:ext>
            </a:extLst>
          </p:cNvPr>
          <p:cNvSpPr txBox="1">
            <a:spLocks noChangeArrowheads="1"/>
          </p:cNvSpPr>
          <p:nvPr/>
        </p:nvSpPr>
        <p:spPr>
          <a:xfrm>
            <a:off x="1" y="-28574"/>
            <a:ext cx="3911600" cy="4427536"/>
          </a:xfrm>
          <a:prstGeom prst="rect">
            <a:avLst/>
          </a:prstGeom>
          <a:solidFill>
            <a:schemeClr val="accent1">
              <a:lumMod val="20000"/>
              <a:lumOff val="80000"/>
            </a:schemeClr>
          </a:solidFill>
        </p:spPr>
        <p:txBody>
          <a:bodyPr/>
          <a:lstStyle>
            <a:lvl1pPr marL="469900" indent="-469900" algn="l" rtl="0" eaLnBrk="0" fontAlgn="base" hangingPunct="0">
              <a:spcBef>
                <a:spcPct val="20000"/>
              </a:spcBef>
              <a:spcAft>
                <a:spcPct val="0"/>
              </a:spcAft>
              <a:buClr>
                <a:schemeClr val="bg2"/>
              </a:buClr>
              <a:buSzPct val="70000"/>
              <a:buFont typeface="Wingdings" panose="05000000000000000000" pitchFamily="2" charset="2"/>
              <a:buChar char="o"/>
              <a:defRPr sz="3200">
                <a:solidFill>
                  <a:srgbClr val="0000FF"/>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anose="05000000000000000000"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pPr>
              <a:lnSpc>
                <a:spcPct val="80000"/>
              </a:lnSpc>
              <a:spcBef>
                <a:spcPts val="0"/>
              </a:spcBef>
              <a:buFont typeface="Wingdings" panose="05000000000000000000" pitchFamily="2" charset="2"/>
              <a:buNone/>
              <a:defRPr/>
            </a:pPr>
            <a:r>
              <a:rPr lang="en-US" altLang="zh-CN" sz="2400" kern="0" dirty="0">
                <a:solidFill>
                  <a:srgbClr val="104E87"/>
                </a:solidFill>
                <a:latin typeface="Comic Sans MS" panose="030F0702030302020204" pitchFamily="66" charset="0"/>
              </a:rPr>
              <a:t>//</a:t>
            </a:r>
            <a:r>
              <a:rPr lang="en-US" altLang="zh-CN" sz="2400" kern="0" dirty="0" err="1">
                <a:solidFill>
                  <a:srgbClr val="104E87"/>
                </a:solidFill>
                <a:latin typeface="Comic Sans MS" panose="030F0702030302020204" pitchFamily="66" charset="0"/>
              </a:rPr>
              <a:t>employee.h</a:t>
            </a:r>
            <a:endParaRPr lang="en-US" altLang="zh-CN" sz="2400" kern="0" dirty="0">
              <a:solidFill>
                <a:srgbClr val="104E87"/>
              </a:solidFill>
              <a:latin typeface="Comic Sans MS" panose="030F0702030302020204" pitchFamily="66" charset="0"/>
            </a:endParaRPr>
          </a:p>
          <a:p>
            <a:pPr>
              <a:lnSpc>
                <a:spcPct val="80000"/>
              </a:lnSpc>
              <a:spcBef>
                <a:spcPts val="0"/>
              </a:spcBef>
              <a:buFont typeface="Wingdings" panose="05000000000000000000" pitchFamily="2" charset="2"/>
              <a:buNone/>
              <a:defRPr/>
            </a:pPr>
            <a:r>
              <a:rPr lang="en-US" altLang="zh-CN" sz="2400" kern="0" dirty="0">
                <a:solidFill>
                  <a:srgbClr val="104E87"/>
                </a:solidFill>
                <a:latin typeface="Comic Sans MS" panose="030F0702030302020204" pitchFamily="66" charset="0"/>
              </a:rPr>
              <a:t>class employee</a:t>
            </a:r>
          </a:p>
          <a:p>
            <a:pPr>
              <a:lnSpc>
                <a:spcPct val="80000"/>
              </a:lnSpc>
              <a:spcBef>
                <a:spcPts val="0"/>
              </a:spcBef>
              <a:buFont typeface="Wingdings" panose="05000000000000000000" pitchFamily="2" charset="2"/>
              <a:buNone/>
              <a:defRPr/>
            </a:pPr>
            <a:r>
              <a:rPr lang="en-US" altLang="zh-CN" sz="2400" kern="0" dirty="0">
                <a:solidFill>
                  <a:srgbClr val="104E87"/>
                </a:solidFill>
                <a:latin typeface="Comic Sans MS" panose="030F0702030302020204" pitchFamily="66" charset="0"/>
              </a:rPr>
              <a:t>{</a:t>
            </a:r>
            <a:r>
              <a:rPr lang="en-US" altLang="zh-CN" sz="2400" kern="0" dirty="0">
                <a:solidFill>
                  <a:srgbClr val="FF0000"/>
                </a:solidFill>
                <a:latin typeface="Comic Sans MS" panose="030F0702030302020204" pitchFamily="66" charset="0"/>
              </a:rPr>
              <a:t>protected:</a:t>
            </a:r>
          </a:p>
          <a:p>
            <a:pPr>
              <a:lnSpc>
                <a:spcPct val="80000"/>
              </a:lnSpc>
              <a:spcBef>
                <a:spcPts val="0"/>
              </a:spcBef>
              <a:buFont typeface="Wingdings" panose="05000000000000000000" pitchFamily="2" charset="2"/>
              <a:buNone/>
              <a:defRPr/>
            </a:pPr>
            <a:r>
              <a:rPr lang="en-US" altLang="zh-CN" sz="2400" kern="0" dirty="0">
                <a:solidFill>
                  <a:srgbClr val="104E87"/>
                </a:solidFill>
                <a:latin typeface="Comic Sans MS" panose="030F0702030302020204" pitchFamily="66" charset="0"/>
              </a:rPr>
              <a:t>     char *name; </a:t>
            </a:r>
            <a:endParaRPr lang="zh-CN" altLang="en-US" sz="2400" kern="0" dirty="0">
              <a:solidFill>
                <a:srgbClr val="104E87"/>
              </a:solidFill>
              <a:latin typeface="Comic Sans MS" panose="030F0702030302020204" pitchFamily="66" charset="0"/>
            </a:endParaRPr>
          </a:p>
          <a:p>
            <a:pPr>
              <a:lnSpc>
                <a:spcPct val="80000"/>
              </a:lnSpc>
              <a:spcBef>
                <a:spcPts val="0"/>
              </a:spcBef>
              <a:buFont typeface="Wingdings" panose="05000000000000000000" pitchFamily="2" charset="2"/>
              <a:buNone/>
              <a:defRPr/>
            </a:pPr>
            <a:r>
              <a:rPr lang="zh-CN" altLang="en-US" sz="2400" kern="0" dirty="0">
                <a:solidFill>
                  <a:srgbClr val="104E87"/>
                </a:solidFill>
                <a:latin typeface="Comic Sans MS" panose="030F0702030302020204" pitchFamily="66" charset="0"/>
              </a:rPr>
              <a:t>     </a:t>
            </a:r>
            <a:r>
              <a:rPr lang="en-US" altLang="zh-CN" sz="2400" kern="0" dirty="0">
                <a:solidFill>
                  <a:srgbClr val="104E87"/>
                </a:solidFill>
                <a:latin typeface="Comic Sans MS" panose="030F0702030302020204" pitchFamily="66" charset="0"/>
              </a:rPr>
              <a:t>int </a:t>
            </a:r>
            <a:r>
              <a:rPr lang="en-US" altLang="zh-CN" sz="2400" kern="0" dirty="0" err="1">
                <a:solidFill>
                  <a:srgbClr val="104E87"/>
                </a:solidFill>
                <a:latin typeface="Comic Sans MS" panose="030F0702030302020204" pitchFamily="66" charset="0"/>
              </a:rPr>
              <a:t>individualEmpNo</a:t>
            </a:r>
            <a:r>
              <a:rPr lang="en-US" altLang="zh-CN" sz="2400" kern="0" dirty="0">
                <a:solidFill>
                  <a:srgbClr val="104E87"/>
                </a:solidFill>
                <a:latin typeface="Comic Sans MS" panose="030F0702030302020204" pitchFamily="66" charset="0"/>
              </a:rPr>
              <a:t>;</a:t>
            </a:r>
            <a:endParaRPr lang="zh-CN" altLang="en-US" sz="2400" kern="0" dirty="0">
              <a:solidFill>
                <a:srgbClr val="104E87"/>
              </a:solidFill>
              <a:latin typeface="Comic Sans MS" panose="030F0702030302020204" pitchFamily="66" charset="0"/>
            </a:endParaRPr>
          </a:p>
          <a:p>
            <a:pPr>
              <a:lnSpc>
                <a:spcPct val="80000"/>
              </a:lnSpc>
              <a:spcBef>
                <a:spcPts val="0"/>
              </a:spcBef>
              <a:buFont typeface="Wingdings" panose="05000000000000000000" pitchFamily="2" charset="2"/>
              <a:buNone/>
              <a:defRPr/>
            </a:pPr>
            <a:r>
              <a:rPr lang="zh-CN" altLang="en-US" sz="2400" kern="0" dirty="0">
                <a:solidFill>
                  <a:srgbClr val="104E87"/>
                </a:solidFill>
                <a:latin typeface="Comic Sans MS" panose="030F0702030302020204" pitchFamily="66" charset="0"/>
              </a:rPr>
              <a:t>     </a:t>
            </a:r>
            <a:r>
              <a:rPr lang="en-US" altLang="zh-CN" sz="2400" kern="0" dirty="0">
                <a:solidFill>
                  <a:srgbClr val="104E87"/>
                </a:solidFill>
                <a:latin typeface="Comic Sans MS" panose="030F0702030302020204" pitchFamily="66" charset="0"/>
              </a:rPr>
              <a:t>int grade</a:t>
            </a:r>
            <a:endParaRPr lang="zh-CN" altLang="en-US" sz="2400" kern="0" dirty="0">
              <a:solidFill>
                <a:srgbClr val="104E87"/>
              </a:solidFill>
              <a:latin typeface="Comic Sans MS" panose="030F0702030302020204" pitchFamily="66" charset="0"/>
            </a:endParaRPr>
          </a:p>
          <a:p>
            <a:pPr>
              <a:lnSpc>
                <a:spcPct val="80000"/>
              </a:lnSpc>
              <a:spcBef>
                <a:spcPts val="0"/>
              </a:spcBef>
              <a:buFont typeface="Wingdings" panose="05000000000000000000" pitchFamily="2" charset="2"/>
              <a:buNone/>
              <a:defRPr/>
            </a:pPr>
            <a:r>
              <a:rPr lang="zh-CN" altLang="en-US" sz="2400" kern="0" dirty="0">
                <a:solidFill>
                  <a:srgbClr val="104E87"/>
                </a:solidFill>
                <a:latin typeface="Comic Sans MS" panose="030F0702030302020204" pitchFamily="66" charset="0"/>
              </a:rPr>
              <a:t>     </a:t>
            </a:r>
            <a:r>
              <a:rPr lang="en-US" altLang="zh-CN" sz="2400" kern="0" dirty="0">
                <a:solidFill>
                  <a:srgbClr val="104E87"/>
                </a:solidFill>
                <a:latin typeface="Comic Sans MS" panose="030F0702030302020204" pitchFamily="66" charset="0"/>
              </a:rPr>
              <a:t>float </a:t>
            </a:r>
            <a:r>
              <a:rPr lang="en-US" altLang="zh-CN" sz="2400" kern="0" dirty="0" err="1">
                <a:solidFill>
                  <a:srgbClr val="104E87"/>
                </a:solidFill>
                <a:latin typeface="Comic Sans MS" panose="030F0702030302020204" pitchFamily="66" charset="0"/>
              </a:rPr>
              <a:t>accumPay</a:t>
            </a:r>
            <a:r>
              <a:rPr lang="en-US" altLang="zh-CN" sz="2400" kern="0" dirty="0">
                <a:solidFill>
                  <a:srgbClr val="104E87"/>
                </a:solidFill>
                <a:latin typeface="Comic Sans MS" panose="030F0702030302020204" pitchFamily="66" charset="0"/>
              </a:rPr>
              <a:t>;</a:t>
            </a:r>
          </a:p>
          <a:p>
            <a:pPr>
              <a:lnSpc>
                <a:spcPct val="80000"/>
              </a:lnSpc>
              <a:spcBef>
                <a:spcPts val="0"/>
              </a:spcBef>
              <a:buFont typeface="Wingdings" panose="05000000000000000000" pitchFamily="2" charset="2"/>
              <a:buNone/>
              <a:defRPr/>
            </a:pPr>
            <a:r>
              <a:rPr lang="en-US" altLang="zh-CN" sz="2400" kern="0" dirty="0">
                <a:solidFill>
                  <a:srgbClr val="104E87"/>
                </a:solidFill>
                <a:latin typeface="Comic Sans MS" panose="030F0702030302020204" pitchFamily="66" charset="0"/>
              </a:rPr>
              <a:t>	</a:t>
            </a:r>
            <a:r>
              <a:rPr lang="en-US" altLang="zh-CN" sz="2400" kern="0" dirty="0">
                <a:solidFill>
                  <a:srgbClr val="FF0000"/>
                </a:solidFill>
                <a:latin typeface="Comic Sans MS" panose="030F0702030302020204" pitchFamily="66" charset="0"/>
              </a:rPr>
              <a:t>static int </a:t>
            </a:r>
            <a:r>
              <a:rPr lang="en-US" altLang="zh-CN" sz="2400" kern="0" dirty="0" err="1">
                <a:solidFill>
                  <a:srgbClr val="FF0000"/>
                </a:solidFill>
                <a:latin typeface="Comic Sans MS" panose="030F0702030302020204" pitchFamily="66" charset="0"/>
              </a:rPr>
              <a:t>employeeNo</a:t>
            </a:r>
            <a:r>
              <a:rPr lang="en-US" altLang="zh-CN" sz="2400" kern="0" dirty="0">
                <a:solidFill>
                  <a:srgbClr val="FF0000"/>
                </a:solidFill>
                <a:latin typeface="Comic Sans MS" panose="030F0702030302020204" pitchFamily="66" charset="0"/>
              </a:rPr>
              <a:t>;</a:t>
            </a:r>
          </a:p>
          <a:p>
            <a:pPr>
              <a:lnSpc>
                <a:spcPct val="80000"/>
              </a:lnSpc>
              <a:spcBef>
                <a:spcPts val="0"/>
              </a:spcBef>
              <a:buFont typeface="Wingdings" panose="05000000000000000000" pitchFamily="2" charset="2"/>
              <a:buNone/>
              <a:defRPr/>
            </a:pPr>
            <a:r>
              <a:rPr lang="en-US" altLang="zh-CN" sz="2400" kern="0" dirty="0">
                <a:solidFill>
                  <a:srgbClr val="104E87"/>
                </a:solidFill>
                <a:latin typeface="Comic Sans MS" panose="030F0702030302020204" pitchFamily="66" charset="0"/>
              </a:rPr>
              <a:t>public:</a:t>
            </a:r>
          </a:p>
          <a:p>
            <a:pPr>
              <a:lnSpc>
                <a:spcPct val="80000"/>
              </a:lnSpc>
              <a:spcBef>
                <a:spcPts val="0"/>
              </a:spcBef>
              <a:buFont typeface="Wingdings" panose="05000000000000000000" pitchFamily="2" charset="2"/>
              <a:buNone/>
              <a:defRPr/>
            </a:pPr>
            <a:r>
              <a:rPr lang="en-US" altLang="zh-CN" sz="2400" kern="0" dirty="0">
                <a:solidFill>
                  <a:srgbClr val="104E87"/>
                </a:solidFill>
                <a:latin typeface="Comic Sans MS" panose="030F0702030302020204" pitchFamily="66" charset="0"/>
              </a:rPr>
              <a:t>     employee();</a:t>
            </a:r>
          </a:p>
          <a:p>
            <a:pPr>
              <a:lnSpc>
                <a:spcPct val="80000"/>
              </a:lnSpc>
              <a:spcBef>
                <a:spcPts val="0"/>
              </a:spcBef>
              <a:buFont typeface="Wingdings" panose="05000000000000000000" pitchFamily="2" charset="2"/>
              <a:buNone/>
              <a:defRPr/>
            </a:pPr>
            <a:r>
              <a:rPr lang="en-US" altLang="zh-CN" sz="2400" kern="0" dirty="0">
                <a:solidFill>
                  <a:srgbClr val="104E87"/>
                </a:solidFill>
                <a:latin typeface="Comic Sans MS" panose="030F0702030302020204" pitchFamily="66" charset="0"/>
              </a:rPr>
              <a:t>     ~employee();</a:t>
            </a:r>
            <a:r>
              <a:rPr lang="zh-CN" altLang="en-US" sz="2400" kern="0" dirty="0">
                <a:solidFill>
                  <a:srgbClr val="104E87"/>
                </a:solidFill>
                <a:latin typeface="Comic Sans MS" panose="030F0702030302020204" pitchFamily="66" charset="0"/>
              </a:rPr>
              <a:t> </a:t>
            </a:r>
            <a:endParaRPr lang="en-US" altLang="zh-CN" sz="2400" kern="0" dirty="0">
              <a:solidFill>
                <a:srgbClr val="104E87"/>
              </a:solidFill>
              <a:latin typeface="Comic Sans MS" panose="030F0702030302020204" pitchFamily="66" charset="0"/>
            </a:endParaRPr>
          </a:p>
          <a:p>
            <a:pPr>
              <a:lnSpc>
                <a:spcPct val="80000"/>
              </a:lnSpc>
              <a:spcBef>
                <a:spcPts val="0"/>
              </a:spcBef>
              <a:buFont typeface="Wingdings" panose="05000000000000000000" pitchFamily="2" charset="2"/>
              <a:buNone/>
              <a:defRPr/>
            </a:pPr>
            <a:r>
              <a:rPr lang="en-US" altLang="zh-CN" sz="2400" kern="0" dirty="0">
                <a:solidFill>
                  <a:srgbClr val="00B050"/>
                </a:solidFill>
                <a:latin typeface="Comic Sans MS" panose="030F0702030302020204" pitchFamily="66" charset="0"/>
              </a:rPr>
              <a:t>     </a:t>
            </a:r>
            <a:r>
              <a:rPr lang="en-US" altLang="zh-CN" sz="2400" kern="0" dirty="0">
                <a:solidFill>
                  <a:srgbClr val="104E87"/>
                </a:solidFill>
                <a:latin typeface="Comic Sans MS" panose="030F0702030302020204" pitchFamily="66" charset="0"/>
              </a:rPr>
              <a:t>void promote(int); </a:t>
            </a:r>
          </a:p>
          <a:p>
            <a:pPr>
              <a:lnSpc>
                <a:spcPct val="80000"/>
              </a:lnSpc>
              <a:spcBef>
                <a:spcPts val="0"/>
              </a:spcBef>
              <a:buFont typeface="Wingdings" panose="05000000000000000000" pitchFamily="2" charset="2"/>
              <a:buNone/>
              <a:defRPr/>
            </a:pPr>
            <a:r>
              <a:rPr lang="en-US" altLang="zh-CN" sz="2400" kern="0" dirty="0">
                <a:solidFill>
                  <a:srgbClr val="00B050"/>
                </a:solidFill>
                <a:latin typeface="Comic Sans MS" panose="030F0702030302020204" pitchFamily="66" charset="0"/>
              </a:rPr>
              <a:t>     void pay();</a:t>
            </a:r>
            <a:endParaRPr lang="zh-CN" altLang="en-US" sz="2400" kern="0" dirty="0">
              <a:solidFill>
                <a:srgbClr val="00B050"/>
              </a:solidFill>
              <a:latin typeface="Comic Sans MS" panose="030F0702030302020204" pitchFamily="66" charset="0"/>
            </a:endParaRPr>
          </a:p>
          <a:p>
            <a:pPr>
              <a:lnSpc>
                <a:spcPct val="80000"/>
              </a:lnSpc>
              <a:spcBef>
                <a:spcPts val="0"/>
              </a:spcBef>
              <a:buFont typeface="Wingdings" panose="05000000000000000000" pitchFamily="2" charset="2"/>
              <a:buNone/>
              <a:defRPr/>
            </a:pPr>
            <a:r>
              <a:rPr lang="en-US" altLang="zh-CN" sz="2400" kern="0" dirty="0">
                <a:solidFill>
                  <a:srgbClr val="00B050"/>
                </a:solidFill>
                <a:latin typeface="Comic Sans MS" panose="030F0702030302020204" pitchFamily="66" charset="0"/>
              </a:rPr>
              <a:t>     void </a:t>
            </a:r>
            <a:r>
              <a:rPr lang="en-US" altLang="zh-CN" sz="2400" kern="0" dirty="0" err="1">
                <a:solidFill>
                  <a:srgbClr val="00B050"/>
                </a:solidFill>
                <a:latin typeface="Comic Sans MS" panose="030F0702030302020204" pitchFamily="66" charset="0"/>
              </a:rPr>
              <a:t>displayStatus</a:t>
            </a:r>
            <a:r>
              <a:rPr lang="en-US" altLang="zh-CN" sz="2400" kern="0" dirty="0">
                <a:solidFill>
                  <a:srgbClr val="00B050"/>
                </a:solidFill>
                <a:latin typeface="Comic Sans MS" panose="030F0702030302020204" pitchFamily="66" charset="0"/>
              </a:rPr>
              <a:t>();</a:t>
            </a:r>
          </a:p>
          <a:p>
            <a:pPr>
              <a:lnSpc>
                <a:spcPct val="80000"/>
              </a:lnSpc>
              <a:spcBef>
                <a:spcPts val="0"/>
              </a:spcBef>
              <a:buFont typeface="Wingdings" panose="05000000000000000000" pitchFamily="2" charset="2"/>
              <a:buNone/>
              <a:defRPr/>
            </a:pPr>
            <a:r>
              <a:rPr lang="en-US" altLang="zh-CN" sz="2400" kern="0" dirty="0">
                <a:solidFill>
                  <a:srgbClr val="104E87"/>
                </a:solidFill>
                <a:latin typeface="Comic Sans MS" panose="030F0702030302020204" pitchFamily="66" charset="0"/>
              </a:rPr>
              <a:t>};</a:t>
            </a:r>
          </a:p>
        </p:txBody>
      </p:sp>
      <p:sp>
        <p:nvSpPr>
          <p:cNvPr id="10" name="矩形 9">
            <a:extLst>
              <a:ext uri="{FF2B5EF4-FFF2-40B4-BE49-F238E27FC236}">
                <a16:creationId xmlns:a16="http://schemas.microsoft.com/office/drawing/2014/main" id="{AABC4E7F-2EF3-4A36-94A7-98CA32FE519B}"/>
              </a:ext>
            </a:extLst>
          </p:cNvPr>
          <p:cNvSpPr/>
          <p:nvPr/>
        </p:nvSpPr>
        <p:spPr>
          <a:xfrm>
            <a:off x="4030663" y="-6348"/>
            <a:ext cx="4414837" cy="3063576"/>
          </a:xfrm>
          <a:prstGeom prst="rect">
            <a:avLst/>
          </a:prstGeom>
          <a:solidFill>
            <a:schemeClr val="accent3">
              <a:lumMod val="20000"/>
              <a:lumOff val="80000"/>
            </a:schemeClr>
          </a:solidFill>
        </p:spPr>
        <p:txBody>
          <a:bodyPr/>
          <a:lstStyle/>
          <a:p>
            <a:pPr marL="469900" indent="-469900" eaLnBrk="0" fontAlgn="base" hangingPunct="0">
              <a:lnSpc>
                <a:spcPct val="80000"/>
              </a:lnSpc>
              <a:spcAft>
                <a:spcPct val="0"/>
              </a:spcAft>
              <a:buClr>
                <a:schemeClr val="bg2"/>
              </a:buClr>
              <a:buSzPct val="70000"/>
            </a:pPr>
            <a:r>
              <a:rPr lang="en-US" altLang="zh-CN" sz="2400" kern="0" spc="-130" dirty="0">
                <a:solidFill>
                  <a:srgbClr val="104E87"/>
                </a:solidFill>
                <a:latin typeface="华光行书_CNKI" panose="02000500000000000000" pitchFamily="2" charset="-122"/>
                <a:ea typeface="华光行书_CNKI" panose="02000500000000000000" pitchFamily="2" charset="-122"/>
              </a:rPr>
              <a:t>//</a:t>
            </a:r>
            <a:r>
              <a:rPr lang="zh-CN" altLang="en-US" sz="2400" kern="0" spc="-130" dirty="0">
                <a:solidFill>
                  <a:srgbClr val="104E87"/>
                </a:solidFill>
                <a:latin typeface="华光行书_CNKI" panose="02000500000000000000" pitchFamily="2" charset="-122"/>
                <a:ea typeface="华光行书_CNKI" panose="02000500000000000000" pitchFamily="2" charset="-122"/>
              </a:rPr>
              <a:t>技术人员</a:t>
            </a:r>
            <a:endParaRPr lang="en-US" altLang="zh-CN" kern="0" spc="-130" dirty="0">
              <a:solidFill>
                <a:srgbClr val="104E87"/>
              </a:solidFill>
              <a:latin typeface="华光行书_CNKI" panose="02000500000000000000" pitchFamily="2" charset="-122"/>
              <a:ea typeface="华光行书_CNKI" panose="02000500000000000000" pitchFamily="2" charset="-122"/>
            </a:endParaRP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class technician: public employee</a:t>
            </a:r>
            <a:endParaRPr lang="zh-CN" altLang="en-US" kern="0" spc="-130" dirty="0">
              <a:solidFill>
                <a:srgbClr val="104E87"/>
              </a:solidFill>
              <a:latin typeface="Comic Sans MS" panose="030F0702030302020204" pitchFamily="66" charset="0"/>
              <a:ea typeface="华光隶变_CNKI" panose="02000500000000000000" pitchFamily="2" charset="-122"/>
            </a:endParaRP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{private:</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     float </a:t>
            </a:r>
            <a:r>
              <a:rPr lang="en-US" altLang="zh-CN" kern="0" spc="-130" dirty="0" err="1">
                <a:solidFill>
                  <a:srgbClr val="104E87"/>
                </a:solidFill>
                <a:latin typeface="Comic Sans MS" panose="030F0702030302020204" pitchFamily="66" charset="0"/>
                <a:ea typeface="华光隶变_CNKI" panose="02000500000000000000" pitchFamily="2" charset="-122"/>
              </a:rPr>
              <a:t>hourlyRate</a:t>
            </a:r>
            <a:r>
              <a:rPr lang="en-US" altLang="zh-CN" kern="0" spc="-130" dirty="0">
                <a:solidFill>
                  <a:srgbClr val="104E87"/>
                </a:solidFill>
                <a:latin typeface="Comic Sans MS" panose="030F0702030302020204" pitchFamily="66" charset="0"/>
                <a:ea typeface="华光隶变_CNKI" panose="02000500000000000000" pitchFamily="2" charset="-122"/>
              </a:rPr>
              <a:t>; </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	int </a:t>
            </a:r>
            <a:r>
              <a:rPr lang="en-US" altLang="zh-CN" kern="0" spc="-130" dirty="0" err="1">
                <a:solidFill>
                  <a:srgbClr val="104E87"/>
                </a:solidFill>
                <a:latin typeface="Comic Sans MS" panose="030F0702030302020204" pitchFamily="66" charset="0"/>
                <a:ea typeface="华光隶变_CNKI" panose="02000500000000000000" pitchFamily="2" charset="-122"/>
              </a:rPr>
              <a:t>workHours</a:t>
            </a:r>
            <a:r>
              <a:rPr lang="en-US" altLang="zh-CN" kern="0" spc="-130" dirty="0">
                <a:solidFill>
                  <a:srgbClr val="104E87"/>
                </a:solidFill>
                <a:latin typeface="Comic Sans MS" panose="030F0702030302020204" pitchFamily="66" charset="0"/>
                <a:ea typeface="华光隶变_CNKI" panose="02000500000000000000" pitchFamily="2" charset="-122"/>
              </a:rPr>
              <a:t>; </a:t>
            </a:r>
            <a:endParaRPr lang="zh-CN" altLang="en-US" kern="0" spc="-130" dirty="0">
              <a:solidFill>
                <a:srgbClr val="104E87"/>
              </a:solidFill>
              <a:latin typeface="Comic Sans MS" panose="030F0702030302020204" pitchFamily="66" charset="0"/>
              <a:ea typeface="华光隶变_CNKI" panose="02000500000000000000" pitchFamily="2" charset="-122"/>
            </a:endParaRPr>
          </a:p>
          <a:p>
            <a:pPr marL="469900" indent="-469900" eaLnBrk="0" fontAlgn="base" hangingPunct="0">
              <a:lnSpc>
                <a:spcPct val="80000"/>
              </a:lnSpc>
              <a:spcAft>
                <a:spcPct val="0"/>
              </a:spcAft>
              <a:buClr>
                <a:schemeClr val="bg2"/>
              </a:buClr>
              <a:buSzPct val="70000"/>
            </a:pPr>
            <a:r>
              <a:rPr lang="zh-CN" altLang="en-US" kern="0" spc="-130" dirty="0">
                <a:solidFill>
                  <a:srgbClr val="104E87"/>
                </a:solidFill>
                <a:latin typeface="Comic Sans MS" panose="030F0702030302020204" pitchFamily="66" charset="0"/>
                <a:ea typeface="华光隶变_CNKI" panose="02000500000000000000" pitchFamily="2" charset="-122"/>
              </a:rPr>
              <a:t>  </a:t>
            </a:r>
            <a:r>
              <a:rPr lang="en-US" altLang="zh-CN" kern="0" spc="-130" dirty="0">
                <a:solidFill>
                  <a:srgbClr val="104E87"/>
                </a:solidFill>
                <a:latin typeface="Comic Sans MS" panose="030F0702030302020204" pitchFamily="66" charset="0"/>
                <a:ea typeface="华光隶变_CNKI" panose="02000500000000000000" pitchFamily="2" charset="-122"/>
              </a:rPr>
              <a:t>public:</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     technician();</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     </a:t>
            </a:r>
            <a:r>
              <a:rPr lang="en-US" altLang="zh-CN" kern="0" spc="-130" dirty="0">
                <a:solidFill>
                  <a:srgbClr val="00B050"/>
                </a:solidFill>
                <a:latin typeface="Comic Sans MS" panose="030F0702030302020204" pitchFamily="66" charset="0"/>
                <a:ea typeface="华光隶变_CNKI" panose="02000500000000000000" pitchFamily="2" charset="-122"/>
              </a:rPr>
              <a:t>void pay(); </a:t>
            </a:r>
          </a:p>
          <a:p>
            <a:pPr marL="469900" indent="-469900" eaLnBrk="0" fontAlgn="base" hangingPunct="0">
              <a:lnSpc>
                <a:spcPct val="80000"/>
              </a:lnSpc>
              <a:spcAft>
                <a:spcPct val="0"/>
              </a:spcAft>
              <a:buClr>
                <a:schemeClr val="bg2"/>
              </a:buClr>
              <a:buSzPct val="70000"/>
            </a:pPr>
            <a:r>
              <a:rPr lang="en-US" altLang="zh-CN" kern="0" spc="-130" dirty="0">
                <a:solidFill>
                  <a:srgbClr val="00B050"/>
                </a:solidFill>
                <a:latin typeface="Comic Sans MS" panose="030F0702030302020204" pitchFamily="66" charset="0"/>
                <a:ea typeface="华光隶变_CNKI" panose="02000500000000000000" pitchFamily="2" charset="-122"/>
              </a:rPr>
              <a:t>	void </a:t>
            </a:r>
            <a:r>
              <a:rPr lang="en-US" altLang="zh-CN" kern="0" spc="-130" dirty="0" err="1">
                <a:solidFill>
                  <a:srgbClr val="00B050"/>
                </a:solidFill>
                <a:latin typeface="Comic Sans MS" panose="030F0702030302020204" pitchFamily="66" charset="0"/>
                <a:ea typeface="华光隶变_CNKI" panose="02000500000000000000" pitchFamily="2" charset="-122"/>
              </a:rPr>
              <a:t>displayStatus</a:t>
            </a:r>
            <a:r>
              <a:rPr lang="en-US" altLang="zh-CN" kern="0" spc="-130" dirty="0">
                <a:solidFill>
                  <a:srgbClr val="00B050"/>
                </a:solidFill>
                <a:latin typeface="Comic Sans MS" panose="030F0702030302020204" pitchFamily="66" charset="0"/>
                <a:ea typeface="华光隶变_CNKI" panose="02000500000000000000" pitchFamily="2" charset="-122"/>
              </a:rPr>
              <a:t>();</a:t>
            </a:r>
            <a:endParaRPr lang="zh-CN" altLang="en-US" kern="0" spc="-130" dirty="0">
              <a:solidFill>
                <a:srgbClr val="00B050"/>
              </a:solidFill>
              <a:latin typeface="Comic Sans MS" panose="030F0702030302020204" pitchFamily="66" charset="0"/>
              <a:ea typeface="华光隶变_CNKI" panose="02000500000000000000" pitchFamily="2" charset="-122"/>
            </a:endParaRP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a:t>
            </a:r>
          </a:p>
        </p:txBody>
      </p:sp>
      <p:sp>
        <p:nvSpPr>
          <p:cNvPr id="11" name="矩形 10">
            <a:extLst>
              <a:ext uri="{FF2B5EF4-FFF2-40B4-BE49-F238E27FC236}">
                <a16:creationId xmlns:a16="http://schemas.microsoft.com/office/drawing/2014/main" id="{88E2949A-6C1D-4E0D-89BB-A5C9144E7CFC}"/>
              </a:ext>
            </a:extLst>
          </p:cNvPr>
          <p:cNvSpPr/>
          <p:nvPr/>
        </p:nvSpPr>
        <p:spPr>
          <a:xfrm>
            <a:off x="7098507" y="721220"/>
            <a:ext cx="5093493" cy="2707780"/>
          </a:xfrm>
          <a:prstGeom prst="rect">
            <a:avLst/>
          </a:prstGeom>
          <a:solidFill>
            <a:schemeClr val="accent1">
              <a:lumMod val="20000"/>
              <a:lumOff val="80000"/>
            </a:schemeClr>
          </a:solidFill>
        </p:spPr>
        <p:txBody>
          <a:bodyPr/>
          <a:lstStyle/>
          <a:p>
            <a:pPr marL="469900" indent="-469900" eaLnBrk="0" fontAlgn="base" hangingPunct="0">
              <a:lnSpc>
                <a:spcPct val="80000"/>
              </a:lnSpc>
              <a:spcAft>
                <a:spcPct val="0"/>
              </a:spcAft>
              <a:buClr>
                <a:schemeClr val="bg2"/>
              </a:buClr>
              <a:buSzPct val="70000"/>
            </a:pPr>
            <a:r>
              <a:rPr lang="en-US" altLang="zh-CN" sz="2400" kern="0" spc="-130" dirty="0">
                <a:solidFill>
                  <a:srgbClr val="104E87"/>
                </a:solidFill>
                <a:latin typeface="华光行书_CNKI" panose="02000500000000000000" pitchFamily="2" charset="-122"/>
                <a:ea typeface="华光行书_CNKI" panose="02000500000000000000" pitchFamily="2" charset="-122"/>
              </a:rPr>
              <a:t>// </a:t>
            </a:r>
            <a:r>
              <a:rPr lang="zh-CN" altLang="en-US" sz="2400" kern="0" spc="-130" dirty="0">
                <a:solidFill>
                  <a:srgbClr val="104E87"/>
                </a:solidFill>
                <a:latin typeface="华光行书_CNKI" panose="02000500000000000000" pitchFamily="2" charset="-122"/>
                <a:ea typeface="华光行书_CNKI" panose="02000500000000000000" pitchFamily="2" charset="-122"/>
              </a:rPr>
              <a:t>经理</a:t>
            </a:r>
            <a:endParaRPr lang="en-US" altLang="zh-CN" kern="0" spc="-130" dirty="0">
              <a:solidFill>
                <a:srgbClr val="104E87"/>
              </a:solidFill>
              <a:latin typeface="华光行书_CNKI" panose="02000500000000000000" pitchFamily="2" charset="-122"/>
              <a:ea typeface="华光行书_CNKI" panose="02000500000000000000" pitchFamily="2" charset="-122"/>
            </a:endParaRP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class manager: </a:t>
            </a:r>
            <a:r>
              <a:rPr lang="en-US" altLang="zh-CN" kern="0" spc="-130" dirty="0">
                <a:solidFill>
                  <a:srgbClr val="FF0000"/>
                </a:solidFill>
                <a:latin typeface="Comic Sans MS" panose="030F0702030302020204" pitchFamily="66" charset="0"/>
                <a:ea typeface="华光隶变_CNKI" panose="02000500000000000000" pitchFamily="2" charset="-122"/>
              </a:rPr>
              <a:t>virtual</a:t>
            </a:r>
            <a:r>
              <a:rPr lang="en-US" altLang="zh-CN" kern="0" spc="-130" dirty="0">
                <a:solidFill>
                  <a:srgbClr val="104E87"/>
                </a:solidFill>
                <a:latin typeface="Comic Sans MS" panose="030F0702030302020204" pitchFamily="66" charset="0"/>
                <a:ea typeface="华光隶变_CNKI" panose="02000500000000000000" pitchFamily="2" charset="-122"/>
              </a:rPr>
              <a:t> public employee </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{protected:</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     float </a:t>
            </a:r>
            <a:r>
              <a:rPr lang="en-US" altLang="zh-CN" kern="0" spc="-130" dirty="0" err="1">
                <a:solidFill>
                  <a:srgbClr val="104E87"/>
                </a:solidFill>
                <a:latin typeface="Comic Sans MS" panose="030F0702030302020204" pitchFamily="66" charset="0"/>
                <a:ea typeface="华光隶变_CNKI" panose="02000500000000000000" pitchFamily="2" charset="-122"/>
              </a:rPr>
              <a:t>monthlyPay</a:t>
            </a:r>
            <a:r>
              <a:rPr lang="en-US" altLang="zh-CN" kern="0" spc="-130" dirty="0">
                <a:solidFill>
                  <a:srgbClr val="104E87"/>
                </a:solidFill>
                <a:latin typeface="Comic Sans MS" panose="030F0702030302020204" pitchFamily="66" charset="0"/>
                <a:ea typeface="华光隶变_CNKI" panose="02000500000000000000" pitchFamily="2" charset="-122"/>
              </a:rPr>
              <a:t>; </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public:</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     manager();</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     </a:t>
            </a:r>
            <a:r>
              <a:rPr lang="en-US" altLang="zh-CN" kern="0" spc="-130" dirty="0">
                <a:solidFill>
                  <a:srgbClr val="00B050"/>
                </a:solidFill>
                <a:latin typeface="Comic Sans MS" panose="030F0702030302020204" pitchFamily="66" charset="0"/>
                <a:ea typeface="华光隶变_CNKI" panose="02000500000000000000" pitchFamily="2" charset="-122"/>
              </a:rPr>
              <a:t>void pay(); </a:t>
            </a:r>
          </a:p>
          <a:p>
            <a:pPr marL="469900" indent="-469900" eaLnBrk="0" fontAlgn="base" hangingPunct="0">
              <a:lnSpc>
                <a:spcPct val="80000"/>
              </a:lnSpc>
              <a:spcAft>
                <a:spcPct val="0"/>
              </a:spcAft>
              <a:buClr>
                <a:schemeClr val="bg2"/>
              </a:buClr>
              <a:buSzPct val="70000"/>
            </a:pPr>
            <a:r>
              <a:rPr lang="en-US" altLang="zh-CN" kern="0" spc="-130" dirty="0">
                <a:solidFill>
                  <a:srgbClr val="00B050"/>
                </a:solidFill>
                <a:latin typeface="Comic Sans MS" panose="030F0702030302020204" pitchFamily="66" charset="0"/>
                <a:ea typeface="华光隶变_CNKI" panose="02000500000000000000" pitchFamily="2" charset="-122"/>
              </a:rPr>
              <a:t>	void </a:t>
            </a:r>
            <a:r>
              <a:rPr lang="en-US" altLang="zh-CN" kern="0" spc="-130" dirty="0" err="1">
                <a:solidFill>
                  <a:srgbClr val="00B050"/>
                </a:solidFill>
                <a:latin typeface="Comic Sans MS" panose="030F0702030302020204" pitchFamily="66" charset="0"/>
                <a:ea typeface="华光隶变_CNKI" panose="02000500000000000000" pitchFamily="2" charset="-122"/>
              </a:rPr>
              <a:t>displayStatus</a:t>
            </a:r>
            <a:r>
              <a:rPr lang="en-US" altLang="zh-CN" kern="0" spc="-130" dirty="0">
                <a:solidFill>
                  <a:srgbClr val="00B050"/>
                </a:solidFill>
                <a:latin typeface="Comic Sans MS" panose="030F0702030302020204" pitchFamily="66" charset="0"/>
                <a:ea typeface="华光隶变_CNKI" panose="02000500000000000000" pitchFamily="2" charset="-122"/>
              </a:rPr>
              <a:t>();</a:t>
            </a:r>
          </a:p>
          <a:p>
            <a:pPr marL="469900" indent="-469900" eaLnBrk="0" fontAlgn="base" hangingPunct="0">
              <a:lnSpc>
                <a:spcPct val="80000"/>
              </a:lnSpc>
              <a:spcAft>
                <a:spcPct val="0"/>
              </a:spcAft>
              <a:buClr>
                <a:schemeClr val="bg2"/>
              </a:buClr>
              <a:buSzPct val="70000"/>
            </a:pPr>
            <a:r>
              <a:rPr lang="en-US" altLang="zh-CN" kern="0" spc="-130" dirty="0">
                <a:solidFill>
                  <a:srgbClr val="104E87"/>
                </a:solidFill>
                <a:latin typeface="Comic Sans MS" panose="030F0702030302020204" pitchFamily="66" charset="0"/>
                <a:ea typeface="华光隶变_CNKI" panose="02000500000000000000" pitchFamily="2" charset="-122"/>
              </a:rPr>
              <a:t>};</a:t>
            </a:r>
          </a:p>
        </p:txBody>
      </p:sp>
      <p:sp>
        <p:nvSpPr>
          <p:cNvPr id="13" name="Rectangle 2">
            <a:extLst>
              <a:ext uri="{FF2B5EF4-FFF2-40B4-BE49-F238E27FC236}">
                <a16:creationId xmlns:a16="http://schemas.microsoft.com/office/drawing/2014/main" id="{FDEE4B66-E231-4541-9435-1B8BA13E890D}"/>
              </a:ext>
            </a:extLst>
          </p:cNvPr>
          <p:cNvSpPr txBox="1">
            <a:spLocks noChangeArrowheads="1"/>
          </p:cNvSpPr>
          <p:nvPr/>
        </p:nvSpPr>
        <p:spPr>
          <a:xfrm>
            <a:off x="6769100" y="3537548"/>
            <a:ext cx="5422900" cy="3330276"/>
          </a:xfrm>
          <a:prstGeom prst="rect">
            <a:avLst/>
          </a:prstGeom>
          <a:solidFill>
            <a:schemeClr val="accent5">
              <a:lumMod val="40000"/>
              <a:lumOff val="60000"/>
            </a:schemeClr>
          </a:solidFill>
        </p:spPr>
        <p:txBody>
          <a:bodyPr/>
          <a:lstStyle>
            <a:defPPr>
              <a:defRPr lang="en-US"/>
            </a:defPPr>
            <a:lvl1pPr marL="469900" indent="-469900" eaLnBrk="0" fontAlgn="base" hangingPunct="0">
              <a:lnSpc>
                <a:spcPct val="80000"/>
              </a:lnSpc>
              <a:spcAft>
                <a:spcPct val="0"/>
              </a:spcAft>
              <a:buClr>
                <a:schemeClr val="bg2"/>
              </a:buClr>
              <a:buSzPct val="70000"/>
              <a:defRPr kern="0">
                <a:solidFill>
                  <a:srgbClr val="104E87"/>
                </a:solidFill>
                <a:latin typeface="Comic Sans MS" panose="030F0702030302020204" pitchFamily="66" charset="0"/>
                <a:ea typeface="华光隶变_CNKI" panose="02000500000000000000" pitchFamily="2" charset="-122"/>
              </a:defRPr>
            </a:lvl1pPr>
            <a:lvl2pPr marL="908050" indent="-436563" algn="l" rtl="0"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anose="05000000000000000000"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r>
              <a:rPr lang="en-US" altLang="en-US" sz="2400" spc="-100" dirty="0">
                <a:latin typeface="华光行书_CNKI" panose="02000500000000000000" pitchFamily="2" charset="-122"/>
                <a:ea typeface="华光行书_CNKI" panose="02000500000000000000" pitchFamily="2" charset="-122"/>
              </a:rPr>
              <a:t>// </a:t>
            </a:r>
            <a:r>
              <a:rPr lang="zh-CN" altLang="en-US" sz="2400" spc="-100" dirty="0">
                <a:latin typeface="华光行书_CNKI" panose="02000500000000000000" pitchFamily="2" charset="-122"/>
                <a:ea typeface="华光行书_CNKI" panose="02000500000000000000" pitchFamily="2" charset="-122"/>
              </a:rPr>
              <a:t>销售人员</a:t>
            </a:r>
            <a:endParaRPr lang="en-US" altLang="en-US" spc="-100" dirty="0">
              <a:latin typeface="华光行书_CNKI" panose="02000500000000000000" pitchFamily="2" charset="-122"/>
              <a:ea typeface="华光行书_CNKI" panose="02000500000000000000" pitchFamily="2" charset="-122"/>
            </a:endParaRPr>
          </a:p>
          <a:p>
            <a:r>
              <a:rPr lang="en-US" altLang="en-US" spc="-100" dirty="0"/>
              <a:t>class salesman: </a:t>
            </a:r>
            <a:r>
              <a:rPr lang="en-US" altLang="en-US" spc="-100" dirty="0">
                <a:solidFill>
                  <a:srgbClr val="FF0000"/>
                </a:solidFill>
              </a:rPr>
              <a:t>virtual</a:t>
            </a:r>
            <a:r>
              <a:rPr lang="en-US" altLang="en-US" spc="-100" dirty="0"/>
              <a:t> public employee</a:t>
            </a:r>
            <a:endParaRPr lang="en-US" altLang="en-US" sz="2000" spc="-100" dirty="0"/>
          </a:p>
          <a:p>
            <a:r>
              <a:rPr lang="en-US" altLang="en-US" spc="-100" dirty="0"/>
              <a:t>{protected:</a:t>
            </a:r>
          </a:p>
          <a:p>
            <a:r>
              <a:rPr lang="en-US" altLang="en-US" spc="-100" dirty="0"/>
              <a:t>     float </a:t>
            </a:r>
            <a:r>
              <a:rPr lang="en-US" altLang="en-US" spc="-100" dirty="0" err="1"/>
              <a:t>CommRate</a:t>
            </a:r>
            <a:r>
              <a:rPr lang="en-US" altLang="en-US" spc="-100" dirty="0"/>
              <a:t>; </a:t>
            </a:r>
          </a:p>
          <a:p>
            <a:r>
              <a:rPr lang="en-US" altLang="en-US" spc="-100" dirty="0"/>
              <a:t>	float sales; </a:t>
            </a:r>
          </a:p>
          <a:p>
            <a:r>
              <a:rPr lang="en-US" altLang="en-US" spc="-100" dirty="0"/>
              <a:t>public:                                 </a:t>
            </a:r>
          </a:p>
          <a:p>
            <a:r>
              <a:rPr lang="en-US" altLang="en-US" spc="-100" dirty="0"/>
              <a:t>     salesman();</a:t>
            </a:r>
          </a:p>
          <a:p>
            <a:r>
              <a:rPr lang="en-US" altLang="en-US" spc="-100" dirty="0"/>
              <a:t>     </a:t>
            </a:r>
            <a:r>
              <a:rPr lang="en-US" altLang="en-US" spc="-100" dirty="0">
                <a:solidFill>
                  <a:srgbClr val="00B050"/>
                </a:solidFill>
              </a:rPr>
              <a:t>void pay(); </a:t>
            </a:r>
          </a:p>
          <a:p>
            <a:r>
              <a:rPr lang="en-US" altLang="en-US" spc="-100" dirty="0">
                <a:solidFill>
                  <a:srgbClr val="00B050"/>
                </a:solidFill>
              </a:rPr>
              <a:t>	void </a:t>
            </a:r>
            <a:r>
              <a:rPr lang="en-US" altLang="en-US" spc="-100" dirty="0" err="1">
                <a:solidFill>
                  <a:srgbClr val="00B050"/>
                </a:solidFill>
              </a:rPr>
              <a:t>displayStatus</a:t>
            </a:r>
            <a:r>
              <a:rPr lang="en-US" altLang="en-US" spc="-100" dirty="0">
                <a:solidFill>
                  <a:srgbClr val="00B050"/>
                </a:solidFill>
              </a:rPr>
              <a:t>();</a:t>
            </a:r>
          </a:p>
          <a:p>
            <a:r>
              <a:rPr lang="en-US" altLang="en-US" spc="-100" dirty="0"/>
              <a:t>};</a:t>
            </a:r>
          </a:p>
        </p:txBody>
      </p:sp>
      <p:sp>
        <p:nvSpPr>
          <p:cNvPr id="16" name="文本框 15">
            <a:extLst>
              <a:ext uri="{FF2B5EF4-FFF2-40B4-BE49-F238E27FC236}">
                <a16:creationId xmlns:a16="http://schemas.microsoft.com/office/drawing/2014/main" id="{83CC9E8D-C67E-47AB-99E2-A1275A928C7A}"/>
              </a:ext>
            </a:extLst>
          </p:cNvPr>
          <p:cNvSpPr txBox="1"/>
          <p:nvPr/>
        </p:nvSpPr>
        <p:spPr>
          <a:xfrm>
            <a:off x="1" y="4427536"/>
            <a:ext cx="6482158" cy="2163990"/>
          </a:xfrm>
          <a:prstGeom prst="rect">
            <a:avLst/>
          </a:prstGeom>
          <a:solidFill>
            <a:schemeClr val="accent3">
              <a:lumMod val="20000"/>
              <a:lumOff val="80000"/>
            </a:schemeClr>
          </a:solidFill>
        </p:spPr>
        <p:txBody>
          <a:bodyPr wrap="square">
            <a:spAutoFit/>
          </a:bodyPr>
          <a:lstStyle/>
          <a:p>
            <a:pPr marL="469900" indent="-469900" eaLnBrk="0" fontAlgn="base" hangingPunct="0">
              <a:lnSpc>
                <a:spcPct val="80000"/>
              </a:lnSpc>
              <a:spcAft>
                <a:spcPct val="0"/>
              </a:spcAft>
              <a:buClr>
                <a:schemeClr val="bg2"/>
              </a:buClr>
              <a:buSzPct val="70000"/>
            </a:pPr>
            <a:r>
              <a:rPr lang="en-US" altLang="en-US" kern="0" spc="-130" dirty="0">
                <a:solidFill>
                  <a:srgbClr val="104E87"/>
                </a:solidFill>
                <a:latin typeface="华光行书_CNKI" panose="02000500000000000000" pitchFamily="2" charset="-122"/>
                <a:ea typeface="华光行书_CNKI" panose="02000500000000000000" pitchFamily="2" charset="-122"/>
              </a:rPr>
              <a:t>//</a:t>
            </a:r>
            <a:r>
              <a:rPr lang="zh-CN" altLang="en-US" kern="0" spc="-130" dirty="0">
                <a:solidFill>
                  <a:srgbClr val="104E87"/>
                </a:solidFill>
                <a:latin typeface="华光行书_CNKI" panose="02000500000000000000" pitchFamily="2" charset="-122"/>
                <a:ea typeface="华光行书_CNKI" panose="02000500000000000000" pitchFamily="2" charset="-122"/>
              </a:rPr>
              <a:t>销售经理</a:t>
            </a:r>
            <a:endParaRPr lang="en-US" altLang="en-US" kern="0" spc="-130" dirty="0">
              <a:solidFill>
                <a:srgbClr val="104E87"/>
              </a:solidFill>
              <a:latin typeface="华光行书_CNKI" panose="02000500000000000000" pitchFamily="2" charset="-122"/>
              <a:ea typeface="华光行书_CNKI" panose="02000500000000000000" pitchFamily="2" charset="-122"/>
            </a:endParaRPr>
          </a:p>
          <a:p>
            <a:pPr>
              <a:lnSpc>
                <a:spcPct val="80000"/>
              </a:lnSpc>
            </a:pPr>
            <a:r>
              <a:rPr lang="en-US" altLang="en-US" spc="-160" dirty="0">
                <a:solidFill>
                  <a:srgbClr val="104E87"/>
                </a:solidFill>
                <a:latin typeface="Comic Sans MS" panose="030F0702030302020204" pitchFamily="66" charset="0"/>
              </a:rPr>
              <a:t>class </a:t>
            </a:r>
            <a:r>
              <a:rPr lang="en-US" altLang="en-US" spc="-160" dirty="0" err="1">
                <a:solidFill>
                  <a:srgbClr val="104E87"/>
                </a:solidFill>
                <a:latin typeface="Comic Sans MS" panose="030F0702030302020204" pitchFamily="66" charset="0"/>
              </a:rPr>
              <a:t>salesmanager</a:t>
            </a:r>
            <a:r>
              <a:rPr lang="en-US" altLang="en-US" spc="-160" dirty="0">
                <a:solidFill>
                  <a:srgbClr val="104E87"/>
                </a:solidFill>
                <a:latin typeface="Comic Sans MS" panose="030F0702030302020204" pitchFamily="66" charset="0"/>
              </a:rPr>
              <a:t>: public manager, public salesman</a:t>
            </a:r>
          </a:p>
          <a:p>
            <a:pPr>
              <a:lnSpc>
                <a:spcPct val="80000"/>
              </a:lnSpc>
            </a:pPr>
            <a:r>
              <a:rPr lang="en-US" altLang="en-US" spc="130" dirty="0">
                <a:solidFill>
                  <a:srgbClr val="104E87"/>
                </a:solidFill>
                <a:latin typeface="Comic Sans MS" panose="030F0702030302020204" pitchFamily="66" charset="0"/>
              </a:rPr>
              <a:t>{ public:</a:t>
            </a:r>
          </a:p>
          <a:p>
            <a:pPr>
              <a:lnSpc>
                <a:spcPct val="80000"/>
              </a:lnSpc>
            </a:pPr>
            <a:r>
              <a:rPr lang="en-US" altLang="en-US" spc="130" dirty="0">
                <a:solidFill>
                  <a:srgbClr val="104E87"/>
                </a:solidFill>
                <a:latin typeface="Comic Sans MS" panose="030F0702030302020204" pitchFamily="66" charset="0"/>
              </a:rPr>
              <a:t>     </a:t>
            </a:r>
            <a:r>
              <a:rPr lang="en-US" altLang="en-US" spc="130" dirty="0" err="1">
                <a:solidFill>
                  <a:srgbClr val="104E87"/>
                </a:solidFill>
                <a:latin typeface="Comic Sans MS" panose="030F0702030302020204" pitchFamily="66" charset="0"/>
              </a:rPr>
              <a:t>salesmanager</a:t>
            </a:r>
            <a:r>
              <a:rPr lang="en-US" altLang="en-US" spc="130" dirty="0">
                <a:solidFill>
                  <a:srgbClr val="104E87"/>
                </a:solidFill>
                <a:latin typeface="Comic Sans MS" panose="030F0702030302020204" pitchFamily="66" charset="0"/>
              </a:rPr>
              <a:t>();</a:t>
            </a:r>
          </a:p>
          <a:p>
            <a:pPr>
              <a:lnSpc>
                <a:spcPct val="80000"/>
              </a:lnSpc>
            </a:pPr>
            <a:r>
              <a:rPr lang="en-US" altLang="en-US" spc="130" dirty="0">
                <a:solidFill>
                  <a:srgbClr val="104E87"/>
                </a:solidFill>
                <a:latin typeface="Comic Sans MS" panose="030F0702030302020204" pitchFamily="66" charset="0"/>
              </a:rPr>
              <a:t>     </a:t>
            </a:r>
            <a:r>
              <a:rPr lang="en-US" altLang="en-US" spc="130" dirty="0">
                <a:solidFill>
                  <a:srgbClr val="00B050"/>
                </a:solidFill>
                <a:latin typeface="Comic Sans MS" panose="030F0702030302020204" pitchFamily="66" charset="0"/>
              </a:rPr>
              <a:t>void pay();                          </a:t>
            </a:r>
          </a:p>
          <a:p>
            <a:pPr>
              <a:lnSpc>
                <a:spcPct val="80000"/>
              </a:lnSpc>
            </a:pPr>
            <a:r>
              <a:rPr lang="en-US" altLang="en-US" spc="130" dirty="0">
                <a:solidFill>
                  <a:srgbClr val="00B050"/>
                </a:solidFill>
                <a:latin typeface="Comic Sans MS" panose="030F0702030302020204" pitchFamily="66" charset="0"/>
              </a:rPr>
              <a:t>     void </a:t>
            </a:r>
            <a:r>
              <a:rPr lang="en-US" altLang="en-US" spc="130" dirty="0" err="1">
                <a:solidFill>
                  <a:srgbClr val="00B050"/>
                </a:solidFill>
                <a:latin typeface="Comic Sans MS" panose="030F0702030302020204" pitchFamily="66" charset="0"/>
              </a:rPr>
              <a:t>displayStatus</a:t>
            </a:r>
            <a:r>
              <a:rPr lang="en-US" altLang="en-US" spc="130" dirty="0">
                <a:solidFill>
                  <a:srgbClr val="00B050"/>
                </a:solidFill>
                <a:latin typeface="Comic Sans MS" panose="030F0702030302020204" pitchFamily="66" charset="0"/>
              </a:rPr>
              <a:t>();</a:t>
            </a:r>
          </a:p>
          <a:p>
            <a:pPr>
              <a:lnSpc>
                <a:spcPct val="80000"/>
              </a:lnSpc>
            </a:pPr>
            <a:r>
              <a:rPr lang="en-US" altLang="en-US" spc="130" dirty="0">
                <a:solidFill>
                  <a:srgbClr val="104E87"/>
                </a:solidFill>
                <a:latin typeface="Comic Sans MS" panose="030F0702030302020204" pitchFamily="66" charset="0"/>
              </a:rPr>
              <a:t>};</a:t>
            </a:r>
            <a:endParaRPr lang="en-US" altLang="zh-CN" spc="130" dirty="0">
              <a:solidFill>
                <a:srgbClr val="104E87"/>
              </a:solidFill>
              <a:latin typeface="Comic Sans MS" panose="030F0702030302020204" pitchFamily="66" charset="0"/>
            </a:endParaRPr>
          </a:p>
        </p:txBody>
      </p:sp>
    </p:spTree>
    <p:extLst>
      <p:ext uri="{BB962C8B-B14F-4D97-AF65-F5344CB8AC3E}">
        <p14:creationId xmlns:p14="http://schemas.microsoft.com/office/powerpoint/2010/main" val="582091880"/>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righ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396A204-5655-45ED-8EA3-005866FAE3F9}"/>
              </a:ext>
            </a:extLst>
          </p:cNvPr>
          <p:cNvSpPr txBox="1">
            <a:spLocks noChangeArrowheads="1"/>
          </p:cNvSpPr>
          <p:nvPr/>
        </p:nvSpPr>
        <p:spPr>
          <a:xfrm>
            <a:off x="716974" y="484129"/>
            <a:ext cx="5600699" cy="5889741"/>
          </a:xfrm>
          <a:prstGeom prst="rect">
            <a:avLst/>
          </a:prstGeom>
        </p:spPr>
        <p:txBody>
          <a:bodyPr/>
          <a:lstStyle>
            <a:lvl1pPr marL="469900" indent="-469900" algn="l" rtl="0" eaLnBrk="0" fontAlgn="base" hangingPunct="0">
              <a:spcBef>
                <a:spcPct val="20000"/>
              </a:spcBef>
              <a:spcAft>
                <a:spcPct val="0"/>
              </a:spcAft>
              <a:buClr>
                <a:schemeClr val="bg2"/>
              </a:buClr>
              <a:buSzPct val="70000"/>
              <a:buFont typeface="Wingdings" panose="05000000000000000000" pitchFamily="2" charset="2"/>
              <a:buChar char="o"/>
              <a:defRPr sz="3200">
                <a:solidFill>
                  <a:srgbClr val="0000FF"/>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anose="05000000000000000000"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//empfunc.cpp</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#include&lt;iostream&gt;</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#include&lt;</a:t>
            </a:r>
            <a:r>
              <a:rPr lang="en-US" altLang="en-US" sz="2400" kern="0" spc="-100" dirty="0" err="1">
                <a:solidFill>
                  <a:srgbClr val="104E87"/>
                </a:solidFill>
                <a:latin typeface="Comic Sans MS" panose="030F0702030302020204" pitchFamily="66" charset="0"/>
                <a:ea typeface="华光行书_CNKI" panose="02000500000000000000" pitchFamily="2" charset="-122"/>
              </a:rPr>
              <a:t>string.h</a:t>
            </a:r>
            <a:r>
              <a:rPr lang="en-US" altLang="en-US" sz="2400" kern="0" spc="-100" dirty="0">
                <a:solidFill>
                  <a:srgbClr val="104E87"/>
                </a:solidFill>
                <a:latin typeface="Comic Sans MS" panose="030F0702030302020204" pitchFamily="66" charset="0"/>
                <a:ea typeface="华光行书_CNKI" panose="02000500000000000000" pitchFamily="2" charset="-122"/>
              </a:rPr>
              <a:t>&gt;</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#include "</a:t>
            </a:r>
            <a:r>
              <a:rPr lang="en-US" altLang="en-US" sz="2400" kern="0" spc="-100" dirty="0" err="1">
                <a:solidFill>
                  <a:srgbClr val="104E87"/>
                </a:solidFill>
                <a:latin typeface="Comic Sans MS" panose="030F0702030302020204" pitchFamily="66" charset="0"/>
                <a:ea typeface="华光行书_CNKI" panose="02000500000000000000" pitchFamily="2" charset="-122"/>
              </a:rPr>
              <a:t>employee.h</a:t>
            </a:r>
            <a:r>
              <a:rPr lang="en-US" altLang="en-US" sz="2400" kern="0" spc="-100" dirty="0">
                <a:solidFill>
                  <a:srgbClr val="104E87"/>
                </a:solidFill>
                <a:latin typeface="Comic Sans MS" panose="030F0702030302020204" pitchFamily="66" charset="0"/>
                <a:ea typeface="华光行书_CNKI" panose="02000500000000000000" pitchFamily="2" charset="-122"/>
              </a:rPr>
              <a:t>"</a:t>
            </a:r>
          </a:p>
          <a:p>
            <a:pPr>
              <a:lnSpc>
                <a:spcPct val="80000"/>
              </a:lnSpc>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//职工编号基数为1000</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int employee::</a:t>
            </a:r>
            <a:r>
              <a:rPr lang="en-US" altLang="en-US" sz="2400" kern="0" spc="-100" dirty="0" err="1">
                <a:solidFill>
                  <a:srgbClr val="104E87"/>
                </a:solidFill>
                <a:latin typeface="Comic Sans MS" panose="030F0702030302020204" pitchFamily="66" charset="0"/>
                <a:ea typeface="华光行书_CNKI" panose="02000500000000000000" pitchFamily="2" charset="-122"/>
              </a:rPr>
              <a:t>employeeNo</a:t>
            </a:r>
            <a:r>
              <a:rPr lang="en-US" altLang="en-US" sz="2400" kern="0" spc="-100" dirty="0">
                <a:solidFill>
                  <a:srgbClr val="104E87"/>
                </a:solidFill>
                <a:latin typeface="Comic Sans MS" panose="030F0702030302020204" pitchFamily="66" charset="0"/>
                <a:ea typeface="华光行书_CNKI" panose="02000500000000000000" pitchFamily="2" charset="-122"/>
              </a:rPr>
              <a:t>=1000;        </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employee::employee()</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  char </a:t>
            </a:r>
            <a:r>
              <a:rPr lang="en-US" altLang="en-US" sz="2400" kern="0" spc="-100" dirty="0" err="1">
                <a:solidFill>
                  <a:srgbClr val="104E87"/>
                </a:solidFill>
                <a:latin typeface="Comic Sans MS" panose="030F0702030302020204" pitchFamily="66" charset="0"/>
                <a:ea typeface="华光行书_CNKI" panose="02000500000000000000" pitchFamily="2" charset="-122"/>
              </a:rPr>
              <a:t>str</a:t>
            </a:r>
            <a:r>
              <a:rPr lang="en-US" altLang="en-US" sz="2400" kern="0" spc="-100" dirty="0">
                <a:solidFill>
                  <a:srgbClr val="104E87"/>
                </a:solidFill>
                <a:latin typeface="Comic Sans MS" panose="030F0702030302020204" pitchFamily="66" charset="0"/>
                <a:ea typeface="华光行书_CNKI" panose="02000500000000000000" pitchFamily="2" charset="-122"/>
              </a:rPr>
              <a:t>[30];</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   </a:t>
            </a:r>
            <a:r>
              <a:rPr lang="en-US" altLang="en-US" sz="2400" kern="0" spc="-100" dirty="0" err="1">
                <a:solidFill>
                  <a:srgbClr val="104E87"/>
                </a:solidFill>
                <a:latin typeface="Comic Sans MS" panose="030F0702030302020204" pitchFamily="66" charset="0"/>
                <a:ea typeface="华光行书_CNKI" panose="02000500000000000000" pitchFamily="2" charset="-122"/>
              </a:rPr>
              <a:t>cout</a:t>
            </a:r>
            <a:r>
              <a:rPr lang="en-US" altLang="en-US" sz="2400" kern="0" spc="-100" dirty="0">
                <a:solidFill>
                  <a:srgbClr val="104E87"/>
                </a:solidFill>
                <a:latin typeface="Comic Sans MS" panose="030F0702030302020204" pitchFamily="66" charset="0"/>
                <a:ea typeface="华光行书_CNKI" panose="02000500000000000000" pitchFamily="2" charset="-122"/>
              </a:rPr>
              <a:t>&lt;&lt;"please input employee's name: ";  </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   </a:t>
            </a:r>
            <a:r>
              <a:rPr lang="en-US" altLang="en-US" sz="2400" kern="0" spc="-100" dirty="0" err="1">
                <a:solidFill>
                  <a:srgbClr val="104E87"/>
                </a:solidFill>
                <a:latin typeface="Comic Sans MS" panose="030F0702030302020204" pitchFamily="66" charset="0"/>
                <a:ea typeface="华光行书_CNKI" panose="02000500000000000000" pitchFamily="2" charset="-122"/>
              </a:rPr>
              <a:t>cin</a:t>
            </a:r>
            <a:r>
              <a:rPr lang="en-US" altLang="en-US" sz="2400" kern="0" spc="-100" dirty="0">
                <a:solidFill>
                  <a:srgbClr val="104E87"/>
                </a:solidFill>
                <a:latin typeface="Comic Sans MS" panose="030F0702030302020204" pitchFamily="66" charset="0"/>
                <a:ea typeface="华光行书_CNKI" panose="02000500000000000000" pitchFamily="2" charset="-122"/>
              </a:rPr>
              <a:t>&gt;&gt;</a:t>
            </a:r>
            <a:r>
              <a:rPr lang="en-US" altLang="en-US" sz="2400" kern="0" spc="-100" dirty="0" err="1">
                <a:solidFill>
                  <a:srgbClr val="104E87"/>
                </a:solidFill>
                <a:latin typeface="Comic Sans MS" panose="030F0702030302020204" pitchFamily="66" charset="0"/>
                <a:ea typeface="华光行书_CNKI" panose="02000500000000000000" pitchFamily="2" charset="-122"/>
              </a:rPr>
              <a:t>str</a:t>
            </a:r>
            <a:r>
              <a:rPr lang="en-US" altLang="en-US" sz="2400" kern="0" spc="-100" dirty="0">
                <a:solidFill>
                  <a:srgbClr val="104E87"/>
                </a:solidFill>
                <a:latin typeface="Comic Sans MS" panose="030F0702030302020204" pitchFamily="66" charset="0"/>
                <a:ea typeface="华光行书_CNKI" panose="02000500000000000000" pitchFamily="2" charset="-122"/>
              </a:rPr>
              <a:t>;</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   name=new char[</a:t>
            </a:r>
            <a:r>
              <a:rPr lang="en-US" altLang="en-US" sz="2400" kern="0" spc="-100" dirty="0" err="1">
                <a:solidFill>
                  <a:srgbClr val="104E87"/>
                </a:solidFill>
                <a:latin typeface="Comic Sans MS" panose="030F0702030302020204" pitchFamily="66" charset="0"/>
                <a:ea typeface="华光行书_CNKI" panose="02000500000000000000" pitchFamily="2" charset="-122"/>
              </a:rPr>
              <a:t>strlen</a:t>
            </a:r>
            <a:r>
              <a:rPr lang="en-US" altLang="en-US" sz="2400" kern="0" spc="-100" dirty="0">
                <a:solidFill>
                  <a:srgbClr val="104E87"/>
                </a:solidFill>
                <a:latin typeface="Comic Sans MS" panose="030F0702030302020204" pitchFamily="66" charset="0"/>
                <a:ea typeface="华光行书_CNKI" panose="02000500000000000000" pitchFamily="2" charset="-122"/>
              </a:rPr>
              <a:t>(</a:t>
            </a:r>
            <a:r>
              <a:rPr lang="en-US" altLang="en-US" sz="2400" kern="0" spc="-100" dirty="0" err="1">
                <a:solidFill>
                  <a:srgbClr val="104E87"/>
                </a:solidFill>
                <a:latin typeface="Comic Sans MS" panose="030F0702030302020204" pitchFamily="66" charset="0"/>
                <a:ea typeface="华光行书_CNKI" panose="02000500000000000000" pitchFamily="2" charset="-122"/>
              </a:rPr>
              <a:t>str</a:t>
            </a:r>
            <a:r>
              <a:rPr lang="en-US" altLang="en-US" sz="2400" kern="0" spc="-100" dirty="0">
                <a:solidFill>
                  <a:srgbClr val="104E87"/>
                </a:solidFill>
                <a:latin typeface="Comic Sans MS" panose="030F0702030302020204" pitchFamily="66" charset="0"/>
                <a:ea typeface="华光行书_CNKI" panose="02000500000000000000" pitchFamily="2" charset="-122"/>
              </a:rPr>
              <a:t>)+1];</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   </a:t>
            </a:r>
            <a:r>
              <a:rPr lang="en-US" altLang="en-US" sz="2400" kern="0" spc="-100" dirty="0" err="1">
                <a:solidFill>
                  <a:srgbClr val="104E87"/>
                </a:solidFill>
                <a:latin typeface="Comic Sans MS" panose="030F0702030302020204" pitchFamily="66" charset="0"/>
                <a:ea typeface="华光行书_CNKI" panose="02000500000000000000" pitchFamily="2" charset="-122"/>
              </a:rPr>
              <a:t>strcpy</a:t>
            </a:r>
            <a:r>
              <a:rPr lang="en-US" altLang="en-US" sz="2400" kern="0" spc="-100" dirty="0">
                <a:solidFill>
                  <a:srgbClr val="104E87"/>
                </a:solidFill>
                <a:latin typeface="Comic Sans MS" panose="030F0702030302020204" pitchFamily="66" charset="0"/>
                <a:ea typeface="华光行书_CNKI" panose="02000500000000000000" pitchFamily="2" charset="-122"/>
              </a:rPr>
              <a:t>(</a:t>
            </a:r>
            <a:r>
              <a:rPr lang="en-US" altLang="en-US" sz="2400" kern="0" spc="-100" dirty="0" err="1">
                <a:solidFill>
                  <a:srgbClr val="104E87"/>
                </a:solidFill>
                <a:latin typeface="Comic Sans MS" panose="030F0702030302020204" pitchFamily="66" charset="0"/>
                <a:ea typeface="华光行书_CNKI" panose="02000500000000000000" pitchFamily="2" charset="-122"/>
              </a:rPr>
              <a:t>name,str</a:t>
            </a:r>
            <a:r>
              <a:rPr lang="en-US" altLang="en-US" sz="2400" kern="0" spc="-100" dirty="0">
                <a:solidFill>
                  <a:srgbClr val="104E87"/>
                </a:solidFill>
                <a:latin typeface="Comic Sans MS" panose="030F0702030302020204" pitchFamily="66" charset="0"/>
                <a:ea typeface="华光行书_CNKI" panose="02000500000000000000" pitchFamily="2" charset="-122"/>
              </a:rPr>
              <a:t>);</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   </a:t>
            </a:r>
            <a:r>
              <a:rPr lang="en-US" altLang="en-US" sz="2400" kern="0" spc="-100" dirty="0" err="1">
                <a:solidFill>
                  <a:srgbClr val="104E87"/>
                </a:solidFill>
                <a:latin typeface="Comic Sans MS" panose="030F0702030302020204" pitchFamily="66" charset="0"/>
                <a:ea typeface="华光行书_CNKI" panose="02000500000000000000" pitchFamily="2" charset="-122"/>
              </a:rPr>
              <a:t>individualEmpNo</a:t>
            </a:r>
            <a:r>
              <a:rPr lang="en-US" altLang="en-US" sz="2400" kern="0" spc="-100" dirty="0">
                <a:solidFill>
                  <a:srgbClr val="104E87"/>
                </a:solidFill>
                <a:latin typeface="Comic Sans MS" panose="030F0702030302020204" pitchFamily="66" charset="0"/>
                <a:ea typeface="华光行书_CNKI" panose="02000500000000000000" pitchFamily="2" charset="-122"/>
              </a:rPr>
              <a:t>=++</a:t>
            </a:r>
            <a:r>
              <a:rPr lang="en-US" altLang="en-US" sz="2400" kern="0" spc="-100" dirty="0" err="1">
                <a:solidFill>
                  <a:srgbClr val="104E87"/>
                </a:solidFill>
                <a:latin typeface="Comic Sans MS" panose="030F0702030302020204" pitchFamily="66" charset="0"/>
                <a:ea typeface="华光行书_CNKI" panose="02000500000000000000" pitchFamily="2" charset="-122"/>
              </a:rPr>
              <a:t>employeeNo</a:t>
            </a:r>
            <a:r>
              <a:rPr lang="en-US" altLang="en-US" sz="2400" kern="0" spc="-100" dirty="0">
                <a:solidFill>
                  <a:srgbClr val="104E87"/>
                </a:solidFill>
                <a:latin typeface="Comic Sans MS" panose="030F0702030302020204" pitchFamily="66" charset="0"/>
                <a:ea typeface="华光行书_CNKI" panose="02000500000000000000" pitchFamily="2" charset="-122"/>
              </a:rPr>
              <a:t>; </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   grade=1;                 </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   </a:t>
            </a:r>
            <a:r>
              <a:rPr lang="en-US" altLang="en-US" sz="2400" kern="0" spc="-100" dirty="0" err="1">
                <a:solidFill>
                  <a:srgbClr val="104E87"/>
                </a:solidFill>
                <a:latin typeface="Comic Sans MS" panose="030F0702030302020204" pitchFamily="66" charset="0"/>
                <a:ea typeface="华光行书_CNKI" panose="02000500000000000000" pitchFamily="2" charset="-122"/>
              </a:rPr>
              <a:t>accumPay</a:t>
            </a:r>
            <a:r>
              <a:rPr lang="en-US" altLang="en-US" sz="2400" kern="0" spc="-100" dirty="0">
                <a:solidFill>
                  <a:srgbClr val="104E87"/>
                </a:solidFill>
                <a:latin typeface="Comic Sans MS" panose="030F0702030302020204" pitchFamily="66" charset="0"/>
                <a:ea typeface="华光行书_CNKI" panose="02000500000000000000" pitchFamily="2" charset="-122"/>
              </a:rPr>
              <a:t>=0;</a:t>
            </a:r>
          </a:p>
          <a:p>
            <a:pPr>
              <a:lnSpc>
                <a:spcPct val="80000"/>
              </a:lnSpc>
              <a:buFont typeface="Wingdings" panose="05000000000000000000" pitchFamily="2" charset="2"/>
              <a:buNone/>
              <a:defRPr/>
            </a:pPr>
            <a:r>
              <a:rPr lang="en-US" altLang="en-US" sz="2400" kern="0" spc="-100" dirty="0">
                <a:solidFill>
                  <a:srgbClr val="104E87"/>
                </a:solidFill>
                <a:latin typeface="Comic Sans MS" panose="030F0702030302020204" pitchFamily="66" charset="0"/>
                <a:ea typeface="华光行书_CNKI" panose="02000500000000000000" pitchFamily="2" charset="-122"/>
              </a:rPr>
              <a:t>}</a:t>
            </a:r>
            <a:endParaRPr lang="en-US" altLang="zh-CN" sz="2400" kern="0" spc="-100" dirty="0">
              <a:solidFill>
                <a:srgbClr val="104E87"/>
              </a:solidFill>
              <a:latin typeface="Comic Sans MS" panose="030F0702030302020204" pitchFamily="66" charset="0"/>
              <a:ea typeface="华光行书_CNKI" panose="02000500000000000000" pitchFamily="2" charset="-122"/>
            </a:endParaRPr>
          </a:p>
        </p:txBody>
      </p:sp>
      <p:sp>
        <p:nvSpPr>
          <p:cNvPr id="3" name="Rectangle 2">
            <a:extLst>
              <a:ext uri="{FF2B5EF4-FFF2-40B4-BE49-F238E27FC236}">
                <a16:creationId xmlns:a16="http://schemas.microsoft.com/office/drawing/2014/main" id="{1FB9B1D8-6C70-438E-9507-9B89C3B134EE}"/>
              </a:ext>
            </a:extLst>
          </p:cNvPr>
          <p:cNvSpPr txBox="1">
            <a:spLocks noChangeArrowheads="1"/>
          </p:cNvSpPr>
          <p:nvPr/>
        </p:nvSpPr>
        <p:spPr>
          <a:xfrm>
            <a:off x="6237289" y="1255713"/>
            <a:ext cx="5141912" cy="3252787"/>
          </a:xfrm>
          <a:prstGeom prst="rect">
            <a:avLst/>
          </a:prstGeom>
        </p:spPr>
        <p:txBody>
          <a:bodyPr/>
          <a:lstStyle>
            <a:defPPr>
              <a:defRPr lang="en-US"/>
            </a:defPPr>
            <a:lvl1pPr marL="469900" indent="-469900" eaLnBrk="0" fontAlgn="base" hangingPunct="0">
              <a:lnSpc>
                <a:spcPct val="80000"/>
              </a:lnSpc>
              <a:spcBef>
                <a:spcPct val="20000"/>
              </a:spcBef>
              <a:spcAft>
                <a:spcPct val="0"/>
              </a:spcAft>
              <a:buClr>
                <a:schemeClr val="bg2"/>
              </a:buClr>
              <a:buSzPct val="70000"/>
              <a:buFont typeface="Wingdings" panose="05000000000000000000" pitchFamily="2" charset="2"/>
              <a:buNone/>
              <a:defRPr kern="0" spc="-100">
                <a:solidFill>
                  <a:srgbClr val="104E87"/>
                </a:solidFill>
                <a:latin typeface="Comic Sans MS" panose="030F0702030302020204" pitchFamily="66" charset="0"/>
                <a:ea typeface="华光隶变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employee::~employee()</a:t>
            </a:r>
          </a:p>
          <a:p>
            <a:r>
              <a:rPr lang="en-US" altLang="en-US" dirty="0"/>
              <a:t>{ delete [] name;}</a:t>
            </a:r>
          </a:p>
          <a:p>
            <a:endParaRPr lang="en-US" altLang="en-US" dirty="0"/>
          </a:p>
          <a:p>
            <a:r>
              <a:rPr lang="en-US" altLang="en-US" dirty="0"/>
              <a:t>void employee::promote(int </a:t>
            </a:r>
            <a:r>
              <a:rPr lang="en-US" altLang="en-US" dirty="0" err="1"/>
              <a:t>incre</a:t>
            </a:r>
            <a:r>
              <a:rPr lang="en-US" altLang="en-US" dirty="0"/>
              <a:t>)</a:t>
            </a:r>
          </a:p>
          <a:p>
            <a:r>
              <a:rPr lang="en-US" altLang="en-US" dirty="0"/>
              <a:t>{  grade+=</a:t>
            </a:r>
            <a:r>
              <a:rPr lang="en-US" altLang="en-US" dirty="0" err="1"/>
              <a:t>incre</a:t>
            </a:r>
            <a:r>
              <a:rPr lang="en-US" altLang="en-US" dirty="0"/>
              <a:t>;}</a:t>
            </a:r>
          </a:p>
          <a:p>
            <a:endParaRPr lang="en-US" altLang="en-US" dirty="0"/>
          </a:p>
          <a:p>
            <a:r>
              <a:rPr lang="en-US" altLang="en-US" dirty="0"/>
              <a:t>void employee::pay() { }</a:t>
            </a:r>
          </a:p>
          <a:p>
            <a:endParaRPr lang="en-US" altLang="en-US" dirty="0"/>
          </a:p>
          <a:p>
            <a:r>
              <a:rPr lang="en-US" altLang="en-US" dirty="0"/>
              <a:t>void employee::</a:t>
            </a:r>
            <a:r>
              <a:rPr lang="en-US" altLang="en-US" dirty="0" err="1"/>
              <a:t>displayStatus</a:t>
            </a:r>
            <a:r>
              <a:rPr lang="en-US" altLang="en-US" dirty="0"/>
              <a:t>() { }</a:t>
            </a:r>
          </a:p>
        </p:txBody>
      </p:sp>
    </p:spTree>
    <p:extLst>
      <p:ext uri="{BB962C8B-B14F-4D97-AF65-F5344CB8AC3E}">
        <p14:creationId xmlns:p14="http://schemas.microsoft.com/office/powerpoint/2010/main" val="30153926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0AFC097-6C1A-4D92-B4A0-733B7ED70D1A}"/>
              </a:ext>
            </a:extLst>
          </p:cNvPr>
          <p:cNvSpPr txBox="1">
            <a:spLocks noChangeArrowheads="1"/>
          </p:cNvSpPr>
          <p:nvPr/>
        </p:nvSpPr>
        <p:spPr>
          <a:xfrm>
            <a:off x="67818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6096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6096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6096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6096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6096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609600" rtl="0" eaLnBrk="0" fontAlgn="base" latinLnBrk="0"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609600" rtl="0" eaLnBrk="0" fontAlgn="base" latinLnBrk="0"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609600" rtl="0" eaLnBrk="0" fontAlgn="base" latinLnBrk="0"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609600" rtl="0" eaLnBrk="0" fontAlgn="base" latinLnBrk="0"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9pPr>
          </a:lstStyle>
          <a:p>
            <a:fld id="{A4007417-4E29-46FC-B3C0-A53957099035}" type="slidenum">
              <a:rPr lang="zh-CN" altLang="en-US" sz="1000" b="0" smtClean="0">
                <a:latin typeface="Arial" panose="020B0604020202020204" pitchFamily="34" charset="0"/>
              </a:rPr>
              <a:pPr/>
              <a:t>39</a:t>
            </a:fld>
            <a:endParaRPr lang="en-US" altLang="zh-CN" sz="1000" b="0">
              <a:latin typeface="Arial" panose="020B0604020202020204" pitchFamily="34" charset="0"/>
            </a:endParaRPr>
          </a:p>
        </p:txBody>
      </p:sp>
      <p:sp>
        <p:nvSpPr>
          <p:cNvPr id="4" name="Rectangle 2">
            <a:extLst>
              <a:ext uri="{FF2B5EF4-FFF2-40B4-BE49-F238E27FC236}">
                <a16:creationId xmlns:a16="http://schemas.microsoft.com/office/drawing/2014/main" id="{E43B42F7-F1CC-4CCD-87BF-B55A6B774793}"/>
              </a:ext>
            </a:extLst>
          </p:cNvPr>
          <p:cNvSpPr txBox="1">
            <a:spLocks noChangeArrowheads="1"/>
          </p:cNvSpPr>
          <p:nvPr/>
        </p:nvSpPr>
        <p:spPr>
          <a:xfrm>
            <a:off x="1" y="1568847"/>
            <a:ext cx="8686800" cy="5275658"/>
          </a:xfrm>
          <a:prstGeom prst="rect">
            <a:avLst/>
          </a:prstGeom>
          <a:solidFill>
            <a:schemeClr val="accent1">
              <a:lumMod val="20000"/>
              <a:lumOff val="80000"/>
            </a:schemeClr>
          </a:solidFill>
        </p:spPr>
        <p:txBody>
          <a:bodyPr/>
          <a:lstStyle>
            <a:defPPr>
              <a:defRPr lang="en-US"/>
            </a:defPPr>
            <a:lvl1pPr marL="469900" indent="-469900" eaLnBrk="0" fontAlgn="base" hangingPunct="0">
              <a:lnSpc>
                <a:spcPct val="80000"/>
              </a:lnSpc>
              <a:spcAft>
                <a:spcPct val="0"/>
              </a:spcAft>
              <a:buClr>
                <a:schemeClr val="bg2"/>
              </a:buClr>
              <a:buSzPct val="70000"/>
              <a:defRPr kern="0">
                <a:solidFill>
                  <a:srgbClr val="104E87"/>
                </a:solidFill>
                <a:latin typeface="Comic Sans MS" panose="030F0702030302020204" pitchFamily="66" charset="0"/>
                <a:ea typeface="华光隶变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technician::technician()</a:t>
            </a:r>
          </a:p>
          <a:p>
            <a:r>
              <a:rPr lang="en-US" altLang="en-US" dirty="0"/>
              <a:t>{</a:t>
            </a:r>
            <a:r>
              <a:rPr lang="en-US" altLang="en-US" dirty="0" err="1"/>
              <a:t>hourlyRate</a:t>
            </a:r>
            <a:r>
              <a:rPr lang="en-US" altLang="en-US" dirty="0"/>
              <a:t>=100; </a:t>
            </a:r>
          </a:p>
          <a:p>
            <a:r>
              <a:rPr lang="en-US" altLang="en-US" dirty="0"/>
              <a:t>promote(</a:t>
            </a:r>
            <a:r>
              <a:rPr lang="en-US" altLang="zh-CN" dirty="0"/>
              <a:t>2</a:t>
            </a:r>
            <a:r>
              <a:rPr lang="en-US" altLang="en-US" dirty="0"/>
              <a:t>)</a:t>
            </a:r>
            <a:r>
              <a:rPr lang="zh-CN" altLang="en-US" dirty="0"/>
              <a:t>；</a:t>
            </a:r>
            <a:endParaRPr lang="en-US" altLang="en-US" dirty="0"/>
          </a:p>
          <a:p>
            <a:r>
              <a:rPr lang="en-US" altLang="en-US" dirty="0"/>
              <a:t>}</a:t>
            </a:r>
          </a:p>
          <a:p>
            <a:endParaRPr lang="en-US" altLang="en-US" dirty="0"/>
          </a:p>
          <a:p>
            <a:r>
              <a:rPr lang="en-US" altLang="en-US" dirty="0"/>
              <a:t>void technician::pay()</a:t>
            </a:r>
          </a:p>
          <a:p>
            <a:r>
              <a:rPr lang="en-US" altLang="en-US" dirty="0"/>
              <a:t>{  </a:t>
            </a:r>
            <a:r>
              <a:rPr lang="en-US" altLang="en-US" dirty="0" err="1"/>
              <a:t>cout</a:t>
            </a:r>
            <a:r>
              <a:rPr lang="en-US" altLang="en-US" dirty="0"/>
              <a:t>&lt;&lt;"input "&lt;&lt;name&lt;&lt;"  the </a:t>
            </a:r>
            <a:r>
              <a:rPr lang="en-US" altLang="en-US" dirty="0" err="1"/>
              <a:t>workHours</a:t>
            </a:r>
            <a:r>
              <a:rPr lang="en-US" altLang="en-US" dirty="0"/>
              <a:t> of this month: ";  </a:t>
            </a:r>
          </a:p>
          <a:p>
            <a:r>
              <a:rPr lang="en-US" altLang="en-US" dirty="0"/>
              <a:t>   </a:t>
            </a:r>
            <a:r>
              <a:rPr lang="en-US" altLang="en-US" dirty="0" err="1"/>
              <a:t>cin</a:t>
            </a:r>
            <a:r>
              <a:rPr lang="en-US" altLang="en-US" dirty="0"/>
              <a:t>&gt;&gt;</a:t>
            </a:r>
            <a:r>
              <a:rPr lang="en-US" altLang="en-US" dirty="0" err="1"/>
              <a:t>workHours</a:t>
            </a:r>
            <a:r>
              <a:rPr lang="en-US" altLang="en-US" dirty="0"/>
              <a:t>;</a:t>
            </a:r>
          </a:p>
          <a:p>
            <a:r>
              <a:rPr lang="en-US" altLang="en-US" dirty="0"/>
              <a:t>   </a:t>
            </a:r>
            <a:r>
              <a:rPr lang="en-US" altLang="en-US" dirty="0" err="1"/>
              <a:t>accumPay</a:t>
            </a:r>
            <a:r>
              <a:rPr lang="en-US" altLang="en-US" dirty="0"/>
              <a:t>=</a:t>
            </a:r>
            <a:r>
              <a:rPr lang="en-US" altLang="en-US" dirty="0" err="1"/>
              <a:t>hourlyRate</a:t>
            </a:r>
            <a:r>
              <a:rPr lang="en-US" altLang="en-US" dirty="0"/>
              <a:t>*</a:t>
            </a:r>
            <a:r>
              <a:rPr lang="en-US" altLang="en-US" dirty="0" err="1"/>
              <a:t>workHours</a:t>
            </a:r>
            <a:r>
              <a:rPr lang="en-US" altLang="en-US" dirty="0"/>
              <a:t>; </a:t>
            </a:r>
          </a:p>
          <a:p>
            <a:r>
              <a:rPr lang="en-US" altLang="en-US" spc="-140" dirty="0"/>
              <a:t>   </a:t>
            </a:r>
            <a:r>
              <a:rPr lang="en-US" altLang="en-US" spc="-140" dirty="0" err="1"/>
              <a:t>cout</a:t>
            </a:r>
            <a:r>
              <a:rPr lang="en-US" altLang="en-US" spc="-140" dirty="0"/>
              <a:t>&lt;&lt;"Technician: "&lt;&lt;name&lt;&lt;"  No: "&lt;&lt;</a:t>
            </a:r>
            <a:r>
              <a:rPr lang="en-US" altLang="en-US" spc="-140" dirty="0" err="1"/>
              <a:t>individualEmpNo</a:t>
            </a:r>
            <a:endParaRPr lang="en-US" altLang="en-US" spc="-140" dirty="0"/>
          </a:p>
          <a:p>
            <a:r>
              <a:rPr lang="en-US" altLang="en-US" spc="-140" dirty="0"/>
              <a:t>&lt;&lt;"  month salary: "&lt;&lt;</a:t>
            </a:r>
            <a:r>
              <a:rPr lang="en-US" altLang="en-US" spc="-140" dirty="0" err="1"/>
              <a:t>accumPay</a:t>
            </a:r>
            <a:r>
              <a:rPr lang="en-US" altLang="en-US" spc="-140" dirty="0"/>
              <a:t>&lt;&lt;</a:t>
            </a:r>
            <a:r>
              <a:rPr lang="en-US" altLang="en-US" spc="-140" dirty="0" err="1"/>
              <a:t>endl</a:t>
            </a:r>
            <a:r>
              <a:rPr lang="en-US" altLang="en-US" spc="-140" dirty="0"/>
              <a:t>;</a:t>
            </a:r>
          </a:p>
          <a:p>
            <a:r>
              <a:rPr lang="en-US" altLang="en-US" dirty="0"/>
              <a:t>}</a:t>
            </a:r>
          </a:p>
          <a:p>
            <a:endParaRPr lang="en-US" altLang="en-US" dirty="0"/>
          </a:p>
          <a:p>
            <a:r>
              <a:rPr lang="en-US" altLang="en-US" dirty="0"/>
              <a:t>void technician::</a:t>
            </a:r>
            <a:r>
              <a:rPr lang="en-US" altLang="en-US" dirty="0" err="1"/>
              <a:t>displayStatus</a:t>
            </a:r>
            <a:r>
              <a:rPr lang="en-US" altLang="en-US" dirty="0"/>
              <a:t>()</a:t>
            </a:r>
          </a:p>
          <a:p>
            <a:r>
              <a:rPr lang="en-US" altLang="en-US" dirty="0"/>
              <a:t>{ </a:t>
            </a:r>
            <a:r>
              <a:rPr lang="en-US" altLang="en-US" spc="-140" dirty="0" err="1"/>
              <a:t>cout</a:t>
            </a:r>
            <a:r>
              <a:rPr lang="en-US" altLang="en-US" spc="-140" dirty="0"/>
              <a:t>&lt;&lt;"Technician: "&lt;&lt;name&lt;&lt;"  No: "&lt;&lt;</a:t>
            </a:r>
            <a:r>
              <a:rPr lang="en-US" altLang="en-US" spc="-140" dirty="0" err="1"/>
              <a:t>individualEmpNo</a:t>
            </a:r>
            <a:r>
              <a:rPr lang="en-US" altLang="en-US" spc="-140" dirty="0"/>
              <a:t>&lt;&lt;"  grade: “</a:t>
            </a:r>
          </a:p>
          <a:p>
            <a:r>
              <a:rPr lang="en-US" altLang="en-US" spc="-140" dirty="0"/>
              <a:t>&lt;&lt;grade&lt;&lt;"  this month salary: "&lt;&lt;</a:t>
            </a:r>
            <a:r>
              <a:rPr lang="en-US" altLang="en-US" spc="-140" dirty="0" err="1"/>
              <a:t>accumPay</a:t>
            </a:r>
            <a:r>
              <a:rPr lang="en-US" altLang="en-US" spc="-140" dirty="0"/>
              <a:t>&lt;&lt;</a:t>
            </a:r>
            <a:r>
              <a:rPr lang="en-US" altLang="en-US" spc="-140" dirty="0" err="1"/>
              <a:t>endl</a:t>
            </a:r>
            <a:r>
              <a:rPr lang="en-US" altLang="en-US" spc="-140" dirty="0"/>
              <a:t>;</a:t>
            </a:r>
          </a:p>
          <a:p>
            <a:r>
              <a:rPr lang="en-US" altLang="en-US" dirty="0"/>
              <a:t>}</a:t>
            </a:r>
          </a:p>
        </p:txBody>
      </p:sp>
      <p:sp>
        <p:nvSpPr>
          <p:cNvPr id="5" name="Rectangle 2">
            <a:extLst>
              <a:ext uri="{FF2B5EF4-FFF2-40B4-BE49-F238E27FC236}">
                <a16:creationId xmlns:a16="http://schemas.microsoft.com/office/drawing/2014/main" id="{D1601575-D02C-44C0-9729-1716CDA8FA72}"/>
              </a:ext>
            </a:extLst>
          </p:cNvPr>
          <p:cNvSpPr txBox="1">
            <a:spLocks noChangeArrowheads="1"/>
          </p:cNvSpPr>
          <p:nvPr/>
        </p:nvSpPr>
        <p:spPr>
          <a:xfrm>
            <a:off x="4294187" y="13495"/>
            <a:ext cx="7897813" cy="3110705"/>
          </a:xfrm>
          <a:prstGeom prst="rect">
            <a:avLst/>
          </a:prstGeom>
          <a:solidFill>
            <a:schemeClr val="accent3">
              <a:lumMod val="40000"/>
              <a:lumOff val="60000"/>
            </a:schemeClr>
          </a:solidFill>
        </p:spPr>
        <p:txBody>
          <a:bodyPr/>
          <a:lstStyle>
            <a:defPPr>
              <a:defRPr lang="en-US"/>
            </a:defPPr>
            <a:lvl1pPr marL="469900" indent="-469900" eaLnBrk="0" fontAlgn="base" hangingPunct="0">
              <a:lnSpc>
                <a:spcPct val="80000"/>
              </a:lnSpc>
              <a:spcAft>
                <a:spcPct val="0"/>
              </a:spcAft>
              <a:buClr>
                <a:schemeClr val="bg2"/>
              </a:buClr>
              <a:buSzPct val="70000"/>
              <a:defRPr kern="0">
                <a:solidFill>
                  <a:srgbClr val="104E87"/>
                </a:solidFill>
                <a:latin typeface="Comic Sans MS" panose="030F0702030302020204" pitchFamily="66" charset="0"/>
                <a:ea typeface="华光隶变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void manager::pay()</a:t>
            </a:r>
          </a:p>
          <a:p>
            <a:r>
              <a:rPr lang="en-US" altLang="en-US" dirty="0"/>
              <a:t>{ </a:t>
            </a:r>
            <a:r>
              <a:rPr lang="en-US" altLang="en-US" dirty="0" err="1"/>
              <a:t>accumPay</a:t>
            </a:r>
            <a:r>
              <a:rPr lang="en-US" altLang="en-US" dirty="0"/>
              <a:t>=</a:t>
            </a:r>
            <a:r>
              <a:rPr lang="en-US" altLang="en-US" dirty="0" err="1"/>
              <a:t>monthlyPay</a:t>
            </a:r>
            <a:r>
              <a:rPr lang="en-US" altLang="en-US" dirty="0"/>
              <a:t>;</a:t>
            </a:r>
          </a:p>
          <a:p>
            <a:r>
              <a:rPr lang="en-US" altLang="en-US" dirty="0"/>
              <a:t>   </a:t>
            </a:r>
            <a:r>
              <a:rPr lang="en-US" altLang="en-US" dirty="0" err="1"/>
              <a:t>cout</a:t>
            </a:r>
            <a:r>
              <a:rPr lang="en-US" altLang="en-US" dirty="0"/>
              <a:t>&lt;&lt;"Manager: "&lt;&lt;name&lt;&lt;"  No: "&lt;&lt;</a:t>
            </a:r>
            <a:r>
              <a:rPr lang="en-US" altLang="en-US" dirty="0" err="1"/>
              <a:t>individualEmpNo</a:t>
            </a:r>
            <a:r>
              <a:rPr lang="en-US" altLang="en-US" dirty="0"/>
              <a:t>   </a:t>
            </a:r>
          </a:p>
          <a:p>
            <a:r>
              <a:rPr lang="en-US" altLang="en-US" dirty="0"/>
              <a:t>       &lt;&lt;"  month salary: "&lt;&lt;</a:t>
            </a:r>
            <a:r>
              <a:rPr lang="en-US" altLang="en-US" dirty="0" err="1"/>
              <a:t>accumPay</a:t>
            </a:r>
            <a:r>
              <a:rPr lang="en-US" altLang="en-US" dirty="0"/>
              <a:t>&lt;&lt;</a:t>
            </a:r>
            <a:r>
              <a:rPr lang="en-US" altLang="en-US" dirty="0" err="1"/>
              <a:t>endl</a:t>
            </a:r>
            <a:r>
              <a:rPr lang="en-US" altLang="en-US" dirty="0"/>
              <a:t>;</a:t>
            </a:r>
          </a:p>
          <a:p>
            <a:r>
              <a:rPr lang="en-US" altLang="en-US" dirty="0"/>
              <a:t>}</a:t>
            </a:r>
          </a:p>
          <a:p>
            <a:endParaRPr lang="en-US" altLang="en-US" dirty="0"/>
          </a:p>
          <a:p>
            <a:r>
              <a:rPr lang="en-US" altLang="en-US" dirty="0"/>
              <a:t>void manager::</a:t>
            </a:r>
            <a:r>
              <a:rPr lang="en-US" altLang="en-US" dirty="0" err="1"/>
              <a:t>displayStatus</a:t>
            </a:r>
            <a:r>
              <a:rPr lang="en-US" altLang="en-US" dirty="0"/>
              <a:t>()</a:t>
            </a:r>
          </a:p>
          <a:p>
            <a:r>
              <a:rPr lang="en-US" altLang="en-US" dirty="0"/>
              <a:t>{ </a:t>
            </a:r>
            <a:r>
              <a:rPr lang="en-US" altLang="en-US" dirty="0" err="1"/>
              <a:t>cout</a:t>
            </a:r>
            <a:r>
              <a:rPr lang="en-US" altLang="en-US" dirty="0"/>
              <a:t>&lt;&lt;"Manager: "&lt;&lt;name&lt;&lt;"  No: "&lt;&lt;</a:t>
            </a:r>
            <a:r>
              <a:rPr lang="en-US" altLang="en-US" dirty="0" err="1"/>
              <a:t>individualEmpNo</a:t>
            </a:r>
            <a:endParaRPr lang="en-US" altLang="en-US" dirty="0"/>
          </a:p>
          <a:p>
            <a:r>
              <a:rPr lang="en-US" altLang="en-US" dirty="0"/>
              <a:t>       &lt;&lt;"  grade: "&lt;&lt;grade&lt;&lt;"  this month salary: "&lt;&lt;</a:t>
            </a:r>
            <a:r>
              <a:rPr lang="en-US" altLang="en-US" dirty="0" err="1"/>
              <a:t>accumPay</a:t>
            </a:r>
            <a:r>
              <a:rPr lang="en-US" altLang="en-US" dirty="0"/>
              <a:t>&lt;&lt;</a:t>
            </a:r>
            <a:r>
              <a:rPr lang="en-US" altLang="en-US" dirty="0" err="1"/>
              <a:t>endl</a:t>
            </a:r>
            <a:r>
              <a:rPr lang="en-US" altLang="en-US" dirty="0"/>
              <a:t>;</a:t>
            </a:r>
          </a:p>
          <a:p>
            <a:r>
              <a:rPr lang="en-US" altLang="en-US" dirty="0"/>
              <a:t>}</a:t>
            </a:r>
          </a:p>
          <a:p>
            <a:endParaRPr lang="en-US" altLang="en-US" dirty="0"/>
          </a:p>
        </p:txBody>
      </p:sp>
      <p:sp>
        <p:nvSpPr>
          <p:cNvPr id="7" name="文本框 6">
            <a:extLst>
              <a:ext uri="{FF2B5EF4-FFF2-40B4-BE49-F238E27FC236}">
                <a16:creationId xmlns:a16="http://schemas.microsoft.com/office/drawing/2014/main" id="{65CE79E4-92CB-499F-A3CC-96F0C64FF07A}"/>
              </a:ext>
            </a:extLst>
          </p:cNvPr>
          <p:cNvSpPr txBox="1"/>
          <p:nvPr/>
        </p:nvSpPr>
        <p:spPr>
          <a:xfrm>
            <a:off x="8686801" y="3064164"/>
            <a:ext cx="3505200" cy="1277594"/>
          </a:xfrm>
          <a:prstGeom prst="rect">
            <a:avLst/>
          </a:prstGeom>
          <a:solidFill>
            <a:schemeClr val="accent3">
              <a:lumMod val="40000"/>
              <a:lumOff val="60000"/>
            </a:schemeClr>
          </a:solidFill>
        </p:spPr>
        <p:txBody>
          <a:bodyPr/>
          <a:lstStyle>
            <a:defPPr>
              <a:defRPr lang="en-US"/>
            </a:defPPr>
            <a:lvl1pPr marL="469900" indent="-469900" eaLnBrk="0" fontAlgn="base" hangingPunct="0">
              <a:lnSpc>
                <a:spcPct val="80000"/>
              </a:lnSpc>
              <a:spcAft>
                <a:spcPct val="0"/>
              </a:spcAft>
              <a:buClr>
                <a:schemeClr val="bg2"/>
              </a:buClr>
              <a:buSzPct val="70000"/>
              <a:defRPr kern="0">
                <a:solidFill>
                  <a:srgbClr val="104E87"/>
                </a:solidFill>
                <a:latin typeface="Comic Sans MS" panose="030F0702030302020204" pitchFamily="66" charset="0"/>
                <a:ea typeface="华光隶变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manager::manager()</a:t>
            </a:r>
          </a:p>
          <a:p>
            <a:r>
              <a:rPr lang="en-US" altLang="en-US" dirty="0"/>
              <a:t>{  </a:t>
            </a:r>
            <a:r>
              <a:rPr lang="en-US" altLang="en-US" dirty="0" err="1"/>
              <a:t>monthlyPay</a:t>
            </a:r>
            <a:r>
              <a:rPr lang="en-US" altLang="en-US" dirty="0"/>
              <a:t>=8000; </a:t>
            </a:r>
          </a:p>
          <a:p>
            <a:r>
              <a:rPr lang="en-US" altLang="en-US" dirty="0"/>
              <a:t>promote(</a:t>
            </a:r>
            <a:r>
              <a:rPr lang="en-US" altLang="zh-CN" dirty="0"/>
              <a:t>3</a:t>
            </a:r>
            <a:r>
              <a:rPr lang="en-US" altLang="en-US" dirty="0"/>
              <a:t>)</a:t>
            </a:r>
            <a:r>
              <a:rPr lang="zh-CN" altLang="en-US" dirty="0"/>
              <a:t>；</a:t>
            </a:r>
            <a:endParaRPr lang="en-US" altLang="en-US" dirty="0"/>
          </a:p>
          <a:p>
            <a:r>
              <a:rPr lang="en-US" altLang="en-US" dirty="0"/>
              <a:t>}</a:t>
            </a:r>
          </a:p>
        </p:txBody>
      </p:sp>
    </p:spTree>
    <p:extLst>
      <p:ext uri="{BB962C8B-B14F-4D97-AF65-F5344CB8AC3E}">
        <p14:creationId xmlns:p14="http://schemas.microsoft.com/office/powerpoint/2010/main" val="4049532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8262A88-C6E8-400A-9B4B-9925B5AC87CC}"/>
              </a:ext>
            </a:extLst>
          </p:cNvPr>
          <p:cNvSpPr txBox="1">
            <a:spLocks noChangeArrowheads="1"/>
          </p:cNvSpPr>
          <p:nvPr/>
        </p:nvSpPr>
        <p:spPr>
          <a:xfrm>
            <a:off x="-1588" y="2043114"/>
            <a:ext cx="8785225" cy="4805362"/>
          </a:xfrm>
          <a:prstGeom prst="rect">
            <a:avLst/>
          </a:prstGeom>
          <a:solidFill>
            <a:schemeClr val="accent1">
              <a:lumMod val="20000"/>
              <a:lumOff val="80000"/>
            </a:schemeClr>
          </a:solidFill>
        </p:spPr>
        <p:txBody>
          <a:bodyPr/>
          <a:lstStyle>
            <a:defPPr>
              <a:defRPr lang="en-US"/>
            </a:defPPr>
            <a:lvl1pPr marL="469900" indent="-469900" eaLnBrk="0" fontAlgn="base" hangingPunct="0">
              <a:lnSpc>
                <a:spcPct val="80000"/>
              </a:lnSpc>
              <a:spcAft>
                <a:spcPct val="0"/>
              </a:spcAft>
              <a:buClr>
                <a:schemeClr val="bg2"/>
              </a:buClr>
              <a:buSzPct val="70000"/>
              <a:defRPr kern="0">
                <a:solidFill>
                  <a:srgbClr val="104E87"/>
                </a:solidFill>
                <a:latin typeface="Comic Sans MS" panose="030F0702030302020204" pitchFamily="66" charset="0"/>
                <a:ea typeface="华光隶变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ea typeface="华光行书_CNKI" panose="02000500000000000000" pitchFamily="2" charset="-122"/>
              </a:rPr>
              <a:t>salesman::salesman()</a:t>
            </a:r>
          </a:p>
          <a:p>
            <a:r>
              <a:rPr lang="en-US" altLang="en-US" dirty="0">
                <a:ea typeface="华光行书_CNKI" panose="02000500000000000000" pitchFamily="2" charset="-122"/>
              </a:rPr>
              <a:t>{</a:t>
            </a:r>
            <a:r>
              <a:rPr lang="en-US" altLang="en-US" dirty="0" err="1">
                <a:ea typeface="华光行书_CNKI" panose="02000500000000000000" pitchFamily="2" charset="-122"/>
              </a:rPr>
              <a:t>CommRate</a:t>
            </a:r>
            <a:r>
              <a:rPr lang="en-US" altLang="en-US" dirty="0">
                <a:ea typeface="华光行书_CNKI" panose="02000500000000000000" pitchFamily="2" charset="-122"/>
              </a:rPr>
              <a:t>=0.05; }</a:t>
            </a:r>
          </a:p>
          <a:p>
            <a:endParaRPr lang="en-US" altLang="en-US" dirty="0">
              <a:ea typeface="华光行书_CNKI" panose="02000500000000000000" pitchFamily="2" charset="-122"/>
            </a:endParaRPr>
          </a:p>
          <a:p>
            <a:r>
              <a:rPr lang="en-US" altLang="en-US" dirty="0">
                <a:ea typeface="华光行书_CNKI" panose="02000500000000000000" pitchFamily="2" charset="-122"/>
              </a:rPr>
              <a:t>void salesman::pay()</a:t>
            </a:r>
          </a:p>
          <a:p>
            <a:r>
              <a:rPr lang="en-US" altLang="en-US" dirty="0">
                <a:ea typeface="华光行书_CNKI" panose="02000500000000000000" pitchFamily="2" charset="-122"/>
              </a:rPr>
              <a:t>{</a:t>
            </a:r>
            <a:r>
              <a:rPr lang="en-US" altLang="en-US" dirty="0" err="1">
                <a:ea typeface="华光行书_CNKI" panose="02000500000000000000" pitchFamily="2" charset="-122"/>
              </a:rPr>
              <a:t>cout</a:t>
            </a:r>
            <a:r>
              <a:rPr lang="en-US" altLang="en-US" dirty="0">
                <a:ea typeface="华光行书_CNKI" panose="02000500000000000000" pitchFamily="2" charset="-122"/>
              </a:rPr>
              <a:t>&lt;&lt;"input "&lt;&lt;name&lt;&lt;"  the sales of this month: ";      </a:t>
            </a:r>
          </a:p>
          <a:p>
            <a:r>
              <a:rPr lang="en-US" altLang="en-US" dirty="0" err="1">
                <a:ea typeface="华光行书_CNKI" panose="02000500000000000000" pitchFamily="2" charset="-122"/>
              </a:rPr>
              <a:t>cin</a:t>
            </a:r>
            <a:r>
              <a:rPr lang="en-US" altLang="en-US" dirty="0">
                <a:ea typeface="华光行书_CNKI" panose="02000500000000000000" pitchFamily="2" charset="-122"/>
              </a:rPr>
              <a:t>&gt;&gt;sales;</a:t>
            </a:r>
          </a:p>
          <a:p>
            <a:r>
              <a:rPr lang="en-US" altLang="en-US" dirty="0">
                <a:ea typeface="华光行书_CNKI" panose="02000500000000000000" pitchFamily="2" charset="-122"/>
              </a:rPr>
              <a:t>   </a:t>
            </a:r>
            <a:r>
              <a:rPr lang="en-US" altLang="en-US" dirty="0" err="1">
                <a:ea typeface="华光行书_CNKI" panose="02000500000000000000" pitchFamily="2" charset="-122"/>
              </a:rPr>
              <a:t>accumPay</a:t>
            </a:r>
            <a:r>
              <a:rPr lang="en-US" altLang="en-US" dirty="0">
                <a:ea typeface="华光行书_CNKI" panose="02000500000000000000" pitchFamily="2" charset="-122"/>
              </a:rPr>
              <a:t>=sales*</a:t>
            </a:r>
            <a:r>
              <a:rPr lang="en-US" altLang="en-US" dirty="0" err="1">
                <a:ea typeface="华光行书_CNKI" panose="02000500000000000000" pitchFamily="2" charset="-122"/>
              </a:rPr>
              <a:t>CommRate</a:t>
            </a:r>
            <a:r>
              <a:rPr lang="en-US" altLang="en-US" dirty="0">
                <a:ea typeface="华光行书_CNKI" panose="02000500000000000000" pitchFamily="2" charset="-122"/>
              </a:rPr>
              <a:t>;            // </a:t>
            </a:r>
            <a:r>
              <a:rPr lang="en-US" altLang="en-US" dirty="0" err="1">
                <a:ea typeface="华光行书_CNKI" panose="02000500000000000000" pitchFamily="2" charset="-122"/>
              </a:rPr>
              <a:t>月薪</a:t>
            </a:r>
            <a:r>
              <a:rPr lang="en-US" altLang="en-US" dirty="0">
                <a:ea typeface="华光行书_CNKI" panose="02000500000000000000" pitchFamily="2" charset="-122"/>
              </a:rPr>
              <a:t>=</a:t>
            </a:r>
            <a:r>
              <a:rPr lang="en-US" altLang="en-US" dirty="0" err="1">
                <a:ea typeface="华光行书_CNKI" panose="02000500000000000000" pitchFamily="2" charset="-122"/>
              </a:rPr>
              <a:t>销售提成</a:t>
            </a:r>
            <a:endParaRPr lang="en-US" altLang="en-US" dirty="0">
              <a:ea typeface="华光行书_CNKI" panose="02000500000000000000" pitchFamily="2" charset="-122"/>
            </a:endParaRPr>
          </a:p>
          <a:p>
            <a:r>
              <a:rPr lang="en-US" altLang="en-US" dirty="0">
                <a:ea typeface="华光行书_CNKI" panose="02000500000000000000" pitchFamily="2" charset="-122"/>
              </a:rPr>
              <a:t>   </a:t>
            </a:r>
            <a:r>
              <a:rPr lang="en-US" altLang="en-US" dirty="0" err="1">
                <a:ea typeface="华光行书_CNKI" panose="02000500000000000000" pitchFamily="2" charset="-122"/>
              </a:rPr>
              <a:t>cout</a:t>
            </a:r>
            <a:r>
              <a:rPr lang="en-US" altLang="en-US" dirty="0">
                <a:ea typeface="华光行书_CNKI" panose="02000500000000000000" pitchFamily="2" charset="-122"/>
              </a:rPr>
              <a:t>&lt;&lt;"Salesman: "&lt;&lt;name&lt;&lt;"  No: "&lt;&lt;</a:t>
            </a:r>
            <a:r>
              <a:rPr lang="en-US" altLang="en-US" dirty="0" err="1">
                <a:ea typeface="华光行书_CNKI" panose="02000500000000000000" pitchFamily="2" charset="-122"/>
              </a:rPr>
              <a:t>individualEmpNo</a:t>
            </a:r>
            <a:endParaRPr lang="en-US" altLang="en-US" dirty="0">
              <a:ea typeface="华光行书_CNKI" panose="02000500000000000000" pitchFamily="2" charset="-122"/>
            </a:endParaRPr>
          </a:p>
          <a:p>
            <a:r>
              <a:rPr lang="en-US" altLang="en-US" dirty="0">
                <a:ea typeface="华光行书_CNKI" panose="02000500000000000000" pitchFamily="2" charset="-122"/>
              </a:rPr>
              <a:t>       &lt;&lt;"  month salary: "&lt;&lt;</a:t>
            </a:r>
            <a:r>
              <a:rPr lang="en-US" altLang="en-US" dirty="0" err="1">
                <a:ea typeface="华光行书_CNKI" panose="02000500000000000000" pitchFamily="2" charset="-122"/>
              </a:rPr>
              <a:t>accumPay</a:t>
            </a:r>
            <a:r>
              <a:rPr lang="en-US" altLang="en-US" dirty="0">
                <a:ea typeface="华光行书_CNKI" panose="02000500000000000000" pitchFamily="2" charset="-122"/>
              </a:rPr>
              <a:t>&lt;&lt;</a:t>
            </a:r>
            <a:r>
              <a:rPr lang="en-US" altLang="en-US" dirty="0" err="1">
                <a:ea typeface="华光行书_CNKI" panose="02000500000000000000" pitchFamily="2" charset="-122"/>
              </a:rPr>
              <a:t>endl</a:t>
            </a:r>
            <a:r>
              <a:rPr lang="en-US" altLang="en-US" dirty="0">
                <a:ea typeface="华光行书_CNKI" panose="02000500000000000000" pitchFamily="2" charset="-122"/>
              </a:rPr>
              <a:t>;</a:t>
            </a:r>
          </a:p>
          <a:p>
            <a:r>
              <a:rPr lang="en-US" altLang="en-US" dirty="0">
                <a:ea typeface="华光行书_CNKI" panose="02000500000000000000" pitchFamily="2" charset="-122"/>
              </a:rPr>
              <a:t>}</a:t>
            </a:r>
          </a:p>
          <a:p>
            <a:endParaRPr lang="en-US" altLang="en-US" dirty="0">
              <a:ea typeface="华光行书_CNKI" panose="02000500000000000000" pitchFamily="2" charset="-122"/>
            </a:endParaRPr>
          </a:p>
          <a:p>
            <a:r>
              <a:rPr lang="en-US" altLang="en-US" dirty="0">
                <a:ea typeface="华光行书_CNKI" panose="02000500000000000000" pitchFamily="2" charset="-122"/>
              </a:rPr>
              <a:t>void salesman::</a:t>
            </a:r>
            <a:r>
              <a:rPr lang="en-US" altLang="en-US" dirty="0" err="1">
                <a:ea typeface="华光行书_CNKI" panose="02000500000000000000" pitchFamily="2" charset="-122"/>
              </a:rPr>
              <a:t>displayStatus</a:t>
            </a:r>
            <a:r>
              <a:rPr lang="en-US" altLang="en-US" dirty="0">
                <a:ea typeface="华光行书_CNKI" panose="02000500000000000000" pitchFamily="2" charset="-122"/>
              </a:rPr>
              <a:t>()</a:t>
            </a:r>
          </a:p>
          <a:p>
            <a:r>
              <a:rPr lang="en-US" altLang="en-US" dirty="0">
                <a:ea typeface="华光行书_CNKI" panose="02000500000000000000" pitchFamily="2" charset="-122"/>
              </a:rPr>
              <a:t>{   </a:t>
            </a:r>
            <a:r>
              <a:rPr lang="en-US" altLang="en-US" dirty="0" err="1">
                <a:ea typeface="华光行书_CNKI" panose="02000500000000000000" pitchFamily="2" charset="-122"/>
              </a:rPr>
              <a:t>cout</a:t>
            </a:r>
            <a:r>
              <a:rPr lang="en-US" altLang="en-US" dirty="0">
                <a:ea typeface="华光行书_CNKI" panose="02000500000000000000" pitchFamily="2" charset="-122"/>
              </a:rPr>
              <a:t>&lt;&lt;"Salesman: "&lt;&lt;name&lt;&lt;"  No: "&lt;&lt;</a:t>
            </a:r>
            <a:r>
              <a:rPr lang="en-US" altLang="en-US" dirty="0" err="1">
                <a:ea typeface="华光行书_CNKI" panose="02000500000000000000" pitchFamily="2" charset="-122"/>
              </a:rPr>
              <a:t>individualEmpNo</a:t>
            </a:r>
            <a:endParaRPr lang="en-US" altLang="en-US" dirty="0">
              <a:ea typeface="华光行书_CNKI" panose="02000500000000000000" pitchFamily="2" charset="-122"/>
            </a:endParaRPr>
          </a:p>
          <a:p>
            <a:r>
              <a:rPr lang="en-US" altLang="en-US" dirty="0">
                <a:ea typeface="华光行书_CNKI" panose="02000500000000000000" pitchFamily="2" charset="-122"/>
              </a:rPr>
              <a:t>       &lt;&lt;"  grade: "&lt;&lt;grade&lt;&lt;"  this month salary: "&lt;&lt;</a:t>
            </a:r>
            <a:r>
              <a:rPr lang="en-US" altLang="en-US" dirty="0" err="1">
                <a:ea typeface="华光行书_CNKI" panose="02000500000000000000" pitchFamily="2" charset="-122"/>
              </a:rPr>
              <a:t>accumPay</a:t>
            </a:r>
            <a:r>
              <a:rPr lang="en-US" altLang="en-US" dirty="0">
                <a:ea typeface="华光行书_CNKI" panose="02000500000000000000" pitchFamily="2" charset="-122"/>
              </a:rPr>
              <a:t>&lt;&lt;</a:t>
            </a:r>
            <a:r>
              <a:rPr lang="en-US" altLang="en-US" dirty="0" err="1">
                <a:ea typeface="华光行书_CNKI" panose="02000500000000000000" pitchFamily="2" charset="-122"/>
              </a:rPr>
              <a:t>endl</a:t>
            </a:r>
            <a:r>
              <a:rPr lang="en-US" altLang="en-US" dirty="0">
                <a:ea typeface="华光行书_CNKI" panose="02000500000000000000" pitchFamily="2" charset="-122"/>
              </a:rPr>
              <a:t>;</a:t>
            </a:r>
          </a:p>
          <a:p>
            <a:r>
              <a:rPr lang="en-US" altLang="en-US" dirty="0">
                <a:ea typeface="华光行书_CNKI" panose="02000500000000000000" pitchFamily="2" charset="-122"/>
              </a:rPr>
              <a:t>}</a:t>
            </a:r>
          </a:p>
        </p:txBody>
      </p:sp>
      <p:sp>
        <p:nvSpPr>
          <p:cNvPr id="5" name="Rectangle 2">
            <a:extLst>
              <a:ext uri="{FF2B5EF4-FFF2-40B4-BE49-F238E27FC236}">
                <a16:creationId xmlns:a16="http://schemas.microsoft.com/office/drawing/2014/main" id="{E0EB9FBF-6622-4BF3-82E7-DF9802AD4CDC}"/>
              </a:ext>
            </a:extLst>
          </p:cNvPr>
          <p:cNvSpPr txBox="1">
            <a:spLocks noChangeArrowheads="1"/>
          </p:cNvSpPr>
          <p:nvPr/>
        </p:nvSpPr>
        <p:spPr>
          <a:xfrm>
            <a:off x="7861300" y="3051233"/>
            <a:ext cx="4394200" cy="1600199"/>
          </a:xfrm>
          <a:prstGeom prst="rect">
            <a:avLst/>
          </a:prstGeom>
          <a:solidFill>
            <a:schemeClr val="accent3">
              <a:lumMod val="40000"/>
              <a:lumOff val="60000"/>
            </a:schemeClr>
          </a:solidFill>
        </p:spPr>
        <p:txBody>
          <a:bodyPr/>
          <a:lstStyle>
            <a:defPPr>
              <a:defRPr lang="en-US"/>
            </a:defPPr>
            <a:lvl1pPr marL="469900" indent="-469900" eaLnBrk="0" fontAlgn="base" hangingPunct="0">
              <a:lnSpc>
                <a:spcPct val="80000"/>
              </a:lnSpc>
              <a:spcAft>
                <a:spcPct val="0"/>
              </a:spcAft>
              <a:buClr>
                <a:schemeClr val="bg2"/>
              </a:buClr>
              <a:buSzPct val="70000"/>
              <a:defRPr kern="0">
                <a:solidFill>
                  <a:srgbClr val="104E87"/>
                </a:solidFill>
                <a:latin typeface="Comic Sans MS" panose="030F0702030302020204" pitchFamily="66" charset="0"/>
                <a:ea typeface="华光隶变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err="1"/>
              <a:t>salesmanager</a:t>
            </a:r>
            <a:r>
              <a:rPr lang="en-US" altLang="en-US" dirty="0"/>
              <a:t>::</a:t>
            </a:r>
            <a:r>
              <a:rPr lang="en-US" altLang="en-US" dirty="0" err="1"/>
              <a:t>salesmanager</a:t>
            </a:r>
            <a:r>
              <a:rPr lang="en-US" altLang="en-US" dirty="0"/>
              <a:t>()</a:t>
            </a:r>
          </a:p>
          <a:p>
            <a:r>
              <a:rPr lang="en-US" altLang="en-US" dirty="0"/>
              <a:t>{  </a:t>
            </a:r>
            <a:r>
              <a:rPr lang="en-US" altLang="en-US" dirty="0" err="1"/>
              <a:t>monthlyPay</a:t>
            </a:r>
            <a:r>
              <a:rPr lang="en-US" altLang="en-US" dirty="0"/>
              <a:t>=5000;               </a:t>
            </a:r>
          </a:p>
          <a:p>
            <a:r>
              <a:rPr lang="en-US" altLang="en-US" dirty="0"/>
              <a:t>   </a:t>
            </a:r>
            <a:r>
              <a:rPr lang="en-US" altLang="en-US" dirty="0" err="1"/>
              <a:t>CommRate</a:t>
            </a:r>
            <a:r>
              <a:rPr lang="en-US" altLang="en-US" dirty="0"/>
              <a:t>=0.005;</a:t>
            </a:r>
          </a:p>
          <a:p>
            <a:r>
              <a:rPr lang="en-US" altLang="en-US" dirty="0"/>
              <a:t>   promote(</a:t>
            </a:r>
            <a:r>
              <a:rPr lang="en-US" altLang="zh-CN" dirty="0"/>
              <a:t>2</a:t>
            </a:r>
            <a:r>
              <a:rPr lang="en-US" altLang="en-US" dirty="0"/>
              <a:t>)</a:t>
            </a:r>
            <a:r>
              <a:rPr lang="zh-CN" altLang="en-US" dirty="0"/>
              <a:t>；</a:t>
            </a:r>
            <a:endParaRPr lang="en-US" altLang="en-US" dirty="0"/>
          </a:p>
          <a:p>
            <a:r>
              <a:rPr lang="en-US" altLang="en-US" dirty="0"/>
              <a:t>}</a:t>
            </a:r>
          </a:p>
        </p:txBody>
      </p:sp>
      <p:sp>
        <p:nvSpPr>
          <p:cNvPr id="4" name="Rectangle 2">
            <a:extLst>
              <a:ext uri="{FF2B5EF4-FFF2-40B4-BE49-F238E27FC236}">
                <a16:creationId xmlns:a16="http://schemas.microsoft.com/office/drawing/2014/main" id="{A53BB4C1-0AE6-4963-8A28-F0D7314938C2}"/>
              </a:ext>
            </a:extLst>
          </p:cNvPr>
          <p:cNvSpPr txBox="1">
            <a:spLocks noChangeArrowheads="1"/>
          </p:cNvSpPr>
          <p:nvPr/>
        </p:nvSpPr>
        <p:spPr>
          <a:xfrm>
            <a:off x="-1588" y="9524"/>
            <a:ext cx="6097588" cy="1793876"/>
          </a:xfrm>
          <a:prstGeom prst="rect">
            <a:avLst/>
          </a:prstGeom>
          <a:solidFill>
            <a:schemeClr val="accent3">
              <a:lumMod val="40000"/>
              <a:lumOff val="60000"/>
            </a:schemeClr>
          </a:solidFill>
        </p:spPr>
        <p:txBody>
          <a:bodyPr/>
          <a:lstStyle>
            <a:defPPr>
              <a:defRPr lang="en-US"/>
            </a:defPPr>
            <a:lvl1pPr marL="469900" indent="-469900" eaLnBrk="0" fontAlgn="base" hangingPunct="0">
              <a:lnSpc>
                <a:spcPct val="80000"/>
              </a:lnSpc>
              <a:spcAft>
                <a:spcPct val="0"/>
              </a:spcAft>
              <a:buClr>
                <a:schemeClr val="bg2"/>
              </a:buClr>
              <a:buSzPct val="70000"/>
              <a:defRPr kern="0">
                <a:solidFill>
                  <a:srgbClr val="104E87"/>
                </a:solidFill>
                <a:latin typeface="Comic Sans MS" panose="030F0702030302020204" pitchFamily="66" charset="0"/>
                <a:ea typeface="华光隶变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spc="-130" dirty="0"/>
              <a:t>void </a:t>
            </a:r>
            <a:r>
              <a:rPr lang="en-US" altLang="en-US" spc="-130" dirty="0" err="1"/>
              <a:t>salesmanager</a:t>
            </a:r>
            <a:r>
              <a:rPr lang="en-US" altLang="en-US" spc="-130" dirty="0"/>
              <a:t>::</a:t>
            </a:r>
            <a:r>
              <a:rPr lang="en-US" altLang="en-US" spc="-130" dirty="0" err="1"/>
              <a:t>displayStatus</a:t>
            </a:r>
            <a:r>
              <a:rPr lang="en-US" altLang="en-US" spc="-130" dirty="0"/>
              <a:t>()</a:t>
            </a:r>
          </a:p>
          <a:p>
            <a:r>
              <a:rPr lang="en-US" altLang="en-US" spc="-130" dirty="0"/>
              <a:t>{  </a:t>
            </a:r>
            <a:r>
              <a:rPr lang="en-US" altLang="en-US" spc="-130" dirty="0" err="1"/>
              <a:t>cout</a:t>
            </a:r>
            <a:r>
              <a:rPr lang="en-US" altLang="en-US" spc="-130" dirty="0"/>
              <a:t>&lt;&lt;"</a:t>
            </a:r>
            <a:r>
              <a:rPr lang="en-US" altLang="en-US" spc="-130" dirty="0" err="1"/>
              <a:t>salesmanager</a:t>
            </a:r>
            <a:r>
              <a:rPr lang="en-US" altLang="en-US" spc="-130" dirty="0"/>
              <a:t>: "&lt;&lt;name&lt;&lt;</a:t>
            </a:r>
          </a:p>
          <a:p>
            <a:r>
              <a:rPr lang="en-US" altLang="en-US" spc="-130" dirty="0"/>
              <a:t>"  No: "&lt;&lt;</a:t>
            </a:r>
            <a:r>
              <a:rPr lang="en-US" altLang="en-US" spc="-130" dirty="0" err="1"/>
              <a:t>individualEmpNo</a:t>
            </a:r>
            <a:r>
              <a:rPr lang="en-US" altLang="en-US" spc="-130" dirty="0"/>
              <a:t>&lt;&lt;"  grade: "&lt;&lt;grade</a:t>
            </a:r>
          </a:p>
          <a:p>
            <a:r>
              <a:rPr lang="en-US" altLang="en-US" spc="-130" dirty="0"/>
              <a:t>&lt;&lt;"  this month salary: "&lt;&lt;</a:t>
            </a:r>
            <a:r>
              <a:rPr lang="en-US" altLang="en-US" spc="-130" dirty="0" err="1"/>
              <a:t>accumPay</a:t>
            </a:r>
            <a:r>
              <a:rPr lang="en-US" altLang="en-US" spc="-130" dirty="0"/>
              <a:t>&lt;&lt;</a:t>
            </a:r>
            <a:r>
              <a:rPr lang="en-US" altLang="en-US" spc="-130" dirty="0" err="1"/>
              <a:t>endl</a:t>
            </a:r>
            <a:r>
              <a:rPr lang="en-US" altLang="en-US" spc="-130" dirty="0"/>
              <a:t>;</a:t>
            </a:r>
          </a:p>
          <a:p>
            <a:r>
              <a:rPr lang="en-US" altLang="en-US" spc="-130" dirty="0"/>
              <a:t>}</a:t>
            </a:r>
          </a:p>
        </p:txBody>
      </p:sp>
      <p:sp>
        <p:nvSpPr>
          <p:cNvPr id="7" name="文本框 6">
            <a:extLst>
              <a:ext uri="{FF2B5EF4-FFF2-40B4-BE49-F238E27FC236}">
                <a16:creationId xmlns:a16="http://schemas.microsoft.com/office/drawing/2014/main" id="{6B91B839-017C-494F-B0A1-5D95CAD96A50}"/>
              </a:ext>
            </a:extLst>
          </p:cNvPr>
          <p:cNvSpPr txBox="1"/>
          <p:nvPr/>
        </p:nvSpPr>
        <p:spPr>
          <a:xfrm>
            <a:off x="6096000" y="9524"/>
            <a:ext cx="6159500" cy="3050387"/>
          </a:xfrm>
          <a:prstGeom prst="rect">
            <a:avLst/>
          </a:prstGeom>
          <a:solidFill>
            <a:schemeClr val="accent3">
              <a:lumMod val="40000"/>
              <a:lumOff val="60000"/>
            </a:schemeClr>
          </a:solidFill>
        </p:spPr>
        <p:txBody>
          <a:bodyPr/>
          <a:lstStyle>
            <a:defPPr>
              <a:defRPr lang="en-US"/>
            </a:defPPr>
            <a:lvl1pPr marL="469900" indent="-469900" eaLnBrk="0" fontAlgn="base" hangingPunct="0">
              <a:lnSpc>
                <a:spcPct val="80000"/>
              </a:lnSpc>
              <a:spcAft>
                <a:spcPct val="0"/>
              </a:spcAft>
              <a:buClr>
                <a:schemeClr val="bg2"/>
              </a:buClr>
              <a:buSzPct val="70000"/>
              <a:defRPr kern="0" spc="-130">
                <a:solidFill>
                  <a:srgbClr val="104E87"/>
                </a:solidFill>
                <a:latin typeface="Comic Sans MS" panose="030F0702030302020204" pitchFamily="66" charset="0"/>
                <a:ea typeface="华光隶变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en-US" dirty="0"/>
              <a:t>void </a:t>
            </a:r>
            <a:r>
              <a:rPr lang="en-US" altLang="en-US" dirty="0" err="1"/>
              <a:t>salesmanager</a:t>
            </a:r>
            <a:r>
              <a:rPr lang="en-US" altLang="en-US" dirty="0"/>
              <a:t>::pay()</a:t>
            </a:r>
          </a:p>
          <a:p>
            <a:r>
              <a:rPr lang="en-US" altLang="en-US" dirty="0"/>
              <a:t>{  </a:t>
            </a:r>
            <a:r>
              <a:rPr lang="en-US" altLang="en-US" dirty="0" err="1"/>
              <a:t>cout</a:t>
            </a:r>
            <a:r>
              <a:rPr lang="en-US" altLang="en-US" dirty="0"/>
              <a:t>&lt;&lt;"input "&lt;&lt;employee::name</a:t>
            </a:r>
          </a:p>
          <a:p>
            <a:r>
              <a:rPr lang="en-US" altLang="en-US" dirty="0"/>
              <a:t>    &lt;&lt;" the total sales of the department of this month: ";</a:t>
            </a:r>
          </a:p>
          <a:p>
            <a:r>
              <a:rPr lang="en-US" altLang="en-US" dirty="0"/>
              <a:t>   </a:t>
            </a:r>
            <a:r>
              <a:rPr lang="en-US" altLang="en-US" dirty="0" err="1"/>
              <a:t>cin</a:t>
            </a:r>
            <a:r>
              <a:rPr lang="en-US" altLang="en-US" dirty="0"/>
              <a:t>&gt;&gt;sales;</a:t>
            </a:r>
          </a:p>
          <a:p>
            <a:r>
              <a:rPr lang="en-US" altLang="en-US" dirty="0"/>
              <a:t>   </a:t>
            </a:r>
            <a:r>
              <a:rPr lang="en-US" altLang="en-US" dirty="0" err="1"/>
              <a:t>accumPay</a:t>
            </a:r>
            <a:r>
              <a:rPr lang="en-US" altLang="en-US" dirty="0"/>
              <a:t>=</a:t>
            </a:r>
            <a:r>
              <a:rPr lang="en-US" altLang="en-US" dirty="0" err="1"/>
              <a:t>monthlyPay+CommRate</a:t>
            </a:r>
            <a:r>
              <a:rPr lang="en-US" altLang="en-US" dirty="0"/>
              <a:t>*sales;</a:t>
            </a:r>
          </a:p>
          <a:p>
            <a:r>
              <a:rPr lang="en-US" altLang="en-US" dirty="0"/>
              <a:t>   </a:t>
            </a:r>
            <a:r>
              <a:rPr lang="en-US" altLang="en-US" dirty="0" err="1"/>
              <a:t>cout</a:t>
            </a:r>
            <a:r>
              <a:rPr lang="en-US" altLang="en-US" dirty="0"/>
              <a:t>&lt;&lt;"salesman: "&lt;&lt;name&lt;&lt;"  No: "&lt;&lt;</a:t>
            </a:r>
            <a:r>
              <a:rPr lang="en-US" altLang="en-US" dirty="0" err="1"/>
              <a:t>individualEmpNo</a:t>
            </a:r>
            <a:endParaRPr lang="en-US" altLang="en-US" dirty="0"/>
          </a:p>
          <a:p>
            <a:r>
              <a:rPr lang="en-US" altLang="en-US" dirty="0"/>
              <a:t>       &lt;&lt;"  month salary: "&lt;&lt;</a:t>
            </a:r>
            <a:r>
              <a:rPr lang="en-US" altLang="en-US" dirty="0" err="1"/>
              <a:t>accumPay</a:t>
            </a:r>
            <a:r>
              <a:rPr lang="en-US" altLang="en-US" dirty="0"/>
              <a:t>&lt;&lt;</a:t>
            </a:r>
            <a:r>
              <a:rPr lang="en-US" altLang="en-US" dirty="0" err="1"/>
              <a:t>endl</a:t>
            </a:r>
            <a:r>
              <a:rPr lang="en-US" altLang="en-US" dirty="0"/>
              <a:t>;</a:t>
            </a:r>
          </a:p>
          <a:p>
            <a:r>
              <a:rPr lang="en-US" altLang="en-US" dirty="0"/>
              <a:t>}</a:t>
            </a:r>
          </a:p>
        </p:txBody>
      </p:sp>
    </p:spTree>
    <p:extLst>
      <p:ext uri="{BB962C8B-B14F-4D97-AF65-F5344CB8AC3E}">
        <p14:creationId xmlns:p14="http://schemas.microsoft.com/office/powerpoint/2010/main" val="41727773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1">
            <a:extLst>
              <a:ext uri="{FF2B5EF4-FFF2-40B4-BE49-F238E27FC236}">
                <a16:creationId xmlns:a16="http://schemas.microsoft.com/office/drawing/2014/main" id="{92B14339-D4A4-4672-BF37-F5251F66920A}"/>
              </a:ext>
            </a:extLst>
          </p:cNvPr>
          <p:cNvSpPr txBox="1">
            <a:spLocks/>
          </p:cNvSpPr>
          <p:nvPr/>
        </p:nvSpPr>
        <p:spPr>
          <a:xfrm>
            <a:off x="67818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609600" rtl="0" eaLnBrk="1" latinLnBrk="0" hangingPunct="1">
              <a:spcBef>
                <a:spcPct val="20000"/>
              </a:spcBef>
              <a:buClr>
                <a:schemeClr val="bg2"/>
              </a:buClr>
              <a:buSzPct val="70000"/>
              <a:buFont typeface="Wingdings" panose="05000000000000000000" pitchFamily="2" charset="2"/>
              <a:buChar char="o"/>
              <a:defRPr sz="3200" kern="1200">
                <a:solidFill>
                  <a:srgbClr val="0000FF"/>
                </a:solidFill>
                <a:latin typeface="Times New Roman" panose="02020603050405020304" pitchFamily="18" charset="0"/>
                <a:ea typeface="楷体_GB2312" pitchFamily="49" charset="-122"/>
                <a:cs typeface="+mn-cs"/>
              </a:defRPr>
            </a:lvl1pPr>
            <a:lvl2pPr marL="742950" indent="-285750" algn="l" defTabSz="609600" rtl="0" eaLnBrk="1" latinLnBrk="0" hangingPunct="1">
              <a:spcBef>
                <a:spcPct val="20000"/>
              </a:spcBef>
              <a:buClr>
                <a:schemeClr val="accent2"/>
              </a:buClr>
              <a:buSzPct val="75000"/>
              <a:buFont typeface="Wingdings" panose="05000000000000000000" pitchFamily="2" charset="2"/>
              <a:buChar char="n"/>
              <a:defRPr sz="2800" kern="1200">
                <a:solidFill>
                  <a:srgbClr val="0000FF"/>
                </a:solidFill>
                <a:latin typeface="Times New Roman" panose="02020603050405020304" pitchFamily="18" charset="0"/>
                <a:ea typeface="楷体_GB2312" pitchFamily="49" charset="-122"/>
                <a:cs typeface="+mn-cs"/>
              </a:defRPr>
            </a:lvl2pPr>
            <a:lvl3pPr marL="1143000" indent="-228600" algn="l" defTabSz="609600" rtl="0" eaLnBrk="1" latinLnBrk="0" hangingPunct="1">
              <a:spcBef>
                <a:spcPct val="20000"/>
              </a:spcBef>
              <a:buClr>
                <a:schemeClr val="bg2"/>
              </a:buClr>
              <a:buSzPct val="65000"/>
              <a:buFont typeface="Wingdings" panose="05000000000000000000" pitchFamily="2" charset="2"/>
              <a:buChar char="o"/>
              <a:defRPr sz="2400" kern="1200">
                <a:solidFill>
                  <a:srgbClr val="0000FF"/>
                </a:solidFill>
                <a:latin typeface="Times New Roman" panose="02020603050405020304" pitchFamily="18" charset="0"/>
                <a:ea typeface="楷体_GB2312" pitchFamily="49" charset="-122"/>
                <a:cs typeface="+mn-cs"/>
              </a:defRPr>
            </a:lvl3pPr>
            <a:lvl4pPr marL="1600200" indent="-228600" algn="l" defTabSz="609600" rtl="0" eaLnBrk="1" latinLnBrk="0" hangingPunct="1">
              <a:spcBef>
                <a:spcPct val="20000"/>
              </a:spcBef>
              <a:buClr>
                <a:schemeClr val="accent2"/>
              </a:buClr>
              <a:buSzPct val="75000"/>
              <a:buFont typeface="Wingdings" panose="05000000000000000000" pitchFamily="2" charset="2"/>
              <a:buChar char="n"/>
              <a:defRPr sz="2000" kern="1200">
                <a:solidFill>
                  <a:srgbClr val="0000FF"/>
                </a:solidFill>
                <a:latin typeface="Times New Roman" panose="02020603050405020304" pitchFamily="18" charset="0"/>
                <a:ea typeface="楷体_GB2312" pitchFamily="49" charset="-122"/>
                <a:cs typeface="+mn-cs"/>
              </a:defRPr>
            </a:lvl4pPr>
            <a:lvl5pPr marL="2057400" indent="-228600" algn="l" defTabSz="609600" rtl="0" eaLnBrk="1" latinLnBrk="0" hangingPunct="1">
              <a:spcBef>
                <a:spcPct val="20000"/>
              </a:spcBef>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5pPr>
            <a:lvl6pPr marL="2514600" indent="-228600" algn="l" defTabSz="609600" rtl="0" eaLnBrk="0" fontAlgn="base" latinLnBrk="0" hangingPunct="0">
              <a:spcBef>
                <a:spcPct val="20000"/>
              </a:spcBef>
              <a:spcAft>
                <a:spcPct val="0"/>
              </a:spcAft>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6pPr>
            <a:lvl7pPr marL="2971800" indent="-228600" algn="l" defTabSz="609600" rtl="0" eaLnBrk="0" fontAlgn="base" latinLnBrk="0" hangingPunct="0">
              <a:spcBef>
                <a:spcPct val="20000"/>
              </a:spcBef>
              <a:spcAft>
                <a:spcPct val="0"/>
              </a:spcAft>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7pPr>
            <a:lvl8pPr marL="3429000" indent="-228600" algn="l" defTabSz="609600" rtl="0" eaLnBrk="0" fontAlgn="base" latinLnBrk="0" hangingPunct="0">
              <a:spcBef>
                <a:spcPct val="20000"/>
              </a:spcBef>
              <a:spcAft>
                <a:spcPct val="0"/>
              </a:spcAft>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8pPr>
            <a:lvl9pPr marL="3886200" indent="-228600" algn="l" defTabSz="609600" rtl="0" eaLnBrk="0" fontAlgn="base" latinLnBrk="0" hangingPunct="0">
              <a:spcBef>
                <a:spcPct val="20000"/>
              </a:spcBef>
              <a:spcAft>
                <a:spcPct val="0"/>
              </a:spcAft>
              <a:buClr>
                <a:schemeClr val="accent1"/>
              </a:buClr>
              <a:buSzPct val="50000"/>
              <a:buFont typeface="Wingdings" panose="05000000000000000000" pitchFamily="2" charset="2"/>
              <a:buChar char="o"/>
              <a:defRPr sz="2000" kern="1200">
                <a:solidFill>
                  <a:srgbClr val="0000FF"/>
                </a:solidFill>
                <a:latin typeface="Times New Roman" panose="02020603050405020304" pitchFamily="18" charset="0"/>
                <a:ea typeface="楷体_GB2312" pitchFamily="49" charset="-122"/>
                <a:cs typeface="+mn-cs"/>
              </a:defRPr>
            </a:lvl9pPr>
          </a:lstStyle>
          <a:p>
            <a:pPr>
              <a:spcBef>
                <a:spcPct val="0"/>
              </a:spcBef>
              <a:buClrTx/>
              <a:buSzTx/>
              <a:buFontTx/>
              <a:buNone/>
            </a:pPr>
            <a:fld id="{487F66F9-5AA7-4DF4-912D-6BDDDAD21CE9}" type="slidenum">
              <a:rPr lang="zh-CN" altLang="en-US" sz="1000" smtClean="0">
                <a:solidFill>
                  <a:schemeClr val="tx1"/>
                </a:solidFill>
                <a:latin typeface="Arial" panose="020B0604020202020204" pitchFamily="34" charset="0"/>
                <a:ea typeface="宋体" panose="02010600030101010101" pitchFamily="2" charset="-122"/>
              </a:rPr>
              <a:pPr>
                <a:spcBef>
                  <a:spcPct val="0"/>
                </a:spcBef>
                <a:buClrTx/>
                <a:buSzTx/>
                <a:buFontTx/>
                <a:buNone/>
              </a:pPr>
              <a:t>41</a:t>
            </a:fld>
            <a:endParaRPr lang="en-US" altLang="zh-CN" sz="1000">
              <a:solidFill>
                <a:schemeClr val="tx1"/>
              </a:solidFill>
              <a:latin typeface="Arial" panose="020B0604020202020204" pitchFamily="34" charset="0"/>
              <a:ea typeface="宋体" panose="02010600030101010101" pitchFamily="2" charset="-122"/>
            </a:endParaRPr>
          </a:p>
        </p:txBody>
      </p:sp>
      <p:sp>
        <p:nvSpPr>
          <p:cNvPr id="26" name="Rectangle 2">
            <a:extLst>
              <a:ext uri="{FF2B5EF4-FFF2-40B4-BE49-F238E27FC236}">
                <a16:creationId xmlns:a16="http://schemas.microsoft.com/office/drawing/2014/main" id="{3ABFC034-66EF-4096-9028-340C7353FDB3}"/>
              </a:ext>
            </a:extLst>
          </p:cNvPr>
          <p:cNvSpPr txBox="1">
            <a:spLocks noChangeArrowheads="1"/>
          </p:cNvSpPr>
          <p:nvPr/>
        </p:nvSpPr>
        <p:spPr>
          <a:xfrm>
            <a:off x="678152" y="167212"/>
            <a:ext cx="9945920" cy="5753100"/>
          </a:xfrm>
          <a:prstGeom prst="rect">
            <a:avLst/>
          </a:prstGeom>
          <a:noFill/>
        </p:spPr>
        <p:txBody>
          <a:bodyPr/>
          <a:lstStyle>
            <a:defPPr>
              <a:defRPr lang="en-US"/>
            </a:defPPr>
            <a:lvl1pPr marL="469900" indent="-469900" eaLnBrk="0" fontAlgn="base" hangingPunct="0">
              <a:lnSpc>
                <a:spcPct val="80000"/>
              </a:lnSpc>
              <a:spcAft>
                <a:spcPct val="0"/>
              </a:spcAft>
              <a:buClr>
                <a:schemeClr val="bg2"/>
              </a:buClr>
              <a:buSzPct val="70000"/>
              <a:defRPr kern="0">
                <a:solidFill>
                  <a:srgbClr val="104E87"/>
                </a:solidFill>
                <a:latin typeface="Comic Sans MS" panose="030F0702030302020204" pitchFamily="66" charset="0"/>
                <a:ea typeface="华光隶变_CNKI" panose="02000500000000000000" pitchFamily="2" charset="-122"/>
              </a:defRPr>
            </a:lvl1pPr>
            <a:lvl2pPr marL="908050" indent="-436563" eaLnBrk="0" fontAlgn="base" hangingPunct="0">
              <a:spcBef>
                <a:spcPct val="20000"/>
              </a:spcBef>
              <a:spcAft>
                <a:spcPct val="0"/>
              </a:spcAft>
              <a:buClr>
                <a:schemeClr val="accent2"/>
              </a:buClr>
              <a:buSzPct val="75000"/>
              <a:buFont typeface="Wingdings" panose="05000000000000000000"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anose="05000000000000000000"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anose="05000000000000000000"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pPr>
              <a:lnSpc>
                <a:spcPct val="100000"/>
              </a:lnSpc>
            </a:pPr>
            <a:r>
              <a:rPr lang="en-US" altLang="en-US" dirty="0">
                <a:ea typeface="华光行书_CNKI" panose="02000500000000000000" pitchFamily="2" charset="-122"/>
              </a:rPr>
              <a:t>//APP.CPP</a:t>
            </a:r>
          </a:p>
          <a:p>
            <a:pPr>
              <a:lnSpc>
                <a:spcPct val="100000"/>
              </a:lnSpc>
            </a:pPr>
            <a:r>
              <a:rPr lang="en-US" altLang="en-US" dirty="0">
                <a:ea typeface="华光行书_CNKI" panose="02000500000000000000" pitchFamily="2" charset="-122"/>
              </a:rPr>
              <a:t>#include "</a:t>
            </a:r>
            <a:r>
              <a:rPr lang="en-US" altLang="en-US" dirty="0" err="1">
                <a:ea typeface="华光行书_CNKI" panose="02000500000000000000" pitchFamily="2" charset="-122"/>
              </a:rPr>
              <a:t>employee.h</a:t>
            </a:r>
            <a:r>
              <a:rPr lang="en-US" altLang="en-US" dirty="0">
                <a:ea typeface="华光行书_CNKI" panose="02000500000000000000" pitchFamily="2" charset="-122"/>
              </a:rPr>
              <a:t>"</a:t>
            </a:r>
          </a:p>
          <a:p>
            <a:pPr>
              <a:lnSpc>
                <a:spcPct val="100000"/>
              </a:lnSpc>
            </a:pPr>
            <a:r>
              <a:rPr lang="en-US" altLang="en-US" dirty="0">
                <a:ea typeface="华光行书_CNKI" panose="02000500000000000000" pitchFamily="2" charset="-122"/>
              </a:rPr>
              <a:t>int main()</a:t>
            </a:r>
          </a:p>
          <a:p>
            <a:pPr>
              <a:lnSpc>
                <a:spcPct val="100000"/>
              </a:lnSpc>
            </a:pPr>
            <a:r>
              <a:rPr lang="en-US" altLang="en-US" dirty="0">
                <a:ea typeface="华光行书_CNKI" panose="02000500000000000000" pitchFamily="2" charset="-122"/>
              </a:rPr>
              <a:t>{ manager m1;</a:t>
            </a:r>
            <a:r>
              <a:rPr lang="en-US" altLang="zh-CN" dirty="0">
                <a:ea typeface="华光行书_CNKI" panose="02000500000000000000" pitchFamily="2" charset="-122"/>
              </a:rPr>
              <a:t>  </a:t>
            </a:r>
            <a:r>
              <a:rPr lang="en-US" altLang="en-US" dirty="0">
                <a:ea typeface="华光行书_CNKI" panose="02000500000000000000" pitchFamily="2" charset="-122"/>
              </a:rPr>
              <a:t>  technician t1; </a:t>
            </a:r>
            <a:r>
              <a:rPr lang="en-US" altLang="zh-CN" dirty="0">
                <a:ea typeface="华光行书_CNKI" panose="02000500000000000000" pitchFamily="2" charset="-122"/>
              </a:rPr>
              <a:t> </a:t>
            </a:r>
            <a:r>
              <a:rPr lang="en-US" altLang="en-US" dirty="0">
                <a:ea typeface="华光行书_CNKI" panose="02000500000000000000" pitchFamily="2" charset="-122"/>
              </a:rPr>
              <a:t>  salesman s1;  </a:t>
            </a:r>
            <a:r>
              <a:rPr lang="en-US" altLang="en-US" dirty="0" err="1">
                <a:ea typeface="华光行书_CNKI" panose="02000500000000000000" pitchFamily="2" charset="-122"/>
              </a:rPr>
              <a:t>salesmanager</a:t>
            </a:r>
            <a:r>
              <a:rPr lang="en-US" altLang="en-US" dirty="0">
                <a:ea typeface="华光行书_CNKI" panose="02000500000000000000" pitchFamily="2" charset="-122"/>
              </a:rPr>
              <a:t> sm1;</a:t>
            </a:r>
          </a:p>
          <a:p>
            <a:pPr>
              <a:lnSpc>
                <a:spcPct val="100000"/>
              </a:lnSpc>
            </a:pPr>
            <a:r>
              <a:rPr lang="en-US" altLang="en-US" dirty="0">
                <a:ea typeface="华光行书_CNKI" panose="02000500000000000000" pitchFamily="2" charset="-122"/>
              </a:rPr>
              <a:t>  m1.promote(3);           // 经理m1升3级</a:t>
            </a:r>
          </a:p>
          <a:p>
            <a:pPr>
              <a:lnSpc>
                <a:spcPct val="100000"/>
              </a:lnSpc>
            </a:pPr>
            <a:r>
              <a:rPr lang="en-US" altLang="en-US" dirty="0">
                <a:ea typeface="华光行书_CNKI" panose="02000500000000000000" pitchFamily="2" charset="-122"/>
              </a:rPr>
              <a:t>  m1.pay();                // 计算经理m1的月薪</a:t>
            </a:r>
          </a:p>
          <a:p>
            <a:pPr>
              <a:lnSpc>
                <a:spcPct val="100000"/>
              </a:lnSpc>
            </a:pPr>
            <a:r>
              <a:rPr lang="en-US" altLang="en-US" dirty="0">
                <a:ea typeface="华光行书_CNKI" panose="02000500000000000000" pitchFamily="2" charset="-122"/>
              </a:rPr>
              <a:t>  m1.displayStatus();</a:t>
            </a:r>
          </a:p>
          <a:p>
            <a:pPr>
              <a:lnSpc>
                <a:spcPct val="100000"/>
              </a:lnSpc>
            </a:pPr>
            <a:r>
              <a:rPr lang="en-US" altLang="en-US" dirty="0">
                <a:ea typeface="华光行书_CNKI" panose="02000500000000000000" pitchFamily="2" charset="-122"/>
              </a:rPr>
              <a:t>  t1.promote(2);           // 技术人员t1升2级</a:t>
            </a:r>
          </a:p>
          <a:p>
            <a:pPr>
              <a:lnSpc>
                <a:spcPct val="100000"/>
              </a:lnSpc>
            </a:pPr>
            <a:r>
              <a:rPr lang="en-US" altLang="en-US" dirty="0">
                <a:ea typeface="华光行书_CNKI" panose="02000500000000000000" pitchFamily="2" charset="-122"/>
              </a:rPr>
              <a:t>  t1.pay();                // 计算技术人员t1的月薪</a:t>
            </a:r>
          </a:p>
          <a:p>
            <a:pPr>
              <a:lnSpc>
                <a:spcPct val="100000"/>
              </a:lnSpc>
            </a:pPr>
            <a:r>
              <a:rPr lang="en-US" altLang="en-US" dirty="0">
                <a:ea typeface="华光行书_CNKI" panose="02000500000000000000" pitchFamily="2" charset="-122"/>
              </a:rPr>
              <a:t>  t1.displayStatus();</a:t>
            </a:r>
          </a:p>
          <a:p>
            <a:pPr>
              <a:lnSpc>
                <a:spcPct val="100000"/>
              </a:lnSpc>
            </a:pPr>
            <a:r>
              <a:rPr lang="en-US" altLang="zh-CN" dirty="0">
                <a:ea typeface="华光行书_CNKI" panose="02000500000000000000" pitchFamily="2" charset="-122"/>
              </a:rPr>
              <a:t>  </a:t>
            </a:r>
            <a:r>
              <a:rPr lang="en-US" altLang="en-US" dirty="0">
                <a:ea typeface="华光行书_CNKI" panose="02000500000000000000" pitchFamily="2" charset="-122"/>
              </a:rPr>
              <a:t>s1.pay();                // 计算销售人员s1的月薪</a:t>
            </a:r>
          </a:p>
          <a:p>
            <a:pPr>
              <a:lnSpc>
                <a:spcPct val="100000"/>
              </a:lnSpc>
            </a:pPr>
            <a:r>
              <a:rPr lang="en-US" altLang="en-US" dirty="0">
                <a:ea typeface="华光行书_CNKI" panose="02000500000000000000" pitchFamily="2" charset="-122"/>
              </a:rPr>
              <a:t>  s1.displayStatus();      </a:t>
            </a:r>
          </a:p>
          <a:p>
            <a:pPr>
              <a:lnSpc>
                <a:spcPct val="100000"/>
              </a:lnSpc>
            </a:pPr>
            <a:r>
              <a:rPr lang="en-US" altLang="en-US" dirty="0">
                <a:ea typeface="华光行书_CNKI" panose="02000500000000000000" pitchFamily="2" charset="-122"/>
              </a:rPr>
              <a:t>  sm1.promote(2);          // 销售经理升2级</a:t>
            </a:r>
          </a:p>
          <a:p>
            <a:pPr>
              <a:lnSpc>
                <a:spcPct val="100000"/>
              </a:lnSpc>
            </a:pPr>
            <a:r>
              <a:rPr lang="en-US" altLang="en-US" dirty="0">
                <a:ea typeface="华光行书_CNKI" panose="02000500000000000000" pitchFamily="2" charset="-122"/>
              </a:rPr>
              <a:t>  sm1.pay();               // 计算销售经理sm1月薪</a:t>
            </a:r>
          </a:p>
          <a:p>
            <a:pPr>
              <a:lnSpc>
                <a:spcPct val="100000"/>
              </a:lnSpc>
            </a:pPr>
            <a:r>
              <a:rPr lang="en-US" altLang="en-US" dirty="0">
                <a:ea typeface="华光行书_CNKI" panose="02000500000000000000" pitchFamily="2" charset="-122"/>
              </a:rPr>
              <a:t>  sm1.displayStatus();</a:t>
            </a:r>
          </a:p>
          <a:p>
            <a:pPr>
              <a:lnSpc>
                <a:spcPct val="100000"/>
              </a:lnSpc>
            </a:pPr>
            <a:r>
              <a:rPr lang="en-US" altLang="en-US" dirty="0">
                <a:ea typeface="华光行书_CNKI" panose="02000500000000000000" pitchFamily="2" charset="-122"/>
              </a:rPr>
              <a:t>  return 0;</a:t>
            </a:r>
          </a:p>
          <a:p>
            <a:pPr>
              <a:lnSpc>
                <a:spcPct val="100000"/>
              </a:lnSpc>
            </a:pPr>
            <a:r>
              <a:rPr lang="en-US" altLang="en-US" dirty="0">
                <a:ea typeface="华光行书_CNKI" panose="02000500000000000000" pitchFamily="2" charset="-122"/>
              </a:rPr>
              <a:t>}</a:t>
            </a:r>
          </a:p>
        </p:txBody>
      </p:sp>
    </p:spTree>
    <p:extLst>
      <p:ext uri="{BB962C8B-B14F-4D97-AF65-F5344CB8AC3E}">
        <p14:creationId xmlns:p14="http://schemas.microsoft.com/office/powerpoint/2010/main" val="392956328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6AE6501-9483-4150-9EC0-422948B45706}"/>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3" name="文本框 2">
            <a:extLst>
              <a:ext uri="{FF2B5EF4-FFF2-40B4-BE49-F238E27FC236}">
                <a16:creationId xmlns:a16="http://schemas.microsoft.com/office/drawing/2014/main" id="{067111A5-2506-4410-A68A-73357EBBC7E4}"/>
              </a:ext>
            </a:extLst>
          </p:cNvPr>
          <p:cNvSpPr txBox="1"/>
          <p:nvPr/>
        </p:nvSpPr>
        <p:spPr>
          <a:xfrm>
            <a:off x="247718" y="224527"/>
            <a:ext cx="8273981"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zh-CN" altLang="en-US" dirty="0">
                <a:sym typeface="+mn-lt"/>
              </a:rPr>
              <a:t>作业</a:t>
            </a:r>
          </a:p>
        </p:txBody>
      </p:sp>
      <p:cxnSp>
        <p:nvCxnSpPr>
          <p:cNvPr id="4" name="直线连接符 6">
            <a:extLst>
              <a:ext uri="{FF2B5EF4-FFF2-40B4-BE49-F238E27FC236}">
                <a16:creationId xmlns:a16="http://schemas.microsoft.com/office/drawing/2014/main" id="{8A9C84FF-72D6-4448-BDA1-D987C24B4C5B}"/>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CC89A01B-F7A7-4595-8CE1-0465A0A50C26}"/>
              </a:ext>
            </a:extLst>
          </p:cNvPr>
          <p:cNvSpPr txBox="1"/>
          <p:nvPr/>
        </p:nvSpPr>
        <p:spPr>
          <a:xfrm>
            <a:off x="1587" y="1097327"/>
            <a:ext cx="4524114" cy="4247317"/>
          </a:xfrm>
          <a:prstGeom prst="rect">
            <a:avLst/>
          </a:prstGeom>
          <a:noFill/>
        </p:spPr>
        <p:txBody>
          <a:bodyPr wrap="square">
            <a:spAutoFit/>
          </a:bodyPr>
          <a:lstStyle>
            <a:defPPr>
              <a:defRPr lang="en-US"/>
            </a:defPPr>
            <a:lvl1pPr algn="just">
              <a:defRPr kern="100" spc="-150">
                <a:solidFill>
                  <a:srgbClr val="104E87"/>
                </a:solidFill>
                <a:effectLst/>
                <a:latin typeface="Comic Sans MS" panose="030F0702030302020204" pitchFamily="66" charset="0"/>
                <a:ea typeface="华光行书_CNKI" panose="02000500000000000000" pitchFamily="2" charset="-122"/>
              </a:defRPr>
            </a:lvl1pPr>
          </a:lstStyle>
          <a:p>
            <a:pPr>
              <a:spcBef>
                <a:spcPts val="1200"/>
              </a:spcBef>
            </a:pPr>
            <a:r>
              <a:rPr lang="zh-CN" altLang="en-US" sz="2400" kern="100" spc="-150" dirty="0">
                <a:solidFill>
                  <a:srgbClr val="104E87"/>
                </a:solidFill>
                <a:effectLst/>
                <a:latin typeface="Comic Sans MS" panose="030F0702030302020204" pitchFamily="66" charset="0"/>
                <a:ea typeface="华光行书_CNKI" panose="02000500000000000000" pitchFamily="2" charset="-122"/>
              </a:rPr>
              <a:t>第一题：</a:t>
            </a:r>
            <a:endParaRPr lang="en-US" altLang="zh-CN" dirty="0"/>
          </a:p>
          <a:p>
            <a:pPr>
              <a:spcBef>
                <a:spcPts val="1200"/>
              </a:spcBef>
            </a:pPr>
            <a:r>
              <a:rPr lang="zh-CN" altLang="zh-CN" dirty="0"/>
              <a:t>定义一个基类</a:t>
            </a:r>
            <a:r>
              <a:rPr lang="en-US" altLang="zh-CN" dirty="0" err="1"/>
              <a:t>BaseClass</a:t>
            </a:r>
            <a:r>
              <a:rPr lang="zh-CN" altLang="zh-CN" dirty="0"/>
              <a:t>类，有成员函数</a:t>
            </a:r>
            <a:r>
              <a:rPr lang="en-US" altLang="zh-CN" dirty="0"/>
              <a:t>fn1()</a:t>
            </a:r>
            <a:r>
              <a:rPr lang="zh-CN" altLang="zh-CN" dirty="0"/>
              <a:t>和</a:t>
            </a:r>
            <a:r>
              <a:rPr lang="en-US" altLang="zh-CN" dirty="0"/>
              <a:t>fn2()</a:t>
            </a:r>
            <a:r>
              <a:rPr lang="zh-CN" altLang="zh-CN" dirty="0"/>
              <a:t>，从它派生出</a:t>
            </a:r>
            <a:r>
              <a:rPr lang="en-US" altLang="zh-CN" dirty="0" err="1"/>
              <a:t>DerivedClass</a:t>
            </a:r>
            <a:r>
              <a:rPr lang="zh-CN" altLang="zh-CN" dirty="0"/>
              <a:t>类，重新定义了成员函数</a:t>
            </a:r>
            <a:r>
              <a:rPr lang="en-US" altLang="zh-CN" dirty="0"/>
              <a:t>fn1()</a:t>
            </a:r>
            <a:r>
              <a:rPr lang="zh-CN" altLang="zh-CN" dirty="0"/>
              <a:t>和</a:t>
            </a:r>
            <a:r>
              <a:rPr lang="en-US" altLang="zh-CN" dirty="0"/>
              <a:t>fn2()</a:t>
            </a:r>
            <a:r>
              <a:rPr lang="zh-CN" altLang="zh-CN" dirty="0"/>
              <a:t>。</a:t>
            </a:r>
            <a:endParaRPr lang="en-US" altLang="zh-CN" dirty="0"/>
          </a:p>
          <a:p>
            <a:pPr>
              <a:spcBef>
                <a:spcPts val="1200"/>
              </a:spcBef>
            </a:pPr>
            <a:r>
              <a:rPr lang="zh-CN" altLang="zh-CN" dirty="0"/>
              <a:t>在主函数中声明</a:t>
            </a:r>
            <a:r>
              <a:rPr lang="en-US" altLang="zh-CN" dirty="0" err="1"/>
              <a:t>DerivedClass</a:t>
            </a:r>
            <a:r>
              <a:rPr lang="zh-CN" altLang="zh-CN" dirty="0"/>
              <a:t>类对象，分别用</a:t>
            </a:r>
            <a:r>
              <a:rPr lang="en-US" altLang="zh-CN" dirty="0" err="1"/>
              <a:t>DerivedClass</a:t>
            </a:r>
            <a:r>
              <a:rPr lang="zh-CN" altLang="zh-CN" dirty="0"/>
              <a:t>的类对象、</a:t>
            </a:r>
            <a:r>
              <a:rPr lang="en-US" altLang="zh-CN" dirty="0" err="1"/>
              <a:t>BaseClass</a:t>
            </a:r>
            <a:r>
              <a:rPr lang="zh-CN" altLang="zh-CN" dirty="0"/>
              <a:t>类指针和</a:t>
            </a:r>
            <a:r>
              <a:rPr lang="en-US" altLang="zh-CN" dirty="0" err="1"/>
              <a:t>DerivedClass</a:t>
            </a:r>
            <a:r>
              <a:rPr lang="zh-CN" altLang="zh-CN" dirty="0"/>
              <a:t>类指针调用</a:t>
            </a:r>
            <a:r>
              <a:rPr lang="en-US" altLang="zh-CN" dirty="0"/>
              <a:t>fn1</a:t>
            </a:r>
            <a:r>
              <a:rPr lang="zh-CN" altLang="zh-CN" dirty="0"/>
              <a:t>和</a:t>
            </a:r>
            <a:r>
              <a:rPr lang="en-US" altLang="zh-CN" dirty="0"/>
              <a:t>fn2</a:t>
            </a:r>
            <a:r>
              <a:rPr lang="zh-CN" altLang="zh-CN" dirty="0"/>
              <a:t>，观察运行结果。</a:t>
            </a:r>
          </a:p>
          <a:p>
            <a:pPr>
              <a:spcBef>
                <a:spcPts val="1200"/>
              </a:spcBef>
            </a:pPr>
            <a:r>
              <a:rPr lang="en-US" altLang="zh-CN" dirty="0"/>
              <a:t> </a:t>
            </a:r>
            <a:endParaRPr lang="zh-CN" altLang="zh-CN" dirty="0"/>
          </a:p>
        </p:txBody>
      </p:sp>
      <p:sp>
        <p:nvSpPr>
          <p:cNvPr id="7" name="文本框 6">
            <a:extLst>
              <a:ext uri="{FF2B5EF4-FFF2-40B4-BE49-F238E27FC236}">
                <a16:creationId xmlns:a16="http://schemas.microsoft.com/office/drawing/2014/main" id="{7A91DF31-AAD3-47D1-9AFE-EC531A11F939}"/>
              </a:ext>
            </a:extLst>
          </p:cNvPr>
          <p:cNvSpPr txBox="1"/>
          <p:nvPr/>
        </p:nvSpPr>
        <p:spPr>
          <a:xfrm>
            <a:off x="5133049" y="905715"/>
            <a:ext cx="6792752" cy="6001643"/>
          </a:xfrm>
          <a:prstGeom prst="rect">
            <a:avLst/>
          </a:prstGeom>
          <a:noFill/>
        </p:spPr>
        <p:txBody>
          <a:bodyPr wrap="square">
            <a:spAutoFit/>
          </a:bodyPr>
          <a:lstStyle/>
          <a:p>
            <a:pPr algn="just"/>
            <a:r>
              <a:rPr lang="zh-CN" altLang="en-US" kern="100" spc="-150" dirty="0">
                <a:solidFill>
                  <a:srgbClr val="104E87"/>
                </a:solidFill>
                <a:latin typeface="Comic Sans MS" panose="030F0702030302020204" pitchFamily="66" charset="0"/>
                <a:ea typeface="华光行书_CNKI" panose="02000500000000000000" pitchFamily="2" charset="-122"/>
              </a:rPr>
              <a:t>第二题：</a:t>
            </a:r>
            <a:endParaRPr lang="en-US" altLang="zh-CN" sz="2400" kern="100" spc="-150" dirty="0">
              <a:solidFill>
                <a:srgbClr val="104E87"/>
              </a:solidFill>
              <a:effectLst/>
              <a:latin typeface="Comic Sans MS" panose="030F0702030302020204" pitchFamily="66" charset="0"/>
              <a:ea typeface="华光行书_CNKI" panose="02000500000000000000" pitchFamily="2" charset="-122"/>
            </a:endParaRPr>
          </a:p>
          <a:p>
            <a:pPr algn="just"/>
            <a:r>
              <a:rPr lang="en-US" altLang="zh-CN" sz="2400" kern="100" spc="-150" dirty="0">
                <a:solidFill>
                  <a:srgbClr val="104E87"/>
                </a:solidFill>
                <a:effectLst/>
                <a:latin typeface="Comic Sans MS" panose="030F0702030302020204" pitchFamily="66" charset="0"/>
                <a:ea typeface="华光行书_CNKI" panose="02000500000000000000" pitchFamily="2" charset="-122"/>
              </a:rPr>
              <a:t>1</a:t>
            </a:r>
            <a:r>
              <a:rPr lang="zh-CN" altLang="zh-CN" sz="2400" kern="100" spc="-150" dirty="0">
                <a:solidFill>
                  <a:srgbClr val="104E87"/>
                </a:solidFill>
                <a:effectLst/>
                <a:latin typeface="Comic Sans MS" panose="030F0702030302020204" pitchFamily="66" charset="0"/>
                <a:ea typeface="华光行书_CNKI" panose="02000500000000000000" pitchFamily="2" charset="-122"/>
              </a:rPr>
              <a:t>）设计人员类</a:t>
            </a:r>
            <a:r>
              <a:rPr lang="en-US" altLang="zh-CN" sz="2400" kern="100" spc="-150" dirty="0">
                <a:solidFill>
                  <a:srgbClr val="104E87"/>
                </a:solidFill>
                <a:effectLst/>
                <a:latin typeface="Comic Sans MS" panose="030F0702030302020204" pitchFamily="66" charset="0"/>
                <a:ea typeface="华光行书_CNKI" panose="02000500000000000000" pitchFamily="2" charset="-122"/>
              </a:rPr>
              <a:t>Person</a:t>
            </a:r>
            <a:r>
              <a:rPr lang="zh-CN" altLang="zh-CN" sz="2400" kern="100" spc="-150" dirty="0">
                <a:solidFill>
                  <a:srgbClr val="104E87"/>
                </a:solidFill>
                <a:effectLst/>
                <a:latin typeface="Comic Sans MS" panose="030F0702030302020204" pitchFamily="66" charset="0"/>
                <a:ea typeface="华光行书_CNKI" panose="02000500000000000000" pitchFamily="2" charset="-122"/>
              </a:rPr>
              <a:t>，</a:t>
            </a:r>
          </a:p>
          <a:p>
            <a:pPr algn="just"/>
            <a:r>
              <a:rPr lang="zh-CN" altLang="zh-CN" sz="2400" kern="100" spc="-150" dirty="0">
                <a:solidFill>
                  <a:srgbClr val="104E87"/>
                </a:solidFill>
                <a:effectLst/>
                <a:latin typeface="Comic Sans MS" panose="030F0702030302020204" pitchFamily="66" charset="0"/>
                <a:ea typeface="华光行书_CNKI" panose="02000500000000000000" pitchFamily="2" charset="-122"/>
              </a:rPr>
              <a:t>数据成员：姓名、性别、年龄。</a:t>
            </a:r>
          </a:p>
          <a:p>
            <a:pPr algn="just"/>
            <a:r>
              <a:rPr lang="zh-CN" altLang="zh-CN" sz="2400" kern="100" spc="-150" dirty="0">
                <a:solidFill>
                  <a:srgbClr val="104E87"/>
                </a:solidFill>
                <a:effectLst/>
                <a:latin typeface="Comic Sans MS" panose="030F0702030302020204" pitchFamily="66" charset="0"/>
                <a:ea typeface="华光行书_CNKI" panose="02000500000000000000" pitchFamily="2" charset="-122"/>
              </a:rPr>
              <a:t>成员函数：构造函数</a:t>
            </a:r>
          </a:p>
          <a:p>
            <a:pPr algn="just"/>
            <a:r>
              <a:rPr lang="en-US" altLang="zh-CN" sz="2400" kern="100" spc="-150" dirty="0">
                <a:solidFill>
                  <a:srgbClr val="104E87"/>
                </a:solidFill>
                <a:effectLst/>
                <a:latin typeface="Comic Sans MS" panose="030F0702030302020204" pitchFamily="66" charset="0"/>
                <a:ea typeface="华光行书_CNKI" panose="02000500000000000000" pitchFamily="2" charset="-122"/>
              </a:rPr>
              <a:t>	</a:t>
            </a:r>
            <a:r>
              <a:rPr lang="en-US" altLang="zh-CN" kern="100" spc="-150" dirty="0">
                <a:solidFill>
                  <a:srgbClr val="104E87"/>
                </a:solidFill>
                <a:latin typeface="Comic Sans MS" panose="030F0702030302020204" pitchFamily="66" charset="0"/>
                <a:ea typeface="华光行书_CNKI" panose="02000500000000000000" pitchFamily="2" charset="-122"/>
              </a:rPr>
              <a:t>	   </a:t>
            </a:r>
            <a:r>
              <a:rPr lang="en-US" altLang="zh-CN" sz="2400" kern="100" spc="-150" dirty="0">
                <a:solidFill>
                  <a:srgbClr val="104E87"/>
                </a:solidFill>
                <a:effectLst/>
                <a:latin typeface="Comic Sans MS" panose="030F0702030302020204" pitchFamily="66" charset="0"/>
                <a:ea typeface="华光行书_CNKI" panose="02000500000000000000" pitchFamily="2" charset="-122"/>
              </a:rPr>
              <a:t>void </a:t>
            </a:r>
            <a:r>
              <a:rPr lang="en-US" altLang="zh-CN" sz="2400" kern="100" spc="-150" dirty="0" err="1">
                <a:solidFill>
                  <a:srgbClr val="104E87"/>
                </a:solidFill>
                <a:effectLst/>
                <a:latin typeface="Comic Sans MS" panose="030F0702030302020204" pitchFamily="66" charset="0"/>
                <a:ea typeface="华光行书_CNKI" panose="02000500000000000000" pitchFamily="2" charset="-122"/>
              </a:rPr>
              <a:t>print_info</a:t>
            </a:r>
            <a:r>
              <a:rPr lang="en-US" altLang="zh-CN" sz="2400" kern="100" spc="-150" dirty="0">
                <a:solidFill>
                  <a:srgbClr val="104E87"/>
                </a:solidFill>
                <a:effectLst/>
                <a:latin typeface="Comic Sans MS" panose="030F0702030302020204" pitchFamily="66" charset="0"/>
                <a:ea typeface="华光行书_CNKI" panose="02000500000000000000" pitchFamily="2" charset="-122"/>
              </a:rPr>
              <a:t>()</a:t>
            </a:r>
            <a:r>
              <a:rPr lang="zh-CN" altLang="zh-CN" sz="2400" kern="100" spc="-150" dirty="0">
                <a:solidFill>
                  <a:srgbClr val="104E87"/>
                </a:solidFill>
                <a:effectLst/>
                <a:latin typeface="Comic Sans MS" panose="030F0702030302020204" pitchFamily="66" charset="0"/>
                <a:ea typeface="华光行书_CNKI" panose="02000500000000000000" pitchFamily="2" charset="-122"/>
              </a:rPr>
              <a:t>（输出数据成员）；</a:t>
            </a:r>
          </a:p>
          <a:p>
            <a:pPr algn="just"/>
            <a:r>
              <a:rPr lang="zh-CN" altLang="zh-CN" sz="2400" kern="100" spc="-150" dirty="0">
                <a:solidFill>
                  <a:srgbClr val="104E87"/>
                </a:solidFill>
                <a:effectLst/>
                <a:latin typeface="Comic Sans MS" panose="030F0702030302020204" pitchFamily="66" charset="0"/>
                <a:ea typeface="华光行书_CNKI" panose="02000500000000000000" pitchFamily="2" charset="-122"/>
              </a:rPr>
              <a:t>要求：姓名定义为</a:t>
            </a:r>
            <a:r>
              <a:rPr lang="en-US" altLang="zh-CN" sz="2400" kern="100" spc="-150" dirty="0">
                <a:solidFill>
                  <a:srgbClr val="104E87"/>
                </a:solidFill>
                <a:effectLst/>
                <a:latin typeface="Comic Sans MS" panose="030F0702030302020204" pitchFamily="66" charset="0"/>
                <a:ea typeface="华光行书_CNKI" panose="02000500000000000000" pitchFamily="2" charset="-122"/>
              </a:rPr>
              <a:t>char*</a:t>
            </a:r>
            <a:r>
              <a:rPr lang="zh-CN" altLang="zh-CN" sz="2400" kern="100" spc="-150" dirty="0">
                <a:solidFill>
                  <a:srgbClr val="104E87"/>
                </a:solidFill>
                <a:effectLst/>
                <a:latin typeface="Comic Sans MS" panose="030F0702030302020204" pitchFamily="66" charset="0"/>
                <a:ea typeface="华光行书_CNKI" panose="02000500000000000000" pitchFamily="2" charset="-122"/>
              </a:rPr>
              <a:t>，创建类对象时要利用构造函数为</a:t>
            </a:r>
            <a:r>
              <a:rPr lang="en-US" altLang="zh-CN" sz="2400" kern="100" spc="-150" dirty="0">
                <a:solidFill>
                  <a:srgbClr val="104E87"/>
                </a:solidFill>
                <a:effectLst/>
                <a:latin typeface="Comic Sans MS" panose="030F0702030302020204" pitchFamily="66" charset="0"/>
                <a:ea typeface="华光行书_CNKI" panose="02000500000000000000" pitchFamily="2" charset="-122"/>
              </a:rPr>
              <a:t>new</a:t>
            </a:r>
            <a:r>
              <a:rPr lang="zh-CN" altLang="zh-CN" sz="2400" kern="100" spc="-150" dirty="0">
                <a:solidFill>
                  <a:srgbClr val="104E87"/>
                </a:solidFill>
                <a:effectLst/>
                <a:latin typeface="Comic Sans MS" panose="030F0702030302020204" pitchFamily="66" charset="0"/>
                <a:ea typeface="华光行书_CNKI" panose="02000500000000000000" pitchFamily="2" charset="-122"/>
              </a:rPr>
              <a:t>一个空间存放姓名，并用指针指向。类对象生命期结束时，要利用析构函数释放空间</a:t>
            </a:r>
          </a:p>
          <a:p>
            <a:pPr algn="just"/>
            <a:r>
              <a:rPr lang="en-US" altLang="zh-CN" sz="2400" kern="100" spc="-150" dirty="0">
                <a:solidFill>
                  <a:srgbClr val="104E87"/>
                </a:solidFill>
                <a:effectLst/>
                <a:latin typeface="Comic Sans MS" panose="030F0702030302020204" pitchFamily="66" charset="0"/>
                <a:ea typeface="华光行书_CNKI" panose="02000500000000000000" pitchFamily="2" charset="-122"/>
              </a:rPr>
              <a:t>2</a:t>
            </a:r>
            <a:r>
              <a:rPr lang="zh-CN" altLang="zh-CN" sz="2400" kern="100" spc="-150" dirty="0">
                <a:solidFill>
                  <a:srgbClr val="104E87"/>
                </a:solidFill>
                <a:effectLst/>
                <a:latin typeface="Comic Sans MS" panose="030F0702030302020204" pitchFamily="66" charset="0"/>
                <a:ea typeface="华光行书_CNKI" panose="02000500000000000000" pitchFamily="2" charset="-122"/>
              </a:rPr>
              <a:t>）从</a:t>
            </a:r>
            <a:r>
              <a:rPr lang="en-US" altLang="zh-CN" sz="2400" kern="100" spc="-150" dirty="0">
                <a:solidFill>
                  <a:srgbClr val="104E87"/>
                </a:solidFill>
                <a:effectLst/>
                <a:latin typeface="Comic Sans MS" panose="030F0702030302020204" pitchFamily="66" charset="0"/>
                <a:ea typeface="华光行书_CNKI" panose="02000500000000000000" pitchFamily="2" charset="-122"/>
              </a:rPr>
              <a:t>Person</a:t>
            </a:r>
            <a:r>
              <a:rPr lang="zh-CN" altLang="zh-CN" sz="2400" kern="100" spc="-150" dirty="0">
                <a:solidFill>
                  <a:srgbClr val="104E87"/>
                </a:solidFill>
                <a:effectLst/>
                <a:latin typeface="Comic Sans MS" panose="030F0702030302020204" pitchFamily="66" charset="0"/>
                <a:ea typeface="华光行书_CNKI" panose="02000500000000000000" pitchFamily="2" charset="-122"/>
              </a:rPr>
              <a:t>类派生出学生类</a:t>
            </a:r>
            <a:r>
              <a:rPr lang="en-US" altLang="zh-CN" sz="2400" kern="100" spc="-150" dirty="0">
                <a:solidFill>
                  <a:srgbClr val="104E87"/>
                </a:solidFill>
                <a:effectLst/>
                <a:latin typeface="Comic Sans MS" panose="030F0702030302020204" pitchFamily="66" charset="0"/>
                <a:ea typeface="华光行书_CNKI" panose="02000500000000000000" pitchFamily="2" charset="-122"/>
              </a:rPr>
              <a:t>Student</a:t>
            </a:r>
            <a:endParaRPr lang="zh-CN" altLang="zh-CN" sz="2400" kern="100" spc="-150" dirty="0">
              <a:solidFill>
                <a:srgbClr val="104E87"/>
              </a:solidFill>
              <a:effectLst/>
              <a:latin typeface="Comic Sans MS" panose="030F0702030302020204" pitchFamily="66" charset="0"/>
              <a:ea typeface="华光行书_CNKI" panose="02000500000000000000" pitchFamily="2" charset="-122"/>
            </a:endParaRPr>
          </a:p>
          <a:p>
            <a:pPr algn="just"/>
            <a:r>
              <a:rPr lang="zh-CN" altLang="zh-CN" sz="2400" kern="100" spc="-150" dirty="0">
                <a:solidFill>
                  <a:srgbClr val="104E87"/>
                </a:solidFill>
                <a:effectLst/>
                <a:latin typeface="Comic Sans MS" panose="030F0702030302020204" pitchFamily="66" charset="0"/>
                <a:ea typeface="华光行书_CNKI" panose="02000500000000000000" pitchFamily="2" charset="-122"/>
              </a:rPr>
              <a:t>新增数据成员：专业，年级和学号。</a:t>
            </a:r>
          </a:p>
          <a:p>
            <a:pPr algn="just"/>
            <a:r>
              <a:rPr lang="zh-CN" altLang="zh-CN" sz="2400" kern="100" spc="-150" dirty="0">
                <a:solidFill>
                  <a:srgbClr val="104E87"/>
                </a:solidFill>
                <a:effectLst/>
                <a:latin typeface="Comic Sans MS" panose="030F0702030302020204" pitchFamily="66" charset="0"/>
                <a:ea typeface="华光行书_CNKI" panose="02000500000000000000" pitchFamily="2" charset="-122"/>
              </a:rPr>
              <a:t>新增成员函数：</a:t>
            </a:r>
          </a:p>
          <a:p>
            <a:pPr algn="just"/>
            <a:r>
              <a:rPr lang="en-US" altLang="zh-CN" sz="2400" kern="100" spc="-150" dirty="0">
                <a:solidFill>
                  <a:srgbClr val="104E87"/>
                </a:solidFill>
                <a:effectLst/>
                <a:latin typeface="Comic Sans MS" panose="030F0702030302020204" pitchFamily="66" charset="0"/>
                <a:ea typeface="华光行书_CNKI" panose="02000500000000000000" pitchFamily="2" charset="-122"/>
              </a:rPr>
              <a:t>		</a:t>
            </a:r>
            <a:r>
              <a:rPr lang="zh-CN" altLang="zh-CN" sz="2400" kern="100" spc="-150" dirty="0">
                <a:solidFill>
                  <a:srgbClr val="104E87"/>
                </a:solidFill>
                <a:effectLst/>
                <a:latin typeface="Comic Sans MS" panose="030F0702030302020204" pitchFamily="66" charset="0"/>
                <a:ea typeface="华光行书_CNKI" panose="02000500000000000000" pitchFamily="2" charset="-122"/>
              </a:rPr>
              <a:t>构造函数，</a:t>
            </a:r>
          </a:p>
          <a:p>
            <a:pPr algn="just"/>
            <a:r>
              <a:rPr lang="en-US" altLang="zh-CN" sz="2400" kern="100" spc="-150" dirty="0">
                <a:solidFill>
                  <a:srgbClr val="104E87"/>
                </a:solidFill>
                <a:effectLst/>
                <a:latin typeface="Comic Sans MS" panose="030F0702030302020204" pitchFamily="66" charset="0"/>
                <a:ea typeface="华光行书_CNKI" panose="02000500000000000000" pitchFamily="2" charset="-122"/>
              </a:rPr>
              <a:t>		void </a:t>
            </a:r>
            <a:r>
              <a:rPr lang="en-US" altLang="zh-CN" sz="2400" kern="100" spc="-150" dirty="0" err="1">
                <a:solidFill>
                  <a:srgbClr val="104E87"/>
                </a:solidFill>
                <a:effectLst/>
                <a:latin typeface="Comic Sans MS" panose="030F0702030302020204" pitchFamily="66" charset="0"/>
                <a:ea typeface="华光行书_CNKI" panose="02000500000000000000" pitchFamily="2" charset="-122"/>
              </a:rPr>
              <a:t>print_info</a:t>
            </a:r>
            <a:r>
              <a:rPr lang="en-US" altLang="zh-CN" sz="2400" kern="100" spc="-150" dirty="0">
                <a:solidFill>
                  <a:srgbClr val="104E87"/>
                </a:solidFill>
                <a:effectLst/>
                <a:latin typeface="Comic Sans MS" panose="030F0702030302020204" pitchFamily="66" charset="0"/>
                <a:ea typeface="华光行书_CNKI" panose="02000500000000000000" pitchFamily="2" charset="-122"/>
              </a:rPr>
              <a:t>()</a:t>
            </a:r>
            <a:r>
              <a:rPr lang="zh-CN" altLang="zh-CN" sz="2400" kern="100" spc="-150" dirty="0">
                <a:solidFill>
                  <a:srgbClr val="104E87"/>
                </a:solidFill>
                <a:effectLst/>
                <a:latin typeface="Comic Sans MS" panose="030F0702030302020204" pitchFamily="66" charset="0"/>
                <a:ea typeface="华光行书_CNKI" panose="02000500000000000000" pitchFamily="2" charset="-122"/>
              </a:rPr>
              <a:t>（输出数据成员）</a:t>
            </a:r>
          </a:p>
          <a:p>
            <a:pPr algn="just"/>
            <a:r>
              <a:rPr lang="zh-CN" altLang="zh-CN" sz="2400" kern="100" spc="-150" dirty="0">
                <a:solidFill>
                  <a:srgbClr val="104E87"/>
                </a:solidFill>
                <a:effectLst/>
                <a:latin typeface="Comic Sans MS" panose="030F0702030302020204" pitchFamily="66" charset="0"/>
                <a:ea typeface="华光行书_CNKI" panose="02000500000000000000" pitchFamily="2" charset="-122"/>
              </a:rPr>
              <a:t>要求：利用一个静态数据成员为类对象自动生存学号</a:t>
            </a:r>
          </a:p>
          <a:p>
            <a:pPr algn="just"/>
            <a:r>
              <a:rPr lang="zh-CN" altLang="zh-CN" sz="2400" kern="100" spc="-150" dirty="0">
                <a:solidFill>
                  <a:srgbClr val="104E87"/>
                </a:solidFill>
                <a:effectLst/>
                <a:latin typeface="Comic Sans MS" panose="030F0702030302020204" pitchFamily="66" charset="0"/>
                <a:ea typeface="华光行书_CNKI" panose="02000500000000000000" pitchFamily="2" charset="-122"/>
              </a:rPr>
              <a:t>实现两个类，并编写主函数测试父类和子类类之间的同名函数隐藏特性。</a:t>
            </a:r>
          </a:p>
        </p:txBody>
      </p:sp>
    </p:spTree>
    <p:extLst>
      <p:ext uri="{BB962C8B-B14F-4D97-AF65-F5344CB8AC3E}">
        <p14:creationId xmlns:p14="http://schemas.microsoft.com/office/powerpoint/2010/main" val="3698379827"/>
      </p:ext>
    </p:extLst>
  </p:cSld>
  <p:clrMapOvr>
    <a:masterClrMapping/>
  </p:clrMapOvr>
</p:sld>
</file>

<file path=ppt/theme/theme1.xml><?xml version="1.0" encoding="utf-8"?>
<a:theme xmlns:a="http://schemas.openxmlformats.org/drawingml/2006/main" name="www.2ppt.com">
  <a:themeElements>
    <a:clrScheme name="自定义 78">
      <a:dk1>
        <a:srgbClr val="191919"/>
      </a:dk1>
      <a:lt1>
        <a:sysClr val="window" lastClr="FFFFFF"/>
      </a:lt1>
      <a:dk2>
        <a:srgbClr val="EFEFEF"/>
      </a:dk2>
      <a:lt2>
        <a:srgbClr val="2D2D2D"/>
      </a:lt2>
      <a:accent1>
        <a:srgbClr val="104D7E"/>
      </a:accent1>
      <a:accent2>
        <a:srgbClr val="26CCC5"/>
      </a:accent2>
      <a:accent3>
        <a:srgbClr val="1B8DA8"/>
      </a:accent3>
      <a:accent4>
        <a:srgbClr val="104E87"/>
      </a:accent4>
      <a:accent5>
        <a:srgbClr val="4BACC6"/>
      </a:accent5>
      <a:accent6>
        <a:srgbClr val="808684"/>
      </a:accent6>
      <a:hlink>
        <a:srgbClr val="808080"/>
      </a:hlink>
      <a:folHlink>
        <a:srgbClr val="800080"/>
      </a:folHlink>
    </a:clrScheme>
    <a:fontScheme name="Century Gothic">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59414</TotalTime>
  <Words>6386</Words>
  <Application>Microsoft Office PowerPoint</Application>
  <PresentationFormat>宽屏</PresentationFormat>
  <Paragraphs>1017</Paragraphs>
  <Slides>42</Slides>
  <Notes>38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42</vt:i4>
      </vt:variant>
    </vt:vector>
  </HeadingPairs>
  <TitlesOfParts>
    <vt:vector size="57" baseType="lpstr">
      <vt:lpstr>Helvetica Neue</vt:lpstr>
      <vt:lpstr>黑体</vt:lpstr>
      <vt:lpstr>华光淡古印_CNKI</vt:lpstr>
      <vt:lpstr>华光隶变_CNKI</vt:lpstr>
      <vt:lpstr>华光胖头鱼_CNKI</vt:lpstr>
      <vt:lpstr>华光行书_CNKI</vt:lpstr>
      <vt:lpstr>华文琥珀</vt:lpstr>
      <vt:lpstr>宋体</vt:lpstr>
      <vt:lpstr>Arial</vt:lpstr>
      <vt:lpstr>Calibri</vt:lpstr>
      <vt:lpstr>Comic Sans MS</vt:lpstr>
      <vt:lpstr>Georgia</vt:lpstr>
      <vt:lpstr>Times New Roman</vt:lpstr>
      <vt:lpstr>Wingdings</vt:lpstr>
      <vt:lpstr>www.2ppt.com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www.2ppt.com-爱PPT提供资源下载</dc:title>
  <dc:subject>www.2ppt.com-爱PPT提供资源下载</dc:subject>
  <dc:creator>www.2ppt.com-爱PPT提供资源下载</dc:creator>
  <dc:description>www.2ppt.com-爱PPT提供资源下载</dc:description>
  <cp:lastModifiedBy>帅 方</cp:lastModifiedBy>
  <cp:revision>101</cp:revision>
  <dcterms:created xsi:type="dcterms:W3CDTF">2021-06-17T00:48:49Z</dcterms:created>
  <dcterms:modified xsi:type="dcterms:W3CDTF">2024-11-18T07:58:40Z</dcterms:modified>
</cp:coreProperties>
</file>

<file path=docProps/custom.xml><?xml version="1.0" encoding="utf-8"?>
<Properties xmlns="http://schemas.openxmlformats.org/officeDocument/2006/custom-properties" xmlns:vt="http://schemas.openxmlformats.org/officeDocument/2006/docPropsVTypes">
  <property fmtid="{A09F084E-AD41-489F-8076-AA5BE3082BCA}" pid="100">
    <vt:ui4>5</vt:ui4>
  </property>
  <property fmtid="{64440492-4C8B-11D1-8B70-080036B11A03}" pid="11">
    <vt:lpwstr>www.2ppt.com-爱PPT提供资源下载</vt:lpwstr>
  </property>
  <property fmtid="{D5CDD505-2E9C-101B-9397-08002B2CF9AE}" pid="2" name="ContentTypeId">
    <vt:lpwstr>0x0101000DE64AEEDD9B7A4D93545ACBE97D4615</vt:lpwstr>
  </property>
  <property fmtid="{D5CDD505-2E9C-101B-9397-08002B2CF9AE}" pid="3" name="ICV">
    <vt:lpwstr>40B5B57ECECA411187AECB4299FD3BFC</vt:lpwstr>
  </property>
  <property fmtid="{D5CDD505-2E9C-101B-9397-08002B2CF9AE}" pid="4" name="KSOProductBuildVer">
    <vt:lpwstr>2052-11.1.0.10577</vt:lpwstr>
  </property>
</Properties>
</file>