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8"/>
  </p:notesMasterIdLst>
  <p:handoutMasterIdLst>
    <p:handoutMasterId r:id="rId59"/>
  </p:handoutMasterIdLst>
  <p:sldIdLst>
    <p:sldId id="258" r:id="rId2"/>
    <p:sldId id="256" r:id="rId3"/>
    <p:sldId id="290" r:id="rId4"/>
    <p:sldId id="342" r:id="rId5"/>
    <p:sldId id="296" r:id="rId6"/>
    <p:sldId id="338" r:id="rId7"/>
    <p:sldId id="607" r:id="rId8"/>
    <p:sldId id="608" r:id="rId9"/>
    <p:sldId id="340" r:id="rId10"/>
    <p:sldId id="613" r:id="rId11"/>
    <p:sldId id="614" r:id="rId12"/>
    <p:sldId id="343" r:id="rId13"/>
    <p:sldId id="615" r:id="rId14"/>
    <p:sldId id="297" r:id="rId15"/>
    <p:sldId id="616" r:id="rId16"/>
    <p:sldId id="617" r:id="rId17"/>
    <p:sldId id="298" r:id="rId18"/>
    <p:sldId id="301" r:id="rId19"/>
    <p:sldId id="609" r:id="rId20"/>
    <p:sldId id="304" r:id="rId21"/>
    <p:sldId id="308" r:id="rId22"/>
    <p:sldId id="618" r:id="rId23"/>
    <p:sldId id="302" r:id="rId24"/>
    <p:sldId id="305" r:id="rId25"/>
    <p:sldId id="309" r:id="rId26"/>
    <p:sldId id="310" r:id="rId27"/>
    <p:sldId id="619" r:id="rId28"/>
    <p:sldId id="311" r:id="rId29"/>
    <p:sldId id="312" r:id="rId30"/>
    <p:sldId id="313" r:id="rId31"/>
    <p:sldId id="605" r:id="rId32"/>
    <p:sldId id="604" r:id="rId33"/>
    <p:sldId id="606" r:id="rId34"/>
    <p:sldId id="345" r:id="rId35"/>
    <p:sldId id="610" r:id="rId36"/>
    <p:sldId id="344" r:id="rId37"/>
    <p:sldId id="346" r:id="rId38"/>
    <p:sldId id="315" r:id="rId39"/>
    <p:sldId id="316" r:id="rId40"/>
    <p:sldId id="347" r:id="rId41"/>
    <p:sldId id="612" r:id="rId42"/>
    <p:sldId id="348" r:id="rId43"/>
    <p:sldId id="349" r:id="rId44"/>
    <p:sldId id="350" r:id="rId45"/>
    <p:sldId id="351" r:id="rId46"/>
    <p:sldId id="593" r:id="rId47"/>
    <p:sldId id="594" r:id="rId48"/>
    <p:sldId id="595" r:id="rId49"/>
    <p:sldId id="596" r:id="rId50"/>
    <p:sldId id="597" r:id="rId51"/>
    <p:sldId id="598" r:id="rId52"/>
    <p:sldId id="599" r:id="rId53"/>
    <p:sldId id="600" r:id="rId54"/>
    <p:sldId id="601" r:id="rId55"/>
    <p:sldId id="602" r:id="rId56"/>
    <p:sldId id="603" r:id="rId57"/>
  </p:sldIdLst>
  <p:sldSz cx="12192000" cy="6858000"/>
  <p:notesSz cx="6858000" cy="9144000"/>
  <p:defaultTextStyle>
    <a:defPPr>
      <a:defRPr lang="en-US"/>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9FB95D0-CFA1-4186-9476-4BB1D2005734}">
          <p14:sldIdLst>
            <p14:sldId id="258"/>
            <p14:sldId id="256"/>
            <p14:sldId id="290"/>
            <p14:sldId id="342"/>
            <p14:sldId id="296"/>
            <p14:sldId id="338"/>
            <p14:sldId id="607"/>
            <p14:sldId id="608"/>
            <p14:sldId id="340"/>
            <p14:sldId id="613"/>
            <p14:sldId id="614"/>
            <p14:sldId id="343"/>
            <p14:sldId id="615"/>
            <p14:sldId id="297"/>
            <p14:sldId id="616"/>
            <p14:sldId id="617"/>
            <p14:sldId id="298"/>
            <p14:sldId id="301"/>
            <p14:sldId id="609"/>
            <p14:sldId id="304"/>
            <p14:sldId id="308"/>
            <p14:sldId id="618"/>
          </p14:sldIdLst>
        </p14:section>
        <p14:section name="无标题节" id="{F66907B6-572A-4C8C-B32F-18E8874DE5F6}">
          <p14:sldIdLst>
            <p14:sldId id="302"/>
            <p14:sldId id="305"/>
            <p14:sldId id="309"/>
            <p14:sldId id="310"/>
            <p14:sldId id="619"/>
            <p14:sldId id="311"/>
            <p14:sldId id="312"/>
            <p14:sldId id="313"/>
            <p14:sldId id="605"/>
            <p14:sldId id="604"/>
            <p14:sldId id="606"/>
            <p14:sldId id="345"/>
            <p14:sldId id="610"/>
            <p14:sldId id="344"/>
            <p14:sldId id="346"/>
            <p14:sldId id="315"/>
            <p14:sldId id="316"/>
            <p14:sldId id="347"/>
            <p14:sldId id="612"/>
            <p14:sldId id="348"/>
            <p14:sldId id="349"/>
            <p14:sldId id="350"/>
            <p14:sldId id="351"/>
            <p14:sldId id="593"/>
            <p14:sldId id="594"/>
            <p14:sldId id="595"/>
            <p14:sldId id="596"/>
            <p14:sldId id="597"/>
            <p14:sldId id="598"/>
            <p14:sldId id="599"/>
            <p14:sldId id="600"/>
            <p14:sldId id="601"/>
            <p14:sldId id="602"/>
            <p14:sldId id="60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4E87"/>
    <a:srgbClr val="166DBC"/>
    <a:srgbClr val="E73A1C"/>
    <a:srgbClr val="134F85"/>
    <a:srgbClr val="4BACC6"/>
    <a:srgbClr val="26CC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79224" autoAdjust="0"/>
  </p:normalViewPr>
  <p:slideViewPr>
    <p:cSldViewPr snapToGrid="0" snapToObjects="1">
      <p:cViewPr varScale="1">
        <p:scale>
          <a:sx n="60" d="100"/>
          <a:sy n="60" d="100"/>
        </p:scale>
        <p:origin x="1152" y="72"/>
      </p:cViewPr>
      <p:guideLst>
        <p:guide orient="horz" pos="2160"/>
        <p:guide pos="3840"/>
      </p:guideLst>
    </p:cSldViewPr>
  </p:slideViewPr>
  <p:notesTextViewPr>
    <p:cViewPr>
      <p:scale>
        <a:sx n="100" d="100"/>
        <a:sy n="100" d="100"/>
      </p:scale>
      <p:origin x="0" y="0"/>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2024/11/18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D7CE4F-55EC-46C0-A1F9-6BD8F4BE0E6B}" type="datetimeFigureOut">
              <a:rPr lang="zh-CN" altLang="en-US" smtClean="0"/>
              <a:t>2024/11/18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ABDA6A-29CD-4D28-B6EA-E8D4FFDF604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r>
              <a:rPr kumimoji="1" lang="zh-CN" altLang="en-US" b="1" dirty="0">
                <a:latin typeface="华光行书_CNKI" panose="02000500000000000000" pitchFamily="2" charset="-122"/>
                <a:ea typeface="华光行书_CNKI" panose="02000500000000000000" pitchFamily="2" charset="-122"/>
              </a:rPr>
              <a:t>同根相连 各表芬芳</a:t>
            </a:r>
            <a:endParaRPr kumimoji="1" lang="en-US" altLang="zh-CN" b="1" dirty="0">
              <a:latin typeface="华光行书_CNKI" panose="02000500000000000000" pitchFamily="2" charset="-122"/>
              <a:ea typeface="华光行书_CNKI" panose="02000500000000000000" pitchFamily="2" charset="-122"/>
            </a:endParaRPr>
          </a:p>
          <a:p>
            <a:r>
              <a:rPr lang="zh-CN" altLang="en-US" dirty="0"/>
              <a:t>周二下午</a:t>
            </a:r>
            <a:endParaRPr lang="en-US" altLang="zh-CN"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a:t>
            </a:fld>
            <a:endParaRPr lang="zh-CN" altLang="en-US"/>
          </a:p>
        </p:txBody>
      </p:sp>
    </p:spTree>
    <p:extLst>
      <p:ext uri="{BB962C8B-B14F-4D97-AF65-F5344CB8AC3E}">
        <p14:creationId xmlns:p14="http://schemas.microsoft.com/office/powerpoint/2010/main" val="1207823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a:t>
            </a:fld>
            <a:endParaRPr lang="zh-CN" altLang="en-US"/>
          </a:p>
        </p:txBody>
      </p:sp>
    </p:spTree>
    <p:extLst>
      <p:ext uri="{BB962C8B-B14F-4D97-AF65-F5344CB8AC3E}">
        <p14:creationId xmlns:p14="http://schemas.microsoft.com/office/powerpoint/2010/main" val="957685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a:t>
            </a:fld>
            <a:endParaRPr lang="zh-CN" altLang="en-US"/>
          </a:p>
        </p:txBody>
      </p:sp>
    </p:spTree>
    <p:extLst>
      <p:ext uri="{BB962C8B-B14F-4D97-AF65-F5344CB8AC3E}">
        <p14:creationId xmlns:p14="http://schemas.microsoft.com/office/powerpoint/2010/main" val="2658973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a:t>
            </a:fld>
            <a:endParaRPr lang="zh-CN" altLang="en-US"/>
          </a:p>
        </p:txBody>
      </p:sp>
    </p:spTree>
    <p:extLst>
      <p:ext uri="{BB962C8B-B14F-4D97-AF65-F5344CB8AC3E}">
        <p14:creationId xmlns:p14="http://schemas.microsoft.com/office/powerpoint/2010/main" val="75898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5</a:t>
            </a:fld>
            <a:endParaRPr lang="zh-CN" altLang="en-US"/>
          </a:p>
        </p:txBody>
      </p:sp>
    </p:spTree>
    <p:extLst>
      <p:ext uri="{BB962C8B-B14F-4D97-AF65-F5344CB8AC3E}">
        <p14:creationId xmlns:p14="http://schemas.microsoft.com/office/powerpoint/2010/main" val="1414194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6</a:t>
            </a:fld>
            <a:endParaRPr lang="zh-CN" altLang="en-US"/>
          </a:p>
        </p:txBody>
      </p:sp>
    </p:spTree>
    <p:extLst>
      <p:ext uri="{BB962C8B-B14F-4D97-AF65-F5344CB8AC3E}">
        <p14:creationId xmlns:p14="http://schemas.microsoft.com/office/powerpoint/2010/main" val="2507496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7</a:t>
            </a:fld>
            <a:endParaRPr lang="zh-CN" altLang="en-US"/>
          </a:p>
        </p:txBody>
      </p:sp>
    </p:spTree>
    <p:extLst>
      <p:ext uri="{BB962C8B-B14F-4D97-AF65-F5344CB8AC3E}">
        <p14:creationId xmlns:p14="http://schemas.microsoft.com/office/powerpoint/2010/main" val="1260206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1)</a:t>
            </a:r>
            <a:r>
              <a:rPr kumimoji="1" lang="zh-CN" altLang="en-US" sz="1600" dirty="0">
                <a:solidFill>
                  <a:schemeClr val="tx1"/>
                </a:solidFill>
                <a:latin typeface="+mn-lt"/>
                <a:ea typeface="黑体" panose="02010609060101010101" pitchFamily="49" charset="-122"/>
              </a:rPr>
              <a:t>若操作符是一元的</a:t>
            </a:r>
            <a:r>
              <a:rPr kumimoji="1" lang="en-US" altLang="zh-CN" sz="1600" dirty="0">
                <a:solidFill>
                  <a:schemeClr val="tx1"/>
                </a:solidFill>
                <a:latin typeface="+mn-lt"/>
                <a:ea typeface="黑体" panose="02010609060101010101" pitchFamily="49" charset="-122"/>
              </a:rPr>
              <a:t>,</a:t>
            </a:r>
            <a:r>
              <a:rPr kumimoji="1" lang="zh-CN" altLang="en-US" sz="1600" dirty="0">
                <a:solidFill>
                  <a:schemeClr val="tx1"/>
                </a:solidFill>
                <a:latin typeface="+mn-lt"/>
                <a:ea typeface="黑体" panose="02010609060101010101" pitchFamily="49" charset="-122"/>
              </a:rPr>
              <a:t>则参数表为空</a:t>
            </a:r>
            <a:r>
              <a:rPr kumimoji="1" lang="en-US" altLang="zh-CN" sz="1600" dirty="0">
                <a:solidFill>
                  <a:schemeClr val="tx1"/>
                </a:solidFill>
                <a:latin typeface="+mn-lt"/>
                <a:ea typeface="黑体" panose="02010609060101010101" pitchFamily="49" charset="-122"/>
              </a:rPr>
              <a:t>,</a:t>
            </a:r>
            <a:r>
              <a:rPr kumimoji="1" lang="zh-CN" altLang="en-US" sz="1600" dirty="0">
                <a:solidFill>
                  <a:schemeClr val="tx1"/>
                </a:solidFill>
                <a:latin typeface="+mn-lt"/>
                <a:ea typeface="黑体" panose="02010609060101010101" pitchFamily="49" charset="-122"/>
              </a:rPr>
              <a:t>当前对象作为操作符的单操作数；</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2)</a:t>
            </a:r>
            <a:r>
              <a:rPr kumimoji="1" lang="zh-CN" altLang="en-US" sz="1600" dirty="0">
                <a:solidFill>
                  <a:schemeClr val="tx1"/>
                </a:solidFill>
                <a:latin typeface="+mn-lt"/>
                <a:ea typeface="黑体" panose="02010609060101010101" pitchFamily="49" charset="-122"/>
              </a:rPr>
              <a:t>若操作符是二元的</a:t>
            </a:r>
            <a:r>
              <a:rPr kumimoji="1" lang="en-US" altLang="zh-CN" sz="1600" dirty="0">
                <a:solidFill>
                  <a:schemeClr val="tx1"/>
                </a:solidFill>
                <a:latin typeface="+mn-lt"/>
                <a:ea typeface="黑体" panose="02010609060101010101" pitchFamily="49" charset="-122"/>
              </a:rPr>
              <a:t>,</a:t>
            </a:r>
            <a:r>
              <a:rPr kumimoji="1" lang="zh-CN" altLang="en-US" sz="1600" dirty="0">
                <a:solidFill>
                  <a:schemeClr val="tx1"/>
                </a:solidFill>
                <a:latin typeface="+mn-lt"/>
                <a:ea typeface="黑体" panose="02010609060101010101" pitchFamily="49" charset="-122"/>
              </a:rPr>
              <a:t>则参数表中有一个操作数</a:t>
            </a:r>
            <a:r>
              <a:rPr kumimoji="1" lang="en-US" altLang="zh-CN" sz="1600" dirty="0">
                <a:solidFill>
                  <a:schemeClr val="tx1"/>
                </a:solidFill>
                <a:latin typeface="+mn-lt"/>
                <a:ea typeface="黑体" panose="02010609060101010101" pitchFamily="49" charset="-122"/>
              </a:rPr>
              <a:t>,</a:t>
            </a:r>
            <a:r>
              <a:rPr kumimoji="1" lang="zh-CN" altLang="en-US" sz="1600" dirty="0">
                <a:solidFill>
                  <a:schemeClr val="tx1"/>
                </a:solidFill>
                <a:latin typeface="+mn-lt"/>
                <a:ea typeface="黑体" panose="02010609060101010101" pitchFamily="49" charset="-122"/>
              </a:rPr>
              <a:t>当前对象作为此操作符的左操作数</a:t>
            </a:r>
            <a:r>
              <a:rPr kumimoji="1" lang="en-US" altLang="zh-CN" sz="1600" dirty="0">
                <a:solidFill>
                  <a:schemeClr val="tx1"/>
                </a:solidFill>
                <a:latin typeface="+mn-lt"/>
                <a:ea typeface="黑体" panose="02010609060101010101" pitchFamily="49" charset="-122"/>
              </a:rPr>
              <a:t>,</a:t>
            </a:r>
            <a:r>
              <a:rPr kumimoji="1" lang="zh-CN" altLang="en-US" sz="1600" dirty="0">
                <a:solidFill>
                  <a:schemeClr val="tx1"/>
                </a:solidFill>
                <a:latin typeface="+mn-lt"/>
                <a:ea typeface="黑体" panose="02010609060101010101" pitchFamily="49" charset="-122"/>
              </a:rPr>
              <a:t>参数表中的操作数作为此操作符的右操作数</a:t>
            </a:r>
            <a:r>
              <a:rPr kumimoji="1" lang="en-US" altLang="zh-CN" sz="1600" dirty="0">
                <a:solidFill>
                  <a:schemeClr val="tx1"/>
                </a:solidFill>
                <a:latin typeface="+mn-lt"/>
                <a:ea typeface="黑体" panose="02010609060101010101" pitchFamily="49" charset="-122"/>
              </a:rPr>
              <a: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#include &lt;iostream&gt;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#include &lt;string&gt;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using namespace std;</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class point{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public:</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    point(float </a:t>
            </a:r>
            <a:r>
              <a:rPr kumimoji="1" lang="en-US" altLang="zh-CN" sz="1600" dirty="0" err="1">
                <a:solidFill>
                  <a:schemeClr val="tx1"/>
                </a:solidFill>
                <a:latin typeface="+mn-lt"/>
                <a:ea typeface="黑体" panose="02010609060101010101" pitchFamily="49" charset="-122"/>
              </a:rPr>
              <a:t>px</a:t>
            </a:r>
            <a:r>
              <a:rPr kumimoji="1" lang="en-US" altLang="zh-CN" sz="1600" dirty="0">
                <a:solidFill>
                  <a:schemeClr val="tx1"/>
                </a:solidFill>
                <a:latin typeface="+mn-lt"/>
                <a:ea typeface="黑体" panose="02010609060101010101" pitchFamily="49" charset="-122"/>
              </a:rPr>
              <a:t>=0.0, float </a:t>
            </a:r>
            <a:r>
              <a:rPr kumimoji="1" lang="en-US" altLang="zh-CN" sz="1600" dirty="0" err="1">
                <a:solidFill>
                  <a:schemeClr val="tx1"/>
                </a:solidFill>
                <a:latin typeface="+mn-lt"/>
                <a:ea typeface="黑体" panose="02010609060101010101" pitchFamily="49" charset="-122"/>
              </a:rPr>
              <a:t>py</a:t>
            </a:r>
            <a:r>
              <a:rPr kumimoji="1" lang="en-US" altLang="zh-CN" sz="1600" dirty="0">
                <a:solidFill>
                  <a:schemeClr val="tx1"/>
                </a:solidFill>
                <a:latin typeface="+mn-lt"/>
                <a:ea typeface="黑体" panose="02010609060101010101" pitchFamily="49" charset="-122"/>
              </a:rPr>
              <a:t>=0.0){  x=</a:t>
            </a:r>
            <a:r>
              <a:rPr kumimoji="1" lang="en-US" altLang="zh-CN" sz="1600" dirty="0" err="1">
                <a:solidFill>
                  <a:schemeClr val="tx1"/>
                </a:solidFill>
                <a:latin typeface="+mn-lt"/>
                <a:ea typeface="黑体" panose="02010609060101010101" pitchFamily="49" charset="-122"/>
              </a:rPr>
              <a:t>px</a:t>
            </a:r>
            <a:r>
              <a:rPr kumimoji="1" lang="en-US" altLang="zh-CN" sz="1600" dirty="0">
                <a:solidFill>
                  <a:schemeClr val="tx1"/>
                </a:solidFill>
                <a:latin typeface="+mn-lt"/>
                <a:ea typeface="黑体" panose="02010609060101010101" pitchFamily="49" charset="-122"/>
              </a:rPr>
              <a:t>;  y=</a:t>
            </a:r>
            <a:r>
              <a:rPr kumimoji="1" lang="en-US" altLang="zh-CN" sz="1600" dirty="0" err="1">
                <a:solidFill>
                  <a:schemeClr val="tx1"/>
                </a:solidFill>
                <a:latin typeface="+mn-lt"/>
                <a:ea typeface="黑体" panose="02010609060101010101" pitchFamily="49" charset="-122"/>
              </a:rPr>
              <a:t>py</a:t>
            </a:r>
            <a:r>
              <a:rPr kumimoji="1" lang="en-US" altLang="zh-CN" sz="1600" dirty="0">
                <a:solidFill>
                  <a:schemeClr val="tx1"/>
                </a:solidFill>
                <a:latin typeface="+mn-lt"/>
                <a:ea typeface="黑体" panose="02010609060101010101" pitchFamily="49" charset="-122"/>
              </a:rPr>
              <a:t>;  }</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    bool operator==(const point&amp; s) const;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private:</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    float x, y;</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bool point::operator==(const point &amp; s) const{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	return ((this-&gt;x==</a:t>
            </a:r>
            <a:r>
              <a:rPr kumimoji="1" lang="en-US" altLang="zh-CN" sz="1600" dirty="0" err="1">
                <a:solidFill>
                  <a:schemeClr val="tx1"/>
                </a:solidFill>
                <a:latin typeface="+mn-lt"/>
                <a:ea typeface="黑体" panose="02010609060101010101" pitchFamily="49" charset="-122"/>
              </a:rPr>
              <a:t>s.x</a:t>
            </a:r>
            <a:r>
              <a:rPr kumimoji="1" lang="en-US" altLang="zh-CN" sz="1600" dirty="0">
                <a:solidFill>
                  <a:schemeClr val="tx1"/>
                </a:solidFill>
                <a:latin typeface="+mn-lt"/>
                <a:ea typeface="黑体" panose="02010609060101010101" pitchFamily="49" charset="-122"/>
              </a:rPr>
              <a:t>) &amp;&amp; (this-&gt;y==</a:t>
            </a:r>
            <a:r>
              <a:rPr kumimoji="1" lang="en-US" altLang="zh-CN" sz="1600" dirty="0" err="1">
                <a:solidFill>
                  <a:schemeClr val="tx1"/>
                </a:solidFill>
                <a:latin typeface="+mn-lt"/>
                <a:ea typeface="黑体" panose="02010609060101010101" pitchFamily="49" charset="-122"/>
              </a:rPr>
              <a:t>s.y</a:t>
            </a:r>
            <a:r>
              <a:rPr kumimoji="1" lang="en-US" altLang="zh-CN" sz="1600" dirty="0">
                <a:solidFill>
                  <a:schemeClr val="tx1"/>
                </a:solidFill>
                <a:latin typeface="+mn-lt"/>
                <a:ea typeface="黑体" panose="02010609060101010101" pitchFamily="49" charset="-122"/>
              </a:rPr>
              <a: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a:t>
            </a:r>
          </a:p>
          <a:p>
            <a:pPr eaLnBrk="1" hangingPunct="1">
              <a:spcBef>
                <a:spcPct val="50000"/>
              </a:spcBef>
              <a:buClrTx/>
              <a:buSzTx/>
              <a:buFontTx/>
              <a:buNone/>
              <a:defRPr/>
            </a:pPr>
            <a:endParaRPr kumimoji="1" lang="en-US" altLang="zh-CN" sz="1600" dirty="0">
              <a:solidFill>
                <a:schemeClr val="tx1"/>
              </a:solidFill>
              <a:latin typeface="+mn-lt"/>
              <a:ea typeface="黑体" panose="02010609060101010101" pitchFamily="49" charset="-122"/>
            </a:endParaRP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int main()</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	point p1, p2(1,2);</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	</a:t>
            </a:r>
            <a:r>
              <a:rPr kumimoji="1" lang="en-US" altLang="zh-CN" sz="1600" dirty="0" err="1">
                <a:solidFill>
                  <a:schemeClr val="tx1"/>
                </a:solidFill>
                <a:latin typeface="+mn-lt"/>
                <a:ea typeface="黑体" panose="02010609060101010101" pitchFamily="49" charset="-122"/>
              </a:rPr>
              <a:t>cout</a:t>
            </a:r>
            <a:r>
              <a:rPr kumimoji="1" lang="en-US" altLang="zh-CN" sz="1600" dirty="0">
                <a:solidFill>
                  <a:schemeClr val="tx1"/>
                </a:solidFill>
                <a:latin typeface="+mn-lt"/>
                <a:ea typeface="黑体" panose="02010609060101010101" pitchFamily="49" charset="-122"/>
              </a:rPr>
              <a:t>&lt;&lt;(p1==p2)&lt;&lt;</a:t>
            </a:r>
            <a:r>
              <a:rPr kumimoji="1" lang="en-US" altLang="zh-CN" sz="1600" dirty="0" err="1">
                <a:solidFill>
                  <a:schemeClr val="tx1"/>
                </a:solidFill>
                <a:latin typeface="+mn-lt"/>
                <a:ea typeface="黑体" panose="02010609060101010101" pitchFamily="49" charset="-122"/>
              </a:rPr>
              <a:t>endl</a:t>
            </a:r>
            <a:r>
              <a:rPr kumimoji="1" lang="en-US" altLang="zh-CN" sz="1600" dirty="0">
                <a:solidFill>
                  <a:schemeClr val="tx1"/>
                </a:solidFill>
                <a:latin typeface="+mn-lt"/>
                <a:ea typeface="黑体" panose="02010609060101010101" pitchFamily="49" charset="-122"/>
              </a:rPr>
              <a:t>;</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return 0;</a:t>
            </a:r>
          </a:p>
          <a:p>
            <a:pPr eaLnBrk="1" hangingPunct="1">
              <a:spcBef>
                <a:spcPct val="50000"/>
              </a:spcBef>
              <a:buClrTx/>
              <a:buSzTx/>
              <a:buFontTx/>
              <a:buNone/>
              <a:defRPr/>
            </a:pPr>
            <a:r>
              <a:rPr kumimoji="1" lang="en-US" altLang="zh-CN" sz="1600" dirty="0">
                <a:solidFill>
                  <a:schemeClr val="tx1"/>
                </a:solidFill>
                <a:latin typeface="+mn-lt"/>
                <a:ea typeface="黑体" panose="02010609060101010101" pitchFamily="49" charset="-122"/>
              </a:rPr>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8</a:t>
            </a:fld>
            <a:endParaRPr lang="zh-CN" altLang="en-US"/>
          </a:p>
        </p:txBody>
      </p:sp>
    </p:spTree>
    <p:extLst>
      <p:ext uri="{BB962C8B-B14F-4D97-AF65-F5344CB8AC3E}">
        <p14:creationId xmlns:p14="http://schemas.microsoft.com/office/powerpoint/2010/main" val="3742956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9</a:t>
            </a:fld>
            <a:endParaRPr lang="zh-CN" altLang="en-US"/>
          </a:p>
        </p:txBody>
      </p:sp>
    </p:spTree>
    <p:extLst>
      <p:ext uri="{BB962C8B-B14F-4D97-AF65-F5344CB8AC3E}">
        <p14:creationId xmlns:p14="http://schemas.microsoft.com/office/powerpoint/2010/main" val="813019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994D9-1AC9-ED1A-CAD3-5996944B1A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A21EDA-8408-1908-6EAB-D63D78F215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4834BB-609A-509B-DCFF-C4821ECCDDF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D3511E6-ED22-2EAA-D0A4-654C70D2B18D}"/>
              </a:ext>
            </a:extLst>
          </p:cNvPr>
          <p:cNvSpPr>
            <a:spLocks noGrp="1"/>
          </p:cNvSpPr>
          <p:nvPr>
            <p:ph type="sldNum" sz="quarter" idx="5"/>
          </p:nvPr>
        </p:nvSpPr>
        <p:spPr/>
        <p:txBody>
          <a:bodyPr/>
          <a:lstStyle/>
          <a:p>
            <a:fld id="{A8ABDA6A-29CD-4D28-B6EA-E8D4FFDF6043}" type="slidenum">
              <a:rPr lang="zh-CN" altLang="en-US" smtClean="0"/>
              <a:t>10</a:t>
            </a:fld>
            <a:endParaRPr lang="zh-CN" altLang="en-US"/>
          </a:p>
        </p:txBody>
      </p:sp>
    </p:spTree>
    <p:extLst>
      <p:ext uri="{BB962C8B-B14F-4D97-AF65-F5344CB8AC3E}">
        <p14:creationId xmlns:p14="http://schemas.microsoft.com/office/powerpoint/2010/main" val="1039731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F3D4B-36CE-EE48-81B0-CA5A4F368D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B2511E-ADE1-EEEC-3163-AA40DA42FD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F6534F-90D5-3375-8315-8C87F868F047}"/>
              </a:ext>
            </a:extLst>
          </p:cNvPr>
          <p:cNvSpPr>
            <a:spLocks noGrp="1"/>
          </p:cNvSpPr>
          <p:nvPr>
            <p:ph type="body" idx="1"/>
          </p:nvPr>
        </p:nvSpPr>
        <p:spPr/>
        <p:txBody>
          <a:bodyPr/>
          <a:lstStyle/>
          <a:p>
            <a:endParaRPr lang="en-US" altLang="zh-CN" dirty="0">
              <a:latin typeface="Arial" panose="020B0604020202020204" pitchFamily="34" charset="0"/>
            </a:endParaRPr>
          </a:p>
        </p:txBody>
      </p:sp>
      <p:sp>
        <p:nvSpPr>
          <p:cNvPr id="4" name="灯片编号占位符 3">
            <a:extLst>
              <a:ext uri="{FF2B5EF4-FFF2-40B4-BE49-F238E27FC236}">
                <a16:creationId xmlns:a16="http://schemas.microsoft.com/office/drawing/2014/main" id="{CDE44539-FF63-ADB8-4B03-6DBD432D153B}"/>
              </a:ext>
            </a:extLst>
          </p:cNvPr>
          <p:cNvSpPr>
            <a:spLocks noGrp="1"/>
          </p:cNvSpPr>
          <p:nvPr>
            <p:ph type="sldNum" sz="quarter" idx="5"/>
          </p:nvPr>
        </p:nvSpPr>
        <p:spPr/>
        <p:txBody>
          <a:bodyPr/>
          <a:lstStyle/>
          <a:p>
            <a:fld id="{A8ABDA6A-29CD-4D28-B6EA-E8D4FFDF6043}" type="slidenum">
              <a:rPr lang="zh-CN" altLang="en-US" smtClean="0"/>
              <a:t>11</a:t>
            </a:fld>
            <a:endParaRPr lang="zh-CN" altLang="en-US"/>
          </a:p>
        </p:txBody>
      </p:sp>
    </p:spTree>
    <p:extLst>
      <p:ext uri="{BB962C8B-B14F-4D97-AF65-F5344CB8AC3E}">
        <p14:creationId xmlns:p14="http://schemas.microsoft.com/office/powerpoint/2010/main" val="2050137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#include &lt;</a:t>
            </a:r>
            <a:r>
              <a:rPr lang="en-US" altLang="zh-CN" dirty="0" err="1"/>
              <a:t>iomanip</a:t>
            </a:r>
            <a:r>
              <a:rPr lang="en-US" altLang="zh-CN" dirty="0"/>
              <a:t>&gt;</a:t>
            </a:r>
          </a:p>
          <a:p>
            <a:r>
              <a:rPr lang="en-US" altLang="zh-CN" dirty="0"/>
              <a:t>#include &lt;</a:t>
            </a:r>
            <a:r>
              <a:rPr lang="en-US" altLang="zh-CN" dirty="0" err="1"/>
              <a:t>string.h</a:t>
            </a:r>
            <a:r>
              <a:rPr lang="en-US" altLang="zh-CN" dirty="0"/>
              <a:t>&gt;</a:t>
            </a:r>
          </a:p>
          <a:p>
            <a:r>
              <a:rPr lang="en-US" altLang="zh-CN" dirty="0"/>
              <a:t>#include &lt;</a:t>
            </a:r>
            <a:r>
              <a:rPr lang="en-US" altLang="zh-CN" dirty="0" err="1"/>
              <a:t>cmath</a:t>
            </a:r>
            <a:r>
              <a:rPr lang="en-US" altLang="zh-CN" dirty="0"/>
              <a:t>&gt;</a:t>
            </a:r>
          </a:p>
          <a:p>
            <a:r>
              <a:rPr lang="en-US" altLang="zh-CN" dirty="0"/>
              <a:t>using namespace std;</a:t>
            </a:r>
          </a:p>
          <a:p>
            <a:r>
              <a:rPr lang="en-US" altLang="zh-CN" dirty="0"/>
              <a:t>class COMPLEX {												</a:t>
            </a:r>
          </a:p>
          <a:p>
            <a:r>
              <a:rPr lang="en-US" altLang="zh-CN" dirty="0"/>
              <a:t>public:	</a:t>
            </a:r>
          </a:p>
          <a:p>
            <a:r>
              <a:rPr lang="en-US" altLang="zh-CN" dirty="0"/>
              <a:t>COMPLEX(double r = 0, double </a:t>
            </a:r>
            <a:r>
              <a:rPr lang="en-US" altLang="zh-CN" dirty="0" err="1"/>
              <a:t>i</a:t>
            </a:r>
            <a:r>
              <a:rPr lang="en-US" altLang="zh-CN" dirty="0"/>
              <a:t> = 0);	</a:t>
            </a:r>
          </a:p>
          <a:p>
            <a:r>
              <a:rPr lang="en-US" altLang="zh-CN" dirty="0"/>
              <a:t>COMPLEX(const COMPLEX&amp; other);</a:t>
            </a:r>
          </a:p>
          <a:p>
            <a:r>
              <a:rPr lang="en-US" altLang="zh-CN" dirty="0"/>
              <a:t>COMPLEX operator+(const COMPLEX&amp; other);</a:t>
            </a:r>
          </a:p>
          <a:p>
            <a:r>
              <a:rPr lang="en-US" altLang="zh-CN" dirty="0"/>
              <a:t>COMPLEX operator -(const COMPLEX&amp; other);</a:t>
            </a:r>
          </a:p>
          <a:p>
            <a:r>
              <a:rPr lang="en-US" altLang="zh-CN" dirty="0"/>
              <a:t>COMPLEX operator*( const COMPLEX&amp; );</a:t>
            </a:r>
          </a:p>
          <a:p>
            <a:r>
              <a:rPr lang="en-US" altLang="zh-CN" dirty="0"/>
              <a:t>COMPLEX operator/(const COMPLEX&amp;);</a:t>
            </a:r>
          </a:p>
          <a:p>
            <a:r>
              <a:rPr lang="en-US" altLang="zh-CN" dirty="0"/>
              <a:t>COMPLEX operator-();</a:t>
            </a:r>
          </a:p>
          <a:p>
            <a:r>
              <a:rPr lang="en-US" altLang="zh-CN" dirty="0"/>
              <a:t>COMPLEX&amp; operator=(const COMPLEX&amp; other);</a:t>
            </a:r>
          </a:p>
          <a:p>
            <a:r>
              <a:rPr lang="en-US" altLang="zh-CN" dirty="0"/>
              <a:t>bool  operator==(const COMPLEX&amp; other);</a:t>
            </a:r>
          </a:p>
          <a:p>
            <a:r>
              <a:rPr lang="en-US" altLang="zh-CN" dirty="0"/>
              <a:t>bool  operator!=(const COMPLEX&amp; other);</a:t>
            </a:r>
          </a:p>
          <a:p>
            <a:r>
              <a:rPr lang="en-US" altLang="zh-CN" dirty="0"/>
              <a:t>double </a:t>
            </a:r>
            <a:r>
              <a:rPr lang="en-US" altLang="zh-CN" dirty="0" err="1"/>
              <a:t>getImage</a:t>
            </a:r>
            <a:r>
              <a:rPr lang="en-US" altLang="zh-CN" dirty="0"/>
              <a:t>();</a:t>
            </a:r>
          </a:p>
          <a:p>
            <a:r>
              <a:rPr lang="en-US" altLang="zh-CN" dirty="0"/>
              <a:t>double </a:t>
            </a:r>
            <a:r>
              <a:rPr lang="en-US" altLang="zh-CN" dirty="0" err="1"/>
              <a:t>getReal</a:t>
            </a:r>
            <a:r>
              <a:rPr lang="en-US" altLang="zh-CN" dirty="0"/>
              <a:t>();</a:t>
            </a:r>
          </a:p>
          <a:p>
            <a:r>
              <a:rPr lang="en-US" altLang="zh-CN" dirty="0"/>
              <a:t>double </a:t>
            </a:r>
            <a:r>
              <a:rPr lang="en-US" altLang="zh-CN" dirty="0" err="1"/>
              <a:t>getModuls</a:t>
            </a:r>
            <a:r>
              <a:rPr lang="en-US" altLang="zh-CN" dirty="0"/>
              <a:t>();</a:t>
            </a:r>
          </a:p>
          <a:p>
            <a:r>
              <a:rPr lang="en-US" altLang="zh-CN" dirty="0"/>
              <a:t>void print();</a:t>
            </a:r>
          </a:p>
          <a:p>
            <a:r>
              <a:rPr lang="en-US" altLang="zh-CN" dirty="0"/>
              <a:t>private: double real, image;</a:t>
            </a:r>
          </a:p>
          <a:p>
            <a:r>
              <a:rPr lang="en-US" altLang="zh-CN" dirty="0"/>
              <a:t>}; </a:t>
            </a:r>
          </a:p>
          <a:p>
            <a:endParaRPr lang="en-US" altLang="zh-CN" dirty="0"/>
          </a:p>
          <a:p>
            <a:r>
              <a:rPr lang="en-US" altLang="zh-CN" dirty="0"/>
              <a:t>COMPLEX::COMPLEX(double r, double </a:t>
            </a:r>
            <a:r>
              <a:rPr lang="en-US" altLang="zh-CN" dirty="0" err="1"/>
              <a:t>i</a:t>
            </a:r>
            <a:r>
              <a:rPr lang="en-US" altLang="zh-CN" dirty="0"/>
              <a:t>)</a:t>
            </a:r>
          </a:p>
          <a:p>
            <a:r>
              <a:rPr lang="en-US" altLang="zh-CN" dirty="0"/>
              <a:t>{	real=r;  image=</a:t>
            </a:r>
            <a:r>
              <a:rPr lang="en-US" altLang="zh-CN" dirty="0" err="1"/>
              <a:t>i</a:t>
            </a:r>
            <a:r>
              <a:rPr lang="en-US" altLang="zh-CN" dirty="0"/>
              <a:t>;}</a:t>
            </a:r>
          </a:p>
          <a:p>
            <a:r>
              <a:rPr lang="en-US" altLang="zh-CN" dirty="0"/>
              <a:t>COMPLEX::COMPLEX(const COMPLEX&amp; other)</a:t>
            </a:r>
          </a:p>
          <a:p>
            <a:r>
              <a:rPr lang="en-US" altLang="zh-CN" dirty="0"/>
              <a:t>{	real=</a:t>
            </a:r>
            <a:r>
              <a:rPr lang="en-US" altLang="zh-CN" dirty="0" err="1"/>
              <a:t>other.real</a:t>
            </a:r>
            <a:r>
              <a:rPr lang="en-US" altLang="zh-CN" dirty="0"/>
              <a:t>;  image=</a:t>
            </a:r>
            <a:r>
              <a:rPr lang="en-US" altLang="zh-CN" dirty="0" err="1"/>
              <a:t>other.image</a:t>
            </a:r>
            <a:r>
              <a:rPr lang="en-US" altLang="zh-CN" dirty="0"/>
              <a:t>;</a:t>
            </a:r>
          </a:p>
          <a:p>
            <a:r>
              <a:rPr lang="en-US" altLang="zh-CN" dirty="0"/>
              <a:t>} </a:t>
            </a:r>
          </a:p>
          <a:p>
            <a:r>
              <a:rPr lang="en-US" altLang="zh-CN" dirty="0"/>
              <a:t>COMPLEX COMPLEX::operator + (const COMPLEX&amp; other)</a:t>
            </a:r>
          </a:p>
          <a:p>
            <a:r>
              <a:rPr lang="en-US" altLang="zh-CN" dirty="0"/>
              <a:t>{   COMPLEX temp;</a:t>
            </a:r>
          </a:p>
          <a:p>
            <a:r>
              <a:rPr lang="en-US" altLang="zh-CN" dirty="0" err="1"/>
              <a:t>temp.real</a:t>
            </a:r>
            <a:r>
              <a:rPr lang="en-US" altLang="zh-CN" dirty="0"/>
              <a:t>=</a:t>
            </a:r>
            <a:r>
              <a:rPr lang="en-US" altLang="zh-CN" dirty="0" err="1"/>
              <a:t>real+other.real</a:t>
            </a:r>
            <a:r>
              <a:rPr lang="en-US" altLang="zh-CN" dirty="0"/>
              <a:t>;</a:t>
            </a:r>
          </a:p>
          <a:p>
            <a:r>
              <a:rPr lang="en-US" altLang="zh-CN" dirty="0" err="1"/>
              <a:t>temp.image</a:t>
            </a:r>
            <a:r>
              <a:rPr lang="en-US" altLang="zh-CN" dirty="0"/>
              <a:t>=</a:t>
            </a:r>
            <a:r>
              <a:rPr lang="en-US" altLang="zh-CN" dirty="0" err="1"/>
              <a:t>image+other.image</a:t>
            </a:r>
            <a:r>
              <a:rPr lang="en-US" altLang="zh-CN" dirty="0"/>
              <a:t>;</a:t>
            </a:r>
          </a:p>
          <a:p>
            <a:r>
              <a:rPr lang="en-US" altLang="zh-CN" dirty="0"/>
              <a:t>return temp;</a:t>
            </a:r>
          </a:p>
          <a:p>
            <a:r>
              <a:rPr lang="en-US" altLang="zh-CN" dirty="0"/>
              <a:t>}</a:t>
            </a:r>
          </a:p>
          <a:p>
            <a:r>
              <a:rPr lang="en-US" altLang="zh-CN" dirty="0"/>
              <a:t>COMPLEX COMPLEX::operator - (const COMPLEX&amp; other)</a:t>
            </a:r>
          </a:p>
          <a:p>
            <a:r>
              <a:rPr lang="en-US" altLang="zh-CN" dirty="0"/>
              <a:t>{COMPLEX temp;</a:t>
            </a:r>
          </a:p>
          <a:p>
            <a:r>
              <a:rPr lang="en-US" altLang="zh-CN" dirty="0" err="1"/>
              <a:t>temp.real</a:t>
            </a:r>
            <a:r>
              <a:rPr lang="en-US" altLang="zh-CN" dirty="0"/>
              <a:t>=real-</a:t>
            </a:r>
            <a:r>
              <a:rPr lang="en-US" altLang="zh-CN" dirty="0" err="1"/>
              <a:t>other.real</a:t>
            </a:r>
            <a:r>
              <a:rPr lang="en-US" altLang="zh-CN" dirty="0"/>
              <a:t>;</a:t>
            </a:r>
          </a:p>
          <a:p>
            <a:r>
              <a:rPr lang="en-US" altLang="zh-CN" dirty="0" err="1"/>
              <a:t>temp.image</a:t>
            </a:r>
            <a:r>
              <a:rPr lang="en-US" altLang="zh-CN" dirty="0"/>
              <a:t>=image-</a:t>
            </a:r>
            <a:r>
              <a:rPr lang="en-US" altLang="zh-CN" dirty="0" err="1"/>
              <a:t>other.image</a:t>
            </a:r>
            <a:r>
              <a:rPr lang="en-US" altLang="zh-CN" dirty="0"/>
              <a:t>;</a:t>
            </a:r>
          </a:p>
          <a:p>
            <a:r>
              <a:rPr lang="en-US" altLang="zh-CN" dirty="0"/>
              <a:t>return temp;</a:t>
            </a:r>
          </a:p>
          <a:p>
            <a:r>
              <a:rPr lang="en-US" altLang="zh-CN" dirty="0"/>
              <a:t>}</a:t>
            </a:r>
          </a:p>
          <a:p>
            <a:r>
              <a:rPr lang="en-US" altLang="zh-CN" dirty="0"/>
              <a:t>COMPLEX COMPLEX::operator - ( )</a:t>
            </a:r>
          </a:p>
          <a:p>
            <a:r>
              <a:rPr lang="en-US" altLang="zh-CN" dirty="0"/>
              <a:t>{	COMPLEX temp;</a:t>
            </a:r>
          </a:p>
          <a:p>
            <a:r>
              <a:rPr lang="en-US" altLang="zh-CN" dirty="0"/>
              <a:t>	</a:t>
            </a:r>
            <a:r>
              <a:rPr lang="en-US" altLang="zh-CN" dirty="0" err="1"/>
              <a:t>temp.real</a:t>
            </a:r>
            <a:r>
              <a:rPr lang="en-US" altLang="zh-CN" dirty="0"/>
              <a:t>=-real;</a:t>
            </a:r>
          </a:p>
          <a:p>
            <a:r>
              <a:rPr lang="en-US" altLang="zh-CN" dirty="0"/>
              <a:t>	</a:t>
            </a:r>
            <a:r>
              <a:rPr lang="en-US" altLang="zh-CN" dirty="0" err="1"/>
              <a:t>temp.image</a:t>
            </a:r>
            <a:r>
              <a:rPr lang="en-US" altLang="zh-CN" dirty="0"/>
              <a:t>=-image;</a:t>
            </a:r>
          </a:p>
          <a:p>
            <a:r>
              <a:rPr lang="en-US" altLang="zh-CN" dirty="0"/>
              <a:t>	return temp;</a:t>
            </a:r>
          </a:p>
          <a:p>
            <a:r>
              <a:rPr lang="en-US" altLang="zh-CN" dirty="0"/>
              <a:t>}</a:t>
            </a:r>
          </a:p>
          <a:p>
            <a:r>
              <a:rPr lang="en-US" altLang="zh-CN" dirty="0"/>
              <a:t>COMPLEX COMPLEX::operator*(const COMPLEX&amp; other) </a:t>
            </a:r>
          </a:p>
          <a:p>
            <a:r>
              <a:rPr lang="en-US" altLang="zh-CN" dirty="0"/>
              <a:t>{  COMPLEX temp;  </a:t>
            </a:r>
          </a:p>
          <a:p>
            <a:r>
              <a:rPr lang="en-US" altLang="zh-CN" dirty="0"/>
              <a:t>    </a:t>
            </a:r>
            <a:r>
              <a:rPr lang="en-US" altLang="zh-CN" dirty="0" err="1"/>
              <a:t>temp.real</a:t>
            </a:r>
            <a:r>
              <a:rPr lang="en-US" altLang="zh-CN" dirty="0"/>
              <a:t>=real*</a:t>
            </a:r>
            <a:r>
              <a:rPr lang="en-US" altLang="zh-CN" dirty="0" err="1"/>
              <a:t>other.real</a:t>
            </a:r>
            <a:r>
              <a:rPr lang="en-US" altLang="zh-CN" dirty="0"/>
              <a:t>-image*</a:t>
            </a:r>
            <a:r>
              <a:rPr lang="en-US" altLang="zh-CN" dirty="0" err="1"/>
              <a:t>other.image</a:t>
            </a:r>
            <a:r>
              <a:rPr lang="en-US" altLang="zh-CN" dirty="0"/>
              <a:t>;  </a:t>
            </a:r>
          </a:p>
          <a:p>
            <a:r>
              <a:rPr lang="en-US" altLang="zh-CN" dirty="0"/>
              <a:t>    </a:t>
            </a:r>
            <a:r>
              <a:rPr lang="en-US" altLang="zh-CN" dirty="0" err="1"/>
              <a:t>temp.image</a:t>
            </a:r>
            <a:r>
              <a:rPr lang="en-US" altLang="zh-CN" dirty="0"/>
              <a:t>=image*</a:t>
            </a:r>
            <a:r>
              <a:rPr lang="en-US" altLang="zh-CN" dirty="0" err="1"/>
              <a:t>other.real+real</a:t>
            </a:r>
            <a:r>
              <a:rPr lang="en-US" altLang="zh-CN" dirty="0"/>
              <a:t>*</a:t>
            </a:r>
            <a:r>
              <a:rPr lang="en-US" altLang="zh-CN" dirty="0" err="1"/>
              <a:t>other.image</a:t>
            </a:r>
            <a:r>
              <a:rPr lang="en-US" altLang="zh-CN" dirty="0"/>
              <a:t>;  </a:t>
            </a:r>
          </a:p>
          <a:p>
            <a:r>
              <a:rPr lang="en-US" altLang="zh-CN" dirty="0"/>
              <a:t>    return temp;  </a:t>
            </a:r>
          </a:p>
          <a:p>
            <a:r>
              <a:rPr lang="en-US" altLang="zh-CN" dirty="0"/>
              <a:t>}  </a:t>
            </a:r>
          </a:p>
          <a:p>
            <a:r>
              <a:rPr lang="en-US" altLang="zh-CN" dirty="0"/>
              <a:t>COMPLEX COMPLEX::operator/(const COMPLEX&amp; other)        </a:t>
            </a:r>
          </a:p>
          <a:p>
            <a:r>
              <a:rPr lang="en-US" altLang="zh-CN" dirty="0"/>
              <a:t>{  COMPLEX temp; </a:t>
            </a:r>
          </a:p>
          <a:p>
            <a:r>
              <a:rPr lang="en-US" altLang="zh-CN" dirty="0"/>
              <a:t>    double t=(</a:t>
            </a:r>
            <a:r>
              <a:rPr lang="en-US" altLang="zh-CN" dirty="0" err="1"/>
              <a:t>other.image</a:t>
            </a:r>
            <a:r>
              <a:rPr lang="en-US" altLang="zh-CN" dirty="0"/>
              <a:t>*</a:t>
            </a:r>
            <a:r>
              <a:rPr lang="en-US" altLang="zh-CN" dirty="0" err="1"/>
              <a:t>other.image+other.real</a:t>
            </a:r>
            <a:r>
              <a:rPr lang="en-US" altLang="zh-CN" dirty="0"/>
              <a:t>*</a:t>
            </a:r>
            <a:r>
              <a:rPr lang="en-US" altLang="zh-CN" dirty="0" err="1"/>
              <a:t>other.real</a:t>
            </a:r>
            <a:r>
              <a:rPr lang="en-US" altLang="zh-CN" dirty="0"/>
              <a:t>);</a:t>
            </a:r>
          </a:p>
          <a:p>
            <a:r>
              <a:rPr lang="en-US" altLang="zh-CN" dirty="0"/>
              <a:t>    </a:t>
            </a:r>
            <a:r>
              <a:rPr lang="en-US" altLang="zh-CN" dirty="0" err="1"/>
              <a:t>temp.real</a:t>
            </a:r>
            <a:r>
              <a:rPr lang="en-US" altLang="zh-CN" dirty="0"/>
              <a:t>=(real*</a:t>
            </a:r>
            <a:r>
              <a:rPr lang="en-US" altLang="zh-CN" dirty="0" err="1"/>
              <a:t>other.real+image</a:t>
            </a:r>
            <a:r>
              <a:rPr lang="en-US" altLang="zh-CN" dirty="0"/>
              <a:t>*</a:t>
            </a:r>
            <a:r>
              <a:rPr lang="en-US" altLang="zh-CN" dirty="0" err="1"/>
              <a:t>other.image</a:t>
            </a:r>
            <a:r>
              <a:rPr lang="en-US" altLang="zh-CN" dirty="0"/>
              <a:t>)/t;</a:t>
            </a:r>
          </a:p>
          <a:p>
            <a:r>
              <a:rPr lang="en-US" altLang="zh-CN" dirty="0"/>
              <a:t>    </a:t>
            </a:r>
            <a:r>
              <a:rPr lang="en-US" altLang="zh-CN" dirty="0" err="1"/>
              <a:t>temp.image</a:t>
            </a:r>
            <a:r>
              <a:rPr lang="en-US" altLang="zh-CN" dirty="0"/>
              <a:t>=(real*</a:t>
            </a:r>
            <a:r>
              <a:rPr lang="en-US" altLang="zh-CN" dirty="0" err="1"/>
              <a:t>other.real+image</a:t>
            </a:r>
            <a:r>
              <a:rPr lang="en-US" altLang="zh-CN" dirty="0"/>
              <a:t>*</a:t>
            </a:r>
            <a:r>
              <a:rPr lang="en-US" altLang="zh-CN" dirty="0" err="1"/>
              <a:t>other.image</a:t>
            </a:r>
            <a:r>
              <a:rPr lang="en-US" altLang="zh-CN" dirty="0"/>
              <a:t>)/t; </a:t>
            </a:r>
          </a:p>
          <a:p>
            <a:r>
              <a:rPr lang="en-US" altLang="zh-CN" dirty="0"/>
              <a:t>    return temp;</a:t>
            </a:r>
          </a:p>
          <a:p>
            <a:r>
              <a:rPr lang="en-US" altLang="zh-CN" dirty="0"/>
              <a:t>} </a:t>
            </a:r>
          </a:p>
          <a:p>
            <a:r>
              <a:rPr lang="en-US" altLang="zh-CN" dirty="0"/>
              <a:t>COMPLEX&amp;  COMPLEX::operator=(const COMPLEX&amp; other)</a:t>
            </a:r>
          </a:p>
          <a:p>
            <a:r>
              <a:rPr lang="en-US" altLang="zh-CN" dirty="0"/>
              <a:t>{	real=</a:t>
            </a:r>
            <a:r>
              <a:rPr lang="en-US" altLang="zh-CN" dirty="0" err="1"/>
              <a:t>other.real</a:t>
            </a:r>
            <a:r>
              <a:rPr lang="en-US" altLang="zh-CN" dirty="0"/>
              <a:t>;</a:t>
            </a:r>
          </a:p>
          <a:p>
            <a:r>
              <a:rPr lang="en-US" altLang="zh-CN" dirty="0"/>
              <a:t>	image=</a:t>
            </a:r>
            <a:r>
              <a:rPr lang="en-US" altLang="zh-CN" dirty="0" err="1"/>
              <a:t>other.image</a:t>
            </a:r>
            <a:r>
              <a:rPr lang="en-US" altLang="zh-CN" dirty="0"/>
              <a:t>;</a:t>
            </a:r>
          </a:p>
          <a:p>
            <a:r>
              <a:rPr lang="en-US" altLang="zh-CN" dirty="0"/>
              <a:t>	return *this;</a:t>
            </a:r>
          </a:p>
          <a:p>
            <a:r>
              <a:rPr lang="en-US" altLang="zh-CN" dirty="0"/>
              <a:t>}</a:t>
            </a:r>
          </a:p>
          <a:p>
            <a:endParaRPr lang="en-US" altLang="zh-CN" dirty="0"/>
          </a:p>
          <a:p>
            <a:r>
              <a:rPr lang="en-US" altLang="zh-CN" dirty="0"/>
              <a:t>bool  COMPLEX::operator==(const COMPLEX&amp; other){</a:t>
            </a:r>
          </a:p>
          <a:p>
            <a:r>
              <a:rPr lang="en-US" altLang="zh-CN" dirty="0"/>
              <a:t>	return ((this-&gt;real==</a:t>
            </a:r>
            <a:r>
              <a:rPr lang="en-US" altLang="zh-CN" dirty="0" err="1"/>
              <a:t>other.real</a:t>
            </a:r>
            <a:r>
              <a:rPr lang="en-US" altLang="zh-CN" dirty="0"/>
              <a:t>) &amp;&amp; (this-&gt;image==</a:t>
            </a:r>
            <a:r>
              <a:rPr lang="en-US" altLang="zh-CN" dirty="0" err="1"/>
              <a:t>other.image</a:t>
            </a:r>
            <a:r>
              <a:rPr lang="en-US" altLang="zh-CN" dirty="0"/>
              <a:t>));</a:t>
            </a:r>
          </a:p>
          <a:p>
            <a:r>
              <a:rPr lang="en-US" altLang="zh-CN" dirty="0"/>
              <a:t>}</a:t>
            </a:r>
          </a:p>
          <a:p>
            <a:r>
              <a:rPr lang="en-US" altLang="zh-CN" dirty="0"/>
              <a:t>bool  COMPLEX::operator!=(const COMPLEX&amp; other){</a:t>
            </a:r>
          </a:p>
          <a:p>
            <a:r>
              <a:rPr lang="en-US" altLang="zh-CN" dirty="0"/>
              <a:t>	return !(*this==other);</a:t>
            </a:r>
          </a:p>
          <a:p>
            <a:r>
              <a:rPr lang="en-US" altLang="zh-CN" dirty="0"/>
              <a:t>}</a:t>
            </a:r>
          </a:p>
          <a:p>
            <a:endParaRPr lang="en-US" altLang="zh-CN" dirty="0"/>
          </a:p>
          <a:p>
            <a:r>
              <a:rPr lang="en-US" altLang="zh-CN" dirty="0"/>
              <a:t>double COMPLEX::</a:t>
            </a:r>
            <a:r>
              <a:rPr lang="en-US" altLang="zh-CN" dirty="0" err="1"/>
              <a:t>getImage</a:t>
            </a:r>
            <a:r>
              <a:rPr lang="en-US" altLang="zh-CN" dirty="0"/>
              <a:t>(){</a:t>
            </a:r>
          </a:p>
          <a:p>
            <a:r>
              <a:rPr lang="en-US" altLang="zh-CN" dirty="0"/>
              <a:t>	return image;</a:t>
            </a:r>
          </a:p>
          <a:p>
            <a:r>
              <a:rPr lang="en-US" altLang="zh-CN" dirty="0"/>
              <a:t>}</a:t>
            </a:r>
          </a:p>
          <a:p>
            <a:r>
              <a:rPr lang="en-US" altLang="zh-CN" dirty="0"/>
              <a:t>double COMPLEX::</a:t>
            </a:r>
            <a:r>
              <a:rPr lang="en-US" altLang="zh-CN" dirty="0" err="1"/>
              <a:t>getReal</a:t>
            </a:r>
            <a:r>
              <a:rPr lang="en-US" altLang="zh-CN" dirty="0"/>
              <a:t>(){</a:t>
            </a:r>
          </a:p>
          <a:p>
            <a:r>
              <a:rPr lang="en-US" altLang="zh-CN" dirty="0"/>
              <a:t>	return real;</a:t>
            </a:r>
          </a:p>
          <a:p>
            <a:r>
              <a:rPr lang="en-US" altLang="zh-CN" dirty="0"/>
              <a:t>}</a:t>
            </a:r>
          </a:p>
          <a:p>
            <a:r>
              <a:rPr lang="en-US" altLang="zh-CN" dirty="0"/>
              <a:t>double COMPLEX::</a:t>
            </a:r>
            <a:r>
              <a:rPr lang="en-US" altLang="zh-CN" dirty="0" err="1"/>
              <a:t>getModuls</a:t>
            </a:r>
            <a:r>
              <a:rPr lang="en-US" altLang="zh-CN" dirty="0"/>
              <a:t>(){</a:t>
            </a:r>
          </a:p>
          <a:p>
            <a:r>
              <a:rPr lang="en-US" altLang="zh-CN" dirty="0"/>
              <a:t>	return sqrt(image*</a:t>
            </a:r>
            <a:r>
              <a:rPr lang="en-US" altLang="zh-CN" dirty="0" err="1"/>
              <a:t>image+real</a:t>
            </a:r>
            <a:r>
              <a:rPr lang="en-US" altLang="zh-CN" dirty="0"/>
              <a:t>*real);</a:t>
            </a:r>
          </a:p>
          <a:p>
            <a:r>
              <a:rPr lang="en-US" altLang="zh-CN" dirty="0"/>
              <a:t>}</a:t>
            </a:r>
          </a:p>
          <a:p>
            <a:endParaRPr lang="en-US" altLang="zh-CN" dirty="0"/>
          </a:p>
          <a:p>
            <a:r>
              <a:rPr lang="en-US" altLang="zh-CN" dirty="0"/>
              <a:t>void COMPLEX::print()</a:t>
            </a:r>
          </a:p>
          <a:p>
            <a:r>
              <a:rPr lang="en-US" altLang="zh-CN" dirty="0"/>
              <a:t>{	if(real!=0) </a:t>
            </a:r>
            <a:r>
              <a:rPr lang="en-US" altLang="zh-CN" dirty="0" err="1"/>
              <a:t>cout</a:t>
            </a:r>
            <a:r>
              <a:rPr lang="en-US" altLang="zh-CN" dirty="0"/>
              <a:t> &lt;&lt; real;</a:t>
            </a:r>
          </a:p>
          <a:p>
            <a:r>
              <a:rPr lang="en-US" altLang="zh-CN" dirty="0"/>
              <a:t>	else if(image==0) { </a:t>
            </a:r>
            <a:r>
              <a:rPr lang="en-US" altLang="zh-CN" dirty="0" err="1"/>
              <a:t>cout</a:t>
            </a:r>
            <a:r>
              <a:rPr lang="en-US" altLang="zh-CN" dirty="0"/>
              <a:t>&lt;&lt;0&lt;&lt;'\n'; return; }</a:t>
            </a:r>
          </a:p>
          <a:p>
            <a:r>
              <a:rPr lang="en-US" altLang="zh-CN" dirty="0"/>
              <a:t>	if (image &gt; 0) </a:t>
            </a:r>
          </a:p>
          <a:p>
            <a:r>
              <a:rPr lang="en-US" altLang="zh-CN" dirty="0"/>
              <a:t>	{	if(image!=1) </a:t>
            </a:r>
            <a:r>
              <a:rPr lang="en-US" altLang="zh-CN" dirty="0" err="1"/>
              <a:t>cout</a:t>
            </a:r>
            <a:r>
              <a:rPr lang="en-US" altLang="zh-CN" dirty="0"/>
              <a:t> &lt;&lt; "+" &lt;&lt; image &lt;&lt; "</a:t>
            </a:r>
            <a:r>
              <a:rPr lang="en-US" altLang="zh-CN" dirty="0" err="1"/>
              <a:t>i</a:t>
            </a:r>
            <a:r>
              <a:rPr lang="en-US" altLang="zh-CN" dirty="0"/>
              <a:t>";</a:t>
            </a:r>
          </a:p>
          <a:p>
            <a:r>
              <a:rPr lang="en-US" altLang="zh-CN" dirty="0"/>
              <a:t>		else </a:t>
            </a:r>
            <a:r>
              <a:rPr lang="en-US" altLang="zh-CN" dirty="0" err="1"/>
              <a:t>cout</a:t>
            </a:r>
            <a:r>
              <a:rPr lang="en-US" altLang="zh-CN" dirty="0"/>
              <a:t> &lt;&lt; "+" &lt;&lt; "</a:t>
            </a:r>
            <a:r>
              <a:rPr lang="en-US" altLang="zh-CN" dirty="0" err="1"/>
              <a:t>i</a:t>
            </a:r>
            <a:r>
              <a:rPr lang="en-US" altLang="zh-CN" dirty="0"/>
              <a:t>";</a:t>
            </a:r>
          </a:p>
          <a:p>
            <a:r>
              <a:rPr lang="en-US" altLang="zh-CN" dirty="0"/>
              <a:t>	}</a:t>
            </a:r>
          </a:p>
          <a:p>
            <a:r>
              <a:rPr lang="en-US" altLang="zh-CN" dirty="0"/>
              <a:t>	else if (image &lt; 0) </a:t>
            </a:r>
          </a:p>
          <a:p>
            <a:r>
              <a:rPr lang="en-US" altLang="zh-CN" dirty="0"/>
              <a:t>	{	if(image!=-1) </a:t>
            </a:r>
            <a:r>
              <a:rPr lang="en-US" altLang="zh-CN" dirty="0" err="1"/>
              <a:t>cout</a:t>
            </a:r>
            <a:r>
              <a:rPr lang="en-US" altLang="zh-CN" dirty="0"/>
              <a:t> &lt;&lt; image &lt;&lt; "</a:t>
            </a:r>
            <a:r>
              <a:rPr lang="en-US" altLang="zh-CN" dirty="0" err="1"/>
              <a:t>i</a:t>
            </a:r>
            <a:r>
              <a:rPr lang="en-US" altLang="zh-CN" dirty="0"/>
              <a:t>";</a:t>
            </a:r>
          </a:p>
          <a:p>
            <a:r>
              <a:rPr lang="en-US" altLang="zh-CN" dirty="0"/>
              <a:t>		else </a:t>
            </a:r>
            <a:r>
              <a:rPr lang="en-US" altLang="zh-CN" dirty="0" err="1"/>
              <a:t>cout</a:t>
            </a:r>
            <a:r>
              <a:rPr lang="en-US" altLang="zh-CN" dirty="0"/>
              <a:t> &lt;&lt; "-" &lt;&lt; "</a:t>
            </a:r>
            <a:r>
              <a:rPr lang="en-US" altLang="zh-CN" dirty="0" err="1"/>
              <a:t>i</a:t>
            </a:r>
            <a:r>
              <a:rPr lang="en-US" altLang="zh-CN" dirty="0"/>
              <a:t>";</a:t>
            </a:r>
          </a:p>
          <a:p>
            <a:r>
              <a:rPr lang="en-US" altLang="zh-CN" dirty="0"/>
              <a:t>	}</a:t>
            </a:r>
          </a:p>
          <a:p>
            <a:r>
              <a:rPr lang="en-US" altLang="zh-CN" dirty="0"/>
              <a:t>	</a:t>
            </a:r>
            <a:r>
              <a:rPr lang="en-US" altLang="zh-CN" dirty="0" err="1"/>
              <a:t>cout</a:t>
            </a:r>
            <a:r>
              <a:rPr lang="en-US" altLang="zh-CN" dirty="0"/>
              <a:t> &lt;&lt; "\n";</a:t>
            </a:r>
          </a:p>
          <a:p>
            <a:r>
              <a:rPr lang="en-US" altLang="zh-CN" dirty="0"/>
              <a:t>}</a:t>
            </a:r>
          </a:p>
          <a:p>
            <a:endParaRPr lang="en-US" altLang="zh-CN" dirty="0"/>
          </a:p>
          <a:p>
            <a:r>
              <a:rPr lang="en-US" altLang="zh-CN" dirty="0"/>
              <a:t>int main()</a:t>
            </a:r>
          </a:p>
          <a:p>
            <a:r>
              <a:rPr lang="en-US" altLang="zh-CN" dirty="0"/>
              <a:t>{	COMPLEX c1(1, 2);  </a:t>
            </a:r>
          </a:p>
          <a:p>
            <a:r>
              <a:rPr lang="en-US" altLang="zh-CN" dirty="0"/>
              <a:t>	COMPLEX c2(2);	</a:t>
            </a:r>
          </a:p>
          <a:p>
            <a:r>
              <a:rPr lang="en-US" altLang="zh-CN" dirty="0"/>
              <a:t>	COMPLEX c3(c1);	</a:t>
            </a:r>
          </a:p>
          <a:p>
            <a:r>
              <a:rPr lang="en-US" altLang="zh-CN" dirty="0"/>
              <a:t>//	c1.print();</a:t>
            </a:r>
          </a:p>
          <a:p>
            <a:r>
              <a:rPr lang="en-US" altLang="zh-CN" dirty="0"/>
              <a:t>//	c2.print(); 			</a:t>
            </a:r>
          </a:p>
          <a:p>
            <a:r>
              <a:rPr lang="en-US" altLang="zh-CN" dirty="0"/>
              <a:t>//	c3.print();			</a:t>
            </a:r>
          </a:p>
          <a:p>
            <a:r>
              <a:rPr lang="en-US" altLang="zh-CN" dirty="0"/>
              <a:t>//	c1 = c1 + c2 + c3;		</a:t>
            </a:r>
          </a:p>
          <a:p>
            <a:r>
              <a:rPr lang="en-US" altLang="zh-CN" dirty="0"/>
              <a:t>//	c2 = -c3;		</a:t>
            </a:r>
          </a:p>
          <a:p>
            <a:r>
              <a:rPr lang="en-US" altLang="zh-CN" dirty="0"/>
              <a:t>	c3 = c2 = c1;</a:t>
            </a:r>
          </a:p>
          <a:p>
            <a:r>
              <a:rPr lang="en-US" altLang="zh-CN" dirty="0"/>
              <a:t>		</a:t>
            </a:r>
          </a:p>
          <a:p>
            <a:r>
              <a:rPr lang="en-US" altLang="zh-CN" dirty="0"/>
              <a:t>	c1.print();</a:t>
            </a:r>
          </a:p>
          <a:p>
            <a:r>
              <a:rPr lang="en-US" altLang="zh-CN" dirty="0"/>
              <a:t>	c2.print(); 			</a:t>
            </a:r>
          </a:p>
          <a:p>
            <a:r>
              <a:rPr lang="en-US" altLang="zh-CN" dirty="0"/>
              <a:t>	c3.print(); 	</a:t>
            </a:r>
          </a:p>
          <a:p>
            <a:r>
              <a:rPr lang="en-US" altLang="zh-CN" dirty="0"/>
              <a:t>	return 0;</a:t>
            </a:r>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12</a:t>
            </a:fld>
            <a:endParaRPr lang="zh-CN" altLang="en-US"/>
          </a:p>
        </p:txBody>
      </p:sp>
    </p:spTree>
    <p:extLst>
      <p:ext uri="{BB962C8B-B14F-4D97-AF65-F5344CB8AC3E}">
        <p14:creationId xmlns:p14="http://schemas.microsoft.com/office/powerpoint/2010/main" val="385325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37B91-A6F5-4B5F-5592-A4F9E59848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E59C5D-F0EF-6BBF-8DDF-1FA7C180B1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F3C2FA-FD64-0A99-413E-9D436491C662}"/>
              </a:ext>
            </a:extLst>
          </p:cNvPr>
          <p:cNvSpPr>
            <a:spLocks noGrp="1"/>
          </p:cNvSpPr>
          <p:nvPr>
            <p:ph type="body" idx="1"/>
          </p:nvPr>
        </p:nvSpPr>
        <p:spPr/>
        <p:txBody>
          <a:bodyPr/>
          <a:lstStyle/>
          <a:p>
            <a:r>
              <a:rPr lang="en-US" altLang="zh-CN" dirty="0"/>
              <a:t>#include &lt;iostream&gt;</a:t>
            </a:r>
          </a:p>
          <a:p>
            <a:r>
              <a:rPr lang="en-US" altLang="zh-CN" dirty="0"/>
              <a:t>#include &lt;</a:t>
            </a:r>
            <a:r>
              <a:rPr lang="en-US" altLang="zh-CN" dirty="0" err="1"/>
              <a:t>iomanip</a:t>
            </a:r>
            <a:r>
              <a:rPr lang="en-US" altLang="zh-CN" dirty="0"/>
              <a:t>&gt;</a:t>
            </a:r>
          </a:p>
          <a:p>
            <a:r>
              <a:rPr lang="en-US" altLang="zh-CN" dirty="0"/>
              <a:t>#include &lt;</a:t>
            </a:r>
            <a:r>
              <a:rPr lang="en-US" altLang="zh-CN" dirty="0" err="1"/>
              <a:t>string.h</a:t>
            </a:r>
            <a:r>
              <a:rPr lang="en-US" altLang="zh-CN" dirty="0"/>
              <a:t>&gt;</a:t>
            </a:r>
          </a:p>
          <a:p>
            <a:r>
              <a:rPr lang="en-US" altLang="zh-CN" dirty="0"/>
              <a:t>#include &lt;</a:t>
            </a:r>
            <a:r>
              <a:rPr lang="en-US" altLang="zh-CN" dirty="0" err="1"/>
              <a:t>cmath</a:t>
            </a:r>
            <a:r>
              <a:rPr lang="en-US" altLang="zh-CN" dirty="0"/>
              <a:t>&gt;</a:t>
            </a:r>
          </a:p>
          <a:p>
            <a:r>
              <a:rPr lang="en-US" altLang="zh-CN" dirty="0"/>
              <a:t>using namespace std;</a:t>
            </a:r>
          </a:p>
          <a:p>
            <a:r>
              <a:rPr lang="en-US" altLang="zh-CN" dirty="0"/>
              <a:t>class COMPLEX {												</a:t>
            </a:r>
          </a:p>
          <a:p>
            <a:r>
              <a:rPr lang="en-US" altLang="zh-CN" dirty="0"/>
              <a:t>public:	</a:t>
            </a:r>
          </a:p>
          <a:p>
            <a:r>
              <a:rPr lang="en-US" altLang="zh-CN" dirty="0"/>
              <a:t>COMPLEX(double r = 0, double </a:t>
            </a:r>
            <a:r>
              <a:rPr lang="en-US" altLang="zh-CN" dirty="0" err="1"/>
              <a:t>i</a:t>
            </a:r>
            <a:r>
              <a:rPr lang="en-US" altLang="zh-CN" dirty="0"/>
              <a:t> = 0);	</a:t>
            </a:r>
          </a:p>
          <a:p>
            <a:r>
              <a:rPr lang="en-US" altLang="zh-CN" dirty="0"/>
              <a:t>COMPLEX(const COMPLEX&amp; other);</a:t>
            </a:r>
          </a:p>
          <a:p>
            <a:r>
              <a:rPr lang="en-US" altLang="zh-CN" dirty="0"/>
              <a:t>COMPLEX&amp; operator=(const COMPLEX&amp; other);</a:t>
            </a:r>
          </a:p>
          <a:p>
            <a:r>
              <a:rPr lang="en-US" altLang="zh-CN" dirty="0"/>
              <a:t>void print();</a:t>
            </a:r>
          </a:p>
          <a:p>
            <a:r>
              <a:rPr lang="en-US" altLang="zh-CN" dirty="0"/>
              <a:t>private: double real, image;</a:t>
            </a:r>
          </a:p>
          <a:p>
            <a:r>
              <a:rPr lang="en-US" altLang="zh-CN" dirty="0"/>
              <a:t>}; </a:t>
            </a:r>
          </a:p>
          <a:p>
            <a:endParaRPr lang="en-US" altLang="zh-CN" dirty="0"/>
          </a:p>
          <a:p>
            <a:r>
              <a:rPr lang="en-US" altLang="zh-CN" dirty="0"/>
              <a:t>COMPLEX::COMPLEX(double r, double </a:t>
            </a:r>
            <a:r>
              <a:rPr lang="en-US" altLang="zh-CN" dirty="0" err="1"/>
              <a:t>i</a:t>
            </a:r>
            <a:r>
              <a:rPr lang="en-US" altLang="zh-CN" dirty="0"/>
              <a:t>)</a:t>
            </a:r>
          </a:p>
          <a:p>
            <a:r>
              <a:rPr lang="en-US" altLang="zh-CN" dirty="0"/>
              <a:t>{	real=r;  image=</a:t>
            </a:r>
            <a:r>
              <a:rPr lang="en-US" altLang="zh-CN" dirty="0" err="1"/>
              <a:t>i</a:t>
            </a:r>
            <a:r>
              <a:rPr lang="en-US" altLang="zh-CN" dirty="0"/>
              <a:t>;}</a:t>
            </a:r>
          </a:p>
          <a:p>
            <a:r>
              <a:rPr lang="en-US" altLang="zh-CN" dirty="0"/>
              <a:t>COMPLEX::COMPLEX(const COMPLEX&amp; other)</a:t>
            </a:r>
          </a:p>
          <a:p>
            <a:r>
              <a:rPr lang="en-US" altLang="zh-CN" dirty="0"/>
              <a:t>{	real=</a:t>
            </a:r>
            <a:r>
              <a:rPr lang="en-US" altLang="zh-CN" dirty="0" err="1"/>
              <a:t>other.real</a:t>
            </a:r>
            <a:r>
              <a:rPr lang="en-US" altLang="zh-CN" dirty="0"/>
              <a:t>;  image=</a:t>
            </a:r>
            <a:r>
              <a:rPr lang="en-US" altLang="zh-CN" dirty="0" err="1"/>
              <a:t>other.image</a:t>
            </a:r>
            <a:r>
              <a:rPr lang="en-US" altLang="zh-CN" dirty="0"/>
              <a:t>;</a:t>
            </a:r>
          </a:p>
          <a:p>
            <a:r>
              <a:rPr lang="en-US" altLang="zh-CN" dirty="0" err="1"/>
              <a:t>cout</a:t>
            </a:r>
            <a:r>
              <a:rPr lang="en-US" altLang="zh-CN" dirty="0"/>
              <a:t>&lt;&lt;"hello\n";</a:t>
            </a:r>
          </a:p>
          <a:p>
            <a:r>
              <a:rPr lang="en-US" altLang="zh-CN" dirty="0"/>
              <a:t>} </a:t>
            </a:r>
          </a:p>
          <a:p>
            <a:endParaRPr lang="en-US" altLang="zh-CN" dirty="0"/>
          </a:p>
          <a:p>
            <a:r>
              <a:rPr lang="en-US" altLang="zh-CN" dirty="0"/>
              <a:t>COMPLEX&amp;  COMPLEX::operator=(const COMPLEX&amp; other)</a:t>
            </a:r>
          </a:p>
          <a:p>
            <a:r>
              <a:rPr lang="en-US" altLang="zh-CN" dirty="0"/>
              <a:t>{	real=</a:t>
            </a:r>
            <a:r>
              <a:rPr lang="en-US" altLang="zh-CN" dirty="0" err="1"/>
              <a:t>other.real</a:t>
            </a:r>
            <a:r>
              <a:rPr lang="en-US" altLang="zh-CN" dirty="0"/>
              <a:t>;</a:t>
            </a:r>
          </a:p>
          <a:p>
            <a:r>
              <a:rPr lang="en-US" altLang="zh-CN" dirty="0"/>
              <a:t>	image=</a:t>
            </a:r>
            <a:r>
              <a:rPr lang="en-US" altLang="zh-CN" dirty="0" err="1"/>
              <a:t>other.image</a:t>
            </a:r>
            <a:r>
              <a:rPr lang="en-US" altLang="zh-CN" dirty="0"/>
              <a:t>;</a:t>
            </a:r>
          </a:p>
          <a:p>
            <a:r>
              <a:rPr lang="en-US" altLang="zh-CN" dirty="0"/>
              <a:t>	return *this;</a:t>
            </a:r>
          </a:p>
          <a:p>
            <a:r>
              <a:rPr lang="en-US" altLang="zh-CN" dirty="0"/>
              <a:t>}</a:t>
            </a:r>
          </a:p>
          <a:p>
            <a:endParaRPr lang="en-US" altLang="zh-CN" dirty="0"/>
          </a:p>
          <a:p>
            <a:r>
              <a:rPr lang="en-US" altLang="zh-CN" dirty="0"/>
              <a:t>void COMPLEX::print()</a:t>
            </a:r>
          </a:p>
          <a:p>
            <a:r>
              <a:rPr lang="en-US" altLang="zh-CN" dirty="0"/>
              <a:t>{	if(real!=0) </a:t>
            </a:r>
            <a:r>
              <a:rPr lang="en-US" altLang="zh-CN" dirty="0" err="1"/>
              <a:t>cout</a:t>
            </a:r>
            <a:r>
              <a:rPr lang="en-US" altLang="zh-CN" dirty="0"/>
              <a:t> &lt;&lt; real;</a:t>
            </a:r>
          </a:p>
          <a:p>
            <a:r>
              <a:rPr lang="en-US" altLang="zh-CN" dirty="0"/>
              <a:t>	else if(image==0) { </a:t>
            </a:r>
            <a:r>
              <a:rPr lang="en-US" altLang="zh-CN" dirty="0" err="1"/>
              <a:t>cout</a:t>
            </a:r>
            <a:r>
              <a:rPr lang="en-US" altLang="zh-CN" dirty="0"/>
              <a:t>&lt;&lt;0&lt;&lt;'\n'; return; }</a:t>
            </a:r>
          </a:p>
          <a:p>
            <a:r>
              <a:rPr lang="en-US" altLang="zh-CN" dirty="0"/>
              <a:t>	if (image &gt; 0) </a:t>
            </a:r>
          </a:p>
          <a:p>
            <a:r>
              <a:rPr lang="en-US" altLang="zh-CN" dirty="0"/>
              <a:t>	{	if(image!=1) </a:t>
            </a:r>
            <a:r>
              <a:rPr lang="en-US" altLang="zh-CN" dirty="0" err="1"/>
              <a:t>cout</a:t>
            </a:r>
            <a:r>
              <a:rPr lang="en-US" altLang="zh-CN" dirty="0"/>
              <a:t> &lt;&lt; "+" &lt;&lt; image &lt;&lt; "</a:t>
            </a:r>
            <a:r>
              <a:rPr lang="en-US" altLang="zh-CN" dirty="0" err="1"/>
              <a:t>i</a:t>
            </a:r>
            <a:r>
              <a:rPr lang="en-US" altLang="zh-CN" dirty="0"/>
              <a:t>";</a:t>
            </a:r>
          </a:p>
          <a:p>
            <a:r>
              <a:rPr lang="en-US" altLang="zh-CN" dirty="0"/>
              <a:t>		else </a:t>
            </a:r>
            <a:r>
              <a:rPr lang="en-US" altLang="zh-CN" dirty="0" err="1"/>
              <a:t>cout</a:t>
            </a:r>
            <a:r>
              <a:rPr lang="en-US" altLang="zh-CN" dirty="0"/>
              <a:t> &lt;&lt; "+" &lt;&lt; "</a:t>
            </a:r>
            <a:r>
              <a:rPr lang="en-US" altLang="zh-CN" dirty="0" err="1"/>
              <a:t>i</a:t>
            </a:r>
            <a:r>
              <a:rPr lang="en-US" altLang="zh-CN" dirty="0"/>
              <a:t>";</a:t>
            </a:r>
          </a:p>
          <a:p>
            <a:r>
              <a:rPr lang="en-US" altLang="zh-CN" dirty="0"/>
              <a:t>	}</a:t>
            </a:r>
          </a:p>
          <a:p>
            <a:r>
              <a:rPr lang="en-US" altLang="zh-CN" dirty="0"/>
              <a:t>	else if (image &lt; 0) </a:t>
            </a:r>
          </a:p>
          <a:p>
            <a:r>
              <a:rPr lang="en-US" altLang="zh-CN" dirty="0"/>
              <a:t>	{	if(image!=-1) </a:t>
            </a:r>
            <a:r>
              <a:rPr lang="en-US" altLang="zh-CN" dirty="0" err="1"/>
              <a:t>cout</a:t>
            </a:r>
            <a:r>
              <a:rPr lang="en-US" altLang="zh-CN" dirty="0"/>
              <a:t> &lt;&lt; image &lt;&lt; "</a:t>
            </a:r>
            <a:r>
              <a:rPr lang="en-US" altLang="zh-CN" dirty="0" err="1"/>
              <a:t>i</a:t>
            </a:r>
            <a:r>
              <a:rPr lang="en-US" altLang="zh-CN" dirty="0"/>
              <a:t>";</a:t>
            </a:r>
          </a:p>
          <a:p>
            <a:r>
              <a:rPr lang="en-US" altLang="zh-CN" dirty="0"/>
              <a:t>		else </a:t>
            </a:r>
            <a:r>
              <a:rPr lang="en-US" altLang="zh-CN" dirty="0" err="1"/>
              <a:t>cout</a:t>
            </a:r>
            <a:r>
              <a:rPr lang="en-US" altLang="zh-CN" dirty="0"/>
              <a:t> &lt;&lt; "-" &lt;&lt; "</a:t>
            </a:r>
            <a:r>
              <a:rPr lang="en-US" altLang="zh-CN" dirty="0" err="1"/>
              <a:t>i</a:t>
            </a:r>
            <a:r>
              <a:rPr lang="en-US" altLang="zh-CN" dirty="0"/>
              <a:t>";</a:t>
            </a:r>
          </a:p>
          <a:p>
            <a:r>
              <a:rPr lang="en-US" altLang="zh-CN" dirty="0"/>
              <a:t>	}</a:t>
            </a:r>
          </a:p>
          <a:p>
            <a:r>
              <a:rPr lang="en-US" altLang="zh-CN" dirty="0"/>
              <a:t>	</a:t>
            </a:r>
            <a:r>
              <a:rPr lang="en-US" altLang="zh-CN" dirty="0" err="1"/>
              <a:t>cout</a:t>
            </a:r>
            <a:r>
              <a:rPr lang="en-US" altLang="zh-CN" dirty="0"/>
              <a:t> &lt;&lt; "\n";</a:t>
            </a:r>
          </a:p>
          <a:p>
            <a:r>
              <a:rPr lang="en-US" altLang="zh-CN" dirty="0"/>
              <a:t>}</a:t>
            </a:r>
          </a:p>
          <a:p>
            <a:endParaRPr lang="en-US" altLang="zh-CN" dirty="0"/>
          </a:p>
          <a:p>
            <a:r>
              <a:rPr lang="en-US" altLang="zh-CN" dirty="0"/>
              <a:t>int main()</a:t>
            </a:r>
          </a:p>
          <a:p>
            <a:r>
              <a:rPr lang="en-US" altLang="zh-CN" dirty="0"/>
              <a:t>{	COMPLEX c1(1, 2);  </a:t>
            </a:r>
          </a:p>
          <a:p>
            <a:r>
              <a:rPr lang="en-US" altLang="zh-CN" dirty="0"/>
              <a:t>	COMPLEX c2(2);	</a:t>
            </a:r>
          </a:p>
          <a:p>
            <a:r>
              <a:rPr lang="en-US" altLang="zh-CN" dirty="0"/>
              <a:t>	COMPLEX c3(c2);					</a:t>
            </a:r>
          </a:p>
          <a:p>
            <a:r>
              <a:rPr lang="en-US" altLang="zh-CN" dirty="0"/>
              <a:t>	c1.print();</a:t>
            </a:r>
          </a:p>
          <a:p>
            <a:r>
              <a:rPr lang="en-US" altLang="zh-CN" dirty="0"/>
              <a:t>	c2.print(); </a:t>
            </a:r>
          </a:p>
          <a:p>
            <a:r>
              <a:rPr lang="en-US" altLang="zh-CN" dirty="0"/>
              <a:t>	c3 = c2 = c1;			</a:t>
            </a:r>
          </a:p>
          <a:p>
            <a:r>
              <a:rPr lang="en-US" altLang="zh-CN" dirty="0"/>
              <a:t>	c3.print(); 	</a:t>
            </a:r>
          </a:p>
          <a:p>
            <a:r>
              <a:rPr lang="en-US" altLang="zh-CN" dirty="0"/>
              <a:t>	return 0;</a:t>
            </a:r>
          </a:p>
          <a:p>
            <a:r>
              <a:rPr lang="en-US" altLang="zh-CN" dirty="0"/>
              <a:t>} </a:t>
            </a:r>
            <a:endParaRPr lang="zh-CN" altLang="en-US" dirty="0"/>
          </a:p>
        </p:txBody>
      </p:sp>
      <p:sp>
        <p:nvSpPr>
          <p:cNvPr id="4" name="灯片编号占位符 3">
            <a:extLst>
              <a:ext uri="{FF2B5EF4-FFF2-40B4-BE49-F238E27FC236}">
                <a16:creationId xmlns:a16="http://schemas.microsoft.com/office/drawing/2014/main" id="{2279312F-912B-BF82-DC1F-36DACFA15F24}"/>
              </a:ext>
            </a:extLst>
          </p:cNvPr>
          <p:cNvSpPr>
            <a:spLocks noGrp="1"/>
          </p:cNvSpPr>
          <p:nvPr>
            <p:ph type="sldNum" sz="quarter" idx="5"/>
          </p:nvPr>
        </p:nvSpPr>
        <p:spPr/>
        <p:txBody>
          <a:bodyPr/>
          <a:lstStyle/>
          <a:p>
            <a:fld id="{A8ABDA6A-29CD-4D28-B6EA-E8D4FFDF6043}" type="slidenum">
              <a:rPr lang="zh-CN" altLang="en-US" smtClean="0"/>
              <a:t>13</a:t>
            </a:fld>
            <a:endParaRPr lang="zh-CN" altLang="en-US"/>
          </a:p>
        </p:txBody>
      </p:sp>
    </p:spTree>
    <p:extLst>
      <p:ext uri="{BB962C8B-B14F-4D97-AF65-F5344CB8AC3E}">
        <p14:creationId xmlns:p14="http://schemas.microsoft.com/office/powerpoint/2010/main" val="3193409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r>
              <a:rPr lang="zh-CN" altLang="en-US" b="0" kern="0" dirty="0">
                <a:solidFill>
                  <a:srgbClr val="104E87"/>
                </a:solidFill>
                <a:latin typeface="Comic Sans MS" panose="030F0702030302020204" pitchFamily="66" charset="0"/>
                <a:ea typeface="华光行书_CNKI" panose="02000500000000000000" pitchFamily="2" charset="-122"/>
              </a:rPr>
              <a:t>类的赋值运算符</a:t>
            </a:r>
            <a:r>
              <a:rPr lang="en-US" altLang="zh-CN" b="0" kern="0" dirty="0">
                <a:solidFill>
                  <a:srgbClr val="104E87"/>
                </a:solidFill>
                <a:latin typeface="Comic Sans MS" panose="030F0702030302020204" pitchFamily="66" charset="0"/>
                <a:ea typeface="华光行书_CNKI" panose="02000500000000000000" pitchFamily="2" charset="-122"/>
              </a:rPr>
              <a:t>=</a:t>
            </a:r>
            <a:r>
              <a:rPr lang="zh-CN" altLang="en-US" b="0" kern="0" dirty="0">
                <a:solidFill>
                  <a:srgbClr val="104E87"/>
                </a:solidFill>
                <a:latin typeface="Comic Sans MS" panose="030F0702030302020204" pitchFamily="66" charset="0"/>
                <a:ea typeface="华光行书_CNKI" panose="02000500000000000000" pitchFamily="2" charset="-122"/>
              </a:rPr>
              <a:t>可以被重载，但重载的</a:t>
            </a:r>
            <a:r>
              <a:rPr lang="zh-CN" altLang="en-US" kern="0" dirty="0">
                <a:solidFill>
                  <a:srgbClr val="104E87"/>
                </a:solidFill>
                <a:latin typeface="Comic Sans MS" panose="030F0702030302020204" pitchFamily="66" charset="0"/>
                <a:ea typeface="华光行书_CNKI" panose="02000500000000000000" pitchFamily="2" charset="-122"/>
              </a:rPr>
              <a:t>赋值运算符不能被继承</a:t>
            </a:r>
            <a:r>
              <a:rPr lang="zh-CN" altLang="en-US" b="0" kern="0" dirty="0">
                <a:solidFill>
                  <a:srgbClr val="104E87"/>
                </a:solidFill>
                <a:latin typeface="Comic Sans MS" panose="030F0702030302020204" pitchFamily="66" charset="0"/>
                <a:ea typeface="华光行书_CNKI" panose="02000500000000000000" pitchFamily="2" charset="-122"/>
              </a:rPr>
              <a:t>。</a:t>
            </a:r>
          </a:p>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14</a:t>
            </a:fld>
            <a:endParaRPr lang="zh-CN" altLang="en-US"/>
          </a:p>
        </p:txBody>
      </p:sp>
    </p:spTree>
    <p:extLst>
      <p:ext uri="{BB962C8B-B14F-4D97-AF65-F5344CB8AC3E}">
        <p14:creationId xmlns:p14="http://schemas.microsoft.com/office/powerpoint/2010/main" val="38639093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059B-69D6-39CE-B988-EB29C8502D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E9746F-FD51-FE7E-92D2-E075124031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44C5F9-345B-5413-49A7-ACA69F8B187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DE72AEC-8EFA-8B26-BD32-4EE89159CD24}"/>
              </a:ext>
            </a:extLst>
          </p:cNvPr>
          <p:cNvSpPr>
            <a:spLocks noGrp="1"/>
          </p:cNvSpPr>
          <p:nvPr>
            <p:ph type="sldNum" sz="quarter" idx="5"/>
          </p:nvPr>
        </p:nvSpPr>
        <p:spPr/>
        <p:txBody>
          <a:bodyPr/>
          <a:lstStyle/>
          <a:p>
            <a:fld id="{A8ABDA6A-29CD-4D28-B6EA-E8D4FFDF6043}" type="slidenum">
              <a:rPr lang="zh-CN" altLang="en-US" smtClean="0"/>
              <a:t>15</a:t>
            </a:fld>
            <a:endParaRPr lang="zh-CN" altLang="en-US"/>
          </a:p>
        </p:txBody>
      </p:sp>
    </p:spTree>
    <p:extLst>
      <p:ext uri="{BB962C8B-B14F-4D97-AF65-F5344CB8AC3E}">
        <p14:creationId xmlns:p14="http://schemas.microsoft.com/office/powerpoint/2010/main" val="2035833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#include &lt;</a:t>
            </a:r>
            <a:r>
              <a:rPr lang="en-US" altLang="zh-CN" dirty="0" err="1"/>
              <a:t>string.h</a:t>
            </a:r>
            <a:r>
              <a:rPr lang="en-US" altLang="zh-CN" dirty="0"/>
              <a:t>&gt;</a:t>
            </a:r>
          </a:p>
          <a:p>
            <a:r>
              <a:rPr lang="en-US" altLang="zh-CN" dirty="0"/>
              <a:t>using namespace std;</a:t>
            </a:r>
          </a:p>
          <a:p>
            <a:endParaRPr lang="en-US" altLang="zh-CN" dirty="0"/>
          </a:p>
          <a:p>
            <a:r>
              <a:rPr lang="en-US" altLang="zh-CN" dirty="0"/>
              <a:t>class Name {</a:t>
            </a:r>
          </a:p>
          <a:p>
            <a:r>
              <a:rPr lang="en-US" altLang="zh-CN" dirty="0"/>
              <a:t>public:</a:t>
            </a:r>
          </a:p>
          <a:p>
            <a:r>
              <a:rPr lang="en-US" altLang="zh-CN" dirty="0"/>
              <a:t>    Name(){p=NULL;}</a:t>
            </a:r>
          </a:p>
          <a:p>
            <a:r>
              <a:rPr lang="en-US" altLang="zh-CN" dirty="0"/>
              <a:t>    Name(char *s);</a:t>
            </a:r>
          </a:p>
          <a:p>
            <a:r>
              <a:rPr lang="en-US" altLang="zh-CN" dirty="0"/>
              <a:t>    Name(const Name &amp;other );</a:t>
            </a:r>
          </a:p>
          <a:p>
            <a:r>
              <a:rPr lang="en-US" altLang="zh-CN" dirty="0"/>
              <a:t>    ~Name();</a:t>
            </a:r>
          </a:p>
          <a:p>
            <a:r>
              <a:rPr lang="en-US" altLang="zh-CN" dirty="0"/>
              <a:t>    Name&amp; operator=(const Name &amp;another);</a:t>
            </a:r>
          </a:p>
          <a:p>
            <a:r>
              <a:rPr lang="en-US" altLang="zh-CN" dirty="0"/>
              <a:t>    void set(char *s);		</a:t>
            </a:r>
          </a:p>
          <a:p>
            <a:r>
              <a:rPr lang="en-US" altLang="zh-CN" dirty="0"/>
              <a:t>    void show();</a:t>
            </a:r>
          </a:p>
          <a:p>
            <a:r>
              <a:rPr lang="en-US" altLang="zh-CN" dirty="0"/>
              <a:t>private:</a:t>
            </a:r>
          </a:p>
          <a:p>
            <a:r>
              <a:rPr lang="en-US" altLang="zh-CN" dirty="0"/>
              <a:t>   char *p;</a:t>
            </a:r>
          </a:p>
          <a:p>
            <a:r>
              <a:rPr lang="en-US" altLang="zh-CN" dirty="0"/>
              <a:t>};</a:t>
            </a:r>
          </a:p>
          <a:p>
            <a:r>
              <a:rPr lang="en-US" altLang="zh-CN" dirty="0"/>
              <a:t>Name::Name(char *s)</a:t>
            </a:r>
          </a:p>
          <a:p>
            <a:r>
              <a:rPr lang="en-US" altLang="zh-CN" dirty="0"/>
              <a:t>{  p=new char[</a:t>
            </a:r>
            <a:r>
              <a:rPr lang="en-US" altLang="zh-CN" dirty="0" err="1"/>
              <a:t>strlen</a:t>
            </a:r>
            <a:r>
              <a:rPr lang="en-US" altLang="zh-CN" dirty="0"/>
              <a:t>(s)+1];</a:t>
            </a:r>
          </a:p>
          <a:p>
            <a:r>
              <a:rPr lang="en-US" altLang="zh-CN" dirty="0"/>
              <a:t>   </a:t>
            </a:r>
            <a:r>
              <a:rPr lang="en-US" altLang="zh-CN" dirty="0" err="1"/>
              <a:t>strcpy</a:t>
            </a:r>
            <a:r>
              <a:rPr lang="en-US" altLang="zh-CN" dirty="0"/>
              <a:t>(</a:t>
            </a:r>
            <a:r>
              <a:rPr lang="en-US" altLang="zh-CN" dirty="0" err="1"/>
              <a:t>p,s</a:t>
            </a:r>
            <a:r>
              <a:rPr lang="en-US" altLang="zh-CN" dirty="0"/>
              <a:t>);</a:t>
            </a:r>
          </a:p>
          <a:p>
            <a:r>
              <a:rPr lang="en-US" altLang="zh-CN" dirty="0"/>
              <a:t>}</a:t>
            </a:r>
          </a:p>
          <a:p>
            <a:r>
              <a:rPr lang="en-US" altLang="zh-CN" dirty="0"/>
              <a:t>Name::Name(const Name &amp;other)</a:t>
            </a:r>
          </a:p>
          <a:p>
            <a:r>
              <a:rPr lang="en-US" altLang="zh-CN" dirty="0"/>
              <a:t>{     if (</a:t>
            </a:r>
            <a:r>
              <a:rPr lang="en-US" altLang="zh-CN" dirty="0" err="1"/>
              <a:t>other.p</a:t>
            </a:r>
            <a:r>
              <a:rPr lang="en-US" altLang="zh-CN" dirty="0"/>
              <a:t>!=NULL){</a:t>
            </a:r>
          </a:p>
          <a:p>
            <a:r>
              <a:rPr lang="en-US" altLang="zh-CN" dirty="0"/>
              <a:t>	p = new char[</a:t>
            </a:r>
            <a:r>
              <a:rPr lang="en-US" altLang="zh-CN" dirty="0" err="1"/>
              <a:t>strlen</a:t>
            </a:r>
            <a:r>
              <a:rPr lang="en-US" altLang="zh-CN" dirty="0"/>
              <a:t>(</a:t>
            </a:r>
            <a:r>
              <a:rPr lang="en-US" altLang="zh-CN" dirty="0" err="1"/>
              <a:t>other.p</a:t>
            </a:r>
            <a:r>
              <a:rPr lang="en-US" altLang="zh-CN" dirty="0"/>
              <a:t>) + 1];</a:t>
            </a:r>
          </a:p>
          <a:p>
            <a:r>
              <a:rPr lang="en-US" altLang="zh-CN" dirty="0"/>
              <a:t>	if (p!=NULL)	</a:t>
            </a:r>
            <a:r>
              <a:rPr lang="en-US" altLang="zh-CN" dirty="0" err="1"/>
              <a:t>strcpy</a:t>
            </a:r>
            <a:r>
              <a:rPr lang="en-US" altLang="zh-CN" dirty="0"/>
              <a:t>(p, </a:t>
            </a:r>
            <a:r>
              <a:rPr lang="en-US" altLang="zh-CN" dirty="0" err="1"/>
              <a:t>other.p</a:t>
            </a:r>
            <a:r>
              <a:rPr lang="en-US" altLang="zh-CN" dirty="0"/>
              <a:t>);</a:t>
            </a:r>
          </a:p>
          <a:p>
            <a:r>
              <a:rPr lang="en-US" altLang="zh-CN" dirty="0"/>
              <a:t>       }</a:t>
            </a:r>
          </a:p>
          <a:p>
            <a:r>
              <a:rPr lang="en-US" altLang="zh-CN" dirty="0"/>
              <a:t>       </a:t>
            </a:r>
            <a:r>
              <a:rPr lang="en-US" altLang="zh-CN" dirty="0" err="1"/>
              <a:t>cout</a:t>
            </a:r>
            <a:r>
              <a:rPr lang="en-US" altLang="zh-CN" dirty="0"/>
              <a:t> &lt;&lt; "Copy constructing.\n";</a:t>
            </a:r>
          </a:p>
          <a:p>
            <a:r>
              <a:rPr lang="en-US" altLang="zh-CN" dirty="0"/>
              <a:t>}</a:t>
            </a:r>
          </a:p>
          <a:p>
            <a:r>
              <a:rPr lang="en-US" altLang="zh-CN" dirty="0"/>
              <a:t>Name::~Name()</a:t>
            </a:r>
          </a:p>
          <a:p>
            <a:r>
              <a:rPr lang="en-US" altLang="zh-CN" dirty="0"/>
              <a:t>{ </a:t>
            </a:r>
            <a:r>
              <a:rPr lang="en-US" altLang="zh-CN" dirty="0" err="1"/>
              <a:t>cout</a:t>
            </a:r>
            <a:r>
              <a:rPr lang="en-US" altLang="zh-CN" dirty="0"/>
              <a:t>&lt;&lt;"Destructing."&lt;&lt;</a:t>
            </a:r>
            <a:r>
              <a:rPr lang="en-US" altLang="zh-CN" dirty="0" err="1"/>
              <a:t>endl</a:t>
            </a:r>
            <a:r>
              <a:rPr lang="en-US" altLang="zh-CN" dirty="0"/>
              <a:t>;</a:t>
            </a:r>
          </a:p>
          <a:p>
            <a:r>
              <a:rPr lang="en-US" altLang="zh-CN" dirty="0"/>
              <a:t>   if(p!=NULL) delete [] p;</a:t>
            </a:r>
          </a:p>
          <a:p>
            <a:r>
              <a:rPr lang="en-US" altLang="zh-CN" dirty="0"/>
              <a:t>}</a:t>
            </a:r>
          </a:p>
          <a:p>
            <a:r>
              <a:rPr lang="en-US" altLang="zh-CN" dirty="0"/>
              <a:t>Name&amp; Name::operator=(const Name &amp;another)</a:t>
            </a:r>
          </a:p>
          <a:p>
            <a:r>
              <a:rPr lang="en-US" altLang="zh-CN" dirty="0"/>
              <a:t>{	if (p) delete []p;</a:t>
            </a:r>
          </a:p>
          <a:p>
            <a:r>
              <a:rPr lang="en-US" altLang="zh-CN" dirty="0"/>
              <a:t>	p = new char[</a:t>
            </a:r>
            <a:r>
              <a:rPr lang="en-US" altLang="zh-CN" dirty="0" err="1"/>
              <a:t>strlen</a:t>
            </a:r>
            <a:r>
              <a:rPr lang="en-US" altLang="zh-CN" dirty="0"/>
              <a:t>(</a:t>
            </a:r>
            <a:r>
              <a:rPr lang="en-US" altLang="zh-CN" dirty="0" err="1"/>
              <a:t>another.p</a:t>
            </a:r>
            <a:r>
              <a:rPr lang="en-US" altLang="zh-CN" dirty="0"/>
              <a:t>)+1];</a:t>
            </a:r>
          </a:p>
          <a:p>
            <a:r>
              <a:rPr lang="en-US" altLang="zh-CN" dirty="0"/>
              <a:t>	if (p!=NULL) </a:t>
            </a:r>
            <a:r>
              <a:rPr lang="en-US" altLang="zh-CN" dirty="0" err="1"/>
              <a:t>strcpy</a:t>
            </a:r>
            <a:r>
              <a:rPr lang="en-US" altLang="zh-CN" dirty="0"/>
              <a:t>(</a:t>
            </a:r>
            <a:r>
              <a:rPr lang="en-US" altLang="zh-CN" dirty="0" err="1"/>
              <a:t>p,another.p</a:t>
            </a:r>
            <a:r>
              <a:rPr lang="en-US" altLang="zh-CN" dirty="0"/>
              <a:t>);</a:t>
            </a:r>
          </a:p>
          <a:p>
            <a:r>
              <a:rPr lang="en-US" altLang="zh-CN" dirty="0"/>
              <a:t>	return *this;</a:t>
            </a:r>
          </a:p>
          <a:p>
            <a:r>
              <a:rPr lang="en-US" altLang="zh-CN" dirty="0"/>
              <a:t>}</a:t>
            </a:r>
          </a:p>
          <a:p>
            <a:endParaRPr lang="en-US" altLang="zh-CN" dirty="0"/>
          </a:p>
          <a:p>
            <a:endParaRPr lang="en-US" altLang="zh-CN" dirty="0"/>
          </a:p>
          <a:p>
            <a:r>
              <a:rPr lang="en-US" altLang="zh-CN" dirty="0"/>
              <a:t>void Name::show()</a:t>
            </a:r>
          </a:p>
          <a:p>
            <a:r>
              <a:rPr lang="en-US" altLang="zh-CN" dirty="0"/>
              <a:t>{</a:t>
            </a:r>
            <a:r>
              <a:rPr lang="en-US" altLang="zh-CN" dirty="0" err="1"/>
              <a:t>cout</a:t>
            </a:r>
            <a:r>
              <a:rPr lang="en-US" altLang="zh-CN" dirty="0"/>
              <a:t>&lt;&lt;p&lt;&lt;</a:t>
            </a:r>
            <a:r>
              <a:rPr lang="en-US" altLang="zh-CN" dirty="0" err="1"/>
              <a:t>endl</a:t>
            </a:r>
            <a:r>
              <a:rPr lang="en-US" altLang="zh-CN" dirty="0"/>
              <a:t>;}</a:t>
            </a:r>
          </a:p>
          <a:p>
            <a:r>
              <a:rPr lang="en-US" altLang="zh-CN" dirty="0"/>
              <a:t>void Name::set(char *s)</a:t>
            </a:r>
          </a:p>
          <a:p>
            <a:r>
              <a:rPr lang="en-US" altLang="zh-CN" dirty="0"/>
              <a:t>{</a:t>
            </a:r>
            <a:r>
              <a:rPr lang="en-US" altLang="zh-CN" dirty="0" err="1"/>
              <a:t>strcpy</a:t>
            </a:r>
            <a:r>
              <a:rPr lang="en-US" altLang="zh-CN" dirty="0"/>
              <a:t>(</a:t>
            </a:r>
            <a:r>
              <a:rPr lang="en-US" altLang="zh-CN" dirty="0" err="1"/>
              <a:t>p,s</a:t>
            </a:r>
            <a:r>
              <a:rPr lang="en-US" altLang="zh-CN" dirty="0"/>
              <a:t>);</a:t>
            </a:r>
          </a:p>
          <a:p>
            <a:r>
              <a:rPr lang="en-US" altLang="zh-CN" dirty="0"/>
              <a:t>}</a:t>
            </a:r>
          </a:p>
          <a:p>
            <a:endParaRPr lang="en-US" altLang="zh-CN" dirty="0"/>
          </a:p>
          <a:p>
            <a:r>
              <a:rPr lang="en-US" altLang="zh-CN" dirty="0"/>
              <a:t>int main() {</a:t>
            </a:r>
          </a:p>
          <a:p>
            <a:r>
              <a:rPr lang="en-US" altLang="zh-CN" dirty="0"/>
              <a:t>Name </a:t>
            </a:r>
            <a:r>
              <a:rPr lang="en-US" altLang="zh-CN" dirty="0" err="1"/>
              <a:t>myname</a:t>
            </a:r>
            <a:r>
              <a:rPr lang="en-US" altLang="zh-CN" dirty="0"/>
              <a:t>("</a:t>
            </a:r>
            <a:r>
              <a:rPr lang="en-US" altLang="zh-CN" dirty="0" err="1"/>
              <a:t>zhang</a:t>
            </a:r>
            <a:r>
              <a:rPr lang="en-US" altLang="zh-CN" dirty="0"/>
              <a:t>") ;	</a:t>
            </a:r>
          </a:p>
          <a:p>
            <a:r>
              <a:rPr lang="en-US" altLang="zh-CN" dirty="0"/>
              <a:t>Name </a:t>
            </a:r>
            <a:r>
              <a:rPr lang="en-US" altLang="zh-CN" dirty="0" err="1"/>
              <a:t>yourname</a:t>
            </a:r>
            <a:r>
              <a:rPr lang="en-US" altLang="zh-CN" dirty="0"/>
              <a:t>("wang"),s("fang");	</a:t>
            </a:r>
          </a:p>
          <a:p>
            <a:r>
              <a:rPr lang="en-US" altLang="zh-CN" dirty="0" err="1"/>
              <a:t>myname</a:t>
            </a:r>
            <a:r>
              <a:rPr lang="en-US" altLang="zh-CN" dirty="0"/>
              <a:t> = </a:t>
            </a:r>
            <a:r>
              <a:rPr lang="en-US" altLang="zh-CN" dirty="0" err="1"/>
              <a:t>yourname</a:t>
            </a:r>
            <a:r>
              <a:rPr lang="en-US" altLang="zh-CN" dirty="0"/>
              <a:t> =s;</a:t>
            </a:r>
          </a:p>
          <a:p>
            <a:r>
              <a:rPr lang="en-US" altLang="zh-CN" dirty="0" err="1"/>
              <a:t>yourname.set</a:t>
            </a:r>
            <a:r>
              <a:rPr lang="en-US" altLang="zh-CN" dirty="0"/>
              <a:t>("</a:t>
            </a:r>
            <a:r>
              <a:rPr lang="en-US" altLang="zh-CN" dirty="0" err="1"/>
              <a:t>henhenhaha</a:t>
            </a:r>
            <a:r>
              <a:rPr lang="en-US" altLang="zh-CN" dirty="0"/>
              <a:t>");</a:t>
            </a:r>
          </a:p>
          <a:p>
            <a:r>
              <a:rPr lang="en-US" altLang="zh-CN" dirty="0" err="1"/>
              <a:t>myname.show</a:t>
            </a:r>
            <a:r>
              <a:rPr lang="en-US" altLang="zh-CN" dirty="0"/>
              <a:t>(); </a:t>
            </a:r>
          </a:p>
          <a:p>
            <a:r>
              <a:rPr lang="en-US" altLang="zh-CN" dirty="0" err="1"/>
              <a:t>yourname.show</a:t>
            </a:r>
            <a:r>
              <a:rPr lang="en-US" altLang="zh-CN" dirty="0"/>
              <a:t>();</a:t>
            </a:r>
          </a:p>
          <a:p>
            <a:r>
              <a:rPr lang="en-US" altLang="zh-CN" dirty="0"/>
              <a:t>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17</a:t>
            </a:fld>
            <a:endParaRPr lang="zh-CN" altLang="en-US"/>
          </a:p>
        </p:txBody>
      </p:sp>
    </p:spTree>
    <p:extLst>
      <p:ext uri="{BB962C8B-B14F-4D97-AF65-F5344CB8AC3E}">
        <p14:creationId xmlns:p14="http://schemas.microsoft.com/office/powerpoint/2010/main" val="2639954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#include &lt;</a:t>
            </a:r>
            <a:r>
              <a:rPr lang="en-US" altLang="zh-CN" dirty="0" err="1"/>
              <a:t>cassert</a:t>
            </a:r>
            <a:r>
              <a:rPr lang="en-US" altLang="zh-CN" dirty="0"/>
              <a:t>&gt;</a:t>
            </a:r>
          </a:p>
          <a:p>
            <a:r>
              <a:rPr lang="en-US" altLang="zh-CN" dirty="0"/>
              <a:t>using namespace std;</a:t>
            </a:r>
          </a:p>
          <a:p>
            <a:endParaRPr lang="en-US" altLang="zh-CN" dirty="0"/>
          </a:p>
          <a:p>
            <a:r>
              <a:rPr lang="en-US" altLang="zh-CN" dirty="0"/>
              <a:t>class </a:t>
            </a:r>
            <a:r>
              <a:rPr lang="en-US" altLang="zh-CN" dirty="0" err="1"/>
              <a:t>CExample</a:t>
            </a:r>
            <a:r>
              <a:rPr lang="en-US" altLang="zh-CN" dirty="0"/>
              <a:t>{ </a:t>
            </a:r>
          </a:p>
          <a:p>
            <a:r>
              <a:rPr lang="en-US" altLang="zh-CN" dirty="0"/>
              <a:t>	int </a:t>
            </a:r>
            <a:r>
              <a:rPr lang="en-US" altLang="zh-CN" dirty="0" err="1"/>
              <a:t>m_nTest</a:t>
            </a:r>
            <a:r>
              <a:rPr lang="en-US" altLang="zh-CN" dirty="0"/>
              <a:t>;</a:t>
            </a:r>
          </a:p>
          <a:p>
            <a:r>
              <a:rPr lang="en-US" altLang="zh-CN" dirty="0"/>
              <a:t>public:</a:t>
            </a:r>
          </a:p>
          <a:p>
            <a:r>
              <a:rPr lang="en-US" altLang="zh-CN" dirty="0"/>
              <a:t>	</a:t>
            </a:r>
            <a:r>
              <a:rPr lang="en-US" altLang="zh-CN" dirty="0" err="1"/>
              <a:t>CExample</a:t>
            </a:r>
            <a:r>
              <a:rPr lang="en-US" altLang="zh-CN" dirty="0"/>
              <a:t>(int x):</a:t>
            </a:r>
            <a:r>
              <a:rPr lang="en-US" altLang="zh-CN" dirty="0" err="1"/>
              <a:t>m_nTest</a:t>
            </a:r>
            <a:r>
              <a:rPr lang="en-US" altLang="zh-CN" dirty="0"/>
              <a:t>(x)</a:t>
            </a:r>
          </a:p>
          <a:p>
            <a:r>
              <a:rPr lang="en-US" altLang="zh-CN" dirty="0"/>
              <a:t>	{</a:t>
            </a:r>
            <a:r>
              <a:rPr lang="en-US" altLang="zh-CN" dirty="0" err="1"/>
              <a:t>cout</a:t>
            </a:r>
            <a:r>
              <a:rPr lang="en-US" altLang="zh-CN" dirty="0"/>
              <a:t> &lt;&lt; "constructor with argument\n";}</a:t>
            </a:r>
          </a:p>
          <a:p>
            <a:r>
              <a:rPr lang="en-US" altLang="zh-CN" dirty="0"/>
              <a:t>	</a:t>
            </a:r>
            <a:r>
              <a:rPr lang="en-US" altLang="zh-CN" dirty="0" err="1"/>
              <a:t>CExample</a:t>
            </a:r>
            <a:r>
              <a:rPr lang="en-US" altLang="zh-CN" dirty="0"/>
              <a:t>(const </a:t>
            </a:r>
            <a:r>
              <a:rPr lang="en-US" altLang="zh-CN" dirty="0" err="1"/>
              <a:t>CExample</a:t>
            </a:r>
            <a:r>
              <a:rPr lang="en-US" altLang="zh-CN" dirty="0"/>
              <a:t> &amp; ex)</a:t>
            </a:r>
          </a:p>
          <a:p>
            <a:r>
              <a:rPr lang="en-US" altLang="zh-CN" dirty="0"/>
              <a:t>	{</a:t>
            </a:r>
            <a:r>
              <a:rPr lang="en-US" altLang="zh-CN" dirty="0" err="1"/>
              <a:t>m_nTest</a:t>
            </a:r>
            <a:r>
              <a:rPr lang="en-US" altLang="zh-CN" dirty="0"/>
              <a:t> = </a:t>
            </a:r>
            <a:r>
              <a:rPr lang="en-US" altLang="zh-CN" dirty="0" err="1"/>
              <a:t>ex.m_nTest</a:t>
            </a:r>
            <a:r>
              <a:rPr lang="en-US" altLang="zh-CN" dirty="0"/>
              <a:t>;</a:t>
            </a:r>
          </a:p>
          <a:p>
            <a:r>
              <a:rPr lang="en-US" altLang="zh-CN" dirty="0"/>
              <a:t>	   </a:t>
            </a:r>
            <a:r>
              <a:rPr lang="en-US" altLang="zh-CN" dirty="0" err="1"/>
              <a:t>cout</a:t>
            </a:r>
            <a:r>
              <a:rPr lang="en-US" altLang="zh-CN" dirty="0"/>
              <a:t>&lt;&lt;"copy constructor\n";}</a:t>
            </a:r>
          </a:p>
          <a:p>
            <a:r>
              <a:rPr lang="en-US" altLang="zh-CN" dirty="0"/>
              <a:t>	</a:t>
            </a:r>
            <a:r>
              <a:rPr lang="en-US" altLang="zh-CN" dirty="0" err="1"/>
              <a:t>CExample&amp;operator</a:t>
            </a:r>
            <a:r>
              <a:rPr lang="en-US" altLang="zh-CN" dirty="0"/>
              <a:t> = (const </a:t>
            </a:r>
            <a:r>
              <a:rPr lang="en-US" altLang="zh-CN" dirty="0" err="1"/>
              <a:t>CExample</a:t>
            </a:r>
            <a:r>
              <a:rPr lang="en-US" altLang="zh-CN" dirty="0"/>
              <a:t>&amp; ex){</a:t>
            </a:r>
          </a:p>
          <a:p>
            <a:r>
              <a:rPr lang="en-US" altLang="zh-CN" dirty="0"/>
              <a:t>	  </a:t>
            </a:r>
            <a:r>
              <a:rPr lang="en-US" altLang="zh-CN" dirty="0" err="1"/>
              <a:t>cout</a:t>
            </a:r>
            <a:r>
              <a:rPr lang="en-US" altLang="zh-CN" dirty="0"/>
              <a:t> &lt;&lt; "assignment operator\n";</a:t>
            </a:r>
          </a:p>
          <a:p>
            <a:r>
              <a:rPr lang="en-US" altLang="zh-CN" dirty="0"/>
              <a:t>	</a:t>
            </a:r>
            <a:r>
              <a:rPr lang="en-US" altLang="zh-CN" dirty="0" err="1"/>
              <a:t>m_nTest</a:t>
            </a:r>
            <a:r>
              <a:rPr lang="en-US" altLang="zh-CN" dirty="0"/>
              <a:t> = </a:t>
            </a:r>
            <a:r>
              <a:rPr lang="en-US" altLang="zh-CN" dirty="0" err="1"/>
              <a:t>ex.m_nTest</a:t>
            </a:r>
            <a:r>
              <a:rPr lang="en-US" altLang="zh-CN" dirty="0"/>
              <a:t>;</a:t>
            </a:r>
          </a:p>
          <a:p>
            <a:r>
              <a:rPr lang="en-US" altLang="zh-CN" dirty="0"/>
              <a:t>	return *this;</a:t>
            </a:r>
          </a:p>
          <a:p>
            <a:r>
              <a:rPr lang="en-US" altLang="zh-CN" dirty="0"/>
              <a:t>	}</a:t>
            </a:r>
          </a:p>
          <a:p>
            <a:r>
              <a:rPr lang="en-US" altLang="zh-CN" dirty="0"/>
              <a:t>	void </a:t>
            </a:r>
            <a:r>
              <a:rPr lang="en-US" altLang="zh-CN" dirty="0" err="1"/>
              <a:t>myTestFunc</a:t>
            </a:r>
            <a:r>
              <a:rPr lang="en-US" altLang="zh-CN" dirty="0"/>
              <a:t>(</a:t>
            </a:r>
            <a:r>
              <a:rPr lang="en-US" altLang="zh-CN" dirty="0" err="1"/>
              <a:t>CExample</a:t>
            </a:r>
            <a:r>
              <a:rPr lang="en-US" altLang="zh-CN" dirty="0"/>
              <a:t> ex){}</a:t>
            </a:r>
          </a:p>
          <a:p>
            <a:r>
              <a:rPr lang="en-US" altLang="zh-CN" dirty="0"/>
              <a:t>};</a:t>
            </a:r>
          </a:p>
          <a:p>
            <a:endParaRPr lang="en-US" altLang="zh-CN" dirty="0"/>
          </a:p>
          <a:p>
            <a:endParaRPr lang="en-US" altLang="zh-CN" dirty="0"/>
          </a:p>
          <a:p>
            <a:r>
              <a:rPr lang="en-US" altLang="zh-CN" dirty="0"/>
              <a:t>int main() {</a:t>
            </a:r>
          </a:p>
          <a:p>
            <a:r>
              <a:rPr lang="en-US" altLang="zh-CN" dirty="0" err="1"/>
              <a:t>CExample</a:t>
            </a:r>
            <a:r>
              <a:rPr lang="en-US" altLang="zh-CN" dirty="0"/>
              <a:t> </a:t>
            </a:r>
            <a:r>
              <a:rPr lang="en-US" altLang="zh-CN" dirty="0" err="1"/>
              <a:t>aaa</a:t>
            </a:r>
            <a:r>
              <a:rPr lang="en-US" altLang="zh-CN" dirty="0"/>
              <a:t>(2);</a:t>
            </a:r>
          </a:p>
          <a:p>
            <a:r>
              <a:rPr lang="en-US" altLang="zh-CN" dirty="0" err="1"/>
              <a:t>CExample</a:t>
            </a:r>
            <a:r>
              <a:rPr lang="en-US" altLang="zh-CN" dirty="0"/>
              <a:t> </a:t>
            </a:r>
            <a:r>
              <a:rPr lang="en-US" altLang="zh-CN" dirty="0" err="1"/>
              <a:t>bbb</a:t>
            </a:r>
            <a:r>
              <a:rPr lang="en-US" altLang="zh-CN" dirty="0"/>
              <a:t>(3);</a:t>
            </a:r>
          </a:p>
          <a:p>
            <a:r>
              <a:rPr lang="en-US" altLang="zh-CN" dirty="0" err="1"/>
              <a:t>bbb</a:t>
            </a:r>
            <a:r>
              <a:rPr lang="en-US" altLang="zh-CN" dirty="0"/>
              <a:t> = </a:t>
            </a:r>
            <a:r>
              <a:rPr lang="en-US" altLang="zh-CN" dirty="0" err="1"/>
              <a:t>aaa</a:t>
            </a:r>
            <a:r>
              <a:rPr lang="en-US" altLang="zh-CN" dirty="0"/>
              <a:t>;</a:t>
            </a:r>
          </a:p>
          <a:p>
            <a:r>
              <a:rPr lang="en-US" altLang="zh-CN" dirty="0" err="1"/>
              <a:t>CExample</a:t>
            </a:r>
            <a:r>
              <a:rPr lang="en-US" altLang="zh-CN" dirty="0"/>
              <a:t> ccc = </a:t>
            </a:r>
            <a:r>
              <a:rPr lang="en-US" altLang="zh-CN" dirty="0" err="1"/>
              <a:t>aaa</a:t>
            </a:r>
            <a:r>
              <a:rPr lang="en-US" altLang="zh-CN" dirty="0"/>
              <a:t>;</a:t>
            </a:r>
          </a:p>
          <a:p>
            <a:r>
              <a:rPr lang="en-US" altLang="zh-CN" dirty="0" err="1"/>
              <a:t>bbb.myTestFunc</a:t>
            </a:r>
            <a:r>
              <a:rPr lang="en-US" altLang="zh-CN" dirty="0"/>
              <a:t>(</a:t>
            </a:r>
            <a:r>
              <a:rPr lang="en-US" altLang="zh-CN" dirty="0" err="1"/>
              <a:t>aaa</a:t>
            </a:r>
            <a:r>
              <a:rPr lang="en-US" altLang="zh-CN" dirty="0"/>
              <a:t>);</a:t>
            </a:r>
          </a:p>
          <a:p>
            <a:r>
              <a:rPr lang="en-US" altLang="zh-CN" dirty="0"/>
              <a:t>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18</a:t>
            </a:fld>
            <a:endParaRPr lang="zh-CN" altLang="en-US"/>
          </a:p>
        </p:txBody>
      </p:sp>
    </p:spTree>
    <p:extLst>
      <p:ext uri="{BB962C8B-B14F-4D97-AF65-F5344CB8AC3E}">
        <p14:creationId xmlns:p14="http://schemas.microsoft.com/office/powerpoint/2010/main" val="2520540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using namespace std;</a:t>
            </a:r>
          </a:p>
          <a:p>
            <a:r>
              <a:rPr lang="en-US" altLang="zh-CN" dirty="0"/>
              <a:t>class Clock	{	</a:t>
            </a:r>
          </a:p>
          <a:p>
            <a:r>
              <a:rPr lang="en-US" altLang="zh-CN" dirty="0"/>
              <a:t>public:	</a:t>
            </a:r>
          </a:p>
          <a:p>
            <a:r>
              <a:rPr lang="en-US" altLang="zh-CN" dirty="0"/>
              <a:t>	Clock(int hour = 0, int minute = 0, int second = 0);</a:t>
            </a:r>
          </a:p>
          <a:p>
            <a:r>
              <a:rPr lang="en-US" altLang="zh-CN" dirty="0"/>
              <a:t>	void </a:t>
            </a:r>
            <a:r>
              <a:rPr lang="en-US" altLang="zh-CN" dirty="0" err="1"/>
              <a:t>showTime</a:t>
            </a:r>
            <a:r>
              <a:rPr lang="en-US" altLang="zh-CN" dirty="0"/>
              <a:t>() const;</a:t>
            </a:r>
          </a:p>
          <a:p>
            <a:r>
              <a:rPr lang="en-US" altLang="zh-CN" dirty="0"/>
              <a:t>	Clock&amp; operator ++ ();		//</a:t>
            </a:r>
            <a:r>
              <a:rPr lang="zh-CN" altLang="en-US" dirty="0"/>
              <a:t>前置单目运算符重载</a:t>
            </a:r>
          </a:p>
          <a:p>
            <a:r>
              <a:rPr lang="zh-CN" altLang="en-US" dirty="0"/>
              <a:t>	</a:t>
            </a:r>
            <a:r>
              <a:rPr lang="en-US" altLang="zh-CN" dirty="0"/>
              <a:t>Clock operator ++ (int);	//</a:t>
            </a:r>
            <a:r>
              <a:rPr lang="zh-CN" altLang="en-US" dirty="0"/>
              <a:t>后置单目运算符重载</a:t>
            </a:r>
          </a:p>
          <a:p>
            <a:r>
              <a:rPr lang="en-US" altLang="zh-CN" dirty="0"/>
              <a:t>private:</a:t>
            </a:r>
          </a:p>
          <a:p>
            <a:r>
              <a:rPr lang="en-US" altLang="zh-CN" dirty="0"/>
              <a:t>	int hour, minute, second;</a:t>
            </a:r>
          </a:p>
          <a:p>
            <a:r>
              <a:rPr lang="en-US" altLang="zh-CN" dirty="0"/>
              <a:t>};</a:t>
            </a:r>
          </a:p>
          <a:p>
            <a:endParaRPr lang="en-US" altLang="zh-CN" dirty="0"/>
          </a:p>
          <a:p>
            <a:r>
              <a:rPr lang="en-US" altLang="zh-CN" dirty="0"/>
              <a:t>Clock::Clock(int hour, int minute, int second) {	</a:t>
            </a:r>
          </a:p>
          <a:p>
            <a:r>
              <a:rPr lang="en-US" altLang="zh-CN" dirty="0"/>
              <a:t>	if (0 &lt;= hour &amp;&amp; hour &lt; 24 &amp;&amp; 0 &lt;= minute &amp;&amp; minute &lt; 60</a:t>
            </a:r>
          </a:p>
          <a:p>
            <a:r>
              <a:rPr lang="en-US" altLang="zh-CN" dirty="0"/>
              <a:t>		&amp;&amp; 0 &lt;= second &amp;&amp; second &lt; 60) {</a:t>
            </a:r>
          </a:p>
          <a:p>
            <a:r>
              <a:rPr lang="en-US" altLang="zh-CN" dirty="0"/>
              <a:t>		this-&gt;hour = hour;</a:t>
            </a:r>
          </a:p>
          <a:p>
            <a:r>
              <a:rPr lang="en-US" altLang="zh-CN" dirty="0"/>
              <a:t>		this-&gt;minute = minute;</a:t>
            </a:r>
          </a:p>
          <a:p>
            <a:r>
              <a:rPr lang="en-US" altLang="zh-CN" dirty="0"/>
              <a:t>		this-&gt;second = second;</a:t>
            </a:r>
          </a:p>
          <a:p>
            <a:r>
              <a:rPr lang="en-US" altLang="zh-CN" dirty="0"/>
              <a:t>	} else</a:t>
            </a:r>
          </a:p>
          <a:p>
            <a:r>
              <a:rPr lang="en-US" altLang="zh-CN" dirty="0"/>
              <a:t>		</a:t>
            </a:r>
            <a:r>
              <a:rPr lang="en-US" altLang="zh-CN" dirty="0" err="1"/>
              <a:t>cout</a:t>
            </a:r>
            <a:r>
              <a:rPr lang="en-US" altLang="zh-CN" dirty="0"/>
              <a:t> &lt;&lt; "Time error!" &lt;&lt; </a:t>
            </a:r>
            <a:r>
              <a:rPr lang="en-US" altLang="zh-CN" dirty="0" err="1"/>
              <a:t>endl</a:t>
            </a:r>
            <a:r>
              <a:rPr lang="en-US" altLang="zh-CN" dirty="0"/>
              <a:t>;</a:t>
            </a:r>
          </a:p>
          <a:p>
            <a:r>
              <a:rPr lang="en-US" altLang="zh-CN" dirty="0"/>
              <a:t>}</a:t>
            </a:r>
          </a:p>
          <a:p>
            <a:r>
              <a:rPr lang="en-US" altLang="zh-CN" dirty="0"/>
              <a:t>void Clock::</a:t>
            </a:r>
            <a:r>
              <a:rPr lang="en-US" altLang="zh-CN" dirty="0" err="1"/>
              <a:t>showTime</a:t>
            </a:r>
            <a:r>
              <a:rPr lang="en-US" altLang="zh-CN" dirty="0"/>
              <a:t>() const {	</a:t>
            </a:r>
          </a:p>
          <a:p>
            <a:r>
              <a:rPr lang="en-US" altLang="zh-CN" dirty="0"/>
              <a:t>	</a:t>
            </a:r>
            <a:r>
              <a:rPr lang="en-US" altLang="zh-CN" dirty="0" err="1"/>
              <a:t>cout</a:t>
            </a:r>
            <a:r>
              <a:rPr lang="en-US" altLang="zh-CN" dirty="0"/>
              <a:t> &lt;&lt; hour &lt;&lt; ":" &lt;&lt; minute &lt;&lt; ":" &lt;&lt; second &lt;&lt; </a:t>
            </a:r>
            <a:r>
              <a:rPr lang="en-US" altLang="zh-CN" dirty="0" err="1"/>
              <a:t>endl</a:t>
            </a:r>
            <a:r>
              <a:rPr lang="en-US" altLang="zh-CN" dirty="0"/>
              <a:t>;</a:t>
            </a:r>
          </a:p>
          <a:p>
            <a:r>
              <a:rPr lang="en-US" altLang="zh-CN" dirty="0"/>
              <a:t>}</a:t>
            </a:r>
          </a:p>
          <a:p>
            <a:endParaRPr lang="en-US" altLang="zh-CN" dirty="0"/>
          </a:p>
          <a:p>
            <a:r>
              <a:rPr lang="en-US" altLang="zh-CN" dirty="0"/>
              <a:t>Clock &amp; Clock::operator ++ () {	//</a:t>
            </a:r>
            <a:r>
              <a:rPr lang="zh-CN" altLang="en-US" dirty="0"/>
              <a:t>前置单目运算符重载函数</a:t>
            </a:r>
          </a:p>
          <a:p>
            <a:r>
              <a:rPr lang="zh-CN" altLang="en-US" dirty="0"/>
              <a:t>	</a:t>
            </a:r>
            <a:r>
              <a:rPr lang="en-US" altLang="zh-CN" dirty="0"/>
              <a:t>second++;</a:t>
            </a:r>
          </a:p>
          <a:p>
            <a:r>
              <a:rPr lang="en-US" altLang="zh-CN" dirty="0"/>
              <a:t>	if (second &gt;= 60) {</a:t>
            </a:r>
          </a:p>
          <a:p>
            <a:r>
              <a:rPr lang="en-US" altLang="zh-CN" dirty="0"/>
              <a:t>		second -= 60;</a:t>
            </a:r>
          </a:p>
          <a:p>
            <a:r>
              <a:rPr lang="en-US" altLang="zh-CN" dirty="0"/>
              <a:t>		minute++;</a:t>
            </a:r>
          </a:p>
          <a:p>
            <a:r>
              <a:rPr lang="en-US" altLang="zh-CN" dirty="0"/>
              <a:t>		if (minute &gt;= 60) {</a:t>
            </a:r>
          </a:p>
          <a:p>
            <a:r>
              <a:rPr lang="en-US" altLang="zh-CN" dirty="0"/>
              <a:t>			minute -= 60;</a:t>
            </a:r>
          </a:p>
          <a:p>
            <a:r>
              <a:rPr lang="en-US" altLang="zh-CN" dirty="0"/>
              <a:t>			hour = (hour + 1) % 24;</a:t>
            </a:r>
          </a:p>
          <a:p>
            <a:r>
              <a:rPr lang="en-US" altLang="zh-CN" dirty="0"/>
              <a:t>		}</a:t>
            </a:r>
          </a:p>
          <a:p>
            <a:r>
              <a:rPr lang="en-US" altLang="zh-CN" dirty="0"/>
              <a:t>	}</a:t>
            </a:r>
          </a:p>
          <a:p>
            <a:r>
              <a:rPr lang="en-US" altLang="zh-CN" dirty="0"/>
              <a:t>	return *this;</a:t>
            </a:r>
          </a:p>
          <a:p>
            <a:r>
              <a:rPr lang="en-US" altLang="zh-CN" dirty="0"/>
              <a:t>}</a:t>
            </a:r>
          </a:p>
          <a:p>
            <a:endParaRPr lang="en-US" altLang="zh-CN" dirty="0"/>
          </a:p>
          <a:p>
            <a:r>
              <a:rPr lang="en-US" altLang="zh-CN" dirty="0"/>
              <a:t>Clock Clock::operator ++ (int) {//</a:t>
            </a:r>
            <a:r>
              <a:rPr lang="zh-CN" altLang="en-US" dirty="0"/>
              <a:t>后置单目运算符重载</a:t>
            </a:r>
          </a:p>
          <a:p>
            <a:r>
              <a:rPr lang="zh-CN" altLang="en-US" dirty="0"/>
              <a:t>	</a:t>
            </a:r>
            <a:r>
              <a:rPr lang="en-US" altLang="zh-CN" dirty="0"/>
              <a:t>//</a:t>
            </a:r>
            <a:r>
              <a:rPr lang="zh-CN" altLang="en-US" dirty="0"/>
              <a:t>注意形参表中的整型参数</a:t>
            </a:r>
          </a:p>
          <a:p>
            <a:r>
              <a:rPr lang="zh-CN" altLang="en-US" dirty="0"/>
              <a:t>	</a:t>
            </a:r>
            <a:r>
              <a:rPr lang="en-US" altLang="zh-CN" dirty="0"/>
              <a:t>Clock old = *this;</a:t>
            </a:r>
          </a:p>
          <a:p>
            <a:r>
              <a:rPr lang="en-US" altLang="zh-CN" dirty="0"/>
              <a:t>	++(*this);	//</a:t>
            </a:r>
            <a:r>
              <a:rPr lang="zh-CN" altLang="en-US" dirty="0"/>
              <a:t>调用前置“</a:t>
            </a:r>
            <a:r>
              <a:rPr lang="en-US" altLang="zh-CN" dirty="0"/>
              <a:t>++”</a:t>
            </a:r>
            <a:r>
              <a:rPr lang="zh-CN" altLang="en-US" dirty="0"/>
              <a:t>运算符</a:t>
            </a:r>
          </a:p>
          <a:p>
            <a:r>
              <a:rPr lang="zh-CN" altLang="en-US" dirty="0"/>
              <a:t>	</a:t>
            </a:r>
            <a:r>
              <a:rPr lang="en-US" altLang="zh-CN" dirty="0"/>
              <a:t>return old;</a:t>
            </a:r>
          </a:p>
          <a:p>
            <a:r>
              <a:rPr lang="en-US" altLang="zh-CN" dirty="0"/>
              <a:t>}</a:t>
            </a:r>
          </a:p>
          <a:p>
            <a:r>
              <a:rPr lang="en-US" altLang="zh-CN" dirty="0"/>
              <a:t>int main() {</a:t>
            </a:r>
          </a:p>
          <a:p>
            <a:r>
              <a:rPr lang="en-US" altLang="zh-CN" dirty="0"/>
              <a:t>	Clock </a:t>
            </a:r>
            <a:r>
              <a:rPr lang="en-US" altLang="zh-CN" dirty="0" err="1"/>
              <a:t>myClock</a:t>
            </a:r>
            <a:r>
              <a:rPr lang="en-US" altLang="zh-CN" dirty="0"/>
              <a:t>(23, 59, 59);</a:t>
            </a:r>
          </a:p>
          <a:p>
            <a:r>
              <a:rPr lang="en-US" altLang="zh-CN" dirty="0"/>
              <a:t>	</a:t>
            </a:r>
            <a:r>
              <a:rPr lang="en-US" altLang="zh-CN" dirty="0" err="1"/>
              <a:t>cout</a:t>
            </a:r>
            <a:r>
              <a:rPr lang="en-US" altLang="zh-CN" dirty="0"/>
              <a:t> &lt;&lt; "First time output: ";</a:t>
            </a:r>
          </a:p>
          <a:p>
            <a:r>
              <a:rPr lang="en-US" altLang="zh-CN" dirty="0"/>
              <a:t>	</a:t>
            </a:r>
            <a:r>
              <a:rPr lang="en-US" altLang="zh-CN" dirty="0" err="1"/>
              <a:t>myClock.showTime</a:t>
            </a:r>
            <a:r>
              <a:rPr lang="en-US" altLang="zh-CN" dirty="0"/>
              <a:t>();</a:t>
            </a:r>
          </a:p>
          <a:p>
            <a:r>
              <a:rPr lang="en-US" altLang="zh-CN" dirty="0"/>
              <a:t>	</a:t>
            </a:r>
            <a:r>
              <a:rPr lang="en-US" altLang="zh-CN" dirty="0" err="1"/>
              <a:t>cout</a:t>
            </a:r>
            <a:r>
              <a:rPr lang="en-US" altLang="zh-CN" dirty="0"/>
              <a:t> &lt;&lt; "Show </a:t>
            </a:r>
            <a:r>
              <a:rPr lang="en-US" altLang="zh-CN" dirty="0" err="1"/>
              <a:t>myClock</a:t>
            </a:r>
            <a:r>
              <a:rPr lang="en-US" altLang="zh-CN" dirty="0"/>
              <a:t>++:    ";</a:t>
            </a:r>
          </a:p>
          <a:p>
            <a:r>
              <a:rPr lang="en-US" altLang="zh-CN" dirty="0"/>
              <a:t>	(</a:t>
            </a:r>
            <a:r>
              <a:rPr lang="en-US" altLang="zh-CN" dirty="0" err="1"/>
              <a:t>myClock</a:t>
            </a:r>
            <a:r>
              <a:rPr lang="en-US" altLang="zh-CN" dirty="0"/>
              <a:t>++).</a:t>
            </a:r>
            <a:r>
              <a:rPr lang="en-US" altLang="zh-CN" dirty="0" err="1"/>
              <a:t>showTime</a:t>
            </a:r>
            <a:r>
              <a:rPr lang="en-US" altLang="zh-CN" dirty="0"/>
              <a:t>();</a:t>
            </a:r>
          </a:p>
          <a:p>
            <a:r>
              <a:rPr lang="en-US" altLang="zh-CN" dirty="0"/>
              <a:t>	</a:t>
            </a:r>
            <a:r>
              <a:rPr lang="en-US" altLang="zh-CN" dirty="0" err="1"/>
              <a:t>cout</a:t>
            </a:r>
            <a:r>
              <a:rPr lang="en-US" altLang="zh-CN" dirty="0"/>
              <a:t> &lt;&lt; "Show ++</a:t>
            </a:r>
            <a:r>
              <a:rPr lang="en-US" altLang="zh-CN" dirty="0" err="1"/>
              <a:t>myClock</a:t>
            </a:r>
            <a:r>
              <a:rPr lang="en-US" altLang="zh-CN" dirty="0"/>
              <a:t>:    ";</a:t>
            </a:r>
          </a:p>
          <a:p>
            <a:r>
              <a:rPr lang="en-US" altLang="zh-CN" dirty="0"/>
              <a:t>	(++</a:t>
            </a:r>
            <a:r>
              <a:rPr lang="en-US" altLang="zh-CN" dirty="0" err="1"/>
              <a:t>myClock</a:t>
            </a:r>
            <a:r>
              <a:rPr lang="en-US" altLang="zh-CN" dirty="0"/>
              <a:t>).</a:t>
            </a:r>
            <a:r>
              <a:rPr lang="en-US" altLang="zh-CN" dirty="0" err="1"/>
              <a:t>showTime</a:t>
            </a:r>
            <a:r>
              <a:rPr lang="en-US" altLang="zh-CN" dirty="0"/>
              <a:t>();</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19</a:t>
            </a:fld>
            <a:endParaRPr lang="zh-CN" altLang="en-US"/>
          </a:p>
        </p:txBody>
      </p:sp>
    </p:spTree>
    <p:extLst>
      <p:ext uri="{BB962C8B-B14F-4D97-AF65-F5344CB8AC3E}">
        <p14:creationId xmlns:p14="http://schemas.microsoft.com/office/powerpoint/2010/main" val="2294059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using namespace std;</a:t>
            </a:r>
          </a:p>
          <a:p>
            <a:r>
              <a:rPr lang="en-US" altLang="zh-CN" dirty="0"/>
              <a:t>class Clock	{	</a:t>
            </a:r>
          </a:p>
          <a:p>
            <a:r>
              <a:rPr lang="en-US" altLang="zh-CN" dirty="0"/>
              <a:t>public:	</a:t>
            </a:r>
          </a:p>
          <a:p>
            <a:r>
              <a:rPr lang="en-US" altLang="zh-CN" dirty="0"/>
              <a:t>	Clock(int hour = 0, int minute = 0, int second = 0);</a:t>
            </a:r>
          </a:p>
          <a:p>
            <a:r>
              <a:rPr lang="en-US" altLang="zh-CN" dirty="0"/>
              <a:t>	void </a:t>
            </a:r>
            <a:r>
              <a:rPr lang="en-US" altLang="zh-CN" dirty="0" err="1"/>
              <a:t>showTime</a:t>
            </a:r>
            <a:r>
              <a:rPr lang="en-US" altLang="zh-CN" dirty="0"/>
              <a:t>() const;</a:t>
            </a:r>
          </a:p>
          <a:p>
            <a:r>
              <a:rPr lang="en-US" altLang="zh-CN" dirty="0"/>
              <a:t>	Clock&amp; operator ++ ();		//</a:t>
            </a:r>
            <a:r>
              <a:rPr lang="zh-CN" altLang="en-US" dirty="0"/>
              <a:t>前置单目运算符重载</a:t>
            </a:r>
          </a:p>
          <a:p>
            <a:r>
              <a:rPr lang="zh-CN" altLang="en-US" dirty="0"/>
              <a:t>	</a:t>
            </a:r>
            <a:r>
              <a:rPr lang="en-US" altLang="zh-CN" dirty="0"/>
              <a:t>Clock operator ++ (int);	//</a:t>
            </a:r>
            <a:r>
              <a:rPr lang="zh-CN" altLang="en-US" dirty="0"/>
              <a:t>后置单目运算符重载</a:t>
            </a:r>
          </a:p>
          <a:p>
            <a:r>
              <a:rPr lang="en-US" altLang="zh-CN" dirty="0"/>
              <a:t>private:</a:t>
            </a:r>
          </a:p>
          <a:p>
            <a:r>
              <a:rPr lang="en-US" altLang="zh-CN" dirty="0"/>
              <a:t>	int hour, minute, second;</a:t>
            </a:r>
          </a:p>
          <a:p>
            <a:r>
              <a:rPr lang="en-US" altLang="zh-CN" dirty="0"/>
              <a:t>};</a:t>
            </a:r>
          </a:p>
          <a:p>
            <a:endParaRPr lang="en-US" altLang="zh-CN" dirty="0"/>
          </a:p>
          <a:p>
            <a:r>
              <a:rPr lang="en-US" altLang="zh-CN" dirty="0"/>
              <a:t>Clock::Clock(int hour, int minute, int second) {	</a:t>
            </a:r>
          </a:p>
          <a:p>
            <a:r>
              <a:rPr lang="en-US" altLang="zh-CN" dirty="0"/>
              <a:t>	if (0 &lt;= hour &amp;&amp; hour &lt; 24 &amp;&amp; 0 &lt;= minute &amp;&amp; minute &lt; 60</a:t>
            </a:r>
          </a:p>
          <a:p>
            <a:r>
              <a:rPr lang="en-US" altLang="zh-CN" dirty="0"/>
              <a:t>		&amp;&amp; 0 &lt;= second &amp;&amp; second &lt; 60) {</a:t>
            </a:r>
          </a:p>
          <a:p>
            <a:r>
              <a:rPr lang="en-US" altLang="zh-CN" dirty="0"/>
              <a:t>		this-&gt;hour = hour;</a:t>
            </a:r>
          </a:p>
          <a:p>
            <a:r>
              <a:rPr lang="en-US" altLang="zh-CN" dirty="0"/>
              <a:t>		this-&gt;minute = minute;</a:t>
            </a:r>
          </a:p>
          <a:p>
            <a:r>
              <a:rPr lang="en-US" altLang="zh-CN" dirty="0"/>
              <a:t>		this-&gt;second = second;</a:t>
            </a:r>
          </a:p>
          <a:p>
            <a:r>
              <a:rPr lang="en-US" altLang="zh-CN" dirty="0"/>
              <a:t>	} else</a:t>
            </a:r>
          </a:p>
          <a:p>
            <a:r>
              <a:rPr lang="en-US" altLang="zh-CN" dirty="0"/>
              <a:t>		</a:t>
            </a:r>
            <a:r>
              <a:rPr lang="en-US" altLang="zh-CN" dirty="0" err="1"/>
              <a:t>cout</a:t>
            </a:r>
            <a:r>
              <a:rPr lang="en-US" altLang="zh-CN" dirty="0"/>
              <a:t> &lt;&lt; "Time error!" &lt;&lt; </a:t>
            </a:r>
            <a:r>
              <a:rPr lang="en-US" altLang="zh-CN" dirty="0" err="1"/>
              <a:t>endl</a:t>
            </a:r>
            <a:r>
              <a:rPr lang="en-US" altLang="zh-CN" dirty="0"/>
              <a:t>;</a:t>
            </a:r>
          </a:p>
          <a:p>
            <a:r>
              <a:rPr lang="en-US" altLang="zh-CN" dirty="0"/>
              <a:t>}</a:t>
            </a:r>
          </a:p>
          <a:p>
            <a:r>
              <a:rPr lang="en-US" altLang="zh-CN" dirty="0"/>
              <a:t>void Clock::</a:t>
            </a:r>
            <a:r>
              <a:rPr lang="en-US" altLang="zh-CN" dirty="0" err="1"/>
              <a:t>showTime</a:t>
            </a:r>
            <a:r>
              <a:rPr lang="en-US" altLang="zh-CN" dirty="0"/>
              <a:t>() const {	</a:t>
            </a:r>
          </a:p>
          <a:p>
            <a:r>
              <a:rPr lang="en-US" altLang="zh-CN" dirty="0"/>
              <a:t>	</a:t>
            </a:r>
            <a:r>
              <a:rPr lang="en-US" altLang="zh-CN" dirty="0" err="1"/>
              <a:t>cout</a:t>
            </a:r>
            <a:r>
              <a:rPr lang="en-US" altLang="zh-CN" dirty="0"/>
              <a:t> &lt;&lt; hour &lt;&lt; ":" &lt;&lt; minute &lt;&lt; ":" &lt;&lt; second &lt;&lt; </a:t>
            </a:r>
            <a:r>
              <a:rPr lang="en-US" altLang="zh-CN" dirty="0" err="1"/>
              <a:t>endl</a:t>
            </a:r>
            <a:r>
              <a:rPr lang="en-US" altLang="zh-CN" dirty="0"/>
              <a:t>;</a:t>
            </a:r>
          </a:p>
          <a:p>
            <a:r>
              <a:rPr lang="en-US" altLang="zh-CN" dirty="0"/>
              <a:t>}</a:t>
            </a:r>
          </a:p>
          <a:p>
            <a:endParaRPr lang="en-US" altLang="zh-CN" dirty="0"/>
          </a:p>
          <a:p>
            <a:r>
              <a:rPr lang="en-US" altLang="zh-CN" dirty="0"/>
              <a:t>Clock &amp; Clock::operator ++ () {	//</a:t>
            </a:r>
            <a:r>
              <a:rPr lang="zh-CN" altLang="en-US" dirty="0"/>
              <a:t>前置单目运算符重载函数</a:t>
            </a:r>
          </a:p>
          <a:p>
            <a:r>
              <a:rPr lang="zh-CN" altLang="en-US" dirty="0"/>
              <a:t>	</a:t>
            </a:r>
            <a:r>
              <a:rPr lang="en-US" altLang="zh-CN" dirty="0"/>
              <a:t>second++;</a:t>
            </a:r>
          </a:p>
          <a:p>
            <a:r>
              <a:rPr lang="en-US" altLang="zh-CN" dirty="0"/>
              <a:t>	if (second &gt;= 60) {</a:t>
            </a:r>
          </a:p>
          <a:p>
            <a:r>
              <a:rPr lang="en-US" altLang="zh-CN" dirty="0"/>
              <a:t>		second -= 60;</a:t>
            </a:r>
          </a:p>
          <a:p>
            <a:r>
              <a:rPr lang="en-US" altLang="zh-CN" dirty="0"/>
              <a:t>		minute++;</a:t>
            </a:r>
          </a:p>
          <a:p>
            <a:r>
              <a:rPr lang="en-US" altLang="zh-CN" dirty="0"/>
              <a:t>		if (minute &gt;= 60) {</a:t>
            </a:r>
          </a:p>
          <a:p>
            <a:r>
              <a:rPr lang="en-US" altLang="zh-CN" dirty="0"/>
              <a:t>			minute -= 60;</a:t>
            </a:r>
          </a:p>
          <a:p>
            <a:r>
              <a:rPr lang="en-US" altLang="zh-CN" dirty="0"/>
              <a:t>			hour = (hour + 1) % 24;</a:t>
            </a:r>
          </a:p>
          <a:p>
            <a:r>
              <a:rPr lang="en-US" altLang="zh-CN" dirty="0"/>
              <a:t>		}</a:t>
            </a:r>
          </a:p>
          <a:p>
            <a:r>
              <a:rPr lang="en-US" altLang="zh-CN" dirty="0"/>
              <a:t>	}</a:t>
            </a:r>
          </a:p>
          <a:p>
            <a:r>
              <a:rPr lang="en-US" altLang="zh-CN" dirty="0"/>
              <a:t>	return *this;</a:t>
            </a:r>
          </a:p>
          <a:p>
            <a:r>
              <a:rPr lang="en-US" altLang="zh-CN" dirty="0"/>
              <a:t>}</a:t>
            </a:r>
          </a:p>
          <a:p>
            <a:endParaRPr lang="en-US" altLang="zh-CN" dirty="0"/>
          </a:p>
          <a:p>
            <a:r>
              <a:rPr lang="en-US" altLang="zh-CN" dirty="0"/>
              <a:t>Clock Clock::operator ++ (int) {//</a:t>
            </a:r>
            <a:r>
              <a:rPr lang="zh-CN" altLang="en-US" dirty="0"/>
              <a:t>后置单目运算符重载</a:t>
            </a:r>
          </a:p>
          <a:p>
            <a:r>
              <a:rPr lang="zh-CN" altLang="en-US" dirty="0"/>
              <a:t>	</a:t>
            </a:r>
            <a:r>
              <a:rPr lang="en-US" altLang="zh-CN" dirty="0"/>
              <a:t>//</a:t>
            </a:r>
            <a:r>
              <a:rPr lang="zh-CN" altLang="en-US" dirty="0"/>
              <a:t>注意形参表中的整型参数</a:t>
            </a:r>
          </a:p>
          <a:p>
            <a:r>
              <a:rPr lang="zh-CN" altLang="en-US" dirty="0"/>
              <a:t>	</a:t>
            </a:r>
            <a:r>
              <a:rPr lang="en-US" altLang="zh-CN" dirty="0"/>
              <a:t>Clock old = *this;</a:t>
            </a:r>
          </a:p>
          <a:p>
            <a:r>
              <a:rPr lang="en-US" altLang="zh-CN" dirty="0"/>
              <a:t>	++(*this);	//</a:t>
            </a:r>
            <a:r>
              <a:rPr lang="zh-CN" altLang="en-US" dirty="0"/>
              <a:t>调用前置“</a:t>
            </a:r>
            <a:r>
              <a:rPr lang="en-US" altLang="zh-CN" dirty="0"/>
              <a:t>++”</a:t>
            </a:r>
            <a:r>
              <a:rPr lang="zh-CN" altLang="en-US" dirty="0"/>
              <a:t>运算符</a:t>
            </a:r>
          </a:p>
          <a:p>
            <a:r>
              <a:rPr lang="zh-CN" altLang="en-US" dirty="0"/>
              <a:t>	</a:t>
            </a:r>
            <a:r>
              <a:rPr lang="en-US" altLang="zh-CN" dirty="0"/>
              <a:t>return old;</a:t>
            </a:r>
          </a:p>
          <a:p>
            <a:r>
              <a:rPr lang="en-US" altLang="zh-CN" dirty="0"/>
              <a:t>}</a:t>
            </a:r>
          </a:p>
          <a:p>
            <a:r>
              <a:rPr lang="en-US" altLang="zh-CN" dirty="0"/>
              <a:t>int main() {</a:t>
            </a:r>
          </a:p>
          <a:p>
            <a:r>
              <a:rPr lang="en-US" altLang="zh-CN" dirty="0"/>
              <a:t>	Clock </a:t>
            </a:r>
            <a:r>
              <a:rPr lang="en-US" altLang="zh-CN" dirty="0" err="1"/>
              <a:t>myClock</a:t>
            </a:r>
            <a:r>
              <a:rPr lang="en-US" altLang="zh-CN" dirty="0"/>
              <a:t>(23, 59, 59);</a:t>
            </a:r>
          </a:p>
          <a:p>
            <a:r>
              <a:rPr lang="en-US" altLang="zh-CN" dirty="0"/>
              <a:t>	</a:t>
            </a:r>
            <a:r>
              <a:rPr lang="en-US" altLang="zh-CN" dirty="0" err="1"/>
              <a:t>cout</a:t>
            </a:r>
            <a:r>
              <a:rPr lang="en-US" altLang="zh-CN" dirty="0"/>
              <a:t> &lt;&lt; "First time output: ";</a:t>
            </a:r>
          </a:p>
          <a:p>
            <a:r>
              <a:rPr lang="en-US" altLang="zh-CN" dirty="0"/>
              <a:t>	</a:t>
            </a:r>
            <a:r>
              <a:rPr lang="en-US" altLang="zh-CN" dirty="0" err="1"/>
              <a:t>myClock.showTime</a:t>
            </a:r>
            <a:r>
              <a:rPr lang="en-US" altLang="zh-CN" dirty="0"/>
              <a:t>();</a:t>
            </a:r>
          </a:p>
          <a:p>
            <a:r>
              <a:rPr lang="en-US" altLang="zh-CN" dirty="0"/>
              <a:t>	</a:t>
            </a:r>
            <a:r>
              <a:rPr lang="en-US" altLang="zh-CN" dirty="0" err="1"/>
              <a:t>cout</a:t>
            </a:r>
            <a:r>
              <a:rPr lang="en-US" altLang="zh-CN" dirty="0"/>
              <a:t> &lt;&lt; "Show </a:t>
            </a:r>
            <a:r>
              <a:rPr lang="en-US" altLang="zh-CN" dirty="0" err="1"/>
              <a:t>myClock</a:t>
            </a:r>
            <a:r>
              <a:rPr lang="en-US" altLang="zh-CN" dirty="0"/>
              <a:t>++:    ";</a:t>
            </a:r>
          </a:p>
          <a:p>
            <a:r>
              <a:rPr lang="en-US" altLang="zh-CN" dirty="0"/>
              <a:t>	(</a:t>
            </a:r>
            <a:r>
              <a:rPr lang="en-US" altLang="zh-CN" dirty="0" err="1"/>
              <a:t>myClock</a:t>
            </a:r>
            <a:r>
              <a:rPr lang="en-US" altLang="zh-CN" dirty="0"/>
              <a:t>++).</a:t>
            </a:r>
            <a:r>
              <a:rPr lang="en-US" altLang="zh-CN" dirty="0" err="1"/>
              <a:t>showTime</a:t>
            </a:r>
            <a:r>
              <a:rPr lang="en-US" altLang="zh-CN" dirty="0"/>
              <a:t>();</a:t>
            </a:r>
          </a:p>
          <a:p>
            <a:r>
              <a:rPr lang="en-US" altLang="zh-CN" dirty="0"/>
              <a:t>	</a:t>
            </a:r>
            <a:r>
              <a:rPr lang="en-US" altLang="zh-CN" dirty="0" err="1"/>
              <a:t>cout</a:t>
            </a:r>
            <a:r>
              <a:rPr lang="en-US" altLang="zh-CN" dirty="0"/>
              <a:t> &lt;&lt; "Show ++</a:t>
            </a:r>
            <a:r>
              <a:rPr lang="en-US" altLang="zh-CN" dirty="0" err="1"/>
              <a:t>myClock</a:t>
            </a:r>
            <a:r>
              <a:rPr lang="en-US" altLang="zh-CN" dirty="0"/>
              <a:t>:    ";</a:t>
            </a:r>
          </a:p>
          <a:p>
            <a:r>
              <a:rPr lang="en-US" altLang="zh-CN" dirty="0"/>
              <a:t>	(++</a:t>
            </a:r>
            <a:r>
              <a:rPr lang="en-US" altLang="zh-CN" dirty="0" err="1"/>
              <a:t>myClock</a:t>
            </a:r>
            <a:r>
              <a:rPr lang="en-US" altLang="zh-CN" dirty="0"/>
              <a:t>).</a:t>
            </a:r>
            <a:r>
              <a:rPr lang="en-US" altLang="zh-CN" dirty="0" err="1"/>
              <a:t>showTime</a:t>
            </a:r>
            <a:r>
              <a:rPr lang="en-US" altLang="zh-CN" dirty="0"/>
              <a:t>();</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20</a:t>
            </a:fld>
            <a:endParaRPr lang="zh-CN" altLang="en-US"/>
          </a:p>
        </p:txBody>
      </p:sp>
    </p:spTree>
    <p:extLst>
      <p:ext uri="{BB962C8B-B14F-4D97-AF65-F5344CB8AC3E}">
        <p14:creationId xmlns:p14="http://schemas.microsoft.com/office/powerpoint/2010/main" val="2125691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#include&lt;iostream&gt;</a:t>
            </a:r>
          </a:p>
          <a:p>
            <a:r>
              <a:rPr lang="en-US" altLang="zh-CN" dirty="0"/>
              <a:t>#include&lt;string.h&gt;</a:t>
            </a:r>
          </a:p>
          <a:p>
            <a:r>
              <a:rPr lang="en-US" altLang="zh-CN" dirty="0"/>
              <a:t>using namespace std;</a:t>
            </a:r>
          </a:p>
          <a:p>
            <a:endParaRPr lang="en-US" altLang="zh-CN" dirty="0"/>
          </a:p>
          <a:p>
            <a:r>
              <a:rPr lang="en-US" altLang="zh-CN" dirty="0"/>
              <a:t>class INTEGER {</a:t>
            </a:r>
          </a:p>
          <a:p>
            <a:r>
              <a:rPr lang="en-US" altLang="zh-CN" dirty="0"/>
              <a:t>public:</a:t>
            </a:r>
          </a:p>
          <a:p>
            <a:r>
              <a:rPr lang="en-US" altLang="zh-CN" dirty="0"/>
              <a:t>  INTEGER(int </a:t>
            </a:r>
            <a:r>
              <a:rPr lang="en-US" altLang="zh-CN" dirty="0" err="1"/>
              <a:t>i</a:t>
            </a:r>
            <a:r>
              <a:rPr lang="en-US" altLang="zh-CN" dirty="0"/>
              <a:t>=0) {value=</a:t>
            </a:r>
            <a:r>
              <a:rPr lang="en-US" altLang="zh-CN" dirty="0" err="1"/>
              <a:t>i</a:t>
            </a:r>
            <a:r>
              <a:rPr lang="en-US" altLang="zh-CN" dirty="0"/>
              <a:t>;}</a:t>
            </a:r>
          </a:p>
          <a:p>
            <a:r>
              <a:rPr lang="en-US" altLang="zh-CN" dirty="0"/>
              <a:t>  void </a:t>
            </a:r>
            <a:r>
              <a:rPr lang="en-US" altLang="zh-CN" dirty="0" err="1"/>
              <a:t>print_int</a:t>
            </a:r>
            <a:r>
              <a:rPr lang="en-US" altLang="zh-CN" dirty="0"/>
              <a:t>() {</a:t>
            </a:r>
            <a:r>
              <a:rPr lang="en-US" altLang="zh-CN" dirty="0" err="1"/>
              <a:t>cout</a:t>
            </a:r>
            <a:r>
              <a:rPr lang="en-US" altLang="zh-CN" dirty="0"/>
              <a:t>&lt;&lt;value&lt;&lt;</a:t>
            </a:r>
            <a:r>
              <a:rPr lang="en-US" altLang="zh-CN" dirty="0" err="1"/>
              <a:t>endl</a:t>
            </a:r>
            <a:r>
              <a:rPr lang="en-US" altLang="zh-CN" dirty="0"/>
              <a:t>;}</a:t>
            </a:r>
          </a:p>
          <a:p>
            <a:r>
              <a:rPr lang="en-US" altLang="zh-CN" dirty="0"/>
              <a:t>  INTEGER operator+ (INTEGER other);</a:t>
            </a:r>
          </a:p>
          <a:p>
            <a:r>
              <a:rPr lang="en-US" altLang="zh-CN" dirty="0"/>
              <a:t>private:</a:t>
            </a:r>
          </a:p>
          <a:p>
            <a:r>
              <a:rPr lang="en-US" altLang="zh-CN" dirty="0"/>
              <a:t>	int value;</a:t>
            </a:r>
          </a:p>
          <a:p>
            <a:r>
              <a:rPr lang="en-US" altLang="zh-CN" dirty="0"/>
              <a:t>};</a:t>
            </a:r>
          </a:p>
          <a:p>
            <a:r>
              <a:rPr lang="en-US" altLang="zh-CN" dirty="0"/>
              <a:t>INTEGER  </a:t>
            </a:r>
            <a:r>
              <a:rPr lang="en-US" altLang="zh-CN" dirty="0" err="1"/>
              <a:t>INTEGER</a:t>
            </a:r>
            <a:r>
              <a:rPr lang="en-US" altLang="zh-CN" dirty="0"/>
              <a:t> :: operator + (INTEGER other)</a:t>
            </a:r>
          </a:p>
          <a:p>
            <a:r>
              <a:rPr lang="en-US" altLang="zh-CN" dirty="0"/>
              <a:t>{	INTEGER temp;</a:t>
            </a:r>
          </a:p>
          <a:p>
            <a:r>
              <a:rPr lang="en-US" altLang="zh-CN" dirty="0"/>
              <a:t>	</a:t>
            </a:r>
            <a:r>
              <a:rPr lang="en-US" altLang="zh-CN" dirty="0" err="1"/>
              <a:t>temp.value</a:t>
            </a:r>
            <a:r>
              <a:rPr lang="en-US" altLang="zh-CN" dirty="0"/>
              <a:t>=</a:t>
            </a:r>
            <a:r>
              <a:rPr lang="en-US" altLang="zh-CN" dirty="0" err="1"/>
              <a:t>value+other.value</a:t>
            </a:r>
            <a:r>
              <a:rPr lang="en-US" altLang="zh-CN" dirty="0"/>
              <a:t>;</a:t>
            </a:r>
          </a:p>
          <a:p>
            <a:r>
              <a:rPr lang="en-US" altLang="zh-CN" dirty="0"/>
              <a:t>	return temp;</a:t>
            </a:r>
          </a:p>
          <a:p>
            <a:r>
              <a:rPr lang="en-US" altLang="zh-CN" dirty="0"/>
              <a:t>}</a:t>
            </a:r>
          </a:p>
          <a:p>
            <a:r>
              <a:rPr lang="en-US" altLang="zh-CN" dirty="0"/>
              <a:t>int main()</a:t>
            </a:r>
          </a:p>
          <a:p>
            <a:r>
              <a:rPr lang="en-US" altLang="zh-CN" dirty="0"/>
              <a:t>{	INTEGER x(10);</a:t>
            </a:r>
          </a:p>
          <a:p>
            <a:r>
              <a:rPr lang="en-US" altLang="zh-CN" dirty="0"/>
              <a:t>	</a:t>
            </a:r>
            <a:r>
              <a:rPr lang="en-US" altLang="zh-CN" dirty="0" err="1"/>
              <a:t>x.print_int</a:t>
            </a:r>
            <a:r>
              <a:rPr lang="en-US" altLang="zh-CN" dirty="0"/>
              <a:t>(); </a:t>
            </a:r>
          </a:p>
          <a:p>
            <a:r>
              <a:rPr lang="en-US" altLang="zh-CN" dirty="0"/>
              <a:t>	x=x+2;</a:t>
            </a:r>
          </a:p>
          <a:p>
            <a:r>
              <a:rPr lang="en-US" altLang="zh-CN" dirty="0"/>
              <a:t>//	x=2+x; </a:t>
            </a:r>
          </a:p>
          <a:p>
            <a:r>
              <a:rPr lang="en-US" altLang="zh-CN" dirty="0"/>
              <a:t>	</a:t>
            </a:r>
            <a:r>
              <a:rPr lang="en-US" altLang="zh-CN" dirty="0" err="1"/>
              <a:t>x.print_int</a:t>
            </a:r>
            <a:r>
              <a:rPr lang="en-US" altLang="zh-CN" dirty="0"/>
              <a:t>();</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21</a:t>
            </a:fld>
            <a:endParaRPr lang="zh-CN" altLang="en-US"/>
          </a:p>
        </p:txBody>
      </p:sp>
    </p:spTree>
    <p:extLst>
      <p:ext uri="{BB962C8B-B14F-4D97-AF65-F5344CB8AC3E}">
        <p14:creationId xmlns:p14="http://schemas.microsoft.com/office/powerpoint/2010/main" val="4678421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50737-CC2C-4B6C-B4E4-56EFA84F57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685EBF-F738-5609-EB03-4B4632A6C7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424328-E4D8-0058-6EE3-79B5C9E65FBE}"/>
              </a:ext>
            </a:extLst>
          </p:cNvPr>
          <p:cNvSpPr>
            <a:spLocks noGrp="1"/>
          </p:cNvSpPr>
          <p:nvPr>
            <p:ph type="body" idx="1"/>
          </p:nvPr>
        </p:nvSpPr>
        <p:spPr/>
        <p:txBody>
          <a:bodyPr/>
          <a:lstStyle/>
          <a:p>
            <a:r>
              <a:rPr lang="en-US" altLang="zh-CN" dirty="0"/>
              <a:t>#include&lt;iostream&gt;</a:t>
            </a:r>
          </a:p>
          <a:p>
            <a:r>
              <a:rPr lang="en-US" altLang="zh-CN" dirty="0"/>
              <a:t>#include&lt;string.h&gt;</a:t>
            </a:r>
          </a:p>
          <a:p>
            <a:r>
              <a:rPr lang="en-US" altLang="zh-CN" dirty="0"/>
              <a:t>using namespace std;</a:t>
            </a:r>
          </a:p>
          <a:p>
            <a:endParaRPr lang="en-US" altLang="zh-CN" dirty="0"/>
          </a:p>
          <a:p>
            <a:r>
              <a:rPr lang="en-US" altLang="zh-CN" dirty="0"/>
              <a:t>class INTEGER {</a:t>
            </a:r>
          </a:p>
          <a:p>
            <a:r>
              <a:rPr lang="en-US" altLang="zh-CN" dirty="0"/>
              <a:t>public:</a:t>
            </a:r>
          </a:p>
          <a:p>
            <a:r>
              <a:rPr lang="en-US" altLang="zh-CN" dirty="0"/>
              <a:t>  INTEGER(int </a:t>
            </a:r>
            <a:r>
              <a:rPr lang="en-US" altLang="zh-CN" dirty="0" err="1"/>
              <a:t>i</a:t>
            </a:r>
            <a:r>
              <a:rPr lang="en-US" altLang="zh-CN" dirty="0"/>
              <a:t>=0) {value=</a:t>
            </a:r>
            <a:r>
              <a:rPr lang="en-US" altLang="zh-CN" dirty="0" err="1"/>
              <a:t>i</a:t>
            </a:r>
            <a:r>
              <a:rPr lang="en-US" altLang="zh-CN" dirty="0"/>
              <a:t>;}</a:t>
            </a:r>
          </a:p>
          <a:p>
            <a:r>
              <a:rPr lang="en-US" altLang="zh-CN" dirty="0"/>
              <a:t>  void </a:t>
            </a:r>
            <a:r>
              <a:rPr lang="en-US" altLang="zh-CN" dirty="0" err="1"/>
              <a:t>print_int</a:t>
            </a:r>
            <a:r>
              <a:rPr lang="en-US" altLang="zh-CN" dirty="0"/>
              <a:t>() {</a:t>
            </a:r>
            <a:r>
              <a:rPr lang="en-US" altLang="zh-CN" dirty="0" err="1"/>
              <a:t>cout</a:t>
            </a:r>
            <a:r>
              <a:rPr lang="en-US" altLang="zh-CN" dirty="0"/>
              <a:t>&lt;&lt;value&lt;&lt;</a:t>
            </a:r>
            <a:r>
              <a:rPr lang="en-US" altLang="zh-CN" dirty="0" err="1"/>
              <a:t>endl</a:t>
            </a:r>
            <a:r>
              <a:rPr lang="en-US" altLang="zh-CN" dirty="0"/>
              <a:t>;}</a:t>
            </a:r>
          </a:p>
          <a:p>
            <a:r>
              <a:rPr lang="en-US" altLang="zh-CN" dirty="0"/>
              <a:t>  INTEGER operator+ (INTEGER other);</a:t>
            </a:r>
          </a:p>
          <a:p>
            <a:r>
              <a:rPr lang="en-US" altLang="zh-CN" dirty="0"/>
              <a:t>private:</a:t>
            </a:r>
          </a:p>
          <a:p>
            <a:r>
              <a:rPr lang="en-US" altLang="zh-CN" dirty="0"/>
              <a:t>	int value;</a:t>
            </a:r>
          </a:p>
          <a:p>
            <a:r>
              <a:rPr lang="en-US" altLang="zh-CN" dirty="0"/>
              <a:t>};</a:t>
            </a:r>
          </a:p>
          <a:p>
            <a:r>
              <a:rPr lang="en-US" altLang="zh-CN" dirty="0"/>
              <a:t>INTEGER  </a:t>
            </a:r>
            <a:r>
              <a:rPr lang="en-US" altLang="zh-CN" dirty="0" err="1"/>
              <a:t>INTEGER</a:t>
            </a:r>
            <a:r>
              <a:rPr lang="en-US" altLang="zh-CN" dirty="0"/>
              <a:t> :: operator + (INTEGER other)</a:t>
            </a:r>
          </a:p>
          <a:p>
            <a:r>
              <a:rPr lang="en-US" altLang="zh-CN" dirty="0"/>
              <a:t>{	INTEGER temp;</a:t>
            </a:r>
          </a:p>
          <a:p>
            <a:r>
              <a:rPr lang="en-US" altLang="zh-CN" dirty="0"/>
              <a:t>	</a:t>
            </a:r>
            <a:r>
              <a:rPr lang="en-US" altLang="zh-CN" dirty="0" err="1"/>
              <a:t>temp.value</a:t>
            </a:r>
            <a:r>
              <a:rPr lang="en-US" altLang="zh-CN" dirty="0"/>
              <a:t>=</a:t>
            </a:r>
            <a:r>
              <a:rPr lang="en-US" altLang="zh-CN" dirty="0" err="1"/>
              <a:t>value+other.value</a:t>
            </a:r>
            <a:r>
              <a:rPr lang="en-US" altLang="zh-CN" dirty="0"/>
              <a:t>;</a:t>
            </a:r>
          </a:p>
          <a:p>
            <a:r>
              <a:rPr lang="en-US" altLang="zh-CN" dirty="0"/>
              <a:t>	return temp;</a:t>
            </a:r>
          </a:p>
          <a:p>
            <a:r>
              <a:rPr lang="en-US" altLang="zh-CN" dirty="0"/>
              <a:t>}</a:t>
            </a:r>
          </a:p>
          <a:p>
            <a:r>
              <a:rPr lang="en-US" altLang="zh-CN" dirty="0"/>
              <a:t>int main()</a:t>
            </a:r>
          </a:p>
          <a:p>
            <a:r>
              <a:rPr lang="en-US" altLang="zh-CN" dirty="0"/>
              <a:t>{	INTEGER x(10);</a:t>
            </a:r>
          </a:p>
          <a:p>
            <a:r>
              <a:rPr lang="en-US" altLang="zh-CN" dirty="0"/>
              <a:t>	</a:t>
            </a:r>
            <a:r>
              <a:rPr lang="en-US" altLang="zh-CN" dirty="0" err="1"/>
              <a:t>x.print_int</a:t>
            </a:r>
            <a:r>
              <a:rPr lang="en-US" altLang="zh-CN" dirty="0"/>
              <a:t>(); </a:t>
            </a:r>
          </a:p>
          <a:p>
            <a:r>
              <a:rPr lang="en-US" altLang="zh-CN" dirty="0"/>
              <a:t>	x=x+2;</a:t>
            </a:r>
          </a:p>
          <a:p>
            <a:r>
              <a:rPr lang="en-US" altLang="zh-CN" dirty="0"/>
              <a:t>//	x=2+x; </a:t>
            </a:r>
          </a:p>
          <a:p>
            <a:r>
              <a:rPr lang="en-US" altLang="zh-CN" dirty="0"/>
              <a:t>	</a:t>
            </a:r>
            <a:r>
              <a:rPr lang="en-US" altLang="zh-CN" dirty="0" err="1"/>
              <a:t>x.print_int</a:t>
            </a:r>
            <a:r>
              <a:rPr lang="en-US" altLang="zh-CN" dirty="0"/>
              <a:t>();</a:t>
            </a:r>
          </a:p>
          <a:p>
            <a:r>
              <a:rPr lang="en-US" altLang="zh-CN" dirty="0"/>
              <a:t>	return 0;</a:t>
            </a:r>
          </a:p>
          <a:p>
            <a:r>
              <a:rPr lang="en-US" altLang="zh-CN" dirty="0"/>
              <a:t>}</a:t>
            </a:r>
            <a:endParaRPr lang="zh-CN" altLang="en-US" dirty="0"/>
          </a:p>
        </p:txBody>
      </p:sp>
      <p:sp>
        <p:nvSpPr>
          <p:cNvPr id="4" name="灯片编号占位符 3">
            <a:extLst>
              <a:ext uri="{FF2B5EF4-FFF2-40B4-BE49-F238E27FC236}">
                <a16:creationId xmlns:a16="http://schemas.microsoft.com/office/drawing/2014/main" id="{98899218-3182-4F76-FF72-BD73505C05F1}"/>
              </a:ext>
            </a:extLst>
          </p:cNvPr>
          <p:cNvSpPr>
            <a:spLocks noGrp="1"/>
          </p:cNvSpPr>
          <p:nvPr>
            <p:ph type="sldNum" sz="quarter" idx="5"/>
          </p:nvPr>
        </p:nvSpPr>
        <p:spPr/>
        <p:txBody>
          <a:bodyPr/>
          <a:lstStyle/>
          <a:p>
            <a:fld id="{A8ABDA6A-29CD-4D28-B6EA-E8D4FFDF6043}" type="slidenum">
              <a:rPr lang="zh-CN" altLang="en-US" smtClean="0"/>
              <a:t>22</a:t>
            </a:fld>
            <a:endParaRPr lang="zh-CN" altLang="en-US"/>
          </a:p>
        </p:txBody>
      </p:sp>
    </p:spTree>
    <p:extLst>
      <p:ext uri="{BB962C8B-B14F-4D97-AF65-F5344CB8AC3E}">
        <p14:creationId xmlns:p14="http://schemas.microsoft.com/office/powerpoint/2010/main" val="620613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4D4D4D"/>
                </a:solidFill>
                <a:effectLst/>
                <a:latin typeface="-apple-system"/>
              </a:rPr>
              <a:t>赋值运算符只能在类中重载。</a:t>
            </a:r>
            <a:r>
              <a:rPr lang="zh-CN" altLang="en-US" b="0" i="0" dirty="0">
                <a:solidFill>
                  <a:srgbClr val="4D4D4D"/>
                </a:solidFill>
                <a:effectLst/>
                <a:latin typeface="-apple-system"/>
              </a:rPr>
              <a:t>因为赋值运算符重载函数是类的默认成员函数，如果重载成全局函数，编译器会为类自动生成默认赋值运算符重载函数，此时就会和全局的冲突。</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23</a:t>
            </a:fld>
            <a:endParaRPr lang="zh-CN" altLang="en-US"/>
          </a:p>
        </p:txBody>
      </p:sp>
    </p:spTree>
    <p:extLst>
      <p:ext uri="{BB962C8B-B14F-4D97-AF65-F5344CB8AC3E}">
        <p14:creationId xmlns:p14="http://schemas.microsoft.com/office/powerpoint/2010/main" val="3631296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24</a:t>
            </a:fld>
            <a:endParaRPr lang="zh-CN" altLang="en-US"/>
          </a:p>
        </p:txBody>
      </p:sp>
    </p:spTree>
    <p:extLst>
      <p:ext uri="{BB962C8B-B14F-4D97-AF65-F5344CB8AC3E}">
        <p14:creationId xmlns:p14="http://schemas.microsoft.com/office/powerpoint/2010/main" val="2841736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Arial" panose="020B0604020202020204" pitchFamily="34" charset="0"/>
              </a:rPr>
              <a:t>void Complex::print()</a:t>
            </a:r>
          </a:p>
          <a:p>
            <a:r>
              <a:rPr lang="en-US" altLang="zh-CN" dirty="0">
                <a:latin typeface="Arial" panose="020B0604020202020204" pitchFamily="34" charset="0"/>
              </a:rPr>
              <a:t>{ if(real!=0) </a:t>
            </a:r>
            <a:r>
              <a:rPr lang="en-US" altLang="zh-CN" dirty="0" err="1">
                <a:latin typeface="Arial" panose="020B0604020202020204" pitchFamily="34" charset="0"/>
              </a:rPr>
              <a:t>cout</a:t>
            </a:r>
            <a:r>
              <a:rPr lang="en-US" altLang="zh-CN" dirty="0">
                <a:latin typeface="Arial" panose="020B0604020202020204" pitchFamily="34" charset="0"/>
              </a:rPr>
              <a:t> &lt;&lt; real;</a:t>
            </a:r>
          </a:p>
          <a:p>
            <a:r>
              <a:rPr lang="en-US" altLang="zh-CN" dirty="0">
                <a:latin typeface="Arial" panose="020B0604020202020204" pitchFamily="34" charset="0"/>
              </a:rPr>
              <a:t>  else if(</a:t>
            </a:r>
            <a:r>
              <a:rPr lang="en-US" altLang="zh-CN" dirty="0" err="1">
                <a:latin typeface="Arial" panose="020B0604020202020204" pitchFamily="34" charset="0"/>
              </a:rPr>
              <a:t>imag</a:t>
            </a:r>
            <a:r>
              <a:rPr lang="en-US" altLang="zh-CN" dirty="0">
                <a:latin typeface="Arial" panose="020B0604020202020204" pitchFamily="34" charset="0"/>
              </a:rPr>
              <a:t>==0){	</a:t>
            </a:r>
            <a:r>
              <a:rPr lang="en-US" altLang="zh-CN" dirty="0" err="1">
                <a:latin typeface="Arial" panose="020B0604020202020204" pitchFamily="34" charset="0"/>
              </a:rPr>
              <a:t>cout</a:t>
            </a:r>
            <a:r>
              <a:rPr lang="en-US" altLang="zh-CN" dirty="0">
                <a:latin typeface="Arial" panose="020B0604020202020204" pitchFamily="34" charset="0"/>
              </a:rPr>
              <a:t>&lt;&lt;0&lt;&lt;'\n'; return;}</a:t>
            </a:r>
          </a:p>
          <a:p>
            <a:r>
              <a:rPr lang="en-US" altLang="zh-CN" dirty="0">
                <a:latin typeface="Arial" panose="020B0604020202020204" pitchFamily="34" charset="0"/>
              </a:rPr>
              <a:t>  if(</a:t>
            </a:r>
            <a:r>
              <a:rPr lang="en-US" altLang="zh-CN" dirty="0" err="1">
                <a:latin typeface="Arial" panose="020B0604020202020204" pitchFamily="34" charset="0"/>
              </a:rPr>
              <a:t>imag</a:t>
            </a:r>
            <a:r>
              <a:rPr lang="en-US" altLang="zh-CN" dirty="0">
                <a:latin typeface="Arial" panose="020B0604020202020204" pitchFamily="34" charset="0"/>
              </a:rPr>
              <a:t> &gt; 0) </a:t>
            </a:r>
          </a:p>
          <a:p>
            <a:r>
              <a:rPr lang="en-US" altLang="zh-CN" dirty="0">
                <a:latin typeface="Arial" panose="020B0604020202020204" pitchFamily="34" charset="0"/>
              </a:rPr>
              <a:t>  {	if(</a:t>
            </a:r>
            <a:r>
              <a:rPr lang="en-US" altLang="zh-CN" dirty="0" err="1">
                <a:latin typeface="Arial" panose="020B0604020202020204" pitchFamily="34" charset="0"/>
              </a:rPr>
              <a:t>imag</a:t>
            </a:r>
            <a:r>
              <a:rPr lang="en-US" altLang="zh-CN" dirty="0">
                <a:latin typeface="Arial" panose="020B0604020202020204" pitchFamily="34" charset="0"/>
              </a:rPr>
              <a:t>!=1) </a:t>
            </a:r>
            <a:r>
              <a:rPr lang="en-US" altLang="zh-CN" dirty="0" err="1">
                <a:latin typeface="Arial" panose="020B0604020202020204" pitchFamily="34" charset="0"/>
              </a:rPr>
              <a:t>cout</a:t>
            </a:r>
            <a:r>
              <a:rPr lang="en-US" altLang="zh-CN" dirty="0">
                <a:latin typeface="Arial" panose="020B0604020202020204" pitchFamily="34" charset="0"/>
              </a:rPr>
              <a:t>&lt;&lt;'+'&lt;&lt;</a:t>
            </a:r>
            <a:r>
              <a:rPr lang="en-US" altLang="zh-CN" dirty="0" err="1">
                <a:latin typeface="Arial" panose="020B0604020202020204" pitchFamily="34" charset="0"/>
              </a:rPr>
              <a:t>imag</a:t>
            </a:r>
            <a:r>
              <a:rPr lang="en-US" altLang="zh-CN" dirty="0">
                <a:latin typeface="Arial" panose="020B0604020202020204" pitchFamily="34" charset="0"/>
              </a:rPr>
              <a: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else </a:t>
            </a:r>
            <a:r>
              <a:rPr lang="en-US" altLang="zh-CN" dirty="0" err="1">
                <a:latin typeface="Arial" panose="020B0604020202020204" pitchFamily="34" charset="0"/>
              </a:rPr>
              <a:t>cout</a:t>
            </a:r>
            <a:r>
              <a:rPr lang="en-US" altLang="zh-CN" dirty="0">
                <a:latin typeface="Arial" panose="020B0604020202020204" pitchFamily="34" charset="0"/>
              </a:rPr>
              <a:t>&lt;&lt;'+'&lt;&lt;'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a:t>
            </a:r>
          </a:p>
          <a:p>
            <a:r>
              <a:rPr lang="en-US" altLang="zh-CN" dirty="0">
                <a:latin typeface="Arial" panose="020B0604020202020204" pitchFamily="34" charset="0"/>
              </a:rPr>
              <a:t>  else if (</a:t>
            </a:r>
            <a:r>
              <a:rPr lang="en-US" altLang="zh-CN" dirty="0" err="1">
                <a:latin typeface="Arial" panose="020B0604020202020204" pitchFamily="34" charset="0"/>
              </a:rPr>
              <a:t>imag</a:t>
            </a:r>
            <a:r>
              <a:rPr lang="en-US" altLang="zh-CN" dirty="0">
                <a:latin typeface="Arial" panose="020B0604020202020204" pitchFamily="34" charset="0"/>
              </a:rPr>
              <a:t> &lt; 0) </a:t>
            </a:r>
          </a:p>
          <a:p>
            <a:r>
              <a:rPr lang="en-US" altLang="zh-CN" dirty="0">
                <a:latin typeface="Arial" panose="020B0604020202020204" pitchFamily="34" charset="0"/>
              </a:rPr>
              <a:t>  {	if(</a:t>
            </a:r>
            <a:r>
              <a:rPr lang="en-US" altLang="zh-CN" dirty="0" err="1">
                <a:latin typeface="Arial" panose="020B0604020202020204" pitchFamily="34" charset="0"/>
              </a:rPr>
              <a:t>imag</a:t>
            </a:r>
            <a:r>
              <a:rPr lang="en-US" altLang="zh-CN" dirty="0">
                <a:latin typeface="Arial" panose="020B0604020202020204" pitchFamily="34" charset="0"/>
              </a:rPr>
              <a:t>!=-1) </a:t>
            </a:r>
            <a:r>
              <a:rPr lang="en-US" altLang="zh-CN" dirty="0" err="1">
                <a:latin typeface="Arial" panose="020B0604020202020204" pitchFamily="34" charset="0"/>
              </a:rPr>
              <a:t>cout</a:t>
            </a:r>
            <a:r>
              <a:rPr lang="en-US" altLang="zh-CN" dirty="0">
                <a:latin typeface="Arial" panose="020B0604020202020204" pitchFamily="34" charset="0"/>
              </a:rPr>
              <a:t>&lt;&lt;</a:t>
            </a:r>
            <a:r>
              <a:rPr lang="en-US" altLang="zh-CN" dirty="0" err="1">
                <a:latin typeface="Arial" panose="020B0604020202020204" pitchFamily="34" charset="0"/>
              </a:rPr>
              <a:t>imag</a:t>
            </a:r>
            <a:r>
              <a:rPr lang="en-US" altLang="zh-CN" dirty="0">
                <a:latin typeface="Arial" panose="020B0604020202020204" pitchFamily="34" charset="0"/>
              </a:rPr>
              <a: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else </a:t>
            </a:r>
            <a:r>
              <a:rPr lang="en-US" altLang="zh-CN" dirty="0" err="1">
                <a:latin typeface="Arial" panose="020B0604020202020204" pitchFamily="34" charset="0"/>
              </a:rPr>
              <a:t>cout</a:t>
            </a:r>
            <a:r>
              <a:rPr lang="en-US" altLang="zh-CN" dirty="0">
                <a:latin typeface="Arial" panose="020B0604020202020204" pitchFamily="34" charset="0"/>
              </a:rPr>
              <a:t>&lt;&lt;'-'&lt;&lt;'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a:t>
            </a:r>
          </a:p>
          <a:p>
            <a:r>
              <a:rPr lang="en-US" altLang="zh-CN" dirty="0">
                <a:latin typeface="Arial" panose="020B0604020202020204" pitchFamily="34" charset="0"/>
              </a:rPr>
              <a:t>  </a:t>
            </a:r>
            <a:r>
              <a:rPr lang="en-US" altLang="zh-CN" dirty="0" err="1">
                <a:latin typeface="Arial" panose="020B0604020202020204" pitchFamily="34" charset="0"/>
              </a:rPr>
              <a:t>cout</a:t>
            </a:r>
            <a:r>
              <a:rPr lang="en-US" altLang="zh-CN" dirty="0">
                <a:latin typeface="Arial" panose="020B0604020202020204" pitchFamily="34" charset="0"/>
              </a:rPr>
              <a:t> &lt;&lt;"\n";</a:t>
            </a:r>
          </a:p>
          <a:p>
            <a:r>
              <a:rPr lang="en-US" altLang="zh-CN" dirty="0">
                <a:latin typeface="Arial" panose="020B0604020202020204" pitchFamily="34" charset="0"/>
              </a:rPr>
              <a:t>}</a:t>
            </a:r>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25</a:t>
            </a:fld>
            <a:endParaRPr lang="zh-CN" altLang="en-US"/>
          </a:p>
        </p:txBody>
      </p:sp>
    </p:spTree>
    <p:extLst>
      <p:ext uri="{BB962C8B-B14F-4D97-AF65-F5344CB8AC3E}">
        <p14:creationId xmlns:p14="http://schemas.microsoft.com/office/powerpoint/2010/main" val="992413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#include&lt;iostream&gt;</a:t>
            </a:r>
          </a:p>
          <a:p>
            <a:r>
              <a:rPr lang="en-US" altLang="zh-CN" dirty="0"/>
              <a:t>#include&lt;iomanip&gt;</a:t>
            </a:r>
          </a:p>
          <a:p>
            <a:r>
              <a:rPr lang="en-US" altLang="zh-CN" dirty="0"/>
              <a:t>using namespace std;</a:t>
            </a:r>
          </a:p>
          <a:p>
            <a:endParaRPr lang="en-US" altLang="zh-CN" dirty="0"/>
          </a:p>
          <a:p>
            <a:r>
              <a:rPr lang="en-US" altLang="zh-CN" dirty="0"/>
              <a:t>class Complex {	</a:t>
            </a:r>
          </a:p>
          <a:p>
            <a:r>
              <a:rPr lang="en-US" altLang="zh-CN" dirty="0"/>
              <a:t>public:	</a:t>
            </a:r>
          </a:p>
          <a:p>
            <a:r>
              <a:rPr lang="en-US" altLang="zh-CN" dirty="0"/>
              <a:t>	Complex(double r = 0.0, double </a:t>
            </a:r>
            <a:r>
              <a:rPr lang="en-US" altLang="zh-CN" dirty="0" err="1"/>
              <a:t>i</a:t>
            </a:r>
            <a:r>
              <a:rPr lang="en-US" altLang="zh-CN" dirty="0"/>
              <a:t> = 0.0) : real(r), </a:t>
            </a:r>
            <a:r>
              <a:rPr lang="en-US" altLang="zh-CN" dirty="0" err="1"/>
              <a:t>imag</a:t>
            </a:r>
            <a:r>
              <a:rPr lang="en-US" altLang="zh-CN" dirty="0"/>
              <a:t>(</a:t>
            </a:r>
            <a:r>
              <a:rPr lang="en-US" altLang="zh-CN" dirty="0" err="1"/>
              <a:t>i</a:t>
            </a:r>
            <a:r>
              <a:rPr lang="en-US" altLang="zh-CN" dirty="0"/>
              <a:t>) { }	</a:t>
            </a:r>
          </a:p>
          <a:p>
            <a:r>
              <a:rPr lang="en-US" altLang="zh-CN" dirty="0"/>
              <a:t>	friend Complex operator + (const Complex &amp;c1, const Complex &amp;c2);	</a:t>
            </a:r>
          </a:p>
          <a:p>
            <a:r>
              <a:rPr lang="en-US" altLang="zh-CN" dirty="0"/>
              <a:t>	friend Complex operator - (const Complex &amp;c1, const Complex &amp;c2);</a:t>
            </a:r>
          </a:p>
          <a:p>
            <a:r>
              <a:rPr lang="en-US" altLang="zh-CN" dirty="0"/>
              <a:t>	friend Complex operator * (const Complex &amp;c1, const Complex &amp;c2);	</a:t>
            </a:r>
          </a:p>
          <a:p>
            <a:r>
              <a:rPr lang="en-US" altLang="zh-CN" dirty="0"/>
              <a:t>	friend Complex operator / (const Complex &amp;c1, const Complex &amp;c2);</a:t>
            </a:r>
          </a:p>
          <a:p>
            <a:r>
              <a:rPr lang="en-US" altLang="zh-CN" dirty="0"/>
              <a:t>	void print();</a:t>
            </a:r>
          </a:p>
          <a:p>
            <a:r>
              <a:rPr lang="en-US" altLang="zh-CN" dirty="0"/>
              <a:t>private:	</a:t>
            </a:r>
          </a:p>
          <a:p>
            <a:r>
              <a:rPr lang="en-US" altLang="zh-CN" dirty="0"/>
              <a:t>	double real;</a:t>
            </a:r>
          </a:p>
          <a:p>
            <a:r>
              <a:rPr lang="en-US" altLang="zh-CN" dirty="0"/>
              <a:t>	double </a:t>
            </a:r>
            <a:r>
              <a:rPr lang="en-US" altLang="zh-CN" dirty="0" err="1"/>
              <a:t>imag</a:t>
            </a:r>
            <a:r>
              <a:rPr lang="en-US" altLang="zh-CN" dirty="0"/>
              <a:t>;</a:t>
            </a:r>
          </a:p>
          <a:p>
            <a:r>
              <a:rPr lang="en-US" altLang="zh-CN" dirty="0"/>
              <a:t>};</a:t>
            </a:r>
          </a:p>
          <a:p>
            <a:endParaRPr lang="en-US" altLang="zh-CN" dirty="0"/>
          </a:p>
          <a:p>
            <a:r>
              <a:rPr lang="en-US" altLang="zh-CN" dirty="0"/>
              <a:t>void Complex::print()</a:t>
            </a:r>
          </a:p>
          <a:p>
            <a:r>
              <a:rPr lang="en-US" altLang="zh-CN" dirty="0"/>
              <a:t>{	</a:t>
            </a:r>
            <a:r>
              <a:rPr lang="en-US" altLang="zh-CN" dirty="0" err="1"/>
              <a:t>cout</a:t>
            </a:r>
            <a:r>
              <a:rPr lang="en-US" altLang="zh-CN" dirty="0"/>
              <a:t> &lt;&lt; real;</a:t>
            </a:r>
          </a:p>
          <a:p>
            <a:r>
              <a:rPr lang="en-US" altLang="zh-CN" dirty="0"/>
              <a:t>	if (</a:t>
            </a:r>
            <a:r>
              <a:rPr lang="en-US" altLang="zh-CN" dirty="0" err="1"/>
              <a:t>imag</a:t>
            </a:r>
            <a:r>
              <a:rPr lang="en-US" altLang="zh-CN" dirty="0"/>
              <a:t> &gt; 0) </a:t>
            </a:r>
            <a:r>
              <a:rPr lang="en-US" altLang="zh-CN" dirty="0" err="1"/>
              <a:t>cout</a:t>
            </a:r>
            <a:r>
              <a:rPr lang="en-US" altLang="zh-CN" dirty="0"/>
              <a:t> &lt;&lt; "+" &lt;&lt; </a:t>
            </a:r>
            <a:r>
              <a:rPr lang="en-US" altLang="zh-CN" dirty="0" err="1"/>
              <a:t>imag</a:t>
            </a:r>
            <a:r>
              <a:rPr lang="en-US" altLang="zh-CN" dirty="0"/>
              <a:t> &lt;&lt; "</a:t>
            </a:r>
            <a:r>
              <a:rPr lang="en-US" altLang="zh-CN" dirty="0" err="1"/>
              <a:t>i</a:t>
            </a:r>
            <a:r>
              <a:rPr lang="en-US" altLang="zh-CN" dirty="0"/>
              <a:t>";</a:t>
            </a:r>
          </a:p>
          <a:p>
            <a:r>
              <a:rPr lang="en-US" altLang="zh-CN" dirty="0"/>
              <a:t>	else if (</a:t>
            </a:r>
            <a:r>
              <a:rPr lang="en-US" altLang="zh-CN" dirty="0" err="1"/>
              <a:t>imag</a:t>
            </a:r>
            <a:r>
              <a:rPr lang="en-US" altLang="zh-CN" dirty="0"/>
              <a:t> &lt; 0) </a:t>
            </a:r>
            <a:r>
              <a:rPr lang="en-US" altLang="zh-CN" dirty="0" err="1"/>
              <a:t>cout</a:t>
            </a:r>
            <a:r>
              <a:rPr lang="en-US" altLang="zh-CN" dirty="0"/>
              <a:t> &lt;&lt; </a:t>
            </a:r>
            <a:r>
              <a:rPr lang="en-US" altLang="zh-CN" dirty="0" err="1"/>
              <a:t>imag</a:t>
            </a:r>
            <a:r>
              <a:rPr lang="en-US" altLang="zh-CN" dirty="0"/>
              <a:t> &lt;&lt; "</a:t>
            </a:r>
            <a:r>
              <a:rPr lang="en-US" altLang="zh-CN" dirty="0" err="1"/>
              <a:t>i</a:t>
            </a:r>
            <a:r>
              <a:rPr lang="en-US" altLang="zh-CN" dirty="0"/>
              <a:t>";</a:t>
            </a:r>
          </a:p>
          <a:p>
            <a:r>
              <a:rPr lang="en-US" altLang="zh-CN" dirty="0"/>
              <a:t>	</a:t>
            </a:r>
            <a:r>
              <a:rPr lang="en-US" altLang="zh-CN" dirty="0" err="1"/>
              <a:t>cout</a:t>
            </a:r>
            <a:r>
              <a:rPr lang="en-US" altLang="zh-CN" dirty="0"/>
              <a:t> &lt;&lt; "\n";</a:t>
            </a:r>
          </a:p>
          <a:p>
            <a:r>
              <a:rPr lang="en-US" altLang="zh-CN" dirty="0"/>
              <a:t>}</a:t>
            </a:r>
          </a:p>
          <a:p>
            <a:endParaRPr lang="en-US" altLang="zh-CN" dirty="0"/>
          </a:p>
          <a:p>
            <a:r>
              <a:rPr lang="en-US" altLang="zh-CN" dirty="0"/>
              <a:t>Complex operator + (const Complex &amp;c1, const Complex &amp;c2) {	</a:t>
            </a:r>
          </a:p>
          <a:p>
            <a:r>
              <a:rPr lang="en-US" altLang="zh-CN" dirty="0"/>
              <a:t>	return Complex(c1.real + c2.real, c1.imag + c2.imag); </a:t>
            </a:r>
          </a:p>
          <a:p>
            <a:r>
              <a:rPr lang="en-US" altLang="zh-CN" dirty="0"/>
              <a:t>}</a:t>
            </a:r>
          </a:p>
          <a:p>
            <a:r>
              <a:rPr lang="en-US" altLang="zh-CN" dirty="0"/>
              <a:t>Complex operator - (const Complex &amp;c1, const Complex &amp;c2) {	</a:t>
            </a:r>
          </a:p>
          <a:p>
            <a:r>
              <a:rPr lang="en-US" altLang="zh-CN" dirty="0"/>
              <a:t>	return Complex(c1.real - c2.real, c1.imag - c2.imag); </a:t>
            </a:r>
          </a:p>
          <a:p>
            <a:r>
              <a:rPr lang="en-US" altLang="zh-CN" dirty="0"/>
              <a:t>}</a:t>
            </a:r>
          </a:p>
          <a:p>
            <a:r>
              <a:rPr lang="en-US" altLang="zh-CN" dirty="0"/>
              <a:t>Complex operator * (const Complex &amp;c1, const Complex &amp;c2) {	</a:t>
            </a:r>
          </a:p>
          <a:p>
            <a:r>
              <a:rPr lang="en-US" altLang="zh-CN" dirty="0"/>
              <a:t>	return Complex(c1.real * c2.real-c1.imag * c2.imag, c1.imag* c2.real + c1.real*c2.imag); </a:t>
            </a:r>
          </a:p>
          <a:p>
            <a:r>
              <a:rPr lang="en-US" altLang="zh-CN" dirty="0"/>
              <a:t>}</a:t>
            </a:r>
          </a:p>
          <a:p>
            <a:r>
              <a:rPr lang="en-US" altLang="zh-CN" dirty="0"/>
              <a:t>Complex operator / (const Complex &amp;c1, const Complex &amp;c2) {	</a:t>
            </a:r>
          </a:p>
          <a:p>
            <a:r>
              <a:rPr lang="en-US" altLang="zh-CN" dirty="0"/>
              <a:t>	double t=(c2.imag*c2.imag + c2.real*c2.real);</a:t>
            </a:r>
          </a:p>
          <a:p>
            <a:r>
              <a:rPr lang="en-US" altLang="zh-CN" dirty="0"/>
              <a:t>	return Complex((c1.real * c2.real+c1.imag * c2.imag)/t, (-c1.real * c2.imag+c1.imag * c2.real)/t); </a:t>
            </a:r>
          </a:p>
          <a:p>
            <a:r>
              <a:rPr lang="en-US" altLang="zh-CN" dirty="0"/>
              <a:t>}</a:t>
            </a:r>
          </a:p>
          <a:p>
            <a:endParaRPr lang="en-US" altLang="zh-CN" dirty="0"/>
          </a:p>
          <a:p>
            <a:r>
              <a:rPr lang="en-US" altLang="zh-CN" dirty="0"/>
              <a:t>int main() {</a:t>
            </a:r>
          </a:p>
          <a:p>
            <a:r>
              <a:rPr lang="en-US" altLang="zh-CN" dirty="0"/>
              <a:t>	Complex c1(5, 4), c2(2, 10), c3;</a:t>
            </a:r>
          </a:p>
          <a:p>
            <a:r>
              <a:rPr lang="en-US" altLang="zh-CN" dirty="0"/>
              <a:t>	c1.print();</a:t>
            </a:r>
          </a:p>
          <a:p>
            <a:r>
              <a:rPr lang="en-US" altLang="zh-CN" dirty="0"/>
              <a:t>	c2.print(); 	</a:t>
            </a:r>
          </a:p>
          <a:p>
            <a:r>
              <a:rPr lang="en-US" altLang="zh-CN" dirty="0"/>
              <a:t>	c3 = c1 - c2;	</a:t>
            </a:r>
          </a:p>
          <a:p>
            <a:r>
              <a:rPr lang="en-US" altLang="zh-CN" dirty="0"/>
              <a:t>	c3.print(); </a:t>
            </a:r>
          </a:p>
          <a:p>
            <a:r>
              <a:rPr lang="en-US" altLang="zh-CN" dirty="0"/>
              <a:t>	c3 = c1 * c2;	</a:t>
            </a:r>
          </a:p>
          <a:p>
            <a:r>
              <a:rPr lang="en-US" altLang="zh-CN" dirty="0"/>
              <a:t>	c3.print(); </a:t>
            </a:r>
          </a:p>
          <a:p>
            <a:r>
              <a:rPr lang="en-US" altLang="zh-CN" dirty="0"/>
              <a:t>	return 0;</a:t>
            </a:r>
          </a:p>
          <a:p>
            <a:r>
              <a:rPr lang="en-US" altLang="zh-CN" dirty="0"/>
              <a:t>}</a:t>
            </a:r>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26</a:t>
            </a:fld>
            <a:endParaRPr lang="zh-CN" altLang="en-US"/>
          </a:p>
        </p:txBody>
      </p:sp>
    </p:spTree>
    <p:extLst>
      <p:ext uri="{BB962C8B-B14F-4D97-AF65-F5344CB8AC3E}">
        <p14:creationId xmlns:p14="http://schemas.microsoft.com/office/powerpoint/2010/main" val="16729249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71B82-D834-0436-3665-6843ED05C9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FFA807-B68E-2D2B-49B9-C0E9A91ABD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2900D2-AB42-09C0-9EEE-1EC0221C8B06}"/>
              </a:ext>
            </a:extLst>
          </p:cNvPr>
          <p:cNvSpPr>
            <a:spLocks noGrp="1"/>
          </p:cNvSpPr>
          <p:nvPr>
            <p:ph type="body" idx="1"/>
          </p:nvPr>
        </p:nvSpPr>
        <p:spPr/>
        <p:txBody>
          <a:bodyPr/>
          <a:lstStyle/>
          <a:p>
            <a:r>
              <a:rPr lang="en-US" altLang="zh-CN" dirty="0">
                <a:latin typeface="Arial" panose="020B0604020202020204" pitchFamily="34" charset="0"/>
              </a:rPr>
              <a:t>void Complex::print()</a:t>
            </a:r>
          </a:p>
          <a:p>
            <a:r>
              <a:rPr lang="en-US" altLang="zh-CN" dirty="0">
                <a:latin typeface="Arial" panose="020B0604020202020204" pitchFamily="34" charset="0"/>
              </a:rPr>
              <a:t>{ if(real!=0) </a:t>
            </a:r>
            <a:r>
              <a:rPr lang="en-US" altLang="zh-CN" dirty="0" err="1">
                <a:latin typeface="Arial" panose="020B0604020202020204" pitchFamily="34" charset="0"/>
              </a:rPr>
              <a:t>cout</a:t>
            </a:r>
            <a:r>
              <a:rPr lang="en-US" altLang="zh-CN" dirty="0">
                <a:latin typeface="Arial" panose="020B0604020202020204" pitchFamily="34" charset="0"/>
              </a:rPr>
              <a:t> &lt;&lt; real;</a:t>
            </a:r>
          </a:p>
          <a:p>
            <a:r>
              <a:rPr lang="en-US" altLang="zh-CN" dirty="0">
                <a:latin typeface="Arial" panose="020B0604020202020204" pitchFamily="34" charset="0"/>
              </a:rPr>
              <a:t>  else if(</a:t>
            </a:r>
            <a:r>
              <a:rPr lang="en-US" altLang="zh-CN" dirty="0" err="1">
                <a:latin typeface="Arial" panose="020B0604020202020204" pitchFamily="34" charset="0"/>
              </a:rPr>
              <a:t>imag</a:t>
            </a:r>
            <a:r>
              <a:rPr lang="en-US" altLang="zh-CN" dirty="0">
                <a:latin typeface="Arial" panose="020B0604020202020204" pitchFamily="34" charset="0"/>
              </a:rPr>
              <a:t>==0){	</a:t>
            </a:r>
            <a:r>
              <a:rPr lang="en-US" altLang="zh-CN" dirty="0" err="1">
                <a:latin typeface="Arial" panose="020B0604020202020204" pitchFamily="34" charset="0"/>
              </a:rPr>
              <a:t>cout</a:t>
            </a:r>
            <a:r>
              <a:rPr lang="en-US" altLang="zh-CN" dirty="0">
                <a:latin typeface="Arial" panose="020B0604020202020204" pitchFamily="34" charset="0"/>
              </a:rPr>
              <a:t>&lt;&lt;0&lt;&lt;'\n'; return;}</a:t>
            </a:r>
          </a:p>
          <a:p>
            <a:r>
              <a:rPr lang="en-US" altLang="zh-CN" dirty="0">
                <a:latin typeface="Arial" panose="020B0604020202020204" pitchFamily="34" charset="0"/>
              </a:rPr>
              <a:t>  if(</a:t>
            </a:r>
            <a:r>
              <a:rPr lang="en-US" altLang="zh-CN" dirty="0" err="1">
                <a:latin typeface="Arial" panose="020B0604020202020204" pitchFamily="34" charset="0"/>
              </a:rPr>
              <a:t>imag</a:t>
            </a:r>
            <a:r>
              <a:rPr lang="en-US" altLang="zh-CN" dirty="0">
                <a:latin typeface="Arial" panose="020B0604020202020204" pitchFamily="34" charset="0"/>
              </a:rPr>
              <a:t> &gt; 0) </a:t>
            </a:r>
          </a:p>
          <a:p>
            <a:r>
              <a:rPr lang="en-US" altLang="zh-CN" dirty="0">
                <a:latin typeface="Arial" panose="020B0604020202020204" pitchFamily="34" charset="0"/>
              </a:rPr>
              <a:t>  {	if(</a:t>
            </a:r>
            <a:r>
              <a:rPr lang="en-US" altLang="zh-CN" dirty="0" err="1">
                <a:latin typeface="Arial" panose="020B0604020202020204" pitchFamily="34" charset="0"/>
              </a:rPr>
              <a:t>imag</a:t>
            </a:r>
            <a:r>
              <a:rPr lang="en-US" altLang="zh-CN" dirty="0">
                <a:latin typeface="Arial" panose="020B0604020202020204" pitchFamily="34" charset="0"/>
              </a:rPr>
              <a:t>!=1) </a:t>
            </a:r>
            <a:r>
              <a:rPr lang="en-US" altLang="zh-CN" dirty="0" err="1">
                <a:latin typeface="Arial" panose="020B0604020202020204" pitchFamily="34" charset="0"/>
              </a:rPr>
              <a:t>cout</a:t>
            </a:r>
            <a:r>
              <a:rPr lang="en-US" altLang="zh-CN" dirty="0">
                <a:latin typeface="Arial" panose="020B0604020202020204" pitchFamily="34" charset="0"/>
              </a:rPr>
              <a:t>&lt;&lt;'+'&lt;&lt;</a:t>
            </a:r>
            <a:r>
              <a:rPr lang="en-US" altLang="zh-CN" dirty="0" err="1">
                <a:latin typeface="Arial" panose="020B0604020202020204" pitchFamily="34" charset="0"/>
              </a:rPr>
              <a:t>imag</a:t>
            </a:r>
            <a:r>
              <a:rPr lang="en-US" altLang="zh-CN" dirty="0">
                <a:latin typeface="Arial" panose="020B0604020202020204" pitchFamily="34" charset="0"/>
              </a:rPr>
              <a: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else </a:t>
            </a:r>
            <a:r>
              <a:rPr lang="en-US" altLang="zh-CN" dirty="0" err="1">
                <a:latin typeface="Arial" panose="020B0604020202020204" pitchFamily="34" charset="0"/>
              </a:rPr>
              <a:t>cout</a:t>
            </a:r>
            <a:r>
              <a:rPr lang="en-US" altLang="zh-CN" dirty="0">
                <a:latin typeface="Arial" panose="020B0604020202020204" pitchFamily="34" charset="0"/>
              </a:rPr>
              <a:t>&lt;&lt;'+'&lt;&lt;'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a:t>
            </a:r>
          </a:p>
          <a:p>
            <a:r>
              <a:rPr lang="en-US" altLang="zh-CN" dirty="0">
                <a:latin typeface="Arial" panose="020B0604020202020204" pitchFamily="34" charset="0"/>
              </a:rPr>
              <a:t>  else if (</a:t>
            </a:r>
            <a:r>
              <a:rPr lang="en-US" altLang="zh-CN" dirty="0" err="1">
                <a:latin typeface="Arial" panose="020B0604020202020204" pitchFamily="34" charset="0"/>
              </a:rPr>
              <a:t>imag</a:t>
            </a:r>
            <a:r>
              <a:rPr lang="en-US" altLang="zh-CN" dirty="0">
                <a:latin typeface="Arial" panose="020B0604020202020204" pitchFamily="34" charset="0"/>
              </a:rPr>
              <a:t> &lt; 0) </a:t>
            </a:r>
          </a:p>
          <a:p>
            <a:r>
              <a:rPr lang="en-US" altLang="zh-CN" dirty="0">
                <a:latin typeface="Arial" panose="020B0604020202020204" pitchFamily="34" charset="0"/>
              </a:rPr>
              <a:t>  {	if(</a:t>
            </a:r>
            <a:r>
              <a:rPr lang="en-US" altLang="zh-CN" dirty="0" err="1">
                <a:latin typeface="Arial" panose="020B0604020202020204" pitchFamily="34" charset="0"/>
              </a:rPr>
              <a:t>imag</a:t>
            </a:r>
            <a:r>
              <a:rPr lang="en-US" altLang="zh-CN" dirty="0">
                <a:latin typeface="Arial" panose="020B0604020202020204" pitchFamily="34" charset="0"/>
              </a:rPr>
              <a:t>!=-1) </a:t>
            </a:r>
            <a:r>
              <a:rPr lang="en-US" altLang="zh-CN" dirty="0" err="1">
                <a:latin typeface="Arial" panose="020B0604020202020204" pitchFamily="34" charset="0"/>
              </a:rPr>
              <a:t>cout</a:t>
            </a:r>
            <a:r>
              <a:rPr lang="en-US" altLang="zh-CN" dirty="0">
                <a:latin typeface="Arial" panose="020B0604020202020204" pitchFamily="34" charset="0"/>
              </a:rPr>
              <a:t>&lt;&lt;</a:t>
            </a:r>
            <a:r>
              <a:rPr lang="en-US" altLang="zh-CN" dirty="0" err="1">
                <a:latin typeface="Arial" panose="020B0604020202020204" pitchFamily="34" charset="0"/>
              </a:rPr>
              <a:t>imag</a:t>
            </a:r>
            <a:r>
              <a:rPr lang="en-US" altLang="zh-CN" dirty="0">
                <a:latin typeface="Arial" panose="020B0604020202020204" pitchFamily="34" charset="0"/>
              </a:rPr>
              <a: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else </a:t>
            </a:r>
            <a:r>
              <a:rPr lang="en-US" altLang="zh-CN" dirty="0" err="1">
                <a:latin typeface="Arial" panose="020B0604020202020204" pitchFamily="34" charset="0"/>
              </a:rPr>
              <a:t>cout</a:t>
            </a:r>
            <a:r>
              <a:rPr lang="en-US" altLang="zh-CN" dirty="0">
                <a:latin typeface="Arial" panose="020B0604020202020204" pitchFamily="34" charset="0"/>
              </a:rPr>
              <a:t>&lt;&lt;'-'&lt;&lt;'</a:t>
            </a:r>
            <a:r>
              <a:rPr lang="en-US" altLang="zh-CN" dirty="0" err="1">
                <a:latin typeface="Arial" panose="020B0604020202020204" pitchFamily="34" charset="0"/>
              </a:rPr>
              <a:t>i</a:t>
            </a:r>
            <a:r>
              <a:rPr lang="en-US" altLang="zh-CN" dirty="0">
                <a:latin typeface="Arial" panose="020B0604020202020204" pitchFamily="34" charset="0"/>
              </a:rPr>
              <a:t>';</a:t>
            </a:r>
          </a:p>
          <a:p>
            <a:r>
              <a:rPr lang="en-US" altLang="zh-CN" dirty="0">
                <a:latin typeface="Arial" panose="020B0604020202020204" pitchFamily="34" charset="0"/>
              </a:rPr>
              <a:t>  }</a:t>
            </a:r>
          </a:p>
          <a:p>
            <a:r>
              <a:rPr lang="en-US" altLang="zh-CN" dirty="0">
                <a:latin typeface="Arial" panose="020B0604020202020204" pitchFamily="34" charset="0"/>
              </a:rPr>
              <a:t>  </a:t>
            </a:r>
            <a:r>
              <a:rPr lang="en-US" altLang="zh-CN" dirty="0" err="1">
                <a:latin typeface="Arial" panose="020B0604020202020204" pitchFamily="34" charset="0"/>
              </a:rPr>
              <a:t>cout</a:t>
            </a:r>
            <a:r>
              <a:rPr lang="en-US" altLang="zh-CN" dirty="0">
                <a:latin typeface="Arial" panose="020B0604020202020204" pitchFamily="34" charset="0"/>
              </a:rPr>
              <a:t> &lt;&lt;"\n";</a:t>
            </a:r>
          </a:p>
          <a:p>
            <a:r>
              <a:rPr lang="en-US" altLang="zh-CN" dirty="0">
                <a:latin typeface="Arial" panose="020B0604020202020204" pitchFamily="34" charset="0"/>
              </a:rPr>
              <a:t>}</a:t>
            </a:r>
            <a:endParaRPr lang="zh-CN" altLang="en-US" dirty="0">
              <a:latin typeface="Arial" panose="020B0604020202020204" pitchFamily="34" charset="0"/>
            </a:endParaRPr>
          </a:p>
        </p:txBody>
      </p:sp>
      <p:sp>
        <p:nvSpPr>
          <p:cNvPr id="4" name="灯片编号占位符 3">
            <a:extLst>
              <a:ext uri="{FF2B5EF4-FFF2-40B4-BE49-F238E27FC236}">
                <a16:creationId xmlns:a16="http://schemas.microsoft.com/office/drawing/2014/main" id="{EC937A93-97FE-D2DD-2B84-916DCBEEA008}"/>
              </a:ext>
            </a:extLst>
          </p:cNvPr>
          <p:cNvSpPr>
            <a:spLocks noGrp="1"/>
          </p:cNvSpPr>
          <p:nvPr>
            <p:ph type="sldNum" sz="quarter" idx="5"/>
          </p:nvPr>
        </p:nvSpPr>
        <p:spPr/>
        <p:txBody>
          <a:bodyPr/>
          <a:lstStyle/>
          <a:p>
            <a:fld id="{A8ABDA6A-29CD-4D28-B6EA-E8D4FFDF6043}" type="slidenum">
              <a:rPr lang="zh-CN" altLang="en-US" smtClean="0"/>
              <a:t>27</a:t>
            </a:fld>
            <a:endParaRPr lang="zh-CN" altLang="en-US"/>
          </a:p>
        </p:txBody>
      </p:sp>
    </p:spTree>
    <p:extLst>
      <p:ext uri="{BB962C8B-B14F-4D97-AF65-F5344CB8AC3E}">
        <p14:creationId xmlns:p14="http://schemas.microsoft.com/office/powerpoint/2010/main" val="999690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Arial" panose="020B0604020202020204" pitchFamily="34" charset="0"/>
              </a:rPr>
              <a:t>#include&lt;iostream&gt;</a:t>
            </a:r>
          </a:p>
          <a:p>
            <a:r>
              <a:rPr lang="en-US" altLang="zh-CN" dirty="0">
                <a:latin typeface="Arial" panose="020B0604020202020204" pitchFamily="34" charset="0"/>
              </a:rPr>
              <a:t>#include&lt;string.h&gt;</a:t>
            </a:r>
          </a:p>
          <a:p>
            <a:r>
              <a:rPr lang="en-US" altLang="zh-CN" dirty="0">
                <a:latin typeface="Arial" panose="020B0604020202020204" pitchFamily="34" charset="0"/>
              </a:rPr>
              <a:t>using namespace std;</a:t>
            </a:r>
          </a:p>
          <a:p>
            <a:endParaRPr lang="en-US" altLang="zh-CN" dirty="0">
              <a:latin typeface="Arial" panose="020B0604020202020204" pitchFamily="34" charset="0"/>
            </a:endParaRPr>
          </a:p>
          <a:p>
            <a:r>
              <a:rPr lang="en-US" altLang="zh-CN" dirty="0">
                <a:latin typeface="Arial" panose="020B0604020202020204" pitchFamily="34" charset="0"/>
              </a:rPr>
              <a:t>class Base{</a:t>
            </a:r>
          </a:p>
          <a:p>
            <a:r>
              <a:rPr lang="en-US" altLang="zh-CN" dirty="0">
                <a:latin typeface="Arial" panose="020B0604020202020204" pitchFamily="34" charset="0"/>
              </a:rPr>
              <a:t>public:   void who()</a:t>
            </a:r>
          </a:p>
          <a:p>
            <a:r>
              <a:rPr lang="en-US" altLang="zh-CN" dirty="0">
                <a:latin typeface="Arial" panose="020B0604020202020204" pitchFamily="34" charset="0"/>
              </a:rPr>
              <a:t>{</a:t>
            </a:r>
            <a:r>
              <a:rPr lang="en-US" altLang="zh-CN" dirty="0" err="1">
                <a:latin typeface="Arial" panose="020B0604020202020204" pitchFamily="34" charset="0"/>
              </a:rPr>
              <a:t>cout</a:t>
            </a:r>
            <a:r>
              <a:rPr lang="en-US" altLang="zh-CN" dirty="0">
                <a:latin typeface="Arial" panose="020B0604020202020204" pitchFamily="34" charset="0"/>
              </a:rPr>
              <a:t>&lt;&lt;"base"&lt;&lt;</a:t>
            </a:r>
            <a:r>
              <a:rPr lang="en-US" altLang="zh-CN" dirty="0" err="1">
                <a:latin typeface="Arial" panose="020B0604020202020204" pitchFamily="34" charset="0"/>
              </a:rPr>
              <a:t>endl</a:t>
            </a:r>
            <a:r>
              <a:rPr lang="en-US" altLang="zh-CN" dirty="0">
                <a:latin typeface="Arial" panose="020B0604020202020204" pitchFamily="34" charset="0"/>
              </a:rPr>
              <a:t>;}</a:t>
            </a:r>
          </a:p>
          <a:p>
            <a:r>
              <a:rPr lang="en-US" altLang="zh-CN" dirty="0">
                <a:latin typeface="Arial" panose="020B0604020202020204" pitchFamily="34" charset="0"/>
              </a:rPr>
              <a:t>};</a:t>
            </a:r>
          </a:p>
          <a:p>
            <a:r>
              <a:rPr lang="en-US" altLang="zh-CN" dirty="0">
                <a:latin typeface="Arial" panose="020B0604020202020204" pitchFamily="34" charset="0"/>
              </a:rPr>
              <a:t>class </a:t>
            </a:r>
            <a:r>
              <a:rPr lang="en-US" altLang="zh-CN" dirty="0" err="1">
                <a:latin typeface="Arial" panose="020B0604020202020204" pitchFamily="34" charset="0"/>
              </a:rPr>
              <a:t>Firstderived:public</a:t>
            </a:r>
            <a:r>
              <a:rPr lang="en-US" altLang="zh-CN" dirty="0">
                <a:latin typeface="Arial" panose="020B0604020202020204" pitchFamily="34" charset="0"/>
              </a:rPr>
              <a:t> Base</a:t>
            </a:r>
          </a:p>
          <a:p>
            <a:r>
              <a:rPr lang="en-US" altLang="zh-CN" dirty="0">
                <a:latin typeface="Arial" panose="020B0604020202020204" pitchFamily="34" charset="0"/>
              </a:rPr>
              <a:t>{public:  void who()</a:t>
            </a:r>
          </a:p>
          <a:p>
            <a:r>
              <a:rPr lang="en-US" altLang="zh-CN" dirty="0">
                <a:latin typeface="Arial" panose="020B0604020202020204" pitchFamily="34" charset="0"/>
              </a:rPr>
              <a:t>{</a:t>
            </a:r>
            <a:r>
              <a:rPr lang="en-US" altLang="zh-CN" dirty="0" err="1">
                <a:latin typeface="Arial" panose="020B0604020202020204" pitchFamily="34" charset="0"/>
              </a:rPr>
              <a:t>cout</a:t>
            </a:r>
            <a:r>
              <a:rPr lang="en-US" altLang="zh-CN" dirty="0">
                <a:latin typeface="Arial" panose="020B0604020202020204" pitchFamily="34" charset="0"/>
              </a:rPr>
              <a:t>&lt;&lt;"</a:t>
            </a:r>
            <a:r>
              <a:rPr lang="en-US" altLang="zh-CN" dirty="0" err="1">
                <a:latin typeface="Arial" panose="020B0604020202020204" pitchFamily="34" charset="0"/>
              </a:rPr>
              <a:t>Firstderived</a:t>
            </a:r>
            <a:r>
              <a:rPr lang="en-US" altLang="zh-CN" dirty="0">
                <a:latin typeface="Arial" panose="020B0604020202020204" pitchFamily="34" charset="0"/>
              </a:rPr>
              <a:t>"&lt;&lt;</a:t>
            </a:r>
            <a:r>
              <a:rPr lang="en-US" altLang="zh-CN" dirty="0" err="1">
                <a:latin typeface="Arial" panose="020B0604020202020204" pitchFamily="34" charset="0"/>
              </a:rPr>
              <a:t>endl</a:t>
            </a:r>
            <a:r>
              <a:rPr lang="en-US" altLang="zh-CN" dirty="0">
                <a:latin typeface="Arial" panose="020B0604020202020204" pitchFamily="34" charset="0"/>
              </a:rPr>
              <a:t>;}</a:t>
            </a:r>
          </a:p>
          <a:p>
            <a:r>
              <a:rPr lang="en-US" altLang="zh-CN" dirty="0">
                <a:latin typeface="Arial" panose="020B0604020202020204" pitchFamily="34" charset="0"/>
              </a:rPr>
              <a:t>};</a:t>
            </a:r>
          </a:p>
          <a:p>
            <a:r>
              <a:rPr lang="en-US" altLang="zh-CN" dirty="0">
                <a:latin typeface="Arial" panose="020B0604020202020204" pitchFamily="34" charset="0"/>
              </a:rPr>
              <a:t>class </a:t>
            </a:r>
            <a:r>
              <a:rPr lang="en-US" altLang="zh-CN" dirty="0" err="1">
                <a:latin typeface="Arial" panose="020B0604020202020204" pitchFamily="34" charset="0"/>
              </a:rPr>
              <a:t>Secondderived:public</a:t>
            </a:r>
            <a:r>
              <a:rPr lang="en-US" altLang="zh-CN" dirty="0">
                <a:latin typeface="Arial" panose="020B0604020202020204" pitchFamily="34" charset="0"/>
              </a:rPr>
              <a:t> Base</a:t>
            </a:r>
          </a:p>
          <a:p>
            <a:r>
              <a:rPr lang="en-US" altLang="zh-CN" dirty="0">
                <a:latin typeface="Arial" panose="020B0604020202020204" pitchFamily="34" charset="0"/>
              </a:rPr>
              <a:t>{public:  void who()</a:t>
            </a:r>
          </a:p>
          <a:p>
            <a:r>
              <a:rPr lang="en-US" altLang="zh-CN" dirty="0">
                <a:latin typeface="Arial" panose="020B0604020202020204" pitchFamily="34" charset="0"/>
              </a:rPr>
              <a:t>{</a:t>
            </a:r>
            <a:r>
              <a:rPr lang="en-US" altLang="zh-CN" dirty="0" err="1">
                <a:latin typeface="Arial" panose="020B0604020202020204" pitchFamily="34" charset="0"/>
              </a:rPr>
              <a:t>cout</a:t>
            </a:r>
            <a:r>
              <a:rPr lang="en-US" altLang="zh-CN" dirty="0">
                <a:latin typeface="Arial" panose="020B0604020202020204" pitchFamily="34" charset="0"/>
              </a:rPr>
              <a:t>&lt;&lt;"</a:t>
            </a:r>
            <a:r>
              <a:rPr lang="en-US" altLang="zh-CN" dirty="0" err="1">
                <a:latin typeface="Arial" panose="020B0604020202020204" pitchFamily="34" charset="0"/>
              </a:rPr>
              <a:t>Secondderived</a:t>
            </a:r>
            <a:r>
              <a:rPr lang="en-US" altLang="zh-CN" dirty="0">
                <a:latin typeface="Arial" panose="020B0604020202020204" pitchFamily="34" charset="0"/>
              </a:rPr>
              <a:t>"&lt;&lt;</a:t>
            </a:r>
            <a:r>
              <a:rPr lang="en-US" altLang="zh-CN" dirty="0" err="1">
                <a:latin typeface="Arial" panose="020B0604020202020204" pitchFamily="34" charset="0"/>
              </a:rPr>
              <a:t>endl</a:t>
            </a:r>
            <a:r>
              <a:rPr lang="en-US" altLang="zh-CN" dirty="0">
                <a:latin typeface="Arial" panose="020B0604020202020204" pitchFamily="34" charset="0"/>
              </a:rPr>
              <a:t>;}</a:t>
            </a:r>
          </a:p>
          <a:p>
            <a:r>
              <a:rPr lang="en-US" altLang="zh-CN" dirty="0">
                <a:latin typeface="Arial" panose="020B0604020202020204" pitchFamily="34" charset="0"/>
              </a:rPr>
              <a:t>};</a:t>
            </a:r>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28</a:t>
            </a:fld>
            <a:endParaRPr lang="zh-CN" altLang="en-US"/>
          </a:p>
        </p:txBody>
      </p:sp>
    </p:spTree>
    <p:extLst>
      <p:ext uri="{BB962C8B-B14F-4D97-AF65-F5344CB8AC3E}">
        <p14:creationId xmlns:p14="http://schemas.microsoft.com/office/powerpoint/2010/main" val="1068730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29</a:t>
            </a:fld>
            <a:endParaRPr lang="zh-CN" altLang="en-US"/>
          </a:p>
        </p:txBody>
      </p:sp>
    </p:spTree>
    <p:extLst>
      <p:ext uri="{BB962C8B-B14F-4D97-AF65-F5344CB8AC3E}">
        <p14:creationId xmlns:p14="http://schemas.microsoft.com/office/powerpoint/2010/main" val="9260139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Arial" panose="020B0604020202020204" pitchFamily="34" charset="0"/>
            </a:endParaRPr>
          </a:p>
          <a:p>
            <a:r>
              <a:rPr lang="en-US" altLang="zh-CN" dirty="0">
                <a:latin typeface="Arial" panose="020B0604020202020204" pitchFamily="34" charset="0"/>
              </a:rPr>
              <a:t>class Base{</a:t>
            </a:r>
          </a:p>
          <a:p>
            <a:r>
              <a:rPr lang="en-US" altLang="zh-CN" dirty="0">
                <a:latin typeface="Arial" panose="020B0604020202020204" pitchFamily="34" charset="0"/>
              </a:rPr>
              <a:t>public:  virtual void who()</a:t>
            </a:r>
          </a:p>
          <a:p>
            <a:r>
              <a:rPr lang="en-US" altLang="zh-CN" dirty="0">
                <a:latin typeface="Arial" panose="020B0604020202020204" pitchFamily="34" charset="0"/>
              </a:rPr>
              <a:t>{</a:t>
            </a:r>
            <a:r>
              <a:rPr lang="en-US" altLang="zh-CN" dirty="0" err="1">
                <a:latin typeface="Arial" panose="020B0604020202020204" pitchFamily="34" charset="0"/>
              </a:rPr>
              <a:t>cout</a:t>
            </a:r>
            <a:r>
              <a:rPr lang="en-US" altLang="zh-CN" dirty="0">
                <a:latin typeface="Arial" panose="020B0604020202020204" pitchFamily="34" charset="0"/>
              </a:rPr>
              <a:t>&lt;&lt;"base"&lt;&lt;</a:t>
            </a:r>
            <a:r>
              <a:rPr lang="en-US" altLang="zh-CN" dirty="0" err="1">
                <a:latin typeface="Arial" panose="020B0604020202020204" pitchFamily="34" charset="0"/>
              </a:rPr>
              <a:t>endl</a:t>
            </a:r>
            <a:r>
              <a:rPr lang="en-US" altLang="zh-CN" dirty="0">
                <a:latin typeface="Arial" panose="020B0604020202020204" pitchFamily="34" charset="0"/>
              </a:rPr>
              <a:t>;}</a:t>
            </a:r>
          </a:p>
          <a:p>
            <a:r>
              <a:rPr lang="en-US" altLang="zh-CN" dirty="0">
                <a:latin typeface="Arial" panose="020B0604020202020204" pitchFamily="34" charset="0"/>
              </a:rPr>
              <a:t>};</a:t>
            </a:r>
          </a:p>
          <a:p>
            <a:r>
              <a:rPr lang="en-US" altLang="zh-CN" dirty="0">
                <a:latin typeface="Arial" panose="020B0604020202020204" pitchFamily="34" charset="0"/>
              </a:rPr>
              <a:t>class </a:t>
            </a:r>
            <a:r>
              <a:rPr lang="en-US" altLang="zh-CN" dirty="0" err="1">
                <a:latin typeface="Arial" panose="020B0604020202020204" pitchFamily="34" charset="0"/>
              </a:rPr>
              <a:t>Firstderived:public</a:t>
            </a:r>
            <a:r>
              <a:rPr lang="en-US" altLang="zh-CN" dirty="0">
                <a:latin typeface="Arial" panose="020B0604020202020204" pitchFamily="34" charset="0"/>
              </a:rPr>
              <a:t> Base</a:t>
            </a:r>
          </a:p>
          <a:p>
            <a:r>
              <a:rPr lang="en-US" altLang="zh-CN" dirty="0">
                <a:latin typeface="Arial" panose="020B0604020202020204" pitchFamily="34" charset="0"/>
              </a:rPr>
              <a:t>{public: virtual void who()</a:t>
            </a:r>
          </a:p>
          <a:p>
            <a:r>
              <a:rPr lang="en-US" altLang="zh-CN" dirty="0">
                <a:latin typeface="Arial" panose="020B0604020202020204" pitchFamily="34" charset="0"/>
              </a:rPr>
              <a:t>{</a:t>
            </a:r>
            <a:r>
              <a:rPr lang="en-US" altLang="zh-CN" dirty="0" err="1">
                <a:latin typeface="Arial" panose="020B0604020202020204" pitchFamily="34" charset="0"/>
              </a:rPr>
              <a:t>cout</a:t>
            </a:r>
            <a:r>
              <a:rPr lang="en-US" altLang="zh-CN" dirty="0">
                <a:latin typeface="Arial" panose="020B0604020202020204" pitchFamily="34" charset="0"/>
              </a:rPr>
              <a:t>&lt;&lt;"</a:t>
            </a:r>
            <a:r>
              <a:rPr lang="en-US" altLang="zh-CN" dirty="0" err="1">
                <a:latin typeface="Arial" panose="020B0604020202020204" pitchFamily="34" charset="0"/>
              </a:rPr>
              <a:t>Firstderived</a:t>
            </a:r>
            <a:r>
              <a:rPr lang="en-US" altLang="zh-CN" dirty="0">
                <a:latin typeface="Arial" panose="020B0604020202020204" pitchFamily="34" charset="0"/>
              </a:rPr>
              <a:t>"&lt;&lt;</a:t>
            </a:r>
            <a:r>
              <a:rPr lang="en-US" altLang="zh-CN" dirty="0" err="1">
                <a:latin typeface="Arial" panose="020B0604020202020204" pitchFamily="34" charset="0"/>
              </a:rPr>
              <a:t>endl</a:t>
            </a:r>
            <a:r>
              <a:rPr lang="en-US" altLang="zh-CN" dirty="0">
                <a:latin typeface="Arial" panose="020B0604020202020204" pitchFamily="34" charset="0"/>
              </a:rPr>
              <a:t>;}</a:t>
            </a:r>
          </a:p>
          <a:p>
            <a:r>
              <a:rPr lang="en-US" altLang="zh-CN" dirty="0">
                <a:latin typeface="Arial" panose="020B0604020202020204" pitchFamily="34" charset="0"/>
              </a:rPr>
              <a:t>};</a:t>
            </a:r>
          </a:p>
          <a:p>
            <a:r>
              <a:rPr lang="en-US" altLang="zh-CN" dirty="0">
                <a:latin typeface="Arial" panose="020B0604020202020204" pitchFamily="34" charset="0"/>
              </a:rPr>
              <a:t>class </a:t>
            </a:r>
            <a:r>
              <a:rPr lang="en-US" altLang="zh-CN" dirty="0" err="1">
                <a:latin typeface="Arial" panose="020B0604020202020204" pitchFamily="34" charset="0"/>
              </a:rPr>
              <a:t>Secondderived:public</a:t>
            </a:r>
            <a:r>
              <a:rPr lang="en-US" altLang="zh-CN" dirty="0">
                <a:latin typeface="Arial" panose="020B0604020202020204" pitchFamily="34" charset="0"/>
              </a:rPr>
              <a:t> Base</a:t>
            </a:r>
          </a:p>
          <a:p>
            <a:r>
              <a:rPr lang="en-US" altLang="zh-CN" dirty="0">
                <a:latin typeface="Arial" panose="020B0604020202020204" pitchFamily="34" charset="0"/>
              </a:rPr>
              <a:t>{public: virtual void who()</a:t>
            </a:r>
          </a:p>
          <a:p>
            <a:r>
              <a:rPr lang="en-US" altLang="zh-CN" dirty="0">
                <a:latin typeface="Arial" panose="020B0604020202020204" pitchFamily="34" charset="0"/>
              </a:rPr>
              <a:t>{</a:t>
            </a:r>
            <a:r>
              <a:rPr lang="en-US" altLang="zh-CN" dirty="0" err="1">
                <a:latin typeface="Arial" panose="020B0604020202020204" pitchFamily="34" charset="0"/>
              </a:rPr>
              <a:t>cout</a:t>
            </a:r>
            <a:r>
              <a:rPr lang="en-US" altLang="zh-CN" dirty="0">
                <a:latin typeface="Arial" panose="020B0604020202020204" pitchFamily="34" charset="0"/>
              </a:rPr>
              <a:t>&lt;&lt;"</a:t>
            </a:r>
            <a:r>
              <a:rPr lang="en-US" altLang="zh-CN" dirty="0" err="1">
                <a:latin typeface="Arial" panose="020B0604020202020204" pitchFamily="34" charset="0"/>
              </a:rPr>
              <a:t>Secondderived</a:t>
            </a:r>
            <a:r>
              <a:rPr lang="en-US" altLang="zh-CN" dirty="0">
                <a:latin typeface="Arial" panose="020B0604020202020204" pitchFamily="34" charset="0"/>
              </a:rPr>
              <a:t>"&lt;&lt;</a:t>
            </a:r>
            <a:r>
              <a:rPr lang="en-US" altLang="zh-CN" dirty="0" err="1">
                <a:latin typeface="Arial" panose="020B0604020202020204" pitchFamily="34" charset="0"/>
              </a:rPr>
              <a:t>endl</a:t>
            </a:r>
            <a:r>
              <a:rPr lang="en-US" altLang="zh-CN" dirty="0">
                <a:latin typeface="Arial" panose="020B0604020202020204" pitchFamily="34" charset="0"/>
              </a:rPr>
              <a:t>;}</a:t>
            </a:r>
          </a:p>
          <a:p>
            <a:r>
              <a:rPr lang="en-US" altLang="zh-CN" dirty="0">
                <a:latin typeface="Arial" panose="020B0604020202020204" pitchFamily="34" charset="0"/>
              </a:rPr>
              <a:t>};</a:t>
            </a:r>
          </a:p>
          <a:p>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int main()</a:t>
            </a:r>
          </a:p>
          <a:p>
            <a:r>
              <a:rPr lang="en-US" altLang="zh-CN" dirty="0">
                <a:latin typeface="Arial" panose="020B0604020202020204" pitchFamily="34" charset="0"/>
              </a:rPr>
              <a:t>{	      Base </a:t>
            </a:r>
            <a:r>
              <a:rPr lang="en-US" altLang="zh-CN" dirty="0" err="1">
                <a:latin typeface="Arial" panose="020B0604020202020204" pitchFamily="34" charset="0"/>
              </a:rPr>
              <a:t>base_obj</a:t>
            </a:r>
            <a:r>
              <a:rPr lang="en-US" altLang="zh-CN" dirty="0">
                <a:latin typeface="Arial" panose="020B0604020202020204" pitchFamily="34" charset="0"/>
              </a:rPr>
              <a:t>, *p;</a:t>
            </a:r>
          </a:p>
          <a:p>
            <a:r>
              <a:rPr lang="en-US" altLang="zh-CN" dirty="0">
                <a:latin typeface="Arial" panose="020B0604020202020204" pitchFamily="34" charset="0"/>
              </a:rPr>
              <a:t>	</a:t>
            </a:r>
            <a:r>
              <a:rPr lang="en-US" altLang="zh-CN" dirty="0" err="1">
                <a:latin typeface="Arial" panose="020B0604020202020204" pitchFamily="34" charset="0"/>
              </a:rPr>
              <a:t>Firstderived</a:t>
            </a:r>
            <a:r>
              <a:rPr lang="en-US" altLang="zh-CN" dirty="0">
                <a:latin typeface="Arial" panose="020B0604020202020204" pitchFamily="34" charset="0"/>
              </a:rPr>
              <a:t> </a:t>
            </a:r>
            <a:r>
              <a:rPr lang="en-US" altLang="zh-CN" dirty="0" err="1">
                <a:latin typeface="Arial" panose="020B0604020202020204" pitchFamily="34" charset="0"/>
              </a:rPr>
              <a:t>first_obj</a:t>
            </a:r>
            <a:r>
              <a:rPr lang="en-US" altLang="zh-CN" dirty="0">
                <a:latin typeface="Arial" panose="020B0604020202020204" pitchFamily="34" charset="0"/>
              </a:rPr>
              <a:t>;</a:t>
            </a:r>
          </a:p>
          <a:p>
            <a:r>
              <a:rPr lang="en-US" altLang="zh-CN" dirty="0">
                <a:latin typeface="Arial" panose="020B0604020202020204" pitchFamily="34" charset="0"/>
              </a:rPr>
              <a:t> 	</a:t>
            </a:r>
            <a:r>
              <a:rPr lang="en-US" altLang="zh-CN" dirty="0" err="1">
                <a:latin typeface="Arial" panose="020B0604020202020204" pitchFamily="34" charset="0"/>
              </a:rPr>
              <a:t>Secondderived</a:t>
            </a:r>
            <a:r>
              <a:rPr lang="en-US" altLang="zh-CN" dirty="0">
                <a:latin typeface="Arial" panose="020B0604020202020204" pitchFamily="34" charset="0"/>
              </a:rPr>
              <a:t> </a:t>
            </a:r>
            <a:r>
              <a:rPr lang="en-US" altLang="zh-CN" dirty="0" err="1">
                <a:latin typeface="Arial" panose="020B0604020202020204" pitchFamily="34" charset="0"/>
              </a:rPr>
              <a:t>second_obj</a:t>
            </a:r>
            <a:r>
              <a:rPr lang="en-US" altLang="zh-CN" dirty="0">
                <a:latin typeface="Arial" panose="020B0604020202020204" pitchFamily="34" charset="0"/>
              </a:rPr>
              <a:t>;</a:t>
            </a:r>
          </a:p>
          <a:p>
            <a:r>
              <a:rPr lang="en-US" altLang="zh-CN" dirty="0">
                <a:latin typeface="Arial" panose="020B0604020202020204" pitchFamily="34" charset="0"/>
              </a:rPr>
              <a:t>        p=&amp;</a:t>
            </a:r>
            <a:r>
              <a:rPr lang="en-US" altLang="zh-CN" dirty="0" err="1">
                <a:latin typeface="Arial" panose="020B0604020202020204" pitchFamily="34" charset="0"/>
              </a:rPr>
              <a:t>base_obj</a:t>
            </a:r>
            <a:r>
              <a:rPr lang="en-US" altLang="zh-CN" dirty="0">
                <a:latin typeface="Arial" panose="020B0604020202020204" pitchFamily="34" charset="0"/>
              </a:rPr>
              <a:t>;</a:t>
            </a:r>
          </a:p>
          <a:p>
            <a:r>
              <a:rPr lang="en-US" altLang="zh-CN" dirty="0">
                <a:latin typeface="Arial" panose="020B0604020202020204" pitchFamily="34" charset="0"/>
              </a:rPr>
              <a:t>         p-&gt;who();</a:t>
            </a:r>
          </a:p>
          <a:p>
            <a:r>
              <a:rPr lang="en-US" altLang="zh-CN" dirty="0">
                <a:latin typeface="Arial" panose="020B0604020202020204" pitchFamily="34" charset="0"/>
              </a:rPr>
              <a:t>         p=&amp;</a:t>
            </a:r>
            <a:r>
              <a:rPr lang="en-US" altLang="zh-CN" dirty="0" err="1">
                <a:latin typeface="Arial" panose="020B0604020202020204" pitchFamily="34" charset="0"/>
              </a:rPr>
              <a:t>first_obj</a:t>
            </a:r>
            <a:r>
              <a:rPr lang="en-US" altLang="zh-CN" dirty="0">
                <a:latin typeface="Arial" panose="020B0604020202020204" pitchFamily="34" charset="0"/>
              </a:rPr>
              <a:t>;</a:t>
            </a:r>
          </a:p>
          <a:p>
            <a:r>
              <a:rPr lang="en-US" altLang="zh-CN" dirty="0">
                <a:latin typeface="Arial" panose="020B0604020202020204" pitchFamily="34" charset="0"/>
              </a:rPr>
              <a:t>         p-&gt;who();</a:t>
            </a:r>
          </a:p>
          <a:p>
            <a:r>
              <a:rPr lang="en-US" altLang="zh-CN" dirty="0">
                <a:latin typeface="Arial" panose="020B0604020202020204" pitchFamily="34" charset="0"/>
              </a:rPr>
              <a:t>         p=&amp;</a:t>
            </a:r>
            <a:r>
              <a:rPr lang="en-US" altLang="zh-CN" dirty="0" err="1">
                <a:latin typeface="Arial" panose="020B0604020202020204" pitchFamily="34" charset="0"/>
              </a:rPr>
              <a:t>second_obj</a:t>
            </a:r>
            <a:r>
              <a:rPr lang="en-US" altLang="zh-CN" dirty="0">
                <a:latin typeface="Arial" panose="020B0604020202020204" pitchFamily="34" charset="0"/>
              </a:rPr>
              <a:t>;</a:t>
            </a:r>
          </a:p>
          <a:p>
            <a:r>
              <a:rPr lang="en-US" altLang="zh-CN" dirty="0">
                <a:latin typeface="Arial" panose="020B0604020202020204" pitchFamily="34" charset="0"/>
              </a:rPr>
              <a:t>         p-&gt;who();</a:t>
            </a:r>
          </a:p>
          <a:p>
            <a:endParaRPr lang="en-US" altLang="zh-CN" dirty="0">
              <a:latin typeface="Arial" panose="020B0604020202020204" pitchFamily="34" charset="0"/>
            </a:endParaRPr>
          </a:p>
          <a:p>
            <a:r>
              <a:rPr lang="en-US" altLang="zh-CN" dirty="0">
                <a:latin typeface="Arial" panose="020B0604020202020204" pitchFamily="34" charset="0"/>
              </a:rPr>
              <a:t>	return 0;</a:t>
            </a:r>
          </a:p>
          <a:p>
            <a:r>
              <a:rPr lang="en-US" altLang="zh-CN" dirty="0">
                <a:latin typeface="Arial" panose="020B0604020202020204" pitchFamily="34" charset="0"/>
              </a:rPr>
              <a:t>}</a:t>
            </a:r>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30</a:t>
            </a:fld>
            <a:endParaRPr lang="zh-CN" altLang="en-US"/>
          </a:p>
        </p:txBody>
      </p:sp>
    </p:spTree>
    <p:extLst>
      <p:ext uri="{BB962C8B-B14F-4D97-AF65-F5344CB8AC3E}">
        <p14:creationId xmlns:p14="http://schemas.microsoft.com/office/powerpoint/2010/main" val="2807257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32</a:t>
            </a:fld>
            <a:endParaRPr lang="zh-CN" altLang="en-US"/>
          </a:p>
        </p:txBody>
      </p:sp>
    </p:spTree>
    <p:extLst>
      <p:ext uri="{BB962C8B-B14F-4D97-AF65-F5344CB8AC3E}">
        <p14:creationId xmlns:p14="http://schemas.microsoft.com/office/powerpoint/2010/main" val="35741157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34</a:t>
            </a:fld>
            <a:endParaRPr lang="zh-CN" altLang="en-US"/>
          </a:p>
        </p:txBody>
      </p:sp>
    </p:spTree>
    <p:extLst>
      <p:ext uri="{BB962C8B-B14F-4D97-AF65-F5344CB8AC3E}">
        <p14:creationId xmlns:p14="http://schemas.microsoft.com/office/powerpoint/2010/main" val="903201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35</a:t>
            </a:fld>
            <a:endParaRPr lang="zh-CN" altLang="en-US"/>
          </a:p>
        </p:txBody>
      </p:sp>
    </p:spTree>
    <p:extLst>
      <p:ext uri="{BB962C8B-B14F-4D97-AF65-F5344CB8AC3E}">
        <p14:creationId xmlns:p14="http://schemas.microsoft.com/office/powerpoint/2010/main" val="11132052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#include&lt;iostream&gt;</a:t>
            </a:r>
          </a:p>
          <a:p>
            <a:r>
              <a:rPr lang="en-US" altLang="zh-CN" dirty="0"/>
              <a:t>using namespace std;</a:t>
            </a:r>
          </a:p>
          <a:p>
            <a:endParaRPr lang="en-US" altLang="zh-CN" dirty="0"/>
          </a:p>
          <a:p>
            <a:r>
              <a:rPr lang="en-US" altLang="zh-CN" dirty="0"/>
              <a:t>class Base{</a:t>
            </a:r>
          </a:p>
          <a:p>
            <a:r>
              <a:rPr lang="en-US" altLang="zh-CN" dirty="0"/>
              <a:t>public:</a:t>
            </a:r>
          </a:p>
          <a:p>
            <a:r>
              <a:rPr lang="en-US" altLang="zh-CN" dirty="0"/>
              <a:t>	virtual void Func1(){</a:t>
            </a:r>
          </a:p>
          <a:p>
            <a:r>
              <a:rPr lang="en-US" altLang="zh-CN" dirty="0"/>
              <a:t>		</a:t>
            </a:r>
            <a:r>
              <a:rPr lang="en-US" altLang="zh-CN" dirty="0" err="1"/>
              <a:t>cout</a:t>
            </a:r>
            <a:r>
              <a:rPr lang="en-US" altLang="zh-CN" dirty="0"/>
              <a:t> &lt;&lt; "Base::Func1()" &lt;&lt; </a:t>
            </a:r>
            <a:r>
              <a:rPr lang="en-US" altLang="zh-CN" dirty="0" err="1"/>
              <a:t>endl</a:t>
            </a:r>
            <a:r>
              <a:rPr lang="en-US" altLang="zh-CN" dirty="0"/>
              <a:t>;</a:t>
            </a:r>
          </a:p>
          <a:p>
            <a:r>
              <a:rPr lang="en-US" altLang="zh-CN" dirty="0"/>
              <a:t>	}</a:t>
            </a:r>
          </a:p>
          <a:p>
            <a:r>
              <a:rPr lang="en-US" altLang="zh-CN" dirty="0"/>
              <a:t>	virtual void Func2(){</a:t>
            </a:r>
          </a:p>
          <a:p>
            <a:r>
              <a:rPr lang="en-US" altLang="zh-CN" dirty="0"/>
              <a:t>		</a:t>
            </a:r>
            <a:r>
              <a:rPr lang="en-US" altLang="zh-CN" dirty="0" err="1"/>
              <a:t>cout</a:t>
            </a:r>
            <a:r>
              <a:rPr lang="en-US" altLang="zh-CN" dirty="0"/>
              <a:t> &lt;&lt; "Base::Func2()" &lt;&lt; </a:t>
            </a:r>
            <a:r>
              <a:rPr lang="en-US" altLang="zh-CN" dirty="0" err="1"/>
              <a:t>endl</a:t>
            </a:r>
            <a:r>
              <a:rPr lang="en-US" altLang="zh-CN" dirty="0"/>
              <a:t>;</a:t>
            </a:r>
          </a:p>
          <a:p>
            <a:r>
              <a:rPr lang="en-US" altLang="zh-CN" dirty="0"/>
              <a:t>	}</a:t>
            </a:r>
          </a:p>
          <a:p>
            <a:r>
              <a:rPr lang="en-US" altLang="zh-CN" dirty="0"/>
              <a:t>	void Func3(){</a:t>
            </a:r>
          </a:p>
          <a:p>
            <a:r>
              <a:rPr lang="en-US" altLang="zh-CN" dirty="0"/>
              <a:t>		</a:t>
            </a:r>
            <a:r>
              <a:rPr lang="en-US" altLang="zh-CN" dirty="0" err="1"/>
              <a:t>cout</a:t>
            </a:r>
            <a:r>
              <a:rPr lang="en-US" altLang="zh-CN" dirty="0"/>
              <a:t> &lt;&lt; "Base::Func3()" &lt;&lt; </a:t>
            </a:r>
            <a:r>
              <a:rPr lang="en-US" altLang="zh-CN" dirty="0" err="1"/>
              <a:t>endl</a:t>
            </a:r>
            <a:r>
              <a:rPr lang="en-US" altLang="zh-CN" dirty="0"/>
              <a:t>;</a:t>
            </a:r>
          </a:p>
          <a:p>
            <a:r>
              <a:rPr lang="en-US" altLang="zh-CN" dirty="0"/>
              <a:t>	}</a:t>
            </a:r>
          </a:p>
          <a:p>
            <a:r>
              <a:rPr lang="en-US" altLang="zh-CN" dirty="0"/>
              <a:t>private:</a:t>
            </a:r>
          </a:p>
          <a:p>
            <a:r>
              <a:rPr lang="en-US" altLang="zh-CN" dirty="0"/>
              <a:t>	int _b ;</a:t>
            </a:r>
          </a:p>
          <a:p>
            <a:r>
              <a:rPr lang="en-US" altLang="zh-CN" dirty="0"/>
              <a:t>};</a:t>
            </a:r>
          </a:p>
          <a:p>
            <a:endParaRPr lang="en-US" altLang="zh-CN" dirty="0"/>
          </a:p>
          <a:p>
            <a:r>
              <a:rPr lang="en-US" altLang="zh-CN" dirty="0"/>
              <a:t>class Derive : public Base{</a:t>
            </a:r>
          </a:p>
          <a:p>
            <a:r>
              <a:rPr lang="en-US" altLang="zh-CN" dirty="0"/>
              <a:t>public:</a:t>
            </a:r>
          </a:p>
          <a:p>
            <a:r>
              <a:rPr lang="en-US" altLang="zh-CN" dirty="0"/>
              <a:t>	virtual void Func1(){</a:t>
            </a:r>
          </a:p>
          <a:p>
            <a:r>
              <a:rPr lang="en-US" altLang="zh-CN" dirty="0"/>
              <a:t>		</a:t>
            </a:r>
            <a:r>
              <a:rPr lang="en-US" altLang="zh-CN" dirty="0" err="1"/>
              <a:t>cout</a:t>
            </a:r>
            <a:r>
              <a:rPr lang="en-US" altLang="zh-CN" dirty="0"/>
              <a:t> &lt;&lt; "Derive::Func1()" &lt;&lt; </a:t>
            </a:r>
            <a:r>
              <a:rPr lang="en-US" altLang="zh-CN" dirty="0" err="1"/>
              <a:t>endl</a:t>
            </a:r>
            <a:r>
              <a:rPr lang="en-US" altLang="zh-CN" dirty="0"/>
              <a:t>;</a:t>
            </a:r>
          </a:p>
          <a:p>
            <a:r>
              <a:rPr lang="en-US" altLang="zh-CN" dirty="0"/>
              <a:t>	}</a:t>
            </a:r>
          </a:p>
          <a:p>
            <a:r>
              <a:rPr lang="en-US" altLang="zh-CN" dirty="0"/>
              <a:t>private:</a:t>
            </a:r>
          </a:p>
          <a:p>
            <a:r>
              <a:rPr lang="en-US" altLang="zh-CN" dirty="0"/>
              <a:t>	int _d ;</a:t>
            </a:r>
          </a:p>
          <a:p>
            <a:r>
              <a:rPr lang="en-US" altLang="zh-CN" dirty="0"/>
              <a:t>};</a:t>
            </a:r>
          </a:p>
          <a:p>
            <a:endParaRPr lang="en-US" altLang="zh-CN" dirty="0"/>
          </a:p>
          <a:p>
            <a:r>
              <a:rPr lang="en-US" altLang="zh-CN" dirty="0"/>
              <a:t>int main()</a:t>
            </a:r>
          </a:p>
          <a:p>
            <a:r>
              <a:rPr lang="en-US" altLang="zh-CN" dirty="0"/>
              <a:t>{</a:t>
            </a:r>
          </a:p>
          <a:p>
            <a:r>
              <a:rPr lang="en-US" altLang="zh-CN" dirty="0"/>
              <a:t>	Base b,*p;</a:t>
            </a:r>
          </a:p>
          <a:p>
            <a:r>
              <a:rPr lang="en-US" altLang="zh-CN" dirty="0"/>
              <a:t>	Derive d;</a:t>
            </a:r>
          </a:p>
          <a:p>
            <a:r>
              <a:rPr lang="en-US" altLang="zh-CN" dirty="0"/>
              <a:t>	p = &amp;b;</a:t>
            </a:r>
          </a:p>
          <a:p>
            <a:r>
              <a:rPr lang="en-US" altLang="zh-CN" dirty="0"/>
              <a:t>	p-&gt;Func1();</a:t>
            </a:r>
          </a:p>
          <a:p>
            <a:r>
              <a:rPr lang="en-US" altLang="zh-CN" dirty="0"/>
              <a:t>	p = &amp;d;</a:t>
            </a:r>
          </a:p>
          <a:p>
            <a:r>
              <a:rPr lang="en-US" altLang="zh-CN" dirty="0"/>
              <a:t>	p-&gt;Func1();</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36</a:t>
            </a:fld>
            <a:endParaRPr lang="zh-CN" altLang="en-US"/>
          </a:p>
        </p:txBody>
      </p:sp>
    </p:spTree>
    <p:extLst>
      <p:ext uri="{BB962C8B-B14F-4D97-AF65-F5344CB8AC3E}">
        <p14:creationId xmlns:p14="http://schemas.microsoft.com/office/powerpoint/2010/main" val="22693248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#include&lt;iostream&gt;</a:t>
            </a:r>
          </a:p>
          <a:p>
            <a:r>
              <a:rPr lang="en-US" altLang="zh-CN" dirty="0"/>
              <a:t>using namespace std;</a:t>
            </a:r>
          </a:p>
          <a:p>
            <a:endParaRPr lang="en-US" altLang="zh-CN" dirty="0"/>
          </a:p>
          <a:p>
            <a:r>
              <a:rPr lang="en-US" altLang="zh-CN" dirty="0"/>
              <a:t>class Person</a:t>
            </a:r>
          </a:p>
          <a:p>
            <a:r>
              <a:rPr lang="en-US" altLang="zh-CN" dirty="0"/>
              <a:t>{</a:t>
            </a:r>
          </a:p>
          <a:p>
            <a:r>
              <a:rPr lang="en-US" altLang="zh-CN" dirty="0"/>
              <a:t>public:</a:t>
            </a:r>
          </a:p>
          <a:p>
            <a:r>
              <a:rPr lang="en-US" altLang="zh-CN" dirty="0"/>
              <a:t>	virtual void </a:t>
            </a:r>
            <a:r>
              <a:rPr lang="en-US" altLang="zh-CN" dirty="0" err="1"/>
              <a:t>BuyTicket</a:t>
            </a:r>
            <a:r>
              <a:rPr lang="en-US" altLang="zh-CN" dirty="0"/>
              <a:t>()</a:t>
            </a:r>
          </a:p>
          <a:p>
            <a:r>
              <a:rPr lang="en-US" altLang="zh-CN" dirty="0"/>
              <a:t>	{</a:t>
            </a:r>
          </a:p>
          <a:p>
            <a:r>
              <a:rPr lang="en-US" altLang="zh-CN" dirty="0"/>
              <a:t>		</a:t>
            </a:r>
            <a:r>
              <a:rPr lang="en-US" altLang="zh-CN" dirty="0" err="1"/>
              <a:t>cout</a:t>
            </a:r>
            <a:r>
              <a:rPr lang="en-US" altLang="zh-CN" dirty="0"/>
              <a:t> &lt;&lt; "</a:t>
            </a:r>
            <a:r>
              <a:rPr lang="zh-CN" altLang="en-US" dirty="0"/>
              <a:t>买票</a:t>
            </a:r>
            <a:r>
              <a:rPr lang="en-US" altLang="zh-CN" dirty="0"/>
              <a:t>-</a:t>
            </a:r>
            <a:r>
              <a:rPr lang="zh-CN" altLang="en-US" dirty="0"/>
              <a:t>全价</a:t>
            </a:r>
            <a:r>
              <a:rPr lang="en-US" altLang="zh-CN" dirty="0"/>
              <a:t>" &lt;&lt; </a:t>
            </a:r>
            <a:r>
              <a:rPr lang="en-US" altLang="zh-CN" dirty="0" err="1"/>
              <a:t>endl</a:t>
            </a:r>
            <a:r>
              <a:rPr lang="en-US" altLang="zh-CN" dirty="0"/>
              <a:t>;</a:t>
            </a:r>
          </a:p>
          <a:p>
            <a:r>
              <a:rPr lang="en-US" altLang="zh-CN" dirty="0"/>
              <a:t>	}</a:t>
            </a:r>
          </a:p>
          <a:p>
            <a:r>
              <a:rPr lang="en-US" altLang="zh-CN" dirty="0"/>
              <a:t>};</a:t>
            </a:r>
          </a:p>
          <a:p>
            <a:endParaRPr lang="en-US" altLang="zh-CN" dirty="0"/>
          </a:p>
          <a:p>
            <a:r>
              <a:rPr lang="en-US" altLang="zh-CN" dirty="0"/>
              <a:t>class Student : public Person</a:t>
            </a:r>
          </a:p>
          <a:p>
            <a:r>
              <a:rPr lang="en-US" altLang="zh-CN" dirty="0"/>
              <a:t>{</a:t>
            </a:r>
          </a:p>
          <a:p>
            <a:r>
              <a:rPr lang="en-US" altLang="zh-CN" dirty="0"/>
              <a:t>public:</a:t>
            </a:r>
          </a:p>
          <a:p>
            <a:r>
              <a:rPr lang="en-US" altLang="zh-CN" dirty="0"/>
              <a:t>	virtual void </a:t>
            </a:r>
            <a:r>
              <a:rPr lang="en-US" altLang="zh-CN" dirty="0" err="1"/>
              <a:t>BuyTicket</a:t>
            </a:r>
            <a:r>
              <a:rPr lang="en-US" altLang="zh-CN" dirty="0"/>
              <a:t>(){</a:t>
            </a:r>
          </a:p>
          <a:p>
            <a:r>
              <a:rPr lang="en-US" altLang="zh-CN" dirty="0"/>
              <a:t>		</a:t>
            </a:r>
            <a:r>
              <a:rPr lang="en-US" altLang="zh-CN" dirty="0" err="1"/>
              <a:t>cout</a:t>
            </a:r>
            <a:r>
              <a:rPr lang="en-US" altLang="zh-CN" dirty="0"/>
              <a:t> &lt;&lt; "</a:t>
            </a:r>
            <a:r>
              <a:rPr lang="zh-CN" altLang="en-US" dirty="0"/>
              <a:t>买票</a:t>
            </a:r>
            <a:r>
              <a:rPr lang="en-US" altLang="zh-CN" dirty="0"/>
              <a:t>-</a:t>
            </a:r>
            <a:r>
              <a:rPr lang="zh-CN" altLang="en-US" dirty="0"/>
              <a:t>半价</a:t>
            </a:r>
            <a:r>
              <a:rPr lang="en-US" altLang="zh-CN" dirty="0"/>
              <a:t>" &lt;&lt; </a:t>
            </a:r>
            <a:r>
              <a:rPr lang="en-US" altLang="zh-CN" dirty="0" err="1"/>
              <a:t>endl</a:t>
            </a:r>
            <a:r>
              <a:rPr lang="en-US" altLang="zh-CN" dirty="0"/>
              <a:t>;</a:t>
            </a:r>
          </a:p>
          <a:p>
            <a:r>
              <a:rPr lang="en-US" altLang="zh-CN" dirty="0"/>
              <a:t>	}</a:t>
            </a:r>
          </a:p>
          <a:p>
            <a:r>
              <a:rPr lang="en-US" altLang="zh-CN" dirty="0"/>
              <a:t>};</a:t>
            </a:r>
          </a:p>
          <a:p>
            <a:endParaRPr lang="en-US" altLang="zh-CN" dirty="0"/>
          </a:p>
          <a:p>
            <a:r>
              <a:rPr lang="en-US" altLang="zh-CN" dirty="0"/>
              <a:t>void </a:t>
            </a:r>
            <a:r>
              <a:rPr lang="en-US" altLang="zh-CN" dirty="0" err="1"/>
              <a:t>Func</a:t>
            </a:r>
            <a:r>
              <a:rPr lang="en-US" altLang="zh-CN" dirty="0"/>
              <a:t>(Person&amp; p)</a:t>
            </a:r>
          </a:p>
          <a:p>
            <a:r>
              <a:rPr lang="en-US" altLang="zh-CN" dirty="0"/>
              <a:t>{	</a:t>
            </a:r>
            <a:r>
              <a:rPr lang="en-US" altLang="zh-CN" dirty="0" err="1"/>
              <a:t>p.BuyTicket</a:t>
            </a:r>
            <a:r>
              <a:rPr lang="en-US" altLang="zh-CN" dirty="0"/>
              <a:t>();</a:t>
            </a:r>
          </a:p>
          <a:p>
            <a:r>
              <a:rPr lang="en-US" altLang="zh-CN" dirty="0"/>
              <a:t>}</a:t>
            </a:r>
          </a:p>
          <a:p>
            <a:endParaRPr lang="en-US" altLang="zh-CN" dirty="0"/>
          </a:p>
          <a:p>
            <a:r>
              <a:rPr lang="en-US" altLang="zh-CN" dirty="0"/>
              <a:t>int main()</a:t>
            </a:r>
          </a:p>
          <a:p>
            <a:r>
              <a:rPr lang="en-US" altLang="zh-CN" dirty="0"/>
              <a:t>{	Person Mike;</a:t>
            </a:r>
          </a:p>
          <a:p>
            <a:r>
              <a:rPr lang="en-US" altLang="zh-CN" dirty="0"/>
              <a:t>	</a:t>
            </a:r>
            <a:r>
              <a:rPr lang="en-US" altLang="zh-CN" dirty="0" err="1"/>
              <a:t>Func</a:t>
            </a:r>
            <a:r>
              <a:rPr lang="en-US" altLang="zh-CN" dirty="0"/>
              <a:t>(Mike);</a:t>
            </a:r>
          </a:p>
          <a:p>
            <a:r>
              <a:rPr lang="en-US" altLang="zh-CN" dirty="0"/>
              <a:t>	Student John;</a:t>
            </a:r>
          </a:p>
          <a:p>
            <a:r>
              <a:rPr lang="en-US" altLang="zh-CN" dirty="0"/>
              <a:t>	</a:t>
            </a:r>
            <a:r>
              <a:rPr lang="en-US" altLang="zh-CN" dirty="0" err="1"/>
              <a:t>Func</a:t>
            </a:r>
            <a:r>
              <a:rPr lang="en-US" altLang="zh-CN" dirty="0"/>
              <a:t>(John);</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37</a:t>
            </a:fld>
            <a:endParaRPr lang="zh-CN" altLang="en-US"/>
          </a:p>
        </p:txBody>
      </p:sp>
    </p:spTree>
    <p:extLst>
      <p:ext uri="{BB962C8B-B14F-4D97-AF65-F5344CB8AC3E}">
        <p14:creationId xmlns:p14="http://schemas.microsoft.com/office/powerpoint/2010/main" val="5446198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Arial" panose="020B0604020202020204" pitchFamily="34" charset="0"/>
              </a:rPr>
              <a:t>#include &lt;iostream&gt;</a:t>
            </a:r>
          </a:p>
          <a:p>
            <a:r>
              <a:rPr lang="en-US" altLang="zh-CN" dirty="0">
                <a:latin typeface="Arial" panose="020B0604020202020204" pitchFamily="34" charset="0"/>
              </a:rPr>
              <a:t>#include&lt;cstdlib&gt;</a:t>
            </a:r>
          </a:p>
          <a:p>
            <a:r>
              <a:rPr lang="en-US" altLang="zh-CN" dirty="0">
                <a:latin typeface="Arial" panose="020B0604020202020204" pitchFamily="34" charset="0"/>
              </a:rPr>
              <a:t>#include&lt;ctime&gt;</a:t>
            </a:r>
          </a:p>
          <a:p>
            <a:r>
              <a:rPr lang="en-US" altLang="zh-CN" dirty="0">
                <a:latin typeface="Arial" panose="020B0604020202020204" pitchFamily="34" charset="0"/>
              </a:rPr>
              <a:t>using namespace std;</a:t>
            </a:r>
          </a:p>
          <a:p>
            <a:r>
              <a:rPr lang="en-US" altLang="zh-CN" dirty="0">
                <a:latin typeface="Arial" panose="020B0604020202020204" pitchFamily="34" charset="0"/>
              </a:rPr>
              <a:t>int main()</a:t>
            </a:r>
          </a:p>
          <a:p>
            <a:r>
              <a:rPr lang="en-US" altLang="zh-CN" dirty="0">
                <a:latin typeface="Arial" panose="020B0604020202020204" pitchFamily="34" charset="0"/>
              </a:rPr>
              <a:t>{	int lottery, lottery1, lottery2, guess,guess1,guess2;</a:t>
            </a:r>
          </a:p>
          <a:p>
            <a:r>
              <a:rPr lang="en-US" altLang="zh-CN" dirty="0">
                <a:latin typeface="Arial" panose="020B0604020202020204" pitchFamily="34" charset="0"/>
              </a:rPr>
              <a:t>	cin&gt;&gt;guess;</a:t>
            </a:r>
          </a:p>
          <a:p>
            <a:r>
              <a:rPr lang="en-US" altLang="zh-CN" dirty="0">
                <a:latin typeface="Arial" panose="020B0604020202020204" pitchFamily="34" charset="0"/>
              </a:rPr>
              <a:t>	</a:t>
            </a:r>
            <a:r>
              <a:rPr lang="en-US" altLang="zh-CN" dirty="0" err="1">
                <a:latin typeface="Arial" panose="020B0604020202020204" pitchFamily="34" charset="0"/>
              </a:rPr>
              <a:t>srand</a:t>
            </a:r>
            <a:r>
              <a:rPr lang="en-US" altLang="zh-CN" dirty="0">
                <a:latin typeface="Arial" panose="020B0604020202020204" pitchFamily="34" charset="0"/>
              </a:rPr>
              <a:t>(time(0));</a:t>
            </a:r>
          </a:p>
          <a:p>
            <a:r>
              <a:rPr lang="en-US" altLang="zh-CN" dirty="0">
                <a:latin typeface="Arial" panose="020B0604020202020204" pitchFamily="34" charset="0"/>
              </a:rPr>
              <a:t>	lottery = rand()%100;</a:t>
            </a:r>
          </a:p>
          <a:p>
            <a:r>
              <a:rPr lang="en-US" altLang="zh-CN" dirty="0">
                <a:latin typeface="Arial" panose="020B0604020202020204" pitchFamily="34" charset="0"/>
              </a:rPr>
              <a:t>	lottery1 = lottery/10;</a:t>
            </a:r>
          </a:p>
          <a:p>
            <a:r>
              <a:rPr lang="en-US" altLang="zh-CN" dirty="0">
                <a:latin typeface="Arial" panose="020B0604020202020204" pitchFamily="34" charset="0"/>
              </a:rPr>
              <a:t>	lottery2 = lottery%10;</a:t>
            </a:r>
          </a:p>
          <a:p>
            <a:r>
              <a:rPr lang="en-US" altLang="zh-CN" dirty="0">
                <a:latin typeface="Arial" panose="020B0604020202020204" pitchFamily="34" charset="0"/>
              </a:rPr>
              <a:t>	guess1 = guess/10;</a:t>
            </a:r>
          </a:p>
          <a:p>
            <a:r>
              <a:rPr lang="en-US" altLang="zh-CN" dirty="0">
                <a:latin typeface="Arial" panose="020B0604020202020204" pitchFamily="34" charset="0"/>
              </a:rPr>
              <a:t>	guess2 = guess%10;</a:t>
            </a:r>
          </a:p>
          <a:p>
            <a:r>
              <a:rPr lang="en-US" altLang="zh-CN" dirty="0">
                <a:latin typeface="Arial" panose="020B0604020202020204" pitchFamily="34" charset="0"/>
              </a:rPr>
              <a:t>	if(guess==lottery) </a:t>
            </a:r>
          </a:p>
          <a:p>
            <a:r>
              <a:rPr lang="en-US" altLang="zh-CN" dirty="0">
                <a:latin typeface="Arial" panose="020B0604020202020204" pitchFamily="34" charset="0"/>
              </a:rPr>
              <a:t>		</a:t>
            </a:r>
            <a:r>
              <a:rPr lang="en-US" altLang="zh-CN" dirty="0" err="1">
                <a:latin typeface="Arial" panose="020B0604020202020204" pitchFamily="34" charset="0"/>
              </a:rPr>
              <a:t>cout</a:t>
            </a:r>
            <a:r>
              <a:rPr lang="en-US" altLang="zh-CN" dirty="0">
                <a:latin typeface="Arial" panose="020B0604020202020204" pitchFamily="34" charset="0"/>
              </a:rPr>
              <a:t>&lt;&lt;"</a:t>
            </a:r>
            <a:r>
              <a:rPr lang="zh-CN" altLang="en-US" dirty="0">
                <a:latin typeface="Arial" panose="020B0604020202020204" pitchFamily="34" charset="0"/>
              </a:rPr>
              <a:t>奖金为</a:t>
            </a:r>
            <a:r>
              <a:rPr lang="en-US" altLang="zh-CN" dirty="0">
                <a:latin typeface="Arial" panose="020B0604020202020204" pitchFamily="34" charset="0"/>
              </a:rPr>
              <a:t>10000</a:t>
            </a:r>
            <a:r>
              <a:rPr lang="zh-CN" altLang="en-US" dirty="0">
                <a:latin typeface="Arial" panose="020B0604020202020204" pitchFamily="34" charset="0"/>
              </a:rPr>
              <a:t>美元</a:t>
            </a:r>
            <a:r>
              <a:rPr lang="en-US" altLang="zh-CN" dirty="0">
                <a:latin typeface="Arial" panose="020B0604020202020204" pitchFamily="34" charset="0"/>
              </a:rPr>
              <a:t>\n";</a:t>
            </a:r>
          </a:p>
          <a:p>
            <a:r>
              <a:rPr lang="en-US" altLang="zh-CN" dirty="0">
                <a:latin typeface="Arial" panose="020B0604020202020204" pitchFamily="34" charset="0"/>
              </a:rPr>
              <a:t>	else if((lottery1==guess2)&amp;&amp;(lottery2==guess1))</a:t>
            </a:r>
          </a:p>
          <a:p>
            <a:r>
              <a:rPr lang="en-US" altLang="zh-CN" dirty="0">
                <a:latin typeface="Arial" panose="020B0604020202020204" pitchFamily="34" charset="0"/>
              </a:rPr>
              <a:t>			</a:t>
            </a:r>
            <a:r>
              <a:rPr lang="en-US" altLang="zh-CN" dirty="0" err="1">
                <a:latin typeface="Arial" panose="020B0604020202020204" pitchFamily="34" charset="0"/>
              </a:rPr>
              <a:t>cout</a:t>
            </a:r>
            <a:r>
              <a:rPr lang="en-US" altLang="zh-CN" dirty="0">
                <a:latin typeface="Arial" panose="020B0604020202020204" pitchFamily="34" charset="0"/>
              </a:rPr>
              <a:t>&lt;&lt;"</a:t>
            </a:r>
            <a:r>
              <a:rPr lang="zh-CN" altLang="en-US" dirty="0">
                <a:latin typeface="Arial" panose="020B0604020202020204" pitchFamily="34" charset="0"/>
              </a:rPr>
              <a:t>奖金为</a:t>
            </a:r>
            <a:r>
              <a:rPr lang="en-US" altLang="zh-CN" dirty="0">
                <a:latin typeface="Arial" panose="020B0604020202020204" pitchFamily="34" charset="0"/>
              </a:rPr>
              <a:t>3000</a:t>
            </a:r>
            <a:r>
              <a:rPr lang="zh-CN" altLang="en-US" dirty="0">
                <a:latin typeface="Arial" panose="020B0604020202020204" pitchFamily="34" charset="0"/>
              </a:rPr>
              <a:t>美元</a:t>
            </a:r>
            <a:r>
              <a:rPr lang="en-US" altLang="zh-CN" dirty="0">
                <a:latin typeface="Arial" panose="020B0604020202020204" pitchFamily="34" charset="0"/>
              </a:rPr>
              <a:t>\n";</a:t>
            </a:r>
          </a:p>
          <a:p>
            <a:r>
              <a:rPr lang="en-US" altLang="zh-CN" dirty="0">
                <a:latin typeface="Arial" panose="020B0604020202020204" pitchFamily="34" charset="0"/>
              </a:rPr>
              <a:t>		else if(guess1==lottery1||guess1==lottery2||guess2==lottery1||guess2==lottery2)</a:t>
            </a:r>
          </a:p>
          <a:p>
            <a:r>
              <a:rPr lang="en-US" altLang="zh-CN" dirty="0">
                <a:latin typeface="Arial" panose="020B0604020202020204" pitchFamily="34" charset="0"/>
              </a:rPr>
              <a:t>					</a:t>
            </a:r>
            <a:r>
              <a:rPr lang="en-US" altLang="zh-CN" dirty="0" err="1">
                <a:latin typeface="Arial" panose="020B0604020202020204" pitchFamily="34" charset="0"/>
              </a:rPr>
              <a:t>cout</a:t>
            </a:r>
            <a:r>
              <a:rPr lang="en-US" altLang="zh-CN" dirty="0">
                <a:latin typeface="Arial" panose="020B0604020202020204" pitchFamily="34" charset="0"/>
              </a:rPr>
              <a:t>&lt;&lt;"</a:t>
            </a:r>
            <a:r>
              <a:rPr lang="zh-CN" altLang="en-US" dirty="0">
                <a:latin typeface="Arial" panose="020B0604020202020204" pitchFamily="34" charset="0"/>
              </a:rPr>
              <a:t>奖金为</a:t>
            </a:r>
            <a:r>
              <a:rPr lang="en-US" altLang="zh-CN" dirty="0">
                <a:latin typeface="Arial" panose="020B0604020202020204" pitchFamily="34" charset="0"/>
              </a:rPr>
              <a:t>1000</a:t>
            </a:r>
            <a:r>
              <a:rPr lang="zh-CN" altLang="en-US" dirty="0">
                <a:latin typeface="Arial" panose="020B0604020202020204" pitchFamily="34" charset="0"/>
              </a:rPr>
              <a:t>美元</a:t>
            </a:r>
            <a:r>
              <a:rPr lang="en-US" altLang="zh-CN" dirty="0">
                <a:latin typeface="Arial" panose="020B0604020202020204" pitchFamily="34" charset="0"/>
              </a:rPr>
              <a:t>\n";</a:t>
            </a:r>
          </a:p>
          <a:p>
            <a:r>
              <a:rPr lang="en-US" altLang="zh-CN" dirty="0">
                <a:latin typeface="Arial" panose="020B0604020202020204" pitchFamily="34" charset="0"/>
              </a:rPr>
              <a:t>			else	</a:t>
            </a:r>
            <a:r>
              <a:rPr lang="en-US" altLang="zh-CN" dirty="0" err="1">
                <a:latin typeface="Arial" panose="020B0604020202020204" pitchFamily="34" charset="0"/>
              </a:rPr>
              <a:t>cout</a:t>
            </a:r>
            <a:r>
              <a:rPr lang="en-US" altLang="zh-CN" dirty="0">
                <a:latin typeface="Arial" panose="020B0604020202020204" pitchFamily="34" charset="0"/>
              </a:rPr>
              <a:t>&lt;&lt;"</a:t>
            </a:r>
            <a:r>
              <a:rPr lang="zh-CN" altLang="en-US" dirty="0">
                <a:latin typeface="Arial" panose="020B0604020202020204" pitchFamily="34" charset="0"/>
              </a:rPr>
              <a:t>祝您好运</a:t>
            </a:r>
            <a:r>
              <a:rPr lang="en-US" altLang="zh-CN" dirty="0">
                <a:latin typeface="Arial" panose="020B0604020202020204" pitchFamily="34" charset="0"/>
              </a:rPr>
              <a:t>\n";	</a:t>
            </a:r>
          </a:p>
          <a:p>
            <a:r>
              <a:rPr lang="en-US" altLang="zh-CN" dirty="0">
                <a:latin typeface="Arial" panose="020B0604020202020204" pitchFamily="34" charset="0"/>
              </a:rPr>
              <a:t>	return 0;</a:t>
            </a:r>
          </a:p>
          <a:p>
            <a:r>
              <a:rPr lang="en-US" altLang="zh-CN" dirty="0">
                <a:latin typeface="Arial" panose="020B0604020202020204" pitchFamily="34" charset="0"/>
              </a:rPr>
              <a:t>}</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38</a:t>
            </a:fld>
            <a:endParaRPr lang="zh-CN" altLang="en-US"/>
          </a:p>
        </p:txBody>
      </p:sp>
    </p:spTree>
    <p:extLst>
      <p:ext uri="{BB962C8B-B14F-4D97-AF65-F5344CB8AC3E}">
        <p14:creationId xmlns:p14="http://schemas.microsoft.com/office/powerpoint/2010/main" val="2431930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39</a:t>
            </a:fld>
            <a:endParaRPr lang="zh-CN" altLang="en-US"/>
          </a:p>
        </p:txBody>
      </p:sp>
    </p:spTree>
    <p:extLst>
      <p:ext uri="{BB962C8B-B14F-4D97-AF65-F5344CB8AC3E}">
        <p14:creationId xmlns:p14="http://schemas.microsoft.com/office/powerpoint/2010/main" val="9718316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40</a:t>
            </a:fld>
            <a:endParaRPr lang="zh-CN" altLang="en-US"/>
          </a:p>
        </p:txBody>
      </p:sp>
    </p:spTree>
    <p:extLst>
      <p:ext uri="{BB962C8B-B14F-4D97-AF65-F5344CB8AC3E}">
        <p14:creationId xmlns:p14="http://schemas.microsoft.com/office/powerpoint/2010/main" val="36199673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41</a:t>
            </a:fld>
            <a:endParaRPr lang="zh-CN" altLang="en-US"/>
          </a:p>
        </p:txBody>
      </p:sp>
    </p:spTree>
    <p:extLst>
      <p:ext uri="{BB962C8B-B14F-4D97-AF65-F5344CB8AC3E}">
        <p14:creationId xmlns:p14="http://schemas.microsoft.com/office/powerpoint/2010/main" val="22825955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42</a:t>
            </a:fld>
            <a:endParaRPr lang="zh-CN" altLang="en-US"/>
          </a:p>
        </p:txBody>
      </p:sp>
    </p:spTree>
    <p:extLst>
      <p:ext uri="{BB962C8B-B14F-4D97-AF65-F5344CB8AC3E}">
        <p14:creationId xmlns:p14="http://schemas.microsoft.com/office/powerpoint/2010/main" val="1266930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47</a:t>
            </a:fld>
            <a:endParaRPr lang="zh-CN" altLang="en-US"/>
          </a:p>
        </p:txBody>
      </p:sp>
    </p:spTree>
    <p:extLst>
      <p:ext uri="{BB962C8B-B14F-4D97-AF65-F5344CB8AC3E}">
        <p14:creationId xmlns:p14="http://schemas.microsoft.com/office/powerpoint/2010/main" val="39852081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56</a:t>
            </a:fld>
            <a:endParaRPr lang="zh-CN" altLang="en-US"/>
          </a:p>
        </p:txBody>
      </p:sp>
    </p:spTree>
    <p:extLst>
      <p:ext uri="{BB962C8B-B14F-4D97-AF65-F5344CB8AC3E}">
        <p14:creationId xmlns:p14="http://schemas.microsoft.com/office/powerpoint/2010/main" val="3614376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5"/>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4"/>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accent3"/>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2_Blank">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6096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p:bodyStyle>
    <p:otherStyle>
      <a:defPPr>
        <a:defRPr lang="en-US"/>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7365" algn="l" defTabSz="609600" rtl="0" eaLnBrk="1" latinLnBrk="0" hangingPunct="1">
        <a:defRPr sz="2400" kern="1200">
          <a:solidFill>
            <a:schemeClr val="tx1"/>
          </a:solidFill>
          <a:latin typeface="+mn-lt"/>
          <a:ea typeface="+mn-ea"/>
          <a:cs typeface="+mn-cs"/>
        </a:defRPr>
      </a:lvl6pPr>
      <a:lvl7pPr marL="3656965" algn="l" defTabSz="609600" rtl="0" eaLnBrk="1" latinLnBrk="0" hangingPunct="1">
        <a:defRPr sz="2400" kern="1200">
          <a:solidFill>
            <a:schemeClr val="tx1"/>
          </a:solidFill>
          <a:latin typeface="+mn-lt"/>
          <a:ea typeface="+mn-ea"/>
          <a:cs typeface="+mn-cs"/>
        </a:defRPr>
      </a:lvl7pPr>
      <a:lvl8pPr marL="4266565" algn="l" defTabSz="609600" rtl="0" eaLnBrk="1" latinLnBrk="0" hangingPunct="1">
        <a:defRPr sz="2400" kern="1200">
          <a:solidFill>
            <a:schemeClr val="tx1"/>
          </a:solidFill>
          <a:latin typeface="+mn-lt"/>
          <a:ea typeface="+mn-ea"/>
          <a:cs typeface="+mn-cs"/>
        </a:defRPr>
      </a:lvl8pPr>
      <a:lvl9pPr marL="4876165" algn="l" defTabSz="6096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gif"/><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0" name="矩形 19"/>
          <p:cNvSpPr/>
          <p:nvPr/>
        </p:nvSpPr>
        <p:spPr>
          <a:xfrm>
            <a:off x="7231" y="2388"/>
            <a:ext cx="12190413" cy="296505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dirty="0"/>
          </a:p>
        </p:txBody>
      </p:sp>
      <p:sp>
        <p:nvSpPr>
          <p:cNvPr id="4" name="文本框 3"/>
          <p:cNvSpPr txBox="1"/>
          <p:nvPr/>
        </p:nvSpPr>
        <p:spPr>
          <a:xfrm>
            <a:off x="0" y="2965058"/>
            <a:ext cx="12197643" cy="1015663"/>
          </a:xfrm>
          <a:prstGeom prst="rect">
            <a:avLst/>
          </a:prstGeom>
          <a:noFill/>
        </p:spPr>
        <p:txBody>
          <a:bodyPr wrap="square" rtlCol="0">
            <a:spAutoFit/>
          </a:bodyPr>
          <a:lstStyle/>
          <a:p>
            <a:pPr algn="ctr"/>
            <a:r>
              <a:rPr lang="zh-CN" altLang="en-US" sz="6000" b="1" dirty="0">
                <a:latin typeface="华光淡古印_CNKI" panose="02000500000000000000" pitchFamily="2" charset="-122"/>
                <a:ea typeface="华光淡古印_CNKI" panose="02000500000000000000" pitchFamily="2" charset="-122"/>
              </a:rPr>
              <a:t>第</a:t>
            </a:r>
            <a:r>
              <a:rPr lang="en-US" altLang="zh-CN" sz="6000" b="1" dirty="0">
                <a:latin typeface="华光淡古印_CNKI" panose="02000500000000000000" pitchFamily="2" charset="-122"/>
                <a:ea typeface="华光淡古印_CNKI" panose="02000500000000000000" pitchFamily="2" charset="-122"/>
              </a:rPr>
              <a:t>10</a:t>
            </a:r>
            <a:r>
              <a:rPr lang="zh-CN" altLang="en-US" sz="6000" b="1" dirty="0">
                <a:latin typeface="华光淡古印_CNKI" panose="02000500000000000000" pitchFamily="2" charset="-122"/>
                <a:ea typeface="华光淡古印_CNKI" panose="02000500000000000000" pitchFamily="2" charset="-122"/>
              </a:rPr>
              <a:t>讲 多态</a:t>
            </a:r>
            <a:endParaRPr lang="zh-CN" altLang="en-US" sz="6000" b="1" dirty="0">
              <a:latin typeface="华光淡古印_CNKI" panose="02000500000000000000" pitchFamily="2" charset="-122"/>
              <a:ea typeface="华光淡古印_CNKI" panose="02000500000000000000" pitchFamily="2" charset="-122"/>
              <a:sym typeface="+mn-lt"/>
            </a:endParaRPr>
          </a:p>
        </p:txBody>
      </p:sp>
      <p:grpSp>
        <p:nvGrpSpPr>
          <p:cNvPr id="11" name="组合 10"/>
          <p:cNvGrpSpPr/>
          <p:nvPr/>
        </p:nvGrpSpPr>
        <p:grpSpPr>
          <a:xfrm>
            <a:off x="3645249" y="2434852"/>
            <a:ext cx="363125" cy="413514"/>
            <a:chOff x="3170996" y="382686"/>
            <a:chExt cx="807829" cy="807829"/>
          </a:xfrm>
        </p:grpSpPr>
        <p:sp>
          <p:nvSpPr>
            <p:cNvPr id="6" name="椭圆 5"/>
            <p:cNvSpPr/>
            <p:nvPr/>
          </p:nvSpPr>
          <p:spPr>
            <a:xfrm>
              <a:off x="3170996" y="382686"/>
              <a:ext cx="807829" cy="807829"/>
            </a:xfrm>
            <a:prstGeom prst="ellipse">
              <a:avLst/>
            </a:prstGeom>
            <a:solidFill>
              <a:schemeClr val="tx1"/>
            </a:solidFill>
            <a:ln w="76200" cmpd="sng">
              <a:solidFill>
                <a:schemeClr val="accent5"/>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7" name="文本框 6"/>
            <p:cNvSpPr txBox="1"/>
            <p:nvPr/>
          </p:nvSpPr>
          <p:spPr>
            <a:xfrm>
              <a:off x="3349624" y="443558"/>
              <a:ext cx="450568" cy="508850"/>
            </a:xfrm>
            <a:prstGeom prst="rect">
              <a:avLst/>
            </a:prstGeom>
            <a:noFill/>
          </p:spPr>
          <p:txBody>
            <a:bodyPr wrap="none" rtlCol="0">
              <a:spAutoFit/>
            </a:bodyPr>
            <a:lstStyle/>
            <a:p>
              <a:pPr algn="ctr"/>
              <a:r>
                <a:rPr kumimoji="1" lang="en-US" altLang="zh-CN" sz="1800" b="1" dirty="0">
                  <a:solidFill>
                    <a:schemeClr val="accent5"/>
                  </a:solidFill>
                </a:rPr>
                <a:t>R</a:t>
              </a:r>
              <a:endParaRPr kumimoji="1" lang="zh-CN" altLang="en-US" sz="1800" b="1" dirty="0">
                <a:solidFill>
                  <a:schemeClr val="accent5"/>
                </a:solidFill>
              </a:endParaRPr>
            </a:p>
          </p:txBody>
        </p:sp>
      </p:grpSp>
      <p:grpSp>
        <p:nvGrpSpPr>
          <p:cNvPr id="2" name="组合 1"/>
          <p:cNvGrpSpPr/>
          <p:nvPr/>
        </p:nvGrpSpPr>
        <p:grpSpPr>
          <a:xfrm>
            <a:off x="3121733" y="2434852"/>
            <a:ext cx="363124" cy="413514"/>
            <a:chOff x="2173906" y="382686"/>
            <a:chExt cx="807829" cy="807829"/>
          </a:xfrm>
        </p:grpSpPr>
        <p:sp>
          <p:nvSpPr>
            <p:cNvPr id="5" name="椭圆 4"/>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8" name="文本框 7"/>
            <p:cNvSpPr txBox="1"/>
            <p:nvPr/>
          </p:nvSpPr>
          <p:spPr>
            <a:xfrm>
              <a:off x="2355927" y="443558"/>
              <a:ext cx="443783" cy="508850"/>
            </a:xfrm>
            <a:prstGeom prst="rect">
              <a:avLst/>
            </a:prstGeom>
            <a:noFill/>
          </p:spPr>
          <p:txBody>
            <a:bodyPr wrap="none" rtlCol="0">
              <a:spAutoFit/>
            </a:bodyPr>
            <a:lstStyle/>
            <a:p>
              <a:pPr algn="ctr"/>
              <a:r>
                <a:rPr kumimoji="1" lang="en-US" altLang="zh-CN" sz="1800" b="1" dirty="0">
                  <a:solidFill>
                    <a:srgbClr val="26CCC5"/>
                  </a:solidFill>
                </a:rPr>
                <a:t>P</a:t>
              </a:r>
              <a:endParaRPr kumimoji="1" lang="zh-CN" altLang="en-US" sz="1800" b="1" dirty="0">
                <a:solidFill>
                  <a:srgbClr val="26CCC5"/>
                </a:solidFill>
              </a:endParaRPr>
            </a:p>
          </p:txBody>
        </p:sp>
      </p:grpSp>
      <p:grpSp>
        <p:nvGrpSpPr>
          <p:cNvPr id="12" name="组合 11"/>
          <p:cNvGrpSpPr/>
          <p:nvPr/>
        </p:nvGrpSpPr>
        <p:grpSpPr>
          <a:xfrm>
            <a:off x="4168766" y="2434852"/>
            <a:ext cx="363124" cy="413514"/>
            <a:chOff x="4168089" y="382686"/>
            <a:chExt cx="807830" cy="807829"/>
          </a:xfrm>
        </p:grpSpPr>
        <p:sp>
          <p:nvSpPr>
            <p:cNvPr id="9" name="椭圆 8"/>
            <p:cNvSpPr/>
            <p:nvPr/>
          </p:nvSpPr>
          <p:spPr>
            <a:xfrm>
              <a:off x="4168089" y="382686"/>
              <a:ext cx="807830" cy="807829"/>
            </a:xfrm>
            <a:prstGeom prst="ellipse">
              <a:avLst/>
            </a:prstGeom>
            <a:solidFill>
              <a:schemeClr val="tx1"/>
            </a:solidFill>
            <a:ln w="76200" cmpd="sng">
              <a:solidFill>
                <a:schemeClr val="accent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0" name="文本框 9"/>
            <p:cNvSpPr txBox="1"/>
            <p:nvPr/>
          </p:nvSpPr>
          <p:spPr>
            <a:xfrm>
              <a:off x="4304865" y="443558"/>
              <a:ext cx="534260" cy="508850"/>
            </a:xfrm>
            <a:prstGeom prst="rect">
              <a:avLst/>
            </a:prstGeom>
            <a:noFill/>
          </p:spPr>
          <p:txBody>
            <a:bodyPr wrap="none" rtlCol="0">
              <a:spAutoFit/>
            </a:bodyPr>
            <a:lstStyle/>
            <a:p>
              <a:pPr algn="ctr"/>
              <a:r>
                <a:rPr kumimoji="1" lang="en-US" altLang="zh-CN" sz="1800" b="1" dirty="0">
                  <a:solidFill>
                    <a:schemeClr val="accent3"/>
                  </a:solidFill>
                </a:rPr>
                <a:t>O</a:t>
              </a:r>
              <a:endParaRPr kumimoji="1" lang="zh-CN" altLang="en-US" sz="1800" b="1" dirty="0">
                <a:solidFill>
                  <a:schemeClr val="accent3"/>
                </a:solidFill>
              </a:endParaRPr>
            </a:p>
          </p:txBody>
        </p:sp>
      </p:grpSp>
      <p:grpSp>
        <p:nvGrpSpPr>
          <p:cNvPr id="13" name="组合 12"/>
          <p:cNvGrpSpPr/>
          <p:nvPr/>
        </p:nvGrpSpPr>
        <p:grpSpPr>
          <a:xfrm>
            <a:off x="4692282" y="2434852"/>
            <a:ext cx="363124" cy="413514"/>
            <a:chOff x="5165176" y="382686"/>
            <a:chExt cx="807829" cy="807829"/>
          </a:xfrm>
        </p:grpSpPr>
        <p:sp>
          <p:nvSpPr>
            <p:cNvPr id="15" name="椭圆 14"/>
            <p:cNvSpPr/>
            <p:nvPr/>
          </p:nvSpPr>
          <p:spPr>
            <a:xfrm>
              <a:off x="5165176" y="382686"/>
              <a:ext cx="807829" cy="807829"/>
            </a:xfrm>
            <a:prstGeom prst="ellipse">
              <a:avLst/>
            </a:prstGeom>
            <a:solidFill>
              <a:schemeClr val="tx1"/>
            </a:solidFill>
            <a:ln w="76200" cmpd="sng">
              <a:solidFill>
                <a:srgbClr val="104D7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6" name="文本框 15"/>
            <p:cNvSpPr txBox="1"/>
            <p:nvPr/>
          </p:nvSpPr>
          <p:spPr>
            <a:xfrm>
              <a:off x="5301956" y="443558"/>
              <a:ext cx="534259" cy="508850"/>
            </a:xfrm>
            <a:prstGeom prst="rect">
              <a:avLst/>
            </a:prstGeom>
            <a:noFill/>
          </p:spPr>
          <p:txBody>
            <a:bodyPr wrap="none" rtlCol="0">
              <a:spAutoFit/>
            </a:bodyPr>
            <a:lstStyle/>
            <a:p>
              <a:pPr algn="ctr"/>
              <a:r>
                <a:rPr kumimoji="1" lang="en-US" altLang="zh-CN" sz="1800" b="1" dirty="0">
                  <a:solidFill>
                    <a:schemeClr val="accent1"/>
                  </a:solidFill>
                </a:rPr>
                <a:t>G</a:t>
              </a:r>
              <a:endParaRPr kumimoji="1" lang="zh-CN" altLang="en-US" sz="1800" b="1" dirty="0">
                <a:solidFill>
                  <a:schemeClr val="accent1"/>
                </a:solidFill>
              </a:endParaRPr>
            </a:p>
          </p:txBody>
        </p:sp>
      </p:grpSp>
      <p:grpSp>
        <p:nvGrpSpPr>
          <p:cNvPr id="14" name="组合 13"/>
          <p:cNvGrpSpPr/>
          <p:nvPr/>
        </p:nvGrpSpPr>
        <p:grpSpPr>
          <a:xfrm>
            <a:off x="5215798" y="2434852"/>
            <a:ext cx="363124" cy="413514"/>
            <a:chOff x="6162270" y="382686"/>
            <a:chExt cx="807830" cy="807829"/>
          </a:xfrm>
        </p:grpSpPr>
        <p:sp>
          <p:nvSpPr>
            <p:cNvPr id="18" name="椭圆 17"/>
            <p:cNvSpPr/>
            <p:nvPr/>
          </p:nvSpPr>
          <p:spPr>
            <a:xfrm>
              <a:off x="6162270" y="382686"/>
              <a:ext cx="807830" cy="807829"/>
            </a:xfrm>
            <a:prstGeom prst="ellipse">
              <a:avLst/>
            </a:prstGeom>
            <a:solidFill>
              <a:schemeClr val="tx1"/>
            </a:solidFill>
            <a:ln w="76200" cmpd="sng">
              <a:solidFill>
                <a:schemeClr val="accent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9" name="文本框 18"/>
            <p:cNvSpPr txBox="1"/>
            <p:nvPr/>
          </p:nvSpPr>
          <p:spPr>
            <a:xfrm>
              <a:off x="6340893" y="443558"/>
              <a:ext cx="450570" cy="508850"/>
            </a:xfrm>
            <a:prstGeom prst="rect">
              <a:avLst/>
            </a:prstGeom>
            <a:noFill/>
          </p:spPr>
          <p:txBody>
            <a:bodyPr wrap="none" rtlCol="0">
              <a:spAutoFit/>
            </a:bodyPr>
            <a:lstStyle/>
            <a:p>
              <a:pPr algn="ctr"/>
              <a:r>
                <a:rPr kumimoji="1" lang="en-US" altLang="zh-CN" sz="1800" b="1" dirty="0">
                  <a:solidFill>
                    <a:schemeClr val="accent6"/>
                  </a:solidFill>
                </a:rPr>
                <a:t>R</a:t>
              </a:r>
              <a:endParaRPr kumimoji="1" lang="zh-CN" altLang="en-US" sz="1800" b="1" dirty="0">
                <a:solidFill>
                  <a:schemeClr val="accent6"/>
                </a:solidFill>
              </a:endParaRPr>
            </a:p>
          </p:txBody>
        </p:sp>
      </p:grpSp>
      <p:sp>
        <p:nvSpPr>
          <p:cNvPr id="17" name="文本框 16"/>
          <p:cNvSpPr txBox="1"/>
          <p:nvPr/>
        </p:nvSpPr>
        <p:spPr>
          <a:xfrm>
            <a:off x="0" y="4193074"/>
            <a:ext cx="12197644" cy="433965"/>
          </a:xfrm>
          <a:prstGeom prst="rect">
            <a:avLst/>
          </a:prstGeom>
          <a:noFill/>
          <a:ln>
            <a:noFill/>
          </a:ln>
        </p:spPr>
        <p:txBody>
          <a:bodyPr wrap="square" rtlCol="0">
            <a:spAutoFit/>
          </a:bodyPr>
          <a:lstStyle/>
          <a:p>
            <a:pPr algn="ctr">
              <a:lnSpc>
                <a:spcPct val="90000"/>
              </a:lnSpc>
            </a:pPr>
            <a:r>
              <a:rPr kumimoji="1" lang="zh-CN" altLang="en-US" b="1" dirty="0">
                <a:latin typeface="华光行书_CNKI" panose="02000500000000000000" pitchFamily="2" charset="-122"/>
                <a:ea typeface="华光行书_CNKI" panose="02000500000000000000" pitchFamily="2" charset="-122"/>
              </a:rPr>
              <a:t>一脉相承 各有千秋</a:t>
            </a:r>
            <a:endParaRPr kumimoji="1" lang="en-US" altLang="zh-CN" b="1" dirty="0">
              <a:latin typeface="华光行书_CNKI" panose="02000500000000000000" pitchFamily="2" charset="-122"/>
              <a:ea typeface="华光行书_CNKI" panose="02000500000000000000" pitchFamily="2" charset="-122"/>
            </a:endParaRPr>
          </a:p>
        </p:txBody>
      </p:sp>
      <p:cxnSp>
        <p:nvCxnSpPr>
          <p:cNvPr id="3" name="直线连接符 2"/>
          <p:cNvCxnSpPr>
            <a:cxnSpLocks/>
          </p:cNvCxnSpPr>
          <p:nvPr/>
        </p:nvCxnSpPr>
        <p:spPr>
          <a:xfrm>
            <a:off x="1730618" y="3946163"/>
            <a:ext cx="8724900"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1" name="组合 20">
            <a:extLst>
              <a:ext uri="{FF2B5EF4-FFF2-40B4-BE49-F238E27FC236}">
                <a16:creationId xmlns:a16="http://schemas.microsoft.com/office/drawing/2014/main" id="{82FF5E2B-968F-4983-AA69-D0255BF69A6B}"/>
              </a:ext>
            </a:extLst>
          </p:cNvPr>
          <p:cNvGrpSpPr/>
          <p:nvPr/>
        </p:nvGrpSpPr>
        <p:grpSpPr>
          <a:xfrm>
            <a:off x="6262830" y="2434852"/>
            <a:ext cx="363125" cy="413514"/>
            <a:chOff x="3170996" y="382686"/>
            <a:chExt cx="807829" cy="807829"/>
          </a:xfrm>
        </p:grpSpPr>
        <p:sp>
          <p:nvSpPr>
            <p:cNvPr id="22" name="椭圆 21">
              <a:extLst>
                <a:ext uri="{FF2B5EF4-FFF2-40B4-BE49-F238E27FC236}">
                  <a16:creationId xmlns:a16="http://schemas.microsoft.com/office/drawing/2014/main" id="{69FDA05E-C5DE-4BD3-B147-0A8A8E4A7272}"/>
                </a:ext>
              </a:extLst>
            </p:cNvPr>
            <p:cNvSpPr/>
            <p:nvPr/>
          </p:nvSpPr>
          <p:spPr>
            <a:xfrm>
              <a:off x="3170996" y="382686"/>
              <a:ext cx="807829" cy="807829"/>
            </a:xfrm>
            <a:prstGeom prst="ellipse">
              <a:avLst/>
            </a:prstGeom>
            <a:solidFill>
              <a:schemeClr val="tx1"/>
            </a:solidFill>
            <a:ln w="76200" cmpd="sng">
              <a:solidFill>
                <a:schemeClr val="accent5"/>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3" name="文本框 22">
              <a:extLst>
                <a:ext uri="{FF2B5EF4-FFF2-40B4-BE49-F238E27FC236}">
                  <a16:creationId xmlns:a16="http://schemas.microsoft.com/office/drawing/2014/main" id="{DC448F4D-31E2-469F-9A7E-C21EECAAABD1}"/>
                </a:ext>
              </a:extLst>
            </p:cNvPr>
            <p:cNvSpPr txBox="1"/>
            <p:nvPr/>
          </p:nvSpPr>
          <p:spPr>
            <a:xfrm>
              <a:off x="3297601" y="443558"/>
              <a:ext cx="554615" cy="508850"/>
            </a:xfrm>
            <a:prstGeom prst="rect">
              <a:avLst/>
            </a:prstGeom>
            <a:noFill/>
          </p:spPr>
          <p:txBody>
            <a:bodyPr wrap="none" rtlCol="0">
              <a:spAutoFit/>
            </a:bodyPr>
            <a:lstStyle/>
            <a:p>
              <a:pPr algn="ctr"/>
              <a:r>
                <a:rPr kumimoji="1" lang="en-US" altLang="zh-CN" sz="1800" b="1" dirty="0">
                  <a:solidFill>
                    <a:schemeClr val="accent5"/>
                  </a:solidFill>
                </a:rPr>
                <a:t>M</a:t>
              </a:r>
              <a:endParaRPr kumimoji="1" lang="zh-CN" altLang="en-US" sz="1800" b="1" dirty="0">
                <a:solidFill>
                  <a:schemeClr val="accent5"/>
                </a:solidFill>
              </a:endParaRPr>
            </a:p>
          </p:txBody>
        </p:sp>
      </p:grpSp>
      <p:grpSp>
        <p:nvGrpSpPr>
          <p:cNvPr id="24" name="组合 23">
            <a:extLst>
              <a:ext uri="{FF2B5EF4-FFF2-40B4-BE49-F238E27FC236}">
                <a16:creationId xmlns:a16="http://schemas.microsoft.com/office/drawing/2014/main" id="{53B0A5A3-8939-4A4D-A5CE-CA844F988E59}"/>
              </a:ext>
            </a:extLst>
          </p:cNvPr>
          <p:cNvGrpSpPr/>
          <p:nvPr/>
        </p:nvGrpSpPr>
        <p:grpSpPr>
          <a:xfrm>
            <a:off x="5739314" y="2434852"/>
            <a:ext cx="363124" cy="413514"/>
            <a:chOff x="2173906" y="382686"/>
            <a:chExt cx="807829" cy="807829"/>
          </a:xfrm>
        </p:grpSpPr>
        <p:sp>
          <p:nvSpPr>
            <p:cNvPr id="25" name="椭圆 24">
              <a:extLst>
                <a:ext uri="{FF2B5EF4-FFF2-40B4-BE49-F238E27FC236}">
                  <a16:creationId xmlns:a16="http://schemas.microsoft.com/office/drawing/2014/main" id="{B481AC01-11C7-42EA-B1CC-0DEF571A0498}"/>
                </a:ext>
              </a:extLst>
            </p:cNvPr>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6" name="文本框 25">
              <a:extLst>
                <a:ext uri="{FF2B5EF4-FFF2-40B4-BE49-F238E27FC236}">
                  <a16:creationId xmlns:a16="http://schemas.microsoft.com/office/drawing/2014/main" id="{9A32D12B-6482-4BB8-9FD4-3FE7F1EE81A0}"/>
                </a:ext>
              </a:extLst>
            </p:cNvPr>
            <p:cNvSpPr txBox="1"/>
            <p:nvPr/>
          </p:nvSpPr>
          <p:spPr>
            <a:xfrm>
              <a:off x="2326521" y="443558"/>
              <a:ext cx="502594" cy="508850"/>
            </a:xfrm>
            <a:prstGeom prst="rect">
              <a:avLst/>
            </a:prstGeom>
            <a:noFill/>
          </p:spPr>
          <p:txBody>
            <a:bodyPr wrap="none" rtlCol="0">
              <a:spAutoFit/>
            </a:bodyPr>
            <a:lstStyle/>
            <a:p>
              <a:pPr algn="ctr"/>
              <a:r>
                <a:rPr kumimoji="1" lang="en-US" altLang="zh-CN" sz="1800" b="1" dirty="0">
                  <a:solidFill>
                    <a:srgbClr val="26CCC5"/>
                  </a:solidFill>
                </a:rPr>
                <a:t>A</a:t>
              </a:r>
              <a:endParaRPr kumimoji="1" lang="zh-CN" altLang="en-US" sz="1800" b="1" dirty="0">
                <a:solidFill>
                  <a:srgbClr val="26CCC5"/>
                </a:solidFill>
              </a:endParaRPr>
            </a:p>
          </p:txBody>
        </p:sp>
      </p:grpSp>
      <p:grpSp>
        <p:nvGrpSpPr>
          <p:cNvPr id="27" name="组合 26">
            <a:extLst>
              <a:ext uri="{FF2B5EF4-FFF2-40B4-BE49-F238E27FC236}">
                <a16:creationId xmlns:a16="http://schemas.microsoft.com/office/drawing/2014/main" id="{5E928632-5174-4A81-8188-2424A6BCE693}"/>
              </a:ext>
            </a:extLst>
          </p:cNvPr>
          <p:cNvGrpSpPr/>
          <p:nvPr/>
        </p:nvGrpSpPr>
        <p:grpSpPr>
          <a:xfrm>
            <a:off x="6786347" y="2434852"/>
            <a:ext cx="363124" cy="413514"/>
            <a:chOff x="4168089" y="382686"/>
            <a:chExt cx="807830" cy="807829"/>
          </a:xfrm>
        </p:grpSpPr>
        <p:sp>
          <p:nvSpPr>
            <p:cNvPr id="28" name="椭圆 27">
              <a:extLst>
                <a:ext uri="{FF2B5EF4-FFF2-40B4-BE49-F238E27FC236}">
                  <a16:creationId xmlns:a16="http://schemas.microsoft.com/office/drawing/2014/main" id="{E3F30FF9-B929-4714-AE37-FD8C1E60C9FA}"/>
                </a:ext>
              </a:extLst>
            </p:cNvPr>
            <p:cNvSpPr/>
            <p:nvPr/>
          </p:nvSpPr>
          <p:spPr>
            <a:xfrm>
              <a:off x="4168089" y="382686"/>
              <a:ext cx="807830" cy="807829"/>
            </a:xfrm>
            <a:prstGeom prst="ellipse">
              <a:avLst/>
            </a:prstGeom>
            <a:solidFill>
              <a:schemeClr val="tx1"/>
            </a:solidFill>
            <a:ln w="76200" cmpd="sng">
              <a:solidFill>
                <a:schemeClr val="accent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9" name="文本框 28">
              <a:extLst>
                <a:ext uri="{FF2B5EF4-FFF2-40B4-BE49-F238E27FC236}">
                  <a16:creationId xmlns:a16="http://schemas.microsoft.com/office/drawing/2014/main" id="{F367262D-8BB8-4917-83EE-13C6F604B7DB}"/>
                </a:ext>
              </a:extLst>
            </p:cNvPr>
            <p:cNvSpPr txBox="1"/>
            <p:nvPr/>
          </p:nvSpPr>
          <p:spPr>
            <a:xfrm>
              <a:off x="4294687" y="443558"/>
              <a:ext cx="554617" cy="508850"/>
            </a:xfrm>
            <a:prstGeom prst="rect">
              <a:avLst/>
            </a:prstGeom>
            <a:noFill/>
          </p:spPr>
          <p:txBody>
            <a:bodyPr wrap="none" rtlCol="0">
              <a:spAutoFit/>
            </a:bodyPr>
            <a:lstStyle/>
            <a:p>
              <a:pPr algn="ctr"/>
              <a:r>
                <a:rPr kumimoji="1" lang="en-US" altLang="zh-CN" sz="1800" b="1" dirty="0">
                  <a:solidFill>
                    <a:schemeClr val="accent3"/>
                  </a:solidFill>
                </a:rPr>
                <a:t>M</a:t>
              </a:r>
              <a:endParaRPr kumimoji="1" lang="zh-CN" altLang="en-US" sz="1800" b="1" dirty="0">
                <a:solidFill>
                  <a:schemeClr val="accent3"/>
                </a:solidFill>
              </a:endParaRPr>
            </a:p>
          </p:txBody>
        </p:sp>
      </p:grpSp>
      <p:grpSp>
        <p:nvGrpSpPr>
          <p:cNvPr id="30" name="组合 29">
            <a:extLst>
              <a:ext uri="{FF2B5EF4-FFF2-40B4-BE49-F238E27FC236}">
                <a16:creationId xmlns:a16="http://schemas.microsoft.com/office/drawing/2014/main" id="{713B54DD-FA9B-4F67-A1B9-1A5BFBF4C1E8}"/>
              </a:ext>
            </a:extLst>
          </p:cNvPr>
          <p:cNvGrpSpPr/>
          <p:nvPr/>
        </p:nvGrpSpPr>
        <p:grpSpPr>
          <a:xfrm>
            <a:off x="7309863" y="2434852"/>
            <a:ext cx="363124" cy="413514"/>
            <a:chOff x="5165176" y="382686"/>
            <a:chExt cx="807829" cy="807829"/>
          </a:xfrm>
        </p:grpSpPr>
        <p:sp>
          <p:nvSpPr>
            <p:cNvPr id="31" name="椭圆 30">
              <a:extLst>
                <a:ext uri="{FF2B5EF4-FFF2-40B4-BE49-F238E27FC236}">
                  <a16:creationId xmlns:a16="http://schemas.microsoft.com/office/drawing/2014/main" id="{74C96447-7AA1-416E-BE12-B2194AA8E056}"/>
                </a:ext>
              </a:extLst>
            </p:cNvPr>
            <p:cNvSpPr/>
            <p:nvPr/>
          </p:nvSpPr>
          <p:spPr>
            <a:xfrm>
              <a:off x="5165176" y="382686"/>
              <a:ext cx="807829" cy="807829"/>
            </a:xfrm>
            <a:prstGeom prst="ellipse">
              <a:avLst/>
            </a:prstGeom>
            <a:solidFill>
              <a:schemeClr val="tx1"/>
            </a:solidFill>
            <a:ln w="76200" cmpd="sng">
              <a:solidFill>
                <a:srgbClr val="104D7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2" name="文本框 31">
              <a:extLst>
                <a:ext uri="{FF2B5EF4-FFF2-40B4-BE49-F238E27FC236}">
                  <a16:creationId xmlns:a16="http://schemas.microsoft.com/office/drawing/2014/main" id="{8FC93182-7886-4A62-9FD2-52B8CBCA9AC3}"/>
                </a:ext>
              </a:extLst>
            </p:cNvPr>
            <p:cNvSpPr txBox="1"/>
            <p:nvPr/>
          </p:nvSpPr>
          <p:spPr>
            <a:xfrm>
              <a:off x="5393561" y="443558"/>
              <a:ext cx="351046" cy="508850"/>
            </a:xfrm>
            <a:prstGeom prst="rect">
              <a:avLst/>
            </a:prstGeom>
            <a:noFill/>
          </p:spPr>
          <p:txBody>
            <a:bodyPr wrap="none" rtlCol="0">
              <a:spAutoFit/>
            </a:bodyPr>
            <a:lstStyle/>
            <a:p>
              <a:pPr algn="ctr"/>
              <a:r>
                <a:rPr kumimoji="1" lang="en-US" altLang="zh-CN" sz="1800" b="1" dirty="0">
                  <a:solidFill>
                    <a:schemeClr val="accent1"/>
                  </a:solidFill>
                </a:rPr>
                <a:t>I</a:t>
              </a:r>
              <a:endParaRPr kumimoji="1" lang="zh-CN" altLang="en-US" sz="1800" b="1" dirty="0">
                <a:solidFill>
                  <a:schemeClr val="accent1"/>
                </a:solidFill>
              </a:endParaRPr>
            </a:p>
          </p:txBody>
        </p:sp>
      </p:grpSp>
      <p:grpSp>
        <p:nvGrpSpPr>
          <p:cNvPr id="33" name="组合 32">
            <a:extLst>
              <a:ext uri="{FF2B5EF4-FFF2-40B4-BE49-F238E27FC236}">
                <a16:creationId xmlns:a16="http://schemas.microsoft.com/office/drawing/2014/main" id="{AE4F6443-905A-40E2-BC32-00244DBAACB0}"/>
              </a:ext>
            </a:extLst>
          </p:cNvPr>
          <p:cNvGrpSpPr/>
          <p:nvPr/>
        </p:nvGrpSpPr>
        <p:grpSpPr>
          <a:xfrm>
            <a:off x="7833379" y="2434852"/>
            <a:ext cx="363124" cy="413514"/>
            <a:chOff x="6162270" y="382686"/>
            <a:chExt cx="807830" cy="807829"/>
          </a:xfrm>
        </p:grpSpPr>
        <p:sp>
          <p:nvSpPr>
            <p:cNvPr id="34" name="椭圆 33">
              <a:extLst>
                <a:ext uri="{FF2B5EF4-FFF2-40B4-BE49-F238E27FC236}">
                  <a16:creationId xmlns:a16="http://schemas.microsoft.com/office/drawing/2014/main" id="{196D3505-14F1-4BF5-8945-C781F2CA3DD7}"/>
                </a:ext>
              </a:extLst>
            </p:cNvPr>
            <p:cNvSpPr/>
            <p:nvPr/>
          </p:nvSpPr>
          <p:spPr>
            <a:xfrm>
              <a:off x="6162270" y="382686"/>
              <a:ext cx="807830" cy="807829"/>
            </a:xfrm>
            <a:prstGeom prst="ellipse">
              <a:avLst/>
            </a:prstGeom>
            <a:solidFill>
              <a:schemeClr val="tx1"/>
            </a:solidFill>
            <a:ln w="76200" cmpd="sng">
              <a:solidFill>
                <a:schemeClr val="accent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5" name="文本框 34">
              <a:extLst>
                <a:ext uri="{FF2B5EF4-FFF2-40B4-BE49-F238E27FC236}">
                  <a16:creationId xmlns:a16="http://schemas.microsoft.com/office/drawing/2014/main" id="{C60A2BE7-434A-4388-96A8-24244761BE4C}"/>
                </a:ext>
              </a:extLst>
            </p:cNvPr>
            <p:cNvSpPr txBox="1"/>
            <p:nvPr/>
          </p:nvSpPr>
          <p:spPr>
            <a:xfrm>
              <a:off x="6314879" y="443558"/>
              <a:ext cx="502594" cy="508850"/>
            </a:xfrm>
            <a:prstGeom prst="rect">
              <a:avLst/>
            </a:prstGeom>
            <a:noFill/>
          </p:spPr>
          <p:txBody>
            <a:bodyPr wrap="none" rtlCol="0">
              <a:spAutoFit/>
            </a:bodyPr>
            <a:lstStyle/>
            <a:p>
              <a:pPr algn="ctr"/>
              <a:r>
                <a:rPr kumimoji="1" lang="en-US" altLang="zh-CN" sz="1800" b="1" dirty="0">
                  <a:solidFill>
                    <a:schemeClr val="accent6"/>
                  </a:solidFill>
                </a:rPr>
                <a:t>N</a:t>
              </a:r>
              <a:endParaRPr kumimoji="1" lang="zh-CN" altLang="en-US" sz="1800" b="1" dirty="0">
                <a:solidFill>
                  <a:schemeClr val="accent6"/>
                </a:solidFill>
              </a:endParaRPr>
            </a:p>
          </p:txBody>
        </p:sp>
      </p:grpSp>
      <p:grpSp>
        <p:nvGrpSpPr>
          <p:cNvPr id="36" name="组合 35">
            <a:extLst>
              <a:ext uri="{FF2B5EF4-FFF2-40B4-BE49-F238E27FC236}">
                <a16:creationId xmlns:a16="http://schemas.microsoft.com/office/drawing/2014/main" id="{02608C73-10E9-4E79-A21B-887B7FF64371}"/>
              </a:ext>
            </a:extLst>
          </p:cNvPr>
          <p:cNvGrpSpPr/>
          <p:nvPr/>
        </p:nvGrpSpPr>
        <p:grpSpPr>
          <a:xfrm>
            <a:off x="8356894" y="2434852"/>
            <a:ext cx="363124" cy="413514"/>
            <a:chOff x="2173906" y="382686"/>
            <a:chExt cx="807829" cy="807829"/>
          </a:xfrm>
        </p:grpSpPr>
        <p:sp>
          <p:nvSpPr>
            <p:cNvPr id="37" name="椭圆 36">
              <a:extLst>
                <a:ext uri="{FF2B5EF4-FFF2-40B4-BE49-F238E27FC236}">
                  <a16:creationId xmlns:a16="http://schemas.microsoft.com/office/drawing/2014/main" id="{EE93575D-B2A7-4436-9F0F-52BCA3D0924E}"/>
                </a:ext>
              </a:extLst>
            </p:cNvPr>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8" name="文本框 37">
              <a:extLst>
                <a:ext uri="{FF2B5EF4-FFF2-40B4-BE49-F238E27FC236}">
                  <a16:creationId xmlns:a16="http://schemas.microsoft.com/office/drawing/2014/main" id="{DC5A2224-2232-4FF8-97F8-62FF709E299C}"/>
                </a:ext>
              </a:extLst>
            </p:cNvPr>
            <p:cNvSpPr txBox="1"/>
            <p:nvPr/>
          </p:nvSpPr>
          <p:spPr>
            <a:xfrm>
              <a:off x="2310689" y="443558"/>
              <a:ext cx="534259" cy="508850"/>
            </a:xfrm>
            <a:prstGeom prst="rect">
              <a:avLst/>
            </a:prstGeom>
            <a:noFill/>
          </p:spPr>
          <p:txBody>
            <a:bodyPr wrap="none" rtlCol="0">
              <a:spAutoFit/>
            </a:bodyPr>
            <a:lstStyle/>
            <a:p>
              <a:pPr algn="ctr"/>
              <a:r>
                <a:rPr kumimoji="1" lang="en-US" altLang="zh-CN" sz="1800" b="1" dirty="0">
                  <a:solidFill>
                    <a:srgbClr val="26CCC5"/>
                  </a:solidFill>
                </a:rPr>
                <a:t>G</a:t>
              </a:r>
              <a:endParaRPr kumimoji="1" lang="zh-CN" altLang="en-US" sz="1800" b="1" dirty="0">
                <a:solidFill>
                  <a:srgbClr val="26CCC5"/>
                </a:solidFill>
              </a:endParaRPr>
            </a:p>
          </p:txBody>
        </p:sp>
      </p:grpSp>
      <p:sp>
        <p:nvSpPr>
          <p:cNvPr id="39" name="文本框 38">
            <a:extLst>
              <a:ext uri="{FF2B5EF4-FFF2-40B4-BE49-F238E27FC236}">
                <a16:creationId xmlns:a16="http://schemas.microsoft.com/office/drawing/2014/main" id="{EE8ED911-8AAC-0338-BB61-D64E459EEC1C}"/>
              </a:ext>
            </a:extLst>
          </p:cNvPr>
          <p:cNvSpPr txBox="1"/>
          <p:nvPr/>
        </p:nvSpPr>
        <p:spPr>
          <a:xfrm>
            <a:off x="115346" y="5291201"/>
            <a:ext cx="12082298" cy="424732"/>
          </a:xfrm>
          <a:prstGeom prst="rect">
            <a:avLst/>
          </a:prstGeom>
          <a:noFill/>
          <a:ln>
            <a:noFill/>
          </a:ln>
        </p:spPr>
        <p:txBody>
          <a:bodyPr wrap="square" rtlCol="0">
            <a:spAutoFit/>
          </a:bodyPr>
          <a:lstStyle/>
          <a:p>
            <a:pPr algn="ctr">
              <a:lnSpc>
                <a:spcPct val="90000"/>
              </a:lnSpc>
            </a:pPr>
            <a:r>
              <a:rPr kumimoji="1" lang="zh-CN" altLang="en-US" b="1" dirty="0"/>
              <a:t>计算机与信息学院</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627" y="193734"/>
            <a:ext cx="12190413" cy="728917"/>
          </a:xfrm>
          <a:prstGeom prst="rect">
            <a:avLst/>
          </a:prstGeom>
          <a:solidFill>
            <a:srgbClr val="104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729992" y="226553"/>
            <a:ext cx="2528034" cy="646331"/>
          </a:xfrm>
          <a:prstGeom prst="rect">
            <a:avLst/>
          </a:prstGeom>
          <a:noFill/>
        </p:spPr>
        <p:txBody>
          <a:bodyPr wrap="square" rtlCol="0">
            <a:spAutoFit/>
          </a:bodyPr>
          <a:lstStyle/>
          <a:p>
            <a:r>
              <a:rPr kumimoji="1" lang="zh-CN" altLang="en-US" sz="3600" b="1" dirty="0"/>
              <a:t>目录</a:t>
            </a:r>
          </a:p>
        </p:txBody>
      </p:sp>
      <p:sp>
        <p:nvSpPr>
          <p:cNvPr id="80" name="Rectangle 5">
            <a:extLst>
              <a:ext uri="{FF2B5EF4-FFF2-40B4-BE49-F238E27FC236}">
                <a16:creationId xmlns:a16="http://schemas.microsoft.com/office/drawing/2014/main" id="{B7397FA8-FFF9-47E7-AB70-521BC687AE79}"/>
              </a:ext>
            </a:extLst>
          </p:cNvPr>
          <p:cNvSpPr>
            <a:spLocks noChangeArrowheads="1"/>
          </p:cNvSpPr>
          <p:nvPr/>
        </p:nvSpPr>
        <p:spPr bwMode="auto">
          <a:xfrm>
            <a:off x="53627" y="312204"/>
            <a:ext cx="747811" cy="897523"/>
          </a:xfrm>
          <a:prstGeom prst="roundRect">
            <a:avLst/>
          </a:prstGeom>
          <a:solidFill>
            <a:srgbClr val="134F85"/>
          </a:solidFill>
          <a:ln>
            <a:noFill/>
          </a:ln>
        </p:spPr>
        <p:txBody>
          <a:bodyPr lIns="68571" tIns="34285" rIns="68571" bIns="34285"/>
          <a:lstStyle/>
          <a:p>
            <a:endParaRPr lang="zh-CN" altLang="en-US" kern="0" dirty="0">
              <a:solidFill>
                <a:sysClr val="windowText" lastClr="000000"/>
              </a:solidFill>
              <a:latin typeface="Times New Roman" panose="02020603050405020304" pitchFamily="18" charset="0"/>
              <a:cs typeface="Times New Roman" panose="02020603050405020304" pitchFamily="18" charset="0"/>
              <a:sym typeface="+mn-lt"/>
            </a:endParaRPr>
          </a:p>
        </p:txBody>
      </p:sp>
      <p:sp>
        <p:nvSpPr>
          <p:cNvPr id="85" name="Freeform 6">
            <a:extLst>
              <a:ext uri="{FF2B5EF4-FFF2-40B4-BE49-F238E27FC236}">
                <a16:creationId xmlns:a16="http://schemas.microsoft.com/office/drawing/2014/main" id="{51697D07-9E8B-4596-A1A4-60EC372D1875}"/>
              </a:ext>
            </a:extLst>
          </p:cNvPr>
          <p:cNvSpPr/>
          <p:nvPr/>
        </p:nvSpPr>
        <p:spPr bwMode="auto">
          <a:xfrm>
            <a:off x="158417" y="385414"/>
            <a:ext cx="571575" cy="718971"/>
          </a:xfrm>
          <a:custGeom>
            <a:avLst/>
            <a:gdLst>
              <a:gd name="T0" fmla="*/ 734716 w 1173"/>
              <a:gd name="T1" fmla="*/ 348495 h 1472"/>
              <a:gd name="T2" fmla="*/ 711330 w 1173"/>
              <a:gd name="T3" fmla="*/ 30615 h 1472"/>
              <a:gd name="T4" fmla="*/ 693141 w 1173"/>
              <a:gd name="T5" fmla="*/ 35175 h 1472"/>
              <a:gd name="T6" fmla="*/ 651565 w 1173"/>
              <a:gd name="T7" fmla="*/ 44295 h 1472"/>
              <a:gd name="T8" fmla="*/ 596997 w 1173"/>
              <a:gd name="T9" fmla="*/ 35175 h 1472"/>
              <a:gd name="T10" fmla="*/ 408609 w 1173"/>
              <a:gd name="T11" fmla="*/ 3257 h 1472"/>
              <a:gd name="T12" fmla="*/ 0 w 1173"/>
              <a:gd name="T13" fmla="*/ 500270 h 1472"/>
              <a:gd name="T14" fmla="*/ 417703 w 1173"/>
              <a:gd name="T15" fmla="*/ 955593 h 1472"/>
              <a:gd name="T16" fmla="*/ 762000 w 1173"/>
              <a:gd name="T17" fmla="*/ 707412 h 1472"/>
              <a:gd name="T18" fmla="*/ 706783 w 1173"/>
              <a:gd name="T19" fmla="*/ 674843 h 1472"/>
              <a:gd name="T20" fmla="*/ 449535 w 1173"/>
              <a:gd name="T21" fmla="*/ 891757 h 1472"/>
              <a:gd name="T22" fmla="*/ 188389 w 1173"/>
              <a:gd name="T23" fmla="*/ 472260 h 1472"/>
              <a:gd name="T24" fmla="*/ 417703 w 1173"/>
              <a:gd name="T25" fmla="*/ 67745 h 1472"/>
              <a:gd name="T26" fmla="*/ 679499 w 1173"/>
              <a:gd name="T27" fmla="*/ 371294 h 1472"/>
              <a:gd name="T28" fmla="*/ 734716 w 1173"/>
              <a:gd name="T29" fmla="*/ 348495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68571" tIns="34285" rIns="68571" bIns="34285"/>
          <a:lstStyle/>
          <a:p>
            <a:endParaRPr lang="zh-CN" altLang="en-US" kern="0">
              <a:solidFill>
                <a:sysClr val="windowText" lastClr="000000"/>
              </a:solidFill>
              <a:cs typeface="+mn-ea"/>
              <a:sym typeface="+mn-lt"/>
            </a:endParaRPr>
          </a:p>
        </p:txBody>
      </p:sp>
      <p:sp>
        <p:nvSpPr>
          <p:cNvPr id="94" name="Freeform 14">
            <a:extLst>
              <a:ext uri="{FF2B5EF4-FFF2-40B4-BE49-F238E27FC236}">
                <a16:creationId xmlns:a16="http://schemas.microsoft.com/office/drawing/2014/main" id="{C2734685-E184-4537-9B91-D51717144599}"/>
              </a:ext>
            </a:extLst>
          </p:cNvPr>
          <p:cNvSpPr/>
          <p:nvPr/>
        </p:nvSpPr>
        <p:spPr bwMode="auto">
          <a:xfrm>
            <a:off x="157480" y="2018354"/>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95" name="Freeform 15">
            <a:extLst>
              <a:ext uri="{FF2B5EF4-FFF2-40B4-BE49-F238E27FC236}">
                <a16:creationId xmlns:a16="http://schemas.microsoft.com/office/drawing/2014/main" id="{A793772A-5F44-4400-B13F-AC9E126E5742}"/>
              </a:ext>
            </a:extLst>
          </p:cNvPr>
          <p:cNvSpPr/>
          <p:nvPr/>
        </p:nvSpPr>
        <p:spPr bwMode="auto">
          <a:xfrm>
            <a:off x="265786" y="1938582"/>
            <a:ext cx="593889" cy="73819"/>
          </a:xfrm>
          <a:custGeom>
            <a:avLst/>
            <a:gdLst>
              <a:gd name="T0" fmla="*/ 58241460 w 1038"/>
              <a:gd name="T1" fmla="*/ 0 h 127"/>
              <a:gd name="T2" fmla="*/ 546306357 w 1038"/>
              <a:gd name="T3" fmla="*/ 0 h 127"/>
              <a:gd name="T4" fmla="*/ 604547817 w 1038"/>
              <a:gd name="T5" fmla="*/ 76279375 h 127"/>
              <a:gd name="T6" fmla="*/ 0 w 1038"/>
              <a:gd name="T7" fmla="*/ 76279375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96" name="Rectangle 16">
            <a:extLst>
              <a:ext uri="{FF2B5EF4-FFF2-40B4-BE49-F238E27FC236}">
                <a16:creationId xmlns:a16="http://schemas.microsoft.com/office/drawing/2014/main" id="{6F1CD838-5993-42AA-9AC7-009FCB69C16F}"/>
              </a:ext>
            </a:extLst>
          </p:cNvPr>
          <p:cNvSpPr>
            <a:spLocks noChangeArrowheads="1"/>
          </p:cNvSpPr>
          <p:nvPr/>
        </p:nvSpPr>
        <p:spPr bwMode="auto">
          <a:xfrm>
            <a:off x="322911" y="1938583"/>
            <a:ext cx="478444" cy="477441"/>
          </a:xfrm>
          <a:prstGeom prst="rect">
            <a:avLst/>
          </a:prstGeom>
          <a:solidFill>
            <a:srgbClr val="134F85"/>
          </a:solidFill>
          <a:ln>
            <a:noFill/>
          </a:ln>
        </p:spPr>
        <p:txBody>
          <a:bodyPr lIns="68563" tIns="34281" rIns="68563" bIns="34281"/>
          <a:lstStyle/>
          <a:p>
            <a:pPr>
              <a:buFontTx/>
              <a:buNone/>
            </a:pPr>
            <a:endParaRPr lang="zh-CN" altLang="en-US"/>
          </a:p>
        </p:txBody>
      </p:sp>
      <p:sp>
        <p:nvSpPr>
          <p:cNvPr id="97" name="Freeform 17">
            <a:extLst>
              <a:ext uri="{FF2B5EF4-FFF2-40B4-BE49-F238E27FC236}">
                <a16:creationId xmlns:a16="http://schemas.microsoft.com/office/drawing/2014/main" id="{720DB84E-10BF-474A-AB0E-14ED2E831F21}"/>
              </a:ext>
            </a:extLst>
          </p:cNvPr>
          <p:cNvSpPr/>
          <p:nvPr/>
        </p:nvSpPr>
        <p:spPr bwMode="auto">
          <a:xfrm>
            <a:off x="157480" y="2701774"/>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98" name="Freeform 18">
            <a:extLst>
              <a:ext uri="{FF2B5EF4-FFF2-40B4-BE49-F238E27FC236}">
                <a16:creationId xmlns:a16="http://schemas.microsoft.com/office/drawing/2014/main" id="{E8035C3D-2249-465E-A141-2FF566A87A8D}"/>
              </a:ext>
            </a:extLst>
          </p:cNvPr>
          <p:cNvSpPr/>
          <p:nvPr/>
        </p:nvSpPr>
        <p:spPr bwMode="auto">
          <a:xfrm>
            <a:off x="265786" y="2622002"/>
            <a:ext cx="593889" cy="73819"/>
          </a:xfrm>
          <a:custGeom>
            <a:avLst/>
            <a:gdLst>
              <a:gd name="T0" fmla="*/ 58241460 w 1038"/>
              <a:gd name="T1" fmla="*/ 0 h 127"/>
              <a:gd name="T2" fmla="*/ 546306357 w 1038"/>
              <a:gd name="T3" fmla="*/ 0 h 127"/>
              <a:gd name="T4" fmla="*/ 604547817 w 1038"/>
              <a:gd name="T5" fmla="*/ 76279375 h 127"/>
              <a:gd name="T6" fmla="*/ 0 w 1038"/>
              <a:gd name="T7" fmla="*/ 76279375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3" name="Rectangle 19">
            <a:extLst>
              <a:ext uri="{FF2B5EF4-FFF2-40B4-BE49-F238E27FC236}">
                <a16:creationId xmlns:a16="http://schemas.microsoft.com/office/drawing/2014/main" id="{69CE7149-12BC-4EE7-BC62-49EBEB86CDB6}"/>
              </a:ext>
            </a:extLst>
          </p:cNvPr>
          <p:cNvSpPr>
            <a:spLocks noChangeArrowheads="1"/>
          </p:cNvSpPr>
          <p:nvPr/>
        </p:nvSpPr>
        <p:spPr bwMode="auto">
          <a:xfrm>
            <a:off x="322911" y="2622002"/>
            <a:ext cx="478444" cy="477441"/>
          </a:xfrm>
          <a:prstGeom prst="rect">
            <a:avLst/>
          </a:prstGeom>
          <a:solidFill>
            <a:srgbClr val="134F85"/>
          </a:solidFill>
          <a:ln>
            <a:noFill/>
          </a:ln>
        </p:spPr>
        <p:txBody>
          <a:bodyPr lIns="68563" tIns="34281" rIns="68563" bIns="34281"/>
          <a:lstStyle/>
          <a:p>
            <a:pPr>
              <a:buFontTx/>
              <a:buNone/>
            </a:pPr>
            <a:endParaRPr lang="zh-CN" altLang="en-US"/>
          </a:p>
        </p:txBody>
      </p:sp>
      <p:sp>
        <p:nvSpPr>
          <p:cNvPr id="104" name="Freeform 20">
            <a:extLst>
              <a:ext uri="{FF2B5EF4-FFF2-40B4-BE49-F238E27FC236}">
                <a16:creationId xmlns:a16="http://schemas.microsoft.com/office/drawing/2014/main" id="{A0B57491-491C-4D07-96BC-7DBFD9537857}"/>
              </a:ext>
            </a:extLst>
          </p:cNvPr>
          <p:cNvSpPr/>
          <p:nvPr/>
        </p:nvSpPr>
        <p:spPr bwMode="auto">
          <a:xfrm>
            <a:off x="157480" y="3332805"/>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05" name="Freeform 21">
            <a:extLst>
              <a:ext uri="{FF2B5EF4-FFF2-40B4-BE49-F238E27FC236}">
                <a16:creationId xmlns:a16="http://schemas.microsoft.com/office/drawing/2014/main" id="{E942056E-E89F-49A8-9864-6DED726B8060}"/>
              </a:ext>
            </a:extLst>
          </p:cNvPr>
          <p:cNvSpPr/>
          <p:nvPr/>
        </p:nvSpPr>
        <p:spPr bwMode="auto">
          <a:xfrm>
            <a:off x="265786" y="3251843"/>
            <a:ext cx="593889" cy="75009"/>
          </a:xfrm>
          <a:custGeom>
            <a:avLst/>
            <a:gdLst>
              <a:gd name="T0" fmla="*/ 58241460 w 1038"/>
              <a:gd name="T1" fmla="*/ 0 h 128"/>
              <a:gd name="T2" fmla="*/ 546306357 w 1038"/>
              <a:gd name="T3" fmla="*/ 0 h 128"/>
              <a:gd name="T4" fmla="*/ 604547817 w 1038"/>
              <a:gd name="T5" fmla="*/ 78143751 h 128"/>
              <a:gd name="T6" fmla="*/ 0 w 1038"/>
              <a:gd name="T7" fmla="*/ 78143751 h 128"/>
              <a:gd name="T8" fmla="*/ 58241460 w 1038"/>
              <a:gd name="T9" fmla="*/ 0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8">
                <a:moveTo>
                  <a:pt x="100" y="0"/>
                </a:moveTo>
                <a:lnTo>
                  <a:pt x="938" y="0"/>
                </a:lnTo>
                <a:lnTo>
                  <a:pt x="1038" y="128"/>
                </a:lnTo>
                <a:lnTo>
                  <a:pt x="0" y="128"/>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6" name="Rectangle 22">
            <a:extLst>
              <a:ext uri="{FF2B5EF4-FFF2-40B4-BE49-F238E27FC236}">
                <a16:creationId xmlns:a16="http://schemas.microsoft.com/office/drawing/2014/main" id="{F818DDC1-CCCA-418B-86B4-DBB22B52367C}"/>
              </a:ext>
            </a:extLst>
          </p:cNvPr>
          <p:cNvSpPr>
            <a:spLocks noChangeArrowheads="1"/>
          </p:cNvSpPr>
          <p:nvPr/>
        </p:nvSpPr>
        <p:spPr bwMode="auto">
          <a:xfrm>
            <a:off x="322911" y="3251843"/>
            <a:ext cx="478444" cy="478631"/>
          </a:xfrm>
          <a:prstGeom prst="rect">
            <a:avLst/>
          </a:prstGeom>
          <a:solidFill>
            <a:srgbClr val="134F85"/>
          </a:solidFill>
          <a:ln>
            <a:noFill/>
          </a:ln>
        </p:spPr>
        <p:txBody>
          <a:bodyPr lIns="68563" tIns="34281" rIns="68563" bIns="34281"/>
          <a:lstStyle/>
          <a:p>
            <a:pPr>
              <a:buFontTx/>
              <a:buNone/>
            </a:pPr>
            <a:endParaRPr lang="zh-CN" altLang="en-US"/>
          </a:p>
        </p:txBody>
      </p:sp>
      <p:sp>
        <p:nvSpPr>
          <p:cNvPr id="107" name="Freeform 23">
            <a:extLst>
              <a:ext uri="{FF2B5EF4-FFF2-40B4-BE49-F238E27FC236}">
                <a16:creationId xmlns:a16="http://schemas.microsoft.com/office/drawing/2014/main" id="{7BE668D5-1A6B-4499-B31E-7E69CBF386BA}"/>
              </a:ext>
            </a:extLst>
          </p:cNvPr>
          <p:cNvSpPr/>
          <p:nvPr/>
        </p:nvSpPr>
        <p:spPr bwMode="auto">
          <a:xfrm>
            <a:off x="157480" y="4016224"/>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08" name="Freeform 24">
            <a:extLst>
              <a:ext uri="{FF2B5EF4-FFF2-40B4-BE49-F238E27FC236}">
                <a16:creationId xmlns:a16="http://schemas.microsoft.com/office/drawing/2014/main" id="{29733265-E06F-4932-910E-1C11B702C064}"/>
              </a:ext>
            </a:extLst>
          </p:cNvPr>
          <p:cNvSpPr/>
          <p:nvPr/>
        </p:nvSpPr>
        <p:spPr bwMode="auto">
          <a:xfrm>
            <a:off x="265786" y="3935262"/>
            <a:ext cx="593889" cy="75009"/>
          </a:xfrm>
          <a:custGeom>
            <a:avLst/>
            <a:gdLst>
              <a:gd name="T0" fmla="*/ 58241460 w 1038"/>
              <a:gd name="T1" fmla="*/ 0 h 128"/>
              <a:gd name="T2" fmla="*/ 546306357 w 1038"/>
              <a:gd name="T3" fmla="*/ 0 h 128"/>
              <a:gd name="T4" fmla="*/ 604547817 w 1038"/>
              <a:gd name="T5" fmla="*/ 78143751 h 128"/>
              <a:gd name="T6" fmla="*/ 0 w 1038"/>
              <a:gd name="T7" fmla="*/ 78143751 h 128"/>
              <a:gd name="T8" fmla="*/ 58241460 w 1038"/>
              <a:gd name="T9" fmla="*/ 0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8">
                <a:moveTo>
                  <a:pt x="100" y="0"/>
                </a:moveTo>
                <a:lnTo>
                  <a:pt x="938" y="0"/>
                </a:lnTo>
                <a:lnTo>
                  <a:pt x="1038" y="128"/>
                </a:lnTo>
                <a:lnTo>
                  <a:pt x="0" y="128"/>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9" name="Rectangle 25">
            <a:extLst>
              <a:ext uri="{FF2B5EF4-FFF2-40B4-BE49-F238E27FC236}">
                <a16:creationId xmlns:a16="http://schemas.microsoft.com/office/drawing/2014/main" id="{826A0BD5-9C82-413A-AFE1-B9103A35A993}"/>
              </a:ext>
            </a:extLst>
          </p:cNvPr>
          <p:cNvSpPr>
            <a:spLocks noChangeArrowheads="1"/>
          </p:cNvSpPr>
          <p:nvPr/>
        </p:nvSpPr>
        <p:spPr bwMode="auto">
          <a:xfrm>
            <a:off x="322911" y="3935263"/>
            <a:ext cx="478444" cy="478631"/>
          </a:xfrm>
          <a:prstGeom prst="rect">
            <a:avLst/>
          </a:prstGeom>
          <a:solidFill>
            <a:srgbClr val="134F85"/>
          </a:solidFill>
          <a:ln>
            <a:noFill/>
          </a:ln>
        </p:spPr>
        <p:txBody>
          <a:bodyPr lIns="68563" tIns="34281" rIns="68563" bIns="34281"/>
          <a:lstStyle/>
          <a:p>
            <a:pPr>
              <a:buFontTx/>
              <a:buNone/>
            </a:pPr>
            <a:endParaRPr lang="zh-CN" altLang="en-US"/>
          </a:p>
        </p:txBody>
      </p:sp>
      <p:sp>
        <p:nvSpPr>
          <p:cNvPr id="110" name="Freeform 26">
            <a:extLst>
              <a:ext uri="{FF2B5EF4-FFF2-40B4-BE49-F238E27FC236}">
                <a16:creationId xmlns:a16="http://schemas.microsoft.com/office/drawing/2014/main" id="{4618206C-A116-4538-9959-658163FA8D3A}"/>
              </a:ext>
            </a:extLst>
          </p:cNvPr>
          <p:cNvSpPr/>
          <p:nvPr/>
        </p:nvSpPr>
        <p:spPr bwMode="auto">
          <a:xfrm>
            <a:off x="157480" y="4655589"/>
            <a:ext cx="4797308" cy="454819"/>
          </a:xfrm>
          <a:custGeom>
            <a:avLst/>
            <a:gdLst>
              <a:gd name="T0" fmla="*/ 60743788 w 6963"/>
              <a:gd name="T1" fmla="*/ 0 h 794"/>
              <a:gd name="T2" fmla="*/ 2147483647 w 6963"/>
              <a:gd name="T3" fmla="*/ 0 h 794"/>
              <a:gd name="T4" fmla="*/ 2147483647 w 6963"/>
              <a:gd name="T5" fmla="*/ 50166012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166012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6"/>
                </a:cubicBezTo>
                <a:lnTo>
                  <a:pt x="6963" y="707"/>
                </a:lnTo>
                <a:cubicBezTo>
                  <a:pt x="6963" y="754"/>
                  <a:pt x="6924" y="794"/>
                  <a:pt x="6876" y="794"/>
                </a:cubicBezTo>
                <a:lnTo>
                  <a:pt x="87" y="794"/>
                </a:lnTo>
                <a:cubicBezTo>
                  <a:pt x="39" y="794"/>
                  <a:pt x="0" y="754"/>
                  <a:pt x="0" y="707"/>
                </a:cubicBezTo>
                <a:lnTo>
                  <a:pt x="0" y="86"/>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11" name="Freeform 27">
            <a:extLst>
              <a:ext uri="{FF2B5EF4-FFF2-40B4-BE49-F238E27FC236}">
                <a16:creationId xmlns:a16="http://schemas.microsoft.com/office/drawing/2014/main" id="{78378BF6-F0C7-4F22-8301-A24097E0EC85}"/>
              </a:ext>
            </a:extLst>
          </p:cNvPr>
          <p:cNvSpPr/>
          <p:nvPr/>
        </p:nvSpPr>
        <p:spPr bwMode="auto">
          <a:xfrm>
            <a:off x="265786" y="4575816"/>
            <a:ext cx="593889" cy="72628"/>
          </a:xfrm>
          <a:custGeom>
            <a:avLst/>
            <a:gdLst>
              <a:gd name="T0" fmla="*/ 58241460 w 1038"/>
              <a:gd name="T1" fmla="*/ 0 h 127"/>
              <a:gd name="T2" fmla="*/ 546306357 w 1038"/>
              <a:gd name="T3" fmla="*/ 0 h 127"/>
              <a:gd name="T4" fmla="*/ 604547817 w 1038"/>
              <a:gd name="T5" fmla="*/ 73837831 h 127"/>
              <a:gd name="T6" fmla="*/ 0 w 1038"/>
              <a:gd name="T7" fmla="*/ 73837831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12" name="Rectangle 28">
            <a:extLst>
              <a:ext uri="{FF2B5EF4-FFF2-40B4-BE49-F238E27FC236}">
                <a16:creationId xmlns:a16="http://schemas.microsoft.com/office/drawing/2014/main" id="{F0B012EB-7CD4-4CDA-9CC2-CDB1F73F223B}"/>
              </a:ext>
            </a:extLst>
          </p:cNvPr>
          <p:cNvSpPr>
            <a:spLocks noChangeArrowheads="1"/>
          </p:cNvSpPr>
          <p:nvPr/>
        </p:nvSpPr>
        <p:spPr bwMode="auto">
          <a:xfrm>
            <a:off x="322911" y="4575814"/>
            <a:ext cx="478444" cy="476251"/>
          </a:xfrm>
          <a:prstGeom prst="rect">
            <a:avLst/>
          </a:prstGeom>
          <a:solidFill>
            <a:srgbClr val="134F85"/>
          </a:solidFill>
          <a:ln>
            <a:noFill/>
          </a:ln>
        </p:spPr>
        <p:txBody>
          <a:bodyPr lIns="68563" tIns="34281" rIns="68563" bIns="34281"/>
          <a:lstStyle/>
          <a:p>
            <a:pPr>
              <a:buFontTx/>
              <a:buNone/>
            </a:pPr>
            <a:endParaRPr lang="zh-CN" altLang="en-US"/>
          </a:p>
        </p:txBody>
      </p:sp>
      <p:sp>
        <p:nvSpPr>
          <p:cNvPr id="113" name="TextBox 63">
            <a:extLst>
              <a:ext uri="{FF2B5EF4-FFF2-40B4-BE49-F238E27FC236}">
                <a16:creationId xmlns:a16="http://schemas.microsoft.com/office/drawing/2014/main" id="{4913ECB2-6D19-44F0-8241-2134597DCB5D}"/>
              </a:ext>
            </a:extLst>
          </p:cNvPr>
          <p:cNvSpPr txBox="1">
            <a:spLocks noChangeArrowheads="1"/>
          </p:cNvSpPr>
          <p:nvPr/>
        </p:nvSpPr>
        <p:spPr bwMode="auto">
          <a:xfrm>
            <a:off x="879907" y="2080267"/>
            <a:ext cx="989660"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rPr>
              <a:t>多态性</a:t>
            </a:r>
            <a:endPar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4" name="TextBox 81">
            <a:extLst>
              <a:ext uri="{FF2B5EF4-FFF2-40B4-BE49-F238E27FC236}">
                <a16:creationId xmlns:a16="http://schemas.microsoft.com/office/drawing/2014/main" id="{3B78D7E4-54D2-41ED-A5BA-37E4865F51B4}"/>
              </a:ext>
            </a:extLst>
          </p:cNvPr>
          <p:cNvSpPr txBox="1">
            <a:spLocks noChangeArrowheads="1"/>
          </p:cNvSpPr>
          <p:nvPr/>
        </p:nvSpPr>
        <p:spPr bwMode="auto">
          <a:xfrm>
            <a:off x="387182" y="1929059"/>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 name="TextBox 82">
            <a:extLst>
              <a:ext uri="{FF2B5EF4-FFF2-40B4-BE49-F238E27FC236}">
                <a16:creationId xmlns:a16="http://schemas.microsoft.com/office/drawing/2014/main" id="{A37238BC-680C-47E8-AF00-2D07C578E27A}"/>
              </a:ext>
            </a:extLst>
          </p:cNvPr>
          <p:cNvSpPr txBox="1">
            <a:spLocks noChangeArrowheads="1"/>
          </p:cNvSpPr>
          <p:nvPr/>
        </p:nvSpPr>
        <p:spPr bwMode="auto">
          <a:xfrm>
            <a:off x="879907" y="2757731"/>
            <a:ext cx="1557123"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运算符重载</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6" name="TextBox 83">
            <a:extLst>
              <a:ext uri="{FF2B5EF4-FFF2-40B4-BE49-F238E27FC236}">
                <a16:creationId xmlns:a16="http://schemas.microsoft.com/office/drawing/2014/main" id="{02488E60-9DD1-4258-BC94-A36E4EB2778C}"/>
              </a:ext>
            </a:extLst>
          </p:cNvPr>
          <p:cNvSpPr txBox="1">
            <a:spLocks noChangeArrowheads="1"/>
          </p:cNvSpPr>
          <p:nvPr/>
        </p:nvSpPr>
        <p:spPr bwMode="auto">
          <a:xfrm>
            <a:off x="387182" y="2635098"/>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 name="TextBox 84">
            <a:extLst>
              <a:ext uri="{FF2B5EF4-FFF2-40B4-BE49-F238E27FC236}">
                <a16:creationId xmlns:a16="http://schemas.microsoft.com/office/drawing/2014/main" id="{59E0EA32-E21A-4834-9355-33D50F0722B1}"/>
              </a:ext>
            </a:extLst>
          </p:cNvPr>
          <p:cNvSpPr txBox="1">
            <a:spLocks noChangeArrowheads="1"/>
          </p:cNvSpPr>
          <p:nvPr/>
        </p:nvSpPr>
        <p:spPr bwMode="auto">
          <a:xfrm>
            <a:off x="879907" y="3381619"/>
            <a:ext cx="989660"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虚函数</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8" name="TextBox 85">
            <a:extLst>
              <a:ext uri="{FF2B5EF4-FFF2-40B4-BE49-F238E27FC236}">
                <a16:creationId xmlns:a16="http://schemas.microsoft.com/office/drawing/2014/main" id="{3B807396-F05B-485A-9E30-E6DA6D99007B}"/>
              </a:ext>
            </a:extLst>
          </p:cNvPr>
          <p:cNvSpPr txBox="1">
            <a:spLocks noChangeArrowheads="1"/>
          </p:cNvSpPr>
          <p:nvPr/>
        </p:nvSpPr>
        <p:spPr bwMode="auto">
          <a:xfrm>
            <a:off x="387182" y="3249459"/>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9" name="TextBox 86">
            <a:extLst>
              <a:ext uri="{FF2B5EF4-FFF2-40B4-BE49-F238E27FC236}">
                <a16:creationId xmlns:a16="http://schemas.microsoft.com/office/drawing/2014/main" id="{D6A325F5-B1C2-494E-AB5E-20656AA5B30F}"/>
              </a:ext>
            </a:extLst>
          </p:cNvPr>
          <p:cNvSpPr txBox="1">
            <a:spLocks noChangeArrowheads="1"/>
          </p:cNvSpPr>
          <p:nvPr/>
        </p:nvSpPr>
        <p:spPr bwMode="auto">
          <a:xfrm>
            <a:off x="879907" y="4068609"/>
            <a:ext cx="2957146"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3" tIns="34281" rIns="68563" bIns="34281">
            <a:spAutoFit/>
          </a:bodyPr>
          <a:lstStyle>
            <a:defPPr>
              <a:defRPr lang="en-US"/>
            </a:defPPr>
            <a:lvl1pPr>
              <a:defRPr sz="2200" b="1" kern="0">
                <a:solidFill>
                  <a:srgbClr val="104E87"/>
                </a:solidFill>
                <a:latin typeface="微软雅黑" panose="020B0503020204020204" pitchFamily="34" charset="-122"/>
                <a:ea typeface="微软雅黑" panose="020B0503020204020204" pitchFamily="34" charset="-122"/>
                <a:cs typeface="+mn-ea"/>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9pPr>
          </a:lstStyle>
          <a:p>
            <a:r>
              <a:rPr lang="zh-CN" altLang="en-US" dirty="0">
                <a:latin typeface="华光淡古印_CNKI" panose="02000500000000000000" pitchFamily="2" charset="-122"/>
                <a:ea typeface="华光淡古印_CNKI" panose="02000500000000000000" pitchFamily="2" charset="-122"/>
                <a:sym typeface="+mn-lt"/>
              </a:rPr>
              <a:t>抽象类</a:t>
            </a:r>
            <a:r>
              <a:rPr lang="en-US" altLang="zh-CN" dirty="0">
                <a:latin typeface="华光淡古印_CNKI" panose="02000500000000000000" pitchFamily="2" charset="-122"/>
                <a:ea typeface="华光淡古印_CNKI" panose="02000500000000000000" pitchFamily="2" charset="-122"/>
                <a:sym typeface="+mn-lt"/>
              </a:rPr>
              <a:t>——</a:t>
            </a:r>
            <a:r>
              <a:rPr lang="zh-CN" altLang="en-US" dirty="0">
                <a:latin typeface="华光淡古印_CNKI" panose="02000500000000000000" pitchFamily="2" charset="-122"/>
                <a:ea typeface="华光淡古印_CNKI" panose="02000500000000000000" pitchFamily="2" charset="-122"/>
                <a:sym typeface="+mn-lt"/>
              </a:rPr>
              <a:t>纯虚函数</a:t>
            </a:r>
          </a:p>
        </p:txBody>
      </p:sp>
      <p:sp>
        <p:nvSpPr>
          <p:cNvPr id="120" name="TextBox 87">
            <a:extLst>
              <a:ext uri="{FF2B5EF4-FFF2-40B4-BE49-F238E27FC236}">
                <a16:creationId xmlns:a16="http://schemas.microsoft.com/office/drawing/2014/main" id="{720D5FDC-B234-4FA5-9FF1-49ABC77A1A29}"/>
              </a:ext>
            </a:extLst>
          </p:cNvPr>
          <p:cNvSpPr txBox="1">
            <a:spLocks noChangeArrowheads="1"/>
          </p:cNvSpPr>
          <p:nvPr/>
        </p:nvSpPr>
        <p:spPr bwMode="auto">
          <a:xfrm>
            <a:off x="387182" y="395550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1" name="TextBox 88">
            <a:extLst>
              <a:ext uri="{FF2B5EF4-FFF2-40B4-BE49-F238E27FC236}">
                <a16:creationId xmlns:a16="http://schemas.microsoft.com/office/drawing/2014/main" id="{986CF14A-E3E4-4BBE-A385-21EC0C79CC1E}"/>
              </a:ext>
            </a:extLst>
          </p:cNvPr>
          <p:cNvSpPr txBox="1">
            <a:spLocks noChangeArrowheads="1"/>
          </p:cNvSpPr>
          <p:nvPr/>
        </p:nvSpPr>
        <p:spPr bwMode="auto">
          <a:xfrm>
            <a:off x="874457" y="4684115"/>
            <a:ext cx="705928"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案例</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22" name="TextBox 89">
            <a:extLst>
              <a:ext uri="{FF2B5EF4-FFF2-40B4-BE49-F238E27FC236}">
                <a16:creationId xmlns:a16="http://schemas.microsoft.com/office/drawing/2014/main" id="{17E4F117-CDF4-4D7A-BD21-7FC3B76913BC}"/>
              </a:ext>
            </a:extLst>
          </p:cNvPr>
          <p:cNvSpPr txBox="1">
            <a:spLocks noChangeArrowheads="1"/>
          </p:cNvSpPr>
          <p:nvPr/>
        </p:nvSpPr>
        <p:spPr bwMode="auto">
          <a:xfrm>
            <a:off x="387182" y="459010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6" name="Freeform 7">
            <a:extLst>
              <a:ext uri="{FF2B5EF4-FFF2-40B4-BE49-F238E27FC236}">
                <a16:creationId xmlns:a16="http://schemas.microsoft.com/office/drawing/2014/main" id="{F6B60A6D-7EC4-4227-8E28-9EB8881DEB58}"/>
              </a:ext>
            </a:extLst>
          </p:cNvPr>
          <p:cNvSpPr>
            <a:spLocks noEditPoints="1"/>
          </p:cNvSpPr>
          <p:nvPr/>
        </p:nvSpPr>
        <p:spPr bwMode="auto">
          <a:xfrm>
            <a:off x="801438" y="922651"/>
            <a:ext cx="1068129" cy="230399"/>
          </a:xfrm>
          <a:custGeom>
            <a:avLst/>
            <a:gdLst>
              <a:gd name="T0" fmla="*/ 31788 w 2195"/>
              <a:gd name="T1" fmla="*/ 181488 h 445"/>
              <a:gd name="T2" fmla="*/ 163483 w 2195"/>
              <a:gd name="T3" fmla="*/ 180183 h 445"/>
              <a:gd name="T4" fmla="*/ 98609 w 2195"/>
              <a:gd name="T5" fmla="*/ 289206 h 445"/>
              <a:gd name="T6" fmla="*/ 101204 w 2195"/>
              <a:gd name="T7" fmla="*/ 68548 h 445"/>
              <a:gd name="T8" fmla="*/ 98609 w 2195"/>
              <a:gd name="T9" fmla="*/ 289206 h 445"/>
              <a:gd name="T10" fmla="*/ 431413 w 2195"/>
              <a:gd name="T11" fmla="*/ 283331 h 445"/>
              <a:gd name="T12" fmla="*/ 400922 w 2195"/>
              <a:gd name="T13" fmla="*/ 152764 h 445"/>
              <a:gd name="T14" fmla="*/ 289339 w 2195"/>
              <a:gd name="T15" fmla="*/ 154069 h 445"/>
              <a:gd name="T16" fmla="*/ 259496 w 2195"/>
              <a:gd name="T17" fmla="*/ 284636 h 445"/>
              <a:gd name="T18" fmla="*/ 289339 w 2195"/>
              <a:gd name="T19" fmla="*/ 72465 h 445"/>
              <a:gd name="T20" fmla="*/ 358754 w 2195"/>
              <a:gd name="T21" fmla="*/ 66589 h 445"/>
              <a:gd name="T22" fmla="*/ 581921 w 2195"/>
              <a:gd name="T23" fmla="*/ 265704 h 445"/>
              <a:gd name="T24" fmla="*/ 555971 w 2195"/>
              <a:gd name="T25" fmla="*/ 287901 h 445"/>
              <a:gd name="T26" fmla="*/ 512506 w 2195"/>
              <a:gd name="T27" fmla="*/ 98578 h 445"/>
              <a:gd name="T28" fmla="*/ 483312 w 2195"/>
              <a:gd name="T29" fmla="*/ 72465 h 445"/>
              <a:gd name="T30" fmla="*/ 512506 w 2195"/>
              <a:gd name="T31" fmla="*/ 15668 h 445"/>
              <a:gd name="T32" fmla="*/ 542996 w 2195"/>
              <a:gd name="T33" fmla="*/ 72465 h 445"/>
              <a:gd name="T34" fmla="*/ 581921 w 2195"/>
              <a:gd name="T35" fmla="*/ 98578 h 445"/>
              <a:gd name="T36" fmla="*/ 542996 w 2195"/>
              <a:gd name="T37" fmla="*/ 241549 h 445"/>
              <a:gd name="T38" fmla="*/ 581921 w 2195"/>
              <a:gd name="T39" fmla="*/ 265704 h 445"/>
              <a:gd name="T40" fmla="*/ 787572 w 2195"/>
              <a:gd name="T41" fmla="*/ 162556 h 445"/>
              <a:gd name="T42" fmla="*/ 661716 w 2195"/>
              <a:gd name="T43" fmla="*/ 162556 h 445"/>
              <a:gd name="T44" fmla="*/ 819360 w 2195"/>
              <a:gd name="T45" fmla="*/ 226534 h 445"/>
              <a:gd name="T46" fmla="*/ 626684 w 2195"/>
              <a:gd name="T47" fmla="*/ 181488 h 445"/>
              <a:gd name="T48" fmla="*/ 820658 w 2195"/>
              <a:gd name="T49" fmla="*/ 181488 h 445"/>
              <a:gd name="T50" fmla="*/ 660419 w 2195"/>
              <a:gd name="T51" fmla="*/ 188670 h 445"/>
              <a:gd name="T52" fmla="*/ 787572 w 2195"/>
              <a:gd name="T53" fmla="*/ 218047 h 445"/>
              <a:gd name="T54" fmla="*/ 1054853 w 2195"/>
              <a:gd name="T55" fmla="*/ 283331 h 445"/>
              <a:gd name="T56" fmla="*/ 1025011 w 2195"/>
              <a:gd name="T57" fmla="*/ 152764 h 445"/>
              <a:gd name="T58" fmla="*/ 913428 w 2195"/>
              <a:gd name="T59" fmla="*/ 154069 h 445"/>
              <a:gd name="T60" fmla="*/ 882937 w 2195"/>
              <a:gd name="T61" fmla="*/ 284636 h 445"/>
              <a:gd name="T62" fmla="*/ 913428 w 2195"/>
              <a:gd name="T63" fmla="*/ 72465 h 445"/>
              <a:gd name="T64" fmla="*/ 982843 w 2195"/>
              <a:gd name="T65" fmla="*/ 66589 h 445"/>
              <a:gd name="T66" fmla="*/ 1206010 w 2195"/>
              <a:gd name="T67" fmla="*/ 265704 h 445"/>
              <a:gd name="T68" fmla="*/ 1179412 w 2195"/>
              <a:gd name="T69" fmla="*/ 287901 h 445"/>
              <a:gd name="T70" fmla="*/ 1136595 w 2195"/>
              <a:gd name="T71" fmla="*/ 98578 h 445"/>
              <a:gd name="T72" fmla="*/ 1107401 w 2195"/>
              <a:gd name="T73" fmla="*/ 72465 h 445"/>
              <a:gd name="T74" fmla="*/ 1136595 w 2195"/>
              <a:gd name="T75" fmla="*/ 15668 h 445"/>
              <a:gd name="T76" fmla="*/ 1166437 w 2195"/>
              <a:gd name="T77" fmla="*/ 72465 h 445"/>
              <a:gd name="T78" fmla="*/ 1206010 w 2195"/>
              <a:gd name="T79" fmla="*/ 98578 h 445"/>
              <a:gd name="T80" fmla="*/ 1166437 w 2195"/>
              <a:gd name="T81" fmla="*/ 241549 h 445"/>
              <a:gd name="T82" fmla="*/ 1206010 w 2195"/>
              <a:gd name="T83" fmla="*/ 265704 h 445"/>
              <a:gd name="T84" fmla="*/ 1414256 w 2195"/>
              <a:gd name="T85" fmla="*/ 123386 h 445"/>
              <a:gd name="T86" fmla="*/ 1256612 w 2195"/>
              <a:gd name="T87" fmla="*/ 126650 h 445"/>
              <a:gd name="T88" fmla="*/ 1390901 w 2195"/>
              <a:gd name="T89" fmla="*/ 229798 h 445"/>
              <a:gd name="T90" fmla="*/ 1278020 w 2195"/>
              <a:gd name="T91" fmla="*/ 218047 h 445"/>
              <a:gd name="T92" fmla="*/ 1337704 w 2195"/>
              <a:gd name="T93" fmla="*/ 289206 h 445"/>
              <a:gd name="T94" fmla="*/ 1346138 w 2195"/>
              <a:gd name="T95" fmla="*/ 164515 h 445"/>
              <a:gd name="T96" fmla="*/ 1334461 w 2195"/>
              <a:gd name="T97" fmla="*/ 94661 h 4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lIns="68571" tIns="34285" rIns="68571" bIns="34285"/>
          <a:lstStyle/>
          <a:p>
            <a:endParaRPr lang="zh-CN" altLang="en-US" kern="0" dirty="0">
              <a:latin typeface="Times New Roman" panose="02020603050405020304" pitchFamily="18" charset="0"/>
              <a:cs typeface="Times New Roman" panose="02020603050405020304" pitchFamily="18" charset="0"/>
              <a:sym typeface="+mn-lt"/>
            </a:endParaRPr>
          </a:p>
        </p:txBody>
      </p:sp>
      <p:sp>
        <p:nvSpPr>
          <p:cNvPr id="32" name="Freeform 26">
            <a:extLst>
              <a:ext uri="{FF2B5EF4-FFF2-40B4-BE49-F238E27FC236}">
                <a16:creationId xmlns:a16="http://schemas.microsoft.com/office/drawing/2014/main" id="{8F727C13-64FE-4499-B078-4DEE7AE86112}"/>
              </a:ext>
            </a:extLst>
          </p:cNvPr>
          <p:cNvSpPr/>
          <p:nvPr/>
        </p:nvSpPr>
        <p:spPr bwMode="auto">
          <a:xfrm>
            <a:off x="157480" y="5355259"/>
            <a:ext cx="4797308" cy="454819"/>
          </a:xfrm>
          <a:custGeom>
            <a:avLst/>
            <a:gdLst>
              <a:gd name="T0" fmla="*/ 60743788 w 6963"/>
              <a:gd name="T1" fmla="*/ 0 h 794"/>
              <a:gd name="T2" fmla="*/ 2147483647 w 6963"/>
              <a:gd name="T3" fmla="*/ 0 h 794"/>
              <a:gd name="T4" fmla="*/ 2147483647 w 6963"/>
              <a:gd name="T5" fmla="*/ 50166012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166012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6"/>
                </a:cubicBezTo>
                <a:lnTo>
                  <a:pt x="6963" y="707"/>
                </a:lnTo>
                <a:cubicBezTo>
                  <a:pt x="6963" y="754"/>
                  <a:pt x="6924" y="794"/>
                  <a:pt x="6876" y="794"/>
                </a:cubicBezTo>
                <a:lnTo>
                  <a:pt x="87" y="794"/>
                </a:lnTo>
                <a:cubicBezTo>
                  <a:pt x="39" y="794"/>
                  <a:pt x="0" y="754"/>
                  <a:pt x="0" y="707"/>
                </a:cubicBezTo>
                <a:lnTo>
                  <a:pt x="0" y="86"/>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33" name="Freeform 27">
            <a:extLst>
              <a:ext uri="{FF2B5EF4-FFF2-40B4-BE49-F238E27FC236}">
                <a16:creationId xmlns:a16="http://schemas.microsoft.com/office/drawing/2014/main" id="{7EB49533-EBA6-4BDA-998D-E5D582D323D4}"/>
              </a:ext>
            </a:extLst>
          </p:cNvPr>
          <p:cNvSpPr/>
          <p:nvPr/>
        </p:nvSpPr>
        <p:spPr bwMode="auto">
          <a:xfrm>
            <a:off x="265786" y="5275486"/>
            <a:ext cx="593889" cy="72628"/>
          </a:xfrm>
          <a:custGeom>
            <a:avLst/>
            <a:gdLst>
              <a:gd name="T0" fmla="*/ 58241460 w 1038"/>
              <a:gd name="T1" fmla="*/ 0 h 127"/>
              <a:gd name="T2" fmla="*/ 546306357 w 1038"/>
              <a:gd name="T3" fmla="*/ 0 h 127"/>
              <a:gd name="T4" fmla="*/ 604547817 w 1038"/>
              <a:gd name="T5" fmla="*/ 73837831 h 127"/>
              <a:gd name="T6" fmla="*/ 0 w 1038"/>
              <a:gd name="T7" fmla="*/ 73837831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34" name="Rectangle 28">
            <a:extLst>
              <a:ext uri="{FF2B5EF4-FFF2-40B4-BE49-F238E27FC236}">
                <a16:creationId xmlns:a16="http://schemas.microsoft.com/office/drawing/2014/main" id="{882E1B35-1106-4E3D-A633-FCA5843400F3}"/>
              </a:ext>
            </a:extLst>
          </p:cNvPr>
          <p:cNvSpPr>
            <a:spLocks noChangeArrowheads="1"/>
          </p:cNvSpPr>
          <p:nvPr/>
        </p:nvSpPr>
        <p:spPr bwMode="auto">
          <a:xfrm>
            <a:off x="322911" y="5275484"/>
            <a:ext cx="478444" cy="476251"/>
          </a:xfrm>
          <a:prstGeom prst="rect">
            <a:avLst/>
          </a:prstGeom>
          <a:solidFill>
            <a:srgbClr val="134F85"/>
          </a:solidFill>
          <a:ln>
            <a:noFill/>
          </a:ln>
        </p:spPr>
        <p:txBody>
          <a:bodyPr lIns="68563" tIns="34281" rIns="68563" bIns="34281"/>
          <a:lstStyle/>
          <a:p>
            <a:pPr>
              <a:buFontTx/>
              <a:buNone/>
            </a:pPr>
            <a:endParaRPr lang="zh-CN" altLang="en-US"/>
          </a:p>
        </p:txBody>
      </p:sp>
      <p:sp>
        <p:nvSpPr>
          <p:cNvPr id="35" name="TextBox 88">
            <a:extLst>
              <a:ext uri="{FF2B5EF4-FFF2-40B4-BE49-F238E27FC236}">
                <a16:creationId xmlns:a16="http://schemas.microsoft.com/office/drawing/2014/main" id="{29EAA2D1-824A-4416-9953-B97434C5E60A}"/>
              </a:ext>
            </a:extLst>
          </p:cNvPr>
          <p:cNvSpPr txBox="1">
            <a:spLocks noChangeArrowheads="1"/>
          </p:cNvSpPr>
          <p:nvPr/>
        </p:nvSpPr>
        <p:spPr bwMode="auto">
          <a:xfrm>
            <a:off x="874457" y="5383785"/>
            <a:ext cx="1273391"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本章作业</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36" name="TextBox 89">
            <a:extLst>
              <a:ext uri="{FF2B5EF4-FFF2-40B4-BE49-F238E27FC236}">
                <a16:creationId xmlns:a16="http://schemas.microsoft.com/office/drawing/2014/main" id="{DCC91D30-DE0F-4CE6-9183-C2C178E9073C}"/>
              </a:ext>
            </a:extLst>
          </p:cNvPr>
          <p:cNvSpPr txBox="1">
            <a:spLocks noChangeArrowheads="1"/>
          </p:cNvSpPr>
          <p:nvPr/>
        </p:nvSpPr>
        <p:spPr bwMode="auto">
          <a:xfrm>
            <a:off x="387182" y="528977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26" name="Picture 2">
            <a:extLst>
              <a:ext uri="{FF2B5EF4-FFF2-40B4-BE49-F238E27FC236}">
                <a16:creationId xmlns:a16="http://schemas.microsoft.com/office/drawing/2014/main" id="{C1ECA45B-E1A3-4B21-B16F-22DE9AB708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716" b="94831" l="6021" r="95176">
                        <a14:foregroundMark x1="54805" y1="40557" x2="52721" y2="74901"/>
                        <a14:foregroundMark x1="37399" y1="21471" x2="30413" y2="70179"/>
                        <a14:foregroundMark x1="43304" y1="22614" x2="39135" y2="60736"/>
                        <a14:foregroundMark x1="34272" y1="20129" x2="30953" y2="57157"/>
                        <a14:foregroundMark x1="28329" y1="20577" x2="19452" y2="66103"/>
                        <a14:foregroundMark x1="20648" y1="22366" x2="13856" y2="59841"/>
                        <a14:foregroundMark x1="9186" y1="14066" x2="75338" y2="16103"/>
                        <a14:foregroundMark x1="75338" y1="16103" x2="64685" y2="15855"/>
                        <a14:foregroundMark x1="64685" y1="15855" x2="88421" y2="24205"/>
                        <a14:foregroundMark x1="88421" y1="24205" x2="88421" y2="24205"/>
                        <a14:foregroundMark x1="88421" y1="24205" x2="86685" y2="25298"/>
                        <a14:foregroundMark x1="86685" y1="25298" x2="85797" y2="26640"/>
                        <a14:foregroundMark x1="9880" y1="16103" x2="19413" y2="21272"/>
                        <a14:foregroundMark x1="19413" y1="21272" x2="19568" y2="32455"/>
                        <a14:foregroundMark x1="19568" y1="32455" x2="14049" y2="53330"/>
                        <a14:foregroundMark x1="14049" y1="53330" x2="16557" y2="66551"/>
                        <a14:foregroundMark x1="16557" y1="66551" x2="12775" y2="74404"/>
                        <a14:foregroundMark x1="12775" y1="74404" x2="21536" y2="86978"/>
                        <a14:foregroundMark x1="21536" y1="86978" x2="28599" y2="87773"/>
                        <a14:foregroundMark x1="28599" y1="87773" x2="36125" y2="87674"/>
                        <a14:foregroundMark x1="36125" y1="87674" x2="84562" y2="92893"/>
                        <a14:foregroundMark x1="84562" y1="92893" x2="91934" y2="87823"/>
                        <a14:foregroundMark x1="91934" y1="87823" x2="93516" y2="28032"/>
                        <a14:foregroundMark x1="93516" y1="28032" x2="91277" y2="16650"/>
                        <a14:foregroundMark x1="91277" y1="16650" x2="81088" y2="14861"/>
                        <a14:foregroundMark x1="81088" y1="14861" x2="85334" y2="37376"/>
                        <a14:foregroundMark x1="85334" y1="37376" x2="70127" y2="41650"/>
                        <a14:foregroundMark x1="70127" y1="41650" x2="79699" y2="51441"/>
                        <a14:foregroundMark x1="79699" y1="51441" x2="73215" y2="58300"/>
                        <a14:foregroundMark x1="73215" y1="58300" x2="63026" y2="43241"/>
                        <a14:foregroundMark x1="63026" y1="43241" x2="40216" y2="33648"/>
                        <a14:foregroundMark x1="40216" y1="33648" x2="54574" y2="36680"/>
                        <a14:foregroundMark x1="54574" y1="36680" x2="42802" y2="42793"/>
                        <a14:foregroundMark x1="42802" y1="42793" x2="45349" y2="51541"/>
                        <a14:foregroundMark x1="45349" y1="51541" x2="50521" y2="60686"/>
                        <a14:foregroundMark x1="50521" y1="60686" x2="76341" y2="70974"/>
                        <a14:foregroundMark x1="76341" y1="70974" x2="63991" y2="75447"/>
                        <a14:foregroundMark x1="63991" y1="75447" x2="50328" y2="74254"/>
                        <a14:foregroundMark x1="50328" y1="74254" x2="67889" y2="87972"/>
                        <a14:foregroundMark x1="67889" y1="87972" x2="83751" y2="87177"/>
                        <a14:foregroundMark x1="83751" y1="87177" x2="8568" y2="91948"/>
                        <a14:foregroundMark x1="8568" y1="91948" x2="5866" y2="81511"/>
                        <a14:foregroundMark x1="5866" y1="81511" x2="6909" y2="60040"/>
                        <a14:foregroundMark x1="6909" y1="60040" x2="6098" y2="40557"/>
                        <a14:foregroundMark x1="6098" y1="40557" x2="6909" y2="12525"/>
                        <a14:foregroundMark x1="14550" y1="93042" x2="61289" y2="93787"/>
                        <a14:foregroundMark x1="61289" y1="93787" x2="76766" y2="93042"/>
                        <a14:foregroundMark x1="76920" y1="9841" x2="77615" y2="16799"/>
                        <a14:foregroundMark x1="60208" y1="8499" x2="59166" y2="15408"/>
                        <a14:foregroundMark x1="57082" y1="10040" x2="59321" y2="12972"/>
                        <a14:foregroundMark x1="57584" y1="6660" x2="58279" y2="6660"/>
                        <a14:foregroundMark x1="65959" y1="8499" x2="69626" y2="9394"/>
                        <a14:foregroundMark x1="65766" y1="7803" x2="65766" y2="7803"/>
                        <a14:foregroundMark x1="61250" y1="5765" x2="62138" y2="5765"/>
                        <a14:foregroundMark x1="57237" y1="6014" x2="58279" y2="5765"/>
                        <a14:foregroundMark x1="29371" y1="25547" x2="29217" y2="32455"/>
                        <a14:foregroundMark x1="23118" y1="24851" x2="21189" y2="49304"/>
                        <a14:foregroundMark x1="15631" y1="24404" x2="15438" y2="47962"/>
                        <a14:foregroundMark x1="11617" y1="24851" x2="10729" y2="54920"/>
                        <a14:foregroundMark x1="93130" y1="9145" x2="93323" y2="14314"/>
                        <a14:foregroundMark x1="95060" y1="8946" x2="92358" y2="29672"/>
                        <a14:foregroundMark x1="92358" y1="29672" x2="92242" y2="29771"/>
                        <a14:foregroundMark x1="43844" y1="24404" x2="67001" y2="23260"/>
                        <a14:foregroundMark x1="8993" y1="23260" x2="10729" y2="56909"/>
                        <a14:foregroundMark x1="10228" y1="38519" x2="8645" y2="46173"/>
                        <a14:foregroundMark x1="7256" y1="57853" x2="6291" y2="74801"/>
                        <a14:foregroundMark x1="6291" y1="74801" x2="6909" y2="78032"/>
                        <a14:foregroundMark x1="94018" y1="74652" x2="94018" y2="79125"/>
                        <a14:foregroundMark x1="63180" y1="70825" x2="64029" y2="73310"/>
                        <a14:foregroundMark x1="75531" y1="8250" x2="78503" y2="8250"/>
                        <a14:foregroundMark x1="75878" y1="8250" x2="79352" y2="8052"/>
                        <a14:foregroundMark x1="81822" y1="7107" x2="81822" y2="10288"/>
                        <a14:foregroundMark x1="92242" y1="8698" x2="95214" y2="8698"/>
                        <a14:foregroundMark x1="85643" y1="8052" x2="89309" y2="8499"/>
                        <a14:foregroundMark x1="20494" y1="93489" x2="33076" y2="93091"/>
                        <a14:foregroundMark x1="33076" y1="93091" x2="36858" y2="94831"/>
                        <a14:backgroundMark x1="15978" y1="1988" x2="53609" y2="4672"/>
                        <a14:backgroundMark x1="19954" y1="1988" x2="56889" y2="6014"/>
                      </a14:backgroundRemoval>
                    </a14:imgEffect>
                  </a14:imgLayer>
                </a14:imgProps>
              </a:ext>
              <a:ext uri="{28A0092B-C50C-407E-A947-70E740481C1C}">
                <a14:useLocalDpi xmlns:a14="http://schemas.microsoft.com/office/drawing/2010/main" val="0"/>
              </a:ext>
            </a:extLst>
          </a:blip>
          <a:srcRect/>
          <a:stretch>
            <a:fillRect/>
          </a:stretch>
        </p:blipFill>
        <p:spPr bwMode="auto">
          <a:xfrm>
            <a:off x="5329294" y="972473"/>
            <a:ext cx="6914746" cy="53697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80"/>
                                        </p:tgtEl>
                                        <p:attrNameLst>
                                          <p:attrName>style.visibility</p:attrName>
                                        </p:attrNameLst>
                                      </p:cBhvr>
                                      <p:to>
                                        <p:strVal val="visible"/>
                                      </p:to>
                                    </p:set>
                                    <p:anim calcmode="lin" valueType="num">
                                      <p:cBhvr>
                                        <p:cTn id="13" dur="300" fill="hold"/>
                                        <p:tgtEl>
                                          <p:spTgt spid="80"/>
                                        </p:tgtEl>
                                        <p:attrNameLst>
                                          <p:attrName>ppt_w</p:attrName>
                                        </p:attrNameLst>
                                      </p:cBhvr>
                                      <p:tavLst>
                                        <p:tav tm="0">
                                          <p:val>
                                            <p:fltVal val="0"/>
                                          </p:val>
                                        </p:tav>
                                        <p:tav tm="100000">
                                          <p:val>
                                            <p:strVal val="#ppt_w"/>
                                          </p:val>
                                        </p:tav>
                                      </p:tavLst>
                                    </p:anim>
                                    <p:anim calcmode="lin" valueType="num">
                                      <p:cBhvr>
                                        <p:cTn id="14" dur="300" fill="hold"/>
                                        <p:tgtEl>
                                          <p:spTgt spid="80"/>
                                        </p:tgtEl>
                                        <p:attrNameLst>
                                          <p:attrName>ppt_h</p:attrName>
                                        </p:attrNameLst>
                                      </p:cBhvr>
                                      <p:tavLst>
                                        <p:tav tm="0">
                                          <p:val>
                                            <p:fltVal val="0"/>
                                          </p:val>
                                        </p:tav>
                                        <p:tav tm="100000">
                                          <p:val>
                                            <p:strVal val="#ppt_h"/>
                                          </p:val>
                                        </p:tav>
                                      </p:tavLst>
                                    </p:anim>
                                    <p:anim calcmode="lin" valueType="num">
                                      <p:cBhvr>
                                        <p:cTn id="15" dur="300" fill="hold"/>
                                        <p:tgtEl>
                                          <p:spTgt spid="80"/>
                                        </p:tgtEl>
                                        <p:attrNameLst>
                                          <p:attrName>style.rotation</p:attrName>
                                        </p:attrNameLst>
                                      </p:cBhvr>
                                      <p:tavLst>
                                        <p:tav tm="0">
                                          <p:val>
                                            <p:fltVal val="90"/>
                                          </p:val>
                                        </p:tav>
                                        <p:tav tm="100000">
                                          <p:val>
                                            <p:fltVal val="0"/>
                                          </p:val>
                                        </p:tav>
                                      </p:tavLst>
                                    </p:anim>
                                    <p:animEffect transition="in" filter="fade">
                                      <p:cBhvr>
                                        <p:cTn id="16" dur="300"/>
                                        <p:tgtEl>
                                          <p:spTgt spid="80"/>
                                        </p:tgtEl>
                                      </p:cBhvr>
                                    </p:animEffect>
                                  </p:childTnLst>
                                </p:cTn>
                              </p:par>
                            </p:childTnLst>
                          </p:cTn>
                        </p:par>
                        <p:par>
                          <p:cTn id="17" fill="hold">
                            <p:stCondLst>
                              <p:cond delay="1300"/>
                            </p:stCondLst>
                            <p:childTnLst>
                              <p:par>
                                <p:cTn id="18" presetID="42" presetClass="entr" presetSubtype="0" fill="hold" grpId="0" nodeType="after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fade">
                                      <p:cBhvr>
                                        <p:cTn id="20" dur="400"/>
                                        <p:tgtEl>
                                          <p:spTgt spid="85"/>
                                        </p:tgtEl>
                                      </p:cBhvr>
                                    </p:animEffect>
                                    <p:anim calcmode="lin" valueType="num">
                                      <p:cBhvr>
                                        <p:cTn id="21" dur="400" fill="hold"/>
                                        <p:tgtEl>
                                          <p:spTgt spid="85"/>
                                        </p:tgtEl>
                                        <p:attrNameLst>
                                          <p:attrName>ppt_x</p:attrName>
                                        </p:attrNameLst>
                                      </p:cBhvr>
                                      <p:tavLst>
                                        <p:tav tm="0">
                                          <p:val>
                                            <p:strVal val="#ppt_x"/>
                                          </p:val>
                                        </p:tav>
                                        <p:tav tm="100000">
                                          <p:val>
                                            <p:strVal val="#ppt_x"/>
                                          </p:val>
                                        </p:tav>
                                      </p:tavLst>
                                    </p:anim>
                                    <p:anim calcmode="lin" valueType="num">
                                      <p:cBhvr>
                                        <p:cTn id="22" dur="400" fill="hold"/>
                                        <p:tgtEl>
                                          <p:spTgt spid="85"/>
                                        </p:tgtEl>
                                        <p:attrNameLst>
                                          <p:attrName>ppt_y</p:attrName>
                                        </p:attrNameLst>
                                      </p:cBhvr>
                                      <p:tavLst>
                                        <p:tav tm="0">
                                          <p:val>
                                            <p:strVal val="#ppt_y+.1"/>
                                          </p:val>
                                        </p:tav>
                                        <p:tav tm="100000">
                                          <p:val>
                                            <p:strVal val="#ppt_y"/>
                                          </p:val>
                                        </p:tav>
                                      </p:tavLst>
                                    </p:anim>
                                  </p:childTnLst>
                                </p:cTn>
                              </p:par>
                            </p:childTnLst>
                          </p:cTn>
                        </p:par>
                        <p:par>
                          <p:cTn id="23" fill="hold">
                            <p:stCondLst>
                              <p:cond delay="1700"/>
                            </p:stCondLst>
                            <p:childTnLst>
                              <p:par>
                                <p:cTn id="24" presetID="22" presetClass="entr" presetSubtype="8" fill="hold" grpId="0" nodeType="after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wipe(left)">
                                      <p:cBhvr>
                                        <p:cTn id="26" dur="500"/>
                                        <p:tgtEl>
                                          <p:spTgt spid="86"/>
                                        </p:tgtEl>
                                      </p:cBhvr>
                                    </p:animEffect>
                                  </p:childTnLst>
                                </p:cTn>
                              </p:par>
                            </p:childTnLst>
                          </p:cTn>
                        </p:par>
                        <p:par>
                          <p:cTn id="27" fill="hold">
                            <p:stCondLst>
                              <p:cond delay="2200"/>
                            </p:stCondLst>
                            <p:childTnLst>
                              <p:par>
                                <p:cTn id="28" presetID="10" presetClass="entr" presetSubtype="0" fill="hold" grpId="1" nodeType="afterEffect">
                                  <p:stCondLst>
                                    <p:cond delay="0"/>
                                  </p:stCondLst>
                                  <p:childTnLst>
                                    <p:set>
                                      <p:cBhvr>
                                        <p:cTn id="29" dur="1" fill="hold">
                                          <p:stCondLst>
                                            <p:cond delay="0"/>
                                          </p:stCondLst>
                                        </p:cTn>
                                        <p:tgtEl>
                                          <p:spTgt spid="80"/>
                                        </p:tgtEl>
                                        <p:attrNameLst>
                                          <p:attrName>style.visibility</p:attrName>
                                        </p:attrNameLst>
                                      </p:cBhvr>
                                      <p:to>
                                        <p:strVal val="visible"/>
                                      </p:to>
                                    </p:set>
                                    <p:animEffect transition="in" filter="fade">
                                      <p:cBhvr>
                                        <p:cTn id="30" dur="500"/>
                                        <p:tgtEl>
                                          <p:spTgt spid="80"/>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85"/>
                                        </p:tgtEl>
                                        <p:attrNameLst>
                                          <p:attrName>style.visibility</p:attrName>
                                        </p:attrNameLst>
                                      </p:cBhvr>
                                      <p:to>
                                        <p:strVal val="visible"/>
                                      </p:to>
                                    </p:set>
                                    <p:animEffect transition="in" filter="fade">
                                      <p:cBhvr>
                                        <p:cTn id="33" dur="500"/>
                                        <p:tgtEl>
                                          <p:spTgt spid="85"/>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86"/>
                                        </p:tgtEl>
                                        <p:attrNameLst>
                                          <p:attrName>style.visibility</p:attrName>
                                        </p:attrNameLst>
                                      </p:cBhvr>
                                      <p:to>
                                        <p:strVal val="visible"/>
                                      </p:to>
                                    </p:set>
                                    <p:animEffect transition="in" filter="fade">
                                      <p:cBhvr>
                                        <p:cTn id="36" dur="500"/>
                                        <p:tgtEl>
                                          <p:spTgt spid="86"/>
                                        </p:tgtEl>
                                      </p:cBhvr>
                                    </p:animEffect>
                                  </p:childTnLst>
                                </p:cTn>
                              </p:par>
                            </p:childTnLst>
                          </p:cTn>
                        </p:par>
                        <p:par>
                          <p:cTn id="37" fill="hold">
                            <p:stCondLst>
                              <p:cond delay="2700"/>
                            </p:stCondLst>
                            <p:childTnLst>
                              <p:par>
                                <p:cTn id="38" presetID="2" presetClass="entr" presetSubtype="6" fill="hold" grpId="0" nodeType="afterEffect">
                                  <p:stCondLst>
                                    <p:cond delay="0"/>
                                  </p:stCondLst>
                                  <p:childTnLst>
                                    <p:set>
                                      <p:cBhvr>
                                        <p:cTn id="39" dur="1" fill="hold">
                                          <p:stCondLst>
                                            <p:cond delay="0"/>
                                          </p:stCondLst>
                                        </p:cTn>
                                        <p:tgtEl>
                                          <p:spTgt spid="94"/>
                                        </p:tgtEl>
                                        <p:attrNameLst>
                                          <p:attrName>style.visibility</p:attrName>
                                        </p:attrNameLst>
                                      </p:cBhvr>
                                      <p:to>
                                        <p:strVal val="visible"/>
                                      </p:to>
                                    </p:set>
                                    <p:anim calcmode="lin" valueType="num">
                                      <p:cBhvr additive="base">
                                        <p:cTn id="40" dur="500" fill="hold"/>
                                        <p:tgtEl>
                                          <p:spTgt spid="94"/>
                                        </p:tgtEl>
                                        <p:attrNameLst>
                                          <p:attrName>ppt_x</p:attrName>
                                        </p:attrNameLst>
                                      </p:cBhvr>
                                      <p:tavLst>
                                        <p:tav tm="0">
                                          <p:val>
                                            <p:strVal val="1+#ppt_w/2"/>
                                          </p:val>
                                        </p:tav>
                                        <p:tav tm="100000">
                                          <p:val>
                                            <p:strVal val="#ppt_x"/>
                                          </p:val>
                                        </p:tav>
                                      </p:tavLst>
                                    </p:anim>
                                    <p:anim calcmode="lin" valueType="num">
                                      <p:cBhvr additive="base">
                                        <p:cTn id="41" dur="500" fill="hold"/>
                                        <p:tgtEl>
                                          <p:spTgt spid="94"/>
                                        </p:tgtEl>
                                        <p:attrNameLst>
                                          <p:attrName>ppt_y</p:attrName>
                                        </p:attrNameLst>
                                      </p:cBhvr>
                                      <p:tavLst>
                                        <p:tav tm="0">
                                          <p:val>
                                            <p:strVal val="1+#ppt_h/2"/>
                                          </p:val>
                                        </p:tav>
                                        <p:tav tm="100000">
                                          <p:val>
                                            <p:strVal val="#ppt_y"/>
                                          </p:val>
                                        </p:tav>
                                      </p:tavLst>
                                    </p:anim>
                                  </p:childTnLst>
                                </p:cTn>
                              </p:par>
                              <p:par>
                                <p:cTn id="42" presetID="2" presetClass="entr" presetSubtype="6" fill="hold" grpId="0" nodeType="withEffect">
                                  <p:stCondLst>
                                    <p:cond delay="100"/>
                                  </p:stCondLst>
                                  <p:childTnLst>
                                    <p:set>
                                      <p:cBhvr>
                                        <p:cTn id="43" dur="1" fill="hold">
                                          <p:stCondLst>
                                            <p:cond delay="0"/>
                                          </p:stCondLst>
                                        </p:cTn>
                                        <p:tgtEl>
                                          <p:spTgt spid="97"/>
                                        </p:tgtEl>
                                        <p:attrNameLst>
                                          <p:attrName>style.visibility</p:attrName>
                                        </p:attrNameLst>
                                      </p:cBhvr>
                                      <p:to>
                                        <p:strVal val="visible"/>
                                      </p:to>
                                    </p:set>
                                    <p:anim calcmode="lin" valueType="num">
                                      <p:cBhvr additive="base">
                                        <p:cTn id="44" dur="500" fill="hold"/>
                                        <p:tgtEl>
                                          <p:spTgt spid="97"/>
                                        </p:tgtEl>
                                        <p:attrNameLst>
                                          <p:attrName>ppt_x</p:attrName>
                                        </p:attrNameLst>
                                      </p:cBhvr>
                                      <p:tavLst>
                                        <p:tav tm="0">
                                          <p:val>
                                            <p:strVal val="1+#ppt_w/2"/>
                                          </p:val>
                                        </p:tav>
                                        <p:tav tm="100000">
                                          <p:val>
                                            <p:strVal val="#ppt_x"/>
                                          </p:val>
                                        </p:tav>
                                      </p:tavLst>
                                    </p:anim>
                                    <p:anim calcmode="lin" valueType="num">
                                      <p:cBhvr additive="base">
                                        <p:cTn id="45" dur="500" fill="hold"/>
                                        <p:tgtEl>
                                          <p:spTgt spid="97"/>
                                        </p:tgtEl>
                                        <p:attrNameLst>
                                          <p:attrName>ppt_y</p:attrName>
                                        </p:attrNameLst>
                                      </p:cBhvr>
                                      <p:tavLst>
                                        <p:tav tm="0">
                                          <p:val>
                                            <p:strVal val="1+#ppt_h/2"/>
                                          </p:val>
                                        </p:tav>
                                        <p:tav tm="100000">
                                          <p:val>
                                            <p:strVal val="#ppt_y"/>
                                          </p:val>
                                        </p:tav>
                                      </p:tavLst>
                                    </p:anim>
                                  </p:childTnLst>
                                </p:cTn>
                              </p:par>
                              <p:par>
                                <p:cTn id="46" presetID="2" presetClass="entr" presetSubtype="6" fill="hold" grpId="0" nodeType="withEffect">
                                  <p:stCondLst>
                                    <p:cond delay="200"/>
                                  </p:stCondLst>
                                  <p:childTnLst>
                                    <p:set>
                                      <p:cBhvr>
                                        <p:cTn id="47" dur="1" fill="hold">
                                          <p:stCondLst>
                                            <p:cond delay="0"/>
                                          </p:stCondLst>
                                        </p:cTn>
                                        <p:tgtEl>
                                          <p:spTgt spid="104"/>
                                        </p:tgtEl>
                                        <p:attrNameLst>
                                          <p:attrName>style.visibility</p:attrName>
                                        </p:attrNameLst>
                                      </p:cBhvr>
                                      <p:to>
                                        <p:strVal val="visible"/>
                                      </p:to>
                                    </p:set>
                                    <p:anim calcmode="lin" valueType="num">
                                      <p:cBhvr additive="base">
                                        <p:cTn id="48" dur="500" fill="hold"/>
                                        <p:tgtEl>
                                          <p:spTgt spid="104"/>
                                        </p:tgtEl>
                                        <p:attrNameLst>
                                          <p:attrName>ppt_x</p:attrName>
                                        </p:attrNameLst>
                                      </p:cBhvr>
                                      <p:tavLst>
                                        <p:tav tm="0">
                                          <p:val>
                                            <p:strVal val="1+#ppt_w/2"/>
                                          </p:val>
                                        </p:tav>
                                        <p:tav tm="100000">
                                          <p:val>
                                            <p:strVal val="#ppt_x"/>
                                          </p:val>
                                        </p:tav>
                                      </p:tavLst>
                                    </p:anim>
                                    <p:anim calcmode="lin" valueType="num">
                                      <p:cBhvr additive="base">
                                        <p:cTn id="49" dur="500" fill="hold"/>
                                        <p:tgtEl>
                                          <p:spTgt spid="104"/>
                                        </p:tgtEl>
                                        <p:attrNameLst>
                                          <p:attrName>ppt_y</p:attrName>
                                        </p:attrNameLst>
                                      </p:cBhvr>
                                      <p:tavLst>
                                        <p:tav tm="0">
                                          <p:val>
                                            <p:strVal val="1+#ppt_h/2"/>
                                          </p:val>
                                        </p:tav>
                                        <p:tav tm="100000">
                                          <p:val>
                                            <p:strVal val="#ppt_y"/>
                                          </p:val>
                                        </p:tav>
                                      </p:tavLst>
                                    </p:anim>
                                  </p:childTnLst>
                                </p:cTn>
                              </p:par>
                              <p:par>
                                <p:cTn id="50" presetID="2" presetClass="entr" presetSubtype="6" fill="hold" grpId="0" nodeType="withEffect">
                                  <p:stCondLst>
                                    <p:cond delay="300"/>
                                  </p:stCondLst>
                                  <p:childTnLst>
                                    <p:set>
                                      <p:cBhvr>
                                        <p:cTn id="51" dur="1" fill="hold">
                                          <p:stCondLst>
                                            <p:cond delay="0"/>
                                          </p:stCondLst>
                                        </p:cTn>
                                        <p:tgtEl>
                                          <p:spTgt spid="107"/>
                                        </p:tgtEl>
                                        <p:attrNameLst>
                                          <p:attrName>style.visibility</p:attrName>
                                        </p:attrNameLst>
                                      </p:cBhvr>
                                      <p:to>
                                        <p:strVal val="visible"/>
                                      </p:to>
                                    </p:set>
                                    <p:anim calcmode="lin" valueType="num">
                                      <p:cBhvr additive="base">
                                        <p:cTn id="52" dur="500" fill="hold"/>
                                        <p:tgtEl>
                                          <p:spTgt spid="107"/>
                                        </p:tgtEl>
                                        <p:attrNameLst>
                                          <p:attrName>ppt_x</p:attrName>
                                        </p:attrNameLst>
                                      </p:cBhvr>
                                      <p:tavLst>
                                        <p:tav tm="0">
                                          <p:val>
                                            <p:strVal val="1+#ppt_w/2"/>
                                          </p:val>
                                        </p:tav>
                                        <p:tav tm="100000">
                                          <p:val>
                                            <p:strVal val="#ppt_x"/>
                                          </p:val>
                                        </p:tav>
                                      </p:tavLst>
                                    </p:anim>
                                    <p:anim calcmode="lin" valueType="num">
                                      <p:cBhvr additive="base">
                                        <p:cTn id="53" dur="500" fill="hold"/>
                                        <p:tgtEl>
                                          <p:spTgt spid="107"/>
                                        </p:tgtEl>
                                        <p:attrNameLst>
                                          <p:attrName>ppt_y</p:attrName>
                                        </p:attrNameLst>
                                      </p:cBhvr>
                                      <p:tavLst>
                                        <p:tav tm="0">
                                          <p:val>
                                            <p:strVal val="1+#ppt_h/2"/>
                                          </p:val>
                                        </p:tav>
                                        <p:tav tm="100000">
                                          <p:val>
                                            <p:strVal val="#ppt_y"/>
                                          </p:val>
                                        </p:tav>
                                      </p:tavLst>
                                    </p:anim>
                                  </p:childTnLst>
                                </p:cTn>
                              </p:par>
                              <p:par>
                                <p:cTn id="54" presetID="2" presetClass="entr" presetSubtype="6" fill="hold" grpId="0" nodeType="withEffect">
                                  <p:stCondLst>
                                    <p:cond delay="400"/>
                                  </p:stCondLst>
                                  <p:childTnLst>
                                    <p:set>
                                      <p:cBhvr>
                                        <p:cTn id="55" dur="1" fill="hold">
                                          <p:stCondLst>
                                            <p:cond delay="0"/>
                                          </p:stCondLst>
                                        </p:cTn>
                                        <p:tgtEl>
                                          <p:spTgt spid="110"/>
                                        </p:tgtEl>
                                        <p:attrNameLst>
                                          <p:attrName>style.visibility</p:attrName>
                                        </p:attrNameLst>
                                      </p:cBhvr>
                                      <p:to>
                                        <p:strVal val="visible"/>
                                      </p:to>
                                    </p:set>
                                    <p:anim calcmode="lin" valueType="num">
                                      <p:cBhvr additive="base">
                                        <p:cTn id="56" dur="500" fill="hold"/>
                                        <p:tgtEl>
                                          <p:spTgt spid="110"/>
                                        </p:tgtEl>
                                        <p:attrNameLst>
                                          <p:attrName>ppt_x</p:attrName>
                                        </p:attrNameLst>
                                      </p:cBhvr>
                                      <p:tavLst>
                                        <p:tav tm="0">
                                          <p:val>
                                            <p:strVal val="1+#ppt_w/2"/>
                                          </p:val>
                                        </p:tav>
                                        <p:tav tm="100000">
                                          <p:val>
                                            <p:strVal val="#ppt_x"/>
                                          </p:val>
                                        </p:tav>
                                      </p:tavLst>
                                    </p:anim>
                                    <p:anim calcmode="lin" valueType="num">
                                      <p:cBhvr additive="base">
                                        <p:cTn id="57" dur="500" fill="hold"/>
                                        <p:tgtEl>
                                          <p:spTgt spid="110"/>
                                        </p:tgtEl>
                                        <p:attrNameLst>
                                          <p:attrName>ppt_y</p:attrName>
                                        </p:attrNameLst>
                                      </p:cBhvr>
                                      <p:tavLst>
                                        <p:tav tm="0">
                                          <p:val>
                                            <p:strVal val="1+#ppt_h/2"/>
                                          </p:val>
                                        </p:tav>
                                        <p:tav tm="100000">
                                          <p:val>
                                            <p:strVal val="#ppt_y"/>
                                          </p:val>
                                        </p:tav>
                                      </p:tavLst>
                                    </p:anim>
                                  </p:childTnLst>
                                </p:cTn>
                              </p:par>
                            </p:childTnLst>
                          </p:cTn>
                        </p:par>
                        <p:par>
                          <p:cTn id="58" fill="hold">
                            <p:stCondLst>
                              <p:cond delay="3600"/>
                            </p:stCondLst>
                            <p:childTnLst>
                              <p:par>
                                <p:cTn id="59" presetID="22" presetClass="entr" presetSubtype="4" fill="hold" grpId="0" nodeType="afterEffect">
                                  <p:stCondLst>
                                    <p:cond delay="0"/>
                                  </p:stCondLst>
                                  <p:childTnLst>
                                    <p:set>
                                      <p:cBhvr>
                                        <p:cTn id="60" dur="1" fill="hold">
                                          <p:stCondLst>
                                            <p:cond delay="0"/>
                                          </p:stCondLst>
                                        </p:cTn>
                                        <p:tgtEl>
                                          <p:spTgt spid="95"/>
                                        </p:tgtEl>
                                        <p:attrNameLst>
                                          <p:attrName>style.visibility</p:attrName>
                                        </p:attrNameLst>
                                      </p:cBhvr>
                                      <p:to>
                                        <p:strVal val="visible"/>
                                      </p:to>
                                    </p:set>
                                    <p:animEffect transition="in" filter="wipe(down)">
                                      <p:cBhvr>
                                        <p:cTn id="61" dur="300"/>
                                        <p:tgtEl>
                                          <p:spTgt spid="95"/>
                                        </p:tgtEl>
                                      </p:cBhvr>
                                    </p:animEffect>
                                  </p:childTnLst>
                                </p:cTn>
                              </p:par>
                            </p:childTnLst>
                          </p:cTn>
                        </p:par>
                        <p:par>
                          <p:cTn id="62" fill="hold">
                            <p:stCondLst>
                              <p:cond delay="3900"/>
                            </p:stCondLst>
                            <p:childTnLst>
                              <p:par>
                                <p:cTn id="63" presetID="22" presetClass="entr" presetSubtype="1" fill="hold" grpId="0" nodeType="afterEffect">
                                  <p:stCondLst>
                                    <p:cond delay="0"/>
                                  </p:stCondLst>
                                  <p:childTnLst>
                                    <p:set>
                                      <p:cBhvr>
                                        <p:cTn id="64" dur="1" fill="hold">
                                          <p:stCondLst>
                                            <p:cond delay="0"/>
                                          </p:stCondLst>
                                        </p:cTn>
                                        <p:tgtEl>
                                          <p:spTgt spid="96"/>
                                        </p:tgtEl>
                                        <p:attrNameLst>
                                          <p:attrName>style.visibility</p:attrName>
                                        </p:attrNameLst>
                                      </p:cBhvr>
                                      <p:to>
                                        <p:strVal val="visible"/>
                                      </p:to>
                                    </p:set>
                                    <p:animEffect transition="in" filter="wipe(up)">
                                      <p:cBhvr>
                                        <p:cTn id="65" dur="500"/>
                                        <p:tgtEl>
                                          <p:spTgt spid="96"/>
                                        </p:tgtEl>
                                      </p:cBhvr>
                                    </p:animEffect>
                                  </p:childTnLst>
                                </p:cTn>
                              </p:par>
                            </p:childTnLst>
                          </p:cTn>
                        </p:par>
                        <p:par>
                          <p:cTn id="66" fill="hold">
                            <p:stCondLst>
                              <p:cond delay="4400"/>
                            </p:stCondLst>
                            <p:childTnLst>
                              <p:par>
                                <p:cTn id="67" presetID="31" presetClass="entr" presetSubtype="0" fill="hold" grpId="0" nodeType="afterEffect">
                                  <p:stCondLst>
                                    <p:cond delay="0"/>
                                  </p:stCondLst>
                                  <p:childTnLst>
                                    <p:set>
                                      <p:cBhvr>
                                        <p:cTn id="68" dur="1" fill="hold">
                                          <p:stCondLst>
                                            <p:cond delay="0"/>
                                          </p:stCondLst>
                                        </p:cTn>
                                        <p:tgtEl>
                                          <p:spTgt spid="114"/>
                                        </p:tgtEl>
                                        <p:attrNameLst>
                                          <p:attrName>style.visibility</p:attrName>
                                        </p:attrNameLst>
                                      </p:cBhvr>
                                      <p:to>
                                        <p:strVal val="visible"/>
                                      </p:to>
                                    </p:set>
                                    <p:anim calcmode="lin" valueType="num">
                                      <p:cBhvr>
                                        <p:cTn id="69" dur="400" fill="hold"/>
                                        <p:tgtEl>
                                          <p:spTgt spid="114"/>
                                        </p:tgtEl>
                                        <p:attrNameLst>
                                          <p:attrName>ppt_w</p:attrName>
                                        </p:attrNameLst>
                                      </p:cBhvr>
                                      <p:tavLst>
                                        <p:tav tm="0">
                                          <p:val>
                                            <p:fltVal val="0"/>
                                          </p:val>
                                        </p:tav>
                                        <p:tav tm="100000">
                                          <p:val>
                                            <p:strVal val="#ppt_w"/>
                                          </p:val>
                                        </p:tav>
                                      </p:tavLst>
                                    </p:anim>
                                    <p:anim calcmode="lin" valueType="num">
                                      <p:cBhvr>
                                        <p:cTn id="70" dur="400" fill="hold"/>
                                        <p:tgtEl>
                                          <p:spTgt spid="114"/>
                                        </p:tgtEl>
                                        <p:attrNameLst>
                                          <p:attrName>ppt_h</p:attrName>
                                        </p:attrNameLst>
                                      </p:cBhvr>
                                      <p:tavLst>
                                        <p:tav tm="0">
                                          <p:val>
                                            <p:fltVal val="0"/>
                                          </p:val>
                                        </p:tav>
                                        <p:tav tm="100000">
                                          <p:val>
                                            <p:strVal val="#ppt_h"/>
                                          </p:val>
                                        </p:tav>
                                      </p:tavLst>
                                    </p:anim>
                                    <p:anim calcmode="lin" valueType="num">
                                      <p:cBhvr>
                                        <p:cTn id="71" dur="400" fill="hold"/>
                                        <p:tgtEl>
                                          <p:spTgt spid="114"/>
                                        </p:tgtEl>
                                        <p:attrNameLst>
                                          <p:attrName>style.rotation</p:attrName>
                                        </p:attrNameLst>
                                      </p:cBhvr>
                                      <p:tavLst>
                                        <p:tav tm="0">
                                          <p:val>
                                            <p:fltVal val="90"/>
                                          </p:val>
                                        </p:tav>
                                        <p:tav tm="100000">
                                          <p:val>
                                            <p:fltVal val="0"/>
                                          </p:val>
                                        </p:tav>
                                      </p:tavLst>
                                    </p:anim>
                                    <p:animEffect transition="in" filter="fade">
                                      <p:cBhvr>
                                        <p:cTn id="72" dur="400"/>
                                        <p:tgtEl>
                                          <p:spTgt spid="114"/>
                                        </p:tgtEl>
                                      </p:cBhvr>
                                    </p:animEffect>
                                  </p:childTnLst>
                                </p:cTn>
                              </p:par>
                            </p:childTnLst>
                          </p:cTn>
                        </p:par>
                        <p:par>
                          <p:cTn id="73" fill="hold">
                            <p:stCondLst>
                              <p:cond delay="4800"/>
                            </p:stCondLst>
                            <p:childTnLst>
                              <p:par>
                                <p:cTn id="74" presetID="22" presetClass="entr" presetSubtype="8" fill="hold" grpId="0" nodeType="afterEffect">
                                  <p:stCondLst>
                                    <p:cond delay="0"/>
                                  </p:stCondLst>
                                  <p:childTnLst>
                                    <p:set>
                                      <p:cBhvr>
                                        <p:cTn id="75" dur="1" fill="hold">
                                          <p:stCondLst>
                                            <p:cond delay="0"/>
                                          </p:stCondLst>
                                        </p:cTn>
                                        <p:tgtEl>
                                          <p:spTgt spid="113"/>
                                        </p:tgtEl>
                                        <p:attrNameLst>
                                          <p:attrName>style.visibility</p:attrName>
                                        </p:attrNameLst>
                                      </p:cBhvr>
                                      <p:to>
                                        <p:strVal val="visible"/>
                                      </p:to>
                                    </p:set>
                                    <p:animEffect transition="in" filter="wipe(left)">
                                      <p:cBhvr>
                                        <p:cTn id="76" dur="500"/>
                                        <p:tgtEl>
                                          <p:spTgt spid="113"/>
                                        </p:tgtEl>
                                      </p:cBhvr>
                                    </p:animEffect>
                                  </p:childTnLst>
                                </p:cTn>
                              </p:par>
                            </p:childTnLst>
                          </p:cTn>
                        </p:par>
                        <p:par>
                          <p:cTn id="77" fill="hold">
                            <p:stCondLst>
                              <p:cond delay="5300"/>
                            </p:stCondLst>
                            <p:childTnLst>
                              <p:par>
                                <p:cTn id="78" presetID="22" presetClass="entr" presetSubtype="4" fill="hold" grpId="0" nodeType="afterEffect">
                                  <p:stCondLst>
                                    <p:cond delay="0"/>
                                  </p:stCondLst>
                                  <p:childTnLst>
                                    <p:set>
                                      <p:cBhvr>
                                        <p:cTn id="79" dur="1" fill="hold">
                                          <p:stCondLst>
                                            <p:cond delay="0"/>
                                          </p:stCondLst>
                                        </p:cTn>
                                        <p:tgtEl>
                                          <p:spTgt spid="98"/>
                                        </p:tgtEl>
                                        <p:attrNameLst>
                                          <p:attrName>style.visibility</p:attrName>
                                        </p:attrNameLst>
                                      </p:cBhvr>
                                      <p:to>
                                        <p:strVal val="visible"/>
                                      </p:to>
                                    </p:set>
                                    <p:animEffect transition="in" filter="wipe(down)">
                                      <p:cBhvr>
                                        <p:cTn id="80" dur="300"/>
                                        <p:tgtEl>
                                          <p:spTgt spid="98"/>
                                        </p:tgtEl>
                                      </p:cBhvr>
                                    </p:animEffect>
                                  </p:childTnLst>
                                </p:cTn>
                              </p:par>
                            </p:childTnLst>
                          </p:cTn>
                        </p:par>
                        <p:par>
                          <p:cTn id="81" fill="hold">
                            <p:stCondLst>
                              <p:cond delay="5600"/>
                            </p:stCondLst>
                            <p:childTnLst>
                              <p:par>
                                <p:cTn id="82" presetID="22" presetClass="entr" presetSubtype="1" fill="hold" grpId="0" nodeType="afterEffect">
                                  <p:stCondLst>
                                    <p:cond delay="0"/>
                                  </p:stCondLst>
                                  <p:childTnLst>
                                    <p:set>
                                      <p:cBhvr>
                                        <p:cTn id="83" dur="1" fill="hold">
                                          <p:stCondLst>
                                            <p:cond delay="0"/>
                                          </p:stCondLst>
                                        </p:cTn>
                                        <p:tgtEl>
                                          <p:spTgt spid="103"/>
                                        </p:tgtEl>
                                        <p:attrNameLst>
                                          <p:attrName>style.visibility</p:attrName>
                                        </p:attrNameLst>
                                      </p:cBhvr>
                                      <p:to>
                                        <p:strVal val="visible"/>
                                      </p:to>
                                    </p:set>
                                    <p:animEffect transition="in" filter="wipe(up)">
                                      <p:cBhvr>
                                        <p:cTn id="84" dur="500"/>
                                        <p:tgtEl>
                                          <p:spTgt spid="103"/>
                                        </p:tgtEl>
                                      </p:cBhvr>
                                    </p:animEffect>
                                  </p:childTnLst>
                                </p:cTn>
                              </p:par>
                            </p:childTnLst>
                          </p:cTn>
                        </p:par>
                        <p:par>
                          <p:cTn id="85" fill="hold">
                            <p:stCondLst>
                              <p:cond delay="6100"/>
                            </p:stCondLst>
                            <p:childTnLst>
                              <p:par>
                                <p:cTn id="86" presetID="31" presetClass="entr" presetSubtype="0" fill="hold" grpId="0" nodeType="afterEffect">
                                  <p:stCondLst>
                                    <p:cond delay="0"/>
                                  </p:stCondLst>
                                  <p:childTnLst>
                                    <p:set>
                                      <p:cBhvr>
                                        <p:cTn id="87" dur="1" fill="hold">
                                          <p:stCondLst>
                                            <p:cond delay="0"/>
                                          </p:stCondLst>
                                        </p:cTn>
                                        <p:tgtEl>
                                          <p:spTgt spid="116"/>
                                        </p:tgtEl>
                                        <p:attrNameLst>
                                          <p:attrName>style.visibility</p:attrName>
                                        </p:attrNameLst>
                                      </p:cBhvr>
                                      <p:to>
                                        <p:strVal val="visible"/>
                                      </p:to>
                                    </p:set>
                                    <p:anim calcmode="lin" valueType="num">
                                      <p:cBhvr>
                                        <p:cTn id="88" dur="400" fill="hold"/>
                                        <p:tgtEl>
                                          <p:spTgt spid="116"/>
                                        </p:tgtEl>
                                        <p:attrNameLst>
                                          <p:attrName>ppt_w</p:attrName>
                                        </p:attrNameLst>
                                      </p:cBhvr>
                                      <p:tavLst>
                                        <p:tav tm="0">
                                          <p:val>
                                            <p:fltVal val="0"/>
                                          </p:val>
                                        </p:tav>
                                        <p:tav tm="100000">
                                          <p:val>
                                            <p:strVal val="#ppt_w"/>
                                          </p:val>
                                        </p:tav>
                                      </p:tavLst>
                                    </p:anim>
                                    <p:anim calcmode="lin" valueType="num">
                                      <p:cBhvr>
                                        <p:cTn id="89" dur="400" fill="hold"/>
                                        <p:tgtEl>
                                          <p:spTgt spid="116"/>
                                        </p:tgtEl>
                                        <p:attrNameLst>
                                          <p:attrName>ppt_h</p:attrName>
                                        </p:attrNameLst>
                                      </p:cBhvr>
                                      <p:tavLst>
                                        <p:tav tm="0">
                                          <p:val>
                                            <p:fltVal val="0"/>
                                          </p:val>
                                        </p:tav>
                                        <p:tav tm="100000">
                                          <p:val>
                                            <p:strVal val="#ppt_h"/>
                                          </p:val>
                                        </p:tav>
                                      </p:tavLst>
                                    </p:anim>
                                    <p:anim calcmode="lin" valueType="num">
                                      <p:cBhvr>
                                        <p:cTn id="90" dur="400" fill="hold"/>
                                        <p:tgtEl>
                                          <p:spTgt spid="116"/>
                                        </p:tgtEl>
                                        <p:attrNameLst>
                                          <p:attrName>style.rotation</p:attrName>
                                        </p:attrNameLst>
                                      </p:cBhvr>
                                      <p:tavLst>
                                        <p:tav tm="0">
                                          <p:val>
                                            <p:fltVal val="90"/>
                                          </p:val>
                                        </p:tav>
                                        <p:tav tm="100000">
                                          <p:val>
                                            <p:fltVal val="0"/>
                                          </p:val>
                                        </p:tav>
                                      </p:tavLst>
                                    </p:anim>
                                    <p:animEffect transition="in" filter="fade">
                                      <p:cBhvr>
                                        <p:cTn id="91" dur="400"/>
                                        <p:tgtEl>
                                          <p:spTgt spid="116"/>
                                        </p:tgtEl>
                                      </p:cBhvr>
                                    </p:animEffect>
                                  </p:childTnLst>
                                </p:cTn>
                              </p:par>
                            </p:childTnLst>
                          </p:cTn>
                        </p:par>
                        <p:par>
                          <p:cTn id="92" fill="hold">
                            <p:stCondLst>
                              <p:cond delay="6500"/>
                            </p:stCondLst>
                            <p:childTnLst>
                              <p:par>
                                <p:cTn id="93" presetID="22" presetClass="entr" presetSubtype="8" fill="hold" grpId="0" nodeType="afterEffect">
                                  <p:stCondLst>
                                    <p:cond delay="0"/>
                                  </p:stCondLst>
                                  <p:childTnLst>
                                    <p:set>
                                      <p:cBhvr>
                                        <p:cTn id="94" dur="1" fill="hold">
                                          <p:stCondLst>
                                            <p:cond delay="0"/>
                                          </p:stCondLst>
                                        </p:cTn>
                                        <p:tgtEl>
                                          <p:spTgt spid="115"/>
                                        </p:tgtEl>
                                        <p:attrNameLst>
                                          <p:attrName>style.visibility</p:attrName>
                                        </p:attrNameLst>
                                      </p:cBhvr>
                                      <p:to>
                                        <p:strVal val="visible"/>
                                      </p:to>
                                    </p:set>
                                    <p:animEffect transition="in" filter="wipe(left)">
                                      <p:cBhvr>
                                        <p:cTn id="95" dur="500"/>
                                        <p:tgtEl>
                                          <p:spTgt spid="115"/>
                                        </p:tgtEl>
                                      </p:cBhvr>
                                    </p:animEffect>
                                  </p:childTnLst>
                                </p:cTn>
                              </p:par>
                            </p:childTnLst>
                          </p:cTn>
                        </p:par>
                        <p:par>
                          <p:cTn id="96" fill="hold">
                            <p:stCondLst>
                              <p:cond delay="7000"/>
                            </p:stCondLst>
                            <p:childTnLst>
                              <p:par>
                                <p:cTn id="97" presetID="22" presetClass="entr" presetSubtype="4" fill="hold" grpId="0" nodeType="afterEffect">
                                  <p:stCondLst>
                                    <p:cond delay="0"/>
                                  </p:stCondLst>
                                  <p:childTnLst>
                                    <p:set>
                                      <p:cBhvr>
                                        <p:cTn id="98" dur="1" fill="hold">
                                          <p:stCondLst>
                                            <p:cond delay="0"/>
                                          </p:stCondLst>
                                        </p:cTn>
                                        <p:tgtEl>
                                          <p:spTgt spid="105"/>
                                        </p:tgtEl>
                                        <p:attrNameLst>
                                          <p:attrName>style.visibility</p:attrName>
                                        </p:attrNameLst>
                                      </p:cBhvr>
                                      <p:to>
                                        <p:strVal val="visible"/>
                                      </p:to>
                                    </p:set>
                                    <p:animEffect transition="in" filter="wipe(down)">
                                      <p:cBhvr>
                                        <p:cTn id="99" dur="300"/>
                                        <p:tgtEl>
                                          <p:spTgt spid="105"/>
                                        </p:tgtEl>
                                      </p:cBhvr>
                                    </p:animEffect>
                                  </p:childTnLst>
                                </p:cTn>
                              </p:par>
                            </p:childTnLst>
                          </p:cTn>
                        </p:par>
                        <p:par>
                          <p:cTn id="100" fill="hold">
                            <p:stCondLst>
                              <p:cond delay="7300"/>
                            </p:stCondLst>
                            <p:childTnLst>
                              <p:par>
                                <p:cTn id="101" presetID="22" presetClass="entr" presetSubtype="1" fill="hold" grpId="0" nodeType="afterEffect">
                                  <p:stCondLst>
                                    <p:cond delay="0"/>
                                  </p:stCondLst>
                                  <p:childTnLst>
                                    <p:set>
                                      <p:cBhvr>
                                        <p:cTn id="102" dur="1" fill="hold">
                                          <p:stCondLst>
                                            <p:cond delay="0"/>
                                          </p:stCondLst>
                                        </p:cTn>
                                        <p:tgtEl>
                                          <p:spTgt spid="106"/>
                                        </p:tgtEl>
                                        <p:attrNameLst>
                                          <p:attrName>style.visibility</p:attrName>
                                        </p:attrNameLst>
                                      </p:cBhvr>
                                      <p:to>
                                        <p:strVal val="visible"/>
                                      </p:to>
                                    </p:set>
                                    <p:animEffect transition="in" filter="wipe(up)">
                                      <p:cBhvr>
                                        <p:cTn id="103" dur="500"/>
                                        <p:tgtEl>
                                          <p:spTgt spid="106"/>
                                        </p:tgtEl>
                                      </p:cBhvr>
                                    </p:animEffect>
                                  </p:childTnLst>
                                </p:cTn>
                              </p:par>
                            </p:childTnLst>
                          </p:cTn>
                        </p:par>
                        <p:par>
                          <p:cTn id="104" fill="hold">
                            <p:stCondLst>
                              <p:cond delay="7800"/>
                            </p:stCondLst>
                            <p:childTnLst>
                              <p:par>
                                <p:cTn id="105" presetID="31" presetClass="entr" presetSubtype="0" fill="hold" grpId="0" nodeType="afterEffect">
                                  <p:stCondLst>
                                    <p:cond delay="0"/>
                                  </p:stCondLst>
                                  <p:childTnLst>
                                    <p:set>
                                      <p:cBhvr>
                                        <p:cTn id="106" dur="1" fill="hold">
                                          <p:stCondLst>
                                            <p:cond delay="0"/>
                                          </p:stCondLst>
                                        </p:cTn>
                                        <p:tgtEl>
                                          <p:spTgt spid="118"/>
                                        </p:tgtEl>
                                        <p:attrNameLst>
                                          <p:attrName>style.visibility</p:attrName>
                                        </p:attrNameLst>
                                      </p:cBhvr>
                                      <p:to>
                                        <p:strVal val="visible"/>
                                      </p:to>
                                    </p:set>
                                    <p:anim calcmode="lin" valueType="num">
                                      <p:cBhvr>
                                        <p:cTn id="107" dur="400" fill="hold"/>
                                        <p:tgtEl>
                                          <p:spTgt spid="118"/>
                                        </p:tgtEl>
                                        <p:attrNameLst>
                                          <p:attrName>ppt_w</p:attrName>
                                        </p:attrNameLst>
                                      </p:cBhvr>
                                      <p:tavLst>
                                        <p:tav tm="0">
                                          <p:val>
                                            <p:fltVal val="0"/>
                                          </p:val>
                                        </p:tav>
                                        <p:tav tm="100000">
                                          <p:val>
                                            <p:strVal val="#ppt_w"/>
                                          </p:val>
                                        </p:tav>
                                      </p:tavLst>
                                    </p:anim>
                                    <p:anim calcmode="lin" valueType="num">
                                      <p:cBhvr>
                                        <p:cTn id="108" dur="400" fill="hold"/>
                                        <p:tgtEl>
                                          <p:spTgt spid="118"/>
                                        </p:tgtEl>
                                        <p:attrNameLst>
                                          <p:attrName>ppt_h</p:attrName>
                                        </p:attrNameLst>
                                      </p:cBhvr>
                                      <p:tavLst>
                                        <p:tav tm="0">
                                          <p:val>
                                            <p:fltVal val="0"/>
                                          </p:val>
                                        </p:tav>
                                        <p:tav tm="100000">
                                          <p:val>
                                            <p:strVal val="#ppt_h"/>
                                          </p:val>
                                        </p:tav>
                                      </p:tavLst>
                                    </p:anim>
                                    <p:anim calcmode="lin" valueType="num">
                                      <p:cBhvr>
                                        <p:cTn id="109" dur="400" fill="hold"/>
                                        <p:tgtEl>
                                          <p:spTgt spid="118"/>
                                        </p:tgtEl>
                                        <p:attrNameLst>
                                          <p:attrName>style.rotation</p:attrName>
                                        </p:attrNameLst>
                                      </p:cBhvr>
                                      <p:tavLst>
                                        <p:tav tm="0">
                                          <p:val>
                                            <p:fltVal val="90"/>
                                          </p:val>
                                        </p:tav>
                                        <p:tav tm="100000">
                                          <p:val>
                                            <p:fltVal val="0"/>
                                          </p:val>
                                        </p:tav>
                                      </p:tavLst>
                                    </p:anim>
                                    <p:animEffect transition="in" filter="fade">
                                      <p:cBhvr>
                                        <p:cTn id="110" dur="400"/>
                                        <p:tgtEl>
                                          <p:spTgt spid="118"/>
                                        </p:tgtEl>
                                      </p:cBhvr>
                                    </p:animEffect>
                                  </p:childTnLst>
                                </p:cTn>
                              </p:par>
                            </p:childTnLst>
                          </p:cTn>
                        </p:par>
                        <p:par>
                          <p:cTn id="111" fill="hold">
                            <p:stCondLst>
                              <p:cond delay="8200"/>
                            </p:stCondLst>
                            <p:childTnLst>
                              <p:par>
                                <p:cTn id="112" presetID="22" presetClass="entr" presetSubtype="8" fill="hold" grpId="0" nodeType="afterEffect">
                                  <p:stCondLst>
                                    <p:cond delay="0"/>
                                  </p:stCondLst>
                                  <p:childTnLst>
                                    <p:set>
                                      <p:cBhvr>
                                        <p:cTn id="113" dur="1" fill="hold">
                                          <p:stCondLst>
                                            <p:cond delay="0"/>
                                          </p:stCondLst>
                                        </p:cTn>
                                        <p:tgtEl>
                                          <p:spTgt spid="117"/>
                                        </p:tgtEl>
                                        <p:attrNameLst>
                                          <p:attrName>style.visibility</p:attrName>
                                        </p:attrNameLst>
                                      </p:cBhvr>
                                      <p:to>
                                        <p:strVal val="visible"/>
                                      </p:to>
                                    </p:set>
                                    <p:animEffect transition="in" filter="wipe(left)">
                                      <p:cBhvr>
                                        <p:cTn id="114" dur="500"/>
                                        <p:tgtEl>
                                          <p:spTgt spid="117"/>
                                        </p:tgtEl>
                                      </p:cBhvr>
                                    </p:animEffect>
                                  </p:childTnLst>
                                </p:cTn>
                              </p:par>
                            </p:childTnLst>
                          </p:cTn>
                        </p:par>
                        <p:par>
                          <p:cTn id="115" fill="hold">
                            <p:stCondLst>
                              <p:cond delay="8700"/>
                            </p:stCondLst>
                            <p:childTnLst>
                              <p:par>
                                <p:cTn id="116" presetID="22" presetClass="entr" presetSubtype="4" fill="hold" grpId="0" nodeType="afterEffect">
                                  <p:stCondLst>
                                    <p:cond delay="0"/>
                                  </p:stCondLst>
                                  <p:childTnLst>
                                    <p:set>
                                      <p:cBhvr>
                                        <p:cTn id="117" dur="1" fill="hold">
                                          <p:stCondLst>
                                            <p:cond delay="0"/>
                                          </p:stCondLst>
                                        </p:cTn>
                                        <p:tgtEl>
                                          <p:spTgt spid="108"/>
                                        </p:tgtEl>
                                        <p:attrNameLst>
                                          <p:attrName>style.visibility</p:attrName>
                                        </p:attrNameLst>
                                      </p:cBhvr>
                                      <p:to>
                                        <p:strVal val="visible"/>
                                      </p:to>
                                    </p:set>
                                    <p:animEffect transition="in" filter="wipe(down)">
                                      <p:cBhvr>
                                        <p:cTn id="118" dur="300"/>
                                        <p:tgtEl>
                                          <p:spTgt spid="108"/>
                                        </p:tgtEl>
                                      </p:cBhvr>
                                    </p:animEffect>
                                  </p:childTnLst>
                                </p:cTn>
                              </p:par>
                            </p:childTnLst>
                          </p:cTn>
                        </p:par>
                        <p:par>
                          <p:cTn id="119" fill="hold">
                            <p:stCondLst>
                              <p:cond delay="9000"/>
                            </p:stCondLst>
                            <p:childTnLst>
                              <p:par>
                                <p:cTn id="120" presetID="22" presetClass="entr" presetSubtype="1" fill="hold" grpId="0" nodeType="afterEffect">
                                  <p:stCondLst>
                                    <p:cond delay="0"/>
                                  </p:stCondLst>
                                  <p:childTnLst>
                                    <p:set>
                                      <p:cBhvr>
                                        <p:cTn id="121" dur="1" fill="hold">
                                          <p:stCondLst>
                                            <p:cond delay="0"/>
                                          </p:stCondLst>
                                        </p:cTn>
                                        <p:tgtEl>
                                          <p:spTgt spid="109"/>
                                        </p:tgtEl>
                                        <p:attrNameLst>
                                          <p:attrName>style.visibility</p:attrName>
                                        </p:attrNameLst>
                                      </p:cBhvr>
                                      <p:to>
                                        <p:strVal val="visible"/>
                                      </p:to>
                                    </p:set>
                                    <p:animEffect transition="in" filter="wipe(up)">
                                      <p:cBhvr>
                                        <p:cTn id="122" dur="500"/>
                                        <p:tgtEl>
                                          <p:spTgt spid="109"/>
                                        </p:tgtEl>
                                      </p:cBhvr>
                                    </p:animEffect>
                                  </p:childTnLst>
                                </p:cTn>
                              </p:par>
                            </p:childTnLst>
                          </p:cTn>
                        </p:par>
                        <p:par>
                          <p:cTn id="123" fill="hold">
                            <p:stCondLst>
                              <p:cond delay="9500"/>
                            </p:stCondLst>
                            <p:childTnLst>
                              <p:par>
                                <p:cTn id="124" presetID="31" presetClass="entr" presetSubtype="0" fill="hold" grpId="0" nodeType="afterEffect">
                                  <p:stCondLst>
                                    <p:cond delay="0"/>
                                  </p:stCondLst>
                                  <p:childTnLst>
                                    <p:set>
                                      <p:cBhvr>
                                        <p:cTn id="125" dur="1" fill="hold">
                                          <p:stCondLst>
                                            <p:cond delay="0"/>
                                          </p:stCondLst>
                                        </p:cTn>
                                        <p:tgtEl>
                                          <p:spTgt spid="120"/>
                                        </p:tgtEl>
                                        <p:attrNameLst>
                                          <p:attrName>style.visibility</p:attrName>
                                        </p:attrNameLst>
                                      </p:cBhvr>
                                      <p:to>
                                        <p:strVal val="visible"/>
                                      </p:to>
                                    </p:set>
                                    <p:anim calcmode="lin" valueType="num">
                                      <p:cBhvr>
                                        <p:cTn id="126" dur="400" fill="hold"/>
                                        <p:tgtEl>
                                          <p:spTgt spid="120"/>
                                        </p:tgtEl>
                                        <p:attrNameLst>
                                          <p:attrName>ppt_w</p:attrName>
                                        </p:attrNameLst>
                                      </p:cBhvr>
                                      <p:tavLst>
                                        <p:tav tm="0">
                                          <p:val>
                                            <p:fltVal val="0"/>
                                          </p:val>
                                        </p:tav>
                                        <p:tav tm="100000">
                                          <p:val>
                                            <p:strVal val="#ppt_w"/>
                                          </p:val>
                                        </p:tav>
                                      </p:tavLst>
                                    </p:anim>
                                    <p:anim calcmode="lin" valueType="num">
                                      <p:cBhvr>
                                        <p:cTn id="127" dur="400" fill="hold"/>
                                        <p:tgtEl>
                                          <p:spTgt spid="120"/>
                                        </p:tgtEl>
                                        <p:attrNameLst>
                                          <p:attrName>ppt_h</p:attrName>
                                        </p:attrNameLst>
                                      </p:cBhvr>
                                      <p:tavLst>
                                        <p:tav tm="0">
                                          <p:val>
                                            <p:fltVal val="0"/>
                                          </p:val>
                                        </p:tav>
                                        <p:tav tm="100000">
                                          <p:val>
                                            <p:strVal val="#ppt_h"/>
                                          </p:val>
                                        </p:tav>
                                      </p:tavLst>
                                    </p:anim>
                                    <p:anim calcmode="lin" valueType="num">
                                      <p:cBhvr>
                                        <p:cTn id="128" dur="400" fill="hold"/>
                                        <p:tgtEl>
                                          <p:spTgt spid="120"/>
                                        </p:tgtEl>
                                        <p:attrNameLst>
                                          <p:attrName>style.rotation</p:attrName>
                                        </p:attrNameLst>
                                      </p:cBhvr>
                                      <p:tavLst>
                                        <p:tav tm="0">
                                          <p:val>
                                            <p:fltVal val="90"/>
                                          </p:val>
                                        </p:tav>
                                        <p:tav tm="100000">
                                          <p:val>
                                            <p:fltVal val="0"/>
                                          </p:val>
                                        </p:tav>
                                      </p:tavLst>
                                    </p:anim>
                                    <p:animEffect transition="in" filter="fade">
                                      <p:cBhvr>
                                        <p:cTn id="129" dur="400"/>
                                        <p:tgtEl>
                                          <p:spTgt spid="120"/>
                                        </p:tgtEl>
                                      </p:cBhvr>
                                    </p:animEffect>
                                  </p:childTnLst>
                                </p:cTn>
                              </p:par>
                            </p:childTnLst>
                          </p:cTn>
                        </p:par>
                        <p:par>
                          <p:cTn id="130" fill="hold">
                            <p:stCondLst>
                              <p:cond delay="9900"/>
                            </p:stCondLst>
                            <p:childTnLst>
                              <p:par>
                                <p:cTn id="131" presetID="22" presetClass="entr" presetSubtype="8" fill="hold" grpId="0" nodeType="afterEffect">
                                  <p:stCondLst>
                                    <p:cond delay="0"/>
                                  </p:stCondLst>
                                  <p:childTnLst>
                                    <p:set>
                                      <p:cBhvr>
                                        <p:cTn id="132" dur="1" fill="hold">
                                          <p:stCondLst>
                                            <p:cond delay="0"/>
                                          </p:stCondLst>
                                        </p:cTn>
                                        <p:tgtEl>
                                          <p:spTgt spid="119"/>
                                        </p:tgtEl>
                                        <p:attrNameLst>
                                          <p:attrName>style.visibility</p:attrName>
                                        </p:attrNameLst>
                                      </p:cBhvr>
                                      <p:to>
                                        <p:strVal val="visible"/>
                                      </p:to>
                                    </p:set>
                                    <p:animEffect transition="in" filter="wipe(left)">
                                      <p:cBhvr>
                                        <p:cTn id="133" dur="500"/>
                                        <p:tgtEl>
                                          <p:spTgt spid="119"/>
                                        </p:tgtEl>
                                      </p:cBhvr>
                                    </p:animEffect>
                                  </p:childTnLst>
                                </p:cTn>
                              </p:par>
                            </p:childTnLst>
                          </p:cTn>
                        </p:par>
                        <p:par>
                          <p:cTn id="134" fill="hold">
                            <p:stCondLst>
                              <p:cond delay="10400"/>
                            </p:stCondLst>
                            <p:childTnLst>
                              <p:par>
                                <p:cTn id="135" presetID="22" presetClass="entr" presetSubtype="4" fill="hold" grpId="0" nodeType="afterEffect">
                                  <p:stCondLst>
                                    <p:cond delay="0"/>
                                  </p:stCondLst>
                                  <p:childTnLst>
                                    <p:set>
                                      <p:cBhvr>
                                        <p:cTn id="136" dur="1" fill="hold">
                                          <p:stCondLst>
                                            <p:cond delay="0"/>
                                          </p:stCondLst>
                                        </p:cTn>
                                        <p:tgtEl>
                                          <p:spTgt spid="111"/>
                                        </p:tgtEl>
                                        <p:attrNameLst>
                                          <p:attrName>style.visibility</p:attrName>
                                        </p:attrNameLst>
                                      </p:cBhvr>
                                      <p:to>
                                        <p:strVal val="visible"/>
                                      </p:to>
                                    </p:set>
                                    <p:animEffect transition="in" filter="wipe(down)">
                                      <p:cBhvr>
                                        <p:cTn id="137" dur="300"/>
                                        <p:tgtEl>
                                          <p:spTgt spid="111"/>
                                        </p:tgtEl>
                                      </p:cBhvr>
                                    </p:animEffect>
                                  </p:childTnLst>
                                </p:cTn>
                              </p:par>
                            </p:childTnLst>
                          </p:cTn>
                        </p:par>
                        <p:par>
                          <p:cTn id="138" fill="hold">
                            <p:stCondLst>
                              <p:cond delay="10700"/>
                            </p:stCondLst>
                            <p:childTnLst>
                              <p:par>
                                <p:cTn id="139" presetID="22" presetClass="entr" presetSubtype="1" fill="hold" grpId="0" nodeType="afterEffect">
                                  <p:stCondLst>
                                    <p:cond delay="0"/>
                                  </p:stCondLst>
                                  <p:childTnLst>
                                    <p:set>
                                      <p:cBhvr>
                                        <p:cTn id="140" dur="1" fill="hold">
                                          <p:stCondLst>
                                            <p:cond delay="0"/>
                                          </p:stCondLst>
                                        </p:cTn>
                                        <p:tgtEl>
                                          <p:spTgt spid="112"/>
                                        </p:tgtEl>
                                        <p:attrNameLst>
                                          <p:attrName>style.visibility</p:attrName>
                                        </p:attrNameLst>
                                      </p:cBhvr>
                                      <p:to>
                                        <p:strVal val="visible"/>
                                      </p:to>
                                    </p:set>
                                    <p:animEffect transition="in" filter="wipe(up)">
                                      <p:cBhvr>
                                        <p:cTn id="141" dur="500"/>
                                        <p:tgtEl>
                                          <p:spTgt spid="112"/>
                                        </p:tgtEl>
                                      </p:cBhvr>
                                    </p:animEffect>
                                  </p:childTnLst>
                                </p:cTn>
                              </p:par>
                            </p:childTnLst>
                          </p:cTn>
                        </p:par>
                        <p:par>
                          <p:cTn id="142" fill="hold">
                            <p:stCondLst>
                              <p:cond delay="11200"/>
                            </p:stCondLst>
                            <p:childTnLst>
                              <p:par>
                                <p:cTn id="143" presetID="31" presetClass="entr" presetSubtype="0" fill="hold" grpId="0" nodeType="afterEffect">
                                  <p:stCondLst>
                                    <p:cond delay="0"/>
                                  </p:stCondLst>
                                  <p:childTnLst>
                                    <p:set>
                                      <p:cBhvr>
                                        <p:cTn id="144" dur="1" fill="hold">
                                          <p:stCondLst>
                                            <p:cond delay="0"/>
                                          </p:stCondLst>
                                        </p:cTn>
                                        <p:tgtEl>
                                          <p:spTgt spid="122"/>
                                        </p:tgtEl>
                                        <p:attrNameLst>
                                          <p:attrName>style.visibility</p:attrName>
                                        </p:attrNameLst>
                                      </p:cBhvr>
                                      <p:to>
                                        <p:strVal val="visible"/>
                                      </p:to>
                                    </p:set>
                                    <p:anim calcmode="lin" valueType="num">
                                      <p:cBhvr>
                                        <p:cTn id="145" dur="400" fill="hold"/>
                                        <p:tgtEl>
                                          <p:spTgt spid="122"/>
                                        </p:tgtEl>
                                        <p:attrNameLst>
                                          <p:attrName>ppt_w</p:attrName>
                                        </p:attrNameLst>
                                      </p:cBhvr>
                                      <p:tavLst>
                                        <p:tav tm="0">
                                          <p:val>
                                            <p:fltVal val="0"/>
                                          </p:val>
                                        </p:tav>
                                        <p:tav tm="100000">
                                          <p:val>
                                            <p:strVal val="#ppt_w"/>
                                          </p:val>
                                        </p:tav>
                                      </p:tavLst>
                                    </p:anim>
                                    <p:anim calcmode="lin" valueType="num">
                                      <p:cBhvr>
                                        <p:cTn id="146" dur="400" fill="hold"/>
                                        <p:tgtEl>
                                          <p:spTgt spid="122"/>
                                        </p:tgtEl>
                                        <p:attrNameLst>
                                          <p:attrName>ppt_h</p:attrName>
                                        </p:attrNameLst>
                                      </p:cBhvr>
                                      <p:tavLst>
                                        <p:tav tm="0">
                                          <p:val>
                                            <p:fltVal val="0"/>
                                          </p:val>
                                        </p:tav>
                                        <p:tav tm="100000">
                                          <p:val>
                                            <p:strVal val="#ppt_h"/>
                                          </p:val>
                                        </p:tav>
                                      </p:tavLst>
                                    </p:anim>
                                    <p:anim calcmode="lin" valueType="num">
                                      <p:cBhvr>
                                        <p:cTn id="147" dur="400" fill="hold"/>
                                        <p:tgtEl>
                                          <p:spTgt spid="122"/>
                                        </p:tgtEl>
                                        <p:attrNameLst>
                                          <p:attrName>style.rotation</p:attrName>
                                        </p:attrNameLst>
                                      </p:cBhvr>
                                      <p:tavLst>
                                        <p:tav tm="0">
                                          <p:val>
                                            <p:fltVal val="90"/>
                                          </p:val>
                                        </p:tav>
                                        <p:tav tm="100000">
                                          <p:val>
                                            <p:fltVal val="0"/>
                                          </p:val>
                                        </p:tav>
                                      </p:tavLst>
                                    </p:anim>
                                    <p:animEffect transition="in" filter="fade">
                                      <p:cBhvr>
                                        <p:cTn id="148" dur="400"/>
                                        <p:tgtEl>
                                          <p:spTgt spid="122"/>
                                        </p:tgtEl>
                                      </p:cBhvr>
                                    </p:animEffect>
                                  </p:childTnLst>
                                </p:cTn>
                              </p:par>
                            </p:childTnLst>
                          </p:cTn>
                        </p:par>
                        <p:par>
                          <p:cTn id="149" fill="hold">
                            <p:stCondLst>
                              <p:cond delay="11600"/>
                            </p:stCondLst>
                            <p:childTnLst>
                              <p:par>
                                <p:cTn id="150" presetID="22" presetClass="entr" presetSubtype="8" fill="hold" grpId="0" nodeType="afterEffect">
                                  <p:stCondLst>
                                    <p:cond delay="0"/>
                                  </p:stCondLst>
                                  <p:childTnLst>
                                    <p:set>
                                      <p:cBhvr>
                                        <p:cTn id="151" dur="1" fill="hold">
                                          <p:stCondLst>
                                            <p:cond delay="0"/>
                                          </p:stCondLst>
                                        </p:cTn>
                                        <p:tgtEl>
                                          <p:spTgt spid="121"/>
                                        </p:tgtEl>
                                        <p:attrNameLst>
                                          <p:attrName>style.visibility</p:attrName>
                                        </p:attrNameLst>
                                      </p:cBhvr>
                                      <p:to>
                                        <p:strVal val="visible"/>
                                      </p:to>
                                    </p:set>
                                    <p:animEffect transition="in" filter="wipe(left)">
                                      <p:cBhvr>
                                        <p:cTn id="152" dur="500"/>
                                        <p:tgtEl>
                                          <p:spTgt spid="121"/>
                                        </p:tgtEl>
                                      </p:cBhvr>
                                    </p:animEffect>
                                  </p:childTnLst>
                                </p:cTn>
                              </p:par>
                              <p:par>
                                <p:cTn id="153" presetID="2" presetClass="entr" presetSubtype="6" fill="hold" grpId="0" nodeType="withEffect">
                                  <p:stCondLst>
                                    <p:cond delay="400"/>
                                  </p:stCondLst>
                                  <p:childTnLst>
                                    <p:set>
                                      <p:cBhvr>
                                        <p:cTn id="154" dur="1" fill="hold">
                                          <p:stCondLst>
                                            <p:cond delay="0"/>
                                          </p:stCondLst>
                                        </p:cTn>
                                        <p:tgtEl>
                                          <p:spTgt spid="32"/>
                                        </p:tgtEl>
                                        <p:attrNameLst>
                                          <p:attrName>style.visibility</p:attrName>
                                        </p:attrNameLst>
                                      </p:cBhvr>
                                      <p:to>
                                        <p:strVal val="visible"/>
                                      </p:to>
                                    </p:set>
                                    <p:anim calcmode="lin" valueType="num">
                                      <p:cBhvr additive="base">
                                        <p:cTn id="155" dur="500" fill="hold"/>
                                        <p:tgtEl>
                                          <p:spTgt spid="32"/>
                                        </p:tgtEl>
                                        <p:attrNameLst>
                                          <p:attrName>ppt_x</p:attrName>
                                        </p:attrNameLst>
                                      </p:cBhvr>
                                      <p:tavLst>
                                        <p:tav tm="0">
                                          <p:val>
                                            <p:strVal val="1+#ppt_w/2"/>
                                          </p:val>
                                        </p:tav>
                                        <p:tav tm="100000">
                                          <p:val>
                                            <p:strVal val="#ppt_x"/>
                                          </p:val>
                                        </p:tav>
                                      </p:tavLst>
                                    </p:anim>
                                    <p:anim calcmode="lin" valueType="num">
                                      <p:cBhvr additive="base">
                                        <p:cTn id="156" dur="500" fill="hold"/>
                                        <p:tgtEl>
                                          <p:spTgt spid="32"/>
                                        </p:tgtEl>
                                        <p:attrNameLst>
                                          <p:attrName>ppt_y</p:attrName>
                                        </p:attrNameLst>
                                      </p:cBhvr>
                                      <p:tavLst>
                                        <p:tav tm="0">
                                          <p:val>
                                            <p:strVal val="1+#ppt_h/2"/>
                                          </p:val>
                                        </p:tav>
                                        <p:tav tm="100000">
                                          <p:val>
                                            <p:strVal val="#ppt_y"/>
                                          </p:val>
                                        </p:tav>
                                      </p:tavLst>
                                    </p:anim>
                                  </p:childTnLst>
                                </p:cTn>
                              </p:par>
                            </p:childTnLst>
                          </p:cTn>
                        </p:par>
                        <p:par>
                          <p:cTn id="157" fill="hold">
                            <p:stCondLst>
                              <p:cond delay="12500"/>
                            </p:stCondLst>
                            <p:childTnLst>
                              <p:par>
                                <p:cTn id="158" presetID="22" presetClass="entr" presetSubtype="4" fill="hold" grpId="0" nodeType="afterEffect">
                                  <p:stCondLst>
                                    <p:cond delay="0"/>
                                  </p:stCondLst>
                                  <p:childTnLst>
                                    <p:set>
                                      <p:cBhvr>
                                        <p:cTn id="159" dur="1" fill="hold">
                                          <p:stCondLst>
                                            <p:cond delay="0"/>
                                          </p:stCondLst>
                                        </p:cTn>
                                        <p:tgtEl>
                                          <p:spTgt spid="33"/>
                                        </p:tgtEl>
                                        <p:attrNameLst>
                                          <p:attrName>style.visibility</p:attrName>
                                        </p:attrNameLst>
                                      </p:cBhvr>
                                      <p:to>
                                        <p:strVal val="visible"/>
                                      </p:to>
                                    </p:set>
                                    <p:animEffect transition="in" filter="wipe(down)">
                                      <p:cBhvr>
                                        <p:cTn id="160" dur="300"/>
                                        <p:tgtEl>
                                          <p:spTgt spid="33"/>
                                        </p:tgtEl>
                                      </p:cBhvr>
                                    </p:animEffect>
                                  </p:childTnLst>
                                </p:cTn>
                              </p:par>
                            </p:childTnLst>
                          </p:cTn>
                        </p:par>
                        <p:par>
                          <p:cTn id="161" fill="hold">
                            <p:stCondLst>
                              <p:cond delay="12800"/>
                            </p:stCondLst>
                            <p:childTnLst>
                              <p:par>
                                <p:cTn id="162" presetID="22" presetClass="entr" presetSubtype="1" fill="hold" grpId="0" nodeType="afterEffect">
                                  <p:stCondLst>
                                    <p:cond delay="0"/>
                                  </p:stCondLst>
                                  <p:childTnLst>
                                    <p:set>
                                      <p:cBhvr>
                                        <p:cTn id="163" dur="1" fill="hold">
                                          <p:stCondLst>
                                            <p:cond delay="0"/>
                                          </p:stCondLst>
                                        </p:cTn>
                                        <p:tgtEl>
                                          <p:spTgt spid="34"/>
                                        </p:tgtEl>
                                        <p:attrNameLst>
                                          <p:attrName>style.visibility</p:attrName>
                                        </p:attrNameLst>
                                      </p:cBhvr>
                                      <p:to>
                                        <p:strVal val="visible"/>
                                      </p:to>
                                    </p:set>
                                    <p:animEffect transition="in" filter="wipe(up)">
                                      <p:cBhvr>
                                        <p:cTn id="164" dur="500"/>
                                        <p:tgtEl>
                                          <p:spTgt spid="34"/>
                                        </p:tgtEl>
                                      </p:cBhvr>
                                    </p:animEffect>
                                  </p:childTnLst>
                                </p:cTn>
                              </p:par>
                            </p:childTnLst>
                          </p:cTn>
                        </p:par>
                        <p:par>
                          <p:cTn id="165" fill="hold">
                            <p:stCondLst>
                              <p:cond delay="13300"/>
                            </p:stCondLst>
                            <p:childTnLst>
                              <p:par>
                                <p:cTn id="166" presetID="31" presetClass="entr" presetSubtype="0" fill="hold" grpId="0" nodeType="afterEffect">
                                  <p:stCondLst>
                                    <p:cond delay="0"/>
                                  </p:stCondLst>
                                  <p:childTnLst>
                                    <p:set>
                                      <p:cBhvr>
                                        <p:cTn id="167" dur="1" fill="hold">
                                          <p:stCondLst>
                                            <p:cond delay="0"/>
                                          </p:stCondLst>
                                        </p:cTn>
                                        <p:tgtEl>
                                          <p:spTgt spid="36"/>
                                        </p:tgtEl>
                                        <p:attrNameLst>
                                          <p:attrName>style.visibility</p:attrName>
                                        </p:attrNameLst>
                                      </p:cBhvr>
                                      <p:to>
                                        <p:strVal val="visible"/>
                                      </p:to>
                                    </p:set>
                                    <p:anim calcmode="lin" valueType="num">
                                      <p:cBhvr>
                                        <p:cTn id="168" dur="400" fill="hold"/>
                                        <p:tgtEl>
                                          <p:spTgt spid="36"/>
                                        </p:tgtEl>
                                        <p:attrNameLst>
                                          <p:attrName>ppt_w</p:attrName>
                                        </p:attrNameLst>
                                      </p:cBhvr>
                                      <p:tavLst>
                                        <p:tav tm="0">
                                          <p:val>
                                            <p:fltVal val="0"/>
                                          </p:val>
                                        </p:tav>
                                        <p:tav tm="100000">
                                          <p:val>
                                            <p:strVal val="#ppt_w"/>
                                          </p:val>
                                        </p:tav>
                                      </p:tavLst>
                                    </p:anim>
                                    <p:anim calcmode="lin" valueType="num">
                                      <p:cBhvr>
                                        <p:cTn id="169" dur="400" fill="hold"/>
                                        <p:tgtEl>
                                          <p:spTgt spid="36"/>
                                        </p:tgtEl>
                                        <p:attrNameLst>
                                          <p:attrName>ppt_h</p:attrName>
                                        </p:attrNameLst>
                                      </p:cBhvr>
                                      <p:tavLst>
                                        <p:tav tm="0">
                                          <p:val>
                                            <p:fltVal val="0"/>
                                          </p:val>
                                        </p:tav>
                                        <p:tav tm="100000">
                                          <p:val>
                                            <p:strVal val="#ppt_h"/>
                                          </p:val>
                                        </p:tav>
                                      </p:tavLst>
                                    </p:anim>
                                    <p:anim calcmode="lin" valueType="num">
                                      <p:cBhvr>
                                        <p:cTn id="170" dur="400" fill="hold"/>
                                        <p:tgtEl>
                                          <p:spTgt spid="36"/>
                                        </p:tgtEl>
                                        <p:attrNameLst>
                                          <p:attrName>style.rotation</p:attrName>
                                        </p:attrNameLst>
                                      </p:cBhvr>
                                      <p:tavLst>
                                        <p:tav tm="0">
                                          <p:val>
                                            <p:fltVal val="90"/>
                                          </p:val>
                                        </p:tav>
                                        <p:tav tm="100000">
                                          <p:val>
                                            <p:fltVal val="0"/>
                                          </p:val>
                                        </p:tav>
                                      </p:tavLst>
                                    </p:anim>
                                    <p:animEffect transition="in" filter="fade">
                                      <p:cBhvr>
                                        <p:cTn id="171" dur="400"/>
                                        <p:tgtEl>
                                          <p:spTgt spid="36"/>
                                        </p:tgtEl>
                                      </p:cBhvr>
                                    </p:animEffect>
                                  </p:childTnLst>
                                </p:cTn>
                              </p:par>
                            </p:childTnLst>
                          </p:cTn>
                        </p:par>
                        <p:par>
                          <p:cTn id="172" fill="hold">
                            <p:stCondLst>
                              <p:cond delay="13700"/>
                            </p:stCondLst>
                            <p:childTnLst>
                              <p:par>
                                <p:cTn id="173" presetID="22" presetClass="entr" presetSubtype="8" fill="hold" grpId="0" nodeType="afterEffect">
                                  <p:stCondLst>
                                    <p:cond delay="0"/>
                                  </p:stCondLst>
                                  <p:childTnLst>
                                    <p:set>
                                      <p:cBhvr>
                                        <p:cTn id="174" dur="1" fill="hold">
                                          <p:stCondLst>
                                            <p:cond delay="0"/>
                                          </p:stCondLst>
                                        </p:cTn>
                                        <p:tgtEl>
                                          <p:spTgt spid="35"/>
                                        </p:tgtEl>
                                        <p:attrNameLst>
                                          <p:attrName>style.visibility</p:attrName>
                                        </p:attrNameLst>
                                      </p:cBhvr>
                                      <p:to>
                                        <p:strVal val="visible"/>
                                      </p:to>
                                    </p:set>
                                    <p:animEffect transition="in" filter="wipe(left)">
                                      <p:cBhvr>
                                        <p:cTn id="17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0" grpId="0" animBg="1" autoUpdateAnimBg="0"/>
      <p:bldP spid="80" grpId="1" animBg="1"/>
      <p:bldP spid="85" grpId="0" animBg="1"/>
      <p:bldP spid="85" grpId="1" animBg="1"/>
      <p:bldP spid="94" grpId="0" animBg="1"/>
      <p:bldP spid="95" grpId="0" animBg="1"/>
      <p:bldP spid="96" grpId="0" animBg="1" autoUpdateAnimBg="0"/>
      <p:bldP spid="97" grpId="0" animBg="1"/>
      <p:bldP spid="98" grpId="0" animBg="1"/>
      <p:bldP spid="103" grpId="0" animBg="1" autoUpdateAnimBg="0"/>
      <p:bldP spid="104" grpId="0" animBg="1"/>
      <p:bldP spid="105" grpId="0" animBg="1"/>
      <p:bldP spid="106" grpId="0" animBg="1" autoUpdateAnimBg="0"/>
      <p:bldP spid="107" grpId="0" animBg="1"/>
      <p:bldP spid="108" grpId="0" animBg="1"/>
      <p:bldP spid="109" grpId="0" animBg="1" autoUpdateAnimBg="0"/>
      <p:bldP spid="110" grpId="0" animBg="1"/>
      <p:bldP spid="111" grpId="0" animBg="1"/>
      <p:bldP spid="112" grpId="0" animBg="1" autoUpdateAnimBg="0"/>
      <p:bldP spid="113" grpId="0" autoUpdateAnimBg="0"/>
      <p:bldP spid="114" grpId="0" autoUpdateAnimBg="0"/>
      <p:bldP spid="115" grpId="0" autoUpdateAnimBg="0"/>
      <p:bldP spid="116" grpId="0" autoUpdateAnimBg="0"/>
      <p:bldP spid="117" grpId="0" autoUpdateAnimBg="0"/>
      <p:bldP spid="118" grpId="0" autoUpdateAnimBg="0"/>
      <p:bldP spid="119" grpId="0" autoUpdateAnimBg="0"/>
      <p:bldP spid="120" grpId="0" autoUpdateAnimBg="0"/>
      <p:bldP spid="121" grpId="0" autoUpdateAnimBg="0"/>
      <p:bldP spid="122" grpId="0" autoUpdateAnimBg="0"/>
      <p:bldP spid="86" grpId="0" animBg="1"/>
      <p:bldP spid="86" grpId="1" animBg="1"/>
      <p:bldP spid="32" grpId="0" animBg="1"/>
      <p:bldP spid="33" grpId="0" animBg="1"/>
      <p:bldP spid="34" grpId="0" animBg="1" autoUpdateAnimBg="0"/>
      <p:bldP spid="35" grpId="0" autoUpdateAnimBg="0"/>
      <p:bldP spid="3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10.1</a:t>
            </a:r>
            <a:r>
              <a:rPr kumimoji="1" lang="zh-CN" altLang="en-US" sz="3200" b="1" dirty="0">
                <a:latin typeface="华光胖头鱼_CNKI" panose="02000500000000000000" pitchFamily="2" charset="-122"/>
                <a:ea typeface="华光胖头鱼_CNKI" panose="02000500000000000000" pitchFamily="2" charset="-122"/>
              </a:rPr>
              <a:t>多态性</a:t>
            </a:r>
          </a:p>
        </p:txBody>
      </p:sp>
      <p:cxnSp>
        <p:nvCxnSpPr>
          <p:cNvPr id="67" name="直线连接符 6">
            <a:extLst>
              <a:ext uri="{FF2B5EF4-FFF2-40B4-BE49-F238E27FC236}">
                <a16:creationId xmlns:a16="http://schemas.microsoft.com/office/drawing/2014/main" id="{AEF611B7-94DC-441C-A18C-E7C0B96C20B0}"/>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pic>
        <p:nvPicPr>
          <p:cNvPr id="3" name="图片 2">
            <a:extLst>
              <a:ext uri="{FF2B5EF4-FFF2-40B4-BE49-F238E27FC236}">
                <a16:creationId xmlns:a16="http://schemas.microsoft.com/office/drawing/2014/main" id="{F744CB85-554F-48CE-A294-7DC84769777F}"/>
              </a:ext>
            </a:extLst>
          </p:cNvPr>
          <p:cNvPicPr>
            <a:picLocks noChangeAspect="1"/>
          </p:cNvPicPr>
          <p:nvPr/>
        </p:nvPicPr>
        <p:blipFill>
          <a:blip r:embed="rId3"/>
          <a:stretch>
            <a:fillRect/>
          </a:stretch>
        </p:blipFill>
        <p:spPr>
          <a:xfrm>
            <a:off x="0" y="936699"/>
            <a:ext cx="3915030" cy="2776112"/>
          </a:xfrm>
          <a:prstGeom prst="rect">
            <a:avLst/>
          </a:prstGeom>
        </p:spPr>
      </p:pic>
      <p:sp>
        <p:nvSpPr>
          <p:cNvPr id="101" name="矩形 3">
            <a:extLst>
              <a:ext uri="{FF2B5EF4-FFF2-40B4-BE49-F238E27FC236}">
                <a16:creationId xmlns:a16="http://schemas.microsoft.com/office/drawing/2014/main" id="{95CE4916-98E3-4C21-9F25-799C5B4D5BEB}"/>
              </a:ext>
            </a:extLst>
          </p:cNvPr>
          <p:cNvSpPr>
            <a:spLocks noChangeArrowheads="1"/>
          </p:cNvSpPr>
          <p:nvPr/>
        </p:nvSpPr>
        <p:spPr bwMode="auto">
          <a:xfrm>
            <a:off x="2939987" y="2182894"/>
            <a:ext cx="600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104E87"/>
                </a:solidFill>
              </a:rPr>
              <a:t>🐶</a:t>
            </a:r>
          </a:p>
        </p:txBody>
      </p:sp>
      <p:sp>
        <p:nvSpPr>
          <p:cNvPr id="102" name="矩形 7">
            <a:extLst>
              <a:ext uri="{FF2B5EF4-FFF2-40B4-BE49-F238E27FC236}">
                <a16:creationId xmlns:a16="http://schemas.microsoft.com/office/drawing/2014/main" id="{A2FF16DC-F5EF-46BD-AA2D-644444C469EA}"/>
              </a:ext>
            </a:extLst>
          </p:cNvPr>
          <p:cNvSpPr>
            <a:spLocks noChangeArrowheads="1"/>
          </p:cNvSpPr>
          <p:nvPr/>
        </p:nvSpPr>
        <p:spPr bwMode="auto">
          <a:xfrm>
            <a:off x="362560" y="2181123"/>
            <a:ext cx="82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104E87"/>
                </a:solidFill>
              </a:rPr>
              <a:t>🐱</a:t>
            </a:r>
          </a:p>
        </p:txBody>
      </p:sp>
      <p:sp>
        <p:nvSpPr>
          <p:cNvPr id="112" name="TextBox 4">
            <a:extLst>
              <a:ext uri="{FF2B5EF4-FFF2-40B4-BE49-F238E27FC236}">
                <a16:creationId xmlns:a16="http://schemas.microsoft.com/office/drawing/2014/main" id="{C3DEA768-3AFE-49A7-A595-20434A61F653}"/>
              </a:ext>
            </a:extLst>
          </p:cNvPr>
          <p:cNvSpPr txBox="1"/>
          <p:nvPr/>
        </p:nvSpPr>
        <p:spPr>
          <a:xfrm>
            <a:off x="4130825" y="953445"/>
            <a:ext cx="8060381" cy="122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defPPr>
              <a:defRPr lang="en-US"/>
            </a:defPPr>
            <a:lvl1pPr marL="342900" indent="-342900">
              <a:spcBef>
                <a:spcPct val="20000"/>
              </a:spcBef>
              <a:buClr>
                <a:schemeClr val="tx2"/>
              </a:buClr>
              <a:buSzPct val="75000"/>
              <a:buFont typeface="Monotype Sorts" pitchFamily="2" charset="2"/>
              <a:buNone/>
              <a:defRPr b="1">
                <a:solidFill>
                  <a:srgbClr val="104E87"/>
                </a:solidFill>
                <a:latin typeface="Comic Sans MS" panose="030F0702030302020204" pitchFamily="66" charset="0"/>
                <a:ea typeface="华光行书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marL="0" indent="0"/>
            <a:r>
              <a:rPr lang="zh-CN" altLang="en-US" b="0" dirty="0"/>
              <a:t>多态性：同样的消息被不同的对象接收时导致不同的行为，所谓消息是指成员函数的调用，不同行为是指不同的实现，也就是调用了不同的函数。</a:t>
            </a:r>
          </a:p>
        </p:txBody>
      </p:sp>
      <p:sp>
        <p:nvSpPr>
          <p:cNvPr id="113" name="TextBox 5">
            <a:extLst>
              <a:ext uri="{FF2B5EF4-FFF2-40B4-BE49-F238E27FC236}">
                <a16:creationId xmlns:a16="http://schemas.microsoft.com/office/drawing/2014/main" id="{1F6926EB-6A2C-4F83-959A-0CDB668D02A4}"/>
              </a:ext>
            </a:extLst>
          </p:cNvPr>
          <p:cNvSpPr txBox="1"/>
          <p:nvPr/>
        </p:nvSpPr>
        <p:spPr>
          <a:xfrm>
            <a:off x="-55259" y="3862761"/>
            <a:ext cx="3384613" cy="2492990"/>
          </a:xfrm>
          <a:prstGeom prst="rect">
            <a:avLst/>
          </a:prstGeom>
          <a:noFill/>
          <a:ln>
            <a:noFill/>
          </a:ln>
        </p:spPr>
        <p:txBody>
          <a:bodyPr wrap="square">
            <a:spAutoFit/>
          </a:bodyPr>
          <a:lstStyle>
            <a:defPPr>
              <a:defRPr lang="en-US"/>
            </a:defPPr>
            <a:lvl1pPr indent="0">
              <a:lnSpc>
                <a:spcPct val="150000"/>
              </a:lnSpc>
              <a:spcBef>
                <a:spcPct val="0"/>
              </a:spcBef>
              <a:buClrTx/>
              <a:buSzTx/>
              <a:buFont typeface="Wingdings" panose="05000000000000000000" pitchFamily="2" charset="2"/>
              <a:buChar char="l"/>
              <a:defRPr kumimoji="1" sz="2000">
                <a:solidFill>
                  <a:srgbClr val="134F85"/>
                </a:solidFill>
                <a:latin typeface="华光隶变_CNKI" panose="02000500000000000000" pitchFamily="2" charset="-122"/>
                <a:ea typeface="华光隶变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buNone/>
            </a:pPr>
            <a:r>
              <a:rPr lang="zh-CN" altLang="en-US" sz="2400" dirty="0">
                <a:solidFill>
                  <a:srgbClr val="104E87"/>
                </a:solidFill>
                <a:latin typeface="Comic Sans MS" panose="030F0702030302020204" pitchFamily="66" charset="0"/>
                <a:ea typeface="华光行书_CNKI" panose="02000500000000000000" pitchFamily="2" charset="-122"/>
              </a:rPr>
              <a:t>我们以前接触过的多态：</a:t>
            </a:r>
            <a:endParaRPr lang="en-US" altLang="zh-CN" sz="2400" dirty="0">
              <a:solidFill>
                <a:srgbClr val="104E87"/>
              </a:solidFill>
              <a:latin typeface="Comic Sans MS" panose="030F0702030302020204" pitchFamily="66" charset="0"/>
              <a:ea typeface="华光行书_CNKI" panose="02000500000000000000" pitchFamily="2" charset="-122"/>
            </a:endParaRPr>
          </a:p>
          <a:p>
            <a:pPr>
              <a:lnSpc>
                <a:spcPct val="100000"/>
              </a:lnSpc>
            </a:pPr>
            <a:r>
              <a:rPr lang="zh-CN" altLang="en-US" sz="2400" dirty="0">
                <a:solidFill>
                  <a:srgbClr val="104E87"/>
                </a:solidFill>
                <a:latin typeface="Comic Sans MS" panose="030F0702030302020204" pitchFamily="66" charset="0"/>
                <a:ea typeface="华光行书_CNKI" panose="02000500000000000000" pitchFamily="2" charset="-122"/>
              </a:rPr>
              <a:t>运算符： </a:t>
            </a:r>
            <a:endParaRPr lang="en-US" altLang="zh-CN" sz="2400" dirty="0">
              <a:solidFill>
                <a:srgbClr val="104E87"/>
              </a:solidFill>
              <a:latin typeface="Comic Sans MS" panose="030F0702030302020204" pitchFamily="66" charset="0"/>
              <a:ea typeface="华光行书_CNKI" panose="02000500000000000000" pitchFamily="2" charset="-122"/>
            </a:endParaRPr>
          </a:p>
          <a:p>
            <a:pPr>
              <a:lnSpc>
                <a:spcPct val="100000"/>
              </a:lnSpc>
              <a:buNone/>
            </a:pPr>
            <a:r>
              <a:rPr lang="en-US" altLang="zh-CN" sz="2400" dirty="0">
                <a:solidFill>
                  <a:srgbClr val="104E87"/>
                </a:solidFill>
                <a:latin typeface="Comic Sans MS" panose="030F0702030302020204" pitchFamily="66" charset="0"/>
                <a:ea typeface="华光行书_CNKI" panose="02000500000000000000" pitchFamily="2" charset="-122"/>
              </a:rPr>
              <a:t>	</a:t>
            </a:r>
            <a:r>
              <a:rPr lang="zh-CN" altLang="en-US" sz="2400" dirty="0">
                <a:solidFill>
                  <a:srgbClr val="104E87"/>
                </a:solidFill>
                <a:latin typeface="Comic Sans MS" panose="030F0702030302020204" pitchFamily="66" charset="0"/>
                <a:ea typeface="华光行书_CNKI" panose="02000500000000000000" pitchFamily="2" charset="-122"/>
              </a:rPr>
              <a:t> </a:t>
            </a:r>
            <a:r>
              <a:rPr lang="en-US" altLang="zh-CN" sz="2400" dirty="0">
                <a:solidFill>
                  <a:srgbClr val="104E87"/>
                </a:solidFill>
                <a:latin typeface="Comic Sans MS" panose="030F0702030302020204" pitchFamily="66" charset="0"/>
                <a:ea typeface="华光行书_CNKI" panose="02000500000000000000" pitchFamily="2" charset="-122"/>
              </a:rPr>
              <a:t>+ -</a:t>
            </a:r>
            <a:r>
              <a:rPr lang="zh-CN" altLang="en-US" sz="2400" dirty="0">
                <a:solidFill>
                  <a:srgbClr val="104E87"/>
                </a:solidFill>
                <a:latin typeface="Comic Sans MS" panose="030F0702030302020204" pitchFamily="66" charset="0"/>
                <a:ea typeface="华光行书_CNKI" panose="02000500000000000000" pitchFamily="2" charset="-122"/>
              </a:rPr>
              <a:t> </a:t>
            </a:r>
            <a:r>
              <a:rPr lang="en-US" altLang="zh-CN" sz="2400" dirty="0">
                <a:solidFill>
                  <a:srgbClr val="104E87"/>
                </a:solidFill>
                <a:latin typeface="Comic Sans MS" panose="030F0702030302020204" pitchFamily="66" charset="0"/>
                <a:ea typeface="华光行书_CNKI" panose="02000500000000000000" pitchFamily="2" charset="-122"/>
              </a:rPr>
              <a:t>/   *</a:t>
            </a:r>
          </a:p>
          <a:p>
            <a:pPr>
              <a:lnSpc>
                <a:spcPct val="100000"/>
              </a:lnSpc>
            </a:pPr>
            <a:r>
              <a:rPr lang="zh-CN" altLang="en-US" sz="2400" dirty="0">
                <a:solidFill>
                  <a:srgbClr val="104E87"/>
                </a:solidFill>
                <a:latin typeface="Comic Sans MS" panose="030F0702030302020204" pitchFamily="66" charset="0"/>
                <a:ea typeface="华光行书_CNKI" panose="02000500000000000000" pitchFamily="2" charset="-122"/>
              </a:rPr>
              <a:t>函数重载</a:t>
            </a:r>
            <a:endParaRPr lang="en-US" altLang="zh-CN" sz="2400" dirty="0">
              <a:solidFill>
                <a:srgbClr val="104E87"/>
              </a:solidFill>
              <a:latin typeface="Comic Sans MS" panose="030F0702030302020204" pitchFamily="66" charset="0"/>
              <a:ea typeface="华光行书_CNKI" panose="02000500000000000000" pitchFamily="2" charset="-122"/>
            </a:endParaRPr>
          </a:p>
          <a:p>
            <a:pPr>
              <a:lnSpc>
                <a:spcPct val="100000"/>
              </a:lnSpc>
              <a:buNone/>
            </a:pPr>
            <a:r>
              <a:rPr lang="en-US" altLang="zh-CN" sz="2400" dirty="0">
                <a:solidFill>
                  <a:srgbClr val="104E87"/>
                </a:solidFill>
                <a:latin typeface="Comic Sans MS" panose="030F0702030302020204" pitchFamily="66" charset="0"/>
                <a:ea typeface="华光行书_CNKI" panose="02000500000000000000" pitchFamily="2" charset="-122"/>
              </a:rPr>
              <a:t>	</a:t>
            </a:r>
            <a:r>
              <a:rPr lang="zh-CN" altLang="en-US" sz="2400" dirty="0">
                <a:solidFill>
                  <a:srgbClr val="104E87"/>
                </a:solidFill>
                <a:latin typeface="Comic Sans MS" panose="030F0702030302020204" pitchFamily="66" charset="0"/>
                <a:ea typeface="华光行书_CNKI" panose="02000500000000000000" pitchFamily="2" charset="-122"/>
              </a:rPr>
              <a:t>普通函数重载</a:t>
            </a:r>
            <a:endParaRPr lang="en-US" altLang="zh-CN" sz="2400" dirty="0">
              <a:solidFill>
                <a:srgbClr val="104E87"/>
              </a:solidFill>
              <a:latin typeface="Comic Sans MS" panose="030F0702030302020204" pitchFamily="66" charset="0"/>
              <a:ea typeface="华光行书_CNKI" panose="02000500000000000000" pitchFamily="2" charset="-122"/>
            </a:endParaRPr>
          </a:p>
          <a:p>
            <a:pPr>
              <a:lnSpc>
                <a:spcPct val="100000"/>
              </a:lnSpc>
              <a:buNone/>
            </a:pPr>
            <a:r>
              <a:rPr lang="en-US" altLang="zh-CN" sz="2400" dirty="0">
                <a:solidFill>
                  <a:srgbClr val="104E87"/>
                </a:solidFill>
                <a:latin typeface="Comic Sans MS" panose="030F0702030302020204" pitchFamily="66" charset="0"/>
                <a:ea typeface="华光行书_CNKI" panose="02000500000000000000" pitchFamily="2" charset="-122"/>
              </a:rPr>
              <a:t>	</a:t>
            </a:r>
            <a:r>
              <a:rPr lang="zh-CN" altLang="en-US" sz="2400" dirty="0">
                <a:solidFill>
                  <a:srgbClr val="104E87"/>
                </a:solidFill>
                <a:latin typeface="Comic Sans MS" panose="030F0702030302020204" pitchFamily="66" charset="0"/>
                <a:ea typeface="华光行书_CNKI" panose="02000500000000000000" pitchFamily="2" charset="-122"/>
              </a:rPr>
              <a:t>成员函数重载</a:t>
            </a:r>
          </a:p>
        </p:txBody>
      </p:sp>
      <p:sp>
        <p:nvSpPr>
          <p:cNvPr id="114" name="矩形 113">
            <a:extLst>
              <a:ext uri="{FF2B5EF4-FFF2-40B4-BE49-F238E27FC236}">
                <a16:creationId xmlns:a16="http://schemas.microsoft.com/office/drawing/2014/main" id="{103D1006-2E53-4A82-884F-F73441DAA420}"/>
              </a:ext>
            </a:extLst>
          </p:cNvPr>
          <p:cNvSpPr/>
          <p:nvPr/>
        </p:nvSpPr>
        <p:spPr>
          <a:xfrm>
            <a:off x="4547211" y="3014087"/>
            <a:ext cx="7351712" cy="277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0" lvl="1">
              <a:spcBef>
                <a:spcPct val="20000"/>
              </a:spcBef>
              <a:buClr>
                <a:schemeClr val="accent2"/>
              </a:buClr>
              <a:buSzPct val="75000"/>
            </a:pPr>
            <a:r>
              <a:rPr lang="en-US" altLang="zh-CN" dirty="0">
                <a:solidFill>
                  <a:srgbClr val="104E87"/>
                </a:solidFill>
                <a:latin typeface="Comic Sans MS" panose="030F0702030302020204" pitchFamily="66" charset="0"/>
                <a:ea typeface="华光行书_CNKI" panose="02000500000000000000" pitchFamily="2" charset="-122"/>
              </a:rPr>
              <a:t>(1)</a:t>
            </a:r>
            <a:r>
              <a:rPr lang="zh-CN" altLang="en-US" dirty="0">
                <a:solidFill>
                  <a:srgbClr val="104E87"/>
                </a:solidFill>
                <a:latin typeface="Comic Sans MS" panose="030F0702030302020204" pitchFamily="66" charset="0"/>
                <a:ea typeface="华光行书_CNKI" panose="02000500000000000000" pitchFamily="2" charset="-122"/>
              </a:rPr>
              <a:t>编译时多态性</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静态多态</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a:t>
            </a:r>
            <a:endParaRPr lang="en-US" altLang="zh-CN" dirty="0">
              <a:solidFill>
                <a:srgbClr val="104E87"/>
              </a:solidFill>
              <a:latin typeface="Comic Sans MS" panose="030F0702030302020204" pitchFamily="66" charset="0"/>
              <a:ea typeface="华光行书_CNKI" panose="02000500000000000000" pitchFamily="2" charset="-122"/>
            </a:endParaRPr>
          </a:p>
          <a:p>
            <a:pPr marL="0" lvl="1">
              <a:spcBef>
                <a:spcPct val="20000"/>
              </a:spcBef>
              <a:buClr>
                <a:schemeClr val="accent2"/>
              </a:buClr>
              <a:buSzPct val="75000"/>
            </a:pPr>
            <a:r>
              <a:rPr lang="zh-CN" altLang="en-US" dirty="0">
                <a:solidFill>
                  <a:srgbClr val="104E87"/>
                </a:solidFill>
                <a:latin typeface="Comic Sans MS" panose="030F0702030302020204" pitchFamily="66" charset="0"/>
                <a:ea typeface="华光行书_CNKI" panose="02000500000000000000" pitchFamily="2" charset="-122"/>
              </a:rPr>
              <a:t>指在程序编译阶段即可确定下来的多态性</a:t>
            </a:r>
          </a:p>
          <a:p>
            <a:pPr marL="0" lvl="1">
              <a:spcBef>
                <a:spcPct val="20000"/>
              </a:spcBef>
              <a:buClr>
                <a:schemeClr val="accent2"/>
              </a:buClr>
              <a:buSzPct val="75000"/>
            </a:pPr>
            <a:r>
              <a:rPr lang="zh-CN" altLang="en-US" dirty="0">
                <a:solidFill>
                  <a:srgbClr val="104E87"/>
                </a:solidFill>
                <a:latin typeface="Comic Sans MS" panose="030F0702030302020204" pitchFamily="66" charset="0"/>
                <a:ea typeface="华光行书_CNKI" panose="02000500000000000000" pitchFamily="2" charset="-122"/>
              </a:rPr>
              <a:t>实现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函数重载和</a:t>
            </a:r>
            <a:r>
              <a:rPr lang="zh-CN" altLang="en-US" dirty="0">
                <a:solidFill>
                  <a:srgbClr val="FF0000"/>
                </a:solidFill>
                <a:latin typeface="Comic Sans MS" panose="030F0702030302020204" pitchFamily="66" charset="0"/>
                <a:ea typeface="华光行书_CNKI" panose="02000500000000000000" pitchFamily="2" charset="-122"/>
              </a:rPr>
              <a:t>运算符重载</a:t>
            </a:r>
          </a:p>
          <a:p>
            <a:pPr marL="0" lvl="1">
              <a:spcBef>
                <a:spcPct val="20000"/>
              </a:spcBef>
              <a:buClr>
                <a:schemeClr val="accent2"/>
              </a:buClr>
              <a:buSzPct val="75000"/>
            </a:pPr>
            <a:r>
              <a:rPr lang="en-US" altLang="zh-CN" dirty="0">
                <a:solidFill>
                  <a:srgbClr val="104E87"/>
                </a:solidFill>
                <a:latin typeface="Comic Sans MS" panose="030F0702030302020204" pitchFamily="66" charset="0"/>
                <a:ea typeface="华光行书_CNKI" panose="02000500000000000000" pitchFamily="2" charset="-122"/>
              </a:rPr>
              <a:t>(2)</a:t>
            </a:r>
            <a:r>
              <a:rPr lang="zh-CN" altLang="en-US" dirty="0">
                <a:solidFill>
                  <a:srgbClr val="104E87"/>
                </a:solidFill>
                <a:latin typeface="Comic Sans MS" panose="030F0702030302020204" pitchFamily="66" charset="0"/>
                <a:ea typeface="华光行书_CNKI" panose="02000500000000000000" pitchFamily="2" charset="-122"/>
              </a:rPr>
              <a:t>运行时多态性</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FF0000"/>
                </a:solidFill>
                <a:latin typeface="Comic Sans MS" panose="030F0702030302020204" pitchFamily="66" charset="0"/>
                <a:ea typeface="华光行书_CNKI" panose="02000500000000000000" pitchFamily="2" charset="-122"/>
              </a:rPr>
              <a:t>动态多态</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a:t>
            </a:r>
            <a:endParaRPr lang="en-US" altLang="zh-CN" dirty="0">
              <a:solidFill>
                <a:srgbClr val="104E87"/>
              </a:solidFill>
              <a:latin typeface="Comic Sans MS" panose="030F0702030302020204" pitchFamily="66" charset="0"/>
              <a:ea typeface="华光行书_CNKI" panose="02000500000000000000" pitchFamily="2" charset="-122"/>
            </a:endParaRPr>
          </a:p>
          <a:p>
            <a:pPr marL="0" lvl="1">
              <a:spcBef>
                <a:spcPct val="20000"/>
              </a:spcBef>
              <a:buClr>
                <a:schemeClr val="accent2"/>
              </a:buClr>
              <a:buSzPct val="75000"/>
            </a:pPr>
            <a:r>
              <a:rPr lang="zh-CN" altLang="en-US" dirty="0">
                <a:solidFill>
                  <a:srgbClr val="104E87"/>
                </a:solidFill>
                <a:latin typeface="Comic Sans MS" panose="030F0702030302020204" pitchFamily="66" charset="0"/>
                <a:ea typeface="华光行书_CNKI" panose="02000500000000000000" pitchFamily="2" charset="-122"/>
              </a:rPr>
              <a:t>指必须等到程序动态运行时才可确定的多态性</a:t>
            </a:r>
            <a:endParaRPr lang="en-US" altLang="zh-CN" dirty="0">
              <a:solidFill>
                <a:srgbClr val="104E87"/>
              </a:solidFill>
              <a:latin typeface="Comic Sans MS" panose="030F0702030302020204" pitchFamily="66" charset="0"/>
              <a:ea typeface="华光行书_CNKI" panose="02000500000000000000" pitchFamily="2" charset="-122"/>
            </a:endParaRPr>
          </a:p>
          <a:p>
            <a:pPr marL="0" lvl="1">
              <a:spcBef>
                <a:spcPct val="20000"/>
              </a:spcBef>
              <a:buClr>
                <a:schemeClr val="accent2"/>
              </a:buClr>
              <a:buSzPct val="75000"/>
            </a:pPr>
            <a:r>
              <a:rPr lang="zh-CN" altLang="en-US" dirty="0">
                <a:solidFill>
                  <a:srgbClr val="104E87"/>
                </a:solidFill>
                <a:latin typeface="Comic Sans MS" panose="030F0702030302020204" pitchFamily="66" charset="0"/>
                <a:ea typeface="华光行书_CNKI" panose="02000500000000000000" pitchFamily="2" charset="-122"/>
              </a:rPr>
              <a:t>实现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由共同基类结合虚函数的动态绑定实现</a:t>
            </a:r>
          </a:p>
        </p:txBody>
      </p:sp>
    </p:spTree>
    <p:extLst>
      <p:ext uri="{BB962C8B-B14F-4D97-AF65-F5344CB8AC3E}">
        <p14:creationId xmlns:p14="http://schemas.microsoft.com/office/powerpoint/2010/main" val="392956328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barn(inVertical)">
                                      <p:cBhvr>
                                        <p:cTn id="7" dur="5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barn(inVertical)">
                                      <p:cBhvr>
                                        <p:cTn id="12" dur="500"/>
                                        <p:tgtEl>
                                          <p:spTgt spid="1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4"/>
                                        </p:tgtEl>
                                        <p:attrNameLst>
                                          <p:attrName>style.visibility</p:attrName>
                                        </p:attrNameLst>
                                      </p:cBhvr>
                                      <p:to>
                                        <p:strVal val="visible"/>
                                      </p:to>
                                    </p:set>
                                    <p:animEffect transition="in" filter="wipe(down)">
                                      <p:cBhvr>
                                        <p:cTn id="17"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13" grpId="0"/>
      <p:bldP spid="1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10.1</a:t>
            </a:r>
            <a:r>
              <a:rPr kumimoji="1" lang="zh-CN" altLang="en-US" sz="3200" b="1" dirty="0">
                <a:latin typeface="华光胖头鱼_CNKI" panose="02000500000000000000" pitchFamily="2" charset="-122"/>
                <a:ea typeface="华光胖头鱼_CNKI" panose="02000500000000000000" pitchFamily="2" charset="-122"/>
              </a:rPr>
              <a:t>多态性</a:t>
            </a:r>
          </a:p>
        </p:txBody>
      </p:sp>
      <p:cxnSp>
        <p:nvCxnSpPr>
          <p:cNvPr id="67" name="直线连接符 6">
            <a:extLst>
              <a:ext uri="{FF2B5EF4-FFF2-40B4-BE49-F238E27FC236}">
                <a16:creationId xmlns:a16="http://schemas.microsoft.com/office/drawing/2014/main" id="{AEF611B7-94DC-441C-A18C-E7C0B96C20B0}"/>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10686E1C-B880-40DD-BC1D-998E3E430158}"/>
              </a:ext>
            </a:extLst>
          </p:cNvPr>
          <p:cNvSpPr>
            <a:spLocks noChangeArrowheads="1"/>
          </p:cNvSpPr>
          <p:nvPr/>
        </p:nvSpPr>
        <p:spPr bwMode="auto">
          <a:xfrm>
            <a:off x="-65115" y="905715"/>
            <a:ext cx="8208963" cy="1631216"/>
          </a:xfrm>
          <a:prstGeom prst="rect">
            <a:avLst/>
          </a:prstGeom>
          <a:solidFill>
            <a:schemeClr val="accent1">
              <a:lumMod val="20000"/>
              <a:lumOff val="80000"/>
            </a:schemeClr>
          </a:solidFill>
          <a:ln>
            <a:noFill/>
          </a:ln>
          <a:effectLst/>
        </p:spPr>
        <p:txBody>
          <a:bodyPr lIns="92075" tIns="46038" rIns="92075" bIns="46038"/>
          <a:lstStyle/>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int abs(int x)  // </a:t>
            </a:r>
            <a:r>
              <a:rPr lang="zh-CN" altLang="en-US" dirty="0">
                <a:solidFill>
                  <a:srgbClr val="104E87"/>
                </a:solidFill>
                <a:latin typeface="Comic Sans MS" panose="030F0702030302020204" pitchFamily="66" charset="0"/>
                <a:ea typeface="华光行书_CNKI" panose="02000500000000000000" pitchFamily="2" charset="-122"/>
              </a:rPr>
              <a:t>整数类型数据的绝对值函数</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 &lt;&lt; "Using integer version of abs().\n";</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return (x &gt;= 0 ? x : -x);</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a:t>
            </a:r>
          </a:p>
        </p:txBody>
      </p:sp>
      <p:pic>
        <p:nvPicPr>
          <p:cNvPr id="6" name="图片 5">
            <a:extLst>
              <a:ext uri="{FF2B5EF4-FFF2-40B4-BE49-F238E27FC236}">
                <a16:creationId xmlns:a16="http://schemas.microsoft.com/office/drawing/2014/main" id="{E31E78E7-B98C-4620-A6E4-BCA49BD2BC5A}"/>
              </a:ext>
            </a:extLst>
          </p:cNvPr>
          <p:cNvPicPr>
            <a:picLocks noChangeAspect="1"/>
          </p:cNvPicPr>
          <p:nvPr/>
        </p:nvPicPr>
        <p:blipFill>
          <a:blip r:embed="rId3"/>
          <a:stretch>
            <a:fillRect/>
          </a:stretch>
        </p:blipFill>
        <p:spPr>
          <a:xfrm>
            <a:off x="6924445" y="0"/>
            <a:ext cx="5265968" cy="1428814"/>
          </a:xfrm>
          <a:prstGeom prst="rect">
            <a:avLst/>
          </a:prstGeom>
        </p:spPr>
      </p:pic>
      <p:sp>
        <p:nvSpPr>
          <p:cNvPr id="14" name="矩形 13">
            <a:extLst>
              <a:ext uri="{FF2B5EF4-FFF2-40B4-BE49-F238E27FC236}">
                <a16:creationId xmlns:a16="http://schemas.microsoft.com/office/drawing/2014/main" id="{50317E9C-0FA3-490A-86D7-647B83AF4C15}"/>
              </a:ext>
            </a:extLst>
          </p:cNvPr>
          <p:cNvSpPr>
            <a:spLocks noChangeArrowheads="1"/>
          </p:cNvSpPr>
          <p:nvPr/>
        </p:nvSpPr>
        <p:spPr bwMode="auto">
          <a:xfrm>
            <a:off x="398463" y="2076450"/>
            <a:ext cx="8785225" cy="1791260"/>
          </a:xfrm>
          <a:prstGeom prst="rect">
            <a:avLst/>
          </a:prstGeom>
          <a:solidFill>
            <a:srgbClr val="00B050"/>
          </a:solidFill>
          <a:ln>
            <a:noFill/>
          </a:ln>
          <a:effectLst/>
        </p:spPr>
        <p:txBody>
          <a:bodyPr lIns="92075" tIns="46038" rIns="92075" bIns="46038"/>
          <a:lstStyle/>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long abs(long x)   // </a:t>
            </a:r>
            <a:r>
              <a:rPr lang="zh-CN" altLang="en-US" dirty="0">
                <a:solidFill>
                  <a:srgbClr val="104E87"/>
                </a:solidFill>
                <a:latin typeface="Comic Sans MS" panose="030F0702030302020204" pitchFamily="66" charset="0"/>
                <a:ea typeface="华光行书_CNKI" panose="02000500000000000000" pitchFamily="2" charset="-122"/>
              </a:rPr>
              <a:t>长整数类型数据的绝对值函数</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 &lt;&lt; "Using long integer version of abs().\n";</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return (x &gt;= 0 ? x : -x);</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a:t>
            </a:r>
          </a:p>
        </p:txBody>
      </p:sp>
      <p:sp>
        <p:nvSpPr>
          <p:cNvPr id="16" name="矩形 15">
            <a:extLst>
              <a:ext uri="{FF2B5EF4-FFF2-40B4-BE49-F238E27FC236}">
                <a16:creationId xmlns:a16="http://schemas.microsoft.com/office/drawing/2014/main" id="{A8C983F0-19C5-4271-903C-EF259BEBD4B4}"/>
              </a:ext>
            </a:extLst>
          </p:cNvPr>
          <p:cNvSpPr>
            <a:spLocks noChangeArrowheads="1"/>
          </p:cNvSpPr>
          <p:nvPr/>
        </p:nvSpPr>
        <p:spPr bwMode="auto">
          <a:xfrm>
            <a:off x="817561" y="3278425"/>
            <a:ext cx="8588375" cy="1348061"/>
          </a:xfrm>
          <a:prstGeom prst="rect">
            <a:avLst/>
          </a:prstGeom>
          <a:solidFill>
            <a:schemeClr val="accent4">
              <a:lumMod val="20000"/>
              <a:lumOff val="80000"/>
            </a:schemeClr>
          </a:solidFill>
          <a:ln>
            <a:noFill/>
          </a:ln>
          <a:effectLst/>
        </p:spPr>
        <p:txBody>
          <a:bodyPr lIns="92075" tIns="46038" rIns="92075" bIns="46038"/>
          <a:lstStyle/>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double abs(double x) 	// </a:t>
            </a:r>
            <a:r>
              <a:rPr lang="zh-CN" altLang="en-US" dirty="0">
                <a:solidFill>
                  <a:srgbClr val="104E87"/>
                </a:solidFill>
                <a:latin typeface="Comic Sans MS" panose="030F0702030302020204" pitchFamily="66" charset="0"/>
                <a:ea typeface="华光行书_CNKI" panose="02000500000000000000" pitchFamily="2" charset="-122"/>
              </a:rPr>
              <a:t>浮点类型数据的绝对值函数</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 &lt;&lt; "Using floating-point version of abs().\n";</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return (x &gt;= 0.0 ? x : -x);</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a:t>
            </a:r>
          </a:p>
        </p:txBody>
      </p:sp>
      <p:sp>
        <p:nvSpPr>
          <p:cNvPr id="17" name="矩形 16">
            <a:extLst>
              <a:ext uri="{FF2B5EF4-FFF2-40B4-BE49-F238E27FC236}">
                <a16:creationId xmlns:a16="http://schemas.microsoft.com/office/drawing/2014/main" id="{4625EDB2-95C0-4CFE-80D7-4656162945CF}"/>
              </a:ext>
            </a:extLst>
          </p:cNvPr>
          <p:cNvSpPr>
            <a:spLocks noChangeArrowheads="1"/>
          </p:cNvSpPr>
          <p:nvPr/>
        </p:nvSpPr>
        <p:spPr bwMode="auto">
          <a:xfrm>
            <a:off x="1209919" y="4488120"/>
            <a:ext cx="9075738" cy="2369880"/>
          </a:xfrm>
          <a:prstGeom prst="rect">
            <a:avLst/>
          </a:prstGeom>
          <a:solidFill>
            <a:srgbClr val="00B050"/>
          </a:solidFill>
          <a:ln>
            <a:noFill/>
          </a:ln>
          <a:effectLst/>
        </p:spPr>
        <p:txBody>
          <a:bodyPr lIns="92075" tIns="46038" rIns="92075" bIns="46038"/>
          <a:lstStyle/>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int main()</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 &lt;&lt; abs(-5) &lt;&lt; "\n";// </a:t>
            </a:r>
            <a:r>
              <a:rPr lang="zh-CN" altLang="en-US" dirty="0">
                <a:solidFill>
                  <a:srgbClr val="104E87"/>
                </a:solidFill>
                <a:latin typeface="Comic Sans MS" panose="030F0702030302020204" pitchFamily="66" charset="0"/>
                <a:ea typeface="华光行书_CNKI" panose="02000500000000000000" pitchFamily="2" charset="-122"/>
              </a:rPr>
              <a:t>调用</a:t>
            </a:r>
            <a:r>
              <a:rPr lang="en-US" altLang="zh-CN" dirty="0">
                <a:solidFill>
                  <a:srgbClr val="104E87"/>
                </a:solidFill>
                <a:latin typeface="Comic Sans MS" panose="030F0702030302020204" pitchFamily="66" charset="0"/>
                <a:ea typeface="华光行书_CNKI" panose="02000500000000000000" pitchFamily="2" charset="-122"/>
              </a:rPr>
              <a:t>abs()</a:t>
            </a:r>
            <a:r>
              <a:rPr lang="zh-CN" altLang="en-US" dirty="0">
                <a:solidFill>
                  <a:srgbClr val="104E87"/>
                </a:solidFill>
                <a:latin typeface="Comic Sans MS" panose="030F0702030302020204" pitchFamily="66" charset="0"/>
                <a:ea typeface="华光行书_CNKI" panose="02000500000000000000" pitchFamily="2" charset="-122"/>
              </a:rPr>
              <a:t>的整数版本</a:t>
            </a:r>
          </a:p>
          <a:p>
            <a:pPr marL="342900" indent="-342900">
              <a:buClr>
                <a:schemeClr val="tx2"/>
              </a:buClr>
              <a:buSzPct val="75000"/>
              <a:buFont typeface="Monotype Sorts" pitchFamily="2" charset="2"/>
              <a:buNone/>
            </a:pPr>
            <a:r>
              <a:rPr lang="zh-CN" altLang="en-US"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 &lt;&lt; abs(-5L) &lt;&lt; "\n";// </a:t>
            </a:r>
            <a:r>
              <a:rPr lang="zh-CN" altLang="en-US" dirty="0">
                <a:solidFill>
                  <a:srgbClr val="104E87"/>
                </a:solidFill>
                <a:latin typeface="Comic Sans MS" panose="030F0702030302020204" pitchFamily="66" charset="0"/>
                <a:ea typeface="华光行书_CNKI" panose="02000500000000000000" pitchFamily="2" charset="-122"/>
              </a:rPr>
              <a:t>调用</a:t>
            </a:r>
            <a:r>
              <a:rPr lang="en-US" altLang="zh-CN" dirty="0">
                <a:solidFill>
                  <a:srgbClr val="104E87"/>
                </a:solidFill>
                <a:latin typeface="Comic Sans MS" panose="030F0702030302020204" pitchFamily="66" charset="0"/>
                <a:ea typeface="华光行书_CNKI" panose="02000500000000000000" pitchFamily="2" charset="-122"/>
              </a:rPr>
              <a:t>abs()</a:t>
            </a:r>
            <a:r>
              <a:rPr lang="zh-CN" altLang="en-US" dirty="0">
                <a:solidFill>
                  <a:srgbClr val="104E87"/>
                </a:solidFill>
                <a:latin typeface="Comic Sans MS" panose="030F0702030302020204" pitchFamily="66" charset="0"/>
                <a:ea typeface="华光行书_CNKI" panose="02000500000000000000" pitchFamily="2" charset="-122"/>
              </a:rPr>
              <a:t>的长整数版本</a:t>
            </a:r>
          </a:p>
          <a:p>
            <a:pPr marL="342900" indent="-342900">
              <a:buClr>
                <a:schemeClr val="tx2"/>
              </a:buClr>
              <a:buSzPct val="75000"/>
              <a:buFont typeface="Monotype Sorts" pitchFamily="2" charset="2"/>
              <a:buNone/>
            </a:pPr>
            <a:r>
              <a:rPr lang="zh-CN" altLang="en-US"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 &lt;&lt; abs(3.14) &lt;&lt; "\n";// </a:t>
            </a:r>
            <a:r>
              <a:rPr lang="zh-CN" altLang="en-US" dirty="0">
                <a:solidFill>
                  <a:srgbClr val="104E87"/>
                </a:solidFill>
                <a:latin typeface="Comic Sans MS" panose="030F0702030302020204" pitchFamily="66" charset="0"/>
                <a:ea typeface="华光行书_CNKI" panose="02000500000000000000" pitchFamily="2" charset="-122"/>
              </a:rPr>
              <a:t>调用</a:t>
            </a:r>
            <a:r>
              <a:rPr lang="en-US" altLang="zh-CN" dirty="0">
                <a:solidFill>
                  <a:srgbClr val="104E87"/>
                </a:solidFill>
                <a:latin typeface="Comic Sans MS" panose="030F0702030302020204" pitchFamily="66" charset="0"/>
                <a:ea typeface="华光行书_CNKI" panose="02000500000000000000" pitchFamily="2" charset="-122"/>
              </a:rPr>
              <a:t>abs()</a:t>
            </a:r>
            <a:r>
              <a:rPr lang="zh-CN" altLang="en-US" dirty="0">
                <a:solidFill>
                  <a:srgbClr val="104E87"/>
                </a:solidFill>
                <a:latin typeface="Comic Sans MS" panose="030F0702030302020204" pitchFamily="66" charset="0"/>
                <a:ea typeface="华光行书_CNKI" panose="02000500000000000000" pitchFamily="2" charset="-122"/>
              </a:rPr>
              <a:t>的浮点版本</a:t>
            </a:r>
          </a:p>
          <a:p>
            <a:pPr marL="342900" indent="-342900">
              <a:buClr>
                <a:schemeClr val="tx2"/>
              </a:buClr>
              <a:buSzPct val="75000"/>
              <a:buFont typeface="Monotype Sorts" pitchFamily="2" charset="2"/>
              <a:buNone/>
            </a:pPr>
            <a:r>
              <a:rPr lang="zh-CN" altLang="en-US" dirty="0">
                <a:solidFill>
                  <a:srgbClr val="104E87"/>
                </a:solidFill>
                <a:latin typeface="Comic Sans MS" panose="030F0702030302020204" pitchFamily="66" charset="0"/>
                <a:ea typeface="华光行书_CNKI" panose="02000500000000000000" pitchFamily="2" charset="-122"/>
              </a:rPr>
              <a:t>	</a:t>
            </a:r>
            <a:r>
              <a:rPr lang="en-US" altLang="zh-CN" dirty="0">
                <a:solidFill>
                  <a:srgbClr val="104E87"/>
                </a:solidFill>
                <a:latin typeface="Comic Sans MS" panose="030F0702030302020204" pitchFamily="66" charset="0"/>
                <a:ea typeface="华光行书_CNKI" panose="02000500000000000000" pitchFamily="2" charset="-122"/>
              </a:rPr>
              <a:t>return 0;</a:t>
            </a:r>
          </a:p>
          <a:p>
            <a:pPr marL="342900" indent="-342900">
              <a:buClr>
                <a:schemeClr val="tx2"/>
              </a:buClr>
              <a:buSzPct val="75000"/>
              <a:buFont typeface="Monotype Sorts" pitchFamily="2" charset="2"/>
              <a:buNone/>
            </a:pPr>
            <a:r>
              <a:rPr lang="en-US" altLang="zh-CN" dirty="0">
                <a:solidFill>
                  <a:srgbClr val="104E87"/>
                </a:solidFill>
                <a:latin typeface="Comic Sans MS" panose="030F0702030302020204" pitchFamily="66" charset="0"/>
                <a:ea typeface="华光行书_CNKI" panose="02000500000000000000" pitchFamily="2" charset="-122"/>
              </a:rPr>
              <a:t>}</a:t>
            </a:r>
            <a:endParaRPr lang="zh-CN" altLang="en-US" dirty="0">
              <a:solidFill>
                <a:srgbClr val="104E87"/>
              </a:solidFill>
              <a:latin typeface="Comic Sans MS" panose="030F0702030302020204" pitchFamily="66" charset="0"/>
              <a:ea typeface="华光行书_CNKI" panose="02000500000000000000" pitchFamily="2" charset="-122"/>
            </a:endParaRPr>
          </a:p>
        </p:txBody>
      </p:sp>
    </p:spTree>
    <p:extLst>
      <p:ext uri="{BB962C8B-B14F-4D97-AF65-F5344CB8AC3E}">
        <p14:creationId xmlns:p14="http://schemas.microsoft.com/office/powerpoint/2010/main" val="256939487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circle(in)">
                                      <p:cBhvr>
                                        <p:cTn id="15" dur="2000"/>
                                        <p:tgtEl>
                                          <p:spTgt spid="16"/>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p:cTn id="18" dur="500" fill="hold"/>
                                        <p:tgtEl>
                                          <p:spTgt spid="17"/>
                                        </p:tgtEl>
                                        <p:attrNameLst>
                                          <p:attrName>ppt_w</p:attrName>
                                        </p:attrNameLst>
                                      </p:cBhvr>
                                      <p:tavLst>
                                        <p:tav tm="0">
                                          <p:val>
                                            <p:fltVal val="0"/>
                                          </p:val>
                                        </p:tav>
                                        <p:tav tm="100000">
                                          <p:val>
                                            <p:strVal val="#ppt_w"/>
                                          </p:val>
                                        </p:tav>
                                      </p:tavLst>
                                    </p:anim>
                                    <p:anim calcmode="lin" valueType="num">
                                      <p:cBhvr>
                                        <p:cTn id="19" dur="500" fill="hold"/>
                                        <p:tgtEl>
                                          <p:spTgt spid="17"/>
                                        </p:tgtEl>
                                        <p:attrNameLst>
                                          <p:attrName>ppt_h</p:attrName>
                                        </p:attrNameLst>
                                      </p:cBhvr>
                                      <p:tavLst>
                                        <p:tav tm="0">
                                          <p:val>
                                            <p:fltVal val="0"/>
                                          </p:val>
                                        </p:tav>
                                        <p:tav tm="100000">
                                          <p:val>
                                            <p:strVal val="#ppt_h"/>
                                          </p:val>
                                        </p:tav>
                                      </p:tavLst>
                                    </p:anim>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本质是函数重载</a:t>
            </a:r>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Text Box 4">
            <a:extLst>
              <a:ext uri="{FF2B5EF4-FFF2-40B4-BE49-F238E27FC236}">
                <a16:creationId xmlns:a16="http://schemas.microsoft.com/office/drawing/2014/main" id="{0AB21B25-7EC5-4229-87D0-FA21CF30CCAB}"/>
              </a:ext>
            </a:extLst>
          </p:cNvPr>
          <p:cNvSpPr txBox="1">
            <a:spLocks noChangeArrowheads="1"/>
          </p:cNvSpPr>
          <p:nvPr/>
        </p:nvSpPr>
        <p:spPr bwMode="auto">
          <a:xfrm>
            <a:off x="111125" y="953444"/>
            <a:ext cx="7221416" cy="1354217"/>
          </a:xfrm>
          <a:prstGeom prst="rect">
            <a:avLst/>
          </a:prstGeom>
          <a:noFill/>
          <a:ln>
            <a:noFill/>
          </a:ln>
        </p:spPr>
        <p:txBody>
          <a:bodyPr wrap="square">
            <a:spAutoFit/>
          </a:bodyPr>
          <a:lstStyle>
            <a:defPPr>
              <a:defRPr lang="en-US"/>
            </a:defPPr>
            <a:lvl1pPr indent="0">
              <a:lnSpc>
                <a:spcPct val="150000"/>
              </a:lnSpc>
              <a:spcBef>
                <a:spcPct val="0"/>
              </a:spcBef>
              <a:buClrTx/>
              <a:buSzTx/>
              <a:buFont typeface="Wingdings" panose="05000000000000000000" pitchFamily="2" charset="2"/>
              <a:buChar char="l"/>
              <a:defRPr kumimoji="1" sz="2000">
                <a:solidFill>
                  <a:srgbClr val="134F85"/>
                </a:solidFill>
                <a:latin typeface="华光隶变_CNKI" panose="02000500000000000000" pitchFamily="2" charset="-122"/>
                <a:ea typeface="华光隶变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nSpc>
                <a:spcPct val="100000"/>
              </a:lnSpc>
              <a:spcBef>
                <a:spcPts val="600"/>
              </a:spcBef>
            </a:pPr>
            <a:r>
              <a:rPr lang="zh-CN" altLang="en-US" sz="2400" dirty="0">
                <a:latin typeface="华光行书_CNKI" panose="02000500000000000000" pitchFamily="2" charset="-122"/>
                <a:ea typeface="华光行书_CNKI" panose="02000500000000000000" pitchFamily="2" charset="-122"/>
              </a:rPr>
              <a:t>类</a:t>
            </a:r>
            <a:r>
              <a:rPr lang="en-US" altLang="zh-CN" sz="2400" dirty="0">
                <a:latin typeface="华光行书_CNKI" panose="02000500000000000000" pitchFamily="2" charset="-122"/>
                <a:ea typeface="华光行书_CNKI" panose="02000500000000000000" pitchFamily="2" charset="-122"/>
              </a:rPr>
              <a:t>----</a:t>
            </a:r>
            <a:r>
              <a:rPr lang="zh-CN" altLang="en-US" sz="2400" dirty="0">
                <a:latin typeface="华光行书_CNKI" panose="02000500000000000000" pitchFamily="2" charset="-122"/>
                <a:ea typeface="华光行书_CNKI" panose="02000500000000000000" pitchFamily="2" charset="-122"/>
              </a:rPr>
              <a:t>允许定义新的数据类型</a:t>
            </a:r>
            <a:endParaRPr lang="en-US" altLang="zh-CN" sz="2400" dirty="0">
              <a:latin typeface="华光行书_CNKI" panose="02000500000000000000" pitchFamily="2" charset="-122"/>
              <a:ea typeface="华光行书_CNKI" panose="02000500000000000000" pitchFamily="2" charset="-122"/>
            </a:endParaRPr>
          </a:p>
          <a:p>
            <a:pPr>
              <a:lnSpc>
                <a:spcPct val="100000"/>
              </a:lnSpc>
              <a:spcBef>
                <a:spcPts val="600"/>
              </a:spcBef>
            </a:pPr>
            <a:r>
              <a:rPr lang="en-US" altLang="zh-CN" sz="2400" dirty="0">
                <a:latin typeface="华光行书_CNKI" panose="02000500000000000000" pitchFamily="2" charset="-122"/>
                <a:ea typeface="华光行书_CNKI" panose="02000500000000000000" pitchFamily="2" charset="-122"/>
              </a:rPr>
              <a:t>C++</a:t>
            </a:r>
            <a:r>
              <a:rPr lang="zh-CN" altLang="en-US" sz="2400" dirty="0">
                <a:latin typeface="华光行书_CNKI" panose="02000500000000000000" pitchFamily="2" charset="-122"/>
                <a:ea typeface="华光行书_CNKI" panose="02000500000000000000" pitchFamily="2" charset="-122"/>
              </a:rPr>
              <a:t>预定义运算符的操作对象只能是基本数据类型</a:t>
            </a:r>
          </a:p>
          <a:p>
            <a:pPr>
              <a:lnSpc>
                <a:spcPct val="100000"/>
              </a:lnSpc>
              <a:spcBef>
                <a:spcPts val="600"/>
              </a:spcBef>
            </a:pPr>
            <a:r>
              <a:rPr lang="zh-CN" altLang="en-US" sz="2400" dirty="0">
                <a:latin typeface="华光行书_CNKI" panose="02000500000000000000" pitchFamily="2" charset="-122"/>
                <a:ea typeface="华光行书_CNKI" panose="02000500000000000000" pitchFamily="2" charset="-122"/>
              </a:rPr>
              <a:t>如果用户自定义的类型也需要类似的操作？</a:t>
            </a:r>
            <a:endParaRPr lang="en-US" altLang="zh-CN" sz="2400" dirty="0">
              <a:latin typeface="华光行书_CNKI" panose="02000500000000000000" pitchFamily="2" charset="-122"/>
              <a:ea typeface="华光行书_CNKI" panose="02000500000000000000" pitchFamily="2" charset="-122"/>
            </a:endParaRPr>
          </a:p>
        </p:txBody>
      </p:sp>
      <p:sp>
        <p:nvSpPr>
          <p:cNvPr id="13" name="Rectangle 6">
            <a:extLst>
              <a:ext uri="{FF2B5EF4-FFF2-40B4-BE49-F238E27FC236}">
                <a16:creationId xmlns:a16="http://schemas.microsoft.com/office/drawing/2014/main" id="{24258C46-78C1-41A3-9A82-48A6D008D02A}"/>
              </a:ext>
            </a:extLst>
          </p:cNvPr>
          <p:cNvSpPr>
            <a:spLocks noChangeArrowheads="1"/>
          </p:cNvSpPr>
          <p:nvPr/>
        </p:nvSpPr>
        <p:spPr bwMode="auto">
          <a:xfrm>
            <a:off x="247719" y="2436539"/>
            <a:ext cx="11641015" cy="461665"/>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spcBef>
                <a:spcPts val="600"/>
              </a:spcBef>
              <a:defRPr/>
            </a:pPr>
            <a:r>
              <a:rPr kumimoji="1" lang="zh-CN" altLang="en-US" dirty="0">
                <a:solidFill>
                  <a:srgbClr val="134F85"/>
                </a:solidFill>
                <a:latin typeface="华光行书_CNKI" panose="02000500000000000000" pitchFamily="2" charset="-122"/>
                <a:ea typeface="华光行书_CNKI" panose="02000500000000000000" pitchFamily="2" charset="-122"/>
              </a:rPr>
              <a:t>运算符重</a:t>
            </a:r>
            <a:r>
              <a:rPr kumimoji="1" lang="en-US" altLang="zh-CN" dirty="0">
                <a:solidFill>
                  <a:srgbClr val="134F85"/>
                </a:solidFill>
                <a:latin typeface="华光行书_CNKI" panose="02000500000000000000" pitchFamily="2" charset="-122"/>
                <a:ea typeface="华光行书_CNKI" panose="02000500000000000000" pitchFamily="2" charset="-122"/>
              </a:rPr>
              <a:t>——</a:t>
            </a:r>
            <a:r>
              <a:rPr kumimoji="1" lang="zh-CN" altLang="en-US" dirty="0">
                <a:solidFill>
                  <a:srgbClr val="134F85"/>
                </a:solidFill>
                <a:latin typeface="华光行书_CNKI" panose="02000500000000000000" pitchFamily="2" charset="-122"/>
                <a:ea typeface="华光行书_CNKI" panose="02000500000000000000" pitchFamily="2" charset="-122"/>
              </a:rPr>
              <a:t>载创建运算符函数</a:t>
            </a:r>
            <a:r>
              <a:rPr kumimoji="1" lang="en-US" altLang="zh-CN" dirty="0">
                <a:solidFill>
                  <a:srgbClr val="134F85"/>
                </a:solidFill>
                <a:latin typeface="华光行书_CNKI" panose="02000500000000000000" pitchFamily="2" charset="-122"/>
                <a:ea typeface="华光行书_CNKI" panose="02000500000000000000" pitchFamily="2" charset="-122"/>
              </a:rPr>
              <a:t>,</a:t>
            </a:r>
            <a:r>
              <a:rPr kumimoji="1" lang="zh-CN" altLang="en-US" b="0" dirty="0">
                <a:solidFill>
                  <a:srgbClr val="134F85"/>
                </a:solidFill>
                <a:latin typeface="华光行书_CNKI" panose="02000500000000000000" pitchFamily="2" charset="-122"/>
                <a:ea typeface="华光行书_CNKI" panose="02000500000000000000" pitchFamily="2" charset="-122"/>
              </a:rPr>
              <a:t>使自定义类型</a:t>
            </a:r>
            <a:r>
              <a:rPr kumimoji="1" lang="en-US" altLang="zh-CN" b="0" dirty="0">
                <a:solidFill>
                  <a:srgbClr val="134F85"/>
                </a:solidFill>
                <a:latin typeface="华光行书_CNKI" panose="02000500000000000000" pitchFamily="2" charset="-122"/>
                <a:ea typeface="华光行书_CNKI" panose="02000500000000000000" pitchFamily="2" charset="-122"/>
              </a:rPr>
              <a:t>,</a:t>
            </a:r>
            <a:r>
              <a:rPr kumimoji="1" lang="zh-CN" altLang="en-US" b="0" dirty="0">
                <a:solidFill>
                  <a:srgbClr val="134F85"/>
                </a:solidFill>
                <a:latin typeface="华光行书_CNKI" panose="02000500000000000000" pitchFamily="2" charset="-122"/>
                <a:ea typeface="华光行书_CNKI" panose="02000500000000000000" pitchFamily="2" charset="-122"/>
              </a:rPr>
              <a:t>像</a:t>
            </a:r>
            <a:r>
              <a:rPr kumimoji="1" lang="en-US" altLang="zh-CN" b="0" dirty="0" err="1">
                <a:solidFill>
                  <a:srgbClr val="134F85"/>
                </a:solidFill>
                <a:latin typeface="华光行书_CNKI" panose="02000500000000000000" pitchFamily="2" charset="-122"/>
                <a:ea typeface="华光行书_CNKI" panose="02000500000000000000" pitchFamily="2" charset="-122"/>
              </a:rPr>
              <a:t>c++</a:t>
            </a:r>
            <a:r>
              <a:rPr kumimoji="1" lang="zh-CN" altLang="en-US" b="0" dirty="0">
                <a:solidFill>
                  <a:srgbClr val="134F85"/>
                </a:solidFill>
                <a:latin typeface="华光行书_CNKI" panose="02000500000000000000" pitchFamily="2" charset="-122"/>
                <a:ea typeface="华光行书_CNKI" panose="02000500000000000000" pitchFamily="2" charset="-122"/>
              </a:rPr>
              <a:t>基本类型一样进行各种操作运算</a:t>
            </a:r>
          </a:p>
        </p:txBody>
      </p:sp>
      <p:sp>
        <p:nvSpPr>
          <p:cNvPr id="14" name="Text Box 4">
            <a:extLst>
              <a:ext uri="{FF2B5EF4-FFF2-40B4-BE49-F238E27FC236}">
                <a16:creationId xmlns:a16="http://schemas.microsoft.com/office/drawing/2014/main" id="{211D79D4-70AF-4F24-9DEB-6DF68461A794}"/>
              </a:ext>
            </a:extLst>
          </p:cNvPr>
          <p:cNvSpPr txBox="1">
            <a:spLocks noChangeArrowheads="1"/>
          </p:cNvSpPr>
          <p:nvPr/>
        </p:nvSpPr>
        <p:spPr bwMode="auto">
          <a:xfrm>
            <a:off x="361401" y="3095441"/>
            <a:ext cx="3673476" cy="461665"/>
          </a:xfrm>
          <a:prstGeom prst="rect">
            <a:avLst/>
          </a:prstGeom>
          <a:noFill/>
          <a:ln>
            <a:noFill/>
          </a:ln>
        </p:spPr>
        <p:txBody>
          <a:bodyPr>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spcBef>
                <a:spcPct val="50000"/>
              </a:spcBef>
              <a:defRPr/>
            </a:pPr>
            <a:r>
              <a:rPr kumimoji="1" lang="zh-CN" altLang="en-US" b="0" dirty="0">
                <a:solidFill>
                  <a:srgbClr val="104E87"/>
                </a:solidFill>
                <a:latin typeface="Comic Sans MS" panose="030F0702030302020204" pitchFamily="66" charset="0"/>
                <a:ea typeface="华光行书_CNKI" panose="02000500000000000000" pitchFamily="2" charset="-122"/>
              </a:rPr>
              <a:t>可重载的操作符</a:t>
            </a:r>
          </a:p>
        </p:txBody>
      </p:sp>
      <p:sp>
        <p:nvSpPr>
          <p:cNvPr id="15" name="Text Box 5">
            <a:extLst>
              <a:ext uri="{FF2B5EF4-FFF2-40B4-BE49-F238E27FC236}">
                <a16:creationId xmlns:a16="http://schemas.microsoft.com/office/drawing/2014/main" id="{E42DCEBD-E9B0-4801-8F57-CC4607FA0043}"/>
              </a:ext>
            </a:extLst>
          </p:cNvPr>
          <p:cNvSpPr txBox="1">
            <a:spLocks noChangeArrowheads="1"/>
          </p:cNvSpPr>
          <p:nvPr/>
        </p:nvSpPr>
        <p:spPr bwMode="auto">
          <a:xfrm>
            <a:off x="6024623" y="3030653"/>
            <a:ext cx="3067051" cy="461665"/>
          </a:xfrm>
          <a:prstGeom prst="rect">
            <a:avLst/>
          </a:prstGeom>
          <a:noFill/>
          <a:ln>
            <a:noFill/>
          </a:ln>
        </p:spPr>
        <p:txBody>
          <a:bodyPr>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ctr" eaLnBrk="1" hangingPunct="1">
              <a:spcBef>
                <a:spcPct val="50000"/>
              </a:spcBef>
              <a:defRPr/>
            </a:pPr>
            <a:r>
              <a:rPr kumimoji="1" lang="zh-CN" altLang="en-US" b="0" dirty="0">
                <a:solidFill>
                  <a:srgbClr val="104E87"/>
                </a:solidFill>
                <a:latin typeface="Comic Sans MS" panose="030F0702030302020204" pitchFamily="66" charset="0"/>
                <a:ea typeface="华光行书_CNKI" panose="02000500000000000000" pitchFamily="2" charset="-122"/>
              </a:rPr>
              <a:t>不能重载的操作符</a:t>
            </a:r>
          </a:p>
        </p:txBody>
      </p:sp>
      <p:sp>
        <p:nvSpPr>
          <p:cNvPr id="16" name="Text Box 6">
            <a:extLst>
              <a:ext uri="{FF2B5EF4-FFF2-40B4-BE49-F238E27FC236}">
                <a16:creationId xmlns:a16="http://schemas.microsoft.com/office/drawing/2014/main" id="{C2C34197-AA30-4DE4-B7BB-B2833310E25A}"/>
              </a:ext>
            </a:extLst>
          </p:cNvPr>
          <p:cNvSpPr txBox="1">
            <a:spLocks noChangeArrowheads="1"/>
          </p:cNvSpPr>
          <p:nvPr/>
        </p:nvSpPr>
        <p:spPr bwMode="auto">
          <a:xfrm>
            <a:off x="522592" y="3429000"/>
            <a:ext cx="4968875" cy="2693045"/>
          </a:xfrm>
          <a:prstGeom prst="rect">
            <a:avLst/>
          </a:prstGeom>
          <a:noFill/>
          <a:ln>
            <a:noFill/>
          </a:ln>
        </p:spPr>
        <p:txBody>
          <a:bodyPr>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spcBef>
                <a:spcPts val="600"/>
              </a:spcBef>
              <a:defRPr/>
            </a:pPr>
            <a:r>
              <a:rPr kumimoji="1" lang="en-US" altLang="zh-CN" b="0" dirty="0">
                <a:solidFill>
                  <a:srgbClr val="104E87"/>
                </a:solidFill>
                <a:latin typeface="Comic Sans MS" panose="030F0702030302020204" pitchFamily="66" charset="0"/>
                <a:ea typeface="华光行书_CNKI" panose="02000500000000000000" pitchFamily="2" charset="-122"/>
              </a:rPr>
              <a:t>new    new[]    delete    delete[] </a:t>
            </a:r>
          </a:p>
          <a:p>
            <a:pPr eaLnBrk="1" hangingPunct="1">
              <a:spcBef>
                <a:spcPts val="600"/>
              </a:spcBef>
              <a:defRPr/>
            </a:pPr>
            <a:r>
              <a:rPr kumimoji="1" lang="en-US" altLang="zh-CN" b="0" dirty="0">
                <a:solidFill>
                  <a:srgbClr val="104E87"/>
                </a:solidFill>
                <a:latin typeface="Comic Sans MS" panose="030F0702030302020204" pitchFamily="66" charset="0"/>
                <a:ea typeface="华光行书_CNKI" panose="02000500000000000000" pitchFamily="2" charset="-122"/>
              </a:rPr>
              <a:t> +   -   *   /   %    ^    &amp;   |   ~    !</a:t>
            </a:r>
          </a:p>
          <a:p>
            <a:pPr eaLnBrk="1" hangingPunct="1">
              <a:spcBef>
                <a:spcPts val="600"/>
              </a:spcBef>
              <a:defRPr/>
            </a:pPr>
            <a:r>
              <a:rPr kumimoji="1" lang="en-US" altLang="zh-CN" b="0" dirty="0">
                <a:solidFill>
                  <a:srgbClr val="104E87"/>
                </a:solidFill>
                <a:latin typeface="Comic Sans MS" panose="030F0702030302020204" pitchFamily="66" charset="0"/>
                <a:ea typeface="华光行书_CNKI" panose="02000500000000000000" pitchFamily="2" charset="-122"/>
              </a:rPr>
              <a:t>=   &lt;   &gt;    +=    -=   *=   /=   %=  </a:t>
            </a:r>
          </a:p>
          <a:p>
            <a:pPr eaLnBrk="1" hangingPunct="1">
              <a:spcBef>
                <a:spcPts val="600"/>
              </a:spcBef>
              <a:defRPr/>
            </a:pPr>
            <a:r>
              <a:rPr kumimoji="1" lang="en-US" altLang="zh-CN" b="0" dirty="0">
                <a:solidFill>
                  <a:srgbClr val="104E87"/>
                </a:solidFill>
                <a:latin typeface="Comic Sans MS" panose="030F0702030302020204" pitchFamily="66" charset="0"/>
                <a:ea typeface="华光行书_CNKI" panose="02000500000000000000" pitchFamily="2" charset="-122"/>
              </a:rPr>
              <a:t>^ =    &amp;=    | =    &lt;&lt;    &gt;&gt;     &lt;&lt;=</a:t>
            </a:r>
          </a:p>
          <a:p>
            <a:pPr eaLnBrk="1" hangingPunct="1">
              <a:spcBef>
                <a:spcPts val="600"/>
              </a:spcBef>
              <a:defRPr/>
            </a:pPr>
            <a:r>
              <a:rPr kumimoji="1" lang="en-US" altLang="zh-CN" b="0" dirty="0">
                <a:solidFill>
                  <a:srgbClr val="104E87"/>
                </a:solidFill>
                <a:latin typeface="Comic Sans MS" panose="030F0702030302020204" pitchFamily="66" charset="0"/>
                <a:ea typeface="华光行书_CNKI" panose="02000500000000000000" pitchFamily="2" charset="-122"/>
              </a:rPr>
              <a:t>&gt;&gt;=    = =    !=    &lt;=    &gt;=    &amp;&amp; </a:t>
            </a:r>
          </a:p>
          <a:p>
            <a:pPr eaLnBrk="1" hangingPunct="1">
              <a:spcBef>
                <a:spcPts val="600"/>
              </a:spcBef>
              <a:defRPr/>
            </a:pPr>
            <a:r>
              <a:rPr kumimoji="1" lang="en-US" altLang="zh-CN" b="0" dirty="0">
                <a:solidFill>
                  <a:srgbClr val="104E87"/>
                </a:solidFill>
                <a:latin typeface="Comic Sans MS" panose="030F0702030302020204" pitchFamily="66" charset="0"/>
                <a:ea typeface="华光行书_CNKI" panose="02000500000000000000" pitchFamily="2" charset="-122"/>
              </a:rPr>
              <a:t> ||    ++   --    '    -&gt;*    -&gt;   ( )   []</a:t>
            </a:r>
          </a:p>
        </p:txBody>
      </p:sp>
      <p:sp>
        <p:nvSpPr>
          <p:cNvPr id="17" name="矩形 8">
            <a:extLst>
              <a:ext uri="{FF2B5EF4-FFF2-40B4-BE49-F238E27FC236}">
                <a16:creationId xmlns:a16="http://schemas.microsoft.com/office/drawing/2014/main" id="{92003C99-D8CD-46E2-A478-FD79F02F69D8}"/>
              </a:ext>
            </a:extLst>
          </p:cNvPr>
          <p:cNvSpPr>
            <a:spLocks noChangeArrowheads="1"/>
          </p:cNvSpPr>
          <p:nvPr/>
        </p:nvSpPr>
        <p:spPr bwMode="auto">
          <a:xfrm>
            <a:off x="6184228" y="3572037"/>
            <a:ext cx="3708034" cy="461665"/>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r>
              <a:rPr lang="zh-CN" altLang="en-US" b="0" dirty="0">
                <a:solidFill>
                  <a:srgbClr val="104E87"/>
                </a:solidFill>
                <a:latin typeface="Comic Sans MS" panose="030F0702030302020204" pitchFamily="66" charset="0"/>
                <a:ea typeface="华光行书_CNKI" panose="02000500000000000000" pitchFamily="2" charset="-122"/>
              </a:rPr>
              <a:t> </a:t>
            </a:r>
            <a:r>
              <a:rPr lang="en-US" altLang="zh-CN" b="0" dirty="0">
                <a:solidFill>
                  <a:srgbClr val="104E87"/>
                </a:solidFill>
                <a:latin typeface="Comic Sans MS" panose="030F0702030302020204" pitchFamily="66" charset="0"/>
                <a:ea typeface="华光行书_CNKI" panose="02000500000000000000" pitchFamily="2" charset="-122"/>
              </a:rPr>
              <a:t>::	  .	*	?:	</a:t>
            </a:r>
            <a:r>
              <a:rPr lang="en-US" altLang="zh-CN" b="0" dirty="0" err="1">
                <a:solidFill>
                  <a:srgbClr val="104E87"/>
                </a:solidFill>
                <a:latin typeface="Comic Sans MS" panose="030F0702030302020204" pitchFamily="66" charset="0"/>
                <a:ea typeface="华光行书_CNKI" panose="02000500000000000000" pitchFamily="2" charset="-122"/>
              </a:rPr>
              <a:t>sizeof</a:t>
            </a:r>
            <a:endParaRPr lang="zh-CN" altLang="en-US" b="0" dirty="0">
              <a:solidFill>
                <a:srgbClr val="104E87"/>
              </a:solidFill>
              <a:latin typeface="Comic Sans MS" panose="030F0702030302020204" pitchFamily="66" charset="0"/>
              <a:ea typeface="华光行书_CNKI" panose="02000500000000000000" pitchFamily="2" charset="-122"/>
            </a:endParaRPr>
          </a:p>
        </p:txBody>
      </p:sp>
    </p:spTree>
    <p:extLst>
      <p:ext uri="{BB962C8B-B14F-4D97-AF65-F5344CB8AC3E}">
        <p14:creationId xmlns:p14="http://schemas.microsoft.com/office/powerpoint/2010/main" val="59818466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5CDD4F-A373-4C54-910E-623DEE637A41}"/>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4" name="直线连接符 6">
            <a:extLst>
              <a:ext uri="{FF2B5EF4-FFF2-40B4-BE49-F238E27FC236}">
                <a16:creationId xmlns:a16="http://schemas.microsoft.com/office/drawing/2014/main" id="{3A11AE7D-E24E-452C-BC02-4BE8A9628811}"/>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8D1CEB7E-EDD4-4455-9510-39A499826626}"/>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本质是函数重载</a:t>
            </a:r>
          </a:p>
        </p:txBody>
      </p:sp>
      <p:sp>
        <p:nvSpPr>
          <p:cNvPr id="9" name="Text Box 4">
            <a:extLst>
              <a:ext uri="{FF2B5EF4-FFF2-40B4-BE49-F238E27FC236}">
                <a16:creationId xmlns:a16="http://schemas.microsoft.com/office/drawing/2014/main" id="{2CC58B11-9893-4BB1-8A51-C9D6330D3317}"/>
              </a:ext>
            </a:extLst>
          </p:cNvPr>
          <p:cNvSpPr txBox="1">
            <a:spLocks noChangeArrowheads="1"/>
          </p:cNvSpPr>
          <p:nvPr/>
        </p:nvSpPr>
        <p:spPr bwMode="auto">
          <a:xfrm>
            <a:off x="1587" y="905715"/>
            <a:ext cx="11569140" cy="2616101"/>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spcAft>
                <a:spcPts val="600"/>
              </a:spcAft>
              <a:buClr>
                <a:srgbClr val="FF0000"/>
              </a:buClr>
              <a:buSzPct val="75000"/>
              <a:buFont typeface="Wingdings" pitchFamily="2" charset="2"/>
              <a:buChar char="l"/>
              <a:defRPr/>
            </a:pPr>
            <a:r>
              <a:rPr lang="zh-CN" altLang="en-US" b="0" dirty="0">
                <a:solidFill>
                  <a:srgbClr val="104E87"/>
                </a:solidFill>
                <a:latin typeface="华光行书_CNKI" panose="02000500000000000000" pitchFamily="2" charset="-122"/>
                <a:ea typeface="华光行书_CNKI" panose="02000500000000000000" pitchFamily="2" charset="-122"/>
              </a:rPr>
              <a:t>不能改变运算符运算对象(即操作数)个数、优先级和结合性</a:t>
            </a:r>
          </a:p>
          <a:p>
            <a:pPr eaLnBrk="1" hangingPunct="1">
              <a:spcAft>
                <a:spcPts val="600"/>
              </a:spcAft>
              <a:buClr>
                <a:srgbClr val="FF0000"/>
              </a:buClr>
              <a:buSzPct val="75000"/>
              <a:buFont typeface="Wingdings" pitchFamily="2" charset="2"/>
              <a:buChar char="l"/>
              <a:defRPr/>
            </a:pPr>
            <a:r>
              <a:rPr lang="zh-CN" altLang="en-US" b="0" dirty="0">
                <a:solidFill>
                  <a:srgbClr val="104E87"/>
                </a:solidFill>
                <a:latin typeface="华光行书_CNKI" panose="02000500000000000000" pitchFamily="2" charset="-122"/>
                <a:ea typeface="华光行书_CNKI" panose="02000500000000000000" pitchFamily="2" charset="-122"/>
              </a:rPr>
              <a:t>重载运算符函数不能有默认的参数</a:t>
            </a:r>
          </a:p>
          <a:p>
            <a:pPr eaLnBrk="1" hangingPunct="1">
              <a:spcAft>
                <a:spcPts val="600"/>
              </a:spcAft>
              <a:buClr>
                <a:srgbClr val="FF0000"/>
              </a:buClr>
              <a:buSzPct val="75000"/>
              <a:buFont typeface="Wingdings" pitchFamily="2" charset="2"/>
              <a:buChar char="l"/>
              <a:defRPr/>
            </a:pPr>
            <a:r>
              <a:rPr lang="zh-CN" altLang="en-US" b="0" dirty="0">
                <a:solidFill>
                  <a:srgbClr val="104E87"/>
                </a:solidFill>
                <a:latin typeface="华光行书_CNKI" panose="02000500000000000000" pitchFamily="2" charset="-122"/>
                <a:ea typeface="华光行书_CNKI" panose="02000500000000000000" pitchFamily="2" charset="-122"/>
              </a:rPr>
              <a:t>运算符重载时</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如果参数类型都是基本类型时</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不允许重载</a:t>
            </a:r>
            <a:r>
              <a:rPr lang="en-US" altLang="zh-CN" b="0" dirty="0">
                <a:solidFill>
                  <a:srgbClr val="104E87"/>
                </a:solidFill>
                <a:latin typeface="华光行书_CNKI" panose="02000500000000000000" pitchFamily="2" charset="-122"/>
                <a:ea typeface="华光行书_CNKI" panose="02000500000000000000" pitchFamily="2" charset="-122"/>
              </a:rPr>
              <a:t>. </a:t>
            </a:r>
            <a:r>
              <a:rPr lang="zh-CN" altLang="en-US" b="0" dirty="0">
                <a:solidFill>
                  <a:srgbClr val="104E87"/>
                </a:solidFill>
                <a:latin typeface="华光行书_CNKI" panose="02000500000000000000" pitchFamily="2" charset="-122"/>
                <a:ea typeface="华光行书_CNKI" panose="02000500000000000000" pitchFamily="2" charset="-122"/>
              </a:rPr>
              <a:t>即重载运算符必须和用户定义的自定义类型的对象一起使用，其参数至少应有一个是类对象</a:t>
            </a:r>
            <a:r>
              <a:rPr lang="en-US" altLang="zh-CN" b="0" dirty="0">
                <a:solidFill>
                  <a:srgbClr val="104E87"/>
                </a:solidFill>
                <a:latin typeface="华光行书_CNKI" panose="02000500000000000000" pitchFamily="2" charset="-122"/>
                <a:ea typeface="华光行书_CNKI" panose="02000500000000000000" pitchFamily="2" charset="-122"/>
              </a:rPr>
              <a:t>.</a:t>
            </a:r>
          </a:p>
          <a:p>
            <a:pPr eaLnBrk="1" hangingPunct="1">
              <a:spcAft>
                <a:spcPts val="600"/>
              </a:spcAft>
              <a:buClr>
                <a:srgbClr val="FF0000"/>
              </a:buClr>
              <a:buSzPct val="75000"/>
              <a:buFont typeface="Wingdings" pitchFamily="2" charset="2"/>
              <a:buChar char="l"/>
              <a:defRPr/>
            </a:pPr>
            <a:r>
              <a:rPr lang="en-US" altLang="zh-CN" b="0" dirty="0">
                <a:solidFill>
                  <a:srgbClr val="104E87"/>
                </a:solidFill>
                <a:latin typeface="华光行书_CNKI" panose="02000500000000000000" pitchFamily="2" charset="-122"/>
                <a:ea typeface="华光行书_CNKI" panose="02000500000000000000" pitchFamily="2" charset="-122"/>
              </a:rPr>
              <a:t> </a:t>
            </a:r>
            <a:r>
              <a:rPr lang="zh-CN" altLang="en-US" b="0" dirty="0">
                <a:solidFill>
                  <a:srgbClr val="104E87"/>
                </a:solidFill>
                <a:latin typeface="华光行书_CNKI" panose="02000500000000000000" pitchFamily="2" charset="-122"/>
                <a:ea typeface="华光行书_CNKI" panose="02000500000000000000" pitchFamily="2" charset="-122"/>
              </a:rPr>
              <a:t>用于类对象的运算符一般必须重载，但运算符“=”和“&amp;”不必用户重载</a:t>
            </a:r>
            <a:endParaRPr lang="en-US" altLang="zh-CN" b="0" dirty="0">
              <a:solidFill>
                <a:srgbClr val="104E87"/>
              </a:solidFill>
              <a:latin typeface="华光行书_CNKI" panose="02000500000000000000" pitchFamily="2" charset="-122"/>
              <a:ea typeface="华光行书_CNKI" panose="02000500000000000000" pitchFamily="2" charset="-122"/>
            </a:endParaRPr>
          </a:p>
          <a:p>
            <a:pPr eaLnBrk="1" hangingPunct="1">
              <a:spcAft>
                <a:spcPts val="600"/>
              </a:spcAft>
              <a:buClr>
                <a:srgbClr val="FF0000"/>
              </a:buClr>
              <a:buSzPct val="75000"/>
              <a:buFont typeface="Wingdings" pitchFamily="2" charset="2"/>
              <a:buChar char="l"/>
              <a:defRPr/>
            </a:pPr>
            <a:r>
              <a:rPr lang="zh-CN" altLang="en-US" b="0" dirty="0">
                <a:solidFill>
                  <a:srgbClr val="104E87"/>
                </a:solidFill>
                <a:latin typeface="华光行书_CNKI" panose="02000500000000000000" pitchFamily="2" charset="-122"/>
                <a:ea typeface="华光行书_CNKI" panose="02000500000000000000" pitchFamily="2" charset="-122"/>
              </a:rPr>
              <a:t>重载</a:t>
            </a:r>
            <a:r>
              <a:rPr lang="zh-CN" altLang="zh-CN" b="0" dirty="0">
                <a:solidFill>
                  <a:srgbClr val="104E87"/>
                </a:solidFill>
                <a:latin typeface="华光行书_CNKI" panose="02000500000000000000" pitchFamily="2" charset="-122"/>
                <a:ea typeface="华光行书_CNKI" panose="02000500000000000000" pitchFamily="2" charset="-122"/>
              </a:rPr>
              <a:t>运算符函数的</a:t>
            </a:r>
            <a:r>
              <a:rPr lang="zh-CN" altLang="en-US" b="0" dirty="0">
                <a:solidFill>
                  <a:srgbClr val="104E87"/>
                </a:solidFill>
                <a:latin typeface="华光行书_CNKI" panose="02000500000000000000" pitchFamily="2" charset="-122"/>
                <a:ea typeface="华光行书_CNKI" panose="02000500000000000000" pitchFamily="2" charset="-122"/>
              </a:rPr>
              <a:t>名称</a:t>
            </a:r>
            <a:r>
              <a:rPr lang="zh-CN" altLang="zh-CN" b="0" dirty="0">
                <a:solidFill>
                  <a:srgbClr val="104E87"/>
                </a:solidFill>
                <a:latin typeface="华光行书_CNKI" panose="02000500000000000000" pitchFamily="2" charset="-122"/>
                <a:ea typeface="华光行书_CNKI" panose="02000500000000000000" pitchFamily="2" charset="-122"/>
              </a:rPr>
              <a:t>是由关键字</a:t>
            </a:r>
            <a:r>
              <a:rPr lang="en-US" altLang="zh-CN" b="0" dirty="0">
                <a:solidFill>
                  <a:srgbClr val="FF0000"/>
                </a:solidFill>
                <a:latin typeface="华光行书_CNKI" panose="02000500000000000000" pitchFamily="2" charset="-122"/>
                <a:ea typeface="华光行书_CNKI" panose="02000500000000000000" pitchFamily="2" charset="-122"/>
              </a:rPr>
              <a:t>operator</a:t>
            </a:r>
            <a:r>
              <a:rPr lang="zh-CN" altLang="en-US" b="0" dirty="0">
                <a:solidFill>
                  <a:srgbClr val="104E87"/>
                </a:solidFill>
                <a:latin typeface="华光行书_CNKI" panose="02000500000000000000" pitchFamily="2" charset="-122"/>
                <a:ea typeface="华光行书_CNKI" panose="02000500000000000000" pitchFamily="2" charset="-122"/>
              </a:rPr>
              <a:t>和其后要重载的运算符符号构成的。</a:t>
            </a:r>
          </a:p>
        </p:txBody>
      </p:sp>
    </p:spTree>
    <p:extLst>
      <p:ext uri="{BB962C8B-B14F-4D97-AF65-F5344CB8AC3E}">
        <p14:creationId xmlns:p14="http://schemas.microsoft.com/office/powerpoint/2010/main" val="13380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anim calcmode="lin" valueType="num">
                                      <p:cBhvr additive="base">
                                        <p:cTn id="3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5CDD4F-A373-4C54-910E-623DEE637A41}"/>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4" name="直线连接符 6">
            <a:extLst>
              <a:ext uri="{FF2B5EF4-FFF2-40B4-BE49-F238E27FC236}">
                <a16:creationId xmlns:a16="http://schemas.microsoft.com/office/drawing/2014/main" id="{3A11AE7D-E24E-452C-BC02-4BE8A9628811}"/>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8D1CEB7E-EDD4-4455-9510-39A499826626}"/>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本质是函数重载</a:t>
            </a:r>
          </a:p>
        </p:txBody>
      </p:sp>
      <p:sp>
        <p:nvSpPr>
          <p:cNvPr id="10" name="Rectangle 4">
            <a:extLst>
              <a:ext uri="{FF2B5EF4-FFF2-40B4-BE49-F238E27FC236}">
                <a16:creationId xmlns:a16="http://schemas.microsoft.com/office/drawing/2014/main" id="{B252291D-2557-47B3-AAF0-18DF6D3A2664}"/>
              </a:ext>
            </a:extLst>
          </p:cNvPr>
          <p:cNvSpPr>
            <a:spLocks noChangeArrowheads="1"/>
          </p:cNvSpPr>
          <p:nvPr/>
        </p:nvSpPr>
        <p:spPr bwMode="auto">
          <a:xfrm>
            <a:off x="93785" y="1129959"/>
            <a:ext cx="9004300" cy="1938992"/>
          </a:xfrm>
          <a:prstGeom prst="rect">
            <a:avLst/>
          </a:prstGeom>
          <a:noFill/>
          <a:ln>
            <a:noFill/>
          </a:ln>
        </p:spPr>
        <p:txBody>
          <a:bodyPr anchor="ctr">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r>
              <a:rPr kumimoji="1" lang="zh-CN" altLang="en-US" b="0" dirty="0">
                <a:solidFill>
                  <a:srgbClr val="104E87"/>
                </a:solidFill>
                <a:latin typeface="Comic Sans MS" panose="030F0702030302020204" pitchFamily="66" charset="0"/>
                <a:ea typeface="华光行书_CNKI" panose="02000500000000000000" pitchFamily="2" charset="-122"/>
              </a:rPr>
              <a:t>运算符的重载有两个方式</a:t>
            </a:r>
            <a:r>
              <a:rPr kumimoji="1" lang="en-US" altLang="zh-CN" b="0" dirty="0">
                <a:solidFill>
                  <a:srgbClr val="104E87"/>
                </a:solidFill>
                <a:latin typeface="Comic Sans MS" panose="030F0702030302020204" pitchFamily="66" charset="0"/>
                <a:ea typeface="华光行书_CNKI" panose="02000500000000000000" pitchFamily="2" charset="-122"/>
              </a:rPr>
              <a:t>(</a:t>
            </a:r>
            <a:r>
              <a:rPr kumimoji="1" lang="zh-CN" altLang="en-US" b="0" dirty="0">
                <a:solidFill>
                  <a:srgbClr val="104E87"/>
                </a:solidFill>
                <a:latin typeface="Comic Sans MS" panose="030F0702030302020204" pitchFamily="66" charset="0"/>
                <a:ea typeface="华光行书_CNKI" panose="02000500000000000000" pitchFamily="2" charset="-122"/>
              </a:rPr>
              <a:t>以双目为例</a:t>
            </a:r>
            <a:r>
              <a:rPr kumimoji="1" lang="en-US" altLang="zh-CN" b="0" dirty="0">
                <a:solidFill>
                  <a:srgbClr val="104E87"/>
                </a:solidFill>
                <a:latin typeface="Comic Sans MS" panose="030F0702030302020204" pitchFamily="66" charset="0"/>
                <a:ea typeface="华光行书_CNKI" panose="02000500000000000000" pitchFamily="2" charset="-122"/>
              </a:rPr>
              <a:t>):</a:t>
            </a:r>
          </a:p>
          <a:p>
            <a:pPr marL="457200" indent="-457200" eaLnBrk="1" hangingPunct="1">
              <a:buFontTx/>
              <a:buBlip>
                <a:blip r:embed="rId3"/>
              </a:buBlip>
              <a:defRPr/>
            </a:pPr>
            <a:r>
              <a:rPr kumimoji="1" lang="zh-CN" altLang="en-US" b="0" dirty="0">
                <a:solidFill>
                  <a:srgbClr val="104E87"/>
                </a:solidFill>
                <a:latin typeface="Comic Sans MS" panose="030F0702030302020204" pitchFamily="66" charset="0"/>
                <a:ea typeface="华光行书_CNKI" panose="02000500000000000000" pitchFamily="2" charset="-122"/>
              </a:rPr>
              <a:t>成员函数 ：</a:t>
            </a:r>
            <a:endParaRPr kumimoji="1" lang="en-US" altLang="zh-CN" b="0" dirty="0">
              <a:solidFill>
                <a:srgbClr val="104E87"/>
              </a:solidFill>
              <a:latin typeface="Comic Sans MS" panose="030F0702030302020204" pitchFamily="66" charset="0"/>
              <a:ea typeface="华光行书_CNKI" panose="02000500000000000000" pitchFamily="2" charset="-122"/>
            </a:endParaRPr>
          </a:p>
          <a:p>
            <a:pPr eaLnBrk="1" hangingPunct="1">
              <a:defRPr/>
            </a:pPr>
            <a:r>
              <a:rPr kumimoji="1" lang="en-US" altLang="zh-CN" b="0" dirty="0">
                <a:solidFill>
                  <a:srgbClr val="104E87"/>
                </a:solidFill>
                <a:latin typeface="Comic Sans MS" panose="030F0702030302020204" pitchFamily="66" charset="0"/>
                <a:ea typeface="华光行书_CNKI" panose="02000500000000000000" pitchFamily="2" charset="-122"/>
              </a:rPr>
              <a:t>     </a:t>
            </a:r>
            <a:r>
              <a:rPr kumimoji="1" lang="zh-CN" altLang="en-US" b="0" dirty="0">
                <a:solidFill>
                  <a:srgbClr val="104E87"/>
                </a:solidFill>
                <a:latin typeface="Comic Sans MS" panose="030F0702030302020204" pitchFamily="66" charset="0"/>
                <a:ea typeface="华光行书_CNKI" panose="02000500000000000000" pitchFamily="2" charset="-122"/>
              </a:rPr>
              <a:t>返回类型 </a:t>
            </a:r>
            <a:r>
              <a:rPr kumimoji="1" lang="en-US" altLang="zh-CN" b="0" dirty="0">
                <a:solidFill>
                  <a:srgbClr val="104E87"/>
                </a:solidFill>
                <a:latin typeface="Comic Sans MS" panose="030F0702030302020204" pitchFamily="66" charset="0"/>
                <a:ea typeface="华光行书_CNKI" panose="02000500000000000000" pitchFamily="2" charset="-122"/>
              </a:rPr>
              <a:t> operator+ (</a:t>
            </a:r>
            <a:r>
              <a:rPr kumimoji="1" lang="en-US" altLang="zh-CN" b="0" dirty="0" err="1">
                <a:solidFill>
                  <a:srgbClr val="104E87"/>
                </a:solidFill>
                <a:latin typeface="Comic Sans MS" panose="030F0702030302020204" pitchFamily="66" charset="0"/>
                <a:ea typeface="华光行书_CNKI" panose="02000500000000000000" pitchFamily="2" charset="-122"/>
              </a:rPr>
              <a:t>const</a:t>
            </a:r>
            <a:r>
              <a:rPr kumimoji="1" lang="en-US" altLang="zh-CN" b="0" dirty="0">
                <a:solidFill>
                  <a:srgbClr val="104E87"/>
                </a:solidFill>
                <a:latin typeface="Comic Sans MS" panose="030F0702030302020204" pitchFamily="66" charset="0"/>
                <a:ea typeface="华光行书_CNKI" panose="02000500000000000000" pitchFamily="2" charset="-122"/>
              </a:rPr>
              <a:t> </a:t>
            </a:r>
            <a:r>
              <a:rPr kumimoji="1" lang="en-US" altLang="zh-CN" b="0" dirty="0" err="1">
                <a:solidFill>
                  <a:srgbClr val="104E87"/>
                </a:solidFill>
                <a:latin typeface="Comic Sans MS" panose="030F0702030302020204" pitchFamily="66" charset="0"/>
                <a:ea typeface="华光行书_CNKI" panose="02000500000000000000" pitchFamily="2" charset="-122"/>
              </a:rPr>
              <a:t>ClaName</a:t>
            </a:r>
            <a:r>
              <a:rPr kumimoji="1" lang="en-US" altLang="zh-CN" b="0" dirty="0">
                <a:solidFill>
                  <a:srgbClr val="104E87"/>
                </a:solidFill>
                <a:latin typeface="Comic Sans MS" panose="030F0702030302020204" pitchFamily="66" charset="0"/>
                <a:ea typeface="华光行书_CNKI" panose="02000500000000000000" pitchFamily="2" charset="-122"/>
              </a:rPr>
              <a:t> &amp;);</a:t>
            </a:r>
          </a:p>
          <a:p>
            <a:pPr marL="457200" indent="-457200" eaLnBrk="1" hangingPunct="1">
              <a:buFontTx/>
              <a:buBlip>
                <a:blip r:embed="rId3"/>
              </a:buBlip>
              <a:defRPr/>
            </a:pPr>
            <a:r>
              <a:rPr kumimoji="1" lang="zh-CN" altLang="en-US" b="0" dirty="0">
                <a:solidFill>
                  <a:srgbClr val="104E87"/>
                </a:solidFill>
                <a:latin typeface="Comic Sans MS" panose="030F0702030302020204" pitchFamily="66" charset="0"/>
                <a:ea typeface="华光行书_CNKI" panose="02000500000000000000" pitchFamily="2" charset="-122"/>
              </a:rPr>
              <a:t>友元函数：</a:t>
            </a:r>
            <a:endParaRPr kumimoji="1" lang="en-US" altLang="zh-CN" b="0" dirty="0">
              <a:solidFill>
                <a:srgbClr val="104E87"/>
              </a:solidFill>
              <a:latin typeface="Comic Sans MS" panose="030F0702030302020204" pitchFamily="66" charset="0"/>
              <a:ea typeface="华光行书_CNKI" panose="02000500000000000000" pitchFamily="2" charset="-122"/>
            </a:endParaRPr>
          </a:p>
          <a:p>
            <a:pPr eaLnBrk="1" hangingPunct="1">
              <a:defRPr/>
            </a:pPr>
            <a:r>
              <a:rPr kumimoji="1" lang="en-US" altLang="zh-CN" b="0" spc="-100" dirty="0">
                <a:solidFill>
                  <a:srgbClr val="104E87"/>
                </a:solidFill>
                <a:latin typeface="Comic Sans MS" panose="030F0702030302020204" pitchFamily="66" charset="0"/>
                <a:ea typeface="华光行书_CNKI" panose="02000500000000000000" pitchFamily="2" charset="-122"/>
              </a:rPr>
              <a:t>friend </a:t>
            </a:r>
            <a:r>
              <a:rPr kumimoji="1" lang="zh-CN" altLang="en-US" b="0" spc="-100" dirty="0">
                <a:solidFill>
                  <a:srgbClr val="104E87"/>
                </a:solidFill>
                <a:latin typeface="Comic Sans MS" panose="030F0702030302020204" pitchFamily="66" charset="0"/>
                <a:ea typeface="华光行书_CNKI" panose="02000500000000000000" pitchFamily="2" charset="-122"/>
              </a:rPr>
              <a:t>返回类型</a:t>
            </a:r>
            <a:r>
              <a:rPr kumimoji="1" lang="en-US" altLang="zh-CN" b="0" spc="-100" dirty="0">
                <a:solidFill>
                  <a:srgbClr val="104E87"/>
                </a:solidFill>
                <a:latin typeface="Comic Sans MS" panose="030F0702030302020204" pitchFamily="66" charset="0"/>
                <a:ea typeface="华光行书_CNKI" panose="02000500000000000000" pitchFamily="2" charset="-122"/>
              </a:rPr>
              <a:t>  operator+ (</a:t>
            </a:r>
            <a:r>
              <a:rPr kumimoji="1" lang="en-US" altLang="zh-CN" b="0" spc="-100" dirty="0" err="1">
                <a:solidFill>
                  <a:srgbClr val="104E87"/>
                </a:solidFill>
                <a:latin typeface="Comic Sans MS" panose="030F0702030302020204" pitchFamily="66" charset="0"/>
                <a:ea typeface="华光行书_CNKI" panose="02000500000000000000" pitchFamily="2" charset="-122"/>
              </a:rPr>
              <a:t>ClaName</a:t>
            </a:r>
            <a:r>
              <a:rPr kumimoji="1" lang="en-US" altLang="zh-CN" b="0" spc="-100" dirty="0">
                <a:solidFill>
                  <a:srgbClr val="104E87"/>
                </a:solidFill>
                <a:latin typeface="Comic Sans MS" panose="030F0702030302020204" pitchFamily="66" charset="0"/>
                <a:ea typeface="华光行书_CNKI" panose="02000500000000000000" pitchFamily="2" charset="-122"/>
              </a:rPr>
              <a:t> &amp;op1, </a:t>
            </a:r>
            <a:r>
              <a:rPr kumimoji="1" lang="en-US" altLang="zh-CN" b="0" spc="-100" dirty="0" err="1">
                <a:solidFill>
                  <a:srgbClr val="104E87"/>
                </a:solidFill>
                <a:latin typeface="Comic Sans MS" panose="030F0702030302020204" pitchFamily="66" charset="0"/>
                <a:ea typeface="华光行书_CNKI" panose="02000500000000000000" pitchFamily="2" charset="-122"/>
              </a:rPr>
              <a:t>ClaName</a:t>
            </a:r>
            <a:r>
              <a:rPr kumimoji="1" lang="en-US" altLang="zh-CN" b="0" spc="-100" dirty="0">
                <a:solidFill>
                  <a:srgbClr val="104E87"/>
                </a:solidFill>
                <a:latin typeface="Comic Sans MS" panose="030F0702030302020204" pitchFamily="66" charset="0"/>
                <a:ea typeface="华光行书_CNKI" panose="02000500000000000000" pitchFamily="2" charset="-122"/>
              </a:rPr>
              <a:t> &amp;op2); </a:t>
            </a:r>
            <a:endParaRPr kumimoji="1" lang="zh-CN" altLang="en-US" b="0" spc="-100" dirty="0">
              <a:solidFill>
                <a:srgbClr val="104E87"/>
              </a:solidFill>
              <a:latin typeface="Comic Sans MS" panose="030F0702030302020204" pitchFamily="66" charset="0"/>
              <a:ea typeface="华光行书_CNKI" panose="02000500000000000000" pitchFamily="2" charset="-122"/>
            </a:endParaRPr>
          </a:p>
        </p:txBody>
      </p:sp>
      <p:sp>
        <p:nvSpPr>
          <p:cNvPr id="11" name="矩形 10">
            <a:extLst>
              <a:ext uri="{FF2B5EF4-FFF2-40B4-BE49-F238E27FC236}">
                <a16:creationId xmlns:a16="http://schemas.microsoft.com/office/drawing/2014/main" id="{D2697877-41CC-4F5A-BA81-077E96DE64B7}"/>
              </a:ext>
            </a:extLst>
          </p:cNvPr>
          <p:cNvSpPr/>
          <p:nvPr/>
        </p:nvSpPr>
        <p:spPr>
          <a:xfrm>
            <a:off x="95372" y="3253140"/>
            <a:ext cx="9428163" cy="985837"/>
          </a:xfrm>
          <a:prstGeom prst="rect">
            <a:avLst/>
          </a:prstGeom>
        </p:spPr>
        <p:txBody>
          <a:bodyPr>
            <a:spAutoFit/>
          </a:bodyPr>
          <a:lstStyle/>
          <a:p>
            <a:pPr eaLnBrk="1" fontAlgn="auto" hangingPunct="1">
              <a:spcAft>
                <a:spcPts val="1200"/>
              </a:spcAft>
              <a:buClr>
                <a:schemeClr val="accent3"/>
              </a:buClr>
              <a:defRPr/>
            </a:pPr>
            <a:r>
              <a:rPr lang="zh-CN" altLang="en-US" dirty="0">
                <a:solidFill>
                  <a:srgbClr val="104E87"/>
                </a:solidFill>
                <a:latin typeface="Comic Sans MS" panose="030F0702030302020204" pitchFamily="66" charset="0"/>
                <a:ea typeface="华光行书_CNKI" panose="02000500000000000000" pitchFamily="2" charset="-122"/>
              </a:rPr>
              <a:t>重载为类成员函数：参数个数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原操作数个数</a:t>
            </a:r>
            <a:r>
              <a:rPr lang="en-US" altLang="zh-CN" dirty="0">
                <a:solidFill>
                  <a:srgbClr val="104E87"/>
                </a:solidFill>
                <a:latin typeface="Comic Sans MS" panose="030F0702030302020204" pitchFamily="66" charset="0"/>
                <a:ea typeface="华光行书_CNKI" panose="02000500000000000000" pitchFamily="2" charset="-122"/>
              </a:rPr>
              <a:t>-1(</a:t>
            </a:r>
            <a:r>
              <a:rPr lang="zh-CN" altLang="en-US" dirty="0">
                <a:solidFill>
                  <a:srgbClr val="104E87"/>
                </a:solidFill>
                <a:latin typeface="Comic Sans MS" panose="030F0702030302020204" pitchFamily="66" charset="0"/>
                <a:ea typeface="华光行书_CNKI" panose="02000500000000000000" pitchFamily="2" charset="-122"/>
              </a:rPr>
              <a:t>后置</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除外</a:t>
            </a:r>
            <a:r>
              <a:rPr lang="en-US" altLang="zh-CN" dirty="0">
                <a:solidFill>
                  <a:srgbClr val="104E87"/>
                </a:solidFill>
                <a:latin typeface="Comic Sans MS" panose="030F0702030302020204" pitchFamily="66" charset="0"/>
                <a:ea typeface="华光行书_CNKI" panose="02000500000000000000" pitchFamily="2" charset="-122"/>
              </a:rPr>
              <a:t>)</a:t>
            </a:r>
          </a:p>
          <a:p>
            <a:pPr eaLnBrk="1" fontAlgn="auto" hangingPunct="1">
              <a:spcAft>
                <a:spcPts val="1200"/>
              </a:spcAft>
              <a:buClr>
                <a:schemeClr val="accent3"/>
              </a:buClr>
              <a:defRPr/>
            </a:pPr>
            <a:r>
              <a:rPr lang="zh-CN" altLang="en-US" dirty="0">
                <a:solidFill>
                  <a:srgbClr val="104E87"/>
                </a:solidFill>
                <a:latin typeface="Comic Sans MS" panose="030F0702030302020204" pitchFamily="66" charset="0"/>
                <a:ea typeface="华光行书_CNKI" panose="02000500000000000000" pitchFamily="2" charset="-122"/>
              </a:rPr>
              <a:t>重载为非成员函数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友元</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：参数个数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原操作数个数</a:t>
            </a:r>
          </a:p>
        </p:txBody>
      </p:sp>
    </p:spTree>
    <p:extLst>
      <p:ext uri="{BB962C8B-B14F-4D97-AF65-F5344CB8AC3E}">
        <p14:creationId xmlns:p14="http://schemas.microsoft.com/office/powerpoint/2010/main" val="187130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5CDD4F-A373-4C54-910E-623DEE637A41}"/>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4" name="直线连接符 6">
            <a:extLst>
              <a:ext uri="{FF2B5EF4-FFF2-40B4-BE49-F238E27FC236}">
                <a16:creationId xmlns:a16="http://schemas.microsoft.com/office/drawing/2014/main" id="{3A11AE7D-E24E-452C-BC02-4BE8A9628811}"/>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8D1CEB7E-EDD4-4455-9510-39A499826626}"/>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本质是函数重载</a:t>
            </a:r>
          </a:p>
        </p:txBody>
      </p:sp>
      <p:sp>
        <p:nvSpPr>
          <p:cNvPr id="3" name="Rectangle 5">
            <a:extLst>
              <a:ext uri="{FF2B5EF4-FFF2-40B4-BE49-F238E27FC236}">
                <a16:creationId xmlns:a16="http://schemas.microsoft.com/office/drawing/2014/main" id="{E5F7EC22-3E61-0EA3-0D77-DFE763B374E7}"/>
              </a:ext>
            </a:extLst>
          </p:cNvPr>
          <p:cNvSpPr>
            <a:spLocks noChangeArrowheads="1"/>
          </p:cNvSpPr>
          <p:nvPr/>
        </p:nvSpPr>
        <p:spPr bwMode="auto">
          <a:xfrm>
            <a:off x="110148" y="985451"/>
            <a:ext cx="11952898" cy="830997"/>
          </a:xfrm>
          <a:prstGeom prst="rect">
            <a:avLst/>
          </a:prstGeom>
        </p:spPr>
        <p:txBody>
          <a:bodyPr wrap="square">
            <a:spAutoFit/>
          </a:bodyPr>
          <a:lstStyle>
            <a:lvl1pPr eaLnBrk="0" hangingPunct="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eaLnBrk="0" hangingPunct="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eaLnBrk="0" hangingPunct="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Aft>
                <a:spcPts val="1200"/>
              </a:spcAft>
              <a:buClr>
                <a:schemeClr val="accent3"/>
              </a:buClr>
              <a:buNone/>
            </a:pPr>
            <a:r>
              <a:rPr lang="zh-CN" altLang="en-US" sz="2400" dirty="0">
                <a:solidFill>
                  <a:srgbClr val="104E87"/>
                </a:solidFill>
                <a:latin typeface="Comic Sans MS" panose="030F0702030302020204" pitchFamily="66" charset="0"/>
                <a:ea typeface="华光行书_CNKI" panose="02000500000000000000" pitchFamily="2" charset="-122"/>
              </a:rPr>
              <a:t>函数参数个数比运算符操作数要少一个</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因为成员函数是通过类对象调用的，调用成员函数的类对象，充当了运算符函数最左边的操作数。</a:t>
            </a:r>
            <a:r>
              <a:rPr lang="en-US" altLang="zh-CN" sz="2400" dirty="0">
                <a:solidFill>
                  <a:srgbClr val="104E87"/>
                </a:solidFill>
                <a:latin typeface="Comic Sans MS" panose="030F0702030302020204" pitchFamily="66" charset="0"/>
                <a:ea typeface="华光行书_CNKI" panose="02000500000000000000" pitchFamily="2" charset="-122"/>
              </a:rPr>
              <a:t> (</a:t>
            </a:r>
            <a:r>
              <a:rPr lang="zh-CN" altLang="en-US" sz="2400" dirty="0">
                <a:solidFill>
                  <a:srgbClr val="104E87"/>
                </a:solidFill>
                <a:latin typeface="Comic Sans MS" panose="030F0702030302020204" pitchFamily="66" charset="0"/>
                <a:ea typeface="华光行书_CNKI" panose="02000500000000000000" pitchFamily="2" charset="-122"/>
              </a:rPr>
              <a:t>后置</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除外</a:t>
            </a:r>
            <a:r>
              <a:rPr lang="en-US" altLang="zh-CN" sz="2400" dirty="0">
                <a:solidFill>
                  <a:srgbClr val="104E87"/>
                </a:solidFill>
                <a:latin typeface="Comic Sans MS" panose="030F0702030302020204" pitchFamily="66" charset="0"/>
                <a:ea typeface="华光行书_CNKI" panose="02000500000000000000" pitchFamily="2" charset="-122"/>
              </a:rPr>
              <a:t>)</a:t>
            </a:r>
            <a:endParaRPr lang="zh-CN" altLang="en-US" sz="2400" dirty="0">
              <a:solidFill>
                <a:srgbClr val="104E87"/>
              </a:solidFill>
              <a:latin typeface="Comic Sans MS" panose="030F0702030302020204" pitchFamily="66" charset="0"/>
              <a:ea typeface="华光行书_CNKI" panose="02000500000000000000" pitchFamily="2" charset="-122"/>
            </a:endParaRPr>
          </a:p>
        </p:txBody>
      </p:sp>
      <p:sp>
        <p:nvSpPr>
          <p:cNvPr id="5" name="Text Box 4">
            <a:extLst>
              <a:ext uri="{FF2B5EF4-FFF2-40B4-BE49-F238E27FC236}">
                <a16:creationId xmlns:a16="http://schemas.microsoft.com/office/drawing/2014/main" id="{6EE5A9B7-D07D-E018-6E37-06DC1CDE786B}"/>
              </a:ext>
            </a:extLst>
          </p:cNvPr>
          <p:cNvSpPr txBox="1">
            <a:spLocks noChangeArrowheads="1"/>
          </p:cNvSpPr>
          <p:nvPr/>
        </p:nvSpPr>
        <p:spPr bwMode="auto">
          <a:xfrm>
            <a:off x="179388" y="2095500"/>
            <a:ext cx="8569325" cy="2831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b="0" dirty="0">
                <a:solidFill>
                  <a:srgbClr val="104E87"/>
                </a:solidFill>
                <a:latin typeface="Comic Sans MS" panose="030F0702030302020204" pitchFamily="66" charset="0"/>
              </a:rPr>
              <a:t>class point{</a:t>
            </a:r>
          </a:p>
          <a:p>
            <a:pPr eaLnBrk="1" hangingPunct="1"/>
            <a:r>
              <a:rPr kumimoji="1" lang="en-US" altLang="zh-CN" b="0" dirty="0">
                <a:solidFill>
                  <a:srgbClr val="104E87"/>
                </a:solidFill>
                <a:latin typeface="Comic Sans MS" panose="030F0702030302020204" pitchFamily="66" charset="0"/>
              </a:rPr>
              <a:t>public:</a:t>
            </a:r>
          </a:p>
          <a:p>
            <a:pPr eaLnBrk="1" hangingPunct="1"/>
            <a:r>
              <a:rPr kumimoji="1" lang="en-US" altLang="zh-CN" b="0" dirty="0">
                <a:solidFill>
                  <a:srgbClr val="104E87"/>
                </a:solidFill>
                <a:latin typeface="Comic Sans MS" panose="030F0702030302020204" pitchFamily="66" charset="0"/>
              </a:rPr>
              <a:t>    point(float </a:t>
            </a:r>
            <a:r>
              <a:rPr kumimoji="1" lang="en-US" altLang="zh-CN" b="0" dirty="0" err="1">
                <a:solidFill>
                  <a:srgbClr val="104E87"/>
                </a:solidFill>
                <a:latin typeface="Comic Sans MS" panose="030F0702030302020204" pitchFamily="66" charset="0"/>
              </a:rPr>
              <a:t>px</a:t>
            </a:r>
            <a:r>
              <a:rPr kumimoji="1" lang="en-US" altLang="zh-CN" b="0" dirty="0">
                <a:solidFill>
                  <a:srgbClr val="104E87"/>
                </a:solidFill>
                <a:latin typeface="Comic Sans MS" panose="030F0702030302020204" pitchFamily="66" charset="0"/>
              </a:rPr>
              <a:t>=0.0, float </a:t>
            </a:r>
            <a:r>
              <a:rPr kumimoji="1" lang="en-US" altLang="zh-CN" b="0" dirty="0" err="1">
                <a:solidFill>
                  <a:srgbClr val="104E87"/>
                </a:solidFill>
                <a:latin typeface="Comic Sans MS" panose="030F0702030302020204" pitchFamily="66" charset="0"/>
              </a:rPr>
              <a:t>py</a:t>
            </a:r>
            <a:r>
              <a:rPr kumimoji="1" lang="en-US" altLang="zh-CN" b="0" dirty="0">
                <a:solidFill>
                  <a:srgbClr val="104E87"/>
                </a:solidFill>
                <a:latin typeface="Comic Sans MS" panose="030F0702030302020204" pitchFamily="66" charset="0"/>
              </a:rPr>
              <a:t>=0.0){  x=</a:t>
            </a:r>
            <a:r>
              <a:rPr kumimoji="1" lang="en-US" altLang="zh-CN" b="0" dirty="0" err="1">
                <a:solidFill>
                  <a:srgbClr val="104E87"/>
                </a:solidFill>
                <a:latin typeface="Comic Sans MS" panose="030F0702030302020204" pitchFamily="66" charset="0"/>
              </a:rPr>
              <a:t>px</a:t>
            </a:r>
            <a:r>
              <a:rPr kumimoji="1" lang="en-US" altLang="zh-CN" b="0" dirty="0">
                <a:solidFill>
                  <a:srgbClr val="104E87"/>
                </a:solidFill>
                <a:latin typeface="Comic Sans MS" panose="030F0702030302020204" pitchFamily="66" charset="0"/>
              </a:rPr>
              <a:t>;  y=</a:t>
            </a:r>
            <a:r>
              <a:rPr kumimoji="1" lang="en-US" altLang="zh-CN" b="0" dirty="0" err="1">
                <a:solidFill>
                  <a:srgbClr val="104E87"/>
                </a:solidFill>
                <a:latin typeface="Comic Sans MS" panose="030F0702030302020204" pitchFamily="66" charset="0"/>
              </a:rPr>
              <a:t>py</a:t>
            </a:r>
            <a:r>
              <a:rPr kumimoji="1" lang="en-US" altLang="zh-CN" b="0" dirty="0">
                <a:solidFill>
                  <a:srgbClr val="104E87"/>
                </a:solidFill>
                <a:latin typeface="Comic Sans MS" panose="030F0702030302020204" pitchFamily="66" charset="0"/>
              </a:rPr>
              <a:t>;  }</a:t>
            </a:r>
          </a:p>
          <a:p>
            <a:pPr eaLnBrk="1" hangingPunct="1"/>
            <a:endParaRPr kumimoji="1" lang="en-US" altLang="zh-CN" b="0" dirty="0">
              <a:solidFill>
                <a:srgbClr val="104E87"/>
              </a:solidFill>
              <a:latin typeface="Comic Sans MS" panose="030F0702030302020204" pitchFamily="66" charset="0"/>
            </a:endParaRPr>
          </a:p>
          <a:p>
            <a:pPr eaLnBrk="1" hangingPunct="1">
              <a:spcBef>
                <a:spcPts val="1200"/>
              </a:spcBef>
            </a:pPr>
            <a:r>
              <a:rPr kumimoji="1" lang="en-US" altLang="zh-CN" b="0" dirty="0">
                <a:solidFill>
                  <a:srgbClr val="104E87"/>
                </a:solidFill>
                <a:latin typeface="Comic Sans MS" panose="030F0702030302020204" pitchFamily="66" charset="0"/>
              </a:rPr>
              <a:t>private:</a:t>
            </a:r>
          </a:p>
          <a:p>
            <a:pPr eaLnBrk="1" hangingPunct="1"/>
            <a:r>
              <a:rPr kumimoji="1" lang="en-US" altLang="zh-CN" b="0" dirty="0">
                <a:solidFill>
                  <a:srgbClr val="104E87"/>
                </a:solidFill>
                <a:latin typeface="Comic Sans MS" panose="030F0702030302020204" pitchFamily="66" charset="0"/>
              </a:rPr>
              <a:t>    float x, y;</a:t>
            </a:r>
          </a:p>
          <a:p>
            <a:pPr eaLnBrk="1" hangingPunct="1"/>
            <a:r>
              <a:rPr kumimoji="1" lang="en-US" altLang="zh-CN" b="0" dirty="0">
                <a:solidFill>
                  <a:srgbClr val="104E87"/>
                </a:solidFill>
                <a:latin typeface="Comic Sans MS" panose="030F0702030302020204" pitchFamily="66" charset="0"/>
              </a:rPr>
              <a:t>};</a:t>
            </a:r>
          </a:p>
        </p:txBody>
      </p:sp>
      <p:sp>
        <p:nvSpPr>
          <p:cNvPr id="6" name="文本框 5">
            <a:extLst>
              <a:ext uri="{FF2B5EF4-FFF2-40B4-BE49-F238E27FC236}">
                <a16:creationId xmlns:a16="http://schemas.microsoft.com/office/drawing/2014/main" id="{A3243B3E-3009-E651-B9F5-F1A1380EA108}"/>
              </a:ext>
            </a:extLst>
          </p:cNvPr>
          <p:cNvSpPr txBox="1"/>
          <p:nvPr/>
        </p:nvSpPr>
        <p:spPr>
          <a:xfrm>
            <a:off x="550985" y="3280439"/>
            <a:ext cx="609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defRPr kumimoji="1" b="0">
                <a:solidFill>
                  <a:srgbClr val="104E87"/>
                </a:solidFill>
                <a:latin typeface="Comic Sans MS" panose="030F0702030302020204" pitchFamily="66" charset="0"/>
                <a:ea typeface="宋体" panose="02010600030101010101"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en-US" altLang="zh-CN" dirty="0">
                <a:solidFill>
                  <a:srgbClr val="FF0000"/>
                </a:solidFill>
              </a:rPr>
              <a:t>bool operator==(const point&amp; s) const;</a:t>
            </a:r>
          </a:p>
        </p:txBody>
      </p:sp>
      <p:sp>
        <p:nvSpPr>
          <p:cNvPr id="8" name="矩形 1">
            <a:extLst>
              <a:ext uri="{FF2B5EF4-FFF2-40B4-BE49-F238E27FC236}">
                <a16:creationId xmlns:a16="http://schemas.microsoft.com/office/drawing/2014/main" id="{59480295-689A-38C0-5E71-7B9347E95920}"/>
              </a:ext>
            </a:extLst>
          </p:cNvPr>
          <p:cNvSpPr>
            <a:spLocks noChangeArrowheads="1"/>
          </p:cNvSpPr>
          <p:nvPr/>
        </p:nvSpPr>
        <p:spPr bwMode="auto">
          <a:xfrm>
            <a:off x="179388" y="5084471"/>
            <a:ext cx="8929688"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ts val="600"/>
              </a:spcBef>
            </a:pPr>
            <a:r>
              <a:rPr kumimoji="1" lang="en-US" altLang="zh-CN" b="0" dirty="0">
                <a:solidFill>
                  <a:srgbClr val="0000F4"/>
                </a:solidFill>
                <a:latin typeface="Comic Sans MS" panose="030F0702030302020204" pitchFamily="66" charset="0"/>
              </a:rPr>
              <a:t> </a:t>
            </a:r>
            <a:r>
              <a:rPr kumimoji="1" lang="en-US" altLang="zh-CN" b="0" dirty="0">
                <a:solidFill>
                  <a:srgbClr val="FF0000"/>
                </a:solidFill>
                <a:latin typeface="Comic Sans MS" panose="030F0702030302020204" pitchFamily="66" charset="0"/>
              </a:rPr>
              <a:t>bool point::operator==(const </a:t>
            </a:r>
            <a:r>
              <a:rPr lang="en-US" altLang="zh-CN" dirty="0">
                <a:solidFill>
                  <a:srgbClr val="FF0000"/>
                </a:solidFill>
              </a:rPr>
              <a:t>point </a:t>
            </a:r>
            <a:r>
              <a:rPr kumimoji="1" lang="en-US" altLang="zh-CN" b="0" dirty="0">
                <a:solidFill>
                  <a:srgbClr val="FF0000"/>
                </a:solidFill>
                <a:latin typeface="Comic Sans MS" panose="030F0702030302020204" pitchFamily="66" charset="0"/>
              </a:rPr>
              <a:t>&amp; s) const</a:t>
            </a:r>
          </a:p>
          <a:p>
            <a:pPr eaLnBrk="1" hangingPunct="1">
              <a:spcBef>
                <a:spcPts val="600"/>
              </a:spcBef>
            </a:pPr>
            <a:r>
              <a:rPr kumimoji="1" lang="en-US" altLang="zh-CN" b="0" dirty="0">
                <a:solidFill>
                  <a:srgbClr val="FF0000"/>
                </a:solidFill>
                <a:latin typeface="Comic Sans MS" panose="030F0702030302020204" pitchFamily="66" charset="0"/>
              </a:rPr>
              <a:t>{return ((this-&gt;x==</a:t>
            </a:r>
            <a:r>
              <a:rPr kumimoji="1" lang="en-US" altLang="zh-CN" b="0" dirty="0" err="1">
                <a:solidFill>
                  <a:srgbClr val="FF0000"/>
                </a:solidFill>
                <a:latin typeface="Comic Sans MS" panose="030F0702030302020204" pitchFamily="66" charset="0"/>
              </a:rPr>
              <a:t>s.x</a:t>
            </a:r>
            <a:r>
              <a:rPr kumimoji="1" lang="en-US" altLang="zh-CN" b="0" dirty="0">
                <a:solidFill>
                  <a:srgbClr val="FF0000"/>
                </a:solidFill>
                <a:latin typeface="Comic Sans MS" panose="030F0702030302020204" pitchFamily="66" charset="0"/>
              </a:rPr>
              <a:t>) &amp;&amp; (this-&gt;y==</a:t>
            </a:r>
            <a:r>
              <a:rPr kumimoji="1" lang="en-US" altLang="zh-CN" b="0" dirty="0" err="1">
                <a:solidFill>
                  <a:srgbClr val="FF0000"/>
                </a:solidFill>
                <a:latin typeface="Comic Sans MS" panose="030F0702030302020204" pitchFamily="66" charset="0"/>
              </a:rPr>
              <a:t>s.y</a:t>
            </a:r>
            <a:r>
              <a:rPr kumimoji="1" lang="en-US" altLang="zh-CN" b="0" dirty="0">
                <a:solidFill>
                  <a:srgbClr val="FF0000"/>
                </a:solidFill>
                <a:latin typeface="Comic Sans MS" panose="030F0702030302020204" pitchFamily="66" charset="0"/>
              </a:rPr>
              <a:t>));}</a:t>
            </a:r>
            <a:endParaRPr lang="zh-CN" altLang="en-US" b="0" dirty="0">
              <a:latin typeface="Comic Sans MS" panose="030F0702030302020204" pitchFamily="66" charset="0"/>
            </a:endParaRPr>
          </a:p>
        </p:txBody>
      </p:sp>
      <p:sp>
        <p:nvSpPr>
          <p:cNvPr id="9" name="Text Box 4">
            <a:extLst>
              <a:ext uri="{FF2B5EF4-FFF2-40B4-BE49-F238E27FC236}">
                <a16:creationId xmlns:a16="http://schemas.microsoft.com/office/drawing/2014/main" id="{EE2AB7A2-B42E-2DD2-F8D0-F6F77102C793}"/>
              </a:ext>
            </a:extLst>
          </p:cNvPr>
          <p:cNvSpPr txBox="1">
            <a:spLocks noChangeArrowheads="1"/>
          </p:cNvSpPr>
          <p:nvPr/>
        </p:nvSpPr>
        <p:spPr bwMode="auto">
          <a:xfrm>
            <a:off x="7812210" y="2201033"/>
            <a:ext cx="375846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kumimoji="1" b="0">
                <a:solidFill>
                  <a:srgbClr val="104E87"/>
                </a:solidFill>
                <a:latin typeface="Comic Sans MS" panose="030F0702030302020204" pitchFamily="66" charset="0"/>
                <a:ea typeface="宋体" panose="02010600030101010101"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en-US" altLang="zh-CN" dirty="0"/>
              <a:t>point p1, p2(1,2);</a:t>
            </a:r>
          </a:p>
          <a:p>
            <a:r>
              <a:rPr lang="en-US" altLang="zh-CN" dirty="0" err="1"/>
              <a:t>cout</a:t>
            </a:r>
            <a:r>
              <a:rPr lang="en-US" altLang="zh-CN" dirty="0"/>
              <a:t>&lt;&lt;(p1==p2)&lt;&lt;</a:t>
            </a:r>
            <a:r>
              <a:rPr lang="en-US" altLang="zh-CN" dirty="0" err="1"/>
              <a:t>endl</a:t>
            </a:r>
            <a:r>
              <a:rPr lang="en-US" altLang="zh-CN" dirty="0"/>
              <a:t>;</a:t>
            </a:r>
          </a:p>
        </p:txBody>
      </p:sp>
      <p:sp>
        <p:nvSpPr>
          <p:cNvPr id="12" name="Text Box 6">
            <a:extLst>
              <a:ext uri="{FF2B5EF4-FFF2-40B4-BE49-F238E27FC236}">
                <a16:creationId xmlns:a16="http://schemas.microsoft.com/office/drawing/2014/main" id="{D902AE2E-55FE-6594-D58A-C0DC28E539FB}"/>
              </a:ext>
            </a:extLst>
          </p:cNvPr>
          <p:cNvSpPr txBox="1">
            <a:spLocks noChangeArrowheads="1"/>
          </p:cNvSpPr>
          <p:nvPr/>
        </p:nvSpPr>
        <p:spPr bwMode="auto">
          <a:xfrm>
            <a:off x="7475782" y="3896318"/>
            <a:ext cx="3746500" cy="523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0" dirty="0">
                <a:solidFill>
                  <a:srgbClr val="104E87"/>
                </a:solidFill>
                <a:latin typeface="华光行书_CNKI" panose="02000500000000000000" pitchFamily="2" charset="-122"/>
                <a:ea typeface="华光行书_CNKI" panose="02000500000000000000" pitchFamily="2" charset="-122"/>
              </a:rPr>
              <a:t>p1. </a:t>
            </a:r>
            <a:r>
              <a:rPr kumimoji="1" lang="en-US" altLang="zh-CN" sz="2800" b="0" dirty="0">
                <a:solidFill>
                  <a:srgbClr val="FF0000"/>
                </a:solidFill>
                <a:latin typeface="华光行书_CNKI" panose="02000500000000000000" pitchFamily="2" charset="-122"/>
                <a:ea typeface="华光行书_CNKI" panose="02000500000000000000" pitchFamily="2" charset="-122"/>
              </a:rPr>
              <a:t>operator==</a:t>
            </a:r>
            <a:r>
              <a:rPr kumimoji="1" lang="en-US" altLang="zh-CN" sz="2800" b="0" dirty="0">
                <a:solidFill>
                  <a:srgbClr val="104E87"/>
                </a:solidFill>
                <a:latin typeface="华光行书_CNKI" panose="02000500000000000000" pitchFamily="2" charset="-122"/>
                <a:ea typeface="华光行书_CNKI" panose="02000500000000000000" pitchFamily="2" charset="-122"/>
              </a:rPr>
              <a:t>(p2);</a:t>
            </a:r>
          </a:p>
        </p:txBody>
      </p:sp>
      <p:sp>
        <p:nvSpPr>
          <p:cNvPr id="13" name="Text Box 7">
            <a:extLst>
              <a:ext uri="{FF2B5EF4-FFF2-40B4-BE49-F238E27FC236}">
                <a16:creationId xmlns:a16="http://schemas.microsoft.com/office/drawing/2014/main" id="{98DB3DB6-9967-450E-83AC-E950FD9C32E4}"/>
              </a:ext>
            </a:extLst>
          </p:cNvPr>
          <p:cNvSpPr txBox="1">
            <a:spLocks noChangeArrowheads="1"/>
          </p:cNvSpPr>
          <p:nvPr/>
        </p:nvSpPr>
        <p:spPr bwMode="auto">
          <a:xfrm>
            <a:off x="7304087" y="3280439"/>
            <a:ext cx="44942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2800" b="0">
                <a:solidFill>
                  <a:srgbClr val="104E87"/>
                </a:solidFill>
                <a:latin typeface="华光行书_CNKI" panose="02000500000000000000" pitchFamily="2" charset="-122"/>
                <a:ea typeface="华光行书_CNKI" panose="02000500000000000000" pitchFamily="2" charset="-122"/>
              </a:rPr>
              <a:t>编译程序解释为函数调用：</a:t>
            </a:r>
          </a:p>
        </p:txBody>
      </p:sp>
    </p:spTree>
    <p:extLst>
      <p:ext uri="{BB962C8B-B14F-4D97-AF65-F5344CB8AC3E}">
        <p14:creationId xmlns:p14="http://schemas.microsoft.com/office/powerpoint/2010/main" val="14542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5CDD4F-A373-4C54-910E-623DEE637A41}"/>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7" name="文本框 6">
            <a:extLst>
              <a:ext uri="{FF2B5EF4-FFF2-40B4-BE49-F238E27FC236}">
                <a16:creationId xmlns:a16="http://schemas.microsoft.com/office/drawing/2014/main" id="{9C806FDF-7219-48CB-B711-188C3276C1B4}"/>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成员函数</a:t>
            </a:r>
          </a:p>
        </p:txBody>
      </p:sp>
      <p:sp>
        <p:nvSpPr>
          <p:cNvPr id="8" name="Rectangle 2">
            <a:extLst>
              <a:ext uri="{FF2B5EF4-FFF2-40B4-BE49-F238E27FC236}">
                <a16:creationId xmlns:a16="http://schemas.microsoft.com/office/drawing/2014/main" id="{A04FC8DC-66A9-4D0E-B786-1388B4DDDB36}"/>
              </a:ext>
            </a:extLst>
          </p:cNvPr>
          <p:cNvSpPr txBox="1">
            <a:spLocks noChangeArrowheads="1"/>
          </p:cNvSpPr>
          <p:nvPr/>
        </p:nvSpPr>
        <p:spPr>
          <a:xfrm>
            <a:off x="0" y="881681"/>
            <a:ext cx="4541925" cy="461665"/>
          </a:xfrm>
          <a:prstGeom prst="rect">
            <a:avLst/>
          </a:prstGeom>
        </p:spPr>
        <p:txBody>
          <a:bodyPr wrap="square">
            <a:spAutoFit/>
          </a:bodyPr>
          <a:lstStyle>
            <a:defPPr>
              <a:defRPr lang="en-US"/>
            </a:defPPr>
            <a:lvl1pPr eaLnBrk="0" hangingPunct="0">
              <a:spcBef>
                <a:spcPct val="20000"/>
              </a:spcBef>
              <a:spcAft>
                <a:spcPts val="1200"/>
              </a:spcAft>
              <a:buClr>
                <a:schemeClr val="accent3"/>
              </a:buClr>
              <a:buSzPct val="70000"/>
              <a:buFont typeface="Wingdings" panose="05000000000000000000" pitchFamily="2" charset="2"/>
              <a:buNone/>
              <a:defRPr>
                <a:solidFill>
                  <a:srgbClr val="104E87"/>
                </a:solidFill>
                <a:latin typeface="Comic Sans MS" panose="030F0702030302020204" pitchFamily="66" charset="0"/>
                <a:ea typeface="华光行书_CNKI" panose="02000500000000000000" pitchFamily="2" charset="-122"/>
              </a:defRPr>
            </a:lvl1pPr>
            <a:lvl2pPr marL="742950" indent="-285750" eaLnBrk="0" hangingPunct="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eaLnBrk="0" hangingPunct="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eaLnBrk="0" hangingPunct="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dirty="0"/>
              <a:t>示例程序：复数类</a:t>
            </a:r>
          </a:p>
        </p:txBody>
      </p:sp>
      <p:sp>
        <p:nvSpPr>
          <p:cNvPr id="9" name="Rectangle 3">
            <a:extLst>
              <a:ext uri="{FF2B5EF4-FFF2-40B4-BE49-F238E27FC236}">
                <a16:creationId xmlns:a16="http://schemas.microsoft.com/office/drawing/2014/main" id="{54271826-AEA6-449B-B56E-45079D7156FF}"/>
              </a:ext>
            </a:extLst>
          </p:cNvPr>
          <p:cNvSpPr>
            <a:spLocks noChangeArrowheads="1"/>
          </p:cNvSpPr>
          <p:nvPr/>
        </p:nvSpPr>
        <p:spPr bwMode="auto">
          <a:xfrm>
            <a:off x="794" y="1385563"/>
            <a:ext cx="11568906" cy="1431161"/>
          </a:xfrm>
          <a:prstGeom prst="rect">
            <a:avLst/>
          </a:prstGeom>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spcBef>
                <a:spcPct val="20000"/>
              </a:spcBef>
              <a:spcAft>
                <a:spcPts val="1200"/>
              </a:spcAft>
              <a:buClr>
                <a:schemeClr val="accent3"/>
              </a:buClr>
              <a:buSzPct val="70000"/>
            </a:pPr>
            <a:r>
              <a:rPr lang="zh-CN" altLang="en-US" b="0" dirty="0">
                <a:solidFill>
                  <a:srgbClr val="104E87"/>
                </a:solidFill>
                <a:latin typeface="Comic Sans MS" panose="030F0702030302020204" pitchFamily="66" charset="0"/>
                <a:ea typeface="华光行书_CNKI" panose="02000500000000000000" pitchFamily="2" charset="-122"/>
              </a:rPr>
              <a:t>问题：实现一个表示复数的类，并且完成以下操作：</a:t>
            </a:r>
          </a:p>
          <a:p>
            <a:pPr>
              <a:spcAft>
                <a:spcPts val="600"/>
              </a:spcAft>
              <a:buClr>
                <a:schemeClr val="accent3"/>
              </a:buClr>
              <a:buSzPct val="70000"/>
            </a:pPr>
            <a:r>
              <a:rPr lang="zh-CN" altLang="en-US" b="0" dirty="0">
                <a:solidFill>
                  <a:srgbClr val="104E87"/>
                </a:solidFill>
                <a:latin typeface="Comic Sans MS" panose="030F0702030302020204" pitchFamily="66" charset="0"/>
                <a:ea typeface="华光行书_CNKI" panose="02000500000000000000" pitchFamily="2" charset="-122"/>
              </a:rPr>
              <a:t>• 重载+、-、*、/、</a:t>
            </a:r>
            <a:r>
              <a:rPr lang="en-US" altLang="zh-CN" b="0" dirty="0">
                <a:solidFill>
                  <a:srgbClr val="104E87"/>
                </a:solidFill>
                <a:latin typeface="Comic Sans MS" panose="030F0702030302020204" pitchFamily="66" charset="0"/>
                <a:ea typeface="华光行书_CNKI" panose="02000500000000000000" pitchFamily="2" charset="-122"/>
              </a:rPr>
              <a:t>-</a:t>
            </a:r>
            <a:r>
              <a:rPr lang="zh-CN" altLang="en-US" b="0" dirty="0">
                <a:solidFill>
                  <a:srgbClr val="104E87"/>
                </a:solidFill>
                <a:latin typeface="Comic Sans MS" panose="030F0702030302020204" pitchFamily="66" charset="0"/>
                <a:ea typeface="华光行书_CNKI" panose="02000500000000000000" pitchFamily="2" charset="-122"/>
              </a:rPr>
              <a:t>取负、</a:t>
            </a:r>
            <a:r>
              <a:rPr lang="en-US" altLang="zh-CN" b="0" dirty="0">
                <a:solidFill>
                  <a:srgbClr val="104E87"/>
                </a:solidFill>
                <a:latin typeface="Comic Sans MS" panose="030F0702030302020204" pitchFamily="66" charset="0"/>
                <a:ea typeface="华光行书_CNKI" panose="02000500000000000000" pitchFamily="2" charset="-122"/>
              </a:rPr>
              <a:t>=</a:t>
            </a:r>
            <a:r>
              <a:rPr lang="zh-CN" altLang="en-US" b="0" dirty="0">
                <a:solidFill>
                  <a:srgbClr val="104E87"/>
                </a:solidFill>
                <a:latin typeface="Comic Sans MS" panose="030F0702030302020204" pitchFamily="66" charset="0"/>
                <a:ea typeface="华光行书_CNKI" panose="02000500000000000000" pitchFamily="2" charset="-122"/>
              </a:rPr>
              <a:t>，</a:t>
            </a:r>
            <a:r>
              <a:rPr lang="en-US" altLang="zh-CN" b="0" dirty="0">
                <a:solidFill>
                  <a:srgbClr val="104E87"/>
                </a:solidFill>
                <a:latin typeface="Comic Sans MS" panose="030F0702030302020204" pitchFamily="66" charset="0"/>
                <a:ea typeface="华光行书_CNKI" panose="02000500000000000000" pitchFamily="2" charset="-122"/>
              </a:rPr>
              <a:t>==</a:t>
            </a:r>
            <a:r>
              <a:rPr lang="zh-CN" altLang="en-US" b="0" dirty="0">
                <a:solidFill>
                  <a:srgbClr val="104E87"/>
                </a:solidFill>
                <a:latin typeface="Comic Sans MS" panose="030F0702030302020204" pitchFamily="66" charset="0"/>
                <a:ea typeface="华光行书_CNKI" panose="02000500000000000000" pitchFamily="2" charset="-122"/>
              </a:rPr>
              <a:t>，</a:t>
            </a:r>
            <a:r>
              <a:rPr lang="en-US" altLang="zh-CN" b="0" dirty="0">
                <a:solidFill>
                  <a:srgbClr val="104E87"/>
                </a:solidFill>
                <a:latin typeface="Comic Sans MS" panose="030F0702030302020204" pitchFamily="66" charset="0"/>
                <a:ea typeface="华光行书_CNKI" panose="02000500000000000000" pitchFamily="2" charset="-122"/>
              </a:rPr>
              <a:t>!=</a:t>
            </a:r>
            <a:r>
              <a:rPr lang="zh-CN" altLang="en-US" b="0" dirty="0">
                <a:solidFill>
                  <a:srgbClr val="104E87"/>
                </a:solidFill>
                <a:latin typeface="Comic Sans MS" panose="030F0702030302020204" pitchFamily="66" charset="0"/>
                <a:ea typeface="华光行书_CNKI" panose="02000500000000000000" pitchFamily="2" charset="-122"/>
              </a:rPr>
              <a:t>以支持复数的算术运算</a:t>
            </a:r>
          </a:p>
          <a:p>
            <a:pPr>
              <a:spcAft>
                <a:spcPts val="600"/>
              </a:spcAft>
              <a:buClr>
                <a:schemeClr val="accent3"/>
              </a:buClr>
              <a:buSzPct val="70000"/>
            </a:pPr>
            <a:r>
              <a:rPr lang="zh-CN" altLang="en-US" b="0" dirty="0">
                <a:solidFill>
                  <a:srgbClr val="104E87"/>
                </a:solidFill>
                <a:latin typeface="Comic Sans MS" panose="030F0702030302020204" pitchFamily="66" charset="0"/>
                <a:ea typeface="华光行书_CNKI" panose="02000500000000000000" pitchFamily="2" charset="-122"/>
              </a:rPr>
              <a:t>• 设计一个</a:t>
            </a:r>
            <a:r>
              <a:rPr lang="en-US" altLang="zh-CN" b="0" dirty="0">
                <a:solidFill>
                  <a:srgbClr val="104E87"/>
                </a:solidFill>
                <a:latin typeface="Comic Sans MS" panose="030F0702030302020204" pitchFamily="66" charset="0"/>
                <a:ea typeface="华光行书_CNKI" panose="02000500000000000000" pitchFamily="2" charset="-122"/>
              </a:rPr>
              <a:t>print</a:t>
            </a:r>
            <a:r>
              <a:rPr lang="zh-CN" altLang="en-US" b="0" dirty="0">
                <a:solidFill>
                  <a:srgbClr val="104E87"/>
                </a:solidFill>
                <a:latin typeface="Comic Sans MS" panose="030F0702030302020204" pitchFamily="66" charset="0"/>
                <a:ea typeface="华光行书_CNKI" panose="02000500000000000000" pitchFamily="2" charset="-122"/>
              </a:rPr>
              <a:t>函数，输出一个复数。</a:t>
            </a:r>
          </a:p>
        </p:txBody>
      </p:sp>
      <p:sp>
        <p:nvSpPr>
          <p:cNvPr id="4" name="Rectangle 3">
            <a:extLst>
              <a:ext uri="{FF2B5EF4-FFF2-40B4-BE49-F238E27FC236}">
                <a16:creationId xmlns:a16="http://schemas.microsoft.com/office/drawing/2014/main" id="{5A2E50D6-1FF4-3F2D-3D1B-494EE0A9119C}"/>
              </a:ext>
            </a:extLst>
          </p:cNvPr>
          <p:cNvSpPr>
            <a:spLocks noChangeArrowheads="1"/>
          </p:cNvSpPr>
          <p:nvPr/>
        </p:nvSpPr>
        <p:spPr bwMode="auto">
          <a:xfrm>
            <a:off x="153194" y="3065739"/>
            <a:ext cx="11416506" cy="461665"/>
          </a:xfrm>
          <a:prstGeom prst="rect">
            <a:avLst/>
          </a:prstGeom>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spcBef>
                <a:spcPct val="20000"/>
              </a:spcBef>
              <a:spcAft>
                <a:spcPts val="1200"/>
              </a:spcAft>
              <a:buClr>
                <a:schemeClr val="accent3"/>
              </a:buClr>
              <a:buSzPct val="70000"/>
            </a:pPr>
            <a:r>
              <a:rPr lang="zh-CN" altLang="en-US" b="0" dirty="0">
                <a:solidFill>
                  <a:srgbClr val="104E87"/>
                </a:solidFill>
                <a:latin typeface="Comic Sans MS" panose="030F0702030302020204" pitchFamily="66" charset="0"/>
                <a:ea typeface="华光行书_CNKI" panose="02000500000000000000" pitchFamily="2" charset="-122"/>
              </a:rPr>
              <a:t>构造函数，析构函数，以及配合数据私有属性的数据读取等功能</a:t>
            </a:r>
          </a:p>
        </p:txBody>
      </p:sp>
      <p:sp>
        <p:nvSpPr>
          <p:cNvPr id="5" name="Text Box 12">
            <a:extLst>
              <a:ext uri="{FF2B5EF4-FFF2-40B4-BE49-F238E27FC236}">
                <a16:creationId xmlns:a16="http://schemas.microsoft.com/office/drawing/2014/main" id="{245B2E57-CD8D-24F0-070B-3A27AC5508E9}"/>
              </a:ext>
            </a:extLst>
          </p:cNvPr>
          <p:cNvSpPr txBox="1">
            <a:spLocks noChangeArrowheads="1"/>
          </p:cNvSpPr>
          <p:nvPr/>
        </p:nvSpPr>
        <p:spPr bwMode="auto">
          <a:xfrm>
            <a:off x="247719" y="4120510"/>
            <a:ext cx="11568906" cy="1015663"/>
          </a:xfrm>
          <a:prstGeom prst="rect">
            <a:avLst/>
          </a:prstGeom>
          <a:noFill/>
          <a:ln>
            <a:no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marL="342900" indent="-342900" defTabSz="622300" eaLnBrk="1" hangingPunct="1">
              <a:spcBef>
                <a:spcPct val="50000"/>
              </a:spcBef>
              <a:buClrTx/>
              <a:buSzTx/>
              <a:buBlip>
                <a:blip r:embed="rId3"/>
              </a:buBlip>
              <a:defRPr/>
            </a:pPr>
            <a:r>
              <a:rPr lang="zh-CN" altLang="en-US" sz="2400" dirty="0">
                <a:solidFill>
                  <a:srgbClr val="134F85"/>
                </a:solidFill>
                <a:latin typeface="华光行书_CNKI" panose="02000500000000000000" pitchFamily="2" charset="-122"/>
                <a:ea typeface="华光行书_CNKI" panose="02000500000000000000" pitchFamily="2" charset="-122"/>
              </a:rPr>
              <a:t>数据</a:t>
            </a:r>
            <a:r>
              <a:rPr lang="zh-CN" altLang="en-US" sz="2400" dirty="0">
                <a:solidFill>
                  <a:srgbClr val="FF0000"/>
                </a:solidFill>
                <a:latin typeface="华光行书_CNKI" panose="02000500000000000000" pitchFamily="2" charset="-122"/>
                <a:ea typeface="华光行书_CNKI" panose="02000500000000000000" pitchFamily="2" charset="-122"/>
              </a:rPr>
              <a:t>抽象</a:t>
            </a:r>
            <a:r>
              <a:rPr lang="zh-CN" altLang="en-US" sz="2400" dirty="0">
                <a:solidFill>
                  <a:srgbClr val="134F85"/>
                </a:solidFill>
                <a:latin typeface="华光行书_CNKI" panose="02000500000000000000" pitchFamily="2" charset="-122"/>
                <a:ea typeface="华光行书_CNKI" panose="02000500000000000000" pitchFamily="2" charset="-122"/>
              </a:rPr>
              <a:t>：</a:t>
            </a:r>
            <a:r>
              <a:rPr lang="en-US" altLang="zh-CN" sz="1800" kern="0" dirty="0">
                <a:solidFill>
                  <a:srgbClr val="104E87"/>
                </a:solidFill>
                <a:latin typeface="Comic Sans MS" panose="030F0702030302020204" pitchFamily="66" charset="0"/>
              </a:rPr>
              <a:t>double real, image;</a:t>
            </a:r>
            <a:endParaRPr lang="en-US" altLang="zh-CN" sz="2400" dirty="0">
              <a:solidFill>
                <a:srgbClr val="134F85"/>
              </a:solidFill>
              <a:latin typeface="华光行书_CNKI" panose="02000500000000000000" pitchFamily="2" charset="-122"/>
              <a:ea typeface="华光行书_CNKI" panose="02000500000000000000" pitchFamily="2" charset="-122"/>
            </a:endParaRPr>
          </a:p>
          <a:p>
            <a:pPr marL="342900" indent="-342900" eaLnBrk="1" hangingPunct="1">
              <a:spcBef>
                <a:spcPct val="50000"/>
              </a:spcBef>
              <a:buClrTx/>
              <a:buSzTx/>
              <a:buFont typeface="Wingdings" pitchFamily="2" charset="2"/>
              <a:buBlip>
                <a:blip r:embed="rId3"/>
              </a:buBlip>
              <a:defRPr/>
            </a:pPr>
            <a:r>
              <a:rPr lang="zh-CN" altLang="en-US" sz="2400" dirty="0">
                <a:solidFill>
                  <a:srgbClr val="134F85"/>
                </a:solidFill>
                <a:latin typeface="华光行书_CNKI" panose="02000500000000000000" pitchFamily="2" charset="-122"/>
                <a:ea typeface="华光行书_CNKI" panose="02000500000000000000" pitchFamily="2" charset="-122"/>
              </a:rPr>
              <a:t>代码</a:t>
            </a:r>
            <a:r>
              <a:rPr lang="zh-CN" altLang="en-US" sz="2400" dirty="0">
                <a:solidFill>
                  <a:srgbClr val="FF0000"/>
                </a:solidFill>
                <a:latin typeface="华光行书_CNKI" panose="02000500000000000000" pitchFamily="2" charset="-122"/>
                <a:ea typeface="华光行书_CNKI" panose="02000500000000000000" pitchFamily="2" charset="-122"/>
              </a:rPr>
              <a:t>抽象</a:t>
            </a:r>
            <a:r>
              <a:rPr lang="zh-CN" altLang="en-US" sz="2400" dirty="0">
                <a:solidFill>
                  <a:srgbClr val="134F85"/>
                </a:solidFill>
                <a:latin typeface="华光行书_CNKI" panose="02000500000000000000" pitchFamily="2" charset="-122"/>
                <a:ea typeface="华光行书_CNKI" panose="02000500000000000000" pitchFamily="2" charset="-122"/>
              </a:rPr>
              <a:t>：构造函数</a:t>
            </a:r>
            <a:r>
              <a:rPr lang="en-US" altLang="zh-CN" sz="2400" dirty="0">
                <a:solidFill>
                  <a:srgbClr val="134F85"/>
                </a:solidFill>
                <a:latin typeface="华光行书_CNKI" panose="02000500000000000000" pitchFamily="2" charset="-122"/>
                <a:ea typeface="华光行书_CNKI" panose="02000500000000000000" pitchFamily="2" charset="-122"/>
              </a:rPr>
              <a:t>,</a:t>
            </a:r>
            <a:r>
              <a:rPr lang="zh-CN" altLang="en-US" sz="2400" dirty="0">
                <a:solidFill>
                  <a:srgbClr val="134F85"/>
                </a:solidFill>
                <a:latin typeface="华光行书_CNKI" panose="02000500000000000000" pitchFamily="2" charset="-122"/>
                <a:ea typeface="华光行书_CNKI" panose="02000500000000000000" pitchFamily="2" charset="-122"/>
              </a:rPr>
              <a:t>读取实部，读取虚部，输出复数，计算复数模，运算符重载</a:t>
            </a:r>
            <a:endParaRPr lang="en-US" altLang="zh-CN" sz="2400" dirty="0">
              <a:solidFill>
                <a:srgbClr val="134F85"/>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157413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1269E-5017-1A08-D1C9-0F9824D57DE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85BA577-9200-6097-5F91-FB97E2EC3ABE}"/>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4" name="文本框 3">
            <a:extLst>
              <a:ext uri="{FF2B5EF4-FFF2-40B4-BE49-F238E27FC236}">
                <a16:creationId xmlns:a16="http://schemas.microsoft.com/office/drawing/2014/main" id="{DA6171CC-CE7B-F419-1C7A-B1B7EAC6DFE9}"/>
              </a:ext>
            </a:extLst>
          </p:cNvPr>
          <p:cNvSpPr txBox="1"/>
          <p:nvPr/>
        </p:nvSpPr>
        <p:spPr>
          <a:xfrm>
            <a:off x="0" y="204256"/>
            <a:ext cx="7416800" cy="6158556"/>
          </a:xfrm>
          <a:prstGeom prst="rect">
            <a:avLst/>
          </a:prstGeom>
          <a:solidFill>
            <a:schemeClr val="accent2"/>
          </a:solidFill>
          <a:ln w="9525">
            <a:noFill/>
            <a:miter lim="800000"/>
            <a:headEnd/>
            <a:tailEnd/>
          </a:ln>
        </p:spPr>
        <p:txBody>
          <a:bodyPr/>
          <a:lstStyle>
            <a:defPPr>
              <a:defRPr lang="en-US"/>
            </a:defPPr>
            <a:lvl1pPr marL="469900" indent="-469900">
              <a:lnSpc>
                <a:spcPct val="90000"/>
              </a:lnSpc>
              <a:buClr>
                <a:schemeClr val="bg2"/>
              </a:buClr>
              <a:buSzPct val="70000"/>
              <a:buFont typeface="Wingdings" pitchFamily="2" charset="2"/>
              <a:buNone/>
              <a:defRPr kern="0">
                <a:solidFill>
                  <a:srgbClr val="104E87"/>
                </a:solidFill>
                <a:latin typeface="Comic Sans MS" panose="030F0702030302020204" pitchFamily="66" charset="0"/>
              </a:defRPr>
            </a:lvl1pPr>
          </a:lstStyle>
          <a:p>
            <a:r>
              <a:rPr lang="zh-CN" altLang="en-US" b="1" dirty="0"/>
              <a:t>class COMPLEX {				</a:t>
            </a:r>
          </a:p>
          <a:p>
            <a:r>
              <a:rPr lang="zh-CN" altLang="en-US" b="1" dirty="0"/>
              <a:t>double real, image;</a:t>
            </a:r>
            <a:endParaRPr lang="en-US" altLang="zh-CN" b="1" dirty="0"/>
          </a:p>
          <a:p>
            <a:r>
              <a:rPr lang="zh-CN" altLang="en-US" b="1" dirty="0"/>
              <a:t>public:</a:t>
            </a:r>
            <a:endParaRPr lang="en-US" altLang="zh-CN" b="1" dirty="0"/>
          </a:p>
          <a:p>
            <a:r>
              <a:rPr lang="zh-CN" altLang="en-US" b="1" dirty="0"/>
              <a:t>COMPLEX(double r = 0, double i = 0);	</a:t>
            </a:r>
          </a:p>
          <a:p>
            <a:r>
              <a:rPr lang="zh-CN" altLang="en-US" b="1" dirty="0"/>
              <a:t>COMPLEX(const COMPLEX&amp; other);</a:t>
            </a:r>
            <a:endParaRPr lang="en-US" altLang="zh-CN" b="1" dirty="0"/>
          </a:p>
          <a:p>
            <a:r>
              <a:rPr lang="zh-CN" altLang="en-US" b="1" dirty="0"/>
              <a:t>double getImage();</a:t>
            </a:r>
          </a:p>
          <a:p>
            <a:r>
              <a:rPr lang="zh-CN" altLang="en-US" b="1" dirty="0"/>
              <a:t>double getReal();</a:t>
            </a:r>
          </a:p>
          <a:p>
            <a:r>
              <a:rPr lang="zh-CN" altLang="en-US" b="1" dirty="0"/>
              <a:t>double getModuls();</a:t>
            </a:r>
          </a:p>
          <a:p>
            <a:r>
              <a:rPr lang="zh-CN" altLang="en-US" b="1" dirty="0"/>
              <a:t>COMPLEX operator+(const COMPLEX&amp; other);</a:t>
            </a:r>
          </a:p>
          <a:p>
            <a:r>
              <a:rPr lang="zh-CN" altLang="en-US" b="1" dirty="0"/>
              <a:t>COMPLEX operator -(const COMPLEX&amp; other);</a:t>
            </a:r>
          </a:p>
          <a:p>
            <a:r>
              <a:rPr lang="zh-CN" altLang="en-US" b="1" dirty="0"/>
              <a:t>COMPLEX operator*( const COMPLEX&amp; );</a:t>
            </a:r>
          </a:p>
          <a:p>
            <a:r>
              <a:rPr lang="zh-CN" altLang="en-US" b="1" dirty="0"/>
              <a:t>COMPLEX operator/(const COMPLEX&amp;);</a:t>
            </a:r>
          </a:p>
          <a:p>
            <a:r>
              <a:rPr lang="zh-CN" altLang="en-US" b="1" dirty="0"/>
              <a:t>COMPLEX operator-();</a:t>
            </a:r>
          </a:p>
          <a:p>
            <a:r>
              <a:rPr lang="zh-CN" altLang="en-US" b="1" dirty="0"/>
              <a:t>COMPLEX&amp; operator=(const COMPLEX&amp; other);</a:t>
            </a:r>
          </a:p>
          <a:p>
            <a:r>
              <a:rPr lang="zh-CN" altLang="en-US" b="1" dirty="0"/>
              <a:t>bool  operator==(const COMPLEX&amp; other);</a:t>
            </a:r>
          </a:p>
          <a:p>
            <a:r>
              <a:rPr lang="zh-CN" altLang="en-US" b="1" dirty="0"/>
              <a:t>bool  operator!=(const COMPLEX&amp; other);</a:t>
            </a:r>
            <a:endParaRPr lang="en-US" altLang="zh-CN" b="1" dirty="0"/>
          </a:p>
          <a:p>
            <a:r>
              <a:rPr lang="zh-CN" altLang="en-US" b="1" dirty="0"/>
              <a:t>void print();	</a:t>
            </a:r>
          </a:p>
          <a:p>
            <a:r>
              <a:rPr lang="zh-CN" altLang="en-US" b="1" dirty="0"/>
              <a:t>}; </a:t>
            </a:r>
          </a:p>
        </p:txBody>
      </p:sp>
      <p:sp>
        <p:nvSpPr>
          <p:cNvPr id="7" name="文本框 6">
            <a:extLst>
              <a:ext uri="{FF2B5EF4-FFF2-40B4-BE49-F238E27FC236}">
                <a16:creationId xmlns:a16="http://schemas.microsoft.com/office/drawing/2014/main" id="{3813A490-9E25-D819-06D0-81207CFA5573}"/>
              </a:ext>
            </a:extLst>
          </p:cNvPr>
          <p:cNvSpPr txBox="1"/>
          <p:nvPr/>
        </p:nvSpPr>
        <p:spPr>
          <a:xfrm>
            <a:off x="6407219" y="204256"/>
            <a:ext cx="5899081"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成员函数</a:t>
            </a:r>
          </a:p>
        </p:txBody>
      </p:sp>
      <p:sp>
        <p:nvSpPr>
          <p:cNvPr id="5" name="文本框 4">
            <a:extLst>
              <a:ext uri="{FF2B5EF4-FFF2-40B4-BE49-F238E27FC236}">
                <a16:creationId xmlns:a16="http://schemas.microsoft.com/office/drawing/2014/main" id="{7A686E3C-F162-7DB5-FBEB-2A2462A97B02}"/>
              </a:ext>
            </a:extLst>
          </p:cNvPr>
          <p:cNvSpPr txBox="1"/>
          <p:nvPr/>
        </p:nvSpPr>
        <p:spPr>
          <a:xfrm>
            <a:off x="5880100" y="933173"/>
            <a:ext cx="6426200" cy="1868525"/>
          </a:xfrm>
          <a:prstGeom prst="rect">
            <a:avLst/>
          </a:prstGeom>
          <a:solidFill>
            <a:srgbClr val="FFC000"/>
          </a:solidFill>
        </p:spPr>
        <p:txBody>
          <a:bodyPr wrap="square">
            <a:spAutoFit/>
          </a:bodyPr>
          <a:lstStyle/>
          <a:p>
            <a:pPr marL="469900" indent="-469900" eaLnBrk="1" hangingPunct="1">
              <a:lnSpc>
                <a:spcPct val="80000"/>
              </a:lnSpc>
              <a:spcBef>
                <a:spcPct val="2000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Cambria Math" pitchFamily="18" charset="0"/>
                <a:cs typeface="Tahoma" pitchFamily="34" charset="0"/>
              </a:rPr>
              <a:t>COMPLEX::COMPLEX(double r, double </a:t>
            </a:r>
            <a:r>
              <a:rPr lang="en-US" altLang="zh-CN" kern="0" dirty="0" err="1">
                <a:solidFill>
                  <a:srgbClr val="104E87"/>
                </a:solidFill>
                <a:latin typeface="Comic Sans MS" panose="030F0702030302020204" pitchFamily="66" charset="0"/>
                <a:ea typeface="Cambria Math" pitchFamily="18" charset="0"/>
                <a:cs typeface="Tahoma" pitchFamily="34" charset="0"/>
              </a:rPr>
              <a:t>i</a:t>
            </a:r>
            <a:r>
              <a:rPr lang="en-US" altLang="zh-CN" kern="0" dirty="0">
                <a:solidFill>
                  <a:srgbClr val="104E87"/>
                </a:solidFill>
                <a:latin typeface="Comic Sans MS" panose="030F0702030302020204" pitchFamily="66" charset="0"/>
                <a:ea typeface="Cambria Math" pitchFamily="18" charset="0"/>
                <a:cs typeface="Tahoma" pitchFamily="34" charset="0"/>
              </a:rPr>
              <a:t>)</a:t>
            </a:r>
          </a:p>
          <a:p>
            <a:pPr marL="469900" indent="-469900" eaLnBrk="1" hangingPunct="1">
              <a:lnSpc>
                <a:spcPct val="80000"/>
              </a:lnSpc>
              <a:spcBef>
                <a:spcPct val="2000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Cambria Math" pitchFamily="18" charset="0"/>
                <a:cs typeface="Tahoma" pitchFamily="34" charset="0"/>
              </a:rPr>
              <a:t>{	real=r;  image=</a:t>
            </a:r>
            <a:r>
              <a:rPr lang="en-US" altLang="zh-CN" kern="0" dirty="0" err="1">
                <a:solidFill>
                  <a:srgbClr val="104E87"/>
                </a:solidFill>
                <a:latin typeface="Comic Sans MS" panose="030F0702030302020204" pitchFamily="66" charset="0"/>
                <a:ea typeface="Cambria Math" pitchFamily="18" charset="0"/>
                <a:cs typeface="Tahoma" pitchFamily="34" charset="0"/>
              </a:rPr>
              <a:t>i</a:t>
            </a:r>
            <a:r>
              <a:rPr lang="en-US" altLang="zh-CN" kern="0" dirty="0">
                <a:solidFill>
                  <a:srgbClr val="104E87"/>
                </a:solidFill>
                <a:latin typeface="Comic Sans MS" panose="030F0702030302020204" pitchFamily="66" charset="0"/>
                <a:ea typeface="Cambria Math" pitchFamily="18" charset="0"/>
                <a:cs typeface="Tahoma" pitchFamily="34" charset="0"/>
              </a:rPr>
              <a:t>;}</a:t>
            </a:r>
          </a:p>
          <a:p>
            <a:pPr marL="469900" indent="-469900" eaLnBrk="1" hangingPunct="1">
              <a:lnSpc>
                <a:spcPct val="80000"/>
              </a:lnSpc>
              <a:spcBef>
                <a:spcPct val="20000"/>
              </a:spcBef>
              <a:buClr>
                <a:schemeClr val="bg2"/>
              </a:buClr>
              <a:buSzPct val="70000"/>
              <a:buFont typeface="Wingdings" pitchFamily="2" charset="2"/>
              <a:buNone/>
              <a:defRPr/>
            </a:pPr>
            <a:r>
              <a:rPr lang="en-US" altLang="zh-CN" kern="0" spc="-100" dirty="0">
                <a:solidFill>
                  <a:srgbClr val="104E87"/>
                </a:solidFill>
                <a:latin typeface="Comic Sans MS" panose="030F0702030302020204" pitchFamily="66" charset="0"/>
                <a:ea typeface="Cambria Math" pitchFamily="18" charset="0"/>
                <a:cs typeface="Tahoma" pitchFamily="34" charset="0"/>
              </a:rPr>
              <a:t>COMPLEX::COMPLEX(const COMPLEX&amp; other)</a:t>
            </a:r>
          </a:p>
          <a:p>
            <a:pPr marL="469900" indent="-469900" eaLnBrk="1" hangingPunct="1">
              <a:lnSpc>
                <a:spcPct val="80000"/>
              </a:lnSpc>
              <a:spcBef>
                <a:spcPct val="2000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Cambria Math" pitchFamily="18" charset="0"/>
                <a:cs typeface="Tahoma" pitchFamily="34" charset="0"/>
              </a:rPr>
              <a:t>{	real=</a:t>
            </a:r>
            <a:r>
              <a:rPr lang="en-US" altLang="zh-CN" kern="0" dirty="0" err="1">
                <a:solidFill>
                  <a:srgbClr val="104E87"/>
                </a:solidFill>
                <a:latin typeface="Comic Sans MS" panose="030F0702030302020204" pitchFamily="66" charset="0"/>
                <a:ea typeface="Cambria Math" pitchFamily="18" charset="0"/>
                <a:cs typeface="Tahoma" pitchFamily="34" charset="0"/>
              </a:rPr>
              <a:t>other.real</a:t>
            </a:r>
            <a:r>
              <a:rPr lang="en-US" altLang="zh-CN" kern="0" dirty="0">
                <a:solidFill>
                  <a:srgbClr val="104E87"/>
                </a:solidFill>
                <a:latin typeface="Comic Sans MS" panose="030F0702030302020204" pitchFamily="66" charset="0"/>
                <a:ea typeface="Cambria Math" pitchFamily="18" charset="0"/>
                <a:cs typeface="Tahoma" pitchFamily="34" charset="0"/>
              </a:rPr>
              <a:t>;  image=</a:t>
            </a:r>
            <a:r>
              <a:rPr lang="en-US" altLang="zh-CN" kern="0" dirty="0" err="1">
                <a:solidFill>
                  <a:srgbClr val="104E87"/>
                </a:solidFill>
                <a:latin typeface="Comic Sans MS" panose="030F0702030302020204" pitchFamily="66" charset="0"/>
                <a:ea typeface="Cambria Math" pitchFamily="18" charset="0"/>
                <a:cs typeface="Tahoma" pitchFamily="34" charset="0"/>
              </a:rPr>
              <a:t>other.image</a:t>
            </a:r>
            <a:r>
              <a:rPr lang="en-US" altLang="zh-CN" kern="0" dirty="0">
                <a:solidFill>
                  <a:srgbClr val="104E87"/>
                </a:solidFill>
                <a:latin typeface="Comic Sans MS" panose="030F0702030302020204" pitchFamily="66" charset="0"/>
                <a:ea typeface="Cambria Math" pitchFamily="18" charset="0"/>
                <a:cs typeface="Tahoma" pitchFamily="34" charset="0"/>
              </a:rPr>
              <a:t>;</a:t>
            </a:r>
          </a:p>
          <a:p>
            <a:pPr marL="469900" indent="-469900" eaLnBrk="1" hangingPunct="1">
              <a:lnSpc>
                <a:spcPct val="80000"/>
              </a:lnSpc>
              <a:spcBef>
                <a:spcPct val="2000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Cambria Math" pitchFamily="18" charset="0"/>
                <a:cs typeface="Tahoma" pitchFamily="34" charset="0"/>
              </a:rPr>
              <a:t>} </a:t>
            </a:r>
          </a:p>
        </p:txBody>
      </p:sp>
      <p:sp>
        <p:nvSpPr>
          <p:cNvPr id="11" name="文本框 10">
            <a:extLst>
              <a:ext uri="{FF2B5EF4-FFF2-40B4-BE49-F238E27FC236}">
                <a16:creationId xmlns:a16="http://schemas.microsoft.com/office/drawing/2014/main" id="{F247FDBA-6D95-9FA2-1701-79EEE42EA460}"/>
              </a:ext>
            </a:extLst>
          </p:cNvPr>
          <p:cNvSpPr txBox="1"/>
          <p:nvPr/>
        </p:nvSpPr>
        <p:spPr>
          <a:xfrm>
            <a:off x="7353300" y="2981936"/>
            <a:ext cx="46355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kumimoji="1" b="0">
                <a:solidFill>
                  <a:srgbClr val="104E87"/>
                </a:solidFill>
                <a:latin typeface="Comic Sans MS" panose="030F0702030302020204" pitchFamily="66" charset="0"/>
                <a:ea typeface="宋体" panose="02010600030101010101"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zh-CN" altLang="en-US" b="1" dirty="0">
                <a:solidFill>
                  <a:srgbClr val="FF0000"/>
                </a:solidFill>
                <a:latin typeface="华光行书_CNKI" panose="02000500000000000000" pitchFamily="2" charset="-122"/>
                <a:ea typeface="华光行书_CNKI" panose="02000500000000000000" pitchFamily="2" charset="-122"/>
              </a:rPr>
              <a:t>如果形参仅仅作为操作数不会被改变，形参被定义为</a:t>
            </a:r>
            <a:r>
              <a:rPr lang="en-US" altLang="zh-CN" b="1" dirty="0">
                <a:solidFill>
                  <a:srgbClr val="FF0000"/>
                </a:solidFill>
                <a:latin typeface="华光行书_CNKI" panose="02000500000000000000" pitchFamily="2" charset="-122"/>
                <a:ea typeface="华光行书_CNKI" panose="02000500000000000000" pitchFamily="2" charset="-122"/>
              </a:rPr>
              <a:t>const </a:t>
            </a:r>
            <a:r>
              <a:rPr lang="zh-CN" altLang="en-US" b="1" dirty="0">
                <a:solidFill>
                  <a:srgbClr val="FF0000"/>
                </a:solidFill>
                <a:latin typeface="华光行书_CNKI" panose="02000500000000000000" pitchFamily="2" charset="-122"/>
                <a:ea typeface="华光行书_CNKI" panose="02000500000000000000" pitchFamily="2" charset="-122"/>
              </a:rPr>
              <a:t>引用</a:t>
            </a:r>
            <a:endParaRPr lang="en-US" altLang="zh-CN" b="1" dirty="0">
              <a:solidFill>
                <a:srgbClr val="FF0000"/>
              </a:solidFill>
              <a:latin typeface="华光行书_CNKI" panose="02000500000000000000" pitchFamily="2" charset="-122"/>
              <a:ea typeface="华光行书_CNKI" panose="02000500000000000000" pitchFamily="2" charset="-122"/>
            </a:endParaRPr>
          </a:p>
        </p:txBody>
      </p:sp>
      <p:sp>
        <p:nvSpPr>
          <p:cNvPr id="8" name="文本框 7">
            <a:extLst>
              <a:ext uri="{FF2B5EF4-FFF2-40B4-BE49-F238E27FC236}">
                <a16:creationId xmlns:a16="http://schemas.microsoft.com/office/drawing/2014/main" id="{3AC71151-B1EE-591C-049F-478940A98568}"/>
              </a:ext>
            </a:extLst>
          </p:cNvPr>
          <p:cNvSpPr txBox="1"/>
          <p:nvPr/>
        </p:nvSpPr>
        <p:spPr>
          <a:xfrm>
            <a:off x="7416800" y="3845394"/>
            <a:ext cx="4775200" cy="1499193"/>
          </a:xfrm>
          <a:prstGeom prst="rect">
            <a:avLst/>
          </a:prstGeom>
          <a:solidFill>
            <a:srgbClr val="FFC000"/>
          </a:solidFill>
        </p:spPr>
        <p:txBody>
          <a:bodyPr wrap="square">
            <a:spAutoFit/>
          </a:bodyPr>
          <a:lstStyle>
            <a:defPPr>
              <a:defRPr lang="en-US"/>
            </a:defPPr>
            <a:lvl1pPr marL="469900" indent="-469900">
              <a:lnSpc>
                <a:spcPct val="80000"/>
              </a:lnSpc>
              <a:spcBef>
                <a:spcPct val="20000"/>
              </a:spcBef>
              <a:buClr>
                <a:schemeClr val="bg2"/>
              </a:buClr>
              <a:buSzPct val="70000"/>
              <a:buFont typeface="Wingdings" pitchFamily="2" charset="2"/>
              <a:buNone/>
              <a:defRPr kern="0">
                <a:solidFill>
                  <a:srgbClr val="104E87"/>
                </a:solidFill>
                <a:latin typeface="Comic Sans MS" panose="030F0702030302020204" pitchFamily="66" charset="0"/>
                <a:ea typeface="Cambria Math" pitchFamily="18" charset="0"/>
                <a:cs typeface="Tahoma" pitchFamily="34" charset="0"/>
              </a:defRPr>
            </a:lvl1pPr>
          </a:lstStyle>
          <a:p>
            <a:r>
              <a:rPr lang="en-US" altLang="zh-CN" dirty="0"/>
              <a:t>double COMPLEX::</a:t>
            </a:r>
            <a:r>
              <a:rPr lang="en-US" altLang="zh-CN" dirty="0" err="1"/>
              <a:t>getImage</a:t>
            </a:r>
            <a:r>
              <a:rPr lang="en-US" altLang="zh-CN" dirty="0"/>
              <a:t>()</a:t>
            </a:r>
          </a:p>
          <a:p>
            <a:r>
              <a:rPr lang="en-US" altLang="zh-CN" dirty="0"/>
              <a:t>{return image;}</a:t>
            </a:r>
          </a:p>
          <a:p>
            <a:r>
              <a:rPr lang="en-US" altLang="zh-CN" dirty="0"/>
              <a:t>double COMPLEX::</a:t>
            </a:r>
            <a:r>
              <a:rPr lang="en-US" altLang="zh-CN" dirty="0" err="1"/>
              <a:t>getReal</a:t>
            </a:r>
            <a:r>
              <a:rPr lang="en-US" altLang="zh-CN" dirty="0"/>
              <a:t>()</a:t>
            </a:r>
          </a:p>
          <a:p>
            <a:r>
              <a:rPr lang="en-US" altLang="zh-CN" dirty="0"/>
              <a:t>{return real;}</a:t>
            </a:r>
          </a:p>
        </p:txBody>
      </p:sp>
      <p:sp>
        <p:nvSpPr>
          <p:cNvPr id="12" name="文本框 11">
            <a:extLst>
              <a:ext uri="{FF2B5EF4-FFF2-40B4-BE49-F238E27FC236}">
                <a16:creationId xmlns:a16="http://schemas.microsoft.com/office/drawing/2014/main" id="{98B95C81-E6B4-3F8C-36B5-76D5E5714685}"/>
              </a:ext>
            </a:extLst>
          </p:cNvPr>
          <p:cNvSpPr txBox="1"/>
          <p:nvPr/>
        </p:nvSpPr>
        <p:spPr>
          <a:xfrm>
            <a:off x="6407219" y="5552782"/>
            <a:ext cx="5784781" cy="760529"/>
          </a:xfrm>
          <a:prstGeom prst="rect">
            <a:avLst/>
          </a:prstGeom>
          <a:solidFill>
            <a:srgbClr val="FFC000"/>
          </a:solidFill>
        </p:spPr>
        <p:txBody>
          <a:bodyPr wrap="square">
            <a:spAutoFit/>
          </a:bodyPr>
          <a:lstStyle>
            <a:defPPr>
              <a:defRPr lang="en-US"/>
            </a:defPPr>
            <a:lvl1pPr marL="469900" indent="-469900">
              <a:lnSpc>
                <a:spcPct val="80000"/>
              </a:lnSpc>
              <a:spcBef>
                <a:spcPct val="20000"/>
              </a:spcBef>
              <a:buClr>
                <a:schemeClr val="bg2"/>
              </a:buClr>
              <a:buSzPct val="70000"/>
              <a:buFont typeface="Wingdings" pitchFamily="2" charset="2"/>
              <a:buNone/>
              <a:defRPr kern="0">
                <a:solidFill>
                  <a:srgbClr val="104E87"/>
                </a:solidFill>
                <a:latin typeface="Comic Sans MS" panose="030F0702030302020204" pitchFamily="66" charset="0"/>
                <a:ea typeface="Cambria Math" pitchFamily="18" charset="0"/>
                <a:cs typeface="Tahoma" pitchFamily="34" charset="0"/>
              </a:defRPr>
            </a:lvl1pPr>
          </a:lstStyle>
          <a:p>
            <a:r>
              <a:rPr lang="en-US" altLang="zh-CN" dirty="0"/>
              <a:t>double COMPLEX::</a:t>
            </a:r>
            <a:r>
              <a:rPr lang="en-US" altLang="zh-CN" dirty="0" err="1"/>
              <a:t>getModuls</a:t>
            </a:r>
            <a:r>
              <a:rPr lang="en-US" altLang="zh-CN" dirty="0"/>
              <a:t>()</a:t>
            </a:r>
          </a:p>
          <a:p>
            <a:r>
              <a:rPr lang="en-US" altLang="zh-CN" dirty="0"/>
              <a:t>{return sqrt(image*</a:t>
            </a:r>
            <a:r>
              <a:rPr lang="en-US" altLang="zh-CN" dirty="0" err="1"/>
              <a:t>image+real</a:t>
            </a:r>
            <a:r>
              <a:rPr lang="en-US" altLang="zh-CN" dirty="0"/>
              <a:t>*real);}</a:t>
            </a:r>
            <a:endParaRPr lang="zh-CN" altLang="en-US" dirty="0"/>
          </a:p>
        </p:txBody>
      </p:sp>
    </p:spTree>
    <p:extLst>
      <p:ext uri="{BB962C8B-B14F-4D97-AF65-F5344CB8AC3E}">
        <p14:creationId xmlns:p14="http://schemas.microsoft.com/office/powerpoint/2010/main" val="352391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5"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randombar(vertic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8"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66F9E-1C7D-71ED-F916-5FFF0F6E7005}"/>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88A4F9F3-54A1-F7F5-A71E-1904F486C1F0}"/>
              </a:ext>
            </a:extLst>
          </p:cNvPr>
          <p:cNvSpPr txBox="1">
            <a:spLocks noChangeArrowheads="1"/>
          </p:cNvSpPr>
          <p:nvPr/>
        </p:nvSpPr>
        <p:spPr bwMode="auto">
          <a:xfrm>
            <a:off x="0" y="4611569"/>
            <a:ext cx="8689243" cy="2321169"/>
          </a:xfrm>
          <a:prstGeom prst="rect">
            <a:avLst/>
          </a:prstGeom>
          <a:no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a:solidFill>
                  <a:srgbClr val="104E87"/>
                </a:solidFill>
                <a:latin typeface="Comic Sans MS" panose="030F0702030302020204" pitchFamily="66" charset="0"/>
                <a:ea typeface="Cambria Math" pitchFamily="18" charset="0"/>
                <a:cs typeface="Tahoma" pitchFamily="34" charset="0"/>
              </a:defRPr>
            </a:lvl1pPr>
          </a:lstStyle>
          <a:p>
            <a:endParaRPr lang="en-US" altLang="zh-CN" dirty="0"/>
          </a:p>
        </p:txBody>
      </p:sp>
      <p:sp>
        <p:nvSpPr>
          <p:cNvPr id="16" name="文本框 15">
            <a:extLst>
              <a:ext uri="{FF2B5EF4-FFF2-40B4-BE49-F238E27FC236}">
                <a16:creationId xmlns:a16="http://schemas.microsoft.com/office/drawing/2014/main" id="{BE56CBAE-6A3F-722C-C496-D7E073C36AD4}"/>
              </a:ext>
            </a:extLst>
          </p:cNvPr>
          <p:cNvSpPr txBox="1"/>
          <p:nvPr/>
        </p:nvSpPr>
        <p:spPr>
          <a:xfrm>
            <a:off x="-53730" y="55617"/>
            <a:ext cx="8546123" cy="2237857"/>
          </a:xfrm>
          <a:prstGeom prst="rect">
            <a:avLst/>
          </a:prstGeom>
          <a:no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a:solidFill>
                  <a:srgbClr val="104E87"/>
                </a:solidFill>
                <a:latin typeface="Comic Sans MS" panose="030F0702030302020204" pitchFamily="66" charset="0"/>
                <a:ea typeface="Cambria Math" pitchFamily="18" charset="0"/>
                <a:cs typeface="Tahoma" pitchFamily="34" charset="0"/>
              </a:defRPr>
            </a:lvl1pPr>
          </a:lstStyle>
          <a:p>
            <a:r>
              <a:rPr lang="en-US" altLang="zh-CN" spc="-100" dirty="0"/>
              <a:t>COMPLEX COMPLEX::operator + (const COMPLEX&amp; other)</a:t>
            </a:r>
          </a:p>
          <a:p>
            <a:r>
              <a:rPr lang="en-US" altLang="zh-CN" spc="-100" dirty="0"/>
              <a:t>{   COMPLEX temp;</a:t>
            </a:r>
          </a:p>
          <a:p>
            <a:r>
              <a:rPr lang="en-US" altLang="zh-CN" spc="-100" dirty="0" err="1"/>
              <a:t>temp.real</a:t>
            </a:r>
            <a:r>
              <a:rPr lang="en-US" altLang="zh-CN" spc="-100" dirty="0"/>
              <a:t>=</a:t>
            </a:r>
            <a:r>
              <a:rPr lang="en-US" altLang="zh-CN" spc="-100" dirty="0" err="1"/>
              <a:t>real+other.real</a:t>
            </a:r>
            <a:r>
              <a:rPr lang="en-US" altLang="zh-CN" spc="-100" dirty="0"/>
              <a:t>;</a:t>
            </a:r>
          </a:p>
          <a:p>
            <a:r>
              <a:rPr lang="en-US" altLang="zh-CN" spc="-100" dirty="0" err="1"/>
              <a:t>temp.image</a:t>
            </a:r>
            <a:r>
              <a:rPr lang="en-US" altLang="zh-CN" spc="-100" dirty="0"/>
              <a:t>=</a:t>
            </a:r>
            <a:r>
              <a:rPr lang="en-US" altLang="zh-CN" spc="-100" dirty="0" err="1"/>
              <a:t>image+other.image</a:t>
            </a:r>
            <a:r>
              <a:rPr lang="en-US" altLang="zh-CN" spc="-100" dirty="0"/>
              <a:t>;</a:t>
            </a:r>
          </a:p>
          <a:p>
            <a:r>
              <a:rPr lang="en-US" altLang="zh-CN" spc="-100" dirty="0"/>
              <a:t>return temp;</a:t>
            </a:r>
          </a:p>
          <a:p>
            <a:r>
              <a:rPr lang="en-US" altLang="zh-CN" spc="-100" dirty="0"/>
              <a:t>}</a:t>
            </a:r>
          </a:p>
          <a:p>
            <a:r>
              <a:rPr lang="en-US" altLang="zh-CN" sz="2200" spc="-100" dirty="0"/>
              <a:t>COMPLEX COMPLEX::operator - (const COMPLEX&amp; other)</a:t>
            </a:r>
          </a:p>
          <a:p>
            <a:r>
              <a:rPr lang="en-US" altLang="zh-CN" sz="2200" spc="-100" dirty="0"/>
              <a:t>{COMPLEX temp;</a:t>
            </a:r>
          </a:p>
          <a:p>
            <a:r>
              <a:rPr lang="en-US" altLang="zh-CN" sz="2200" spc="-100" dirty="0" err="1"/>
              <a:t>temp.real</a:t>
            </a:r>
            <a:r>
              <a:rPr lang="en-US" altLang="zh-CN" sz="2200" spc="-100" dirty="0"/>
              <a:t>=real-</a:t>
            </a:r>
            <a:r>
              <a:rPr lang="en-US" altLang="zh-CN" sz="2200" spc="-100" dirty="0" err="1"/>
              <a:t>other.real</a:t>
            </a:r>
            <a:r>
              <a:rPr lang="en-US" altLang="zh-CN" sz="2200" spc="-100" dirty="0"/>
              <a:t>;</a:t>
            </a:r>
          </a:p>
          <a:p>
            <a:r>
              <a:rPr lang="en-US" altLang="zh-CN" sz="2200" spc="-100" dirty="0" err="1"/>
              <a:t>temp.image</a:t>
            </a:r>
            <a:r>
              <a:rPr lang="en-US" altLang="zh-CN" sz="2200" spc="-100" dirty="0"/>
              <a:t>=image-</a:t>
            </a:r>
            <a:r>
              <a:rPr lang="en-US" altLang="zh-CN" sz="2200" spc="-100" dirty="0" err="1"/>
              <a:t>other.image</a:t>
            </a:r>
            <a:r>
              <a:rPr lang="en-US" altLang="zh-CN" sz="2200" spc="-100" dirty="0"/>
              <a:t>;</a:t>
            </a:r>
          </a:p>
          <a:p>
            <a:r>
              <a:rPr lang="en-US" altLang="zh-CN" sz="2200" spc="-100" dirty="0"/>
              <a:t>return temp;</a:t>
            </a:r>
          </a:p>
          <a:p>
            <a:r>
              <a:rPr lang="en-US" altLang="zh-CN" sz="2200" spc="-100" dirty="0"/>
              <a:t>}</a:t>
            </a:r>
          </a:p>
        </p:txBody>
      </p:sp>
      <p:sp>
        <p:nvSpPr>
          <p:cNvPr id="18" name="文本框 17">
            <a:extLst>
              <a:ext uri="{FF2B5EF4-FFF2-40B4-BE49-F238E27FC236}">
                <a16:creationId xmlns:a16="http://schemas.microsoft.com/office/drawing/2014/main" id="{93993F70-407B-A762-05AA-2151F24F1362}"/>
              </a:ext>
            </a:extLst>
          </p:cNvPr>
          <p:cNvSpPr txBox="1"/>
          <p:nvPr/>
        </p:nvSpPr>
        <p:spPr>
          <a:xfrm>
            <a:off x="5138774" y="427472"/>
            <a:ext cx="7100938" cy="1818959"/>
          </a:xfrm>
          <a:prstGeom prst="rect">
            <a:avLst/>
          </a:prstGeom>
          <a:solidFill>
            <a:schemeClr val="accent4">
              <a:lumMod val="20000"/>
              <a:lumOff val="80000"/>
            </a:schemeClr>
          </a:solidFill>
        </p:spPr>
        <p:txBody>
          <a:bodyPr wrap="square">
            <a:spAutoFit/>
          </a:bodyPr>
          <a:lstStyle/>
          <a:p>
            <a:pPr eaLnBrk="1" hangingPunct="1">
              <a:lnSpc>
                <a:spcPct val="85000"/>
              </a:lnSpc>
              <a:defRPr/>
            </a:pPr>
            <a:r>
              <a:rPr lang="en-US" altLang="zh-CN" sz="2200" spc="-100" dirty="0">
                <a:solidFill>
                  <a:srgbClr val="104E87"/>
                </a:solidFill>
                <a:latin typeface="Comic Sans MS" panose="030F0702030302020204" pitchFamily="66" charset="0"/>
              </a:rPr>
              <a:t>COMPLEX COMPLEX::operator*(const COMPLEX&amp; other) </a:t>
            </a:r>
          </a:p>
          <a:p>
            <a:pPr eaLnBrk="1" hangingPunct="1">
              <a:lnSpc>
                <a:spcPct val="85000"/>
              </a:lnSpc>
              <a:defRPr/>
            </a:pPr>
            <a:r>
              <a:rPr lang="en-US" altLang="zh-CN" sz="2200" spc="-100" dirty="0">
                <a:solidFill>
                  <a:srgbClr val="104E87"/>
                </a:solidFill>
                <a:latin typeface="Comic Sans MS" panose="030F0702030302020204" pitchFamily="66" charset="0"/>
              </a:rPr>
              <a:t>{  COMPLEX temp;  </a:t>
            </a:r>
          </a:p>
          <a:p>
            <a:pPr eaLnBrk="1" hangingPunct="1">
              <a:lnSpc>
                <a:spcPct val="85000"/>
              </a:lnSpc>
              <a:defRPr/>
            </a:pPr>
            <a:r>
              <a:rPr lang="en-US" altLang="zh-CN" sz="2200" spc="-100" dirty="0">
                <a:solidFill>
                  <a:srgbClr val="104E87"/>
                </a:solidFill>
                <a:latin typeface="Comic Sans MS" panose="030F0702030302020204" pitchFamily="66" charset="0"/>
              </a:rPr>
              <a:t>    </a:t>
            </a:r>
            <a:r>
              <a:rPr lang="en-US" altLang="zh-CN" sz="2200" spc="-100" dirty="0" err="1">
                <a:solidFill>
                  <a:srgbClr val="104E87"/>
                </a:solidFill>
                <a:latin typeface="Comic Sans MS" panose="030F0702030302020204" pitchFamily="66" charset="0"/>
              </a:rPr>
              <a:t>temp.real</a:t>
            </a:r>
            <a:r>
              <a:rPr lang="en-US" altLang="zh-CN" sz="2200" spc="-100" dirty="0">
                <a:solidFill>
                  <a:srgbClr val="104E87"/>
                </a:solidFill>
                <a:latin typeface="Comic Sans MS" panose="030F0702030302020204" pitchFamily="66" charset="0"/>
              </a:rPr>
              <a:t>=real*</a:t>
            </a:r>
            <a:r>
              <a:rPr lang="en-US" altLang="zh-CN" sz="2200" spc="-100" dirty="0" err="1">
                <a:solidFill>
                  <a:srgbClr val="104E87"/>
                </a:solidFill>
                <a:latin typeface="Comic Sans MS" panose="030F0702030302020204" pitchFamily="66" charset="0"/>
              </a:rPr>
              <a:t>other.real</a:t>
            </a:r>
            <a:r>
              <a:rPr lang="en-US" altLang="zh-CN" sz="2200" spc="-100" dirty="0">
                <a:solidFill>
                  <a:srgbClr val="104E87"/>
                </a:solidFill>
                <a:latin typeface="Comic Sans MS" panose="030F0702030302020204" pitchFamily="66" charset="0"/>
              </a:rPr>
              <a:t>-image*</a:t>
            </a:r>
            <a:r>
              <a:rPr lang="en-US" altLang="zh-CN" sz="2200" spc="-100" dirty="0" err="1">
                <a:solidFill>
                  <a:srgbClr val="104E87"/>
                </a:solidFill>
                <a:latin typeface="Comic Sans MS" panose="030F0702030302020204" pitchFamily="66" charset="0"/>
              </a:rPr>
              <a:t>other.image</a:t>
            </a:r>
            <a:r>
              <a:rPr lang="en-US" altLang="zh-CN" sz="2200" spc="-100" dirty="0">
                <a:solidFill>
                  <a:srgbClr val="104E87"/>
                </a:solidFill>
                <a:latin typeface="Comic Sans MS" panose="030F0702030302020204" pitchFamily="66" charset="0"/>
              </a:rPr>
              <a:t>;  </a:t>
            </a:r>
          </a:p>
          <a:p>
            <a:pPr eaLnBrk="1" hangingPunct="1">
              <a:lnSpc>
                <a:spcPct val="85000"/>
              </a:lnSpc>
              <a:defRPr/>
            </a:pPr>
            <a:r>
              <a:rPr lang="en-US" altLang="zh-CN" sz="2200" spc="-100" dirty="0">
                <a:solidFill>
                  <a:srgbClr val="104E87"/>
                </a:solidFill>
                <a:latin typeface="Comic Sans MS" panose="030F0702030302020204" pitchFamily="66" charset="0"/>
              </a:rPr>
              <a:t>    </a:t>
            </a:r>
            <a:r>
              <a:rPr lang="en-US" altLang="zh-CN" sz="2200" spc="-100" dirty="0" err="1">
                <a:solidFill>
                  <a:srgbClr val="104E87"/>
                </a:solidFill>
                <a:latin typeface="Comic Sans MS" panose="030F0702030302020204" pitchFamily="66" charset="0"/>
              </a:rPr>
              <a:t>temp.image</a:t>
            </a:r>
            <a:r>
              <a:rPr lang="en-US" altLang="zh-CN" sz="2200" spc="-100" dirty="0">
                <a:solidFill>
                  <a:srgbClr val="104E87"/>
                </a:solidFill>
                <a:latin typeface="Comic Sans MS" panose="030F0702030302020204" pitchFamily="66" charset="0"/>
              </a:rPr>
              <a:t>=image*</a:t>
            </a:r>
            <a:r>
              <a:rPr lang="en-US" altLang="zh-CN" sz="2200" spc="-100" dirty="0" err="1">
                <a:solidFill>
                  <a:srgbClr val="104E87"/>
                </a:solidFill>
                <a:latin typeface="Comic Sans MS" panose="030F0702030302020204" pitchFamily="66" charset="0"/>
              </a:rPr>
              <a:t>other.real+real</a:t>
            </a:r>
            <a:r>
              <a:rPr lang="en-US" altLang="zh-CN" sz="2200" spc="-100" dirty="0">
                <a:solidFill>
                  <a:srgbClr val="104E87"/>
                </a:solidFill>
                <a:latin typeface="Comic Sans MS" panose="030F0702030302020204" pitchFamily="66" charset="0"/>
              </a:rPr>
              <a:t>*</a:t>
            </a:r>
            <a:r>
              <a:rPr lang="en-US" altLang="zh-CN" sz="2200" spc="-100" dirty="0" err="1">
                <a:solidFill>
                  <a:srgbClr val="104E87"/>
                </a:solidFill>
                <a:latin typeface="Comic Sans MS" panose="030F0702030302020204" pitchFamily="66" charset="0"/>
              </a:rPr>
              <a:t>other.image</a:t>
            </a:r>
            <a:r>
              <a:rPr lang="en-US" altLang="zh-CN" sz="2200" spc="-100" dirty="0">
                <a:solidFill>
                  <a:srgbClr val="104E87"/>
                </a:solidFill>
                <a:latin typeface="Comic Sans MS" panose="030F0702030302020204" pitchFamily="66" charset="0"/>
              </a:rPr>
              <a:t>;  </a:t>
            </a:r>
          </a:p>
          <a:p>
            <a:pPr eaLnBrk="1" hangingPunct="1">
              <a:lnSpc>
                <a:spcPct val="85000"/>
              </a:lnSpc>
              <a:defRPr/>
            </a:pPr>
            <a:r>
              <a:rPr lang="en-US" altLang="zh-CN" sz="2200" spc="-100" dirty="0">
                <a:solidFill>
                  <a:srgbClr val="104E87"/>
                </a:solidFill>
                <a:latin typeface="Comic Sans MS" panose="030F0702030302020204" pitchFamily="66" charset="0"/>
              </a:rPr>
              <a:t>    return temp;  </a:t>
            </a:r>
          </a:p>
          <a:p>
            <a:pPr eaLnBrk="1" hangingPunct="1">
              <a:lnSpc>
                <a:spcPct val="85000"/>
              </a:lnSpc>
              <a:defRPr/>
            </a:pPr>
            <a:r>
              <a:rPr lang="en-US" altLang="zh-CN" sz="2200" spc="-100" dirty="0">
                <a:solidFill>
                  <a:srgbClr val="104E87"/>
                </a:solidFill>
                <a:latin typeface="Comic Sans MS" panose="030F0702030302020204" pitchFamily="66" charset="0"/>
              </a:rPr>
              <a:t>}  </a:t>
            </a:r>
          </a:p>
        </p:txBody>
      </p:sp>
      <p:sp>
        <p:nvSpPr>
          <p:cNvPr id="21" name="矩形 20">
            <a:extLst>
              <a:ext uri="{FF2B5EF4-FFF2-40B4-BE49-F238E27FC236}">
                <a16:creationId xmlns:a16="http://schemas.microsoft.com/office/drawing/2014/main" id="{F48A8C28-BC7D-A91E-B2B8-AAC63C84701E}"/>
              </a:ext>
            </a:extLst>
          </p:cNvPr>
          <p:cNvSpPr/>
          <p:nvPr/>
        </p:nvSpPr>
        <p:spPr>
          <a:xfrm>
            <a:off x="-53730" y="4359293"/>
            <a:ext cx="7399213" cy="2225225"/>
          </a:xfrm>
          <a:prstGeom prst="rect">
            <a:avLst/>
          </a:prstGeom>
          <a:noFill/>
        </p:spPr>
        <p:txBody>
          <a:bodyPr wrap="square">
            <a:spAutoFit/>
          </a:bodyPr>
          <a:lstStyle/>
          <a:p>
            <a:pPr>
              <a:lnSpc>
                <a:spcPct val="90000"/>
              </a:lnSpc>
            </a:pPr>
            <a:r>
              <a:rPr lang="en-US" altLang="zh-CN" sz="2200" spc="-100" dirty="0">
                <a:solidFill>
                  <a:srgbClr val="104E87"/>
                </a:solidFill>
                <a:latin typeface="Comic Sans MS" panose="030F0702030302020204" pitchFamily="66" charset="0"/>
              </a:rPr>
              <a:t>COMPLEX COMPLEX::operator/(const COMPLEX&amp; other)        </a:t>
            </a:r>
          </a:p>
          <a:p>
            <a:pPr>
              <a:lnSpc>
                <a:spcPct val="90000"/>
              </a:lnSpc>
            </a:pPr>
            <a:r>
              <a:rPr lang="en-US" altLang="zh-CN" sz="2200" spc="-100" dirty="0">
                <a:solidFill>
                  <a:srgbClr val="104E87"/>
                </a:solidFill>
                <a:latin typeface="Comic Sans MS" panose="030F0702030302020204" pitchFamily="66" charset="0"/>
              </a:rPr>
              <a:t>{  COMPLEX temp; </a:t>
            </a:r>
          </a:p>
          <a:p>
            <a:pPr>
              <a:lnSpc>
                <a:spcPct val="90000"/>
              </a:lnSpc>
            </a:pPr>
            <a:r>
              <a:rPr lang="en-US" altLang="zh-CN" sz="2200" spc="-100" dirty="0">
                <a:solidFill>
                  <a:srgbClr val="104E87"/>
                </a:solidFill>
                <a:latin typeface="Comic Sans MS" panose="030F0702030302020204" pitchFamily="66" charset="0"/>
              </a:rPr>
              <a:t>    double t=(</a:t>
            </a:r>
            <a:r>
              <a:rPr lang="en-US" altLang="zh-CN" sz="2200" spc="-100" dirty="0" err="1">
                <a:solidFill>
                  <a:srgbClr val="104E87"/>
                </a:solidFill>
                <a:latin typeface="Comic Sans MS" panose="030F0702030302020204" pitchFamily="66" charset="0"/>
              </a:rPr>
              <a:t>other.image</a:t>
            </a:r>
            <a:r>
              <a:rPr lang="en-US" altLang="zh-CN" sz="2200" spc="-100" dirty="0">
                <a:solidFill>
                  <a:srgbClr val="104E87"/>
                </a:solidFill>
                <a:latin typeface="Comic Sans MS" panose="030F0702030302020204" pitchFamily="66" charset="0"/>
              </a:rPr>
              <a:t>*</a:t>
            </a:r>
            <a:r>
              <a:rPr lang="en-US" altLang="zh-CN" sz="2200" spc="-100" dirty="0" err="1">
                <a:solidFill>
                  <a:srgbClr val="104E87"/>
                </a:solidFill>
                <a:latin typeface="Comic Sans MS" panose="030F0702030302020204" pitchFamily="66" charset="0"/>
              </a:rPr>
              <a:t>other.image+other.real</a:t>
            </a:r>
            <a:r>
              <a:rPr lang="en-US" altLang="zh-CN" sz="2200" spc="-100" dirty="0">
                <a:solidFill>
                  <a:srgbClr val="104E87"/>
                </a:solidFill>
                <a:latin typeface="Comic Sans MS" panose="030F0702030302020204" pitchFamily="66" charset="0"/>
              </a:rPr>
              <a:t>*</a:t>
            </a:r>
            <a:r>
              <a:rPr lang="en-US" altLang="zh-CN" sz="2200" spc="-100" dirty="0" err="1">
                <a:solidFill>
                  <a:srgbClr val="104E87"/>
                </a:solidFill>
                <a:latin typeface="Comic Sans MS" panose="030F0702030302020204" pitchFamily="66" charset="0"/>
              </a:rPr>
              <a:t>other.real</a:t>
            </a:r>
            <a:r>
              <a:rPr lang="en-US" altLang="zh-CN" sz="2200" spc="-100" dirty="0">
                <a:solidFill>
                  <a:srgbClr val="104E87"/>
                </a:solidFill>
                <a:latin typeface="Comic Sans MS" panose="030F0702030302020204" pitchFamily="66" charset="0"/>
              </a:rPr>
              <a:t>);</a:t>
            </a:r>
          </a:p>
          <a:p>
            <a:pPr>
              <a:lnSpc>
                <a:spcPct val="90000"/>
              </a:lnSpc>
            </a:pPr>
            <a:r>
              <a:rPr lang="en-US" altLang="zh-CN" sz="2200" spc="-100" dirty="0">
                <a:solidFill>
                  <a:srgbClr val="104E87"/>
                </a:solidFill>
                <a:latin typeface="Comic Sans MS" panose="030F0702030302020204" pitchFamily="66" charset="0"/>
              </a:rPr>
              <a:t>    </a:t>
            </a:r>
            <a:r>
              <a:rPr lang="en-US" altLang="zh-CN" sz="2200" spc="-100" dirty="0" err="1">
                <a:solidFill>
                  <a:srgbClr val="104E87"/>
                </a:solidFill>
                <a:latin typeface="Comic Sans MS" panose="030F0702030302020204" pitchFamily="66" charset="0"/>
              </a:rPr>
              <a:t>temp.real</a:t>
            </a:r>
            <a:r>
              <a:rPr lang="en-US" altLang="zh-CN" sz="2200" spc="-100" dirty="0">
                <a:solidFill>
                  <a:srgbClr val="104E87"/>
                </a:solidFill>
                <a:latin typeface="Comic Sans MS" panose="030F0702030302020204" pitchFamily="66" charset="0"/>
              </a:rPr>
              <a:t>=(real*</a:t>
            </a:r>
            <a:r>
              <a:rPr lang="en-US" altLang="zh-CN" sz="2200" spc="-100" dirty="0" err="1">
                <a:solidFill>
                  <a:srgbClr val="104E87"/>
                </a:solidFill>
                <a:latin typeface="Comic Sans MS" panose="030F0702030302020204" pitchFamily="66" charset="0"/>
              </a:rPr>
              <a:t>other.real+image</a:t>
            </a:r>
            <a:r>
              <a:rPr lang="en-US" altLang="zh-CN" sz="2200" spc="-100" dirty="0">
                <a:solidFill>
                  <a:srgbClr val="104E87"/>
                </a:solidFill>
                <a:latin typeface="Comic Sans MS" panose="030F0702030302020204" pitchFamily="66" charset="0"/>
              </a:rPr>
              <a:t>*</a:t>
            </a:r>
            <a:r>
              <a:rPr lang="en-US" altLang="zh-CN" sz="2200" spc="-100" dirty="0" err="1">
                <a:solidFill>
                  <a:srgbClr val="104E87"/>
                </a:solidFill>
                <a:latin typeface="Comic Sans MS" panose="030F0702030302020204" pitchFamily="66" charset="0"/>
              </a:rPr>
              <a:t>other.image</a:t>
            </a:r>
            <a:r>
              <a:rPr lang="en-US" altLang="zh-CN" sz="2200" spc="-100" dirty="0">
                <a:solidFill>
                  <a:srgbClr val="104E87"/>
                </a:solidFill>
                <a:latin typeface="Comic Sans MS" panose="030F0702030302020204" pitchFamily="66" charset="0"/>
              </a:rPr>
              <a:t>)/t;</a:t>
            </a:r>
          </a:p>
          <a:p>
            <a:pPr>
              <a:lnSpc>
                <a:spcPct val="90000"/>
              </a:lnSpc>
            </a:pPr>
            <a:r>
              <a:rPr lang="en-US" altLang="zh-CN" sz="2200" spc="-100" dirty="0">
                <a:solidFill>
                  <a:srgbClr val="104E87"/>
                </a:solidFill>
                <a:latin typeface="Comic Sans MS" panose="030F0702030302020204" pitchFamily="66" charset="0"/>
              </a:rPr>
              <a:t>    </a:t>
            </a:r>
            <a:r>
              <a:rPr lang="en-US" altLang="zh-CN" sz="2200" spc="-100" dirty="0" err="1">
                <a:solidFill>
                  <a:srgbClr val="104E87"/>
                </a:solidFill>
                <a:latin typeface="Comic Sans MS" panose="030F0702030302020204" pitchFamily="66" charset="0"/>
              </a:rPr>
              <a:t>temp.image</a:t>
            </a:r>
            <a:r>
              <a:rPr lang="en-US" altLang="zh-CN" sz="2200" spc="-100" dirty="0">
                <a:solidFill>
                  <a:srgbClr val="104E87"/>
                </a:solidFill>
                <a:latin typeface="Comic Sans MS" panose="030F0702030302020204" pitchFamily="66" charset="0"/>
              </a:rPr>
              <a:t>=(real*</a:t>
            </a:r>
            <a:r>
              <a:rPr lang="en-US" altLang="zh-CN" sz="2200" spc="-100" dirty="0" err="1">
                <a:solidFill>
                  <a:srgbClr val="104E87"/>
                </a:solidFill>
                <a:latin typeface="Comic Sans MS" panose="030F0702030302020204" pitchFamily="66" charset="0"/>
              </a:rPr>
              <a:t>other.real+image</a:t>
            </a:r>
            <a:r>
              <a:rPr lang="en-US" altLang="zh-CN" sz="2200" spc="-100" dirty="0">
                <a:solidFill>
                  <a:srgbClr val="104E87"/>
                </a:solidFill>
                <a:latin typeface="Comic Sans MS" panose="030F0702030302020204" pitchFamily="66" charset="0"/>
              </a:rPr>
              <a:t>*</a:t>
            </a:r>
            <a:r>
              <a:rPr lang="en-US" altLang="zh-CN" sz="2200" spc="-100" dirty="0" err="1">
                <a:solidFill>
                  <a:srgbClr val="104E87"/>
                </a:solidFill>
                <a:latin typeface="Comic Sans MS" panose="030F0702030302020204" pitchFamily="66" charset="0"/>
              </a:rPr>
              <a:t>other.image</a:t>
            </a:r>
            <a:r>
              <a:rPr lang="en-US" altLang="zh-CN" sz="2200" spc="-100" dirty="0">
                <a:solidFill>
                  <a:srgbClr val="104E87"/>
                </a:solidFill>
                <a:latin typeface="Comic Sans MS" panose="030F0702030302020204" pitchFamily="66" charset="0"/>
              </a:rPr>
              <a:t>)/t; </a:t>
            </a:r>
          </a:p>
          <a:p>
            <a:pPr>
              <a:lnSpc>
                <a:spcPct val="90000"/>
              </a:lnSpc>
            </a:pPr>
            <a:r>
              <a:rPr lang="en-US" altLang="zh-CN" sz="2200" spc="-100" dirty="0">
                <a:solidFill>
                  <a:srgbClr val="104E87"/>
                </a:solidFill>
                <a:latin typeface="Comic Sans MS" panose="030F0702030302020204" pitchFamily="66" charset="0"/>
              </a:rPr>
              <a:t>    return temp;</a:t>
            </a:r>
          </a:p>
          <a:p>
            <a:pPr>
              <a:lnSpc>
                <a:spcPct val="90000"/>
              </a:lnSpc>
            </a:pPr>
            <a:r>
              <a:rPr lang="en-US" altLang="zh-CN" sz="2200" spc="-100" dirty="0">
                <a:solidFill>
                  <a:srgbClr val="104E87"/>
                </a:solidFill>
                <a:latin typeface="Comic Sans MS" panose="030F0702030302020204" pitchFamily="66" charset="0"/>
              </a:rPr>
              <a:t>} </a:t>
            </a:r>
            <a:endParaRPr lang="zh-CN" altLang="en-US" sz="2200" spc="-100" dirty="0">
              <a:solidFill>
                <a:srgbClr val="104E87"/>
              </a:solidFill>
              <a:latin typeface="Comic Sans MS" panose="030F0702030302020204" pitchFamily="66" charset="0"/>
            </a:endParaRPr>
          </a:p>
        </p:txBody>
      </p:sp>
      <p:sp>
        <p:nvSpPr>
          <p:cNvPr id="23" name="Rectangle 2">
            <a:extLst>
              <a:ext uri="{FF2B5EF4-FFF2-40B4-BE49-F238E27FC236}">
                <a16:creationId xmlns:a16="http://schemas.microsoft.com/office/drawing/2014/main" id="{3A5F393B-B03C-057C-FD7C-012FC2DAF93F}"/>
              </a:ext>
            </a:extLst>
          </p:cNvPr>
          <p:cNvSpPr txBox="1">
            <a:spLocks noChangeArrowheads="1"/>
          </p:cNvSpPr>
          <p:nvPr/>
        </p:nvSpPr>
        <p:spPr bwMode="auto">
          <a:xfrm>
            <a:off x="7565874" y="4983424"/>
            <a:ext cx="4393619" cy="1818959"/>
          </a:xfrm>
          <a:prstGeom prst="rect">
            <a:avLst/>
          </a:prstGeom>
          <a:solidFill>
            <a:schemeClr val="accent4">
              <a:lumMod val="20000"/>
              <a:lumOff val="80000"/>
            </a:schemeClr>
          </a:solidFill>
        </p:spPr>
        <p:txBody>
          <a:bodyPr wrap="square">
            <a:spAutoFit/>
          </a:bodyPr>
          <a:lstStyle>
            <a:defPPr>
              <a:defRPr lang="en-US"/>
            </a:defPPr>
            <a:lvl1pPr>
              <a:lnSpc>
                <a:spcPct val="85000"/>
              </a:lnSpc>
              <a:defRPr sz="2200" spc="-100">
                <a:solidFill>
                  <a:srgbClr val="104E87"/>
                </a:solidFill>
                <a:latin typeface="Comic Sans MS" panose="030F0702030302020204" pitchFamily="66" charset="0"/>
              </a:defRPr>
            </a:lvl1pPr>
          </a:lstStyle>
          <a:p>
            <a:r>
              <a:rPr lang="en-US" altLang="zh-CN" dirty="0"/>
              <a:t>COMPLEX COMPLEX::operator - ( )</a:t>
            </a:r>
          </a:p>
          <a:p>
            <a:r>
              <a:rPr lang="en-US" altLang="zh-CN" dirty="0"/>
              <a:t>{	COMPLEX temp;</a:t>
            </a:r>
          </a:p>
          <a:p>
            <a:r>
              <a:rPr lang="en-US" altLang="zh-CN" dirty="0"/>
              <a:t>	</a:t>
            </a:r>
            <a:r>
              <a:rPr lang="en-US" altLang="zh-CN" dirty="0" err="1"/>
              <a:t>temp.real</a:t>
            </a:r>
            <a:r>
              <a:rPr lang="en-US" altLang="zh-CN" dirty="0"/>
              <a:t>=-real;</a:t>
            </a:r>
          </a:p>
          <a:p>
            <a:r>
              <a:rPr lang="en-US" altLang="zh-CN" dirty="0"/>
              <a:t>	</a:t>
            </a:r>
            <a:r>
              <a:rPr lang="en-US" altLang="zh-CN" dirty="0" err="1"/>
              <a:t>temp.image</a:t>
            </a:r>
            <a:r>
              <a:rPr lang="en-US" altLang="zh-CN" dirty="0"/>
              <a:t>=-image;</a:t>
            </a:r>
          </a:p>
          <a:p>
            <a:r>
              <a:rPr lang="en-US" altLang="zh-CN" dirty="0"/>
              <a:t>	return temp;</a:t>
            </a:r>
          </a:p>
          <a:p>
            <a:r>
              <a:rPr lang="en-US" altLang="zh-CN" dirty="0"/>
              <a:t>}</a:t>
            </a:r>
          </a:p>
        </p:txBody>
      </p:sp>
      <p:sp>
        <p:nvSpPr>
          <p:cNvPr id="2" name="文本框 1">
            <a:extLst>
              <a:ext uri="{FF2B5EF4-FFF2-40B4-BE49-F238E27FC236}">
                <a16:creationId xmlns:a16="http://schemas.microsoft.com/office/drawing/2014/main" id="{85F391D5-0ADF-86CB-F3D1-79121923D8A7}"/>
              </a:ext>
            </a:extLst>
          </p:cNvPr>
          <p:cNvSpPr txBox="1"/>
          <p:nvPr/>
        </p:nvSpPr>
        <p:spPr>
          <a:xfrm>
            <a:off x="4838700" y="2609164"/>
            <a:ext cx="7505700" cy="1938992"/>
          </a:xfrm>
          <a:prstGeom prst="rect">
            <a:avLst/>
          </a:prstGeom>
          <a:solidFill>
            <a:schemeClr val="accent4">
              <a:lumMod val="20000"/>
              <a:lumOff val="80000"/>
            </a:schemeClr>
          </a:solidFill>
        </p:spPr>
        <p:txBody>
          <a:bodyPr wrap="square">
            <a:spAutoFit/>
          </a:bodyPr>
          <a:lstStyle>
            <a:defPPr>
              <a:defRPr lang="en-US"/>
            </a:defPPr>
            <a:lvl1pPr>
              <a:lnSpc>
                <a:spcPct val="85000"/>
              </a:lnSpc>
              <a:defRPr sz="2200" spc="-100">
                <a:solidFill>
                  <a:srgbClr val="104E87"/>
                </a:solidFill>
                <a:latin typeface="Comic Sans MS" panose="030F0702030302020204" pitchFamily="66" charset="0"/>
              </a:defRPr>
            </a:lvl1pPr>
          </a:lstStyle>
          <a:p>
            <a:r>
              <a:rPr lang="en-US" altLang="zh-CN" dirty="0"/>
              <a:t>COMPLEX&amp;  COMPLEX::operator=(const COMPLEX&amp; other)</a:t>
            </a:r>
          </a:p>
          <a:p>
            <a:r>
              <a:rPr lang="en-US" altLang="zh-CN" dirty="0"/>
              <a:t>{	real=</a:t>
            </a:r>
            <a:r>
              <a:rPr lang="en-US" altLang="zh-CN" dirty="0" err="1"/>
              <a:t>other.real</a:t>
            </a:r>
            <a:r>
              <a:rPr lang="en-US" altLang="zh-CN" dirty="0"/>
              <a:t>;</a:t>
            </a:r>
          </a:p>
          <a:p>
            <a:r>
              <a:rPr lang="en-US" altLang="zh-CN" dirty="0"/>
              <a:t>	image=</a:t>
            </a:r>
            <a:r>
              <a:rPr lang="en-US" altLang="zh-CN" dirty="0" err="1"/>
              <a:t>other.image</a:t>
            </a:r>
            <a:r>
              <a:rPr lang="en-US" altLang="zh-CN" dirty="0"/>
              <a:t>;</a:t>
            </a:r>
          </a:p>
          <a:p>
            <a:r>
              <a:rPr lang="en-US" altLang="zh-CN" dirty="0"/>
              <a:t>	return *this;</a:t>
            </a:r>
          </a:p>
          <a:p>
            <a:r>
              <a:rPr lang="en-US" altLang="zh-CN" dirty="0"/>
              <a:t>}</a:t>
            </a:r>
            <a:endParaRPr lang="zh-CN" altLang="en-US" dirty="0"/>
          </a:p>
        </p:txBody>
      </p:sp>
    </p:spTree>
    <p:extLst>
      <p:ext uri="{BB962C8B-B14F-4D97-AF65-F5344CB8AC3E}">
        <p14:creationId xmlns:p14="http://schemas.microsoft.com/office/powerpoint/2010/main" val="569287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8DF682E9-544E-432D-B637-1D4784D75CEB}"/>
              </a:ext>
            </a:extLst>
          </p:cNvPr>
          <p:cNvSpPr txBox="1">
            <a:spLocks noChangeArrowheads="1"/>
          </p:cNvSpPr>
          <p:nvPr/>
        </p:nvSpPr>
        <p:spPr bwMode="auto">
          <a:xfrm>
            <a:off x="8140700" y="234442"/>
            <a:ext cx="3850557" cy="5556738"/>
          </a:xfrm>
          <a:prstGeom prst="rect">
            <a:avLst/>
          </a:prstGeom>
          <a:no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spc="-100">
                <a:solidFill>
                  <a:srgbClr val="104E87"/>
                </a:solidFill>
                <a:latin typeface="Comic Sans MS" panose="030F0702030302020204" pitchFamily="66" charset="0"/>
                <a:ea typeface="Cambria Math" pitchFamily="18" charset="0"/>
                <a:cs typeface="Tahoma" pitchFamily="34" charset="0"/>
              </a:defRPr>
            </a:lvl1pPr>
          </a:lstStyle>
          <a:p>
            <a:r>
              <a:rPr lang="en-US" altLang="zh-CN" dirty="0"/>
              <a:t>int main()</a:t>
            </a:r>
          </a:p>
          <a:p>
            <a:r>
              <a:rPr lang="en-US" altLang="zh-CN" dirty="0"/>
              <a:t>{	COMPLEX c1(1, 2);  </a:t>
            </a:r>
          </a:p>
          <a:p>
            <a:r>
              <a:rPr lang="en-US" altLang="zh-CN" dirty="0"/>
              <a:t>	COMPLEX c2(2);	</a:t>
            </a:r>
          </a:p>
          <a:p>
            <a:r>
              <a:rPr lang="en-US" altLang="zh-CN" dirty="0"/>
              <a:t>	COMPLEX c3(c1);	</a:t>
            </a:r>
          </a:p>
          <a:p>
            <a:r>
              <a:rPr lang="en-US" altLang="zh-CN" dirty="0"/>
              <a:t>	c1.print();</a:t>
            </a:r>
          </a:p>
          <a:p>
            <a:r>
              <a:rPr lang="en-US" altLang="zh-CN" dirty="0"/>
              <a:t>	c2.print(); </a:t>
            </a:r>
            <a:r>
              <a:rPr lang="zh-CN" altLang="en-US" dirty="0"/>
              <a:t>			</a:t>
            </a:r>
          </a:p>
          <a:p>
            <a:r>
              <a:rPr lang="zh-CN" altLang="en-US" dirty="0"/>
              <a:t>	</a:t>
            </a:r>
            <a:r>
              <a:rPr lang="en-US" altLang="zh-CN" dirty="0"/>
              <a:t>c3.print();			</a:t>
            </a:r>
            <a:endParaRPr lang="zh-CN" altLang="en-US" dirty="0"/>
          </a:p>
          <a:p>
            <a:r>
              <a:rPr lang="zh-CN" altLang="en-US" dirty="0"/>
              <a:t>	</a:t>
            </a:r>
            <a:r>
              <a:rPr lang="en-US" altLang="zh-CN" dirty="0"/>
              <a:t>c1 = c1 + c2 + c3;		</a:t>
            </a:r>
          </a:p>
          <a:p>
            <a:r>
              <a:rPr lang="en-US" altLang="zh-CN" dirty="0"/>
              <a:t>	c2 = -c3;		</a:t>
            </a:r>
            <a:endParaRPr lang="zh-CN" altLang="en-US" dirty="0"/>
          </a:p>
          <a:p>
            <a:r>
              <a:rPr lang="zh-CN" altLang="en-US" dirty="0"/>
              <a:t>	</a:t>
            </a:r>
            <a:r>
              <a:rPr lang="en-US" altLang="zh-CN" dirty="0"/>
              <a:t>c3 = c2 - c1;	</a:t>
            </a:r>
          </a:p>
          <a:p>
            <a:r>
              <a:rPr lang="en-US" altLang="zh-CN" dirty="0"/>
              <a:t>	c1.print();</a:t>
            </a:r>
          </a:p>
          <a:p>
            <a:r>
              <a:rPr lang="en-US" altLang="zh-CN" dirty="0"/>
              <a:t>	c2.print(); </a:t>
            </a:r>
            <a:r>
              <a:rPr lang="zh-CN" altLang="en-US" dirty="0"/>
              <a:t>			</a:t>
            </a:r>
          </a:p>
          <a:p>
            <a:r>
              <a:rPr lang="zh-CN" altLang="en-US" dirty="0"/>
              <a:t>	</a:t>
            </a:r>
            <a:r>
              <a:rPr lang="en-US" altLang="zh-CN" dirty="0"/>
              <a:t>c3.print(); 	</a:t>
            </a:r>
            <a:endParaRPr lang="zh-CN" altLang="en-US" dirty="0"/>
          </a:p>
          <a:p>
            <a:r>
              <a:rPr lang="zh-CN" altLang="en-US" dirty="0"/>
              <a:t>	</a:t>
            </a:r>
            <a:r>
              <a:rPr lang="en-US" altLang="zh-CN" dirty="0"/>
              <a:t>return 0;</a:t>
            </a:r>
          </a:p>
          <a:p>
            <a:r>
              <a:rPr lang="en-US" altLang="zh-CN" dirty="0"/>
              <a:t>} </a:t>
            </a:r>
          </a:p>
        </p:txBody>
      </p:sp>
      <p:sp>
        <p:nvSpPr>
          <p:cNvPr id="4" name="文本框 3">
            <a:extLst>
              <a:ext uri="{FF2B5EF4-FFF2-40B4-BE49-F238E27FC236}">
                <a16:creationId xmlns:a16="http://schemas.microsoft.com/office/drawing/2014/main" id="{ED039A2C-C80A-7E4A-8E57-EDD2819827EC}"/>
              </a:ext>
            </a:extLst>
          </p:cNvPr>
          <p:cNvSpPr txBox="1"/>
          <p:nvPr/>
        </p:nvSpPr>
        <p:spPr>
          <a:xfrm>
            <a:off x="0" y="12680"/>
            <a:ext cx="7950200" cy="1531188"/>
          </a:xfrm>
          <a:prstGeom prst="rect">
            <a:avLst/>
          </a:prstGeom>
          <a:solidFill>
            <a:schemeClr val="accent4">
              <a:lumMod val="20000"/>
              <a:lumOff val="80000"/>
            </a:schemeClr>
          </a:solidFill>
        </p:spPr>
        <p:txBody>
          <a:bodyPr wrap="square">
            <a:spAutoFit/>
          </a:bodyPr>
          <a:lstStyle>
            <a:defPPr>
              <a:defRPr lang="en-US"/>
            </a:defPPr>
            <a:lvl1pPr>
              <a:lnSpc>
                <a:spcPct val="85000"/>
              </a:lnSpc>
              <a:defRPr sz="2200" spc="-100">
                <a:solidFill>
                  <a:srgbClr val="104E87"/>
                </a:solidFill>
                <a:latin typeface="Comic Sans MS" panose="030F0702030302020204" pitchFamily="66" charset="0"/>
              </a:defRPr>
            </a:lvl1pPr>
          </a:lstStyle>
          <a:p>
            <a:r>
              <a:rPr lang="zh-CN" altLang="en-US" dirty="0"/>
              <a:t>bool  COMPLEX::operator==(const COMPLEX&amp; other)</a:t>
            </a:r>
            <a:endParaRPr lang="en-US" altLang="zh-CN" dirty="0"/>
          </a:p>
          <a:p>
            <a:r>
              <a:rPr lang="zh-CN" altLang="en-US" dirty="0"/>
              <a:t>{return ((this-&gt;real==other.real) &amp;&amp; (this-&gt;image==other.image));}</a:t>
            </a:r>
            <a:endParaRPr lang="en-US" altLang="zh-CN" dirty="0"/>
          </a:p>
          <a:p>
            <a:endParaRPr lang="zh-CN" altLang="en-US" dirty="0"/>
          </a:p>
          <a:p>
            <a:r>
              <a:rPr lang="zh-CN" altLang="en-US" dirty="0"/>
              <a:t>bool  COMPLEX::operator!=(const COMPLEX&amp; other)</a:t>
            </a:r>
            <a:endParaRPr lang="en-US" altLang="zh-CN" dirty="0"/>
          </a:p>
          <a:p>
            <a:r>
              <a:rPr lang="zh-CN" altLang="en-US" dirty="0"/>
              <a:t>{return !(*this==other);}</a:t>
            </a:r>
          </a:p>
        </p:txBody>
      </p:sp>
      <p:sp>
        <p:nvSpPr>
          <p:cNvPr id="6" name="文本框 5">
            <a:extLst>
              <a:ext uri="{FF2B5EF4-FFF2-40B4-BE49-F238E27FC236}">
                <a16:creationId xmlns:a16="http://schemas.microsoft.com/office/drawing/2014/main" id="{0D8FDA8C-DA47-CADC-57AA-F268A738B922}"/>
              </a:ext>
            </a:extLst>
          </p:cNvPr>
          <p:cNvSpPr txBox="1"/>
          <p:nvPr/>
        </p:nvSpPr>
        <p:spPr>
          <a:xfrm>
            <a:off x="0" y="1723579"/>
            <a:ext cx="7950200" cy="4121128"/>
          </a:xfrm>
          <a:prstGeom prst="rect">
            <a:avLst/>
          </a:prstGeom>
          <a:solidFill>
            <a:schemeClr val="accent4">
              <a:lumMod val="20000"/>
              <a:lumOff val="80000"/>
            </a:schemeClr>
          </a:solidFill>
        </p:spPr>
        <p:txBody>
          <a:bodyPr wrap="square">
            <a:spAutoFit/>
          </a:bodyPr>
          <a:lstStyle>
            <a:defPPr>
              <a:defRPr lang="en-US"/>
            </a:defPPr>
            <a:lvl1pPr>
              <a:lnSpc>
                <a:spcPct val="85000"/>
              </a:lnSpc>
              <a:defRPr sz="2200" spc="-100">
                <a:solidFill>
                  <a:srgbClr val="104E87"/>
                </a:solidFill>
                <a:latin typeface="Comic Sans MS" panose="030F0702030302020204" pitchFamily="66" charset="0"/>
              </a:defRPr>
            </a:lvl1pPr>
          </a:lstStyle>
          <a:p>
            <a:r>
              <a:rPr lang="zh-CN" altLang="en-US" dirty="0"/>
              <a:t>void COMPLEX::print()</a:t>
            </a:r>
          </a:p>
          <a:p>
            <a:r>
              <a:rPr lang="zh-CN" altLang="en-US" dirty="0"/>
              <a:t>{	if(real!=0) cout &lt;&lt; real;</a:t>
            </a:r>
          </a:p>
          <a:p>
            <a:r>
              <a:rPr lang="zh-CN" altLang="en-US" dirty="0"/>
              <a:t>	else if(image==0) { cout&lt;&lt;0&lt;&lt;'\n'; return; }</a:t>
            </a:r>
            <a:endParaRPr lang="en-US" altLang="zh-CN" dirty="0"/>
          </a:p>
          <a:p>
            <a:endParaRPr lang="zh-CN" altLang="en-US" dirty="0"/>
          </a:p>
          <a:p>
            <a:r>
              <a:rPr lang="zh-CN" altLang="en-US" dirty="0"/>
              <a:t>	if (image &gt; 0) </a:t>
            </a:r>
          </a:p>
          <a:p>
            <a:r>
              <a:rPr lang="zh-CN" altLang="en-US" dirty="0"/>
              <a:t>	{	if(image!=1) cout &lt;&lt; "+" &lt;&lt; image &lt;&lt; "i";</a:t>
            </a:r>
          </a:p>
          <a:p>
            <a:r>
              <a:rPr lang="zh-CN" altLang="en-US" dirty="0"/>
              <a:t>		else cout &lt;&lt; "+" &lt;&lt; "i";</a:t>
            </a:r>
          </a:p>
          <a:p>
            <a:r>
              <a:rPr lang="zh-CN" altLang="en-US" dirty="0"/>
              <a:t>	}</a:t>
            </a:r>
          </a:p>
          <a:p>
            <a:r>
              <a:rPr lang="zh-CN" altLang="en-US" dirty="0"/>
              <a:t>	else if (image &lt; 0) </a:t>
            </a:r>
          </a:p>
          <a:p>
            <a:r>
              <a:rPr lang="zh-CN" altLang="en-US" dirty="0"/>
              <a:t>	{	if(image!=-1) cout &lt;&lt; image &lt;&lt; "i";</a:t>
            </a:r>
          </a:p>
          <a:p>
            <a:r>
              <a:rPr lang="zh-CN" altLang="en-US" dirty="0"/>
              <a:t>		else cout &lt;&lt; "-" &lt;&lt; "i";</a:t>
            </a:r>
          </a:p>
          <a:p>
            <a:r>
              <a:rPr lang="zh-CN" altLang="en-US" dirty="0"/>
              <a:t>	}</a:t>
            </a:r>
          </a:p>
          <a:p>
            <a:r>
              <a:rPr lang="zh-CN" altLang="en-US" dirty="0"/>
              <a:t>	cout &lt;&lt; "\n";</a:t>
            </a:r>
          </a:p>
          <a:p>
            <a:r>
              <a:rPr lang="zh-CN" altLang="en-US" dirty="0"/>
              <a:t>}</a:t>
            </a:r>
          </a:p>
        </p:txBody>
      </p:sp>
    </p:spTree>
    <p:extLst>
      <p:ext uri="{BB962C8B-B14F-4D97-AF65-F5344CB8AC3E}">
        <p14:creationId xmlns:p14="http://schemas.microsoft.com/office/powerpoint/2010/main" val="1769387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B0B0-47B1-5D4F-D187-48D7422C47C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BF57B2D-7A43-5E53-CA50-F3E063AA731D}"/>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17" name="文本框 16">
            <a:extLst>
              <a:ext uri="{FF2B5EF4-FFF2-40B4-BE49-F238E27FC236}">
                <a16:creationId xmlns:a16="http://schemas.microsoft.com/office/drawing/2014/main" id="{B4BF8674-0449-0A14-EDBB-2EFF9AA45E02}"/>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赋值运算符重载</a:t>
            </a:r>
            <a:r>
              <a:rPr lang="en-US" altLang="zh-CN" sz="3200" dirty="0">
                <a:solidFill>
                  <a:srgbClr val="FF0000"/>
                </a:solidFill>
              </a:rPr>
              <a:t>operator=</a:t>
            </a:r>
            <a:endParaRPr lang="zh-CN" altLang="en-US" dirty="0">
              <a:solidFill>
                <a:srgbClr val="FF0000"/>
              </a:solidFill>
              <a:sym typeface="+mn-lt"/>
            </a:endParaRPr>
          </a:p>
        </p:txBody>
      </p:sp>
      <p:sp>
        <p:nvSpPr>
          <p:cNvPr id="15" name="文本框 14">
            <a:extLst>
              <a:ext uri="{FF2B5EF4-FFF2-40B4-BE49-F238E27FC236}">
                <a16:creationId xmlns:a16="http://schemas.microsoft.com/office/drawing/2014/main" id="{7A38347E-2854-8165-8447-E42F37724529}"/>
              </a:ext>
            </a:extLst>
          </p:cNvPr>
          <p:cNvSpPr txBox="1"/>
          <p:nvPr/>
        </p:nvSpPr>
        <p:spPr>
          <a:xfrm>
            <a:off x="794" y="1770545"/>
            <a:ext cx="7794626" cy="1437012"/>
          </a:xfrm>
          <a:prstGeom prst="rect">
            <a:avLst/>
          </a:prstGeom>
          <a:no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spc="-100">
                <a:solidFill>
                  <a:srgbClr val="104E87"/>
                </a:solidFill>
                <a:latin typeface="Comic Sans MS" panose="030F0702030302020204" pitchFamily="66" charset="0"/>
                <a:ea typeface="Cambria Math" pitchFamily="18" charset="0"/>
                <a:cs typeface="Tahoma" pitchFamily="34" charset="0"/>
              </a:defRPr>
            </a:lvl1pPr>
          </a:lstStyle>
          <a:p>
            <a:r>
              <a:rPr lang="zh-CN" altLang="en-US" dirty="0"/>
              <a:t>COMPLEX  COMPLEX::operator=(const COMPLEX&amp; other)</a:t>
            </a:r>
          </a:p>
          <a:p>
            <a:r>
              <a:rPr lang="zh-CN" altLang="en-US" dirty="0"/>
              <a:t>{	real=other.real;   image=other.image;</a:t>
            </a:r>
          </a:p>
          <a:p>
            <a:r>
              <a:rPr lang="zh-CN" altLang="en-US" dirty="0"/>
              <a:t>	return *this;</a:t>
            </a:r>
          </a:p>
          <a:p>
            <a:r>
              <a:rPr lang="zh-CN" altLang="en-US" dirty="0"/>
              <a:t>}</a:t>
            </a:r>
          </a:p>
        </p:txBody>
      </p:sp>
      <p:sp>
        <p:nvSpPr>
          <p:cNvPr id="11" name="文本框 10">
            <a:extLst>
              <a:ext uri="{FF2B5EF4-FFF2-40B4-BE49-F238E27FC236}">
                <a16:creationId xmlns:a16="http://schemas.microsoft.com/office/drawing/2014/main" id="{CFE956D6-9BF4-E829-3075-A1F4C85D915A}"/>
              </a:ext>
            </a:extLst>
          </p:cNvPr>
          <p:cNvSpPr txBox="1"/>
          <p:nvPr/>
        </p:nvSpPr>
        <p:spPr>
          <a:xfrm>
            <a:off x="519881" y="3016160"/>
            <a:ext cx="6756452" cy="2976825"/>
          </a:xfrm>
          <a:prstGeom prst="rect">
            <a:avLst/>
          </a:prstGeom>
          <a:solidFill>
            <a:schemeClr val="accent3">
              <a:lumMod val="40000"/>
              <a:lumOff val="60000"/>
            </a:schemeClr>
          </a:solid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spc="-100">
                <a:solidFill>
                  <a:srgbClr val="104E87"/>
                </a:solidFill>
                <a:latin typeface="Comic Sans MS" panose="030F0702030302020204" pitchFamily="66" charset="0"/>
                <a:ea typeface="Cambria Math" pitchFamily="18" charset="0"/>
                <a:cs typeface="Tahoma" pitchFamily="34" charset="0"/>
              </a:defRPr>
            </a:lvl1pPr>
          </a:lstStyle>
          <a:p>
            <a:r>
              <a:rPr lang="zh-CN" altLang="en-US" dirty="0"/>
              <a:t>class COMPLEX {</a:t>
            </a:r>
            <a:endParaRPr lang="en-US" altLang="zh-CN" dirty="0"/>
          </a:p>
          <a:p>
            <a:r>
              <a:rPr lang="zh-CN" altLang="en-US" dirty="0"/>
              <a:t>double real, image;	</a:t>
            </a:r>
          </a:p>
          <a:p>
            <a:r>
              <a:rPr lang="zh-CN" altLang="en-US" dirty="0"/>
              <a:t>public:	</a:t>
            </a:r>
          </a:p>
          <a:p>
            <a:r>
              <a:rPr lang="zh-CN" altLang="en-US" dirty="0"/>
              <a:t>COMPLEX(double r = 0, double i = 0);	</a:t>
            </a:r>
          </a:p>
          <a:p>
            <a:r>
              <a:rPr lang="zh-CN" altLang="en-US" dirty="0"/>
              <a:t>COMPLEX(const COMPLEX&amp; other);</a:t>
            </a:r>
          </a:p>
          <a:p>
            <a:r>
              <a:rPr lang="zh-CN" altLang="en-US" b="1" dirty="0">
                <a:solidFill>
                  <a:srgbClr val="FF0000"/>
                </a:solidFill>
              </a:rPr>
              <a:t>COMPLEX&amp; operator=(const COMPLEX&amp; other);</a:t>
            </a:r>
          </a:p>
          <a:p>
            <a:r>
              <a:rPr lang="zh-CN" altLang="en-US" dirty="0"/>
              <a:t>void print();</a:t>
            </a:r>
          </a:p>
          <a:p>
            <a:r>
              <a:rPr lang="zh-CN" altLang="en-US" dirty="0"/>
              <a:t>}; </a:t>
            </a:r>
          </a:p>
        </p:txBody>
      </p:sp>
      <p:sp>
        <p:nvSpPr>
          <p:cNvPr id="13" name="文本框 12">
            <a:extLst>
              <a:ext uri="{FF2B5EF4-FFF2-40B4-BE49-F238E27FC236}">
                <a16:creationId xmlns:a16="http://schemas.microsoft.com/office/drawing/2014/main" id="{ECB8AB2B-6578-DD1B-47AF-EB1EBB7F9A2D}"/>
              </a:ext>
            </a:extLst>
          </p:cNvPr>
          <p:cNvSpPr txBox="1"/>
          <p:nvPr/>
        </p:nvSpPr>
        <p:spPr>
          <a:xfrm>
            <a:off x="33268" y="903570"/>
            <a:ext cx="8354166" cy="770218"/>
          </a:xfrm>
          <a:prstGeom prst="rect">
            <a:avLst/>
          </a:prstGeom>
          <a:no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spc="-100">
                <a:solidFill>
                  <a:srgbClr val="104E87"/>
                </a:solidFill>
                <a:latin typeface="Comic Sans MS" panose="030F0702030302020204" pitchFamily="66" charset="0"/>
                <a:ea typeface="Cambria Math" pitchFamily="18" charset="0"/>
                <a:cs typeface="Tahoma" pitchFamily="34" charset="0"/>
              </a:defRPr>
            </a:lvl1pPr>
          </a:lstStyle>
          <a:p>
            <a:r>
              <a:rPr lang="en-US" altLang="zh-CN" dirty="0"/>
              <a:t>Void </a:t>
            </a:r>
            <a:r>
              <a:rPr lang="zh-CN" altLang="en-US" dirty="0"/>
              <a:t>COMPLEX::operator=(const COMPLEX&amp; other)</a:t>
            </a:r>
          </a:p>
          <a:p>
            <a:r>
              <a:rPr lang="zh-CN" altLang="en-US" dirty="0"/>
              <a:t>{	real=other.real; image=other.image; }</a:t>
            </a:r>
          </a:p>
        </p:txBody>
      </p:sp>
      <p:sp>
        <p:nvSpPr>
          <p:cNvPr id="3" name="文本框 2">
            <a:extLst>
              <a:ext uri="{FF2B5EF4-FFF2-40B4-BE49-F238E27FC236}">
                <a16:creationId xmlns:a16="http://schemas.microsoft.com/office/drawing/2014/main" id="{9CB0D382-E7A8-E1CB-FEE1-B457B597D2C5}"/>
              </a:ext>
            </a:extLst>
          </p:cNvPr>
          <p:cNvSpPr txBox="1"/>
          <p:nvPr/>
        </p:nvSpPr>
        <p:spPr>
          <a:xfrm>
            <a:off x="5546000" y="2196249"/>
            <a:ext cx="5299800" cy="2308324"/>
          </a:xfrm>
          <a:prstGeom prst="rect">
            <a:avLst/>
          </a:prstGeom>
          <a:solidFill>
            <a:srgbClr val="FFC000"/>
          </a:solidFill>
          <a:ln>
            <a:noFill/>
          </a:ln>
        </p:spPr>
        <p:txBody>
          <a:bodyPr wrap="square">
            <a:spAutoFit/>
          </a:bodyPr>
          <a:lstStyle>
            <a:defPPr>
              <a:defRPr lang="en-US"/>
            </a:defPPr>
            <a:lvl1pPr marL="342900" indent="-342900" defTabSz="622300">
              <a:spcBef>
                <a:spcPct val="50000"/>
              </a:spcBef>
              <a:buClrTx/>
              <a:buSzTx/>
              <a:buFont typeface="Wingdings" pitchFamily="2" charset="2"/>
              <a:buBlip>
                <a:blip r:embed="rId3"/>
              </a:buBlip>
              <a:defRPr>
                <a:solidFill>
                  <a:srgbClr val="134F85"/>
                </a:solidFill>
                <a:latin typeface="华光行书_CNKI" panose="02000500000000000000" pitchFamily="2" charset="-122"/>
                <a:ea typeface="华光行书_CNKI" panose="02000500000000000000" pitchFamily="2"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marL="0" indent="0">
              <a:spcBef>
                <a:spcPts val="0"/>
              </a:spcBef>
              <a:buNone/>
            </a:pPr>
            <a:r>
              <a:rPr lang="zh-CN" altLang="en-US" b="1" dirty="0"/>
              <a:t>赋值运算符重载格式：</a:t>
            </a:r>
          </a:p>
          <a:p>
            <a:pPr>
              <a:spcBef>
                <a:spcPts val="0"/>
              </a:spcBef>
            </a:pPr>
            <a:r>
              <a:rPr lang="zh-CN" altLang="en-US" b="1" dirty="0"/>
              <a:t>参数类型</a:t>
            </a:r>
            <a:r>
              <a:rPr lang="en-US" altLang="zh-CN" b="1" dirty="0"/>
              <a:t>—</a:t>
            </a:r>
            <a:r>
              <a:rPr lang="zh-CN" altLang="en-US" dirty="0"/>
              <a:t>类类型的引用</a:t>
            </a:r>
          </a:p>
          <a:p>
            <a:pPr>
              <a:spcBef>
                <a:spcPts val="0"/>
              </a:spcBef>
            </a:pPr>
            <a:r>
              <a:rPr lang="zh-CN" altLang="en-US" b="1" dirty="0"/>
              <a:t>返回值</a:t>
            </a:r>
            <a:endParaRPr lang="en-US" altLang="zh-CN" b="1" dirty="0"/>
          </a:p>
          <a:p>
            <a:pPr marL="0" indent="0">
              <a:spcBef>
                <a:spcPts val="0"/>
              </a:spcBef>
              <a:buNone/>
            </a:pPr>
            <a:r>
              <a:rPr lang="en-US" altLang="zh-CN" dirty="0"/>
              <a:t>  </a:t>
            </a:r>
            <a:r>
              <a:rPr lang="zh-CN" altLang="en-US" dirty="0"/>
              <a:t>无返回</a:t>
            </a:r>
            <a:r>
              <a:rPr lang="en-US" altLang="zh-CN" dirty="0"/>
              <a:t>:</a:t>
            </a:r>
            <a:r>
              <a:rPr lang="zh-CN" altLang="en-US" dirty="0">
                <a:solidFill>
                  <a:srgbClr val="FF0000"/>
                </a:solidFill>
              </a:rPr>
              <a:t>不能连续赋值</a:t>
            </a:r>
            <a:endParaRPr lang="en-US" altLang="zh-CN" dirty="0">
              <a:solidFill>
                <a:srgbClr val="FF0000"/>
              </a:solidFill>
            </a:endParaRPr>
          </a:p>
          <a:p>
            <a:pPr marL="0" indent="0">
              <a:spcBef>
                <a:spcPts val="0"/>
              </a:spcBef>
              <a:buNone/>
            </a:pPr>
            <a:r>
              <a:rPr lang="en-US" altLang="zh-CN" dirty="0"/>
              <a:t>  </a:t>
            </a:r>
            <a:r>
              <a:rPr lang="zh-CN" altLang="en-US" dirty="0"/>
              <a:t>值返回：</a:t>
            </a:r>
            <a:r>
              <a:rPr lang="zh-CN" altLang="en-US" dirty="0">
                <a:solidFill>
                  <a:srgbClr val="FF0000"/>
                </a:solidFill>
              </a:rPr>
              <a:t>效率低</a:t>
            </a:r>
            <a:r>
              <a:rPr lang="en-US" altLang="zh-CN" dirty="0">
                <a:solidFill>
                  <a:srgbClr val="FF0000"/>
                </a:solidFill>
              </a:rPr>
              <a:t>(</a:t>
            </a:r>
            <a:r>
              <a:rPr lang="zh-CN" altLang="en-US" dirty="0">
                <a:solidFill>
                  <a:srgbClr val="FF0000"/>
                </a:solidFill>
              </a:rPr>
              <a:t>调用拷贝构造函数</a:t>
            </a:r>
            <a:r>
              <a:rPr lang="en-US" altLang="zh-CN" dirty="0">
                <a:solidFill>
                  <a:srgbClr val="FF0000"/>
                </a:solidFill>
              </a:rPr>
              <a:t>)</a:t>
            </a:r>
          </a:p>
          <a:p>
            <a:pPr marL="0" indent="0">
              <a:spcBef>
                <a:spcPts val="0"/>
              </a:spcBef>
              <a:buNone/>
            </a:pPr>
            <a:r>
              <a:rPr lang="zh-CN" altLang="en-US" dirty="0"/>
              <a:t>  引用返回：</a:t>
            </a:r>
            <a:r>
              <a:rPr lang="zh-CN" altLang="en-US" dirty="0">
                <a:solidFill>
                  <a:srgbClr val="FF0000"/>
                </a:solidFill>
              </a:rPr>
              <a:t>效率高</a:t>
            </a:r>
          </a:p>
        </p:txBody>
      </p:sp>
    </p:spTree>
    <p:extLst>
      <p:ext uri="{BB962C8B-B14F-4D97-AF65-F5344CB8AC3E}">
        <p14:creationId xmlns:p14="http://schemas.microsoft.com/office/powerpoint/2010/main" val="153061389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out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16" name="Rectangle 2">
            <a:extLst>
              <a:ext uri="{FF2B5EF4-FFF2-40B4-BE49-F238E27FC236}">
                <a16:creationId xmlns:a16="http://schemas.microsoft.com/office/drawing/2014/main" id="{141B20B3-5525-4B8E-9FE7-7D2D567F3EC4}"/>
              </a:ext>
            </a:extLst>
          </p:cNvPr>
          <p:cNvSpPr txBox="1">
            <a:spLocks noChangeArrowheads="1"/>
          </p:cNvSpPr>
          <p:nvPr/>
        </p:nvSpPr>
        <p:spPr bwMode="auto">
          <a:xfrm>
            <a:off x="121871" y="1029035"/>
            <a:ext cx="11976344" cy="728917"/>
          </a:xfrm>
          <a:prstGeom prst="rect">
            <a:avLst/>
          </a:prstGeom>
          <a:noFill/>
          <a:ln>
            <a:noFill/>
          </a:ln>
        </p:spPr>
        <p:txBody>
          <a:bodyPr wrap="square">
            <a:spAutoFit/>
          </a:bodyPr>
          <a:lstStyle>
            <a:defPPr>
              <a:defRPr lang="en-US"/>
            </a:defPPr>
            <a:lvl1pPr marL="342900" indent="-342900" defTabSz="622300">
              <a:spcBef>
                <a:spcPct val="50000"/>
              </a:spcBef>
              <a:buClrTx/>
              <a:buSzTx/>
              <a:buFont typeface="Wingdings" pitchFamily="2" charset="2"/>
              <a:buBlip>
                <a:blip r:embed="rId3"/>
              </a:buBlip>
              <a:defRPr>
                <a:solidFill>
                  <a:srgbClr val="134F85"/>
                </a:solidFill>
                <a:latin typeface="华光行书_CNKI" panose="02000500000000000000" pitchFamily="2" charset="-122"/>
                <a:ea typeface="华光行书_CNKI" panose="02000500000000000000" pitchFamily="2"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a:spcBef>
                <a:spcPts val="600"/>
              </a:spcBef>
            </a:pPr>
            <a:r>
              <a:rPr lang="zh-CN" altLang="en-US" dirty="0"/>
              <a:t>若用户没有为一个类重载赋值运算符时，编译程序将生成一个缺省的赋值运算符，把源对象逐位地赋值给目标对象</a:t>
            </a:r>
          </a:p>
        </p:txBody>
      </p:sp>
      <p:sp>
        <p:nvSpPr>
          <p:cNvPr id="17" name="文本框 16">
            <a:extLst>
              <a:ext uri="{FF2B5EF4-FFF2-40B4-BE49-F238E27FC236}">
                <a16:creationId xmlns:a16="http://schemas.microsoft.com/office/drawing/2014/main" id="{89EDAEFE-0FD7-43D9-95FB-847E848785BA}"/>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赋值运算符重载</a:t>
            </a:r>
            <a:r>
              <a:rPr lang="en-US" altLang="zh-CN" sz="3200" dirty="0">
                <a:solidFill>
                  <a:srgbClr val="FF0000"/>
                </a:solidFill>
              </a:rPr>
              <a:t>operator=</a:t>
            </a:r>
            <a:endParaRPr lang="zh-CN" altLang="en-US" dirty="0">
              <a:solidFill>
                <a:srgbClr val="FF0000"/>
              </a:solidFill>
              <a:sym typeface="+mn-lt"/>
            </a:endParaRPr>
          </a:p>
        </p:txBody>
      </p:sp>
      <p:sp>
        <p:nvSpPr>
          <p:cNvPr id="2" name="文本框 1">
            <a:extLst>
              <a:ext uri="{FF2B5EF4-FFF2-40B4-BE49-F238E27FC236}">
                <a16:creationId xmlns:a16="http://schemas.microsoft.com/office/drawing/2014/main" id="{C942459E-0F83-F639-D9D2-1D1BB3268927}"/>
              </a:ext>
            </a:extLst>
          </p:cNvPr>
          <p:cNvSpPr txBox="1"/>
          <p:nvPr/>
        </p:nvSpPr>
        <p:spPr>
          <a:xfrm>
            <a:off x="507948" y="2626511"/>
            <a:ext cx="6756452" cy="2976825"/>
          </a:xfrm>
          <a:prstGeom prst="rect">
            <a:avLst/>
          </a:prstGeom>
          <a:no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spc="-100">
                <a:solidFill>
                  <a:srgbClr val="104E87"/>
                </a:solidFill>
                <a:latin typeface="Comic Sans MS" panose="030F0702030302020204" pitchFamily="66" charset="0"/>
                <a:ea typeface="Cambria Math" pitchFamily="18" charset="0"/>
                <a:cs typeface="Tahoma" pitchFamily="34" charset="0"/>
              </a:defRPr>
            </a:lvl1pPr>
          </a:lstStyle>
          <a:p>
            <a:r>
              <a:rPr lang="zh-CN" altLang="en-US" dirty="0"/>
              <a:t>class COMPLEX {</a:t>
            </a:r>
            <a:endParaRPr lang="en-US" altLang="zh-CN" dirty="0"/>
          </a:p>
          <a:p>
            <a:r>
              <a:rPr lang="zh-CN" altLang="en-US" dirty="0"/>
              <a:t>double real, image;	</a:t>
            </a:r>
          </a:p>
          <a:p>
            <a:r>
              <a:rPr lang="zh-CN" altLang="en-US" dirty="0"/>
              <a:t>public:	</a:t>
            </a:r>
          </a:p>
          <a:p>
            <a:r>
              <a:rPr lang="zh-CN" altLang="en-US" dirty="0"/>
              <a:t>COMPLEX(double r = 0, double i = 0);	</a:t>
            </a:r>
          </a:p>
          <a:p>
            <a:r>
              <a:rPr lang="zh-CN" altLang="en-US" dirty="0"/>
              <a:t>COMPLEX(const COMPLEX&amp; other);</a:t>
            </a:r>
          </a:p>
          <a:p>
            <a:r>
              <a:rPr lang="zh-CN" altLang="en-US" dirty="0"/>
              <a:t>void print();</a:t>
            </a:r>
          </a:p>
          <a:p>
            <a:r>
              <a:rPr lang="zh-CN" altLang="en-US" dirty="0"/>
              <a:t>}; </a:t>
            </a:r>
          </a:p>
        </p:txBody>
      </p:sp>
      <p:sp>
        <p:nvSpPr>
          <p:cNvPr id="5" name="文本框 4">
            <a:extLst>
              <a:ext uri="{FF2B5EF4-FFF2-40B4-BE49-F238E27FC236}">
                <a16:creationId xmlns:a16="http://schemas.microsoft.com/office/drawing/2014/main" id="{0700CAD4-AC6A-BD86-7B70-8AD786523409}"/>
              </a:ext>
            </a:extLst>
          </p:cNvPr>
          <p:cNvSpPr txBox="1"/>
          <p:nvPr/>
        </p:nvSpPr>
        <p:spPr>
          <a:xfrm>
            <a:off x="6110043" y="2189708"/>
            <a:ext cx="6096000" cy="4154984"/>
          </a:xfrm>
          <a:prstGeom prst="rect">
            <a:avLst/>
          </a:prstGeom>
          <a:noFill/>
          <a:ln w="9525">
            <a:noFill/>
            <a:miter lim="800000"/>
            <a:headEnd/>
            <a:tailEnd/>
          </a:ln>
        </p:spPr>
        <p:txBody>
          <a:bodyPr/>
          <a:lstStyle>
            <a:defPPr>
              <a:defRPr lang="en-US"/>
            </a:defPPr>
            <a:lvl1pPr marL="469900" indent="-469900">
              <a:lnSpc>
                <a:spcPct val="80000"/>
              </a:lnSpc>
              <a:spcBef>
                <a:spcPct val="20000"/>
              </a:spcBef>
              <a:buClr>
                <a:schemeClr val="bg2"/>
              </a:buClr>
              <a:buSzPct val="70000"/>
              <a:buFont typeface="Wingdings" pitchFamily="2" charset="2"/>
              <a:buNone/>
              <a:defRPr kern="0" spc="-100">
                <a:solidFill>
                  <a:srgbClr val="104E87"/>
                </a:solidFill>
                <a:latin typeface="Comic Sans MS" panose="030F0702030302020204" pitchFamily="66" charset="0"/>
                <a:ea typeface="Cambria Math" pitchFamily="18" charset="0"/>
                <a:cs typeface="Tahoma" pitchFamily="34" charset="0"/>
              </a:defRPr>
            </a:lvl1pPr>
          </a:lstStyle>
          <a:p>
            <a:r>
              <a:rPr lang="zh-CN" altLang="en-US" dirty="0"/>
              <a:t>int main()</a:t>
            </a:r>
          </a:p>
          <a:p>
            <a:r>
              <a:rPr lang="zh-CN" altLang="en-US" dirty="0"/>
              <a:t>{	COMPLEX c1(1, 2);  </a:t>
            </a:r>
          </a:p>
          <a:p>
            <a:r>
              <a:rPr lang="zh-CN" altLang="en-US" dirty="0"/>
              <a:t>	COMPLEX c2(2);	</a:t>
            </a:r>
          </a:p>
          <a:p>
            <a:r>
              <a:rPr lang="zh-CN" altLang="en-US" dirty="0"/>
              <a:t>	COMPLEX c3(c2);					</a:t>
            </a:r>
          </a:p>
          <a:p>
            <a:r>
              <a:rPr lang="zh-CN" altLang="en-US" dirty="0"/>
              <a:t>	c1.print();</a:t>
            </a:r>
          </a:p>
          <a:p>
            <a:r>
              <a:rPr lang="zh-CN" altLang="en-US" dirty="0"/>
              <a:t>	c2.print(); </a:t>
            </a:r>
          </a:p>
          <a:p>
            <a:r>
              <a:rPr lang="zh-CN" altLang="en-US" dirty="0"/>
              <a:t>	</a:t>
            </a:r>
            <a:r>
              <a:rPr lang="zh-CN" altLang="en-US" b="1" dirty="0">
                <a:solidFill>
                  <a:srgbClr val="FF0000"/>
                </a:solidFill>
              </a:rPr>
              <a:t>c3 = c2 = c1;	</a:t>
            </a:r>
            <a:r>
              <a:rPr lang="zh-CN" altLang="en-US" dirty="0"/>
              <a:t>		</a:t>
            </a:r>
          </a:p>
          <a:p>
            <a:r>
              <a:rPr lang="zh-CN" altLang="en-US" dirty="0"/>
              <a:t>	c3.print(); 	</a:t>
            </a:r>
          </a:p>
          <a:p>
            <a:r>
              <a:rPr lang="zh-CN" altLang="en-US" dirty="0"/>
              <a:t>	return 0;</a:t>
            </a:r>
          </a:p>
          <a:p>
            <a:r>
              <a:rPr lang="zh-CN" altLang="en-US" dirty="0"/>
              <a:t>}</a:t>
            </a:r>
          </a:p>
        </p:txBody>
      </p:sp>
    </p:spTree>
    <p:extLst>
      <p:ext uri="{BB962C8B-B14F-4D97-AF65-F5344CB8AC3E}">
        <p14:creationId xmlns:p14="http://schemas.microsoft.com/office/powerpoint/2010/main" val="389489134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AEC0B-90C6-36F8-C63C-D2CA3D8C8B1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32E6CE2-6C90-077B-4947-ABDB322558E7}"/>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16" name="Rectangle 2">
            <a:extLst>
              <a:ext uri="{FF2B5EF4-FFF2-40B4-BE49-F238E27FC236}">
                <a16:creationId xmlns:a16="http://schemas.microsoft.com/office/drawing/2014/main" id="{2F59563C-711C-C7F2-E583-C5CCF346D187}"/>
              </a:ext>
            </a:extLst>
          </p:cNvPr>
          <p:cNvSpPr txBox="1">
            <a:spLocks noChangeArrowheads="1"/>
          </p:cNvSpPr>
          <p:nvPr/>
        </p:nvSpPr>
        <p:spPr bwMode="auto">
          <a:xfrm>
            <a:off x="794" y="839452"/>
            <a:ext cx="11976344" cy="907941"/>
          </a:xfrm>
          <a:prstGeom prst="rect">
            <a:avLst/>
          </a:prstGeom>
          <a:noFill/>
          <a:ln>
            <a:noFill/>
          </a:ln>
        </p:spPr>
        <p:txBody>
          <a:bodyPr wrap="square">
            <a:spAutoFit/>
          </a:bodyPr>
          <a:lstStyle>
            <a:defPPr>
              <a:defRPr lang="en-US"/>
            </a:defPPr>
            <a:lvl1pPr marL="342900" indent="-342900" defTabSz="622300">
              <a:spcBef>
                <a:spcPct val="50000"/>
              </a:spcBef>
              <a:buClrTx/>
              <a:buSzTx/>
              <a:buFont typeface="Wingdings" pitchFamily="2" charset="2"/>
              <a:buBlip>
                <a:blip r:embed="rId3"/>
              </a:buBlip>
              <a:defRPr>
                <a:solidFill>
                  <a:srgbClr val="134F85"/>
                </a:solidFill>
                <a:latin typeface="华光行书_CNKI" panose="02000500000000000000" pitchFamily="2" charset="-122"/>
                <a:ea typeface="华光行书_CNKI" panose="02000500000000000000" pitchFamily="2"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a:spcBef>
                <a:spcPts val="600"/>
              </a:spcBef>
            </a:pPr>
            <a:r>
              <a:rPr lang="zh-CN" altLang="en-US" dirty="0"/>
              <a:t>如果类中未涉及到内存资源管理，可以利用编译器提供的缺省的赋值运算符；</a:t>
            </a:r>
            <a:endParaRPr lang="en-US" altLang="zh-CN" dirty="0"/>
          </a:p>
          <a:p>
            <a:pPr>
              <a:spcBef>
                <a:spcPts val="600"/>
              </a:spcBef>
            </a:pPr>
            <a:r>
              <a:rPr lang="zh-CN" altLang="en-US" b="1" dirty="0">
                <a:solidFill>
                  <a:srgbClr val="FF0000"/>
                </a:solidFill>
              </a:rPr>
              <a:t>一旦涉及到内存资源管理，则必 须要实现</a:t>
            </a:r>
          </a:p>
        </p:txBody>
      </p:sp>
      <p:sp>
        <p:nvSpPr>
          <p:cNvPr id="17" name="文本框 16">
            <a:extLst>
              <a:ext uri="{FF2B5EF4-FFF2-40B4-BE49-F238E27FC236}">
                <a16:creationId xmlns:a16="http://schemas.microsoft.com/office/drawing/2014/main" id="{27C551D6-784A-990B-2C62-85B680E395CC}"/>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赋值运算符重载</a:t>
            </a:r>
            <a:r>
              <a:rPr lang="en-US" altLang="zh-CN" sz="3200" dirty="0">
                <a:solidFill>
                  <a:srgbClr val="FF0000"/>
                </a:solidFill>
              </a:rPr>
              <a:t>operator=</a:t>
            </a:r>
            <a:endParaRPr lang="zh-CN" altLang="en-US" dirty="0">
              <a:solidFill>
                <a:srgbClr val="FF0000"/>
              </a:solidFill>
              <a:sym typeface="+mn-lt"/>
            </a:endParaRPr>
          </a:p>
        </p:txBody>
      </p:sp>
      <p:sp>
        <p:nvSpPr>
          <p:cNvPr id="18" name="Text Box 4">
            <a:extLst>
              <a:ext uri="{FF2B5EF4-FFF2-40B4-BE49-F238E27FC236}">
                <a16:creationId xmlns:a16="http://schemas.microsoft.com/office/drawing/2014/main" id="{9BC30318-FB75-C7E1-22F2-E4BDAC3D1BF4}"/>
              </a:ext>
            </a:extLst>
          </p:cNvPr>
          <p:cNvSpPr txBox="1">
            <a:spLocks noChangeArrowheads="1"/>
          </p:cNvSpPr>
          <p:nvPr/>
        </p:nvSpPr>
        <p:spPr bwMode="auto">
          <a:xfrm>
            <a:off x="132129" y="2400724"/>
            <a:ext cx="4879975" cy="354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kumimoji="1" lang="en-US" altLang="zh-CN" b="0" dirty="0">
                <a:solidFill>
                  <a:srgbClr val="104E87"/>
                </a:solidFill>
                <a:latin typeface="Comic Sans MS" panose="030F0702030302020204" pitchFamily="66" charset="0"/>
              </a:rPr>
              <a:t>class Name {</a:t>
            </a:r>
          </a:p>
          <a:p>
            <a:pPr eaLnBrk="1" hangingPunct="1">
              <a:lnSpc>
                <a:spcPct val="85000"/>
              </a:lnSpc>
            </a:pPr>
            <a:r>
              <a:rPr kumimoji="1" lang="en-US" altLang="zh-CN" b="0" dirty="0">
                <a:solidFill>
                  <a:srgbClr val="104E87"/>
                </a:solidFill>
                <a:latin typeface="Comic Sans MS" panose="030F0702030302020204" pitchFamily="66" charset="0"/>
              </a:rPr>
              <a:t>public:</a:t>
            </a:r>
          </a:p>
          <a:p>
            <a:pPr eaLnBrk="1" hangingPunct="1">
              <a:lnSpc>
                <a:spcPct val="85000"/>
              </a:lnSpc>
            </a:pPr>
            <a:r>
              <a:rPr kumimoji="1" lang="en-US" altLang="zh-CN" b="0" dirty="0">
                <a:solidFill>
                  <a:srgbClr val="104E87"/>
                </a:solidFill>
                <a:latin typeface="Comic Sans MS" panose="030F0702030302020204" pitchFamily="66" charset="0"/>
              </a:rPr>
              <a:t>    Name(){</a:t>
            </a:r>
            <a:r>
              <a:rPr lang="zh-CN" altLang="en-US" b="0" dirty="0">
                <a:solidFill>
                  <a:srgbClr val="104E87"/>
                </a:solidFill>
                <a:latin typeface="Comic Sans MS" panose="030F0702030302020204" pitchFamily="66" charset="0"/>
              </a:rPr>
              <a:t>p=NULL;</a:t>
            </a:r>
            <a:r>
              <a:rPr kumimoji="1" lang="en-US" altLang="zh-CN" b="0" dirty="0">
                <a:solidFill>
                  <a:srgbClr val="104E87"/>
                </a:solidFill>
                <a:latin typeface="Comic Sans MS" panose="030F0702030302020204" pitchFamily="66" charset="0"/>
              </a:rPr>
              <a:t>}</a:t>
            </a:r>
          </a:p>
          <a:p>
            <a:pPr eaLnBrk="1" hangingPunct="1">
              <a:lnSpc>
                <a:spcPct val="85000"/>
              </a:lnSpc>
            </a:pPr>
            <a:r>
              <a:rPr kumimoji="1" lang="en-US" altLang="zh-CN" b="0" dirty="0">
                <a:solidFill>
                  <a:srgbClr val="104E87"/>
                </a:solidFill>
                <a:latin typeface="Comic Sans MS" panose="030F0702030302020204" pitchFamily="66" charset="0"/>
              </a:rPr>
              <a:t>    Name(char *s);</a:t>
            </a:r>
          </a:p>
          <a:p>
            <a:pPr eaLnBrk="1" hangingPunct="1">
              <a:lnSpc>
                <a:spcPct val="85000"/>
              </a:lnSpc>
              <a:buFont typeface="Wingdings" panose="05000000000000000000" pitchFamily="2" charset="2"/>
              <a:buNone/>
            </a:pPr>
            <a:r>
              <a:rPr lang="en-US" altLang="zh-CN" b="0" dirty="0">
                <a:solidFill>
                  <a:schemeClr val="folHlink"/>
                </a:solidFill>
                <a:latin typeface="Comic Sans MS" panose="030F0702030302020204" pitchFamily="66" charset="0"/>
              </a:rPr>
              <a:t>    </a:t>
            </a:r>
            <a:r>
              <a:rPr lang="en-US" altLang="zh-CN" b="0" dirty="0">
                <a:solidFill>
                  <a:srgbClr val="FF0000"/>
                </a:solidFill>
                <a:latin typeface="Comic Sans MS" panose="030F0702030302020204" pitchFamily="66" charset="0"/>
              </a:rPr>
              <a:t>Name(const Name &amp;other</a:t>
            </a:r>
            <a:r>
              <a:rPr kumimoji="1" lang="en-US" altLang="zh-CN" b="0" dirty="0">
                <a:solidFill>
                  <a:srgbClr val="FF0000"/>
                </a:solidFill>
                <a:latin typeface="Comic Sans MS" panose="030F0702030302020204" pitchFamily="66" charset="0"/>
              </a:rPr>
              <a:t> );</a:t>
            </a:r>
          </a:p>
          <a:p>
            <a:pPr eaLnBrk="1" hangingPunct="1">
              <a:lnSpc>
                <a:spcPct val="85000"/>
              </a:lnSpc>
            </a:pPr>
            <a:r>
              <a:rPr kumimoji="1" lang="en-US" altLang="zh-CN" b="0" dirty="0">
                <a:solidFill>
                  <a:srgbClr val="104E87"/>
                </a:solidFill>
                <a:latin typeface="Comic Sans MS" panose="030F0702030302020204" pitchFamily="66" charset="0"/>
              </a:rPr>
              <a:t>    ~Name();</a:t>
            </a:r>
          </a:p>
          <a:p>
            <a:pPr eaLnBrk="1" hangingPunct="1">
              <a:lnSpc>
                <a:spcPct val="85000"/>
              </a:lnSpc>
            </a:pPr>
            <a:r>
              <a:rPr kumimoji="1" lang="en-US" altLang="zh-CN" b="0" dirty="0">
                <a:solidFill>
                  <a:srgbClr val="104E87"/>
                </a:solidFill>
                <a:latin typeface="Comic Sans MS" panose="030F0702030302020204" pitchFamily="66" charset="0"/>
              </a:rPr>
              <a:t>    void set(char *s);		</a:t>
            </a:r>
          </a:p>
          <a:p>
            <a:pPr eaLnBrk="1" hangingPunct="1">
              <a:lnSpc>
                <a:spcPct val="85000"/>
              </a:lnSpc>
            </a:pPr>
            <a:r>
              <a:rPr kumimoji="1" lang="en-US" altLang="zh-CN" b="0" dirty="0">
                <a:solidFill>
                  <a:srgbClr val="104E87"/>
                </a:solidFill>
                <a:latin typeface="Comic Sans MS" panose="030F0702030302020204" pitchFamily="66" charset="0"/>
              </a:rPr>
              <a:t>    void show();</a:t>
            </a:r>
          </a:p>
          <a:p>
            <a:pPr eaLnBrk="1" hangingPunct="1">
              <a:lnSpc>
                <a:spcPct val="85000"/>
              </a:lnSpc>
            </a:pPr>
            <a:r>
              <a:rPr kumimoji="1" lang="en-US" altLang="zh-CN" b="0" dirty="0">
                <a:solidFill>
                  <a:srgbClr val="104E87"/>
                </a:solidFill>
                <a:latin typeface="Comic Sans MS" panose="030F0702030302020204" pitchFamily="66" charset="0"/>
              </a:rPr>
              <a:t>private:</a:t>
            </a:r>
          </a:p>
          <a:p>
            <a:pPr eaLnBrk="1" hangingPunct="1">
              <a:lnSpc>
                <a:spcPct val="85000"/>
              </a:lnSpc>
            </a:pPr>
            <a:r>
              <a:rPr kumimoji="1" lang="en-US" altLang="zh-CN" b="0" dirty="0">
                <a:solidFill>
                  <a:srgbClr val="104E87"/>
                </a:solidFill>
                <a:latin typeface="Comic Sans MS" panose="030F0702030302020204" pitchFamily="66" charset="0"/>
              </a:rPr>
              <a:t>   char *p;</a:t>
            </a:r>
          </a:p>
          <a:p>
            <a:pPr eaLnBrk="1" hangingPunct="1">
              <a:lnSpc>
                <a:spcPct val="85000"/>
              </a:lnSpc>
            </a:pPr>
            <a:r>
              <a:rPr kumimoji="1" lang="en-US" altLang="zh-CN" b="0" dirty="0">
                <a:solidFill>
                  <a:srgbClr val="104E87"/>
                </a:solidFill>
                <a:latin typeface="Comic Sans MS" panose="030F0702030302020204" pitchFamily="66" charset="0"/>
              </a:rPr>
              <a:t>};</a:t>
            </a:r>
          </a:p>
        </p:txBody>
      </p:sp>
      <p:sp>
        <p:nvSpPr>
          <p:cNvPr id="7" name="矩形 4">
            <a:extLst>
              <a:ext uri="{FF2B5EF4-FFF2-40B4-BE49-F238E27FC236}">
                <a16:creationId xmlns:a16="http://schemas.microsoft.com/office/drawing/2014/main" id="{A959A973-7509-6C62-F075-F19002E318CC}"/>
              </a:ext>
            </a:extLst>
          </p:cNvPr>
          <p:cNvSpPr>
            <a:spLocks noChangeArrowheads="1"/>
          </p:cNvSpPr>
          <p:nvPr/>
        </p:nvSpPr>
        <p:spPr bwMode="auto">
          <a:xfrm>
            <a:off x="3097689" y="4050033"/>
            <a:ext cx="4364537" cy="1975926"/>
          </a:xfrm>
          <a:prstGeom prst="rect">
            <a:avLst/>
          </a:prstGeom>
          <a:solidFill>
            <a:schemeClr val="accent4">
              <a:lumMod val="20000"/>
              <a:lumOff val="80000"/>
            </a:schemeClr>
          </a:solidFill>
          <a:ln>
            <a:noFill/>
          </a:ln>
        </p:spPr>
        <p:txBody>
          <a:bodyPr wrap="square">
            <a:spAutoFit/>
          </a:bodyPr>
          <a:lstStyle/>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Name::Name(char *s)</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  </a:t>
            </a:r>
            <a:r>
              <a:rPr kumimoji="1" lang="en-US" altLang="zh-CN" dirty="0">
                <a:solidFill>
                  <a:srgbClr val="104E87"/>
                </a:solidFill>
                <a:latin typeface="Comic Sans MS" panose="030F0702030302020204" pitchFamily="66" charset="0"/>
                <a:ea typeface="宋体" panose="02010600030101010101" pitchFamily="2" charset="-122"/>
              </a:rPr>
              <a:t>if (s!=NULL){</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      p=new char[strlen(s)+1];</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      </a:t>
            </a:r>
            <a:r>
              <a:rPr kumimoji="1" lang="en-US" altLang="zh-CN" dirty="0">
                <a:solidFill>
                  <a:srgbClr val="104E87"/>
                </a:solidFill>
                <a:latin typeface="Comic Sans MS" panose="030F0702030302020204" pitchFamily="66" charset="0"/>
                <a:ea typeface="宋体" panose="02010600030101010101" pitchFamily="2" charset="-122"/>
              </a:rPr>
              <a:t>if (p!=NULL)  </a:t>
            </a:r>
            <a:r>
              <a:rPr kumimoji="1" lang="zh-CN" altLang="en-US" dirty="0">
                <a:solidFill>
                  <a:srgbClr val="104E87"/>
                </a:solidFill>
                <a:latin typeface="Comic Sans MS" panose="030F0702030302020204" pitchFamily="66" charset="0"/>
                <a:ea typeface="宋体" panose="02010600030101010101" pitchFamily="2" charset="-122"/>
              </a:rPr>
              <a:t>strcpy(p,s);</a:t>
            </a:r>
            <a:endParaRPr kumimoji="1" lang="en-US" altLang="zh-CN" dirty="0">
              <a:solidFill>
                <a:srgbClr val="104E87"/>
              </a:solidFill>
              <a:latin typeface="Comic Sans MS" panose="030F0702030302020204" pitchFamily="66" charset="0"/>
              <a:ea typeface="宋体" panose="02010600030101010101" pitchFamily="2" charset="-122"/>
            </a:endParaRP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a:t>
            </a:r>
            <a:endParaRPr kumimoji="1" lang="zh-CN" altLang="en-US" dirty="0">
              <a:solidFill>
                <a:srgbClr val="104E87"/>
              </a:solidFill>
              <a:latin typeface="Comic Sans MS" panose="030F0702030302020204" pitchFamily="66" charset="0"/>
              <a:ea typeface="宋体" panose="02010600030101010101" pitchFamily="2" charset="-122"/>
            </a:endParaRP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a:t>
            </a:r>
          </a:p>
        </p:txBody>
      </p:sp>
      <p:sp>
        <p:nvSpPr>
          <p:cNvPr id="8" name="矩形 14">
            <a:extLst>
              <a:ext uri="{FF2B5EF4-FFF2-40B4-BE49-F238E27FC236}">
                <a16:creationId xmlns:a16="http://schemas.microsoft.com/office/drawing/2014/main" id="{3535DBA8-3561-4FD1-97B1-9B206714CAA2}"/>
              </a:ext>
            </a:extLst>
          </p:cNvPr>
          <p:cNvSpPr>
            <a:spLocks noChangeArrowheads="1"/>
          </p:cNvSpPr>
          <p:nvPr/>
        </p:nvSpPr>
        <p:spPr bwMode="auto">
          <a:xfrm>
            <a:off x="8011196" y="3976970"/>
            <a:ext cx="4180803" cy="1348061"/>
          </a:xfrm>
          <a:prstGeom prst="rect">
            <a:avLst/>
          </a:prstGeom>
          <a:solidFill>
            <a:schemeClr val="accent4">
              <a:lumMod val="20000"/>
              <a:lumOff val="80000"/>
            </a:schemeClr>
          </a:solidFill>
          <a:ln>
            <a:noFill/>
          </a:ln>
        </p:spPr>
        <p:txBody>
          <a:bodyPr wrap="square">
            <a:spAutoFit/>
          </a:bodyPr>
          <a:lstStyle/>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Name::~Name()</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 cout&lt;&lt;"Destructing."&lt;&lt;endl;</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   if(p!=NULL) delete [] p;</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a:t>
            </a:r>
          </a:p>
        </p:txBody>
      </p:sp>
      <p:sp>
        <p:nvSpPr>
          <p:cNvPr id="9" name="矩形 13">
            <a:extLst>
              <a:ext uri="{FF2B5EF4-FFF2-40B4-BE49-F238E27FC236}">
                <a16:creationId xmlns:a16="http://schemas.microsoft.com/office/drawing/2014/main" id="{6FAC8FF0-9258-7B4A-C056-064C4C8DC01E}"/>
              </a:ext>
            </a:extLst>
          </p:cNvPr>
          <p:cNvSpPr>
            <a:spLocks noChangeArrowheads="1"/>
          </p:cNvSpPr>
          <p:nvPr/>
        </p:nvSpPr>
        <p:spPr bwMode="auto">
          <a:xfrm>
            <a:off x="8026613" y="5325031"/>
            <a:ext cx="4180803" cy="1034129"/>
          </a:xfrm>
          <a:prstGeom prst="rect">
            <a:avLst/>
          </a:prstGeom>
          <a:solidFill>
            <a:schemeClr val="accent2">
              <a:lumMod val="20000"/>
              <a:lumOff val="80000"/>
            </a:schemeClr>
          </a:solidFill>
          <a:ln>
            <a:noFill/>
          </a:ln>
        </p:spPr>
        <p:txBody>
          <a:bodyPr wrap="square">
            <a:spAutoFit/>
          </a:bodyPr>
          <a:lstStyle/>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void Name::set(char *s)</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{strcpy(p,s);</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a:t>
            </a:r>
          </a:p>
        </p:txBody>
      </p:sp>
      <p:sp>
        <p:nvSpPr>
          <p:cNvPr id="10" name="矩形 5">
            <a:extLst>
              <a:ext uri="{FF2B5EF4-FFF2-40B4-BE49-F238E27FC236}">
                <a16:creationId xmlns:a16="http://schemas.microsoft.com/office/drawing/2014/main" id="{E6F733E7-9CE5-512F-E7C5-23AA7C825D39}"/>
              </a:ext>
            </a:extLst>
          </p:cNvPr>
          <p:cNvSpPr>
            <a:spLocks noChangeArrowheads="1"/>
          </p:cNvSpPr>
          <p:nvPr/>
        </p:nvSpPr>
        <p:spPr bwMode="auto">
          <a:xfrm>
            <a:off x="3941110" y="5828127"/>
            <a:ext cx="3816614" cy="720197"/>
          </a:xfrm>
          <a:prstGeom prst="rect">
            <a:avLst/>
          </a:prstGeom>
          <a:solidFill>
            <a:schemeClr val="accent2">
              <a:lumMod val="20000"/>
              <a:lumOff val="80000"/>
            </a:schemeClr>
          </a:solidFill>
          <a:ln>
            <a:noFill/>
          </a:ln>
        </p:spPr>
        <p:txBody>
          <a:bodyPr wrap="square">
            <a:spAutoFit/>
          </a:bodyPr>
          <a:lstStyle/>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void Name::show()</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{cout&lt;&lt;p&lt;&lt;endl;}</a:t>
            </a:r>
          </a:p>
        </p:txBody>
      </p:sp>
      <p:sp>
        <p:nvSpPr>
          <p:cNvPr id="2" name="文本框 1">
            <a:extLst>
              <a:ext uri="{FF2B5EF4-FFF2-40B4-BE49-F238E27FC236}">
                <a16:creationId xmlns:a16="http://schemas.microsoft.com/office/drawing/2014/main" id="{CC49EFDB-0682-0E62-AD09-875A6F3E6D07}"/>
              </a:ext>
            </a:extLst>
          </p:cNvPr>
          <p:cNvSpPr txBox="1"/>
          <p:nvPr/>
        </p:nvSpPr>
        <p:spPr>
          <a:xfrm>
            <a:off x="794" y="1650104"/>
            <a:ext cx="12097422" cy="461665"/>
          </a:xfrm>
          <a:prstGeom prst="rect">
            <a:avLst/>
          </a:prstGeom>
          <a:solidFill>
            <a:srgbClr val="FFC000"/>
          </a:solidFill>
          <a:ln>
            <a:noFill/>
          </a:ln>
        </p:spPr>
        <p:txBody>
          <a:bodyPr wrap="square">
            <a:spAutoFit/>
          </a:bodyPr>
          <a:lstStyle>
            <a:defPPr>
              <a:defRPr lang="en-US"/>
            </a:defPPr>
            <a:lvl1pPr marL="342900" indent="-342900" defTabSz="622300">
              <a:spcBef>
                <a:spcPct val="50000"/>
              </a:spcBef>
              <a:buClrTx/>
              <a:buSzTx/>
              <a:buFont typeface="Wingdings" pitchFamily="2" charset="2"/>
              <a:buBlip>
                <a:blip r:embed="rId3"/>
              </a:buBlip>
              <a:defRPr>
                <a:solidFill>
                  <a:srgbClr val="134F85"/>
                </a:solidFill>
                <a:latin typeface="华光行书_CNKI" panose="02000500000000000000" pitchFamily="2" charset="-122"/>
                <a:ea typeface="华光行书_CNKI" panose="02000500000000000000" pitchFamily="2"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marL="0" indent="0">
              <a:spcBef>
                <a:spcPts val="0"/>
              </a:spcBef>
              <a:buNone/>
            </a:pPr>
            <a:r>
              <a:rPr lang="zh-CN" altLang="en-US" b="1" dirty="0"/>
              <a:t>回顾一下复制构造函数</a:t>
            </a:r>
            <a:r>
              <a:rPr lang="en-US" altLang="zh-CN" b="1" dirty="0"/>
              <a:t>——</a:t>
            </a:r>
            <a:r>
              <a:rPr lang="zh-CN" altLang="en-US" b="1" dirty="0"/>
              <a:t>深浅拷贝</a:t>
            </a:r>
          </a:p>
        </p:txBody>
      </p:sp>
      <p:sp>
        <p:nvSpPr>
          <p:cNvPr id="6" name="矩形 5">
            <a:extLst>
              <a:ext uri="{FF2B5EF4-FFF2-40B4-BE49-F238E27FC236}">
                <a16:creationId xmlns:a16="http://schemas.microsoft.com/office/drawing/2014/main" id="{2025FC3F-0B55-CA62-F936-894D93F84046}"/>
              </a:ext>
            </a:extLst>
          </p:cNvPr>
          <p:cNvSpPr>
            <a:spLocks noChangeArrowheads="1"/>
          </p:cNvSpPr>
          <p:nvPr/>
        </p:nvSpPr>
        <p:spPr bwMode="auto">
          <a:xfrm>
            <a:off x="6111416" y="1736101"/>
            <a:ext cx="6096000" cy="2289858"/>
          </a:xfrm>
          <a:prstGeom prst="rect">
            <a:avLst/>
          </a:prstGeom>
          <a:solidFill>
            <a:schemeClr val="accent5">
              <a:lumMod val="20000"/>
              <a:lumOff val="80000"/>
            </a:schemeClr>
          </a:solidFill>
          <a:ln>
            <a:noFill/>
          </a:ln>
        </p:spPr>
        <p:txBody>
          <a:bodyPr wrap="square">
            <a:spAutoFit/>
          </a:bodyPr>
          <a:lstStyle/>
          <a:p>
            <a:pPr>
              <a:lnSpc>
                <a:spcPct val="85000"/>
              </a:lnSpc>
            </a:pPr>
            <a:r>
              <a:rPr kumimoji="1" lang="en-US" altLang="zh-CN" b="1" dirty="0">
                <a:solidFill>
                  <a:srgbClr val="FF0000"/>
                </a:solidFill>
                <a:latin typeface="Comic Sans MS" panose="030F0702030302020204" pitchFamily="66" charset="0"/>
                <a:ea typeface="宋体" panose="02010600030101010101" pitchFamily="2" charset="-122"/>
              </a:rPr>
              <a:t>Name::Name(const Name &amp;other)</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if (</a:t>
            </a:r>
            <a:r>
              <a:rPr kumimoji="1" lang="en-US" altLang="zh-CN" dirty="0" err="1">
                <a:solidFill>
                  <a:srgbClr val="104E87"/>
                </a:solidFill>
                <a:latin typeface="Comic Sans MS" panose="030F0702030302020204" pitchFamily="66" charset="0"/>
                <a:ea typeface="宋体" panose="02010600030101010101" pitchFamily="2" charset="-122"/>
              </a:rPr>
              <a:t>other.p</a:t>
            </a:r>
            <a:r>
              <a:rPr kumimoji="1" lang="en-US" altLang="zh-CN" dirty="0">
                <a:solidFill>
                  <a:srgbClr val="104E87"/>
                </a:solidFill>
                <a:latin typeface="Comic Sans MS" panose="030F0702030302020204" pitchFamily="66" charset="0"/>
                <a:ea typeface="宋体" panose="02010600030101010101" pitchFamily="2" charset="-122"/>
              </a:rPr>
              <a:t>!=NULL){</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 = new char[</a:t>
            </a:r>
            <a:r>
              <a:rPr kumimoji="1" lang="en-US" altLang="zh-CN" dirty="0" err="1">
                <a:solidFill>
                  <a:srgbClr val="104E87"/>
                </a:solidFill>
                <a:latin typeface="Comic Sans MS" panose="030F0702030302020204" pitchFamily="66" charset="0"/>
                <a:ea typeface="宋体" panose="02010600030101010101" pitchFamily="2" charset="-122"/>
              </a:rPr>
              <a:t>strlen</a:t>
            </a:r>
            <a:r>
              <a:rPr kumimoji="1" lang="en-US" altLang="zh-CN" dirty="0">
                <a:solidFill>
                  <a:srgbClr val="104E87"/>
                </a:solidFill>
                <a:latin typeface="Comic Sans MS" panose="030F0702030302020204" pitchFamily="66" charset="0"/>
                <a:ea typeface="宋体" panose="02010600030101010101" pitchFamily="2" charset="-122"/>
              </a:rPr>
              <a:t>(</a:t>
            </a:r>
            <a:r>
              <a:rPr kumimoji="1" lang="en-US" altLang="zh-CN" dirty="0" err="1">
                <a:solidFill>
                  <a:srgbClr val="104E87"/>
                </a:solidFill>
                <a:latin typeface="Comic Sans MS" panose="030F0702030302020204" pitchFamily="66" charset="0"/>
                <a:ea typeface="宋体" panose="02010600030101010101" pitchFamily="2" charset="-122"/>
              </a:rPr>
              <a:t>other.p</a:t>
            </a:r>
            <a:r>
              <a:rPr kumimoji="1" lang="en-US" altLang="zh-CN" dirty="0">
                <a:solidFill>
                  <a:srgbClr val="104E87"/>
                </a:solidFill>
                <a:latin typeface="Comic Sans MS" panose="030F0702030302020204" pitchFamily="66" charset="0"/>
                <a:ea typeface="宋体" panose="02010600030101010101" pitchFamily="2" charset="-122"/>
              </a:rPr>
              <a:t>) + 1];</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if (p!=NULL)	</a:t>
            </a:r>
            <a:r>
              <a:rPr kumimoji="1" lang="en-US" altLang="zh-CN" dirty="0" err="1">
                <a:solidFill>
                  <a:srgbClr val="104E87"/>
                </a:solidFill>
                <a:latin typeface="Comic Sans MS" panose="030F0702030302020204" pitchFamily="66" charset="0"/>
                <a:ea typeface="宋体" panose="02010600030101010101" pitchFamily="2" charset="-122"/>
              </a:rPr>
              <a:t>strcpy</a:t>
            </a:r>
            <a:r>
              <a:rPr kumimoji="1" lang="en-US" altLang="zh-CN" dirty="0">
                <a:solidFill>
                  <a:srgbClr val="104E87"/>
                </a:solidFill>
                <a:latin typeface="Comic Sans MS" panose="030F0702030302020204" pitchFamily="66" charset="0"/>
                <a:ea typeface="宋体" panose="02010600030101010101" pitchFamily="2" charset="-122"/>
              </a:rPr>
              <a:t>(p, </a:t>
            </a:r>
            <a:r>
              <a:rPr kumimoji="1" lang="en-US" altLang="zh-CN" dirty="0" err="1">
                <a:solidFill>
                  <a:srgbClr val="104E87"/>
                </a:solidFill>
                <a:latin typeface="Comic Sans MS" panose="030F0702030302020204" pitchFamily="66" charset="0"/>
                <a:ea typeface="宋体" panose="02010600030101010101" pitchFamily="2" charset="-122"/>
              </a:rPr>
              <a:t>other.p</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a:t>
            </a:r>
            <a:r>
              <a:rPr kumimoji="1" lang="en-US" altLang="zh-CN" dirty="0" err="1">
                <a:solidFill>
                  <a:srgbClr val="104E87"/>
                </a:solidFill>
                <a:latin typeface="Comic Sans MS" panose="030F0702030302020204" pitchFamily="66" charset="0"/>
                <a:ea typeface="宋体" panose="02010600030101010101" pitchFamily="2" charset="-122"/>
              </a:rPr>
              <a:t>cout</a:t>
            </a:r>
            <a:r>
              <a:rPr kumimoji="1" lang="en-US" altLang="zh-CN" dirty="0">
                <a:solidFill>
                  <a:srgbClr val="104E87"/>
                </a:solidFill>
                <a:latin typeface="Comic Sans MS" panose="030F0702030302020204" pitchFamily="66" charset="0"/>
                <a:ea typeface="宋体" panose="02010600030101010101" pitchFamily="2" charset="-122"/>
              </a:rPr>
              <a:t> &lt;&lt; "Copy constructing.\n";</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p>
        </p:txBody>
      </p:sp>
    </p:spTree>
    <p:extLst>
      <p:ext uri="{BB962C8B-B14F-4D97-AF65-F5344CB8AC3E}">
        <p14:creationId xmlns:p14="http://schemas.microsoft.com/office/powerpoint/2010/main" val="414478103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6"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1+#ppt_w/2"/>
                                          </p:val>
                                        </p:tav>
                                        <p:tav tm="100000">
                                          <p:val>
                                            <p:strVal val="#ppt_x"/>
                                          </p:val>
                                        </p:tav>
                                      </p:tavLst>
                                    </p:anim>
                                    <p:anim calcmode="lin" valueType="num">
                                      <p:cBhvr additive="base">
                                        <p:cTn id="4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7" grpId="0" animBg="1"/>
      <p:bldP spid="8" grpId="0" animBg="1"/>
      <p:bldP spid="9" grpId="0" animBg="1"/>
      <p:bldP spid="10" grpId="0" animBg="1"/>
      <p:bldP spid="2"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8">
            <a:extLst>
              <a:ext uri="{FF2B5EF4-FFF2-40B4-BE49-F238E27FC236}">
                <a16:creationId xmlns:a16="http://schemas.microsoft.com/office/drawing/2014/main" id="{88DF8AFB-28D8-BAA0-1F62-7BE352711ACC}"/>
              </a:ext>
            </a:extLst>
          </p:cNvPr>
          <p:cNvSpPr>
            <a:spLocks noChangeArrowheads="1"/>
          </p:cNvSpPr>
          <p:nvPr/>
        </p:nvSpPr>
        <p:spPr bwMode="auto">
          <a:xfrm>
            <a:off x="7979570" y="953400"/>
            <a:ext cx="4211637" cy="3046988"/>
          </a:xfrm>
          <a:prstGeom prst="rect">
            <a:avLst/>
          </a:prstGeom>
          <a:solidFill>
            <a:schemeClr val="accent4">
              <a:lumMod val="20000"/>
              <a:lumOff val="80000"/>
            </a:schemeClr>
          </a:solidFill>
          <a:ln>
            <a:noFill/>
          </a:ln>
        </p:spPr>
        <p:txBody>
          <a:bodyPr wrap="square">
            <a:spAutoFit/>
          </a:bodyPr>
          <a:lstStyle>
            <a:lvl1pPr>
              <a:defRPr sz="2000" b="1">
                <a:solidFill>
                  <a:schemeClr val="tx1"/>
                </a:solidFill>
                <a:latin typeface="Times New Roman" panose="02020603050405020304" pitchFamily="18" charset="0"/>
                <a:ea typeface="楷体_GB2312" pitchFamily="49" charset="-122"/>
              </a:defRPr>
            </a:lvl1pPr>
            <a:lvl2pPr marL="742950" indent="-285750">
              <a:defRPr sz="2000" b="1">
                <a:solidFill>
                  <a:schemeClr val="tx1"/>
                </a:solidFill>
                <a:latin typeface="Times New Roman" panose="02020603050405020304" pitchFamily="18" charset="0"/>
                <a:ea typeface="楷体_GB2312" pitchFamily="49" charset="-122"/>
              </a:defRPr>
            </a:lvl2pPr>
            <a:lvl3pPr marL="1143000" indent="-228600">
              <a:defRPr sz="2000" b="1">
                <a:solidFill>
                  <a:schemeClr val="tx1"/>
                </a:solidFill>
                <a:latin typeface="Times New Roman" panose="02020603050405020304" pitchFamily="18" charset="0"/>
                <a:ea typeface="楷体_GB2312" pitchFamily="49" charset="-122"/>
              </a:defRPr>
            </a:lvl3pPr>
            <a:lvl4pPr marL="1600200" indent="-228600">
              <a:defRPr sz="2000" b="1">
                <a:solidFill>
                  <a:schemeClr val="tx1"/>
                </a:solidFill>
                <a:latin typeface="Times New Roman" panose="02020603050405020304" pitchFamily="18" charset="0"/>
                <a:ea typeface="楷体_GB2312" pitchFamily="49" charset="-122"/>
              </a:defRPr>
            </a:lvl4pPr>
            <a:lvl5pPr marL="2057400" indent="-228600">
              <a:defRPr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楷体_GB2312" pitchFamily="49" charset="-122"/>
              </a:defRPr>
            </a:lvl9pPr>
          </a:lstStyle>
          <a:p>
            <a:pPr eaLnBrk="1" hangingPunct="1"/>
            <a:r>
              <a:rPr lang="zh-CN" altLang="en-US" sz="2400" b="0" dirty="0">
                <a:solidFill>
                  <a:srgbClr val="104E87"/>
                </a:solidFill>
                <a:latin typeface="Comic Sans MS" panose="030F0702030302020204" pitchFamily="66" charset="0"/>
                <a:ea typeface="宋体" panose="02010600030101010101" pitchFamily="2" charset="-122"/>
              </a:rPr>
              <a:t>int main()</a:t>
            </a:r>
          </a:p>
          <a:p>
            <a:pPr eaLnBrk="1" hangingPunct="1"/>
            <a:r>
              <a:rPr lang="zh-CN" altLang="en-US" sz="2400" b="0" dirty="0">
                <a:solidFill>
                  <a:srgbClr val="104E87"/>
                </a:solidFill>
                <a:latin typeface="Comic Sans MS" panose="030F0702030302020204" pitchFamily="66" charset="0"/>
                <a:ea typeface="宋体" panose="02010600030101010101" pitchFamily="2" charset="-122"/>
              </a:rPr>
              <a:t>{char temp_str[20]="wang"</a:t>
            </a:r>
            <a:r>
              <a:rPr lang="en-US" altLang="zh-CN" sz="2400" b="0" dirty="0">
                <a:solidFill>
                  <a:srgbClr val="104E87"/>
                </a:solidFill>
                <a:latin typeface="Comic Sans MS" panose="030F0702030302020204" pitchFamily="66" charset="0"/>
                <a:ea typeface="宋体" panose="02010600030101010101" pitchFamily="2" charset="-122"/>
              </a:rPr>
              <a:t>;</a:t>
            </a:r>
          </a:p>
          <a:p>
            <a:pPr eaLnBrk="1" hangingPunct="1"/>
            <a:r>
              <a:rPr lang="zh-CN" altLang="en-US" sz="2400" b="0" dirty="0">
                <a:solidFill>
                  <a:srgbClr val="104E87"/>
                </a:solidFill>
                <a:latin typeface="Comic Sans MS" panose="030F0702030302020204" pitchFamily="66" charset="0"/>
                <a:ea typeface="宋体" panose="02010600030101010101" pitchFamily="2" charset="-122"/>
              </a:rPr>
              <a:t>Name myname(temp_str)</a:t>
            </a:r>
            <a:r>
              <a:rPr lang="en-US" altLang="zh-CN" sz="2400" b="0" dirty="0">
                <a:solidFill>
                  <a:srgbClr val="104E87"/>
                </a:solidFill>
                <a:latin typeface="Comic Sans MS" panose="030F0702030302020204" pitchFamily="66" charset="0"/>
                <a:ea typeface="宋体" panose="02010600030101010101" pitchFamily="2" charset="-122"/>
              </a:rPr>
              <a:t> ;</a:t>
            </a:r>
          </a:p>
          <a:p>
            <a:r>
              <a:rPr lang="zh-CN" altLang="en-US" sz="2400" b="0" dirty="0">
                <a:solidFill>
                  <a:srgbClr val="FF0000"/>
                </a:solidFill>
                <a:latin typeface="Comic Sans MS" panose="030F0702030302020204" pitchFamily="66" charset="0"/>
                <a:ea typeface="宋体" panose="02010600030101010101" pitchFamily="2" charset="-122"/>
              </a:rPr>
              <a:t>Name yourname(myname);</a:t>
            </a:r>
            <a:r>
              <a:rPr lang="zh-CN" altLang="en-US" sz="2400" b="0" dirty="0">
                <a:latin typeface="Comic Sans MS" panose="030F0702030302020204" pitchFamily="66" charset="0"/>
                <a:ea typeface="宋体" panose="02010600030101010101" pitchFamily="2" charset="-122"/>
              </a:rPr>
              <a:t> </a:t>
            </a:r>
            <a:r>
              <a:rPr lang="zh-CN" altLang="en-US" sz="2400" b="0" dirty="0">
                <a:solidFill>
                  <a:srgbClr val="104E87"/>
                </a:solidFill>
                <a:latin typeface="Comic Sans MS" panose="030F0702030302020204" pitchFamily="66" charset="0"/>
                <a:ea typeface="宋体" panose="02010600030101010101" pitchFamily="2" charset="-122"/>
              </a:rPr>
              <a:t>myname.show(); </a:t>
            </a:r>
            <a:endParaRPr lang="en-US" altLang="zh-CN" sz="2400" b="0" dirty="0">
              <a:solidFill>
                <a:srgbClr val="104E87"/>
              </a:solidFill>
              <a:latin typeface="Comic Sans MS" panose="030F0702030302020204" pitchFamily="66" charset="0"/>
              <a:ea typeface="宋体" panose="02010600030101010101" pitchFamily="2" charset="-122"/>
            </a:endParaRPr>
          </a:p>
          <a:p>
            <a:pPr eaLnBrk="1" hangingPunct="1"/>
            <a:r>
              <a:rPr lang="zh-CN" altLang="en-US" sz="2400" b="0" dirty="0">
                <a:solidFill>
                  <a:srgbClr val="104E87"/>
                </a:solidFill>
                <a:latin typeface="Comic Sans MS" panose="030F0702030302020204" pitchFamily="66" charset="0"/>
                <a:ea typeface="宋体" panose="02010600030101010101" pitchFamily="2" charset="-122"/>
              </a:rPr>
              <a:t>yourname.show();</a:t>
            </a:r>
          </a:p>
          <a:p>
            <a:pPr eaLnBrk="1" hangingPunct="1"/>
            <a:r>
              <a:rPr lang="zh-CN" altLang="en-US" sz="2400" b="0" dirty="0">
                <a:solidFill>
                  <a:srgbClr val="104E87"/>
                </a:solidFill>
                <a:latin typeface="Comic Sans MS" panose="030F0702030302020204" pitchFamily="66" charset="0"/>
                <a:ea typeface="宋体" panose="02010600030101010101" pitchFamily="2" charset="-122"/>
              </a:rPr>
              <a:t>return 0;</a:t>
            </a:r>
          </a:p>
          <a:p>
            <a:pPr eaLnBrk="1" hangingPunct="1"/>
            <a:r>
              <a:rPr lang="zh-CN" altLang="en-US" sz="2400" b="0" dirty="0">
                <a:solidFill>
                  <a:srgbClr val="104E87"/>
                </a:solidFill>
                <a:latin typeface="Comic Sans MS" panose="030F0702030302020204" pitchFamily="66" charset="0"/>
                <a:ea typeface="宋体" panose="02010600030101010101" pitchFamily="2" charset="-122"/>
              </a:rPr>
              <a:t>}</a:t>
            </a:r>
          </a:p>
        </p:txBody>
      </p:sp>
      <p:sp>
        <p:nvSpPr>
          <p:cNvPr id="3" name="矩形 2">
            <a:extLst>
              <a:ext uri="{FF2B5EF4-FFF2-40B4-BE49-F238E27FC236}">
                <a16:creationId xmlns:a16="http://schemas.microsoft.com/office/drawing/2014/main" id="{B66B5C2A-AAB4-E244-CE0C-CEA53DF969F1}"/>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4" name="文本框 3">
            <a:extLst>
              <a:ext uri="{FF2B5EF4-FFF2-40B4-BE49-F238E27FC236}">
                <a16:creationId xmlns:a16="http://schemas.microsoft.com/office/drawing/2014/main" id="{A95EA50C-2D4F-6F21-CF77-5EAAE97A894D}"/>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赋值运算符重载</a:t>
            </a:r>
            <a:r>
              <a:rPr lang="en-US" altLang="zh-CN" sz="3200" dirty="0">
                <a:solidFill>
                  <a:srgbClr val="FF0000"/>
                </a:solidFill>
              </a:rPr>
              <a:t>operator=</a:t>
            </a:r>
            <a:endParaRPr lang="zh-CN" altLang="en-US" dirty="0">
              <a:solidFill>
                <a:srgbClr val="FF0000"/>
              </a:solidFill>
              <a:sym typeface="+mn-lt"/>
            </a:endParaRPr>
          </a:p>
        </p:txBody>
      </p:sp>
      <p:sp>
        <p:nvSpPr>
          <p:cNvPr id="5" name="Text Box 4">
            <a:extLst>
              <a:ext uri="{FF2B5EF4-FFF2-40B4-BE49-F238E27FC236}">
                <a16:creationId xmlns:a16="http://schemas.microsoft.com/office/drawing/2014/main" id="{20DA2C4F-ECE5-4814-57CE-4F04F43426B1}"/>
              </a:ext>
            </a:extLst>
          </p:cNvPr>
          <p:cNvSpPr txBox="1">
            <a:spLocks noChangeArrowheads="1"/>
          </p:cNvSpPr>
          <p:nvPr/>
        </p:nvSpPr>
        <p:spPr bwMode="auto">
          <a:xfrm>
            <a:off x="0" y="991968"/>
            <a:ext cx="4879975" cy="354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kumimoji="1" lang="en-US" altLang="zh-CN" b="0" dirty="0">
                <a:solidFill>
                  <a:srgbClr val="104E87"/>
                </a:solidFill>
                <a:latin typeface="Comic Sans MS" panose="030F0702030302020204" pitchFamily="66" charset="0"/>
              </a:rPr>
              <a:t>class Name {</a:t>
            </a:r>
          </a:p>
          <a:p>
            <a:pPr eaLnBrk="1" hangingPunct="1">
              <a:lnSpc>
                <a:spcPct val="85000"/>
              </a:lnSpc>
            </a:pPr>
            <a:r>
              <a:rPr kumimoji="1" lang="en-US" altLang="zh-CN" b="0" dirty="0">
                <a:solidFill>
                  <a:srgbClr val="104E87"/>
                </a:solidFill>
                <a:latin typeface="Comic Sans MS" panose="030F0702030302020204" pitchFamily="66" charset="0"/>
              </a:rPr>
              <a:t>public:</a:t>
            </a:r>
          </a:p>
          <a:p>
            <a:pPr eaLnBrk="1" hangingPunct="1">
              <a:lnSpc>
                <a:spcPct val="85000"/>
              </a:lnSpc>
            </a:pPr>
            <a:r>
              <a:rPr kumimoji="1" lang="en-US" altLang="zh-CN" b="0" dirty="0">
                <a:solidFill>
                  <a:srgbClr val="104E87"/>
                </a:solidFill>
                <a:latin typeface="Comic Sans MS" panose="030F0702030302020204" pitchFamily="66" charset="0"/>
              </a:rPr>
              <a:t>    Name(){</a:t>
            </a:r>
            <a:r>
              <a:rPr lang="zh-CN" altLang="en-US" b="0" dirty="0">
                <a:solidFill>
                  <a:srgbClr val="104E87"/>
                </a:solidFill>
                <a:latin typeface="Comic Sans MS" panose="030F0702030302020204" pitchFamily="66" charset="0"/>
              </a:rPr>
              <a:t>p=NULL;</a:t>
            </a:r>
            <a:r>
              <a:rPr kumimoji="1" lang="en-US" altLang="zh-CN" b="0" dirty="0">
                <a:solidFill>
                  <a:srgbClr val="104E87"/>
                </a:solidFill>
                <a:latin typeface="Comic Sans MS" panose="030F0702030302020204" pitchFamily="66" charset="0"/>
              </a:rPr>
              <a:t>}</a:t>
            </a:r>
          </a:p>
          <a:p>
            <a:pPr eaLnBrk="1" hangingPunct="1">
              <a:lnSpc>
                <a:spcPct val="85000"/>
              </a:lnSpc>
            </a:pPr>
            <a:r>
              <a:rPr kumimoji="1" lang="en-US" altLang="zh-CN" b="0" dirty="0">
                <a:solidFill>
                  <a:srgbClr val="104E87"/>
                </a:solidFill>
                <a:latin typeface="Comic Sans MS" panose="030F0702030302020204" pitchFamily="66" charset="0"/>
              </a:rPr>
              <a:t>    Name(char *s);</a:t>
            </a:r>
          </a:p>
          <a:p>
            <a:pPr eaLnBrk="1" hangingPunct="1">
              <a:lnSpc>
                <a:spcPct val="85000"/>
              </a:lnSpc>
              <a:buFont typeface="Wingdings" panose="05000000000000000000" pitchFamily="2" charset="2"/>
              <a:buNone/>
            </a:pPr>
            <a:r>
              <a:rPr lang="en-US" altLang="zh-CN" b="0" dirty="0">
                <a:solidFill>
                  <a:schemeClr val="folHlink"/>
                </a:solidFill>
                <a:latin typeface="Comic Sans MS" panose="030F0702030302020204" pitchFamily="66" charset="0"/>
              </a:rPr>
              <a:t>    </a:t>
            </a:r>
            <a:r>
              <a:rPr lang="en-US" altLang="zh-CN" b="0" dirty="0">
                <a:solidFill>
                  <a:srgbClr val="FF0000"/>
                </a:solidFill>
                <a:latin typeface="Comic Sans MS" panose="030F0702030302020204" pitchFamily="66" charset="0"/>
              </a:rPr>
              <a:t>Name(const Name &amp;other</a:t>
            </a:r>
            <a:r>
              <a:rPr kumimoji="1" lang="en-US" altLang="zh-CN" b="0" dirty="0">
                <a:solidFill>
                  <a:srgbClr val="FF0000"/>
                </a:solidFill>
                <a:latin typeface="Comic Sans MS" panose="030F0702030302020204" pitchFamily="66" charset="0"/>
              </a:rPr>
              <a:t> );</a:t>
            </a:r>
          </a:p>
          <a:p>
            <a:pPr eaLnBrk="1" hangingPunct="1">
              <a:lnSpc>
                <a:spcPct val="85000"/>
              </a:lnSpc>
            </a:pPr>
            <a:r>
              <a:rPr kumimoji="1" lang="en-US" altLang="zh-CN" b="0" dirty="0">
                <a:solidFill>
                  <a:srgbClr val="104E87"/>
                </a:solidFill>
                <a:latin typeface="Comic Sans MS" panose="030F0702030302020204" pitchFamily="66" charset="0"/>
              </a:rPr>
              <a:t>    ~Name();</a:t>
            </a:r>
          </a:p>
          <a:p>
            <a:pPr eaLnBrk="1" hangingPunct="1">
              <a:lnSpc>
                <a:spcPct val="85000"/>
              </a:lnSpc>
            </a:pPr>
            <a:r>
              <a:rPr kumimoji="1" lang="en-US" altLang="zh-CN" b="0" dirty="0">
                <a:solidFill>
                  <a:srgbClr val="104E87"/>
                </a:solidFill>
                <a:latin typeface="Comic Sans MS" panose="030F0702030302020204" pitchFamily="66" charset="0"/>
              </a:rPr>
              <a:t>    void set(char *s);		</a:t>
            </a:r>
          </a:p>
          <a:p>
            <a:pPr eaLnBrk="1" hangingPunct="1">
              <a:lnSpc>
                <a:spcPct val="85000"/>
              </a:lnSpc>
            </a:pPr>
            <a:r>
              <a:rPr kumimoji="1" lang="en-US" altLang="zh-CN" b="0" dirty="0">
                <a:solidFill>
                  <a:srgbClr val="104E87"/>
                </a:solidFill>
                <a:latin typeface="Comic Sans MS" panose="030F0702030302020204" pitchFamily="66" charset="0"/>
              </a:rPr>
              <a:t>    void show();</a:t>
            </a:r>
          </a:p>
          <a:p>
            <a:pPr eaLnBrk="1" hangingPunct="1">
              <a:lnSpc>
                <a:spcPct val="85000"/>
              </a:lnSpc>
            </a:pPr>
            <a:r>
              <a:rPr kumimoji="1" lang="en-US" altLang="zh-CN" b="0" dirty="0">
                <a:solidFill>
                  <a:srgbClr val="104E87"/>
                </a:solidFill>
                <a:latin typeface="Comic Sans MS" panose="030F0702030302020204" pitchFamily="66" charset="0"/>
              </a:rPr>
              <a:t>private:</a:t>
            </a:r>
          </a:p>
          <a:p>
            <a:pPr eaLnBrk="1" hangingPunct="1">
              <a:lnSpc>
                <a:spcPct val="85000"/>
              </a:lnSpc>
            </a:pPr>
            <a:r>
              <a:rPr kumimoji="1" lang="en-US" altLang="zh-CN" b="0" dirty="0">
                <a:solidFill>
                  <a:srgbClr val="104E87"/>
                </a:solidFill>
                <a:latin typeface="Comic Sans MS" panose="030F0702030302020204" pitchFamily="66" charset="0"/>
              </a:rPr>
              <a:t>   char *p;</a:t>
            </a:r>
          </a:p>
          <a:p>
            <a:pPr eaLnBrk="1" hangingPunct="1">
              <a:lnSpc>
                <a:spcPct val="85000"/>
              </a:lnSpc>
            </a:pPr>
            <a:r>
              <a:rPr kumimoji="1" lang="en-US" altLang="zh-CN" b="0" dirty="0">
                <a:solidFill>
                  <a:srgbClr val="104E87"/>
                </a:solidFill>
                <a:latin typeface="Comic Sans MS" panose="030F0702030302020204" pitchFamily="66" charset="0"/>
              </a:rPr>
              <a:t>};</a:t>
            </a:r>
          </a:p>
        </p:txBody>
      </p:sp>
      <p:sp>
        <p:nvSpPr>
          <p:cNvPr id="6" name="矩形 5">
            <a:extLst>
              <a:ext uri="{FF2B5EF4-FFF2-40B4-BE49-F238E27FC236}">
                <a16:creationId xmlns:a16="http://schemas.microsoft.com/office/drawing/2014/main" id="{CE74D78E-7CDB-6BF7-5425-73DC463E3BE4}"/>
              </a:ext>
            </a:extLst>
          </p:cNvPr>
          <p:cNvSpPr>
            <a:spLocks noChangeArrowheads="1"/>
          </p:cNvSpPr>
          <p:nvPr/>
        </p:nvSpPr>
        <p:spPr bwMode="auto">
          <a:xfrm>
            <a:off x="1831975" y="3576174"/>
            <a:ext cx="6096000" cy="2289858"/>
          </a:xfrm>
          <a:prstGeom prst="rect">
            <a:avLst/>
          </a:prstGeom>
          <a:solidFill>
            <a:schemeClr val="accent5">
              <a:lumMod val="20000"/>
              <a:lumOff val="80000"/>
            </a:schemeClr>
          </a:solidFill>
          <a:ln>
            <a:noFill/>
          </a:ln>
        </p:spPr>
        <p:txBody>
          <a:bodyPr wrap="square">
            <a:spAutoFit/>
          </a:bodyPr>
          <a:lstStyle/>
          <a:p>
            <a:pPr>
              <a:lnSpc>
                <a:spcPct val="85000"/>
              </a:lnSpc>
            </a:pPr>
            <a:r>
              <a:rPr kumimoji="1" lang="en-US" altLang="zh-CN" b="1" dirty="0">
                <a:solidFill>
                  <a:srgbClr val="FF0000"/>
                </a:solidFill>
                <a:latin typeface="Comic Sans MS" panose="030F0702030302020204" pitchFamily="66" charset="0"/>
                <a:ea typeface="宋体" panose="02010600030101010101" pitchFamily="2" charset="-122"/>
              </a:rPr>
              <a:t>Name::Name(const Name &amp;other)</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if (</a:t>
            </a:r>
            <a:r>
              <a:rPr kumimoji="1" lang="en-US" altLang="zh-CN" dirty="0" err="1">
                <a:solidFill>
                  <a:srgbClr val="104E87"/>
                </a:solidFill>
                <a:latin typeface="Comic Sans MS" panose="030F0702030302020204" pitchFamily="66" charset="0"/>
                <a:ea typeface="宋体" panose="02010600030101010101" pitchFamily="2" charset="-122"/>
              </a:rPr>
              <a:t>other.p</a:t>
            </a:r>
            <a:r>
              <a:rPr kumimoji="1" lang="en-US" altLang="zh-CN" dirty="0">
                <a:solidFill>
                  <a:srgbClr val="104E87"/>
                </a:solidFill>
                <a:latin typeface="Comic Sans MS" panose="030F0702030302020204" pitchFamily="66" charset="0"/>
                <a:ea typeface="宋体" panose="02010600030101010101" pitchFamily="2" charset="-122"/>
              </a:rPr>
              <a:t>!=NULL){</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 = new char[</a:t>
            </a:r>
            <a:r>
              <a:rPr kumimoji="1" lang="en-US" altLang="zh-CN" dirty="0" err="1">
                <a:solidFill>
                  <a:srgbClr val="104E87"/>
                </a:solidFill>
                <a:latin typeface="Comic Sans MS" panose="030F0702030302020204" pitchFamily="66" charset="0"/>
                <a:ea typeface="宋体" panose="02010600030101010101" pitchFamily="2" charset="-122"/>
              </a:rPr>
              <a:t>strlen</a:t>
            </a:r>
            <a:r>
              <a:rPr kumimoji="1" lang="en-US" altLang="zh-CN" dirty="0">
                <a:solidFill>
                  <a:srgbClr val="104E87"/>
                </a:solidFill>
                <a:latin typeface="Comic Sans MS" panose="030F0702030302020204" pitchFamily="66" charset="0"/>
                <a:ea typeface="宋体" panose="02010600030101010101" pitchFamily="2" charset="-122"/>
              </a:rPr>
              <a:t>(</a:t>
            </a:r>
            <a:r>
              <a:rPr kumimoji="1" lang="en-US" altLang="zh-CN" dirty="0" err="1">
                <a:solidFill>
                  <a:srgbClr val="104E87"/>
                </a:solidFill>
                <a:latin typeface="Comic Sans MS" panose="030F0702030302020204" pitchFamily="66" charset="0"/>
                <a:ea typeface="宋体" panose="02010600030101010101" pitchFamily="2" charset="-122"/>
              </a:rPr>
              <a:t>other.p</a:t>
            </a:r>
            <a:r>
              <a:rPr kumimoji="1" lang="en-US" altLang="zh-CN" dirty="0">
                <a:solidFill>
                  <a:srgbClr val="104E87"/>
                </a:solidFill>
                <a:latin typeface="Comic Sans MS" panose="030F0702030302020204" pitchFamily="66" charset="0"/>
                <a:ea typeface="宋体" panose="02010600030101010101" pitchFamily="2" charset="-122"/>
              </a:rPr>
              <a:t>) + 1];</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if (p!=NULL)	</a:t>
            </a:r>
            <a:r>
              <a:rPr kumimoji="1" lang="en-US" altLang="zh-CN" dirty="0" err="1">
                <a:solidFill>
                  <a:srgbClr val="104E87"/>
                </a:solidFill>
                <a:latin typeface="Comic Sans MS" panose="030F0702030302020204" pitchFamily="66" charset="0"/>
                <a:ea typeface="宋体" panose="02010600030101010101" pitchFamily="2" charset="-122"/>
              </a:rPr>
              <a:t>strcpy</a:t>
            </a:r>
            <a:r>
              <a:rPr kumimoji="1" lang="en-US" altLang="zh-CN" dirty="0">
                <a:solidFill>
                  <a:srgbClr val="104E87"/>
                </a:solidFill>
                <a:latin typeface="Comic Sans MS" panose="030F0702030302020204" pitchFamily="66" charset="0"/>
                <a:ea typeface="宋体" panose="02010600030101010101" pitchFamily="2" charset="-122"/>
              </a:rPr>
              <a:t>(p, </a:t>
            </a:r>
            <a:r>
              <a:rPr kumimoji="1" lang="en-US" altLang="zh-CN" dirty="0" err="1">
                <a:solidFill>
                  <a:srgbClr val="104E87"/>
                </a:solidFill>
                <a:latin typeface="Comic Sans MS" panose="030F0702030302020204" pitchFamily="66" charset="0"/>
                <a:ea typeface="宋体" panose="02010600030101010101" pitchFamily="2" charset="-122"/>
              </a:rPr>
              <a:t>other.p</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a:t>
            </a:r>
            <a:r>
              <a:rPr kumimoji="1" lang="en-US" altLang="zh-CN" dirty="0" err="1">
                <a:solidFill>
                  <a:srgbClr val="104E87"/>
                </a:solidFill>
                <a:latin typeface="Comic Sans MS" panose="030F0702030302020204" pitchFamily="66" charset="0"/>
                <a:ea typeface="宋体" panose="02010600030101010101" pitchFamily="2" charset="-122"/>
              </a:rPr>
              <a:t>cout</a:t>
            </a:r>
            <a:r>
              <a:rPr kumimoji="1" lang="en-US" altLang="zh-CN" dirty="0">
                <a:solidFill>
                  <a:srgbClr val="104E87"/>
                </a:solidFill>
                <a:latin typeface="Comic Sans MS" panose="030F0702030302020204" pitchFamily="66" charset="0"/>
                <a:ea typeface="宋体" panose="02010600030101010101" pitchFamily="2" charset="-122"/>
              </a:rPr>
              <a:t> &lt;&lt; "Copy constructing.\n";</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p>
        </p:txBody>
      </p:sp>
      <p:sp>
        <p:nvSpPr>
          <p:cNvPr id="7" name="Rectangle 2">
            <a:extLst>
              <a:ext uri="{FF2B5EF4-FFF2-40B4-BE49-F238E27FC236}">
                <a16:creationId xmlns:a16="http://schemas.microsoft.com/office/drawing/2014/main" id="{79862D1D-5698-2D6D-7583-F83F3CFE33AB}"/>
              </a:ext>
            </a:extLst>
          </p:cNvPr>
          <p:cNvSpPr txBox="1">
            <a:spLocks noChangeArrowheads="1"/>
          </p:cNvSpPr>
          <p:nvPr/>
        </p:nvSpPr>
        <p:spPr bwMode="auto">
          <a:xfrm>
            <a:off x="4300128" y="853489"/>
            <a:ext cx="2906713" cy="484188"/>
          </a:xfrm>
          <a:prstGeom prst="rect">
            <a:avLst/>
          </a:prstGeom>
          <a:noFill/>
          <a:ln w="9525">
            <a:noFill/>
            <a:miter lim="800000"/>
            <a:headEnd/>
            <a:tailEnd/>
          </a:ln>
        </p:spPr>
        <p:txBody>
          <a:bodyPr/>
          <a:lstStyle/>
          <a:p>
            <a:pPr marL="469900" indent="-469900" eaLnBrk="1" hangingPunct="1">
              <a:lnSpc>
                <a:spcPts val="3000"/>
              </a:lnSpc>
              <a:spcBef>
                <a:spcPts val="0"/>
              </a:spcBef>
              <a:buClr>
                <a:schemeClr val="bg2"/>
              </a:buClr>
              <a:buSzPct val="70000"/>
              <a:buFont typeface="Wingdings" pitchFamily="2" charset="2"/>
              <a:buNone/>
              <a:defRPr/>
            </a:pPr>
            <a:r>
              <a:rPr lang="zh-CN" altLang="en-US" dirty="0">
                <a:solidFill>
                  <a:srgbClr val="104E87"/>
                </a:solidFill>
                <a:latin typeface="Comic Sans MS" panose="030F0702030302020204" pitchFamily="66" charset="0"/>
              </a:rPr>
              <a:t>myname</a:t>
            </a:r>
            <a:r>
              <a:rPr lang="en-US" altLang="zh-CN" kern="0" dirty="0">
                <a:solidFill>
                  <a:srgbClr val="104E87"/>
                </a:solidFill>
                <a:latin typeface="Comic Sans MS" panose="030F0702030302020204" pitchFamily="66" charset="0"/>
              </a:rPr>
              <a:t>: p</a:t>
            </a:r>
          </a:p>
        </p:txBody>
      </p:sp>
      <p:sp>
        <p:nvSpPr>
          <p:cNvPr id="8" name="Line 17">
            <a:extLst>
              <a:ext uri="{FF2B5EF4-FFF2-40B4-BE49-F238E27FC236}">
                <a16:creationId xmlns:a16="http://schemas.microsoft.com/office/drawing/2014/main" id="{92D06ADB-05B7-BE67-EA8F-C07F1E64D4EA}"/>
              </a:ext>
            </a:extLst>
          </p:cNvPr>
          <p:cNvSpPr>
            <a:spLocks noChangeShapeType="1"/>
          </p:cNvSpPr>
          <p:nvPr/>
        </p:nvSpPr>
        <p:spPr bwMode="auto">
          <a:xfrm>
            <a:off x="5834448" y="1497834"/>
            <a:ext cx="894839" cy="0"/>
          </a:xfrm>
          <a:prstGeom prst="line">
            <a:avLst/>
          </a:prstGeom>
          <a:noFill/>
          <a:ln w="28575">
            <a:solidFill>
              <a:schemeClr val="accent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solidFill>
                <a:srgbClr val="104E87"/>
              </a:solidFill>
              <a:latin typeface="Comic Sans MS" panose="030F0702030302020204" pitchFamily="66" charset="0"/>
            </a:endParaRPr>
          </a:p>
        </p:txBody>
      </p:sp>
      <p:sp>
        <p:nvSpPr>
          <p:cNvPr id="9" name="Rectangle 2">
            <a:extLst>
              <a:ext uri="{FF2B5EF4-FFF2-40B4-BE49-F238E27FC236}">
                <a16:creationId xmlns:a16="http://schemas.microsoft.com/office/drawing/2014/main" id="{F2866E7F-9337-EF3F-5F53-4C889B0559B1}"/>
              </a:ext>
            </a:extLst>
          </p:cNvPr>
          <p:cNvSpPr txBox="1">
            <a:spLocks noChangeArrowheads="1"/>
          </p:cNvSpPr>
          <p:nvPr/>
        </p:nvSpPr>
        <p:spPr bwMode="auto">
          <a:xfrm>
            <a:off x="4300128" y="1759289"/>
            <a:ext cx="2611438" cy="431800"/>
          </a:xfrm>
          <a:prstGeom prst="rect">
            <a:avLst/>
          </a:prstGeom>
          <a:noFill/>
          <a:ln w="9525">
            <a:noFill/>
            <a:miter lim="800000"/>
            <a:headEnd/>
            <a:tailEnd/>
          </a:ln>
        </p:spPr>
        <p:txBody>
          <a:bodyPr/>
          <a:lstStyle/>
          <a:p>
            <a:pPr marL="469900" indent="-469900" eaLnBrk="1" hangingPunct="1">
              <a:lnSpc>
                <a:spcPts val="3000"/>
              </a:lnSpc>
              <a:spcBef>
                <a:spcPts val="0"/>
              </a:spcBef>
              <a:buClr>
                <a:schemeClr val="bg2"/>
              </a:buClr>
              <a:buSzPct val="70000"/>
              <a:buFont typeface="Wingdings" pitchFamily="2" charset="2"/>
              <a:buNone/>
              <a:defRPr/>
            </a:pPr>
            <a:r>
              <a:rPr lang="zh-CN" altLang="en-US" dirty="0">
                <a:solidFill>
                  <a:srgbClr val="104E87"/>
                </a:solidFill>
                <a:latin typeface="Comic Sans MS" panose="030F0702030302020204" pitchFamily="66" charset="0"/>
              </a:rPr>
              <a:t>yourname</a:t>
            </a:r>
            <a:r>
              <a:rPr lang="en-US" altLang="zh-CN" kern="0" dirty="0">
                <a:solidFill>
                  <a:srgbClr val="104E87"/>
                </a:solidFill>
                <a:latin typeface="Comic Sans MS" panose="030F0702030302020204" pitchFamily="66" charset="0"/>
              </a:rPr>
              <a:t>: p</a:t>
            </a:r>
          </a:p>
        </p:txBody>
      </p:sp>
      <p:sp>
        <p:nvSpPr>
          <p:cNvPr id="10" name="Text Box 8">
            <a:extLst>
              <a:ext uri="{FF2B5EF4-FFF2-40B4-BE49-F238E27FC236}">
                <a16:creationId xmlns:a16="http://schemas.microsoft.com/office/drawing/2014/main" id="{B5CECAFA-F6B9-003A-96EF-AF778BC5394E}"/>
              </a:ext>
            </a:extLst>
          </p:cNvPr>
          <p:cNvSpPr txBox="1">
            <a:spLocks noChangeArrowheads="1"/>
          </p:cNvSpPr>
          <p:nvPr/>
        </p:nvSpPr>
        <p:spPr bwMode="auto">
          <a:xfrm>
            <a:off x="6657811" y="1301804"/>
            <a:ext cx="1228161"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 “wang”</a:t>
            </a:r>
          </a:p>
        </p:txBody>
      </p:sp>
      <p:sp>
        <p:nvSpPr>
          <p:cNvPr id="11" name="Text Box 8">
            <a:extLst>
              <a:ext uri="{FF2B5EF4-FFF2-40B4-BE49-F238E27FC236}">
                <a16:creationId xmlns:a16="http://schemas.microsoft.com/office/drawing/2014/main" id="{739F1ED4-36A4-2A64-023A-93A56A12AE3B}"/>
              </a:ext>
            </a:extLst>
          </p:cNvPr>
          <p:cNvSpPr txBox="1">
            <a:spLocks noChangeArrowheads="1"/>
          </p:cNvSpPr>
          <p:nvPr/>
        </p:nvSpPr>
        <p:spPr bwMode="auto">
          <a:xfrm>
            <a:off x="4458085" y="1296221"/>
            <a:ext cx="1295400"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2000H</a:t>
            </a:r>
          </a:p>
        </p:txBody>
      </p:sp>
      <p:sp>
        <p:nvSpPr>
          <p:cNvPr id="12" name="Line 17">
            <a:extLst>
              <a:ext uri="{FF2B5EF4-FFF2-40B4-BE49-F238E27FC236}">
                <a16:creationId xmlns:a16="http://schemas.microsoft.com/office/drawing/2014/main" id="{89C03C05-CE88-53B8-244B-8813E738C797}"/>
              </a:ext>
            </a:extLst>
          </p:cNvPr>
          <p:cNvSpPr>
            <a:spLocks noChangeShapeType="1"/>
          </p:cNvSpPr>
          <p:nvPr/>
        </p:nvSpPr>
        <p:spPr bwMode="auto">
          <a:xfrm>
            <a:off x="5772536" y="2343726"/>
            <a:ext cx="956752" cy="19909"/>
          </a:xfrm>
          <a:prstGeom prst="line">
            <a:avLst/>
          </a:prstGeom>
          <a:noFill/>
          <a:ln w="28575">
            <a:solidFill>
              <a:schemeClr val="accent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solidFill>
                <a:srgbClr val="104E87"/>
              </a:solidFill>
              <a:latin typeface="Comic Sans MS" panose="030F0702030302020204" pitchFamily="66" charset="0"/>
            </a:endParaRPr>
          </a:p>
        </p:txBody>
      </p:sp>
      <p:sp>
        <p:nvSpPr>
          <p:cNvPr id="13" name="Text Box 8">
            <a:extLst>
              <a:ext uri="{FF2B5EF4-FFF2-40B4-BE49-F238E27FC236}">
                <a16:creationId xmlns:a16="http://schemas.microsoft.com/office/drawing/2014/main" id="{2F92AEC7-6D51-9CFD-909E-557CC5510632}"/>
              </a:ext>
            </a:extLst>
          </p:cNvPr>
          <p:cNvSpPr txBox="1">
            <a:spLocks noChangeArrowheads="1"/>
          </p:cNvSpPr>
          <p:nvPr/>
        </p:nvSpPr>
        <p:spPr bwMode="auto">
          <a:xfrm>
            <a:off x="6750803" y="2085097"/>
            <a:ext cx="1179131"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 “wang”</a:t>
            </a:r>
          </a:p>
        </p:txBody>
      </p:sp>
      <p:sp>
        <p:nvSpPr>
          <p:cNvPr id="14" name="Text Box 8">
            <a:extLst>
              <a:ext uri="{FF2B5EF4-FFF2-40B4-BE49-F238E27FC236}">
                <a16:creationId xmlns:a16="http://schemas.microsoft.com/office/drawing/2014/main" id="{75B681F5-FFDB-2A87-33C2-F96100DBFDC3}"/>
              </a:ext>
            </a:extLst>
          </p:cNvPr>
          <p:cNvSpPr txBox="1">
            <a:spLocks noChangeArrowheads="1"/>
          </p:cNvSpPr>
          <p:nvPr/>
        </p:nvSpPr>
        <p:spPr bwMode="auto">
          <a:xfrm>
            <a:off x="4467610" y="2188518"/>
            <a:ext cx="1295400"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3300H</a:t>
            </a:r>
          </a:p>
        </p:txBody>
      </p:sp>
    </p:spTree>
    <p:extLst>
      <p:ext uri="{BB962C8B-B14F-4D97-AF65-F5344CB8AC3E}">
        <p14:creationId xmlns:p14="http://schemas.microsoft.com/office/powerpoint/2010/main" val="389647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1+#ppt_w/2"/>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animBg="1"/>
      <p:bldP spid="7" grpId="0"/>
      <p:bldP spid="9" grpId="0"/>
      <p:bldP spid="10"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3" name="文本框 12">
            <a:extLst>
              <a:ext uri="{FF2B5EF4-FFF2-40B4-BE49-F238E27FC236}">
                <a16:creationId xmlns:a16="http://schemas.microsoft.com/office/drawing/2014/main" id="{43F244FC-8D21-49B2-B0B4-0A8EA81FAD3C}"/>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赋值运算符重载</a:t>
            </a:r>
            <a:r>
              <a:rPr lang="en-US" altLang="zh-CN" sz="3200" dirty="0">
                <a:solidFill>
                  <a:srgbClr val="FF0000"/>
                </a:solidFill>
              </a:rPr>
              <a:t>operator=</a:t>
            </a:r>
            <a:endParaRPr lang="zh-CN" altLang="en-US" dirty="0">
              <a:solidFill>
                <a:srgbClr val="FF0000"/>
              </a:solidFill>
              <a:sym typeface="+mn-lt"/>
            </a:endParaRPr>
          </a:p>
        </p:txBody>
      </p:sp>
      <p:sp>
        <p:nvSpPr>
          <p:cNvPr id="19" name="矩形 6">
            <a:extLst>
              <a:ext uri="{FF2B5EF4-FFF2-40B4-BE49-F238E27FC236}">
                <a16:creationId xmlns:a16="http://schemas.microsoft.com/office/drawing/2014/main" id="{C44D6781-D0DF-4579-A208-D6D50AFA1B2E}"/>
              </a:ext>
            </a:extLst>
          </p:cNvPr>
          <p:cNvSpPr>
            <a:spLocks noChangeArrowheads="1"/>
          </p:cNvSpPr>
          <p:nvPr/>
        </p:nvSpPr>
        <p:spPr bwMode="auto">
          <a:xfrm>
            <a:off x="60432" y="859811"/>
            <a:ext cx="4621090" cy="291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int main()</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{Name myname(</a:t>
            </a:r>
            <a:r>
              <a:rPr kumimoji="1" lang="en-US" altLang="zh-CN" dirty="0">
                <a:solidFill>
                  <a:srgbClr val="104E87"/>
                </a:solidFill>
                <a:latin typeface="Comic Sans MS" panose="030F0702030302020204" pitchFamily="66" charset="0"/>
                <a:ea typeface="宋体" panose="02010600030101010101" pitchFamily="2" charset="-122"/>
              </a:rPr>
              <a:t>“</a:t>
            </a:r>
            <a:r>
              <a:rPr kumimoji="1" lang="en-US" altLang="zh-CN" dirty="0" err="1">
                <a:solidFill>
                  <a:srgbClr val="104E87"/>
                </a:solidFill>
                <a:latin typeface="Comic Sans MS" panose="030F0702030302020204" pitchFamily="66" charset="0"/>
                <a:ea typeface="宋体" panose="02010600030101010101" pitchFamily="2" charset="-122"/>
              </a:rPr>
              <a:t>zhang</a:t>
            </a:r>
            <a:r>
              <a:rPr kumimoji="1" lang="en-US" altLang="zh-CN" dirty="0">
                <a:solidFill>
                  <a:srgbClr val="104E87"/>
                </a:solidFill>
                <a:latin typeface="Comic Sans MS" panose="030F0702030302020204" pitchFamily="66" charset="0"/>
                <a:ea typeface="宋体" panose="02010600030101010101" pitchFamily="2" charset="-122"/>
              </a:rPr>
              <a:t>"</a:t>
            </a:r>
            <a:r>
              <a:rPr kumimoji="1" lang="zh-CN" altLang="en-US" dirty="0">
                <a:solidFill>
                  <a:srgbClr val="104E87"/>
                </a:solidFill>
                <a:latin typeface="Comic Sans MS" panose="030F0702030302020204" pitchFamily="66" charset="0"/>
                <a:ea typeface="宋体" panose="02010600030101010101" pitchFamily="2" charset="-122"/>
              </a:rPr>
              <a:t>)</a:t>
            </a:r>
            <a:r>
              <a:rPr kumimoji="1" lang="en-US" altLang="zh-CN" dirty="0">
                <a:solidFill>
                  <a:srgbClr val="104E87"/>
                </a:solidFill>
                <a:latin typeface="Comic Sans MS" panose="030F0702030302020204" pitchFamily="66" charset="0"/>
                <a:ea typeface="宋体" panose="02010600030101010101" pitchFamily="2" charset="-122"/>
              </a:rPr>
              <a:t> </a:t>
            </a:r>
            <a:r>
              <a:rPr kumimoji="1" lang="zh-CN" altLang="en-US" dirty="0">
                <a:solidFill>
                  <a:srgbClr val="104E87"/>
                </a:solidFill>
                <a:latin typeface="Comic Sans MS" panose="030F0702030302020204" pitchFamily="66" charset="0"/>
                <a:ea typeface="宋体" panose="02010600030101010101" pitchFamily="2" charset="-122"/>
              </a:rPr>
              <a:t>;	</a:t>
            </a:r>
            <a:endParaRPr kumimoji="1" lang="en-US" altLang="zh-CN" dirty="0">
              <a:solidFill>
                <a:srgbClr val="104E87"/>
              </a:solidFill>
              <a:latin typeface="Comic Sans MS" panose="030F0702030302020204" pitchFamily="66" charset="0"/>
              <a:ea typeface="宋体" panose="02010600030101010101" pitchFamily="2" charset="-122"/>
            </a:endParaRP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Name yourname(</a:t>
            </a:r>
            <a:r>
              <a:rPr kumimoji="1" lang="en-US" altLang="zh-CN" dirty="0">
                <a:solidFill>
                  <a:srgbClr val="104E87"/>
                </a:solidFill>
                <a:latin typeface="Comic Sans MS" panose="030F0702030302020204" pitchFamily="66" charset="0"/>
                <a:ea typeface="宋体" panose="02010600030101010101" pitchFamily="2" charset="-122"/>
              </a:rPr>
              <a:t>“wang"</a:t>
            </a:r>
            <a:r>
              <a:rPr kumimoji="1" lang="zh-CN" altLang="en-US" dirty="0">
                <a:solidFill>
                  <a:srgbClr val="104E87"/>
                </a:solidFill>
                <a:latin typeface="Comic Sans MS" panose="030F0702030302020204" pitchFamily="66" charset="0"/>
                <a:ea typeface="宋体" panose="02010600030101010101" pitchFamily="2" charset="-122"/>
              </a:rPr>
              <a:t>);	</a:t>
            </a:r>
            <a:endParaRPr kumimoji="1" lang="en-US" altLang="zh-CN" dirty="0">
              <a:solidFill>
                <a:srgbClr val="104E87"/>
              </a:solidFill>
              <a:latin typeface="Comic Sans MS" panose="030F0702030302020204" pitchFamily="66" charset="0"/>
              <a:ea typeface="宋体" panose="02010600030101010101" pitchFamily="2" charset="-122"/>
            </a:endParaRPr>
          </a:p>
          <a:p>
            <a:pPr>
              <a:lnSpc>
                <a:spcPct val="85000"/>
              </a:lnSpc>
            </a:pPr>
            <a:r>
              <a:rPr kumimoji="1" lang="zh-CN" altLang="en-US" b="1" dirty="0">
                <a:solidFill>
                  <a:srgbClr val="FF0000"/>
                </a:solidFill>
                <a:latin typeface="Comic Sans MS" panose="030F0702030302020204" pitchFamily="66" charset="0"/>
                <a:ea typeface="宋体" panose="02010600030101010101" pitchFamily="2" charset="-122"/>
              </a:rPr>
              <a:t>myname </a:t>
            </a:r>
            <a:r>
              <a:rPr kumimoji="1" lang="en-US" altLang="zh-CN" b="1" dirty="0">
                <a:solidFill>
                  <a:srgbClr val="FF0000"/>
                </a:solidFill>
                <a:latin typeface="Comic Sans MS" panose="030F0702030302020204" pitchFamily="66" charset="0"/>
                <a:ea typeface="宋体" panose="02010600030101010101" pitchFamily="2" charset="-122"/>
              </a:rPr>
              <a:t>= </a:t>
            </a:r>
            <a:r>
              <a:rPr kumimoji="1" lang="zh-CN" altLang="en-US" b="1" dirty="0">
                <a:solidFill>
                  <a:srgbClr val="FF0000"/>
                </a:solidFill>
                <a:latin typeface="Comic Sans MS" panose="030F0702030302020204" pitchFamily="66" charset="0"/>
                <a:ea typeface="宋体" panose="02010600030101010101" pitchFamily="2" charset="-122"/>
              </a:rPr>
              <a:t>yourname ;</a:t>
            </a:r>
            <a:endParaRPr kumimoji="1" lang="en-US" altLang="zh-CN" b="1" dirty="0">
              <a:solidFill>
                <a:srgbClr val="FF0000"/>
              </a:solidFill>
              <a:latin typeface="Comic Sans MS" panose="030F0702030302020204" pitchFamily="66" charset="0"/>
              <a:ea typeface="宋体" panose="02010600030101010101" pitchFamily="2" charset="-122"/>
            </a:endParaRPr>
          </a:p>
          <a:p>
            <a:pPr>
              <a:lnSpc>
                <a:spcPct val="85000"/>
              </a:lnSpc>
            </a:pPr>
            <a:r>
              <a:rPr kumimoji="1" lang="en-US" altLang="zh-CN" b="1" dirty="0" err="1">
                <a:solidFill>
                  <a:srgbClr val="FF0000"/>
                </a:solidFill>
                <a:latin typeface="Comic Sans MS" panose="030F0702030302020204" pitchFamily="66" charset="0"/>
                <a:ea typeface="宋体" panose="02010600030101010101" pitchFamily="2" charset="-122"/>
              </a:rPr>
              <a:t>yourname.set</a:t>
            </a:r>
            <a:r>
              <a:rPr kumimoji="1" lang="en-US" altLang="zh-CN" b="1" dirty="0">
                <a:solidFill>
                  <a:srgbClr val="FF0000"/>
                </a:solidFill>
                <a:latin typeface="Comic Sans MS" panose="030F0702030302020204" pitchFamily="66" charset="0"/>
                <a:ea typeface="宋体" panose="02010600030101010101" pitchFamily="2" charset="-122"/>
              </a:rPr>
              <a:t>("</a:t>
            </a:r>
            <a:r>
              <a:rPr kumimoji="1" lang="en-US" altLang="zh-CN" b="1" dirty="0" err="1">
                <a:solidFill>
                  <a:srgbClr val="FF0000"/>
                </a:solidFill>
                <a:latin typeface="Comic Sans MS" panose="030F0702030302020204" pitchFamily="66" charset="0"/>
                <a:ea typeface="宋体" panose="02010600030101010101" pitchFamily="2" charset="-122"/>
              </a:rPr>
              <a:t>henhenhaha</a:t>
            </a:r>
            <a:r>
              <a:rPr kumimoji="1" lang="en-US" altLang="zh-CN" b="1" dirty="0">
                <a:solidFill>
                  <a:srgbClr val="FF0000"/>
                </a:solidFill>
                <a:latin typeface="Comic Sans MS" panose="030F0702030302020204" pitchFamily="66" charset="0"/>
                <a:ea typeface="宋体" panose="02010600030101010101" pitchFamily="2" charset="-122"/>
              </a:rPr>
              <a:t>");</a:t>
            </a:r>
            <a:endParaRPr kumimoji="1" lang="zh-CN" altLang="en-US" b="1" dirty="0">
              <a:solidFill>
                <a:srgbClr val="FF0000"/>
              </a:solidFill>
              <a:latin typeface="Comic Sans MS" panose="030F0702030302020204" pitchFamily="66" charset="0"/>
              <a:ea typeface="宋体" panose="02010600030101010101" pitchFamily="2" charset="-122"/>
            </a:endParaRP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myname.show(); </a:t>
            </a:r>
            <a:endParaRPr kumimoji="1" lang="en-US" altLang="zh-CN" dirty="0">
              <a:solidFill>
                <a:srgbClr val="104E87"/>
              </a:solidFill>
              <a:latin typeface="Comic Sans MS" panose="030F0702030302020204" pitchFamily="66" charset="0"/>
              <a:ea typeface="宋体" panose="02010600030101010101" pitchFamily="2" charset="-122"/>
            </a:endParaRP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yourname.show();</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return 0;</a:t>
            </a:r>
          </a:p>
          <a:p>
            <a:pPr>
              <a:lnSpc>
                <a:spcPct val="85000"/>
              </a:lnSpc>
            </a:pPr>
            <a:r>
              <a:rPr kumimoji="1" lang="zh-CN" altLang="en-US" dirty="0">
                <a:solidFill>
                  <a:srgbClr val="104E87"/>
                </a:solidFill>
                <a:latin typeface="Comic Sans MS" panose="030F0702030302020204" pitchFamily="66" charset="0"/>
                <a:ea typeface="宋体" panose="02010600030101010101" pitchFamily="2" charset="-122"/>
              </a:rPr>
              <a:t>}</a:t>
            </a:r>
          </a:p>
        </p:txBody>
      </p:sp>
      <p:sp>
        <p:nvSpPr>
          <p:cNvPr id="20" name="Rectangle 2">
            <a:extLst>
              <a:ext uri="{FF2B5EF4-FFF2-40B4-BE49-F238E27FC236}">
                <a16:creationId xmlns:a16="http://schemas.microsoft.com/office/drawing/2014/main" id="{ED60115B-26A1-4CAC-A010-52EC020D8BEA}"/>
              </a:ext>
            </a:extLst>
          </p:cNvPr>
          <p:cNvSpPr txBox="1">
            <a:spLocks noChangeArrowheads="1"/>
          </p:cNvSpPr>
          <p:nvPr/>
        </p:nvSpPr>
        <p:spPr bwMode="auto">
          <a:xfrm>
            <a:off x="4603767" y="825083"/>
            <a:ext cx="2906713" cy="484188"/>
          </a:xfrm>
          <a:prstGeom prst="rect">
            <a:avLst/>
          </a:prstGeom>
          <a:noFill/>
          <a:ln w="9525">
            <a:noFill/>
            <a:miter lim="800000"/>
            <a:headEnd/>
            <a:tailEnd/>
          </a:ln>
        </p:spPr>
        <p:txBody>
          <a:bodyPr/>
          <a:lstStyle/>
          <a:p>
            <a:pPr marL="469900" indent="-469900" eaLnBrk="1" hangingPunct="1">
              <a:lnSpc>
                <a:spcPts val="3000"/>
              </a:lnSpc>
              <a:spcBef>
                <a:spcPts val="0"/>
              </a:spcBef>
              <a:buClr>
                <a:schemeClr val="bg2"/>
              </a:buClr>
              <a:buSzPct val="70000"/>
              <a:buFont typeface="Wingdings" pitchFamily="2" charset="2"/>
              <a:buNone/>
              <a:defRPr/>
            </a:pPr>
            <a:r>
              <a:rPr lang="zh-CN" altLang="en-US" dirty="0">
                <a:solidFill>
                  <a:srgbClr val="104E87"/>
                </a:solidFill>
                <a:latin typeface="Comic Sans MS" panose="030F0702030302020204" pitchFamily="66" charset="0"/>
              </a:rPr>
              <a:t>myname</a:t>
            </a:r>
            <a:r>
              <a:rPr lang="en-US" altLang="zh-CN" kern="0" dirty="0">
                <a:solidFill>
                  <a:srgbClr val="104E87"/>
                </a:solidFill>
                <a:latin typeface="Comic Sans MS" panose="030F0702030302020204" pitchFamily="66" charset="0"/>
              </a:rPr>
              <a:t>: p</a:t>
            </a:r>
          </a:p>
        </p:txBody>
      </p:sp>
      <p:sp>
        <p:nvSpPr>
          <p:cNvPr id="23" name="Line 17">
            <a:extLst>
              <a:ext uri="{FF2B5EF4-FFF2-40B4-BE49-F238E27FC236}">
                <a16:creationId xmlns:a16="http://schemas.microsoft.com/office/drawing/2014/main" id="{D27F3507-E138-4A47-B49E-8AF6FCC4D667}"/>
              </a:ext>
            </a:extLst>
          </p:cNvPr>
          <p:cNvSpPr>
            <a:spLocks noChangeShapeType="1"/>
          </p:cNvSpPr>
          <p:nvPr/>
        </p:nvSpPr>
        <p:spPr bwMode="auto">
          <a:xfrm>
            <a:off x="6138087" y="1469427"/>
            <a:ext cx="1068756" cy="12389"/>
          </a:xfrm>
          <a:prstGeom prst="line">
            <a:avLst/>
          </a:prstGeom>
          <a:noFill/>
          <a:ln w="28575">
            <a:solidFill>
              <a:schemeClr val="accent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solidFill>
                <a:srgbClr val="104E87"/>
              </a:solidFill>
              <a:latin typeface="Comic Sans MS" panose="030F0702030302020204" pitchFamily="66" charset="0"/>
            </a:endParaRPr>
          </a:p>
        </p:txBody>
      </p:sp>
      <p:sp>
        <p:nvSpPr>
          <p:cNvPr id="24" name="Rectangle 2">
            <a:extLst>
              <a:ext uri="{FF2B5EF4-FFF2-40B4-BE49-F238E27FC236}">
                <a16:creationId xmlns:a16="http://schemas.microsoft.com/office/drawing/2014/main" id="{E4817796-B6EB-46F0-B0E2-6FD36C76EEA9}"/>
              </a:ext>
            </a:extLst>
          </p:cNvPr>
          <p:cNvSpPr txBox="1">
            <a:spLocks noChangeArrowheads="1"/>
          </p:cNvSpPr>
          <p:nvPr/>
        </p:nvSpPr>
        <p:spPr bwMode="auto">
          <a:xfrm>
            <a:off x="4603767" y="1730883"/>
            <a:ext cx="2611438" cy="431800"/>
          </a:xfrm>
          <a:prstGeom prst="rect">
            <a:avLst/>
          </a:prstGeom>
          <a:noFill/>
          <a:ln w="9525">
            <a:noFill/>
            <a:miter lim="800000"/>
            <a:headEnd/>
            <a:tailEnd/>
          </a:ln>
        </p:spPr>
        <p:txBody>
          <a:bodyPr/>
          <a:lstStyle/>
          <a:p>
            <a:pPr marL="469900" indent="-469900" eaLnBrk="1" hangingPunct="1">
              <a:lnSpc>
                <a:spcPts val="3000"/>
              </a:lnSpc>
              <a:spcBef>
                <a:spcPts val="0"/>
              </a:spcBef>
              <a:buClr>
                <a:schemeClr val="bg2"/>
              </a:buClr>
              <a:buSzPct val="70000"/>
              <a:buFont typeface="Wingdings" pitchFamily="2" charset="2"/>
              <a:buNone/>
              <a:defRPr/>
            </a:pPr>
            <a:r>
              <a:rPr lang="zh-CN" altLang="en-US" dirty="0">
                <a:solidFill>
                  <a:srgbClr val="104E87"/>
                </a:solidFill>
                <a:latin typeface="Comic Sans MS" panose="030F0702030302020204" pitchFamily="66" charset="0"/>
              </a:rPr>
              <a:t>yourname</a:t>
            </a:r>
            <a:r>
              <a:rPr lang="en-US" altLang="zh-CN" kern="0" dirty="0">
                <a:solidFill>
                  <a:srgbClr val="104E87"/>
                </a:solidFill>
                <a:latin typeface="Comic Sans MS" panose="030F0702030302020204" pitchFamily="66" charset="0"/>
              </a:rPr>
              <a:t>: p</a:t>
            </a:r>
          </a:p>
        </p:txBody>
      </p:sp>
      <p:sp>
        <p:nvSpPr>
          <p:cNvPr id="25" name="Text Box 8">
            <a:extLst>
              <a:ext uri="{FF2B5EF4-FFF2-40B4-BE49-F238E27FC236}">
                <a16:creationId xmlns:a16="http://schemas.microsoft.com/office/drawing/2014/main" id="{974CD628-E792-46B5-949A-F4E112DD2E04}"/>
              </a:ext>
            </a:extLst>
          </p:cNvPr>
          <p:cNvSpPr txBox="1">
            <a:spLocks noChangeArrowheads="1"/>
          </p:cNvSpPr>
          <p:nvPr/>
        </p:nvSpPr>
        <p:spPr bwMode="auto">
          <a:xfrm>
            <a:off x="7228150" y="1273398"/>
            <a:ext cx="1228161"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 “</a:t>
            </a:r>
            <a:r>
              <a:rPr kumimoji="1" lang="en-US" altLang="zh-CN" b="0" dirty="0" err="1">
                <a:solidFill>
                  <a:srgbClr val="104E87"/>
                </a:solidFill>
                <a:latin typeface="Comic Sans MS" panose="030F0702030302020204" pitchFamily="66" charset="0"/>
              </a:rPr>
              <a:t>zhang</a:t>
            </a:r>
            <a:r>
              <a:rPr kumimoji="1" lang="en-US" altLang="zh-CN" b="0" dirty="0">
                <a:solidFill>
                  <a:srgbClr val="104E87"/>
                </a:solidFill>
                <a:latin typeface="Comic Sans MS" panose="030F0702030302020204" pitchFamily="66" charset="0"/>
              </a:rPr>
              <a:t>”</a:t>
            </a:r>
          </a:p>
        </p:txBody>
      </p:sp>
      <p:sp>
        <p:nvSpPr>
          <p:cNvPr id="26" name="Text Box 8">
            <a:extLst>
              <a:ext uri="{FF2B5EF4-FFF2-40B4-BE49-F238E27FC236}">
                <a16:creationId xmlns:a16="http://schemas.microsoft.com/office/drawing/2014/main" id="{F958053D-64AB-4418-9323-0869B19DF698}"/>
              </a:ext>
            </a:extLst>
          </p:cNvPr>
          <p:cNvSpPr txBox="1">
            <a:spLocks noChangeArrowheads="1"/>
          </p:cNvSpPr>
          <p:nvPr/>
        </p:nvSpPr>
        <p:spPr bwMode="auto">
          <a:xfrm>
            <a:off x="4761724" y="1267815"/>
            <a:ext cx="1295400"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2000H</a:t>
            </a:r>
          </a:p>
        </p:txBody>
      </p:sp>
      <p:sp>
        <p:nvSpPr>
          <p:cNvPr id="27" name="Line 17">
            <a:extLst>
              <a:ext uri="{FF2B5EF4-FFF2-40B4-BE49-F238E27FC236}">
                <a16:creationId xmlns:a16="http://schemas.microsoft.com/office/drawing/2014/main" id="{F5F9EC51-D17F-4199-A63A-69BFDAC822A4}"/>
              </a:ext>
            </a:extLst>
          </p:cNvPr>
          <p:cNvSpPr>
            <a:spLocks noChangeShapeType="1"/>
          </p:cNvSpPr>
          <p:nvPr/>
        </p:nvSpPr>
        <p:spPr bwMode="auto">
          <a:xfrm>
            <a:off x="6076174" y="2315320"/>
            <a:ext cx="1130667" cy="7519"/>
          </a:xfrm>
          <a:prstGeom prst="line">
            <a:avLst/>
          </a:prstGeom>
          <a:noFill/>
          <a:ln w="28575">
            <a:solidFill>
              <a:schemeClr val="accent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solidFill>
                <a:srgbClr val="104E87"/>
              </a:solidFill>
              <a:latin typeface="Comic Sans MS" panose="030F0702030302020204" pitchFamily="66" charset="0"/>
            </a:endParaRPr>
          </a:p>
        </p:txBody>
      </p:sp>
      <p:sp>
        <p:nvSpPr>
          <p:cNvPr id="29" name="Text Box 8">
            <a:extLst>
              <a:ext uri="{FF2B5EF4-FFF2-40B4-BE49-F238E27FC236}">
                <a16:creationId xmlns:a16="http://schemas.microsoft.com/office/drawing/2014/main" id="{FE433420-C93C-49D7-9618-F6B60CB6E8C9}"/>
              </a:ext>
            </a:extLst>
          </p:cNvPr>
          <p:cNvSpPr txBox="1">
            <a:spLocks noChangeArrowheads="1"/>
          </p:cNvSpPr>
          <p:nvPr/>
        </p:nvSpPr>
        <p:spPr bwMode="auto">
          <a:xfrm>
            <a:off x="7206842" y="2056691"/>
            <a:ext cx="1179131"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 “wang”</a:t>
            </a:r>
          </a:p>
        </p:txBody>
      </p:sp>
      <p:sp>
        <p:nvSpPr>
          <p:cNvPr id="30" name="Text Box 8">
            <a:extLst>
              <a:ext uri="{FF2B5EF4-FFF2-40B4-BE49-F238E27FC236}">
                <a16:creationId xmlns:a16="http://schemas.microsoft.com/office/drawing/2014/main" id="{2E8534B6-A3F0-4550-B8D6-B0719FF235D9}"/>
              </a:ext>
            </a:extLst>
          </p:cNvPr>
          <p:cNvSpPr txBox="1">
            <a:spLocks noChangeArrowheads="1"/>
          </p:cNvSpPr>
          <p:nvPr/>
        </p:nvSpPr>
        <p:spPr bwMode="auto">
          <a:xfrm>
            <a:off x="4771249" y="2160112"/>
            <a:ext cx="1295400"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solidFill>
                  <a:srgbClr val="104E87"/>
                </a:solidFill>
                <a:latin typeface="Comic Sans MS" panose="030F0702030302020204" pitchFamily="66" charset="0"/>
              </a:rPr>
              <a:t>3300H</a:t>
            </a:r>
          </a:p>
        </p:txBody>
      </p:sp>
      <p:grpSp>
        <p:nvGrpSpPr>
          <p:cNvPr id="31" name="组合 15">
            <a:extLst>
              <a:ext uri="{FF2B5EF4-FFF2-40B4-BE49-F238E27FC236}">
                <a16:creationId xmlns:a16="http://schemas.microsoft.com/office/drawing/2014/main" id="{FAEBCAB7-543E-44E8-8E96-85580BEFFEAC}"/>
              </a:ext>
            </a:extLst>
          </p:cNvPr>
          <p:cNvGrpSpPr>
            <a:grpSpLocks/>
          </p:cNvGrpSpPr>
          <p:nvPr/>
        </p:nvGrpSpPr>
        <p:grpSpPr bwMode="auto">
          <a:xfrm>
            <a:off x="4686217" y="1267038"/>
            <a:ext cx="2528988" cy="874981"/>
            <a:chOff x="4055941" y="462857"/>
            <a:chExt cx="2528118" cy="874991"/>
          </a:xfrm>
        </p:grpSpPr>
        <p:sp>
          <p:nvSpPr>
            <p:cNvPr id="32" name="Text Box 20">
              <a:extLst>
                <a:ext uri="{FF2B5EF4-FFF2-40B4-BE49-F238E27FC236}">
                  <a16:creationId xmlns:a16="http://schemas.microsoft.com/office/drawing/2014/main" id="{5973B750-124B-469B-90C8-B2C99ADC1FA3}"/>
                </a:ext>
              </a:extLst>
            </p:cNvPr>
            <p:cNvSpPr txBox="1">
              <a:spLocks noChangeArrowheads="1"/>
            </p:cNvSpPr>
            <p:nvPr/>
          </p:nvSpPr>
          <p:spPr bwMode="auto">
            <a:xfrm>
              <a:off x="4055941" y="462857"/>
              <a:ext cx="1440160" cy="461671"/>
            </a:xfrm>
            <a:prstGeom prst="rect">
              <a:avLst/>
            </a:prstGeom>
            <a:solidFill>
              <a:schemeClr val="tx2"/>
            </a:solidFill>
            <a:ln w="9525">
              <a:solidFill>
                <a:srgbClr val="000000"/>
              </a:solidFill>
              <a:miter lim="800000"/>
              <a:headEnd/>
              <a:tailEnd/>
            </a:ln>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b="0" dirty="0">
                  <a:latin typeface="Comic Sans MS" panose="030F0702030302020204" pitchFamily="66" charset="0"/>
                </a:rPr>
                <a:t>3300H</a:t>
              </a:r>
            </a:p>
          </p:txBody>
        </p:sp>
        <p:sp>
          <p:nvSpPr>
            <p:cNvPr id="33" name="Line 17">
              <a:extLst>
                <a:ext uri="{FF2B5EF4-FFF2-40B4-BE49-F238E27FC236}">
                  <a16:creationId xmlns:a16="http://schemas.microsoft.com/office/drawing/2014/main" id="{44EADE77-0556-4A91-869F-63F0B515A084}"/>
                </a:ext>
              </a:extLst>
            </p:cNvPr>
            <p:cNvSpPr>
              <a:spLocks noChangeShapeType="1"/>
            </p:cNvSpPr>
            <p:nvPr/>
          </p:nvSpPr>
          <p:spPr bwMode="auto">
            <a:xfrm>
              <a:off x="5528633" y="698303"/>
              <a:ext cx="1055426" cy="639545"/>
            </a:xfrm>
            <a:prstGeom prst="line">
              <a:avLst/>
            </a:prstGeom>
            <a:noFill/>
            <a:ln w="28575">
              <a:solidFill>
                <a:schemeClr val="accent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solidFill>
                  <a:srgbClr val="104E87"/>
                </a:solidFill>
                <a:latin typeface="Comic Sans MS" panose="030F0702030302020204" pitchFamily="66" charset="0"/>
              </a:endParaRPr>
            </a:p>
          </p:txBody>
        </p:sp>
      </p:grpSp>
      <p:sp>
        <p:nvSpPr>
          <p:cNvPr id="34" name="矩形 33">
            <a:extLst>
              <a:ext uri="{FF2B5EF4-FFF2-40B4-BE49-F238E27FC236}">
                <a16:creationId xmlns:a16="http://schemas.microsoft.com/office/drawing/2014/main" id="{9338A6DF-AEE9-4355-8C8E-CA2718C82221}"/>
              </a:ext>
            </a:extLst>
          </p:cNvPr>
          <p:cNvSpPr/>
          <p:nvPr/>
        </p:nvSpPr>
        <p:spPr>
          <a:xfrm>
            <a:off x="8460472" y="959784"/>
            <a:ext cx="3662772" cy="1569660"/>
          </a:xfrm>
          <a:prstGeom prst="rect">
            <a:avLst/>
          </a:prstGeom>
        </p:spPr>
        <p:txBody>
          <a:bodyPr wrap="square">
            <a:spAutoFit/>
          </a:bodyPr>
          <a:lstStyle/>
          <a:p>
            <a:pPr algn="just" eaLnBrk="1" hangingPunct="1">
              <a:buFont typeface="Wingdings" pitchFamily="2" charset="2"/>
              <a:buNone/>
              <a:defRPr/>
            </a:pPr>
            <a:r>
              <a:rPr lang="en-US" altLang="zh-CN" spc="-150" dirty="0">
                <a:solidFill>
                  <a:srgbClr val="FF0000"/>
                </a:solidFill>
                <a:latin typeface="华光行书_CNKI" panose="02000500000000000000" pitchFamily="2" charset="-122"/>
                <a:ea typeface="华光行书_CNKI" panose="02000500000000000000" pitchFamily="2" charset="-122"/>
              </a:rPr>
              <a:t>1)</a:t>
            </a:r>
            <a:r>
              <a:rPr lang="zh-CN" altLang="en-US" spc="-150" dirty="0">
                <a:solidFill>
                  <a:srgbClr val="FF0000"/>
                </a:solidFill>
                <a:latin typeface="华光行书_CNKI" panose="02000500000000000000" pitchFamily="2" charset="-122"/>
                <a:ea typeface="华光行书_CNKI" panose="02000500000000000000" pitchFamily="2" charset="-122"/>
              </a:rPr>
              <a:t>赋值后</a:t>
            </a:r>
            <a:r>
              <a:rPr lang="en-US" altLang="zh-CN" spc="-150" dirty="0" err="1">
                <a:solidFill>
                  <a:srgbClr val="FF0000"/>
                </a:solidFill>
                <a:latin typeface="华光行书_CNKI" panose="02000500000000000000" pitchFamily="2" charset="-122"/>
                <a:ea typeface="华光行书_CNKI" panose="02000500000000000000" pitchFamily="2" charset="-122"/>
              </a:rPr>
              <a:t>myname</a:t>
            </a:r>
            <a:r>
              <a:rPr lang="zh-CN" altLang="en-US" spc="-150" dirty="0">
                <a:solidFill>
                  <a:srgbClr val="FF0000"/>
                </a:solidFill>
                <a:latin typeface="华光行书_CNKI" panose="02000500000000000000" pitchFamily="2" charset="-122"/>
                <a:ea typeface="华光行书_CNKI" panose="02000500000000000000" pitchFamily="2" charset="-122"/>
              </a:rPr>
              <a:t>数据成员</a:t>
            </a:r>
            <a:r>
              <a:rPr lang="en-US" altLang="zh-CN" spc="-150" dirty="0">
                <a:solidFill>
                  <a:srgbClr val="FF0000"/>
                </a:solidFill>
                <a:latin typeface="华光行书_CNKI" panose="02000500000000000000" pitchFamily="2" charset="-122"/>
                <a:ea typeface="华光行书_CNKI" panose="02000500000000000000" pitchFamily="2" charset="-122"/>
              </a:rPr>
              <a:t>p</a:t>
            </a:r>
            <a:r>
              <a:rPr lang="zh-CN" altLang="en-US" spc="-150" dirty="0">
                <a:solidFill>
                  <a:srgbClr val="FF0000"/>
                </a:solidFill>
                <a:latin typeface="华光行书_CNKI" panose="02000500000000000000" pitchFamily="2" charset="-122"/>
                <a:ea typeface="华光行书_CNKI" panose="02000500000000000000" pitchFamily="2" charset="-122"/>
              </a:rPr>
              <a:t>原来指向的内存块永久丢失</a:t>
            </a:r>
            <a:r>
              <a:rPr lang="en-US" altLang="zh-CN" spc="-150" dirty="0">
                <a:solidFill>
                  <a:srgbClr val="FF0000"/>
                </a:solidFill>
                <a:latin typeface="华光行书_CNKI" panose="02000500000000000000" pitchFamily="2" charset="-122"/>
                <a:ea typeface="华光行书_CNKI" panose="02000500000000000000" pitchFamily="2" charset="-122"/>
              </a:rPr>
              <a:t>.</a:t>
            </a:r>
          </a:p>
          <a:p>
            <a:pPr algn="just" eaLnBrk="1" hangingPunct="1">
              <a:buFont typeface="Wingdings" pitchFamily="2" charset="2"/>
              <a:buNone/>
              <a:defRPr/>
            </a:pPr>
            <a:r>
              <a:rPr lang="en-US" altLang="zh-CN" spc="-150" dirty="0">
                <a:solidFill>
                  <a:srgbClr val="FF0000"/>
                </a:solidFill>
                <a:latin typeface="华光行书_CNKI" panose="02000500000000000000" pitchFamily="2" charset="-122"/>
                <a:ea typeface="华光行书_CNKI" panose="02000500000000000000" pitchFamily="2" charset="-122"/>
              </a:rPr>
              <a:t>2)</a:t>
            </a:r>
            <a:r>
              <a:rPr lang="zh-CN" altLang="en-US" spc="-150" dirty="0">
                <a:solidFill>
                  <a:srgbClr val="FF0000"/>
                </a:solidFill>
                <a:latin typeface="华光行书_CNKI" panose="02000500000000000000" pitchFamily="2" charset="-122"/>
                <a:ea typeface="华光行书_CNKI" panose="02000500000000000000" pitchFamily="2" charset="-122"/>
              </a:rPr>
              <a:t>内存被释放两次</a:t>
            </a:r>
            <a:endParaRPr lang="en-US" altLang="zh-CN" spc="-150" dirty="0">
              <a:solidFill>
                <a:srgbClr val="FF0000"/>
              </a:solidFill>
              <a:latin typeface="华光行书_CNKI" panose="02000500000000000000" pitchFamily="2" charset="-122"/>
              <a:ea typeface="华光行书_CNKI" panose="02000500000000000000" pitchFamily="2" charset="-122"/>
            </a:endParaRPr>
          </a:p>
          <a:p>
            <a:pPr algn="just" eaLnBrk="1" hangingPunct="1">
              <a:buFont typeface="Wingdings" pitchFamily="2" charset="2"/>
              <a:buNone/>
              <a:defRPr/>
            </a:pPr>
            <a:r>
              <a:rPr lang="zh-CN" altLang="en-US" spc="-150" dirty="0">
                <a:solidFill>
                  <a:srgbClr val="FF0000"/>
                </a:solidFill>
                <a:latin typeface="华光行书_CNKI" panose="02000500000000000000" pitchFamily="2" charset="-122"/>
                <a:ea typeface="华光行书_CNKI" panose="02000500000000000000" pitchFamily="2" charset="-122"/>
              </a:rPr>
              <a:t>解决方法：重载赋值运算符</a:t>
            </a:r>
          </a:p>
        </p:txBody>
      </p:sp>
      <p:pic>
        <p:nvPicPr>
          <p:cNvPr id="35" name="图片 34">
            <a:extLst>
              <a:ext uri="{FF2B5EF4-FFF2-40B4-BE49-F238E27FC236}">
                <a16:creationId xmlns:a16="http://schemas.microsoft.com/office/drawing/2014/main" id="{03AA373A-D559-4D21-A904-62A18F389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4259" y="1325052"/>
            <a:ext cx="473945" cy="316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4">
            <a:extLst>
              <a:ext uri="{FF2B5EF4-FFF2-40B4-BE49-F238E27FC236}">
                <a16:creationId xmlns:a16="http://schemas.microsoft.com/office/drawing/2014/main" id="{23B9F227-2899-4C55-AB93-E32FB8CAAF33}"/>
              </a:ext>
            </a:extLst>
          </p:cNvPr>
          <p:cNvSpPr txBox="1">
            <a:spLocks noChangeArrowheads="1"/>
          </p:cNvSpPr>
          <p:nvPr/>
        </p:nvSpPr>
        <p:spPr bwMode="auto">
          <a:xfrm>
            <a:off x="2694169" y="2894622"/>
            <a:ext cx="6841575" cy="385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85000"/>
              </a:lnSpc>
              <a:defRPr kumimoji="1">
                <a:solidFill>
                  <a:srgbClr val="104E87"/>
                </a:solidFill>
                <a:latin typeface="Comic Sans MS" panose="030F0702030302020204" pitchFamily="66"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en-US" altLang="zh-CN" dirty="0"/>
              <a:t>class Name {</a:t>
            </a:r>
          </a:p>
          <a:p>
            <a:r>
              <a:rPr lang="en-US" altLang="zh-CN" dirty="0"/>
              <a:t>public:</a:t>
            </a:r>
          </a:p>
          <a:p>
            <a:r>
              <a:rPr lang="en-US" altLang="zh-CN" dirty="0"/>
              <a:t>    Name(){</a:t>
            </a:r>
            <a:r>
              <a:rPr lang="zh-CN" altLang="en-US" dirty="0"/>
              <a:t>p=NULL;</a:t>
            </a:r>
            <a:r>
              <a:rPr lang="en-US" altLang="zh-CN" dirty="0"/>
              <a:t>}</a:t>
            </a:r>
          </a:p>
          <a:p>
            <a:r>
              <a:rPr lang="en-US" altLang="zh-CN" dirty="0"/>
              <a:t>    Name(char *s);</a:t>
            </a:r>
          </a:p>
          <a:p>
            <a:r>
              <a:rPr lang="en-US" altLang="zh-CN" dirty="0"/>
              <a:t>    </a:t>
            </a:r>
            <a:r>
              <a:rPr lang="en-US" altLang="zh-CN" dirty="0">
                <a:solidFill>
                  <a:srgbClr val="FF0000"/>
                </a:solidFill>
              </a:rPr>
              <a:t>Name(const Name &amp;other );</a:t>
            </a:r>
          </a:p>
          <a:p>
            <a:r>
              <a:rPr lang="en-US" altLang="zh-CN" dirty="0">
                <a:solidFill>
                  <a:srgbClr val="FF0000"/>
                </a:solidFill>
              </a:rPr>
              <a:t>    Name&amp; operator=(const Name &amp;another);</a:t>
            </a:r>
          </a:p>
          <a:p>
            <a:r>
              <a:rPr lang="en-US" altLang="zh-CN" dirty="0"/>
              <a:t>    ~Name();</a:t>
            </a:r>
          </a:p>
          <a:p>
            <a:r>
              <a:rPr lang="en-US" altLang="zh-CN" dirty="0"/>
              <a:t>    void set(char *s);		</a:t>
            </a:r>
          </a:p>
          <a:p>
            <a:r>
              <a:rPr lang="en-US" altLang="zh-CN" dirty="0"/>
              <a:t>    void show();</a:t>
            </a:r>
          </a:p>
          <a:p>
            <a:r>
              <a:rPr lang="en-US" altLang="zh-CN" dirty="0"/>
              <a:t>private:</a:t>
            </a:r>
          </a:p>
          <a:p>
            <a:r>
              <a:rPr lang="en-US" altLang="zh-CN" dirty="0"/>
              <a:t>   char *p;</a:t>
            </a:r>
          </a:p>
          <a:p>
            <a:r>
              <a:rPr lang="en-US" altLang="zh-CN" dirty="0"/>
              <a:t>};</a:t>
            </a:r>
          </a:p>
        </p:txBody>
      </p:sp>
      <p:sp>
        <p:nvSpPr>
          <p:cNvPr id="37" name="矩形 1">
            <a:extLst>
              <a:ext uri="{FF2B5EF4-FFF2-40B4-BE49-F238E27FC236}">
                <a16:creationId xmlns:a16="http://schemas.microsoft.com/office/drawing/2014/main" id="{942664FE-4B2F-4CC3-AD70-A20E25A3724D}"/>
              </a:ext>
            </a:extLst>
          </p:cNvPr>
          <p:cNvSpPr>
            <a:spLocks noChangeArrowheads="1"/>
          </p:cNvSpPr>
          <p:nvPr/>
        </p:nvSpPr>
        <p:spPr bwMode="auto">
          <a:xfrm>
            <a:off x="6138087" y="4910253"/>
            <a:ext cx="6065127" cy="1975926"/>
          </a:xfrm>
          <a:prstGeom prst="rect">
            <a:avLst/>
          </a:prstGeom>
          <a:solidFill>
            <a:schemeClr val="accent3">
              <a:lumMod val="20000"/>
              <a:lumOff val="80000"/>
            </a:schemeClr>
          </a:solidFill>
          <a:ln>
            <a:noFill/>
          </a:ln>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nSpc>
                <a:spcPct val="85000"/>
              </a:lnSpc>
            </a:pPr>
            <a:r>
              <a:rPr kumimoji="1" lang="en-US" altLang="zh-CN" b="0" spc="-160" dirty="0">
                <a:solidFill>
                  <a:srgbClr val="104E87"/>
                </a:solidFill>
                <a:latin typeface="Comic Sans MS" panose="030F0702030302020204" pitchFamily="66" charset="0"/>
              </a:rPr>
              <a:t>Name&amp;</a:t>
            </a:r>
            <a:r>
              <a:rPr kumimoji="1" lang="zh-CN" altLang="en-US" b="0" spc="-160" dirty="0">
                <a:solidFill>
                  <a:srgbClr val="104E87"/>
                </a:solidFill>
                <a:latin typeface="Comic Sans MS" panose="030F0702030302020204" pitchFamily="66" charset="0"/>
              </a:rPr>
              <a:t> Name::operator=(const </a:t>
            </a:r>
            <a:r>
              <a:rPr kumimoji="1" lang="en-US" altLang="zh-CN" b="0" spc="-160" dirty="0">
                <a:solidFill>
                  <a:srgbClr val="104E87"/>
                </a:solidFill>
                <a:latin typeface="Comic Sans MS" panose="030F0702030302020204" pitchFamily="66" charset="0"/>
              </a:rPr>
              <a:t>Name</a:t>
            </a:r>
            <a:r>
              <a:rPr kumimoji="1" lang="zh-CN" altLang="en-US" b="0" spc="-160" dirty="0">
                <a:solidFill>
                  <a:srgbClr val="104E87"/>
                </a:solidFill>
                <a:latin typeface="Comic Sans MS" panose="030F0702030302020204" pitchFamily="66" charset="0"/>
              </a:rPr>
              <a:t> &amp;another)</a:t>
            </a:r>
          </a:p>
          <a:p>
            <a:pPr>
              <a:lnSpc>
                <a:spcPct val="85000"/>
              </a:lnSpc>
            </a:pPr>
            <a:r>
              <a:rPr kumimoji="1" lang="zh-CN" altLang="en-US" b="0" spc="-160" dirty="0">
                <a:solidFill>
                  <a:srgbClr val="104E87"/>
                </a:solidFill>
                <a:latin typeface="Comic Sans MS" panose="030F0702030302020204" pitchFamily="66" charset="0"/>
              </a:rPr>
              <a:t>{	if (</a:t>
            </a:r>
            <a:r>
              <a:rPr kumimoji="1" lang="en-US" altLang="zh-CN" b="0" spc="-160" dirty="0">
                <a:solidFill>
                  <a:srgbClr val="104E87"/>
                </a:solidFill>
                <a:latin typeface="Comic Sans MS" panose="030F0702030302020204" pitchFamily="66" charset="0"/>
              </a:rPr>
              <a:t>p</a:t>
            </a:r>
            <a:r>
              <a:rPr kumimoji="1" lang="zh-CN" altLang="en-US" b="0" spc="-160" dirty="0">
                <a:solidFill>
                  <a:srgbClr val="104E87"/>
                </a:solidFill>
                <a:latin typeface="Comic Sans MS" panose="030F0702030302020204" pitchFamily="66" charset="0"/>
              </a:rPr>
              <a:t>) delete []</a:t>
            </a:r>
            <a:r>
              <a:rPr kumimoji="1" lang="en-US" altLang="zh-CN" b="0" spc="-160" dirty="0">
                <a:solidFill>
                  <a:srgbClr val="104E87"/>
                </a:solidFill>
                <a:latin typeface="Comic Sans MS" panose="030F0702030302020204" pitchFamily="66" charset="0"/>
              </a:rPr>
              <a:t>p</a:t>
            </a:r>
            <a:r>
              <a:rPr kumimoji="1" lang="zh-CN" altLang="en-US" b="0" spc="-160" dirty="0">
                <a:solidFill>
                  <a:srgbClr val="104E87"/>
                </a:solidFill>
                <a:latin typeface="Comic Sans MS" panose="030F0702030302020204" pitchFamily="66" charset="0"/>
              </a:rPr>
              <a:t>;</a:t>
            </a:r>
          </a:p>
          <a:p>
            <a:pPr>
              <a:lnSpc>
                <a:spcPct val="85000"/>
              </a:lnSpc>
            </a:pPr>
            <a:r>
              <a:rPr kumimoji="1" lang="zh-CN" altLang="en-US" b="0" spc="-160" dirty="0">
                <a:solidFill>
                  <a:srgbClr val="104E87"/>
                </a:solidFill>
                <a:latin typeface="Comic Sans MS" panose="030F0702030302020204" pitchFamily="66" charset="0"/>
              </a:rPr>
              <a:t>	</a:t>
            </a:r>
            <a:r>
              <a:rPr kumimoji="1" lang="en-US" altLang="zh-CN" b="0" spc="-160" dirty="0">
                <a:solidFill>
                  <a:srgbClr val="104E87"/>
                </a:solidFill>
                <a:latin typeface="Comic Sans MS" panose="030F0702030302020204" pitchFamily="66" charset="0"/>
              </a:rPr>
              <a:t>p</a:t>
            </a:r>
            <a:r>
              <a:rPr kumimoji="1" lang="zh-CN" altLang="en-US" b="0" spc="-160" dirty="0">
                <a:solidFill>
                  <a:srgbClr val="104E87"/>
                </a:solidFill>
                <a:latin typeface="Comic Sans MS" panose="030F0702030302020204" pitchFamily="66" charset="0"/>
              </a:rPr>
              <a:t> = new char[strlen(another.</a:t>
            </a:r>
            <a:r>
              <a:rPr kumimoji="1" lang="en-US" altLang="zh-CN" b="0" spc="-160" dirty="0">
                <a:solidFill>
                  <a:srgbClr val="104E87"/>
                </a:solidFill>
                <a:latin typeface="Comic Sans MS" panose="030F0702030302020204" pitchFamily="66" charset="0"/>
              </a:rPr>
              <a:t>p</a:t>
            </a:r>
            <a:r>
              <a:rPr kumimoji="1" lang="zh-CN" altLang="en-US" b="0" spc="-160" dirty="0">
                <a:solidFill>
                  <a:srgbClr val="104E87"/>
                </a:solidFill>
                <a:latin typeface="Comic Sans MS" panose="030F0702030302020204" pitchFamily="66" charset="0"/>
              </a:rPr>
              <a:t>)+1];</a:t>
            </a:r>
          </a:p>
          <a:p>
            <a:pPr>
              <a:lnSpc>
                <a:spcPct val="85000"/>
              </a:lnSpc>
            </a:pPr>
            <a:r>
              <a:rPr kumimoji="1" lang="zh-CN" altLang="en-US" b="0" spc="-160" dirty="0">
                <a:solidFill>
                  <a:srgbClr val="104E87"/>
                </a:solidFill>
                <a:latin typeface="Comic Sans MS" panose="030F0702030302020204" pitchFamily="66" charset="0"/>
              </a:rPr>
              <a:t>	if (</a:t>
            </a:r>
            <a:r>
              <a:rPr kumimoji="1" lang="en-US" altLang="zh-CN" b="0" spc="-160" dirty="0">
                <a:solidFill>
                  <a:srgbClr val="104E87"/>
                </a:solidFill>
                <a:latin typeface="Comic Sans MS" panose="030F0702030302020204" pitchFamily="66" charset="0"/>
              </a:rPr>
              <a:t>p</a:t>
            </a:r>
            <a:r>
              <a:rPr kumimoji="1" lang="zh-CN" altLang="en-US" b="0" spc="-160" dirty="0">
                <a:solidFill>
                  <a:srgbClr val="104E87"/>
                </a:solidFill>
                <a:latin typeface="Comic Sans MS" panose="030F0702030302020204" pitchFamily="66" charset="0"/>
              </a:rPr>
              <a:t>!=NULL) strcpy(</a:t>
            </a:r>
            <a:r>
              <a:rPr kumimoji="1" lang="en-US" altLang="zh-CN" b="0" spc="-160" dirty="0">
                <a:solidFill>
                  <a:srgbClr val="104E87"/>
                </a:solidFill>
                <a:latin typeface="Comic Sans MS" panose="030F0702030302020204" pitchFamily="66" charset="0"/>
              </a:rPr>
              <a:t>p</a:t>
            </a:r>
            <a:r>
              <a:rPr kumimoji="1" lang="zh-CN" altLang="en-US" b="0" spc="-160" dirty="0">
                <a:solidFill>
                  <a:srgbClr val="104E87"/>
                </a:solidFill>
                <a:latin typeface="Comic Sans MS" panose="030F0702030302020204" pitchFamily="66" charset="0"/>
              </a:rPr>
              <a:t>,another.</a:t>
            </a:r>
            <a:r>
              <a:rPr kumimoji="1" lang="en-US" altLang="zh-CN" b="0" spc="-160" dirty="0">
                <a:solidFill>
                  <a:srgbClr val="104E87"/>
                </a:solidFill>
                <a:latin typeface="Comic Sans MS" panose="030F0702030302020204" pitchFamily="66" charset="0"/>
              </a:rPr>
              <a:t>p</a:t>
            </a:r>
            <a:r>
              <a:rPr kumimoji="1" lang="zh-CN" altLang="en-US" b="0" spc="-160" dirty="0">
                <a:solidFill>
                  <a:srgbClr val="104E87"/>
                </a:solidFill>
                <a:latin typeface="Comic Sans MS" panose="030F0702030302020204" pitchFamily="66" charset="0"/>
              </a:rPr>
              <a:t>);</a:t>
            </a:r>
            <a:endParaRPr kumimoji="1" lang="en-US" altLang="zh-CN" b="0" spc="-160" dirty="0">
              <a:solidFill>
                <a:srgbClr val="104E87"/>
              </a:solidFill>
              <a:latin typeface="Comic Sans MS" panose="030F0702030302020204" pitchFamily="66" charset="0"/>
            </a:endParaRPr>
          </a:p>
          <a:p>
            <a:pPr>
              <a:lnSpc>
                <a:spcPct val="85000"/>
              </a:lnSpc>
            </a:pPr>
            <a:r>
              <a:rPr kumimoji="1" lang="en-US" altLang="zh-CN" b="0" spc="-160" dirty="0">
                <a:solidFill>
                  <a:srgbClr val="104E87"/>
                </a:solidFill>
                <a:latin typeface="Comic Sans MS" panose="030F0702030302020204" pitchFamily="66" charset="0"/>
              </a:rPr>
              <a:t>	 return *this;</a:t>
            </a:r>
            <a:endParaRPr kumimoji="1" lang="zh-CN" altLang="en-US" b="0" spc="-160" dirty="0">
              <a:solidFill>
                <a:srgbClr val="104E87"/>
              </a:solidFill>
              <a:latin typeface="Comic Sans MS" panose="030F0702030302020204" pitchFamily="66" charset="0"/>
            </a:endParaRPr>
          </a:p>
          <a:p>
            <a:pPr>
              <a:lnSpc>
                <a:spcPct val="85000"/>
              </a:lnSpc>
            </a:pPr>
            <a:r>
              <a:rPr kumimoji="1" lang="zh-CN" altLang="en-US" b="0" spc="-160" dirty="0">
                <a:solidFill>
                  <a:srgbClr val="104E87"/>
                </a:solidFill>
                <a:latin typeface="Comic Sans MS" panose="030F0702030302020204" pitchFamily="66" charset="0"/>
              </a:rPr>
              <a:t>}</a:t>
            </a:r>
          </a:p>
        </p:txBody>
      </p:sp>
      <p:sp>
        <p:nvSpPr>
          <p:cNvPr id="38" name="Rectangle 18">
            <a:extLst>
              <a:ext uri="{FF2B5EF4-FFF2-40B4-BE49-F238E27FC236}">
                <a16:creationId xmlns:a16="http://schemas.microsoft.com/office/drawing/2014/main" id="{27D840ED-EE74-4BA2-8FB1-7D328C483AE4}"/>
              </a:ext>
            </a:extLst>
          </p:cNvPr>
          <p:cNvSpPr>
            <a:spLocks noChangeArrowheads="1"/>
          </p:cNvSpPr>
          <p:nvPr/>
        </p:nvSpPr>
        <p:spPr bwMode="auto">
          <a:xfrm>
            <a:off x="60432" y="3958915"/>
            <a:ext cx="2826259" cy="1569660"/>
          </a:xfrm>
          <a:prstGeom prst="rect">
            <a:avLst/>
          </a:prstGeom>
        </p:spPr>
        <p:txBody>
          <a:bodyPr wrap="square">
            <a:spAutoFit/>
          </a:bodyPr>
          <a:lstStyle/>
          <a:p>
            <a:pPr algn="just">
              <a:buFont typeface="Wingdings" pitchFamily="2" charset="2"/>
              <a:buNone/>
            </a:pPr>
            <a:r>
              <a:rPr lang="zh-CN" altLang="en-US" spc="-100" dirty="0">
                <a:solidFill>
                  <a:srgbClr val="FF0000"/>
                </a:solidFill>
                <a:latin typeface="华光行书_CNKI" panose="02000500000000000000" pitchFamily="2" charset="-122"/>
                <a:ea typeface="华光行书_CNKI" panose="02000500000000000000" pitchFamily="2" charset="-122"/>
              </a:rPr>
              <a:t>如果类包含指向动态存储空间指针类型的数据成员</a:t>
            </a:r>
            <a:r>
              <a:rPr lang="en-US" altLang="zh-CN" spc="-100" dirty="0">
                <a:solidFill>
                  <a:srgbClr val="FF0000"/>
                </a:solidFill>
                <a:latin typeface="华光行书_CNKI" panose="02000500000000000000" pitchFamily="2" charset="-122"/>
                <a:ea typeface="华光行书_CNKI" panose="02000500000000000000" pitchFamily="2" charset="-122"/>
              </a:rPr>
              <a:t>,</a:t>
            </a:r>
            <a:r>
              <a:rPr lang="zh-CN" altLang="en-US" spc="-100" dirty="0">
                <a:solidFill>
                  <a:srgbClr val="FF0000"/>
                </a:solidFill>
                <a:latin typeface="华光行书_CNKI" panose="02000500000000000000" pitchFamily="2" charset="-122"/>
                <a:ea typeface="华光行书_CNKI" panose="02000500000000000000" pitchFamily="2" charset="-122"/>
              </a:rPr>
              <a:t>则应为这个类重载赋值运算符</a:t>
            </a:r>
          </a:p>
        </p:txBody>
      </p:sp>
      <p:sp>
        <p:nvSpPr>
          <p:cNvPr id="39" name="Rectangle 2">
            <a:extLst>
              <a:ext uri="{FF2B5EF4-FFF2-40B4-BE49-F238E27FC236}">
                <a16:creationId xmlns:a16="http://schemas.microsoft.com/office/drawing/2014/main" id="{C8FE693F-B57C-46EB-B5EC-A3288418C593}"/>
              </a:ext>
            </a:extLst>
          </p:cNvPr>
          <p:cNvSpPr txBox="1">
            <a:spLocks noChangeArrowheads="1"/>
          </p:cNvSpPr>
          <p:nvPr/>
        </p:nvSpPr>
        <p:spPr bwMode="auto">
          <a:xfrm>
            <a:off x="7628550" y="2558370"/>
            <a:ext cx="1800225" cy="814387"/>
          </a:xfrm>
          <a:prstGeom prst="rect">
            <a:avLst/>
          </a:prstGeom>
          <a:noFill/>
          <a:ln w="9525">
            <a:no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stStyle>
          <a:p>
            <a:r>
              <a:rPr lang="en-US" altLang="zh-CN" dirty="0" err="1"/>
              <a:t>myname:p</a:t>
            </a:r>
            <a:endParaRPr lang="en-US" altLang="zh-CN" dirty="0"/>
          </a:p>
        </p:txBody>
      </p:sp>
      <p:sp>
        <p:nvSpPr>
          <p:cNvPr id="40" name="Line 17">
            <a:extLst>
              <a:ext uri="{FF2B5EF4-FFF2-40B4-BE49-F238E27FC236}">
                <a16:creationId xmlns:a16="http://schemas.microsoft.com/office/drawing/2014/main" id="{5F9DB369-3D2E-41D4-935C-6D16130AC244}"/>
              </a:ext>
            </a:extLst>
          </p:cNvPr>
          <p:cNvSpPr>
            <a:spLocks noChangeShapeType="1"/>
          </p:cNvSpPr>
          <p:nvPr/>
        </p:nvSpPr>
        <p:spPr bwMode="auto">
          <a:xfrm>
            <a:off x="9058094" y="3236603"/>
            <a:ext cx="787400" cy="0"/>
          </a:xfrm>
          <a:prstGeom prst="line">
            <a:avLst/>
          </a:prstGeom>
          <a:noFill/>
          <a:ln w="28575">
            <a:solidFill>
              <a:srgbClr val="104E87"/>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Rectangle 2">
            <a:extLst>
              <a:ext uri="{FF2B5EF4-FFF2-40B4-BE49-F238E27FC236}">
                <a16:creationId xmlns:a16="http://schemas.microsoft.com/office/drawing/2014/main" id="{D9FB57A9-A742-462A-AF6B-4E5E6A6AC9F9}"/>
              </a:ext>
            </a:extLst>
          </p:cNvPr>
          <p:cNvSpPr txBox="1">
            <a:spLocks noChangeArrowheads="1"/>
          </p:cNvSpPr>
          <p:nvPr/>
        </p:nvSpPr>
        <p:spPr bwMode="auto">
          <a:xfrm>
            <a:off x="7635754" y="3351349"/>
            <a:ext cx="1862077" cy="457896"/>
          </a:xfrm>
          <a:prstGeom prst="rect">
            <a:avLst/>
          </a:prstGeom>
          <a:noFill/>
          <a:ln w="9525">
            <a:no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stStyle>
          <a:p>
            <a:r>
              <a:rPr lang="en-US" altLang="zh-CN" dirty="0" err="1"/>
              <a:t>yourname:p</a:t>
            </a:r>
            <a:endParaRPr lang="en-US" altLang="zh-CN" dirty="0"/>
          </a:p>
        </p:txBody>
      </p:sp>
      <p:sp>
        <p:nvSpPr>
          <p:cNvPr id="42" name="Text Box 8">
            <a:extLst>
              <a:ext uri="{FF2B5EF4-FFF2-40B4-BE49-F238E27FC236}">
                <a16:creationId xmlns:a16="http://schemas.microsoft.com/office/drawing/2014/main" id="{1DF1611B-B362-492D-AA1A-5430F384DF87}"/>
              </a:ext>
            </a:extLst>
          </p:cNvPr>
          <p:cNvSpPr txBox="1">
            <a:spLocks noChangeArrowheads="1"/>
          </p:cNvSpPr>
          <p:nvPr/>
        </p:nvSpPr>
        <p:spPr bwMode="auto">
          <a:xfrm>
            <a:off x="9886769" y="3033403"/>
            <a:ext cx="1535112" cy="362984"/>
          </a:xfrm>
          <a:prstGeom prst="rect">
            <a:avLst/>
          </a:prstGeom>
          <a:noFill/>
          <a:ln w="9525">
            <a:solidFill>
              <a:schemeClr val="accent1"/>
            </a:solid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stStyle>
          <a:p>
            <a:r>
              <a:rPr lang="en-US" altLang="zh-CN"/>
              <a:t> “zhang”</a:t>
            </a:r>
          </a:p>
        </p:txBody>
      </p:sp>
      <p:sp>
        <p:nvSpPr>
          <p:cNvPr id="43" name="Text Box 8">
            <a:extLst>
              <a:ext uri="{FF2B5EF4-FFF2-40B4-BE49-F238E27FC236}">
                <a16:creationId xmlns:a16="http://schemas.microsoft.com/office/drawing/2014/main" id="{75421612-CBA3-4145-9B9D-76D745C20DF0}"/>
              </a:ext>
            </a:extLst>
          </p:cNvPr>
          <p:cNvSpPr txBox="1">
            <a:spLocks noChangeArrowheads="1"/>
          </p:cNvSpPr>
          <p:nvPr/>
        </p:nvSpPr>
        <p:spPr bwMode="auto">
          <a:xfrm>
            <a:off x="7762694" y="3008003"/>
            <a:ext cx="1295400" cy="365806"/>
          </a:xfrm>
          <a:prstGeom prst="rect">
            <a:avLst/>
          </a:prstGeom>
          <a:noFill/>
          <a:ln w="9525">
            <a:solidFill>
              <a:schemeClr val="accent1"/>
            </a:solid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stStyle>
          <a:p>
            <a:r>
              <a:rPr lang="en-US" altLang="zh-CN" dirty="0"/>
              <a:t>2000H</a:t>
            </a:r>
          </a:p>
        </p:txBody>
      </p:sp>
      <p:sp>
        <p:nvSpPr>
          <p:cNvPr id="44" name="Line 17">
            <a:extLst>
              <a:ext uri="{FF2B5EF4-FFF2-40B4-BE49-F238E27FC236}">
                <a16:creationId xmlns:a16="http://schemas.microsoft.com/office/drawing/2014/main" id="{8D050DB6-6614-4B63-A7B8-A5B733CF19BF}"/>
              </a:ext>
            </a:extLst>
          </p:cNvPr>
          <p:cNvSpPr>
            <a:spLocks noChangeShapeType="1"/>
          </p:cNvSpPr>
          <p:nvPr/>
        </p:nvSpPr>
        <p:spPr bwMode="auto">
          <a:xfrm flipV="1">
            <a:off x="9124769" y="3955740"/>
            <a:ext cx="720725" cy="3175"/>
          </a:xfrm>
          <a:prstGeom prst="line">
            <a:avLst/>
          </a:prstGeom>
          <a:noFill/>
          <a:ln w="28575">
            <a:solidFill>
              <a:srgbClr val="104E87"/>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Text Box 8">
            <a:extLst>
              <a:ext uri="{FF2B5EF4-FFF2-40B4-BE49-F238E27FC236}">
                <a16:creationId xmlns:a16="http://schemas.microsoft.com/office/drawing/2014/main" id="{F795F8B4-FBD0-4E88-9EA6-8C38DFF67B97}"/>
              </a:ext>
            </a:extLst>
          </p:cNvPr>
          <p:cNvSpPr txBox="1">
            <a:spLocks noChangeArrowheads="1"/>
          </p:cNvSpPr>
          <p:nvPr/>
        </p:nvSpPr>
        <p:spPr bwMode="auto">
          <a:xfrm>
            <a:off x="9912169" y="3768415"/>
            <a:ext cx="1552575" cy="362984"/>
          </a:xfrm>
          <a:prstGeom prst="rect">
            <a:avLst/>
          </a:prstGeom>
          <a:noFill/>
          <a:ln w="9525">
            <a:solidFill>
              <a:schemeClr val="accent1"/>
            </a:solid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stStyle>
          <a:p>
            <a:r>
              <a:rPr lang="en-US" altLang="zh-CN" dirty="0"/>
              <a:t> “wang”</a:t>
            </a:r>
          </a:p>
        </p:txBody>
      </p:sp>
      <p:sp>
        <p:nvSpPr>
          <p:cNvPr id="46" name="Text Box 8">
            <a:extLst>
              <a:ext uri="{FF2B5EF4-FFF2-40B4-BE49-F238E27FC236}">
                <a16:creationId xmlns:a16="http://schemas.microsoft.com/office/drawing/2014/main" id="{CF231913-DEAF-47EF-9D28-A88295985488}"/>
              </a:ext>
            </a:extLst>
          </p:cNvPr>
          <p:cNvSpPr txBox="1">
            <a:spLocks noChangeArrowheads="1"/>
          </p:cNvSpPr>
          <p:nvPr/>
        </p:nvSpPr>
        <p:spPr bwMode="auto">
          <a:xfrm>
            <a:off x="7788094" y="3743015"/>
            <a:ext cx="1295400" cy="365806"/>
          </a:xfrm>
          <a:prstGeom prst="rect">
            <a:avLst/>
          </a:prstGeom>
          <a:noFill/>
          <a:ln w="9525">
            <a:solidFill>
              <a:schemeClr val="accent1"/>
            </a:solid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stStyle>
          <a:p>
            <a:r>
              <a:rPr lang="en-US" altLang="zh-CN" dirty="0"/>
              <a:t>3300H</a:t>
            </a:r>
          </a:p>
        </p:txBody>
      </p:sp>
      <p:sp>
        <p:nvSpPr>
          <p:cNvPr id="47" name="Line 17">
            <a:extLst>
              <a:ext uri="{FF2B5EF4-FFF2-40B4-BE49-F238E27FC236}">
                <a16:creationId xmlns:a16="http://schemas.microsoft.com/office/drawing/2014/main" id="{2D6D135C-B7B1-4A2A-B1E3-E453B4E8A09E}"/>
              </a:ext>
            </a:extLst>
          </p:cNvPr>
          <p:cNvSpPr>
            <a:spLocks noChangeShapeType="1"/>
          </p:cNvSpPr>
          <p:nvPr/>
        </p:nvSpPr>
        <p:spPr bwMode="auto">
          <a:xfrm>
            <a:off x="9035868" y="3251727"/>
            <a:ext cx="785813" cy="0"/>
          </a:xfrm>
          <a:prstGeom prst="line">
            <a:avLst/>
          </a:prstGeom>
          <a:noFill/>
          <a:ln w="28575">
            <a:solidFill>
              <a:srgbClr val="104E87"/>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 name="Text Box 8">
            <a:extLst>
              <a:ext uri="{FF2B5EF4-FFF2-40B4-BE49-F238E27FC236}">
                <a16:creationId xmlns:a16="http://schemas.microsoft.com/office/drawing/2014/main" id="{EBD5F31E-8A9A-467C-8CAE-CFE8574CDBEC}"/>
              </a:ext>
            </a:extLst>
          </p:cNvPr>
          <p:cNvSpPr txBox="1">
            <a:spLocks noChangeArrowheads="1"/>
          </p:cNvSpPr>
          <p:nvPr/>
        </p:nvSpPr>
        <p:spPr bwMode="auto">
          <a:xfrm>
            <a:off x="9896294" y="3022001"/>
            <a:ext cx="1585912" cy="362984"/>
          </a:xfrm>
          <a:prstGeom prst="rect">
            <a:avLst/>
          </a:prstGeom>
          <a:noFill/>
          <a:ln w="9525">
            <a:solidFill>
              <a:schemeClr val="accent1"/>
            </a:solid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dirty="0"/>
              <a:t> “wang”</a:t>
            </a:r>
          </a:p>
        </p:txBody>
      </p:sp>
      <p:sp>
        <p:nvSpPr>
          <p:cNvPr id="49" name="Text Box 8">
            <a:extLst>
              <a:ext uri="{FF2B5EF4-FFF2-40B4-BE49-F238E27FC236}">
                <a16:creationId xmlns:a16="http://schemas.microsoft.com/office/drawing/2014/main" id="{4A09043D-BE06-467D-AEC1-68DB25A57696}"/>
              </a:ext>
            </a:extLst>
          </p:cNvPr>
          <p:cNvSpPr txBox="1">
            <a:spLocks noChangeArrowheads="1"/>
          </p:cNvSpPr>
          <p:nvPr/>
        </p:nvSpPr>
        <p:spPr bwMode="auto">
          <a:xfrm>
            <a:off x="7751581" y="3017346"/>
            <a:ext cx="1295400" cy="365806"/>
          </a:xfrm>
          <a:prstGeom prst="rect">
            <a:avLst/>
          </a:prstGeom>
          <a:solidFill>
            <a:schemeClr val="bg2"/>
          </a:solidFill>
          <a:ln w="9525">
            <a:solidFill>
              <a:srgbClr val="104E87"/>
            </a:solidFill>
            <a:miter lim="800000"/>
            <a:headEnd/>
            <a:tailEnd/>
          </a:ln>
        </p:spPr>
        <p:txBody>
          <a:bodyPr/>
          <a:lstStyle>
            <a:defPPr>
              <a:defRPr lang="en-US"/>
            </a:defPPr>
            <a:lvl1pPr marL="469900" indent="-469900">
              <a:lnSpc>
                <a:spcPts val="3000"/>
              </a:lnSpc>
              <a:spcBef>
                <a:spcPts val="0"/>
              </a:spcBef>
              <a:buClr>
                <a:schemeClr val="bg2"/>
              </a:buClr>
              <a:buSzPct val="70000"/>
              <a:buFont typeface="Wingdings" pitchFamily="2" charset="2"/>
              <a:buNone/>
              <a:defRPr>
                <a:solidFill>
                  <a:srgbClr val="104E87"/>
                </a:solidFill>
                <a:latin typeface="Comic Sans MS" panose="030F0702030302020204" pitchFamily="66" charset="0"/>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dirty="0"/>
              <a:t>4000H</a:t>
            </a:r>
          </a:p>
        </p:txBody>
      </p:sp>
    </p:spTree>
    <p:extLst>
      <p:ext uri="{BB962C8B-B14F-4D97-AF65-F5344CB8AC3E}">
        <p14:creationId xmlns:p14="http://schemas.microsoft.com/office/powerpoint/2010/main" val="105634413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ppt_x"/>
                                          </p:val>
                                        </p:tav>
                                        <p:tav tm="100000">
                                          <p:val>
                                            <p:strVal val="#ppt_x"/>
                                          </p:val>
                                        </p:tav>
                                      </p:tavLst>
                                    </p:anim>
                                    <p:anim calcmode="lin" valueType="num">
                                      <p:cBhvr additive="base">
                                        <p:cTn id="30" dur="500" fill="hold"/>
                                        <p:tgtEl>
                                          <p:spTgt spid="2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500" fill="hold"/>
                                        <p:tgtEl>
                                          <p:spTgt spid="27"/>
                                        </p:tgtEl>
                                        <p:attrNameLst>
                                          <p:attrName>ppt_x</p:attrName>
                                        </p:attrNameLst>
                                      </p:cBhvr>
                                      <p:tavLst>
                                        <p:tav tm="0">
                                          <p:val>
                                            <p:strVal val="#ppt_x"/>
                                          </p:val>
                                        </p:tav>
                                        <p:tav tm="100000">
                                          <p:val>
                                            <p:strVal val="#ppt_x"/>
                                          </p:val>
                                        </p:tav>
                                      </p:tavLst>
                                    </p:anim>
                                    <p:anim calcmode="lin" valueType="num">
                                      <p:cBhvr additive="base">
                                        <p:cTn id="34" dur="500" fill="hold"/>
                                        <p:tgtEl>
                                          <p:spTgt spid="2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additive="base">
                                        <p:cTn id="41" dur="500" fill="hold"/>
                                        <p:tgtEl>
                                          <p:spTgt spid="30"/>
                                        </p:tgtEl>
                                        <p:attrNameLst>
                                          <p:attrName>ppt_x</p:attrName>
                                        </p:attrNameLst>
                                      </p:cBhvr>
                                      <p:tavLst>
                                        <p:tav tm="0">
                                          <p:val>
                                            <p:strVal val="#ppt_x"/>
                                          </p:val>
                                        </p:tav>
                                        <p:tav tm="100000">
                                          <p:val>
                                            <p:strVal val="#ppt_x"/>
                                          </p:val>
                                        </p:tav>
                                      </p:tavLst>
                                    </p:anim>
                                    <p:anim calcmode="lin" valueType="num">
                                      <p:cBhvr additive="base">
                                        <p:cTn id="4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p:cTn id="47" dur="500" fill="hold"/>
                                        <p:tgtEl>
                                          <p:spTgt spid="35"/>
                                        </p:tgtEl>
                                        <p:attrNameLst>
                                          <p:attrName>ppt_w</p:attrName>
                                        </p:attrNameLst>
                                      </p:cBhvr>
                                      <p:tavLst>
                                        <p:tav tm="0">
                                          <p:val>
                                            <p:fltVal val="0"/>
                                          </p:val>
                                        </p:tav>
                                        <p:tav tm="100000">
                                          <p:val>
                                            <p:strVal val="#ppt_w"/>
                                          </p:val>
                                        </p:tav>
                                      </p:tavLst>
                                    </p:anim>
                                    <p:anim calcmode="lin" valueType="num">
                                      <p:cBhvr>
                                        <p:cTn id="48" dur="500" fill="hold"/>
                                        <p:tgtEl>
                                          <p:spTgt spid="35"/>
                                        </p:tgtEl>
                                        <p:attrNameLst>
                                          <p:attrName>ppt_h</p:attrName>
                                        </p:attrNameLst>
                                      </p:cBhvr>
                                      <p:tavLst>
                                        <p:tav tm="0">
                                          <p:val>
                                            <p:fltVal val="0"/>
                                          </p:val>
                                        </p:tav>
                                        <p:tav tm="100000">
                                          <p:val>
                                            <p:strVal val="#ppt_h"/>
                                          </p:val>
                                        </p:tav>
                                      </p:tavLst>
                                    </p:anim>
                                    <p:animEffect transition="in" filter="fade">
                                      <p:cBhvr>
                                        <p:cTn id="49" dur="500"/>
                                        <p:tgtEl>
                                          <p:spTgt spid="35"/>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34"/>
                                        </p:tgtEl>
                                        <p:attrNameLst>
                                          <p:attrName>style.visibility</p:attrName>
                                        </p:attrNameLst>
                                      </p:cBhvr>
                                      <p:to>
                                        <p:strVal val="visible"/>
                                      </p:to>
                                    </p:set>
                                    <p:anim calcmode="lin" valueType="num">
                                      <p:cBhvr additive="base">
                                        <p:cTn id="58" dur="500" fill="hold"/>
                                        <p:tgtEl>
                                          <p:spTgt spid="34"/>
                                        </p:tgtEl>
                                        <p:attrNameLst>
                                          <p:attrName>ppt_x</p:attrName>
                                        </p:attrNameLst>
                                      </p:cBhvr>
                                      <p:tavLst>
                                        <p:tav tm="0">
                                          <p:val>
                                            <p:strVal val="1+#ppt_w/2"/>
                                          </p:val>
                                        </p:tav>
                                        <p:tav tm="100000">
                                          <p:val>
                                            <p:strVal val="#ppt_x"/>
                                          </p:val>
                                        </p:tav>
                                      </p:tavLst>
                                    </p:anim>
                                    <p:anim calcmode="lin" valueType="num">
                                      <p:cBhvr additive="base">
                                        <p:cTn id="59"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1000"/>
                                        <p:tgtEl>
                                          <p:spTgt spid="36"/>
                                        </p:tgtEl>
                                      </p:cBhvr>
                                    </p:animEffect>
                                    <p:anim calcmode="lin" valueType="num">
                                      <p:cBhvr>
                                        <p:cTn id="65" dur="1000" fill="hold"/>
                                        <p:tgtEl>
                                          <p:spTgt spid="36"/>
                                        </p:tgtEl>
                                        <p:attrNameLst>
                                          <p:attrName>ppt_x</p:attrName>
                                        </p:attrNameLst>
                                      </p:cBhvr>
                                      <p:tavLst>
                                        <p:tav tm="0">
                                          <p:val>
                                            <p:strVal val="#ppt_x"/>
                                          </p:val>
                                        </p:tav>
                                        <p:tav tm="100000">
                                          <p:val>
                                            <p:strVal val="#ppt_x"/>
                                          </p:val>
                                        </p:tav>
                                      </p:tavLst>
                                    </p:anim>
                                    <p:anim calcmode="lin" valueType="num">
                                      <p:cBhvr>
                                        <p:cTn id="66"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anim calcmode="lin" valueType="num">
                                      <p:cBhvr additive="base">
                                        <p:cTn id="71" dur="500" fill="hold"/>
                                        <p:tgtEl>
                                          <p:spTgt spid="37"/>
                                        </p:tgtEl>
                                        <p:attrNameLst>
                                          <p:attrName>ppt_x</p:attrName>
                                        </p:attrNameLst>
                                      </p:cBhvr>
                                      <p:tavLst>
                                        <p:tav tm="0">
                                          <p:val>
                                            <p:strVal val="#ppt_x"/>
                                          </p:val>
                                        </p:tav>
                                        <p:tav tm="100000">
                                          <p:val>
                                            <p:strVal val="#ppt_x"/>
                                          </p:val>
                                        </p:tav>
                                      </p:tavLst>
                                    </p:anim>
                                    <p:anim calcmode="lin" valueType="num">
                                      <p:cBhvr additive="base">
                                        <p:cTn id="7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39"/>
                                        </p:tgtEl>
                                        <p:attrNameLst>
                                          <p:attrName>style.visibility</p:attrName>
                                        </p:attrNameLst>
                                      </p:cBhvr>
                                      <p:to>
                                        <p:strVal val="visible"/>
                                      </p:to>
                                    </p:set>
                                    <p:anim calcmode="lin" valueType="num">
                                      <p:cBhvr additive="base">
                                        <p:cTn id="81" dur="500" fill="hold"/>
                                        <p:tgtEl>
                                          <p:spTgt spid="39"/>
                                        </p:tgtEl>
                                        <p:attrNameLst>
                                          <p:attrName>ppt_x</p:attrName>
                                        </p:attrNameLst>
                                      </p:cBhvr>
                                      <p:tavLst>
                                        <p:tav tm="0">
                                          <p:val>
                                            <p:strVal val="#ppt_x"/>
                                          </p:val>
                                        </p:tav>
                                        <p:tav tm="100000">
                                          <p:val>
                                            <p:strVal val="#ppt_x"/>
                                          </p:val>
                                        </p:tav>
                                      </p:tavLst>
                                    </p:anim>
                                    <p:anim calcmode="lin" valueType="num">
                                      <p:cBhvr additive="base">
                                        <p:cTn id="82" dur="500" fill="hold"/>
                                        <p:tgtEl>
                                          <p:spTgt spid="39"/>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40"/>
                                        </p:tgtEl>
                                        <p:attrNameLst>
                                          <p:attrName>style.visibility</p:attrName>
                                        </p:attrNameLst>
                                      </p:cBhvr>
                                      <p:to>
                                        <p:strVal val="visible"/>
                                      </p:to>
                                    </p:set>
                                    <p:anim calcmode="lin" valueType="num">
                                      <p:cBhvr additive="base">
                                        <p:cTn id="85" dur="500" fill="hold"/>
                                        <p:tgtEl>
                                          <p:spTgt spid="40"/>
                                        </p:tgtEl>
                                        <p:attrNameLst>
                                          <p:attrName>ppt_x</p:attrName>
                                        </p:attrNameLst>
                                      </p:cBhvr>
                                      <p:tavLst>
                                        <p:tav tm="0">
                                          <p:val>
                                            <p:strVal val="#ppt_x"/>
                                          </p:val>
                                        </p:tav>
                                        <p:tav tm="100000">
                                          <p:val>
                                            <p:strVal val="#ppt_x"/>
                                          </p:val>
                                        </p:tav>
                                      </p:tavLst>
                                    </p:anim>
                                    <p:anim calcmode="lin" valueType="num">
                                      <p:cBhvr additive="base">
                                        <p:cTn id="86" dur="500" fill="hold"/>
                                        <p:tgtEl>
                                          <p:spTgt spid="40"/>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2"/>
                                        </p:tgtEl>
                                        <p:attrNameLst>
                                          <p:attrName>style.visibility</p:attrName>
                                        </p:attrNameLst>
                                      </p:cBhvr>
                                      <p:to>
                                        <p:strVal val="visible"/>
                                      </p:to>
                                    </p:set>
                                    <p:anim calcmode="lin" valueType="num">
                                      <p:cBhvr additive="base">
                                        <p:cTn id="89" dur="500" fill="hold"/>
                                        <p:tgtEl>
                                          <p:spTgt spid="42"/>
                                        </p:tgtEl>
                                        <p:attrNameLst>
                                          <p:attrName>ppt_x</p:attrName>
                                        </p:attrNameLst>
                                      </p:cBhvr>
                                      <p:tavLst>
                                        <p:tav tm="0">
                                          <p:val>
                                            <p:strVal val="#ppt_x"/>
                                          </p:val>
                                        </p:tav>
                                        <p:tav tm="100000">
                                          <p:val>
                                            <p:strVal val="#ppt_x"/>
                                          </p:val>
                                        </p:tav>
                                      </p:tavLst>
                                    </p:anim>
                                    <p:anim calcmode="lin" valueType="num">
                                      <p:cBhvr additive="base">
                                        <p:cTn id="90" dur="500" fill="hold"/>
                                        <p:tgtEl>
                                          <p:spTgt spid="42"/>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anim calcmode="lin" valueType="num">
                                      <p:cBhvr additive="base">
                                        <p:cTn id="93" dur="500" fill="hold"/>
                                        <p:tgtEl>
                                          <p:spTgt spid="43"/>
                                        </p:tgtEl>
                                        <p:attrNameLst>
                                          <p:attrName>ppt_x</p:attrName>
                                        </p:attrNameLst>
                                      </p:cBhvr>
                                      <p:tavLst>
                                        <p:tav tm="0">
                                          <p:val>
                                            <p:strVal val="#ppt_x"/>
                                          </p:val>
                                        </p:tav>
                                        <p:tav tm="100000">
                                          <p:val>
                                            <p:strVal val="#ppt_x"/>
                                          </p:val>
                                        </p:tav>
                                      </p:tavLst>
                                    </p:anim>
                                    <p:anim calcmode="lin" valueType="num">
                                      <p:cBhvr additive="base">
                                        <p:cTn id="94" dur="500" fill="hold"/>
                                        <p:tgtEl>
                                          <p:spTgt spid="43"/>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 calcmode="lin" valueType="num">
                                      <p:cBhvr additive="base">
                                        <p:cTn id="97" dur="500" fill="hold"/>
                                        <p:tgtEl>
                                          <p:spTgt spid="41"/>
                                        </p:tgtEl>
                                        <p:attrNameLst>
                                          <p:attrName>ppt_x</p:attrName>
                                        </p:attrNameLst>
                                      </p:cBhvr>
                                      <p:tavLst>
                                        <p:tav tm="0">
                                          <p:val>
                                            <p:strVal val="#ppt_x"/>
                                          </p:val>
                                        </p:tav>
                                        <p:tav tm="100000">
                                          <p:val>
                                            <p:strVal val="#ppt_x"/>
                                          </p:val>
                                        </p:tav>
                                      </p:tavLst>
                                    </p:anim>
                                    <p:anim calcmode="lin" valueType="num">
                                      <p:cBhvr additive="base">
                                        <p:cTn id="98" dur="500" fill="hold"/>
                                        <p:tgtEl>
                                          <p:spTgt spid="41"/>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44"/>
                                        </p:tgtEl>
                                        <p:attrNameLst>
                                          <p:attrName>style.visibility</p:attrName>
                                        </p:attrNameLst>
                                      </p:cBhvr>
                                      <p:to>
                                        <p:strVal val="visible"/>
                                      </p:to>
                                    </p:set>
                                    <p:anim calcmode="lin" valueType="num">
                                      <p:cBhvr additive="base">
                                        <p:cTn id="101" dur="500" fill="hold"/>
                                        <p:tgtEl>
                                          <p:spTgt spid="44"/>
                                        </p:tgtEl>
                                        <p:attrNameLst>
                                          <p:attrName>ppt_x</p:attrName>
                                        </p:attrNameLst>
                                      </p:cBhvr>
                                      <p:tavLst>
                                        <p:tav tm="0">
                                          <p:val>
                                            <p:strVal val="#ppt_x"/>
                                          </p:val>
                                        </p:tav>
                                        <p:tav tm="100000">
                                          <p:val>
                                            <p:strVal val="#ppt_x"/>
                                          </p:val>
                                        </p:tav>
                                      </p:tavLst>
                                    </p:anim>
                                    <p:anim calcmode="lin" valueType="num">
                                      <p:cBhvr additive="base">
                                        <p:cTn id="102" dur="500" fill="hold"/>
                                        <p:tgtEl>
                                          <p:spTgt spid="44"/>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anim calcmode="lin" valueType="num">
                                      <p:cBhvr additive="base">
                                        <p:cTn id="105" dur="500" fill="hold"/>
                                        <p:tgtEl>
                                          <p:spTgt spid="45"/>
                                        </p:tgtEl>
                                        <p:attrNameLst>
                                          <p:attrName>ppt_x</p:attrName>
                                        </p:attrNameLst>
                                      </p:cBhvr>
                                      <p:tavLst>
                                        <p:tav tm="0">
                                          <p:val>
                                            <p:strVal val="#ppt_x"/>
                                          </p:val>
                                        </p:tav>
                                        <p:tav tm="100000">
                                          <p:val>
                                            <p:strVal val="#ppt_x"/>
                                          </p:val>
                                        </p:tav>
                                      </p:tavLst>
                                    </p:anim>
                                    <p:anim calcmode="lin" valueType="num">
                                      <p:cBhvr additive="base">
                                        <p:cTn id="106" dur="500" fill="hold"/>
                                        <p:tgtEl>
                                          <p:spTgt spid="45"/>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46"/>
                                        </p:tgtEl>
                                        <p:attrNameLst>
                                          <p:attrName>style.visibility</p:attrName>
                                        </p:attrNameLst>
                                      </p:cBhvr>
                                      <p:to>
                                        <p:strVal val="visible"/>
                                      </p:to>
                                    </p:set>
                                    <p:anim calcmode="lin" valueType="num">
                                      <p:cBhvr additive="base">
                                        <p:cTn id="109" dur="500" fill="hold"/>
                                        <p:tgtEl>
                                          <p:spTgt spid="46"/>
                                        </p:tgtEl>
                                        <p:attrNameLst>
                                          <p:attrName>ppt_x</p:attrName>
                                        </p:attrNameLst>
                                      </p:cBhvr>
                                      <p:tavLst>
                                        <p:tav tm="0">
                                          <p:val>
                                            <p:strVal val="#ppt_x"/>
                                          </p:val>
                                        </p:tav>
                                        <p:tav tm="100000">
                                          <p:val>
                                            <p:strVal val="#ppt_x"/>
                                          </p:val>
                                        </p:tav>
                                      </p:tavLst>
                                    </p:anim>
                                    <p:anim calcmode="lin" valueType="num">
                                      <p:cBhvr additive="base">
                                        <p:cTn id="11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10" presetClass="exit" presetSubtype="0" fill="hold" nodeType="clickEffect">
                                  <p:stCondLst>
                                    <p:cond delay="0"/>
                                  </p:stCondLst>
                                  <p:childTnLst>
                                    <p:animEffect transition="out" filter="fade">
                                      <p:cBhvr>
                                        <p:cTn id="114" dur="500"/>
                                        <p:tgtEl>
                                          <p:spTgt spid="40"/>
                                        </p:tgtEl>
                                      </p:cBhvr>
                                    </p:animEffect>
                                    <p:set>
                                      <p:cBhvr>
                                        <p:cTn id="115" dur="1" fill="hold">
                                          <p:stCondLst>
                                            <p:cond delay="499"/>
                                          </p:stCondLst>
                                        </p:cTn>
                                        <p:tgtEl>
                                          <p:spTgt spid="4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42"/>
                                        </p:tgtEl>
                                      </p:cBhvr>
                                    </p:animEffect>
                                    <p:set>
                                      <p:cBhvr>
                                        <p:cTn id="118" dur="1" fill="hold">
                                          <p:stCondLst>
                                            <p:cond delay="499"/>
                                          </p:stCondLst>
                                        </p:cTn>
                                        <p:tgtEl>
                                          <p:spTgt spid="4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4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4" grpId="0"/>
      <p:bldP spid="25" grpId="0" animBg="1"/>
      <p:bldP spid="26" grpId="0" animBg="1"/>
      <p:bldP spid="29" grpId="0" animBg="1"/>
      <p:bldP spid="30" grpId="0" animBg="1"/>
      <p:bldP spid="34" grpId="0"/>
      <p:bldP spid="36" grpId="0"/>
      <p:bldP spid="37" grpId="0" animBg="1"/>
      <p:bldP spid="38" grpId="0"/>
      <p:bldP spid="39" grpId="0"/>
      <p:bldP spid="41" grpId="0"/>
      <p:bldP spid="42" grpId="0" animBg="1"/>
      <p:bldP spid="42" grpId="1" animBg="1"/>
      <p:bldP spid="43" grpId="0" animBg="1"/>
      <p:bldP spid="45" grpId="0" animBg="1"/>
      <p:bldP spid="46" grpId="0" animBg="1"/>
      <p:bldP spid="48" grpId="0" animBg="1"/>
      <p:bldP spid="4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EF02076D-984C-493B-85E6-5D08DD83706A}"/>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赋值运算符重载</a:t>
            </a:r>
            <a:r>
              <a:rPr lang="en-US" altLang="zh-CN" sz="3200" dirty="0">
                <a:solidFill>
                  <a:srgbClr val="FF0000"/>
                </a:solidFill>
              </a:rPr>
              <a:t>operator=</a:t>
            </a:r>
            <a:endParaRPr lang="zh-CN" altLang="en-US" dirty="0">
              <a:solidFill>
                <a:srgbClr val="FF0000"/>
              </a:solidFill>
              <a:sym typeface="+mn-lt"/>
            </a:endParaRPr>
          </a:p>
        </p:txBody>
      </p:sp>
      <p:sp>
        <p:nvSpPr>
          <p:cNvPr id="30" name="矩形 4">
            <a:extLst>
              <a:ext uri="{FF2B5EF4-FFF2-40B4-BE49-F238E27FC236}">
                <a16:creationId xmlns:a16="http://schemas.microsoft.com/office/drawing/2014/main" id="{936964B4-2326-4C54-A333-69446AF394FD}"/>
              </a:ext>
            </a:extLst>
          </p:cNvPr>
          <p:cNvSpPr>
            <a:spLocks noChangeArrowheads="1"/>
          </p:cNvSpPr>
          <p:nvPr/>
        </p:nvSpPr>
        <p:spPr bwMode="auto">
          <a:xfrm>
            <a:off x="0" y="1002128"/>
            <a:ext cx="6727459" cy="556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spc="-100" dirty="0">
                <a:solidFill>
                  <a:srgbClr val="006699"/>
                </a:solidFill>
                <a:latin typeface="Comic Sans MS" panose="030F0702030302020204" pitchFamily="66" charset="0"/>
              </a:rPr>
              <a:t>class</a:t>
            </a: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CExample</a:t>
            </a:r>
            <a:r>
              <a:rPr lang="en-US" altLang="zh-CN" b="0" spc="-100" dirty="0">
                <a:solidFill>
                  <a:srgbClr val="000000"/>
                </a:solidFill>
                <a:latin typeface="Comic Sans MS" panose="030F0702030302020204" pitchFamily="66" charset="0"/>
              </a:rPr>
              <a:t>{ </a:t>
            </a:r>
          </a:p>
          <a:p>
            <a:pPr>
              <a:lnSpc>
                <a:spcPct val="90000"/>
              </a:lnSpc>
            </a:pPr>
            <a:r>
              <a:rPr lang="en-US" altLang="zh-CN" b="0" spc="-100" dirty="0">
                <a:solidFill>
                  <a:srgbClr val="000000"/>
                </a:solidFill>
                <a:latin typeface="Comic Sans MS" panose="030F0702030302020204" pitchFamily="66" charset="0"/>
              </a:rPr>
              <a:t>	</a:t>
            </a:r>
            <a:r>
              <a:rPr lang="en-US" altLang="zh-CN" spc="-100" dirty="0">
                <a:solidFill>
                  <a:srgbClr val="006699"/>
                </a:solidFill>
                <a:latin typeface="Comic Sans MS" panose="030F0702030302020204" pitchFamily="66" charset="0"/>
              </a:rPr>
              <a:t>int</a:t>
            </a: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m_nTest</a:t>
            </a:r>
            <a:r>
              <a:rPr lang="en-US" altLang="zh-CN" b="0" spc="-100" dirty="0">
                <a:solidFill>
                  <a:srgbClr val="000000"/>
                </a:solidFill>
                <a:latin typeface="Comic Sans MS" panose="030F0702030302020204" pitchFamily="66" charset="0"/>
              </a:rPr>
              <a:t>;  </a:t>
            </a:r>
            <a:endParaRPr lang="en-US" altLang="zh-CN" b="0" spc="-100" dirty="0">
              <a:solidFill>
                <a:srgbClr val="5C5C5C"/>
              </a:solidFill>
              <a:latin typeface="Comic Sans MS" panose="030F0702030302020204" pitchFamily="66" charset="0"/>
            </a:endParaRPr>
          </a:p>
          <a:p>
            <a:pPr>
              <a:lnSpc>
                <a:spcPct val="90000"/>
              </a:lnSpc>
            </a:pPr>
            <a:r>
              <a:rPr lang="en-US" altLang="zh-CN" spc="-100" dirty="0">
                <a:solidFill>
                  <a:srgbClr val="006699"/>
                </a:solidFill>
                <a:latin typeface="Comic Sans MS" panose="030F0702030302020204" pitchFamily="66" charset="0"/>
              </a:rPr>
              <a:t>public</a:t>
            </a:r>
            <a:r>
              <a:rPr lang="en-US" altLang="zh-CN" b="0" spc="-100" dirty="0">
                <a:solidFill>
                  <a:srgbClr val="000000"/>
                </a:solidFill>
                <a:latin typeface="Comic Sans MS" panose="030F0702030302020204" pitchFamily="66" charset="0"/>
              </a:rPr>
              <a:t>: </a:t>
            </a:r>
          </a:p>
          <a:p>
            <a:pPr>
              <a:lnSpc>
                <a:spcPct val="90000"/>
              </a:lnSpc>
            </a:pP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CExample</a:t>
            </a:r>
            <a:r>
              <a:rPr lang="en-US" altLang="zh-CN" b="0" spc="-100" dirty="0">
                <a:solidFill>
                  <a:srgbClr val="000000"/>
                </a:solidFill>
                <a:latin typeface="Comic Sans MS" panose="030F0702030302020204" pitchFamily="66" charset="0"/>
              </a:rPr>
              <a:t>(</a:t>
            </a:r>
            <a:r>
              <a:rPr lang="en-US" altLang="zh-CN" spc="-100" dirty="0">
                <a:solidFill>
                  <a:srgbClr val="006699"/>
                </a:solidFill>
                <a:latin typeface="Comic Sans MS" panose="030F0702030302020204" pitchFamily="66" charset="0"/>
              </a:rPr>
              <a:t>int</a:t>
            </a:r>
            <a:r>
              <a:rPr lang="en-US" altLang="zh-CN" b="0" spc="-100" dirty="0">
                <a:solidFill>
                  <a:srgbClr val="000000"/>
                </a:solidFill>
                <a:latin typeface="Comic Sans MS" panose="030F0702030302020204" pitchFamily="66" charset="0"/>
              </a:rPr>
              <a:t> x):</a:t>
            </a:r>
            <a:r>
              <a:rPr lang="en-US" altLang="zh-CN" b="0" spc="-100" dirty="0" err="1">
                <a:solidFill>
                  <a:srgbClr val="000000"/>
                </a:solidFill>
                <a:latin typeface="Comic Sans MS" panose="030F0702030302020204" pitchFamily="66" charset="0"/>
              </a:rPr>
              <a:t>m_nTest</a:t>
            </a:r>
            <a:r>
              <a:rPr lang="en-US" altLang="zh-CN" b="0" spc="-100" dirty="0">
                <a:solidFill>
                  <a:srgbClr val="000000"/>
                </a:solidFill>
                <a:latin typeface="Comic Sans MS" panose="030F0702030302020204" pitchFamily="66" charset="0"/>
              </a:rPr>
              <a:t>(x) </a:t>
            </a:r>
            <a:r>
              <a:rPr lang="zh-CN" altLang="en-US" b="0" spc="-100" dirty="0">
                <a:solidFill>
                  <a:srgbClr val="000000"/>
                </a:solidFill>
                <a:latin typeface="Comic Sans MS" panose="030F0702030302020204" pitchFamily="66" charset="0"/>
              </a:rPr>
              <a:t>  </a:t>
            </a:r>
            <a:endParaRPr lang="en-US" altLang="zh-CN" b="0" spc="-100" dirty="0">
              <a:solidFill>
                <a:srgbClr val="5C5C5C"/>
              </a:solidFill>
              <a:latin typeface="Comic Sans MS" panose="030F0702030302020204" pitchFamily="66" charset="0"/>
            </a:endParaRPr>
          </a:p>
          <a:p>
            <a:pPr>
              <a:lnSpc>
                <a:spcPct val="90000"/>
              </a:lnSpc>
              <a:spcAft>
                <a:spcPts val="600"/>
              </a:spcAft>
            </a:pPr>
            <a:r>
              <a:rPr lang="zh-CN" altLang="en-US" b="0" spc="-100" dirty="0">
                <a:solidFill>
                  <a:srgbClr val="000000"/>
                </a:solidFill>
                <a:latin typeface="Comic Sans MS" panose="030F0702030302020204" pitchFamily="66" charset="0"/>
              </a:rPr>
              <a:t>     </a:t>
            </a:r>
            <a:r>
              <a:rPr lang="en-US" altLang="zh-CN" b="0" spc="-100" dirty="0">
                <a:solidFill>
                  <a:srgbClr val="000000"/>
                </a:solidFill>
                <a:latin typeface="Comic Sans MS" panose="030F0702030302020204" pitchFamily="66" charset="0"/>
              </a:rPr>
              <a:t>{</a:t>
            </a:r>
            <a:r>
              <a:rPr lang="en-US" altLang="zh-CN" b="0" spc="-100" dirty="0" err="1">
                <a:solidFill>
                  <a:srgbClr val="000000"/>
                </a:solidFill>
                <a:latin typeface="Comic Sans MS" panose="030F0702030302020204" pitchFamily="66" charset="0"/>
              </a:rPr>
              <a:t>cout</a:t>
            </a:r>
            <a:r>
              <a:rPr lang="en-US" altLang="zh-CN" b="0" spc="-100" dirty="0">
                <a:solidFill>
                  <a:srgbClr val="000000"/>
                </a:solidFill>
                <a:latin typeface="Comic Sans MS" panose="030F0702030302020204" pitchFamily="66" charset="0"/>
              </a:rPr>
              <a:t> &lt;&lt; </a:t>
            </a:r>
            <a:r>
              <a:rPr lang="en-US" altLang="zh-CN" b="0" spc="-100" dirty="0">
                <a:solidFill>
                  <a:srgbClr val="0000FF"/>
                </a:solidFill>
                <a:latin typeface="Comic Sans MS" panose="030F0702030302020204" pitchFamily="66" charset="0"/>
              </a:rPr>
              <a:t>"constructor with argument\n"</a:t>
            </a:r>
            <a:r>
              <a:rPr lang="en-US" altLang="zh-CN" b="0" spc="-100" dirty="0">
                <a:solidFill>
                  <a:srgbClr val="000000"/>
                </a:solidFill>
                <a:latin typeface="Comic Sans MS" panose="030F0702030302020204" pitchFamily="66" charset="0"/>
              </a:rPr>
              <a:t>;}</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CExample</a:t>
            </a:r>
            <a:r>
              <a:rPr lang="en-US" altLang="zh-CN" b="0" spc="-100" dirty="0">
                <a:solidFill>
                  <a:srgbClr val="000000"/>
                </a:solidFill>
                <a:latin typeface="Comic Sans MS" panose="030F0702030302020204" pitchFamily="66" charset="0"/>
              </a:rPr>
              <a:t>(</a:t>
            </a:r>
            <a:r>
              <a:rPr lang="en-US" altLang="zh-CN" spc="-100" dirty="0">
                <a:solidFill>
                  <a:srgbClr val="006699"/>
                </a:solidFill>
                <a:latin typeface="Comic Sans MS" panose="030F0702030302020204" pitchFamily="66" charset="0"/>
              </a:rPr>
              <a:t>const</a:t>
            </a: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CExample</a:t>
            </a:r>
            <a:r>
              <a:rPr lang="en-US" altLang="zh-CN" b="0" spc="-100" dirty="0">
                <a:solidFill>
                  <a:srgbClr val="000000"/>
                </a:solidFill>
                <a:latin typeface="Comic Sans MS" panose="030F0702030302020204" pitchFamily="66" charset="0"/>
              </a:rPr>
              <a:t> &amp; ex)</a:t>
            </a:r>
            <a:endParaRPr lang="zh-CN" altLang="en-US"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  </a:t>
            </a:r>
            <a:r>
              <a:rPr lang="en-US" altLang="zh-CN" b="0" spc="-100" dirty="0" err="1">
                <a:solidFill>
                  <a:srgbClr val="000000"/>
                </a:solidFill>
                <a:latin typeface="Comic Sans MS" panose="030F0702030302020204" pitchFamily="66" charset="0"/>
              </a:rPr>
              <a:t>m_nTest</a:t>
            </a:r>
            <a:r>
              <a:rPr lang="en-US" altLang="zh-CN" b="0" spc="-100" dirty="0">
                <a:solidFill>
                  <a:srgbClr val="000000"/>
                </a:solidFill>
                <a:latin typeface="Comic Sans MS" panose="030F0702030302020204" pitchFamily="66" charset="0"/>
              </a:rPr>
              <a:t> = </a:t>
            </a:r>
            <a:r>
              <a:rPr lang="en-US" altLang="zh-CN" b="0" spc="-100" dirty="0" err="1">
                <a:solidFill>
                  <a:srgbClr val="000000"/>
                </a:solidFill>
                <a:latin typeface="Comic Sans MS" panose="030F0702030302020204" pitchFamily="66" charset="0"/>
              </a:rPr>
              <a:t>ex.m_nTest</a:t>
            </a:r>
            <a:r>
              <a:rPr lang="en-US" altLang="zh-CN" b="0" spc="-100" dirty="0">
                <a:solidFill>
                  <a:srgbClr val="000000"/>
                </a:solidFill>
                <a:latin typeface="Comic Sans MS" panose="030F0702030302020204" pitchFamily="66" charset="0"/>
              </a:rPr>
              <a:t>;  </a:t>
            </a:r>
          </a:p>
          <a:p>
            <a:pPr>
              <a:lnSpc>
                <a:spcPct val="90000"/>
              </a:lnSpc>
              <a:spcAft>
                <a:spcPts val="600"/>
              </a:spcAft>
            </a:pP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cout</a:t>
            </a:r>
            <a:r>
              <a:rPr lang="en-US" altLang="zh-CN" b="0" spc="-100" dirty="0">
                <a:solidFill>
                  <a:srgbClr val="000000"/>
                </a:solidFill>
                <a:latin typeface="Comic Sans MS" panose="030F0702030302020204" pitchFamily="66" charset="0"/>
              </a:rPr>
              <a:t> &lt;&lt; </a:t>
            </a:r>
            <a:r>
              <a:rPr lang="en-US" altLang="zh-CN" b="0" spc="-100" dirty="0">
                <a:solidFill>
                  <a:srgbClr val="0000FF"/>
                </a:solidFill>
                <a:latin typeface="Comic Sans MS" panose="030F0702030302020204" pitchFamily="66" charset="0"/>
              </a:rPr>
              <a:t>"copy constructor\n"</a:t>
            </a:r>
            <a:r>
              <a:rPr lang="en-US" altLang="zh-CN" b="0" spc="-100" dirty="0">
                <a:solidFill>
                  <a:srgbClr val="000000"/>
                </a:solidFill>
                <a:latin typeface="Comic Sans MS" panose="030F0702030302020204" pitchFamily="66" charset="0"/>
              </a:rPr>
              <a:t>;}  </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CExample</a:t>
            </a:r>
            <a:r>
              <a:rPr lang="en-US" altLang="zh-CN" b="0" spc="-100" dirty="0">
                <a:solidFill>
                  <a:srgbClr val="000000"/>
                </a:solidFill>
                <a:latin typeface="Comic Sans MS" panose="030F0702030302020204" pitchFamily="66" charset="0"/>
              </a:rPr>
              <a:t>&amp; </a:t>
            </a:r>
            <a:r>
              <a:rPr lang="en-US" altLang="zh-CN" spc="-100" dirty="0">
                <a:solidFill>
                  <a:srgbClr val="006699"/>
                </a:solidFill>
                <a:latin typeface="Comic Sans MS" panose="030F0702030302020204" pitchFamily="66" charset="0"/>
              </a:rPr>
              <a:t>operator</a:t>
            </a:r>
            <a:r>
              <a:rPr lang="en-US" altLang="zh-CN" b="0" spc="-100" dirty="0">
                <a:solidFill>
                  <a:srgbClr val="000000"/>
                </a:solidFill>
                <a:latin typeface="Comic Sans MS" panose="030F0702030302020204" pitchFamily="66" charset="0"/>
              </a:rPr>
              <a:t> = (</a:t>
            </a:r>
            <a:r>
              <a:rPr lang="en-US" altLang="zh-CN" spc="-100" dirty="0">
                <a:solidFill>
                  <a:srgbClr val="006699"/>
                </a:solidFill>
                <a:latin typeface="Comic Sans MS" panose="030F0702030302020204" pitchFamily="66" charset="0"/>
              </a:rPr>
              <a:t>const</a:t>
            </a: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CExample</a:t>
            </a:r>
            <a:r>
              <a:rPr lang="en-US" altLang="zh-CN" b="0" spc="-100" dirty="0">
                <a:solidFill>
                  <a:srgbClr val="000000"/>
                </a:solidFill>
                <a:latin typeface="Comic Sans MS" panose="030F0702030302020204" pitchFamily="66" charset="0"/>
              </a:rPr>
              <a:t> &amp;ex{</a:t>
            </a:r>
            <a:endParaRPr lang="zh-CN" altLang="en-US" b="0" spc="-100" dirty="0">
              <a:solidFill>
                <a:srgbClr val="5C5C5C"/>
              </a:solidFill>
              <a:latin typeface="Comic Sans MS" panose="030F0702030302020204" pitchFamily="66" charset="0"/>
            </a:endParaRPr>
          </a:p>
          <a:p>
            <a:pPr>
              <a:lnSpc>
                <a:spcPct val="90000"/>
              </a:lnSpc>
            </a:pPr>
            <a:r>
              <a:rPr lang="zh-CN" altLang="en-US" b="0" spc="-100" dirty="0">
                <a:solidFill>
                  <a:srgbClr val="000000"/>
                </a:solidFill>
                <a:latin typeface="Comic Sans MS" panose="030F0702030302020204" pitchFamily="66" charset="0"/>
              </a:rPr>
              <a:t> </a:t>
            </a: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cout</a:t>
            </a:r>
            <a:r>
              <a:rPr lang="en-US" altLang="zh-CN" b="0" spc="-100" dirty="0">
                <a:solidFill>
                  <a:srgbClr val="000000"/>
                </a:solidFill>
                <a:latin typeface="Comic Sans MS" panose="030F0702030302020204" pitchFamily="66" charset="0"/>
              </a:rPr>
              <a:t> &lt;&lt; </a:t>
            </a:r>
            <a:r>
              <a:rPr lang="en-US" altLang="zh-CN" b="0" spc="-100" dirty="0">
                <a:solidFill>
                  <a:srgbClr val="0000FF"/>
                </a:solidFill>
                <a:latin typeface="Comic Sans MS" panose="030F0702030302020204" pitchFamily="66" charset="0"/>
              </a:rPr>
              <a:t>"assignment operator\n"</a:t>
            </a:r>
            <a:r>
              <a:rPr lang="en-US" altLang="zh-CN" b="0" spc="-100" dirty="0">
                <a:solidFill>
                  <a:srgbClr val="000000"/>
                </a:solidFill>
                <a:latin typeface="Comic Sans MS" panose="030F0702030302020204" pitchFamily="66" charset="0"/>
              </a:rPr>
              <a:t>;  </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m_nTest</a:t>
            </a:r>
            <a:r>
              <a:rPr lang="en-US" altLang="zh-CN" b="0" spc="-100" dirty="0">
                <a:solidFill>
                  <a:srgbClr val="000000"/>
                </a:solidFill>
                <a:latin typeface="Comic Sans MS" panose="030F0702030302020204" pitchFamily="66" charset="0"/>
              </a:rPr>
              <a:t> = </a:t>
            </a:r>
            <a:r>
              <a:rPr lang="en-US" altLang="zh-CN" b="0" spc="-100" dirty="0" err="1">
                <a:solidFill>
                  <a:srgbClr val="000000"/>
                </a:solidFill>
                <a:latin typeface="Comic Sans MS" panose="030F0702030302020204" pitchFamily="66" charset="0"/>
              </a:rPr>
              <a:t>ex.m_nTest</a:t>
            </a:r>
            <a:r>
              <a:rPr lang="en-US" altLang="zh-CN" b="0" spc="-100" dirty="0">
                <a:solidFill>
                  <a:srgbClr val="000000"/>
                </a:solidFill>
                <a:latin typeface="Comic Sans MS" panose="030F0702030302020204" pitchFamily="66" charset="0"/>
              </a:rPr>
              <a:t>;  </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a:t>
            </a:r>
            <a:r>
              <a:rPr lang="en-US" altLang="zh-CN" spc="-100" dirty="0">
                <a:solidFill>
                  <a:srgbClr val="006699"/>
                </a:solidFill>
                <a:latin typeface="Comic Sans MS" panose="030F0702030302020204" pitchFamily="66" charset="0"/>
              </a:rPr>
              <a:t>return</a:t>
            </a:r>
            <a:r>
              <a:rPr lang="en-US" altLang="zh-CN" b="0" spc="-100" dirty="0">
                <a:solidFill>
                  <a:srgbClr val="000000"/>
                </a:solidFill>
                <a:latin typeface="Comic Sans MS" panose="030F0702030302020204" pitchFamily="66" charset="0"/>
              </a:rPr>
              <a:t> *</a:t>
            </a:r>
            <a:r>
              <a:rPr lang="en-US" altLang="zh-CN" spc="-100" dirty="0">
                <a:solidFill>
                  <a:srgbClr val="006699"/>
                </a:solidFill>
                <a:latin typeface="Comic Sans MS" panose="030F0702030302020204" pitchFamily="66" charset="0"/>
              </a:rPr>
              <a:t>this</a:t>
            </a:r>
            <a:r>
              <a:rPr lang="en-US" altLang="zh-CN" b="0" spc="-100" dirty="0">
                <a:solidFill>
                  <a:srgbClr val="000000"/>
                </a:solidFill>
                <a:latin typeface="Comic Sans MS" panose="030F0702030302020204" pitchFamily="66" charset="0"/>
              </a:rPr>
              <a:t>;  </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        </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a:t>
            </a:r>
            <a:r>
              <a:rPr lang="en-US" altLang="zh-CN" spc="-100" dirty="0">
                <a:solidFill>
                  <a:srgbClr val="006699"/>
                </a:solidFill>
                <a:latin typeface="Comic Sans MS" panose="030F0702030302020204" pitchFamily="66" charset="0"/>
              </a:rPr>
              <a:t>void</a:t>
            </a:r>
            <a:r>
              <a:rPr lang="en-US" altLang="zh-CN" b="0" spc="-100" dirty="0">
                <a:solidFill>
                  <a:srgbClr val="000000"/>
                </a:solidFill>
                <a:latin typeface="Comic Sans MS" panose="030F0702030302020204" pitchFamily="66" charset="0"/>
              </a:rPr>
              <a:t> </a:t>
            </a:r>
            <a:r>
              <a:rPr lang="en-US" altLang="zh-CN" b="0" spc="-100" dirty="0" err="1">
                <a:solidFill>
                  <a:srgbClr val="000000"/>
                </a:solidFill>
                <a:latin typeface="Comic Sans MS" panose="030F0702030302020204" pitchFamily="66" charset="0"/>
              </a:rPr>
              <a:t>myTestFunc</a:t>
            </a:r>
            <a:r>
              <a:rPr lang="en-US" altLang="zh-CN" b="0" spc="-100" dirty="0">
                <a:solidFill>
                  <a:srgbClr val="000000"/>
                </a:solidFill>
                <a:latin typeface="Comic Sans MS" panose="030F0702030302020204" pitchFamily="66" charset="0"/>
              </a:rPr>
              <a:t>(</a:t>
            </a:r>
            <a:r>
              <a:rPr lang="en-US" altLang="zh-CN" b="0" spc="-100" dirty="0" err="1">
                <a:solidFill>
                  <a:srgbClr val="000000"/>
                </a:solidFill>
                <a:latin typeface="Comic Sans MS" panose="030F0702030302020204" pitchFamily="66" charset="0"/>
              </a:rPr>
              <a:t>CExample</a:t>
            </a:r>
            <a:r>
              <a:rPr lang="en-US" altLang="zh-CN" b="0" spc="-100" dirty="0">
                <a:solidFill>
                  <a:srgbClr val="000000"/>
                </a:solidFill>
                <a:latin typeface="Comic Sans MS" panose="030F0702030302020204" pitchFamily="66" charset="0"/>
              </a:rPr>
              <a:t> ex)  </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    {}  </a:t>
            </a:r>
            <a:endParaRPr lang="en-US" altLang="zh-CN" b="0" spc="-100" dirty="0">
              <a:solidFill>
                <a:srgbClr val="5C5C5C"/>
              </a:solidFill>
              <a:latin typeface="Comic Sans MS" panose="030F0702030302020204" pitchFamily="66" charset="0"/>
            </a:endParaRPr>
          </a:p>
          <a:p>
            <a:pPr>
              <a:lnSpc>
                <a:spcPct val="90000"/>
              </a:lnSpc>
            </a:pPr>
            <a:r>
              <a:rPr lang="en-US" altLang="zh-CN" b="0" spc="-100" dirty="0">
                <a:solidFill>
                  <a:srgbClr val="000000"/>
                </a:solidFill>
                <a:latin typeface="Comic Sans MS" panose="030F0702030302020204" pitchFamily="66" charset="0"/>
              </a:rPr>
              <a:t>};</a:t>
            </a:r>
            <a:endParaRPr lang="zh-CN" altLang="en-US" spc="-100" dirty="0">
              <a:latin typeface="Comic Sans MS" panose="030F0702030302020204" pitchFamily="66" charset="0"/>
            </a:endParaRPr>
          </a:p>
        </p:txBody>
      </p:sp>
      <p:sp>
        <p:nvSpPr>
          <p:cNvPr id="31" name="矩形 3">
            <a:extLst>
              <a:ext uri="{FF2B5EF4-FFF2-40B4-BE49-F238E27FC236}">
                <a16:creationId xmlns:a16="http://schemas.microsoft.com/office/drawing/2014/main" id="{494A754B-883C-4E22-BC23-8D5FA99294A1}"/>
              </a:ext>
            </a:extLst>
          </p:cNvPr>
          <p:cNvSpPr>
            <a:spLocks noChangeArrowheads="1"/>
          </p:cNvSpPr>
          <p:nvPr/>
        </p:nvSpPr>
        <p:spPr bwMode="auto">
          <a:xfrm>
            <a:off x="6970835" y="1461690"/>
            <a:ext cx="367347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dirty="0">
                <a:solidFill>
                  <a:srgbClr val="006699"/>
                </a:solidFill>
                <a:latin typeface="Comic Sans MS" panose="030F0702030302020204" pitchFamily="66" charset="0"/>
              </a:rPr>
              <a:t>int</a:t>
            </a:r>
            <a:r>
              <a:rPr lang="en-US" altLang="zh-CN" b="0" dirty="0">
                <a:solidFill>
                  <a:srgbClr val="000000"/>
                </a:solidFill>
                <a:latin typeface="Comic Sans MS" panose="030F0702030302020204" pitchFamily="66" charset="0"/>
              </a:rPr>
              <a:t> main()  </a:t>
            </a:r>
            <a:endParaRPr lang="en-US" altLang="zh-CN" b="0" dirty="0">
              <a:solidFill>
                <a:srgbClr val="5C5C5C"/>
              </a:solidFill>
              <a:latin typeface="Comic Sans MS" panose="030F0702030302020204" pitchFamily="66" charset="0"/>
            </a:endParaRPr>
          </a:p>
          <a:p>
            <a:r>
              <a:rPr lang="en-US" altLang="zh-CN" b="0" dirty="0">
                <a:solidFill>
                  <a:srgbClr val="000000"/>
                </a:solidFill>
                <a:latin typeface="Comic Sans MS" panose="030F0702030302020204" pitchFamily="66" charset="0"/>
              </a:rPr>
              <a:t>{</a:t>
            </a:r>
            <a:r>
              <a:rPr lang="en-US" altLang="zh-CN" b="0" dirty="0" err="1">
                <a:solidFill>
                  <a:srgbClr val="000000"/>
                </a:solidFill>
                <a:latin typeface="Comic Sans MS" panose="030F0702030302020204" pitchFamily="66" charset="0"/>
              </a:rPr>
              <a:t>CExample</a:t>
            </a:r>
            <a:r>
              <a:rPr lang="en-US" altLang="zh-CN" b="0" dirty="0">
                <a:solidFill>
                  <a:srgbClr val="000000"/>
                </a:solidFill>
                <a:latin typeface="Comic Sans MS" panose="030F0702030302020204" pitchFamily="66" charset="0"/>
              </a:rPr>
              <a:t> </a:t>
            </a:r>
            <a:r>
              <a:rPr lang="en-US" altLang="zh-CN" b="0" dirty="0" err="1">
                <a:solidFill>
                  <a:srgbClr val="000000"/>
                </a:solidFill>
                <a:latin typeface="Comic Sans MS" panose="030F0702030302020204" pitchFamily="66" charset="0"/>
              </a:rPr>
              <a:t>aaa</a:t>
            </a:r>
            <a:r>
              <a:rPr lang="en-US" altLang="zh-CN" b="0" dirty="0">
                <a:solidFill>
                  <a:srgbClr val="000000"/>
                </a:solidFill>
                <a:latin typeface="Comic Sans MS" panose="030F0702030302020204" pitchFamily="66" charset="0"/>
              </a:rPr>
              <a:t>(2);  </a:t>
            </a:r>
            <a:endParaRPr lang="en-US" altLang="zh-CN" b="0" dirty="0">
              <a:solidFill>
                <a:srgbClr val="5C5C5C"/>
              </a:solidFill>
              <a:latin typeface="Comic Sans MS" panose="030F0702030302020204" pitchFamily="66" charset="0"/>
            </a:endParaRPr>
          </a:p>
          <a:p>
            <a:r>
              <a:rPr lang="en-US" altLang="zh-CN" b="0" dirty="0" err="1">
                <a:solidFill>
                  <a:srgbClr val="000000"/>
                </a:solidFill>
                <a:latin typeface="Comic Sans MS" panose="030F0702030302020204" pitchFamily="66" charset="0"/>
              </a:rPr>
              <a:t>CExample</a:t>
            </a:r>
            <a:r>
              <a:rPr lang="en-US" altLang="zh-CN" b="0" dirty="0">
                <a:solidFill>
                  <a:srgbClr val="000000"/>
                </a:solidFill>
                <a:latin typeface="Comic Sans MS" panose="030F0702030302020204" pitchFamily="66" charset="0"/>
              </a:rPr>
              <a:t> </a:t>
            </a:r>
            <a:r>
              <a:rPr lang="en-US" altLang="zh-CN" b="0" dirty="0" err="1">
                <a:solidFill>
                  <a:srgbClr val="000000"/>
                </a:solidFill>
                <a:latin typeface="Comic Sans MS" panose="030F0702030302020204" pitchFamily="66" charset="0"/>
              </a:rPr>
              <a:t>bbb</a:t>
            </a:r>
            <a:r>
              <a:rPr lang="en-US" altLang="zh-CN" b="0" dirty="0">
                <a:solidFill>
                  <a:srgbClr val="000000"/>
                </a:solidFill>
                <a:latin typeface="Comic Sans MS" panose="030F0702030302020204" pitchFamily="66" charset="0"/>
              </a:rPr>
              <a:t>(3);  </a:t>
            </a:r>
            <a:endParaRPr lang="en-US" altLang="zh-CN" b="0" dirty="0">
              <a:solidFill>
                <a:srgbClr val="5C5C5C"/>
              </a:solidFill>
              <a:latin typeface="Comic Sans MS" panose="030F0702030302020204" pitchFamily="66" charset="0"/>
            </a:endParaRPr>
          </a:p>
          <a:p>
            <a:r>
              <a:rPr lang="en-US" altLang="zh-CN" b="0" dirty="0" err="1">
                <a:solidFill>
                  <a:srgbClr val="000000"/>
                </a:solidFill>
                <a:latin typeface="Comic Sans MS" panose="030F0702030302020204" pitchFamily="66" charset="0"/>
              </a:rPr>
              <a:t>bbb</a:t>
            </a:r>
            <a:r>
              <a:rPr lang="en-US" altLang="zh-CN" b="0" dirty="0">
                <a:solidFill>
                  <a:srgbClr val="000000"/>
                </a:solidFill>
                <a:latin typeface="Comic Sans MS" panose="030F0702030302020204" pitchFamily="66" charset="0"/>
              </a:rPr>
              <a:t> = </a:t>
            </a:r>
            <a:r>
              <a:rPr lang="en-US" altLang="zh-CN" b="0" dirty="0" err="1">
                <a:solidFill>
                  <a:srgbClr val="000000"/>
                </a:solidFill>
                <a:latin typeface="Comic Sans MS" panose="030F0702030302020204" pitchFamily="66" charset="0"/>
              </a:rPr>
              <a:t>aaa</a:t>
            </a:r>
            <a:r>
              <a:rPr lang="en-US" altLang="zh-CN" b="0" dirty="0">
                <a:solidFill>
                  <a:srgbClr val="000000"/>
                </a:solidFill>
                <a:latin typeface="Comic Sans MS" panose="030F0702030302020204" pitchFamily="66" charset="0"/>
              </a:rPr>
              <a:t>;  </a:t>
            </a:r>
            <a:endParaRPr lang="en-US" altLang="zh-CN" b="0" dirty="0">
              <a:solidFill>
                <a:srgbClr val="5C5C5C"/>
              </a:solidFill>
              <a:latin typeface="Comic Sans MS" panose="030F0702030302020204" pitchFamily="66" charset="0"/>
            </a:endParaRPr>
          </a:p>
          <a:p>
            <a:r>
              <a:rPr lang="en-US" altLang="zh-CN" b="0" dirty="0" err="1">
                <a:solidFill>
                  <a:srgbClr val="000000"/>
                </a:solidFill>
                <a:latin typeface="Comic Sans MS" panose="030F0702030302020204" pitchFamily="66" charset="0"/>
              </a:rPr>
              <a:t>CExample</a:t>
            </a:r>
            <a:r>
              <a:rPr lang="en-US" altLang="zh-CN" b="0" dirty="0">
                <a:solidFill>
                  <a:srgbClr val="000000"/>
                </a:solidFill>
                <a:latin typeface="Comic Sans MS" panose="030F0702030302020204" pitchFamily="66" charset="0"/>
              </a:rPr>
              <a:t> ccc = </a:t>
            </a:r>
            <a:r>
              <a:rPr lang="en-US" altLang="zh-CN" b="0" dirty="0" err="1">
                <a:solidFill>
                  <a:srgbClr val="000000"/>
                </a:solidFill>
                <a:latin typeface="Comic Sans MS" panose="030F0702030302020204" pitchFamily="66" charset="0"/>
              </a:rPr>
              <a:t>aaa</a:t>
            </a:r>
            <a:r>
              <a:rPr lang="en-US" altLang="zh-CN" b="0" dirty="0">
                <a:solidFill>
                  <a:srgbClr val="000000"/>
                </a:solidFill>
                <a:latin typeface="Comic Sans MS" panose="030F0702030302020204" pitchFamily="66" charset="0"/>
              </a:rPr>
              <a:t>;  </a:t>
            </a:r>
            <a:endParaRPr lang="en-US" altLang="zh-CN" b="0" dirty="0">
              <a:solidFill>
                <a:srgbClr val="5C5C5C"/>
              </a:solidFill>
              <a:latin typeface="Comic Sans MS" panose="030F0702030302020204" pitchFamily="66" charset="0"/>
            </a:endParaRPr>
          </a:p>
          <a:p>
            <a:r>
              <a:rPr lang="en-US" altLang="zh-CN" b="0" dirty="0" err="1">
                <a:solidFill>
                  <a:srgbClr val="000000"/>
                </a:solidFill>
                <a:latin typeface="Comic Sans MS" panose="030F0702030302020204" pitchFamily="66" charset="0"/>
              </a:rPr>
              <a:t>bbb.myTestFunc</a:t>
            </a:r>
            <a:r>
              <a:rPr lang="en-US" altLang="zh-CN" b="0" dirty="0">
                <a:solidFill>
                  <a:srgbClr val="000000"/>
                </a:solidFill>
                <a:latin typeface="Comic Sans MS" panose="030F0702030302020204" pitchFamily="66" charset="0"/>
              </a:rPr>
              <a:t>(</a:t>
            </a:r>
            <a:r>
              <a:rPr lang="en-US" altLang="zh-CN" b="0" dirty="0" err="1">
                <a:solidFill>
                  <a:srgbClr val="000000"/>
                </a:solidFill>
                <a:latin typeface="Comic Sans MS" panose="030F0702030302020204" pitchFamily="66" charset="0"/>
              </a:rPr>
              <a:t>aaa</a:t>
            </a:r>
            <a:r>
              <a:rPr lang="en-US" altLang="zh-CN" b="0" dirty="0">
                <a:solidFill>
                  <a:srgbClr val="000000"/>
                </a:solidFill>
                <a:latin typeface="Comic Sans MS" panose="030F0702030302020204" pitchFamily="66" charset="0"/>
              </a:rPr>
              <a:t>);  </a:t>
            </a:r>
            <a:endParaRPr lang="en-US" altLang="zh-CN" b="0" dirty="0">
              <a:solidFill>
                <a:srgbClr val="5C5C5C"/>
              </a:solidFill>
              <a:latin typeface="Comic Sans MS" panose="030F0702030302020204" pitchFamily="66" charset="0"/>
            </a:endParaRPr>
          </a:p>
          <a:p>
            <a:r>
              <a:rPr lang="en-US" altLang="zh-CN" dirty="0">
                <a:solidFill>
                  <a:srgbClr val="006699"/>
                </a:solidFill>
                <a:latin typeface="Comic Sans MS" panose="030F0702030302020204" pitchFamily="66" charset="0"/>
              </a:rPr>
              <a:t>return</a:t>
            </a:r>
            <a:r>
              <a:rPr lang="en-US" altLang="zh-CN" b="0" dirty="0">
                <a:solidFill>
                  <a:srgbClr val="000000"/>
                </a:solidFill>
                <a:latin typeface="Comic Sans MS" panose="030F0702030302020204" pitchFamily="66" charset="0"/>
              </a:rPr>
              <a:t> 0;     </a:t>
            </a:r>
            <a:endParaRPr lang="en-US" altLang="zh-CN" b="0" dirty="0">
              <a:solidFill>
                <a:srgbClr val="5C5C5C"/>
              </a:solidFill>
              <a:latin typeface="Comic Sans MS" panose="030F0702030302020204" pitchFamily="66" charset="0"/>
            </a:endParaRPr>
          </a:p>
          <a:p>
            <a:r>
              <a:rPr lang="en-US" altLang="zh-CN" b="0" dirty="0">
                <a:solidFill>
                  <a:srgbClr val="000000"/>
                </a:solidFill>
                <a:latin typeface="Comic Sans MS" panose="030F0702030302020204" pitchFamily="66" charset="0"/>
              </a:rPr>
              <a:t>}  </a:t>
            </a:r>
            <a:endParaRPr lang="en-US" altLang="zh-CN" b="0" dirty="0">
              <a:solidFill>
                <a:srgbClr val="5C5C5C"/>
              </a:solidFill>
              <a:latin typeface="Comic Sans MS" panose="030F0702030302020204" pitchFamily="66" charset="0"/>
            </a:endParaRPr>
          </a:p>
        </p:txBody>
      </p:sp>
      <p:pic>
        <p:nvPicPr>
          <p:cNvPr id="32" name="图片 31">
            <a:extLst>
              <a:ext uri="{FF2B5EF4-FFF2-40B4-BE49-F238E27FC236}">
                <a16:creationId xmlns:a16="http://schemas.microsoft.com/office/drawing/2014/main" id="{EEFF7727-932E-45C1-9AEB-8B01CC977E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4263" y="-49611"/>
            <a:ext cx="3673475" cy="1511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3269176"/>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1+#ppt_w/2"/>
                                          </p:val>
                                        </p:tav>
                                        <p:tav tm="100000">
                                          <p:val>
                                            <p:strVal val="#ppt_x"/>
                                          </p:val>
                                        </p:tav>
                                      </p:tavLst>
                                    </p:anim>
                                    <p:anim calcmode="lin" valueType="num">
                                      <p:cBhvr additive="base">
                                        <p:cTn id="8" dur="500" fill="hold"/>
                                        <p:tgtEl>
                                          <p:spTgt spid="3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 name="直线连接符 6">
            <a:extLst>
              <a:ext uri="{FF2B5EF4-FFF2-40B4-BE49-F238E27FC236}">
                <a16:creationId xmlns:a16="http://schemas.microsoft.com/office/drawing/2014/main" id="{B14F42C0-3508-43EC-B402-C5D5AEE82C67}"/>
              </a:ext>
            </a:extLst>
          </p:cNvPr>
          <p:cNvCxnSpPr/>
          <p:nvPr/>
        </p:nvCxnSpPr>
        <p:spPr>
          <a:xfrm>
            <a:off x="0"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矩形 3">
            <a:extLst>
              <a:ext uri="{FF2B5EF4-FFF2-40B4-BE49-F238E27FC236}">
                <a16:creationId xmlns:a16="http://schemas.microsoft.com/office/drawing/2014/main" id="{590F6B22-990D-44AA-ACDF-1ECDDB6F3992}"/>
              </a:ext>
            </a:extLst>
          </p:cNvPr>
          <p:cNvSpPr>
            <a:spLocks noChangeArrowheads="1"/>
          </p:cNvSpPr>
          <p:nvPr/>
        </p:nvSpPr>
        <p:spPr bwMode="auto">
          <a:xfrm>
            <a:off x="130488" y="1031994"/>
            <a:ext cx="29979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104E87"/>
                </a:solidFill>
                <a:latin typeface="华光行书_CNKI" panose="02000500000000000000" pitchFamily="2" charset="-122"/>
                <a:ea typeface="华光行书_CNKI" panose="02000500000000000000" pitchFamily="2" charset="-122"/>
              </a:rPr>
              <a:t>单目运算符 </a:t>
            </a:r>
            <a:r>
              <a:rPr lang="en-US" altLang="en-US"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和</a:t>
            </a:r>
            <a:r>
              <a:rPr lang="en-US" altLang="zh-CN" dirty="0">
                <a:solidFill>
                  <a:srgbClr val="104E87"/>
                </a:solidFill>
                <a:latin typeface="华光行书_CNKI" panose="02000500000000000000" pitchFamily="2" charset="-122"/>
                <a:ea typeface="华光行书_CNKI" panose="02000500000000000000" pitchFamily="2" charset="-122"/>
              </a:rPr>
              <a:t>--</a:t>
            </a:r>
            <a:endParaRPr lang="zh-CN" altLang="en-US" dirty="0">
              <a:solidFill>
                <a:srgbClr val="104E87"/>
              </a:solidFill>
              <a:latin typeface="华光行书_CNKI" panose="02000500000000000000" pitchFamily="2" charset="-122"/>
              <a:ea typeface="华光行书_CNKI" panose="02000500000000000000" pitchFamily="2" charset="-122"/>
            </a:endParaRPr>
          </a:p>
        </p:txBody>
      </p:sp>
      <p:sp>
        <p:nvSpPr>
          <p:cNvPr id="19" name="矩形 18">
            <a:extLst>
              <a:ext uri="{FF2B5EF4-FFF2-40B4-BE49-F238E27FC236}">
                <a16:creationId xmlns:a16="http://schemas.microsoft.com/office/drawing/2014/main" id="{7F44BEF5-4B36-4685-9C44-B842B639CDEE}"/>
              </a:ext>
            </a:extLst>
          </p:cNvPr>
          <p:cNvSpPr/>
          <p:nvPr/>
        </p:nvSpPr>
        <p:spPr>
          <a:xfrm>
            <a:off x="4465" y="1490008"/>
            <a:ext cx="3564531" cy="2677656"/>
          </a:xfrm>
          <a:prstGeom prst="rect">
            <a:avLst/>
          </a:prstGeom>
          <a:noFill/>
          <a:ln>
            <a:noFill/>
          </a:ln>
        </p:spPr>
        <p:txBody>
          <a:bodyPr wrap="square">
            <a:spAutoFit/>
          </a:bodyPr>
          <a:lstStyle/>
          <a:p>
            <a:pPr eaLnBrk="1" hangingPunct="1">
              <a:buClr>
                <a:srgbClr val="FF0000"/>
              </a:buClr>
              <a:buSzPct val="75000"/>
              <a:buFont typeface="Wingdings" pitchFamily="2" charset="2"/>
              <a:buChar char="l"/>
              <a:defRPr/>
            </a:pPr>
            <a:r>
              <a:rPr lang="zh-CN" altLang="en-US" dirty="0">
                <a:solidFill>
                  <a:srgbClr val="104E87"/>
                </a:solidFill>
                <a:latin typeface="华光行书_CNKI" panose="02000500000000000000" pitchFamily="2" charset="-122"/>
                <a:ea typeface="华光行书_CNKI" panose="02000500000000000000" pitchFamily="2" charset="-122"/>
              </a:rPr>
              <a:t>前置</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和后置</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重载为时钟类的成员函数。</a:t>
            </a:r>
          </a:p>
          <a:p>
            <a:pPr eaLnBrk="1" hangingPunct="1">
              <a:buClr>
                <a:srgbClr val="FF0000"/>
              </a:buClr>
              <a:buSzPct val="75000"/>
              <a:buFont typeface="Wingdings" pitchFamily="2" charset="2"/>
              <a:buChar char="l"/>
              <a:defRPr/>
            </a:pPr>
            <a:r>
              <a:rPr lang="zh-CN" altLang="en-US" dirty="0">
                <a:solidFill>
                  <a:srgbClr val="104E87"/>
                </a:solidFill>
                <a:latin typeface="华光行书_CNKI" panose="02000500000000000000" pitchFamily="2" charset="-122"/>
                <a:ea typeface="华光行书_CNKI" panose="02000500000000000000" pitchFamily="2" charset="-122"/>
              </a:rPr>
              <a:t>前置</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重载函数没有形参</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后置</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重载函数有一个整型形参。</a:t>
            </a:r>
          </a:p>
          <a:p>
            <a:pPr eaLnBrk="1" hangingPunct="1">
              <a:buClr>
                <a:srgbClr val="FF0000"/>
              </a:buClr>
              <a:buSzPct val="75000"/>
              <a:buFont typeface="Wingdings" pitchFamily="2" charset="2"/>
              <a:buChar char="l"/>
              <a:defRPr/>
            </a:pPr>
            <a:r>
              <a:rPr lang="zh-CN" altLang="en-US" dirty="0">
                <a:solidFill>
                  <a:srgbClr val="104E87"/>
                </a:solidFill>
                <a:latin typeface="华光行书_CNKI" panose="02000500000000000000" pitchFamily="2" charset="-122"/>
                <a:ea typeface="华光行书_CNKI" panose="02000500000000000000" pitchFamily="2" charset="-122"/>
              </a:rPr>
              <a:t>操作数是时钟类的对象。</a:t>
            </a:r>
          </a:p>
          <a:p>
            <a:pPr eaLnBrk="1" hangingPunct="1">
              <a:buClr>
                <a:srgbClr val="FF0000"/>
              </a:buClr>
              <a:buSzPct val="75000"/>
              <a:buFont typeface="Wingdings" pitchFamily="2" charset="2"/>
              <a:buChar char="l"/>
              <a:defRPr/>
            </a:pPr>
            <a:r>
              <a:rPr lang="zh-CN" altLang="en-US" dirty="0">
                <a:solidFill>
                  <a:srgbClr val="104E87"/>
                </a:solidFill>
                <a:latin typeface="华光行书_CNKI" panose="02000500000000000000" pitchFamily="2" charset="-122"/>
                <a:ea typeface="华光行书_CNKI" panose="02000500000000000000" pitchFamily="2" charset="-122"/>
              </a:rPr>
              <a:t>实现时间增加</a:t>
            </a:r>
            <a:r>
              <a:rPr lang="en-US" altLang="zh-CN" dirty="0">
                <a:solidFill>
                  <a:srgbClr val="104E87"/>
                </a:solidFill>
                <a:latin typeface="华光行书_CNKI" panose="02000500000000000000" pitchFamily="2" charset="-122"/>
                <a:ea typeface="华光行书_CNKI" panose="02000500000000000000" pitchFamily="2" charset="-122"/>
              </a:rPr>
              <a:t>1</a:t>
            </a:r>
            <a:r>
              <a:rPr lang="zh-CN" altLang="en-US" dirty="0">
                <a:solidFill>
                  <a:srgbClr val="104E87"/>
                </a:solidFill>
                <a:latin typeface="华光行书_CNKI" panose="02000500000000000000" pitchFamily="2" charset="-122"/>
                <a:ea typeface="华光行书_CNKI" panose="02000500000000000000" pitchFamily="2" charset="-122"/>
              </a:rPr>
              <a:t>秒钟。</a:t>
            </a:r>
          </a:p>
        </p:txBody>
      </p:sp>
      <p:sp>
        <p:nvSpPr>
          <p:cNvPr id="20" name="文本框 19">
            <a:extLst>
              <a:ext uri="{FF2B5EF4-FFF2-40B4-BE49-F238E27FC236}">
                <a16:creationId xmlns:a16="http://schemas.microsoft.com/office/drawing/2014/main" id="{3C372B09-5D4B-4A59-AF5E-9A0AF1EA52DA}"/>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自增自减运算符</a:t>
            </a:r>
            <a:r>
              <a:rPr lang="en-US" altLang="zh-CN" sz="3200" dirty="0">
                <a:solidFill>
                  <a:srgbClr val="FF0000"/>
                </a:solidFill>
              </a:rPr>
              <a:t>operator++</a:t>
            </a:r>
            <a:endParaRPr lang="zh-CN" altLang="en-US" dirty="0">
              <a:solidFill>
                <a:srgbClr val="FF0000"/>
              </a:solidFill>
              <a:sym typeface="+mn-lt"/>
            </a:endParaRPr>
          </a:p>
        </p:txBody>
      </p:sp>
      <p:sp>
        <p:nvSpPr>
          <p:cNvPr id="3" name="文本框 2">
            <a:extLst>
              <a:ext uri="{FF2B5EF4-FFF2-40B4-BE49-F238E27FC236}">
                <a16:creationId xmlns:a16="http://schemas.microsoft.com/office/drawing/2014/main" id="{591931C1-126D-EFA4-DA79-BD88CAD5C7AA}"/>
              </a:ext>
            </a:extLst>
          </p:cNvPr>
          <p:cNvSpPr txBox="1"/>
          <p:nvPr/>
        </p:nvSpPr>
        <p:spPr>
          <a:xfrm>
            <a:off x="4046711" y="1303677"/>
            <a:ext cx="7711535" cy="2923877"/>
          </a:xfrm>
          <a:prstGeom prst="rect">
            <a:avLst/>
          </a:prstGeom>
          <a:noFill/>
        </p:spPr>
        <p:txBody>
          <a:bodyPr wrap="square">
            <a:spAutoFit/>
          </a:bodyPr>
          <a:lstStyle/>
          <a:p>
            <a:r>
              <a:rPr lang="zh-CN" altLang="en-US" sz="2000" dirty="0">
                <a:solidFill>
                  <a:srgbClr val="104E87"/>
                </a:solidFill>
                <a:latin typeface="Comic Sans MS" panose="030F0702030302020204" pitchFamily="66" charset="0"/>
              </a:rPr>
              <a:t>class Clock	{	</a:t>
            </a:r>
          </a:p>
          <a:p>
            <a:r>
              <a:rPr lang="zh-CN" altLang="en-US" sz="2000" dirty="0">
                <a:solidFill>
                  <a:srgbClr val="104E87"/>
                </a:solidFill>
                <a:latin typeface="Comic Sans MS" panose="030F0702030302020204" pitchFamily="66" charset="0"/>
              </a:rPr>
              <a:t>public:	</a:t>
            </a:r>
          </a:p>
          <a:p>
            <a:r>
              <a:rPr lang="zh-CN" altLang="en-US" sz="2000" dirty="0">
                <a:solidFill>
                  <a:srgbClr val="104E87"/>
                </a:solidFill>
                <a:latin typeface="Comic Sans MS" panose="030F0702030302020204" pitchFamily="66" charset="0"/>
              </a:rPr>
              <a:t>	Clock(int hour = 0, int minute = 0, int second = 0);</a:t>
            </a:r>
          </a:p>
          <a:p>
            <a:r>
              <a:rPr lang="zh-CN" altLang="en-US" sz="2000" dirty="0">
                <a:solidFill>
                  <a:srgbClr val="104E87"/>
                </a:solidFill>
                <a:latin typeface="Comic Sans MS" panose="030F0702030302020204" pitchFamily="66" charset="0"/>
              </a:rPr>
              <a:t>	void showTime() const;</a:t>
            </a:r>
          </a:p>
          <a:p>
            <a:r>
              <a:rPr lang="zh-CN" altLang="en-US" sz="2000" dirty="0">
                <a:solidFill>
                  <a:srgbClr val="104E87"/>
                </a:solidFill>
                <a:latin typeface="Comic Sans MS" panose="030F0702030302020204" pitchFamily="66" charset="0"/>
              </a:rPr>
              <a:t>	</a:t>
            </a:r>
            <a:endParaRPr lang="en-US" altLang="zh-CN" sz="2000" dirty="0">
              <a:solidFill>
                <a:srgbClr val="104E87"/>
              </a:solidFill>
              <a:latin typeface="Comic Sans MS" panose="030F0702030302020204" pitchFamily="66" charset="0"/>
            </a:endParaRPr>
          </a:p>
          <a:p>
            <a:endParaRPr lang="en-US" altLang="zh-CN" sz="2000" dirty="0">
              <a:solidFill>
                <a:srgbClr val="104E87"/>
              </a:solidFill>
              <a:latin typeface="Comic Sans MS" panose="030F0702030302020204" pitchFamily="66" charset="0"/>
            </a:endParaRPr>
          </a:p>
          <a:p>
            <a:r>
              <a:rPr lang="zh-CN" altLang="en-US" sz="2000" dirty="0">
                <a:solidFill>
                  <a:srgbClr val="104E87"/>
                </a:solidFill>
                <a:latin typeface="Comic Sans MS" panose="030F0702030302020204" pitchFamily="66" charset="0"/>
              </a:rPr>
              <a:t>private:</a:t>
            </a:r>
          </a:p>
          <a:p>
            <a:r>
              <a:rPr lang="zh-CN" altLang="en-US" sz="2000" dirty="0">
                <a:solidFill>
                  <a:srgbClr val="104E87"/>
                </a:solidFill>
                <a:latin typeface="Comic Sans MS" panose="030F0702030302020204" pitchFamily="66" charset="0"/>
              </a:rPr>
              <a:t>	int hour, minute, second;</a:t>
            </a:r>
          </a:p>
          <a:p>
            <a:r>
              <a:rPr lang="zh-CN" altLang="en-US" sz="2000" dirty="0">
                <a:solidFill>
                  <a:srgbClr val="104E87"/>
                </a:solidFill>
                <a:latin typeface="Comic Sans MS" panose="030F0702030302020204" pitchFamily="66" charset="0"/>
              </a:rPr>
              <a:t>};</a:t>
            </a:r>
          </a:p>
        </p:txBody>
      </p:sp>
      <p:sp>
        <p:nvSpPr>
          <p:cNvPr id="6" name="文本框 5">
            <a:extLst>
              <a:ext uri="{FF2B5EF4-FFF2-40B4-BE49-F238E27FC236}">
                <a16:creationId xmlns:a16="http://schemas.microsoft.com/office/drawing/2014/main" id="{2F3B9B10-01FC-F9B5-1C0D-0BCE38625A37}"/>
              </a:ext>
            </a:extLst>
          </p:cNvPr>
          <p:cNvSpPr txBox="1"/>
          <p:nvPr/>
        </p:nvSpPr>
        <p:spPr>
          <a:xfrm>
            <a:off x="4691481" y="2581892"/>
            <a:ext cx="5191074" cy="701731"/>
          </a:xfrm>
          <a:prstGeom prst="rect">
            <a:avLst/>
          </a:prstGeom>
          <a:noFill/>
        </p:spPr>
        <p:txBody>
          <a:bodyPr wrap="square">
            <a:spAutoFit/>
          </a:bodyPr>
          <a:lstStyle/>
          <a:p>
            <a:pPr>
              <a:lnSpc>
                <a:spcPct val="80000"/>
              </a:lnSpc>
            </a:pPr>
            <a:r>
              <a:rPr lang="zh-CN" altLang="en-US" b="1" dirty="0">
                <a:solidFill>
                  <a:srgbClr val="FF0000"/>
                </a:solidFill>
                <a:latin typeface="华光行书_CNKI" panose="02000500000000000000" pitchFamily="2" charset="-122"/>
                <a:ea typeface="华光行书_CNKI" panose="02000500000000000000" pitchFamily="2" charset="-122"/>
              </a:rPr>
              <a:t>Clock&amp; operator++();</a:t>
            </a:r>
            <a:r>
              <a:rPr lang="zh-CN" altLang="en-US" dirty="0">
                <a:solidFill>
                  <a:srgbClr val="166DBC"/>
                </a:solidFill>
                <a:latin typeface="Comic Sans MS" panose="030F0702030302020204" pitchFamily="66" charset="0"/>
              </a:rPr>
              <a:t>	</a:t>
            </a:r>
            <a:r>
              <a:rPr lang="zh-CN" altLang="en-US" dirty="0">
                <a:solidFill>
                  <a:srgbClr val="104E87"/>
                </a:solidFill>
                <a:latin typeface="华光行书_CNKI" panose="02000500000000000000" pitchFamily="2" charset="-122"/>
                <a:ea typeface="华光行书_CNKI" panose="02000500000000000000" pitchFamily="2" charset="-122"/>
              </a:rPr>
              <a:t>//前置</a:t>
            </a:r>
          </a:p>
          <a:p>
            <a:pPr>
              <a:lnSpc>
                <a:spcPct val="80000"/>
              </a:lnSpc>
            </a:pPr>
            <a:r>
              <a:rPr lang="zh-CN" altLang="en-US" b="1" dirty="0">
                <a:solidFill>
                  <a:srgbClr val="FF0000"/>
                </a:solidFill>
                <a:latin typeface="华光行书_CNKI" panose="02000500000000000000" pitchFamily="2" charset="-122"/>
                <a:ea typeface="华光行书_CNKI" panose="02000500000000000000" pitchFamily="2" charset="-122"/>
              </a:rPr>
              <a:t>Clock operator++(int);</a:t>
            </a:r>
            <a:r>
              <a:rPr lang="zh-CN" altLang="en-US" dirty="0">
                <a:solidFill>
                  <a:srgbClr val="104E87"/>
                </a:solidFill>
                <a:latin typeface="华光行书_CNKI" panose="02000500000000000000" pitchFamily="2" charset="-122"/>
                <a:ea typeface="华光行书_CNKI" panose="02000500000000000000" pitchFamily="2" charset="-122"/>
              </a:rPr>
              <a:t>	//后置</a:t>
            </a:r>
          </a:p>
        </p:txBody>
      </p:sp>
    </p:spTree>
    <p:extLst>
      <p:ext uri="{BB962C8B-B14F-4D97-AF65-F5344CB8AC3E}">
        <p14:creationId xmlns:p14="http://schemas.microsoft.com/office/powerpoint/2010/main" val="140290515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 name="直线连接符 6">
            <a:extLst>
              <a:ext uri="{FF2B5EF4-FFF2-40B4-BE49-F238E27FC236}">
                <a16:creationId xmlns:a16="http://schemas.microsoft.com/office/drawing/2014/main" id="{B14F42C0-3508-43EC-B402-C5D5AEE82C67}"/>
              </a:ext>
            </a:extLst>
          </p:cNvPr>
          <p:cNvCxnSpPr/>
          <p:nvPr/>
        </p:nvCxnSpPr>
        <p:spPr>
          <a:xfrm>
            <a:off x="0"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20" name="文本框 19">
            <a:extLst>
              <a:ext uri="{FF2B5EF4-FFF2-40B4-BE49-F238E27FC236}">
                <a16:creationId xmlns:a16="http://schemas.microsoft.com/office/drawing/2014/main" id="{3C372B09-5D4B-4A59-AF5E-9A0AF1EA52DA}"/>
              </a:ext>
            </a:extLst>
          </p:cNvPr>
          <p:cNvSpPr txBox="1"/>
          <p:nvPr/>
        </p:nvSpPr>
        <p:spPr>
          <a:xfrm>
            <a:off x="247719" y="224527"/>
            <a:ext cx="9869296"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自增自减运算符</a:t>
            </a:r>
            <a:r>
              <a:rPr lang="en-US" altLang="zh-CN" sz="3200" dirty="0">
                <a:solidFill>
                  <a:srgbClr val="FF0000"/>
                </a:solidFill>
              </a:rPr>
              <a:t>operator++</a:t>
            </a:r>
            <a:endParaRPr lang="zh-CN" altLang="en-US" dirty="0">
              <a:solidFill>
                <a:srgbClr val="FF0000"/>
              </a:solidFill>
              <a:sym typeface="+mn-lt"/>
            </a:endParaRPr>
          </a:p>
        </p:txBody>
      </p:sp>
      <p:pic>
        <p:nvPicPr>
          <p:cNvPr id="23" name="图片 22">
            <a:extLst>
              <a:ext uri="{FF2B5EF4-FFF2-40B4-BE49-F238E27FC236}">
                <a16:creationId xmlns:a16="http://schemas.microsoft.com/office/drawing/2014/main" id="{2CC04F1A-F1BD-43B1-99E3-7388C70DE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6092" y="943625"/>
            <a:ext cx="3299855" cy="316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4" name="图片 4">
            <a:extLst>
              <a:ext uri="{FF2B5EF4-FFF2-40B4-BE49-F238E27FC236}">
                <a16:creationId xmlns:a16="http://schemas.microsoft.com/office/drawing/2014/main" id="{D228EB27-6816-4B7B-9260-9D1295FA57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 y="937360"/>
            <a:ext cx="5233988" cy="2017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pic>
        <p:nvPicPr>
          <p:cNvPr id="25" name="图片 24">
            <a:extLst>
              <a:ext uri="{FF2B5EF4-FFF2-40B4-BE49-F238E27FC236}">
                <a16:creationId xmlns:a16="http://schemas.microsoft.com/office/drawing/2014/main" id="{7002ADFE-9AC5-4908-A261-93907F93C6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8955" y="971049"/>
            <a:ext cx="3382963" cy="14716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6" name="图片 25">
            <a:extLst>
              <a:ext uri="{FF2B5EF4-FFF2-40B4-BE49-F238E27FC236}">
                <a16:creationId xmlns:a16="http://schemas.microsoft.com/office/drawing/2014/main" id="{E44AA387-D0D6-4E69-861D-198E8E5082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256" y="3401861"/>
            <a:ext cx="5903913" cy="2239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7" name="图片 26">
            <a:extLst>
              <a:ext uri="{FF2B5EF4-FFF2-40B4-BE49-F238E27FC236}">
                <a16:creationId xmlns:a16="http://schemas.microsoft.com/office/drawing/2014/main" id="{0E84C62B-5EC7-4FDA-90B0-61C1E32C10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1439" y="5920640"/>
            <a:ext cx="7329488" cy="5032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 name="图片 27">
            <a:extLst>
              <a:ext uri="{FF2B5EF4-FFF2-40B4-BE49-F238E27FC236}">
                <a16:creationId xmlns:a16="http://schemas.microsoft.com/office/drawing/2014/main" id="{5BE8923D-C93A-4F14-94E6-F38AFEBF23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88300" y="4196320"/>
            <a:ext cx="4203700" cy="26616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47939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arn(inVertic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additive="base">
                                        <p:cTn id="28" dur="500" fill="hold"/>
                                        <p:tgtEl>
                                          <p:spTgt spid="28"/>
                                        </p:tgtEl>
                                        <p:attrNameLst>
                                          <p:attrName>ppt_x</p:attrName>
                                        </p:attrNameLst>
                                      </p:cBhvr>
                                      <p:tavLst>
                                        <p:tav tm="0">
                                          <p:val>
                                            <p:strVal val="#ppt_x"/>
                                          </p:val>
                                        </p:tav>
                                        <p:tav tm="100000">
                                          <p:val>
                                            <p:strVal val="#ppt_x"/>
                                          </p:val>
                                        </p:tav>
                                      </p:tavLst>
                                    </p:anim>
                                    <p:anim calcmode="lin" valueType="num">
                                      <p:cBhvr additive="base">
                                        <p:cTn id="2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40" name="文本框 39">
            <a:extLst>
              <a:ext uri="{FF2B5EF4-FFF2-40B4-BE49-F238E27FC236}">
                <a16:creationId xmlns:a16="http://schemas.microsoft.com/office/drawing/2014/main" id="{C407BA89-4D77-4106-8CD6-1BB415A7D45A}"/>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成员函数</a:t>
            </a:r>
          </a:p>
        </p:txBody>
      </p:sp>
      <p:sp>
        <p:nvSpPr>
          <p:cNvPr id="41" name="Rectangle 2">
            <a:extLst>
              <a:ext uri="{FF2B5EF4-FFF2-40B4-BE49-F238E27FC236}">
                <a16:creationId xmlns:a16="http://schemas.microsoft.com/office/drawing/2014/main" id="{4EAFD2C9-92F1-4146-9A92-DC454A5E57DF}"/>
              </a:ext>
            </a:extLst>
          </p:cNvPr>
          <p:cNvSpPr txBox="1">
            <a:spLocks noChangeArrowheads="1"/>
          </p:cNvSpPr>
          <p:nvPr/>
        </p:nvSpPr>
        <p:spPr bwMode="auto">
          <a:xfrm>
            <a:off x="41809" y="1627566"/>
            <a:ext cx="6082717"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85000"/>
              </a:lnSpc>
              <a:defRPr kumimoji="1">
                <a:solidFill>
                  <a:srgbClr val="104E87"/>
                </a:solidFill>
                <a:latin typeface="Comic Sans MS" panose="030F0702030302020204" pitchFamily="66" charset="0"/>
                <a:ea typeface="宋体" panose="02010600030101010101" pitchFamily="2" charset="-122"/>
              </a:defRPr>
            </a:lvl1pPr>
          </a:lstStyle>
          <a:p>
            <a:r>
              <a:rPr lang="en-US" altLang="zh-CN" dirty="0"/>
              <a:t>class INTEGER {</a:t>
            </a:r>
          </a:p>
          <a:p>
            <a:r>
              <a:rPr lang="en-US" altLang="zh-CN" dirty="0"/>
              <a:t>public:</a:t>
            </a:r>
          </a:p>
          <a:p>
            <a:r>
              <a:rPr lang="en-US" altLang="zh-CN" dirty="0"/>
              <a:t>  INTEGER(int </a:t>
            </a:r>
            <a:r>
              <a:rPr lang="en-US" altLang="zh-CN" dirty="0" err="1"/>
              <a:t>i</a:t>
            </a:r>
            <a:r>
              <a:rPr lang="en-US" altLang="zh-CN" dirty="0"/>
              <a:t>=0) {value=</a:t>
            </a:r>
            <a:r>
              <a:rPr lang="en-US" altLang="zh-CN" dirty="0" err="1"/>
              <a:t>i</a:t>
            </a:r>
            <a:r>
              <a:rPr lang="en-US" altLang="zh-CN" dirty="0"/>
              <a:t>;}</a:t>
            </a:r>
          </a:p>
          <a:p>
            <a:r>
              <a:rPr lang="en-US" altLang="en-US" dirty="0"/>
              <a:t>  void </a:t>
            </a:r>
            <a:r>
              <a:rPr lang="en-US" altLang="en-US" dirty="0" err="1"/>
              <a:t>print_int</a:t>
            </a:r>
            <a:r>
              <a:rPr lang="en-US" altLang="en-US" dirty="0"/>
              <a:t>() {</a:t>
            </a:r>
            <a:r>
              <a:rPr lang="en-US" altLang="en-US" dirty="0" err="1"/>
              <a:t>cout</a:t>
            </a:r>
            <a:r>
              <a:rPr lang="en-US" altLang="en-US" dirty="0"/>
              <a:t>&lt;&lt;value&lt;&lt;</a:t>
            </a:r>
            <a:r>
              <a:rPr lang="en-US" altLang="en-US" dirty="0" err="1"/>
              <a:t>endl</a:t>
            </a:r>
            <a:r>
              <a:rPr lang="en-US" altLang="en-US" dirty="0"/>
              <a:t>;}</a:t>
            </a:r>
          </a:p>
          <a:p>
            <a:r>
              <a:rPr lang="en-US" altLang="en-US" dirty="0"/>
              <a:t>  </a:t>
            </a:r>
            <a:r>
              <a:rPr lang="en-US" altLang="en-US" dirty="0">
                <a:solidFill>
                  <a:srgbClr val="FF0000"/>
                </a:solidFill>
              </a:rPr>
              <a:t>INTEGER operator + (INTEGER other);</a:t>
            </a:r>
          </a:p>
          <a:p>
            <a:r>
              <a:rPr lang="en-US" altLang="en-US" dirty="0"/>
              <a:t>private:</a:t>
            </a:r>
          </a:p>
          <a:p>
            <a:r>
              <a:rPr lang="en-US" altLang="en-US" dirty="0"/>
              <a:t>	int value;</a:t>
            </a:r>
          </a:p>
          <a:p>
            <a:r>
              <a:rPr lang="en-US" altLang="en-US" dirty="0"/>
              <a:t>};</a:t>
            </a:r>
            <a:r>
              <a:rPr lang="en-US" altLang="zh-CN" dirty="0"/>
              <a:t>	</a:t>
            </a:r>
          </a:p>
        </p:txBody>
      </p:sp>
      <p:sp>
        <p:nvSpPr>
          <p:cNvPr id="42" name="矩形 41">
            <a:extLst>
              <a:ext uri="{FF2B5EF4-FFF2-40B4-BE49-F238E27FC236}">
                <a16:creationId xmlns:a16="http://schemas.microsoft.com/office/drawing/2014/main" id="{145715D3-26D7-4A8A-983D-C4E6796E1F4D}"/>
              </a:ext>
            </a:extLst>
          </p:cNvPr>
          <p:cNvSpPr/>
          <p:nvPr/>
        </p:nvSpPr>
        <p:spPr>
          <a:xfrm>
            <a:off x="4888091" y="903997"/>
            <a:ext cx="7290626" cy="1661993"/>
          </a:xfrm>
          <a:prstGeom prst="rect">
            <a:avLst/>
          </a:prstGeom>
          <a:solidFill>
            <a:schemeClr val="accent3">
              <a:lumMod val="40000"/>
              <a:lumOff val="60000"/>
            </a:schemeClr>
          </a:solidFill>
          <a:ln>
            <a:noFill/>
          </a:ln>
        </p:spPr>
        <p:txBody>
          <a:bodyPr wrap="square">
            <a:spAutoFit/>
          </a:bodyPr>
          <a:lstStyle/>
          <a:p>
            <a:pPr>
              <a:lnSpc>
                <a:spcPct val="85000"/>
              </a:lnSpc>
            </a:pPr>
            <a:r>
              <a:rPr kumimoji="1" lang="en-US" altLang="en-US" dirty="0">
                <a:solidFill>
                  <a:srgbClr val="104E87"/>
                </a:solidFill>
                <a:latin typeface="Comic Sans MS" panose="030F0702030302020204" pitchFamily="66" charset="0"/>
                <a:ea typeface="宋体" panose="02010600030101010101" pitchFamily="2" charset="-122"/>
              </a:rPr>
              <a:t>INTEGER  </a:t>
            </a:r>
            <a:r>
              <a:rPr kumimoji="1" lang="en-US" altLang="zh-CN" dirty="0">
                <a:solidFill>
                  <a:srgbClr val="104E87"/>
                </a:solidFill>
                <a:latin typeface="Comic Sans MS" panose="030F0702030302020204" pitchFamily="66" charset="0"/>
                <a:ea typeface="宋体" panose="02010600030101010101" pitchFamily="2" charset="-122"/>
              </a:rPr>
              <a:t>INTEGER::</a:t>
            </a:r>
            <a:r>
              <a:rPr kumimoji="1" lang="en-US" altLang="en-US" dirty="0">
                <a:solidFill>
                  <a:srgbClr val="104E87"/>
                </a:solidFill>
                <a:latin typeface="Comic Sans MS" panose="030F0702030302020204" pitchFamily="66" charset="0"/>
                <a:ea typeface="宋体" panose="02010600030101010101" pitchFamily="2" charset="-122"/>
              </a:rPr>
              <a:t>operator+(INTEGER other)</a:t>
            </a:r>
          </a:p>
          <a:p>
            <a:pPr>
              <a:lnSpc>
                <a:spcPct val="85000"/>
              </a:lnSpc>
            </a:pPr>
            <a:r>
              <a:rPr kumimoji="1" lang="en-US" altLang="en-US" dirty="0">
                <a:solidFill>
                  <a:srgbClr val="104E87"/>
                </a:solidFill>
                <a:latin typeface="Comic Sans MS" panose="030F0702030302020204" pitchFamily="66" charset="0"/>
                <a:ea typeface="宋体" panose="02010600030101010101" pitchFamily="2" charset="-122"/>
              </a:rPr>
              <a:t>{	INTEGER temp;</a:t>
            </a:r>
          </a:p>
          <a:p>
            <a:pPr>
              <a:lnSpc>
                <a:spcPct val="85000"/>
              </a:lnSpc>
            </a:pPr>
            <a:r>
              <a:rPr kumimoji="1" lang="en-US" altLang="en-US" dirty="0">
                <a:solidFill>
                  <a:srgbClr val="104E87"/>
                </a:solidFill>
                <a:latin typeface="Comic Sans MS" panose="030F0702030302020204" pitchFamily="66" charset="0"/>
                <a:ea typeface="宋体" panose="02010600030101010101" pitchFamily="2" charset="-122"/>
              </a:rPr>
              <a:t>	</a:t>
            </a:r>
            <a:r>
              <a:rPr kumimoji="1" lang="en-US" altLang="en-US" dirty="0" err="1">
                <a:solidFill>
                  <a:srgbClr val="104E87"/>
                </a:solidFill>
                <a:latin typeface="Comic Sans MS" panose="030F0702030302020204" pitchFamily="66" charset="0"/>
                <a:ea typeface="宋体" panose="02010600030101010101" pitchFamily="2" charset="-122"/>
              </a:rPr>
              <a:t>temp.value</a:t>
            </a:r>
            <a:r>
              <a:rPr kumimoji="1" lang="en-US" altLang="en-US" dirty="0">
                <a:solidFill>
                  <a:srgbClr val="104E87"/>
                </a:solidFill>
                <a:latin typeface="Comic Sans MS" panose="030F0702030302020204" pitchFamily="66" charset="0"/>
                <a:ea typeface="宋体" panose="02010600030101010101" pitchFamily="2" charset="-122"/>
              </a:rPr>
              <a:t>=</a:t>
            </a:r>
            <a:r>
              <a:rPr kumimoji="1" lang="en-US" altLang="en-US" dirty="0" err="1">
                <a:solidFill>
                  <a:srgbClr val="104E87"/>
                </a:solidFill>
                <a:latin typeface="Comic Sans MS" panose="030F0702030302020204" pitchFamily="66" charset="0"/>
                <a:ea typeface="宋体" panose="02010600030101010101" pitchFamily="2" charset="-122"/>
              </a:rPr>
              <a:t>value+other.value</a:t>
            </a:r>
            <a:r>
              <a:rPr kumimoji="1" lang="en-US" altLang="en-US"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en-US" dirty="0">
                <a:solidFill>
                  <a:srgbClr val="104E87"/>
                </a:solidFill>
                <a:latin typeface="Comic Sans MS" panose="030F0702030302020204" pitchFamily="66" charset="0"/>
                <a:ea typeface="宋体" panose="02010600030101010101" pitchFamily="2" charset="-122"/>
              </a:rPr>
              <a:t>	return temp;</a:t>
            </a:r>
          </a:p>
          <a:p>
            <a:pPr>
              <a:lnSpc>
                <a:spcPct val="85000"/>
              </a:lnSpc>
            </a:pPr>
            <a:r>
              <a:rPr kumimoji="1" lang="en-US" altLang="en-US" dirty="0">
                <a:solidFill>
                  <a:srgbClr val="104E87"/>
                </a:solidFill>
                <a:latin typeface="Comic Sans MS" panose="030F0702030302020204" pitchFamily="66" charset="0"/>
                <a:ea typeface="宋体" panose="02010600030101010101" pitchFamily="2" charset="-122"/>
              </a:rPr>
              <a:t>}</a:t>
            </a:r>
          </a:p>
        </p:txBody>
      </p:sp>
      <p:sp>
        <p:nvSpPr>
          <p:cNvPr id="43" name="Rectangle 4">
            <a:extLst>
              <a:ext uri="{FF2B5EF4-FFF2-40B4-BE49-F238E27FC236}">
                <a16:creationId xmlns:a16="http://schemas.microsoft.com/office/drawing/2014/main" id="{6E10F917-6C7A-4821-AB03-16D34CD2D43E}"/>
              </a:ext>
            </a:extLst>
          </p:cNvPr>
          <p:cNvSpPr>
            <a:spLocks noChangeArrowheads="1"/>
          </p:cNvSpPr>
          <p:nvPr/>
        </p:nvSpPr>
        <p:spPr bwMode="auto">
          <a:xfrm>
            <a:off x="9122115" y="2035818"/>
            <a:ext cx="3069885" cy="2917722"/>
          </a:xfrm>
          <a:prstGeom prst="rect">
            <a:avLst/>
          </a:prstGeom>
          <a:solidFill>
            <a:srgbClr val="FFC000"/>
          </a:solidFill>
          <a:ln>
            <a:noFill/>
          </a:ln>
        </p:spPr>
        <p:txBody>
          <a:bodyPr wrap="square">
            <a:spAutoFit/>
          </a:bodyPr>
          <a:lstStyle>
            <a:lvl1pPr marL="469900" indent="-469900"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nSpc>
                <a:spcPct val="85000"/>
              </a:lnSpc>
            </a:pPr>
            <a:r>
              <a:rPr kumimoji="1" lang="fr-FR" altLang="en-US" b="0" dirty="0">
                <a:solidFill>
                  <a:srgbClr val="104E87"/>
                </a:solidFill>
                <a:latin typeface="Comic Sans MS" panose="030F0702030302020204" pitchFamily="66" charset="0"/>
              </a:rPr>
              <a:t>int main()</a:t>
            </a:r>
          </a:p>
          <a:p>
            <a:pPr>
              <a:lnSpc>
                <a:spcPct val="85000"/>
              </a:lnSpc>
            </a:pPr>
            <a:r>
              <a:rPr kumimoji="1" lang="fr-FR" altLang="en-US" b="0" dirty="0">
                <a:solidFill>
                  <a:srgbClr val="104E87"/>
                </a:solidFill>
                <a:latin typeface="Comic Sans MS" panose="030F0702030302020204" pitchFamily="66" charset="0"/>
              </a:rPr>
              <a:t>{	INTEGER x(10);</a:t>
            </a:r>
          </a:p>
          <a:p>
            <a:pPr>
              <a:lnSpc>
                <a:spcPct val="85000"/>
              </a:lnSpc>
            </a:pPr>
            <a:r>
              <a:rPr kumimoji="1" lang="fr-FR" altLang="en-US" b="0" dirty="0">
                <a:solidFill>
                  <a:srgbClr val="104E87"/>
                </a:solidFill>
                <a:latin typeface="Comic Sans MS" panose="030F0702030302020204" pitchFamily="66" charset="0"/>
              </a:rPr>
              <a:t>	INTEGER y=x;</a:t>
            </a:r>
            <a:r>
              <a:rPr kumimoji="1" lang="fr-FR" altLang="zh-CN" b="0" dirty="0">
                <a:solidFill>
                  <a:srgbClr val="104E87"/>
                </a:solidFill>
                <a:latin typeface="Comic Sans MS" panose="030F0702030302020204" pitchFamily="66" charset="0"/>
              </a:rPr>
              <a:t> x.print_int(); </a:t>
            </a:r>
            <a:endParaRPr kumimoji="1" lang="fr-FR" altLang="en-US" b="0" dirty="0">
              <a:solidFill>
                <a:srgbClr val="104E87"/>
              </a:solidFill>
              <a:latin typeface="Comic Sans MS" panose="030F0702030302020204" pitchFamily="66" charset="0"/>
            </a:endParaRPr>
          </a:p>
          <a:p>
            <a:pPr>
              <a:lnSpc>
                <a:spcPct val="85000"/>
              </a:lnSpc>
            </a:pPr>
            <a:r>
              <a:rPr kumimoji="1" lang="fr-FR" altLang="en-US" b="0" dirty="0">
                <a:solidFill>
                  <a:srgbClr val="104E87"/>
                </a:solidFill>
                <a:latin typeface="Comic Sans MS" panose="030F0702030302020204" pitchFamily="66" charset="0"/>
              </a:rPr>
              <a:t>	x=x+2;</a:t>
            </a:r>
          </a:p>
          <a:p>
            <a:pPr>
              <a:lnSpc>
                <a:spcPct val="85000"/>
              </a:lnSpc>
            </a:pPr>
            <a:r>
              <a:rPr kumimoji="1" lang="fr-FR" altLang="en-US" b="0" dirty="0">
                <a:solidFill>
                  <a:srgbClr val="104E87"/>
                </a:solidFill>
                <a:latin typeface="Comic Sans MS" panose="030F0702030302020204" pitchFamily="66" charset="0"/>
              </a:rPr>
              <a:t>	x=2+x;</a:t>
            </a:r>
          </a:p>
          <a:p>
            <a:pPr>
              <a:lnSpc>
                <a:spcPct val="85000"/>
              </a:lnSpc>
            </a:pPr>
            <a:r>
              <a:rPr kumimoji="1" lang="fr-FR" altLang="zh-CN" b="0" dirty="0">
                <a:solidFill>
                  <a:srgbClr val="104E87"/>
                </a:solidFill>
                <a:latin typeface="Comic Sans MS" panose="030F0702030302020204" pitchFamily="66" charset="0"/>
              </a:rPr>
              <a:t>	</a:t>
            </a:r>
            <a:r>
              <a:rPr kumimoji="1" lang="fr-FR" altLang="en-US" b="0" dirty="0">
                <a:solidFill>
                  <a:srgbClr val="104E87"/>
                </a:solidFill>
                <a:latin typeface="Comic Sans MS" panose="030F0702030302020204" pitchFamily="66" charset="0"/>
              </a:rPr>
              <a:t>x.print_int();</a:t>
            </a:r>
          </a:p>
          <a:p>
            <a:pPr>
              <a:lnSpc>
                <a:spcPct val="85000"/>
              </a:lnSpc>
            </a:pPr>
            <a:r>
              <a:rPr kumimoji="1" lang="fr-FR" altLang="en-US" b="0" dirty="0">
                <a:solidFill>
                  <a:srgbClr val="104E87"/>
                </a:solidFill>
                <a:latin typeface="Comic Sans MS" panose="030F0702030302020204" pitchFamily="66" charset="0"/>
              </a:rPr>
              <a:t>	return 0;</a:t>
            </a:r>
          </a:p>
          <a:p>
            <a:pPr>
              <a:lnSpc>
                <a:spcPct val="85000"/>
              </a:lnSpc>
            </a:pPr>
            <a:r>
              <a:rPr kumimoji="1" lang="fr-FR" altLang="en-US" b="0" dirty="0">
                <a:solidFill>
                  <a:srgbClr val="104E87"/>
                </a:solidFill>
                <a:latin typeface="Comic Sans MS" panose="030F0702030302020204" pitchFamily="66" charset="0"/>
              </a:rPr>
              <a:t>}</a:t>
            </a:r>
            <a:endParaRPr kumimoji="1" lang="en-US" altLang="zh-CN" b="0" dirty="0">
              <a:solidFill>
                <a:srgbClr val="104E87"/>
              </a:solidFill>
              <a:latin typeface="Comic Sans MS" panose="030F0702030302020204" pitchFamily="66" charset="0"/>
            </a:endParaRPr>
          </a:p>
        </p:txBody>
      </p:sp>
      <p:sp>
        <p:nvSpPr>
          <p:cNvPr id="44" name="Rectangle 2">
            <a:extLst>
              <a:ext uri="{FF2B5EF4-FFF2-40B4-BE49-F238E27FC236}">
                <a16:creationId xmlns:a16="http://schemas.microsoft.com/office/drawing/2014/main" id="{0A4D4970-25A8-4BB8-8445-527ED3E7B468}"/>
              </a:ext>
            </a:extLst>
          </p:cNvPr>
          <p:cNvSpPr txBox="1">
            <a:spLocks noChangeArrowheads="1"/>
          </p:cNvSpPr>
          <p:nvPr/>
        </p:nvSpPr>
        <p:spPr bwMode="auto">
          <a:xfrm>
            <a:off x="1230590" y="4062135"/>
            <a:ext cx="5122130" cy="1047979"/>
          </a:xfrm>
          <a:prstGeom prst="rect">
            <a:avLst/>
          </a:prstGeom>
          <a:solidFill>
            <a:schemeClr val="accent4">
              <a:lumMod val="20000"/>
              <a:lumOff val="80000"/>
            </a:schemeClr>
          </a:solidFill>
          <a:ln>
            <a:noFill/>
          </a:ln>
        </p:spPr>
        <p:txBody>
          <a:bodyPr wrap="square">
            <a:spAutoFit/>
          </a:bodyPr>
          <a:lstStyle>
            <a:defPPr>
              <a:defRPr lang="en-US"/>
            </a:defPPr>
            <a:lvl1pPr>
              <a:lnSpc>
                <a:spcPct val="85000"/>
              </a:lnSpc>
              <a:defRPr kumimoji="1">
                <a:solidFill>
                  <a:srgbClr val="104E87"/>
                </a:solidFill>
                <a:latin typeface="Comic Sans MS" panose="030F0702030302020204" pitchFamily="66" charset="0"/>
                <a:ea typeface="宋体" panose="02010600030101010101" pitchFamily="2" charset="-122"/>
              </a:defRPr>
            </a:lvl1pPr>
          </a:lstStyle>
          <a:p>
            <a:r>
              <a:rPr lang="en-US" altLang="zh-CN" dirty="0">
                <a:ea typeface="华光行书_CNKI" panose="02000500000000000000" pitchFamily="2" charset="-122"/>
              </a:rPr>
              <a:t>x+2; </a:t>
            </a:r>
            <a:r>
              <a:rPr lang="zh-CN" altLang="en-US" dirty="0">
                <a:ea typeface="华光行书_CNKI" panose="02000500000000000000" pitchFamily="2" charset="-122"/>
              </a:rPr>
              <a:t>合法调</a:t>
            </a:r>
            <a:r>
              <a:rPr lang="zh-CN" altLang="en-US" dirty="0">
                <a:ea typeface="华光行书_CNKI" panose="02000500000000000000" pitchFamily="2" charset="-122"/>
                <a:sym typeface="Wingdings" pitchFamily="2" charset="2"/>
              </a:rPr>
              <a:t></a:t>
            </a:r>
            <a:r>
              <a:rPr lang="en-US" altLang="zh-CN" dirty="0" err="1">
                <a:ea typeface="华光行书_CNKI" panose="02000500000000000000" pitchFamily="2" charset="-122"/>
                <a:sym typeface="Wingdings" pitchFamily="2" charset="2"/>
              </a:rPr>
              <a:t>x.operator</a:t>
            </a:r>
            <a:r>
              <a:rPr lang="en-US" altLang="zh-CN" dirty="0">
                <a:ea typeface="华光行书_CNKI" panose="02000500000000000000" pitchFamily="2" charset="-122"/>
                <a:sym typeface="Wingdings" pitchFamily="2" charset="2"/>
              </a:rPr>
              <a:t>+(2)</a:t>
            </a:r>
          </a:p>
          <a:p>
            <a:r>
              <a:rPr lang="en-US" altLang="zh-CN" dirty="0">
                <a:ea typeface="华光行书_CNKI" panose="02000500000000000000" pitchFamily="2" charset="-122"/>
                <a:sym typeface="Wingdings" pitchFamily="2" charset="2"/>
              </a:rPr>
              <a:t>2+x;</a:t>
            </a:r>
            <a:r>
              <a:rPr lang="zh-CN" altLang="en-US" dirty="0">
                <a:ea typeface="华光行书_CNKI" panose="02000500000000000000" pitchFamily="2" charset="-122"/>
                <a:sym typeface="Wingdings" pitchFamily="2" charset="2"/>
              </a:rPr>
              <a:t>不合法，因为左操作数不是该类的对象</a:t>
            </a:r>
            <a:r>
              <a:rPr lang="en-US" altLang="zh-CN" dirty="0">
                <a:ea typeface="华光行书_CNKI" panose="02000500000000000000" pitchFamily="2" charset="-122"/>
                <a:sym typeface="Wingdings" pitchFamily="2" charset="2"/>
              </a:rPr>
              <a:t>,</a:t>
            </a:r>
            <a:r>
              <a:rPr lang="zh-CN" altLang="en-US" dirty="0">
                <a:ea typeface="华光行书_CNKI" panose="02000500000000000000" pitchFamily="2" charset="-122"/>
                <a:sym typeface="Wingdings" pitchFamily="2" charset="2"/>
              </a:rPr>
              <a:t>无法调用该类重载的运算符</a:t>
            </a:r>
            <a:endParaRPr lang="zh-CN" altLang="en-US" dirty="0">
              <a:ea typeface="华光行书_CNKI" panose="02000500000000000000" pitchFamily="2" charset="-122"/>
            </a:endParaRPr>
          </a:p>
        </p:txBody>
      </p:sp>
      <p:pic>
        <p:nvPicPr>
          <p:cNvPr id="47" name="图片 46">
            <a:extLst>
              <a:ext uri="{FF2B5EF4-FFF2-40B4-BE49-F238E27FC236}">
                <a16:creationId xmlns:a16="http://schemas.microsoft.com/office/drawing/2014/main" id="{B2CF9085-5289-4744-901A-F1FE8F46A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7057" y="3592352"/>
            <a:ext cx="473945" cy="433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36F79DC7-3F31-E5BD-CD3A-07FBFA0B5F3B}"/>
              </a:ext>
            </a:extLst>
          </p:cNvPr>
          <p:cNvSpPr txBox="1">
            <a:spLocks noChangeArrowheads="1"/>
          </p:cNvSpPr>
          <p:nvPr/>
        </p:nvSpPr>
        <p:spPr bwMode="auto">
          <a:xfrm>
            <a:off x="13283" y="944759"/>
            <a:ext cx="4244716" cy="461665"/>
          </a:xfrm>
          <a:prstGeom prst="rect">
            <a:avLst/>
          </a:prstGeom>
          <a:noFill/>
          <a:ln>
            <a:noFill/>
          </a:ln>
        </p:spPr>
        <p:txBody>
          <a:bodyPr wrap="square">
            <a:spAutoFit/>
          </a:bodyPr>
          <a:lstStyle>
            <a:defPPr>
              <a:defRPr lang="en-US"/>
            </a:defPPr>
            <a:lvl1pPr marL="342900" indent="-342900" defTabSz="622300">
              <a:spcBef>
                <a:spcPct val="50000"/>
              </a:spcBef>
              <a:buClrTx/>
              <a:buSzTx/>
              <a:buFont typeface="Wingdings" pitchFamily="2" charset="2"/>
              <a:buBlip>
                <a:blip r:embed="rId4"/>
              </a:buBlip>
              <a:defRPr>
                <a:solidFill>
                  <a:srgbClr val="134F85"/>
                </a:solidFill>
                <a:latin typeface="华光行书_CNKI" panose="02000500000000000000" pitchFamily="2" charset="-122"/>
                <a:ea typeface="华光行书_CNKI" panose="02000500000000000000" pitchFamily="2"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a:spcBef>
                <a:spcPts val="600"/>
              </a:spcBef>
            </a:pPr>
            <a:r>
              <a:rPr lang="zh-CN" altLang="en-US" b="1" dirty="0">
                <a:solidFill>
                  <a:srgbClr val="FF0000"/>
                </a:solidFill>
              </a:rPr>
              <a:t>一个不太合理的现象</a:t>
            </a:r>
          </a:p>
        </p:txBody>
      </p:sp>
      <p:sp>
        <p:nvSpPr>
          <p:cNvPr id="3" name="矩形 2">
            <a:extLst>
              <a:ext uri="{FF2B5EF4-FFF2-40B4-BE49-F238E27FC236}">
                <a16:creationId xmlns:a16="http://schemas.microsoft.com/office/drawing/2014/main" id="{B812C06F-AB42-ACBD-C267-2EDAADD19EFC}"/>
              </a:ext>
            </a:extLst>
          </p:cNvPr>
          <p:cNvSpPr/>
          <p:nvPr/>
        </p:nvSpPr>
        <p:spPr>
          <a:xfrm>
            <a:off x="349250" y="5130236"/>
            <a:ext cx="11334750" cy="954107"/>
          </a:xfrm>
          <a:prstGeom prst="rect">
            <a:avLst/>
          </a:prstGeom>
        </p:spPr>
        <p:txBody>
          <a:bodyPr wrap="square">
            <a:spAutoFit/>
          </a:bodyPr>
          <a:lstStyle/>
          <a:p>
            <a:pPr eaLnBrk="1" hangingPunct="1">
              <a:buFont typeface="Wingdings" pitchFamily="2" charset="2"/>
              <a:buNone/>
              <a:defRPr/>
            </a:pPr>
            <a:r>
              <a:rPr lang="zh-CN" altLang="en-US" sz="2800" b="1" spc="-100" dirty="0">
                <a:solidFill>
                  <a:srgbClr val="FF0000"/>
                </a:solidFill>
                <a:latin typeface="华光行书_CNKI" panose="02000500000000000000" pitchFamily="2" charset="-122"/>
                <a:ea typeface="华光行书_CNKI" panose="02000500000000000000" pitchFamily="2" charset="-122"/>
              </a:rPr>
              <a:t>类成员函数的运算符重载</a:t>
            </a:r>
            <a:r>
              <a:rPr lang="en-US" altLang="zh-CN" sz="2800" b="1" spc="-100" dirty="0">
                <a:solidFill>
                  <a:srgbClr val="FF0000"/>
                </a:solidFill>
                <a:latin typeface="华光行书_CNKI" panose="02000500000000000000" pitchFamily="2" charset="-122"/>
                <a:ea typeface="华光行书_CNKI" panose="02000500000000000000" pitchFamily="2" charset="-122"/>
              </a:rPr>
              <a:t>,</a:t>
            </a:r>
            <a:r>
              <a:rPr lang="zh-CN" altLang="en-US" sz="2800" b="1" spc="-100" dirty="0">
                <a:solidFill>
                  <a:srgbClr val="FF0000"/>
                </a:solidFill>
                <a:latin typeface="华光行书_CNKI" panose="02000500000000000000" pitchFamily="2" charset="-122"/>
                <a:ea typeface="华光行书_CNKI" panose="02000500000000000000" pitchFamily="2" charset="-122"/>
              </a:rPr>
              <a:t>使用时二元运算符的左操作数必须为该类对象</a:t>
            </a:r>
            <a:r>
              <a:rPr lang="en-US" altLang="zh-CN" sz="2800" b="1" spc="-100" dirty="0">
                <a:solidFill>
                  <a:srgbClr val="FF0000"/>
                </a:solidFill>
                <a:latin typeface="华光行书_CNKI" panose="02000500000000000000" pitchFamily="2" charset="-122"/>
                <a:ea typeface="华光行书_CNKI" panose="02000500000000000000" pitchFamily="2" charset="-122"/>
              </a:rPr>
              <a:t>,</a:t>
            </a:r>
            <a:r>
              <a:rPr lang="zh-CN" altLang="en-US" sz="2800" b="1" spc="-100" dirty="0">
                <a:solidFill>
                  <a:srgbClr val="FF0000"/>
                </a:solidFill>
                <a:latin typeface="华光行书_CNKI" panose="02000500000000000000" pitchFamily="2" charset="-122"/>
                <a:ea typeface="华光行书_CNKI" panose="02000500000000000000" pitchFamily="2" charset="-122"/>
              </a:rPr>
              <a:t>否则出错。</a:t>
            </a:r>
          </a:p>
        </p:txBody>
      </p:sp>
    </p:spTree>
    <p:extLst>
      <p:ext uri="{BB962C8B-B14F-4D97-AF65-F5344CB8AC3E}">
        <p14:creationId xmlns:p14="http://schemas.microsoft.com/office/powerpoint/2010/main" val="168653154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arn(inVertical)">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fill="hold"/>
                                        <p:tgtEl>
                                          <p:spTgt spid="43"/>
                                        </p:tgtEl>
                                        <p:attrNameLst>
                                          <p:attrName>ppt_x</p:attrName>
                                        </p:attrNameLst>
                                      </p:cBhvr>
                                      <p:tavLst>
                                        <p:tav tm="0">
                                          <p:val>
                                            <p:strVal val="#ppt_x"/>
                                          </p:val>
                                        </p:tav>
                                        <p:tav tm="100000">
                                          <p:val>
                                            <p:strVal val="#ppt_x"/>
                                          </p:val>
                                        </p:tav>
                                      </p:tavLst>
                                    </p:anim>
                                    <p:anim calcmode="lin" valueType="num">
                                      <p:cBhvr additive="base">
                                        <p:cTn id="13"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 calcmode="lin" valueType="num">
                                      <p:cBhvr>
                                        <p:cTn id="18" dur="500" fill="hold"/>
                                        <p:tgtEl>
                                          <p:spTgt spid="47"/>
                                        </p:tgtEl>
                                        <p:attrNameLst>
                                          <p:attrName>ppt_w</p:attrName>
                                        </p:attrNameLst>
                                      </p:cBhvr>
                                      <p:tavLst>
                                        <p:tav tm="0">
                                          <p:val>
                                            <p:fltVal val="0"/>
                                          </p:val>
                                        </p:tav>
                                        <p:tav tm="100000">
                                          <p:val>
                                            <p:strVal val="#ppt_w"/>
                                          </p:val>
                                        </p:tav>
                                      </p:tavLst>
                                    </p:anim>
                                    <p:anim calcmode="lin" valueType="num">
                                      <p:cBhvr>
                                        <p:cTn id="19" dur="500" fill="hold"/>
                                        <p:tgtEl>
                                          <p:spTgt spid="47"/>
                                        </p:tgtEl>
                                        <p:attrNameLst>
                                          <p:attrName>ppt_h</p:attrName>
                                        </p:attrNameLst>
                                      </p:cBhvr>
                                      <p:tavLst>
                                        <p:tav tm="0">
                                          <p:val>
                                            <p:fltVal val="0"/>
                                          </p:val>
                                        </p:tav>
                                        <p:tav tm="100000">
                                          <p:val>
                                            <p:strVal val="#ppt_h"/>
                                          </p:val>
                                        </p:tav>
                                      </p:tavLst>
                                    </p:anim>
                                    <p:animEffect transition="in" filter="fade">
                                      <p:cBhvr>
                                        <p:cTn id="20" dur="500"/>
                                        <p:tgtEl>
                                          <p:spTgt spid="4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4">
                                            <p:txEl>
                                              <p:pRg st="0" end="0"/>
                                            </p:txEl>
                                          </p:spTgt>
                                        </p:tgtEl>
                                        <p:attrNameLst>
                                          <p:attrName>style.visibility</p:attrName>
                                        </p:attrNameLst>
                                      </p:cBhvr>
                                      <p:to>
                                        <p:strVal val="visible"/>
                                      </p:to>
                                    </p:set>
                                    <p:anim calcmode="lin" valueType="num">
                                      <p:cBhvr additive="base">
                                        <p:cTn id="25" dur="5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D4FDE-57BD-90D9-5FA3-0DB1EB40B9B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4FCBD3C-AC13-C0D2-B935-0E4BA22625CF}"/>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AFCEB9C2-7A7A-0863-FCD0-E9AC6E793B17}"/>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40" name="文本框 39">
            <a:extLst>
              <a:ext uri="{FF2B5EF4-FFF2-40B4-BE49-F238E27FC236}">
                <a16:creationId xmlns:a16="http://schemas.microsoft.com/office/drawing/2014/main" id="{F3B1D412-59A4-8E90-3048-8260F869C845}"/>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成员函数</a:t>
            </a:r>
          </a:p>
        </p:txBody>
      </p:sp>
      <p:sp>
        <p:nvSpPr>
          <p:cNvPr id="43" name="Rectangle 4">
            <a:extLst>
              <a:ext uri="{FF2B5EF4-FFF2-40B4-BE49-F238E27FC236}">
                <a16:creationId xmlns:a16="http://schemas.microsoft.com/office/drawing/2014/main" id="{35C23D0B-AB72-67AD-013E-93E9E142FF4B}"/>
              </a:ext>
            </a:extLst>
          </p:cNvPr>
          <p:cNvSpPr>
            <a:spLocks noChangeArrowheads="1"/>
          </p:cNvSpPr>
          <p:nvPr/>
        </p:nvSpPr>
        <p:spPr bwMode="auto">
          <a:xfrm>
            <a:off x="359115" y="1107876"/>
            <a:ext cx="3069885" cy="291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69900" indent="-469900"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nSpc>
                <a:spcPct val="85000"/>
              </a:lnSpc>
            </a:pPr>
            <a:r>
              <a:rPr kumimoji="1" lang="fr-FR" altLang="en-US" b="0" dirty="0">
                <a:solidFill>
                  <a:srgbClr val="104E87"/>
                </a:solidFill>
                <a:latin typeface="Comic Sans MS" panose="030F0702030302020204" pitchFamily="66" charset="0"/>
              </a:rPr>
              <a:t>int main()</a:t>
            </a:r>
          </a:p>
          <a:p>
            <a:pPr>
              <a:lnSpc>
                <a:spcPct val="85000"/>
              </a:lnSpc>
            </a:pPr>
            <a:r>
              <a:rPr kumimoji="1" lang="fr-FR" altLang="en-US" b="0" dirty="0">
                <a:solidFill>
                  <a:srgbClr val="104E87"/>
                </a:solidFill>
                <a:latin typeface="Comic Sans MS" panose="030F0702030302020204" pitchFamily="66" charset="0"/>
              </a:rPr>
              <a:t>{	INTEGER x(10);</a:t>
            </a:r>
          </a:p>
          <a:p>
            <a:pPr>
              <a:lnSpc>
                <a:spcPct val="85000"/>
              </a:lnSpc>
            </a:pPr>
            <a:r>
              <a:rPr kumimoji="1" lang="fr-FR" altLang="en-US" b="0" dirty="0">
                <a:solidFill>
                  <a:srgbClr val="104E87"/>
                </a:solidFill>
                <a:latin typeface="Comic Sans MS" panose="030F0702030302020204" pitchFamily="66" charset="0"/>
              </a:rPr>
              <a:t>	INTEGER y=x;</a:t>
            </a:r>
            <a:r>
              <a:rPr kumimoji="1" lang="fr-FR" altLang="zh-CN" b="0" dirty="0">
                <a:solidFill>
                  <a:srgbClr val="104E87"/>
                </a:solidFill>
                <a:latin typeface="Comic Sans MS" panose="030F0702030302020204" pitchFamily="66" charset="0"/>
              </a:rPr>
              <a:t> x.print_int(); </a:t>
            </a:r>
            <a:endParaRPr kumimoji="1" lang="fr-FR" altLang="en-US" b="0" dirty="0">
              <a:solidFill>
                <a:srgbClr val="104E87"/>
              </a:solidFill>
              <a:latin typeface="Comic Sans MS" panose="030F0702030302020204" pitchFamily="66" charset="0"/>
            </a:endParaRPr>
          </a:p>
          <a:p>
            <a:pPr>
              <a:lnSpc>
                <a:spcPct val="85000"/>
              </a:lnSpc>
            </a:pPr>
            <a:r>
              <a:rPr kumimoji="1" lang="fr-FR" altLang="en-US" b="0" dirty="0">
                <a:solidFill>
                  <a:srgbClr val="104E87"/>
                </a:solidFill>
                <a:latin typeface="Comic Sans MS" panose="030F0702030302020204" pitchFamily="66" charset="0"/>
              </a:rPr>
              <a:t>	x=x+2;</a:t>
            </a:r>
          </a:p>
          <a:p>
            <a:pPr>
              <a:lnSpc>
                <a:spcPct val="85000"/>
              </a:lnSpc>
            </a:pPr>
            <a:r>
              <a:rPr kumimoji="1" lang="fr-FR" altLang="en-US" b="0" dirty="0">
                <a:solidFill>
                  <a:srgbClr val="104E87"/>
                </a:solidFill>
                <a:latin typeface="Comic Sans MS" panose="030F0702030302020204" pitchFamily="66" charset="0"/>
              </a:rPr>
              <a:t>	x=2+x;</a:t>
            </a:r>
          </a:p>
          <a:p>
            <a:pPr>
              <a:lnSpc>
                <a:spcPct val="85000"/>
              </a:lnSpc>
            </a:pPr>
            <a:r>
              <a:rPr kumimoji="1" lang="fr-FR" altLang="zh-CN" b="0" dirty="0">
                <a:solidFill>
                  <a:srgbClr val="104E87"/>
                </a:solidFill>
                <a:latin typeface="Comic Sans MS" panose="030F0702030302020204" pitchFamily="66" charset="0"/>
              </a:rPr>
              <a:t>	</a:t>
            </a:r>
            <a:r>
              <a:rPr kumimoji="1" lang="fr-FR" altLang="en-US" b="0" dirty="0">
                <a:solidFill>
                  <a:srgbClr val="104E87"/>
                </a:solidFill>
                <a:latin typeface="Comic Sans MS" panose="030F0702030302020204" pitchFamily="66" charset="0"/>
              </a:rPr>
              <a:t>x.print_int();</a:t>
            </a:r>
          </a:p>
          <a:p>
            <a:pPr>
              <a:lnSpc>
                <a:spcPct val="85000"/>
              </a:lnSpc>
            </a:pPr>
            <a:r>
              <a:rPr kumimoji="1" lang="fr-FR" altLang="en-US" b="0" dirty="0">
                <a:solidFill>
                  <a:srgbClr val="104E87"/>
                </a:solidFill>
                <a:latin typeface="Comic Sans MS" panose="030F0702030302020204" pitchFamily="66" charset="0"/>
              </a:rPr>
              <a:t>	return 0;</a:t>
            </a:r>
          </a:p>
          <a:p>
            <a:pPr>
              <a:lnSpc>
                <a:spcPct val="85000"/>
              </a:lnSpc>
            </a:pPr>
            <a:r>
              <a:rPr kumimoji="1" lang="fr-FR" altLang="en-US" b="0" dirty="0">
                <a:solidFill>
                  <a:srgbClr val="104E87"/>
                </a:solidFill>
                <a:latin typeface="Comic Sans MS" panose="030F0702030302020204" pitchFamily="66" charset="0"/>
              </a:rPr>
              <a:t>}</a:t>
            </a:r>
            <a:endParaRPr kumimoji="1" lang="en-US" altLang="zh-CN" b="0" dirty="0">
              <a:solidFill>
                <a:srgbClr val="104E87"/>
              </a:solidFill>
              <a:latin typeface="Comic Sans MS" panose="030F0702030302020204" pitchFamily="66" charset="0"/>
            </a:endParaRPr>
          </a:p>
        </p:txBody>
      </p:sp>
      <p:sp>
        <p:nvSpPr>
          <p:cNvPr id="46" name="矩形 45">
            <a:extLst>
              <a:ext uri="{FF2B5EF4-FFF2-40B4-BE49-F238E27FC236}">
                <a16:creationId xmlns:a16="http://schemas.microsoft.com/office/drawing/2014/main" id="{886D9B87-5054-AF3E-8DFD-61BF3ECDA57F}"/>
              </a:ext>
            </a:extLst>
          </p:cNvPr>
          <p:cNvSpPr/>
          <p:nvPr/>
        </p:nvSpPr>
        <p:spPr>
          <a:xfrm>
            <a:off x="4939270" y="938054"/>
            <a:ext cx="4970584" cy="1200329"/>
          </a:xfrm>
          <a:prstGeom prst="rect">
            <a:avLst/>
          </a:prstGeom>
        </p:spPr>
        <p:txBody>
          <a:bodyPr wrap="square">
            <a:spAutoFit/>
          </a:bodyPr>
          <a:lstStyle/>
          <a:p>
            <a:pPr eaLnBrk="1" hangingPunct="1">
              <a:buFont typeface="Wingdings" pitchFamily="2" charset="2"/>
              <a:buNone/>
              <a:defRPr/>
            </a:pPr>
            <a:r>
              <a:rPr lang="zh-CN" altLang="en-US" b="1" dirty="0">
                <a:solidFill>
                  <a:srgbClr val="FF0000"/>
                </a:solidFill>
                <a:latin typeface="华光行书_CNKI" panose="02000500000000000000" pitchFamily="2" charset="-122"/>
                <a:ea typeface="华光行书_CNKI" panose="02000500000000000000" pitchFamily="2" charset="-122"/>
              </a:rPr>
              <a:t>解决方案</a:t>
            </a:r>
            <a:r>
              <a:rPr lang="en-US" altLang="zh-CN" b="1" dirty="0">
                <a:solidFill>
                  <a:srgbClr val="FF0000"/>
                </a:solidFill>
                <a:latin typeface="华光行书_CNKI" panose="02000500000000000000" pitchFamily="2" charset="-122"/>
                <a:ea typeface="华光行书_CNKI" panose="02000500000000000000" pitchFamily="2" charset="-122"/>
              </a:rPr>
              <a:t>:</a:t>
            </a:r>
          </a:p>
          <a:p>
            <a:pPr eaLnBrk="1" hangingPunct="1">
              <a:buClr>
                <a:srgbClr val="FF0000"/>
              </a:buClr>
              <a:buSzPct val="70000"/>
              <a:buFont typeface="Wingdings" pitchFamily="2" charset="2"/>
              <a:buChar char="n"/>
              <a:defRPr/>
            </a:pPr>
            <a:r>
              <a:rPr lang="zh-CN" altLang="en-US" dirty="0">
                <a:solidFill>
                  <a:srgbClr val="104E87"/>
                </a:solidFill>
                <a:latin typeface="华光行书_CNKI" panose="02000500000000000000" pitchFamily="2" charset="-122"/>
                <a:ea typeface="华光行书_CNKI" panose="02000500000000000000" pitchFamily="2" charset="-122"/>
              </a:rPr>
              <a:t>强制类型转换 </a:t>
            </a:r>
            <a:r>
              <a:rPr lang="en-US" altLang="zh-CN" dirty="0">
                <a:solidFill>
                  <a:srgbClr val="104E87"/>
                </a:solidFill>
                <a:latin typeface="华光行书_CNKI" panose="02000500000000000000" pitchFamily="2" charset="-122"/>
                <a:ea typeface="华光行书_CNKI" panose="02000500000000000000" pitchFamily="2" charset="-122"/>
              </a:rPr>
              <a:t>z=INTEGER(2)+x;</a:t>
            </a:r>
          </a:p>
          <a:p>
            <a:pPr eaLnBrk="1" hangingPunct="1">
              <a:buClr>
                <a:srgbClr val="FF0000"/>
              </a:buClr>
              <a:buSzPct val="70000"/>
              <a:buFont typeface="Wingdings" pitchFamily="2" charset="2"/>
              <a:buChar char="n"/>
              <a:defRPr/>
            </a:pPr>
            <a:r>
              <a:rPr lang="zh-CN" altLang="en-US" b="1" dirty="0">
                <a:solidFill>
                  <a:srgbClr val="FF0000"/>
                </a:solidFill>
                <a:latin typeface="华光行书_CNKI" panose="02000500000000000000" pitchFamily="2" charset="-122"/>
                <a:ea typeface="华光行书_CNKI" panose="02000500000000000000" pitchFamily="2" charset="-122"/>
              </a:rPr>
              <a:t>友元运算符重载</a:t>
            </a:r>
          </a:p>
        </p:txBody>
      </p:sp>
      <p:pic>
        <p:nvPicPr>
          <p:cNvPr id="47" name="图片 46">
            <a:extLst>
              <a:ext uri="{FF2B5EF4-FFF2-40B4-BE49-F238E27FC236}">
                <a16:creationId xmlns:a16="http://schemas.microsoft.com/office/drawing/2014/main" id="{2972F197-D025-22B7-7653-4F18E0BE0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057" y="2664410"/>
            <a:ext cx="473945" cy="433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32538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p:cTn id="13" dur="500" fill="hold"/>
                                        <p:tgtEl>
                                          <p:spTgt spid="47"/>
                                        </p:tgtEl>
                                        <p:attrNameLst>
                                          <p:attrName>ppt_w</p:attrName>
                                        </p:attrNameLst>
                                      </p:cBhvr>
                                      <p:tavLst>
                                        <p:tav tm="0">
                                          <p:val>
                                            <p:fltVal val="0"/>
                                          </p:val>
                                        </p:tav>
                                        <p:tav tm="100000">
                                          <p:val>
                                            <p:strVal val="#ppt_w"/>
                                          </p:val>
                                        </p:tav>
                                      </p:tavLst>
                                    </p:anim>
                                    <p:anim calcmode="lin" valueType="num">
                                      <p:cBhvr>
                                        <p:cTn id="14" dur="500" fill="hold"/>
                                        <p:tgtEl>
                                          <p:spTgt spid="47"/>
                                        </p:tgtEl>
                                        <p:attrNameLst>
                                          <p:attrName>ppt_h</p:attrName>
                                        </p:attrNameLst>
                                      </p:cBhvr>
                                      <p:tavLst>
                                        <p:tav tm="0">
                                          <p:val>
                                            <p:fltVal val="0"/>
                                          </p:val>
                                        </p:tav>
                                        <p:tav tm="100000">
                                          <p:val>
                                            <p:strVal val="#ppt_h"/>
                                          </p:val>
                                        </p:tav>
                                      </p:tavLst>
                                    </p:anim>
                                    <p:animEffect transition="in" filter="fade">
                                      <p:cBhvr>
                                        <p:cTn id="15" dur="500"/>
                                        <p:tgtEl>
                                          <p:spTgt spid="47"/>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 calcmode="lin" valueType="num">
                                      <p:cBhvr additive="base">
                                        <p:cTn id="20" dur="500" fill="hold"/>
                                        <p:tgtEl>
                                          <p:spTgt spid="46"/>
                                        </p:tgtEl>
                                        <p:attrNameLst>
                                          <p:attrName>ppt_x</p:attrName>
                                        </p:attrNameLst>
                                      </p:cBhvr>
                                      <p:tavLst>
                                        <p:tav tm="0">
                                          <p:val>
                                            <p:strVal val="#ppt_x"/>
                                          </p:val>
                                        </p:tav>
                                        <p:tav tm="100000">
                                          <p:val>
                                            <p:strVal val="#ppt_x"/>
                                          </p:val>
                                        </p:tav>
                                      </p:tavLst>
                                    </p:anim>
                                    <p:anim calcmode="lin" valueType="num">
                                      <p:cBhvr additive="base">
                                        <p:cTn id="21"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26" name="文本框 25">
            <a:extLst>
              <a:ext uri="{FF2B5EF4-FFF2-40B4-BE49-F238E27FC236}">
                <a16:creationId xmlns:a16="http://schemas.microsoft.com/office/drawing/2014/main" id="{5C7513DE-7E00-44F8-9EFB-E447D7EA4422}"/>
              </a:ext>
            </a:extLst>
          </p:cNvPr>
          <p:cNvSpPr txBox="1"/>
          <p:nvPr/>
        </p:nvSpPr>
        <p:spPr>
          <a:xfrm>
            <a:off x="247718" y="224527"/>
            <a:ext cx="10220989"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非成员函数</a:t>
            </a:r>
            <a:r>
              <a:rPr lang="en-US" altLang="zh-CN" dirty="0">
                <a:sym typeface="+mn-lt"/>
              </a:rPr>
              <a:t>(</a:t>
            </a:r>
            <a:r>
              <a:rPr lang="zh-CN" altLang="en-US" dirty="0">
                <a:sym typeface="+mn-lt"/>
              </a:rPr>
              <a:t>友元函数</a:t>
            </a:r>
            <a:r>
              <a:rPr lang="en-US" altLang="zh-CN" dirty="0">
                <a:sym typeface="+mn-lt"/>
              </a:rPr>
              <a:t>)</a:t>
            </a:r>
            <a:endParaRPr lang="zh-CN" altLang="en-US" dirty="0">
              <a:sym typeface="+mn-lt"/>
            </a:endParaRPr>
          </a:p>
        </p:txBody>
      </p:sp>
      <p:sp>
        <p:nvSpPr>
          <p:cNvPr id="27" name="矩形 26">
            <a:extLst>
              <a:ext uri="{FF2B5EF4-FFF2-40B4-BE49-F238E27FC236}">
                <a16:creationId xmlns:a16="http://schemas.microsoft.com/office/drawing/2014/main" id="{2A60399C-E4DF-4BDA-AB0C-E1C97D666A05}"/>
              </a:ext>
            </a:extLst>
          </p:cNvPr>
          <p:cNvSpPr/>
          <p:nvPr/>
        </p:nvSpPr>
        <p:spPr>
          <a:xfrm>
            <a:off x="0" y="923526"/>
            <a:ext cx="9456016" cy="830997"/>
          </a:xfrm>
          <a:prstGeom prst="rect">
            <a:avLst/>
          </a:prstGeom>
        </p:spPr>
        <p:txBody>
          <a:bodyPr wrap="square">
            <a:spAutoFit/>
          </a:bodyPr>
          <a:lstStyle/>
          <a:p>
            <a:pPr eaLnBrk="1" fontAlgn="auto" hangingPunct="1">
              <a:buClr>
                <a:schemeClr val="accent3"/>
              </a:buClr>
              <a:defRPr/>
            </a:pPr>
            <a:r>
              <a:rPr lang="zh-CN" altLang="en-US" dirty="0">
                <a:solidFill>
                  <a:srgbClr val="104E87"/>
                </a:solidFill>
                <a:latin typeface="华光行书_CNKI" panose="02000500000000000000" pitchFamily="2" charset="-122"/>
                <a:ea typeface="华光行书_CNKI" panose="02000500000000000000" pitchFamily="2" charset="-122"/>
              </a:rPr>
              <a:t>重载为类成员函数：参数个数</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原操作数个数</a:t>
            </a:r>
            <a:r>
              <a:rPr lang="en-US" altLang="zh-CN" dirty="0">
                <a:solidFill>
                  <a:srgbClr val="104E87"/>
                </a:solidFill>
                <a:latin typeface="华光行书_CNKI" panose="02000500000000000000" pitchFamily="2" charset="-122"/>
                <a:ea typeface="华光行书_CNKI" panose="02000500000000000000" pitchFamily="2" charset="-122"/>
              </a:rPr>
              <a:t>-1</a:t>
            </a:r>
          </a:p>
          <a:p>
            <a:pPr eaLnBrk="1" fontAlgn="auto" hangingPunct="1">
              <a:buClr>
                <a:schemeClr val="accent3"/>
              </a:buClr>
              <a:defRPr/>
            </a:pPr>
            <a:r>
              <a:rPr lang="zh-CN" altLang="en-US" b="1" dirty="0">
                <a:solidFill>
                  <a:srgbClr val="FF0000"/>
                </a:solidFill>
                <a:latin typeface="华光行书_CNKI" panose="02000500000000000000" pitchFamily="2" charset="-122"/>
                <a:ea typeface="华光行书_CNKI" panose="02000500000000000000" pitchFamily="2" charset="-122"/>
              </a:rPr>
              <a:t>重载为非成员函数：参数个数</a:t>
            </a:r>
            <a:r>
              <a:rPr lang="en-US" altLang="zh-CN" b="1" dirty="0">
                <a:solidFill>
                  <a:srgbClr val="FF0000"/>
                </a:solidFill>
                <a:latin typeface="华光行书_CNKI" panose="02000500000000000000" pitchFamily="2" charset="-122"/>
                <a:ea typeface="华光行书_CNKI" panose="02000500000000000000" pitchFamily="2" charset="-122"/>
              </a:rPr>
              <a:t>=</a:t>
            </a:r>
            <a:r>
              <a:rPr lang="zh-CN" altLang="en-US" b="1" dirty="0">
                <a:solidFill>
                  <a:srgbClr val="FF0000"/>
                </a:solidFill>
                <a:latin typeface="华光行书_CNKI" panose="02000500000000000000" pitchFamily="2" charset="-122"/>
                <a:ea typeface="华光行书_CNKI" panose="02000500000000000000" pitchFamily="2" charset="-122"/>
              </a:rPr>
              <a:t>原操作数个数</a:t>
            </a:r>
          </a:p>
        </p:txBody>
      </p:sp>
      <p:sp>
        <p:nvSpPr>
          <p:cNvPr id="28" name="矩形 27">
            <a:extLst>
              <a:ext uri="{FF2B5EF4-FFF2-40B4-BE49-F238E27FC236}">
                <a16:creationId xmlns:a16="http://schemas.microsoft.com/office/drawing/2014/main" id="{67324332-5405-40B6-8A7F-A3D9530EF279}"/>
              </a:ext>
            </a:extLst>
          </p:cNvPr>
          <p:cNvSpPr/>
          <p:nvPr/>
        </p:nvSpPr>
        <p:spPr>
          <a:xfrm>
            <a:off x="0" y="1772333"/>
            <a:ext cx="11772900" cy="1569660"/>
          </a:xfrm>
          <a:prstGeom prst="rect">
            <a:avLst/>
          </a:prstGeom>
          <a:noFill/>
          <a:ln>
            <a:noFill/>
          </a:ln>
        </p:spPr>
        <p:txBody>
          <a:bodyPr wrap="square">
            <a:spAutoFit/>
          </a:bodyPr>
          <a:lstStyle/>
          <a:p>
            <a:pPr eaLnBrk="1" hangingPunct="1">
              <a:buClr>
                <a:srgbClr val="FF0000"/>
              </a:buClr>
              <a:buSzPct val="75000"/>
              <a:buFont typeface="Wingdings" pitchFamily="2" charset="2"/>
              <a:buChar char="l"/>
              <a:defRPr/>
            </a:pPr>
            <a:r>
              <a:rPr lang="zh-CN" altLang="en-US" dirty="0">
                <a:solidFill>
                  <a:srgbClr val="104E87"/>
                </a:solidFill>
                <a:latin typeface="华光行书_CNKI" panose="02000500000000000000" pitchFamily="2" charset="-122"/>
                <a:ea typeface="华光行书_CNKI" panose="02000500000000000000" pitchFamily="2" charset="-122"/>
              </a:rPr>
              <a:t>函数的形参代表依自左至右次序排列的各操作数。</a:t>
            </a:r>
          </a:p>
          <a:p>
            <a:pPr eaLnBrk="1" hangingPunct="1">
              <a:buClr>
                <a:srgbClr val="FF0000"/>
              </a:buClr>
              <a:buSzPct val="75000"/>
              <a:buFont typeface="Wingdings" pitchFamily="2" charset="2"/>
              <a:buChar char="l"/>
              <a:defRPr/>
            </a:pPr>
            <a:r>
              <a:rPr lang="zh-CN" altLang="en-US" dirty="0">
                <a:solidFill>
                  <a:srgbClr val="104E87"/>
                </a:solidFill>
                <a:latin typeface="华光行书_CNKI" panose="02000500000000000000" pitchFamily="2" charset="-122"/>
                <a:ea typeface="华光行书_CNKI" panose="02000500000000000000" pitchFamily="2" charset="-122"/>
              </a:rPr>
              <a:t>后置单目运算符 </a:t>
            </a:r>
            <a:r>
              <a:rPr lang="en-US" altLang="en-US"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和</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的重载函数，形参列表中要增加一个</a:t>
            </a:r>
            <a:r>
              <a:rPr lang="en-US" altLang="zh-CN" dirty="0">
                <a:solidFill>
                  <a:srgbClr val="104E87"/>
                </a:solidFill>
                <a:latin typeface="华光行书_CNKI" panose="02000500000000000000" pitchFamily="2" charset="-122"/>
                <a:ea typeface="华光行书_CNKI" panose="02000500000000000000" pitchFamily="2" charset="-122"/>
              </a:rPr>
              <a:t>int</a:t>
            </a:r>
            <a:r>
              <a:rPr lang="zh-CN" altLang="en-US" dirty="0">
                <a:solidFill>
                  <a:srgbClr val="104E87"/>
                </a:solidFill>
                <a:latin typeface="华光行书_CNKI" panose="02000500000000000000" pitchFamily="2" charset="-122"/>
                <a:ea typeface="华光行书_CNKI" panose="02000500000000000000" pitchFamily="2" charset="-122"/>
              </a:rPr>
              <a:t>，但不必写形参名。</a:t>
            </a:r>
            <a:endParaRPr lang="en-US" altLang="zh-CN" dirty="0">
              <a:solidFill>
                <a:srgbClr val="104E87"/>
              </a:solidFill>
              <a:latin typeface="华光行书_CNKI" panose="02000500000000000000" pitchFamily="2" charset="-122"/>
              <a:ea typeface="华光行书_CNKI" panose="02000500000000000000" pitchFamily="2" charset="-122"/>
            </a:endParaRPr>
          </a:p>
          <a:p>
            <a:pPr eaLnBrk="1" hangingPunct="1">
              <a:buClr>
                <a:srgbClr val="FF0000"/>
              </a:buClr>
              <a:buSzPct val="75000"/>
              <a:buFont typeface="Wingdings" pitchFamily="2" charset="2"/>
              <a:buChar char="l"/>
              <a:defRPr/>
            </a:pPr>
            <a:r>
              <a:rPr lang="zh-CN" altLang="en-US" dirty="0">
                <a:solidFill>
                  <a:srgbClr val="104E87"/>
                </a:solidFill>
                <a:latin typeface="华光行书_CNKI" panose="02000500000000000000" pitchFamily="2" charset="-122"/>
                <a:ea typeface="华光行书_CNKI" panose="02000500000000000000" pitchFamily="2" charset="-122"/>
              </a:rPr>
              <a:t>如果在运算符的重载函数中需要操作某类对象的私有成员，可以将此函数声明为该类的友元。</a:t>
            </a:r>
          </a:p>
        </p:txBody>
      </p:sp>
      <p:sp>
        <p:nvSpPr>
          <p:cNvPr id="29" name="Rectangle 2">
            <a:extLst>
              <a:ext uri="{FF2B5EF4-FFF2-40B4-BE49-F238E27FC236}">
                <a16:creationId xmlns:a16="http://schemas.microsoft.com/office/drawing/2014/main" id="{4856D0D0-AC82-44CB-848B-CC2984033463}"/>
              </a:ext>
            </a:extLst>
          </p:cNvPr>
          <p:cNvSpPr txBox="1">
            <a:spLocks noChangeArrowheads="1"/>
          </p:cNvSpPr>
          <p:nvPr/>
        </p:nvSpPr>
        <p:spPr bwMode="auto">
          <a:xfrm>
            <a:off x="1587" y="3385417"/>
            <a:ext cx="9154136" cy="2304183"/>
          </a:xfrm>
          <a:prstGeom prst="rect">
            <a:avLst/>
          </a:prstGeom>
          <a:noFill/>
          <a:ln w="9525">
            <a:noFill/>
            <a:miter lim="800000"/>
            <a:headEnd/>
            <a:tailEnd/>
          </a:ln>
        </p:spPr>
        <p:txBody>
          <a:bodyPr/>
          <a:lstStyle/>
          <a:p>
            <a:pPr marL="469900" indent="-469900" eaLnBrk="1" hangingPunct="1">
              <a:spcBef>
                <a:spcPct val="20000"/>
              </a:spcBef>
              <a:buClr>
                <a:schemeClr val="bg2"/>
              </a:buClr>
              <a:buSzPct val="70000"/>
              <a:buFont typeface="Wingdings" pitchFamily="2" charset="2"/>
              <a:buNone/>
              <a:defRPr/>
            </a:pPr>
            <a:r>
              <a:rPr lang="zh-CN" altLang="en-US" kern="0" dirty="0">
                <a:solidFill>
                  <a:srgbClr val="104E87"/>
                </a:solidFill>
                <a:latin typeface="Comic Sans MS" panose="030F0702030302020204" pitchFamily="66" charset="0"/>
                <a:ea typeface="华光行书_CNKI" panose="02000500000000000000" pitchFamily="2" charset="-122"/>
              </a:rPr>
              <a:t>友元运算符重载参数规则：</a:t>
            </a:r>
          </a:p>
          <a:p>
            <a:pPr marL="908050" lvl="1" indent="-436563" eaLnBrk="1" hangingPunct="1">
              <a:spcBef>
                <a:spcPct val="20000"/>
              </a:spcBef>
              <a:buClr>
                <a:srgbClr val="FF0000"/>
              </a:buClr>
              <a:buSzPct val="75000"/>
              <a:buFont typeface="Wingdings" pitchFamily="2" charset="2"/>
              <a:buChar char="n"/>
              <a:defRPr/>
            </a:pPr>
            <a:r>
              <a:rPr lang="zh-CN" altLang="en-US" kern="0" dirty="0">
                <a:solidFill>
                  <a:srgbClr val="104E87"/>
                </a:solidFill>
                <a:latin typeface="Comic Sans MS" panose="030F0702030302020204" pitchFamily="66" charset="0"/>
                <a:ea typeface="华光行书_CNKI" panose="02000500000000000000" pitchFamily="2" charset="-122"/>
              </a:rPr>
              <a:t>一元运算符必须显式声明一个参数</a:t>
            </a:r>
          </a:p>
          <a:p>
            <a:pPr marL="908050" lvl="1" indent="-436563" eaLnBrk="1" hangingPunct="1">
              <a:spcBef>
                <a:spcPct val="20000"/>
              </a:spcBef>
              <a:buClr>
                <a:srgbClr val="FF0000"/>
              </a:buClr>
              <a:buSzPct val="75000"/>
              <a:buFont typeface="Wingdings" pitchFamily="2" charset="2"/>
              <a:buChar char="n"/>
              <a:defRPr/>
            </a:pPr>
            <a:r>
              <a:rPr lang="zh-CN" altLang="en-US" kern="0" dirty="0">
                <a:solidFill>
                  <a:srgbClr val="104E87"/>
                </a:solidFill>
                <a:latin typeface="Comic Sans MS" panose="030F0702030302020204" pitchFamily="66" charset="0"/>
                <a:ea typeface="华光行书_CNKI" panose="02000500000000000000" pitchFamily="2" charset="-122"/>
              </a:rPr>
              <a:t>二元运算符必须显式声明二个参数</a:t>
            </a:r>
          </a:p>
          <a:p>
            <a:pPr marL="469900" indent="-469900" eaLnBrk="1" hangingPunct="1">
              <a:spcBef>
                <a:spcPct val="20000"/>
              </a:spcBef>
              <a:buClr>
                <a:schemeClr val="bg2"/>
              </a:buClr>
              <a:buSzPct val="70000"/>
              <a:defRPr/>
            </a:pPr>
            <a:r>
              <a:rPr lang="zh-CN" altLang="en-US" kern="0" dirty="0">
                <a:solidFill>
                  <a:srgbClr val="104E87"/>
                </a:solidFill>
                <a:latin typeface="Comic Sans MS" panose="030F0702030302020204" pitchFamily="66" charset="0"/>
                <a:ea typeface="华光行书_CNKI" panose="02000500000000000000" pitchFamily="2" charset="-122"/>
              </a:rPr>
              <a:t>不能做友元重载的运算符</a:t>
            </a:r>
            <a:r>
              <a:rPr lang="en-US" altLang="zh-CN" kern="0" dirty="0">
                <a:solidFill>
                  <a:srgbClr val="104E87"/>
                </a:solidFill>
                <a:latin typeface="Comic Sans MS" panose="030F0702030302020204" pitchFamily="66" charset="0"/>
                <a:ea typeface="华光行书_CNKI" panose="02000500000000000000" pitchFamily="2" charset="-122"/>
              </a:rPr>
              <a:t>:</a:t>
            </a:r>
            <a:endParaRPr lang="zh-CN" altLang="en-US" kern="0" dirty="0">
              <a:solidFill>
                <a:srgbClr val="104E87"/>
              </a:solidFill>
              <a:latin typeface="Comic Sans MS" panose="030F0702030302020204" pitchFamily="66" charset="0"/>
              <a:ea typeface="华光行书_CNKI" panose="02000500000000000000" pitchFamily="2" charset="-122"/>
            </a:endParaRPr>
          </a:p>
          <a:p>
            <a:pPr marL="469900" indent="-469900" eaLnBrk="1" hangingPunct="1">
              <a:spcBef>
                <a:spcPct val="20000"/>
              </a:spcBef>
              <a:buClr>
                <a:schemeClr val="bg2"/>
              </a:buClr>
              <a:buSzPct val="70000"/>
              <a:buFont typeface="Wingdings" pitchFamily="2" charset="2"/>
              <a:buNone/>
              <a:defRPr/>
            </a:pPr>
            <a:r>
              <a:rPr lang="zh-CN" altLang="en-US" kern="0" dirty="0">
                <a:solidFill>
                  <a:srgbClr val="104E87"/>
                </a:solidFill>
                <a:latin typeface="Comic Sans MS" panose="030F0702030302020204" pitchFamily="66" charset="0"/>
                <a:ea typeface="华光行书_CNKI" panose="02000500000000000000" pitchFamily="2" charset="-122"/>
              </a:rPr>
              <a:t>		</a:t>
            </a:r>
            <a:r>
              <a:rPr lang="en-US" altLang="zh-CN" kern="0" dirty="0">
                <a:solidFill>
                  <a:srgbClr val="104E87"/>
                </a:solidFill>
                <a:latin typeface="Comic Sans MS" panose="030F0702030302020204" pitchFamily="66" charset="0"/>
                <a:ea typeface="华光行书_CNKI" panose="02000500000000000000" pitchFamily="2" charset="-122"/>
              </a:rPr>
              <a:t>=	( )	[ ]	-&gt;</a:t>
            </a:r>
          </a:p>
        </p:txBody>
      </p:sp>
    </p:spTree>
    <p:extLst>
      <p:ext uri="{BB962C8B-B14F-4D97-AF65-F5344CB8AC3E}">
        <p14:creationId xmlns:p14="http://schemas.microsoft.com/office/powerpoint/2010/main" val="391322777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anim calcmode="lin" valueType="num">
                                      <p:cBhvr additive="base">
                                        <p:cTn id="13" dur="500" fill="hold"/>
                                        <p:tgtEl>
                                          <p:spTgt spid="2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
                                            <p:txEl>
                                              <p:pRg st="2" end="2"/>
                                            </p:txEl>
                                          </p:spTgt>
                                        </p:tgtEl>
                                        <p:attrNameLst>
                                          <p:attrName>style.visibility</p:attrName>
                                        </p:attrNameLst>
                                      </p:cBhvr>
                                      <p:to>
                                        <p:strVal val="visible"/>
                                      </p:to>
                                    </p:set>
                                    <p:anim calcmode="lin" valueType="num">
                                      <p:cBhvr additive="base">
                                        <p:cTn id="19" dur="500" fill="hold"/>
                                        <p:tgtEl>
                                          <p:spTgt spid="2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
                                            <p:txEl>
                                              <p:pRg st="4" end="4"/>
                                            </p:txEl>
                                          </p:spTgt>
                                        </p:tgtEl>
                                        <p:attrNameLst>
                                          <p:attrName>style.visibility</p:attrName>
                                        </p:attrNameLst>
                                      </p:cBhvr>
                                      <p:to>
                                        <p:strVal val="visible"/>
                                      </p:to>
                                    </p:set>
                                    <p:anim calcmode="lin" valueType="num">
                                      <p:cBhvr additive="base">
                                        <p:cTn id="29" dur="500" fill="hold"/>
                                        <p:tgtEl>
                                          <p:spTgt spid="2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23" name="文本框 22">
            <a:extLst>
              <a:ext uri="{FF2B5EF4-FFF2-40B4-BE49-F238E27FC236}">
                <a16:creationId xmlns:a16="http://schemas.microsoft.com/office/drawing/2014/main" id="{CF69CE26-EDDC-4A52-8243-DD73C36CF81D}"/>
              </a:ext>
            </a:extLst>
          </p:cNvPr>
          <p:cNvSpPr txBox="1"/>
          <p:nvPr/>
        </p:nvSpPr>
        <p:spPr>
          <a:xfrm>
            <a:off x="247718" y="224527"/>
            <a:ext cx="9881019"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非成员函数</a:t>
            </a:r>
            <a:r>
              <a:rPr lang="en-US" altLang="zh-CN" dirty="0">
                <a:sym typeface="+mn-lt"/>
              </a:rPr>
              <a:t>(</a:t>
            </a:r>
            <a:r>
              <a:rPr lang="zh-CN" altLang="en-US" dirty="0">
                <a:sym typeface="+mn-lt"/>
              </a:rPr>
              <a:t>友元函数</a:t>
            </a:r>
            <a:r>
              <a:rPr lang="en-US" altLang="zh-CN" dirty="0">
                <a:sym typeface="+mn-lt"/>
              </a:rPr>
              <a:t>)</a:t>
            </a:r>
            <a:endParaRPr lang="zh-CN" altLang="en-US" dirty="0">
              <a:sym typeface="+mn-lt"/>
            </a:endParaRPr>
          </a:p>
        </p:txBody>
      </p:sp>
      <p:sp>
        <p:nvSpPr>
          <p:cNvPr id="24" name="Rectangle 2">
            <a:extLst>
              <a:ext uri="{FF2B5EF4-FFF2-40B4-BE49-F238E27FC236}">
                <a16:creationId xmlns:a16="http://schemas.microsoft.com/office/drawing/2014/main" id="{A47AF6F1-4AC3-478E-87EA-A6048B17AD16}"/>
              </a:ext>
            </a:extLst>
          </p:cNvPr>
          <p:cNvSpPr txBox="1">
            <a:spLocks noChangeArrowheads="1"/>
          </p:cNvSpPr>
          <p:nvPr/>
        </p:nvSpPr>
        <p:spPr bwMode="auto">
          <a:xfrm>
            <a:off x="0" y="882505"/>
            <a:ext cx="11850810" cy="197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85000"/>
              </a:lnSpc>
              <a:defRPr kumimoji="1">
                <a:solidFill>
                  <a:srgbClr val="104E87"/>
                </a:solidFill>
                <a:latin typeface="Comic Sans MS" panose="030F0702030302020204" pitchFamily="66" charset="0"/>
                <a:ea typeface="宋体" panose="02010600030101010101" pitchFamily="2" charset="-122"/>
              </a:defRPr>
            </a:lvl1pPr>
          </a:lstStyle>
          <a:p>
            <a:r>
              <a:rPr lang="en-US" altLang="zh-CN" dirty="0"/>
              <a:t>class INTEGER {</a:t>
            </a:r>
          </a:p>
          <a:p>
            <a:r>
              <a:rPr lang="en-US" altLang="en-US" dirty="0"/>
              <a:t>	int value;</a:t>
            </a:r>
            <a:endParaRPr lang="en-US" altLang="zh-CN" dirty="0"/>
          </a:p>
          <a:p>
            <a:r>
              <a:rPr lang="en-US" altLang="zh-CN" dirty="0" err="1"/>
              <a:t>public:INTEGER</a:t>
            </a:r>
            <a:r>
              <a:rPr lang="en-US" altLang="zh-CN" dirty="0"/>
              <a:t>(int </a:t>
            </a:r>
            <a:r>
              <a:rPr lang="en-US" altLang="zh-CN" dirty="0" err="1"/>
              <a:t>i</a:t>
            </a:r>
            <a:r>
              <a:rPr lang="en-US" altLang="zh-CN" dirty="0"/>
              <a:t>=0);</a:t>
            </a:r>
          </a:p>
          <a:p>
            <a:r>
              <a:rPr lang="en-US" altLang="en-US" dirty="0"/>
              <a:t>        </a:t>
            </a:r>
            <a:r>
              <a:rPr lang="en-US" altLang="en-US" dirty="0">
                <a:solidFill>
                  <a:srgbClr val="FF0000"/>
                </a:solidFill>
              </a:rPr>
              <a:t>friend INTEGER operator+ (const INTEGER&amp; left, const INTEGER&amp; right);</a:t>
            </a:r>
          </a:p>
          <a:p>
            <a:r>
              <a:rPr lang="en-US" altLang="en-US" dirty="0"/>
              <a:t>	 void </a:t>
            </a:r>
            <a:r>
              <a:rPr lang="en-US" altLang="en-US" dirty="0" err="1"/>
              <a:t>print_int</a:t>
            </a:r>
            <a:r>
              <a:rPr lang="en-US" altLang="en-US" dirty="0"/>
              <a:t>();</a:t>
            </a:r>
          </a:p>
          <a:p>
            <a:r>
              <a:rPr lang="en-US" altLang="en-US" dirty="0"/>
              <a:t>};</a:t>
            </a:r>
            <a:endParaRPr lang="en-US" altLang="zh-CN" dirty="0"/>
          </a:p>
        </p:txBody>
      </p:sp>
      <p:sp>
        <p:nvSpPr>
          <p:cNvPr id="25" name="矩形 24">
            <a:extLst>
              <a:ext uri="{FF2B5EF4-FFF2-40B4-BE49-F238E27FC236}">
                <a16:creationId xmlns:a16="http://schemas.microsoft.com/office/drawing/2014/main" id="{78DF82C3-CC6F-450F-AA1C-708ABAC6C31A}"/>
              </a:ext>
            </a:extLst>
          </p:cNvPr>
          <p:cNvSpPr/>
          <p:nvPr/>
        </p:nvSpPr>
        <p:spPr>
          <a:xfrm>
            <a:off x="702726" y="2754969"/>
            <a:ext cx="6894458" cy="1348061"/>
          </a:xfrm>
          <a:prstGeom prst="rect">
            <a:avLst/>
          </a:prstGeom>
          <a:solidFill>
            <a:schemeClr val="accent4">
              <a:lumMod val="20000"/>
              <a:lumOff val="80000"/>
            </a:schemeClr>
          </a:solidFill>
          <a:ln>
            <a:noFill/>
          </a:ln>
        </p:spPr>
        <p:txBody>
          <a:bodyPr wrap="square">
            <a:spAutoFit/>
          </a:bodyPr>
          <a:lstStyle/>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INTEGER ::INTEGER(int i)</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{value=</a:t>
            </a:r>
            <a:r>
              <a:rPr kumimoji="1" lang="en-US" altLang="zh-CN" dirty="0" err="1">
                <a:solidFill>
                  <a:srgbClr val="104E87"/>
                </a:solidFill>
                <a:latin typeface="Comic Sans MS" panose="030F0702030302020204" pitchFamily="66" charset="0"/>
                <a:ea typeface="宋体" panose="02010600030101010101" pitchFamily="2" charset="-122"/>
              </a:rPr>
              <a:t>i</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en-US" dirty="0">
                <a:solidFill>
                  <a:srgbClr val="104E87"/>
                </a:solidFill>
                <a:latin typeface="Comic Sans MS" panose="030F0702030302020204" pitchFamily="66" charset="0"/>
                <a:ea typeface="宋体" panose="02010600030101010101" pitchFamily="2" charset="-122"/>
              </a:rPr>
              <a:t>void </a:t>
            </a:r>
            <a:r>
              <a:rPr kumimoji="1" lang="en-US" altLang="zh-CN" dirty="0">
                <a:solidFill>
                  <a:srgbClr val="104E87"/>
                </a:solidFill>
                <a:latin typeface="Comic Sans MS" panose="030F0702030302020204" pitchFamily="66" charset="0"/>
                <a:ea typeface="宋体" panose="02010600030101010101" pitchFamily="2" charset="-122"/>
              </a:rPr>
              <a:t>INTEGER :: </a:t>
            </a:r>
            <a:r>
              <a:rPr kumimoji="1" lang="en-US" altLang="en-US" dirty="0" err="1">
                <a:solidFill>
                  <a:srgbClr val="104E87"/>
                </a:solidFill>
                <a:latin typeface="Comic Sans MS" panose="030F0702030302020204" pitchFamily="66" charset="0"/>
                <a:ea typeface="宋体" panose="02010600030101010101" pitchFamily="2" charset="-122"/>
              </a:rPr>
              <a:t>print_int</a:t>
            </a:r>
            <a:r>
              <a:rPr kumimoji="1" lang="en-US" altLang="en-US" dirty="0">
                <a:solidFill>
                  <a:srgbClr val="104E87"/>
                </a:solidFill>
                <a:latin typeface="Comic Sans MS" panose="030F0702030302020204" pitchFamily="66" charset="0"/>
                <a:ea typeface="宋体" panose="02010600030101010101" pitchFamily="2" charset="-122"/>
              </a:rPr>
              <a:t>() </a:t>
            </a:r>
          </a:p>
          <a:p>
            <a:pPr>
              <a:lnSpc>
                <a:spcPct val="85000"/>
              </a:lnSpc>
            </a:pPr>
            <a:r>
              <a:rPr kumimoji="1" lang="en-US" altLang="en-US" dirty="0">
                <a:solidFill>
                  <a:srgbClr val="104E87"/>
                </a:solidFill>
                <a:latin typeface="Comic Sans MS" panose="030F0702030302020204" pitchFamily="66" charset="0"/>
                <a:ea typeface="宋体" panose="02010600030101010101" pitchFamily="2" charset="-122"/>
              </a:rPr>
              <a:t>{</a:t>
            </a:r>
            <a:r>
              <a:rPr kumimoji="1" lang="en-US" altLang="en-US" dirty="0" err="1">
                <a:solidFill>
                  <a:srgbClr val="104E87"/>
                </a:solidFill>
                <a:latin typeface="Comic Sans MS" panose="030F0702030302020204" pitchFamily="66" charset="0"/>
                <a:ea typeface="宋体" panose="02010600030101010101" pitchFamily="2" charset="-122"/>
              </a:rPr>
              <a:t>cout</a:t>
            </a:r>
            <a:r>
              <a:rPr kumimoji="1" lang="en-US" altLang="en-US" dirty="0">
                <a:solidFill>
                  <a:srgbClr val="104E87"/>
                </a:solidFill>
                <a:latin typeface="Comic Sans MS" panose="030F0702030302020204" pitchFamily="66" charset="0"/>
                <a:ea typeface="宋体" panose="02010600030101010101" pitchFamily="2" charset="-122"/>
              </a:rPr>
              <a:t>&lt;&lt;value&lt;&lt;</a:t>
            </a:r>
            <a:r>
              <a:rPr kumimoji="1" lang="en-US" altLang="en-US" dirty="0" err="1">
                <a:solidFill>
                  <a:srgbClr val="104E87"/>
                </a:solidFill>
                <a:latin typeface="Comic Sans MS" panose="030F0702030302020204" pitchFamily="66" charset="0"/>
                <a:ea typeface="宋体" panose="02010600030101010101" pitchFamily="2" charset="-122"/>
              </a:rPr>
              <a:t>endl</a:t>
            </a:r>
            <a:r>
              <a:rPr kumimoji="1" lang="en-US" altLang="en-US" dirty="0">
                <a:solidFill>
                  <a:srgbClr val="104E87"/>
                </a:solidFill>
                <a:latin typeface="Comic Sans MS" panose="030F0702030302020204" pitchFamily="66" charset="0"/>
                <a:ea typeface="宋体" panose="02010600030101010101" pitchFamily="2" charset="-122"/>
              </a:rPr>
              <a:t>;}</a:t>
            </a:r>
            <a:endParaRPr kumimoji="1" lang="en-US" altLang="zh-CN" dirty="0">
              <a:solidFill>
                <a:srgbClr val="104E87"/>
              </a:solidFill>
              <a:latin typeface="Comic Sans MS" panose="030F0702030302020204" pitchFamily="66" charset="0"/>
              <a:ea typeface="宋体" panose="02010600030101010101" pitchFamily="2" charset="-122"/>
            </a:endParaRPr>
          </a:p>
        </p:txBody>
      </p:sp>
      <p:sp>
        <p:nvSpPr>
          <p:cNvPr id="26" name="矩形 25">
            <a:extLst>
              <a:ext uri="{FF2B5EF4-FFF2-40B4-BE49-F238E27FC236}">
                <a16:creationId xmlns:a16="http://schemas.microsoft.com/office/drawing/2014/main" id="{49CFD4AB-8C96-4AF6-9B79-1766989C467C}"/>
              </a:ext>
            </a:extLst>
          </p:cNvPr>
          <p:cNvSpPr/>
          <p:nvPr/>
        </p:nvSpPr>
        <p:spPr>
          <a:xfrm>
            <a:off x="1587" y="4789167"/>
            <a:ext cx="9853613" cy="1661993"/>
          </a:xfrm>
          <a:prstGeom prst="rect">
            <a:avLst/>
          </a:prstGeom>
          <a:solidFill>
            <a:schemeClr val="accent4">
              <a:lumMod val="20000"/>
              <a:lumOff val="80000"/>
            </a:schemeClr>
          </a:solidFill>
          <a:ln>
            <a:noFill/>
          </a:ln>
        </p:spPr>
        <p:txBody>
          <a:bodyPr wrap="square" lIns="0" rIns="0">
            <a:spAutoFit/>
          </a:bodyPr>
          <a:lstStyle/>
          <a:p>
            <a:pPr>
              <a:lnSpc>
                <a:spcPct val="85000"/>
              </a:lnSpc>
            </a:pPr>
            <a:r>
              <a:rPr kumimoji="1" lang="en-US" altLang="en-US" dirty="0">
                <a:solidFill>
                  <a:srgbClr val="FF0000"/>
                </a:solidFill>
                <a:latin typeface="Comic Sans MS" panose="030F0702030302020204" pitchFamily="66" charset="0"/>
                <a:ea typeface="宋体" panose="02010600030101010101" pitchFamily="2" charset="-122"/>
              </a:rPr>
              <a:t>INTEGER operator + (const INTEGER&amp; left, const INTEGER&amp; right)</a:t>
            </a:r>
          </a:p>
          <a:p>
            <a:pPr>
              <a:lnSpc>
                <a:spcPct val="85000"/>
              </a:lnSpc>
            </a:pPr>
            <a:r>
              <a:rPr kumimoji="1" lang="en-US" altLang="en-US" dirty="0">
                <a:solidFill>
                  <a:srgbClr val="FF0000"/>
                </a:solidFill>
                <a:latin typeface="Comic Sans MS" panose="030F0702030302020204" pitchFamily="66" charset="0"/>
                <a:ea typeface="宋体" panose="02010600030101010101" pitchFamily="2" charset="-122"/>
              </a:rPr>
              <a:t>{	INTEGER temp;</a:t>
            </a:r>
          </a:p>
          <a:p>
            <a:pPr>
              <a:lnSpc>
                <a:spcPct val="85000"/>
              </a:lnSpc>
            </a:pPr>
            <a:r>
              <a:rPr kumimoji="1" lang="en-US" altLang="en-US" dirty="0">
                <a:solidFill>
                  <a:srgbClr val="FF0000"/>
                </a:solidFill>
                <a:latin typeface="Comic Sans MS" panose="030F0702030302020204" pitchFamily="66" charset="0"/>
                <a:ea typeface="宋体" panose="02010600030101010101" pitchFamily="2" charset="-122"/>
              </a:rPr>
              <a:t>	</a:t>
            </a:r>
            <a:r>
              <a:rPr kumimoji="1" lang="en-US" altLang="en-US" dirty="0" err="1">
                <a:solidFill>
                  <a:srgbClr val="FF0000"/>
                </a:solidFill>
                <a:latin typeface="Comic Sans MS" panose="030F0702030302020204" pitchFamily="66" charset="0"/>
                <a:ea typeface="宋体" panose="02010600030101010101" pitchFamily="2" charset="-122"/>
              </a:rPr>
              <a:t>temp.value</a:t>
            </a:r>
            <a:r>
              <a:rPr kumimoji="1" lang="en-US" altLang="en-US" dirty="0">
                <a:solidFill>
                  <a:srgbClr val="FF0000"/>
                </a:solidFill>
                <a:latin typeface="Comic Sans MS" panose="030F0702030302020204" pitchFamily="66" charset="0"/>
                <a:ea typeface="宋体" panose="02010600030101010101" pitchFamily="2" charset="-122"/>
              </a:rPr>
              <a:t>=</a:t>
            </a:r>
            <a:r>
              <a:rPr kumimoji="1" lang="en-US" altLang="en-US" dirty="0" err="1">
                <a:solidFill>
                  <a:srgbClr val="FF0000"/>
                </a:solidFill>
                <a:latin typeface="Comic Sans MS" panose="030F0702030302020204" pitchFamily="66" charset="0"/>
                <a:ea typeface="宋体" panose="02010600030101010101" pitchFamily="2" charset="-122"/>
              </a:rPr>
              <a:t>left.value+right.value</a:t>
            </a:r>
            <a:r>
              <a:rPr kumimoji="1" lang="en-US" altLang="en-US" dirty="0">
                <a:solidFill>
                  <a:srgbClr val="FF0000"/>
                </a:solidFill>
                <a:latin typeface="Comic Sans MS" panose="030F0702030302020204" pitchFamily="66" charset="0"/>
                <a:ea typeface="宋体" panose="02010600030101010101" pitchFamily="2" charset="-122"/>
              </a:rPr>
              <a:t>;</a:t>
            </a:r>
          </a:p>
          <a:p>
            <a:pPr>
              <a:lnSpc>
                <a:spcPct val="85000"/>
              </a:lnSpc>
            </a:pPr>
            <a:r>
              <a:rPr kumimoji="1" lang="en-US" altLang="en-US" dirty="0">
                <a:solidFill>
                  <a:srgbClr val="FF0000"/>
                </a:solidFill>
                <a:latin typeface="Comic Sans MS" panose="030F0702030302020204" pitchFamily="66" charset="0"/>
                <a:ea typeface="宋体" panose="02010600030101010101" pitchFamily="2" charset="-122"/>
              </a:rPr>
              <a:t>	return temp;</a:t>
            </a:r>
          </a:p>
          <a:p>
            <a:pPr>
              <a:lnSpc>
                <a:spcPct val="85000"/>
              </a:lnSpc>
            </a:pPr>
            <a:r>
              <a:rPr kumimoji="1" lang="en-US" altLang="en-US" dirty="0">
                <a:solidFill>
                  <a:srgbClr val="FF0000"/>
                </a:solidFill>
                <a:latin typeface="Comic Sans MS" panose="030F0702030302020204" pitchFamily="66" charset="0"/>
                <a:ea typeface="宋体" panose="02010600030101010101" pitchFamily="2" charset="-122"/>
              </a:rPr>
              <a:t>}</a:t>
            </a:r>
          </a:p>
        </p:txBody>
      </p:sp>
      <p:sp>
        <p:nvSpPr>
          <p:cNvPr id="28" name="Rectangle 2">
            <a:extLst>
              <a:ext uri="{FF2B5EF4-FFF2-40B4-BE49-F238E27FC236}">
                <a16:creationId xmlns:a16="http://schemas.microsoft.com/office/drawing/2014/main" id="{864F3E44-3848-49E0-BF64-F15AC4C7C8E5}"/>
              </a:ext>
            </a:extLst>
          </p:cNvPr>
          <p:cNvSpPr txBox="1">
            <a:spLocks noChangeArrowheads="1"/>
          </p:cNvSpPr>
          <p:nvPr/>
        </p:nvSpPr>
        <p:spPr bwMode="auto">
          <a:xfrm>
            <a:off x="9989771" y="2185377"/>
            <a:ext cx="2570529"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85000"/>
              </a:lnSpc>
              <a:defRPr kumimoji="1">
                <a:solidFill>
                  <a:srgbClr val="104E87"/>
                </a:solidFill>
                <a:latin typeface="Comic Sans MS" panose="030F0702030302020204" pitchFamily="66" charset="0"/>
                <a:ea typeface="宋体" panose="02010600030101010101" pitchFamily="2" charset="-122"/>
              </a:defRPr>
            </a:lvl1pPr>
          </a:lstStyle>
          <a:p>
            <a:r>
              <a:rPr lang="en-US" altLang="en-US" spc="-100" dirty="0"/>
              <a:t>int main()</a:t>
            </a:r>
          </a:p>
          <a:p>
            <a:r>
              <a:rPr lang="en-US" altLang="en-US" spc="-100" dirty="0"/>
              <a:t>{INTEGER x(10);</a:t>
            </a:r>
          </a:p>
          <a:p>
            <a:r>
              <a:rPr lang="en-US" altLang="en-US" spc="-100" dirty="0" err="1"/>
              <a:t>x.print_int</a:t>
            </a:r>
            <a:r>
              <a:rPr lang="en-US" altLang="en-US" spc="-100" dirty="0"/>
              <a:t>(); </a:t>
            </a:r>
          </a:p>
          <a:p>
            <a:r>
              <a:rPr lang="en-US" altLang="en-US" spc="-100" dirty="0"/>
              <a:t>x=x+2;</a:t>
            </a:r>
          </a:p>
          <a:p>
            <a:r>
              <a:rPr lang="en-US" altLang="en-US" spc="-100" dirty="0"/>
              <a:t>x=2+x; </a:t>
            </a:r>
          </a:p>
          <a:p>
            <a:r>
              <a:rPr lang="en-US" altLang="en-US" spc="-100" dirty="0" err="1"/>
              <a:t>x.print_int</a:t>
            </a:r>
            <a:r>
              <a:rPr lang="en-US" altLang="en-US" spc="-100" dirty="0"/>
              <a:t>();</a:t>
            </a:r>
          </a:p>
          <a:p>
            <a:r>
              <a:rPr lang="en-US" altLang="en-US" spc="-100" dirty="0"/>
              <a:t>return 0;</a:t>
            </a:r>
          </a:p>
          <a:p>
            <a:r>
              <a:rPr lang="en-US" altLang="en-US" spc="-100" dirty="0"/>
              <a:t>}</a:t>
            </a:r>
          </a:p>
        </p:txBody>
      </p:sp>
    </p:spTree>
    <p:extLst>
      <p:ext uri="{BB962C8B-B14F-4D97-AF65-F5344CB8AC3E}">
        <p14:creationId xmlns:p14="http://schemas.microsoft.com/office/powerpoint/2010/main" val="122259990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arn(inVertical)">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B93A15E-95A4-4803-B6B7-408EEE304F5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12F22D8F-613C-43AA-B50E-A9DF0564403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0C21BE8E-EA55-46CB-8B38-FBA1A6ACC69C}"/>
              </a:ext>
            </a:extLst>
          </p:cNvPr>
          <p:cNvSpPr txBox="1"/>
          <p:nvPr/>
        </p:nvSpPr>
        <p:spPr>
          <a:xfrm>
            <a:off x="247719" y="224527"/>
            <a:ext cx="90135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非成员函数</a:t>
            </a:r>
            <a:r>
              <a:rPr lang="en-US" altLang="zh-CN" dirty="0">
                <a:sym typeface="+mn-lt"/>
              </a:rPr>
              <a:t>(</a:t>
            </a:r>
            <a:r>
              <a:rPr lang="zh-CN" altLang="en-US" dirty="0">
                <a:sym typeface="+mn-lt"/>
              </a:rPr>
              <a:t>友元函数</a:t>
            </a:r>
            <a:r>
              <a:rPr lang="en-US" altLang="zh-CN" dirty="0">
                <a:sym typeface="+mn-lt"/>
              </a:rPr>
              <a:t>)</a:t>
            </a:r>
            <a:endParaRPr lang="zh-CN" altLang="en-US" dirty="0">
              <a:sym typeface="+mn-lt"/>
            </a:endParaRPr>
          </a:p>
        </p:txBody>
      </p:sp>
      <p:sp>
        <p:nvSpPr>
          <p:cNvPr id="13" name="Rectangle 2">
            <a:extLst>
              <a:ext uri="{FF2B5EF4-FFF2-40B4-BE49-F238E27FC236}">
                <a16:creationId xmlns:a16="http://schemas.microsoft.com/office/drawing/2014/main" id="{54948883-E9F0-49AC-8D2C-487B2F5A36FF}"/>
              </a:ext>
            </a:extLst>
          </p:cNvPr>
          <p:cNvSpPr txBox="1">
            <a:spLocks noChangeArrowheads="1"/>
          </p:cNvSpPr>
          <p:nvPr/>
        </p:nvSpPr>
        <p:spPr>
          <a:xfrm>
            <a:off x="9395613" y="-20939"/>
            <a:ext cx="2796387" cy="1200329"/>
          </a:xfrm>
          <a:prstGeom prst="rect">
            <a:avLst/>
          </a:prstGeom>
          <a:solidFill>
            <a:srgbClr val="FFC000"/>
          </a:solidFill>
          <a:ln>
            <a:noFill/>
          </a:ln>
        </p:spPr>
        <p:txBody>
          <a:bodyPr wrap="square">
            <a:spAutoFit/>
          </a:bodyPr>
          <a:lstStyle>
            <a:defPPr>
              <a:defRPr lang="en-US"/>
            </a:defPPr>
            <a:lvl1pPr>
              <a:defRPr b="1">
                <a:solidFill>
                  <a:srgbClr val="104E87"/>
                </a:solidFill>
                <a:latin typeface="华光行书_CNKI" panose="02000500000000000000" pitchFamily="2" charset="-122"/>
                <a:ea typeface="华光行书_CNKI" panose="02000500000000000000"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zh-CN" altLang="en-US" dirty="0"/>
              <a:t>示例程序：</a:t>
            </a:r>
            <a:endParaRPr lang="en-US" altLang="zh-CN" dirty="0"/>
          </a:p>
          <a:p>
            <a:r>
              <a:rPr lang="zh-CN" altLang="en-US" dirty="0"/>
              <a:t>复数类</a:t>
            </a:r>
            <a:endParaRPr lang="en-US" altLang="zh-CN" dirty="0"/>
          </a:p>
          <a:p>
            <a:r>
              <a:rPr lang="en-US" altLang="zh-CN" dirty="0"/>
              <a:t>--</a:t>
            </a:r>
            <a:r>
              <a:rPr lang="zh-CN" altLang="en-US" dirty="0"/>
              <a:t>非成员函数实现</a:t>
            </a:r>
          </a:p>
        </p:txBody>
      </p:sp>
      <p:pic>
        <p:nvPicPr>
          <p:cNvPr id="15" name="图片 4">
            <a:extLst>
              <a:ext uri="{FF2B5EF4-FFF2-40B4-BE49-F238E27FC236}">
                <a16:creationId xmlns:a16="http://schemas.microsoft.com/office/drawing/2014/main" id="{73705EE7-D874-40B5-A27D-8AE12A3788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7031"/>
            <a:ext cx="8890000"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FA475A81-6C9D-61A3-0281-AB5C9B045D9D}"/>
              </a:ext>
            </a:extLst>
          </p:cNvPr>
          <p:cNvPicPr>
            <a:picLocks noChangeAspect="1"/>
          </p:cNvPicPr>
          <p:nvPr/>
        </p:nvPicPr>
        <p:blipFill>
          <a:blip r:embed="rId4"/>
          <a:stretch>
            <a:fillRect/>
          </a:stretch>
        </p:blipFill>
        <p:spPr>
          <a:xfrm>
            <a:off x="5930386" y="3021432"/>
            <a:ext cx="6172735" cy="3753140"/>
          </a:xfrm>
          <a:prstGeom prst="rect">
            <a:avLst/>
          </a:prstGeom>
        </p:spPr>
      </p:pic>
    </p:spTree>
    <p:extLst>
      <p:ext uri="{BB962C8B-B14F-4D97-AF65-F5344CB8AC3E}">
        <p14:creationId xmlns:p14="http://schemas.microsoft.com/office/powerpoint/2010/main" val="3479868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3">
            <a:extLst>
              <a:ext uri="{FF2B5EF4-FFF2-40B4-BE49-F238E27FC236}">
                <a16:creationId xmlns:a16="http://schemas.microsoft.com/office/drawing/2014/main" id="{2C2E399B-64CE-428A-9350-D8C5CAEB1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556"/>
            <a:ext cx="8154987"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5">
            <a:extLst>
              <a:ext uri="{FF2B5EF4-FFF2-40B4-BE49-F238E27FC236}">
                <a16:creationId xmlns:a16="http://schemas.microsoft.com/office/drawing/2014/main" id="{DD17B18D-9387-4E96-92A0-3C8CD3D540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 y="1797370"/>
            <a:ext cx="12092759" cy="96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6">
            <a:extLst>
              <a:ext uri="{FF2B5EF4-FFF2-40B4-BE49-F238E27FC236}">
                <a16:creationId xmlns:a16="http://schemas.microsoft.com/office/drawing/2014/main" id="{CE1556E4-0E79-408F-BF0B-954FDE6C4B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89" y="2804988"/>
            <a:ext cx="11983831" cy="113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7">
            <a:extLst>
              <a:ext uri="{FF2B5EF4-FFF2-40B4-BE49-F238E27FC236}">
                <a16:creationId xmlns:a16="http://schemas.microsoft.com/office/drawing/2014/main" id="{A6F66AC1-BE7F-46AA-A7B2-EE5A2CD218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89" y="3964524"/>
            <a:ext cx="4470401"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3110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453E5-EBB6-510E-BF74-7E31B6E3C857}"/>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A35ADA8E-BBD2-A93B-85C9-4E2262AB2F77}"/>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A6754547-55A6-1540-A07C-647DDD1348E0}"/>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0538735B-5C55-C76C-D5A2-DF259FF9D1A5}"/>
              </a:ext>
            </a:extLst>
          </p:cNvPr>
          <p:cNvSpPr txBox="1"/>
          <p:nvPr/>
        </p:nvSpPr>
        <p:spPr>
          <a:xfrm>
            <a:off x="247719" y="224527"/>
            <a:ext cx="90135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10.2 </a:t>
            </a:r>
            <a:r>
              <a:rPr lang="zh-CN" altLang="en-US" dirty="0">
                <a:sym typeface="+mn-lt"/>
              </a:rPr>
              <a:t>运算符重载</a:t>
            </a:r>
            <a:r>
              <a:rPr lang="en-US" altLang="zh-CN" dirty="0">
                <a:sym typeface="+mn-lt"/>
              </a:rPr>
              <a:t>——</a:t>
            </a:r>
            <a:r>
              <a:rPr lang="zh-CN" altLang="en-US" dirty="0">
                <a:sym typeface="+mn-lt"/>
              </a:rPr>
              <a:t>非成员函数</a:t>
            </a:r>
            <a:r>
              <a:rPr lang="en-US" altLang="zh-CN" dirty="0">
                <a:sym typeface="+mn-lt"/>
              </a:rPr>
              <a:t>(</a:t>
            </a:r>
            <a:r>
              <a:rPr lang="zh-CN" altLang="en-US" dirty="0">
                <a:sym typeface="+mn-lt"/>
              </a:rPr>
              <a:t>友元函数</a:t>
            </a:r>
            <a:r>
              <a:rPr lang="en-US" altLang="zh-CN" dirty="0">
                <a:sym typeface="+mn-lt"/>
              </a:rPr>
              <a:t>)</a:t>
            </a:r>
            <a:endParaRPr lang="zh-CN" altLang="en-US" dirty="0">
              <a:sym typeface="+mn-lt"/>
            </a:endParaRPr>
          </a:p>
        </p:txBody>
      </p:sp>
      <p:sp>
        <p:nvSpPr>
          <p:cNvPr id="13" name="Rectangle 2">
            <a:extLst>
              <a:ext uri="{FF2B5EF4-FFF2-40B4-BE49-F238E27FC236}">
                <a16:creationId xmlns:a16="http://schemas.microsoft.com/office/drawing/2014/main" id="{954CFC08-5FD1-6F50-FD2A-827040ABA03E}"/>
              </a:ext>
            </a:extLst>
          </p:cNvPr>
          <p:cNvSpPr txBox="1">
            <a:spLocks noChangeArrowheads="1"/>
          </p:cNvSpPr>
          <p:nvPr/>
        </p:nvSpPr>
        <p:spPr>
          <a:xfrm>
            <a:off x="9394365" y="0"/>
            <a:ext cx="2841220" cy="1200329"/>
          </a:xfrm>
          <a:prstGeom prst="rect">
            <a:avLst/>
          </a:prstGeom>
          <a:solidFill>
            <a:srgbClr val="FFC000"/>
          </a:solidFill>
          <a:ln>
            <a:noFill/>
          </a:ln>
        </p:spPr>
        <p:txBody>
          <a:bodyPr wrap="square">
            <a:spAutoFit/>
          </a:bodyPr>
          <a:lstStyle>
            <a:defPPr>
              <a:defRPr lang="en-US"/>
            </a:defPPr>
            <a:lvl1pPr>
              <a:defRPr b="1">
                <a:solidFill>
                  <a:srgbClr val="104E87"/>
                </a:solidFill>
                <a:latin typeface="华光行书_CNKI" panose="02000500000000000000" pitchFamily="2" charset="-122"/>
                <a:ea typeface="华光行书_CNKI" panose="02000500000000000000"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zh-CN" altLang="en-US" dirty="0"/>
              <a:t>示例程序：</a:t>
            </a:r>
            <a:endParaRPr lang="en-US" altLang="zh-CN" dirty="0"/>
          </a:p>
          <a:p>
            <a:r>
              <a:rPr lang="en-US" altLang="zh-CN" dirty="0"/>
              <a:t>++</a:t>
            </a:r>
            <a:r>
              <a:rPr lang="zh-CN" altLang="en-US" dirty="0"/>
              <a:t>，</a:t>
            </a:r>
            <a:r>
              <a:rPr lang="en-US" altLang="zh-CN" dirty="0"/>
              <a:t>--</a:t>
            </a:r>
          </a:p>
          <a:p>
            <a:r>
              <a:rPr lang="en-US" altLang="zh-CN" dirty="0"/>
              <a:t>--</a:t>
            </a:r>
            <a:r>
              <a:rPr lang="zh-CN" altLang="en-US" dirty="0"/>
              <a:t>非成员函数实现</a:t>
            </a:r>
          </a:p>
        </p:txBody>
      </p:sp>
      <p:sp>
        <p:nvSpPr>
          <p:cNvPr id="2" name="文本框 1">
            <a:extLst>
              <a:ext uri="{FF2B5EF4-FFF2-40B4-BE49-F238E27FC236}">
                <a16:creationId xmlns:a16="http://schemas.microsoft.com/office/drawing/2014/main" id="{EBB3BCE7-0035-C96D-3B9C-2842939D17B8}"/>
              </a:ext>
            </a:extLst>
          </p:cNvPr>
          <p:cNvSpPr txBox="1"/>
          <p:nvPr/>
        </p:nvSpPr>
        <p:spPr>
          <a:xfrm>
            <a:off x="1587" y="857031"/>
            <a:ext cx="7711535" cy="2923877"/>
          </a:xfrm>
          <a:prstGeom prst="rect">
            <a:avLst/>
          </a:prstGeom>
          <a:noFill/>
        </p:spPr>
        <p:txBody>
          <a:bodyPr wrap="square">
            <a:spAutoFit/>
          </a:bodyPr>
          <a:lstStyle/>
          <a:p>
            <a:r>
              <a:rPr lang="zh-CN" altLang="en-US" sz="2000" dirty="0">
                <a:solidFill>
                  <a:srgbClr val="104E87"/>
                </a:solidFill>
                <a:latin typeface="Comic Sans MS" panose="030F0702030302020204" pitchFamily="66" charset="0"/>
              </a:rPr>
              <a:t>class Clock	{	</a:t>
            </a:r>
          </a:p>
          <a:p>
            <a:r>
              <a:rPr lang="zh-CN" altLang="en-US" sz="2000" dirty="0">
                <a:solidFill>
                  <a:srgbClr val="104E87"/>
                </a:solidFill>
                <a:latin typeface="Comic Sans MS" panose="030F0702030302020204" pitchFamily="66" charset="0"/>
              </a:rPr>
              <a:t>public:	</a:t>
            </a:r>
          </a:p>
          <a:p>
            <a:r>
              <a:rPr lang="zh-CN" altLang="en-US" sz="2000" dirty="0">
                <a:solidFill>
                  <a:srgbClr val="104E87"/>
                </a:solidFill>
                <a:latin typeface="Comic Sans MS" panose="030F0702030302020204" pitchFamily="66" charset="0"/>
              </a:rPr>
              <a:t>	Clock(int hour = 0, int minute = 0, int second = 0);</a:t>
            </a:r>
          </a:p>
          <a:p>
            <a:r>
              <a:rPr lang="zh-CN" altLang="en-US" sz="2000" dirty="0">
                <a:solidFill>
                  <a:srgbClr val="104E87"/>
                </a:solidFill>
                <a:latin typeface="Comic Sans MS" panose="030F0702030302020204" pitchFamily="66" charset="0"/>
              </a:rPr>
              <a:t>	void showTime() const;</a:t>
            </a:r>
          </a:p>
          <a:p>
            <a:r>
              <a:rPr lang="zh-CN" altLang="en-US" sz="2000" dirty="0">
                <a:solidFill>
                  <a:srgbClr val="104E87"/>
                </a:solidFill>
                <a:latin typeface="Comic Sans MS" panose="030F0702030302020204" pitchFamily="66" charset="0"/>
              </a:rPr>
              <a:t>	</a:t>
            </a:r>
            <a:endParaRPr lang="en-US" altLang="zh-CN" sz="2000" dirty="0">
              <a:solidFill>
                <a:srgbClr val="104E87"/>
              </a:solidFill>
              <a:latin typeface="Comic Sans MS" panose="030F0702030302020204" pitchFamily="66" charset="0"/>
            </a:endParaRPr>
          </a:p>
          <a:p>
            <a:endParaRPr lang="en-US" altLang="zh-CN" sz="2000" dirty="0">
              <a:solidFill>
                <a:srgbClr val="104E87"/>
              </a:solidFill>
              <a:latin typeface="Comic Sans MS" panose="030F0702030302020204" pitchFamily="66" charset="0"/>
            </a:endParaRPr>
          </a:p>
          <a:p>
            <a:r>
              <a:rPr lang="zh-CN" altLang="en-US" sz="2000" dirty="0">
                <a:solidFill>
                  <a:srgbClr val="104E87"/>
                </a:solidFill>
                <a:latin typeface="Comic Sans MS" panose="030F0702030302020204" pitchFamily="66" charset="0"/>
              </a:rPr>
              <a:t>private:</a:t>
            </a:r>
          </a:p>
          <a:p>
            <a:r>
              <a:rPr lang="zh-CN" altLang="en-US" sz="2000" dirty="0">
                <a:solidFill>
                  <a:srgbClr val="104E87"/>
                </a:solidFill>
                <a:latin typeface="Comic Sans MS" panose="030F0702030302020204" pitchFamily="66" charset="0"/>
              </a:rPr>
              <a:t>	int hour, minute, second;</a:t>
            </a:r>
          </a:p>
          <a:p>
            <a:r>
              <a:rPr lang="zh-CN" altLang="en-US" sz="2000" dirty="0">
                <a:solidFill>
                  <a:srgbClr val="104E87"/>
                </a:solidFill>
                <a:latin typeface="Comic Sans MS" panose="030F0702030302020204" pitchFamily="66" charset="0"/>
              </a:rPr>
              <a:t>};</a:t>
            </a:r>
          </a:p>
        </p:txBody>
      </p:sp>
      <p:sp>
        <p:nvSpPr>
          <p:cNvPr id="5" name="文本框 4">
            <a:extLst>
              <a:ext uri="{FF2B5EF4-FFF2-40B4-BE49-F238E27FC236}">
                <a16:creationId xmlns:a16="http://schemas.microsoft.com/office/drawing/2014/main" id="{77A1AD77-7887-3C1B-760C-210F1FC6AEF9}"/>
              </a:ext>
            </a:extLst>
          </p:cNvPr>
          <p:cNvSpPr txBox="1"/>
          <p:nvPr/>
        </p:nvSpPr>
        <p:spPr>
          <a:xfrm>
            <a:off x="595883" y="2116509"/>
            <a:ext cx="6334125" cy="701731"/>
          </a:xfrm>
          <a:prstGeom prst="rect">
            <a:avLst/>
          </a:prstGeom>
          <a:noFill/>
        </p:spPr>
        <p:txBody>
          <a:bodyPr wrap="square">
            <a:spAutoFit/>
          </a:bodyPr>
          <a:lstStyle>
            <a:defPPr>
              <a:defRPr lang="en-US"/>
            </a:defPPr>
            <a:lvl1pPr>
              <a:lnSpc>
                <a:spcPct val="80000"/>
              </a:lnSpc>
              <a:defRPr b="1">
                <a:solidFill>
                  <a:srgbClr val="FF0000"/>
                </a:solidFill>
                <a:latin typeface="华光行书_CNKI" panose="02000500000000000000" pitchFamily="2" charset="-122"/>
                <a:ea typeface="华光行书_CNKI" panose="02000500000000000000" pitchFamily="2" charset="-122"/>
              </a:defRPr>
            </a:lvl1pPr>
          </a:lstStyle>
          <a:p>
            <a:r>
              <a:rPr lang="en-US" altLang="zh-CN" dirty="0"/>
              <a:t>friend </a:t>
            </a:r>
            <a:r>
              <a:rPr lang="zh-CN" altLang="en-US" b="1" dirty="0">
                <a:solidFill>
                  <a:srgbClr val="FF0000"/>
                </a:solidFill>
                <a:latin typeface="华光行书_CNKI" panose="02000500000000000000" pitchFamily="2" charset="-122"/>
                <a:ea typeface="华光行书_CNKI" panose="02000500000000000000" pitchFamily="2" charset="-122"/>
              </a:rPr>
              <a:t>Clock</a:t>
            </a:r>
            <a:r>
              <a:rPr lang="en-US" altLang="zh-CN" b="1" dirty="0">
                <a:solidFill>
                  <a:srgbClr val="FF0000"/>
                </a:solidFill>
                <a:latin typeface="华光行书_CNKI" panose="02000500000000000000" pitchFamily="2" charset="-122"/>
                <a:ea typeface="华光行书_CNKI" panose="02000500000000000000" pitchFamily="2" charset="-122"/>
              </a:rPr>
              <a:t>&amp;</a:t>
            </a:r>
            <a:r>
              <a:rPr lang="en-US" altLang="zh-CN" dirty="0"/>
              <a:t> operator++(</a:t>
            </a:r>
            <a:r>
              <a:rPr lang="zh-CN" altLang="en-US" b="1" dirty="0">
                <a:solidFill>
                  <a:srgbClr val="FF0000"/>
                </a:solidFill>
                <a:latin typeface="华光行书_CNKI" panose="02000500000000000000" pitchFamily="2" charset="-122"/>
                <a:ea typeface="华光行书_CNKI" panose="02000500000000000000" pitchFamily="2" charset="-122"/>
              </a:rPr>
              <a:t>Clock</a:t>
            </a:r>
            <a:r>
              <a:rPr lang="en-US" altLang="zh-CN" dirty="0"/>
              <a:t> &amp;c);</a:t>
            </a:r>
            <a:r>
              <a:rPr lang="zh-CN" altLang="en-US" dirty="0">
                <a:solidFill>
                  <a:srgbClr val="104E87"/>
                </a:solidFill>
                <a:latin typeface="华光行书_CNKI" panose="02000500000000000000" pitchFamily="2" charset="-122"/>
                <a:ea typeface="华光行书_CNKI" panose="02000500000000000000" pitchFamily="2" charset="-122"/>
              </a:rPr>
              <a:t> //前置</a:t>
            </a:r>
            <a:endParaRPr lang="en-US" altLang="zh-CN" dirty="0"/>
          </a:p>
          <a:p>
            <a:r>
              <a:rPr lang="en-US" altLang="zh-CN" dirty="0"/>
              <a:t>friend </a:t>
            </a:r>
            <a:r>
              <a:rPr lang="zh-CN" altLang="en-US" b="1" dirty="0">
                <a:solidFill>
                  <a:srgbClr val="FF0000"/>
                </a:solidFill>
                <a:latin typeface="华光行书_CNKI" panose="02000500000000000000" pitchFamily="2" charset="-122"/>
                <a:ea typeface="华光行书_CNKI" panose="02000500000000000000" pitchFamily="2" charset="-122"/>
              </a:rPr>
              <a:t>Clock</a:t>
            </a:r>
            <a:r>
              <a:rPr lang="en-US" altLang="zh-CN" dirty="0"/>
              <a:t> operator++(</a:t>
            </a:r>
            <a:r>
              <a:rPr lang="zh-CN" altLang="en-US" b="1" dirty="0">
                <a:solidFill>
                  <a:srgbClr val="FF0000"/>
                </a:solidFill>
                <a:latin typeface="华光行书_CNKI" panose="02000500000000000000" pitchFamily="2" charset="-122"/>
                <a:ea typeface="华光行书_CNKI" panose="02000500000000000000" pitchFamily="2" charset="-122"/>
              </a:rPr>
              <a:t>Clock</a:t>
            </a:r>
            <a:r>
              <a:rPr lang="en-US" altLang="zh-CN" dirty="0"/>
              <a:t> &amp;</a:t>
            </a:r>
            <a:r>
              <a:rPr lang="en-US" altLang="zh-CN" dirty="0" err="1"/>
              <a:t>c,int</a:t>
            </a:r>
            <a:r>
              <a:rPr lang="en-US" altLang="zh-CN" dirty="0"/>
              <a:t>);</a:t>
            </a:r>
            <a:r>
              <a:rPr lang="zh-CN" altLang="en-US" dirty="0">
                <a:solidFill>
                  <a:srgbClr val="104E87"/>
                </a:solidFill>
                <a:latin typeface="华光行书_CNKI" panose="02000500000000000000" pitchFamily="2" charset="-122"/>
                <a:ea typeface="华光行书_CNKI" panose="02000500000000000000" pitchFamily="2" charset="-122"/>
              </a:rPr>
              <a:t> //后置</a:t>
            </a:r>
            <a:endParaRPr lang="en-US" altLang="zh-CN" dirty="0"/>
          </a:p>
        </p:txBody>
      </p:sp>
      <p:sp>
        <p:nvSpPr>
          <p:cNvPr id="11" name="文本框 10">
            <a:extLst>
              <a:ext uri="{FF2B5EF4-FFF2-40B4-BE49-F238E27FC236}">
                <a16:creationId xmlns:a16="http://schemas.microsoft.com/office/drawing/2014/main" id="{FC728C24-7B53-AE19-C0F0-86AF48089131}"/>
              </a:ext>
            </a:extLst>
          </p:cNvPr>
          <p:cNvSpPr txBox="1"/>
          <p:nvPr/>
        </p:nvSpPr>
        <p:spPr>
          <a:xfrm>
            <a:off x="7325211" y="1503544"/>
            <a:ext cx="4865202" cy="3785652"/>
          </a:xfrm>
          <a:prstGeom prst="rect">
            <a:avLst/>
          </a:prstGeom>
          <a:solidFill>
            <a:schemeClr val="accent5">
              <a:lumMod val="40000"/>
              <a:lumOff val="60000"/>
            </a:schemeClr>
          </a:solidFill>
        </p:spPr>
        <p:txBody>
          <a:bodyPr wrap="square">
            <a:spAutoFit/>
          </a:bodyPr>
          <a:lstStyle>
            <a:defPPr>
              <a:defRPr lang="en-US"/>
            </a:defPPr>
            <a:lvl1pPr>
              <a:defRPr sz="2000">
                <a:solidFill>
                  <a:srgbClr val="104E87"/>
                </a:solidFill>
                <a:latin typeface="Comic Sans MS" panose="030F0702030302020204" pitchFamily="66" charset="0"/>
              </a:defRPr>
            </a:lvl1pPr>
          </a:lstStyle>
          <a:p>
            <a:r>
              <a:rPr lang="en-US" altLang="zh-CN" dirty="0"/>
              <a:t>Clock&amp; operator ++ (</a:t>
            </a:r>
            <a:r>
              <a:rPr lang="zh-CN" altLang="en-US" b="1" dirty="0">
                <a:solidFill>
                  <a:srgbClr val="FF0000"/>
                </a:solidFill>
                <a:latin typeface="华光行书_CNKI" panose="02000500000000000000" pitchFamily="2" charset="-122"/>
                <a:ea typeface="华光行书_CNKI" panose="02000500000000000000" pitchFamily="2" charset="-122"/>
              </a:rPr>
              <a:t>Clock</a:t>
            </a:r>
            <a:r>
              <a:rPr lang="en-US" altLang="zh-CN" dirty="0"/>
              <a:t> &amp;c) {	</a:t>
            </a:r>
            <a:endParaRPr lang="zh-CN" altLang="en-US" dirty="0"/>
          </a:p>
          <a:p>
            <a:r>
              <a:rPr lang="zh-CN" altLang="en-US" dirty="0"/>
              <a:t>	</a:t>
            </a:r>
            <a:r>
              <a:rPr lang="en-US" altLang="zh-CN" dirty="0" err="1"/>
              <a:t>c.second</a:t>
            </a:r>
            <a:r>
              <a:rPr lang="en-US" altLang="zh-CN" dirty="0"/>
              <a:t>++;</a:t>
            </a:r>
          </a:p>
          <a:p>
            <a:r>
              <a:rPr lang="en-US" altLang="zh-CN" dirty="0"/>
              <a:t>	if (</a:t>
            </a:r>
            <a:r>
              <a:rPr lang="en-US" altLang="zh-CN" dirty="0" err="1"/>
              <a:t>c.second</a:t>
            </a:r>
            <a:r>
              <a:rPr lang="en-US" altLang="zh-CN" dirty="0"/>
              <a:t> &gt;= 60) {</a:t>
            </a:r>
          </a:p>
          <a:p>
            <a:r>
              <a:rPr lang="en-US" altLang="zh-CN" dirty="0"/>
              <a:t>		</a:t>
            </a:r>
            <a:r>
              <a:rPr lang="en-US" altLang="zh-CN" dirty="0" err="1"/>
              <a:t>c.second</a:t>
            </a:r>
            <a:r>
              <a:rPr lang="en-US" altLang="zh-CN" dirty="0"/>
              <a:t> -= 60;</a:t>
            </a:r>
          </a:p>
          <a:p>
            <a:r>
              <a:rPr lang="en-US" altLang="zh-CN" dirty="0"/>
              <a:t>		</a:t>
            </a:r>
            <a:r>
              <a:rPr lang="en-US" altLang="zh-CN" dirty="0" err="1"/>
              <a:t>c.minute</a:t>
            </a:r>
            <a:r>
              <a:rPr lang="en-US" altLang="zh-CN" dirty="0"/>
              <a:t>++;</a:t>
            </a:r>
          </a:p>
          <a:p>
            <a:r>
              <a:rPr lang="en-US" altLang="zh-CN" dirty="0"/>
              <a:t>		if (</a:t>
            </a:r>
            <a:r>
              <a:rPr lang="en-US" altLang="zh-CN" dirty="0" err="1"/>
              <a:t>c.minute</a:t>
            </a:r>
            <a:r>
              <a:rPr lang="en-US" altLang="zh-CN" dirty="0"/>
              <a:t> &gt;= 60) {</a:t>
            </a:r>
          </a:p>
          <a:p>
            <a:r>
              <a:rPr lang="en-US" altLang="zh-CN" dirty="0"/>
              <a:t>			</a:t>
            </a:r>
            <a:r>
              <a:rPr lang="en-US" altLang="zh-CN" dirty="0" err="1"/>
              <a:t>c.minute</a:t>
            </a:r>
            <a:r>
              <a:rPr lang="en-US" altLang="zh-CN" dirty="0"/>
              <a:t> -= 60;</a:t>
            </a:r>
          </a:p>
          <a:p>
            <a:r>
              <a:rPr lang="en-US" altLang="zh-CN" dirty="0"/>
              <a:t>			</a:t>
            </a:r>
            <a:r>
              <a:rPr lang="en-US" altLang="zh-CN" dirty="0" err="1"/>
              <a:t>c.hour</a:t>
            </a:r>
            <a:r>
              <a:rPr lang="en-US" altLang="zh-CN" dirty="0"/>
              <a:t> = (hour + 1) % 24;</a:t>
            </a:r>
          </a:p>
          <a:p>
            <a:r>
              <a:rPr lang="en-US" altLang="zh-CN" dirty="0"/>
              <a:t>		}</a:t>
            </a:r>
          </a:p>
          <a:p>
            <a:r>
              <a:rPr lang="en-US" altLang="zh-CN" dirty="0"/>
              <a:t>	}</a:t>
            </a:r>
          </a:p>
          <a:p>
            <a:r>
              <a:rPr lang="en-US" altLang="zh-CN" dirty="0"/>
              <a:t>	return c;</a:t>
            </a:r>
          </a:p>
          <a:p>
            <a:r>
              <a:rPr lang="en-US" altLang="zh-CN" dirty="0"/>
              <a:t>}</a:t>
            </a:r>
          </a:p>
        </p:txBody>
      </p:sp>
      <p:sp>
        <p:nvSpPr>
          <p:cNvPr id="16" name="文本框 15">
            <a:extLst>
              <a:ext uri="{FF2B5EF4-FFF2-40B4-BE49-F238E27FC236}">
                <a16:creationId xmlns:a16="http://schemas.microsoft.com/office/drawing/2014/main" id="{6F84FEB4-A371-FED5-6447-CDF37B76889E}"/>
              </a:ext>
            </a:extLst>
          </p:cNvPr>
          <p:cNvSpPr txBox="1"/>
          <p:nvPr/>
        </p:nvSpPr>
        <p:spPr>
          <a:xfrm>
            <a:off x="3241629" y="3587288"/>
            <a:ext cx="3688379" cy="1631216"/>
          </a:xfrm>
          <a:prstGeom prst="rect">
            <a:avLst/>
          </a:prstGeom>
          <a:solidFill>
            <a:schemeClr val="accent5">
              <a:lumMod val="40000"/>
              <a:lumOff val="60000"/>
            </a:schemeClr>
          </a:solidFill>
        </p:spPr>
        <p:txBody>
          <a:bodyPr wrap="square">
            <a:spAutoFit/>
          </a:bodyPr>
          <a:lstStyle>
            <a:defPPr>
              <a:defRPr lang="en-US"/>
            </a:defPPr>
            <a:lvl1pPr>
              <a:defRPr sz="2000">
                <a:solidFill>
                  <a:srgbClr val="104E87"/>
                </a:solidFill>
                <a:latin typeface="Comic Sans MS" panose="030F0702030302020204" pitchFamily="66" charset="0"/>
              </a:defRPr>
            </a:lvl1pPr>
          </a:lstStyle>
          <a:p>
            <a:r>
              <a:rPr lang="en-US" altLang="zh-CN" dirty="0"/>
              <a:t>Clock operator ++ (</a:t>
            </a:r>
            <a:r>
              <a:rPr lang="zh-CN" altLang="en-US" dirty="0"/>
              <a:t>Clock</a:t>
            </a:r>
            <a:r>
              <a:rPr lang="en-US" altLang="zh-CN" dirty="0"/>
              <a:t> &amp;c) {</a:t>
            </a:r>
          </a:p>
          <a:p>
            <a:r>
              <a:rPr lang="en-US" altLang="zh-CN" dirty="0"/>
              <a:t>	Clock old = *c;</a:t>
            </a:r>
          </a:p>
          <a:p>
            <a:r>
              <a:rPr lang="en-US" altLang="zh-CN" dirty="0"/>
              <a:t>	++c;</a:t>
            </a:r>
            <a:endParaRPr lang="zh-CN" altLang="en-US" dirty="0"/>
          </a:p>
          <a:p>
            <a:r>
              <a:rPr lang="en-US" altLang="zh-CN" dirty="0"/>
              <a:t>	return old;</a:t>
            </a:r>
          </a:p>
          <a:p>
            <a:r>
              <a:rPr lang="en-US" altLang="zh-CN" dirty="0"/>
              <a:t>}</a:t>
            </a:r>
            <a:endParaRPr lang="zh-CN" altLang="en-US" dirty="0"/>
          </a:p>
        </p:txBody>
      </p:sp>
    </p:spTree>
    <p:extLst>
      <p:ext uri="{BB962C8B-B14F-4D97-AF65-F5344CB8AC3E}">
        <p14:creationId xmlns:p14="http://schemas.microsoft.com/office/powerpoint/2010/main" val="2248054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B93A15E-95A4-4803-B6B7-408EEE304F5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12F22D8F-613C-43AA-B50E-A9DF0564403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23" name="文本框 22">
            <a:extLst>
              <a:ext uri="{FF2B5EF4-FFF2-40B4-BE49-F238E27FC236}">
                <a16:creationId xmlns:a16="http://schemas.microsoft.com/office/drawing/2014/main" id="{F841950C-6D24-450F-BB28-71F28B1498ED}"/>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12" name="Rectangle 2">
            <a:extLst>
              <a:ext uri="{FF2B5EF4-FFF2-40B4-BE49-F238E27FC236}">
                <a16:creationId xmlns:a16="http://schemas.microsoft.com/office/drawing/2014/main" id="{8F69BB48-D8CA-4D37-9C7D-21C804C2C83A}"/>
              </a:ext>
            </a:extLst>
          </p:cNvPr>
          <p:cNvSpPr>
            <a:spLocks noChangeArrowheads="1"/>
          </p:cNvSpPr>
          <p:nvPr/>
        </p:nvSpPr>
        <p:spPr bwMode="auto">
          <a:xfrm>
            <a:off x="87679" y="1533880"/>
            <a:ext cx="6324601" cy="385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class Base{</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public: void who()</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r>
              <a:rPr kumimoji="1" lang="en-US" altLang="zh-CN" dirty="0" err="1">
                <a:solidFill>
                  <a:srgbClr val="104E87"/>
                </a:solidFill>
                <a:latin typeface="Comic Sans MS" panose="030F0702030302020204" pitchFamily="66" charset="0"/>
                <a:ea typeface="宋体" panose="02010600030101010101" pitchFamily="2" charset="-122"/>
              </a:rPr>
              <a:t>cout</a:t>
            </a:r>
            <a:r>
              <a:rPr kumimoji="1" lang="en-US" altLang="zh-CN" dirty="0">
                <a:solidFill>
                  <a:srgbClr val="104E87"/>
                </a:solidFill>
                <a:latin typeface="Comic Sans MS" panose="030F0702030302020204" pitchFamily="66" charset="0"/>
                <a:ea typeface="宋体" panose="02010600030101010101" pitchFamily="2" charset="-122"/>
              </a:rPr>
              <a:t>&lt;&lt;"base"&lt;&lt;</a:t>
            </a:r>
            <a:r>
              <a:rPr kumimoji="1" lang="en-US" altLang="zh-CN" dirty="0" err="1">
                <a:solidFill>
                  <a:srgbClr val="104E87"/>
                </a:solidFill>
                <a:latin typeface="Comic Sans MS" panose="030F0702030302020204" pitchFamily="66" charset="0"/>
                <a:ea typeface="宋体" panose="02010600030101010101" pitchFamily="2" charset="-122"/>
              </a:rPr>
              <a:t>endl</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class </a:t>
            </a:r>
            <a:r>
              <a:rPr kumimoji="1" lang="en-US" altLang="zh-CN" dirty="0" err="1">
                <a:solidFill>
                  <a:srgbClr val="104E87"/>
                </a:solidFill>
                <a:latin typeface="Comic Sans MS" panose="030F0702030302020204" pitchFamily="66" charset="0"/>
                <a:ea typeface="宋体" panose="02010600030101010101" pitchFamily="2" charset="-122"/>
              </a:rPr>
              <a:t>Firstderived:</a:t>
            </a:r>
            <a:r>
              <a:rPr kumimoji="1" lang="en-US" altLang="zh-CN" dirty="0" err="1">
                <a:solidFill>
                  <a:srgbClr val="FF0000"/>
                </a:solidFill>
                <a:latin typeface="Comic Sans MS" panose="030F0702030302020204" pitchFamily="66" charset="0"/>
                <a:ea typeface="宋体" panose="02010600030101010101" pitchFamily="2" charset="-122"/>
              </a:rPr>
              <a:t>public</a:t>
            </a:r>
            <a:r>
              <a:rPr kumimoji="1" lang="en-US" altLang="zh-CN" dirty="0">
                <a:solidFill>
                  <a:srgbClr val="104E87"/>
                </a:solidFill>
                <a:latin typeface="Comic Sans MS" panose="030F0702030302020204" pitchFamily="66" charset="0"/>
                <a:ea typeface="宋体" panose="02010600030101010101" pitchFamily="2" charset="-122"/>
              </a:rPr>
              <a:t> Base</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{public: void who()</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r>
              <a:rPr kumimoji="1" lang="en-US" altLang="zh-CN" dirty="0" err="1">
                <a:solidFill>
                  <a:srgbClr val="104E87"/>
                </a:solidFill>
                <a:latin typeface="Comic Sans MS" panose="030F0702030302020204" pitchFamily="66" charset="0"/>
                <a:ea typeface="宋体" panose="02010600030101010101" pitchFamily="2" charset="-122"/>
              </a:rPr>
              <a:t>cout</a:t>
            </a:r>
            <a:r>
              <a:rPr kumimoji="1" lang="en-US" altLang="zh-CN" dirty="0">
                <a:solidFill>
                  <a:srgbClr val="104E87"/>
                </a:solidFill>
                <a:latin typeface="Comic Sans MS" panose="030F0702030302020204" pitchFamily="66" charset="0"/>
                <a:ea typeface="宋体" panose="02010600030101010101" pitchFamily="2" charset="-122"/>
              </a:rPr>
              <a:t>&lt;&lt;"</a:t>
            </a:r>
            <a:r>
              <a:rPr kumimoji="1" lang="en-US" altLang="zh-CN" dirty="0" err="1">
                <a:solidFill>
                  <a:srgbClr val="104E87"/>
                </a:solidFill>
                <a:latin typeface="Comic Sans MS" panose="030F0702030302020204" pitchFamily="66" charset="0"/>
                <a:ea typeface="宋体" panose="02010600030101010101" pitchFamily="2" charset="-122"/>
              </a:rPr>
              <a:t>Firstderived</a:t>
            </a:r>
            <a:r>
              <a:rPr kumimoji="1" lang="en-US" altLang="zh-CN" dirty="0">
                <a:solidFill>
                  <a:srgbClr val="104E87"/>
                </a:solidFill>
                <a:latin typeface="Comic Sans MS" panose="030F0702030302020204" pitchFamily="66" charset="0"/>
                <a:ea typeface="宋体" panose="02010600030101010101" pitchFamily="2" charset="-122"/>
              </a:rPr>
              <a:t>"&lt;&lt;</a:t>
            </a:r>
            <a:r>
              <a:rPr kumimoji="1" lang="en-US" altLang="zh-CN" dirty="0" err="1">
                <a:solidFill>
                  <a:srgbClr val="104E87"/>
                </a:solidFill>
                <a:latin typeface="Comic Sans MS" panose="030F0702030302020204" pitchFamily="66" charset="0"/>
                <a:ea typeface="宋体" panose="02010600030101010101" pitchFamily="2" charset="-122"/>
              </a:rPr>
              <a:t>endl</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class </a:t>
            </a:r>
            <a:r>
              <a:rPr kumimoji="1" lang="en-US" altLang="zh-CN" dirty="0" err="1">
                <a:solidFill>
                  <a:srgbClr val="104E87"/>
                </a:solidFill>
                <a:latin typeface="Comic Sans MS" panose="030F0702030302020204" pitchFamily="66" charset="0"/>
                <a:ea typeface="宋体" panose="02010600030101010101" pitchFamily="2" charset="-122"/>
              </a:rPr>
              <a:t>Secondderived:</a:t>
            </a:r>
            <a:r>
              <a:rPr kumimoji="1" lang="en-US" altLang="zh-CN" dirty="0" err="1">
                <a:solidFill>
                  <a:srgbClr val="FF0000"/>
                </a:solidFill>
                <a:latin typeface="Comic Sans MS" panose="030F0702030302020204" pitchFamily="66" charset="0"/>
                <a:ea typeface="宋体" panose="02010600030101010101" pitchFamily="2" charset="-122"/>
              </a:rPr>
              <a:t>public</a:t>
            </a:r>
            <a:r>
              <a:rPr kumimoji="1" lang="en-US" altLang="zh-CN" dirty="0">
                <a:solidFill>
                  <a:srgbClr val="FF0000"/>
                </a:solidFill>
                <a:latin typeface="Comic Sans MS" panose="030F0702030302020204" pitchFamily="66" charset="0"/>
                <a:ea typeface="宋体" panose="02010600030101010101" pitchFamily="2" charset="-122"/>
              </a:rPr>
              <a:t> </a:t>
            </a:r>
            <a:r>
              <a:rPr kumimoji="1" lang="en-US" altLang="zh-CN" dirty="0">
                <a:solidFill>
                  <a:srgbClr val="104E87"/>
                </a:solidFill>
                <a:latin typeface="Comic Sans MS" panose="030F0702030302020204" pitchFamily="66" charset="0"/>
                <a:ea typeface="宋体" panose="02010600030101010101" pitchFamily="2" charset="-122"/>
              </a:rPr>
              <a:t>Base</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{public: void who()</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r>
              <a:rPr kumimoji="1" lang="en-US" altLang="zh-CN" dirty="0" err="1">
                <a:solidFill>
                  <a:srgbClr val="104E87"/>
                </a:solidFill>
                <a:latin typeface="Comic Sans MS" panose="030F0702030302020204" pitchFamily="66" charset="0"/>
                <a:ea typeface="宋体" panose="02010600030101010101" pitchFamily="2" charset="-122"/>
              </a:rPr>
              <a:t>cout</a:t>
            </a:r>
            <a:r>
              <a:rPr kumimoji="1" lang="en-US" altLang="zh-CN" dirty="0">
                <a:solidFill>
                  <a:srgbClr val="104E87"/>
                </a:solidFill>
                <a:latin typeface="Comic Sans MS" panose="030F0702030302020204" pitchFamily="66" charset="0"/>
                <a:ea typeface="宋体" panose="02010600030101010101" pitchFamily="2" charset="-122"/>
              </a:rPr>
              <a:t>&lt;&lt;"</a:t>
            </a:r>
            <a:r>
              <a:rPr kumimoji="1" lang="en-US" altLang="zh-CN" dirty="0" err="1">
                <a:solidFill>
                  <a:srgbClr val="104E87"/>
                </a:solidFill>
                <a:latin typeface="Comic Sans MS" panose="030F0702030302020204" pitchFamily="66" charset="0"/>
                <a:ea typeface="宋体" panose="02010600030101010101" pitchFamily="2" charset="-122"/>
              </a:rPr>
              <a:t>Secondderived</a:t>
            </a:r>
            <a:r>
              <a:rPr kumimoji="1" lang="en-US" altLang="zh-CN" dirty="0">
                <a:solidFill>
                  <a:srgbClr val="104E87"/>
                </a:solidFill>
                <a:latin typeface="Comic Sans MS" panose="030F0702030302020204" pitchFamily="66" charset="0"/>
                <a:ea typeface="宋体" panose="02010600030101010101" pitchFamily="2" charset="-122"/>
              </a:rPr>
              <a:t>"&lt;&lt;</a:t>
            </a:r>
            <a:r>
              <a:rPr kumimoji="1" lang="en-US" altLang="zh-CN" dirty="0" err="1">
                <a:solidFill>
                  <a:srgbClr val="104E87"/>
                </a:solidFill>
                <a:latin typeface="Comic Sans MS" panose="030F0702030302020204" pitchFamily="66" charset="0"/>
                <a:ea typeface="宋体" panose="02010600030101010101" pitchFamily="2" charset="-122"/>
              </a:rPr>
              <a:t>endl</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p>
        </p:txBody>
      </p:sp>
      <p:sp>
        <p:nvSpPr>
          <p:cNvPr id="13" name="矩形 12">
            <a:extLst>
              <a:ext uri="{FF2B5EF4-FFF2-40B4-BE49-F238E27FC236}">
                <a16:creationId xmlns:a16="http://schemas.microsoft.com/office/drawing/2014/main" id="{DC1F10FD-D383-40D5-88F2-4DCE9CA3DF94}"/>
              </a:ext>
            </a:extLst>
          </p:cNvPr>
          <p:cNvSpPr>
            <a:spLocks noChangeArrowheads="1"/>
          </p:cNvSpPr>
          <p:nvPr/>
        </p:nvSpPr>
        <p:spPr bwMode="auto">
          <a:xfrm>
            <a:off x="4749801" y="1800836"/>
            <a:ext cx="4356100" cy="4326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int main( )</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Base </a:t>
            </a:r>
            <a:r>
              <a:rPr kumimoji="1" lang="en-US" altLang="zh-CN" dirty="0" err="1">
                <a:solidFill>
                  <a:srgbClr val="104E87"/>
                </a:solidFill>
                <a:latin typeface="Comic Sans MS" panose="030F0702030302020204" pitchFamily="66" charset="0"/>
                <a:ea typeface="宋体" panose="02010600030101010101" pitchFamily="2" charset="-122"/>
              </a:rPr>
              <a:t>b_obj</a:t>
            </a:r>
            <a:r>
              <a:rPr kumimoji="1" lang="en-US" altLang="zh-CN" dirty="0">
                <a:solidFill>
                  <a:srgbClr val="104E87"/>
                </a:solidFill>
                <a:latin typeface="Comic Sans MS" panose="030F0702030302020204" pitchFamily="66" charset="0"/>
                <a:ea typeface="宋体" panose="02010600030101010101" pitchFamily="2" charset="-122"/>
              </a:rPr>
              <a:t>;	</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a:t>
            </a:r>
            <a:r>
              <a:rPr kumimoji="1" lang="en-US" altLang="zh-CN" dirty="0" err="1">
                <a:solidFill>
                  <a:srgbClr val="104E87"/>
                </a:solidFill>
                <a:latin typeface="Comic Sans MS" panose="030F0702030302020204" pitchFamily="66" charset="0"/>
                <a:ea typeface="宋体" panose="02010600030101010101" pitchFamily="2" charset="-122"/>
              </a:rPr>
              <a:t>Firstderived</a:t>
            </a:r>
            <a:r>
              <a:rPr kumimoji="1" lang="en-US" altLang="zh-CN" dirty="0">
                <a:solidFill>
                  <a:srgbClr val="104E87"/>
                </a:solidFill>
                <a:latin typeface="Comic Sans MS" panose="030F0702030302020204" pitchFamily="66" charset="0"/>
                <a:ea typeface="宋体" panose="02010600030101010101" pitchFamily="2" charset="-122"/>
              </a:rPr>
              <a:t> </a:t>
            </a:r>
            <a:r>
              <a:rPr kumimoji="1" lang="en-US" altLang="zh-CN" dirty="0" err="1">
                <a:solidFill>
                  <a:srgbClr val="104E87"/>
                </a:solidFill>
                <a:latin typeface="Comic Sans MS" panose="030F0702030302020204" pitchFamily="66" charset="0"/>
                <a:ea typeface="宋体" panose="02010600030101010101" pitchFamily="2" charset="-122"/>
              </a:rPr>
              <a:t>f_obj</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a:t>
            </a:r>
            <a:r>
              <a:rPr kumimoji="1" lang="en-US" altLang="zh-CN" dirty="0" err="1">
                <a:solidFill>
                  <a:srgbClr val="104E87"/>
                </a:solidFill>
                <a:latin typeface="Comic Sans MS" panose="030F0702030302020204" pitchFamily="66" charset="0"/>
                <a:ea typeface="宋体" panose="02010600030101010101" pitchFamily="2" charset="-122"/>
              </a:rPr>
              <a:t>Secondderived</a:t>
            </a:r>
            <a:r>
              <a:rPr kumimoji="1" lang="en-US" altLang="zh-CN" dirty="0">
                <a:solidFill>
                  <a:srgbClr val="104E87"/>
                </a:solidFill>
                <a:latin typeface="Comic Sans MS" panose="030F0702030302020204" pitchFamily="66" charset="0"/>
                <a:ea typeface="宋体" panose="02010600030101010101" pitchFamily="2" charset="-122"/>
              </a:rPr>
              <a:t> </a:t>
            </a:r>
            <a:r>
              <a:rPr kumimoji="1" lang="en-US" altLang="zh-CN" dirty="0" err="1">
                <a:solidFill>
                  <a:srgbClr val="104E87"/>
                </a:solidFill>
                <a:latin typeface="Comic Sans MS" panose="030F0702030302020204" pitchFamily="66" charset="0"/>
                <a:ea typeface="宋体" panose="02010600030101010101" pitchFamily="2" charset="-122"/>
              </a:rPr>
              <a:t>s_obj</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Base *p;	           </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 &amp;</a:t>
            </a:r>
            <a:r>
              <a:rPr kumimoji="1" lang="en-US" altLang="zh-CN" dirty="0" err="1">
                <a:solidFill>
                  <a:srgbClr val="104E87"/>
                </a:solidFill>
                <a:latin typeface="Comic Sans MS" panose="030F0702030302020204" pitchFamily="66" charset="0"/>
                <a:ea typeface="宋体" panose="02010600030101010101" pitchFamily="2" charset="-122"/>
              </a:rPr>
              <a:t>b_obj</a:t>
            </a:r>
            <a:r>
              <a:rPr kumimoji="1" lang="en-US" altLang="zh-CN" dirty="0">
                <a:solidFill>
                  <a:srgbClr val="104E87"/>
                </a:solidFill>
                <a:latin typeface="Comic Sans MS" panose="030F0702030302020204" pitchFamily="66" charset="0"/>
                <a:ea typeface="宋体" panose="02010600030101010101" pitchFamily="2" charset="-122"/>
              </a:rPr>
              <a:t>;	</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p-&gt;who();</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 &amp;</a:t>
            </a:r>
            <a:r>
              <a:rPr kumimoji="1" lang="en-US" altLang="zh-CN" dirty="0" err="1">
                <a:solidFill>
                  <a:srgbClr val="104E87"/>
                </a:solidFill>
                <a:latin typeface="Comic Sans MS" panose="030F0702030302020204" pitchFamily="66" charset="0"/>
                <a:ea typeface="宋体" panose="02010600030101010101" pitchFamily="2" charset="-122"/>
              </a:rPr>
              <a:t>f_obj</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p-&gt;who();    </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 &amp;</a:t>
            </a:r>
            <a:r>
              <a:rPr kumimoji="1" lang="en-US" altLang="zh-CN" dirty="0" err="1">
                <a:solidFill>
                  <a:srgbClr val="104E87"/>
                </a:solidFill>
                <a:latin typeface="Comic Sans MS" panose="030F0702030302020204" pitchFamily="66" charset="0"/>
                <a:ea typeface="宋体" panose="02010600030101010101" pitchFamily="2" charset="-122"/>
              </a:rPr>
              <a:t>s_obj</a:t>
            </a:r>
            <a:r>
              <a:rPr kumimoji="1" lang="en-US" altLang="zh-CN" dirty="0">
                <a:solidFill>
                  <a:srgbClr val="104E87"/>
                </a:solidFill>
                <a:latin typeface="Comic Sans MS" panose="030F0702030302020204" pitchFamily="66" charset="0"/>
                <a:ea typeface="宋体" panose="02010600030101010101" pitchFamily="2" charset="-122"/>
              </a:rPr>
              <a:t>;</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p-&gt;who();</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    	return 0;</a:t>
            </a:r>
          </a:p>
          <a:p>
            <a:pPr>
              <a:lnSpc>
                <a:spcPct val="85000"/>
              </a:lnSpc>
            </a:pPr>
            <a:r>
              <a:rPr kumimoji="1" lang="en-US" altLang="zh-CN" dirty="0">
                <a:solidFill>
                  <a:srgbClr val="104E87"/>
                </a:solidFill>
                <a:latin typeface="Comic Sans MS" panose="030F0702030302020204" pitchFamily="66" charset="0"/>
                <a:ea typeface="宋体" panose="02010600030101010101" pitchFamily="2" charset="-122"/>
              </a:rPr>
              <a:t>}</a:t>
            </a:r>
          </a:p>
        </p:txBody>
      </p:sp>
      <p:sp>
        <p:nvSpPr>
          <p:cNvPr id="15" name="矩形 5">
            <a:extLst>
              <a:ext uri="{FF2B5EF4-FFF2-40B4-BE49-F238E27FC236}">
                <a16:creationId xmlns:a16="http://schemas.microsoft.com/office/drawing/2014/main" id="{65EB8F6F-4E35-49EE-BED7-DAF492CA9543}"/>
              </a:ext>
            </a:extLst>
          </p:cNvPr>
          <p:cNvSpPr>
            <a:spLocks noChangeArrowheads="1"/>
          </p:cNvSpPr>
          <p:nvPr/>
        </p:nvSpPr>
        <p:spPr bwMode="auto">
          <a:xfrm>
            <a:off x="7086843" y="4034898"/>
            <a:ext cx="501747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r>
              <a:rPr lang="zh-CN" altLang="en-US" b="0" dirty="0">
                <a:solidFill>
                  <a:srgbClr val="104E87"/>
                </a:solidFill>
                <a:latin typeface="华光行书_CNKI" panose="02000500000000000000" pitchFamily="2" charset="-122"/>
                <a:ea typeface="华光行书_CNKI" panose="02000500000000000000" pitchFamily="2" charset="-122"/>
              </a:rPr>
              <a:t>原因：普通成员函数的调用采用的是</a:t>
            </a:r>
            <a:r>
              <a:rPr lang="zh-CN" altLang="en-US" b="0" dirty="0">
                <a:solidFill>
                  <a:srgbClr val="FF0000"/>
                </a:solidFill>
                <a:latin typeface="华光行书_CNKI" panose="02000500000000000000" pitchFamily="2" charset="-122"/>
                <a:ea typeface="华光行书_CNKI" panose="02000500000000000000" pitchFamily="2" charset="-122"/>
              </a:rPr>
              <a:t>静态绑定</a:t>
            </a:r>
            <a:r>
              <a:rPr lang="zh-CN" altLang="en-US" b="0" dirty="0">
                <a:solidFill>
                  <a:srgbClr val="104E87"/>
                </a:solidFill>
                <a:latin typeface="华光行书_CNKI" panose="02000500000000000000" pitchFamily="2" charset="-122"/>
                <a:ea typeface="华光行书_CNKI" panose="02000500000000000000" pitchFamily="2" charset="-122"/>
              </a:rPr>
              <a:t>，通过指针引起的普通成员函数调用，仅仅与指针的类型有关，而与此刻该指针正在指向什么对象无关</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也符合类的兼容性原则</a:t>
            </a:r>
            <a:r>
              <a:rPr lang="en-US" altLang="zh-CN" b="0" dirty="0">
                <a:solidFill>
                  <a:srgbClr val="104E87"/>
                </a:solidFill>
                <a:latin typeface="华光行书_CNKI" panose="02000500000000000000" pitchFamily="2" charset="-122"/>
                <a:ea typeface="华光行书_CNKI" panose="02000500000000000000" pitchFamily="2" charset="-122"/>
              </a:rPr>
              <a:t>)</a:t>
            </a:r>
            <a:endParaRPr lang="zh-CN" altLang="en-US" b="0" dirty="0">
              <a:solidFill>
                <a:srgbClr val="104E87"/>
              </a:solidFill>
              <a:latin typeface="华光行书_CNKI" panose="02000500000000000000" pitchFamily="2" charset="-122"/>
              <a:ea typeface="华光行书_CNKI" panose="02000500000000000000" pitchFamily="2" charset="-122"/>
            </a:endParaRPr>
          </a:p>
        </p:txBody>
      </p:sp>
      <p:sp>
        <p:nvSpPr>
          <p:cNvPr id="16" name="矩形 6">
            <a:extLst>
              <a:ext uri="{FF2B5EF4-FFF2-40B4-BE49-F238E27FC236}">
                <a16:creationId xmlns:a16="http://schemas.microsoft.com/office/drawing/2014/main" id="{F46C77F3-6500-4E0C-BD6C-87DE8C38E80E}"/>
              </a:ext>
            </a:extLst>
          </p:cNvPr>
          <p:cNvSpPr>
            <a:spLocks noChangeArrowheads="1"/>
          </p:cNvSpPr>
          <p:nvPr/>
        </p:nvSpPr>
        <p:spPr bwMode="auto">
          <a:xfrm>
            <a:off x="7581412" y="3121262"/>
            <a:ext cx="42237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104E87"/>
                </a:solidFill>
                <a:latin typeface="华光行书_CNKI" panose="02000500000000000000" pitchFamily="2" charset="-122"/>
                <a:ea typeface="华光行书_CNKI" panose="02000500000000000000" pitchFamily="2" charset="-122"/>
              </a:rPr>
              <a:t>不管</a:t>
            </a:r>
            <a:r>
              <a:rPr lang="en-US" altLang="zh-CN" dirty="0">
                <a:solidFill>
                  <a:srgbClr val="104E87"/>
                </a:solidFill>
                <a:latin typeface="华光行书_CNKI" panose="02000500000000000000" pitchFamily="2" charset="-122"/>
                <a:ea typeface="华光行书_CNKI" panose="02000500000000000000" pitchFamily="2" charset="-122"/>
              </a:rPr>
              <a:t>p</a:t>
            </a:r>
            <a:r>
              <a:rPr lang="zh-CN" altLang="en-US" dirty="0">
                <a:solidFill>
                  <a:srgbClr val="104E87"/>
                </a:solidFill>
                <a:latin typeface="华光行书_CNKI" panose="02000500000000000000" pitchFamily="2" charset="-122"/>
                <a:ea typeface="华光行书_CNKI" panose="02000500000000000000" pitchFamily="2" charset="-122"/>
              </a:rPr>
              <a:t>指向什么对象，通过</a:t>
            </a:r>
            <a:r>
              <a:rPr lang="en-US" altLang="zh-CN" dirty="0">
                <a:solidFill>
                  <a:srgbClr val="104E87"/>
                </a:solidFill>
                <a:latin typeface="华光行书_CNKI" panose="02000500000000000000" pitchFamily="2" charset="-122"/>
                <a:ea typeface="华光行书_CNKI" panose="02000500000000000000" pitchFamily="2" charset="-122"/>
              </a:rPr>
              <a:t>p</a:t>
            </a:r>
            <a:r>
              <a:rPr lang="zh-CN" altLang="en-US" dirty="0">
                <a:solidFill>
                  <a:srgbClr val="104E87"/>
                </a:solidFill>
                <a:latin typeface="华光行书_CNKI" panose="02000500000000000000" pitchFamily="2" charset="-122"/>
                <a:ea typeface="华光行书_CNKI" panose="02000500000000000000" pitchFamily="2" charset="-122"/>
              </a:rPr>
              <a:t>三次调用的都是基类的</a:t>
            </a:r>
            <a:r>
              <a:rPr lang="en-US" altLang="zh-CN" dirty="0">
                <a:solidFill>
                  <a:srgbClr val="104E87"/>
                </a:solidFill>
                <a:latin typeface="华光行书_CNKI" panose="02000500000000000000" pitchFamily="2" charset="-122"/>
                <a:ea typeface="华光行书_CNKI" panose="02000500000000000000" pitchFamily="2" charset="-122"/>
              </a:rPr>
              <a:t>who</a:t>
            </a:r>
            <a:r>
              <a:rPr lang="zh-CN" altLang="en-US" dirty="0">
                <a:solidFill>
                  <a:srgbClr val="104E87"/>
                </a:solidFill>
                <a:latin typeface="华光行书_CNKI" panose="02000500000000000000" pitchFamily="2" charset="-122"/>
                <a:ea typeface="华光行书_CNKI" panose="02000500000000000000" pitchFamily="2" charset="-122"/>
              </a:rPr>
              <a:t>函数</a:t>
            </a:r>
          </a:p>
        </p:txBody>
      </p:sp>
      <p:sp>
        <p:nvSpPr>
          <p:cNvPr id="17" name="Rectangle 15">
            <a:extLst>
              <a:ext uri="{FF2B5EF4-FFF2-40B4-BE49-F238E27FC236}">
                <a16:creationId xmlns:a16="http://schemas.microsoft.com/office/drawing/2014/main" id="{D6269BB3-E131-4BE3-837B-8CE56A7139FE}"/>
              </a:ext>
            </a:extLst>
          </p:cNvPr>
          <p:cNvSpPr>
            <a:spLocks noChangeArrowheads="1"/>
          </p:cNvSpPr>
          <p:nvPr/>
        </p:nvSpPr>
        <p:spPr bwMode="auto">
          <a:xfrm>
            <a:off x="8942021" y="1318465"/>
            <a:ext cx="1296988" cy="1371600"/>
          </a:xfrm>
          <a:prstGeom prst="rect">
            <a:avLst/>
          </a:prstGeom>
          <a:solidFill>
            <a:srgbClr val="000000"/>
          </a:solidFill>
          <a:ln w="9525">
            <a:solidFill>
              <a:schemeClr val="tx1"/>
            </a:solidFill>
            <a:miter lim="800000"/>
            <a:headEnd/>
            <a:tailEnd/>
          </a:ln>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en-US" sz="2800" dirty="0">
              <a:latin typeface="+mn-lt"/>
              <a:ea typeface="黑体" panose="02010609060101010101" pitchFamily="49" charset="-122"/>
            </a:endParaRPr>
          </a:p>
          <a:p>
            <a:pPr eaLnBrk="1" hangingPunct="1">
              <a:defRPr/>
            </a:pPr>
            <a:r>
              <a:rPr lang="en-US" altLang="zh-CN" sz="2800" dirty="0">
                <a:solidFill>
                  <a:srgbClr val="FFFFFF"/>
                </a:solidFill>
                <a:latin typeface="+mn-lt"/>
                <a:ea typeface="黑体" panose="02010609060101010101" pitchFamily="49" charset="-122"/>
              </a:rPr>
              <a:t>base</a:t>
            </a:r>
          </a:p>
          <a:p>
            <a:pPr eaLnBrk="1" hangingPunct="1">
              <a:defRPr/>
            </a:pPr>
            <a:r>
              <a:rPr lang="en-US" altLang="zh-CN" sz="2800" dirty="0">
                <a:solidFill>
                  <a:srgbClr val="FFFFFF"/>
                </a:solidFill>
                <a:latin typeface="+mn-lt"/>
                <a:ea typeface="黑体" panose="02010609060101010101" pitchFamily="49" charset="-122"/>
              </a:rPr>
              <a:t>base</a:t>
            </a:r>
          </a:p>
          <a:p>
            <a:pPr eaLnBrk="1" hangingPunct="1">
              <a:defRPr/>
            </a:pPr>
            <a:r>
              <a:rPr lang="en-US" altLang="zh-CN" sz="2800" dirty="0">
                <a:solidFill>
                  <a:srgbClr val="FFFFFF"/>
                </a:solidFill>
                <a:latin typeface="+mn-lt"/>
                <a:ea typeface="黑体" panose="02010609060101010101" pitchFamily="49" charset="-122"/>
              </a:rPr>
              <a:t>base</a:t>
            </a:r>
          </a:p>
          <a:p>
            <a:pPr eaLnBrk="1" hangingPunct="1">
              <a:defRPr/>
            </a:pPr>
            <a:endParaRPr lang="zh-CN" altLang="en-US" sz="2800" dirty="0">
              <a:solidFill>
                <a:srgbClr val="FFFFFF"/>
              </a:solidFill>
              <a:latin typeface="+mn-lt"/>
              <a:ea typeface="黑体" panose="02010609060101010101" pitchFamily="49" charset="-122"/>
            </a:endParaRPr>
          </a:p>
        </p:txBody>
      </p:sp>
      <p:sp>
        <p:nvSpPr>
          <p:cNvPr id="18" name="矩形 17">
            <a:extLst>
              <a:ext uri="{FF2B5EF4-FFF2-40B4-BE49-F238E27FC236}">
                <a16:creationId xmlns:a16="http://schemas.microsoft.com/office/drawing/2014/main" id="{0BBE534E-8832-4815-9FF6-0CDD9EFEF47F}"/>
              </a:ext>
            </a:extLst>
          </p:cNvPr>
          <p:cNvSpPr>
            <a:spLocks noChangeArrowheads="1"/>
          </p:cNvSpPr>
          <p:nvPr/>
        </p:nvSpPr>
        <p:spPr bwMode="auto">
          <a:xfrm>
            <a:off x="7466440" y="5945973"/>
            <a:ext cx="4248150" cy="517065"/>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lnSpc>
                <a:spcPct val="120000"/>
              </a:lnSpc>
              <a:buFont typeface="Wingdings" pitchFamily="2" charset="2"/>
              <a:buNone/>
              <a:defRPr/>
            </a:pPr>
            <a:r>
              <a:rPr lang="zh-CN" altLang="en-US" dirty="0">
                <a:solidFill>
                  <a:srgbClr val="FF0000"/>
                </a:solidFill>
                <a:latin typeface="华光行书_CNKI" panose="02000500000000000000" pitchFamily="2" charset="-122"/>
                <a:ea typeface="华光行书_CNKI" panose="02000500000000000000" pitchFamily="2" charset="-122"/>
              </a:rPr>
              <a:t>如何实现动态绑定？</a:t>
            </a:r>
          </a:p>
        </p:txBody>
      </p:sp>
      <p:sp>
        <p:nvSpPr>
          <p:cNvPr id="2" name="Rectangle 2">
            <a:extLst>
              <a:ext uri="{FF2B5EF4-FFF2-40B4-BE49-F238E27FC236}">
                <a16:creationId xmlns:a16="http://schemas.microsoft.com/office/drawing/2014/main" id="{AD893E5A-9CD0-3EFA-A9F5-A75ECA7CBD75}"/>
              </a:ext>
            </a:extLst>
          </p:cNvPr>
          <p:cNvSpPr txBox="1">
            <a:spLocks noChangeArrowheads="1"/>
          </p:cNvSpPr>
          <p:nvPr/>
        </p:nvSpPr>
        <p:spPr>
          <a:xfrm>
            <a:off x="1587" y="921775"/>
            <a:ext cx="121904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b="1">
                <a:solidFill>
                  <a:srgbClr val="104E87"/>
                </a:solidFill>
                <a:latin typeface="华光行书_CNKI" panose="02000500000000000000" pitchFamily="2" charset="-122"/>
                <a:ea typeface="华光行书_CNKI" panose="02000500000000000000"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zh-CN" altLang="en-US" dirty="0">
                <a:solidFill>
                  <a:srgbClr val="FF0000"/>
                </a:solidFill>
              </a:rPr>
              <a:t>虚函数</a:t>
            </a:r>
            <a:r>
              <a:rPr lang="zh-CN" altLang="en-US" dirty="0"/>
              <a:t>：允许派生类重写父类的成员函数，并可使用基类指针调用派生类重写的成员函数</a:t>
            </a:r>
          </a:p>
        </p:txBody>
      </p:sp>
    </p:spTree>
    <p:extLst>
      <p:ext uri="{BB962C8B-B14F-4D97-AF65-F5344CB8AC3E}">
        <p14:creationId xmlns:p14="http://schemas.microsoft.com/office/powerpoint/2010/main" val="170140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 calcmode="lin" valueType="num">
                                      <p:cBhvr additive="base">
                                        <p:cTn id="11"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 calcmode="lin" valueType="num">
                                      <p:cBhvr additive="base">
                                        <p:cTn id="15"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 calcmode="lin" valueType="num">
                                      <p:cBhvr additive="base">
                                        <p:cTn id="19"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anim calcmode="lin" valueType="num">
                                      <p:cBhvr additive="base">
                                        <p:cTn id="2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2">
                                            <p:txEl>
                                              <p:pRg st="5" end="5"/>
                                            </p:txEl>
                                          </p:spTgt>
                                        </p:tgtEl>
                                        <p:attrNameLst>
                                          <p:attrName>style.visibility</p:attrName>
                                        </p:attrNameLst>
                                      </p:cBhvr>
                                      <p:to>
                                        <p:strVal val="visible"/>
                                      </p:to>
                                    </p:set>
                                    <p:anim calcmode="lin" valueType="num">
                                      <p:cBhvr additive="base">
                                        <p:cTn id="29"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xEl>
                                              <p:pRg st="6" end="6"/>
                                            </p:txEl>
                                          </p:spTgt>
                                        </p:tgtEl>
                                        <p:attrNameLst>
                                          <p:attrName>style.visibility</p:attrName>
                                        </p:attrNameLst>
                                      </p:cBhvr>
                                      <p:to>
                                        <p:strVal val="visible"/>
                                      </p:to>
                                    </p:set>
                                    <p:anim calcmode="lin" valueType="num">
                                      <p:cBhvr additive="base">
                                        <p:cTn id="33"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2">
                                            <p:txEl>
                                              <p:pRg st="7" end="7"/>
                                            </p:txEl>
                                          </p:spTgt>
                                        </p:tgtEl>
                                        <p:attrNameLst>
                                          <p:attrName>style.visibility</p:attrName>
                                        </p:attrNameLst>
                                      </p:cBhvr>
                                      <p:to>
                                        <p:strVal val="visible"/>
                                      </p:to>
                                    </p:set>
                                    <p:anim calcmode="lin" valueType="num">
                                      <p:cBhvr additive="base">
                                        <p:cTn id="37" dur="500" fill="hold"/>
                                        <p:tgtEl>
                                          <p:spTgt spid="1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xEl>
                                              <p:pRg st="8" end="8"/>
                                            </p:txEl>
                                          </p:spTgt>
                                        </p:tgtEl>
                                        <p:attrNameLst>
                                          <p:attrName>style.visibility</p:attrName>
                                        </p:attrNameLst>
                                      </p:cBhvr>
                                      <p:to>
                                        <p:strVal val="visible"/>
                                      </p:to>
                                    </p:set>
                                    <p:anim calcmode="lin" valueType="num">
                                      <p:cBhvr additive="base">
                                        <p:cTn id="43"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2">
                                            <p:txEl>
                                              <p:pRg st="9" end="9"/>
                                            </p:txEl>
                                          </p:spTgt>
                                        </p:tgtEl>
                                        <p:attrNameLst>
                                          <p:attrName>style.visibility</p:attrName>
                                        </p:attrNameLst>
                                      </p:cBhvr>
                                      <p:to>
                                        <p:strVal val="visible"/>
                                      </p:to>
                                    </p:set>
                                    <p:anim calcmode="lin" valueType="num">
                                      <p:cBhvr additive="base">
                                        <p:cTn id="47" dur="500" fill="hold"/>
                                        <p:tgtEl>
                                          <p:spTgt spid="12">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2">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2">
                                            <p:txEl>
                                              <p:pRg st="10" end="10"/>
                                            </p:txEl>
                                          </p:spTgt>
                                        </p:tgtEl>
                                        <p:attrNameLst>
                                          <p:attrName>style.visibility</p:attrName>
                                        </p:attrNameLst>
                                      </p:cBhvr>
                                      <p:to>
                                        <p:strVal val="visible"/>
                                      </p:to>
                                    </p:set>
                                    <p:anim calcmode="lin" valueType="num">
                                      <p:cBhvr additive="base">
                                        <p:cTn id="51" dur="500" fill="hold"/>
                                        <p:tgtEl>
                                          <p:spTgt spid="12">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2">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2">
                                            <p:txEl>
                                              <p:pRg st="11" end="11"/>
                                            </p:txEl>
                                          </p:spTgt>
                                        </p:tgtEl>
                                        <p:attrNameLst>
                                          <p:attrName>style.visibility</p:attrName>
                                        </p:attrNameLst>
                                      </p:cBhvr>
                                      <p:to>
                                        <p:strVal val="visible"/>
                                      </p:to>
                                    </p:set>
                                    <p:anim calcmode="lin" valueType="num">
                                      <p:cBhvr additive="base">
                                        <p:cTn id="55" dur="500" fill="hold"/>
                                        <p:tgtEl>
                                          <p:spTgt spid="12">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1"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ppt_x</p:attrName>
                                        </p:attrNameLst>
                                      </p:cBhvr>
                                      <p:tavLst>
                                        <p:tav tm="0">
                                          <p:val>
                                            <p:strVal val="#ppt_x"/>
                                          </p:val>
                                        </p:tav>
                                        <p:tav tm="100000">
                                          <p:val>
                                            <p:strVal val="#ppt_x"/>
                                          </p:val>
                                        </p:tav>
                                      </p:tavLst>
                                    </p:anim>
                                    <p:anim calcmode="lin" valueType="num">
                                      <p:cBhvr additive="base">
                                        <p:cTn id="6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00" fill="hold"/>
                                        <p:tgtEl>
                                          <p:spTgt spid="16"/>
                                        </p:tgtEl>
                                        <p:attrNameLst>
                                          <p:attrName>ppt_x</p:attrName>
                                        </p:attrNameLst>
                                      </p:cBhvr>
                                      <p:tavLst>
                                        <p:tav tm="0">
                                          <p:val>
                                            <p:strVal val="#ppt_x"/>
                                          </p:val>
                                        </p:tav>
                                        <p:tav tm="100000">
                                          <p:val>
                                            <p:strVal val="#ppt_x"/>
                                          </p:val>
                                        </p:tav>
                                      </p:tavLst>
                                    </p:anim>
                                    <p:anim calcmode="lin" valueType="num">
                                      <p:cBhvr additive="base">
                                        <p:cTn id="7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500" fill="hold"/>
                                        <p:tgtEl>
                                          <p:spTgt spid="15"/>
                                        </p:tgtEl>
                                        <p:attrNameLst>
                                          <p:attrName>ppt_x</p:attrName>
                                        </p:attrNameLst>
                                      </p:cBhvr>
                                      <p:tavLst>
                                        <p:tav tm="0">
                                          <p:val>
                                            <p:strVal val="#ppt_x"/>
                                          </p:val>
                                        </p:tav>
                                        <p:tav tm="100000">
                                          <p:val>
                                            <p:strVal val="#ppt_x"/>
                                          </p:val>
                                        </p:tav>
                                      </p:tavLst>
                                    </p:anim>
                                    <p:anim calcmode="lin" valueType="num">
                                      <p:cBhvr additive="base">
                                        <p:cTn id="8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8"/>
                                        </p:tgtEl>
                                        <p:attrNameLst>
                                          <p:attrName>style.visibility</p:attrName>
                                        </p:attrNameLst>
                                      </p:cBhvr>
                                      <p:to>
                                        <p:strVal val="visible"/>
                                      </p:to>
                                    </p:set>
                                    <p:anim calcmode="lin" valueType="num">
                                      <p:cBhvr additive="base">
                                        <p:cTn id="85" dur="500" fill="hold"/>
                                        <p:tgtEl>
                                          <p:spTgt spid="18"/>
                                        </p:tgtEl>
                                        <p:attrNameLst>
                                          <p:attrName>ppt_x</p:attrName>
                                        </p:attrNameLst>
                                      </p:cBhvr>
                                      <p:tavLst>
                                        <p:tav tm="0">
                                          <p:val>
                                            <p:strVal val="#ppt_x"/>
                                          </p:val>
                                        </p:tav>
                                        <p:tav tm="100000">
                                          <p:val>
                                            <p:strVal val="#ppt_x"/>
                                          </p:val>
                                        </p:tav>
                                      </p:tavLst>
                                    </p:anim>
                                    <p:anim calcmode="lin" valueType="num">
                                      <p:cBhvr additive="base">
                                        <p:cTn id="8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4" presetClass="entr" presetSubtype="5" fill="hold" grpId="0" nodeType="clickEffect">
                                  <p:stCondLst>
                                    <p:cond delay="0"/>
                                  </p:stCondLst>
                                  <p:childTnLst>
                                    <p:set>
                                      <p:cBhvr>
                                        <p:cTn id="90" dur="1" fill="hold">
                                          <p:stCondLst>
                                            <p:cond delay="0"/>
                                          </p:stCondLst>
                                        </p:cTn>
                                        <p:tgtEl>
                                          <p:spTgt spid="2"/>
                                        </p:tgtEl>
                                        <p:attrNameLst>
                                          <p:attrName>style.visibility</p:attrName>
                                        </p:attrNameLst>
                                      </p:cBhvr>
                                      <p:to>
                                        <p:strVal val="visible"/>
                                      </p:to>
                                    </p:set>
                                    <p:animEffect transition="in" filter="randombar(vertical)">
                                      <p:cBhvr>
                                        <p:cTn id="9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animBg="1" autoUpdateAnimBg="0"/>
      <p:bldP spid="18"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B93A15E-95A4-4803-B6B7-408EEE304F5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12F22D8F-613C-43AA-B50E-A9DF0564403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7675E4F3-B0A3-43C3-A1E4-3F9E343EDE52}"/>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7" name="内容占位符 2">
            <a:extLst>
              <a:ext uri="{FF2B5EF4-FFF2-40B4-BE49-F238E27FC236}">
                <a16:creationId xmlns:a16="http://schemas.microsoft.com/office/drawing/2014/main" id="{0F7FE314-7029-4FA3-8939-EB2AC17427BD}"/>
              </a:ext>
            </a:extLst>
          </p:cNvPr>
          <p:cNvSpPr txBox="1">
            <a:spLocks noChangeArrowheads="1"/>
          </p:cNvSpPr>
          <p:nvPr/>
        </p:nvSpPr>
        <p:spPr>
          <a:xfrm>
            <a:off x="73025" y="1071823"/>
            <a:ext cx="10301898" cy="720725"/>
          </a:xfrm>
          <a:prstGeom prst="rect">
            <a:avLst/>
          </a:prstGeom>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a:buFont typeface="Wingdings" panose="05000000000000000000" pitchFamily="2" charset="2"/>
              <a:buNone/>
            </a:pPr>
            <a:r>
              <a:rPr lang="zh-CN" altLang="en-US" sz="2400" b="1" dirty="0">
                <a:solidFill>
                  <a:srgbClr val="FF0000"/>
                </a:solidFill>
                <a:latin typeface="华光行书_CNKI" panose="02000500000000000000" pitchFamily="2" charset="-122"/>
                <a:ea typeface="华光行书_CNKI" panose="02000500000000000000" pitchFamily="2" charset="-122"/>
              </a:rPr>
              <a:t>虚函数</a:t>
            </a:r>
            <a:r>
              <a:rPr lang="en-US" altLang="zh-CN" sz="2400" b="1" dirty="0">
                <a:solidFill>
                  <a:srgbClr val="FF0000"/>
                </a:solidFill>
                <a:latin typeface="华光行书_CNKI" panose="02000500000000000000" pitchFamily="2" charset="-122"/>
                <a:ea typeface="华光行书_CNKI" panose="02000500000000000000" pitchFamily="2" charset="-122"/>
              </a:rPr>
              <a:t>+</a:t>
            </a:r>
            <a:r>
              <a:rPr lang="zh-CN" altLang="en-US" sz="2400" b="1" dirty="0">
                <a:solidFill>
                  <a:srgbClr val="FF0000"/>
                </a:solidFill>
                <a:latin typeface="华光行书_CNKI" panose="02000500000000000000" pitchFamily="2" charset="-122"/>
                <a:ea typeface="华光行书_CNKI" panose="02000500000000000000" pitchFamily="2" charset="-122"/>
              </a:rPr>
              <a:t>公有继承</a:t>
            </a:r>
            <a:r>
              <a:rPr lang="en-US" altLang="zh-CN" sz="2400" b="1" dirty="0">
                <a:solidFill>
                  <a:srgbClr val="FF0000"/>
                </a:solidFill>
                <a:latin typeface="华光行书_CNKI" panose="02000500000000000000" pitchFamily="2" charset="-122"/>
                <a:ea typeface="华光行书_CNKI" panose="02000500000000000000" pitchFamily="2" charset="-122"/>
              </a:rPr>
              <a:t>+</a:t>
            </a:r>
            <a:r>
              <a:rPr lang="zh-CN" altLang="en-US" sz="2400" b="1" dirty="0">
                <a:solidFill>
                  <a:srgbClr val="FF0000"/>
                </a:solidFill>
                <a:latin typeface="华光行书_CNKI" panose="02000500000000000000" pitchFamily="2" charset="-122"/>
                <a:ea typeface="华光行书_CNKI" panose="02000500000000000000" pitchFamily="2" charset="-122"/>
              </a:rPr>
              <a:t>基类指针</a:t>
            </a:r>
            <a:r>
              <a:rPr lang="zh-CN" altLang="en-US" sz="2400" b="1" dirty="0">
                <a:solidFill>
                  <a:srgbClr val="104E87"/>
                </a:solidFill>
                <a:latin typeface="华光行书_CNKI" panose="02000500000000000000" pitchFamily="2" charset="-122"/>
                <a:ea typeface="华光行书_CNKI" panose="02000500000000000000" pitchFamily="2" charset="-122"/>
              </a:rPr>
              <a:t>实现了</a:t>
            </a:r>
            <a:r>
              <a:rPr lang="zh-CN" altLang="en-US" sz="2400" b="1" dirty="0">
                <a:solidFill>
                  <a:srgbClr val="FF0000"/>
                </a:solidFill>
                <a:latin typeface="华光行书_CNKI" panose="02000500000000000000" pitchFamily="2" charset="-122"/>
                <a:ea typeface="华光行书_CNKI" panose="02000500000000000000" pitchFamily="2" charset="-122"/>
              </a:rPr>
              <a:t>动态绑定</a:t>
            </a:r>
          </a:p>
        </p:txBody>
      </p:sp>
      <p:sp>
        <p:nvSpPr>
          <p:cNvPr id="8" name="矩形 7">
            <a:extLst>
              <a:ext uri="{FF2B5EF4-FFF2-40B4-BE49-F238E27FC236}">
                <a16:creationId xmlns:a16="http://schemas.microsoft.com/office/drawing/2014/main" id="{4A7D1DF6-EF6F-4C96-871A-F837F7FB9606}"/>
              </a:ext>
            </a:extLst>
          </p:cNvPr>
          <p:cNvSpPr/>
          <p:nvPr/>
        </p:nvSpPr>
        <p:spPr>
          <a:xfrm>
            <a:off x="73025" y="1428651"/>
            <a:ext cx="7828329" cy="1384995"/>
          </a:xfrm>
          <a:prstGeom prst="rect">
            <a:avLst/>
          </a:prstGeom>
        </p:spPr>
        <p:txBody>
          <a:bodyPr wrap="square">
            <a:spAutoFit/>
          </a:bodyPr>
          <a:lstStyle/>
          <a:p>
            <a:pPr eaLnBrk="1" hangingPunct="1">
              <a:lnSpc>
                <a:spcPct val="150000"/>
              </a:lnSpc>
              <a:spcBef>
                <a:spcPct val="40000"/>
              </a:spcBef>
              <a:defRPr/>
            </a:pPr>
            <a:r>
              <a:rPr lang="zh-CN" altLang="en-US" dirty="0">
                <a:solidFill>
                  <a:srgbClr val="104E87"/>
                </a:solidFill>
                <a:latin typeface="华光行书_CNKI" panose="02000500000000000000" pitchFamily="2" charset="-122"/>
                <a:ea typeface="华光行书_CNKI" panose="02000500000000000000" pitchFamily="2" charset="-122"/>
              </a:rPr>
              <a:t>虚函数是类中</a:t>
            </a:r>
            <a:r>
              <a:rPr lang="zh-CN" altLang="en-US" dirty="0">
                <a:solidFill>
                  <a:srgbClr val="FF0000"/>
                </a:solidFill>
                <a:latin typeface="华光行书_CNKI" panose="02000500000000000000" pitchFamily="2" charset="-122"/>
                <a:ea typeface="华光行书_CNKI" panose="02000500000000000000" pitchFamily="2" charset="-122"/>
              </a:rPr>
              <a:t>被冠以</a:t>
            </a:r>
            <a:r>
              <a:rPr lang="en-US" altLang="zh-CN" dirty="0">
                <a:solidFill>
                  <a:srgbClr val="FF0000"/>
                </a:solidFill>
                <a:latin typeface="华光行书_CNKI" panose="02000500000000000000" pitchFamily="2" charset="-122"/>
                <a:ea typeface="华光行书_CNKI" panose="02000500000000000000" pitchFamily="2" charset="-122"/>
              </a:rPr>
              <a:t>virtual</a:t>
            </a:r>
            <a:r>
              <a:rPr lang="zh-CN" altLang="en-US" dirty="0">
                <a:solidFill>
                  <a:srgbClr val="FF0000"/>
                </a:solidFill>
                <a:latin typeface="华光行书_CNKI" panose="02000500000000000000" pitchFamily="2" charset="-122"/>
                <a:ea typeface="华光行书_CNKI" panose="02000500000000000000" pitchFamily="2" charset="-122"/>
              </a:rPr>
              <a:t>的成员函数</a:t>
            </a:r>
          </a:p>
          <a:p>
            <a:pPr eaLnBrk="1" hangingPunct="1">
              <a:defRPr/>
            </a:pPr>
            <a:r>
              <a:rPr lang="zh-CN" altLang="en-US" dirty="0">
                <a:solidFill>
                  <a:srgbClr val="FF0000"/>
                </a:solidFill>
                <a:latin typeface="华光行书_CNKI" panose="02000500000000000000" pitchFamily="2" charset="-122"/>
                <a:ea typeface="华光行书_CNKI" panose="02000500000000000000" pitchFamily="2" charset="-122"/>
              </a:rPr>
              <a:t>虚函数</a:t>
            </a:r>
            <a:r>
              <a:rPr lang="zh-CN" altLang="en-US" dirty="0">
                <a:solidFill>
                  <a:srgbClr val="104E87"/>
                </a:solidFill>
                <a:latin typeface="华光行书_CNKI" panose="02000500000000000000" pitchFamily="2" charset="-122"/>
                <a:ea typeface="华光行书_CNKI" panose="02000500000000000000" pitchFamily="2" charset="-122"/>
              </a:rPr>
              <a:t>在</a:t>
            </a:r>
            <a:r>
              <a:rPr lang="zh-CN" altLang="en-US" dirty="0">
                <a:solidFill>
                  <a:srgbClr val="FF0000"/>
                </a:solidFill>
                <a:latin typeface="华光行书_CNKI" panose="02000500000000000000" pitchFamily="2" charset="-122"/>
                <a:ea typeface="华光行书_CNKI" panose="02000500000000000000" pitchFamily="2" charset="-122"/>
              </a:rPr>
              <a:t>公有继承</a:t>
            </a:r>
            <a:r>
              <a:rPr lang="zh-CN" altLang="en-US" dirty="0">
                <a:solidFill>
                  <a:srgbClr val="104E87"/>
                </a:solidFill>
                <a:latin typeface="华光行书_CNKI" panose="02000500000000000000" pitchFamily="2" charset="-122"/>
                <a:ea typeface="华光行书_CNKI" panose="02000500000000000000" pitchFamily="2" charset="-122"/>
              </a:rPr>
              <a:t>结构中在一个或多个派生类中被</a:t>
            </a:r>
            <a:r>
              <a:rPr lang="zh-CN" altLang="en-US" dirty="0">
                <a:solidFill>
                  <a:srgbClr val="FF0000"/>
                </a:solidFill>
                <a:latin typeface="华光行书_CNKI" panose="02000500000000000000" pitchFamily="2" charset="-122"/>
                <a:ea typeface="华光行书_CNKI" panose="02000500000000000000" pitchFamily="2" charset="-122"/>
              </a:rPr>
              <a:t>重定义</a:t>
            </a:r>
            <a:r>
              <a:rPr lang="zh-CN" altLang="en-US" dirty="0">
                <a:solidFill>
                  <a:srgbClr val="104E87"/>
                </a:solidFill>
                <a:latin typeface="华光行书_CNKI" panose="02000500000000000000" pitchFamily="2" charset="-122"/>
                <a:ea typeface="华光行书_CNKI" panose="02000500000000000000" pitchFamily="2" charset="-122"/>
              </a:rPr>
              <a:t>，在被调用过程中，通过</a:t>
            </a:r>
            <a:r>
              <a:rPr lang="zh-CN" altLang="en-US" dirty="0">
                <a:solidFill>
                  <a:srgbClr val="FF0000"/>
                </a:solidFill>
                <a:latin typeface="华光行书_CNKI" panose="02000500000000000000" pitchFamily="2" charset="-122"/>
                <a:ea typeface="华光行书_CNKI" panose="02000500000000000000" pitchFamily="2" charset="-122"/>
              </a:rPr>
              <a:t>指向基类的指针</a:t>
            </a:r>
            <a:r>
              <a:rPr lang="zh-CN" altLang="en-US" dirty="0">
                <a:solidFill>
                  <a:srgbClr val="104E87"/>
                </a:solidFill>
                <a:latin typeface="华光行书_CNKI" panose="02000500000000000000" pitchFamily="2" charset="-122"/>
                <a:ea typeface="华光行书_CNKI" panose="02000500000000000000" pitchFamily="2" charset="-122"/>
              </a:rPr>
              <a:t>实现</a:t>
            </a:r>
            <a:r>
              <a:rPr lang="zh-CN" altLang="en-US" dirty="0">
                <a:solidFill>
                  <a:srgbClr val="FF0000"/>
                </a:solidFill>
                <a:latin typeface="华光行书_CNKI" panose="02000500000000000000" pitchFamily="2" charset="-122"/>
                <a:ea typeface="华光行书_CNKI" panose="02000500000000000000" pitchFamily="2" charset="-122"/>
              </a:rPr>
              <a:t>动态绑定。</a:t>
            </a:r>
          </a:p>
        </p:txBody>
      </p:sp>
      <p:sp>
        <p:nvSpPr>
          <p:cNvPr id="12" name="Rectangle 3">
            <a:extLst>
              <a:ext uri="{FF2B5EF4-FFF2-40B4-BE49-F238E27FC236}">
                <a16:creationId xmlns:a16="http://schemas.microsoft.com/office/drawing/2014/main" id="{8080B6EB-BD06-45D3-AEDD-FB0385F52CD4}"/>
              </a:ext>
            </a:extLst>
          </p:cNvPr>
          <p:cNvSpPr>
            <a:spLocks noChangeArrowheads="1"/>
          </p:cNvSpPr>
          <p:nvPr/>
        </p:nvSpPr>
        <p:spPr bwMode="auto">
          <a:xfrm>
            <a:off x="73026" y="2852641"/>
            <a:ext cx="8215190" cy="2529923"/>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r>
              <a:rPr lang="zh-CN" altLang="en-US" dirty="0">
                <a:solidFill>
                  <a:srgbClr val="104E87"/>
                </a:solidFill>
                <a:latin typeface="华光行书_CNKI" panose="02000500000000000000" pitchFamily="2" charset="-122"/>
                <a:ea typeface="华光行书_CNKI" panose="02000500000000000000" pitchFamily="2" charset="-122"/>
              </a:rPr>
              <a:t>1.</a:t>
            </a:r>
            <a:r>
              <a:rPr lang="zh-CN" altLang="en-US" dirty="0">
                <a:solidFill>
                  <a:srgbClr val="FF0000"/>
                </a:solidFill>
                <a:latin typeface="华光行书_CNKI" panose="02000500000000000000" pitchFamily="2" charset="-122"/>
                <a:ea typeface="华光行书_CNKI" panose="02000500000000000000" pitchFamily="2" charset="-122"/>
              </a:rPr>
              <a:t>虚函数</a:t>
            </a:r>
            <a:r>
              <a:rPr lang="zh-CN" altLang="en-US" dirty="0">
                <a:solidFill>
                  <a:srgbClr val="104E87"/>
                </a:solidFill>
                <a:latin typeface="华光行书_CNKI" panose="02000500000000000000" pitchFamily="2" charset="-122"/>
                <a:ea typeface="华光行书_CNKI" panose="02000500000000000000" pitchFamily="2" charset="-122"/>
              </a:rPr>
              <a:t>是用</a:t>
            </a:r>
            <a:r>
              <a:rPr lang="en-US" altLang="zh-CN" dirty="0">
                <a:solidFill>
                  <a:srgbClr val="104E87"/>
                </a:solidFill>
                <a:latin typeface="华光行书_CNKI" panose="02000500000000000000" pitchFamily="2" charset="-122"/>
                <a:ea typeface="华光行书_CNKI" panose="02000500000000000000" pitchFamily="2" charset="-122"/>
              </a:rPr>
              <a:t>virtual</a:t>
            </a:r>
            <a:r>
              <a:rPr lang="zh-CN" altLang="en-US" dirty="0">
                <a:solidFill>
                  <a:srgbClr val="104E87"/>
                </a:solidFill>
                <a:latin typeface="华光行书_CNKI" panose="02000500000000000000" pitchFamily="2" charset="-122"/>
                <a:ea typeface="华光行书_CNKI" panose="02000500000000000000" pitchFamily="2" charset="-122"/>
              </a:rPr>
              <a:t>修饰的成员函数，并在派生类中重新定义，以形成不同的版本。</a:t>
            </a:r>
          </a:p>
          <a:p>
            <a:pPr eaLnBrk="1" hangingPunct="1">
              <a:spcBef>
                <a:spcPct val="20000"/>
              </a:spcBef>
              <a:buClr>
                <a:schemeClr val="accent2"/>
              </a:buClr>
              <a:buSzPct val="80000"/>
              <a:buFont typeface="Wingdings" pitchFamily="2" charset="2"/>
              <a:buNone/>
              <a:defRPr/>
            </a:pPr>
            <a:r>
              <a:rPr lang="zh-CN" altLang="en-US" dirty="0">
                <a:solidFill>
                  <a:srgbClr val="104E87"/>
                </a:solidFill>
                <a:latin typeface="华光行书_CNKI" panose="02000500000000000000" pitchFamily="2" charset="-122"/>
                <a:ea typeface="华光行书_CNKI" panose="02000500000000000000" pitchFamily="2" charset="-122"/>
              </a:rPr>
              <a:t>1）必须在基类中声明虚函数。</a:t>
            </a:r>
          </a:p>
          <a:p>
            <a:pPr eaLnBrk="1" hangingPunct="1">
              <a:spcBef>
                <a:spcPct val="20000"/>
              </a:spcBef>
              <a:buClr>
                <a:schemeClr val="accent2"/>
              </a:buClr>
              <a:buSzPct val="80000"/>
              <a:buFont typeface="Wingdings" pitchFamily="2" charset="2"/>
              <a:buNone/>
              <a:defRPr/>
            </a:pPr>
            <a:r>
              <a:rPr lang="zh-CN" altLang="en-US" dirty="0">
                <a:solidFill>
                  <a:srgbClr val="104E87"/>
                </a:solidFill>
                <a:latin typeface="华光行书_CNKI" panose="02000500000000000000" pitchFamily="2" charset="-122"/>
                <a:ea typeface="华光行书_CNKI" panose="02000500000000000000" pitchFamily="2" charset="-122"/>
              </a:rPr>
              <a:t>2）派生类重新定义的虚函数必须与基类中的虚函数函数原型相同。（即使前面没有</a:t>
            </a:r>
            <a:r>
              <a:rPr lang="en-US" altLang="zh-CN" dirty="0">
                <a:solidFill>
                  <a:srgbClr val="104E87"/>
                </a:solidFill>
                <a:latin typeface="华光行书_CNKI" panose="02000500000000000000" pitchFamily="2" charset="-122"/>
                <a:ea typeface="华光行书_CNKI" panose="02000500000000000000" pitchFamily="2" charset="-122"/>
              </a:rPr>
              <a:t>virtual</a:t>
            </a:r>
            <a:r>
              <a:rPr lang="zh-CN" altLang="en-US" dirty="0">
                <a:solidFill>
                  <a:srgbClr val="104E87"/>
                </a:solidFill>
                <a:latin typeface="华光行书_CNKI" panose="02000500000000000000" pitchFamily="2" charset="-122"/>
                <a:ea typeface="华光行书_CNKI" panose="02000500000000000000" pitchFamily="2" charset="-122"/>
              </a:rPr>
              <a:t>修饰，也自动为虚函数）。</a:t>
            </a:r>
          </a:p>
          <a:p>
            <a:pPr eaLnBrk="1" hangingPunct="1">
              <a:spcBef>
                <a:spcPct val="20000"/>
              </a:spcBef>
              <a:buClr>
                <a:schemeClr val="accent2"/>
              </a:buClr>
              <a:buSzPct val="80000"/>
              <a:buFont typeface="Wingdings" pitchFamily="2" charset="2"/>
              <a:buNone/>
              <a:defRPr/>
            </a:pPr>
            <a:r>
              <a:rPr lang="zh-CN" altLang="en-US" dirty="0">
                <a:solidFill>
                  <a:srgbClr val="104E87"/>
                </a:solidFill>
                <a:latin typeface="华光行书_CNKI" panose="02000500000000000000" pitchFamily="2" charset="-122"/>
                <a:ea typeface="华光行书_CNKI" panose="02000500000000000000" pitchFamily="2" charset="-122"/>
              </a:rPr>
              <a:t>3）只有非静态成员函数可以声明为虚函数</a:t>
            </a:r>
          </a:p>
        </p:txBody>
      </p:sp>
    </p:spTree>
    <p:extLst>
      <p:ext uri="{BB962C8B-B14F-4D97-AF65-F5344CB8AC3E}">
        <p14:creationId xmlns:p14="http://schemas.microsoft.com/office/powerpoint/2010/main" val="66881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B93A15E-95A4-4803-B6B7-408EEE304F5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12F22D8F-613C-43AA-B50E-A9DF0564403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4D48CDF9-7CD2-422F-A4CB-CE8761FB69F0}"/>
              </a:ext>
            </a:extLst>
          </p:cNvPr>
          <p:cNvSpPr>
            <a:spLocks noChangeArrowheads="1"/>
          </p:cNvSpPr>
          <p:nvPr/>
        </p:nvSpPr>
        <p:spPr bwMode="auto">
          <a:xfrm>
            <a:off x="346471" y="1026312"/>
            <a:ext cx="4824413" cy="5370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class Base{</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public:  </a:t>
            </a:r>
            <a:r>
              <a:rPr lang="en-US" altLang="zh-CN" b="0" dirty="0">
                <a:solidFill>
                  <a:srgbClr val="FF0000"/>
                </a:solidFill>
                <a:latin typeface="Comic Sans MS" panose="030F0702030302020204" pitchFamily="66" charset="0"/>
                <a:ea typeface="华光行书_CNKI" panose="02000500000000000000" pitchFamily="2" charset="-122"/>
              </a:rPr>
              <a:t>virtual </a:t>
            </a:r>
            <a:r>
              <a:rPr lang="en-US" altLang="zh-CN" b="0" dirty="0">
                <a:solidFill>
                  <a:srgbClr val="104E87"/>
                </a:solidFill>
                <a:latin typeface="Comic Sans MS" panose="030F0702030302020204" pitchFamily="66" charset="0"/>
                <a:ea typeface="华光行书_CNKI" panose="02000500000000000000" pitchFamily="2" charset="-122"/>
              </a:rPr>
              <a:t>void who()</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a:t>
            </a:r>
            <a:r>
              <a:rPr lang="en-US" altLang="zh-CN" b="0" dirty="0" err="1">
                <a:solidFill>
                  <a:srgbClr val="104E87"/>
                </a:solidFill>
                <a:latin typeface="Comic Sans MS" panose="030F0702030302020204" pitchFamily="66" charset="0"/>
                <a:ea typeface="华光行书_CNKI" panose="02000500000000000000" pitchFamily="2" charset="-122"/>
              </a:rPr>
              <a:t>cout</a:t>
            </a:r>
            <a:r>
              <a:rPr lang="en-US" altLang="zh-CN" b="0" dirty="0">
                <a:solidFill>
                  <a:srgbClr val="104E87"/>
                </a:solidFill>
                <a:latin typeface="Comic Sans MS" panose="030F0702030302020204" pitchFamily="66" charset="0"/>
                <a:ea typeface="华光行书_CNKI" panose="02000500000000000000" pitchFamily="2" charset="-122"/>
              </a:rPr>
              <a:t>&lt;&lt;"base"&lt;&lt;</a:t>
            </a:r>
            <a:r>
              <a:rPr lang="en-US" altLang="zh-CN" b="0" dirty="0" err="1">
                <a:solidFill>
                  <a:srgbClr val="104E87"/>
                </a:solidFill>
                <a:latin typeface="Comic Sans MS" panose="030F0702030302020204" pitchFamily="66" charset="0"/>
                <a:ea typeface="华光行书_CNKI" panose="02000500000000000000" pitchFamily="2" charset="-122"/>
              </a:rPr>
              <a:t>endl</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class </a:t>
            </a:r>
            <a:r>
              <a:rPr lang="en-US" altLang="zh-CN" b="0" dirty="0" err="1">
                <a:solidFill>
                  <a:srgbClr val="104E87"/>
                </a:solidFill>
                <a:latin typeface="Comic Sans MS" panose="030F0702030302020204" pitchFamily="66" charset="0"/>
                <a:ea typeface="华光行书_CNKI" panose="02000500000000000000" pitchFamily="2" charset="-122"/>
              </a:rPr>
              <a:t>Firstderived:public</a:t>
            </a:r>
            <a:r>
              <a:rPr lang="en-US" altLang="zh-CN" b="0" dirty="0">
                <a:solidFill>
                  <a:srgbClr val="104E87"/>
                </a:solidFill>
                <a:latin typeface="Comic Sans MS" panose="030F0702030302020204" pitchFamily="66" charset="0"/>
                <a:ea typeface="华光行书_CNKI" panose="02000500000000000000" pitchFamily="2" charset="-122"/>
              </a:rPr>
              <a:t> Base</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{public: </a:t>
            </a:r>
            <a:r>
              <a:rPr lang="en-US" altLang="zh-CN" b="0" dirty="0">
                <a:solidFill>
                  <a:srgbClr val="FF0000"/>
                </a:solidFill>
                <a:latin typeface="Comic Sans MS" panose="030F0702030302020204" pitchFamily="66" charset="0"/>
                <a:ea typeface="华光行书_CNKI" panose="02000500000000000000" pitchFamily="2" charset="-122"/>
              </a:rPr>
              <a:t>virtual </a:t>
            </a:r>
            <a:r>
              <a:rPr lang="en-US" altLang="zh-CN" b="0" dirty="0">
                <a:solidFill>
                  <a:srgbClr val="104E87"/>
                </a:solidFill>
                <a:latin typeface="Comic Sans MS" panose="030F0702030302020204" pitchFamily="66" charset="0"/>
                <a:ea typeface="华光行书_CNKI" panose="02000500000000000000" pitchFamily="2" charset="-122"/>
              </a:rPr>
              <a:t>void who()</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a:t>
            </a:r>
            <a:r>
              <a:rPr lang="en-US" altLang="zh-CN" b="0" dirty="0" err="1">
                <a:solidFill>
                  <a:srgbClr val="104E87"/>
                </a:solidFill>
                <a:latin typeface="Comic Sans MS" panose="030F0702030302020204" pitchFamily="66" charset="0"/>
                <a:ea typeface="华光行书_CNKI" panose="02000500000000000000" pitchFamily="2" charset="-122"/>
              </a:rPr>
              <a:t>cout</a:t>
            </a:r>
            <a:r>
              <a:rPr lang="en-US" altLang="zh-CN" b="0" dirty="0">
                <a:solidFill>
                  <a:srgbClr val="104E87"/>
                </a:solidFill>
                <a:latin typeface="Comic Sans MS" panose="030F0702030302020204" pitchFamily="66" charset="0"/>
                <a:ea typeface="华光行书_CNKI" panose="02000500000000000000" pitchFamily="2" charset="-122"/>
              </a:rPr>
              <a:t>&lt;&lt;"</a:t>
            </a:r>
            <a:r>
              <a:rPr lang="en-US" altLang="zh-CN" b="0" dirty="0" err="1">
                <a:solidFill>
                  <a:srgbClr val="104E87"/>
                </a:solidFill>
                <a:latin typeface="Comic Sans MS" panose="030F0702030302020204" pitchFamily="66" charset="0"/>
                <a:ea typeface="华光行书_CNKI" panose="02000500000000000000" pitchFamily="2" charset="-122"/>
              </a:rPr>
              <a:t>Firstderived</a:t>
            </a:r>
            <a:r>
              <a:rPr lang="en-US" altLang="zh-CN" b="0" dirty="0">
                <a:solidFill>
                  <a:srgbClr val="104E87"/>
                </a:solidFill>
                <a:latin typeface="Comic Sans MS" panose="030F0702030302020204" pitchFamily="66" charset="0"/>
                <a:ea typeface="华光行书_CNKI" panose="02000500000000000000" pitchFamily="2" charset="-122"/>
              </a:rPr>
              <a:t>"&lt;&lt;</a:t>
            </a:r>
            <a:r>
              <a:rPr lang="en-US" altLang="zh-CN" b="0" dirty="0" err="1">
                <a:solidFill>
                  <a:srgbClr val="104E87"/>
                </a:solidFill>
                <a:latin typeface="Comic Sans MS" panose="030F0702030302020204" pitchFamily="66" charset="0"/>
                <a:ea typeface="华光行书_CNKI" panose="02000500000000000000" pitchFamily="2" charset="-122"/>
              </a:rPr>
              <a:t>endl</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class </a:t>
            </a:r>
            <a:r>
              <a:rPr lang="en-US" altLang="zh-CN" b="0" dirty="0" err="1">
                <a:solidFill>
                  <a:srgbClr val="104E87"/>
                </a:solidFill>
                <a:latin typeface="Comic Sans MS" panose="030F0702030302020204" pitchFamily="66" charset="0"/>
                <a:ea typeface="华光行书_CNKI" panose="02000500000000000000" pitchFamily="2" charset="-122"/>
              </a:rPr>
              <a:t>Secondderived:public</a:t>
            </a:r>
            <a:r>
              <a:rPr lang="en-US" altLang="zh-CN" b="0" dirty="0">
                <a:solidFill>
                  <a:srgbClr val="104E87"/>
                </a:solidFill>
                <a:latin typeface="Comic Sans MS" panose="030F0702030302020204" pitchFamily="66" charset="0"/>
                <a:ea typeface="华光行书_CNKI" panose="02000500000000000000" pitchFamily="2" charset="-122"/>
              </a:rPr>
              <a:t> Base</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{public: </a:t>
            </a:r>
            <a:r>
              <a:rPr lang="en-US" altLang="zh-CN" b="0" dirty="0">
                <a:solidFill>
                  <a:srgbClr val="FF0000"/>
                </a:solidFill>
                <a:latin typeface="Comic Sans MS" panose="030F0702030302020204" pitchFamily="66" charset="0"/>
                <a:ea typeface="华光行书_CNKI" panose="02000500000000000000" pitchFamily="2" charset="-122"/>
              </a:rPr>
              <a:t>virtual</a:t>
            </a:r>
            <a:r>
              <a:rPr lang="en-US" altLang="zh-CN" b="0" dirty="0">
                <a:solidFill>
                  <a:srgbClr val="104E87"/>
                </a:solidFill>
                <a:latin typeface="Comic Sans MS" panose="030F0702030302020204" pitchFamily="66" charset="0"/>
                <a:ea typeface="华光行书_CNKI" panose="02000500000000000000" pitchFamily="2" charset="-122"/>
              </a:rPr>
              <a:t> void who()</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a:t>
            </a:r>
            <a:r>
              <a:rPr lang="en-US" altLang="zh-CN" b="0" dirty="0" err="1">
                <a:solidFill>
                  <a:srgbClr val="104E87"/>
                </a:solidFill>
                <a:latin typeface="Comic Sans MS" panose="030F0702030302020204" pitchFamily="66" charset="0"/>
                <a:ea typeface="华光行书_CNKI" panose="02000500000000000000" pitchFamily="2" charset="-122"/>
              </a:rPr>
              <a:t>cout</a:t>
            </a:r>
            <a:r>
              <a:rPr lang="en-US" altLang="zh-CN" b="0" dirty="0">
                <a:solidFill>
                  <a:srgbClr val="104E87"/>
                </a:solidFill>
                <a:latin typeface="Comic Sans MS" panose="030F0702030302020204" pitchFamily="66" charset="0"/>
                <a:ea typeface="华光行书_CNKI" panose="02000500000000000000" pitchFamily="2" charset="-122"/>
              </a:rPr>
              <a:t>&lt;&lt;"</a:t>
            </a:r>
            <a:r>
              <a:rPr lang="en-US" altLang="zh-CN" b="0" dirty="0" err="1">
                <a:solidFill>
                  <a:srgbClr val="104E87"/>
                </a:solidFill>
                <a:latin typeface="Comic Sans MS" panose="030F0702030302020204" pitchFamily="66" charset="0"/>
                <a:ea typeface="华光行书_CNKI" panose="02000500000000000000" pitchFamily="2" charset="-122"/>
              </a:rPr>
              <a:t>Secondderived</a:t>
            </a:r>
            <a:r>
              <a:rPr lang="en-US" altLang="zh-CN" b="0" dirty="0">
                <a:solidFill>
                  <a:srgbClr val="104E87"/>
                </a:solidFill>
                <a:latin typeface="Comic Sans MS" panose="030F0702030302020204" pitchFamily="66" charset="0"/>
                <a:ea typeface="华光行书_CNKI" panose="02000500000000000000" pitchFamily="2" charset="-122"/>
              </a:rPr>
              <a:t>"&lt;&lt;</a:t>
            </a:r>
            <a:r>
              <a:rPr lang="en-US" altLang="zh-CN" b="0" dirty="0" err="1">
                <a:solidFill>
                  <a:srgbClr val="104E87"/>
                </a:solidFill>
                <a:latin typeface="Comic Sans MS" panose="030F0702030302020204" pitchFamily="66" charset="0"/>
                <a:ea typeface="华光行书_CNKI" panose="02000500000000000000" pitchFamily="2" charset="-122"/>
              </a:rPr>
              <a:t>endl</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a:t>
            </a:r>
          </a:p>
        </p:txBody>
      </p:sp>
      <p:sp>
        <p:nvSpPr>
          <p:cNvPr id="12" name="Rectangle 3">
            <a:extLst>
              <a:ext uri="{FF2B5EF4-FFF2-40B4-BE49-F238E27FC236}">
                <a16:creationId xmlns:a16="http://schemas.microsoft.com/office/drawing/2014/main" id="{DA476AFE-7971-4023-8117-027054E47486}"/>
              </a:ext>
            </a:extLst>
          </p:cNvPr>
          <p:cNvSpPr>
            <a:spLocks noChangeArrowheads="1"/>
          </p:cNvSpPr>
          <p:nvPr/>
        </p:nvSpPr>
        <p:spPr bwMode="auto">
          <a:xfrm>
            <a:off x="4896934" y="2175503"/>
            <a:ext cx="4824414"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dirty="0">
                <a:solidFill>
                  <a:srgbClr val="104E87"/>
                </a:solidFill>
                <a:latin typeface="Comic Sans MS" panose="030F0702030302020204" pitchFamily="66" charset="0"/>
                <a:ea typeface="华光行书_CNKI" panose="02000500000000000000" pitchFamily="2" charset="-122"/>
              </a:rPr>
              <a:t>int main(){</a:t>
            </a:r>
          </a:p>
          <a:p>
            <a:r>
              <a:rPr lang="en-US" altLang="zh-CN" b="0" dirty="0">
                <a:solidFill>
                  <a:srgbClr val="104E87"/>
                </a:solidFill>
                <a:latin typeface="Comic Sans MS" panose="030F0702030302020204" pitchFamily="66" charset="0"/>
                <a:ea typeface="华光行书_CNKI" panose="02000500000000000000" pitchFamily="2" charset="-122"/>
              </a:rPr>
              <a:t>      Base </a:t>
            </a:r>
            <a:r>
              <a:rPr lang="en-US" altLang="zh-CN" b="0" dirty="0" err="1">
                <a:solidFill>
                  <a:srgbClr val="104E87"/>
                </a:solidFill>
                <a:latin typeface="Comic Sans MS" panose="030F0702030302020204" pitchFamily="66" charset="0"/>
                <a:ea typeface="华光行书_CNKI" panose="02000500000000000000" pitchFamily="2" charset="-122"/>
              </a:rPr>
              <a:t>base_obj</a:t>
            </a:r>
            <a:r>
              <a:rPr lang="en-US" altLang="zh-CN" b="0" dirty="0">
                <a:solidFill>
                  <a:srgbClr val="104E87"/>
                </a:solidFill>
                <a:latin typeface="Comic Sans MS" panose="030F0702030302020204" pitchFamily="66" charset="0"/>
                <a:ea typeface="华光行书_CNKI" panose="02000500000000000000" pitchFamily="2" charset="-122"/>
              </a:rPr>
              <a:t>, *p;</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a:t>
            </a:r>
            <a:r>
              <a:rPr lang="en-US" altLang="zh-CN" b="0" dirty="0" err="1">
                <a:solidFill>
                  <a:srgbClr val="104E87"/>
                </a:solidFill>
                <a:latin typeface="Comic Sans MS" panose="030F0702030302020204" pitchFamily="66" charset="0"/>
                <a:ea typeface="华光行书_CNKI" panose="02000500000000000000" pitchFamily="2" charset="-122"/>
              </a:rPr>
              <a:t>Firstderived</a:t>
            </a:r>
            <a:r>
              <a:rPr lang="en-US" altLang="zh-CN" b="0" dirty="0">
                <a:solidFill>
                  <a:srgbClr val="104E87"/>
                </a:solidFill>
                <a:latin typeface="Comic Sans MS" panose="030F0702030302020204" pitchFamily="66" charset="0"/>
                <a:ea typeface="华光行书_CNKI" panose="02000500000000000000" pitchFamily="2" charset="-122"/>
              </a:rPr>
              <a:t> </a:t>
            </a:r>
            <a:r>
              <a:rPr lang="en-US" altLang="zh-CN" b="0" dirty="0" err="1">
                <a:solidFill>
                  <a:srgbClr val="104E87"/>
                </a:solidFill>
                <a:latin typeface="Comic Sans MS" panose="030F0702030302020204" pitchFamily="66" charset="0"/>
                <a:ea typeface="华光行书_CNKI" panose="02000500000000000000" pitchFamily="2" charset="-122"/>
              </a:rPr>
              <a:t>first_obj</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a:t>
            </a:r>
            <a:r>
              <a:rPr lang="en-US" altLang="zh-CN" b="0" dirty="0" err="1">
                <a:solidFill>
                  <a:srgbClr val="104E87"/>
                </a:solidFill>
                <a:latin typeface="Comic Sans MS" panose="030F0702030302020204" pitchFamily="66" charset="0"/>
                <a:ea typeface="华光行书_CNKI" panose="02000500000000000000" pitchFamily="2" charset="-122"/>
              </a:rPr>
              <a:t>Secondderived</a:t>
            </a:r>
            <a:r>
              <a:rPr lang="en-US" altLang="zh-CN" b="0" dirty="0">
                <a:solidFill>
                  <a:srgbClr val="104E87"/>
                </a:solidFill>
                <a:latin typeface="Comic Sans MS" panose="030F0702030302020204" pitchFamily="66" charset="0"/>
                <a:ea typeface="华光行书_CNKI" panose="02000500000000000000" pitchFamily="2" charset="-122"/>
              </a:rPr>
              <a:t> </a:t>
            </a:r>
            <a:r>
              <a:rPr lang="en-US" altLang="zh-CN" b="0" dirty="0" err="1">
                <a:solidFill>
                  <a:srgbClr val="104E87"/>
                </a:solidFill>
                <a:latin typeface="Comic Sans MS" panose="030F0702030302020204" pitchFamily="66" charset="0"/>
                <a:ea typeface="华光行书_CNKI" panose="02000500000000000000" pitchFamily="2" charset="-122"/>
              </a:rPr>
              <a:t>second_obj</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p=&amp;</a:t>
            </a:r>
            <a:r>
              <a:rPr lang="en-US" altLang="zh-CN" b="0" dirty="0" err="1">
                <a:solidFill>
                  <a:srgbClr val="104E87"/>
                </a:solidFill>
                <a:latin typeface="Comic Sans MS" panose="030F0702030302020204" pitchFamily="66" charset="0"/>
                <a:ea typeface="华光行书_CNKI" panose="02000500000000000000" pitchFamily="2" charset="-122"/>
              </a:rPr>
              <a:t>base_obj</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p-&gt;who();</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p=&amp;</a:t>
            </a:r>
            <a:r>
              <a:rPr lang="en-US" altLang="zh-CN" b="0" dirty="0" err="1">
                <a:solidFill>
                  <a:srgbClr val="104E87"/>
                </a:solidFill>
                <a:latin typeface="Comic Sans MS" panose="030F0702030302020204" pitchFamily="66" charset="0"/>
                <a:ea typeface="华光行书_CNKI" panose="02000500000000000000" pitchFamily="2" charset="-122"/>
              </a:rPr>
              <a:t>first_obj</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p-&gt;who();</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p=&amp;</a:t>
            </a:r>
            <a:r>
              <a:rPr lang="en-US" altLang="zh-CN" b="0" dirty="0" err="1">
                <a:solidFill>
                  <a:srgbClr val="104E87"/>
                </a:solidFill>
                <a:latin typeface="Comic Sans MS" panose="030F0702030302020204" pitchFamily="66" charset="0"/>
                <a:ea typeface="华光行书_CNKI" panose="02000500000000000000" pitchFamily="2" charset="-122"/>
              </a:rPr>
              <a:t>second_obj</a:t>
            </a:r>
            <a:r>
              <a:rPr lang="en-US" altLang="zh-CN" b="0" dirty="0">
                <a:solidFill>
                  <a:srgbClr val="104E87"/>
                </a:solidFill>
                <a:latin typeface="Comic Sans MS" panose="030F0702030302020204" pitchFamily="66" charset="0"/>
                <a:ea typeface="华光行书_CNKI" panose="02000500000000000000" pitchFamily="2" charset="-122"/>
              </a:rPr>
              <a:t>;</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p-&gt;who();</a:t>
            </a:r>
          </a:p>
          <a:p>
            <a:r>
              <a:rPr lang="en-US" altLang="zh-CN" b="0" dirty="0">
                <a:solidFill>
                  <a:srgbClr val="104E87"/>
                </a:solidFill>
                <a:latin typeface="Comic Sans MS" panose="030F0702030302020204" pitchFamily="66" charset="0"/>
                <a:ea typeface="华光行书_CNKI" panose="02000500000000000000" pitchFamily="2" charset="-122"/>
              </a:rPr>
              <a:t>	return 0 ;</a:t>
            </a:r>
          </a:p>
          <a:p>
            <a:pPr eaLnBrk="1" hangingPunct="1"/>
            <a:r>
              <a:rPr lang="en-US" altLang="zh-CN" b="0" dirty="0">
                <a:solidFill>
                  <a:srgbClr val="104E87"/>
                </a:solidFill>
                <a:latin typeface="Comic Sans MS" panose="030F0702030302020204" pitchFamily="66" charset="0"/>
                <a:ea typeface="华光行书_CNKI" panose="02000500000000000000" pitchFamily="2" charset="-122"/>
              </a:rPr>
              <a:t>     }</a:t>
            </a:r>
          </a:p>
        </p:txBody>
      </p:sp>
      <p:sp>
        <p:nvSpPr>
          <p:cNvPr id="13" name="矩形 12">
            <a:extLst>
              <a:ext uri="{FF2B5EF4-FFF2-40B4-BE49-F238E27FC236}">
                <a16:creationId xmlns:a16="http://schemas.microsoft.com/office/drawing/2014/main" id="{C89A229C-5AE7-41C8-AFC6-D5CDE9612E0E}"/>
              </a:ext>
            </a:extLst>
          </p:cNvPr>
          <p:cNvSpPr>
            <a:spLocks noChangeArrowheads="1"/>
          </p:cNvSpPr>
          <p:nvPr/>
        </p:nvSpPr>
        <p:spPr bwMode="auto">
          <a:xfrm>
            <a:off x="4347767" y="998530"/>
            <a:ext cx="714084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solidFill>
                  <a:srgbClr val="FF0000"/>
                </a:solidFill>
                <a:latin typeface="Comic Sans MS" panose="030F0702030302020204" pitchFamily="66" charset="0"/>
                <a:ea typeface="华光行书_CNKI" panose="02000500000000000000" pitchFamily="2" charset="-122"/>
              </a:rPr>
              <a:t>引入了虚函数机制</a:t>
            </a:r>
            <a:r>
              <a:rPr lang="en-US" altLang="zh-CN" b="0" dirty="0">
                <a:solidFill>
                  <a:srgbClr val="FF0000"/>
                </a:solidFill>
                <a:latin typeface="Comic Sans MS" panose="030F0702030302020204" pitchFamily="66" charset="0"/>
                <a:ea typeface="华光行书_CNKI" panose="02000500000000000000" pitchFamily="2" charset="-122"/>
              </a:rPr>
              <a:t>,</a:t>
            </a:r>
            <a:r>
              <a:rPr lang="zh-CN" altLang="en-US" b="0" dirty="0">
                <a:solidFill>
                  <a:srgbClr val="FF0000"/>
                </a:solidFill>
                <a:latin typeface="Comic Sans MS" panose="030F0702030302020204" pitchFamily="66" charset="0"/>
                <a:ea typeface="华光行书_CNKI" panose="02000500000000000000" pitchFamily="2" charset="-122"/>
              </a:rPr>
              <a:t>实现在派生类中对基类中成员函数进行覆盖</a:t>
            </a:r>
            <a:r>
              <a:rPr lang="en-US" altLang="zh-CN" b="0" dirty="0">
                <a:solidFill>
                  <a:srgbClr val="FF0000"/>
                </a:solidFill>
                <a:latin typeface="Comic Sans MS" panose="030F0702030302020204" pitchFamily="66" charset="0"/>
                <a:ea typeface="华光行书_CNKI" panose="02000500000000000000" pitchFamily="2" charset="-122"/>
              </a:rPr>
              <a:t>(</a:t>
            </a:r>
            <a:r>
              <a:rPr lang="zh-CN" altLang="en-US" b="0" dirty="0">
                <a:solidFill>
                  <a:srgbClr val="FF0000"/>
                </a:solidFill>
                <a:latin typeface="Comic Sans MS" panose="030F0702030302020204" pitchFamily="66" charset="0"/>
                <a:ea typeface="华光行书_CNKI" panose="02000500000000000000" pitchFamily="2" charset="-122"/>
              </a:rPr>
              <a:t>重定义</a:t>
            </a:r>
            <a:r>
              <a:rPr lang="en-US" altLang="zh-CN" b="0" dirty="0">
                <a:solidFill>
                  <a:srgbClr val="FF0000"/>
                </a:solidFill>
                <a:latin typeface="Comic Sans MS" panose="030F0702030302020204" pitchFamily="66" charset="0"/>
                <a:ea typeface="华光行书_CNKI" panose="02000500000000000000" pitchFamily="2" charset="-122"/>
              </a:rPr>
              <a:t>)</a:t>
            </a:r>
            <a:endParaRPr lang="zh-CN" altLang="en-US" b="0" dirty="0">
              <a:solidFill>
                <a:srgbClr val="FF0000"/>
              </a:solidFill>
              <a:latin typeface="Comic Sans MS" panose="030F0702030302020204" pitchFamily="66" charset="0"/>
              <a:ea typeface="华光行书_CNKI" panose="02000500000000000000" pitchFamily="2" charset="-122"/>
            </a:endParaRPr>
          </a:p>
        </p:txBody>
      </p:sp>
      <p:sp>
        <p:nvSpPr>
          <p:cNvPr id="14" name="文本框 13">
            <a:extLst>
              <a:ext uri="{FF2B5EF4-FFF2-40B4-BE49-F238E27FC236}">
                <a16:creationId xmlns:a16="http://schemas.microsoft.com/office/drawing/2014/main" id="{3D6D1EC6-31E0-478B-ABA3-34BD3D46A4FE}"/>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18" name="Rectangle 15">
            <a:extLst>
              <a:ext uri="{FF2B5EF4-FFF2-40B4-BE49-F238E27FC236}">
                <a16:creationId xmlns:a16="http://schemas.microsoft.com/office/drawing/2014/main" id="{C104BABF-F0AC-4EE0-901D-E1EF36E7870A}"/>
              </a:ext>
            </a:extLst>
          </p:cNvPr>
          <p:cNvSpPr>
            <a:spLocks noChangeArrowheads="1"/>
          </p:cNvSpPr>
          <p:nvPr/>
        </p:nvSpPr>
        <p:spPr bwMode="auto">
          <a:xfrm>
            <a:off x="9447397" y="1616311"/>
            <a:ext cx="2743810" cy="1371600"/>
          </a:xfrm>
          <a:prstGeom prst="rect">
            <a:avLst/>
          </a:prstGeom>
          <a:solidFill>
            <a:srgbClr val="000000"/>
          </a:solidFill>
          <a:ln w="9525">
            <a:solidFill>
              <a:schemeClr val="tx1"/>
            </a:solidFill>
            <a:miter lim="800000"/>
            <a:headEnd/>
            <a:tailEnd/>
          </a:ln>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en-US" sz="2800" dirty="0">
              <a:latin typeface="+mn-lt"/>
              <a:ea typeface="黑体" panose="02010609060101010101" pitchFamily="49" charset="-122"/>
            </a:endParaRPr>
          </a:p>
          <a:p>
            <a:pPr eaLnBrk="1" hangingPunct="1">
              <a:defRPr/>
            </a:pPr>
            <a:r>
              <a:rPr lang="en-US" altLang="zh-CN" sz="2800" dirty="0">
                <a:solidFill>
                  <a:srgbClr val="FFFFFF"/>
                </a:solidFill>
                <a:latin typeface="+mn-lt"/>
                <a:ea typeface="黑体" panose="02010609060101010101" pitchFamily="49" charset="-122"/>
              </a:rPr>
              <a:t>base</a:t>
            </a:r>
          </a:p>
          <a:p>
            <a:pPr eaLnBrk="1" hangingPunct="1">
              <a:defRPr/>
            </a:pPr>
            <a:r>
              <a:rPr lang="en-US" altLang="zh-CN" sz="2800" dirty="0" err="1">
                <a:solidFill>
                  <a:srgbClr val="FFFFFF"/>
                </a:solidFill>
                <a:latin typeface="+mn-lt"/>
                <a:ea typeface="黑体" panose="02010609060101010101" pitchFamily="49" charset="-122"/>
              </a:rPr>
              <a:t>Firstderived</a:t>
            </a:r>
            <a:endParaRPr lang="en-US" altLang="zh-CN" sz="2800" dirty="0">
              <a:solidFill>
                <a:srgbClr val="FFFFFF"/>
              </a:solidFill>
              <a:latin typeface="+mn-lt"/>
              <a:ea typeface="黑体" panose="02010609060101010101" pitchFamily="49" charset="-122"/>
            </a:endParaRPr>
          </a:p>
          <a:p>
            <a:pPr eaLnBrk="1" hangingPunct="1">
              <a:defRPr/>
            </a:pPr>
            <a:r>
              <a:rPr lang="en-US" altLang="zh-CN" sz="2800" dirty="0" err="1">
                <a:solidFill>
                  <a:srgbClr val="FFFFFF"/>
                </a:solidFill>
                <a:latin typeface="+mn-lt"/>
                <a:ea typeface="黑体" panose="02010609060101010101" pitchFamily="49" charset="-122"/>
              </a:rPr>
              <a:t>Secondderived</a:t>
            </a:r>
            <a:endParaRPr lang="en-US" altLang="zh-CN" sz="2800" dirty="0">
              <a:solidFill>
                <a:srgbClr val="FFFFFF"/>
              </a:solidFill>
              <a:latin typeface="+mn-lt"/>
              <a:ea typeface="黑体" panose="02010609060101010101" pitchFamily="49" charset="-122"/>
            </a:endParaRPr>
          </a:p>
          <a:p>
            <a:pPr eaLnBrk="1" hangingPunct="1">
              <a:defRPr/>
            </a:pPr>
            <a:endParaRPr lang="zh-CN" altLang="en-US" sz="2800" dirty="0">
              <a:solidFill>
                <a:srgbClr val="FFFFFF"/>
              </a:solidFill>
              <a:latin typeface="+mn-lt"/>
              <a:ea typeface="黑体" panose="02010609060101010101" pitchFamily="49" charset="-122"/>
            </a:endParaRPr>
          </a:p>
        </p:txBody>
      </p:sp>
      <p:sp>
        <p:nvSpPr>
          <p:cNvPr id="15" name="矩形 14">
            <a:extLst>
              <a:ext uri="{FF2B5EF4-FFF2-40B4-BE49-F238E27FC236}">
                <a16:creationId xmlns:a16="http://schemas.microsoft.com/office/drawing/2014/main" id="{02EBB6C4-7CDC-472E-A7D9-C09BE29D7708}"/>
              </a:ext>
            </a:extLst>
          </p:cNvPr>
          <p:cNvSpPr>
            <a:spLocks noChangeArrowheads="1"/>
          </p:cNvSpPr>
          <p:nvPr/>
        </p:nvSpPr>
        <p:spPr bwMode="auto">
          <a:xfrm>
            <a:off x="8656333" y="3977285"/>
            <a:ext cx="353566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FF0000"/>
                </a:solidFill>
                <a:latin typeface="Comic Sans MS" panose="030F0702030302020204" pitchFamily="66" charset="0"/>
                <a:ea typeface="华光行书_CNKI" panose="02000500000000000000" pitchFamily="2" charset="-122"/>
              </a:rPr>
              <a:t>“一个接口，多种实现”</a:t>
            </a:r>
          </a:p>
        </p:txBody>
      </p:sp>
    </p:spTree>
    <p:extLst>
      <p:ext uri="{BB962C8B-B14F-4D97-AF65-F5344CB8AC3E}">
        <p14:creationId xmlns:p14="http://schemas.microsoft.com/office/powerpoint/2010/main" val="1775305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 calcmode="lin" valueType="num">
                                      <p:cBhvr additive="base">
                                        <p:cTn id="1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 calcmode="lin" valueType="num">
                                      <p:cBhvr additive="base">
                                        <p:cTn id="15"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 calcmode="lin" valueType="num">
                                      <p:cBhvr additive="base">
                                        <p:cTn id="19"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 calcmode="lin" valueType="num">
                                      <p:cBhvr additive="base">
                                        <p:cTn id="25"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 calcmode="lin" valueType="num">
                                      <p:cBhvr additive="base">
                                        <p:cTn id="29"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 calcmode="lin" valueType="num">
                                      <p:cBhvr additive="base">
                                        <p:cTn id="33"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
                                            <p:txEl>
                                              <p:pRg st="7" end="7"/>
                                            </p:txEl>
                                          </p:spTgt>
                                        </p:tgtEl>
                                        <p:attrNameLst>
                                          <p:attrName>style.visibility</p:attrName>
                                        </p:attrNameLst>
                                      </p:cBhvr>
                                      <p:to>
                                        <p:strVal val="visible"/>
                                      </p:to>
                                    </p:set>
                                    <p:anim calcmode="lin" valueType="num">
                                      <p:cBhvr additive="base">
                                        <p:cTn id="37" dur="500" fill="hold"/>
                                        <p:tgtEl>
                                          <p:spTgt spid="1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
                                            <p:txEl>
                                              <p:pRg st="8" end="8"/>
                                            </p:txEl>
                                          </p:spTgt>
                                        </p:tgtEl>
                                        <p:attrNameLst>
                                          <p:attrName>style.visibility</p:attrName>
                                        </p:attrNameLst>
                                      </p:cBhvr>
                                      <p:to>
                                        <p:strVal val="visible"/>
                                      </p:to>
                                    </p:set>
                                    <p:anim calcmode="lin" valueType="num">
                                      <p:cBhvr additive="base">
                                        <p:cTn id="43" dur="500" fill="hold"/>
                                        <p:tgtEl>
                                          <p:spTgt spid="11">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1">
                                            <p:txEl>
                                              <p:pRg st="9" end="9"/>
                                            </p:txEl>
                                          </p:spTgt>
                                        </p:tgtEl>
                                        <p:attrNameLst>
                                          <p:attrName>style.visibility</p:attrName>
                                        </p:attrNameLst>
                                      </p:cBhvr>
                                      <p:to>
                                        <p:strVal val="visible"/>
                                      </p:to>
                                    </p:set>
                                    <p:anim calcmode="lin" valueType="num">
                                      <p:cBhvr additive="base">
                                        <p:cTn id="47" dur="500" fill="hold"/>
                                        <p:tgtEl>
                                          <p:spTgt spid="11">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1">
                                            <p:txEl>
                                              <p:pRg st="10" end="10"/>
                                            </p:txEl>
                                          </p:spTgt>
                                        </p:tgtEl>
                                        <p:attrNameLst>
                                          <p:attrName>style.visibility</p:attrName>
                                        </p:attrNameLst>
                                      </p:cBhvr>
                                      <p:to>
                                        <p:strVal val="visible"/>
                                      </p:to>
                                    </p:set>
                                    <p:anim calcmode="lin" valueType="num">
                                      <p:cBhvr additive="base">
                                        <p:cTn id="51" dur="500" fill="hold"/>
                                        <p:tgtEl>
                                          <p:spTgt spid="11">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1">
                                            <p:txEl>
                                              <p:pRg st="11" end="11"/>
                                            </p:txEl>
                                          </p:spTgt>
                                        </p:tgtEl>
                                        <p:attrNameLst>
                                          <p:attrName>style.visibility</p:attrName>
                                        </p:attrNameLst>
                                      </p:cBhvr>
                                      <p:to>
                                        <p:strVal val="visible"/>
                                      </p:to>
                                    </p:set>
                                    <p:anim calcmode="lin" valueType="num">
                                      <p:cBhvr additive="base">
                                        <p:cTn id="55" dur="500" fill="hold"/>
                                        <p:tgtEl>
                                          <p:spTgt spid="11">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barn(inVertical)">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1"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additive="base">
                                        <p:cTn id="66" dur="500" fill="hold"/>
                                        <p:tgtEl>
                                          <p:spTgt spid="13"/>
                                        </p:tgtEl>
                                        <p:attrNameLst>
                                          <p:attrName>ppt_x</p:attrName>
                                        </p:attrNameLst>
                                      </p:cBhvr>
                                      <p:tavLst>
                                        <p:tav tm="0">
                                          <p:val>
                                            <p:strVal val="#ppt_x"/>
                                          </p:val>
                                        </p:tav>
                                        <p:tav tm="100000">
                                          <p:val>
                                            <p:strVal val="#ppt_x"/>
                                          </p:val>
                                        </p:tav>
                                      </p:tavLst>
                                    </p:anim>
                                    <p:anim calcmode="lin" valueType="num">
                                      <p:cBhvr additive="base">
                                        <p:cTn id="67"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1"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ppt_x"/>
                                          </p:val>
                                        </p:tav>
                                        <p:tav tm="100000">
                                          <p:val>
                                            <p:strVal val="#ppt_x"/>
                                          </p:val>
                                        </p:tav>
                                      </p:tavLst>
                                    </p:anim>
                                    <p:anim calcmode="lin" valueType="num">
                                      <p:cBhvr additive="base">
                                        <p:cTn id="73"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1" fill="hold" grpId="0" nodeType="clickEffect">
                                  <p:stCondLst>
                                    <p:cond delay="0"/>
                                  </p:stCondLst>
                                  <p:childTnLst>
                                    <p:set>
                                      <p:cBhvr>
                                        <p:cTn id="77" dur="1" fill="hold">
                                          <p:stCondLst>
                                            <p:cond delay="0"/>
                                          </p:stCondLst>
                                        </p:cTn>
                                        <p:tgtEl>
                                          <p:spTgt spid="15"/>
                                        </p:tgtEl>
                                        <p:attrNameLst>
                                          <p:attrName>style.visibility</p:attrName>
                                        </p:attrNameLst>
                                      </p:cBhvr>
                                      <p:to>
                                        <p:strVal val="visible"/>
                                      </p:to>
                                    </p:set>
                                    <p:anim calcmode="lin" valueType="num">
                                      <p:cBhvr additive="base">
                                        <p:cTn id="78" dur="500" fill="hold"/>
                                        <p:tgtEl>
                                          <p:spTgt spid="15"/>
                                        </p:tgtEl>
                                        <p:attrNameLst>
                                          <p:attrName>ppt_x</p:attrName>
                                        </p:attrNameLst>
                                      </p:cBhvr>
                                      <p:tavLst>
                                        <p:tav tm="0">
                                          <p:val>
                                            <p:strVal val="#ppt_x"/>
                                          </p:val>
                                        </p:tav>
                                        <p:tav tm="100000">
                                          <p:val>
                                            <p:strVal val="#ppt_x"/>
                                          </p:val>
                                        </p:tav>
                                      </p:tavLst>
                                    </p:anim>
                                    <p:anim calcmode="lin" valueType="num">
                                      <p:cBhvr additive="base">
                                        <p:cTn id="79"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animBg="1" autoUpdateAnimBg="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38652FD-501B-4C8F-B125-1576074F3076}"/>
              </a:ext>
            </a:extLst>
          </p:cNvPr>
          <p:cNvSpPr>
            <a:spLocks noChangeArrowheads="1"/>
          </p:cNvSpPr>
          <p:nvPr/>
        </p:nvSpPr>
        <p:spPr bwMode="auto">
          <a:xfrm>
            <a:off x="3123693" y="1415661"/>
            <a:ext cx="1720189" cy="806152"/>
          </a:xfrm>
          <a:prstGeom prst="rect">
            <a:avLst/>
          </a:prstGeom>
          <a:solidFill>
            <a:srgbClr val="FF99CC"/>
          </a:solidFill>
          <a:ln w="9525">
            <a:solidFill>
              <a:schemeClr val="tx1"/>
            </a:solidFill>
            <a:miter lim="800000"/>
            <a:headEnd/>
            <a:tailEnd/>
          </a:ln>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800">
              <a:solidFill>
                <a:schemeClr val="tx1"/>
              </a:solidFill>
              <a:ea typeface="宋体" panose="02010600030101010101" pitchFamily="2" charset="-122"/>
            </a:endParaRPr>
          </a:p>
        </p:txBody>
      </p:sp>
      <p:sp>
        <p:nvSpPr>
          <p:cNvPr id="3" name="Rectangle 3">
            <a:extLst>
              <a:ext uri="{FF2B5EF4-FFF2-40B4-BE49-F238E27FC236}">
                <a16:creationId xmlns:a16="http://schemas.microsoft.com/office/drawing/2014/main" id="{C21B4FC9-B9E3-4EBF-8898-8705BC1B69B9}"/>
              </a:ext>
            </a:extLst>
          </p:cNvPr>
          <p:cNvSpPr>
            <a:spLocks noChangeArrowheads="1"/>
          </p:cNvSpPr>
          <p:nvPr/>
        </p:nvSpPr>
        <p:spPr bwMode="auto">
          <a:xfrm>
            <a:off x="441325" y="3783615"/>
            <a:ext cx="2538413" cy="1219200"/>
          </a:xfrm>
          <a:prstGeom prst="rect">
            <a:avLst/>
          </a:prstGeom>
          <a:solidFill>
            <a:srgbClr val="FF99CC"/>
          </a:solidFill>
          <a:ln w="9525">
            <a:solidFill>
              <a:schemeClr val="tx1"/>
            </a:solidFill>
            <a:miter lim="800000"/>
            <a:headEnd/>
            <a:tailEnd/>
          </a:ln>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4" name="Rectangle 4">
            <a:extLst>
              <a:ext uri="{FF2B5EF4-FFF2-40B4-BE49-F238E27FC236}">
                <a16:creationId xmlns:a16="http://schemas.microsoft.com/office/drawing/2014/main" id="{EE0833FE-182E-484C-9367-F2018E46EC50}"/>
              </a:ext>
            </a:extLst>
          </p:cNvPr>
          <p:cNvSpPr>
            <a:spLocks noChangeArrowheads="1"/>
          </p:cNvSpPr>
          <p:nvPr/>
        </p:nvSpPr>
        <p:spPr bwMode="auto">
          <a:xfrm>
            <a:off x="4555622" y="3714803"/>
            <a:ext cx="2590800" cy="1219200"/>
          </a:xfrm>
          <a:prstGeom prst="rect">
            <a:avLst/>
          </a:prstGeom>
          <a:solidFill>
            <a:srgbClr val="FF99CC"/>
          </a:solidFill>
          <a:ln w="9525">
            <a:solidFill>
              <a:schemeClr val="tx1"/>
            </a:solidFill>
            <a:miter lim="800000"/>
            <a:headEnd/>
            <a:tailEnd/>
          </a:ln>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5" name="Text Box 5">
            <a:extLst>
              <a:ext uri="{FF2B5EF4-FFF2-40B4-BE49-F238E27FC236}">
                <a16:creationId xmlns:a16="http://schemas.microsoft.com/office/drawing/2014/main" id="{8816AF70-DEF9-4D46-9635-6D671F2DBD91}"/>
              </a:ext>
            </a:extLst>
          </p:cNvPr>
          <p:cNvSpPr txBox="1">
            <a:spLocks noChangeArrowheads="1"/>
          </p:cNvSpPr>
          <p:nvPr/>
        </p:nvSpPr>
        <p:spPr bwMode="auto">
          <a:xfrm>
            <a:off x="3717925" y="897540"/>
            <a:ext cx="1371600" cy="523875"/>
          </a:xfrm>
          <a:prstGeom prst="rect">
            <a:avLst/>
          </a:prstGeom>
          <a:noFill/>
          <a:ln w="9525">
            <a:noFill/>
            <a:miter lim="800000"/>
            <a:headEnd/>
            <a:tailEnd/>
          </a:ln>
          <a:effectLst/>
        </p:spPr>
        <p:txBody>
          <a:bodyPr>
            <a:spAutoFit/>
          </a:bodyPr>
          <a:lstStyle/>
          <a:p>
            <a:pPr eaLnBrk="1" hangingPunct="1">
              <a:spcBef>
                <a:spcPct val="50000"/>
              </a:spcBef>
              <a:defRPr/>
            </a:pPr>
            <a:r>
              <a:rPr lang="en-US" altLang="zh-CN" sz="2800" b="0">
                <a:solidFill>
                  <a:srgbClr val="104E87"/>
                </a:solidFill>
                <a:effectLst>
                  <a:outerShdw blurRad="38100" dist="38100" dir="2700000" algn="tl">
                    <a:srgbClr val="C0C0C0"/>
                  </a:outerShdw>
                </a:effectLst>
                <a:latin typeface="Comic Sans MS" panose="030F0702030302020204" pitchFamily="66" charset="0"/>
              </a:rPr>
              <a:t>Base</a:t>
            </a:r>
          </a:p>
        </p:txBody>
      </p:sp>
      <p:sp>
        <p:nvSpPr>
          <p:cNvPr id="6" name="Text Box 6">
            <a:extLst>
              <a:ext uri="{FF2B5EF4-FFF2-40B4-BE49-F238E27FC236}">
                <a16:creationId xmlns:a16="http://schemas.microsoft.com/office/drawing/2014/main" id="{D91E8647-6E1D-4CCC-A2E2-F732DFD88A51}"/>
              </a:ext>
            </a:extLst>
          </p:cNvPr>
          <p:cNvSpPr txBox="1">
            <a:spLocks noChangeArrowheads="1"/>
          </p:cNvSpPr>
          <p:nvPr/>
        </p:nvSpPr>
        <p:spPr bwMode="auto">
          <a:xfrm>
            <a:off x="3266081" y="1536013"/>
            <a:ext cx="1752600" cy="523875"/>
          </a:xfrm>
          <a:prstGeom prst="rect">
            <a:avLst/>
          </a:prstGeom>
          <a:noFill/>
          <a:ln w="9525">
            <a:noFill/>
            <a:miter lim="800000"/>
            <a:headEnd/>
            <a:tailEnd/>
          </a:ln>
          <a:effectLst/>
        </p:spPr>
        <p:txBody>
          <a:bodyPr>
            <a:spAutoFit/>
          </a:bodyPr>
          <a:lstStyle/>
          <a:p>
            <a:pPr eaLnBrk="1" hangingPunct="1">
              <a:spcBef>
                <a:spcPct val="50000"/>
              </a:spcBef>
              <a:defRPr/>
            </a:pPr>
            <a:r>
              <a:rPr lang="en-US" altLang="zh-CN" sz="2800" b="0">
                <a:solidFill>
                  <a:srgbClr val="0000FF"/>
                </a:solidFill>
                <a:effectLst>
                  <a:outerShdw blurRad="38100" dist="38100" dir="2700000" algn="tl">
                    <a:srgbClr val="C0C0C0"/>
                  </a:outerShdw>
                </a:effectLst>
                <a:latin typeface="Arial" pitchFamily="34" charset="0"/>
              </a:rPr>
              <a:t>V  + who</a:t>
            </a:r>
          </a:p>
        </p:txBody>
      </p:sp>
      <p:sp>
        <p:nvSpPr>
          <p:cNvPr id="7" name="Text Box 7">
            <a:extLst>
              <a:ext uri="{FF2B5EF4-FFF2-40B4-BE49-F238E27FC236}">
                <a16:creationId xmlns:a16="http://schemas.microsoft.com/office/drawing/2014/main" id="{6D2A7AF6-4E8A-4413-A136-98D2449E0A59}"/>
              </a:ext>
            </a:extLst>
          </p:cNvPr>
          <p:cNvSpPr txBox="1">
            <a:spLocks noChangeArrowheads="1"/>
          </p:cNvSpPr>
          <p:nvPr/>
        </p:nvSpPr>
        <p:spPr bwMode="auto">
          <a:xfrm>
            <a:off x="822325" y="3174015"/>
            <a:ext cx="2157413"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b="0" dirty="0" err="1">
                <a:solidFill>
                  <a:srgbClr val="104E87"/>
                </a:solidFill>
                <a:effectLst>
                  <a:outerShdw blurRad="38100" dist="38100" dir="2700000" algn="tl">
                    <a:srgbClr val="C0C0C0"/>
                  </a:outerShdw>
                </a:effectLst>
                <a:latin typeface="Comic Sans MS" panose="030F0702030302020204" pitchFamily="66" charset="0"/>
              </a:rPr>
              <a:t>Firstderived</a:t>
            </a:r>
            <a:endParaRPr lang="en-US" altLang="zh-CN" b="0" dirty="0">
              <a:solidFill>
                <a:srgbClr val="104E87"/>
              </a:solidFill>
              <a:effectLst>
                <a:outerShdw blurRad="38100" dist="38100" dir="2700000" algn="tl">
                  <a:srgbClr val="C0C0C0"/>
                </a:outerShdw>
              </a:effectLst>
              <a:latin typeface="Comic Sans MS" panose="030F0702030302020204" pitchFamily="66" charset="0"/>
            </a:endParaRPr>
          </a:p>
        </p:txBody>
      </p:sp>
      <p:sp>
        <p:nvSpPr>
          <p:cNvPr id="8" name="Text Box 8">
            <a:extLst>
              <a:ext uri="{FF2B5EF4-FFF2-40B4-BE49-F238E27FC236}">
                <a16:creationId xmlns:a16="http://schemas.microsoft.com/office/drawing/2014/main" id="{FBF1C804-2530-456B-BED7-F57197AD99E3}"/>
              </a:ext>
            </a:extLst>
          </p:cNvPr>
          <p:cNvSpPr txBox="1">
            <a:spLocks noChangeArrowheads="1"/>
          </p:cNvSpPr>
          <p:nvPr/>
        </p:nvSpPr>
        <p:spPr bwMode="auto">
          <a:xfrm>
            <a:off x="593725" y="3859815"/>
            <a:ext cx="2286000" cy="1015663"/>
          </a:xfrm>
          <a:prstGeom prst="rect">
            <a:avLst/>
          </a:prstGeom>
          <a:noFill/>
          <a:ln w="9525">
            <a:noFill/>
            <a:miter lim="800000"/>
            <a:headEnd/>
            <a:tailEnd/>
          </a:ln>
          <a:effectLst/>
        </p:spPr>
        <p:txBody>
          <a:bodyPr>
            <a:spAutoFit/>
          </a:bodyPr>
          <a:lstStyle/>
          <a:p>
            <a:pPr eaLnBrk="1" hangingPunct="1">
              <a:spcBef>
                <a:spcPct val="50000"/>
              </a:spcBef>
              <a:defRPr/>
            </a:pPr>
            <a:r>
              <a:rPr lang="zh-CN" altLang="en-US" b="0">
                <a:solidFill>
                  <a:srgbClr val="0000FF"/>
                </a:solidFill>
                <a:effectLst>
                  <a:outerShdw blurRad="38100" dist="38100" dir="2700000" algn="tl">
                    <a:srgbClr val="C0C0C0"/>
                  </a:outerShdw>
                </a:effectLst>
                <a:latin typeface="Arial" pitchFamily="34" charset="0"/>
              </a:rPr>
              <a:t>+ </a:t>
            </a:r>
            <a:r>
              <a:rPr lang="en-US" altLang="zh-CN" b="0">
                <a:solidFill>
                  <a:srgbClr val="0000FF"/>
                </a:solidFill>
                <a:effectLst>
                  <a:outerShdw blurRad="38100" dist="38100" dir="2700000" algn="tl">
                    <a:srgbClr val="C0C0C0"/>
                  </a:outerShdw>
                </a:effectLst>
                <a:latin typeface="Arial" pitchFamily="34" charset="0"/>
              </a:rPr>
              <a:t>void who()</a:t>
            </a:r>
          </a:p>
          <a:p>
            <a:pPr eaLnBrk="1" hangingPunct="1">
              <a:spcBef>
                <a:spcPct val="50000"/>
              </a:spcBef>
              <a:defRPr/>
            </a:pPr>
            <a:r>
              <a:rPr lang="en-US" altLang="zh-CN" b="0">
                <a:solidFill>
                  <a:srgbClr val="0000FF"/>
                </a:solidFill>
                <a:effectLst>
                  <a:outerShdw blurRad="38100" dist="38100" dir="2700000" algn="tl">
                    <a:srgbClr val="C0C0C0"/>
                  </a:outerShdw>
                </a:effectLst>
                <a:latin typeface="Arial" pitchFamily="34" charset="0"/>
              </a:rPr>
              <a:t>+ void who()</a:t>
            </a:r>
          </a:p>
        </p:txBody>
      </p:sp>
      <p:sp>
        <p:nvSpPr>
          <p:cNvPr id="9" name="Text Box 9">
            <a:extLst>
              <a:ext uri="{FF2B5EF4-FFF2-40B4-BE49-F238E27FC236}">
                <a16:creationId xmlns:a16="http://schemas.microsoft.com/office/drawing/2014/main" id="{3960088D-81A6-4622-90A8-6277B2B57011}"/>
              </a:ext>
            </a:extLst>
          </p:cNvPr>
          <p:cNvSpPr txBox="1">
            <a:spLocks noChangeArrowheads="1"/>
          </p:cNvSpPr>
          <p:nvPr/>
        </p:nvSpPr>
        <p:spPr bwMode="auto">
          <a:xfrm>
            <a:off x="5018681" y="3105203"/>
            <a:ext cx="2362200" cy="461665"/>
          </a:xfrm>
          <a:prstGeom prst="rect">
            <a:avLst/>
          </a:prstGeom>
          <a:noFill/>
          <a:ln w="9525">
            <a:noFill/>
            <a:miter lim="800000"/>
            <a:headEnd/>
            <a:tailEnd/>
          </a:ln>
          <a:effectLst/>
        </p:spPr>
        <p:txBody>
          <a:bodyPr wrap="square">
            <a:spAutoFit/>
          </a:bodyPr>
          <a:lstStyle/>
          <a:p>
            <a:pPr eaLnBrk="1" hangingPunct="1">
              <a:spcBef>
                <a:spcPct val="50000"/>
              </a:spcBef>
              <a:defRPr/>
            </a:pPr>
            <a:r>
              <a:rPr lang="en-US" altLang="zh-CN" b="0" dirty="0" err="1">
                <a:solidFill>
                  <a:srgbClr val="104E87"/>
                </a:solidFill>
                <a:effectLst>
                  <a:outerShdw blurRad="38100" dist="38100" dir="2700000" algn="tl">
                    <a:srgbClr val="C0C0C0"/>
                  </a:outerShdw>
                </a:effectLst>
                <a:latin typeface="Comic Sans MS" panose="030F0702030302020204" pitchFamily="66" charset="0"/>
              </a:rPr>
              <a:t>Secondderived</a:t>
            </a:r>
            <a:endParaRPr lang="en-US" altLang="zh-CN" b="0" dirty="0">
              <a:solidFill>
                <a:srgbClr val="104E87"/>
              </a:solidFill>
              <a:effectLst>
                <a:outerShdw blurRad="38100" dist="38100" dir="2700000" algn="tl">
                  <a:srgbClr val="C0C0C0"/>
                </a:outerShdw>
              </a:effectLst>
              <a:latin typeface="Comic Sans MS" panose="030F0702030302020204" pitchFamily="66" charset="0"/>
            </a:endParaRPr>
          </a:p>
        </p:txBody>
      </p:sp>
      <p:sp>
        <p:nvSpPr>
          <p:cNvPr id="10" name="Text Box 10">
            <a:extLst>
              <a:ext uri="{FF2B5EF4-FFF2-40B4-BE49-F238E27FC236}">
                <a16:creationId xmlns:a16="http://schemas.microsoft.com/office/drawing/2014/main" id="{9878F370-B4F2-4E9C-8CC3-AF6542B67D2E}"/>
              </a:ext>
            </a:extLst>
          </p:cNvPr>
          <p:cNvSpPr txBox="1">
            <a:spLocks noChangeArrowheads="1"/>
          </p:cNvSpPr>
          <p:nvPr/>
        </p:nvSpPr>
        <p:spPr bwMode="auto">
          <a:xfrm>
            <a:off x="4708022" y="3867203"/>
            <a:ext cx="2286000" cy="1015663"/>
          </a:xfrm>
          <a:prstGeom prst="rect">
            <a:avLst/>
          </a:prstGeom>
          <a:noFill/>
          <a:ln w="9525">
            <a:noFill/>
            <a:miter lim="800000"/>
            <a:headEnd/>
            <a:tailEnd/>
          </a:ln>
          <a:effectLst/>
        </p:spPr>
        <p:txBody>
          <a:bodyPr>
            <a:spAutoFit/>
          </a:bodyPr>
          <a:lstStyle/>
          <a:p>
            <a:pPr eaLnBrk="1" hangingPunct="1">
              <a:spcBef>
                <a:spcPct val="50000"/>
              </a:spcBef>
              <a:defRPr/>
            </a:pPr>
            <a:r>
              <a:rPr lang="zh-CN" altLang="en-US" b="0">
                <a:solidFill>
                  <a:srgbClr val="0000FF"/>
                </a:solidFill>
                <a:effectLst>
                  <a:outerShdw blurRad="38100" dist="38100" dir="2700000" algn="tl">
                    <a:srgbClr val="C0C0C0"/>
                  </a:outerShdw>
                </a:effectLst>
                <a:latin typeface="Arial" pitchFamily="34" charset="0"/>
              </a:rPr>
              <a:t>+ </a:t>
            </a:r>
            <a:r>
              <a:rPr lang="en-US" altLang="zh-CN" b="0">
                <a:solidFill>
                  <a:srgbClr val="0000FF"/>
                </a:solidFill>
                <a:effectLst>
                  <a:outerShdw blurRad="38100" dist="38100" dir="2700000" algn="tl">
                    <a:srgbClr val="C0C0C0"/>
                  </a:outerShdw>
                </a:effectLst>
                <a:latin typeface="Arial" pitchFamily="34" charset="0"/>
              </a:rPr>
              <a:t>void who()</a:t>
            </a:r>
          </a:p>
          <a:p>
            <a:pPr eaLnBrk="1" hangingPunct="1">
              <a:spcBef>
                <a:spcPct val="50000"/>
              </a:spcBef>
              <a:defRPr/>
            </a:pPr>
            <a:r>
              <a:rPr lang="en-US" altLang="zh-CN" b="0">
                <a:solidFill>
                  <a:srgbClr val="0000FF"/>
                </a:solidFill>
                <a:effectLst>
                  <a:outerShdw blurRad="38100" dist="38100" dir="2700000" algn="tl">
                    <a:srgbClr val="C0C0C0"/>
                  </a:outerShdw>
                </a:effectLst>
                <a:latin typeface="Arial" pitchFamily="34" charset="0"/>
              </a:rPr>
              <a:t>+ void who()</a:t>
            </a:r>
          </a:p>
        </p:txBody>
      </p:sp>
      <p:sp>
        <p:nvSpPr>
          <p:cNvPr id="11" name="Line 11">
            <a:extLst>
              <a:ext uri="{FF2B5EF4-FFF2-40B4-BE49-F238E27FC236}">
                <a16:creationId xmlns:a16="http://schemas.microsoft.com/office/drawing/2014/main" id="{A0E279D6-B583-4835-A01A-38BB3F3F9CBF}"/>
              </a:ext>
            </a:extLst>
          </p:cNvPr>
          <p:cNvSpPr>
            <a:spLocks noChangeShapeType="1"/>
          </p:cNvSpPr>
          <p:nvPr/>
        </p:nvSpPr>
        <p:spPr bwMode="auto">
          <a:xfrm flipV="1">
            <a:off x="2651125" y="2259615"/>
            <a:ext cx="1066800" cy="15240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12">
            <a:extLst>
              <a:ext uri="{FF2B5EF4-FFF2-40B4-BE49-F238E27FC236}">
                <a16:creationId xmlns:a16="http://schemas.microsoft.com/office/drawing/2014/main" id="{3B9B4394-ACD5-442B-9EF5-E0439B5BB082}"/>
              </a:ext>
            </a:extLst>
          </p:cNvPr>
          <p:cNvSpPr>
            <a:spLocks noChangeShapeType="1"/>
          </p:cNvSpPr>
          <p:nvPr/>
        </p:nvSpPr>
        <p:spPr bwMode="auto">
          <a:xfrm flipH="1" flipV="1">
            <a:off x="4403725" y="2259615"/>
            <a:ext cx="838200" cy="14478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 name="Text Box 13">
            <a:extLst>
              <a:ext uri="{FF2B5EF4-FFF2-40B4-BE49-F238E27FC236}">
                <a16:creationId xmlns:a16="http://schemas.microsoft.com/office/drawing/2014/main" id="{6D43ABD1-2FAD-4535-9A8B-0A751A78786E}"/>
              </a:ext>
            </a:extLst>
          </p:cNvPr>
          <p:cNvSpPr txBox="1">
            <a:spLocks noChangeArrowheads="1"/>
          </p:cNvSpPr>
          <p:nvPr/>
        </p:nvSpPr>
        <p:spPr bwMode="auto">
          <a:xfrm>
            <a:off x="2498725" y="4469415"/>
            <a:ext cx="8382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b="0">
                <a:effectLst>
                  <a:outerShdw blurRad="38100" dist="38100" dir="2700000" algn="tl">
                    <a:srgbClr val="C0C0C0"/>
                  </a:outerShdw>
                </a:effectLst>
                <a:latin typeface="Arial" pitchFamily="34" charset="0"/>
              </a:rPr>
              <a:t>√</a:t>
            </a:r>
          </a:p>
        </p:txBody>
      </p:sp>
      <p:sp>
        <p:nvSpPr>
          <p:cNvPr id="14" name="Text Box 14">
            <a:extLst>
              <a:ext uri="{FF2B5EF4-FFF2-40B4-BE49-F238E27FC236}">
                <a16:creationId xmlns:a16="http://schemas.microsoft.com/office/drawing/2014/main" id="{80E9CBBE-91A3-4861-8D6E-DBF265FBBBA8}"/>
              </a:ext>
            </a:extLst>
          </p:cNvPr>
          <p:cNvSpPr txBox="1">
            <a:spLocks noChangeArrowheads="1"/>
          </p:cNvSpPr>
          <p:nvPr/>
        </p:nvSpPr>
        <p:spPr bwMode="auto">
          <a:xfrm>
            <a:off x="6613022" y="4400603"/>
            <a:ext cx="3810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b="0">
                <a:effectLst>
                  <a:outerShdw blurRad="38100" dist="38100" dir="2700000" algn="tl">
                    <a:srgbClr val="C0C0C0"/>
                  </a:outerShdw>
                </a:effectLst>
                <a:latin typeface="Arial" pitchFamily="34" charset="0"/>
              </a:rPr>
              <a:t>√</a:t>
            </a:r>
          </a:p>
        </p:txBody>
      </p:sp>
      <p:sp>
        <p:nvSpPr>
          <p:cNvPr id="15" name="Text Box 15">
            <a:extLst>
              <a:ext uri="{FF2B5EF4-FFF2-40B4-BE49-F238E27FC236}">
                <a16:creationId xmlns:a16="http://schemas.microsoft.com/office/drawing/2014/main" id="{043B609E-0303-43EC-96D8-CABE562A218C}"/>
              </a:ext>
            </a:extLst>
          </p:cNvPr>
          <p:cNvSpPr txBox="1">
            <a:spLocks noChangeArrowheads="1"/>
          </p:cNvSpPr>
          <p:nvPr/>
        </p:nvSpPr>
        <p:spPr bwMode="auto">
          <a:xfrm>
            <a:off x="974725" y="1153922"/>
            <a:ext cx="18288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VTABLE</a:t>
            </a:r>
          </a:p>
        </p:txBody>
      </p:sp>
      <p:sp>
        <p:nvSpPr>
          <p:cNvPr id="16" name="Text Box 16">
            <a:extLst>
              <a:ext uri="{FF2B5EF4-FFF2-40B4-BE49-F238E27FC236}">
                <a16:creationId xmlns:a16="http://schemas.microsoft.com/office/drawing/2014/main" id="{AB1940D6-8D05-4A93-8690-C718FDEBA9BB}"/>
              </a:ext>
            </a:extLst>
          </p:cNvPr>
          <p:cNvSpPr txBox="1">
            <a:spLocks noChangeArrowheads="1"/>
          </p:cNvSpPr>
          <p:nvPr/>
        </p:nvSpPr>
        <p:spPr bwMode="auto">
          <a:xfrm>
            <a:off x="136526" y="1611122"/>
            <a:ext cx="2743199" cy="461665"/>
          </a:xfrm>
          <a:prstGeom prst="rect">
            <a:avLst/>
          </a:prstGeom>
          <a:noFill/>
          <a:ln w="9525">
            <a:solidFill>
              <a:schemeClr val="accent1"/>
            </a:solidFill>
            <a:miter lim="800000"/>
            <a:headEnd/>
            <a:tailEnd/>
          </a:ln>
          <a:effectLst/>
        </p:spPr>
        <p:txBody>
          <a:bodyPr wrap="square">
            <a:spAutoFit/>
          </a:bodyPr>
          <a:lstStyle/>
          <a:p>
            <a:pPr eaLnBrk="1" hangingPunct="1">
              <a:spcBef>
                <a:spcPct val="50000"/>
              </a:spcBef>
              <a:defRPr/>
            </a:pPr>
            <a:r>
              <a:rPr lang="en-US" altLang="zh-CN" dirty="0">
                <a:solidFill>
                  <a:srgbClr val="FF0000"/>
                </a:solidFill>
                <a:effectLst>
                  <a:outerShdw blurRad="38100" dist="38100" dir="2700000" algn="tl">
                    <a:srgbClr val="C0C0C0"/>
                  </a:outerShdw>
                </a:effectLst>
                <a:latin typeface="Comic Sans MS" panose="030F0702030302020204" pitchFamily="66" charset="0"/>
              </a:rPr>
              <a:t>Base::who( )   100  </a:t>
            </a:r>
          </a:p>
        </p:txBody>
      </p:sp>
      <p:sp>
        <p:nvSpPr>
          <p:cNvPr id="17" name="Text Box 17">
            <a:extLst>
              <a:ext uri="{FF2B5EF4-FFF2-40B4-BE49-F238E27FC236}">
                <a16:creationId xmlns:a16="http://schemas.microsoft.com/office/drawing/2014/main" id="{69ACDF1F-AC22-4479-BD2A-53F2F83AAB1D}"/>
              </a:ext>
            </a:extLst>
          </p:cNvPr>
          <p:cNvSpPr txBox="1">
            <a:spLocks noChangeArrowheads="1"/>
          </p:cNvSpPr>
          <p:nvPr/>
        </p:nvSpPr>
        <p:spPr bwMode="auto">
          <a:xfrm>
            <a:off x="60325" y="1136459"/>
            <a:ext cx="9906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rgbClr val="FF0000"/>
                </a:solidFill>
                <a:effectLst>
                  <a:outerShdw blurRad="38100" dist="38100" dir="2700000" algn="tl">
                    <a:srgbClr val="C0C0C0"/>
                  </a:outerShdw>
                </a:effectLst>
                <a:latin typeface="Arial" pitchFamily="34" charset="0"/>
              </a:rPr>
              <a:t>1000</a:t>
            </a:r>
          </a:p>
        </p:txBody>
      </p:sp>
      <p:sp>
        <p:nvSpPr>
          <p:cNvPr id="18" name="Text Box 18">
            <a:extLst>
              <a:ext uri="{FF2B5EF4-FFF2-40B4-BE49-F238E27FC236}">
                <a16:creationId xmlns:a16="http://schemas.microsoft.com/office/drawing/2014/main" id="{5CF0DB5E-8612-4987-8256-AB3E2DEB55CC}"/>
              </a:ext>
            </a:extLst>
          </p:cNvPr>
          <p:cNvSpPr txBox="1">
            <a:spLocks noChangeArrowheads="1"/>
          </p:cNvSpPr>
          <p:nvPr/>
        </p:nvSpPr>
        <p:spPr bwMode="auto">
          <a:xfrm>
            <a:off x="1127125" y="5291740"/>
            <a:ext cx="18288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VTABLE</a:t>
            </a:r>
          </a:p>
        </p:txBody>
      </p:sp>
      <p:sp>
        <p:nvSpPr>
          <p:cNvPr id="19" name="Text Box 19">
            <a:extLst>
              <a:ext uri="{FF2B5EF4-FFF2-40B4-BE49-F238E27FC236}">
                <a16:creationId xmlns:a16="http://schemas.microsoft.com/office/drawing/2014/main" id="{D245BED8-4907-4C50-ACB4-0E96DB8C0352}"/>
              </a:ext>
            </a:extLst>
          </p:cNvPr>
          <p:cNvSpPr txBox="1">
            <a:spLocks noChangeArrowheads="1"/>
          </p:cNvSpPr>
          <p:nvPr/>
        </p:nvSpPr>
        <p:spPr bwMode="auto">
          <a:xfrm>
            <a:off x="136525" y="5791803"/>
            <a:ext cx="3200400" cy="461665"/>
          </a:xfrm>
          <a:prstGeom prst="rect">
            <a:avLst/>
          </a:prstGeom>
          <a:noFill/>
          <a:ln w="9525">
            <a:solidFill>
              <a:schemeClr val="accent1"/>
            </a:solidFill>
            <a:miter lim="800000"/>
            <a:headEnd/>
            <a:tailEnd/>
          </a:ln>
          <a:effectLst/>
        </p:spPr>
        <p:txBody>
          <a:bodyPr wrap="square">
            <a:spAutoFit/>
          </a:bodyPr>
          <a:lstStyle/>
          <a:p>
            <a:pPr eaLnBrk="1" hangingPunct="1">
              <a:spcBef>
                <a:spcPct val="50000"/>
              </a:spcBef>
              <a:defRPr/>
            </a:pPr>
            <a:r>
              <a:rPr lang="zh-CN" altLang="en-US" spc="-100" dirty="0">
                <a:solidFill>
                  <a:srgbClr val="FF0000"/>
                </a:solidFill>
                <a:effectLst>
                  <a:outerShdw blurRad="38100" dist="38100" dir="2700000" algn="tl">
                    <a:srgbClr val="C0C0C0"/>
                  </a:outerShdw>
                </a:effectLst>
                <a:latin typeface="Arial" pitchFamily="34" charset="0"/>
              </a:rPr>
              <a:t>  </a:t>
            </a:r>
            <a:r>
              <a:rPr lang="en-US" altLang="zh-CN" spc="-100" dirty="0" err="1">
                <a:solidFill>
                  <a:srgbClr val="FF0000"/>
                </a:solidFill>
                <a:effectLst>
                  <a:outerShdw blurRad="38100" dist="38100" dir="2700000" algn="tl">
                    <a:srgbClr val="C0C0C0"/>
                  </a:outerShdw>
                </a:effectLst>
                <a:latin typeface="Arial" pitchFamily="34" charset="0"/>
              </a:rPr>
              <a:t>Firstderived</a:t>
            </a:r>
            <a:r>
              <a:rPr lang="en-US" altLang="zh-CN" spc="-100" dirty="0">
                <a:solidFill>
                  <a:srgbClr val="FF0000"/>
                </a:solidFill>
                <a:effectLst>
                  <a:outerShdw blurRad="38100" dist="38100" dir="2700000" algn="tl">
                    <a:srgbClr val="C0C0C0"/>
                  </a:outerShdw>
                </a:effectLst>
                <a:latin typeface="Arial" pitchFamily="34" charset="0"/>
              </a:rPr>
              <a:t>::who( )200 </a:t>
            </a:r>
          </a:p>
        </p:txBody>
      </p:sp>
      <p:sp>
        <p:nvSpPr>
          <p:cNvPr id="20" name="Text Box 20">
            <a:extLst>
              <a:ext uri="{FF2B5EF4-FFF2-40B4-BE49-F238E27FC236}">
                <a16:creationId xmlns:a16="http://schemas.microsoft.com/office/drawing/2014/main" id="{EFDF32E8-85F0-4698-A5CE-59BC97237C40}"/>
              </a:ext>
            </a:extLst>
          </p:cNvPr>
          <p:cNvSpPr txBox="1">
            <a:spLocks noChangeArrowheads="1"/>
          </p:cNvSpPr>
          <p:nvPr/>
        </p:nvSpPr>
        <p:spPr bwMode="auto">
          <a:xfrm>
            <a:off x="136525" y="5215540"/>
            <a:ext cx="9906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solidFill>
                  <a:srgbClr val="FF0000"/>
                </a:solidFill>
                <a:effectLst>
                  <a:outerShdw blurRad="38100" dist="38100" dir="2700000" algn="tl">
                    <a:srgbClr val="C0C0C0"/>
                  </a:outerShdw>
                </a:effectLst>
                <a:latin typeface="Arial" pitchFamily="34" charset="0"/>
              </a:rPr>
              <a:t>2000</a:t>
            </a:r>
          </a:p>
        </p:txBody>
      </p:sp>
      <p:sp>
        <p:nvSpPr>
          <p:cNvPr id="21" name="Text Box 21">
            <a:extLst>
              <a:ext uri="{FF2B5EF4-FFF2-40B4-BE49-F238E27FC236}">
                <a16:creationId xmlns:a16="http://schemas.microsoft.com/office/drawing/2014/main" id="{25F620EC-A8B0-4710-B1B8-94D52473138E}"/>
              </a:ext>
            </a:extLst>
          </p:cNvPr>
          <p:cNvSpPr txBox="1">
            <a:spLocks noChangeArrowheads="1"/>
          </p:cNvSpPr>
          <p:nvPr/>
        </p:nvSpPr>
        <p:spPr bwMode="auto">
          <a:xfrm>
            <a:off x="5079516" y="5215540"/>
            <a:ext cx="18288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a:solidFill>
                  <a:srgbClr val="104E87"/>
                </a:solidFill>
                <a:effectLst>
                  <a:outerShdw blurRad="38100" dist="38100" dir="2700000" algn="tl">
                    <a:srgbClr val="C0C0C0"/>
                  </a:outerShdw>
                </a:effectLst>
                <a:latin typeface="Comic Sans MS" panose="030F0702030302020204" pitchFamily="66" charset="0"/>
              </a:rPr>
              <a:t>VTABLE</a:t>
            </a:r>
          </a:p>
        </p:txBody>
      </p:sp>
      <p:sp>
        <p:nvSpPr>
          <p:cNvPr id="22" name="Text Box 22">
            <a:extLst>
              <a:ext uri="{FF2B5EF4-FFF2-40B4-BE49-F238E27FC236}">
                <a16:creationId xmlns:a16="http://schemas.microsoft.com/office/drawing/2014/main" id="{3AB41E73-66D4-45EE-B761-885AD8E31BFF}"/>
              </a:ext>
            </a:extLst>
          </p:cNvPr>
          <p:cNvSpPr txBox="1">
            <a:spLocks noChangeArrowheads="1"/>
          </p:cNvSpPr>
          <p:nvPr/>
        </p:nvSpPr>
        <p:spPr bwMode="auto">
          <a:xfrm>
            <a:off x="4028592" y="5718778"/>
            <a:ext cx="3656014" cy="369332"/>
          </a:xfrm>
          <a:prstGeom prst="rect">
            <a:avLst/>
          </a:prstGeom>
          <a:noFill/>
          <a:ln w="9525">
            <a:solidFill>
              <a:schemeClr val="accent1"/>
            </a:solidFill>
            <a:miter lim="800000"/>
            <a:headEnd/>
            <a:tailEnd/>
          </a:ln>
          <a:effectLst/>
        </p:spPr>
        <p:txBody>
          <a:bodyPr wrap="square" lIns="0" tIns="0" rIns="0" bIns="0">
            <a:spAutoFit/>
          </a:bodyPr>
          <a:lstStyle/>
          <a:p>
            <a:pPr eaLnBrk="1" hangingPunct="1">
              <a:spcBef>
                <a:spcPct val="50000"/>
              </a:spcBef>
              <a:defRPr/>
            </a:pPr>
            <a:r>
              <a:rPr lang="zh-CN" altLang="en-US" dirty="0">
                <a:solidFill>
                  <a:srgbClr val="FF0000"/>
                </a:solidFill>
                <a:effectLst>
                  <a:outerShdw blurRad="38100" dist="38100" dir="2700000" algn="tl">
                    <a:srgbClr val="C0C0C0"/>
                  </a:outerShdw>
                </a:effectLst>
                <a:latin typeface="Arial" pitchFamily="34" charset="0"/>
              </a:rPr>
              <a:t>  </a:t>
            </a:r>
            <a:r>
              <a:rPr lang="en-US" altLang="zh-CN" spc="-100" dirty="0" err="1">
                <a:solidFill>
                  <a:srgbClr val="FF0000"/>
                </a:solidFill>
                <a:effectLst>
                  <a:outerShdw blurRad="38100" dist="38100" dir="2700000" algn="tl">
                    <a:srgbClr val="C0C0C0"/>
                  </a:outerShdw>
                </a:effectLst>
                <a:latin typeface="Arial" pitchFamily="34" charset="0"/>
              </a:rPr>
              <a:t>Secondderived</a:t>
            </a:r>
            <a:r>
              <a:rPr lang="en-US" altLang="zh-CN" spc="-100" dirty="0">
                <a:solidFill>
                  <a:srgbClr val="FF0000"/>
                </a:solidFill>
                <a:effectLst>
                  <a:outerShdw blurRad="38100" dist="38100" dir="2700000" algn="tl">
                    <a:srgbClr val="C0C0C0"/>
                  </a:outerShdw>
                </a:effectLst>
                <a:latin typeface="Arial" pitchFamily="34" charset="0"/>
              </a:rPr>
              <a:t>::who( ) 300   </a:t>
            </a:r>
          </a:p>
        </p:txBody>
      </p:sp>
      <p:sp>
        <p:nvSpPr>
          <p:cNvPr id="23" name="Text Box 23">
            <a:extLst>
              <a:ext uri="{FF2B5EF4-FFF2-40B4-BE49-F238E27FC236}">
                <a16:creationId xmlns:a16="http://schemas.microsoft.com/office/drawing/2014/main" id="{7133F581-89B5-4FAF-9232-C0CA79336325}"/>
              </a:ext>
            </a:extLst>
          </p:cNvPr>
          <p:cNvSpPr txBox="1">
            <a:spLocks noChangeArrowheads="1"/>
          </p:cNvSpPr>
          <p:nvPr/>
        </p:nvSpPr>
        <p:spPr bwMode="auto">
          <a:xfrm>
            <a:off x="4165116" y="5291740"/>
            <a:ext cx="9906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solidFill>
                  <a:srgbClr val="FF0000"/>
                </a:solidFill>
                <a:effectLst>
                  <a:outerShdw blurRad="38100" dist="38100" dir="2700000" algn="tl">
                    <a:srgbClr val="C0C0C0"/>
                  </a:outerShdw>
                </a:effectLst>
                <a:latin typeface="Arial" pitchFamily="34" charset="0"/>
              </a:rPr>
              <a:t>3000</a:t>
            </a:r>
          </a:p>
        </p:txBody>
      </p:sp>
      <p:sp>
        <p:nvSpPr>
          <p:cNvPr id="24" name="矩形 23">
            <a:extLst>
              <a:ext uri="{FF2B5EF4-FFF2-40B4-BE49-F238E27FC236}">
                <a16:creationId xmlns:a16="http://schemas.microsoft.com/office/drawing/2014/main" id="{D22E2022-C3AE-48A3-BEC4-EB85D396100A}"/>
              </a:ext>
            </a:extLst>
          </p:cNvPr>
          <p:cNvSpPr/>
          <p:nvPr/>
        </p:nvSpPr>
        <p:spPr>
          <a:xfrm>
            <a:off x="6743526" y="867254"/>
            <a:ext cx="5594698" cy="238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600"/>
              </a:spcBef>
            </a:pPr>
            <a:r>
              <a:rPr lang="zh-CN" altLang="en-US" dirty="0">
                <a:solidFill>
                  <a:srgbClr val="104E87"/>
                </a:solidFill>
                <a:latin typeface="Comic Sans MS" panose="030F0702030302020204" pitchFamily="66" charset="0"/>
                <a:ea typeface="华光行书_CNKI" panose="02000500000000000000" pitchFamily="2" charset="-122"/>
              </a:rPr>
              <a:t>基类的虚函数定义了一种接口，在派生类中为此接口定义不同的实现版本，由于虚函数的解释机制，实现“一个接口、多种实现”的思想，在运行时刻才将函数与不同实现版本进行匹配</a:t>
            </a:r>
          </a:p>
          <a:p>
            <a:pPr>
              <a:spcBef>
                <a:spcPts val="600"/>
              </a:spcBef>
            </a:pPr>
            <a:r>
              <a:rPr lang="zh-CN" altLang="en-US" dirty="0">
                <a:solidFill>
                  <a:srgbClr val="104E87"/>
                </a:solidFill>
                <a:latin typeface="Comic Sans MS" panose="030F0702030302020204" pitchFamily="66" charset="0"/>
                <a:ea typeface="华光行书_CNKI" panose="02000500000000000000" pitchFamily="2" charset="-122"/>
              </a:rPr>
              <a:t>			</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运行时的多态性</a:t>
            </a:r>
          </a:p>
        </p:txBody>
      </p:sp>
      <p:sp>
        <p:nvSpPr>
          <p:cNvPr id="25" name="矩形 24">
            <a:extLst>
              <a:ext uri="{FF2B5EF4-FFF2-40B4-BE49-F238E27FC236}">
                <a16:creationId xmlns:a16="http://schemas.microsoft.com/office/drawing/2014/main" id="{E6746064-242E-4107-A87A-6E1619C12771}"/>
              </a:ext>
            </a:extLst>
          </p:cNvPr>
          <p:cNvSpPr/>
          <p:nvPr/>
        </p:nvSpPr>
        <p:spPr>
          <a:xfrm>
            <a:off x="60325" y="184256"/>
            <a:ext cx="7034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600"/>
              </a:spcBef>
            </a:pPr>
            <a:r>
              <a:rPr lang="zh-CN" altLang="en-US" dirty="0">
                <a:solidFill>
                  <a:srgbClr val="104E87"/>
                </a:solidFill>
                <a:latin typeface="Comic Sans MS" panose="030F0702030302020204" pitchFamily="66" charset="0"/>
                <a:ea typeface="华光行书_CNKI" panose="02000500000000000000" pitchFamily="2" charset="-122"/>
              </a:rPr>
              <a:t>把基类中的</a:t>
            </a:r>
            <a:r>
              <a:rPr lang="en-US" altLang="zh-CN" dirty="0">
                <a:solidFill>
                  <a:srgbClr val="104E87"/>
                </a:solidFill>
                <a:latin typeface="Comic Sans MS" panose="030F0702030302020204" pitchFamily="66" charset="0"/>
                <a:ea typeface="华光行书_CNKI" panose="02000500000000000000" pitchFamily="2" charset="-122"/>
              </a:rPr>
              <a:t>who</a:t>
            </a:r>
            <a:r>
              <a:rPr lang="zh-CN" altLang="en-US" dirty="0">
                <a:solidFill>
                  <a:srgbClr val="104E87"/>
                </a:solidFill>
                <a:latin typeface="Comic Sans MS" panose="030F0702030302020204" pitchFamily="66" charset="0"/>
                <a:ea typeface="华光行书_CNKI" panose="02000500000000000000" pitchFamily="2" charset="-122"/>
              </a:rPr>
              <a:t>函数定义成虚函数，实现动态绑定</a:t>
            </a:r>
          </a:p>
        </p:txBody>
      </p:sp>
    </p:spTree>
    <p:extLst>
      <p:ext uri="{BB962C8B-B14F-4D97-AF65-F5344CB8AC3E}">
        <p14:creationId xmlns:p14="http://schemas.microsoft.com/office/powerpoint/2010/main" val="340899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B93A15E-95A4-4803-B6B7-408EEE304F5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12F22D8F-613C-43AA-B50E-A9DF0564403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7E426A97-17AD-4AAA-AC86-D1625803DF14}"/>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30" name="Rectangle 2">
            <a:extLst>
              <a:ext uri="{FF2B5EF4-FFF2-40B4-BE49-F238E27FC236}">
                <a16:creationId xmlns:a16="http://schemas.microsoft.com/office/drawing/2014/main" id="{E29102D3-BBC5-4B45-8882-797CA1736D5B}"/>
              </a:ext>
            </a:extLst>
          </p:cNvPr>
          <p:cNvSpPr txBox="1">
            <a:spLocks noChangeArrowheads="1"/>
          </p:cNvSpPr>
          <p:nvPr/>
        </p:nvSpPr>
        <p:spPr bwMode="auto">
          <a:xfrm>
            <a:off x="0" y="2829076"/>
            <a:ext cx="12190413" cy="306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spcBef>
                <a:spcPts val="600"/>
              </a:spcBef>
              <a:defRPr>
                <a:solidFill>
                  <a:srgbClr val="104E87"/>
                </a:solidFill>
                <a:latin typeface="Comic Sans MS" panose="030F0702030302020204" pitchFamily="66" charset="0"/>
                <a:ea typeface="华光行书_CNKI" panose="02000500000000000000" pitchFamily="2" charset="-122"/>
              </a:defRPr>
            </a:lvl1pPr>
          </a:lstStyle>
          <a:p>
            <a:pPr>
              <a:spcBef>
                <a:spcPts val="0"/>
              </a:spcBef>
              <a:spcAft>
                <a:spcPts val="600"/>
              </a:spcAft>
            </a:pPr>
            <a:r>
              <a:rPr lang="zh-CN" altLang="en-US" dirty="0"/>
              <a:t>当一个构造函数被调用时，先初始化该对象的</a:t>
            </a:r>
            <a:r>
              <a:rPr lang="en-US" altLang="zh-CN" dirty="0"/>
              <a:t>VPTR</a:t>
            </a:r>
            <a:r>
              <a:rPr lang="zh-CN" altLang="en-US" dirty="0"/>
              <a:t>使</a:t>
            </a:r>
            <a:r>
              <a:rPr lang="en-US" altLang="zh-CN" dirty="0"/>
              <a:t>VPTR</a:t>
            </a:r>
            <a:r>
              <a:rPr lang="zh-CN" altLang="en-US" dirty="0"/>
              <a:t>指向基类的</a:t>
            </a:r>
            <a:r>
              <a:rPr lang="en-US" altLang="zh-CN" dirty="0"/>
              <a:t>VTABLE，</a:t>
            </a:r>
            <a:r>
              <a:rPr lang="zh-CN" altLang="en-US" dirty="0"/>
              <a:t>而忽视后面是否有继承者</a:t>
            </a:r>
          </a:p>
          <a:p>
            <a:r>
              <a:rPr lang="zh-CN" altLang="en-US" dirty="0"/>
              <a:t>如无继承者，则这个对象的</a:t>
            </a:r>
            <a:r>
              <a:rPr lang="en-US" altLang="zh-CN" dirty="0"/>
              <a:t>VPTR</a:t>
            </a:r>
            <a:r>
              <a:rPr lang="zh-CN" altLang="en-US" dirty="0"/>
              <a:t>指向基类的</a:t>
            </a:r>
            <a:r>
              <a:rPr lang="en-US" altLang="zh-CN" dirty="0"/>
              <a:t>VTABLE;</a:t>
            </a:r>
          </a:p>
          <a:p>
            <a:pPr>
              <a:spcBef>
                <a:spcPts val="0"/>
              </a:spcBef>
              <a:spcAft>
                <a:spcPts val="600"/>
              </a:spcAft>
            </a:pPr>
            <a:r>
              <a:rPr lang="zh-CN" altLang="en-US" dirty="0"/>
              <a:t>如有继承者，则这个对象的</a:t>
            </a:r>
            <a:r>
              <a:rPr lang="en-US" altLang="zh-CN" dirty="0"/>
              <a:t>VPTR</a:t>
            </a:r>
            <a:r>
              <a:rPr lang="zh-CN" altLang="en-US" dirty="0"/>
              <a:t>指向派生类的</a:t>
            </a:r>
            <a:r>
              <a:rPr lang="en-US" altLang="zh-CN" dirty="0"/>
              <a:t>VTABLE,</a:t>
            </a:r>
            <a:r>
              <a:rPr lang="zh-CN" altLang="en-US" dirty="0"/>
              <a:t>如此下去，直至派生的终结。</a:t>
            </a:r>
          </a:p>
          <a:p>
            <a:r>
              <a:rPr lang="en-US" altLang="zh-CN" dirty="0"/>
              <a:t>p-&gt;who( );</a:t>
            </a:r>
          </a:p>
          <a:p>
            <a:r>
              <a:rPr lang="zh-CN" altLang="en-US" dirty="0"/>
              <a:t>首先读取</a:t>
            </a:r>
            <a:r>
              <a:rPr lang="en-US" altLang="zh-CN" dirty="0"/>
              <a:t>p</a:t>
            </a:r>
            <a:r>
              <a:rPr lang="zh-CN" altLang="en-US" dirty="0"/>
              <a:t>指向对象的</a:t>
            </a:r>
            <a:r>
              <a:rPr lang="en-US" altLang="zh-CN" dirty="0"/>
              <a:t>VPTR,</a:t>
            </a:r>
            <a:r>
              <a:rPr lang="zh-CN" altLang="en-US" dirty="0"/>
              <a:t>然后调用</a:t>
            </a:r>
            <a:r>
              <a:rPr lang="en-US" altLang="zh-CN" dirty="0"/>
              <a:t>VPTR</a:t>
            </a:r>
            <a:r>
              <a:rPr lang="zh-CN" altLang="en-US" dirty="0"/>
              <a:t>所指向</a:t>
            </a:r>
            <a:r>
              <a:rPr lang="en-US" altLang="zh-CN" dirty="0"/>
              <a:t>VTABLE</a:t>
            </a:r>
            <a:r>
              <a:rPr lang="zh-CN" altLang="en-US" dirty="0"/>
              <a:t>中指定的函数</a:t>
            </a:r>
            <a:r>
              <a:rPr lang="en-US" altLang="zh-CN" dirty="0"/>
              <a:t>who(),</a:t>
            </a:r>
            <a:r>
              <a:rPr lang="zh-CN" altLang="en-US" dirty="0"/>
              <a:t>从而实现了不同类的虚函数的调用。</a:t>
            </a:r>
          </a:p>
        </p:txBody>
      </p:sp>
      <p:sp>
        <p:nvSpPr>
          <p:cNvPr id="33" name="标题 1">
            <a:extLst>
              <a:ext uri="{FF2B5EF4-FFF2-40B4-BE49-F238E27FC236}">
                <a16:creationId xmlns:a16="http://schemas.microsoft.com/office/drawing/2014/main" id="{F750CDD2-A5DC-4497-8910-3CA9F9A56AD3}"/>
              </a:ext>
            </a:extLst>
          </p:cNvPr>
          <p:cNvSpPr txBox="1">
            <a:spLocks/>
          </p:cNvSpPr>
          <p:nvPr/>
        </p:nvSpPr>
        <p:spPr>
          <a:xfrm>
            <a:off x="185737" y="966547"/>
            <a:ext cx="8229600" cy="509096"/>
          </a:xfrm>
          <a:prstGeom prst="rect">
            <a:avLst/>
          </a:prstGeom>
        </p:spPr>
        <p:txBody>
          <a:bodyPr/>
          <a:lstStyle>
            <a:lvl1pPr algn="ctr" defTabSz="609600" rtl="0" eaLnBrk="1" latinLnBrk="0" hangingPunct="1">
              <a:spcBef>
                <a:spcPct val="0"/>
              </a:spcBef>
              <a:buNone/>
              <a:defRPr sz="5865" kern="1200">
                <a:solidFill>
                  <a:schemeClr val="tx1"/>
                </a:solidFill>
                <a:latin typeface="+mj-lt"/>
                <a:ea typeface="+mj-ea"/>
                <a:cs typeface="+mj-cs"/>
              </a:defRPr>
            </a:lvl1pPr>
          </a:lstStyle>
          <a:p>
            <a:pPr algn="l">
              <a:defRPr/>
            </a:pPr>
            <a:r>
              <a:rPr lang="zh-CN" altLang="en-US" sz="3200" dirty="0">
                <a:solidFill>
                  <a:srgbClr val="104E87"/>
                </a:solidFill>
                <a:latin typeface="华光行书_CNKI" panose="02000500000000000000" pitchFamily="2" charset="-122"/>
                <a:ea typeface="华光行书_CNKI" panose="02000500000000000000" pitchFamily="2" charset="-122"/>
              </a:rPr>
              <a:t>运行期绑定实现机制</a:t>
            </a:r>
          </a:p>
        </p:txBody>
      </p:sp>
      <p:sp>
        <p:nvSpPr>
          <p:cNvPr id="34" name="Rectangle 2">
            <a:extLst>
              <a:ext uri="{FF2B5EF4-FFF2-40B4-BE49-F238E27FC236}">
                <a16:creationId xmlns:a16="http://schemas.microsoft.com/office/drawing/2014/main" id="{EB0A5786-3A5A-4B09-932C-378E3F410FD4}"/>
              </a:ext>
            </a:extLst>
          </p:cNvPr>
          <p:cNvSpPr txBox="1">
            <a:spLocks noChangeArrowheads="1"/>
          </p:cNvSpPr>
          <p:nvPr/>
        </p:nvSpPr>
        <p:spPr bwMode="auto">
          <a:xfrm>
            <a:off x="185737" y="1484498"/>
            <a:ext cx="11193158" cy="1273055"/>
          </a:xfrm>
          <a:prstGeom prst="rect">
            <a:avLst/>
          </a:prstGeom>
          <a:noFill/>
          <a:ln w="9525">
            <a:noFill/>
            <a:miter lim="800000"/>
            <a:headEnd/>
            <a:tailEnd/>
          </a:ln>
        </p:spPr>
        <p:txBody>
          <a:bodyPr/>
          <a:lstStyle/>
          <a:p>
            <a:pPr algn="just">
              <a:spcBef>
                <a:spcPts val="600"/>
              </a:spcBef>
              <a:buClr>
                <a:schemeClr val="bg2"/>
              </a:buClr>
              <a:buSzPct val="70000"/>
              <a:defRPr/>
            </a:pPr>
            <a:r>
              <a:rPr lang="zh-CN" altLang="en-US" b="0" dirty="0">
                <a:solidFill>
                  <a:srgbClr val="104E87"/>
                </a:solidFill>
                <a:latin typeface="华光行书_CNKI" panose="02000500000000000000" pitchFamily="2" charset="-122"/>
                <a:ea typeface="华光行书_CNKI" panose="02000500000000000000" pitchFamily="2" charset="-122"/>
              </a:rPr>
              <a:t>使用虚函数</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系统要有一定的空间开销</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当一个类带有虚函数时</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编译系统会为该类构造一个</a:t>
            </a:r>
            <a:r>
              <a:rPr lang="zh-CN" altLang="en-US" dirty="0">
                <a:solidFill>
                  <a:srgbClr val="104E87"/>
                </a:solidFill>
                <a:latin typeface="华光行书_CNKI" panose="02000500000000000000" pitchFamily="2" charset="-122"/>
                <a:ea typeface="华光行书_CNKI" panose="02000500000000000000" pitchFamily="2" charset="-122"/>
              </a:rPr>
              <a:t>虚函数表</a:t>
            </a:r>
            <a:r>
              <a:rPr lang="en-US" altLang="zh-CN" dirty="0">
                <a:solidFill>
                  <a:srgbClr val="104E87"/>
                </a:solidFill>
                <a:latin typeface="华光行书_CNKI" panose="02000500000000000000" pitchFamily="2" charset="-122"/>
                <a:ea typeface="华光行书_CNKI" panose="02000500000000000000" pitchFamily="2" charset="-122"/>
              </a:rPr>
              <a:t>(virtual function table</a:t>
            </a:r>
            <a:r>
              <a:rPr lang="zh-CN" altLang="en-US" dirty="0">
                <a:solidFill>
                  <a:srgbClr val="104E87"/>
                </a:solidFill>
                <a:latin typeface="华光行书_CNKI" panose="02000500000000000000" pitchFamily="2" charset="-122"/>
                <a:ea typeface="华光行书_CNKI" panose="02000500000000000000" pitchFamily="2" charset="-122"/>
              </a:rPr>
              <a:t>，简称</a:t>
            </a:r>
            <a:r>
              <a:rPr lang="en-US" altLang="zh-CN" dirty="0" err="1">
                <a:solidFill>
                  <a:srgbClr val="104E87"/>
                </a:solidFill>
                <a:latin typeface="华光行书_CNKI" panose="02000500000000000000" pitchFamily="2" charset="-122"/>
                <a:ea typeface="华光行书_CNKI" panose="02000500000000000000" pitchFamily="2" charset="-122"/>
              </a:rPr>
              <a:t>vtable</a:t>
            </a:r>
            <a:r>
              <a:rPr lang="en-US" altLang="zh-CN" dirty="0">
                <a:solidFill>
                  <a:srgbClr val="104E87"/>
                </a:solidFill>
                <a:latin typeface="华光行书_CNKI" panose="02000500000000000000" pitchFamily="2" charset="-122"/>
                <a:ea typeface="华光行书_CNKI" panose="02000500000000000000" pitchFamily="2" charset="-122"/>
              </a:rPr>
              <a:t>)</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它是一个指针数组</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存放每个虚函数的入口地址。</a:t>
            </a:r>
          </a:p>
        </p:txBody>
      </p:sp>
    </p:spTree>
    <p:extLst>
      <p:ext uri="{BB962C8B-B14F-4D97-AF65-F5344CB8AC3E}">
        <p14:creationId xmlns:p14="http://schemas.microsoft.com/office/powerpoint/2010/main" val="3809907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 calcmode="lin" valueType="num">
                                      <p:cBhvr additive="base">
                                        <p:cTn id="7"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down)">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D3A05C28-7661-4F5D-82B2-4C15BFA3E811}"/>
              </a:ext>
            </a:extLst>
          </p:cNvPr>
          <p:cNvSpPr txBox="1">
            <a:spLocks noChangeArrowheads="1"/>
          </p:cNvSpPr>
          <p:nvPr/>
        </p:nvSpPr>
        <p:spPr bwMode="auto">
          <a:xfrm>
            <a:off x="5890483" y="765175"/>
            <a:ext cx="18288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VTABLE</a:t>
            </a:r>
          </a:p>
        </p:txBody>
      </p:sp>
      <p:sp>
        <p:nvSpPr>
          <p:cNvPr id="3" name="Text Box 3">
            <a:extLst>
              <a:ext uri="{FF2B5EF4-FFF2-40B4-BE49-F238E27FC236}">
                <a16:creationId xmlns:a16="http://schemas.microsoft.com/office/drawing/2014/main" id="{708E6D17-A4F5-49A0-878A-1A0D79D9ED81}"/>
              </a:ext>
            </a:extLst>
          </p:cNvPr>
          <p:cNvSpPr txBox="1">
            <a:spLocks noChangeArrowheads="1"/>
          </p:cNvSpPr>
          <p:nvPr/>
        </p:nvSpPr>
        <p:spPr bwMode="auto">
          <a:xfrm>
            <a:off x="4953858" y="1295400"/>
            <a:ext cx="2970945" cy="461665"/>
          </a:xfrm>
          <a:prstGeom prst="rect">
            <a:avLst/>
          </a:prstGeom>
          <a:noFill/>
          <a:ln w="9525">
            <a:solidFill>
              <a:schemeClr val="accent1"/>
            </a:solidFill>
            <a:miter lim="800000"/>
            <a:headEnd/>
            <a:tailEnd/>
          </a:ln>
          <a:effectLst/>
        </p:spPr>
        <p:txBody>
          <a:bodyPr wrap="square">
            <a:spAutoFit/>
          </a:bodyPr>
          <a:lstStyle/>
          <a:p>
            <a:pPr eaLnBrk="1" hangingPunct="1">
              <a:spcBef>
                <a:spcPct val="50000"/>
              </a:spcBef>
              <a:defRPr/>
            </a:pPr>
            <a:r>
              <a:rPr lang="en-US" altLang="zh-CN">
                <a:solidFill>
                  <a:srgbClr val="FF0000"/>
                </a:solidFill>
                <a:effectLst>
                  <a:outerShdw blurRad="38100" dist="38100" dir="2700000" algn="tl">
                    <a:srgbClr val="C0C0C0"/>
                  </a:outerShdw>
                </a:effectLst>
                <a:latin typeface="Comic Sans MS" panose="030F0702030302020204" pitchFamily="66" charset="0"/>
              </a:rPr>
              <a:t>Base::who( )    100  </a:t>
            </a:r>
          </a:p>
        </p:txBody>
      </p:sp>
      <p:sp>
        <p:nvSpPr>
          <p:cNvPr id="4" name="Text Box 4">
            <a:extLst>
              <a:ext uri="{FF2B5EF4-FFF2-40B4-BE49-F238E27FC236}">
                <a16:creationId xmlns:a16="http://schemas.microsoft.com/office/drawing/2014/main" id="{674F5DFB-7DC6-4F10-9A39-28D194774799}"/>
              </a:ext>
            </a:extLst>
          </p:cNvPr>
          <p:cNvSpPr txBox="1">
            <a:spLocks noChangeArrowheads="1"/>
          </p:cNvSpPr>
          <p:nvPr/>
        </p:nvSpPr>
        <p:spPr bwMode="auto">
          <a:xfrm>
            <a:off x="4953858" y="765175"/>
            <a:ext cx="9906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rgbClr val="FF0000"/>
                </a:solidFill>
                <a:effectLst>
                  <a:outerShdw blurRad="38100" dist="38100" dir="2700000" algn="tl">
                    <a:srgbClr val="C0C0C0"/>
                  </a:outerShdw>
                </a:effectLst>
                <a:latin typeface="Comic Sans MS" panose="030F0702030302020204" pitchFamily="66" charset="0"/>
              </a:rPr>
              <a:t>1000</a:t>
            </a:r>
          </a:p>
        </p:txBody>
      </p:sp>
      <p:sp>
        <p:nvSpPr>
          <p:cNvPr id="5" name="Text Box 5">
            <a:extLst>
              <a:ext uri="{FF2B5EF4-FFF2-40B4-BE49-F238E27FC236}">
                <a16:creationId xmlns:a16="http://schemas.microsoft.com/office/drawing/2014/main" id="{79C73AA4-A06B-4B2E-8A0D-A1F9D8DE1B8A}"/>
              </a:ext>
            </a:extLst>
          </p:cNvPr>
          <p:cNvSpPr txBox="1">
            <a:spLocks noChangeArrowheads="1"/>
          </p:cNvSpPr>
          <p:nvPr/>
        </p:nvSpPr>
        <p:spPr bwMode="auto">
          <a:xfrm>
            <a:off x="5670550" y="2971800"/>
            <a:ext cx="18288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a:solidFill>
                  <a:srgbClr val="104E87"/>
                </a:solidFill>
                <a:effectLst>
                  <a:outerShdw blurRad="38100" dist="38100" dir="2700000" algn="tl">
                    <a:srgbClr val="C0C0C0"/>
                  </a:outerShdw>
                </a:effectLst>
                <a:latin typeface="Comic Sans MS" panose="030F0702030302020204" pitchFamily="66" charset="0"/>
              </a:rPr>
              <a:t>VTABLE</a:t>
            </a:r>
          </a:p>
        </p:txBody>
      </p:sp>
      <p:sp>
        <p:nvSpPr>
          <p:cNvPr id="6" name="Text Box 6">
            <a:extLst>
              <a:ext uri="{FF2B5EF4-FFF2-40B4-BE49-F238E27FC236}">
                <a16:creationId xmlns:a16="http://schemas.microsoft.com/office/drawing/2014/main" id="{7805AE1B-B8EA-42FE-B10C-8BEAFA663E82}"/>
              </a:ext>
            </a:extLst>
          </p:cNvPr>
          <p:cNvSpPr txBox="1">
            <a:spLocks noChangeArrowheads="1"/>
          </p:cNvSpPr>
          <p:nvPr/>
        </p:nvSpPr>
        <p:spPr bwMode="auto">
          <a:xfrm>
            <a:off x="4670425" y="3481388"/>
            <a:ext cx="3946037" cy="461665"/>
          </a:xfrm>
          <a:prstGeom prst="rect">
            <a:avLst/>
          </a:prstGeom>
          <a:noFill/>
          <a:ln w="9525">
            <a:solidFill>
              <a:schemeClr val="accent1"/>
            </a:solidFill>
            <a:miter lim="800000"/>
            <a:headEnd/>
            <a:tailEnd/>
          </a:ln>
          <a:effectLst/>
        </p:spPr>
        <p:txBody>
          <a:bodyPr wrap="square">
            <a:spAutoFit/>
          </a:bodyPr>
          <a:lstStyle/>
          <a:p>
            <a:pPr eaLnBrk="1" hangingPunct="1">
              <a:spcBef>
                <a:spcPct val="50000"/>
              </a:spcBef>
              <a:defRPr/>
            </a:pPr>
            <a:r>
              <a:rPr lang="en-US" altLang="zh-CN" dirty="0" err="1">
                <a:solidFill>
                  <a:srgbClr val="FF0000"/>
                </a:solidFill>
                <a:effectLst>
                  <a:outerShdw blurRad="38100" dist="38100" dir="2700000" algn="tl">
                    <a:srgbClr val="C0C0C0"/>
                  </a:outerShdw>
                </a:effectLst>
                <a:latin typeface="Comic Sans MS" panose="030F0702030302020204" pitchFamily="66" charset="0"/>
              </a:rPr>
              <a:t>Firstderived</a:t>
            </a:r>
            <a:r>
              <a:rPr lang="en-US" altLang="zh-CN" dirty="0">
                <a:solidFill>
                  <a:srgbClr val="FF0000"/>
                </a:solidFill>
                <a:effectLst>
                  <a:outerShdw blurRad="38100" dist="38100" dir="2700000" algn="tl">
                    <a:srgbClr val="C0C0C0"/>
                  </a:outerShdw>
                </a:effectLst>
                <a:latin typeface="Comic Sans MS" panose="030F0702030302020204" pitchFamily="66" charset="0"/>
              </a:rPr>
              <a:t>::who( )   200   </a:t>
            </a:r>
          </a:p>
        </p:txBody>
      </p:sp>
      <p:sp>
        <p:nvSpPr>
          <p:cNvPr id="7" name="Text Box 7">
            <a:extLst>
              <a:ext uri="{FF2B5EF4-FFF2-40B4-BE49-F238E27FC236}">
                <a16:creationId xmlns:a16="http://schemas.microsoft.com/office/drawing/2014/main" id="{06F9788E-E70B-45F7-AB48-E85DF92AE56B}"/>
              </a:ext>
            </a:extLst>
          </p:cNvPr>
          <p:cNvSpPr txBox="1">
            <a:spLocks noChangeArrowheads="1"/>
          </p:cNvSpPr>
          <p:nvPr/>
        </p:nvSpPr>
        <p:spPr bwMode="auto">
          <a:xfrm>
            <a:off x="4756150" y="3048000"/>
            <a:ext cx="9906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solidFill>
                  <a:srgbClr val="FF0000"/>
                </a:solidFill>
                <a:effectLst>
                  <a:outerShdw blurRad="38100" dist="38100" dir="2700000" algn="tl">
                    <a:srgbClr val="C0C0C0"/>
                  </a:outerShdw>
                </a:effectLst>
                <a:latin typeface="Comic Sans MS" panose="030F0702030302020204" pitchFamily="66" charset="0"/>
              </a:rPr>
              <a:t>2000</a:t>
            </a:r>
          </a:p>
        </p:txBody>
      </p:sp>
      <p:sp>
        <p:nvSpPr>
          <p:cNvPr id="8" name="Text Box 8">
            <a:extLst>
              <a:ext uri="{FF2B5EF4-FFF2-40B4-BE49-F238E27FC236}">
                <a16:creationId xmlns:a16="http://schemas.microsoft.com/office/drawing/2014/main" id="{002AAA4F-E660-4E00-8A24-629D6320B620}"/>
              </a:ext>
            </a:extLst>
          </p:cNvPr>
          <p:cNvSpPr txBox="1">
            <a:spLocks noChangeArrowheads="1"/>
          </p:cNvSpPr>
          <p:nvPr/>
        </p:nvSpPr>
        <p:spPr bwMode="auto">
          <a:xfrm>
            <a:off x="5940425" y="5373688"/>
            <a:ext cx="18288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VTABLE</a:t>
            </a:r>
          </a:p>
        </p:txBody>
      </p:sp>
      <p:sp>
        <p:nvSpPr>
          <p:cNvPr id="9" name="Text Box 9">
            <a:extLst>
              <a:ext uri="{FF2B5EF4-FFF2-40B4-BE49-F238E27FC236}">
                <a16:creationId xmlns:a16="http://schemas.microsoft.com/office/drawing/2014/main" id="{10723E3B-D5DC-4041-B421-C0C522964A7C}"/>
              </a:ext>
            </a:extLst>
          </p:cNvPr>
          <p:cNvSpPr txBox="1">
            <a:spLocks noChangeArrowheads="1"/>
          </p:cNvSpPr>
          <p:nvPr/>
        </p:nvSpPr>
        <p:spPr bwMode="auto">
          <a:xfrm>
            <a:off x="4067175" y="5867400"/>
            <a:ext cx="4267933" cy="461665"/>
          </a:xfrm>
          <a:prstGeom prst="rect">
            <a:avLst/>
          </a:prstGeom>
          <a:noFill/>
          <a:ln w="9525">
            <a:solidFill>
              <a:schemeClr val="accent1"/>
            </a:solidFill>
            <a:miter lim="800000"/>
            <a:headEnd/>
            <a:tailEnd/>
          </a:ln>
          <a:effectLst/>
        </p:spPr>
        <p:txBody>
          <a:bodyPr wrap="square">
            <a:spAutoFit/>
          </a:bodyPr>
          <a:lstStyle/>
          <a:p>
            <a:pPr eaLnBrk="1" hangingPunct="1">
              <a:spcBef>
                <a:spcPct val="50000"/>
              </a:spcBef>
              <a:defRPr/>
            </a:pPr>
            <a:r>
              <a:rPr lang="en-US" altLang="zh-CN">
                <a:solidFill>
                  <a:srgbClr val="FF0000"/>
                </a:solidFill>
                <a:effectLst>
                  <a:outerShdw blurRad="38100" dist="38100" dir="2700000" algn="tl">
                    <a:srgbClr val="C0C0C0"/>
                  </a:outerShdw>
                </a:effectLst>
                <a:latin typeface="Comic Sans MS" panose="030F0702030302020204" pitchFamily="66" charset="0"/>
              </a:rPr>
              <a:t>Secondderived::who( )   300   </a:t>
            </a:r>
          </a:p>
        </p:txBody>
      </p:sp>
      <p:sp>
        <p:nvSpPr>
          <p:cNvPr id="10" name="Text Box 10">
            <a:extLst>
              <a:ext uri="{FF2B5EF4-FFF2-40B4-BE49-F238E27FC236}">
                <a16:creationId xmlns:a16="http://schemas.microsoft.com/office/drawing/2014/main" id="{13EA1F5F-9BD8-469C-9D1E-87687BCDB240}"/>
              </a:ext>
            </a:extLst>
          </p:cNvPr>
          <p:cNvSpPr txBox="1">
            <a:spLocks noChangeArrowheads="1"/>
          </p:cNvSpPr>
          <p:nvPr/>
        </p:nvSpPr>
        <p:spPr bwMode="auto">
          <a:xfrm>
            <a:off x="4932363" y="5373688"/>
            <a:ext cx="9906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rgbClr val="FF0000"/>
                </a:solidFill>
                <a:effectLst>
                  <a:outerShdw blurRad="38100" dist="38100" dir="2700000" algn="tl">
                    <a:srgbClr val="C0C0C0"/>
                  </a:outerShdw>
                </a:effectLst>
                <a:latin typeface="Comic Sans MS" panose="030F0702030302020204" pitchFamily="66" charset="0"/>
              </a:rPr>
              <a:t>3000</a:t>
            </a:r>
          </a:p>
        </p:txBody>
      </p:sp>
      <p:sp>
        <p:nvSpPr>
          <p:cNvPr id="11" name="Rectangle 11">
            <a:extLst>
              <a:ext uri="{FF2B5EF4-FFF2-40B4-BE49-F238E27FC236}">
                <a16:creationId xmlns:a16="http://schemas.microsoft.com/office/drawing/2014/main" id="{6AC70B04-98CF-4876-B4AE-584A17D41764}"/>
              </a:ext>
            </a:extLst>
          </p:cNvPr>
          <p:cNvSpPr>
            <a:spLocks noChangeArrowheads="1"/>
          </p:cNvSpPr>
          <p:nvPr/>
        </p:nvSpPr>
        <p:spPr bwMode="auto">
          <a:xfrm>
            <a:off x="4876800" y="2562373"/>
            <a:ext cx="1981633" cy="461665"/>
          </a:xfrm>
          <a:prstGeom prst="rect">
            <a:avLst/>
          </a:prstGeom>
          <a:noFill/>
          <a:ln w="9525">
            <a:noFill/>
            <a:miter lim="800000"/>
            <a:headEnd/>
            <a:tailEnd/>
          </a:ln>
          <a:effectLst/>
        </p:spPr>
        <p:txBody>
          <a:bodyPr wrap="none">
            <a:spAutoFit/>
          </a:bodyPr>
          <a:lstStyle/>
          <a:p>
            <a:pPr eaLnBrk="1" hangingPunct="1">
              <a:defRPr/>
            </a:pPr>
            <a:r>
              <a:rPr lang="en-US" altLang="zh-CN" dirty="0" err="1">
                <a:solidFill>
                  <a:srgbClr val="104E87"/>
                </a:solidFill>
                <a:effectLst>
                  <a:outerShdw blurRad="38100" dist="38100" dir="2700000" algn="tl">
                    <a:srgbClr val="C0C0C0"/>
                  </a:outerShdw>
                </a:effectLst>
                <a:latin typeface="Comic Sans MS" panose="030F0702030302020204" pitchFamily="66" charset="0"/>
              </a:rPr>
              <a:t>Firstderived</a:t>
            </a:r>
            <a:endParaRPr lang="en-US" altLang="zh-CN" dirty="0">
              <a:solidFill>
                <a:srgbClr val="104E87"/>
              </a:solidFill>
              <a:effectLst>
                <a:outerShdw blurRad="38100" dist="38100" dir="2700000" algn="tl">
                  <a:srgbClr val="C0C0C0"/>
                </a:outerShdw>
              </a:effectLst>
              <a:latin typeface="Comic Sans MS" panose="030F0702030302020204" pitchFamily="66" charset="0"/>
            </a:endParaRPr>
          </a:p>
        </p:txBody>
      </p:sp>
      <p:sp>
        <p:nvSpPr>
          <p:cNvPr id="12" name="Rectangle 12">
            <a:extLst>
              <a:ext uri="{FF2B5EF4-FFF2-40B4-BE49-F238E27FC236}">
                <a16:creationId xmlns:a16="http://schemas.microsoft.com/office/drawing/2014/main" id="{71F762FF-07F7-47B8-9105-3E1827FF6248}"/>
              </a:ext>
            </a:extLst>
          </p:cNvPr>
          <p:cNvSpPr>
            <a:spLocks noChangeArrowheads="1"/>
          </p:cNvSpPr>
          <p:nvPr/>
        </p:nvSpPr>
        <p:spPr bwMode="auto">
          <a:xfrm>
            <a:off x="4953858" y="339779"/>
            <a:ext cx="853119" cy="461665"/>
          </a:xfrm>
          <a:prstGeom prst="rect">
            <a:avLst/>
          </a:prstGeom>
          <a:noFill/>
          <a:ln w="9525">
            <a:noFill/>
            <a:miter lim="800000"/>
            <a:headEnd/>
            <a:tailEnd/>
          </a:ln>
          <a:effectLst/>
        </p:spPr>
        <p:txBody>
          <a:bodyPr wrap="none">
            <a:spAutoFit/>
          </a:bodyPr>
          <a:lstStyle/>
          <a:p>
            <a:pPr eaLnBrk="1" hangingPunct="1">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Base</a:t>
            </a:r>
          </a:p>
        </p:txBody>
      </p:sp>
      <p:sp>
        <p:nvSpPr>
          <p:cNvPr id="13" name="Rectangle 13">
            <a:extLst>
              <a:ext uri="{FF2B5EF4-FFF2-40B4-BE49-F238E27FC236}">
                <a16:creationId xmlns:a16="http://schemas.microsoft.com/office/drawing/2014/main" id="{A7443933-2C99-4589-95B3-E28128914741}"/>
              </a:ext>
            </a:extLst>
          </p:cNvPr>
          <p:cNvSpPr>
            <a:spLocks noChangeArrowheads="1"/>
          </p:cNvSpPr>
          <p:nvPr/>
        </p:nvSpPr>
        <p:spPr bwMode="auto">
          <a:xfrm>
            <a:off x="4688254" y="4864100"/>
            <a:ext cx="2311851" cy="461665"/>
          </a:xfrm>
          <a:prstGeom prst="rect">
            <a:avLst/>
          </a:prstGeom>
          <a:noFill/>
          <a:ln w="9525">
            <a:noFill/>
            <a:miter lim="800000"/>
            <a:headEnd/>
            <a:tailEnd/>
          </a:ln>
          <a:effectLst/>
        </p:spPr>
        <p:txBody>
          <a:bodyPr wrap="none">
            <a:spAutoFit/>
          </a:bodyPr>
          <a:lstStyle/>
          <a:p>
            <a:pPr eaLnBrk="1" hangingPunct="1">
              <a:defRPr/>
            </a:pPr>
            <a:r>
              <a:rPr lang="en-US" altLang="zh-CN" dirty="0" err="1">
                <a:solidFill>
                  <a:srgbClr val="104E87"/>
                </a:solidFill>
                <a:effectLst>
                  <a:outerShdw blurRad="38100" dist="38100" dir="2700000" algn="tl">
                    <a:srgbClr val="C0C0C0"/>
                  </a:outerShdw>
                </a:effectLst>
                <a:latin typeface="Comic Sans MS" panose="030F0702030302020204" pitchFamily="66" charset="0"/>
              </a:rPr>
              <a:t>Secondderived</a:t>
            </a:r>
            <a:endParaRPr lang="en-US" altLang="zh-CN" dirty="0">
              <a:solidFill>
                <a:srgbClr val="104E87"/>
              </a:solidFill>
              <a:effectLst>
                <a:outerShdw blurRad="38100" dist="38100" dir="2700000" algn="tl">
                  <a:srgbClr val="C0C0C0"/>
                </a:outerShdw>
              </a:effectLst>
              <a:latin typeface="Comic Sans MS" panose="030F0702030302020204" pitchFamily="66" charset="0"/>
            </a:endParaRPr>
          </a:p>
        </p:txBody>
      </p:sp>
      <p:sp>
        <p:nvSpPr>
          <p:cNvPr id="14" name="Text Box 14">
            <a:extLst>
              <a:ext uri="{FF2B5EF4-FFF2-40B4-BE49-F238E27FC236}">
                <a16:creationId xmlns:a16="http://schemas.microsoft.com/office/drawing/2014/main" id="{AAEE648A-B028-472F-B2DD-689DCF280EE5}"/>
              </a:ext>
            </a:extLst>
          </p:cNvPr>
          <p:cNvSpPr txBox="1">
            <a:spLocks noChangeArrowheads="1"/>
          </p:cNvSpPr>
          <p:nvPr/>
        </p:nvSpPr>
        <p:spPr bwMode="auto">
          <a:xfrm>
            <a:off x="1834411" y="269676"/>
            <a:ext cx="1854939" cy="461665"/>
          </a:xfrm>
          <a:prstGeom prst="rect">
            <a:avLst/>
          </a:prstGeom>
          <a:noFill/>
          <a:ln w="9525">
            <a:noFill/>
            <a:miter lim="800000"/>
            <a:headEnd/>
            <a:tailEnd/>
          </a:ln>
          <a:effectLst/>
        </p:spPr>
        <p:txBody>
          <a:bodyPr wrap="square">
            <a:spAutoFit/>
          </a:bodyPr>
          <a:lstStyle/>
          <a:p>
            <a:pPr eaLnBrk="1" hangingPunct="1">
              <a:spcBef>
                <a:spcPct val="50000"/>
              </a:spcBef>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p = &amp;</a:t>
            </a:r>
            <a:r>
              <a:rPr lang="en-US" altLang="zh-CN" dirty="0" err="1">
                <a:solidFill>
                  <a:srgbClr val="104E87"/>
                </a:solidFill>
                <a:effectLst>
                  <a:outerShdw blurRad="38100" dist="38100" dir="2700000" algn="tl">
                    <a:srgbClr val="C0C0C0"/>
                  </a:outerShdw>
                </a:effectLst>
                <a:latin typeface="Comic Sans MS" panose="030F0702030302020204" pitchFamily="66" charset="0"/>
              </a:rPr>
              <a:t>b_obj</a:t>
            </a:r>
            <a:endParaRPr lang="en-US" altLang="zh-CN" dirty="0">
              <a:solidFill>
                <a:srgbClr val="104E87"/>
              </a:solidFill>
              <a:effectLst>
                <a:outerShdw blurRad="38100" dist="38100" dir="2700000" algn="tl">
                  <a:srgbClr val="C0C0C0"/>
                </a:outerShdw>
              </a:effectLst>
              <a:latin typeface="Comic Sans MS" panose="030F0702030302020204" pitchFamily="66" charset="0"/>
            </a:endParaRPr>
          </a:p>
        </p:txBody>
      </p:sp>
      <p:sp>
        <p:nvSpPr>
          <p:cNvPr id="15" name="Rectangle 15">
            <a:extLst>
              <a:ext uri="{FF2B5EF4-FFF2-40B4-BE49-F238E27FC236}">
                <a16:creationId xmlns:a16="http://schemas.microsoft.com/office/drawing/2014/main" id="{88BA5ED7-EE96-436F-BCCA-89989BF88237}"/>
              </a:ext>
            </a:extLst>
          </p:cNvPr>
          <p:cNvSpPr>
            <a:spLocks noChangeArrowheads="1"/>
          </p:cNvSpPr>
          <p:nvPr/>
        </p:nvSpPr>
        <p:spPr bwMode="auto">
          <a:xfrm>
            <a:off x="2317750" y="685800"/>
            <a:ext cx="1371600" cy="1371600"/>
          </a:xfrm>
          <a:prstGeom prst="rect">
            <a:avLst/>
          </a:prstGeom>
          <a:solidFill>
            <a:srgbClr val="FF99CC"/>
          </a:solidFill>
          <a:ln w="9525">
            <a:solidFill>
              <a:schemeClr val="tx1"/>
            </a:solidFill>
            <a:miter lim="800000"/>
            <a:headEnd/>
            <a:tailEnd/>
          </a:ln>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latin typeface="Comic Sans MS" panose="030F0702030302020204" pitchFamily="66" charset="0"/>
              <a:ea typeface="宋体" panose="02010600030101010101" pitchFamily="2" charset="-122"/>
            </a:endParaRPr>
          </a:p>
        </p:txBody>
      </p:sp>
      <p:sp>
        <p:nvSpPr>
          <p:cNvPr id="16" name="Text Box 16">
            <a:extLst>
              <a:ext uri="{FF2B5EF4-FFF2-40B4-BE49-F238E27FC236}">
                <a16:creationId xmlns:a16="http://schemas.microsoft.com/office/drawing/2014/main" id="{A4D45B39-1116-4DE2-B65A-03ABCCFC1838}"/>
              </a:ext>
            </a:extLst>
          </p:cNvPr>
          <p:cNvSpPr txBox="1">
            <a:spLocks noChangeArrowheads="1"/>
          </p:cNvSpPr>
          <p:nvPr/>
        </p:nvSpPr>
        <p:spPr bwMode="auto">
          <a:xfrm>
            <a:off x="2393950" y="914400"/>
            <a:ext cx="1025525"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err="1">
                <a:solidFill>
                  <a:srgbClr val="0000FF"/>
                </a:solidFill>
                <a:effectLst>
                  <a:outerShdw blurRad="38100" dist="38100" dir="2700000" algn="tl">
                    <a:srgbClr val="C0C0C0"/>
                  </a:outerShdw>
                </a:effectLst>
                <a:latin typeface="Comic Sans MS" panose="030F0702030302020204" pitchFamily="66" charset="0"/>
              </a:rPr>
              <a:t>vptr</a:t>
            </a:r>
            <a:endParaRPr lang="en-US" altLang="zh-CN" dirty="0">
              <a:solidFill>
                <a:srgbClr val="0000FF"/>
              </a:solidFill>
              <a:effectLst>
                <a:outerShdw blurRad="38100" dist="38100" dir="2700000" algn="tl">
                  <a:srgbClr val="C0C0C0"/>
                </a:outerShdw>
              </a:effectLst>
              <a:latin typeface="Comic Sans MS" panose="030F0702030302020204" pitchFamily="66" charset="0"/>
            </a:endParaRPr>
          </a:p>
        </p:txBody>
      </p:sp>
      <p:sp>
        <p:nvSpPr>
          <p:cNvPr id="17" name="Text Box 17">
            <a:extLst>
              <a:ext uri="{FF2B5EF4-FFF2-40B4-BE49-F238E27FC236}">
                <a16:creationId xmlns:a16="http://schemas.microsoft.com/office/drawing/2014/main" id="{15DB7267-EE9E-4633-961A-1E0B5BBE8854}"/>
              </a:ext>
            </a:extLst>
          </p:cNvPr>
          <p:cNvSpPr txBox="1">
            <a:spLocks noChangeArrowheads="1"/>
          </p:cNvSpPr>
          <p:nvPr/>
        </p:nvSpPr>
        <p:spPr bwMode="auto">
          <a:xfrm>
            <a:off x="2393950" y="1447800"/>
            <a:ext cx="12192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solidFill>
                  <a:srgbClr val="0000FF"/>
                </a:solidFill>
                <a:effectLst>
                  <a:outerShdw blurRad="38100" dist="38100" dir="2700000" algn="tl">
                    <a:srgbClr val="C0C0C0"/>
                  </a:outerShdw>
                </a:effectLst>
                <a:latin typeface="Comic Sans MS" panose="030F0702030302020204" pitchFamily="66" charset="0"/>
              </a:rPr>
              <a:t>1000</a:t>
            </a:r>
          </a:p>
        </p:txBody>
      </p:sp>
      <p:sp>
        <p:nvSpPr>
          <p:cNvPr id="18" name="Rectangle 18">
            <a:extLst>
              <a:ext uri="{FF2B5EF4-FFF2-40B4-BE49-F238E27FC236}">
                <a16:creationId xmlns:a16="http://schemas.microsoft.com/office/drawing/2014/main" id="{A4CAB353-598B-4DD1-9E74-26C02B4700BF}"/>
              </a:ext>
            </a:extLst>
          </p:cNvPr>
          <p:cNvSpPr>
            <a:spLocks noChangeArrowheads="1"/>
          </p:cNvSpPr>
          <p:nvPr/>
        </p:nvSpPr>
        <p:spPr bwMode="auto">
          <a:xfrm>
            <a:off x="1833563" y="2401044"/>
            <a:ext cx="1800493" cy="461665"/>
          </a:xfrm>
          <a:prstGeom prst="rect">
            <a:avLst/>
          </a:prstGeom>
          <a:noFill/>
          <a:ln w="9525">
            <a:noFill/>
            <a:miter lim="800000"/>
            <a:headEnd/>
            <a:tailEnd/>
          </a:ln>
          <a:effectLst/>
        </p:spPr>
        <p:txBody>
          <a:bodyPr wrap="none">
            <a:spAutoFit/>
          </a:bodyPr>
          <a:lstStyle/>
          <a:p>
            <a:pPr eaLnBrk="1" hangingPunct="1">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p = &amp; </a:t>
            </a:r>
            <a:r>
              <a:rPr lang="en-US" altLang="zh-CN" dirty="0" err="1">
                <a:solidFill>
                  <a:srgbClr val="104E87"/>
                </a:solidFill>
                <a:effectLst>
                  <a:outerShdw blurRad="38100" dist="38100" dir="2700000" algn="tl">
                    <a:srgbClr val="C0C0C0"/>
                  </a:outerShdw>
                </a:effectLst>
                <a:latin typeface="Comic Sans MS" panose="030F0702030302020204" pitchFamily="66" charset="0"/>
              </a:rPr>
              <a:t>f_obj</a:t>
            </a:r>
            <a:endParaRPr lang="en-US" altLang="zh-CN" dirty="0">
              <a:solidFill>
                <a:srgbClr val="104E87"/>
              </a:solidFill>
              <a:effectLst>
                <a:outerShdw blurRad="38100" dist="38100" dir="2700000" algn="tl">
                  <a:srgbClr val="C0C0C0"/>
                </a:outerShdw>
              </a:effectLst>
              <a:latin typeface="Comic Sans MS" panose="030F0702030302020204" pitchFamily="66" charset="0"/>
            </a:endParaRPr>
          </a:p>
        </p:txBody>
      </p:sp>
      <p:sp>
        <p:nvSpPr>
          <p:cNvPr id="19" name="Rectangle 19">
            <a:extLst>
              <a:ext uri="{FF2B5EF4-FFF2-40B4-BE49-F238E27FC236}">
                <a16:creationId xmlns:a16="http://schemas.microsoft.com/office/drawing/2014/main" id="{DCD49B84-3FDA-408B-8754-81E51031442B}"/>
              </a:ext>
            </a:extLst>
          </p:cNvPr>
          <p:cNvSpPr>
            <a:spLocks noChangeArrowheads="1"/>
          </p:cNvSpPr>
          <p:nvPr/>
        </p:nvSpPr>
        <p:spPr bwMode="auto">
          <a:xfrm>
            <a:off x="2393950" y="2819400"/>
            <a:ext cx="1371600" cy="1371600"/>
          </a:xfrm>
          <a:prstGeom prst="rect">
            <a:avLst/>
          </a:prstGeom>
          <a:solidFill>
            <a:srgbClr val="FF99CC"/>
          </a:solidFill>
          <a:ln w="9525">
            <a:solidFill>
              <a:schemeClr val="tx1"/>
            </a:solidFill>
            <a:miter lim="800000"/>
            <a:headEnd/>
            <a:tailEnd/>
          </a:ln>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latin typeface="Comic Sans MS" panose="030F0702030302020204" pitchFamily="66" charset="0"/>
              <a:ea typeface="宋体" panose="02010600030101010101" pitchFamily="2" charset="-122"/>
            </a:endParaRPr>
          </a:p>
        </p:txBody>
      </p:sp>
      <p:sp>
        <p:nvSpPr>
          <p:cNvPr id="20" name="Text Box 20">
            <a:extLst>
              <a:ext uri="{FF2B5EF4-FFF2-40B4-BE49-F238E27FC236}">
                <a16:creationId xmlns:a16="http://schemas.microsoft.com/office/drawing/2014/main" id="{0C5DC57A-1C35-4599-A23A-2C4A7FED3B5E}"/>
              </a:ext>
            </a:extLst>
          </p:cNvPr>
          <p:cNvSpPr txBox="1">
            <a:spLocks noChangeArrowheads="1"/>
          </p:cNvSpPr>
          <p:nvPr/>
        </p:nvSpPr>
        <p:spPr bwMode="auto">
          <a:xfrm>
            <a:off x="2470150" y="3048000"/>
            <a:ext cx="102235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err="1">
                <a:solidFill>
                  <a:srgbClr val="0000FF"/>
                </a:solidFill>
                <a:effectLst>
                  <a:outerShdw blurRad="38100" dist="38100" dir="2700000" algn="tl">
                    <a:srgbClr val="C0C0C0"/>
                  </a:outerShdw>
                </a:effectLst>
                <a:latin typeface="Comic Sans MS" panose="030F0702030302020204" pitchFamily="66" charset="0"/>
              </a:rPr>
              <a:t>vptr</a:t>
            </a:r>
            <a:endParaRPr lang="en-US" altLang="zh-CN" dirty="0">
              <a:solidFill>
                <a:srgbClr val="0000FF"/>
              </a:solidFill>
              <a:effectLst>
                <a:outerShdw blurRad="38100" dist="38100" dir="2700000" algn="tl">
                  <a:srgbClr val="C0C0C0"/>
                </a:outerShdw>
              </a:effectLst>
              <a:latin typeface="Comic Sans MS" panose="030F0702030302020204" pitchFamily="66" charset="0"/>
            </a:endParaRPr>
          </a:p>
        </p:txBody>
      </p:sp>
      <p:sp>
        <p:nvSpPr>
          <p:cNvPr id="21" name="Text Box 21">
            <a:extLst>
              <a:ext uri="{FF2B5EF4-FFF2-40B4-BE49-F238E27FC236}">
                <a16:creationId xmlns:a16="http://schemas.microsoft.com/office/drawing/2014/main" id="{16B21EAF-8299-4A07-9686-32450E146F57}"/>
              </a:ext>
            </a:extLst>
          </p:cNvPr>
          <p:cNvSpPr txBox="1">
            <a:spLocks noChangeArrowheads="1"/>
          </p:cNvSpPr>
          <p:nvPr/>
        </p:nvSpPr>
        <p:spPr bwMode="auto">
          <a:xfrm>
            <a:off x="2546350" y="3581400"/>
            <a:ext cx="12192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effectLst>
                  <a:outerShdw blurRad="38100" dist="38100" dir="2700000" algn="tl">
                    <a:srgbClr val="C0C0C0"/>
                  </a:outerShdw>
                </a:effectLst>
                <a:latin typeface="Comic Sans MS" panose="030F0702030302020204" pitchFamily="66" charset="0"/>
              </a:rPr>
              <a:t>1000</a:t>
            </a:r>
          </a:p>
        </p:txBody>
      </p:sp>
      <p:sp>
        <p:nvSpPr>
          <p:cNvPr id="22" name="Text Box 22">
            <a:extLst>
              <a:ext uri="{FF2B5EF4-FFF2-40B4-BE49-F238E27FC236}">
                <a16:creationId xmlns:a16="http://schemas.microsoft.com/office/drawing/2014/main" id="{EF112CE0-6EEB-4DD1-BFB5-50C65CD8549E}"/>
              </a:ext>
            </a:extLst>
          </p:cNvPr>
          <p:cNvSpPr txBox="1">
            <a:spLocks noChangeArrowheads="1"/>
          </p:cNvSpPr>
          <p:nvPr/>
        </p:nvSpPr>
        <p:spPr bwMode="auto">
          <a:xfrm>
            <a:off x="2622550" y="3657600"/>
            <a:ext cx="1085850" cy="461665"/>
          </a:xfrm>
          <a:prstGeom prst="rect">
            <a:avLst/>
          </a:prstGeom>
          <a:solidFill>
            <a:srgbClr val="FF99CC"/>
          </a:solidFill>
          <a:ln w="9525">
            <a:solidFill>
              <a:srgbClr val="FF99CC"/>
            </a:solidFill>
            <a:miter lim="800000"/>
            <a:headEnd/>
            <a:tailEnd/>
          </a:ln>
          <a:effectLst/>
        </p:spPr>
        <p:txBody>
          <a:bodyPr>
            <a:spAutoFit/>
          </a:bodyPr>
          <a:lstStyle/>
          <a:p>
            <a:pPr eaLnBrk="1" hangingPunct="1">
              <a:spcBef>
                <a:spcPct val="50000"/>
              </a:spcBef>
              <a:defRPr/>
            </a:pPr>
            <a:r>
              <a:rPr lang="zh-CN" altLang="en-US" dirty="0">
                <a:solidFill>
                  <a:srgbClr val="0000FF"/>
                </a:solidFill>
                <a:effectLst>
                  <a:outerShdw blurRad="38100" dist="38100" dir="2700000" algn="tl">
                    <a:srgbClr val="C0C0C0"/>
                  </a:outerShdw>
                </a:effectLst>
                <a:latin typeface="Comic Sans MS" panose="030F0702030302020204" pitchFamily="66" charset="0"/>
              </a:rPr>
              <a:t>2000</a:t>
            </a:r>
          </a:p>
        </p:txBody>
      </p:sp>
      <p:sp>
        <p:nvSpPr>
          <p:cNvPr id="23" name="Rectangle 23">
            <a:extLst>
              <a:ext uri="{FF2B5EF4-FFF2-40B4-BE49-F238E27FC236}">
                <a16:creationId xmlns:a16="http://schemas.microsoft.com/office/drawing/2014/main" id="{7A6D706A-C4A3-404A-B8DF-40E9D0D58542}"/>
              </a:ext>
            </a:extLst>
          </p:cNvPr>
          <p:cNvSpPr>
            <a:spLocks noChangeArrowheads="1"/>
          </p:cNvSpPr>
          <p:nvPr/>
        </p:nvSpPr>
        <p:spPr bwMode="auto">
          <a:xfrm>
            <a:off x="1660240" y="4603402"/>
            <a:ext cx="1792478" cy="461665"/>
          </a:xfrm>
          <a:prstGeom prst="rect">
            <a:avLst/>
          </a:prstGeom>
          <a:noFill/>
          <a:ln w="9525">
            <a:noFill/>
            <a:miter lim="800000"/>
            <a:headEnd/>
            <a:tailEnd/>
          </a:ln>
          <a:effectLst/>
        </p:spPr>
        <p:txBody>
          <a:bodyPr wrap="none">
            <a:spAutoFit/>
          </a:bodyPr>
          <a:lstStyle/>
          <a:p>
            <a:pPr eaLnBrk="1" hangingPunct="1">
              <a:defRPr/>
            </a:pPr>
            <a:r>
              <a:rPr lang="en-US" altLang="zh-CN" dirty="0">
                <a:solidFill>
                  <a:srgbClr val="104E87"/>
                </a:solidFill>
                <a:effectLst>
                  <a:outerShdw blurRad="38100" dist="38100" dir="2700000" algn="tl">
                    <a:srgbClr val="C0C0C0"/>
                  </a:outerShdw>
                </a:effectLst>
                <a:latin typeface="Comic Sans MS" panose="030F0702030302020204" pitchFamily="66" charset="0"/>
              </a:rPr>
              <a:t>p = &amp; </a:t>
            </a:r>
            <a:r>
              <a:rPr lang="en-US" altLang="zh-CN" dirty="0" err="1">
                <a:solidFill>
                  <a:srgbClr val="104E87"/>
                </a:solidFill>
                <a:effectLst>
                  <a:outerShdw blurRad="38100" dist="38100" dir="2700000" algn="tl">
                    <a:srgbClr val="C0C0C0"/>
                  </a:outerShdw>
                </a:effectLst>
                <a:latin typeface="Comic Sans MS" panose="030F0702030302020204" pitchFamily="66" charset="0"/>
              </a:rPr>
              <a:t>s_obj</a:t>
            </a:r>
            <a:endParaRPr lang="en-US" altLang="zh-CN" dirty="0">
              <a:solidFill>
                <a:srgbClr val="104E87"/>
              </a:solidFill>
              <a:effectLst>
                <a:outerShdw blurRad="38100" dist="38100" dir="2700000" algn="tl">
                  <a:srgbClr val="C0C0C0"/>
                </a:outerShdw>
              </a:effectLst>
              <a:latin typeface="Comic Sans MS" panose="030F0702030302020204" pitchFamily="66" charset="0"/>
            </a:endParaRPr>
          </a:p>
        </p:txBody>
      </p:sp>
      <p:sp>
        <p:nvSpPr>
          <p:cNvPr id="24" name="Rectangle 24">
            <a:extLst>
              <a:ext uri="{FF2B5EF4-FFF2-40B4-BE49-F238E27FC236}">
                <a16:creationId xmlns:a16="http://schemas.microsoft.com/office/drawing/2014/main" id="{586158E6-1185-408D-A5AB-E1E1AF98CFBE}"/>
              </a:ext>
            </a:extLst>
          </p:cNvPr>
          <p:cNvSpPr>
            <a:spLocks noChangeArrowheads="1"/>
          </p:cNvSpPr>
          <p:nvPr/>
        </p:nvSpPr>
        <p:spPr bwMode="auto">
          <a:xfrm>
            <a:off x="2393950" y="4953000"/>
            <a:ext cx="1371600" cy="1371600"/>
          </a:xfrm>
          <a:prstGeom prst="rect">
            <a:avLst/>
          </a:prstGeom>
          <a:solidFill>
            <a:srgbClr val="FF99CC"/>
          </a:solidFill>
          <a:ln w="9525">
            <a:solidFill>
              <a:schemeClr val="tx1"/>
            </a:solidFill>
            <a:miter lim="800000"/>
            <a:headEnd/>
            <a:tailEnd/>
          </a:ln>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latin typeface="Comic Sans MS" panose="030F0702030302020204" pitchFamily="66" charset="0"/>
              <a:ea typeface="宋体" panose="02010600030101010101" pitchFamily="2" charset="-122"/>
            </a:endParaRPr>
          </a:p>
        </p:txBody>
      </p:sp>
      <p:sp>
        <p:nvSpPr>
          <p:cNvPr id="25" name="Text Box 25">
            <a:extLst>
              <a:ext uri="{FF2B5EF4-FFF2-40B4-BE49-F238E27FC236}">
                <a16:creationId xmlns:a16="http://schemas.microsoft.com/office/drawing/2014/main" id="{41DA4B1B-0720-4DF5-8C5A-599183E21820}"/>
              </a:ext>
            </a:extLst>
          </p:cNvPr>
          <p:cNvSpPr txBox="1">
            <a:spLocks noChangeArrowheads="1"/>
          </p:cNvSpPr>
          <p:nvPr/>
        </p:nvSpPr>
        <p:spPr bwMode="auto">
          <a:xfrm>
            <a:off x="2470150" y="5181600"/>
            <a:ext cx="102235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dirty="0" err="1">
                <a:solidFill>
                  <a:srgbClr val="0000FF"/>
                </a:solidFill>
                <a:effectLst>
                  <a:outerShdw blurRad="38100" dist="38100" dir="2700000" algn="tl">
                    <a:srgbClr val="C0C0C0"/>
                  </a:outerShdw>
                </a:effectLst>
                <a:latin typeface="Comic Sans MS" panose="030F0702030302020204" pitchFamily="66" charset="0"/>
              </a:rPr>
              <a:t>vptr</a:t>
            </a:r>
            <a:endParaRPr lang="en-US" altLang="zh-CN" dirty="0">
              <a:solidFill>
                <a:srgbClr val="0000FF"/>
              </a:solidFill>
              <a:effectLst>
                <a:outerShdw blurRad="38100" dist="38100" dir="2700000" algn="tl">
                  <a:srgbClr val="C0C0C0"/>
                </a:outerShdw>
              </a:effectLst>
              <a:latin typeface="Comic Sans MS" panose="030F0702030302020204" pitchFamily="66" charset="0"/>
            </a:endParaRPr>
          </a:p>
        </p:txBody>
      </p:sp>
      <p:sp>
        <p:nvSpPr>
          <p:cNvPr id="26" name="Text Box 26">
            <a:extLst>
              <a:ext uri="{FF2B5EF4-FFF2-40B4-BE49-F238E27FC236}">
                <a16:creationId xmlns:a16="http://schemas.microsoft.com/office/drawing/2014/main" id="{4FD8CF0B-B13C-46EB-BC44-069B42863617}"/>
              </a:ext>
            </a:extLst>
          </p:cNvPr>
          <p:cNvSpPr txBox="1">
            <a:spLocks noChangeArrowheads="1"/>
          </p:cNvSpPr>
          <p:nvPr/>
        </p:nvSpPr>
        <p:spPr bwMode="auto">
          <a:xfrm>
            <a:off x="2546350" y="5715000"/>
            <a:ext cx="12192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effectLst>
                  <a:outerShdw blurRad="38100" dist="38100" dir="2700000" algn="tl">
                    <a:srgbClr val="C0C0C0"/>
                  </a:outerShdw>
                </a:effectLst>
                <a:latin typeface="Comic Sans MS" panose="030F0702030302020204" pitchFamily="66" charset="0"/>
              </a:rPr>
              <a:t>1000</a:t>
            </a:r>
          </a:p>
        </p:txBody>
      </p:sp>
      <p:sp>
        <p:nvSpPr>
          <p:cNvPr id="27" name="Text Box 27">
            <a:extLst>
              <a:ext uri="{FF2B5EF4-FFF2-40B4-BE49-F238E27FC236}">
                <a16:creationId xmlns:a16="http://schemas.microsoft.com/office/drawing/2014/main" id="{9065BF78-1B89-4113-90FB-8538C5296B79}"/>
              </a:ext>
            </a:extLst>
          </p:cNvPr>
          <p:cNvSpPr txBox="1">
            <a:spLocks noChangeArrowheads="1"/>
          </p:cNvSpPr>
          <p:nvPr/>
        </p:nvSpPr>
        <p:spPr bwMode="auto">
          <a:xfrm>
            <a:off x="2622550" y="5791200"/>
            <a:ext cx="1085850" cy="461665"/>
          </a:xfrm>
          <a:prstGeom prst="rect">
            <a:avLst/>
          </a:prstGeom>
          <a:solidFill>
            <a:srgbClr val="FF99CC"/>
          </a:solidFill>
          <a:ln w="9525">
            <a:noFill/>
            <a:miter lim="800000"/>
            <a:headEnd/>
            <a:tailEnd/>
          </a:ln>
          <a:effectLst/>
        </p:spPr>
        <p:txBody>
          <a:bodyPr>
            <a:spAutoFit/>
          </a:bodyPr>
          <a:lstStyle/>
          <a:p>
            <a:pPr eaLnBrk="1" hangingPunct="1">
              <a:spcBef>
                <a:spcPct val="50000"/>
              </a:spcBef>
              <a:defRPr/>
            </a:pPr>
            <a:r>
              <a:rPr lang="zh-CN" altLang="en-US">
                <a:solidFill>
                  <a:srgbClr val="0000FF"/>
                </a:solidFill>
                <a:effectLst>
                  <a:outerShdw blurRad="38100" dist="38100" dir="2700000" algn="tl">
                    <a:srgbClr val="C0C0C0"/>
                  </a:outerShdw>
                </a:effectLst>
                <a:latin typeface="Comic Sans MS" panose="030F0702030302020204" pitchFamily="66" charset="0"/>
              </a:rPr>
              <a:t>3000</a:t>
            </a:r>
          </a:p>
        </p:txBody>
      </p:sp>
      <p:sp>
        <p:nvSpPr>
          <p:cNvPr id="28" name="Text Box 28">
            <a:extLst>
              <a:ext uri="{FF2B5EF4-FFF2-40B4-BE49-F238E27FC236}">
                <a16:creationId xmlns:a16="http://schemas.microsoft.com/office/drawing/2014/main" id="{41405F1D-3E24-42D0-9A55-80E2E3409B91}"/>
              </a:ext>
            </a:extLst>
          </p:cNvPr>
          <p:cNvSpPr txBox="1">
            <a:spLocks noChangeArrowheads="1"/>
          </p:cNvSpPr>
          <p:nvPr/>
        </p:nvSpPr>
        <p:spPr bwMode="auto">
          <a:xfrm>
            <a:off x="184150" y="685800"/>
            <a:ext cx="1579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en-US" altLang="zh-CN" sz="2400" b="0">
                <a:solidFill>
                  <a:srgbClr val="104E87"/>
                </a:solidFill>
                <a:latin typeface="Comic Sans MS" panose="030F0702030302020204" pitchFamily="66" charset="0"/>
                <a:ea typeface="宋体" panose="02010600030101010101" pitchFamily="2" charset="-122"/>
              </a:rPr>
              <a:t>p-&gt;who()</a:t>
            </a:r>
          </a:p>
        </p:txBody>
      </p:sp>
      <p:sp>
        <p:nvSpPr>
          <p:cNvPr id="29" name="Line 29">
            <a:extLst>
              <a:ext uri="{FF2B5EF4-FFF2-40B4-BE49-F238E27FC236}">
                <a16:creationId xmlns:a16="http://schemas.microsoft.com/office/drawing/2014/main" id="{A1996A3E-C2D9-4CF5-B37B-B60AF8F9B0DE}"/>
              </a:ext>
            </a:extLst>
          </p:cNvPr>
          <p:cNvSpPr>
            <a:spLocks noChangeShapeType="1"/>
          </p:cNvSpPr>
          <p:nvPr/>
        </p:nvSpPr>
        <p:spPr bwMode="auto">
          <a:xfrm>
            <a:off x="1479550" y="1066800"/>
            <a:ext cx="914400" cy="6096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omic Sans MS" panose="030F0702030302020204" pitchFamily="66" charset="0"/>
            </a:endParaRPr>
          </a:p>
        </p:txBody>
      </p:sp>
      <p:sp>
        <p:nvSpPr>
          <p:cNvPr id="30" name="Line 30">
            <a:extLst>
              <a:ext uri="{FF2B5EF4-FFF2-40B4-BE49-F238E27FC236}">
                <a16:creationId xmlns:a16="http://schemas.microsoft.com/office/drawing/2014/main" id="{8A9B7DB1-E6AB-4CE4-9F4A-AE7FA318C198}"/>
              </a:ext>
            </a:extLst>
          </p:cNvPr>
          <p:cNvSpPr>
            <a:spLocks noChangeShapeType="1"/>
          </p:cNvSpPr>
          <p:nvPr/>
        </p:nvSpPr>
        <p:spPr bwMode="auto">
          <a:xfrm flipV="1">
            <a:off x="3232150" y="1006232"/>
            <a:ext cx="1828800" cy="670168"/>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omic Sans MS" panose="030F0702030302020204" pitchFamily="66" charset="0"/>
            </a:endParaRPr>
          </a:p>
        </p:txBody>
      </p:sp>
      <p:sp>
        <p:nvSpPr>
          <p:cNvPr id="31" name="Text Box 31">
            <a:extLst>
              <a:ext uri="{FF2B5EF4-FFF2-40B4-BE49-F238E27FC236}">
                <a16:creationId xmlns:a16="http://schemas.microsoft.com/office/drawing/2014/main" id="{55638713-BB27-4BB2-A810-5A6CC34E43E0}"/>
              </a:ext>
            </a:extLst>
          </p:cNvPr>
          <p:cNvSpPr txBox="1">
            <a:spLocks noChangeArrowheads="1"/>
          </p:cNvSpPr>
          <p:nvPr/>
        </p:nvSpPr>
        <p:spPr bwMode="auto">
          <a:xfrm>
            <a:off x="107950" y="2971800"/>
            <a:ext cx="1584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en-US" altLang="zh-CN" sz="2400" b="0">
                <a:solidFill>
                  <a:srgbClr val="104E87"/>
                </a:solidFill>
                <a:latin typeface="Comic Sans MS" panose="030F0702030302020204" pitchFamily="66" charset="0"/>
                <a:ea typeface="宋体" panose="02010600030101010101" pitchFamily="2" charset="-122"/>
              </a:rPr>
              <a:t>p-&gt;who()</a:t>
            </a:r>
          </a:p>
        </p:txBody>
      </p:sp>
      <p:sp>
        <p:nvSpPr>
          <p:cNvPr id="32" name="Line 32">
            <a:extLst>
              <a:ext uri="{FF2B5EF4-FFF2-40B4-BE49-F238E27FC236}">
                <a16:creationId xmlns:a16="http://schemas.microsoft.com/office/drawing/2014/main" id="{B0E9BF76-8DE2-441C-A69E-DF2E21FCA1BC}"/>
              </a:ext>
            </a:extLst>
          </p:cNvPr>
          <p:cNvSpPr>
            <a:spLocks noChangeShapeType="1"/>
          </p:cNvSpPr>
          <p:nvPr/>
        </p:nvSpPr>
        <p:spPr bwMode="auto">
          <a:xfrm>
            <a:off x="1479550" y="3276600"/>
            <a:ext cx="914400" cy="6096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omic Sans MS" panose="030F0702030302020204" pitchFamily="66" charset="0"/>
            </a:endParaRPr>
          </a:p>
        </p:txBody>
      </p:sp>
      <p:sp>
        <p:nvSpPr>
          <p:cNvPr id="33" name="Line 33">
            <a:extLst>
              <a:ext uri="{FF2B5EF4-FFF2-40B4-BE49-F238E27FC236}">
                <a16:creationId xmlns:a16="http://schemas.microsoft.com/office/drawing/2014/main" id="{22D5355E-1731-41D7-ADB2-5F53E4BAC882}"/>
              </a:ext>
            </a:extLst>
          </p:cNvPr>
          <p:cNvSpPr>
            <a:spLocks noChangeShapeType="1"/>
          </p:cNvSpPr>
          <p:nvPr/>
        </p:nvSpPr>
        <p:spPr bwMode="auto">
          <a:xfrm flipV="1">
            <a:off x="3613150" y="3348335"/>
            <a:ext cx="1371600" cy="461665"/>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omic Sans MS" panose="030F0702030302020204" pitchFamily="66" charset="0"/>
            </a:endParaRPr>
          </a:p>
        </p:txBody>
      </p:sp>
      <p:sp>
        <p:nvSpPr>
          <p:cNvPr id="34" name="Text Box 34">
            <a:extLst>
              <a:ext uri="{FF2B5EF4-FFF2-40B4-BE49-F238E27FC236}">
                <a16:creationId xmlns:a16="http://schemas.microsoft.com/office/drawing/2014/main" id="{DC3F68F0-65B3-4EFA-A917-598DA703D1AE}"/>
              </a:ext>
            </a:extLst>
          </p:cNvPr>
          <p:cNvSpPr txBox="1">
            <a:spLocks noChangeArrowheads="1"/>
          </p:cNvSpPr>
          <p:nvPr/>
        </p:nvSpPr>
        <p:spPr bwMode="auto">
          <a:xfrm>
            <a:off x="107950" y="5181600"/>
            <a:ext cx="1655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en-US" altLang="zh-CN" sz="2400" b="0">
                <a:solidFill>
                  <a:srgbClr val="104E87"/>
                </a:solidFill>
                <a:latin typeface="Comic Sans MS" panose="030F0702030302020204" pitchFamily="66" charset="0"/>
                <a:ea typeface="宋体" panose="02010600030101010101" pitchFamily="2" charset="-122"/>
              </a:rPr>
              <a:t>p-&gt;who()</a:t>
            </a:r>
          </a:p>
        </p:txBody>
      </p:sp>
      <p:sp>
        <p:nvSpPr>
          <p:cNvPr id="35" name="Line 35">
            <a:extLst>
              <a:ext uri="{FF2B5EF4-FFF2-40B4-BE49-F238E27FC236}">
                <a16:creationId xmlns:a16="http://schemas.microsoft.com/office/drawing/2014/main" id="{9DF18B8E-BA8D-4EB9-8566-15C12F8C5FB1}"/>
              </a:ext>
            </a:extLst>
          </p:cNvPr>
          <p:cNvSpPr>
            <a:spLocks noChangeShapeType="1"/>
          </p:cNvSpPr>
          <p:nvPr/>
        </p:nvSpPr>
        <p:spPr bwMode="auto">
          <a:xfrm>
            <a:off x="1479550" y="5486400"/>
            <a:ext cx="914400" cy="6096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omic Sans MS" panose="030F0702030302020204" pitchFamily="66" charset="0"/>
            </a:endParaRPr>
          </a:p>
        </p:txBody>
      </p:sp>
      <p:sp>
        <p:nvSpPr>
          <p:cNvPr id="36" name="Line 36">
            <a:extLst>
              <a:ext uri="{FF2B5EF4-FFF2-40B4-BE49-F238E27FC236}">
                <a16:creationId xmlns:a16="http://schemas.microsoft.com/office/drawing/2014/main" id="{503155FA-DCB8-4782-B0D8-90E3CF1512F8}"/>
              </a:ext>
            </a:extLst>
          </p:cNvPr>
          <p:cNvSpPr>
            <a:spLocks noChangeShapeType="1"/>
          </p:cNvSpPr>
          <p:nvPr/>
        </p:nvSpPr>
        <p:spPr bwMode="auto">
          <a:xfrm flipV="1">
            <a:off x="3613150" y="5634335"/>
            <a:ext cx="1390650" cy="461665"/>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omic Sans MS" panose="030F0702030302020204" pitchFamily="66" charset="0"/>
            </a:endParaRPr>
          </a:p>
        </p:txBody>
      </p:sp>
      <p:sp>
        <p:nvSpPr>
          <p:cNvPr id="37" name="Line 37">
            <a:extLst>
              <a:ext uri="{FF2B5EF4-FFF2-40B4-BE49-F238E27FC236}">
                <a16:creationId xmlns:a16="http://schemas.microsoft.com/office/drawing/2014/main" id="{EDFD534F-E703-42C2-B130-1F3558FCF8FA}"/>
              </a:ext>
            </a:extLst>
          </p:cNvPr>
          <p:cNvSpPr>
            <a:spLocks noChangeShapeType="1"/>
          </p:cNvSpPr>
          <p:nvPr/>
        </p:nvSpPr>
        <p:spPr bwMode="auto">
          <a:xfrm flipV="1">
            <a:off x="3613150" y="1147465"/>
            <a:ext cx="1395144" cy="266253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latin typeface="Comic Sans MS" panose="030F0702030302020204" pitchFamily="66" charset="0"/>
            </a:endParaRPr>
          </a:p>
        </p:txBody>
      </p:sp>
      <p:sp>
        <p:nvSpPr>
          <p:cNvPr id="38" name="Line 39">
            <a:extLst>
              <a:ext uri="{FF2B5EF4-FFF2-40B4-BE49-F238E27FC236}">
                <a16:creationId xmlns:a16="http://schemas.microsoft.com/office/drawing/2014/main" id="{272BAAF4-0082-44DA-A133-A7EDB6C02013}"/>
              </a:ext>
            </a:extLst>
          </p:cNvPr>
          <p:cNvSpPr>
            <a:spLocks noChangeShapeType="1"/>
          </p:cNvSpPr>
          <p:nvPr/>
        </p:nvSpPr>
        <p:spPr bwMode="auto">
          <a:xfrm flipV="1">
            <a:off x="3613150" y="1184086"/>
            <a:ext cx="1531306" cy="46071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latin typeface="Comic Sans MS" panose="030F0702030302020204" pitchFamily="66" charset="0"/>
            </a:endParaRPr>
          </a:p>
        </p:txBody>
      </p:sp>
    </p:spTree>
    <p:extLst>
      <p:ext uri="{BB962C8B-B14F-4D97-AF65-F5344CB8AC3E}">
        <p14:creationId xmlns:p14="http://schemas.microsoft.com/office/powerpoint/2010/main" val="339734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p:cTn id="27" dur="500" fill="hold"/>
                                        <p:tgtEl>
                                          <p:spTgt spid="30"/>
                                        </p:tgtEl>
                                        <p:attrNameLst>
                                          <p:attrName>ppt_x</p:attrName>
                                        </p:attrNameLst>
                                      </p:cBhvr>
                                      <p:tavLst>
                                        <p:tav tm="0">
                                          <p:val>
                                            <p:strVal val="#ppt_x-#ppt_w/2"/>
                                          </p:val>
                                        </p:tav>
                                        <p:tav tm="100000">
                                          <p:val>
                                            <p:strVal val="#ppt_x"/>
                                          </p:val>
                                        </p:tav>
                                      </p:tavLst>
                                    </p:anim>
                                    <p:anim calcmode="lin" valueType="num">
                                      <p:cBhvr>
                                        <p:cTn id="28" dur="500" fill="hold"/>
                                        <p:tgtEl>
                                          <p:spTgt spid="30"/>
                                        </p:tgtEl>
                                        <p:attrNameLst>
                                          <p:attrName>ppt_y</p:attrName>
                                        </p:attrNameLst>
                                      </p:cBhvr>
                                      <p:tavLst>
                                        <p:tav tm="0">
                                          <p:val>
                                            <p:strVal val="#ppt_y"/>
                                          </p:val>
                                        </p:tav>
                                        <p:tav tm="100000">
                                          <p:val>
                                            <p:strVal val="#ppt_y"/>
                                          </p:val>
                                        </p:tav>
                                      </p:tavLst>
                                    </p:anim>
                                    <p:anim calcmode="lin" valueType="num">
                                      <p:cBhvr>
                                        <p:cTn id="29" dur="500" fill="hold"/>
                                        <p:tgtEl>
                                          <p:spTgt spid="30"/>
                                        </p:tgtEl>
                                        <p:attrNameLst>
                                          <p:attrName>ppt_w</p:attrName>
                                        </p:attrNameLst>
                                      </p:cBhvr>
                                      <p:tavLst>
                                        <p:tav tm="0">
                                          <p:val>
                                            <p:fltVal val="0"/>
                                          </p:val>
                                        </p:tav>
                                        <p:tav tm="100000">
                                          <p:val>
                                            <p:strVal val="#ppt_w"/>
                                          </p:val>
                                        </p:tav>
                                      </p:tavLst>
                                    </p:anim>
                                    <p:anim calcmode="lin" valueType="num">
                                      <p:cBhvr>
                                        <p:cTn id="30" dur="5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dissolve">
                                      <p:cBhvr>
                                        <p:cTn id="50" dur="5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17" presetClass="entr" presetSubtype="4" fill="hold" nodeType="clickEffect">
                                  <p:stCondLst>
                                    <p:cond delay="0"/>
                                  </p:stCondLst>
                                  <p:childTnLst>
                                    <p:set>
                                      <p:cBhvr>
                                        <p:cTn id="54" dur="1" fill="hold">
                                          <p:stCondLst>
                                            <p:cond delay="0"/>
                                          </p:stCondLst>
                                        </p:cTn>
                                        <p:tgtEl>
                                          <p:spTgt spid="37"/>
                                        </p:tgtEl>
                                        <p:attrNameLst>
                                          <p:attrName>style.visibility</p:attrName>
                                        </p:attrNameLst>
                                      </p:cBhvr>
                                      <p:to>
                                        <p:strVal val="visible"/>
                                      </p:to>
                                    </p:set>
                                    <p:anim calcmode="lin" valueType="num">
                                      <p:cBhvr>
                                        <p:cTn id="55" dur="500" fill="hold"/>
                                        <p:tgtEl>
                                          <p:spTgt spid="37"/>
                                        </p:tgtEl>
                                        <p:attrNameLst>
                                          <p:attrName>ppt_x</p:attrName>
                                        </p:attrNameLst>
                                      </p:cBhvr>
                                      <p:tavLst>
                                        <p:tav tm="0">
                                          <p:val>
                                            <p:strVal val="#ppt_x"/>
                                          </p:val>
                                        </p:tav>
                                        <p:tav tm="100000">
                                          <p:val>
                                            <p:strVal val="#ppt_x"/>
                                          </p:val>
                                        </p:tav>
                                      </p:tavLst>
                                    </p:anim>
                                    <p:anim calcmode="lin" valueType="num">
                                      <p:cBhvr>
                                        <p:cTn id="56" dur="500" fill="hold"/>
                                        <p:tgtEl>
                                          <p:spTgt spid="37"/>
                                        </p:tgtEl>
                                        <p:attrNameLst>
                                          <p:attrName>ppt_y</p:attrName>
                                        </p:attrNameLst>
                                      </p:cBhvr>
                                      <p:tavLst>
                                        <p:tav tm="0">
                                          <p:val>
                                            <p:strVal val="#ppt_y+#ppt_h/2"/>
                                          </p:val>
                                        </p:tav>
                                        <p:tav tm="100000">
                                          <p:val>
                                            <p:strVal val="#ppt_y"/>
                                          </p:val>
                                        </p:tav>
                                      </p:tavLst>
                                    </p:anim>
                                    <p:anim calcmode="lin" valueType="num">
                                      <p:cBhvr>
                                        <p:cTn id="57" dur="500" fill="hold"/>
                                        <p:tgtEl>
                                          <p:spTgt spid="37"/>
                                        </p:tgtEl>
                                        <p:attrNameLst>
                                          <p:attrName>ppt_w</p:attrName>
                                        </p:attrNameLst>
                                      </p:cBhvr>
                                      <p:tavLst>
                                        <p:tav tm="0">
                                          <p:val>
                                            <p:strVal val="#ppt_w"/>
                                          </p:val>
                                        </p:tav>
                                        <p:tav tm="100000">
                                          <p:val>
                                            <p:strVal val="#ppt_w"/>
                                          </p:val>
                                        </p:tav>
                                      </p:tavLst>
                                    </p:anim>
                                    <p:anim calcmode="lin" valueType="num">
                                      <p:cBhvr>
                                        <p:cTn id="58" dur="500" fill="hold"/>
                                        <p:tgtEl>
                                          <p:spTgt spid="37"/>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dissolve">
                                      <p:cBhvr>
                                        <p:cTn id="63" dur="5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nodeType="clickEffect">
                                  <p:stCondLst>
                                    <p:cond delay="0"/>
                                  </p:stCondLst>
                                  <p:childTnLst>
                                    <p:set>
                                      <p:cBhvr>
                                        <p:cTn id="67" dur="1" fill="hold">
                                          <p:stCondLst>
                                            <p:cond delay="0"/>
                                          </p:stCondLst>
                                        </p:cTn>
                                        <p:tgtEl>
                                          <p:spTgt spid="37"/>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7" presetClass="entr" presetSubtype="8" fill="hold" nodeType="clickEffect">
                                  <p:stCondLst>
                                    <p:cond delay="0"/>
                                  </p:stCondLst>
                                  <p:childTnLst>
                                    <p:set>
                                      <p:cBhvr>
                                        <p:cTn id="71" dur="1" fill="hold">
                                          <p:stCondLst>
                                            <p:cond delay="0"/>
                                          </p:stCondLst>
                                        </p:cTn>
                                        <p:tgtEl>
                                          <p:spTgt spid="33"/>
                                        </p:tgtEl>
                                        <p:attrNameLst>
                                          <p:attrName>style.visibility</p:attrName>
                                        </p:attrNameLst>
                                      </p:cBhvr>
                                      <p:to>
                                        <p:strVal val="visible"/>
                                      </p:to>
                                    </p:set>
                                    <p:anim calcmode="lin" valueType="num">
                                      <p:cBhvr>
                                        <p:cTn id="72" dur="500" fill="hold"/>
                                        <p:tgtEl>
                                          <p:spTgt spid="33"/>
                                        </p:tgtEl>
                                        <p:attrNameLst>
                                          <p:attrName>ppt_x</p:attrName>
                                        </p:attrNameLst>
                                      </p:cBhvr>
                                      <p:tavLst>
                                        <p:tav tm="0">
                                          <p:val>
                                            <p:strVal val="#ppt_x-#ppt_w/2"/>
                                          </p:val>
                                        </p:tav>
                                        <p:tav tm="100000">
                                          <p:val>
                                            <p:strVal val="#ppt_x"/>
                                          </p:val>
                                        </p:tav>
                                      </p:tavLst>
                                    </p:anim>
                                    <p:anim calcmode="lin" valueType="num">
                                      <p:cBhvr>
                                        <p:cTn id="73" dur="500" fill="hold"/>
                                        <p:tgtEl>
                                          <p:spTgt spid="33"/>
                                        </p:tgtEl>
                                        <p:attrNameLst>
                                          <p:attrName>ppt_y</p:attrName>
                                        </p:attrNameLst>
                                      </p:cBhvr>
                                      <p:tavLst>
                                        <p:tav tm="0">
                                          <p:val>
                                            <p:strVal val="#ppt_y"/>
                                          </p:val>
                                        </p:tav>
                                        <p:tav tm="100000">
                                          <p:val>
                                            <p:strVal val="#ppt_y"/>
                                          </p:val>
                                        </p:tav>
                                      </p:tavLst>
                                    </p:anim>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strVal val="#ppt_h"/>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dissolve">
                                      <p:cBhvr>
                                        <p:cTn id="80" dur="500"/>
                                        <p:tgtEl>
                                          <p:spTgt spid="23"/>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dissolve">
                                      <p:cBhvr>
                                        <p:cTn id="85" dur="500"/>
                                        <p:tgtEl>
                                          <p:spTgt spid="24"/>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dissolve">
                                      <p:cBhvr>
                                        <p:cTn id="90" dur="500"/>
                                        <p:tgtEl>
                                          <p:spTgt spid="25"/>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dissolve">
                                      <p:cBhvr>
                                        <p:cTn id="95" dur="500"/>
                                        <p:tgtEl>
                                          <p:spTgt spid="26"/>
                                        </p:tgtEl>
                                      </p:cBhvr>
                                    </p:animEffect>
                                  </p:childTnLst>
                                </p:cTn>
                              </p:par>
                            </p:childTnLst>
                          </p:cTn>
                        </p:par>
                      </p:childTnLst>
                    </p:cTn>
                  </p:par>
                  <p:par>
                    <p:cTn id="96" fill="hold">
                      <p:stCondLst>
                        <p:cond delay="indefinite"/>
                      </p:stCondLst>
                      <p:childTnLst>
                        <p:par>
                          <p:cTn id="97" fill="hold">
                            <p:stCondLst>
                              <p:cond delay="0"/>
                            </p:stCondLst>
                            <p:childTnLst>
                              <p:par>
                                <p:cTn id="98" presetID="17" presetClass="entr" presetSubtype="4" fill="hold" nodeType="clickEffect">
                                  <p:stCondLst>
                                    <p:cond delay="0"/>
                                  </p:stCondLst>
                                  <p:childTnLst>
                                    <p:set>
                                      <p:cBhvr>
                                        <p:cTn id="99" dur="1" fill="hold">
                                          <p:stCondLst>
                                            <p:cond delay="0"/>
                                          </p:stCondLst>
                                        </p:cTn>
                                        <p:tgtEl>
                                          <p:spTgt spid="38"/>
                                        </p:tgtEl>
                                        <p:attrNameLst>
                                          <p:attrName>style.visibility</p:attrName>
                                        </p:attrNameLst>
                                      </p:cBhvr>
                                      <p:to>
                                        <p:strVal val="visible"/>
                                      </p:to>
                                    </p:set>
                                    <p:anim calcmode="lin" valueType="num">
                                      <p:cBhvr>
                                        <p:cTn id="100" dur="500" fill="hold"/>
                                        <p:tgtEl>
                                          <p:spTgt spid="38"/>
                                        </p:tgtEl>
                                        <p:attrNameLst>
                                          <p:attrName>ppt_x</p:attrName>
                                        </p:attrNameLst>
                                      </p:cBhvr>
                                      <p:tavLst>
                                        <p:tav tm="0">
                                          <p:val>
                                            <p:strVal val="#ppt_x"/>
                                          </p:val>
                                        </p:tav>
                                        <p:tav tm="100000">
                                          <p:val>
                                            <p:strVal val="#ppt_x"/>
                                          </p:val>
                                        </p:tav>
                                      </p:tavLst>
                                    </p:anim>
                                    <p:anim calcmode="lin" valueType="num">
                                      <p:cBhvr>
                                        <p:cTn id="101" dur="500" fill="hold"/>
                                        <p:tgtEl>
                                          <p:spTgt spid="38"/>
                                        </p:tgtEl>
                                        <p:attrNameLst>
                                          <p:attrName>ppt_y</p:attrName>
                                        </p:attrNameLst>
                                      </p:cBhvr>
                                      <p:tavLst>
                                        <p:tav tm="0">
                                          <p:val>
                                            <p:strVal val="#ppt_y+#ppt_h/2"/>
                                          </p:val>
                                        </p:tav>
                                        <p:tav tm="100000">
                                          <p:val>
                                            <p:strVal val="#ppt_y"/>
                                          </p:val>
                                        </p:tav>
                                      </p:tavLst>
                                    </p:anim>
                                    <p:anim calcmode="lin" valueType="num">
                                      <p:cBhvr>
                                        <p:cTn id="102" dur="500" fill="hold"/>
                                        <p:tgtEl>
                                          <p:spTgt spid="38"/>
                                        </p:tgtEl>
                                        <p:attrNameLst>
                                          <p:attrName>ppt_w</p:attrName>
                                        </p:attrNameLst>
                                      </p:cBhvr>
                                      <p:tavLst>
                                        <p:tav tm="0">
                                          <p:val>
                                            <p:strVal val="#ppt_w"/>
                                          </p:val>
                                        </p:tav>
                                        <p:tav tm="100000">
                                          <p:val>
                                            <p:strVal val="#ppt_w"/>
                                          </p:val>
                                        </p:tav>
                                      </p:tavLst>
                                    </p:anim>
                                    <p:anim calcmode="lin" valueType="num">
                                      <p:cBhvr>
                                        <p:cTn id="103" dur="500" fill="hold"/>
                                        <p:tgtEl>
                                          <p:spTgt spid="38"/>
                                        </p:tgtEl>
                                        <p:attrNameLst>
                                          <p:attrName>ppt_h</p:attrName>
                                        </p:attrNameLst>
                                      </p:cBhvr>
                                      <p:tavLst>
                                        <p:tav tm="0">
                                          <p:val>
                                            <p:fltVal val="0"/>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27"/>
                                        </p:tgtEl>
                                        <p:attrNameLst>
                                          <p:attrName>style.visibility</p:attrName>
                                        </p:attrNameLst>
                                      </p:cBhvr>
                                      <p:to>
                                        <p:strVal val="visible"/>
                                      </p:to>
                                    </p:set>
                                    <p:animEffect transition="in" filter="dissolve">
                                      <p:cBhvr>
                                        <p:cTn id="108" dur="500"/>
                                        <p:tgtEl>
                                          <p:spTgt spid="27"/>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38"/>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7" presetClass="entr" presetSubtype="8" fill="hold" nodeType="clickEffect">
                                  <p:stCondLst>
                                    <p:cond delay="0"/>
                                  </p:stCondLst>
                                  <p:childTnLst>
                                    <p:set>
                                      <p:cBhvr>
                                        <p:cTn id="116" dur="1" fill="hold">
                                          <p:stCondLst>
                                            <p:cond delay="0"/>
                                          </p:stCondLst>
                                        </p:cTn>
                                        <p:tgtEl>
                                          <p:spTgt spid="36"/>
                                        </p:tgtEl>
                                        <p:attrNameLst>
                                          <p:attrName>style.visibility</p:attrName>
                                        </p:attrNameLst>
                                      </p:cBhvr>
                                      <p:to>
                                        <p:strVal val="visible"/>
                                      </p:to>
                                    </p:set>
                                    <p:anim calcmode="lin" valueType="num">
                                      <p:cBhvr>
                                        <p:cTn id="117" dur="500" fill="hold"/>
                                        <p:tgtEl>
                                          <p:spTgt spid="36"/>
                                        </p:tgtEl>
                                        <p:attrNameLst>
                                          <p:attrName>ppt_x</p:attrName>
                                        </p:attrNameLst>
                                      </p:cBhvr>
                                      <p:tavLst>
                                        <p:tav tm="0">
                                          <p:val>
                                            <p:strVal val="#ppt_x-#ppt_w/2"/>
                                          </p:val>
                                        </p:tav>
                                        <p:tav tm="100000">
                                          <p:val>
                                            <p:strVal val="#ppt_x"/>
                                          </p:val>
                                        </p:tav>
                                      </p:tavLst>
                                    </p:anim>
                                    <p:anim calcmode="lin" valueType="num">
                                      <p:cBhvr>
                                        <p:cTn id="118" dur="500" fill="hold"/>
                                        <p:tgtEl>
                                          <p:spTgt spid="36"/>
                                        </p:tgtEl>
                                        <p:attrNameLst>
                                          <p:attrName>ppt_y</p:attrName>
                                        </p:attrNameLst>
                                      </p:cBhvr>
                                      <p:tavLst>
                                        <p:tav tm="0">
                                          <p:val>
                                            <p:strVal val="#ppt_y"/>
                                          </p:val>
                                        </p:tav>
                                        <p:tav tm="100000">
                                          <p:val>
                                            <p:strVal val="#ppt_y"/>
                                          </p:val>
                                        </p:tav>
                                      </p:tavLst>
                                    </p:anim>
                                    <p:anim calcmode="lin" valueType="num">
                                      <p:cBhvr>
                                        <p:cTn id="119" dur="500" fill="hold"/>
                                        <p:tgtEl>
                                          <p:spTgt spid="36"/>
                                        </p:tgtEl>
                                        <p:attrNameLst>
                                          <p:attrName>ppt_w</p:attrName>
                                        </p:attrNameLst>
                                      </p:cBhvr>
                                      <p:tavLst>
                                        <p:tav tm="0">
                                          <p:val>
                                            <p:fltVal val="0"/>
                                          </p:val>
                                        </p:tav>
                                        <p:tav tm="100000">
                                          <p:val>
                                            <p:strVal val="#ppt_w"/>
                                          </p:val>
                                        </p:tav>
                                      </p:tavLst>
                                    </p:anim>
                                    <p:anim calcmode="lin" valueType="num">
                                      <p:cBhvr>
                                        <p:cTn id="120"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9" presetClass="entr" presetSubtype="0" fill="hold" grpId="0" nodeType="click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dissolve">
                                      <p:cBhvr>
                                        <p:cTn id="125" dur="500"/>
                                        <p:tgtEl>
                                          <p:spTgt spid="28"/>
                                        </p:tgtEl>
                                      </p:cBhvr>
                                    </p:animEffect>
                                  </p:childTnLst>
                                </p:cTn>
                              </p:par>
                            </p:childTnLst>
                          </p:cTn>
                        </p:par>
                      </p:childTnLst>
                    </p:cTn>
                  </p:par>
                  <p:par>
                    <p:cTn id="126" fill="hold">
                      <p:stCondLst>
                        <p:cond delay="indefinite"/>
                      </p:stCondLst>
                      <p:childTnLst>
                        <p:par>
                          <p:cTn id="127" fill="hold">
                            <p:stCondLst>
                              <p:cond delay="0"/>
                            </p:stCondLst>
                            <p:childTnLst>
                              <p:par>
                                <p:cTn id="128" presetID="17" presetClass="entr" presetSubtype="8" fill="hold" nodeType="clickEffect">
                                  <p:stCondLst>
                                    <p:cond delay="0"/>
                                  </p:stCondLst>
                                  <p:childTnLst>
                                    <p:set>
                                      <p:cBhvr>
                                        <p:cTn id="129" dur="1" fill="hold">
                                          <p:stCondLst>
                                            <p:cond delay="0"/>
                                          </p:stCondLst>
                                        </p:cTn>
                                        <p:tgtEl>
                                          <p:spTgt spid="29"/>
                                        </p:tgtEl>
                                        <p:attrNameLst>
                                          <p:attrName>style.visibility</p:attrName>
                                        </p:attrNameLst>
                                      </p:cBhvr>
                                      <p:to>
                                        <p:strVal val="visible"/>
                                      </p:to>
                                    </p:set>
                                    <p:anim calcmode="lin" valueType="num">
                                      <p:cBhvr>
                                        <p:cTn id="130" dur="500" fill="hold"/>
                                        <p:tgtEl>
                                          <p:spTgt spid="29"/>
                                        </p:tgtEl>
                                        <p:attrNameLst>
                                          <p:attrName>ppt_x</p:attrName>
                                        </p:attrNameLst>
                                      </p:cBhvr>
                                      <p:tavLst>
                                        <p:tav tm="0">
                                          <p:val>
                                            <p:strVal val="#ppt_x-#ppt_w/2"/>
                                          </p:val>
                                        </p:tav>
                                        <p:tav tm="100000">
                                          <p:val>
                                            <p:strVal val="#ppt_x"/>
                                          </p:val>
                                        </p:tav>
                                      </p:tavLst>
                                    </p:anim>
                                    <p:anim calcmode="lin" valueType="num">
                                      <p:cBhvr>
                                        <p:cTn id="131" dur="500" fill="hold"/>
                                        <p:tgtEl>
                                          <p:spTgt spid="29"/>
                                        </p:tgtEl>
                                        <p:attrNameLst>
                                          <p:attrName>ppt_y</p:attrName>
                                        </p:attrNameLst>
                                      </p:cBhvr>
                                      <p:tavLst>
                                        <p:tav tm="0">
                                          <p:val>
                                            <p:strVal val="#ppt_y"/>
                                          </p:val>
                                        </p:tav>
                                        <p:tav tm="100000">
                                          <p:val>
                                            <p:strVal val="#ppt_y"/>
                                          </p:val>
                                        </p:tav>
                                      </p:tavLst>
                                    </p:anim>
                                    <p:anim calcmode="lin" valueType="num">
                                      <p:cBhvr>
                                        <p:cTn id="132" dur="500" fill="hold"/>
                                        <p:tgtEl>
                                          <p:spTgt spid="29"/>
                                        </p:tgtEl>
                                        <p:attrNameLst>
                                          <p:attrName>ppt_w</p:attrName>
                                        </p:attrNameLst>
                                      </p:cBhvr>
                                      <p:tavLst>
                                        <p:tav tm="0">
                                          <p:val>
                                            <p:fltVal val="0"/>
                                          </p:val>
                                        </p:tav>
                                        <p:tav tm="100000">
                                          <p:val>
                                            <p:strVal val="#ppt_w"/>
                                          </p:val>
                                        </p:tav>
                                      </p:tavLst>
                                    </p:anim>
                                    <p:anim calcmode="lin" valueType="num">
                                      <p:cBhvr>
                                        <p:cTn id="133"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134" fill="hold">
                      <p:stCondLst>
                        <p:cond delay="indefinite"/>
                      </p:stCondLst>
                      <p:childTnLst>
                        <p:par>
                          <p:cTn id="135" fill="hold">
                            <p:stCondLst>
                              <p:cond delay="0"/>
                            </p:stCondLst>
                            <p:childTnLst>
                              <p:par>
                                <p:cTn id="136" presetID="9" presetClass="entr" presetSubtype="0" fill="hold" grpId="0" nodeType="clickEffect">
                                  <p:stCondLst>
                                    <p:cond delay="0"/>
                                  </p:stCondLst>
                                  <p:childTnLst>
                                    <p:set>
                                      <p:cBhvr>
                                        <p:cTn id="137" dur="1" fill="hold">
                                          <p:stCondLst>
                                            <p:cond delay="0"/>
                                          </p:stCondLst>
                                        </p:cTn>
                                        <p:tgtEl>
                                          <p:spTgt spid="31"/>
                                        </p:tgtEl>
                                        <p:attrNameLst>
                                          <p:attrName>style.visibility</p:attrName>
                                        </p:attrNameLst>
                                      </p:cBhvr>
                                      <p:to>
                                        <p:strVal val="visible"/>
                                      </p:to>
                                    </p:set>
                                    <p:animEffect transition="in" filter="dissolve">
                                      <p:cBhvr>
                                        <p:cTn id="138" dur="500"/>
                                        <p:tgtEl>
                                          <p:spTgt spid="31"/>
                                        </p:tgtEl>
                                      </p:cBhvr>
                                    </p:animEffect>
                                  </p:childTnLst>
                                </p:cTn>
                              </p:par>
                            </p:childTnLst>
                          </p:cTn>
                        </p:par>
                      </p:childTnLst>
                    </p:cTn>
                  </p:par>
                  <p:par>
                    <p:cTn id="139" fill="hold">
                      <p:stCondLst>
                        <p:cond delay="indefinite"/>
                      </p:stCondLst>
                      <p:childTnLst>
                        <p:par>
                          <p:cTn id="140" fill="hold">
                            <p:stCondLst>
                              <p:cond delay="0"/>
                            </p:stCondLst>
                            <p:childTnLst>
                              <p:par>
                                <p:cTn id="141" presetID="17" presetClass="entr" presetSubtype="8" fill="hold" nodeType="clickEffect">
                                  <p:stCondLst>
                                    <p:cond delay="0"/>
                                  </p:stCondLst>
                                  <p:childTnLst>
                                    <p:set>
                                      <p:cBhvr>
                                        <p:cTn id="142" dur="1" fill="hold">
                                          <p:stCondLst>
                                            <p:cond delay="0"/>
                                          </p:stCondLst>
                                        </p:cTn>
                                        <p:tgtEl>
                                          <p:spTgt spid="32"/>
                                        </p:tgtEl>
                                        <p:attrNameLst>
                                          <p:attrName>style.visibility</p:attrName>
                                        </p:attrNameLst>
                                      </p:cBhvr>
                                      <p:to>
                                        <p:strVal val="visible"/>
                                      </p:to>
                                    </p:set>
                                    <p:anim calcmode="lin" valueType="num">
                                      <p:cBhvr>
                                        <p:cTn id="143" dur="500" fill="hold"/>
                                        <p:tgtEl>
                                          <p:spTgt spid="32"/>
                                        </p:tgtEl>
                                        <p:attrNameLst>
                                          <p:attrName>ppt_x</p:attrName>
                                        </p:attrNameLst>
                                      </p:cBhvr>
                                      <p:tavLst>
                                        <p:tav tm="0">
                                          <p:val>
                                            <p:strVal val="#ppt_x-#ppt_w/2"/>
                                          </p:val>
                                        </p:tav>
                                        <p:tav tm="100000">
                                          <p:val>
                                            <p:strVal val="#ppt_x"/>
                                          </p:val>
                                        </p:tav>
                                      </p:tavLst>
                                    </p:anim>
                                    <p:anim calcmode="lin" valueType="num">
                                      <p:cBhvr>
                                        <p:cTn id="144" dur="500" fill="hold"/>
                                        <p:tgtEl>
                                          <p:spTgt spid="32"/>
                                        </p:tgtEl>
                                        <p:attrNameLst>
                                          <p:attrName>ppt_y</p:attrName>
                                        </p:attrNameLst>
                                      </p:cBhvr>
                                      <p:tavLst>
                                        <p:tav tm="0">
                                          <p:val>
                                            <p:strVal val="#ppt_y"/>
                                          </p:val>
                                        </p:tav>
                                        <p:tav tm="100000">
                                          <p:val>
                                            <p:strVal val="#ppt_y"/>
                                          </p:val>
                                        </p:tav>
                                      </p:tavLst>
                                    </p:anim>
                                    <p:anim calcmode="lin" valueType="num">
                                      <p:cBhvr>
                                        <p:cTn id="145" dur="500" fill="hold"/>
                                        <p:tgtEl>
                                          <p:spTgt spid="32"/>
                                        </p:tgtEl>
                                        <p:attrNameLst>
                                          <p:attrName>ppt_w</p:attrName>
                                        </p:attrNameLst>
                                      </p:cBhvr>
                                      <p:tavLst>
                                        <p:tav tm="0">
                                          <p:val>
                                            <p:fltVal val="0"/>
                                          </p:val>
                                        </p:tav>
                                        <p:tav tm="100000">
                                          <p:val>
                                            <p:strVal val="#ppt_w"/>
                                          </p:val>
                                        </p:tav>
                                      </p:tavLst>
                                    </p:anim>
                                    <p:anim calcmode="lin" valueType="num">
                                      <p:cBhvr>
                                        <p:cTn id="146"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9" presetClass="entr" presetSubtype="0" fill="hold" grpId="0" nodeType="clickEffect">
                                  <p:stCondLst>
                                    <p:cond delay="0"/>
                                  </p:stCondLst>
                                  <p:childTnLst>
                                    <p:set>
                                      <p:cBhvr>
                                        <p:cTn id="150" dur="1" fill="hold">
                                          <p:stCondLst>
                                            <p:cond delay="0"/>
                                          </p:stCondLst>
                                        </p:cTn>
                                        <p:tgtEl>
                                          <p:spTgt spid="34"/>
                                        </p:tgtEl>
                                        <p:attrNameLst>
                                          <p:attrName>style.visibility</p:attrName>
                                        </p:attrNameLst>
                                      </p:cBhvr>
                                      <p:to>
                                        <p:strVal val="visible"/>
                                      </p:to>
                                    </p:set>
                                    <p:animEffect transition="in" filter="dissolve">
                                      <p:cBhvr>
                                        <p:cTn id="151" dur="500"/>
                                        <p:tgtEl>
                                          <p:spTgt spid="34"/>
                                        </p:tgtEl>
                                      </p:cBhvr>
                                    </p:animEffect>
                                  </p:childTnLst>
                                </p:cTn>
                              </p:par>
                            </p:childTnLst>
                          </p:cTn>
                        </p:par>
                      </p:childTnLst>
                    </p:cTn>
                  </p:par>
                  <p:par>
                    <p:cTn id="152" fill="hold">
                      <p:stCondLst>
                        <p:cond delay="indefinite"/>
                      </p:stCondLst>
                      <p:childTnLst>
                        <p:par>
                          <p:cTn id="153" fill="hold">
                            <p:stCondLst>
                              <p:cond delay="0"/>
                            </p:stCondLst>
                            <p:childTnLst>
                              <p:par>
                                <p:cTn id="154" presetID="17" presetClass="entr" presetSubtype="10" fill="hold" nodeType="clickEffect">
                                  <p:stCondLst>
                                    <p:cond delay="0"/>
                                  </p:stCondLst>
                                  <p:childTnLst>
                                    <p:set>
                                      <p:cBhvr>
                                        <p:cTn id="155" dur="1" fill="hold">
                                          <p:stCondLst>
                                            <p:cond delay="0"/>
                                          </p:stCondLst>
                                        </p:cTn>
                                        <p:tgtEl>
                                          <p:spTgt spid="35"/>
                                        </p:tgtEl>
                                        <p:attrNameLst>
                                          <p:attrName>style.visibility</p:attrName>
                                        </p:attrNameLst>
                                      </p:cBhvr>
                                      <p:to>
                                        <p:strVal val="visible"/>
                                      </p:to>
                                    </p:set>
                                    <p:anim calcmode="lin" valueType="num">
                                      <p:cBhvr>
                                        <p:cTn id="156" dur="500" fill="hold"/>
                                        <p:tgtEl>
                                          <p:spTgt spid="35"/>
                                        </p:tgtEl>
                                        <p:attrNameLst>
                                          <p:attrName>ppt_w</p:attrName>
                                        </p:attrNameLst>
                                      </p:cBhvr>
                                      <p:tavLst>
                                        <p:tav tm="0">
                                          <p:val>
                                            <p:fltVal val="0"/>
                                          </p:val>
                                        </p:tav>
                                        <p:tav tm="100000">
                                          <p:val>
                                            <p:strVal val="#ppt_w"/>
                                          </p:val>
                                        </p:tav>
                                      </p:tavLst>
                                    </p:anim>
                                    <p:anim calcmode="lin" valueType="num">
                                      <p:cBhvr>
                                        <p:cTn id="157" dur="500" fill="hold"/>
                                        <p:tgtEl>
                                          <p:spTgt spid="3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animBg="1"/>
      <p:bldP spid="16" grpId="0" autoUpdateAnimBg="0"/>
      <p:bldP spid="17" grpId="0" autoUpdateAnimBg="0"/>
      <p:bldP spid="18" grpId="0" autoUpdateAnimBg="0"/>
      <p:bldP spid="19" grpId="0" animBg="1"/>
      <p:bldP spid="20" grpId="0" autoUpdateAnimBg="0"/>
      <p:bldP spid="21" grpId="0" autoUpdateAnimBg="0"/>
      <p:bldP spid="22" grpId="0" animBg="1" autoUpdateAnimBg="0"/>
      <p:bldP spid="23" grpId="0" autoUpdateAnimBg="0"/>
      <p:bldP spid="24" grpId="0" animBg="1"/>
      <p:bldP spid="25" grpId="0" autoUpdateAnimBg="0"/>
      <p:bldP spid="26" grpId="0" autoUpdateAnimBg="0"/>
      <p:bldP spid="27" grpId="0" animBg="1" autoUpdateAnimBg="0"/>
      <p:bldP spid="28" grpId="0" autoUpdateAnimBg="0"/>
      <p:bldP spid="31" grpId="0" autoUpdateAnimBg="0"/>
      <p:bldP spid="34"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B3056BA-C01D-476A-A27F-73F20AEC6AB0}"/>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6" name="直线连接符 6">
            <a:extLst>
              <a:ext uri="{FF2B5EF4-FFF2-40B4-BE49-F238E27FC236}">
                <a16:creationId xmlns:a16="http://schemas.microsoft.com/office/drawing/2014/main" id="{0B0DB221-AA76-45F4-8E63-3AACE7C4D4AE}"/>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DFA87D6C-A5BD-4311-9BBA-A2F885C8878A}"/>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9" name="标题 1">
            <a:extLst>
              <a:ext uri="{FF2B5EF4-FFF2-40B4-BE49-F238E27FC236}">
                <a16:creationId xmlns:a16="http://schemas.microsoft.com/office/drawing/2014/main" id="{D43C9E1B-DBFD-4187-B9A4-CDE9AA9C3042}"/>
              </a:ext>
            </a:extLst>
          </p:cNvPr>
          <p:cNvSpPr txBox="1">
            <a:spLocks/>
          </p:cNvSpPr>
          <p:nvPr/>
        </p:nvSpPr>
        <p:spPr>
          <a:xfrm>
            <a:off x="185737" y="966547"/>
            <a:ext cx="8229600" cy="509096"/>
          </a:xfrm>
          <a:prstGeom prst="rect">
            <a:avLst/>
          </a:prstGeom>
        </p:spPr>
        <p:txBody>
          <a:bodyPr/>
          <a:lstStyle>
            <a:lvl1pPr algn="ctr" defTabSz="609600" rtl="0" eaLnBrk="1" latinLnBrk="0" hangingPunct="1">
              <a:spcBef>
                <a:spcPct val="0"/>
              </a:spcBef>
              <a:buNone/>
              <a:defRPr sz="5865" kern="1200">
                <a:solidFill>
                  <a:schemeClr val="tx1"/>
                </a:solidFill>
                <a:latin typeface="+mj-lt"/>
                <a:ea typeface="+mj-ea"/>
                <a:cs typeface="+mj-cs"/>
              </a:defRPr>
            </a:lvl1pPr>
          </a:lstStyle>
          <a:p>
            <a:pPr algn="l">
              <a:defRPr/>
            </a:pPr>
            <a:r>
              <a:rPr lang="zh-CN" altLang="en-US" sz="3200" dirty="0">
                <a:solidFill>
                  <a:srgbClr val="104E87"/>
                </a:solidFill>
                <a:latin typeface="华光行书_CNKI" panose="02000500000000000000" pitchFamily="2" charset="-122"/>
                <a:ea typeface="华光行书_CNKI" panose="02000500000000000000" pitchFamily="2" charset="-122"/>
              </a:rPr>
              <a:t>运行期绑定实现机制</a:t>
            </a:r>
          </a:p>
        </p:txBody>
      </p:sp>
      <p:sp>
        <p:nvSpPr>
          <p:cNvPr id="10" name="Rectangle 2">
            <a:extLst>
              <a:ext uri="{FF2B5EF4-FFF2-40B4-BE49-F238E27FC236}">
                <a16:creationId xmlns:a16="http://schemas.microsoft.com/office/drawing/2014/main" id="{D2EFF56B-8685-48A9-97DA-0EFE2ABE6BB0}"/>
              </a:ext>
            </a:extLst>
          </p:cNvPr>
          <p:cNvSpPr txBox="1">
            <a:spLocks noChangeArrowheads="1"/>
          </p:cNvSpPr>
          <p:nvPr/>
        </p:nvSpPr>
        <p:spPr bwMode="auto">
          <a:xfrm>
            <a:off x="185737" y="1484498"/>
            <a:ext cx="11193158" cy="1273055"/>
          </a:xfrm>
          <a:prstGeom prst="rect">
            <a:avLst/>
          </a:prstGeom>
          <a:noFill/>
          <a:ln w="9525">
            <a:noFill/>
            <a:miter lim="800000"/>
            <a:headEnd/>
            <a:tailEnd/>
          </a:ln>
        </p:spPr>
        <p:txBody>
          <a:bodyPr/>
          <a:lstStyle/>
          <a:p>
            <a:pPr algn="just">
              <a:spcBef>
                <a:spcPts val="600"/>
              </a:spcBef>
              <a:buClr>
                <a:schemeClr val="bg2"/>
              </a:buClr>
              <a:buSzPct val="70000"/>
              <a:defRPr/>
            </a:pPr>
            <a:r>
              <a:rPr lang="zh-CN" altLang="en-US" b="0" dirty="0">
                <a:solidFill>
                  <a:srgbClr val="104E87"/>
                </a:solidFill>
                <a:latin typeface="华光行书_CNKI" panose="02000500000000000000" pitchFamily="2" charset="-122"/>
                <a:ea typeface="华光行书_CNKI" panose="02000500000000000000" pitchFamily="2" charset="-122"/>
              </a:rPr>
              <a:t>使用虚函数</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系统要有一定的空间开销</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当一个类带有虚函数时</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编译系统会为该类构造一个</a:t>
            </a:r>
            <a:r>
              <a:rPr lang="zh-CN" altLang="en-US" dirty="0">
                <a:solidFill>
                  <a:srgbClr val="104E87"/>
                </a:solidFill>
                <a:latin typeface="华光行书_CNKI" panose="02000500000000000000" pitchFamily="2" charset="-122"/>
                <a:ea typeface="华光行书_CNKI" panose="02000500000000000000" pitchFamily="2" charset="-122"/>
              </a:rPr>
              <a:t>虚函数表</a:t>
            </a:r>
            <a:r>
              <a:rPr lang="en-US" altLang="zh-CN" dirty="0">
                <a:solidFill>
                  <a:srgbClr val="104E87"/>
                </a:solidFill>
                <a:latin typeface="华光行书_CNKI" panose="02000500000000000000" pitchFamily="2" charset="-122"/>
                <a:ea typeface="华光行书_CNKI" panose="02000500000000000000" pitchFamily="2" charset="-122"/>
              </a:rPr>
              <a:t>(virtual function table</a:t>
            </a:r>
            <a:r>
              <a:rPr lang="zh-CN" altLang="en-US" dirty="0">
                <a:solidFill>
                  <a:srgbClr val="104E87"/>
                </a:solidFill>
                <a:latin typeface="华光行书_CNKI" panose="02000500000000000000" pitchFamily="2" charset="-122"/>
                <a:ea typeface="华光行书_CNKI" panose="02000500000000000000" pitchFamily="2" charset="-122"/>
              </a:rPr>
              <a:t>，简称</a:t>
            </a:r>
            <a:r>
              <a:rPr lang="en-US" altLang="zh-CN" dirty="0" err="1">
                <a:solidFill>
                  <a:srgbClr val="104E87"/>
                </a:solidFill>
                <a:latin typeface="华光行书_CNKI" panose="02000500000000000000" pitchFamily="2" charset="-122"/>
                <a:ea typeface="华光行书_CNKI" panose="02000500000000000000" pitchFamily="2" charset="-122"/>
              </a:rPr>
              <a:t>vtable</a:t>
            </a:r>
            <a:r>
              <a:rPr lang="en-US" altLang="zh-CN" dirty="0">
                <a:solidFill>
                  <a:srgbClr val="104E87"/>
                </a:solidFill>
                <a:latin typeface="华光行书_CNKI" panose="02000500000000000000" pitchFamily="2" charset="-122"/>
                <a:ea typeface="华光行书_CNKI" panose="02000500000000000000" pitchFamily="2" charset="-122"/>
              </a:rPr>
              <a:t>)</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它是一个指针数组</a:t>
            </a:r>
            <a:r>
              <a:rPr lang="en-US" altLang="zh-CN" b="0" dirty="0">
                <a:solidFill>
                  <a:srgbClr val="104E87"/>
                </a:solidFill>
                <a:latin typeface="华光行书_CNKI" panose="02000500000000000000" pitchFamily="2" charset="-122"/>
                <a:ea typeface="华光行书_CNKI" panose="02000500000000000000" pitchFamily="2" charset="-122"/>
              </a:rPr>
              <a:t>,</a:t>
            </a:r>
            <a:r>
              <a:rPr lang="zh-CN" altLang="en-US" b="0" dirty="0">
                <a:solidFill>
                  <a:srgbClr val="104E87"/>
                </a:solidFill>
                <a:latin typeface="华光行书_CNKI" panose="02000500000000000000" pitchFamily="2" charset="-122"/>
                <a:ea typeface="华光行书_CNKI" panose="02000500000000000000" pitchFamily="2" charset="-122"/>
              </a:rPr>
              <a:t>存放每个虚函数的入口地址。</a:t>
            </a:r>
          </a:p>
        </p:txBody>
      </p:sp>
      <p:sp>
        <p:nvSpPr>
          <p:cNvPr id="18" name="矩形 5">
            <a:extLst>
              <a:ext uri="{FF2B5EF4-FFF2-40B4-BE49-F238E27FC236}">
                <a16:creationId xmlns:a16="http://schemas.microsoft.com/office/drawing/2014/main" id="{334D690D-EB34-4762-AA24-4C065D1F8D99}"/>
              </a:ext>
            </a:extLst>
          </p:cNvPr>
          <p:cNvSpPr>
            <a:spLocks noChangeArrowheads="1"/>
          </p:cNvSpPr>
          <p:nvPr/>
        </p:nvSpPr>
        <p:spPr bwMode="auto">
          <a:xfrm>
            <a:off x="9104679" y="4041771"/>
            <a:ext cx="2759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FF0000"/>
                </a:solidFill>
                <a:latin typeface="华光行书_CNKI" panose="02000500000000000000" pitchFamily="2" charset="-122"/>
                <a:ea typeface="华光行书_CNKI" panose="02000500000000000000" pitchFamily="2" charset="-122"/>
              </a:rPr>
              <a:t>一个有虚函数的类</a:t>
            </a:r>
          </a:p>
        </p:txBody>
      </p:sp>
      <p:sp>
        <p:nvSpPr>
          <p:cNvPr id="19" name="矩形 18">
            <a:extLst>
              <a:ext uri="{FF2B5EF4-FFF2-40B4-BE49-F238E27FC236}">
                <a16:creationId xmlns:a16="http://schemas.microsoft.com/office/drawing/2014/main" id="{4B904CFD-CDB4-43C1-91AF-78E7E783B540}"/>
              </a:ext>
            </a:extLst>
          </p:cNvPr>
          <p:cNvSpPr>
            <a:spLocks noChangeArrowheads="1"/>
          </p:cNvSpPr>
          <p:nvPr/>
        </p:nvSpPr>
        <p:spPr bwMode="auto">
          <a:xfrm>
            <a:off x="292132" y="2677892"/>
            <a:ext cx="5032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FF0000"/>
                </a:solidFill>
                <a:latin typeface="华光行书_CNKI" panose="02000500000000000000" pitchFamily="2" charset="-122"/>
                <a:ea typeface="华光行书_CNKI" panose="02000500000000000000" pitchFamily="2" charset="-122"/>
              </a:rPr>
              <a:t>对象中的这个指针是虚函数表指针</a:t>
            </a:r>
          </a:p>
        </p:txBody>
      </p:sp>
      <p:sp>
        <p:nvSpPr>
          <p:cNvPr id="3" name="文本框 2">
            <a:extLst>
              <a:ext uri="{FF2B5EF4-FFF2-40B4-BE49-F238E27FC236}">
                <a16:creationId xmlns:a16="http://schemas.microsoft.com/office/drawing/2014/main" id="{BD05031F-C8D5-EA31-EA20-B96A7E899F1C}"/>
              </a:ext>
            </a:extLst>
          </p:cNvPr>
          <p:cNvSpPr txBox="1"/>
          <p:nvPr/>
        </p:nvSpPr>
        <p:spPr>
          <a:xfrm>
            <a:off x="5644601" y="2420916"/>
            <a:ext cx="6546605" cy="3715184"/>
          </a:xfrm>
          <a:prstGeom prst="rect">
            <a:avLst/>
          </a:prstGeom>
          <a:noFill/>
        </p:spPr>
        <p:txBody>
          <a:bodyPr wrap="square">
            <a:spAutoFit/>
          </a:bodyPr>
          <a:lstStyle/>
          <a:p>
            <a:pPr eaLnBrk="1" hangingPunct="1">
              <a:spcBef>
                <a:spcPts val="600"/>
              </a:spcBef>
            </a:pPr>
            <a:r>
              <a:rPr lang="en-US" altLang="zh-CN" b="0" dirty="0">
                <a:solidFill>
                  <a:srgbClr val="104E87"/>
                </a:solidFill>
                <a:latin typeface="Comic Sans MS" panose="030F0702030302020204" pitchFamily="66" charset="0"/>
                <a:ea typeface="华光行书_CNKI" panose="02000500000000000000" pitchFamily="2" charset="-122"/>
              </a:rPr>
              <a:t>class Base{</a:t>
            </a:r>
          </a:p>
          <a:p>
            <a:pPr eaLnBrk="1" hangingPunct="1">
              <a:lnSpc>
                <a:spcPct val="80000"/>
              </a:lnSpc>
            </a:pPr>
            <a:r>
              <a:rPr lang="en-US" altLang="zh-CN" b="0" dirty="0">
                <a:solidFill>
                  <a:srgbClr val="104E87"/>
                </a:solidFill>
                <a:latin typeface="Comic Sans MS" panose="030F0702030302020204" pitchFamily="66" charset="0"/>
                <a:ea typeface="华光行书_CNKI" panose="02000500000000000000" pitchFamily="2" charset="-122"/>
              </a:rPr>
              <a:t>public:  </a:t>
            </a:r>
          </a:p>
          <a:p>
            <a:pPr eaLnBrk="1" hangingPunct="1">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b="0" dirty="0">
                <a:solidFill>
                  <a:srgbClr val="FF0000"/>
                </a:solidFill>
                <a:latin typeface="Comic Sans MS" panose="030F0702030302020204" pitchFamily="66" charset="0"/>
                <a:ea typeface="华光行书_CNKI" panose="02000500000000000000" pitchFamily="2" charset="-122"/>
              </a:rPr>
              <a:t>virtual </a:t>
            </a:r>
            <a:r>
              <a:rPr lang="en-US" altLang="zh-CN" b="0" dirty="0">
                <a:solidFill>
                  <a:srgbClr val="104E87"/>
                </a:solidFill>
                <a:latin typeface="Comic Sans MS" panose="030F0702030302020204" pitchFamily="66" charset="0"/>
                <a:ea typeface="华光行书_CNKI" panose="02000500000000000000" pitchFamily="2" charset="-122"/>
              </a:rPr>
              <a:t>void who()</a:t>
            </a:r>
          </a:p>
          <a:p>
            <a:pPr eaLnBrk="1" hangingPunct="1">
              <a:lnSpc>
                <a:spcPct val="80000"/>
              </a:lnSpc>
            </a:pPr>
            <a:r>
              <a:rPr lang="en-US" altLang="zh-CN" b="0" dirty="0">
                <a:solidFill>
                  <a:srgbClr val="104E87"/>
                </a:solidFill>
                <a:latin typeface="Comic Sans MS" panose="030F0702030302020204" pitchFamily="66" charset="0"/>
                <a:ea typeface="华光行书_CNKI" panose="02000500000000000000" pitchFamily="2" charset="-122"/>
              </a:rPr>
              <a:t>	{</a:t>
            </a:r>
            <a:r>
              <a:rPr lang="en-US" altLang="zh-CN" b="0" dirty="0" err="1">
                <a:solidFill>
                  <a:srgbClr val="104E87"/>
                </a:solidFill>
                <a:latin typeface="Comic Sans MS" panose="030F0702030302020204" pitchFamily="66" charset="0"/>
                <a:ea typeface="华光行书_CNKI" panose="02000500000000000000" pitchFamily="2" charset="-122"/>
              </a:rPr>
              <a:t>cout</a:t>
            </a:r>
            <a:r>
              <a:rPr lang="en-US" altLang="zh-CN" b="0" dirty="0">
                <a:solidFill>
                  <a:srgbClr val="104E87"/>
                </a:solidFill>
                <a:latin typeface="Comic Sans MS" panose="030F0702030302020204" pitchFamily="66" charset="0"/>
                <a:ea typeface="华光行书_CNKI" panose="02000500000000000000" pitchFamily="2" charset="-122"/>
              </a:rPr>
              <a:t>&lt;&lt;"base"&lt;&lt;</a:t>
            </a:r>
            <a:r>
              <a:rPr lang="en-US" altLang="zh-CN" b="0" dirty="0" err="1">
                <a:solidFill>
                  <a:srgbClr val="104E87"/>
                </a:solidFill>
                <a:latin typeface="Comic Sans MS" panose="030F0702030302020204" pitchFamily="66" charset="0"/>
                <a:ea typeface="华光行书_CNKI" panose="02000500000000000000" pitchFamily="2" charset="-122"/>
              </a:rPr>
              <a:t>endl</a:t>
            </a:r>
            <a:r>
              <a:rPr lang="en-US" altLang="zh-CN" b="0"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private:</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int _b = 1;</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int main()</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Base b;</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cout &lt;&lt; "sizeof(b):" &lt;&lt; sizeof(b) &lt;&lt; endl;</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return 0;</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p>
        </p:txBody>
      </p:sp>
      <p:pic>
        <p:nvPicPr>
          <p:cNvPr id="12" name="图片 11">
            <a:extLst>
              <a:ext uri="{FF2B5EF4-FFF2-40B4-BE49-F238E27FC236}">
                <a16:creationId xmlns:a16="http://schemas.microsoft.com/office/drawing/2014/main" id="{5F832ED5-1110-7956-8EF7-AE5E6A08DD8B}"/>
              </a:ext>
            </a:extLst>
          </p:cNvPr>
          <p:cNvPicPr>
            <a:picLocks noChangeAspect="1"/>
          </p:cNvPicPr>
          <p:nvPr/>
        </p:nvPicPr>
        <p:blipFill>
          <a:blip r:embed="rId3"/>
          <a:stretch>
            <a:fillRect/>
          </a:stretch>
        </p:blipFill>
        <p:spPr>
          <a:xfrm>
            <a:off x="1586" y="3075107"/>
            <a:ext cx="4160105" cy="1934932"/>
          </a:xfrm>
          <a:prstGeom prst="rect">
            <a:avLst/>
          </a:prstGeom>
        </p:spPr>
      </p:pic>
      <p:pic>
        <p:nvPicPr>
          <p:cNvPr id="20" name="图片 19">
            <a:extLst>
              <a:ext uri="{FF2B5EF4-FFF2-40B4-BE49-F238E27FC236}">
                <a16:creationId xmlns:a16="http://schemas.microsoft.com/office/drawing/2014/main" id="{0401822E-2B79-150C-E15A-D68256203F2B}"/>
              </a:ext>
            </a:extLst>
          </p:cNvPr>
          <p:cNvPicPr>
            <a:picLocks noChangeAspect="1"/>
          </p:cNvPicPr>
          <p:nvPr/>
        </p:nvPicPr>
        <p:blipFill>
          <a:blip r:embed="rId4"/>
          <a:stretch>
            <a:fillRect/>
          </a:stretch>
        </p:blipFill>
        <p:spPr>
          <a:xfrm>
            <a:off x="15739" y="5514083"/>
            <a:ext cx="3645877" cy="1244033"/>
          </a:xfrm>
          <a:prstGeom prst="rect">
            <a:avLst/>
          </a:prstGeom>
        </p:spPr>
      </p:pic>
    </p:spTree>
    <p:extLst>
      <p:ext uri="{BB962C8B-B14F-4D97-AF65-F5344CB8AC3E}">
        <p14:creationId xmlns:p14="http://schemas.microsoft.com/office/powerpoint/2010/main" val="428338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B3056BA-C01D-476A-A27F-73F20AEC6AB0}"/>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6" name="直线连接符 6">
            <a:extLst>
              <a:ext uri="{FF2B5EF4-FFF2-40B4-BE49-F238E27FC236}">
                <a16:creationId xmlns:a16="http://schemas.microsoft.com/office/drawing/2014/main" id="{0B0DB221-AA76-45F4-8E63-3AACE7C4D4AE}"/>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DFA87D6C-A5BD-4311-9BBA-A2F885C8878A}"/>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2" name="矩形 5">
            <a:extLst>
              <a:ext uri="{FF2B5EF4-FFF2-40B4-BE49-F238E27FC236}">
                <a16:creationId xmlns:a16="http://schemas.microsoft.com/office/drawing/2014/main" id="{FA66AEDD-23BB-17F9-0AD1-1403D51CC393}"/>
              </a:ext>
            </a:extLst>
          </p:cNvPr>
          <p:cNvSpPr>
            <a:spLocks noChangeArrowheads="1"/>
          </p:cNvSpPr>
          <p:nvPr/>
        </p:nvSpPr>
        <p:spPr bwMode="auto">
          <a:xfrm>
            <a:off x="-16974" y="916232"/>
            <a:ext cx="6935788" cy="607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class Base{</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public:</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virtual void Func1()</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{cout &lt;&lt; "Base::Func1()" &lt;&lt; endl;}</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virtual void Func2()</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 cout &lt;&lt; "Base::Func2()" &lt;&lt; endl;}</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void Func3()</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{cout &lt;&lt; "Base::Func3()" &lt;&lt; endl;}</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private:</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	int _b = 1;</a:t>
            </a:r>
          </a:p>
          <a:p>
            <a:pPr>
              <a:lnSpc>
                <a:spcPct val="70000"/>
              </a:lnSpc>
            </a:pPr>
            <a:r>
              <a:rPr lang="zh-CN" altLang="en-US" dirty="0">
                <a:solidFill>
                  <a:srgbClr val="104E87"/>
                </a:solidFill>
                <a:latin typeface="Comic Sans MS" panose="030F0702030302020204" pitchFamily="66" charset="0"/>
                <a:ea typeface="华光行书_CNKI" panose="02000500000000000000" pitchFamily="2" charset="-122"/>
              </a:rPr>
              <a:t>};</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class Derive : public Base{</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public:</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virtual void Func1()</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{cout &lt;&lt; "Derive::Func1()" &lt;&lt; endl;}</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private:</a:t>
            </a:r>
          </a:p>
          <a:p>
            <a:pPr>
              <a:lnSpc>
                <a:spcPct val="90000"/>
              </a:lnSpc>
            </a:pPr>
            <a:r>
              <a:rPr lang="zh-CN" altLang="en-US" dirty="0">
                <a:solidFill>
                  <a:srgbClr val="104E87"/>
                </a:solidFill>
                <a:latin typeface="Comic Sans MS" panose="030F0702030302020204" pitchFamily="66" charset="0"/>
                <a:ea typeface="华光行书_CNKI" panose="02000500000000000000" pitchFamily="2" charset="-122"/>
              </a:rPr>
              <a:t>	int _d = 2;</a:t>
            </a:r>
          </a:p>
          <a:p>
            <a:pPr>
              <a:lnSpc>
                <a:spcPct val="70000"/>
              </a:lnSpc>
            </a:pPr>
            <a:r>
              <a:rPr lang="zh-CN" altLang="en-US" dirty="0">
                <a:solidFill>
                  <a:srgbClr val="104E87"/>
                </a:solidFill>
                <a:latin typeface="Comic Sans MS" panose="030F0702030302020204" pitchFamily="66" charset="0"/>
                <a:ea typeface="华光行书_CNKI" panose="02000500000000000000" pitchFamily="2" charset="-122"/>
              </a:rPr>
              <a:t>};</a:t>
            </a:r>
          </a:p>
        </p:txBody>
      </p:sp>
      <p:sp>
        <p:nvSpPr>
          <p:cNvPr id="4" name="矩形 6">
            <a:extLst>
              <a:ext uri="{FF2B5EF4-FFF2-40B4-BE49-F238E27FC236}">
                <a16:creationId xmlns:a16="http://schemas.microsoft.com/office/drawing/2014/main" id="{D0F6FF12-1795-D359-9687-CF0FEF0B615F}"/>
              </a:ext>
            </a:extLst>
          </p:cNvPr>
          <p:cNvSpPr>
            <a:spLocks noChangeArrowheads="1"/>
          </p:cNvSpPr>
          <p:nvPr/>
        </p:nvSpPr>
        <p:spPr bwMode="auto">
          <a:xfrm>
            <a:off x="5295805" y="1068000"/>
            <a:ext cx="18478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104E87"/>
                </a:solidFill>
                <a:latin typeface="Comic Sans MS" panose="030F0702030302020204" pitchFamily="66" charset="0"/>
                <a:ea typeface="华光行书_CNKI" panose="02000500000000000000" pitchFamily="2" charset="-122"/>
              </a:rPr>
              <a:t>int main()</a:t>
            </a:r>
          </a:p>
          <a:p>
            <a:r>
              <a:rPr lang="zh-CN" altLang="en-US" dirty="0">
                <a:solidFill>
                  <a:srgbClr val="104E87"/>
                </a:solidFill>
                <a:latin typeface="Comic Sans MS" panose="030F0702030302020204" pitchFamily="66" charset="0"/>
                <a:ea typeface="华光行书_CNKI" panose="02000500000000000000" pitchFamily="2" charset="-122"/>
              </a:rPr>
              <a:t>{Base b;</a:t>
            </a:r>
          </a:p>
          <a:p>
            <a:r>
              <a:rPr lang="zh-CN" altLang="en-US" dirty="0">
                <a:solidFill>
                  <a:srgbClr val="104E87"/>
                </a:solidFill>
                <a:latin typeface="Comic Sans MS" panose="030F0702030302020204" pitchFamily="66" charset="0"/>
                <a:ea typeface="华光行书_CNKI" panose="02000500000000000000" pitchFamily="2" charset="-122"/>
              </a:rPr>
              <a:t>Derive d;</a:t>
            </a:r>
          </a:p>
          <a:p>
            <a:r>
              <a:rPr lang="zh-CN" altLang="en-US" dirty="0">
                <a:solidFill>
                  <a:srgbClr val="104E87"/>
                </a:solidFill>
                <a:latin typeface="Comic Sans MS" panose="030F0702030302020204" pitchFamily="66" charset="0"/>
                <a:ea typeface="华光行书_CNKI" panose="02000500000000000000" pitchFamily="2" charset="-122"/>
              </a:rPr>
              <a:t>return 0;</a:t>
            </a:r>
          </a:p>
          <a:p>
            <a:r>
              <a:rPr lang="zh-CN" altLang="en-US" dirty="0">
                <a:solidFill>
                  <a:srgbClr val="104E87"/>
                </a:solidFill>
                <a:latin typeface="Comic Sans MS" panose="030F0702030302020204" pitchFamily="66" charset="0"/>
                <a:ea typeface="华光行书_CNKI" panose="02000500000000000000" pitchFamily="2" charset="-122"/>
              </a:rPr>
              <a:t>}</a:t>
            </a:r>
          </a:p>
        </p:txBody>
      </p:sp>
    </p:spTree>
    <p:extLst>
      <p:ext uri="{BB962C8B-B14F-4D97-AF65-F5344CB8AC3E}">
        <p14:creationId xmlns:p14="http://schemas.microsoft.com/office/powerpoint/2010/main" val="773290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9AF86C6-03E7-4ECF-A64A-4A7076B847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4139" y="1684505"/>
            <a:ext cx="5635044" cy="2797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5">
            <a:extLst>
              <a:ext uri="{FF2B5EF4-FFF2-40B4-BE49-F238E27FC236}">
                <a16:creationId xmlns:a16="http://schemas.microsoft.com/office/drawing/2014/main" id="{69928408-DF8C-4770-B27A-C8CB9BAAC570}"/>
              </a:ext>
            </a:extLst>
          </p:cNvPr>
          <p:cNvSpPr>
            <a:spLocks noChangeArrowheads="1"/>
          </p:cNvSpPr>
          <p:nvPr/>
        </p:nvSpPr>
        <p:spPr bwMode="auto">
          <a:xfrm>
            <a:off x="0" y="1055200"/>
            <a:ext cx="6935788" cy="5558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class Base{</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public:</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virtual void Func1()</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{cout &lt;&lt; "Base::Func1()" &lt;&lt; endl;}</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virtual void Func2()</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cout &lt;&lt; "Base::Func2()" &lt;&lt; endl;}</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void Func3()</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{cout &lt;&lt; "Base::Func3()" &lt;&lt; endl;}</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private:</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int _b = 1;</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class Derive : public Base{</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public:</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virtual void Func1()</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{cout &lt;&lt; "Derive::Func1()" &lt;&lt; endl;}</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private:</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int _d = 2;</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p>
        </p:txBody>
      </p:sp>
      <p:sp>
        <p:nvSpPr>
          <p:cNvPr id="5" name="矩形 6">
            <a:extLst>
              <a:ext uri="{FF2B5EF4-FFF2-40B4-BE49-F238E27FC236}">
                <a16:creationId xmlns:a16="http://schemas.microsoft.com/office/drawing/2014/main" id="{A6CFEC6D-AA1E-4BE0-84CE-14429CD4D169}"/>
              </a:ext>
            </a:extLst>
          </p:cNvPr>
          <p:cNvSpPr>
            <a:spLocks noChangeArrowheads="1"/>
          </p:cNvSpPr>
          <p:nvPr/>
        </p:nvSpPr>
        <p:spPr bwMode="auto">
          <a:xfrm>
            <a:off x="4815159" y="2161054"/>
            <a:ext cx="18478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104E87"/>
                </a:solidFill>
                <a:latin typeface="Comic Sans MS" panose="030F0702030302020204" pitchFamily="66" charset="0"/>
                <a:ea typeface="华光行书_CNKI" panose="02000500000000000000" pitchFamily="2" charset="-122"/>
              </a:rPr>
              <a:t>int main()</a:t>
            </a:r>
          </a:p>
          <a:p>
            <a:r>
              <a:rPr lang="zh-CN" altLang="en-US" dirty="0">
                <a:solidFill>
                  <a:srgbClr val="104E87"/>
                </a:solidFill>
                <a:latin typeface="Comic Sans MS" panose="030F0702030302020204" pitchFamily="66" charset="0"/>
                <a:ea typeface="华光行书_CNKI" panose="02000500000000000000" pitchFamily="2" charset="-122"/>
              </a:rPr>
              <a:t>{Base b;</a:t>
            </a:r>
          </a:p>
          <a:p>
            <a:r>
              <a:rPr lang="zh-CN" altLang="en-US" dirty="0">
                <a:solidFill>
                  <a:srgbClr val="104E87"/>
                </a:solidFill>
                <a:latin typeface="Comic Sans MS" panose="030F0702030302020204" pitchFamily="66" charset="0"/>
                <a:ea typeface="华光行书_CNKI" panose="02000500000000000000" pitchFamily="2" charset="-122"/>
              </a:rPr>
              <a:t>Derive d;</a:t>
            </a:r>
          </a:p>
          <a:p>
            <a:r>
              <a:rPr lang="zh-CN" altLang="en-US" dirty="0">
                <a:solidFill>
                  <a:srgbClr val="104E87"/>
                </a:solidFill>
                <a:latin typeface="Comic Sans MS" panose="030F0702030302020204" pitchFamily="66" charset="0"/>
                <a:ea typeface="华光行书_CNKI" panose="02000500000000000000" pitchFamily="2" charset="-122"/>
              </a:rPr>
              <a:t>return 0;</a:t>
            </a:r>
          </a:p>
          <a:p>
            <a:r>
              <a:rPr lang="zh-CN" altLang="en-US" dirty="0">
                <a:solidFill>
                  <a:srgbClr val="104E87"/>
                </a:solidFill>
                <a:latin typeface="Comic Sans MS" panose="030F0702030302020204" pitchFamily="66" charset="0"/>
                <a:ea typeface="华光行书_CNKI" panose="02000500000000000000" pitchFamily="2" charset="-122"/>
              </a:rPr>
              <a:t>}</a:t>
            </a:r>
          </a:p>
        </p:txBody>
      </p:sp>
      <p:sp>
        <p:nvSpPr>
          <p:cNvPr id="6" name="矩形 5">
            <a:extLst>
              <a:ext uri="{FF2B5EF4-FFF2-40B4-BE49-F238E27FC236}">
                <a16:creationId xmlns:a16="http://schemas.microsoft.com/office/drawing/2014/main" id="{885096C1-9D83-421D-9A4F-6A2A1F06FB2C}"/>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a:extLst>
              <a:ext uri="{FF2B5EF4-FFF2-40B4-BE49-F238E27FC236}">
                <a16:creationId xmlns:a16="http://schemas.microsoft.com/office/drawing/2014/main" id="{720C96F3-DF95-4147-843A-D72F3C80E707}"/>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A7F2A6F5-5731-4A98-B160-5DF8E1CC6D7C}"/>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9" name="矩形 3">
            <a:extLst>
              <a:ext uri="{FF2B5EF4-FFF2-40B4-BE49-F238E27FC236}">
                <a16:creationId xmlns:a16="http://schemas.microsoft.com/office/drawing/2014/main" id="{43CFFA2D-514B-4886-95EE-1BC8B2E72EA3}"/>
              </a:ext>
            </a:extLst>
          </p:cNvPr>
          <p:cNvSpPr>
            <a:spLocks noChangeArrowheads="1"/>
          </p:cNvSpPr>
          <p:nvPr/>
        </p:nvSpPr>
        <p:spPr bwMode="auto">
          <a:xfrm>
            <a:off x="4815159" y="4454805"/>
            <a:ext cx="73240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b="0" spc="-100" dirty="0">
                <a:solidFill>
                  <a:srgbClr val="104E87"/>
                </a:solidFill>
                <a:latin typeface="华光行书_CNKI" panose="02000500000000000000" pitchFamily="2" charset="-122"/>
                <a:ea typeface="华光行书_CNKI" panose="02000500000000000000" pitchFamily="2" charset="-122"/>
              </a:rPr>
              <a:t>派生类的虚函数表生成：</a:t>
            </a:r>
            <a:br>
              <a:rPr lang="zh-CN" altLang="en-US" b="0" spc="-100" dirty="0">
                <a:solidFill>
                  <a:srgbClr val="104E87"/>
                </a:solidFill>
                <a:latin typeface="华光行书_CNKI" panose="02000500000000000000" pitchFamily="2" charset="-122"/>
                <a:ea typeface="华光行书_CNKI" panose="02000500000000000000" pitchFamily="2" charset="-122"/>
              </a:rPr>
            </a:br>
            <a:r>
              <a:rPr lang="en-US" altLang="zh-CN" b="0" spc="-100" dirty="0">
                <a:solidFill>
                  <a:srgbClr val="104E87"/>
                </a:solidFill>
                <a:latin typeface="华光行书_CNKI" panose="02000500000000000000" pitchFamily="2" charset="-122"/>
                <a:ea typeface="华光行书_CNKI" panose="02000500000000000000" pitchFamily="2" charset="-122"/>
              </a:rPr>
              <a:t>1)</a:t>
            </a:r>
            <a:r>
              <a:rPr lang="zh-CN" altLang="en-US" b="0" spc="-100" dirty="0">
                <a:solidFill>
                  <a:srgbClr val="104E87"/>
                </a:solidFill>
                <a:latin typeface="华光行书_CNKI" panose="02000500000000000000" pitchFamily="2" charset="-122"/>
                <a:ea typeface="华光行书_CNKI" panose="02000500000000000000" pitchFamily="2" charset="-122"/>
              </a:rPr>
              <a:t>先将基类中的虚表内容拷贝一份到派生类虚表中；</a:t>
            </a:r>
            <a:br>
              <a:rPr lang="zh-CN" altLang="en-US" b="0" spc="-100" dirty="0">
                <a:solidFill>
                  <a:srgbClr val="104E87"/>
                </a:solidFill>
                <a:latin typeface="华光行书_CNKI" panose="02000500000000000000" pitchFamily="2" charset="-122"/>
                <a:ea typeface="华光行书_CNKI" panose="02000500000000000000" pitchFamily="2" charset="-122"/>
              </a:rPr>
            </a:br>
            <a:r>
              <a:rPr lang="en-US" altLang="zh-CN" b="0" spc="-100" dirty="0">
                <a:solidFill>
                  <a:srgbClr val="104E87"/>
                </a:solidFill>
                <a:latin typeface="华光行书_CNKI" panose="02000500000000000000" pitchFamily="2" charset="-122"/>
                <a:ea typeface="华光行书_CNKI" panose="02000500000000000000" pitchFamily="2" charset="-122"/>
              </a:rPr>
              <a:t>2)</a:t>
            </a:r>
            <a:r>
              <a:rPr lang="zh-CN" altLang="en-US" b="0" spc="-100" dirty="0">
                <a:solidFill>
                  <a:srgbClr val="104E87"/>
                </a:solidFill>
                <a:latin typeface="华光行书_CNKI" panose="02000500000000000000" pitchFamily="2" charset="-122"/>
                <a:ea typeface="华光行书_CNKI" panose="02000500000000000000" pitchFamily="2" charset="-122"/>
              </a:rPr>
              <a:t>如果派生类重写了基类中的某个虚函数，用派生类自己的虚函数覆盖虚表中基类的虚函数；</a:t>
            </a:r>
            <a:br>
              <a:rPr lang="zh-CN" altLang="en-US" b="0" spc="-100" dirty="0">
                <a:solidFill>
                  <a:srgbClr val="104E87"/>
                </a:solidFill>
                <a:latin typeface="华光行书_CNKI" panose="02000500000000000000" pitchFamily="2" charset="-122"/>
                <a:ea typeface="华光行书_CNKI" panose="02000500000000000000" pitchFamily="2" charset="-122"/>
              </a:rPr>
            </a:br>
            <a:r>
              <a:rPr lang="en-US" altLang="zh-CN" b="0" spc="-100" dirty="0">
                <a:solidFill>
                  <a:srgbClr val="104E87"/>
                </a:solidFill>
                <a:latin typeface="华光行书_CNKI" panose="02000500000000000000" pitchFamily="2" charset="-122"/>
                <a:ea typeface="华光行书_CNKI" panose="02000500000000000000" pitchFamily="2" charset="-122"/>
              </a:rPr>
              <a:t>3)</a:t>
            </a:r>
            <a:r>
              <a:rPr lang="zh-CN" altLang="en-US" b="0" spc="-100" dirty="0">
                <a:solidFill>
                  <a:srgbClr val="104E87"/>
                </a:solidFill>
                <a:latin typeface="华光行书_CNKI" panose="02000500000000000000" pitchFamily="2" charset="-122"/>
                <a:ea typeface="华光行书_CNKI" panose="02000500000000000000" pitchFamily="2" charset="-122"/>
              </a:rPr>
              <a:t>派生类自己新增加的虚函数按其在派生类中的声明次序增加到派生类的虚表的最后。</a:t>
            </a:r>
          </a:p>
        </p:txBody>
      </p:sp>
      <p:sp>
        <p:nvSpPr>
          <p:cNvPr id="4" name="矩形 3">
            <a:extLst>
              <a:ext uri="{FF2B5EF4-FFF2-40B4-BE49-F238E27FC236}">
                <a16:creationId xmlns:a16="http://schemas.microsoft.com/office/drawing/2014/main" id="{E2D6EF0A-99B6-4095-895A-8333B600581C}"/>
              </a:ext>
            </a:extLst>
          </p:cNvPr>
          <p:cNvSpPr>
            <a:spLocks noChangeArrowheads="1"/>
          </p:cNvSpPr>
          <p:nvPr/>
        </p:nvSpPr>
        <p:spPr bwMode="auto">
          <a:xfrm>
            <a:off x="3903785" y="923061"/>
            <a:ext cx="82882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FF0000"/>
                </a:solidFill>
                <a:latin typeface="华光行书_CNKI" panose="02000500000000000000" pitchFamily="2" charset="-122"/>
                <a:ea typeface="华光行书_CNKI" panose="02000500000000000000" pitchFamily="2" charset="-122"/>
              </a:rPr>
              <a:t>基类和派生类对象都有虚函数表指针</a:t>
            </a:r>
            <a:endParaRPr lang="en-US" altLang="zh-CN" dirty="0">
              <a:solidFill>
                <a:srgbClr val="FF0000"/>
              </a:solidFill>
              <a:latin typeface="华光行书_CNKI" panose="02000500000000000000" pitchFamily="2" charset="-122"/>
              <a:ea typeface="华光行书_CNKI" panose="02000500000000000000" pitchFamily="2" charset="-122"/>
            </a:endParaRPr>
          </a:p>
          <a:p>
            <a:r>
              <a:rPr lang="zh-CN" altLang="en-US" dirty="0">
                <a:solidFill>
                  <a:srgbClr val="FF0000"/>
                </a:solidFill>
                <a:latin typeface="华光行书_CNKI" panose="02000500000000000000" pitchFamily="2" charset="-122"/>
                <a:ea typeface="华光行书_CNKI" panose="02000500000000000000" pitchFamily="2" charset="-122"/>
              </a:rPr>
              <a:t>在派生类中如果重写了基类虚函数，指针指向重写的虚函数</a:t>
            </a:r>
            <a:endParaRPr lang="en-US" altLang="zh-CN" dirty="0">
              <a:solidFill>
                <a:srgbClr val="FF0000"/>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119232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
            <a:extLst>
              <a:ext uri="{FF2B5EF4-FFF2-40B4-BE49-F238E27FC236}">
                <a16:creationId xmlns:a16="http://schemas.microsoft.com/office/drawing/2014/main" id="{A0D12F2D-C592-495D-A164-E0ACE0883BC9}"/>
              </a:ext>
            </a:extLst>
          </p:cNvPr>
          <p:cNvSpPr>
            <a:spLocks noChangeArrowheads="1"/>
          </p:cNvSpPr>
          <p:nvPr/>
        </p:nvSpPr>
        <p:spPr bwMode="auto">
          <a:xfrm>
            <a:off x="0" y="0"/>
            <a:ext cx="5376495" cy="452431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class Person</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{public:</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virtual void BuyTicket(){</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cout &lt;&lt; "买票-全价" &lt;&lt; endl;</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class Student : public Person{</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public:</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virtual void BuyTicket(){</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cout &lt;&lt; "买票-半价" &lt;&lt; endl;</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void Func(</a:t>
            </a:r>
            <a:r>
              <a:rPr lang="zh-CN" altLang="en-US" dirty="0">
                <a:solidFill>
                  <a:srgbClr val="E73A1C"/>
                </a:solidFill>
                <a:latin typeface="Comic Sans MS" panose="030F0702030302020204" pitchFamily="66" charset="0"/>
                <a:ea typeface="华光行书_CNKI" panose="02000500000000000000" pitchFamily="2" charset="-122"/>
              </a:rPr>
              <a:t>Person</a:t>
            </a:r>
            <a:r>
              <a:rPr lang="en-US" altLang="zh-CN" dirty="0">
                <a:solidFill>
                  <a:srgbClr val="E73A1C"/>
                </a:solidFill>
                <a:latin typeface="Comic Sans MS" panose="030F0702030302020204" pitchFamily="66" charset="0"/>
                <a:ea typeface="华光行书_CNKI" panose="02000500000000000000" pitchFamily="2" charset="-122"/>
              </a:rPr>
              <a:t>*</a:t>
            </a:r>
            <a:r>
              <a:rPr lang="zh-CN" altLang="en-US" dirty="0">
                <a:solidFill>
                  <a:srgbClr val="E73A1C"/>
                </a:solidFill>
                <a:latin typeface="Comic Sans MS" panose="030F0702030302020204" pitchFamily="66" charset="0"/>
                <a:ea typeface="华光行书_CNKI" panose="02000500000000000000" pitchFamily="2" charset="-122"/>
              </a:rPr>
              <a:t> p</a:t>
            </a:r>
            <a:r>
              <a:rPr lang="zh-CN" altLang="en-US"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	</a:t>
            </a:r>
            <a:r>
              <a:rPr lang="en-US" altLang="zh-CN" dirty="0">
                <a:solidFill>
                  <a:srgbClr val="104E87"/>
                </a:solidFill>
                <a:latin typeface="Comic Sans MS" panose="030F0702030302020204" pitchFamily="66" charset="0"/>
                <a:ea typeface="华光行书_CNKI" panose="02000500000000000000" pitchFamily="2" charset="-122"/>
              </a:rPr>
              <a:t>p-&gt;</a:t>
            </a:r>
            <a:r>
              <a:rPr lang="zh-CN" altLang="en-US" dirty="0">
                <a:solidFill>
                  <a:srgbClr val="104E87"/>
                </a:solidFill>
                <a:latin typeface="Comic Sans MS" panose="030F0702030302020204" pitchFamily="66" charset="0"/>
                <a:ea typeface="华光行书_CNKI" panose="02000500000000000000" pitchFamily="2" charset="-122"/>
              </a:rPr>
              <a:t>BuyTicket();</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p>
        </p:txBody>
      </p:sp>
      <p:sp>
        <p:nvSpPr>
          <p:cNvPr id="3" name="矩形 5">
            <a:extLst>
              <a:ext uri="{FF2B5EF4-FFF2-40B4-BE49-F238E27FC236}">
                <a16:creationId xmlns:a16="http://schemas.microsoft.com/office/drawing/2014/main" id="{66C828BC-43C1-4683-83CF-719484703D4B}"/>
              </a:ext>
            </a:extLst>
          </p:cNvPr>
          <p:cNvSpPr>
            <a:spLocks noChangeArrowheads="1"/>
          </p:cNvSpPr>
          <p:nvPr/>
        </p:nvSpPr>
        <p:spPr bwMode="auto">
          <a:xfrm>
            <a:off x="0" y="4524315"/>
            <a:ext cx="2160587" cy="2234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int main()</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{Person Mike;</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Func(</a:t>
            </a:r>
            <a:r>
              <a:rPr lang="en-US" altLang="zh-CN" dirty="0">
                <a:solidFill>
                  <a:srgbClr val="104E87"/>
                </a:solidFill>
                <a:latin typeface="Comic Sans MS" panose="030F0702030302020204" pitchFamily="66" charset="0"/>
                <a:ea typeface="华光行书_CNKI" panose="02000500000000000000" pitchFamily="2" charset="-122"/>
              </a:rPr>
              <a:t>&amp;</a:t>
            </a:r>
            <a:r>
              <a:rPr lang="zh-CN" altLang="en-US" dirty="0">
                <a:solidFill>
                  <a:srgbClr val="104E87"/>
                </a:solidFill>
                <a:latin typeface="Comic Sans MS" panose="030F0702030302020204" pitchFamily="66" charset="0"/>
                <a:ea typeface="华光行书_CNKI" panose="02000500000000000000" pitchFamily="2" charset="-122"/>
              </a:rPr>
              <a:t>Mike);</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Student John;</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Func(</a:t>
            </a:r>
            <a:r>
              <a:rPr lang="en-US" altLang="zh-CN" dirty="0">
                <a:solidFill>
                  <a:srgbClr val="104E87"/>
                </a:solidFill>
                <a:latin typeface="Comic Sans MS" panose="030F0702030302020204" pitchFamily="66" charset="0"/>
                <a:ea typeface="华光行书_CNKI" panose="02000500000000000000" pitchFamily="2" charset="-122"/>
              </a:rPr>
              <a:t>&amp;</a:t>
            </a:r>
            <a:r>
              <a:rPr lang="zh-CN" altLang="en-US" dirty="0">
                <a:solidFill>
                  <a:srgbClr val="104E87"/>
                </a:solidFill>
                <a:latin typeface="Comic Sans MS" panose="030F0702030302020204" pitchFamily="66" charset="0"/>
                <a:ea typeface="华光行书_CNKI" panose="02000500000000000000" pitchFamily="2" charset="-122"/>
              </a:rPr>
              <a:t>John);</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return 0;</a:t>
            </a:r>
          </a:p>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a:t>
            </a:r>
          </a:p>
        </p:txBody>
      </p:sp>
      <p:sp>
        <p:nvSpPr>
          <p:cNvPr id="4" name="矩形 3">
            <a:extLst>
              <a:ext uri="{FF2B5EF4-FFF2-40B4-BE49-F238E27FC236}">
                <a16:creationId xmlns:a16="http://schemas.microsoft.com/office/drawing/2014/main" id="{D1CFE6F5-D224-4E27-97B1-375A2FBEE459}"/>
              </a:ext>
            </a:extLst>
          </p:cNvPr>
          <p:cNvSpPr/>
          <p:nvPr/>
        </p:nvSpPr>
        <p:spPr>
          <a:xfrm>
            <a:off x="5376495" y="1961621"/>
            <a:ext cx="6815505" cy="261610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ts val="600"/>
              </a:spcBef>
            </a:pPr>
            <a:r>
              <a:rPr lang="zh-CN" altLang="en-US" dirty="0">
                <a:solidFill>
                  <a:srgbClr val="104E87"/>
                </a:solidFill>
                <a:latin typeface="Comic Sans MS" panose="030F0702030302020204" pitchFamily="66" charset="0"/>
                <a:ea typeface="华光行书_CNKI" panose="02000500000000000000" pitchFamily="2" charset="-122"/>
              </a:rPr>
              <a:t>绑定</a:t>
            </a:r>
            <a:r>
              <a:rPr lang="en-US" altLang="zh-CN" dirty="0">
                <a:solidFill>
                  <a:srgbClr val="104E87"/>
                </a:solidFill>
                <a:latin typeface="Comic Sans MS" panose="030F0702030302020204" pitchFamily="66" charset="0"/>
                <a:ea typeface="华光行书_CNKI" panose="02000500000000000000" pitchFamily="2" charset="-122"/>
              </a:rPr>
              <a:t>(binding):</a:t>
            </a:r>
            <a:r>
              <a:rPr lang="zh-CN" altLang="en-US" dirty="0">
                <a:solidFill>
                  <a:srgbClr val="104E87"/>
                </a:solidFill>
                <a:latin typeface="Comic Sans MS" panose="030F0702030302020204" pitchFamily="66" charset="0"/>
                <a:ea typeface="华光行书_CNKI" panose="02000500000000000000" pitchFamily="2" charset="-122"/>
              </a:rPr>
              <a:t>将一个函数调用链接上相应的函数体代码的过程</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绑定的两种形式：</a:t>
            </a:r>
          </a:p>
          <a:p>
            <a:pPr marL="342900" lvl="1" indent="-342900">
              <a:spcBef>
                <a:spcPts val="600"/>
              </a:spcBef>
              <a:buFont typeface="Wingdings" panose="05000000000000000000" pitchFamily="2" charset="2"/>
              <a:buChar char="l"/>
            </a:pPr>
            <a:r>
              <a:rPr lang="zh-CN" altLang="en-US" dirty="0">
                <a:solidFill>
                  <a:srgbClr val="104E87"/>
                </a:solidFill>
                <a:latin typeface="Comic Sans MS" panose="030F0702030302020204" pitchFamily="66" charset="0"/>
                <a:ea typeface="华光行书_CNKI" panose="02000500000000000000" pitchFamily="2" charset="-122"/>
              </a:rPr>
              <a:t>静态绑定（早期绑定）：在编译阶段绑定</a:t>
            </a:r>
          </a:p>
          <a:p>
            <a:pPr marL="0" lvl="1">
              <a:spcBef>
                <a:spcPts val="600"/>
              </a:spcBef>
            </a:pPr>
            <a:r>
              <a:rPr lang="zh-CN" altLang="en-US" dirty="0">
                <a:solidFill>
                  <a:srgbClr val="104E87"/>
                </a:solidFill>
                <a:latin typeface="Comic Sans MS" panose="030F0702030302020204" pitchFamily="66" charset="0"/>
                <a:ea typeface="华光行书_CNKI" panose="02000500000000000000" pitchFamily="2" charset="-122"/>
              </a:rPr>
              <a:t>	一般函数调用方式</a:t>
            </a:r>
          </a:p>
          <a:p>
            <a:pPr marL="342900" lvl="1" indent="-342900">
              <a:spcBef>
                <a:spcPts val="600"/>
              </a:spcBef>
              <a:buFont typeface="Wingdings" panose="05000000000000000000" pitchFamily="2" charset="2"/>
              <a:buChar char="l"/>
            </a:pPr>
            <a:r>
              <a:rPr lang="zh-CN" altLang="en-US" dirty="0">
                <a:solidFill>
                  <a:srgbClr val="104E87"/>
                </a:solidFill>
                <a:latin typeface="Comic Sans MS" panose="030F0702030302020204" pitchFamily="66" charset="0"/>
                <a:ea typeface="华光行书_CNKI" panose="02000500000000000000" pitchFamily="2" charset="-122"/>
              </a:rPr>
              <a:t>动态绑定（晚期绑定）：在程序运行阶段绑定</a:t>
            </a:r>
            <a:endParaRPr lang="en-US" altLang="zh-CN" dirty="0">
              <a:solidFill>
                <a:srgbClr val="104E87"/>
              </a:solidFill>
              <a:latin typeface="Comic Sans MS" panose="030F0702030302020204" pitchFamily="66" charset="0"/>
              <a:ea typeface="华光行书_CNKI" panose="02000500000000000000" pitchFamily="2" charset="-122"/>
            </a:endParaRPr>
          </a:p>
          <a:p>
            <a:pPr marL="0" lvl="1">
              <a:spcBef>
                <a:spcPts val="600"/>
              </a:spcBef>
            </a:pPr>
            <a:r>
              <a:rPr lang="en-US" altLang="zh-CN" dirty="0">
                <a:solidFill>
                  <a:srgbClr val="104E87"/>
                </a:solidFill>
                <a:latin typeface="Comic Sans MS" panose="030F0702030302020204" pitchFamily="66" charset="0"/>
                <a:ea typeface="华光行书_CNKI" panose="02000500000000000000" pitchFamily="2" charset="-122"/>
              </a:rPr>
              <a:t>	</a:t>
            </a:r>
            <a:r>
              <a:rPr lang="zh-CN" altLang="en-US" dirty="0">
                <a:solidFill>
                  <a:srgbClr val="104E87"/>
                </a:solidFill>
                <a:latin typeface="Comic Sans MS" panose="030F0702030302020204" pitchFamily="66" charset="0"/>
                <a:ea typeface="华光行书_CNKI" panose="02000500000000000000" pitchFamily="2" charset="-122"/>
              </a:rPr>
              <a:t>基类指针</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虚函数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公有继承</a:t>
            </a:r>
          </a:p>
        </p:txBody>
      </p:sp>
    </p:spTree>
    <p:extLst>
      <p:ext uri="{BB962C8B-B14F-4D97-AF65-F5344CB8AC3E}">
        <p14:creationId xmlns:p14="http://schemas.microsoft.com/office/powerpoint/2010/main" val="3125959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B93A15E-95A4-4803-B6B7-408EEE304F5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12F22D8F-613C-43AA-B50E-A9DF0564403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2BB998C2-DA3A-4FD5-BE7E-5DB4660CEF0A}"/>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7" name="矩形 3">
            <a:extLst>
              <a:ext uri="{FF2B5EF4-FFF2-40B4-BE49-F238E27FC236}">
                <a16:creationId xmlns:a16="http://schemas.microsoft.com/office/drawing/2014/main" id="{5D49A850-6F4B-4D87-9758-138D945519CE}"/>
              </a:ext>
            </a:extLst>
          </p:cNvPr>
          <p:cNvSpPr>
            <a:spLocks noChangeArrowheads="1"/>
          </p:cNvSpPr>
          <p:nvPr/>
        </p:nvSpPr>
        <p:spPr bwMode="auto">
          <a:xfrm>
            <a:off x="134327" y="1028823"/>
            <a:ext cx="5246565"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104E87"/>
                </a:solidFill>
                <a:latin typeface="Comic Sans MS" panose="030F0702030302020204" pitchFamily="66" charset="0"/>
                <a:ea typeface="华光行书_CNKI" panose="02000500000000000000" pitchFamily="2" charset="-122"/>
              </a:rPr>
              <a:t>class MEMBER {</a:t>
            </a:r>
          </a:p>
          <a:p>
            <a:r>
              <a:rPr lang="en-US" altLang="zh-CN" dirty="0">
                <a:solidFill>
                  <a:srgbClr val="104E87"/>
                </a:solidFill>
                <a:latin typeface="Comic Sans MS" panose="030F0702030302020204" pitchFamily="66" charset="0"/>
                <a:ea typeface="华光行书_CNKI" panose="02000500000000000000" pitchFamily="2" charset="-122"/>
              </a:rPr>
              <a:t>public:</a:t>
            </a:r>
          </a:p>
          <a:p>
            <a:r>
              <a:rPr lang="en-US" altLang="zh-CN" dirty="0">
                <a:solidFill>
                  <a:srgbClr val="104E87"/>
                </a:solidFill>
                <a:latin typeface="Comic Sans MS" panose="030F0702030302020204" pitchFamily="66" charset="0"/>
                <a:ea typeface="华光行书_CNKI" panose="02000500000000000000" pitchFamily="2" charset="-122"/>
              </a:rPr>
              <a:t>	virtual void answer()</a:t>
            </a:r>
          </a:p>
          <a:p>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&lt;&lt;" I am a member.\n";}</a:t>
            </a:r>
          </a:p>
          <a:p>
            <a:r>
              <a:rPr lang="en-US" altLang="zh-CN" dirty="0">
                <a:solidFill>
                  <a:srgbClr val="104E87"/>
                </a:solidFill>
                <a:latin typeface="Comic Sans MS" panose="030F0702030302020204" pitchFamily="66" charset="0"/>
                <a:ea typeface="华光行书_CNKI" panose="02000500000000000000" pitchFamily="2" charset="-122"/>
              </a:rPr>
              <a:t>};</a:t>
            </a:r>
          </a:p>
          <a:p>
            <a:r>
              <a:rPr lang="en-US" altLang="zh-CN" dirty="0">
                <a:solidFill>
                  <a:srgbClr val="104E87"/>
                </a:solidFill>
                <a:latin typeface="Comic Sans MS" panose="030F0702030302020204" pitchFamily="66" charset="0"/>
                <a:ea typeface="华光行书_CNKI" panose="02000500000000000000" pitchFamily="2" charset="-122"/>
              </a:rPr>
              <a:t>class TEACHER: public MEMBER {</a:t>
            </a:r>
          </a:p>
          <a:p>
            <a:r>
              <a:rPr lang="en-US" altLang="zh-CN" dirty="0">
                <a:solidFill>
                  <a:srgbClr val="104E87"/>
                </a:solidFill>
                <a:latin typeface="Comic Sans MS" panose="030F0702030302020204" pitchFamily="66" charset="0"/>
                <a:ea typeface="华光行书_CNKI" panose="02000500000000000000" pitchFamily="2" charset="-122"/>
              </a:rPr>
              <a:t>public:</a:t>
            </a:r>
          </a:p>
          <a:p>
            <a:r>
              <a:rPr lang="en-US" altLang="zh-CN" dirty="0">
                <a:solidFill>
                  <a:srgbClr val="104E87"/>
                </a:solidFill>
                <a:latin typeface="Comic Sans MS" panose="030F0702030302020204" pitchFamily="66" charset="0"/>
                <a:ea typeface="华光行书_CNKI" panose="02000500000000000000" pitchFamily="2" charset="-122"/>
              </a:rPr>
              <a:t>	virtual void answer()</a:t>
            </a:r>
          </a:p>
          <a:p>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&lt;&lt;" I am a teacher.\n";}</a:t>
            </a:r>
          </a:p>
          <a:p>
            <a:r>
              <a:rPr lang="en-US" altLang="zh-CN" dirty="0">
                <a:solidFill>
                  <a:srgbClr val="104E87"/>
                </a:solidFill>
                <a:latin typeface="Comic Sans MS" panose="030F0702030302020204" pitchFamily="66" charset="0"/>
                <a:ea typeface="华光行书_CNKI" panose="02000500000000000000" pitchFamily="2" charset="-122"/>
              </a:rPr>
              <a:t>};</a:t>
            </a:r>
          </a:p>
          <a:p>
            <a:r>
              <a:rPr lang="en-US" altLang="zh-CN" dirty="0">
                <a:solidFill>
                  <a:srgbClr val="104E87"/>
                </a:solidFill>
                <a:latin typeface="Comic Sans MS" panose="030F0702030302020204" pitchFamily="66" charset="0"/>
                <a:ea typeface="华光行书_CNKI" panose="02000500000000000000" pitchFamily="2" charset="-122"/>
              </a:rPr>
              <a:t>class STUDENT: public MEMBER {</a:t>
            </a:r>
          </a:p>
          <a:p>
            <a:r>
              <a:rPr lang="en-US" altLang="zh-CN" dirty="0">
                <a:solidFill>
                  <a:srgbClr val="104E87"/>
                </a:solidFill>
                <a:latin typeface="Comic Sans MS" panose="030F0702030302020204" pitchFamily="66" charset="0"/>
                <a:ea typeface="华光行书_CNKI" panose="02000500000000000000" pitchFamily="2" charset="-122"/>
              </a:rPr>
              <a:t>public:</a:t>
            </a:r>
          </a:p>
          <a:p>
            <a:r>
              <a:rPr lang="en-US" altLang="zh-CN" dirty="0">
                <a:solidFill>
                  <a:srgbClr val="104E87"/>
                </a:solidFill>
                <a:latin typeface="Comic Sans MS" panose="030F0702030302020204" pitchFamily="66" charset="0"/>
                <a:ea typeface="华光行书_CNKI" panose="02000500000000000000" pitchFamily="2" charset="-122"/>
              </a:rPr>
              <a:t>	virtual void answer()</a:t>
            </a:r>
          </a:p>
          <a:p>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cout</a:t>
            </a:r>
            <a:r>
              <a:rPr lang="en-US" altLang="zh-CN" dirty="0">
                <a:solidFill>
                  <a:srgbClr val="104E87"/>
                </a:solidFill>
                <a:latin typeface="Comic Sans MS" panose="030F0702030302020204" pitchFamily="66" charset="0"/>
                <a:ea typeface="华光行书_CNKI" panose="02000500000000000000" pitchFamily="2" charset="-122"/>
              </a:rPr>
              <a:t>&lt;&lt;" I am a student.\n";}</a:t>
            </a:r>
          </a:p>
          <a:p>
            <a:r>
              <a:rPr lang="en-US" altLang="zh-CN" dirty="0">
                <a:solidFill>
                  <a:srgbClr val="104E87"/>
                </a:solidFill>
                <a:latin typeface="Comic Sans MS" panose="030F0702030302020204" pitchFamily="66" charset="0"/>
                <a:ea typeface="华光行书_CNKI" panose="02000500000000000000" pitchFamily="2" charset="-122"/>
              </a:rPr>
              <a:t>};</a:t>
            </a:r>
          </a:p>
          <a:p>
            <a:endParaRPr lang="en-US" altLang="zh-CN" dirty="0">
              <a:solidFill>
                <a:srgbClr val="104E87"/>
              </a:solidFill>
              <a:latin typeface="Comic Sans MS" panose="030F0702030302020204" pitchFamily="66" charset="0"/>
              <a:ea typeface="华光行书_CNKI" panose="02000500000000000000" pitchFamily="2" charset="-122"/>
            </a:endParaRPr>
          </a:p>
        </p:txBody>
      </p:sp>
      <p:sp>
        <p:nvSpPr>
          <p:cNvPr id="8" name="矩形 7">
            <a:extLst>
              <a:ext uri="{FF2B5EF4-FFF2-40B4-BE49-F238E27FC236}">
                <a16:creationId xmlns:a16="http://schemas.microsoft.com/office/drawing/2014/main" id="{CF7B8263-F890-4CE0-A9E7-9F639EC1C410}"/>
              </a:ext>
            </a:extLst>
          </p:cNvPr>
          <p:cNvSpPr>
            <a:spLocks noChangeArrowheads="1"/>
          </p:cNvSpPr>
          <p:nvPr/>
        </p:nvSpPr>
        <p:spPr bwMode="auto">
          <a:xfrm>
            <a:off x="5436454" y="1130709"/>
            <a:ext cx="3824777"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104E87"/>
                </a:solidFill>
                <a:latin typeface="Comic Sans MS" panose="030F0702030302020204" pitchFamily="66" charset="0"/>
                <a:ea typeface="华光行书_CNKI" panose="02000500000000000000" pitchFamily="2" charset="-122"/>
              </a:rPr>
              <a:t>int main()</a:t>
            </a:r>
          </a:p>
          <a:p>
            <a:r>
              <a:rPr lang="en-US" altLang="zh-CN" dirty="0">
                <a:solidFill>
                  <a:srgbClr val="104E87"/>
                </a:solidFill>
                <a:latin typeface="Comic Sans MS" panose="030F0702030302020204" pitchFamily="66" charset="0"/>
                <a:ea typeface="华光行书_CNKI" panose="02000500000000000000" pitchFamily="2" charset="-122"/>
              </a:rPr>
              <a:t>{	MEMBER </a:t>
            </a:r>
            <a:r>
              <a:rPr lang="en-US" altLang="zh-CN" dirty="0" err="1">
                <a:solidFill>
                  <a:srgbClr val="104E87"/>
                </a:solidFill>
                <a:latin typeface="Comic Sans MS" panose="030F0702030302020204" pitchFamily="66" charset="0"/>
                <a:ea typeface="华光行书_CNKI" panose="02000500000000000000" pitchFamily="2" charset="-122"/>
              </a:rPr>
              <a:t>member</a:t>
            </a:r>
            <a:r>
              <a:rPr lang="en-US" altLang="zh-CN" dirty="0">
                <a:solidFill>
                  <a:srgbClr val="104E87"/>
                </a:solidFill>
                <a:latin typeface="Comic Sans MS" panose="030F0702030302020204" pitchFamily="66" charset="0"/>
                <a:ea typeface="华光行书_CNKI" panose="02000500000000000000" pitchFamily="2" charset="-122"/>
              </a:rPr>
              <a:t>;</a:t>
            </a:r>
          </a:p>
          <a:p>
            <a:r>
              <a:rPr lang="en-US" altLang="zh-CN" dirty="0">
                <a:solidFill>
                  <a:srgbClr val="104E87"/>
                </a:solidFill>
                <a:latin typeface="Comic Sans MS" panose="030F0702030302020204" pitchFamily="66" charset="0"/>
                <a:ea typeface="华光行书_CNKI" panose="02000500000000000000" pitchFamily="2" charset="-122"/>
              </a:rPr>
              <a:t>	TEACHER </a:t>
            </a:r>
            <a:r>
              <a:rPr lang="en-US" altLang="zh-CN" dirty="0" err="1">
                <a:solidFill>
                  <a:srgbClr val="104E87"/>
                </a:solidFill>
                <a:latin typeface="Comic Sans MS" panose="030F0702030302020204" pitchFamily="66" charset="0"/>
                <a:ea typeface="华光行书_CNKI" panose="02000500000000000000" pitchFamily="2" charset="-122"/>
              </a:rPr>
              <a:t>teacher</a:t>
            </a:r>
            <a:r>
              <a:rPr lang="en-US" altLang="zh-CN" dirty="0">
                <a:solidFill>
                  <a:srgbClr val="104E87"/>
                </a:solidFill>
                <a:latin typeface="Comic Sans MS" panose="030F0702030302020204" pitchFamily="66" charset="0"/>
                <a:ea typeface="华光行书_CNKI" panose="02000500000000000000" pitchFamily="2" charset="-122"/>
              </a:rPr>
              <a:t>;</a:t>
            </a:r>
          </a:p>
          <a:p>
            <a:r>
              <a:rPr lang="en-US" altLang="zh-CN" dirty="0">
                <a:solidFill>
                  <a:srgbClr val="104E87"/>
                </a:solidFill>
                <a:latin typeface="Comic Sans MS" panose="030F0702030302020204" pitchFamily="66" charset="0"/>
                <a:ea typeface="华光行书_CNKI" panose="02000500000000000000" pitchFamily="2" charset="-122"/>
              </a:rPr>
              <a:t>	STUDENT </a:t>
            </a:r>
            <a:r>
              <a:rPr lang="en-US" altLang="zh-CN" dirty="0" err="1">
                <a:solidFill>
                  <a:srgbClr val="104E87"/>
                </a:solidFill>
                <a:latin typeface="Comic Sans MS" panose="030F0702030302020204" pitchFamily="66" charset="0"/>
                <a:ea typeface="华光行书_CNKI" panose="02000500000000000000" pitchFamily="2" charset="-122"/>
              </a:rPr>
              <a:t>student</a:t>
            </a:r>
            <a:r>
              <a:rPr lang="en-US" altLang="zh-CN" dirty="0">
                <a:solidFill>
                  <a:srgbClr val="104E87"/>
                </a:solidFill>
                <a:latin typeface="Comic Sans MS" panose="030F0702030302020204" pitchFamily="66" charset="0"/>
                <a:ea typeface="华光行书_CNKI" panose="02000500000000000000" pitchFamily="2" charset="-122"/>
              </a:rPr>
              <a:t>;</a:t>
            </a:r>
          </a:p>
          <a:p>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a:solidFill>
                  <a:srgbClr val="FF0000"/>
                </a:solidFill>
                <a:latin typeface="Comic Sans MS" panose="030F0702030302020204" pitchFamily="66" charset="0"/>
                <a:ea typeface="华光行书_CNKI" panose="02000500000000000000" pitchFamily="2" charset="-122"/>
              </a:rPr>
              <a:t>MEMBER *who;</a:t>
            </a:r>
          </a:p>
          <a:p>
            <a:endParaRPr lang="en-US" altLang="zh-CN" sz="700" dirty="0">
              <a:solidFill>
                <a:srgbClr val="104E87"/>
              </a:solidFill>
              <a:latin typeface="Comic Sans MS" panose="030F0702030302020204" pitchFamily="66" charset="0"/>
              <a:ea typeface="华光行书_CNKI" panose="02000500000000000000" pitchFamily="2" charset="-122"/>
            </a:endParaRPr>
          </a:p>
          <a:p>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a:solidFill>
                  <a:srgbClr val="FF0000"/>
                </a:solidFill>
                <a:latin typeface="Comic Sans MS" panose="030F0702030302020204" pitchFamily="66" charset="0"/>
                <a:ea typeface="华光行书_CNKI" panose="02000500000000000000" pitchFamily="2" charset="-122"/>
              </a:rPr>
              <a:t>who=&amp;member;	</a:t>
            </a:r>
          </a:p>
          <a:p>
            <a:r>
              <a:rPr lang="en-US" altLang="zh-CN" dirty="0">
                <a:solidFill>
                  <a:srgbClr val="FF0000"/>
                </a:solidFill>
                <a:latin typeface="Comic Sans MS" panose="030F0702030302020204" pitchFamily="66" charset="0"/>
                <a:ea typeface="华光行书_CNKI" panose="02000500000000000000" pitchFamily="2" charset="-122"/>
              </a:rPr>
              <a:t>	who-&gt;answer();</a:t>
            </a:r>
          </a:p>
          <a:p>
            <a:endParaRPr lang="en-US" altLang="zh-CN" sz="600" dirty="0">
              <a:solidFill>
                <a:srgbClr val="FF0000"/>
              </a:solidFill>
              <a:latin typeface="Comic Sans MS" panose="030F0702030302020204" pitchFamily="66" charset="0"/>
              <a:ea typeface="华光行书_CNKI" panose="02000500000000000000" pitchFamily="2" charset="-122"/>
            </a:endParaRPr>
          </a:p>
          <a:p>
            <a:r>
              <a:rPr lang="en-US" altLang="zh-CN" dirty="0">
                <a:solidFill>
                  <a:srgbClr val="FF0000"/>
                </a:solidFill>
                <a:latin typeface="Comic Sans MS" panose="030F0702030302020204" pitchFamily="66" charset="0"/>
                <a:ea typeface="华光行书_CNKI" panose="02000500000000000000" pitchFamily="2" charset="-122"/>
              </a:rPr>
              <a:t>	who=&amp;teacher;	</a:t>
            </a:r>
          </a:p>
          <a:p>
            <a:r>
              <a:rPr lang="en-US" altLang="zh-CN" dirty="0">
                <a:solidFill>
                  <a:srgbClr val="FF0000"/>
                </a:solidFill>
                <a:latin typeface="Comic Sans MS" panose="030F0702030302020204" pitchFamily="66" charset="0"/>
                <a:ea typeface="华光行书_CNKI" panose="02000500000000000000" pitchFamily="2" charset="-122"/>
              </a:rPr>
              <a:t>	who-&gt;answer();</a:t>
            </a:r>
          </a:p>
          <a:p>
            <a:endParaRPr lang="en-US" altLang="zh-CN" sz="700" dirty="0">
              <a:solidFill>
                <a:srgbClr val="FF0000"/>
              </a:solidFill>
              <a:latin typeface="Comic Sans MS" panose="030F0702030302020204" pitchFamily="66" charset="0"/>
              <a:ea typeface="华光行书_CNKI" panose="02000500000000000000" pitchFamily="2" charset="-122"/>
            </a:endParaRPr>
          </a:p>
          <a:p>
            <a:r>
              <a:rPr lang="en-US" altLang="zh-CN" dirty="0">
                <a:solidFill>
                  <a:srgbClr val="FF0000"/>
                </a:solidFill>
                <a:latin typeface="Comic Sans MS" panose="030F0702030302020204" pitchFamily="66" charset="0"/>
                <a:ea typeface="华光行书_CNKI" panose="02000500000000000000" pitchFamily="2" charset="-122"/>
              </a:rPr>
              <a:t>	who=&amp;student;	</a:t>
            </a:r>
          </a:p>
          <a:p>
            <a:r>
              <a:rPr lang="en-US" altLang="zh-CN" dirty="0">
                <a:solidFill>
                  <a:srgbClr val="FF0000"/>
                </a:solidFill>
                <a:latin typeface="Comic Sans MS" panose="030F0702030302020204" pitchFamily="66" charset="0"/>
                <a:ea typeface="华光行书_CNKI" panose="02000500000000000000" pitchFamily="2" charset="-122"/>
              </a:rPr>
              <a:t>	who-&gt;answer();</a:t>
            </a:r>
          </a:p>
          <a:p>
            <a:endParaRPr lang="en-US" altLang="zh-CN" sz="700" dirty="0">
              <a:solidFill>
                <a:srgbClr val="104E87"/>
              </a:solidFill>
              <a:latin typeface="Comic Sans MS" panose="030F0702030302020204" pitchFamily="66" charset="0"/>
              <a:ea typeface="华光行书_CNKI" panose="02000500000000000000" pitchFamily="2" charset="-122"/>
            </a:endParaRPr>
          </a:p>
          <a:p>
            <a:r>
              <a:rPr lang="en-US" altLang="zh-CN" dirty="0">
                <a:solidFill>
                  <a:srgbClr val="104E87"/>
                </a:solidFill>
                <a:latin typeface="Comic Sans MS" panose="030F0702030302020204" pitchFamily="66" charset="0"/>
                <a:ea typeface="华光行书_CNKI" panose="02000500000000000000" pitchFamily="2" charset="-122"/>
              </a:rPr>
              <a:t>	return 0;</a:t>
            </a:r>
          </a:p>
          <a:p>
            <a:r>
              <a:rPr lang="en-US" altLang="zh-CN" dirty="0">
                <a:solidFill>
                  <a:srgbClr val="104E87"/>
                </a:solidFill>
                <a:latin typeface="Comic Sans MS" panose="030F0702030302020204" pitchFamily="66" charset="0"/>
                <a:ea typeface="华光行书_CNKI" panose="02000500000000000000" pitchFamily="2" charset="-122"/>
              </a:rPr>
              <a:t>}</a:t>
            </a:r>
          </a:p>
        </p:txBody>
      </p:sp>
      <p:pic>
        <p:nvPicPr>
          <p:cNvPr id="11" name="Picture 3">
            <a:extLst>
              <a:ext uri="{FF2B5EF4-FFF2-40B4-BE49-F238E27FC236}">
                <a16:creationId xmlns:a16="http://schemas.microsoft.com/office/drawing/2014/main" id="{3C43C7A4-B36D-4497-B9E4-71DD1A0C2B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9982" y="2997200"/>
            <a:ext cx="34512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1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 calcmode="lin" valueType="num">
                                      <p:cBhvr additive="base">
                                        <p:cTn id="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 calcmode="lin" valueType="num">
                                      <p:cBhvr additive="base">
                                        <p:cTn id="1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anim calcmode="lin" valueType="num">
                                      <p:cBhvr additive="base">
                                        <p:cTn id="17"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xEl>
                                              <p:pRg st="9" end="9"/>
                                            </p:txEl>
                                          </p:spTgt>
                                        </p:tgtEl>
                                        <p:attrNameLst>
                                          <p:attrName>style.visibility</p:attrName>
                                        </p:attrNameLst>
                                      </p:cBhvr>
                                      <p:to>
                                        <p:strVal val="visible"/>
                                      </p:to>
                                    </p:set>
                                    <p:anim calcmode="lin" valueType="num">
                                      <p:cBhvr additive="base">
                                        <p:cTn id="23"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anim calcmode="lin" valueType="num">
                                      <p:cBhvr additive="base">
                                        <p:cTn id="27"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12" end="12"/>
                                            </p:txEl>
                                          </p:spTgt>
                                        </p:tgtEl>
                                        <p:attrNameLst>
                                          <p:attrName>style.visibility</p:attrName>
                                        </p:attrNameLst>
                                      </p:cBhvr>
                                      <p:to>
                                        <p:strVal val="visible"/>
                                      </p:to>
                                    </p:set>
                                    <p:anim calcmode="lin" valueType="num">
                                      <p:cBhvr additive="base">
                                        <p:cTn id="33"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12" end="1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
                                            <p:txEl>
                                              <p:pRg st="13" end="13"/>
                                            </p:txEl>
                                          </p:spTgt>
                                        </p:tgtEl>
                                        <p:attrNameLst>
                                          <p:attrName>style.visibility</p:attrName>
                                        </p:attrNameLst>
                                      </p:cBhvr>
                                      <p:to>
                                        <p:strVal val="visible"/>
                                      </p:to>
                                    </p:set>
                                    <p:anim calcmode="lin" valueType="num">
                                      <p:cBhvr additive="base">
                                        <p:cTn id="37" dur="500" fill="hold"/>
                                        <p:tgtEl>
                                          <p:spTgt spid="8">
                                            <p:txEl>
                                              <p:pRg st="13" end="1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AD85DE3E-7BCD-4537-A05A-48F247629002}"/>
              </a:ext>
            </a:extLst>
          </p:cNvPr>
          <p:cNvSpPr txBox="1">
            <a:spLocks noChangeArrowheads="1"/>
          </p:cNvSpPr>
          <p:nvPr/>
        </p:nvSpPr>
        <p:spPr bwMode="auto">
          <a:xfrm>
            <a:off x="240445" y="1262078"/>
            <a:ext cx="4167432" cy="2308324"/>
          </a:xfrm>
          <a:prstGeom prst="rect">
            <a:avLst/>
          </a:prstGeom>
          <a:solidFill>
            <a:schemeClr val="accent4">
              <a:lumMod val="40000"/>
              <a:lumOff val="60000"/>
            </a:schemeClr>
          </a:solidFill>
          <a:ln>
            <a:noFill/>
          </a:ln>
        </p:spPr>
        <p:txBody>
          <a:bodyPr wrap="square">
            <a:spAutoFit/>
          </a:bodyPr>
          <a:lstStyle>
            <a:defPPr>
              <a:defRPr lang="en-US"/>
            </a:defPPr>
            <a:lvl1pPr>
              <a:defRPr>
                <a:solidFill>
                  <a:srgbClr val="104E87"/>
                </a:solidFill>
                <a:latin typeface="Comic Sans MS" panose="030F0702030302020204" pitchFamily="66" charset="0"/>
                <a:ea typeface="华光行书_CNKI" panose="02000500000000000000" pitchFamily="2" charset="-122"/>
              </a:defRPr>
            </a:lvl1pPr>
          </a:lstStyle>
          <a:p>
            <a:r>
              <a:rPr lang="en-US" altLang="zh-CN" dirty="0"/>
              <a:t>class BASE {</a:t>
            </a:r>
          </a:p>
          <a:p>
            <a:r>
              <a:rPr lang="en-US" altLang="zh-CN" dirty="0"/>
              <a:t>public: 	virtual void f1( ) {}</a:t>
            </a:r>
          </a:p>
          <a:p>
            <a:r>
              <a:rPr lang="en-US" altLang="zh-CN" dirty="0"/>
              <a:t>		virtual void f2( ) {}</a:t>
            </a:r>
          </a:p>
          <a:p>
            <a:r>
              <a:rPr lang="en-US" altLang="zh-CN" dirty="0"/>
              <a:t>		virtual void f3( ) {}</a:t>
            </a:r>
          </a:p>
          <a:p>
            <a:r>
              <a:rPr lang="en-US" altLang="zh-CN" dirty="0"/>
              <a:t>		void f ( ) {}</a:t>
            </a:r>
          </a:p>
          <a:p>
            <a:r>
              <a:rPr lang="en-US" altLang="zh-CN" dirty="0"/>
              <a:t>};</a:t>
            </a:r>
          </a:p>
        </p:txBody>
      </p:sp>
      <p:sp>
        <p:nvSpPr>
          <p:cNvPr id="12" name="Rectangle 3">
            <a:extLst>
              <a:ext uri="{FF2B5EF4-FFF2-40B4-BE49-F238E27FC236}">
                <a16:creationId xmlns:a16="http://schemas.microsoft.com/office/drawing/2014/main" id="{5DA87F77-A5F4-4487-ABC5-F86325EC095D}"/>
              </a:ext>
            </a:extLst>
          </p:cNvPr>
          <p:cNvSpPr txBox="1">
            <a:spLocks noChangeArrowheads="1"/>
          </p:cNvSpPr>
          <p:nvPr/>
        </p:nvSpPr>
        <p:spPr bwMode="auto">
          <a:xfrm>
            <a:off x="4407877" y="867738"/>
            <a:ext cx="7209691"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stStyle>
          <a:p>
            <a:pPr>
              <a:lnSpc>
                <a:spcPct val="100000"/>
              </a:lnSpc>
            </a:pPr>
            <a:r>
              <a:rPr lang="en-US" altLang="zh-CN" dirty="0"/>
              <a:t>int main( )</a:t>
            </a:r>
          </a:p>
          <a:p>
            <a:pPr>
              <a:lnSpc>
                <a:spcPct val="100000"/>
              </a:lnSpc>
            </a:pPr>
            <a:r>
              <a:rPr lang="en-US" altLang="zh-CN" dirty="0"/>
              <a:t>{	DERIVED d; </a:t>
            </a:r>
          </a:p>
          <a:p>
            <a:pPr>
              <a:lnSpc>
                <a:spcPct val="100000"/>
              </a:lnSpc>
            </a:pPr>
            <a:r>
              <a:rPr lang="en-US" altLang="zh-CN" dirty="0"/>
              <a:t>      BASE *p = &amp;d ;  // </a:t>
            </a:r>
            <a:r>
              <a:rPr lang="zh-CN" altLang="en-US" dirty="0"/>
              <a:t>基类指针</a:t>
            </a:r>
            <a:r>
              <a:rPr lang="en-US" altLang="zh-CN" dirty="0"/>
              <a:t>p</a:t>
            </a:r>
            <a:r>
              <a:rPr lang="zh-CN" altLang="en-US" dirty="0"/>
              <a:t>指向派生类对象</a:t>
            </a:r>
          </a:p>
          <a:p>
            <a:pPr>
              <a:lnSpc>
                <a:spcPct val="100000"/>
              </a:lnSpc>
            </a:pPr>
            <a:r>
              <a:rPr lang="zh-CN" altLang="en-US" dirty="0"/>
              <a:t>	</a:t>
            </a:r>
            <a:r>
              <a:rPr lang="en-US" altLang="zh-CN" dirty="0"/>
              <a:t>p-&gt;f1( );//</a:t>
            </a:r>
            <a:r>
              <a:rPr lang="zh-CN" altLang="en-US" dirty="0"/>
              <a:t>调用</a:t>
            </a:r>
            <a:r>
              <a:rPr lang="en-US" altLang="zh-CN" dirty="0"/>
              <a:t>DERIVED::f1( ); </a:t>
            </a:r>
            <a:r>
              <a:rPr lang="zh-CN" altLang="en-US" dirty="0"/>
              <a:t>动态绑定</a:t>
            </a:r>
          </a:p>
          <a:p>
            <a:pPr>
              <a:lnSpc>
                <a:spcPct val="100000"/>
              </a:lnSpc>
            </a:pPr>
            <a:r>
              <a:rPr lang="zh-CN" altLang="en-US" dirty="0"/>
              <a:t>	</a:t>
            </a:r>
            <a:r>
              <a:rPr lang="en-US" altLang="zh-CN" dirty="0"/>
              <a:t>p-&gt;f2( );//</a:t>
            </a:r>
            <a:r>
              <a:rPr lang="zh-CN" altLang="en-US" dirty="0"/>
              <a:t>调用</a:t>
            </a:r>
            <a:r>
              <a:rPr lang="en-US" altLang="zh-CN" dirty="0"/>
              <a:t>BASE::f2( ); </a:t>
            </a:r>
            <a:r>
              <a:rPr lang="zh-CN" altLang="en-US" dirty="0"/>
              <a:t>静态绑定</a:t>
            </a:r>
          </a:p>
          <a:p>
            <a:pPr>
              <a:lnSpc>
                <a:spcPct val="100000"/>
              </a:lnSpc>
            </a:pPr>
            <a:r>
              <a:rPr lang="zh-CN" altLang="en-US" dirty="0"/>
              <a:t>	</a:t>
            </a:r>
            <a:r>
              <a:rPr lang="en-US" altLang="zh-CN" dirty="0"/>
              <a:t>p-&gt;f ( );	//</a:t>
            </a:r>
            <a:r>
              <a:rPr lang="zh-CN" altLang="en-US" dirty="0"/>
              <a:t>调用</a:t>
            </a:r>
            <a:r>
              <a:rPr lang="en-US" altLang="zh-CN" dirty="0"/>
              <a:t>BASE::f( ); </a:t>
            </a:r>
            <a:r>
              <a:rPr lang="zh-CN" altLang="en-US" dirty="0"/>
              <a:t>静态绑定</a:t>
            </a:r>
          </a:p>
          <a:p>
            <a:pPr>
              <a:lnSpc>
                <a:spcPct val="100000"/>
              </a:lnSpc>
            </a:pPr>
            <a:r>
              <a:rPr lang="zh-CN" altLang="en-US" dirty="0"/>
              <a:t>	</a:t>
            </a:r>
            <a:r>
              <a:rPr lang="en-US" altLang="zh-CN" dirty="0"/>
              <a:t>((DERIVED *)p)-&gt;f2(100);</a:t>
            </a:r>
          </a:p>
          <a:p>
            <a:pPr>
              <a:lnSpc>
                <a:spcPct val="100000"/>
              </a:lnSpc>
            </a:pPr>
            <a:r>
              <a:rPr lang="en-US" altLang="zh-CN" dirty="0"/>
              <a:t>	return 0;</a:t>
            </a:r>
          </a:p>
          <a:p>
            <a:pPr>
              <a:lnSpc>
                <a:spcPct val="100000"/>
              </a:lnSpc>
            </a:pPr>
            <a:r>
              <a:rPr lang="en-US" altLang="zh-CN" dirty="0"/>
              <a:t>}</a:t>
            </a:r>
          </a:p>
        </p:txBody>
      </p:sp>
      <p:sp>
        <p:nvSpPr>
          <p:cNvPr id="14" name="文本框 13">
            <a:extLst>
              <a:ext uri="{FF2B5EF4-FFF2-40B4-BE49-F238E27FC236}">
                <a16:creationId xmlns:a16="http://schemas.microsoft.com/office/drawing/2014/main" id="{C6EDC01F-3D4B-4AE1-B2F9-476BF347D7A5}"/>
              </a:ext>
            </a:extLst>
          </p:cNvPr>
          <p:cNvSpPr txBox="1"/>
          <p:nvPr/>
        </p:nvSpPr>
        <p:spPr>
          <a:xfrm>
            <a:off x="1588" y="4372878"/>
            <a:ext cx="7209692" cy="2308324"/>
          </a:xfrm>
          <a:prstGeom prst="rect">
            <a:avLst/>
          </a:prstGeom>
          <a:solidFill>
            <a:schemeClr val="accent4">
              <a:lumMod val="40000"/>
              <a:lumOff val="60000"/>
            </a:schemeClr>
          </a:solidFill>
          <a:ln>
            <a:noFill/>
          </a:ln>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stStyle>
          <a:p>
            <a:pPr>
              <a:lnSpc>
                <a:spcPct val="100000"/>
              </a:lnSpc>
            </a:pPr>
            <a:r>
              <a:rPr lang="en-US" altLang="zh-CN" dirty="0"/>
              <a:t>class </a:t>
            </a:r>
            <a:r>
              <a:rPr lang="en-US" altLang="zh-CN" dirty="0" err="1"/>
              <a:t>DERIVED:public</a:t>
            </a:r>
            <a:r>
              <a:rPr lang="en-US" altLang="zh-CN" dirty="0"/>
              <a:t> BASE {</a:t>
            </a:r>
          </a:p>
          <a:p>
            <a:pPr>
              <a:lnSpc>
                <a:spcPct val="100000"/>
              </a:lnSpc>
            </a:pPr>
            <a:r>
              <a:rPr lang="en-US" altLang="zh-CN" dirty="0"/>
              <a:t>public: void f1( ) {}//</a:t>
            </a:r>
            <a:r>
              <a:rPr lang="zh-CN" altLang="en-US" dirty="0"/>
              <a:t>虚函数的重定义</a:t>
            </a:r>
            <a:r>
              <a:rPr lang="en-US" altLang="zh-CN" dirty="0"/>
              <a:t>,</a:t>
            </a:r>
            <a:r>
              <a:rPr lang="zh-CN" altLang="en-US" dirty="0"/>
              <a:t>保持虚特性</a:t>
            </a:r>
          </a:p>
          <a:p>
            <a:pPr>
              <a:lnSpc>
                <a:spcPct val="100000"/>
              </a:lnSpc>
            </a:pPr>
            <a:r>
              <a:rPr lang="en-US" altLang="zh-CN" dirty="0"/>
              <a:t>	    void f2( int a ) {}	// </a:t>
            </a:r>
            <a:r>
              <a:rPr lang="zh-CN" altLang="en-US" dirty="0"/>
              <a:t>函数重载</a:t>
            </a:r>
            <a:r>
              <a:rPr lang="en-US" altLang="zh-CN" dirty="0"/>
              <a:t>,</a:t>
            </a:r>
            <a:r>
              <a:rPr lang="zh-CN" altLang="en-US" dirty="0"/>
              <a:t>虚特性丢失</a:t>
            </a:r>
          </a:p>
          <a:p>
            <a:pPr>
              <a:lnSpc>
                <a:spcPct val="100000"/>
              </a:lnSpc>
            </a:pPr>
            <a:r>
              <a:rPr lang="en-US" altLang="zh-CN" dirty="0"/>
              <a:t>	    char f3( ) {}	</a:t>
            </a:r>
            <a:r>
              <a:rPr lang="zh-CN" altLang="en-US" dirty="0"/>
              <a:t> </a:t>
            </a:r>
            <a:r>
              <a:rPr lang="en-US" altLang="zh-CN" dirty="0"/>
              <a:t>//</a:t>
            </a:r>
            <a:r>
              <a:rPr lang="zh-CN" altLang="en-US" dirty="0"/>
              <a:t>编译式出错</a:t>
            </a:r>
          </a:p>
          <a:p>
            <a:pPr>
              <a:lnSpc>
                <a:spcPct val="100000"/>
              </a:lnSpc>
            </a:pPr>
            <a:r>
              <a:rPr lang="en-US" altLang="zh-CN" dirty="0"/>
              <a:t>	    void f ( ) {}	//</a:t>
            </a:r>
            <a:r>
              <a:rPr lang="zh-CN" altLang="en-US" dirty="0"/>
              <a:t>普通函数的重定义</a:t>
            </a:r>
          </a:p>
          <a:p>
            <a:pPr>
              <a:lnSpc>
                <a:spcPct val="100000"/>
              </a:lnSpc>
            </a:pPr>
            <a:r>
              <a:rPr lang="en-US" altLang="zh-CN" dirty="0"/>
              <a:t>};</a:t>
            </a:r>
          </a:p>
        </p:txBody>
      </p:sp>
      <p:sp>
        <p:nvSpPr>
          <p:cNvPr id="15" name="矩形 14">
            <a:extLst>
              <a:ext uri="{FF2B5EF4-FFF2-40B4-BE49-F238E27FC236}">
                <a16:creationId xmlns:a16="http://schemas.microsoft.com/office/drawing/2014/main" id="{1B3056BA-C01D-476A-A27F-73F20AEC6AB0}"/>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6" name="直线连接符 6">
            <a:extLst>
              <a:ext uri="{FF2B5EF4-FFF2-40B4-BE49-F238E27FC236}">
                <a16:creationId xmlns:a16="http://schemas.microsoft.com/office/drawing/2014/main" id="{0B0DB221-AA76-45F4-8E63-3AACE7C4D4AE}"/>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DFA87D6C-A5BD-4311-9BBA-A2F885C8878A}"/>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p>
        </p:txBody>
      </p:sp>
      <p:sp>
        <p:nvSpPr>
          <p:cNvPr id="9" name="Rectangle 2">
            <a:extLst>
              <a:ext uri="{FF2B5EF4-FFF2-40B4-BE49-F238E27FC236}">
                <a16:creationId xmlns:a16="http://schemas.microsoft.com/office/drawing/2014/main" id="{F51D95ED-D4F7-49CF-8C7A-4430252762FD}"/>
              </a:ext>
            </a:extLst>
          </p:cNvPr>
          <p:cNvSpPr txBox="1">
            <a:spLocks noChangeArrowheads="1"/>
          </p:cNvSpPr>
          <p:nvPr/>
        </p:nvSpPr>
        <p:spPr bwMode="auto">
          <a:xfrm>
            <a:off x="7211280" y="4260382"/>
            <a:ext cx="497913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defRPr>
                <a:solidFill>
                  <a:srgbClr val="104E87"/>
                </a:solidFill>
                <a:latin typeface="Comic Sans MS" panose="030F0702030302020204" pitchFamily="66" charset="0"/>
                <a:ea typeface="华光行书_CNKI" panose="02000500000000000000" pitchFamily="2" charset="-122"/>
              </a:defRPr>
            </a:lvl1pPr>
          </a:lstStyle>
          <a:p>
            <a:r>
              <a:rPr lang="en-US" altLang="zh-CN" dirty="0"/>
              <a:t>1)</a:t>
            </a:r>
            <a:r>
              <a:rPr lang="zh-CN" altLang="en-US" dirty="0"/>
              <a:t>基类中声明了虚函数</a:t>
            </a:r>
            <a:r>
              <a:rPr lang="en-US" altLang="zh-CN" dirty="0"/>
              <a:t>,</a:t>
            </a:r>
            <a:r>
              <a:rPr lang="zh-CN" altLang="en-US" dirty="0"/>
              <a:t>在派生类中函数原型保持不变</a:t>
            </a:r>
            <a:r>
              <a:rPr lang="en-US" altLang="zh-CN" dirty="0"/>
              <a:t>,</a:t>
            </a:r>
            <a:r>
              <a:rPr lang="zh-CN" altLang="en-US" dirty="0"/>
              <a:t>虚特性保持。</a:t>
            </a:r>
            <a:endParaRPr lang="en-US" altLang="zh-CN" dirty="0"/>
          </a:p>
          <a:p>
            <a:r>
              <a:rPr lang="en-US" altLang="zh-CN" dirty="0"/>
              <a:t>2)</a:t>
            </a:r>
            <a:r>
              <a:rPr lang="zh-CN" altLang="en-US" dirty="0"/>
              <a:t>如果函数原型不同</a:t>
            </a:r>
            <a:r>
              <a:rPr lang="en-US" altLang="zh-CN" dirty="0"/>
              <a:t>,</a:t>
            </a:r>
            <a:r>
              <a:rPr lang="zh-CN" altLang="en-US" dirty="0"/>
              <a:t>仅函数名相同，这是一般的函数重载</a:t>
            </a:r>
            <a:r>
              <a:rPr lang="en-US" altLang="zh-CN" dirty="0"/>
              <a:t>,</a:t>
            </a:r>
            <a:r>
              <a:rPr lang="zh-CN" altLang="en-US" dirty="0"/>
              <a:t>虚特性丢失</a:t>
            </a:r>
          </a:p>
          <a:p>
            <a:r>
              <a:rPr lang="en-US" altLang="zh-CN" dirty="0"/>
              <a:t>3)</a:t>
            </a:r>
            <a:r>
              <a:rPr lang="zh-CN" altLang="en-US" dirty="0"/>
              <a:t>当派生类没有重新定义虚函数时</a:t>
            </a:r>
            <a:r>
              <a:rPr lang="en-US" altLang="zh-CN" dirty="0"/>
              <a:t>,</a:t>
            </a:r>
            <a:r>
              <a:rPr lang="zh-CN" altLang="en-US" dirty="0"/>
              <a:t>则使用其基类定义的虚函数版本</a:t>
            </a:r>
          </a:p>
        </p:txBody>
      </p:sp>
    </p:spTree>
    <p:extLst>
      <p:ext uri="{BB962C8B-B14F-4D97-AF65-F5344CB8AC3E}">
        <p14:creationId xmlns:p14="http://schemas.microsoft.com/office/powerpoint/2010/main" val="394434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17" dur="500"/>
                                        <p:tgtEl>
                                          <p:spTgt spid="12">
                                            <p:txEl>
                                              <p:pRg st="0" end="0"/>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Effect transition="in" filter="randombar(horizontal)">
                                      <p:cBhvr>
                                        <p:cTn id="20" dur="500"/>
                                        <p:tgtEl>
                                          <p:spTgt spid="12">
                                            <p:txEl>
                                              <p:pRg st="1" end="1"/>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23" dur="500"/>
                                        <p:tgtEl>
                                          <p:spTgt spid="12">
                                            <p:txEl>
                                              <p:pRg st="2" end="2"/>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12">
                                            <p:txEl>
                                              <p:pRg st="3" end="3"/>
                                            </p:txEl>
                                          </p:spTgt>
                                        </p:tgtEl>
                                        <p:attrNameLst>
                                          <p:attrName>style.visibility</p:attrName>
                                        </p:attrNameLst>
                                      </p:cBhvr>
                                      <p:to>
                                        <p:strVal val="visible"/>
                                      </p:to>
                                    </p:set>
                                    <p:animEffect transition="in" filter="randombar(horizontal)">
                                      <p:cBhvr>
                                        <p:cTn id="26" dur="500"/>
                                        <p:tgtEl>
                                          <p:spTgt spid="12">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7" end="7"/>
                                            </p:txEl>
                                          </p:spTgt>
                                        </p:tgtEl>
                                        <p:attrNameLst>
                                          <p:attrName>style.visibility</p:attrName>
                                        </p:attrNameLst>
                                      </p:cBhvr>
                                      <p:to>
                                        <p:strVal val="visible"/>
                                      </p:to>
                                    </p:set>
                                  </p:childTnLst>
                                </p:cTn>
                              </p:par>
                              <p:par>
                                <p:cTn id="43" presetID="16" presetClass="entr" presetSubtype="21" fill="hold" nodeType="withEffect">
                                  <p:stCondLst>
                                    <p:cond delay="0"/>
                                  </p:stCondLst>
                                  <p:childTnLst>
                                    <p:set>
                                      <p:cBhvr>
                                        <p:cTn id="44" dur="1" fill="hold">
                                          <p:stCondLst>
                                            <p:cond delay="0"/>
                                          </p:stCondLst>
                                        </p:cTn>
                                        <p:tgtEl>
                                          <p:spTgt spid="12">
                                            <p:txEl>
                                              <p:pRg st="8" end="8"/>
                                            </p:txEl>
                                          </p:spTgt>
                                        </p:tgtEl>
                                        <p:attrNameLst>
                                          <p:attrName>style.visibility</p:attrName>
                                        </p:attrNameLst>
                                      </p:cBhvr>
                                      <p:to>
                                        <p:strVal val="visible"/>
                                      </p:to>
                                    </p:set>
                                    <p:animEffect transition="in" filter="barn(inVertical)">
                                      <p:cBhvr>
                                        <p:cTn id="45" dur="500"/>
                                        <p:tgtEl>
                                          <p:spTgt spid="12">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9">
                                            <p:txEl>
                                              <p:pRg st="0" end="0"/>
                                            </p:txEl>
                                          </p:spTgt>
                                        </p:tgtEl>
                                        <p:attrNameLst>
                                          <p:attrName>style.visibility</p:attrName>
                                        </p:attrNameLst>
                                      </p:cBhvr>
                                      <p:to>
                                        <p:strVal val="visible"/>
                                      </p:to>
                                    </p:set>
                                    <p:animEffect transition="in" filter="barn(inVertical)">
                                      <p:cBhvr>
                                        <p:cTn id="50" dur="500"/>
                                        <p:tgtEl>
                                          <p:spTgt spid="9">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nodeType="clickEffect">
                                  <p:stCondLst>
                                    <p:cond delay="0"/>
                                  </p:stCondLst>
                                  <p:childTnLst>
                                    <p:set>
                                      <p:cBhvr>
                                        <p:cTn id="54" dur="1" fill="hold">
                                          <p:stCondLst>
                                            <p:cond delay="0"/>
                                          </p:stCondLst>
                                        </p:cTn>
                                        <p:tgtEl>
                                          <p:spTgt spid="9">
                                            <p:txEl>
                                              <p:pRg st="1" end="1"/>
                                            </p:txEl>
                                          </p:spTgt>
                                        </p:tgtEl>
                                        <p:attrNameLst>
                                          <p:attrName>style.visibility</p:attrName>
                                        </p:attrNameLst>
                                      </p:cBhvr>
                                      <p:to>
                                        <p:strVal val="visible"/>
                                      </p:to>
                                    </p:set>
                                    <p:animEffect transition="in" filter="barn(inVertical)">
                                      <p:cBhvr>
                                        <p:cTn id="55" dur="500"/>
                                        <p:tgtEl>
                                          <p:spTgt spid="9">
                                            <p:txEl>
                                              <p:pRg st="1" end="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9">
                                            <p:txEl>
                                              <p:pRg st="2" end="2"/>
                                            </p:txEl>
                                          </p:spTgt>
                                        </p:tgtEl>
                                        <p:attrNameLst>
                                          <p:attrName>style.visibility</p:attrName>
                                        </p:attrNameLst>
                                      </p:cBhvr>
                                      <p:to>
                                        <p:strVal val="visible"/>
                                      </p:to>
                                    </p:set>
                                    <p:animEffect transition="in" filter="fade">
                                      <p:cBhvr>
                                        <p:cTn id="60" dur="1000"/>
                                        <p:tgtEl>
                                          <p:spTgt spid="9">
                                            <p:txEl>
                                              <p:pRg st="2" end="2"/>
                                            </p:txEl>
                                          </p:spTgt>
                                        </p:tgtEl>
                                      </p:cBhvr>
                                    </p:animEffect>
                                    <p:anim calcmode="lin" valueType="num">
                                      <p:cBhvr>
                                        <p:cTn id="61"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62"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E9AAD4E-16AF-4C78-B439-0F741AE544B7}"/>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3" name="直线连接符 6">
            <a:extLst>
              <a:ext uri="{FF2B5EF4-FFF2-40B4-BE49-F238E27FC236}">
                <a16:creationId xmlns:a16="http://schemas.microsoft.com/office/drawing/2014/main" id="{50ACEA20-6BBE-451F-87FB-86AD3E55923A}"/>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4" name="文本框 3">
            <a:extLst>
              <a:ext uri="{FF2B5EF4-FFF2-40B4-BE49-F238E27FC236}">
                <a16:creationId xmlns:a16="http://schemas.microsoft.com/office/drawing/2014/main" id="{300595CC-5E9E-40E5-A2F9-66B6441006DD}"/>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r>
              <a:rPr lang="en-US" altLang="zh-CN" dirty="0">
                <a:sym typeface="+mn-lt"/>
              </a:rPr>
              <a:t>——</a:t>
            </a:r>
            <a:r>
              <a:rPr lang="zh-CN" altLang="en-US" dirty="0"/>
              <a:t>虚析构函数</a:t>
            </a:r>
            <a:endParaRPr lang="zh-CN" altLang="en-US" dirty="0">
              <a:sym typeface="+mn-lt"/>
            </a:endParaRPr>
          </a:p>
        </p:txBody>
      </p:sp>
      <p:pic>
        <p:nvPicPr>
          <p:cNvPr id="7" name="图片 6">
            <a:extLst>
              <a:ext uri="{FF2B5EF4-FFF2-40B4-BE49-F238E27FC236}">
                <a16:creationId xmlns:a16="http://schemas.microsoft.com/office/drawing/2014/main" id="{F57A2578-6DD0-479A-9553-E80E48C02A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3373"/>
            <a:ext cx="5744124" cy="1111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033EE404-2DBA-4498-A4A3-F1C692898E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61391"/>
            <a:ext cx="5745712" cy="243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F1C186ED-72C4-42EC-9D53-3B2B96FB7F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5999" y="176798"/>
            <a:ext cx="32337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8">
            <a:extLst>
              <a:ext uri="{FF2B5EF4-FFF2-40B4-BE49-F238E27FC236}">
                <a16:creationId xmlns:a16="http://schemas.microsoft.com/office/drawing/2014/main" id="{39DA91B6-DA67-4FD3-B4FA-B3C84BA1DAEB}"/>
              </a:ext>
            </a:extLst>
          </p:cNvPr>
          <p:cNvSpPr>
            <a:spLocks noChangeArrowheads="1"/>
          </p:cNvSpPr>
          <p:nvPr/>
        </p:nvSpPr>
        <p:spPr bwMode="auto">
          <a:xfrm>
            <a:off x="6886668" y="2571276"/>
            <a:ext cx="420052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dirty="0">
                <a:solidFill>
                  <a:srgbClr val="FF0000"/>
                </a:solidFill>
                <a:latin typeface="华光行书_CNKI" panose="02000500000000000000" pitchFamily="2" charset="-122"/>
                <a:ea typeface="华光行书_CNKI" panose="02000500000000000000" pitchFamily="2" charset="-122"/>
              </a:rPr>
              <a:t>派生类析构函数没被执行</a:t>
            </a:r>
          </a:p>
        </p:txBody>
      </p:sp>
      <p:sp>
        <p:nvSpPr>
          <p:cNvPr id="16" name="文本框 15">
            <a:extLst>
              <a:ext uri="{FF2B5EF4-FFF2-40B4-BE49-F238E27FC236}">
                <a16:creationId xmlns:a16="http://schemas.microsoft.com/office/drawing/2014/main" id="{858C382D-8B48-4254-B5D8-1127D422DFF4}"/>
              </a:ext>
            </a:extLst>
          </p:cNvPr>
          <p:cNvSpPr txBox="1"/>
          <p:nvPr/>
        </p:nvSpPr>
        <p:spPr>
          <a:xfrm>
            <a:off x="6811661" y="3216235"/>
            <a:ext cx="49801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defRPr b="1">
                <a:solidFill>
                  <a:srgbClr val="FF0000"/>
                </a:solidFill>
                <a:latin typeface="华光行书_CNKI" panose="02000500000000000000" pitchFamily="2" charset="-122"/>
                <a:ea typeface="华光行书_CNKI" panose="02000500000000000000"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pPr>
              <a:lnSpc>
                <a:spcPct val="100000"/>
              </a:lnSpc>
            </a:pPr>
            <a:r>
              <a:rPr lang="zh-CN" altLang="en-US" dirty="0"/>
              <a:t>通过基类的指针删除派生类对象时</a:t>
            </a:r>
            <a:r>
              <a:rPr lang="en-US" altLang="zh-CN" dirty="0"/>
              <a:t>,</a:t>
            </a:r>
            <a:r>
              <a:rPr lang="zh-CN" altLang="en-US" dirty="0"/>
              <a:t> 只调用基类的析构函数。</a:t>
            </a:r>
          </a:p>
        </p:txBody>
      </p:sp>
      <p:pic>
        <p:nvPicPr>
          <p:cNvPr id="15" name="图片 14">
            <a:extLst>
              <a:ext uri="{FF2B5EF4-FFF2-40B4-BE49-F238E27FC236}">
                <a16:creationId xmlns:a16="http://schemas.microsoft.com/office/drawing/2014/main" id="{6DDD80AC-CBB7-42D4-8EB3-7E4BF4AACCB4}"/>
              </a:ext>
            </a:extLst>
          </p:cNvPr>
          <p:cNvPicPr>
            <a:picLocks noChangeAspect="1"/>
          </p:cNvPicPr>
          <p:nvPr/>
        </p:nvPicPr>
        <p:blipFill>
          <a:blip r:embed="rId6"/>
          <a:stretch>
            <a:fillRect/>
          </a:stretch>
        </p:blipFill>
        <p:spPr>
          <a:xfrm>
            <a:off x="6095999" y="1178317"/>
            <a:ext cx="3702903" cy="1314294"/>
          </a:xfrm>
          <a:prstGeom prst="rect">
            <a:avLst/>
          </a:prstGeom>
        </p:spPr>
      </p:pic>
      <p:sp>
        <p:nvSpPr>
          <p:cNvPr id="5" name="Rectangle 2">
            <a:extLst>
              <a:ext uri="{FF2B5EF4-FFF2-40B4-BE49-F238E27FC236}">
                <a16:creationId xmlns:a16="http://schemas.microsoft.com/office/drawing/2014/main" id="{371B2DF2-8632-655A-7E0B-9DB3EAB26A29}"/>
              </a:ext>
            </a:extLst>
          </p:cNvPr>
          <p:cNvSpPr txBox="1">
            <a:spLocks noChangeArrowheads="1"/>
          </p:cNvSpPr>
          <p:nvPr/>
        </p:nvSpPr>
        <p:spPr bwMode="auto">
          <a:xfrm>
            <a:off x="13283" y="944759"/>
            <a:ext cx="4244716" cy="461665"/>
          </a:xfrm>
          <a:prstGeom prst="rect">
            <a:avLst/>
          </a:prstGeom>
          <a:noFill/>
          <a:ln>
            <a:noFill/>
          </a:ln>
        </p:spPr>
        <p:txBody>
          <a:bodyPr wrap="square">
            <a:spAutoFit/>
          </a:bodyPr>
          <a:lstStyle>
            <a:defPPr>
              <a:defRPr lang="en-US"/>
            </a:defPPr>
            <a:lvl1pPr marL="342900" indent="-342900" defTabSz="622300">
              <a:spcBef>
                <a:spcPct val="50000"/>
              </a:spcBef>
              <a:buClrTx/>
              <a:buSzTx/>
              <a:buFont typeface="Wingdings" pitchFamily="2" charset="2"/>
              <a:buBlip>
                <a:blip r:embed="rId7"/>
              </a:buBlip>
              <a:defRPr>
                <a:solidFill>
                  <a:srgbClr val="134F85"/>
                </a:solidFill>
                <a:latin typeface="华光行书_CNKI" panose="02000500000000000000" pitchFamily="2" charset="-122"/>
                <a:ea typeface="华光行书_CNKI" panose="02000500000000000000" pitchFamily="2"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a:spcBef>
                <a:spcPts val="600"/>
              </a:spcBef>
            </a:pPr>
            <a:r>
              <a:rPr lang="zh-CN" altLang="en-US" b="1" dirty="0">
                <a:solidFill>
                  <a:srgbClr val="FF0000"/>
                </a:solidFill>
              </a:rPr>
              <a:t>一个不太合理的现象</a:t>
            </a:r>
          </a:p>
        </p:txBody>
      </p:sp>
    </p:spTree>
    <p:extLst>
      <p:ext uri="{BB962C8B-B14F-4D97-AF65-F5344CB8AC3E}">
        <p14:creationId xmlns:p14="http://schemas.microsoft.com/office/powerpoint/2010/main" val="46993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1"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E9AAD4E-16AF-4C78-B439-0F741AE544B7}"/>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3" name="直线连接符 6">
            <a:extLst>
              <a:ext uri="{FF2B5EF4-FFF2-40B4-BE49-F238E27FC236}">
                <a16:creationId xmlns:a16="http://schemas.microsoft.com/office/drawing/2014/main" id="{50ACEA20-6BBE-451F-87FB-86AD3E55923A}"/>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4" name="文本框 3">
            <a:extLst>
              <a:ext uri="{FF2B5EF4-FFF2-40B4-BE49-F238E27FC236}">
                <a16:creationId xmlns:a16="http://schemas.microsoft.com/office/drawing/2014/main" id="{300595CC-5E9E-40E5-A2F9-66B6441006DD}"/>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10.3 </a:t>
            </a:r>
            <a:r>
              <a:rPr lang="zh-CN" altLang="en-US" dirty="0">
                <a:sym typeface="+mn-lt"/>
              </a:rPr>
              <a:t>虚函数</a:t>
            </a:r>
            <a:r>
              <a:rPr lang="en-US" altLang="zh-CN" dirty="0">
                <a:sym typeface="+mn-lt"/>
              </a:rPr>
              <a:t>——</a:t>
            </a:r>
            <a:r>
              <a:rPr lang="zh-CN" altLang="en-US" dirty="0"/>
              <a:t>虚析构函数</a:t>
            </a:r>
            <a:endParaRPr lang="zh-CN" altLang="en-US" dirty="0">
              <a:sym typeface="+mn-lt"/>
            </a:endParaRPr>
          </a:p>
        </p:txBody>
      </p:sp>
      <p:sp>
        <p:nvSpPr>
          <p:cNvPr id="5" name="矩形 4">
            <a:extLst>
              <a:ext uri="{FF2B5EF4-FFF2-40B4-BE49-F238E27FC236}">
                <a16:creationId xmlns:a16="http://schemas.microsoft.com/office/drawing/2014/main" id="{9ABBB359-80D0-4D10-BA46-992D14EB2F50}"/>
              </a:ext>
            </a:extLst>
          </p:cNvPr>
          <p:cNvSpPr>
            <a:spLocks noChangeArrowheads="1"/>
          </p:cNvSpPr>
          <p:nvPr/>
        </p:nvSpPr>
        <p:spPr bwMode="auto">
          <a:xfrm>
            <a:off x="-15323" y="976600"/>
            <a:ext cx="6370086" cy="830997"/>
          </a:xfrm>
          <a:prstGeom prst="rect">
            <a:avLst/>
          </a:prstGeom>
        </p:spPr>
        <p:txBody>
          <a:bodyPr wrap="square">
            <a:spAutoFit/>
          </a:bodyPr>
          <a:lstStyle/>
          <a:p>
            <a:r>
              <a:rPr lang="zh-CN" altLang="en-US" b="1" dirty="0">
                <a:solidFill>
                  <a:srgbClr val="FF0000"/>
                </a:solidFill>
                <a:latin typeface="华光行书_CNKI" panose="02000500000000000000" pitchFamily="2" charset="-122"/>
                <a:ea typeface="华光行书_CNKI" panose="02000500000000000000" pitchFamily="2" charset="-122"/>
              </a:rPr>
              <a:t>务必将基类析构函数声明为虚函数，</a:t>
            </a:r>
            <a:r>
              <a:rPr lang="zh-CN" altLang="en-US" b="1" dirty="0">
                <a:solidFill>
                  <a:srgbClr val="104E87"/>
                </a:solidFill>
                <a:latin typeface="华光行书_CNKI" panose="02000500000000000000" pitchFamily="2" charset="-122"/>
                <a:ea typeface="华光行书_CNKI" panose="02000500000000000000" pitchFamily="2" charset="-122"/>
              </a:rPr>
              <a:t>避免派生类实例未被妥善销毁的情况发生。</a:t>
            </a:r>
          </a:p>
        </p:txBody>
      </p:sp>
      <p:pic>
        <p:nvPicPr>
          <p:cNvPr id="8" name="图片 7">
            <a:extLst>
              <a:ext uri="{FF2B5EF4-FFF2-40B4-BE49-F238E27FC236}">
                <a16:creationId xmlns:a16="http://schemas.microsoft.com/office/drawing/2014/main" id="{033EE404-2DBA-4498-A4A3-F1C692898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23" y="2982558"/>
            <a:ext cx="5745712" cy="243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B044EE11-8BC6-436F-B901-EF2119E3D1AD}"/>
              </a:ext>
            </a:extLst>
          </p:cNvPr>
          <p:cNvSpPr/>
          <p:nvPr/>
        </p:nvSpPr>
        <p:spPr>
          <a:xfrm>
            <a:off x="7132237" y="2596107"/>
            <a:ext cx="4980108" cy="461665"/>
          </a:xfrm>
          <a:prstGeom prst="rect">
            <a:avLst/>
          </a:prstGeom>
        </p:spPr>
        <p:txBody>
          <a:bodyPr wrap="square">
            <a:spAutoFit/>
          </a:bodyPr>
          <a:lstStyle/>
          <a:p>
            <a:pPr eaLnBrk="1" hangingPunct="1">
              <a:defRPr/>
            </a:pPr>
            <a:r>
              <a:rPr lang="zh-CN" altLang="en-US" b="1" dirty="0">
                <a:solidFill>
                  <a:srgbClr val="FF0000"/>
                </a:solidFill>
                <a:latin typeface="华光行书_CNKI" panose="02000500000000000000" pitchFamily="2" charset="-122"/>
                <a:ea typeface="华光行书_CNKI" panose="02000500000000000000" pitchFamily="2" charset="-122"/>
              </a:rPr>
              <a:t>通过基类指针删除派生类对象</a:t>
            </a:r>
          </a:p>
        </p:txBody>
      </p:sp>
      <p:pic>
        <p:nvPicPr>
          <p:cNvPr id="13" name="图片 6">
            <a:extLst>
              <a:ext uri="{FF2B5EF4-FFF2-40B4-BE49-F238E27FC236}">
                <a16:creationId xmlns:a16="http://schemas.microsoft.com/office/drawing/2014/main" id="{C585125F-4F47-4CFB-BE2B-C56860A3D3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23" y="1774491"/>
            <a:ext cx="6370086" cy="1155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a:extLst>
              <a:ext uri="{FF2B5EF4-FFF2-40B4-BE49-F238E27FC236}">
                <a16:creationId xmlns:a16="http://schemas.microsoft.com/office/drawing/2014/main" id="{470B158F-AA14-46B9-9748-7AB2002D3F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2237" y="-17400"/>
            <a:ext cx="403225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a:extLst>
              <a:ext uri="{FF2B5EF4-FFF2-40B4-BE49-F238E27FC236}">
                <a16:creationId xmlns:a16="http://schemas.microsoft.com/office/drawing/2014/main" id="{E518A8E7-019C-4149-BA31-700477FD18EE}"/>
              </a:ext>
            </a:extLst>
          </p:cNvPr>
          <p:cNvSpPr/>
          <p:nvPr/>
        </p:nvSpPr>
        <p:spPr>
          <a:xfrm>
            <a:off x="5885304" y="3150011"/>
            <a:ext cx="6305107" cy="830997"/>
          </a:xfrm>
          <a:prstGeom prst="rect">
            <a:avLst/>
          </a:prstGeom>
        </p:spPr>
        <p:txBody>
          <a:bodyPr wrap="square">
            <a:spAutoFit/>
          </a:bodyPr>
          <a:lstStyle/>
          <a:p>
            <a:r>
              <a:rPr lang="zh-CN" altLang="en-US" dirty="0">
                <a:solidFill>
                  <a:srgbClr val="104E87"/>
                </a:solidFill>
                <a:latin typeface="华光行书_CNKI" panose="02000500000000000000" pitchFamily="2" charset="-122"/>
                <a:ea typeface="华光行书_CNKI" panose="02000500000000000000" pitchFamily="2" charset="-122"/>
              </a:rPr>
              <a:t>通过基类指针删除派生类对象，就需要让基类的析构函数成为虚函数</a:t>
            </a:r>
          </a:p>
        </p:txBody>
      </p:sp>
      <p:sp>
        <p:nvSpPr>
          <p:cNvPr id="20" name="矩形 5">
            <a:extLst>
              <a:ext uri="{FF2B5EF4-FFF2-40B4-BE49-F238E27FC236}">
                <a16:creationId xmlns:a16="http://schemas.microsoft.com/office/drawing/2014/main" id="{89EE36F1-E174-4356-8864-95B1494CDF53}"/>
              </a:ext>
            </a:extLst>
          </p:cNvPr>
          <p:cNvSpPr>
            <a:spLocks noChangeArrowheads="1"/>
          </p:cNvSpPr>
          <p:nvPr/>
        </p:nvSpPr>
        <p:spPr bwMode="auto">
          <a:xfrm>
            <a:off x="6010426" y="4051892"/>
            <a:ext cx="595091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Wingdings" panose="05000000000000000000" pitchFamily="2" charset="2"/>
              <a:buChar char="l"/>
            </a:pPr>
            <a:r>
              <a:rPr lang="zh-CN" altLang="en-US" spc="-100" dirty="0">
                <a:solidFill>
                  <a:srgbClr val="104E87"/>
                </a:solidFill>
                <a:latin typeface="华光行书_CNKI" panose="02000500000000000000" pitchFamily="2" charset="-122"/>
                <a:ea typeface="华光行书_CNKI" panose="02000500000000000000" pitchFamily="2" charset="-122"/>
              </a:rPr>
              <a:t>如果基类析构函数是虚函数</a:t>
            </a:r>
            <a:r>
              <a:rPr lang="en-US" altLang="zh-CN" spc="-100" dirty="0">
                <a:solidFill>
                  <a:srgbClr val="104E87"/>
                </a:solidFill>
                <a:latin typeface="华光行书_CNKI" panose="02000500000000000000" pitchFamily="2" charset="-122"/>
                <a:ea typeface="华光行书_CNKI" panose="02000500000000000000" pitchFamily="2" charset="-122"/>
              </a:rPr>
              <a:t>,</a:t>
            </a:r>
            <a:r>
              <a:rPr lang="zh-CN" altLang="en-US" spc="-100" dirty="0">
                <a:solidFill>
                  <a:srgbClr val="104E87"/>
                </a:solidFill>
                <a:latin typeface="华光行书_CNKI" panose="02000500000000000000" pitchFamily="2" charset="-122"/>
                <a:ea typeface="华光行书_CNKI" panose="02000500000000000000" pitchFamily="2" charset="-122"/>
              </a:rPr>
              <a:t>触发动态绑定</a:t>
            </a:r>
            <a:r>
              <a:rPr lang="en-US" altLang="zh-CN" spc="-100" dirty="0">
                <a:solidFill>
                  <a:srgbClr val="104E87"/>
                </a:solidFill>
                <a:latin typeface="华光行书_CNKI" panose="02000500000000000000" pitchFamily="2" charset="-122"/>
                <a:ea typeface="华光行书_CNKI" panose="02000500000000000000" pitchFamily="2" charset="-122"/>
              </a:rPr>
              <a:t>,</a:t>
            </a:r>
            <a:r>
              <a:rPr lang="zh-CN" altLang="en-US" spc="-100" dirty="0">
                <a:solidFill>
                  <a:srgbClr val="104E87"/>
                </a:solidFill>
                <a:latin typeface="华光行书_CNKI" panose="02000500000000000000" pitchFamily="2" charset="-122"/>
                <a:ea typeface="华光行书_CNKI" panose="02000500000000000000" pitchFamily="2" charset="-122"/>
              </a:rPr>
              <a:t>会调用派生类析构函数</a:t>
            </a:r>
          </a:p>
        </p:txBody>
      </p:sp>
      <p:sp>
        <p:nvSpPr>
          <p:cNvPr id="21" name="矩形 6">
            <a:extLst>
              <a:ext uri="{FF2B5EF4-FFF2-40B4-BE49-F238E27FC236}">
                <a16:creationId xmlns:a16="http://schemas.microsoft.com/office/drawing/2014/main" id="{5415B77D-107B-4A8E-A50D-5B261262B516}"/>
              </a:ext>
            </a:extLst>
          </p:cNvPr>
          <p:cNvSpPr>
            <a:spLocks noChangeArrowheads="1"/>
          </p:cNvSpPr>
          <p:nvPr/>
        </p:nvSpPr>
        <p:spPr bwMode="auto">
          <a:xfrm>
            <a:off x="6010426" y="4955469"/>
            <a:ext cx="595091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Wingdings" panose="05000000000000000000" pitchFamily="2" charset="2"/>
              <a:buChar char="l"/>
            </a:pPr>
            <a:r>
              <a:rPr lang="zh-CN" altLang="en-US" spc="-100" dirty="0">
                <a:solidFill>
                  <a:srgbClr val="104E87"/>
                </a:solidFill>
                <a:latin typeface="华光行书_CNKI" panose="02000500000000000000" pitchFamily="2" charset="-122"/>
                <a:ea typeface="华光行书_CNKI" panose="02000500000000000000" pitchFamily="2" charset="-122"/>
              </a:rPr>
              <a:t>调派生类析构函数时会自动调父类的析构函数</a:t>
            </a:r>
          </a:p>
        </p:txBody>
      </p:sp>
      <p:pic>
        <p:nvPicPr>
          <p:cNvPr id="15" name="图片 14">
            <a:extLst>
              <a:ext uri="{FF2B5EF4-FFF2-40B4-BE49-F238E27FC236}">
                <a16:creationId xmlns:a16="http://schemas.microsoft.com/office/drawing/2014/main" id="{6DDD80AC-CBB7-42D4-8EB3-7E4BF4AACCB4}"/>
              </a:ext>
            </a:extLst>
          </p:cNvPr>
          <p:cNvPicPr>
            <a:picLocks noChangeAspect="1"/>
          </p:cNvPicPr>
          <p:nvPr/>
        </p:nvPicPr>
        <p:blipFill>
          <a:blip r:embed="rId6"/>
          <a:stretch>
            <a:fillRect/>
          </a:stretch>
        </p:blipFill>
        <p:spPr>
          <a:xfrm>
            <a:off x="6814795" y="1202652"/>
            <a:ext cx="3702903" cy="1314294"/>
          </a:xfrm>
          <a:prstGeom prst="rect">
            <a:avLst/>
          </a:prstGeom>
        </p:spPr>
      </p:pic>
    </p:spTree>
    <p:extLst>
      <p:ext uri="{BB962C8B-B14F-4D97-AF65-F5344CB8AC3E}">
        <p14:creationId xmlns:p14="http://schemas.microsoft.com/office/powerpoint/2010/main" val="82189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randombar(horizont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randombar(horizontal)">
                                      <p:cBhvr>
                                        <p:cTn id="33" dur="500"/>
                                        <p:tgtEl>
                                          <p:spTgt spid="19"/>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randombar(horizontal)">
                                      <p:cBhvr>
                                        <p:cTn id="36" dur="500"/>
                                        <p:tgtEl>
                                          <p:spTgt spid="20"/>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randombar(horizontal)">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barn(inVertical)">
                                      <p:cBhvr>
                                        <p:cTn id="4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9" grpId="0"/>
      <p:bldP spid="20" grpId="0"/>
      <p:bldP spid="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885096C1-9D83-421D-9A4F-6A2A1F06FB2C}"/>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a:extLst>
              <a:ext uri="{FF2B5EF4-FFF2-40B4-BE49-F238E27FC236}">
                <a16:creationId xmlns:a16="http://schemas.microsoft.com/office/drawing/2014/main" id="{720C96F3-DF95-4147-843A-D72F3C80E707}"/>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A7F2A6F5-5731-4A98-B160-5DF8E1CC6D7C}"/>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10.4 </a:t>
            </a:r>
            <a:r>
              <a:rPr lang="zh-CN" altLang="en-US" dirty="0">
                <a:sym typeface="+mn-lt"/>
              </a:rPr>
              <a:t>抽象类</a:t>
            </a:r>
            <a:r>
              <a:rPr lang="en-US" altLang="zh-CN" dirty="0">
                <a:sym typeface="+mn-lt"/>
              </a:rPr>
              <a:t>——</a:t>
            </a:r>
            <a:r>
              <a:rPr lang="zh-CN" altLang="en-US" dirty="0">
                <a:sym typeface="+mn-lt"/>
              </a:rPr>
              <a:t>纯虚函数</a:t>
            </a:r>
          </a:p>
        </p:txBody>
      </p:sp>
      <p:sp>
        <p:nvSpPr>
          <p:cNvPr id="10" name="Rectangle 2">
            <a:extLst>
              <a:ext uri="{FF2B5EF4-FFF2-40B4-BE49-F238E27FC236}">
                <a16:creationId xmlns:a16="http://schemas.microsoft.com/office/drawing/2014/main" id="{56FBBF35-C369-4B7B-BB13-E2C703F48BFF}"/>
              </a:ext>
            </a:extLst>
          </p:cNvPr>
          <p:cNvSpPr>
            <a:spLocks noChangeArrowheads="1"/>
          </p:cNvSpPr>
          <p:nvPr/>
        </p:nvSpPr>
        <p:spPr bwMode="auto">
          <a:xfrm>
            <a:off x="179387" y="1238977"/>
            <a:ext cx="12011819" cy="2246769"/>
          </a:xfrm>
          <a:prstGeom prst="rect">
            <a:avLst/>
          </a:prstGeom>
          <a:noFill/>
          <a:ln>
            <a:no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spcBef>
                <a:spcPts val="0"/>
              </a:spcBef>
              <a:buClr>
                <a:schemeClr val="tx2"/>
              </a:buClr>
              <a:buSzPct val="65000"/>
              <a:buFontTx/>
              <a:buNone/>
              <a:defRPr/>
            </a:pPr>
            <a:r>
              <a:rPr lang="zh-CN" altLang="en-US" sz="2800" b="1" dirty="0">
                <a:solidFill>
                  <a:srgbClr val="FF0000"/>
                </a:solidFill>
                <a:latin typeface="华光行书_CNKI" panose="02000500000000000000" pitchFamily="2" charset="-122"/>
                <a:ea typeface="华光行书_CNKI" panose="02000500000000000000" pitchFamily="2" charset="-122"/>
              </a:rPr>
              <a:t>纯虚函数</a:t>
            </a:r>
            <a:r>
              <a:rPr lang="zh-CN" altLang="en-US" sz="2800" b="1" dirty="0">
                <a:solidFill>
                  <a:srgbClr val="104E87"/>
                </a:solidFill>
                <a:latin typeface="华光行书_CNKI" panose="02000500000000000000" pitchFamily="2" charset="-122"/>
                <a:ea typeface="华光行书_CNKI" panose="02000500000000000000" pitchFamily="2" charset="-122"/>
              </a:rPr>
              <a:t>：</a:t>
            </a:r>
            <a:r>
              <a:rPr lang="zh-CN" altLang="en-US" sz="2800" dirty="0">
                <a:solidFill>
                  <a:srgbClr val="104E87"/>
                </a:solidFill>
                <a:latin typeface="华光行书_CNKI" panose="02000500000000000000" pitchFamily="2" charset="-122"/>
                <a:ea typeface="华光行书_CNKI" panose="02000500000000000000" pitchFamily="2" charset="-122"/>
              </a:rPr>
              <a:t>在基类中声明的虚函数，但在基类中</a:t>
            </a:r>
            <a:r>
              <a:rPr lang="zh-CN" altLang="en-US" sz="2800" dirty="0">
                <a:solidFill>
                  <a:srgbClr val="FF0000"/>
                </a:solidFill>
                <a:latin typeface="华光行书_CNKI" panose="02000500000000000000" pitchFamily="2" charset="-122"/>
                <a:ea typeface="华光行书_CNKI" panose="02000500000000000000" pitchFamily="2" charset="-122"/>
              </a:rPr>
              <a:t>没有定义函数体</a:t>
            </a:r>
            <a:r>
              <a:rPr lang="zh-CN" altLang="en-US" sz="2800" dirty="0">
                <a:solidFill>
                  <a:srgbClr val="104E87"/>
                </a:solidFill>
                <a:latin typeface="华光行书_CNKI" panose="02000500000000000000" pitchFamily="2" charset="-122"/>
                <a:ea typeface="华光行书_CNKI" panose="02000500000000000000" pitchFamily="2" charset="-122"/>
              </a:rPr>
              <a:t>，要求任何派生类都必须定义自己的版本。</a:t>
            </a:r>
            <a:endParaRPr lang="en-US" altLang="zh-CN" sz="2800" dirty="0">
              <a:solidFill>
                <a:srgbClr val="104E87"/>
              </a:solidFill>
              <a:latin typeface="华光行书_CNKI" panose="02000500000000000000" pitchFamily="2" charset="-122"/>
              <a:ea typeface="华光行书_CNKI" panose="02000500000000000000" pitchFamily="2" charset="-122"/>
            </a:endParaRPr>
          </a:p>
          <a:p>
            <a:pPr eaLnBrk="1" hangingPunct="1">
              <a:spcBef>
                <a:spcPts val="0"/>
              </a:spcBef>
              <a:buClr>
                <a:schemeClr val="tx2"/>
              </a:buClr>
              <a:buSzPct val="65000"/>
              <a:buFontTx/>
              <a:buNone/>
              <a:defRPr/>
            </a:pPr>
            <a:r>
              <a:rPr lang="zh-CN" altLang="en-US" sz="2800" b="1" dirty="0">
                <a:solidFill>
                  <a:srgbClr val="FF0000"/>
                </a:solidFill>
                <a:latin typeface="华光行书_CNKI" panose="02000500000000000000" pitchFamily="2" charset="-122"/>
                <a:ea typeface="华光行书_CNKI" panose="02000500000000000000" pitchFamily="2" charset="-122"/>
              </a:rPr>
              <a:t>纯虚函数作用</a:t>
            </a:r>
            <a:r>
              <a:rPr lang="en-US" altLang="zh-CN" sz="2800" dirty="0">
                <a:solidFill>
                  <a:srgbClr val="104E87"/>
                </a:solidFill>
                <a:latin typeface="华光行书_CNKI" panose="02000500000000000000" pitchFamily="2" charset="-122"/>
                <a:ea typeface="华光行书_CNKI" panose="02000500000000000000" pitchFamily="2" charset="-122"/>
              </a:rPr>
              <a:t>:</a:t>
            </a:r>
            <a:r>
              <a:rPr lang="zh-CN" altLang="en-US" sz="2800" dirty="0">
                <a:solidFill>
                  <a:srgbClr val="104E87"/>
                </a:solidFill>
                <a:latin typeface="华光行书_CNKI" panose="02000500000000000000" pitchFamily="2" charset="-122"/>
                <a:ea typeface="华光行书_CNKI" panose="02000500000000000000" pitchFamily="2" charset="-122"/>
              </a:rPr>
              <a:t>在基类中为其派生类保留一个函数的名字，以便派生类根据需要对它进行定义。</a:t>
            </a:r>
            <a:endParaRPr lang="en-US" altLang="zh-CN" sz="2800" dirty="0">
              <a:solidFill>
                <a:srgbClr val="104E87"/>
              </a:solidFill>
              <a:latin typeface="华光行书_CNKI" panose="02000500000000000000" pitchFamily="2" charset="-122"/>
              <a:ea typeface="华光行书_CNKI" panose="02000500000000000000" pitchFamily="2" charset="-122"/>
            </a:endParaRPr>
          </a:p>
          <a:p>
            <a:pPr eaLnBrk="1" hangingPunct="1">
              <a:spcBef>
                <a:spcPts val="0"/>
              </a:spcBef>
              <a:buClr>
                <a:schemeClr val="tx2"/>
              </a:buClr>
              <a:buSzPct val="65000"/>
              <a:buFontTx/>
              <a:buNone/>
              <a:defRPr/>
            </a:pPr>
            <a:r>
              <a:rPr lang="zh-CN" altLang="en-US" sz="2800" dirty="0">
                <a:solidFill>
                  <a:srgbClr val="104E87"/>
                </a:solidFill>
                <a:latin typeface="华光行书_CNKI" panose="02000500000000000000" pitchFamily="2" charset="-122"/>
                <a:ea typeface="华光行书_CNKI" panose="02000500000000000000" pitchFamily="2" charset="-122"/>
              </a:rPr>
              <a:t>一般形式：</a:t>
            </a:r>
            <a:r>
              <a:rPr lang="en-US" altLang="zh-CN" sz="2800" dirty="0">
                <a:solidFill>
                  <a:srgbClr val="104E87"/>
                </a:solidFill>
                <a:latin typeface="华光行书_CNKI" panose="02000500000000000000" pitchFamily="2" charset="-122"/>
                <a:ea typeface="华光行书_CNKI" panose="02000500000000000000" pitchFamily="2" charset="-122"/>
              </a:rPr>
              <a:t>virtual </a:t>
            </a:r>
            <a:r>
              <a:rPr lang="zh-CN" altLang="en-US" sz="2800" dirty="0">
                <a:solidFill>
                  <a:srgbClr val="104E87"/>
                </a:solidFill>
                <a:latin typeface="华光行书_CNKI" panose="02000500000000000000" pitchFamily="2" charset="-122"/>
                <a:ea typeface="华光行书_CNKI" panose="02000500000000000000" pitchFamily="2" charset="-122"/>
              </a:rPr>
              <a:t>函数类型 函数名称（参数表）</a:t>
            </a:r>
            <a:r>
              <a:rPr lang="zh-CN" altLang="en-US" sz="2800" dirty="0">
                <a:solidFill>
                  <a:srgbClr val="FF0000"/>
                </a:solidFill>
                <a:latin typeface="华光行书_CNKI" panose="02000500000000000000" pitchFamily="2" charset="-122"/>
                <a:ea typeface="华光行书_CNKI" panose="02000500000000000000" pitchFamily="2" charset="-122"/>
              </a:rPr>
              <a:t>=0</a:t>
            </a:r>
            <a:r>
              <a:rPr lang="zh-CN" altLang="en-US" sz="2800" dirty="0">
                <a:solidFill>
                  <a:schemeClr val="tx2"/>
                </a:solidFill>
                <a:latin typeface="华光行书_CNKI" panose="02000500000000000000" pitchFamily="2" charset="-122"/>
                <a:ea typeface="华光行书_CNKI" panose="02000500000000000000" pitchFamily="2" charset="-122"/>
              </a:rPr>
              <a:t>；</a:t>
            </a:r>
          </a:p>
        </p:txBody>
      </p:sp>
      <p:sp>
        <p:nvSpPr>
          <p:cNvPr id="11" name="Rectangle 2">
            <a:extLst>
              <a:ext uri="{FF2B5EF4-FFF2-40B4-BE49-F238E27FC236}">
                <a16:creationId xmlns:a16="http://schemas.microsoft.com/office/drawing/2014/main" id="{0CCD79A8-B82D-401A-BC27-46F042A6E5DA}"/>
              </a:ext>
            </a:extLst>
          </p:cNvPr>
          <p:cNvSpPr>
            <a:spLocks noChangeArrowheads="1"/>
          </p:cNvSpPr>
          <p:nvPr/>
        </p:nvSpPr>
        <p:spPr bwMode="auto">
          <a:xfrm>
            <a:off x="209549" y="3640360"/>
            <a:ext cx="1158386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tx2"/>
              </a:buClr>
              <a:buSzPct val="65000"/>
            </a:pPr>
            <a:r>
              <a:rPr lang="zh-CN" altLang="en-US" dirty="0">
                <a:solidFill>
                  <a:srgbClr val="FF0000"/>
                </a:solidFill>
                <a:latin typeface="华光行书_CNKI" panose="02000500000000000000" pitchFamily="2" charset="-122"/>
                <a:ea typeface="华光行书_CNKI" panose="02000500000000000000" pitchFamily="2" charset="-122"/>
              </a:rPr>
              <a:t>抽象类：包含一个或一个以上纯虚函数的类</a:t>
            </a:r>
            <a:r>
              <a:rPr lang="zh-CN" altLang="en-US" dirty="0">
                <a:solidFill>
                  <a:schemeClr val="bg2"/>
                </a:solidFill>
                <a:latin typeface="华光行书_CNKI" panose="02000500000000000000" pitchFamily="2" charset="-122"/>
                <a:ea typeface="华光行书_CNKI" panose="02000500000000000000" pitchFamily="2" charset="-122"/>
              </a:rPr>
              <a:t>。</a:t>
            </a:r>
            <a:endParaRPr lang="en-US" altLang="zh-CN" dirty="0">
              <a:solidFill>
                <a:schemeClr val="bg2"/>
              </a:solidFill>
              <a:latin typeface="华光行书_CNKI" panose="02000500000000000000" pitchFamily="2" charset="-122"/>
              <a:ea typeface="华光行书_CNKI" panose="02000500000000000000" pitchFamily="2" charset="-122"/>
            </a:endParaRPr>
          </a:p>
          <a:p>
            <a:pPr eaLnBrk="1" hangingPunct="1">
              <a:buClr>
                <a:schemeClr val="tx2"/>
              </a:buClr>
              <a:buSzPct val="65000"/>
            </a:pPr>
            <a:r>
              <a:rPr lang="zh-CN" altLang="en-US" b="0" dirty="0">
                <a:solidFill>
                  <a:srgbClr val="104E87"/>
                </a:solidFill>
                <a:latin typeface="华光行书_CNKI" panose="02000500000000000000" pitchFamily="2" charset="-122"/>
                <a:ea typeface="华光行书_CNKI" panose="02000500000000000000" pitchFamily="2" charset="-122"/>
              </a:rPr>
              <a:t>抽象类不用来定义对象，因为包含纯虚函数的类是无法建立对象的。</a:t>
            </a:r>
            <a:endParaRPr lang="en-US" altLang="zh-CN" b="0" dirty="0">
              <a:solidFill>
                <a:srgbClr val="104E87"/>
              </a:solidFill>
              <a:latin typeface="华光行书_CNKI" panose="02000500000000000000" pitchFamily="2" charset="-122"/>
              <a:ea typeface="华光行书_CNKI" panose="02000500000000000000" pitchFamily="2" charset="-122"/>
            </a:endParaRPr>
          </a:p>
          <a:p>
            <a:pPr eaLnBrk="1" hangingPunct="1">
              <a:buClr>
                <a:schemeClr val="tx2"/>
              </a:buClr>
              <a:buSzPct val="65000"/>
            </a:pPr>
            <a:endParaRPr lang="zh-CN" altLang="en-US" b="0" dirty="0">
              <a:solidFill>
                <a:schemeClr val="bg2"/>
              </a:solidFill>
              <a:latin typeface="华光行书_CNKI" panose="02000500000000000000" pitchFamily="2" charset="-122"/>
              <a:ea typeface="华光行书_CNKI" panose="02000500000000000000" pitchFamily="2" charset="-122"/>
            </a:endParaRPr>
          </a:p>
        </p:txBody>
      </p:sp>
      <p:sp>
        <p:nvSpPr>
          <p:cNvPr id="12" name="矩形 1">
            <a:extLst>
              <a:ext uri="{FF2B5EF4-FFF2-40B4-BE49-F238E27FC236}">
                <a16:creationId xmlns:a16="http://schemas.microsoft.com/office/drawing/2014/main" id="{5B3F361E-657C-423E-A6D5-4315D691E932}"/>
              </a:ext>
            </a:extLst>
          </p:cNvPr>
          <p:cNvSpPr>
            <a:spLocks noChangeArrowheads="1"/>
          </p:cNvSpPr>
          <p:nvPr/>
        </p:nvSpPr>
        <p:spPr bwMode="auto">
          <a:xfrm>
            <a:off x="209550" y="4427163"/>
            <a:ext cx="85582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0000"/>
                </a:solidFill>
                <a:latin typeface="华光行书_CNKI" panose="02000500000000000000" pitchFamily="2" charset="-122"/>
                <a:ea typeface="华光行书_CNKI" panose="02000500000000000000" pitchFamily="2" charset="-122"/>
              </a:rPr>
              <a:t>抽象类作用：</a:t>
            </a:r>
            <a:endParaRPr lang="zh-CN" altLang="en-US" dirty="0">
              <a:latin typeface="华光行书_CNKI" panose="02000500000000000000" pitchFamily="2" charset="-122"/>
              <a:ea typeface="华光行书_CNKI" panose="02000500000000000000" pitchFamily="2" charset="-122"/>
            </a:endParaRPr>
          </a:p>
        </p:txBody>
      </p:sp>
      <p:sp>
        <p:nvSpPr>
          <p:cNvPr id="13" name="矩形 1">
            <a:extLst>
              <a:ext uri="{FF2B5EF4-FFF2-40B4-BE49-F238E27FC236}">
                <a16:creationId xmlns:a16="http://schemas.microsoft.com/office/drawing/2014/main" id="{15587E60-97DE-4F9A-826E-5B94E247E1B6}"/>
              </a:ext>
            </a:extLst>
          </p:cNvPr>
          <p:cNvSpPr>
            <a:spLocks noChangeArrowheads="1"/>
          </p:cNvSpPr>
          <p:nvPr/>
        </p:nvSpPr>
        <p:spPr bwMode="auto">
          <a:xfrm>
            <a:off x="92318" y="5027327"/>
            <a:ext cx="120118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indent="-45720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1" eaLnBrk="1" hangingPunct="1">
              <a:buFontTx/>
              <a:buBlip>
                <a:blip r:embed="rId3"/>
              </a:buBlip>
            </a:pPr>
            <a:r>
              <a:rPr lang="zh-CN" altLang="en-US" b="0" dirty="0">
                <a:solidFill>
                  <a:srgbClr val="104E87"/>
                </a:solidFill>
                <a:latin typeface="华光行书_CNKI" panose="02000500000000000000" pitchFamily="2" charset="-122"/>
                <a:ea typeface="华光行书_CNKI" panose="02000500000000000000" pitchFamily="2" charset="-122"/>
              </a:rPr>
              <a:t>抽象类为抽象和设计的目的而声明，将有关的数据和行为组织在一个继承层次结构中，保证派生类具有要求的行为。</a:t>
            </a:r>
          </a:p>
          <a:p>
            <a:pPr lvl="1" eaLnBrk="1" hangingPunct="1">
              <a:buFontTx/>
              <a:buBlip>
                <a:blip r:embed="rId3"/>
              </a:buBlip>
            </a:pPr>
            <a:r>
              <a:rPr lang="zh-CN" altLang="en-US" b="0" dirty="0">
                <a:solidFill>
                  <a:srgbClr val="104E87"/>
                </a:solidFill>
                <a:latin typeface="华光行书_CNKI" panose="02000500000000000000" pitchFamily="2" charset="-122"/>
                <a:ea typeface="华光行书_CNKI" panose="02000500000000000000" pitchFamily="2" charset="-122"/>
              </a:rPr>
              <a:t>对于暂时无法实现的函数，可以声明为纯虚函数，留给派生类去实现。</a:t>
            </a:r>
          </a:p>
        </p:txBody>
      </p:sp>
    </p:spTree>
    <p:extLst>
      <p:ext uri="{BB962C8B-B14F-4D97-AF65-F5344CB8AC3E}">
        <p14:creationId xmlns:p14="http://schemas.microsoft.com/office/powerpoint/2010/main" val="261424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 calcmode="lin" valueType="num">
                                      <p:cBhvr additive="base">
                                        <p:cTn id="2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 calcmode="lin" valueType="num">
                                      <p:cBhvr additive="base">
                                        <p:cTn id="3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randombar(horizontal)">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
            <a:extLst>
              <a:ext uri="{FF2B5EF4-FFF2-40B4-BE49-F238E27FC236}">
                <a16:creationId xmlns:a16="http://schemas.microsoft.com/office/drawing/2014/main" id="{F4715043-DA81-44D7-8D76-37EC3DA8834A}"/>
              </a:ext>
            </a:extLst>
          </p:cNvPr>
          <p:cNvSpPr>
            <a:spLocks noChangeArrowheads="1"/>
          </p:cNvSpPr>
          <p:nvPr/>
        </p:nvSpPr>
        <p:spPr bwMode="auto">
          <a:xfrm>
            <a:off x="1588" y="1214194"/>
            <a:ext cx="1218962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0" dirty="0">
                <a:solidFill>
                  <a:srgbClr val="104E87"/>
                </a:solidFill>
                <a:latin typeface="华光行书_CNKI" panose="02000500000000000000" pitchFamily="2" charset="-122"/>
                <a:ea typeface="华光行书_CNKI" panose="02000500000000000000" pitchFamily="2" charset="-122"/>
              </a:rPr>
              <a:t>从抽象类派生出的新类</a:t>
            </a:r>
            <a:r>
              <a:rPr lang="en-US" altLang="zh-CN" sz="2800" b="0" dirty="0">
                <a:solidFill>
                  <a:srgbClr val="104E87"/>
                </a:solidFill>
                <a:latin typeface="华光行书_CNKI" panose="02000500000000000000" pitchFamily="2" charset="-122"/>
                <a:ea typeface="华光行书_CNKI" panose="02000500000000000000" pitchFamily="2" charset="-122"/>
              </a:rPr>
              <a:t>,</a:t>
            </a:r>
            <a:r>
              <a:rPr lang="zh-CN" altLang="en-US" sz="2800" b="0" dirty="0">
                <a:solidFill>
                  <a:srgbClr val="104E87"/>
                </a:solidFill>
                <a:latin typeface="华光行书_CNKI" panose="02000500000000000000" pitchFamily="2" charset="-122"/>
                <a:ea typeface="华光行书_CNKI" panose="02000500000000000000" pitchFamily="2" charset="-122"/>
              </a:rPr>
              <a:t>须重新定义其父类的每一个纯虚函数</a:t>
            </a:r>
            <a:r>
              <a:rPr lang="en-US" altLang="zh-CN" sz="2800" b="0" dirty="0">
                <a:solidFill>
                  <a:srgbClr val="104E87"/>
                </a:solidFill>
                <a:latin typeface="华光行书_CNKI" panose="02000500000000000000" pitchFamily="2" charset="-122"/>
                <a:ea typeface="华光行书_CNKI" panose="02000500000000000000" pitchFamily="2" charset="-122"/>
              </a:rPr>
              <a:t>;</a:t>
            </a:r>
            <a:r>
              <a:rPr lang="zh-CN" altLang="en-US" sz="2800" b="0" dirty="0">
                <a:solidFill>
                  <a:srgbClr val="104E87"/>
                </a:solidFill>
                <a:latin typeface="华光行书_CNKI" panose="02000500000000000000" pitchFamily="2" charset="-122"/>
                <a:ea typeface="华光行书_CNKI" panose="02000500000000000000" pitchFamily="2" charset="-122"/>
              </a:rPr>
              <a:t>如果在派生类中没有对所有纯虚函数进行定义</a:t>
            </a:r>
            <a:r>
              <a:rPr lang="en-US" altLang="zh-CN" sz="2800" b="0" dirty="0">
                <a:solidFill>
                  <a:srgbClr val="104E87"/>
                </a:solidFill>
                <a:latin typeface="华光行书_CNKI" panose="02000500000000000000" pitchFamily="2" charset="-122"/>
                <a:ea typeface="华光行书_CNKI" panose="02000500000000000000" pitchFamily="2" charset="-122"/>
              </a:rPr>
              <a:t>,</a:t>
            </a:r>
            <a:r>
              <a:rPr lang="zh-CN" altLang="en-US" sz="2800" b="0" dirty="0">
                <a:solidFill>
                  <a:srgbClr val="104E87"/>
                </a:solidFill>
                <a:latin typeface="华光行书_CNKI" panose="02000500000000000000" pitchFamily="2" charset="-122"/>
                <a:ea typeface="华光行书_CNKI" panose="02000500000000000000" pitchFamily="2" charset="-122"/>
              </a:rPr>
              <a:t>则此派生类仍然是抽象类</a:t>
            </a:r>
            <a:r>
              <a:rPr lang="en-US" altLang="zh-CN" sz="2800" b="0" dirty="0">
                <a:solidFill>
                  <a:srgbClr val="104E87"/>
                </a:solidFill>
                <a:latin typeface="华光行书_CNKI" panose="02000500000000000000" pitchFamily="2" charset="-122"/>
                <a:ea typeface="华光行书_CNKI" panose="02000500000000000000" pitchFamily="2" charset="-122"/>
              </a:rPr>
              <a:t>,</a:t>
            </a:r>
            <a:r>
              <a:rPr lang="zh-CN" altLang="en-US" sz="2800" b="0" dirty="0">
                <a:solidFill>
                  <a:srgbClr val="104E87"/>
                </a:solidFill>
                <a:latin typeface="华光行书_CNKI" panose="02000500000000000000" pitchFamily="2" charset="-122"/>
                <a:ea typeface="华光行书_CNKI" panose="02000500000000000000" pitchFamily="2" charset="-122"/>
              </a:rPr>
              <a:t>不能用来定义对象。</a:t>
            </a:r>
            <a:endParaRPr lang="en-US" altLang="zh-CN" sz="2800" b="0" dirty="0">
              <a:solidFill>
                <a:srgbClr val="104E87"/>
              </a:solidFill>
              <a:latin typeface="华光行书_CNKI" panose="02000500000000000000" pitchFamily="2" charset="-122"/>
              <a:ea typeface="华光行书_CNKI" panose="02000500000000000000" pitchFamily="2" charset="-122"/>
            </a:endParaRPr>
          </a:p>
        </p:txBody>
      </p:sp>
      <p:sp>
        <p:nvSpPr>
          <p:cNvPr id="3" name="矩形 1">
            <a:extLst>
              <a:ext uri="{FF2B5EF4-FFF2-40B4-BE49-F238E27FC236}">
                <a16:creationId xmlns:a16="http://schemas.microsoft.com/office/drawing/2014/main" id="{AD0162DC-D33B-4BB3-B7BA-EB33BEB0A38F}"/>
              </a:ext>
            </a:extLst>
          </p:cNvPr>
          <p:cNvSpPr>
            <a:spLocks noChangeArrowheads="1"/>
          </p:cNvSpPr>
          <p:nvPr/>
        </p:nvSpPr>
        <p:spPr bwMode="auto">
          <a:xfrm>
            <a:off x="1588" y="2133231"/>
            <a:ext cx="7931150" cy="1301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indent="-45720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1" eaLnBrk="1" hangingPunct="1">
              <a:lnSpc>
                <a:spcPct val="110000"/>
              </a:lnSpc>
              <a:buFontTx/>
              <a:buBlip>
                <a:blip r:embed="rId2"/>
              </a:buBlip>
            </a:pPr>
            <a:r>
              <a:rPr lang="zh-CN" altLang="en-US" b="0" dirty="0">
                <a:solidFill>
                  <a:srgbClr val="104E87"/>
                </a:solidFill>
                <a:latin typeface="华光行书_CNKI" panose="02000500000000000000" pitchFamily="2" charset="-122"/>
                <a:ea typeface="华光行书_CNKI" panose="02000500000000000000" pitchFamily="2" charset="-122"/>
              </a:rPr>
              <a:t>抽象类只能作为基类来使用。</a:t>
            </a:r>
          </a:p>
          <a:p>
            <a:pPr lvl="1" eaLnBrk="1" hangingPunct="1">
              <a:lnSpc>
                <a:spcPct val="110000"/>
              </a:lnSpc>
              <a:buFontTx/>
              <a:buBlip>
                <a:blip r:embed="rId2"/>
              </a:buBlip>
            </a:pPr>
            <a:r>
              <a:rPr lang="zh-CN" altLang="en-US" b="0" dirty="0">
                <a:solidFill>
                  <a:srgbClr val="104E87"/>
                </a:solidFill>
                <a:latin typeface="华光行书_CNKI" panose="02000500000000000000" pitchFamily="2" charset="-122"/>
                <a:ea typeface="华光行书_CNKI" panose="02000500000000000000" pitchFamily="2" charset="-122"/>
              </a:rPr>
              <a:t>不能声明抽象类的对象。</a:t>
            </a:r>
          </a:p>
          <a:p>
            <a:pPr lvl="1" eaLnBrk="1" hangingPunct="1">
              <a:lnSpc>
                <a:spcPct val="110000"/>
              </a:lnSpc>
              <a:buFontTx/>
              <a:buBlip>
                <a:blip r:embed="rId2"/>
              </a:buBlip>
            </a:pPr>
            <a:r>
              <a:rPr lang="zh-CN" altLang="en-US" b="0" dirty="0">
                <a:solidFill>
                  <a:srgbClr val="104E87"/>
                </a:solidFill>
                <a:latin typeface="华光行书_CNKI" panose="02000500000000000000" pitchFamily="2" charset="-122"/>
                <a:ea typeface="华光行书_CNKI" panose="02000500000000000000" pitchFamily="2" charset="-122"/>
              </a:rPr>
              <a:t>构造函数不能是虚函数，析构函数可以是虚函数。</a:t>
            </a:r>
          </a:p>
        </p:txBody>
      </p:sp>
      <p:sp>
        <p:nvSpPr>
          <p:cNvPr id="4" name="矩形 3">
            <a:extLst>
              <a:ext uri="{FF2B5EF4-FFF2-40B4-BE49-F238E27FC236}">
                <a16:creationId xmlns:a16="http://schemas.microsoft.com/office/drawing/2014/main" id="{2E89A083-98EB-4298-9695-E15403E16DA8}"/>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5" name="直线连接符 6">
            <a:extLst>
              <a:ext uri="{FF2B5EF4-FFF2-40B4-BE49-F238E27FC236}">
                <a16:creationId xmlns:a16="http://schemas.microsoft.com/office/drawing/2014/main" id="{AC337E0D-E469-488C-A45E-271A9E7B26FE}"/>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FC310EB1-C385-4371-B466-257DDE48F27F}"/>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10.4 </a:t>
            </a:r>
            <a:r>
              <a:rPr lang="zh-CN" altLang="en-US" dirty="0">
                <a:sym typeface="+mn-lt"/>
              </a:rPr>
              <a:t>抽象类</a:t>
            </a:r>
            <a:r>
              <a:rPr lang="en-US" altLang="zh-CN" dirty="0">
                <a:sym typeface="+mn-lt"/>
              </a:rPr>
              <a:t>——</a:t>
            </a:r>
            <a:r>
              <a:rPr lang="zh-CN" altLang="en-US" dirty="0">
                <a:sym typeface="+mn-lt"/>
              </a:rPr>
              <a:t>纯虚函数</a:t>
            </a:r>
          </a:p>
        </p:txBody>
      </p:sp>
      <p:sp>
        <p:nvSpPr>
          <p:cNvPr id="7" name="Rectangle 2">
            <a:extLst>
              <a:ext uri="{FF2B5EF4-FFF2-40B4-BE49-F238E27FC236}">
                <a16:creationId xmlns:a16="http://schemas.microsoft.com/office/drawing/2014/main" id="{12E88CA7-42CA-4955-895D-E4190D7AD62D}"/>
              </a:ext>
            </a:extLst>
          </p:cNvPr>
          <p:cNvSpPr>
            <a:spLocks noChangeArrowheads="1"/>
          </p:cNvSpPr>
          <p:nvPr/>
        </p:nvSpPr>
        <p:spPr bwMode="auto">
          <a:xfrm>
            <a:off x="112834" y="3523166"/>
            <a:ext cx="118212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tx2"/>
              </a:buClr>
              <a:buSzPct val="65000"/>
              <a:buFont typeface="Wingdings" panose="05000000000000000000" pitchFamily="2" charset="2"/>
              <a:buNone/>
            </a:pPr>
            <a:r>
              <a:rPr lang="zh-CN" altLang="en-US" b="0" dirty="0">
                <a:solidFill>
                  <a:srgbClr val="104E87"/>
                </a:solidFill>
                <a:latin typeface="华光行书_CNKI" panose="02000500000000000000" pitchFamily="2" charset="-122"/>
                <a:ea typeface="华光行书_CNKI" panose="02000500000000000000" pitchFamily="2" charset="-122"/>
              </a:rPr>
              <a:t>虽然</a:t>
            </a:r>
            <a:r>
              <a:rPr lang="zh-CN" altLang="en-US" b="0" dirty="0">
                <a:solidFill>
                  <a:srgbClr val="FF0000"/>
                </a:solidFill>
                <a:latin typeface="华光行书_CNKI" panose="02000500000000000000" pitchFamily="2" charset="-122"/>
                <a:ea typeface="华光行书_CNKI" panose="02000500000000000000" pitchFamily="2" charset="-122"/>
              </a:rPr>
              <a:t>不能声明抽象类的实例</a:t>
            </a:r>
            <a:r>
              <a:rPr lang="zh-CN" altLang="en-US" b="0" dirty="0">
                <a:solidFill>
                  <a:srgbClr val="104E87"/>
                </a:solidFill>
                <a:latin typeface="华光行书_CNKI" panose="02000500000000000000" pitchFamily="2" charset="-122"/>
                <a:ea typeface="华光行书_CNKI" panose="02000500000000000000" pitchFamily="2" charset="-122"/>
              </a:rPr>
              <a:t>，但可以声明抽象类的指针或引用；当派生类成为具体类之后，可以用指针指向派生类对象，然后通过该指针调用虚函数，实现多态性的操作。</a:t>
            </a:r>
          </a:p>
        </p:txBody>
      </p:sp>
    </p:spTree>
    <p:extLst>
      <p:ext uri="{BB962C8B-B14F-4D97-AF65-F5344CB8AC3E}">
        <p14:creationId xmlns:p14="http://schemas.microsoft.com/office/powerpoint/2010/main" val="212167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 calcmode="lin" valueType="num">
                                      <p:cBhvr additive="base">
                                        <p:cTn id="2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6">
            <a:extLst>
              <a:ext uri="{FF2B5EF4-FFF2-40B4-BE49-F238E27FC236}">
                <a16:creationId xmlns:a16="http://schemas.microsoft.com/office/drawing/2014/main" id="{1B4DD45A-1E44-4111-B648-4EC7C6DFD6CA}"/>
              </a:ext>
            </a:extLst>
          </p:cNvPr>
          <p:cNvSpPr>
            <a:spLocks noChangeArrowheads="1"/>
          </p:cNvSpPr>
          <p:nvPr/>
        </p:nvSpPr>
        <p:spPr bwMode="auto">
          <a:xfrm>
            <a:off x="0" y="84446"/>
            <a:ext cx="6424247" cy="2459456"/>
          </a:xfrm>
          <a:prstGeom prst="rect">
            <a:avLst/>
          </a:prstGeom>
          <a:solidFill>
            <a:schemeClr val="accent4">
              <a:lumMod val="20000"/>
              <a:lumOff val="80000"/>
            </a:schemeClr>
          </a:solidFill>
          <a:ln w="9525">
            <a:noFill/>
            <a:miter lim="800000"/>
            <a:headEnd/>
            <a:tailEnd/>
          </a:ln>
        </p:spPr>
        <p:txBody>
          <a:bodyPr wrap="square">
            <a:spAutoFit/>
          </a:bodyPr>
          <a:lstStyle/>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const double PI=3.14159;</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class FIGURE {</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public:</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	void </a:t>
            </a:r>
            <a:r>
              <a:rPr lang="en-US" altLang="zh-CN" dirty="0" err="1">
                <a:solidFill>
                  <a:srgbClr val="104E87"/>
                </a:solidFill>
                <a:latin typeface="Comic Sans MS" panose="030F0702030302020204" pitchFamily="66" charset="0"/>
                <a:ea typeface="华光行书_CNKI" panose="02000500000000000000" pitchFamily="2" charset="-122"/>
              </a:rPr>
              <a:t>set_size</a:t>
            </a:r>
            <a:r>
              <a:rPr lang="en-US" altLang="zh-CN" dirty="0">
                <a:solidFill>
                  <a:srgbClr val="104E87"/>
                </a:solidFill>
                <a:latin typeface="Comic Sans MS" panose="030F0702030302020204" pitchFamily="66" charset="0"/>
                <a:ea typeface="华光行书_CNKI" panose="02000500000000000000" pitchFamily="2" charset="-122"/>
              </a:rPr>
              <a:t>(double x, double y=0)</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x_size</a:t>
            </a:r>
            <a:r>
              <a:rPr lang="en-US" altLang="zh-CN" dirty="0">
                <a:solidFill>
                  <a:srgbClr val="104E87"/>
                </a:solidFill>
                <a:latin typeface="Comic Sans MS" panose="030F0702030302020204" pitchFamily="66" charset="0"/>
                <a:ea typeface="华光行书_CNKI" panose="02000500000000000000" pitchFamily="2" charset="-122"/>
              </a:rPr>
              <a:t>=x; </a:t>
            </a:r>
            <a:r>
              <a:rPr lang="en-US" altLang="zh-CN" dirty="0" err="1">
                <a:solidFill>
                  <a:srgbClr val="104E87"/>
                </a:solidFill>
                <a:latin typeface="Comic Sans MS" panose="030F0702030302020204" pitchFamily="66" charset="0"/>
                <a:ea typeface="华光行书_CNKI" panose="02000500000000000000" pitchFamily="2" charset="-122"/>
              </a:rPr>
              <a:t>y_size</a:t>
            </a:r>
            <a:r>
              <a:rPr lang="en-US" altLang="zh-CN" dirty="0">
                <a:solidFill>
                  <a:srgbClr val="104E87"/>
                </a:solidFill>
                <a:latin typeface="Comic Sans MS" panose="030F0702030302020204" pitchFamily="66" charset="0"/>
                <a:ea typeface="华光行书_CNKI" panose="02000500000000000000" pitchFamily="2" charset="-122"/>
              </a:rPr>
              <a:t>=y;}</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a:solidFill>
                  <a:srgbClr val="FF0000"/>
                </a:solidFill>
                <a:latin typeface="Comic Sans MS" panose="030F0702030302020204" pitchFamily="66" charset="0"/>
                <a:ea typeface="华光行书_CNKI" panose="02000500000000000000" pitchFamily="2" charset="-122"/>
              </a:rPr>
              <a:t>virtual double </a:t>
            </a:r>
            <a:r>
              <a:rPr lang="en-US" altLang="zh-CN" dirty="0" err="1">
                <a:solidFill>
                  <a:srgbClr val="FF0000"/>
                </a:solidFill>
                <a:latin typeface="Comic Sans MS" panose="030F0702030302020204" pitchFamily="66" charset="0"/>
                <a:ea typeface="华光行书_CNKI" panose="02000500000000000000" pitchFamily="2" charset="-122"/>
              </a:rPr>
              <a:t>get_area</a:t>
            </a:r>
            <a:r>
              <a:rPr lang="en-US" altLang="zh-CN" dirty="0">
                <a:solidFill>
                  <a:srgbClr val="FF0000"/>
                </a:solidFill>
                <a:latin typeface="Comic Sans MS" panose="030F0702030302020204" pitchFamily="66" charset="0"/>
                <a:ea typeface="华光行书_CNKI" panose="02000500000000000000" pitchFamily="2" charset="-122"/>
              </a:rPr>
              <a:t>( )=0;</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protected: double </a:t>
            </a:r>
            <a:r>
              <a:rPr lang="en-US" altLang="zh-CN" dirty="0" err="1">
                <a:solidFill>
                  <a:srgbClr val="104E87"/>
                </a:solidFill>
                <a:latin typeface="Comic Sans MS" panose="030F0702030302020204" pitchFamily="66" charset="0"/>
                <a:ea typeface="华光行书_CNKI" panose="02000500000000000000" pitchFamily="2" charset="-122"/>
              </a:rPr>
              <a:t>x_size</a:t>
            </a:r>
            <a:r>
              <a:rPr lang="en-US" altLang="zh-CN" dirty="0">
                <a:solidFill>
                  <a:srgbClr val="104E87"/>
                </a:solidFill>
                <a:latin typeface="Comic Sans MS" panose="030F0702030302020204" pitchFamily="66" charset="0"/>
                <a:ea typeface="华光行书_CNKI" panose="02000500000000000000" pitchFamily="2" charset="-122"/>
              </a:rPr>
              <a:t>, </a:t>
            </a:r>
            <a:r>
              <a:rPr lang="en-US" altLang="zh-CN" dirty="0" err="1">
                <a:solidFill>
                  <a:srgbClr val="104E87"/>
                </a:solidFill>
                <a:latin typeface="Comic Sans MS" panose="030F0702030302020204" pitchFamily="66" charset="0"/>
                <a:ea typeface="华光行书_CNKI" panose="02000500000000000000" pitchFamily="2" charset="-122"/>
              </a:rPr>
              <a:t>y_size</a:t>
            </a: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a:t>
            </a:r>
          </a:p>
        </p:txBody>
      </p:sp>
      <p:sp>
        <p:nvSpPr>
          <p:cNvPr id="3" name="矩形 3">
            <a:extLst>
              <a:ext uri="{FF2B5EF4-FFF2-40B4-BE49-F238E27FC236}">
                <a16:creationId xmlns:a16="http://schemas.microsoft.com/office/drawing/2014/main" id="{437A8D0E-2D34-4609-98C4-F0EF10ABE3DE}"/>
              </a:ext>
            </a:extLst>
          </p:cNvPr>
          <p:cNvSpPr>
            <a:spLocks noChangeArrowheads="1"/>
          </p:cNvSpPr>
          <p:nvPr/>
        </p:nvSpPr>
        <p:spPr bwMode="auto">
          <a:xfrm>
            <a:off x="-41030" y="2543902"/>
            <a:ext cx="5269522" cy="4232249"/>
          </a:xfrm>
          <a:prstGeom prst="rect">
            <a:avLst/>
          </a:prstGeom>
          <a:solidFill>
            <a:schemeClr val="accent5">
              <a:lumMod val="40000"/>
              <a:lumOff val="60000"/>
            </a:schemeClr>
          </a:solidFill>
          <a:ln w="9525">
            <a:noFill/>
            <a:miter lim="800000"/>
            <a:headEnd/>
            <a:tailEnd/>
          </a:ln>
        </p:spPr>
        <p:txBody>
          <a:bodyPr wrap="square">
            <a:spAutoFit/>
          </a:bodyPr>
          <a:lstStyle/>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class TRIANGLE: public FIGURE {</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public: virtual double </a:t>
            </a:r>
            <a:r>
              <a:rPr lang="en-US" altLang="zh-CN" dirty="0" err="1">
                <a:solidFill>
                  <a:srgbClr val="104E87"/>
                </a:solidFill>
                <a:latin typeface="Comic Sans MS" panose="030F0702030302020204" pitchFamily="66" charset="0"/>
                <a:ea typeface="华光行书_CNKI" panose="02000500000000000000" pitchFamily="2" charset="-122"/>
              </a:rPr>
              <a:t>get_area</a:t>
            </a: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	{return(</a:t>
            </a:r>
            <a:r>
              <a:rPr lang="en-US" altLang="zh-CN" dirty="0" err="1">
                <a:solidFill>
                  <a:srgbClr val="104E87"/>
                </a:solidFill>
                <a:latin typeface="Comic Sans MS" panose="030F0702030302020204" pitchFamily="66" charset="0"/>
                <a:ea typeface="华光行书_CNKI" panose="02000500000000000000" pitchFamily="2" charset="-122"/>
              </a:rPr>
              <a:t>x_size</a:t>
            </a:r>
            <a:r>
              <a:rPr lang="en-US" altLang="zh-CN" dirty="0">
                <a:solidFill>
                  <a:srgbClr val="104E87"/>
                </a:solidFill>
                <a:latin typeface="Comic Sans MS" panose="030F0702030302020204" pitchFamily="66" charset="0"/>
                <a:ea typeface="华光行书_CNKI" panose="02000500000000000000" pitchFamily="2" charset="-122"/>
              </a:rPr>
              <a:t>*</a:t>
            </a:r>
            <a:r>
              <a:rPr lang="en-US" altLang="zh-CN" dirty="0" err="1">
                <a:solidFill>
                  <a:srgbClr val="104E87"/>
                </a:solidFill>
                <a:latin typeface="Comic Sans MS" panose="030F0702030302020204" pitchFamily="66" charset="0"/>
                <a:ea typeface="华光行书_CNKI" panose="02000500000000000000" pitchFamily="2" charset="-122"/>
              </a:rPr>
              <a:t>y_size</a:t>
            </a:r>
            <a:r>
              <a:rPr lang="en-US" altLang="zh-CN" dirty="0">
                <a:solidFill>
                  <a:srgbClr val="104E87"/>
                </a:solidFill>
                <a:latin typeface="Comic Sans MS" panose="030F0702030302020204" pitchFamily="66" charset="0"/>
                <a:ea typeface="华光行书_CNKI" panose="02000500000000000000" pitchFamily="2" charset="-122"/>
              </a:rPr>
              <a:t>/2);}</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class RECTANGLE: public FIGURE {</a:t>
            </a:r>
          </a:p>
          <a:p>
            <a:pPr>
              <a:lnSpc>
                <a:spcPct val="80000"/>
              </a:lnSpc>
            </a:pPr>
            <a:r>
              <a:rPr lang="en-US" altLang="zh-CN" dirty="0" err="1">
                <a:solidFill>
                  <a:srgbClr val="104E87"/>
                </a:solidFill>
                <a:latin typeface="Comic Sans MS" panose="030F0702030302020204" pitchFamily="66" charset="0"/>
                <a:ea typeface="华光行书_CNKI" panose="02000500000000000000" pitchFamily="2" charset="-122"/>
              </a:rPr>
              <a:t>public:virtual</a:t>
            </a:r>
            <a:r>
              <a:rPr lang="en-US" altLang="zh-CN" dirty="0">
                <a:solidFill>
                  <a:srgbClr val="104E87"/>
                </a:solidFill>
                <a:latin typeface="Comic Sans MS" panose="030F0702030302020204" pitchFamily="66" charset="0"/>
                <a:ea typeface="华光行书_CNKI" panose="02000500000000000000" pitchFamily="2" charset="-122"/>
              </a:rPr>
              <a:t> double </a:t>
            </a:r>
            <a:r>
              <a:rPr lang="en-US" altLang="zh-CN" dirty="0" err="1">
                <a:solidFill>
                  <a:srgbClr val="104E87"/>
                </a:solidFill>
                <a:latin typeface="Comic Sans MS" panose="030F0702030302020204" pitchFamily="66" charset="0"/>
                <a:ea typeface="华光行书_CNKI" panose="02000500000000000000" pitchFamily="2" charset="-122"/>
              </a:rPr>
              <a:t>get_area</a:t>
            </a: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	 {return(</a:t>
            </a:r>
            <a:r>
              <a:rPr lang="en-US" altLang="zh-CN" dirty="0" err="1">
                <a:solidFill>
                  <a:srgbClr val="104E87"/>
                </a:solidFill>
                <a:latin typeface="Comic Sans MS" panose="030F0702030302020204" pitchFamily="66" charset="0"/>
                <a:ea typeface="华光行书_CNKI" panose="02000500000000000000" pitchFamily="2" charset="-122"/>
              </a:rPr>
              <a:t>x_size</a:t>
            </a:r>
            <a:r>
              <a:rPr lang="en-US" altLang="zh-CN" dirty="0">
                <a:solidFill>
                  <a:srgbClr val="104E87"/>
                </a:solidFill>
                <a:latin typeface="Comic Sans MS" panose="030F0702030302020204" pitchFamily="66" charset="0"/>
                <a:ea typeface="华光行书_CNKI" panose="02000500000000000000" pitchFamily="2" charset="-122"/>
              </a:rPr>
              <a:t>*</a:t>
            </a:r>
            <a:r>
              <a:rPr lang="en-US" altLang="zh-CN" dirty="0" err="1">
                <a:solidFill>
                  <a:srgbClr val="104E87"/>
                </a:solidFill>
                <a:latin typeface="Comic Sans MS" panose="030F0702030302020204" pitchFamily="66" charset="0"/>
                <a:ea typeface="华光行书_CNKI" panose="02000500000000000000" pitchFamily="2" charset="-122"/>
              </a:rPr>
              <a:t>y_size</a:t>
            </a: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endParaRPr lang="en-US" altLang="zh-CN" dirty="0">
              <a:solidFill>
                <a:srgbClr val="104E87"/>
              </a:solidFill>
              <a:latin typeface="Comic Sans MS" panose="030F0702030302020204" pitchFamily="66" charset="0"/>
              <a:ea typeface="华光行书_CNKI" panose="02000500000000000000" pitchFamily="2" charset="-122"/>
            </a:endParaRP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class CIRCLE: public FIGURE {</a:t>
            </a:r>
          </a:p>
          <a:p>
            <a:pPr>
              <a:lnSpc>
                <a:spcPct val="80000"/>
              </a:lnSpc>
            </a:pPr>
            <a:r>
              <a:rPr lang="en-US" altLang="zh-CN" dirty="0" err="1">
                <a:solidFill>
                  <a:srgbClr val="104E87"/>
                </a:solidFill>
                <a:latin typeface="Comic Sans MS" panose="030F0702030302020204" pitchFamily="66" charset="0"/>
                <a:ea typeface="华光行书_CNKI" panose="02000500000000000000" pitchFamily="2" charset="-122"/>
              </a:rPr>
              <a:t>public:virtual</a:t>
            </a:r>
            <a:r>
              <a:rPr lang="en-US" altLang="zh-CN" dirty="0">
                <a:solidFill>
                  <a:srgbClr val="104E87"/>
                </a:solidFill>
                <a:latin typeface="Comic Sans MS" panose="030F0702030302020204" pitchFamily="66" charset="0"/>
                <a:ea typeface="华光行书_CNKI" panose="02000500000000000000" pitchFamily="2" charset="-122"/>
              </a:rPr>
              <a:t> double </a:t>
            </a:r>
            <a:r>
              <a:rPr lang="en-US" altLang="zh-CN" dirty="0" err="1">
                <a:solidFill>
                  <a:srgbClr val="104E87"/>
                </a:solidFill>
                <a:latin typeface="Comic Sans MS" panose="030F0702030302020204" pitchFamily="66" charset="0"/>
                <a:ea typeface="华光行书_CNKI" panose="02000500000000000000" pitchFamily="2" charset="-122"/>
              </a:rPr>
              <a:t>get_area</a:t>
            </a: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	{return(PI*</a:t>
            </a:r>
            <a:r>
              <a:rPr lang="en-US" altLang="zh-CN" dirty="0" err="1">
                <a:solidFill>
                  <a:srgbClr val="104E87"/>
                </a:solidFill>
                <a:latin typeface="Comic Sans MS" panose="030F0702030302020204" pitchFamily="66" charset="0"/>
                <a:ea typeface="华光行书_CNKI" panose="02000500000000000000" pitchFamily="2" charset="-122"/>
              </a:rPr>
              <a:t>x_size</a:t>
            </a:r>
            <a:r>
              <a:rPr lang="en-US" altLang="zh-CN" dirty="0">
                <a:solidFill>
                  <a:srgbClr val="104E87"/>
                </a:solidFill>
                <a:latin typeface="Comic Sans MS" panose="030F0702030302020204" pitchFamily="66" charset="0"/>
                <a:ea typeface="华光行书_CNKI" panose="02000500000000000000" pitchFamily="2" charset="-122"/>
              </a:rPr>
              <a:t>*</a:t>
            </a:r>
            <a:r>
              <a:rPr lang="en-US" altLang="zh-CN" dirty="0" err="1">
                <a:solidFill>
                  <a:srgbClr val="104E87"/>
                </a:solidFill>
                <a:latin typeface="Comic Sans MS" panose="030F0702030302020204" pitchFamily="66" charset="0"/>
                <a:ea typeface="华光行书_CNKI" panose="02000500000000000000" pitchFamily="2" charset="-122"/>
              </a:rPr>
              <a:t>x_size</a:t>
            </a:r>
            <a:r>
              <a:rPr lang="en-US" altLang="zh-CN" dirty="0">
                <a:solidFill>
                  <a:srgbClr val="104E87"/>
                </a:solidFill>
                <a:latin typeface="Comic Sans MS" panose="030F0702030302020204" pitchFamily="66" charset="0"/>
                <a:ea typeface="华光行书_CNKI" panose="02000500000000000000" pitchFamily="2" charset="-122"/>
              </a:rPr>
              <a:t>);}</a:t>
            </a:r>
          </a:p>
          <a:p>
            <a:pPr>
              <a:lnSpc>
                <a:spcPct val="80000"/>
              </a:lnSpc>
            </a:pPr>
            <a:r>
              <a:rPr lang="en-US" altLang="zh-CN" dirty="0">
                <a:solidFill>
                  <a:srgbClr val="104E87"/>
                </a:solidFill>
                <a:latin typeface="Comic Sans MS" panose="030F0702030302020204" pitchFamily="66" charset="0"/>
                <a:ea typeface="华光行书_CNKI" panose="02000500000000000000" pitchFamily="2" charset="-122"/>
              </a:rPr>
              <a:t>};</a:t>
            </a:r>
          </a:p>
        </p:txBody>
      </p:sp>
      <p:sp>
        <p:nvSpPr>
          <p:cNvPr id="5" name="文本框 4">
            <a:extLst>
              <a:ext uri="{FF2B5EF4-FFF2-40B4-BE49-F238E27FC236}">
                <a16:creationId xmlns:a16="http://schemas.microsoft.com/office/drawing/2014/main" id="{70AC2C7B-45F4-4A4B-8E68-796349662ED6}"/>
              </a:ext>
            </a:extLst>
          </p:cNvPr>
          <p:cNvSpPr txBox="1"/>
          <p:nvPr/>
        </p:nvSpPr>
        <p:spPr>
          <a:xfrm>
            <a:off x="8991599" y="188941"/>
            <a:ext cx="3200401" cy="404213"/>
          </a:xfrm>
          <a:prstGeom prst="rect">
            <a:avLst/>
          </a:prstGeom>
          <a:noFill/>
        </p:spPr>
        <p:txBody>
          <a:bodyPr wrap="square">
            <a:spAutoFit/>
          </a:bodyPr>
          <a:lstStyle/>
          <a:p>
            <a:pPr>
              <a:lnSpc>
                <a:spcPct val="80000"/>
              </a:lnSpc>
            </a:pPr>
            <a:r>
              <a:rPr lang="zh-CN" altLang="en-US" dirty="0">
                <a:solidFill>
                  <a:srgbClr val="104E87"/>
                </a:solidFill>
                <a:latin typeface="Comic Sans MS" panose="030F0702030302020204" pitchFamily="66" charset="0"/>
                <a:ea typeface="华光行书_CNKI" panose="02000500000000000000" pitchFamily="2" charset="-122"/>
              </a:rPr>
              <a:t>求平面图形的面积</a:t>
            </a:r>
          </a:p>
        </p:txBody>
      </p:sp>
      <p:sp>
        <p:nvSpPr>
          <p:cNvPr id="6" name="矩形 3">
            <a:extLst>
              <a:ext uri="{FF2B5EF4-FFF2-40B4-BE49-F238E27FC236}">
                <a16:creationId xmlns:a16="http://schemas.microsoft.com/office/drawing/2014/main" id="{5EC4AB91-BA1F-43CC-A308-001498EE2F94}"/>
              </a:ext>
            </a:extLst>
          </p:cNvPr>
          <p:cNvSpPr>
            <a:spLocks noChangeArrowheads="1"/>
          </p:cNvSpPr>
          <p:nvPr/>
        </p:nvSpPr>
        <p:spPr bwMode="auto">
          <a:xfrm>
            <a:off x="5269522" y="1370213"/>
            <a:ext cx="6922478" cy="5410712"/>
          </a:xfrm>
          <a:prstGeom prst="rect">
            <a:avLst/>
          </a:prstGeom>
          <a:solidFill>
            <a:schemeClr val="accent1">
              <a:lumMod val="40000"/>
              <a:lumOff val="60000"/>
            </a:schemeClr>
          </a:solidFill>
          <a:ln w="9525">
            <a:noFill/>
            <a:miter lim="800000"/>
            <a:headEnd/>
            <a:tailEnd/>
          </a:ln>
        </p:spPr>
        <p:txBody>
          <a:bodyPr wrap="square">
            <a:spAutoFit/>
          </a:bodyPr>
          <a:lstStyle/>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int main()</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{FIGURE *figure;</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TRIANGLE </a:t>
            </a:r>
            <a:r>
              <a:rPr lang="en-US" altLang="zh-CN" spc="-100" dirty="0" err="1">
                <a:solidFill>
                  <a:srgbClr val="104E87"/>
                </a:solidFill>
                <a:latin typeface="Comic Sans MS" panose="030F0702030302020204" pitchFamily="66" charset="0"/>
                <a:ea typeface="华光行书_CNKI" panose="02000500000000000000" pitchFamily="2" charset="-122"/>
              </a:rPr>
              <a:t>triangle</a:t>
            </a:r>
            <a:r>
              <a:rPr lang="en-US" altLang="zh-CN" spc="-100" dirty="0">
                <a:solidFill>
                  <a:srgbClr val="104E87"/>
                </a:solidFill>
                <a:latin typeface="Comic Sans MS" panose="030F0702030302020204" pitchFamily="66" charset="0"/>
                <a:ea typeface="华光行书_CNKI" panose="02000500000000000000" pitchFamily="2" charset="-122"/>
              </a:rPr>
              <a:t>;</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RECTANGLE </a:t>
            </a:r>
            <a:r>
              <a:rPr lang="en-US" altLang="zh-CN" spc="-100" dirty="0" err="1">
                <a:solidFill>
                  <a:srgbClr val="104E87"/>
                </a:solidFill>
                <a:latin typeface="Comic Sans MS" panose="030F0702030302020204" pitchFamily="66" charset="0"/>
                <a:ea typeface="华光行书_CNKI" panose="02000500000000000000" pitchFamily="2" charset="-122"/>
              </a:rPr>
              <a:t>rectangle</a:t>
            </a:r>
            <a:r>
              <a:rPr lang="en-US" altLang="zh-CN" spc="-100" dirty="0">
                <a:solidFill>
                  <a:srgbClr val="104E87"/>
                </a:solidFill>
                <a:latin typeface="Comic Sans MS" panose="030F0702030302020204" pitchFamily="66" charset="0"/>
                <a:ea typeface="华光行书_CNKI" panose="02000500000000000000" pitchFamily="2" charset="-122"/>
              </a:rPr>
              <a:t>;</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CIRCLE </a:t>
            </a:r>
            <a:r>
              <a:rPr lang="en-US" altLang="zh-CN" spc="-100" dirty="0" err="1">
                <a:solidFill>
                  <a:srgbClr val="104E87"/>
                </a:solidFill>
                <a:latin typeface="Comic Sans MS" panose="030F0702030302020204" pitchFamily="66" charset="0"/>
                <a:ea typeface="华光行书_CNKI" panose="02000500000000000000" pitchFamily="2" charset="-122"/>
              </a:rPr>
              <a:t>circle</a:t>
            </a:r>
            <a:r>
              <a:rPr lang="en-US" altLang="zh-CN" spc="-100" dirty="0">
                <a:solidFill>
                  <a:srgbClr val="104E87"/>
                </a:solidFill>
                <a:latin typeface="Comic Sans MS" panose="030F0702030302020204" pitchFamily="66" charset="0"/>
                <a:ea typeface="华光行书_CNKI" panose="02000500000000000000" pitchFamily="2" charset="-122"/>
              </a:rPr>
              <a:t>;</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figure=&amp;triangle;</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figure-&gt;</a:t>
            </a:r>
            <a:r>
              <a:rPr lang="en-US" altLang="zh-CN" spc="-100" dirty="0" err="1">
                <a:solidFill>
                  <a:srgbClr val="104E87"/>
                </a:solidFill>
                <a:latin typeface="Comic Sans MS" panose="030F0702030302020204" pitchFamily="66" charset="0"/>
                <a:ea typeface="华光行书_CNKI" panose="02000500000000000000" pitchFamily="2" charset="-122"/>
              </a:rPr>
              <a:t>set_size</a:t>
            </a:r>
            <a:r>
              <a:rPr lang="en-US" altLang="zh-CN" spc="-100" dirty="0">
                <a:solidFill>
                  <a:srgbClr val="104E87"/>
                </a:solidFill>
                <a:latin typeface="Comic Sans MS" panose="030F0702030302020204" pitchFamily="66" charset="0"/>
                <a:ea typeface="华光行书_CNKI" panose="02000500000000000000" pitchFamily="2" charset="-122"/>
              </a:rPr>
              <a:t>(15,8);</a:t>
            </a:r>
          </a:p>
          <a:p>
            <a:pPr>
              <a:lnSpc>
                <a:spcPct val="90000"/>
              </a:lnSpc>
            </a:pPr>
            <a:r>
              <a:rPr lang="en-US" altLang="zh-CN" spc="-100" dirty="0" err="1">
                <a:solidFill>
                  <a:srgbClr val="104E87"/>
                </a:solidFill>
                <a:latin typeface="Comic Sans MS" panose="030F0702030302020204" pitchFamily="66" charset="0"/>
                <a:ea typeface="华光行书_CNKI" panose="02000500000000000000" pitchFamily="2" charset="-122"/>
              </a:rPr>
              <a:t>cout</a:t>
            </a:r>
            <a:r>
              <a:rPr lang="en-US" altLang="zh-CN" spc="-100" dirty="0">
                <a:solidFill>
                  <a:srgbClr val="104E87"/>
                </a:solidFill>
                <a:latin typeface="Comic Sans MS" panose="030F0702030302020204" pitchFamily="66" charset="0"/>
                <a:ea typeface="华光行书_CNKI" panose="02000500000000000000" pitchFamily="2" charset="-122"/>
              </a:rPr>
              <a:t>&lt;&lt;"Area of triangle is "&lt;&lt;figure-&gt;</a:t>
            </a:r>
            <a:r>
              <a:rPr lang="en-US" altLang="zh-CN" spc="-100" dirty="0" err="1">
                <a:solidFill>
                  <a:srgbClr val="104E87"/>
                </a:solidFill>
                <a:latin typeface="Comic Sans MS" panose="030F0702030302020204" pitchFamily="66" charset="0"/>
                <a:ea typeface="华光行书_CNKI" panose="02000500000000000000" pitchFamily="2" charset="-122"/>
              </a:rPr>
              <a:t>get_area</a:t>
            </a:r>
            <a:r>
              <a:rPr lang="en-US" altLang="zh-CN" spc="-100" dirty="0">
                <a:solidFill>
                  <a:srgbClr val="104E87"/>
                </a:solidFill>
                <a:latin typeface="Comic Sans MS" panose="030F0702030302020204" pitchFamily="66" charset="0"/>
                <a:ea typeface="华光行书_CNKI" panose="02000500000000000000" pitchFamily="2" charset="-122"/>
              </a:rPr>
              <a:t>();</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figure=&amp;rectangle;</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figure-&gt;</a:t>
            </a:r>
            <a:r>
              <a:rPr lang="en-US" altLang="zh-CN" spc="-100" dirty="0" err="1">
                <a:solidFill>
                  <a:srgbClr val="104E87"/>
                </a:solidFill>
                <a:latin typeface="Comic Sans MS" panose="030F0702030302020204" pitchFamily="66" charset="0"/>
                <a:ea typeface="华光行书_CNKI" panose="02000500000000000000" pitchFamily="2" charset="-122"/>
              </a:rPr>
              <a:t>set_size</a:t>
            </a:r>
            <a:r>
              <a:rPr lang="en-US" altLang="zh-CN" spc="-100" dirty="0">
                <a:solidFill>
                  <a:srgbClr val="104E87"/>
                </a:solidFill>
                <a:latin typeface="Comic Sans MS" panose="030F0702030302020204" pitchFamily="66" charset="0"/>
                <a:ea typeface="华光行书_CNKI" panose="02000500000000000000" pitchFamily="2" charset="-122"/>
              </a:rPr>
              <a:t>(15,8);</a:t>
            </a:r>
          </a:p>
          <a:p>
            <a:pPr>
              <a:lnSpc>
                <a:spcPct val="90000"/>
              </a:lnSpc>
            </a:pPr>
            <a:r>
              <a:rPr lang="en-US" altLang="zh-CN" spc="-100" dirty="0" err="1">
                <a:solidFill>
                  <a:srgbClr val="104E87"/>
                </a:solidFill>
                <a:latin typeface="Comic Sans MS" panose="030F0702030302020204" pitchFamily="66" charset="0"/>
                <a:ea typeface="华光行书_CNKI" panose="02000500000000000000" pitchFamily="2" charset="-122"/>
              </a:rPr>
              <a:t>cout</a:t>
            </a:r>
            <a:r>
              <a:rPr lang="en-US" altLang="zh-CN" spc="-100" dirty="0">
                <a:solidFill>
                  <a:srgbClr val="104E87"/>
                </a:solidFill>
                <a:latin typeface="Comic Sans MS" panose="030F0702030302020204" pitchFamily="66" charset="0"/>
                <a:ea typeface="华光行书_CNKI" panose="02000500000000000000" pitchFamily="2" charset="-122"/>
              </a:rPr>
              <a:t>&lt;&lt;"\</a:t>
            </a:r>
            <a:r>
              <a:rPr lang="en-US" altLang="zh-CN" spc="-100" dirty="0" err="1">
                <a:solidFill>
                  <a:srgbClr val="104E87"/>
                </a:solidFill>
                <a:latin typeface="Comic Sans MS" panose="030F0702030302020204" pitchFamily="66" charset="0"/>
                <a:ea typeface="华光行书_CNKI" panose="02000500000000000000" pitchFamily="2" charset="-122"/>
              </a:rPr>
              <a:t>nArea</a:t>
            </a:r>
            <a:r>
              <a:rPr lang="en-US" altLang="zh-CN" spc="-100" dirty="0">
                <a:solidFill>
                  <a:srgbClr val="104E87"/>
                </a:solidFill>
                <a:latin typeface="Comic Sans MS" panose="030F0702030302020204" pitchFamily="66" charset="0"/>
                <a:ea typeface="华光行书_CNKI" panose="02000500000000000000" pitchFamily="2" charset="-122"/>
              </a:rPr>
              <a:t> of rectangle is "&lt;&lt;figure-&gt;</a:t>
            </a:r>
            <a:r>
              <a:rPr lang="en-US" altLang="zh-CN" spc="-100" dirty="0" err="1">
                <a:solidFill>
                  <a:srgbClr val="104E87"/>
                </a:solidFill>
                <a:latin typeface="Comic Sans MS" panose="030F0702030302020204" pitchFamily="66" charset="0"/>
                <a:ea typeface="华光行书_CNKI" panose="02000500000000000000" pitchFamily="2" charset="-122"/>
              </a:rPr>
              <a:t>get_area</a:t>
            </a:r>
            <a:r>
              <a:rPr lang="en-US" altLang="zh-CN" spc="-100" dirty="0">
                <a:solidFill>
                  <a:srgbClr val="104E87"/>
                </a:solidFill>
                <a:latin typeface="Comic Sans MS" panose="030F0702030302020204" pitchFamily="66" charset="0"/>
                <a:ea typeface="华光行书_CNKI" panose="02000500000000000000" pitchFamily="2" charset="-122"/>
              </a:rPr>
              <a:t>();</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figure=&amp;circle;</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figure-&gt;</a:t>
            </a:r>
            <a:r>
              <a:rPr lang="en-US" altLang="zh-CN" spc="-100" dirty="0" err="1">
                <a:solidFill>
                  <a:srgbClr val="104E87"/>
                </a:solidFill>
                <a:latin typeface="Comic Sans MS" panose="030F0702030302020204" pitchFamily="66" charset="0"/>
                <a:ea typeface="华光行书_CNKI" panose="02000500000000000000" pitchFamily="2" charset="-122"/>
              </a:rPr>
              <a:t>set_size</a:t>
            </a:r>
            <a:r>
              <a:rPr lang="en-US" altLang="zh-CN" spc="-100" dirty="0">
                <a:solidFill>
                  <a:srgbClr val="104E87"/>
                </a:solidFill>
                <a:latin typeface="Comic Sans MS" panose="030F0702030302020204" pitchFamily="66" charset="0"/>
                <a:ea typeface="华光行书_CNKI" panose="02000500000000000000" pitchFamily="2" charset="-122"/>
              </a:rPr>
              <a:t>(15);</a:t>
            </a:r>
          </a:p>
          <a:p>
            <a:pPr>
              <a:lnSpc>
                <a:spcPct val="90000"/>
              </a:lnSpc>
            </a:pPr>
            <a:r>
              <a:rPr lang="en-US" altLang="zh-CN" spc="-100" dirty="0" err="1">
                <a:solidFill>
                  <a:srgbClr val="104E87"/>
                </a:solidFill>
                <a:latin typeface="Comic Sans MS" panose="030F0702030302020204" pitchFamily="66" charset="0"/>
                <a:ea typeface="华光行书_CNKI" panose="02000500000000000000" pitchFamily="2" charset="-122"/>
              </a:rPr>
              <a:t>cout</a:t>
            </a:r>
            <a:r>
              <a:rPr lang="en-US" altLang="zh-CN" spc="-100" dirty="0">
                <a:solidFill>
                  <a:srgbClr val="104E87"/>
                </a:solidFill>
                <a:latin typeface="Comic Sans MS" panose="030F0702030302020204" pitchFamily="66" charset="0"/>
                <a:ea typeface="华光行书_CNKI" panose="02000500000000000000" pitchFamily="2" charset="-122"/>
              </a:rPr>
              <a:t>&lt;&lt;"\</a:t>
            </a:r>
            <a:r>
              <a:rPr lang="en-US" altLang="zh-CN" spc="-100" dirty="0" err="1">
                <a:solidFill>
                  <a:srgbClr val="104E87"/>
                </a:solidFill>
                <a:latin typeface="Comic Sans MS" panose="030F0702030302020204" pitchFamily="66" charset="0"/>
                <a:ea typeface="华光行书_CNKI" panose="02000500000000000000" pitchFamily="2" charset="-122"/>
              </a:rPr>
              <a:t>nArea</a:t>
            </a:r>
            <a:r>
              <a:rPr lang="en-US" altLang="zh-CN" spc="-100" dirty="0">
                <a:solidFill>
                  <a:srgbClr val="104E87"/>
                </a:solidFill>
                <a:latin typeface="Comic Sans MS" panose="030F0702030302020204" pitchFamily="66" charset="0"/>
                <a:ea typeface="华光行书_CNKI" panose="02000500000000000000" pitchFamily="2" charset="-122"/>
              </a:rPr>
              <a:t> of circle is "&lt;&lt;figure-&gt;</a:t>
            </a:r>
            <a:r>
              <a:rPr lang="en-US" altLang="zh-CN" spc="-100" dirty="0" err="1">
                <a:solidFill>
                  <a:srgbClr val="104E87"/>
                </a:solidFill>
                <a:latin typeface="Comic Sans MS" panose="030F0702030302020204" pitchFamily="66" charset="0"/>
                <a:ea typeface="华光行书_CNKI" panose="02000500000000000000" pitchFamily="2" charset="-122"/>
              </a:rPr>
              <a:t>get_area</a:t>
            </a:r>
            <a:r>
              <a:rPr lang="en-US" altLang="zh-CN" spc="-100" dirty="0">
                <a:solidFill>
                  <a:srgbClr val="104E87"/>
                </a:solidFill>
                <a:latin typeface="Comic Sans MS" panose="030F0702030302020204" pitchFamily="66" charset="0"/>
                <a:ea typeface="华光行书_CNKI" panose="02000500000000000000" pitchFamily="2" charset="-122"/>
              </a:rPr>
              <a:t>();</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return 0;</a:t>
            </a:r>
          </a:p>
          <a:p>
            <a:pPr>
              <a:lnSpc>
                <a:spcPct val="90000"/>
              </a:lnSpc>
            </a:pPr>
            <a:r>
              <a:rPr lang="en-US" altLang="zh-CN" spc="-100" dirty="0">
                <a:solidFill>
                  <a:srgbClr val="104E87"/>
                </a:solidFill>
                <a:latin typeface="Comic Sans MS" panose="030F0702030302020204" pitchFamily="66" charset="0"/>
                <a:ea typeface="华光行书_CNKI" panose="02000500000000000000" pitchFamily="2" charset="-122"/>
              </a:rPr>
              <a:t>}</a:t>
            </a:r>
          </a:p>
        </p:txBody>
      </p:sp>
    </p:spTree>
    <p:extLst>
      <p:ext uri="{BB962C8B-B14F-4D97-AF65-F5344CB8AC3E}">
        <p14:creationId xmlns:p14="http://schemas.microsoft.com/office/powerpoint/2010/main" val="2219581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E2C8BAF-A20C-4EDC-A577-1004EE3A1A0A}"/>
              </a:ext>
            </a:extLst>
          </p:cNvPr>
          <p:cNvSpPr>
            <a:spLocks noChangeArrowheads="1"/>
          </p:cNvSpPr>
          <p:nvPr/>
        </p:nvSpPr>
        <p:spPr bwMode="auto">
          <a:xfrm>
            <a:off x="1801756" y="1779044"/>
            <a:ext cx="2426672" cy="1167179"/>
          </a:xfrm>
          <a:prstGeom prst="rect">
            <a:avLst/>
          </a:prstGeom>
          <a:noFill/>
          <a:ln w="9525">
            <a:solidFill>
              <a:srgbClr val="104E87"/>
            </a:solidFill>
            <a:miter lim="800000"/>
            <a:headEnd/>
            <a:tailEnd/>
          </a:ln>
        </p:spPr>
        <p:txBody>
          <a:bodyPr wrap="none" anchor="ctr"/>
          <a:lstStyle/>
          <a:p>
            <a:pPr eaLnBrk="1" hangingPunct="1">
              <a:defRPr/>
            </a:pPr>
            <a:r>
              <a:rPr lang="zh-CN" altLang="en-US" b="0" spc="-100" dirty="0">
                <a:solidFill>
                  <a:srgbClr val="104E87"/>
                </a:solidFill>
                <a:latin typeface="Comic Sans MS" panose="030F0702030302020204" pitchFamily="66" charset="0"/>
                <a:ea typeface="楷体_GB2312" pitchFamily="49" charset="-122"/>
              </a:rPr>
              <a:t># </a:t>
            </a:r>
            <a:r>
              <a:rPr lang="en-US" altLang="zh-CN" spc="-100" dirty="0" err="1">
                <a:solidFill>
                  <a:srgbClr val="104E87"/>
                </a:solidFill>
                <a:latin typeface="Comic Sans MS" panose="030F0702030302020204" pitchFamily="66" charset="0"/>
              </a:rPr>
              <a:t>x_size</a:t>
            </a:r>
            <a:r>
              <a:rPr lang="en-US" altLang="zh-CN" spc="-100" dirty="0">
                <a:solidFill>
                  <a:srgbClr val="104E87"/>
                </a:solidFill>
                <a:latin typeface="Comic Sans MS" panose="030F0702030302020204" pitchFamily="66" charset="0"/>
              </a:rPr>
              <a:t>, </a:t>
            </a:r>
            <a:r>
              <a:rPr lang="en-US" altLang="zh-CN" spc="-100" dirty="0" err="1">
                <a:solidFill>
                  <a:srgbClr val="104E87"/>
                </a:solidFill>
                <a:latin typeface="Comic Sans MS" panose="030F0702030302020204" pitchFamily="66" charset="0"/>
              </a:rPr>
              <a:t>y_size</a:t>
            </a:r>
            <a:endParaRPr lang="en-US" altLang="zh-CN" b="0" spc="-100" dirty="0">
              <a:solidFill>
                <a:srgbClr val="104E87"/>
              </a:solidFill>
              <a:latin typeface="Comic Sans MS" panose="030F0702030302020204" pitchFamily="66" charset="0"/>
              <a:ea typeface="楷体_GB2312" pitchFamily="49" charset="-122"/>
            </a:endParaRPr>
          </a:p>
          <a:p>
            <a:pPr eaLnBrk="1" hangingPunct="1">
              <a:defRPr/>
            </a:pPr>
            <a:r>
              <a:rPr lang="en-US" altLang="zh-CN" b="0" spc="-100" dirty="0">
                <a:solidFill>
                  <a:srgbClr val="104E87"/>
                </a:solidFill>
                <a:latin typeface="Comic Sans MS" panose="030F0702030302020204" pitchFamily="66" charset="0"/>
                <a:ea typeface="楷体_GB2312" pitchFamily="49" charset="-122"/>
              </a:rPr>
              <a:t>+ </a:t>
            </a:r>
            <a:r>
              <a:rPr lang="en-US" altLang="zh-CN" spc="-100" dirty="0" err="1">
                <a:solidFill>
                  <a:srgbClr val="104E87"/>
                </a:solidFill>
                <a:latin typeface="Comic Sans MS" panose="030F0702030302020204" pitchFamily="66" charset="0"/>
              </a:rPr>
              <a:t>set_size</a:t>
            </a:r>
            <a:r>
              <a:rPr lang="en-US" altLang="zh-CN" b="0" spc="-100" dirty="0">
                <a:solidFill>
                  <a:srgbClr val="104E87"/>
                </a:solidFill>
                <a:latin typeface="Comic Sans MS" panose="030F0702030302020204" pitchFamily="66" charset="0"/>
                <a:ea typeface="楷体_GB2312" pitchFamily="49" charset="-122"/>
              </a:rPr>
              <a:t>(…)</a:t>
            </a:r>
          </a:p>
          <a:p>
            <a:pPr eaLnBrk="1" hangingPunct="1">
              <a:defRPr/>
            </a:pPr>
            <a:r>
              <a:rPr lang="en-US" altLang="zh-CN" b="0" spc="-100" dirty="0">
                <a:solidFill>
                  <a:srgbClr val="FF0000"/>
                </a:solidFill>
                <a:latin typeface="Comic Sans MS" panose="030F0702030302020204" pitchFamily="66" charset="0"/>
                <a:ea typeface="楷体_GB2312" pitchFamily="49" charset="-122"/>
              </a:rPr>
              <a:t>+ </a:t>
            </a:r>
            <a:r>
              <a:rPr lang="en-US" altLang="zh-CN" b="0" spc="-100" dirty="0" err="1">
                <a:solidFill>
                  <a:srgbClr val="FF0000"/>
                </a:solidFill>
                <a:latin typeface="Comic Sans MS" panose="030F0702030302020204" pitchFamily="66" charset="0"/>
                <a:ea typeface="楷体_GB2312" pitchFamily="49" charset="-122"/>
              </a:rPr>
              <a:t>get_area</a:t>
            </a:r>
            <a:r>
              <a:rPr lang="en-US" altLang="zh-CN" b="0" spc="-100" dirty="0">
                <a:solidFill>
                  <a:srgbClr val="FF0000"/>
                </a:solidFill>
                <a:latin typeface="Comic Sans MS" panose="030F0702030302020204" pitchFamily="66" charset="0"/>
                <a:ea typeface="楷体_GB2312" pitchFamily="49" charset="-122"/>
              </a:rPr>
              <a:t>()=0</a:t>
            </a:r>
          </a:p>
        </p:txBody>
      </p:sp>
      <p:sp>
        <p:nvSpPr>
          <p:cNvPr id="3" name="Rectangle 3">
            <a:extLst>
              <a:ext uri="{FF2B5EF4-FFF2-40B4-BE49-F238E27FC236}">
                <a16:creationId xmlns:a16="http://schemas.microsoft.com/office/drawing/2014/main" id="{388BBC57-94F3-48DE-987F-B07C3EC8A893}"/>
              </a:ext>
            </a:extLst>
          </p:cNvPr>
          <p:cNvSpPr>
            <a:spLocks noChangeArrowheads="1"/>
          </p:cNvSpPr>
          <p:nvPr/>
        </p:nvSpPr>
        <p:spPr bwMode="auto">
          <a:xfrm>
            <a:off x="19844" y="4446343"/>
            <a:ext cx="2332892" cy="1892544"/>
          </a:xfrm>
          <a:prstGeom prst="rect">
            <a:avLst/>
          </a:prstGeom>
          <a:noFill/>
          <a:ln w="9525">
            <a:solidFill>
              <a:srgbClr val="104E87"/>
            </a:solidFill>
            <a:miter lim="800000"/>
            <a:headEnd/>
            <a:tailEnd/>
          </a:ln>
        </p:spPr>
        <p:txBody>
          <a:bodyPr wrap="none" anchor="ct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spcBef>
                <a:spcPct val="0"/>
              </a:spcBef>
              <a:buClrTx/>
              <a:buSzTx/>
              <a:buFontTx/>
              <a:buNone/>
              <a:defRPr/>
            </a:pPr>
            <a:r>
              <a:rPr lang="zh-CN" altLang="en-US" sz="2400" b="0" spc="-100" dirty="0">
                <a:solidFill>
                  <a:srgbClr val="104E87"/>
                </a:solidFill>
                <a:latin typeface="Comic Sans MS" panose="030F0702030302020204" pitchFamily="66" charset="0"/>
              </a:rPr>
              <a:t># </a:t>
            </a:r>
            <a:r>
              <a:rPr lang="en-US" altLang="zh-CN" sz="2400" spc="-100" dirty="0" err="1">
                <a:solidFill>
                  <a:srgbClr val="104E87"/>
                </a:solidFill>
                <a:latin typeface="Comic Sans MS" panose="030F0702030302020204" pitchFamily="66" charset="0"/>
                <a:ea typeface="宋体" pitchFamily="2" charset="-122"/>
              </a:rPr>
              <a:t>x_size</a:t>
            </a:r>
            <a:r>
              <a:rPr lang="en-US" altLang="zh-CN" sz="2400" spc="-100" dirty="0">
                <a:solidFill>
                  <a:srgbClr val="104E87"/>
                </a:solidFill>
                <a:latin typeface="Comic Sans MS" panose="030F0702030302020204" pitchFamily="66" charset="0"/>
                <a:ea typeface="宋体" pitchFamily="2" charset="-122"/>
              </a:rPr>
              <a:t>, </a:t>
            </a:r>
            <a:r>
              <a:rPr lang="en-US" altLang="zh-CN" sz="2400" spc="-100" dirty="0" err="1">
                <a:solidFill>
                  <a:srgbClr val="104E87"/>
                </a:solidFill>
                <a:latin typeface="Comic Sans MS" panose="030F0702030302020204" pitchFamily="66" charset="0"/>
                <a:ea typeface="宋体" pitchFamily="2" charset="-122"/>
              </a:rPr>
              <a:t>y_size</a:t>
            </a:r>
            <a:endParaRPr lang="en-US" altLang="zh-CN" sz="2400" b="0" spc="-100" dirty="0">
              <a:solidFill>
                <a:srgbClr val="104E87"/>
              </a:solidFill>
              <a:latin typeface="Comic Sans MS" panose="030F0702030302020204" pitchFamily="66" charset="0"/>
            </a:endParaRPr>
          </a:p>
          <a:p>
            <a:pPr eaLnBrk="1" hangingPunct="1">
              <a:spcBef>
                <a:spcPct val="0"/>
              </a:spcBef>
              <a:buClrTx/>
              <a:buSzTx/>
              <a:buFontTx/>
              <a:buNone/>
              <a:defRPr/>
            </a:pPr>
            <a:r>
              <a:rPr lang="en-US" altLang="zh-CN" sz="2400" b="0" spc="-100" dirty="0">
                <a:solidFill>
                  <a:srgbClr val="104E87"/>
                </a:solidFill>
                <a:latin typeface="Comic Sans MS" panose="030F0702030302020204" pitchFamily="66" charset="0"/>
              </a:rPr>
              <a:t>+ </a:t>
            </a:r>
            <a:r>
              <a:rPr lang="en-US" altLang="zh-CN" sz="2400" spc="-100" dirty="0" err="1">
                <a:solidFill>
                  <a:srgbClr val="104E87"/>
                </a:solidFill>
                <a:latin typeface="Comic Sans MS" panose="030F0702030302020204" pitchFamily="66" charset="0"/>
                <a:ea typeface="宋体" pitchFamily="2" charset="-122"/>
              </a:rPr>
              <a:t>set_size</a:t>
            </a:r>
            <a:r>
              <a:rPr lang="en-US" altLang="zh-CN" sz="2400" b="0" spc="-100" dirty="0">
                <a:solidFill>
                  <a:srgbClr val="104E87"/>
                </a:solidFill>
                <a:latin typeface="Comic Sans MS" panose="030F0702030302020204" pitchFamily="66" charset="0"/>
              </a:rPr>
              <a:t>(…)</a:t>
            </a:r>
          </a:p>
          <a:p>
            <a:pPr eaLnBrk="1" hangingPunct="1">
              <a:spcBef>
                <a:spcPct val="0"/>
              </a:spcBef>
              <a:buClrTx/>
              <a:buSzTx/>
              <a:buFontTx/>
              <a:buNone/>
              <a:defRPr/>
            </a:pPr>
            <a:r>
              <a:rPr lang="en-US" altLang="zh-CN" sz="2400" b="0" spc="-100" dirty="0">
                <a:solidFill>
                  <a:srgbClr val="FF0000"/>
                </a:solidFill>
                <a:latin typeface="Comic Sans MS" panose="030F0702030302020204" pitchFamily="66" charset="0"/>
              </a:rPr>
              <a:t>+ </a:t>
            </a:r>
            <a:r>
              <a:rPr lang="en-US" altLang="zh-CN" sz="2400" b="0" spc="-100" dirty="0" err="1">
                <a:solidFill>
                  <a:srgbClr val="FF0000"/>
                </a:solidFill>
                <a:latin typeface="Comic Sans MS" panose="030F0702030302020204" pitchFamily="66" charset="0"/>
              </a:rPr>
              <a:t>get_area</a:t>
            </a:r>
            <a:r>
              <a:rPr lang="en-US" altLang="zh-CN" sz="2400" b="0" spc="-100" dirty="0">
                <a:solidFill>
                  <a:srgbClr val="FF0000"/>
                </a:solidFill>
                <a:latin typeface="Comic Sans MS" panose="030F0702030302020204" pitchFamily="66" charset="0"/>
              </a:rPr>
              <a:t>()=0</a:t>
            </a:r>
          </a:p>
          <a:p>
            <a:pPr eaLnBrk="1" hangingPunct="1">
              <a:spcBef>
                <a:spcPct val="0"/>
              </a:spcBef>
              <a:buClrTx/>
              <a:buSzTx/>
              <a:buFontTx/>
              <a:buNone/>
              <a:defRPr/>
            </a:pPr>
            <a:endParaRPr lang="en-US" altLang="zh-CN" sz="2400" b="0" spc="-100" dirty="0">
              <a:solidFill>
                <a:schemeClr val="bg2"/>
              </a:solidFill>
              <a:latin typeface="Comic Sans MS" panose="030F0702030302020204" pitchFamily="66" charset="0"/>
            </a:endParaRPr>
          </a:p>
          <a:p>
            <a:pPr eaLnBrk="1" hangingPunct="1">
              <a:spcBef>
                <a:spcPct val="0"/>
              </a:spcBef>
              <a:buClrTx/>
              <a:buSzTx/>
              <a:buFontTx/>
              <a:buNone/>
              <a:defRPr/>
            </a:pPr>
            <a:r>
              <a:rPr lang="en-US" altLang="zh-CN" sz="2400" b="0" spc="-100" dirty="0">
                <a:solidFill>
                  <a:srgbClr val="0000CC"/>
                </a:solidFill>
                <a:latin typeface="Comic Sans MS" panose="030F0702030302020204" pitchFamily="66" charset="0"/>
              </a:rPr>
              <a:t>+ </a:t>
            </a:r>
            <a:r>
              <a:rPr lang="en-US" altLang="zh-CN" sz="2400" b="0" spc="-100" dirty="0" err="1">
                <a:solidFill>
                  <a:srgbClr val="0000CC"/>
                </a:solidFill>
                <a:latin typeface="Comic Sans MS" panose="030F0702030302020204" pitchFamily="66" charset="0"/>
              </a:rPr>
              <a:t>get_area</a:t>
            </a:r>
            <a:r>
              <a:rPr lang="en-US" altLang="zh-CN" sz="2400" b="0" spc="-100" dirty="0">
                <a:solidFill>
                  <a:srgbClr val="0000CC"/>
                </a:solidFill>
                <a:latin typeface="Comic Sans MS" panose="030F0702030302020204" pitchFamily="66" charset="0"/>
              </a:rPr>
              <a:t>()</a:t>
            </a:r>
          </a:p>
        </p:txBody>
      </p:sp>
      <p:sp>
        <p:nvSpPr>
          <p:cNvPr id="4" name="Text Box 4">
            <a:extLst>
              <a:ext uri="{FF2B5EF4-FFF2-40B4-BE49-F238E27FC236}">
                <a16:creationId xmlns:a16="http://schemas.microsoft.com/office/drawing/2014/main" id="{361ADC9E-879C-469B-8ABC-693F18D06B73}"/>
              </a:ext>
            </a:extLst>
          </p:cNvPr>
          <p:cNvSpPr txBox="1">
            <a:spLocks noChangeArrowheads="1"/>
          </p:cNvSpPr>
          <p:nvPr/>
        </p:nvSpPr>
        <p:spPr bwMode="auto">
          <a:xfrm>
            <a:off x="1781912" y="1357711"/>
            <a:ext cx="2087563"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spc="-100" dirty="0">
                <a:solidFill>
                  <a:srgbClr val="104E87"/>
                </a:solidFill>
                <a:latin typeface="Comic Sans MS" panose="030F0702030302020204" pitchFamily="66" charset="0"/>
              </a:rPr>
              <a:t>FIGURE</a:t>
            </a:r>
            <a:endParaRPr lang="en-US" altLang="zh-CN" b="0" spc="-100" dirty="0">
              <a:solidFill>
                <a:srgbClr val="104E87"/>
              </a:solidFill>
              <a:latin typeface="Comic Sans MS" panose="030F0702030302020204" pitchFamily="66" charset="0"/>
              <a:ea typeface="楷体_GB2312" pitchFamily="49" charset="-122"/>
            </a:endParaRPr>
          </a:p>
        </p:txBody>
      </p:sp>
      <p:sp>
        <p:nvSpPr>
          <p:cNvPr id="5" name="Rectangle 5">
            <a:extLst>
              <a:ext uri="{FF2B5EF4-FFF2-40B4-BE49-F238E27FC236}">
                <a16:creationId xmlns:a16="http://schemas.microsoft.com/office/drawing/2014/main" id="{270DEACD-00CA-46A2-9FF1-3F1E575B28FD}"/>
              </a:ext>
            </a:extLst>
          </p:cNvPr>
          <p:cNvSpPr>
            <a:spLocks noChangeArrowheads="1"/>
          </p:cNvSpPr>
          <p:nvPr/>
        </p:nvSpPr>
        <p:spPr bwMode="auto">
          <a:xfrm>
            <a:off x="2389742" y="4446343"/>
            <a:ext cx="2332892" cy="1892544"/>
          </a:xfrm>
          <a:prstGeom prst="rect">
            <a:avLst/>
          </a:prstGeom>
          <a:noFill/>
          <a:ln w="9525">
            <a:solidFill>
              <a:srgbClr val="104E87"/>
            </a:solidFill>
            <a:miter lim="800000"/>
            <a:headEnd/>
            <a:tailEnd/>
          </a:ln>
        </p:spPr>
        <p:txBody>
          <a:bodyPr wrap="none" anchor="ct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spcBef>
                <a:spcPct val="0"/>
              </a:spcBef>
              <a:buClrTx/>
              <a:buSzTx/>
              <a:buFontTx/>
              <a:buNone/>
              <a:defRPr/>
            </a:pPr>
            <a:r>
              <a:rPr lang="zh-CN" altLang="en-US" sz="2400" b="0" spc="-100" dirty="0">
                <a:solidFill>
                  <a:srgbClr val="104E87"/>
                </a:solidFill>
                <a:latin typeface="Comic Sans MS" panose="030F0702030302020204" pitchFamily="66" charset="0"/>
              </a:rPr>
              <a:t># </a:t>
            </a:r>
            <a:r>
              <a:rPr lang="en-US" altLang="zh-CN" sz="2400" spc="-100" dirty="0" err="1">
                <a:solidFill>
                  <a:srgbClr val="104E87"/>
                </a:solidFill>
                <a:latin typeface="Comic Sans MS" panose="030F0702030302020204" pitchFamily="66" charset="0"/>
                <a:ea typeface="宋体" pitchFamily="2" charset="-122"/>
              </a:rPr>
              <a:t>x_size</a:t>
            </a:r>
            <a:r>
              <a:rPr lang="en-US" altLang="zh-CN" sz="2400" spc="-100" dirty="0">
                <a:solidFill>
                  <a:srgbClr val="104E87"/>
                </a:solidFill>
                <a:latin typeface="Comic Sans MS" panose="030F0702030302020204" pitchFamily="66" charset="0"/>
                <a:ea typeface="宋体" pitchFamily="2" charset="-122"/>
              </a:rPr>
              <a:t>, </a:t>
            </a:r>
            <a:r>
              <a:rPr lang="en-US" altLang="zh-CN" sz="2400" spc="-100" dirty="0" err="1">
                <a:solidFill>
                  <a:srgbClr val="104E87"/>
                </a:solidFill>
                <a:latin typeface="Comic Sans MS" panose="030F0702030302020204" pitchFamily="66" charset="0"/>
                <a:ea typeface="宋体" pitchFamily="2" charset="-122"/>
              </a:rPr>
              <a:t>y_size</a:t>
            </a:r>
            <a:endParaRPr lang="en-US" altLang="zh-CN" sz="2400" b="0" spc="-100" dirty="0">
              <a:solidFill>
                <a:srgbClr val="104E87"/>
              </a:solidFill>
              <a:latin typeface="Comic Sans MS" panose="030F0702030302020204" pitchFamily="66" charset="0"/>
            </a:endParaRPr>
          </a:p>
          <a:p>
            <a:pPr eaLnBrk="1" hangingPunct="1">
              <a:spcBef>
                <a:spcPct val="0"/>
              </a:spcBef>
              <a:buClrTx/>
              <a:buSzTx/>
              <a:buFontTx/>
              <a:buNone/>
              <a:defRPr/>
            </a:pPr>
            <a:r>
              <a:rPr lang="en-US" altLang="zh-CN" sz="2400" b="0" spc="-100" dirty="0">
                <a:solidFill>
                  <a:srgbClr val="104E87"/>
                </a:solidFill>
                <a:latin typeface="Comic Sans MS" panose="030F0702030302020204" pitchFamily="66" charset="0"/>
              </a:rPr>
              <a:t>+ </a:t>
            </a:r>
            <a:r>
              <a:rPr lang="en-US" altLang="zh-CN" sz="2400" spc="-100" dirty="0" err="1">
                <a:solidFill>
                  <a:srgbClr val="104E87"/>
                </a:solidFill>
                <a:latin typeface="Comic Sans MS" panose="030F0702030302020204" pitchFamily="66" charset="0"/>
                <a:ea typeface="宋体" pitchFamily="2" charset="-122"/>
              </a:rPr>
              <a:t>set_size</a:t>
            </a:r>
            <a:r>
              <a:rPr lang="en-US" altLang="zh-CN" sz="2400" b="0" spc="-100" dirty="0">
                <a:solidFill>
                  <a:srgbClr val="104E87"/>
                </a:solidFill>
                <a:latin typeface="Comic Sans MS" panose="030F0702030302020204" pitchFamily="66" charset="0"/>
              </a:rPr>
              <a:t>(…)</a:t>
            </a:r>
          </a:p>
          <a:p>
            <a:pPr eaLnBrk="1" hangingPunct="1">
              <a:spcBef>
                <a:spcPct val="0"/>
              </a:spcBef>
              <a:buClrTx/>
              <a:buSzTx/>
              <a:buFontTx/>
              <a:buNone/>
              <a:defRPr/>
            </a:pPr>
            <a:r>
              <a:rPr lang="en-US" altLang="zh-CN" sz="2400" b="0" spc="-100" dirty="0">
                <a:solidFill>
                  <a:srgbClr val="FF0000"/>
                </a:solidFill>
                <a:latin typeface="Comic Sans MS" panose="030F0702030302020204" pitchFamily="66" charset="0"/>
              </a:rPr>
              <a:t>+ </a:t>
            </a:r>
            <a:r>
              <a:rPr lang="en-US" altLang="zh-CN" sz="2400" b="0" spc="-100" dirty="0" err="1">
                <a:solidFill>
                  <a:srgbClr val="FF0000"/>
                </a:solidFill>
                <a:latin typeface="Comic Sans MS" panose="030F0702030302020204" pitchFamily="66" charset="0"/>
              </a:rPr>
              <a:t>get_area</a:t>
            </a:r>
            <a:r>
              <a:rPr lang="en-US" altLang="zh-CN" sz="2400" b="0" spc="-100" dirty="0">
                <a:solidFill>
                  <a:srgbClr val="FF0000"/>
                </a:solidFill>
                <a:latin typeface="Comic Sans MS" panose="030F0702030302020204" pitchFamily="66" charset="0"/>
              </a:rPr>
              <a:t>()=0</a:t>
            </a:r>
          </a:p>
          <a:p>
            <a:pPr eaLnBrk="1" hangingPunct="1">
              <a:spcBef>
                <a:spcPct val="0"/>
              </a:spcBef>
              <a:buClrTx/>
              <a:buSzTx/>
              <a:buFontTx/>
              <a:buNone/>
              <a:defRPr/>
            </a:pPr>
            <a:endParaRPr lang="en-US" altLang="zh-CN" sz="2400" b="0" spc="-100" dirty="0">
              <a:solidFill>
                <a:schemeClr val="bg2"/>
              </a:solidFill>
              <a:latin typeface="Comic Sans MS" panose="030F0702030302020204" pitchFamily="66" charset="0"/>
            </a:endParaRPr>
          </a:p>
          <a:p>
            <a:pPr eaLnBrk="1" hangingPunct="1">
              <a:spcBef>
                <a:spcPct val="0"/>
              </a:spcBef>
              <a:buClrTx/>
              <a:buSzTx/>
              <a:buFontTx/>
              <a:buNone/>
              <a:defRPr/>
            </a:pPr>
            <a:r>
              <a:rPr lang="en-US" altLang="zh-CN" sz="2400" b="0" spc="-100" dirty="0">
                <a:solidFill>
                  <a:srgbClr val="0000CC"/>
                </a:solidFill>
                <a:latin typeface="Comic Sans MS" panose="030F0702030302020204" pitchFamily="66" charset="0"/>
              </a:rPr>
              <a:t>+ </a:t>
            </a:r>
            <a:r>
              <a:rPr lang="en-US" altLang="zh-CN" sz="2400" b="0" spc="-100" dirty="0" err="1">
                <a:solidFill>
                  <a:srgbClr val="0000CC"/>
                </a:solidFill>
                <a:latin typeface="Comic Sans MS" panose="030F0702030302020204" pitchFamily="66" charset="0"/>
              </a:rPr>
              <a:t>get_area</a:t>
            </a:r>
            <a:r>
              <a:rPr lang="en-US" altLang="zh-CN" sz="2400" b="0" spc="-100" dirty="0">
                <a:solidFill>
                  <a:srgbClr val="0000CC"/>
                </a:solidFill>
                <a:latin typeface="Comic Sans MS" panose="030F0702030302020204" pitchFamily="66" charset="0"/>
              </a:rPr>
              <a:t>()</a:t>
            </a:r>
          </a:p>
        </p:txBody>
      </p:sp>
      <p:sp>
        <p:nvSpPr>
          <p:cNvPr id="6" name="Rectangle 6">
            <a:extLst>
              <a:ext uri="{FF2B5EF4-FFF2-40B4-BE49-F238E27FC236}">
                <a16:creationId xmlns:a16="http://schemas.microsoft.com/office/drawing/2014/main" id="{53B3BBFE-A196-461D-B0C6-66FD636358DC}"/>
              </a:ext>
            </a:extLst>
          </p:cNvPr>
          <p:cNvSpPr>
            <a:spLocks noChangeArrowheads="1"/>
          </p:cNvSpPr>
          <p:nvPr/>
        </p:nvSpPr>
        <p:spPr bwMode="auto">
          <a:xfrm>
            <a:off x="4770264" y="4446343"/>
            <a:ext cx="2332892" cy="1892544"/>
          </a:xfrm>
          <a:prstGeom prst="rect">
            <a:avLst/>
          </a:prstGeom>
          <a:noFill/>
          <a:ln w="9525">
            <a:solidFill>
              <a:srgbClr val="104E87"/>
            </a:solidFill>
            <a:miter lim="800000"/>
            <a:headEnd/>
            <a:tailEnd/>
          </a:ln>
        </p:spPr>
        <p:txBody>
          <a:bodyPr wrap="none" anchor="ct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spcBef>
                <a:spcPct val="0"/>
              </a:spcBef>
              <a:buClrTx/>
              <a:buSzTx/>
              <a:buFontTx/>
              <a:buNone/>
              <a:defRPr/>
            </a:pPr>
            <a:r>
              <a:rPr lang="zh-CN" altLang="en-US" sz="2400" b="0" spc="-100" dirty="0">
                <a:solidFill>
                  <a:srgbClr val="104E87"/>
                </a:solidFill>
                <a:latin typeface="Comic Sans MS" panose="030F0702030302020204" pitchFamily="66" charset="0"/>
              </a:rPr>
              <a:t># </a:t>
            </a:r>
            <a:r>
              <a:rPr lang="en-US" altLang="zh-CN" sz="2400" spc="-100" dirty="0" err="1">
                <a:solidFill>
                  <a:srgbClr val="104E87"/>
                </a:solidFill>
                <a:latin typeface="Comic Sans MS" panose="030F0702030302020204" pitchFamily="66" charset="0"/>
                <a:ea typeface="宋体" pitchFamily="2" charset="-122"/>
              </a:rPr>
              <a:t>x_size</a:t>
            </a:r>
            <a:r>
              <a:rPr lang="en-US" altLang="zh-CN" sz="2400" spc="-100" dirty="0">
                <a:solidFill>
                  <a:srgbClr val="104E87"/>
                </a:solidFill>
                <a:latin typeface="Comic Sans MS" panose="030F0702030302020204" pitchFamily="66" charset="0"/>
                <a:ea typeface="宋体" pitchFamily="2" charset="-122"/>
              </a:rPr>
              <a:t>, </a:t>
            </a:r>
            <a:r>
              <a:rPr lang="en-US" altLang="zh-CN" sz="2400" spc="-100" dirty="0" err="1">
                <a:solidFill>
                  <a:srgbClr val="104E87"/>
                </a:solidFill>
                <a:latin typeface="Comic Sans MS" panose="030F0702030302020204" pitchFamily="66" charset="0"/>
                <a:ea typeface="宋体" pitchFamily="2" charset="-122"/>
              </a:rPr>
              <a:t>y_size</a:t>
            </a:r>
            <a:endParaRPr lang="en-US" altLang="zh-CN" sz="2400" b="0" spc="-100" dirty="0">
              <a:solidFill>
                <a:srgbClr val="104E87"/>
              </a:solidFill>
              <a:latin typeface="Comic Sans MS" panose="030F0702030302020204" pitchFamily="66" charset="0"/>
            </a:endParaRPr>
          </a:p>
          <a:p>
            <a:pPr eaLnBrk="1" hangingPunct="1">
              <a:spcBef>
                <a:spcPct val="0"/>
              </a:spcBef>
              <a:buClrTx/>
              <a:buSzTx/>
              <a:buFontTx/>
              <a:buNone/>
              <a:defRPr/>
            </a:pPr>
            <a:r>
              <a:rPr lang="en-US" altLang="zh-CN" sz="2400" b="0" spc="-100" dirty="0">
                <a:solidFill>
                  <a:srgbClr val="104E87"/>
                </a:solidFill>
                <a:latin typeface="Comic Sans MS" panose="030F0702030302020204" pitchFamily="66" charset="0"/>
              </a:rPr>
              <a:t>+ </a:t>
            </a:r>
            <a:r>
              <a:rPr lang="en-US" altLang="zh-CN" sz="2400" spc="-100" dirty="0" err="1">
                <a:solidFill>
                  <a:srgbClr val="104E87"/>
                </a:solidFill>
                <a:latin typeface="Comic Sans MS" panose="030F0702030302020204" pitchFamily="66" charset="0"/>
                <a:ea typeface="宋体" pitchFamily="2" charset="-122"/>
              </a:rPr>
              <a:t>set_size</a:t>
            </a:r>
            <a:r>
              <a:rPr lang="en-US" altLang="zh-CN" sz="2400" b="0" spc="-100" dirty="0">
                <a:solidFill>
                  <a:srgbClr val="104E87"/>
                </a:solidFill>
                <a:latin typeface="Comic Sans MS" panose="030F0702030302020204" pitchFamily="66" charset="0"/>
              </a:rPr>
              <a:t>(…)</a:t>
            </a:r>
          </a:p>
          <a:p>
            <a:pPr eaLnBrk="1" hangingPunct="1">
              <a:spcBef>
                <a:spcPct val="0"/>
              </a:spcBef>
              <a:buClrTx/>
              <a:buSzTx/>
              <a:buFontTx/>
              <a:buNone/>
              <a:defRPr/>
            </a:pPr>
            <a:r>
              <a:rPr lang="en-US" altLang="zh-CN" sz="2400" b="0" spc="-100" dirty="0">
                <a:solidFill>
                  <a:srgbClr val="FF0000"/>
                </a:solidFill>
                <a:latin typeface="Comic Sans MS" panose="030F0702030302020204" pitchFamily="66" charset="0"/>
              </a:rPr>
              <a:t>+ </a:t>
            </a:r>
            <a:r>
              <a:rPr lang="en-US" altLang="zh-CN" sz="2400" b="0" spc="-100" dirty="0" err="1">
                <a:solidFill>
                  <a:srgbClr val="FF0000"/>
                </a:solidFill>
                <a:latin typeface="Comic Sans MS" panose="030F0702030302020204" pitchFamily="66" charset="0"/>
              </a:rPr>
              <a:t>get_area</a:t>
            </a:r>
            <a:r>
              <a:rPr lang="en-US" altLang="zh-CN" sz="2400" b="0" spc="-100" dirty="0">
                <a:solidFill>
                  <a:srgbClr val="FF0000"/>
                </a:solidFill>
                <a:latin typeface="Comic Sans MS" panose="030F0702030302020204" pitchFamily="66" charset="0"/>
              </a:rPr>
              <a:t>()=0</a:t>
            </a:r>
          </a:p>
          <a:p>
            <a:pPr eaLnBrk="1" hangingPunct="1">
              <a:spcBef>
                <a:spcPct val="0"/>
              </a:spcBef>
              <a:buClrTx/>
              <a:buSzTx/>
              <a:buFontTx/>
              <a:buNone/>
              <a:defRPr/>
            </a:pPr>
            <a:endParaRPr lang="en-US" altLang="zh-CN" sz="2400" b="0" spc="-100" dirty="0">
              <a:solidFill>
                <a:schemeClr val="bg2"/>
              </a:solidFill>
              <a:latin typeface="Comic Sans MS" panose="030F0702030302020204" pitchFamily="66" charset="0"/>
            </a:endParaRPr>
          </a:p>
          <a:p>
            <a:pPr eaLnBrk="1" hangingPunct="1">
              <a:spcBef>
                <a:spcPct val="0"/>
              </a:spcBef>
              <a:buClrTx/>
              <a:buSzTx/>
              <a:buFontTx/>
              <a:buNone/>
              <a:defRPr/>
            </a:pPr>
            <a:r>
              <a:rPr lang="en-US" altLang="zh-CN" sz="2400" b="0" spc="-100" dirty="0">
                <a:solidFill>
                  <a:srgbClr val="0000CC"/>
                </a:solidFill>
                <a:latin typeface="Comic Sans MS" panose="030F0702030302020204" pitchFamily="66" charset="0"/>
              </a:rPr>
              <a:t>+ </a:t>
            </a:r>
            <a:r>
              <a:rPr lang="en-US" altLang="zh-CN" sz="2400" b="0" spc="-100" dirty="0" err="1">
                <a:solidFill>
                  <a:srgbClr val="0000CC"/>
                </a:solidFill>
                <a:latin typeface="Comic Sans MS" panose="030F0702030302020204" pitchFamily="66" charset="0"/>
              </a:rPr>
              <a:t>get_area</a:t>
            </a:r>
            <a:r>
              <a:rPr lang="en-US" altLang="zh-CN" sz="2400" b="0" spc="-100" dirty="0">
                <a:solidFill>
                  <a:srgbClr val="0000CC"/>
                </a:solidFill>
                <a:latin typeface="Comic Sans MS" panose="030F0702030302020204" pitchFamily="66" charset="0"/>
              </a:rPr>
              <a:t>()</a:t>
            </a:r>
          </a:p>
        </p:txBody>
      </p:sp>
      <p:sp>
        <p:nvSpPr>
          <p:cNvPr id="7" name="Line 7">
            <a:extLst>
              <a:ext uri="{FF2B5EF4-FFF2-40B4-BE49-F238E27FC236}">
                <a16:creationId xmlns:a16="http://schemas.microsoft.com/office/drawing/2014/main" id="{459DD020-A4A0-4E50-A34A-ECCC2B4EE3A0}"/>
              </a:ext>
            </a:extLst>
          </p:cNvPr>
          <p:cNvSpPr>
            <a:spLocks noChangeShapeType="1"/>
          </p:cNvSpPr>
          <p:nvPr/>
        </p:nvSpPr>
        <p:spPr bwMode="auto">
          <a:xfrm flipV="1">
            <a:off x="1674109" y="2946223"/>
            <a:ext cx="669982" cy="1387529"/>
          </a:xfrm>
          <a:prstGeom prst="line">
            <a:avLst/>
          </a:prstGeom>
          <a:noFill/>
          <a:ln w="9525">
            <a:solidFill>
              <a:srgbClr val="104E87"/>
            </a:solidFill>
            <a:round/>
            <a:headEnd/>
            <a:tailEnd type="triangle" w="med" len="med"/>
          </a:ln>
        </p:spPr>
        <p:txBody>
          <a:bodyPr wrap="none"/>
          <a:lstStyle/>
          <a:p>
            <a:pPr eaLnBrk="1" hangingPunct="1">
              <a:defRPr/>
            </a:pPr>
            <a:endParaRPr lang="zh-CN" altLang="en-US" spc="-100">
              <a:latin typeface="Comic Sans MS" panose="030F0702030302020204" pitchFamily="66" charset="0"/>
            </a:endParaRPr>
          </a:p>
        </p:txBody>
      </p:sp>
      <p:sp>
        <p:nvSpPr>
          <p:cNvPr id="8" name="Line 8">
            <a:extLst>
              <a:ext uri="{FF2B5EF4-FFF2-40B4-BE49-F238E27FC236}">
                <a16:creationId xmlns:a16="http://schemas.microsoft.com/office/drawing/2014/main" id="{DA7DBDAD-31A6-4C72-A2B0-C0C6050BAA01}"/>
              </a:ext>
            </a:extLst>
          </p:cNvPr>
          <p:cNvSpPr>
            <a:spLocks noChangeShapeType="1"/>
          </p:cNvSpPr>
          <p:nvPr/>
        </p:nvSpPr>
        <p:spPr bwMode="auto">
          <a:xfrm flipV="1">
            <a:off x="2997511" y="2946223"/>
            <a:ext cx="0" cy="1431071"/>
          </a:xfrm>
          <a:prstGeom prst="line">
            <a:avLst/>
          </a:prstGeom>
          <a:noFill/>
          <a:ln w="9525">
            <a:solidFill>
              <a:srgbClr val="104E87"/>
            </a:solidFill>
            <a:round/>
            <a:headEnd/>
            <a:tailEnd type="triangle" w="med" len="med"/>
          </a:ln>
        </p:spPr>
        <p:txBody>
          <a:bodyPr wrap="none"/>
          <a:lstStyle/>
          <a:p>
            <a:pPr eaLnBrk="1" hangingPunct="1">
              <a:defRPr/>
            </a:pPr>
            <a:endParaRPr lang="zh-CN" altLang="en-US" spc="-100" dirty="0">
              <a:latin typeface="Comic Sans MS" panose="030F0702030302020204" pitchFamily="66" charset="0"/>
            </a:endParaRPr>
          </a:p>
        </p:txBody>
      </p:sp>
      <p:sp>
        <p:nvSpPr>
          <p:cNvPr id="9" name="Line 9">
            <a:extLst>
              <a:ext uri="{FF2B5EF4-FFF2-40B4-BE49-F238E27FC236}">
                <a16:creationId xmlns:a16="http://schemas.microsoft.com/office/drawing/2014/main" id="{D0C76069-8A44-43AD-92C0-4513CAB99F2D}"/>
              </a:ext>
            </a:extLst>
          </p:cNvPr>
          <p:cNvSpPr>
            <a:spLocks noChangeShapeType="1"/>
          </p:cNvSpPr>
          <p:nvPr/>
        </p:nvSpPr>
        <p:spPr bwMode="auto">
          <a:xfrm flipH="1" flipV="1">
            <a:off x="3869475" y="2946222"/>
            <a:ext cx="1253509" cy="1431071"/>
          </a:xfrm>
          <a:prstGeom prst="line">
            <a:avLst/>
          </a:prstGeom>
          <a:noFill/>
          <a:ln w="9525">
            <a:solidFill>
              <a:srgbClr val="104E87"/>
            </a:solidFill>
            <a:round/>
            <a:headEnd/>
            <a:tailEnd type="triangle" w="med" len="med"/>
          </a:ln>
        </p:spPr>
        <p:txBody>
          <a:bodyPr wrap="none"/>
          <a:lstStyle/>
          <a:p>
            <a:pPr eaLnBrk="1" hangingPunct="1">
              <a:defRPr/>
            </a:pPr>
            <a:endParaRPr lang="zh-CN" altLang="en-US" spc="-100">
              <a:latin typeface="Comic Sans MS" panose="030F0702030302020204" pitchFamily="66" charset="0"/>
            </a:endParaRPr>
          </a:p>
        </p:txBody>
      </p:sp>
      <p:sp>
        <p:nvSpPr>
          <p:cNvPr id="10" name="Rectangle 10">
            <a:extLst>
              <a:ext uri="{FF2B5EF4-FFF2-40B4-BE49-F238E27FC236}">
                <a16:creationId xmlns:a16="http://schemas.microsoft.com/office/drawing/2014/main" id="{6032D937-C94F-41B8-AD75-0668BD1A6698}"/>
              </a:ext>
            </a:extLst>
          </p:cNvPr>
          <p:cNvSpPr>
            <a:spLocks noChangeArrowheads="1"/>
          </p:cNvSpPr>
          <p:nvPr/>
        </p:nvSpPr>
        <p:spPr bwMode="auto">
          <a:xfrm>
            <a:off x="102286" y="3996294"/>
            <a:ext cx="1696298" cy="461665"/>
          </a:xfrm>
          <a:prstGeom prst="rect">
            <a:avLst/>
          </a:prstGeom>
          <a:noFill/>
          <a:ln>
            <a:noFill/>
          </a:ln>
        </p:spPr>
        <p:txBody>
          <a:bodyPr wrap="non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spcBef>
                <a:spcPct val="0"/>
              </a:spcBef>
              <a:buClrTx/>
              <a:buSzTx/>
              <a:buFontTx/>
              <a:buNone/>
              <a:defRPr/>
            </a:pPr>
            <a:r>
              <a:rPr lang="en-US" altLang="zh-CN" sz="2400" spc="-100" dirty="0">
                <a:solidFill>
                  <a:srgbClr val="104E87"/>
                </a:solidFill>
                <a:latin typeface="Comic Sans MS" panose="030F0702030302020204" pitchFamily="66" charset="0"/>
                <a:ea typeface="宋体" pitchFamily="2" charset="-122"/>
              </a:rPr>
              <a:t>TRIANGLE</a:t>
            </a:r>
          </a:p>
        </p:txBody>
      </p:sp>
      <p:sp>
        <p:nvSpPr>
          <p:cNvPr id="11" name="Rectangle 11">
            <a:extLst>
              <a:ext uri="{FF2B5EF4-FFF2-40B4-BE49-F238E27FC236}">
                <a16:creationId xmlns:a16="http://schemas.microsoft.com/office/drawing/2014/main" id="{33CADE01-4F5B-4528-9947-4B797E4956EB}"/>
              </a:ext>
            </a:extLst>
          </p:cNvPr>
          <p:cNvSpPr>
            <a:spLocks noChangeArrowheads="1"/>
          </p:cNvSpPr>
          <p:nvPr/>
        </p:nvSpPr>
        <p:spPr bwMode="auto">
          <a:xfrm>
            <a:off x="2993728" y="4015168"/>
            <a:ext cx="1204176" cy="461665"/>
          </a:xfrm>
          <a:prstGeom prst="rect">
            <a:avLst/>
          </a:prstGeom>
          <a:noFill/>
          <a:ln>
            <a:noFill/>
          </a:ln>
        </p:spPr>
        <p:txBody>
          <a:bodyPr wrap="non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spcBef>
                <a:spcPct val="0"/>
              </a:spcBef>
              <a:buClrTx/>
              <a:buSzTx/>
              <a:buFontTx/>
              <a:buNone/>
              <a:defRPr/>
            </a:pPr>
            <a:r>
              <a:rPr lang="en-US" altLang="zh-CN" sz="2400" spc="-100" dirty="0">
                <a:solidFill>
                  <a:srgbClr val="104E87"/>
                </a:solidFill>
                <a:latin typeface="Comic Sans MS" panose="030F0702030302020204" pitchFamily="66" charset="0"/>
                <a:ea typeface="宋体" pitchFamily="2" charset="-122"/>
              </a:rPr>
              <a:t>CIRCLE</a:t>
            </a:r>
          </a:p>
        </p:txBody>
      </p:sp>
      <p:sp>
        <p:nvSpPr>
          <p:cNvPr id="12" name="Rectangle 12">
            <a:extLst>
              <a:ext uri="{FF2B5EF4-FFF2-40B4-BE49-F238E27FC236}">
                <a16:creationId xmlns:a16="http://schemas.microsoft.com/office/drawing/2014/main" id="{A76890B9-77DD-4971-B9E7-FC15FCAF9727}"/>
              </a:ext>
            </a:extLst>
          </p:cNvPr>
          <p:cNvSpPr>
            <a:spLocks noChangeArrowheads="1"/>
          </p:cNvSpPr>
          <p:nvPr/>
        </p:nvSpPr>
        <p:spPr bwMode="auto">
          <a:xfrm>
            <a:off x="5048213" y="3996179"/>
            <a:ext cx="1893467" cy="461665"/>
          </a:xfrm>
          <a:prstGeom prst="rect">
            <a:avLst/>
          </a:prstGeom>
          <a:noFill/>
          <a:ln>
            <a:noFill/>
          </a:ln>
        </p:spPr>
        <p:txBody>
          <a:bodyPr wrap="non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spcBef>
                <a:spcPct val="0"/>
              </a:spcBef>
              <a:buClrTx/>
              <a:buSzTx/>
              <a:buFontTx/>
              <a:buNone/>
              <a:defRPr/>
            </a:pPr>
            <a:r>
              <a:rPr lang="en-US" altLang="zh-CN" sz="2400" spc="-100" dirty="0">
                <a:solidFill>
                  <a:srgbClr val="104E87"/>
                </a:solidFill>
                <a:latin typeface="Comic Sans MS" panose="030F0702030302020204" pitchFamily="66" charset="0"/>
                <a:ea typeface="宋体" pitchFamily="2" charset="-122"/>
              </a:rPr>
              <a:t>RECTANGLE</a:t>
            </a:r>
          </a:p>
        </p:txBody>
      </p:sp>
      <p:sp>
        <p:nvSpPr>
          <p:cNvPr id="13" name="TextBox 3">
            <a:extLst>
              <a:ext uri="{FF2B5EF4-FFF2-40B4-BE49-F238E27FC236}">
                <a16:creationId xmlns:a16="http://schemas.microsoft.com/office/drawing/2014/main" id="{4A220530-6E2C-4857-B9A6-B1737382F22A}"/>
              </a:ext>
            </a:extLst>
          </p:cNvPr>
          <p:cNvSpPr txBox="1"/>
          <p:nvPr/>
        </p:nvSpPr>
        <p:spPr>
          <a:xfrm>
            <a:off x="5048213" y="379237"/>
            <a:ext cx="7071228" cy="2000548"/>
          </a:xfrm>
          <a:prstGeom prst="rect">
            <a:avLst/>
          </a:prstGeom>
          <a:noFill/>
        </p:spPr>
        <p:txBody>
          <a:bodyPr wrap="square">
            <a:spAutoFit/>
          </a:bodyPr>
          <a:lstStyle/>
          <a:p>
            <a:pPr eaLnBrk="1" hangingPunct="1">
              <a:defRPr/>
            </a:pPr>
            <a:r>
              <a:rPr lang="zh-CN" altLang="en-US" sz="2800" b="1" dirty="0">
                <a:solidFill>
                  <a:srgbClr val="104E87"/>
                </a:solidFill>
                <a:latin typeface="华光行书_CNKI" panose="02000500000000000000" pitchFamily="2" charset="-122"/>
                <a:ea typeface="华光行书_CNKI" panose="02000500000000000000" pitchFamily="2" charset="-122"/>
              </a:rPr>
              <a:t>虚函数与纯虚函数</a:t>
            </a:r>
            <a:endParaRPr lang="en-US" altLang="zh-CN" sz="2800" b="1" dirty="0">
              <a:solidFill>
                <a:srgbClr val="104E87"/>
              </a:solidFill>
              <a:latin typeface="华光行书_CNKI" panose="02000500000000000000" pitchFamily="2" charset="-122"/>
              <a:ea typeface="华光行书_CNKI" panose="02000500000000000000" pitchFamily="2" charset="-122"/>
            </a:endParaRPr>
          </a:p>
          <a:p>
            <a:pPr>
              <a:buClr>
                <a:srgbClr val="FF0000"/>
              </a:buClr>
              <a:buSzPct val="70000"/>
              <a:buFont typeface="Wingdings" pitchFamily="2" charset="2"/>
              <a:buChar char="n"/>
              <a:defRPr/>
            </a:pPr>
            <a:r>
              <a:rPr lang="zh-CN" altLang="en-US" dirty="0">
                <a:solidFill>
                  <a:srgbClr val="104E87"/>
                </a:solidFill>
                <a:latin typeface="华光行书_CNKI" panose="02000500000000000000" pitchFamily="2" charset="-122"/>
                <a:ea typeface="华光行书_CNKI" panose="02000500000000000000" pitchFamily="2" charset="-122"/>
              </a:rPr>
              <a:t>虚函数的类用于</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实体继承</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继承接口的同时也继承了父类的实现</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当然派生类可以重写实现部分</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a:t>
            </a:r>
            <a:endParaRPr lang="en-US" altLang="zh-CN" dirty="0">
              <a:solidFill>
                <a:srgbClr val="104E87"/>
              </a:solidFill>
              <a:latin typeface="华光行书_CNKI" panose="02000500000000000000" pitchFamily="2" charset="-122"/>
              <a:ea typeface="华光行书_CNKI" panose="02000500000000000000" pitchFamily="2" charset="-122"/>
            </a:endParaRPr>
          </a:p>
          <a:p>
            <a:pPr eaLnBrk="1" hangingPunct="1">
              <a:buClr>
                <a:srgbClr val="FF0000"/>
              </a:buClr>
              <a:buSzPct val="70000"/>
              <a:buFont typeface="Wingdings" pitchFamily="2" charset="2"/>
              <a:buChar char="n"/>
              <a:defRPr/>
            </a:pPr>
            <a:r>
              <a:rPr lang="zh-CN" altLang="en-US" dirty="0">
                <a:solidFill>
                  <a:srgbClr val="104E87"/>
                </a:solidFill>
                <a:latin typeface="华光行书_CNKI" panose="02000500000000000000" pitchFamily="2" charset="-122"/>
                <a:ea typeface="华光行书_CNKI" panose="02000500000000000000" pitchFamily="2" charset="-122"/>
              </a:rPr>
              <a:t>纯虚函数用于</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界面继承</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在基类中没有定义，关注接口的统一性，实现由派生类完成。</a:t>
            </a:r>
            <a:endParaRPr lang="en-US" altLang="zh-CN" dirty="0">
              <a:solidFill>
                <a:srgbClr val="104E87"/>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26213274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AFD5BD3-2599-463F-82BF-28D983794DED}"/>
              </a:ext>
            </a:extLst>
          </p:cNvPr>
          <p:cNvSpPr/>
          <p:nvPr/>
        </p:nvSpPr>
        <p:spPr>
          <a:xfrm>
            <a:off x="0" y="1644908"/>
            <a:ext cx="1206304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dirty="0">
                <a:solidFill>
                  <a:srgbClr val="104E87"/>
                </a:solidFill>
                <a:latin typeface="华光行书_CNKI" panose="02000500000000000000" pitchFamily="2" charset="-122"/>
                <a:ea typeface="华光行书_CNKI" panose="02000500000000000000" pitchFamily="2" charset="-122"/>
              </a:rPr>
              <a:t>某小型公司有四类人员：经理、技术人员、销售经理和推销员。要求：</a:t>
            </a:r>
            <a:endParaRPr lang="en-US" altLang="zh-CN" sz="2800" dirty="0">
              <a:solidFill>
                <a:srgbClr val="104E87"/>
              </a:solidFill>
              <a:latin typeface="华光行书_CNKI" panose="02000500000000000000" pitchFamily="2" charset="-122"/>
              <a:ea typeface="华光行书_CNKI" panose="02000500000000000000" pitchFamily="2" charset="-122"/>
            </a:endParaRPr>
          </a:p>
          <a:p>
            <a:r>
              <a:rPr lang="en-US" altLang="zh-CN" sz="2800" dirty="0">
                <a:solidFill>
                  <a:srgbClr val="104E87"/>
                </a:solidFill>
                <a:latin typeface="华光行书_CNKI" panose="02000500000000000000" pitchFamily="2" charset="-122"/>
                <a:ea typeface="华光行书_CNKI" panose="02000500000000000000" pitchFamily="2" charset="-122"/>
              </a:rPr>
              <a:t>1)</a:t>
            </a:r>
            <a:r>
              <a:rPr lang="zh-CN" altLang="en-US" sz="2800" dirty="0">
                <a:solidFill>
                  <a:srgbClr val="104E87"/>
                </a:solidFill>
                <a:latin typeface="华光行书_CNKI" panose="02000500000000000000" pitchFamily="2" charset="-122"/>
                <a:ea typeface="华光行书_CNKI" panose="02000500000000000000" pitchFamily="2" charset="-122"/>
              </a:rPr>
              <a:t>存储姓名、编号、级别、当月薪水，计算月薪总额、显示全部信息。</a:t>
            </a:r>
          </a:p>
          <a:p>
            <a:r>
              <a:rPr lang="zh-CN" altLang="en-US" sz="2800" dirty="0">
                <a:solidFill>
                  <a:srgbClr val="104E87"/>
                </a:solidFill>
                <a:latin typeface="华光行书_CNKI" panose="02000500000000000000" pitchFamily="2" charset="-122"/>
                <a:ea typeface="华光行书_CNKI" panose="02000500000000000000" pitchFamily="2" charset="-122"/>
              </a:rPr>
              <a:t> 注：人员编号基数为</a:t>
            </a:r>
            <a:r>
              <a:rPr lang="en-US" altLang="zh-CN" sz="2800" dirty="0">
                <a:solidFill>
                  <a:srgbClr val="104E87"/>
                </a:solidFill>
                <a:latin typeface="华光行书_CNKI" panose="02000500000000000000" pitchFamily="2" charset="-122"/>
                <a:ea typeface="华光行书_CNKI" panose="02000500000000000000" pitchFamily="2" charset="-122"/>
              </a:rPr>
              <a:t>1000</a:t>
            </a:r>
            <a:r>
              <a:rPr lang="zh-CN" altLang="en-US" sz="2800" dirty="0">
                <a:solidFill>
                  <a:srgbClr val="104E87"/>
                </a:solidFill>
                <a:latin typeface="华光行书_CNKI" panose="02000500000000000000" pitchFamily="2" charset="-122"/>
                <a:ea typeface="华光行书_CNKI" panose="02000500000000000000" pitchFamily="2" charset="-122"/>
              </a:rPr>
              <a:t>，每输入一个人员的信息，编号顺序加</a:t>
            </a:r>
            <a:r>
              <a:rPr lang="en-US" altLang="zh-CN" sz="2800" dirty="0">
                <a:solidFill>
                  <a:srgbClr val="104E87"/>
                </a:solidFill>
                <a:latin typeface="华光行书_CNKI" panose="02000500000000000000" pitchFamily="2" charset="-122"/>
                <a:ea typeface="华光行书_CNKI" panose="02000500000000000000" pitchFamily="2" charset="-122"/>
              </a:rPr>
              <a:t>1</a:t>
            </a:r>
            <a:r>
              <a:rPr lang="zh-CN" altLang="en-US" sz="2800" dirty="0">
                <a:solidFill>
                  <a:srgbClr val="104E87"/>
                </a:solidFill>
                <a:latin typeface="华光行书_CNKI" panose="02000500000000000000" pitchFamily="2" charset="-122"/>
                <a:ea typeface="华光行书_CNKI" panose="02000500000000000000" pitchFamily="2" charset="-122"/>
              </a:rPr>
              <a:t>。</a:t>
            </a:r>
          </a:p>
          <a:p>
            <a:r>
              <a:rPr lang="en-US" altLang="zh-CN" sz="2800" dirty="0">
                <a:solidFill>
                  <a:srgbClr val="104E87"/>
                </a:solidFill>
                <a:latin typeface="华光行书_CNKI" panose="02000500000000000000" pitchFamily="2" charset="-122"/>
                <a:ea typeface="华光行书_CNKI" panose="02000500000000000000" pitchFamily="2" charset="-122"/>
              </a:rPr>
              <a:t>2)</a:t>
            </a:r>
            <a:r>
              <a:rPr lang="zh-CN" altLang="en-US" sz="2800" dirty="0">
                <a:solidFill>
                  <a:srgbClr val="104E87"/>
                </a:solidFill>
                <a:latin typeface="华光行书_CNKI" panose="02000500000000000000" pitchFamily="2" charset="-122"/>
                <a:ea typeface="华光行书_CNKI" panose="02000500000000000000" pitchFamily="2" charset="-122"/>
              </a:rPr>
              <a:t> 有提升级别的功能。为简单起见，所有人员的初始级别均为</a:t>
            </a:r>
            <a:r>
              <a:rPr lang="en-US" altLang="zh-CN" sz="2800" dirty="0">
                <a:solidFill>
                  <a:srgbClr val="104E87"/>
                </a:solidFill>
                <a:latin typeface="华光行书_CNKI" panose="02000500000000000000" pitchFamily="2" charset="-122"/>
                <a:ea typeface="华光行书_CNKI" panose="02000500000000000000" pitchFamily="2" charset="-122"/>
              </a:rPr>
              <a:t>1</a:t>
            </a:r>
            <a:r>
              <a:rPr lang="zh-CN" altLang="en-US" sz="2800" dirty="0">
                <a:solidFill>
                  <a:srgbClr val="104E87"/>
                </a:solidFill>
                <a:latin typeface="华光行书_CNKI" panose="02000500000000000000" pitchFamily="2" charset="-122"/>
                <a:ea typeface="华光行书_CNKI" panose="02000500000000000000" pitchFamily="2" charset="-122"/>
              </a:rPr>
              <a:t>级，然后进行升级，经理升为</a:t>
            </a:r>
            <a:r>
              <a:rPr lang="en-US" altLang="zh-CN" sz="2800" dirty="0">
                <a:solidFill>
                  <a:srgbClr val="104E87"/>
                </a:solidFill>
                <a:latin typeface="华光行书_CNKI" panose="02000500000000000000" pitchFamily="2" charset="-122"/>
                <a:ea typeface="华光行书_CNKI" panose="02000500000000000000" pitchFamily="2" charset="-122"/>
              </a:rPr>
              <a:t>4</a:t>
            </a:r>
            <a:r>
              <a:rPr lang="zh-CN" altLang="en-US" sz="2800" dirty="0">
                <a:solidFill>
                  <a:srgbClr val="104E87"/>
                </a:solidFill>
                <a:latin typeface="华光行书_CNKI" panose="02000500000000000000" pitchFamily="2" charset="-122"/>
                <a:ea typeface="华光行书_CNKI" panose="02000500000000000000" pitchFamily="2" charset="-122"/>
              </a:rPr>
              <a:t>级，技术人员和销售经理升为</a:t>
            </a:r>
            <a:r>
              <a:rPr lang="en-US" altLang="zh-CN" sz="2800" dirty="0">
                <a:solidFill>
                  <a:srgbClr val="104E87"/>
                </a:solidFill>
                <a:latin typeface="华光行书_CNKI" panose="02000500000000000000" pitchFamily="2" charset="-122"/>
                <a:ea typeface="华光行书_CNKI" panose="02000500000000000000" pitchFamily="2" charset="-122"/>
              </a:rPr>
              <a:t>3</a:t>
            </a:r>
            <a:r>
              <a:rPr lang="zh-CN" altLang="en-US" sz="2800" dirty="0">
                <a:solidFill>
                  <a:srgbClr val="104E87"/>
                </a:solidFill>
                <a:latin typeface="华光行书_CNKI" panose="02000500000000000000" pitchFamily="2" charset="-122"/>
                <a:ea typeface="华光行书_CNKI" panose="02000500000000000000" pitchFamily="2" charset="-122"/>
              </a:rPr>
              <a:t>级，推销员仍为</a:t>
            </a:r>
            <a:r>
              <a:rPr lang="en-US" altLang="zh-CN" sz="2800" dirty="0">
                <a:solidFill>
                  <a:srgbClr val="104E87"/>
                </a:solidFill>
                <a:latin typeface="华光行书_CNKI" panose="02000500000000000000" pitchFamily="2" charset="-122"/>
                <a:ea typeface="华光行书_CNKI" panose="02000500000000000000" pitchFamily="2" charset="-122"/>
              </a:rPr>
              <a:t>1</a:t>
            </a:r>
            <a:r>
              <a:rPr lang="zh-CN" altLang="en-US" sz="2800" dirty="0">
                <a:solidFill>
                  <a:srgbClr val="104E87"/>
                </a:solidFill>
                <a:latin typeface="华光行书_CNKI" panose="02000500000000000000" pitchFamily="2" charset="-122"/>
                <a:ea typeface="华光行书_CNKI" panose="02000500000000000000" pitchFamily="2" charset="-122"/>
              </a:rPr>
              <a:t>级。</a:t>
            </a:r>
          </a:p>
        </p:txBody>
      </p:sp>
      <p:sp>
        <p:nvSpPr>
          <p:cNvPr id="3" name="矩形 2">
            <a:extLst>
              <a:ext uri="{FF2B5EF4-FFF2-40B4-BE49-F238E27FC236}">
                <a16:creationId xmlns:a16="http://schemas.microsoft.com/office/drawing/2014/main" id="{4517A712-2540-4A3A-A8FE-A879AA8D42D9}"/>
              </a:ext>
            </a:extLst>
          </p:cNvPr>
          <p:cNvSpPr/>
          <p:nvPr/>
        </p:nvSpPr>
        <p:spPr>
          <a:xfrm>
            <a:off x="271742" y="990807"/>
            <a:ext cx="120609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dirty="0">
                <a:solidFill>
                  <a:srgbClr val="104E87"/>
                </a:solidFill>
                <a:latin typeface="华光行书_CNKI" panose="02000500000000000000" pitchFamily="2" charset="-122"/>
                <a:ea typeface="华光行书_CNKI" panose="02000500000000000000" pitchFamily="2" charset="-122"/>
              </a:rPr>
              <a:t>继承实例</a:t>
            </a:r>
            <a:r>
              <a:rPr lang="en-US" altLang="zh-CN" sz="2800" dirty="0">
                <a:solidFill>
                  <a:srgbClr val="104E87"/>
                </a:solidFill>
                <a:latin typeface="华光行书_CNKI" panose="02000500000000000000" pitchFamily="2" charset="-122"/>
                <a:ea typeface="华光行书_CNKI" panose="02000500000000000000" pitchFamily="2" charset="-122"/>
              </a:rPr>
              <a:t>——</a:t>
            </a:r>
            <a:r>
              <a:rPr lang="zh-CN" altLang="en-US" sz="2800" dirty="0">
                <a:solidFill>
                  <a:srgbClr val="104E87"/>
                </a:solidFill>
                <a:latin typeface="华光行书_CNKI" panose="02000500000000000000" pitchFamily="2" charset="-122"/>
                <a:ea typeface="华光行书_CNKI" panose="02000500000000000000" pitchFamily="2" charset="-122"/>
              </a:rPr>
              <a:t>小型公司人员信息管理</a:t>
            </a:r>
          </a:p>
        </p:txBody>
      </p:sp>
      <p:sp>
        <p:nvSpPr>
          <p:cNvPr id="4" name="矩形 3">
            <a:extLst>
              <a:ext uri="{FF2B5EF4-FFF2-40B4-BE49-F238E27FC236}">
                <a16:creationId xmlns:a16="http://schemas.microsoft.com/office/drawing/2014/main" id="{6221D18D-8680-4C7B-8886-B9B1009968B8}"/>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5" name="直线连接符 6">
            <a:extLst>
              <a:ext uri="{FF2B5EF4-FFF2-40B4-BE49-F238E27FC236}">
                <a16:creationId xmlns:a16="http://schemas.microsoft.com/office/drawing/2014/main" id="{EE898CF8-EB9D-4A7A-AA70-B99D9082A28C}"/>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2F22E5A1-145A-46B4-A45E-58FCC11B823F}"/>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10.5 </a:t>
            </a:r>
            <a:r>
              <a:rPr lang="zh-CN" altLang="en-US" dirty="0">
                <a:sym typeface="+mn-lt"/>
              </a:rPr>
              <a:t>案例</a:t>
            </a:r>
          </a:p>
        </p:txBody>
      </p:sp>
      <p:sp>
        <p:nvSpPr>
          <p:cNvPr id="7" name="矩形 6">
            <a:extLst>
              <a:ext uri="{FF2B5EF4-FFF2-40B4-BE49-F238E27FC236}">
                <a16:creationId xmlns:a16="http://schemas.microsoft.com/office/drawing/2014/main" id="{3604192B-D438-4E73-8EAC-4445E8393B30}"/>
              </a:ext>
            </a:extLst>
          </p:cNvPr>
          <p:cNvSpPr/>
          <p:nvPr/>
        </p:nvSpPr>
        <p:spPr>
          <a:xfrm>
            <a:off x="1587" y="3960457"/>
            <a:ext cx="12061459"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800" dirty="0">
                <a:solidFill>
                  <a:srgbClr val="104E87"/>
                </a:solidFill>
                <a:latin typeface="华光行书_CNKI" panose="02000500000000000000" pitchFamily="2" charset="-122"/>
                <a:ea typeface="华光行书_CNKI" panose="02000500000000000000" pitchFamily="2" charset="-122"/>
              </a:rPr>
              <a:t>3)</a:t>
            </a:r>
            <a:r>
              <a:rPr lang="zh-CN" altLang="en-US" sz="2800" dirty="0">
                <a:solidFill>
                  <a:srgbClr val="104E87"/>
                </a:solidFill>
                <a:latin typeface="华光行书_CNKI" panose="02000500000000000000" pitchFamily="2" charset="-122"/>
                <a:ea typeface="华光行书_CNKI" panose="02000500000000000000" pitchFamily="2" charset="-122"/>
              </a:rPr>
              <a:t>月薪计算办法是：</a:t>
            </a:r>
            <a:endParaRPr lang="en-US" altLang="zh-CN" sz="2800" dirty="0">
              <a:solidFill>
                <a:srgbClr val="104E87"/>
              </a:solidFill>
              <a:latin typeface="华光行书_CNKI" panose="02000500000000000000" pitchFamily="2" charset="-122"/>
              <a:ea typeface="华光行书_CNKI" panose="02000500000000000000" pitchFamily="2" charset="-122"/>
            </a:endParaRPr>
          </a:p>
          <a:p>
            <a:r>
              <a:rPr lang="en-US" altLang="zh-CN" sz="2800" dirty="0">
                <a:solidFill>
                  <a:srgbClr val="104E87"/>
                </a:solidFill>
                <a:latin typeface="华光行书_CNKI" panose="02000500000000000000" pitchFamily="2" charset="-122"/>
                <a:ea typeface="华光行书_CNKI" panose="02000500000000000000" pitchFamily="2" charset="-122"/>
              </a:rPr>
              <a:t>	</a:t>
            </a:r>
            <a:r>
              <a:rPr lang="zh-CN" altLang="en-US" sz="2800" spc="-100" dirty="0">
                <a:solidFill>
                  <a:srgbClr val="104E87"/>
                </a:solidFill>
                <a:latin typeface="华光行书_CNKI" panose="02000500000000000000" pitchFamily="2" charset="-122"/>
                <a:ea typeface="华光行书_CNKI" panose="02000500000000000000" pitchFamily="2" charset="-122"/>
              </a:rPr>
              <a:t>经理</a:t>
            </a:r>
            <a:r>
              <a:rPr lang="en-US" altLang="zh-CN" sz="2800" spc="-100" dirty="0">
                <a:solidFill>
                  <a:srgbClr val="104E87"/>
                </a:solidFill>
                <a:latin typeface="华光行书_CNKI" panose="02000500000000000000" pitchFamily="2" charset="-122"/>
                <a:ea typeface="华光行书_CNKI" panose="02000500000000000000" pitchFamily="2" charset="-122"/>
              </a:rPr>
              <a:t>——</a:t>
            </a:r>
            <a:r>
              <a:rPr lang="zh-CN" altLang="en-US" sz="2800" spc="-100" dirty="0">
                <a:solidFill>
                  <a:srgbClr val="104E87"/>
                </a:solidFill>
                <a:latin typeface="华光行书_CNKI" panose="02000500000000000000" pitchFamily="2" charset="-122"/>
                <a:ea typeface="华光行书_CNKI" panose="02000500000000000000" pitchFamily="2" charset="-122"/>
              </a:rPr>
              <a:t>固定月薪</a:t>
            </a:r>
            <a:r>
              <a:rPr lang="en-US" altLang="zh-CN" sz="2800" spc="-100" dirty="0">
                <a:solidFill>
                  <a:srgbClr val="104E87"/>
                </a:solidFill>
                <a:latin typeface="华光行书_CNKI" panose="02000500000000000000" pitchFamily="2" charset="-122"/>
                <a:ea typeface="华光行书_CNKI" panose="02000500000000000000" pitchFamily="2" charset="-122"/>
              </a:rPr>
              <a:t>8000</a:t>
            </a:r>
            <a:r>
              <a:rPr lang="zh-CN" altLang="en-US" sz="2800" spc="-100" dirty="0">
                <a:solidFill>
                  <a:srgbClr val="104E87"/>
                </a:solidFill>
                <a:latin typeface="华光行书_CNKI" panose="02000500000000000000" pitchFamily="2" charset="-122"/>
                <a:ea typeface="华光行书_CNKI" panose="02000500000000000000" pitchFamily="2" charset="-122"/>
              </a:rPr>
              <a:t>元；</a:t>
            </a:r>
            <a:endParaRPr lang="en-US" altLang="zh-CN" sz="2800" spc="-100" dirty="0">
              <a:solidFill>
                <a:srgbClr val="104E87"/>
              </a:solidFill>
              <a:latin typeface="华光行书_CNKI" panose="02000500000000000000" pitchFamily="2" charset="-122"/>
              <a:ea typeface="华光行书_CNKI" panose="02000500000000000000" pitchFamily="2" charset="-122"/>
            </a:endParaRPr>
          </a:p>
          <a:p>
            <a:r>
              <a:rPr lang="en-US" altLang="zh-CN" sz="2800" spc="-100" dirty="0">
                <a:solidFill>
                  <a:srgbClr val="104E87"/>
                </a:solidFill>
                <a:latin typeface="华光行书_CNKI" panose="02000500000000000000" pitchFamily="2" charset="-122"/>
                <a:ea typeface="华光行书_CNKI" panose="02000500000000000000" pitchFamily="2" charset="-122"/>
              </a:rPr>
              <a:t>	</a:t>
            </a:r>
            <a:r>
              <a:rPr lang="zh-CN" altLang="en-US" sz="2800" spc="-100" dirty="0">
                <a:solidFill>
                  <a:srgbClr val="104E87"/>
                </a:solidFill>
                <a:latin typeface="华光行书_CNKI" panose="02000500000000000000" pitchFamily="2" charset="-122"/>
                <a:ea typeface="华光行书_CNKI" panose="02000500000000000000" pitchFamily="2" charset="-122"/>
              </a:rPr>
              <a:t>技术人员</a:t>
            </a:r>
            <a:r>
              <a:rPr lang="en-US" altLang="zh-CN" sz="2800" spc="-100" dirty="0">
                <a:solidFill>
                  <a:srgbClr val="104E87"/>
                </a:solidFill>
                <a:latin typeface="华光行书_CNKI" panose="02000500000000000000" pitchFamily="2" charset="-122"/>
                <a:ea typeface="华光行书_CNKI" panose="02000500000000000000" pitchFamily="2" charset="-122"/>
              </a:rPr>
              <a:t>——</a:t>
            </a:r>
            <a:r>
              <a:rPr lang="zh-CN" altLang="en-US" sz="2800" spc="-100" dirty="0">
                <a:solidFill>
                  <a:srgbClr val="104E87"/>
                </a:solidFill>
                <a:latin typeface="华光行书_CNKI" panose="02000500000000000000" pitchFamily="2" charset="-122"/>
                <a:ea typeface="华光行书_CNKI" panose="02000500000000000000" pitchFamily="2" charset="-122"/>
              </a:rPr>
              <a:t>月薪计算</a:t>
            </a:r>
            <a:r>
              <a:rPr lang="en-US" altLang="zh-CN" sz="2800" spc="-100" dirty="0">
                <a:solidFill>
                  <a:srgbClr val="104E87"/>
                </a:solidFill>
                <a:latin typeface="华光行书_CNKI" panose="02000500000000000000" pitchFamily="2" charset="-122"/>
                <a:ea typeface="华光行书_CNKI" panose="02000500000000000000" pitchFamily="2" charset="-122"/>
              </a:rPr>
              <a:t>100</a:t>
            </a:r>
            <a:r>
              <a:rPr lang="zh-CN" altLang="en-US" sz="2800" spc="-100" dirty="0">
                <a:solidFill>
                  <a:srgbClr val="104E87"/>
                </a:solidFill>
                <a:latin typeface="华光行书_CNKI" panose="02000500000000000000" pitchFamily="2" charset="-122"/>
                <a:ea typeface="华光行书_CNKI" panose="02000500000000000000" pitchFamily="2" charset="-122"/>
              </a:rPr>
              <a:t>元</a:t>
            </a:r>
            <a:r>
              <a:rPr lang="en-US" altLang="zh-CN" sz="2800" spc="-100" dirty="0">
                <a:solidFill>
                  <a:srgbClr val="104E87"/>
                </a:solidFill>
                <a:latin typeface="华光行书_CNKI" panose="02000500000000000000" pitchFamily="2" charset="-122"/>
                <a:ea typeface="华光行书_CNKI" panose="02000500000000000000" pitchFamily="2" charset="-122"/>
              </a:rPr>
              <a:t>/</a:t>
            </a:r>
            <a:r>
              <a:rPr lang="zh-CN" altLang="en-US" sz="2800" spc="-100" dirty="0">
                <a:solidFill>
                  <a:srgbClr val="104E87"/>
                </a:solidFill>
                <a:latin typeface="华光行书_CNKI" panose="02000500000000000000" pitchFamily="2" charset="-122"/>
                <a:ea typeface="华光行书_CNKI" panose="02000500000000000000" pitchFamily="2" charset="-122"/>
              </a:rPr>
              <a:t>小时；</a:t>
            </a:r>
            <a:endParaRPr lang="en-US" altLang="zh-CN" sz="2800" spc="-100" dirty="0">
              <a:solidFill>
                <a:srgbClr val="104E87"/>
              </a:solidFill>
              <a:latin typeface="华光行书_CNKI" panose="02000500000000000000" pitchFamily="2" charset="-122"/>
              <a:ea typeface="华光行书_CNKI" panose="02000500000000000000" pitchFamily="2" charset="-122"/>
            </a:endParaRPr>
          </a:p>
          <a:p>
            <a:r>
              <a:rPr lang="en-US" altLang="zh-CN" sz="2800" spc="-100" dirty="0">
                <a:solidFill>
                  <a:srgbClr val="104E87"/>
                </a:solidFill>
                <a:latin typeface="华光行书_CNKI" panose="02000500000000000000" pitchFamily="2" charset="-122"/>
                <a:ea typeface="华光行书_CNKI" panose="02000500000000000000" pitchFamily="2" charset="-122"/>
              </a:rPr>
              <a:t>	</a:t>
            </a:r>
            <a:r>
              <a:rPr lang="zh-CN" altLang="en-US" sz="2800" spc="-100" dirty="0">
                <a:solidFill>
                  <a:srgbClr val="104E87"/>
                </a:solidFill>
                <a:latin typeface="华光行书_CNKI" panose="02000500000000000000" pitchFamily="2" charset="-122"/>
                <a:ea typeface="华光行书_CNKI" panose="02000500000000000000" pitchFamily="2" charset="-122"/>
              </a:rPr>
              <a:t>推销员</a:t>
            </a:r>
            <a:r>
              <a:rPr lang="en-US" altLang="zh-CN" sz="2800" spc="-100" dirty="0">
                <a:solidFill>
                  <a:srgbClr val="104E87"/>
                </a:solidFill>
                <a:latin typeface="华光行书_CNKI" panose="02000500000000000000" pitchFamily="2" charset="-122"/>
                <a:ea typeface="华光行书_CNKI" panose="02000500000000000000" pitchFamily="2" charset="-122"/>
              </a:rPr>
              <a:t>——</a:t>
            </a:r>
            <a:r>
              <a:rPr lang="zh-CN" altLang="en-US" sz="2800" spc="-100" dirty="0">
                <a:solidFill>
                  <a:srgbClr val="104E87"/>
                </a:solidFill>
                <a:latin typeface="华光行书_CNKI" panose="02000500000000000000" pitchFamily="2" charset="-122"/>
                <a:ea typeface="华光行书_CNKI" panose="02000500000000000000" pitchFamily="2" charset="-122"/>
              </a:rPr>
              <a:t>当月销售额的</a:t>
            </a:r>
            <a:r>
              <a:rPr lang="en-US" altLang="zh-CN" sz="2800" spc="-100" dirty="0">
                <a:solidFill>
                  <a:srgbClr val="104E87"/>
                </a:solidFill>
                <a:latin typeface="华光行书_CNKI" panose="02000500000000000000" pitchFamily="2" charset="-122"/>
                <a:ea typeface="华光行书_CNKI" panose="02000500000000000000" pitchFamily="2" charset="-122"/>
              </a:rPr>
              <a:t>4%</a:t>
            </a:r>
            <a:r>
              <a:rPr lang="zh-CN" altLang="en-US" sz="2800" spc="-100" dirty="0">
                <a:solidFill>
                  <a:srgbClr val="104E87"/>
                </a:solidFill>
                <a:latin typeface="华光行书_CNKI" panose="02000500000000000000" pitchFamily="2" charset="-122"/>
                <a:ea typeface="华光行书_CNKI" panose="02000500000000000000" pitchFamily="2" charset="-122"/>
              </a:rPr>
              <a:t>提成；</a:t>
            </a:r>
            <a:r>
              <a:rPr lang="en-US" altLang="zh-CN" sz="2800" spc="-100" dirty="0">
                <a:solidFill>
                  <a:srgbClr val="104E87"/>
                </a:solidFill>
                <a:latin typeface="华光行书_CNKI" panose="02000500000000000000" pitchFamily="2" charset="-122"/>
                <a:ea typeface="华光行书_CNKI" panose="02000500000000000000" pitchFamily="2" charset="-122"/>
              </a:rPr>
              <a:t>	</a:t>
            </a:r>
          </a:p>
          <a:p>
            <a:r>
              <a:rPr lang="en-US" altLang="zh-CN" sz="2800" spc="-100" dirty="0">
                <a:solidFill>
                  <a:srgbClr val="104E87"/>
                </a:solidFill>
                <a:latin typeface="华光行书_CNKI" panose="02000500000000000000" pitchFamily="2" charset="-122"/>
                <a:ea typeface="华光行书_CNKI" panose="02000500000000000000" pitchFamily="2" charset="-122"/>
              </a:rPr>
              <a:t>	</a:t>
            </a:r>
            <a:r>
              <a:rPr lang="zh-CN" altLang="en-US" sz="2800" spc="-100" dirty="0">
                <a:solidFill>
                  <a:srgbClr val="104E87"/>
                </a:solidFill>
                <a:latin typeface="华光行书_CNKI" panose="02000500000000000000" pitchFamily="2" charset="-122"/>
                <a:ea typeface="华光行书_CNKI" panose="02000500000000000000" pitchFamily="2" charset="-122"/>
              </a:rPr>
              <a:t>销售经理</a:t>
            </a:r>
            <a:r>
              <a:rPr lang="en-US" altLang="zh-CN" sz="2800" spc="-100" dirty="0">
                <a:solidFill>
                  <a:srgbClr val="104E87"/>
                </a:solidFill>
                <a:latin typeface="华光行书_CNKI" panose="02000500000000000000" pitchFamily="2" charset="-122"/>
                <a:ea typeface="华光行书_CNKI" panose="02000500000000000000" pitchFamily="2" charset="-122"/>
              </a:rPr>
              <a:t>——</a:t>
            </a:r>
            <a:r>
              <a:rPr lang="zh-CN" altLang="en-US" sz="2800" spc="-100" dirty="0">
                <a:solidFill>
                  <a:srgbClr val="104E87"/>
                </a:solidFill>
                <a:latin typeface="华光行书_CNKI" panose="02000500000000000000" pitchFamily="2" charset="-122"/>
                <a:ea typeface="华光行书_CNKI" panose="02000500000000000000" pitchFamily="2" charset="-122"/>
              </a:rPr>
              <a:t>固定月薪为</a:t>
            </a:r>
            <a:r>
              <a:rPr lang="en-US" altLang="zh-CN" sz="2800" spc="-100" dirty="0">
                <a:solidFill>
                  <a:srgbClr val="104E87"/>
                </a:solidFill>
                <a:latin typeface="华光行书_CNKI" panose="02000500000000000000" pitchFamily="2" charset="-122"/>
                <a:ea typeface="华光行书_CNKI" panose="02000500000000000000" pitchFamily="2" charset="-122"/>
              </a:rPr>
              <a:t>5000</a:t>
            </a:r>
            <a:r>
              <a:rPr lang="zh-CN" altLang="en-US" sz="2800" spc="-100" dirty="0">
                <a:solidFill>
                  <a:srgbClr val="104E87"/>
                </a:solidFill>
                <a:latin typeface="华光行书_CNKI" panose="02000500000000000000" pitchFamily="2" charset="-122"/>
                <a:ea typeface="华光行书_CNKI" panose="02000500000000000000" pitchFamily="2" charset="-122"/>
              </a:rPr>
              <a:t>元</a:t>
            </a:r>
            <a:r>
              <a:rPr lang="en-US" altLang="zh-CN" sz="2800" spc="-100" dirty="0">
                <a:solidFill>
                  <a:srgbClr val="104E87"/>
                </a:solidFill>
                <a:latin typeface="华光行书_CNKI" panose="02000500000000000000" pitchFamily="2" charset="-122"/>
                <a:ea typeface="华光行书_CNKI" panose="02000500000000000000" pitchFamily="2" charset="-122"/>
              </a:rPr>
              <a:t>+</a:t>
            </a:r>
            <a:r>
              <a:rPr lang="zh-CN" altLang="en-US" sz="2800" spc="-100" dirty="0">
                <a:solidFill>
                  <a:srgbClr val="104E87"/>
                </a:solidFill>
                <a:latin typeface="华光行书_CNKI" panose="02000500000000000000" pitchFamily="2" charset="-122"/>
                <a:ea typeface="华光行书_CNKI" panose="02000500000000000000" pitchFamily="2" charset="-122"/>
              </a:rPr>
              <a:t>销售提成</a:t>
            </a:r>
            <a:r>
              <a:rPr lang="en-US" altLang="zh-CN" sz="2800" spc="-100" dirty="0">
                <a:solidFill>
                  <a:srgbClr val="104E87"/>
                </a:solidFill>
                <a:latin typeface="华光行书_CNKI" panose="02000500000000000000" pitchFamily="2" charset="-122"/>
                <a:ea typeface="华光行书_CNKI" panose="02000500000000000000" pitchFamily="2" charset="-122"/>
              </a:rPr>
              <a:t>(</a:t>
            </a:r>
            <a:r>
              <a:rPr lang="zh-CN" altLang="en-US" sz="2800" spc="-100" dirty="0">
                <a:solidFill>
                  <a:srgbClr val="104E87"/>
                </a:solidFill>
                <a:latin typeface="华光行书_CNKI" panose="02000500000000000000" pitchFamily="2" charset="-122"/>
                <a:ea typeface="华光行书_CNKI" panose="02000500000000000000" pitchFamily="2" charset="-122"/>
              </a:rPr>
              <a:t>所管辖部门当月销售总额的</a:t>
            </a:r>
            <a:r>
              <a:rPr lang="en-US" altLang="zh-CN" sz="2800" spc="-100" dirty="0">
                <a:solidFill>
                  <a:srgbClr val="104E87"/>
                </a:solidFill>
                <a:latin typeface="华光行书_CNKI" panose="02000500000000000000" pitchFamily="2" charset="-122"/>
                <a:ea typeface="华光行书_CNKI" panose="02000500000000000000" pitchFamily="2" charset="-122"/>
              </a:rPr>
              <a:t>5‰)</a:t>
            </a:r>
            <a:endParaRPr lang="zh-CN" altLang="en-US" sz="2800" spc="-100" dirty="0">
              <a:solidFill>
                <a:srgbClr val="104E87"/>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3959454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1EC7871E-2041-4292-AB22-6C189CDC4C7B}"/>
              </a:ext>
            </a:extLst>
          </p:cNvPr>
          <p:cNvSpPr>
            <a:spLocks noChangeArrowheads="1"/>
          </p:cNvSpPr>
          <p:nvPr/>
        </p:nvSpPr>
        <p:spPr bwMode="auto">
          <a:xfrm>
            <a:off x="3192706" y="346076"/>
            <a:ext cx="3008800" cy="1581150"/>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rPr>
              <a:t> char *name; </a:t>
            </a:r>
          </a:p>
          <a:p>
            <a:r>
              <a:rPr kumimoji="1" lang="en-US" altLang="zh-CN" sz="2000" dirty="0">
                <a:solidFill>
                  <a:srgbClr val="104E87"/>
                </a:solidFill>
                <a:latin typeface="Comic Sans MS" panose="030F0702030302020204" pitchFamily="66" charset="0"/>
              </a:rPr>
              <a:t> int </a:t>
            </a:r>
            <a:r>
              <a:rPr kumimoji="1" lang="en-US" altLang="zh-CN" sz="2000" dirty="0" err="1">
                <a:solidFill>
                  <a:srgbClr val="104E87"/>
                </a:solidFill>
                <a:latin typeface="Comic Sans MS" panose="030F0702030302020204" pitchFamily="66" charset="0"/>
              </a:rPr>
              <a:t>individualEmpNo</a:t>
            </a:r>
            <a:r>
              <a:rPr kumimoji="1" lang="en-US" altLang="zh-CN" sz="2000" dirty="0">
                <a:solidFill>
                  <a:srgbClr val="104E87"/>
                </a:solidFill>
                <a:latin typeface="Comic Sans MS" panose="030F0702030302020204" pitchFamily="66" charset="0"/>
              </a:rPr>
              <a:t>; </a:t>
            </a:r>
          </a:p>
          <a:p>
            <a:r>
              <a:rPr kumimoji="1" lang="en-US" altLang="zh-CN" sz="2000" dirty="0">
                <a:solidFill>
                  <a:srgbClr val="104E87"/>
                </a:solidFill>
                <a:latin typeface="Comic Sans MS" panose="030F0702030302020204" pitchFamily="66" charset="0"/>
              </a:rPr>
              <a:t> int grade; </a:t>
            </a:r>
          </a:p>
          <a:p>
            <a:r>
              <a:rPr kumimoji="1" lang="en-US" altLang="zh-CN" sz="2000" dirty="0">
                <a:solidFill>
                  <a:srgbClr val="104E87"/>
                </a:solidFill>
                <a:latin typeface="Comic Sans MS" panose="030F0702030302020204" pitchFamily="66" charset="0"/>
              </a:rPr>
              <a:t> float </a:t>
            </a:r>
            <a:r>
              <a:rPr kumimoji="1" lang="en-US" altLang="zh-CN" sz="2000" dirty="0" err="1">
                <a:solidFill>
                  <a:srgbClr val="104E87"/>
                </a:solidFill>
                <a:latin typeface="Comic Sans MS" panose="030F0702030302020204" pitchFamily="66" charset="0"/>
              </a:rPr>
              <a:t>accumPay</a:t>
            </a:r>
            <a:r>
              <a:rPr kumimoji="1" lang="en-US" altLang="zh-CN" sz="2000" dirty="0">
                <a:solidFill>
                  <a:srgbClr val="104E87"/>
                </a:solidFill>
                <a:latin typeface="Comic Sans MS" panose="030F0702030302020204" pitchFamily="66" charset="0"/>
              </a:rPr>
              <a:t>;</a:t>
            </a:r>
          </a:p>
          <a:p>
            <a:r>
              <a:rPr kumimoji="1" lang="en-US" altLang="zh-CN" sz="2000" dirty="0">
                <a:solidFill>
                  <a:srgbClr val="104E87"/>
                </a:solidFill>
                <a:latin typeface="Comic Sans MS" panose="030F0702030302020204" pitchFamily="66" charset="0"/>
              </a:rPr>
              <a:t> static int </a:t>
            </a:r>
            <a:r>
              <a:rPr kumimoji="1" lang="en-US" altLang="zh-CN" sz="2000" dirty="0" err="1">
                <a:solidFill>
                  <a:srgbClr val="104E87"/>
                </a:solidFill>
                <a:latin typeface="Comic Sans MS" panose="030F0702030302020204" pitchFamily="66" charset="0"/>
              </a:rPr>
              <a:t>employeeNo</a:t>
            </a:r>
            <a:r>
              <a:rPr kumimoji="1" lang="en-US" altLang="zh-CN" sz="2000" dirty="0">
                <a:solidFill>
                  <a:srgbClr val="104E87"/>
                </a:solidFill>
                <a:latin typeface="Comic Sans MS" panose="030F0702030302020204" pitchFamily="66" charset="0"/>
              </a:rPr>
              <a:t>;</a:t>
            </a:r>
          </a:p>
        </p:txBody>
      </p:sp>
      <p:sp>
        <p:nvSpPr>
          <p:cNvPr id="4" name="Rectangle 11">
            <a:extLst>
              <a:ext uri="{FF2B5EF4-FFF2-40B4-BE49-F238E27FC236}">
                <a16:creationId xmlns:a16="http://schemas.microsoft.com/office/drawing/2014/main" id="{35AAAED6-BACB-40C7-B911-FDD456E71C46}"/>
              </a:ext>
            </a:extLst>
          </p:cNvPr>
          <p:cNvSpPr>
            <a:spLocks noChangeArrowheads="1"/>
          </p:cNvSpPr>
          <p:nvPr/>
        </p:nvSpPr>
        <p:spPr bwMode="auto">
          <a:xfrm>
            <a:off x="3192706" y="1928815"/>
            <a:ext cx="3008800" cy="936625"/>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rPr>
              <a:t>void promote(int); </a:t>
            </a:r>
          </a:p>
          <a:p>
            <a:r>
              <a:rPr kumimoji="1" lang="en-US" altLang="zh-CN" sz="2000" dirty="0">
                <a:solidFill>
                  <a:srgbClr val="104E87"/>
                </a:solidFill>
                <a:latin typeface="Comic Sans MS" panose="030F0702030302020204" pitchFamily="66" charset="0"/>
              </a:rPr>
              <a:t>void pay();                       </a:t>
            </a:r>
          </a:p>
          <a:p>
            <a:r>
              <a:rPr kumimoji="1" lang="en-US" altLang="zh-CN" sz="2000" dirty="0">
                <a:solidFill>
                  <a:srgbClr val="104E87"/>
                </a:solidFill>
                <a:latin typeface="Comic Sans MS" panose="030F0702030302020204" pitchFamily="66" charset="0"/>
              </a:rPr>
              <a:t> void </a:t>
            </a:r>
            <a:r>
              <a:rPr kumimoji="1" lang="en-US" altLang="zh-CN" sz="2000" dirty="0" err="1">
                <a:solidFill>
                  <a:srgbClr val="104E87"/>
                </a:solidFill>
                <a:latin typeface="Comic Sans MS" panose="030F0702030302020204" pitchFamily="66" charset="0"/>
              </a:rPr>
              <a:t>displayStatus</a:t>
            </a:r>
            <a:r>
              <a:rPr kumimoji="1" lang="en-US" altLang="zh-CN" sz="2000" dirty="0">
                <a:solidFill>
                  <a:srgbClr val="104E87"/>
                </a:solidFill>
                <a:latin typeface="Comic Sans MS" panose="030F0702030302020204" pitchFamily="66" charset="0"/>
              </a:rPr>
              <a:t>();</a:t>
            </a:r>
          </a:p>
        </p:txBody>
      </p:sp>
      <p:sp>
        <p:nvSpPr>
          <p:cNvPr id="5" name="AutoShape 12">
            <a:extLst>
              <a:ext uri="{FF2B5EF4-FFF2-40B4-BE49-F238E27FC236}">
                <a16:creationId xmlns:a16="http://schemas.microsoft.com/office/drawing/2014/main" id="{781F28E0-AEF3-4B83-8D79-D779111ED100}"/>
              </a:ext>
            </a:extLst>
          </p:cNvPr>
          <p:cNvSpPr>
            <a:spLocks noChangeArrowheads="1"/>
          </p:cNvSpPr>
          <p:nvPr/>
        </p:nvSpPr>
        <p:spPr bwMode="auto">
          <a:xfrm>
            <a:off x="4345230" y="2865440"/>
            <a:ext cx="287338" cy="217487"/>
          </a:xfrm>
          <a:prstGeom prst="triangle">
            <a:avLst>
              <a:gd name="adj" fmla="val 50000"/>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solidFill>
                <a:srgbClr val="104E87"/>
              </a:solidFill>
              <a:latin typeface="Comic Sans MS" panose="030F0702030302020204" pitchFamily="66" charset="0"/>
            </a:endParaRPr>
          </a:p>
        </p:txBody>
      </p:sp>
      <p:sp>
        <p:nvSpPr>
          <p:cNvPr id="6" name="Line 13">
            <a:extLst>
              <a:ext uri="{FF2B5EF4-FFF2-40B4-BE49-F238E27FC236}">
                <a16:creationId xmlns:a16="http://schemas.microsoft.com/office/drawing/2014/main" id="{C806CC80-4A55-42FA-9EA5-6FB96DCA7B73}"/>
              </a:ext>
            </a:extLst>
          </p:cNvPr>
          <p:cNvSpPr>
            <a:spLocks noChangeShapeType="1"/>
          </p:cNvSpPr>
          <p:nvPr/>
        </p:nvSpPr>
        <p:spPr bwMode="auto">
          <a:xfrm>
            <a:off x="4489693" y="3081340"/>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7" name="Line 14">
            <a:extLst>
              <a:ext uri="{FF2B5EF4-FFF2-40B4-BE49-F238E27FC236}">
                <a16:creationId xmlns:a16="http://schemas.microsoft.com/office/drawing/2014/main" id="{2AC02D1E-D762-4583-B390-71F73FA40176}"/>
              </a:ext>
            </a:extLst>
          </p:cNvPr>
          <p:cNvSpPr>
            <a:spLocks noChangeShapeType="1"/>
          </p:cNvSpPr>
          <p:nvPr/>
        </p:nvSpPr>
        <p:spPr bwMode="auto">
          <a:xfrm flipV="1">
            <a:off x="1681407" y="3224215"/>
            <a:ext cx="5242538" cy="1586"/>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8" name="Line 15">
            <a:extLst>
              <a:ext uri="{FF2B5EF4-FFF2-40B4-BE49-F238E27FC236}">
                <a16:creationId xmlns:a16="http://schemas.microsoft.com/office/drawing/2014/main" id="{120755C6-7AB8-4A14-8C3C-AB13E27B1EE6}"/>
              </a:ext>
            </a:extLst>
          </p:cNvPr>
          <p:cNvSpPr>
            <a:spLocks noChangeShapeType="1"/>
          </p:cNvSpPr>
          <p:nvPr/>
        </p:nvSpPr>
        <p:spPr bwMode="auto">
          <a:xfrm>
            <a:off x="4255233" y="3225802"/>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9" name="Line 16">
            <a:extLst>
              <a:ext uri="{FF2B5EF4-FFF2-40B4-BE49-F238E27FC236}">
                <a16:creationId xmlns:a16="http://schemas.microsoft.com/office/drawing/2014/main" id="{D36EDDB4-B818-43AB-BC06-BAA9CE8EEE9E}"/>
              </a:ext>
            </a:extLst>
          </p:cNvPr>
          <p:cNvSpPr>
            <a:spLocks noChangeShapeType="1"/>
          </p:cNvSpPr>
          <p:nvPr/>
        </p:nvSpPr>
        <p:spPr bwMode="auto">
          <a:xfrm>
            <a:off x="1681405" y="3225802"/>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10" name="AutoShape 17">
            <a:extLst>
              <a:ext uri="{FF2B5EF4-FFF2-40B4-BE49-F238E27FC236}">
                <a16:creationId xmlns:a16="http://schemas.microsoft.com/office/drawing/2014/main" id="{F7B03E16-728B-4814-B1CB-9C75670B9712}"/>
              </a:ext>
            </a:extLst>
          </p:cNvPr>
          <p:cNvSpPr>
            <a:spLocks noChangeArrowheads="1"/>
          </p:cNvSpPr>
          <p:nvPr/>
        </p:nvSpPr>
        <p:spPr bwMode="auto">
          <a:xfrm>
            <a:off x="3631716" y="4881565"/>
            <a:ext cx="287337" cy="217487"/>
          </a:xfrm>
          <a:prstGeom prst="triangle">
            <a:avLst>
              <a:gd name="adj" fmla="val 50000"/>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2000">
              <a:solidFill>
                <a:srgbClr val="104E87"/>
              </a:solidFill>
              <a:latin typeface="Comic Sans MS" panose="030F0702030302020204" pitchFamily="66" charset="0"/>
            </a:endParaRPr>
          </a:p>
        </p:txBody>
      </p:sp>
      <p:sp>
        <p:nvSpPr>
          <p:cNvPr id="11" name="AutoShape 18">
            <a:extLst>
              <a:ext uri="{FF2B5EF4-FFF2-40B4-BE49-F238E27FC236}">
                <a16:creationId xmlns:a16="http://schemas.microsoft.com/office/drawing/2014/main" id="{27C0AA94-5793-4782-9EBE-DAA05FD78D2F}"/>
              </a:ext>
            </a:extLst>
          </p:cNvPr>
          <p:cNvSpPr>
            <a:spLocks noChangeArrowheads="1"/>
          </p:cNvSpPr>
          <p:nvPr/>
        </p:nvSpPr>
        <p:spPr bwMode="auto">
          <a:xfrm>
            <a:off x="6440002" y="4881565"/>
            <a:ext cx="287338" cy="217487"/>
          </a:xfrm>
          <a:prstGeom prst="triangle">
            <a:avLst>
              <a:gd name="adj" fmla="val 50000"/>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2000">
              <a:solidFill>
                <a:srgbClr val="104E87"/>
              </a:solidFill>
              <a:latin typeface="Comic Sans MS" panose="030F0702030302020204" pitchFamily="66" charset="0"/>
            </a:endParaRPr>
          </a:p>
        </p:txBody>
      </p:sp>
      <p:sp>
        <p:nvSpPr>
          <p:cNvPr id="12" name="Line 19">
            <a:extLst>
              <a:ext uri="{FF2B5EF4-FFF2-40B4-BE49-F238E27FC236}">
                <a16:creationId xmlns:a16="http://schemas.microsoft.com/office/drawing/2014/main" id="{20804CFD-300B-42CD-95A9-3370E0EF9704}"/>
              </a:ext>
            </a:extLst>
          </p:cNvPr>
          <p:cNvSpPr>
            <a:spLocks noChangeShapeType="1"/>
          </p:cNvSpPr>
          <p:nvPr/>
        </p:nvSpPr>
        <p:spPr bwMode="auto">
          <a:xfrm flipV="1">
            <a:off x="3774591" y="5241926"/>
            <a:ext cx="2808287"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13" name="Line 20">
            <a:extLst>
              <a:ext uri="{FF2B5EF4-FFF2-40B4-BE49-F238E27FC236}">
                <a16:creationId xmlns:a16="http://schemas.microsoft.com/office/drawing/2014/main" id="{0ACD16CF-20C5-4B73-9655-2486773F6649}"/>
              </a:ext>
            </a:extLst>
          </p:cNvPr>
          <p:cNvSpPr>
            <a:spLocks noChangeShapeType="1"/>
          </p:cNvSpPr>
          <p:nvPr/>
        </p:nvSpPr>
        <p:spPr bwMode="auto">
          <a:xfrm>
            <a:off x="5141427" y="5241927"/>
            <a:ext cx="0" cy="144463"/>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14" name="Line 22">
            <a:extLst>
              <a:ext uri="{FF2B5EF4-FFF2-40B4-BE49-F238E27FC236}">
                <a16:creationId xmlns:a16="http://schemas.microsoft.com/office/drawing/2014/main" id="{D1E1F141-3816-4FE5-B51F-C073D41B1517}"/>
              </a:ext>
            </a:extLst>
          </p:cNvPr>
          <p:cNvSpPr>
            <a:spLocks noChangeShapeType="1"/>
          </p:cNvSpPr>
          <p:nvPr/>
        </p:nvSpPr>
        <p:spPr bwMode="auto">
          <a:xfrm>
            <a:off x="3774590" y="5097465"/>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15" name="Line 23">
            <a:extLst>
              <a:ext uri="{FF2B5EF4-FFF2-40B4-BE49-F238E27FC236}">
                <a16:creationId xmlns:a16="http://schemas.microsoft.com/office/drawing/2014/main" id="{46DCAFF6-698E-4742-97C9-73EE37AE47E8}"/>
              </a:ext>
            </a:extLst>
          </p:cNvPr>
          <p:cNvSpPr>
            <a:spLocks noChangeShapeType="1"/>
          </p:cNvSpPr>
          <p:nvPr/>
        </p:nvSpPr>
        <p:spPr bwMode="auto">
          <a:xfrm>
            <a:off x="6582877" y="5097465"/>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16" name="Rectangle 24">
            <a:extLst>
              <a:ext uri="{FF2B5EF4-FFF2-40B4-BE49-F238E27FC236}">
                <a16:creationId xmlns:a16="http://schemas.microsoft.com/office/drawing/2014/main" id="{E8714480-8923-48DA-8B4C-8F52FCF46A8D}"/>
              </a:ext>
            </a:extLst>
          </p:cNvPr>
          <p:cNvSpPr>
            <a:spLocks noChangeArrowheads="1"/>
          </p:cNvSpPr>
          <p:nvPr/>
        </p:nvSpPr>
        <p:spPr bwMode="auto">
          <a:xfrm>
            <a:off x="3192706" y="57152"/>
            <a:ext cx="3008800" cy="27622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a:solidFill>
                  <a:srgbClr val="104E87"/>
                </a:solidFill>
                <a:latin typeface="Comic Sans MS" panose="030F0702030302020204" pitchFamily="66" charset="0"/>
              </a:rPr>
              <a:t>employee</a:t>
            </a:r>
          </a:p>
        </p:txBody>
      </p:sp>
      <p:sp>
        <p:nvSpPr>
          <p:cNvPr id="17" name="Rectangle 25">
            <a:extLst>
              <a:ext uri="{FF2B5EF4-FFF2-40B4-BE49-F238E27FC236}">
                <a16:creationId xmlns:a16="http://schemas.microsoft.com/office/drawing/2014/main" id="{4B60803C-F2BA-4E83-A2F7-FCF2B50A4A43}"/>
              </a:ext>
            </a:extLst>
          </p:cNvPr>
          <p:cNvSpPr>
            <a:spLocks noChangeArrowheads="1"/>
          </p:cNvSpPr>
          <p:nvPr/>
        </p:nvSpPr>
        <p:spPr bwMode="auto">
          <a:xfrm>
            <a:off x="0" y="3690695"/>
            <a:ext cx="2689470" cy="652462"/>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rPr>
              <a:t> float </a:t>
            </a:r>
            <a:r>
              <a:rPr kumimoji="1" lang="en-US" altLang="zh-CN" sz="2000" dirty="0" err="1">
                <a:solidFill>
                  <a:srgbClr val="104E87"/>
                </a:solidFill>
                <a:latin typeface="Comic Sans MS" panose="030F0702030302020204" pitchFamily="66" charset="0"/>
              </a:rPr>
              <a:t>hourlyRate</a:t>
            </a:r>
            <a:r>
              <a:rPr kumimoji="1" lang="en-US" altLang="zh-CN" sz="2000" dirty="0">
                <a:solidFill>
                  <a:srgbClr val="104E87"/>
                </a:solidFill>
                <a:latin typeface="Comic Sans MS" panose="030F0702030302020204" pitchFamily="66" charset="0"/>
              </a:rPr>
              <a:t>;                </a:t>
            </a:r>
          </a:p>
          <a:p>
            <a:r>
              <a:rPr kumimoji="1" lang="en-US" altLang="zh-CN" sz="2000" dirty="0">
                <a:solidFill>
                  <a:srgbClr val="104E87"/>
                </a:solidFill>
                <a:latin typeface="Comic Sans MS" panose="030F0702030302020204" pitchFamily="66" charset="0"/>
              </a:rPr>
              <a:t> int </a:t>
            </a:r>
            <a:r>
              <a:rPr kumimoji="1" lang="en-US" altLang="zh-CN" sz="2000" dirty="0" err="1">
                <a:solidFill>
                  <a:srgbClr val="104E87"/>
                </a:solidFill>
                <a:latin typeface="Comic Sans MS" panose="030F0702030302020204" pitchFamily="66" charset="0"/>
              </a:rPr>
              <a:t>workHours</a:t>
            </a:r>
            <a:r>
              <a:rPr kumimoji="1" lang="en-US" altLang="zh-CN" sz="2000" dirty="0">
                <a:solidFill>
                  <a:srgbClr val="104E87"/>
                </a:solidFill>
                <a:latin typeface="Comic Sans MS" panose="030F0702030302020204" pitchFamily="66" charset="0"/>
              </a:rPr>
              <a:t>; </a:t>
            </a:r>
          </a:p>
        </p:txBody>
      </p:sp>
      <p:sp>
        <p:nvSpPr>
          <p:cNvPr id="18" name="Rectangle 26">
            <a:extLst>
              <a:ext uri="{FF2B5EF4-FFF2-40B4-BE49-F238E27FC236}">
                <a16:creationId xmlns:a16="http://schemas.microsoft.com/office/drawing/2014/main" id="{1626459E-D6E0-4ACF-AE99-704F89121FEF}"/>
              </a:ext>
            </a:extLst>
          </p:cNvPr>
          <p:cNvSpPr>
            <a:spLocks noChangeArrowheads="1"/>
          </p:cNvSpPr>
          <p:nvPr/>
        </p:nvSpPr>
        <p:spPr bwMode="auto">
          <a:xfrm>
            <a:off x="0" y="4343158"/>
            <a:ext cx="2689470" cy="65246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a:solidFill>
                  <a:srgbClr val="104E87"/>
                </a:solidFill>
                <a:latin typeface="Comic Sans MS" panose="030F0702030302020204" pitchFamily="66" charset="0"/>
              </a:rPr>
              <a:t> void pay();          </a:t>
            </a:r>
          </a:p>
          <a:p>
            <a:r>
              <a:rPr kumimoji="1" lang="en-US" altLang="zh-CN" sz="2000">
                <a:solidFill>
                  <a:srgbClr val="104E87"/>
                </a:solidFill>
                <a:latin typeface="Comic Sans MS" panose="030F0702030302020204" pitchFamily="66" charset="0"/>
              </a:rPr>
              <a:t> void displayStatus();</a:t>
            </a:r>
          </a:p>
        </p:txBody>
      </p:sp>
      <p:sp>
        <p:nvSpPr>
          <p:cNvPr id="19" name="Rectangle 27">
            <a:extLst>
              <a:ext uri="{FF2B5EF4-FFF2-40B4-BE49-F238E27FC236}">
                <a16:creationId xmlns:a16="http://schemas.microsoft.com/office/drawing/2014/main" id="{2CC41F58-32C9-4707-9C66-24B2B1EF4AA3}"/>
              </a:ext>
            </a:extLst>
          </p:cNvPr>
          <p:cNvSpPr>
            <a:spLocks noChangeArrowheads="1"/>
          </p:cNvSpPr>
          <p:nvPr/>
        </p:nvSpPr>
        <p:spPr bwMode="auto">
          <a:xfrm>
            <a:off x="0" y="3365503"/>
            <a:ext cx="2689469" cy="325436"/>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a:solidFill>
                  <a:srgbClr val="104E87"/>
                </a:solidFill>
                <a:latin typeface="Comic Sans MS" panose="030F0702030302020204" pitchFamily="66" charset="0"/>
              </a:rPr>
              <a:t>technician</a:t>
            </a:r>
          </a:p>
        </p:txBody>
      </p:sp>
      <p:sp>
        <p:nvSpPr>
          <p:cNvPr id="20" name="Rectangle 28">
            <a:extLst>
              <a:ext uri="{FF2B5EF4-FFF2-40B4-BE49-F238E27FC236}">
                <a16:creationId xmlns:a16="http://schemas.microsoft.com/office/drawing/2014/main" id="{DEE09C9A-345E-474C-A78C-2848025D2177}"/>
              </a:ext>
            </a:extLst>
          </p:cNvPr>
          <p:cNvSpPr>
            <a:spLocks noChangeArrowheads="1"/>
          </p:cNvSpPr>
          <p:nvPr/>
        </p:nvSpPr>
        <p:spPr bwMode="auto">
          <a:xfrm>
            <a:off x="2767502" y="3656015"/>
            <a:ext cx="2689469" cy="434975"/>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a:solidFill>
                  <a:srgbClr val="104E87"/>
                </a:solidFill>
                <a:latin typeface="Comic Sans MS" panose="030F0702030302020204" pitchFamily="66" charset="0"/>
              </a:rPr>
              <a:t> float monthlyPay;                </a:t>
            </a:r>
          </a:p>
        </p:txBody>
      </p:sp>
      <p:sp>
        <p:nvSpPr>
          <p:cNvPr id="21" name="Rectangle 29">
            <a:extLst>
              <a:ext uri="{FF2B5EF4-FFF2-40B4-BE49-F238E27FC236}">
                <a16:creationId xmlns:a16="http://schemas.microsoft.com/office/drawing/2014/main" id="{EAEE18FC-A6A9-46E6-A886-E2310B8CE249}"/>
              </a:ext>
            </a:extLst>
          </p:cNvPr>
          <p:cNvSpPr>
            <a:spLocks noChangeArrowheads="1"/>
          </p:cNvSpPr>
          <p:nvPr/>
        </p:nvSpPr>
        <p:spPr bwMode="auto">
          <a:xfrm>
            <a:off x="2767502" y="4090989"/>
            <a:ext cx="2689469" cy="715962"/>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rPr>
              <a:t> void pay();          </a:t>
            </a:r>
          </a:p>
          <a:p>
            <a:r>
              <a:rPr kumimoji="1" lang="en-US" altLang="zh-CN" sz="2000" dirty="0">
                <a:solidFill>
                  <a:srgbClr val="104E87"/>
                </a:solidFill>
                <a:latin typeface="Comic Sans MS" panose="030F0702030302020204" pitchFamily="66" charset="0"/>
              </a:rPr>
              <a:t> void </a:t>
            </a:r>
            <a:r>
              <a:rPr kumimoji="1" lang="en-US" altLang="zh-CN" sz="2000" dirty="0" err="1">
                <a:solidFill>
                  <a:srgbClr val="104E87"/>
                </a:solidFill>
                <a:latin typeface="Comic Sans MS" panose="030F0702030302020204" pitchFamily="66" charset="0"/>
              </a:rPr>
              <a:t>displayStatus</a:t>
            </a:r>
            <a:r>
              <a:rPr kumimoji="1" lang="en-US" altLang="zh-CN" sz="2000" dirty="0">
                <a:solidFill>
                  <a:srgbClr val="104E87"/>
                </a:solidFill>
                <a:latin typeface="Comic Sans MS" panose="030F0702030302020204" pitchFamily="66" charset="0"/>
              </a:rPr>
              <a:t>();</a:t>
            </a:r>
          </a:p>
        </p:txBody>
      </p:sp>
      <p:sp>
        <p:nvSpPr>
          <p:cNvPr id="22" name="Rectangle 30">
            <a:extLst>
              <a:ext uri="{FF2B5EF4-FFF2-40B4-BE49-F238E27FC236}">
                <a16:creationId xmlns:a16="http://schemas.microsoft.com/office/drawing/2014/main" id="{DCFB785D-6C5D-4744-ACCD-37E1A9A30A04}"/>
              </a:ext>
            </a:extLst>
          </p:cNvPr>
          <p:cNvSpPr>
            <a:spLocks noChangeArrowheads="1"/>
          </p:cNvSpPr>
          <p:nvPr/>
        </p:nvSpPr>
        <p:spPr bwMode="auto">
          <a:xfrm>
            <a:off x="2767502" y="3332165"/>
            <a:ext cx="2689469" cy="325437"/>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a:solidFill>
                  <a:srgbClr val="104E87"/>
                </a:solidFill>
                <a:latin typeface="Comic Sans MS" panose="030F0702030302020204" pitchFamily="66" charset="0"/>
              </a:rPr>
              <a:t>manager</a:t>
            </a:r>
          </a:p>
        </p:txBody>
      </p:sp>
      <p:sp>
        <p:nvSpPr>
          <p:cNvPr id="23" name="Rectangle 34">
            <a:extLst>
              <a:ext uri="{FF2B5EF4-FFF2-40B4-BE49-F238E27FC236}">
                <a16:creationId xmlns:a16="http://schemas.microsoft.com/office/drawing/2014/main" id="{4777034B-550F-4CF3-8745-D384B71F3D98}"/>
              </a:ext>
            </a:extLst>
          </p:cNvPr>
          <p:cNvSpPr>
            <a:spLocks noChangeArrowheads="1"/>
          </p:cNvSpPr>
          <p:nvPr/>
        </p:nvSpPr>
        <p:spPr bwMode="auto">
          <a:xfrm>
            <a:off x="5509238" y="3657602"/>
            <a:ext cx="2689469" cy="57626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rPr>
              <a:t> float </a:t>
            </a:r>
            <a:r>
              <a:rPr kumimoji="1" lang="en-US" altLang="zh-CN" sz="2000" dirty="0" err="1">
                <a:solidFill>
                  <a:srgbClr val="104E87"/>
                </a:solidFill>
                <a:latin typeface="Comic Sans MS" panose="030F0702030302020204" pitchFamily="66" charset="0"/>
              </a:rPr>
              <a:t>Commrate</a:t>
            </a:r>
            <a:r>
              <a:rPr kumimoji="1" lang="en-US" altLang="zh-CN" sz="2000" dirty="0">
                <a:solidFill>
                  <a:srgbClr val="104E87"/>
                </a:solidFill>
                <a:latin typeface="Comic Sans MS" panose="030F0702030302020204" pitchFamily="66" charset="0"/>
              </a:rPr>
              <a:t>;                </a:t>
            </a:r>
          </a:p>
          <a:p>
            <a:r>
              <a:rPr kumimoji="1" lang="en-US" altLang="zh-CN" sz="2000" dirty="0">
                <a:solidFill>
                  <a:srgbClr val="104E87"/>
                </a:solidFill>
                <a:latin typeface="Comic Sans MS" panose="030F0702030302020204" pitchFamily="66" charset="0"/>
              </a:rPr>
              <a:t> float sales;</a:t>
            </a:r>
          </a:p>
        </p:txBody>
      </p:sp>
      <p:sp>
        <p:nvSpPr>
          <p:cNvPr id="24" name="Rectangle 35">
            <a:extLst>
              <a:ext uri="{FF2B5EF4-FFF2-40B4-BE49-F238E27FC236}">
                <a16:creationId xmlns:a16="http://schemas.microsoft.com/office/drawing/2014/main" id="{3478AED4-8813-4853-BD9D-EE6A786E17B0}"/>
              </a:ext>
            </a:extLst>
          </p:cNvPr>
          <p:cNvSpPr>
            <a:spLocks noChangeArrowheads="1"/>
          </p:cNvSpPr>
          <p:nvPr/>
        </p:nvSpPr>
        <p:spPr bwMode="auto">
          <a:xfrm>
            <a:off x="5509238" y="4233864"/>
            <a:ext cx="2689470" cy="635000"/>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a:solidFill>
                  <a:srgbClr val="104E87"/>
                </a:solidFill>
                <a:latin typeface="Comic Sans MS" panose="030F0702030302020204" pitchFamily="66" charset="0"/>
              </a:rPr>
              <a:t> void pay();          </a:t>
            </a:r>
          </a:p>
          <a:p>
            <a:r>
              <a:rPr kumimoji="1" lang="en-US" altLang="zh-CN" sz="2000">
                <a:solidFill>
                  <a:srgbClr val="104E87"/>
                </a:solidFill>
                <a:latin typeface="Comic Sans MS" panose="030F0702030302020204" pitchFamily="66" charset="0"/>
              </a:rPr>
              <a:t> void displayStatus();</a:t>
            </a:r>
          </a:p>
        </p:txBody>
      </p:sp>
      <p:sp>
        <p:nvSpPr>
          <p:cNvPr id="25" name="Rectangle 36">
            <a:extLst>
              <a:ext uri="{FF2B5EF4-FFF2-40B4-BE49-F238E27FC236}">
                <a16:creationId xmlns:a16="http://schemas.microsoft.com/office/drawing/2014/main" id="{04CACCA3-A692-42F5-9170-6A4BF4B8232E}"/>
              </a:ext>
            </a:extLst>
          </p:cNvPr>
          <p:cNvSpPr>
            <a:spLocks noChangeArrowheads="1"/>
          </p:cNvSpPr>
          <p:nvPr/>
        </p:nvSpPr>
        <p:spPr bwMode="auto">
          <a:xfrm>
            <a:off x="5509238" y="3367088"/>
            <a:ext cx="2689469" cy="29051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a:solidFill>
                  <a:srgbClr val="104E87"/>
                </a:solidFill>
                <a:latin typeface="Comic Sans MS" panose="030F0702030302020204" pitchFamily="66" charset="0"/>
              </a:rPr>
              <a:t>salesman</a:t>
            </a:r>
          </a:p>
        </p:txBody>
      </p:sp>
      <p:sp>
        <p:nvSpPr>
          <p:cNvPr id="26" name="Rectangle 37">
            <a:extLst>
              <a:ext uri="{FF2B5EF4-FFF2-40B4-BE49-F238E27FC236}">
                <a16:creationId xmlns:a16="http://schemas.microsoft.com/office/drawing/2014/main" id="{3DFAC3D6-92E3-4DDA-8348-5C3B83CD2B73}"/>
              </a:ext>
            </a:extLst>
          </p:cNvPr>
          <p:cNvSpPr>
            <a:spLocks noChangeArrowheads="1"/>
          </p:cNvSpPr>
          <p:nvPr/>
        </p:nvSpPr>
        <p:spPr bwMode="auto">
          <a:xfrm>
            <a:off x="4061928" y="5745163"/>
            <a:ext cx="2665412" cy="36034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a:solidFill>
                  <a:srgbClr val="104E87"/>
                </a:solidFill>
                <a:latin typeface="Comic Sans MS" panose="030F0702030302020204" pitchFamily="66" charset="0"/>
              </a:rPr>
              <a:t> </a:t>
            </a:r>
          </a:p>
        </p:txBody>
      </p:sp>
      <p:sp>
        <p:nvSpPr>
          <p:cNvPr id="27" name="Rectangle 38">
            <a:extLst>
              <a:ext uri="{FF2B5EF4-FFF2-40B4-BE49-F238E27FC236}">
                <a16:creationId xmlns:a16="http://schemas.microsoft.com/office/drawing/2014/main" id="{9757F58C-AC84-475D-9B87-D60CDE69E81E}"/>
              </a:ext>
            </a:extLst>
          </p:cNvPr>
          <p:cNvSpPr>
            <a:spLocks noChangeArrowheads="1"/>
          </p:cNvSpPr>
          <p:nvPr/>
        </p:nvSpPr>
        <p:spPr bwMode="auto">
          <a:xfrm>
            <a:off x="4061928" y="6103572"/>
            <a:ext cx="2665412" cy="674688"/>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rPr>
              <a:t> void pay();          </a:t>
            </a:r>
          </a:p>
          <a:p>
            <a:r>
              <a:rPr kumimoji="1" lang="en-US" altLang="zh-CN" sz="2000" dirty="0">
                <a:solidFill>
                  <a:srgbClr val="104E87"/>
                </a:solidFill>
                <a:latin typeface="Comic Sans MS" panose="030F0702030302020204" pitchFamily="66" charset="0"/>
              </a:rPr>
              <a:t> void </a:t>
            </a:r>
            <a:r>
              <a:rPr kumimoji="1" lang="en-US" altLang="zh-CN" sz="2000" dirty="0" err="1">
                <a:solidFill>
                  <a:srgbClr val="104E87"/>
                </a:solidFill>
                <a:latin typeface="Comic Sans MS" panose="030F0702030302020204" pitchFamily="66" charset="0"/>
              </a:rPr>
              <a:t>displayStatus</a:t>
            </a:r>
            <a:r>
              <a:rPr kumimoji="1" lang="en-US" altLang="zh-CN" sz="2000" dirty="0">
                <a:solidFill>
                  <a:srgbClr val="104E87"/>
                </a:solidFill>
                <a:latin typeface="Comic Sans MS" panose="030F0702030302020204" pitchFamily="66" charset="0"/>
              </a:rPr>
              <a:t>();</a:t>
            </a:r>
          </a:p>
        </p:txBody>
      </p:sp>
      <p:sp>
        <p:nvSpPr>
          <p:cNvPr id="28" name="Rectangle 39">
            <a:extLst>
              <a:ext uri="{FF2B5EF4-FFF2-40B4-BE49-F238E27FC236}">
                <a16:creationId xmlns:a16="http://schemas.microsoft.com/office/drawing/2014/main" id="{45CB18FC-CCD4-407E-BFB9-72D21E68C1D1}"/>
              </a:ext>
            </a:extLst>
          </p:cNvPr>
          <p:cNvSpPr>
            <a:spLocks noChangeArrowheads="1"/>
          </p:cNvSpPr>
          <p:nvPr/>
        </p:nvSpPr>
        <p:spPr bwMode="auto">
          <a:xfrm>
            <a:off x="4061928" y="5383214"/>
            <a:ext cx="2665412" cy="361950"/>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a:solidFill>
                  <a:srgbClr val="104E87"/>
                </a:solidFill>
                <a:latin typeface="Comic Sans MS" panose="030F0702030302020204" pitchFamily="66" charset="0"/>
              </a:rPr>
              <a:t>salesmanager</a:t>
            </a:r>
          </a:p>
        </p:txBody>
      </p:sp>
      <p:sp>
        <p:nvSpPr>
          <p:cNvPr id="29" name="Line 40">
            <a:extLst>
              <a:ext uri="{FF2B5EF4-FFF2-40B4-BE49-F238E27FC236}">
                <a16:creationId xmlns:a16="http://schemas.microsoft.com/office/drawing/2014/main" id="{0F852422-0E95-4659-A483-D69459D79805}"/>
              </a:ext>
            </a:extLst>
          </p:cNvPr>
          <p:cNvSpPr>
            <a:spLocks noChangeShapeType="1"/>
          </p:cNvSpPr>
          <p:nvPr/>
        </p:nvSpPr>
        <p:spPr bwMode="auto">
          <a:xfrm>
            <a:off x="6923944" y="3225802"/>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ndParaRPr>
          </a:p>
        </p:txBody>
      </p:sp>
      <p:sp>
        <p:nvSpPr>
          <p:cNvPr id="30" name="矩形 31">
            <a:extLst>
              <a:ext uri="{FF2B5EF4-FFF2-40B4-BE49-F238E27FC236}">
                <a16:creationId xmlns:a16="http://schemas.microsoft.com/office/drawing/2014/main" id="{47649284-DA93-4149-8065-63AAACB38F6B}"/>
              </a:ext>
            </a:extLst>
          </p:cNvPr>
          <p:cNvSpPr>
            <a:spLocks noChangeArrowheads="1"/>
          </p:cNvSpPr>
          <p:nvPr/>
        </p:nvSpPr>
        <p:spPr bwMode="auto">
          <a:xfrm>
            <a:off x="1464406" y="386012"/>
            <a:ext cx="2038350"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sz="2000" b="0" dirty="0">
                <a:solidFill>
                  <a:srgbClr val="104E87"/>
                </a:solidFill>
                <a:latin typeface="华光行书_CNKI" panose="02000500000000000000" pitchFamily="2" charset="-122"/>
                <a:ea typeface="华光行书_CNKI" panose="02000500000000000000" pitchFamily="2" charset="-122"/>
              </a:rPr>
              <a:t>姓名</a:t>
            </a:r>
            <a:endParaRPr lang="en-US" altLang="zh-CN" sz="2000" b="0" dirty="0">
              <a:solidFill>
                <a:srgbClr val="104E87"/>
              </a:solidFill>
              <a:latin typeface="华光行书_CNKI" panose="02000500000000000000" pitchFamily="2" charset="-122"/>
              <a:ea typeface="华光行书_CNKI" panose="02000500000000000000" pitchFamily="2" charset="-122"/>
            </a:endParaRPr>
          </a:p>
          <a:p>
            <a:r>
              <a:rPr lang="zh-CN" altLang="en-US" sz="2000" b="0" dirty="0">
                <a:solidFill>
                  <a:srgbClr val="104E87"/>
                </a:solidFill>
                <a:latin typeface="华光行书_CNKI" panose="02000500000000000000" pitchFamily="2" charset="-122"/>
                <a:ea typeface="华光行书_CNKI" panose="02000500000000000000" pitchFamily="2" charset="-122"/>
              </a:rPr>
              <a:t>编号</a:t>
            </a:r>
            <a:endParaRPr lang="en-US" altLang="zh-CN" sz="2000" b="0" dirty="0">
              <a:solidFill>
                <a:srgbClr val="104E87"/>
              </a:solidFill>
              <a:latin typeface="华光行书_CNKI" panose="02000500000000000000" pitchFamily="2" charset="-122"/>
              <a:ea typeface="华光行书_CNKI" panose="02000500000000000000" pitchFamily="2" charset="-122"/>
            </a:endParaRPr>
          </a:p>
          <a:p>
            <a:r>
              <a:rPr lang="zh-CN" altLang="en-US" sz="2000" b="0" dirty="0">
                <a:solidFill>
                  <a:srgbClr val="104E87"/>
                </a:solidFill>
                <a:latin typeface="华光行书_CNKI" panose="02000500000000000000" pitchFamily="2" charset="-122"/>
                <a:ea typeface="华光行书_CNKI" panose="02000500000000000000" pitchFamily="2" charset="-122"/>
              </a:rPr>
              <a:t>级别</a:t>
            </a:r>
            <a:endParaRPr lang="en-US" altLang="zh-CN" sz="2000" b="0" dirty="0">
              <a:solidFill>
                <a:srgbClr val="104E87"/>
              </a:solidFill>
              <a:latin typeface="华光行书_CNKI" panose="02000500000000000000" pitchFamily="2" charset="-122"/>
              <a:ea typeface="华光行书_CNKI" panose="02000500000000000000" pitchFamily="2" charset="-122"/>
            </a:endParaRPr>
          </a:p>
          <a:p>
            <a:r>
              <a:rPr lang="zh-CN" altLang="en-US" sz="2000" b="0" dirty="0">
                <a:solidFill>
                  <a:srgbClr val="104E87"/>
                </a:solidFill>
                <a:latin typeface="华光行书_CNKI" panose="02000500000000000000" pitchFamily="2" charset="-122"/>
                <a:ea typeface="华光行书_CNKI" panose="02000500000000000000" pitchFamily="2" charset="-122"/>
              </a:rPr>
              <a:t>月薪水</a:t>
            </a:r>
            <a:endParaRPr lang="en-US" altLang="zh-CN" sz="2000" b="0" dirty="0">
              <a:solidFill>
                <a:srgbClr val="104E87"/>
              </a:solidFill>
              <a:latin typeface="华光行书_CNKI" panose="02000500000000000000" pitchFamily="2" charset="-122"/>
              <a:ea typeface="华光行书_CNKI" panose="02000500000000000000" pitchFamily="2" charset="-122"/>
            </a:endParaRPr>
          </a:p>
          <a:p>
            <a:endParaRPr lang="en-US" altLang="zh-CN" sz="2000" b="0" dirty="0">
              <a:solidFill>
                <a:srgbClr val="104E87"/>
              </a:solidFill>
              <a:latin typeface="华光行书_CNKI" panose="02000500000000000000" pitchFamily="2" charset="-122"/>
              <a:ea typeface="华光行书_CNKI" panose="02000500000000000000" pitchFamily="2" charset="-122"/>
            </a:endParaRPr>
          </a:p>
          <a:p>
            <a:r>
              <a:rPr lang="zh-CN" altLang="en-US" sz="2000" b="0" dirty="0">
                <a:solidFill>
                  <a:srgbClr val="104E87"/>
                </a:solidFill>
                <a:latin typeface="华光行书_CNKI" panose="02000500000000000000" pitchFamily="2" charset="-122"/>
                <a:ea typeface="华光行书_CNKI" panose="02000500000000000000" pitchFamily="2" charset="-122"/>
              </a:rPr>
              <a:t>计算月薪总额</a:t>
            </a:r>
            <a:endParaRPr lang="en-US" altLang="zh-CN" sz="2000" b="0" dirty="0">
              <a:solidFill>
                <a:srgbClr val="104E87"/>
              </a:solidFill>
              <a:latin typeface="华光行书_CNKI" panose="02000500000000000000" pitchFamily="2" charset="-122"/>
              <a:ea typeface="华光行书_CNKI" panose="02000500000000000000" pitchFamily="2" charset="-122"/>
            </a:endParaRPr>
          </a:p>
          <a:p>
            <a:r>
              <a:rPr lang="zh-CN" altLang="en-US" sz="2000" b="0" dirty="0">
                <a:solidFill>
                  <a:srgbClr val="104E87"/>
                </a:solidFill>
                <a:latin typeface="华光行书_CNKI" panose="02000500000000000000" pitchFamily="2" charset="-122"/>
                <a:ea typeface="华光行书_CNKI" panose="02000500000000000000" pitchFamily="2" charset="-122"/>
              </a:rPr>
              <a:t>提升级别</a:t>
            </a:r>
            <a:endParaRPr lang="en-US" altLang="zh-CN" sz="2000" b="0" dirty="0">
              <a:solidFill>
                <a:srgbClr val="104E87"/>
              </a:solidFill>
              <a:latin typeface="华光行书_CNKI" panose="02000500000000000000" pitchFamily="2" charset="-122"/>
              <a:ea typeface="华光行书_CNKI" panose="02000500000000000000" pitchFamily="2" charset="-122"/>
            </a:endParaRPr>
          </a:p>
          <a:p>
            <a:r>
              <a:rPr lang="zh-CN" altLang="en-US" sz="2000" b="0" dirty="0">
                <a:solidFill>
                  <a:srgbClr val="104E87"/>
                </a:solidFill>
                <a:latin typeface="华光行书_CNKI" panose="02000500000000000000" pitchFamily="2" charset="-122"/>
                <a:ea typeface="华光行书_CNKI" panose="02000500000000000000" pitchFamily="2" charset="-122"/>
              </a:rPr>
              <a:t>显示全部信息</a:t>
            </a:r>
          </a:p>
        </p:txBody>
      </p:sp>
      <p:grpSp>
        <p:nvGrpSpPr>
          <p:cNvPr id="31" name="组合 33">
            <a:extLst>
              <a:ext uri="{FF2B5EF4-FFF2-40B4-BE49-F238E27FC236}">
                <a16:creationId xmlns:a16="http://schemas.microsoft.com/office/drawing/2014/main" id="{A882E5D5-F31D-4B1F-A47E-A9B94353F2C9}"/>
              </a:ext>
            </a:extLst>
          </p:cNvPr>
          <p:cNvGrpSpPr>
            <a:grpSpLocks/>
          </p:cNvGrpSpPr>
          <p:nvPr/>
        </p:nvGrpSpPr>
        <p:grpSpPr bwMode="auto">
          <a:xfrm>
            <a:off x="8564102" y="35411"/>
            <a:ext cx="3576274" cy="5526086"/>
            <a:chOff x="2756670" y="258765"/>
            <a:chExt cx="3576274" cy="5526589"/>
          </a:xfrm>
        </p:grpSpPr>
        <p:sp>
          <p:nvSpPr>
            <p:cNvPr id="32" name="Rectangle 9">
              <a:extLst>
                <a:ext uri="{FF2B5EF4-FFF2-40B4-BE49-F238E27FC236}">
                  <a16:creationId xmlns:a16="http://schemas.microsoft.com/office/drawing/2014/main" id="{2649C8E6-586B-4D14-A131-252204B38953}"/>
                </a:ext>
              </a:extLst>
            </p:cNvPr>
            <p:cNvSpPr>
              <a:spLocks noChangeArrowheads="1"/>
            </p:cNvSpPr>
            <p:nvPr/>
          </p:nvSpPr>
          <p:spPr bwMode="auto">
            <a:xfrm>
              <a:off x="2987676" y="547689"/>
              <a:ext cx="2698749" cy="1238237"/>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ea typeface="华光行书_CNKI" panose="02000500000000000000" pitchFamily="2" charset="-122"/>
                </a:rPr>
                <a:t> char *name; </a:t>
              </a:r>
            </a:p>
            <a:p>
              <a:r>
                <a:rPr kumimoji="1" lang="en-US" altLang="zh-CN" sz="2000" dirty="0">
                  <a:solidFill>
                    <a:srgbClr val="104E87"/>
                  </a:solidFill>
                  <a:latin typeface="Comic Sans MS" panose="030F0702030302020204" pitchFamily="66" charset="0"/>
                  <a:ea typeface="华光行书_CNKI" panose="02000500000000000000" pitchFamily="2" charset="-122"/>
                </a:rPr>
                <a:t> int </a:t>
              </a:r>
              <a:r>
                <a:rPr kumimoji="1" lang="en-US" altLang="zh-CN" sz="2000" dirty="0" err="1">
                  <a:solidFill>
                    <a:srgbClr val="104E87"/>
                  </a:solidFill>
                  <a:latin typeface="Comic Sans MS" panose="030F0702030302020204" pitchFamily="66" charset="0"/>
                  <a:ea typeface="华光行书_CNKI" panose="02000500000000000000" pitchFamily="2" charset="-122"/>
                </a:rPr>
                <a:t>individualEmpNo</a:t>
              </a:r>
              <a:r>
                <a:rPr kumimoji="1" lang="en-US" altLang="zh-CN" sz="2000" dirty="0">
                  <a:solidFill>
                    <a:srgbClr val="104E87"/>
                  </a:solidFill>
                  <a:latin typeface="Comic Sans MS" panose="030F0702030302020204" pitchFamily="66" charset="0"/>
                  <a:ea typeface="华光行书_CNKI" panose="02000500000000000000" pitchFamily="2" charset="-122"/>
                </a:rPr>
                <a:t>; </a:t>
              </a:r>
            </a:p>
            <a:p>
              <a:r>
                <a:rPr kumimoji="1" lang="en-US" altLang="zh-CN" sz="2000" dirty="0">
                  <a:solidFill>
                    <a:srgbClr val="104E87"/>
                  </a:solidFill>
                  <a:latin typeface="Comic Sans MS" panose="030F0702030302020204" pitchFamily="66" charset="0"/>
                  <a:ea typeface="华光行书_CNKI" panose="02000500000000000000" pitchFamily="2" charset="-122"/>
                </a:rPr>
                <a:t>float </a:t>
              </a:r>
              <a:r>
                <a:rPr kumimoji="1" lang="en-US" altLang="zh-CN" sz="2000" dirty="0" err="1">
                  <a:solidFill>
                    <a:srgbClr val="104E87"/>
                  </a:solidFill>
                  <a:latin typeface="Comic Sans MS" panose="030F0702030302020204" pitchFamily="66" charset="0"/>
                  <a:ea typeface="华光行书_CNKI" panose="02000500000000000000" pitchFamily="2" charset="-122"/>
                </a:rPr>
                <a:t>accumPay</a:t>
              </a:r>
              <a:r>
                <a:rPr kumimoji="1" lang="en-US" altLang="zh-CN" sz="2000" dirty="0">
                  <a:solidFill>
                    <a:srgbClr val="104E87"/>
                  </a:solidFill>
                  <a:latin typeface="Comic Sans MS" panose="030F0702030302020204" pitchFamily="66" charset="0"/>
                  <a:ea typeface="华光行书_CNKI" panose="02000500000000000000" pitchFamily="2" charset="-122"/>
                </a:rPr>
                <a:t>;</a:t>
              </a:r>
            </a:p>
          </p:txBody>
        </p:sp>
        <p:sp>
          <p:nvSpPr>
            <p:cNvPr id="33" name="Rectangle 11">
              <a:extLst>
                <a:ext uri="{FF2B5EF4-FFF2-40B4-BE49-F238E27FC236}">
                  <a16:creationId xmlns:a16="http://schemas.microsoft.com/office/drawing/2014/main" id="{367F0B5C-1387-4DFF-ABA3-E381FFDB8D74}"/>
                </a:ext>
              </a:extLst>
            </p:cNvPr>
            <p:cNvSpPr>
              <a:spLocks noChangeArrowheads="1"/>
            </p:cNvSpPr>
            <p:nvPr/>
          </p:nvSpPr>
          <p:spPr bwMode="auto">
            <a:xfrm>
              <a:off x="2987675" y="1785927"/>
              <a:ext cx="2698749" cy="92869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dirty="0">
                  <a:solidFill>
                    <a:srgbClr val="104E87"/>
                  </a:solidFill>
                  <a:latin typeface="Comic Sans MS" panose="030F0702030302020204" pitchFamily="66" charset="0"/>
                  <a:ea typeface="华光行书_CNKI" panose="02000500000000000000" pitchFamily="2" charset="-122"/>
                </a:rPr>
                <a:t> float pay();      </a:t>
              </a:r>
            </a:p>
            <a:p>
              <a:r>
                <a:rPr kumimoji="1" lang="en-US" altLang="zh-CN" sz="2000" dirty="0">
                  <a:solidFill>
                    <a:srgbClr val="104E87"/>
                  </a:solidFill>
                  <a:latin typeface="Comic Sans MS" panose="030F0702030302020204" pitchFamily="66" charset="0"/>
                  <a:ea typeface="华光行书_CNKI" panose="02000500000000000000" pitchFamily="2" charset="-122"/>
                </a:rPr>
                <a:t>void </a:t>
              </a:r>
              <a:r>
                <a:rPr kumimoji="1" lang="en-US" altLang="zh-CN" sz="2000" dirty="0" err="1">
                  <a:solidFill>
                    <a:srgbClr val="104E87"/>
                  </a:solidFill>
                  <a:latin typeface="Comic Sans MS" panose="030F0702030302020204" pitchFamily="66" charset="0"/>
                  <a:ea typeface="华光行书_CNKI" panose="02000500000000000000" pitchFamily="2" charset="-122"/>
                </a:rPr>
                <a:t>displayStatus</a:t>
              </a:r>
              <a:r>
                <a:rPr kumimoji="1" lang="en-US" altLang="zh-CN" sz="2000" dirty="0">
                  <a:solidFill>
                    <a:srgbClr val="104E87"/>
                  </a:solidFill>
                  <a:latin typeface="Comic Sans MS" panose="030F0702030302020204" pitchFamily="66" charset="0"/>
                  <a:ea typeface="华光行书_CNKI" panose="02000500000000000000" pitchFamily="2" charset="-122"/>
                </a:rPr>
                <a:t>();</a:t>
              </a:r>
            </a:p>
          </p:txBody>
        </p:sp>
        <p:sp>
          <p:nvSpPr>
            <p:cNvPr id="34" name="AutoShape 12">
              <a:extLst>
                <a:ext uri="{FF2B5EF4-FFF2-40B4-BE49-F238E27FC236}">
                  <a16:creationId xmlns:a16="http://schemas.microsoft.com/office/drawing/2014/main" id="{DC958DA5-B33A-46D6-B60B-9C2EC62F6BE8}"/>
                </a:ext>
              </a:extLst>
            </p:cNvPr>
            <p:cNvSpPr>
              <a:spLocks noChangeArrowheads="1"/>
            </p:cNvSpPr>
            <p:nvPr/>
          </p:nvSpPr>
          <p:spPr bwMode="auto">
            <a:xfrm>
              <a:off x="4133691" y="2737581"/>
              <a:ext cx="400217" cy="217487"/>
            </a:xfrm>
            <a:prstGeom prst="triangle">
              <a:avLst>
                <a:gd name="adj" fmla="val 50000"/>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35" name="Line 13">
              <a:extLst>
                <a:ext uri="{FF2B5EF4-FFF2-40B4-BE49-F238E27FC236}">
                  <a16:creationId xmlns:a16="http://schemas.microsoft.com/office/drawing/2014/main" id="{81954193-E56A-4891-9A65-B1679C88BB10}"/>
                </a:ext>
              </a:extLst>
            </p:cNvPr>
            <p:cNvSpPr>
              <a:spLocks noChangeShapeType="1"/>
            </p:cNvSpPr>
            <p:nvPr/>
          </p:nvSpPr>
          <p:spPr bwMode="auto">
            <a:xfrm>
              <a:off x="4351178" y="2976927"/>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sp>
          <p:nvSpPr>
            <p:cNvPr id="36" name="AutoShape 17">
              <a:extLst>
                <a:ext uri="{FF2B5EF4-FFF2-40B4-BE49-F238E27FC236}">
                  <a16:creationId xmlns:a16="http://schemas.microsoft.com/office/drawing/2014/main" id="{BEFE899E-F00A-46F3-9A3A-A87A7FDE49DD}"/>
                </a:ext>
              </a:extLst>
            </p:cNvPr>
            <p:cNvSpPr>
              <a:spLocks noChangeArrowheads="1"/>
            </p:cNvSpPr>
            <p:nvPr/>
          </p:nvSpPr>
          <p:spPr bwMode="auto">
            <a:xfrm>
              <a:off x="3333763" y="4213718"/>
              <a:ext cx="287337" cy="217487"/>
            </a:xfrm>
            <a:prstGeom prst="triangle">
              <a:avLst>
                <a:gd name="adj" fmla="val 50000"/>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2000">
                <a:solidFill>
                  <a:srgbClr val="104E87"/>
                </a:solidFill>
                <a:latin typeface="Comic Sans MS" panose="030F0702030302020204" pitchFamily="66" charset="0"/>
                <a:ea typeface="华光行书_CNKI" panose="02000500000000000000" pitchFamily="2" charset="-122"/>
              </a:endParaRPr>
            </a:p>
          </p:txBody>
        </p:sp>
        <p:sp>
          <p:nvSpPr>
            <p:cNvPr id="37" name="AutoShape 18">
              <a:extLst>
                <a:ext uri="{FF2B5EF4-FFF2-40B4-BE49-F238E27FC236}">
                  <a16:creationId xmlns:a16="http://schemas.microsoft.com/office/drawing/2014/main" id="{D9630742-D220-489D-8AC2-6D3490785EE9}"/>
                </a:ext>
              </a:extLst>
            </p:cNvPr>
            <p:cNvSpPr>
              <a:spLocks noChangeArrowheads="1"/>
            </p:cNvSpPr>
            <p:nvPr/>
          </p:nvSpPr>
          <p:spPr bwMode="auto">
            <a:xfrm>
              <a:off x="5462116" y="4213718"/>
              <a:ext cx="287338" cy="217487"/>
            </a:xfrm>
            <a:prstGeom prst="triangle">
              <a:avLst>
                <a:gd name="adj" fmla="val 50000"/>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2000">
                <a:solidFill>
                  <a:srgbClr val="104E87"/>
                </a:solidFill>
                <a:latin typeface="Comic Sans MS" panose="030F0702030302020204" pitchFamily="66" charset="0"/>
                <a:ea typeface="华光行书_CNKI" panose="02000500000000000000" pitchFamily="2" charset="-122"/>
              </a:endParaRPr>
            </a:p>
          </p:txBody>
        </p:sp>
        <p:sp>
          <p:nvSpPr>
            <p:cNvPr id="38" name="Line 19">
              <a:extLst>
                <a:ext uri="{FF2B5EF4-FFF2-40B4-BE49-F238E27FC236}">
                  <a16:creationId xmlns:a16="http://schemas.microsoft.com/office/drawing/2014/main" id="{7F6AA9D8-F90E-4085-854E-E714EB1720FB}"/>
                </a:ext>
              </a:extLst>
            </p:cNvPr>
            <p:cNvSpPr>
              <a:spLocks noChangeShapeType="1"/>
            </p:cNvSpPr>
            <p:nvPr/>
          </p:nvSpPr>
          <p:spPr bwMode="auto">
            <a:xfrm flipV="1">
              <a:off x="3476638" y="4572493"/>
              <a:ext cx="2118361" cy="1587"/>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sp>
          <p:nvSpPr>
            <p:cNvPr id="39" name="Line 20">
              <a:extLst>
                <a:ext uri="{FF2B5EF4-FFF2-40B4-BE49-F238E27FC236}">
                  <a16:creationId xmlns:a16="http://schemas.microsoft.com/office/drawing/2014/main" id="{F55BFD3F-1346-4B48-B11F-9793B0122565}"/>
                </a:ext>
              </a:extLst>
            </p:cNvPr>
            <p:cNvSpPr>
              <a:spLocks noChangeShapeType="1"/>
            </p:cNvSpPr>
            <p:nvPr/>
          </p:nvSpPr>
          <p:spPr bwMode="auto">
            <a:xfrm>
              <a:off x="4597292" y="4574080"/>
              <a:ext cx="0" cy="144463"/>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sp>
          <p:nvSpPr>
            <p:cNvPr id="40" name="Line 22">
              <a:extLst>
                <a:ext uri="{FF2B5EF4-FFF2-40B4-BE49-F238E27FC236}">
                  <a16:creationId xmlns:a16="http://schemas.microsoft.com/office/drawing/2014/main" id="{33ACCA98-8A31-4762-A55E-D49FDF06D896}"/>
                </a:ext>
              </a:extLst>
            </p:cNvPr>
            <p:cNvSpPr>
              <a:spLocks noChangeShapeType="1"/>
            </p:cNvSpPr>
            <p:nvPr/>
          </p:nvSpPr>
          <p:spPr bwMode="auto">
            <a:xfrm>
              <a:off x="3476638" y="4429618"/>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sp>
          <p:nvSpPr>
            <p:cNvPr id="41" name="Line 23">
              <a:extLst>
                <a:ext uri="{FF2B5EF4-FFF2-40B4-BE49-F238E27FC236}">
                  <a16:creationId xmlns:a16="http://schemas.microsoft.com/office/drawing/2014/main" id="{A005BB8B-44EA-4417-BE4C-4DC769C7564C}"/>
                </a:ext>
              </a:extLst>
            </p:cNvPr>
            <p:cNvSpPr>
              <a:spLocks noChangeShapeType="1"/>
            </p:cNvSpPr>
            <p:nvPr/>
          </p:nvSpPr>
          <p:spPr bwMode="auto">
            <a:xfrm>
              <a:off x="5593268" y="4429618"/>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sp>
          <p:nvSpPr>
            <p:cNvPr id="42" name="Rectangle 24">
              <a:extLst>
                <a:ext uri="{FF2B5EF4-FFF2-40B4-BE49-F238E27FC236}">
                  <a16:creationId xmlns:a16="http://schemas.microsoft.com/office/drawing/2014/main" id="{FFAC8094-9303-46AB-BBF9-2A81E0D45636}"/>
                </a:ext>
              </a:extLst>
            </p:cNvPr>
            <p:cNvSpPr>
              <a:spLocks noChangeArrowheads="1"/>
            </p:cNvSpPr>
            <p:nvPr/>
          </p:nvSpPr>
          <p:spPr bwMode="auto">
            <a:xfrm>
              <a:off x="2987675" y="258765"/>
              <a:ext cx="2698749" cy="276247"/>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a:solidFill>
                    <a:srgbClr val="104E87"/>
                  </a:solidFill>
                  <a:latin typeface="Comic Sans MS" panose="030F0702030302020204" pitchFamily="66" charset="0"/>
                  <a:ea typeface="华光行书_CNKI" panose="02000500000000000000" pitchFamily="2" charset="-122"/>
                </a:rPr>
                <a:t>Employee</a:t>
              </a:r>
              <a:r>
                <a:rPr kumimoji="1" lang="zh-CN" altLang="en-US" sz="2000">
                  <a:solidFill>
                    <a:srgbClr val="104E87"/>
                  </a:solidFill>
                  <a:latin typeface="Comic Sans MS" panose="030F0702030302020204" pitchFamily="66" charset="0"/>
                  <a:ea typeface="华光行书_CNKI" panose="02000500000000000000" pitchFamily="2" charset="-122"/>
                </a:rPr>
                <a:t>类</a:t>
              </a:r>
              <a:endParaRPr kumimoji="1" lang="en-US" altLang="zh-CN" sz="2000">
                <a:solidFill>
                  <a:srgbClr val="104E87"/>
                </a:solidFill>
                <a:latin typeface="Comic Sans MS" panose="030F0702030302020204" pitchFamily="66" charset="0"/>
                <a:ea typeface="华光行书_CNKI" panose="02000500000000000000" pitchFamily="2" charset="-122"/>
              </a:endParaRPr>
            </a:p>
          </p:txBody>
        </p:sp>
        <p:sp>
          <p:nvSpPr>
            <p:cNvPr id="43" name="Rectangle 29">
              <a:extLst>
                <a:ext uri="{FF2B5EF4-FFF2-40B4-BE49-F238E27FC236}">
                  <a16:creationId xmlns:a16="http://schemas.microsoft.com/office/drawing/2014/main" id="{3366B9A9-E38D-4B99-9B5F-8DEFF4075338}"/>
                </a:ext>
              </a:extLst>
            </p:cNvPr>
            <p:cNvSpPr>
              <a:spLocks noChangeArrowheads="1"/>
            </p:cNvSpPr>
            <p:nvPr/>
          </p:nvSpPr>
          <p:spPr bwMode="auto">
            <a:xfrm>
              <a:off x="2756670" y="3666762"/>
              <a:ext cx="1593347" cy="53095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kumimoji="1" lang="en-US" altLang="zh-CN" sz="2000">
                <a:solidFill>
                  <a:srgbClr val="104E87"/>
                </a:solidFill>
                <a:latin typeface="Comic Sans MS" panose="030F0702030302020204" pitchFamily="66" charset="0"/>
                <a:ea typeface="华光行书_CNKI" panose="02000500000000000000" pitchFamily="2" charset="-122"/>
              </a:endParaRPr>
            </a:p>
          </p:txBody>
        </p:sp>
        <p:sp>
          <p:nvSpPr>
            <p:cNvPr id="44" name="Rectangle 30">
              <a:extLst>
                <a:ext uri="{FF2B5EF4-FFF2-40B4-BE49-F238E27FC236}">
                  <a16:creationId xmlns:a16="http://schemas.microsoft.com/office/drawing/2014/main" id="{2ED32644-E2F5-4D20-B9CF-D37C4BA04ECB}"/>
                </a:ext>
              </a:extLst>
            </p:cNvPr>
            <p:cNvSpPr>
              <a:spLocks noChangeArrowheads="1"/>
            </p:cNvSpPr>
            <p:nvPr/>
          </p:nvSpPr>
          <p:spPr bwMode="auto">
            <a:xfrm>
              <a:off x="2756670" y="3342911"/>
              <a:ext cx="1593347" cy="322264"/>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dirty="0">
                  <a:solidFill>
                    <a:srgbClr val="104E87"/>
                  </a:solidFill>
                  <a:latin typeface="Comic Sans MS" panose="030F0702030302020204" pitchFamily="66" charset="0"/>
                  <a:ea typeface="华光行书_CNKI" panose="02000500000000000000" pitchFamily="2" charset="-122"/>
                </a:rPr>
                <a:t>Manager</a:t>
              </a:r>
              <a:r>
                <a:rPr kumimoji="1" lang="zh-CN" altLang="en-US" sz="2000" dirty="0">
                  <a:solidFill>
                    <a:srgbClr val="104E87"/>
                  </a:solidFill>
                  <a:latin typeface="Comic Sans MS" panose="030F0702030302020204" pitchFamily="66" charset="0"/>
                  <a:ea typeface="华光行书_CNKI" panose="02000500000000000000" pitchFamily="2" charset="-122"/>
                </a:rPr>
                <a:t>类</a:t>
              </a:r>
              <a:endParaRPr kumimoji="1" lang="en-US" altLang="zh-CN" sz="2000" dirty="0">
                <a:solidFill>
                  <a:srgbClr val="104E87"/>
                </a:solidFill>
                <a:latin typeface="Comic Sans MS" panose="030F0702030302020204" pitchFamily="66" charset="0"/>
                <a:ea typeface="华光行书_CNKI" panose="02000500000000000000" pitchFamily="2" charset="-122"/>
              </a:endParaRPr>
            </a:p>
          </p:txBody>
        </p:sp>
        <p:sp>
          <p:nvSpPr>
            <p:cNvPr id="45" name="Rectangle 34">
              <a:extLst>
                <a:ext uri="{FF2B5EF4-FFF2-40B4-BE49-F238E27FC236}">
                  <a16:creationId xmlns:a16="http://schemas.microsoft.com/office/drawing/2014/main" id="{E279435F-AAC3-46AB-A835-F2154AA760D2}"/>
                </a:ext>
              </a:extLst>
            </p:cNvPr>
            <p:cNvSpPr>
              <a:spLocks noChangeArrowheads="1"/>
            </p:cNvSpPr>
            <p:nvPr/>
          </p:nvSpPr>
          <p:spPr bwMode="auto">
            <a:xfrm>
              <a:off x="4676189" y="3598004"/>
              <a:ext cx="1656755" cy="576263"/>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kumimoji="1" lang="en-US" altLang="zh-CN" sz="2000">
                <a:solidFill>
                  <a:srgbClr val="104E87"/>
                </a:solidFill>
                <a:latin typeface="Comic Sans MS" panose="030F0702030302020204" pitchFamily="66" charset="0"/>
                <a:ea typeface="华光行书_CNKI" panose="02000500000000000000" pitchFamily="2" charset="-122"/>
              </a:endParaRPr>
            </a:p>
          </p:txBody>
        </p:sp>
        <p:sp>
          <p:nvSpPr>
            <p:cNvPr id="46" name="Rectangle 36">
              <a:extLst>
                <a:ext uri="{FF2B5EF4-FFF2-40B4-BE49-F238E27FC236}">
                  <a16:creationId xmlns:a16="http://schemas.microsoft.com/office/drawing/2014/main" id="{0D37556A-260E-4CA7-B65B-48BD3655EDA9}"/>
                </a:ext>
              </a:extLst>
            </p:cNvPr>
            <p:cNvSpPr>
              <a:spLocks noChangeArrowheads="1"/>
            </p:cNvSpPr>
            <p:nvPr/>
          </p:nvSpPr>
          <p:spPr bwMode="auto">
            <a:xfrm>
              <a:off x="4676190" y="3307491"/>
              <a:ext cx="1656754" cy="290512"/>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dirty="0">
                  <a:solidFill>
                    <a:srgbClr val="104E87"/>
                  </a:solidFill>
                  <a:latin typeface="Comic Sans MS" panose="030F0702030302020204" pitchFamily="66" charset="0"/>
                  <a:ea typeface="华光行书_CNKI" panose="02000500000000000000" pitchFamily="2" charset="-122"/>
                </a:rPr>
                <a:t>Salesman</a:t>
              </a:r>
              <a:r>
                <a:rPr kumimoji="1" lang="zh-CN" altLang="en-US" sz="2000" dirty="0">
                  <a:solidFill>
                    <a:srgbClr val="104E87"/>
                  </a:solidFill>
                  <a:latin typeface="Comic Sans MS" panose="030F0702030302020204" pitchFamily="66" charset="0"/>
                  <a:ea typeface="华光行书_CNKI" panose="02000500000000000000" pitchFamily="2" charset="-122"/>
                </a:rPr>
                <a:t>类</a:t>
              </a:r>
              <a:endParaRPr kumimoji="1" lang="en-US" altLang="zh-CN" sz="2000" dirty="0">
                <a:solidFill>
                  <a:srgbClr val="104E87"/>
                </a:solidFill>
                <a:latin typeface="Comic Sans MS" panose="030F0702030302020204" pitchFamily="66" charset="0"/>
                <a:ea typeface="华光行书_CNKI" panose="02000500000000000000" pitchFamily="2" charset="-122"/>
              </a:endParaRPr>
            </a:p>
          </p:txBody>
        </p:sp>
        <p:sp>
          <p:nvSpPr>
            <p:cNvPr id="47" name="Rectangle 37">
              <a:extLst>
                <a:ext uri="{FF2B5EF4-FFF2-40B4-BE49-F238E27FC236}">
                  <a16:creationId xmlns:a16="http://schemas.microsoft.com/office/drawing/2014/main" id="{6AD767B2-A595-4248-ADD5-B932134614BE}"/>
                </a:ext>
              </a:extLst>
            </p:cNvPr>
            <p:cNvSpPr>
              <a:spLocks noChangeArrowheads="1"/>
            </p:cNvSpPr>
            <p:nvPr/>
          </p:nvSpPr>
          <p:spPr bwMode="auto">
            <a:xfrm>
              <a:off x="3529515" y="5077318"/>
              <a:ext cx="2233613" cy="708036"/>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sz="2000">
                  <a:solidFill>
                    <a:srgbClr val="104E87"/>
                  </a:solidFill>
                  <a:latin typeface="Comic Sans MS" panose="030F0702030302020204" pitchFamily="66" charset="0"/>
                  <a:ea typeface="华光行书_CNKI" panose="02000500000000000000" pitchFamily="2" charset="-122"/>
                </a:rPr>
                <a:t> </a:t>
              </a:r>
            </a:p>
          </p:txBody>
        </p:sp>
        <p:sp>
          <p:nvSpPr>
            <p:cNvPr id="48" name="Rectangle 39">
              <a:extLst>
                <a:ext uri="{FF2B5EF4-FFF2-40B4-BE49-F238E27FC236}">
                  <a16:creationId xmlns:a16="http://schemas.microsoft.com/office/drawing/2014/main" id="{17E3E1CB-2A34-4563-89CA-75C2710BCFD1}"/>
                </a:ext>
              </a:extLst>
            </p:cNvPr>
            <p:cNvSpPr>
              <a:spLocks noChangeArrowheads="1"/>
            </p:cNvSpPr>
            <p:nvPr/>
          </p:nvSpPr>
          <p:spPr bwMode="auto">
            <a:xfrm>
              <a:off x="3529515" y="4715368"/>
              <a:ext cx="2233613" cy="361950"/>
            </a:xfrm>
            <a:prstGeom prst="rect">
              <a:avLst/>
            </a:pr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1" lang="en-US" altLang="zh-CN" sz="2000" dirty="0" err="1">
                  <a:solidFill>
                    <a:srgbClr val="104E87"/>
                  </a:solidFill>
                  <a:latin typeface="Comic Sans MS" panose="030F0702030302020204" pitchFamily="66" charset="0"/>
                  <a:ea typeface="华光行书_CNKI" panose="02000500000000000000" pitchFamily="2" charset="-122"/>
                </a:rPr>
                <a:t>Salesmanager</a:t>
              </a:r>
              <a:r>
                <a:rPr kumimoji="1" lang="zh-CN" altLang="en-US" sz="2000" dirty="0">
                  <a:solidFill>
                    <a:srgbClr val="104E87"/>
                  </a:solidFill>
                  <a:latin typeface="Comic Sans MS" panose="030F0702030302020204" pitchFamily="66" charset="0"/>
                  <a:ea typeface="华光行书_CNKI" panose="02000500000000000000" pitchFamily="2" charset="-122"/>
                </a:rPr>
                <a:t>类</a:t>
              </a:r>
              <a:endParaRPr kumimoji="1" lang="en-US" altLang="zh-CN" sz="2000" dirty="0">
                <a:solidFill>
                  <a:srgbClr val="104E87"/>
                </a:solidFill>
                <a:latin typeface="Comic Sans MS" panose="030F0702030302020204" pitchFamily="66" charset="0"/>
                <a:ea typeface="华光行书_CNKI" panose="02000500000000000000" pitchFamily="2" charset="-122"/>
              </a:endParaRPr>
            </a:p>
          </p:txBody>
        </p:sp>
        <p:grpSp>
          <p:nvGrpSpPr>
            <p:cNvPr id="49" name="组合 30">
              <a:extLst>
                <a:ext uri="{FF2B5EF4-FFF2-40B4-BE49-F238E27FC236}">
                  <a16:creationId xmlns:a16="http://schemas.microsoft.com/office/drawing/2014/main" id="{34331D93-7B64-49D1-BAE1-B2F63616F955}"/>
                </a:ext>
              </a:extLst>
            </p:cNvPr>
            <p:cNvGrpSpPr>
              <a:grpSpLocks/>
            </p:cNvGrpSpPr>
            <p:nvPr/>
          </p:nvGrpSpPr>
          <p:grpSpPr bwMode="auto">
            <a:xfrm>
              <a:off x="3500430" y="3130857"/>
              <a:ext cx="2094569" cy="225127"/>
              <a:chOff x="1476375" y="3204772"/>
              <a:chExt cx="3939550" cy="151203"/>
            </a:xfrm>
          </p:grpSpPr>
          <p:sp>
            <p:nvSpPr>
              <p:cNvPr id="50" name="Line 14">
                <a:extLst>
                  <a:ext uri="{FF2B5EF4-FFF2-40B4-BE49-F238E27FC236}">
                    <a16:creationId xmlns:a16="http://schemas.microsoft.com/office/drawing/2014/main" id="{F0DC39C9-0F0B-4409-B907-9FAB7E21CBBC}"/>
                  </a:ext>
                </a:extLst>
              </p:cNvPr>
              <p:cNvSpPr>
                <a:spLocks noChangeShapeType="1"/>
              </p:cNvSpPr>
              <p:nvPr/>
            </p:nvSpPr>
            <p:spPr bwMode="auto">
              <a:xfrm flipV="1">
                <a:off x="1476377" y="3204772"/>
                <a:ext cx="3939548" cy="8328"/>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sp>
            <p:nvSpPr>
              <p:cNvPr id="51" name="Line 16">
                <a:extLst>
                  <a:ext uri="{FF2B5EF4-FFF2-40B4-BE49-F238E27FC236}">
                    <a16:creationId xmlns:a16="http://schemas.microsoft.com/office/drawing/2014/main" id="{976D996F-C791-40F1-BDD2-D7F616CD8A55}"/>
                  </a:ext>
                </a:extLst>
              </p:cNvPr>
              <p:cNvSpPr>
                <a:spLocks noChangeShapeType="1"/>
              </p:cNvSpPr>
              <p:nvPr/>
            </p:nvSpPr>
            <p:spPr bwMode="auto">
              <a:xfrm>
                <a:off x="1476375" y="3213100"/>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sp>
            <p:nvSpPr>
              <p:cNvPr id="52" name="Line 40">
                <a:extLst>
                  <a:ext uri="{FF2B5EF4-FFF2-40B4-BE49-F238E27FC236}">
                    <a16:creationId xmlns:a16="http://schemas.microsoft.com/office/drawing/2014/main" id="{FFA62CD3-0A00-468B-A4C0-1E1E3BF9103F}"/>
                  </a:ext>
                </a:extLst>
              </p:cNvPr>
              <p:cNvSpPr>
                <a:spLocks noChangeShapeType="1"/>
              </p:cNvSpPr>
              <p:nvPr/>
            </p:nvSpPr>
            <p:spPr bwMode="auto">
              <a:xfrm>
                <a:off x="5400449" y="3213100"/>
                <a:ext cx="0" cy="14287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104E87"/>
                  </a:solidFill>
                  <a:latin typeface="Comic Sans MS" panose="030F0702030302020204" pitchFamily="66" charset="0"/>
                  <a:ea typeface="华光行书_CNKI" panose="02000500000000000000" pitchFamily="2" charset="-122"/>
                </a:endParaRPr>
              </a:p>
            </p:txBody>
          </p:sp>
        </p:grpSp>
      </p:grpSp>
    </p:spTree>
    <p:extLst>
      <p:ext uri="{BB962C8B-B14F-4D97-AF65-F5344CB8AC3E}">
        <p14:creationId xmlns:p14="http://schemas.microsoft.com/office/powerpoint/2010/main" val="33493966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D21B019-3058-4D7D-925E-831DDC5C7175}"/>
              </a:ext>
            </a:extLst>
          </p:cNvPr>
          <p:cNvSpPr txBox="1">
            <a:spLocks noChangeArrowheads="1"/>
          </p:cNvSpPr>
          <p:nvPr/>
        </p:nvSpPr>
        <p:spPr>
          <a:xfrm>
            <a:off x="0" y="0"/>
            <a:ext cx="5978769" cy="42322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algn="l" rtl="0"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anose="05000000000000000000"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r>
              <a:rPr lang="en-US" altLang="zh-CN" dirty="0"/>
              <a:t>class employee</a:t>
            </a:r>
          </a:p>
          <a:p>
            <a:r>
              <a:rPr lang="en-US" altLang="zh-CN" dirty="0"/>
              <a:t>{protected:</a:t>
            </a:r>
          </a:p>
          <a:p>
            <a:r>
              <a:rPr lang="en-US" altLang="zh-CN" dirty="0"/>
              <a:t>     char *name;                   </a:t>
            </a:r>
            <a:endParaRPr lang="zh-CN" altLang="en-US" dirty="0"/>
          </a:p>
          <a:p>
            <a:r>
              <a:rPr lang="zh-CN" altLang="en-US" dirty="0"/>
              <a:t>     </a:t>
            </a:r>
            <a:r>
              <a:rPr lang="en-US" altLang="zh-CN" dirty="0"/>
              <a:t>int </a:t>
            </a:r>
            <a:r>
              <a:rPr lang="en-US" altLang="zh-CN" dirty="0" err="1"/>
              <a:t>individualEmpNo</a:t>
            </a:r>
            <a:r>
              <a:rPr lang="en-US" altLang="zh-CN" dirty="0"/>
              <a:t>;   </a:t>
            </a:r>
            <a:endParaRPr lang="zh-CN" altLang="en-US" dirty="0"/>
          </a:p>
          <a:p>
            <a:r>
              <a:rPr lang="zh-CN" altLang="en-US" dirty="0"/>
              <a:t>     </a:t>
            </a:r>
            <a:r>
              <a:rPr lang="en-US" altLang="zh-CN" dirty="0"/>
              <a:t>int grade;               </a:t>
            </a:r>
            <a:endParaRPr lang="zh-CN" altLang="en-US" dirty="0"/>
          </a:p>
          <a:p>
            <a:r>
              <a:rPr lang="zh-CN" altLang="en-US" dirty="0"/>
              <a:t>     </a:t>
            </a:r>
            <a:r>
              <a:rPr lang="en-US" altLang="zh-CN" dirty="0"/>
              <a:t>float </a:t>
            </a:r>
            <a:r>
              <a:rPr lang="en-US" altLang="zh-CN" dirty="0" err="1"/>
              <a:t>accumPay</a:t>
            </a:r>
            <a:r>
              <a:rPr lang="en-US" altLang="zh-CN" dirty="0"/>
              <a:t>;</a:t>
            </a:r>
          </a:p>
          <a:p>
            <a:r>
              <a:rPr lang="en-US" altLang="zh-CN" dirty="0"/>
              <a:t>	static int </a:t>
            </a:r>
            <a:r>
              <a:rPr lang="en-US" altLang="zh-CN" dirty="0" err="1"/>
              <a:t>employeeNo</a:t>
            </a:r>
            <a:r>
              <a:rPr lang="en-US" altLang="zh-CN" dirty="0"/>
              <a:t>; </a:t>
            </a:r>
          </a:p>
          <a:p>
            <a:r>
              <a:rPr lang="en-US" altLang="zh-CN" dirty="0"/>
              <a:t>public:</a:t>
            </a:r>
          </a:p>
          <a:p>
            <a:r>
              <a:rPr lang="en-US" altLang="zh-CN" dirty="0"/>
              <a:t>     employee();</a:t>
            </a:r>
          </a:p>
          <a:p>
            <a:r>
              <a:rPr lang="en-US" altLang="zh-CN" dirty="0"/>
              <a:t>     ~employee();</a:t>
            </a:r>
          </a:p>
          <a:p>
            <a:r>
              <a:rPr lang="en-US" altLang="zh-CN" dirty="0"/>
              <a:t>  void promote(int);     // </a:t>
            </a:r>
            <a:r>
              <a:rPr lang="zh-CN" altLang="en-US" dirty="0"/>
              <a:t>升级函数</a:t>
            </a:r>
            <a:endParaRPr lang="en-US" altLang="zh-CN" dirty="0"/>
          </a:p>
          <a:p>
            <a:r>
              <a:rPr lang="en-US" altLang="zh-CN" dirty="0"/>
              <a:t>     void pay();          // </a:t>
            </a:r>
            <a:r>
              <a:rPr lang="zh-CN" altLang="en-US" dirty="0"/>
              <a:t>计算月薪函数</a:t>
            </a:r>
          </a:p>
          <a:p>
            <a:r>
              <a:rPr lang="en-US" altLang="zh-CN" dirty="0"/>
              <a:t>void </a:t>
            </a:r>
            <a:r>
              <a:rPr lang="en-US" altLang="zh-CN" dirty="0" err="1"/>
              <a:t>displayStatus</a:t>
            </a:r>
            <a:r>
              <a:rPr lang="en-US" altLang="zh-CN" dirty="0"/>
              <a:t>(); // </a:t>
            </a:r>
            <a:r>
              <a:rPr lang="zh-CN" altLang="en-US" dirty="0"/>
              <a:t>显示人员信息</a:t>
            </a:r>
          </a:p>
          <a:p>
            <a:r>
              <a:rPr lang="en-US" altLang="zh-CN" dirty="0"/>
              <a:t>};</a:t>
            </a:r>
          </a:p>
        </p:txBody>
      </p:sp>
      <p:sp>
        <p:nvSpPr>
          <p:cNvPr id="4" name="Text Box 4">
            <a:extLst>
              <a:ext uri="{FF2B5EF4-FFF2-40B4-BE49-F238E27FC236}">
                <a16:creationId xmlns:a16="http://schemas.microsoft.com/office/drawing/2014/main" id="{D833BBA7-76BF-498A-A359-4D7C26A5FCC5}"/>
              </a:ext>
            </a:extLst>
          </p:cNvPr>
          <p:cNvSpPr txBox="1">
            <a:spLocks noChangeArrowheads="1"/>
          </p:cNvSpPr>
          <p:nvPr/>
        </p:nvSpPr>
        <p:spPr bwMode="auto">
          <a:xfrm>
            <a:off x="249555" y="3185877"/>
            <a:ext cx="4464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dirty="0">
                <a:solidFill>
                  <a:srgbClr val="FF0000"/>
                </a:solidFill>
                <a:latin typeface="Comic Sans MS" panose="030F0702030302020204" pitchFamily="66" charset="0"/>
              </a:rPr>
              <a:t>virtual void pay( )=0;</a:t>
            </a:r>
          </a:p>
        </p:txBody>
      </p:sp>
      <p:sp>
        <p:nvSpPr>
          <p:cNvPr id="5" name="Text Box 5">
            <a:extLst>
              <a:ext uri="{FF2B5EF4-FFF2-40B4-BE49-F238E27FC236}">
                <a16:creationId xmlns:a16="http://schemas.microsoft.com/office/drawing/2014/main" id="{0AF0EA64-3ED9-4E0D-8851-56192D1F4D36}"/>
              </a:ext>
            </a:extLst>
          </p:cNvPr>
          <p:cNvSpPr txBox="1">
            <a:spLocks noChangeArrowheads="1"/>
          </p:cNvSpPr>
          <p:nvPr/>
        </p:nvSpPr>
        <p:spPr bwMode="auto">
          <a:xfrm>
            <a:off x="249555" y="3471069"/>
            <a:ext cx="505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dirty="0">
                <a:solidFill>
                  <a:srgbClr val="FF0000"/>
                </a:solidFill>
                <a:latin typeface="Comic Sans MS" panose="030F0702030302020204" pitchFamily="66" charset="0"/>
              </a:rPr>
              <a:t>virtual void </a:t>
            </a:r>
            <a:r>
              <a:rPr kumimoji="1" lang="en-US" altLang="zh-CN" dirty="0" err="1">
                <a:solidFill>
                  <a:srgbClr val="FF0000"/>
                </a:solidFill>
                <a:latin typeface="Comic Sans MS" panose="030F0702030302020204" pitchFamily="66" charset="0"/>
              </a:rPr>
              <a:t>displayStatus</a:t>
            </a:r>
            <a:r>
              <a:rPr kumimoji="1" lang="en-US" altLang="zh-CN" dirty="0">
                <a:solidFill>
                  <a:srgbClr val="FF0000"/>
                </a:solidFill>
                <a:latin typeface="Comic Sans MS" panose="030F0702030302020204" pitchFamily="66" charset="0"/>
              </a:rPr>
              <a:t>( )=0;</a:t>
            </a:r>
          </a:p>
        </p:txBody>
      </p:sp>
      <p:sp>
        <p:nvSpPr>
          <p:cNvPr id="6" name="灯片编号占位符 1">
            <a:extLst>
              <a:ext uri="{FF2B5EF4-FFF2-40B4-BE49-F238E27FC236}">
                <a16:creationId xmlns:a16="http://schemas.microsoft.com/office/drawing/2014/main" id="{256BF8E6-DCF0-4CAC-948D-B916F7D7287C}"/>
              </a:ext>
            </a:extLst>
          </p:cNvPr>
          <p:cNvSpPr txBox="1">
            <a:spLocks noChangeArrowheads="1"/>
          </p:cNvSpPr>
          <p:nvPr/>
        </p:nvSpPr>
        <p:spPr bwMode="auto">
          <a:xfrm>
            <a:off x="10955215" y="8299938"/>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r" defTabSz="609600" rtl="0" eaLnBrk="1" fontAlgn="base" latinLnBrk="0" hangingPunct="1">
              <a:spcBef>
                <a:spcPct val="0"/>
              </a:spcBef>
              <a:spcAft>
                <a:spcPct val="0"/>
              </a:spcAft>
              <a:defRPr sz="1000" b="0" kern="1200">
                <a:solidFill>
                  <a:schemeClr val="tx1"/>
                </a:solidFill>
                <a:latin typeface="Arial" panose="020B0604020202020204" pitchFamily="34" charset="0"/>
                <a:ea typeface="宋体" panose="02010600030101010101" pitchFamily="2" charset="-122"/>
                <a:cs typeface="+mn-cs"/>
              </a:defRPr>
            </a:lvl1pPr>
            <a:lvl2pPr marL="4572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2pPr>
            <a:lvl3pPr marL="9144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3pPr>
            <a:lvl4pPr marL="13716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4pPr>
            <a:lvl5pPr marL="18288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9pPr>
          </a:lstStyle>
          <a:p>
            <a:fld id="{C2C0BD61-6063-4A6C-AA0C-6954BBEB7EE5}" type="slidenum">
              <a:rPr lang="en-US" altLang="zh-CN" smtClean="0"/>
              <a:pPr/>
              <a:t>48</a:t>
            </a:fld>
            <a:endParaRPr lang="en-US" altLang="zh-CN"/>
          </a:p>
        </p:txBody>
      </p:sp>
      <p:sp>
        <p:nvSpPr>
          <p:cNvPr id="7" name="Rectangle 2">
            <a:extLst>
              <a:ext uri="{FF2B5EF4-FFF2-40B4-BE49-F238E27FC236}">
                <a16:creationId xmlns:a16="http://schemas.microsoft.com/office/drawing/2014/main" id="{EF4D151B-87D5-4CEF-81B4-EF086DA06BF2}"/>
              </a:ext>
            </a:extLst>
          </p:cNvPr>
          <p:cNvSpPr txBox="1">
            <a:spLocks noChangeArrowheads="1"/>
          </p:cNvSpPr>
          <p:nvPr/>
        </p:nvSpPr>
        <p:spPr>
          <a:xfrm>
            <a:off x="4204554" y="-45427"/>
            <a:ext cx="5657483" cy="2754921"/>
          </a:xfrm>
          <a:prstGeom prst="rect">
            <a:avLst/>
          </a:prstGeom>
          <a:solidFill>
            <a:schemeClr val="accent4">
              <a:lumMod val="20000"/>
              <a:lumOff val="80000"/>
            </a:schemeClr>
          </a:solidFill>
          <a:ln w="9525">
            <a:noFill/>
            <a:miter lim="800000"/>
            <a:headEnd/>
            <a:tailEnd/>
          </a:ln>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class salesman: virtual public employee</a:t>
            </a:r>
          </a:p>
          <a:p>
            <a:r>
              <a:rPr lang="en-US" altLang="en-US" dirty="0"/>
              <a:t>{protected:</a:t>
            </a:r>
          </a:p>
          <a:p>
            <a:r>
              <a:rPr lang="en-US" altLang="en-US" dirty="0"/>
              <a:t>     float </a:t>
            </a:r>
            <a:r>
              <a:rPr lang="en-US" altLang="en-US" dirty="0" err="1"/>
              <a:t>CommRate</a:t>
            </a:r>
            <a:r>
              <a:rPr lang="en-US" altLang="en-US" dirty="0"/>
              <a:t>; </a:t>
            </a:r>
          </a:p>
          <a:p>
            <a:r>
              <a:rPr lang="en-US" altLang="en-US" dirty="0"/>
              <a:t>     float sales;  </a:t>
            </a:r>
          </a:p>
          <a:p>
            <a:r>
              <a:rPr lang="en-US" altLang="en-US" dirty="0"/>
              <a:t>  public:                                 </a:t>
            </a:r>
          </a:p>
          <a:p>
            <a:r>
              <a:rPr lang="en-US" altLang="en-US" dirty="0"/>
              <a:t>     salesman();</a:t>
            </a:r>
          </a:p>
          <a:p>
            <a:r>
              <a:rPr lang="en-US" altLang="en-US" dirty="0"/>
              <a:t>     void pay();            </a:t>
            </a:r>
          </a:p>
          <a:p>
            <a:r>
              <a:rPr lang="en-US" altLang="en-US" dirty="0"/>
              <a:t>     void </a:t>
            </a:r>
            <a:r>
              <a:rPr lang="en-US" altLang="en-US" dirty="0" err="1"/>
              <a:t>displayStatus</a:t>
            </a:r>
            <a:r>
              <a:rPr lang="en-US" altLang="en-US" dirty="0"/>
              <a:t>(); </a:t>
            </a:r>
          </a:p>
          <a:p>
            <a:r>
              <a:rPr lang="en-US" altLang="en-US" dirty="0"/>
              <a:t>};</a:t>
            </a:r>
          </a:p>
        </p:txBody>
      </p:sp>
      <p:sp>
        <p:nvSpPr>
          <p:cNvPr id="9" name="文本框 8">
            <a:extLst>
              <a:ext uri="{FF2B5EF4-FFF2-40B4-BE49-F238E27FC236}">
                <a16:creationId xmlns:a16="http://schemas.microsoft.com/office/drawing/2014/main" id="{655CEFC0-D253-4329-AFC5-24343CA44EBE}"/>
              </a:ext>
            </a:extLst>
          </p:cNvPr>
          <p:cNvSpPr txBox="1"/>
          <p:nvPr/>
        </p:nvSpPr>
        <p:spPr>
          <a:xfrm>
            <a:off x="9862038" y="-14044"/>
            <a:ext cx="2329962" cy="461665"/>
          </a:xfrm>
          <a:prstGeom prst="rect">
            <a:avLst/>
          </a:prstGeom>
          <a:solidFill>
            <a:schemeClr val="accent3">
              <a:lumMod val="40000"/>
              <a:lumOff val="60000"/>
            </a:schemeClr>
          </a:solidFill>
        </p:spPr>
        <p:txBody>
          <a:bodyPr wrap="square">
            <a:spAutoFit/>
          </a:bodyPr>
          <a:lstStyle/>
          <a:p>
            <a:r>
              <a:rPr lang="en-US" altLang="zh-CN" b="1" dirty="0">
                <a:solidFill>
                  <a:srgbClr val="104E87"/>
                </a:solidFill>
              </a:rPr>
              <a:t>//</a:t>
            </a:r>
            <a:r>
              <a:rPr lang="en-US" altLang="zh-CN" b="1" dirty="0" err="1">
                <a:solidFill>
                  <a:srgbClr val="104E87"/>
                </a:solidFill>
              </a:rPr>
              <a:t>employee.h</a:t>
            </a:r>
            <a:endParaRPr lang="en-US" altLang="zh-CN" b="1" dirty="0">
              <a:solidFill>
                <a:srgbClr val="104E87"/>
              </a:solidFill>
            </a:endParaRPr>
          </a:p>
        </p:txBody>
      </p:sp>
      <p:sp>
        <p:nvSpPr>
          <p:cNvPr id="12" name="文本框 11">
            <a:extLst>
              <a:ext uri="{FF2B5EF4-FFF2-40B4-BE49-F238E27FC236}">
                <a16:creationId xmlns:a16="http://schemas.microsoft.com/office/drawing/2014/main" id="{5E514BDA-DF26-44E8-B1E5-C0AF2E9B8CEF}"/>
              </a:ext>
            </a:extLst>
          </p:cNvPr>
          <p:cNvSpPr txBox="1"/>
          <p:nvPr/>
        </p:nvSpPr>
        <p:spPr>
          <a:xfrm>
            <a:off x="0" y="4403767"/>
            <a:ext cx="7704381" cy="18685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class </a:t>
            </a:r>
            <a:r>
              <a:rPr lang="en-US" altLang="en-US" dirty="0" err="1"/>
              <a:t>salesmanager</a:t>
            </a:r>
            <a:r>
              <a:rPr lang="en-US" altLang="en-US" dirty="0"/>
              <a:t>: public manager, public salesman</a:t>
            </a:r>
          </a:p>
          <a:p>
            <a:r>
              <a:rPr lang="en-US" altLang="en-US" dirty="0"/>
              <a:t>{ public:</a:t>
            </a:r>
          </a:p>
          <a:p>
            <a:r>
              <a:rPr lang="en-US" altLang="en-US" dirty="0"/>
              <a:t>     </a:t>
            </a:r>
            <a:r>
              <a:rPr lang="en-US" altLang="en-US" dirty="0" err="1"/>
              <a:t>salesmanager</a:t>
            </a:r>
            <a:r>
              <a:rPr lang="en-US" altLang="en-US" dirty="0"/>
              <a:t>();</a:t>
            </a:r>
          </a:p>
          <a:p>
            <a:r>
              <a:rPr lang="en-US" altLang="en-US" dirty="0"/>
              <a:t>     void pay(); // </a:t>
            </a:r>
            <a:r>
              <a:rPr lang="en-US" altLang="en-US" dirty="0" err="1"/>
              <a:t>计算月薪函数</a:t>
            </a:r>
            <a:endParaRPr lang="en-US" altLang="en-US" dirty="0"/>
          </a:p>
          <a:p>
            <a:r>
              <a:rPr lang="en-US" altLang="en-US" dirty="0"/>
              <a:t>     void </a:t>
            </a:r>
            <a:r>
              <a:rPr lang="en-US" altLang="en-US" dirty="0" err="1"/>
              <a:t>displayStatus</a:t>
            </a:r>
            <a:r>
              <a:rPr lang="en-US" altLang="en-US" dirty="0"/>
              <a:t>(); // </a:t>
            </a:r>
            <a:r>
              <a:rPr lang="en-US" altLang="en-US" dirty="0" err="1"/>
              <a:t>显示人员信息</a:t>
            </a:r>
            <a:endParaRPr lang="en-US" altLang="en-US" dirty="0"/>
          </a:p>
          <a:p>
            <a:r>
              <a:rPr lang="en-US" altLang="en-US" dirty="0"/>
              <a:t>};</a:t>
            </a:r>
            <a:endParaRPr lang="zh-CN" altLang="en-US" dirty="0"/>
          </a:p>
        </p:txBody>
      </p:sp>
    </p:spTree>
    <p:extLst>
      <p:ext uri="{BB962C8B-B14F-4D97-AF65-F5344CB8AC3E}">
        <p14:creationId xmlns:p14="http://schemas.microsoft.com/office/powerpoint/2010/main" val="337697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11" end="11"/>
                                            </p:txEl>
                                          </p:spTgt>
                                        </p:tgtEl>
                                      </p:cBhvr>
                                    </p:animEffect>
                                    <p:set>
                                      <p:cBhvr>
                                        <p:cTn id="7" dur="1" fill="hold">
                                          <p:stCondLst>
                                            <p:cond delay="499"/>
                                          </p:stCondLst>
                                        </p:cTn>
                                        <p:tgtEl>
                                          <p:spTgt spid="3">
                                            <p:txEl>
                                              <p:pRg st="11" end="11"/>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3">
                                            <p:txEl>
                                              <p:pRg st="12" end="12"/>
                                            </p:txEl>
                                          </p:spTgt>
                                        </p:tgtEl>
                                      </p:cBhvr>
                                    </p:animEffect>
                                    <p:set>
                                      <p:cBhvr>
                                        <p:cTn id="18" dur="1" fill="hold">
                                          <p:stCondLst>
                                            <p:cond delay="499"/>
                                          </p:stCondLst>
                                        </p:cTn>
                                        <p:tgtEl>
                                          <p:spTgt spid="3">
                                            <p:txEl>
                                              <p:pRg st="12" end="12"/>
                                            </p:txEl>
                                          </p:spTgt>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4A5BEBF-5208-490E-A049-9630E2F0BB43}"/>
              </a:ext>
            </a:extLst>
          </p:cNvPr>
          <p:cNvSpPr txBox="1"/>
          <p:nvPr/>
        </p:nvSpPr>
        <p:spPr>
          <a:xfrm>
            <a:off x="9624646" y="0"/>
            <a:ext cx="2672862" cy="387798"/>
          </a:xfrm>
          <a:prstGeom prst="rect">
            <a:avLst/>
          </a:prstGeom>
          <a:solidFill>
            <a:schemeClr val="accent4">
              <a:lumMod val="20000"/>
              <a:lumOff val="80000"/>
            </a:schemeClr>
          </a:solidFill>
        </p:spPr>
        <p:txBody>
          <a:bodyPr wrap="square">
            <a:spAutoFit/>
          </a:bodyPr>
          <a:lstStyle/>
          <a:p>
            <a:pPr>
              <a:lnSpc>
                <a:spcPct val="80000"/>
              </a:lnSpc>
              <a:buFont typeface="Wingdings" panose="05000000000000000000" pitchFamily="2" charset="2"/>
              <a:buNone/>
              <a:defRPr/>
            </a:pPr>
            <a:r>
              <a:rPr lang="en-US" altLang="en-US" sz="2400" b="1" kern="0" dirty="0">
                <a:solidFill>
                  <a:srgbClr val="104E87"/>
                </a:solidFill>
              </a:rPr>
              <a:t>//empfunc.cpp</a:t>
            </a:r>
          </a:p>
        </p:txBody>
      </p:sp>
      <p:sp>
        <p:nvSpPr>
          <p:cNvPr id="5" name="Rectangle 2">
            <a:extLst>
              <a:ext uri="{FF2B5EF4-FFF2-40B4-BE49-F238E27FC236}">
                <a16:creationId xmlns:a16="http://schemas.microsoft.com/office/drawing/2014/main" id="{DAE319B6-50D2-4E3A-9655-ED6EE1F7C1D0}"/>
              </a:ext>
            </a:extLst>
          </p:cNvPr>
          <p:cNvSpPr txBox="1">
            <a:spLocks noChangeArrowheads="1"/>
          </p:cNvSpPr>
          <p:nvPr/>
        </p:nvSpPr>
        <p:spPr>
          <a:xfrm>
            <a:off x="0" y="0"/>
            <a:ext cx="9802813" cy="45277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#include&lt;iostream.h&gt;</a:t>
            </a:r>
          </a:p>
          <a:p>
            <a:r>
              <a:rPr lang="en-US" altLang="en-US" dirty="0"/>
              <a:t>#include&lt;string.h&gt;</a:t>
            </a:r>
          </a:p>
          <a:p>
            <a:r>
              <a:rPr lang="en-US" altLang="en-US" dirty="0"/>
              <a:t>#include "</a:t>
            </a:r>
            <a:r>
              <a:rPr lang="en-US" altLang="en-US" dirty="0" err="1"/>
              <a:t>employee.h</a:t>
            </a:r>
            <a:r>
              <a:rPr lang="en-US" altLang="en-US" dirty="0"/>
              <a:t>"</a:t>
            </a:r>
          </a:p>
          <a:p>
            <a:endParaRPr lang="en-US" altLang="en-US" dirty="0"/>
          </a:p>
          <a:p>
            <a:r>
              <a:rPr lang="en-US" altLang="en-US" dirty="0"/>
              <a:t>int employee::</a:t>
            </a:r>
            <a:r>
              <a:rPr lang="en-US" altLang="en-US" dirty="0" err="1"/>
              <a:t>employeeNo</a:t>
            </a:r>
            <a:r>
              <a:rPr lang="en-US" altLang="en-US" dirty="0"/>
              <a:t>=1000; </a:t>
            </a:r>
          </a:p>
          <a:p>
            <a:r>
              <a:rPr lang="en-US" altLang="en-US" dirty="0"/>
              <a:t>employee::employee()</a:t>
            </a:r>
          </a:p>
          <a:p>
            <a:r>
              <a:rPr lang="en-US" altLang="en-US" dirty="0"/>
              <a:t>{  char str[30];</a:t>
            </a:r>
          </a:p>
          <a:p>
            <a:r>
              <a:rPr lang="en-US" altLang="en-US" dirty="0"/>
              <a:t>   </a:t>
            </a:r>
            <a:r>
              <a:rPr lang="en-US" altLang="en-US" dirty="0" err="1"/>
              <a:t>cout</a:t>
            </a:r>
            <a:r>
              <a:rPr lang="en-US" altLang="en-US" dirty="0"/>
              <a:t>&lt;&lt;"please input employee's name: "; </a:t>
            </a:r>
          </a:p>
          <a:p>
            <a:r>
              <a:rPr lang="en-US" altLang="en-US" dirty="0"/>
              <a:t>   </a:t>
            </a:r>
            <a:r>
              <a:rPr lang="en-US" altLang="en-US" dirty="0" err="1"/>
              <a:t>cin</a:t>
            </a:r>
            <a:r>
              <a:rPr lang="en-US" altLang="en-US" dirty="0"/>
              <a:t>&gt;&gt;str;</a:t>
            </a:r>
          </a:p>
          <a:p>
            <a:r>
              <a:rPr lang="en-US" altLang="en-US" dirty="0"/>
              <a:t>   name=new char[</a:t>
            </a:r>
            <a:r>
              <a:rPr lang="en-US" altLang="en-US" dirty="0" err="1"/>
              <a:t>strlen</a:t>
            </a:r>
            <a:r>
              <a:rPr lang="en-US" altLang="en-US" dirty="0"/>
              <a:t>(str)+1];</a:t>
            </a:r>
          </a:p>
          <a:p>
            <a:r>
              <a:rPr lang="en-US" altLang="en-US" dirty="0"/>
              <a:t>   </a:t>
            </a:r>
            <a:r>
              <a:rPr lang="en-US" altLang="en-US" dirty="0" err="1"/>
              <a:t>strcpy</a:t>
            </a:r>
            <a:r>
              <a:rPr lang="en-US" altLang="en-US" dirty="0"/>
              <a:t>(</a:t>
            </a:r>
            <a:r>
              <a:rPr lang="en-US" altLang="en-US" dirty="0" err="1"/>
              <a:t>name,str</a:t>
            </a:r>
            <a:r>
              <a:rPr lang="en-US" altLang="en-US" dirty="0"/>
              <a:t>);</a:t>
            </a:r>
          </a:p>
          <a:p>
            <a:r>
              <a:rPr lang="en-US" altLang="en-US" dirty="0"/>
              <a:t>   </a:t>
            </a:r>
            <a:r>
              <a:rPr lang="en-US" altLang="en-US" dirty="0" err="1"/>
              <a:t>individualEmpNo</a:t>
            </a:r>
            <a:r>
              <a:rPr lang="en-US" altLang="en-US" dirty="0"/>
              <a:t>=++</a:t>
            </a:r>
            <a:r>
              <a:rPr lang="en-US" altLang="en-US" dirty="0" err="1"/>
              <a:t>employeeNo</a:t>
            </a:r>
            <a:r>
              <a:rPr lang="en-US" altLang="en-US" dirty="0"/>
              <a:t>;  </a:t>
            </a:r>
          </a:p>
          <a:p>
            <a:r>
              <a:rPr lang="en-US" altLang="en-US" dirty="0"/>
              <a:t>   grade=1;  </a:t>
            </a:r>
          </a:p>
          <a:p>
            <a:r>
              <a:rPr lang="en-US" altLang="en-US" dirty="0"/>
              <a:t>   </a:t>
            </a:r>
            <a:r>
              <a:rPr lang="en-US" altLang="en-US" dirty="0" err="1"/>
              <a:t>accumPay</a:t>
            </a:r>
            <a:r>
              <a:rPr lang="en-US" altLang="en-US" dirty="0"/>
              <a:t>=0;</a:t>
            </a:r>
          </a:p>
          <a:p>
            <a:r>
              <a:rPr lang="en-US" altLang="en-US" dirty="0"/>
              <a:t>}</a:t>
            </a:r>
            <a:endParaRPr lang="en-US" altLang="zh-CN" dirty="0"/>
          </a:p>
        </p:txBody>
      </p:sp>
      <p:sp>
        <p:nvSpPr>
          <p:cNvPr id="6" name="Rectangle 2">
            <a:extLst>
              <a:ext uri="{FF2B5EF4-FFF2-40B4-BE49-F238E27FC236}">
                <a16:creationId xmlns:a16="http://schemas.microsoft.com/office/drawing/2014/main" id="{270E8D54-BE7B-42FE-89DD-589E1F4D90FC}"/>
              </a:ext>
            </a:extLst>
          </p:cNvPr>
          <p:cNvSpPr txBox="1">
            <a:spLocks noChangeArrowheads="1"/>
          </p:cNvSpPr>
          <p:nvPr/>
        </p:nvSpPr>
        <p:spPr>
          <a:xfrm>
            <a:off x="6216773" y="3176"/>
            <a:ext cx="4931874" cy="42322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employee::~employee()</a:t>
            </a:r>
          </a:p>
          <a:p>
            <a:r>
              <a:rPr lang="en-US" altLang="en-US" dirty="0"/>
              <a:t>{ delete [] name;</a:t>
            </a:r>
            <a:r>
              <a:rPr lang="en-US" altLang="zh-CN" dirty="0"/>
              <a:t>       </a:t>
            </a:r>
            <a:endParaRPr lang="en-US" altLang="en-US" dirty="0"/>
          </a:p>
          <a:p>
            <a:r>
              <a:rPr lang="en-US" altLang="en-US" dirty="0"/>
              <a:t>}</a:t>
            </a:r>
          </a:p>
          <a:p>
            <a:endParaRPr lang="en-US" altLang="en-US" dirty="0"/>
          </a:p>
          <a:p>
            <a:r>
              <a:rPr lang="en-US" altLang="en-US" dirty="0"/>
              <a:t>void employee::pay()  </a:t>
            </a:r>
          </a:p>
          <a:p>
            <a:r>
              <a:rPr lang="en-US" altLang="en-US" dirty="0"/>
              <a:t>{</a:t>
            </a:r>
          </a:p>
          <a:p>
            <a:r>
              <a:rPr lang="en-US" altLang="en-US" dirty="0"/>
              <a:t>}</a:t>
            </a:r>
          </a:p>
          <a:p>
            <a:endParaRPr lang="en-US" altLang="en-US" dirty="0"/>
          </a:p>
          <a:p>
            <a:r>
              <a:rPr lang="en-US" altLang="en-US" dirty="0"/>
              <a:t>void employee::promote(int </a:t>
            </a:r>
            <a:r>
              <a:rPr lang="en-US" altLang="en-US" dirty="0" err="1"/>
              <a:t>incre</a:t>
            </a:r>
            <a:r>
              <a:rPr lang="en-US" altLang="en-US" dirty="0"/>
              <a:t>)</a:t>
            </a:r>
          </a:p>
          <a:p>
            <a:r>
              <a:rPr lang="en-US" altLang="en-US" dirty="0"/>
              <a:t>{  grade+=</a:t>
            </a:r>
            <a:r>
              <a:rPr lang="en-US" altLang="en-US" dirty="0" err="1"/>
              <a:t>incre</a:t>
            </a:r>
            <a:r>
              <a:rPr lang="en-US" altLang="en-US" dirty="0"/>
              <a:t>;              </a:t>
            </a:r>
          </a:p>
          <a:p>
            <a:r>
              <a:rPr lang="en-US" altLang="en-US" dirty="0"/>
              <a:t>}</a:t>
            </a:r>
          </a:p>
          <a:p>
            <a:endParaRPr lang="en-US" altLang="en-US" dirty="0"/>
          </a:p>
          <a:p>
            <a:r>
              <a:rPr lang="en-US" altLang="en-US" dirty="0"/>
              <a:t>void employee::</a:t>
            </a:r>
            <a:r>
              <a:rPr lang="en-US" altLang="en-US" dirty="0" err="1"/>
              <a:t>displayStatus</a:t>
            </a:r>
            <a:r>
              <a:rPr lang="en-US" altLang="en-US" dirty="0"/>
              <a:t>() {</a:t>
            </a:r>
          </a:p>
          <a:p>
            <a:r>
              <a:rPr lang="en-US" altLang="en-US" dirty="0"/>
              <a:t>}</a:t>
            </a:r>
          </a:p>
        </p:txBody>
      </p:sp>
    </p:spTree>
    <p:extLst>
      <p:ext uri="{BB962C8B-B14F-4D97-AF65-F5344CB8AC3E}">
        <p14:creationId xmlns:p14="http://schemas.microsoft.com/office/powerpoint/2010/main" val="250780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7" dur="500"/>
                                        <p:tgtEl>
                                          <p:spTgt spid="6">
                                            <p:txEl>
                                              <p:pRg st="4" end="4"/>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6">
                                            <p:txEl>
                                              <p:pRg st="4" end="4"/>
                                            </p:txEl>
                                          </p:spTgt>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1" dur="500"/>
                                        <p:tgtEl>
                                          <p:spTgt spid="6">
                                            <p:txEl>
                                              <p:pRg st="5" end="5"/>
                                            </p:txEl>
                                          </p:spTgt>
                                        </p:tgtEl>
                                        <p:attrNameLst>
                                          <p:attrName>ppt_y</p:attrName>
                                        </p:attrNameLst>
                                      </p:cBhvr>
                                      <p:tavLst>
                                        <p:tav tm="0">
                                          <p:val>
                                            <p:strVal val="ppt_y"/>
                                          </p:val>
                                        </p:tav>
                                        <p:tav tm="100000">
                                          <p:val>
                                            <p:strVal val="1+ppt_h/2"/>
                                          </p:val>
                                        </p:tav>
                                      </p:tavLst>
                                    </p:anim>
                                    <p:set>
                                      <p:cBhvr>
                                        <p:cTn id="12" dur="1" fill="hold">
                                          <p:stCondLst>
                                            <p:cond delay="499"/>
                                          </p:stCondLst>
                                        </p:cTn>
                                        <p:tgtEl>
                                          <p:spTgt spid="6">
                                            <p:txEl>
                                              <p:pRg st="5" end="5"/>
                                            </p:txEl>
                                          </p:spTgt>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15" dur="500"/>
                                        <p:tgtEl>
                                          <p:spTgt spid="6">
                                            <p:txEl>
                                              <p:pRg st="6" end="6"/>
                                            </p:txEl>
                                          </p:spTgt>
                                        </p:tgtEl>
                                        <p:attrNameLst>
                                          <p:attrName>ppt_y</p:attrName>
                                        </p:attrNameLst>
                                      </p:cBhvr>
                                      <p:tavLst>
                                        <p:tav tm="0">
                                          <p:val>
                                            <p:strVal val="ppt_y"/>
                                          </p:val>
                                        </p:tav>
                                        <p:tav tm="100000">
                                          <p:val>
                                            <p:strVal val="1+ppt_h/2"/>
                                          </p:val>
                                        </p:tav>
                                      </p:tavLst>
                                    </p:anim>
                                    <p:set>
                                      <p:cBhvr>
                                        <p:cTn id="16" dur="1" fill="hold">
                                          <p:stCondLst>
                                            <p:cond delay="499"/>
                                          </p:stCondLst>
                                        </p:cTn>
                                        <p:tgtEl>
                                          <p:spTgt spid="6">
                                            <p:txEl>
                                              <p:pRg st="6" end="6"/>
                                            </p:txEl>
                                          </p:spTgt>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nodeType="clickEffect">
                                  <p:stCondLst>
                                    <p:cond delay="0"/>
                                  </p:stCondLst>
                                  <p:childTnLst>
                                    <p:anim calcmode="lin" valueType="num">
                                      <p:cBhvr additive="base">
                                        <p:cTn id="20" dur="500"/>
                                        <p:tgtEl>
                                          <p:spTgt spid="6">
                                            <p:txEl>
                                              <p:pRg st="12" end="12"/>
                                            </p:txEl>
                                          </p:spTgt>
                                        </p:tgtEl>
                                        <p:attrNameLst>
                                          <p:attrName>ppt_x</p:attrName>
                                        </p:attrNameLst>
                                      </p:cBhvr>
                                      <p:tavLst>
                                        <p:tav tm="0">
                                          <p:val>
                                            <p:strVal val="ppt_x"/>
                                          </p:val>
                                        </p:tav>
                                        <p:tav tm="100000">
                                          <p:val>
                                            <p:strVal val="ppt_x"/>
                                          </p:val>
                                        </p:tav>
                                      </p:tavLst>
                                    </p:anim>
                                    <p:anim calcmode="lin" valueType="num">
                                      <p:cBhvr additive="base">
                                        <p:cTn id="21" dur="500"/>
                                        <p:tgtEl>
                                          <p:spTgt spid="6">
                                            <p:txEl>
                                              <p:pRg st="12" end="12"/>
                                            </p:txEl>
                                          </p:spTgt>
                                        </p:tgtEl>
                                        <p:attrNameLst>
                                          <p:attrName>ppt_y</p:attrName>
                                        </p:attrNameLst>
                                      </p:cBhvr>
                                      <p:tavLst>
                                        <p:tav tm="0">
                                          <p:val>
                                            <p:strVal val="ppt_y"/>
                                          </p:val>
                                        </p:tav>
                                        <p:tav tm="100000">
                                          <p:val>
                                            <p:strVal val="1+ppt_h/2"/>
                                          </p:val>
                                        </p:tav>
                                      </p:tavLst>
                                    </p:anim>
                                    <p:set>
                                      <p:cBhvr>
                                        <p:cTn id="22" dur="1" fill="hold">
                                          <p:stCondLst>
                                            <p:cond delay="499"/>
                                          </p:stCondLst>
                                        </p:cTn>
                                        <p:tgtEl>
                                          <p:spTgt spid="6">
                                            <p:txEl>
                                              <p:pRg st="12" end="12"/>
                                            </p:txEl>
                                          </p:spTgt>
                                        </p:tgtEl>
                                        <p:attrNameLst>
                                          <p:attrName>style.visibility</p:attrName>
                                        </p:attrNameLst>
                                      </p:cBhvr>
                                      <p:to>
                                        <p:strVal val="hidden"/>
                                      </p:to>
                                    </p:set>
                                  </p:childTnLst>
                                </p:cTn>
                              </p:par>
                              <p:par>
                                <p:cTn id="23" presetID="2" presetClass="exit" presetSubtype="4" fill="hold" nodeType="withEffect">
                                  <p:stCondLst>
                                    <p:cond delay="0"/>
                                  </p:stCondLst>
                                  <p:childTnLst>
                                    <p:anim calcmode="lin" valueType="num">
                                      <p:cBhvr additive="base">
                                        <p:cTn id="24" dur="500"/>
                                        <p:tgtEl>
                                          <p:spTgt spid="6">
                                            <p:txEl>
                                              <p:pRg st="13" end="13"/>
                                            </p:txEl>
                                          </p:spTgt>
                                        </p:tgtEl>
                                        <p:attrNameLst>
                                          <p:attrName>ppt_x</p:attrName>
                                        </p:attrNameLst>
                                      </p:cBhvr>
                                      <p:tavLst>
                                        <p:tav tm="0">
                                          <p:val>
                                            <p:strVal val="ppt_x"/>
                                          </p:val>
                                        </p:tav>
                                        <p:tav tm="100000">
                                          <p:val>
                                            <p:strVal val="ppt_x"/>
                                          </p:val>
                                        </p:tav>
                                      </p:tavLst>
                                    </p:anim>
                                    <p:anim calcmode="lin" valueType="num">
                                      <p:cBhvr additive="base">
                                        <p:cTn id="25" dur="500"/>
                                        <p:tgtEl>
                                          <p:spTgt spid="6">
                                            <p:txEl>
                                              <p:pRg st="13" end="13"/>
                                            </p:txEl>
                                          </p:spTgt>
                                        </p:tgtEl>
                                        <p:attrNameLst>
                                          <p:attrName>ppt_y</p:attrName>
                                        </p:attrNameLst>
                                      </p:cBhvr>
                                      <p:tavLst>
                                        <p:tav tm="0">
                                          <p:val>
                                            <p:strVal val="ppt_y"/>
                                          </p:val>
                                        </p:tav>
                                        <p:tav tm="100000">
                                          <p:val>
                                            <p:strVal val="1+ppt_h/2"/>
                                          </p:val>
                                        </p:tav>
                                      </p:tavLst>
                                    </p:anim>
                                    <p:set>
                                      <p:cBhvr>
                                        <p:cTn id="26" dur="1" fill="hold">
                                          <p:stCondLst>
                                            <p:cond delay="499"/>
                                          </p:stCondLst>
                                        </p:cTn>
                                        <p:tgtEl>
                                          <p:spTgt spid="6">
                                            <p:txEl>
                                              <p:pRg st="13" end="1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A33ECF0-5C5A-46DF-AFE2-55C8B10BC87E}"/>
              </a:ext>
            </a:extLst>
          </p:cNvPr>
          <p:cNvSpPr txBox="1">
            <a:spLocks noChangeArrowheads="1"/>
          </p:cNvSpPr>
          <p:nvPr/>
        </p:nvSpPr>
        <p:spPr>
          <a:xfrm>
            <a:off x="0" y="0"/>
            <a:ext cx="10456984" cy="5414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technician::technician()</a:t>
            </a:r>
          </a:p>
          <a:p>
            <a:r>
              <a:rPr lang="en-US" altLang="en-US" dirty="0"/>
              <a:t>{</a:t>
            </a:r>
            <a:r>
              <a:rPr lang="en-US" altLang="en-US" dirty="0" err="1"/>
              <a:t>hourlyRate</a:t>
            </a:r>
            <a:r>
              <a:rPr lang="en-US" altLang="en-US" dirty="0"/>
              <a:t>=100;                            // 每小时酬金100元</a:t>
            </a:r>
          </a:p>
          <a:p>
            <a:r>
              <a:rPr lang="en-US" altLang="en-US" dirty="0"/>
              <a:t>}</a:t>
            </a:r>
          </a:p>
          <a:p>
            <a:endParaRPr lang="en-US" altLang="en-US" dirty="0"/>
          </a:p>
          <a:p>
            <a:r>
              <a:rPr lang="en-US" altLang="en-US" dirty="0"/>
              <a:t>void technician::pay()</a:t>
            </a:r>
          </a:p>
          <a:p>
            <a:r>
              <a:rPr lang="en-US" altLang="en-US" dirty="0"/>
              <a:t>{  </a:t>
            </a:r>
            <a:r>
              <a:rPr lang="en-US" altLang="en-US" dirty="0" err="1"/>
              <a:t>cout</a:t>
            </a:r>
            <a:r>
              <a:rPr lang="en-US" altLang="en-US" dirty="0"/>
              <a:t>&lt;&lt;"input "&lt;&lt;name&lt;&lt;"  the </a:t>
            </a:r>
            <a:r>
              <a:rPr lang="en-US" altLang="en-US" dirty="0" err="1"/>
              <a:t>workHours</a:t>
            </a:r>
            <a:r>
              <a:rPr lang="en-US" altLang="en-US" dirty="0"/>
              <a:t> of this month: ";  </a:t>
            </a:r>
          </a:p>
          <a:p>
            <a:r>
              <a:rPr lang="en-US" altLang="en-US" dirty="0"/>
              <a:t>   // </a:t>
            </a:r>
            <a:r>
              <a:rPr lang="en-US" altLang="en-US" dirty="0" err="1"/>
              <a:t>输入本月的工作时数</a:t>
            </a:r>
            <a:endParaRPr lang="en-US" altLang="en-US" dirty="0"/>
          </a:p>
          <a:p>
            <a:r>
              <a:rPr lang="en-US" altLang="en-US" dirty="0"/>
              <a:t>   </a:t>
            </a:r>
            <a:r>
              <a:rPr lang="en-US" altLang="en-US" dirty="0" err="1"/>
              <a:t>cin</a:t>
            </a:r>
            <a:r>
              <a:rPr lang="en-US" altLang="en-US" dirty="0"/>
              <a:t>&gt;&gt;</a:t>
            </a:r>
            <a:r>
              <a:rPr lang="en-US" altLang="en-US" dirty="0" err="1"/>
              <a:t>workHours</a:t>
            </a:r>
            <a:r>
              <a:rPr lang="en-US" altLang="en-US" dirty="0"/>
              <a:t>;</a:t>
            </a:r>
          </a:p>
          <a:p>
            <a:r>
              <a:rPr lang="en-US" altLang="en-US" dirty="0"/>
              <a:t>   </a:t>
            </a:r>
            <a:r>
              <a:rPr lang="en-US" altLang="en-US" dirty="0" err="1"/>
              <a:t>accumPay</a:t>
            </a:r>
            <a:r>
              <a:rPr lang="en-US" altLang="en-US" dirty="0"/>
              <a:t>=</a:t>
            </a:r>
            <a:r>
              <a:rPr lang="en-US" altLang="en-US" dirty="0" err="1"/>
              <a:t>hourlyRate</a:t>
            </a:r>
            <a:r>
              <a:rPr lang="en-US" altLang="en-US" dirty="0"/>
              <a:t>*</a:t>
            </a:r>
            <a:r>
              <a:rPr lang="en-US" altLang="en-US" dirty="0" err="1"/>
              <a:t>workHours</a:t>
            </a:r>
            <a:r>
              <a:rPr lang="en-US" altLang="en-US" dirty="0"/>
              <a:t>;  // </a:t>
            </a:r>
            <a:r>
              <a:rPr lang="en-US" altLang="en-US" dirty="0" err="1"/>
              <a:t>计算月薪，按小时计酬</a:t>
            </a:r>
            <a:endParaRPr lang="en-US" altLang="en-US" dirty="0"/>
          </a:p>
          <a:p>
            <a:r>
              <a:rPr lang="en-US" altLang="en-US" dirty="0"/>
              <a:t>   </a:t>
            </a:r>
            <a:r>
              <a:rPr lang="en-US" altLang="en-US" dirty="0" err="1"/>
              <a:t>cout</a:t>
            </a:r>
            <a:r>
              <a:rPr lang="en-US" altLang="en-US" dirty="0"/>
              <a:t>&lt;&lt;"Technician: "&lt;&lt;name&lt;&lt;"  No: "&lt;&lt;</a:t>
            </a:r>
            <a:r>
              <a:rPr lang="en-US" altLang="en-US" dirty="0" err="1"/>
              <a:t>individualEmpNo</a:t>
            </a:r>
            <a:endParaRPr lang="en-US" altLang="en-US" dirty="0"/>
          </a:p>
          <a:p>
            <a:r>
              <a:rPr lang="en-US" altLang="en-US" dirty="0"/>
              <a:t>       &lt;&lt;"  month salary: "&lt;&lt;</a:t>
            </a:r>
            <a:r>
              <a:rPr lang="en-US" altLang="en-US" dirty="0" err="1"/>
              <a:t>accumPay</a:t>
            </a:r>
            <a:r>
              <a:rPr lang="en-US" altLang="en-US" dirty="0"/>
              <a:t>&lt;&lt;</a:t>
            </a:r>
            <a:r>
              <a:rPr lang="en-US" altLang="en-US" dirty="0" err="1"/>
              <a:t>endl</a:t>
            </a:r>
            <a:r>
              <a:rPr lang="en-US" altLang="en-US" dirty="0"/>
              <a:t>;</a:t>
            </a:r>
          </a:p>
          <a:p>
            <a:r>
              <a:rPr lang="en-US" altLang="en-US" dirty="0"/>
              <a:t>}</a:t>
            </a:r>
          </a:p>
          <a:p>
            <a:endParaRPr lang="en-US" altLang="en-US" dirty="0"/>
          </a:p>
          <a:p>
            <a:r>
              <a:rPr lang="en-US" altLang="en-US" dirty="0"/>
              <a:t>void technician::</a:t>
            </a:r>
            <a:r>
              <a:rPr lang="en-US" altLang="en-US" dirty="0" err="1"/>
              <a:t>displayStatus</a:t>
            </a:r>
            <a:r>
              <a:rPr lang="en-US" altLang="en-US" dirty="0"/>
              <a:t>()</a:t>
            </a:r>
          </a:p>
          <a:p>
            <a:r>
              <a:rPr lang="en-US" altLang="en-US" dirty="0"/>
              <a:t>{</a:t>
            </a:r>
          </a:p>
          <a:p>
            <a:r>
              <a:rPr lang="en-US" altLang="en-US" dirty="0"/>
              <a:t>   </a:t>
            </a:r>
            <a:r>
              <a:rPr lang="en-US" altLang="en-US" dirty="0" err="1"/>
              <a:t>cout</a:t>
            </a:r>
            <a:r>
              <a:rPr lang="en-US" altLang="en-US" dirty="0"/>
              <a:t>&lt;&lt;"Technician: "&lt;&lt;name&lt;&lt;"  No: "&lt;&lt;</a:t>
            </a:r>
            <a:r>
              <a:rPr lang="en-US" altLang="en-US" dirty="0" err="1"/>
              <a:t>individualEmpNo</a:t>
            </a:r>
            <a:endParaRPr lang="en-US" altLang="en-US" dirty="0"/>
          </a:p>
          <a:p>
            <a:r>
              <a:rPr lang="en-US" altLang="en-US" dirty="0"/>
              <a:t>       &lt;&lt;"  grade: "&lt;&lt;grade&lt;&lt;"  this month salary: "&lt;&lt;</a:t>
            </a:r>
            <a:r>
              <a:rPr lang="en-US" altLang="en-US" dirty="0" err="1"/>
              <a:t>accumPay</a:t>
            </a:r>
            <a:r>
              <a:rPr lang="en-US" altLang="en-US" dirty="0"/>
              <a:t>&lt;&lt;</a:t>
            </a:r>
            <a:r>
              <a:rPr lang="en-US" altLang="en-US" dirty="0" err="1"/>
              <a:t>endl</a:t>
            </a:r>
            <a:r>
              <a:rPr lang="en-US" altLang="en-US" dirty="0"/>
              <a:t>;</a:t>
            </a:r>
          </a:p>
          <a:p>
            <a:r>
              <a:rPr lang="en-US" altLang="en-US" dirty="0"/>
              <a:t>}</a:t>
            </a:r>
          </a:p>
        </p:txBody>
      </p:sp>
    </p:spTree>
    <p:extLst>
      <p:ext uri="{BB962C8B-B14F-4D97-AF65-F5344CB8AC3E}">
        <p14:creationId xmlns:p14="http://schemas.microsoft.com/office/powerpoint/2010/main" val="40623014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377110E-E965-4C68-84C7-CF90AD4C5EAC}"/>
              </a:ext>
            </a:extLst>
          </p:cNvPr>
          <p:cNvSpPr txBox="1">
            <a:spLocks noChangeArrowheads="1"/>
          </p:cNvSpPr>
          <p:nvPr/>
        </p:nvSpPr>
        <p:spPr>
          <a:xfrm>
            <a:off x="136039" y="0"/>
            <a:ext cx="7765316" cy="45277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manager::manager()</a:t>
            </a:r>
          </a:p>
          <a:p>
            <a:r>
              <a:rPr lang="en-US" altLang="en-US" dirty="0"/>
              <a:t>{  </a:t>
            </a:r>
            <a:r>
              <a:rPr lang="en-US" altLang="en-US" dirty="0" err="1"/>
              <a:t>monthlyPay</a:t>
            </a:r>
            <a:r>
              <a:rPr lang="en-US" altLang="en-US" dirty="0"/>
              <a:t>=8000;                   </a:t>
            </a:r>
          </a:p>
          <a:p>
            <a:r>
              <a:rPr lang="en-US" altLang="en-US" dirty="0"/>
              <a:t>}</a:t>
            </a:r>
          </a:p>
          <a:p>
            <a:endParaRPr lang="en-US" altLang="en-US" dirty="0"/>
          </a:p>
          <a:p>
            <a:r>
              <a:rPr lang="en-US" altLang="en-US" dirty="0"/>
              <a:t>void manager::pay()</a:t>
            </a:r>
          </a:p>
          <a:p>
            <a:r>
              <a:rPr lang="en-US" altLang="en-US" dirty="0"/>
              <a:t>{ </a:t>
            </a:r>
            <a:r>
              <a:rPr lang="en-US" altLang="en-US" dirty="0" err="1"/>
              <a:t>accumPay</a:t>
            </a:r>
            <a:r>
              <a:rPr lang="en-US" altLang="en-US" dirty="0"/>
              <a:t>=</a:t>
            </a:r>
            <a:r>
              <a:rPr lang="en-US" altLang="en-US" dirty="0" err="1"/>
              <a:t>monthlyPay</a:t>
            </a:r>
            <a:r>
              <a:rPr lang="en-US" altLang="en-US" dirty="0"/>
              <a:t>;</a:t>
            </a:r>
          </a:p>
          <a:p>
            <a:r>
              <a:rPr lang="en-US" altLang="en-US" dirty="0"/>
              <a:t>   </a:t>
            </a:r>
            <a:r>
              <a:rPr lang="en-US" altLang="en-US" dirty="0" err="1"/>
              <a:t>cout</a:t>
            </a:r>
            <a:r>
              <a:rPr lang="en-US" altLang="en-US" dirty="0"/>
              <a:t>&lt;&lt;"Manager: "&lt;&lt;name&lt;&lt;"  No: "&lt;&lt;</a:t>
            </a:r>
            <a:r>
              <a:rPr lang="en-US" altLang="en-US" dirty="0" err="1"/>
              <a:t>individualEmpNo</a:t>
            </a:r>
            <a:r>
              <a:rPr lang="en-US" altLang="en-US" dirty="0"/>
              <a:t>   </a:t>
            </a:r>
          </a:p>
          <a:p>
            <a:r>
              <a:rPr lang="en-US" altLang="en-US" dirty="0"/>
              <a:t>       &lt;&lt;"  month salary: "&lt;&lt;</a:t>
            </a:r>
            <a:r>
              <a:rPr lang="en-US" altLang="en-US" dirty="0" err="1"/>
              <a:t>accumPay</a:t>
            </a:r>
            <a:r>
              <a:rPr lang="en-US" altLang="en-US" dirty="0"/>
              <a:t>&lt;&lt;</a:t>
            </a:r>
            <a:r>
              <a:rPr lang="en-US" altLang="en-US" dirty="0" err="1"/>
              <a:t>endl</a:t>
            </a:r>
            <a:r>
              <a:rPr lang="en-US" altLang="en-US" dirty="0"/>
              <a:t>;</a:t>
            </a:r>
          </a:p>
          <a:p>
            <a:r>
              <a:rPr lang="en-US" altLang="en-US" dirty="0"/>
              <a:t>}</a:t>
            </a:r>
          </a:p>
          <a:p>
            <a:endParaRPr lang="en-US" altLang="en-US" dirty="0"/>
          </a:p>
          <a:p>
            <a:r>
              <a:rPr lang="en-US" altLang="en-US" dirty="0"/>
              <a:t>void manager::</a:t>
            </a:r>
            <a:r>
              <a:rPr lang="en-US" altLang="en-US" dirty="0" err="1"/>
              <a:t>displayStatus</a:t>
            </a:r>
            <a:r>
              <a:rPr lang="en-US" altLang="en-US" dirty="0"/>
              <a:t>()</a:t>
            </a:r>
          </a:p>
          <a:p>
            <a:r>
              <a:rPr lang="en-US" altLang="en-US" dirty="0"/>
              <a:t>{ </a:t>
            </a:r>
            <a:r>
              <a:rPr lang="en-US" altLang="en-US" dirty="0" err="1"/>
              <a:t>cout</a:t>
            </a:r>
            <a:r>
              <a:rPr lang="en-US" altLang="en-US" dirty="0"/>
              <a:t>&lt;&lt;"Manager: "&lt;&lt;name&lt;&lt;"  No: "&lt;&lt;</a:t>
            </a:r>
            <a:r>
              <a:rPr lang="en-US" altLang="en-US" dirty="0" err="1"/>
              <a:t>individualEmpNo</a:t>
            </a:r>
            <a:endParaRPr lang="en-US" altLang="en-US" dirty="0"/>
          </a:p>
          <a:p>
            <a:r>
              <a:rPr lang="en-US" altLang="en-US" dirty="0"/>
              <a:t>       &lt;&lt;"  grade: "&lt;&lt;grade&lt;&lt;"  this month salary: "&lt;&lt;</a:t>
            </a:r>
            <a:r>
              <a:rPr lang="en-US" altLang="en-US" dirty="0" err="1"/>
              <a:t>accumPay</a:t>
            </a:r>
            <a:r>
              <a:rPr lang="en-US" altLang="en-US" dirty="0"/>
              <a:t>&lt;&lt;</a:t>
            </a:r>
            <a:r>
              <a:rPr lang="en-US" altLang="en-US" dirty="0" err="1"/>
              <a:t>endl</a:t>
            </a:r>
            <a:r>
              <a:rPr lang="en-US" altLang="en-US" dirty="0"/>
              <a:t>;</a:t>
            </a:r>
          </a:p>
          <a:p>
            <a:r>
              <a:rPr lang="en-US" altLang="en-US" dirty="0"/>
              <a:t>}</a:t>
            </a:r>
          </a:p>
        </p:txBody>
      </p:sp>
    </p:spTree>
    <p:extLst>
      <p:ext uri="{BB962C8B-B14F-4D97-AF65-F5344CB8AC3E}">
        <p14:creationId xmlns:p14="http://schemas.microsoft.com/office/powerpoint/2010/main" val="42938522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50309C-52EF-434B-A58B-9FD9E00199C1}"/>
              </a:ext>
            </a:extLst>
          </p:cNvPr>
          <p:cNvSpPr txBox="1">
            <a:spLocks noChangeArrowheads="1"/>
          </p:cNvSpPr>
          <p:nvPr/>
        </p:nvSpPr>
        <p:spPr>
          <a:xfrm>
            <a:off x="64966" y="0"/>
            <a:ext cx="8785225" cy="5472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salesman::salesman()</a:t>
            </a:r>
          </a:p>
          <a:p>
            <a:r>
              <a:rPr lang="en-US" altLang="en-US" dirty="0"/>
              <a:t>{</a:t>
            </a:r>
            <a:r>
              <a:rPr lang="en-US" altLang="en-US" dirty="0" err="1"/>
              <a:t>CommRate</a:t>
            </a:r>
            <a:r>
              <a:rPr lang="en-US" altLang="en-US" dirty="0"/>
              <a:t>=0.05;                               // 销售提成比例5%</a:t>
            </a:r>
          </a:p>
          <a:p>
            <a:r>
              <a:rPr lang="en-US" altLang="en-US" dirty="0"/>
              <a:t>}</a:t>
            </a:r>
          </a:p>
          <a:p>
            <a:endParaRPr lang="en-US" altLang="en-US" dirty="0"/>
          </a:p>
          <a:p>
            <a:r>
              <a:rPr lang="en-US" altLang="en-US" dirty="0"/>
              <a:t>void salesman::pay()</a:t>
            </a:r>
          </a:p>
          <a:p>
            <a:r>
              <a:rPr lang="en-US" altLang="en-US" dirty="0"/>
              <a:t>{</a:t>
            </a:r>
            <a:r>
              <a:rPr lang="en-US" altLang="en-US" dirty="0" err="1"/>
              <a:t>cout</a:t>
            </a:r>
            <a:r>
              <a:rPr lang="en-US" altLang="en-US" dirty="0"/>
              <a:t>&lt;&lt;"input "&lt;&lt;name&lt;&lt;"  the sales of this month: ";      </a:t>
            </a:r>
          </a:p>
          <a:p>
            <a:r>
              <a:rPr lang="en-US" altLang="en-US" dirty="0"/>
              <a:t> // </a:t>
            </a:r>
            <a:r>
              <a:rPr lang="en-US" altLang="en-US" dirty="0" err="1"/>
              <a:t>输入本月销售额</a:t>
            </a:r>
            <a:endParaRPr lang="en-US" altLang="en-US" dirty="0"/>
          </a:p>
          <a:p>
            <a:r>
              <a:rPr lang="en-US" altLang="en-US" dirty="0"/>
              <a:t>   </a:t>
            </a:r>
            <a:r>
              <a:rPr lang="en-US" altLang="en-US" dirty="0" err="1"/>
              <a:t>cin</a:t>
            </a:r>
            <a:r>
              <a:rPr lang="en-US" altLang="en-US" dirty="0"/>
              <a:t>&gt;&gt;sales;</a:t>
            </a:r>
          </a:p>
          <a:p>
            <a:r>
              <a:rPr lang="en-US" altLang="en-US" dirty="0"/>
              <a:t>   </a:t>
            </a:r>
            <a:r>
              <a:rPr lang="en-US" altLang="en-US" dirty="0" err="1"/>
              <a:t>accumPay</a:t>
            </a:r>
            <a:r>
              <a:rPr lang="en-US" altLang="en-US" dirty="0"/>
              <a:t>=sales*</a:t>
            </a:r>
            <a:r>
              <a:rPr lang="en-US" altLang="en-US" dirty="0" err="1"/>
              <a:t>CommRate</a:t>
            </a:r>
            <a:r>
              <a:rPr lang="en-US" altLang="en-US" dirty="0"/>
              <a:t>;            // </a:t>
            </a:r>
            <a:r>
              <a:rPr lang="en-US" altLang="en-US" dirty="0" err="1"/>
              <a:t>月薪</a:t>
            </a:r>
            <a:r>
              <a:rPr lang="en-US" altLang="en-US" dirty="0"/>
              <a:t>=</a:t>
            </a:r>
            <a:r>
              <a:rPr lang="en-US" altLang="en-US" dirty="0" err="1"/>
              <a:t>销售提成</a:t>
            </a:r>
            <a:endParaRPr lang="en-US" altLang="en-US" dirty="0"/>
          </a:p>
          <a:p>
            <a:r>
              <a:rPr lang="en-US" altLang="en-US" dirty="0"/>
              <a:t>   </a:t>
            </a:r>
            <a:r>
              <a:rPr lang="en-US" altLang="en-US" dirty="0" err="1"/>
              <a:t>cout</a:t>
            </a:r>
            <a:r>
              <a:rPr lang="en-US" altLang="en-US" dirty="0"/>
              <a:t>&lt;&lt;"Salesman: "&lt;&lt;name&lt;&lt;"  No: "&lt;&lt;</a:t>
            </a:r>
            <a:r>
              <a:rPr lang="en-US" altLang="en-US" dirty="0" err="1"/>
              <a:t>individualEmpNo</a:t>
            </a:r>
            <a:endParaRPr lang="en-US" altLang="en-US" dirty="0"/>
          </a:p>
          <a:p>
            <a:r>
              <a:rPr lang="en-US" altLang="en-US" dirty="0"/>
              <a:t>       &lt;&lt;"  month salary: "&lt;&lt;</a:t>
            </a:r>
            <a:r>
              <a:rPr lang="en-US" altLang="en-US" dirty="0" err="1"/>
              <a:t>accumPay</a:t>
            </a:r>
            <a:r>
              <a:rPr lang="en-US" altLang="en-US" dirty="0"/>
              <a:t>&lt;&lt;</a:t>
            </a:r>
            <a:r>
              <a:rPr lang="en-US" altLang="en-US" dirty="0" err="1"/>
              <a:t>endl</a:t>
            </a:r>
            <a:r>
              <a:rPr lang="en-US" altLang="en-US" dirty="0"/>
              <a:t>;</a:t>
            </a:r>
          </a:p>
          <a:p>
            <a:r>
              <a:rPr lang="en-US" altLang="en-US" dirty="0"/>
              <a:t>}</a:t>
            </a:r>
          </a:p>
          <a:p>
            <a:endParaRPr lang="en-US" altLang="en-US" dirty="0"/>
          </a:p>
          <a:p>
            <a:r>
              <a:rPr lang="en-US" altLang="en-US" dirty="0"/>
              <a:t>void salesman::</a:t>
            </a:r>
            <a:r>
              <a:rPr lang="en-US" altLang="en-US" dirty="0" err="1"/>
              <a:t>displayStatus</a:t>
            </a:r>
            <a:r>
              <a:rPr lang="en-US" altLang="en-US" dirty="0"/>
              <a:t>()</a:t>
            </a:r>
          </a:p>
          <a:p>
            <a:r>
              <a:rPr lang="en-US" altLang="en-US" dirty="0"/>
              <a:t>{   </a:t>
            </a:r>
            <a:r>
              <a:rPr lang="en-US" altLang="en-US" dirty="0" err="1"/>
              <a:t>cout</a:t>
            </a:r>
            <a:r>
              <a:rPr lang="en-US" altLang="en-US" dirty="0"/>
              <a:t>&lt;&lt;"Salesman: "&lt;&lt;name&lt;&lt;"  No: "&lt;&lt;</a:t>
            </a:r>
            <a:r>
              <a:rPr lang="en-US" altLang="en-US" dirty="0" err="1"/>
              <a:t>individualEmpNo</a:t>
            </a:r>
            <a:endParaRPr lang="en-US" altLang="en-US" dirty="0"/>
          </a:p>
          <a:p>
            <a:r>
              <a:rPr lang="en-US" altLang="en-US" dirty="0"/>
              <a:t>       &lt;&lt;"  grade: "&lt;&lt;grade&lt;&lt;"  this month salary: "&lt;&lt;</a:t>
            </a:r>
            <a:r>
              <a:rPr lang="en-US" altLang="en-US" dirty="0" err="1"/>
              <a:t>accumPay</a:t>
            </a:r>
            <a:r>
              <a:rPr lang="en-US" altLang="en-US" dirty="0"/>
              <a:t>&lt;&lt;</a:t>
            </a:r>
            <a:r>
              <a:rPr lang="en-US" altLang="en-US" dirty="0" err="1"/>
              <a:t>endl</a:t>
            </a:r>
            <a:r>
              <a:rPr lang="en-US" altLang="en-US" dirty="0"/>
              <a:t>;</a:t>
            </a:r>
          </a:p>
          <a:p>
            <a:r>
              <a:rPr lang="en-US" altLang="en-US" dirty="0"/>
              <a:t>}</a:t>
            </a:r>
          </a:p>
        </p:txBody>
      </p:sp>
    </p:spTree>
    <p:extLst>
      <p:ext uri="{BB962C8B-B14F-4D97-AF65-F5344CB8AC3E}">
        <p14:creationId xmlns:p14="http://schemas.microsoft.com/office/powerpoint/2010/main" val="38101289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76D6112-A7D4-4931-B193-7A14729B578F}"/>
              </a:ext>
            </a:extLst>
          </p:cNvPr>
          <p:cNvSpPr txBox="1">
            <a:spLocks noChangeArrowheads="1"/>
          </p:cNvSpPr>
          <p:nvPr/>
        </p:nvSpPr>
        <p:spPr>
          <a:xfrm>
            <a:off x="93785" y="1"/>
            <a:ext cx="10215441" cy="5414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err="1"/>
              <a:t>salesmanager</a:t>
            </a:r>
            <a:r>
              <a:rPr lang="en-US" altLang="en-US" dirty="0"/>
              <a:t>::</a:t>
            </a:r>
            <a:r>
              <a:rPr lang="en-US" altLang="en-US" dirty="0" err="1"/>
              <a:t>salesmanager</a:t>
            </a:r>
            <a:r>
              <a:rPr lang="en-US" altLang="en-US" dirty="0"/>
              <a:t>()</a:t>
            </a:r>
          </a:p>
          <a:p>
            <a:r>
              <a:rPr lang="en-US" altLang="en-US" dirty="0"/>
              <a:t>{  </a:t>
            </a:r>
            <a:r>
              <a:rPr lang="en-US" altLang="en-US" dirty="0" err="1"/>
              <a:t>monthlyPay</a:t>
            </a:r>
            <a:r>
              <a:rPr lang="en-US" altLang="en-US" dirty="0"/>
              <a:t>=5000;               // 固定月薪5000</a:t>
            </a:r>
          </a:p>
          <a:p>
            <a:r>
              <a:rPr lang="en-US" altLang="en-US" dirty="0"/>
              <a:t>   </a:t>
            </a:r>
            <a:r>
              <a:rPr lang="en-US" altLang="en-US" dirty="0" err="1"/>
              <a:t>CommRate</a:t>
            </a:r>
            <a:r>
              <a:rPr lang="en-US" altLang="en-US" dirty="0"/>
              <a:t>=0.005;               // </a:t>
            </a:r>
            <a:r>
              <a:rPr lang="en-US" altLang="en-US" dirty="0" err="1"/>
              <a:t>整个部门销售提成比例</a:t>
            </a:r>
            <a:endParaRPr lang="en-US" altLang="en-US" dirty="0"/>
          </a:p>
          <a:p>
            <a:r>
              <a:rPr lang="en-US" altLang="en-US" dirty="0"/>
              <a:t>}</a:t>
            </a:r>
          </a:p>
          <a:p>
            <a:endParaRPr lang="en-US" altLang="en-US" dirty="0"/>
          </a:p>
          <a:p>
            <a:r>
              <a:rPr lang="en-US" altLang="en-US" dirty="0"/>
              <a:t>void </a:t>
            </a:r>
            <a:r>
              <a:rPr lang="en-US" altLang="en-US" dirty="0" err="1"/>
              <a:t>salesmanager</a:t>
            </a:r>
            <a:r>
              <a:rPr lang="en-US" altLang="en-US" dirty="0"/>
              <a:t>::pay()</a:t>
            </a:r>
          </a:p>
          <a:p>
            <a:r>
              <a:rPr lang="en-US" altLang="en-US" dirty="0"/>
              <a:t>{  </a:t>
            </a:r>
            <a:r>
              <a:rPr lang="en-US" altLang="en-US" dirty="0" err="1"/>
              <a:t>cout</a:t>
            </a:r>
            <a:r>
              <a:rPr lang="en-US" altLang="en-US" dirty="0"/>
              <a:t>&lt;&lt;"input "&lt;&lt;employee::name</a:t>
            </a:r>
          </a:p>
          <a:p>
            <a:r>
              <a:rPr lang="en-US" altLang="en-US" dirty="0"/>
              <a:t>       &lt;&lt;" the total sales of the department of this month: ";</a:t>
            </a:r>
          </a:p>
          <a:p>
            <a:r>
              <a:rPr lang="en-US" altLang="en-US" dirty="0"/>
              <a:t>   </a:t>
            </a:r>
            <a:r>
              <a:rPr lang="en-US" altLang="en-US" dirty="0" err="1"/>
              <a:t>cin</a:t>
            </a:r>
            <a:r>
              <a:rPr lang="en-US" altLang="en-US" dirty="0"/>
              <a:t>&gt;&gt;sales;</a:t>
            </a:r>
          </a:p>
          <a:p>
            <a:r>
              <a:rPr lang="en-US" altLang="en-US" dirty="0"/>
              <a:t>   </a:t>
            </a:r>
            <a:r>
              <a:rPr lang="en-US" altLang="en-US" dirty="0" err="1"/>
              <a:t>accumPay</a:t>
            </a:r>
            <a:r>
              <a:rPr lang="en-US" altLang="en-US" dirty="0"/>
              <a:t>=</a:t>
            </a:r>
            <a:r>
              <a:rPr lang="en-US" altLang="en-US" dirty="0" err="1"/>
              <a:t>monthlyPay+CommRate</a:t>
            </a:r>
            <a:r>
              <a:rPr lang="en-US" altLang="en-US" dirty="0"/>
              <a:t>*sales;</a:t>
            </a:r>
          </a:p>
          <a:p>
            <a:r>
              <a:rPr lang="en-US" altLang="en-US" dirty="0"/>
              <a:t>   </a:t>
            </a:r>
            <a:r>
              <a:rPr lang="en-US" altLang="en-US" dirty="0" err="1"/>
              <a:t>cout</a:t>
            </a:r>
            <a:r>
              <a:rPr lang="en-US" altLang="en-US" dirty="0"/>
              <a:t>&lt;&lt;"salesman: "&lt;&lt;name&lt;&lt;"  No: "&lt;&lt;</a:t>
            </a:r>
            <a:r>
              <a:rPr lang="en-US" altLang="en-US" dirty="0" err="1"/>
              <a:t>individualEmpNo</a:t>
            </a:r>
            <a:endParaRPr lang="en-US" altLang="en-US" dirty="0"/>
          </a:p>
          <a:p>
            <a:r>
              <a:rPr lang="en-US" altLang="en-US" dirty="0"/>
              <a:t>       &lt;&lt;"  month salary: "&lt;&lt;</a:t>
            </a:r>
            <a:r>
              <a:rPr lang="en-US" altLang="en-US" dirty="0" err="1"/>
              <a:t>accumPay</a:t>
            </a:r>
            <a:r>
              <a:rPr lang="en-US" altLang="en-US" dirty="0"/>
              <a:t>&lt;&lt;</a:t>
            </a:r>
            <a:r>
              <a:rPr lang="en-US" altLang="en-US" dirty="0" err="1"/>
              <a:t>endl</a:t>
            </a:r>
            <a:r>
              <a:rPr lang="en-US" altLang="en-US" dirty="0"/>
              <a:t>;</a:t>
            </a:r>
          </a:p>
          <a:p>
            <a:r>
              <a:rPr lang="en-US" altLang="en-US" dirty="0"/>
              <a:t>}</a:t>
            </a:r>
          </a:p>
          <a:p>
            <a:endParaRPr lang="en-US" altLang="en-US" dirty="0"/>
          </a:p>
          <a:p>
            <a:r>
              <a:rPr lang="en-US" altLang="en-US" dirty="0"/>
              <a:t>void </a:t>
            </a:r>
            <a:r>
              <a:rPr lang="en-US" altLang="en-US" dirty="0" err="1"/>
              <a:t>salesmanager</a:t>
            </a:r>
            <a:r>
              <a:rPr lang="en-US" altLang="en-US" dirty="0"/>
              <a:t>::</a:t>
            </a:r>
            <a:r>
              <a:rPr lang="en-US" altLang="en-US" dirty="0" err="1"/>
              <a:t>displayStatus</a:t>
            </a:r>
            <a:r>
              <a:rPr lang="en-US" altLang="en-US" dirty="0"/>
              <a:t>()</a:t>
            </a:r>
          </a:p>
          <a:p>
            <a:r>
              <a:rPr lang="en-US" altLang="en-US" dirty="0"/>
              <a:t>{  </a:t>
            </a:r>
            <a:r>
              <a:rPr lang="en-US" altLang="en-US" dirty="0" err="1"/>
              <a:t>cout</a:t>
            </a:r>
            <a:r>
              <a:rPr lang="en-US" altLang="en-US" dirty="0"/>
              <a:t>&lt;&lt;"</a:t>
            </a:r>
            <a:r>
              <a:rPr lang="en-US" altLang="en-US" dirty="0" err="1"/>
              <a:t>salesmanager</a:t>
            </a:r>
            <a:r>
              <a:rPr lang="en-US" altLang="en-US" dirty="0"/>
              <a:t>: "&lt;&lt;name&lt;&lt;"  No: "&lt;&lt;</a:t>
            </a:r>
            <a:r>
              <a:rPr lang="en-US" altLang="en-US" dirty="0" err="1"/>
              <a:t>individualEmpNo</a:t>
            </a:r>
            <a:endParaRPr lang="en-US" altLang="en-US" dirty="0"/>
          </a:p>
          <a:p>
            <a:r>
              <a:rPr lang="en-US" altLang="en-US" dirty="0"/>
              <a:t>       &lt;&lt;"  grade: "&lt;&lt;grade&lt;&lt;"  this month salary: "&lt;&lt;</a:t>
            </a:r>
            <a:r>
              <a:rPr lang="en-US" altLang="en-US" dirty="0" err="1"/>
              <a:t>accumPay</a:t>
            </a:r>
            <a:r>
              <a:rPr lang="en-US" altLang="en-US" dirty="0"/>
              <a:t>&lt;&lt;</a:t>
            </a:r>
            <a:r>
              <a:rPr lang="en-US" altLang="en-US" dirty="0" err="1"/>
              <a:t>endl</a:t>
            </a:r>
            <a:r>
              <a:rPr lang="en-US" altLang="en-US" dirty="0"/>
              <a:t>;</a:t>
            </a:r>
          </a:p>
          <a:p>
            <a:r>
              <a:rPr lang="en-US" altLang="en-US" dirty="0"/>
              <a:t>}</a:t>
            </a:r>
          </a:p>
        </p:txBody>
      </p:sp>
    </p:spTree>
    <p:extLst>
      <p:ext uri="{BB962C8B-B14F-4D97-AF65-F5344CB8AC3E}">
        <p14:creationId xmlns:p14="http://schemas.microsoft.com/office/powerpoint/2010/main" val="2445750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a:extLst>
              <a:ext uri="{FF2B5EF4-FFF2-40B4-BE49-F238E27FC236}">
                <a16:creationId xmlns:a16="http://schemas.microsoft.com/office/drawing/2014/main" id="{1F39C402-8558-46E8-BE42-BDF00F30E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0"/>
            <a:ext cx="4445000"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3">
            <a:extLst>
              <a:ext uri="{FF2B5EF4-FFF2-40B4-BE49-F238E27FC236}">
                <a16:creationId xmlns:a16="http://schemas.microsoft.com/office/drawing/2014/main" id="{5BE650B2-8F54-47AA-AD57-05720123BF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6702" y="1"/>
            <a:ext cx="4032250" cy="29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3022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5B05114-1E64-4E52-B585-144DF4301C02}"/>
              </a:ext>
            </a:extLst>
          </p:cNvPr>
          <p:cNvSpPr txBox="1">
            <a:spLocks noChangeArrowheads="1"/>
          </p:cNvSpPr>
          <p:nvPr/>
        </p:nvSpPr>
        <p:spPr>
          <a:xfrm>
            <a:off x="343512" y="234462"/>
            <a:ext cx="10031411" cy="54141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//APP.CPP</a:t>
            </a:r>
          </a:p>
          <a:p>
            <a:r>
              <a:rPr lang="en-US" altLang="en-US" dirty="0"/>
              <a:t>#include "</a:t>
            </a:r>
            <a:r>
              <a:rPr lang="en-US" altLang="en-US" dirty="0" err="1"/>
              <a:t>employee.h</a:t>
            </a:r>
            <a:r>
              <a:rPr lang="en-US" altLang="en-US" dirty="0"/>
              <a:t>"</a:t>
            </a:r>
          </a:p>
          <a:p>
            <a:r>
              <a:rPr lang="en-US" altLang="en-US" dirty="0"/>
              <a:t>int main()</a:t>
            </a:r>
          </a:p>
          <a:p>
            <a:r>
              <a:rPr lang="en-US" altLang="en-US" dirty="0"/>
              <a:t>{ manager m1;</a:t>
            </a:r>
            <a:r>
              <a:rPr lang="en-US" altLang="zh-CN" dirty="0"/>
              <a:t>  </a:t>
            </a:r>
            <a:r>
              <a:rPr lang="en-US" altLang="en-US" dirty="0"/>
              <a:t>  technician t1; </a:t>
            </a:r>
            <a:r>
              <a:rPr lang="en-US" altLang="zh-CN" dirty="0"/>
              <a:t> </a:t>
            </a:r>
            <a:r>
              <a:rPr lang="en-US" altLang="en-US" dirty="0"/>
              <a:t>  salesman s1;  </a:t>
            </a:r>
            <a:r>
              <a:rPr lang="en-US" altLang="en-US" dirty="0" err="1"/>
              <a:t>salesmanager</a:t>
            </a:r>
            <a:r>
              <a:rPr lang="en-US" altLang="en-US" dirty="0"/>
              <a:t> sm1;</a:t>
            </a:r>
          </a:p>
          <a:p>
            <a:r>
              <a:rPr lang="en-US" altLang="en-US" dirty="0"/>
              <a:t>  m1.promote(3);           // 经理m1升3级</a:t>
            </a:r>
          </a:p>
          <a:p>
            <a:r>
              <a:rPr lang="en-US" altLang="en-US" dirty="0"/>
              <a:t>  m1.pay();                // 计算经理m1的月薪</a:t>
            </a:r>
          </a:p>
          <a:p>
            <a:r>
              <a:rPr lang="en-US" altLang="en-US" dirty="0"/>
              <a:t>  m1.displayStatus();</a:t>
            </a:r>
          </a:p>
          <a:p>
            <a:r>
              <a:rPr lang="en-US" altLang="en-US" dirty="0"/>
              <a:t>  t1.promote(2);           // 技术人员t1升2级</a:t>
            </a:r>
          </a:p>
          <a:p>
            <a:r>
              <a:rPr lang="en-US" altLang="en-US" dirty="0"/>
              <a:t>  t1.pay();                // 计算技术人员t1的月薪</a:t>
            </a:r>
          </a:p>
          <a:p>
            <a:r>
              <a:rPr lang="en-US" altLang="en-US" dirty="0"/>
              <a:t>  t1.displayStatus();</a:t>
            </a:r>
          </a:p>
          <a:p>
            <a:r>
              <a:rPr lang="en-US" altLang="zh-CN" dirty="0"/>
              <a:t>  </a:t>
            </a:r>
            <a:r>
              <a:rPr lang="en-US" altLang="en-US" dirty="0"/>
              <a:t>s1.pay();                // 计算销售人员s1的月薪</a:t>
            </a:r>
          </a:p>
          <a:p>
            <a:r>
              <a:rPr lang="en-US" altLang="en-US" dirty="0"/>
              <a:t>  s1.displayStatus();      </a:t>
            </a:r>
          </a:p>
          <a:p>
            <a:r>
              <a:rPr lang="en-US" altLang="en-US" dirty="0"/>
              <a:t>  sm1.promote(2);          // 销售经理升2级</a:t>
            </a:r>
          </a:p>
          <a:p>
            <a:r>
              <a:rPr lang="en-US" altLang="en-US" dirty="0"/>
              <a:t>  sm1.pay();               // 计算销售经理sm1月薪</a:t>
            </a:r>
          </a:p>
          <a:p>
            <a:r>
              <a:rPr lang="en-US" altLang="en-US" dirty="0"/>
              <a:t>  sm1.displayStatus();</a:t>
            </a:r>
          </a:p>
          <a:p>
            <a:r>
              <a:rPr lang="en-US" altLang="en-US" dirty="0"/>
              <a:t>  </a:t>
            </a:r>
            <a:r>
              <a:rPr lang="en-US" altLang="en-US" dirty="0" err="1"/>
              <a:t>getch</a:t>
            </a:r>
            <a:r>
              <a:rPr lang="en-US" altLang="en-US" dirty="0"/>
              <a:t>();</a:t>
            </a:r>
          </a:p>
          <a:p>
            <a:r>
              <a:rPr lang="en-US" altLang="en-US" dirty="0"/>
              <a:t>  return 0;</a:t>
            </a:r>
          </a:p>
          <a:p>
            <a:r>
              <a:rPr lang="en-US" altLang="en-US" dirty="0"/>
              <a:t>}</a:t>
            </a:r>
          </a:p>
        </p:txBody>
      </p:sp>
    </p:spTree>
    <p:extLst>
      <p:ext uri="{BB962C8B-B14F-4D97-AF65-F5344CB8AC3E}">
        <p14:creationId xmlns:p14="http://schemas.microsoft.com/office/powerpoint/2010/main" val="1614558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BC4983B-223F-48B4-85B4-52772E6E919F}"/>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4" name="直线连接符 6">
            <a:extLst>
              <a:ext uri="{FF2B5EF4-FFF2-40B4-BE49-F238E27FC236}">
                <a16:creationId xmlns:a16="http://schemas.microsoft.com/office/drawing/2014/main" id="{C3A1C114-C459-4979-BFE2-79CDD9ABA73A}"/>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810DC9B-32BF-43D3-9112-F20B0757D247}"/>
              </a:ext>
            </a:extLst>
          </p:cNvPr>
          <p:cNvSpPr txBox="1"/>
          <p:nvPr/>
        </p:nvSpPr>
        <p:spPr>
          <a:xfrm>
            <a:off x="397701" y="310423"/>
            <a:ext cx="6106438"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zh-CN" altLang="en-US" dirty="0">
                <a:sym typeface="+mn-lt"/>
              </a:rPr>
              <a:t>作业</a:t>
            </a:r>
          </a:p>
        </p:txBody>
      </p:sp>
      <p:sp>
        <p:nvSpPr>
          <p:cNvPr id="7" name="文本框 6">
            <a:extLst>
              <a:ext uri="{FF2B5EF4-FFF2-40B4-BE49-F238E27FC236}">
                <a16:creationId xmlns:a16="http://schemas.microsoft.com/office/drawing/2014/main" id="{CE8E7F37-8B68-4214-AA6C-85986F30C0DE}"/>
              </a:ext>
            </a:extLst>
          </p:cNvPr>
          <p:cNvSpPr txBox="1"/>
          <p:nvPr/>
        </p:nvSpPr>
        <p:spPr>
          <a:xfrm>
            <a:off x="878468" y="1390570"/>
            <a:ext cx="10754207" cy="2831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a:solidFill>
                  <a:srgbClr val="104E87"/>
                </a:solidFill>
                <a:latin typeface="Comic Sans MS" panose="030F0702030302020204" pitchFamily="66" charset="0"/>
                <a:ea typeface="华光行书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pPr>
              <a:lnSpc>
                <a:spcPct val="100000"/>
              </a:lnSpc>
              <a:spcBef>
                <a:spcPts val="600"/>
              </a:spcBef>
            </a:pPr>
            <a:r>
              <a:rPr lang="en-US" altLang="zh-CN" dirty="0"/>
              <a:t>1</a:t>
            </a:r>
            <a:r>
              <a:rPr lang="zh-CN" altLang="zh-CN" dirty="0"/>
              <a:t>）编写一个抽象类</a:t>
            </a:r>
            <a:r>
              <a:rPr lang="en-US" altLang="zh-CN" dirty="0"/>
              <a:t>Shape</a:t>
            </a:r>
            <a:r>
              <a:rPr lang="zh-CN" altLang="zh-CN" dirty="0"/>
              <a:t>，包含两个纯虚函数</a:t>
            </a:r>
            <a:r>
              <a:rPr lang="en-US" altLang="zh-CN" dirty="0" err="1"/>
              <a:t>GetArea</a:t>
            </a:r>
            <a:r>
              <a:rPr lang="en-US" altLang="zh-CN" dirty="0"/>
              <a:t>()</a:t>
            </a:r>
            <a:r>
              <a:rPr lang="zh-CN" altLang="zh-CN" dirty="0"/>
              <a:t>计算面积，</a:t>
            </a:r>
            <a:r>
              <a:rPr lang="en-US" altLang="zh-CN" dirty="0" err="1"/>
              <a:t>GetPerim</a:t>
            </a:r>
            <a:r>
              <a:rPr lang="en-US" altLang="zh-CN" dirty="0"/>
              <a:t>()</a:t>
            </a:r>
            <a:r>
              <a:rPr lang="zh-CN" altLang="zh-CN" dirty="0"/>
              <a:t>计算周长，在此基础上派生</a:t>
            </a:r>
            <a:r>
              <a:rPr lang="en-US" altLang="zh-CN" dirty="0"/>
              <a:t>Rectangle</a:t>
            </a:r>
            <a:r>
              <a:rPr lang="zh-CN" altLang="zh-CN" dirty="0"/>
              <a:t>类和</a:t>
            </a:r>
            <a:r>
              <a:rPr lang="en-US" altLang="zh-CN" dirty="0"/>
              <a:t>circle</a:t>
            </a:r>
            <a:r>
              <a:rPr lang="zh-CN" altLang="zh-CN" dirty="0"/>
              <a:t>类，给出纯虚函数的具体实现。通过继承</a:t>
            </a:r>
            <a:r>
              <a:rPr lang="en-US" altLang="zh-CN" dirty="0"/>
              <a:t>Rectangle</a:t>
            </a:r>
            <a:r>
              <a:rPr lang="zh-CN" altLang="zh-CN" dirty="0"/>
              <a:t>类，创建一个派生类</a:t>
            </a:r>
            <a:r>
              <a:rPr lang="en-US" altLang="zh-CN" dirty="0"/>
              <a:t>Square</a:t>
            </a:r>
            <a:r>
              <a:rPr lang="zh-CN" altLang="zh-CN" dirty="0"/>
              <a:t>。在主函数里创建类对象进行测试。</a:t>
            </a:r>
          </a:p>
          <a:p>
            <a:pPr>
              <a:lnSpc>
                <a:spcPct val="100000"/>
              </a:lnSpc>
              <a:spcBef>
                <a:spcPts val="600"/>
              </a:spcBef>
            </a:pPr>
            <a:endParaRPr lang="zh-CN" altLang="zh-CN" dirty="0"/>
          </a:p>
          <a:p>
            <a:pPr>
              <a:lnSpc>
                <a:spcPct val="100000"/>
              </a:lnSpc>
              <a:spcBef>
                <a:spcPts val="600"/>
              </a:spcBef>
            </a:pPr>
            <a:r>
              <a:rPr lang="en-US" altLang="zh-CN" dirty="0"/>
              <a:t>2</a:t>
            </a:r>
            <a:r>
              <a:rPr lang="zh-CN" altLang="zh-CN" dirty="0"/>
              <a:t>）定义一个复数类</a:t>
            </a:r>
            <a:r>
              <a:rPr lang="en-US" altLang="zh-CN" dirty="0"/>
              <a:t>Complex</a:t>
            </a:r>
            <a:r>
              <a:rPr lang="zh-CN" altLang="zh-CN" dirty="0"/>
              <a:t>，实现</a:t>
            </a:r>
            <a:r>
              <a:rPr lang="en-US" altLang="zh-CN" dirty="0"/>
              <a:t>+</a:t>
            </a:r>
            <a:r>
              <a:rPr lang="zh-CN" altLang="zh-CN" dirty="0"/>
              <a:t>、</a:t>
            </a:r>
            <a:r>
              <a:rPr lang="en-US" altLang="zh-CN" dirty="0"/>
              <a:t>-</a:t>
            </a:r>
            <a:r>
              <a:rPr lang="zh-CN" altLang="zh-CN" dirty="0"/>
              <a:t>、</a:t>
            </a:r>
            <a:r>
              <a:rPr lang="en-US" altLang="zh-CN" dirty="0"/>
              <a:t>*</a:t>
            </a:r>
            <a:r>
              <a:rPr lang="zh-CN" altLang="zh-CN" dirty="0"/>
              <a:t>、</a:t>
            </a:r>
            <a:r>
              <a:rPr lang="en-US" altLang="zh-CN" dirty="0"/>
              <a:t>/</a:t>
            </a:r>
            <a:r>
              <a:rPr lang="zh-CN" altLang="zh-CN" dirty="0"/>
              <a:t>、</a:t>
            </a:r>
            <a:r>
              <a:rPr lang="en-US" altLang="zh-CN" dirty="0"/>
              <a:t>++(</a:t>
            </a:r>
            <a:r>
              <a:rPr lang="zh-CN" altLang="zh-CN" dirty="0"/>
              <a:t>前置</a:t>
            </a:r>
            <a:r>
              <a:rPr lang="en-US" altLang="zh-CN" dirty="0"/>
              <a:t>)</a:t>
            </a:r>
            <a:r>
              <a:rPr lang="zh-CN" altLang="zh-CN" dirty="0"/>
              <a:t>、</a:t>
            </a:r>
            <a:r>
              <a:rPr lang="en-US" altLang="zh-CN" dirty="0"/>
              <a:t>++(</a:t>
            </a:r>
            <a:r>
              <a:rPr lang="zh-CN" altLang="zh-CN" dirty="0"/>
              <a:t>后置</a:t>
            </a:r>
            <a:r>
              <a:rPr lang="en-US" altLang="zh-CN" dirty="0"/>
              <a:t>)</a:t>
            </a:r>
            <a:r>
              <a:rPr lang="zh-CN" altLang="zh-CN" dirty="0"/>
              <a:t>的运算符重载，在主函数里创建类对象进行测试。</a:t>
            </a:r>
          </a:p>
        </p:txBody>
      </p:sp>
    </p:spTree>
    <p:extLst>
      <p:ext uri="{BB962C8B-B14F-4D97-AF65-F5344CB8AC3E}">
        <p14:creationId xmlns:p14="http://schemas.microsoft.com/office/powerpoint/2010/main" val="2837103246"/>
      </p:ext>
    </p:extLst>
  </p:cSld>
  <p:clrMapOvr>
    <a:masterClrMapping/>
  </p:clrMapOvr>
</p:sld>
</file>

<file path=ppt/theme/theme1.xml><?xml version="1.0" encoding="utf-8"?>
<a:theme xmlns:a="http://schemas.openxmlformats.org/drawingml/2006/main" name="www.2ppt.com">
  <a:themeElements>
    <a:clrScheme name="自定义 78">
      <a:dk1>
        <a:srgbClr val="191919"/>
      </a:dk1>
      <a:lt1>
        <a:sysClr val="window" lastClr="FFFFFF"/>
      </a:lt1>
      <a:dk2>
        <a:srgbClr val="EFEFEF"/>
      </a:dk2>
      <a:lt2>
        <a:srgbClr val="2D2D2D"/>
      </a:lt2>
      <a:accent1>
        <a:srgbClr val="104D7E"/>
      </a:accent1>
      <a:accent2>
        <a:srgbClr val="26CCC5"/>
      </a:accent2>
      <a:accent3>
        <a:srgbClr val="1B8DA8"/>
      </a:accent3>
      <a:accent4>
        <a:srgbClr val="104E87"/>
      </a:accent4>
      <a:accent5>
        <a:srgbClr val="4BACC6"/>
      </a:accent5>
      <a:accent6>
        <a:srgbClr val="808684"/>
      </a:accent6>
      <a:hlink>
        <a:srgbClr val="808080"/>
      </a:hlink>
      <a:folHlink>
        <a:srgbClr val="800080"/>
      </a:folHlink>
    </a:clrScheme>
    <a:fontScheme name="Century Gothic">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50718</TotalTime>
  <Words>12025</Words>
  <Application>Microsoft Office PowerPoint</Application>
  <PresentationFormat>宽屏</PresentationFormat>
  <Paragraphs>1782</Paragraphs>
  <Slides>56</Slides>
  <Notes>41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56</vt:i4>
      </vt:variant>
    </vt:vector>
  </HeadingPairs>
  <TitlesOfParts>
    <vt:vector size="69" baseType="lpstr">
      <vt:lpstr>-apple-system</vt:lpstr>
      <vt:lpstr>Helvetica Neue</vt:lpstr>
      <vt:lpstr>Monotype Sorts</vt:lpstr>
      <vt:lpstr>华光淡古印_CNKI</vt:lpstr>
      <vt:lpstr>华光胖头鱼_CNKI</vt:lpstr>
      <vt:lpstr>华光行书_CNKI</vt:lpstr>
      <vt:lpstr>宋体</vt:lpstr>
      <vt:lpstr>Arial</vt:lpstr>
      <vt:lpstr>Calibri</vt:lpstr>
      <vt:lpstr>Comic Sans MS</vt:lpstr>
      <vt:lpstr>Times New Roman</vt:lpstr>
      <vt:lpstr>Wingdings</vt:lpstr>
      <vt:lpstr>www.2ppt.com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www.2ppt.com-爱PPT提供资源下载</dc:title>
  <dc:subject>www.2ppt.com-爱PPT提供资源下载</dc:subject>
  <dc:creator>www.2ppt.com-爱PPT提供资源下载</dc:creator>
  <dc:description>www.2ppt.com-爱PPT提供资源下载</dc:description>
  <cp:lastModifiedBy>帅 方</cp:lastModifiedBy>
  <cp:revision>115</cp:revision>
  <dcterms:created xsi:type="dcterms:W3CDTF">2021-06-17T00:48:49Z</dcterms:created>
  <dcterms:modified xsi:type="dcterms:W3CDTF">2024-11-18T07:50:23Z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y fmtid="{D5CDD505-2E9C-101B-9397-08002B2CF9AE}" pid="3" name="ICV">
    <vt:lpwstr>40B5B57ECECA411187AECB4299FD3BFC</vt:lpwstr>
  </property>
  <property fmtid="{D5CDD505-2E9C-101B-9397-08002B2CF9AE}" pid="4" name="KSOProductBuildVer">
    <vt:lpwstr>2052-11.1.0.10577</vt:lpwstr>
  </property>
  <property fmtid="{A09F084E-AD41-489F-8076-AA5BE3082BCA}" pid="100">
    <vt:ui4>5</vt:ui4>
  </property>
  <property fmtid="{64440492-4C8B-11D1-8B70-080036B11A03}" pid="11">
    <vt:lpwstr>www.2ppt.com-爱PPT提供资源下载</vt:lpwstr>
  </property>
</Properties>
</file>