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handoutMasterIdLst>
    <p:handoutMasterId r:id="rId25"/>
  </p:handoutMasterIdLst>
  <p:sldIdLst>
    <p:sldId id="258" r:id="rId2"/>
    <p:sldId id="256" r:id="rId3"/>
    <p:sldId id="290" r:id="rId4"/>
    <p:sldId id="603" r:id="rId5"/>
    <p:sldId id="296" r:id="rId6"/>
    <p:sldId id="339" r:id="rId7"/>
    <p:sldId id="308" r:id="rId8"/>
    <p:sldId id="302" r:id="rId9"/>
    <p:sldId id="305" r:id="rId10"/>
    <p:sldId id="309" r:id="rId11"/>
    <p:sldId id="604" r:id="rId12"/>
    <p:sldId id="340" r:id="rId13"/>
    <p:sldId id="615" r:id="rId14"/>
    <p:sldId id="341" r:id="rId15"/>
    <p:sldId id="343" r:id="rId16"/>
    <p:sldId id="616" r:id="rId17"/>
    <p:sldId id="612" r:id="rId18"/>
    <p:sldId id="617" r:id="rId19"/>
    <p:sldId id="608" r:id="rId20"/>
    <p:sldId id="304" r:id="rId21"/>
    <p:sldId id="611" r:id="rId22"/>
    <p:sldId id="310" r:id="rId23"/>
  </p:sldIdLst>
  <p:sldSz cx="12192000" cy="6858000"/>
  <p:notesSz cx="6858000" cy="9144000"/>
  <p:defaultTextStyle>
    <a:defPPr>
      <a:defRPr lang="en-US"/>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8000" algn="l" defTabSz="609600" rtl="0" eaLnBrk="1" latinLnBrk="0" hangingPunct="1">
      <a:defRPr sz="2400" kern="1200">
        <a:solidFill>
          <a:schemeClr val="tx1"/>
        </a:solidFill>
        <a:latin typeface="+mn-lt"/>
        <a:ea typeface="+mn-ea"/>
        <a:cs typeface="+mn-cs"/>
      </a:defRPr>
    </a:lvl6pPr>
    <a:lvl7pPr marL="3657600" algn="l" defTabSz="609600" rtl="0" eaLnBrk="1" latinLnBrk="0" hangingPunct="1">
      <a:defRPr sz="2400" kern="1200">
        <a:solidFill>
          <a:schemeClr val="tx1"/>
        </a:solidFill>
        <a:latin typeface="+mn-lt"/>
        <a:ea typeface="+mn-ea"/>
        <a:cs typeface="+mn-cs"/>
      </a:defRPr>
    </a:lvl7pPr>
    <a:lvl8pPr marL="4267200" algn="l" defTabSz="609600" rtl="0" eaLnBrk="1" latinLnBrk="0" hangingPunct="1">
      <a:defRPr sz="2400" kern="1200">
        <a:solidFill>
          <a:schemeClr val="tx1"/>
        </a:solidFill>
        <a:latin typeface="+mn-lt"/>
        <a:ea typeface="+mn-ea"/>
        <a:cs typeface="+mn-cs"/>
      </a:defRPr>
    </a:lvl8pPr>
    <a:lvl9pPr marL="4876800" algn="l" defTabSz="60960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9FB95D0-CFA1-4186-9476-4BB1D2005734}">
          <p14:sldIdLst>
            <p14:sldId id="258"/>
            <p14:sldId id="256"/>
            <p14:sldId id="290"/>
            <p14:sldId id="603"/>
            <p14:sldId id="296"/>
            <p14:sldId id="339"/>
            <p14:sldId id="308"/>
            <p14:sldId id="302"/>
            <p14:sldId id="305"/>
            <p14:sldId id="309"/>
            <p14:sldId id="604"/>
            <p14:sldId id="340"/>
            <p14:sldId id="615"/>
            <p14:sldId id="341"/>
            <p14:sldId id="343"/>
            <p14:sldId id="616"/>
            <p14:sldId id="612"/>
            <p14:sldId id="617"/>
            <p14:sldId id="608"/>
            <p14:sldId id="304"/>
            <p14:sldId id="611"/>
          </p14:sldIdLst>
        </p14:section>
        <p14:section name="无标题节" id="{F66907B6-572A-4C8C-B32F-18E8874DE5F6}">
          <p14:sldIdLst>
            <p14:sldId id="31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4E87"/>
    <a:srgbClr val="EFEFEF"/>
    <a:srgbClr val="134F85"/>
    <a:srgbClr val="E73A1C"/>
    <a:srgbClr val="166DBC"/>
    <a:srgbClr val="4BACC6"/>
    <a:srgbClr val="26CCC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79224" autoAdjust="0"/>
  </p:normalViewPr>
  <p:slideViewPr>
    <p:cSldViewPr snapToGrid="0" snapToObjects="1">
      <p:cViewPr varScale="1">
        <p:scale>
          <a:sx n="65" d="100"/>
          <a:sy n="65" d="100"/>
        </p:scale>
        <p:origin x="278" y="43"/>
      </p:cViewPr>
      <p:guideLst>
        <p:guide orient="horz" pos="2160"/>
        <p:guide pos="3840"/>
      </p:guideLst>
    </p:cSldViewPr>
  </p:slideViewPr>
  <p:notesTextViewPr>
    <p:cViewPr>
      <p:scale>
        <a:sx n="100" d="100"/>
        <a:sy n="100" d="100"/>
      </p:scale>
      <p:origin x="0" y="0"/>
    </p:cViewPr>
  </p:notesTextViewPr>
  <p:sorterViewPr>
    <p:cViewPr>
      <p:scale>
        <a:sx n="149" d="100"/>
        <a:sy n="149"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2024/11/27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D7CE4F-55EC-46C0-A1F9-6BD8F4BE0E6B}" type="datetimeFigureOut">
              <a:rPr lang="zh-CN" altLang="en-US" smtClean="0"/>
              <a:t>2024/11/27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ABDA6A-29CD-4D28-B6EA-E8D4FFDF604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55555555555555555555</a:t>
            </a:r>
          </a:p>
        </p:txBody>
      </p:sp>
      <p:sp>
        <p:nvSpPr>
          <p:cNvPr id="4" name="灯片编号占位符 3"/>
          <p:cNvSpPr>
            <a:spLocks noGrp="1"/>
          </p:cNvSpPr>
          <p:nvPr>
            <p:ph type="sldNum" sz="quarter" idx="5"/>
          </p:nvPr>
        </p:nvSpPr>
        <p:spPr/>
        <p:txBody>
          <a:bodyPr/>
          <a:lstStyle/>
          <a:p>
            <a:fld id="{A8ABDA6A-29CD-4D28-B6EA-E8D4FFDF6043}" type="slidenum">
              <a:rPr lang="zh-CN" altLang="en-US" smtClean="0"/>
              <a:t>1</a:t>
            </a:fld>
            <a:endParaRPr lang="zh-CN" altLang="en-US"/>
          </a:p>
        </p:txBody>
      </p:sp>
    </p:spTree>
    <p:extLst>
      <p:ext uri="{BB962C8B-B14F-4D97-AF65-F5344CB8AC3E}">
        <p14:creationId xmlns:p14="http://schemas.microsoft.com/office/powerpoint/2010/main" val="1207823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i="0" dirty="0">
              <a:solidFill>
                <a:srgbClr val="333333"/>
              </a:solidFill>
              <a:effectLst/>
              <a:latin typeface="Helvetica Neue"/>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2</a:t>
            </a:fld>
            <a:endParaRPr lang="zh-CN" altLang="en-US"/>
          </a:p>
        </p:txBody>
      </p:sp>
    </p:spTree>
    <p:extLst>
      <p:ext uri="{BB962C8B-B14F-4D97-AF65-F5344CB8AC3E}">
        <p14:creationId xmlns:p14="http://schemas.microsoft.com/office/powerpoint/2010/main" val="957685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3</a:t>
            </a:fld>
            <a:endParaRPr lang="zh-CN" altLang="en-US"/>
          </a:p>
        </p:txBody>
      </p:sp>
    </p:spTree>
    <p:extLst>
      <p:ext uri="{BB962C8B-B14F-4D97-AF65-F5344CB8AC3E}">
        <p14:creationId xmlns:p14="http://schemas.microsoft.com/office/powerpoint/2010/main" val="2658973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4</a:t>
            </a:fld>
            <a:endParaRPr lang="zh-CN" altLang="en-US"/>
          </a:p>
        </p:txBody>
      </p:sp>
    </p:spTree>
    <p:extLst>
      <p:ext uri="{BB962C8B-B14F-4D97-AF65-F5344CB8AC3E}">
        <p14:creationId xmlns:p14="http://schemas.microsoft.com/office/powerpoint/2010/main" val="2730667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5</a:t>
            </a:fld>
            <a:endParaRPr lang="zh-CN" altLang="en-US"/>
          </a:p>
        </p:txBody>
      </p:sp>
    </p:spTree>
    <p:extLst>
      <p:ext uri="{BB962C8B-B14F-4D97-AF65-F5344CB8AC3E}">
        <p14:creationId xmlns:p14="http://schemas.microsoft.com/office/powerpoint/2010/main" val="1414194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6</a:t>
            </a:fld>
            <a:endParaRPr lang="zh-CN" altLang="en-US"/>
          </a:p>
        </p:txBody>
      </p:sp>
    </p:spTree>
    <p:extLst>
      <p:ext uri="{BB962C8B-B14F-4D97-AF65-F5344CB8AC3E}">
        <p14:creationId xmlns:p14="http://schemas.microsoft.com/office/powerpoint/2010/main" val="1337477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7</a:t>
            </a:fld>
            <a:endParaRPr lang="zh-CN" altLang="en-US"/>
          </a:p>
        </p:txBody>
      </p:sp>
    </p:spTree>
    <p:extLst>
      <p:ext uri="{BB962C8B-B14F-4D97-AF65-F5344CB8AC3E}">
        <p14:creationId xmlns:p14="http://schemas.microsoft.com/office/powerpoint/2010/main" val="30055877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&lt;iostream&gt;</a:t>
            </a:r>
          </a:p>
          <a:p>
            <a:r>
              <a:rPr lang="en-US" altLang="zh-CN" dirty="0"/>
              <a:t>using namespace std; </a:t>
            </a:r>
          </a:p>
          <a:p>
            <a:endParaRPr lang="en-US" altLang="zh-CN" dirty="0"/>
          </a:p>
          <a:p>
            <a:r>
              <a:rPr lang="en-US" altLang="zh-CN" dirty="0"/>
              <a:t>template &lt;class T&gt;</a:t>
            </a:r>
          </a:p>
          <a:p>
            <a:r>
              <a:rPr lang="en-US" altLang="zh-CN" dirty="0"/>
              <a:t>void </a:t>
            </a:r>
            <a:r>
              <a:rPr lang="en-US" altLang="zh-CN" dirty="0" err="1"/>
              <a:t>insertionSort</a:t>
            </a:r>
            <a:r>
              <a:rPr lang="en-US" altLang="zh-CN" dirty="0"/>
              <a:t>(T a[], int n) {</a:t>
            </a:r>
          </a:p>
          <a:p>
            <a:r>
              <a:rPr lang="en-US" altLang="zh-CN" dirty="0"/>
              <a:t>	int </a:t>
            </a:r>
            <a:r>
              <a:rPr lang="en-US" altLang="zh-CN" dirty="0" err="1"/>
              <a:t>i</a:t>
            </a:r>
            <a:r>
              <a:rPr lang="en-US" altLang="zh-CN" dirty="0"/>
              <a:t>, j;</a:t>
            </a:r>
          </a:p>
          <a:p>
            <a:r>
              <a:rPr lang="en-US" altLang="zh-CN" dirty="0"/>
              <a:t>	T temp;</a:t>
            </a:r>
          </a:p>
          <a:p>
            <a:r>
              <a:rPr lang="en-US" altLang="zh-CN" dirty="0"/>
              <a:t>	for (int </a:t>
            </a:r>
            <a:r>
              <a:rPr lang="en-US" altLang="zh-CN" dirty="0" err="1"/>
              <a:t>i</a:t>
            </a:r>
            <a:r>
              <a:rPr lang="en-US" altLang="zh-CN" dirty="0"/>
              <a:t> = 1; </a:t>
            </a:r>
            <a:r>
              <a:rPr lang="en-US" altLang="zh-CN" dirty="0" err="1"/>
              <a:t>i</a:t>
            </a:r>
            <a:r>
              <a:rPr lang="en-US" altLang="zh-CN" dirty="0"/>
              <a:t> &lt; n; </a:t>
            </a:r>
            <a:r>
              <a:rPr lang="en-US" altLang="zh-CN" dirty="0" err="1"/>
              <a:t>i</a:t>
            </a:r>
            <a:r>
              <a:rPr lang="en-US" altLang="zh-CN" dirty="0"/>
              <a:t>++) {		</a:t>
            </a:r>
          </a:p>
          <a:p>
            <a:r>
              <a:rPr lang="en-US" altLang="zh-CN" dirty="0"/>
              <a:t>		int j = </a:t>
            </a:r>
            <a:r>
              <a:rPr lang="en-US" altLang="zh-CN" dirty="0" err="1"/>
              <a:t>i</a:t>
            </a:r>
            <a:r>
              <a:rPr lang="en-US" altLang="zh-CN" dirty="0"/>
              <a:t>;</a:t>
            </a:r>
          </a:p>
          <a:p>
            <a:r>
              <a:rPr lang="en-US" altLang="zh-CN" dirty="0"/>
              <a:t>		T temp = a[</a:t>
            </a:r>
            <a:r>
              <a:rPr lang="en-US" altLang="zh-CN" dirty="0" err="1"/>
              <a:t>i</a:t>
            </a:r>
            <a:r>
              <a:rPr lang="en-US" altLang="zh-CN" dirty="0"/>
              <a:t>];</a:t>
            </a:r>
          </a:p>
          <a:p>
            <a:r>
              <a:rPr lang="en-US" altLang="zh-CN" dirty="0"/>
              <a:t>		while (j &gt; 0 &amp;&amp; temp &lt; a[j - 1]) {</a:t>
            </a:r>
          </a:p>
          <a:p>
            <a:r>
              <a:rPr lang="en-US" altLang="zh-CN" dirty="0"/>
              <a:t>			a[j] = a[j - 1];</a:t>
            </a:r>
          </a:p>
          <a:p>
            <a:r>
              <a:rPr lang="en-US" altLang="zh-CN" dirty="0"/>
              <a:t>			j--;</a:t>
            </a:r>
          </a:p>
          <a:p>
            <a:r>
              <a:rPr lang="en-US" altLang="zh-CN" dirty="0"/>
              <a:t>		}</a:t>
            </a:r>
          </a:p>
          <a:p>
            <a:r>
              <a:rPr lang="en-US" altLang="zh-CN" dirty="0"/>
              <a:t>		a[j] = temp;</a:t>
            </a:r>
          </a:p>
          <a:p>
            <a:r>
              <a:rPr lang="en-US" altLang="zh-CN" dirty="0"/>
              <a:t>	}</a:t>
            </a:r>
          </a:p>
          <a:p>
            <a:r>
              <a:rPr lang="en-US" altLang="zh-CN" dirty="0"/>
              <a:t>}</a:t>
            </a:r>
          </a:p>
          <a:p>
            <a:endParaRPr lang="en-US" altLang="zh-CN" dirty="0"/>
          </a:p>
          <a:p>
            <a:r>
              <a:rPr lang="en-US" altLang="zh-CN" dirty="0"/>
              <a:t>int main(){</a:t>
            </a:r>
          </a:p>
          <a:p>
            <a:r>
              <a:rPr lang="en-US" altLang="zh-CN" dirty="0"/>
              <a:t>	int data[] = {5,4,10,20,12,3};</a:t>
            </a:r>
          </a:p>
          <a:p>
            <a:r>
              <a:rPr lang="en-US" altLang="zh-CN" dirty="0"/>
              <a:t>	</a:t>
            </a:r>
            <a:r>
              <a:rPr lang="en-US" altLang="zh-CN" dirty="0" err="1"/>
              <a:t>insertionSort</a:t>
            </a:r>
            <a:r>
              <a:rPr lang="en-US" altLang="zh-CN" dirty="0"/>
              <a:t>(data, 6);</a:t>
            </a:r>
          </a:p>
          <a:p>
            <a:r>
              <a:rPr lang="en-US" altLang="zh-CN" dirty="0"/>
              <a:t>	for(int </a:t>
            </a:r>
            <a:r>
              <a:rPr lang="en-US" altLang="zh-CN" dirty="0" err="1"/>
              <a:t>i</a:t>
            </a:r>
            <a:r>
              <a:rPr lang="en-US" altLang="zh-CN" dirty="0"/>
              <a:t>=0;i&lt;6;i++) </a:t>
            </a:r>
            <a:r>
              <a:rPr lang="en-US" altLang="zh-CN" dirty="0" err="1"/>
              <a:t>cout</a:t>
            </a:r>
            <a:r>
              <a:rPr lang="en-US" altLang="zh-CN" dirty="0"/>
              <a:t>&lt;&lt;data[</a:t>
            </a:r>
            <a:r>
              <a:rPr lang="en-US" altLang="zh-CN" dirty="0" err="1"/>
              <a:t>i</a:t>
            </a:r>
            <a:r>
              <a:rPr lang="en-US" altLang="zh-CN" dirty="0"/>
              <a:t>]&lt;&lt;" ";</a:t>
            </a:r>
          </a:p>
          <a:p>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8</a:t>
            </a:fld>
            <a:endParaRPr lang="zh-CN" altLang="en-US"/>
          </a:p>
        </p:txBody>
      </p:sp>
    </p:spTree>
    <p:extLst>
      <p:ext uri="{BB962C8B-B14F-4D97-AF65-F5344CB8AC3E}">
        <p14:creationId xmlns:p14="http://schemas.microsoft.com/office/powerpoint/2010/main" val="1907440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&lt;iostream&gt;</a:t>
            </a:r>
          </a:p>
          <a:p>
            <a:r>
              <a:rPr lang="en-US" altLang="zh-CN" dirty="0"/>
              <a:t>using namespace std; </a:t>
            </a:r>
          </a:p>
          <a:p>
            <a:endParaRPr lang="en-US" altLang="zh-CN" dirty="0"/>
          </a:p>
          <a:p>
            <a:r>
              <a:rPr lang="en-US" altLang="zh-CN" dirty="0"/>
              <a:t>template &lt;class T&gt;</a:t>
            </a:r>
          </a:p>
          <a:p>
            <a:r>
              <a:rPr lang="en-US" altLang="zh-CN" dirty="0"/>
              <a:t>int </a:t>
            </a:r>
            <a:r>
              <a:rPr lang="en-US" altLang="zh-CN" dirty="0" err="1"/>
              <a:t>seqSearch</a:t>
            </a:r>
            <a:r>
              <a:rPr lang="en-US" altLang="zh-CN" dirty="0"/>
              <a:t>(const T list[], int n, const T &amp;key) {</a:t>
            </a:r>
          </a:p>
          <a:p>
            <a:r>
              <a:rPr lang="en-US" altLang="zh-CN" dirty="0"/>
              <a:t>	for(int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a:t>
            </a:r>
          </a:p>
          <a:p>
            <a:r>
              <a:rPr lang="en-US" altLang="zh-CN" dirty="0"/>
              <a:t>		if (list[</a:t>
            </a:r>
            <a:r>
              <a:rPr lang="en-US" altLang="zh-CN" dirty="0" err="1"/>
              <a:t>i</a:t>
            </a:r>
            <a:r>
              <a:rPr lang="en-US" altLang="zh-CN" dirty="0"/>
              <a:t>] == key)</a:t>
            </a:r>
          </a:p>
          <a:p>
            <a:r>
              <a:rPr lang="en-US" altLang="zh-CN" dirty="0"/>
              <a:t>			return </a:t>
            </a:r>
            <a:r>
              <a:rPr lang="en-US" altLang="zh-CN" dirty="0" err="1"/>
              <a:t>i</a:t>
            </a:r>
            <a:r>
              <a:rPr lang="en-US" altLang="zh-CN" dirty="0"/>
              <a:t>;            </a:t>
            </a:r>
          </a:p>
          <a:p>
            <a:r>
              <a:rPr lang="en-US" altLang="zh-CN" dirty="0"/>
              <a:t>	return -1;                 </a:t>
            </a:r>
          </a:p>
          <a:p>
            <a:r>
              <a:rPr lang="en-US" altLang="zh-CN" dirty="0"/>
              <a:t>}</a:t>
            </a:r>
          </a:p>
          <a:p>
            <a:endParaRPr lang="en-US" altLang="zh-CN" dirty="0"/>
          </a:p>
          <a:p>
            <a:r>
              <a:rPr lang="en-US" altLang="zh-CN" dirty="0"/>
              <a:t>int main(){</a:t>
            </a:r>
          </a:p>
          <a:p>
            <a:r>
              <a:rPr lang="en-US" altLang="zh-CN" dirty="0"/>
              <a:t>	int data[] = {5,4,10,20,12,3};</a:t>
            </a:r>
          </a:p>
          <a:p>
            <a:r>
              <a:rPr lang="en-US" altLang="zh-CN" dirty="0"/>
              <a:t>	</a:t>
            </a:r>
            <a:r>
              <a:rPr lang="en-US" altLang="zh-CN" dirty="0" err="1"/>
              <a:t>cout</a:t>
            </a:r>
            <a:r>
              <a:rPr lang="en-US" altLang="zh-CN" dirty="0"/>
              <a:t>&lt;&lt;data[</a:t>
            </a:r>
            <a:r>
              <a:rPr lang="en-US" altLang="zh-CN" dirty="0" err="1"/>
              <a:t>seqSearch</a:t>
            </a:r>
            <a:r>
              <a:rPr lang="en-US" altLang="zh-CN" dirty="0"/>
              <a:t>(data, 6,20)];</a:t>
            </a:r>
          </a:p>
          <a:p>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9</a:t>
            </a:fld>
            <a:endParaRPr lang="zh-CN" altLang="en-US"/>
          </a:p>
        </p:txBody>
      </p:sp>
    </p:spTree>
    <p:extLst>
      <p:ext uri="{BB962C8B-B14F-4D97-AF65-F5344CB8AC3E}">
        <p14:creationId xmlns:p14="http://schemas.microsoft.com/office/powerpoint/2010/main" val="4145455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10</a:t>
            </a:fld>
            <a:endParaRPr lang="zh-CN" altLang="en-US"/>
          </a:p>
        </p:txBody>
      </p:sp>
    </p:spTree>
    <p:extLst>
      <p:ext uri="{BB962C8B-B14F-4D97-AF65-F5344CB8AC3E}">
        <p14:creationId xmlns:p14="http://schemas.microsoft.com/office/powerpoint/2010/main" val="193738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11</a:t>
            </a:fld>
            <a:endParaRPr lang="zh-CN" altLang="en-US"/>
          </a:p>
        </p:txBody>
      </p:sp>
    </p:spTree>
    <p:extLst>
      <p:ext uri="{BB962C8B-B14F-4D97-AF65-F5344CB8AC3E}">
        <p14:creationId xmlns:p14="http://schemas.microsoft.com/office/powerpoint/2010/main" val="55161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12</a:t>
            </a:fld>
            <a:endParaRPr lang="zh-CN" altLang="en-US"/>
          </a:p>
        </p:txBody>
      </p:sp>
    </p:spTree>
    <p:extLst>
      <p:ext uri="{BB962C8B-B14F-4D97-AF65-F5344CB8AC3E}">
        <p14:creationId xmlns:p14="http://schemas.microsoft.com/office/powerpoint/2010/main" val="8130199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13</a:t>
            </a:fld>
            <a:endParaRPr lang="zh-CN" altLang="en-US"/>
          </a:p>
        </p:txBody>
      </p:sp>
    </p:spTree>
    <p:extLst>
      <p:ext uri="{BB962C8B-B14F-4D97-AF65-F5344CB8AC3E}">
        <p14:creationId xmlns:p14="http://schemas.microsoft.com/office/powerpoint/2010/main" val="2534613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latin typeface="Arial" panose="020B0604020202020204" pitchFamily="34" charset="0"/>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14</a:t>
            </a:fld>
            <a:endParaRPr lang="zh-CN" altLang="en-US"/>
          </a:p>
        </p:txBody>
      </p:sp>
    </p:spTree>
    <p:extLst>
      <p:ext uri="{BB962C8B-B14F-4D97-AF65-F5344CB8AC3E}">
        <p14:creationId xmlns:p14="http://schemas.microsoft.com/office/powerpoint/2010/main" val="2128339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&lt;iostream&gt;</a:t>
            </a:r>
          </a:p>
          <a:p>
            <a:r>
              <a:rPr lang="en-US" altLang="zh-CN" dirty="0"/>
              <a:t>#include &lt;</a:t>
            </a:r>
            <a:r>
              <a:rPr lang="en-US" altLang="zh-CN" dirty="0" err="1"/>
              <a:t>cassert</a:t>
            </a:r>
            <a:r>
              <a:rPr lang="en-US" altLang="zh-CN" dirty="0"/>
              <a:t>&gt;</a:t>
            </a:r>
          </a:p>
          <a:p>
            <a:r>
              <a:rPr lang="en-US" altLang="zh-CN" dirty="0"/>
              <a:t>using namespace std; </a:t>
            </a:r>
          </a:p>
          <a:p>
            <a:endParaRPr lang="en-US" altLang="zh-CN" dirty="0"/>
          </a:p>
          <a:p>
            <a:r>
              <a:rPr lang="en-US" altLang="zh-CN" dirty="0"/>
              <a:t>template &lt;class T&gt;	</a:t>
            </a:r>
          </a:p>
          <a:p>
            <a:r>
              <a:rPr lang="en-US" altLang="zh-CN" dirty="0"/>
              <a:t>class Array {</a:t>
            </a:r>
          </a:p>
          <a:p>
            <a:r>
              <a:rPr lang="en-US" altLang="zh-CN" dirty="0"/>
              <a:t>private:</a:t>
            </a:r>
          </a:p>
          <a:p>
            <a:r>
              <a:rPr lang="en-US" altLang="zh-CN" dirty="0"/>
              <a:t>	T* list;		</a:t>
            </a:r>
          </a:p>
          <a:p>
            <a:r>
              <a:rPr lang="en-US" altLang="zh-CN" dirty="0"/>
              <a:t>	int size;		</a:t>
            </a:r>
          </a:p>
          <a:p>
            <a:r>
              <a:rPr lang="en-US" altLang="zh-CN" dirty="0"/>
              <a:t>public:</a:t>
            </a:r>
          </a:p>
          <a:p>
            <a:r>
              <a:rPr lang="en-US" altLang="zh-CN" dirty="0"/>
              <a:t>	Array(int </a:t>
            </a:r>
            <a:r>
              <a:rPr lang="en-US" altLang="zh-CN" dirty="0" err="1"/>
              <a:t>sz</a:t>
            </a:r>
            <a:r>
              <a:rPr lang="en-US" altLang="zh-CN" dirty="0"/>
              <a:t> = 50);		</a:t>
            </a:r>
          </a:p>
          <a:p>
            <a:r>
              <a:rPr lang="en-US" altLang="zh-CN" dirty="0"/>
              <a:t>	Array(const Array&lt;T&gt; &amp;a);	</a:t>
            </a:r>
          </a:p>
          <a:p>
            <a:r>
              <a:rPr lang="en-US" altLang="zh-CN" dirty="0"/>
              <a:t>	~Array();			</a:t>
            </a:r>
          </a:p>
          <a:p>
            <a:r>
              <a:rPr lang="en-US" altLang="zh-CN" dirty="0"/>
              <a:t>	Array&lt;T&gt; &amp; operator = (const Array&lt;T&gt; &amp;</a:t>
            </a:r>
            <a:r>
              <a:rPr lang="en-US" altLang="zh-CN" dirty="0" err="1"/>
              <a:t>rhs</a:t>
            </a:r>
            <a:r>
              <a:rPr lang="en-US" altLang="zh-CN" dirty="0"/>
              <a:t>); </a:t>
            </a:r>
          </a:p>
          <a:p>
            <a:r>
              <a:rPr lang="en-US" altLang="zh-CN" dirty="0"/>
              <a:t>	T&amp; operator[](int </a:t>
            </a:r>
            <a:r>
              <a:rPr lang="en-US" altLang="zh-CN" dirty="0" err="1"/>
              <a:t>i</a:t>
            </a:r>
            <a:r>
              <a:rPr lang="en-US" altLang="zh-CN" dirty="0"/>
              <a:t>); </a:t>
            </a:r>
          </a:p>
          <a:p>
            <a:r>
              <a:rPr lang="en-US" altLang="zh-CN" dirty="0"/>
              <a:t>	const T &amp; operator [] (int </a:t>
            </a:r>
            <a:r>
              <a:rPr lang="en-US" altLang="zh-CN" dirty="0" err="1"/>
              <a:t>i</a:t>
            </a:r>
            <a:r>
              <a:rPr lang="en-US" altLang="zh-CN" dirty="0"/>
              <a:t>) const;	</a:t>
            </a:r>
          </a:p>
          <a:p>
            <a:r>
              <a:rPr lang="en-US" altLang="zh-CN" dirty="0"/>
              <a:t>	operator T * ();		//</a:t>
            </a:r>
            <a:r>
              <a:rPr lang="zh-CN" altLang="en-US" dirty="0"/>
              <a:t>重载到</a:t>
            </a:r>
            <a:r>
              <a:rPr lang="en-US" altLang="zh-CN" dirty="0"/>
              <a:t>T*</a:t>
            </a:r>
            <a:r>
              <a:rPr lang="zh-CN" altLang="en-US" dirty="0"/>
              <a:t>类型的转换</a:t>
            </a:r>
          </a:p>
          <a:p>
            <a:r>
              <a:rPr lang="zh-CN" altLang="en-US" dirty="0"/>
              <a:t>	</a:t>
            </a:r>
            <a:r>
              <a:rPr lang="en-US" altLang="zh-CN" dirty="0"/>
              <a:t>operator const T * () const;</a:t>
            </a:r>
          </a:p>
          <a:p>
            <a:r>
              <a:rPr lang="en-US" altLang="zh-CN" dirty="0"/>
              <a:t>	int </a:t>
            </a:r>
            <a:r>
              <a:rPr lang="en-US" altLang="zh-CN" dirty="0" err="1"/>
              <a:t>getSize</a:t>
            </a:r>
            <a:r>
              <a:rPr lang="en-US" altLang="zh-CN" dirty="0"/>
              <a:t>() const;		//</a:t>
            </a:r>
            <a:r>
              <a:rPr lang="zh-CN" altLang="en-US" dirty="0"/>
              <a:t>取数组的大小</a:t>
            </a:r>
          </a:p>
          <a:p>
            <a:r>
              <a:rPr lang="zh-CN" altLang="en-US" dirty="0"/>
              <a:t>	</a:t>
            </a:r>
            <a:r>
              <a:rPr lang="en-US" altLang="zh-CN" dirty="0"/>
              <a:t>void resize(int </a:t>
            </a:r>
            <a:r>
              <a:rPr lang="en-US" altLang="zh-CN" dirty="0" err="1"/>
              <a:t>sz</a:t>
            </a:r>
            <a:r>
              <a:rPr lang="en-US" altLang="zh-CN" dirty="0"/>
              <a:t>);		//</a:t>
            </a:r>
            <a:r>
              <a:rPr lang="zh-CN" altLang="en-US" dirty="0"/>
              <a:t>修改数组的大小</a:t>
            </a:r>
          </a:p>
          <a:p>
            <a:r>
              <a:rPr lang="zh-CN" altLang="en-US" dirty="0"/>
              <a:t>	</a:t>
            </a:r>
            <a:r>
              <a:rPr lang="en-US" altLang="zh-CN" dirty="0"/>
              <a:t>void sort();		// </a:t>
            </a:r>
            <a:r>
              <a:rPr lang="zh-CN" altLang="en-US" dirty="0"/>
              <a:t>冒泡排序</a:t>
            </a:r>
          </a:p>
          <a:p>
            <a:r>
              <a:rPr lang="zh-CN" altLang="en-US" dirty="0"/>
              <a:t>	</a:t>
            </a:r>
            <a:r>
              <a:rPr lang="en-US" altLang="zh-CN" dirty="0"/>
              <a:t>int seek(T key);	// </a:t>
            </a:r>
            <a:r>
              <a:rPr lang="zh-CN" altLang="en-US" dirty="0"/>
              <a:t>检索</a:t>
            </a:r>
          </a:p>
          <a:p>
            <a:r>
              <a:rPr lang="zh-CN" altLang="en-US" dirty="0"/>
              <a:t>	</a:t>
            </a:r>
            <a:r>
              <a:rPr lang="en-US" altLang="zh-CN" dirty="0"/>
              <a:t>T sum();	          // </a:t>
            </a:r>
            <a:r>
              <a:rPr lang="zh-CN" altLang="en-US" dirty="0"/>
              <a:t>求和</a:t>
            </a:r>
          </a:p>
          <a:p>
            <a:endParaRPr lang="zh-CN" altLang="en-US" dirty="0"/>
          </a:p>
          <a:p>
            <a:r>
              <a:rPr lang="en-US" altLang="zh-CN" dirty="0"/>
              <a:t>};</a:t>
            </a:r>
          </a:p>
          <a:p>
            <a:r>
              <a:rPr lang="en-US" altLang="zh-CN" dirty="0"/>
              <a:t>template &lt;class T&gt;  T Array&lt;T&gt;::sum()</a:t>
            </a:r>
          </a:p>
          <a:p>
            <a:r>
              <a:rPr lang="en-US" altLang="zh-CN" dirty="0"/>
              <a:t>{	T	s=0;</a:t>
            </a:r>
          </a:p>
          <a:p>
            <a:r>
              <a:rPr lang="en-US" altLang="zh-CN" dirty="0"/>
              <a:t>	for (int </a:t>
            </a:r>
            <a:r>
              <a:rPr lang="en-US" altLang="zh-CN" dirty="0" err="1"/>
              <a:t>i</a:t>
            </a:r>
            <a:r>
              <a:rPr lang="en-US" altLang="zh-CN" dirty="0"/>
              <a:t>=0; </a:t>
            </a:r>
            <a:r>
              <a:rPr lang="en-US" altLang="zh-CN" dirty="0" err="1"/>
              <a:t>i</a:t>
            </a:r>
            <a:r>
              <a:rPr lang="en-US" altLang="zh-CN" dirty="0"/>
              <a:t>&lt;size; </a:t>
            </a:r>
            <a:r>
              <a:rPr lang="en-US" altLang="zh-CN" dirty="0" err="1"/>
              <a:t>i</a:t>
            </a:r>
            <a:r>
              <a:rPr lang="en-US" altLang="zh-CN" dirty="0"/>
              <a:t>++)</a:t>
            </a:r>
          </a:p>
          <a:p>
            <a:r>
              <a:rPr lang="en-US" altLang="zh-CN" dirty="0"/>
              <a:t>		s+= list[</a:t>
            </a:r>
            <a:r>
              <a:rPr lang="en-US" altLang="zh-CN" dirty="0" err="1"/>
              <a:t>i</a:t>
            </a:r>
            <a:r>
              <a:rPr lang="en-US" altLang="zh-CN" dirty="0"/>
              <a:t>];</a:t>
            </a:r>
          </a:p>
          <a:p>
            <a:r>
              <a:rPr lang="en-US" altLang="zh-CN" dirty="0"/>
              <a:t>	return s;</a:t>
            </a:r>
          </a:p>
          <a:p>
            <a:r>
              <a:rPr lang="en-US" altLang="zh-CN" dirty="0"/>
              <a:t>}    </a:t>
            </a:r>
          </a:p>
          <a:p>
            <a:endParaRPr lang="en-US" altLang="zh-CN" dirty="0"/>
          </a:p>
          <a:p>
            <a:r>
              <a:rPr lang="en-US" altLang="zh-CN" dirty="0"/>
              <a:t>template &lt;class T&gt; int Array&lt;T&gt;::seek(T key)</a:t>
            </a:r>
          </a:p>
          <a:p>
            <a:r>
              <a:rPr lang="en-US" altLang="zh-CN" dirty="0"/>
              <a:t>{for (int </a:t>
            </a:r>
            <a:r>
              <a:rPr lang="en-US" altLang="zh-CN" dirty="0" err="1"/>
              <a:t>i</a:t>
            </a:r>
            <a:r>
              <a:rPr lang="en-US" altLang="zh-CN" dirty="0"/>
              <a:t>=0; </a:t>
            </a:r>
            <a:r>
              <a:rPr lang="en-US" altLang="zh-CN" dirty="0" err="1"/>
              <a:t>i</a:t>
            </a:r>
            <a:r>
              <a:rPr lang="en-US" altLang="zh-CN" dirty="0"/>
              <a:t>&lt;size; </a:t>
            </a:r>
            <a:r>
              <a:rPr lang="en-US" altLang="zh-CN" dirty="0" err="1"/>
              <a:t>i</a:t>
            </a:r>
            <a:r>
              <a:rPr lang="en-US" altLang="zh-CN" dirty="0"/>
              <a:t>++)</a:t>
            </a:r>
          </a:p>
          <a:p>
            <a:r>
              <a:rPr lang="en-US" altLang="zh-CN" dirty="0"/>
              <a:t>	if (list[</a:t>
            </a:r>
            <a:r>
              <a:rPr lang="en-US" altLang="zh-CN" dirty="0" err="1"/>
              <a:t>i</a:t>
            </a:r>
            <a:r>
              <a:rPr lang="en-US" altLang="zh-CN" dirty="0"/>
              <a:t>]==key) return </a:t>
            </a:r>
            <a:r>
              <a:rPr lang="en-US" altLang="zh-CN" dirty="0" err="1"/>
              <a:t>i</a:t>
            </a:r>
            <a:r>
              <a:rPr lang="en-US" altLang="zh-CN" dirty="0"/>
              <a:t>;// </a:t>
            </a:r>
            <a:r>
              <a:rPr lang="zh-CN" altLang="en-US" dirty="0"/>
              <a:t>找到返回</a:t>
            </a:r>
            <a:r>
              <a:rPr lang="en-US" altLang="zh-CN" dirty="0"/>
              <a:t>key</a:t>
            </a:r>
            <a:r>
              <a:rPr lang="zh-CN" altLang="en-US" dirty="0"/>
              <a:t>在数组中的位置</a:t>
            </a:r>
          </a:p>
          <a:p>
            <a:r>
              <a:rPr lang="zh-CN" altLang="en-US" dirty="0"/>
              <a:t>	</a:t>
            </a:r>
            <a:r>
              <a:rPr lang="en-US" altLang="zh-CN" dirty="0"/>
              <a:t>return -1;	// </a:t>
            </a:r>
            <a:r>
              <a:rPr lang="zh-CN" altLang="en-US" dirty="0"/>
              <a:t>找不到返回</a:t>
            </a:r>
            <a:r>
              <a:rPr lang="en-US" altLang="zh-CN" dirty="0"/>
              <a:t>-1</a:t>
            </a:r>
          </a:p>
          <a:p>
            <a:r>
              <a:rPr lang="en-US" altLang="zh-CN" dirty="0"/>
              <a:t>}</a:t>
            </a:r>
          </a:p>
          <a:p>
            <a:endParaRPr lang="en-US" altLang="zh-CN" dirty="0"/>
          </a:p>
          <a:p>
            <a:r>
              <a:rPr lang="en-US" altLang="zh-CN" dirty="0"/>
              <a:t>template &lt;class T&gt; void Array&lt;T&gt;::sort(){</a:t>
            </a:r>
          </a:p>
          <a:p>
            <a:r>
              <a:rPr lang="en-US" altLang="zh-CN" dirty="0"/>
              <a:t>	int </a:t>
            </a:r>
            <a:r>
              <a:rPr lang="en-US" altLang="zh-CN" dirty="0" err="1"/>
              <a:t>i</a:t>
            </a:r>
            <a:r>
              <a:rPr lang="en-US" altLang="zh-CN" dirty="0"/>
              <a:t>, j;  T d;</a:t>
            </a:r>
          </a:p>
          <a:p>
            <a:r>
              <a:rPr lang="en-US" altLang="zh-CN" dirty="0"/>
              <a:t> for (</a:t>
            </a:r>
            <a:r>
              <a:rPr lang="en-US" altLang="zh-CN" dirty="0" err="1"/>
              <a:t>i</a:t>
            </a:r>
            <a:r>
              <a:rPr lang="en-US" altLang="zh-CN" dirty="0"/>
              <a:t>=1; </a:t>
            </a:r>
            <a:r>
              <a:rPr lang="en-US" altLang="zh-CN" dirty="0" err="1"/>
              <a:t>i</a:t>
            </a:r>
            <a:r>
              <a:rPr lang="en-US" altLang="zh-CN" dirty="0"/>
              <a:t>&lt;size; </a:t>
            </a:r>
            <a:r>
              <a:rPr lang="en-US" altLang="zh-CN" dirty="0" err="1"/>
              <a:t>i</a:t>
            </a:r>
            <a:r>
              <a:rPr lang="en-US" altLang="zh-CN" dirty="0"/>
              <a:t>++)</a:t>
            </a:r>
          </a:p>
          <a:p>
            <a:r>
              <a:rPr lang="en-US" altLang="zh-CN" dirty="0"/>
              <a:t>       for (j=size-1; j&gt;=</a:t>
            </a:r>
            <a:r>
              <a:rPr lang="en-US" altLang="zh-CN" dirty="0" err="1"/>
              <a:t>i</a:t>
            </a:r>
            <a:r>
              <a:rPr lang="en-US" altLang="zh-CN" dirty="0"/>
              <a:t>; j--)</a:t>
            </a:r>
          </a:p>
          <a:p>
            <a:r>
              <a:rPr lang="en-US" altLang="zh-CN" dirty="0"/>
              <a:t>		if (list[j-1] &gt; list[j]) </a:t>
            </a:r>
          </a:p>
          <a:p>
            <a:r>
              <a:rPr lang="en-US" altLang="zh-CN" dirty="0"/>
              <a:t>               {d= list[j-1]; list[j-1]= list[j]; list[j]=d; }</a:t>
            </a:r>
          </a:p>
          <a:p>
            <a:r>
              <a:rPr lang="en-US" altLang="zh-CN" dirty="0"/>
              <a:t>}</a:t>
            </a:r>
          </a:p>
          <a:p>
            <a:endParaRPr lang="en-US" altLang="zh-CN" dirty="0"/>
          </a:p>
          <a:p>
            <a:r>
              <a:rPr lang="en-US" altLang="zh-CN" dirty="0"/>
              <a:t>template &lt;class T&gt;  Array&lt;T&gt;::Array(int </a:t>
            </a:r>
            <a:r>
              <a:rPr lang="en-US" altLang="zh-CN" dirty="0" err="1"/>
              <a:t>sz</a:t>
            </a:r>
            <a:r>
              <a:rPr lang="en-US" altLang="zh-CN" dirty="0"/>
              <a:t>) {</a:t>
            </a:r>
          </a:p>
          <a:p>
            <a:r>
              <a:rPr lang="en-US" altLang="zh-CN" dirty="0"/>
              <a:t>	assert(</a:t>
            </a:r>
            <a:r>
              <a:rPr lang="en-US" altLang="zh-CN" dirty="0" err="1"/>
              <a:t>sz</a:t>
            </a:r>
            <a:r>
              <a:rPr lang="en-US" altLang="zh-CN" dirty="0"/>
              <a:t> &gt;= 0);//</a:t>
            </a:r>
            <a:r>
              <a:rPr lang="en-US" altLang="zh-CN" dirty="0" err="1"/>
              <a:t>sz</a:t>
            </a:r>
            <a:r>
              <a:rPr lang="zh-CN" altLang="en-US" dirty="0"/>
              <a:t>为数组大小非负</a:t>
            </a:r>
          </a:p>
          <a:p>
            <a:r>
              <a:rPr lang="zh-CN" altLang="en-US" dirty="0"/>
              <a:t>	</a:t>
            </a:r>
            <a:r>
              <a:rPr lang="en-US" altLang="zh-CN" dirty="0"/>
              <a:t>size = </a:t>
            </a:r>
            <a:r>
              <a:rPr lang="en-US" altLang="zh-CN" dirty="0" err="1"/>
              <a:t>sz</a:t>
            </a:r>
            <a:r>
              <a:rPr lang="en-US" altLang="zh-CN" dirty="0"/>
              <a:t>;	</a:t>
            </a:r>
          </a:p>
          <a:p>
            <a:r>
              <a:rPr lang="en-US" altLang="zh-CN" dirty="0"/>
              <a:t>	list = new T [size];	</a:t>
            </a:r>
          </a:p>
          <a:p>
            <a:r>
              <a:rPr lang="en-US" altLang="zh-CN" dirty="0"/>
              <a:t>}</a:t>
            </a:r>
          </a:p>
          <a:p>
            <a:r>
              <a:rPr lang="en-US" altLang="zh-CN" dirty="0"/>
              <a:t>template &lt;class T&gt; Array&lt;T&gt;::~Array() { </a:t>
            </a:r>
          </a:p>
          <a:p>
            <a:r>
              <a:rPr lang="en-US" altLang="zh-CN" dirty="0"/>
              <a:t>	delete [] list;</a:t>
            </a:r>
          </a:p>
          <a:p>
            <a:r>
              <a:rPr lang="en-US" altLang="zh-CN" dirty="0"/>
              <a:t>}</a:t>
            </a:r>
          </a:p>
          <a:p>
            <a:r>
              <a:rPr lang="en-US" altLang="zh-CN" dirty="0"/>
              <a:t>//</a:t>
            </a:r>
            <a:r>
              <a:rPr lang="zh-CN" altLang="en-US" dirty="0"/>
              <a:t>拷贝构造函数</a:t>
            </a:r>
          </a:p>
          <a:p>
            <a:r>
              <a:rPr lang="en-US" altLang="zh-CN" dirty="0"/>
              <a:t>template &lt;class T&gt; Array&lt;T&gt;::Array(const Array&lt;T&gt; &amp;a) {</a:t>
            </a:r>
          </a:p>
          <a:p>
            <a:r>
              <a:rPr lang="en-US" altLang="zh-CN" dirty="0"/>
              <a:t>	size = </a:t>
            </a:r>
            <a:r>
              <a:rPr lang="en-US" altLang="zh-CN" dirty="0" err="1"/>
              <a:t>a.size</a:t>
            </a:r>
            <a:r>
              <a:rPr lang="en-US" altLang="zh-CN" dirty="0"/>
              <a:t>; </a:t>
            </a:r>
          </a:p>
          <a:p>
            <a:r>
              <a:rPr lang="en-US" altLang="zh-CN" dirty="0"/>
              <a:t>	list = new T[size];	// </a:t>
            </a:r>
            <a:r>
              <a:rPr lang="zh-CN" altLang="en-US" dirty="0"/>
              <a:t>动态分配</a:t>
            </a:r>
            <a:r>
              <a:rPr lang="en-US" altLang="zh-CN" dirty="0"/>
              <a:t>n</a:t>
            </a:r>
            <a:r>
              <a:rPr lang="zh-CN" altLang="en-US" dirty="0"/>
              <a:t>个</a:t>
            </a:r>
            <a:r>
              <a:rPr lang="en-US" altLang="zh-CN" dirty="0"/>
              <a:t>T</a:t>
            </a:r>
            <a:r>
              <a:rPr lang="zh-CN" altLang="en-US" dirty="0"/>
              <a:t>类型的元素空间</a:t>
            </a:r>
          </a:p>
          <a:p>
            <a:r>
              <a:rPr lang="zh-CN" altLang="en-US" dirty="0"/>
              <a:t>	</a:t>
            </a:r>
            <a:r>
              <a:rPr lang="en-US" altLang="zh-CN" dirty="0"/>
              <a:t>for (int </a:t>
            </a:r>
            <a:r>
              <a:rPr lang="en-US" altLang="zh-CN" dirty="0" err="1"/>
              <a:t>i</a:t>
            </a:r>
            <a:r>
              <a:rPr lang="en-US" altLang="zh-CN" dirty="0"/>
              <a:t> = 0; </a:t>
            </a:r>
            <a:r>
              <a:rPr lang="en-US" altLang="zh-CN" dirty="0" err="1"/>
              <a:t>i</a:t>
            </a:r>
            <a:r>
              <a:rPr lang="en-US" altLang="zh-CN" dirty="0"/>
              <a:t> &lt; size; </a:t>
            </a:r>
            <a:r>
              <a:rPr lang="en-US" altLang="zh-CN" dirty="0" err="1"/>
              <a:t>i</a:t>
            </a:r>
            <a:r>
              <a:rPr lang="en-US" altLang="zh-CN" dirty="0"/>
              <a:t>++) //</a:t>
            </a:r>
            <a:r>
              <a:rPr lang="zh-CN" altLang="en-US" dirty="0"/>
              <a:t>从对象</a:t>
            </a:r>
            <a:r>
              <a:rPr lang="en-US" altLang="zh-CN" dirty="0"/>
              <a:t>X</a:t>
            </a:r>
            <a:r>
              <a:rPr lang="zh-CN" altLang="en-US" dirty="0"/>
              <a:t>复制数组元素到本对象 </a:t>
            </a:r>
          </a:p>
          <a:p>
            <a:r>
              <a:rPr lang="zh-CN" altLang="en-US" dirty="0"/>
              <a:t>		</a:t>
            </a:r>
            <a:r>
              <a:rPr lang="en-US" altLang="zh-CN" dirty="0"/>
              <a:t>list[</a:t>
            </a:r>
            <a:r>
              <a:rPr lang="en-US" altLang="zh-CN" dirty="0" err="1"/>
              <a:t>i</a:t>
            </a:r>
            <a:r>
              <a:rPr lang="en-US" altLang="zh-CN" dirty="0"/>
              <a:t>] = </a:t>
            </a:r>
            <a:r>
              <a:rPr lang="en-US" altLang="zh-CN" dirty="0" err="1"/>
              <a:t>a.list</a:t>
            </a:r>
            <a:r>
              <a:rPr lang="en-US" altLang="zh-CN" dirty="0"/>
              <a:t>[</a:t>
            </a:r>
            <a:r>
              <a:rPr lang="en-US" altLang="zh-CN" dirty="0" err="1"/>
              <a:t>i</a:t>
            </a:r>
            <a:r>
              <a:rPr lang="en-US" altLang="zh-CN" dirty="0"/>
              <a:t>];</a:t>
            </a:r>
          </a:p>
          <a:p>
            <a:r>
              <a:rPr lang="en-US" altLang="zh-CN" dirty="0"/>
              <a:t>}</a:t>
            </a:r>
          </a:p>
          <a:p>
            <a:endParaRPr lang="en-US" altLang="zh-CN" dirty="0"/>
          </a:p>
          <a:p>
            <a:r>
              <a:rPr lang="en-US" altLang="zh-CN" dirty="0"/>
              <a:t>template &lt;class T&gt;</a:t>
            </a:r>
          </a:p>
          <a:p>
            <a:r>
              <a:rPr lang="en-US" altLang="zh-CN" dirty="0"/>
              <a:t>Array&lt;T&gt; &amp;Array&lt;T&gt;::operator = (const Array&lt;T&gt;&amp; </a:t>
            </a:r>
            <a:r>
              <a:rPr lang="en-US" altLang="zh-CN" dirty="0" err="1"/>
              <a:t>rhs</a:t>
            </a:r>
            <a:r>
              <a:rPr lang="en-US" altLang="zh-CN" dirty="0"/>
              <a:t>) {</a:t>
            </a:r>
          </a:p>
          <a:p>
            <a:r>
              <a:rPr lang="en-US" altLang="zh-CN" dirty="0"/>
              <a:t>	if (&amp;</a:t>
            </a:r>
            <a:r>
              <a:rPr lang="en-US" altLang="zh-CN" dirty="0" err="1"/>
              <a:t>rhs</a:t>
            </a:r>
            <a:r>
              <a:rPr lang="en-US" altLang="zh-CN" dirty="0"/>
              <a:t> != this) {</a:t>
            </a:r>
          </a:p>
          <a:p>
            <a:r>
              <a:rPr lang="en-US" altLang="zh-CN" dirty="0"/>
              <a:t>//</a:t>
            </a:r>
            <a:r>
              <a:rPr lang="zh-CN" altLang="en-US" dirty="0"/>
              <a:t>如果本对象中数组大小与</a:t>
            </a:r>
            <a:r>
              <a:rPr lang="en-US" altLang="zh-CN" dirty="0" err="1"/>
              <a:t>rhs</a:t>
            </a:r>
            <a:r>
              <a:rPr lang="zh-CN" altLang="en-US" dirty="0"/>
              <a:t>不同，则删除数组原有内存，然后重新分配</a:t>
            </a:r>
          </a:p>
          <a:p>
            <a:r>
              <a:rPr lang="zh-CN" altLang="en-US" dirty="0"/>
              <a:t>		</a:t>
            </a:r>
            <a:r>
              <a:rPr lang="en-US" altLang="zh-CN" dirty="0"/>
              <a:t>if (size != </a:t>
            </a:r>
            <a:r>
              <a:rPr lang="en-US" altLang="zh-CN" dirty="0" err="1"/>
              <a:t>rhs.size</a:t>
            </a:r>
            <a:r>
              <a:rPr lang="en-US" altLang="zh-CN" dirty="0"/>
              <a:t>) {</a:t>
            </a:r>
          </a:p>
          <a:p>
            <a:r>
              <a:rPr lang="en-US" altLang="zh-CN" dirty="0"/>
              <a:t>			delete [] list;	//</a:t>
            </a:r>
            <a:r>
              <a:rPr lang="zh-CN" altLang="en-US" dirty="0"/>
              <a:t>删除数组原有内存</a:t>
            </a:r>
          </a:p>
          <a:p>
            <a:r>
              <a:rPr lang="zh-CN" altLang="en-US" dirty="0"/>
              <a:t>			</a:t>
            </a:r>
            <a:r>
              <a:rPr lang="en-US" altLang="zh-CN" dirty="0"/>
              <a:t>size = </a:t>
            </a:r>
            <a:r>
              <a:rPr lang="en-US" altLang="zh-CN" dirty="0" err="1"/>
              <a:t>rhs.size</a:t>
            </a:r>
            <a:r>
              <a:rPr lang="en-US" altLang="zh-CN" dirty="0"/>
              <a:t>;	//</a:t>
            </a:r>
            <a:r>
              <a:rPr lang="zh-CN" altLang="en-US" dirty="0"/>
              <a:t>设置本对象的数组大小</a:t>
            </a:r>
          </a:p>
          <a:p>
            <a:r>
              <a:rPr lang="zh-CN" altLang="en-US" dirty="0"/>
              <a:t>			</a:t>
            </a:r>
            <a:r>
              <a:rPr lang="en-US" altLang="zh-CN" dirty="0"/>
              <a:t>list = new T[size];	//</a:t>
            </a:r>
            <a:r>
              <a:rPr lang="zh-CN" altLang="en-US" dirty="0"/>
              <a:t>重新分配</a:t>
            </a:r>
            <a:r>
              <a:rPr lang="en-US" altLang="zh-CN" dirty="0"/>
              <a:t>n</a:t>
            </a:r>
            <a:r>
              <a:rPr lang="zh-CN" altLang="en-US" dirty="0"/>
              <a:t>个元素的内存</a:t>
            </a:r>
          </a:p>
          <a:p>
            <a:r>
              <a:rPr lang="zh-CN" altLang="en-US" dirty="0"/>
              <a:t>		</a:t>
            </a:r>
            <a:r>
              <a:rPr lang="en-US" altLang="zh-CN" dirty="0"/>
              <a:t>}</a:t>
            </a:r>
          </a:p>
          <a:p>
            <a:r>
              <a:rPr lang="en-US" altLang="zh-CN" dirty="0"/>
              <a:t>		//</a:t>
            </a:r>
            <a:r>
              <a:rPr lang="zh-CN" altLang="en-US" dirty="0"/>
              <a:t>从对象</a:t>
            </a:r>
            <a:r>
              <a:rPr lang="en-US" altLang="zh-CN" dirty="0"/>
              <a:t>X</a:t>
            </a:r>
            <a:r>
              <a:rPr lang="zh-CN" altLang="en-US" dirty="0"/>
              <a:t>复制数组元素到本对象  </a:t>
            </a:r>
          </a:p>
          <a:p>
            <a:r>
              <a:rPr lang="zh-CN" altLang="en-US" dirty="0"/>
              <a:t>		</a:t>
            </a:r>
            <a:r>
              <a:rPr lang="en-US" altLang="zh-CN" dirty="0"/>
              <a:t>for (int </a:t>
            </a:r>
            <a:r>
              <a:rPr lang="en-US" altLang="zh-CN" dirty="0" err="1"/>
              <a:t>i</a:t>
            </a:r>
            <a:r>
              <a:rPr lang="en-US" altLang="zh-CN" dirty="0"/>
              <a:t> = 0; </a:t>
            </a:r>
            <a:r>
              <a:rPr lang="en-US" altLang="zh-CN" dirty="0" err="1"/>
              <a:t>i</a:t>
            </a:r>
            <a:r>
              <a:rPr lang="en-US" altLang="zh-CN" dirty="0"/>
              <a:t> &lt; size; </a:t>
            </a:r>
            <a:r>
              <a:rPr lang="en-US" altLang="zh-CN" dirty="0" err="1"/>
              <a:t>i</a:t>
            </a:r>
            <a:r>
              <a:rPr lang="en-US" altLang="zh-CN" dirty="0"/>
              <a:t>++)</a:t>
            </a:r>
          </a:p>
          <a:p>
            <a:r>
              <a:rPr lang="en-US" altLang="zh-CN" dirty="0"/>
              <a:t>			list[</a:t>
            </a:r>
            <a:r>
              <a:rPr lang="en-US" altLang="zh-CN" dirty="0" err="1"/>
              <a:t>i</a:t>
            </a:r>
            <a:r>
              <a:rPr lang="en-US" altLang="zh-CN" dirty="0"/>
              <a:t>] = </a:t>
            </a:r>
            <a:r>
              <a:rPr lang="en-US" altLang="zh-CN" dirty="0" err="1"/>
              <a:t>rhs.list</a:t>
            </a:r>
            <a:r>
              <a:rPr lang="en-US" altLang="zh-CN" dirty="0"/>
              <a:t>[</a:t>
            </a:r>
            <a:r>
              <a:rPr lang="en-US" altLang="zh-CN" dirty="0" err="1"/>
              <a:t>i</a:t>
            </a:r>
            <a:r>
              <a:rPr lang="en-US" altLang="zh-CN" dirty="0"/>
              <a:t>];</a:t>
            </a:r>
          </a:p>
          <a:p>
            <a:r>
              <a:rPr lang="en-US" altLang="zh-CN" dirty="0"/>
              <a:t>	}</a:t>
            </a:r>
          </a:p>
          <a:p>
            <a:r>
              <a:rPr lang="en-US" altLang="zh-CN" dirty="0"/>
              <a:t>	return *this;	//</a:t>
            </a:r>
            <a:r>
              <a:rPr lang="zh-CN" altLang="en-US" dirty="0"/>
              <a:t>返回当前对象的引用</a:t>
            </a:r>
          </a:p>
          <a:p>
            <a:r>
              <a:rPr lang="en-US" altLang="zh-CN" dirty="0"/>
              <a:t>}</a:t>
            </a:r>
          </a:p>
          <a:p>
            <a:r>
              <a:rPr lang="en-US" altLang="zh-CN" dirty="0"/>
              <a:t>//</a:t>
            </a:r>
            <a:r>
              <a:rPr lang="zh-CN" altLang="en-US" dirty="0"/>
              <a:t>重载下标运算符，实现与普通数组一样通过下标访问元素，并且具有越界检查功能</a:t>
            </a:r>
          </a:p>
          <a:p>
            <a:r>
              <a:rPr lang="en-US" altLang="zh-CN" dirty="0"/>
              <a:t>template &lt;class T&gt;</a:t>
            </a:r>
          </a:p>
          <a:p>
            <a:r>
              <a:rPr lang="en-US" altLang="zh-CN" dirty="0"/>
              <a:t>T &amp;Array&lt;T&gt;::operator[] (int n) {</a:t>
            </a:r>
          </a:p>
          <a:p>
            <a:r>
              <a:rPr lang="en-US" altLang="zh-CN" dirty="0"/>
              <a:t>	assert(n &gt;= 0 &amp;&amp; n &lt; size);	//</a:t>
            </a:r>
            <a:r>
              <a:rPr lang="zh-CN" altLang="en-US" dirty="0"/>
              <a:t>检查下标是否越界</a:t>
            </a:r>
          </a:p>
          <a:p>
            <a:r>
              <a:rPr lang="zh-CN" altLang="en-US" dirty="0"/>
              <a:t>	</a:t>
            </a:r>
            <a:r>
              <a:rPr lang="en-US" altLang="zh-CN" dirty="0"/>
              <a:t>return list[n];			//</a:t>
            </a:r>
            <a:r>
              <a:rPr lang="zh-CN" altLang="en-US" dirty="0"/>
              <a:t>返回下标为</a:t>
            </a:r>
            <a:r>
              <a:rPr lang="en-US" altLang="zh-CN" dirty="0"/>
              <a:t>n</a:t>
            </a:r>
            <a:r>
              <a:rPr lang="zh-CN" altLang="en-US" dirty="0"/>
              <a:t>的数组元素</a:t>
            </a:r>
          </a:p>
          <a:p>
            <a:r>
              <a:rPr lang="en-US" altLang="zh-CN" dirty="0"/>
              <a:t>}</a:t>
            </a:r>
          </a:p>
          <a:p>
            <a:r>
              <a:rPr lang="en-US" altLang="zh-CN" dirty="0"/>
              <a:t>template &lt;class T&gt;</a:t>
            </a:r>
          </a:p>
          <a:p>
            <a:r>
              <a:rPr lang="en-US" altLang="zh-CN" dirty="0"/>
              <a:t>const T &amp;Array&lt;T&gt;::operator[] (int n) const {</a:t>
            </a:r>
          </a:p>
          <a:p>
            <a:r>
              <a:rPr lang="en-US" altLang="zh-CN" dirty="0"/>
              <a:t>	assert(n &gt;= 0 &amp;&amp; n &lt; size);	//</a:t>
            </a:r>
            <a:r>
              <a:rPr lang="zh-CN" altLang="en-US" dirty="0"/>
              <a:t>检查下标是否越界</a:t>
            </a:r>
          </a:p>
          <a:p>
            <a:r>
              <a:rPr lang="zh-CN" altLang="en-US" dirty="0"/>
              <a:t>	</a:t>
            </a:r>
            <a:r>
              <a:rPr lang="en-US" altLang="zh-CN" dirty="0"/>
              <a:t>return list[n];			//</a:t>
            </a:r>
            <a:r>
              <a:rPr lang="zh-CN" altLang="en-US" dirty="0"/>
              <a:t>返回下标为</a:t>
            </a:r>
            <a:r>
              <a:rPr lang="en-US" altLang="zh-CN" dirty="0"/>
              <a:t>n</a:t>
            </a:r>
            <a:r>
              <a:rPr lang="zh-CN" altLang="en-US" dirty="0"/>
              <a:t>的数组元素</a:t>
            </a:r>
          </a:p>
          <a:p>
            <a:r>
              <a:rPr lang="en-US" altLang="zh-CN" dirty="0"/>
              <a:t>}</a:t>
            </a:r>
          </a:p>
          <a:p>
            <a:r>
              <a:rPr lang="en-US" altLang="zh-CN" dirty="0"/>
              <a:t>//</a:t>
            </a:r>
            <a:r>
              <a:rPr lang="zh-CN" altLang="en-US" dirty="0"/>
              <a:t>重载指针转换运算符，将</a:t>
            </a:r>
            <a:r>
              <a:rPr lang="en-US" altLang="zh-CN" dirty="0"/>
              <a:t>Array</a:t>
            </a:r>
            <a:r>
              <a:rPr lang="zh-CN" altLang="en-US" dirty="0"/>
              <a:t>类的对象名转换为</a:t>
            </a:r>
            <a:r>
              <a:rPr lang="en-US" altLang="zh-CN" dirty="0"/>
              <a:t>T</a:t>
            </a:r>
            <a:r>
              <a:rPr lang="zh-CN" altLang="en-US" dirty="0"/>
              <a:t>类型的指针</a:t>
            </a:r>
          </a:p>
          <a:p>
            <a:r>
              <a:rPr lang="en-US" altLang="zh-CN" dirty="0"/>
              <a:t>template &lt;class T&gt;</a:t>
            </a:r>
          </a:p>
          <a:p>
            <a:r>
              <a:rPr lang="en-US" altLang="zh-CN" dirty="0"/>
              <a:t>Array&lt;T&gt;::operator T * () {</a:t>
            </a:r>
          </a:p>
          <a:p>
            <a:r>
              <a:rPr lang="en-US" altLang="zh-CN" dirty="0"/>
              <a:t>	return list;	//</a:t>
            </a:r>
            <a:r>
              <a:rPr lang="zh-CN" altLang="en-US" dirty="0"/>
              <a:t>返回当前对象中私有数组的首地址</a:t>
            </a:r>
          </a:p>
          <a:p>
            <a:r>
              <a:rPr lang="en-US" altLang="zh-CN" dirty="0"/>
              <a:t>}</a:t>
            </a:r>
          </a:p>
          <a:p>
            <a:r>
              <a:rPr lang="en-US" altLang="zh-CN" dirty="0"/>
              <a:t>template &lt;class T&gt;</a:t>
            </a:r>
          </a:p>
          <a:p>
            <a:r>
              <a:rPr lang="en-US" altLang="zh-CN" dirty="0"/>
              <a:t>Array&lt;T&gt;::operator const T * () const {</a:t>
            </a:r>
          </a:p>
          <a:p>
            <a:r>
              <a:rPr lang="en-US" altLang="zh-CN" dirty="0"/>
              <a:t>	return list;	//</a:t>
            </a:r>
            <a:r>
              <a:rPr lang="zh-CN" altLang="en-US" dirty="0"/>
              <a:t>返回当前对象中私有数组的首地址</a:t>
            </a:r>
          </a:p>
          <a:p>
            <a:r>
              <a:rPr lang="en-US" altLang="zh-CN" dirty="0"/>
              <a:t>}</a:t>
            </a:r>
          </a:p>
          <a:p>
            <a:r>
              <a:rPr lang="en-US" altLang="zh-CN" dirty="0"/>
              <a:t>//</a:t>
            </a:r>
            <a:r>
              <a:rPr lang="zh-CN" altLang="en-US" dirty="0"/>
              <a:t>取当前数组的大小</a:t>
            </a:r>
          </a:p>
          <a:p>
            <a:r>
              <a:rPr lang="en-US" altLang="zh-CN" dirty="0"/>
              <a:t>template &lt;class T&gt;</a:t>
            </a:r>
          </a:p>
          <a:p>
            <a:r>
              <a:rPr lang="en-US" altLang="zh-CN" dirty="0"/>
              <a:t>int Array&lt;T&gt;::</a:t>
            </a:r>
            <a:r>
              <a:rPr lang="en-US" altLang="zh-CN" dirty="0" err="1"/>
              <a:t>getSize</a:t>
            </a:r>
            <a:r>
              <a:rPr lang="en-US" altLang="zh-CN" dirty="0"/>
              <a:t>() const {</a:t>
            </a:r>
          </a:p>
          <a:p>
            <a:r>
              <a:rPr lang="en-US" altLang="zh-CN" dirty="0"/>
              <a:t>	return size;</a:t>
            </a:r>
          </a:p>
          <a:p>
            <a:r>
              <a:rPr lang="en-US" altLang="zh-CN" dirty="0"/>
              <a:t>}</a:t>
            </a:r>
          </a:p>
          <a:p>
            <a:r>
              <a:rPr lang="en-US" altLang="zh-CN" dirty="0"/>
              <a:t>// </a:t>
            </a:r>
            <a:r>
              <a:rPr lang="zh-CN" altLang="en-US" dirty="0"/>
              <a:t>将数组大小修改为</a:t>
            </a:r>
            <a:r>
              <a:rPr lang="en-US" altLang="zh-CN" dirty="0" err="1"/>
              <a:t>sz</a:t>
            </a:r>
            <a:endParaRPr lang="en-US" altLang="zh-CN" dirty="0"/>
          </a:p>
          <a:p>
            <a:r>
              <a:rPr lang="en-US" altLang="zh-CN" dirty="0"/>
              <a:t>template &lt;class T&gt;</a:t>
            </a:r>
          </a:p>
          <a:p>
            <a:r>
              <a:rPr lang="en-US" altLang="zh-CN" dirty="0"/>
              <a:t>void Array&lt;T&gt;::resize(int </a:t>
            </a:r>
            <a:r>
              <a:rPr lang="en-US" altLang="zh-CN" dirty="0" err="1"/>
              <a:t>sz</a:t>
            </a:r>
            <a:r>
              <a:rPr lang="en-US" altLang="zh-CN" dirty="0"/>
              <a:t>) {</a:t>
            </a:r>
          </a:p>
          <a:p>
            <a:r>
              <a:rPr lang="en-US" altLang="zh-CN" dirty="0"/>
              <a:t>	assert(</a:t>
            </a:r>
            <a:r>
              <a:rPr lang="en-US" altLang="zh-CN" dirty="0" err="1"/>
              <a:t>sz</a:t>
            </a:r>
            <a:r>
              <a:rPr lang="en-US" altLang="zh-CN" dirty="0"/>
              <a:t> &gt;= 0);	//</a:t>
            </a:r>
            <a:r>
              <a:rPr lang="zh-CN" altLang="en-US" dirty="0"/>
              <a:t>检查</a:t>
            </a:r>
            <a:r>
              <a:rPr lang="en-US" altLang="zh-CN" dirty="0" err="1"/>
              <a:t>sz</a:t>
            </a:r>
            <a:r>
              <a:rPr lang="zh-CN" altLang="en-US" dirty="0"/>
              <a:t>是否非负</a:t>
            </a:r>
          </a:p>
          <a:p>
            <a:r>
              <a:rPr lang="zh-CN" altLang="en-US" dirty="0"/>
              <a:t>	</a:t>
            </a:r>
            <a:r>
              <a:rPr lang="en-US" altLang="zh-CN" dirty="0"/>
              <a:t>if (</a:t>
            </a:r>
            <a:r>
              <a:rPr lang="en-US" altLang="zh-CN" dirty="0" err="1"/>
              <a:t>sz</a:t>
            </a:r>
            <a:r>
              <a:rPr lang="en-US" altLang="zh-CN" dirty="0"/>
              <a:t> == size)	//</a:t>
            </a:r>
            <a:r>
              <a:rPr lang="zh-CN" altLang="en-US" dirty="0"/>
              <a:t>如果指定的大小与原有大小一样，什么也不做</a:t>
            </a:r>
          </a:p>
          <a:p>
            <a:r>
              <a:rPr lang="zh-CN" altLang="en-US" dirty="0"/>
              <a:t>		</a:t>
            </a:r>
            <a:r>
              <a:rPr lang="en-US" altLang="zh-CN" dirty="0"/>
              <a:t>return;</a:t>
            </a:r>
          </a:p>
          <a:p>
            <a:r>
              <a:rPr lang="en-US" altLang="zh-CN" dirty="0"/>
              <a:t>	T* </a:t>
            </a:r>
            <a:r>
              <a:rPr lang="en-US" altLang="zh-CN" dirty="0" err="1"/>
              <a:t>newList</a:t>
            </a:r>
            <a:r>
              <a:rPr lang="en-US" altLang="zh-CN" dirty="0"/>
              <a:t> = new T [</a:t>
            </a:r>
            <a:r>
              <a:rPr lang="en-US" altLang="zh-CN" dirty="0" err="1"/>
              <a:t>sz</a:t>
            </a:r>
            <a:r>
              <a:rPr lang="en-US" altLang="zh-CN" dirty="0"/>
              <a:t>];	//</a:t>
            </a:r>
            <a:r>
              <a:rPr lang="zh-CN" altLang="en-US" dirty="0"/>
              <a:t>申请新的数组内存</a:t>
            </a:r>
          </a:p>
          <a:p>
            <a:r>
              <a:rPr lang="zh-CN" altLang="en-US" dirty="0"/>
              <a:t>	</a:t>
            </a:r>
            <a:r>
              <a:rPr lang="en-US" altLang="zh-CN" dirty="0"/>
              <a:t>int n = (</a:t>
            </a:r>
            <a:r>
              <a:rPr lang="en-US" altLang="zh-CN" dirty="0" err="1"/>
              <a:t>sz</a:t>
            </a:r>
            <a:r>
              <a:rPr lang="en-US" altLang="zh-CN" dirty="0"/>
              <a:t> &lt; size) ? </a:t>
            </a:r>
            <a:r>
              <a:rPr lang="en-US" altLang="zh-CN" dirty="0" err="1"/>
              <a:t>sz</a:t>
            </a:r>
            <a:r>
              <a:rPr lang="en-US" altLang="zh-CN" dirty="0"/>
              <a:t> : size;//</a:t>
            </a:r>
            <a:r>
              <a:rPr lang="zh-CN" altLang="en-US" dirty="0"/>
              <a:t>将</a:t>
            </a:r>
            <a:r>
              <a:rPr lang="en-US" altLang="zh-CN" dirty="0" err="1"/>
              <a:t>sz</a:t>
            </a:r>
            <a:r>
              <a:rPr lang="zh-CN" altLang="en-US" dirty="0"/>
              <a:t>与</a:t>
            </a:r>
            <a:r>
              <a:rPr lang="en-US" altLang="zh-CN" dirty="0"/>
              <a:t>size</a:t>
            </a:r>
            <a:r>
              <a:rPr lang="zh-CN" altLang="en-US" dirty="0"/>
              <a:t>中较小的一个赋值给</a:t>
            </a:r>
            <a:r>
              <a:rPr lang="en-US" altLang="zh-CN" dirty="0"/>
              <a:t>n</a:t>
            </a:r>
          </a:p>
          <a:p>
            <a:r>
              <a:rPr lang="en-US" altLang="zh-CN" dirty="0"/>
              <a:t>	//</a:t>
            </a:r>
            <a:r>
              <a:rPr lang="zh-CN" altLang="en-US" dirty="0"/>
              <a:t>将原有数组中前</a:t>
            </a:r>
            <a:r>
              <a:rPr lang="en-US" altLang="zh-CN" dirty="0"/>
              <a:t>n</a:t>
            </a:r>
            <a:r>
              <a:rPr lang="zh-CN" altLang="en-US" dirty="0"/>
              <a:t>个元素复制到新数组中</a:t>
            </a:r>
          </a:p>
          <a:p>
            <a:r>
              <a:rPr lang="zh-CN" altLang="en-US" dirty="0"/>
              <a:t>	</a:t>
            </a:r>
            <a:r>
              <a:rPr lang="en-US" altLang="zh-CN" dirty="0"/>
              <a:t>for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a:t>
            </a:r>
          </a:p>
          <a:p>
            <a:r>
              <a:rPr lang="en-US" altLang="zh-CN" dirty="0"/>
              <a:t>		</a:t>
            </a:r>
            <a:r>
              <a:rPr lang="en-US" altLang="zh-CN" dirty="0" err="1"/>
              <a:t>newList</a:t>
            </a:r>
            <a:r>
              <a:rPr lang="en-US" altLang="zh-CN" dirty="0"/>
              <a:t>[</a:t>
            </a:r>
            <a:r>
              <a:rPr lang="en-US" altLang="zh-CN" dirty="0" err="1"/>
              <a:t>i</a:t>
            </a:r>
            <a:r>
              <a:rPr lang="en-US" altLang="zh-CN" dirty="0"/>
              <a:t>] = list[</a:t>
            </a:r>
            <a:r>
              <a:rPr lang="en-US" altLang="zh-CN" dirty="0" err="1"/>
              <a:t>i</a:t>
            </a:r>
            <a:r>
              <a:rPr lang="en-US" altLang="zh-CN" dirty="0"/>
              <a:t>];</a:t>
            </a:r>
          </a:p>
          <a:p>
            <a:r>
              <a:rPr lang="en-US" altLang="zh-CN" dirty="0"/>
              <a:t>	delete[] list;		//</a:t>
            </a:r>
            <a:r>
              <a:rPr lang="zh-CN" altLang="en-US" dirty="0"/>
              <a:t>删除原数组</a:t>
            </a:r>
          </a:p>
          <a:p>
            <a:r>
              <a:rPr lang="zh-CN" altLang="en-US" dirty="0"/>
              <a:t>	</a:t>
            </a:r>
            <a:r>
              <a:rPr lang="en-US" altLang="zh-CN" dirty="0"/>
              <a:t>list = </a:t>
            </a:r>
            <a:r>
              <a:rPr lang="en-US" altLang="zh-CN" dirty="0" err="1"/>
              <a:t>newList</a:t>
            </a:r>
            <a:r>
              <a:rPr lang="en-US" altLang="zh-CN" dirty="0"/>
              <a:t>;	// </a:t>
            </a:r>
            <a:r>
              <a:rPr lang="zh-CN" altLang="en-US" dirty="0"/>
              <a:t>使</a:t>
            </a:r>
            <a:r>
              <a:rPr lang="en-US" altLang="zh-CN" dirty="0"/>
              <a:t>list</a:t>
            </a:r>
            <a:r>
              <a:rPr lang="zh-CN" altLang="en-US" dirty="0"/>
              <a:t>指向新数组</a:t>
            </a:r>
          </a:p>
          <a:p>
            <a:r>
              <a:rPr lang="zh-CN" altLang="en-US" dirty="0"/>
              <a:t>	</a:t>
            </a:r>
            <a:r>
              <a:rPr lang="en-US" altLang="zh-CN" dirty="0"/>
              <a:t>size = </a:t>
            </a:r>
            <a:r>
              <a:rPr lang="en-US" altLang="zh-CN" dirty="0" err="1"/>
              <a:t>sz</a:t>
            </a:r>
            <a:r>
              <a:rPr lang="en-US" altLang="zh-CN" dirty="0"/>
              <a:t>;	//</a:t>
            </a:r>
            <a:r>
              <a:rPr lang="zh-CN" altLang="en-US" dirty="0"/>
              <a:t>更新</a:t>
            </a:r>
            <a:r>
              <a:rPr lang="en-US" altLang="zh-CN" dirty="0"/>
              <a:t>size</a:t>
            </a:r>
          </a:p>
          <a:p>
            <a:r>
              <a:rPr lang="en-US" altLang="zh-CN" dirty="0"/>
              <a:t>}</a:t>
            </a:r>
          </a:p>
          <a:p>
            <a:r>
              <a:rPr lang="en-US" altLang="zh-CN" dirty="0"/>
              <a:t>void read(int *p, int n) {</a:t>
            </a:r>
          </a:p>
          <a:p>
            <a:r>
              <a:rPr lang="en-US" altLang="zh-CN" dirty="0"/>
              <a:t> for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a:t>
            </a:r>
          </a:p>
          <a:p>
            <a:r>
              <a:rPr lang="en-US" altLang="zh-CN" dirty="0"/>
              <a:t>   p[</a:t>
            </a:r>
            <a:r>
              <a:rPr lang="en-US" altLang="zh-CN" dirty="0" err="1"/>
              <a:t>i</a:t>
            </a:r>
            <a:r>
              <a:rPr lang="en-US" altLang="zh-CN" dirty="0"/>
              <a:t>]=100-i*2+5;</a:t>
            </a:r>
          </a:p>
          <a:p>
            <a:r>
              <a:rPr lang="en-US" altLang="zh-CN" dirty="0"/>
              <a:t>}</a:t>
            </a:r>
          </a:p>
          <a:p>
            <a:endParaRPr lang="en-US" altLang="zh-CN" dirty="0"/>
          </a:p>
          <a:p>
            <a:r>
              <a:rPr lang="en-US" altLang="zh-CN" dirty="0"/>
              <a:t>int main() {</a:t>
            </a:r>
          </a:p>
          <a:p>
            <a:r>
              <a:rPr lang="en-US" altLang="zh-CN" dirty="0"/>
              <a:t> Array&lt;int&gt; a(10);</a:t>
            </a:r>
          </a:p>
          <a:p>
            <a:r>
              <a:rPr lang="en-US" altLang="zh-CN" dirty="0"/>
              <a:t> read(a, 10);</a:t>
            </a:r>
          </a:p>
          <a:p>
            <a:r>
              <a:rPr lang="en-US" altLang="zh-CN" dirty="0"/>
              <a:t> for (int </a:t>
            </a:r>
            <a:r>
              <a:rPr lang="en-US" altLang="zh-CN" dirty="0" err="1"/>
              <a:t>i</a:t>
            </a:r>
            <a:r>
              <a:rPr lang="en-US" altLang="zh-CN" dirty="0"/>
              <a:t> = 0; </a:t>
            </a:r>
            <a:r>
              <a:rPr lang="en-US" altLang="zh-CN" dirty="0" err="1"/>
              <a:t>i</a:t>
            </a:r>
            <a:r>
              <a:rPr lang="en-US" altLang="zh-CN" dirty="0"/>
              <a:t> &lt; 10; </a:t>
            </a:r>
            <a:r>
              <a:rPr lang="en-US" altLang="zh-CN" dirty="0" err="1"/>
              <a:t>i</a:t>
            </a:r>
            <a:r>
              <a:rPr lang="en-US" altLang="zh-CN" dirty="0"/>
              <a:t>++) </a:t>
            </a:r>
            <a:r>
              <a:rPr lang="en-US" altLang="zh-CN" dirty="0" err="1"/>
              <a:t>cout</a:t>
            </a:r>
            <a:r>
              <a:rPr lang="en-US" altLang="zh-CN" dirty="0"/>
              <a:t>&lt;&lt;a[</a:t>
            </a:r>
            <a:r>
              <a:rPr lang="en-US" altLang="zh-CN" dirty="0" err="1"/>
              <a:t>i</a:t>
            </a:r>
            <a:r>
              <a:rPr lang="en-US" altLang="zh-CN" dirty="0"/>
              <a:t>]&lt;&lt;"  ";</a:t>
            </a:r>
          </a:p>
          <a:p>
            <a:r>
              <a:rPr lang="en-US" altLang="zh-CN" dirty="0"/>
              <a:t> </a:t>
            </a:r>
            <a:r>
              <a:rPr lang="en-US" altLang="zh-CN" dirty="0" err="1"/>
              <a:t>cout</a:t>
            </a:r>
            <a:r>
              <a:rPr lang="en-US" altLang="zh-CN" dirty="0"/>
              <a:t>&lt;&lt;"\n";</a:t>
            </a:r>
          </a:p>
          <a:p>
            <a:r>
              <a:rPr lang="en-US" altLang="zh-CN" dirty="0"/>
              <a:t> </a:t>
            </a:r>
            <a:r>
              <a:rPr lang="en-US" altLang="zh-CN" dirty="0" err="1"/>
              <a:t>a.sort</a:t>
            </a:r>
            <a:r>
              <a:rPr lang="en-US" altLang="zh-CN" dirty="0"/>
              <a:t>();</a:t>
            </a:r>
          </a:p>
          <a:p>
            <a:r>
              <a:rPr lang="en-US" altLang="zh-CN" dirty="0"/>
              <a:t> for (int </a:t>
            </a:r>
            <a:r>
              <a:rPr lang="en-US" altLang="zh-CN" dirty="0" err="1"/>
              <a:t>i</a:t>
            </a:r>
            <a:r>
              <a:rPr lang="en-US" altLang="zh-CN" dirty="0"/>
              <a:t> = 0; </a:t>
            </a:r>
            <a:r>
              <a:rPr lang="en-US" altLang="zh-CN" dirty="0" err="1"/>
              <a:t>i</a:t>
            </a:r>
            <a:r>
              <a:rPr lang="en-US" altLang="zh-CN" dirty="0"/>
              <a:t> &lt; 10; </a:t>
            </a:r>
            <a:r>
              <a:rPr lang="en-US" altLang="zh-CN" dirty="0" err="1"/>
              <a:t>i</a:t>
            </a:r>
            <a:r>
              <a:rPr lang="en-US" altLang="zh-CN" dirty="0"/>
              <a:t>++) </a:t>
            </a:r>
            <a:r>
              <a:rPr lang="en-US" altLang="zh-CN" dirty="0" err="1"/>
              <a:t>cout</a:t>
            </a:r>
            <a:r>
              <a:rPr lang="en-US" altLang="zh-CN" dirty="0"/>
              <a:t>&lt;&lt;a[</a:t>
            </a:r>
            <a:r>
              <a:rPr lang="en-US" altLang="zh-CN" dirty="0" err="1"/>
              <a:t>i</a:t>
            </a:r>
            <a:r>
              <a:rPr lang="en-US" altLang="zh-CN" dirty="0"/>
              <a:t>]&lt;&lt;"  ";</a:t>
            </a:r>
          </a:p>
          <a:p>
            <a:r>
              <a:rPr lang="en-US" altLang="zh-CN" dirty="0"/>
              <a:t> </a:t>
            </a:r>
            <a:r>
              <a:rPr lang="en-US" altLang="zh-CN" dirty="0" err="1"/>
              <a:t>cout</a:t>
            </a:r>
            <a:r>
              <a:rPr lang="en-US" altLang="zh-CN" dirty="0"/>
              <a:t>&lt;&lt;"\n"&lt;&lt;</a:t>
            </a:r>
            <a:r>
              <a:rPr lang="en-US" altLang="zh-CN" dirty="0" err="1"/>
              <a:t>a.seek</a:t>
            </a:r>
            <a:r>
              <a:rPr lang="en-US" altLang="zh-CN" dirty="0"/>
              <a:t>(95);</a:t>
            </a:r>
          </a:p>
          <a:p>
            <a:r>
              <a:rPr lang="en-US" altLang="zh-CN" dirty="0"/>
              <a:t> </a:t>
            </a:r>
            <a:r>
              <a:rPr lang="en-US" altLang="zh-CN" dirty="0" err="1"/>
              <a:t>cout</a:t>
            </a:r>
            <a:r>
              <a:rPr lang="en-US" altLang="zh-CN" dirty="0"/>
              <a:t>&lt;&lt;"\n"&lt;&lt;</a:t>
            </a:r>
            <a:r>
              <a:rPr lang="en-US" altLang="zh-CN" dirty="0" err="1"/>
              <a:t>a.sum</a:t>
            </a:r>
            <a:r>
              <a:rPr lang="en-US" altLang="zh-CN" dirty="0"/>
              <a:t>();</a:t>
            </a:r>
          </a:p>
          <a:p>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16</a:t>
            </a:fld>
            <a:endParaRPr lang="zh-CN" altLang="en-US"/>
          </a:p>
        </p:txBody>
      </p:sp>
    </p:spTree>
    <p:extLst>
      <p:ext uri="{BB962C8B-B14F-4D97-AF65-F5344CB8AC3E}">
        <p14:creationId xmlns:p14="http://schemas.microsoft.com/office/powerpoint/2010/main" val="10878041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&lt;iostream&gt;</a:t>
            </a:r>
          </a:p>
          <a:p>
            <a:r>
              <a:rPr lang="en-US" altLang="zh-CN" dirty="0"/>
              <a:t>#include &lt;</a:t>
            </a:r>
            <a:r>
              <a:rPr lang="en-US" altLang="zh-CN" dirty="0" err="1"/>
              <a:t>cassert</a:t>
            </a:r>
            <a:r>
              <a:rPr lang="en-US" altLang="zh-CN" dirty="0"/>
              <a:t>&gt;</a:t>
            </a:r>
          </a:p>
          <a:p>
            <a:r>
              <a:rPr lang="en-US" altLang="zh-CN" dirty="0"/>
              <a:t>using namespace std; </a:t>
            </a:r>
          </a:p>
          <a:p>
            <a:endParaRPr lang="en-US" altLang="zh-CN" dirty="0"/>
          </a:p>
          <a:p>
            <a:r>
              <a:rPr lang="en-US" altLang="zh-CN" dirty="0"/>
              <a:t>template &lt;class T&gt;	</a:t>
            </a:r>
          </a:p>
          <a:p>
            <a:r>
              <a:rPr lang="en-US" altLang="zh-CN" dirty="0"/>
              <a:t>class Array {</a:t>
            </a:r>
          </a:p>
          <a:p>
            <a:r>
              <a:rPr lang="en-US" altLang="zh-CN" dirty="0"/>
              <a:t>private:</a:t>
            </a:r>
          </a:p>
          <a:p>
            <a:r>
              <a:rPr lang="en-US" altLang="zh-CN" dirty="0"/>
              <a:t>	T* list;		</a:t>
            </a:r>
          </a:p>
          <a:p>
            <a:r>
              <a:rPr lang="en-US" altLang="zh-CN" dirty="0"/>
              <a:t>	int size;		</a:t>
            </a:r>
          </a:p>
          <a:p>
            <a:r>
              <a:rPr lang="en-US" altLang="zh-CN" dirty="0"/>
              <a:t>public:</a:t>
            </a:r>
          </a:p>
          <a:p>
            <a:r>
              <a:rPr lang="en-US" altLang="zh-CN" dirty="0"/>
              <a:t>	Array(int </a:t>
            </a:r>
            <a:r>
              <a:rPr lang="en-US" altLang="zh-CN" dirty="0" err="1"/>
              <a:t>sz</a:t>
            </a:r>
            <a:r>
              <a:rPr lang="en-US" altLang="zh-CN" dirty="0"/>
              <a:t> = 50);		</a:t>
            </a:r>
          </a:p>
          <a:p>
            <a:r>
              <a:rPr lang="en-US" altLang="zh-CN" dirty="0"/>
              <a:t>	Array(const Array&lt;T&gt; &amp;a);	</a:t>
            </a:r>
          </a:p>
          <a:p>
            <a:r>
              <a:rPr lang="en-US" altLang="zh-CN" dirty="0"/>
              <a:t>	~Array();			</a:t>
            </a:r>
          </a:p>
          <a:p>
            <a:r>
              <a:rPr lang="en-US" altLang="zh-CN" dirty="0"/>
              <a:t>	Array&lt;T&gt; &amp; operator = (const Array&lt;T&gt; &amp;</a:t>
            </a:r>
            <a:r>
              <a:rPr lang="en-US" altLang="zh-CN" dirty="0" err="1"/>
              <a:t>rhs</a:t>
            </a:r>
            <a:r>
              <a:rPr lang="en-US" altLang="zh-CN" dirty="0"/>
              <a:t>); </a:t>
            </a:r>
          </a:p>
          <a:p>
            <a:r>
              <a:rPr lang="en-US" altLang="zh-CN" dirty="0"/>
              <a:t>	T&amp; operator[](int </a:t>
            </a:r>
            <a:r>
              <a:rPr lang="en-US" altLang="zh-CN" dirty="0" err="1"/>
              <a:t>i</a:t>
            </a:r>
            <a:r>
              <a:rPr lang="en-US" altLang="zh-CN" dirty="0"/>
              <a:t>); </a:t>
            </a:r>
          </a:p>
          <a:p>
            <a:r>
              <a:rPr lang="en-US" altLang="zh-CN" dirty="0"/>
              <a:t>	const T &amp; operator [] (int </a:t>
            </a:r>
            <a:r>
              <a:rPr lang="en-US" altLang="zh-CN" dirty="0" err="1"/>
              <a:t>i</a:t>
            </a:r>
            <a:r>
              <a:rPr lang="en-US" altLang="zh-CN" dirty="0"/>
              <a:t>) const;	</a:t>
            </a:r>
          </a:p>
          <a:p>
            <a:r>
              <a:rPr lang="en-US" altLang="zh-CN" dirty="0"/>
              <a:t>	operator T * ();		//</a:t>
            </a:r>
            <a:r>
              <a:rPr lang="zh-CN" altLang="en-US" dirty="0"/>
              <a:t>重载到</a:t>
            </a:r>
            <a:r>
              <a:rPr lang="en-US" altLang="zh-CN" dirty="0"/>
              <a:t>T*</a:t>
            </a:r>
            <a:r>
              <a:rPr lang="zh-CN" altLang="en-US" dirty="0"/>
              <a:t>类型的转换</a:t>
            </a:r>
          </a:p>
          <a:p>
            <a:r>
              <a:rPr lang="zh-CN" altLang="en-US" dirty="0"/>
              <a:t>	</a:t>
            </a:r>
            <a:r>
              <a:rPr lang="en-US" altLang="zh-CN" dirty="0"/>
              <a:t>operator const T * () const;</a:t>
            </a:r>
          </a:p>
          <a:p>
            <a:r>
              <a:rPr lang="en-US" altLang="zh-CN" dirty="0"/>
              <a:t>	int </a:t>
            </a:r>
            <a:r>
              <a:rPr lang="en-US" altLang="zh-CN" dirty="0" err="1"/>
              <a:t>getSize</a:t>
            </a:r>
            <a:r>
              <a:rPr lang="en-US" altLang="zh-CN" dirty="0"/>
              <a:t>() const;		//</a:t>
            </a:r>
            <a:r>
              <a:rPr lang="zh-CN" altLang="en-US" dirty="0"/>
              <a:t>取数组的大小</a:t>
            </a:r>
          </a:p>
          <a:p>
            <a:r>
              <a:rPr lang="zh-CN" altLang="en-US" dirty="0"/>
              <a:t>	</a:t>
            </a:r>
            <a:r>
              <a:rPr lang="en-US" altLang="zh-CN" dirty="0"/>
              <a:t>void resize(int </a:t>
            </a:r>
            <a:r>
              <a:rPr lang="en-US" altLang="zh-CN" dirty="0" err="1"/>
              <a:t>sz</a:t>
            </a:r>
            <a:r>
              <a:rPr lang="en-US" altLang="zh-CN" dirty="0"/>
              <a:t>);		//</a:t>
            </a:r>
            <a:r>
              <a:rPr lang="zh-CN" altLang="en-US" dirty="0"/>
              <a:t>修改数组的大小</a:t>
            </a:r>
          </a:p>
          <a:p>
            <a:r>
              <a:rPr lang="zh-CN" altLang="en-US" dirty="0"/>
              <a:t>	</a:t>
            </a:r>
            <a:r>
              <a:rPr lang="en-US" altLang="zh-CN" dirty="0"/>
              <a:t>void sort();		// </a:t>
            </a:r>
            <a:r>
              <a:rPr lang="zh-CN" altLang="en-US" dirty="0"/>
              <a:t>冒泡排序</a:t>
            </a:r>
          </a:p>
          <a:p>
            <a:r>
              <a:rPr lang="zh-CN" altLang="en-US" dirty="0"/>
              <a:t>	</a:t>
            </a:r>
            <a:r>
              <a:rPr lang="en-US" altLang="zh-CN" dirty="0"/>
              <a:t>int seek(T key);	// </a:t>
            </a:r>
            <a:r>
              <a:rPr lang="zh-CN" altLang="en-US" dirty="0"/>
              <a:t>检索</a:t>
            </a:r>
          </a:p>
          <a:p>
            <a:r>
              <a:rPr lang="zh-CN" altLang="en-US" dirty="0"/>
              <a:t>	</a:t>
            </a:r>
            <a:r>
              <a:rPr lang="en-US" altLang="zh-CN" dirty="0"/>
              <a:t>T sum();	          // </a:t>
            </a:r>
            <a:r>
              <a:rPr lang="zh-CN" altLang="en-US" dirty="0"/>
              <a:t>求和</a:t>
            </a:r>
          </a:p>
          <a:p>
            <a:endParaRPr lang="zh-CN" altLang="en-US" dirty="0"/>
          </a:p>
          <a:p>
            <a:r>
              <a:rPr lang="en-US" altLang="zh-CN" dirty="0"/>
              <a:t>};</a:t>
            </a:r>
          </a:p>
          <a:p>
            <a:r>
              <a:rPr lang="en-US" altLang="zh-CN" dirty="0"/>
              <a:t>template &lt;class T&gt;  T Array&lt;T&gt;::sum()</a:t>
            </a:r>
          </a:p>
          <a:p>
            <a:r>
              <a:rPr lang="en-US" altLang="zh-CN" dirty="0"/>
              <a:t>{	T	s=0;</a:t>
            </a:r>
          </a:p>
          <a:p>
            <a:r>
              <a:rPr lang="en-US" altLang="zh-CN" dirty="0"/>
              <a:t>	for (int </a:t>
            </a:r>
            <a:r>
              <a:rPr lang="en-US" altLang="zh-CN" dirty="0" err="1"/>
              <a:t>i</a:t>
            </a:r>
            <a:r>
              <a:rPr lang="en-US" altLang="zh-CN" dirty="0"/>
              <a:t>=0; </a:t>
            </a:r>
            <a:r>
              <a:rPr lang="en-US" altLang="zh-CN" dirty="0" err="1"/>
              <a:t>i</a:t>
            </a:r>
            <a:r>
              <a:rPr lang="en-US" altLang="zh-CN" dirty="0"/>
              <a:t>&lt;size; </a:t>
            </a:r>
            <a:r>
              <a:rPr lang="en-US" altLang="zh-CN" dirty="0" err="1"/>
              <a:t>i</a:t>
            </a:r>
            <a:r>
              <a:rPr lang="en-US" altLang="zh-CN" dirty="0"/>
              <a:t>++)</a:t>
            </a:r>
          </a:p>
          <a:p>
            <a:r>
              <a:rPr lang="en-US" altLang="zh-CN" dirty="0"/>
              <a:t>		s+= list[</a:t>
            </a:r>
            <a:r>
              <a:rPr lang="en-US" altLang="zh-CN" dirty="0" err="1"/>
              <a:t>i</a:t>
            </a:r>
            <a:r>
              <a:rPr lang="en-US" altLang="zh-CN" dirty="0"/>
              <a:t>];</a:t>
            </a:r>
          </a:p>
          <a:p>
            <a:r>
              <a:rPr lang="en-US" altLang="zh-CN" dirty="0"/>
              <a:t>	return s;</a:t>
            </a:r>
          </a:p>
          <a:p>
            <a:r>
              <a:rPr lang="en-US" altLang="zh-CN" dirty="0"/>
              <a:t>}    </a:t>
            </a:r>
          </a:p>
          <a:p>
            <a:endParaRPr lang="en-US" altLang="zh-CN" dirty="0"/>
          </a:p>
          <a:p>
            <a:r>
              <a:rPr lang="en-US" altLang="zh-CN" dirty="0"/>
              <a:t>template &lt;class T&gt; int Array&lt;T&gt;::seek(T key)</a:t>
            </a:r>
          </a:p>
          <a:p>
            <a:r>
              <a:rPr lang="en-US" altLang="zh-CN" dirty="0"/>
              <a:t>{for (int </a:t>
            </a:r>
            <a:r>
              <a:rPr lang="en-US" altLang="zh-CN" dirty="0" err="1"/>
              <a:t>i</a:t>
            </a:r>
            <a:r>
              <a:rPr lang="en-US" altLang="zh-CN" dirty="0"/>
              <a:t>=0; </a:t>
            </a:r>
            <a:r>
              <a:rPr lang="en-US" altLang="zh-CN" dirty="0" err="1"/>
              <a:t>i</a:t>
            </a:r>
            <a:r>
              <a:rPr lang="en-US" altLang="zh-CN" dirty="0"/>
              <a:t>&lt;size; </a:t>
            </a:r>
            <a:r>
              <a:rPr lang="en-US" altLang="zh-CN" dirty="0" err="1"/>
              <a:t>i</a:t>
            </a:r>
            <a:r>
              <a:rPr lang="en-US" altLang="zh-CN" dirty="0"/>
              <a:t>++)</a:t>
            </a:r>
          </a:p>
          <a:p>
            <a:r>
              <a:rPr lang="en-US" altLang="zh-CN" dirty="0"/>
              <a:t>	if (list[</a:t>
            </a:r>
            <a:r>
              <a:rPr lang="en-US" altLang="zh-CN" dirty="0" err="1"/>
              <a:t>i</a:t>
            </a:r>
            <a:r>
              <a:rPr lang="en-US" altLang="zh-CN" dirty="0"/>
              <a:t>]==key) return </a:t>
            </a:r>
            <a:r>
              <a:rPr lang="en-US" altLang="zh-CN" dirty="0" err="1"/>
              <a:t>i</a:t>
            </a:r>
            <a:r>
              <a:rPr lang="en-US" altLang="zh-CN" dirty="0"/>
              <a:t>;// </a:t>
            </a:r>
            <a:r>
              <a:rPr lang="zh-CN" altLang="en-US" dirty="0"/>
              <a:t>找到返回</a:t>
            </a:r>
            <a:r>
              <a:rPr lang="en-US" altLang="zh-CN" dirty="0"/>
              <a:t>key</a:t>
            </a:r>
            <a:r>
              <a:rPr lang="zh-CN" altLang="en-US" dirty="0"/>
              <a:t>在数组中的位置</a:t>
            </a:r>
          </a:p>
          <a:p>
            <a:r>
              <a:rPr lang="zh-CN" altLang="en-US" dirty="0"/>
              <a:t>	</a:t>
            </a:r>
            <a:r>
              <a:rPr lang="en-US" altLang="zh-CN" dirty="0"/>
              <a:t>return -1;	// </a:t>
            </a:r>
            <a:r>
              <a:rPr lang="zh-CN" altLang="en-US" dirty="0"/>
              <a:t>找不到返回</a:t>
            </a:r>
            <a:r>
              <a:rPr lang="en-US" altLang="zh-CN" dirty="0"/>
              <a:t>-1</a:t>
            </a:r>
          </a:p>
          <a:p>
            <a:r>
              <a:rPr lang="en-US" altLang="zh-CN" dirty="0"/>
              <a:t>}</a:t>
            </a:r>
          </a:p>
          <a:p>
            <a:endParaRPr lang="en-US" altLang="zh-CN" dirty="0"/>
          </a:p>
          <a:p>
            <a:r>
              <a:rPr lang="en-US" altLang="zh-CN" dirty="0"/>
              <a:t>template &lt;class T&gt; void Array&lt;T&gt;::sort(){</a:t>
            </a:r>
          </a:p>
          <a:p>
            <a:r>
              <a:rPr lang="en-US" altLang="zh-CN" dirty="0"/>
              <a:t>	int </a:t>
            </a:r>
            <a:r>
              <a:rPr lang="en-US" altLang="zh-CN" dirty="0" err="1"/>
              <a:t>i</a:t>
            </a:r>
            <a:r>
              <a:rPr lang="en-US" altLang="zh-CN" dirty="0"/>
              <a:t>, j;  T d;</a:t>
            </a:r>
          </a:p>
          <a:p>
            <a:r>
              <a:rPr lang="en-US" altLang="zh-CN" dirty="0"/>
              <a:t> for (</a:t>
            </a:r>
            <a:r>
              <a:rPr lang="en-US" altLang="zh-CN" dirty="0" err="1"/>
              <a:t>i</a:t>
            </a:r>
            <a:r>
              <a:rPr lang="en-US" altLang="zh-CN" dirty="0"/>
              <a:t>=1; </a:t>
            </a:r>
            <a:r>
              <a:rPr lang="en-US" altLang="zh-CN" dirty="0" err="1"/>
              <a:t>i</a:t>
            </a:r>
            <a:r>
              <a:rPr lang="en-US" altLang="zh-CN" dirty="0"/>
              <a:t>&lt;size; </a:t>
            </a:r>
            <a:r>
              <a:rPr lang="en-US" altLang="zh-CN" dirty="0" err="1"/>
              <a:t>i</a:t>
            </a:r>
            <a:r>
              <a:rPr lang="en-US" altLang="zh-CN" dirty="0"/>
              <a:t>++)</a:t>
            </a:r>
          </a:p>
          <a:p>
            <a:r>
              <a:rPr lang="en-US" altLang="zh-CN" dirty="0"/>
              <a:t>       for (j=size-1; j&gt;=</a:t>
            </a:r>
            <a:r>
              <a:rPr lang="en-US" altLang="zh-CN" dirty="0" err="1"/>
              <a:t>i</a:t>
            </a:r>
            <a:r>
              <a:rPr lang="en-US" altLang="zh-CN" dirty="0"/>
              <a:t>; j--)</a:t>
            </a:r>
          </a:p>
          <a:p>
            <a:r>
              <a:rPr lang="en-US" altLang="zh-CN" dirty="0"/>
              <a:t>		if (list[j-1] &gt; list[j]) </a:t>
            </a:r>
          </a:p>
          <a:p>
            <a:r>
              <a:rPr lang="en-US" altLang="zh-CN" dirty="0"/>
              <a:t>               {d= list[j-1]; list[j-1]= list[j]; list[j]=d; }</a:t>
            </a:r>
          </a:p>
          <a:p>
            <a:r>
              <a:rPr lang="en-US" altLang="zh-CN" dirty="0"/>
              <a:t>}</a:t>
            </a:r>
          </a:p>
          <a:p>
            <a:endParaRPr lang="en-US" altLang="zh-CN" dirty="0"/>
          </a:p>
          <a:p>
            <a:r>
              <a:rPr lang="en-US" altLang="zh-CN" dirty="0"/>
              <a:t>template &lt;class T&gt;  Array&lt;T&gt;::Array(int </a:t>
            </a:r>
            <a:r>
              <a:rPr lang="en-US" altLang="zh-CN" dirty="0" err="1"/>
              <a:t>sz</a:t>
            </a:r>
            <a:r>
              <a:rPr lang="en-US" altLang="zh-CN" dirty="0"/>
              <a:t>) {</a:t>
            </a:r>
          </a:p>
          <a:p>
            <a:r>
              <a:rPr lang="en-US" altLang="zh-CN" dirty="0"/>
              <a:t>	assert(</a:t>
            </a:r>
            <a:r>
              <a:rPr lang="en-US" altLang="zh-CN" dirty="0" err="1"/>
              <a:t>sz</a:t>
            </a:r>
            <a:r>
              <a:rPr lang="en-US" altLang="zh-CN" dirty="0"/>
              <a:t> &gt;= 0);//</a:t>
            </a:r>
            <a:r>
              <a:rPr lang="en-US" altLang="zh-CN" dirty="0" err="1"/>
              <a:t>sz</a:t>
            </a:r>
            <a:r>
              <a:rPr lang="zh-CN" altLang="en-US" dirty="0"/>
              <a:t>为数组大小非负</a:t>
            </a:r>
          </a:p>
          <a:p>
            <a:r>
              <a:rPr lang="zh-CN" altLang="en-US" dirty="0"/>
              <a:t>	</a:t>
            </a:r>
            <a:r>
              <a:rPr lang="en-US" altLang="zh-CN" dirty="0"/>
              <a:t>size = </a:t>
            </a:r>
            <a:r>
              <a:rPr lang="en-US" altLang="zh-CN" dirty="0" err="1"/>
              <a:t>sz</a:t>
            </a:r>
            <a:r>
              <a:rPr lang="en-US" altLang="zh-CN" dirty="0"/>
              <a:t>;	</a:t>
            </a:r>
          </a:p>
          <a:p>
            <a:r>
              <a:rPr lang="en-US" altLang="zh-CN" dirty="0"/>
              <a:t>	list = new T [size];	</a:t>
            </a:r>
          </a:p>
          <a:p>
            <a:r>
              <a:rPr lang="en-US" altLang="zh-CN" dirty="0"/>
              <a:t>}</a:t>
            </a:r>
          </a:p>
          <a:p>
            <a:r>
              <a:rPr lang="en-US" altLang="zh-CN" dirty="0"/>
              <a:t>template &lt;class T&gt; Array&lt;T&gt;::~Array() { </a:t>
            </a:r>
          </a:p>
          <a:p>
            <a:r>
              <a:rPr lang="en-US" altLang="zh-CN" dirty="0"/>
              <a:t>	delete [] list;</a:t>
            </a:r>
          </a:p>
          <a:p>
            <a:r>
              <a:rPr lang="en-US" altLang="zh-CN" dirty="0"/>
              <a:t>}</a:t>
            </a:r>
          </a:p>
          <a:p>
            <a:r>
              <a:rPr lang="en-US" altLang="zh-CN" dirty="0"/>
              <a:t>//</a:t>
            </a:r>
            <a:r>
              <a:rPr lang="zh-CN" altLang="en-US" dirty="0"/>
              <a:t>拷贝构造函数</a:t>
            </a:r>
          </a:p>
          <a:p>
            <a:r>
              <a:rPr lang="en-US" altLang="zh-CN" dirty="0"/>
              <a:t>template &lt;class T&gt; Array&lt;T&gt;::Array(const Array&lt;T&gt; &amp;a) {</a:t>
            </a:r>
          </a:p>
          <a:p>
            <a:r>
              <a:rPr lang="en-US" altLang="zh-CN" dirty="0"/>
              <a:t>	size = </a:t>
            </a:r>
            <a:r>
              <a:rPr lang="en-US" altLang="zh-CN" dirty="0" err="1"/>
              <a:t>a.size</a:t>
            </a:r>
            <a:r>
              <a:rPr lang="en-US" altLang="zh-CN" dirty="0"/>
              <a:t>; </a:t>
            </a:r>
          </a:p>
          <a:p>
            <a:r>
              <a:rPr lang="en-US" altLang="zh-CN" dirty="0"/>
              <a:t>	list = new T[size];	// </a:t>
            </a:r>
            <a:r>
              <a:rPr lang="zh-CN" altLang="en-US" dirty="0"/>
              <a:t>动态分配</a:t>
            </a:r>
            <a:r>
              <a:rPr lang="en-US" altLang="zh-CN" dirty="0"/>
              <a:t>n</a:t>
            </a:r>
            <a:r>
              <a:rPr lang="zh-CN" altLang="en-US" dirty="0"/>
              <a:t>个</a:t>
            </a:r>
            <a:r>
              <a:rPr lang="en-US" altLang="zh-CN" dirty="0"/>
              <a:t>T</a:t>
            </a:r>
            <a:r>
              <a:rPr lang="zh-CN" altLang="en-US" dirty="0"/>
              <a:t>类型的元素空间</a:t>
            </a:r>
          </a:p>
          <a:p>
            <a:r>
              <a:rPr lang="zh-CN" altLang="en-US" dirty="0"/>
              <a:t>	</a:t>
            </a:r>
            <a:r>
              <a:rPr lang="en-US" altLang="zh-CN" dirty="0"/>
              <a:t>for (int </a:t>
            </a:r>
            <a:r>
              <a:rPr lang="en-US" altLang="zh-CN" dirty="0" err="1"/>
              <a:t>i</a:t>
            </a:r>
            <a:r>
              <a:rPr lang="en-US" altLang="zh-CN" dirty="0"/>
              <a:t> = 0; </a:t>
            </a:r>
            <a:r>
              <a:rPr lang="en-US" altLang="zh-CN" dirty="0" err="1"/>
              <a:t>i</a:t>
            </a:r>
            <a:r>
              <a:rPr lang="en-US" altLang="zh-CN" dirty="0"/>
              <a:t> &lt; size; </a:t>
            </a:r>
            <a:r>
              <a:rPr lang="en-US" altLang="zh-CN" dirty="0" err="1"/>
              <a:t>i</a:t>
            </a:r>
            <a:r>
              <a:rPr lang="en-US" altLang="zh-CN" dirty="0"/>
              <a:t>++) //</a:t>
            </a:r>
            <a:r>
              <a:rPr lang="zh-CN" altLang="en-US" dirty="0"/>
              <a:t>从对象</a:t>
            </a:r>
            <a:r>
              <a:rPr lang="en-US" altLang="zh-CN" dirty="0"/>
              <a:t>X</a:t>
            </a:r>
            <a:r>
              <a:rPr lang="zh-CN" altLang="en-US" dirty="0"/>
              <a:t>复制数组元素到本对象 </a:t>
            </a:r>
          </a:p>
          <a:p>
            <a:r>
              <a:rPr lang="zh-CN" altLang="en-US" dirty="0"/>
              <a:t>		</a:t>
            </a:r>
            <a:r>
              <a:rPr lang="en-US" altLang="zh-CN" dirty="0"/>
              <a:t>list[</a:t>
            </a:r>
            <a:r>
              <a:rPr lang="en-US" altLang="zh-CN" dirty="0" err="1"/>
              <a:t>i</a:t>
            </a:r>
            <a:r>
              <a:rPr lang="en-US" altLang="zh-CN" dirty="0"/>
              <a:t>] = </a:t>
            </a:r>
            <a:r>
              <a:rPr lang="en-US" altLang="zh-CN" dirty="0" err="1"/>
              <a:t>a.list</a:t>
            </a:r>
            <a:r>
              <a:rPr lang="en-US" altLang="zh-CN" dirty="0"/>
              <a:t>[</a:t>
            </a:r>
            <a:r>
              <a:rPr lang="en-US" altLang="zh-CN" dirty="0" err="1"/>
              <a:t>i</a:t>
            </a:r>
            <a:r>
              <a:rPr lang="en-US" altLang="zh-CN" dirty="0"/>
              <a:t>];</a:t>
            </a:r>
          </a:p>
          <a:p>
            <a:r>
              <a:rPr lang="en-US" altLang="zh-CN" dirty="0"/>
              <a:t>}</a:t>
            </a:r>
          </a:p>
          <a:p>
            <a:endParaRPr lang="en-US" altLang="zh-CN" dirty="0"/>
          </a:p>
          <a:p>
            <a:r>
              <a:rPr lang="en-US" altLang="zh-CN" dirty="0"/>
              <a:t>template &lt;class T&gt;</a:t>
            </a:r>
          </a:p>
          <a:p>
            <a:r>
              <a:rPr lang="en-US" altLang="zh-CN" dirty="0"/>
              <a:t>Array&lt;T&gt; &amp;Array&lt;T&gt;::operator = (const Array&lt;T&gt;&amp; </a:t>
            </a:r>
            <a:r>
              <a:rPr lang="en-US" altLang="zh-CN" dirty="0" err="1"/>
              <a:t>rhs</a:t>
            </a:r>
            <a:r>
              <a:rPr lang="en-US" altLang="zh-CN" dirty="0"/>
              <a:t>) {</a:t>
            </a:r>
          </a:p>
          <a:p>
            <a:r>
              <a:rPr lang="en-US" altLang="zh-CN" dirty="0"/>
              <a:t>	if (&amp;</a:t>
            </a:r>
            <a:r>
              <a:rPr lang="en-US" altLang="zh-CN" dirty="0" err="1"/>
              <a:t>rhs</a:t>
            </a:r>
            <a:r>
              <a:rPr lang="en-US" altLang="zh-CN" dirty="0"/>
              <a:t> != this) {</a:t>
            </a:r>
          </a:p>
          <a:p>
            <a:r>
              <a:rPr lang="en-US" altLang="zh-CN" dirty="0"/>
              <a:t>//</a:t>
            </a:r>
            <a:r>
              <a:rPr lang="zh-CN" altLang="en-US" dirty="0"/>
              <a:t>如果本对象中数组大小与</a:t>
            </a:r>
            <a:r>
              <a:rPr lang="en-US" altLang="zh-CN" dirty="0" err="1"/>
              <a:t>rhs</a:t>
            </a:r>
            <a:r>
              <a:rPr lang="zh-CN" altLang="en-US" dirty="0"/>
              <a:t>不同，则删除数组原有内存，然后重新分配</a:t>
            </a:r>
          </a:p>
          <a:p>
            <a:r>
              <a:rPr lang="zh-CN" altLang="en-US" dirty="0"/>
              <a:t>		</a:t>
            </a:r>
            <a:r>
              <a:rPr lang="en-US" altLang="zh-CN" dirty="0"/>
              <a:t>if (size != </a:t>
            </a:r>
            <a:r>
              <a:rPr lang="en-US" altLang="zh-CN" dirty="0" err="1"/>
              <a:t>rhs.size</a:t>
            </a:r>
            <a:r>
              <a:rPr lang="en-US" altLang="zh-CN" dirty="0"/>
              <a:t>) {</a:t>
            </a:r>
          </a:p>
          <a:p>
            <a:r>
              <a:rPr lang="en-US" altLang="zh-CN" dirty="0"/>
              <a:t>			delete [] list;	//</a:t>
            </a:r>
            <a:r>
              <a:rPr lang="zh-CN" altLang="en-US" dirty="0"/>
              <a:t>删除数组原有内存</a:t>
            </a:r>
          </a:p>
          <a:p>
            <a:r>
              <a:rPr lang="zh-CN" altLang="en-US" dirty="0"/>
              <a:t>			</a:t>
            </a:r>
            <a:r>
              <a:rPr lang="en-US" altLang="zh-CN" dirty="0"/>
              <a:t>size = </a:t>
            </a:r>
            <a:r>
              <a:rPr lang="en-US" altLang="zh-CN" dirty="0" err="1"/>
              <a:t>rhs.size</a:t>
            </a:r>
            <a:r>
              <a:rPr lang="en-US" altLang="zh-CN" dirty="0"/>
              <a:t>;	//</a:t>
            </a:r>
            <a:r>
              <a:rPr lang="zh-CN" altLang="en-US" dirty="0"/>
              <a:t>设置本对象的数组大小</a:t>
            </a:r>
          </a:p>
          <a:p>
            <a:r>
              <a:rPr lang="zh-CN" altLang="en-US" dirty="0"/>
              <a:t>			</a:t>
            </a:r>
            <a:r>
              <a:rPr lang="en-US" altLang="zh-CN" dirty="0"/>
              <a:t>list = new T[size];	//</a:t>
            </a:r>
            <a:r>
              <a:rPr lang="zh-CN" altLang="en-US" dirty="0"/>
              <a:t>重新分配</a:t>
            </a:r>
            <a:r>
              <a:rPr lang="en-US" altLang="zh-CN" dirty="0"/>
              <a:t>n</a:t>
            </a:r>
            <a:r>
              <a:rPr lang="zh-CN" altLang="en-US" dirty="0"/>
              <a:t>个元素的内存</a:t>
            </a:r>
          </a:p>
          <a:p>
            <a:r>
              <a:rPr lang="zh-CN" altLang="en-US" dirty="0"/>
              <a:t>		</a:t>
            </a:r>
            <a:r>
              <a:rPr lang="en-US" altLang="zh-CN" dirty="0"/>
              <a:t>}</a:t>
            </a:r>
          </a:p>
          <a:p>
            <a:r>
              <a:rPr lang="en-US" altLang="zh-CN" dirty="0"/>
              <a:t>		//</a:t>
            </a:r>
            <a:r>
              <a:rPr lang="zh-CN" altLang="en-US" dirty="0"/>
              <a:t>从对象</a:t>
            </a:r>
            <a:r>
              <a:rPr lang="en-US" altLang="zh-CN" dirty="0"/>
              <a:t>X</a:t>
            </a:r>
            <a:r>
              <a:rPr lang="zh-CN" altLang="en-US" dirty="0"/>
              <a:t>复制数组元素到本对象  </a:t>
            </a:r>
          </a:p>
          <a:p>
            <a:r>
              <a:rPr lang="zh-CN" altLang="en-US" dirty="0"/>
              <a:t>		</a:t>
            </a:r>
            <a:r>
              <a:rPr lang="en-US" altLang="zh-CN" dirty="0"/>
              <a:t>for (int </a:t>
            </a:r>
            <a:r>
              <a:rPr lang="en-US" altLang="zh-CN" dirty="0" err="1"/>
              <a:t>i</a:t>
            </a:r>
            <a:r>
              <a:rPr lang="en-US" altLang="zh-CN" dirty="0"/>
              <a:t> = 0; </a:t>
            </a:r>
            <a:r>
              <a:rPr lang="en-US" altLang="zh-CN" dirty="0" err="1"/>
              <a:t>i</a:t>
            </a:r>
            <a:r>
              <a:rPr lang="en-US" altLang="zh-CN" dirty="0"/>
              <a:t> &lt; size; </a:t>
            </a:r>
            <a:r>
              <a:rPr lang="en-US" altLang="zh-CN" dirty="0" err="1"/>
              <a:t>i</a:t>
            </a:r>
            <a:r>
              <a:rPr lang="en-US" altLang="zh-CN" dirty="0"/>
              <a:t>++)</a:t>
            </a:r>
          </a:p>
          <a:p>
            <a:r>
              <a:rPr lang="en-US" altLang="zh-CN" dirty="0"/>
              <a:t>			list[</a:t>
            </a:r>
            <a:r>
              <a:rPr lang="en-US" altLang="zh-CN" dirty="0" err="1"/>
              <a:t>i</a:t>
            </a:r>
            <a:r>
              <a:rPr lang="en-US" altLang="zh-CN" dirty="0"/>
              <a:t>] = </a:t>
            </a:r>
            <a:r>
              <a:rPr lang="en-US" altLang="zh-CN" dirty="0" err="1"/>
              <a:t>rhs.list</a:t>
            </a:r>
            <a:r>
              <a:rPr lang="en-US" altLang="zh-CN" dirty="0"/>
              <a:t>[</a:t>
            </a:r>
            <a:r>
              <a:rPr lang="en-US" altLang="zh-CN" dirty="0" err="1"/>
              <a:t>i</a:t>
            </a:r>
            <a:r>
              <a:rPr lang="en-US" altLang="zh-CN" dirty="0"/>
              <a:t>];</a:t>
            </a:r>
          </a:p>
          <a:p>
            <a:r>
              <a:rPr lang="en-US" altLang="zh-CN" dirty="0"/>
              <a:t>	}</a:t>
            </a:r>
          </a:p>
          <a:p>
            <a:r>
              <a:rPr lang="en-US" altLang="zh-CN" dirty="0"/>
              <a:t>	return *this;	//</a:t>
            </a:r>
            <a:r>
              <a:rPr lang="zh-CN" altLang="en-US" dirty="0"/>
              <a:t>返回当前对象的引用</a:t>
            </a:r>
          </a:p>
          <a:p>
            <a:r>
              <a:rPr lang="en-US" altLang="zh-CN" dirty="0"/>
              <a:t>}</a:t>
            </a:r>
          </a:p>
          <a:p>
            <a:r>
              <a:rPr lang="en-US" altLang="zh-CN" dirty="0"/>
              <a:t>//</a:t>
            </a:r>
            <a:r>
              <a:rPr lang="zh-CN" altLang="en-US" dirty="0"/>
              <a:t>重载下标运算符，实现与普通数组一样通过下标访问元素，并且具有越界检查功能</a:t>
            </a:r>
          </a:p>
          <a:p>
            <a:r>
              <a:rPr lang="en-US" altLang="zh-CN" dirty="0"/>
              <a:t>template &lt;class T&gt;</a:t>
            </a:r>
          </a:p>
          <a:p>
            <a:r>
              <a:rPr lang="en-US" altLang="zh-CN" dirty="0"/>
              <a:t>T &amp;Array&lt;T&gt;::operator[] (int n) {</a:t>
            </a:r>
          </a:p>
          <a:p>
            <a:r>
              <a:rPr lang="en-US" altLang="zh-CN" dirty="0"/>
              <a:t>	assert(n &gt;= 0 &amp;&amp; n &lt; size);	//</a:t>
            </a:r>
            <a:r>
              <a:rPr lang="zh-CN" altLang="en-US" dirty="0"/>
              <a:t>检查下标是否越界</a:t>
            </a:r>
          </a:p>
          <a:p>
            <a:r>
              <a:rPr lang="zh-CN" altLang="en-US" dirty="0"/>
              <a:t>	</a:t>
            </a:r>
            <a:r>
              <a:rPr lang="en-US" altLang="zh-CN" dirty="0"/>
              <a:t>return list[n];			//</a:t>
            </a:r>
            <a:r>
              <a:rPr lang="zh-CN" altLang="en-US" dirty="0"/>
              <a:t>返回下标为</a:t>
            </a:r>
            <a:r>
              <a:rPr lang="en-US" altLang="zh-CN" dirty="0"/>
              <a:t>n</a:t>
            </a:r>
            <a:r>
              <a:rPr lang="zh-CN" altLang="en-US" dirty="0"/>
              <a:t>的数组元素</a:t>
            </a:r>
          </a:p>
          <a:p>
            <a:r>
              <a:rPr lang="en-US" altLang="zh-CN" dirty="0"/>
              <a:t>}</a:t>
            </a:r>
          </a:p>
          <a:p>
            <a:r>
              <a:rPr lang="en-US" altLang="zh-CN" dirty="0"/>
              <a:t>template &lt;class T&gt;</a:t>
            </a:r>
          </a:p>
          <a:p>
            <a:r>
              <a:rPr lang="en-US" altLang="zh-CN" dirty="0"/>
              <a:t>const T &amp;Array&lt;T&gt;::operator[] (int n) const {</a:t>
            </a:r>
          </a:p>
          <a:p>
            <a:r>
              <a:rPr lang="en-US" altLang="zh-CN" dirty="0"/>
              <a:t>	assert(n &gt;= 0 &amp;&amp; n &lt; size);	//</a:t>
            </a:r>
            <a:r>
              <a:rPr lang="zh-CN" altLang="en-US" dirty="0"/>
              <a:t>检查下标是否越界</a:t>
            </a:r>
          </a:p>
          <a:p>
            <a:r>
              <a:rPr lang="zh-CN" altLang="en-US" dirty="0"/>
              <a:t>	</a:t>
            </a:r>
            <a:r>
              <a:rPr lang="en-US" altLang="zh-CN" dirty="0"/>
              <a:t>return list[n];			//</a:t>
            </a:r>
            <a:r>
              <a:rPr lang="zh-CN" altLang="en-US" dirty="0"/>
              <a:t>返回下标为</a:t>
            </a:r>
            <a:r>
              <a:rPr lang="en-US" altLang="zh-CN" dirty="0"/>
              <a:t>n</a:t>
            </a:r>
            <a:r>
              <a:rPr lang="zh-CN" altLang="en-US" dirty="0"/>
              <a:t>的数组元素</a:t>
            </a:r>
          </a:p>
          <a:p>
            <a:r>
              <a:rPr lang="en-US" altLang="zh-CN" dirty="0"/>
              <a:t>}</a:t>
            </a:r>
          </a:p>
          <a:p>
            <a:r>
              <a:rPr lang="en-US" altLang="zh-CN" dirty="0"/>
              <a:t>//</a:t>
            </a:r>
            <a:r>
              <a:rPr lang="zh-CN" altLang="en-US" dirty="0"/>
              <a:t>重载指针转换运算符，将</a:t>
            </a:r>
            <a:r>
              <a:rPr lang="en-US" altLang="zh-CN" dirty="0"/>
              <a:t>Array</a:t>
            </a:r>
            <a:r>
              <a:rPr lang="zh-CN" altLang="en-US" dirty="0"/>
              <a:t>类的对象名转换为</a:t>
            </a:r>
            <a:r>
              <a:rPr lang="en-US" altLang="zh-CN" dirty="0"/>
              <a:t>T</a:t>
            </a:r>
            <a:r>
              <a:rPr lang="zh-CN" altLang="en-US" dirty="0"/>
              <a:t>类型的指针</a:t>
            </a:r>
          </a:p>
          <a:p>
            <a:r>
              <a:rPr lang="en-US" altLang="zh-CN" dirty="0"/>
              <a:t>template &lt;class T&gt;</a:t>
            </a:r>
          </a:p>
          <a:p>
            <a:r>
              <a:rPr lang="en-US" altLang="zh-CN" dirty="0"/>
              <a:t>Array&lt;T&gt;::operator T * () {</a:t>
            </a:r>
          </a:p>
          <a:p>
            <a:r>
              <a:rPr lang="en-US" altLang="zh-CN" dirty="0"/>
              <a:t>	return list;	//</a:t>
            </a:r>
            <a:r>
              <a:rPr lang="zh-CN" altLang="en-US" dirty="0"/>
              <a:t>返回当前对象中私有数组的首地址</a:t>
            </a:r>
          </a:p>
          <a:p>
            <a:r>
              <a:rPr lang="en-US" altLang="zh-CN" dirty="0"/>
              <a:t>}</a:t>
            </a:r>
          </a:p>
          <a:p>
            <a:r>
              <a:rPr lang="en-US" altLang="zh-CN" dirty="0"/>
              <a:t>template &lt;class T&gt;</a:t>
            </a:r>
          </a:p>
          <a:p>
            <a:r>
              <a:rPr lang="en-US" altLang="zh-CN" dirty="0"/>
              <a:t>Array&lt;T&gt;::operator const T * () const {</a:t>
            </a:r>
          </a:p>
          <a:p>
            <a:r>
              <a:rPr lang="en-US" altLang="zh-CN" dirty="0"/>
              <a:t>	return list;	//</a:t>
            </a:r>
            <a:r>
              <a:rPr lang="zh-CN" altLang="en-US" dirty="0"/>
              <a:t>返回当前对象中私有数组的首地址</a:t>
            </a:r>
          </a:p>
          <a:p>
            <a:r>
              <a:rPr lang="en-US" altLang="zh-CN" dirty="0"/>
              <a:t>}</a:t>
            </a:r>
          </a:p>
          <a:p>
            <a:r>
              <a:rPr lang="en-US" altLang="zh-CN" dirty="0"/>
              <a:t>//</a:t>
            </a:r>
            <a:r>
              <a:rPr lang="zh-CN" altLang="en-US" dirty="0"/>
              <a:t>取当前数组的大小</a:t>
            </a:r>
          </a:p>
          <a:p>
            <a:r>
              <a:rPr lang="en-US" altLang="zh-CN" dirty="0"/>
              <a:t>template &lt;class T&gt;</a:t>
            </a:r>
          </a:p>
          <a:p>
            <a:r>
              <a:rPr lang="en-US" altLang="zh-CN" dirty="0"/>
              <a:t>int Array&lt;T&gt;::</a:t>
            </a:r>
            <a:r>
              <a:rPr lang="en-US" altLang="zh-CN" dirty="0" err="1"/>
              <a:t>getSize</a:t>
            </a:r>
            <a:r>
              <a:rPr lang="en-US" altLang="zh-CN" dirty="0"/>
              <a:t>() const {</a:t>
            </a:r>
          </a:p>
          <a:p>
            <a:r>
              <a:rPr lang="en-US" altLang="zh-CN" dirty="0"/>
              <a:t>	return size;</a:t>
            </a:r>
          </a:p>
          <a:p>
            <a:r>
              <a:rPr lang="en-US" altLang="zh-CN" dirty="0"/>
              <a:t>}</a:t>
            </a:r>
          </a:p>
          <a:p>
            <a:r>
              <a:rPr lang="en-US" altLang="zh-CN" dirty="0"/>
              <a:t>// </a:t>
            </a:r>
            <a:r>
              <a:rPr lang="zh-CN" altLang="en-US" dirty="0"/>
              <a:t>将数组大小修改为</a:t>
            </a:r>
            <a:r>
              <a:rPr lang="en-US" altLang="zh-CN" dirty="0" err="1"/>
              <a:t>sz</a:t>
            </a:r>
            <a:endParaRPr lang="en-US" altLang="zh-CN" dirty="0"/>
          </a:p>
          <a:p>
            <a:r>
              <a:rPr lang="en-US" altLang="zh-CN" dirty="0"/>
              <a:t>template &lt;class T&gt;</a:t>
            </a:r>
          </a:p>
          <a:p>
            <a:r>
              <a:rPr lang="en-US" altLang="zh-CN" dirty="0"/>
              <a:t>void Array&lt;T&gt;::resize(int </a:t>
            </a:r>
            <a:r>
              <a:rPr lang="en-US" altLang="zh-CN" dirty="0" err="1"/>
              <a:t>sz</a:t>
            </a:r>
            <a:r>
              <a:rPr lang="en-US" altLang="zh-CN" dirty="0"/>
              <a:t>) {</a:t>
            </a:r>
          </a:p>
          <a:p>
            <a:r>
              <a:rPr lang="en-US" altLang="zh-CN" dirty="0"/>
              <a:t>	assert(</a:t>
            </a:r>
            <a:r>
              <a:rPr lang="en-US" altLang="zh-CN" dirty="0" err="1"/>
              <a:t>sz</a:t>
            </a:r>
            <a:r>
              <a:rPr lang="en-US" altLang="zh-CN" dirty="0"/>
              <a:t> &gt;= 0);	//</a:t>
            </a:r>
            <a:r>
              <a:rPr lang="zh-CN" altLang="en-US" dirty="0"/>
              <a:t>检查</a:t>
            </a:r>
            <a:r>
              <a:rPr lang="en-US" altLang="zh-CN" dirty="0" err="1"/>
              <a:t>sz</a:t>
            </a:r>
            <a:r>
              <a:rPr lang="zh-CN" altLang="en-US" dirty="0"/>
              <a:t>是否非负</a:t>
            </a:r>
          </a:p>
          <a:p>
            <a:r>
              <a:rPr lang="zh-CN" altLang="en-US" dirty="0"/>
              <a:t>	</a:t>
            </a:r>
            <a:r>
              <a:rPr lang="en-US" altLang="zh-CN" dirty="0"/>
              <a:t>if (</a:t>
            </a:r>
            <a:r>
              <a:rPr lang="en-US" altLang="zh-CN" dirty="0" err="1"/>
              <a:t>sz</a:t>
            </a:r>
            <a:r>
              <a:rPr lang="en-US" altLang="zh-CN" dirty="0"/>
              <a:t> == size)	//</a:t>
            </a:r>
            <a:r>
              <a:rPr lang="zh-CN" altLang="en-US" dirty="0"/>
              <a:t>如果指定的大小与原有大小一样，什么也不做</a:t>
            </a:r>
          </a:p>
          <a:p>
            <a:r>
              <a:rPr lang="zh-CN" altLang="en-US" dirty="0"/>
              <a:t>		</a:t>
            </a:r>
            <a:r>
              <a:rPr lang="en-US" altLang="zh-CN" dirty="0"/>
              <a:t>return;</a:t>
            </a:r>
          </a:p>
          <a:p>
            <a:r>
              <a:rPr lang="en-US" altLang="zh-CN" dirty="0"/>
              <a:t>	T* </a:t>
            </a:r>
            <a:r>
              <a:rPr lang="en-US" altLang="zh-CN" dirty="0" err="1"/>
              <a:t>newList</a:t>
            </a:r>
            <a:r>
              <a:rPr lang="en-US" altLang="zh-CN" dirty="0"/>
              <a:t> = new T [</a:t>
            </a:r>
            <a:r>
              <a:rPr lang="en-US" altLang="zh-CN" dirty="0" err="1"/>
              <a:t>sz</a:t>
            </a:r>
            <a:r>
              <a:rPr lang="en-US" altLang="zh-CN" dirty="0"/>
              <a:t>];	//</a:t>
            </a:r>
            <a:r>
              <a:rPr lang="zh-CN" altLang="en-US" dirty="0"/>
              <a:t>申请新的数组内存</a:t>
            </a:r>
          </a:p>
          <a:p>
            <a:r>
              <a:rPr lang="zh-CN" altLang="en-US" dirty="0"/>
              <a:t>	</a:t>
            </a:r>
            <a:r>
              <a:rPr lang="en-US" altLang="zh-CN" dirty="0"/>
              <a:t>int n = (</a:t>
            </a:r>
            <a:r>
              <a:rPr lang="en-US" altLang="zh-CN" dirty="0" err="1"/>
              <a:t>sz</a:t>
            </a:r>
            <a:r>
              <a:rPr lang="en-US" altLang="zh-CN" dirty="0"/>
              <a:t> &lt; size) ? </a:t>
            </a:r>
            <a:r>
              <a:rPr lang="en-US" altLang="zh-CN" dirty="0" err="1"/>
              <a:t>sz</a:t>
            </a:r>
            <a:r>
              <a:rPr lang="en-US" altLang="zh-CN" dirty="0"/>
              <a:t> : size;//</a:t>
            </a:r>
            <a:r>
              <a:rPr lang="zh-CN" altLang="en-US" dirty="0"/>
              <a:t>将</a:t>
            </a:r>
            <a:r>
              <a:rPr lang="en-US" altLang="zh-CN" dirty="0" err="1"/>
              <a:t>sz</a:t>
            </a:r>
            <a:r>
              <a:rPr lang="zh-CN" altLang="en-US" dirty="0"/>
              <a:t>与</a:t>
            </a:r>
            <a:r>
              <a:rPr lang="en-US" altLang="zh-CN" dirty="0"/>
              <a:t>size</a:t>
            </a:r>
            <a:r>
              <a:rPr lang="zh-CN" altLang="en-US" dirty="0"/>
              <a:t>中较小的一个赋值给</a:t>
            </a:r>
            <a:r>
              <a:rPr lang="en-US" altLang="zh-CN" dirty="0"/>
              <a:t>n</a:t>
            </a:r>
          </a:p>
          <a:p>
            <a:r>
              <a:rPr lang="en-US" altLang="zh-CN" dirty="0"/>
              <a:t>	//</a:t>
            </a:r>
            <a:r>
              <a:rPr lang="zh-CN" altLang="en-US" dirty="0"/>
              <a:t>将原有数组中前</a:t>
            </a:r>
            <a:r>
              <a:rPr lang="en-US" altLang="zh-CN" dirty="0"/>
              <a:t>n</a:t>
            </a:r>
            <a:r>
              <a:rPr lang="zh-CN" altLang="en-US" dirty="0"/>
              <a:t>个元素复制到新数组中</a:t>
            </a:r>
          </a:p>
          <a:p>
            <a:r>
              <a:rPr lang="zh-CN" altLang="en-US" dirty="0"/>
              <a:t>	</a:t>
            </a:r>
            <a:r>
              <a:rPr lang="en-US" altLang="zh-CN" dirty="0"/>
              <a:t>for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a:t>
            </a:r>
          </a:p>
          <a:p>
            <a:r>
              <a:rPr lang="en-US" altLang="zh-CN" dirty="0"/>
              <a:t>		</a:t>
            </a:r>
            <a:r>
              <a:rPr lang="en-US" altLang="zh-CN" dirty="0" err="1"/>
              <a:t>newList</a:t>
            </a:r>
            <a:r>
              <a:rPr lang="en-US" altLang="zh-CN" dirty="0"/>
              <a:t>[</a:t>
            </a:r>
            <a:r>
              <a:rPr lang="en-US" altLang="zh-CN" dirty="0" err="1"/>
              <a:t>i</a:t>
            </a:r>
            <a:r>
              <a:rPr lang="en-US" altLang="zh-CN" dirty="0"/>
              <a:t>] = list[</a:t>
            </a:r>
            <a:r>
              <a:rPr lang="en-US" altLang="zh-CN" dirty="0" err="1"/>
              <a:t>i</a:t>
            </a:r>
            <a:r>
              <a:rPr lang="en-US" altLang="zh-CN" dirty="0"/>
              <a:t>];</a:t>
            </a:r>
          </a:p>
          <a:p>
            <a:r>
              <a:rPr lang="en-US" altLang="zh-CN" dirty="0"/>
              <a:t>	delete[] list;		//</a:t>
            </a:r>
            <a:r>
              <a:rPr lang="zh-CN" altLang="en-US" dirty="0"/>
              <a:t>删除原数组</a:t>
            </a:r>
          </a:p>
          <a:p>
            <a:r>
              <a:rPr lang="zh-CN" altLang="en-US" dirty="0"/>
              <a:t>	</a:t>
            </a:r>
            <a:r>
              <a:rPr lang="en-US" altLang="zh-CN" dirty="0"/>
              <a:t>list = </a:t>
            </a:r>
            <a:r>
              <a:rPr lang="en-US" altLang="zh-CN" dirty="0" err="1"/>
              <a:t>newList</a:t>
            </a:r>
            <a:r>
              <a:rPr lang="en-US" altLang="zh-CN" dirty="0"/>
              <a:t>;	// </a:t>
            </a:r>
            <a:r>
              <a:rPr lang="zh-CN" altLang="en-US" dirty="0"/>
              <a:t>使</a:t>
            </a:r>
            <a:r>
              <a:rPr lang="en-US" altLang="zh-CN" dirty="0"/>
              <a:t>list</a:t>
            </a:r>
            <a:r>
              <a:rPr lang="zh-CN" altLang="en-US" dirty="0"/>
              <a:t>指向新数组</a:t>
            </a:r>
          </a:p>
          <a:p>
            <a:r>
              <a:rPr lang="zh-CN" altLang="en-US" dirty="0"/>
              <a:t>	</a:t>
            </a:r>
            <a:r>
              <a:rPr lang="en-US" altLang="zh-CN" dirty="0"/>
              <a:t>size = </a:t>
            </a:r>
            <a:r>
              <a:rPr lang="en-US" altLang="zh-CN" dirty="0" err="1"/>
              <a:t>sz</a:t>
            </a:r>
            <a:r>
              <a:rPr lang="en-US" altLang="zh-CN" dirty="0"/>
              <a:t>;	//</a:t>
            </a:r>
            <a:r>
              <a:rPr lang="zh-CN" altLang="en-US" dirty="0"/>
              <a:t>更新</a:t>
            </a:r>
            <a:r>
              <a:rPr lang="en-US" altLang="zh-CN" dirty="0"/>
              <a:t>size</a:t>
            </a:r>
          </a:p>
          <a:p>
            <a:r>
              <a:rPr lang="en-US" altLang="zh-CN" dirty="0"/>
              <a:t>}</a:t>
            </a:r>
          </a:p>
          <a:p>
            <a:r>
              <a:rPr lang="en-US" altLang="zh-CN" dirty="0"/>
              <a:t>void read(int *p, int n) {</a:t>
            </a:r>
          </a:p>
          <a:p>
            <a:r>
              <a:rPr lang="en-US" altLang="zh-CN" dirty="0"/>
              <a:t> for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a:t>
            </a:r>
          </a:p>
          <a:p>
            <a:r>
              <a:rPr lang="en-US" altLang="zh-CN" dirty="0"/>
              <a:t>   p[</a:t>
            </a:r>
            <a:r>
              <a:rPr lang="en-US" altLang="zh-CN" dirty="0" err="1"/>
              <a:t>i</a:t>
            </a:r>
            <a:r>
              <a:rPr lang="en-US" altLang="zh-CN" dirty="0"/>
              <a:t>]=100-i*2+5;</a:t>
            </a:r>
          </a:p>
          <a:p>
            <a:r>
              <a:rPr lang="en-US" altLang="zh-CN" dirty="0"/>
              <a:t>}</a:t>
            </a:r>
          </a:p>
          <a:p>
            <a:endParaRPr lang="en-US" altLang="zh-CN" dirty="0"/>
          </a:p>
          <a:p>
            <a:r>
              <a:rPr lang="en-US" altLang="zh-CN" dirty="0"/>
              <a:t>int main() {</a:t>
            </a:r>
          </a:p>
          <a:p>
            <a:r>
              <a:rPr lang="en-US" altLang="zh-CN" dirty="0"/>
              <a:t> Array&lt;int&gt; a(10);</a:t>
            </a:r>
          </a:p>
          <a:p>
            <a:r>
              <a:rPr lang="en-US" altLang="zh-CN" dirty="0"/>
              <a:t> read(a, 10);</a:t>
            </a:r>
          </a:p>
          <a:p>
            <a:r>
              <a:rPr lang="en-US" altLang="zh-CN" dirty="0"/>
              <a:t> for (int </a:t>
            </a:r>
            <a:r>
              <a:rPr lang="en-US" altLang="zh-CN" dirty="0" err="1"/>
              <a:t>i</a:t>
            </a:r>
            <a:r>
              <a:rPr lang="en-US" altLang="zh-CN" dirty="0"/>
              <a:t> = 0; </a:t>
            </a:r>
            <a:r>
              <a:rPr lang="en-US" altLang="zh-CN" dirty="0" err="1"/>
              <a:t>i</a:t>
            </a:r>
            <a:r>
              <a:rPr lang="en-US" altLang="zh-CN" dirty="0"/>
              <a:t> &lt; 10; </a:t>
            </a:r>
            <a:r>
              <a:rPr lang="en-US" altLang="zh-CN" dirty="0" err="1"/>
              <a:t>i</a:t>
            </a:r>
            <a:r>
              <a:rPr lang="en-US" altLang="zh-CN" dirty="0"/>
              <a:t>++) </a:t>
            </a:r>
            <a:r>
              <a:rPr lang="en-US" altLang="zh-CN" dirty="0" err="1"/>
              <a:t>cout</a:t>
            </a:r>
            <a:r>
              <a:rPr lang="en-US" altLang="zh-CN" dirty="0"/>
              <a:t>&lt;&lt;a[</a:t>
            </a:r>
            <a:r>
              <a:rPr lang="en-US" altLang="zh-CN" dirty="0" err="1"/>
              <a:t>i</a:t>
            </a:r>
            <a:r>
              <a:rPr lang="en-US" altLang="zh-CN" dirty="0"/>
              <a:t>]&lt;&lt;"  ";</a:t>
            </a:r>
          </a:p>
          <a:p>
            <a:r>
              <a:rPr lang="en-US" altLang="zh-CN" dirty="0"/>
              <a:t> </a:t>
            </a:r>
            <a:r>
              <a:rPr lang="en-US" altLang="zh-CN" dirty="0" err="1"/>
              <a:t>cout</a:t>
            </a:r>
            <a:r>
              <a:rPr lang="en-US" altLang="zh-CN" dirty="0"/>
              <a:t>&lt;&lt;"\n";</a:t>
            </a:r>
          </a:p>
          <a:p>
            <a:r>
              <a:rPr lang="en-US" altLang="zh-CN" dirty="0"/>
              <a:t> </a:t>
            </a:r>
            <a:r>
              <a:rPr lang="en-US" altLang="zh-CN" dirty="0" err="1"/>
              <a:t>a.sort</a:t>
            </a:r>
            <a:r>
              <a:rPr lang="en-US" altLang="zh-CN" dirty="0"/>
              <a:t>();</a:t>
            </a:r>
          </a:p>
          <a:p>
            <a:r>
              <a:rPr lang="en-US" altLang="zh-CN" dirty="0"/>
              <a:t> for (int </a:t>
            </a:r>
            <a:r>
              <a:rPr lang="en-US" altLang="zh-CN" dirty="0" err="1"/>
              <a:t>i</a:t>
            </a:r>
            <a:r>
              <a:rPr lang="en-US" altLang="zh-CN" dirty="0"/>
              <a:t> = 0; </a:t>
            </a:r>
            <a:r>
              <a:rPr lang="en-US" altLang="zh-CN" dirty="0" err="1"/>
              <a:t>i</a:t>
            </a:r>
            <a:r>
              <a:rPr lang="en-US" altLang="zh-CN" dirty="0"/>
              <a:t> &lt; 10; </a:t>
            </a:r>
            <a:r>
              <a:rPr lang="en-US" altLang="zh-CN" dirty="0" err="1"/>
              <a:t>i</a:t>
            </a:r>
            <a:r>
              <a:rPr lang="en-US" altLang="zh-CN" dirty="0"/>
              <a:t>++) </a:t>
            </a:r>
            <a:r>
              <a:rPr lang="en-US" altLang="zh-CN" dirty="0" err="1"/>
              <a:t>cout</a:t>
            </a:r>
            <a:r>
              <a:rPr lang="en-US" altLang="zh-CN" dirty="0"/>
              <a:t>&lt;&lt;a[</a:t>
            </a:r>
            <a:r>
              <a:rPr lang="en-US" altLang="zh-CN" dirty="0" err="1"/>
              <a:t>i</a:t>
            </a:r>
            <a:r>
              <a:rPr lang="en-US" altLang="zh-CN" dirty="0"/>
              <a:t>]&lt;&lt;"  ";</a:t>
            </a:r>
          </a:p>
          <a:p>
            <a:r>
              <a:rPr lang="en-US" altLang="zh-CN" dirty="0"/>
              <a:t> </a:t>
            </a:r>
            <a:r>
              <a:rPr lang="en-US" altLang="zh-CN" dirty="0" err="1"/>
              <a:t>cout</a:t>
            </a:r>
            <a:r>
              <a:rPr lang="en-US" altLang="zh-CN" dirty="0"/>
              <a:t>&lt;&lt;"\n"&lt;&lt;</a:t>
            </a:r>
            <a:r>
              <a:rPr lang="en-US" altLang="zh-CN" dirty="0" err="1"/>
              <a:t>a.seek</a:t>
            </a:r>
            <a:r>
              <a:rPr lang="en-US" altLang="zh-CN" dirty="0"/>
              <a:t>(95);</a:t>
            </a:r>
          </a:p>
          <a:p>
            <a:r>
              <a:rPr lang="en-US" altLang="zh-CN" dirty="0"/>
              <a:t> </a:t>
            </a:r>
            <a:r>
              <a:rPr lang="en-US" altLang="zh-CN" dirty="0" err="1"/>
              <a:t>cout</a:t>
            </a:r>
            <a:r>
              <a:rPr lang="en-US" altLang="zh-CN" dirty="0"/>
              <a:t>&lt;&lt;"\n"&lt;&lt;</a:t>
            </a:r>
            <a:r>
              <a:rPr lang="en-US" altLang="zh-CN" dirty="0" err="1"/>
              <a:t>a.sum</a:t>
            </a:r>
            <a:r>
              <a:rPr lang="en-US" altLang="zh-CN" dirty="0"/>
              <a:t>();</a:t>
            </a:r>
          </a:p>
          <a:p>
            <a:r>
              <a:rPr lang="en-US" altLang="zh-CN" dirty="0"/>
              <a:t> return 0;</a:t>
            </a:r>
          </a:p>
          <a:p>
            <a:r>
              <a:rPr lang="en-US" altLang="zh-CN" dirty="0"/>
              <a:t>}</a:t>
            </a:r>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17</a:t>
            </a:fld>
            <a:endParaRPr lang="zh-CN" altLang="en-US"/>
          </a:p>
        </p:txBody>
      </p:sp>
    </p:spTree>
    <p:extLst>
      <p:ext uri="{BB962C8B-B14F-4D97-AF65-F5344CB8AC3E}">
        <p14:creationId xmlns:p14="http://schemas.microsoft.com/office/powerpoint/2010/main" val="35008968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1219200" rtl="0" eaLnBrk="1" fontAlgn="auto" latinLnBrk="0" hangingPunct="1">
              <a:lnSpc>
                <a:spcPct val="100000"/>
              </a:lnSpc>
              <a:spcBef>
                <a:spcPts val="0"/>
              </a:spcBef>
              <a:spcAft>
                <a:spcPts val="0"/>
              </a:spcAft>
              <a:buClrTx/>
              <a:buSzTx/>
              <a:buFontTx/>
              <a:buNone/>
              <a:tabLst/>
              <a:defRPr/>
            </a:pPr>
            <a:r>
              <a:rPr lang="zh-CN" altLang="en-US" dirty="0"/>
              <a:t>使用第一种声明方式，</a:t>
            </a:r>
            <a:r>
              <a:rPr lang="en-US" altLang="zh-CN" dirty="0"/>
              <a:t>[ ]</a:t>
            </a:r>
            <a:r>
              <a:rPr lang="zh-CN" altLang="en-US" dirty="0"/>
              <a:t>不仅可以访问元素，还可以修改元素。使用第二种声明方式，</a:t>
            </a:r>
            <a:r>
              <a:rPr lang="en-US" altLang="zh-CN" dirty="0"/>
              <a:t>[ ]</a:t>
            </a:r>
            <a:r>
              <a:rPr lang="zh-CN" altLang="en-US" dirty="0"/>
              <a:t>只能访问而不能修改元素。在实际开发中，我们应该同时提供以上两种形式，这样做是为了适应 </a:t>
            </a:r>
            <a:r>
              <a:rPr lang="en-US" altLang="zh-CN" dirty="0"/>
              <a:t>const </a:t>
            </a:r>
            <a:r>
              <a:rPr lang="zh-CN" altLang="en-US" dirty="0"/>
              <a:t>对象，因为通过 </a:t>
            </a:r>
            <a:r>
              <a:rPr lang="en-US" altLang="zh-CN" dirty="0"/>
              <a:t>const </a:t>
            </a:r>
            <a:r>
              <a:rPr lang="zh-CN" altLang="en-US" dirty="0"/>
              <a:t>对象只能调用 </a:t>
            </a:r>
            <a:r>
              <a:rPr lang="en-US" altLang="zh-CN" dirty="0"/>
              <a:t>const </a:t>
            </a:r>
            <a:r>
              <a:rPr lang="zh-CN" altLang="en-US" dirty="0"/>
              <a:t>成员函数，如果不提供第二种形式，那么将无法访问 </a:t>
            </a:r>
            <a:r>
              <a:rPr lang="en-US" altLang="zh-CN" dirty="0"/>
              <a:t>const </a:t>
            </a:r>
            <a:r>
              <a:rPr lang="zh-CN" altLang="en-US" dirty="0"/>
              <a:t>对象的任何元素。</a:t>
            </a:r>
          </a:p>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18</a:t>
            </a:fld>
            <a:endParaRPr lang="zh-CN" altLang="en-US"/>
          </a:p>
        </p:txBody>
      </p:sp>
    </p:spTree>
    <p:extLst>
      <p:ext uri="{BB962C8B-B14F-4D97-AF65-F5344CB8AC3E}">
        <p14:creationId xmlns:p14="http://schemas.microsoft.com/office/powerpoint/2010/main" val="1467716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#include&lt;iostream&gt;</a:t>
            </a:r>
          </a:p>
          <a:p>
            <a:r>
              <a:rPr lang="en-US" altLang="zh-CN" dirty="0"/>
              <a:t>#include&lt;cstring&gt;</a:t>
            </a:r>
          </a:p>
          <a:p>
            <a:r>
              <a:rPr lang="en-US" altLang="zh-CN" dirty="0"/>
              <a:t>#include&lt;assert.h&gt;</a:t>
            </a:r>
          </a:p>
          <a:p>
            <a:r>
              <a:rPr lang="en-US" altLang="zh-CN" dirty="0"/>
              <a:t>using namespace std;</a:t>
            </a:r>
          </a:p>
          <a:p>
            <a:endParaRPr lang="en-US" altLang="zh-CN" dirty="0"/>
          </a:p>
          <a:p>
            <a:r>
              <a:rPr lang="en-US" altLang="zh-CN" dirty="0"/>
              <a:t>template &lt;class T&gt;                                           </a:t>
            </a:r>
          </a:p>
          <a:p>
            <a:r>
              <a:rPr lang="en-US" altLang="zh-CN" dirty="0"/>
              <a:t>class ARRAY {</a:t>
            </a:r>
          </a:p>
          <a:p>
            <a:r>
              <a:rPr lang="en-US" altLang="zh-CN" dirty="0"/>
              <a:t>		T	*set;	</a:t>
            </a:r>
          </a:p>
          <a:p>
            <a:r>
              <a:rPr lang="en-US" altLang="zh-CN" dirty="0"/>
              <a:t>		int	size;	</a:t>
            </a:r>
          </a:p>
          <a:p>
            <a:r>
              <a:rPr lang="en-US" altLang="zh-CN" dirty="0"/>
              <a:t>public: ARRAY(int </a:t>
            </a:r>
            <a:r>
              <a:rPr lang="en-US" altLang="zh-CN" dirty="0" err="1"/>
              <a:t>i</a:t>
            </a:r>
            <a:r>
              <a:rPr lang="en-US" altLang="zh-CN" dirty="0"/>
              <a:t>=50);</a:t>
            </a:r>
          </a:p>
          <a:p>
            <a:r>
              <a:rPr lang="en-US" altLang="zh-CN" dirty="0"/>
              <a:t>		ARRAY(const ARRAY&lt;T&gt;&amp; a);</a:t>
            </a:r>
          </a:p>
          <a:p>
            <a:r>
              <a:rPr lang="en-US" altLang="zh-CN" dirty="0"/>
              <a:t>		~ARRAY();</a:t>
            </a:r>
          </a:p>
          <a:p>
            <a:r>
              <a:rPr lang="en-US" altLang="zh-CN" dirty="0"/>
              <a:t>		void sort();	</a:t>
            </a:r>
          </a:p>
          <a:p>
            <a:r>
              <a:rPr lang="en-US" altLang="zh-CN" dirty="0"/>
              <a:t>		int seek(T key);</a:t>
            </a:r>
          </a:p>
          <a:p>
            <a:r>
              <a:rPr lang="en-US" altLang="zh-CN" dirty="0"/>
              <a:t>		T sum();</a:t>
            </a:r>
          </a:p>
          <a:p>
            <a:r>
              <a:rPr lang="en-US" altLang="zh-CN" dirty="0"/>
              <a:t>		void print();</a:t>
            </a:r>
          </a:p>
          <a:p>
            <a:r>
              <a:rPr lang="en-US" altLang="zh-CN" dirty="0"/>
              <a:t>		ARRAY&lt;T&gt; operator=(const ARRAY&lt;T&gt; &amp;</a:t>
            </a:r>
            <a:r>
              <a:rPr lang="en-US" altLang="zh-CN" dirty="0" err="1"/>
              <a:t>rhs</a:t>
            </a:r>
            <a:r>
              <a:rPr lang="en-US" altLang="zh-CN" dirty="0"/>
              <a:t>);</a:t>
            </a:r>
          </a:p>
          <a:p>
            <a:r>
              <a:rPr lang="en-US" altLang="zh-CN" dirty="0"/>
              <a:t>		T&amp; operator[](int </a:t>
            </a:r>
            <a:r>
              <a:rPr lang="en-US" altLang="zh-CN" dirty="0" err="1"/>
              <a:t>i</a:t>
            </a:r>
            <a:r>
              <a:rPr lang="en-US" altLang="zh-CN" dirty="0"/>
              <a:t>);</a:t>
            </a:r>
          </a:p>
          <a:p>
            <a:r>
              <a:rPr lang="en-US" altLang="zh-CN" dirty="0"/>
              <a:t>		const T&amp; operator[](int </a:t>
            </a:r>
            <a:r>
              <a:rPr lang="en-US" altLang="zh-CN" dirty="0" err="1"/>
              <a:t>i</a:t>
            </a:r>
            <a:r>
              <a:rPr lang="en-US" altLang="zh-CN" dirty="0"/>
              <a:t>) const;</a:t>
            </a:r>
          </a:p>
          <a:p>
            <a:r>
              <a:rPr lang="en-US" altLang="zh-CN" dirty="0"/>
              <a:t>		operator T* ();</a:t>
            </a:r>
          </a:p>
          <a:p>
            <a:r>
              <a:rPr lang="en-US" altLang="zh-CN" dirty="0"/>
              <a:t>		operator const T* () const;</a:t>
            </a:r>
          </a:p>
          <a:p>
            <a:r>
              <a:rPr lang="en-US" altLang="zh-CN" dirty="0"/>
              <a:t>		int </a:t>
            </a:r>
            <a:r>
              <a:rPr lang="en-US" altLang="zh-CN" dirty="0" err="1"/>
              <a:t>getSize</a:t>
            </a:r>
            <a:r>
              <a:rPr lang="en-US" altLang="zh-CN" dirty="0"/>
              <a:t>() const;</a:t>
            </a:r>
          </a:p>
          <a:p>
            <a:r>
              <a:rPr lang="en-US" altLang="zh-CN" dirty="0"/>
              <a:t>		void </a:t>
            </a:r>
            <a:r>
              <a:rPr lang="en-US" altLang="zh-CN" dirty="0" err="1"/>
              <a:t>reSize</a:t>
            </a:r>
            <a:r>
              <a:rPr lang="en-US" altLang="zh-CN" dirty="0"/>
              <a:t>(int </a:t>
            </a:r>
            <a:r>
              <a:rPr lang="en-US" altLang="zh-CN" dirty="0" err="1"/>
              <a:t>sz</a:t>
            </a:r>
            <a:r>
              <a:rPr lang="en-US" altLang="zh-CN" dirty="0"/>
              <a:t>);</a:t>
            </a:r>
          </a:p>
          <a:p>
            <a:r>
              <a:rPr lang="en-US" altLang="zh-CN" dirty="0"/>
              <a:t>};</a:t>
            </a:r>
          </a:p>
          <a:p>
            <a:endParaRPr lang="en-US" altLang="zh-CN" dirty="0"/>
          </a:p>
          <a:p>
            <a:r>
              <a:rPr lang="en-US" altLang="zh-CN" dirty="0"/>
              <a:t>template &lt;class T&gt; </a:t>
            </a:r>
          </a:p>
          <a:p>
            <a:r>
              <a:rPr lang="en-US" altLang="zh-CN" dirty="0"/>
              <a:t>ARRAY&lt;T&gt; ARRAY&lt;T&gt;::operator=(const ARRAY&lt;T&gt; &amp;</a:t>
            </a:r>
            <a:r>
              <a:rPr lang="en-US" altLang="zh-CN" dirty="0" err="1"/>
              <a:t>rhs</a:t>
            </a:r>
            <a:r>
              <a:rPr lang="en-US" altLang="zh-CN" dirty="0"/>
              <a:t>)</a:t>
            </a:r>
          </a:p>
          <a:p>
            <a:r>
              <a:rPr lang="en-US" altLang="zh-CN" dirty="0"/>
              <a:t>{	if(&amp;</a:t>
            </a:r>
            <a:r>
              <a:rPr lang="en-US" altLang="zh-CN" dirty="0" err="1"/>
              <a:t>rhs</a:t>
            </a:r>
            <a:r>
              <a:rPr lang="en-US" altLang="zh-CN" dirty="0"/>
              <a:t>!= this){</a:t>
            </a:r>
          </a:p>
          <a:p>
            <a:r>
              <a:rPr lang="en-US" altLang="zh-CN" dirty="0"/>
              <a:t>		if(size!=</a:t>
            </a:r>
            <a:r>
              <a:rPr lang="en-US" altLang="zh-CN" dirty="0" err="1"/>
              <a:t>rhs.size</a:t>
            </a:r>
            <a:r>
              <a:rPr lang="en-US" altLang="zh-CN" dirty="0"/>
              <a:t>){delete [] set;</a:t>
            </a:r>
          </a:p>
          <a:p>
            <a:r>
              <a:rPr lang="en-US" altLang="zh-CN" dirty="0"/>
              <a:t>		size  = </a:t>
            </a:r>
            <a:r>
              <a:rPr lang="en-US" altLang="zh-CN" dirty="0" err="1"/>
              <a:t>rhs.size</a:t>
            </a:r>
            <a:r>
              <a:rPr lang="en-US" altLang="zh-CN" dirty="0"/>
              <a:t>; set  = new T[size];}</a:t>
            </a:r>
          </a:p>
          <a:p>
            <a:r>
              <a:rPr lang="en-US" altLang="zh-CN" dirty="0"/>
              <a:t>		for(int </a:t>
            </a:r>
            <a:r>
              <a:rPr lang="en-US" altLang="zh-CN" dirty="0" err="1"/>
              <a:t>i</a:t>
            </a:r>
            <a:r>
              <a:rPr lang="en-US" altLang="zh-CN" dirty="0"/>
              <a:t>=0;i&lt;</a:t>
            </a:r>
            <a:r>
              <a:rPr lang="en-US" altLang="zh-CN" dirty="0" err="1"/>
              <a:t>size;i</a:t>
            </a:r>
            <a:r>
              <a:rPr lang="en-US" altLang="zh-CN" dirty="0"/>
              <a:t>++){set[</a:t>
            </a:r>
            <a:r>
              <a:rPr lang="en-US" altLang="zh-CN" dirty="0" err="1"/>
              <a:t>i</a:t>
            </a:r>
            <a:r>
              <a:rPr lang="en-US" altLang="zh-CN" dirty="0"/>
              <a:t>] = </a:t>
            </a:r>
            <a:r>
              <a:rPr lang="en-US" altLang="zh-CN" dirty="0" err="1"/>
              <a:t>rhs.set</a:t>
            </a:r>
            <a:r>
              <a:rPr lang="en-US" altLang="zh-CN" dirty="0"/>
              <a:t>[</a:t>
            </a:r>
            <a:r>
              <a:rPr lang="en-US" altLang="zh-CN" dirty="0" err="1"/>
              <a:t>i</a:t>
            </a:r>
            <a:r>
              <a:rPr lang="en-US" altLang="zh-CN" dirty="0"/>
              <a:t>];}</a:t>
            </a:r>
          </a:p>
          <a:p>
            <a:r>
              <a:rPr lang="en-US" altLang="zh-CN" dirty="0"/>
              <a:t>	}</a:t>
            </a:r>
          </a:p>
          <a:p>
            <a:r>
              <a:rPr lang="en-US" altLang="zh-CN" dirty="0"/>
              <a:t>	return *this;</a:t>
            </a:r>
          </a:p>
          <a:p>
            <a:r>
              <a:rPr lang="en-US" altLang="zh-CN" dirty="0"/>
              <a:t>}</a:t>
            </a:r>
          </a:p>
          <a:p>
            <a:endParaRPr lang="en-US" altLang="zh-CN" dirty="0"/>
          </a:p>
          <a:p>
            <a:r>
              <a:rPr lang="en-US" altLang="zh-CN" dirty="0"/>
              <a:t>template &lt;class T&gt;</a:t>
            </a:r>
          </a:p>
          <a:p>
            <a:r>
              <a:rPr lang="en-US" altLang="zh-CN" dirty="0"/>
              <a:t>T&amp; ARRAY&lt;T&gt;::operator[](int </a:t>
            </a:r>
            <a:r>
              <a:rPr lang="en-US" altLang="zh-CN" dirty="0" err="1"/>
              <a:t>i</a:t>
            </a:r>
            <a:r>
              <a:rPr lang="en-US" altLang="zh-CN" dirty="0"/>
              <a:t>){</a:t>
            </a:r>
          </a:p>
          <a:p>
            <a:r>
              <a:rPr lang="en-US" altLang="zh-CN" dirty="0"/>
              <a:t>	assert(</a:t>
            </a:r>
            <a:r>
              <a:rPr lang="en-US" altLang="zh-CN" dirty="0" err="1"/>
              <a:t>i</a:t>
            </a:r>
            <a:r>
              <a:rPr lang="en-US" altLang="zh-CN" dirty="0"/>
              <a:t>&gt;=0 &amp;&amp; </a:t>
            </a:r>
            <a:r>
              <a:rPr lang="en-US" altLang="zh-CN" dirty="0" err="1"/>
              <a:t>i</a:t>
            </a:r>
            <a:r>
              <a:rPr lang="en-US" altLang="zh-CN" dirty="0"/>
              <a:t>&lt;size);</a:t>
            </a:r>
          </a:p>
          <a:p>
            <a:r>
              <a:rPr lang="en-US" altLang="zh-CN" dirty="0"/>
              <a:t>	return set[</a:t>
            </a:r>
            <a:r>
              <a:rPr lang="en-US" altLang="zh-CN" dirty="0" err="1"/>
              <a:t>i</a:t>
            </a:r>
            <a:r>
              <a:rPr lang="en-US" altLang="zh-CN" dirty="0"/>
              <a:t>];</a:t>
            </a:r>
          </a:p>
          <a:p>
            <a:r>
              <a:rPr lang="en-US" altLang="zh-CN" dirty="0"/>
              <a:t>}</a:t>
            </a:r>
          </a:p>
          <a:p>
            <a:endParaRPr lang="en-US" altLang="zh-CN" dirty="0"/>
          </a:p>
          <a:p>
            <a:r>
              <a:rPr lang="en-US" altLang="zh-CN" dirty="0"/>
              <a:t>template &lt;class T&gt;</a:t>
            </a:r>
          </a:p>
          <a:p>
            <a:r>
              <a:rPr lang="en-US" altLang="zh-CN" dirty="0"/>
              <a:t>const T&amp; ARRAY&lt;T&gt;::operator[](int </a:t>
            </a:r>
            <a:r>
              <a:rPr lang="en-US" altLang="zh-CN" dirty="0" err="1"/>
              <a:t>i</a:t>
            </a:r>
            <a:r>
              <a:rPr lang="en-US" altLang="zh-CN" dirty="0"/>
              <a:t>) const{</a:t>
            </a:r>
          </a:p>
          <a:p>
            <a:r>
              <a:rPr lang="en-US" altLang="zh-CN" dirty="0"/>
              <a:t>	assert(</a:t>
            </a:r>
            <a:r>
              <a:rPr lang="en-US" altLang="zh-CN" dirty="0" err="1"/>
              <a:t>i</a:t>
            </a:r>
            <a:r>
              <a:rPr lang="en-US" altLang="zh-CN" dirty="0"/>
              <a:t>&gt;=0 &amp;&amp; </a:t>
            </a:r>
            <a:r>
              <a:rPr lang="en-US" altLang="zh-CN" dirty="0" err="1"/>
              <a:t>i</a:t>
            </a:r>
            <a:r>
              <a:rPr lang="en-US" altLang="zh-CN" dirty="0"/>
              <a:t>&lt;size);</a:t>
            </a:r>
          </a:p>
          <a:p>
            <a:r>
              <a:rPr lang="en-US" altLang="zh-CN" dirty="0"/>
              <a:t>	return set[</a:t>
            </a:r>
            <a:r>
              <a:rPr lang="en-US" altLang="zh-CN" dirty="0" err="1"/>
              <a:t>i</a:t>
            </a:r>
            <a:r>
              <a:rPr lang="en-US" altLang="zh-CN" dirty="0"/>
              <a:t>];</a:t>
            </a:r>
          </a:p>
          <a:p>
            <a:r>
              <a:rPr lang="en-US" altLang="zh-CN" dirty="0"/>
              <a:t>}</a:t>
            </a:r>
          </a:p>
          <a:p>
            <a:endParaRPr lang="en-US" altLang="zh-CN" dirty="0"/>
          </a:p>
          <a:p>
            <a:r>
              <a:rPr lang="en-US" altLang="zh-CN" dirty="0"/>
              <a:t>template &lt;class T&gt;</a:t>
            </a:r>
          </a:p>
          <a:p>
            <a:r>
              <a:rPr lang="en-US" altLang="zh-CN" dirty="0"/>
              <a:t>ARRAY&lt;T&gt;::operator T* (){</a:t>
            </a:r>
          </a:p>
          <a:p>
            <a:r>
              <a:rPr lang="en-US" altLang="zh-CN" dirty="0"/>
              <a:t>	return set;</a:t>
            </a:r>
          </a:p>
          <a:p>
            <a:r>
              <a:rPr lang="en-US" altLang="zh-CN" dirty="0"/>
              <a:t>}</a:t>
            </a:r>
          </a:p>
          <a:p>
            <a:endParaRPr lang="en-US" altLang="zh-CN" dirty="0"/>
          </a:p>
          <a:p>
            <a:r>
              <a:rPr lang="en-US" altLang="zh-CN" dirty="0"/>
              <a:t>template &lt;class T&gt;</a:t>
            </a:r>
          </a:p>
          <a:p>
            <a:r>
              <a:rPr lang="en-US" altLang="zh-CN" dirty="0"/>
              <a:t>ARRAY&lt;T&gt;::operator const T* () const{</a:t>
            </a:r>
          </a:p>
          <a:p>
            <a:r>
              <a:rPr lang="en-US" altLang="zh-CN" dirty="0"/>
              <a:t>	return set;</a:t>
            </a:r>
          </a:p>
          <a:p>
            <a:r>
              <a:rPr lang="en-US" altLang="zh-CN" dirty="0"/>
              <a:t>}</a:t>
            </a:r>
          </a:p>
          <a:p>
            <a:endParaRPr lang="en-US" altLang="zh-CN" dirty="0"/>
          </a:p>
          <a:p>
            <a:r>
              <a:rPr lang="en-US" altLang="zh-CN" dirty="0"/>
              <a:t>template &lt;class T&gt;</a:t>
            </a:r>
          </a:p>
          <a:p>
            <a:r>
              <a:rPr lang="en-US" altLang="zh-CN" dirty="0"/>
              <a:t>int ARRAY&lt;T&gt;::</a:t>
            </a:r>
            <a:r>
              <a:rPr lang="en-US" altLang="zh-CN" dirty="0" err="1"/>
              <a:t>getSize</a:t>
            </a:r>
            <a:r>
              <a:rPr lang="en-US" altLang="zh-CN" dirty="0"/>
              <a:t>() const{</a:t>
            </a:r>
          </a:p>
          <a:p>
            <a:r>
              <a:rPr lang="en-US" altLang="zh-CN" dirty="0"/>
              <a:t>	return size;}</a:t>
            </a:r>
          </a:p>
          <a:p>
            <a:r>
              <a:rPr lang="en-US" altLang="zh-CN" dirty="0"/>
              <a:t>	</a:t>
            </a:r>
          </a:p>
          <a:p>
            <a:r>
              <a:rPr lang="en-US" altLang="zh-CN" dirty="0"/>
              <a:t>template &lt;class T&gt;</a:t>
            </a:r>
          </a:p>
          <a:p>
            <a:r>
              <a:rPr lang="en-US" altLang="zh-CN" dirty="0"/>
              <a:t>void ARRAY&lt;T&gt;::</a:t>
            </a:r>
            <a:r>
              <a:rPr lang="en-US" altLang="zh-CN" dirty="0" err="1"/>
              <a:t>reSize</a:t>
            </a:r>
            <a:r>
              <a:rPr lang="en-US" altLang="zh-CN" dirty="0"/>
              <a:t>(int </a:t>
            </a:r>
            <a:r>
              <a:rPr lang="en-US" altLang="zh-CN" dirty="0" err="1"/>
              <a:t>sz</a:t>
            </a:r>
            <a:r>
              <a:rPr lang="en-US" altLang="zh-CN" dirty="0"/>
              <a:t>){</a:t>
            </a:r>
          </a:p>
          <a:p>
            <a:r>
              <a:rPr lang="en-US" altLang="zh-CN" dirty="0"/>
              <a:t>	assert(</a:t>
            </a:r>
            <a:r>
              <a:rPr lang="en-US" altLang="zh-CN" dirty="0" err="1"/>
              <a:t>sz</a:t>
            </a:r>
            <a:r>
              <a:rPr lang="en-US" altLang="zh-CN" dirty="0"/>
              <a:t>&gt;=0);</a:t>
            </a:r>
          </a:p>
          <a:p>
            <a:r>
              <a:rPr lang="en-US" altLang="zh-CN" dirty="0"/>
              <a:t>	if(</a:t>
            </a:r>
            <a:r>
              <a:rPr lang="en-US" altLang="zh-CN" dirty="0" err="1"/>
              <a:t>sz</a:t>
            </a:r>
            <a:r>
              <a:rPr lang="en-US" altLang="zh-CN" dirty="0"/>
              <a:t>==size) return;</a:t>
            </a:r>
          </a:p>
          <a:p>
            <a:r>
              <a:rPr lang="en-US" altLang="zh-CN" dirty="0"/>
              <a:t>	T*	</a:t>
            </a:r>
            <a:r>
              <a:rPr lang="en-US" altLang="zh-CN" dirty="0" err="1"/>
              <a:t>newset</a:t>
            </a:r>
            <a:r>
              <a:rPr lang="en-US" altLang="zh-CN" dirty="0"/>
              <a:t> = new T [</a:t>
            </a:r>
            <a:r>
              <a:rPr lang="en-US" altLang="zh-CN" dirty="0" err="1"/>
              <a:t>sz</a:t>
            </a:r>
            <a:r>
              <a:rPr lang="en-US" altLang="zh-CN" dirty="0"/>
              <a:t>];</a:t>
            </a:r>
          </a:p>
          <a:p>
            <a:r>
              <a:rPr lang="en-US" altLang="zh-CN" dirty="0"/>
              <a:t>	int n = (</a:t>
            </a:r>
            <a:r>
              <a:rPr lang="en-US" altLang="zh-CN" dirty="0" err="1"/>
              <a:t>sz</a:t>
            </a:r>
            <a:r>
              <a:rPr lang="en-US" altLang="zh-CN" dirty="0"/>
              <a:t>&lt;size)?</a:t>
            </a:r>
            <a:r>
              <a:rPr lang="en-US" altLang="zh-CN" dirty="0" err="1"/>
              <a:t>sz:size</a:t>
            </a:r>
            <a:r>
              <a:rPr lang="en-US" altLang="zh-CN" dirty="0"/>
              <a:t>;</a:t>
            </a:r>
          </a:p>
          <a:p>
            <a:r>
              <a:rPr lang="en-US" altLang="zh-CN" dirty="0"/>
              <a:t>	for(int </a:t>
            </a:r>
            <a:r>
              <a:rPr lang="en-US" altLang="zh-CN" dirty="0" err="1"/>
              <a:t>i</a:t>
            </a:r>
            <a:r>
              <a:rPr lang="en-US" altLang="zh-CN" dirty="0"/>
              <a:t>=0;i&lt;</a:t>
            </a:r>
            <a:r>
              <a:rPr lang="en-US" altLang="zh-CN" dirty="0" err="1"/>
              <a:t>n;i</a:t>
            </a:r>
            <a:r>
              <a:rPr lang="en-US" altLang="zh-CN" dirty="0"/>
              <a:t>++)</a:t>
            </a:r>
          </a:p>
          <a:p>
            <a:r>
              <a:rPr lang="en-US" altLang="zh-CN" dirty="0"/>
              <a:t>	{</a:t>
            </a:r>
            <a:r>
              <a:rPr lang="en-US" altLang="zh-CN" dirty="0" err="1"/>
              <a:t>newset</a:t>
            </a:r>
            <a:r>
              <a:rPr lang="en-US" altLang="zh-CN" dirty="0"/>
              <a:t>[</a:t>
            </a:r>
            <a:r>
              <a:rPr lang="en-US" altLang="zh-CN" dirty="0" err="1"/>
              <a:t>i</a:t>
            </a:r>
            <a:r>
              <a:rPr lang="en-US" altLang="zh-CN" dirty="0"/>
              <a:t>] = set[</a:t>
            </a:r>
            <a:r>
              <a:rPr lang="en-US" altLang="zh-CN" dirty="0" err="1"/>
              <a:t>i</a:t>
            </a:r>
            <a:r>
              <a:rPr lang="en-US" altLang="zh-CN" dirty="0"/>
              <a:t>];}</a:t>
            </a:r>
          </a:p>
          <a:p>
            <a:r>
              <a:rPr lang="en-US" altLang="zh-CN" dirty="0"/>
              <a:t>	delete [] set;</a:t>
            </a:r>
          </a:p>
          <a:p>
            <a:r>
              <a:rPr lang="en-US" altLang="zh-CN" dirty="0"/>
              <a:t>	set = </a:t>
            </a:r>
            <a:r>
              <a:rPr lang="en-US" altLang="zh-CN" dirty="0" err="1"/>
              <a:t>newset</a:t>
            </a:r>
            <a:r>
              <a:rPr lang="en-US" altLang="zh-CN" dirty="0"/>
              <a:t>;</a:t>
            </a:r>
          </a:p>
          <a:p>
            <a:r>
              <a:rPr lang="en-US" altLang="zh-CN" dirty="0"/>
              <a:t>	size = </a:t>
            </a:r>
            <a:r>
              <a:rPr lang="en-US" altLang="zh-CN" dirty="0" err="1"/>
              <a:t>sz</a:t>
            </a:r>
            <a:r>
              <a:rPr lang="en-US" altLang="zh-CN" dirty="0"/>
              <a:t>;</a:t>
            </a:r>
          </a:p>
          <a:p>
            <a:r>
              <a:rPr lang="en-US" altLang="zh-CN" dirty="0"/>
              <a:t>}</a:t>
            </a:r>
          </a:p>
          <a:p>
            <a:endParaRPr lang="en-US" altLang="zh-CN" dirty="0"/>
          </a:p>
          <a:p>
            <a:r>
              <a:rPr lang="en-US" altLang="zh-CN" dirty="0"/>
              <a:t>template &lt;class T&gt; </a:t>
            </a:r>
          </a:p>
          <a:p>
            <a:r>
              <a:rPr lang="en-US" altLang="zh-CN" dirty="0"/>
              <a:t>ARRAY&lt;T&gt;::ARRAY( int </a:t>
            </a:r>
            <a:r>
              <a:rPr lang="en-US" altLang="zh-CN" dirty="0" err="1"/>
              <a:t>i</a:t>
            </a:r>
            <a:r>
              <a:rPr lang="en-US" altLang="zh-CN" dirty="0"/>
              <a:t>) {</a:t>
            </a:r>
          </a:p>
          <a:p>
            <a:r>
              <a:rPr lang="en-US" altLang="zh-CN" dirty="0"/>
              <a:t>	size = </a:t>
            </a:r>
            <a:r>
              <a:rPr lang="en-US" altLang="zh-CN" dirty="0" err="1"/>
              <a:t>i</a:t>
            </a:r>
            <a:r>
              <a:rPr lang="en-US" altLang="zh-CN" dirty="0"/>
              <a:t>;</a:t>
            </a:r>
          </a:p>
          <a:p>
            <a:r>
              <a:rPr lang="en-US" altLang="zh-CN" dirty="0"/>
              <a:t>	set = new T [size];</a:t>
            </a:r>
          </a:p>
          <a:p>
            <a:r>
              <a:rPr lang="en-US" altLang="zh-CN" dirty="0"/>
              <a:t>}</a:t>
            </a:r>
          </a:p>
          <a:p>
            <a:endParaRPr lang="en-US" altLang="zh-CN" dirty="0"/>
          </a:p>
          <a:p>
            <a:r>
              <a:rPr lang="en-US" altLang="zh-CN" dirty="0"/>
              <a:t>template &lt;class T&gt; </a:t>
            </a:r>
          </a:p>
          <a:p>
            <a:r>
              <a:rPr lang="en-US" altLang="zh-CN" dirty="0"/>
              <a:t>ARRAY&lt;T&gt;::ARRAY(const ARRAY&lt;T&gt;&amp; a) {</a:t>
            </a:r>
          </a:p>
          <a:p>
            <a:r>
              <a:rPr lang="en-US" altLang="zh-CN" dirty="0"/>
              <a:t>	size = </a:t>
            </a:r>
            <a:r>
              <a:rPr lang="en-US" altLang="zh-CN" dirty="0" err="1"/>
              <a:t>a.size</a:t>
            </a:r>
            <a:r>
              <a:rPr lang="en-US" altLang="zh-CN" dirty="0"/>
              <a:t>;</a:t>
            </a:r>
          </a:p>
          <a:p>
            <a:r>
              <a:rPr lang="en-US" altLang="zh-CN" dirty="0"/>
              <a:t>	set = new T [size];</a:t>
            </a:r>
          </a:p>
          <a:p>
            <a:r>
              <a:rPr lang="en-US" altLang="zh-CN" dirty="0"/>
              <a:t>	for(int </a:t>
            </a:r>
            <a:r>
              <a:rPr lang="en-US" altLang="zh-CN" dirty="0" err="1"/>
              <a:t>i</a:t>
            </a:r>
            <a:r>
              <a:rPr lang="en-US" altLang="zh-CN" dirty="0"/>
              <a:t>=0;i&lt;</a:t>
            </a:r>
            <a:r>
              <a:rPr lang="en-US" altLang="zh-CN" dirty="0" err="1"/>
              <a:t>size;i</a:t>
            </a:r>
            <a:r>
              <a:rPr lang="en-US" altLang="zh-CN" dirty="0"/>
              <a:t>++){</a:t>
            </a:r>
          </a:p>
          <a:p>
            <a:r>
              <a:rPr lang="en-US" altLang="zh-CN" dirty="0"/>
              <a:t>		set[</a:t>
            </a:r>
            <a:r>
              <a:rPr lang="en-US" altLang="zh-CN" dirty="0" err="1"/>
              <a:t>i</a:t>
            </a:r>
            <a:r>
              <a:rPr lang="en-US" altLang="zh-CN" dirty="0"/>
              <a:t>] = </a:t>
            </a:r>
            <a:r>
              <a:rPr lang="en-US" altLang="zh-CN" dirty="0" err="1"/>
              <a:t>a.set</a:t>
            </a:r>
            <a:r>
              <a:rPr lang="en-US" altLang="zh-CN" dirty="0"/>
              <a:t>[</a:t>
            </a:r>
            <a:r>
              <a:rPr lang="en-US" altLang="zh-CN" dirty="0" err="1"/>
              <a:t>i</a:t>
            </a:r>
            <a:r>
              <a:rPr lang="en-US" altLang="zh-CN" dirty="0"/>
              <a:t>];</a:t>
            </a:r>
          </a:p>
          <a:p>
            <a:r>
              <a:rPr lang="en-US" altLang="zh-CN" dirty="0"/>
              <a:t>	}</a:t>
            </a:r>
          </a:p>
          <a:p>
            <a:r>
              <a:rPr lang="en-US" altLang="zh-CN" dirty="0"/>
              <a:t>}</a:t>
            </a:r>
          </a:p>
          <a:p>
            <a:endParaRPr lang="en-US" altLang="zh-CN" dirty="0"/>
          </a:p>
          <a:p>
            <a:r>
              <a:rPr lang="en-US" altLang="zh-CN" dirty="0"/>
              <a:t>template &lt;class T&gt; </a:t>
            </a:r>
          </a:p>
          <a:p>
            <a:r>
              <a:rPr lang="en-US" altLang="zh-CN" dirty="0"/>
              <a:t>ARRAY&lt;T&gt;::~ARRAY() {</a:t>
            </a:r>
          </a:p>
          <a:p>
            <a:r>
              <a:rPr lang="en-US" altLang="zh-CN" dirty="0"/>
              <a:t>	delete [] set;</a:t>
            </a:r>
          </a:p>
          <a:p>
            <a:r>
              <a:rPr lang="en-US" altLang="zh-CN" dirty="0"/>
              <a:t>}</a:t>
            </a:r>
          </a:p>
          <a:p>
            <a:endParaRPr lang="en-US" altLang="zh-CN" dirty="0"/>
          </a:p>
          <a:p>
            <a:r>
              <a:rPr lang="en-US" altLang="zh-CN" dirty="0"/>
              <a:t>template &lt;class T&gt; </a:t>
            </a:r>
          </a:p>
          <a:p>
            <a:r>
              <a:rPr lang="en-US" altLang="zh-CN" dirty="0"/>
              <a:t>void ARRAY&lt;T&gt;::sort() {</a:t>
            </a:r>
          </a:p>
          <a:p>
            <a:r>
              <a:rPr lang="en-US" altLang="zh-CN" dirty="0"/>
              <a:t>int </a:t>
            </a:r>
            <a:r>
              <a:rPr lang="en-US" altLang="zh-CN" dirty="0" err="1"/>
              <a:t>i</a:t>
            </a:r>
            <a:r>
              <a:rPr lang="en-US" altLang="zh-CN" dirty="0"/>
              <a:t>, j;  T d;</a:t>
            </a:r>
          </a:p>
          <a:p>
            <a:r>
              <a:rPr lang="en-US" altLang="zh-CN" dirty="0"/>
              <a:t> for (</a:t>
            </a:r>
            <a:r>
              <a:rPr lang="en-US" altLang="zh-CN" dirty="0" err="1"/>
              <a:t>i</a:t>
            </a:r>
            <a:r>
              <a:rPr lang="en-US" altLang="zh-CN" dirty="0"/>
              <a:t>=1; </a:t>
            </a:r>
            <a:r>
              <a:rPr lang="en-US" altLang="zh-CN" dirty="0" err="1"/>
              <a:t>i</a:t>
            </a:r>
            <a:r>
              <a:rPr lang="en-US" altLang="zh-CN" dirty="0"/>
              <a:t>&lt;size; </a:t>
            </a:r>
            <a:r>
              <a:rPr lang="en-US" altLang="zh-CN" dirty="0" err="1"/>
              <a:t>i</a:t>
            </a:r>
            <a:r>
              <a:rPr lang="en-US" altLang="zh-CN" dirty="0"/>
              <a:t>++)</a:t>
            </a:r>
          </a:p>
          <a:p>
            <a:r>
              <a:rPr lang="en-US" altLang="zh-CN" dirty="0"/>
              <a:t>       for (j=size-1; j&gt;=</a:t>
            </a:r>
            <a:r>
              <a:rPr lang="en-US" altLang="zh-CN" dirty="0" err="1"/>
              <a:t>i</a:t>
            </a:r>
            <a:r>
              <a:rPr lang="en-US" altLang="zh-CN" dirty="0"/>
              <a:t>; j--)</a:t>
            </a:r>
          </a:p>
          <a:p>
            <a:r>
              <a:rPr lang="en-US" altLang="zh-CN" dirty="0"/>
              <a:t>		if (set[j-1] &gt; set[j]) </a:t>
            </a:r>
          </a:p>
          <a:p>
            <a:r>
              <a:rPr lang="en-US" altLang="zh-CN" dirty="0"/>
              <a:t>               {d= set[j-1]; set[j-1]= set[j]; set[j]=d; }</a:t>
            </a:r>
          </a:p>
          <a:p>
            <a:r>
              <a:rPr lang="en-US" altLang="zh-CN" dirty="0"/>
              <a:t>}</a:t>
            </a:r>
          </a:p>
          <a:p>
            <a:r>
              <a:rPr lang="en-US" altLang="zh-CN" dirty="0"/>
              <a:t>template &lt;class T&gt;</a:t>
            </a:r>
          </a:p>
          <a:p>
            <a:r>
              <a:rPr lang="en-US" altLang="zh-CN" dirty="0"/>
              <a:t>int ARRAY&lt;T&gt;::seek(T key)</a:t>
            </a:r>
          </a:p>
          <a:p>
            <a:r>
              <a:rPr lang="en-US" altLang="zh-CN" dirty="0"/>
              <a:t>{for (int </a:t>
            </a:r>
            <a:r>
              <a:rPr lang="en-US" altLang="zh-CN" dirty="0" err="1"/>
              <a:t>i</a:t>
            </a:r>
            <a:r>
              <a:rPr lang="en-US" altLang="zh-CN" dirty="0"/>
              <a:t>=0; </a:t>
            </a:r>
            <a:r>
              <a:rPr lang="en-US" altLang="zh-CN" dirty="0" err="1"/>
              <a:t>i</a:t>
            </a:r>
            <a:r>
              <a:rPr lang="en-US" altLang="zh-CN" dirty="0"/>
              <a:t>&lt;size; </a:t>
            </a:r>
            <a:r>
              <a:rPr lang="en-US" altLang="zh-CN" dirty="0" err="1"/>
              <a:t>i</a:t>
            </a:r>
            <a:r>
              <a:rPr lang="en-US" altLang="zh-CN" dirty="0"/>
              <a:t>++)</a:t>
            </a:r>
          </a:p>
          <a:p>
            <a:r>
              <a:rPr lang="en-US" altLang="zh-CN" dirty="0"/>
              <a:t>	if (set[</a:t>
            </a:r>
            <a:r>
              <a:rPr lang="en-US" altLang="zh-CN" dirty="0" err="1"/>
              <a:t>i</a:t>
            </a:r>
            <a:r>
              <a:rPr lang="en-US" altLang="zh-CN" dirty="0"/>
              <a:t>]==key) return </a:t>
            </a:r>
            <a:r>
              <a:rPr lang="en-US" altLang="zh-CN" dirty="0" err="1"/>
              <a:t>i</a:t>
            </a:r>
            <a:r>
              <a:rPr lang="en-US" altLang="zh-CN" dirty="0"/>
              <a:t>;</a:t>
            </a:r>
          </a:p>
          <a:p>
            <a:r>
              <a:rPr lang="en-US" altLang="zh-CN" dirty="0"/>
              <a:t>	return -1;</a:t>
            </a:r>
          </a:p>
          <a:p>
            <a:r>
              <a:rPr lang="en-US" altLang="zh-CN" dirty="0"/>
              <a:t>}</a:t>
            </a:r>
          </a:p>
          <a:p>
            <a:endParaRPr lang="en-US" altLang="zh-CN" dirty="0"/>
          </a:p>
          <a:p>
            <a:r>
              <a:rPr lang="en-US" altLang="zh-CN" dirty="0"/>
              <a:t>template &lt;class T&gt;</a:t>
            </a:r>
          </a:p>
          <a:p>
            <a:r>
              <a:rPr lang="en-US" altLang="zh-CN" dirty="0"/>
              <a:t>T ARRAY&lt;T&gt;::sum()</a:t>
            </a:r>
          </a:p>
          <a:p>
            <a:r>
              <a:rPr lang="en-US" altLang="zh-CN" dirty="0"/>
              <a:t>{	T	s=0;</a:t>
            </a:r>
          </a:p>
          <a:p>
            <a:r>
              <a:rPr lang="en-US" altLang="zh-CN" dirty="0"/>
              <a:t>	for (int </a:t>
            </a:r>
            <a:r>
              <a:rPr lang="en-US" altLang="zh-CN" dirty="0" err="1"/>
              <a:t>i</a:t>
            </a:r>
            <a:r>
              <a:rPr lang="en-US" altLang="zh-CN" dirty="0"/>
              <a:t>=0; </a:t>
            </a:r>
            <a:r>
              <a:rPr lang="en-US" altLang="zh-CN" dirty="0" err="1"/>
              <a:t>i</a:t>
            </a:r>
            <a:r>
              <a:rPr lang="en-US" altLang="zh-CN" dirty="0"/>
              <a:t>&lt;size; </a:t>
            </a:r>
            <a:r>
              <a:rPr lang="en-US" altLang="zh-CN" dirty="0" err="1"/>
              <a:t>i</a:t>
            </a:r>
            <a:r>
              <a:rPr lang="en-US" altLang="zh-CN" dirty="0"/>
              <a:t>++)</a:t>
            </a:r>
          </a:p>
          <a:p>
            <a:r>
              <a:rPr lang="en-US" altLang="zh-CN" dirty="0"/>
              <a:t>		s+= set[</a:t>
            </a:r>
            <a:r>
              <a:rPr lang="en-US" altLang="zh-CN" dirty="0" err="1"/>
              <a:t>i</a:t>
            </a:r>
            <a:r>
              <a:rPr lang="en-US" altLang="zh-CN" dirty="0"/>
              <a:t>];</a:t>
            </a:r>
          </a:p>
          <a:p>
            <a:r>
              <a:rPr lang="en-US" altLang="zh-CN" dirty="0"/>
              <a:t>	return s;</a:t>
            </a:r>
          </a:p>
          <a:p>
            <a:r>
              <a:rPr lang="en-US" altLang="zh-CN" dirty="0"/>
              <a:t>}    </a:t>
            </a:r>
          </a:p>
          <a:p>
            <a:r>
              <a:rPr lang="en-US" altLang="zh-CN" dirty="0"/>
              <a:t>template &lt;class T&gt;</a:t>
            </a:r>
          </a:p>
          <a:p>
            <a:r>
              <a:rPr lang="en-US" altLang="zh-CN" dirty="0"/>
              <a:t>void ARRAY&lt;T&gt;::print()</a:t>
            </a:r>
          </a:p>
          <a:p>
            <a:r>
              <a:rPr lang="en-US" altLang="zh-CN" dirty="0"/>
              <a:t>{	for (int </a:t>
            </a:r>
            <a:r>
              <a:rPr lang="en-US" altLang="zh-CN" dirty="0" err="1"/>
              <a:t>i</a:t>
            </a:r>
            <a:r>
              <a:rPr lang="en-US" altLang="zh-CN" dirty="0"/>
              <a:t>=0; </a:t>
            </a:r>
            <a:r>
              <a:rPr lang="en-US" altLang="zh-CN" dirty="0" err="1"/>
              <a:t>i</a:t>
            </a:r>
            <a:r>
              <a:rPr lang="en-US" altLang="zh-CN" dirty="0"/>
              <a:t>&lt;size; </a:t>
            </a:r>
            <a:r>
              <a:rPr lang="en-US" altLang="zh-CN" dirty="0" err="1"/>
              <a:t>i</a:t>
            </a:r>
            <a:r>
              <a:rPr lang="en-US" altLang="zh-CN" dirty="0"/>
              <a:t>++)</a:t>
            </a:r>
          </a:p>
          <a:p>
            <a:r>
              <a:rPr lang="en-US" altLang="zh-CN" dirty="0"/>
              <a:t>		</a:t>
            </a:r>
            <a:r>
              <a:rPr lang="en-US" altLang="zh-CN" dirty="0" err="1"/>
              <a:t>cout</a:t>
            </a:r>
            <a:r>
              <a:rPr lang="en-US" altLang="zh-CN" dirty="0"/>
              <a:t>&lt;&lt;set[</a:t>
            </a:r>
            <a:r>
              <a:rPr lang="en-US" altLang="zh-CN" dirty="0" err="1"/>
              <a:t>i</a:t>
            </a:r>
            <a:r>
              <a:rPr lang="en-US" altLang="zh-CN" dirty="0"/>
              <a:t>]&lt;&lt;" ";</a:t>
            </a:r>
          </a:p>
          <a:p>
            <a:r>
              <a:rPr lang="en-US" altLang="zh-CN" dirty="0"/>
              <a:t>}    </a:t>
            </a:r>
          </a:p>
          <a:p>
            <a:endParaRPr lang="en-US" altLang="zh-CN" dirty="0"/>
          </a:p>
          <a:p>
            <a:r>
              <a:rPr lang="en-US" altLang="zh-CN" dirty="0"/>
              <a:t>void  read(int* </a:t>
            </a:r>
            <a:r>
              <a:rPr lang="en-US" altLang="zh-CN" dirty="0" err="1"/>
              <a:t>p,int</a:t>
            </a:r>
            <a:r>
              <a:rPr lang="en-US" altLang="zh-CN" dirty="0"/>
              <a:t> n){</a:t>
            </a:r>
          </a:p>
          <a:p>
            <a:r>
              <a:rPr lang="en-US" altLang="zh-CN" dirty="0"/>
              <a:t>	for(int </a:t>
            </a:r>
            <a:r>
              <a:rPr lang="en-US" altLang="zh-CN" dirty="0" err="1"/>
              <a:t>i</a:t>
            </a:r>
            <a:r>
              <a:rPr lang="en-US" altLang="zh-CN" dirty="0"/>
              <a:t>=0; </a:t>
            </a:r>
            <a:r>
              <a:rPr lang="en-US" altLang="zh-CN" dirty="0" err="1"/>
              <a:t>i</a:t>
            </a:r>
            <a:r>
              <a:rPr lang="en-US" altLang="zh-CN" dirty="0"/>
              <a:t>&lt;n; </a:t>
            </a:r>
            <a:r>
              <a:rPr lang="en-US" altLang="zh-CN" dirty="0" err="1"/>
              <a:t>i</a:t>
            </a:r>
            <a:r>
              <a:rPr lang="en-US" altLang="zh-CN" dirty="0"/>
              <a:t>++)</a:t>
            </a:r>
          </a:p>
          <a:p>
            <a:r>
              <a:rPr lang="en-US" altLang="zh-CN" dirty="0"/>
              <a:t>		p[</a:t>
            </a:r>
            <a:r>
              <a:rPr lang="en-US" altLang="zh-CN" dirty="0" err="1"/>
              <a:t>i</a:t>
            </a:r>
            <a:r>
              <a:rPr lang="en-US" altLang="zh-CN" dirty="0"/>
              <a:t>] = 100-i*2+5;</a:t>
            </a:r>
          </a:p>
          <a:p>
            <a:r>
              <a:rPr lang="en-US" altLang="zh-CN" dirty="0"/>
              <a:t>}</a:t>
            </a:r>
          </a:p>
          <a:p>
            <a:r>
              <a:rPr lang="en-US" altLang="zh-CN" dirty="0"/>
              <a:t>	</a:t>
            </a:r>
          </a:p>
          <a:p>
            <a:r>
              <a:rPr lang="en-US" altLang="zh-CN" dirty="0"/>
              <a:t>int main()</a:t>
            </a:r>
          </a:p>
          <a:p>
            <a:r>
              <a:rPr lang="en-US" altLang="zh-CN" dirty="0"/>
              <a:t>{	ARRAY&lt;int&gt;    </a:t>
            </a:r>
            <a:r>
              <a:rPr lang="en-US" altLang="zh-CN" dirty="0" err="1"/>
              <a:t>myArray</a:t>
            </a:r>
            <a:r>
              <a:rPr lang="en-US" altLang="zh-CN" dirty="0"/>
              <a:t>(10);</a:t>
            </a:r>
          </a:p>
          <a:p>
            <a:r>
              <a:rPr lang="en-US" altLang="zh-CN" dirty="0"/>
              <a:t>	read(myArray,10);</a:t>
            </a:r>
          </a:p>
          <a:p>
            <a:r>
              <a:rPr lang="en-US" altLang="zh-CN" dirty="0"/>
              <a:t>	</a:t>
            </a:r>
            <a:r>
              <a:rPr lang="en-US" altLang="zh-CN" dirty="0" err="1"/>
              <a:t>myArray.print</a:t>
            </a:r>
            <a:r>
              <a:rPr lang="en-US" altLang="zh-CN" dirty="0"/>
              <a:t>();</a:t>
            </a:r>
          </a:p>
          <a:p>
            <a:r>
              <a:rPr lang="en-US" altLang="zh-CN" dirty="0"/>
              <a:t>	</a:t>
            </a:r>
            <a:r>
              <a:rPr lang="en-US" altLang="zh-CN" dirty="0" err="1"/>
              <a:t>cout</a:t>
            </a:r>
            <a:r>
              <a:rPr lang="en-US" altLang="zh-CN" dirty="0"/>
              <a:t>&lt;&lt;"\n";</a:t>
            </a:r>
          </a:p>
          <a:p>
            <a:r>
              <a:rPr lang="en-US" altLang="zh-CN" dirty="0"/>
              <a:t>	</a:t>
            </a:r>
            <a:r>
              <a:rPr lang="en-US" altLang="zh-CN" dirty="0" err="1"/>
              <a:t>myArray.sort</a:t>
            </a:r>
            <a:r>
              <a:rPr lang="en-US" altLang="zh-CN" dirty="0"/>
              <a:t>();</a:t>
            </a:r>
          </a:p>
          <a:p>
            <a:r>
              <a:rPr lang="en-US" altLang="zh-CN" dirty="0"/>
              <a:t>	</a:t>
            </a:r>
            <a:r>
              <a:rPr lang="en-US" altLang="zh-CN" dirty="0" err="1"/>
              <a:t>myArray.print</a:t>
            </a:r>
            <a:r>
              <a:rPr lang="en-US" altLang="zh-CN" dirty="0"/>
              <a:t>();</a:t>
            </a:r>
          </a:p>
          <a:p>
            <a:r>
              <a:rPr lang="en-US" altLang="zh-CN" dirty="0"/>
              <a:t>	</a:t>
            </a:r>
            <a:r>
              <a:rPr lang="en-US" altLang="zh-CN" dirty="0" err="1"/>
              <a:t>cout</a:t>
            </a:r>
            <a:r>
              <a:rPr lang="en-US" altLang="zh-CN" dirty="0"/>
              <a:t>&lt;&lt;"\n"&lt;&lt;</a:t>
            </a:r>
            <a:r>
              <a:rPr lang="en-US" altLang="zh-CN" dirty="0" err="1"/>
              <a:t>myArray.seek</a:t>
            </a:r>
            <a:r>
              <a:rPr lang="en-US" altLang="zh-CN" dirty="0"/>
              <a:t>(95)&lt;&lt;"  "&lt;&lt;</a:t>
            </a:r>
            <a:r>
              <a:rPr lang="en-US" altLang="zh-CN" dirty="0" err="1"/>
              <a:t>myArray.sum</a:t>
            </a:r>
            <a:r>
              <a:rPr lang="en-US" altLang="zh-CN" dirty="0"/>
              <a:t>();</a:t>
            </a:r>
          </a:p>
          <a:p>
            <a:r>
              <a:rPr lang="en-US" altLang="zh-CN" dirty="0"/>
              <a:t>	return 0;</a:t>
            </a:r>
          </a:p>
          <a:p>
            <a:r>
              <a:rPr lang="en-US" altLang="zh-CN" dirty="0"/>
              <a:t>}</a:t>
            </a:r>
          </a:p>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19</a:t>
            </a:fld>
            <a:endParaRPr lang="zh-CN" altLang="en-US"/>
          </a:p>
        </p:txBody>
      </p:sp>
    </p:spTree>
    <p:extLst>
      <p:ext uri="{BB962C8B-B14F-4D97-AF65-F5344CB8AC3E}">
        <p14:creationId xmlns:p14="http://schemas.microsoft.com/office/powerpoint/2010/main" val="30493130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20</a:t>
            </a:fld>
            <a:endParaRPr lang="zh-CN" altLang="en-US"/>
          </a:p>
        </p:txBody>
      </p:sp>
    </p:spTree>
    <p:extLst>
      <p:ext uri="{BB962C8B-B14F-4D97-AF65-F5344CB8AC3E}">
        <p14:creationId xmlns:p14="http://schemas.microsoft.com/office/powerpoint/2010/main" val="1556689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8ABDA6A-29CD-4D28-B6EA-E8D4FFDF6043}" type="slidenum">
              <a:rPr lang="zh-CN" altLang="en-US" smtClean="0"/>
              <a:t>21</a:t>
            </a:fld>
            <a:endParaRPr lang="zh-CN" altLang="en-US"/>
          </a:p>
        </p:txBody>
      </p:sp>
    </p:spTree>
    <p:extLst>
      <p:ext uri="{BB962C8B-B14F-4D97-AF65-F5344CB8AC3E}">
        <p14:creationId xmlns:p14="http://schemas.microsoft.com/office/powerpoint/2010/main" val="38492230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Arial" panose="020B0604020202020204" pitchFamily="34" charset="0"/>
            </a:endParaRPr>
          </a:p>
        </p:txBody>
      </p:sp>
      <p:sp>
        <p:nvSpPr>
          <p:cNvPr id="4" name="灯片编号占位符 3"/>
          <p:cNvSpPr>
            <a:spLocks noGrp="1"/>
          </p:cNvSpPr>
          <p:nvPr>
            <p:ph type="sldNum" sz="quarter" idx="5"/>
          </p:nvPr>
        </p:nvSpPr>
        <p:spPr/>
        <p:txBody>
          <a:bodyPr/>
          <a:lstStyle/>
          <a:p>
            <a:fld id="{A8ABDA6A-29CD-4D28-B6EA-E8D4FFDF6043}" type="slidenum">
              <a:rPr lang="zh-CN" altLang="en-US" smtClean="0"/>
              <a:t>22</a:t>
            </a:fld>
            <a:endParaRPr lang="zh-CN" altLang="en-US"/>
          </a:p>
        </p:txBody>
      </p:sp>
    </p:spTree>
    <p:extLst>
      <p:ext uri="{BB962C8B-B14F-4D97-AF65-F5344CB8AC3E}">
        <p14:creationId xmlns:p14="http://schemas.microsoft.com/office/powerpoint/2010/main" val="1672924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5"/>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4"/>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_Blank">
    <p:bg>
      <p:bgPr>
        <a:solidFill>
          <a:schemeClr val="accent3"/>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accent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2_Blank">
    <p:bg>
      <p:bgPr>
        <a:solidFill>
          <a:schemeClr val="accent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609600" rtl="0" eaLnBrk="1" latinLnBrk="0" hangingPunct="1">
        <a:spcBef>
          <a:spcPct val="0"/>
        </a:spcBef>
        <a:buNone/>
        <a:defRPr sz="5865" kern="1200">
          <a:solidFill>
            <a:schemeClr val="tx1"/>
          </a:solidFill>
          <a:latin typeface="+mj-lt"/>
          <a:ea typeface="+mj-ea"/>
          <a:cs typeface="+mj-cs"/>
        </a:defRPr>
      </a:lvl1pPr>
    </p:titleStyle>
    <p:bodyStyle>
      <a:lvl1pPr marL="457200" indent="-457200" algn="l" defTabSz="609600" rtl="0" eaLnBrk="1" latinLnBrk="0" hangingPunct="1">
        <a:spcBef>
          <a:spcPct val="20000"/>
        </a:spcBef>
        <a:buFont typeface="Arial" panose="020B0604020202020204"/>
        <a:buChar char="•"/>
        <a:defRPr sz="4265"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35" kern="1200">
          <a:solidFill>
            <a:schemeClr val="tx1"/>
          </a:solidFill>
          <a:latin typeface="+mn-lt"/>
          <a:ea typeface="+mn-ea"/>
          <a:cs typeface="+mn-cs"/>
        </a:defRPr>
      </a:lvl2pPr>
      <a:lvl3pPr marL="1524000"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3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13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09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p:bodyStyle>
    <p:otherStyle>
      <a:defPPr>
        <a:defRPr lang="en-US"/>
      </a:defPPr>
      <a:lvl1pPr marL="0" algn="l" defTabSz="609600" rtl="0" eaLnBrk="1" latinLnBrk="0" hangingPunct="1">
        <a:defRPr sz="2400" kern="1200">
          <a:solidFill>
            <a:schemeClr val="tx1"/>
          </a:solidFill>
          <a:latin typeface="+mn-lt"/>
          <a:ea typeface="+mn-ea"/>
          <a:cs typeface="+mn-cs"/>
        </a:defRPr>
      </a:lvl1pPr>
      <a:lvl2pPr marL="609600" algn="l" defTabSz="609600" rtl="0" eaLnBrk="1" latinLnBrk="0" hangingPunct="1">
        <a:defRPr sz="2400" kern="1200">
          <a:solidFill>
            <a:schemeClr val="tx1"/>
          </a:solidFill>
          <a:latin typeface="+mn-lt"/>
          <a:ea typeface="+mn-ea"/>
          <a:cs typeface="+mn-cs"/>
        </a:defRPr>
      </a:lvl2pPr>
      <a:lvl3pPr marL="1219200" algn="l" defTabSz="609600" rtl="0" eaLnBrk="1" latinLnBrk="0" hangingPunct="1">
        <a:defRPr sz="2400" kern="1200">
          <a:solidFill>
            <a:schemeClr val="tx1"/>
          </a:solidFill>
          <a:latin typeface="+mn-lt"/>
          <a:ea typeface="+mn-ea"/>
          <a:cs typeface="+mn-cs"/>
        </a:defRPr>
      </a:lvl3pPr>
      <a:lvl4pPr marL="1828800" algn="l" defTabSz="609600" rtl="0" eaLnBrk="1" latinLnBrk="0" hangingPunct="1">
        <a:defRPr sz="2400" kern="1200">
          <a:solidFill>
            <a:schemeClr val="tx1"/>
          </a:solidFill>
          <a:latin typeface="+mn-lt"/>
          <a:ea typeface="+mn-ea"/>
          <a:cs typeface="+mn-cs"/>
        </a:defRPr>
      </a:lvl4pPr>
      <a:lvl5pPr marL="2438400" algn="l" defTabSz="609600" rtl="0" eaLnBrk="1" latinLnBrk="0" hangingPunct="1">
        <a:defRPr sz="2400" kern="1200">
          <a:solidFill>
            <a:schemeClr val="tx1"/>
          </a:solidFill>
          <a:latin typeface="+mn-lt"/>
          <a:ea typeface="+mn-ea"/>
          <a:cs typeface="+mn-cs"/>
        </a:defRPr>
      </a:lvl5pPr>
      <a:lvl6pPr marL="3047365" algn="l" defTabSz="609600" rtl="0" eaLnBrk="1" latinLnBrk="0" hangingPunct="1">
        <a:defRPr sz="2400" kern="1200">
          <a:solidFill>
            <a:schemeClr val="tx1"/>
          </a:solidFill>
          <a:latin typeface="+mn-lt"/>
          <a:ea typeface="+mn-ea"/>
          <a:cs typeface="+mn-cs"/>
        </a:defRPr>
      </a:lvl6pPr>
      <a:lvl7pPr marL="3656965" algn="l" defTabSz="609600" rtl="0" eaLnBrk="1" latinLnBrk="0" hangingPunct="1">
        <a:defRPr sz="2400" kern="1200">
          <a:solidFill>
            <a:schemeClr val="tx1"/>
          </a:solidFill>
          <a:latin typeface="+mn-lt"/>
          <a:ea typeface="+mn-ea"/>
          <a:cs typeface="+mn-cs"/>
        </a:defRPr>
      </a:lvl7pPr>
      <a:lvl8pPr marL="4266565" algn="l" defTabSz="609600" rtl="0" eaLnBrk="1" latinLnBrk="0" hangingPunct="1">
        <a:defRPr sz="2400" kern="1200">
          <a:solidFill>
            <a:schemeClr val="tx1"/>
          </a:solidFill>
          <a:latin typeface="+mn-lt"/>
          <a:ea typeface="+mn-ea"/>
          <a:cs typeface="+mn-cs"/>
        </a:defRPr>
      </a:lvl8pPr>
      <a:lvl9pPr marL="4876165" algn="l" defTabSz="6096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0" name="矩形 19"/>
          <p:cNvSpPr/>
          <p:nvPr/>
        </p:nvSpPr>
        <p:spPr>
          <a:xfrm>
            <a:off x="7231" y="2388"/>
            <a:ext cx="12190413" cy="2965058"/>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dirty="0"/>
          </a:p>
        </p:txBody>
      </p:sp>
      <p:sp>
        <p:nvSpPr>
          <p:cNvPr id="4" name="文本框 3"/>
          <p:cNvSpPr txBox="1"/>
          <p:nvPr/>
        </p:nvSpPr>
        <p:spPr>
          <a:xfrm>
            <a:off x="0" y="2965058"/>
            <a:ext cx="12197643" cy="1015663"/>
          </a:xfrm>
          <a:prstGeom prst="rect">
            <a:avLst/>
          </a:prstGeom>
          <a:noFill/>
        </p:spPr>
        <p:txBody>
          <a:bodyPr wrap="square" rtlCol="0">
            <a:spAutoFit/>
          </a:bodyPr>
          <a:lstStyle/>
          <a:p>
            <a:pPr algn="ctr"/>
            <a:r>
              <a:rPr lang="zh-CN" altLang="en-US" sz="6000" b="1" dirty="0">
                <a:latin typeface="华光淡古印_CNKI" panose="02000500000000000000" pitchFamily="2" charset="-122"/>
                <a:ea typeface="华光淡古印_CNKI" panose="02000500000000000000" pitchFamily="2" charset="-122"/>
              </a:rPr>
              <a:t>第</a:t>
            </a:r>
            <a:r>
              <a:rPr lang="en-US" altLang="zh-CN" sz="6000" b="1" dirty="0">
                <a:latin typeface="华光淡古印_CNKI" panose="02000500000000000000" pitchFamily="2" charset="-122"/>
                <a:ea typeface="华光淡古印_CNKI" panose="02000500000000000000" pitchFamily="2" charset="-122"/>
              </a:rPr>
              <a:t>11</a:t>
            </a:r>
            <a:r>
              <a:rPr lang="zh-CN" altLang="en-US" sz="6000" b="1" dirty="0">
                <a:latin typeface="华光淡古印_CNKI" panose="02000500000000000000" pitchFamily="2" charset="-122"/>
                <a:ea typeface="华光淡古印_CNKI" panose="02000500000000000000" pitchFamily="2" charset="-122"/>
              </a:rPr>
              <a:t>讲 模板</a:t>
            </a:r>
            <a:endParaRPr lang="zh-CN" altLang="en-US" sz="6000" b="1" dirty="0">
              <a:latin typeface="华光淡古印_CNKI" panose="02000500000000000000" pitchFamily="2" charset="-122"/>
              <a:ea typeface="华光淡古印_CNKI" panose="02000500000000000000" pitchFamily="2" charset="-122"/>
              <a:sym typeface="+mn-lt"/>
            </a:endParaRPr>
          </a:p>
        </p:txBody>
      </p:sp>
      <p:grpSp>
        <p:nvGrpSpPr>
          <p:cNvPr id="11" name="组合 10"/>
          <p:cNvGrpSpPr/>
          <p:nvPr/>
        </p:nvGrpSpPr>
        <p:grpSpPr>
          <a:xfrm>
            <a:off x="3645249" y="2434852"/>
            <a:ext cx="363125" cy="413514"/>
            <a:chOff x="3170996" y="382686"/>
            <a:chExt cx="807829" cy="807829"/>
          </a:xfrm>
        </p:grpSpPr>
        <p:sp>
          <p:nvSpPr>
            <p:cNvPr id="6" name="椭圆 5"/>
            <p:cNvSpPr/>
            <p:nvPr/>
          </p:nvSpPr>
          <p:spPr>
            <a:xfrm>
              <a:off x="3170996" y="382686"/>
              <a:ext cx="807829" cy="807829"/>
            </a:xfrm>
            <a:prstGeom prst="ellipse">
              <a:avLst/>
            </a:prstGeom>
            <a:solidFill>
              <a:schemeClr val="tx1"/>
            </a:solidFill>
            <a:ln w="76200" cmpd="sng">
              <a:solidFill>
                <a:schemeClr val="accent5"/>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7" name="文本框 6"/>
            <p:cNvSpPr txBox="1"/>
            <p:nvPr/>
          </p:nvSpPr>
          <p:spPr>
            <a:xfrm>
              <a:off x="3349624" y="443558"/>
              <a:ext cx="450568" cy="508850"/>
            </a:xfrm>
            <a:prstGeom prst="rect">
              <a:avLst/>
            </a:prstGeom>
            <a:noFill/>
          </p:spPr>
          <p:txBody>
            <a:bodyPr wrap="none" rtlCol="0">
              <a:spAutoFit/>
            </a:bodyPr>
            <a:lstStyle/>
            <a:p>
              <a:pPr algn="ctr"/>
              <a:r>
                <a:rPr kumimoji="1" lang="en-US" altLang="zh-CN" sz="1800" b="1" dirty="0">
                  <a:solidFill>
                    <a:schemeClr val="accent5"/>
                  </a:solidFill>
                </a:rPr>
                <a:t>R</a:t>
              </a:r>
              <a:endParaRPr kumimoji="1" lang="zh-CN" altLang="en-US" sz="1800" b="1" dirty="0">
                <a:solidFill>
                  <a:schemeClr val="accent5"/>
                </a:solidFill>
              </a:endParaRPr>
            </a:p>
          </p:txBody>
        </p:sp>
      </p:grpSp>
      <p:grpSp>
        <p:nvGrpSpPr>
          <p:cNvPr id="2" name="组合 1"/>
          <p:cNvGrpSpPr/>
          <p:nvPr/>
        </p:nvGrpSpPr>
        <p:grpSpPr>
          <a:xfrm>
            <a:off x="3121733" y="2434852"/>
            <a:ext cx="363124" cy="413514"/>
            <a:chOff x="2173906" y="382686"/>
            <a:chExt cx="807829" cy="807829"/>
          </a:xfrm>
        </p:grpSpPr>
        <p:sp>
          <p:nvSpPr>
            <p:cNvPr id="5" name="椭圆 4"/>
            <p:cNvSpPr/>
            <p:nvPr/>
          </p:nvSpPr>
          <p:spPr>
            <a:xfrm>
              <a:off x="2173906" y="382686"/>
              <a:ext cx="807829" cy="807829"/>
            </a:xfrm>
            <a:prstGeom prst="ellipse">
              <a:avLst/>
            </a:prstGeom>
            <a:solidFill>
              <a:schemeClr val="tx1"/>
            </a:solidFill>
            <a:ln w="76200" cmpd="sng">
              <a:solidFill>
                <a:schemeClr val="accent2"/>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8" name="文本框 7"/>
            <p:cNvSpPr txBox="1"/>
            <p:nvPr/>
          </p:nvSpPr>
          <p:spPr>
            <a:xfrm>
              <a:off x="2355927" y="443558"/>
              <a:ext cx="443783" cy="508850"/>
            </a:xfrm>
            <a:prstGeom prst="rect">
              <a:avLst/>
            </a:prstGeom>
            <a:noFill/>
          </p:spPr>
          <p:txBody>
            <a:bodyPr wrap="none" rtlCol="0">
              <a:spAutoFit/>
            </a:bodyPr>
            <a:lstStyle/>
            <a:p>
              <a:pPr algn="ctr"/>
              <a:r>
                <a:rPr kumimoji="1" lang="en-US" altLang="zh-CN" sz="1800" b="1" dirty="0">
                  <a:solidFill>
                    <a:srgbClr val="26CCC5"/>
                  </a:solidFill>
                </a:rPr>
                <a:t>P</a:t>
              </a:r>
              <a:endParaRPr kumimoji="1" lang="zh-CN" altLang="en-US" sz="1800" b="1" dirty="0">
                <a:solidFill>
                  <a:srgbClr val="26CCC5"/>
                </a:solidFill>
              </a:endParaRPr>
            </a:p>
          </p:txBody>
        </p:sp>
      </p:grpSp>
      <p:grpSp>
        <p:nvGrpSpPr>
          <p:cNvPr id="12" name="组合 11"/>
          <p:cNvGrpSpPr/>
          <p:nvPr/>
        </p:nvGrpSpPr>
        <p:grpSpPr>
          <a:xfrm>
            <a:off x="4168766" y="2434852"/>
            <a:ext cx="363124" cy="413514"/>
            <a:chOff x="4168089" y="382686"/>
            <a:chExt cx="807830" cy="807829"/>
          </a:xfrm>
        </p:grpSpPr>
        <p:sp>
          <p:nvSpPr>
            <p:cNvPr id="9" name="椭圆 8"/>
            <p:cNvSpPr/>
            <p:nvPr/>
          </p:nvSpPr>
          <p:spPr>
            <a:xfrm>
              <a:off x="4168089" y="382686"/>
              <a:ext cx="807830" cy="807829"/>
            </a:xfrm>
            <a:prstGeom prst="ellipse">
              <a:avLst/>
            </a:prstGeom>
            <a:solidFill>
              <a:schemeClr val="tx1"/>
            </a:solidFill>
            <a:ln w="76200" cmpd="sng">
              <a:solidFill>
                <a:schemeClr val="accent3"/>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10" name="文本框 9"/>
            <p:cNvSpPr txBox="1"/>
            <p:nvPr/>
          </p:nvSpPr>
          <p:spPr>
            <a:xfrm>
              <a:off x="4304865" y="443558"/>
              <a:ext cx="534260" cy="508850"/>
            </a:xfrm>
            <a:prstGeom prst="rect">
              <a:avLst/>
            </a:prstGeom>
            <a:noFill/>
          </p:spPr>
          <p:txBody>
            <a:bodyPr wrap="none" rtlCol="0">
              <a:spAutoFit/>
            </a:bodyPr>
            <a:lstStyle/>
            <a:p>
              <a:pPr algn="ctr"/>
              <a:r>
                <a:rPr kumimoji="1" lang="en-US" altLang="zh-CN" sz="1800" b="1" dirty="0">
                  <a:solidFill>
                    <a:schemeClr val="accent3"/>
                  </a:solidFill>
                </a:rPr>
                <a:t>O</a:t>
              </a:r>
              <a:endParaRPr kumimoji="1" lang="zh-CN" altLang="en-US" sz="1800" b="1" dirty="0">
                <a:solidFill>
                  <a:schemeClr val="accent3"/>
                </a:solidFill>
              </a:endParaRPr>
            </a:p>
          </p:txBody>
        </p:sp>
      </p:grpSp>
      <p:grpSp>
        <p:nvGrpSpPr>
          <p:cNvPr id="13" name="组合 12"/>
          <p:cNvGrpSpPr/>
          <p:nvPr/>
        </p:nvGrpSpPr>
        <p:grpSpPr>
          <a:xfrm>
            <a:off x="4692282" y="2434852"/>
            <a:ext cx="363124" cy="413514"/>
            <a:chOff x="5165176" y="382686"/>
            <a:chExt cx="807829" cy="807829"/>
          </a:xfrm>
        </p:grpSpPr>
        <p:sp>
          <p:nvSpPr>
            <p:cNvPr id="15" name="椭圆 14"/>
            <p:cNvSpPr/>
            <p:nvPr/>
          </p:nvSpPr>
          <p:spPr>
            <a:xfrm>
              <a:off x="5165176" y="382686"/>
              <a:ext cx="807829" cy="807829"/>
            </a:xfrm>
            <a:prstGeom prst="ellipse">
              <a:avLst/>
            </a:prstGeom>
            <a:solidFill>
              <a:schemeClr val="tx1"/>
            </a:solidFill>
            <a:ln w="76200" cmpd="sng">
              <a:solidFill>
                <a:srgbClr val="104D7E"/>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16" name="文本框 15"/>
            <p:cNvSpPr txBox="1"/>
            <p:nvPr/>
          </p:nvSpPr>
          <p:spPr>
            <a:xfrm>
              <a:off x="5301956" y="443558"/>
              <a:ext cx="534259" cy="508850"/>
            </a:xfrm>
            <a:prstGeom prst="rect">
              <a:avLst/>
            </a:prstGeom>
            <a:noFill/>
          </p:spPr>
          <p:txBody>
            <a:bodyPr wrap="none" rtlCol="0">
              <a:spAutoFit/>
            </a:bodyPr>
            <a:lstStyle/>
            <a:p>
              <a:pPr algn="ctr"/>
              <a:r>
                <a:rPr kumimoji="1" lang="en-US" altLang="zh-CN" sz="1800" b="1" dirty="0">
                  <a:solidFill>
                    <a:schemeClr val="accent1"/>
                  </a:solidFill>
                </a:rPr>
                <a:t>G</a:t>
              </a:r>
              <a:endParaRPr kumimoji="1" lang="zh-CN" altLang="en-US" sz="1800" b="1" dirty="0">
                <a:solidFill>
                  <a:schemeClr val="accent1"/>
                </a:solidFill>
              </a:endParaRPr>
            </a:p>
          </p:txBody>
        </p:sp>
      </p:grpSp>
      <p:grpSp>
        <p:nvGrpSpPr>
          <p:cNvPr id="14" name="组合 13"/>
          <p:cNvGrpSpPr/>
          <p:nvPr/>
        </p:nvGrpSpPr>
        <p:grpSpPr>
          <a:xfrm>
            <a:off x="5215798" y="2434852"/>
            <a:ext cx="363124" cy="413514"/>
            <a:chOff x="6162270" y="382686"/>
            <a:chExt cx="807830" cy="807829"/>
          </a:xfrm>
        </p:grpSpPr>
        <p:sp>
          <p:nvSpPr>
            <p:cNvPr id="18" name="椭圆 17"/>
            <p:cNvSpPr/>
            <p:nvPr/>
          </p:nvSpPr>
          <p:spPr>
            <a:xfrm>
              <a:off x="6162270" y="382686"/>
              <a:ext cx="807830" cy="807829"/>
            </a:xfrm>
            <a:prstGeom prst="ellipse">
              <a:avLst/>
            </a:prstGeom>
            <a:solidFill>
              <a:schemeClr val="tx1"/>
            </a:solidFill>
            <a:ln w="76200" cmpd="sng">
              <a:solidFill>
                <a:schemeClr val="accent6"/>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19" name="文本框 18"/>
            <p:cNvSpPr txBox="1"/>
            <p:nvPr/>
          </p:nvSpPr>
          <p:spPr>
            <a:xfrm>
              <a:off x="6340893" y="443558"/>
              <a:ext cx="450570" cy="508850"/>
            </a:xfrm>
            <a:prstGeom prst="rect">
              <a:avLst/>
            </a:prstGeom>
            <a:noFill/>
          </p:spPr>
          <p:txBody>
            <a:bodyPr wrap="none" rtlCol="0">
              <a:spAutoFit/>
            </a:bodyPr>
            <a:lstStyle/>
            <a:p>
              <a:pPr algn="ctr"/>
              <a:r>
                <a:rPr kumimoji="1" lang="en-US" altLang="zh-CN" sz="1800" b="1" dirty="0">
                  <a:solidFill>
                    <a:schemeClr val="accent6"/>
                  </a:solidFill>
                </a:rPr>
                <a:t>R</a:t>
              </a:r>
              <a:endParaRPr kumimoji="1" lang="zh-CN" altLang="en-US" sz="1800" b="1" dirty="0">
                <a:solidFill>
                  <a:schemeClr val="accent6"/>
                </a:solidFill>
              </a:endParaRPr>
            </a:p>
          </p:txBody>
        </p:sp>
      </p:grpSp>
      <p:sp>
        <p:nvSpPr>
          <p:cNvPr id="17" name="文本框 16"/>
          <p:cNvSpPr txBox="1"/>
          <p:nvPr/>
        </p:nvSpPr>
        <p:spPr>
          <a:xfrm>
            <a:off x="0" y="4193074"/>
            <a:ext cx="12197644" cy="433965"/>
          </a:xfrm>
          <a:prstGeom prst="rect">
            <a:avLst/>
          </a:prstGeom>
          <a:noFill/>
          <a:ln>
            <a:noFill/>
          </a:ln>
        </p:spPr>
        <p:txBody>
          <a:bodyPr wrap="square" rtlCol="0">
            <a:spAutoFit/>
          </a:bodyPr>
          <a:lstStyle/>
          <a:p>
            <a:pPr algn="ctr">
              <a:lnSpc>
                <a:spcPct val="90000"/>
              </a:lnSpc>
            </a:pPr>
            <a:r>
              <a:rPr kumimoji="1" lang="zh-CN" altLang="en-US" b="1" dirty="0">
                <a:latin typeface="华光行书_CNKI" panose="02000500000000000000" pitchFamily="2" charset="-122"/>
                <a:ea typeface="华光行书_CNKI" panose="02000500000000000000" pitchFamily="2" charset="-122"/>
              </a:rPr>
              <a:t>关注“与类型无关的通用算法”</a:t>
            </a:r>
            <a:endParaRPr kumimoji="1" lang="en-US" altLang="zh-CN" b="1" dirty="0">
              <a:latin typeface="华光行书_CNKI" panose="02000500000000000000" pitchFamily="2" charset="-122"/>
              <a:ea typeface="华光行书_CNKI" panose="02000500000000000000" pitchFamily="2" charset="-122"/>
            </a:endParaRPr>
          </a:p>
        </p:txBody>
      </p:sp>
      <p:cxnSp>
        <p:nvCxnSpPr>
          <p:cNvPr id="3" name="直线连接符 2"/>
          <p:cNvCxnSpPr>
            <a:cxnSpLocks/>
          </p:cNvCxnSpPr>
          <p:nvPr/>
        </p:nvCxnSpPr>
        <p:spPr>
          <a:xfrm>
            <a:off x="1730618" y="3946163"/>
            <a:ext cx="8724900" cy="0"/>
          </a:xfrm>
          <a:prstGeom prst="line">
            <a:avLst/>
          </a:prstGeom>
          <a:ln w="38100" cmpd="sng">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21" name="组合 20">
            <a:extLst>
              <a:ext uri="{FF2B5EF4-FFF2-40B4-BE49-F238E27FC236}">
                <a16:creationId xmlns:a16="http://schemas.microsoft.com/office/drawing/2014/main" id="{82FF5E2B-968F-4983-AA69-D0255BF69A6B}"/>
              </a:ext>
            </a:extLst>
          </p:cNvPr>
          <p:cNvGrpSpPr/>
          <p:nvPr/>
        </p:nvGrpSpPr>
        <p:grpSpPr>
          <a:xfrm>
            <a:off x="6262830" y="2434852"/>
            <a:ext cx="363125" cy="413514"/>
            <a:chOff x="3170996" y="382686"/>
            <a:chExt cx="807829" cy="807829"/>
          </a:xfrm>
        </p:grpSpPr>
        <p:sp>
          <p:nvSpPr>
            <p:cNvPr id="22" name="椭圆 21">
              <a:extLst>
                <a:ext uri="{FF2B5EF4-FFF2-40B4-BE49-F238E27FC236}">
                  <a16:creationId xmlns:a16="http://schemas.microsoft.com/office/drawing/2014/main" id="{69FDA05E-C5DE-4BD3-B147-0A8A8E4A7272}"/>
                </a:ext>
              </a:extLst>
            </p:cNvPr>
            <p:cNvSpPr/>
            <p:nvPr/>
          </p:nvSpPr>
          <p:spPr>
            <a:xfrm>
              <a:off x="3170996" y="382686"/>
              <a:ext cx="807829" cy="807829"/>
            </a:xfrm>
            <a:prstGeom prst="ellipse">
              <a:avLst/>
            </a:prstGeom>
            <a:solidFill>
              <a:schemeClr val="tx1"/>
            </a:solidFill>
            <a:ln w="76200" cmpd="sng">
              <a:solidFill>
                <a:schemeClr val="accent5"/>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23" name="文本框 22">
              <a:extLst>
                <a:ext uri="{FF2B5EF4-FFF2-40B4-BE49-F238E27FC236}">
                  <a16:creationId xmlns:a16="http://schemas.microsoft.com/office/drawing/2014/main" id="{DC448F4D-31E2-469F-9A7E-C21EECAAABD1}"/>
                </a:ext>
              </a:extLst>
            </p:cNvPr>
            <p:cNvSpPr txBox="1"/>
            <p:nvPr/>
          </p:nvSpPr>
          <p:spPr>
            <a:xfrm>
              <a:off x="3297601" y="443558"/>
              <a:ext cx="554615" cy="508850"/>
            </a:xfrm>
            <a:prstGeom prst="rect">
              <a:avLst/>
            </a:prstGeom>
            <a:noFill/>
          </p:spPr>
          <p:txBody>
            <a:bodyPr wrap="none" rtlCol="0">
              <a:spAutoFit/>
            </a:bodyPr>
            <a:lstStyle/>
            <a:p>
              <a:pPr algn="ctr"/>
              <a:r>
                <a:rPr kumimoji="1" lang="en-US" altLang="zh-CN" sz="1800" b="1" dirty="0">
                  <a:solidFill>
                    <a:schemeClr val="accent5"/>
                  </a:solidFill>
                </a:rPr>
                <a:t>M</a:t>
              </a:r>
              <a:endParaRPr kumimoji="1" lang="zh-CN" altLang="en-US" sz="1800" b="1" dirty="0">
                <a:solidFill>
                  <a:schemeClr val="accent5"/>
                </a:solidFill>
              </a:endParaRPr>
            </a:p>
          </p:txBody>
        </p:sp>
      </p:grpSp>
      <p:grpSp>
        <p:nvGrpSpPr>
          <p:cNvPr id="24" name="组合 23">
            <a:extLst>
              <a:ext uri="{FF2B5EF4-FFF2-40B4-BE49-F238E27FC236}">
                <a16:creationId xmlns:a16="http://schemas.microsoft.com/office/drawing/2014/main" id="{53B0A5A3-8939-4A4D-A5CE-CA844F988E59}"/>
              </a:ext>
            </a:extLst>
          </p:cNvPr>
          <p:cNvGrpSpPr/>
          <p:nvPr/>
        </p:nvGrpSpPr>
        <p:grpSpPr>
          <a:xfrm>
            <a:off x="5739314" y="2434852"/>
            <a:ext cx="363124" cy="413514"/>
            <a:chOff x="2173906" y="382686"/>
            <a:chExt cx="807829" cy="807829"/>
          </a:xfrm>
        </p:grpSpPr>
        <p:sp>
          <p:nvSpPr>
            <p:cNvPr id="25" name="椭圆 24">
              <a:extLst>
                <a:ext uri="{FF2B5EF4-FFF2-40B4-BE49-F238E27FC236}">
                  <a16:creationId xmlns:a16="http://schemas.microsoft.com/office/drawing/2014/main" id="{B481AC01-11C7-42EA-B1CC-0DEF571A0498}"/>
                </a:ext>
              </a:extLst>
            </p:cNvPr>
            <p:cNvSpPr/>
            <p:nvPr/>
          </p:nvSpPr>
          <p:spPr>
            <a:xfrm>
              <a:off x="2173906" y="382686"/>
              <a:ext cx="807829" cy="807829"/>
            </a:xfrm>
            <a:prstGeom prst="ellipse">
              <a:avLst/>
            </a:prstGeom>
            <a:solidFill>
              <a:schemeClr val="tx1"/>
            </a:solidFill>
            <a:ln w="76200" cmpd="sng">
              <a:solidFill>
                <a:schemeClr val="accent2"/>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26" name="文本框 25">
              <a:extLst>
                <a:ext uri="{FF2B5EF4-FFF2-40B4-BE49-F238E27FC236}">
                  <a16:creationId xmlns:a16="http://schemas.microsoft.com/office/drawing/2014/main" id="{9A32D12B-6482-4BB8-9FD4-3FE7F1EE81A0}"/>
                </a:ext>
              </a:extLst>
            </p:cNvPr>
            <p:cNvSpPr txBox="1"/>
            <p:nvPr/>
          </p:nvSpPr>
          <p:spPr>
            <a:xfrm>
              <a:off x="2326521" y="443558"/>
              <a:ext cx="502594" cy="508850"/>
            </a:xfrm>
            <a:prstGeom prst="rect">
              <a:avLst/>
            </a:prstGeom>
            <a:noFill/>
          </p:spPr>
          <p:txBody>
            <a:bodyPr wrap="none" rtlCol="0">
              <a:spAutoFit/>
            </a:bodyPr>
            <a:lstStyle/>
            <a:p>
              <a:pPr algn="ctr"/>
              <a:r>
                <a:rPr kumimoji="1" lang="en-US" altLang="zh-CN" sz="1800" b="1" dirty="0">
                  <a:solidFill>
                    <a:srgbClr val="26CCC5"/>
                  </a:solidFill>
                </a:rPr>
                <a:t>A</a:t>
              </a:r>
              <a:endParaRPr kumimoji="1" lang="zh-CN" altLang="en-US" sz="1800" b="1" dirty="0">
                <a:solidFill>
                  <a:srgbClr val="26CCC5"/>
                </a:solidFill>
              </a:endParaRPr>
            </a:p>
          </p:txBody>
        </p:sp>
      </p:grpSp>
      <p:grpSp>
        <p:nvGrpSpPr>
          <p:cNvPr id="27" name="组合 26">
            <a:extLst>
              <a:ext uri="{FF2B5EF4-FFF2-40B4-BE49-F238E27FC236}">
                <a16:creationId xmlns:a16="http://schemas.microsoft.com/office/drawing/2014/main" id="{5E928632-5174-4A81-8188-2424A6BCE693}"/>
              </a:ext>
            </a:extLst>
          </p:cNvPr>
          <p:cNvGrpSpPr/>
          <p:nvPr/>
        </p:nvGrpSpPr>
        <p:grpSpPr>
          <a:xfrm>
            <a:off x="6786347" y="2434852"/>
            <a:ext cx="363124" cy="413514"/>
            <a:chOff x="4168089" y="382686"/>
            <a:chExt cx="807830" cy="807829"/>
          </a:xfrm>
        </p:grpSpPr>
        <p:sp>
          <p:nvSpPr>
            <p:cNvPr id="28" name="椭圆 27">
              <a:extLst>
                <a:ext uri="{FF2B5EF4-FFF2-40B4-BE49-F238E27FC236}">
                  <a16:creationId xmlns:a16="http://schemas.microsoft.com/office/drawing/2014/main" id="{E3F30FF9-B929-4714-AE37-FD8C1E60C9FA}"/>
                </a:ext>
              </a:extLst>
            </p:cNvPr>
            <p:cNvSpPr/>
            <p:nvPr/>
          </p:nvSpPr>
          <p:spPr>
            <a:xfrm>
              <a:off x="4168089" y="382686"/>
              <a:ext cx="807830" cy="807829"/>
            </a:xfrm>
            <a:prstGeom prst="ellipse">
              <a:avLst/>
            </a:prstGeom>
            <a:solidFill>
              <a:schemeClr val="tx1"/>
            </a:solidFill>
            <a:ln w="76200" cmpd="sng">
              <a:solidFill>
                <a:schemeClr val="accent3"/>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29" name="文本框 28">
              <a:extLst>
                <a:ext uri="{FF2B5EF4-FFF2-40B4-BE49-F238E27FC236}">
                  <a16:creationId xmlns:a16="http://schemas.microsoft.com/office/drawing/2014/main" id="{F367262D-8BB8-4917-83EE-13C6F604B7DB}"/>
                </a:ext>
              </a:extLst>
            </p:cNvPr>
            <p:cNvSpPr txBox="1"/>
            <p:nvPr/>
          </p:nvSpPr>
          <p:spPr>
            <a:xfrm>
              <a:off x="4294687" y="443558"/>
              <a:ext cx="554617" cy="508850"/>
            </a:xfrm>
            <a:prstGeom prst="rect">
              <a:avLst/>
            </a:prstGeom>
            <a:noFill/>
          </p:spPr>
          <p:txBody>
            <a:bodyPr wrap="none" rtlCol="0">
              <a:spAutoFit/>
            </a:bodyPr>
            <a:lstStyle/>
            <a:p>
              <a:pPr algn="ctr"/>
              <a:r>
                <a:rPr kumimoji="1" lang="en-US" altLang="zh-CN" sz="1800" b="1" dirty="0">
                  <a:solidFill>
                    <a:schemeClr val="accent3"/>
                  </a:solidFill>
                </a:rPr>
                <a:t>M</a:t>
              </a:r>
              <a:endParaRPr kumimoji="1" lang="zh-CN" altLang="en-US" sz="1800" b="1" dirty="0">
                <a:solidFill>
                  <a:schemeClr val="accent3"/>
                </a:solidFill>
              </a:endParaRPr>
            </a:p>
          </p:txBody>
        </p:sp>
      </p:grpSp>
      <p:grpSp>
        <p:nvGrpSpPr>
          <p:cNvPr id="30" name="组合 29">
            <a:extLst>
              <a:ext uri="{FF2B5EF4-FFF2-40B4-BE49-F238E27FC236}">
                <a16:creationId xmlns:a16="http://schemas.microsoft.com/office/drawing/2014/main" id="{713B54DD-FA9B-4F67-A1B9-1A5BFBF4C1E8}"/>
              </a:ext>
            </a:extLst>
          </p:cNvPr>
          <p:cNvGrpSpPr/>
          <p:nvPr/>
        </p:nvGrpSpPr>
        <p:grpSpPr>
          <a:xfrm>
            <a:off x="7309863" y="2434852"/>
            <a:ext cx="363124" cy="413514"/>
            <a:chOff x="5165176" y="382686"/>
            <a:chExt cx="807829" cy="807829"/>
          </a:xfrm>
        </p:grpSpPr>
        <p:sp>
          <p:nvSpPr>
            <p:cNvPr id="31" name="椭圆 30">
              <a:extLst>
                <a:ext uri="{FF2B5EF4-FFF2-40B4-BE49-F238E27FC236}">
                  <a16:creationId xmlns:a16="http://schemas.microsoft.com/office/drawing/2014/main" id="{74C96447-7AA1-416E-BE12-B2194AA8E056}"/>
                </a:ext>
              </a:extLst>
            </p:cNvPr>
            <p:cNvSpPr/>
            <p:nvPr/>
          </p:nvSpPr>
          <p:spPr>
            <a:xfrm>
              <a:off x="5165176" y="382686"/>
              <a:ext cx="807829" cy="807829"/>
            </a:xfrm>
            <a:prstGeom prst="ellipse">
              <a:avLst/>
            </a:prstGeom>
            <a:solidFill>
              <a:schemeClr val="tx1"/>
            </a:solidFill>
            <a:ln w="76200" cmpd="sng">
              <a:solidFill>
                <a:srgbClr val="104D7E"/>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32" name="文本框 31">
              <a:extLst>
                <a:ext uri="{FF2B5EF4-FFF2-40B4-BE49-F238E27FC236}">
                  <a16:creationId xmlns:a16="http://schemas.microsoft.com/office/drawing/2014/main" id="{8FC93182-7886-4A62-9FD2-52B8CBCA9AC3}"/>
                </a:ext>
              </a:extLst>
            </p:cNvPr>
            <p:cNvSpPr txBox="1"/>
            <p:nvPr/>
          </p:nvSpPr>
          <p:spPr>
            <a:xfrm>
              <a:off x="5393561" y="443558"/>
              <a:ext cx="351046" cy="508850"/>
            </a:xfrm>
            <a:prstGeom prst="rect">
              <a:avLst/>
            </a:prstGeom>
            <a:noFill/>
          </p:spPr>
          <p:txBody>
            <a:bodyPr wrap="none" rtlCol="0">
              <a:spAutoFit/>
            </a:bodyPr>
            <a:lstStyle/>
            <a:p>
              <a:pPr algn="ctr"/>
              <a:r>
                <a:rPr kumimoji="1" lang="en-US" altLang="zh-CN" sz="1800" b="1" dirty="0">
                  <a:solidFill>
                    <a:schemeClr val="accent1"/>
                  </a:solidFill>
                </a:rPr>
                <a:t>I</a:t>
              </a:r>
              <a:endParaRPr kumimoji="1" lang="zh-CN" altLang="en-US" sz="1800" b="1" dirty="0">
                <a:solidFill>
                  <a:schemeClr val="accent1"/>
                </a:solidFill>
              </a:endParaRPr>
            </a:p>
          </p:txBody>
        </p:sp>
      </p:grpSp>
      <p:grpSp>
        <p:nvGrpSpPr>
          <p:cNvPr id="33" name="组合 32">
            <a:extLst>
              <a:ext uri="{FF2B5EF4-FFF2-40B4-BE49-F238E27FC236}">
                <a16:creationId xmlns:a16="http://schemas.microsoft.com/office/drawing/2014/main" id="{AE4F6443-905A-40E2-BC32-00244DBAACB0}"/>
              </a:ext>
            </a:extLst>
          </p:cNvPr>
          <p:cNvGrpSpPr/>
          <p:nvPr/>
        </p:nvGrpSpPr>
        <p:grpSpPr>
          <a:xfrm>
            <a:off x="7833379" y="2434852"/>
            <a:ext cx="363124" cy="413514"/>
            <a:chOff x="6162270" y="382686"/>
            <a:chExt cx="807830" cy="807829"/>
          </a:xfrm>
        </p:grpSpPr>
        <p:sp>
          <p:nvSpPr>
            <p:cNvPr id="34" name="椭圆 33">
              <a:extLst>
                <a:ext uri="{FF2B5EF4-FFF2-40B4-BE49-F238E27FC236}">
                  <a16:creationId xmlns:a16="http://schemas.microsoft.com/office/drawing/2014/main" id="{196D3505-14F1-4BF5-8945-C781F2CA3DD7}"/>
                </a:ext>
              </a:extLst>
            </p:cNvPr>
            <p:cNvSpPr/>
            <p:nvPr/>
          </p:nvSpPr>
          <p:spPr>
            <a:xfrm>
              <a:off x="6162270" y="382686"/>
              <a:ext cx="807830" cy="807829"/>
            </a:xfrm>
            <a:prstGeom prst="ellipse">
              <a:avLst/>
            </a:prstGeom>
            <a:solidFill>
              <a:schemeClr val="tx1"/>
            </a:solidFill>
            <a:ln w="76200" cmpd="sng">
              <a:solidFill>
                <a:schemeClr val="accent6"/>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35" name="文本框 34">
              <a:extLst>
                <a:ext uri="{FF2B5EF4-FFF2-40B4-BE49-F238E27FC236}">
                  <a16:creationId xmlns:a16="http://schemas.microsoft.com/office/drawing/2014/main" id="{C60A2BE7-434A-4388-96A8-24244761BE4C}"/>
                </a:ext>
              </a:extLst>
            </p:cNvPr>
            <p:cNvSpPr txBox="1"/>
            <p:nvPr/>
          </p:nvSpPr>
          <p:spPr>
            <a:xfrm>
              <a:off x="6314879" y="443558"/>
              <a:ext cx="502594" cy="508850"/>
            </a:xfrm>
            <a:prstGeom prst="rect">
              <a:avLst/>
            </a:prstGeom>
            <a:noFill/>
          </p:spPr>
          <p:txBody>
            <a:bodyPr wrap="none" rtlCol="0">
              <a:spAutoFit/>
            </a:bodyPr>
            <a:lstStyle/>
            <a:p>
              <a:pPr algn="ctr"/>
              <a:r>
                <a:rPr kumimoji="1" lang="en-US" altLang="zh-CN" sz="1800" b="1" dirty="0">
                  <a:solidFill>
                    <a:schemeClr val="accent6"/>
                  </a:solidFill>
                </a:rPr>
                <a:t>N</a:t>
              </a:r>
              <a:endParaRPr kumimoji="1" lang="zh-CN" altLang="en-US" sz="1800" b="1" dirty="0">
                <a:solidFill>
                  <a:schemeClr val="accent6"/>
                </a:solidFill>
              </a:endParaRPr>
            </a:p>
          </p:txBody>
        </p:sp>
      </p:grpSp>
      <p:grpSp>
        <p:nvGrpSpPr>
          <p:cNvPr id="36" name="组合 35">
            <a:extLst>
              <a:ext uri="{FF2B5EF4-FFF2-40B4-BE49-F238E27FC236}">
                <a16:creationId xmlns:a16="http://schemas.microsoft.com/office/drawing/2014/main" id="{02608C73-10E9-4E79-A21B-887B7FF64371}"/>
              </a:ext>
            </a:extLst>
          </p:cNvPr>
          <p:cNvGrpSpPr/>
          <p:nvPr/>
        </p:nvGrpSpPr>
        <p:grpSpPr>
          <a:xfrm>
            <a:off x="8356894" y="2434852"/>
            <a:ext cx="363124" cy="413514"/>
            <a:chOff x="2173906" y="382686"/>
            <a:chExt cx="807829" cy="807829"/>
          </a:xfrm>
        </p:grpSpPr>
        <p:sp>
          <p:nvSpPr>
            <p:cNvPr id="37" name="椭圆 36">
              <a:extLst>
                <a:ext uri="{FF2B5EF4-FFF2-40B4-BE49-F238E27FC236}">
                  <a16:creationId xmlns:a16="http://schemas.microsoft.com/office/drawing/2014/main" id="{EE93575D-B2A7-4436-9F0F-52BCA3D0924E}"/>
                </a:ext>
              </a:extLst>
            </p:cNvPr>
            <p:cNvSpPr/>
            <p:nvPr/>
          </p:nvSpPr>
          <p:spPr>
            <a:xfrm>
              <a:off x="2173906" y="382686"/>
              <a:ext cx="807829" cy="807829"/>
            </a:xfrm>
            <a:prstGeom prst="ellipse">
              <a:avLst/>
            </a:prstGeom>
            <a:solidFill>
              <a:schemeClr val="tx1"/>
            </a:solidFill>
            <a:ln w="76200" cmpd="sng">
              <a:solidFill>
                <a:schemeClr val="accent2"/>
              </a:solid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ts val="6000"/>
                </a:lnSpc>
              </a:pPr>
              <a:endParaRPr kumimoji="1" lang="zh-CN" altLang="en-US" sz="1800" b="1" dirty="0">
                <a:solidFill>
                  <a:schemeClr val="accent2"/>
                </a:solidFill>
              </a:endParaRPr>
            </a:p>
          </p:txBody>
        </p:sp>
        <p:sp>
          <p:nvSpPr>
            <p:cNvPr id="38" name="文本框 37">
              <a:extLst>
                <a:ext uri="{FF2B5EF4-FFF2-40B4-BE49-F238E27FC236}">
                  <a16:creationId xmlns:a16="http://schemas.microsoft.com/office/drawing/2014/main" id="{DC5A2224-2232-4FF8-97F8-62FF709E299C}"/>
                </a:ext>
              </a:extLst>
            </p:cNvPr>
            <p:cNvSpPr txBox="1"/>
            <p:nvPr/>
          </p:nvSpPr>
          <p:spPr>
            <a:xfrm>
              <a:off x="2310689" y="443558"/>
              <a:ext cx="534259" cy="508850"/>
            </a:xfrm>
            <a:prstGeom prst="rect">
              <a:avLst/>
            </a:prstGeom>
            <a:noFill/>
          </p:spPr>
          <p:txBody>
            <a:bodyPr wrap="none" rtlCol="0">
              <a:spAutoFit/>
            </a:bodyPr>
            <a:lstStyle/>
            <a:p>
              <a:pPr algn="ctr"/>
              <a:r>
                <a:rPr kumimoji="1" lang="en-US" altLang="zh-CN" sz="1800" b="1" dirty="0">
                  <a:solidFill>
                    <a:srgbClr val="26CCC5"/>
                  </a:solidFill>
                </a:rPr>
                <a:t>G</a:t>
              </a:r>
              <a:endParaRPr kumimoji="1" lang="zh-CN" altLang="en-US" sz="1800" b="1" dirty="0">
                <a:solidFill>
                  <a:srgbClr val="26CCC5"/>
                </a:solidFill>
              </a:endParaRPr>
            </a:p>
          </p:txBody>
        </p:sp>
      </p:grpSp>
      <p:sp>
        <p:nvSpPr>
          <p:cNvPr id="39" name="文本框 38">
            <a:extLst>
              <a:ext uri="{FF2B5EF4-FFF2-40B4-BE49-F238E27FC236}">
                <a16:creationId xmlns:a16="http://schemas.microsoft.com/office/drawing/2014/main" id="{E1596B31-47DA-8ACF-2DBB-D0503FD1039D}"/>
              </a:ext>
            </a:extLst>
          </p:cNvPr>
          <p:cNvSpPr txBox="1"/>
          <p:nvPr/>
        </p:nvSpPr>
        <p:spPr>
          <a:xfrm>
            <a:off x="115346" y="5291201"/>
            <a:ext cx="12082298" cy="424732"/>
          </a:xfrm>
          <a:prstGeom prst="rect">
            <a:avLst/>
          </a:prstGeom>
          <a:noFill/>
          <a:ln>
            <a:noFill/>
          </a:ln>
        </p:spPr>
        <p:txBody>
          <a:bodyPr wrap="square" rtlCol="0">
            <a:spAutoFit/>
          </a:bodyPr>
          <a:lstStyle/>
          <a:p>
            <a:pPr algn="ctr">
              <a:lnSpc>
                <a:spcPct val="90000"/>
              </a:lnSpc>
            </a:pPr>
            <a:r>
              <a:rPr kumimoji="1" lang="zh-CN" altLang="en-US" b="1" dirty="0"/>
              <a:t>计算机与信息学院</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3627" y="193734"/>
            <a:ext cx="12190413" cy="728917"/>
          </a:xfrm>
          <a:prstGeom prst="rect">
            <a:avLst/>
          </a:prstGeom>
          <a:solidFill>
            <a:srgbClr val="104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5" name="文本框 4"/>
          <p:cNvSpPr txBox="1"/>
          <p:nvPr/>
        </p:nvSpPr>
        <p:spPr>
          <a:xfrm>
            <a:off x="729992" y="226553"/>
            <a:ext cx="2528034" cy="646331"/>
          </a:xfrm>
          <a:prstGeom prst="rect">
            <a:avLst/>
          </a:prstGeom>
          <a:noFill/>
        </p:spPr>
        <p:txBody>
          <a:bodyPr wrap="square" rtlCol="0">
            <a:spAutoFit/>
          </a:bodyPr>
          <a:lstStyle/>
          <a:p>
            <a:r>
              <a:rPr kumimoji="1" lang="zh-CN" altLang="en-US" sz="3600" b="1" dirty="0"/>
              <a:t>目录</a:t>
            </a:r>
          </a:p>
        </p:txBody>
      </p:sp>
      <p:sp>
        <p:nvSpPr>
          <p:cNvPr id="80" name="Rectangle 5">
            <a:extLst>
              <a:ext uri="{FF2B5EF4-FFF2-40B4-BE49-F238E27FC236}">
                <a16:creationId xmlns:a16="http://schemas.microsoft.com/office/drawing/2014/main" id="{B7397FA8-FFF9-47E7-AB70-521BC687AE79}"/>
              </a:ext>
            </a:extLst>
          </p:cNvPr>
          <p:cNvSpPr>
            <a:spLocks noChangeArrowheads="1"/>
          </p:cNvSpPr>
          <p:nvPr/>
        </p:nvSpPr>
        <p:spPr bwMode="auto">
          <a:xfrm>
            <a:off x="53627" y="312204"/>
            <a:ext cx="747811" cy="897523"/>
          </a:xfrm>
          <a:prstGeom prst="roundRect">
            <a:avLst/>
          </a:prstGeom>
          <a:solidFill>
            <a:srgbClr val="134F85"/>
          </a:solidFill>
          <a:ln>
            <a:noFill/>
          </a:ln>
        </p:spPr>
        <p:txBody>
          <a:bodyPr lIns="68571" tIns="34285" rIns="68571" bIns="34285"/>
          <a:lstStyle/>
          <a:p>
            <a:endParaRPr lang="zh-CN" altLang="en-US" kern="0" dirty="0">
              <a:solidFill>
                <a:sysClr val="windowText" lastClr="000000"/>
              </a:solidFill>
              <a:latin typeface="Times New Roman" panose="02020603050405020304" pitchFamily="18" charset="0"/>
              <a:cs typeface="Times New Roman" panose="02020603050405020304" pitchFamily="18" charset="0"/>
              <a:sym typeface="+mn-lt"/>
            </a:endParaRPr>
          </a:p>
        </p:txBody>
      </p:sp>
      <p:sp>
        <p:nvSpPr>
          <p:cNvPr id="85" name="Freeform 6">
            <a:extLst>
              <a:ext uri="{FF2B5EF4-FFF2-40B4-BE49-F238E27FC236}">
                <a16:creationId xmlns:a16="http://schemas.microsoft.com/office/drawing/2014/main" id="{51697D07-9E8B-4596-A1A4-60EC372D1875}"/>
              </a:ext>
            </a:extLst>
          </p:cNvPr>
          <p:cNvSpPr/>
          <p:nvPr/>
        </p:nvSpPr>
        <p:spPr bwMode="auto">
          <a:xfrm>
            <a:off x="158417" y="385414"/>
            <a:ext cx="571575" cy="718971"/>
          </a:xfrm>
          <a:custGeom>
            <a:avLst/>
            <a:gdLst>
              <a:gd name="T0" fmla="*/ 734716 w 1173"/>
              <a:gd name="T1" fmla="*/ 348495 h 1472"/>
              <a:gd name="T2" fmla="*/ 711330 w 1173"/>
              <a:gd name="T3" fmla="*/ 30615 h 1472"/>
              <a:gd name="T4" fmla="*/ 693141 w 1173"/>
              <a:gd name="T5" fmla="*/ 35175 h 1472"/>
              <a:gd name="T6" fmla="*/ 651565 w 1173"/>
              <a:gd name="T7" fmla="*/ 44295 h 1472"/>
              <a:gd name="T8" fmla="*/ 596997 w 1173"/>
              <a:gd name="T9" fmla="*/ 35175 h 1472"/>
              <a:gd name="T10" fmla="*/ 408609 w 1173"/>
              <a:gd name="T11" fmla="*/ 3257 h 1472"/>
              <a:gd name="T12" fmla="*/ 0 w 1173"/>
              <a:gd name="T13" fmla="*/ 500270 h 1472"/>
              <a:gd name="T14" fmla="*/ 417703 w 1173"/>
              <a:gd name="T15" fmla="*/ 955593 h 1472"/>
              <a:gd name="T16" fmla="*/ 762000 w 1173"/>
              <a:gd name="T17" fmla="*/ 707412 h 1472"/>
              <a:gd name="T18" fmla="*/ 706783 w 1173"/>
              <a:gd name="T19" fmla="*/ 674843 h 1472"/>
              <a:gd name="T20" fmla="*/ 449535 w 1173"/>
              <a:gd name="T21" fmla="*/ 891757 h 1472"/>
              <a:gd name="T22" fmla="*/ 188389 w 1173"/>
              <a:gd name="T23" fmla="*/ 472260 h 1472"/>
              <a:gd name="T24" fmla="*/ 417703 w 1173"/>
              <a:gd name="T25" fmla="*/ 67745 h 1472"/>
              <a:gd name="T26" fmla="*/ 679499 w 1173"/>
              <a:gd name="T27" fmla="*/ 371294 h 1472"/>
              <a:gd name="T28" fmla="*/ 734716 w 1173"/>
              <a:gd name="T29" fmla="*/ 348495 h 14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173" h="1472">
                <a:moveTo>
                  <a:pt x="1131" y="535"/>
                </a:moveTo>
                <a:lnTo>
                  <a:pt x="1095" y="47"/>
                </a:lnTo>
                <a:cubicBezTo>
                  <a:pt x="1090" y="47"/>
                  <a:pt x="1081" y="49"/>
                  <a:pt x="1067" y="54"/>
                </a:cubicBezTo>
                <a:cubicBezTo>
                  <a:pt x="1043" y="64"/>
                  <a:pt x="1022" y="68"/>
                  <a:pt x="1003" y="68"/>
                </a:cubicBezTo>
                <a:cubicBezTo>
                  <a:pt x="975" y="68"/>
                  <a:pt x="947" y="64"/>
                  <a:pt x="919" y="54"/>
                </a:cubicBezTo>
                <a:cubicBezTo>
                  <a:pt x="810" y="17"/>
                  <a:pt x="714" y="0"/>
                  <a:pt x="629" y="5"/>
                </a:cubicBezTo>
                <a:cubicBezTo>
                  <a:pt x="214" y="24"/>
                  <a:pt x="5" y="278"/>
                  <a:pt x="0" y="768"/>
                </a:cubicBezTo>
                <a:cubicBezTo>
                  <a:pt x="5" y="1225"/>
                  <a:pt x="219" y="1458"/>
                  <a:pt x="643" y="1467"/>
                </a:cubicBezTo>
                <a:cubicBezTo>
                  <a:pt x="912" y="1472"/>
                  <a:pt x="1088" y="1345"/>
                  <a:pt x="1173" y="1086"/>
                </a:cubicBezTo>
                <a:lnTo>
                  <a:pt x="1088" y="1036"/>
                </a:lnTo>
                <a:cubicBezTo>
                  <a:pt x="999" y="1258"/>
                  <a:pt x="867" y="1369"/>
                  <a:pt x="692" y="1369"/>
                </a:cubicBezTo>
                <a:cubicBezTo>
                  <a:pt x="424" y="1359"/>
                  <a:pt x="290" y="1145"/>
                  <a:pt x="290" y="725"/>
                </a:cubicBezTo>
                <a:cubicBezTo>
                  <a:pt x="290" y="316"/>
                  <a:pt x="408" y="108"/>
                  <a:pt x="643" y="104"/>
                </a:cubicBezTo>
                <a:cubicBezTo>
                  <a:pt x="827" y="94"/>
                  <a:pt x="961" y="250"/>
                  <a:pt x="1046" y="570"/>
                </a:cubicBezTo>
                <a:lnTo>
                  <a:pt x="1131" y="53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68571" tIns="34285" rIns="68571" bIns="34285"/>
          <a:lstStyle/>
          <a:p>
            <a:endParaRPr lang="zh-CN" altLang="en-US" kern="0">
              <a:solidFill>
                <a:sysClr val="windowText" lastClr="000000"/>
              </a:solidFill>
              <a:cs typeface="+mn-ea"/>
              <a:sym typeface="+mn-lt"/>
            </a:endParaRPr>
          </a:p>
        </p:txBody>
      </p:sp>
      <p:sp>
        <p:nvSpPr>
          <p:cNvPr id="94" name="Freeform 14">
            <a:extLst>
              <a:ext uri="{FF2B5EF4-FFF2-40B4-BE49-F238E27FC236}">
                <a16:creationId xmlns:a16="http://schemas.microsoft.com/office/drawing/2014/main" id="{C2734685-E184-4537-9B91-D51717144599}"/>
              </a:ext>
            </a:extLst>
          </p:cNvPr>
          <p:cNvSpPr/>
          <p:nvPr/>
        </p:nvSpPr>
        <p:spPr bwMode="auto">
          <a:xfrm>
            <a:off x="3697346" y="1364120"/>
            <a:ext cx="5113654" cy="431496"/>
          </a:xfrm>
          <a:custGeom>
            <a:avLst/>
            <a:gdLst>
              <a:gd name="T0" fmla="*/ 60743788 w 6963"/>
              <a:gd name="T1" fmla="*/ 0 h 794"/>
              <a:gd name="T2" fmla="*/ 2147483647 w 6963"/>
              <a:gd name="T3" fmla="*/ 0 h 794"/>
              <a:gd name="T4" fmla="*/ 2147483647 w 6963"/>
              <a:gd name="T5" fmla="*/ 50749524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749524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7"/>
                </a:cubicBezTo>
                <a:lnTo>
                  <a:pt x="6963" y="707"/>
                </a:lnTo>
                <a:cubicBezTo>
                  <a:pt x="6963" y="755"/>
                  <a:pt x="6924" y="794"/>
                  <a:pt x="6876" y="794"/>
                </a:cubicBezTo>
                <a:lnTo>
                  <a:pt x="87" y="794"/>
                </a:lnTo>
                <a:cubicBezTo>
                  <a:pt x="39" y="794"/>
                  <a:pt x="0" y="755"/>
                  <a:pt x="0" y="707"/>
                </a:cubicBezTo>
                <a:lnTo>
                  <a:pt x="0" y="87"/>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95" name="Freeform 15">
            <a:extLst>
              <a:ext uri="{FF2B5EF4-FFF2-40B4-BE49-F238E27FC236}">
                <a16:creationId xmlns:a16="http://schemas.microsoft.com/office/drawing/2014/main" id="{A793772A-5F44-4400-B13F-AC9E126E5742}"/>
              </a:ext>
            </a:extLst>
          </p:cNvPr>
          <p:cNvSpPr/>
          <p:nvPr/>
        </p:nvSpPr>
        <p:spPr bwMode="auto">
          <a:xfrm>
            <a:off x="3805652" y="1284347"/>
            <a:ext cx="593889" cy="73819"/>
          </a:xfrm>
          <a:custGeom>
            <a:avLst/>
            <a:gdLst>
              <a:gd name="T0" fmla="*/ 58241460 w 1038"/>
              <a:gd name="T1" fmla="*/ 0 h 127"/>
              <a:gd name="T2" fmla="*/ 546306357 w 1038"/>
              <a:gd name="T3" fmla="*/ 0 h 127"/>
              <a:gd name="T4" fmla="*/ 604547817 w 1038"/>
              <a:gd name="T5" fmla="*/ 76279375 h 127"/>
              <a:gd name="T6" fmla="*/ 0 w 1038"/>
              <a:gd name="T7" fmla="*/ 76279375 h 127"/>
              <a:gd name="T8" fmla="*/ 58241460 w 1038"/>
              <a:gd name="T9" fmla="*/ 0 h 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7">
                <a:moveTo>
                  <a:pt x="100" y="0"/>
                </a:moveTo>
                <a:lnTo>
                  <a:pt x="938" y="0"/>
                </a:lnTo>
                <a:lnTo>
                  <a:pt x="1038" y="127"/>
                </a:lnTo>
                <a:lnTo>
                  <a:pt x="0" y="127"/>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96" name="Rectangle 16">
            <a:extLst>
              <a:ext uri="{FF2B5EF4-FFF2-40B4-BE49-F238E27FC236}">
                <a16:creationId xmlns:a16="http://schemas.microsoft.com/office/drawing/2014/main" id="{6F1CD838-5993-42AA-9AC7-009FCB69C16F}"/>
              </a:ext>
            </a:extLst>
          </p:cNvPr>
          <p:cNvSpPr>
            <a:spLocks noChangeArrowheads="1"/>
          </p:cNvSpPr>
          <p:nvPr/>
        </p:nvSpPr>
        <p:spPr bwMode="auto">
          <a:xfrm>
            <a:off x="3862777" y="1284348"/>
            <a:ext cx="478444" cy="477441"/>
          </a:xfrm>
          <a:prstGeom prst="rect">
            <a:avLst/>
          </a:prstGeom>
          <a:solidFill>
            <a:srgbClr val="134F85"/>
          </a:solidFill>
          <a:ln>
            <a:noFill/>
          </a:ln>
        </p:spPr>
        <p:txBody>
          <a:bodyPr lIns="68563" tIns="34281" rIns="68563" bIns="34281"/>
          <a:lstStyle/>
          <a:p>
            <a:pPr>
              <a:buFontTx/>
              <a:buNone/>
            </a:pPr>
            <a:endParaRPr lang="zh-CN" altLang="en-US"/>
          </a:p>
        </p:txBody>
      </p:sp>
      <p:sp>
        <p:nvSpPr>
          <p:cNvPr id="97" name="Freeform 17">
            <a:extLst>
              <a:ext uri="{FF2B5EF4-FFF2-40B4-BE49-F238E27FC236}">
                <a16:creationId xmlns:a16="http://schemas.microsoft.com/office/drawing/2014/main" id="{720DB84E-10BF-474A-AB0E-14ED2E831F21}"/>
              </a:ext>
            </a:extLst>
          </p:cNvPr>
          <p:cNvSpPr/>
          <p:nvPr/>
        </p:nvSpPr>
        <p:spPr bwMode="auto">
          <a:xfrm>
            <a:off x="3697346" y="2088179"/>
            <a:ext cx="5113654" cy="453631"/>
          </a:xfrm>
          <a:custGeom>
            <a:avLst/>
            <a:gdLst>
              <a:gd name="T0" fmla="*/ 60743788 w 6963"/>
              <a:gd name="T1" fmla="*/ 0 h 794"/>
              <a:gd name="T2" fmla="*/ 2147483647 w 6963"/>
              <a:gd name="T3" fmla="*/ 0 h 794"/>
              <a:gd name="T4" fmla="*/ 2147483647 w 6963"/>
              <a:gd name="T5" fmla="*/ 50749524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749524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7"/>
                </a:cubicBezTo>
                <a:lnTo>
                  <a:pt x="6963" y="707"/>
                </a:lnTo>
                <a:cubicBezTo>
                  <a:pt x="6963" y="755"/>
                  <a:pt x="6924" y="794"/>
                  <a:pt x="6876" y="794"/>
                </a:cubicBezTo>
                <a:lnTo>
                  <a:pt x="87" y="794"/>
                </a:lnTo>
                <a:cubicBezTo>
                  <a:pt x="39" y="794"/>
                  <a:pt x="0" y="755"/>
                  <a:pt x="0" y="707"/>
                </a:cubicBezTo>
                <a:lnTo>
                  <a:pt x="0" y="87"/>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98" name="Freeform 18">
            <a:extLst>
              <a:ext uri="{FF2B5EF4-FFF2-40B4-BE49-F238E27FC236}">
                <a16:creationId xmlns:a16="http://schemas.microsoft.com/office/drawing/2014/main" id="{E8035C3D-2249-465E-A141-2FF566A87A8D}"/>
              </a:ext>
            </a:extLst>
          </p:cNvPr>
          <p:cNvSpPr/>
          <p:nvPr/>
        </p:nvSpPr>
        <p:spPr bwMode="auto">
          <a:xfrm>
            <a:off x="3805652" y="2008407"/>
            <a:ext cx="593889" cy="73819"/>
          </a:xfrm>
          <a:custGeom>
            <a:avLst/>
            <a:gdLst>
              <a:gd name="T0" fmla="*/ 58241460 w 1038"/>
              <a:gd name="T1" fmla="*/ 0 h 127"/>
              <a:gd name="T2" fmla="*/ 546306357 w 1038"/>
              <a:gd name="T3" fmla="*/ 0 h 127"/>
              <a:gd name="T4" fmla="*/ 604547817 w 1038"/>
              <a:gd name="T5" fmla="*/ 76279375 h 127"/>
              <a:gd name="T6" fmla="*/ 0 w 1038"/>
              <a:gd name="T7" fmla="*/ 76279375 h 127"/>
              <a:gd name="T8" fmla="*/ 58241460 w 1038"/>
              <a:gd name="T9" fmla="*/ 0 h 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7">
                <a:moveTo>
                  <a:pt x="100" y="0"/>
                </a:moveTo>
                <a:lnTo>
                  <a:pt x="938" y="0"/>
                </a:lnTo>
                <a:lnTo>
                  <a:pt x="1038" y="127"/>
                </a:lnTo>
                <a:lnTo>
                  <a:pt x="0" y="127"/>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103" name="Rectangle 19">
            <a:extLst>
              <a:ext uri="{FF2B5EF4-FFF2-40B4-BE49-F238E27FC236}">
                <a16:creationId xmlns:a16="http://schemas.microsoft.com/office/drawing/2014/main" id="{69CE7149-12BC-4EE7-BC62-49EBEB86CDB6}"/>
              </a:ext>
            </a:extLst>
          </p:cNvPr>
          <p:cNvSpPr>
            <a:spLocks noChangeArrowheads="1"/>
          </p:cNvSpPr>
          <p:nvPr/>
        </p:nvSpPr>
        <p:spPr bwMode="auto">
          <a:xfrm>
            <a:off x="3862777" y="2008407"/>
            <a:ext cx="478444" cy="477441"/>
          </a:xfrm>
          <a:prstGeom prst="rect">
            <a:avLst/>
          </a:prstGeom>
          <a:solidFill>
            <a:srgbClr val="134F85"/>
          </a:solidFill>
          <a:ln>
            <a:noFill/>
          </a:ln>
        </p:spPr>
        <p:txBody>
          <a:bodyPr lIns="68563" tIns="34281" rIns="68563" bIns="34281"/>
          <a:lstStyle/>
          <a:p>
            <a:pPr>
              <a:buFontTx/>
              <a:buNone/>
            </a:pPr>
            <a:endParaRPr lang="zh-CN" altLang="en-US"/>
          </a:p>
        </p:txBody>
      </p:sp>
      <p:sp>
        <p:nvSpPr>
          <p:cNvPr id="104" name="Freeform 20">
            <a:extLst>
              <a:ext uri="{FF2B5EF4-FFF2-40B4-BE49-F238E27FC236}">
                <a16:creationId xmlns:a16="http://schemas.microsoft.com/office/drawing/2014/main" id="{A0B57491-491C-4D07-96BC-7DBFD9537857}"/>
              </a:ext>
            </a:extLst>
          </p:cNvPr>
          <p:cNvSpPr/>
          <p:nvPr/>
        </p:nvSpPr>
        <p:spPr bwMode="auto">
          <a:xfrm>
            <a:off x="3697346" y="2780170"/>
            <a:ext cx="5113654" cy="491123"/>
          </a:xfrm>
          <a:custGeom>
            <a:avLst/>
            <a:gdLst>
              <a:gd name="T0" fmla="*/ 60743788 w 6963"/>
              <a:gd name="T1" fmla="*/ 0 h 794"/>
              <a:gd name="T2" fmla="*/ 2147483647 w 6963"/>
              <a:gd name="T3" fmla="*/ 0 h 794"/>
              <a:gd name="T4" fmla="*/ 2147483647 w 6963"/>
              <a:gd name="T5" fmla="*/ 50749524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749524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7"/>
                </a:cubicBezTo>
                <a:lnTo>
                  <a:pt x="6963" y="707"/>
                </a:lnTo>
                <a:cubicBezTo>
                  <a:pt x="6963" y="755"/>
                  <a:pt x="6924" y="794"/>
                  <a:pt x="6876" y="794"/>
                </a:cubicBezTo>
                <a:lnTo>
                  <a:pt x="87" y="794"/>
                </a:lnTo>
                <a:cubicBezTo>
                  <a:pt x="39" y="794"/>
                  <a:pt x="0" y="755"/>
                  <a:pt x="0" y="707"/>
                </a:cubicBezTo>
                <a:lnTo>
                  <a:pt x="0" y="87"/>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105" name="Freeform 21">
            <a:extLst>
              <a:ext uri="{FF2B5EF4-FFF2-40B4-BE49-F238E27FC236}">
                <a16:creationId xmlns:a16="http://schemas.microsoft.com/office/drawing/2014/main" id="{E942056E-E89F-49A8-9864-6DED726B8060}"/>
              </a:ext>
            </a:extLst>
          </p:cNvPr>
          <p:cNvSpPr/>
          <p:nvPr/>
        </p:nvSpPr>
        <p:spPr bwMode="auto">
          <a:xfrm>
            <a:off x="3805652" y="2699208"/>
            <a:ext cx="593889" cy="75009"/>
          </a:xfrm>
          <a:custGeom>
            <a:avLst/>
            <a:gdLst>
              <a:gd name="T0" fmla="*/ 58241460 w 1038"/>
              <a:gd name="T1" fmla="*/ 0 h 128"/>
              <a:gd name="T2" fmla="*/ 546306357 w 1038"/>
              <a:gd name="T3" fmla="*/ 0 h 128"/>
              <a:gd name="T4" fmla="*/ 604547817 w 1038"/>
              <a:gd name="T5" fmla="*/ 78143751 h 128"/>
              <a:gd name="T6" fmla="*/ 0 w 1038"/>
              <a:gd name="T7" fmla="*/ 78143751 h 128"/>
              <a:gd name="T8" fmla="*/ 58241460 w 1038"/>
              <a:gd name="T9" fmla="*/ 0 h 1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8">
                <a:moveTo>
                  <a:pt x="100" y="0"/>
                </a:moveTo>
                <a:lnTo>
                  <a:pt x="938" y="0"/>
                </a:lnTo>
                <a:lnTo>
                  <a:pt x="1038" y="128"/>
                </a:lnTo>
                <a:lnTo>
                  <a:pt x="0" y="128"/>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106" name="Rectangle 22">
            <a:extLst>
              <a:ext uri="{FF2B5EF4-FFF2-40B4-BE49-F238E27FC236}">
                <a16:creationId xmlns:a16="http://schemas.microsoft.com/office/drawing/2014/main" id="{F818DDC1-CCCA-418B-86B4-DBB22B52367C}"/>
              </a:ext>
            </a:extLst>
          </p:cNvPr>
          <p:cNvSpPr>
            <a:spLocks noChangeArrowheads="1"/>
          </p:cNvSpPr>
          <p:nvPr/>
        </p:nvSpPr>
        <p:spPr bwMode="auto">
          <a:xfrm>
            <a:off x="3862777" y="2699208"/>
            <a:ext cx="478444" cy="478631"/>
          </a:xfrm>
          <a:prstGeom prst="rect">
            <a:avLst/>
          </a:prstGeom>
          <a:solidFill>
            <a:srgbClr val="134F85"/>
          </a:solidFill>
          <a:ln>
            <a:noFill/>
          </a:ln>
        </p:spPr>
        <p:txBody>
          <a:bodyPr lIns="68563" tIns="34281" rIns="68563" bIns="34281"/>
          <a:lstStyle/>
          <a:p>
            <a:pPr>
              <a:buFontTx/>
              <a:buNone/>
            </a:pPr>
            <a:endParaRPr lang="zh-CN" altLang="en-US"/>
          </a:p>
        </p:txBody>
      </p:sp>
      <p:sp>
        <p:nvSpPr>
          <p:cNvPr id="107" name="Freeform 23">
            <a:extLst>
              <a:ext uri="{FF2B5EF4-FFF2-40B4-BE49-F238E27FC236}">
                <a16:creationId xmlns:a16="http://schemas.microsoft.com/office/drawing/2014/main" id="{7BE668D5-1A6B-4499-B31E-7E69CBF386BA}"/>
              </a:ext>
            </a:extLst>
          </p:cNvPr>
          <p:cNvSpPr/>
          <p:nvPr/>
        </p:nvSpPr>
        <p:spPr bwMode="auto">
          <a:xfrm>
            <a:off x="3697346" y="3533147"/>
            <a:ext cx="5113654" cy="397670"/>
          </a:xfrm>
          <a:custGeom>
            <a:avLst/>
            <a:gdLst>
              <a:gd name="T0" fmla="*/ 60743788 w 6963"/>
              <a:gd name="T1" fmla="*/ 0 h 794"/>
              <a:gd name="T2" fmla="*/ 2147483647 w 6963"/>
              <a:gd name="T3" fmla="*/ 0 h 794"/>
              <a:gd name="T4" fmla="*/ 2147483647 w 6963"/>
              <a:gd name="T5" fmla="*/ 50749524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749524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7"/>
                </a:cubicBezTo>
                <a:lnTo>
                  <a:pt x="6963" y="707"/>
                </a:lnTo>
                <a:cubicBezTo>
                  <a:pt x="6963" y="755"/>
                  <a:pt x="6924" y="794"/>
                  <a:pt x="6876" y="794"/>
                </a:cubicBezTo>
                <a:lnTo>
                  <a:pt x="87" y="794"/>
                </a:lnTo>
                <a:cubicBezTo>
                  <a:pt x="39" y="794"/>
                  <a:pt x="0" y="755"/>
                  <a:pt x="0" y="707"/>
                </a:cubicBezTo>
                <a:lnTo>
                  <a:pt x="0" y="87"/>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108" name="Freeform 24">
            <a:extLst>
              <a:ext uri="{FF2B5EF4-FFF2-40B4-BE49-F238E27FC236}">
                <a16:creationId xmlns:a16="http://schemas.microsoft.com/office/drawing/2014/main" id="{29733265-E06F-4932-910E-1C11B702C064}"/>
              </a:ext>
            </a:extLst>
          </p:cNvPr>
          <p:cNvSpPr/>
          <p:nvPr/>
        </p:nvSpPr>
        <p:spPr bwMode="auto">
          <a:xfrm>
            <a:off x="3805652" y="3452180"/>
            <a:ext cx="593889" cy="75009"/>
          </a:xfrm>
          <a:custGeom>
            <a:avLst/>
            <a:gdLst>
              <a:gd name="T0" fmla="*/ 58241460 w 1038"/>
              <a:gd name="T1" fmla="*/ 0 h 128"/>
              <a:gd name="T2" fmla="*/ 546306357 w 1038"/>
              <a:gd name="T3" fmla="*/ 0 h 128"/>
              <a:gd name="T4" fmla="*/ 604547817 w 1038"/>
              <a:gd name="T5" fmla="*/ 78143751 h 128"/>
              <a:gd name="T6" fmla="*/ 0 w 1038"/>
              <a:gd name="T7" fmla="*/ 78143751 h 128"/>
              <a:gd name="T8" fmla="*/ 58241460 w 1038"/>
              <a:gd name="T9" fmla="*/ 0 h 1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8">
                <a:moveTo>
                  <a:pt x="100" y="0"/>
                </a:moveTo>
                <a:lnTo>
                  <a:pt x="938" y="0"/>
                </a:lnTo>
                <a:lnTo>
                  <a:pt x="1038" y="128"/>
                </a:lnTo>
                <a:lnTo>
                  <a:pt x="0" y="128"/>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109" name="Rectangle 25">
            <a:extLst>
              <a:ext uri="{FF2B5EF4-FFF2-40B4-BE49-F238E27FC236}">
                <a16:creationId xmlns:a16="http://schemas.microsoft.com/office/drawing/2014/main" id="{826A0BD5-9C82-413A-AFE1-B9103A35A993}"/>
              </a:ext>
            </a:extLst>
          </p:cNvPr>
          <p:cNvSpPr>
            <a:spLocks noChangeArrowheads="1"/>
          </p:cNvSpPr>
          <p:nvPr/>
        </p:nvSpPr>
        <p:spPr bwMode="auto">
          <a:xfrm>
            <a:off x="3862777" y="3452185"/>
            <a:ext cx="478444" cy="478631"/>
          </a:xfrm>
          <a:prstGeom prst="rect">
            <a:avLst/>
          </a:prstGeom>
          <a:solidFill>
            <a:srgbClr val="134F85"/>
          </a:solidFill>
          <a:ln>
            <a:noFill/>
          </a:ln>
        </p:spPr>
        <p:txBody>
          <a:bodyPr lIns="68563" tIns="34281" rIns="68563" bIns="34281"/>
          <a:lstStyle/>
          <a:p>
            <a:pPr>
              <a:buFontTx/>
              <a:buNone/>
            </a:pPr>
            <a:endParaRPr lang="zh-CN" altLang="en-US"/>
          </a:p>
        </p:txBody>
      </p:sp>
      <p:sp>
        <p:nvSpPr>
          <p:cNvPr id="113" name="TextBox 63">
            <a:extLst>
              <a:ext uri="{FF2B5EF4-FFF2-40B4-BE49-F238E27FC236}">
                <a16:creationId xmlns:a16="http://schemas.microsoft.com/office/drawing/2014/main" id="{4913ECB2-6D19-44F0-8241-2134597DCB5D}"/>
              </a:ext>
            </a:extLst>
          </p:cNvPr>
          <p:cNvSpPr txBox="1">
            <a:spLocks noChangeArrowheads="1"/>
          </p:cNvSpPr>
          <p:nvPr/>
        </p:nvSpPr>
        <p:spPr bwMode="auto">
          <a:xfrm>
            <a:off x="4419773" y="1426032"/>
            <a:ext cx="2124586"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rPr>
              <a:t>泛型编程与模板</a:t>
            </a:r>
          </a:p>
        </p:txBody>
      </p:sp>
      <p:sp>
        <p:nvSpPr>
          <p:cNvPr id="114" name="TextBox 81">
            <a:extLst>
              <a:ext uri="{FF2B5EF4-FFF2-40B4-BE49-F238E27FC236}">
                <a16:creationId xmlns:a16="http://schemas.microsoft.com/office/drawing/2014/main" id="{3B78D7E4-54D2-41ED-A5BA-37E4865F51B4}"/>
              </a:ext>
            </a:extLst>
          </p:cNvPr>
          <p:cNvSpPr txBox="1">
            <a:spLocks noChangeArrowheads="1"/>
          </p:cNvSpPr>
          <p:nvPr/>
        </p:nvSpPr>
        <p:spPr bwMode="auto">
          <a:xfrm>
            <a:off x="3927048" y="1274824"/>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5" name="TextBox 82">
            <a:extLst>
              <a:ext uri="{FF2B5EF4-FFF2-40B4-BE49-F238E27FC236}">
                <a16:creationId xmlns:a16="http://schemas.microsoft.com/office/drawing/2014/main" id="{A37238BC-680C-47E8-AF00-2D07C578E27A}"/>
              </a:ext>
            </a:extLst>
          </p:cNvPr>
          <p:cNvSpPr txBox="1">
            <a:spLocks noChangeArrowheads="1"/>
          </p:cNvSpPr>
          <p:nvPr/>
        </p:nvSpPr>
        <p:spPr bwMode="auto">
          <a:xfrm>
            <a:off x="4419773" y="2144136"/>
            <a:ext cx="1273391"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函数模板</a:t>
            </a:r>
            <a:endParaRPr lang="zh-CN" altLang="en-US" b="1" kern="0" dirty="0">
              <a:solidFill>
                <a:srgbClr val="104E87"/>
              </a:solidFill>
              <a:latin typeface="华光淡古印_CNKI" panose="02000500000000000000" pitchFamily="2" charset="-122"/>
              <a:ea typeface="华光淡古印_CNKI" panose="02000500000000000000" pitchFamily="2" charset="-122"/>
              <a:cs typeface="+mn-ea"/>
              <a:sym typeface="+mn-lt"/>
            </a:endParaRPr>
          </a:p>
        </p:txBody>
      </p:sp>
      <p:sp>
        <p:nvSpPr>
          <p:cNvPr id="116" name="TextBox 83">
            <a:extLst>
              <a:ext uri="{FF2B5EF4-FFF2-40B4-BE49-F238E27FC236}">
                <a16:creationId xmlns:a16="http://schemas.microsoft.com/office/drawing/2014/main" id="{02488E60-9DD1-4258-BC94-A36E4EB2778C}"/>
              </a:ext>
            </a:extLst>
          </p:cNvPr>
          <p:cNvSpPr txBox="1">
            <a:spLocks noChangeArrowheads="1"/>
          </p:cNvSpPr>
          <p:nvPr/>
        </p:nvSpPr>
        <p:spPr bwMode="auto">
          <a:xfrm>
            <a:off x="3927048" y="2021503"/>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8" name="TextBox 85">
            <a:extLst>
              <a:ext uri="{FF2B5EF4-FFF2-40B4-BE49-F238E27FC236}">
                <a16:creationId xmlns:a16="http://schemas.microsoft.com/office/drawing/2014/main" id="{3B807396-F05B-485A-9E30-E6DA6D99007B}"/>
              </a:ext>
            </a:extLst>
          </p:cNvPr>
          <p:cNvSpPr txBox="1">
            <a:spLocks noChangeArrowheads="1"/>
          </p:cNvSpPr>
          <p:nvPr/>
        </p:nvSpPr>
        <p:spPr bwMode="auto">
          <a:xfrm>
            <a:off x="3927048" y="2696824"/>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0" name="TextBox 87">
            <a:extLst>
              <a:ext uri="{FF2B5EF4-FFF2-40B4-BE49-F238E27FC236}">
                <a16:creationId xmlns:a16="http://schemas.microsoft.com/office/drawing/2014/main" id="{720D5FDC-B234-4FA5-9FF1-49ABC77A1A29}"/>
              </a:ext>
            </a:extLst>
          </p:cNvPr>
          <p:cNvSpPr txBox="1">
            <a:spLocks noChangeArrowheads="1"/>
          </p:cNvSpPr>
          <p:nvPr/>
        </p:nvSpPr>
        <p:spPr bwMode="auto">
          <a:xfrm>
            <a:off x="3927048" y="3472425"/>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6" name="Freeform 7">
            <a:extLst>
              <a:ext uri="{FF2B5EF4-FFF2-40B4-BE49-F238E27FC236}">
                <a16:creationId xmlns:a16="http://schemas.microsoft.com/office/drawing/2014/main" id="{F6B60A6D-7EC4-4227-8E28-9EB8881DEB58}"/>
              </a:ext>
            </a:extLst>
          </p:cNvPr>
          <p:cNvSpPr>
            <a:spLocks noEditPoints="1"/>
          </p:cNvSpPr>
          <p:nvPr/>
        </p:nvSpPr>
        <p:spPr bwMode="auto">
          <a:xfrm>
            <a:off x="801438" y="922651"/>
            <a:ext cx="1068129" cy="230399"/>
          </a:xfrm>
          <a:custGeom>
            <a:avLst/>
            <a:gdLst>
              <a:gd name="T0" fmla="*/ 31788 w 2195"/>
              <a:gd name="T1" fmla="*/ 181488 h 445"/>
              <a:gd name="T2" fmla="*/ 163483 w 2195"/>
              <a:gd name="T3" fmla="*/ 180183 h 445"/>
              <a:gd name="T4" fmla="*/ 98609 w 2195"/>
              <a:gd name="T5" fmla="*/ 289206 h 445"/>
              <a:gd name="T6" fmla="*/ 101204 w 2195"/>
              <a:gd name="T7" fmla="*/ 68548 h 445"/>
              <a:gd name="T8" fmla="*/ 98609 w 2195"/>
              <a:gd name="T9" fmla="*/ 289206 h 445"/>
              <a:gd name="T10" fmla="*/ 431413 w 2195"/>
              <a:gd name="T11" fmla="*/ 283331 h 445"/>
              <a:gd name="T12" fmla="*/ 400922 w 2195"/>
              <a:gd name="T13" fmla="*/ 152764 h 445"/>
              <a:gd name="T14" fmla="*/ 289339 w 2195"/>
              <a:gd name="T15" fmla="*/ 154069 h 445"/>
              <a:gd name="T16" fmla="*/ 259496 w 2195"/>
              <a:gd name="T17" fmla="*/ 284636 h 445"/>
              <a:gd name="T18" fmla="*/ 289339 w 2195"/>
              <a:gd name="T19" fmla="*/ 72465 h 445"/>
              <a:gd name="T20" fmla="*/ 358754 w 2195"/>
              <a:gd name="T21" fmla="*/ 66589 h 445"/>
              <a:gd name="T22" fmla="*/ 581921 w 2195"/>
              <a:gd name="T23" fmla="*/ 265704 h 445"/>
              <a:gd name="T24" fmla="*/ 555971 w 2195"/>
              <a:gd name="T25" fmla="*/ 287901 h 445"/>
              <a:gd name="T26" fmla="*/ 512506 w 2195"/>
              <a:gd name="T27" fmla="*/ 98578 h 445"/>
              <a:gd name="T28" fmla="*/ 483312 w 2195"/>
              <a:gd name="T29" fmla="*/ 72465 h 445"/>
              <a:gd name="T30" fmla="*/ 512506 w 2195"/>
              <a:gd name="T31" fmla="*/ 15668 h 445"/>
              <a:gd name="T32" fmla="*/ 542996 w 2195"/>
              <a:gd name="T33" fmla="*/ 72465 h 445"/>
              <a:gd name="T34" fmla="*/ 581921 w 2195"/>
              <a:gd name="T35" fmla="*/ 98578 h 445"/>
              <a:gd name="T36" fmla="*/ 542996 w 2195"/>
              <a:gd name="T37" fmla="*/ 241549 h 445"/>
              <a:gd name="T38" fmla="*/ 581921 w 2195"/>
              <a:gd name="T39" fmla="*/ 265704 h 445"/>
              <a:gd name="T40" fmla="*/ 787572 w 2195"/>
              <a:gd name="T41" fmla="*/ 162556 h 445"/>
              <a:gd name="T42" fmla="*/ 661716 w 2195"/>
              <a:gd name="T43" fmla="*/ 162556 h 445"/>
              <a:gd name="T44" fmla="*/ 819360 w 2195"/>
              <a:gd name="T45" fmla="*/ 226534 h 445"/>
              <a:gd name="T46" fmla="*/ 626684 w 2195"/>
              <a:gd name="T47" fmla="*/ 181488 h 445"/>
              <a:gd name="T48" fmla="*/ 820658 w 2195"/>
              <a:gd name="T49" fmla="*/ 181488 h 445"/>
              <a:gd name="T50" fmla="*/ 660419 w 2195"/>
              <a:gd name="T51" fmla="*/ 188670 h 445"/>
              <a:gd name="T52" fmla="*/ 787572 w 2195"/>
              <a:gd name="T53" fmla="*/ 218047 h 445"/>
              <a:gd name="T54" fmla="*/ 1054853 w 2195"/>
              <a:gd name="T55" fmla="*/ 283331 h 445"/>
              <a:gd name="T56" fmla="*/ 1025011 w 2195"/>
              <a:gd name="T57" fmla="*/ 152764 h 445"/>
              <a:gd name="T58" fmla="*/ 913428 w 2195"/>
              <a:gd name="T59" fmla="*/ 154069 h 445"/>
              <a:gd name="T60" fmla="*/ 882937 w 2195"/>
              <a:gd name="T61" fmla="*/ 284636 h 445"/>
              <a:gd name="T62" fmla="*/ 913428 w 2195"/>
              <a:gd name="T63" fmla="*/ 72465 h 445"/>
              <a:gd name="T64" fmla="*/ 982843 w 2195"/>
              <a:gd name="T65" fmla="*/ 66589 h 445"/>
              <a:gd name="T66" fmla="*/ 1206010 w 2195"/>
              <a:gd name="T67" fmla="*/ 265704 h 445"/>
              <a:gd name="T68" fmla="*/ 1179412 w 2195"/>
              <a:gd name="T69" fmla="*/ 287901 h 445"/>
              <a:gd name="T70" fmla="*/ 1136595 w 2195"/>
              <a:gd name="T71" fmla="*/ 98578 h 445"/>
              <a:gd name="T72" fmla="*/ 1107401 w 2195"/>
              <a:gd name="T73" fmla="*/ 72465 h 445"/>
              <a:gd name="T74" fmla="*/ 1136595 w 2195"/>
              <a:gd name="T75" fmla="*/ 15668 h 445"/>
              <a:gd name="T76" fmla="*/ 1166437 w 2195"/>
              <a:gd name="T77" fmla="*/ 72465 h 445"/>
              <a:gd name="T78" fmla="*/ 1206010 w 2195"/>
              <a:gd name="T79" fmla="*/ 98578 h 445"/>
              <a:gd name="T80" fmla="*/ 1166437 w 2195"/>
              <a:gd name="T81" fmla="*/ 241549 h 445"/>
              <a:gd name="T82" fmla="*/ 1206010 w 2195"/>
              <a:gd name="T83" fmla="*/ 265704 h 445"/>
              <a:gd name="T84" fmla="*/ 1414256 w 2195"/>
              <a:gd name="T85" fmla="*/ 123386 h 445"/>
              <a:gd name="T86" fmla="*/ 1256612 w 2195"/>
              <a:gd name="T87" fmla="*/ 126650 h 445"/>
              <a:gd name="T88" fmla="*/ 1390901 w 2195"/>
              <a:gd name="T89" fmla="*/ 229798 h 445"/>
              <a:gd name="T90" fmla="*/ 1278020 w 2195"/>
              <a:gd name="T91" fmla="*/ 218047 h 445"/>
              <a:gd name="T92" fmla="*/ 1337704 w 2195"/>
              <a:gd name="T93" fmla="*/ 289206 h 445"/>
              <a:gd name="T94" fmla="*/ 1346138 w 2195"/>
              <a:gd name="T95" fmla="*/ 164515 h 445"/>
              <a:gd name="T96" fmla="*/ 1334461 w 2195"/>
              <a:gd name="T97" fmla="*/ 94661 h 44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195" h="445">
                <a:moveTo>
                  <a:pt x="154" y="142"/>
                </a:moveTo>
                <a:cubicBezTo>
                  <a:pt x="86" y="144"/>
                  <a:pt x="51" y="189"/>
                  <a:pt x="49" y="278"/>
                </a:cubicBezTo>
                <a:cubicBezTo>
                  <a:pt x="51" y="361"/>
                  <a:pt x="86" y="405"/>
                  <a:pt x="154" y="407"/>
                </a:cubicBezTo>
                <a:cubicBezTo>
                  <a:pt x="218" y="405"/>
                  <a:pt x="251" y="361"/>
                  <a:pt x="252" y="276"/>
                </a:cubicBezTo>
                <a:cubicBezTo>
                  <a:pt x="248" y="193"/>
                  <a:pt x="215" y="148"/>
                  <a:pt x="154" y="142"/>
                </a:cubicBezTo>
                <a:close/>
                <a:moveTo>
                  <a:pt x="152" y="443"/>
                </a:moveTo>
                <a:cubicBezTo>
                  <a:pt x="55" y="437"/>
                  <a:pt x="5" y="383"/>
                  <a:pt x="0" y="280"/>
                </a:cubicBezTo>
                <a:cubicBezTo>
                  <a:pt x="3" y="166"/>
                  <a:pt x="55" y="107"/>
                  <a:pt x="156" y="105"/>
                </a:cubicBezTo>
                <a:cubicBezTo>
                  <a:pt x="250" y="109"/>
                  <a:pt x="299" y="165"/>
                  <a:pt x="303" y="274"/>
                </a:cubicBezTo>
                <a:cubicBezTo>
                  <a:pt x="302" y="385"/>
                  <a:pt x="251" y="442"/>
                  <a:pt x="152" y="443"/>
                </a:cubicBezTo>
                <a:close/>
                <a:moveTo>
                  <a:pt x="665" y="227"/>
                </a:moveTo>
                <a:lnTo>
                  <a:pt x="665" y="434"/>
                </a:lnTo>
                <a:lnTo>
                  <a:pt x="618" y="434"/>
                </a:lnTo>
                <a:lnTo>
                  <a:pt x="618" y="234"/>
                </a:lnTo>
                <a:cubicBezTo>
                  <a:pt x="616" y="174"/>
                  <a:pt x="591" y="144"/>
                  <a:pt x="542" y="142"/>
                </a:cubicBezTo>
                <a:cubicBezTo>
                  <a:pt x="484" y="150"/>
                  <a:pt x="452" y="181"/>
                  <a:pt x="446" y="236"/>
                </a:cubicBezTo>
                <a:lnTo>
                  <a:pt x="446" y="434"/>
                </a:lnTo>
                <a:lnTo>
                  <a:pt x="400" y="436"/>
                </a:lnTo>
                <a:lnTo>
                  <a:pt x="400" y="111"/>
                </a:lnTo>
                <a:lnTo>
                  <a:pt x="446" y="111"/>
                </a:lnTo>
                <a:lnTo>
                  <a:pt x="446" y="160"/>
                </a:lnTo>
                <a:cubicBezTo>
                  <a:pt x="472" y="123"/>
                  <a:pt x="507" y="104"/>
                  <a:pt x="553" y="102"/>
                </a:cubicBezTo>
                <a:cubicBezTo>
                  <a:pt x="628" y="102"/>
                  <a:pt x="665" y="144"/>
                  <a:pt x="665" y="227"/>
                </a:cubicBezTo>
                <a:close/>
                <a:moveTo>
                  <a:pt x="897" y="407"/>
                </a:moveTo>
                <a:lnTo>
                  <a:pt x="906" y="432"/>
                </a:lnTo>
                <a:cubicBezTo>
                  <a:pt x="891" y="438"/>
                  <a:pt x="875" y="441"/>
                  <a:pt x="857" y="441"/>
                </a:cubicBezTo>
                <a:cubicBezTo>
                  <a:pt x="811" y="442"/>
                  <a:pt x="788" y="419"/>
                  <a:pt x="790" y="370"/>
                </a:cubicBezTo>
                <a:lnTo>
                  <a:pt x="790" y="151"/>
                </a:lnTo>
                <a:lnTo>
                  <a:pt x="745" y="151"/>
                </a:lnTo>
                <a:lnTo>
                  <a:pt x="745" y="111"/>
                </a:lnTo>
                <a:lnTo>
                  <a:pt x="790" y="111"/>
                </a:lnTo>
                <a:lnTo>
                  <a:pt x="790" y="24"/>
                </a:lnTo>
                <a:lnTo>
                  <a:pt x="837" y="0"/>
                </a:lnTo>
                <a:lnTo>
                  <a:pt x="837" y="111"/>
                </a:lnTo>
                <a:lnTo>
                  <a:pt x="897" y="111"/>
                </a:lnTo>
                <a:lnTo>
                  <a:pt x="897" y="151"/>
                </a:lnTo>
                <a:lnTo>
                  <a:pt x="837" y="151"/>
                </a:lnTo>
                <a:lnTo>
                  <a:pt x="837" y="370"/>
                </a:lnTo>
                <a:cubicBezTo>
                  <a:pt x="835" y="398"/>
                  <a:pt x="847" y="411"/>
                  <a:pt x="872" y="410"/>
                </a:cubicBezTo>
                <a:cubicBezTo>
                  <a:pt x="881" y="410"/>
                  <a:pt x="890" y="409"/>
                  <a:pt x="897" y="407"/>
                </a:cubicBezTo>
                <a:close/>
                <a:moveTo>
                  <a:pt x="1020" y="249"/>
                </a:moveTo>
                <a:lnTo>
                  <a:pt x="1214" y="249"/>
                </a:lnTo>
                <a:cubicBezTo>
                  <a:pt x="1211" y="184"/>
                  <a:pt x="1179" y="150"/>
                  <a:pt x="1118" y="147"/>
                </a:cubicBezTo>
                <a:cubicBezTo>
                  <a:pt x="1057" y="153"/>
                  <a:pt x="1024" y="187"/>
                  <a:pt x="1020" y="249"/>
                </a:cubicBezTo>
                <a:close/>
                <a:moveTo>
                  <a:pt x="1214" y="334"/>
                </a:moveTo>
                <a:lnTo>
                  <a:pt x="1263" y="347"/>
                </a:lnTo>
                <a:cubicBezTo>
                  <a:pt x="1245" y="413"/>
                  <a:pt x="1198" y="445"/>
                  <a:pt x="1120" y="443"/>
                </a:cubicBezTo>
                <a:cubicBezTo>
                  <a:pt x="1021" y="439"/>
                  <a:pt x="969" y="384"/>
                  <a:pt x="966" y="278"/>
                </a:cubicBezTo>
                <a:cubicBezTo>
                  <a:pt x="971" y="167"/>
                  <a:pt x="1021" y="109"/>
                  <a:pt x="1118" y="105"/>
                </a:cubicBezTo>
                <a:cubicBezTo>
                  <a:pt x="1213" y="107"/>
                  <a:pt x="1262" y="165"/>
                  <a:pt x="1265" y="278"/>
                </a:cubicBezTo>
                <a:cubicBezTo>
                  <a:pt x="1265" y="284"/>
                  <a:pt x="1265" y="288"/>
                  <a:pt x="1265" y="289"/>
                </a:cubicBezTo>
                <a:lnTo>
                  <a:pt x="1018" y="289"/>
                </a:lnTo>
                <a:cubicBezTo>
                  <a:pt x="1021" y="362"/>
                  <a:pt x="1054" y="401"/>
                  <a:pt x="1118" y="405"/>
                </a:cubicBezTo>
                <a:cubicBezTo>
                  <a:pt x="1169" y="405"/>
                  <a:pt x="1200" y="382"/>
                  <a:pt x="1214" y="334"/>
                </a:cubicBezTo>
                <a:close/>
                <a:moveTo>
                  <a:pt x="1626" y="227"/>
                </a:moveTo>
                <a:lnTo>
                  <a:pt x="1626" y="434"/>
                </a:lnTo>
                <a:lnTo>
                  <a:pt x="1580" y="434"/>
                </a:lnTo>
                <a:lnTo>
                  <a:pt x="1580" y="234"/>
                </a:lnTo>
                <a:cubicBezTo>
                  <a:pt x="1578" y="174"/>
                  <a:pt x="1553" y="144"/>
                  <a:pt x="1504" y="142"/>
                </a:cubicBezTo>
                <a:cubicBezTo>
                  <a:pt x="1446" y="150"/>
                  <a:pt x="1414" y="181"/>
                  <a:pt x="1408" y="236"/>
                </a:cubicBezTo>
                <a:lnTo>
                  <a:pt x="1408" y="434"/>
                </a:lnTo>
                <a:lnTo>
                  <a:pt x="1361" y="436"/>
                </a:lnTo>
                <a:lnTo>
                  <a:pt x="1361" y="111"/>
                </a:lnTo>
                <a:lnTo>
                  <a:pt x="1408" y="111"/>
                </a:lnTo>
                <a:lnTo>
                  <a:pt x="1408" y="160"/>
                </a:lnTo>
                <a:cubicBezTo>
                  <a:pt x="1433" y="123"/>
                  <a:pt x="1469" y="104"/>
                  <a:pt x="1515" y="102"/>
                </a:cubicBezTo>
                <a:cubicBezTo>
                  <a:pt x="1589" y="102"/>
                  <a:pt x="1626" y="144"/>
                  <a:pt x="1626" y="227"/>
                </a:cubicBezTo>
                <a:close/>
                <a:moveTo>
                  <a:pt x="1859" y="407"/>
                </a:moveTo>
                <a:lnTo>
                  <a:pt x="1868" y="432"/>
                </a:lnTo>
                <a:cubicBezTo>
                  <a:pt x="1853" y="438"/>
                  <a:pt x="1836" y="441"/>
                  <a:pt x="1818" y="441"/>
                </a:cubicBezTo>
                <a:cubicBezTo>
                  <a:pt x="1772" y="442"/>
                  <a:pt x="1750" y="419"/>
                  <a:pt x="1752" y="370"/>
                </a:cubicBezTo>
                <a:lnTo>
                  <a:pt x="1752" y="151"/>
                </a:lnTo>
                <a:lnTo>
                  <a:pt x="1707" y="151"/>
                </a:lnTo>
                <a:lnTo>
                  <a:pt x="1707" y="111"/>
                </a:lnTo>
                <a:lnTo>
                  <a:pt x="1752" y="111"/>
                </a:lnTo>
                <a:lnTo>
                  <a:pt x="1752" y="24"/>
                </a:lnTo>
                <a:lnTo>
                  <a:pt x="1798" y="0"/>
                </a:lnTo>
                <a:lnTo>
                  <a:pt x="1798" y="111"/>
                </a:lnTo>
                <a:lnTo>
                  <a:pt x="1859" y="111"/>
                </a:lnTo>
                <a:lnTo>
                  <a:pt x="1859" y="151"/>
                </a:lnTo>
                <a:lnTo>
                  <a:pt x="1798" y="151"/>
                </a:lnTo>
                <a:lnTo>
                  <a:pt x="1798" y="370"/>
                </a:lnTo>
                <a:cubicBezTo>
                  <a:pt x="1797" y="398"/>
                  <a:pt x="1809" y="411"/>
                  <a:pt x="1834" y="410"/>
                </a:cubicBezTo>
                <a:cubicBezTo>
                  <a:pt x="1843" y="410"/>
                  <a:pt x="1851" y="409"/>
                  <a:pt x="1859" y="407"/>
                </a:cubicBezTo>
                <a:close/>
                <a:moveTo>
                  <a:pt x="2131" y="203"/>
                </a:moveTo>
                <a:lnTo>
                  <a:pt x="2180" y="189"/>
                </a:lnTo>
                <a:cubicBezTo>
                  <a:pt x="2167" y="133"/>
                  <a:pt x="2125" y="104"/>
                  <a:pt x="2055" y="102"/>
                </a:cubicBezTo>
                <a:cubicBezTo>
                  <a:pt x="1982" y="105"/>
                  <a:pt x="1943" y="136"/>
                  <a:pt x="1937" y="194"/>
                </a:cubicBezTo>
                <a:cubicBezTo>
                  <a:pt x="1934" y="249"/>
                  <a:pt x="1976" y="281"/>
                  <a:pt x="2062" y="292"/>
                </a:cubicBezTo>
                <a:cubicBezTo>
                  <a:pt x="2118" y="302"/>
                  <a:pt x="2146" y="322"/>
                  <a:pt x="2144" y="352"/>
                </a:cubicBezTo>
                <a:cubicBezTo>
                  <a:pt x="2143" y="387"/>
                  <a:pt x="2115" y="406"/>
                  <a:pt x="2062" y="407"/>
                </a:cubicBezTo>
                <a:cubicBezTo>
                  <a:pt x="2013" y="409"/>
                  <a:pt x="1982" y="384"/>
                  <a:pt x="1970" y="334"/>
                </a:cubicBezTo>
                <a:lnTo>
                  <a:pt x="1924" y="347"/>
                </a:lnTo>
                <a:cubicBezTo>
                  <a:pt x="1941" y="413"/>
                  <a:pt x="1988" y="445"/>
                  <a:pt x="2062" y="443"/>
                </a:cubicBezTo>
                <a:cubicBezTo>
                  <a:pt x="2148" y="442"/>
                  <a:pt x="2192" y="410"/>
                  <a:pt x="2193" y="350"/>
                </a:cubicBezTo>
                <a:cubicBezTo>
                  <a:pt x="2195" y="298"/>
                  <a:pt x="2155" y="265"/>
                  <a:pt x="2075" y="252"/>
                </a:cubicBezTo>
                <a:cubicBezTo>
                  <a:pt x="2014" y="241"/>
                  <a:pt x="1985" y="222"/>
                  <a:pt x="1986" y="194"/>
                </a:cubicBezTo>
                <a:cubicBezTo>
                  <a:pt x="1990" y="162"/>
                  <a:pt x="2014" y="146"/>
                  <a:pt x="2057" y="145"/>
                </a:cubicBezTo>
                <a:cubicBezTo>
                  <a:pt x="2097" y="145"/>
                  <a:pt x="2122" y="164"/>
                  <a:pt x="2131" y="203"/>
                </a:cubicBez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lIns="68571" tIns="34285" rIns="68571" bIns="34285"/>
          <a:lstStyle/>
          <a:p>
            <a:endParaRPr lang="zh-CN" altLang="en-US" kern="0" dirty="0">
              <a:latin typeface="Times New Roman" panose="02020603050405020304" pitchFamily="18" charset="0"/>
              <a:cs typeface="Times New Roman" panose="02020603050405020304" pitchFamily="18" charset="0"/>
              <a:sym typeface="+mn-lt"/>
            </a:endParaRPr>
          </a:p>
        </p:txBody>
      </p:sp>
      <p:sp>
        <p:nvSpPr>
          <p:cNvPr id="32" name="Freeform 26">
            <a:extLst>
              <a:ext uri="{FF2B5EF4-FFF2-40B4-BE49-F238E27FC236}">
                <a16:creationId xmlns:a16="http://schemas.microsoft.com/office/drawing/2014/main" id="{8F727C13-64FE-4499-B078-4DEE7AE86112}"/>
              </a:ext>
            </a:extLst>
          </p:cNvPr>
          <p:cNvSpPr/>
          <p:nvPr/>
        </p:nvSpPr>
        <p:spPr bwMode="auto">
          <a:xfrm>
            <a:off x="3697346" y="4252422"/>
            <a:ext cx="5113654" cy="433530"/>
          </a:xfrm>
          <a:custGeom>
            <a:avLst/>
            <a:gdLst>
              <a:gd name="T0" fmla="*/ 60743788 w 6963"/>
              <a:gd name="T1" fmla="*/ 0 h 794"/>
              <a:gd name="T2" fmla="*/ 2147483647 w 6963"/>
              <a:gd name="T3" fmla="*/ 0 h 794"/>
              <a:gd name="T4" fmla="*/ 2147483647 w 6963"/>
              <a:gd name="T5" fmla="*/ 50166012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166012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6"/>
                </a:cubicBezTo>
                <a:lnTo>
                  <a:pt x="6963" y="707"/>
                </a:lnTo>
                <a:cubicBezTo>
                  <a:pt x="6963" y="754"/>
                  <a:pt x="6924" y="794"/>
                  <a:pt x="6876" y="794"/>
                </a:cubicBezTo>
                <a:lnTo>
                  <a:pt x="87" y="794"/>
                </a:lnTo>
                <a:cubicBezTo>
                  <a:pt x="39" y="794"/>
                  <a:pt x="0" y="754"/>
                  <a:pt x="0" y="707"/>
                </a:cubicBezTo>
                <a:lnTo>
                  <a:pt x="0" y="86"/>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33" name="Freeform 27">
            <a:extLst>
              <a:ext uri="{FF2B5EF4-FFF2-40B4-BE49-F238E27FC236}">
                <a16:creationId xmlns:a16="http://schemas.microsoft.com/office/drawing/2014/main" id="{7EB49533-EBA6-4BDA-998D-E5D582D323D4}"/>
              </a:ext>
            </a:extLst>
          </p:cNvPr>
          <p:cNvSpPr/>
          <p:nvPr/>
        </p:nvSpPr>
        <p:spPr bwMode="auto">
          <a:xfrm>
            <a:off x="3805652" y="4172648"/>
            <a:ext cx="593889" cy="72628"/>
          </a:xfrm>
          <a:custGeom>
            <a:avLst/>
            <a:gdLst>
              <a:gd name="T0" fmla="*/ 58241460 w 1038"/>
              <a:gd name="T1" fmla="*/ 0 h 127"/>
              <a:gd name="T2" fmla="*/ 546306357 w 1038"/>
              <a:gd name="T3" fmla="*/ 0 h 127"/>
              <a:gd name="T4" fmla="*/ 604547817 w 1038"/>
              <a:gd name="T5" fmla="*/ 73837831 h 127"/>
              <a:gd name="T6" fmla="*/ 0 w 1038"/>
              <a:gd name="T7" fmla="*/ 73837831 h 127"/>
              <a:gd name="T8" fmla="*/ 58241460 w 1038"/>
              <a:gd name="T9" fmla="*/ 0 h 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7">
                <a:moveTo>
                  <a:pt x="100" y="0"/>
                </a:moveTo>
                <a:lnTo>
                  <a:pt x="938" y="0"/>
                </a:lnTo>
                <a:lnTo>
                  <a:pt x="1038" y="127"/>
                </a:lnTo>
                <a:lnTo>
                  <a:pt x="0" y="127"/>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34" name="Rectangle 28">
            <a:extLst>
              <a:ext uri="{FF2B5EF4-FFF2-40B4-BE49-F238E27FC236}">
                <a16:creationId xmlns:a16="http://schemas.microsoft.com/office/drawing/2014/main" id="{882E1B35-1106-4E3D-A633-FCA5843400F3}"/>
              </a:ext>
            </a:extLst>
          </p:cNvPr>
          <p:cNvSpPr>
            <a:spLocks noChangeArrowheads="1"/>
          </p:cNvSpPr>
          <p:nvPr/>
        </p:nvSpPr>
        <p:spPr bwMode="auto">
          <a:xfrm>
            <a:off x="3862777" y="4172646"/>
            <a:ext cx="478444" cy="476251"/>
          </a:xfrm>
          <a:prstGeom prst="rect">
            <a:avLst/>
          </a:prstGeom>
          <a:solidFill>
            <a:srgbClr val="134F85"/>
          </a:solidFill>
          <a:ln>
            <a:noFill/>
          </a:ln>
        </p:spPr>
        <p:txBody>
          <a:bodyPr lIns="68563" tIns="34281" rIns="68563" bIns="34281"/>
          <a:lstStyle/>
          <a:p>
            <a:pPr>
              <a:buFontTx/>
              <a:buNone/>
            </a:pPr>
            <a:endParaRPr lang="zh-CN" altLang="en-US"/>
          </a:p>
        </p:txBody>
      </p:sp>
      <p:sp>
        <p:nvSpPr>
          <p:cNvPr id="35" name="TextBox 88">
            <a:extLst>
              <a:ext uri="{FF2B5EF4-FFF2-40B4-BE49-F238E27FC236}">
                <a16:creationId xmlns:a16="http://schemas.microsoft.com/office/drawing/2014/main" id="{29EAA2D1-824A-4416-9953-B97434C5E60A}"/>
              </a:ext>
            </a:extLst>
          </p:cNvPr>
          <p:cNvSpPr txBox="1">
            <a:spLocks noChangeArrowheads="1"/>
          </p:cNvSpPr>
          <p:nvPr/>
        </p:nvSpPr>
        <p:spPr bwMode="auto">
          <a:xfrm>
            <a:off x="4421673" y="2811284"/>
            <a:ext cx="4469779"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案例</a:t>
            </a:r>
            <a:r>
              <a:rPr lang="en-US" altLang="zh-CN" sz="2200" b="1" kern="0" dirty="0">
                <a:solidFill>
                  <a:srgbClr val="104E87"/>
                </a:solidFill>
                <a:latin typeface="华光淡古印_CNKI" panose="02000500000000000000" pitchFamily="2" charset="-122"/>
                <a:ea typeface="华光淡古印_CNKI" panose="02000500000000000000" pitchFamily="2" charset="-122"/>
                <a:cs typeface="+mn-ea"/>
                <a:sym typeface="+mn-lt"/>
              </a:rPr>
              <a:t>——</a:t>
            </a:r>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数组排序与查找函数模板</a:t>
            </a:r>
          </a:p>
        </p:txBody>
      </p:sp>
      <p:sp>
        <p:nvSpPr>
          <p:cNvPr id="36" name="TextBox 89">
            <a:extLst>
              <a:ext uri="{FF2B5EF4-FFF2-40B4-BE49-F238E27FC236}">
                <a16:creationId xmlns:a16="http://schemas.microsoft.com/office/drawing/2014/main" id="{DCC91D30-DE0F-4CE6-9183-C2C178E9073C}"/>
              </a:ext>
            </a:extLst>
          </p:cNvPr>
          <p:cNvSpPr txBox="1">
            <a:spLocks noChangeArrowheads="1"/>
          </p:cNvSpPr>
          <p:nvPr/>
        </p:nvSpPr>
        <p:spPr bwMode="auto">
          <a:xfrm>
            <a:off x="3927048" y="4186935"/>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5</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2" name="Freeform 26">
            <a:extLst>
              <a:ext uri="{FF2B5EF4-FFF2-40B4-BE49-F238E27FC236}">
                <a16:creationId xmlns:a16="http://schemas.microsoft.com/office/drawing/2014/main" id="{872ACC79-AA70-4EE0-80D5-353F1BC7E436}"/>
              </a:ext>
            </a:extLst>
          </p:cNvPr>
          <p:cNvSpPr/>
          <p:nvPr/>
        </p:nvSpPr>
        <p:spPr bwMode="auto">
          <a:xfrm>
            <a:off x="3697346" y="4948802"/>
            <a:ext cx="5113654" cy="396476"/>
          </a:xfrm>
          <a:custGeom>
            <a:avLst/>
            <a:gdLst>
              <a:gd name="T0" fmla="*/ 60743788 w 6963"/>
              <a:gd name="T1" fmla="*/ 0 h 794"/>
              <a:gd name="T2" fmla="*/ 2147483647 w 6963"/>
              <a:gd name="T3" fmla="*/ 0 h 794"/>
              <a:gd name="T4" fmla="*/ 2147483647 w 6963"/>
              <a:gd name="T5" fmla="*/ 50166012 h 794"/>
              <a:gd name="T6" fmla="*/ 2147483647 w 6963"/>
              <a:gd name="T7" fmla="*/ 412413298 h 794"/>
              <a:gd name="T8" fmla="*/ 2147483647 w 6963"/>
              <a:gd name="T9" fmla="*/ 463162822 h 794"/>
              <a:gd name="T10" fmla="*/ 60743788 w 6963"/>
              <a:gd name="T11" fmla="*/ 463162822 h 794"/>
              <a:gd name="T12" fmla="*/ 0 w 6963"/>
              <a:gd name="T13" fmla="*/ 412413298 h 794"/>
              <a:gd name="T14" fmla="*/ 0 w 6963"/>
              <a:gd name="T15" fmla="*/ 50166012 h 794"/>
              <a:gd name="T16" fmla="*/ 60743788 w 6963"/>
              <a:gd name="T17" fmla="*/ 0 h 7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963" h="794">
                <a:moveTo>
                  <a:pt x="87" y="0"/>
                </a:moveTo>
                <a:lnTo>
                  <a:pt x="6876" y="0"/>
                </a:lnTo>
                <a:cubicBezTo>
                  <a:pt x="6924" y="0"/>
                  <a:pt x="6963" y="39"/>
                  <a:pt x="6963" y="86"/>
                </a:cubicBezTo>
                <a:lnTo>
                  <a:pt x="6963" y="707"/>
                </a:lnTo>
                <a:cubicBezTo>
                  <a:pt x="6963" y="754"/>
                  <a:pt x="6924" y="794"/>
                  <a:pt x="6876" y="794"/>
                </a:cubicBezTo>
                <a:lnTo>
                  <a:pt x="87" y="794"/>
                </a:lnTo>
                <a:cubicBezTo>
                  <a:pt x="39" y="794"/>
                  <a:pt x="0" y="754"/>
                  <a:pt x="0" y="707"/>
                </a:cubicBezTo>
                <a:lnTo>
                  <a:pt x="0" y="86"/>
                </a:lnTo>
                <a:cubicBezTo>
                  <a:pt x="0" y="39"/>
                  <a:pt x="39" y="0"/>
                  <a:pt x="87" y="0"/>
                </a:cubicBezTo>
                <a:close/>
              </a:path>
            </a:pathLst>
          </a:custGeom>
          <a:gradFill rotWithShape="0">
            <a:gsLst>
              <a:gs pos="0">
                <a:srgbClr val="F8F8F8"/>
              </a:gs>
              <a:gs pos="100000">
                <a:srgbClr val="EAEAEA"/>
              </a:gs>
            </a:gsLst>
            <a:lin ang="5400000"/>
          </a:gradFill>
          <a:ln w="10" cap="flat" cmpd="sng">
            <a:solidFill>
              <a:srgbClr val="DFDFE1"/>
            </a:solidFill>
            <a:round/>
          </a:ln>
          <a:effectLst>
            <a:outerShdw blurRad="50800" dist="38100" dir="2700000" algn="tl" rotWithShape="0">
              <a:prstClr val="black">
                <a:alpha val="40000"/>
              </a:prstClr>
            </a:outerShdw>
          </a:effectLst>
        </p:spPr>
        <p:txBody>
          <a:bodyPr lIns="68563" tIns="34281" rIns="68563" bIns="34281"/>
          <a:lstStyle/>
          <a:p>
            <a:endParaRPr lang="zh-CN" altLang="en-US"/>
          </a:p>
        </p:txBody>
      </p:sp>
      <p:sp>
        <p:nvSpPr>
          <p:cNvPr id="43" name="Freeform 27">
            <a:extLst>
              <a:ext uri="{FF2B5EF4-FFF2-40B4-BE49-F238E27FC236}">
                <a16:creationId xmlns:a16="http://schemas.microsoft.com/office/drawing/2014/main" id="{57D55A3C-ABEA-41E6-B0A9-03DD36BD6373}"/>
              </a:ext>
            </a:extLst>
          </p:cNvPr>
          <p:cNvSpPr/>
          <p:nvPr/>
        </p:nvSpPr>
        <p:spPr bwMode="auto">
          <a:xfrm>
            <a:off x="3805652" y="4869028"/>
            <a:ext cx="593889" cy="72628"/>
          </a:xfrm>
          <a:custGeom>
            <a:avLst/>
            <a:gdLst>
              <a:gd name="T0" fmla="*/ 58241460 w 1038"/>
              <a:gd name="T1" fmla="*/ 0 h 127"/>
              <a:gd name="T2" fmla="*/ 546306357 w 1038"/>
              <a:gd name="T3" fmla="*/ 0 h 127"/>
              <a:gd name="T4" fmla="*/ 604547817 w 1038"/>
              <a:gd name="T5" fmla="*/ 73837831 h 127"/>
              <a:gd name="T6" fmla="*/ 0 w 1038"/>
              <a:gd name="T7" fmla="*/ 73837831 h 127"/>
              <a:gd name="T8" fmla="*/ 58241460 w 1038"/>
              <a:gd name="T9" fmla="*/ 0 h 1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8" h="127">
                <a:moveTo>
                  <a:pt x="100" y="0"/>
                </a:moveTo>
                <a:lnTo>
                  <a:pt x="938" y="0"/>
                </a:lnTo>
                <a:lnTo>
                  <a:pt x="1038" y="127"/>
                </a:lnTo>
                <a:lnTo>
                  <a:pt x="0" y="127"/>
                </a:lnTo>
                <a:lnTo>
                  <a:pt x="100" y="0"/>
                </a:lnTo>
                <a:close/>
              </a:path>
            </a:pathLst>
          </a:custGeom>
          <a:solidFill>
            <a:schemeClr val="accent5">
              <a:lumMod val="50000"/>
            </a:schemeClr>
          </a:solidFill>
          <a:ln>
            <a:noFill/>
          </a:ln>
        </p:spPr>
        <p:txBody>
          <a:bodyPr lIns="68563" tIns="34281" rIns="68563" bIns="34281"/>
          <a:lstStyle/>
          <a:p>
            <a:endParaRPr lang="zh-CN" altLang="en-US"/>
          </a:p>
        </p:txBody>
      </p:sp>
      <p:sp>
        <p:nvSpPr>
          <p:cNvPr id="44" name="Rectangle 28">
            <a:extLst>
              <a:ext uri="{FF2B5EF4-FFF2-40B4-BE49-F238E27FC236}">
                <a16:creationId xmlns:a16="http://schemas.microsoft.com/office/drawing/2014/main" id="{2541E01C-81BD-4BC8-8B46-05E8178A1AB3}"/>
              </a:ext>
            </a:extLst>
          </p:cNvPr>
          <p:cNvSpPr>
            <a:spLocks noChangeArrowheads="1"/>
          </p:cNvSpPr>
          <p:nvPr/>
        </p:nvSpPr>
        <p:spPr bwMode="auto">
          <a:xfrm>
            <a:off x="3862777" y="4869026"/>
            <a:ext cx="478444" cy="476251"/>
          </a:xfrm>
          <a:prstGeom prst="rect">
            <a:avLst/>
          </a:prstGeom>
          <a:solidFill>
            <a:srgbClr val="134F85"/>
          </a:solidFill>
          <a:ln>
            <a:noFill/>
          </a:ln>
        </p:spPr>
        <p:txBody>
          <a:bodyPr lIns="68563" tIns="34281" rIns="68563" bIns="34281"/>
          <a:lstStyle/>
          <a:p>
            <a:pPr>
              <a:buFontTx/>
              <a:buNone/>
            </a:pPr>
            <a:endParaRPr lang="zh-CN" altLang="en-US"/>
          </a:p>
        </p:txBody>
      </p:sp>
      <p:sp>
        <p:nvSpPr>
          <p:cNvPr id="45" name="TextBox 88">
            <a:extLst>
              <a:ext uri="{FF2B5EF4-FFF2-40B4-BE49-F238E27FC236}">
                <a16:creationId xmlns:a16="http://schemas.microsoft.com/office/drawing/2014/main" id="{566EE48C-720C-42A8-8FF5-255137F42062}"/>
              </a:ext>
            </a:extLst>
          </p:cNvPr>
          <p:cNvSpPr txBox="1">
            <a:spLocks noChangeArrowheads="1"/>
          </p:cNvSpPr>
          <p:nvPr/>
        </p:nvSpPr>
        <p:spPr bwMode="auto">
          <a:xfrm>
            <a:off x="4341221" y="5001279"/>
            <a:ext cx="1273391"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本章作业</a:t>
            </a:r>
          </a:p>
        </p:txBody>
      </p:sp>
      <p:sp>
        <p:nvSpPr>
          <p:cNvPr id="46" name="TextBox 89">
            <a:extLst>
              <a:ext uri="{FF2B5EF4-FFF2-40B4-BE49-F238E27FC236}">
                <a16:creationId xmlns:a16="http://schemas.microsoft.com/office/drawing/2014/main" id="{A1FF9DB7-51D7-40A9-A8C4-FD901581CCB2}"/>
              </a:ext>
            </a:extLst>
          </p:cNvPr>
          <p:cNvSpPr txBox="1">
            <a:spLocks noChangeArrowheads="1"/>
          </p:cNvSpPr>
          <p:nvPr/>
        </p:nvSpPr>
        <p:spPr bwMode="auto">
          <a:xfrm>
            <a:off x="3927048" y="4883315"/>
            <a:ext cx="311589" cy="48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700" b="1" dirty="0">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27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7" name="TextBox 84">
            <a:extLst>
              <a:ext uri="{FF2B5EF4-FFF2-40B4-BE49-F238E27FC236}">
                <a16:creationId xmlns:a16="http://schemas.microsoft.com/office/drawing/2014/main" id="{59E0EA32-E21A-4834-9355-33D50F0722B1}"/>
              </a:ext>
            </a:extLst>
          </p:cNvPr>
          <p:cNvSpPr txBox="1">
            <a:spLocks noChangeArrowheads="1"/>
          </p:cNvSpPr>
          <p:nvPr/>
        </p:nvSpPr>
        <p:spPr bwMode="auto">
          <a:xfrm>
            <a:off x="4456666" y="3533147"/>
            <a:ext cx="989660"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63" tIns="34281" rIns="68563" bIns="3428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kern="0" dirty="0">
                <a:solidFill>
                  <a:srgbClr val="104E87"/>
                </a:solidFill>
                <a:latin typeface="华光淡古印_CNKI" panose="02000500000000000000" pitchFamily="2" charset="-122"/>
                <a:ea typeface="华光淡古印_CNKI" panose="02000500000000000000" pitchFamily="2" charset="-122"/>
                <a:cs typeface="+mn-ea"/>
                <a:sym typeface="+mn-lt"/>
              </a:rPr>
              <a:t>类模板</a:t>
            </a:r>
            <a:endParaRPr lang="zh-CN" altLang="en-US" b="1" kern="0" dirty="0">
              <a:solidFill>
                <a:srgbClr val="104E87"/>
              </a:solidFill>
              <a:latin typeface="华光淡古印_CNKI" panose="02000500000000000000" pitchFamily="2" charset="-122"/>
              <a:ea typeface="华光淡古印_CNKI" panose="02000500000000000000" pitchFamily="2" charset="-122"/>
              <a:cs typeface="+mn-ea"/>
              <a:sym typeface="+mn-lt"/>
            </a:endParaRPr>
          </a:p>
        </p:txBody>
      </p:sp>
      <p:sp>
        <p:nvSpPr>
          <p:cNvPr id="119" name="TextBox 86">
            <a:extLst>
              <a:ext uri="{FF2B5EF4-FFF2-40B4-BE49-F238E27FC236}">
                <a16:creationId xmlns:a16="http://schemas.microsoft.com/office/drawing/2014/main" id="{D6A325F5-B1C2-494E-AB5E-20656AA5B30F}"/>
              </a:ext>
            </a:extLst>
          </p:cNvPr>
          <p:cNvSpPr txBox="1">
            <a:spLocks noChangeArrowheads="1"/>
          </p:cNvSpPr>
          <p:nvPr/>
        </p:nvSpPr>
        <p:spPr bwMode="auto">
          <a:xfrm>
            <a:off x="4399541" y="4278166"/>
            <a:ext cx="3868442" cy="407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3" tIns="34281" rIns="68563" bIns="34281">
            <a:spAutoFit/>
          </a:bodyPr>
          <a:lstStyle>
            <a:defPPr>
              <a:defRPr lang="en-US"/>
            </a:defPPr>
            <a:lvl1pPr>
              <a:defRPr sz="2200" b="1" kern="0">
                <a:solidFill>
                  <a:srgbClr val="104E87"/>
                </a:solidFill>
                <a:latin typeface="微软雅黑" panose="020B0503020204020204" pitchFamily="34" charset="-122"/>
                <a:ea typeface="微软雅黑" panose="020B0503020204020204" pitchFamily="34" charset="-122"/>
                <a:cs typeface="+mn-ea"/>
              </a:defRPr>
            </a:lvl1pPr>
            <a:lvl2pPr marL="742950" indent="-285750" eaLnBrk="0" hangingPunct="0">
              <a:defRPr>
                <a:latin typeface="Arial" panose="020B0604020202020204" pitchFamily="34" charset="0"/>
                <a:ea typeface="宋体" panose="02010600030101010101" pitchFamily="2" charset="-122"/>
              </a:defRPr>
            </a:lvl2pPr>
            <a:lvl3pPr marL="1143000" indent="-228600" eaLnBrk="0" hangingPunct="0">
              <a:defRPr>
                <a:latin typeface="Arial" panose="020B0604020202020204" pitchFamily="34" charset="0"/>
                <a:ea typeface="宋体" panose="02010600030101010101" pitchFamily="2" charset="-122"/>
              </a:defRPr>
            </a:lvl3pPr>
            <a:lvl4pPr marL="1600200" indent="-228600" eaLnBrk="0" hangingPunct="0">
              <a:defRPr>
                <a:latin typeface="Arial" panose="020B0604020202020204" pitchFamily="34" charset="0"/>
                <a:ea typeface="宋体" panose="02010600030101010101" pitchFamily="2" charset="-122"/>
              </a:defRPr>
            </a:lvl4pPr>
            <a:lvl5pPr marL="2057400" indent="-228600" eaLnBrk="0" hangingPunct="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latin typeface="Arial" panose="020B0604020202020204" pitchFamily="34" charset="0"/>
                <a:ea typeface="宋体" panose="02010600030101010101" pitchFamily="2" charset="-122"/>
              </a:defRPr>
            </a:lvl9pPr>
          </a:lstStyle>
          <a:p>
            <a:r>
              <a:rPr lang="zh-CN" altLang="en-US" dirty="0">
                <a:latin typeface="华光淡古印_CNKI" panose="02000500000000000000" pitchFamily="2" charset="-122"/>
                <a:ea typeface="华光淡古印_CNKI" panose="02000500000000000000" pitchFamily="2" charset="-122"/>
                <a:sym typeface="+mn-lt"/>
              </a:rPr>
              <a:t>案例</a:t>
            </a:r>
            <a:r>
              <a:rPr lang="en-US" altLang="zh-CN" dirty="0">
                <a:latin typeface="华光淡古印_CNKI" panose="02000500000000000000" pitchFamily="2" charset="-122"/>
                <a:ea typeface="华光淡古印_CNKI" panose="02000500000000000000" pitchFamily="2" charset="-122"/>
                <a:sym typeface="+mn-lt"/>
              </a:rPr>
              <a:t>——</a:t>
            </a:r>
            <a:r>
              <a:rPr lang="zh-CN" altLang="en-US" dirty="0">
                <a:latin typeface="华光淡古印_CNKI" panose="02000500000000000000" pitchFamily="2" charset="-122"/>
                <a:ea typeface="华光淡古印_CNKI" panose="02000500000000000000" pitchFamily="2" charset="-122"/>
                <a:sym typeface="+mn-lt"/>
              </a:rPr>
              <a:t>动态数组类模板</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31" presetClass="entr" presetSubtype="0" fill="hold" grpId="0" nodeType="afterEffect">
                                  <p:stCondLst>
                                    <p:cond delay="0"/>
                                  </p:stCondLst>
                                  <p:childTnLst>
                                    <p:set>
                                      <p:cBhvr>
                                        <p:cTn id="12" dur="1" fill="hold">
                                          <p:stCondLst>
                                            <p:cond delay="0"/>
                                          </p:stCondLst>
                                        </p:cTn>
                                        <p:tgtEl>
                                          <p:spTgt spid="80"/>
                                        </p:tgtEl>
                                        <p:attrNameLst>
                                          <p:attrName>style.visibility</p:attrName>
                                        </p:attrNameLst>
                                      </p:cBhvr>
                                      <p:to>
                                        <p:strVal val="visible"/>
                                      </p:to>
                                    </p:set>
                                    <p:anim calcmode="lin" valueType="num">
                                      <p:cBhvr>
                                        <p:cTn id="13" dur="300" fill="hold"/>
                                        <p:tgtEl>
                                          <p:spTgt spid="80"/>
                                        </p:tgtEl>
                                        <p:attrNameLst>
                                          <p:attrName>ppt_w</p:attrName>
                                        </p:attrNameLst>
                                      </p:cBhvr>
                                      <p:tavLst>
                                        <p:tav tm="0">
                                          <p:val>
                                            <p:fltVal val="0"/>
                                          </p:val>
                                        </p:tav>
                                        <p:tav tm="100000">
                                          <p:val>
                                            <p:strVal val="#ppt_w"/>
                                          </p:val>
                                        </p:tav>
                                      </p:tavLst>
                                    </p:anim>
                                    <p:anim calcmode="lin" valueType="num">
                                      <p:cBhvr>
                                        <p:cTn id="14" dur="300" fill="hold"/>
                                        <p:tgtEl>
                                          <p:spTgt spid="80"/>
                                        </p:tgtEl>
                                        <p:attrNameLst>
                                          <p:attrName>ppt_h</p:attrName>
                                        </p:attrNameLst>
                                      </p:cBhvr>
                                      <p:tavLst>
                                        <p:tav tm="0">
                                          <p:val>
                                            <p:fltVal val="0"/>
                                          </p:val>
                                        </p:tav>
                                        <p:tav tm="100000">
                                          <p:val>
                                            <p:strVal val="#ppt_h"/>
                                          </p:val>
                                        </p:tav>
                                      </p:tavLst>
                                    </p:anim>
                                    <p:anim calcmode="lin" valueType="num">
                                      <p:cBhvr>
                                        <p:cTn id="15" dur="300" fill="hold"/>
                                        <p:tgtEl>
                                          <p:spTgt spid="80"/>
                                        </p:tgtEl>
                                        <p:attrNameLst>
                                          <p:attrName>style.rotation</p:attrName>
                                        </p:attrNameLst>
                                      </p:cBhvr>
                                      <p:tavLst>
                                        <p:tav tm="0">
                                          <p:val>
                                            <p:fltVal val="90"/>
                                          </p:val>
                                        </p:tav>
                                        <p:tav tm="100000">
                                          <p:val>
                                            <p:fltVal val="0"/>
                                          </p:val>
                                        </p:tav>
                                      </p:tavLst>
                                    </p:anim>
                                    <p:animEffect transition="in" filter="fade">
                                      <p:cBhvr>
                                        <p:cTn id="16" dur="300"/>
                                        <p:tgtEl>
                                          <p:spTgt spid="80"/>
                                        </p:tgtEl>
                                      </p:cBhvr>
                                    </p:animEffect>
                                  </p:childTnLst>
                                </p:cTn>
                              </p:par>
                            </p:childTnLst>
                          </p:cTn>
                        </p:par>
                        <p:par>
                          <p:cTn id="17" fill="hold">
                            <p:stCondLst>
                              <p:cond delay="1300"/>
                            </p:stCondLst>
                            <p:childTnLst>
                              <p:par>
                                <p:cTn id="18" presetID="42" presetClass="entr" presetSubtype="0" fill="hold" grpId="0" nodeType="afterEffect">
                                  <p:stCondLst>
                                    <p:cond delay="0"/>
                                  </p:stCondLst>
                                  <p:childTnLst>
                                    <p:set>
                                      <p:cBhvr>
                                        <p:cTn id="19" dur="1" fill="hold">
                                          <p:stCondLst>
                                            <p:cond delay="0"/>
                                          </p:stCondLst>
                                        </p:cTn>
                                        <p:tgtEl>
                                          <p:spTgt spid="85"/>
                                        </p:tgtEl>
                                        <p:attrNameLst>
                                          <p:attrName>style.visibility</p:attrName>
                                        </p:attrNameLst>
                                      </p:cBhvr>
                                      <p:to>
                                        <p:strVal val="visible"/>
                                      </p:to>
                                    </p:set>
                                    <p:animEffect transition="in" filter="fade">
                                      <p:cBhvr>
                                        <p:cTn id="20" dur="400"/>
                                        <p:tgtEl>
                                          <p:spTgt spid="85"/>
                                        </p:tgtEl>
                                      </p:cBhvr>
                                    </p:animEffect>
                                    <p:anim calcmode="lin" valueType="num">
                                      <p:cBhvr>
                                        <p:cTn id="21" dur="400" fill="hold"/>
                                        <p:tgtEl>
                                          <p:spTgt spid="85"/>
                                        </p:tgtEl>
                                        <p:attrNameLst>
                                          <p:attrName>ppt_x</p:attrName>
                                        </p:attrNameLst>
                                      </p:cBhvr>
                                      <p:tavLst>
                                        <p:tav tm="0">
                                          <p:val>
                                            <p:strVal val="#ppt_x"/>
                                          </p:val>
                                        </p:tav>
                                        <p:tav tm="100000">
                                          <p:val>
                                            <p:strVal val="#ppt_x"/>
                                          </p:val>
                                        </p:tav>
                                      </p:tavLst>
                                    </p:anim>
                                    <p:anim calcmode="lin" valueType="num">
                                      <p:cBhvr>
                                        <p:cTn id="22" dur="400" fill="hold"/>
                                        <p:tgtEl>
                                          <p:spTgt spid="85"/>
                                        </p:tgtEl>
                                        <p:attrNameLst>
                                          <p:attrName>ppt_y</p:attrName>
                                        </p:attrNameLst>
                                      </p:cBhvr>
                                      <p:tavLst>
                                        <p:tav tm="0">
                                          <p:val>
                                            <p:strVal val="#ppt_y+.1"/>
                                          </p:val>
                                        </p:tav>
                                        <p:tav tm="100000">
                                          <p:val>
                                            <p:strVal val="#ppt_y"/>
                                          </p:val>
                                        </p:tav>
                                      </p:tavLst>
                                    </p:anim>
                                  </p:childTnLst>
                                </p:cTn>
                              </p:par>
                            </p:childTnLst>
                          </p:cTn>
                        </p:par>
                        <p:par>
                          <p:cTn id="23" fill="hold">
                            <p:stCondLst>
                              <p:cond delay="1700"/>
                            </p:stCondLst>
                            <p:childTnLst>
                              <p:par>
                                <p:cTn id="24" presetID="22" presetClass="entr" presetSubtype="8" fill="hold" grpId="0" nodeType="afterEffect">
                                  <p:stCondLst>
                                    <p:cond delay="0"/>
                                  </p:stCondLst>
                                  <p:childTnLst>
                                    <p:set>
                                      <p:cBhvr>
                                        <p:cTn id="25" dur="1" fill="hold">
                                          <p:stCondLst>
                                            <p:cond delay="0"/>
                                          </p:stCondLst>
                                        </p:cTn>
                                        <p:tgtEl>
                                          <p:spTgt spid="86"/>
                                        </p:tgtEl>
                                        <p:attrNameLst>
                                          <p:attrName>style.visibility</p:attrName>
                                        </p:attrNameLst>
                                      </p:cBhvr>
                                      <p:to>
                                        <p:strVal val="visible"/>
                                      </p:to>
                                    </p:set>
                                    <p:animEffect transition="in" filter="wipe(left)">
                                      <p:cBhvr>
                                        <p:cTn id="26" dur="500"/>
                                        <p:tgtEl>
                                          <p:spTgt spid="86"/>
                                        </p:tgtEl>
                                      </p:cBhvr>
                                    </p:animEffect>
                                  </p:childTnLst>
                                </p:cTn>
                              </p:par>
                            </p:childTnLst>
                          </p:cTn>
                        </p:par>
                        <p:par>
                          <p:cTn id="27" fill="hold">
                            <p:stCondLst>
                              <p:cond delay="2200"/>
                            </p:stCondLst>
                            <p:childTnLst>
                              <p:par>
                                <p:cTn id="28" presetID="10" presetClass="entr" presetSubtype="0" fill="hold" grpId="1" nodeType="afterEffect">
                                  <p:stCondLst>
                                    <p:cond delay="0"/>
                                  </p:stCondLst>
                                  <p:childTnLst>
                                    <p:set>
                                      <p:cBhvr>
                                        <p:cTn id="29" dur="1" fill="hold">
                                          <p:stCondLst>
                                            <p:cond delay="0"/>
                                          </p:stCondLst>
                                        </p:cTn>
                                        <p:tgtEl>
                                          <p:spTgt spid="80"/>
                                        </p:tgtEl>
                                        <p:attrNameLst>
                                          <p:attrName>style.visibility</p:attrName>
                                        </p:attrNameLst>
                                      </p:cBhvr>
                                      <p:to>
                                        <p:strVal val="visible"/>
                                      </p:to>
                                    </p:set>
                                    <p:animEffect transition="in" filter="fade">
                                      <p:cBhvr>
                                        <p:cTn id="30" dur="500"/>
                                        <p:tgtEl>
                                          <p:spTgt spid="80"/>
                                        </p:tgtEl>
                                      </p:cBhvr>
                                    </p:animEffect>
                                  </p:childTnLst>
                                </p:cTn>
                              </p:par>
                              <p:par>
                                <p:cTn id="31" presetID="10" presetClass="entr" presetSubtype="0" fill="hold" grpId="1" nodeType="withEffect">
                                  <p:stCondLst>
                                    <p:cond delay="0"/>
                                  </p:stCondLst>
                                  <p:childTnLst>
                                    <p:set>
                                      <p:cBhvr>
                                        <p:cTn id="32" dur="1" fill="hold">
                                          <p:stCondLst>
                                            <p:cond delay="0"/>
                                          </p:stCondLst>
                                        </p:cTn>
                                        <p:tgtEl>
                                          <p:spTgt spid="85"/>
                                        </p:tgtEl>
                                        <p:attrNameLst>
                                          <p:attrName>style.visibility</p:attrName>
                                        </p:attrNameLst>
                                      </p:cBhvr>
                                      <p:to>
                                        <p:strVal val="visible"/>
                                      </p:to>
                                    </p:set>
                                    <p:animEffect transition="in" filter="fade">
                                      <p:cBhvr>
                                        <p:cTn id="33" dur="500"/>
                                        <p:tgtEl>
                                          <p:spTgt spid="85"/>
                                        </p:tgtEl>
                                      </p:cBhvr>
                                    </p:animEffect>
                                  </p:childTnLst>
                                </p:cTn>
                              </p:par>
                              <p:par>
                                <p:cTn id="34" presetID="10" presetClass="entr" presetSubtype="0" fill="hold" grpId="1" nodeType="withEffect">
                                  <p:stCondLst>
                                    <p:cond delay="0"/>
                                  </p:stCondLst>
                                  <p:childTnLst>
                                    <p:set>
                                      <p:cBhvr>
                                        <p:cTn id="35" dur="1" fill="hold">
                                          <p:stCondLst>
                                            <p:cond delay="0"/>
                                          </p:stCondLst>
                                        </p:cTn>
                                        <p:tgtEl>
                                          <p:spTgt spid="86"/>
                                        </p:tgtEl>
                                        <p:attrNameLst>
                                          <p:attrName>style.visibility</p:attrName>
                                        </p:attrNameLst>
                                      </p:cBhvr>
                                      <p:to>
                                        <p:strVal val="visible"/>
                                      </p:to>
                                    </p:set>
                                    <p:animEffect transition="in" filter="fade">
                                      <p:cBhvr>
                                        <p:cTn id="36" dur="500"/>
                                        <p:tgtEl>
                                          <p:spTgt spid="86"/>
                                        </p:tgtEl>
                                      </p:cBhvr>
                                    </p:animEffect>
                                  </p:childTnLst>
                                </p:cTn>
                              </p:par>
                            </p:childTnLst>
                          </p:cTn>
                        </p:par>
                        <p:par>
                          <p:cTn id="37" fill="hold">
                            <p:stCondLst>
                              <p:cond delay="2700"/>
                            </p:stCondLst>
                            <p:childTnLst>
                              <p:par>
                                <p:cTn id="38" presetID="2" presetClass="entr" presetSubtype="6" fill="hold" grpId="0" nodeType="afterEffect">
                                  <p:stCondLst>
                                    <p:cond delay="0"/>
                                  </p:stCondLst>
                                  <p:childTnLst>
                                    <p:set>
                                      <p:cBhvr>
                                        <p:cTn id="39" dur="1" fill="hold">
                                          <p:stCondLst>
                                            <p:cond delay="0"/>
                                          </p:stCondLst>
                                        </p:cTn>
                                        <p:tgtEl>
                                          <p:spTgt spid="94"/>
                                        </p:tgtEl>
                                        <p:attrNameLst>
                                          <p:attrName>style.visibility</p:attrName>
                                        </p:attrNameLst>
                                      </p:cBhvr>
                                      <p:to>
                                        <p:strVal val="visible"/>
                                      </p:to>
                                    </p:set>
                                    <p:anim calcmode="lin" valueType="num">
                                      <p:cBhvr additive="base">
                                        <p:cTn id="40" dur="500" fill="hold"/>
                                        <p:tgtEl>
                                          <p:spTgt spid="94"/>
                                        </p:tgtEl>
                                        <p:attrNameLst>
                                          <p:attrName>ppt_x</p:attrName>
                                        </p:attrNameLst>
                                      </p:cBhvr>
                                      <p:tavLst>
                                        <p:tav tm="0">
                                          <p:val>
                                            <p:strVal val="1+#ppt_w/2"/>
                                          </p:val>
                                        </p:tav>
                                        <p:tav tm="100000">
                                          <p:val>
                                            <p:strVal val="#ppt_x"/>
                                          </p:val>
                                        </p:tav>
                                      </p:tavLst>
                                    </p:anim>
                                    <p:anim calcmode="lin" valueType="num">
                                      <p:cBhvr additive="base">
                                        <p:cTn id="41" dur="500" fill="hold"/>
                                        <p:tgtEl>
                                          <p:spTgt spid="94"/>
                                        </p:tgtEl>
                                        <p:attrNameLst>
                                          <p:attrName>ppt_y</p:attrName>
                                        </p:attrNameLst>
                                      </p:cBhvr>
                                      <p:tavLst>
                                        <p:tav tm="0">
                                          <p:val>
                                            <p:strVal val="1+#ppt_h/2"/>
                                          </p:val>
                                        </p:tav>
                                        <p:tav tm="100000">
                                          <p:val>
                                            <p:strVal val="#ppt_y"/>
                                          </p:val>
                                        </p:tav>
                                      </p:tavLst>
                                    </p:anim>
                                  </p:childTnLst>
                                </p:cTn>
                              </p:par>
                              <p:par>
                                <p:cTn id="42" presetID="2" presetClass="entr" presetSubtype="6" fill="hold" grpId="0" nodeType="withEffect">
                                  <p:stCondLst>
                                    <p:cond delay="100"/>
                                  </p:stCondLst>
                                  <p:childTnLst>
                                    <p:set>
                                      <p:cBhvr>
                                        <p:cTn id="43" dur="1" fill="hold">
                                          <p:stCondLst>
                                            <p:cond delay="0"/>
                                          </p:stCondLst>
                                        </p:cTn>
                                        <p:tgtEl>
                                          <p:spTgt spid="97"/>
                                        </p:tgtEl>
                                        <p:attrNameLst>
                                          <p:attrName>style.visibility</p:attrName>
                                        </p:attrNameLst>
                                      </p:cBhvr>
                                      <p:to>
                                        <p:strVal val="visible"/>
                                      </p:to>
                                    </p:set>
                                    <p:anim calcmode="lin" valueType="num">
                                      <p:cBhvr additive="base">
                                        <p:cTn id="44" dur="500" fill="hold"/>
                                        <p:tgtEl>
                                          <p:spTgt spid="97"/>
                                        </p:tgtEl>
                                        <p:attrNameLst>
                                          <p:attrName>ppt_x</p:attrName>
                                        </p:attrNameLst>
                                      </p:cBhvr>
                                      <p:tavLst>
                                        <p:tav tm="0">
                                          <p:val>
                                            <p:strVal val="1+#ppt_w/2"/>
                                          </p:val>
                                        </p:tav>
                                        <p:tav tm="100000">
                                          <p:val>
                                            <p:strVal val="#ppt_x"/>
                                          </p:val>
                                        </p:tav>
                                      </p:tavLst>
                                    </p:anim>
                                    <p:anim calcmode="lin" valueType="num">
                                      <p:cBhvr additive="base">
                                        <p:cTn id="45" dur="500" fill="hold"/>
                                        <p:tgtEl>
                                          <p:spTgt spid="97"/>
                                        </p:tgtEl>
                                        <p:attrNameLst>
                                          <p:attrName>ppt_y</p:attrName>
                                        </p:attrNameLst>
                                      </p:cBhvr>
                                      <p:tavLst>
                                        <p:tav tm="0">
                                          <p:val>
                                            <p:strVal val="1+#ppt_h/2"/>
                                          </p:val>
                                        </p:tav>
                                        <p:tav tm="100000">
                                          <p:val>
                                            <p:strVal val="#ppt_y"/>
                                          </p:val>
                                        </p:tav>
                                      </p:tavLst>
                                    </p:anim>
                                  </p:childTnLst>
                                </p:cTn>
                              </p:par>
                              <p:par>
                                <p:cTn id="46" presetID="2" presetClass="entr" presetSubtype="6" fill="hold" grpId="0" nodeType="withEffect">
                                  <p:stCondLst>
                                    <p:cond delay="200"/>
                                  </p:stCondLst>
                                  <p:childTnLst>
                                    <p:set>
                                      <p:cBhvr>
                                        <p:cTn id="47" dur="1" fill="hold">
                                          <p:stCondLst>
                                            <p:cond delay="0"/>
                                          </p:stCondLst>
                                        </p:cTn>
                                        <p:tgtEl>
                                          <p:spTgt spid="104"/>
                                        </p:tgtEl>
                                        <p:attrNameLst>
                                          <p:attrName>style.visibility</p:attrName>
                                        </p:attrNameLst>
                                      </p:cBhvr>
                                      <p:to>
                                        <p:strVal val="visible"/>
                                      </p:to>
                                    </p:set>
                                    <p:anim calcmode="lin" valueType="num">
                                      <p:cBhvr additive="base">
                                        <p:cTn id="48" dur="500" fill="hold"/>
                                        <p:tgtEl>
                                          <p:spTgt spid="104"/>
                                        </p:tgtEl>
                                        <p:attrNameLst>
                                          <p:attrName>ppt_x</p:attrName>
                                        </p:attrNameLst>
                                      </p:cBhvr>
                                      <p:tavLst>
                                        <p:tav tm="0">
                                          <p:val>
                                            <p:strVal val="1+#ppt_w/2"/>
                                          </p:val>
                                        </p:tav>
                                        <p:tav tm="100000">
                                          <p:val>
                                            <p:strVal val="#ppt_x"/>
                                          </p:val>
                                        </p:tav>
                                      </p:tavLst>
                                    </p:anim>
                                    <p:anim calcmode="lin" valueType="num">
                                      <p:cBhvr additive="base">
                                        <p:cTn id="49" dur="500" fill="hold"/>
                                        <p:tgtEl>
                                          <p:spTgt spid="104"/>
                                        </p:tgtEl>
                                        <p:attrNameLst>
                                          <p:attrName>ppt_y</p:attrName>
                                        </p:attrNameLst>
                                      </p:cBhvr>
                                      <p:tavLst>
                                        <p:tav tm="0">
                                          <p:val>
                                            <p:strVal val="1+#ppt_h/2"/>
                                          </p:val>
                                        </p:tav>
                                        <p:tav tm="100000">
                                          <p:val>
                                            <p:strVal val="#ppt_y"/>
                                          </p:val>
                                        </p:tav>
                                      </p:tavLst>
                                    </p:anim>
                                  </p:childTnLst>
                                </p:cTn>
                              </p:par>
                              <p:par>
                                <p:cTn id="50" presetID="2" presetClass="entr" presetSubtype="6" fill="hold" grpId="0" nodeType="withEffect">
                                  <p:stCondLst>
                                    <p:cond delay="300"/>
                                  </p:stCondLst>
                                  <p:childTnLst>
                                    <p:set>
                                      <p:cBhvr>
                                        <p:cTn id="51" dur="1" fill="hold">
                                          <p:stCondLst>
                                            <p:cond delay="0"/>
                                          </p:stCondLst>
                                        </p:cTn>
                                        <p:tgtEl>
                                          <p:spTgt spid="107"/>
                                        </p:tgtEl>
                                        <p:attrNameLst>
                                          <p:attrName>style.visibility</p:attrName>
                                        </p:attrNameLst>
                                      </p:cBhvr>
                                      <p:to>
                                        <p:strVal val="visible"/>
                                      </p:to>
                                    </p:set>
                                    <p:anim calcmode="lin" valueType="num">
                                      <p:cBhvr additive="base">
                                        <p:cTn id="52" dur="500" fill="hold"/>
                                        <p:tgtEl>
                                          <p:spTgt spid="107"/>
                                        </p:tgtEl>
                                        <p:attrNameLst>
                                          <p:attrName>ppt_x</p:attrName>
                                        </p:attrNameLst>
                                      </p:cBhvr>
                                      <p:tavLst>
                                        <p:tav tm="0">
                                          <p:val>
                                            <p:strVal val="1+#ppt_w/2"/>
                                          </p:val>
                                        </p:tav>
                                        <p:tav tm="100000">
                                          <p:val>
                                            <p:strVal val="#ppt_x"/>
                                          </p:val>
                                        </p:tav>
                                      </p:tavLst>
                                    </p:anim>
                                    <p:anim calcmode="lin" valueType="num">
                                      <p:cBhvr additive="base">
                                        <p:cTn id="53" dur="500" fill="hold"/>
                                        <p:tgtEl>
                                          <p:spTgt spid="107"/>
                                        </p:tgtEl>
                                        <p:attrNameLst>
                                          <p:attrName>ppt_y</p:attrName>
                                        </p:attrNameLst>
                                      </p:cBhvr>
                                      <p:tavLst>
                                        <p:tav tm="0">
                                          <p:val>
                                            <p:strVal val="1+#ppt_h/2"/>
                                          </p:val>
                                        </p:tav>
                                        <p:tav tm="100000">
                                          <p:val>
                                            <p:strVal val="#ppt_y"/>
                                          </p:val>
                                        </p:tav>
                                      </p:tavLst>
                                    </p:anim>
                                  </p:childTnLst>
                                </p:cTn>
                              </p:par>
                            </p:childTnLst>
                          </p:cTn>
                        </p:par>
                        <p:par>
                          <p:cTn id="54" fill="hold">
                            <p:stCondLst>
                              <p:cond delay="3500"/>
                            </p:stCondLst>
                            <p:childTnLst>
                              <p:par>
                                <p:cTn id="55" presetID="22" presetClass="entr" presetSubtype="4" fill="hold" grpId="0" nodeType="afterEffect">
                                  <p:stCondLst>
                                    <p:cond delay="0"/>
                                  </p:stCondLst>
                                  <p:childTnLst>
                                    <p:set>
                                      <p:cBhvr>
                                        <p:cTn id="56" dur="1" fill="hold">
                                          <p:stCondLst>
                                            <p:cond delay="0"/>
                                          </p:stCondLst>
                                        </p:cTn>
                                        <p:tgtEl>
                                          <p:spTgt spid="95"/>
                                        </p:tgtEl>
                                        <p:attrNameLst>
                                          <p:attrName>style.visibility</p:attrName>
                                        </p:attrNameLst>
                                      </p:cBhvr>
                                      <p:to>
                                        <p:strVal val="visible"/>
                                      </p:to>
                                    </p:set>
                                    <p:animEffect transition="in" filter="wipe(down)">
                                      <p:cBhvr>
                                        <p:cTn id="57" dur="300"/>
                                        <p:tgtEl>
                                          <p:spTgt spid="95"/>
                                        </p:tgtEl>
                                      </p:cBhvr>
                                    </p:animEffect>
                                  </p:childTnLst>
                                </p:cTn>
                              </p:par>
                            </p:childTnLst>
                          </p:cTn>
                        </p:par>
                        <p:par>
                          <p:cTn id="58" fill="hold">
                            <p:stCondLst>
                              <p:cond delay="3800"/>
                            </p:stCondLst>
                            <p:childTnLst>
                              <p:par>
                                <p:cTn id="59" presetID="22" presetClass="entr" presetSubtype="1" fill="hold" grpId="0" nodeType="afterEffect">
                                  <p:stCondLst>
                                    <p:cond delay="0"/>
                                  </p:stCondLst>
                                  <p:childTnLst>
                                    <p:set>
                                      <p:cBhvr>
                                        <p:cTn id="60" dur="1" fill="hold">
                                          <p:stCondLst>
                                            <p:cond delay="0"/>
                                          </p:stCondLst>
                                        </p:cTn>
                                        <p:tgtEl>
                                          <p:spTgt spid="96"/>
                                        </p:tgtEl>
                                        <p:attrNameLst>
                                          <p:attrName>style.visibility</p:attrName>
                                        </p:attrNameLst>
                                      </p:cBhvr>
                                      <p:to>
                                        <p:strVal val="visible"/>
                                      </p:to>
                                    </p:set>
                                    <p:animEffect transition="in" filter="wipe(up)">
                                      <p:cBhvr>
                                        <p:cTn id="61" dur="500"/>
                                        <p:tgtEl>
                                          <p:spTgt spid="96"/>
                                        </p:tgtEl>
                                      </p:cBhvr>
                                    </p:animEffect>
                                  </p:childTnLst>
                                </p:cTn>
                              </p:par>
                            </p:childTnLst>
                          </p:cTn>
                        </p:par>
                        <p:par>
                          <p:cTn id="62" fill="hold">
                            <p:stCondLst>
                              <p:cond delay="4300"/>
                            </p:stCondLst>
                            <p:childTnLst>
                              <p:par>
                                <p:cTn id="63" presetID="31" presetClass="entr" presetSubtype="0" fill="hold" grpId="0" nodeType="afterEffect">
                                  <p:stCondLst>
                                    <p:cond delay="0"/>
                                  </p:stCondLst>
                                  <p:childTnLst>
                                    <p:set>
                                      <p:cBhvr>
                                        <p:cTn id="64" dur="1" fill="hold">
                                          <p:stCondLst>
                                            <p:cond delay="0"/>
                                          </p:stCondLst>
                                        </p:cTn>
                                        <p:tgtEl>
                                          <p:spTgt spid="114"/>
                                        </p:tgtEl>
                                        <p:attrNameLst>
                                          <p:attrName>style.visibility</p:attrName>
                                        </p:attrNameLst>
                                      </p:cBhvr>
                                      <p:to>
                                        <p:strVal val="visible"/>
                                      </p:to>
                                    </p:set>
                                    <p:anim calcmode="lin" valueType="num">
                                      <p:cBhvr>
                                        <p:cTn id="65" dur="400" fill="hold"/>
                                        <p:tgtEl>
                                          <p:spTgt spid="114"/>
                                        </p:tgtEl>
                                        <p:attrNameLst>
                                          <p:attrName>ppt_w</p:attrName>
                                        </p:attrNameLst>
                                      </p:cBhvr>
                                      <p:tavLst>
                                        <p:tav tm="0">
                                          <p:val>
                                            <p:fltVal val="0"/>
                                          </p:val>
                                        </p:tav>
                                        <p:tav tm="100000">
                                          <p:val>
                                            <p:strVal val="#ppt_w"/>
                                          </p:val>
                                        </p:tav>
                                      </p:tavLst>
                                    </p:anim>
                                    <p:anim calcmode="lin" valueType="num">
                                      <p:cBhvr>
                                        <p:cTn id="66" dur="400" fill="hold"/>
                                        <p:tgtEl>
                                          <p:spTgt spid="114"/>
                                        </p:tgtEl>
                                        <p:attrNameLst>
                                          <p:attrName>ppt_h</p:attrName>
                                        </p:attrNameLst>
                                      </p:cBhvr>
                                      <p:tavLst>
                                        <p:tav tm="0">
                                          <p:val>
                                            <p:fltVal val="0"/>
                                          </p:val>
                                        </p:tav>
                                        <p:tav tm="100000">
                                          <p:val>
                                            <p:strVal val="#ppt_h"/>
                                          </p:val>
                                        </p:tav>
                                      </p:tavLst>
                                    </p:anim>
                                    <p:anim calcmode="lin" valueType="num">
                                      <p:cBhvr>
                                        <p:cTn id="67" dur="400" fill="hold"/>
                                        <p:tgtEl>
                                          <p:spTgt spid="114"/>
                                        </p:tgtEl>
                                        <p:attrNameLst>
                                          <p:attrName>style.rotation</p:attrName>
                                        </p:attrNameLst>
                                      </p:cBhvr>
                                      <p:tavLst>
                                        <p:tav tm="0">
                                          <p:val>
                                            <p:fltVal val="90"/>
                                          </p:val>
                                        </p:tav>
                                        <p:tav tm="100000">
                                          <p:val>
                                            <p:fltVal val="0"/>
                                          </p:val>
                                        </p:tav>
                                      </p:tavLst>
                                    </p:anim>
                                    <p:animEffect transition="in" filter="fade">
                                      <p:cBhvr>
                                        <p:cTn id="68" dur="400"/>
                                        <p:tgtEl>
                                          <p:spTgt spid="114"/>
                                        </p:tgtEl>
                                      </p:cBhvr>
                                    </p:animEffect>
                                  </p:childTnLst>
                                </p:cTn>
                              </p:par>
                            </p:childTnLst>
                          </p:cTn>
                        </p:par>
                        <p:par>
                          <p:cTn id="69" fill="hold">
                            <p:stCondLst>
                              <p:cond delay="4700"/>
                            </p:stCondLst>
                            <p:childTnLst>
                              <p:par>
                                <p:cTn id="70" presetID="22" presetClass="entr" presetSubtype="8" fill="hold" grpId="0" nodeType="afterEffect">
                                  <p:stCondLst>
                                    <p:cond delay="0"/>
                                  </p:stCondLst>
                                  <p:childTnLst>
                                    <p:set>
                                      <p:cBhvr>
                                        <p:cTn id="71" dur="1" fill="hold">
                                          <p:stCondLst>
                                            <p:cond delay="0"/>
                                          </p:stCondLst>
                                        </p:cTn>
                                        <p:tgtEl>
                                          <p:spTgt spid="113"/>
                                        </p:tgtEl>
                                        <p:attrNameLst>
                                          <p:attrName>style.visibility</p:attrName>
                                        </p:attrNameLst>
                                      </p:cBhvr>
                                      <p:to>
                                        <p:strVal val="visible"/>
                                      </p:to>
                                    </p:set>
                                    <p:animEffect transition="in" filter="wipe(left)">
                                      <p:cBhvr>
                                        <p:cTn id="72" dur="500"/>
                                        <p:tgtEl>
                                          <p:spTgt spid="113"/>
                                        </p:tgtEl>
                                      </p:cBhvr>
                                    </p:animEffect>
                                  </p:childTnLst>
                                </p:cTn>
                              </p:par>
                            </p:childTnLst>
                          </p:cTn>
                        </p:par>
                        <p:par>
                          <p:cTn id="73" fill="hold">
                            <p:stCondLst>
                              <p:cond delay="5200"/>
                            </p:stCondLst>
                            <p:childTnLst>
                              <p:par>
                                <p:cTn id="74" presetID="22" presetClass="entr" presetSubtype="4" fill="hold" grpId="0" nodeType="afterEffect">
                                  <p:stCondLst>
                                    <p:cond delay="0"/>
                                  </p:stCondLst>
                                  <p:childTnLst>
                                    <p:set>
                                      <p:cBhvr>
                                        <p:cTn id="75" dur="1" fill="hold">
                                          <p:stCondLst>
                                            <p:cond delay="0"/>
                                          </p:stCondLst>
                                        </p:cTn>
                                        <p:tgtEl>
                                          <p:spTgt spid="98"/>
                                        </p:tgtEl>
                                        <p:attrNameLst>
                                          <p:attrName>style.visibility</p:attrName>
                                        </p:attrNameLst>
                                      </p:cBhvr>
                                      <p:to>
                                        <p:strVal val="visible"/>
                                      </p:to>
                                    </p:set>
                                    <p:animEffect transition="in" filter="wipe(down)">
                                      <p:cBhvr>
                                        <p:cTn id="76" dur="300"/>
                                        <p:tgtEl>
                                          <p:spTgt spid="98"/>
                                        </p:tgtEl>
                                      </p:cBhvr>
                                    </p:animEffect>
                                  </p:childTnLst>
                                </p:cTn>
                              </p:par>
                            </p:childTnLst>
                          </p:cTn>
                        </p:par>
                        <p:par>
                          <p:cTn id="77" fill="hold">
                            <p:stCondLst>
                              <p:cond delay="5500"/>
                            </p:stCondLst>
                            <p:childTnLst>
                              <p:par>
                                <p:cTn id="78" presetID="22" presetClass="entr" presetSubtype="1" fill="hold" grpId="0" nodeType="afterEffect">
                                  <p:stCondLst>
                                    <p:cond delay="0"/>
                                  </p:stCondLst>
                                  <p:childTnLst>
                                    <p:set>
                                      <p:cBhvr>
                                        <p:cTn id="79" dur="1" fill="hold">
                                          <p:stCondLst>
                                            <p:cond delay="0"/>
                                          </p:stCondLst>
                                        </p:cTn>
                                        <p:tgtEl>
                                          <p:spTgt spid="103"/>
                                        </p:tgtEl>
                                        <p:attrNameLst>
                                          <p:attrName>style.visibility</p:attrName>
                                        </p:attrNameLst>
                                      </p:cBhvr>
                                      <p:to>
                                        <p:strVal val="visible"/>
                                      </p:to>
                                    </p:set>
                                    <p:animEffect transition="in" filter="wipe(up)">
                                      <p:cBhvr>
                                        <p:cTn id="80" dur="500"/>
                                        <p:tgtEl>
                                          <p:spTgt spid="103"/>
                                        </p:tgtEl>
                                      </p:cBhvr>
                                    </p:animEffect>
                                  </p:childTnLst>
                                </p:cTn>
                              </p:par>
                            </p:childTnLst>
                          </p:cTn>
                        </p:par>
                        <p:par>
                          <p:cTn id="81" fill="hold">
                            <p:stCondLst>
                              <p:cond delay="6000"/>
                            </p:stCondLst>
                            <p:childTnLst>
                              <p:par>
                                <p:cTn id="82" presetID="31" presetClass="entr" presetSubtype="0" fill="hold" grpId="0" nodeType="afterEffect">
                                  <p:stCondLst>
                                    <p:cond delay="0"/>
                                  </p:stCondLst>
                                  <p:childTnLst>
                                    <p:set>
                                      <p:cBhvr>
                                        <p:cTn id="83" dur="1" fill="hold">
                                          <p:stCondLst>
                                            <p:cond delay="0"/>
                                          </p:stCondLst>
                                        </p:cTn>
                                        <p:tgtEl>
                                          <p:spTgt spid="116"/>
                                        </p:tgtEl>
                                        <p:attrNameLst>
                                          <p:attrName>style.visibility</p:attrName>
                                        </p:attrNameLst>
                                      </p:cBhvr>
                                      <p:to>
                                        <p:strVal val="visible"/>
                                      </p:to>
                                    </p:set>
                                    <p:anim calcmode="lin" valueType="num">
                                      <p:cBhvr>
                                        <p:cTn id="84" dur="400" fill="hold"/>
                                        <p:tgtEl>
                                          <p:spTgt spid="116"/>
                                        </p:tgtEl>
                                        <p:attrNameLst>
                                          <p:attrName>ppt_w</p:attrName>
                                        </p:attrNameLst>
                                      </p:cBhvr>
                                      <p:tavLst>
                                        <p:tav tm="0">
                                          <p:val>
                                            <p:fltVal val="0"/>
                                          </p:val>
                                        </p:tav>
                                        <p:tav tm="100000">
                                          <p:val>
                                            <p:strVal val="#ppt_w"/>
                                          </p:val>
                                        </p:tav>
                                      </p:tavLst>
                                    </p:anim>
                                    <p:anim calcmode="lin" valueType="num">
                                      <p:cBhvr>
                                        <p:cTn id="85" dur="400" fill="hold"/>
                                        <p:tgtEl>
                                          <p:spTgt spid="116"/>
                                        </p:tgtEl>
                                        <p:attrNameLst>
                                          <p:attrName>ppt_h</p:attrName>
                                        </p:attrNameLst>
                                      </p:cBhvr>
                                      <p:tavLst>
                                        <p:tav tm="0">
                                          <p:val>
                                            <p:fltVal val="0"/>
                                          </p:val>
                                        </p:tav>
                                        <p:tav tm="100000">
                                          <p:val>
                                            <p:strVal val="#ppt_h"/>
                                          </p:val>
                                        </p:tav>
                                      </p:tavLst>
                                    </p:anim>
                                    <p:anim calcmode="lin" valueType="num">
                                      <p:cBhvr>
                                        <p:cTn id="86" dur="400" fill="hold"/>
                                        <p:tgtEl>
                                          <p:spTgt spid="116"/>
                                        </p:tgtEl>
                                        <p:attrNameLst>
                                          <p:attrName>style.rotation</p:attrName>
                                        </p:attrNameLst>
                                      </p:cBhvr>
                                      <p:tavLst>
                                        <p:tav tm="0">
                                          <p:val>
                                            <p:fltVal val="90"/>
                                          </p:val>
                                        </p:tav>
                                        <p:tav tm="100000">
                                          <p:val>
                                            <p:fltVal val="0"/>
                                          </p:val>
                                        </p:tav>
                                      </p:tavLst>
                                    </p:anim>
                                    <p:animEffect transition="in" filter="fade">
                                      <p:cBhvr>
                                        <p:cTn id="87" dur="400"/>
                                        <p:tgtEl>
                                          <p:spTgt spid="116"/>
                                        </p:tgtEl>
                                      </p:cBhvr>
                                    </p:animEffect>
                                  </p:childTnLst>
                                </p:cTn>
                              </p:par>
                            </p:childTnLst>
                          </p:cTn>
                        </p:par>
                        <p:par>
                          <p:cTn id="88" fill="hold">
                            <p:stCondLst>
                              <p:cond delay="6400"/>
                            </p:stCondLst>
                            <p:childTnLst>
                              <p:par>
                                <p:cTn id="89" presetID="22" presetClass="entr" presetSubtype="8" fill="hold" grpId="0" nodeType="afterEffect">
                                  <p:stCondLst>
                                    <p:cond delay="0"/>
                                  </p:stCondLst>
                                  <p:childTnLst>
                                    <p:set>
                                      <p:cBhvr>
                                        <p:cTn id="90" dur="1" fill="hold">
                                          <p:stCondLst>
                                            <p:cond delay="0"/>
                                          </p:stCondLst>
                                        </p:cTn>
                                        <p:tgtEl>
                                          <p:spTgt spid="115"/>
                                        </p:tgtEl>
                                        <p:attrNameLst>
                                          <p:attrName>style.visibility</p:attrName>
                                        </p:attrNameLst>
                                      </p:cBhvr>
                                      <p:to>
                                        <p:strVal val="visible"/>
                                      </p:to>
                                    </p:set>
                                    <p:animEffect transition="in" filter="wipe(left)">
                                      <p:cBhvr>
                                        <p:cTn id="91" dur="500"/>
                                        <p:tgtEl>
                                          <p:spTgt spid="115"/>
                                        </p:tgtEl>
                                      </p:cBhvr>
                                    </p:animEffect>
                                  </p:childTnLst>
                                </p:cTn>
                              </p:par>
                            </p:childTnLst>
                          </p:cTn>
                        </p:par>
                        <p:par>
                          <p:cTn id="92" fill="hold">
                            <p:stCondLst>
                              <p:cond delay="6900"/>
                            </p:stCondLst>
                            <p:childTnLst>
                              <p:par>
                                <p:cTn id="93" presetID="22" presetClass="entr" presetSubtype="4" fill="hold" grpId="0" nodeType="afterEffect">
                                  <p:stCondLst>
                                    <p:cond delay="0"/>
                                  </p:stCondLst>
                                  <p:childTnLst>
                                    <p:set>
                                      <p:cBhvr>
                                        <p:cTn id="94" dur="1" fill="hold">
                                          <p:stCondLst>
                                            <p:cond delay="0"/>
                                          </p:stCondLst>
                                        </p:cTn>
                                        <p:tgtEl>
                                          <p:spTgt spid="105"/>
                                        </p:tgtEl>
                                        <p:attrNameLst>
                                          <p:attrName>style.visibility</p:attrName>
                                        </p:attrNameLst>
                                      </p:cBhvr>
                                      <p:to>
                                        <p:strVal val="visible"/>
                                      </p:to>
                                    </p:set>
                                    <p:animEffect transition="in" filter="wipe(down)">
                                      <p:cBhvr>
                                        <p:cTn id="95" dur="300"/>
                                        <p:tgtEl>
                                          <p:spTgt spid="105"/>
                                        </p:tgtEl>
                                      </p:cBhvr>
                                    </p:animEffect>
                                  </p:childTnLst>
                                </p:cTn>
                              </p:par>
                            </p:childTnLst>
                          </p:cTn>
                        </p:par>
                        <p:par>
                          <p:cTn id="96" fill="hold">
                            <p:stCondLst>
                              <p:cond delay="7200"/>
                            </p:stCondLst>
                            <p:childTnLst>
                              <p:par>
                                <p:cTn id="97" presetID="22" presetClass="entr" presetSubtype="1" fill="hold" grpId="0" nodeType="afterEffect">
                                  <p:stCondLst>
                                    <p:cond delay="0"/>
                                  </p:stCondLst>
                                  <p:childTnLst>
                                    <p:set>
                                      <p:cBhvr>
                                        <p:cTn id="98" dur="1" fill="hold">
                                          <p:stCondLst>
                                            <p:cond delay="0"/>
                                          </p:stCondLst>
                                        </p:cTn>
                                        <p:tgtEl>
                                          <p:spTgt spid="106"/>
                                        </p:tgtEl>
                                        <p:attrNameLst>
                                          <p:attrName>style.visibility</p:attrName>
                                        </p:attrNameLst>
                                      </p:cBhvr>
                                      <p:to>
                                        <p:strVal val="visible"/>
                                      </p:to>
                                    </p:set>
                                    <p:animEffect transition="in" filter="wipe(up)">
                                      <p:cBhvr>
                                        <p:cTn id="99" dur="500"/>
                                        <p:tgtEl>
                                          <p:spTgt spid="106"/>
                                        </p:tgtEl>
                                      </p:cBhvr>
                                    </p:animEffect>
                                  </p:childTnLst>
                                </p:cTn>
                              </p:par>
                            </p:childTnLst>
                          </p:cTn>
                        </p:par>
                        <p:par>
                          <p:cTn id="100" fill="hold">
                            <p:stCondLst>
                              <p:cond delay="7700"/>
                            </p:stCondLst>
                            <p:childTnLst>
                              <p:par>
                                <p:cTn id="101" presetID="31" presetClass="entr" presetSubtype="0" fill="hold" grpId="0" nodeType="afterEffect">
                                  <p:stCondLst>
                                    <p:cond delay="0"/>
                                  </p:stCondLst>
                                  <p:childTnLst>
                                    <p:set>
                                      <p:cBhvr>
                                        <p:cTn id="102" dur="1" fill="hold">
                                          <p:stCondLst>
                                            <p:cond delay="0"/>
                                          </p:stCondLst>
                                        </p:cTn>
                                        <p:tgtEl>
                                          <p:spTgt spid="118"/>
                                        </p:tgtEl>
                                        <p:attrNameLst>
                                          <p:attrName>style.visibility</p:attrName>
                                        </p:attrNameLst>
                                      </p:cBhvr>
                                      <p:to>
                                        <p:strVal val="visible"/>
                                      </p:to>
                                    </p:set>
                                    <p:anim calcmode="lin" valueType="num">
                                      <p:cBhvr>
                                        <p:cTn id="103" dur="400" fill="hold"/>
                                        <p:tgtEl>
                                          <p:spTgt spid="118"/>
                                        </p:tgtEl>
                                        <p:attrNameLst>
                                          <p:attrName>ppt_w</p:attrName>
                                        </p:attrNameLst>
                                      </p:cBhvr>
                                      <p:tavLst>
                                        <p:tav tm="0">
                                          <p:val>
                                            <p:fltVal val="0"/>
                                          </p:val>
                                        </p:tav>
                                        <p:tav tm="100000">
                                          <p:val>
                                            <p:strVal val="#ppt_w"/>
                                          </p:val>
                                        </p:tav>
                                      </p:tavLst>
                                    </p:anim>
                                    <p:anim calcmode="lin" valueType="num">
                                      <p:cBhvr>
                                        <p:cTn id="104" dur="400" fill="hold"/>
                                        <p:tgtEl>
                                          <p:spTgt spid="118"/>
                                        </p:tgtEl>
                                        <p:attrNameLst>
                                          <p:attrName>ppt_h</p:attrName>
                                        </p:attrNameLst>
                                      </p:cBhvr>
                                      <p:tavLst>
                                        <p:tav tm="0">
                                          <p:val>
                                            <p:fltVal val="0"/>
                                          </p:val>
                                        </p:tav>
                                        <p:tav tm="100000">
                                          <p:val>
                                            <p:strVal val="#ppt_h"/>
                                          </p:val>
                                        </p:tav>
                                      </p:tavLst>
                                    </p:anim>
                                    <p:anim calcmode="lin" valueType="num">
                                      <p:cBhvr>
                                        <p:cTn id="105" dur="400" fill="hold"/>
                                        <p:tgtEl>
                                          <p:spTgt spid="118"/>
                                        </p:tgtEl>
                                        <p:attrNameLst>
                                          <p:attrName>style.rotation</p:attrName>
                                        </p:attrNameLst>
                                      </p:cBhvr>
                                      <p:tavLst>
                                        <p:tav tm="0">
                                          <p:val>
                                            <p:fltVal val="90"/>
                                          </p:val>
                                        </p:tav>
                                        <p:tav tm="100000">
                                          <p:val>
                                            <p:fltVal val="0"/>
                                          </p:val>
                                        </p:tav>
                                      </p:tavLst>
                                    </p:anim>
                                    <p:animEffect transition="in" filter="fade">
                                      <p:cBhvr>
                                        <p:cTn id="106" dur="400"/>
                                        <p:tgtEl>
                                          <p:spTgt spid="118"/>
                                        </p:tgtEl>
                                      </p:cBhvr>
                                    </p:animEffect>
                                  </p:childTnLst>
                                </p:cTn>
                              </p:par>
                            </p:childTnLst>
                          </p:cTn>
                        </p:par>
                        <p:par>
                          <p:cTn id="107" fill="hold">
                            <p:stCondLst>
                              <p:cond delay="8100"/>
                            </p:stCondLst>
                            <p:childTnLst>
                              <p:par>
                                <p:cTn id="108" presetID="22" presetClass="entr" presetSubtype="8" fill="hold" grpId="0" nodeType="afterEffect">
                                  <p:stCondLst>
                                    <p:cond delay="0"/>
                                  </p:stCondLst>
                                  <p:childTnLst>
                                    <p:set>
                                      <p:cBhvr>
                                        <p:cTn id="109" dur="1" fill="hold">
                                          <p:stCondLst>
                                            <p:cond delay="0"/>
                                          </p:stCondLst>
                                        </p:cTn>
                                        <p:tgtEl>
                                          <p:spTgt spid="117"/>
                                        </p:tgtEl>
                                        <p:attrNameLst>
                                          <p:attrName>style.visibility</p:attrName>
                                        </p:attrNameLst>
                                      </p:cBhvr>
                                      <p:to>
                                        <p:strVal val="visible"/>
                                      </p:to>
                                    </p:set>
                                    <p:animEffect transition="in" filter="wipe(left)">
                                      <p:cBhvr>
                                        <p:cTn id="110" dur="500"/>
                                        <p:tgtEl>
                                          <p:spTgt spid="117"/>
                                        </p:tgtEl>
                                      </p:cBhvr>
                                    </p:animEffect>
                                  </p:childTnLst>
                                </p:cTn>
                              </p:par>
                            </p:childTnLst>
                          </p:cTn>
                        </p:par>
                        <p:par>
                          <p:cTn id="111" fill="hold">
                            <p:stCondLst>
                              <p:cond delay="8600"/>
                            </p:stCondLst>
                            <p:childTnLst>
                              <p:par>
                                <p:cTn id="112" presetID="22" presetClass="entr" presetSubtype="4" fill="hold" grpId="0" nodeType="afterEffect">
                                  <p:stCondLst>
                                    <p:cond delay="0"/>
                                  </p:stCondLst>
                                  <p:childTnLst>
                                    <p:set>
                                      <p:cBhvr>
                                        <p:cTn id="113" dur="1" fill="hold">
                                          <p:stCondLst>
                                            <p:cond delay="0"/>
                                          </p:stCondLst>
                                        </p:cTn>
                                        <p:tgtEl>
                                          <p:spTgt spid="108"/>
                                        </p:tgtEl>
                                        <p:attrNameLst>
                                          <p:attrName>style.visibility</p:attrName>
                                        </p:attrNameLst>
                                      </p:cBhvr>
                                      <p:to>
                                        <p:strVal val="visible"/>
                                      </p:to>
                                    </p:set>
                                    <p:animEffect transition="in" filter="wipe(down)">
                                      <p:cBhvr>
                                        <p:cTn id="114" dur="300"/>
                                        <p:tgtEl>
                                          <p:spTgt spid="108"/>
                                        </p:tgtEl>
                                      </p:cBhvr>
                                    </p:animEffect>
                                  </p:childTnLst>
                                </p:cTn>
                              </p:par>
                            </p:childTnLst>
                          </p:cTn>
                        </p:par>
                        <p:par>
                          <p:cTn id="115" fill="hold">
                            <p:stCondLst>
                              <p:cond delay="8900"/>
                            </p:stCondLst>
                            <p:childTnLst>
                              <p:par>
                                <p:cTn id="116" presetID="22" presetClass="entr" presetSubtype="1" fill="hold" grpId="0" nodeType="afterEffect">
                                  <p:stCondLst>
                                    <p:cond delay="0"/>
                                  </p:stCondLst>
                                  <p:childTnLst>
                                    <p:set>
                                      <p:cBhvr>
                                        <p:cTn id="117" dur="1" fill="hold">
                                          <p:stCondLst>
                                            <p:cond delay="0"/>
                                          </p:stCondLst>
                                        </p:cTn>
                                        <p:tgtEl>
                                          <p:spTgt spid="109"/>
                                        </p:tgtEl>
                                        <p:attrNameLst>
                                          <p:attrName>style.visibility</p:attrName>
                                        </p:attrNameLst>
                                      </p:cBhvr>
                                      <p:to>
                                        <p:strVal val="visible"/>
                                      </p:to>
                                    </p:set>
                                    <p:animEffect transition="in" filter="wipe(up)">
                                      <p:cBhvr>
                                        <p:cTn id="118" dur="500"/>
                                        <p:tgtEl>
                                          <p:spTgt spid="109"/>
                                        </p:tgtEl>
                                      </p:cBhvr>
                                    </p:animEffect>
                                  </p:childTnLst>
                                </p:cTn>
                              </p:par>
                            </p:childTnLst>
                          </p:cTn>
                        </p:par>
                        <p:par>
                          <p:cTn id="119" fill="hold">
                            <p:stCondLst>
                              <p:cond delay="9400"/>
                            </p:stCondLst>
                            <p:childTnLst>
                              <p:par>
                                <p:cTn id="120" presetID="31" presetClass="entr" presetSubtype="0" fill="hold" grpId="0" nodeType="afterEffect">
                                  <p:stCondLst>
                                    <p:cond delay="0"/>
                                  </p:stCondLst>
                                  <p:childTnLst>
                                    <p:set>
                                      <p:cBhvr>
                                        <p:cTn id="121" dur="1" fill="hold">
                                          <p:stCondLst>
                                            <p:cond delay="0"/>
                                          </p:stCondLst>
                                        </p:cTn>
                                        <p:tgtEl>
                                          <p:spTgt spid="120"/>
                                        </p:tgtEl>
                                        <p:attrNameLst>
                                          <p:attrName>style.visibility</p:attrName>
                                        </p:attrNameLst>
                                      </p:cBhvr>
                                      <p:to>
                                        <p:strVal val="visible"/>
                                      </p:to>
                                    </p:set>
                                    <p:anim calcmode="lin" valueType="num">
                                      <p:cBhvr>
                                        <p:cTn id="122" dur="400" fill="hold"/>
                                        <p:tgtEl>
                                          <p:spTgt spid="120"/>
                                        </p:tgtEl>
                                        <p:attrNameLst>
                                          <p:attrName>ppt_w</p:attrName>
                                        </p:attrNameLst>
                                      </p:cBhvr>
                                      <p:tavLst>
                                        <p:tav tm="0">
                                          <p:val>
                                            <p:fltVal val="0"/>
                                          </p:val>
                                        </p:tav>
                                        <p:tav tm="100000">
                                          <p:val>
                                            <p:strVal val="#ppt_w"/>
                                          </p:val>
                                        </p:tav>
                                      </p:tavLst>
                                    </p:anim>
                                    <p:anim calcmode="lin" valueType="num">
                                      <p:cBhvr>
                                        <p:cTn id="123" dur="400" fill="hold"/>
                                        <p:tgtEl>
                                          <p:spTgt spid="120"/>
                                        </p:tgtEl>
                                        <p:attrNameLst>
                                          <p:attrName>ppt_h</p:attrName>
                                        </p:attrNameLst>
                                      </p:cBhvr>
                                      <p:tavLst>
                                        <p:tav tm="0">
                                          <p:val>
                                            <p:fltVal val="0"/>
                                          </p:val>
                                        </p:tav>
                                        <p:tav tm="100000">
                                          <p:val>
                                            <p:strVal val="#ppt_h"/>
                                          </p:val>
                                        </p:tav>
                                      </p:tavLst>
                                    </p:anim>
                                    <p:anim calcmode="lin" valueType="num">
                                      <p:cBhvr>
                                        <p:cTn id="124" dur="400" fill="hold"/>
                                        <p:tgtEl>
                                          <p:spTgt spid="120"/>
                                        </p:tgtEl>
                                        <p:attrNameLst>
                                          <p:attrName>style.rotation</p:attrName>
                                        </p:attrNameLst>
                                      </p:cBhvr>
                                      <p:tavLst>
                                        <p:tav tm="0">
                                          <p:val>
                                            <p:fltVal val="90"/>
                                          </p:val>
                                        </p:tav>
                                        <p:tav tm="100000">
                                          <p:val>
                                            <p:fltVal val="0"/>
                                          </p:val>
                                        </p:tav>
                                      </p:tavLst>
                                    </p:anim>
                                    <p:animEffect transition="in" filter="fade">
                                      <p:cBhvr>
                                        <p:cTn id="125" dur="400"/>
                                        <p:tgtEl>
                                          <p:spTgt spid="120"/>
                                        </p:tgtEl>
                                      </p:cBhvr>
                                    </p:animEffect>
                                  </p:childTnLst>
                                </p:cTn>
                              </p:par>
                            </p:childTnLst>
                          </p:cTn>
                        </p:par>
                        <p:par>
                          <p:cTn id="126" fill="hold">
                            <p:stCondLst>
                              <p:cond delay="9800"/>
                            </p:stCondLst>
                            <p:childTnLst>
                              <p:par>
                                <p:cTn id="127" presetID="22" presetClass="entr" presetSubtype="8" fill="hold" grpId="0" nodeType="afterEffect">
                                  <p:stCondLst>
                                    <p:cond delay="0"/>
                                  </p:stCondLst>
                                  <p:childTnLst>
                                    <p:set>
                                      <p:cBhvr>
                                        <p:cTn id="128" dur="1" fill="hold">
                                          <p:stCondLst>
                                            <p:cond delay="0"/>
                                          </p:stCondLst>
                                        </p:cTn>
                                        <p:tgtEl>
                                          <p:spTgt spid="119"/>
                                        </p:tgtEl>
                                        <p:attrNameLst>
                                          <p:attrName>style.visibility</p:attrName>
                                        </p:attrNameLst>
                                      </p:cBhvr>
                                      <p:to>
                                        <p:strVal val="visible"/>
                                      </p:to>
                                    </p:set>
                                    <p:animEffect transition="in" filter="wipe(left)">
                                      <p:cBhvr>
                                        <p:cTn id="129" dur="500"/>
                                        <p:tgtEl>
                                          <p:spTgt spid="119"/>
                                        </p:tgtEl>
                                      </p:cBhvr>
                                    </p:animEffect>
                                  </p:childTnLst>
                                </p:cTn>
                              </p:par>
                              <p:par>
                                <p:cTn id="130" presetID="2" presetClass="entr" presetSubtype="6" fill="hold" grpId="0" nodeType="withEffect">
                                  <p:stCondLst>
                                    <p:cond delay="400"/>
                                  </p:stCondLst>
                                  <p:childTnLst>
                                    <p:set>
                                      <p:cBhvr>
                                        <p:cTn id="131" dur="1" fill="hold">
                                          <p:stCondLst>
                                            <p:cond delay="0"/>
                                          </p:stCondLst>
                                        </p:cTn>
                                        <p:tgtEl>
                                          <p:spTgt spid="32"/>
                                        </p:tgtEl>
                                        <p:attrNameLst>
                                          <p:attrName>style.visibility</p:attrName>
                                        </p:attrNameLst>
                                      </p:cBhvr>
                                      <p:to>
                                        <p:strVal val="visible"/>
                                      </p:to>
                                    </p:set>
                                    <p:anim calcmode="lin" valueType="num">
                                      <p:cBhvr additive="base">
                                        <p:cTn id="132" dur="500" fill="hold"/>
                                        <p:tgtEl>
                                          <p:spTgt spid="32"/>
                                        </p:tgtEl>
                                        <p:attrNameLst>
                                          <p:attrName>ppt_x</p:attrName>
                                        </p:attrNameLst>
                                      </p:cBhvr>
                                      <p:tavLst>
                                        <p:tav tm="0">
                                          <p:val>
                                            <p:strVal val="1+#ppt_w/2"/>
                                          </p:val>
                                        </p:tav>
                                        <p:tav tm="100000">
                                          <p:val>
                                            <p:strVal val="#ppt_x"/>
                                          </p:val>
                                        </p:tav>
                                      </p:tavLst>
                                    </p:anim>
                                    <p:anim calcmode="lin" valueType="num">
                                      <p:cBhvr additive="base">
                                        <p:cTn id="133" dur="500" fill="hold"/>
                                        <p:tgtEl>
                                          <p:spTgt spid="32"/>
                                        </p:tgtEl>
                                        <p:attrNameLst>
                                          <p:attrName>ppt_y</p:attrName>
                                        </p:attrNameLst>
                                      </p:cBhvr>
                                      <p:tavLst>
                                        <p:tav tm="0">
                                          <p:val>
                                            <p:strVal val="1+#ppt_h/2"/>
                                          </p:val>
                                        </p:tav>
                                        <p:tav tm="100000">
                                          <p:val>
                                            <p:strVal val="#ppt_y"/>
                                          </p:val>
                                        </p:tav>
                                      </p:tavLst>
                                    </p:anim>
                                  </p:childTnLst>
                                </p:cTn>
                              </p:par>
                            </p:childTnLst>
                          </p:cTn>
                        </p:par>
                        <p:par>
                          <p:cTn id="134" fill="hold">
                            <p:stCondLst>
                              <p:cond delay="10700"/>
                            </p:stCondLst>
                            <p:childTnLst>
                              <p:par>
                                <p:cTn id="135" presetID="22" presetClass="entr" presetSubtype="4" fill="hold" grpId="0" nodeType="afterEffect">
                                  <p:stCondLst>
                                    <p:cond delay="0"/>
                                  </p:stCondLst>
                                  <p:childTnLst>
                                    <p:set>
                                      <p:cBhvr>
                                        <p:cTn id="136" dur="1" fill="hold">
                                          <p:stCondLst>
                                            <p:cond delay="0"/>
                                          </p:stCondLst>
                                        </p:cTn>
                                        <p:tgtEl>
                                          <p:spTgt spid="33"/>
                                        </p:tgtEl>
                                        <p:attrNameLst>
                                          <p:attrName>style.visibility</p:attrName>
                                        </p:attrNameLst>
                                      </p:cBhvr>
                                      <p:to>
                                        <p:strVal val="visible"/>
                                      </p:to>
                                    </p:set>
                                    <p:animEffect transition="in" filter="wipe(down)">
                                      <p:cBhvr>
                                        <p:cTn id="137" dur="300"/>
                                        <p:tgtEl>
                                          <p:spTgt spid="33"/>
                                        </p:tgtEl>
                                      </p:cBhvr>
                                    </p:animEffect>
                                  </p:childTnLst>
                                </p:cTn>
                              </p:par>
                            </p:childTnLst>
                          </p:cTn>
                        </p:par>
                        <p:par>
                          <p:cTn id="138" fill="hold">
                            <p:stCondLst>
                              <p:cond delay="11000"/>
                            </p:stCondLst>
                            <p:childTnLst>
                              <p:par>
                                <p:cTn id="139" presetID="22" presetClass="entr" presetSubtype="1" fill="hold" grpId="0" nodeType="afterEffect">
                                  <p:stCondLst>
                                    <p:cond delay="0"/>
                                  </p:stCondLst>
                                  <p:childTnLst>
                                    <p:set>
                                      <p:cBhvr>
                                        <p:cTn id="140" dur="1" fill="hold">
                                          <p:stCondLst>
                                            <p:cond delay="0"/>
                                          </p:stCondLst>
                                        </p:cTn>
                                        <p:tgtEl>
                                          <p:spTgt spid="34"/>
                                        </p:tgtEl>
                                        <p:attrNameLst>
                                          <p:attrName>style.visibility</p:attrName>
                                        </p:attrNameLst>
                                      </p:cBhvr>
                                      <p:to>
                                        <p:strVal val="visible"/>
                                      </p:to>
                                    </p:set>
                                    <p:animEffect transition="in" filter="wipe(up)">
                                      <p:cBhvr>
                                        <p:cTn id="141" dur="500"/>
                                        <p:tgtEl>
                                          <p:spTgt spid="34"/>
                                        </p:tgtEl>
                                      </p:cBhvr>
                                    </p:animEffect>
                                  </p:childTnLst>
                                </p:cTn>
                              </p:par>
                            </p:childTnLst>
                          </p:cTn>
                        </p:par>
                        <p:par>
                          <p:cTn id="142" fill="hold">
                            <p:stCondLst>
                              <p:cond delay="11500"/>
                            </p:stCondLst>
                            <p:childTnLst>
                              <p:par>
                                <p:cTn id="143" presetID="31" presetClass="entr" presetSubtype="0" fill="hold" grpId="0" nodeType="afterEffect">
                                  <p:stCondLst>
                                    <p:cond delay="0"/>
                                  </p:stCondLst>
                                  <p:childTnLst>
                                    <p:set>
                                      <p:cBhvr>
                                        <p:cTn id="144" dur="1" fill="hold">
                                          <p:stCondLst>
                                            <p:cond delay="0"/>
                                          </p:stCondLst>
                                        </p:cTn>
                                        <p:tgtEl>
                                          <p:spTgt spid="36"/>
                                        </p:tgtEl>
                                        <p:attrNameLst>
                                          <p:attrName>style.visibility</p:attrName>
                                        </p:attrNameLst>
                                      </p:cBhvr>
                                      <p:to>
                                        <p:strVal val="visible"/>
                                      </p:to>
                                    </p:set>
                                    <p:anim calcmode="lin" valueType="num">
                                      <p:cBhvr>
                                        <p:cTn id="145" dur="400" fill="hold"/>
                                        <p:tgtEl>
                                          <p:spTgt spid="36"/>
                                        </p:tgtEl>
                                        <p:attrNameLst>
                                          <p:attrName>ppt_w</p:attrName>
                                        </p:attrNameLst>
                                      </p:cBhvr>
                                      <p:tavLst>
                                        <p:tav tm="0">
                                          <p:val>
                                            <p:fltVal val="0"/>
                                          </p:val>
                                        </p:tav>
                                        <p:tav tm="100000">
                                          <p:val>
                                            <p:strVal val="#ppt_w"/>
                                          </p:val>
                                        </p:tav>
                                      </p:tavLst>
                                    </p:anim>
                                    <p:anim calcmode="lin" valueType="num">
                                      <p:cBhvr>
                                        <p:cTn id="146" dur="400" fill="hold"/>
                                        <p:tgtEl>
                                          <p:spTgt spid="36"/>
                                        </p:tgtEl>
                                        <p:attrNameLst>
                                          <p:attrName>ppt_h</p:attrName>
                                        </p:attrNameLst>
                                      </p:cBhvr>
                                      <p:tavLst>
                                        <p:tav tm="0">
                                          <p:val>
                                            <p:fltVal val="0"/>
                                          </p:val>
                                        </p:tav>
                                        <p:tav tm="100000">
                                          <p:val>
                                            <p:strVal val="#ppt_h"/>
                                          </p:val>
                                        </p:tav>
                                      </p:tavLst>
                                    </p:anim>
                                    <p:anim calcmode="lin" valueType="num">
                                      <p:cBhvr>
                                        <p:cTn id="147" dur="400" fill="hold"/>
                                        <p:tgtEl>
                                          <p:spTgt spid="36"/>
                                        </p:tgtEl>
                                        <p:attrNameLst>
                                          <p:attrName>style.rotation</p:attrName>
                                        </p:attrNameLst>
                                      </p:cBhvr>
                                      <p:tavLst>
                                        <p:tav tm="0">
                                          <p:val>
                                            <p:fltVal val="90"/>
                                          </p:val>
                                        </p:tav>
                                        <p:tav tm="100000">
                                          <p:val>
                                            <p:fltVal val="0"/>
                                          </p:val>
                                        </p:tav>
                                      </p:tavLst>
                                    </p:anim>
                                    <p:animEffect transition="in" filter="fade">
                                      <p:cBhvr>
                                        <p:cTn id="148" dur="400"/>
                                        <p:tgtEl>
                                          <p:spTgt spid="36"/>
                                        </p:tgtEl>
                                      </p:cBhvr>
                                    </p:animEffect>
                                  </p:childTnLst>
                                </p:cTn>
                              </p:par>
                            </p:childTnLst>
                          </p:cTn>
                        </p:par>
                        <p:par>
                          <p:cTn id="149" fill="hold">
                            <p:stCondLst>
                              <p:cond delay="11900"/>
                            </p:stCondLst>
                            <p:childTnLst>
                              <p:par>
                                <p:cTn id="150" presetID="22" presetClass="entr" presetSubtype="8" fill="hold" grpId="0" nodeType="afterEffect">
                                  <p:stCondLst>
                                    <p:cond delay="0"/>
                                  </p:stCondLst>
                                  <p:childTnLst>
                                    <p:set>
                                      <p:cBhvr>
                                        <p:cTn id="151" dur="1" fill="hold">
                                          <p:stCondLst>
                                            <p:cond delay="0"/>
                                          </p:stCondLst>
                                        </p:cTn>
                                        <p:tgtEl>
                                          <p:spTgt spid="35"/>
                                        </p:tgtEl>
                                        <p:attrNameLst>
                                          <p:attrName>style.visibility</p:attrName>
                                        </p:attrNameLst>
                                      </p:cBhvr>
                                      <p:to>
                                        <p:strVal val="visible"/>
                                      </p:to>
                                    </p:set>
                                    <p:animEffect transition="in" filter="wipe(left)">
                                      <p:cBhvr>
                                        <p:cTn id="152" dur="500"/>
                                        <p:tgtEl>
                                          <p:spTgt spid="35"/>
                                        </p:tgtEl>
                                      </p:cBhvr>
                                    </p:animEffect>
                                  </p:childTnLst>
                                </p:cTn>
                              </p:par>
                              <p:par>
                                <p:cTn id="153" presetID="2" presetClass="entr" presetSubtype="6" fill="hold" grpId="0" nodeType="withEffect">
                                  <p:stCondLst>
                                    <p:cond delay="400"/>
                                  </p:stCondLst>
                                  <p:childTnLst>
                                    <p:set>
                                      <p:cBhvr>
                                        <p:cTn id="154" dur="1" fill="hold">
                                          <p:stCondLst>
                                            <p:cond delay="0"/>
                                          </p:stCondLst>
                                        </p:cTn>
                                        <p:tgtEl>
                                          <p:spTgt spid="42"/>
                                        </p:tgtEl>
                                        <p:attrNameLst>
                                          <p:attrName>style.visibility</p:attrName>
                                        </p:attrNameLst>
                                      </p:cBhvr>
                                      <p:to>
                                        <p:strVal val="visible"/>
                                      </p:to>
                                    </p:set>
                                    <p:anim calcmode="lin" valueType="num">
                                      <p:cBhvr additive="base">
                                        <p:cTn id="155" dur="500" fill="hold"/>
                                        <p:tgtEl>
                                          <p:spTgt spid="42"/>
                                        </p:tgtEl>
                                        <p:attrNameLst>
                                          <p:attrName>ppt_x</p:attrName>
                                        </p:attrNameLst>
                                      </p:cBhvr>
                                      <p:tavLst>
                                        <p:tav tm="0">
                                          <p:val>
                                            <p:strVal val="1+#ppt_w/2"/>
                                          </p:val>
                                        </p:tav>
                                        <p:tav tm="100000">
                                          <p:val>
                                            <p:strVal val="#ppt_x"/>
                                          </p:val>
                                        </p:tav>
                                      </p:tavLst>
                                    </p:anim>
                                    <p:anim calcmode="lin" valueType="num">
                                      <p:cBhvr additive="base">
                                        <p:cTn id="156" dur="500" fill="hold"/>
                                        <p:tgtEl>
                                          <p:spTgt spid="42"/>
                                        </p:tgtEl>
                                        <p:attrNameLst>
                                          <p:attrName>ppt_y</p:attrName>
                                        </p:attrNameLst>
                                      </p:cBhvr>
                                      <p:tavLst>
                                        <p:tav tm="0">
                                          <p:val>
                                            <p:strVal val="1+#ppt_h/2"/>
                                          </p:val>
                                        </p:tav>
                                        <p:tav tm="100000">
                                          <p:val>
                                            <p:strVal val="#ppt_y"/>
                                          </p:val>
                                        </p:tav>
                                      </p:tavLst>
                                    </p:anim>
                                  </p:childTnLst>
                                </p:cTn>
                              </p:par>
                            </p:childTnLst>
                          </p:cTn>
                        </p:par>
                        <p:par>
                          <p:cTn id="157" fill="hold">
                            <p:stCondLst>
                              <p:cond delay="12800"/>
                            </p:stCondLst>
                            <p:childTnLst>
                              <p:par>
                                <p:cTn id="158" presetID="22" presetClass="entr" presetSubtype="4" fill="hold" grpId="0" nodeType="afterEffect">
                                  <p:stCondLst>
                                    <p:cond delay="0"/>
                                  </p:stCondLst>
                                  <p:childTnLst>
                                    <p:set>
                                      <p:cBhvr>
                                        <p:cTn id="159" dur="1" fill="hold">
                                          <p:stCondLst>
                                            <p:cond delay="0"/>
                                          </p:stCondLst>
                                        </p:cTn>
                                        <p:tgtEl>
                                          <p:spTgt spid="43"/>
                                        </p:tgtEl>
                                        <p:attrNameLst>
                                          <p:attrName>style.visibility</p:attrName>
                                        </p:attrNameLst>
                                      </p:cBhvr>
                                      <p:to>
                                        <p:strVal val="visible"/>
                                      </p:to>
                                    </p:set>
                                    <p:animEffect transition="in" filter="wipe(down)">
                                      <p:cBhvr>
                                        <p:cTn id="160" dur="300"/>
                                        <p:tgtEl>
                                          <p:spTgt spid="43"/>
                                        </p:tgtEl>
                                      </p:cBhvr>
                                    </p:animEffect>
                                  </p:childTnLst>
                                </p:cTn>
                              </p:par>
                            </p:childTnLst>
                          </p:cTn>
                        </p:par>
                        <p:par>
                          <p:cTn id="161" fill="hold">
                            <p:stCondLst>
                              <p:cond delay="13100"/>
                            </p:stCondLst>
                            <p:childTnLst>
                              <p:par>
                                <p:cTn id="162" presetID="22" presetClass="entr" presetSubtype="1" fill="hold" grpId="0" nodeType="afterEffect">
                                  <p:stCondLst>
                                    <p:cond delay="0"/>
                                  </p:stCondLst>
                                  <p:childTnLst>
                                    <p:set>
                                      <p:cBhvr>
                                        <p:cTn id="163" dur="1" fill="hold">
                                          <p:stCondLst>
                                            <p:cond delay="0"/>
                                          </p:stCondLst>
                                        </p:cTn>
                                        <p:tgtEl>
                                          <p:spTgt spid="44"/>
                                        </p:tgtEl>
                                        <p:attrNameLst>
                                          <p:attrName>style.visibility</p:attrName>
                                        </p:attrNameLst>
                                      </p:cBhvr>
                                      <p:to>
                                        <p:strVal val="visible"/>
                                      </p:to>
                                    </p:set>
                                    <p:animEffect transition="in" filter="wipe(up)">
                                      <p:cBhvr>
                                        <p:cTn id="164" dur="500"/>
                                        <p:tgtEl>
                                          <p:spTgt spid="44"/>
                                        </p:tgtEl>
                                      </p:cBhvr>
                                    </p:animEffect>
                                  </p:childTnLst>
                                </p:cTn>
                              </p:par>
                            </p:childTnLst>
                          </p:cTn>
                        </p:par>
                        <p:par>
                          <p:cTn id="165" fill="hold">
                            <p:stCondLst>
                              <p:cond delay="13600"/>
                            </p:stCondLst>
                            <p:childTnLst>
                              <p:par>
                                <p:cTn id="166" presetID="31" presetClass="entr" presetSubtype="0" fill="hold" grpId="0" nodeType="afterEffect">
                                  <p:stCondLst>
                                    <p:cond delay="0"/>
                                  </p:stCondLst>
                                  <p:childTnLst>
                                    <p:set>
                                      <p:cBhvr>
                                        <p:cTn id="167" dur="1" fill="hold">
                                          <p:stCondLst>
                                            <p:cond delay="0"/>
                                          </p:stCondLst>
                                        </p:cTn>
                                        <p:tgtEl>
                                          <p:spTgt spid="46"/>
                                        </p:tgtEl>
                                        <p:attrNameLst>
                                          <p:attrName>style.visibility</p:attrName>
                                        </p:attrNameLst>
                                      </p:cBhvr>
                                      <p:to>
                                        <p:strVal val="visible"/>
                                      </p:to>
                                    </p:set>
                                    <p:anim calcmode="lin" valueType="num">
                                      <p:cBhvr>
                                        <p:cTn id="168" dur="400" fill="hold"/>
                                        <p:tgtEl>
                                          <p:spTgt spid="46"/>
                                        </p:tgtEl>
                                        <p:attrNameLst>
                                          <p:attrName>ppt_w</p:attrName>
                                        </p:attrNameLst>
                                      </p:cBhvr>
                                      <p:tavLst>
                                        <p:tav tm="0">
                                          <p:val>
                                            <p:fltVal val="0"/>
                                          </p:val>
                                        </p:tav>
                                        <p:tav tm="100000">
                                          <p:val>
                                            <p:strVal val="#ppt_w"/>
                                          </p:val>
                                        </p:tav>
                                      </p:tavLst>
                                    </p:anim>
                                    <p:anim calcmode="lin" valueType="num">
                                      <p:cBhvr>
                                        <p:cTn id="169" dur="400" fill="hold"/>
                                        <p:tgtEl>
                                          <p:spTgt spid="46"/>
                                        </p:tgtEl>
                                        <p:attrNameLst>
                                          <p:attrName>ppt_h</p:attrName>
                                        </p:attrNameLst>
                                      </p:cBhvr>
                                      <p:tavLst>
                                        <p:tav tm="0">
                                          <p:val>
                                            <p:fltVal val="0"/>
                                          </p:val>
                                        </p:tav>
                                        <p:tav tm="100000">
                                          <p:val>
                                            <p:strVal val="#ppt_h"/>
                                          </p:val>
                                        </p:tav>
                                      </p:tavLst>
                                    </p:anim>
                                    <p:anim calcmode="lin" valueType="num">
                                      <p:cBhvr>
                                        <p:cTn id="170" dur="400" fill="hold"/>
                                        <p:tgtEl>
                                          <p:spTgt spid="46"/>
                                        </p:tgtEl>
                                        <p:attrNameLst>
                                          <p:attrName>style.rotation</p:attrName>
                                        </p:attrNameLst>
                                      </p:cBhvr>
                                      <p:tavLst>
                                        <p:tav tm="0">
                                          <p:val>
                                            <p:fltVal val="90"/>
                                          </p:val>
                                        </p:tav>
                                        <p:tav tm="100000">
                                          <p:val>
                                            <p:fltVal val="0"/>
                                          </p:val>
                                        </p:tav>
                                      </p:tavLst>
                                    </p:anim>
                                    <p:animEffect transition="in" filter="fade">
                                      <p:cBhvr>
                                        <p:cTn id="171" dur="400"/>
                                        <p:tgtEl>
                                          <p:spTgt spid="46"/>
                                        </p:tgtEl>
                                      </p:cBhvr>
                                    </p:animEffect>
                                  </p:childTnLst>
                                </p:cTn>
                              </p:par>
                            </p:childTnLst>
                          </p:cTn>
                        </p:par>
                        <p:par>
                          <p:cTn id="172" fill="hold">
                            <p:stCondLst>
                              <p:cond delay="14000"/>
                            </p:stCondLst>
                            <p:childTnLst>
                              <p:par>
                                <p:cTn id="173" presetID="22" presetClass="entr" presetSubtype="8" fill="hold" grpId="0" nodeType="afterEffect">
                                  <p:stCondLst>
                                    <p:cond delay="0"/>
                                  </p:stCondLst>
                                  <p:childTnLst>
                                    <p:set>
                                      <p:cBhvr>
                                        <p:cTn id="174" dur="1" fill="hold">
                                          <p:stCondLst>
                                            <p:cond delay="0"/>
                                          </p:stCondLst>
                                        </p:cTn>
                                        <p:tgtEl>
                                          <p:spTgt spid="45"/>
                                        </p:tgtEl>
                                        <p:attrNameLst>
                                          <p:attrName>style.visibility</p:attrName>
                                        </p:attrNameLst>
                                      </p:cBhvr>
                                      <p:to>
                                        <p:strVal val="visible"/>
                                      </p:to>
                                    </p:set>
                                    <p:animEffect transition="in" filter="wipe(left)">
                                      <p:cBhvr>
                                        <p:cTn id="17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0" grpId="0" animBg="1" autoUpdateAnimBg="0"/>
      <p:bldP spid="80" grpId="1" animBg="1"/>
      <p:bldP spid="85" grpId="0" animBg="1"/>
      <p:bldP spid="85" grpId="1" animBg="1"/>
      <p:bldP spid="94" grpId="0" animBg="1"/>
      <p:bldP spid="95" grpId="0" animBg="1"/>
      <p:bldP spid="96" grpId="0" animBg="1" autoUpdateAnimBg="0"/>
      <p:bldP spid="97" grpId="0" animBg="1"/>
      <p:bldP spid="98" grpId="0" animBg="1"/>
      <p:bldP spid="103" grpId="0" animBg="1" autoUpdateAnimBg="0"/>
      <p:bldP spid="104" grpId="0" animBg="1"/>
      <p:bldP spid="105" grpId="0" animBg="1"/>
      <p:bldP spid="106" grpId="0" animBg="1" autoUpdateAnimBg="0"/>
      <p:bldP spid="107" grpId="0" animBg="1"/>
      <p:bldP spid="108" grpId="0" animBg="1"/>
      <p:bldP spid="109" grpId="0" animBg="1" autoUpdateAnimBg="0"/>
      <p:bldP spid="113" grpId="0" autoUpdateAnimBg="0"/>
      <p:bldP spid="114" grpId="0" autoUpdateAnimBg="0"/>
      <p:bldP spid="115" grpId="0" autoUpdateAnimBg="0"/>
      <p:bldP spid="116" grpId="0" autoUpdateAnimBg="0"/>
      <p:bldP spid="118" grpId="0" autoUpdateAnimBg="0"/>
      <p:bldP spid="120" grpId="0" autoUpdateAnimBg="0"/>
      <p:bldP spid="86" grpId="0" animBg="1"/>
      <p:bldP spid="86" grpId="1" animBg="1"/>
      <p:bldP spid="32" grpId="0" animBg="1"/>
      <p:bldP spid="33" grpId="0" animBg="1"/>
      <p:bldP spid="34" grpId="0" animBg="1" autoUpdateAnimBg="0"/>
      <p:bldP spid="35" grpId="0" autoUpdateAnimBg="0"/>
      <p:bldP spid="36" grpId="0" autoUpdateAnimBg="0"/>
      <p:bldP spid="42" grpId="0" animBg="1"/>
      <p:bldP spid="43" grpId="0" animBg="1"/>
      <p:bldP spid="44" grpId="0" animBg="1" autoUpdateAnimBg="0"/>
      <p:bldP spid="45" grpId="0" autoUpdateAnimBg="0"/>
      <p:bldP spid="46" grpId="0" autoUpdateAnimBg="0"/>
      <p:bldP spid="117" grpId="0" autoUpdateAnimBg="0"/>
      <p:bldP spid="119"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5" name="文本框 4"/>
          <p:cNvSpPr txBox="1"/>
          <p:nvPr/>
        </p:nvSpPr>
        <p:spPr>
          <a:xfrm>
            <a:off x="247719" y="224527"/>
            <a:ext cx="7583296" cy="584775"/>
          </a:xfrm>
          <a:prstGeom prst="rect">
            <a:avLst/>
          </a:prstGeom>
          <a:noFill/>
        </p:spPr>
        <p:txBody>
          <a:bodyPr wrap="square" rtlCol="0">
            <a:spAutoFit/>
          </a:bodyPr>
          <a:lstStyle/>
          <a:p>
            <a:r>
              <a:rPr kumimoji="1" lang="en-US" altLang="zh-CN" sz="3200" b="1" dirty="0">
                <a:latin typeface="华光胖头鱼_CNKI" panose="02000500000000000000" pitchFamily="2" charset="-122"/>
                <a:ea typeface="华光胖头鱼_CNKI" panose="02000500000000000000" pitchFamily="2" charset="-122"/>
              </a:rPr>
              <a:t>11.1</a:t>
            </a:r>
            <a:r>
              <a:rPr kumimoji="1" lang="zh-CN" altLang="en-US" sz="3200" b="1" dirty="0">
                <a:latin typeface="华光胖头鱼_CNKI" panose="02000500000000000000" pitchFamily="2" charset="-122"/>
                <a:ea typeface="华光胖头鱼_CNKI" panose="02000500000000000000" pitchFamily="2" charset="-122"/>
              </a:rPr>
              <a:t>泛型编程与模板</a:t>
            </a:r>
          </a:p>
        </p:txBody>
      </p:sp>
      <p:cxnSp>
        <p:nvCxnSpPr>
          <p:cNvPr id="67" name="直线连接符 6">
            <a:extLst>
              <a:ext uri="{FF2B5EF4-FFF2-40B4-BE49-F238E27FC236}">
                <a16:creationId xmlns:a16="http://schemas.microsoft.com/office/drawing/2014/main" id="{AEF611B7-94DC-441C-A18C-E7C0B96C20B0}"/>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098C79A0-6736-4050-AD48-7EA987ADDA34}"/>
              </a:ext>
            </a:extLst>
          </p:cNvPr>
          <p:cNvSpPr txBox="1"/>
          <p:nvPr/>
        </p:nvSpPr>
        <p:spPr>
          <a:xfrm>
            <a:off x="247719" y="1122720"/>
            <a:ext cx="8403912" cy="907941"/>
          </a:xfrm>
          <a:prstGeom prst="rect">
            <a:avLst/>
          </a:prstGeom>
          <a:noFill/>
          <a:ln>
            <a:noFill/>
          </a:ln>
        </p:spPr>
        <p:txBody>
          <a:bodyPr wrap="square">
            <a:spAutoFit/>
          </a:bodyPr>
          <a:lstStyle>
            <a:defPPr>
              <a:defRPr lang="en-US"/>
            </a:defPPr>
            <a:lvl1pPr indent="0">
              <a:lnSpc>
                <a:spcPct val="100000"/>
              </a:lnSpc>
              <a:spcBef>
                <a:spcPts val="600"/>
              </a:spcBef>
              <a:buClrTx/>
              <a:buSzTx/>
              <a:buFont typeface="Wingdings" panose="05000000000000000000" pitchFamily="2" charset="2"/>
              <a:buChar char="l"/>
              <a:defRPr kumimoji="1">
                <a:solidFill>
                  <a:srgbClr val="134F85"/>
                </a:solidFill>
                <a:latin typeface="华光隶变_CNKI" panose="02000500000000000000" pitchFamily="2" charset="-122"/>
                <a:ea typeface="华光隶变_CNKI" panose="02000500000000000000" pitchFamily="2"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r>
              <a:rPr lang="zh-CN" altLang="en-US" dirty="0"/>
              <a:t>泛型编程：以独立于任何特定类型的方式编写代码</a:t>
            </a:r>
            <a:endParaRPr lang="en-US" altLang="zh-CN" dirty="0"/>
          </a:p>
          <a:p>
            <a:r>
              <a:rPr lang="zh-CN" altLang="en-US" dirty="0"/>
              <a:t>模板：泛型编程的基础。</a:t>
            </a:r>
          </a:p>
        </p:txBody>
      </p:sp>
      <p:sp>
        <p:nvSpPr>
          <p:cNvPr id="13" name="Rectangle 3">
            <a:extLst>
              <a:ext uri="{FF2B5EF4-FFF2-40B4-BE49-F238E27FC236}">
                <a16:creationId xmlns:a16="http://schemas.microsoft.com/office/drawing/2014/main" id="{E1115240-75BE-41C4-A8CB-F26AB21ECCCD}"/>
              </a:ext>
            </a:extLst>
          </p:cNvPr>
          <p:cNvSpPr txBox="1">
            <a:spLocks noChangeArrowheads="1"/>
          </p:cNvSpPr>
          <p:nvPr/>
        </p:nvSpPr>
        <p:spPr bwMode="auto">
          <a:xfrm>
            <a:off x="476620" y="3065655"/>
            <a:ext cx="4001596" cy="788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defPPr>
              <a:defRPr lang="en-US"/>
            </a:defPPr>
            <a:lvl1pPr marL="342900" indent="-342900">
              <a:buClr>
                <a:schemeClr val="tx2"/>
              </a:buClr>
              <a:buSzPct val="75000"/>
              <a:buFont typeface="Monotype Sorts" pitchFamily="2" charset="2"/>
              <a:buNone/>
              <a:defRPr>
                <a:solidFill>
                  <a:srgbClr val="104E87"/>
                </a:solidFill>
                <a:latin typeface="Comic Sans MS" panose="030F0702030302020204" pitchFamily="66" charset="0"/>
                <a:ea typeface="华光行书_CNKI" panose="02000500000000000000" pitchFamily="2" charset="-122"/>
              </a:defRPr>
            </a:lvl1pPr>
            <a:lvl2pPr marL="908050" indent="-436563" algn="l" rtl="0" eaLnBrk="0" fontAlgn="base" hangingPunct="0">
              <a:spcBef>
                <a:spcPct val="20000"/>
              </a:spcBef>
              <a:spcAft>
                <a:spcPct val="0"/>
              </a:spcAft>
              <a:buClr>
                <a:schemeClr val="accent2"/>
              </a:buClr>
              <a:buSzPct val="75000"/>
              <a:buFont typeface="Wingdings" pitchFamily="2" charset="2"/>
              <a:buChar char="n"/>
              <a:defRPr sz="2800">
                <a:solidFill>
                  <a:srgbClr val="0000FF"/>
                </a:solidFill>
                <a:latin typeface="+mn-lt"/>
                <a:ea typeface="+mn-ea"/>
              </a:defRPr>
            </a:lvl2pPr>
            <a:lvl3pPr marL="1377950" indent="-468313" algn="l" rtl="0" eaLnBrk="0" fontAlgn="base" hangingPunct="0">
              <a:spcBef>
                <a:spcPct val="20000"/>
              </a:spcBef>
              <a:spcAft>
                <a:spcPct val="0"/>
              </a:spcAft>
              <a:buClr>
                <a:schemeClr val="bg2"/>
              </a:buClr>
              <a:buSzPct val="65000"/>
              <a:buFont typeface="Wingdings" pitchFamily="2" charset="2"/>
              <a:buChar char="o"/>
              <a:defRPr sz="2400">
                <a:solidFill>
                  <a:srgbClr val="0000FF"/>
                </a:solidFill>
                <a:latin typeface="+mn-lt"/>
                <a:ea typeface="+mn-ea"/>
              </a:defRPr>
            </a:lvl3pPr>
            <a:lvl4pPr marL="1827213" indent="-438150" algn="l" rtl="0" eaLnBrk="0" fontAlgn="base" hangingPunct="0">
              <a:spcBef>
                <a:spcPct val="20000"/>
              </a:spcBef>
              <a:spcAft>
                <a:spcPct val="0"/>
              </a:spcAft>
              <a:buClr>
                <a:schemeClr val="accent2"/>
              </a:buClr>
              <a:buSzPct val="75000"/>
              <a:buFont typeface="Wingdings" pitchFamily="2" charset="2"/>
              <a:buChar char="n"/>
              <a:defRPr sz="2000">
                <a:solidFill>
                  <a:srgbClr val="0000FF"/>
                </a:solidFill>
                <a:latin typeface="+mn-lt"/>
                <a:ea typeface="+mn-ea"/>
              </a:defRPr>
            </a:lvl4pPr>
            <a:lvl5pPr marL="2297113" indent="-468313" algn="l" rtl="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5pPr>
            <a:lvl6pPr marL="27543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6pPr>
            <a:lvl7pPr marL="32115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7pPr>
            <a:lvl8pPr marL="36687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8pPr>
            <a:lvl9pPr marL="41259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9pPr>
          </a:lstStyle>
          <a:p>
            <a:pPr marL="0" indent="0"/>
            <a:r>
              <a:rPr lang="zh-CN" altLang="en-US" dirty="0"/>
              <a:t>函数的功能相同，区别只在于处理对象的数据类型不同</a:t>
            </a:r>
          </a:p>
        </p:txBody>
      </p:sp>
      <p:sp>
        <p:nvSpPr>
          <p:cNvPr id="15" name="文本框 14">
            <a:extLst>
              <a:ext uri="{FF2B5EF4-FFF2-40B4-BE49-F238E27FC236}">
                <a16:creationId xmlns:a16="http://schemas.microsoft.com/office/drawing/2014/main" id="{7909CE4B-C71C-49A8-A618-B3F4A94C8F4E}"/>
              </a:ext>
            </a:extLst>
          </p:cNvPr>
          <p:cNvSpPr txBox="1"/>
          <p:nvPr/>
        </p:nvSpPr>
        <p:spPr>
          <a:xfrm>
            <a:off x="4869839" y="3004768"/>
            <a:ext cx="2961176" cy="830997"/>
          </a:xfrm>
          <a:prstGeom prst="rect">
            <a:avLst/>
          </a:prstGeom>
          <a:noFill/>
        </p:spPr>
        <p:txBody>
          <a:bodyPr wrap="square">
            <a:spAutoFit/>
          </a:bodyPr>
          <a:lstStyle/>
          <a:p>
            <a:pPr marL="0" lvl="1" eaLnBrk="1" hangingPunct="1">
              <a:buFont typeface="Wingdings" pitchFamily="2" charset="2"/>
              <a:buNone/>
              <a:defRPr/>
            </a:pPr>
            <a:r>
              <a:rPr lang="en-US" altLang="zh-CN" b="0" kern="0" dirty="0">
                <a:solidFill>
                  <a:srgbClr val="104E87"/>
                </a:solidFill>
                <a:latin typeface="Comic Sans MS" panose="030F0702030302020204" pitchFamily="66" charset="0"/>
                <a:ea typeface="黑体" panose="02010609060101010101" pitchFamily="49" charset="-122"/>
              </a:rPr>
              <a:t>int max(int </a:t>
            </a:r>
            <a:r>
              <a:rPr lang="en-US" altLang="zh-CN" b="0" kern="0" dirty="0" err="1">
                <a:solidFill>
                  <a:srgbClr val="104E87"/>
                </a:solidFill>
                <a:latin typeface="Comic Sans MS" panose="030F0702030302020204" pitchFamily="66" charset="0"/>
                <a:ea typeface="黑体" panose="02010609060101010101" pitchFamily="49" charset="-122"/>
              </a:rPr>
              <a:t>i</a:t>
            </a:r>
            <a:r>
              <a:rPr lang="en-US" altLang="zh-CN" b="0" kern="0" dirty="0">
                <a:solidFill>
                  <a:srgbClr val="104E87"/>
                </a:solidFill>
                <a:latin typeface="Comic Sans MS" panose="030F0702030302020204" pitchFamily="66" charset="0"/>
                <a:ea typeface="黑体" panose="02010609060101010101" pitchFamily="49" charset="-122"/>
              </a:rPr>
              <a:t>, int j) </a:t>
            </a:r>
          </a:p>
          <a:p>
            <a:pPr marL="0" lvl="1" eaLnBrk="1" hangingPunct="1">
              <a:buFont typeface="Wingdings" pitchFamily="2" charset="2"/>
              <a:buNone/>
              <a:defRPr/>
            </a:pPr>
            <a:r>
              <a:rPr lang="en-US" altLang="zh-CN" b="0" kern="0" dirty="0">
                <a:solidFill>
                  <a:srgbClr val="104E87"/>
                </a:solidFill>
                <a:latin typeface="Comic Sans MS" panose="030F0702030302020204" pitchFamily="66" charset="0"/>
                <a:ea typeface="黑体" panose="02010609060101010101" pitchFamily="49" charset="-122"/>
              </a:rPr>
              <a:t>{ return </a:t>
            </a:r>
            <a:r>
              <a:rPr lang="en-US" altLang="zh-CN" b="0" kern="0" dirty="0" err="1">
                <a:solidFill>
                  <a:srgbClr val="104E87"/>
                </a:solidFill>
                <a:latin typeface="Comic Sans MS" panose="030F0702030302020204" pitchFamily="66" charset="0"/>
                <a:ea typeface="黑体" panose="02010609060101010101" pitchFamily="49" charset="-122"/>
              </a:rPr>
              <a:t>i</a:t>
            </a:r>
            <a:r>
              <a:rPr lang="en-US" altLang="zh-CN" b="0" kern="0" dirty="0">
                <a:solidFill>
                  <a:srgbClr val="104E87"/>
                </a:solidFill>
                <a:latin typeface="Comic Sans MS" panose="030F0702030302020204" pitchFamily="66" charset="0"/>
                <a:ea typeface="黑体" panose="02010609060101010101" pitchFamily="49" charset="-122"/>
              </a:rPr>
              <a:t>&gt;</a:t>
            </a:r>
            <a:r>
              <a:rPr lang="en-US" altLang="zh-CN" b="0" kern="0" dirty="0" err="1">
                <a:solidFill>
                  <a:srgbClr val="104E87"/>
                </a:solidFill>
                <a:latin typeface="Comic Sans MS" panose="030F0702030302020204" pitchFamily="66" charset="0"/>
                <a:ea typeface="黑体" panose="02010609060101010101" pitchFamily="49" charset="-122"/>
              </a:rPr>
              <a:t>j?i:j</a:t>
            </a:r>
            <a:r>
              <a:rPr lang="en-US" altLang="zh-CN" b="0" kern="0" dirty="0">
                <a:solidFill>
                  <a:srgbClr val="104E87"/>
                </a:solidFill>
                <a:latin typeface="Comic Sans MS" panose="030F0702030302020204" pitchFamily="66" charset="0"/>
                <a:ea typeface="黑体" panose="02010609060101010101" pitchFamily="49" charset="-122"/>
              </a:rPr>
              <a:t>; }	</a:t>
            </a:r>
            <a:endParaRPr lang="en-US" altLang="zh-CN" sz="2400" b="0" kern="0" dirty="0">
              <a:solidFill>
                <a:srgbClr val="104E87"/>
              </a:solidFill>
              <a:latin typeface="Comic Sans MS" panose="030F0702030302020204" pitchFamily="66" charset="0"/>
              <a:ea typeface="黑体" panose="02010609060101010101" pitchFamily="49" charset="-122"/>
            </a:endParaRPr>
          </a:p>
        </p:txBody>
      </p:sp>
      <p:sp>
        <p:nvSpPr>
          <p:cNvPr id="16" name="文本框 15">
            <a:extLst>
              <a:ext uri="{FF2B5EF4-FFF2-40B4-BE49-F238E27FC236}">
                <a16:creationId xmlns:a16="http://schemas.microsoft.com/office/drawing/2014/main" id="{FE95D1F2-E697-4549-B351-2CC529952382}"/>
              </a:ext>
            </a:extLst>
          </p:cNvPr>
          <p:cNvSpPr txBox="1"/>
          <p:nvPr/>
        </p:nvSpPr>
        <p:spPr>
          <a:xfrm>
            <a:off x="7964734" y="2956045"/>
            <a:ext cx="4110036" cy="830997"/>
          </a:xfrm>
          <a:prstGeom prst="rect">
            <a:avLst/>
          </a:prstGeom>
          <a:noFill/>
        </p:spPr>
        <p:txBody>
          <a:bodyPr wrap="square">
            <a:spAutoFit/>
          </a:bodyPr>
          <a:lstStyle/>
          <a:p>
            <a:pPr marL="0" lvl="1" eaLnBrk="1" hangingPunct="1">
              <a:buFont typeface="Wingdings" pitchFamily="2" charset="2"/>
              <a:buNone/>
              <a:defRPr/>
            </a:pPr>
            <a:r>
              <a:rPr lang="en-US" altLang="zh-CN" b="0" kern="0" dirty="0">
                <a:solidFill>
                  <a:srgbClr val="104E87"/>
                </a:solidFill>
                <a:latin typeface="Comic Sans MS" panose="030F0702030302020204" pitchFamily="66" charset="0"/>
                <a:ea typeface="黑体" panose="02010609060101010101" pitchFamily="49" charset="-122"/>
              </a:rPr>
              <a:t>float max(float </a:t>
            </a:r>
            <a:r>
              <a:rPr lang="en-US" altLang="zh-CN" b="0" kern="0" dirty="0" err="1">
                <a:solidFill>
                  <a:srgbClr val="104E87"/>
                </a:solidFill>
                <a:latin typeface="Comic Sans MS" panose="030F0702030302020204" pitchFamily="66" charset="0"/>
                <a:ea typeface="黑体" panose="02010609060101010101" pitchFamily="49" charset="-122"/>
              </a:rPr>
              <a:t>i</a:t>
            </a:r>
            <a:r>
              <a:rPr lang="en-US" altLang="zh-CN" b="0" kern="0" dirty="0">
                <a:solidFill>
                  <a:srgbClr val="104E87"/>
                </a:solidFill>
                <a:latin typeface="Comic Sans MS" panose="030F0702030302020204" pitchFamily="66" charset="0"/>
                <a:ea typeface="黑体" panose="02010609060101010101" pitchFamily="49" charset="-122"/>
              </a:rPr>
              <a:t>, float j) </a:t>
            </a:r>
          </a:p>
          <a:p>
            <a:pPr marL="0" lvl="1" eaLnBrk="1" hangingPunct="1">
              <a:buFont typeface="Wingdings" pitchFamily="2" charset="2"/>
              <a:buNone/>
              <a:defRPr/>
            </a:pPr>
            <a:r>
              <a:rPr lang="en-US" altLang="zh-CN" b="0" kern="0" dirty="0">
                <a:solidFill>
                  <a:srgbClr val="104E87"/>
                </a:solidFill>
                <a:latin typeface="Comic Sans MS" panose="030F0702030302020204" pitchFamily="66" charset="0"/>
                <a:ea typeface="黑体" panose="02010609060101010101" pitchFamily="49" charset="-122"/>
              </a:rPr>
              <a:t>{ return </a:t>
            </a:r>
            <a:r>
              <a:rPr lang="en-US" altLang="zh-CN" b="0" kern="0" dirty="0" err="1">
                <a:solidFill>
                  <a:srgbClr val="104E87"/>
                </a:solidFill>
                <a:latin typeface="Comic Sans MS" panose="030F0702030302020204" pitchFamily="66" charset="0"/>
                <a:ea typeface="黑体" panose="02010609060101010101" pitchFamily="49" charset="-122"/>
              </a:rPr>
              <a:t>i</a:t>
            </a:r>
            <a:r>
              <a:rPr lang="en-US" altLang="zh-CN" b="0" kern="0" dirty="0">
                <a:solidFill>
                  <a:srgbClr val="104E87"/>
                </a:solidFill>
                <a:latin typeface="Comic Sans MS" panose="030F0702030302020204" pitchFamily="66" charset="0"/>
                <a:ea typeface="黑体" panose="02010609060101010101" pitchFamily="49" charset="-122"/>
              </a:rPr>
              <a:t>&gt;</a:t>
            </a:r>
            <a:r>
              <a:rPr lang="en-US" altLang="zh-CN" b="0" kern="0" dirty="0" err="1">
                <a:solidFill>
                  <a:srgbClr val="104E87"/>
                </a:solidFill>
                <a:latin typeface="Comic Sans MS" panose="030F0702030302020204" pitchFamily="66" charset="0"/>
                <a:ea typeface="黑体" panose="02010609060101010101" pitchFamily="49" charset="-122"/>
              </a:rPr>
              <a:t>j?i:j</a:t>
            </a:r>
            <a:r>
              <a:rPr lang="en-US" altLang="zh-CN" b="0" kern="0" dirty="0">
                <a:solidFill>
                  <a:srgbClr val="104E87"/>
                </a:solidFill>
                <a:latin typeface="Comic Sans MS" panose="030F0702030302020204" pitchFamily="66" charset="0"/>
                <a:ea typeface="黑体" panose="02010609060101010101" pitchFamily="49" charset="-122"/>
              </a:rPr>
              <a:t>; }	</a:t>
            </a:r>
            <a:endParaRPr lang="en-US" altLang="zh-CN" sz="2400" b="0" kern="0" dirty="0">
              <a:solidFill>
                <a:srgbClr val="104E87"/>
              </a:solidFill>
              <a:latin typeface="Comic Sans MS" panose="030F0702030302020204" pitchFamily="66" charset="0"/>
              <a:ea typeface="黑体" panose="02010609060101010101" pitchFamily="49" charset="-122"/>
            </a:endParaRPr>
          </a:p>
        </p:txBody>
      </p:sp>
      <p:sp>
        <p:nvSpPr>
          <p:cNvPr id="19" name="文本框 18">
            <a:extLst>
              <a:ext uri="{FF2B5EF4-FFF2-40B4-BE49-F238E27FC236}">
                <a16:creationId xmlns:a16="http://schemas.microsoft.com/office/drawing/2014/main" id="{C8106553-B3D9-4EA6-A6F1-B63E6D8234FD}"/>
              </a:ext>
            </a:extLst>
          </p:cNvPr>
          <p:cNvSpPr txBox="1"/>
          <p:nvPr/>
        </p:nvSpPr>
        <p:spPr>
          <a:xfrm>
            <a:off x="508886" y="4089485"/>
            <a:ext cx="9690191" cy="46166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2pPr marL="0" lvl="1" indent="0">
              <a:spcBef>
                <a:spcPts val="1200"/>
              </a:spcBef>
              <a:buFont typeface="Wingdings" pitchFamily="2" charset="2"/>
              <a:buNone/>
              <a:defRPr b="0" kern="0">
                <a:solidFill>
                  <a:srgbClr val="104E87"/>
                </a:solidFill>
                <a:latin typeface="华光行书_CNKI" panose="02000500000000000000" pitchFamily="2" charset="-122"/>
                <a:ea typeface="华光行书_CNKI" panose="02000500000000000000" pitchFamily="2" charset="-122"/>
              </a:defRPr>
            </a:lvl2pPr>
          </a:lstStyle>
          <a:p>
            <a:r>
              <a:rPr lang="zh-CN" altLang="en-US" dirty="0">
                <a:solidFill>
                  <a:srgbClr val="104E87"/>
                </a:solidFill>
                <a:latin typeface="华光行书_CNKI" panose="02000500000000000000" pitchFamily="2" charset="-122"/>
                <a:ea typeface="华光行书_CNKI" panose="02000500000000000000" pitchFamily="2" charset="-122"/>
              </a:rPr>
              <a:t>将程序所处理的对象</a:t>
            </a:r>
            <a:r>
              <a:rPr lang="zh-CN" altLang="en-US" b="1" dirty="0">
                <a:solidFill>
                  <a:srgbClr val="FF0000"/>
                </a:solidFill>
                <a:latin typeface="华光行书_CNKI" panose="02000500000000000000" pitchFamily="2" charset="-122"/>
                <a:ea typeface="华光行书_CNKI" panose="02000500000000000000" pitchFamily="2" charset="-122"/>
              </a:rPr>
              <a:t>类型参数化</a:t>
            </a:r>
            <a:r>
              <a:rPr lang="zh-CN" altLang="en-US" dirty="0">
                <a:solidFill>
                  <a:srgbClr val="104E87"/>
                </a:solidFill>
                <a:latin typeface="华光行书_CNKI" panose="02000500000000000000" pitchFamily="2" charset="-122"/>
                <a:ea typeface="华光行书_CNKI" panose="02000500000000000000" pitchFamily="2" charset="-122"/>
              </a:rPr>
              <a:t>，使一段程序可以处理不同类型的对象</a:t>
            </a:r>
          </a:p>
        </p:txBody>
      </p:sp>
      <p:sp>
        <p:nvSpPr>
          <p:cNvPr id="20" name="矩形 2">
            <a:extLst>
              <a:ext uri="{FF2B5EF4-FFF2-40B4-BE49-F238E27FC236}">
                <a16:creationId xmlns:a16="http://schemas.microsoft.com/office/drawing/2014/main" id="{22434B8D-702E-42D2-BBB5-ADEE1E42A6E0}"/>
              </a:ext>
            </a:extLst>
          </p:cNvPr>
          <p:cNvSpPr>
            <a:spLocks noChangeArrowheads="1"/>
          </p:cNvSpPr>
          <p:nvPr/>
        </p:nvSpPr>
        <p:spPr bwMode="auto">
          <a:xfrm>
            <a:off x="476619" y="5693472"/>
            <a:ext cx="11082335" cy="46166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dirty="0">
                <a:solidFill>
                  <a:srgbClr val="104E87"/>
                </a:solidFill>
                <a:latin typeface="华光行书_CNKI" panose="02000500000000000000" pitchFamily="2" charset="-122"/>
                <a:ea typeface="华光行书_CNKI" panose="02000500000000000000" pitchFamily="2" charset="-122"/>
              </a:rPr>
              <a:t>既提高了数据类型的灵活性，又支持编译时做严格类型检查</a:t>
            </a:r>
          </a:p>
        </p:txBody>
      </p:sp>
      <p:sp>
        <p:nvSpPr>
          <p:cNvPr id="22" name="文本框 21">
            <a:extLst>
              <a:ext uri="{FF2B5EF4-FFF2-40B4-BE49-F238E27FC236}">
                <a16:creationId xmlns:a16="http://schemas.microsoft.com/office/drawing/2014/main" id="{1A6C38FE-90C1-443E-84BC-9EDF58D197DF}"/>
              </a:ext>
            </a:extLst>
          </p:cNvPr>
          <p:cNvSpPr txBox="1"/>
          <p:nvPr/>
        </p:nvSpPr>
        <p:spPr>
          <a:xfrm>
            <a:off x="1359579" y="1891282"/>
            <a:ext cx="4736421" cy="583558"/>
          </a:xfrm>
          <a:prstGeom prst="rect">
            <a:avLst/>
          </a:prstGeom>
          <a:noFill/>
        </p:spPr>
        <p:txBody>
          <a:bodyPr wrap="square">
            <a:spAutoFit/>
          </a:bodyPr>
          <a:lstStyle/>
          <a:p>
            <a:pPr eaLnBrk="1" hangingPunct="1">
              <a:lnSpc>
                <a:spcPct val="150000"/>
              </a:lnSpc>
              <a:defRPr/>
            </a:pPr>
            <a:r>
              <a:rPr kumimoji="1" lang="zh-CN" altLang="en-US" dirty="0">
                <a:solidFill>
                  <a:srgbClr val="134F85"/>
                </a:solidFill>
                <a:latin typeface="华光隶变_CNKI" panose="02000500000000000000" pitchFamily="2" charset="-122"/>
                <a:ea typeface="华光隶变_CNKI" panose="02000500000000000000" pitchFamily="2" charset="-122"/>
              </a:rPr>
              <a:t>是</a:t>
            </a:r>
            <a:r>
              <a:rPr kumimoji="1" lang="en-US" altLang="zh-CN" dirty="0">
                <a:solidFill>
                  <a:srgbClr val="134F85"/>
                </a:solidFill>
                <a:latin typeface="华光隶变_CNKI" panose="02000500000000000000" pitchFamily="2" charset="-122"/>
                <a:ea typeface="华光隶变_CNKI" panose="02000500000000000000" pitchFamily="2" charset="-122"/>
              </a:rPr>
              <a:t>C++</a:t>
            </a:r>
            <a:r>
              <a:rPr kumimoji="1" lang="zh-CN" altLang="en-US" dirty="0">
                <a:solidFill>
                  <a:srgbClr val="134F85"/>
                </a:solidFill>
                <a:latin typeface="华光隶变_CNKI" panose="02000500000000000000" pitchFamily="2" charset="-122"/>
                <a:ea typeface="华光隶变_CNKI" panose="02000500000000000000" pitchFamily="2" charset="-122"/>
              </a:rPr>
              <a:t>支持类型参数化的工具。</a:t>
            </a:r>
            <a:endParaRPr kumimoji="1" lang="en-US" altLang="zh-CN" dirty="0">
              <a:solidFill>
                <a:srgbClr val="134F85"/>
              </a:solidFill>
              <a:latin typeface="华光隶变_CNKI" panose="02000500000000000000" pitchFamily="2" charset="-122"/>
              <a:ea typeface="华光隶变_CNKI" panose="02000500000000000000" pitchFamily="2" charset="-122"/>
            </a:endParaRPr>
          </a:p>
        </p:txBody>
      </p:sp>
      <p:sp>
        <p:nvSpPr>
          <p:cNvPr id="24" name="文本框 23">
            <a:extLst>
              <a:ext uri="{FF2B5EF4-FFF2-40B4-BE49-F238E27FC236}">
                <a16:creationId xmlns:a16="http://schemas.microsoft.com/office/drawing/2014/main" id="{20587C0A-27B7-40D5-A729-B00B58021BF5}"/>
              </a:ext>
            </a:extLst>
          </p:cNvPr>
          <p:cNvSpPr txBox="1"/>
          <p:nvPr/>
        </p:nvSpPr>
        <p:spPr>
          <a:xfrm>
            <a:off x="1398745" y="2433297"/>
            <a:ext cx="6101860" cy="461665"/>
          </a:xfrm>
          <a:prstGeom prst="rect">
            <a:avLst/>
          </a:prstGeom>
          <a:noFill/>
          <a:ln>
            <a:noFill/>
          </a:ln>
        </p:spPr>
        <p:txBody>
          <a:bodyPr wrap="square">
            <a:spAutoFit/>
          </a:bodyPr>
          <a:lstStyle>
            <a:defPPr>
              <a:defRPr lang="en-US"/>
            </a:defPPr>
            <a:lvl1pPr indent="0">
              <a:lnSpc>
                <a:spcPct val="100000"/>
              </a:lnSpc>
              <a:spcBef>
                <a:spcPts val="600"/>
              </a:spcBef>
              <a:buClrTx/>
              <a:buSzTx/>
              <a:buFont typeface="Wingdings" panose="05000000000000000000" pitchFamily="2" charset="2"/>
              <a:buChar char="l"/>
              <a:defRPr kumimoji="1">
                <a:solidFill>
                  <a:srgbClr val="134F85"/>
                </a:solidFill>
                <a:latin typeface="华光隶变_CNKI" panose="02000500000000000000" pitchFamily="2" charset="-122"/>
                <a:ea typeface="华光隶变_CNKI" panose="02000500000000000000" pitchFamily="2"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buNone/>
            </a:pPr>
            <a:r>
              <a:rPr lang="zh-CN" altLang="en-US" dirty="0">
                <a:solidFill>
                  <a:srgbClr val="FF0000"/>
                </a:solidFill>
              </a:rPr>
              <a:t>类模板</a:t>
            </a:r>
            <a:r>
              <a:rPr lang="zh-CN" altLang="en-US" dirty="0"/>
              <a:t>和</a:t>
            </a:r>
            <a:r>
              <a:rPr lang="zh-CN" altLang="en-US" dirty="0">
                <a:solidFill>
                  <a:srgbClr val="FF0000"/>
                </a:solidFill>
              </a:rPr>
              <a:t>函数模板</a:t>
            </a:r>
            <a:endParaRPr lang="en-US" altLang="zh-CN" dirty="0">
              <a:solidFill>
                <a:srgbClr val="FF0000"/>
              </a:solidFill>
            </a:endParaRPr>
          </a:p>
        </p:txBody>
      </p:sp>
      <p:sp>
        <p:nvSpPr>
          <p:cNvPr id="26" name="文本框 25">
            <a:extLst>
              <a:ext uri="{FF2B5EF4-FFF2-40B4-BE49-F238E27FC236}">
                <a16:creationId xmlns:a16="http://schemas.microsoft.com/office/drawing/2014/main" id="{5223BE9D-8B8F-4235-A1D6-4482D417774E}"/>
              </a:ext>
            </a:extLst>
          </p:cNvPr>
          <p:cNvSpPr txBox="1"/>
          <p:nvPr/>
        </p:nvSpPr>
        <p:spPr>
          <a:xfrm>
            <a:off x="247719" y="4712427"/>
            <a:ext cx="11616035" cy="830997"/>
          </a:xfrm>
          <a:prstGeom prst="rect">
            <a:avLst/>
          </a:prstGeom>
          <a:noFill/>
          <a:ln>
            <a:noFill/>
          </a:ln>
        </p:spPr>
        <p:txBody>
          <a:bodyPr wrap="square">
            <a:spAutoFit/>
          </a:bodyPr>
          <a:lstStyle>
            <a:defPPr>
              <a:defRPr lang="en-US"/>
            </a:defPPr>
            <a:lvl1pPr indent="0">
              <a:lnSpc>
                <a:spcPct val="100000"/>
              </a:lnSpc>
              <a:spcBef>
                <a:spcPts val="600"/>
              </a:spcBef>
              <a:buClrTx/>
              <a:buSzTx/>
              <a:buFont typeface="Wingdings" panose="05000000000000000000" pitchFamily="2" charset="2"/>
              <a:buChar char="l"/>
              <a:defRPr kumimoji="1">
                <a:solidFill>
                  <a:srgbClr val="134F85"/>
                </a:solidFill>
                <a:latin typeface="华光隶变_CNKI" panose="02000500000000000000" pitchFamily="2" charset="-122"/>
                <a:ea typeface="华光隶变_CNKI" panose="02000500000000000000" pitchFamily="2"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r>
              <a:rPr lang="zh-CN" altLang="en-US" dirty="0"/>
              <a:t>模板须经过</a:t>
            </a:r>
            <a:r>
              <a:rPr lang="zh-CN" altLang="en-US" b="1" dirty="0">
                <a:solidFill>
                  <a:srgbClr val="FF0000"/>
                </a:solidFill>
              </a:rPr>
              <a:t>实例化</a:t>
            </a:r>
            <a:r>
              <a:rPr lang="zh-CN" altLang="en-US" dirty="0"/>
              <a:t>后才能使用：即用某一具体数据类型替代模板中的形式类型参数的过程</a:t>
            </a:r>
          </a:p>
        </p:txBody>
      </p:sp>
    </p:spTree>
    <p:extLst>
      <p:ext uri="{BB962C8B-B14F-4D97-AF65-F5344CB8AC3E}">
        <p14:creationId xmlns:p14="http://schemas.microsoft.com/office/powerpoint/2010/main" val="3929563288"/>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barn(inVertical)">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animEffect transition="in" filter="fade">
                                      <p:cBhvr>
                                        <p:cTn id="15" dur="500"/>
                                        <p:tgtEl>
                                          <p:spTgt spid="1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right)">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down)">
                                      <p:cBhvr>
                                        <p:cTn id="30"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down)">
                                      <p:cBhvr>
                                        <p:cTn id="35" dur="5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right)">
                                      <p:cBhvr>
                                        <p:cTn id="4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9" grpId="0"/>
      <p:bldP spid="20" grpId="0"/>
      <p:bldP spid="22" grpId="0"/>
      <p:bldP spid="24" grpId="0"/>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sp>
        <p:nvSpPr>
          <p:cNvPr id="5" name="文本框 4"/>
          <p:cNvSpPr txBox="1"/>
          <p:nvPr/>
        </p:nvSpPr>
        <p:spPr>
          <a:xfrm>
            <a:off x="247719" y="224527"/>
            <a:ext cx="7583296" cy="584775"/>
          </a:xfrm>
          <a:prstGeom prst="rect">
            <a:avLst/>
          </a:prstGeom>
          <a:noFill/>
        </p:spPr>
        <p:txBody>
          <a:bodyPr wrap="square" rtlCol="0">
            <a:spAutoFit/>
          </a:bodyPr>
          <a:lstStyle/>
          <a:p>
            <a:r>
              <a:rPr kumimoji="1" lang="en-US" altLang="zh-CN" sz="3200" b="1" dirty="0">
                <a:latin typeface="华光胖头鱼_CNKI" panose="02000500000000000000" pitchFamily="2" charset="-122"/>
                <a:ea typeface="华光胖头鱼_CNKI" panose="02000500000000000000" pitchFamily="2" charset="-122"/>
              </a:rPr>
              <a:t>11.2</a:t>
            </a:r>
            <a:r>
              <a:rPr kumimoji="1" lang="zh-CN" altLang="en-US" sz="3200" b="1" dirty="0">
                <a:latin typeface="华光胖头鱼_CNKI" panose="02000500000000000000" pitchFamily="2" charset="-122"/>
                <a:ea typeface="华光胖头鱼_CNKI" panose="02000500000000000000" pitchFamily="2" charset="-122"/>
              </a:rPr>
              <a:t>函数模板</a:t>
            </a:r>
          </a:p>
        </p:txBody>
      </p:sp>
      <p:cxnSp>
        <p:nvCxnSpPr>
          <p:cNvPr id="67" name="直线连接符 6">
            <a:extLst>
              <a:ext uri="{FF2B5EF4-FFF2-40B4-BE49-F238E27FC236}">
                <a16:creationId xmlns:a16="http://schemas.microsoft.com/office/drawing/2014/main" id="{AEF611B7-94DC-441C-A18C-E7C0B96C20B0}"/>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7" name="矩形 16">
            <a:extLst>
              <a:ext uri="{FF2B5EF4-FFF2-40B4-BE49-F238E27FC236}">
                <a16:creationId xmlns:a16="http://schemas.microsoft.com/office/drawing/2014/main" id="{933C56B4-845B-4ECF-AAC3-C515E9A36594}"/>
              </a:ext>
            </a:extLst>
          </p:cNvPr>
          <p:cNvSpPr/>
          <p:nvPr/>
        </p:nvSpPr>
        <p:spPr>
          <a:xfrm>
            <a:off x="247719" y="1003938"/>
            <a:ext cx="8028774" cy="907941"/>
          </a:xfrm>
          <a:prstGeom prst="rect">
            <a:avLst/>
          </a:prstGeom>
          <a:noFill/>
          <a:ln>
            <a:noFill/>
          </a:ln>
        </p:spPr>
        <p:txBody>
          <a:bodyPr wrap="square">
            <a:spAutoFit/>
          </a:bodyPr>
          <a:lstStyle/>
          <a:p>
            <a:pPr marL="0" lvl="1">
              <a:spcBef>
                <a:spcPts val="600"/>
              </a:spcBef>
              <a:buFont typeface="Wingdings" panose="05000000000000000000" pitchFamily="2" charset="2"/>
              <a:buChar char="l"/>
            </a:pPr>
            <a:r>
              <a:rPr kumimoji="1" lang="zh-CN" altLang="en-US" dirty="0">
                <a:solidFill>
                  <a:srgbClr val="134F85"/>
                </a:solidFill>
                <a:latin typeface="华光隶变_CNKI" panose="02000500000000000000" pitchFamily="2" charset="-122"/>
                <a:ea typeface="华光隶变_CNKI" panose="02000500000000000000" pitchFamily="2" charset="-122"/>
              </a:rPr>
              <a:t>函数的</a:t>
            </a:r>
            <a:r>
              <a:rPr kumimoji="1" lang="zh-CN" altLang="en-US" dirty="0">
                <a:solidFill>
                  <a:srgbClr val="FF0000"/>
                </a:solidFill>
                <a:latin typeface="华光隶变_CNKI" panose="02000500000000000000" pitchFamily="2" charset="-122"/>
                <a:ea typeface="华光隶变_CNKI" panose="02000500000000000000" pitchFamily="2" charset="-122"/>
              </a:rPr>
              <a:t>形式参数表</a:t>
            </a:r>
            <a:r>
              <a:rPr kumimoji="1" lang="zh-CN" altLang="en-US" dirty="0">
                <a:solidFill>
                  <a:srgbClr val="134F85"/>
                </a:solidFill>
                <a:latin typeface="华光隶变_CNKI" panose="02000500000000000000" pitchFamily="2" charset="-122"/>
                <a:ea typeface="华光隶变_CNKI" panose="02000500000000000000" pitchFamily="2" charset="-122"/>
              </a:rPr>
              <a:t>中某些形参的数据类型被参数化</a:t>
            </a:r>
            <a:endParaRPr kumimoji="1" lang="en-US" altLang="zh-CN" dirty="0">
              <a:solidFill>
                <a:srgbClr val="134F85"/>
              </a:solidFill>
              <a:latin typeface="华光隶变_CNKI" panose="02000500000000000000" pitchFamily="2" charset="-122"/>
              <a:ea typeface="华光隶变_CNKI" panose="02000500000000000000" pitchFamily="2" charset="-122"/>
            </a:endParaRPr>
          </a:p>
          <a:p>
            <a:pPr marL="0" lvl="1">
              <a:spcBef>
                <a:spcPts val="600"/>
              </a:spcBef>
              <a:buFont typeface="Wingdings" panose="05000000000000000000" pitchFamily="2" charset="2"/>
              <a:buChar char="l"/>
            </a:pPr>
            <a:r>
              <a:rPr kumimoji="1" lang="zh-CN" altLang="en-US" dirty="0">
                <a:solidFill>
                  <a:srgbClr val="134F85"/>
                </a:solidFill>
                <a:latin typeface="华光隶变_CNKI" panose="02000500000000000000" pitchFamily="2" charset="-122"/>
                <a:ea typeface="华光隶变_CNKI" panose="02000500000000000000" pitchFamily="2" charset="-122"/>
              </a:rPr>
              <a:t>函数模板本身不是函数，经实例化后才得到函数</a:t>
            </a:r>
          </a:p>
        </p:txBody>
      </p:sp>
      <p:sp>
        <p:nvSpPr>
          <p:cNvPr id="19" name="Rectangle 3">
            <a:extLst>
              <a:ext uri="{FF2B5EF4-FFF2-40B4-BE49-F238E27FC236}">
                <a16:creationId xmlns:a16="http://schemas.microsoft.com/office/drawing/2014/main" id="{204380C2-7404-4D71-B330-C86D7A8F8E9F}"/>
              </a:ext>
            </a:extLst>
          </p:cNvPr>
          <p:cNvSpPr txBox="1">
            <a:spLocks noChangeArrowheads="1"/>
          </p:cNvSpPr>
          <p:nvPr/>
        </p:nvSpPr>
        <p:spPr>
          <a:xfrm>
            <a:off x="142264" y="1788771"/>
            <a:ext cx="3280875" cy="3125885"/>
          </a:xfrm>
          <a:prstGeom prst="rect">
            <a:avLst/>
          </a:prstGeom>
          <a:noFill/>
        </p:spPr>
        <p:txBody>
          <a:bodyPr/>
          <a:lstStyle>
            <a:lvl1pPr marL="457200" indent="-457200" algn="l" defTabSz="609600" rtl="0" eaLnBrk="1" latinLnBrk="0" hangingPunct="1">
              <a:spcBef>
                <a:spcPct val="20000"/>
              </a:spcBef>
              <a:buFont typeface="Arial" panose="020B0604020202020204"/>
              <a:buChar char="•"/>
              <a:defRPr sz="4265"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35" kern="1200">
                <a:solidFill>
                  <a:schemeClr val="tx1"/>
                </a:solidFill>
                <a:latin typeface="+mn-lt"/>
                <a:ea typeface="+mn-ea"/>
                <a:cs typeface="+mn-cs"/>
              </a:defRPr>
            </a:lvl2pPr>
            <a:lvl3pPr marL="1524000"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3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13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09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a:lstStyle>
          <a:p>
            <a:pPr>
              <a:buFontTx/>
              <a:buNone/>
            </a:pPr>
            <a:r>
              <a:rPr lang="zh-CN" altLang="en-US" sz="2400" dirty="0">
                <a:solidFill>
                  <a:srgbClr val="104E87"/>
                </a:solidFill>
                <a:latin typeface="Comic Sans MS" panose="030F0702030302020204" pitchFamily="66" charset="0"/>
                <a:ea typeface="华光行书_CNKI" panose="02000500000000000000" pitchFamily="2" charset="-122"/>
              </a:rPr>
              <a:t>绝对值函数重载：</a:t>
            </a:r>
          </a:p>
          <a:p>
            <a:pPr algn="just">
              <a:lnSpc>
                <a:spcPct val="90000"/>
              </a:lnSpc>
              <a:spcBef>
                <a:spcPct val="0"/>
              </a:spcBef>
              <a:buFontTx/>
              <a:buNone/>
            </a:pPr>
            <a:r>
              <a:rPr lang="en-US" altLang="zh-CN" sz="2400" dirty="0">
                <a:solidFill>
                  <a:srgbClr val="104E87"/>
                </a:solidFill>
                <a:latin typeface="Comic Sans MS" panose="030F0702030302020204" pitchFamily="66" charset="0"/>
                <a:ea typeface="华光行书_CNKI" panose="02000500000000000000" pitchFamily="2" charset="-122"/>
              </a:rPr>
              <a:t>int abs(int </a:t>
            </a:r>
            <a:r>
              <a:rPr lang="en-US" altLang="zh-CN" sz="2400" dirty="0" err="1">
                <a:solidFill>
                  <a:srgbClr val="104E87"/>
                </a:solidFill>
                <a:latin typeface="Comic Sans MS" panose="030F0702030302020204" pitchFamily="66" charset="0"/>
                <a:ea typeface="华光行书_CNKI" panose="02000500000000000000" pitchFamily="2" charset="-122"/>
              </a:rPr>
              <a:t>i</a:t>
            </a:r>
            <a:r>
              <a:rPr lang="en-US" altLang="zh-CN" sz="2400" dirty="0">
                <a:solidFill>
                  <a:srgbClr val="104E87"/>
                </a:solidFill>
                <a:latin typeface="Comic Sans MS" panose="030F0702030302020204" pitchFamily="66" charset="0"/>
                <a:ea typeface="华光行书_CNKI" panose="02000500000000000000" pitchFamily="2" charset="-122"/>
              </a:rPr>
              <a:t>)</a:t>
            </a:r>
          </a:p>
          <a:p>
            <a:pPr algn="just">
              <a:lnSpc>
                <a:spcPct val="90000"/>
              </a:lnSpc>
              <a:spcBef>
                <a:spcPct val="0"/>
              </a:spcBef>
              <a:buFontTx/>
              <a:buNone/>
            </a:pPr>
            <a:r>
              <a:rPr lang="en-US" altLang="zh-CN" sz="2400" dirty="0">
                <a:solidFill>
                  <a:srgbClr val="104E87"/>
                </a:solidFill>
                <a:latin typeface="Comic Sans MS" panose="030F0702030302020204" pitchFamily="66" charset="0"/>
                <a:ea typeface="华光行书_CNKI" panose="02000500000000000000" pitchFamily="2" charset="-122"/>
              </a:rPr>
              <a:t>{  return </a:t>
            </a:r>
            <a:r>
              <a:rPr lang="en-US" altLang="zh-CN" sz="2400" dirty="0" err="1">
                <a:solidFill>
                  <a:srgbClr val="104E87"/>
                </a:solidFill>
                <a:latin typeface="Comic Sans MS" panose="030F0702030302020204" pitchFamily="66" charset="0"/>
                <a:ea typeface="华光行书_CNKI" panose="02000500000000000000" pitchFamily="2" charset="-122"/>
              </a:rPr>
              <a:t>i</a:t>
            </a:r>
            <a:r>
              <a:rPr lang="en-US" altLang="zh-CN" sz="2400" dirty="0">
                <a:solidFill>
                  <a:srgbClr val="104E87"/>
                </a:solidFill>
                <a:latin typeface="Comic Sans MS" panose="030F0702030302020204" pitchFamily="66" charset="0"/>
                <a:ea typeface="华光行书_CNKI" panose="02000500000000000000" pitchFamily="2" charset="-122"/>
              </a:rPr>
              <a:t>&lt;0?-</a:t>
            </a:r>
            <a:r>
              <a:rPr lang="en-US" altLang="zh-CN" sz="2400" dirty="0" err="1">
                <a:solidFill>
                  <a:srgbClr val="104E87"/>
                </a:solidFill>
                <a:latin typeface="Comic Sans MS" panose="030F0702030302020204" pitchFamily="66" charset="0"/>
                <a:ea typeface="华光行书_CNKI" panose="02000500000000000000" pitchFamily="2" charset="-122"/>
              </a:rPr>
              <a:t>i:i</a:t>
            </a:r>
            <a:r>
              <a:rPr lang="en-US" altLang="zh-CN" sz="2400" dirty="0">
                <a:solidFill>
                  <a:srgbClr val="104E87"/>
                </a:solidFill>
                <a:latin typeface="Comic Sans MS" panose="030F0702030302020204" pitchFamily="66" charset="0"/>
                <a:ea typeface="华光行书_CNKI" panose="02000500000000000000" pitchFamily="2" charset="-122"/>
              </a:rPr>
              <a:t>;}</a:t>
            </a:r>
          </a:p>
          <a:p>
            <a:pPr algn="just">
              <a:lnSpc>
                <a:spcPct val="90000"/>
              </a:lnSpc>
              <a:spcBef>
                <a:spcPct val="0"/>
              </a:spcBef>
              <a:buFontTx/>
              <a:buNone/>
            </a:pPr>
            <a:endParaRPr lang="en-US" altLang="zh-CN" sz="2400" dirty="0">
              <a:solidFill>
                <a:srgbClr val="104E87"/>
              </a:solidFill>
              <a:latin typeface="Comic Sans MS" panose="030F0702030302020204" pitchFamily="66" charset="0"/>
              <a:ea typeface="华光行书_CNKI" panose="02000500000000000000" pitchFamily="2" charset="-122"/>
            </a:endParaRPr>
          </a:p>
          <a:p>
            <a:pPr algn="just">
              <a:lnSpc>
                <a:spcPct val="90000"/>
              </a:lnSpc>
              <a:spcBef>
                <a:spcPct val="0"/>
              </a:spcBef>
              <a:buFontTx/>
              <a:buNone/>
            </a:pPr>
            <a:r>
              <a:rPr lang="en-US" altLang="zh-CN" sz="2400" dirty="0">
                <a:solidFill>
                  <a:srgbClr val="104E87"/>
                </a:solidFill>
                <a:latin typeface="Comic Sans MS" panose="030F0702030302020204" pitchFamily="66" charset="0"/>
                <a:ea typeface="华光行书_CNKI" panose="02000500000000000000" pitchFamily="2" charset="-122"/>
              </a:rPr>
              <a:t>long abs(long l)</a:t>
            </a:r>
          </a:p>
          <a:p>
            <a:pPr algn="just">
              <a:lnSpc>
                <a:spcPct val="90000"/>
              </a:lnSpc>
              <a:spcBef>
                <a:spcPct val="0"/>
              </a:spcBef>
              <a:buFontTx/>
              <a:buNone/>
            </a:pPr>
            <a:r>
              <a:rPr lang="en-US" altLang="zh-CN" sz="2400" dirty="0">
                <a:solidFill>
                  <a:srgbClr val="104E87"/>
                </a:solidFill>
                <a:latin typeface="Comic Sans MS" panose="030F0702030302020204" pitchFamily="66" charset="0"/>
                <a:ea typeface="华光行书_CNKI" panose="02000500000000000000" pitchFamily="2" charset="-122"/>
              </a:rPr>
              <a:t>{  return l&lt;0?-</a:t>
            </a:r>
            <a:r>
              <a:rPr lang="en-US" altLang="zh-CN" sz="2400" dirty="0" err="1">
                <a:solidFill>
                  <a:srgbClr val="104E87"/>
                </a:solidFill>
                <a:latin typeface="Comic Sans MS" panose="030F0702030302020204" pitchFamily="66" charset="0"/>
                <a:ea typeface="华光行书_CNKI" panose="02000500000000000000" pitchFamily="2" charset="-122"/>
              </a:rPr>
              <a:t>l:l</a:t>
            </a:r>
            <a:r>
              <a:rPr lang="en-US" altLang="zh-CN" sz="2400" dirty="0">
                <a:solidFill>
                  <a:srgbClr val="104E87"/>
                </a:solidFill>
                <a:latin typeface="Comic Sans MS" panose="030F0702030302020204" pitchFamily="66" charset="0"/>
                <a:ea typeface="华光行书_CNKI" panose="02000500000000000000" pitchFamily="2" charset="-122"/>
              </a:rPr>
              <a:t>;}</a:t>
            </a:r>
          </a:p>
          <a:p>
            <a:pPr algn="just">
              <a:lnSpc>
                <a:spcPct val="90000"/>
              </a:lnSpc>
              <a:spcBef>
                <a:spcPct val="0"/>
              </a:spcBef>
              <a:buFontTx/>
              <a:buNone/>
            </a:pPr>
            <a:endParaRPr lang="en-US" altLang="zh-CN" sz="2400" dirty="0">
              <a:solidFill>
                <a:srgbClr val="104E87"/>
              </a:solidFill>
              <a:latin typeface="Comic Sans MS" panose="030F0702030302020204" pitchFamily="66" charset="0"/>
              <a:ea typeface="华光行书_CNKI" panose="02000500000000000000" pitchFamily="2" charset="-122"/>
            </a:endParaRPr>
          </a:p>
          <a:p>
            <a:pPr algn="just">
              <a:lnSpc>
                <a:spcPct val="90000"/>
              </a:lnSpc>
              <a:spcBef>
                <a:spcPct val="0"/>
              </a:spcBef>
              <a:buFontTx/>
              <a:buNone/>
            </a:pPr>
            <a:r>
              <a:rPr lang="en-US" altLang="zh-CN" sz="2400" dirty="0">
                <a:solidFill>
                  <a:srgbClr val="104E87"/>
                </a:solidFill>
                <a:latin typeface="Comic Sans MS" panose="030F0702030302020204" pitchFamily="66" charset="0"/>
                <a:ea typeface="华光行书_CNKI" panose="02000500000000000000" pitchFamily="2" charset="-122"/>
              </a:rPr>
              <a:t>double abs(double d)</a:t>
            </a:r>
          </a:p>
          <a:p>
            <a:pPr algn="just">
              <a:lnSpc>
                <a:spcPct val="90000"/>
              </a:lnSpc>
              <a:spcBef>
                <a:spcPct val="0"/>
              </a:spcBef>
              <a:buFontTx/>
              <a:buNone/>
            </a:pPr>
            <a:r>
              <a:rPr lang="en-US" altLang="zh-CN" sz="2400" dirty="0">
                <a:solidFill>
                  <a:srgbClr val="104E87"/>
                </a:solidFill>
                <a:latin typeface="Comic Sans MS" panose="030F0702030302020204" pitchFamily="66" charset="0"/>
                <a:ea typeface="华光行书_CNKI" panose="02000500000000000000" pitchFamily="2" charset="-122"/>
              </a:rPr>
              <a:t>{  return d&lt;0?-</a:t>
            </a:r>
            <a:r>
              <a:rPr lang="en-US" altLang="zh-CN" sz="2400" dirty="0" err="1">
                <a:solidFill>
                  <a:srgbClr val="104E87"/>
                </a:solidFill>
                <a:latin typeface="Comic Sans MS" panose="030F0702030302020204" pitchFamily="66" charset="0"/>
                <a:ea typeface="华光行书_CNKI" panose="02000500000000000000" pitchFamily="2" charset="-122"/>
              </a:rPr>
              <a:t>d:d</a:t>
            </a:r>
            <a:r>
              <a:rPr lang="en-US" altLang="zh-CN" sz="2400" dirty="0">
                <a:solidFill>
                  <a:srgbClr val="104E87"/>
                </a:solidFill>
                <a:latin typeface="Comic Sans MS" panose="030F0702030302020204" pitchFamily="66" charset="0"/>
                <a:ea typeface="华光行书_CNKI" panose="02000500000000000000" pitchFamily="2" charset="-122"/>
              </a:rPr>
              <a:t>;}</a:t>
            </a:r>
          </a:p>
        </p:txBody>
      </p:sp>
      <p:sp>
        <p:nvSpPr>
          <p:cNvPr id="20" name="Text Box 5">
            <a:extLst>
              <a:ext uri="{FF2B5EF4-FFF2-40B4-BE49-F238E27FC236}">
                <a16:creationId xmlns:a16="http://schemas.microsoft.com/office/drawing/2014/main" id="{292EA833-A8BA-4440-89E5-291BFF0A65A6}"/>
              </a:ext>
            </a:extLst>
          </p:cNvPr>
          <p:cNvSpPr txBox="1">
            <a:spLocks noChangeArrowheads="1"/>
          </p:cNvSpPr>
          <p:nvPr/>
        </p:nvSpPr>
        <p:spPr bwMode="auto">
          <a:xfrm>
            <a:off x="3078617" y="2113705"/>
            <a:ext cx="3045995" cy="830997"/>
          </a:xfrm>
          <a:prstGeom prst="rect">
            <a:avLst/>
          </a:prstGeom>
          <a:noFill/>
          <a:ln>
            <a:noFill/>
          </a:ln>
        </p:spPr>
        <p:txBody>
          <a:bodyPr wrap="square">
            <a:spAutoFit/>
          </a:bodyPr>
          <a:lstStyle>
            <a:lvl1pPr eaLnBrk="0" hangingPunct="0">
              <a:spcBef>
                <a:spcPct val="20000"/>
              </a:spcBef>
              <a:buClr>
                <a:schemeClr val="bg2"/>
              </a:buClr>
              <a:buSzPct val="70000"/>
              <a:buFont typeface="Wingdings" pitchFamily="2" charset="2"/>
              <a:buChar char="o"/>
              <a:defRPr sz="3200">
                <a:solidFill>
                  <a:srgbClr val="0000FF"/>
                </a:solidFill>
                <a:latin typeface="Times New Roman" pitchFamily="18" charset="0"/>
                <a:ea typeface="楷体_GB2312" pitchFamily="49" charset="-122"/>
              </a:defRPr>
            </a:lvl1pPr>
            <a:lvl2pPr marL="742950" indent="-285750" eaLnBrk="0" hangingPunct="0">
              <a:spcBef>
                <a:spcPct val="20000"/>
              </a:spcBef>
              <a:buClr>
                <a:schemeClr val="accent2"/>
              </a:buClr>
              <a:buSzPct val="75000"/>
              <a:buFont typeface="Wingdings" pitchFamily="2" charset="2"/>
              <a:buChar char="n"/>
              <a:defRPr sz="2800">
                <a:solidFill>
                  <a:srgbClr val="0000FF"/>
                </a:solidFill>
                <a:latin typeface="Times New Roman" pitchFamily="18" charset="0"/>
                <a:ea typeface="楷体_GB2312" pitchFamily="49" charset="-122"/>
              </a:defRPr>
            </a:lvl2pPr>
            <a:lvl3pPr marL="1143000" indent="-228600" eaLnBrk="0" hangingPunct="0">
              <a:spcBef>
                <a:spcPct val="20000"/>
              </a:spcBef>
              <a:buClr>
                <a:schemeClr val="bg2"/>
              </a:buClr>
              <a:buSzPct val="65000"/>
              <a:buFont typeface="Wingdings" pitchFamily="2" charset="2"/>
              <a:buChar char="o"/>
              <a:defRPr sz="2400">
                <a:solidFill>
                  <a:srgbClr val="0000FF"/>
                </a:solidFill>
                <a:latin typeface="Times New Roman" pitchFamily="18" charset="0"/>
                <a:ea typeface="楷体_GB2312" pitchFamily="49" charset="-122"/>
              </a:defRPr>
            </a:lvl3pPr>
            <a:lvl4pPr marL="1600200" indent="-228600" eaLnBrk="0" hangingPunct="0">
              <a:spcBef>
                <a:spcPct val="20000"/>
              </a:spcBef>
              <a:buClr>
                <a:schemeClr val="accent2"/>
              </a:buClr>
              <a:buSzPct val="75000"/>
              <a:buFont typeface="Wingdings" pitchFamily="2" charset="2"/>
              <a:buChar char="n"/>
              <a:defRPr sz="2000">
                <a:solidFill>
                  <a:srgbClr val="0000FF"/>
                </a:solidFill>
                <a:latin typeface="Times New Roman" pitchFamily="18" charset="0"/>
                <a:ea typeface="楷体_GB2312" pitchFamily="49" charset="-122"/>
              </a:defRPr>
            </a:lvl4pPr>
            <a:lvl5pPr marL="2057400" indent="-228600" eaLnBrk="0" hangingPunct="0">
              <a:spcBef>
                <a:spcPct val="20000"/>
              </a:spcBef>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Times New Roman" pitchFamily="18" charset="0"/>
                <a:ea typeface="楷体_GB2312" pitchFamily="49" charset="-122"/>
              </a:defRPr>
            </a:lvl9pPr>
          </a:lstStyle>
          <a:p>
            <a:pPr>
              <a:spcBef>
                <a:spcPct val="0"/>
              </a:spcBef>
              <a:buClrTx/>
              <a:buSzTx/>
              <a:buFontTx/>
              <a:buNone/>
              <a:defRPr/>
            </a:pPr>
            <a:r>
              <a:rPr lang="en-US" altLang="zh-CN" sz="2400" dirty="0">
                <a:solidFill>
                  <a:srgbClr val="104E87"/>
                </a:solidFill>
                <a:latin typeface="Comic Sans MS" panose="030F0702030302020204" pitchFamily="66" charset="0"/>
                <a:ea typeface="黑体" panose="02010609060101010101" pitchFamily="49" charset="-122"/>
              </a:rPr>
              <a:t>T abs(T x)</a:t>
            </a:r>
          </a:p>
          <a:p>
            <a:pPr>
              <a:spcBef>
                <a:spcPct val="0"/>
              </a:spcBef>
              <a:buClrTx/>
              <a:buSzTx/>
              <a:buFontTx/>
              <a:buNone/>
              <a:defRPr/>
            </a:pPr>
            <a:r>
              <a:rPr lang="en-US" altLang="zh-CN" sz="2400" dirty="0">
                <a:solidFill>
                  <a:srgbClr val="104E87"/>
                </a:solidFill>
                <a:latin typeface="Comic Sans MS" panose="030F0702030302020204" pitchFamily="66" charset="0"/>
                <a:ea typeface="黑体" panose="02010609060101010101" pitchFamily="49" charset="-122"/>
              </a:rPr>
              <a:t>{return x&lt;0?-</a:t>
            </a:r>
            <a:r>
              <a:rPr lang="en-US" altLang="zh-CN" sz="2400" dirty="0" err="1">
                <a:solidFill>
                  <a:srgbClr val="104E87"/>
                </a:solidFill>
                <a:latin typeface="Comic Sans MS" panose="030F0702030302020204" pitchFamily="66" charset="0"/>
                <a:ea typeface="黑体" panose="02010609060101010101" pitchFamily="49" charset="-122"/>
              </a:rPr>
              <a:t>x:x</a:t>
            </a:r>
            <a:r>
              <a:rPr lang="en-US" altLang="zh-CN" sz="2400" dirty="0">
                <a:solidFill>
                  <a:srgbClr val="104E87"/>
                </a:solidFill>
                <a:latin typeface="Comic Sans MS" panose="030F0702030302020204" pitchFamily="66" charset="0"/>
                <a:ea typeface="黑体" panose="02010609060101010101" pitchFamily="49" charset="-122"/>
              </a:rPr>
              <a:t>;}</a:t>
            </a:r>
            <a:endParaRPr lang="en-US" altLang="zh-CN" sz="2400" b="0" dirty="0">
              <a:solidFill>
                <a:srgbClr val="104E87"/>
              </a:solidFill>
              <a:latin typeface="Comic Sans MS" panose="030F0702030302020204" pitchFamily="66" charset="0"/>
              <a:ea typeface="黑体" panose="02010609060101010101" pitchFamily="49" charset="-122"/>
            </a:endParaRPr>
          </a:p>
        </p:txBody>
      </p:sp>
      <p:sp>
        <p:nvSpPr>
          <p:cNvPr id="21" name="AutoShape 27">
            <a:extLst>
              <a:ext uri="{FF2B5EF4-FFF2-40B4-BE49-F238E27FC236}">
                <a16:creationId xmlns:a16="http://schemas.microsoft.com/office/drawing/2014/main" id="{F6CD986F-8271-4537-827C-617E27BB0B72}"/>
              </a:ext>
            </a:extLst>
          </p:cNvPr>
          <p:cNvSpPr>
            <a:spLocks/>
          </p:cNvSpPr>
          <p:nvPr/>
        </p:nvSpPr>
        <p:spPr bwMode="auto">
          <a:xfrm>
            <a:off x="2932078" y="3100211"/>
            <a:ext cx="3045995" cy="1231473"/>
          </a:xfrm>
          <a:prstGeom prst="borderCallout1">
            <a:avLst>
              <a:gd name="adj1" fmla="val 102426"/>
              <a:gd name="adj2" fmla="val 236"/>
              <a:gd name="adj3" fmla="val -60046"/>
              <a:gd name="adj4" fmla="val 40765"/>
            </a:avLst>
          </a:prstGeom>
          <a:solidFill>
            <a:srgbClr val="FFFF99"/>
          </a:solidFill>
          <a:ln w="9525">
            <a:solidFill>
              <a:srgbClr val="104E87"/>
            </a:solidFill>
            <a:miter lim="800000"/>
            <a:headEnd/>
            <a:tailEnd/>
          </a:ln>
        </p:spPr>
        <p:txBody>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buFont typeface="Wingdings" panose="05000000000000000000" pitchFamily="2" charset="2"/>
              <a:buNone/>
            </a:pPr>
            <a:r>
              <a:rPr lang="zh-CN" altLang="en-US" sz="2400" dirty="0">
                <a:solidFill>
                  <a:srgbClr val="104E87"/>
                </a:solidFill>
                <a:latin typeface="Comic Sans MS" panose="030F0702030302020204" pitchFamily="66" charset="0"/>
                <a:ea typeface="华光行书_CNKI" panose="02000500000000000000" pitchFamily="2" charset="-122"/>
              </a:rPr>
              <a:t>将形参类型</a:t>
            </a:r>
            <a:r>
              <a:rPr lang="en-US" altLang="zh-CN" sz="2400" dirty="0" err="1">
                <a:solidFill>
                  <a:srgbClr val="104E87"/>
                </a:solidFill>
                <a:latin typeface="Comic Sans MS" panose="030F0702030302020204" pitchFamily="66" charset="0"/>
                <a:ea typeface="华光行书_CNKI" panose="02000500000000000000" pitchFamily="2" charset="-122"/>
              </a:rPr>
              <a:t>int、long</a:t>
            </a:r>
            <a:r>
              <a:rPr lang="zh-CN" altLang="en-US" sz="2400" dirty="0">
                <a:solidFill>
                  <a:srgbClr val="104E87"/>
                </a:solidFill>
                <a:latin typeface="Comic Sans MS" panose="030F0702030302020204" pitchFamily="66" charset="0"/>
                <a:ea typeface="华光行书_CNKI" panose="02000500000000000000" pitchFamily="2" charset="-122"/>
              </a:rPr>
              <a:t>和</a:t>
            </a:r>
            <a:r>
              <a:rPr lang="en-US" altLang="zh-CN" sz="2400" dirty="0">
                <a:solidFill>
                  <a:srgbClr val="104E87"/>
                </a:solidFill>
                <a:latin typeface="Comic Sans MS" panose="030F0702030302020204" pitchFamily="66" charset="0"/>
                <a:ea typeface="华光行书_CNKI" panose="02000500000000000000" pitchFamily="2" charset="-122"/>
              </a:rPr>
              <a:t>double</a:t>
            </a:r>
            <a:r>
              <a:rPr lang="zh-CN" altLang="en-US" sz="2400" dirty="0">
                <a:solidFill>
                  <a:srgbClr val="104E87"/>
                </a:solidFill>
                <a:latin typeface="Comic Sans MS" panose="030F0702030302020204" pitchFamily="66" charset="0"/>
                <a:ea typeface="华光行书_CNKI" panose="02000500000000000000" pitchFamily="2" charset="-122"/>
              </a:rPr>
              <a:t>参数化，即用一个参数</a:t>
            </a:r>
            <a:r>
              <a:rPr lang="en-US" altLang="zh-CN" sz="2400" dirty="0">
                <a:solidFill>
                  <a:srgbClr val="104E87"/>
                </a:solidFill>
                <a:latin typeface="Comic Sans MS" panose="030F0702030302020204" pitchFamily="66" charset="0"/>
                <a:ea typeface="华光行书_CNKI" panose="02000500000000000000" pitchFamily="2" charset="-122"/>
              </a:rPr>
              <a:t>T</a:t>
            </a:r>
            <a:r>
              <a:rPr lang="zh-CN" altLang="en-US" sz="2400" dirty="0">
                <a:solidFill>
                  <a:srgbClr val="104E87"/>
                </a:solidFill>
                <a:latin typeface="Comic Sans MS" panose="030F0702030302020204" pitchFamily="66" charset="0"/>
                <a:ea typeface="华光行书_CNKI" panose="02000500000000000000" pitchFamily="2" charset="-122"/>
              </a:rPr>
              <a:t>来代替</a:t>
            </a:r>
          </a:p>
        </p:txBody>
      </p:sp>
      <p:sp>
        <p:nvSpPr>
          <p:cNvPr id="22" name="Rectangle 3">
            <a:extLst>
              <a:ext uri="{FF2B5EF4-FFF2-40B4-BE49-F238E27FC236}">
                <a16:creationId xmlns:a16="http://schemas.microsoft.com/office/drawing/2014/main" id="{89A6F501-6BE5-4B15-ADFC-9B45D16EAA05}"/>
              </a:ext>
            </a:extLst>
          </p:cNvPr>
          <p:cNvSpPr txBox="1">
            <a:spLocks noChangeArrowheads="1"/>
          </p:cNvSpPr>
          <p:nvPr/>
        </p:nvSpPr>
        <p:spPr bwMode="auto">
          <a:xfrm>
            <a:off x="6542950" y="4070995"/>
            <a:ext cx="5072949" cy="1310849"/>
          </a:xfrm>
          <a:prstGeom prst="rect">
            <a:avLst/>
          </a:prstGeom>
          <a:noFill/>
          <a:ln>
            <a:noFill/>
          </a:ln>
        </p:spPr>
        <p:txBody>
          <a:bodyPr/>
          <a:lstStyle>
            <a:lvl1pPr marL="469900" indent="-469900" algn="l" rtl="0" eaLnBrk="0" fontAlgn="base" hangingPunct="0">
              <a:spcBef>
                <a:spcPct val="20000"/>
              </a:spcBef>
              <a:spcAft>
                <a:spcPct val="0"/>
              </a:spcAft>
              <a:buClr>
                <a:schemeClr val="bg2"/>
              </a:buClr>
              <a:buSzPct val="70000"/>
              <a:buFont typeface="Wingdings" pitchFamily="2" charset="2"/>
              <a:buChar char="o"/>
              <a:defRPr sz="3200">
                <a:solidFill>
                  <a:srgbClr val="0000FF"/>
                </a:solidFill>
                <a:latin typeface="+mn-lt"/>
                <a:ea typeface="+mn-ea"/>
                <a:cs typeface="+mn-cs"/>
              </a:defRPr>
            </a:lvl1pPr>
            <a:lvl2pPr marL="908050" indent="-436563" algn="l" rtl="0" eaLnBrk="0" fontAlgn="base" hangingPunct="0">
              <a:spcBef>
                <a:spcPct val="20000"/>
              </a:spcBef>
              <a:spcAft>
                <a:spcPct val="0"/>
              </a:spcAft>
              <a:buClr>
                <a:schemeClr val="accent2"/>
              </a:buClr>
              <a:buSzPct val="75000"/>
              <a:buFont typeface="Wingdings" pitchFamily="2" charset="2"/>
              <a:buChar char="n"/>
              <a:defRPr sz="2800">
                <a:solidFill>
                  <a:srgbClr val="0000FF"/>
                </a:solidFill>
                <a:latin typeface="+mn-lt"/>
                <a:ea typeface="+mn-ea"/>
              </a:defRPr>
            </a:lvl2pPr>
            <a:lvl3pPr marL="1377950" indent="-468313" algn="l" rtl="0" eaLnBrk="0" fontAlgn="base" hangingPunct="0">
              <a:spcBef>
                <a:spcPct val="20000"/>
              </a:spcBef>
              <a:spcAft>
                <a:spcPct val="0"/>
              </a:spcAft>
              <a:buClr>
                <a:schemeClr val="bg2"/>
              </a:buClr>
              <a:buSzPct val="65000"/>
              <a:buFont typeface="Wingdings" pitchFamily="2" charset="2"/>
              <a:buChar char="o"/>
              <a:defRPr sz="2400">
                <a:solidFill>
                  <a:srgbClr val="0000FF"/>
                </a:solidFill>
                <a:latin typeface="+mn-lt"/>
                <a:ea typeface="+mn-ea"/>
              </a:defRPr>
            </a:lvl3pPr>
            <a:lvl4pPr marL="1827213" indent="-438150" algn="l" rtl="0" eaLnBrk="0" fontAlgn="base" hangingPunct="0">
              <a:spcBef>
                <a:spcPct val="20000"/>
              </a:spcBef>
              <a:spcAft>
                <a:spcPct val="0"/>
              </a:spcAft>
              <a:buClr>
                <a:schemeClr val="accent2"/>
              </a:buClr>
              <a:buSzPct val="75000"/>
              <a:buFont typeface="Wingdings" pitchFamily="2" charset="2"/>
              <a:buChar char="n"/>
              <a:defRPr sz="2000">
                <a:solidFill>
                  <a:srgbClr val="0000FF"/>
                </a:solidFill>
                <a:latin typeface="+mn-lt"/>
                <a:ea typeface="+mn-ea"/>
              </a:defRPr>
            </a:lvl4pPr>
            <a:lvl5pPr marL="2297113" indent="-468313" algn="l" rtl="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5pPr>
            <a:lvl6pPr marL="27543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6pPr>
            <a:lvl7pPr marL="32115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7pPr>
            <a:lvl8pPr marL="36687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8pPr>
            <a:lvl9pPr marL="41259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9pPr>
          </a:lstStyle>
          <a:p>
            <a:pPr marL="0" indent="0" eaLnBrk="1" hangingPunct="1">
              <a:buNone/>
              <a:defRPr/>
            </a:pPr>
            <a:r>
              <a:rPr lang="en-US" altLang="zh-CN" sz="2400" b="0" kern="0" dirty="0">
                <a:solidFill>
                  <a:srgbClr val="FF0000"/>
                </a:solidFill>
                <a:latin typeface="Comic Sans MS" panose="030F0702030302020204" pitchFamily="66" charset="0"/>
                <a:ea typeface="黑体" panose="02010609060101010101" pitchFamily="49" charset="-122"/>
              </a:rPr>
              <a:t>template &lt;class T&gt;   </a:t>
            </a:r>
            <a:r>
              <a:rPr lang="en-US" altLang="zh-CN" sz="2000" kern="0" dirty="0">
                <a:solidFill>
                  <a:srgbClr val="104E87"/>
                </a:solidFill>
                <a:latin typeface="Comic Sans MS" panose="030F0702030302020204" pitchFamily="66" charset="0"/>
                <a:ea typeface="黑体" panose="02010609060101010101" pitchFamily="49" charset="-122"/>
              </a:rPr>
              <a:t>//</a:t>
            </a:r>
            <a:r>
              <a:rPr lang="en-US" altLang="zh-CN" sz="2000" dirty="0">
                <a:solidFill>
                  <a:srgbClr val="104E87"/>
                </a:solidFill>
                <a:latin typeface="Comic Sans MS" panose="030F0702030302020204" pitchFamily="66" charset="0"/>
              </a:rPr>
              <a:t>&lt;</a:t>
            </a:r>
            <a:r>
              <a:rPr lang="en-US" altLang="zh-CN" sz="2000" dirty="0" err="1">
                <a:solidFill>
                  <a:srgbClr val="104E87"/>
                </a:solidFill>
                <a:latin typeface="Comic Sans MS" panose="030F0702030302020204" pitchFamily="66" charset="0"/>
              </a:rPr>
              <a:t>typename</a:t>
            </a:r>
            <a:r>
              <a:rPr lang="en-US" altLang="zh-CN" sz="2000" dirty="0">
                <a:solidFill>
                  <a:srgbClr val="104E87"/>
                </a:solidFill>
                <a:latin typeface="Comic Sans MS" panose="030F0702030302020204" pitchFamily="66" charset="0"/>
              </a:rPr>
              <a:t>  T&gt;</a:t>
            </a:r>
            <a:endParaRPr lang="en-US" altLang="zh-CN" sz="2000" b="0" kern="0" dirty="0">
              <a:solidFill>
                <a:srgbClr val="FF0000"/>
              </a:solidFill>
              <a:latin typeface="Comic Sans MS" panose="030F0702030302020204" pitchFamily="66" charset="0"/>
              <a:ea typeface="黑体" panose="02010609060101010101" pitchFamily="49" charset="-122"/>
            </a:endParaRPr>
          </a:p>
          <a:p>
            <a:pPr marL="0" indent="0" eaLnBrk="1" hangingPunct="1">
              <a:buFont typeface="Wingdings" pitchFamily="2" charset="2"/>
              <a:buNone/>
              <a:defRPr/>
            </a:pPr>
            <a:r>
              <a:rPr lang="en-US" altLang="zh-CN" sz="2400" b="0" kern="0" dirty="0">
                <a:solidFill>
                  <a:srgbClr val="FF0000"/>
                </a:solidFill>
                <a:latin typeface="Comic Sans MS" panose="030F0702030302020204" pitchFamily="66" charset="0"/>
                <a:ea typeface="黑体" panose="02010609060101010101" pitchFamily="49" charset="-122"/>
              </a:rPr>
              <a:t>T</a:t>
            </a:r>
            <a:r>
              <a:rPr lang="en-US" altLang="zh-CN" sz="2400" b="0" kern="0" dirty="0">
                <a:solidFill>
                  <a:srgbClr val="080808"/>
                </a:solidFill>
                <a:latin typeface="Comic Sans MS" panose="030F0702030302020204" pitchFamily="66" charset="0"/>
                <a:ea typeface="黑体" panose="02010609060101010101" pitchFamily="49" charset="-122"/>
              </a:rPr>
              <a:t> </a:t>
            </a:r>
            <a:r>
              <a:rPr lang="en-US" altLang="zh-CN" sz="2400" b="0" kern="0" dirty="0">
                <a:solidFill>
                  <a:srgbClr val="104E87"/>
                </a:solidFill>
                <a:latin typeface="Comic Sans MS" panose="030F0702030302020204" pitchFamily="66" charset="0"/>
                <a:ea typeface="黑体" panose="02010609060101010101" pitchFamily="49" charset="-122"/>
              </a:rPr>
              <a:t>abs(</a:t>
            </a:r>
            <a:r>
              <a:rPr lang="en-US" altLang="zh-CN" sz="2400" b="0" kern="0" dirty="0">
                <a:solidFill>
                  <a:srgbClr val="FF0000"/>
                </a:solidFill>
                <a:latin typeface="Comic Sans MS" panose="030F0702030302020204" pitchFamily="66" charset="0"/>
                <a:ea typeface="黑体" panose="02010609060101010101" pitchFamily="49" charset="-122"/>
              </a:rPr>
              <a:t>T</a:t>
            </a:r>
            <a:r>
              <a:rPr lang="en-US" altLang="zh-CN" sz="2400" b="0" kern="0" dirty="0">
                <a:solidFill>
                  <a:srgbClr val="080808"/>
                </a:solidFill>
                <a:latin typeface="Comic Sans MS" panose="030F0702030302020204" pitchFamily="66" charset="0"/>
                <a:ea typeface="黑体" panose="02010609060101010101" pitchFamily="49" charset="-122"/>
              </a:rPr>
              <a:t> </a:t>
            </a:r>
            <a:r>
              <a:rPr lang="en-US" altLang="zh-CN" sz="2400" b="0" kern="0" dirty="0">
                <a:solidFill>
                  <a:srgbClr val="104E87"/>
                </a:solidFill>
                <a:latin typeface="Comic Sans MS" panose="030F0702030302020204" pitchFamily="66" charset="0"/>
                <a:ea typeface="黑体" panose="02010609060101010101" pitchFamily="49" charset="-122"/>
              </a:rPr>
              <a:t>x)</a:t>
            </a:r>
          </a:p>
          <a:p>
            <a:pPr marL="0" indent="0" eaLnBrk="1" hangingPunct="1">
              <a:buFont typeface="Wingdings" pitchFamily="2" charset="2"/>
              <a:buNone/>
              <a:defRPr/>
            </a:pPr>
            <a:r>
              <a:rPr lang="en-US" altLang="zh-CN" sz="2400" b="0" kern="0" dirty="0">
                <a:solidFill>
                  <a:srgbClr val="104E87"/>
                </a:solidFill>
                <a:latin typeface="Comic Sans MS" panose="030F0702030302020204" pitchFamily="66" charset="0"/>
                <a:ea typeface="黑体" panose="02010609060101010101" pitchFamily="49" charset="-122"/>
              </a:rPr>
              <a:t>{return x&lt;0?-</a:t>
            </a:r>
            <a:r>
              <a:rPr lang="en-US" altLang="zh-CN" sz="2400" b="0" kern="0" dirty="0" err="1">
                <a:solidFill>
                  <a:srgbClr val="104E87"/>
                </a:solidFill>
                <a:latin typeface="Comic Sans MS" panose="030F0702030302020204" pitchFamily="66" charset="0"/>
                <a:ea typeface="黑体" panose="02010609060101010101" pitchFamily="49" charset="-122"/>
              </a:rPr>
              <a:t>x:x</a:t>
            </a:r>
            <a:r>
              <a:rPr lang="en-US" altLang="zh-CN" sz="2400" b="0" kern="0" dirty="0">
                <a:solidFill>
                  <a:srgbClr val="104E87"/>
                </a:solidFill>
                <a:latin typeface="Comic Sans MS" panose="030F0702030302020204" pitchFamily="66" charset="0"/>
                <a:ea typeface="黑体" panose="02010609060101010101" pitchFamily="49" charset="-122"/>
              </a:rPr>
              <a:t>;} </a:t>
            </a:r>
          </a:p>
        </p:txBody>
      </p:sp>
      <p:sp>
        <p:nvSpPr>
          <p:cNvPr id="23" name="Rectangle 3">
            <a:extLst>
              <a:ext uri="{FF2B5EF4-FFF2-40B4-BE49-F238E27FC236}">
                <a16:creationId xmlns:a16="http://schemas.microsoft.com/office/drawing/2014/main" id="{95698DD8-7CAE-41F7-B14C-83F45FE2BE3A}"/>
              </a:ext>
            </a:extLst>
          </p:cNvPr>
          <p:cNvSpPr txBox="1">
            <a:spLocks noChangeArrowheads="1"/>
          </p:cNvSpPr>
          <p:nvPr/>
        </p:nvSpPr>
        <p:spPr>
          <a:xfrm>
            <a:off x="6524491" y="2132785"/>
            <a:ext cx="5072948" cy="2043112"/>
          </a:xfrm>
          <a:prstGeom prst="rect">
            <a:avLst/>
          </a:prstGeom>
        </p:spPr>
        <p:txBody>
          <a:bodyPr/>
          <a:lstStyle>
            <a:lvl1pPr marL="457200" indent="-457200" algn="l" defTabSz="609600" rtl="0" eaLnBrk="1" latinLnBrk="0" hangingPunct="1">
              <a:spcBef>
                <a:spcPct val="20000"/>
              </a:spcBef>
              <a:buFont typeface="Arial" panose="020B0604020202020204"/>
              <a:buChar char="•"/>
              <a:defRPr sz="4265"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35" kern="1200">
                <a:solidFill>
                  <a:schemeClr val="tx1"/>
                </a:solidFill>
                <a:latin typeface="+mn-lt"/>
                <a:ea typeface="+mn-ea"/>
                <a:cs typeface="+mn-cs"/>
              </a:defRPr>
            </a:lvl2pPr>
            <a:lvl3pPr marL="1524000"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3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13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09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a:lstStyle>
          <a:p>
            <a:pPr marL="0" indent="0">
              <a:buFont typeface="Wingdings" panose="05000000000000000000" pitchFamily="2" charset="2"/>
              <a:buNone/>
              <a:defRPr/>
            </a:pPr>
            <a:r>
              <a:rPr lang="en-US" altLang="zh-CN" sz="2400" spc="-100" dirty="0">
                <a:solidFill>
                  <a:srgbClr val="FF0000"/>
                </a:solidFill>
                <a:latin typeface="Comic Sans MS" panose="030F0702030302020204" pitchFamily="66" charset="0"/>
                <a:ea typeface="华光行书_CNKI" panose="02000500000000000000" pitchFamily="2" charset="-122"/>
              </a:rPr>
              <a:t>template &lt;class </a:t>
            </a:r>
            <a:r>
              <a:rPr lang="zh-CN" altLang="en-US" sz="2400" spc="-100" dirty="0">
                <a:solidFill>
                  <a:srgbClr val="FF0000"/>
                </a:solidFill>
                <a:latin typeface="Comic Sans MS" panose="030F0702030302020204" pitchFamily="66" charset="0"/>
                <a:ea typeface="华光行书_CNKI" panose="02000500000000000000" pitchFamily="2" charset="-122"/>
              </a:rPr>
              <a:t>参数</a:t>
            </a:r>
            <a:r>
              <a:rPr lang="en-US" altLang="zh-CN" sz="2400" spc="-100" dirty="0">
                <a:solidFill>
                  <a:srgbClr val="FF0000"/>
                </a:solidFill>
                <a:latin typeface="Comic Sans MS" panose="030F0702030302020204" pitchFamily="66" charset="0"/>
                <a:ea typeface="华光行书_CNKI" panose="02000500000000000000" pitchFamily="2" charset="-122"/>
              </a:rPr>
              <a:t>1, class </a:t>
            </a:r>
            <a:r>
              <a:rPr lang="zh-CN" altLang="en-US" sz="2400" spc="-100" dirty="0">
                <a:solidFill>
                  <a:srgbClr val="FF0000"/>
                </a:solidFill>
                <a:latin typeface="Comic Sans MS" panose="030F0702030302020204" pitchFamily="66" charset="0"/>
                <a:ea typeface="华光行书_CNKI" panose="02000500000000000000" pitchFamily="2" charset="-122"/>
              </a:rPr>
              <a:t>参数</a:t>
            </a:r>
            <a:r>
              <a:rPr lang="en-US" altLang="zh-CN" sz="2400" spc="-100" dirty="0">
                <a:solidFill>
                  <a:srgbClr val="FF0000"/>
                </a:solidFill>
                <a:latin typeface="Comic Sans MS" panose="030F0702030302020204" pitchFamily="66" charset="0"/>
                <a:ea typeface="华光行书_CNKI" panose="02000500000000000000" pitchFamily="2" charset="-122"/>
              </a:rPr>
              <a:t>2, …&gt;</a:t>
            </a:r>
          </a:p>
          <a:p>
            <a:pPr algn="just">
              <a:buFont typeface="Wingdings" panose="05000000000000000000" pitchFamily="2" charset="2"/>
              <a:buNone/>
              <a:defRPr/>
            </a:pPr>
            <a:r>
              <a:rPr lang="zh-CN" altLang="en-US" sz="2400" spc="-100" dirty="0">
                <a:solidFill>
                  <a:srgbClr val="104E87"/>
                </a:solidFill>
                <a:latin typeface="Comic Sans MS" panose="030F0702030302020204" pitchFamily="66" charset="0"/>
                <a:ea typeface="华光行书_CNKI" panose="02000500000000000000" pitchFamily="2" charset="-122"/>
              </a:rPr>
              <a:t>函数类型 	函数名</a:t>
            </a:r>
            <a:r>
              <a:rPr lang="en-US" altLang="zh-CN" sz="2400" spc="-100" dirty="0">
                <a:solidFill>
                  <a:srgbClr val="104E87"/>
                </a:solidFill>
                <a:latin typeface="Comic Sans MS" panose="030F0702030302020204" pitchFamily="66" charset="0"/>
                <a:ea typeface="华光行书_CNKI" panose="02000500000000000000" pitchFamily="2" charset="-122"/>
              </a:rPr>
              <a:t>(</a:t>
            </a:r>
            <a:r>
              <a:rPr lang="zh-CN" altLang="en-US" sz="2400" spc="-100" dirty="0">
                <a:solidFill>
                  <a:srgbClr val="104E87"/>
                </a:solidFill>
                <a:latin typeface="Comic Sans MS" panose="030F0702030302020204" pitchFamily="66" charset="0"/>
                <a:ea typeface="华光行书_CNKI" panose="02000500000000000000" pitchFamily="2" charset="-122"/>
              </a:rPr>
              <a:t>形参表</a:t>
            </a:r>
            <a:r>
              <a:rPr lang="en-US" altLang="zh-CN" sz="2400" spc="-100" dirty="0">
                <a:solidFill>
                  <a:srgbClr val="104E87"/>
                </a:solidFill>
                <a:latin typeface="Comic Sans MS" panose="030F0702030302020204" pitchFamily="66" charset="0"/>
                <a:ea typeface="华光行书_CNKI" panose="02000500000000000000" pitchFamily="2" charset="-122"/>
              </a:rPr>
              <a:t>)</a:t>
            </a:r>
          </a:p>
          <a:p>
            <a:pPr algn="just">
              <a:buFont typeface="Wingdings" panose="05000000000000000000" pitchFamily="2" charset="2"/>
              <a:buNone/>
              <a:defRPr/>
            </a:pPr>
            <a:r>
              <a:rPr lang="en-US" altLang="zh-CN" sz="2400" spc="-100" dirty="0">
                <a:solidFill>
                  <a:srgbClr val="104E87"/>
                </a:solidFill>
                <a:latin typeface="Comic Sans MS" panose="030F0702030302020204" pitchFamily="66" charset="0"/>
                <a:ea typeface="华光行书_CNKI" panose="02000500000000000000" pitchFamily="2" charset="-122"/>
              </a:rPr>
              <a:t>{	</a:t>
            </a:r>
            <a:r>
              <a:rPr lang="zh-CN" altLang="en-US" sz="2400" spc="-100" dirty="0">
                <a:solidFill>
                  <a:srgbClr val="104E87"/>
                </a:solidFill>
                <a:latin typeface="Comic Sans MS" panose="030F0702030302020204" pitchFamily="66" charset="0"/>
                <a:ea typeface="华光行书_CNKI" panose="02000500000000000000" pitchFamily="2" charset="-122"/>
              </a:rPr>
              <a:t>函数体</a:t>
            </a:r>
            <a:r>
              <a:rPr lang="en-US" altLang="zh-CN" sz="2400" spc="-100" dirty="0">
                <a:solidFill>
                  <a:srgbClr val="104E87"/>
                </a:solidFill>
                <a:latin typeface="Comic Sans MS" panose="030F0702030302020204" pitchFamily="66" charset="0"/>
                <a:ea typeface="华光行书_CNKI" panose="02000500000000000000" pitchFamily="2" charset="-122"/>
              </a:rPr>
              <a:t>…</a:t>
            </a:r>
          </a:p>
          <a:p>
            <a:pPr>
              <a:buFont typeface="Wingdings" panose="05000000000000000000" pitchFamily="2" charset="2"/>
              <a:buNone/>
              <a:defRPr/>
            </a:pPr>
            <a:r>
              <a:rPr lang="en-US" altLang="zh-CN" sz="2400" spc="-100" dirty="0">
                <a:solidFill>
                  <a:srgbClr val="104E87"/>
                </a:solidFill>
                <a:latin typeface="Comic Sans MS" panose="030F0702030302020204" pitchFamily="66" charset="0"/>
                <a:ea typeface="华光行书_CNKI" panose="02000500000000000000" pitchFamily="2" charset="-122"/>
              </a:rPr>
              <a:t>} </a:t>
            </a:r>
          </a:p>
        </p:txBody>
      </p:sp>
      <p:sp>
        <p:nvSpPr>
          <p:cNvPr id="2" name="箭头: 右 1">
            <a:extLst>
              <a:ext uri="{FF2B5EF4-FFF2-40B4-BE49-F238E27FC236}">
                <a16:creationId xmlns:a16="http://schemas.microsoft.com/office/drawing/2014/main" id="{0CAC1D93-66D6-44C4-89C5-106EB8A446E1}"/>
              </a:ext>
            </a:extLst>
          </p:cNvPr>
          <p:cNvSpPr/>
          <p:nvPr/>
        </p:nvSpPr>
        <p:spPr>
          <a:xfrm>
            <a:off x="2785540" y="2321498"/>
            <a:ext cx="293077" cy="18576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27" name="AutoShape 27">
            <a:extLst>
              <a:ext uri="{FF2B5EF4-FFF2-40B4-BE49-F238E27FC236}">
                <a16:creationId xmlns:a16="http://schemas.microsoft.com/office/drawing/2014/main" id="{1451467F-4E7A-43A7-A528-956373CFFF19}"/>
              </a:ext>
            </a:extLst>
          </p:cNvPr>
          <p:cNvSpPr>
            <a:spLocks/>
          </p:cNvSpPr>
          <p:nvPr/>
        </p:nvSpPr>
        <p:spPr bwMode="auto">
          <a:xfrm>
            <a:off x="7924799" y="910393"/>
            <a:ext cx="4266407" cy="1117700"/>
          </a:xfrm>
          <a:prstGeom prst="borderCallout1">
            <a:avLst>
              <a:gd name="adj1" fmla="val 102426"/>
              <a:gd name="adj2" fmla="val 236"/>
              <a:gd name="adj3" fmla="val 128346"/>
              <a:gd name="adj4" fmla="val -1348"/>
            </a:avLst>
          </a:prstGeom>
          <a:solidFill>
            <a:srgbClr val="FFFF99"/>
          </a:solidFill>
          <a:ln w="9525">
            <a:solidFill>
              <a:srgbClr val="104E87"/>
            </a:solidFill>
            <a:miter lim="800000"/>
            <a:headEnd/>
            <a:tailEnd/>
          </a:ln>
        </p:spPr>
        <p:txBody>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marL="0" lvl="1">
              <a:spcBef>
                <a:spcPts val="0"/>
              </a:spcBef>
              <a:buNone/>
              <a:defRPr/>
            </a:pPr>
            <a:r>
              <a:rPr lang="zh-CN" altLang="en-US" sz="2400" kern="0" spc="-100" dirty="0">
                <a:solidFill>
                  <a:srgbClr val="104E87"/>
                </a:solidFill>
                <a:latin typeface="Comic Sans MS" panose="030F0702030302020204" pitchFamily="66" charset="0"/>
                <a:ea typeface="华光行书_CNKI" panose="02000500000000000000" pitchFamily="2" charset="-122"/>
              </a:rPr>
              <a:t>尖括号括</a:t>
            </a:r>
            <a:r>
              <a:rPr lang="en-US" altLang="zh-CN" sz="2400" kern="0" spc="-100" dirty="0">
                <a:solidFill>
                  <a:srgbClr val="104E87"/>
                </a:solidFill>
                <a:latin typeface="Comic Sans MS" panose="030F0702030302020204" pitchFamily="66" charset="0"/>
                <a:ea typeface="华光行书_CNKI" panose="02000500000000000000" pitchFamily="2" charset="-122"/>
              </a:rPr>
              <a:t>,</a:t>
            </a:r>
            <a:r>
              <a:rPr lang="zh-CN" altLang="en-US" sz="2400" kern="0" spc="-100" dirty="0">
                <a:solidFill>
                  <a:srgbClr val="104E87"/>
                </a:solidFill>
                <a:latin typeface="Comic Sans MS" panose="030F0702030302020204" pitchFamily="66" charset="0"/>
                <a:ea typeface="华光行书_CNKI" panose="02000500000000000000" pitchFamily="2" charset="-122"/>
              </a:rPr>
              <a:t>用逗号隔开不同的类形参数</a:t>
            </a:r>
            <a:r>
              <a:rPr lang="en-US" altLang="zh-CN" sz="2400" kern="0" spc="-100" dirty="0">
                <a:solidFill>
                  <a:srgbClr val="104E87"/>
                </a:solidFill>
                <a:latin typeface="Comic Sans MS" panose="030F0702030302020204" pitchFamily="66" charset="0"/>
                <a:ea typeface="华光行书_CNKI" panose="02000500000000000000" pitchFamily="2" charset="-122"/>
              </a:rPr>
              <a:t>,</a:t>
            </a:r>
            <a:r>
              <a:rPr lang="zh-CN" altLang="en-US" sz="2400" kern="0" spc="-100" dirty="0">
                <a:solidFill>
                  <a:srgbClr val="104E87"/>
                </a:solidFill>
                <a:latin typeface="Comic Sans MS" panose="030F0702030302020204" pitchFamily="66" charset="0"/>
                <a:ea typeface="华光行书_CNKI" panose="02000500000000000000" pitchFamily="2" charset="-122"/>
              </a:rPr>
              <a:t>每个都由</a:t>
            </a:r>
            <a:r>
              <a:rPr lang="en-US" altLang="zh-CN" sz="2400" kern="0" spc="-100" dirty="0">
                <a:solidFill>
                  <a:srgbClr val="104E87"/>
                </a:solidFill>
                <a:latin typeface="Comic Sans MS" panose="030F0702030302020204" pitchFamily="66" charset="0"/>
                <a:ea typeface="华光行书_CNKI" panose="02000500000000000000" pitchFamily="2" charset="-122"/>
              </a:rPr>
              <a:t>class</a:t>
            </a:r>
            <a:r>
              <a:rPr lang="zh-CN" altLang="en-US" sz="2400" kern="0" spc="-100" dirty="0">
                <a:solidFill>
                  <a:srgbClr val="104E87"/>
                </a:solidFill>
                <a:latin typeface="Comic Sans MS" panose="030F0702030302020204" pitchFamily="66" charset="0"/>
                <a:ea typeface="华光行书_CNKI" panose="02000500000000000000" pitchFamily="2" charset="-122"/>
              </a:rPr>
              <a:t>引入</a:t>
            </a:r>
            <a:r>
              <a:rPr lang="en-US" altLang="zh-CN" sz="2400" kern="0" spc="-100" dirty="0">
                <a:solidFill>
                  <a:srgbClr val="104E87"/>
                </a:solidFill>
                <a:latin typeface="Comic Sans MS" panose="030F0702030302020204" pitchFamily="66" charset="0"/>
                <a:ea typeface="华光行书_CNKI" panose="02000500000000000000" pitchFamily="2" charset="-122"/>
              </a:rPr>
              <a:t>,</a:t>
            </a:r>
            <a:r>
              <a:rPr lang="zh-CN" altLang="en-US" sz="2400" kern="0" spc="-100" dirty="0">
                <a:solidFill>
                  <a:srgbClr val="104E87"/>
                </a:solidFill>
                <a:latin typeface="Comic Sans MS" panose="030F0702030302020204" pitchFamily="66" charset="0"/>
                <a:ea typeface="华光行书_CNKI" panose="02000500000000000000" pitchFamily="2" charset="-122"/>
              </a:rPr>
              <a:t>类型参数必须在函数形参中出现</a:t>
            </a:r>
          </a:p>
        </p:txBody>
      </p:sp>
      <p:sp>
        <p:nvSpPr>
          <p:cNvPr id="28" name="Rectangle 4">
            <a:extLst>
              <a:ext uri="{FF2B5EF4-FFF2-40B4-BE49-F238E27FC236}">
                <a16:creationId xmlns:a16="http://schemas.microsoft.com/office/drawing/2014/main" id="{68E46893-2F05-439E-B407-063763758DC1}"/>
              </a:ext>
            </a:extLst>
          </p:cNvPr>
          <p:cNvSpPr>
            <a:spLocks noChangeArrowheads="1"/>
          </p:cNvSpPr>
          <p:nvPr/>
        </p:nvSpPr>
        <p:spPr bwMode="auto">
          <a:xfrm>
            <a:off x="428687" y="5732584"/>
            <a:ext cx="11763313" cy="999406"/>
          </a:xfrm>
          <a:prstGeom prst="rect">
            <a:avLst/>
          </a:prstGeom>
          <a:noFill/>
          <a:ln>
            <a:noFill/>
          </a:ln>
        </p:spPr>
        <p:txBody>
          <a:bodyPr/>
          <a:lstStyle/>
          <a:p>
            <a:pPr eaLnBrk="0" fontAlgn="base" hangingPunct="0">
              <a:spcBef>
                <a:spcPct val="20000"/>
              </a:spcBef>
              <a:spcAft>
                <a:spcPct val="0"/>
              </a:spcAft>
              <a:buClr>
                <a:schemeClr val="bg2"/>
              </a:buClr>
              <a:buSzPct val="70000"/>
            </a:pPr>
            <a:r>
              <a:rPr lang="zh-CN" altLang="en-US" sz="2800" kern="0" spc="-100" dirty="0">
                <a:solidFill>
                  <a:srgbClr val="104E87"/>
                </a:solidFill>
                <a:latin typeface="华光行书_CNKI" panose="02000500000000000000" pitchFamily="2" charset="-122"/>
                <a:ea typeface="华光行书_CNKI" panose="02000500000000000000" pitchFamily="2" charset="-122"/>
              </a:rPr>
              <a:t>函数模板只是说明</a:t>
            </a:r>
            <a:r>
              <a:rPr lang="en-US" altLang="zh-CN" sz="2800" kern="0" spc="-100" dirty="0">
                <a:solidFill>
                  <a:srgbClr val="104E87"/>
                </a:solidFill>
                <a:latin typeface="华光行书_CNKI" panose="02000500000000000000" pitchFamily="2" charset="-122"/>
                <a:ea typeface="华光行书_CNKI" panose="02000500000000000000" pitchFamily="2" charset="-122"/>
              </a:rPr>
              <a:t>,</a:t>
            </a:r>
            <a:r>
              <a:rPr lang="zh-CN" altLang="en-US" sz="2800" kern="0" spc="-100" dirty="0">
                <a:solidFill>
                  <a:srgbClr val="104E87"/>
                </a:solidFill>
                <a:latin typeface="华光行书_CNKI" panose="02000500000000000000" pitchFamily="2" charset="-122"/>
                <a:ea typeface="华光行书_CNKI" panose="02000500000000000000" pitchFamily="2" charset="-122"/>
              </a:rPr>
              <a:t>不能直接执行</a:t>
            </a:r>
            <a:r>
              <a:rPr lang="en-US" altLang="zh-CN" sz="2800" kern="0" spc="-100" dirty="0">
                <a:solidFill>
                  <a:srgbClr val="104E87"/>
                </a:solidFill>
                <a:latin typeface="华光行书_CNKI" panose="02000500000000000000" pitchFamily="2" charset="-122"/>
                <a:ea typeface="华光行书_CNKI" panose="02000500000000000000" pitchFamily="2" charset="-122"/>
              </a:rPr>
              <a:t>,</a:t>
            </a:r>
            <a:r>
              <a:rPr lang="zh-CN" altLang="en-US" sz="2800" kern="0" spc="-100" dirty="0">
                <a:solidFill>
                  <a:srgbClr val="104E87"/>
                </a:solidFill>
                <a:latin typeface="华光行书_CNKI" panose="02000500000000000000" pitchFamily="2" charset="-122"/>
                <a:ea typeface="华光行书_CNKI" panose="02000500000000000000" pitchFamily="2" charset="-122"/>
              </a:rPr>
              <a:t>需要实例化为模板函数后才能执行，即根据函数调用时的实际数据类型产生相应的函数</a:t>
            </a:r>
          </a:p>
          <a:p>
            <a:pPr eaLnBrk="0" fontAlgn="base" hangingPunct="0">
              <a:spcBef>
                <a:spcPct val="20000"/>
              </a:spcBef>
              <a:spcAft>
                <a:spcPct val="0"/>
              </a:spcAft>
              <a:buClr>
                <a:schemeClr val="bg2"/>
              </a:buClr>
              <a:buSzPct val="70000"/>
              <a:buFont typeface="Wingdings" panose="05000000000000000000" pitchFamily="2" charset="2"/>
              <a:buNone/>
            </a:pPr>
            <a:endParaRPr lang="en-US" altLang="zh-CN" sz="2800" kern="0" spc="-100" dirty="0">
              <a:solidFill>
                <a:srgbClr val="104E87"/>
              </a:solidFill>
              <a:latin typeface="华光行书_CNKI" panose="02000500000000000000" pitchFamily="2" charset="-122"/>
              <a:ea typeface="华光行书_CNKI" panose="02000500000000000000" pitchFamily="2" charset="-122"/>
            </a:endParaRPr>
          </a:p>
        </p:txBody>
      </p:sp>
    </p:spTree>
    <p:extLst>
      <p:ext uri="{BB962C8B-B14F-4D97-AF65-F5344CB8AC3E}">
        <p14:creationId xmlns:p14="http://schemas.microsoft.com/office/powerpoint/2010/main" val="322149585"/>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heel(1)">
                                      <p:cBhvr>
                                        <p:cTn id="7" dur="20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arn(inVertic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linds(horizontal)">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 calcmode="lin" valueType="num">
                                      <p:cBhvr>
                                        <p:cTn id="30" dur="1000" fill="hold"/>
                                        <p:tgtEl>
                                          <p:spTgt spid="22"/>
                                        </p:tgtEl>
                                        <p:attrNameLst>
                                          <p:attrName>ppt_w</p:attrName>
                                        </p:attrNameLst>
                                      </p:cBhvr>
                                      <p:tavLst>
                                        <p:tav tm="0">
                                          <p:val>
                                            <p:strVal val="#ppt_w*0.70"/>
                                          </p:val>
                                        </p:tav>
                                        <p:tav tm="100000">
                                          <p:val>
                                            <p:strVal val="#ppt_w"/>
                                          </p:val>
                                        </p:tav>
                                      </p:tavLst>
                                    </p:anim>
                                    <p:anim calcmode="lin" valueType="num">
                                      <p:cBhvr>
                                        <p:cTn id="31" dur="1000" fill="hold"/>
                                        <p:tgtEl>
                                          <p:spTgt spid="22"/>
                                        </p:tgtEl>
                                        <p:attrNameLst>
                                          <p:attrName>ppt_h</p:attrName>
                                        </p:attrNameLst>
                                      </p:cBhvr>
                                      <p:tavLst>
                                        <p:tav tm="0">
                                          <p:val>
                                            <p:strVal val="#ppt_h"/>
                                          </p:val>
                                        </p:tav>
                                        <p:tav tm="100000">
                                          <p:val>
                                            <p:strVal val="#ppt_h"/>
                                          </p:val>
                                        </p:tav>
                                      </p:tavLst>
                                    </p:anim>
                                    <p:animEffect transition="in" filter="fade">
                                      <p:cBhvr>
                                        <p:cTn id="32" dur="1000"/>
                                        <p:tgtEl>
                                          <p:spTgt spid="22"/>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3">
                                            <p:txEl>
                                              <p:pRg st="0" end="0"/>
                                            </p:txEl>
                                          </p:spTgt>
                                        </p:tgtEl>
                                        <p:attrNameLst>
                                          <p:attrName>style.visibility</p:attrName>
                                        </p:attrNameLst>
                                      </p:cBhvr>
                                      <p:to>
                                        <p:strVal val="visible"/>
                                      </p:to>
                                    </p:set>
                                    <p:animEffect transition="in" filter="dissolve">
                                      <p:cBhvr>
                                        <p:cTn id="35" dur="500"/>
                                        <p:tgtEl>
                                          <p:spTgt spid="23">
                                            <p:txEl>
                                              <p:pRg st="0" end="0"/>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3">
                                            <p:txEl>
                                              <p:pRg st="1" end="1"/>
                                            </p:txEl>
                                          </p:spTgt>
                                        </p:tgtEl>
                                        <p:attrNameLst>
                                          <p:attrName>style.visibility</p:attrName>
                                        </p:attrNameLst>
                                      </p:cBhvr>
                                      <p:to>
                                        <p:strVal val="visible"/>
                                      </p:to>
                                    </p:set>
                                    <p:animEffect transition="in" filter="dissolve">
                                      <p:cBhvr>
                                        <p:cTn id="38" dur="500"/>
                                        <p:tgtEl>
                                          <p:spTgt spid="23">
                                            <p:txEl>
                                              <p:pRg st="1" end="1"/>
                                            </p:txEl>
                                          </p:spTgt>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23">
                                            <p:txEl>
                                              <p:pRg st="2" end="2"/>
                                            </p:txEl>
                                          </p:spTgt>
                                        </p:tgtEl>
                                        <p:attrNameLst>
                                          <p:attrName>style.visibility</p:attrName>
                                        </p:attrNameLst>
                                      </p:cBhvr>
                                      <p:to>
                                        <p:strVal val="visible"/>
                                      </p:to>
                                    </p:set>
                                    <p:animEffect transition="in" filter="dissolve">
                                      <p:cBhvr>
                                        <p:cTn id="41" dur="500"/>
                                        <p:tgtEl>
                                          <p:spTgt spid="23">
                                            <p:txEl>
                                              <p:pRg st="2" end="2"/>
                                            </p:txEl>
                                          </p:spTgt>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23">
                                            <p:txEl>
                                              <p:pRg st="3" end="3"/>
                                            </p:txEl>
                                          </p:spTgt>
                                        </p:tgtEl>
                                        <p:attrNameLst>
                                          <p:attrName>style.visibility</p:attrName>
                                        </p:attrNameLst>
                                      </p:cBhvr>
                                      <p:to>
                                        <p:strVal val="visible"/>
                                      </p:to>
                                    </p:set>
                                    <p:animEffect transition="in" filter="dissolve">
                                      <p:cBhvr>
                                        <p:cTn id="44" dur="500"/>
                                        <p:tgtEl>
                                          <p:spTgt spid="23">
                                            <p:txEl>
                                              <p:pRg st="3" end="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blinds(horizontal)">
                                      <p:cBhvr>
                                        <p:cTn id="49" dur="500"/>
                                        <p:tgtEl>
                                          <p:spTgt spid="2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ipe(down)">
                                      <p:cBhvr>
                                        <p:cTn id="5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0" grpId="0"/>
      <p:bldP spid="21" grpId="0" animBg="1" autoUpdateAnimBg="0"/>
      <p:bldP spid="22" grpId="0"/>
      <p:bldP spid="23" grpId="0" build="p"/>
      <p:bldP spid="2" grpId="0" animBg="1"/>
      <p:bldP spid="27" grpId="0" animBg="1" autoUpdateAnimBg="0"/>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1" name="文本框 10">
            <a:extLst>
              <a:ext uri="{FF2B5EF4-FFF2-40B4-BE49-F238E27FC236}">
                <a16:creationId xmlns:a16="http://schemas.microsoft.com/office/drawing/2014/main" id="{82DF9CFE-89CC-4350-837D-EA5F28E6779B}"/>
              </a:ext>
            </a:extLst>
          </p:cNvPr>
          <p:cNvSpPr txBox="1"/>
          <p:nvPr/>
        </p:nvSpPr>
        <p:spPr>
          <a:xfrm>
            <a:off x="247719" y="224527"/>
            <a:ext cx="7583296" cy="584775"/>
          </a:xfrm>
          <a:prstGeom prst="rect">
            <a:avLst/>
          </a:prstGeom>
          <a:noFill/>
        </p:spPr>
        <p:txBody>
          <a:bodyPr wrap="square" rtlCol="0">
            <a:spAutoFit/>
          </a:bodyPr>
          <a:lstStyle/>
          <a:p>
            <a:r>
              <a:rPr kumimoji="1" lang="en-US" altLang="zh-CN" sz="3200" b="1" dirty="0">
                <a:latin typeface="华光胖头鱼_CNKI" panose="02000500000000000000" pitchFamily="2" charset="-122"/>
                <a:ea typeface="华光胖头鱼_CNKI" panose="02000500000000000000" pitchFamily="2" charset="-122"/>
              </a:rPr>
              <a:t>11.2</a:t>
            </a:r>
            <a:r>
              <a:rPr kumimoji="1" lang="zh-CN" altLang="en-US" sz="3200" b="1" dirty="0">
                <a:latin typeface="华光胖头鱼_CNKI" panose="02000500000000000000" pitchFamily="2" charset="-122"/>
                <a:ea typeface="华光胖头鱼_CNKI" panose="02000500000000000000" pitchFamily="2" charset="-122"/>
              </a:rPr>
              <a:t>函数模板</a:t>
            </a:r>
          </a:p>
        </p:txBody>
      </p:sp>
      <p:sp>
        <p:nvSpPr>
          <p:cNvPr id="18" name="Rectangle 3">
            <a:extLst>
              <a:ext uri="{FF2B5EF4-FFF2-40B4-BE49-F238E27FC236}">
                <a16:creationId xmlns:a16="http://schemas.microsoft.com/office/drawing/2014/main" id="{42843694-FC47-4861-A24B-B49E3B390B3A}"/>
              </a:ext>
            </a:extLst>
          </p:cNvPr>
          <p:cNvSpPr txBox="1">
            <a:spLocks noChangeArrowheads="1"/>
          </p:cNvSpPr>
          <p:nvPr/>
        </p:nvSpPr>
        <p:spPr>
          <a:xfrm>
            <a:off x="58452" y="819876"/>
            <a:ext cx="4646042" cy="887413"/>
          </a:xfrm>
          <a:prstGeom prst="rect">
            <a:avLst/>
          </a:prstGeom>
        </p:spPr>
        <p:txBody>
          <a:bodyPr/>
          <a:lstStyle>
            <a:lvl1pPr marL="457200" indent="-457200" algn="l" defTabSz="609600" rtl="0" eaLnBrk="1" latinLnBrk="0" hangingPunct="1">
              <a:spcBef>
                <a:spcPct val="20000"/>
              </a:spcBef>
              <a:buFont typeface="Arial" panose="020B0604020202020204"/>
              <a:buChar char="•"/>
              <a:defRPr sz="4265"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35" kern="1200">
                <a:solidFill>
                  <a:schemeClr val="tx1"/>
                </a:solidFill>
                <a:latin typeface="+mn-lt"/>
                <a:ea typeface="+mn-ea"/>
                <a:cs typeface="+mn-cs"/>
              </a:defRPr>
            </a:lvl2pPr>
            <a:lvl3pPr marL="1524000"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3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13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09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a:lstStyle>
          <a:p>
            <a:pPr marL="0" indent="0">
              <a:spcBef>
                <a:spcPts val="0"/>
              </a:spcBef>
              <a:buFont typeface="Wingdings" panose="05000000000000000000" pitchFamily="2" charset="2"/>
              <a:buNone/>
            </a:pPr>
            <a:r>
              <a:rPr lang="zh-CN" altLang="en-US" sz="2400" dirty="0">
                <a:solidFill>
                  <a:srgbClr val="104E87"/>
                </a:solidFill>
                <a:latin typeface="Comic Sans MS" panose="030F0702030302020204" pitchFamily="66" charset="0"/>
                <a:ea typeface="华光行书_CNKI" panose="02000500000000000000" pitchFamily="2" charset="-122"/>
              </a:rPr>
              <a:t>在函数模板定义</a:t>
            </a:r>
            <a:r>
              <a:rPr lang="en-US" altLang="zh-CN" sz="2400" dirty="0">
                <a:solidFill>
                  <a:srgbClr val="104E87"/>
                </a:solidFill>
                <a:latin typeface="Comic Sans MS" panose="030F0702030302020204" pitchFamily="66" charset="0"/>
                <a:ea typeface="华光行书_CNKI" panose="02000500000000000000" pitchFamily="2" charset="-122"/>
              </a:rPr>
              <a:t>template</a:t>
            </a:r>
            <a:r>
              <a:rPr lang="zh-CN" altLang="en-US" sz="2400" dirty="0">
                <a:solidFill>
                  <a:srgbClr val="104E87"/>
                </a:solidFill>
                <a:latin typeface="Comic Sans MS" panose="030F0702030302020204" pitchFamily="66" charset="0"/>
                <a:ea typeface="华光行书_CNKI" panose="02000500000000000000" pitchFamily="2" charset="-122"/>
              </a:rPr>
              <a:t>中给出的每一个形式类属参数都</a:t>
            </a:r>
            <a:r>
              <a:rPr lang="zh-CN" altLang="en-US" sz="2400" dirty="0">
                <a:solidFill>
                  <a:srgbClr val="FF0000"/>
                </a:solidFill>
                <a:latin typeface="Comic Sans MS" panose="030F0702030302020204" pitchFamily="66" charset="0"/>
                <a:ea typeface="华光行书_CNKI" panose="02000500000000000000" pitchFamily="2" charset="-122"/>
              </a:rPr>
              <a:t>必须出现在函数形参表</a:t>
            </a:r>
            <a:r>
              <a:rPr lang="zh-CN" altLang="en-US" sz="2400" dirty="0">
                <a:solidFill>
                  <a:srgbClr val="104E87"/>
                </a:solidFill>
                <a:latin typeface="Comic Sans MS" panose="030F0702030302020204" pitchFamily="66" charset="0"/>
                <a:ea typeface="华光行书_CNKI" panose="02000500000000000000" pitchFamily="2" charset="-122"/>
              </a:rPr>
              <a:t>中</a:t>
            </a:r>
          </a:p>
        </p:txBody>
      </p:sp>
      <p:sp>
        <p:nvSpPr>
          <p:cNvPr id="19" name="Rectangle 3">
            <a:extLst>
              <a:ext uri="{FF2B5EF4-FFF2-40B4-BE49-F238E27FC236}">
                <a16:creationId xmlns:a16="http://schemas.microsoft.com/office/drawing/2014/main" id="{4B9259F6-17FA-419C-9939-5E0D2FFC2F59}"/>
              </a:ext>
            </a:extLst>
          </p:cNvPr>
          <p:cNvSpPr txBox="1">
            <a:spLocks noChangeArrowheads="1"/>
          </p:cNvSpPr>
          <p:nvPr/>
        </p:nvSpPr>
        <p:spPr bwMode="auto">
          <a:xfrm>
            <a:off x="25105" y="2004123"/>
            <a:ext cx="4395553" cy="1295400"/>
          </a:xfrm>
          <a:prstGeom prst="rect">
            <a:avLst/>
          </a:prstGeom>
          <a:noFill/>
          <a:ln>
            <a:noFill/>
          </a:ln>
        </p:spPr>
        <p:txBody>
          <a:bodyPr/>
          <a:lstStyle>
            <a:lvl1pPr marL="469900" indent="-469900" algn="l" rtl="0" eaLnBrk="0" fontAlgn="base" hangingPunct="0">
              <a:spcBef>
                <a:spcPct val="20000"/>
              </a:spcBef>
              <a:spcAft>
                <a:spcPct val="0"/>
              </a:spcAft>
              <a:buClr>
                <a:schemeClr val="bg2"/>
              </a:buClr>
              <a:buSzPct val="70000"/>
              <a:buFont typeface="Wingdings" pitchFamily="2" charset="2"/>
              <a:buChar char="o"/>
              <a:defRPr sz="3200">
                <a:solidFill>
                  <a:srgbClr val="0000FF"/>
                </a:solidFill>
                <a:latin typeface="+mn-lt"/>
                <a:ea typeface="+mn-ea"/>
                <a:cs typeface="+mn-cs"/>
              </a:defRPr>
            </a:lvl1pPr>
            <a:lvl2pPr marL="908050" indent="-436563" algn="l" rtl="0" eaLnBrk="0" fontAlgn="base" hangingPunct="0">
              <a:spcBef>
                <a:spcPct val="20000"/>
              </a:spcBef>
              <a:spcAft>
                <a:spcPct val="0"/>
              </a:spcAft>
              <a:buClr>
                <a:schemeClr val="accent2"/>
              </a:buClr>
              <a:buSzPct val="75000"/>
              <a:buFont typeface="Wingdings" pitchFamily="2" charset="2"/>
              <a:buChar char="n"/>
              <a:defRPr sz="2800">
                <a:solidFill>
                  <a:srgbClr val="0000FF"/>
                </a:solidFill>
                <a:latin typeface="+mn-lt"/>
                <a:ea typeface="+mn-ea"/>
              </a:defRPr>
            </a:lvl2pPr>
            <a:lvl3pPr marL="1377950" indent="-468313" algn="l" rtl="0" eaLnBrk="0" fontAlgn="base" hangingPunct="0">
              <a:spcBef>
                <a:spcPct val="20000"/>
              </a:spcBef>
              <a:spcAft>
                <a:spcPct val="0"/>
              </a:spcAft>
              <a:buClr>
                <a:schemeClr val="bg2"/>
              </a:buClr>
              <a:buSzPct val="65000"/>
              <a:buFont typeface="Wingdings" pitchFamily="2" charset="2"/>
              <a:buChar char="o"/>
              <a:defRPr sz="2400">
                <a:solidFill>
                  <a:srgbClr val="0000FF"/>
                </a:solidFill>
                <a:latin typeface="+mn-lt"/>
                <a:ea typeface="+mn-ea"/>
              </a:defRPr>
            </a:lvl3pPr>
            <a:lvl4pPr marL="1827213" indent="-438150" algn="l" rtl="0" eaLnBrk="0" fontAlgn="base" hangingPunct="0">
              <a:spcBef>
                <a:spcPct val="20000"/>
              </a:spcBef>
              <a:spcAft>
                <a:spcPct val="0"/>
              </a:spcAft>
              <a:buClr>
                <a:schemeClr val="accent2"/>
              </a:buClr>
              <a:buSzPct val="75000"/>
              <a:buFont typeface="Wingdings" pitchFamily="2" charset="2"/>
              <a:buChar char="n"/>
              <a:defRPr sz="2000">
                <a:solidFill>
                  <a:srgbClr val="0000FF"/>
                </a:solidFill>
                <a:latin typeface="+mn-lt"/>
                <a:ea typeface="+mn-ea"/>
              </a:defRPr>
            </a:lvl4pPr>
            <a:lvl5pPr marL="2297113" indent="-468313" algn="l" rtl="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5pPr>
            <a:lvl6pPr marL="27543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6pPr>
            <a:lvl7pPr marL="32115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7pPr>
            <a:lvl8pPr marL="36687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8pPr>
            <a:lvl9pPr marL="41259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9pPr>
          </a:lstStyle>
          <a:p>
            <a:pPr marL="0" lvl="1" indent="0" eaLnBrk="1" hangingPunct="1">
              <a:lnSpc>
                <a:spcPct val="90000"/>
              </a:lnSpc>
              <a:spcBef>
                <a:spcPts val="0"/>
              </a:spcBef>
              <a:buFont typeface="Wingdings" pitchFamily="2" charset="2"/>
              <a:buNone/>
              <a:defRPr/>
            </a:pPr>
            <a:r>
              <a:rPr lang="en-US" altLang="zh-CN" sz="2400" b="0" kern="0" dirty="0">
                <a:solidFill>
                  <a:srgbClr val="104E87"/>
                </a:solidFill>
                <a:latin typeface="Comic Sans MS" panose="030F0702030302020204" pitchFamily="66" charset="0"/>
                <a:ea typeface="华光行书_CNKI" panose="02000500000000000000" pitchFamily="2" charset="-122"/>
              </a:rPr>
              <a:t>template &lt;class T1, class T2&gt;</a:t>
            </a:r>
          </a:p>
          <a:p>
            <a:pPr marL="0" indent="0" algn="just" eaLnBrk="1" hangingPunct="1">
              <a:lnSpc>
                <a:spcPct val="90000"/>
              </a:lnSpc>
              <a:spcBef>
                <a:spcPts val="0"/>
              </a:spcBef>
              <a:buFont typeface="Wingdings" pitchFamily="2" charset="2"/>
              <a:buNone/>
              <a:defRPr/>
            </a:pPr>
            <a:r>
              <a:rPr lang="en-US" altLang="zh-CN" sz="2400" b="0" kern="0" dirty="0">
                <a:solidFill>
                  <a:srgbClr val="104E87"/>
                </a:solidFill>
                <a:latin typeface="Comic Sans MS" panose="030F0702030302020204" pitchFamily="66" charset="0"/>
                <a:ea typeface="华光行书_CNKI" panose="02000500000000000000" pitchFamily="2" charset="-122"/>
              </a:rPr>
              <a:t>void  fun(T1 x, T2 y)</a:t>
            </a:r>
          </a:p>
          <a:p>
            <a:pPr marL="0" indent="0" algn="just" eaLnBrk="1" hangingPunct="1">
              <a:lnSpc>
                <a:spcPct val="90000"/>
              </a:lnSpc>
              <a:spcBef>
                <a:spcPts val="0"/>
              </a:spcBef>
              <a:buFont typeface="Wingdings" pitchFamily="2" charset="2"/>
              <a:buNone/>
              <a:defRPr/>
            </a:pPr>
            <a:r>
              <a:rPr lang="en-US" altLang="zh-CN" sz="2400" b="0" kern="0" dirty="0">
                <a:solidFill>
                  <a:srgbClr val="104E87"/>
                </a:solidFill>
                <a:latin typeface="Comic Sans MS" panose="030F0702030302020204" pitchFamily="66" charset="0"/>
                <a:ea typeface="华光行书_CNKI" panose="02000500000000000000" pitchFamily="2" charset="-122"/>
              </a:rPr>
              <a:t>{ …… 	} </a:t>
            </a:r>
          </a:p>
        </p:txBody>
      </p:sp>
      <p:sp>
        <p:nvSpPr>
          <p:cNvPr id="20" name="Rectangle 3">
            <a:extLst>
              <a:ext uri="{FF2B5EF4-FFF2-40B4-BE49-F238E27FC236}">
                <a16:creationId xmlns:a16="http://schemas.microsoft.com/office/drawing/2014/main" id="{5A6287E6-49D4-4454-985B-9408BC957552}"/>
              </a:ext>
            </a:extLst>
          </p:cNvPr>
          <p:cNvSpPr txBox="1">
            <a:spLocks noChangeArrowheads="1"/>
          </p:cNvSpPr>
          <p:nvPr/>
        </p:nvSpPr>
        <p:spPr bwMode="auto">
          <a:xfrm>
            <a:off x="42584" y="3363786"/>
            <a:ext cx="3400479" cy="2160587"/>
          </a:xfrm>
          <a:prstGeom prst="rect">
            <a:avLst/>
          </a:prstGeom>
          <a:noFill/>
          <a:ln>
            <a:noFill/>
          </a:ln>
        </p:spPr>
        <p:txBody>
          <a:bodyPr/>
          <a:lstStyle>
            <a:defPPr>
              <a:defRPr lang="en-US"/>
            </a:defPPr>
            <a:lvl1pPr indent="0" algn="just" fontAlgn="base">
              <a:lnSpc>
                <a:spcPct val="90000"/>
              </a:lnSpc>
              <a:spcBef>
                <a:spcPts val="0"/>
              </a:spcBef>
              <a:spcAft>
                <a:spcPct val="0"/>
              </a:spcAft>
              <a:buClr>
                <a:schemeClr val="bg2"/>
              </a:buClr>
              <a:buSzPct val="70000"/>
              <a:buFont typeface="Wingdings" pitchFamily="2" charset="2"/>
              <a:buNone/>
              <a:defRPr b="0" kern="0">
                <a:solidFill>
                  <a:srgbClr val="104E87"/>
                </a:solidFill>
                <a:latin typeface="Comic Sans MS" panose="030F0702030302020204" pitchFamily="66" charset="0"/>
                <a:ea typeface="华光行书_CNKI" panose="02000500000000000000" pitchFamily="2" charset="-122"/>
              </a:defRPr>
            </a:lvl1pPr>
            <a:lvl2pPr marL="0" lvl="1" indent="0" fontAlgn="base">
              <a:lnSpc>
                <a:spcPct val="90000"/>
              </a:lnSpc>
              <a:spcBef>
                <a:spcPts val="0"/>
              </a:spcBef>
              <a:spcAft>
                <a:spcPct val="0"/>
              </a:spcAft>
              <a:buClr>
                <a:schemeClr val="accent2"/>
              </a:buClr>
              <a:buSzPct val="75000"/>
              <a:buFont typeface="Wingdings" pitchFamily="2" charset="2"/>
              <a:buNone/>
              <a:defRPr b="0" kern="0">
                <a:solidFill>
                  <a:srgbClr val="104E87"/>
                </a:solidFill>
                <a:latin typeface="Comic Sans MS" panose="030F0702030302020204" pitchFamily="66" charset="0"/>
                <a:ea typeface="华光行书_CNKI" panose="02000500000000000000" pitchFamily="2" charset="-122"/>
              </a:defRPr>
            </a:lvl2pPr>
            <a:lvl3pPr marL="1377950" indent="-468313" eaLnBrk="0" fontAlgn="base" hangingPunct="0">
              <a:spcBef>
                <a:spcPct val="20000"/>
              </a:spcBef>
              <a:spcAft>
                <a:spcPct val="0"/>
              </a:spcAft>
              <a:buClr>
                <a:schemeClr val="bg2"/>
              </a:buClr>
              <a:buSzPct val="65000"/>
              <a:buFont typeface="Wingdings"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pPr lvl="1"/>
            <a:r>
              <a:rPr lang="en-US" altLang="zh-CN" dirty="0"/>
              <a:t>template &lt;class TYPE&gt; </a:t>
            </a:r>
          </a:p>
          <a:p>
            <a:pPr lvl="1"/>
            <a:r>
              <a:rPr lang="en-US" altLang="zh-CN" dirty="0"/>
              <a:t>void </a:t>
            </a:r>
            <a:r>
              <a:rPr lang="en-US" altLang="zh-CN" dirty="0" err="1"/>
              <a:t>func</a:t>
            </a:r>
            <a:r>
              <a:rPr lang="en-US" altLang="zh-CN" dirty="0"/>
              <a:t>() </a:t>
            </a:r>
          </a:p>
          <a:p>
            <a:pPr lvl="1"/>
            <a:r>
              <a:rPr lang="en-US" altLang="zh-CN" dirty="0"/>
              <a:t>{ TYPE obj;</a:t>
            </a:r>
          </a:p>
          <a:p>
            <a:pPr lvl="1"/>
            <a:r>
              <a:rPr lang="en-US" altLang="zh-CN" dirty="0"/>
              <a:t>……</a:t>
            </a:r>
          </a:p>
          <a:p>
            <a:pPr lvl="1"/>
            <a:r>
              <a:rPr lang="en-US" altLang="zh-CN" dirty="0"/>
              <a:t>} </a:t>
            </a:r>
          </a:p>
        </p:txBody>
      </p:sp>
      <p:sp>
        <p:nvSpPr>
          <p:cNvPr id="21" name="Rectangle 3">
            <a:extLst>
              <a:ext uri="{FF2B5EF4-FFF2-40B4-BE49-F238E27FC236}">
                <a16:creationId xmlns:a16="http://schemas.microsoft.com/office/drawing/2014/main" id="{6582CC18-A2A6-4DD4-B96D-BD14FC60843C}"/>
              </a:ext>
            </a:extLst>
          </p:cNvPr>
          <p:cNvSpPr txBox="1">
            <a:spLocks noChangeArrowheads="1"/>
          </p:cNvSpPr>
          <p:nvPr/>
        </p:nvSpPr>
        <p:spPr bwMode="auto">
          <a:xfrm>
            <a:off x="-15867" y="5294460"/>
            <a:ext cx="3959225" cy="1482725"/>
          </a:xfrm>
          <a:prstGeom prst="rect">
            <a:avLst/>
          </a:prstGeom>
          <a:noFill/>
          <a:ln>
            <a:noFill/>
          </a:ln>
        </p:spPr>
        <p:txBody>
          <a:bodyPr/>
          <a:lstStyle>
            <a:defPPr>
              <a:defRPr lang="en-US"/>
            </a:defPPr>
            <a:lvl1pPr indent="0" algn="just" fontAlgn="base">
              <a:lnSpc>
                <a:spcPct val="90000"/>
              </a:lnSpc>
              <a:spcBef>
                <a:spcPts val="0"/>
              </a:spcBef>
              <a:spcAft>
                <a:spcPct val="0"/>
              </a:spcAft>
              <a:buClr>
                <a:schemeClr val="bg2"/>
              </a:buClr>
              <a:buSzPct val="70000"/>
              <a:buFont typeface="Wingdings" pitchFamily="2" charset="2"/>
              <a:buNone/>
              <a:defRPr b="0" kern="0">
                <a:solidFill>
                  <a:srgbClr val="104E87"/>
                </a:solidFill>
                <a:latin typeface="Comic Sans MS" panose="030F0702030302020204" pitchFamily="66" charset="0"/>
                <a:ea typeface="华光行书_CNKI" panose="02000500000000000000" pitchFamily="2" charset="-122"/>
              </a:defRPr>
            </a:lvl1pPr>
            <a:lvl2pPr marL="0" lvl="1" indent="0" fontAlgn="base">
              <a:lnSpc>
                <a:spcPct val="90000"/>
              </a:lnSpc>
              <a:spcBef>
                <a:spcPts val="0"/>
              </a:spcBef>
              <a:spcAft>
                <a:spcPct val="0"/>
              </a:spcAft>
              <a:buClr>
                <a:schemeClr val="accent2"/>
              </a:buClr>
              <a:buSzPct val="75000"/>
              <a:buFont typeface="Wingdings" pitchFamily="2" charset="2"/>
              <a:buNone/>
              <a:defRPr b="0" kern="0">
                <a:solidFill>
                  <a:srgbClr val="104E87"/>
                </a:solidFill>
                <a:latin typeface="Comic Sans MS" panose="030F0702030302020204" pitchFamily="66" charset="0"/>
                <a:ea typeface="华光行书_CNKI" panose="02000500000000000000" pitchFamily="2" charset="-122"/>
              </a:defRPr>
            </a:lvl2pPr>
            <a:lvl3pPr marL="1377950" indent="-468313" eaLnBrk="0" fontAlgn="base" hangingPunct="0">
              <a:spcBef>
                <a:spcPct val="20000"/>
              </a:spcBef>
              <a:spcAft>
                <a:spcPct val="0"/>
              </a:spcAft>
              <a:buClr>
                <a:schemeClr val="bg2"/>
              </a:buClr>
              <a:buSzPct val="65000"/>
              <a:buFont typeface="Wingdings"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pPr lvl="1"/>
            <a:r>
              <a:rPr lang="en-US" altLang="zh-CN" dirty="0"/>
              <a:t>template &lt;class TYPE&gt;	</a:t>
            </a:r>
          </a:p>
          <a:p>
            <a:pPr lvl="1"/>
            <a:r>
              <a:rPr lang="en-US" altLang="zh-CN" dirty="0"/>
              <a:t>TYPE* </a:t>
            </a:r>
            <a:r>
              <a:rPr lang="en-US" altLang="zh-CN" dirty="0" err="1"/>
              <a:t>func</a:t>
            </a:r>
            <a:r>
              <a:rPr lang="en-US" altLang="zh-CN" dirty="0"/>
              <a:t>() 		</a:t>
            </a:r>
          </a:p>
          <a:p>
            <a:pPr lvl="1"/>
            <a:r>
              <a:rPr lang="en-US" altLang="zh-CN" dirty="0"/>
              <a:t>{ ……}									    			</a:t>
            </a:r>
          </a:p>
        </p:txBody>
      </p:sp>
      <p:sp>
        <p:nvSpPr>
          <p:cNvPr id="22" name="矩形 21">
            <a:extLst>
              <a:ext uri="{FF2B5EF4-FFF2-40B4-BE49-F238E27FC236}">
                <a16:creationId xmlns:a16="http://schemas.microsoft.com/office/drawing/2014/main" id="{D5EC8D89-BA9D-47BE-B04F-7710D2A80FA2}"/>
              </a:ext>
            </a:extLst>
          </p:cNvPr>
          <p:cNvSpPr>
            <a:spLocks noChangeArrowheads="1"/>
          </p:cNvSpPr>
          <p:nvPr/>
        </p:nvSpPr>
        <p:spPr bwMode="auto">
          <a:xfrm>
            <a:off x="1943600" y="5600238"/>
            <a:ext cx="493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kumimoji="1" lang="en-US" altLang="zh-CN" sz="2400" b="1" dirty="0">
                <a:solidFill>
                  <a:srgbClr val="FF0000"/>
                </a:solidFill>
                <a:latin typeface="华文琥珀" panose="02010800040101010101" pitchFamily="2" charset="-122"/>
                <a:ea typeface="华文琥珀" panose="02010800040101010101" pitchFamily="2" charset="-122"/>
              </a:rPr>
              <a:t>×</a:t>
            </a:r>
            <a:endParaRPr lang="zh-CN" altLang="en-US" sz="2400" b="1" dirty="0">
              <a:solidFill>
                <a:schemeClr val="tx1"/>
              </a:solidFill>
              <a:latin typeface="华文琥珀" panose="02010800040101010101" pitchFamily="2" charset="-122"/>
              <a:ea typeface="华文琥珀" panose="02010800040101010101" pitchFamily="2" charset="-122"/>
            </a:endParaRPr>
          </a:p>
        </p:txBody>
      </p:sp>
      <p:sp>
        <p:nvSpPr>
          <p:cNvPr id="23" name="矩形 22">
            <a:extLst>
              <a:ext uri="{FF2B5EF4-FFF2-40B4-BE49-F238E27FC236}">
                <a16:creationId xmlns:a16="http://schemas.microsoft.com/office/drawing/2014/main" id="{6FF88F26-C15D-4ECB-9B61-1FCB85BD9824}"/>
              </a:ext>
            </a:extLst>
          </p:cNvPr>
          <p:cNvSpPr>
            <a:spLocks noChangeArrowheads="1"/>
          </p:cNvSpPr>
          <p:nvPr/>
        </p:nvSpPr>
        <p:spPr bwMode="auto">
          <a:xfrm>
            <a:off x="1697378" y="3627282"/>
            <a:ext cx="4924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0"/>
              </a:spcBef>
            </a:pPr>
            <a:r>
              <a:rPr kumimoji="1" lang="en-US" altLang="zh-CN" b="1" dirty="0">
                <a:solidFill>
                  <a:srgbClr val="FF0000"/>
                </a:solidFill>
                <a:latin typeface="华文琥珀" panose="02010800040101010101" pitchFamily="2" charset="-122"/>
                <a:ea typeface="华文琥珀" panose="02010800040101010101" pitchFamily="2" charset="-122"/>
              </a:rPr>
              <a:t>×</a:t>
            </a:r>
            <a:endParaRPr kumimoji="1" lang="zh-CN" altLang="en-US" b="1" dirty="0">
              <a:solidFill>
                <a:srgbClr val="FF0000"/>
              </a:solidFill>
              <a:latin typeface="华文琥珀" panose="02010800040101010101" pitchFamily="2" charset="-122"/>
              <a:ea typeface="华文琥珀" panose="02010800040101010101" pitchFamily="2" charset="-122"/>
            </a:endParaRPr>
          </a:p>
        </p:txBody>
      </p:sp>
      <p:sp>
        <p:nvSpPr>
          <p:cNvPr id="15" name="Rectangle 3">
            <a:extLst>
              <a:ext uri="{FF2B5EF4-FFF2-40B4-BE49-F238E27FC236}">
                <a16:creationId xmlns:a16="http://schemas.microsoft.com/office/drawing/2014/main" id="{F14C25B9-D2E1-4A9D-AEF4-73F2D3E387A0}"/>
              </a:ext>
            </a:extLst>
          </p:cNvPr>
          <p:cNvSpPr txBox="1">
            <a:spLocks noChangeArrowheads="1"/>
          </p:cNvSpPr>
          <p:nvPr/>
        </p:nvSpPr>
        <p:spPr bwMode="auto">
          <a:xfrm>
            <a:off x="4757309" y="1365740"/>
            <a:ext cx="4362205" cy="1584325"/>
          </a:xfrm>
          <a:prstGeom prst="rect">
            <a:avLst/>
          </a:prstGeom>
          <a:noFill/>
          <a:ln>
            <a:noFill/>
          </a:ln>
        </p:spPr>
        <p:txBody>
          <a:bodyPr/>
          <a:lstStyle>
            <a:lvl1pPr marL="469900" indent="-469900" algn="l" rtl="0" eaLnBrk="0" fontAlgn="base" hangingPunct="0">
              <a:spcBef>
                <a:spcPct val="20000"/>
              </a:spcBef>
              <a:spcAft>
                <a:spcPct val="0"/>
              </a:spcAft>
              <a:buClr>
                <a:schemeClr val="bg2"/>
              </a:buClr>
              <a:buSzPct val="70000"/>
              <a:buFont typeface="Wingdings" pitchFamily="2" charset="2"/>
              <a:buChar char="o"/>
              <a:defRPr sz="3200">
                <a:solidFill>
                  <a:srgbClr val="0000FF"/>
                </a:solidFill>
                <a:latin typeface="+mn-lt"/>
                <a:ea typeface="+mn-ea"/>
                <a:cs typeface="+mn-cs"/>
              </a:defRPr>
            </a:lvl1pPr>
            <a:lvl2pPr marL="908050" indent="-436563" algn="l" rtl="0" eaLnBrk="0" fontAlgn="base" hangingPunct="0">
              <a:spcBef>
                <a:spcPct val="20000"/>
              </a:spcBef>
              <a:spcAft>
                <a:spcPct val="0"/>
              </a:spcAft>
              <a:buClr>
                <a:schemeClr val="accent2"/>
              </a:buClr>
              <a:buSzPct val="75000"/>
              <a:buFont typeface="Wingdings" pitchFamily="2" charset="2"/>
              <a:buChar char="n"/>
              <a:defRPr sz="2800">
                <a:solidFill>
                  <a:srgbClr val="0000FF"/>
                </a:solidFill>
                <a:latin typeface="+mn-lt"/>
                <a:ea typeface="+mn-ea"/>
              </a:defRPr>
            </a:lvl2pPr>
            <a:lvl3pPr marL="1377950" indent="-468313" algn="l" rtl="0" eaLnBrk="0" fontAlgn="base" hangingPunct="0">
              <a:spcBef>
                <a:spcPct val="20000"/>
              </a:spcBef>
              <a:spcAft>
                <a:spcPct val="0"/>
              </a:spcAft>
              <a:buClr>
                <a:schemeClr val="bg2"/>
              </a:buClr>
              <a:buSzPct val="65000"/>
              <a:buFont typeface="Wingdings" pitchFamily="2" charset="2"/>
              <a:buChar char="o"/>
              <a:defRPr sz="2400">
                <a:solidFill>
                  <a:srgbClr val="0000FF"/>
                </a:solidFill>
                <a:latin typeface="+mn-lt"/>
                <a:ea typeface="+mn-ea"/>
              </a:defRPr>
            </a:lvl3pPr>
            <a:lvl4pPr marL="1827213" indent="-438150" algn="l" rtl="0" eaLnBrk="0" fontAlgn="base" hangingPunct="0">
              <a:spcBef>
                <a:spcPct val="20000"/>
              </a:spcBef>
              <a:spcAft>
                <a:spcPct val="0"/>
              </a:spcAft>
              <a:buClr>
                <a:schemeClr val="accent2"/>
              </a:buClr>
              <a:buSzPct val="75000"/>
              <a:buFont typeface="Wingdings" pitchFamily="2" charset="2"/>
              <a:buChar char="n"/>
              <a:defRPr sz="2000">
                <a:solidFill>
                  <a:srgbClr val="0000FF"/>
                </a:solidFill>
                <a:latin typeface="+mn-lt"/>
                <a:ea typeface="+mn-ea"/>
              </a:defRPr>
            </a:lvl4pPr>
            <a:lvl5pPr marL="2297113" indent="-468313" algn="l" rtl="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5pPr>
            <a:lvl6pPr marL="27543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6pPr>
            <a:lvl7pPr marL="32115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7pPr>
            <a:lvl8pPr marL="36687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8pPr>
            <a:lvl9pPr marL="41259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9pPr>
          </a:lstStyle>
          <a:p>
            <a:pPr algn="just" eaLnBrk="1" hangingPunct="1">
              <a:lnSpc>
                <a:spcPct val="80000"/>
              </a:lnSpc>
              <a:buFont typeface="Wingdings" pitchFamily="2" charset="2"/>
              <a:buNone/>
              <a:defRPr/>
            </a:pPr>
            <a:r>
              <a:rPr lang="en-US" altLang="zh-CN" sz="2400" kern="0" dirty="0">
                <a:solidFill>
                  <a:srgbClr val="104E87"/>
                </a:solidFill>
                <a:latin typeface="Comic Sans MS" panose="030F0702030302020204" pitchFamily="66" charset="0"/>
                <a:ea typeface="黑体" panose="02010609060101010101" pitchFamily="49" charset="-122"/>
              </a:rPr>
              <a:t>template &lt;class TYPE&gt;</a:t>
            </a:r>
          </a:p>
          <a:p>
            <a:pPr algn="just" eaLnBrk="1" hangingPunct="1">
              <a:lnSpc>
                <a:spcPct val="80000"/>
              </a:lnSpc>
              <a:buFont typeface="Wingdings" pitchFamily="2" charset="2"/>
              <a:buNone/>
              <a:defRPr/>
            </a:pPr>
            <a:r>
              <a:rPr lang="en-US" altLang="zh-CN" sz="2400" kern="0" dirty="0">
                <a:solidFill>
                  <a:srgbClr val="104E87"/>
                </a:solidFill>
                <a:latin typeface="Comic Sans MS" panose="030F0702030302020204" pitchFamily="66" charset="0"/>
                <a:ea typeface="黑体" panose="02010609060101010101" pitchFamily="49" charset="-122"/>
              </a:rPr>
              <a:t>TYPE max(</a:t>
            </a:r>
            <a:r>
              <a:rPr lang="en-US" altLang="zh-CN" sz="2400" kern="0" dirty="0">
                <a:solidFill>
                  <a:srgbClr val="FF0000"/>
                </a:solidFill>
                <a:latin typeface="Comic Sans MS" panose="030F0702030302020204" pitchFamily="66" charset="0"/>
                <a:ea typeface="黑体" panose="02010609060101010101" pitchFamily="49" charset="-122"/>
              </a:rPr>
              <a:t>TYPE</a:t>
            </a:r>
            <a:r>
              <a:rPr lang="en-US" altLang="zh-CN" sz="2400" kern="0" dirty="0">
                <a:solidFill>
                  <a:srgbClr val="104E87"/>
                </a:solidFill>
                <a:latin typeface="Comic Sans MS" panose="030F0702030302020204" pitchFamily="66" charset="0"/>
                <a:ea typeface="黑体" panose="02010609060101010101" pitchFamily="49" charset="-122"/>
              </a:rPr>
              <a:t> x, </a:t>
            </a:r>
            <a:r>
              <a:rPr lang="en-US" altLang="zh-CN" sz="2400" kern="0" dirty="0">
                <a:solidFill>
                  <a:srgbClr val="FF0000"/>
                </a:solidFill>
                <a:latin typeface="Comic Sans MS" panose="030F0702030302020204" pitchFamily="66" charset="0"/>
                <a:ea typeface="黑体" panose="02010609060101010101" pitchFamily="49" charset="-122"/>
              </a:rPr>
              <a:t>TYPE</a:t>
            </a:r>
            <a:r>
              <a:rPr lang="en-US" altLang="zh-CN" sz="2400" kern="0" dirty="0">
                <a:solidFill>
                  <a:srgbClr val="104E87"/>
                </a:solidFill>
                <a:latin typeface="Comic Sans MS" panose="030F0702030302020204" pitchFamily="66" charset="0"/>
                <a:ea typeface="黑体" panose="02010609060101010101" pitchFamily="49" charset="-122"/>
              </a:rPr>
              <a:t> y)</a:t>
            </a:r>
          </a:p>
          <a:p>
            <a:pPr algn="just" eaLnBrk="1" hangingPunct="1">
              <a:lnSpc>
                <a:spcPct val="80000"/>
              </a:lnSpc>
              <a:buFont typeface="Wingdings" pitchFamily="2" charset="2"/>
              <a:buNone/>
              <a:defRPr/>
            </a:pPr>
            <a:r>
              <a:rPr lang="en-US" altLang="zh-CN" sz="2400" kern="0" dirty="0">
                <a:solidFill>
                  <a:srgbClr val="104E87"/>
                </a:solidFill>
                <a:latin typeface="Comic Sans MS" panose="030F0702030302020204" pitchFamily="66" charset="0"/>
                <a:ea typeface="黑体" panose="02010609060101010101" pitchFamily="49" charset="-122"/>
              </a:rPr>
              <a:t>{	return (x &gt; y) ? x : y;</a:t>
            </a:r>
          </a:p>
          <a:p>
            <a:pPr eaLnBrk="1" hangingPunct="1">
              <a:lnSpc>
                <a:spcPct val="80000"/>
              </a:lnSpc>
              <a:buFont typeface="Wingdings" pitchFamily="2" charset="2"/>
              <a:buNone/>
              <a:defRPr/>
            </a:pPr>
            <a:r>
              <a:rPr lang="en-US" altLang="zh-CN" sz="2400" kern="0" dirty="0">
                <a:solidFill>
                  <a:srgbClr val="104E87"/>
                </a:solidFill>
                <a:latin typeface="Comic Sans MS" panose="030F0702030302020204" pitchFamily="66" charset="0"/>
                <a:ea typeface="黑体" panose="02010609060101010101" pitchFamily="49" charset="-122"/>
              </a:rPr>
              <a:t>}</a:t>
            </a:r>
          </a:p>
        </p:txBody>
      </p:sp>
      <p:sp>
        <p:nvSpPr>
          <p:cNvPr id="16" name="Rectangle 3">
            <a:extLst>
              <a:ext uri="{FF2B5EF4-FFF2-40B4-BE49-F238E27FC236}">
                <a16:creationId xmlns:a16="http://schemas.microsoft.com/office/drawing/2014/main" id="{A61B953B-0178-4591-A664-79A4AC546929}"/>
              </a:ext>
            </a:extLst>
          </p:cNvPr>
          <p:cNvSpPr txBox="1">
            <a:spLocks noChangeArrowheads="1"/>
          </p:cNvSpPr>
          <p:nvPr/>
        </p:nvSpPr>
        <p:spPr bwMode="auto">
          <a:xfrm>
            <a:off x="5031153" y="2855293"/>
            <a:ext cx="2515883" cy="1071847"/>
          </a:xfrm>
          <a:prstGeom prst="rect">
            <a:avLst/>
          </a:prstGeom>
          <a:noFill/>
          <a:ln>
            <a:noFill/>
          </a:ln>
        </p:spPr>
        <p:txBody>
          <a:bodyPr/>
          <a:lstStyle>
            <a:lvl1pPr marL="469900" indent="-469900" algn="l" rtl="0" eaLnBrk="0" fontAlgn="base" hangingPunct="0">
              <a:spcBef>
                <a:spcPct val="20000"/>
              </a:spcBef>
              <a:spcAft>
                <a:spcPct val="0"/>
              </a:spcAft>
              <a:buClr>
                <a:schemeClr val="bg2"/>
              </a:buClr>
              <a:buSzPct val="70000"/>
              <a:buFont typeface="Wingdings" pitchFamily="2" charset="2"/>
              <a:buChar char="o"/>
              <a:defRPr sz="3200">
                <a:solidFill>
                  <a:srgbClr val="0000FF"/>
                </a:solidFill>
                <a:latin typeface="+mn-lt"/>
                <a:ea typeface="+mn-ea"/>
                <a:cs typeface="+mn-cs"/>
              </a:defRPr>
            </a:lvl1pPr>
            <a:lvl2pPr marL="908050" indent="-436563" algn="l" rtl="0" eaLnBrk="0" fontAlgn="base" hangingPunct="0">
              <a:spcBef>
                <a:spcPct val="20000"/>
              </a:spcBef>
              <a:spcAft>
                <a:spcPct val="0"/>
              </a:spcAft>
              <a:buClr>
                <a:schemeClr val="accent2"/>
              </a:buClr>
              <a:buSzPct val="75000"/>
              <a:buFont typeface="Wingdings" pitchFamily="2" charset="2"/>
              <a:buChar char="n"/>
              <a:defRPr sz="2800">
                <a:solidFill>
                  <a:srgbClr val="0000FF"/>
                </a:solidFill>
                <a:latin typeface="+mn-lt"/>
                <a:ea typeface="+mn-ea"/>
              </a:defRPr>
            </a:lvl2pPr>
            <a:lvl3pPr marL="1377950" indent="-468313" algn="l" rtl="0" eaLnBrk="0" fontAlgn="base" hangingPunct="0">
              <a:spcBef>
                <a:spcPct val="20000"/>
              </a:spcBef>
              <a:spcAft>
                <a:spcPct val="0"/>
              </a:spcAft>
              <a:buClr>
                <a:schemeClr val="bg2"/>
              </a:buClr>
              <a:buSzPct val="65000"/>
              <a:buFont typeface="Wingdings" pitchFamily="2" charset="2"/>
              <a:buChar char="o"/>
              <a:defRPr sz="2400">
                <a:solidFill>
                  <a:srgbClr val="0000FF"/>
                </a:solidFill>
                <a:latin typeface="+mn-lt"/>
                <a:ea typeface="+mn-ea"/>
              </a:defRPr>
            </a:lvl3pPr>
            <a:lvl4pPr marL="1827213" indent="-438150" algn="l" rtl="0" eaLnBrk="0" fontAlgn="base" hangingPunct="0">
              <a:spcBef>
                <a:spcPct val="20000"/>
              </a:spcBef>
              <a:spcAft>
                <a:spcPct val="0"/>
              </a:spcAft>
              <a:buClr>
                <a:schemeClr val="accent2"/>
              </a:buClr>
              <a:buSzPct val="75000"/>
              <a:buFont typeface="Wingdings" pitchFamily="2" charset="2"/>
              <a:buChar char="n"/>
              <a:defRPr sz="2000">
                <a:solidFill>
                  <a:srgbClr val="0000FF"/>
                </a:solidFill>
                <a:latin typeface="+mn-lt"/>
                <a:ea typeface="+mn-ea"/>
              </a:defRPr>
            </a:lvl4pPr>
            <a:lvl5pPr marL="2297113" indent="-468313" algn="l" rtl="0" eaLnBrk="0" fontAlgn="base" hangingPunct="0">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5pPr>
            <a:lvl6pPr marL="27543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6pPr>
            <a:lvl7pPr marL="32115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7pPr>
            <a:lvl8pPr marL="36687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8pPr>
            <a:lvl9pPr marL="4125913" indent="-468313" algn="l" rtl="0" fontAlgn="base">
              <a:spcBef>
                <a:spcPct val="20000"/>
              </a:spcBef>
              <a:spcAft>
                <a:spcPct val="0"/>
              </a:spcAft>
              <a:buClr>
                <a:schemeClr val="accent1"/>
              </a:buClr>
              <a:buSzPct val="50000"/>
              <a:buFont typeface="Wingdings" pitchFamily="2" charset="2"/>
              <a:buChar char="o"/>
              <a:defRPr sz="2000">
                <a:solidFill>
                  <a:srgbClr val="0000FF"/>
                </a:solidFill>
                <a:latin typeface="+mn-lt"/>
                <a:ea typeface="+mn-ea"/>
              </a:defRPr>
            </a:lvl9pPr>
          </a:lstStyle>
          <a:p>
            <a:pPr marL="0" indent="0" eaLnBrk="1" hangingPunct="1">
              <a:lnSpc>
                <a:spcPct val="80000"/>
              </a:lnSpc>
              <a:buFont typeface="Wingdings" pitchFamily="2" charset="2"/>
              <a:buNone/>
              <a:defRPr/>
            </a:pPr>
            <a:r>
              <a:rPr lang="en-US" altLang="zh-CN" sz="2400" kern="0" dirty="0">
                <a:solidFill>
                  <a:srgbClr val="104E87"/>
                </a:solidFill>
                <a:latin typeface="Comic Sans MS" panose="030F0702030302020204" pitchFamily="66" charset="0"/>
                <a:ea typeface="黑体" panose="02010609060101010101" pitchFamily="49" charset="-122"/>
              </a:rPr>
              <a:t>max(10, 5);</a:t>
            </a:r>
          </a:p>
          <a:p>
            <a:pPr marL="0" indent="0" eaLnBrk="1" hangingPunct="1">
              <a:lnSpc>
                <a:spcPct val="80000"/>
              </a:lnSpc>
              <a:buFont typeface="Wingdings" pitchFamily="2" charset="2"/>
              <a:buNone/>
              <a:defRPr/>
            </a:pPr>
            <a:r>
              <a:rPr lang="en-US" altLang="zh-CN" sz="2400" kern="0" dirty="0">
                <a:solidFill>
                  <a:srgbClr val="104E87"/>
                </a:solidFill>
                <a:latin typeface="Comic Sans MS" panose="030F0702030302020204" pitchFamily="66" charset="0"/>
                <a:ea typeface="黑体" panose="02010609060101010101" pitchFamily="49" charset="-122"/>
              </a:rPr>
              <a:t>double  j=5.5;</a:t>
            </a:r>
            <a:endParaRPr lang="zh-CN" altLang="en-US" sz="2400" kern="0" dirty="0">
              <a:solidFill>
                <a:srgbClr val="104E87"/>
              </a:solidFill>
              <a:latin typeface="Comic Sans MS" panose="030F0702030302020204" pitchFamily="66" charset="0"/>
              <a:ea typeface="黑体" panose="02010609060101010101" pitchFamily="49" charset="-122"/>
            </a:endParaRPr>
          </a:p>
          <a:p>
            <a:pPr marL="0" indent="0" eaLnBrk="1" hangingPunct="1">
              <a:lnSpc>
                <a:spcPct val="80000"/>
              </a:lnSpc>
              <a:buFont typeface="Wingdings" pitchFamily="2" charset="2"/>
              <a:buNone/>
              <a:defRPr/>
            </a:pPr>
            <a:r>
              <a:rPr lang="en-US" altLang="zh-CN" sz="2400" kern="0" dirty="0">
                <a:solidFill>
                  <a:srgbClr val="104E87"/>
                </a:solidFill>
                <a:latin typeface="Comic Sans MS" panose="030F0702030302020204" pitchFamily="66" charset="0"/>
                <a:ea typeface="黑体" panose="02010609060101010101" pitchFamily="49" charset="-122"/>
              </a:rPr>
              <a:t>max( j , 6.6  );	    </a:t>
            </a:r>
            <a:endParaRPr lang="zh-CN" altLang="en-US" sz="2400" kern="0" dirty="0">
              <a:solidFill>
                <a:srgbClr val="104E87"/>
              </a:solidFill>
              <a:latin typeface="Comic Sans MS" panose="030F0702030302020204" pitchFamily="66" charset="0"/>
              <a:ea typeface="黑体" panose="02010609060101010101" pitchFamily="49" charset="-122"/>
            </a:endParaRPr>
          </a:p>
        </p:txBody>
      </p:sp>
      <p:sp>
        <p:nvSpPr>
          <p:cNvPr id="17" name="AutoShape 6">
            <a:extLst>
              <a:ext uri="{FF2B5EF4-FFF2-40B4-BE49-F238E27FC236}">
                <a16:creationId xmlns:a16="http://schemas.microsoft.com/office/drawing/2014/main" id="{DE310C69-0001-4A5C-8131-0B349F941D84}"/>
              </a:ext>
            </a:extLst>
          </p:cNvPr>
          <p:cNvSpPr>
            <a:spLocks noChangeArrowheads="1"/>
          </p:cNvSpPr>
          <p:nvPr/>
        </p:nvSpPr>
        <p:spPr bwMode="auto">
          <a:xfrm rot="257929">
            <a:off x="6860525" y="2910371"/>
            <a:ext cx="1059588" cy="230805"/>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2"/>
          </a:solidFill>
          <a:ln w="9525">
            <a:solidFill>
              <a:schemeClr val="tx1"/>
            </a:solidFill>
            <a:miter lim="800000"/>
            <a:headEnd/>
            <a:tailEnd/>
          </a:ln>
          <a:effectLst/>
        </p:spPr>
        <p:txBody>
          <a:bodyPr wrap="none" anchor="ctr"/>
          <a:lstStyle/>
          <a:p>
            <a:endParaRPr lang="zh-CN" altLang="en-US">
              <a:solidFill>
                <a:srgbClr val="104E87"/>
              </a:solidFill>
              <a:latin typeface="Comic Sans MS" panose="030F0702030302020204" pitchFamily="66" charset="0"/>
            </a:endParaRPr>
          </a:p>
        </p:txBody>
      </p:sp>
      <p:sp>
        <p:nvSpPr>
          <p:cNvPr id="24" name="矩形 6">
            <a:extLst>
              <a:ext uri="{FF2B5EF4-FFF2-40B4-BE49-F238E27FC236}">
                <a16:creationId xmlns:a16="http://schemas.microsoft.com/office/drawing/2014/main" id="{93F53AE0-454F-48F6-BC5D-CCD74E5E3C49}"/>
              </a:ext>
            </a:extLst>
          </p:cNvPr>
          <p:cNvSpPr>
            <a:spLocks noChangeArrowheads="1"/>
          </p:cNvSpPr>
          <p:nvPr/>
        </p:nvSpPr>
        <p:spPr bwMode="auto">
          <a:xfrm>
            <a:off x="8002097" y="2796285"/>
            <a:ext cx="34561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b="0" spc="-100" dirty="0">
                <a:solidFill>
                  <a:srgbClr val="104E87"/>
                </a:solidFill>
                <a:latin typeface="Comic Sans MS" panose="030F0702030302020204" pitchFamily="66" charset="0"/>
              </a:rPr>
              <a:t>int max(int x, int y)</a:t>
            </a:r>
          </a:p>
          <a:p>
            <a:pPr eaLnBrk="1" hangingPunct="1"/>
            <a:r>
              <a:rPr kumimoji="1" lang="en-US" altLang="zh-CN" b="0" spc="-100" dirty="0">
                <a:solidFill>
                  <a:srgbClr val="104E87"/>
                </a:solidFill>
                <a:latin typeface="Comic Sans MS" panose="030F0702030302020204" pitchFamily="66" charset="0"/>
              </a:rPr>
              <a:t>{return (x &gt; y) ? x : y;	} </a:t>
            </a:r>
          </a:p>
        </p:txBody>
      </p:sp>
      <p:sp>
        <p:nvSpPr>
          <p:cNvPr id="25" name="AutoShape 6">
            <a:extLst>
              <a:ext uri="{FF2B5EF4-FFF2-40B4-BE49-F238E27FC236}">
                <a16:creationId xmlns:a16="http://schemas.microsoft.com/office/drawing/2014/main" id="{CDCCE4C2-C025-40E0-954B-1D2CABBD7EA2}"/>
              </a:ext>
            </a:extLst>
          </p:cNvPr>
          <p:cNvSpPr>
            <a:spLocks noChangeArrowheads="1"/>
          </p:cNvSpPr>
          <p:nvPr/>
        </p:nvSpPr>
        <p:spPr bwMode="auto">
          <a:xfrm rot="1385761">
            <a:off x="7146038" y="3766587"/>
            <a:ext cx="913553" cy="252150"/>
          </a:xfrm>
          <a:custGeom>
            <a:avLst/>
            <a:gdLst>
              <a:gd name="T0" fmla="*/ 2147483646 w 21600"/>
              <a:gd name="T1" fmla="*/ 0 h 21600"/>
              <a:gd name="T2" fmla="*/ 0 w 21600"/>
              <a:gd name="T3" fmla="*/ 2147483646 h 21600"/>
              <a:gd name="T4" fmla="*/ 2147483646 w 21600"/>
              <a:gd name="T5" fmla="*/ 2147483646 h 21600"/>
              <a:gd name="T6" fmla="*/ 2147483646 w 21600"/>
              <a:gd name="T7" fmla="*/ 2147483646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2"/>
          </a:solidFill>
          <a:ln w="9525">
            <a:solidFill>
              <a:schemeClr val="tx1"/>
            </a:solidFill>
            <a:miter lim="800000"/>
            <a:headEnd/>
            <a:tailEnd/>
          </a:ln>
          <a:effectLst/>
        </p:spPr>
        <p:txBody>
          <a:bodyPr wrap="none" anchor="ctr"/>
          <a:lstStyle/>
          <a:p>
            <a:endParaRPr lang="zh-CN" altLang="en-US">
              <a:solidFill>
                <a:srgbClr val="104E87"/>
              </a:solidFill>
              <a:latin typeface="Comic Sans MS" panose="030F0702030302020204" pitchFamily="66" charset="0"/>
            </a:endParaRPr>
          </a:p>
        </p:txBody>
      </p:sp>
      <p:sp>
        <p:nvSpPr>
          <p:cNvPr id="26" name="矩形 12">
            <a:extLst>
              <a:ext uri="{FF2B5EF4-FFF2-40B4-BE49-F238E27FC236}">
                <a16:creationId xmlns:a16="http://schemas.microsoft.com/office/drawing/2014/main" id="{2EF22D4B-C210-4A5E-B8C6-980BC41727A5}"/>
              </a:ext>
            </a:extLst>
          </p:cNvPr>
          <p:cNvSpPr>
            <a:spLocks noChangeArrowheads="1"/>
          </p:cNvSpPr>
          <p:nvPr/>
        </p:nvSpPr>
        <p:spPr bwMode="auto">
          <a:xfrm>
            <a:off x="8002098" y="3805935"/>
            <a:ext cx="426144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b="0" spc="-100" dirty="0">
                <a:solidFill>
                  <a:srgbClr val="104E87"/>
                </a:solidFill>
                <a:latin typeface="Comic Sans MS" panose="030F0702030302020204" pitchFamily="66" charset="0"/>
              </a:rPr>
              <a:t>double max(double x, double y)</a:t>
            </a:r>
          </a:p>
          <a:p>
            <a:pPr eaLnBrk="1" hangingPunct="1"/>
            <a:r>
              <a:rPr kumimoji="1" lang="en-US" altLang="zh-CN" b="0" spc="-100" dirty="0">
                <a:solidFill>
                  <a:srgbClr val="104E87"/>
                </a:solidFill>
                <a:latin typeface="Comic Sans MS" panose="030F0702030302020204" pitchFamily="66" charset="0"/>
              </a:rPr>
              <a:t>{return (x &gt; y) ? x : y;	} </a:t>
            </a:r>
          </a:p>
        </p:txBody>
      </p:sp>
      <p:sp>
        <p:nvSpPr>
          <p:cNvPr id="27" name="矩形 1">
            <a:extLst>
              <a:ext uri="{FF2B5EF4-FFF2-40B4-BE49-F238E27FC236}">
                <a16:creationId xmlns:a16="http://schemas.microsoft.com/office/drawing/2014/main" id="{E99BE191-0826-4124-B9DB-683F8FB90D86}"/>
              </a:ext>
            </a:extLst>
          </p:cNvPr>
          <p:cNvSpPr>
            <a:spLocks noChangeArrowheads="1"/>
          </p:cNvSpPr>
          <p:nvPr/>
        </p:nvSpPr>
        <p:spPr bwMode="auto">
          <a:xfrm>
            <a:off x="8863885" y="1211961"/>
            <a:ext cx="3303010" cy="1584324"/>
          </a:xfrm>
          <a:prstGeom prst="rect">
            <a:avLst/>
          </a:prstGeom>
          <a:solidFill>
            <a:schemeClr val="accent4">
              <a:lumMod val="20000"/>
              <a:lumOff val="80000"/>
            </a:schemeClr>
          </a:solidFill>
          <a:ln>
            <a:noFill/>
          </a:ln>
        </p:spPr>
        <p:txBody>
          <a:bodyPr/>
          <a:lstStyle/>
          <a:p>
            <a:pPr eaLnBrk="0" fontAlgn="base" hangingPunct="0">
              <a:lnSpc>
                <a:spcPct val="90000"/>
              </a:lnSpc>
              <a:spcAft>
                <a:spcPct val="0"/>
              </a:spcAft>
              <a:buClr>
                <a:schemeClr val="bg2"/>
              </a:buClr>
              <a:buSzPct val="70000"/>
              <a:buFont typeface="Wingdings" panose="05000000000000000000" pitchFamily="2" charset="2"/>
              <a:buNone/>
            </a:pPr>
            <a:r>
              <a:rPr lang="zh-CN" altLang="en-US" kern="0" spc="-100" dirty="0">
                <a:solidFill>
                  <a:srgbClr val="104E87"/>
                </a:solidFill>
                <a:latin typeface="华光行书_CNKI" panose="02000500000000000000" pitchFamily="2" charset="-122"/>
                <a:ea typeface="华光行书_CNKI" panose="02000500000000000000" pitchFamily="2" charset="-122"/>
              </a:rPr>
              <a:t>使用模板函数时</a:t>
            </a:r>
            <a:r>
              <a:rPr lang="en-US" altLang="zh-CN" kern="0" spc="-100" dirty="0">
                <a:solidFill>
                  <a:srgbClr val="104E87"/>
                </a:solidFill>
                <a:latin typeface="华光行书_CNKI" panose="02000500000000000000" pitchFamily="2" charset="-122"/>
                <a:ea typeface="华光行书_CNKI" panose="02000500000000000000" pitchFamily="2" charset="-122"/>
              </a:rPr>
              <a:t>,</a:t>
            </a:r>
            <a:r>
              <a:rPr lang="zh-CN" altLang="en-US" kern="0" spc="-100" dirty="0">
                <a:solidFill>
                  <a:srgbClr val="104E87"/>
                </a:solidFill>
                <a:latin typeface="华光行书_CNKI" panose="02000500000000000000" pitchFamily="2" charset="-122"/>
                <a:ea typeface="华光行书_CNKI" panose="02000500000000000000" pitchFamily="2" charset="-122"/>
              </a:rPr>
              <a:t> 将根据函数调用时的实际数据类型产生相应的函数</a:t>
            </a:r>
            <a:r>
              <a:rPr lang="en-US" altLang="zh-CN" kern="0" spc="-100" dirty="0">
                <a:solidFill>
                  <a:srgbClr val="104E87"/>
                </a:solidFill>
                <a:latin typeface="华光行书_CNKI" panose="02000500000000000000" pitchFamily="2" charset="-122"/>
                <a:ea typeface="华光行书_CNKI" panose="02000500000000000000" pitchFamily="2" charset="-122"/>
              </a:rPr>
              <a:t>,</a:t>
            </a:r>
            <a:r>
              <a:rPr lang="zh-CN" altLang="en-US" kern="0" spc="-100" dirty="0">
                <a:solidFill>
                  <a:srgbClr val="FF0000"/>
                </a:solidFill>
                <a:latin typeface="华光行书_CNKI" panose="02000500000000000000" pitchFamily="2" charset="-122"/>
                <a:ea typeface="华光行书_CNKI" panose="02000500000000000000" pitchFamily="2" charset="-122"/>
              </a:rPr>
              <a:t>不需要显示实例化</a:t>
            </a:r>
            <a:r>
              <a:rPr lang="zh-CN" altLang="en-US" kern="0" spc="-100" dirty="0">
                <a:solidFill>
                  <a:srgbClr val="104E87"/>
                </a:solidFill>
                <a:latin typeface="华光行书_CNKI" panose="02000500000000000000" pitchFamily="2" charset="-122"/>
                <a:ea typeface="华光行书_CNKI" panose="02000500000000000000" pitchFamily="2" charset="-122"/>
              </a:rPr>
              <a:t>：</a:t>
            </a:r>
          </a:p>
        </p:txBody>
      </p:sp>
      <p:sp>
        <p:nvSpPr>
          <p:cNvPr id="28" name="文本框 27">
            <a:extLst>
              <a:ext uri="{FF2B5EF4-FFF2-40B4-BE49-F238E27FC236}">
                <a16:creationId xmlns:a16="http://schemas.microsoft.com/office/drawing/2014/main" id="{6ED1FE87-6A6C-4997-AE23-7B34608F6F3A}"/>
              </a:ext>
            </a:extLst>
          </p:cNvPr>
          <p:cNvSpPr txBox="1"/>
          <p:nvPr/>
        </p:nvSpPr>
        <p:spPr>
          <a:xfrm>
            <a:off x="4827975" y="4800438"/>
            <a:ext cx="7364025" cy="830997"/>
          </a:xfrm>
          <a:prstGeom prst="rect">
            <a:avLst/>
          </a:prstGeom>
          <a:noFill/>
        </p:spPr>
        <p:txBody>
          <a:bodyPr wrap="square">
            <a:spAutoFit/>
          </a:bodyPr>
          <a:lstStyle/>
          <a:p>
            <a:pPr marL="0" indent="0" eaLnBrk="1" hangingPunct="1">
              <a:buFont typeface="Wingdings" panose="05000000000000000000" pitchFamily="2" charset="2"/>
              <a:buNone/>
              <a:defRPr/>
            </a:pPr>
            <a:r>
              <a:rPr lang="zh-CN" altLang="en-US" spc="-100" dirty="0">
                <a:solidFill>
                  <a:srgbClr val="104E87"/>
                </a:solidFill>
                <a:latin typeface="华光行书_CNKI" panose="02000500000000000000" pitchFamily="2" charset="-122"/>
                <a:ea typeface="华光行书_CNKI" panose="02000500000000000000" pitchFamily="2" charset="-122"/>
              </a:rPr>
              <a:t>函数模板在实例化过程中</a:t>
            </a:r>
            <a:r>
              <a:rPr lang="zh-CN" altLang="en-US" spc="-100" dirty="0">
                <a:solidFill>
                  <a:srgbClr val="FF0000"/>
                </a:solidFill>
                <a:latin typeface="华光行书_CNKI" panose="02000500000000000000" pitchFamily="2" charset="-122"/>
                <a:ea typeface="华光行书_CNKI" panose="02000500000000000000" pitchFamily="2" charset="-122"/>
              </a:rPr>
              <a:t>不做任何类型转换，</a:t>
            </a:r>
            <a:r>
              <a:rPr lang="zh-CN" altLang="en-US" spc="-100" dirty="0">
                <a:solidFill>
                  <a:srgbClr val="104E87"/>
                </a:solidFill>
                <a:latin typeface="华光行书_CNKI" panose="02000500000000000000" pitchFamily="2" charset="-122"/>
                <a:ea typeface="华光行书_CNKI" panose="02000500000000000000" pitchFamily="2" charset="-122"/>
              </a:rPr>
              <a:t>调用函数模板时应保证函数的实参类型与形式类属参数完全匹配</a:t>
            </a:r>
          </a:p>
        </p:txBody>
      </p:sp>
      <p:sp>
        <p:nvSpPr>
          <p:cNvPr id="29" name="文本框 28">
            <a:extLst>
              <a:ext uri="{FF2B5EF4-FFF2-40B4-BE49-F238E27FC236}">
                <a16:creationId xmlns:a16="http://schemas.microsoft.com/office/drawing/2014/main" id="{4DA6286B-E99F-4E5C-AC37-17A21775CA6A}"/>
              </a:ext>
            </a:extLst>
          </p:cNvPr>
          <p:cNvSpPr txBox="1"/>
          <p:nvPr/>
        </p:nvSpPr>
        <p:spPr>
          <a:xfrm>
            <a:off x="6096000" y="5746450"/>
            <a:ext cx="2343515" cy="387798"/>
          </a:xfrm>
          <a:prstGeom prst="rect">
            <a:avLst/>
          </a:prstGeom>
          <a:noFill/>
          <a:ln>
            <a:noFill/>
          </a:ln>
        </p:spPr>
        <p:txBody>
          <a:bodyPr/>
          <a:lstStyle>
            <a:defPPr>
              <a:defRPr lang="en-US"/>
            </a:defPPr>
            <a:lvl1pPr indent="0" fontAlgn="base">
              <a:lnSpc>
                <a:spcPct val="80000"/>
              </a:lnSpc>
              <a:spcBef>
                <a:spcPct val="20000"/>
              </a:spcBef>
              <a:spcAft>
                <a:spcPct val="0"/>
              </a:spcAft>
              <a:buClr>
                <a:schemeClr val="bg2"/>
              </a:buClr>
              <a:buSzPct val="70000"/>
              <a:buFont typeface="Wingdings" pitchFamily="2" charset="2"/>
              <a:buNone/>
              <a:defRPr kern="0">
                <a:solidFill>
                  <a:srgbClr val="104E87"/>
                </a:solidFill>
                <a:latin typeface="Comic Sans MS" panose="030F0702030302020204" pitchFamily="66" charset="0"/>
                <a:ea typeface="黑体" panose="02010609060101010101" pitchFamily="49" charset="-122"/>
              </a:defRPr>
            </a:lvl1pPr>
            <a:lvl2pPr marL="908050" indent="-436563" eaLnBrk="0" fontAlgn="base" hangingPunct="0">
              <a:spcBef>
                <a:spcPct val="20000"/>
              </a:spcBef>
              <a:spcAft>
                <a:spcPct val="0"/>
              </a:spcAft>
              <a:buClr>
                <a:schemeClr val="accent2"/>
              </a:buClr>
              <a:buSzPct val="75000"/>
              <a:buFont typeface="Wingdings" pitchFamily="2" charset="2"/>
              <a:buChar char="n"/>
              <a:defRPr sz="2800">
                <a:solidFill>
                  <a:srgbClr val="0000FF"/>
                </a:solidFill>
              </a:defRPr>
            </a:lvl2pPr>
            <a:lvl3pPr marL="1377950" indent="-468313" eaLnBrk="0" fontAlgn="base" hangingPunct="0">
              <a:spcBef>
                <a:spcPct val="20000"/>
              </a:spcBef>
              <a:spcAft>
                <a:spcPct val="0"/>
              </a:spcAft>
              <a:buClr>
                <a:schemeClr val="bg2"/>
              </a:buClr>
              <a:buSzPct val="65000"/>
              <a:buFont typeface="Wingdings" pitchFamily="2" charset="2"/>
              <a:buChar char="o"/>
              <a:defRPr>
                <a:solidFill>
                  <a:srgbClr val="0000FF"/>
                </a:solidFill>
              </a:defRPr>
            </a:lvl3pPr>
            <a:lvl4pPr marL="1827213" indent="-438150" eaLnBrk="0" fontAlgn="base" hangingPunct="0">
              <a:spcBef>
                <a:spcPct val="20000"/>
              </a:spcBef>
              <a:spcAft>
                <a:spcPct val="0"/>
              </a:spcAft>
              <a:buClr>
                <a:schemeClr val="accent2"/>
              </a:buClr>
              <a:buSzPct val="75000"/>
              <a:buFont typeface="Wingdings" pitchFamily="2" charset="2"/>
              <a:buChar char="n"/>
              <a:defRPr sz="2000">
                <a:solidFill>
                  <a:srgbClr val="0000FF"/>
                </a:solidFill>
              </a:defRPr>
            </a:lvl4pPr>
            <a:lvl5pPr marL="2297113" indent="-468313" eaLnBrk="0" fontAlgn="base" hangingPunct="0">
              <a:spcBef>
                <a:spcPct val="20000"/>
              </a:spcBef>
              <a:spcAft>
                <a:spcPct val="0"/>
              </a:spcAft>
              <a:buClr>
                <a:schemeClr val="accent1"/>
              </a:buClr>
              <a:buSzPct val="50000"/>
              <a:buFont typeface="Wingdings" pitchFamily="2" charset="2"/>
              <a:buChar char="o"/>
              <a:defRPr sz="2000">
                <a:solidFill>
                  <a:srgbClr val="0000FF"/>
                </a:solidFill>
              </a:defRPr>
            </a:lvl5pPr>
            <a:lvl6pPr marL="2754313" indent="-468313" fontAlgn="base">
              <a:spcBef>
                <a:spcPct val="20000"/>
              </a:spcBef>
              <a:spcAft>
                <a:spcPct val="0"/>
              </a:spcAft>
              <a:buClr>
                <a:schemeClr val="accent1"/>
              </a:buClr>
              <a:buSzPct val="50000"/>
              <a:buFont typeface="Wingdings" pitchFamily="2" charset="2"/>
              <a:buChar char="o"/>
              <a:defRPr sz="2000">
                <a:solidFill>
                  <a:srgbClr val="0000FF"/>
                </a:solidFill>
              </a:defRPr>
            </a:lvl6pPr>
            <a:lvl7pPr marL="3211513" indent="-468313" fontAlgn="base">
              <a:spcBef>
                <a:spcPct val="20000"/>
              </a:spcBef>
              <a:spcAft>
                <a:spcPct val="0"/>
              </a:spcAft>
              <a:buClr>
                <a:schemeClr val="accent1"/>
              </a:buClr>
              <a:buSzPct val="50000"/>
              <a:buFont typeface="Wingdings" pitchFamily="2" charset="2"/>
              <a:buChar char="o"/>
              <a:defRPr sz="2000">
                <a:solidFill>
                  <a:srgbClr val="0000FF"/>
                </a:solidFill>
              </a:defRPr>
            </a:lvl7pPr>
            <a:lvl8pPr marL="3668713" indent="-468313" fontAlgn="base">
              <a:spcBef>
                <a:spcPct val="20000"/>
              </a:spcBef>
              <a:spcAft>
                <a:spcPct val="0"/>
              </a:spcAft>
              <a:buClr>
                <a:schemeClr val="accent1"/>
              </a:buClr>
              <a:buSzPct val="50000"/>
              <a:buFont typeface="Wingdings" pitchFamily="2" charset="2"/>
              <a:buChar char="o"/>
              <a:defRPr sz="2000">
                <a:solidFill>
                  <a:srgbClr val="0000FF"/>
                </a:solidFill>
              </a:defRPr>
            </a:lvl8pPr>
            <a:lvl9pPr marL="4125913" indent="-468313" fontAlgn="base">
              <a:spcBef>
                <a:spcPct val="20000"/>
              </a:spcBef>
              <a:spcAft>
                <a:spcPct val="0"/>
              </a:spcAft>
              <a:buClr>
                <a:schemeClr val="accent1"/>
              </a:buClr>
              <a:buSzPct val="50000"/>
              <a:buFont typeface="Wingdings" pitchFamily="2" charset="2"/>
              <a:buChar char="o"/>
              <a:defRPr sz="2000">
                <a:solidFill>
                  <a:srgbClr val="0000FF"/>
                </a:solidFill>
              </a:defRPr>
            </a:lvl9pPr>
          </a:lstStyle>
          <a:p>
            <a:r>
              <a:rPr lang="en-US" altLang="zh-CN" dirty="0"/>
              <a:t>max(10, 10.5);	</a:t>
            </a:r>
          </a:p>
        </p:txBody>
      </p:sp>
      <p:sp>
        <p:nvSpPr>
          <p:cNvPr id="30" name="矩形 29">
            <a:extLst>
              <a:ext uri="{FF2B5EF4-FFF2-40B4-BE49-F238E27FC236}">
                <a16:creationId xmlns:a16="http://schemas.microsoft.com/office/drawing/2014/main" id="{47934AFB-C7DC-4A48-9740-B0C923153B7A}"/>
              </a:ext>
            </a:extLst>
          </p:cNvPr>
          <p:cNvSpPr>
            <a:spLocks noChangeArrowheads="1"/>
          </p:cNvSpPr>
          <p:nvPr/>
        </p:nvSpPr>
        <p:spPr bwMode="auto">
          <a:xfrm>
            <a:off x="8204752" y="5646039"/>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spcBef>
                <a:spcPct val="0"/>
              </a:spcBef>
            </a:pPr>
            <a:r>
              <a:rPr kumimoji="1" lang="en-US" altLang="zh-CN" b="1" dirty="0">
                <a:solidFill>
                  <a:srgbClr val="FF0000"/>
                </a:solidFill>
                <a:latin typeface="华文琥珀" panose="02010800040101010101" pitchFamily="2" charset="-122"/>
                <a:ea typeface="华文琥珀" panose="02010800040101010101" pitchFamily="2" charset="-122"/>
              </a:rPr>
              <a:t>×</a:t>
            </a:r>
            <a:r>
              <a:rPr lang="zh-CN" altLang="en-US" dirty="0">
                <a:solidFill>
                  <a:srgbClr val="FF0000"/>
                </a:solidFill>
                <a:latin typeface="华光行书_CNKI" panose="02000500000000000000" pitchFamily="2" charset="-122"/>
                <a:ea typeface="华光行书_CNKI" panose="02000500000000000000" pitchFamily="2" charset="-122"/>
              </a:rPr>
              <a:t>无法实例化</a:t>
            </a:r>
          </a:p>
        </p:txBody>
      </p:sp>
      <p:sp>
        <p:nvSpPr>
          <p:cNvPr id="31" name="矩形 30">
            <a:extLst>
              <a:ext uri="{FF2B5EF4-FFF2-40B4-BE49-F238E27FC236}">
                <a16:creationId xmlns:a16="http://schemas.microsoft.com/office/drawing/2014/main" id="{F87E5024-FCB8-4C2B-BB16-3196CF9C8FD2}"/>
              </a:ext>
            </a:extLst>
          </p:cNvPr>
          <p:cNvSpPr/>
          <p:nvPr/>
        </p:nvSpPr>
        <p:spPr>
          <a:xfrm>
            <a:off x="4704494" y="882404"/>
            <a:ext cx="2800282" cy="461665"/>
          </a:xfrm>
          <a:prstGeom prst="rect">
            <a:avLst/>
          </a:prstGeom>
          <a:noFill/>
          <a:ln>
            <a:noFill/>
          </a:ln>
        </p:spPr>
        <p:txBody>
          <a:bodyPr wrap="square">
            <a:spAutoFit/>
          </a:bodyPr>
          <a:lstStyle/>
          <a:p>
            <a:pPr marL="0" lvl="1">
              <a:spcBef>
                <a:spcPts val="600"/>
              </a:spcBef>
              <a:buFont typeface="Wingdings" panose="05000000000000000000" pitchFamily="2" charset="2"/>
              <a:buChar char="l"/>
            </a:pPr>
            <a:r>
              <a:rPr kumimoji="1" lang="zh-CN" altLang="en-US" dirty="0">
                <a:solidFill>
                  <a:srgbClr val="134F85"/>
                </a:solidFill>
                <a:latin typeface="华光隶变_CNKI" panose="02000500000000000000" pitchFamily="2" charset="-122"/>
                <a:ea typeface="华光隶变_CNKI" panose="02000500000000000000" pitchFamily="2" charset="-122"/>
              </a:rPr>
              <a:t>函数模板实例化</a:t>
            </a:r>
          </a:p>
        </p:txBody>
      </p:sp>
    </p:spTree>
    <p:extLst>
      <p:ext uri="{BB962C8B-B14F-4D97-AF65-F5344CB8AC3E}">
        <p14:creationId xmlns:p14="http://schemas.microsoft.com/office/powerpoint/2010/main" val="598184665"/>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anim calcmode="lin" valueType="num">
                                      <p:cBhvr additive="base">
                                        <p:cTn id="13" dur="500" fill="hold"/>
                                        <p:tgtEl>
                                          <p:spTgt spid="20"/>
                                        </p:tgtEl>
                                        <p:attrNameLst>
                                          <p:attrName>ppt_x</p:attrName>
                                        </p:attrNameLst>
                                      </p:cBhvr>
                                      <p:tavLst>
                                        <p:tav tm="0">
                                          <p:val>
                                            <p:strVal val="#ppt_x"/>
                                          </p:val>
                                        </p:tav>
                                        <p:tav tm="100000">
                                          <p:val>
                                            <p:strVal val="#ppt_x"/>
                                          </p:val>
                                        </p:tav>
                                      </p:tavLst>
                                    </p:anim>
                                    <p:anim calcmode="lin" valueType="num">
                                      <p:cBhvr additive="base">
                                        <p:cTn id="1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wheel(1)">
                                      <p:cBhvr>
                                        <p:cTn id="29" dur="2000"/>
                                        <p:tgtEl>
                                          <p:spTgt spid="31"/>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1000"/>
                                        <p:tgtEl>
                                          <p:spTgt spid="15"/>
                                        </p:tgtEl>
                                      </p:cBhvr>
                                    </p:animEffect>
                                    <p:anim calcmode="lin" valueType="num">
                                      <p:cBhvr>
                                        <p:cTn id="39" dur="1000" fill="hold"/>
                                        <p:tgtEl>
                                          <p:spTgt spid="15"/>
                                        </p:tgtEl>
                                        <p:attrNameLst>
                                          <p:attrName>ppt_x</p:attrName>
                                        </p:attrNameLst>
                                      </p:cBhvr>
                                      <p:tavLst>
                                        <p:tav tm="0">
                                          <p:val>
                                            <p:strVal val="#ppt_x"/>
                                          </p:val>
                                        </p:tav>
                                        <p:tav tm="100000">
                                          <p:val>
                                            <p:strVal val="#ppt_x"/>
                                          </p:val>
                                        </p:tav>
                                      </p:tavLst>
                                    </p:anim>
                                    <p:anim calcmode="lin" valueType="num">
                                      <p:cBhvr>
                                        <p:cTn id="4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barn(inVertical)">
                                      <p:cBhvr>
                                        <p:cTn id="45" dur="500"/>
                                        <p:tgtEl>
                                          <p:spTgt spid="16"/>
                                        </p:tgtEl>
                                      </p:cBhvr>
                                    </p:animEffect>
                                  </p:childTnLst>
                                </p:cTn>
                              </p:par>
                              <p:par>
                                <p:cTn id="46" presetID="4" presetClass="entr" presetSubtype="16"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box(in)">
                                      <p:cBhvr>
                                        <p:cTn id="48" dur="500"/>
                                        <p:tgtEl>
                                          <p:spTgt spid="17"/>
                                        </p:tgtEl>
                                      </p:cBhvr>
                                    </p:animEffect>
                                  </p:childTnLst>
                                </p:cTn>
                              </p:par>
                              <p:par>
                                <p:cTn id="49" presetID="4" presetClass="entr" presetSubtype="16"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box(in)">
                                      <p:cBhvr>
                                        <p:cTn id="51" dur="500"/>
                                        <p:tgtEl>
                                          <p:spTgt spid="2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down)">
                                      <p:cBhvr>
                                        <p:cTn id="56" dur="500"/>
                                        <p:tgtEl>
                                          <p:spTgt spid="24"/>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down)">
                                      <p:cBhvr>
                                        <p:cTn id="59" dur="500"/>
                                        <p:tgtEl>
                                          <p:spTgt spid="26"/>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2" fill="hold" grpId="0" nodeType="click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wipe(right)">
                                      <p:cBhvr>
                                        <p:cTn id="64" dur="500"/>
                                        <p:tgtEl>
                                          <p:spTgt spid="27"/>
                                        </p:tgtEl>
                                      </p:cBhvr>
                                    </p:animEffect>
                                  </p:childTnLst>
                                </p:cTn>
                              </p:par>
                            </p:childTnLst>
                          </p:cTn>
                        </p:par>
                      </p:childTnLst>
                    </p:cTn>
                  </p:par>
                  <p:par>
                    <p:cTn id="65" fill="hold">
                      <p:stCondLst>
                        <p:cond delay="indefinite"/>
                      </p:stCondLst>
                      <p:childTnLst>
                        <p:par>
                          <p:cTn id="66" fill="hold">
                            <p:stCondLst>
                              <p:cond delay="0"/>
                            </p:stCondLst>
                            <p:childTnLst>
                              <p:par>
                                <p:cTn id="67" presetID="14" presetClass="entr" presetSubtype="10" fill="hold" grpId="0" nodeType="click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randombar(horizontal)">
                                      <p:cBhvr>
                                        <p:cTn id="69" dur="500"/>
                                        <p:tgtEl>
                                          <p:spTgt spid="28"/>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29"/>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P spid="15" grpId="0"/>
      <p:bldP spid="16" grpId="0"/>
      <p:bldP spid="24" grpId="0"/>
      <p:bldP spid="26" grpId="0"/>
      <p:bldP spid="27" grpId="0" animBg="1"/>
      <p:bldP spid="28" grpId="0"/>
      <p:bldP spid="29" grpId="0"/>
      <p:bldP spid="30" grpId="0"/>
      <p:bldP spid="3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a:extLst>
              <a:ext uri="{FF2B5EF4-FFF2-40B4-BE49-F238E27FC236}">
                <a16:creationId xmlns:a16="http://schemas.microsoft.com/office/drawing/2014/main" id="{B16820F4-4997-403F-B23E-825E89BC5A74}"/>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19" name="直线连接符 6">
            <a:extLst>
              <a:ext uri="{FF2B5EF4-FFF2-40B4-BE49-F238E27FC236}">
                <a16:creationId xmlns:a16="http://schemas.microsoft.com/office/drawing/2014/main" id="{B2AA247E-DF53-44F0-B09F-20267C822A4D}"/>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21" name="文本框 20">
            <a:extLst>
              <a:ext uri="{FF2B5EF4-FFF2-40B4-BE49-F238E27FC236}">
                <a16:creationId xmlns:a16="http://schemas.microsoft.com/office/drawing/2014/main" id="{040D4B84-D3B4-44B5-8161-254E0723B0A3}"/>
              </a:ext>
            </a:extLst>
          </p:cNvPr>
          <p:cNvSpPr txBox="1"/>
          <p:nvPr/>
        </p:nvSpPr>
        <p:spPr>
          <a:xfrm>
            <a:off x="247719" y="224527"/>
            <a:ext cx="7583296" cy="584775"/>
          </a:xfrm>
          <a:prstGeom prst="rect">
            <a:avLst/>
          </a:prstGeom>
          <a:noFill/>
        </p:spPr>
        <p:txBody>
          <a:bodyPr wrap="square" rtlCol="0">
            <a:spAutoFit/>
          </a:bodyPr>
          <a:lstStyle/>
          <a:p>
            <a:r>
              <a:rPr kumimoji="1" lang="en-US" altLang="zh-CN" sz="3200" b="1" dirty="0">
                <a:latin typeface="华光胖头鱼_CNKI" panose="02000500000000000000" pitchFamily="2" charset="-122"/>
                <a:ea typeface="华光胖头鱼_CNKI" panose="02000500000000000000" pitchFamily="2" charset="-122"/>
              </a:rPr>
              <a:t>11.2</a:t>
            </a:r>
            <a:r>
              <a:rPr kumimoji="1" lang="zh-CN" altLang="en-US" sz="3200" b="1" dirty="0">
                <a:latin typeface="华光胖头鱼_CNKI" panose="02000500000000000000" pitchFamily="2" charset="-122"/>
                <a:ea typeface="华光胖头鱼_CNKI" panose="02000500000000000000" pitchFamily="2" charset="-122"/>
              </a:rPr>
              <a:t>函数模板</a:t>
            </a:r>
          </a:p>
        </p:txBody>
      </p:sp>
      <p:sp>
        <p:nvSpPr>
          <p:cNvPr id="22" name="Text Box 5">
            <a:extLst>
              <a:ext uri="{FF2B5EF4-FFF2-40B4-BE49-F238E27FC236}">
                <a16:creationId xmlns:a16="http://schemas.microsoft.com/office/drawing/2014/main" id="{63207D73-3EFC-4C1A-84FF-E114177EF5BB}"/>
              </a:ext>
            </a:extLst>
          </p:cNvPr>
          <p:cNvSpPr txBox="1">
            <a:spLocks noChangeArrowheads="1"/>
          </p:cNvSpPr>
          <p:nvPr/>
        </p:nvSpPr>
        <p:spPr bwMode="auto">
          <a:xfrm>
            <a:off x="24980" y="2681998"/>
            <a:ext cx="4159251" cy="1754326"/>
          </a:xfrm>
          <a:prstGeom prst="rect">
            <a:avLst/>
          </a:prstGeom>
          <a:noFill/>
          <a:ln>
            <a:noFill/>
          </a:ln>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lnSpc>
                <a:spcPct val="90000"/>
              </a:lnSpc>
              <a:spcBef>
                <a:spcPct val="0"/>
              </a:spcBef>
              <a:buClrTx/>
              <a:buSzTx/>
              <a:buFontTx/>
              <a:buNone/>
            </a:pPr>
            <a:r>
              <a:rPr kumimoji="1" lang="en-US" altLang="zh-CN" sz="2400" dirty="0">
                <a:solidFill>
                  <a:srgbClr val="FF0000"/>
                </a:solidFill>
                <a:latin typeface="Comic Sans MS" panose="030F0702030302020204" pitchFamily="66" charset="0"/>
                <a:ea typeface="宋体" panose="02010600030101010101" pitchFamily="2" charset="-122"/>
              </a:rPr>
              <a:t>template</a:t>
            </a:r>
            <a:r>
              <a:rPr kumimoji="1" lang="en-US" altLang="zh-CN" sz="2400" dirty="0">
                <a:solidFill>
                  <a:schemeClr val="tx1"/>
                </a:solidFill>
                <a:latin typeface="Comic Sans MS" panose="030F0702030302020204" pitchFamily="66" charset="0"/>
                <a:ea typeface="宋体" panose="02010600030101010101" pitchFamily="2" charset="-122"/>
              </a:rPr>
              <a:t>  </a:t>
            </a:r>
            <a:r>
              <a:rPr kumimoji="1" lang="en-US" altLang="zh-CN" sz="2400" dirty="0">
                <a:solidFill>
                  <a:srgbClr val="104E87"/>
                </a:solidFill>
                <a:latin typeface="Comic Sans MS" panose="030F0702030302020204" pitchFamily="66" charset="0"/>
                <a:ea typeface="宋体" panose="02010600030101010101" pitchFamily="2" charset="-122"/>
              </a:rPr>
              <a:t>&lt; class  T &gt;</a:t>
            </a:r>
          </a:p>
          <a:p>
            <a:pPr eaLnBrk="1" hangingPunct="1">
              <a:lnSpc>
                <a:spcPct val="90000"/>
              </a:lnSpc>
              <a:spcBef>
                <a:spcPct val="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rPr>
              <a:t>T  Max ( T a , T b , T c )</a:t>
            </a:r>
          </a:p>
          <a:p>
            <a:pPr eaLnBrk="1" hangingPunct="1">
              <a:lnSpc>
                <a:spcPct val="90000"/>
              </a:lnSpc>
              <a:spcBef>
                <a:spcPct val="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rPr>
              <a:t>{T  x = min ( a, b ) ;</a:t>
            </a:r>
          </a:p>
          <a:p>
            <a:pPr eaLnBrk="1" hangingPunct="1">
              <a:lnSpc>
                <a:spcPct val="90000"/>
              </a:lnSpc>
              <a:spcBef>
                <a:spcPct val="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rPr>
              <a:t>     return  min ( x , c ) ;</a:t>
            </a:r>
          </a:p>
          <a:p>
            <a:pPr eaLnBrk="1" hangingPunct="1">
              <a:lnSpc>
                <a:spcPct val="90000"/>
              </a:lnSpc>
              <a:spcBef>
                <a:spcPct val="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rPr>
              <a:t>}</a:t>
            </a:r>
          </a:p>
        </p:txBody>
      </p:sp>
      <p:sp>
        <p:nvSpPr>
          <p:cNvPr id="23" name="Text Box 5">
            <a:extLst>
              <a:ext uri="{FF2B5EF4-FFF2-40B4-BE49-F238E27FC236}">
                <a16:creationId xmlns:a16="http://schemas.microsoft.com/office/drawing/2014/main" id="{1A309A1B-7F38-46F4-8F14-544A7116F676}"/>
              </a:ext>
            </a:extLst>
          </p:cNvPr>
          <p:cNvSpPr txBox="1">
            <a:spLocks noChangeArrowheads="1"/>
          </p:cNvSpPr>
          <p:nvPr/>
        </p:nvSpPr>
        <p:spPr bwMode="auto">
          <a:xfrm>
            <a:off x="24980" y="1401547"/>
            <a:ext cx="4159251" cy="1421928"/>
          </a:xfrm>
          <a:prstGeom prst="rect">
            <a:avLst/>
          </a:prstGeom>
          <a:noFill/>
          <a:ln>
            <a:noFill/>
          </a:ln>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lnSpc>
                <a:spcPct val="90000"/>
              </a:lnSpc>
              <a:spcBef>
                <a:spcPct val="0"/>
              </a:spcBef>
              <a:buClrTx/>
              <a:buSzTx/>
              <a:buFontTx/>
              <a:buNone/>
            </a:pPr>
            <a:r>
              <a:rPr kumimoji="1" lang="en-US" altLang="zh-CN" sz="2400" dirty="0">
                <a:solidFill>
                  <a:srgbClr val="FF0000"/>
                </a:solidFill>
                <a:latin typeface="Comic Sans MS" panose="030F0702030302020204" pitchFamily="66" charset="0"/>
                <a:ea typeface="宋体" panose="02010600030101010101" pitchFamily="2" charset="-122"/>
              </a:rPr>
              <a:t>template</a:t>
            </a:r>
            <a:r>
              <a:rPr kumimoji="1" lang="en-US" altLang="zh-CN" sz="2400" dirty="0">
                <a:solidFill>
                  <a:schemeClr val="tx1"/>
                </a:solidFill>
                <a:latin typeface="Comic Sans MS" panose="030F0702030302020204" pitchFamily="66" charset="0"/>
                <a:ea typeface="宋体" panose="02010600030101010101" pitchFamily="2" charset="-122"/>
              </a:rPr>
              <a:t> </a:t>
            </a:r>
            <a:r>
              <a:rPr kumimoji="1" lang="en-US" altLang="zh-CN" sz="2400" dirty="0">
                <a:solidFill>
                  <a:srgbClr val="104E87"/>
                </a:solidFill>
                <a:latin typeface="Comic Sans MS" panose="030F0702030302020204" pitchFamily="66" charset="0"/>
                <a:ea typeface="宋体" panose="02010600030101010101" pitchFamily="2" charset="-122"/>
              </a:rPr>
              <a:t>&lt; class  T &gt;</a:t>
            </a:r>
          </a:p>
          <a:p>
            <a:pPr eaLnBrk="1" hangingPunct="1">
              <a:lnSpc>
                <a:spcPct val="90000"/>
              </a:lnSpc>
              <a:spcBef>
                <a:spcPct val="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rPr>
              <a:t>T  Max ( T a , T  b )</a:t>
            </a:r>
          </a:p>
          <a:p>
            <a:pPr eaLnBrk="1" hangingPunct="1">
              <a:lnSpc>
                <a:spcPct val="90000"/>
              </a:lnSpc>
              <a:spcBef>
                <a:spcPct val="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rPr>
              <a:t>{return  a &gt; b ? a : b ;</a:t>
            </a:r>
          </a:p>
          <a:p>
            <a:pPr eaLnBrk="1" hangingPunct="1">
              <a:lnSpc>
                <a:spcPct val="90000"/>
              </a:lnSpc>
              <a:spcBef>
                <a:spcPct val="0"/>
              </a:spcBef>
              <a:buClrTx/>
              <a:buSzTx/>
              <a:buFontTx/>
              <a:buNone/>
            </a:pPr>
            <a:r>
              <a:rPr kumimoji="1" lang="en-US" altLang="zh-CN" sz="2400" dirty="0">
                <a:solidFill>
                  <a:srgbClr val="104E87"/>
                </a:solidFill>
                <a:latin typeface="Comic Sans MS" panose="030F0702030302020204" pitchFamily="66" charset="0"/>
                <a:ea typeface="宋体" panose="02010600030101010101" pitchFamily="2" charset="-122"/>
              </a:rPr>
              <a:t>}</a:t>
            </a:r>
          </a:p>
        </p:txBody>
      </p:sp>
      <p:sp>
        <p:nvSpPr>
          <p:cNvPr id="24" name="Text Box 5">
            <a:extLst>
              <a:ext uri="{FF2B5EF4-FFF2-40B4-BE49-F238E27FC236}">
                <a16:creationId xmlns:a16="http://schemas.microsoft.com/office/drawing/2014/main" id="{93A694E0-9363-4663-A38C-B734DAABADF8}"/>
              </a:ext>
            </a:extLst>
          </p:cNvPr>
          <p:cNvSpPr txBox="1">
            <a:spLocks noChangeArrowheads="1"/>
          </p:cNvSpPr>
          <p:nvPr/>
        </p:nvSpPr>
        <p:spPr bwMode="auto">
          <a:xfrm>
            <a:off x="24980" y="4332602"/>
            <a:ext cx="4159251" cy="2566857"/>
          </a:xfrm>
          <a:prstGeom prst="rect">
            <a:avLst/>
          </a:prstGeom>
          <a:noFill/>
          <a:ln>
            <a:noFill/>
          </a:ln>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lnSpc>
                <a:spcPct val="90000"/>
              </a:lnSpc>
              <a:buFont typeface="Wingdings" panose="05000000000000000000" pitchFamily="2" charset="2"/>
              <a:buNone/>
            </a:pPr>
            <a:r>
              <a:rPr lang="en-US" altLang="zh-CN" sz="2400" dirty="0">
                <a:solidFill>
                  <a:srgbClr val="E73A1C"/>
                </a:solidFill>
                <a:latin typeface="Comic Sans MS" panose="030F0702030302020204" pitchFamily="66" charset="0"/>
              </a:rPr>
              <a:t>template</a:t>
            </a:r>
            <a:r>
              <a:rPr lang="en-US" altLang="zh-CN" sz="2400" dirty="0">
                <a:solidFill>
                  <a:srgbClr val="104E87"/>
                </a:solidFill>
                <a:latin typeface="Comic Sans MS" panose="030F0702030302020204" pitchFamily="66" charset="0"/>
              </a:rPr>
              <a:t> &lt;class T&gt;</a:t>
            </a:r>
          </a:p>
          <a:p>
            <a:pPr eaLnBrk="1" hangingPunct="1">
              <a:lnSpc>
                <a:spcPct val="90000"/>
              </a:lnSpc>
              <a:buFont typeface="Wingdings" panose="05000000000000000000" pitchFamily="2" charset="2"/>
              <a:buNone/>
            </a:pPr>
            <a:r>
              <a:rPr lang="en-US" altLang="zh-CN" sz="2400" dirty="0">
                <a:solidFill>
                  <a:srgbClr val="104E87"/>
                </a:solidFill>
                <a:latin typeface="Comic Sans MS" panose="030F0702030302020204" pitchFamily="66" charset="0"/>
              </a:rPr>
              <a:t>T max(T x[], int n)</a:t>
            </a:r>
          </a:p>
          <a:p>
            <a:pPr eaLnBrk="1" hangingPunct="1">
              <a:lnSpc>
                <a:spcPct val="90000"/>
              </a:lnSpc>
              <a:spcBef>
                <a:spcPct val="0"/>
              </a:spcBef>
              <a:buFont typeface="Wingdings" panose="05000000000000000000" pitchFamily="2" charset="2"/>
              <a:buNone/>
            </a:pPr>
            <a:r>
              <a:rPr lang="en-US" altLang="zh-CN" sz="2400" dirty="0">
                <a:solidFill>
                  <a:srgbClr val="104E87"/>
                </a:solidFill>
                <a:latin typeface="Comic Sans MS" panose="030F0702030302020204" pitchFamily="66" charset="0"/>
              </a:rPr>
              <a:t>{TYPE m = x[0];</a:t>
            </a:r>
          </a:p>
          <a:p>
            <a:pPr eaLnBrk="1" hangingPunct="1">
              <a:lnSpc>
                <a:spcPct val="90000"/>
              </a:lnSpc>
              <a:spcBef>
                <a:spcPct val="0"/>
              </a:spcBef>
              <a:buFont typeface="Wingdings" panose="05000000000000000000" pitchFamily="2" charset="2"/>
              <a:buNone/>
            </a:pPr>
            <a:r>
              <a:rPr lang="en-US" altLang="zh-CN" sz="2400" dirty="0">
                <a:solidFill>
                  <a:srgbClr val="104E87"/>
                </a:solidFill>
                <a:latin typeface="Comic Sans MS" panose="030F0702030302020204" pitchFamily="66" charset="0"/>
              </a:rPr>
              <a:t>for (int </a:t>
            </a:r>
            <a:r>
              <a:rPr lang="en-US" altLang="zh-CN" sz="2400" dirty="0" err="1">
                <a:solidFill>
                  <a:srgbClr val="104E87"/>
                </a:solidFill>
                <a:latin typeface="Comic Sans MS" panose="030F0702030302020204" pitchFamily="66" charset="0"/>
              </a:rPr>
              <a:t>i</a:t>
            </a:r>
            <a:r>
              <a:rPr lang="en-US" altLang="zh-CN" sz="2400" dirty="0">
                <a:solidFill>
                  <a:srgbClr val="104E87"/>
                </a:solidFill>
                <a:latin typeface="Comic Sans MS" panose="030F0702030302020204" pitchFamily="66" charset="0"/>
              </a:rPr>
              <a:t>=0; </a:t>
            </a:r>
            <a:r>
              <a:rPr lang="en-US" altLang="zh-CN" sz="2400" dirty="0" err="1">
                <a:solidFill>
                  <a:srgbClr val="104E87"/>
                </a:solidFill>
                <a:latin typeface="Comic Sans MS" panose="030F0702030302020204" pitchFamily="66" charset="0"/>
              </a:rPr>
              <a:t>i</a:t>
            </a:r>
            <a:r>
              <a:rPr lang="en-US" altLang="zh-CN" sz="2400" dirty="0">
                <a:solidFill>
                  <a:srgbClr val="104E87"/>
                </a:solidFill>
                <a:latin typeface="Comic Sans MS" panose="030F0702030302020204" pitchFamily="66" charset="0"/>
              </a:rPr>
              <a:t>&lt;n; </a:t>
            </a:r>
            <a:r>
              <a:rPr lang="en-US" altLang="zh-CN" sz="2400" dirty="0" err="1">
                <a:solidFill>
                  <a:srgbClr val="104E87"/>
                </a:solidFill>
                <a:latin typeface="Comic Sans MS" panose="030F0702030302020204" pitchFamily="66" charset="0"/>
              </a:rPr>
              <a:t>i</a:t>
            </a:r>
            <a:r>
              <a:rPr lang="en-US" altLang="zh-CN" sz="2400" dirty="0">
                <a:solidFill>
                  <a:srgbClr val="104E87"/>
                </a:solidFill>
                <a:latin typeface="Comic Sans MS" panose="030F0702030302020204" pitchFamily="66" charset="0"/>
              </a:rPr>
              <a:t>++) </a:t>
            </a:r>
          </a:p>
          <a:p>
            <a:pPr eaLnBrk="1" hangingPunct="1">
              <a:lnSpc>
                <a:spcPct val="90000"/>
              </a:lnSpc>
              <a:spcBef>
                <a:spcPct val="0"/>
              </a:spcBef>
              <a:buFont typeface="Wingdings" panose="05000000000000000000" pitchFamily="2" charset="2"/>
              <a:buNone/>
            </a:pPr>
            <a:r>
              <a:rPr lang="en-US" altLang="zh-CN" sz="2400" dirty="0">
                <a:solidFill>
                  <a:srgbClr val="104E87"/>
                </a:solidFill>
                <a:latin typeface="Comic Sans MS" panose="030F0702030302020204" pitchFamily="66" charset="0"/>
              </a:rPr>
              <a:t>   if (m&lt;x[</a:t>
            </a:r>
            <a:r>
              <a:rPr lang="en-US" altLang="zh-CN" sz="2400" dirty="0" err="1">
                <a:solidFill>
                  <a:srgbClr val="104E87"/>
                </a:solidFill>
                <a:latin typeface="Comic Sans MS" panose="030F0702030302020204" pitchFamily="66" charset="0"/>
              </a:rPr>
              <a:t>i</a:t>
            </a:r>
            <a:r>
              <a:rPr lang="en-US" altLang="zh-CN" sz="2400" dirty="0">
                <a:solidFill>
                  <a:srgbClr val="104E87"/>
                </a:solidFill>
                <a:latin typeface="Comic Sans MS" panose="030F0702030302020204" pitchFamily="66" charset="0"/>
              </a:rPr>
              <a:t>])  m = x[</a:t>
            </a:r>
            <a:r>
              <a:rPr lang="en-US" altLang="zh-CN" sz="2400" dirty="0" err="1">
                <a:solidFill>
                  <a:srgbClr val="104E87"/>
                </a:solidFill>
                <a:latin typeface="Comic Sans MS" panose="030F0702030302020204" pitchFamily="66" charset="0"/>
              </a:rPr>
              <a:t>i</a:t>
            </a:r>
            <a:r>
              <a:rPr lang="en-US" altLang="zh-CN" sz="2400" dirty="0">
                <a:solidFill>
                  <a:srgbClr val="104E87"/>
                </a:solidFill>
                <a:latin typeface="Comic Sans MS" panose="030F0702030302020204" pitchFamily="66" charset="0"/>
              </a:rPr>
              <a:t>];</a:t>
            </a:r>
          </a:p>
          <a:p>
            <a:pPr eaLnBrk="1" hangingPunct="1">
              <a:lnSpc>
                <a:spcPct val="90000"/>
              </a:lnSpc>
              <a:spcBef>
                <a:spcPct val="0"/>
              </a:spcBef>
              <a:buFont typeface="Wingdings" panose="05000000000000000000" pitchFamily="2" charset="2"/>
              <a:buNone/>
            </a:pPr>
            <a:r>
              <a:rPr lang="en-US" altLang="zh-CN" sz="2400" dirty="0">
                <a:solidFill>
                  <a:srgbClr val="104E87"/>
                </a:solidFill>
                <a:latin typeface="Comic Sans MS" panose="030F0702030302020204" pitchFamily="66" charset="0"/>
              </a:rPr>
              <a:t>return m;</a:t>
            </a:r>
          </a:p>
          <a:p>
            <a:pPr eaLnBrk="1" hangingPunct="1">
              <a:lnSpc>
                <a:spcPct val="90000"/>
              </a:lnSpc>
              <a:buFont typeface="Wingdings" panose="05000000000000000000" pitchFamily="2" charset="2"/>
              <a:buNone/>
            </a:pPr>
            <a:r>
              <a:rPr lang="en-US" altLang="zh-CN" sz="2400" dirty="0">
                <a:solidFill>
                  <a:srgbClr val="104E87"/>
                </a:solidFill>
                <a:latin typeface="Comic Sans MS" panose="030F0702030302020204" pitchFamily="66" charset="0"/>
              </a:rPr>
              <a:t>}</a:t>
            </a:r>
          </a:p>
        </p:txBody>
      </p:sp>
      <p:sp>
        <p:nvSpPr>
          <p:cNvPr id="25" name="矩形 24">
            <a:extLst>
              <a:ext uri="{FF2B5EF4-FFF2-40B4-BE49-F238E27FC236}">
                <a16:creationId xmlns:a16="http://schemas.microsoft.com/office/drawing/2014/main" id="{E726730A-8D22-45FA-9B70-A74538352116}"/>
              </a:ext>
            </a:extLst>
          </p:cNvPr>
          <p:cNvSpPr/>
          <p:nvPr/>
        </p:nvSpPr>
        <p:spPr>
          <a:xfrm>
            <a:off x="24980" y="922799"/>
            <a:ext cx="2800282" cy="461665"/>
          </a:xfrm>
          <a:prstGeom prst="rect">
            <a:avLst/>
          </a:prstGeom>
          <a:noFill/>
          <a:ln>
            <a:noFill/>
          </a:ln>
        </p:spPr>
        <p:txBody>
          <a:bodyPr wrap="square">
            <a:spAutoFit/>
          </a:bodyPr>
          <a:lstStyle/>
          <a:p>
            <a:pPr marL="0" lvl="1">
              <a:spcBef>
                <a:spcPts val="600"/>
              </a:spcBef>
              <a:buFont typeface="Wingdings" panose="05000000000000000000" pitchFamily="2" charset="2"/>
              <a:buChar char="l"/>
            </a:pPr>
            <a:r>
              <a:rPr kumimoji="1" lang="zh-CN" altLang="en-US" dirty="0">
                <a:solidFill>
                  <a:srgbClr val="134F85"/>
                </a:solidFill>
                <a:latin typeface="华光隶变_CNKI" panose="02000500000000000000" pitchFamily="2" charset="-122"/>
                <a:ea typeface="华光隶变_CNKI" panose="02000500000000000000" pitchFamily="2" charset="-122"/>
              </a:rPr>
              <a:t>函数模板重载</a:t>
            </a:r>
          </a:p>
        </p:txBody>
      </p:sp>
      <p:sp>
        <p:nvSpPr>
          <p:cNvPr id="26" name="文本框 25">
            <a:extLst>
              <a:ext uri="{FF2B5EF4-FFF2-40B4-BE49-F238E27FC236}">
                <a16:creationId xmlns:a16="http://schemas.microsoft.com/office/drawing/2014/main" id="{4FFE0860-033A-4838-B5E9-982ABB3ED1DD}"/>
              </a:ext>
            </a:extLst>
          </p:cNvPr>
          <p:cNvSpPr txBox="1"/>
          <p:nvPr/>
        </p:nvSpPr>
        <p:spPr>
          <a:xfrm>
            <a:off x="2915247" y="890787"/>
            <a:ext cx="4106009" cy="830997"/>
          </a:xfrm>
          <a:prstGeom prst="rect">
            <a:avLst/>
          </a:prstGeom>
          <a:noFill/>
        </p:spPr>
        <p:txBody>
          <a:bodyPr wrap="square">
            <a:spAutoFit/>
          </a:bodyPr>
          <a:lstStyle/>
          <a:p>
            <a:r>
              <a:rPr kumimoji="1" lang="zh-CN" altLang="en-US" sz="2400" dirty="0">
                <a:solidFill>
                  <a:srgbClr val="FF0000"/>
                </a:solidFill>
                <a:latin typeface="Comic Sans MS" panose="030F0702030302020204" pitchFamily="66" charset="0"/>
                <a:ea typeface="华光行书_CNKI" panose="02000500000000000000" pitchFamily="2" charset="-122"/>
              </a:rPr>
              <a:t>函数模板可以重载定义，函数模板与函数可以重载定义</a:t>
            </a:r>
            <a:endParaRPr lang="zh-CN" altLang="en-US" dirty="0">
              <a:solidFill>
                <a:srgbClr val="FF0000"/>
              </a:solidFill>
              <a:latin typeface="Comic Sans MS" panose="030F0702030302020204" pitchFamily="66" charset="0"/>
              <a:ea typeface="华光行书_CNKI" panose="02000500000000000000" pitchFamily="2" charset="-122"/>
            </a:endParaRPr>
          </a:p>
        </p:txBody>
      </p:sp>
      <p:sp>
        <p:nvSpPr>
          <p:cNvPr id="27" name="文本框 10">
            <a:extLst>
              <a:ext uri="{FF2B5EF4-FFF2-40B4-BE49-F238E27FC236}">
                <a16:creationId xmlns:a16="http://schemas.microsoft.com/office/drawing/2014/main" id="{1FE621C4-20D6-4E57-97D3-46611D48C505}"/>
              </a:ext>
            </a:extLst>
          </p:cNvPr>
          <p:cNvSpPr txBox="1">
            <a:spLocks noChangeArrowheads="1"/>
          </p:cNvSpPr>
          <p:nvPr/>
        </p:nvSpPr>
        <p:spPr bwMode="auto">
          <a:xfrm>
            <a:off x="3513937" y="1888402"/>
            <a:ext cx="4159251" cy="1089529"/>
          </a:xfrm>
          <a:prstGeom prst="rect">
            <a:avLst/>
          </a:prstGeom>
          <a:noFill/>
          <a:ln>
            <a:noFill/>
          </a:ln>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pPr>
            <a:r>
              <a:rPr kumimoji="1" lang="en-US" altLang="zh-CN" b="0" spc="-100" dirty="0">
                <a:solidFill>
                  <a:srgbClr val="104E87"/>
                </a:solidFill>
                <a:latin typeface="Comic Sans MS" panose="030F0702030302020204" pitchFamily="66" charset="0"/>
                <a:ea typeface="华光行书_CNKI" panose="02000500000000000000" pitchFamily="2" charset="-122"/>
              </a:rPr>
              <a:t>double  Max( int  a, float b)</a:t>
            </a:r>
          </a:p>
          <a:p>
            <a:pPr eaLnBrk="1" hangingPunct="1">
              <a:lnSpc>
                <a:spcPct val="90000"/>
              </a:lnSpc>
            </a:pPr>
            <a:r>
              <a:rPr kumimoji="1" lang="en-US" altLang="zh-CN" b="0" spc="-100" dirty="0">
                <a:solidFill>
                  <a:srgbClr val="104E87"/>
                </a:solidFill>
                <a:latin typeface="Comic Sans MS" panose="030F0702030302020204" pitchFamily="66" charset="0"/>
                <a:ea typeface="华光行书_CNKI" panose="02000500000000000000" pitchFamily="2" charset="-122"/>
              </a:rPr>
              <a:t>{return  a &gt; b ? a : b ;</a:t>
            </a:r>
          </a:p>
          <a:p>
            <a:pPr eaLnBrk="1" hangingPunct="1">
              <a:lnSpc>
                <a:spcPct val="90000"/>
              </a:lnSpc>
            </a:pPr>
            <a:r>
              <a:rPr kumimoji="1" lang="en-US" altLang="zh-CN" b="0" spc="-100" dirty="0">
                <a:solidFill>
                  <a:srgbClr val="104E87"/>
                </a:solidFill>
                <a:latin typeface="Comic Sans MS" panose="030F0702030302020204" pitchFamily="66" charset="0"/>
                <a:ea typeface="华光行书_CNKI" panose="02000500000000000000" pitchFamily="2" charset="-122"/>
              </a:rPr>
              <a:t>}</a:t>
            </a:r>
          </a:p>
        </p:txBody>
      </p:sp>
      <p:sp>
        <p:nvSpPr>
          <p:cNvPr id="28" name="Rectangle 2">
            <a:extLst>
              <a:ext uri="{FF2B5EF4-FFF2-40B4-BE49-F238E27FC236}">
                <a16:creationId xmlns:a16="http://schemas.microsoft.com/office/drawing/2014/main" id="{5071719B-C44E-43B2-8B7F-36137C77C0C1}"/>
              </a:ext>
            </a:extLst>
          </p:cNvPr>
          <p:cNvSpPr txBox="1">
            <a:spLocks noChangeArrowheads="1"/>
          </p:cNvSpPr>
          <p:nvPr/>
        </p:nvSpPr>
        <p:spPr>
          <a:xfrm>
            <a:off x="7508197" y="894884"/>
            <a:ext cx="4658823" cy="5472267"/>
          </a:xfrm>
          <a:prstGeom prst="rect">
            <a:avLst/>
          </a:prstGeom>
          <a:noFill/>
        </p:spPr>
        <p:txBody>
          <a:bodyPr wrap="square">
            <a:spAutoFit/>
          </a:bodyPr>
          <a:lstStyle>
            <a:defPPr>
              <a:defRPr lang="en-US"/>
            </a:defPPr>
            <a:lvl1pPr>
              <a:defRPr kumimoji="1">
                <a:solidFill>
                  <a:srgbClr val="FF0000"/>
                </a:solidFill>
                <a:latin typeface="Comic Sans MS" panose="030F0702030302020204" pitchFamily="66" charset="0"/>
                <a:ea typeface="华光行书_CNKI" panose="02000500000000000000" pitchFamily="2" charset="-122"/>
              </a:defRPr>
            </a:lvl1pPr>
          </a:lstStyle>
          <a:p>
            <a:r>
              <a:rPr lang="zh-CN" altLang="en-US" spc="-150" dirty="0">
                <a:solidFill>
                  <a:srgbClr val="104E87"/>
                </a:solidFill>
              </a:rPr>
              <a:t>在使用时确定调用函数的哪个版本，所遵循的匹配原则：</a:t>
            </a:r>
            <a:endParaRPr lang="en-US" altLang="zh-CN" spc="-150" dirty="0">
              <a:solidFill>
                <a:srgbClr val="104E87"/>
              </a:solidFill>
            </a:endParaRPr>
          </a:p>
          <a:p>
            <a:pPr marL="0" indent="0" algn="just" eaLnBrk="1" hangingPunct="1">
              <a:lnSpc>
                <a:spcPct val="110000"/>
              </a:lnSpc>
              <a:spcBef>
                <a:spcPts val="1200"/>
              </a:spcBef>
              <a:buFont typeface="Wingdings" panose="05000000000000000000" pitchFamily="2" charset="2"/>
              <a:buNone/>
            </a:pPr>
            <a:r>
              <a:rPr lang="en-US" altLang="zh-CN" spc="-150" dirty="0">
                <a:solidFill>
                  <a:srgbClr val="104E87"/>
                </a:solidFill>
              </a:rPr>
              <a:t>1)</a:t>
            </a:r>
            <a:r>
              <a:rPr lang="zh-CN" altLang="en-US" spc="-150" dirty="0">
                <a:solidFill>
                  <a:srgbClr val="104E87"/>
                </a:solidFill>
              </a:rPr>
              <a:t>普通函数优先匹配，若实参与形参类型匹配，则调用该函数。否则，</a:t>
            </a:r>
          </a:p>
          <a:p>
            <a:pPr marL="0" indent="0" algn="just" eaLnBrk="1" hangingPunct="1">
              <a:lnSpc>
                <a:spcPct val="110000"/>
              </a:lnSpc>
              <a:spcBef>
                <a:spcPts val="1200"/>
              </a:spcBef>
              <a:buFont typeface="Wingdings" panose="05000000000000000000" pitchFamily="2" charset="2"/>
              <a:buNone/>
            </a:pPr>
            <a:r>
              <a:rPr lang="en-US" altLang="zh-CN" spc="-150" dirty="0">
                <a:solidFill>
                  <a:srgbClr val="104E87"/>
                </a:solidFill>
              </a:rPr>
              <a:t>2)</a:t>
            </a:r>
            <a:r>
              <a:rPr lang="zh-CN" altLang="en-US" spc="-150" dirty="0">
                <a:solidFill>
                  <a:srgbClr val="104E87"/>
                </a:solidFill>
              </a:rPr>
              <a:t>启动函数模板实例化，若实例化的函数形参与实参类型匹配，则调用该实例化的函数。否则，</a:t>
            </a:r>
          </a:p>
          <a:p>
            <a:pPr algn="just">
              <a:lnSpc>
                <a:spcPct val="110000"/>
              </a:lnSpc>
              <a:spcBef>
                <a:spcPts val="1200"/>
              </a:spcBef>
            </a:pPr>
            <a:r>
              <a:rPr lang="en-US" altLang="zh-CN" spc="-150" dirty="0">
                <a:solidFill>
                  <a:srgbClr val="104E87"/>
                </a:solidFill>
              </a:rPr>
              <a:t>3)</a:t>
            </a:r>
            <a:r>
              <a:rPr lang="zh-CN" altLang="en-US" spc="-150" dirty="0">
                <a:solidFill>
                  <a:srgbClr val="104E87"/>
                </a:solidFill>
              </a:rPr>
              <a:t>再回到普通函数，若对实参作隐式类型转换后，能达到实参与形参类型匹配，则调用该函数。否则，</a:t>
            </a:r>
          </a:p>
          <a:p>
            <a:pPr marL="0" indent="0" eaLnBrk="1" hangingPunct="1">
              <a:lnSpc>
                <a:spcPct val="110000"/>
              </a:lnSpc>
              <a:spcBef>
                <a:spcPts val="1200"/>
              </a:spcBef>
              <a:buFont typeface="Wingdings" panose="05000000000000000000" pitchFamily="2" charset="2"/>
              <a:buNone/>
            </a:pPr>
            <a:r>
              <a:rPr lang="en-US" altLang="zh-CN" spc="-150" dirty="0">
                <a:solidFill>
                  <a:srgbClr val="104E87"/>
                </a:solidFill>
              </a:rPr>
              <a:t>4)</a:t>
            </a:r>
            <a:r>
              <a:rPr lang="zh-CN" altLang="en-US" spc="-150" dirty="0">
                <a:solidFill>
                  <a:srgbClr val="104E87"/>
                </a:solidFill>
              </a:rPr>
              <a:t>提示语法错误。 </a:t>
            </a:r>
          </a:p>
          <a:p>
            <a:endParaRPr lang="zh-CN" altLang="en-US" spc="-150" dirty="0">
              <a:solidFill>
                <a:srgbClr val="104E87"/>
              </a:solidFill>
            </a:endParaRPr>
          </a:p>
        </p:txBody>
      </p:sp>
      <p:sp>
        <p:nvSpPr>
          <p:cNvPr id="29" name="文本框 10">
            <a:extLst>
              <a:ext uri="{FF2B5EF4-FFF2-40B4-BE49-F238E27FC236}">
                <a16:creationId xmlns:a16="http://schemas.microsoft.com/office/drawing/2014/main" id="{29C1D013-D144-4415-9920-2240D354960D}"/>
              </a:ext>
            </a:extLst>
          </p:cNvPr>
          <p:cNvSpPr txBox="1">
            <a:spLocks noChangeArrowheads="1"/>
          </p:cNvSpPr>
          <p:nvPr/>
        </p:nvSpPr>
        <p:spPr bwMode="auto">
          <a:xfrm>
            <a:off x="3550017" y="3324315"/>
            <a:ext cx="3788630" cy="2751522"/>
          </a:xfrm>
          <a:prstGeom prst="rect">
            <a:avLst/>
          </a:prstGeom>
          <a:solidFill>
            <a:schemeClr val="accent4">
              <a:lumMod val="20000"/>
              <a:lumOff val="80000"/>
            </a:schemeClr>
          </a:solidFill>
          <a:ln>
            <a:noFill/>
          </a:ln>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nSpc>
                <a:spcPct val="90000"/>
              </a:lnSpc>
              <a:buFont typeface="Wingdings" panose="05000000000000000000" pitchFamily="2" charset="2"/>
              <a:buNone/>
            </a:pPr>
            <a:r>
              <a:rPr kumimoji="1" lang="en-US" altLang="zh-CN" b="0" spc="-100" dirty="0">
                <a:solidFill>
                  <a:srgbClr val="104E87"/>
                </a:solidFill>
                <a:latin typeface="Comic Sans MS" panose="030F0702030302020204" pitchFamily="66" charset="0"/>
                <a:ea typeface="华光行书_CNKI" panose="02000500000000000000" pitchFamily="2" charset="-122"/>
              </a:rPr>
              <a:t>double d = 6.3</a:t>
            </a:r>
          </a:p>
          <a:p>
            <a:pPr>
              <a:lnSpc>
                <a:spcPct val="90000"/>
              </a:lnSpc>
              <a:buFont typeface="Wingdings" panose="05000000000000000000" pitchFamily="2" charset="2"/>
              <a:buNone/>
            </a:pPr>
            <a:r>
              <a:rPr kumimoji="1" lang="en-US" altLang="zh-CN" b="0" spc="-100" dirty="0">
                <a:solidFill>
                  <a:srgbClr val="104E87"/>
                </a:solidFill>
                <a:latin typeface="Comic Sans MS" panose="030F0702030302020204" pitchFamily="66" charset="0"/>
                <a:ea typeface="华光行书_CNKI" panose="02000500000000000000" pitchFamily="2" charset="-122"/>
              </a:rPr>
              <a:t>float x=5, y=-5.8, z=99.1;</a:t>
            </a:r>
          </a:p>
          <a:p>
            <a:pPr>
              <a:lnSpc>
                <a:spcPct val="90000"/>
              </a:lnSpc>
              <a:buFont typeface="Wingdings" panose="05000000000000000000" pitchFamily="2" charset="2"/>
              <a:buNone/>
            </a:pPr>
            <a:r>
              <a:rPr kumimoji="1" lang="en-US" altLang="zh-CN" b="0" spc="-100" dirty="0">
                <a:solidFill>
                  <a:srgbClr val="104E87"/>
                </a:solidFill>
                <a:latin typeface="Comic Sans MS" panose="030F0702030302020204" pitchFamily="66" charset="0"/>
                <a:ea typeface="华光行书_CNKI" panose="02000500000000000000" pitchFamily="2" charset="-122"/>
              </a:rPr>
              <a:t>int data[6] = {1,3,15,7,9,22};</a:t>
            </a:r>
          </a:p>
          <a:p>
            <a:pPr>
              <a:lnSpc>
                <a:spcPct val="90000"/>
              </a:lnSpc>
              <a:buFont typeface="Wingdings" panose="05000000000000000000" pitchFamily="2" charset="2"/>
              <a:buNone/>
            </a:pPr>
            <a:r>
              <a:rPr kumimoji="1" lang="en-US" altLang="zh-CN" b="0" spc="-100" dirty="0">
                <a:solidFill>
                  <a:srgbClr val="104E87"/>
                </a:solidFill>
                <a:latin typeface="Comic Sans MS" panose="030F0702030302020204" pitchFamily="66" charset="0"/>
                <a:ea typeface="华光行书_CNKI" panose="02000500000000000000" pitchFamily="2" charset="-122"/>
              </a:rPr>
              <a:t>float m = Max(x, y);</a:t>
            </a:r>
          </a:p>
          <a:p>
            <a:pPr>
              <a:lnSpc>
                <a:spcPct val="90000"/>
              </a:lnSpc>
              <a:buFont typeface="Wingdings" panose="05000000000000000000" pitchFamily="2" charset="2"/>
              <a:buNone/>
            </a:pPr>
            <a:r>
              <a:rPr kumimoji="1" lang="en-US" altLang="zh-CN" b="0" spc="-100" dirty="0">
                <a:solidFill>
                  <a:srgbClr val="104E87"/>
                </a:solidFill>
                <a:latin typeface="Comic Sans MS" panose="030F0702030302020204" pitchFamily="66" charset="0"/>
                <a:ea typeface="华光行书_CNKI" panose="02000500000000000000" pitchFamily="2" charset="-122"/>
              </a:rPr>
              <a:t>m = max(</a:t>
            </a:r>
            <a:r>
              <a:rPr kumimoji="1" lang="en-US" altLang="zh-CN" b="0" spc="-100" dirty="0" err="1">
                <a:solidFill>
                  <a:srgbClr val="104E87"/>
                </a:solidFill>
                <a:latin typeface="Comic Sans MS" panose="030F0702030302020204" pitchFamily="66" charset="0"/>
                <a:ea typeface="华光行书_CNKI" panose="02000500000000000000" pitchFamily="2" charset="-122"/>
              </a:rPr>
              <a:t>x,y,z</a:t>
            </a:r>
            <a:r>
              <a:rPr kumimoji="1" lang="en-US" altLang="zh-CN" b="0" spc="-100" dirty="0">
                <a:solidFill>
                  <a:srgbClr val="104E87"/>
                </a:solidFill>
                <a:latin typeface="Comic Sans MS" panose="030F0702030302020204" pitchFamily="66" charset="0"/>
                <a:ea typeface="华光行书_CNKI" panose="02000500000000000000" pitchFamily="2" charset="-122"/>
              </a:rPr>
              <a:t>); </a:t>
            </a:r>
          </a:p>
          <a:p>
            <a:pPr>
              <a:lnSpc>
                <a:spcPct val="90000"/>
              </a:lnSpc>
              <a:buFont typeface="Wingdings" panose="05000000000000000000" pitchFamily="2" charset="2"/>
              <a:buNone/>
            </a:pPr>
            <a:r>
              <a:rPr kumimoji="1" lang="en-US" altLang="zh-CN" b="0" spc="-100" dirty="0">
                <a:solidFill>
                  <a:srgbClr val="104E87"/>
                </a:solidFill>
                <a:latin typeface="Comic Sans MS" panose="030F0702030302020204" pitchFamily="66" charset="0"/>
                <a:ea typeface="华光行书_CNKI" panose="02000500000000000000" pitchFamily="2" charset="-122"/>
              </a:rPr>
              <a:t>int t = Max(data, 10);</a:t>
            </a:r>
          </a:p>
          <a:p>
            <a:pPr>
              <a:lnSpc>
                <a:spcPct val="90000"/>
              </a:lnSpc>
              <a:buFont typeface="Wingdings" panose="05000000000000000000" pitchFamily="2" charset="2"/>
              <a:buNone/>
            </a:pPr>
            <a:r>
              <a:rPr kumimoji="1" lang="en-US" altLang="zh-CN" b="0" spc="-100" dirty="0">
                <a:solidFill>
                  <a:srgbClr val="104E87"/>
                </a:solidFill>
                <a:latin typeface="Comic Sans MS" panose="030F0702030302020204" pitchFamily="66" charset="0"/>
                <a:ea typeface="华光行书_CNKI" panose="02000500000000000000" pitchFamily="2" charset="-122"/>
              </a:rPr>
              <a:t> Max( t, x )</a:t>
            </a:r>
          </a:p>
          <a:p>
            <a:pPr>
              <a:lnSpc>
                <a:spcPct val="90000"/>
              </a:lnSpc>
            </a:pPr>
            <a:r>
              <a:rPr kumimoji="1" lang="en-US" altLang="zh-CN" b="0" spc="-100" dirty="0">
                <a:solidFill>
                  <a:srgbClr val="104E87"/>
                </a:solidFill>
                <a:latin typeface="Comic Sans MS" panose="030F0702030302020204" pitchFamily="66" charset="0"/>
                <a:ea typeface="华光行书_CNKI" panose="02000500000000000000" pitchFamily="2" charset="-122"/>
              </a:rPr>
              <a:t>Max(Max(data, 10), d);</a:t>
            </a:r>
          </a:p>
        </p:txBody>
      </p:sp>
    </p:spTree>
    <p:extLst>
      <p:ext uri="{BB962C8B-B14F-4D97-AF65-F5344CB8AC3E}">
        <p14:creationId xmlns:p14="http://schemas.microsoft.com/office/powerpoint/2010/main" val="4293509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vertic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vertical)">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linds(vertical)">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barn(inVertical)">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barn(inVertical)">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barn(inVertical)">
                                      <p:cBhvr>
                                        <p:cTn id="3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7" grpId="0"/>
      <p:bldP spid="28" grpId="0"/>
      <p:bldP spid="2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3" name="直线连接符 6">
            <a:extLst>
              <a:ext uri="{FF2B5EF4-FFF2-40B4-BE49-F238E27FC236}">
                <a16:creationId xmlns:a16="http://schemas.microsoft.com/office/drawing/2014/main" id="{B0EE72FA-E898-4A34-8A29-6C892B3B6CFB}"/>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40" name="文本框 39">
            <a:extLst>
              <a:ext uri="{FF2B5EF4-FFF2-40B4-BE49-F238E27FC236}">
                <a16:creationId xmlns:a16="http://schemas.microsoft.com/office/drawing/2014/main" id="{C407BA89-4D77-4106-8CD6-1BB415A7D45A}"/>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11.3 </a:t>
            </a:r>
            <a:r>
              <a:rPr lang="zh-CN" altLang="en-US" dirty="0">
                <a:sym typeface="+mn-lt"/>
              </a:rPr>
              <a:t>案例</a:t>
            </a:r>
            <a:r>
              <a:rPr lang="en-US" altLang="zh-CN" dirty="0">
                <a:sym typeface="+mn-lt"/>
              </a:rPr>
              <a:t>——</a:t>
            </a:r>
            <a:r>
              <a:rPr lang="zh-CN" altLang="en-US" dirty="0">
                <a:sym typeface="+mn-lt"/>
              </a:rPr>
              <a:t>数组排序与查找</a:t>
            </a:r>
          </a:p>
        </p:txBody>
      </p:sp>
      <p:sp>
        <p:nvSpPr>
          <p:cNvPr id="12" name="矩形 7">
            <a:extLst>
              <a:ext uri="{FF2B5EF4-FFF2-40B4-BE49-F238E27FC236}">
                <a16:creationId xmlns:a16="http://schemas.microsoft.com/office/drawing/2014/main" id="{0BC6A167-3020-42BE-BE19-EDCD51665ACF}"/>
              </a:ext>
            </a:extLst>
          </p:cNvPr>
          <p:cNvSpPr>
            <a:spLocks noChangeArrowheads="1"/>
          </p:cNvSpPr>
          <p:nvPr/>
        </p:nvSpPr>
        <p:spPr bwMode="auto">
          <a:xfrm>
            <a:off x="156674" y="1019591"/>
            <a:ext cx="1941757" cy="2649729"/>
          </a:xfrm>
          <a:prstGeom prst="rect">
            <a:avLst/>
          </a:prstGeom>
          <a:solidFill>
            <a:schemeClr val="accent4">
              <a:lumMod val="20000"/>
              <a:lumOff val="80000"/>
            </a:schemeClr>
          </a:solidFill>
        </p:spPr>
        <p:txBody>
          <a:bodyPr/>
          <a:lstStyle/>
          <a:p>
            <a:pPr marL="87313" indent="-87313">
              <a:buClr>
                <a:schemeClr val="hlink"/>
              </a:buClr>
              <a:buSzPct val="90000"/>
              <a:buFont typeface="Wingdings" panose="05000000000000000000" pitchFamily="2" charset="2"/>
              <a:buBlip>
                <a:blip r:embed="rId3"/>
              </a:buBlip>
            </a:pPr>
            <a:r>
              <a:rPr lang="zh-CN" altLang="en-US" sz="2800" dirty="0">
                <a:solidFill>
                  <a:srgbClr val="FF0000"/>
                </a:solidFill>
                <a:latin typeface="华光行书_CNKI" panose="02000500000000000000" pitchFamily="2" charset="-122"/>
                <a:ea typeface="华光行书_CNKI" panose="02000500000000000000" pitchFamily="2" charset="-122"/>
              </a:rPr>
              <a:t>插入排序</a:t>
            </a:r>
          </a:p>
          <a:p>
            <a:pPr marL="87313" indent="-87313">
              <a:buClr>
                <a:schemeClr val="hlink"/>
              </a:buClr>
              <a:buSzPct val="90000"/>
              <a:buFont typeface="Wingdings" panose="05000000000000000000" pitchFamily="2" charset="2"/>
              <a:buBlip>
                <a:blip r:embed="rId3"/>
              </a:buBlip>
            </a:pPr>
            <a:r>
              <a:rPr lang="zh-CN" altLang="en-US" sz="2800" dirty="0">
                <a:solidFill>
                  <a:srgbClr val="134F85"/>
                </a:solidFill>
                <a:latin typeface="华光行书_CNKI" panose="02000500000000000000" pitchFamily="2" charset="-122"/>
                <a:ea typeface="华光行书_CNKI" panose="02000500000000000000" pitchFamily="2" charset="-122"/>
              </a:rPr>
              <a:t>选择排序</a:t>
            </a:r>
          </a:p>
          <a:p>
            <a:pPr marL="87313" indent="-87313">
              <a:buClr>
                <a:schemeClr val="hlink"/>
              </a:buClr>
              <a:buSzPct val="90000"/>
              <a:buFont typeface="Wingdings" panose="05000000000000000000" pitchFamily="2" charset="2"/>
              <a:buBlip>
                <a:blip r:embed="rId3"/>
              </a:buBlip>
            </a:pPr>
            <a:r>
              <a:rPr lang="zh-CN" altLang="en-US" sz="2800" dirty="0">
                <a:solidFill>
                  <a:srgbClr val="104E87"/>
                </a:solidFill>
                <a:latin typeface="华光行书_CNKI" panose="02000500000000000000" pitchFamily="2" charset="-122"/>
                <a:ea typeface="华光行书_CNKI" panose="02000500000000000000" pitchFamily="2" charset="-122"/>
              </a:rPr>
              <a:t>交换排序</a:t>
            </a:r>
            <a:endParaRPr lang="en-US" altLang="zh-CN" sz="2800" dirty="0">
              <a:solidFill>
                <a:srgbClr val="104E87"/>
              </a:solidFill>
              <a:latin typeface="华光行书_CNKI" panose="02000500000000000000" pitchFamily="2" charset="-122"/>
              <a:ea typeface="华光行书_CNKI" panose="02000500000000000000" pitchFamily="2" charset="-122"/>
            </a:endParaRPr>
          </a:p>
          <a:p>
            <a:pPr marL="87313" indent="-87313">
              <a:buClr>
                <a:schemeClr val="hlink"/>
              </a:buClr>
              <a:buSzPct val="90000"/>
              <a:buFont typeface="Wingdings" panose="05000000000000000000" pitchFamily="2" charset="2"/>
              <a:buBlip>
                <a:blip r:embed="rId3"/>
              </a:buBlip>
            </a:pPr>
            <a:r>
              <a:rPr lang="zh-CN" altLang="en-US" sz="2800" dirty="0">
                <a:solidFill>
                  <a:srgbClr val="104E87"/>
                </a:solidFill>
                <a:latin typeface="华光行书_CNKI" panose="02000500000000000000" pitchFamily="2" charset="-122"/>
                <a:ea typeface="华光行书_CNKI" panose="02000500000000000000" pitchFamily="2" charset="-122"/>
              </a:rPr>
              <a:t>归并排序</a:t>
            </a:r>
          </a:p>
          <a:p>
            <a:pPr marL="87313" indent="-87313">
              <a:buClr>
                <a:schemeClr val="hlink"/>
              </a:buClr>
              <a:buSzPct val="90000"/>
              <a:buFont typeface="Wingdings" panose="05000000000000000000" pitchFamily="2" charset="2"/>
              <a:buBlip>
                <a:blip r:embed="rId3"/>
              </a:buBlip>
            </a:pPr>
            <a:r>
              <a:rPr lang="zh-CN" altLang="en-US" sz="2800" dirty="0">
                <a:solidFill>
                  <a:srgbClr val="FF0000"/>
                </a:solidFill>
                <a:latin typeface="华光行书_CNKI" panose="02000500000000000000" pitchFamily="2" charset="-122"/>
                <a:ea typeface="华光行书_CNKI" panose="02000500000000000000" pitchFamily="2" charset="-122"/>
              </a:rPr>
              <a:t>顺序查找</a:t>
            </a:r>
          </a:p>
          <a:p>
            <a:pPr marL="87313" indent="-87313">
              <a:buClr>
                <a:schemeClr val="hlink"/>
              </a:buClr>
              <a:buSzPct val="90000"/>
              <a:buFont typeface="Wingdings" panose="05000000000000000000" pitchFamily="2" charset="2"/>
              <a:buBlip>
                <a:blip r:embed="rId3"/>
              </a:buBlip>
            </a:pPr>
            <a:r>
              <a:rPr lang="zh-CN" altLang="en-US" sz="2800" dirty="0">
                <a:solidFill>
                  <a:srgbClr val="FF0000"/>
                </a:solidFill>
                <a:latin typeface="华光行书_CNKI" panose="02000500000000000000" pitchFamily="2" charset="-122"/>
                <a:ea typeface="华光行书_CNKI" panose="02000500000000000000" pitchFamily="2" charset="-122"/>
              </a:rPr>
              <a:t>折半查找</a:t>
            </a:r>
          </a:p>
        </p:txBody>
      </p:sp>
      <p:sp>
        <p:nvSpPr>
          <p:cNvPr id="13" name="标题 1">
            <a:extLst>
              <a:ext uri="{FF2B5EF4-FFF2-40B4-BE49-F238E27FC236}">
                <a16:creationId xmlns:a16="http://schemas.microsoft.com/office/drawing/2014/main" id="{1BB9FEC6-2D9A-43E3-83DE-518C5DEF6B35}"/>
              </a:ext>
            </a:extLst>
          </p:cNvPr>
          <p:cNvSpPr txBox="1">
            <a:spLocks noChangeArrowheads="1"/>
          </p:cNvSpPr>
          <p:nvPr/>
        </p:nvSpPr>
        <p:spPr>
          <a:xfrm>
            <a:off x="2995735" y="922015"/>
            <a:ext cx="8229600" cy="464105"/>
          </a:xfrm>
          <a:prstGeom prst="rect">
            <a:avLst/>
          </a:prstGeom>
        </p:spPr>
        <p:txBody>
          <a:bodyPr/>
          <a:lstStyle>
            <a:lvl1pPr algn="ctr" defTabSz="609600" rtl="0" eaLnBrk="1" latinLnBrk="0" hangingPunct="1">
              <a:spcBef>
                <a:spcPct val="0"/>
              </a:spcBef>
              <a:buNone/>
              <a:defRPr sz="5865" kern="1200">
                <a:solidFill>
                  <a:schemeClr val="tx1"/>
                </a:solidFill>
                <a:latin typeface="+mj-lt"/>
                <a:ea typeface="+mj-ea"/>
                <a:cs typeface="+mj-cs"/>
              </a:defRPr>
            </a:lvl1pPr>
          </a:lstStyle>
          <a:p>
            <a:r>
              <a:rPr lang="zh-CN" altLang="en-US" sz="2800" dirty="0">
                <a:solidFill>
                  <a:srgbClr val="104E87"/>
                </a:solidFill>
                <a:latin typeface="Comic Sans MS" panose="030F0702030302020204" pitchFamily="66" charset="0"/>
                <a:ea typeface="华光行书_CNKI" panose="02000500000000000000" pitchFamily="2" charset="-122"/>
              </a:rPr>
              <a:t>排序（</a:t>
            </a:r>
            <a:r>
              <a:rPr lang="en-US" altLang="zh-CN" sz="2800" dirty="0">
                <a:solidFill>
                  <a:srgbClr val="104E87"/>
                </a:solidFill>
                <a:latin typeface="Comic Sans MS" panose="030F0702030302020204" pitchFamily="66" charset="0"/>
                <a:ea typeface="华光行书_CNKI" panose="02000500000000000000" pitchFamily="2" charset="-122"/>
              </a:rPr>
              <a:t>sorting</a:t>
            </a:r>
            <a:r>
              <a:rPr lang="zh-CN" altLang="en-US" sz="2800" dirty="0">
                <a:solidFill>
                  <a:srgbClr val="104E87"/>
                </a:solidFill>
                <a:latin typeface="Comic Sans MS" panose="030F0702030302020204" pitchFamily="66" charset="0"/>
                <a:ea typeface="华光行书_CNKI" panose="02000500000000000000" pitchFamily="2" charset="-122"/>
              </a:rPr>
              <a:t>）</a:t>
            </a:r>
          </a:p>
        </p:txBody>
      </p:sp>
      <p:sp>
        <p:nvSpPr>
          <p:cNvPr id="14" name="矩形 4">
            <a:extLst>
              <a:ext uri="{FF2B5EF4-FFF2-40B4-BE49-F238E27FC236}">
                <a16:creationId xmlns:a16="http://schemas.microsoft.com/office/drawing/2014/main" id="{35A4A82B-471E-4AA2-AD56-BE7E93614F47}"/>
              </a:ext>
            </a:extLst>
          </p:cNvPr>
          <p:cNvSpPr>
            <a:spLocks noChangeArrowheads="1"/>
          </p:cNvSpPr>
          <p:nvPr/>
        </p:nvSpPr>
        <p:spPr bwMode="auto">
          <a:xfrm>
            <a:off x="2584572" y="1386121"/>
            <a:ext cx="86407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Aft>
                <a:spcPts val="1200"/>
              </a:spcAft>
            </a:pPr>
            <a:r>
              <a:rPr lang="zh-CN" altLang="en-US" b="0" dirty="0">
                <a:solidFill>
                  <a:srgbClr val="FF0000"/>
                </a:solidFill>
                <a:latin typeface="华光行书_CNKI" panose="02000500000000000000" pitchFamily="2" charset="-122"/>
                <a:ea typeface="华光行书_CNKI" panose="02000500000000000000" pitchFamily="2" charset="-122"/>
              </a:rPr>
              <a:t>排序</a:t>
            </a:r>
            <a:r>
              <a:rPr lang="zh-CN" altLang="en-US" b="0" dirty="0">
                <a:solidFill>
                  <a:srgbClr val="104E87"/>
                </a:solidFill>
                <a:latin typeface="华光行书_CNKI" panose="02000500000000000000" pitchFamily="2" charset="-122"/>
                <a:ea typeface="华光行书_CNKI" panose="02000500000000000000" pitchFamily="2" charset="-122"/>
              </a:rPr>
              <a:t>是计算机程序设计中的一种重要操作，它的功能是将一个</a:t>
            </a:r>
            <a:r>
              <a:rPr lang="zh-CN" altLang="en-US" b="0" dirty="0">
                <a:solidFill>
                  <a:srgbClr val="FF0000"/>
                </a:solidFill>
                <a:latin typeface="华光行书_CNKI" panose="02000500000000000000" pitchFamily="2" charset="-122"/>
                <a:ea typeface="华光行书_CNKI" panose="02000500000000000000" pitchFamily="2" charset="-122"/>
              </a:rPr>
              <a:t>数据元素</a:t>
            </a:r>
            <a:r>
              <a:rPr lang="zh-CN" altLang="en-US" b="0" dirty="0">
                <a:solidFill>
                  <a:srgbClr val="104E87"/>
                </a:solidFill>
                <a:latin typeface="华光行书_CNKI" panose="02000500000000000000" pitchFamily="2" charset="-122"/>
                <a:ea typeface="华光行书_CNKI" panose="02000500000000000000" pitchFamily="2" charset="-122"/>
              </a:rPr>
              <a:t>的任意序列，重新排列成一个按</a:t>
            </a:r>
            <a:r>
              <a:rPr lang="zh-CN" altLang="en-US" b="0" dirty="0">
                <a:solidFill>
                  <a:srgbClr val="FF0000"/>
                </a:solidFill>
                <a:latin typeface="华光行书_CNKI" panose="02000500000000000000" pitchFamily="2" charset="-122"/>
                <a:ea typeface="华光行书_CNKI" panose="02000500000000000000" pitchFamily="2" charset="-122"/>
              </a:rPr>
              <a:t>关键字</a:t>
            </a:r>
            <a:r>
              <a:rPr lang="zh-CN" altLang="en-US" b="0" dirty="0">
                <a:solidFill>
                  <a:srgbClr val="104E87"/>
                </a:solidFill>
                <a:latin typeface="华光行书_CNKI" panose="02000500000000000000" pitchFamily="2" charset="-122"/>
                <a:ea typeface="华光行书_CNKI" panose="02000500000000000000" pitchFamily="2" charset="-122"/>
              </a:rPr>
              <a:t>有序的序列。</a:t>
            </a:r>
          </a:p>
        </p:txBody>
      </p:sp>
      <p:sp>
        <p:nvSpPr>
          <p:cNvPr id="15" name="矩形 5">
            <a:extLst>
              <a:ext uri="{FF2B5EF4-FFF2-40B4-BE49-F238E27FC236}">
                <a16:creationId xmlns:a16="http://schemas.microsoft.com/office/drawing/2014/main" id="{07102684-B1A0-4EBA-859F-B54EE16F4A59}"/>
              </a:ext>
            </a:extLst>
          </p:cNvPr>
          <p:cNvSpPr>
            <a:spLocks noChangeArrowheads="1"/>
          </p:cNvSpPr>
          <p:nvPr/>
        </p:nvSpPr>
        <p:spPr bwMode="auto">
          <a:xfrm>
            <a:off x="2719571" y="2346316"/>
            <a:ext cx="7921625"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lvl="1" eaLnBrk="1" hangingPunct="1">
              <a:spcAft>
                <a:spcPts val="1200"/>
              </a:spcAft>
            </a:pPr>
            <a:r>
              <a:rPr lang="zh-CN" altLang="en-US" b="0" dirty="0">
                <a:solidFill>
                  <a:srgbClr val="FF0000"/>
                </a:solidFill>
                <a:latin typeface="华光行书_CNKI" panose="02000500000000000000" pitchFamily="2" charset="-122"/>
                <a:ea typeface="华光行书_CNKI" panose="02000500000000000000" pitchFamily="2" charset="-122"/>
              </a:rPr>
              <a:t>数据元素</a:t>
            </a:r>
            <a:r>
              <a:rPr lang="zh-CN" altLang="en-US" b="0" dirty="0">
                <a:solidFill>
                  <a:srgbClr val="104E87"/>
                </a:solidFill>
                <a:latin typeface="华光行书_CNKI" panose="02000500000000000000" pitchFamily="2" charset="-122"/>
                <a:ea typeface="华光行书_CNKI" panose="02000500000000000000" pitchFamily="2" charset="-122"/>
              </a:rPr>
              <a:t>：数据的基本单位。在计算机中通常作为一个整体进行考虑。一个数据元素可由若干数据项组成。</a:t>
            </a:r>
          </a:p>
          <a:p>
            <a:pPr marL="0" lvl="1" eaLnBrk="1" hangingPunct="1">
              <a:spcAft>
                <a:spcPts val="1200"/>
              </a:spcAft>
            </a:pPr>
            <a:r>
              <a:rPr lang="zh-CN" altLang="en-US" b="0" dirty="0">
                <a:solidFill>
                  <a:srgbClr val="FF0000"/>
                </a:solidFill>
                <a:latin typeface="华光行书_CNKI" panose="02000500000000000000" pitchFamily="2" charset="-122"/>
                <a:ea typeface="华光行书_CNKI" panose="02000500000000000000" pitchFamily="2" charset="-122"/>
              </a:rPr>
              <a:t>关键字</a:t>
            </a:r>
            <a:r>
              <a:rPr lang="zh-CN" altLang="en-US" b="0" dirty="0">
                <a:solidFill>
                  <a:srgbClr val="104E87"/>
                </a:solidFill>
                <a:latin typeface="华光行书_CNKI" panose="02000500000000000000" pitchFamily="2" charset="-122"/>
                <a:ea typeface="华光行书_CNKI" panose="02000500000000000000" pitchFamily="2" charset="-122"/>
              </a:rPr>
              <a:t>：数据元素中某个数据项的值，用它可以标识（识别）一个数据元素。</a:t>
            </a:r>
          </a:p>
        </p:txBody>
      </p:sp>
      <p:sp>
        <p:nvSpPr>
          <p:cNvPr id="16" name="矩形 6">
            <a:extLst>
              <a:ext uri="{FF2B5EF4-FFF2-40B4-BE49-F238E27FC236}">
                <a16:creationId xmlns:a16="http://schemas.microsoft.com/office/drawing/2014/main" id="{615EA14C-F6A2-4F75-B439-DE20AC76713D}"/>
              </a:ext>
            </a:extLst>
          </p:cNvPr>
          <p:cNvSpPr>
            <a:spLocks noChangeArrowheads="1"/>
          </p:cNvSpPr>
          <p:nvPr/>
        </p:nvSpPr>
        <p:spPr bwMode="auto">
          <a:xfrm>
            <a:off x="2719571" y="4217248"/>
            <a:ext cx="59070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r>
              <a:rPr lang="zh-CN" altLang="en-US" dirty="0">
                <a:solidFill>
                  <a:srgbClr val="104E87"/>
                </a:solidFill>
                <a:latin typeface="华光行书_CNKI" panose="02000500000000000000" pitchFamily="2" charset="-122"/>
                <a:ea typeface="华光行书_CNKI" panose="02000500000000000000" pitchFamily="2" charset="-122"/>
              </a:rPr>
              <a:t>在排序过程中需要完成两种基本操作：</a:t>
            </a:r>
          </a:p>
        </p:txBody>
      </p:sp>
      <p:sp>
        <p:nvSpPr>
          <p:cNvPr id="17" name="矩形 7">
            <a:extLst>
              <a:ext uri="{FF2B5EF4-FFF2-40B4-BE49-F238E27FC236}">
                <a16:creationId xmlns:a16="http://schemas.microsoft.com/office/drawing/2014/main" id="{F252F80E-F353-4D18-9882-9E36C4E90D80}"/>
              </a:ext>
            </a:extLst>
          </p:cNvPr>
          <p:cNvSpPr>
            <a:spLocks noChangeArrowheads="1"/>
          </p:cNvSpPr>
          <p:nvPr/>
        </p:nvSpPr>
        <p:spPr bwMode="auto">
          <a:xfrm>
            <a:off x="2780384" y="4702438"/>
            <a:ext cx="4572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342900" lvl="1" indent="-342900" eaLnBrk="1" hangingPunct="1">
              <a:buFont typeface="Wingdings" panose="05000000000000000000" pitchFamily="2" charset="2"/>
              <a:buChar char="l"/>
            </a:pPr>
            <a:r>
              <a:rPr lang="zh-CN" altLang="en-US" sz="2200" b="0" dirty="0">
                <a:solidFill>
                  <a:srgbClr val="104E87"/>
                </a:solidFill>
                <a:latin typeface="华光行书_CNKI" panose="02000500000000000000" pitchFamily="2" charset="-122"/>
                <a:ea typeface="华光行书_CNKI" panose="02000500000000000000" pitchFamily="2" charset="-122"/>
              </a:rPr>
              <a:t>比较两个数的大小</a:t>
            </a:r>
          </a:p>
          <a:p>
            <a:pPr marL="342900" lvl="1" indent="-342900" eaLnBrk="1" hangingPunct="1">
              <a:buFont typeface="Wingdings" panose="05000000000000000000" pitchFamily="2" charset="2"/>
              <a:buChar char="l"/>
            </a:pPr>
            <a:r>
              <a:rPr lang="zh-CN" altLang="en-US" sz="2200" b="0" dirty="0">
                <a:solidFill>
                  <a:srgbClr val="104E87"/>
                </a:solidFill>
                <a:latin typeface="华光行书_CNKI" panose="02000500000000000000" pitchFamily="2" charset="-122"/>
                <a:ea typeface="华光行书_CNKI" panose="02000500000000000000" pitchFamily="2" charset="-122"/>
              </a:rPr>
              <a:t>调整元素在序列中的位置</a:t>
            </a:r>
          </a:p>
        </p:txBody>
      </p:sp>
      <p:sp>
        <p:nvSpPr>
          <p:cNvPr id="19" name="矩形 6">
            <a:extLst>
              <a:ext uri="{FF2B5EF4-FFF2-40B4-BE49-F238E27FC236}">
                <a16:creationId xmlns:a16="http://schemas.microsoft.com/office/drawing/2014/main" id="{F5499661-51E8-4C41-89E4-3221AC358B65}"/>
              </a:ext>
            </a:extLst>
          </p:cNvPr>
          <p:cNvSpPr>
            <a:spLocks noChangeArrowheads="1"/>
          </p:cNvSpPr>
          <p:nvPr/>
        </p:nvSpPr>
        <p:spPr bwMode="auto">
          <a:xfrm>
            <a:off x="2719572" y="5626184"/>
            <a:ext cx="905039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Aft>
                <a:spcPts val="1200"/>
              </a:spcAft>
            </a:pPr>
            <a:r>
              <a:rPr lang="zh-CN" altLang="en-US" sz="2400" b="0" kern="0" dirty="0">
                <a:solidFill>
                  <a:srgbClr val="FF0000"/>
                </a:solidFill>
                <a:latin typeface="华光行书_CNKI" panose="02000500000000000000" pitchFamily="2" charset="-122"/>
                <a:ea typeface="华光行书_CNKI" panose="02000500000000000000" pitchFamily="2" charset="-122"/>
              </a:rPr>
              <a:t>插入排序基本思想：</a:t>
            </a:r>
            <a:r>
              <a:rPr lang="zh-CN" altLang="en-US" b="0" dirty="0">
                <a:solidFill>
                  <a:srgbClr val="104E87"/>
                </a:solidFill>
                <a:latin typeface="华光行书_CNKI" panose="02000500000000000000" pitchFamily="2" charset="-122"/>
                <a:ea typeface="华光行书_CNKI" panose="02000500000000000000" pitchFamily="2" charset="-122"/>
              </a:rPr>
              <a:t>每一步将一个待排序元素按其关键字值的大小插入到已排序序列的适当位置上，直到待排序元素插入完为止。</a:t>
            </a:r>
          </a:p>
        </p:txBody>
      </p:sp>
    </p:spTree>
    <p:extLst>
      <p:ext uri="{BB962C8B-B14F-4D97-AF65-F5344CB8AC3E}">
        <p14:creationId xmlns:p14="http://schemas.microsoft.com/office/powerpoint/2010/main" val="3308082567"/>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down)">
                                      <p:cBhvr>
                                        <p:cTn id="2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3" name="直线连接符 6">
            <a:extLst>
              <a:ext uri="{FF2B5EF4-FFF2-40B4-BE49-F238E27FC236}">
                <a16:creationId xmlns:a16="http://schemas.microsoft.com/office/drawing/2014/main" id="{B0EE72FA-E898-4A34-8A29-6C892B3B6CFB}"/>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8" name="文本框 7">
            <a:extLst>
              <a:ext uri="{FF2B5EF4-FFF2-40B4-BE49-F238E27FC236}">
                <a16:creationId xmlns:a16="http://schemas.microsoft.com/office/drawing/2014/main" id="{996DA1AC-A59B-4402-BED6-26B7F71670AF}"/>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11.3 </a:t>
            </a:r>
            <a:r>
              <a:rPr lang="zh-CN" altLang="en-US" dirty="0">
                <a:sym typeface="+mn-lt"/>
              </a:rPr>
              <a:t>案例</a:t>
            </a:r>
            <a:r>
              <a:rPr lang="en-US" altLang="zh-CN" dirty="0">
                <a:sym typeface="+mn-lt"/>
              </a:rPr>
              <a:t>——</a:t>
            </a:r>
            <a:r>
              <a:rPr lang="zh-CN" altLang="en-US" dirty="0">
                <a:sym typeface="+mn-lt"/>
              </a:rPr>
              <a:t>数组排序与查找</a:t>
            </a:r>
          </a:p>
        </p:txBody>
      </p:sp>
      <p:sp>
        <p:nvSpPr>
          <p:cNvPr id="10" name="Rectangle 4">
            <a:extLst>
              <a:ext uri="{FF2B5EF4-FFF2-40B4-BE49-F238E27FC236}">
                <a16:creationId xmlns:a16="http://schemas.microsoft.com/office/drawing/2014/main" id="{91FBEBA1-9C8F-4694-8A36-DF4BFA215F7A}"/>
              </a:ext>
            </a:extLst>
          </p:cNvPr>
          <p:cNvSpPr>
            <a:spLocks noChangeArrowheads="1"/>
          </p:cNvSpPr>
          <p:nvPr/>
        </p:nvSpPr>
        <p:spPr bwMode="auto">
          <a:xfrm>
            <a:off x="1583039" y="868282"/>
            <a:ext cx="3832781" cy="462307"/>
          </a:xfrm>
          <a:prstGeom prst="rect">
            <a:avLst/>
          </a:prstGeom>
          <a:noFill/>
          <a:ln>
            <a:noFill/>
          </a:ln>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defRPr/>
            </a:pPr>
            <a:r>
              <a:rPr lang="en-US" altLang="zh-CN" dirty="0">
                <a:solidFill>
                  <a:srgbClr val="104E87"/>
                </a:solidFill>
                <a:latin typeface="Comic Sans MS" panose="030F0702030302020204" pitchFamily="66" charset="0"/>
                <a:ea typeface="华光行书_CNKI" panose="02000500000000000000" pitchFamily="2" charset="-122"/>
              </a:rPr>
              <a:t>[5]    4    10    20    12    3</a:t>
            </a:r>
          </a:p>
        </p:txBody>
      </p:sp>
      <p:sp>
        <p:nvSpPr>
          <p:cNvPr id="13" name="Rectangle 7">
            <a:extLst>
              <a:ext uri="{FF2B5EF4-FFF2-40B4-BE49-F238E27FC236}">
                <a16:creationId xmlns:a16="http://schemas.microsoft.com/office/drawing/2014/main" id="{5ECA7DAE-E67B-4E26-BB61-324B3091F7C0}"/>
              </a:ext>
            </a:extLst>
          </p:cNvPr>
          <p:cNvSpPr>
            <a:spLocks noChangeArrowheads="1"/>
          </p:cNvSpPr>
          <p:nvPr/>
        </p:nvSpPr>
        <p:spPr bwMode="auto">
          <a:xfrm>
            <a:off x="385428" y="1591111"/>
            <a:ext cx="4937125" cy="461962"/>
          </a:xfrm>
          <a:prstGeom prst="rect">
            <a:avLst/>
          </a:prstGeom>
          <a:noFill/>
          <a:ln>
            <a:noFill/>
          </a:ln>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defRPr/>
            </a:pPr>
            <a:r>
              <a:rPr lang="en-US" altLang="zh-CN" dirty="0">
                <a:solidFill>
                  <a:srgbClr val="104E87"/>
                </a:solidFill>
                <a:latin typeface="Comic Sans MS" panose="030F0702030302020204" pitchFamily="66" charset="0"/>
                <a:ea typeface="华光行书_CNKI" panose="02000500000000000000" pitchFamily="2" charset="-122"/>
              </a:rPr>
              <a:t>1  </a:t>
            </a:r>
            <a:r>
              <a:rPr lang="en-US" altLang="zh-CN" dirty="0">
                <a:solidFill>
                  <a:srgbClr val="FF0000"/>
                </a:solidFill>
                <a:latin typeface="Comic Sans MS" panose="030F0702030302020204" pitchFamily="66" charset="0"/>
                <a:ea typeface="华光行书_CNKI" panose="02000500000000000000" pitchFamily="2" charset="-122"/>
              </a:rPr>
              <a:t>[4]</a:t>
            </a:r>
            <a:r>
              <a:rPr lang="en-US" altLang="zh-CN" dirty="0">
                <a:solidFill>
                  <a:srgbClr val="104E87"/>
                </a:solidFill>
                <a:latin typeface="Comic Sans MS" panose="030F0702030302020204" pitchFamily="66" charset="0"/>
                <a:ea typeface="华光行书_CNKI" panose="02000500000000000000" pitchFamily="2" charset="-122"/>
              </a:rPr>
              <a:t>    [4     5]   10    20    12    3</a:t>
            </a:r>
          </a:p>
        </p:txBody>
      </p:sp>
      <p:grpSp>
        <p:nvGrpSpPr>
          <p:cNvPr id="14" name="Group 8">
            <a:extLst>
              <a:ext uri="{FF2B5EF4-FFF2-40B4-BE49-F238E27FC236}">
                <a16:creationId xmlns:a16="http://schemas.microsoft.com/office/drawing/2014/main" id="{4BEEC774-58D1-49CF-A1CF-5DD9102CF280}"/>
              </a:ext>
            </a:extLst>
          </p:cNvPr>
          <p:cNvGrpSpPr>
            <a:grpSpLocks/>
          </p:cNvGrpSpPr>
          <p:nvPr/>
        </p:nvGrpSpPr>
        <p:grpSpPr bwMode="auto">
          <a:xfrm>
            <a:off x="1792930" y="1197082"/>
            <a:ext cx="741660" cy="457200"/>
            <a:chOff x="2592" y="1872"/>
            <a:chExt cx="576" cy="288"/>
          </a:xfrm>
        </p:grpSpPr>
        <p:sp>
          <p:nvSpPr>
            <p:cNvPr id="15" name="Line 9">
              <a:extLst>
                <a:ext uri="{FF2B5EF4-FFF2-40B4-BE49-F238E27FC236}">
                  <a16:creationId xmlns:a16="http://schemas.microsoft.com/office/drawing/2014/main" id="{891A70B9-8660-4BD9-96DF-A64628AE172D}"/>
                </a:ext>
              </a:extLst>
            </p:cNvPr>
            <p:cNvSpPr>
              <a:spLocks noChangeShapeType="1"/>
            </p:cNvSpPr>
            <p:nvPr/>
          </p:nvSpPr>
          <p:spPr bwMode="auto">
            <a:xfrm>
              <a:off x="3168" y="1872"/>
              <a:ext cx="0" cy="144"/>
            </a:xfrm>
            <a:prstGeom prst="line">
              <a:avLst/>
            </a:prstGeom>
            <a:noFill/>
            <a:ln w="12700">
              <a:solidFill>
                <a:srgbClr val="00B050"/>
              </a:solidFill>
              <a:round/>
              <a:headEnd type="none" w="sm" len="sm"/>
              <a:tailEnd type="none" w="sm" len="sm"/>
            </a:ln>
          </p:spPr>
          <p:txBody>
            <a:bodyPr wrap="none" anchor="ctr"/>
            <a:lstStyle/>
            <a:p>
              <a:pPr>
                <a:defRPr/>
              </a:pPr>
              <a:endParaRPr lang="zh-CN" altLang="en-US">
                <a:latin typeface="Comic Sans MS" panose="030F0702030302020204" pitchFamily="66" charset="0"/>
                <a:ea typeface="华光行书_CNKI" panose="02000500000000000000" pitchFamily="2" charset="-122"/>
              </a:endParaRPr>
            </a:p>
          </p:txBody>
        </p:sp>
        <p:sp>
          <p:nvSpPr>
            <p:cNvPr id="16" name="Line 10">
              <a:extLst>
                <a:ext uri="{FF2B5EF4-FFF2-40B4-BE49-F238E27FC236}">
                  <a16:creationId xmlns:a16="http://schemas.microsoft.com/office/drawing/2014/main" id="{E1B7BF14-9D23-4D6D-8066-6E6D7F65466E}"/>
                </a:ext>
              </a:extLst>
            </p:cNvPr>
            <p:cNvSpPr>
              <a:spLocks noChangeShapeType="1"/>
            </p:cNvSpPr>
            <p:nvPr/>
          </p:nvSpPr>
          <p:spPr bwMode="auto">
            <a:xfrm flipH="1">
              <a:off x="2592" y="2016"/>
              <a:ext cx="576" cy="0"/>
            </a:xfrm>
            <a:prstGeom prst="line">
              <a:avLst/>
            </a:prstGeom>
            <a:noFill/>
            <a:ln w="12700">
              <a:solidFill>
                <a:srgbClr val="00B050"/>
              </a:solidFill>
              <a:round/>
              <a:headEnd type="none" w="sm" len="sm"/>
              <a:tailEnd type="none" w="sm" len="sm"/>
            </a:ln>
          </p:spPr>
          <p:txBody>
            <a:bodyPr wrap="none" anchor="ctr"/>
            <a:lstStyle/>
            <a:p>
              <a:pPr>
                <a:defRPr/>
              </a:pPr>
              <a:endParaRPr lang="zh-CN" altLang="en-US">
                <a:latin typeface="Comic Sans MS" panose="030F0702030302020204" pitchFamily="66" charset="0"/>
                <a:ea typeface="华光行书_CNKI" panose="02000500000000000000" pitchFamily="2" charset="-122"/>
              </a:endParaRPr>
            </a:p>
          </p:txBody>
        </p:sp>
        <p:sp>
          <p:nvSpPr>
            <p:cNvPr id="17" name="Line 11">
              <a:extLst>
                <a:ext uri="{FF2B5EF4-FFF2-40B4-BE49-F238E27FC236}">
                  <a16:creationId xmlns:a16="http://schemas.microsoft.com/office/drawing/2014/main" id="{47959D34-E734-4E2E-96D9-77BEFE6BDBB1}"/>
                </a:ext>
              </a:extLst>
            </p:cNvPr>
            <p:cNvSpPr>
              <a:spLocks noChangeShapeType="1"/>
            </p:cNvSpPr>
            <p:nvPr/>
          </p:nvSpPr>
          <p:spPr bwMode="auto">
            <a:xfrm>
              <a:off x="2592" y="2016"/>
              <a:ext cx="0" cy="144"/>
            </a:xfrm>
            <a:prstGeom prst="line">
              <a:avLst/>
            </a:prstGeom>
            <a:noFill/>
            <a:ln w="12700">
              <a:solidFill>
                <a:srgbClr val="00B050"/>
              </a:solidFill>
              <a:round/>
              <a:headEnd type="none" w="sm" len="sm"/>
              <a:tailEnd type="stealth" w="med" len="med"/>
            </a:ln>
          </p:spPr>
          <p:txBody>
            <a:bodyPr wrap="none" anchor="ctr"/>
            <a:lstStyle/>
            <a:p>
              <a:pPr>
                <a:defRPr/>
              </a:pPr>
              <a:endParaRPr lang="zh-CN" altLang="en-US">
                <a:latin typeface="Comic Sans MS" panose="030F0702030302020204" pitchFamily="66" charset="0"/>
                <a:ea typeface="华光行书_CNKI" panose="02000500000000000000" pitchFamily="2" charset="-122"/>
              </a:endParaRPr>
            </a:p>
          </p:txBody>
        </p:sp>
      </p:grpSp>
      <p:grpSp>
        <p:nvGrpSpPr>
          <p:cNvPr id="18" name="Group 12">
            <a:extLst>
              <a:ext uri="{FF2B5EF4-FFF2-40B4-BE49-F238E27FC236}">
                <a16:creationId xmlns:a16="http://schemas.microsoft.com/office/drawing/2014/main" id="{9A1DCC36-FAB7-40ED-AC28-5BA466D3D3F9}"/>
              </a:ext>
            </a:extLst>
          </p:cNvPr>
          <p:cNvGrpSpPr>
            <a:grpSpLocks/>
          </p:cNvGrpSpPr>
          <p:nvPr/>
        </p:nvGrpSpPr>
        <p:grpSpPr bwMode="auto">
          <a:xfrm>
            <a:off x="332837" y="1953062"/>
            <a:ext cx="5033962" cy="750887"/>
            <a:chOff x="1430" y="2352"/>
            <a:chExt cx="3171" cy="473"/>
          </a:xfrm>
        </p:grpSpPr>
        <p:sp>
          <p:nvSpPr>
            <p:cNvPr id="19" name="Rectangle 13">
              <a:extLst>
                <a:ext uri="{FF2B5EF4-FFF2-40B4-BE49-F238E27FC236}">
                  <a16:creationId xmlns:a16="http://schemas.microsoft.com/office/drawing/2014/main" id="{5CA8B627-F819-4269-B472-565DB2D47EA6}"/>
                </a:ext>
              </a:extLst>
            </p:cNvPr>
            <p:cNvSpPr>
              <a:spLocks noChangeArrowheads="1"/>
            </p:cNvSpPr>
            <p:nvPr/>
          </p:nvSpPr>
          <p:spPr bwMode="auto">
            <a:xfrm>
              <a:off x="1430" y="2534"/>
              <a:ext cx="3171" cy="291"/>
            </a:xfrm>
            <a:prstGeom prst="rect">
              <a:avLst/>
            </a:prstGeom>
            <a:noFill/>
            <a:ln>
              <a:noFill/>
            </a:ln>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defRPr/>
              </a:pPr>
              <a:r>
                <a:rPr lang="en-US" altLang="zh-CN" dirty="0">
                  <a:solidFill>
                    <a:srgbClr val="104E87"/>
                  </a:solidFill>
                  <a:latin typeface="Comic Sans MS" panose="030F0702030302020204" pitchFamily="66" charset="0"/>
                  <a:ea typeface="华光行书_CNKI" panose="02000500000000000000" pitchFamily="2" charset="-122"/>
                </a:rPr>
                <a:t>2  </a:t>
              </a:r>
              <a:r>
                <a:rPr lang="en-US" altLang="zh-CN" dirty="0">
                  <a:solidFill>
                    <a:srgbClr val="FF0000"/>
                  </a:solidFill>
                  <a:latin typeface="Comic Sans MS" panose="030F0702030302020204" pitchFamily="66" charset="0"/>
                  <a:ea typeface="华光行书_CNKI" panose="02000500000000000000" pitchFamily="2" charset="-122"/>
                </a:rPr>
                <a:t>[10]   </a:t>
              </a:r>
              <a:r>
                <a:rPr lang="en-US" altLang="zh-CN" dirty="0">
                  <a:solidFill>
                    <a:srgbClr val="104E87"/>
                  </a:solidFill>
                  <a:latin typeface="Comic Sans MS" panose="030F0702030302020204" pitchFamily="66" charset="0"/>
                  <a:ea typeface="华光行书_CNKI" panose="02000500000000000000" pitchFamily="2" charset="-122"/>
                </a:rPr>
                <a:t>[4     5    10]   20    12    3</a:t>
              </a:r>
            </a:p>
          </p:txBody>
        </p:sp>
        <p:sp>
          <p:nvSpPr>
            <p:cNvPr id="20" name="Line 14">
              <a:extLst>
                <a:ext uri="{FF2B5EF4-FFF2-40B4-BE49-F238E27FC236}">
                  <a16:creationId xmlns:a16="http://schemas.microsoft.com/office/drawing/2014/main" id="{DF807A54-6464-474E-8DA8-B74B519E0107}"/>
                </a:ext>
              </a:extLst>
            </p:cNvPr>
            <p:cNvSpPr>
              <a:spLocks noChangeShapeType="1"/>
            </p:cNvSpPr>
            <p:nvPr/>
          </p:nvSpPr>
          <p:spPr bwMode="auto">
            <a:xfrm>
              <a:off x="3152" y="2352"/>
              <a:ext cx="0" cy="192"/>
            </a:xfrm>
            <a:prstGeom prst="line">
              <a:avLst/>
            </a:prstGeom>
            <a:noFill/>
            <a:ln w="12700">
              <a:solidFill>
                <a:srgbClr val="00B050"/>
              </a:solidFill>
              <a:round/>
              <a:headEnd type="none" w="sm" len="sm"/>
              <a:tailEnd type="stealth" w="med" len="med"/>
            </a:ln>
          </p:spPr>
          <p:txBody>
            <a:bodyPr wrap="none" anchor="ctr"/>
            <a:lstStyle/>
            <a:p>
              <a:pPr>
                <a:defRPr/>
              </a:pPr>
              <a:endParaRPr lang="zh-CN" altLang="en-US">
                <a:latin typeface="Comic Sans MS" panose="030F0702030302020204" pitchFamily="66" charset="0"/>
                <a:ea typeface="华光行书_CNKI" panose="02000500000000000000" pitchFamily="2" charset="-122"/>
              </a:endParaRPr>
            </a:p>
          </p:txBody>
        </p:sp>
      </p:grpSp>
      <p:grpSp>
        <p:nvGrpSpPr>
          <p:cNvPr id="21" name="Group 15">
            <a:extLst>
              <a:ext uri="{FF2B5EF4-FFF2-40B4-BE49-F238E27FC236}">
                <a16:creationId xmlns:a16="http://schemas.microsoft.com/office/drawing/2014/main" id="{BD6CE60C-240F-493C-B68C-82476DF6271A}"/>
              </a:ext>
            </a:extLst>
          </p:cNvPr>
          <p:cNvGrpSpPr>
            <a:grpSpLocks/>
          </p:cNvGrpSpPr>
          <p:nvPr/>
        </p:nvGrpSpPr>
        <p:grpSpPr bwMode="auto">
          <a:xfrm>
            <a:off x="385428" y="2673786"/>
            <a:ext cx="5083174" cy="674687"/>
            <a:chOff x="1430" y="2784"/>
            <a:chExt cx="3202" cy="425"/>
          </a:xfrm>
        </p:grpSpPr>
        <p:sp>
          <p:nvSpPr>
            <p:cNvPr id="22" name="Rectangle 16">
              <a:extLst>
                <a:ext uri="{FF2B5EF4-FFF2-40B4-BE49-F238E27FC236}">
                  <a16:creationId xmlns:a16="http://schemas.microsoft.com/office/drawing/2014/main" id="{B0E51FBE-7F6F-4AF1-BE73-987498B55737}"/>
                </a:ext>
              </a:extLst>
            </p:cNvPr>
            <p:cNvSpPr>
              <a:spLocks noChangeArrowheads="1"/>
            </p:cNvSpPr>
            <p:nvPr/>
          </p:nvSpPr>
          <p:spPr bwMode="auto">
            <a:xfrm>
              <a:off x="1430" y="2918"/>
              <a:ext cx="3202" cy="291"/>
            </a:xfrm>
            <a:prstGeom prst="rect">
              <a:avLst/>
            </a:prstGeom>
            <a:noFill/>
            <a:ln>
              <a:noFill/>
            </a:ln>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defRPr/>
              </a:pPr>
              <a:r>
                <a:rPr lang="en-US" altLang="zh-CN" dirty="0">
                  <a:solidFill>
                    <a:srgbClr val="104E87"/>
                  </a:solidFill>
                  <a:latin typeface="Comic Sans MS" panose="030F0702030302020204" pitchFamily="66" charset="0"/>
                  <a:ea typeface="华光行书_CNKI" panose="02000500000000000000" pitchFamily="2" charset="-122"/>
                </a:rPr>
                <a:t>3</a:t>
              </a:r>
              <a:r>
                <a:rPr lang="en-US" altLang="zh-CN" dirty="0">
                  <a:latin typeface="Comic Sans MS" panose="030F0702030302020204" pitchFamily="66" charset="0"/>
                  <a:ea typeface="华光行书_CNKI" panose="02000500000000000000" pitchFamily="2" charset="-122"/>
                </a:rPr>
                <a:t>  </a:t>
              </a:r>
              <a:r>
                <a:rPr lang="en-US" altLang="zh-CN" dirty="0">
                  <a:solidFill>
                    <a:srgbClr val="FF0000"/>
                  </a:solidFill>
                  <a:latin typeface="Comic Sans MS" panose="030F0702030302020204" pitchFamily="66" charset="0"/>
                  <a:ea typeface="华光行书_CNKI" panose="02000500000000000000" pitchFamily="2" charset="-122"/>
                </a:rPr>
                <a:t>[20</a:t>
              </a:r>
              <a:r>
                <a:rPr lang="en-US" altLang="zh-CN" dirty="0">
                  <a:solidFill>
                    <a:srgbClr val="104E87"/>
                  </a:solidFill>
                  <a:latin typeface="Comic Sans MS" panose="030F0702030302020204" pitchFamily="66" charset="0"/>
                  <a:ea typeface="华光行书_CNKI" panose="02000500000000000000" pitchFamily="2" charset="-122"/>
                </a:rPr>
                <a:t>]   [4     5    10    20]   12    3</a:t>
              </a:r>
            </a:p>
          </p:txBody>
        </p:sp>
        <p:sp>
          <p:nvSpPr>
            <p:cNvPr id="23" name="Line 17">
              <a:extLst>
                <a:ext uri="{FF2B5EF4-FFF2-40B4-BE49-F238E27FC236}">
                  <a16:creationId xmlns:a16="http://schemas.microsoft.com/office/drawing/2014/main" id="{A1AD82EB-0368-4562-91A9-0EDA215E4E46}"/>
                </a:ext>
              </a:extLst>
            </p:cNvPr>
            <p:cNvSpPr>
              <a:spLocks noChangeShapeType="1"/>
            </p:cNvSpPr>
            <p:nvPr/>
          </p:nvSpPr>
          <p:spPr bwMode="auto">
            <a:xfrm>
              <a:off x="3609" y="2784"/>
              <a:ext cx="0" cy="192"/>
            </a:xfrm>
            <a:prstGeom prst="line">
              <a:avLst/>
            </a:prstGeom>
            <a:noFill/>
            <a:ln w="12700">
              <a:solidFill>
                <a:srgbClr val="00B050"/>
              </a:solidFill>
              <a:round/>
              <a:headEnd type="none" w="sm" len="sm"/>
              <a:tailEnd type="stealth" w="med" len="med"/>
            </a:ln>
          </p:spPr>
          <p:txBody>
            <a:bodyPr wrap="none" anchor="ctr"/>
            <a:lstStyle/>
            <a:p>
              <a:pPr>
                <a:defRPr/>
              </a:pPr>
              <a:endParaRPr lang="zh-CN" altLang="en-US">
                <a:latin typeface="Comic Sans MS" panose="030F0702030302020204" pitchFamily="66" charset="0"/>
                <a:ea typeface="华光行书_CNKI" panose="02000500000000000000" pitchFamily="2" charset="-122"/>
              </a:endParaRPr>
            </a:p>
          </p:txBody>
        </p:sp>
      </p:grpSp>
      <p:sp>
        <p:nvSpPr>
          <p:cNvPr id="24" name="Rectangle 19">
            <a:extLst>
              <a:ext uri="{FF2B5EF4-FFF2-40B4-BE49-F238E27FC236}">
                <a16:creationId xmlns:a16="http://schemas.microsoft.com/office/drawing/2014/main" id="{2F235963-31D8-40E2-81E6-A85B0BF5130E}"/>
              </a:ext>
            </a:extLst>
          </p:cNvPr>
          <p:cNvSpPr>
            <a:spLocks noChangeArrowheads="1"/>
          </p:cNvSpPr>
          <p:nvPr/>
        </p:nvSpPr>
        <p:spPr bwMode="auto">
          <a:xfrm>
            <a:off x="385428" y="3496111"/>
            <a:ext cx="5033429" cy="462307"/>
          </a:xfrm>
          <a:prstGeom prst="rect">
            <a:avLst/>
          </a:prstGeom>
          <a:noFill/>
          <a:ln>
            <a:noFill/>
          </a:ln>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defRPr/>
            </a:pPr>
            <a:r>
              <a:rPr lang="en-US" altLang="zh-CN" dirty="0">
                <a:solidFill>
                  <a:srgbClr val="104E87"/>
                </a:solidFill>
                <a:latin typeface="Comic Sans MS" panose="030F0702030302020204" pitchFamily="66" charset="0"/>
                <a:ea typeface="华光行书_CNKI" panose="02000500000000000000" pitchFamily="2" charset="-122"/>
              </a:rPr>
              <a:t>4 </a:t>
            </a:r>
            <a:r>
              <a:rPr lang="en-US" altLang="zh-CN" dirty="0">
                <a:latin typeface="Comic Sans MS" panose="030F0702030302020204" pitchFamily="66" charset="0"/>
                <a:ea typeface="华光行书_CNKI" panose="02000500000000000000" pitchFamily="2" charset="-122"/>
              </a:rPr>
              <a:t> </a:t>
            </a:r>
            <a:r>
              <a:rPr lang="en-US" altLang="zh-CN" dirty="0">
                <a:solidFill>
                  <a:srgbClr val="FF0000"/>
                </a:solidFill>
                <a:latin typeface="Comic Sans MS" panose="030F0702030302020204" pitchFamily="66" charset="0"/>
                <a:ea typeface="华光行书_CNKI" panose="02000500000000000000" pitchFamily="2" charset="-122"/>
              </a:rPr>
              <a:t>[12</a:t>
            </a:r>
            <a:r>
              <a:rPr lang="en-US" altLang="zh-CN" dirty="0">
                <a:solidFill>
                  <a:srgbClr val="104E87"/>
                </a:solidFill>
                <a:latin typeface="Comic Sans MS" panose="030F0702030302020204" pitchFamily="66" charset="0"/>
                <a:ea typeface="华光行书_CNKI" panose="02000500000000000000" pitchFamily="2" charset="-122"/>
              </a:rPr>
              <a:t>]   [4     5    10    12    20]   3</a:t>
            </a:r>
          </a:p>
        </p:txBody>
      </p:sp>
      <p:grpSp>
        <p:nvGrpSpPr>
          <p:cNvPr id="25" name="Group 24">
            <a:extLst>
              <a:ext uri="{FF2B5EF4-FFF2-40B4-BE49-F238E27FC236}">
                <a16:creationId xmlns:a16="http://schemas.microsoft.com/office/drawing/2014/main" id="{EF65BB48-0055-4C91-AE8B-B8C425C46095}"/>
              </a:ext>
            </a:extLst>
          </p:cNvPr>
          <p:cNvGrpSpPr>
            <a:grpSpLocks/>
          </p:cNvGrpSpPr>
          <p:nvPr/>
        </p:nvGrpSpPr>
        <p:grpSpPr bwMode="auto">
          <a:xfrm>
            <a:off x="385428" y="3897496"/>
            <a:ext cx="5170052" cy="827087"/>
            <a:chOff x="1430" y="3504"/>
            <a:chExt cx="4920" cy="521"/>
          </a:xfrm>
        </p:grpSpPr>
        <p:sp>
          <p:nvSpPr>
            <p:cNvPr id="30" name="Rectangle 25">
              <a:extLst>
                <a:ext uri="{FF2B5EF4-FFF2-40B4-BE49-F238E27FC236}">
                  <a16:creationId xmlns:a16="http://schemas.microsoft.com/office/drawing/2014/main" id="{E13AE279-1B00-4976-86AE-A6D048CA6B6A}"/>
                </a:ext>
              </a:extLst>
            </p:cNvPr>
            <p:cNvSpPr>
              <a:spLocks noChangeArrowheads="1"/>
            </p:cNvSpPr>
            <p:nvPr/>
          </p:nvSpPr>
          <p:spPr bwMode="auto">
            <a:xfrm>
              <a:off x="1430" y="3734"/>
              <a:ext cx="4920" cy="291"/>
            </a:xfrm>
            <a:prstGeom prst="rect">
              <a:avLst/>
            </a:prstGeom>
            <a:noFill/>
            <a:ln>
              <a:noFill/>
            </a:ln>
          </p:spPr>
          <p:txBody>
            <a:bodyPr wrap="non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defRPr/>
              </a:pPr>
              <a:r>
                <a:rPr lang="en-US" altLang="zh-CN" dirty="0">
                  <a:solidFill>
                    <a:srgbClr val="104E87"/>
                  </a:solidFill>
                  <a:latin typeface="Comic Sans MS" panose="030F0702030302020204" pitchFamily="66" charset="0"/>
                  <a:ea typeface="华光行书_CNKI" panose="02000500000000000000" pitchFamily="2" charset="-122"/>
                </a:rPr>
                <a:t>5</a:t>
              </a:r>
              <a:r>
                <a:rPr lang="en-US" altLang="zh-CN" dirty="0">
                  <a:latin typeface="Comic Sans MS" panose="030F0702030302020204" pitchFamily="66" charset="0"/>
                  <a:ea typeface="华光行书_CNKI" panose="02000500000000000000" pitchFamily="2" charset="-122"/>
                </a:rPr>
                <a:t>  </a:t>
              </a:r>
              <a:r>
                <a:rPr lang="en-US" altLang="zh-CN" dirty="0">
                  <a:solidFill>
                    <a:srgbClr val="FF0000"/>
                  </a:solidFill>
                  <a:latin typeface="Comic Sans MS" panose="030F0702030302020204" pitchFamily="66" charset="0"/>
                  <a:ea typeface="华光行书_CNKI" panose="02000500000000000000" pitchFamily="2" charset="-122"/>
                </a:rPr>
                <a:t>[3]    </a:t>
              </a:r>
              <a:r>
                <a:rPr lang="en-US" altLang="zh-CN" dirty="0">
                  <a:solidFill>
                    <a:srgbClr val="104E87"/>
                  </a:solidFill>
                  <a:latin typeface="Comic Sans MS" panose="030F0702030302020204" pitchFamily="66" charset="0"/>
                  <a:ea typeface="华光行书_CNKI" panose="02000500000000000000" pitchFamily="2" charset="-122"/>
                </a:rPr>
                <a:t>[3     4     5    10    12    20]</a:t>
              </a:r>
            </a:p>
          </p:txBody>
        </p:sp>
        <p:grpSp>
          <p:nvGrpSpPr>
            <p:cNvPr id="31" name="Group 26">
              <a:extLst>
                <a:ext uri="{FF2B5EF4-FFF2-40B4-BE49-F238E27FC236}">
                  <a16:creationId xmlns:a16="http://schemas.microsoft.com/office/drawing/2014/main" id="{E2F6E7A2-6BCA-4FB9-9A3F-7115B60ADF16}"/>
                </a:ext>
              </a:extLst>
            </p:cNvPr>
            <p:cNvGrpSpPr>
              <a:grpSpLocks/>
            </p:cNvGrpSpPr>
            <p:nvPr/>
          </p:nvGrpSpPr>
          <p:grpSpPr bwMode="auto">
            <a:xfrm>
              <a:off x="2769" y="3504"/>
              <a:ext cx="3241" cy="288"/>
              <a:chOff x="2769" y="3504"/>
              <a:chExt cx="3241" cy="288"/>
            </a:xfrm>
          </p:grpSpPr>
          <p:sp>
            <p:nvSpPr>
              <p:cNvPr id="32" name="Line 27">
                <a:extLst>
                  <a:ext uri="{FF2B5EF4-FFF2-40B4-BE49-F238E27FC236}">
                    <a16:creationId xmlns:a16="http://schemas.microsoft.com/office/drawing/2014/main" id="{AD2AD11F-34B3-49A3-B1D6-3EB0C0948685}"/>
                  </a:ext>
                </a:extLst>
              </p:cNvPr>
              <p:cNvSpPr>
                <a:spLocks noChangeShapeType="1"/>
              </p:cNvSpPr>
              <p:nvPr/>
            </p:nvSpPr>
            <p:spPr bwMode="auto">
              <a:xfrm>
                <a:off x="6010" y="3504"/>
                <a:ext cx="0" cy="144"/>
              </a:xfrm>
              <a:prstGeom prst="line">
                <a:avLst/>
              </a:prstGeom>
              <a:noFill/>
              <a:ln w="12700">
                <a:solidFill>
                  <a:srgbClr val="00B050"/>
                </a:solidFill>
                <a:round/>
                <a:headEnd type="none" w="sm" len="sm"/>
                <a:tailEnd type="none" w="sm" len="sm"/>
              </a:ln>
            </p:spPr>
            <p:txBody>
              <a:bodyPr wrap="none" anchor="ctr"/>
              <a:lstStyle/>
              <a:p>
                <a:pPr>
                  <a:defRPr/>
                </a:pPr>
                <a:endParaRPr lang="zh-CN" altLang="en-US">
                  <a:latin typeface="Comic Sans MS" panose="030F0702030302020204" pitchFamily="66" charset="0"/>
                  <a:ea typeface="华光行书_CNKI" panose="02000500000000000000" pitchFamily="2" charset="-122"/>
                </a:endParaRPr>
              </a:p>
            </p:txBody>
          </p:sp>
          <p:sp>
            <p:nvSpPr>
              <p:cNvPr id="33" name="Line 28">
                <a:extLst>
                  <a:ext uri="{FF2B5EF4-FFF2-40B4-BE49-F238E27FC236}">
                    <a16:creationId xmlns:a16="http://schemas.microsoft.com/office/drawing/2014/main" id="{B5E5630C-8FF4-4CE0-AB8B-2BC52A4514E5}"/>
                  </a:ext>
                </a:extLst>
              </p:cNvPr>
              <p:cNvSpPr>
                <a:spLocks noChangeShapeType="1"/>
              </p:cNvSpPr>
              <p:nvPr/>
            </p:nvSpPr>
            <p:spPr bwMode="auto">
              <a:xfrm flipH="1">
                <a:off x="2769" y="3648"/>
                <a:ext cx="3239" cy="0"/>
              </a:xfrm>
              <a:prstGeom prst="line">
                <a:avLst/>
              </a:prstGeom>
              <a:noFill/>
              <a:ln w="12700">
                <a:solidFill>
                  <a:srgbClr val="00B050"/>
                </a:solidFill>
                <a:round/>
                <a:headEnd type="none" w="sm" len="sm"/>
                <a:tailEnd type="none" w="sm" len="sm"/>
              </a:ln>
            </p:spPr>
            <p:txBody>
              <a:bodyPr wrap="none" anchor="ctr"/>
              <a:lstStyle/>
              <a:p>
                <a:pPr>
                  <a:defRPr/>
                </a:pPr>
                <a:endParaRPr lang="zh-CN" altLang="en-US">
                  <a:latin typeface="Comic Sans MS" panose="030F0702030302020204" pitchFamily="66" charset="0"/>
                  <a:ea typeface="华光行书_CNKI" panose="02000500000000000000" pitchFamily="2" charset="-122"/>
                </a:endParaRPr>
              </a:p>
            </p:txBody>
          </p:sp>
          <p:sp>
            <p:nvSpPr>
              <p:cNvPr id="34" name="Line 29">
                <a:extLst>
                  <a:ext uri="{FF2B5EF4-FFF2-40B4-BE49-F238E27FC236}">
                    <a16:creationId xmlns:a16="http://schemas.microsoft.com/office/drawing/2014/main" id="{73609D5E-9B54-4154-BF22-F3F1243FD26B}"/>
                  </a:ext>
                </a:extLst>
              </p:cNvPr>
              <p:cNvSpPr>
                <a:spLocks noChangeShapeType="1"/>
              </p:cNvSpPr>
              <p:nvPr/>
            </p:nvSpPr>
            <p:spPr bwMode="auto">
              <a:xfrm>
                <a:off x="2769" y="3648"/>
                <a:ext cx="0" cy="144"/>
              </a:xfrm>
              <a:prstGeom prst="line">
                <a:avLst/>
              </a:prstGeom>
              <a:noFill/>
              <a:ln w="12700">
                <a:solidFill>
                  <a:srgbClr val="00B050"/>
                </a:solidFill>
                <a:round/>
                <a:headEnd type="none" w="sm" len="sm"/>
                <a:tailEnd type="stealth" w="med" len="med"/>
              </a:ln>
            </p:spPr>
            <p:txBody>
              <a:bodyPr wrap="none" anchor="ctr"/>
              <a:lstStyle/>
              <a:p>
                <a:pPr>
                  <a:defRPr/>
                </a:pPr>
                <a:endParaRPr lang="zh-CN" altLang="en-US">
                  <a:latin typeface="Comic Sans MS" panose="030F0702030302020204" pitchFamily="66" charset="0"/>
                  <a:ea typeface="华光行书_CNKI" panose="02000500000000000000" pitchFamily="2" charset="-122"/>
                </a:endParaRPr>
              </a:p>
            </p:txBody>
          </p:sp>
        </p:grpSp>
      </p:grpSp>
      <p:grpSp>
        <p:nvGrpSpPr>
          <p:cNvPr id="35" name="Group 8">
            <a:extLst>
              <a:ext uri="{FF2B5EF4-FFF2-40B4-BE49-F238E27FC236}">
                <a16:creationId xmlns:a16="http://schemas.microsoft.com/office/drawing/2014/main" id="{A6941F82-8670-44ED-98DF-4E304B70B5A3}"/>
              </a:ext>
            </a:extLst>
          </p:cNvPr>
          <p:cNvGrpSpPr>
            <a:grpSpLocks/>
          </p:cNvGrpSpPr>
          <p:nvPr/>
        </p:nvGrpSpPr>
        <p:grpSpPr bwMode="auto">
          <a:xfrm>
            <a:off x="3844590" y="3232773"/>
            <a:ext cx="720725" cy="457200"/>
            <a:chOff x="2592" y="1872"/>
            <a:chExt cx="576" cy="288"/>
          </a:xfrm>
        </p:grpSpPr>
        <p:sp>
          <p:nvSpPr>
            <p:cNvPr id="36" name="Line 9">
              <a:extLst>
                <a:ext uri="{FF2B5EF4-FFF2-40B4-BE49-F238E27FC236}">
                  <a16:creationId xmlns:a16="http://schemas.microsoft.com/office/drawing/2014/main" id="{8D6EF72C-1095-4B1B-ADA0-46C2405DCF16}"/>
                </a:ext>
              </a:extLst>
            </p:cNvPr>
            <p:cNvSpPr>
              <a:spLocks noChangeShapeType="1"/>
            </p:cNvSpPr>
            <p:nvPr/>
          </p:nvSpPr>
          <p:spPr bwMode="auto">
            <a:xfrm>
              <a:off x="3168" y="1872"/>
              <a:ext cx="0" cy="144"/>
            </a:xfrm>
            <a:prstGeom prst="line">
              <a:avLst/>
            </a:prstGeom>
            <a:noFill/>
            <a:ln w="12700">
              <a:solidFill>
                <a:srgbClr val="00B050"/>
              </a:solidFill>
              <a:round/>
              <a:headEnd type="none" w="sm" len="sm"/>
              <a:tailEnd type="none" w="sm" len="sm"/>
            </a:ln>
          </p:spPr>
          <p:txBody>
            <a:bodyPr wrap="none" anchor="ctr"/>
            <a:lstStyle/>
            <a:p>
              <a:pPr>
                <a:defRPr/>
              </a:pPr>
              <a:endParaRPr lang="zh-CN" altLang="en-US">
                <a:latin typeface="Comic Sans MS" panose="030F0702030302020204" pitchFamily="66" charset="0"/>
                <a:ea typeface="华光行书_CNKI" panose="02000500000000000000" pitchFamily="2" charset="-122"/>
              </a:endParaRPr>
            </a:p>
          </p:txBody>
        </p:sp>
        <p:sp>
          <p:nvSpPr>
            <p:cNvPr id="37" name="Line 10">
              <a:extLst>
                <a:ext uri="{FF2B5EF4-FFF2-40B4-BE49-F238E27FC236}">
                  <a16:creationId xmlns:a16="http://schemas.microsoft.com/office/drawing/2014/main" id="{2AFFFEDD-C075-44C2-8EA9-4B175A4F8EF0}"/>
                </a:ext>
              </a:extLst>
            </p:cNvPr>
            <p:cNvSpPr>
              <a:spLocks noChangeShapeType="1"/>
            </p:cNvSpPr>
            <p:nvPr/>
          </p:nvSpPr>
          <p:spPr bwMode="auto">
            <a:xfrm flipH="1">
              <a:off x="2592" y="2016"/>
              <a:ext cx="576" cy="0"/>
            </a:xfrm>
            <a:prstGeom prst="line">
              <a:avLst/>
            </a:prstGeom>
            <a:noFill/>
            <a:ln w="12700">
              <a:solidFill>
                <a:srgbClr val="00B050"/>
              </a:solidFill>
              <a:round/>
              <a:headEnd type="none" w="sm" len="sm"/>
              <a:tailEnd type="none" w="sm" len="sm"/>
            </a:ln>
          </p:spPr>
          <p:txBody>
            <a:bodyPr wrap="none" anchor="ctr"/>
            <a:lstStyle/>
            <a:p>
              <a:pPr>
                <a:defRPr/>
              </a:pPr>
              <a:endParaRPr lang="zh-CN" altLang="en-US">
                <a:latin typeface="Comic Sans MS" panose="030F0702030302020204" pitchFamily="66" charset="0"/>
                <a:ea typeface="华光行书_CNKI" panose="02000500000000000000" pitchFamily="2" charset="-122"/>
              </a:endParaRPr>
            </a:p>
          </p:txBody>
        </p:sp>
        <p:sp>
          <p:nvSpPr>
            <p:cNvPr id="38" name="Line 11">
              <a:extLst>
                <a:ext uri="{FF2B5EF4-FFF2-40B4-BE49-F238E27FC236}">
                  <a16:creationId xmlns:a16="http://schemas.microsoft.com/office/drawing/2014/main" id="{7EF05323-58A5-4E46-A362-650A0830539D}"/>
                </a:ext>
              </a:extLst>
            </p:cNvPr>
            <p:cNvSpPr>
              <a:spLocks noChangeShapeType="1"/>
            </p:cNvSpPr>
            <p:nvPr/>
          </p:nvSpPr>
          <p:spPr bwMode="auto">
            <a:xfrm>
              <a:off x="2592" y="2016"/>
              <a:ext cx="0" cy="144"/>
            </a:xfrm>
            <a:prstGeom prst="line">
              <a:avLst/>
            </a:prstGeom>
            <a:noFill/>
            <a:ln w="12700">
              <a:solidFill>
                <a:srgbClr val="00B050"/>
              </a:solidFill>
              <a:round/>
              <a:headEnd type="none" w="sm" len="sm"/>
              <a:tailEnd type="stealth" w="med" len="med"/>
            </a:ln>
          </p:spPr>
          <p:txBody>
            <a:bodyPr wrap="none" anchor="ctr"/>
            <a:lstStyle/>
            <a:p>
              <a:pPr>
                <a:defRPr/>
              </a:pPr>
              <a:endParaRPr lang="zh-CN" altLang="en-US">
                <a:latin typeface="Comic Sans MS" panose="030F0702030302020204" pitchFamily="66" charset="0"/>
                <a:ea typeface="华光行书_CNKI" panose="02000500000000000000" pitchFamily="2" charset="-122"/>
              </a:endParaRPr>
            </a:p>
          </p:txBody>
        </p:sp>
      </p:grpSp>
      <p:sp>
        <p:nvSpPr>
          <p:cNvPr id="39" name="文本框 38">
            <a:extLst>
              <a:ext uri="{FF2B5EF4-FFF2-40B4-BE49-F238E27FC236}">
                <a16:creationId xmlns:a16="http://schemas.microsoft.com/office/drawing/2014/main" id="{5EC8971A-9547-43D3-A817-A529ABA42CBD}"/>
              </a:ext>
            </a:extLst>
          </p:cNvPr>
          <p:cNvSpPr txBox="1"/>
          <p:nvPr/>
        </p:nvSpPr>
        <p:spPr>
          <a:xfrm>
            <a:off x="-7377" y="903661"/>
            <a:ext cx="2066192" cy="461665"/>
          </a:xfrm>
          <a:prstGeom prst="rect">
            <a:avLst/>
          </a:prstGeom>
          <a:noFill/>
        </p:spPr>
        <p:txBody>
          <a:bodyPr wrap="square">
            <a:spAutoFit/>
          </a:bodyPr>
          <a:lstStyle/>
          <a:p>
            <a:r>
              <a:rPr lang="zh-CN" altLang="en-US" dirty="0">
                <a:solidFill>
                  <a:srgbClr val="104E87"/>
                </a:solidFill>
                <a:latin typeface="Comic Sans MS" panose="030F0702030302020204" pitchFamily="66" charset="0"/>
                <a:ea typeface="华光行书_CNKI" panose="02000500000000000000" pitchFamily="2" charset="-122"/>
              </a:rPr>
              <a:t>初始状态： </a:t>
            </a:r>
            <a:endParaRPr lang="zh-CN" altLang="en-US" dirty="0"/>
          </a:p>
        </p:txBody>
      </p:sp>
      <p:sp>
        <p:nvSpPr>
          <p:cNvPr id="40" name="Rectangle 6">
            <a:extLst>
              <a:ext uri="{FF2B5EF4-FFF2-40B4-BE49-F238E27FC236}">
                <a16:creationId xmlns:a16="http://schemas.microsoft.com/office/drawing/2014/main" id="{73BA32BD-ADA1-421F-B38D-7FB3043FC628}"/>
              </a:ext>
            </a:extLst>
          </p:cNvPr>
          <p:cNvSpPr>
            <a:spLocks noChangeArrowheads="1"/>
          </p:cNvSpPr>
          <p:nvPr/>
        </p:nvSpPr>
        <p:spPr bwMode="auto">
          <a:xfrm>
            <a:off x="-141447" y="1957037"/>
            <a:ext cx="648679" cy="1570303"/>
          </a:xfrm>
          <a:prstGeom prst="rect">
            <a:avLst/>
          </a:prstGeom>
          <a:noFill/>
          <a:ln>
            <a:noFill/>
          </a:ln>
        </p:spPr>
        <p:txBody>
          <a:bodyPr wrap="square" lIns="92075" tIns="46038" rIns="92075" bIns="46038">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defRPr/>
            </a:pPr>
            <a:r>
              <a:rPr lang="zh-CN" altLang="en-US" dirty="0">
                <a:solidFill>
                  <a:srgbClr val="104E87"/>
                </a:solidFill>
                <a:latin typeface="Comic Sans MS" panose="030F0702030302020204" pitchFamily="66" charset="0"/>
                <a:ea typeface="华光行书_CNKI" panose="02000500000000000000" pitchFamily="2" charset="-122"/>
              </a:rPr>
              <a:t>插入操作</a:t>
            </a:r>
          </a:p>
        </p:txBody>
      </p:sp>
      <p:pic>
        <p:nvPicPr>
          <p:cNvPr id="42" name="图片 4">
            <a:extLst>
              <a:ext uri="{FF2B5EF4-FFF2-40B4-BE49-F238E27FC236}">
                <a16:creationId xmlns:a16="http://schemas.microsoft.com/office/drawing/2014/main" id="{87BFCE8D-8181-4CE7-89B3-DF03038C2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8359" y="4724583"/>
            <a:ext cx="6272275" cy="2186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238A8370-E477-42E8-0B63-89CF947731F4}"/>
              </a:ext>
            </a:extLst>
          </p:cNvPr>
          <p:cNvPicPr>
            <a:picLocks noChangeAspect="1"/>
          </p:cNvPicPr>
          <p:nvPr/>
        </p:nvPicPr>
        <p:blipFill>
          <a:blip r:embed="rId4"/>
          <a:stretch>
            <a:fillRect/>
          </a:stretch>
        </p:blipFill>
        <p:spPr>
          <a:xfrm>
            <a:off x="7412259" y="703529"/>
            <a:ext cx="4778154" cy="3924640"/>
          </a:xfrm>
          <a:prstGeom prst="rect">
            <a:avLst/>
          </a:prstGeom>
        </p:spPr>
      </p:pic>
      <p:pic>
        <p:nvPicPr>
          <p:cNvPr id="12" name="图片 11">
            <a:extLst>
              <a:ext uri="{FF2B5EF4-FFF2-40B4-BE49-F238E27FC236}">
                <a16:creationId xmlns:a16="http://schemas.microsoft.com/office/drawing/2014/main" id="{A9D6AFCB-2AF7-0979-575B-3F7C3BB51FF9}"/>
              </a:ext>
            </a:extLst>
          </p:cNvPr>
          <p:cNvPicPr>
            <a:picLocks noChangeAspect="1"/>
          </p:cNvPicPr>
          <p:nvPr/>
        </p:nvPicPr>
        <p:blipFill>
          <a:blip r:embed="rId5"/>
          <a:stretch>
            <a:fillRect/>
          </a:stretch>
        </p:blipFill>
        <p:spPr>
          <a:xfrm>
            <a:off x="7412519" y="342875"/>
            <a:ext cx="4777893" cy="624894"/>
          </a:xfrm>
          <a:prstGeom prst="rect">
            <a:avLst/>
          </a:prstGeom>
        </p:spPr>
      </p:pic>
      <p:pic>
        <p:nvPicPr>
          <p:cNvPr id="27" name="图片 26">
            <a:extLst>
              <a:ext uri="{FF2B5EF4-FFF2-40B4-BE49-F238E27FC236}">
                <a16:creationId xmlns:a16="http://schemas.microsoft.com/office/drawing/2014/main" id="{F8F0DFCA-6CAF-F20B-1C43-19C2F4785509}"/>
              </a:ext>
            </a:extLst>
          </p:cNvPr>
          <p:cNvPicPr>
            <a:picLocks noChangeAspect="1"/>
          </p:cNvPicPr>
          <p:nvPr/>
        </p:nvPicPr>
        <p:blipFill>
          <a:blip r:embed="rId6"/>
          <a:stretch>
            <a:fillRect/>
          </a:stretch>
        </p:blipFill>
        <p:spPr>
          <a:xfrm>
            <a:off x="8006523" y="1305789"/>
            <a:ext cx="3787468" cy="281964"/>
          </a:xfrm>
          <a:prstGeom prst="rect">
            <a:avLst/>
          </a:prstGeom>
        </p:spPr>
      </p:pic>
    </p:spTree>
    <p:extLst>
      <p:ext uri="{BB962C8B-B14F-4D97-AF65-F5344CB8AC3E}">
        <p14:creationId xmlns:p14="http://schemas.microsoft.com/office/powerpoint/2010/main" val="1008329272"/>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barn(inVertical)">
                                      <p:cBhvr>
                                        <p:cTn id="21" dur="500"/>
                                        <p:tgtEl>
                                          <p:spTgt spid="24"/>
                                        </p:tgtEl>
                                      </p:cBhvr>
                                    </p:animEffect>
                                  </p:childTnLst>
                                </p:cTn>
                              </p:par>
                              <p:par>
                                <p:cTn id="22" presetID="16" presetClass="entr" presetSubtype="21" fill="hold" nodeType="with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barn(inVertical)">
                                      <p:cBhvr>
                                        <p:cTn id="24" dur="500"/>
                                        <p:tgtEl>
                                          <p:spTgt spid="35"/>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barn(inVertical)">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arn(inVertical)">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up)">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wipe(left)">
                                      <p:cBhvr>
                                        <p:cTn id="44" dur="500"/>
                                        <p:tgtEl>
                                          <p:spTgt spid="27"/>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nodeType="click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barn(inVertical)">
                                      <p:cBhvr>
                                        <p:cTn id="49"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3" name="直线连接符 6">
            <a:extLst>
              <a:ext uri="{FF2B5EF4-FFF2-40B4-BE49-F238E27FC236}">
                <a16:creationId xmlns:a16="http://schemas.microsoft.com/office/drawing/2014/main" id="{B0EE72FA-E898-4A34-8A29-6C892B3B6CFB}"/>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0" name="矩形 5">
            <a:extLst>
              <a:ext uri="{FF2B5EF4-FFF2-40B4-BE49-F238E27FC236}">
                <a16:creationId xmlns:a16="http://schemas.microsoft.com/office/drawing/2014/main" id="{5281C44B-ACC8-42DC-8DD7-08B8E722E59B}"/>
              </a:ext>
            </a:extLst>
          </p:cNvPr>
          <p:cNvSpPr>
            <a:spLocks noChangeArrowheads="1"/>
          </p:cNvSpPr>
          <p:nvPr/>
        </p:nvSpPr>
        <p:spPr bwMode="auto">
          <a:xfrm>
            <a:off x="0" y="905715"/>
            <a:ext cx="121904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lvl="1">
              <a:spcAft>
                <a:spcPts val="1200"/>
              </a:spcAft>
            </a:pPr>
            <a:r>
              <a:rPr lang="zh-CN" altLang="en-US" b="0" dirty="0">
                <a:solidFill>
                  <a:srgbClr val="FF0000"/>
                </a:solidFill>
                <a:latin typeface="华光行书_CNKI" panose="02000500000000000000" pitchFamily="2" charset="-122"/>
                <a:ea typeface="华光行书_CNKI" panose="02000500000000000000" pitchFamily="2" charset="-122"/>
              </a:rPr>
              <a:t>顺序查找：</a:t>
            </a:r>
            <a:r>
              <a:rPr lang="zh-CN" altLang="en-US" b="0" dirty="0">
                <a:solidFill>
                  <a:srgbClr val="104E87"/>
                </a:solidFill>
                <a:latin typeface="华光行书_CNKI" panose="02000500000000000000" pitchFamily="2" charset="-122"/>
                <a:ea typeface="华光行书_CNKI" panose="02000500000000000000" pitchFamily="2" charset="-122"/>
              </a:rPr>
              <a:t>从序列的首元素开始，逐个元素与待查找的关键字进行比较，直到找到相等的。若整个序列中没有与待查找关键字相等的元素，就是查找不成功。</a:t>
            </a:r>
          </a:p>
        </p:txBody>
      </p:sp>
      <p:sp>
        <p:nvSpPr>
          <p:cNvPr id="11" name="文本框 10">
            <a:extLst>
              <a:ext uri="{FF2B5EF4-FFF2-40B4-BE49-F238E27FC236}">
                <a16:creationId xmlns:a16="http://schemas.microsoft.com/office/drawing/2014/main" id="{84187DD4-8187-4FDB-8597-1CB181F64C6B}"/>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11.3 </a:t>
            </a:r>
            <a:r>
              <a:rPr lang="zh-CN" altLang="en-US" dirty="0">
                <a:sym typeface="+mn-lt"/>
              </a:rPr>
              <a:t>案例</a:t>
            </a:r>
            <a:r>
              <a:rPr lang="en-US" altLang="zh-CN" dirty="0">
                <a:sym typeface="+mn-lt"/>
              </a:rPr>
              <a:t>——</a:t>
            </a:r>
            <a:r>
              <a:rPr lang="zh-CN" altLang="en-US" dirty="0">
                <a:sym typeface="+mn-lt"/>
              </a:rPr>
              <a:t>数组排序与查找</a:t>
            </a:r>
          </a:p>
        </p:txBody>
      </p:sp>
      <p:pic>
        <p:nvPicPr>
          <p:cNvPr id="13" name="图片 4">
            <a:extLst>
              <a:ext uri="{FF2B5EF4-FFF2-40B4-BE49-F238E27FC236}">
                <a16:creationId xmlns:a16="http://schemas.microsoft.com/office/drawing/2014/main" id="{701DBD74-37BB-40B5-9B87-3D61D434DD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 y="4101043"/>
            <a:ext cx="6121400" cy="178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2EEA1D2F-0202-6B12-922D-821089B44DCD}"/>
              </a:ext>
            </a:extLst>
          </p:cNvPr>
          <p:cNvPicPr>
            <a:picLocks noChangeAspect="1"/>
          </p:cNvPicPr>
          <p:nvPr/>
        </p:nvPicPr>
        <p:blipFill>
          <a:blip r:embed="rId4"/>
          <a:stretch>
            <a:fillRect/>
          </a:stretch>
        </p:blipFill>
        <p:spPr>
          <a:xfrm>
            <a:off x="1587" y="2163938"/>
            <a:ext cx="7445385" cy="1577477"/>
          </a:xfrm>
          <a:prstGeom prst="rect">
            <a:avLst/>
          </a:prstGeom>
        </p:spPr>
      </p:pic>
      <p:pic>
        <p:nvPicPr>
          <p:cNvPr id="8" name="图片 7">
            <a:extLst>
              <a:ext uri="{FF2B5EF4-FFF2-40B4-BE49-F238E27FC236}">
                <a16:creationId xmlns:a16="http://schemas.microsoft.com/office/drawing/2014/main" id="{27B3C0C4-3071-58EE-FEB4-C0C08082CA13}"/>
              </a:ext>
            </a:extLst>
          </p:cNvPr>
          <p:cNvPicPr>
            <a:picLocks noChangeAspect="1"/>
          </p:cNvPicPr>
          <p:nvPr/>
        </p:nvPicPr>
        <p:blipFill>
          <a:blip r:embed="rId5"/>
          <a:stretch>
            <a:fillRect/>
          </a:stretch>
        </p:blipFill>
        <p:spPr>
          <a:xfrm>
            <a:off x="0" y="1804310"/>
            <a:ext cx="7446972" cy="704715"/>
          </a:xfrm>
          <a:prstGeom prst="rect">
            <a:avLst/>
          </a:prstGeom>
        </p:spPr>
      </p:pic>
    </p:spTree>
    <p:extLst>
      <p:ext uri="{BB962C8B-B14F-4D97-AF65-F5344CB8AC3E}">
        <p14:creationId xmlns:p14="http://schemas.microsoft.com/office/powerpoint/2010/main" val="1832826642"/>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7">
            <a:extLst>
              <a:ext uri="{FF2B5EF4-FFF2-40B4-BE49-F238E27FC236}">
                <a16:creationId xmlns:a16="http://schemas.microsoft.com/office/drawing/2014/main" id="{945359CD-5A3D-4391-95B3-2B5D833DF00C}"/>
              </a:ext>
            </a:extLst>
          </p:cNvPr>
          <p:cNvGrpSpPr>
            <a:grpSpLocks/>
          </p:cNvGrpSpPr>
          <p:nvPr/>
        </p:nvGrpSpPr>
        <p:grpSpPr bwMode="auto">
          <a:xfrm>
            <a:off x="-4987" y="941456"/>
            <a:ext cx="6553200" cy="527039"/>
            <a:chOff x="532" y="1252"/>
            <a:chExt cx="4744" cy="232"/>
          </a:xfrm>
        </p:grpSpPr>
        <p:grpSp>
          <p:nvGrpSpPr>
            <p:cNvPr id="22" name="Group 8">
              <a:extLst>
                <a:ext uri="{FF2B5EF4-FFF2-40B4-BE49-F238E27FC236}">
                  <a16:creationId xmlns:a16="http://schemas.microsoft.com/office/drawing/2014/main" id="{CA2DFF4D-069F-442E-AA0A-44CB97B000F6}"/>
                </a:ext>
              </a:extLst>
            </p:cNvPr>
            <p:cNvGrpSpPr>
              <a:grpSpLocks/>
            </p:cNvGrpSpPr>
            <p:nvPr/>
          </p:nvGrpSpPr>
          <p:grpSpPr bwMode="auto">
            <a:xfrm>
              <a:off x="532" y="1252"/>
              <a:ext cx="2584" cy="232"/>
              <a:chOff x="532" y="1252"/>
              <a:chExt cx="2584" cy="232"/>
            </a:xfrm>
          </p:grpSpPr>
          <p:sp>
            <p:nvSpPr>
              <p:cNvPr id="28" name="Rectangle 9">
                <a:extLst>
                  <a:ext uri="{FF2B5EF4-FFF2-40B4-BE49-F238E27FC236}">
                    <a16:creationId xmlns:a16="http://schemas.microsoft.com/office/drawing/2014/main" id="{4A5DF441-1EB2-4165-801C-018B38017C18}"/>
                  </a:ext>
                </a:extLst>
              </p:cNvPr>
              <p:cNvSpPr>
                <a:spLocks noChangeArrowheads="1"/>
              </p:cNvSpPr>
              <p:nvPr/>
            </p:nvSpPr>
            <p:spPr bwMode="auto">
              <a:xfrm>
                <a:off x="532" y="1252"/>
                <a:ext cx="424" cy="232"/>
              </a:xfrm>
              <a:prstGeom prst="rect">
                <a:avLst/>
              </a:prstGeom>
              <a:solidFill>
                <a:schemeClr val="accent4">
                  <a:lumMod val="20000"/>
                  <a:lumOff val="80000"/>
                </a:schemeClr>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defTabSz="76200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defTabSz="7620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defTabSz="7620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defTabSz="7620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a:spcBef>
                    <a:spcPct val="0"/>
                  </a:spcBef>
                  <a:buClrTx/>
                  <a:buSzTx/>
                  <a:buFontTx/>
                  <a:buNone/>
                </a:pPr>
                <a:r>
                  <a:rPr kumimoji="1" lang="en-US" altLang="zh-CN" sz="2000" dirty="0">
                    <a:solidFill>
                      <a:srgbClr val="104E87"/>
                    </a:solidFill>
                    <a:latin typeface="Comic Sans MS" panose="030F0702030302020204" pitchFamily="66" charset="0"/>
                    <a:ea typeface="隶书" panose="02010509060101010101" pitchFamily="49" charset="-122"/>
                  </a:rPr>
                  <a:t>5</a:t>
                </a:r>
              </a:p>
            </p:txBody>
          </p:sp>
          <p:sp>
            <p:nvSpPr>
              <p:cNvPr id="29" name="Rectangle 10">
                <a:extLst>
                  <a:ext uri="{FF2B5EF4-FFF2-40B4-BE49-F238E27FC236}">
                    <a16:creationId xmlns:a16="http://schemas.microsoft.com/office/drawing/2014/main" id="{064833A8-A10B-4C1A-A6D8-52C015423734}"/>
                  </a:ext>
                </a:extLst>
              </p:cNvPr>
              <p:cNvSpPr>
                <a:spLocks noChangeArrowheads="1"/>
              </p:cNvSpPr>
              <p:nvPr/>
            </p:nvSpPr>
            <p:spPr bwMode="auto">
              <a:xfrm>
                <a:off x="964" y="1252"/>
                <a:ext cx="424" cy="232"/>
              </a:xfrm>
              <a:prstGeom prst="rect">
                <a:avLst/>
              </a:prstGeom>
              <a:solidFill>
                <a:schemeClr val="accent4">
                  <a:lumMod val="20000"/>
                  <a:lumOff val="80000"/>
                </a:schemeClr>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dirty="0">
                    <a:solidFill>
                      <a:srgbClr val="104E87"/>
                    </a:solidFill>
                    <a:latin typeface="Comic Sans MS" panose="030F0702030302020204" pitchFamily="66" charset="0"/>
                  </a:rPr>
                  <a:t>13</a:t>
                </a:r>
              </a:p>
            </p:txBody>
          </p:sp>
          <p:sp>
            <p:nvSpPr>
              <p:cNvPr id="30" name="Rectangle 11">
                <a:extLst>
                  <a:ext uri="{FF2B5EF4-FFF2-40B4-BE49-F238E27FC236}">
                    <a16:creationId xmlns:a16="http://schemas.microsoft.com/office/drawing/2014/main" id="{B2C61647-B66E-42C6-A5EB-69E1629B0533}"/>
                  </a:ext>
                </a:extLst>
              </p:cNvPr>
              <p:cNvSpPr>
                <a:spLocks noChangeArrowheads="1"/>
              </p:cNvSpPr>
              <p:nvPr/>
            </p:nvSpPr>
            <p:spPr bwMode="auto">
              <a:xfrm>
                <a:off x="1396" y="1252"/>
                <a:ext cx="424" cy="232"/>
              </a:xfrm>
              <a:prstGeom prst="rect">
                <a:avLst/>
              </a:prstGeom>
              <a:solidFill>
                <a:schemeClr val="accent4">
                  <a:lumMod val="20000"/>
                  <a:lumOff val="80000"/>
                </a:schemeClr>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dirty="0">
                    <a:solidFill>
                      <a:srgbClr val="104E87"/>
                    </a:solidFill>
                    <a:latin typeface="Comic Sans MS" panose="030F0702030302020204" pitchFamily="66" charset="0"/>
                  </a:rPr>
                  <a:t>19</a:t>
                </a:r>
              </a:p>
            </p:txBody>
          </p:sp>
          <p:sp>
            <p:nvSpPr>
              <p:cNvPr id="31" name="Rectangle 12">
                <a:extLst>
                  <a:ext uri="{FF2B5EF4-FFF2-40B4-BE49-F238E27FC236}">
                    <a16:creationId xmlns:a16="http://schemas.microsoft.com/office/drawing/2014/main" id="{1A9BCA2A-75EE-4D5A-B579-2C9636A60260}"/>
                  </a:ext>
                </a:extLst>
              </p:cNvPr>
              <p:cNvSpPr>
                <a:spLocks noChangeArrowheads="1"/>
              </p:cNvSpPr>
              <p:nvPr/>
            </p:nvSpPr>
            <p:spPr bwMode="auto">
              <a:xfrm>
                <a:off x="1828" y="1252"/>
                <a:ext cx="424" cy="232"/>
              </a:xfrm>
              <a:prstGeom prst="rect">
                <a:avLst/>
              </a:prstGeom>
              <a:solidFill>
                <a:schemeClr val="accent4">
                  <a:lumMod val="20000"/>
                  <a:lumOff val="80000"/>
                </a:schemeClr>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dirty="0">
                    <a:solidFill>
                      <a:srgbClr val="FF0000"/>
                    </a:solidFill>
                    <a:latin typeface="Comic Sans MS" panose="030F0702030302020204" pitchFamily="66" charset="0"/>
                  </a:rPr>
                  <a:t>21</a:t>
                </a:r>
              </a:p>
            </p:txBody>
          </p:sp>
          <p:sp>
            <p:nvSpPr>
              <p:cNvPr id="32" name="Rectangle 13">
                <a:extLst>
                  <a:ext uri="{FF2B5EF4-FFF2-40B4-BE49-F238E27FC236}">
                    <a16:creationId xmlns:a16="http://schemas.microsoft.com/office/drawing/2014/main" id="{9074AAA1-0968-41A9-AD99-43BF896CAA30}"/>
                  </a:ext>
                </a:extLst>
              </p:cNvPr>
              <p:cNvSpPr>
                <a:spLocks noChangeArrowheads="1"/>
              </p:cNvSpPr>
              <p:nvPr/>
            </p:nvSpPr>
            <p:spPr bwMode="auto">
              <a:xfrm>
                <a:off x="2260" y="1252"/>
                <a:ext cx="424" cy="232"/>
              </a:xfrm>
              <a:prstGeom prst="rect">
                <a:avLst/>
              </a:prstGeom>
              <a:solidFill>
                <a:schemeClr val="accent4">
                  <a:lumMod val="20000"/>
                  <a:lumOff val="80000"/>
                </a:schemeClr>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a:solidFill>
                      <a:srgbClr val="104E87"/>
                    </a:solidFill>
                    <a:latin typeface="Comic Sans MS" panose="030F0702030302020204" pitchFamily="66" charset="0"/>
                  </a:rPr>
                  <a:t>37</a:t>
                </a:r>
              </a:p>
            </p:txBody>
          </p:sp>
          <p:sp>
            <p:nvSpPr>
              <p:cNvPr id="33" name="Rectangle 14">
                <a:extLst>
                  <a:ext uri="{FF2B5EF4-FFF2-40B4-BE49-F238E27FC236}">
                    <a16:creationId xmlns:a16="http://schemas.microsoft.com/office/drawing/2014/main" id="{B0F2F7F8-C6C6-409E-8ABD-86D60B2C8BDE}"/>
                  </a:ext>
                </a:extLst>
              </p:cNvPr>
              <p:cNvSpPr>
                <a:spLocks noChangeArrowheads="1"/>
              </p:cNvSpPr>
              <p:nvPr/>
            </p:nvSpPr>
            <p:spPr bwMode="auto">
              <a:xfrm>
                <a:off x="2692" y="1252"/>
                <a:ext cx="424" cy="232"/>
              </a:xfrm>
              <a:prstGeom prst="rect">
                <a:avLst/>
              </a:prstGeom>
              <a:solidFill>
                <a:schemeClr val="accent4">
                  <a:lumMod val="20000"/>
                  <a:lumOff val="80000"/>
                </a:schemeClr>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dirty="0">
                    <a:solidFill>
                      <a:srgbClr val="104E87"/>
                    </a:solidFill>
                    <a:latin typeface="Comic Sans MS" panose="030F0702030302020204" pitchFamily="66" charset="0"/>
                  </a:rPr>
                  <a:t>56</a:t>
                </a:r>
              </a:p>
            </p:txBody>
          </p:sp>
        </p:grpSp>
        <p:sp>
          <p:nvSpPr>
            <p:cNvPr id="23" name="Rectangle 15">
              <a:extLst>
                <a:ext uri="{FF2B5EF4-FFF2-40B4-BE49-F238E27FC236}">
                  <a16:creationId xmlns:a16="http://schemas.microsoft.com/office/drawing/2014/main" id="{70B59047-BE68-48A5-B42D-A0A6A28620BB}"/>
                </a:ext>
              </a:extLst>
            </p:cNvPr>
            <p:cNvSpPr>
              <a:spLocks noChangeArrowheads="1"/>
            </p:cNvSpPr>
            <p:nvPr/>
          </p:nvSpPr>
          <p:spPr bwMode="auto">
            <a:xfrm>
              <a:off x="3124" y="1252"/>
              <a:ext cx="424" cy="232"/>
            </a:xfrm>
            <a:prstGeom prst="rect">
              <a:avLst/>
            </a:prstGeom>
            <a:solidFill>
              <a:schemeClr val="accent4">
                <a:lumMod val="20000"/>
                <a:lumOff val="80000"/>
              </a:schemeClr>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a:solidFill>
                    <a:srgbClr val="104E87"/>
                  </a:solidFill>
                  <a:latin typeface="Comic Sans MS" panose="030F0702030302020204" pitchFamily="66" charset="0"/>
                </a:rPr>
                <a:t>64</a:t>
              </a:r>
            </a:p>
          </p:txBody>
        </p:sp>
        <p:sp>
          <p:nvSpPr>
            <p:cNvPr id="24" name="Rectangle 16">
              <a:extLst>
                <a:ext uri="{FF2B5EF4-FFF2-40B4-BE49-F238E27FC236}">
                  <a16:creationId xmlns:a16="http://schemas.microsoft.com/office/drawing/2014/main" id="{9EA4C0DC-0D99-4A6C-8AF6-0F40F26E3A6F}"/>
                </a:ext>
              </a:extLst>
            </p:cNvPr>
            <p:cNvSpPr>
              <a:spLocks noChangeArrowheads="1"/>
            </p:cNvSpPr>
            <p:nvPr/>
          </p:nvSpPr>
          <p:spPr bwMode="auto">
            <a:xfrm>
              <a:off x="3556" y="1252"/>
              <a:ext cx="424" cy="232"/>
            </a:xfrm>
            <a:prstGeom prst="rect">
              <a:avLst/>
            </a:prstGeom>
            <a:solidFill>
              <a:schemeClr val="accent4">
                <a:lumMod val="20000"/>
                <a:lumOff val="80000"/>
              </a:schemeClr>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dirty="0">
                  <a:solidFill>
                    <a:srgbClr val="104E87"/>
                  </a:solidFill>
                  <a:latin typeface="Comic Sans MS" panose="030F0702030302020204" pitchFamily="66" charset="0"/>
                </a:rPr>
                <a:t>75</a:t>
              </a:r>
            </a:p>
          </p:txBody>
        </p:sp>
        <p:sp>
          <p:nvSpPr>
            <p:cNvPr id="25" name="Rectangle 17">
              <a:extLst>
                <a:ext uri="{FF2B5EF4-FFF2-40B4-BE49-F238E27FC236}">
                  <a16:creationId xmlns:a16="http://schemas.microsoft.com/office/drawing/2014/main" id="{DA5A9FA4-BC4B-4BD7-AEA6-003D0D334AA6}"/>
                </a:ext>
              </a:extLst>
            </p:cNvPr>
            <p:cNvSpPr>
              <a:spLocks noChangeArrowheads="1"/>
            </p:cNvSpPr>
            <p:nvPr/>
          </p:nvSpPr>
          <p:spPr bwMode="auto">
            <a:xfrm>
              <a:off x="3988" y="1252"/>
              <a:ext cx="424" cy="232"/>
            </a:xfrm>
            <a:prstGeom prst="rect">
              <a:avLst/>
            </a:prstGeom>
            <a:solidFill>
              <a:schemeClr val="accent4">
                <a:lumMod val="20000"/>
                <a:lumOff val="80000"/>
              </a:schemeClr>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dirty="0">
                  <a:solidFill>
                    <a:srgbClr val="104E87"/>
                  </a:solidFill>
                  <a:latin typeface="Comic Sans MS" panose="030F0702030302020204" pitchFamily="66" charset="0"/>
                </a:rPr>
                <a:t>80</a:t>
              </a:r>
            </a:p>
          </p:txBody>
        </p:sp>
        <p:sp>
          <p:nvSpPr>
            <p:cNvPr id="26" name="Rectangle 18">
              <a:extLst>
                <a:ext uri="{FF2B5EF4-FFF2-40B4-BE49-F238E27FC236}">
                  <a16:creationId xmlns:a16="http://schemas.microsoft.com/office/drawing/2014/main" id="{BC2AEC39-EAFC-450F-8686-438624BB8A2A}"/>
                </a:ext>
              </a:extLst>
            </p:cNvPr>
            <p:cNvSpPr>
              <a:spLocks noChangeArrowheads="1"/>
            </p:cNvSpPr>
            <p:nvPr/>
          </p:nvSpPr>
          <p:spPr bwMode="auto">
            <a:xfrm>
              <a:off x="4420" y="1256"/>
              <a:ext cx="424" cy="228"/>
            </a:xfrm>
            <a:prstGeom prst="rect">
              <a:avLst/>
            </a:prstGeom>
            <a:solidFill>
              <a:schemeClr val="accent4">
                <a:lumMod val="20000"/>
                <a:lumOff val="80000"/>
              </a:schemeClr>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dirty="0">
                  <a:solidFill>
                    <a:srgbClr val="104E87"/>
                  </a:solidFill>
                  <a:latin typeface="Comic Sans MS" panose="030F0702030302020204" pitchFamily="66" charset="0"/>
                </a:rPr>
                <a:t>88</a:t>
              </a:r>
            </a:p>
          </p:txBody>
        </p:sp>
        <p:sp>
          <p:nvSpPr>
            <p:cNvPr id="27" name="Rectangle 19">
              <a:extLst>
                <a:ext uri="{FF2B5EF4-FFF2-40B4-BE49-F238E27FC236}">
                  <a16:creationId xmlns:a16="http://schemas.microsoft.com/office/drawing/2014/main" id="{8441695F-23D0-4AD5-9011-CCD92B800615}"/>
                </a:ext>
              </a:extLst>
            </p:cNvPr>
            <p:cNvSpPr>
              <a:spLocks noChangeArrowheads="1"/>
            </p:cNvSpPr>
            <p:nvPr/>
          </p:nvSpPr>
          <p:spPr bwMode="auto">
            <a:xfrm>
              <a:off x="4852" y="1252"/>
              <a:ext cx="424" cy="232"/>
            </a:xfrm>
            <a:prstGeom prst="rect">
              <a:avLst/>
            </a:prstGeom>
            <a:solidFill>
              <a:schemeClr val="accent4">
                <a:lumMod val="20000"/>
                <a:lumOff val="80000"/>
              </a:schemeClr>
            </a:solid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dirty="0">
                  <a:solidFill>
                    <a:srgbClr val="104E87"/>
                  </a:solidFill>
                  <a:latin typeface="Comic Sans MS" panose="030F0702030302020204" pitchFamily="66" charset="0"/>
                </a:rPr>
                <a:t>92</a:t>
              </a:r>
            </a:p>
          </p:txBody>
        </p:sp>
      </p:grpSp>
      <p:sp>
        <p:nvSpPr>
          <p:cNvPr id="9" name="矩形 8">
            <a:extLst>
              <a:ext uri="{FF2B5EF4-FFF2-40B4-BE49-F238E27FC236}">
                <a16:creationId xmlns:a16="http://schemas.microsoft.com/office/drawing/2014/main" id="{2B93A15E-95A4-4803-B6B7-408EEE304F56}"/>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10" name="直线连接符 6">
            <a:extLst>
              <a:ext uri="{FF2B5EF4-FFF2-40B4-BE49-F238E27FC236}">
                <a16:creationId xmlns:a16="http://schemas.microsoft.com/office/drawing/2014/main" id="{12F22D8F-613C-43AA-B50E-A9DF05644035}"/>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8" name="文本框 7">
            <a:extLst>
              <a:ext uri="{FF2B5EF4-FFF2-40B4-BE49-F238E27FC236}">
                <a16:creationId xmlns:a16="http://schemas.microsoft.com/office/drawing/2014/main" id="{C899566F-7EAD-4D42-9DA3-3A01BCA184E5}"/>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11.3 </a:t>
            </a:r>
            <a:r>
              <a:rPr lang="zh-CN" altLang="en-US" dirty="0">
                <a:sym typeface="+mn-lt"/>
              </a:rPr>
              <a:t>案例</a:t>
            </a:r>
            <a:r>
              <a:rPr lang="en-US" altLang="zh-CN" dirty="0">
                <a:sym typeface="+mn-lt"/>
              </a:rPr>
              <a:t>——</a:t>
            </a:r>
            <a:r>
              <a:rPr lang="zh-CN" altLang="en-US" dirty="0">
                <a:sym typeface="+mn-lt"/>
              </a:rPr>
              <a:t>数组排序与查找</a:t>
            </a:r>
          </a:p>
        </p:txBody>
      </p:sp>
      <p:sp>
        <p:nvSpPr>
          <p:cNvPr id="14" name="矩形 5">
            <a:extLst>
              <a:ext uri="{FF2B5EF4-FFF2-40B4-BE49-F238E27FC236}">
                <a16:creationId xmlns:a16="http://schemas.microsoft.com/office/drawing/2014/main" id="{86B08297-B24F-470F-B351-53B38E6C8C57}"/>
              </a:ext>
            </a:extLst>
          </p:cNvPr>
          <p:cNvSpPr>
            <a:spLocks noChangeArrowheads="1"/>
          </p:cNvSpPr>
          <p:nvPr/>
        </p:nvSpPr>
        <p:spPr bwMode="auto">
          <a:xfrm>
            <a:off x="6600092" y="905715"/>
            <a:ext cx="559032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FF0000"/>
                </a:solidFill>
                <a:latin typeface="华光行书_CNKI" panose="02000500000000000000" pitchFamily="2" charset="-122"/>
                <a:ea typeface="华光行书_CNKI" panose="02000500000000000000" pitchFamily="2" charset="-122"/>
              </a:rPr>
              <a:t>折半查找</a:t>
            </a:r>
            <a:r>
              <a:rPr lang="en-US" altLang="zh-CN" b="1" dirty="0">
                <a:solidFill>
                  <a:srgbClr val="FF0000"/>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对于已按关键字排序的序列</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经过一次比较</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可将序列分割成两部分</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然后只在有可能包含待查元素的一部分中继续查找</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并根据试探结果继续分割</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逐步缩小查找范围</a:t>
            </a:r>
            <a:r>
              <a:rPr lang="en-US" altLang="zh-CN" dirty="0">
                <a:solidFill>
                  <a:srgbClr val="104E87"/>
                </a:solidFill>
                <a:latin typeface="华光行书_CNKI" panose="02000500000000000000" pitchFamily="2" charset="-122"/>
                <a:ea typeface="华光行书_CNKI" panose="02000500000000000000" pitchFamily="2" charset="-122"/>
              </a:rPr>
              <a:t>,</a:t>
            </a:r>
            <a:r>
              <a:rPr lang="zh-CN" altLang="en-US" dirty="0">
                <a:solidFill>
                  <a:srgbClr val="104E87"/>
                </a:solidFill>
                <a:latin typeface="华光行书_CNKI" panose="02000500000000000000" pitchFamily="2" charset="-122"/>
                <a:ea typeface="华光行书_CNKI" panose="02000500000000000000" pitchFamily="2" charset="-122"/>
              </a:rPr>
              <a:t>直至找到或找不到为止。</a:t>
            </a:r>
          </a:p>
        </p:txBody>
      </p:sp>
      <p:grpSp>
        <p:nvGrpSpPr>
          <p:cNvPr id="17" name="Group 4">
            <a:extLst>
              <a:ext uri="{FF2B5EF4-FFF2-40B4-BE49-F238E27FC236}">
                <a16:creationId xmlns:a16="http://schemas.microsoft.com/office/drawing/2014/main" id="{8A1D8E09-E5D5-4DBC-830F-ADBBD89A98E8}"/>
              </a:ext>
            </a:extLst>
          </p:cNvPr>
          <p:cNvGrpSpPr>
            <a:grpSpLocks/>
          </p:cNvGrpSpPr>
          <p:nvPr/>
        </p:nvGrpSpPr>
        <p:grpSpPr bwMode="auto">
          <a:xfrm>
            <a:off x="10772" y="1468508"/>
            <a:ext cx="573088" cy="533400"/>
            <a:chOff x="288" y="1613"/>
            <a:chExt cx="361" cy="336"/>
          </a:xfrm>
        </p:grpSpPr>
        <p:sp>
          <p:nvSpPr>
            <p:cNvPr id="19" name="Rectangle 5">
              <a:extLst>
                <a:ext uri="{FF2B5EF4-FFF2-40B4-BE49-F238E27FC236}">
                  <a16:creationId xmlns:a16="http://schemas.microsoft.com/office/drawing/2014/main" id="{5904628D-4E67-4063-8702-119111E77581}"/>
                </a:ext>
              </a:extLst>
            </p:cNvPr>
            <p:cNvSpPr>
              <a:spLocks noChangeArrowheads="1"/>
            </p:cNvSpPr>
            <p:nvPr/>
          </p:nvSpPr>
          <p:spPr bwMode="auto">
            <a:xfrm>
              <a:off x="288" y="1688"/>
              <a:ext cx="36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defTabSz="76200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defTabSz="7620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defTabSz="7620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defTabSz="7620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spcBef>
                  <a:spcPct val="0"/>
                </a:spcBef>
                <a:buClrTx/>
                <a:buSzTx/>
                <a:buFontTx/>
                <a:buNone/>
              </a:pPr>
              <a:r>
                <a:rPr kumimoji="1" lang="en-US" altLang="zh-CN" sz="2000" dirty="0">
                  <a:solidFill>
                    <a:srgbClr val="104E87"/>
                  </a:solidFill>
                  <a:latin typeface="Comic Sans MS" panose="030F0702030302020204" pitchFamily="66" charset="0"/>
                  <a:ea typeface="隶书" panose="02010509060101010101" pitchFamily="49" charset="-122"/>
                </a:rPr>
                <a:t>L=1</a:t>
              </a:r>
            </a:p>
          </p:txBody>
        </p:sp>
        <p:sp>
          <p:nvSpPr>
            <p:cNvPr id="20" name="Line 6">
              <a:extLst>
                <a:ext uri="{FF2B5EF4-FFF2-40B4-BE49-F238E27FC236}">
                  <a16:creationId xmlns:a16="http://schemas.microsoft.com/office/drawing/2014/main" id="{7502DC5E-FE09-4319-9B76-E08102138253}"/>
                </a:ext>
              </a:extLst>
            </p:cNvPr>
            <p:cNvSpPr>
              <a:spLocks noChangeShapeType="1"/>
            </p:cNvSpPr>
            <p:nvPr/>
          </p:nvSpPr>
          <p:spPr bwMode="auto">
            <a:xfrm flipV="1">
              <a:off x="623" y="1613"/>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solidFill>
                  <a:srgbClr val="104E87"/>
                </a:solidFill>
                <a:latin typeface="Comic Sans MS" panose="030F0702030302020204" pitchFamily="66" charset="0"/>
              </a:endParaRPr>
            </a:p>
          </p:txBody>
        </p:sp>
      </p:grpSp>
      <p:grpSp>
        <p:nvGrpSpPr>
          <p:cNvPr id="34" name="Group 20">
            <a:extLst>
              <a:ext uri="{FF2B5EF4-FFF2-40B4-BE49-F238E27FC236}">
                <a16:creationId xmlns:a16="http://schemas.microsoft.com/office/drawing/2014/main" id="{49942006-D8D7-4A7C-ACA0-78DA91A76491}"/>
              </a:ext>
            </a:extLst>
          </p:cNvPr>
          <p:cNvGrpSpPr>
            <a:grpSpLocks/>
          </p:cNvGrpSpPr>
          <p:nvPr/>
        </p:nvGrpSpPr>
        <p:grpSpPr bwMode="auto">
          <a:xfrm>
            <a:off x="5695393" y="1502626"/>
            <a:ext cx="746126" cy="533400"/>
            <a:chOff x="4844" y="1613"/>
            <a:chExt cx="470" cy="336"/>
          </a:xfrm>
        </p:grpSpPr>
        <p:sp>
          <p:nvSpPr>
            <p:cNvPr id="35" name="Rectangle 21">
              <a:extLst>
                <a:ext uri="{FF2B5EF4-FFF2-40B4-BE49-F238E27FC236}">
                  <a16:creationId xmlns:a16="http://schemas.microsoft.com/office/drawing/2014/main" id="{A7FA05A6-AECD-465D-B99B-DDC4A1470972}"/>
                </a:ext>
              </a:extLst>
            </p:cNvPr>
            <p:cNvSpPr>
              <a:spLocks noChangeArrowheads="1"/>
            </p:cNvSpPr>
            <p:nvPr/>
          </p:nvSpPr>
          <p:spPr bwMode="auto">
            <a:xfrm>
              <a:off x="4844" y="1634"/>
              <a:ext cx="4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defTabSz="76200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defTabSz="7620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defTabSz="7620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defTabSz="7620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spcBef>
                  <a:spcPct val="0"/>
                </a:spcBef>
                <a:buClrTx/>
                <a:buSzTx/>
                <a:buFontTx/>
                <a:buNone/>
              </a:pPr>
              <a:r>
                <a:rPr kumimoji="1" lang="en-US" altLang="zh-CN" sz="2000" dirty="0">
                  <a:solidFill>
                    <a:srgbClr val="104E87"/>
                  </a:solidFill>
                  <a:latin typeface="Comic Sans MS" panose="030F0702030302020204" pitchFamily="66" charset="0"/>
                  <a:ea typeface="隶书" panose="02010509060101010101" pitchFamily="49" charset="-122"/>
                </a:rPr>
                <a:t>H=11</a:t>
              </a:r>
            </a:p>
          </p:txBody>
        </p:sp>
        <p:sp>
          <p:nvSpPr>
            <p:cNvPr id="36" name="Line 22">
              <a:extLst>
                <a:ext uri="{FF2B5EF4-FFF2-40B4-BE49-F238E27FC236}">
                  <a16:creationId xmlns:a16="http://schemas.microsoft.com/office/drawing/2014/main" id="{D7B2CED0-4E9A-4CD7-8727-80DC2C367D28}"/>
                </a:ext>
              </a:extLst>
            </p:cNvPr>
            <p:cNvSpPr>
              <a:spLocks noChangeShapeType="1"/>
            </p:cNvSpPr>
            <p:nvPr/>
          </p:nvSpPr>
          <p:spPr bwMode="auto">
            <a:xfrm flipV="1">
              <a:off x="5285" y="1613"/>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solidFill>
                  <a:srgbClr val="104E87"/>
                </a:solidFill>
                <a:latin typeface="Comic Sans MS" panose="030F0702030302020204" pitchFamily="66" charset="0"/>
              </a:endParaRPr>
            </a:p>
          </p:txBody>
        </p:sp>
      </p:grpSp>
      <p:grpSp>
        <p:nvGrpSpPr>
          <p:cNvPr id="37" name="Group 23">
            <a:extLst>
              <a:ext uri="{FF2B5EF4-FFF2-40B4-BE49-F238E27FC236}">
                <a16:creationId xmlns:a16="http://schemas.microsoft.com/office/drawing/2014/main" id="{525B00FD-6118-4E1E-BD02-139492817C01}"/>
              </a:ext>
            </a:extLst>
          </p:cNvPr>
          <p:cNvGrpSpPr>
            <a:grpSpLocks/>
          </p:cNvGrpSpPr>
          <p:nvPr/>
        </p:nvGrpSpPr>
        <p:grpSpPr bwMode="auto">
          <a:xfrm>
            <a:off x="987300" y="1469296"/>
            <a:ext cx="2930525" cy="565152"/>
            <a:chOff x="1790" y="1563"/>
            <a:chExt cx="1846" cy="356"/>
          </a:xfrm>
        </p:grpSpPr>
        <p:sp>
          <p:nvSpPr>
            <p:cNvPr id="38" name="Line 24">
              <a:extLst>
                <a:ext uri="{FF2B5EF4-FFF2-40B4-BE49-F238E27FC236}">
                  <a16:creationId xmlns:a16="http://schemas.microsoft.com/office/drawing/2014/main" id="{BC328AA4-F178-45E6-9275-1882AD2E9EC7}"/>
                </a:ext>
              </a:extLst>
            </p:cNvPr>
            <p:cNvSpPr>
              <a:spLocks noChangeShapeType="1"/>
            </p:cNvSpPr>
            <p:nvPr/>
          </p:nvSpPr>
          <p:spPr bwMode="auto">
            <a:xfrm flipV="1">
              <a:off x="3333" y="1563"/>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solidFill>
                  <a:srgbClr val="104E87"/>
                </a:solidFill>
                <a:latin typeface="Comic Sans MS" panose="030F0702030302020204" pitchFamily="66" charset="0"/>
              </a:endParaRPr>
            </a:p>
          </p:txBody>
        </p:sp>
        <p:sp>
          <p:nvSpPr>
            <p:cNvPr id="39" name="Rectangle 25">
              <a:extLst>
                <a:ext uri="{FF2B5EF4-FFF2-40B4-BE49-F238E27FC236}">
                  <a16:creationId xmlns:a16="http://schemas.microsoft.com/office/drawing/2014/main" id="{7C373C7B-2BB8-4DB3-9363-A4E3CD075954}"/>
                </a:ext>
              </a:extLst>
            </p:cNvPr>
            <p:cNvSpPr>
              <a:spLocks noChangeArrowheads="1"/>
            </p:cNvSpPr>
            <p:nvPr/>
          </p:nvSpPr>
          <p:spPr bwMode="auto">
            <a:xfrm>
              <a:off x="1790" y="1667"/>
              <a:ext cx="1846" cy="252"/>
            </a:xfrm>
            <a:prstGeom prst="rect">
              <a:avLst/>
            </a:prstGeom>
            <a:noFill/>
            <a:ln>
              <a:noFill/>
            </a:ln>
          </p:spPr>
          <p:txBody>
            <a:bodyPr wrap="square" lIns="92075" tIns="46038" rIns="92075" bIns="46038">
              <a:spAutoFit/>
            </a:bodyPr>
            <a:lstStyle/>
            <a:p>
              <a:pPr defTabSz="762000">
                <a:defRPr/>
              </a:pPr>
              <a:r>
                <a:rPr lang="en-US" altLang="zh-CN" sz="2000" dirty="0">
                  <a:solidFill>
                    <a:srgbClr val="104E87"/>
                  </a:solidFill>
                  <a:latin typeface="Comic Sans MS" panose="030F0702030302020204" pitchFamily="66" charset="0"/>
                  <a:ea typeface="隶书" pitchFamily="49" charset="-122"/>
                </a:rPr>
                <a:t>M =INT((L+H)/2)=6</a:t>
              </a:r>
            </a:p>
          </p:txBody>
        </p:sp>
      </p:grpSp>
      <p:grpSp>
        <p:nvGrpSpPr>
          <p:cNvPr id="40" name="Group 26">
            <a:extLst>
              <a:ext uri="{FF2B5EF4-FFF2-40B4-BE49-F238E27FC236}">
                <a16:creationId xmlns:a16="http://schemas.microsoft.com/office/drawing/2014/main" id="{5D384625-86ED-49E5-B9BD-95F78A81C8B3}"/>
              </a:ext>
            </a:extLst>
          </p:cNvPr>
          <p:cNvGrpSpPr>
            <a:grpSpLocks/>
          </p:cNvGrpSpPr>
          <p:nvPr/>
        </p:nvGrpSpPr>
        <p:grpSpPr bwMode="auto">
          <a:xfrm>
            <a:off x="-4987" y="2160657"/>
            <a:ext cx="2972700" cy="328587"/>
            <a:chOff x="532" y="2020"/>
            <a:chExt cx="2152" cy="232"/>
          </a:xfrm>
          <a:solidFill>
            <a:schemeClr val="accent4">
              <a:lumMod val="20000"/>
              <a:lumOff val="80000"/>
            </a:schemeClr>
          </a:solidFill>
        </p:grpSpPr>
        <p:sp>
          <p:nvSpPr>
            <p:cNvPr id="41" name="Rectangle 27">
              <a:extLst>
                <a:ext uri="{FF2B5EF4-FFF2-40B4-BE49-F238E27FC236}">
                  <a16:creationId xmlns:a16="http://schemas.microsoft.com/office/drawing/2014/main" id="{6BE21C35-283E-4F96-8C60-18186DB3BA82}"/>
                </a:ext>
              </a:extLst>
            </p:cNvPr>
            <p:cNvSpPr>
              <a:spLocks noChangeArrowheads="1"/>
            </p:cNvSpPr>
            <p:nvPr/>
          </p:nvSpPr>
          <p:spPr bwMode="auto">
            <a:xfrm>
              <a:off x="532" y="2020"/>
              <a:ext cx="424" cy="232"/>
            </a:xfrm>
            <a:prstGeom prst="rect">
              <a:avLst/>
            </a:prstGeom>
            <a:grp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defTabSz="76200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defTabSz="7620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defTabSz="7620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defTabSz="7620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lgn="ctr">
                <a:spcBef>
                  <a:spcPct val="0"/>
                </a:spcBef>
                <a:buClrTx/>
                <a:buSzTx/>
                <a:buFontTx/>
                <a:buNone/>
              </a:pPr>
              <a:r>
                <a:rPr kumimoji="1" lang="en-US" altLang="zh-CN" sz="2000">
                  <a:solidFill>
                    <a:srgbClr val="104E87"/>
                  </a:solidFill>
                  <a:latin typeface="Comic Sans MS" panose="030F0702030302020204" pitchFamily="66" charset="0"/>
                  <a:ea typeface="隶书" panose="02010509060101010101" pitchFamily="49" charset="-122"/>
                </a:rPr>
                <a:t>5</a:t>
              </a:r>
            </a:p>
          </p:txBody>
        </p:sp>
        <p:sp>
          <p:nvSpPr>
            <p:cNvPr id="42" name="Rectangle 28">
              <a:extLst>
                <a:ext uri="{FF2B5EF4-FFF2-40B4-BE49-F238E27FC236}">
                  <a16:creationId xmlns:a16="http://schemas.microsoft.com/office/drawing/2014/main" id="{C32950F7-94D5-4B7A-9757-DAE42A93D5DD}"/>
                </a:ext>
              </a:extLst>
            </p:cNvPr>
            <p:cNvSpPr>
              <a:spLocks noChangeArrowheads="1"/>
            </p:cNvSpPr>
            <p:nvPr/>
          </p:nvSpPr>
          <p:spPr bwMode="auto">
            <a:xfrm>
              <a:off x="964" y="2020"/>
              <a:ext cx="424" cy="232"/>
            </a:xfrm>
            <a:prstGeom prst="rect">
              <a:avLst/>
            </a:prstGeom>
            <a:grp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a:solidFill>
                    <a:srgbClr val="104E87"/>
                  </a:solidFill>
                  <a:latin typeface="Comic Sans MS" panose="030F0702030302020204" pitchFamily="66" charset="0"/>
                </a:rPr>
                <a:t>13</a:t>
              </a:r>
            </a:p>
          </p:txBody>
        </p:sp>
        <p:sp>
          <p:nvSpPr>
            <p:cNvPr id="43" name="Rectangle 29">
              <a:extLst>
                <a:ext uri="{FF2B5EF4-FFF2-40B4-BE49-F238E27FC236}">
                  <a16:creationId xmlns:a16="http://schemas.microsoft.com/office/drawing/2014/main" id="{8944FE89-5873-4788-B2AF-23EC47317826}"/>
                </a:ext>
              </a:extLst>
            </p:cNvPr>
            <p:cNvSpPr>
              <a:spLocks noChangeArrowheads="1"/>
            </p:cNvSpPr>
            <p:nvPr/>
          </p:nvSpPr>
          <p:spPr bwMode="auto">
            <a:xfrm>
              <a:off x="1396" y="2020"/>
              <a:ext cx="424" cy="232"/>
            </a:xfrm>
            <a:prstGeom prst="rect">
              <a:avLst/>
            </a:prstGeom>
            <a:grp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a:solidFill>
                    <a:srgbClr val="104E87"/>
                  </a:solidFill>
                  <a:latin typeface="Comic Sans MS" panose="030F0702030302020204" pitchFamily="66" charset="0"/>
                </a:rPr>
                <a:t>19</a:t>
              </a:r>
            </a:p>
          </p:txBody>
        </p:sp>
        <p:grpSp>
          <p:nvGrpSpPr>
            <p:cNvPr id="44" name="Group 30">
              <a:extLst>
                <a:ext uri="{FF2B5EF4-FFF2-40B4-BE49-F238E27FC236}">
                  <a16:creationId xmlns:a16="http://schemas.microsoft.com/office/drawing/2014/main" id="{5826D51A-D86A-436F-B283-5BED2048012E}"/>
                </a:ext>
              </a:extLst>
            </p:cNvPr>
            <p:cNvGrpSpPr>
              <a:grpSpLocks/>
            </p:cNvGrpSpPr>
            <p:nvPr/>
          </p:nvGrpSpPr>
          <p:grpSpPr bwMode="auto">
            <a:xfrm>
              <a:off x="1828" y="2020"/>
              <a:ext cx="856" cy="232"/>
              <a:chOff x="1828" y="2020"/>
              <a:chExt cx="856" cy="232"/>
            </a:xfrm>
            <a:grpFill/>
          </p:grpSpPr>
          <p:sp>
            <p:nvSpPr>
              <p:cNvPr id="45" name="Rectangle 31">
                <a:extLst>
                  <a:ext uri="{FF2B5EF4-FFF2-40B4-BE49-F238E27FC236}">
                    <a16:creationId xmlns:a16="http://schemas.microsoft.com/office/drawing/2014/main" id="{A6C0C919-8AE1-40F4-BB12-358199FDC9F3}"/>
                  </a:ext>
                </a:extLst>
              </p:cNvPr>
              <p:cNvSpPr>
                <a:spLocks noChangeArrowheads="1"/>
              </p:cNvSpPr>
              <p:nvPr/>
            </p:nvSpPr>
            <p:spPr bwMode="auto">
              <a:xfrm>
                <a:off x="1828" y="2020"/>
                <a:ext cx="424" cy="232"/>
              </a:xfrm>
              <a:prstGeom prst="rect">
                <a:avLst/>
              </a:prstGeom>
              <a:grp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dirty="0">
                    <a:solidFill>
                      <a:srgbClr val="FF0000"/>
                    </a:solidFill>
                    <a:latin typeface="Comic Sans MS" panose="030F0702030302020204" pitchFamily="66" charset="0"/>
                  </a:rPr>
                  <a:t>21</a:t>
                </a:r>
              </a:p>
            </p:txBody>
          </p:sp>
          <p:sp>
            <p:nvSpPr>
              <p:cNvPr id="46" name="Rectangle 32">
                <a:extLst>
                  <a:ext uri="{FF2B5EF4-FFF2-40B4-BE49-F238E27FC236}">
                    <a16:creationId xmlns:a16="http://schemas.microsoft.com/office/drawing/2014/main" id="{0FF728F0-7884-4F57-BA2C-B2CF608E86D0}"/>
                  </a:ext>
                </a:extLst>
              </p:cNvPr>
              <p:cNvSpPr>
                <a:spLocks noChangeArrowheads="1"/>
              </p:cNvSpPr>
              <p:nvPr/>
            </p:nvSpPr>
            <p:spPr bwMode="auto">
              <a:xfrm>
                <a:off x="2260" y="2020"/>
                <a:ext cx="424" cy="232"/>
              </a:xfrm>
              <a:prstGeom prst="rect">
                <a:avLst/>
              </a:prstGeom>
              <a:grp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a:solidFill>
                      <a:srgbClr val="104E87"/>
                    </a:solidFill>
                    <a:latin typeface="Comic Sans MS" panose="030F0702030302020204" pitchFamily="66" charset="0"/>
                  </a:rPr>
                  <a:t>37</a:t>
                </a:r>
              </a:p>
            </p:txBody>
          </p:sp>
        </p:grpSp>
      </p:grpSp>
      <p:grpSp>
        <p:nvGrpSpPr>
          <p:cNvPr id="47" name="Group 33">
            <a:extLst>
              <a:ext uri="{FF2B5EF4-FFF2-40B4-BE49-F238E27FC236}">
                <a16:creationId xmlns:a16="http://schemas.microsoft.com/office/drawing/2014/main" id="{A99B1B37-D8AC-4BA7-AB85-7467DA05F943}"/>
              </a:ext>
            </a:extLst>
          </p:cNvPr>
          <p:cNvGrpSpPr>
            <a:grpSpLocks/>
          </p:cNvGrpSpPr>
          <p:nvPr/>
        </p:nvGrpSpPr>
        <p:grpSpPr bwMode="auto">
          <a:xfrm>
            <a:off x="-92335" y="2462887"/>
            <a:ext cx="585700" cy="597345"/>
            <a:chOff x="303" y="2209"/>
            <a:chExt cx="408" cy="336"/>
          </a:xfrm>
        </p:grpSpPr>
        <p:sp>
          <p:nvSpPr>
            <p:cNvPr id="48" name="Rectangle 34">
              <a:extLst>
                <a:ext uri="{FF2B5EF4-FFF2-40B4-BE49-F238E27FC236}">
                  <a16:creationId xmlns:a16="http://schemas.microsoft.com/office/drawing/2014/main" id="{5A7E6ABF-6787-4A63-B066-518668A8C47D}"/>
                </a:ext>
              </a:extLst>
            </p:cNvPr>
            <p:cNvSpPr>
              <a:spLocks noChangeArrowheads="1"/>
            </p:cNvSpPr>
            <p:nvPr/>
          </p:nvSpPr>
          <p:spPr bwMode="auto">
            <a:xfrm>
              <a:off x="303" y="2311"/>
              <a:ext cx="400"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defTabSz="76200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defTabSz="7620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defTabSz="7620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defTabSz="7620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spcBef>
                  <a:spcPct val="0"/>
                </a:spcBef>
                <a:buClrTx/>
                <a:buSzTx/>
                <a:buFontTx/>
                <a:buNone/>
              </a:pPr>
              <a:r>
                <a:rPr kumimoji="1" lang="en-US" altLang="zh-CN" sz="2000" dirty="0">
                  <a:solidFill>
                    <a:srgbClr val="104E87"/>
                  </a:solidFill>
                  <a:latin typeface="Comic Sans MS" panose="030F0702030302020204" pitchFamily="66" charset="0"/>
                  <a:ea typeface="隶书" panose="02010509060101010101" pitchFamily="49" charset="-122"/>
                </a:rPr>
                <a:t>L=1</a:t>
              </a:r>
            </a:p>
          </p:txBody>
        </p:sp>
        <p:sp>
          <p:nvSpPr>
            <p:cNvPr id="49" name="Line 35">
              <a:extLst>
                <a:ext uri="{FF2B5EF4-FFF2-40B4-BE49-F238E27FC236}">
                  <a16:creationId xmlns:a16="http://schemas.microsoft.com/office/drawing/2014/main" id="{D8B47295-9C37-4C9E-A91A-03FD3E604F8B}"/>
                </a:ext>
              </a:extLst>
            </p:cNvPr>
            <p:cNvSpPr>
              <a:spLocks noChangeShapeType="1"/>
            </p:cNvSpPr>
            <p:nvPr/>
          </p:nvSpPr>
          <p:spPr bwMode="auto">
            <a:xfrm flipV="1">
              <a:off x="711" y="2209"/>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sz="2000">
                <a:solidFill>
                  <a:srgbClr val="104E87"/>
                </a:solidFill>
                <a:latin typeface="Comic Sans MS" panose="030F0702030302020204" pitchFamily="66" charset="0"/>
              </a:endParaRPr>
            </a:p>
          </p:txBody>
        </p:sp>
      </p:grpSp>
      <p:grpSp>
        <p:nvGrpSpPr>
          <p:cNvPr id="50" name="Group 36">
            <a:extLst>
              <a:ext uri="{FF2B5EF4-FFF2-40B4-BE49-F238E27FC236}">
                <a16:creationId xmlns:a16="http://schemas.microsoft.com/office/drawing/2014/main" id="{F75917C8-106B-42EB-AF50-81E7466BC51B}"/>
              </a:ext>
            </a:extLst>
          </p:cNvPr>
          <p:cNvGrpSpPr>
            <a:grpSpLocks/>
          </p:cNvGrpSpPr>
          <p:nvPr/>
        </p:nvGrpSpPr>
        <p:grpSpPr bwMode="auto">
          <a:xfrm>
            <a:off x="1706232" y="2506829"/>
            <a:ext cx="1162050" cy="568325"/>
            <a:chOff x="1721" y="2352"/>
            <a:chExt cx="732" cy="358"/>
          </a:xfrm>
        </p:grpSpPr>
        <p:sp>
          <p:nvSpPr>
            <p:cNvPr id="51" name="Rectangle 37">
              <a:extLst>
                <a:ext uri="{FF2B5EF4-FFF2-40B4-BE49-F238E27FC236}">
                  <a16:creationId xmlns:a16="http://schemas.microsoft.com/office/drawing/2014/main" id="{BEF90425-ABA5-4610-B899-92DE9F7D752D}"/>
                </a:ext>
              </a:extLst>
            </p:cNvPr>
            <p:cNvSpPr>
              <a:spLocks noChangeArrowheads="1"/>
            </p:cNvSpPr>
            <p:nvPr/>
          </p:nvSpPr>
          <p:spPr bwMode="auto">
            <a:xfrm>
              <a:off x="1721" y="2458"/>
              <a:ext cx="732" cy="252"/>
            </a:xfrm>
            <a:prstGeom prst="rect">
              <a:avLst/>
            </a:prstGeom>
            <a:noFill/>
            <a:ln>
              <a:noFill/>
            </a:ln>
          </p:spPr>
          <p:txBody>
            <a:bodyPr wrap="none" lIns="92075" tIns="46038" rIns="92075" bIns="46038">
              <a:spAutoFit/>
            </a:bodyPr>
            <a:lstStyle/>
            <a:p>
              <a:pPr defTabSz="762000">
                <a:defRPr/>
              </a:pPr>
              <a:r>
                <a:rPr lang="en-US" altLang="zh-CN" sz="2000" spc="-100" dirty="0">
                  <a:solidFill>
                    <a:srgbClr val="104E87"/>
                  </a:solidFill>
                  <a:latin typeface="Comic Sans MS" panose="030F0702030302020204" pitchFamily="66" charset="0"/>
                  <a:ea typeface="隶书" pitchFamily="49" charset="-122"/>
                </a:rPr>
                <a:t>H=M-1=5</a:t>
              </a:r>
            </a:p>
          </p:txBody>
        </p:sp>
        <p:sp>
          <p:nvSpPr>
            <p:cNvPr id="52" name="Line 38">
              <a:extLst>
                <a:ext uri="{FF2B5EF4-FFF2-40B4-BE49-F238E27FC236}">
                  <a16:creationId xmlns:a16="http://schemas.microsoft.com/office/drawing/2014/main" id="{C276B34E-73CE-4843-BA5D-954002D4968C}"/>
                </a:ext>
              </a:extLst>
            </p:cNvPr>
            <p:cNvSpPr>
              <a:spLocks noChangeShapeType="1"/>
            </p:cNvSpPr>
            <p:nvPr/>
          </p:nvSpPr>
          <p:spPr bwMode="auto">
            <a:xfrm flipV="1">
              <a:off x="2448"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solidFill>
                  <a:srgbClr val="104E87"/>
                </a:solidFill>
                <a:latin typeface="Comic Sans MS" panose="030F0702030302020204" pitchFamily="66" charset="0"/>
              </a:endParaRPr>
            </a:p>
          </p:txBody>
        </p:sp>
      </p:grpSp>
      <p:sp>
        <p:nvSpPr>
          <p:cNvPr id="53" name="Rectangle 39">
            <a:extLst>
              <a:ext uri="{FF2B5EF4-FFF2-40B4-BE49-F238E27FC236}">
                <a16:creationId xmlns:a16="http://schemas.microsoft.com/office/drawing/2014/main" id="{24C3CEAC-42F7-4CA1-82C9-1E2002697B42}"/>
              </a:ext>
            </a:extLst>
          </p:cNvPr>
          <p:cNvSpPr>
            <a:spLocks noChangeArrowheads="1"/>
          </p:cNvSpPr>
          <p:nvPr/>
        </p:nvSpPr>
        <p:spPr bwMode="auto">
          <a:xfrm>
            <a:off x="392764" y="3074287"/>
            <a:ext cx="2479846" cy="400752"/>
          </a:xfrm>
          <a:prstGeom prst="rect">
            <a:avLst/>
          </a:prstGeom>
          <a:noFill/>
          <a:ln>
            <a:noFill/>
          </a:ln>
        </p:spPr>
        <p:txBody>
          <a:bodyPr wrap="none" lIns="92075" tIns="46038" rIns="92075" bIns="46038">
            <a:spAutoFit/>
          </a:bodyPr>
          <a:lstStyle/>
          <a:p>
            <a:pPr defTabSz="762000">
              <a:defRPr/>
            </a:pPr>
            <a:r>
              <a:rPr lang="en-US" altLang="zh-CN" sz="2000" dirty="0">
                <a:solidFill>
                  <a:srgbClr val="104E87"/>
                </a:solidFill>
                <a:latin typeface="Comic Sans MS" panose="030F0702030302020204" pitchFamily="66" charset="0"/>
                <a:ea typeface="隶书" pitchFamily="49" charset="-122"/>
              </a:rPr>
              <a:t>M=INT((L+H)/2)=3</a:t>
            </a:r>
          </a:p>
        </p:txBody>
      </p:sp>
      <p:grpSp>
        <p:nvGrpSpPr>
          <p:cNvPr id="54" name="Group 40">
            <a:extLst>
              <a:ext uri="{FF2B5EF4-FFF2-40B4-BE49-F238E27FC236}">
                <a16:creationId xmlns:a16="http://schemas.microsoft.com/office/drawing/2014/main" id="{071B85F0-FB31-4AAB-AD70-0E0D4281040A}"/>
              </a:ext>
            </a:extLst>
          </p:cNvPr>
          <p:cNvGrpSpPr>
            <a:grpSpLocks/>
          </p:cNvGrpSpPr>
          <p:nvPr/>
        </p:nvGrpSpPr>
        <p:grpSpPr bwMode="auto">
          <a:xfrm>
            <a:off x="1164998" y="2511541"/>
            <a:ext cx="438150" cy="533400"/>
            <a:chOff x="1356" y="2352"/>
            <a:chExt cx="276" cy="336"/>
          </a:xfrm>
        </p:grpSpPr>
        <p:sp>
          <p:nvSpPr>
            <p:cNvPr id="55" name="Line 41">
              <a:extLst>
                <a:ext uri="{FF2B5EF4-FFF2-40B4-BE49-F238E27FC236}">
                  <a16:creationId xmlns:a16="http://schemas.microsoft.com/office/drawing/2014/main" id="{B1D81A13-0854-44D2-9153-BE36F8917A65}"/>
                </a:ext>
              </a:extLst>
            </p:cNvPr>
            <p:cNvSpPr>
              <a:spLocks noChangeShapeType="1"/>
            </p:cNvSpPr>
            <p:nvPr/>
          </p:nvSpPr>
          <p:spPr bwMode="auto">
            <a:xfrm flipV="1">
              <a:off x="1632" y="2352"/>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solidFill>
                  <a:srgbClr val="104E87"/>
                </a:solidFill>
                <a:latin typeface="Comic Sans MS" panose="030F0702030302020204" pitchFamily="66" charset="0"/>
              </a:endParaRPr>
            </a:p>
          </p:txBody>
        </p:sp>
        <p:sp>
          <p:nvSpPr>
            <p:cNvPr id="56" name="Rectangle 42">
              <a:extLst>
                <a:ext uri="{FF2B5EF4-FFF2-40B4-BE49-F238E27FC236}">
                  <a16:creationId xmlns:a16="http://schemas.microsoft.com/office/drawing/2014/main" id="{76C51C4F-189F-49BB-92A4-D969C7145980}"/>
                </a:ext>
              </a:extLst>
            </p:cNvPr>
            <p:cNvSpPr>
              <a:spLocks noChangeArrowheads="1"/>
            </p:cNvSpPr>
            <p:nvPr/>
          </p:nvSpPr>
          <p:spPr bwMode="auto">
            <a:xfrm>
              <a:off x="1356" y="2420"/>
              <a:ext cx="2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defTabSz="76200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defTabSz="7620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defTabSz="7620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defTabSz="7620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spcBef>
                  <a:spcPct val="0"/>
                </a:spcBef>
                <a:buClrTx/>
                <a:buSzTx/>
                <a:buFontTx/>
                <a:buNone/>
              </a:pPr>
              <a:r>
                <a:rPr kumimoji="1" lang="en-US" altLang="zh-CN" sz="2000" dirty="0">
                  <a:solidFill>
                    <a:srgbClr val="104E87"/>
                  </a:solidFill>
                  <a:latin typeface="Comic Sans MS" panose="030F0702030302020204" pitchFamily="66" charset="0"/>
                  <a:ea typeface="隶书" panose="02010509060101010101" pitchFamily="49" charset="-122"/>
                </a:rPr>
                <a:t>M</a:t>
              </a:r>
            </a:p>
          </p:txBody>
        </p:sp>
      </p:grpSp>
      <p:grpSp>
        <p:nvGrpSpPr>
          <p:cNvPr id="57" name="Group 43">
            <a:extLst>
              <a:ext uri="{FF2B5EF4-FFF2-40B4-BE49-F238E27FC236}">
                <a16:creationId xmlns:a16="http://schemas.microsoft.com/office/drawing/2014/main" id="{ACD00BBE-B9BB-4C28-86C9-D6AE5DC9BDFD}"/>
              </a:ext>
            </a:extLst>
          </p:cNvPr>
          <p:cNvGrpSpPr>
            <a:grpSpLocks/>
          </p:cNvGrpSpPr>
          <p:nvPr/>
        </p:nvGrpSpPr>
        <p:grpSpPr bwMode="auto">
          <a:xfrm>
            <a:off x="1853975" y="3608275"/>
            <a:ext cx="1176338" cy="400051"/>
            <a:chOff x="1828" y="2932"/>
            <a:chExt cx="856" cy="232"/>
          </a:xfrm>
          <a:solidFill>
            <a:schemeClr val="accent4">
              <a:lumMod val="20000"/>
              <a:lumOff val="80000"/>
            </a:schemeClr>
          </a:solidFill>
        </p:grpSpPr>
        <p:sp>
          <p:nvSpPr>
            <p:cNvPr id="58" name="Rectangle 44">
              <a:extLst>
                <a:ext uri="{FF2B5EF4-FFF2-40B4-BE49-F238E27FC236}">
                  <a16:creationId xmlns:a16="http://schemas.microsoft.com/office/drawing/2014/main" id="{75C1E212-90B3-46BF-81F7-C890D865321F}"/>
                </a:ext>
              </a:extLst>
            </p:cNvPr>
            <p:cNvSpPr>
              <a:spLocks noChangeArrowheads="1"/>
            </p:cNvSpPr>
            <p:nvPr/>
          </p:nvSpPr>
          <p:spPr bwMode="auto">
            <a:xfrm>
              <a:off x="1828" y="2932"/>
              <a:ext cx="424" cy="232"/>
            </a:xfrm>
            <a:prstGeom prst="rect">
              <a:avLst/>
            </a:prstGeom>
            <a:grp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dirty="0">
                  <a:solidFill>
                    <a:srgbClr val="FF0000"/>
                  </a:solidFill>
                  <a:latin typeface="Comic Sans MS" panose="030F0702030302020204" pitchFamily="66" charset="0"/>
                </a:rPr>
                <a:t>21</a:t>
              </a:r>
            </a:p>
          </p:txBody>
        </p:sp>
        <p:sp>
          <p:nvSpPr>
            <p:cNvPr id="59" name="Rectangle 45">
              <a:extLst>
                <a:ext uri="{FF2B5EF4-FFF2-40B4-BE49-F238E27FC236}">
                  <a16:creationId xmlns:a16="http://schemas.microsoft.com/office/drawing/2014/main" id="{3B8529A3-B862-4ECB-8CCE-150875B768F8}"/>
                </a:ext>
              </a:extLst>
            </p:cNvPr>
            <p:cNvSpPr>
              <a:spLocks noChangeArrowheads="1"/>
            </p:cNvSpPr>
            <p:nvPr/>
          </p:nvSpPr>
          <p:spPr bwMode="auto">
            <a:xfrm>
              <a:off x="2260" y="2932"/>
              <a:ext cx="424" cy="232"/>
            </a:xfrm>
            <a:prstGeom prst="rect">
              <a:avLst/>
            </a:prstGeom>
            <a:grpFill/>
            <a:ln w="12700">
              <a:solidFill>
                <a:schemeClr val="bg2"/>
              </a:solidFill>
              <a:miter lim="800000"/>
              <a:headEnd/>
              <a:tailEnd/>
            </a:ln>
            <a:effectLst>
              <a:outerShdw dist="107763" dir="2700000" algn="ctr" rotWithShape="0">
                <a:schemeClr val="bg2"/>
              </a:outerShdw>
            </a:effectLst>
          </p:spPr>
          <p:txBody>
            <a:bodyPr wrap="none" lIns="92075" tIns="46038" rIns="92075" bIns="46038" anchor="ctr"/>
            <a:lstStyle>
              <a:lvl1pPr defTabSz="762000">
                <a:defRPr sz="2400" b="1">
                  <a:solidFill>
                    <a:schemeClr val="tx1"/>
                  </a:solidFill>
                  <a:latin typeface="Times New Roman" panose="02020603050405020304" pitchFamily="18" charset="0"/>
                  <a:ea typeface="宋体" panose="02010600030101010101" pitchFamily="2" charset="-122"/>
                </a:defRPr>
              </a:lvl1pPr>
              <a:lvl2pPr marL="742950" indent="-285750" defTabSz="762000">
                <a:defRPr sz="2400" b="1">
                  <a:solidFill>
                    <a:schemeClr val="tx1"/>
                  </a:solidFill>
                  <a:latin typeface="Times New Roman" panose="02020603050405020304" pitchFamily="18" charset="0"/>
                  <a:ea typeface="宋体" panose="02010600030101010101" pitchFamily="2" charset="-122"/>
                </a:defRPr>
              </a:lvl2pPr>
              <a:lvl3pPr marL="1143000" indent="-228600" defTabSz="762000">
                <a:defRPr sz="2400" b="1">
                  <a:solidFill>
                    <a:schemeClr val="tx1"/>
                  </a:solidFill>
                  <a:latin typeface="Times New Roman" panose="02020603050405020304" pitchFamily="18" charset="0"/>
                  <a:ea typeface="宋体" panose="02010600030101010101" pitchFamily="2" charset="-122"/>
                </a:defRPr>
              </a:lvl3pPr>
              <a:lvl4pPr marL="1600200" indent="-228600" defTabSz="762000">
                <a:defRPr sz="2400" b="1">
                  <a:solidFill>
                    <a:schemeClr val="tx1"/>
                  </a:solidFill>
                  <a:latin typeface="Times New Roman" panose="02020603050405020304" pitchFamily="18" charset="0"/>
                  <a:ea typeface="宋体" panose="02010600030101010101" pitchFamily="2" charset="-122"/>
                </a:defRPr>
              </a:lvl4pPr>
              <a:lvl5pPr marL="2057400" indent="-228600" defTabSz="762000">
                <a:defRPr sz="24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r>
                <a:rPr lang="en-US" altLang="zh-CN" sz="2000">
                  <a:solidFill>
                    <a:srgbClr val="104E87"/>
                  </a:solidFill>
                  <a:latin typeface="Comic Sans MS" panose="030F0702030302020204" pitchFamily="66" charset="0"/>
                </a:rPr>
                <a:t>37</a:t>
              </a:r>
            </a:p>
          </p:txBody>
        </p:sp>
      </p:grpSp>
      <p:grpSp>
        <p:nvGrpSpPr>
          <p:cNvPr id="60" name="Group 46">
            <a:extLst>
              <a:ext uri="{FF2B5EF4-FFF2-40B4-BE49-F238E27FC236}">
                <a16:creationId xmlns:a16="http://schemas.microsoft.com/office/drawing/2014/main" id="{A288B1A7-7AB5-4477-BCB7-3E90E0F9AC15}"/>
              </a:ext>
            </a:extLst>
          </p:cNvPr>
          <p:cNvGrpSpPr>
            <a:grpSpLocks/>
          </p:cNvGrpSpPr>
          <p:nvPr/>
        </p:nvGrpSpPr>
        <p:grpSpPr bwMode="auto">
          <a:xfrm>
            <a:off x="2543714" y="4034520"/>
            <a:ext cx="390525" cy="533400"/>
            <a:chOff x="2202" y="3264"/>
            <a:chExt cx="246" cy="336"/>
          </a:xfrm>
        </p:grpSpPr>
        <p:sp>
          <p:nvSpPr>
            <p:cNvPr id="61" name="Rectangle 47">
              <a:extLst>
                <a:ext uri="{FF2B5EF4-FFF2-40B4-BE49-F238E27FC236}">
                  <a16:creationId xmlns:a16="http://schemas.microsoft.com/office/drawing/2014/main" id="{044C0F9D-CBEC-461D-BA25-316BC6BA6226}"/>
                </a:ext>
              </a:extLst>
            </p:cNvPr>
            <p:cNvSpPr>
              <a:spLocks noChangeArrowheads="1"/>
            </p:cNvSpPr>
            <p:nvPr/>
          </p:nvSpPr>
          <p:spPr bwMode="auto">
            <a:xfrm>
              <a:off x="2202" y="3344"/>
              <a:ext cx="24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defTabSz="76200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defTabSz="7620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defTabSz="7620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defTabSz="7620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spcBef>
                  <a:spcPct val="0"/>
                </a:spcBef>
                <a:buClrTx/>
                <a:buSzTx/>
                <a:buFontTx/>
                <a:buNone/>
              </a:pPr>
              <a:r>
                <a:rPr kumimoji="1" lang="en-US" altLang="zh-CN" sz="2000" dirty="0">
                  <a:solidFill>
                    <a:srgbClr val="104E87"/>
                  </a:solidFill>
                  <a:latin typeface="Comic Sans MS" panose="030F0702030302020204" pitchFamily="66" charset="0"/>
                  <a:ea typeface="隶书" panose="02010509060101010101" pitchFamily="49" charset="-122"/>
                </a:rPr>
                <a:t>H</a:t>
              </a:r>
            </a:p>
          </p:txBody>
        </p:sp>
        <p:sp>
          <p:nvSpPr>
            <p:cNvPr id="62" name="Line 48">
              <a:extLst>
                <a:ext uri="{FF2B5EF4-FFF2-40B4-BE49-F238E27FC236}">
                  <a16:creationId xmlns:a16="http://schemas.microsoft.com/office/drawing/2014/main" id="{93AD18CD-01EA-4E5C-9854-1FA042D0B56F}"/>
                </a:ext>
              </a:extLst>
            </p:cNvPr>
            <p:cNvSpPr>
              <a:spLocks noChangeShapeType="1"/>
            </p:cNvSpPr>
            <p:nvPr/>
          </p:nvSpPr>
          <p:spPr bwMode="auto">
            <a:xfrm flipV="1">
              <a:off x="2448" y="326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solidFill>
                  <a:srgbClr val="104E87"/>
                </a:solidFill>
                <a:latin typeface="Comic Sans MS" panose="030F0702030302020204" pitchFamily="66" charset="0"/>
              </a:endParaRPr>
            </a:p>
          </p:txBody>
        </p:sp>
      </p:grpSp>
      <p:sp>
        <p:nvSpPr>
          <p:cNvPr id="63" name="Rectangle 49">
            <a:extLst>
              <a:ext uri="{FF2B5EF4-FFF2-40B4-BE49-F238E27FC236}">
                <a16:creationId xmlns:a16="http://schemas.microsoft.com/office/drawing/2014/main" id="{6809519D-BFE5-419E-A357-1C4CD08957AF}"/>
              </a:ext>
            </a:extLst>
          </p:cNvPr>
          <p:cNvSpPr>
            <a:spLocks noChangeArrowheads="1"/>
          </p:cNvSpPr>
          <p:nvPr/>
        </p:nvSpPr>
        <p:spPr bwMode="auto">
          <a:xfrm>
            <a:off x="553315" y="4228839"/>
            <a:ext cx="1211870" cy="400752"/>
          </a:xfrm>
          <a:prstGeom prst="rect">
            <a:avLst/>
          </a:prstGeom>
          <a:noFill/>
          <a:ln>
            <a:noFill/>
          </a:ln>
        </p:spPr>
        <p:txBody>
          <a:bodyPr wrap="none" lIns="92075" tIns="46038" rIns="92075" bIns="46038">
            <a:spAutoFit/>
          </a:bodyPr>
          <a:lstStyle/>
          <a:p>
            <a:pPr defTabSz="762000">
              <a:defRPr/>
            </a:pPr>
            <a:r>
              <a:rPr lang="en-US" altLang="zh-CN" sz="2000" dirty="0">
                <a:solidFill>
                  <a:srgbClr val="104E87"/>
                </a:solidFill>
                <a:latin typeface="Comic Sans MS" panose="030F0702030302020204" pitchFamily="66" charset="0"/>
                <a:ea typeface="隶书" pitchFamily="49" charset="-122"/>
              </a:rPr>
              <a:t>L=M+1=4</a:t>
            </a:r>
          </a:p>
        </p:txBody>
      </p:sp>
      <p:grpSp>
        <p:nvGrpSpPr>
          <p:cNvPr id="64" name="Group 50">
            <a:extLst>
              <a:ext uri="{FF2B5EF4-FFF2-40B4-BE49-F238E27FC236}">
                <a16:creationId xmlns:a16="http://schemas.microsoft.com/office/drawing/2014/main" id="{8684D352-FE1F-441C-B492-D3F9C3300787}"/>
              </a:ext>
            </a:extLst>
          </p:cNvPr>
          <p:cNvGrpSpPr>
            <a:grpSpLocks/>
          </p:cNvGrpSpPr>
          <p:nvPr/>
        </p:nvGrpSpPr>
        <p:grpSpPr bwMode="auto">
          <a:xfrm>
            <a:off x="1941288" y="4017360"/>
            <a:ext cx="327025" cy="579438"/>
            <a:chOff x="1762" y="3264"/>
            <a:chExt cx="206" cy="365"/>
          </a:xfrm>
        </p:grpSpPr>
        <p:sp>
          <p:nvSpPr>
            <p:cNvPr id="65" name="Rectangle 51">
              <a:extLst>
                <a:ext uri="{FF2B5EF4-FFF2-40B4-BE49-F238E27FC236}">
                  <a16:creationId xmlns:a16="http://schemas.microsoft.com/office/drawing/2014/main" id="{26125341-4222-4233-836F-688DFB4DC7A6}"/>
                </a:ext>
              </a:extLst>
            </p:cNvPr>
            <p:cNvSpPr>
              <a:spLocks noChangeArrowheads="1"/>
            </p:cNvSpPr>
            <p:nvPr/>
          </p:nvSpPr>
          <p:spPr bwMode="auto">
            <a:xfrm>
              <a:off x="1762" y="3377"/>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defTabSz="76200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defTabSz="7620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defTabSz="7620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defTabSz="7620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defTabSz="7620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spcBef>
                  <a:spcPct val="0"/>
                </a:spcBef>
                <a:buClrTx/>
                <a:buSzTx/>
                <a:buFontTx/>
                <a:buNone/>
              </a:pPr>
              <a:r>
                <a:rPr kumimoji="1" lang="en-US" altLang="zh-CN" sz="2000" dirty="0">
                  <a:solidFill>
                    <a:srgbClr val="104E87"/>
                  </a:solidFill>
                  <a:latin typeface="Comic Sans MS" panose="030F0702030302020204" pitchFamily="66" charset="0"/>
                  <a:ea typeface="隶书" panose="02010509060101010101" pitchFamily="49" charset="-122"/>
                </a:rPr>
                <a:t>L</a:t>
              </a:r>
            </a:p>
          </p:txBody>
        </p:sp>
        <p:sp>
          <p:nvSpPr>
            <p:cNvPr id="66" name="Line 52">
              <a:extLst>
                <a:ext uri="{FF2B5EF4-FFF2-40B4-BE49-F238E27FC236}">
                  <a16:creationId xmlns:a16="http://schemas.microsoft.com/office/drawing/2014/main" id="{4BA14E81-A63B-44E7-938F-2745E7B2F008}"/>
                </a:ext>
              </a:extLst>
            </p:cNvPr>
            <p:cNvSpPr>
              <a:spLocks noChangeShapeType="1"/>
            </p:cNvSpPr>
            <p:nvPr/>
          </p:nvSpPr>
          <p:spPr bwMode="auto">
            <a:xfrm flipV="1">
              <a:off x="1968" y="3264"/>
              <a:ext cx="0" cy="336"/>
            </a:xfrm>
            <a:prstGeom prst="line">
              <a:avLst/>
            </a:prstGeom>
            <a:noFill/>
            <a:ln w="25400">
              <a:solidFill>
                <a:srgbClr val="C0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zh-CN" altLang="en-US">
                <a:solidFill>
                  <a:srgbClr val="104E87"/>
                </a:solidFill>
                <a:latin typeface="Comic Sans MS" panose="030F0702030302020204" pitchFamily="66" charset="0"/>
              </a:endParaRPr>
            </a:p>
          </p:txBody>
        </p:sp>
      </p:grpSp>
      <p:sp>
        <p:nvSpPr>
          <p:cNvPr id="67" name="Rectangle 53">
            <a:extLst>
              <a:ext uri="{FF2B5EF4-FFF2-40B4-BE49-F238E27FC236}">
                <a16:creationId xmlns:a16="http://schemas.microsoft.com/office/drawing/2014/main" id="{3ACA52CA-2C1D-46B9-BE1D-C7687CF1DA17}"/>
              </a:ext>
            </a:extLst>
          </p:cNvPr>
          <p:cNvSpPr>
            <a:spLocks noChangeArrowheads="1"/>
          </p:cNvSpPr>
          <p:nvPr/>
        </p:nvSpPr>
        <p:spPr bwMode="auto">
          <a:xfrm>
            <a:off x="630500" y="4810229"/>
            <a:ext cx="2479846" cy="400752"/>
          </a:xfrm>
          <a:prstGeom prst="rect">
            <a:avLst/>
          </a:prstGeom>
          <a:noFill/>
          <a:ln>
            <a:noFill/>
          </a:ln>
        </p:spPr>
        <p:txBody>
          <a:bodyPr wrap="none" lIns="92075" tIns="46038" rIns="92075" bIns="46038">
            <a:spAutoFit/>
          </a:bodyPr>
          <a:lstStyle/>
          <a:p>
            <a:pPr defTabSz="762000">
              <a:defRPr/>
            </a:pPr>
            <a:r>
              <a:rPr lang="en-US" altLang="zh-CN" sz="2000" dirty="0">
                <a:solidFill>
                  <a:srgbClr val="104E87"/>
                </a:solidFill>
                <a:latin typeface="Comic Sans MS" panose="030F0702030302020204" pitchFamily="66" charset="0"/>
                <a:ea typeface="隶书" pitchFamily="49" charset="-122"/>
              </a:rPr>
              <a:t>M=INT((L+H)/2)=4</a:t>
            </a:r>
          </a:p>
        </p:txBody>
      </p:sp>
      <p:pic>
        <p:nvPicPr>
          <p:cNvPr id="68" name="图片 3">
            <a:extLst>
              <a:ext uri="{FF2B5EF4-FFF2-40B4-BE49-F238E27FC236}">
                <a16:creationId xmlns:a16="http://schemas.microsoft.com/office/drawing/2014/main" id="{09CD370D-EBF6-4DE4-87C0-02BC295FE6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3957" y="2644224"/>
            <a:ext cx="7260058" cy="41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aphicFrame>
        <p:nvGraphicFramePr>
          <p:cNvPr id="69" name="对象 4">
            <a:extLst>
              <a:ext uri="{FF2B5EF4-FFF2-40B4-BE49-F238E27FC236}">
                <a16:creationId xmlns:a16="http://schemas.microsoft.com/office/drawing/2014/main" id="{32FD53A7-4952-4387-A1B7-363E9F9E6D5E}"/>
              </a:ext>
            </a:extLst>
          </p:cNvPr>
          <p:cNvGraphicFramePr>
            <a:graphicFrameLocks noChangeAspect="1"/>
          </p:cNvGraphicFramePr>
          <p:nvPr/>
        </p:nvGraphicFramePr>
        <p:xfrm>
          <a:off x="7478299" y="5300467"/>
          <a:ext cx="4819208" cy="1557533"/>
        </p:xfrm>
        <a:graphic>
          <a:graphicData uri="http://schemas.openxmlformats.org/presentationml/2006/ole">
            <mc:AlternateContent xmlns:mc="http://schemas.openxmlformats.org/markup-compatibility/2006">
              <mc:Choice xmlns:v="urn:schemas-microsoft-com:vml" Requires="v">
                <p:oleObj name="BMP 图像" r:id="rId4" imgW="0" imgH="0" progId="Paint.Picture">
                  <p:embed/>
                </p:oleObj>
              </mc:Choice>
              <mc:Fallback>
                <p:oleObj name="BMP 图像" r:id="rId4" imgW="0" imgH="0" progId="Paint.Picture">
                  <p:embed/>
                  <p:pic>
                    <p:nvPicPr>
                      <p:cNvPr id="69" name="对象 4">
                        <a:extLst>
                          <a:ext uri="{FF2B5EF4-FFF2-40B4-BE49-F238E27FC236}">
                            <a16:creationId xmlns:a16="http://schemas.microsoft.com/office/drawing/2014/main" id="{32FD53A7-4952-4387-A1B7-363E9F9E6D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78299" y="5300467"/>
                        <a:ext cx="4819208" cy="1557533"/>
                      </a:xfrm>
                      <a:prstGeom prst="rect">
                        <a:avLst/>
                      </a:prstGeom>
                      <a:noFill/>
                      <a:ln>
                        <a:solidFill>
                          <a:srgbClr val="104E87"/>
                        </a:solidFill>
                      </a:ln>
                    </p:spPr>
                  </p:pic>
                </p:oleObj>
              </mc:Fallback>
            </mc:AlternateContent>
          </a:graphicData>
        </a:graphic>
      </p:graphicFrame>
    </p:spTree>
    <p:extLst>
      <p:ext uri="{BB962C8B-B14F-4D97-AF65-F5344CB8AC3E}">
        <p14:creationId xmlns:p14="http://schemas.microsoft.com/office/powerpoint/2010/main" val="3435084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strips(downLeft)">
                                      <p:cBhvr>
                                        <p:cTn id="7" dur="500"/>
                                        <p:tgtEl>
                                          <p:spTgt spid="40"/>
                                        </p:tgtEl>
                                      </p:cBhvr>
                                    </p:animEffect>
                                  </p:childTnLst>
                                </p:cTn>
                              </p:par>
                              <p:par>
                                <p:cTn id="8" presetID="18" presetClass="entr" presetSubtype="12" fill="hold" nodeType="withEffect">
                                  <p:stCondLst>
                                    <p:cond delay="0"/>
                                  </p:stCondLst>
                                  <p:childTnLst>
                                    <p:set>
                                      <p:cBhvr>
                                        <p:cTn id="9" dur="1" fill="hold">
                                          <p:stCondLst>
                                            <p:cond delay="0"/>
                                          </p:stCondLst>
                                        </p:cTn>
                                        <p:tgtEl>
                                          <p:spTgt spid="47"/>
                                        </p:tgtEl>
                                        <p:attrNameLst>
                                          <p:attrName>style.visibility</p:attrName>
                                        </p:attrNameLst>
                                      </p:cBhvr>
                                      <p:to>
                                        <p:strVal val="visible"/>
                                      </p:to>
                                    </p:set>
                                    <p:animEffect transition="in" filter="strips(downLeft)">
                                      <p:cBhvr>
                                        <p:cTn id="10" dur="500"/>
                                        <p:tgtEl>
                                          <p:spTgt spid="47"/>
                                        </p:tgtEl>
                                      </p:cBhvr>
                                    </p:animEffect>
                                  </p:childTnLst>
                                </p:cTn>
                              </p:par>
                              <p:par>
                                <p:cTn id="11" presetID="18" presetClass="entr" presetSubtype="12"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strips(downLeft)">
                                      <p:cBhvr>
                                        <p:cTn id="13" dur="500"/>
                                        <p:tgtEl>
                                          <p:spTgt spid="50"/>
                                        </p:tgtEl>
                                      </p:cBhvr>
                                    </p:animEffect>
                                  </p:childTnLst>
                                </p:cTn>
                              </p:par>
                              <p:par>
                                <p:cTn id="14" presetID="18" presetClass="entr" presetSubtype="12" fill="hold"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strips(downLeft)">
                                      <p:cBhvr>
                                        <p:cTn id="16" dur="500"/>
                                        <p:tgtEl>
                                          <p:spTgt spid="54"/>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53"/>
                                        </p:tgtEl>
                                        <p:attrNameLst>
                                          <p:attrName>style.visibility</p:attrName>
                                        </p:attrNameLst>
                                      </p:cBhvr>
                                      <p:to>
                                        <p:strVal val="visible"/>
                                      </p:to>
                                    </p:set>
                                    <p:animEffect transition="in" filter="dissolve">
                                      <p:cBhvr>
                                        <p:cTn id="21" dur="500"/>
                                        <p:tgtEl>
                                          <p:spTgt spid="53"/>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57"/>
                                        </p:tgtEl>
                                        <p:attrNameLst>
                                          <p:attrName>style.visibility</p:attrName>
                                        </p:attrNameLst>
                                      </p:cBhvr>
                                      <p:to>
                                        <p:strVal val="visible"/>
                                      </p:to>
                                    </p:set>
                                    <p:animEffect transition="in" filter="checkerboard(across)">
                                      <p:cBhvr>
                                        <p:cTn id="26" dur="500"/>
                                        <p:tgtEl>
                                          <p:spTgt spid="57"/>
                                        </p:tgtEl>
                                      </p:cBhvr>
                                    </p:animEffect>
                                  </p:childTnLst>
                                </p:cTn>
                              </p:par>
                              <p:par>
                                <p:cTn id="27" presetID="5" presetClass="entr" presetSubtype="10" fill="hold" nodeType="withEffect">
                                  <p:stCondLst>
                                    <p:cond delay="0"/>
                                  </p:stCondLst>
                                  <p:childTnLst>
                                    <p:set>
                                      <p:cBhvr>
                                        <p:cTn id="28" dur="1" fill="hold">
                                          <p:stCondLst>
                                            <p:cond delay="0"/>
                                          </p:stCondLst>
                                        </p:cTn>
                                        <p:tgtEl>
                                          <p:spTgt spid="60"/>
                                        </p:tgtEl>
                                        <p:attrNameLst>
                                          <p:attrName>style.visibility</p:attrName>
                                        </p:attrNameLst>
                                      </p:cBhvr>
                                      <p:to>
                                        <p:strVal val="visible"/>
                                      </p:to>
                                    </p:set>
                                    <p:animEffect transition="in" filter="checkerboard(across)">
                                      <p:cBhvr>
                                        <p:cTn id="29" dur="500"/>
                                        <p:tgtEl>
                                          <p:spTgt spid="60"/>
                                        </p:tgtEl>
                                      </p:cBhvr>
                                    </p:animEffect>
                                  </p:childTnLst>
                                </p:cTn>
                              </p:par>
                              <p:par>
                                <p:cTn id="30" presetID="5" presetClass="entr" presetSubtype="10" fill="hold" grpId="0" nodeType="withEffect">
                                  <p:stCondLst>
                                    <p:cond delay="0"/>
                                  </p:stCondLst>
                                  <p:childTnLst>
                                    <p:set>
                                      <p:cBhvr>
                                        <p:cTn id="31" dur="1" fill="hold">
                                          <p:stCondLst>
                                            <p:cond delay="0"/>
                                          </p:stCondLst>
                                        </p:cTn>
                                        <p:tgtEl>
                                          <p:spTgt spid="63"/>
                                        </p:tgtEl>
                                        <p:attrNameLst>
                                          <p:attrName>style.visibility</p:attrName>
                                        </p:attrNameLst>
                                      </p:cBhvr>
                                      <p:to>
                                        <p:strVal val="visible"/>
                                      </p:to>
                                    </p:set>
                                    <p:animEffect transition="in" filter="checkerboard(across)">
                                      <p:cBhvr>
                                        <p:cTn id="32" dur="500"/>
                                        <p:tgtEl>
                                          <p:spTgt spid="63"/>
                                        </p:tgtEl>
                                      </p:cBhvr>
                                    </p:animEffect>
                                  </p:childTnLst>
                                </p:cTn>
                              </p:par>
                              <p:par>
                                <p:cTn id="33" presetID="5" presetClass="entr" presetSubtype="10" fill="hold" nodeType="withEffect">
                                  <p:stCondLst>
                                    <p:cond delay="0"/>
                                  </p:stCondLst>
                                  <p:childTnLst>
                                    <p:set>
                                      <p:cBhvr>
                                        <p:cTn id="34" dur="1" fill="hold">
                                          <p:stCondLst>
                                            <p:cond delay="0"/>
                                          </p:stCondLst>
                                        </p:cTn>
                                        <p:tgtEl>
                                          <p:spTgt spid="64"/>
                                        </p:tgtEl>
                                        <p:attrNameLst>
                                          <p:attrName>style.visibility</p:attrName>
                                        </p:attrNameLst>
                                      </p:cBhvr>
                                      <p:to>
                                        <p:strVal val="visible"/>
                                      </p:to>
                                    </p:set>
                                    <p:animEffect transition="in" filter="checkerboard(across)">
                                      <p:cBhvr>
                                        <p:cTn id="35" dur="500"/>
                                        <p:tgtEl>
                                          <p:spTgt spid="64"/>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67"/>
                                        </p:tgtEl>
                                        <p:attrNameLst>
                                          <p:attrName>style.visibility</p:attrName>
                                        </p:attrNameLst>
                                      </p:cBhvr>
                                      <p:to>
                                        <p:strVal val="visible"/>
                                      </p:to>
                                    </p:set>
                                    <p:animEffect transition="in" filter="checkerboard(across)">
                                      <p:cBhvr>
                                        <p:cTn id="38" dur="500"/>
                                        <p:tgtEl>
                                          <p:spTgt spid="67"/>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nodeType="clickEffect">
                                  <p:stCondLst>
                                    <p:cond delay="0"/>
                                  </p:stCondLst>
                                  <p:childTnLst>
                                    <p:set>
                                      <p:cBhvr>
                                        <p:cTn id="42" dur="1" fill="hold">
                                          <p:stCondLst>
                                            <p:cond delay="0"/>
                                          </p:stCondLst>
                                        </p:cTn>
                                        <p:tgtEl>
                                          <p:spTgt spid="68"/>
                                        </p:tgtEl>
                                        <p:attrNameLst>
                                          <p:attrName>style.visibility</p:attrName>
                                        </p:attrNameLst>
                                      </p:cBhvr>
                                      <p:to>
                                        <p:strVal val="visible"/>
                                      </p:to>
                                    </p:set>
                                    <p:animEffect transition="in" filter="barn(inVertical)">
                                      <p:cBhvr>
                                        <p:cTn id="43" dur="500"/>
                                        <p:tgtEl>
                                          <p:spTgt spid="68"/>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nodeType="clickEffect">
                                  <p:stCondLst>
                                    <p:cond delay="0"/>
                                  </p:stCondLst>
                                  <p:childTnLst>
                                    <p:set>
                                      <p:cBhvr>
                                        <p:cTn id="47" dur="1" fill="hold">
                                          <p:stCondLst>
                                            <p:cond delay="0"/>
                                          </p:stCondLst>
                                        </p:cTn>
                                        <p:tgtEl>
                                          <p:spTgt spid="69"/>
                                        </p:tgtEl>
                                        <p:attrNameLst>
                                          <p:attrName>style.visibility</p:attrName>
                                        </p:attrNameLst>
                                      </p:cBhvr>
                                      <p:to>
                                        <p:strVal val="visible"/>
                                      </p:to>
                                    </p:set>
                                    <p:animEffect transition="in" filter="barn(inVertical)">
                                      <p:cBhvr>
                                        <p:cTn id="48"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63" grpId="0"/>
      <p:bldP spid="6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1" name="文本框 10">
            <a:extLst>
              <a:ext uri="{FF2B5EF4-FFF2-40B4-BE49-F238E27FC236}">
                <a16:creationId xmlns:a16="http://schemas.microsoft.com/office/drawing/2014/main" id="{82DF9CFE-89CC-4350-837D-EA5F28E6779B}"/>
              </a:ext>
            </a:extLst>
          </p:cNvPr>
          <p:cNvSpPr txBox="1"/>
          <p:nvPr/>
        </p:nvSpPr>
        <p:spPr>
          <a:xfrm>
            <a:off x="247719" y="224527"/>
            <a:ext cx="7583296" cy="584775"/>
          </a:xfrm>
          <a:prstGeom prst="rect">
            <a:avLst/>
          </a:prstGeom>
          <a:noFill/>
        </p:spPr>
        <p:txBody>
          <a:bodyPr wrap="square" rtlCol="0">
            <a:spAutoFit/>
          </a:bodyPr>
          <a:lstStyle/>
          <a:p>
            <a:r>
              <a:rPr kumimoji="1" lang="en-US" altLang="zh-CN" sz="3200" b="1" dirty="0">
                <a:latin typeface="华光胖头鱼_CNKI" panose="02000500000000000000" pitchFamily="2" charset="-122"/>
                <a:ea typeface="华光胖头鱼_CNKI" panose="02000500000000000000" pitchFamily="2" charset="-122"/>
              </a:rPr>
              <a:t>11.4</a:t>
            </a:r>
            <a:r>
              <a:rPr kumimoji="1" lang="zh-CN" altLang="en-US" sz="3200" b="1" dirty="0">
                <a:latin typeface="华光胖头鱼_CNKI" panose="02000500000000000000" pitchFamily="2" charset="-122"/>
                <a:ea typeface="华光胖头鱼_CNKI" panose="02000500000000000000" pitchFamily="2" charset="-122"/>
              </a:rPr>
              <a:t>类模板</a:t>
            </a:r>
          </a:p>
        </p:txBody>
      </p:sp>
      <p:sp>
        <p:nvSpPr>
          <p:cNvPr id="12" name="矩形 11">
            <a:extLst>
              <a:ext uri="{FF2B5EF4-FFF2-40B4-BE49-F238E27FC236}">
                <a16:creationId xmlns:a16="http://schemas.microsoft.com/office/drawing/2014/main" id="{6E763F32-E351-419F-96CA-95A8E634CB74}"/>
              </a:ext>
            </a:extLst>
          </p:cNvPr>
          <p:cNvSpPr>
            <a:spLocks noChangeArrowheads="1"/>
          </p:cNvSpPr>
          <p:nvPr/>
        </p:nvSpPr>
        <p:spPr bwMode="auto">
          <a:xfrm>
            <a:off x="1588" y="1061668"/>
            <a:ext cx="70088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marL="176213" indent="-176213" eaLnBrk="1" hangingPunct="1">
              <a:spcBef>
                <a:spcPct val="0"/>
              </a:spcBef>
              <a:buClrTx/>
              <a:buSzTx/>
              <a:buFont typeface="Wingdings" panose="05000000000000000000" pitchFamily="2" charset="2"/>
              <a:buChar char="l"/>
            </a:pPr>
            <a:r>
              <a:rPr lang="zh-CN" altLang="en-US" sz="2400" b="0" dirty="0">
                <a:solidFill>
                  <a:srgbClr val="104E87"/>
                </a:solidFill>
                <a:latin typeface="Comic Sans MS" panose="030F0702030302020204" pitchFamily="66" charset="0"/>
                <a:ea typeface="华光行书_CNKI" panose="02000500000000000000" pitchFamily="2" charset="-122"/>
              </a:rPr>
              <a:t>类的数据成员、成员函数形参类型被参数化</a:t>
            </a:r>
            <a:endParaRPr lang="en-US" altLang="zh-CN" sz="2400" b="0" dirty="0">
              <a:solidFill>
                <a:srgbClr val="104E87"/>
              </a:solidFill>
              <a:latin typeface="Comic Sans MS" panose="030F0702030302020204" pitchFamily="66" charset="0"/>
              <a:ea typeface="华光行书_CNKI" panose="02000500000000000000" pitchFamily="2" charset="-122"/>
            </a:endParaRPr>
          </a:p>
          <a:p>
            <a:pPr eaLnBrk="1" hangingPunct="1">
              <a:spcBef>
                <a:spcPct val="0"/>
              </a:spcBef>
              <a:buClrTx/>
              <a:buSzTx/>
              <a:buFontTx/>
              <a:buNone/>
            </a:pPr>
            <a:r>
              <a:rPr lang="zh-CN" altLang="en-US" sz="2400" b="0" dirty="0">
                <a:solidFill>
                  <a:srgbClr val="104E87"/>
                </a:solidFill>
                <a:latin typeface="Comic Sans MS" panose="030F0702030302020204" pitchFamily="66" charset="0"/>
                <a:ea typeface="华光行书_CNKI" panose="02000500000000000000" pitchFamily="2" charset="-122"/>
              </a:rPr>
              <a:t>类模板也不是类，经实例化后才得到具体的类</a:t>
            </a:r>
          </a:p>
        </p:txBody>
      </p:sp>
      <p:sp>
        <p:nvSpPr>
          <p:cNvPr id="13" name="矩形 12">
            <a:extLst>
              <a:ext uri="{FF2B5EF4-FFF2-40B4-BE49-F238E27FC236}">
                <a16:creationId xmlns:a16="http://schemas.microsoft.com/office/drawing/2014/main" id="{6BD8DD6F-F8A7-4D27-9B4D-E39DCDF1DA9C}"/>
              </a:ext>
            </a:extLst>
          </p:cNvPr>
          <p:cNvSpPr/>
          <p:nvPr/>
        </p:nvSpPr>
        <p:spPr>
          <a:xfrm>
            <a:off x="247718" y="1929511"/>
            <a:ext cx="6762682" cy="2086725"/>
          </a:xfrm>
          <a:prstGeom prst="rect">
            <a:avLst/>
          </a:prstGeom>
        </p:spPr>
        <p:txBody>
          <a:bodyPr wrap="square">
            <a:spAutoFit/>
          </a:bodyPr>
          <a:lstStyle/>
          <a:p>
            <a:pPr eaLnBrk="1" hangingPunct="1">
              <a:buFont typeface="Wingdings" pitchFamily="2" charset="2"/>
              <a:buNone/>
              <a:defRPr/>
            </a:pPr>
            <a:r>
              <a:rPr lang="zh-CN" altLang="en-US" dirty="0">
                <a:solidFill>
                  <a:srgbClr val="104E87"/>
                </a:solidFill>
                <a:latin typeface="Comic Sans MS" panose="030F0702030302020204" pitchFamily="66" charset="0"/>
                <a:ea typeface="华光行书_CNKI" panose="02000500000000000000" pitchFamily="2" charset="-122"/>
              </a:rPr>
              <a:t>一般形式：</a:t>
            </a:r>
          </a:p>
          <a:p>
            <a:pPr algn="just" eaLnBrk="1" hangingPunct="1">
              <a:spcBef>
                <a:spcPct val="10000"/>
              </a:spcBef>
              <a:buFont typeface="Wingdings" pitchFamily="2" charset="2"/>
              <a:buNone/>
              <a:defRPr/>
            </a:pPr>
            <a:r>
              <a:rPr lang="en-US" altLang="zh-CN" dirty="0">
                <a:solidFill>
                  <a:srgbClr val="FF0000"/>
                </a:solidFill>
                <a:latin typeface="Comic Sans MS" panose="030F0702030302020204" pitchFamily="66" charset="0"/>
                <a:ea typeface="华光行书_CNKI" panose="02000500000000000000" pitchFamily="2" charset="-122"/>
              </a:rPr>
              <a:t>template &lt;class </a:t>
            </a:r>
            <a:r>
              <a:rPr lang="zh-CN" altLang="en-US" dirty="0">
                <a:solidFill>
                  <a:srgbClr val="FF0000"/>
                </a:solidFill>
                <a:latin typeface="Comic Sans MS" panose="030F0702030302020204" pitchFamily="66" charset="0"/>
                <a:ea typeface="华光行书_CNKI" panose="02000500000000000000" pitchFamily="2" charset="-122"/>
              </a:rPr>
              <a:t>参数</a:t>
            </a:r>
            <a:r>
              <a:rPr lang="en-US" altLang="zh-CN" dirty="0">
                <a:solidFill>
                  <a:srgbClr val="FF0000"/>
                </a:solidFill>
                <a:latin typeface="Comic Sans MS" panose="030F0702030302020204" pitchFamily="66" charset="0"/>
                <a:ea typeface="华光行书_CNKI" panose="02000500000000000000" pitchFamily="2" charset="-122"/>
              </a:rPr>
              <a:t>1, class </a:t>
            </a:r>
            <a:r>
              <a:rPr lang="zh-CN" altLang="en-US" dirty="0">
                <a:solidFill>
                  <a:srgbClr val="FF0000"/>
                </a:solidFill>
                <a:latin typeface="Comic Sans MS" panose="030F0702030302020204" pitchFamily="66" charset="0"/>
                <a:ea typeface="华光行书_CNKI" panose="02000500000000000000" pitchFamily="2" charset="-122"/>
              </a:rPr>
              <a:t>参数</a:t>
            </a:r>
            <a:r>
              <a:rPr lang="en-US" altLang="zh-CN" dirty="0">
                <a:solidFill>
                  <a:srgbClr val="FF0000"/>
                </a:solidFill>
                <a:latin typeface="Comic Sans MS" panose="030F0702030302020204" pitchFamily="66" charset="0"/>
                <a:ea typeface="华光行书_CNKI" panose="02000500000000000000" pitchFamily="2" charset="-122"/>
              </a:rPr>
              <a:t>2, …&gt;</a:t>
            </a:r>
          </a:p>
          <a:p>
            <a:pPr algn="just" eaLnBrk="1" hangingPunct="1">
              <a:spcBef>
                <a:spcPct val="10000"/>
              </a:spcBef>
              <a:buFont typeface="Wingdings" pitchFamily="2" charset="2"/>
              <a:buNone/>
              <a:defRPr/>
            </a:pPr>
            <a:r>
              <a:rPr lang="en-US" altLang="zh-CN" dirty="0">
                <a:solidFill>
                  <a:srgbClr val="104E87"/>
                </a:solidFill>
                <a:latin typeface="Comic Sans MS" panose="030F0702030302020204" pitchFamily="66" charset="0"/>
                <a:ea typeface="华光行书_CNKI" panose="02000500000000000000" pitchFamily="2" charset="-122"/>
              </a:rPr>
              <a:t>class </a:t>
            </a:r>
            <a:r>
              <a:rPr lang="zh-CN" altLang="en-US" dirty="0">
                <a:solidFill>
                  <a:srgbClr val="104E87"/>
                </a:solidFill>
                <a:latin typeface="Comic Sans MS" panose="030F0702030302020204" pitchFamily="66" charset="0"/>
                <a:ea typeface="华光行书_CNKI" panose="02000500000000000000" pitchFamily="2" charset="-122"/>
              </a:rPr>
              <a:t>类名 </a:t>
            </a:r>
            <a:r>
              <a:rPr lang="en-US" altLang="zh-CN" dirty="0">
                <a:solidFill>
                  <a:srgbClr val="104E87"/>
                </a:solidFill>
                <a:latin typeface="Comic Sans MS" panose="030F0702030302020204" pitchFamily="66" charset="0"/>
                <a:ea typeface="华光行书_CNKI" panose="02000500000000000000" pitchFamily="2" charset="-122"/>
              </a:rPr>
              <a:t>{</a:t>
            </a:r>
          </a:p>
          <a:p>
            <a:pPr algn="just" eaLnBrk="1" hangingPunct="1">
              <a:spcBef>
                <a:spcPct val="10000"/>
              </a:spcBef>
              <a:buFont typeface="Wingdings" pitchFamily="2" charset="2"/>
              <a:buNone/>
              <a:defRPr/>
            </a:pPr>
            <a:r>
              <a:rPr lang="en-US" altLang="zh-CN" dirty="0">
                <a:solidFill>
                  <a:srgbClr val="104E87"/>
                </a:solidFill>
                <a:latin typeface="Comic Sans MS" panose="030F0702030302020204" pitchFamily="66" charset="0"/>
                <a:ea typeface="华光行书_CNKI" panose="02000500000000000000" pitchFamily="2" charset="-122"/>
              </a:rPr>
              <a:t>	   …</a:t>
            </a:r>
          </a:p>
          <a:p>
            <a:pPr eaLnBrk="1" hangingPunct="1">
              <a:spcBef>
                <a:spcPct val="10000"/>
              </a:spcBef>
              <a:buFont typeface="Wingdings" pitchFamily="2" charset="2"/>
              <a:buNone/>
              <a:defRPr/>
            </a:pPr>
            <a:r>
              <a:rPr lang="en-US" altLang="zh-CN" dirty="0">
                <a:solidFill>
                  <a:srgbClr val="104E87"/>
                </a:solidFill>
                <a:latin typeface="Comic Sans MS" panose="030F0702030302020204" pitchFamily="66" charset="0"/>
                <a:ea typeface="华光行书_CNKI" panose="02000500000000000000" pitchFamily="2" charset="-122"/>
              </a:rPr>
              <a:t>}; </a:t>
            </a:r>
          </a:p>
        </p:txBody>
      </p:sp>
      <p:sp>
        <p:nvSpPr>
          <p:cNvPr id="10" name="AutoShape 27">
            <a:extLst>
              <a:ext uri="{FF2B5EF4-FFF2-40B4-BE49-F238E27FC236}">
                <a16:creationId xmlns:a16="http://schemas.microsoft.com/office/drawing/2014/main" id="{B7EAE840-C72F-4483-B0F1-4EE4DC371D2D}"/>
              </a:ext>
            </a:extLst>
          </p:cNvPr>
          <p:cNvSpPr>
            <a:spLocks/>
          </p:cNvSpPr>
          <p:nvPr/>
        </p:nvSpPr>
        <p:spPr bwMode="auto">
          <a:xfrm>
            <a:off x="3295772" y="3019774"/>
            <a:ext cx="5486827" cy="752281"/>
          </a:xfrm>
          <a:prstGeom prst="borderCallout1">
            <a:avLst>
              <a:gd name="adj1" fmla="val 102426"/>
              <a:gd name="adj2" fmla="val 236"/>
              <a:gd name="adj3" fmla="val -49341"/>
              <a:gd name="adj4" fmla="val -16677"/>
            </a:avLst>
          </a:prstGeom>
          <a:solidFill>
            <a:srgbClr val="FFFF99"/>
          </a:solidFill>
          <a:ln w="9525">
            <a:solidFill>
              <a:srgbClr val="104E87"/>
            </a:solidFill>
            <a:miter lim="800000"/>
            <a:headEnd/>
            <a:tailEnd/>
          </a:ln>
        </p:spPr>
        <p:txBody>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marL="0" lvl="1">
              <a:spcBef>
                <a:spcPts val="0"/>
              </a:spcBef>
              <a:buNone/>
              <a:defRPr/>
            </a:pPr>
            <a:r>
              <a:rPr lang="zh-CN" altLang="en-US" sz="2400" kern="0" dirty="0">
                <a:solidFill>
                  <a:srgbClr val="104E87"/>
                </a:solidFill>
                <a:latin typeface="Comic Sans MS" panose="030F0702030302020204" pitchFamily="66" charset="0"/>
                <a:ea typeface="华光行书_CNKI" panose="02000500000000000000" pitchFamily="2" charset="-122"/>
              </a:rPr>
              <a:t>参数类型类内有效，类外无效；这些类属参数当数据类型来声明各种变量</a:t>
            </a:r>
          </a:p>
        </p:txBody>
      </p:sp>
      <p:sp>
        <p:nvSpPr>
          <p:cNvPr id="15" name="文本框 14">
            <a:extLst>
              <a:ext uri="{FF2B5EF4-FFF2-40B4-BE49-F238E27FC236}">
                <a16:creationId xmlns:a16="http://schemas.microsoft.com/office/drawing/2014/main" id="{74C148E2-209C-442E-AB01-BAF672260778}"/>
              </a:ext>
            </a:extLst>
          </p:cNvPr>
          <p:cNvSpPr txBox="1"/>
          <p:nvPr/>
        </p:nvSpPr>
        <p:spPr>
          <a:xfrm>
            <a:off x="1588" y="4479278"/>
            <a:ext cx="459167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176213" indent="-176213">
              <a:spcBef>
                <a:spcPct val="0"/>
              </a:spcBef>
              <a:buClrTx/>
              <a:buSzTx/>
              <a:buFont typeface="Wingdings" panose="05000000000000000000" pitchFamily="2" charset="2"/>
              <a:buChar char="l"/>
              <a:defRPr b="0">
                <a:solidFill>
                  <a:srgbClr val="104E87"/>
                </a:solidFill>
                <a:latin typeface="Comic Sans MS" panose="030F0702030302020204" pitchFamily="66" charset="0"/>
                <a:ea typeface="华光行书_CNKI" panose="02000500000000000000" pitchFamily="2"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r>
              <a:rPr lang="zh-CN" altLang="en-US" dirty="0"/>
              <a:t>如果在类模板外定义成员函数，则要采用以下的形式：</a:t>
            </a:r>
          </a:p>
        </p:txBody>
      </p:sp>
      <p:sp>
        <p:nvSpPr>
          <p:cNvPr id="16" name="文本框 15">
            <a:extLst>
              <a:ext uri="{FF2B5EF4-FFF2-40B4-BE49-F238E27FC236}">
                <a16:creationId xmlns:a16="http://schemas.microsoft.com/office/drawing/2014/main" id="{B8EB79C9-8BBC-4811-9201-DFA63712CB88}"/>
              </a:ext>
            </a:extLst>
          </p:cNvPr>
          <p:cNvSpPr txBox="1"/>
          <p:nvPr/>
        </p:nvSpPr>
        <p:spPr>
          <a:xfrm>
            <a:off x="4690318" y="4479278"/>
            <a:ext cx="7209695" cy="1277594"/>
          </a:xfrm>
          <a:prstGeom prst="rect">
            <a:avLst/>
          </a:prstGeom>
          <a:solidFill>
            <a:schemeClr val="accent5">
              <a:lumMod val="40000"/>
              <a:lumOff val="60000"/>
            </a:schemeClr>
          </a:solidFill>
        </p:spPr>
        <p:txBody>
          <a:bodyPr wrap="square">
            <a:spAutoFit/>
          </a:bodyPr>
          <a:lstStyle/>
          <a:p>
            <a:pPr marL="0" lvl="1" indent="0">
              <a:lnSpc>
                <a:spcPct val="80000"/>
              </a:lnSpc>
              <a:buNone/>
              <a:defRPr/>
            </a:pPr>
            <a:r>
              <a:rPr lang="en-US" altLang="zh-CN" sz="2400" spc="-100" dirty="0">
                <a:solidFill>
                  <a:srgbClr val="FF0000"/>
                </a:solidFill>
                <a:latin typeface="Comic Sans MS" panose="030F0702030302020204" pitchFamily="66" charset="0"/>
                <a:ea typeface="华光行书_CNKI" panose="02000500000000000000" pitchFamily="2" charset="-122"/>
              </a:rPr>
              <a:t>template &lt;</a:t>
            </a:r>
            <a:r>
              <a:rPr lang="zh-CN" altLang="en-US" sz="2400" spc="-100" dirty="0">
                <a:solidFill>
                  <a:srgbClr val="FF0000"/>
                </a:solidFill>
                <a:latin typeface="Comic Sans MS" panose="030F0702030302020204" pitchFamily="66" charset="0"/>
                <a:ea typeface="华光行书_CNKI" panose="02000500000000000000" pitchFamily="2" charset="-122"/>
              </a:rPr>
              <a:t>模板参数表</a:t>
            </a:r>
            <a:r>
              <a:rPr lang="en-US" altLang="zh-CN" sz="2400" spc="-100" dirty="0">
                <a:solidFill>
                  <a:srgbClr val="FF0000"/>
                </a:solidFill>
                <a:latin typeface="Comic Sans MS" panose="030F0702030302020204" pitchFamily="66" charset="0"/>
                <a:ea typeface="华光行书_CNKI" panose="02000500000000000000" pitchFamily="2" charset="-122"/>
              </a:rPr>
              <a:t>&gt;</a:t>
            </a:r>
          </a:p>
          <a:p>
            <a:pPr marL="0" lvl="1" indent="0">
              <a:lnSpc>
                <a:spcPct val="80000"/>
              </a:lnSpc>
              <a:buNone/>
              <a:defRPr/>
            </a:pPr>
            <a:r>
              <a:rPr lang="zh-CN" altLang="en-US" sz="2400" spc="-100" dirty="0">
                <a:solidFill>
                  <a:srgbClr val="104E87"/>
                </a:solidFill>
                <a:latin typeface="Comic Sans MS" panose="030F0702030302020204" pitchFamily="66" charset="0"/>
                <a:ea typeface="华光行书_CNKI" panose="02000500000000000000" pitchFamily="2" charset="-122"/>
              </a:rPr>
              <a:t>类型名 </a:t>
            </a:r>
            <a:r>
              <a:rPr lang="zh-CN" altLang="en-US" sz="2400" spc="-100" dirty="0">
                <a:solidFill>
                  <a:srgbClr val="FF0000"/>
                </a:solidFill>
                <a:latin typeface="Comic Sans MS" panose="030F0702030302020204" pitchFamily="66" charset="0"/>
                <a:ea typeface="华光行书_CNKI" panose="02000500000000000000" pitchFamily="2" charset="-122"/>
              </a:rPr>
              <a:t>类名</a:t>
            </a:r>
            <a:r>
              <a:rPr lang="en-US" altLang="zh-CN" sz="2400" spc="-100" dirty="0">
                <a:solidFill>
                  <a:srgbClr val="FF0000"/>
                </a:solidFill>
                <a:latin typeface="Comic Sans MS" panose="030F0702030302020204" pitchFamily="66" charset="0"/>
                <a:ea typeface="华光行书_CNKI" panose="02000500000000000000" pitchFamily="2" charset="-122"/>
              </a:rPr>
              <a:t>&lt;</a:t>
            </a:r>
            <a:r>
              <a:rPr lang="zh-CN" altLang="en-US" sz="2400" spc="-100" dirty="0">
                <a:solidFill>
                  <a:srgbClr val="FF0000"/>
                </a:solidFill>
                <a:latin typeface="Comic Sans MS" panose="030F0702030302020204" pitchFamily="66" charset="0"/>
                <a:ea typeface="华光行书_CNKI" panose="02000500000000000000" pitchFamily="2" charset="-122"/>
              </a:rPr>
              <a:t>模板参数标识符列表</a:t>
            </a:r>
            <a:r>
              <a:rPr lang="en-US" altLang="zh-CN" sz="2400" spc="-100" dirty="0">
                <a:solidFill>
                  <a:srgbClr val="FF0000"/>
                </a:solidFill>
                <a:latin typeface="Comic Sans MS" panose="030F0702030302020204" pitchFamily="66" charset="0"/>
                <a:ea typeface="华光行书_CNKI" panose="02000500000000000000" pitchFamily="2" charset="-122"/>
              </a:rPr>
              <a:t>&gt;::</a:t>
            </a:r>
            <a:r>
              <a:rPr lang="zh-CN" altLang="en-US" sz="2400" spc="-100" dirty="0">
                <a:solidFill>
                  <a:srgbClr val="104E87"/>
                </a:solidFill>
                <a:latin typeface="Comic Sans MS" panose="030F0702030302020204" pitchFamily="66" charset="0"/>
                <a:ea typeface="华光行书_CNKI" panose="02000500000000000000" pitchFamily="2" charset="-122"/>
              </a:rPr>
              <a:t>函数名</a:t>
            </a:r>
            <a:r>
              <a:rPr lang="en-US" altLang="zh-CN" sz="2400" spc="-100" dirty="0">
                <a:solidFill>
                  <a:srgbClr val="104E87"/>
                </a:solidFill>
                <a:latin typeface="Comic Sans MS" panose="030F0702030302020204" pitchFamily="66" charset="0"/>
                <a:ea typeface="华光行书_CNKI" panose="02000500000000000000" pitchFamily="2" charset="-122"/>
              </a:rPr>
              <a:t>(</a:t>
            </a:r>
            <a:r>
              <a:rPr lang="zh-CN" altLang="en-US" sz="2400" spc="-100" dirty="0">
                <a:solidFill>
                  <a:srgbClr val="104E87"/>
                </a:solidFill>
                <a:latin typeface="Comic Sans MS" panose="030F0702030302020204" pitchFamily="66" charset="0"/>
                <a:ea typeface="华光行书_CNKI" panose="02000500000000000000" pitchFamily="2" charset="-122"/>
              </a:rPr>
              <a:t>参数表</a:t>
            </a:r>
            <a:r>
              <a:rPr lang="en-US" altLang="zh-CN" sz="2400" spc="-100" dirty="0">
                <a:solidFill>
                  <a:srgbClr val="104E87"/>
                </a:solidFill>
                <a:latin typeface="Comic Sans MS" panose="030F0702030302020204" pitchFamily="66" charset="0"/>
                <a:ea typeface="华光行书_CNKI" panose="02000500000000000000" pitchFamily="2" charset="-122"/>
              </a:rPr>
              <a:t>){</a:t>
            </a:r>
          </a:p>
          <a:p>
            <a:pPr marL="0" lvl="1" indent="0">
              <a:lnSpc>
                <a:spcPct val="80000"/>
              </a:lnSpc>
              <a:buNone/>
              <a:defRPr/>
            </a:pPr>
            <a:endParaRPr lang="en-US" altLang="zh-CN" sz="2400" spc="-100" dirty="0">
              <a:solidFill>
                <a:srgbClr val="104E87"/>
              </a:solidFill>
              <a:latin typeface="Comic Sans MS" panose="030F0702030302020204" pitchFamily="66" charset="0"/>
              <a:ea typeface="华光行书_CNKI" panose="02000500000000000000" pitchFamily="2" charset="-122"/>
            </a:endParaRPr>
          </a:p>
          <a:p>
            <a:pPr marL="0" lvl="1" indent="0">
              <a:lnSpc>
                <a:spcPct val="80000"/>
              </a:lnSpc>
              <a:buNone/>
              <a:defRPr/>
            </a:pPr>
            <a:r>
              <a:rPr lang="en-US" altLang="zh-CN" sz="2400" spc="-100" dirty="0">
                <a:solidFill>
                  <a:srgbClr val="104E87"/>
                </a:solidFill>
                <a:latin typeface="Comic Sans MS" panose="030F0702030302020204" pitchFamily="66" charset="0"/>
                <a:ea typeface="华光行书_CNKI" panose="02000500000000000000" pitchFamily="2" charset="-122"/>
              </a:rPr>
              <a:t>}</a:t>
            </a:r>
            <a:endParaRPr lang="zh-CN" altLang="en-US" sz="2400" spc="-100" dirty="0">
              <a:solidFill>
                <a:srgbClr val="104E87"/>
              </a:solidFill>
              <a:latin typeface="Comic Sans MS" panose="030F0702030302020204" pitchFamily="66" charset="0"/>
              <a:ea typeface="华光行书_CNKI" panose="02000500000000000000" pitchFamily="2" charset="-122"/>
            </a:endParaRPr>
          </a:p>
        </p:txBody>
      </p:sp>
    </p:spTree>
    <p:extLst>
      <p:ext uri="{BB962C8B-B14F-4D97-AF65-F5344CB8AC3E}">
        <p14:creationId xmlns:p14="http://schemas.microsoft.com/office/powerpoint/2010/main" val="620052760"/>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randombar(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arn(inVertical)">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arn(inVertical)">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0" grpId="0" animBg="1" autoUpdateAnimBg="0"/>
      <p:bldP spid="15" grpId="0"/>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D5CDD4F-A373-4C54-910E-623DEE637A41}"/>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11" name="直线连接符 6">
            <a:extLst>
              <a:ext uri="{FF2B5EF4-FFF2-40B4-BE49-F238E27FC236}">
                <a16:creationId xmlns:a16="http://schemas.microsoft.com/office/drawing/2014/main" id="{3795EEBA-72E6-4EB9-983C-F2E9AAAA9E95}"/>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A1100B4F-0621-4EC4-B496-1231A15A2036}"/>
              </a:ext>
            </a:extLst>
          </p:cNvPr>
          <p:cNvSpPr txBox="1"/>
          <p:nvPr/>
        </p:nvSpPr>
        <p:spPr>
          <a:xfrm>
            <a:off x="247719" y="224527"/>
            <a:ext cx="7583296" cy="584775"/>
          </a:xfrm>
          <a:prstGeom prst="rect">
            <a:avLst/>
          </a:prstGeom>
          <a:noFill/>
        </p:spPr>
        <p:txBody>
          <a:bodyPr wrap="square" rtlCol="0">
            <a:spAutoFit/>
          </a:bodyPr>
          <a:lstStyle/>
          <a:p>
            <a:r>
              <a:rPr kumimoji="1" lang="en-US" altLang="zh-CN" sz="3200" b="1" dirty="0">
                <a:latin typeface="华光胖头鱼_CNKI" panose="02000500000000000000" pitchFamily="2" charset="-122"/>
                <a:ea typeface="华光胖头鱼_CNKI" panose="02000500000000000000" pitchFamily="2" charset="-122"/>
              </a:rPr>
              <a:t>11.4</a:t>
            </a:r>
            <a:r>
              <a:rPr kumimoji="1" lang="zh-CN" altLang="en-US" sz="3200" b="1" dirty="0">
                <a:latin typeface="华光胖头鱼_CNKI" panose="02000500000000000000" pitchFamily="2" charset="-122"/>
                <a:ea typeface="华光胖头鱼_CNKI" panose="02000500000000000000" pitchFamily="2" charset="-122"/>
              </a:rPr>
              <a:t>类模板</a:t>
            </a:r>
          </a:p>
        </p:txBody>
      </p:sp>
      <p:sp>
        <p:nvSpPr>
          <p:cNvPr id="14" name="文本框 13">
            <a:extLst>
              <a:ext uri="{FF2B5EF4-FFF2-40B4-BE49-F238E27FC236}">
                <a16:creationId xmlns:a16="http://schemas.microsoft.com/office/drawing/2014/main" id="{B31ACA94-4376-4A41-8B28-0B68C654DA7C}"/>
              </a:ext>
            </a:extLst>
          </p:cNvPr>
          <p:cNvSpPr txBox="1"/>
          <p:nvPr/>
        </p:nvSpPr>
        <p:spPr>
          <a:xfrm>
            <a:off x="-37078" y="953444"/>
            <a:ext cx="4385113" cy="4413516"/>
          </a:xfrm>
          <a:prstGeom prst="rect">
            <a:avLst/>
          </a:prstGeom>
          <a:noFill/>
          <a:ln>
            <a:noFill/>
          </a:ln>
        </p:spPr>
        <p:txBody>
          <a:bodyPr wrap="square">
            <a:spAutoFit/>
          </a:bodyPr>
          <a:lstStyle>
            <a:defPPr>
              <a:defRPr lang="en-US"/>
            </a:defPPr>
            <a:lvl1pPr>
              <a:lnSpc>
                <a:spcPct val="90000"/>
              </a:lnSpc>
              <a:spcBef>
                <a:spcPct val="0"/>
              </a:spcBef>
              <a:buClrTx/>
              <a:buSzTx/>
              <a:buFontTx/>
              <a:buNone/>
              <a:defRPr kumimoji="1">
                <a:solidFill>
                  <a:srgbClr val="FF0000"/>
                </a:solidFill>
                <a:latin typeface="Comic Sans MS" panose="030F0702030302020204" pitchFamily="66"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r>
              <a:rPr lang="zh-CN" altLang="en-US" spc="-100" dirty="0"/>
              <a:t>template &lt;class T&gt;</a:t>
            </a:r>
          </a:p>
          <a:p>
            <a:r>
              <a:rPr lang="zh-CN" altLang="en-US" spc="-100" dirty="0">
                <a:solidFill>
                  <a:srgbClr val="104E87"/>
                </a:solidFill>
              </a:rPr>
              <a:t>class CPoint</a:t>
            </a:r>
          </a:p>
          <a:p>
            <a:r>
              <a:rPr lang="zh-CN" altLang="en-US" spc="-100" dirty="0">
                <a:solidFill>
                  <a:srgbClr val="104E87"/>
                </a:solidFill>
              </a:rPr>
              <a:t>{private:</a:t>
            </a:r>
          </a:p>
          <a:p>
            <a:r>
              <a:rPr lang="zh-CN" altLang="en-US" spc="-100" dirty="0">
                <a:solidFill>
                  <a:srgbClr val="104E87"/>
                </a:solidFill>
              </a:rPr>
              <a:t>  </a:t>
            </a:r>
            <a:r>
              <a:rPr lang="zh-CN" altLang="en-US" spc="-100" dirty="0"/>
              <a:t>T</a:t>
            </a:r>
            <a:r>
              <a:rPr lang="zh-CN" altLang="en-US" spc="-100" dirty="0">
                <a:solidFill>
                  <a:srgbClr val="104E87"/>
                </a:solidFill>
              </a:rPr>
              <a:t> m_x;</a:t>
            </a:r>
          </a:p>
          <a:p>
            <a:r>
              <a:rPr lang="zh-CN" altLang="en-US" spc="-100" dirty="0">
                <a:solidFill>
                  <a:srgbClr val="104E87"/>
                </a:solidFill>
              </a:rPr>
              <a:t>  </a:t>
            </a:r>
            <a:r>
              <a:rPr lang="zh-CN" altLang="en-US" spc="-100" dirty="0"/>
              <a:t>T</a:t>
            </a:r>
            <a:r>
              <a:rPr lang="zh-CN" altLang="en-US" spc="-100" dirty="0">
                <a:solidFill>
                  <a:srgbClr val="104E87"/>
                </a:solidFill>
              </a:rPr>
              <a:t> m_y;</a:t>
            </a:r>
          </a:p>
          <a:p>
            <a:r>
              <a:rPr lang="zh-CN" altLang="en-US" spc="-100" dirty="0">
                <a:solidFill>
                  <a:srgbClr val="104E87"/>
                </a:solidFill>
              </a:rPr>
              <a:t> public:</a:t>
            </a:r>
          </a:p>
          <a:p>
            <a:r>
              <a:rPr lang="zh-CN" altLang="en-US" spc="-100" dirty="0">
                <a:solidFill>
                  <a:srgbClr val="104E87"/>
                </a:solidFill>
              </a:rPr>
              <a:t>  void SetXY(</a:t>
            </a:r>
            <a:r>
              <a:rPr lang="zh-CN" altLang="en-US" spc="-100" dirty="0"/>
              <a:t>T</a:t>
            </a:r>
            <a:r>
              <a:rPr lang="zh-CN" altLang="en-US" spc="-100" dirty="0">
                <a:solidFill>
                  <a:srgbClr val="104E87"/>
                </a:solidFill>
              </a:rPr>
              <a:t> x, </a:t>
            </a:r>
            <a:r>
              <a:rPr lang="zh-CN" altLang="en-US" spc="-100" dirty="0"/>
              <a:t>T</a:t>
            </a:r>
            <a:r>
              <a:rPr lang="zh-CN" altLang="en-US" spc="-100" dirty="0">
                <a:solidFill>
                  <a:srgbClr val="104E87"/>
                </a:solidFill>
              </a:rPr>
              <a:t> y);</a:t>
            </a:r>
          </a:p>
          <a:p>
            <a:r>
              <a:rPr lang="zh-CN" altLang="en-US" spc="-100" dirty="0">
                <a:solidFill>
                  <a:srgbClr val="104E87"/>
                </a:solidFill>
              </a:rPr>
              <a:t>  void GetXY();</a:t>
            </a:r>
          </a:p>
          <a:p>
            <a:r>
              <a:rPr lang="zh-CN" altLang="en-US" spc="-100" dirty="0">
                <a:solidFill>
                  <a:srgbClr val="104E87"/>
                </a:solidFill>
              </a:rPr>
              <a:t> CPoint()</a:t>
            </a:r>
          </a:p>
          <a:p>
            <a:r>
              <a:rPr lang="en-US" altLang="zh-CN" spc="-100" dirty="0">
                <a:solidFill>
                  <a:srgbClr val="104E87"/>
                </a:solidFill>
              </a:rPr>
              <a:t>{</a:t>
            </a:r>
            <a:r>
              <a:rPr lang="zh-CN" altLang="en-US" spc="-100" dirty="0">
                <a:solidFill>
                  <a:srgbClr val="104E87"/>
                </a:solidFill>
              </a:rPr>
              <a:t>cout&lt;&lt;"constructor"&lt;&lt;endl;}</a:t>
            </a:r>
          </a:p>
          <a:p>
            <a:r>
              <a:rPr lang="zh-CN" altLang="en-US" spc="-100" dirty="0">
                <a:solidFill>
                  <a:srgbClr val="104E87"/>
                </a:solidFill>
              </a:rPr>
              <a:t>CPoint(CPoint &amp;s)</a:t>
            </a:r>
            <a:endParaRPr lang="en-US" altLang="zh-CN" spc="-100" dirty="0">
              <a:solidFill>
                <a:srgbClr val="104E87"/>
              </a:solidFill>
            </a:endParaRPr>
          </a:p>
          <a:p>
            <a:r>
              <a:rPr lang="zh-CN" altLang="en-US" spc="-100" dirty="0">
                <a:solidFill>
                  <a:srgbClr val="104E87"/>
                </a:solidFill>
              </a:rPr>
              <a:t>{cout&lt;&lt;"copy constructor"&lt;&lt;endl;}</a:t>
            </a:r>
          </a:p>
          <a:p>
            <a:r>
              <a:rPr lang="zh-CN" altLang="en-US" spc="-100" dirty="0">
                <a:solidFill>
                  <a:srgbClr val="104E87"/>
                </a:solidFill>
              </a:rPr>
              <a:t>}; </a:t>
            </a:r>
          </a:p>
        </p:txBody>
      </p:sp>
      <p:sp>
        <p:nvSpPr>
          <p:cNvPr id="15" name="文本框 14">
            <a:extLst>
              <a:ext uri="{FF2B5EF4-FFF2-40B4-BE49-F238E27FC236}">
                <a16:creationId xmlns:a16="http://schemas.microsoft.com/office/drawing/2014/main" id="{94DE594F-F6CA-411C-B101-E50CAFB70827}"/>
              </a:ext>
            </a:extLst>
          </p:cNvPr>
          <p:cNvSpPr txBox="1"/>
          <p:nvPr/>
        </p:nvSpPr>
        <p:spPr>
          <a:xfrm>
            <a:off x="4348035" y="1025519"/>
            <a:ext cx="4225402" cy="2419124"/>
          </a:xfrm>
          <a:prstGeom prst="rect">
            <a:avLst/>
          </a:prstGeom>
          <a:noFill/>
          <a:ln>
            <a:noFill/>
          </a:ln>
        </p:spPr>
        <p:txBody>
          <a:bodyPr wrap="square">
            <a:spAutoFit/>
          </a:bodyPr>
          <a:lstStyle>
            <a:defPPr>
              <a:defRPr lang="en-US"/>
            </a:defPPr>
            <a:lvl1pPr>
              <a:lnSpc>
                <a:spcPct val="90000"/>
              </a:lnSpc>
              <a:spcBef>
                <a:spcPct val="0"/>
              </a:spcBef>
              <a:buClrTx/>
              <a:buSzTx/>
              <a:buFontTx/>
              <a:buNone/>
              <a:defRPr kumimoji="1">
                <a:solidFill>
                  <a:srgbClr val="104E87"/>
                </a:solidFill>
                <a:latin typeface="Comic Sans MS" panose="030F0702030302020204" pitchFamily="66"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r>
              <a:rPr lang="zh-CN" altLang="en-US" spc="-100" dirty="0">
                <a:solidFill>
                  <a:srgbClr val="FF0000"/>
                </a:solidFill>
              </a:rPr>
              <a:t>template &lt;class T&gt;</a:t>
            </a:r>
          </a:p>
          <a:p>
            <a:r>
              <a:rPr lang="zh-CN" altLang="en-US" spc="-100" dirty="0"/>
              <a:t>void CPoint</a:t>
            </a:r>
            <a:r>
              <a:rPr lang="zh-CN" altLang="en-US" spc="-100" dirty="0">
                <a:solidFill>
                  <a:srgbClr val="FF0000"/>
                </a:solidFill>
              </a:rPr>
              <a:t>&lt;T&gt;</a:t>
            </a:r>
            <a:r>
              <a:rPr lang="zh-CN" altLang="en-US" spc="-100" dirty="0"/>
              <a:t>::SetXY(</a:t>
            </a:r>
            <a:r>
              <a:rPr lang="zh-CN" altLang="en-US" spc="-100" dirty="0">
                <a:solidFill>
                  <a:srgbClr val="FF0000"/>
                </a:solidFill>
              </a:rPr>
              <a:t>T</a:t>
            </a:r>
            <a:r>
              <a:rPr lang="zh-CN" altLang="en-US" spc="-100" dirty="0"/>
              <a:t> x, </a:t>
            </a:r>
            <a:r>
              <a:rPr lang="zh-CN" altLang="en-US" spc="-100" dirty="0">
                <a:solidFill>
                  <a:srgbClr val="FF0000"/>
                </a:solidFill>
              </a:rPr>
              <a:t>T</a:t>
            </a:r>
            <a:r>
              <a:rPr lang="zh-CN" altLang="en-US" spc="-100" dirty="0"/>
              <a:t> y)</a:t>
            </a:r>
          </a:p>
          <a:p>
            <a:r>
              <a:rPr lang="zh-CN" altLang="en-US" spc="-100" dirty="0"/>
              <a:t>{m_x=x;m_y=y;}</a:t>
            </a:r>
            <a:endParaRPr lang="en-US" altLang="zh-CN" spc="-100" dirty="0"/>
          </a:p>
          <a:p>
            <a:endParaRPr lang="zh-CN" altLang="en-US" spc="-100" dirty="0"/>
          </a:p>
          <a:p>
            <a:r>
              <a:rPr lang="zh-CN" altLang="en-US" spc="-100" dirty="0">
                <a:solidFill>
                  <a:srgbClr val="FF0000"/>
                </a:solidFill>
              </a:rPr>
              <a:t>template &lt;class T&gt;</a:t>
            </a:r>
          </a:p>
          <a:p>
            <a:r>
              <a:rPr lang="zh-CN" altLang="en-US" spc="-100" dirty="0"/>
              <a:t>void CPoint</a:t>
            </a:r>
            <a:r>
              <a:rPr lang="zh-CN" altLang="en-US" spc="-100" dirty="0">
                <a:solidFill>
                  <a:srgbClr val="FF0000"/>
                </a:solidFill>
              </a:rPr>
              <a:t>&lt;T&gt;</a:t>
            </a:r>
            <a:r>
              <a:rPr lang="zh-CN" altLang="en-US" spc="-100" dirty="0"/>
              <a:t>::GetXY()</a:t>
            </a:r>
          </a:p>
          <a:p>
            <a:r>
              <a:rPr lang="zh-CN" altLang="en-US" spc="-100" dirty="0"/>
              <a:t>{cout&lt;&lt;m_x&lt;&lt;" "&lt;&lt;m_y&lt;&lt;endl;}</a:t>
            </a:r>
          </a:p>
        </p:txBody>
      </p:sp>
    </p:spTree>
    <p:extLst>
      <p:ext uri="{BB962C8B-B14F-4D97-AF65-F5344CB8AC3E}">
        <p14:creationId xmlns:p14="http://schemas.microsoft.com/office/powerpoint/2010/main" val="1574134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randombar(horizont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D5CDD4F-A373-4C54-910E-623DEE637A41}"/>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11" name="直线连接符 6">
            <a:extLst>
              <a:ext uri="{FF2B5EF4-FFF2-40B4-BE49-F238E27FC236}">
                <a16:creationId xmlns:a16="http://schemas.microsoft.com/office/drawing/2014/main" id="{3795EEBA-72E6-4EB9-983C-F2E9AAAA9E95}"/>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A1100B4F-0621-4EC4-B496-1231A15A2036}"/>
              </a:ext>
            </a:extLst>
          </p:cNvPr>
          <p:cNvSpPr txBox="1"/>
          <p:nvPr/>
        </p:nvSpPr>
        <p:spPr>
          <a:xfrm>
            <a:off x="247719" y="224527"/>
            <a:ext cx="7583296" cy="584775"/>
          </a:xfrm>
          <a:prstGeom prst="rect">
            <a:avLst/>
          </a:prstGeom>
          <a:noFill/>
        </p:spPr>
        <p:txBody>
          <a:bodyPr wrap="square" rtlCol="0">
            <a:spAutoFit/>
          </a:bodyPr>
          <a:lstStyle/>
          <a:p>
            <a:r>
              <a:rPr kumimoji="1" lang="en-US" altLang="zh-CN" sz="3200" b="1" dirty="0">
                <a:latin typeface="华光胖头鱼_CNKI" panose="02000500000000000000" pitchFamily="2" charset="-122"/>
                <a:ea typeface="华光胖头鱼_CNKI" panose="02000500000000000000" pitchFamily="2" charset="-122"/>
              </a:rPr>
              <a:t>11.4</a:t>
            </a:r>
            <a:r>
              <a:rPr kumimoji="1" lang="zh-CN" altLang="en-US" sz="3200" b="1" dirty="0">
                <a:latin typeface="华光胖头鱼_CNKI" panose="02000500000000000000" pitchFamily="2" charset="-122"/>
                <a:ea typeface="华光胖头鱼_CNKI" panose="02000500000000000000" pitchFamily="2" charset="-122"/>
              </a:rPr>
              <a:t>类模板</a:t>
            </a:r>
            <a:r>
              <a:rPr kumimoji="1" lang="en-US" altLang="zh-CN" sz="3200" b="1" dirty="0">
                <a:latin typeface="华光胖头鱼_CNKI" panose="02000500000000000000" pitchFamily="2" charset="-122"/>
                <a:ea typeface="华光胖头鱼_CNKI" panose="02000500000000000000" pitchFamily="2" charset="-122"/>
              </a:rPr>
              <a:t>——</a:t>
            </a:r>
            <a:r>
              <a:rPr kumimoji="1" lang="zh-CN" altLang="en-US" sz="3200" b="1" dirty="0">
                <a:latin typeface="华光胖头鱼_CNKI" panose="02000500000000000000" pitchFamily="2" charset="-122"/>
                <a:ea typeface="华光胖头鱼_CNKI" panose="02000500000000000000" pitchFamily="2" charset="-122"/>
              </a:rPr>
              <a:t>实例化</a:t>
            </a:r>
          </a:p>
        </p:txBody>
      </p:sp>
      <p:sp>
        <p:nvSpPr>
          <p:cNvPr id="16" name="文本框 15">
            <a:extLst>
              <a:ext uri="{FF2B5EF4-FFF2-40B4-BE49-F238E27FC236}">
                <a16:creationId xmlns:a16="http://schemas.microsoft.com/office/drawing/2014/main" id="{6E91A597-8B28-42AA-A429-F78B7B2B28BB}"/>
              </a:ext>
            </a:extLst>
          </p:cNvPr>
          <p:cNvSpPr txBox="1"/>
          <p:nvPr/>
        </p:nvSpPr>
        <p:spPr>
          <a:xfrm>
            <a:off x="9119352" y="1025519"/>
            <a:ext cx="3071855" cy="3083921"/>
          </a:xfrm>
          <a:prstGeom prst="rect">
            <a:avLst/>
          </a:prstGeom>
          <a:noFill/>
          <a:ln>
            <a:noFill/>
          </a:ln>
        </p:spPr>
        <p:txBody>
          <a:bodyPr wrap="square">
            <a:spAutoFit/>
          </a:bodyPr>
          <a:lstStyle>
            <a:defPPr>
              <a:defRPr lang="en-US"/>
            </a:defPPr>
            <a:lvl1pPr>
              <a:lnSpc>
                <a:spcPct val="90000"/>
              </a:lnSpc>
              <a:spcBef>
                <a:spcPct val="0"/>
              </a:spcBef>
              <a:buClrTx/>
              <a:buSzTx/>
              <a:buFontTx/>
              <a:buNone/>
              <a:defRPr kumimoji="1">
                <a:solidFill>
                  <a:srgbClr val="104E87"/>
                </a:solidFill>
                <a:latin typeface="Comic Sans MS" panose="030F0702030302020204" pitchFamily="66" charset="0"/>
                <a:ea typeface="宋体" panose="02010600030101010101" pitchFamily="2"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r>
              <a:rPr lang="zh-CN" altLang="en-US" spc="-100" dirty="0"/>
              <a:t>int main()</a:t>
            </a:r>
          </a:p>
          <a:p>
            <a:r>
              <a:rPr lang="zh-CN" altLang="en-US" spc="-100" dirty="0"/>
              <a:t>{ </a:t>
            </a:r>
            <a:r>
              <a:rPr lang="zh-CN" altLang="en-US" spc="-100" dirty="0">
                <a:solidFill>
                  <a:srgbClr val="FF0000"/>
                </a:solidFill>
              </a:rPr>
              <a:t>CPoint&lt;double&gt;</a:t>
            </a:r>
            <a:r>
              <a:rPr lang="zh-CN" altLang="en-US" spc="-100" dirty="0"/>
              <a:t> p, p2;   </a:t>
            </a:r>
          </a:p>
          <a:p>
            <a:r>
              <a:rPr lang="zh-CN" altLang="en-US" spc="-100" dirty="0"/>
              <a:t>double a=4.5,b=6;</a:t>
            </a:r>
          </a:p>
          <a:p>
            <a:r>
              <a:rPr lang="zh-CN" altLang="en-US" spc="-100" dirty="0"/>
              <a:t>p.SetXY(a,b);</a:t>
            </a:r>
          </a:p>
          <a:p>
            <a:r>
              <a:rPr lang="zh-CN" altLang="en-US" spc="-100" dirty="0"/>
              <a:t>p.GetXY();</a:t>
            </a:r>
          </a:p>
          <a:p>
            <a:r>
              <a:rPr lang="zh-CN" altLang="en-US" spc="-100" dirty="0"/>
              <a:t>p2=p;</a:t>
            </a:r>
          </a:p>
          <a:p>
            <a:r>
              <a:rPr lang="zh-CN" altLang="en-US" spc="-100" dirty="0"/>
              <a:t>p2.GetXY ();</a:t>
            </a:r>
          </a:p>
          <a:p>
            <a:r>
              <a:rPr lang="zh-CN" altLang="en-US" spc="-100" dirty="0"/>
              <a:t>return 0;</a:t>
            </a:r>
          </a:p>
          <a:p>
            <a:r>
              <a:rPr lang="zh-CN" altLang="en-US" spc="-100" dirty="0"/>
              <a:t>}</a:t>
            </a:r>
          </a:p>
        </p:txBody>
      </p:sp>
      <p:sp>
        <p:nvSpPr>
          <p:cNvPr id="3" name="Rectangle 3">
            <a:extLst>
              <a:ext uri="{FF2B5EF4-FFF2-40B4-BE49-F238E27FC236}">
                <a16:creationId xmlns:a16="http://schemas.microsoft.com/office/drawing/2014/main" id="{C4AA48A2-DB35-02D5-EE63-74F930F63726}"/>
              </a:ext>
            </a:extLst>
          </p:cNvPr>
          <p:cNvSpPr txBox="1">
            <a:spLocks noChangeArrowheads="1"/>
          </p:cNvSpPr>
          <p:nvPr/>
        </p:nvSpPr>
        <p:spPr bwMode="auto">
          <a:xfrm>
            <a:off x="174306" y="1025519"/>
            <a:ext cx="894504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176213" indent="-176213">
              <a:spcBef>
                <a:spcPct val="0"/>
              </a:spcBef>
              <a:buClrTx/>
              <a:buSzTx/>
              <a:buFont typeface="Wingdings" panose="05000000000000000000" pitchFamily="2" charset="2"/>
              <a:buChar char="l"/>
              <a:defRPr b="0">
                <a:solidFill>
                  <a:srgbClr val="104E87"/>
                </a:solidFill>
                <a:latin typeface="Comic Sans MS" panose="030F0702030302020204" pitchFamily="66" charset="0"/>
                <a:ea typeface="华光行书_CNKI" panose="02000500000000000000" pitchFamily="2"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r>
              <a:rPr lang="zh-CN" altLang="en-US" dirty="0"/>
              <a:t>类模板不是类，不能创建对象，只有经过实例化后才得到类</a:t>
            </a:r>
          </a:p>
          <a:p>
            <a:r>
              <a:rPr lang="zh-CN" altLang="en-US" dirty="0"/>
              <a:t>实例化的一般形式：</a:t>
            </a:r>
          </a:p>
          <a:p>
            <a:pPr marL="0" indent="0">
              <a:buNone/>
            </a:pPr>
            <a:r>
              <a:rPr lang="en-US" altLang="zh-CN" dirty="0"/>
              <a:t>	</a:t>
            </a:r>
            <a:r>
              <a:rPr lang="zh-CN" altLang="en-US" dirty="0"/>
              <a:t>类模板名字</a:t>
            </a:r>
            <a:r>
              <a:rPr lang="en-US" altLang="zh-CN" dirty="0"/>
              <a:t>&lt;</a:t>
            </a:r>
            <a:r>
              <a:rPr lang="zh-CN" altLang="en-US" dirty="0"/>
              <a:t>实际类属参数表</a:t>
            </a:r>
            <a:r>
              <a:rPr lang="en-US" altLang="zh-CN" dirty="0"/>
              <a:t>&gt; </a:t>
            </a:r>
          </a:p>
          <a:p>
            <a:pPr marL="0" indent="0">
              <a:buNone/>
            </a:pPr>
            <a:r>
              <a:rPr lang="en-US" altLang="zh-CN" spc="-100" dirty="0">
                <a:solidFill>
                  <a:srgbClr val="FF0000"/>
                </a:solidFill>
              </a:rPr>
              <a:t>	</a:t>
            </a:r>
            <a:r>
              <a:rPr lang="zh-CN" altLang="en-US" spc="-100" dirty="0">
                <a:solidFill>
                  <a:srgbClr val="FF0000"/>
                </a:solidFill>
              </a:rPr>
              <a:t>CPoint&lt;double&gt;</a:t>
            </a:r>
            <a:r>
              <a:rPr lang="zh-CN" altLang="en-US" spc="-100" dirty="0"/>
              <a:t> </a:t>
            </a:r>
            <a:endParaRPr lang="zh-CN" altLang="en-US" dirty="0"/>
          </a:p>
          <a:p>
            <a:r>
              <a:rPr lang="zh-CN" altLang="en-US" dirty="0"/>
              <a:t>一个类模板可以实例化为多个不同的类</a:t>
            </a:r>
            <a:endParaRPr lang="en-US" altLang="zh-CN" dirty="0"/>
          </a:p>
        </p:txBody>
      </p:sp>
      <p:sp>
        <p:nvSpPr>
          <p:cNvPr id="4" name="Rectangle 4">
            <a:extLst>
              <a:ext uri="{FF2B5EF4-FFF2-40B4-BE49-F238E27FC236}">
                <a16:creationId xmlns:a16="http://schemas.microsoft.com/office/drawing/2014/main" id="{66B83CB9-C420-B196-483C-3C6A217DA17C}"/>
              </a:ext>
            </a:extLst>
          </p:cNvPr>
          <p:cNvSpPr>
            <a:spLocks noChangeArrowheads="1"/>
          </p:cNvSpPr>
          <p:nvPr/>
        </p:nvSpPr>
        <p:spPr bwMode="auto">
          <a:xfrm>
            <a:off x="2501335" y="3235977"/>
            <a:ext cx="1369219" cy="503238"/>
          </a:xfrm>
          <a:prstGeom prst="rect">
            <a:avLst/>
          </a:prstGeom>
          <a:solidFill>
            <a:srgbClr val="00B0F0"/>
          </a:solidFill>
          <a:ln w="9525">
            <a:solidFill>
              <a:schemeClr val="tx1"/>
            </a:solidFill>
            <a:miter lim="800000"/>
            <a:headEnd/>
            <a:tailEnd/>
          </a:ln>
          <a:effectLst/>
        </p:spPr>
        <p:txBody>
          <a:bodyPr wrap="none" lIns="0" tIns="0" rIns="0" bIns="0" anchor="ctr"/>
          <a:lstStyle/>
          <a:p>
            <a:pPr algn="ctr" eaLnBrk="1" hangingPunct="1">
              <a:defRPr/>
            </a:pPr>
            <a:r>
              <a:rPr kumimoji="1" lang="zh-CN" altLang="en-US" dirty="0">
                <a:latin typeface="Comic Sans MS" panose="030F0702030302020204" pitchFamily="66" charset="0"/>
                <a:ea typeface="华光行书_CNKI" panose="02000500000000000000" pitchFamily="2" charset="-122"/>
              </a:rPr>
              <a:t>类模板</a:t>
            </a:r>
          </a:p>
        </p:txBody>
      </p:sp>
      <p:sp>
        <p:nvSpPr>
          <p:cNvPr id="5" name="Rectangle 5">
            <a:extLst>
              <a:ext uri="{FF2B5EF4-FFF2-40B4-BE49-F238E27FC236}">
                <a16:creationId xmlns:a16="http://schemas.microsoft.com/office/drawing/2014/main" id="{A66591EF-FBA0-783E-5464-C88190694EF8}"/>
              </a:ext>
            </a:extLst>
          </p:cNvPr>
          <p:cNvSpPr>
            <a:spLocks noChangeArrowheads="1"/>
          </p:cNvSpPr>
          <p:nvPr/>
        </p:nvSpPr>
        <p:spPr bwMode="auto">
          <a:xfrm>
            <a:off x="1464196" y="4626742"/>
            <a:ext cx="653197" cy="503238"/>
          </a:xfrm>
          <a:prstGeom prst="rect">
            <a:avLst/>
          </a:prstGeom>
          <a:solidFill>
            <a:schemeClr val="accent1"/>
          </a:solidFill>
          <a:ln w="9525">
            <a:solidFill>
              <a:schemeClr val="tx1"/>
            </a:solidFill>
            <a:miter lim="800000"/>
            <a:headEnd/>
            <a:tailEnd/>
          </a:ln>
          <a:effectLst/>
        </p:spPr>
        <p:txBody>
          <a:bodyPr wrap="none" lIns="0" tIns="0" rIns="0" bIns="0" anchor="ctr"/>
          <a:lstStyle/>
          <a:p>
            <a:pPr algn="ctr" eaLnBrk="1" hangingPunct="1">
              <a:defRPr/>
            </a:pPr>
            <a:r>
              <a:rPr kumimoji="1" lang="zh-CN" altLang="en-US" spc="-260" dirty="0">
                <a:latin typeface="Comic Sans MS" panose="030F0702030302020204" pitchFamily="66" charset="0"/>
                <a:ea typeface="华光行书_CNKI" panose="02000500000000000000" pitchFamily="2" charset="-122"/>
              </a:rPr>
              <a:t>类</a:t>
            </a:r>
            <a:r>
              <a:rPr kumimoji="1" lang="en-US" altLang="zh-CN" spc="-260" dirty="0">
                <a:latin typeface="Comic Sans MS" panose="030F0702030302020204" pitchFamily="66" charset="0"/>
                <a:ea typeface="华光行书_CNKI" panose="02000500000000000000" pitchFamily="2" charset="-122"/>
              </a:rPr>
              <a:t>A</a:t>
            </a:r>
          </a:p>
        </p:txBody>
      </p:sp>
      <p:sp>
        <p:nvSpPr>
          <p:cNvPr id="6" name="Rectangle 6">
            <a:extLst>
              <a:ext uri="{FF2B5EF4-FFF2-40B4-BE49-F238E27FC236}">
                <a16:creationId xmlns:a16="http://schemas.microsoft.com/office/drawing/2014/main" id="{9AF3AC09-320C-9E37-19FE-632875F623A7}"/>
              </a:ext>
            </a:extLst>
          </p:cNvPr>
          <p:cNvSpPr>
            <a:spLocks noChangeArrowheads="1"/>
          </p:cNvSpPr>
          <p:nvPr/>
        </p:nvSpPr>
        <p:spPr bwMode="auto">
          <a:xfrm>
            <a:off x="2849435" y="4665764"/>
            <a:ext cx="750875" cy="476206"/>
          </a:xfrm>
          <a:prstGeom prst="rect">
            <a:avLst/>
          </a:prstGeom>
          <a:solidFill>
            <a:schemeClr val="accent1"/>
          </a:solidFill>
          <a:ln w="9525">
            <a:solidFill>
              <a:schemeClr val="tx1"/>
            </a:solidFill>
            <a:miter lim="800000"/>
            <a:headEnd/>
            <a:tailEnd/>
          </a:ln>
          <a:effectLst/>
        </p:spPr>
        <p:txBody>
          <a:bodyPr wrap="none" lIns="0" tIns="0" rIns="0" bIns="0" anchor="ctr"/>
          <a:lstStyle/>
          <a:p>
            <a:pPr algn="ctr" eaLnBrk="1" hangingPunct="1">
              <a:defRPr/>
            </a:pPr>
            <a:r>
              <a:rPr kumimoji="1" lang="zh-CN" altLang="en-US" spc="-200" dirty="0">
                <a:latin typeface="Comic Sans MS" panose="030F0702030302020204" pitchFamily="66" charset="0"/>
                <a:ea typeface="华光行书_CNKI" panose="02000500000000000000" pitchFamily="2" charset="-122"/>
              </a:rPr>
              <a:t>类</a:t>
            </a:r>
            <a:r>
              <a:rPr kumimoji="1" lang="en-US" altLang="zh-CN" spc="-200" dirty="0">
                <a:latin typeface="Comic Sans MS" panose="030F0702030302020204" pitchFamily="66" charset="0"/>
                <a:ea typeface="华光行书_CNKI" panose="02000500000000000000" pitchFamily="2" charset="-122"/>
              </a:rPr>
              <a:t>B</a:t>
            </a:r>
          </a:p>
        </p:txBody>
      </p:sp>
      <p:sp>
        <p:nvSpPr>
          <p:cNvPr id="7" name="Rectangle 7">
            <a:extLst>
              <a:ext uri="{FF2B5EF4-FFF2-40B4-BE49-F238E27FC236}">
                <a16:creationId xmlns:a16="http://schemas.microsoft.com/office/drawing/2014/main" id="{2F89A6E7-E0E7-1E41-A609-7ADF379BB7DB}"/>
              </a:ext>
            </a:extLst>
          </p:cNvPr>
          <p:cNvSpPr>
            <a:spLocks noChangeArrowheads="1"/>
          </p:cNvSpPr>
          <p:nvPr/>
        </p:nvSpPr>
        <p:spPr bwMode="auto">
          <a:xfrm>
            <a:off x="4169763" y="4634276"/>
            <a:ext cx="641986" cy="503238"/>
          </a:xfrm>
          <a:prstGeom prst="rect">
            <a:avLst/>
          </a:prstGeom>
          <a:solidFill>
            <a:schemeClr val="accent1"/>
          </a:solidFill>
          <a:ln w="9525">
            <a:solidFill>
              <a:schemeClr val="tx1"/>
            </a:solidFill>
            <a:miter lim="800000"/>
            <a:headEnd/>
            <a:tailEnd/>
          </a:ln>
          <a:effectLst/>
        </p:spPr>
        <p:txBody>
          <a:bodyPr wrap="none" lIns="0" tIns="0" rIns="0" bIns="0" anchor="ctr"/>
          <a:lstStyle/>
          <a:p>
            <a:pPr algn="ctr" eaLnBrk="1" hangingPunct="1">
              <a:defRPr/>
            </a:pPr>
            <a:r>
              <a:rPr kumimoji="1" lang="zh-CN" altLang="en-US" spc="-200" dirty="0">
                <a:latin typeface="Comic Sans MS" panose="030F0702030302020204" pitchFamily="66" charset="0"/>
                <a:ea typeface="华光行书_CNKI" panose="02000500000000000000" pitchFamily="2" charset="-122"/>
              </a:rPr>
              <a:t>类</a:t>
            </a:r>
            <a:r>
              <a:rPr kumimoji="1" lang="en-US" altLang="zh-CN" spc="-200" dirty="0">
                <a:latin typeface="Comic Sans MS" panose="030F0702030302020204" pitchFamily="66" charset="0"/>
                <a:ea typeface="华光行书_CNKI" panose="02000500000000000000" pitchFamily="2" charset="-122"/>
              </a:rPr>
              <a:t>C</a:t>
            </a:r>
          </a:p>
        </p:txBody>
      </p:sp>
      <p:sp>
        <p:nvSpPr>
          <p:cNvPr id="8" name="Text Box 8">
            <a:extLst>
              <a:ext uri="{FF2B5EF4-FFF2-40B4-BE49-F238E27FC236}">
                <a16:creationId xmlns:a16="http://schemas.microsoft.com/office/drawing/2014/main" id="{585C6634-B79F-69AF-7597-D79246EC0E65}"/>
              </a:ext>
            </a:extLst>
          </p:cNvPr>
          <p:cNvSpPr txBox="1">
            <a:spLocks noChangeArrowheads="1"/>
          </p:cNvSpPr>
          <p:nvPr/>
        </p:nvSpPr>
        <p:spPr bwMode="auto">
          <a:xfrm>
            <a:off x="1842903" y="3827320"/>
            <a:ext cx="720725" cy="307777"/>
          </a:xfrm>
          <a:prstGeom prst="rect">
            <a:avLst/>
          </a:prstGeom>
          <a:noFill/>
          <a:ln>
            <a:noFill/>
          </a:ln>
          <a:effectLst/>
        </p:spPr>
        <p:txBody>
          <a:bodyPr wrap="square" lIns="0" tIns="0" rIns="0" bIns="0">
            <a:spAutoFit/>
          </a:bodyPr>
          <a:lstStyle/>
          <a:p>
            <a:pPr algn="ctr" eaLnBrk="1" hangingPunct="1">
              <a:spcBef>
                <a:spcPct val="50000"/>
              </a:spcBef>
              <a:defRPr/>
            </a:pPr>
            <a:r>
              <a:rPr kumimoji="1" lang="en-US" altLang="zh-CN" sz="2000" dirty="0">
                <a:solidFill>
                  <a:srgbClr val="104E87"/>
                </a:solidFill>
                <a:latin typeface="Comic Sans MS" panose="030F0702030302020204" pitchFamily="66" charset="0"/>
                <a:ea typeface="华光行书_CNKI" panose="02000500000000000000" pitchFamily="2" charset="-122"/>
              </a:rPr>
              <a:t>int</a:t>
            </a:r>
          </a:p>
        </p:txBody>
      </p:sp>
      <p:sp>
        <p:nvSpPr>
          <p:cNvPr id="9" name="Rectangle 9">
            <a:extLst>
              <a:ext uri="{FF2B5EF4-FFF2-40B4-BE49-F238E27FC236}">
                <a16:creationId xmlns:a16="http://schemas.microsoft.com/office/drawing/2014/main" id="{92AEC32F-6241-A608-DC83-C8878CBB678D}"/>
              </a:ext>
            </a:extLst>
          </p:cNvPr>
          <p:cNvSpPr>
            <a:spLocks noChangeArrowheads="1"/>
          </p:cNvSpPr>
          <p:nvPr/>
        </p:nvSpPr>
        <p:spPr bwMode="auto">
          <a:xfrm>
            <a:off x="1419412" y="5587302"/>
            <a:ext cx="806980" cy="765835"/>
          </a:xfrm>
          <a:prstGeom prst="rect">
            <a:avLst/>
          </a:prstGeom>
          <a:solidFill>
            <a:schemeClr val="accent1"/>
          </a:solidFill>
          <a:ln w="9525">
            <a:solidFill>
              <a:schemeClr val="tx1"/>
            </a:solidFill>
            <a:miter lim="800000"/>
            <a:headEnd/>
            <a:tailEnd/>
          </a:ln>
          <a:effectLst/>
        </p:spPr>
        <p:txBody>
          <a:bodyPr wrap="none" lIns="0" tIns="0" rIns="0" bIns="0" anchor="ctr"/>
          <a:lstStyle/>
          <a:p>
            <a:pPr algn="ctr" eaLnBrk="1" hangingPunct="1">
              <a:lnSpc>
                <a:spcPct val="80000"/>
              </a:lnSpc>
              <a:defRPr/>
            </a:pPr>
            <a:r>
              <a:rPr kumimoji="1" lang="zh-CN" altLang="en-US" spc="-200" dirty="0">
                <a:latin typeface="Comic Sans MS" panose="030F0702030302020204" pitchFamily="66" charset="0"/>
                <a:ea typeface="华光行书_CNKI" panose="02000500000000000000" pitchFamily="2" charset="-122"/>
              </a:rPr>
              <a:t>类</a:t>
            </a:r>
            <a:r>
              <a:rPr kumimoji="1" lang="en-US" altLang="zh-CN" spc="-200" dirty="0">
                <a:latin typeface="Comic Sans MS" panose="030F0702030302020204" pitchFamily="66" charset="0"/>
                <a:ea typeface="华光行书_CNKI" panose="02000500000000000000" pitchFamily="2" charset="-122"/>
              </a:rPr>
              <a:t>A</a:t>
            </a:r>
          </a:p>
          <a:p>
            <a:pPr algn="ctr" eaLnBrk="1" hangingPunct="1">
              <a:lnSpc>
                <a:spcPct val="80000"/>
              </a:lnSpc>
              <a:defRPr/>
            </a:pPr>
            <a:r>
              <a:rPr kumimoji="1" lang="zh-CN" altLang="en-US" spc="-200" dirty="0">
                <a:latin typeface="Comic Sans MS" panose="030F0702030302020204" pitchFamily="66" charset="0"/>
                <a:ea typeface="华光行书_CNKI" panose="02000500000000000000" pitchFamily="2" charset="-122"/>
              </a:rPr>
              <a:t>对象</a:t>
            </a:r>
          </a:p>
        </p:txBody>
      </p:sp>
      <p:sp>
        <p:nvSpPr>
          <p:cNvPr id="10" name="Rectangle 10">
            <a:extLst>
              <a:ext uri="{FF2B5EF4-FFF2-40B4-BE49-F238E27FC236}">
                <a16:creationId xmlns:a16="http://schemas.microsoft.com/office/drawing/2014/main" id="{56ACE343-203F-DD80-BADE-EF64721FAC01}"/>
              </a:ext>
            </a:extLst>
          </p:cNvPr>
          <p:cNvSpPr>
            <a:spLocks noChangeArrowheads="1"/>
          </p:cNvSpPr>
          <p:nvPr/>
        </p:nvSpPr>
        <p:spPr bwMode="auto">
          <a:xfrm>
            <a:off x="2776607" y="5641067"/>
            <a:ext cx="750875" cy="681815"/>
          </a:xfrm>
          <a:prstGeom prst="rect">
            <a:avLst/>
          </a:prstGeom>
          <a:solidFill>
            <a:schemeClr val="accent1"/>
          </a:solidFill>
          <a:ln w="9525">
            <a:solidFill>
              <a:schemeClr val="tx1"/>
            </a:solidFill>
            <a:miter lim="800000"/>
            <a:headEnd/>
            <a:tailEnd/>
          </a:ln>
          <a:effectLst/>
        </p:spPr>
        <p:txBody>
          <a:bodyPr wrap="none" lIns="0" tIns="0" rIns="0" bIns="0" anchor="ctr"/>
          <a:lstStyle/>
          <a:p>
            <a:pPr algn="ctr">
              <a:lnSpc>
                <a:spcPct val="80000"/>
              </a:lnSpc>
            </a:pPr>
            <a:r>
              <a:rPr kumimoji="1" lang="zh-CN" altLang="en-US" spc="-200" dirty="0">
                <a:latin typeface="Comic Sans MS" panose="030F0702030302020204" pitchFamily="66" charset="0"/>
                <a:ea typeface="华光行书_CNKI" panose="02000500000000000000" pitchFamily="2" charset="-122"/>
              </a:rPr>
              <a:t>类</a:t>
            </a:r>
            <a:r>
              <a:rPr kumimoji="1" lang="en-US" altLang="zh-CN" spc="-200" dirty="0">
                <a:latin typeface="Comic Sans MS" panose="030F0702030302020204" pitchFamily="66" charset="0"/>
                <a:ea typeface="华光行书_CNKI" panose="02000500000000000000" pitchFamily="2" charset="-122"/>
              </a:rPr>
              <a:t>B</a:t>
            </a:r>
          </a:p>
          <a:p>
            <a:pPr algn="ctr">
              <a:lnSpc>
                <a:spcPct val="80000"/>
              </a:lnSpc>
            </a:pPr>
            <a:r>
              <a:rPr kumimoji="1" lang="zh-CN" altLang="en-US" spc="-200" dirty="0">
                <a:latin typeface="Comic Sans MS" panose="030F0702030302020204" pitchFamily="66" charset="0"/>
                <a:ea typeface="华光行书_CNKI" panose="02000500000000000000" pitchFamily="2" charset="-122"/>
              </a:rPr>
              <a:t>对象</a:t>
            </a:r>
          </a:p>
        </p:txBody>
      </p:sp>
      <p:sp>
        <p:nvSpPr>
          <p:cNvPr id="13" name="Rectangle 11">
            <a:extLst>
              <a:ext uri="{FF2B5EF4-FFF2-40B4-BE49-F238E27FC236}">
                <a16:creationId xmlns:a16="http://schemas.microsoft.com/office/drawing/2014/main" id="{3D2C586D-7D5F-4780-9B6B-8C6A7FD93371}"/>
              </a:ext>
            </a:extLst>
          </p:cNvPr>
          <p:cNvSpPr>
            <a:spLocks noChangeArrowheads="1"/>
          </p:cNvSpPr>
          <p:nvPr/>
        </p:nvSpPr>
        <p:spPr bwMode="auto">
          <a:xfrm>
            <a:off x="4052531" y="5623204"/>
            <a:ext cx="817989" cy="681815"/>
          </a:xfrm>
          <a:prstGeom prst="rect">
            <a:avLst/>
          </a:prstGeom>
          <a:solidFill>
            <a:schemeClr val="accent1"/>
          </a:solidFill>
          <a:ln w="9525">
            <a:solidFill>
              <a:schemeClr val="tx1"/>
            </a:solidFill>
            <a:miter lim="800000"/>
            <a:headEnd/>
            <a:tailEnd/>
          </a:ln>
          <a:effectLst/>
        </p:spPr>
        <p:txBody>
          <a:bodyPr wrap="none" lIns="0" tIns="0" rIns="0" bIns="0" anchor="ctr"/>
          <a:lstStyle/>
          <a:p>
            <a:pPr algn="ctr">
              <a:lnSpc>
                <a:spcPct val="80000"/>
              </a:lnSpc>
            </a:pPr>
            <a:r>
              <a:rPr kumimoji="1" lang="zh-CN" altLang="en-US" spc="-200">
                <a:latin typeface="Comic Sans MS" panose="030F0702030302020204" pitchFamily="66" charset="0"/>
                <a:ea typeface="华光行书_CNKI" panose="02000500000000000000" pitchFamily="2" charset="-122"/>
              </a:rPr>
              <a:t>类</a:t>
            </a:r>
            <a:r>
              <a:rPr kumimoji="1" lang="en-US" altLang="zh-CN" spc="-200" dirty="0">
                <a:latin typeface="Comic Sans MS" panose="030F0702030302020204" pitchFamily="66" charset="0"/>
                <a:ea typeface="华光行书_CNKI" panose="02000500000000000000" pitchFamily="2" charset="-122"/>
              </a:rPr>
              <a:t>C</a:t>
            </a:r>
          </a:p>
          <a:p>
            <a:pPr algn="ctr">
              <a:lnSpc>
                <a:spcPct val="80000"/>
              </a:lnSpc>
            </a:pPr>
            <a:r>
              <a:rPr kumimoji="1" lang="zh-CN" altLang="en-US" spc="-200" dirty="0">
                <a:latin typeface="Comic Sans MS" panose="030F0702030302020204" pitchFamily="66" charset="0"/>
                <a:ea typeface="华光行书_CNKI" panose="02000500000000000000" pitchFamily="2" charset="-122"/>
              </a:rPr>
              <a:t>对象</a:t>
            </a:r>
          </a:p>
        </p:txBody>
      </p:sp>
      <p:sp>
        <p:nvSpPr>
          <p:cNvPr id="14" name="Text Box 12">
            <a:extLst>
              <a:ext uri="{FF2B5EF4-FFF2-40B4-BE49-F238E27FC236}">
                <a16:creationId xmlns:a16="http://schemas.microsoft.com/office/drawing/2014/main" id="{9151459A-3C3F-BF7A-7837-F84A784D8DC1}"/>
              </a:ext>
            </a:extLst>
          </p:cNvPr>
          <p:cNvSpPr txBox="1">
            <a:spLocks noChangeArrowheads="1"/>
          </p:cNvSpPr>
          <p:nvPr/>
        </p:nvSpPr>
        <p:spPr bwMode="auto">
          <a:xfrm>
            <a:off x="3456207" y="5536839"/>
            <a:ext cx="576262" cy="461665"/>
          </a:xfrm>
          <a:prstGeom prst="rect">
            <a:avLst/>
          </a:prstGeom>
          <a:noFill/>
          <a:ln>
            <a:noFill/>
          </a:ln>
          <a:effectLst/>
        </p:spPr>
        <p:txBody>
          <a:bodyPr>
            <a:spAutoFit/>
          </a:bodyPr>
          <a:lstStyle/>
          <a:p>
            <a:pPr algn="ctr" eaLnBrk="1" hangingPunct="1">
              <a:spcBef>
                <a:spcPct val="50000"/>
              </a:spcBef>
              <a:defRPr/>
            </a:pPr>
            <a:r>
              <a:rPr kumimoji="1" lang="en-US" altLang="zh-CN" spc="-200" dirty="0">
                <a:solidFill>
                  <a:srgbClr val="104E87"/>
                </a:solidFill>
                <a:latin typeface="Comic Sans MS" panose="030F0702030302020204" pitchFamily="66" charset="0"/>
                <a:ea typeface="华光行书_CNKI" panose="02000500000000000000" pitchFamily="2" charset="-122"/>
              </a:rPr>
              <a:t>…</a:t>
            </a:r>
          </a:p>
        </p:txBody>
      </p:sp>
      <p:sp>
        <p:nvSpPr>
          <p:cNvPr id="15" name="Line 13">
            <a:extLst>
              <a:ext uri="{FF2B5EF4-FFF2-40B4-BE49-F238E27FC236}">
                <a16:creationId xmlns:a16="http://schemas.microsoft.com/office/drawing/2014/main" id="{1734DB7C-DB70-0261-6232-8D7D4FF1B925}"/>
              </a:ext>
            </a:extLst>
          </p:cNvPr>
          <p:cNvSpPr>
            <a:spLocks noChangeShapeType="1"/>
          </p:cNvSpPr>
          <p:nvPr/>
        </p:nvSpPr>
        <p:spPr bwMode="auto">
          <a:xfrm flipH="1">
            <a:off x="1707955" y="3602322"/>
            <a:ext cx="1297410" cy="1009613"/>
          </a:xfrm>
          <a:prstGeom prst="line">
            <a:avLst/>
          </a:prstGeom>
          <a:noFill/>
          <a:ln w="28575">
            <a:solidFill>
              <a:schemeClr val="folHlink"/>
            </a:solidFill>
            <a:miter lim="800000"/>
            <a:headEnd/>
            <a:tailEnd type="triangle" w="med" len="med"/>
          </a:ln>
          <a:effectLst/>
        </p:spPr>
        <p:txBody>
          <a:bodyPr wrap="none"/>
          <a:lstStyle/>
          <a:p>
            <a:pPr algn="ctr" eaLnBrk="1" hangingPunct="1">
              <a:defRPr/>
            </a:pPr>
            <a:endParaRPr lang="zh-CN" altLang="en-US">
              <a:latin typeface="Comic Sans MS" panose="030F0702030302020204" pitchFamily="66" charset="0"/>
              <a:ea typeface="华光行书_CNKI" panose="02000500000000000000" pitchFamily="2" charset="-122"/>
            </a:endParaRPr>
          </a:p>
        </p:txBody>
      </p:sp>
      <p:sp>
        <p:nvSpPr>
          <p:cNvPr id="17" name="Line 14">
            <a:extLst>
              <a:ext uri="{FF2B5EF4-FFF2-40B4-BE49-F238E27FC236}">
                <a16:creationId xmlns:a16="http://schemas.microsoft.com/office/drawing/2014/main" id="{DE7D4084-7859-CC40-1E30-1278F7C5CE13}"/>
              </a:ext>
            </a:extLst>
          </p:cNvPr>
          <p:cNvSpPr>
            <a:spLocks noChangeShapeType="1"/>
          </p:cNvSpPr>
          <p:nvPr/>
        </p:nvSpPr>
        <p:spPr bwMode="auto">
          <a:xfrm flipH="1">
            <a:off x="3221267" y="3602323"/>
            <a:ext cx="0" cy="1024419"/>
          </a:xfrm>
          <a:prstGeom prst="line">
            <a:avLst/>
          </a:prstGeom>
          <a:noFill/>
          <a:ln w="28575">
            <a:solidFill>
              <a:schemeClr val="folHlink"/>
            </a:solidFill>
            <a:miter lim="800000"/>
            <a:headEnd/>
            <a:tailEnd type="triangle" w="med" len="med"/>
          </a:ln>
          <a:effectLst/>
        </p:spPr>
        <p:txBody>
          <a:bodyPr wrap="none"/>
          <a:lstStyle/>
          <a:p>
            <a:pPr algn="ctr" eaLnBrk="1" hangingPunct="1">
              <a:defRPr/>
            </a:pPr>
            <a:endParaRPr lang="zh-CN" altLang="en-US">
              <a:latin typeface="Comic Sans MS" panose="030F0702030302020204" pitchFamily="66" charset="0"/>
              <a:ea typeface="华光行书_CNKI" panose="02000500000000000000" pitchFamily="2" charset="-122"/>
            </a:endParaRPr>
          </a:p>
        </p:txBody>
      </p:sp>
      <p:sp>
        <p:nvSpPr>
          <p:cNvPr id="18" name="Line 15">
            <a:extLst>
              <a:ext uri="{FF2B5EF4-FFF2-40B4-BE49-F238E27FC236}">
                <a16:creationId xmlns:a16="http://schemas.microsoft.com/office/drawing/2014/main" id="{57FB8A63-B999-4AF7-049E-375B7219A9BC}"/>
              </a:ext>
            </a:extLst>
          </p:cNvPr>
          <p:cNvSpPr>
            <a:spLocks noChangeShapeType="1"/>
          </p:cNvSpPr>
          <p:nvPr/>
        </p:nvSpPr>
        <p:spPr bwMode="auto">
          <a:xfrm>
            <a:off x="3365730" y="3602323"/>
            <a:ext cx="1097674" cy="1031953"/>
          </a:xfrm>
          <a:prstGeom prst="line">
            <a:avLst/>
          </a:prstGeom>
          <a:noFill/>
          <a:ln w="28575">
            <a:solidFill>
              <a:schemeClr val="folHlink"/>
            </a:solidFill>
            <a:miter lim="800000"/>
            <a:headEnd/>
            <a:tailEnd type="triangle" w="med" len="med"/>
          </a:ln>
          <a:effectLst/>
        </p:spPr>
        <p:txBody>
          <a:bodyPr wrap="none"/>
          <a:lstStyle/>
          <a:p>
            <a:pPr algn="ctr" eaLnBrk="1" hangingPunct="1">
              <a:defRPr/>
            </a:pPr>
            <a:endParaRPr lang="zh-CN" altLang="en-US">
              <a:latin typeface="Comic Sans MS" panose="030F0702030302020204" pitchFamily="66" charset="0"/>
              <a:ea typeface="华光行书_CNKI" panose="02000500000000000000" pitchFamily="2" charset="-122"/>
            </a:endParaRPr>
          </a:p>
        </p:txBody>
      </p:sp>
      <p:sp>
        <p:nvSpPr>
          <p:cNvPr id="19" name="Line 16">
            <a:extLst>
              <a:ext uri="{FF2B5EF4-FFF2-40B4-BE49-F238E27FC236}">
                <a16:creationId xmlns:a16="http://schemas.microsoft.com/office/drawing/2014/main" id="{45A8A9DE-8BD0-5FF8-7C20-6762EDA26688}"/>
              </a:ext>
            </a:extLst>
          </p:cNvPr>
          <p:cNvSpPr>
            <a:spLocks noChangeShapeType="1"/>
          </p:cNvSpPr>
          <p:nvPr/>
        </p:nvSpPr>
        <p:spPr bwMode="auto">
          <a:xfrm>
            <a:off x="1822902" y="5119966"/>
            <a:ext cx="0" cy="503238"/>
          </a:xfrm>
          <a:prstGeom prst="line">
            <a:avLst/>
          </a:prstGeom>
          <a:noFill/>
          <a:ln w="28575">
            <a:solidFill>
              <a:schemeClr val="folHlink"/>
            </a:solidFill>
            <a:miter lim="800000"/>
            <a:headEnd/>
            <a:tailEnd type="triangle" w="med" len="med"/>
          </a:ln>
          <a:effectLst/>
        </p:spPr>
        <p:txBody>
          <a:bodyPr wrap="none"/>
          <a:lstStyle/>
          <a:p>
            <a:pPr algn="ctr" eaLnBrk="1" hangingPunct="1">
              <a:defRPr/>
            </a:pPr>
            <a:endParaRPr lang="zh-CN" altLang="en-US" spc="-150">
              <a:latin typeface="Comic Sans MS" panose="030F0702030302020204" pitchFamily="66" charset="0"/>
              <a:ea typeface="华光行书_CNKI" panose="02000500000000000000" pitchFamily="2" charset="-122"/>
            </a:endParaRPr>
          </a:p>
        </p:txBody>
      </p:sp>
      <p:sp>
        <p:nvSpPr>
          <p:cNvPr id="20" name="Line 17">
            <a:extLst>
              <a:ext uri="{FF2B5EF4-FFF2-40B4-BE49-F238E27FC236}">
                <a16:creationId xmlns:a16="http://schemas.microsoft.com/office/drawing/2014/main" id="{712E608A-C4BA-CD41-56D2-4E5634C1DC65}"/>
              </a:ext>
            </a:extLst>
          </p:cNvPr>
          <p:cNvSpPr>
            <a:spLocks noChangeShapeType="1"/>
          </p:cNvSpPr>
          <p:nvPr/>
        </p:nvSpPr>
        <p:spPr bwMode="auto">
          <a:xfrm flipH="1">
            <a:off x="3142985" y="5100763"/>
            <a:ext cx="523" cy="540305"/>
          </a:xfrm>
          <a:prstGeom prst="line">
            <a:avLst/>
          </a:prstGeom>
          <a:noFill/>
          <a:ln w="28575">
            <a:solidFill>
              <a:schemeClr val="folHlink"/>
            </a:solidFill>
            <a:miter lim="800000"/>
            <a:headEnd/>
            <a:tailEnd type="triangle" w="med" len="med"/>
          </a:ln>
          <a:effectLst/>
        </p:spPr>
        <p:txBody>
          <a:bodyPr wrap="none"/>
          <a:lstStyle/>
          <a:p>
            <a:pPr algn="ctr" eaLnBrk="1" hangingPunct="1">
              <a:defRPr/>
            </a:pPr>
            <a:endParaRPr lang="zh-CN" altLang="en-US" spc="-150">
              <a:latin typeface="Comic Sans MS" panose="030F0702030302020204" pitchFamily="66" charset="0"/>
              <a:ea typeface="华光行书_CNKI" panose="02000500000000000000" pitchFamily="2" charset="-122"/>
            </a:endParaRPr>
          </a:p>
        </p:txBody>
      </p:sp>
      <p:sp>
        <p:nvSpPr>
          <p:cNvPr id="21" name="Line 18">
            <a:extLst>
              <a:ext uri="{FF2B5EF4-FFF2-40B4-BE49-F238E27FC236}">
                <a16:creationId xmlns:a16="http://schemas.microsoft.com/office/drawing/2014/main" id="{53BADCB3-8F24-5A47-2F74-C7C15F7209A9}"/>
              </a:ext>
            </a:extLst>
          </p:cNvPr>
          <p:cNvSpPr>
            <a:spLocks noChangeShapeType="1"/>
          </p:cNvSpPr>
          <p:nvPr/>
        </p:nvSpPr>
        <p:spPr bwMode="auto">
          <a:xfrm flipH="1">
            <a:off x="4483508" y="5098052"/>
            <a:ext cx="523" cy="543016"/>
          </a:xfrm>
          <a:prstGeom prst="line">
            <a:avLst/>
          </a:prstGeom>
          <a:noFill/>
          <a:ln w="28575">
            <a:solidFill>
              <a:schemeClr val="folHlink"/>
            </a:solidFill>
            <a:miter lim="800000"/>
            <a:headEnd/>
            <a:tailEnd type="triangle" w="med" len="med"/>
          </a:ln>
          <a:effectLst/>
        </p:spPr>
        <p:txBody>
          <a:bodyPr wrap="none"/>
          <a:lstStyle/>
          <a:p>
            <a:pPr algn="ctr" eaLnBrk="1" hangingPunct="1">
              <a:defRPr/>
            </a:pPr>
            <a:endParaRPr lang="zh-CN" altLang="en-US" spc="-150">
              <a:latin typeface="Comic Sans MS" panose="030F0702030302020204" pitchFamily="66" charset="0"/>
              <a:ea typeface="华光行书_CNKI" panose="02000500000000000000" pitchFamily="2" charset="-122"/>
            </a:endParaRPr>
          </a:p>
        </p:txBody>
      </p:sp>
      <p:sp>
        <p:nvSpPr>
          <p:cNvPr id="22" name="Text Box 19">
            <a:extLst>
              <a:ext uri="{FF2B5EF4-FFF2-40B4-BE49-F238E27FC236}">
                <a16:creationId xmlns:a16="http://schemas.microsoft.com/office/drawing/2014/main" id="{4F2F7F3E-D316-8DCB-F3F8-A6E1662643E7}"/>
              </a:ext>
            </a:extLst>
          </p:cNvPr>
          <p:cNvSpPr txBox="1">
            <a:spLocks noChangeArrowheads="1"/>
          </p:cNvSpPr>
          <p:nvPr/>
        </p:nvSpPr>
        <p:spPr bwMode="auto">
          <a:xfrm>
            <a:off x="2681914" y="3959214"/>
            <a:ext cx="1008062" cy="400110"/>
          </a:xfrm>
          <a:prstGeom prst="rect">
            <a:avLst/>
          </a:prstGeom>
          <a:noFill/>
          <a:ln>
            <a:noFill/>
          </a:ln>
          <a:effectLst/>
        </p:spPr>
        <p:txBody>
          <a:bodyPr wrap="square">
            <a:spAutoFit/>
          </a:bodyPr>
          <a:lstStyle/>
          <a:p>
            <a:pPr algn="ctr" eaLnBrk="1" hangingPunct="1">
              <a:spcBef>
                <a:spcPct val="50000"/>
              </a:spcBef>
              <a:defRPr/>
            </a:pPr>
            <a:r>
              <a:rPr kumimoji="1" lang="en-US" altLang="zh-CN" sz="2000" dirty="0">
                <a:solidFill>
                  <a:srgbClr val="104E87"/>
                </a:solidFill>
                <a:latin typeface="Comic Sans MS" panose="030F0702030302020204" pitchFamily="66" charset="0"/>
                <a:ea typeface="华光行书_CNKI" panose="02000500000000000000" pitchFamily="2" charset="-122"/>
              </a:rPr>
              <a:t>float</a:t>
            </a:r>
          </a:p>
        </p:txBody>
      </p:sp>
      <p:sp>
        <p:nvSpPr>
          <p:cNvPr id="23" name="Text Box 20">
            <a:extLst>
              <a:ext uri="{FF2B5EF4-FFF2-40B4-BE49-F238E27FC236}">
                <a16:creationId xmlns:a16="http://schemas.microsoft.com/office/drawing/2014/main" id="{7DCC3307-9600-0104-8407-CFB3F0A206B2}"/>
              </a:ext>
            </a:extLst>
          </p:cNvPr>
          <p:cNvSpPr txBox="1">
            <a:spLocks noChangeArrowheads="1"/>
          </p:cNvSpPr>
          <p:nvPr/>
        </p:nvSpPr>
        <p:spPr bwMode="auto">
          <a:xfrm>
            <a:off x="3711284" y="3766647"/>
            <a:ext cx="862013" cy="400110"/>
          </a:xfrm>
          <a:prstGeom prst="rect">
            <a:avLst/>
          </a:prstGeom>
          <a:noFill/>
          <a:ln>
            <a:noFill/>
          </a:ln>
          <a:effectLst/>
        </p:spPr>
        <p:txBody>
          <a:bodyPr wrap="square">
            <a:spAutoFit/>
          </a:bodyPr>
          <a:lstStyle/>
          <a:p>
            <a:pPr algn="ctr" eaLnBrk="1" hangingPunct="1">
              <a:spcBef>
                <a:spcPct val="50000"/>
              </a:spcBef>
              <a:defRPr/>
            </a:pPr>
            <a:r>
              <a:rPr kumimoji="1" lang="en-US" altLang="zh-CN" sz="2000" dirty="0">
                <a:solidFill>
                  <a:srgbClr val="104E87"/>
                </a:solidFill>
                <a:latin typeface="Comic Sans MS" panose="030F0702030302020204" pitchFamily="66" charset="0"/>
                <a:ea typeface="华光行书_CNKI" panose="02000500000000000000" pitchFamily="2" charset="-122"/>
              </a:rPr>
              <a:t>char</a:t>
            </a:r>
          </a:p>
        </p:txBody>
      </p:sp>
      <p:sp>
        <p:nvSpPr>
          <p:cNvPr id="24" name="Text Box 21">
            <a:extLst>
              <a:ext uri="{FF2B5EF4-FFF2-40B4-BE49-F238E27FC236}">
                <a16:creationId xmlns:a16="http://schemas.microsoft.com/office/drawing/2014/main" id="{360A94BD-AEEB-B89F-BB7E-944CB8DD7F33}"/>
              </a:ext>
            </a:extLst>
          </p:cNvPr>
          <p:cNvSpPr txBox="1">
            <a:spLocks noChangeArrowheads="1"/>
          </p:cNvSpPr>
          <p:nvPr/>
        </p:nvSpPr>
        <p:spPr bwMode="auto">
          <a:xfrm>
            <a:off x="531134" y="4611935"/>
            <a:ext cx="792537" cy="699679"/>
          </a:xfrm>
          <a:prstGeom prst="rect">
            <a:avLst/>
          </a:prstGeom>
          <a:noFill/>
          <a:ln>
            <a:noFill/>
          </a:ln>
          <a:effectLst/>
        </p:spPr>
        <p:txBody>
          <a:bodyPr wrap="square">
            <a:spAutoFit/>
          </a:bodyPr>
          <a:lstStyle/>
          <a:p>
            <a:pPr algn="ctr" eaLnBrk="1" hangingPunct="1">
              <a:lnSpc>
                <a:spcPct val="80000"/>
              </a:lnSpc>
              <a:defRPr/>
            </a:pPr>
            <a:r>
              <a:rPr kumimoji="1" lang="zh-CN" altLang="en-US" spc="-200" dirty="0">
                <a:solidFill>
                  <a:srgbClr val="FF0000"/>
                </a:solidFill>
                <a:latin typeface="Comic Sans MS" panose="030F0702030302020204" pitchFamily="66" charset="0"/>
                <a:ea typeface="华光行书_CNKI" panose="02000500000000000000" pitchFamily="2" charset="-122"/>
              </a:rPr>
              <a:t>类实例化</a:t>
            </a:r>
          </a:p>
        </p:txBody>
      </p:sp>
      <p:sp>
        <p:nvSpPr>
          <p:cNvPr id="25" name="Text Box 22">
            <a:extLst>
              <a:ext uri="{FF2B5EF4-FFF2-40B4-BE49-F238E27FC236}">
                <a16:creationId xmlns:a16="http://schemas.microsoft.com/office/drawing/2014/main" id="{B2C77F72-4463-CCB3-013C-6AD9925E4FBD}"/>
              </a:ext>
            </a:extLst>
          </p:cNvPr>
          <p:cNvSpPr txBox="1">
            <a:spLocks noChangeArrowheads="1"/>
          </p:cNvSpPr>
          <p:nvPr/>
        </p:nvSpPr>
        <p:spPr bwMode="auto">
          <a:xfrm>
            <a:off x="502297" y="5623204"/>
            <a:ext cx="977786" cy="699679"/>
          </a:xfrm>
          <a:prstGeom prst="rect">
            <a:avLst/>
          </a:prstGeom>
          <a:noFill/>
          <a:ln>
            <a:noFill/>
          </a:ln>
          <a:effectLst/>
        </p:spPr>
        <p:txBody>
          <a:bodyPr wrap="square" lIns="0" rIns="0">
            <a:spAutoFit/>
          </a:bodyPr>
          <a:lstStyle/>
          <a:p>
            <a:pPr algn="ctr" eaLnBrk="1" hangingPunct="1">
              <a:lnSpc>
                <a:spcPct val="80000"/>
              </a:lnSpc>
              <a:defRPr/>
            </a:pPr>
            <a:r>
              <a:rPr kumimoji="1" lang="zh-CN" altLang="en-US" spc="-200" dirty="0">
                <a:solidFill>
                  <a:srgbClr val="FF0000"/>
                </a:solidFill>
                <a:latin typeface="Comic Sans MS" panose="030F0702030302020204" pitchFamily="66" charset="0"/>
                <a:ea typeface="华光行书_CNKI" panose="02000500000000000000" pitchFamily="2" charset="-122"/>
              </a:rPr>
              <a:t>类对象实例化</a:t>
            </a:r>
          </a:p>
        </p:txBody>
      </p:sp>
    </p:spTree>
    <p:extLst>
      <p:ext uri="{BB962C8B-B14F-4D97-AF65-F5344CB8AC3E}">
        <p14:creationId xmlns:p14="http://schemas.microsoft.com/office/powerpoint/2010/main" val="250743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anim calcmode="lin" valueType="num">
                                      <p:cBhvr>
                                        <p:cTn id="2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circle(in)">
                                      <p:cBhvr>
                                        <p:cTn id="29" dur="2000"/>
                                        <p:tgtEl>
                                          <p:spTgt spid="3">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barn(inVertical)">
                                      <p:cBhvr>
                                        <p:cTn id="34" dur="500"/>
                                        <p:tgtEl>
                                          <p:spTgt spid="4"/>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arn(inVertical)">
                                      <p:cBhvr>
                                        <p:cTn id="37" dur="500"/>
                                        <p:tgtEl>
                                          <p:spTgt spid="5"/>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barn(inVertical)">
                                      <p:cBhvr>
                                        <p:cTn id="40" dur="500"/>
                                        <p:tgtEl>
                                          <p:spTgt spid="6"/>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barn(inVertical)">
                                      <p:cBhvr>
                                        <p:cTn id="43" dur="500"/>
                                        <p:tgtEl>
                                          <p:spTgt spid="7"/>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barn(inVertical)">
                                      <p:cBhvr>
                                        <p:cTn id="46" dur="500"/>
                                        <p:tgtEl>
                                          <p:spTgt spid="8"/>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barn(inVertical)">
                                      <p:cBhvr>
                                        <p:cTn id="49" dur="500"/>
                                        <p:tgtEl>
                                          <p:spTgt spid="9"/>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barn(inVertical)">
                                      <p:cBhvr>
                                        <p:cTn id="52" dur="500"/>
                                        <p:tgtEl>
                                          <p:spTgt spid="10"/>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barn(inVertical)">
                                      <p:cBhvr>
                                        <p:cTn id="55" dur="500"/>
                                        <p:tgtEl>
                                          <p:spTgt spid="13"/>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barn(inVertical)">
                                      <p:cBhvr>
                                        <p:cTn id="58" dur="500"/>
                                        <p:tgtEl>
                                          <p:spTgt spid="14"/>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barn(inVertical)">
                                      <p:cBhvr>
                                        <p:cTn id="61" dur="500"/>
                                        <p:tgtEl>
                                          <p:spTgt spid="15"/>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barn(inVertical)">
                                      <p:cBhvr>
                                        <p:cTn id="64" dur="500"/>
                                        <p:tgtEl>
                                          <p:spTgt spid="17"/>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barn(inVertical)">
                                      <p:cBhvr>
                                        <p:cTn id="67" dur="500"/>
                                        <p:tgtEl>
                                          <p:spTgt spid="18"/>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barn(inVertical)">
                                      <p:cBhvr>
                                        <p:cTn id="70" dur="500"/>
                                        <p:tgtEl>
                                          <p:spTgt spid="19"/>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barn(inVertical)">
                                      <p:cBhvr>
                                        <p:cTn id="73" dur="500"/>
                                        <p:tgtEl>
                                          <p:spTgt spid="20"/>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barn(inVertical)">
                                      <p:cBhvr>
                                        <p:cTn id="76" dur="500"/>
                                        <p:tgtEl>
                                          <p:spTgt spid="21"/>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barn(inVertical)">
                                      <p:cBhvr>
                                        <p:cTn id="79" dur="500"/>
                                        <p:tgtEl>
                                          <p:spTgt spid="22"/>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23"/>
                                        </p:tgtEl>
                                        <p:attrNameLst>
                                          <p:attrName>style.visibility</p:attrName>
                                        </p:attrNameLst>
                                      </p:cBhvr>
                                      <p:to>
                                        <p:strVal val="visible"/>
                                      </p:to>
                                    </p:set>
                                    <p:animEffect transition="in" filter="barn(inVertical)">
                                      <p:cBhvr>
                                        <p:cTn id="82" dur="500"/>
                                        <p:tgtEl>
                                          <p:spTgt spid="23"/>
                                        </p:tgtEl>
                                      </p:cBhvr>
                                    </p:animEffect>
                                  </p:childTnLst>
                                </p:cTn>
                              </p:par>
                            </p:childTnLst>
                          </p:cTn>
                        </p:par>
                      </p:childTnLst>
                    </p:cTn>
                  </p:par>
                  <p:par>
                    <p:cTn id="83" fill="hold">
                      <p:stCondLst>
                        <p:cond delay="indefinite"/>
                      </p:stCondLst>
                      <p:childTnLst>
                        <p:par>
                          <p:cTn id="84" fill="hold">
                            <p:stCondLst>
                              <p:cond delay="0"/>
                            </p:stCondLst>
                            <p:childTnLst>
                              <p:par>
                                <p:cTn id="85" presetID="14" presetClass="entr" presetSubtype="10" fill="hold" grpId="0" nodeType="click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randombar(horizontal)">
                                      <p:cBhvr>
                                        <p:cTn id="87" dur="500"/>
                                        <p:tgtEl>
                                          <p:spTgt spid="24"/>
                                        </p:tgtEl>
                                      </p:cBhvr>
                                    </p:animEffect>
                                  </p:childTnLst>
                                </p:cTn>
                              </p:par>
                            </p:childTnLst>
                          </p:cTn>
                        </p:par>
                      </p:childTnLst>
                    </p:cTn>
                  </p:par>
                  <p:par>
                    <p:cTn id="88" fill="hold">
                      <p:stCondLst>
                        <p:cond delay="indefinite"/>
                      </p:stCondLst>
                      <p:childTnLst>
                        <p:par>
                          <p:cTn id="89" fill="hold">
                            <p:stCondLst>
                              <p:cond delay="0"/>
                            </p:stCondLst>
                            <p:childTnLst>
                              <p:par>
                                <p:cTn id="90" presetID="14" presetClass="entr" presetSubtype="10"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animEffect transition="in" filter="randombar(horizontal)">
                                      <p:cBhvr>
                                        <p:cTn id="92" dur="500"/>
                                        <p:tgtEl>
                                          <p:spTgt spid="25"/>
                                        </p:tgtEl>
                                      </p:cBhvr>
                                    </p:animEffect>
                                  </p:childTnLst>
                                </p:cTn>
                              </p:par>
                            </p:childTnLst>
                          </p:cTn>
                        </p:par>
                      </p:childTnLst>
                    </p:cTn>
                  </p:par>
                  <p:par>
                    <p:cTn id="93" fill="hold">
                      <p:stCondLst>
                        <p:cond delay="indefinite"/>
                      </p:stCondLst>
                      <p:childTnLst>
                        <p:par>
                          <p:cTn id="94" fill="hold">
                            <p:stCondLst>
                              <p:cond delay="0"/>
                            </p:stCondLst>
                            <p:childTnLst>
                              <p:par>
                                <p:cTn id="95" presetID="14" presetClass="entr" presetSubtype="10" fill="hold" grpId="0" nodeType="clickEffect">
                                  <p:stCondLst>
                                    <p:cond delay="0"/>
                                  </p:stCondLst>
                                  <p:childTnLst>
                                    <p:set>
                                      <p:cBhvr>
                                        <p:cTn id="96" dur="1" fill="hold">
                                          <p:stCondLst>
                                            <p:cond delay="0"/>
                                          </p:stCondLst>
                                        </p:cTn>
                                        <p:tgtEl>
                                          <p:spTgt spid="16"/>
                                        </p:tgtEl>
                                        <p:attrNameLst>
                                          <p:attrName>style.visibility</p:attrName>
                                        </p:attrNameLst>
                                      </p:cBhvr>
                                      <p:to>
                                        <p:strVal val="visible"/>
                                      </p:to>
                                    </p:set>
                                    <p:animEffect transition="in" filter="randombar(horizontal)">
                                      <p:cBhvr>
                                        <p:cTn id="9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4" grpId="0" animBg="1"/>
      <p:bldP spid="5" grpId="0" animBg="1"/>
      <p:bldP spid="6" grpId="0" animBg="1"/>
      <p:bldP spid="7" grpId="0" animBg="1"/>
      <p:bldP spid="8" grpId="0"/>
      <p:bldP spid="9" grpId="0" animBg="1"/>
      <p:bldP spid="10" grpId="0" animBg="1"/>
      <p:bldP spid="13" grpId="0" animBg="1"/>
      <p:bldP spid="14" grpId="0"/>
      <p:bldP spid="15" grpId="0" animBg="1"/>
      <p:bldP spid="17" grpId="0" animBg="1"/>
      <p:bldP spid="18" grpId="0" animBg="1"/>
      <p:bldP spid="19" grpId="0" animBg="1"/>
      <p:bldP spid="20" grpId="0" animBg="1"/>
      <p:bldP spid="21" grpId="0" animBg="1"/>
      <p:bldP spid="22" grpId="0"/>
      <p:bldP spid="23" grpId="0"/>
      <p:bldP spid="24" grpId="0"/>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4E2B3F79-ACE2-485E-BC3D-0FFB12B8FEBC}"/>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 name="直线连接符 6">
            <a:extLst>
              <a:ext uri="{FF2B5EF4-FFF2-40B4-BE49-F238E27FC236}">
                <a16:creationId xmlns:a16="http://schemas.microsoft.com/office/drawing/2014/main" id="{A590AA9C-64D8-40DC-B008-A4B0DD6196AD}"/>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0" name="文本框 9">
            <a:extLst>
              <a:ext uri="{FF2B5EF4-FFF2-40B4-BE49-F238E27FC236}">
                <a16:creationId xmlns:a16="http://schemas.microsoft.com/office/drawing/2014/main" id="{3CC469AE-9143-4869-860A-BCF19974D2D6}"/>
              </a:ext>
            </a:extLst>
          </p:cNvPr>
          <p:cNvSpPr txBox="1"/>
          <p:nvPr/>
        </p:nvSpPr>
        <p:spPr>
          <a:xfrm>
            <a:off x="247719" y="224527"/>
            <a:ext cx="7583296" cy="584775"/>
          </a:xfrm>
          <a:prstGeom prst="rect">
            <a:avLst/>
          </a:prstGeom>
          <a:noFill/>
        </p:spPr>
        <p:txBody>
          <a:bodyPr wrap="square" rtlCol="0">
            <a:spAutoFit/>
          </a:bodyPr>
          <a:lstStyle/>
          <a:p>
            <a:r>
              <a:rPr kumimoji="1" lang="en-US" altLang="zh-CN" sz="3200" b="1" dirty="0">
                <a:latin typeface="华光胖头鱼_CNKI" panose="02000500000000000000" pitchFamily="2" charset="-122"/>
                <a:ea typeface="华光胖头鱼_CNKI" panose="02000500000000000000" pitchFamily="2" charset="-122"/>
              </a:rPr>
              <a:t>11.4</a:t>
            </a:r>
            <a:r>
              <a:rPr kumimoji="1" lang="zh-CN" altLang="en-US" sz="3200" b="1" dirty="0">
                <a:latin typeface="华光胖头鱼_CNKI" panose="02000500000000000000" pitchFamily="2" charset="-122"/>
                <a:ea typeface="华光胖头鱼_CNKI" panose="02000500000000000000" pitchFamily="2" charset="-122"/>
              </a:rPr>
              <a:t>类模板</a:t>
            </a:r>
            <a:r>
              <a:rPr kumimoji="1" lang="en-US" altLang="zh-CN" sz="3200" b="1" dirty="0">
                <a:latin typeface="华光胖头鱼_CNKI" panose="02000500000000000000" pitchFamily="2" charset="-122"/>
                <a:ea typeface="华光胖头鱼_CNKI" panose="02000500000000000000" pitchFamily="2" charset="-122"/>
              </a:rPr>
              <a:t>——</a:t>
            </a:r>
            <a:r>
              <a:rPr kumimoji="1" lang="zh-CN" altLang="en-US" sz="3200" b="1" dirty="0">
                <a:latin typeface="华光胖头鱼_CNKI" panose="02000500000000000000" pitchFamily="2" charset="-122"/>
                <a:ea typeface="华光胖头鱼_CNKI" panose="02000500000000000000" pitchFamily="2" charset="-122"/>
              </a:rPr>
              <a:t>继承关系</a:t>
            </a:r>
          </a:p>
        </p:txBody>
      </p:sp>
      <p:sp>
        <p:nvSpPr>
          <p:cNvPr id="11" name="Rectangle 3">
            <a:extLst>
              <a:ext uri="{FF2B5EF4-FFF2-40B4-BE49-F238E27FC236}">
                <a16:creationId xmlns:a16="http://schemas.microsoft.com/office/drawing/2014/main" id="{EFB1DEE5-A044-4956-B0C5-479F495F8AC6}"/>
              </a:ext>
            </a:extLst>
          </p:cNvPr>
          <p:cNvSpPr txBox="1">
            <a:spLocks noChangeArrowheads="1"/>
          </p:cNvSpPr>
          <p:nvPr/>
        </p:nvSpPr>
        <p:spPr>
          <a:xfrm>
            <a:off x="92073" y="1489111"/>
            <a:ext cx="5407026" cy="1983925"/>
          </a:xfrm>
          <a:prstGeom prst="rect">
            <a:avLst/>
          </a:prstGeom>
          <a:solidFill>
            <a:schemeClr val="accent1">
              <a:lumMod val="40000"/>
              <a:lumOff val="60000"/>
            </a:schemeClr>
          </a:solidFill>
        </p:spPr>
        <p:txBody>
          <a:bodyPr/>
          <a:lstStyle>
            <a:lvl1pPr marL="457200" indent="-457200" algn="l" defTabSz="609600" rtl="0" eaLnBrk="1" latinLnBrk="0" hangingPunct="1">
              <a:spcBef>
                <a:spcPct val="20000"/>
              </a:spcBef>
              <a:buFont typeface="Arial" panose="020B0604020202020204"/>
              <a:buChar char="•"/>
              <a:defRPr sz="4265"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35" kern="1200">
                <a:solidFill>
                  <a:schemeClr val="tx1"/>
                </a:solidFill>
                <a:latin typeface="+mn-lt"/>
                <a:ea typeface="+mn-ea"/>
                <a:cs typeface="+mn-cs"/>
              </a:defRPr>
            </a:lvl2pPr>
            <a:lvl3pPr marL="1524000"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3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13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09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a:lstStyle>
          <a:p>
            <a:pPr algn="just">
              <a:lnSpc>
                <a:spcPct val="90000"/>
              </a:lnSpc>
              <a:spcBef>
                <a:spcPts val="0"/>
              </a:spcBef>
              <a:buFont typeface="Wingdings" panose="05000000000000000000" pitchFamily="2" charset="2"/>
              <a:buNone/>
            </a:pPr>
            <a:r>
              <a:rPr lang="en-US" altLang="zh-CN" sz="2400" spc="-100" dirty="0">
                <a:solidFill>
                  <a:srgbClr val="104E87"/>
                </a:solidFill>
                <a:latin typeface="Comic Sans MS" panose="030F0702030302020204" pitchFamily="66" charset="0"/>
                <a:ea typeface="华光行书_CNKI" panose="02000500000000000000" pitchFamily="2" charset="-122"/>
              </a:rPr>
              <a:t>// </a:t>
            </a:r>
            <a:r>
              <a:rPr lang="zh-CN" altLang="en-US" sz="2400" spc="-100" dirty="0">
                <a:solidFill>
                  <a:srgbClr val="104E87"/>
                </a:solidFill>
                <a:latin typeface="Comic Sans MS" panose="030F0702030302020204" pitchFamily="66" charset="0"/>
                <a:ea typeface="华光行书_CNKI" panose="02000500000000000000" pitchFamily="2" charset="-122"/>
              </a:rPr>
              <a:t>声明一个模板类作为基类。</a:t>
            </a:r>
            <a:endParaRPr lang="en-US" altLang="zh-CN" sz="2400" spc="-100" dirty="0">
              <a:solidFill>
                <a:srgbClr val="104E87"/>
              </a:solidFill>
              <a:latin typeface="Comic Sans MS" panose="030F0702030302020204" pitchFamily="66" charset="0"/>
              <a:ea typeface="华光行书_CNKI" panose="02000500000000000000" pitchFamily="2" charset="-122"/>
            </a:endParaRPr>
          </a:p>
          <a:p>
            <a:pPr algn="just">
              <a:lnSpc>
                <a:spcPct val="90000"/>
              </a:lnSpc>
              <a:spcBef>
                <a:spcPts val="0"/>
              </a:spcBef>
              <a:buFont typeface="Wingdings" panose="05000000000000000000" pitchFamily="2" charset="2"/>
              <a:buNone/>
            </a:pPr>
            <a:r>
              <a:rPr lang="en-US" altLang="zh-CN" sz="2400" spc="-100" dirty="0">
                <a:solidFill>
                  <a:srgbClr val="FF0000"/>
                </a:solidFill>
                <a:latin typeface="Comic Sans MS" panose="030F0702030302020204" pitchFamily="66" charset="0"/>
                <a:ea typeface="华光行书_CNKI" panose="02000500000000000000" pitchFamily="2" charset="-122"/>
              </a:rPr>
              <a:t>template &lt;class TYPE&gt;</a:t>
            </a:r>
          </a:p>
          <a:p>
            <a:pPr algn="just">
              <a:lnSpc>
                <a:spcPct val="90000"/>
              </a:lnSpc>
              <a:spcBef>
                <a:spcPts val="0"/>
              </a:spcBef>
              <a:buFont typeface="Wingdings" panose="05000000000000000000" pitchFamily="2" charset="2"/>
              <a:buNone/>
            </a:pPr>
            <a:r>
              <a:rPr lang="en-US" altLang="zh-CN" sz="2400" spc="-100" dirty="0">
                <a:solidFill>
                  <a:srgbClr val="104E87"/>
                </a:solidFill>
                <a:latin typeface="Comic Sans MS" panose="030F0702030302020204" pitchFamily="66" charset="0"/>
                <a:ea typeface="华光行书_CNKI" panose="02000500000000000000" pitchFamily="2" charset="-122"/>
              </a:rPr>
              <a:t>class BASE {public: </a:t>
            </a:r>
          </a:p>
          <a:p>
            <a:pPr algn="just">
              <a:lnSpc>
                <a:spcPct val="90000"/>
              </a:lnSpc>
              <a:spcBef>
                <a:spcPts val="0"/>
              </a:spcBef>
              <a:buFont typeface="Wingdings" panose="05000000000000000000" pitchFamily="2" charset="2"/>
              <a:buNone/>
            </a:pPr>
            <a:r>
              <a:rPr lang="en-US" altLang="zh-CN" sz="2400" spc="-100" dirty="0">
                <a:solidFill>
                  <a:srgbClr val="104E87"/>
                </a:solidFill>
                <a:latin typeface="Comic Sans MS" panose="030F0702030302020204" pitchFamily="66" charset="0"/>
                <a:ea typeface="华光行书_CNKI" panose="02000500000000000000" pitchFamily="2" charset="-122"/>
              </a:rPr>
              <a:t>void show(TYPE obj){</a:t>
            </a:r>
            <a:r>
              <a:rPr lang="en-US" altLang="zh-CN" sz="2400" spc="-100" dirty="0" err="1">
                <a:solidFill>
                  <a:srgbClr val="104E87"/>
                </a:solidFill>
                <a:latin typeface="Comic Sans MS" panose="030F0702030302020204" pitchFamily="66" charset="0"/>
                <a:ea typeface="华光行书_CNKI" panose="02000500000000000000" pitchFamily="2" charset="-122"/>
              </a:rPr>
              <a:t>cout</a:t>
            </a:r>
            <a:r>
              <a:rPr lang="en-US" altLang="zh-CN" sz="2400" spc="-100" dirty="0">
                <a:solidFill>
                  <a:srgbClr val="104E87"/>
                </a:solidFill>
                <a:latin typeface="Comic Sans MS" panose="030F0702030302020204" pitchFamily="66" charset="0"/>
                <a:ea typeface="华光行书_CNKI" panose="02000500000000000000" pitchFamily="2" charset="-122"/>
              </a:rPr>
              <a:t> &lt;&lt; obj &lt;&lt; "\n";}</a:t>
            </a:r>
          </a:p>
          <a:p>
            <a:pPr>
              <a:lnSpc>
                <a:spcPct val="90000"/>
              </a:lnSpc>
              <a:spcBef>
                <a:spcPts val="0"/>
              </a:spcBef>
              <a:buFont typeface="Wingdings" panose="05000000000000000000" pitchFamily="2" charset="2"/>
              <a:buNone/>
            </a:pPr>
            <a:r>
              <a:rPr lang="en-US" altLang="zh-CN" sz="2400" spc="-100" dirty="0">
                <a:solidFill>
                  <a:srgbClr val="104E87"/>
                </a:solidFill>
                <a:latin typeface="Comic Sans MS" panose="030F0702030302020204" pitchFamily="66" charset="0"/>
                <a:ea typeface="华光行书_CNKI" panose="02000500000000000000" pitchFamily="2" charset="-122"/>
              </a:rPr>
              <a:t>}; </a:t>
            </a:r>
          </a:p>
        </p:txBody>
      </p:sp>
      <p:sp>
        <p:nvSpPr>
          <p:cNvPr id="12" name="矩形 2">
            <a:extLst>
              <a:ext uri="{FF2B5EF4-FFF2-40B4-BE49-F238E27FC236}">
                <a16:creationId xmlns:a16="http://schemas.microsoft.com/office/drawing/2014/main" id="{CF645FC4-7D10-46EE-AA4F-40E874290643}"/>
              </a:ext>
            </a:extLst>
          </p:cNvPr>
          <p:cNvSpPr>
            <a:spLocks noChangeArrowheads="1"/>
          </p:cNvSpPr>
          <p:nvPr/>
        </p:nvSpPr>
        <p:spPr bwMode="auto">
          <a:xfrm>
            <a:off x="0" y="1002128"/>
            <a:ext cx="7848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marL="342900" indent="-342900" eaLnBrk="1" hangingPunct="1">
              <a:spcBef>
                <a:spcPct val="0"/>
              </a:spcBef>
              <a:buClrTx/>
              <a:buSzTx/>
              <a:buFont typeface="Wingdings" panose="05000000000000000000" pitchFamily="2" charset="2"/>
              <a:buChar char="l"/>
            </a:pPr>
            <a:r>
              <a:rPr lang="zh-CN" altLang="en-US" sz="2400" dirty="0">
                <a:solidFill>
                  <a:srgbClr val="104E87"/>
                </a:solidFill>
                <a:latin typeface="Comic Sans MS" panose="030F0702030302020204" pitchFamily="66" charset="0"/>
                <a:ea typeface="华光行书_CNKI" panose="02000500000000000000" pitchFamily="2" charset="-122"/>
              </a:rPr>
              <a:t>类模板可作为其它类模板的基类</a:t>
            </a:r>
          </a:p>
        </p:txBody>
      </p:sp>
      <p:sp>
        <p:nvSpPr>
          <p:cNvPr id="14" name="Rectangle 2">
            <a:extLst>
              <a:ext uri="{FF2B5EF4-FFF2-40B4-BE49-F238E27FC236}">
                <a16:creationId xmlns:a16="http://schemas.microsoft.com/office/drawing/2014/main" id="{BCA0D3C2-5DA4-4C42-AE3F-A9981F281B6A}"/>
              </a:ext>
            </a:extLst>
          </p:cNvPr>
          <p:cNvSpPr txBox="1">
            <a:spLocks noChangeArrowheads="1"/>
          </p:cNvSpPr>
          <p:nvPr/>
        </p:nvSpPr>
        <p:spPr>
          <a:xfrm>
            <a:off x="6197600" y="2354790"/>
            <a:ext cx="5902326" cy="2093518"/>
          </a:xfrm>
          <a:prstGeom prst="rect">
            <a:avLst/>
          </a:prstGeom>
          <a:solidFill>
            <a:schemeClr val="accent1">
              <a:lumMod val="40000"/>
              <a:lumOff val="60000"/>
            </a:schemeClr>
          </a:solidFill>
        </p:spPr>
        <p:txBody>
          <a:bodyPr/>
          <a:lstStyle>
            <a:lvl1pPr marL="457200" indent="-457200" algn="l" defTabSz="609600" rtl="0" eaLnBrk="1" latinLnBrk="0" hangingPunct="1">
              <a:spcBef>
                <a:spcPct val="20000"/>
              </a:spcBef>
              <a:buFont typeface="Arial" panose="020B0604020202020204"/>
              <a:buChar char="•"/>
              <a:defRPr sz="4265"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35" kern="1200">
                <a:solidFill>
                  <a:schemeClr val="tx1"/>
                </a:solidFill>
                <a:latin typeface="+mn-lt"/>
                <a:ea typeface="+mn-ea"/>
                <a:cs typeface="+mn-cs"/>
              </a:defRPr>
            </a:lvl2pPr>
            <a:lvl3pPr marL="1524000"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3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13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09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a:lstStyle>
          <a:p>
            <a:pPr algn="just">
              <a:lnSpc>
                <a:spcPct val="90000"/>
              </a:lnSpc>
              <a:spcBef>
                <a:spcPts val="0"/>
              </a:spcBef>
              <a:buFont typeface="Wingdings" panose="05000000000000000000" pitchFamily="2" charset="2"/>
              <a:buNone/>
            </a:pPr>
            <a:r>
              <a:rPr lang="en-US" altLang="zh-CN" sz="2400" spc="-100" dirty="0">
                <a:solidFill>
                  <a:srgbClr val="104E87"/>
                </a:solidFill>
                <a:latin typeface="Comic Sans MS" panose="030F0702030302020204" pitchFamily="66" charset="0"/>
                <a:ea typeface="华光行书_CNKI" panose="02000500000000000000" pitchFamily="2" charset="-122"/>
              </a:rPr>
              <a:t>// </a:t>
            </a:r>
            <a:r>
              <a:rPr lang="zh-CN" altLang="en-US" sz="2400" spc="-100" dirty="0">
                <a:solidFill>
                  <a:srgbClr val="104E87"/>
                </a:solidFill>
                <a:latin typeface="Comic Sans MS" panose="030F0702030302020204" pitchFamily="66" charset="0"/>
                <a:ea typeface="华光行书_CNKI" panose="02000500000000000000" pitchFamily="2" charset="-122"/>
              </a:rPr>
              <a:t>声明一个模板类作为</a:t>
            </a:r>
            <a:r>
              <a:rPr lang="en-US" altLang="zh-CN" sz="2400" spc="-100" dirty="0">
                <a:solidFill>
                  <a:srgbClr val="104E87"/>
                </a:solidFill>
                <a:latin typeface="Comic Sans MS" panose="030F0702030302020204" pitchFamily="66" charset="0"/>
                <a:ea typeface="华光行书_CNKI" panose="02000500000000000000" pitchFamily="2" charset="-122"/>
              </a:rPr>
              <a:t>BASE</a:t>
            </a:r>
            <a:r>
              <a:rPr lang="zh-CN" altLang="en-US" sz="2400" spc="-100" dirty="0">
                <a:solidFill>
                  <a:srgbClr val="104E87"/>
                </a:solidFill>
                <a:latin typeface="Comic Sans MS" panose="030F0702030302020204" pitchFamily="66" charset="0"/>
                <a:ea typeface="华光行书_CNKI" panose="02000500000000000000" pitchFamily="2" charset="-122"/>
              </a:rPr>
              <a:t>的派生类。</a:t>
            </a:r>
          </a:p>
          <a:p>
            <a:pPr algn="just">
              <a:lnSpc>
                <a:spcPct val="90000"/>
              </a:lnSpc>
              <a:spcBef>
                <a:spcPts val="0"/>
              </a:spcBef>
              <a:buFont typeface="Wingdings" panose="05000000000000000000" pitchFamily="2" charset="2"/>
              <a:buNone/>
            </a:pPr>
            <a:r>
              <a:rPr lang="en-US" altLang="zh-CN" sz="2400" spc="-100" dirty="0">
                <a:solidFill>
                  <a:srgbClr val="FF0000"/>
                </a:solidFill>
                <a:latin typeface="Comic Sans MS" panose="030F0702030302020204" pitchFamily="66" charset="0"/>
                <a:ea typeface="华光行书_CNKI" panose="02000500000000000000" pitchFamily="2" charset="-122"/>
              </a:rPr>
              <a:t>template &lt;class TYPE1, class TYPE2&gt;</a:t>
            </a:r>
          </a:p>
          <a:p>
            <a:pPr algn="just">
              <a:lnSpc>
                <a:spcPct val="90000"/>
              </a:lnSpc>
              <a:spcBef>
                <a:spcPts val="0"/>
              </a:spcBef>
              <a:buFont typeface="Wingdings" panose="05000000000000000000" pitchFamily="2" charset="2"/>
              <a:buNone/>
            </a:pPr>
            <a:r>
              <a:rPr lang="en-US" altLang="zh-CN" sz="2400" spc="-100" dirty="0">
                <a:solidFill>
                  <a:srgbClr val="104E87"/>
                </a:solidFill>
                <a:latin typeface="Comic Sans MS" panose="030F0702030302020204" pitchFamily="66" charset="0"/>
                <a:ea typeface="华光行书_CNKI" panose="02000500000000000000" pitchFamily="2" charset="-122"/>
              </a:rPr>
              <a:t>class DERIVED: public BASE</a:t>
            </a:r>
            <a:r>
              <a:rPr lang="en-US" altLang="zh-CN" sz="2400" spc="-100" dirty="0">
                <a:solidFill>
                  <a:srgbClr val="FF0000"/>
                </a:solidFill>
                <a:latin typeface="Comic Sans MS" panose="030F0702030302020204" pitchFamily="66" charset="0"/>
                <a:ea typeface="华光行书_CNKI" panose="02000500000000000000" pitchFamily="2" charset="-122"/>
              </a:rPr>
              <a:t>&lt;TYPE2&gt; </a:t>
            </a:r>
            <a:r>
              <a:rPr lang="en-US" altLang="zh-CN" sz="2400" spc="-100" dirty="0">
                <a:solidFill>
                  <a:srgbClr val="104E87"/>
                </a:solidFill>
                <a:latin typeface="Comic Sans MS" panose="030F0702030302020204" pitchFamily="66" charset="0"/>
                <a:ea typeface="华光行书_CNKI" panose="02000500000000000000" pitchFamily="2" charset="-122"/>
              </a:rPr>
              <a:t>{</a:t>
            </a:r>
          </a:p>
          <a:p>
            <a:pPr algn="just">
              <a:lnSpc>
                <a:spcPct val="90000"/>
              </a:lnSpc>
              <a:spcBef>
                <a:spcPts val="0"/>
              </a:spcBef>
              <a:buFont typeface="Wingdings" panose="05000000000000000000" pitchFamily="2" charset="2"/>
              <a:buNone/>
            </a:pPr>
            <a:r>
              <a:rPr lang="en-US" altLang="zh-CN" sz="2400" spc="-100" dirty="0">
                <a:solidFill>
                  <a:srgbClr val="104E87"/>
                </a:solidFill>
                <a:latin typeface="Comic Sans MS" panose="030F0702030302020204" pitchFamily="66" charset="0"/>
                <a:ea typeface="华光行书_CNKI" panose="02000500000000000000" pitchFamily="2" charset="-122"/>
              </a:rPr>
              <a:t>public: void show2(</a:t>
            </a:r>
            <a:r>
              <a:rPr lang="en-US" altLang="zh-CN" sz="2400" spc="-100" dirty="0">
                <a:solidFill>
                  <a:srgbClr val="FF0000"/>
                </a:solidFill>
                <a:latin typeface="Comic Sans MS" panose="030F0702030302020204" pitchFamily="66" charset="0"/>
                <a:ea typeface="华光行书_CNKI" panose="02000500000000000000" pitchFamily="2" charset="-122"/>
              </a:rPr>
              <a:t>TYPE1 </a:t>
            </a:r>
            <a:r>
              <a:rPr lang="en-US" altLang="zh-CN" sz="2400" spc="-100" dirty="0">
                <a:solidFill>
                  <a:srgbClr val="104E87"/>
                </a:solidFill>
                <a:latin typeface="Comic Sans MS" panose="030F0702030302020204" pitchFamily="66" charset="0"/>
                <a:ea typeface="华光行书_CNKI" panose="02000500000000000000" pitchFamily="2" charset="-122"/>
              </a:rPr>
              <a:t>obj1, </a:t>
            </a:r>
            <a:r>
              <a:rPr lang="en-US" altLang="zh-CN" sz="2400" spc="-100" dirty="0">
                <a:solidFill>
                  <a:srgbClr val="FF0000"/>
                </a:solidFill>
                <a:latin typeface="Comic Sans MS" panose="030F0702030302020204" pitchFamily="66" charset="0"/>
                <a:ea typeface="华光行书_CNKI" panose="02000500000000000000" pitchFamily="2" charset="-122"/>
              </a:rPr>
              <a:t>TYPE2 </a:t>
            </a:r>
            <a:r>
              <a:rPr lang="en-US" altLang="zh-CN" sz="2400" spc="-100" dirty="0">
                <a:solidFill>
                  <a:srgbClr val="104E87"/>
                </a:solidFill>
                <a:latin typeface="Comic Sans MS" panose="030F0702030302020204" pitchFamily="66" charset="0"/>
                <a:ea typeface="华光行书_CNKI" panose="02000500000000000000" pitchFamily="2" charset="-122"/>
              </a:rPr>
              <a:t>obj2)</a:t>
            </a:r>
          </a:p>
          <a:p>
            <a:pPr algn="just">
              <a:lnSpc>
                <a:spcPct val="90000"/>
              </a:lnSpc>
              <a:spcBef>
                <a:spcPts val="0"/>
              </a:spcBef>
              <a:buFont typeface="Wingdings" panose="05000000000000000000" pitchFamily="2" charset="2"/>
              <a:buNone/>
            </a:pPr>
            <a:r>
              <a:rPr lang="en-US" altLang="zh-CN" sz="2400" spc="-100" dirty="0">
                <a:solidFill>
                  <a:srgbClr val="104E87"/>
                </a:solidFill>
                <a:latin typeface="Comic Sans MS" panose="030F0702030302020204" pitchFamily="66" charset="0"/>
                <a:ea typeface="华光行书_CNKI" panose="02000500000000000000" pitchFamily="2" charset="-122"/>
              </a:rPr>
              <a:t>		    {</a:t>
            </a:r>
            <a:r>
              <a:rPr lang="en-US" altLang="zh-CN" sz="2400" spc="-100" dirty="0" err="1">
                <a:solidFill>
                  <a:srgbClr val="104E87"/>
                </a:solidFill>
                <a:latin typeface="Comic Sans MS" panose="030F0702030302020204" pitchFamily="66" charset="0"/>
                <a:ea typeface="华光行书_CNKI" panose="02000500000000000000" pitchFamily="2" charset="-122"/>
              </a:rPr>
              <a:t>cout</a:t>
            </a:r>
            <a:r>
              <a:rPr lang="en-US" altLang="zh-CN" sz="2400" spc="-100" dirty="0">
                <a:solidFill>
                  <a:srgbClr val="104E87"/>
                </a:solidFill>
                <a:latin typeface="Comic Sans MS" panose="030F0702030302020204" pitchFamily="66" charset="0"/>
                <a:ea typeface="华光行书_CNKI" panose="02000500000000000000" pitchFamily="2" charset="-122"/>
              </a:rPr>
              <a:t> &lt;&lt; obj1 &lt;&lt; " " &lt;&lt; obj2 &lt;&lt; "\n";}</a:t>
            </a:r>
          </a:p>
          <a:p>
            <a:pPr algn="just">
              <a:lnSpc>
                <a:spcPct val="90000"/>
              </a:lnSpc>
              <a:spcBef>
                <a:spcPts val="0"/>
              </a:spcBef>
              <a:buFont typeface="Wingdings" panose="05000000000000000000" pitchFamily="2" charset="2"/>
              <a:buNone/>
            </a:pPr>
            <a:r>
              <a:rPr lang="en-US" altLang="zh-CN" sz="2400" spc="-100" dirty="0">
                <a:solidFill>
                  <a:srgbClr val="104E87"/>
                </a:solidFill>
                <a:latin typeface="Comic Sans MS" panose="030F0702030302020204" pitchFamily="66" charset="0"/>
                <a:ea typeface="华光行书_CNKI" panose="02000500000000000000" pitchFamily="2" charset="-122"/>
              </a:rPr>
              <a:t>};</a:t>
            </a:r>
          </a:p>
        </p:txBody>
      </p:sp>
      <p:sp>
        <p:nvSpPr>
          <p:cNvPr id="17" name="文本框 16">
            <a:extLst>
              <a:ext uri="{FF2B5EF4-FFF2-40B4-BE49-F238E27FC236}">
                <a16:creationId xmlns:a16="http://schemas.microsoft.com/office/drawing/2014/main" id="{C65459C0-5D16-42FD-8576-60D03B8D62C1}"/>
              </a:ext>
            </a:extLst>
          </p:cNvPr>
          <p:cNvSpPr txBox="1"/>
          <p:nvPr/>
        </p:nvSpPr>
        <p:spPr>
          <a:xfrm>
            <a:off x="406400" y="3640542"/>
            <a:ext cx="11504246" cy="2616422"/>
          </a:xfrm>
          <a:prstGeom prst="rect">
            <a:avLst/>
          </a:prstGeom>
          <a:noFill/>
        </p:spPr>
        <p:txBody>
          <a:bodyPr wrap="square">
            <a:spAutoFit/>
          </a:bodyPr>
          <a:lstStyle/>
          <a:p>
            <a:pPr algn="just">
              <a:lnSpc>
                <a:spcPct val="90000"/>
              </a:lnSpc>
              <a:buFont typeface="Wingdings" panose="05000000000000000000" pitchFamily="2" charset="2"/>
              <a:buNone/>
            </a:pPr>
            <a:r>
              <a:rPr lang="en-US" altLang="zh-CN" sz="2400" dirty="0">
                <a:solidFill>
                  <a:srgbClr val="104E87"/>
                </a:solidFill>
                <a:latin typeface="Comic Sans MS" panose="030F0702030302020204" pitchFamily="66" charset="0"/>
                <a:ea typeface="华光行书_CNKI" panose="02000500000000000000" pitchFamily="2" charset="-122"/>
              </a:rPr>
              <a:t>int main()</a:t>
            </a:r>
          </a:p>
          <a:p>
            <a:pPr algn="just">
              <a:lnSpc>
                <a:spcPct val="90000"/>
              </a:lnSpc>
              <a:buFont typeface="Wingdings" panose="05000000000000000000" pitchFamily="2" charset="2"/>
              <a:buNone/>
            </a:pPr>
            <a:r>
              <a:rPr lang="en-US" altLang="zh-CN" sz="2400" dirty="0">
                <a:solidFill>
                  <a:srgbClr val="104E87"/>
                </a:solidFill>
                <a:latin typeface="Comic Sans MS" panose="030F0702030302020204" pitchFamily="66" charset="0"/>
                <a:ea typeface="华光行书_CNKI" panose="02000500000000000000" pitchFamily="2" charset="-122"/>
              </a:rPr>
              <a:t>{	DERIVED&lt;char*, double&gt; obj;</a:t>
            </a:r>
          </a:p>
          <a:p>
            <a:pPr algn="just">
              <a:lnSpc>
                <a:spcPct val="90000"/>
              </a:lnSpc>
              <a:buFont typeface="Wingdings" panose="05000000000000000000" pitchFamily="2" charset="2"/>
              <a:buNone/>
            </a:pPr>
            <a:r>
              <a:rPr lang="en-US" altLang="zh-CN" sz="2400" dirty="0">
                <a:solidFill>
                  <a:srgbClr val="104E87"/>
                </a:solidFill>
                <a:latin typeface="Comic Sans MS" panose="030F0702030302020204" pitchFamily="66" charset="0"/>
                <a:ea typeface="华光行书_CNKI" panose="02000500000000000000" pitchFamily="2" charset="-122"/>
              </a:rPr>
              <a:t>      //</a:t>
            </a:r>
            <a:r>
              <a:rPr lang="zh-CN" altLang="en-US" sz="2400" dirty="0">
                <a:solidFill>
                  <a:srgbClr val="104E87"/>
                </a:solidFill>
                <a:latin typeface="Comic Sans MS" panose="030F0702030302020204" pitchFamily="66" charset="0"/>
                <a:ea typeface="华光行书_CNKI" panose="02000500000000000000" pitchFamily="2" charset="-122"/>
              </a:rPr>
              <a:t>基类被实例化为</a:t>
            </a:r>
            <a:r>
              <a:rPr lang="en-US" altLang="zh-CN" sz="2400" dirty="0">
                <a:solidFill>
                  <a:srgbClr val="104E87"/>
                </a:solidFill>
                <a:latin typeface="Comic Sans MS" panose="030F0702030302020204" pitchFamily="66" charset="0"/>
                <a:ea typeface="华光行书_CNKI" panose="02000500000000000000" pitchFamily="2" charset="-122"/>
              </a:rPr>
              <a:t>BASE&lt;double&gt;</a:t>
            </a:r>
          </a:p>
          <a:p>
            <a:pPr algn="just">
              <a:lnSpc>
                <a:spcPct val="90000"/>
              </a:lnSpc>
              <a:buFont typeface="Wingdings" panose="05000000000000000000" pitchFamily="2" charset="2"/>
              <a:buNone/>
            </a:pPr>
            <a:r>
              <a:rPr lang="en-US" altLang="zh-CN" sz="2400" dirty="0">
                <a:solidFill>
                  <a:srgbClr val="104E87"/>
                </a:solidFill>
                <a:latin typeface="Comic Sans MS" panose="030F0702030302020204" pitchFamily="66" charset="0"/>
                <a:ea typeface="华光行书_CNKI" panose="02000500000000000000" pitchFamily="2" charset="-122"/>
              </a:rPr>
              <a:t> 	</a:t>
            </a:r>
            <a:r>
              <a:rPr lang="en-US" altLang="zh-CN" sz="2400" dirty="0" err="1">
                <a:solidFill>
                  <a:srgbClr val="104E87"/>
                </a:solidFill>
                <a:latin typeface="Comic Sans MS" panose="030F0702030302020204" pitchFamily="66" charset="0"/>
                <a:ea typeface="华光行书_CNKI" panose="02000500000000000000" pitchFamily="2" charset="-122"/>
              </a:rPr>
              <a:t>obj.show</a:t>
            </a:r>
            <a:r>
              <a:rPr lang="en-US" altLang="zh-CN" sz="2400" dirty="0">
                <a:solidFill>
                  <a:srgbClr val="104E87"/>
                </a:solidFill>
                <a:latin typeface="Comic Sans MS" panose="030F0702030302020204" pitchFamily="66" charset="0"/>
                <a:ea typeface="华光行书_CNKI" panose="02000500000000000000" pitchFamily="2" charset="-122"/>
              </a:rPr>
              <a:t>(3.14);			// </a:t>
            </a:r>
            <a:r>
              <a:rPr lang="zh-CN" altLang="en-US" sz="2400" dirty="0">
                <a:solidFill>
                  <a:srgbClr val="104E87"/>
                </a:solidFill>
                <a:latin typeface="Comic Sans MS" panose="030F0702030302020204" pitchFamily="66" charset="0"/>
                <a:ea typeface="华光行书_CNKI" panose="02000500000000000000" pitchFamily="2" charset="-122"/>
              </a:rPr>
              <a:t>正确</a:t>
            </a:r>
          </a:p>
          <a:p>
            <a:pPr algn="just">
              <a:lnSpc>
                <a:spcPct val="90000"/>
              </a:lnSpc>
              <a:buFont typeface="Wingdings" panose="05000000000000000000" pitchFamily="2" charset="2"/>
              <a:buNone/>
            </a:pPr>
            <a:r>
              <a:rPr lang="zh-CN" altLang="en-US" sz="2400" dirty="0">
                <a:solidFill>
                  <a:srgbClr val="104E87"/>
                </a:solidFill>
                <a:latin typeface="Comic Sans MS" panose="030F0702030302020204" pitchFamily="66" charset="0"/>
                <a:ea typeface="华光行书_CNKI" panose="02000500000000000000" pitchFamily="2" charset="-122"/>
              </a:rPr>
              <a:t>	</a:t>
            </a:r>
            <a:r>
              <a:rPr lang="en-US" altLang="zh-CN" sz="2400" dirty="0">
                <a:solidFill>
                  <a:srgbClr val="104E87"/>
                </a:solidFill>
                <a:latin typeface="Comic Sans MS" panose="030F0702030302020204" pitchFamily="66" charset="0"/>
                <a:ea typeface="华光行书_CNKI" panose="02000500000000000000" pitchFamily="2" charset="-122"/>
              </a:rPr>
              <a:t>obj.show2("Pi is: ", 3.14159);	// </a:t>
            </a:r>
            <a:r>
              <a:rPr lang="zh-CN" altLang="en-US" sz="2400" dirty="0">
                <a:solidFill>
                  <a:srgbClr val="104E87"/>
                </a:solidFill>
                <a:latin typeface="Comic Sans MS" panose="030F0702030302020204" pitchFamily="66" charset="0"/>
                <a:ea typeface="华光行书_CNKI" panose="02000500000000000000" pitchFamily="2" charset="-122"/>
              </a:rPr>
              <a:t>正确</a:t>
            </a:r>
          </a:p>
          <a:p>
            <a:pPr algn="just">
              <a:lnSpc>
                <a:spcPct val="90000"/>
              </a:lnSpc>
              <a:buFont typeface="Wingdings" panose="05000000000000000000" pitchFamily="2" charset="2"/>
              <a:buNone/>
            </a:pPr>
            <a:r>
              <a:rPr lang="zh-CN" altLang="en-US" sz="2400" dirty="0">
                <a:solidFill>
                  <a:srgbClr val="104E87"/>
                </a:solidFill>
                <a:latin typeface="Comic Sans MS" panose="030F0702030302020204" pitchFamily="66" charset="0"/>
                <a:ea typeface="华光行书_CNKI" panose="02000500000000000000" pitchFamily="2" charset="-122"/>
              </a:rPr>
              <a:t>	</a:t>
            </a:r>
            <a:r>
              <a:rPr lang="en-US" altLang="zh-CN" sz="2400" spc="-100" dirty="0">
                <a:solidFill>
                  <a:srgbClr val="104E87"/>
                </a:solidFill>
                <a:latin typeface="Comic Sans MS" panose="030F0702030302020204" pitchFamily="66" charset="0"/>
                <a:ea typeface="华光行书_CNKI" panose="02000500000000000000" pitchFamily="2" charset="-122"/>
              </a:rPr>
              <a:t>// </a:t>
            </a:r>
            <a:r>
              <a:rPr lang="en-US" altLang="zh-CN" sz="2400" spc="-100" dirty="0" err="1">
                <a:solidFill>
                  <a:srgbClr val="104E87"/>
                </a:solidFill>
                <a:latin typeface="Comic Sans MS" panose="030F0702030302020204" pitchFamily="66" charset="0"/>
                <a:ea typeface="华光行书_CNKI" panose="02000500000000000000" pitchFamily="2" charset="-122"/>
              </a:rPr>
              <a:t>obj.show</a:t>
            </a:r>
            <a:r>
              <a:rPr lang="en-US" altLang="zh-CN" sz="2400" spc="-100" dirty="0">
                <a:solidFill>
                  <a:srgbClr val="104E87"/>
                </a:solidFill>
                <a:latin typeface="Comic Sans MS" panose="030F0702030302020204" pitchFamily="66" charset="0"/>
                <a:ea typeface="华光行书_CNKI" panose="02000500000000000000" pitchFamily="2" charset="-122"/>
              </a:rPr>
              <a:t>(“Has any error?”);//</a:t>
            </a:r>
            <a:r>
              <a:rPr lang="zh-CN" altLang="en-US" sz="2400" spc="-100" dirty="0">
                <a:solidFill>
                  <a:srgbClr val="104E87"/>
                </a:solidFill>
                <a:latin typeface="Comic Sans MS" panose="030F0702030302020204" pitchFamily="66" charset="0"/>
                <a:ea typeface="华光行书_CNKI" panose="02000500000000000000" pitchFamily="2" charset="-122"/>
              </a:rPr>
              <a:t>类型错误，形参类型是</a:t>
            </a:r>
            <a:r>
              <a:rPr lang="en-US" altLang="zh-CN" sz="2400" spc="-100" dirty="0">
                <a:solidFill>
                  <a:srgbClr val="104E87"/>
                </a:solidFill>
                <a:latin typeface="Comic Sans MS" panose="030F0702030302020204" pitchFamily="66" charset="0"/>
                <a:ea typeface="华光行书_CNKI" panose="02000500000000000000" pitchFamily="2" charset="-122"/>
              </a:rPr>
              <a:t>double</a:t>
            </a:r>
            <a:r>
              <a:rPr lang="zh-CN" altLang="en-US" sz="2400" spc="-100" dirty="0">
                <a:solidFill>
                  <a:srgbClr val="104E87"/>
                </a:solidFill>
                <a:latin typeface="Comic Sans MS" panose="030F0702030302020204" pitchFamily="66" charset="0"/>
                <a:ea typeface="华光行书_CNKI" panose="02000500000000000000" pitchFamily="2" charset="-122"/>
              </a:rPr>
              <a:t>，实参类型是字符串</a:t>
            </a:r>
          </a:p>
          <a:p>
            <a:pPr algn="just">
              <a:lnSpc>
                <a:spcPct val="70000"/>
              </a:lnSpc>
              <a:buFont typeface="Wingdings" panose="05000000000000000000" pitchFamily="2" charset="2"/>
              <a:buNone/>
            </a:pPr>
            <a:r>
              <a:rPr lang="zh-CN" altLang="en-US" sz="2400" dirty="0">
                <a:solidFill>
                  <a:srgbClr val="104E87"/>
                </a:solidFill>
                <a:latin typeface="Comic Sans MS" panose="030F0702030302020204" pitchFamily="66" charset="0"/>
                <a:ea typeface="华光行书_CNKI" panose="02000500000000000000" pitchFamily="2" charset="-122"/>
              </a:rPr>
              <a:t>	</a:t>
            </a:r>
            <a:r>
              <a:rPr lang="en-US" altLang="zh-CN" sz="2400" dirty="0">
                <a:solidFill>
                  <a:srgbClr val="104E87"/>
                </a:solidFill>
                <a:latin typeface="Comic Sans MS" panose="030F0702030302020204" pitchFamily="66" charset="0"/>
                <a:ea typeface="华光行书_CNKI" panose="02000500000000000000" pitchFamily="2" charset="-122"/>
              </a:rPr>
              <a:t>return 0;</a:t>
            </a:r>
          </a:p>
          <a:p>
            <a:pPr>
              <a:lnSpc>
                <a:spcPct val="70000"/>
              </a:lnSpc>
              <a:buFont typeface="Wingdings" panose="05000000000000000000" pitchFamily="2" charset="2"/>
              <a:buNone/>
            </a:pPr>
            <a:r>
              <a:rPr lang="en-US" altLang="zh-CN" sz="2400" dirty="0">
                <a:solidFill>
                  <a:srgbClr val="104E87"/>
                </a:solidFill>
                <a:latin typeface="Comic Sans MS" panose="030F0702030302020204" pitchFamily="66" charset="0"/>
                <a:ea typeface="华光行书_CNKI" panose="02000500000000000000" pitchFamily="2" charset="-122"/>
              </a:rPr>
              <a:t>} </a:t>
            </a:r>
          </a:p>
        </p:txBody>
      </p:sp>
      <p:sp>
        <p:nvSpPr>
          <p:cNvPr id="19" name="文本框 18">
            <a:extLst>
              <a:ext uri="{FF2B5EF4-FFF2-40B4-BE49-F238E27FC236}">
                <a16:creationId xmlns:a16="http://schemas.microsoft.com/office/drawing/2014/main" id="{50143E85-9D30-4434-944B-907AB927FE80}"/>
              </a:ext>
            </a:extLst>
          </p:cNvPr>
          <p:cNvSpPr txBox="1"/>
          <p:nvPr/>
        </p:nvSpPr>
        <p:spPr>
          <a:xfrm>
            <a:off x="6421193" y="1118340"/>
            <a:ext cx="5219822" cy="830997"/>
          </a:xfrm>
          <a:prstGeom prst="rect">
            <a:avLst/>
          </a:prstGeom>
          <a:noFill/>
        </p:spPr>
        <p:txBody>
          <a:bodyPr wrap="square">
            <a:spAutoFit/>
          </a:bodyPr>
          <a:lstStyle/>
          <a:p>
            <a:pPr eaLnBrk="1" hangingPunct="1">
              <a:spcBef>
                <a:spcPct val="0"/>
              </a:spcBef>
              <a:buClrTx/>
              <a:buSzTx/>
              <a:buFontTx/>
              <a:buNone/>
            </a:pPr>
            <a:r>
              <a:rPr lang="zh-CN" altLang="en-US" sz="2400" b="0" dirty="0">
                <a:solidFill>
                  <a:srgbClr val="FF0000"/>
                </a:solidFill>
                <a:latin typeface="华光行书_CNKI" panose="02000500000000000000" pitchFamily="2" charset="-122"/>
                <a:ea typeface="华光行书_CNKI" panose="02000500000000000000" pitchFamily="2" charset="-122"/>
              </a:rPr>
              <a:t>类模板派生类模板，派生类模板的参数表中应包含基类模板的参数。</a:t>
            </a:r>
            <a:endParaRPr lang="zh-CN" altLang="en-US" sz="2400" dirty="0">
              <a:solidFill>
                <a:srgbClr val="FF0000"/>
              </a:solidFill>
              <a:latin typeface="华光行书_CNKI" panose="02000500000000000000" pitchFamily="2" charset="-122"/>
              <a:ea typeface="华光行书_CNKI" panose="02000500000000000000" pitchFamily="2" charset="-122"/>
            </a:endParaRPr>
          </a:p>
        </p:txBody>
      </p:sp>
    </p:spTree>
    <p:extLst>
      <p:ext uri="{BB962C8B-B14F-4D97-AF65-F5344CB8AC3E}">
        <p14:creationId xmlns:p14="http://schemas.microsoft.com/office/powerpoint/2010/main" val="53468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righ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randombar(horizontal)">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randombar(horizontal)">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7"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C8652452-7D6E-4EA8-B1D2-D815D76C6F72}"/>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 name="直线连接符 6">
            <a:extLst>
              <a:ext uri="{FF2B5EF4-FFF2-40B4-BE49-F238E27FC236}">
                <a16:creationId xmlns:a16="http://schemas.microsoft.com/office/drawing/2014/main" id="{1E07DA86-9018-45E5-ACC3-6FCA32021ACA}"/>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0" name="文本框 9">
            <a:extLst>
              <a:ext uri="{FF2B5EF4-FFF2-40B4-BE49-F238E27FC236}">
                <a16:creationId xmlns:a16="http://schemas.microsoft.com/office/drawing/2014/main" id="{FD5489CE-C1A7-46B2-9FB4-BBA82F8F99BE}"/>
              </a:ext>
            </a:extLst>
          </p:cNvPr>
          <p:cNvSpPr txBox="1"/>
          <p:nvPr/>
        </p:nvSpPr>
        <p:spPr>
          <a:xfrm>
            <a:off x="247719" y="224527"/>
            <a:ext cx="7583296" cy="584775"/>
          </a:xfrm>
          <a:prstGeom prst="rect">
            <a:avLst/>
          </a:prstGeom>
          <a:noFill/>
        </p:spPr>
        <p:txBody>
          <a:bodyPr wrap="square" rtlCol="0">
            <a:spAutoFit/>
          </a:bodyPr>
          <a:lstStyle/>
          <a:p>
            <a:r>
              <a:rPr kumimoji="1" lang="en-US" altLang="zh-CN" sz="3200" b="1" dirty="0">
                <a:latin typeface="华光胖头鱼_CNKI" panose="02000500000000000000" pitchFamily="2" charset="-122"/>
                <a:ea typeface="华光胖头鱼_CNKI" panose="02000500000000000000" pitchFamily="2" charset="-122"/>
              </a:rPr>
              <a:t>11.4</a:t>
            </a:r>
            <a:r>
              <a:rPr kumimoji="1" lang="zh-CN" altLang="en-US" sz="3200" b="1" dirty="0">
                <a:latin typeface="华光胖头鱼_CNKI" panose="02000500000000000000" pitchFamily="2" charset="-122"/>
                <a:ea typeface="华光胖头鱼_CNKI" panose="02000500000000000000" pitchFamily="2" charset="-122"/>
              </a:rPr>
              <a:t>类模板</a:t>
            </a:r>
            <a:r>
              <a:rPr kumimoji="1" lang="en-US" altLang="zh-CN" sz="3200" b="1" dirty="0">
                <a:latin typeface="华光胖头鱼_CNKI" panose="02000500000000000000" pitchFamily="2" charset="-122"/>
                <a:ea typeface="华光胖头鱼_CNKI" panose="02000500000000000000" pitchFamily="2" charset="-122"/>
              </a:rPr>
              <a:t>——</a:t>
            </a:r>
            <a:r>
              <a:rPr kumimoji="1" lang="zh-CN" altLang="en-US" sz="3200" b="1" dirty="0">
                <a:latin typeface="华光胖头鱼_CNKI" panose="02000500000000000000" pitchFamily="2" charset="-122"/>
                <a:ea typeface="华光胖头鱼_CNKI" panose="02000500000000000000" pitchFamily="2" charset="-122"/>
              </a:rPr>
              <a:t>继承关系</a:t>
            </a:r>
          </a:p>
        </p:txBody>
      </p:sp>
      <p:sp>
        <p:nvSpPr>
          <p:cNvPr id="11" name="矩形 2">
            <a:extLst>
              <a:ext uri="{FF2B5EF4-FFF2-40B4-BE49-F238E27FC236}">
                <a16:creationId xmlns:a16="http://schemas.microsoft.com/office/drawing/2014/main" id="{335CD038-8774-4CF9-A765-A74739324819}"/>
              </a:ext>
            </a:extLst>
          </p:cNvPr>
          <p:cNvSpPr>
            <a:spLocks noChangeArrowheads="1"/>
          </p:cNvSpPr>
          <p:nvPr/>
        </p:nvSpPr>
        <p:spPr bwMode="auto">
          <a:xfrm>
            <a:off x="-1" y="1002128"/>
            <a:ext cx="502920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marL="342900" indent="-342900">
              <a:spcBef>
                <a:spcPct val="0"/>
              </a:spcBef>
              <a:buClrTx/>
              <a:buSzTx/>
              <a:buFont typeface="Wingdings" panose="05000000000000000000" pitchFamily="2" charset="2"/>
              <a:buChar char="l"/>
            </a:pPr>
            <a:r>
              <a:rPr lang="zh-CN" altLang="en-US" sz="2400" dirty="0">
                <a:solidFill>
                  <a:srgbClr val="104E87"/>
                </a:solidFill>
                <a:latin typeface="Comic Sans MS" panose="030F0702030302020204" pitchFamily="66" charset="0"/>
                <a:ea typeface="华光行书_CNKI" panose="02000500000000000000" pitchFamily="2" charset="-122"/>
              </a:rPr>
              <a:t>由类模板派生非模板类</a:t>
            </a:r>
            <a:r>
              <a:rPr lang="en-US" altLang="zh-CN" sz="2400" dirty="0">
                <a:solidFill>
                  <a:srgbClr val="104E87"/>
                </a:solidFill>
                <a:latin typeface="Comic Sans MS" panose="030F0702030302020204" pitchFamily="66" charset="0"/>
                <a:ea typeface="华光行书_CNKI" panose="02000500000000000000" pitchFamily="2" charset="-122"/>
              </a:rPr>
              <a:t>(</a:t>
            </a:r>
            <a:r>
              <a:rPr lang="zh-CN" altLang="en-US" sz="2400" dirty="0">
                <a:solidFill>
                  <a:srgbClr val="104E87"/>
                </a:solidFill>
                <a:latin typeface="Comic Sans MS" panose="030F0702030302020204" pitchFamily="66" charset="0"/>
                <a:ea typeface="华光行书_CNKI" panose="02000500000000000000" pitchFamily="2" charset="-122"/>
              </a:rPr>
              <a:t>普通类</a:t>
            </a:r>
            <a:r>
              <a:rPr lang="en-US" altLang="zh-CN" sz="2400" dirty="0">
                <a:solidFill>
                  <a:srgbClr val="104E87"/>
                </a:solidFill>
                <a:latin typeface="Comic Sans MS" panose="030F0702030302020204" pitchFamily="66" charset="0"/>
                <a:ea typeface="华光行书_CNKI" panose="02000500000000000000" pitchFamily="2" charset="-122"/>
              </a:rPr>
              <a:t>),</a:t>
            </a:r>
            <a:r>
              <a:rPr lang="zh-CN" altLang="en-US" sz="2400" dirty="0">
                <a:solidFill>
                  <a:srgbClr val="104E87"/>
                </a:solidFill>
                <a:latin typeface="Comic Sans MS" panose="030F0702030302020204" pitchFamily="66" charset="0"/>
                <a:ea typeface="华光行书_CNKI" panose="02000500000000000000" pitchFamily="2" charset="-122"/>
              </a:rPr>
              <a:t>作为基类</a:t>
            </a:r>
            <a:r>
              <a:rPr lang="en-US" altLang="zh-CN" sz="2400" dirty="0">
                <a:solidFill>
                  <a:srgbClr val="104E87"/>
                </a:solidFill>
                <a:latin typeface="Comic Sans MS" panose="030F0702030302020204" pitchFamily="66" charset="0"/>
                <a:ea typeface="华光行书_CNKI" panose="02000500000000000000" pitchFamily="2" charset="-122"/>
              </a:rPr>
              <a:t>,</a:t>
            </a:r>
            <a:r>
              <a:rPr lang="zh-CN" altLang="en-US" sz="2400" dirty="0">
                <a:solidFill>
                  <a:srgbClr val="104E87"/>
                </a:solidFill>
                <a:latin typeface="Comic Sans MS" panose="030F0702030302020204" pitchFamily="66" charset="0"/>
                <a:ea typeface="华光行书_CNKI" panose="02000500000000000000" pitchFamily="2" charset="-122"/>
              </a:rPr>
              <a:t>必须被实例化</a:t>
            </a:r>
          </a:p>
        </p:txBody>
      </p:sp>
      <p:sp>
        <p:nvSpPr>
          <p:cNvPr id="13" name="矩形 7">
            <a:extLst>
              <a:ext uri="{FF2B5EF4-FFF2-40B4-BE49-F238E27FC236}">
                <a16:creationId xmlns:a16="http://schemas.microsoft.com/office/drawing/2014/main" id="{B7F30688-F384-4FF6-974C-3B6CA1DCDEB5}"/>
              </a:ext>
            </a:extLst>
          </p:cNvPr>
          <p:cNvSpPr>
            <a:spLocks noChangeArrowheads="1"/>
          </p:cNvSpPr>
          <p:nvPr/>
        </p:nvSpPr>
        <p:spPr bwMode="auto">
          <a:xfrm>
            <a:off x="357555" y="1709010"/>
            <a:ext cx="4572000" cy="2754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lnSpc>
                <a:spcPct val="80000"/>
              </a:lnSpc>
              <a:spcBef>
                <a:spcPct val="0"/>
              </a:spcBef>
              <a:buClrTx/>
              <a:buSzTx/>
              <a:buFontTx/>
              <a:buNone/>
            </a:pPr>
            <a:r>
              <a:rPr lang="en-US" altLang="zh-CN" sz="2400" b="0" dirty="0">
                <a:solidFill>
                  <a:srgbClr val="104E87"/>
                </a:solidFill>
                <a:latin typeface="Comic Sans MS" panose="030F0702030302020204" pitchFamily="66" charset="0"/>
                <a:ea typeface="宋体" panose="02010600030101010101" pitchFamily="2" charset="-122"/>
              </a:rPr>
              <a:t>template &lt;class T&gt;</a:t>
            </a:r>
          </a:p>
          <a:p>
            <a:pPr eaLnBrk="1" hangingPunct="1">
              <a:lnSpc>
                <a:spcPct val="80000"/>
              </a:lnSpc>
              <a:spcBef>
                <a:spcPct val="0"/>
              </a:spcBef>
              <a:buClrTx/>
              <a:buSzTx/>
              <a:buFontTx/>
              <a:buNone/>
            </a:pPr>
            <a:r>
              <a:rPr lang="en-US" altLang="zh-CN" sz="2400" b="0" dirty="0">
                <a:solidFill>
                  <a:srgbClr val="104E87"/>
                </a:solidFill>
                <a:latin typeface="Comic Sans MS" panose="030F0702030302020204" pitchFamily="66" charset="0"/>
                <a:ea typeface="宋体" panose="02010600030101010101" pitchFamily="2" charset="-122"/>
              </a:rPr>
              <a:t>class base</a:t>
            </a:r>
          </a:p>
          <a:p>
            <a:pPr eaLnBrk="1" hangingPunct="1">
              <a:lnSpc>
                <a:spcPct val="80000"/>
              </a:lnSpc>
              <a:spcBef>
                <a:spcPct val="0"/>
              </a:spcBef>
              <a:buClrTx/>
              <a:buSzTx/>
              <a:buFontTx/>
              <a:buNone/>
            </a:pPr>
            <a:r>
              <a:rPr lang="en-US" altLang="zh-CN" sz="2400" b="0" dirty="0">
                <a:solidFill>
                  <a:srgbClr val="104E87"/>
                </a:solidFill>
                <a:latin typeface="Comic Sans MS" panose="030F0702030302020204" pitchFamily="66" charset="0"/>
                <a:ea typeface="宋体" panose="02010600030101010101" pitchFamily="2" charset="-122"/>
              </a:rPr>
              <a:t>{</a:t>
            </a:r>
          </a:p>
          <a:p>
            <a:pPr eaLnBrk="1" hangingPunct="1">
              <a:lnSpc>
                <a:spcPct val="80000"/>
              </a:lnSpc>
              <a:spcBef>
                <a:spcPct val="0"/>
              </a:spcBef>
              <a:buClrTx/>
              <a:buSzTx/>
              <a:buFontTx/>
              <a:buNone/>
            </a:pPr>
            <a:r>
              <a:rPr lang="en-US" altLang="zh-CN" sz="2400" b="0" dirty="0">
                <a:solidFill>
                  <a:srgbClr val="104E87"/>
                </a:solidFill>
                <a:latin typeface="Comic Sans MS" panose="030F0702030302020204" pitchFamily="66" charset="0"/>
                <a:ea typeface="宋体" panose="02010600030101010101" pitchFamily="2" charset="-122"/>
              </a:rPr>
              <a:t>……</a:t>
            </a:r>
          </a:p>
          <a:p>
            <a:pPr eaLnBrk="1" hangingPunct="1">
              <a:lnSpc>
                <a:spcPct val="80000"/>
              </a:lnSpc>
              <a:spcBef>
                <a:spcPct val="0"/>
              </a:spcBef>
              <a:buClrTx/>
              <a:buSzTx/>
              <a:buFontTx/>
              <a:buNone/>
            </a:pPr>
            <a:r>
              <a:rPr lang="en-US" altLang="zh-CN" sz="2400" b="0" dirty="0">
                <a:solidFill>
                  <a:srgbClr val="104E87"/>
                </a:solidFill>
                <a:latin typeface="Comic Sans MS" panose="030F0702030302020204" pitchFamily="66" charset="0"/>
                <a:ea typeface="宋体" panose="02010600030101010101" pitchFamily="2" charset="-122"/>
              </a:rPr>
              <a:t>};</a:t>
            </a:r>
          </a:p>
          <a:p>
            <a:pPr eaLnBrk="1" hangingPunct="1">
              <a:lnSpc>
                <a:spcPct val="80000"/>
              </a:lnSpc>
              <a:spcBef>
                <a:spcPct val="0"/>
              </a:spcBef>
              <a:buClrTx/>
              <a:buSzTx/>
              <a:buFontTx/>
              <a:buNone/>
            </a:pPr>
            <a:r>
              <a:rPr lang="en-US" altLang="zh-CN" sz="2400" b="0" dirty="0">
                <a:solidFill>
                  <a:srgbClr val="104E87"/>
                </a:solidFill>
                <a:latin typeface="Comic Sans MS" panose="030F0702030302020204" pitchFamily="66" charset="0"/>
                <a:ea typeface="宋体" panose="02010600030101010101" pitchFamily="2" charset="-122"/>
              </a:rPr>
              <a:t>class derive: public </a:t>
            </a:r>
            <a:r>
              <a:rPr lang="en-US" altLang="zh-CN" sz="2400" b="0" dirty="0">
                <a:solidFill>
                  <a:srgbClr val="FF0000"/>
                </a:solidFill>
                <a:latin typeface="Comic Sans MS" panose="030F0702030302020204" pitchFamily="66" charset="0"/>
                <a:ea typeface="宋体" panose="02010600030101010101" pitchFamily="2" charset="-122"/>
              </a:rPr>
              <a:t>base&lt;int&gt;</a:t>
            </a:r>
          </a:p>
          <a:p>
            <a:pPr eaLnBrk="1" hangingPunct="1">
              <a:lnSpc>
                <a:spcPct val="80000"/>
              </a:lnSpc>
              <a:spcBef>
                <a:spcPct val="0"/>
              </a:spcBef>
              <a:buClrTx/>
              <a:buSzTx/>
              <a:buFontTx/>
              <a:buNone/>
            </a:pPr>
            <a:r>
              <a:rPr lang="en-US" altLang="zh-CN" sz="2400" b="0" dirty="0">
                <a:solidFill>
                  <a:srgbClr val="104E87"/>
                </a:solidFill>
                <a:latin typeface="Comic Sans MS" panose="030F0702030302020204" pitchFamily="66" charset="0"/>
                <a:ea typeface="宋体" panose="02010600030101010101" pitchFamily="2" charset="-122"/>
              </a:rPr>
              <a:t>{</a:t>
            </a:r>
          </a:p>
          <a:p>
            <a:pPr eaLnBrk="1" hangingPunct="1">
              <a:lnSpc>
                <a:spcPct val="80000"/>
              </a:lnSpc>
              <a:spcBef>
                <a:spcPct val="0"/>
              </a:spcBef>
              <a:buClrTx/>
              <a:buSzTx/>
              <a:buFontTx/>
              <a:buNone/>
            </a:pPr>
            <a:r>
              <a:rPr lang="en-US" altLang="zh-CN" sz="2400" b="0" dirty="0">
                <a:solidFill>
                  <a:srgbClr val="104E87"/>
                </a:solidFill>
                <a:latin typeface="Comic Sans MS" panose="030F0702030302020204" pitchFamily="66" charset="0"/>
                <a:ea typeface="宋体" panose="02010600030101010101" pitchFamily="2" charset="-122"/>
              </a:rPr>
              <a:t>……</a:t>
            </a:r>
          </a:p>
          <a:p>
            <a:pPr eaLnBrk="1" hangingPunct="1">
              <a:lnSpc>
                <a:spcPct val="80000"/>
              </a:lnSpc>
              <a:spcBef>
                <a:spcPct val="0"/>
              </a:spcBef>
              <a:buClrTx/>
              <a:buSzTx/>
              <a:buFontTx/>
              <a:buNone/>
            </a:pPr>
            <a:r>
              <a:rPr lang="en-US" altLang="zh-CN" sz="2400" b="0" dirty="0">
                <a:solidFill>
                  <a:srgbClr val="104E87"/>
                </a:solidFill>
                <a:latin typeface="Comic Sans MS" panose="030F0702030302020204" pitchFamily="66" charset="0"/>
                <a:ea typeface="宋体" panose="02010600030101010101" pitchFamily="2" charset="-122"/>
              </a:rPr>
              <a:t>};</a:t>
            </a:r>
          </a:p>
        </p:txBody>
      </p:sp>
      <p:sp>
        <p:nvSpPr>
          <p:cNvPr id="14" name="矩形 4">
            <a:extLst>
              <a:ext uri="{FF2B5EF4-FFF2-40B4-BE49-F238E27FC236}">
                <a16:creationId xmlns:a16="http://schemas.microsoft.com/office/drawing/2014/main" id="{EA6FC17C-9E10-4082-A692-65EA8ABFCED9}"/>
              </a:ext>
            </a:extLst>
          </p:cNvPr>
          <p:cNvSpPr>
            <a:spLocks noChangeArrowheads="1"/>
          </p:cNvSpPr>
          <p:nvPr/>
        </p:nvSpPr>
        <p:spPr bwMode="auto">
          <a:xfrm>
            <a:off x="5298831" y="955150"/>
            <a:ext cx="68923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spcBef>
                <a:spcPct val="0"/>
              </a:spcBef>
              <a:buFont typeface="Wingdings" panose="05000000000000000000" pitchFamily="2" charset="2"/>
              <a:buChar char="l"/>
            </a:pPr>
            <a:r>
              <a:rPr lang="zh-CN" altLang="en-US" spc="-100" dirty="0">
                <a:solidFill>
                  <a:srgbClr val="104E87"/>
                </a:solidFill>
                <a:latin typeface="Comic Sans MS" panose="030F0702030302020204" pitchFamily="66" charset="0"/>
                <a:ea typeface="华光行书_CNKI" panose="02000500000000000000" pitchFamily="2" charset="-122"/>
              </a:rPr>
              <a:t>从普通类</a:t>
            </a:r>
            <a:r>
              <a:rPr lang="en-US" altLang="zh-CN" spc="-100" dirty="0">
                <a:solidFill>
                  <a:srgbClr val="104E87"/>
                </a:solidFill>
                <a:latin typeface="Comic Sans MS" panose="030F0702030302020204" pitchFamily="66" charset="0"/>
                <a:ea typeface="华光行书_CNKI" panose="02000500000000000000" pitchFamily="2" charset="-122"/>
              </a:rPr>
              <a:t>,</a:t>
            </a:r>
            <a:r>
              <a:rPr lang="zh-CN" altLang="en-US" spc="-100" dirty="0">
                <a:solidFill>
                  <a:srgbClr val="104E87"/>
                </a:solidFill>
                <a:latin typeface="Comic Sans MS" panose="030F0702030302020204" pitchFamily="66" charset="0"/>
                <a:ea typeface="华光行书_CNKI" panose="02000500000000000000" pitchFamily="2" charset="-122"/>
              </a:rPr>
              <a:t>可派生类模板</a:t>
            </a:r>
            <a:r>
              <a:rPr lang="en-US" altLang="zh-CN" spc="-100" dirty="0">
                <a:solidFill>
                  <a:srgbClr val="104E87"/>
                </a:solidFill>
                <a:latin typeface="Comic Sans MS" panose="030F0702030302020204" pitchFamily="66" charset="0"/>
                <a:ea typeface="华光行书_CNKI" panose="02000500000000000000" pitchFamily="2" charset="-122"/>
              </a:rPr>
              <a:t>,</a:t>
            </a:r>
            <a:r>
              <a:rPr lang="zh-CN" altLang="en-US" spc="-100" dirty="0">
                <a:solidFill>
                  <a:srgbClr val="104E87"/>
                </a:solidFill>
                <a:latin typeface="Comic Sans MS" panose="030F0702030302020204" pitchFamily="66" charset="0"/>
                <a:ea typeface="华光行书_CNKI" panose="02000500000000000000" pitchFamily="2" charset="-122"/>
              </a:rPr>
              <a:t>即基类是普通类</a:t>
            </a:r>
            <a:r>
              <a:rPr lang="en-US" altLang="zh-CN" spc="-100" dirty="0">
                <a:solidFill>
                  <a:srgbClr val="104E87"/>
                </a:solidFill>
                <a:latin typeface="Comic Sans MS" panose="030F0702030302020204" pitchFamily="66" charset="0"/>
                <a:ea typeface="华光行书_CNKI" panose="02000500000000000000" pitchFamily="2" charset="-122"/>
              </a:rPr>
              <a:t>,</a:t>
            </a:r>
            <a:r>
              <a:rPr lang="zh-CN" altLang="en-US" spc="-100" dirty="0">
                <a:solidFill>
                  <a:srgbClr val="104E87"/>
                </a:solidFill>
                <a:latin typeface="Comic Sans MS" panose="030F0702030302020204" pitchFamily="66" charset="0"/>
                <a:ea typeface="华光行书_CNKI" panose="02000500000000000000" pitchFamily="2" charset="-122"/>
              </a:rPr>
              <a:t>派生类是类模板。</a:t>
            </a:r>
          </a:p>
        </p:txBody>
      </p:sp>
      <p:sp>
        <p:nvSpPr>
          <p:cNvPr id="15" name="矩形 14">
            <a:extLst>
              <a:ext uri="{FF2B5EF4-FFF2-40B4-BE49-F238E27FC236}">
                <a16:creationId xmlns:a16="http://schemas.microsoft.com/office/drawing/2014/main" id="{A140B889-AAB3-4B18-9A19-3C71FB0B5377}"/>
              </a:ext>
            </a:extLst>
          </p:cNvPr>
          <p:cNvSpPr>
            <a:spLocks noChangeArrowheads="1"/>
          </p:cNvSpPr>
          <p:nvPr/>
        </p:nvSpPr>
        <p:spPr bwMode="auto">
          <a:xfrm>
            <a:off x="7362093" y="1417626"/>
            <a:ext cx="4572000" cy="2825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80000"/>
              </a:lnSpc>
              <a:spcBef>
                <a:spcPct val="0"/>
              </a:spcBef>
            </a:pPr>
            <a:r>
              <a:rPr lang="en-US" altLang="zh-CN" dirty="0">
                <a:solidFill>
                  <a:srgbClr val="104E87"/>
                </a:solidFill>
                <a:latin typeface="Comic Sans MS" panose="030F0702030302020204" pitchFamily="66" charset="0"/>
                <a:ea typeface="宋体" panose="02010600030101010101" pitchFamily="2" charset="-122"/>
              </a:rPr>
              <a:t>class base</a:t>
            </a:r>
          </a:p>
          <a:p>
            <a:pPr>
              <a:lnSpc>
                <a:spcPct val="80000"/>
              </a:lnSpc>
              <a:spcBef>
                <a:spcPct val="0"/>
              </a:spcBef>
            </a:pPr>
            <a:r>
              <a:rPr lang="en-US" altLang="zh-CN" dirty="0">
                <a:solidFill>
                  <a:srgbClr val="104E87"/>
                </a:solidFill>
                <a:latin typeface="Comic Sans MS" panose="030F0702030302020204" pitchFamily="66" charset="0"/>
                <a:ea typeface="宋体" panose="02010600030101010101" pitchFamily="2" charset="-122"/>
              </a:rPr>
              <a:t>{</a:t>
            </a:r>
          </a:p>
          <a:p>
            <a:pPr>
              <a:lnSpc>
                <a:spcPct val="80000"/>
              </a:lnSpc>
              <a:spcBef>
                <a:spcPct val="0"/>
              </a:spcBef>
            </a:pPr>
            <a:r>
              <a:rPr lang="en-US" altLang="zh-CN" dirty="0">
                <a:solidFill>
                  <a:srgbClr val="104E87"/>
                </a:solidFill>
                <a:latin typeface="Comic Sans MS" panose="030F0702030302020204" pitchFamily="66" charset="0"/>
                <a:ea typeface="宋体" panose="02010600030101010101" pitchFamily="2" charset="-122"/>
              </a:rPr>
              <a:t>……</a:t>
            </a:r>
          </a:p>
          <a:p>
            <a:pPr>
              <a:lnSpc>
                <a:spcPct val="80000"/>
              </a:lnSpc>
              <a:spcBef>
                <a:spcPct val="0"/>
              </a:spcBef>
            </a:pPr>
            <a:r>
              <a:rPr lang="en-US" altLang="zh-CN" dirty="0">
                <a:solidFill>
                  <a:srgbClr val="104E87"/>
                </a:solidFill>
                <a:latin typeface="Comic Sans MS" panose="030F0702030302020204" pitchFamily="66" charset="0"/>
                <a:ea typeface="宋体" panose="02010600030101010101" pitchFamily="2" charset="-122"/>
              </a:rPr>
              <a:t>};</a:t>
            </a:r>
          </a:p>
          <a:p>
            <a:pPr>
              <a:lnSpc>
                <a:spcPct val="80000"/>
              </a:lnSpc>
              <a:spcBef>
                <a:spcPct val="0"/>
              </a:spcBef>
            </a:pPr>
            <a:r>
              <a:rPr lang="en-US" altLang="zh-CN" dirty="0">
                <a:solidFill>
                  <a:srgbClr val="FF0000"/>
                </a:solidFill>
                <a:latin typeface="Comic Sans MS" panose="030F0702030302020204" pitchFamily="66" charset="0"/>
                <a:ea typeface="宋体" panose="02010600030101010101" pitchFamily="2" charset="-122"/>
              </a:rPr>
              <a:t>template &lt;class T&gt;</a:t>
            </a:r>
          </a:p>
          <a:p>
            <a:pPr>
              <a:lnSpc>
                <a:spcPct val="80000"/>
              </a:lnSpc>
              <a:spcBef>
                <a:spcPct val="0"/>
              </a:spcBef>
            </a:pPr>
            <a:r>
              <a:rPr lang="en-US" altLang="zh-CN" dirty="0">
                <a:solidFill>
                  <a:srgbClr val="104E87"/>
                </a:solidFill>
                <a:latin typeface="Comic Sans MS" panose="030F0702030302020204" pitchFamily="66" charset="0"/>
                <a:ea typeface="宋体" panose="02010600030101010101" pitchFamily="2" charset="-122"/>
              </a:rPr>
              <a:t>class derive: public base</a:t>
            </a:r>
          </a:p>
          <a:p>
            <a:pPr>
              <a:lnSpc>
                <a:spcPct val="80000"/>
              </a:lnSpc>
              <a:spcBef>
                <a:spcPct val="0"/>
              </a:spcBef>
            </a:pPr>
            <a:r>
              <a:rPr lang="en-US" altLang="zh-CN" dirty="0">
                <a:solidFill>
                  <a:srgbClr val="104E87"/>
                </a:solidFill>
                <a:latin typeface="Comic Sans MS" panose="030F0702030302020204" pitchFamily="66" charset="0"/>
                <a:ea typeface="宋体" panose="02010600030101010101" pitchFamily="2" charset="-122"/>
              </a:rPr>
              <a:t>{</a:t>
            </a:r>
          </a:p>
          <a:p>
            <a:pPr>
              <a:lnSpc>
                <a:spcPct val="80000"/>
              </a:lnSpc>
              <a:spcBef>
                <a:spcPct val="0"/>
              </a:spcBef>
            </a:pPr>
            <a:r>
              <a:rPr lang="en-US" altLang="zh-CN" dirty="0">
                <a:solidFill>
                  <a:srgbClr val="104E87"/>
                </a:solidFill>
                <a:latin typeface="Comic Sans MS" panose="030F0702030302020204" pitchFamily="66" charset="0"/>
                <a:ea typeface="宋体" panose="02010600030101010101" pitchFamily="2" charset="-122"/>
              </a:rPr>
              <a:t>……</a:t>
            </a:r>
          </a:p>
          <a:p>
            <a:pPr>
              <a:lnSpc>
                <a:spcPct val="80000"/>
              </a:lnSpc>
              <a:spcBef>
                <a:spcPct val="0"/>
              </a:spcBef>
            </a:pPr>
            <a:r>
              <a:rPr lang="en-US" altLang="zh-CN" dirty="0">
                <a:solidFill>
                  <a:srgbClr val="104E87"/>
                </a:solidFill>
                <a:latin typeface="Comic Sans MS" panose="030F0702030302020204" pitchFamily="66" charset="0"/>
                <a:ea typeface="宋体" panose="02010600030101010101" pitchFamily="2" charset="-122"/>
              </a:rPr>
              <a:t>};</a:t>
            </a:r>
          </a:p>
        </p:txBody>
      </p:sp>
      <p:sp>
        <p:nvSpPr>
          <p:cNvPr id="16" name="矩形 5">
            <a:extLst>
              <a:ext uri="{FF2B5EF4-FFF2-40B4-BE49-F238E27FC236}">
                <a16:creationId xmlns:a16="http://schemas.microsoft.com/office/drawing/2014/main" id="{268072DE-9620-46D8-A53E-7F03EA26F66F}"/>
              </a:ext>
            </a:extLst>
          </p:cNvPr>
          <p:cNvSpPr>
            <a:spLocks noChangeArrowheads="1"/>
          </p:cNvSpPr>
          <p:nvPr/>
        </p:nvSpPr>
        <p:spPr bwMode="auto">
          <a:xfrm>
            <a:off x="2901462" y="2183583"/>
            <a:ext cx="2819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eaLnBrk="1" hangingPunct="1">
              <a:spcBef>
                <a:spcPct val="0"/>
              </a:spcBef>
              <a:buClrTx/>
              <a:buSzTx/>
              <a:buFontTx/>
              <a:buNone/>
            </a:pPr>
            <a:r>
              <a:rPr lang="zh-CN" altLang="en-US" sz="2400" dirty="0">
                <a:solidFill>
                  <a:srgbClr val="FF0000"/>
                </a:solidFill>
                <a:latin typeface="华光行书_CNKI" panose="02000500000000000000" pitchFamily="2" charset="-122"/>
                <a:ea typeface="华光行书_CNKI" panose="02000500000000000000" pitchFamily="2" charset="-122"/>
              </a:rPr>
              <a:t>基类必须是类模板实例化后的模板类</a:t>
            </a:r>
          </a:p>
        </p:txBody>
      </p:sp>
    </p:spTree>
    <p:extLst>
      <p:ext uri="{BB962C8B-B14F-4D97-AF65-F5344CB8AC3E}">
        <p14:creationId xmlns:p14="http://schemas.microsoft.com/office/powerpoint/2010/main" val="1769387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arn(inVertic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a:extLst>
              <a:ext uri="{FF2B5EF4-FFF2-40B4-BE49-F238E27FC236}">
                <a16:creationId xmlns:a16="http://schemas.microsoft.com/office/drawing/2014/main" id="{43200EB9-37E2-D042-66A2-5F8129974240}"/>
              </a:ext>
            </a:extLst>
          </p:cNvPr>
          <p:cNvPicPr>
            <a:picLocks noChangeAspect="1"/>
          </p:cNvPicPr>
          <p:nvPr/>
        </p:nvPicPr>
        <p:blipFill>
          <a:blip r:embed="rId3"/>
          <a:stretch>
            <a:fillRect/>
          </a:stretch>
        </p:blipFill>
        <p:spPr>
          <a:xfrm>
            <a:off x="5044275" y="905715"/>
            <a:ext cx="7105368" cy="5952282"/>
          </a:xfrm>
          <a:prstGeom prst="rect">
            <a:avLst/>
          </a:prstGeom>
        </p:spPr>
      </p:pic>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3" name="直线连接符 6">
            <a:extLst>
              <a:ext uri="{FF2B5EF4-FFF2-40B4-BE49-F238E27FC236}">
                <a16:creationId xmlns:a16="http://schemas.microsoft.com/office/drawing/2014/main" id="{B0EE72FA-E898-4A34-8A29-6C892B3B6CFB}"/>
              </a:ext>
            </a:extLst>
          </p:cNvPr>
          <p:cNvCxnSpPr/>
          <p:nvPr/>
        </p:nvCxnSpPr>
        <p:spPr>
          <a:xfrm>
            <a:off x="45619" y="905715"/>
            <a:ext cx="12146381"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40" name="文本框 39">
            <a:extLst>
              <a:ext uri="{FF2B5EF4-FFF2-40B4-BE49-F238E27FC236}">
                <a16:creationId xmlns:a16="http://schemas.microsoft.com/office/drawing/2014/main" id="{C407BA89-4D77-4106-8CD6-1BB415A7D45A}"/>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11.5 </a:t>
            </a:r>
            <a:r>
              <a:rPr lang="zh-CN" altLang="en-US" dirty="0">
                <a:sym typeface="+mn-lt"/>
              </a:rPr>
              <a:t>案例</a:t>
            </a:r>
            <a:r>
              <a:rPr lang="en-US" altLang="zh-CN" dirty="0">
                <a:sym typeface="+mn-lt"/>
              </a:rPr>
              <a:t>——</a:t>
            </a:r>
            <a:r>
              <a:rPr lang="zh-CN" altLang="en-US" dirty="0"/>
              <a:t>动态数组类模板程序</a:t>
            </a:r>
          </a:p>
        </p:txBody>
      </p:sp>
      <p:sp>
        <p:nvSpPr>
          <p:cNvPr id="32" name="矩形 4">
            <a:extLst>
              <a:ext uri="{FF2B5EF4-FFF2-40B4-BE49-F238E27FC236}">
                <a16:creationId xmlns:a16="http://schemas.microsoft.com/office/drawing/2014/main" id="{6EE386FE-4F9E-45E3-AAA4-46A1CF91D6A5}"/>
              </a:ext>
            </a:extLst>
          </p:cNvPr>
          <p:cNvSpPr>
            <a:spLocks noChangeArrowheads="1"/>
          </p:cNvSpPr>
          <p:nvPr/>
        </p:nvSpPr>
        <p:spPr bwMode="auto">
          <a:xfrm>
            <a:off x="5722597" y="2479967"/>
            <a:ext cx="4031001" cy="949028"/>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3" name="矩形 4">
            <a:extLst>
              <a:ext uri="{FF2B5EF4-FFF2-40B4-BE49-F238E27FC236}">
                <a16:creationId xmlns:a16="http://schemas.microsoft.com/office/drawing/2014/main" id="{0B3BA659-1924-49D3-84C2-C4E678A6353F}"/>
              </a:ext>
            </a:extLst>
          </p:cNvPr>
          <p:cNvSpPr>
            <a:spLocks noChangeArrowheads="1"/>
          </p:cNvSpPr>
          <p:nvPr/>
        </p:nvSpPr>
        <p:spPr bwMode="auto">
          <a:xfrm>
            <a:off x="5722597" y="3426289"/>
            <a:ext cx="6468610" cy="328283"/>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 name="矩形 6">
            <a:extLst>
              <a:ext uri="{FF2B5EF4-FFF2-40B4-BE49-F238E27FC236}">
                <a16:creationId xmlns:a16="http://schemas.microsoft.com/office/drawing/2014/main" id="{95C20AE2-8C17-4D1D-A769-978F90A5A2B3}"/>
              </a:ext>
            </a:extLst>
          </p:cNvPr>
          <p:cNvSpPr>
            <a:spLocks noChangeArrowheads="1"/>
          </p:cNvSpPr>
          <p:nvPr/>
        </p:nvSpPr>
        <p:spPr bwMode="auto">
          <a:xfrm>
            <a:off x="5722597" y="3737696"/>
            <a:ext cx="5305621" cy="596056"/>
          </a:xfrm>
          <a:prstGeom prst="rect">
            <a:avLst/>
          </a:prstGeom>
          <a:noFill/>
          <a:ln w="38100" algn="ctr">
            <a:solidFill>
              <a:srgbClr val="7030A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5" name="矩形 7">
            <a:extLst>
              <a:ext uri="{FF2B5EF4-FFF2-40B4-BE49-F238E27FC236}">
                <a16:creationId xmlns:a16="http://schemas.microsoft.com/office/drawing/2014/main" id="{D0C75D00-FAE1-4983-8E9F-8EE4EDF839CF}"/>
              </a:ext>
            </a:extLst>
          </p:cNvPr>
          <p:cNvSpPr>
            <a:spLocks noChangeArrowheads="1"/>
          </p:cNvSpPr>
          <p:nvPr/>
        </p:nvSpPr>
        <p:spPr bwMode="auto">
          <a:xfrm>
            <a:off x="5722597" y="4333752"/>
            <a:ext cx="4308094" cy="678991"/>
          </a:xfrm>
          <a:prstGeom prst="rect">
            <a:avLst/>
          </a:prstGeom>
          <a:noFill/>
          <a:ln w="38100" algn="ctr">
            <a:solidFill>
              <a:srgbClr val="00B050"/>
            </a:solidFill>
            <a:round/>
            <a:headEnd/>
            <a:tailEnd/>
          </a:ln>
          <a:extLst>
            <a:ext uri="{909E8E84-426E-40DD-AFC4-6F175D3DCCD1}">
              <a14:hiddenFill xmlns:a14="http://schemas.microsoft.com/office/drawing/2010/main">
                <a:solidFill>
                  <a:srgbClr val="FFFFFF"/>
                </a:solidFill>
              </a14:hiddenFill>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 name="矩形 2">
            <a:extLst>
              <a:ext uri="{FF2B5EF4-FFF2-40B4-BE49-F238E27FC236}">
                <a16:creationId xmlns:a16="http://schemas.microsoft.com/office/drawing/2014/main" id="{73ACED03-85AA-819A-A07F-747D59B2B607}"/>
              </a:ext>
            </a:extLst>
          </p:cNvPr>
          <p:cNvSpPr>
            <a:spLocks noChangeArrowheads="1"/>
          </p:cNvSpPr>
          <p:nvPr/>
        </p:nvSpPr>
        <p:spPr bwMode="auto">
          <a:xfrm>
            <a:off x="0" y="1002128"/>
            <a:ext cx="522316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0000"/>
              <a:buFont typeface="Wingdings" panose="05000000000000000000" pitchFamily="2" charset="2"/>
              <a:buChar char="o"/>
              <a:defRPr sz="3200">
                <a:solidFill>
                  <a:srgbClr val="0000FF"/>
                </a:solidFill>
                <a:latin typeface="Times New Roman" panose="02020603050405020304" pitchFamily="18" charset="0"/>
                <a:ea typeface="楷体_GB2312" pitchFamily="49" charset="-122"/>
              </a:defRPr>
            </a:lvl1pPr>
            <a:lvl2pPr marL="742950" indent="-285750">
              <a:spcBef>
                <a:spcPct val="20000"/>
              </a:spcBef>
              <a:buClr>
                <a:schemeClr val="accent2"/>
              </a:buClr>
              <a:buSzPct val="75000"/>
              <a:buFont typeface="Wingdings" panose="05000000000000000000" pitchFamily="2" charset="2"/>
              <a:buChar char="n"/>
              <a:defRPr sz="2800">
                <a:solidFill>
                  <a:srgbClr val="0000FF"/>
                </a:solidFill>
                <a:latin typeface="Times New Roman" panose="02020603050405020304" pitchFamily="18" charset="0"/>
                <a:ea typeface="楷体_GB2312" pitchFamily="49" charset="-122"/>
              </a:defRPr>
            </a:lvl2pPr>
            <a:lvl3pPr marL="1143000" indent="-228600">
              <a:spcBef>
                <a:spcPct val="20000"/>
              </a:spcBef>
              <a:buClr>
                <a:schemeClr val="bg2"/>
              </a:buClr>
              <a:buSzPct val="65000"/>
              <a:buFont typeface="Wingdings" panose="05000000000000000000" pitchFamily="2" charset="2"/>
              <a:buChar char="o"/>
              <a:defRPr sz="2400">
                <a:solidFill>
                  <a:srgbClr val="0000FF"/>
                </a:solidFill>
                <a:latin typeface="Times New Roman" panose="02020603050405020304" pitchFamily="18" charset="0"/>
                <a:ea typeface="楷体_GB2312" pitchFamily="49" charset="-122"/>
              </a:defRPr>
            </a:lvl3pPr>
            <a:lvl4pPr marL="1600200" indent="-228600">
              <a:spcBef>
                <a:spcPct val="20000"/>
              </a:spcBef>
              <a:buClr>
                <a:schemeClr val="accent2"/>
              </a:buClr>
              <a:buSzPct val="75000"/>
              <a:buFont typeface="Wingdings" panose="05000000000000000000" pitchFamily="2" charset="2"/>
              <a:buChar char="n"/>
              <a:defRPr sz="2000">
                <a:solidFill>
                  <a:srgbClr val="0000FF"/>
                </a:solidFill>
                <a:latin typeface="Times New Roman" panose="02020603050405020304" pitchFamily="18" charset="0"/>
                <a:ea typeface="楷体_GB2312" pitchFamily="49" charset="-122"/>
              </a:defRPr>
            </a:lvl4pPr>
            <a:lvl5pPr marL="2057400" indent="-228600">
              <a:spcBef>
                <a:spcPct val="20000"/>
              </a:spcBef>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o"/>
              <a:defRPr sz="2000">
                <a:solidFill>
                  <a:srgbClr val="0000FF"/>
                </a:solidFill>
                <a:latin typeface="Times New Roman" panose="02020603050405020304" pitchFamily="18" charset="0"/>
                <a:ea typeface="楷体_GB2312" pitchFamily="49" charset="-122"/>
              </a:defRPr>
            </a:lvl9pPr>
          </a:lstStyle>
          <a:p>
            <a:pPr>
              <a:spcBef>
                <a:spcPct val="0"/>
              </a:spcBef>
              <a:buClrTx/>
              <a:buSzTx/>
              <a:buNone/>
            </a:pPr>
            <a:r>
              <a:rPr lang="zh-CN" altLang="en-US" sz="2400" dirty="0">
                <a:solidFill>
                  <a:srgbClr val="104E87"/>
                </a:solidFill>
                <a:latin typeface="Comic Sans MS" panose="030F0702030302020204" pitchFamily="66" charset="0"/>
                <a:ea typeface="华光行书_CNKI" panose="02000500000000000000" pitchFamily="2" charset="-122"/>
              </a:rPr>
              <a:t>构建一个数组类模板</a:t>
            </a:r>
            <a:r>
              <a:rPr lang="en-US" altLang="zh-CN" sz="2400" dirty="0">
                <a:solidFill>
                  <a:srgbClr val="104E87"/>
                </a:solidFill>
                <a:latin typeface="Comic Sans MS" panose="030F0702030302020204" pitchFamily="66" charset="0"/>
                <a:ea typeface="华光行书_CNKI" panose="02000500000000000000" pitchFamily="2" charset="-122"/>
              </a:rPr>
              <a:t>,</a:t>
            </a:r>
            <a:r>
              <a:rPr lang="zh-CN" altLang="en-US" sz="2400" dirty="0">
                <a:solidFill>
                  <a:srgbClr val="104E87"/>
                </a:solidFill>
                <a:latin typeface="Comic Sans MS" panose="030F0702030302020204" pitchFamily="66" charset="0"/>
                <a:ea typeface="华光行书_CNKI" panose="02000500000000000000" pitchFamily="2" charset="-122"/>
              </a:rPr>
              <a:t>实现对数组的基本操作</a:t>
            </a:r>
            <a:r>
              <a:rPr lang="en-US" altLang="zh-CN" sz="2400" dirty="0">
                <a:solidFill>
                  <a:srgbClr val="104E87"/>
                </a:solidFill>
                <a:latin typeface="Comic Sans MS" panose="030F0702030302020204" pitchFamily="66" charset="0"/>
                <a:ea typeface="华光行书_CNKI" panose="02000500000000000000" pitchFamily="2" charset="-122"/>
              </a:rPr>
              <a:t>,</a:t>
            </a:r>
            <a:r>
              <a:rPr lang="zh-CN" altLang="en-US" sz="2400" dirty="0">
                <a:solidFill>
                  <a:srgbClr val="104E87"/>
                </a:solidFill>
                <a:latin typeface="Comic Sans MS" panose="030F0702030302020204" pitchFamily="66" charset="0"/>
                <a:ea typeface="华光行书_CNKI" panose="02000500000000000000" pitchFamily="2" charset="-122"/>
              </a:rPr>
              <a:t>以及排序、查找和求和功能。</a:t>
            </a:r>
          </a:p>
        </p:txBody>
      </p:sp>
      <p:pic>
        <p:nvPicPr>
          <p:cNvPr id="8" name="图片 7">
            <a:extLst>
              <a:ext uri="{FF2B5EF4-FFF2-40B4-BE49-F238E27FC236}">
                <a16:creationId xmlns:a16="http://schemas.microsoft.com/office/drawing/2014/main" id="{100A6D4C-0E2A-AD6A-C0EB-3FD1428A59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21465" y="-37221"/>
            <a:ext cx="3270535" cy="1468816"/>
          </a:xfrm>
          <a:prstGeom prst="rect">
            <a:avLst/>
          </a:prstGeom>
          <a:noFill/>
          <a:ln w="19050">
            <a:solidFill>
              <a:srgbClr val="104E87"/>
            </a:solidFill>
            <a:miter lim="800000"/>
            <a:headEnd/>
            <a:tailEnd/>
          </a:ln>
        </p:spPr>
      </p:pic>
      <p:pic>
        <p:nvPicPr>
          <p:cNvPr id="10" name="图片 10">
            <a:extLst>
              <a:ext uri="{FF2B5EF4-FFF2-40B4-BE49-F238E27FC236}">
                <a16:creationId xmlns:a16="http://schemas.microsoft.com/office/drawing/2014/main" id="{29FE9A16-484D-E638-729E-A23C8F676D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08319" y="1544836"/>
            <a:ext cx="2841324" cy="1242330"/>
          </a:xfrm>
          <a:prstGeom prst="rect">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pic>
      <p:pic>
        <p:nvPicPr>
          <p:cNvPr id="11" name="图片 6">
            <a:extLst>
              <a:ext uri="{FF2B5EF4-FFF2-40B4-BE49-F238E27FC236}">
                <a16:creationId xmlns:a16="http://schemas.microsoft.com/office/drawing/2014/main" id="{D8EAD281-978C-59B5-85E9-BE486554A3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77" y="1811981"/>
            <a:ext cx="5041014" cy="2374900"/>
          </a:xfrm>
          <a:prstGeom prst="rect">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9800441"/>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randombar(vertic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3" name="直线连接符 6">
            <a:extLst>
              <a:ext uri="{FF2B5EF4-FFF2-40B4-BE49-F238E27FC236}">
                <a16:creationId xmlns:a16="http://schemas.microsoft.com/office/drawing/2014/main" id="{B0EE72FA-E898-4A34-8A29-6C892B3B6CFB}"/>
              </a:ext>
            </a:extLst>
          </p:cNvPr>
          <p:cNvCxnSpPr/>
          <p:nvPr/>
        </p:nvCxnSpPr>
        <p:spPr>
          <a:xfrm>
            <a:off x="45619" y="905715"/>
            <a:ext cx="12146381"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40" name="文本框 39">
            <a:extLst>
              <a:ext uri="{FF2B5EF4-FFF2-40B4-BE49-F238E27FC236}">
                <a16:creationId xmlns:a16="http://schemas.microsoft.com/office/drawing/2014/main" id="{C407BA89-4D77-4106-8CD6-1BB415A7D45A}"/>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11.5 </a:t>
            </a:r>
            <a:r>
              <a:rPr lang="zh-CN" altLang="en-US" dirty="0">
                <a:sym typeface="+mn-lt"/>
              </a:rPr>
              <a:t>案例</a:t>
            </a:r>
            <a:r>
              <a:rPr lang="en-US" altLang="zh-CN" dirty="0">
                <a:sym typeface="+mn-lt"/>
              </a:rPr>
              <a:t>——</a:t>
            </a:r>
            <a:r>
              <a:rPr lang="zh-CN" altLang="en-US" dirty="0"/>
              <a:t>动态数组类模板程序</a:t>
            </a:r>
          </a:p>
        </p:txBody>
      </p:sp>
      <p:pic>
        <p:nvPicPr>
          <p:cNvPr id="9" name="图片 8">
            <a:extLst>
              <a:ext uri="{FF2B5EF4-FFF2-40B4-BE49-F238E27FC236}">
                <a16:creationId xmlns:a16="http://schemas.microsoft.com/office/drawing/2014/main" id="{1A1F503C-3438-4427-A12A-15DAF132A729}"/>
              </a:ext>
            </a:extLst>
          </p:cNvPr>
          <p:cNvPicPr>
            <a:picLocks noChangeAspect="1"/>
          </p:cNvPicPr>
          <p:nvPr/>
        </p:nvPicPr>
        <p:blipFill>
          <a:blip r:embed="rId3"/>
          <a:stretch>
            <a:fillRect/>
          </a:stretch>
        </p:blipFill>
        <p:spPr>
          <a:xfrm>
            <a:off x="795" y="2817"/>
            <a:ext cx="4743068" cy="3211438"/>
          </a:xfrm>
          <a:prstGeom prst="rect">
            <a:avLst/>
          </a:prstGeom>
          <a:noFill/>
          <a:ln w="19050">
            <a:solidFill>
              <a:srgbClr val="104E87"/>
            </a:solidFill>
            <a:miter lim="800000"/>
            <a:headEnd/>
            <a:tailEnd/>
          </a:ln>
        </p:spPr>
      </p:pic>
      <p:pic>
        <p:nvPicPr>
          <p:cNvPr id="3" name="图片 10">
            <a:extLst>
              <a:ext uri="{FF2B5EF4-FFF2-40B4-BE49-F238E27FC236}">
                <a16:creationId xmlns:a16="http://schemas.microsoft.com/office/drawing/2014/main" id="{B66D15A7-2E93-CBAD-B12E-480DBAAF51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239" y="2988126"/>
            <a:ext cx="4350062" cy="1910091"/>
          </a:xfrm>
          <a:prstGeom prst="rect">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07D9B551-D6A2-F84B-9A92-BB5FE0E4C1C7}"/>
              </a:ext>
            </a:extLst>
          </p:cNvPr>
          <p:cNvPicPr>
            <a:picLocks noChangeAspect="1"/>
          </p:cNvPicPr>
          <p:nvPr/>
        </p:nvPicPr>
        <p:blipFill>
          <a:blip r:embed="rId5"/>
          <a:stretch>
            <a:fillRect/>
          </a:stretch>
        </p:blipFill>
        <p:spPr>
          <a:xfrm>
            <a:off x="651330" y="4627362"/>
            <a:ext cx="3810870" cy="2097455"/>
          </a:xfrm>
          <a:prstGeom prst="rect">
            <a:avLst/>
          </a:prstGeom>
          <a:noFill/>
          <a:ln w="19050">
            <a:solidFill>
              <a:srgbClr val="104E87"/>
            </a:solidFill>
            <a:miter lim="800000"/>
            <a:headEnd/>
            <a:tailEnd/>
          </a:ln>
        </p:spPr>
      </p:pic>
      <p:pic>
        <p:nvPicPr>
          <p:cNvPr id="6" name="图片 6">
            <a:extLst>
              <a:ext uri="{FF2B5EF4-FFF2-40B4-BE49-F238E27FC236}">
                <a16:creationId xmlns:a16="http://schemas.microsoft.com/office/drawing/2014/main" id="{C651C8A4-A293-E483-53DB-3EDFFAAF52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8809" y="4627362"/>
            <a:ext cx="4337508" cy="1416292"/>
          </a:xfrm>
          <a:prstGeom prst="rect">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pic>
      <p:pic>
        <p:nvPicPr>
          <p:cNvPr id="8" name="图片 10">
            <a:extLst>
              <a:ext uri="{FF2B5EF4-FFF2-40B4-BE49-F238E27FC236}">
                <a16:creationId xmlns:a16="http://schemas.microsoft.com/office/drawing/2014/main" id="{26E5491E-5C6B-862D-79FE-42F35AA0E7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93889" y="2817"/>
            <a:ext cx="4508500" cy="3703637"/>
          </a:xfrm>
          <a:prstGeom prst="rect">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FD74502E-18DC-27DF-0AA4-1055425F139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0" y="3429000"/>
            <a:ext cx="4811408" cy="1089305"/>
          </a:xfrm>
          <a:prstGeom prst="rect">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0152738"/>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5"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vertic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out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5"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randombar(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down)">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F92F48FE-57E8-4795-B61A-D5DADC75DD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7079673" cy="2725589"/>
          </a:xfrm>
          <a:prstGeom prst="rect">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pic>
      <p:pic>
        <p:nvPicPr>
          <p:cNvPr id="7" name="图片 4">
            <a:extLst>
              <a:ext uri="{FF2B5EF4-FFF2-40B4-BE49-F238E27FC236}">
                <a16:creationId xmlns:a16="http://schemas.microsoft.com/office/drawing/2014/main" id="{B9720B2E-9C22-4E83-8F1F-5B053A55A2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899135"/>
            <a:ext cx="5058761" cy="1773299"/>
          </a:xfrm>
          <a:prstGeom prst="rect">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pic>
      <p:pic>
        <p:nvPicPr>
          <p:cNvPr id="8" name="图片 6">
            <a:extLst>
              <a:ext uri="{FF2B5EF4-FFF2-40B4-BE49-F238E27FC236}">
                <a16:creationId xmlns:a16="http://schemas.microsoft.com/office/drawing/2014/main" id="{97714EF5-98E8-475E-80A2-E6EF5D69DD2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866703"/>
            <a:ext cx="6918446" cy="1773299"/>
          </a:xfrm>
          <a:prstGeom prst="rect">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437808AD-32A1-9809-B16C-350650B464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95585" y="-19620"/>
            <a:ext cx="3818587" cy="1334103"/>
          </a:xfrm>
          <a:prstGeom prst="rect">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pic>
      <p:pic>
        <p:nvPicPr>
          <p:cNvPr id="9" name="图片 4">
            <a:extLst>
              <a:ext uri="{FF2B5EF4-FFF2-40B4-BE49-F238E27FC236}">
                <a16:creationId xmlns:a16="http://schemas.microsoft.com/office/drawing/2014/main" id="{ECA265B8-4D76-050B-D5BC-C140EB7268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18446" y="3229571"/>
            <a:ext cx="5273554" cy="1231908"/>
          </a:xfrm>
          <a:prstGeom prst="rect">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6289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righ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randombar(horizontal)">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4">
            <a:extLst>
              <a:ext uri="{FF2B5EF4-FFF2-40B4-BE49-F238E27FC236}">
                <a16:creationId xmlns:a16="http://schemas.microsoft.com/office/drawing/2014/main" id="{1514D3FE-4A7E-4632-BC87-8D4F13ECAB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982" y="2709780"/>
            <a:ext cx="7913688" cy="3260725"/>
          </a:xfrm>
          <a:prstGeom prst="rect">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pic>
      <p:pic>
        <p:nvPicPr>
          <p:cNvPr id="11" name="图片 10">
            <a:extLst>
              <a:ext uri="{FF2B5EF4-FFF2-40B4-BE49-F238E27FC236}">
                <a16:creationId xmlns:a16="http://schemas.microsoft.com/office/drawing/2014/main" id="{974314C3-A967-49CE-828E-AAD45CCA22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824" y="887495"/>
            <a:ext cx="3960812" cy="1185862"/>
          </a:xfrm>
          <a:prstGeom prst="rect">
            <a:avLst/>
          </a:prstGeom>
          <a:noFill/>
          <a:ln w="19050">
            <a:solidFill>
              <a:srgbClr val="104E87"/>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880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B3E3FC1-3D6C-4F44-BB6A-BA21BA1F3056}"/>
              </a:ext>
            </a:extLst>
          </p:cNvPr>
          <p:cNvSpPr txBox="1"/>
          <p:nvPr/>
        </p:nvSpPr>
        <p:spPr>
          <a:xfrm>
            <a:off x="-22398" y="728877"/>
            <a:ext cx="7412073" cy="6126690"/>
          </a:xfrm>
          <a:prstGeom prst="rect">
            <a:avLst/>
          </a:prstGeom>
          <a:solidFill>
            <a:schemeClr val="accent4">
              <a:lumMod val="20000"/>
              <a:lumOff val="80000"/>
            </a:schemeClr>
          </a:solidFill>
        </p:spPr>
        <p:txBody>
          <a:bodyPr wrap="square" rtlCol="0">
            <a:spAutoFit/>
          </a:bodyPr>
          <a:lstStyle/>
          <a:p>
            <a:endParaRPr lang="zh-CN" altLang="en-US" dirty="0"/>
          </a:p>
        </p:txBody>
      </p:sp>
      <p:sp>
        <p:nvSpPr>
          <p:cNvPr id="98" name="文本框 97">
            <a:extLst>
              <a:ext uri="{FF2B5EF4-FFF2-40B4-BE49-F238E27FC236}">
                <a16:creationId xmlns:a16="http://schemas.microsoft.com/office/drawing/2014/main" id="{20505FED-997A-4E20-AC4D-03A2BE9421D9}"/>
              </a:ext>
            </a:extLst>
          </p:cNvPr>
          <p:cNvSpPr txBox="1"/>
          <p:nvPr/>
        </p:nvSpPr>
        <p:spPr>
          <a:xfrm>
            <a:off x="7610264" y="907156"/>
            <a:ext cx="4580149" cy="6126690"/>
          </a:xfrm>
          <a:prstGeom prst="rect">
            <a:avLst/>
          </a:prstGeom>
          <a:solidFill>
            <a:schemeClr val="accent4">
              <a:lumMod val="20000"/>
              <a:lumOff val="80000"/>
            </a:schemeClr>
          </a:solidFill>
        </p:spPr>
        <p:txBody>
          <a:bodyPr wrap="square" rtlCol="0">
            <a:spAutoFit/>
          </a:bodyPr>
          <a:lstStyle/>
          <a:p>
            <a:endParaRPr lang="zh-CN" altLang="en-US" dirty="0"/>
          </a:p>
        </p:txBody>
      </p:sp>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 name="直线连接符 6">
            <a:extLst>
              <a:ext uri="{FF2B5EF4-FFF2-40B4-BE49-F238E27FC236}">
                <a16:creationId xmlns:a16="http://schemas.microsoft.com/office/drawing/2014/main" id="{B14F42C0-3508-43EC-B402-C5D5AEE82C67}"/>
              </a:ext>
            </a:extLst>
          </p:cNvPr>
          <p:cNvCxnSpPr/>
          <p:nvPr/>
        </p:nvCxnSpPr>
        <p:spPr>
          <a:xfrm>
            <a:off x="0"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14" name="标题 1">
            <a:extLst>
              <a:ext uri="{FF2B5EF4-FFF2-40B4-BE49-F238E27FC236}">
                <a16:creationId xmlns:a16="http://schemas.microsoft.com/office/drawing/2014/main" id="{D73B5364-EE8D-441A-8B19-E9CC9991A39B}"/>
              </a:ext>
            </a:extLst>
          </p:cNvPr>
          <p:cNvSpPr txBox="1">
            <a:spLocks noChangeArrowheads="1"/>
          </p:cNvSpPr>
          <p:nvPr/>
        </p:nvSpPr>
        <p:spPr>
          <a:xfrm>
            <a:off x="-794" y="907157"/>
            <a:ext cx="2355240" cy="343870"/>
          </a:xfrm>
          <a:prstGeom prst="rect">
            <a:avLst/>
          </a:prstGeom>
          <a:solidFill>
            <a:schemeClr val="accent4">
              <a:lumMod val="40000"/>
              <a:lumOff val="60000"/>
            </a:schemeClr>
          </a:solidFill>
        </p:spPr>
        <p:txBody>
          <a:bodyPr/>
          <a:lstStyle>
            <a:lvl1pPr algn="ctr" defTabSz="609600" rtl="0" eaLnBrk="1" latinLnBrk="0" hangingPunct="1">
              <a:spcBef>
                <a:spcPct val="0"/>
              </a:spcBef>
              <a:buNone/>
              <a:defRPr sz="5865" kern="1200">
                <a:solidFill>
                  <a:schemeClr val="tx1"/>
                </a:solidFill>
                <a:latin typeface="+mj-lt"/>
                <a:ea typeface="+mj-ea"/>
                <a:cs typeface="+mj-cs"/>
              </a:defRPr>
            </a:lvl1pPr>
          </a:lstStyle>
          <a:p>
            <a:pPr>
              <a:lnSpc>
                <a:spcPct val="80000"/>
              </a:lnSpc>
            </a:pPr>
            <a:r>
              <a:rPr lang="zh-CN" altLang="en-US" sz="2400">
                <a:solidFill>
                  <a:srgbClr val="104E87"/>
                </a:solidFill>
                <a:latin typeface="Comic Sans MS" panose="030F0702030302020204" pitchFamily="66" charset="0"/>
                <a:ea typeface="华光行书_CNKI" panose="02000500000000000000" pitchFamily="2" charset="-122"/>
              </a:rPr>
              <a:t>深拷贝</a:t>
            </a:r>
            <a:br>
              <a:rPr lang="en-US" altLang="zh-CN" sz="2400">
                <a:solidFill>
                  <a:srgbClr val="104E87"/>
                </a:solidFill>
                <a:latin typeface="Comic Sans MS" panose="030F0702030302020204" pitchFamily="66" charset="0"/>
                <a:ea typeface="华光行书_CNKI" panose="02000500000000000000" pitchFamily="2" charset="-122"/>
              </a:rPr>
            </a:br>
            <a:endParaRPr kumimoji="1" lang="zh-CN" altLang="en-US" sz="2400" dirty="0">
              <a:solidFill>
                <a:srgbClr val="104E87"/>
              </a:solidFill>
              <a:latin typeface="Comic Sans MS" panose="030F0702030302020204" pitchFamily="66" charset="0"/>
              <a:ea typeface="华光行书_CNKI" panose="02000500000000000000" pitchFamily="2" charset="-122"/>
            </a:endParaRPr>
          </a:p>
        </p:txBody>
      </p:sp>
      <p:sp>
        <p:nvSpPr>
          <p:cNvPr id="15" name="Text Box 1045">
            <a:extLst>
              <a:ext uri="{FF2B5EF4-FFF2-40B4-BE49-F238E27FC236}">
                <a16:creationId xmlns:a16="http://schemas.microsoft.com/office/drawing/2014/main" id="{A6D07B66-E190-4849-9B92-09258EDB1EE5}"/>
              </a:ext>
            </a:extLst>
          </p:cNvPr>
          <p:cNvSpPr txBox="1">
            <a:spLocks noChangeArrowheads="1"/>
          </p:cNvSpPr>
          <p:nvPr/>
        </p:nvSpPr>
        <p:spPr bwMode="auto">
          <a:xfrm>
            <a:off x="658448" y="1805147"/>
            <a:ext cx="1228725" cy="346534"/>
          </a:xfrm>
          <a:prstGeom prst="rect">
            <a:avLst/>
          </a:prstGeom>
          <a:solidFill>
            <a:schemeClr val="accent2">
              <a:lumMod val="60000"/>
              <a:lumOff val="40000"/>
            </a:schemeClr>
          </a:solidFill>
          <a:ln>
            <a:noFill/>
          </a:ln>
        </p:spPr>
        <p:txBody>
          <a:bodyPr t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defRPr/>
            </a:pPr>
            <a:r>
              <a:rPr lang="zh-CN" altLang="en-US" sz="2000" dirty="0">
                <a:solidFill>
                  <a:srgbClr val="104E87"/>
                </a:solidFill>
                <a:latin typeface="Comic Sans MS" panose="030F0702030302020204" pitchFamily="66" charset="0"/>
                <a:ea typeface="华光行书_CNKI" panose="02000500000000000000" pitchFamily="2" charset="-122"/>
              </a:rPr>
              <a:t>拷贝前</a:t>
            </a:r>
          </a:p>
        </p:txBody>
      </p:sp>
      <p:sp>
        <p:nvSpPr>
          <p:cNvPr id="16" name="Text Box 1047">
            <a:extLst>
              <a:ext uri="{FF2B5EF4-FFF2-40B4-BE49-F238E27FC236}">
                <a16:creationId xmlns:a16="http://schemas.microsoft.com/office/drawing/2014/main" id="{41055E8E-CCB9-4270-8F9D-D184AFB126FE}"/>
              </a:ext>
            </a:extLst>
          </p:cNvPr>
          <p:cNvSpPr txBox="1">
            <a:spLocks noChangeArrowheads="1"/>
          </p:cNvSpPr>
          <p:nvPr/>
        </p:nvSpPr>
        <p:spPr bwMode="auto">
          <a:xfrm>
            <a:off x="2655095" y="2496225"/>
            <a:ext cx="590550" cy="890588"/>
          </a:xfrm>
          <a:prstGeom prst="rect">
            <a:avLst/>
          </a:prstGeom>
          <a:noFill/>
          <a:ln w="9525">
            <a:solidFill>
              <a:srgbClr val="104E87"/>
            </a:solidFill>
            <a:miter lim="800000"/>
            <a:headEnd/>
            <a:tailEnd/>
          </a:ln>
        </p:spPr>
        <p:txBody>
          <a:bodyPr lIns="0" rIns="0"/>
          <a:lstStyle>
            <a:defPPr>
              <a:defRPr lang="zh-CN"/>
            </a:defPPr>
            <a:lvl1pPr algn="just" eaLnBrk="0" hangingPunct="0">
              <a:defRPr sz="1600">
                <a:ea typeface="宋体" charset="-122"/>
              </a:defRPr>
            </a:lvl1pPr>
          </a:lstStyle>
          <a:p>
            <a:pPr>
              <a:defRPr/>
            </a:pPr>
            <a:r>
              <a:rPr lang="en-US" altLang="zh-CN" sz="2000" dirty="0">
                <a:solidFill>
                  <a:srgbClr val="104E87"/>
                </a:solidFill>
                <a:latin typeface="Comic Sans MS" panose="030F0702030302020204" pitchFamily="66" charset="0"/>
                <a:ea typeface="华光行书_CNKI" panose="02000500000000000000" pitchFamily="2" charset="-122"/>
              </a:rPr>
              <a:t> set</a:t>
            </a:r>
          </a:p>
          <a:p>
            <a:pPr>
              <a:defRPr/>
            </a:pPr>
            <a:r>
              <a:rPr lang="en-US" altLang="zh-CN" sz="2000" dirty="0">
                <a:solidFill>
                  <a:srgbClr val="104E87"/>
                </a:solidFill>
                <a:latin typeface="Comic Sans MS" panose="030F0702030302020204" pitchFamily="66" charset="0"/>
                <a:ea typeface="华光行书_CNKI" panose="02000500000000000000" pitchFamily="2" charset="-122"/>
              </a:rPr>
              <a:t> size</a:t>
            </a:r>
          </a:p>
        </p:txBody>
      </p:sp>
      <p:sp>
        <p:nvSpPr>
          <p:cNvPr id="17" name="Text Box 1030">
            <a:extLst>
              <a:ext uri="{FF2B5EF4-FFF2-40B4-BE49-F238E27FC236}">
                <a16:creationId xmlns:a16="http://schemas.microsoft.com/office/drawing/2014/main" id="{392D5360-B1F5-4B78-B7D2-4BB1861F01A8}"/>
              </a:ext>
            </a:extLst>
          </p:cNvPr>
          <p:cNvSpPr txBox="1">
            <a:spLocks noChangeArrowheads="1"/>
          </p:cNvSpPr>
          <p:nvPr/>
        </p:nvSpPr>
        <p:spPr bwMode="auto">
          <a:xfrm>
            <a:off x="139966" y="2731892"/>
            <a:ext cx="588963" cy="890587"/>
          </a:xfrm>
          <a:prstGeom prst="rect">
            <a:avLst/>
          </a:prstGeom>
          <a:noFill/>
          <a:ln w="9525">
            <a:solidFill>
              <a:srgbClr val="104E87"/>
            </a:solidFill>
            <a:miter lim="800000"/>
            <a:headEnd/>
            <a:tailEnd/>
          </a:ln>
        </p:spPr>
        <p:txBody>
          <a:bodyPr lIns="0" rIns="0"/>
          <a:lstStyle>
            <a:lvl1pPr eaLnBrk="0" hangingPunct="0">
              <a:defRPr sz="2400" b="1">
                <a:solidFill>
                  <a:schemeClr val="bg2"/>
                </a:solidFill>
                <a:latin typeface="Times New Roman" pitchFamily="18" charset="0"/>
                <a:ea typeface="宋体" charset="-122"/>
              </a:defRPr>
            </a:lvl1pPr>
            <a:lvl2pPr marL="742950" indent="-285750" eaLnBrk="0" hangingPunct="0">
              <a:defRPr sz="2400" b="1">
                <a:solidFill>
                  <a:schemeClr val="bg2"/>
                </a:solidFill>
                <a:latin typeface="Times New Roman" pitchFamily="18" charset="0"/>
                <a:ea typeface="宋体" charset="-122"/>
              </a:defRPr>
            </a:lvl2pPr>
            <a:lvl3pPr marL="1143000" indent="-228600" eaLnBrk="0" hangingPunct="0">
              <a:defRPr sz="2400" b="1">
                <a:solidFill>
                  <a:schemeClr val="bg2"/>
                </a:solidFill>
                <a:latin typeface="Times New Roman" pitchFamily="18" charset="0"/>
                <a:ea typeface="宋体" charset="-122"/>
              </a:defRPr>
            </a:lvl3pPr>
            <a:lvl4pPr marL="1600200" indent="-228600" eaLnBrk="0" hangingPunct="0">
              <a:defRPr sz="2400" b="1">
                <a:solidFill>
                  <a:schemeClr val="bg2"/>
                </a:solidFill>
                <a:latin typeface="Times New Roman" pitchFamily="18" charset="0"/>
                <a:ea typeface="宋体" charset="-122"/>
              </a:defRPr>
            </a:lvl4pPr>
            <a:lvl5pPr marL="2057400" indent="-228600" eaLnBrk="0" hangingPunct="0">
              <a:defRPr sz="2400" b="1">
                <a:solidFill>
                  <a:schemeClr val="bg2"/>
                </a:solidFill>
                <a:latin typeface="Times New Roman" pitchFamily="18" charset="0"/>
                <a:ea typeface="宋体" charset="-122"/>
              </a:defRPr>
            </a:lvl5pPr>
            <a:lvl6pPr marL="2514600" indent="-228600" eaLnBrk="0" fontAlgn="base" hangingPunct="0">
              <a:spcBef>
                <a:spcPct val="0"/>
              </a:spcBef>
              <a:spcAft>
                <a:spcPct val="0"/>
              </a:spcAft>
              <a:defRPr sz="2400" b="1">
                <a:solidFill>
                  <a:schemeClr val="bg2"/>
                </a:solidFill>
                <a:latin typeface="Times New Roman" pitchFamily="18" charset="0"/>
                <a:ea typeface="宋体" charset="-122"/>
              </a:defRPr>
            </a:lvl6pPr>
            <a:lvl7pPr marL="2971800" indent="-228600" eaLnBrk="0" fontAlgn="base" hangingPunct="0">
              <a:spcBef>
                <a:spcPct val="0"/>
              </a:spcBef>
              <a:spcAft>
                <a:spcPct val="0"/>
              </a:spcAft>
              <a:defRPr sz="2400" b="1">
                <a:solidFill>
                  <a:schemeClr val="bg2"/>
                </a:solidFill>
                <a:latin typeface="Times New Roman" pitchFamily="18" charset="0"/>
                <a:ea typeface="宋体" charset="-122"/>
              </a:defRPr>
            </a:lvl7pPr>
            <a:lvl8pPr marL="3429000" indent="-228600" eaLnBrk="0" fontAlgn="base" hangingPunct="0">
              <a:spcBef>
                <a:spcPct val="0"/>
              </a:spcBef>
              <a:spcAft>
                <a:spcPct val="0"/>
              </a:spcAft>
              <a:defRPr sz="2400" b="1">
                <a:solidFill>
                  <a:schemeClr val="bg2"/>
                </a:solidFill>
                <a:latin typeface="Times New Roman" pitchFamily="18" charset="0"/>
                <a:ea typeface="宋体" charset="-122"/>
              </a:defRPr>
            </a:lvl8pPr>
            <a:lvl9pPr marL="3886200" indent="-228600" eaLnBrk="0" fontAlgn="base" hangingPunct="0">
              <a:spcBef>
                <a:spcPct val="0"/>
              </a:spcBef>
              <a:spcAft>
                <a:spcPct val="0"/>
              </a:spcAft>
              <a:defRPr sz="2400" b="1">
                <a:solidFill>
                  <a:schemeClr val="bg2"/>
                </a:solidFill>
                <a:latin typeface="Times New Roman" pitchFamily="18" charset="0"/>
                <a:ea typeface="宋体" charset="-122"/>
              </a:defRPr>
            </a:lvl9pPr>
          </a:lstStyle>
          <a:p>
            <a:pPr algn="just">
              <a:defRPr/>
            </a:pPr>
            <a:r>
              <a:rPr lang="en-US" altLang="zh-CN" sz="2000" b="0" dirty="0">
                <a:solidFill>
                  <a:srgbClr val="104E87"/>
                </a:solidFill>
                <a:latin typeface="Comic Sans MS" panose="030F0702030302020204" pitchFamily="66" charset="0"/>
                <a:ea typeface="华光行书_CNKI" panose="02000500000000000000" pitchFamily="2" charset="-122"/>
              </a:rPr>
              <a:t> set</a:t>
            </a:r>
          </a:p>
          <a:p>
            <a:pPr algn="just">
              <a:defRPr/>
            </a:pPr>
            <a:r>
              <a:rPr lang="en-US" altLang="zh-CN" sz="2000" b="0" dirty="0">
                <a:solidFill>
                  <a:srgbClr val="104E87"/>
                </a:solidFill>
                <a:latin typeface="Comic Sans MS" panose="030F0702030302020204" pitchFamily="66" charset="0"/>
                <a:ea typeface="华光行书_CNKI" panose="02000500000000000000" pitchFamily="2" charset="-122"/>
              </a:rPr>
              <a:t> size</a:t>
            </a:r>
          </a:p>
        </p:txBody>
      </p:sp>
      <p:sp>
        <p:nvSpPr>
          <p:cNvPr id="18" name="Text Box 1031">
            <a:extLst>
              <a:ext uri="{FF2B5EF4-FFF2-40B4-BE49-F238E27FC236}">
                <a16:creationId xmlns:a16="http://schemas.microsoft.com/office/drawing/2014/main" id="{D52F8299-588D-4143-B9A4-355A3B8179DF}"/>
              </a:ext>
            </a:extLst>
          </p:cNvPr>
          <p:cNvSpPr txBox="1">
            <a:spLocks noChangeArrowheads="1"/>
          </p:cNvSpPr>
          <p:nvPr/>
        </p:nvSpPr>
        <p:spPr bwMode="auto">
          <a:xfrm>
            <a:off x="283369" y="2256881"/>
            <a:ext cx="219075" cy="258763"/>
          </a:xfrm>
          <a:prstGeom prst="rect">
            <a:avLst/>
          </a:prstGeom>
          <a:noFill/>
          <a:ln>
            <a:noFill/>
          </a:ln>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defRPr/>
            </a:pPr>
            <a:r>
              <a:rPr lang="en-US" altLang="zh-CN" sz="2000" dirty="0">
                <a:solidFill>
                  <a:srgbClr val="104E87"/>
                </a:solidFill>
                <a:latin typeface="Comic Sans MS" panose="030F0702030302020204" pitchFamily="66" charset="0"/>
                <a:ea typeface="华光行书_CNKI" panose="02000500000000000000" pitchFamily="2" charset="-122"/>
              </a:rPr>
              <a:t>a</a:t>
            </a:r>
          </a:p>
        </p:txBody>
      </p:sp>
      <p:grpSp>
        <p:nvGrpSpPr>
          <p:cNvPr id="21" name="Group 1032">
            <a:extLst>
              <a:ext uri="{FF2B5EF4-FFF2-40B4-BE49-F238E27FC236}">
                <a16:creationId xmlns:a16="http://schemas.microsoft.com/office/drawing/2014/main" id="{ABC22432-82F2-4950-A0A4-96CBECAA8489}"/>
              </a:ext>
            </a:extLst>
          </p:cNvPr>
          <p:cNvGrpSpPr>
            <a:grpSpLocks/>
          </p:cNvGrpSpPr>
          <p:nvPr/>
        </p:nvGrpSpPr>
        <p:grpSpPr bwMode="auto">
          <a:xfrm>
            <a:off x="1156494" y="2883944"/>
            <a:ext cx="958850" cy="1316037"/>
            <a:chOff x="3915" y="8565"/>
            <a:chExt cx="420" cy="2385"/>
          </a:xfrm>
        </p:grpSpPr>
        <p:sp>
          <p:nvSpPr>
            <p:cNvPr id="22" name="Rectangle 1033">
              <a:extLst>
                <a:ext uri="{FF2B5EF4-FFF2-40B4-BE49-F238E27FC236}">
                  <a16:creationId xmlns:a16="http://schemas.microsoft.com/office/drawing/2014/main" id="{3D79A633-ECDB-42AF-A089-4053F852254F}"/>
                </a:ext>
              </a:extLst>
            </p:cNvPr>
            <p:cNvSpPr>
              <a:spLocks noChangeArrowheads="1"/>
            </p:cNvSpPr>
            <p:nvPr/>
          </p:nvSpPr>
          <p:spPr bwMode="auto">
            <a:xfrm>
              <a:off x="3915" y="8565"/>
              <a:ext cx="420" cy="2385"/>
            </a:xfrm>
            <a:prstGeom prst="rect">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29" name="Line 1034">
              <a:extLst>
                <a:ext uri="{FF2B5EF4-FFF2-40B4-BE49-F238E27FC236}">
                  <a16:creationId xmlns:a16="http://schemas.microsoft.com/office/drawing/2014/main" id="{86688A30-DC12-4B46-B189-AF3FBD390136}"/>
                </a:ext>
              </a:extLst>
            </p:cNvPr>
            <p:cNvSpPr>
              <a:spLocks noChangeShapeType="1"/>
            </p:cNvSpPr>
            <p:nvPr/>
          </p:nvSpPr>
          <p:spPr bwMode="auto">
            <a:xfrm>
              <a:off x="3915" y="8804"/>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30" name="Line 1035">
              <a:extLst>
                <a:ext uri="{FF2B5EF4-FFF2-40B4-BE49-F238E27FC236}">
                  <a16:creationId xmlns:a16="http://schemas.microsoft.com/office/drawing/2014/main" id="{D8C27442-7D18-4B35-9C2A-9C5B8C49145B}"/>
                </a:ext>
              </a:extLst>
            </p:cNvPr>
            <p:cNvSpPr>
              <a:spLocks noChangeShapeType="1"/>
            </p:cNvSpPr>
            <p:nvPr/>
          </p:nvSpPr>
          <p:spPr bwMode="auto">
            <a:xfrm>
              <a:off x="3915" y="904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31" name="Line 1036">
              <a:extLst>
                <a:ext uri="{FF2B5EF4-FFF2-40B4-BE49-F238E27FC236}">
                  <a16:creationId xmlns:a16="http://schemas.microsoft.com/office/drawing/2014/main" id="{AA45581B-FA47-4B56-B0DE-05DE563121ED}"/>
                </a:ext>
              </a:extLst>
            </p:cNvPr>
            <p:cNvSpPr>
              <a:spLocks noChangeShapeType="1"/>
            </p:cNvSpPr>
            <p:nvPr/>
          </p:nvSpPr>
          <p:spPr bwMode="auto">
            <a:xfrm>
              <a:off x="3915" y="9284"/>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32" name="Line 1037">
              <a:extLst>
                <a:ext uri="{FF2B5EF4-FFF2-40B4-BE49-F238E27FC236}">
                  <a16:creationId xmlns:a16="http://schemas.microsoft.com/office/drawing/2014/main" id="{08A28B2E-88FD-4C30-AF0D-D4700D880B95}"/>
                </a:ext>
              </a:extLst>
            </p:cNvPr>
            <p:cNvSpPr>
              <a:spLocks noChangeShapeType="1"/>
            </p:cNvSpPr>
            <p:nvPr/>
          </p:nvSpPr>
          <p:spPr bwMode="auto">
            <a:xfrm>
              <a:off x="3915" y="952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33" name="Line 1038">
              <a:extLst>
                <a:ext uri="{FF2B5EF4-FFF2-40B4-BE49-F238E27FC236}">
                  <a16:creationId xmlns:a16="http://schemas.microsoft.com/office/drawing/2014/main" id="{D56F8384-4C97-42A8-9BAC-DCEE82972FBB}"/>
                </a:ext>
              </a:extLst>
            </p:cNvPr>
            <p:cNvSpPr>
              <a:spLocks noChangeShapeType="1"/>
            </p:cNvSpPr>
            <p:nvPr/>
          </p:nvSpPr>
          <p:spPr bwMode="auto">
            <a:xfrm>
              <a:off x="3915" y="976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34" name="Line 1039">
              <a:extLst>
                <a:ext uri="{FF2B5EF4-FFF2-40B4-BE49-F238E27FC236}">
                  <a16:creationId xmlns:a16="http://schemas.microsoft.com/office/drawing/2014/main" id="{509F3EEA-AC57-4F94-8C6D-3B6BE0FF35C7}"/>
                </a:ext>
              </a:extLst>
            </p:cNvPr>
            <p:cNvSpPr>
              <a:spLocks noChangeShapeType="1"/>
            </p:cNvSpPr>
            <p:nvPr/>
          </p:nvSpPr>
          <p:spPr bwMode="auto">
            <a:xfrm>
              <a:off x="3915" y="1000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35" name="Line 1040">
              <a:extLst>
                <a:ext uri="{FF2B5EF4-FFF2-40B4-BE49-F238E27FC236}">
                  <a16:creationId xmlns:a16="http://schemas.microsoft.com/office/drawing/2014/main" id="{408605D8-0929-4AE2-812F-964922E13D2F}"/>
                </a:ext>
              </a:extLst>
            </p:cNvPr>
            <p:cNvSpPr>
              <a:spLocks noChangeShapeType="1"/>
            </p:cNvSpPr>
            <p:nvPr/>
          </p:nvSpPr>
          <p:spPr bwMode="auto">
            <a:xfrm>
              <a:off x="3915" y="1024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36" name="Line 1041">
              <a:extLst>
                <a:ext uri="{FF2B5EF4-FFF2-40B4-BE49-F238E27FC236}">
                  <a16:creationId xmlns:a16="http://schemas.microsoft.com/office/drawing/2014/main" id="{2E541BFF-50E6-404F-8BD5-64AABC6448BF}"/>
                </a:ext>
              </a:extLst>
            </p:cNvPr>
            <p:cNvSpPr>
              <a:spLocks noChangeShapeType="1"/>
            </p:cNvSpPr>
            <p:nvPr/>
          </p:nvSpPr>
          <p:spPr bwMode="auto">
            <a:xfrm>
              <a:off x="3915" y="10484"/>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37" name="Line 1042">
              <a:extLst>
                <a:ext uri="{FF2B5EF4-FFF2-40B4-BE49-F238E27FC236}">
                  <a16:creationId xmlns:a16="http://schemas.microsoft.com/office/drawing/2014/main" id="{CC9E8EB1-4790-468D-96C2-FDE9465BB944}"/>
                </a:ext>
              </a:extLst>
            </p:cNvPr>
            <p:cNvSpPr>
              <a:spLocks noChangeShapeType="1"/>
            </p:cNvSpPr>
            <p:nvPr/>
          </p:nvSpPr>
          <p:spPr bwMode="auto">
            <a:xfrm>
              <a:off x="3915" y="1072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grpSp>
      <p:sp>
        <p:nvSpPr>
          <p:cNvPr id="38" name="Text Box 1043">
            <a:extLst>
              <a:ext uri="{FF2B5EF4-FFF2-40B4-BE49-F238E27FC236}">
                <a16:creationId xmlns:a16="http://schemas.microsoft.com/office/drawing/2014/main" id="{70FF07D8-D808-48C4-96B1-C3156DC42DEA}"/>
              </a:ext>
            </a:extLst>
          </p:cNvPr>
          <p:cNvSpPr txBox="1">
            <a:spLocks noChangeArrowheads="1"/>
          </p:cNvSpPr>
          <p:nvPr/>
        </p:nvSpPr>
        <p:spPr bwMode="auto">
          <a:xfrm>
            <a:off x="1054895" y="2398398"/>
            <a:ext cx="1343024" cy="547688"/>
          </a:xfrm>
          <a:prstGeom prst="rect">
            <a:avLst/>
          </a:prstGeom>
          <a:noFill/>
          <a:ln>
            <a:noFill/>
          </a:ln>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80000"/>
              </a:lnSpc>
              <a:defRPr/>
            </a:pPr>
            <a:r>
              <a:rPr lang="en-US" altLang="zh-CN" sz="2000" dirty="0">
                <a:solidFill>
                  <a:srgbClr val="104E87"/>
                </a:solidFill>
                <a:latin typeface="Comic Sans MS" panose="030F0702030302020204" pitchFamily="66" charset="0"/>
                <a:ea typeface="华光行书_CNKI" panose="02000500000000000000" pitchFamily="2" charset="-122"/>
              </a:rPr>
              <a:t>a</a:t>
            </a:r>
            <a:r>
              <a:rPr lang="zh-CN" altLang="en-US" sz="2000" dirty="0">
                <a:solidFill>
                  <a:srgbClr val="104E87"/>
                </a:solidFill>
                <a:latin typeface="Comic Sans MS" panose="030F0702030302020204" pitchFamily="66" charset="0"/>
                <a:ea typeface="华光行书_CNKI" panose="02000500000000000000" pitchFamily="2" charset="-122"/>
              </a:rPr>
              <a:t>数组元素</a:t>
            </a:r>
          </a:p>
          <a:p>
            <a:pPr algn="just">
              <a:lnSpc>
                <a:spcPct val="80000"/>
              </a:lnSpc>
              <a:defRPr/>
            </a:pPr>
            <a:r>
              <a:rPr lang="zh-CN" altLang="en-US" sz="2000" dirty="0">
                <a:solidFill>
                  <a:srgbClr val="104E87"/>
                </a:solidFill>
                <a:latin typeface="Comic Sans MS" panose="030F0702030302020204" pitchFamily="66" charset="0"/>
                <a:ea typeface="华光行书_CNKI" panose="02000500000000000000" pitchFamily="2" charset="-122"/>
              </a:rPr>
              <a:t>占用的内存</a:t>
            </a:r>
          </a:p>
        </p:txBody>
      </p:sp>
      <p:sp>
        <p:nvSpPr>
          <p:cNvPr id="39" name="Line 1044">
            <a:extLst>
              <a:ext uri="{FF2B5EF4-FFF2-40B4-BE49-F238E27FC236}">
                <a16:creationId xmlns:a16="http://schemas.microsoft.com/office/drawing/2014/main" id="{AB24CBA6-D995-4D13-A01A-99DF3785D69C}"/>
              </a:ext>
            </a:extLst>
          </p:cNvPr>
          <p:cNvSpPr>
            <a:spLocks noChangeShapeType="1"/>
          </p:cNvSpPr>
          <p:nvPr/>
        </p:nvSpPr>
        <p:spPr bwMode="auto">
          <a:xfrm flipV="1">
            <a:off x="742157" y="2906169"/>
            <a:ext cx="414337" cy="19050"/>
          </a:xfrm>
          <a:prstGeom prst="line">
            <a:avLst/>
          </a:prstGeom>
          <a:noFill/>
          <a:ln w="9525">
            <a:solidFill>
              <a:srgbClr val="104E87"/>
            </a:solidFill>
            <a:round/>
            <a:headEnd/>
            <a:tailEnd type="triangle" w="sm" len="lg"/>
          </a:ln>
        </p:spPr>
        <p:txBody>
          <a:bodyPr/>
          <a:lstStyle/>
          <a:p>
            <a:pPr>
              <a:defRPr/>
            </a:pPr>
            <a:endParaRPr lang="zh-CN" altLang="en-US">
              <a:solidFill>
                <a:srgbClr val="104E87"/>
              </a:solidFill>
              <a:latin typeface="Comic Sans MS" panose="030F0702030302020204" pitchFamily="66" charset="0"/>
              <a:ea typeface="华光行书_CNKI" panose="02000500000000000000" pitchFamily="2" charset="-122"/>
            </a:endParaRPr>
          </a:p>
        </p:txBody>
      </p:sp>
      <p:sp>
        <p:nvSpPr>
          <p:cNvPr id="40" name="Text Box 1048">
            <a:extLst>
              <a:ext uri="{FF2B5EF4-FFF2-40B4-BE49-F238E27FC236}">
                <a16:creationId xmlns:a16="http://schemas.microsoft.com/office/drawing/2014/main" id="{A0235884-4DA2-42D7-9D51-307CEBCD6865}"/>
              </a:ext>
            </a:extLst>
          </p:cNvPr>
          <p:cNvSpPr txBox="1">
            <a:spLocks noChangeArrowheads="1"/>
          </p:cNvSpPr>
          <p:nvPr/>
        </p:nvSpPr>
        <p:spPr bwMode="auto">
          <a:xfrm>
            <a:off x="2752727" y="2087275"/>
            <a:ext cx="265112" cy="260350"/>
          </a:xfrm>
          <a:prstGeom prst="rect">
            <a:avLst/>
          </a:prstGeom>
          <a:noFill/>
          <a:ln>
            <a:noFill/>
          </a:ln>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defRPr/>
            </a:pPr>
            <a:r>
              <a:rPr lang="en-US" altLang="zh-CN" sz="2000" dirty="0">
                <a:solidFill>
                  <a:srgbClr val="104E87"/>
                </a:solidFill>
                <a:latin typeface="Comic Sans MS" panose="030F0702030302020204" pitchFamily="66" charset="0"/>
                <a:ea typeface="华光行书_CNKI" panose="02000500000000000000" pitchFamily="2" charset="-122"/>
              </a:rPr>
              <a:t>a</a:t>
            </a:r>
          </a:p>
        </p:txBody>
      </p:sp>
      <p:grpSp>
        <p:nvGrpSpPr>
          <p:cNvPr id="41" name="Group 1049">
            <a:extLst>
              <a:ext uri="{FF2B5EF4-FFF2-40B4-BE49-F238E27FC236}">
                <a16:creationId xmlns:a16="http://schemas.microsoft.com/office/drawing/2014/main" id="{8CD8DD02-3B1D-4BD1-8AB7-7F18F1AAC271}"/>
              </a:ext>
            </a:extLst>
          </p:cNvPr>
          <p:cNvGrpSpPr>
            <a:grpSpLocks/>
          </p:cNvGrpSpPr>
          <p:nvPr/>
        </p:nvGrpSpPr>
        <p:grpSpPr bwMode="auto">
          <a:xfrm>
            <a:off x="3705227" y="2695288"/>
            <a:ext cx="960437" cy="1301750"/>
            <a:chOff x="3915" y="8565"/>
            <a:chExt cx="420" cy="2385"/>
          </a:xfrm>
        </p:grpSpPr>
        <p:sp>
          <p:nvSpPr>
            <p:cNvPr id="42" name="Rectangle 1050">
              <a:extLst>
                <a:ext uri="{FF2B5EF4-FFF2-40B4-BE49-F238E27FC236}">
                  <a16:creationId xmlns:a16="http://schemas.microsoft.com/office/drawing/2014/main" id="{28A2B94D-62CB-44F6-B0B5-6F63CF642D18}"/>
                </a:ext>
              </a:extLst>
            </p:cNvPr>
            <p:cNvSpPr>
              <a:spLocks noChangeArrowheads="1"/>
            </p:cNvSpPr>
            <p:nvPr/>
          </p:nvSpPr>
          <p:spPr bwMode="auto">
            <a:xfrm>
              <a:off x="3915" y="8565"/>
              <a:ext cx="420" cy="2385"/>
            </a:xfrm>
            <a:prstGeom prst="rect">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43" name="Line 1051">
              <a:extLst>
                <a:ext uri="{FF2B5EF4-FFF2-40B4-BE49-F238E27FC236}">
                  <a16:creationId xmlns:a16="http://schemas.microsoft.com/office/drawing/2014/main" id="{33B22032-7E97-4BBD-A8E1-40AD6D13A994}"/>
                </a:ext>
              </a:extLst>
            </p:cNvPr>
            <p:cNvSpPr>
              <a:spLocks noChangeShapeType="1"/>
            </p:cNvSpPr>
            <p:nvPr/>
          </p:nvSpPr>
          <p:spPr bwMode="auto">
            <a:xfrm>
              <a:off x="3915" y="880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44" name="Line 1052">
              <a:extLst>
                <a:ext uri="{FF2B5EF4-FFF2-40B4-BE49-F238E27FC236}">
                  <a16:creationId xmlns:a16="http://schemas.microsoft.com/office/drawing/2014/main" id="{E037C2BC-96F2-4344-AF3E-45FE2DF564CF}"/>
                </a:ext>
              </a:extLst>
            </p:cNvPr>
            <p:cNvSpPr>
              <a:spLocks noChangeShapeType="1"/>
            </p:cNvSpPr>
            <p:nvPr/>
          </p:nvSpPr>
          <p:spPr bwMode="auto">
            <a:xfrm>
              <a:off x="3915" y="904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45" name="Line 1053">
              <a:extLst>
                <a:ext uri="{FF2B5EF4-FFF2-40B4-BE49-F238E27FC236}">
                  <a16:creationId xmlns:a16="http://schemas.microsoft.com/office/drawing/2014/main" id="{8C98F548-F8BA-44A8-BDD5-DDF77A147F1B}"/>
                </a:ext>
              </a:extLst>
            </p:cNvPr>
            <p:cNvSpPr>
              <a:spLocks noChangeShapeType="1"/>
            </p:cNvSpPr>
            <p:nvPr/>
          </p:nvSpPr>
          <p:spPr bwMode="auto">
            <a:xfrm>
              <a:off x="3915" y="928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46" name="Line 1054">
              <a:extLst>
                <a:ext uri="{FF2B5EF4-FFF2-40B4-BE49-F238E27FC236}">
                  <a16:creationId xmlns:a16="http://schemas.microsoft.com/office/drawing/2014/main" id="{8BD8ECC0-3717-4176-AEEE-DB0D9888C887}"/>
                </a:ext>
              </a:extLst>
            </p:cNvPr>
            <p:cNvSpPr>
              <a:spLocks noChangeShapeType="1"/>
            </p:cNvSpPr>
            <p:nvPr/>
          </p:nvSpPr>
          <p:spPr bwMode="auto">
            <a:xfrm>
              <a:off x="3915" y="952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47" name="Line 1055">
              <a:extLst>
                <a:ext uri="{FF2B5EF4-FFF2-40B4-BE49-F238E27FC236}">
                  <a16:creationId xmlns:a16="http://schemas.microsoft.com/office/drawing/2014/main" id="{A92A7C66-D2D6-40EE-B3B1-67FE90D4282D}"/>
                </a:ext>
              </a:extLst>
            </p:cNvPr>
            <p:cNvSpPr>
              <a:spLocks noChangeShapeType="1"/>
            </p:cNvSpPr>
            <p:nvPr/>
          </p:nvSpPr>
          <p:spPr bwMode="auto">
            <a:xfrm>
              <a:off x="3915" y="976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48" name="Line 1056">
              <a:extLst>
                <a:ext uri="{FF2B5EF4-FFF2-40B4-BE49-F238E27FC236}">
                  <a16:creationId xmlns:a16="http://schemas.microsoft.com/office/drawing/2014/main" id="{14C9716A-B076-4C89-BF5A-483BFCD69D67}"/>
                </a:ext>
              </a:extLst>
            </p:cNvPr>
            <p:cNvSpPr>
              <a:spLocks noChangeShapeType="1"/>
            </p:cNvSpPr>
            <p:nvPr/>
          </p:nvSpPr>
          <p:spPr bwMode="auto">
            <a:xfrm>
              <a:off x="3915" y="1000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49" name="Line 1057">
              <a:extLst>
                <a:ext uri="{FF2B5EF4-FFF2-40B4-BE49-F238E27FC236}">
                  <a16:creationId xmlns:a16="http://schemas.microsoft.com/office/drawing/2014/main" id="{972AB662-3A72-4BE7-B0CC-718D61804DC9}"/>
                </a:ext>
              </a:extLst>
            </p:cNvPr>
            <p:cNvSpPr>
              <a:spLocks noChangeShapeType="1"/>
            </p:cNvSpPr>
            <p:nvPr/>
          </p:nvSpPr>
          <p:spPr bwMode="auto">
            <a:xfrm>
              <a:off x="3915" y="1024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50" name="Line 1058">
              <a:extLst>
                <a:ext uri="{FF2B5EF4-FFF2-40B4-BE49-F238E27FC236}">
                  <a16:creationId xmlns:a16="http://schemas.microsoft.com/office/drawing/2014/main" id="{AF7F8FE9-0B30-4A77-B8EE-FB6B4E0C331F}"/>
                </a:ext>
              </a:extLst>
            </p:cNvPr>
            <p:cNvSpPr>
              <a:spLocks noChangeShapeType="1"/>
            </p:cNvSpPr>
            <p:nvPr/>
          </p:nvSpPr>
          <p:spPr bwMode="auto">
            <a:xfrm>
              <a:off x="3915" y="1048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51" name="Line 1059">
              <a:extLst>
                <a:ext uri="{FF2B5EF4-FFF2-40B4-BE49-F238E27FC236}">
                  <a16:creationId xmlns:a16="http://schemas.microsoft.com/office/drawing/2014/main" id="{04E30F75-EAB1-4445-B120-9643DAF58502}"/>
                </a:ext>
              </a:extLst>
            </p:cNvPr>
            <p:cNvSpPr>
              <a:spLocks noChangeShapeType="1"/>
            </p:cNvSpPr>
            <p:nvPr/>
          </p:nvSpPr>
          <p:spPr bwMode="auto">
            <a:xfrm>
              <a:off x="3915" y="1072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grpSp>
      <p:sp>
        <p:nvSpPr>
          <p:cNvPr id="52" name="Text Box 1060">
            <a:extLst>
              <a:ext uri="{FF2B5EF4-FFF2-40B4-BE49-F238E27FC236}">
                <a16:creationId xmlns:a16="http://schemas.microsoft.com/office/drawing/2014/main" id="{62077BD7-D4A3-48D5-BFF2-BFAF65E31331}"/>
              </a:ext>
            </a:extLst>
          </p:cNvPr>
          <p:cNvSpPr txBox="1">
            <a:spLocks noChangeArrowheads="1"/>
          </p:cNvSpPr>
          <p:nvPr/>
        </p:nvSpPr>
        <p:spPr bwMode="auto">
          <a:xfrm>
            <a:off x="3541715" y="2186143"/>
            <a:ext cx="1343024" cy="426198"/>
          </a:xfrm>
          <a:prstGeom prst="rect">
            <a:avLst/>
          </a:prstGeom>
          <a:noFill/>
          <a:ln>
            <a:noFill/>
          </a:ln>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80000"/>
              </a:lnSpc>
              <a:defRPr/>
            </a:pPr>
            <a:r>
              <a:rPr lang="en-US" altLang="zh-CN" sz="2000" dirty="0">
                <a:solidFill>
                  <a:srgbClr val="104E87"/>
                </a:solidFill>
                <a:latin typeface="Comic Sans MS" panose="030F0702030302020204" pitchFamily="66" charset="0"/>
                <a:ea typeface="华光行书_CNKI" panose="02000500000000000000" pitchFamily="2" charset="-122"/>
              </a:rPr>
              <a:t>a</a:t>
            </a:r>
            <a:r>
              <a:rPr lang="zh-CN" altLang="en-US" sz="2000" dirty="0">
                <a:solidFill>
                  <a:srgbClr val="104E87"/>
                </a:solidFill>
                <a:latin typeface="Comic Sans MS" panose="030F0702030302020204" pitchFamily="66" charset="0"/>
                <a:ea typeface="华光行书_CNKI" panose="02000500000000000000" pitchFamily="2" charset="-122"/>
              </a:rPr>
              <a:t>数组元素</a:t>
            </a:r>
          </a:p>
          <a:p>
            <a:pPr algn="just">
              <a:lnSpc>
                <a:spcPct val="80000"/>
              </a:lnSpc>
              <a:defRPr/>
            </a:pPr>
            <a:r>
              <a:rPr lang="zh-CN" altLang="en-US" sz="2000" dirty="0">
                <a:solidFill>
                  <a:srgbClr val="104E87"/>
                </a:solidFill>
                <a:latin typeface="Comic Sans MS" panose="030F0702030302020204" pitchFamily="66" charset="0"/>
                <a:ea typeface="华光行书_CNKI" panose="02000500000000000000" pitchFamily="2" charset="-122"/>
              </a:rPr>
              <a:t>占用的内存</a:t>
            </a:r>
          </a:p>
        </p:txBody>
      </p:sp>
      <p:sp>
        <p:nvSpPr>
          <p:cNvPr id="53" name="Line 1061">
            <a:extLst>
              <a:ext uri="{FF2B5EF4-FFF2-40B4-BE49-F238E27FC236}">
                <a16:creationId xmlns:a16="http://schemas.microsoft.com/office/drawing/2014/main" id="{7ED8A6E8-0A25-4D8C-B5C4-56D0771D12C8}"/>
              </a:ext>
            </a:extLst>
          </p:cNvPr>
          <p:cNvSpPr>
            <a:spLocks noChangeShapeType="1"/>
          </p:cNvSpPr>
          <p:nvPr/>
        </p:nvSpPr>
        <p:spPr bwMode="auto">
          <a:xfrm>
            <a:off x="3228977" y="2707988"/>
            <a:ext cx="476250" cy="0"/>
          </a:xfrm>
          <a:prstGeom prst="line">
            <a:avLst/>
          </a:prstGeom>
          <a:noFill/>
          <a:ln w="9525">
            <a:solidFill>
              <a:srgbClr val="104E87"/>
            </a:solidFill>
            <a:round/>
            <a:headEnd/>
            <a:tailEnd type="triangle" w="sm" len="lg"/>
          </a:ln>
        </p:spPr>
        <p:txBody>
          <a:bodyPr/>
          <a:lstStyle/>
          <a:p>
            <a:pPr>
              <a:defRPr/>
            </a:pPr>
            <a:endParaRPr lang="zh-CN" altLang="en-US">
              <a:solidFill>
                <a:srgbClr val="104E87"/>
              </a:solidFill>
              <a:latin typeface="Comic Sans MS" panose="030F0702030302020204" pitchFamily="66" charset="0"/>
              <a:ea typeface="华光行书_CNKI" panose="02000500000000000000" pitchFamily="2" charset="-122"/>
            </a:endParaRPr>
          </a:p>
        </p:txBody>
      </p:sp>
      <p:sp>
        <p:nvSpPr>
          <p:cNvPr id="54" name="Text Box 1062">
            <a:extLst>
              <a:ext uri="{FF2B5EF4-FFF2-40B4-BE49-F238E27FC236}">
                <a16:creationId xmlns:a16="http://schemas.microsoft.com/office/drawing/2014/main" id="{7DB49902-69A8-43DC-8CC0-66A3F0D907EB}"/>
              </a:ext>
            </a:extLst>
          </p:cNvPr>
          <p:cNvSpPr txBox="1">
            <a:spLocks noChangeArrowheads="1"/>
          </p:cNvSpPr>
          <p:nvPr/>
        </p:nvSpPr>
        <p:spPr bwMode="auto">
          <a:xfrm>
            <a:off x="3195640" y="1790231"/>
            <a:ext cx="1228724" cy="320977"/>
          </a:xfrm>
          <a:prstGeom prst="rect">
            <a:avLst/>
          </a:prstGeom>
          <a:solidFill>
            <a:schemeClr val="accent2">
              <a:lumMod val="60000"/>
              <a:lumOff val="40000"/>
            </a:schemeClr>
          </a:solidFill>
          <a:ln>
            <a:noFill/>
          </a:ln>
        </p:spPr>
        <p:txBody>
          <a:bodyPr t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defRPr/>
            </a:pPr>
            <a:r>
              <a:rPr lang="zh-CN" altLang="en-US" sz="2000" dirty="0">
                <a:solidFill>
                  <a:srgbClr val="104E87"/>
                </a:solidFill>
                <a:latin typeface="Comic Sans MS" panose="030F0702030302020204" pitchFamily="66" charset="0"/>
                <a:ea typeface="华光行书_CNKI" panose="02000500000000000000" pitchFamily="2" charset="-122"/>
              </a:rPr>
              <a:t>拷贝后</a:t>
            </a:r>
          </a:p>
        </p:txBody>
      </p:sp>
      <p:sp>
        <p:nvSpPr>
          <p:cNvPr id="55" name="Text Box 1064">
            <a:extLst>
              <a:ext uri="{FF2B5EF4-FFF2-40B4-BE49-F238E27FC236}">
                <a16:creationId xmlns:a16="http://schemas.microsoft.com/office/drawing/2014/main" id="{488714B2-19E6-44AE-B6CB-CC5F07B87FBC}"/>
              </a:ext>
            </a:extLst>
          </p:cNvPr>
          <p:cNvSpPr txBox="1">
            <a:spLocks noChangeArrowheads="1"/>
          </p:cNvSpPr>
          <p:nvPr/>
        </p:nvSpPr>
        <p:spPr bwMode="auto">
          <a:xfrm>
            <a:off x="2638427" y="4255800"/>
            <a:ext cx="590550" cy="890588"/>
          </a:xfrm>
          <a:prstGeom prst="rect">
            <a:avLst/>
          </a:prstGeom>
          <a:noFill/>
          <a:ln w="9525">
            <a:solidFill>
              <a:srgbClr val="104E87"/>
            </a:solidFill>
            <a:miter lim="800000"/>
            <a:headEnd/>
            <a:tailEnd/>
          </a:ln>
        </p:spPr>
        <p:txBody>
          <a:bodyPr lIns="0" rIns="0"/>
          <a:lstStyle>
            <a:defPPr>
              <a:defRPr lang="zh-CN"/>
            </a:defPPr>
            <a:lvl1pPr algn="just" eaLnBrk="0" hangingPunct="0">
              <a:defRPr sz="1600">
                <a:ea typeface="宋体" charset="-122"/>
              </a:defRPr>
            </a:lvl1pPr>
          </a:lstStyle>
          <a:p>
            <a:pPr>
              <a:defRPr/>
            </a:pPr>
            <a:r>
              <a:rPr lang="en-US" altLang="zh-CN" sz="2000" dirty="0">
                <a:solidFill>
                  <a:srgbClr val="104E87"/>
                </a:solidFill>
                <a:latin typeface="Comic Sans MS" panose="030F0702030302020204" pitchFamily="66" charset="0"/>
                <a:ea typeface="华光行书_CNKI" panose="02000500000000000000" pitchFamily="2" charset="-122"/>
              </a:rPr>
              <a:t> set</a:t>
            </a:r>
          </a:p>
          <a:p>
            <a:pPr>
              <a:defRPr/>
            </a:pPr>
            <a:r>
              <a:rPr lang="en-US" altLang="zh-CN" sz="2000" dirty="0">
                <a:solidFill>
                  <a:srgbClr val="104E87"/>
                </a:solidFill>
                <a:latin typeface="Comic Sans MS" panose="030F0702030302020204" pitchFamily="66" charset="0"/>
                <a:ea typeface="华光行书_CNKI" panose="02000500000000000000" pitchFamily="2" charset="-122"/>
              </a:rPr>
              <a:t> size</a:t>
            </a:r>
          </a:p>
        </p:txBody>
      </p:sp>
      <p:sp>
        <p:nvSpPr>
          <p:cNvPr id="56" name="Text Box 1065">
            <a:extLst>
              <a:ext uri="{FF2B5EF4-FFF2-40B4-BE49-F238E27FC236}">
                <a16:creationId xmlns:a16="http://schemas.microsoft.com/office/drawing/2014/main" id="{A9837825-E714-4F4B-9549-280717766407}"/>
              </a:ext>
            </a:extLst>
          </p:cNvPr>
          <p:cNvSpPr txBox="1">
            <a:spLocks noChangeArrowheads="1"/>
          </p:cNvSpPr>
          <p:nvPr/>
        </p:nvSpPr>
        <p:spPr bwMode="auto">
          <a:xfrm>
            <a:off x="2776539" y="3743038"/>
            <a:ext cx="219075" cy="260350"/>
          </a:xfrm>
          <a:prstGeom prst="rect">
            <a:avLst/>
          </a:prstGeom>
          <a:noFill/>
          <a:ln>
            <a:noFill/>
          </a:ln>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defRPr/>
            </a:pPr>
            <a:r>
              <a:rPr lang="en-US" altLang="zh-CN" sz="2000" dirty="0">
                <a:solidFill>
                  <a:srgbClr val="104E87"/>
                </a:solidFill>
                <a:latin typeface="Comic Sans MS" panose="030F0702030302020204" pitchFamily="66" charset="0"/>
                <a:ea typeface="华光行书_CNKI" panose="02000500000000000000" pitchFamily="2" charset="-122"/>
              </a:rPr>
              <a:t>b</a:t>
            </a:r>
          </a:p>
        </p:txBody>
      </p:sp>
      <p:grpSp>
        <p:nvGrpSpPr>
          <p:cNvPr id="57" name="Group 1067">
            <a:extLst>
              <a:ext uri="{FF2B5EF4-FFF2-40B4-BE49-F238E27FC236}">
                <a16:creationId xmlns:a16="http://schemas.microsoft.com/office/drawing/2014/main" id="{87F6B408-2FCA-401B-B5E5-B8A4E69D7FE6}"/>
              </a:ext>
            </a:extLst>
          </p:cNvPr>
          <p:cNvGrpSpPr>
            <a:grpSpLocks/>
          </p:cNvGrpSpPr>
          <p:nvPr/>
        </p:nvGrpSpPr>
        <p:grpSpPr bwMode="auto">
          <a:xfrm>
            <a:off x="3705227" y="4528850"/>
            <a:ext cx="960437" cy="1301750"/>
            <a:chOff x="3915" y="8565"/>
            <a:chExt cx="420" cy="2385"/>
          </a:xfrm>
        </p:grpSpPr>
        <p:sp>
          <p:nvSpPr>
            <p:cNvPr id="58" name="Rectangle 1068">
              <a:extLst>
                <a:ext uri="{FF2B5EF4-FFF2-40B4-BE49-F238E27FC236}">
                  <a16:creationId xmlns:a16="http://schemas.microsoft.com/office/drawing/2014/main" id="{22A532C9-5245-43B5-979C-6DD8F1FE5E00}"/>
                </a:ext>
              </a:extLst>
            </p:cNvPr>
            <p:cNvSpPr>
              <a:spLocks noChangeArrowheads="1"/>
            </p:cNvSpPr>
            <p:nvPr/>
          </p:nvSpPr>
          <p:spPr bwMode="auto">
            <a:xfrm>
              <a:off x="3915" y="8565"/>
              <a:ext cx="420" cy="2385"/>
            </a:xfrm>
            <a:prstGeom prst="rect">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59" name="Line 1069">
              <a:extLst>
                <a:ext uri="{FF2B5EF4-FFF2-40B4-BE49-F238E27FC236}">
                  <a16:creationId xmlns:a16="http://schemas.microsoft.com/office/drawing/2014/main" id="{D3298AB6-E308-455F-826D-AB4D990F6452}"/>
                </a:ext>
              </a:extLst>
            </p:cNvPr>
            <p:cNvSpPr>
              <a:spLocks noChangeShapeType="1"/>
            </p:cNvSpPr>
            <p:nvPr/>
          </p:nvSpPr>
          <p:spPr bwMode="auto">
            <a:xfrm>
              <a:off x="3915" y="880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60" name="Line 1070">
              <a:extLst>
                <a:ext uri="{FF2B5EF4-FFF2-40B4-BE49-F238E27FC236}">
                  <a16:creationId xmlns:a16="http://schemas.microsoft.com/office/drawing/2014/main" id="{FBD102A2-2327-4F82-8374-B3C3C2F90A05}"/>
                </a:ext>
              </a:extLst>
            </p:cNvPr>
            <p:cNvSpPr>
              <a:spLocks noChangeShapeType="1"/>
            </p:cNvSpPr>
            <p:nvPr/>
          </p:nvSpPr>
          <p:spPr bwMode="auto">
            <a:xfrm>
              <a:off x="3915" y="904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61" name="Line 1071">
              <a:extLst>
                <a:ext uri="{FF2B5EF4-FFF2-40B4-BE49-F238E27FC236}">
                  <a16:creationId xmlns:a16="http://schemas.microsoft.com/office/drawing/2014/main" id="{86F674EA-E047-4445-8480-5BDACF88BEE1}"/>
                </a:ext>
              </a:extLst>
            </p:cNvPr>
            <p:cNvSpPr>
              <a:spLocks noChangeShapeType="1"/>
            </p:cNvSpPr>
            <p:nvPr/>
          </p:nvSpPr>
          <p:spPr bwMode="auto">
            <a:xfrm>
              <a:off x="3915" y="928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62" name="Line 1072">
              <a:extLst>
                <a:ext uri="{FF2B5EF4-FFF2-40B4-BE49-F238E27FC236}">
                  <a16:creationId xmlns:a16="http://schemas.microsoft.com/office/drawing/2014/main" id="{B3A87EEE-0BEE-4DE1-9552-3A3FD8288E7F}"/>
                </a:ext>
              </a:extLst>
            </p:cNvPr>
            <p:cNvSpPr>
              <a:spLocks noChangeShapeType="1"/>
            </p:cNvSpPr>
            <p:nvPr/>
          </p:nvSpPr>
          <p:spPr bwMode="auto">
            <a:xfrm>
              <a:off x="3915" y="952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63" name="Line 1073">
              <a:extLst>
                <a:ext uri="{FF2B5EF4-FFF2-40B4-BE49-F238E27FC236}">
                  <a16:creationId xmlns:a16="http://schemas.microsoft.com/office/drawing/2014/main" id="{EF5B3084-FD82-4B1E-AF8C-4FE232C5428C}"/>
                </a:ext>
              </a:extLst>
            </p:cNvPr>
            <p:cNvSpPr>
              <a:spLocks noChangeShapeType="1"/>
            </p:cNvSpPr>
            <p:nvPr/>
          </p:nvSpPr>
          <p:spPr bwMode="auto">
            <a:xfrm>
              <a:off x="3915" y="976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64" name="Line 1074">
              <a:extLst>
                <a:ext uri="{FF2B5EF4-FFF2-40B4-BE49-F238E27FC236}">
                  <a16:creationId xmlns:a16="http://schemas.microsoft.com/office/drawing/2014/main" id="{6741CD94-349E-4A86-9632-7BD50126572B}"/>
                </a:ext>
              </a:extLst>
            </p:cNvPr>
            <p:cNvSpPr>
              <a:spLocks noChangeShapeType="1"/>
            </p:cNvSpPr>
            <p:nvPr/>
          </p:nvSpPr>
          <p:spPr bwMode="auto">
            <a:xfrm>
              <a:off x="3915" y="1000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65" name="Line 1075">
              <a:extLst>
                <a:ext uri="{FF2B5EF4-FFF2-40B4-BE49-F238E27FC236}">
                  <a16:creationId xmlns:a16="http://schemas.microsoft.com/office/drawing/2014/main" id="{B0DFB6E3-3466-4997-AFA7-5D1EFF690DDC}"/>
                </a:ext>
              </a:extLst>
            </p:cNvPr>
            <p:cNvSpPr>
              <a:spLocks noChangeShapeType="1"/>
            </p:cNvSpPr>
            <p:nvPr/>
          </p:nvSpPr>
          <p:spPr bwMode="auto">
            <a:xfrm>
              <a:off x="3915" y="1024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66" name="Line 1076">
              <a:extLst>
                <a:ext uri="{FF2B5EF4-FFF2-40B4-BE49-F238E27FC236}">
                  <a16:creationId xmlns:a16="http://schemas.microsoft.com/office/drawing/2014/main" id="{97BE965E-C817-4D84-99A3-427F4C396114}"/>
                </a:ext>
              </a:extLst>
            </p:cNvPr>
            <p:cNvSpPr>
              <a:spLocks noChangeShapeType="1"/>
            </p:cNvSpPr>
            <p:nvPr/>
          </p:nvSpPr>
          <p:spPr bwMode="auto">
            <a:xfrm>
              <a:off x="3915" y="1048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67" name="Line 1077">
              <a:extLst>
                <a:ext uri="{FF2B5EF4-FFF2-40B4-BE49-F238E27FC236}">
                  <a16:creationId xmlns:a16="http://schemas.microsoft.com/office/drawing/2014/main" id="{09FABA21-A140-414F-B926-2254870D54AE}"/>
                </a:ext>
              </a:extLst>
            </p:cNvPr>
            <p:cNvSpPr>
              <a:spLocks noChangeShapeType="1"/>
            </p:cNvSpPr>
            <p:nvPr/>
          </p:nvSpPr>
          <p:spPr bwMode="auto">
            <a:xfrm>
              <a:off x="3915" y="1072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grpSp>
      <p:sp>
        <p:nvSpPr>
          <p:cNvPr id="68" name="Text Box 1078">
            <a:extLst>
              <a:ext uri="{FF2B5EF4-FFF2-40B4-BE49-F238E27FC236}">
                <a16:creationId xmlns:a16="http://schemas.microsoft.com/office/drawing/2014/main" id="{D39C5A0F-F255-472E-9AE4-AD5E150C1FBD}"/>
              </a:ext>
            </a:extLst>
          </p:cNvPr>
          <p:cNvSpPr txBox="1">
            <a:spLocks noChangeArrowheads="1"/>
          </p:cNvSpPr>
          <p:nvPr/>
        </p:nvSpPr>
        <p:spPr bwMode="auto">
          <a:xfrm>
            <a:off x="3379789" y="4064507"/>
            <a:ext cx="1504950" cy="547688"/>
          </a:xfrm>
          <a:prstGeom prst="rect">
            <a:avLst/>
          </a:prstGeom>
          <a:noFill/>
          <a:ln>
            <a:noFill/>
          </a:ln>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80000"/>
              </a:lnSpc>
              <a:defRPr/>
            </a:pPr>
            <a:r>
              <a:rPr lang="en-US" altLang="zh-CN" sz="2000" dirty="0">
                <a:solidFill>
                  <a:srgbClr val="104E87"/>
                </a:solidFill>
                <a:latin typeface="Comic Sans MS" panose="030F0702030302020204" pitchFamily="66" charset="0"/>
                <a:ea typeface="华光行书_CNKI" panose="02000500000000000000" pitchFamily="2" charset="-122"/>
              </a:rPr>
              <a:t>b</a:t>
            </a:r>
            <a:r>
              <a:rPr lang="zh-CN" altLang="en-US" sz="2000" dirty="0">
                <a:solidFill>
                  <a:srgbClr val="104E87"/>
                </a:solidFill>
                <a:latin typeface="Comic Sans MS" panose="030F0702030302020204" pitchFamily="66" charset="0"/>
                <a:ea typeface="华光行书_CNKI" panose="02000500000000000000" pitchFamily="2" charset="-122"/>
              </a:rPr>
              <a:t>数组元素</a:t>
            </a:r>
          </a:p>
          <a:p>
            <a:pPr algn="just">
              <a:lnSpc>
                <a:spcPct val="80000"/>
              </a:lnSpc>
              <a:defRPr/>
            </a:pPr>
            <a:r>
              <a:rPr lang="zh-CN" altLang="en-US" sz="2000" dirty="0">
                <a:solidFill>
                  <a:srgbClr val="104E87"/>
                </a:solidFill>
                <a:latin typeface="Comic Sans MS" panose="030F0702030302020204" pitchFamily="66" charset="0"/>
                <a:ea typeface="华光行书_CNKI" panose="02000500000000000000" pitchFamily="2" charset="-122"/>
              </a:rPr>
              <a:t>占用的内存</a:t>
            </a:r>
          </a:p>
        </p:txBody>
      </p:sp>
      <p:sp>
        <p:nvSpPr>
          <p:cNvPr id="69" name="Line 1079">
            <a:extLst>
              <a:ext uri="{FF2B5EF4-FFF2-40B4-BE49-F238E27FC236}">
                <a16:creationId xmlns:a16="http://schemas.microsoft.com/office/drawing/2014/main" id="{A6D06DDF-6BD7-434E-B69F-6C723F7B5AC2}"/>
              </a:ext>
            </a:extLst>
          </p:cNvPr>
          <p:cNvSpPr>
            <a:spLocks noChangeShapeType="1"/>
          </p:cNvSpPr>
          <p:nvPr/>
        </p:nvSpPr>
        <p:spPr bwMode="auto">
          <a:xfrm flipV="1">
            <a:off x="3228977" y="4528850"/>
            <a:ext cx="476250" cy="9525"/>
          </a:xfrm>
          <a:prstGeom prst="line">
            <a:avLst/>
          </a:prstGeom>
          <a:noFill/>
          <a:ln w="9525">
            <a:solidFill>
              <a:srgbClr val="104E87"/>
            </a:solidFill>
            <a:round/>
            <a:headEnd/>
            <a:tailEnd type="triangle" w="sm" len="lg"/>
          </a:ln>
        </p:spPr>
        <p:txBody>
          <a:bodyPr/>
          <a:lstStyle/>
          <a:p>
            <a:pPr>
              <a:defRPr/>
            </a:pPr>
            <a:endParaRPr lang="zh-CN" altLang="en-US">
              <a:solidFill>
                <a:srgbClr val="104E87"/>
              </a:solidFill>
              <a:latin typeface="Comic Sans MS" panose="030F0702030302020204" pitchFamily="66" charset="0"/>
              <a:ea typeface="华光行书_CNKI" panose="02000500000000000000" pitchFamily="2" charset="-122"/>
            </a:endParaRPr>
          </a:p>
        </p:txBody>
      </p:sp>
      <p:sp>
        <p:nvSpPr>
          <p:cNvPr id="70" name="AutoShape 1080">
            <a:extLst>
              <a:ext uri="{FF2B5EF4-FFF2-40B4-BE49-F238E27FC236}">
                <a16:creationId xmlns:a16="http://schemas.microsoft.com/office/drawing/2014/main" id="{A1371EA4-C05E-4FC6-9768-BA31CA0EC023}"/>
              </a:ext>
            </a:extLst>
          </p:cNvPr>
          <p:cNvSpPr>
            <a:spLocks noChangeArrowheads="1"/>
          </p:cNvSpPr>
          <p:nvPr/>
        </p:nvSpPr>
        <p:spPr bwMode="auto">
          <a:xfrm>
            <a:off x="4665664" y="3873213"/>
            <a:ext cx="219075" cy="712787"/>
          </a:xfrm>
          <a:prstGeom prst="curvedLeftArrow">
            <a:avLst>
              <a:gd name="adj1" fmla="val 65072"/>
              <a:gd name="adj2" fmla="val 130145"/>
              <a:gd name="adj3" fmla="val 33333"/>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pic>
        <p:nvPicPr>
          <p:cNvPr id="71" name="图片 60">
            <a:extLst>
              <a:ext uri="{FF2B5EF4-FFF2-40B4-BE49-F238E27FC236}">
                <a16:creationId xmlns:a16="http://schemas.microsoft.com/office/drawing/2014/main" id="{D909B3CE-FFFB-4447-9946-3A95805259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3" y="6237459"/>
            <a:ext cx="5767362" cy="319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图片 61">
            <a:extLst>
              <a:ext uri="{FF2B5EF4-FFF2-40B4-BE49-F238E27FC236}">
                <a16:creationId xmlns:a16="http://schemas.microsoft.com/office/drawing/2014/main" id="{009AE2E7-E1E4-47CC-8B18-44197E9963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 y="5204639"/>
            <a:ext cx="3706021" cy="318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 name="文本框 72">
            <a:extLst>
              <a:ext uri="{FF2B5EF4-FFF2-40B4-BE49-F238E27FC236}">
                <a16:creationId xmlns:a16="http://schemas.microsoft.com/office/drawing/2014/main" id="{F66616E3-02F9-4CFC-9B3B-8D0E756DBC71}"/>
              </a:ext>
            </a:extLst>
          </p:cNvPr>
          <p:cNvSpPr txBox="1">
            <a:spLocks noChangeArrowheads="1"/>
          </p:cNvSpPr>
          <p:nvPr/>
        </p:nvSpPr>
        <p:spPr bwMode="auto">
          <a:xfrm>
            <a:off x="258762" y="5549211"/>
            <a:ext cx="50292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zh-CN" altLang="en-US" sz="2000" b="0" dirty="0">
                <a:solidFill>
                  <a:srgbClr val="104E87"/>
                </a:solidFill>
                <a:latin typeface="Comic Sans MS" panose="030F0702030302020204" pitchFamily="66" charset="0"/>
              </a:rPr>
              <a:t>ARRAY&lt;int&gt;    </a:t>
            </a:r>
            <a:r>
              <a:rPr lang="en-US" altLang="zh-CN" sz="2000" b="0" dirty="0">
                <a:solidFill>
                  <a:srgbClr val="104E87"/>
                </a:solidFill>
                <a:latin typeface="Comic Sans MS" panose="030F0702030302020204" pitchFamily="66" charset="0"/>
              </a:rPr>
              <a:t>a</a:t>
            </a:r>
            <a:r>
              <a:rPr lang="zh-CN" altLang="en-US" sz="2000" b="0" dirty="0">
                <a:solidFill>
                  <a:srgbClr val="104E87"/>
                </a:solidFill>
                <a:latin typeface="Comic Sans MS" panose="030F0702030302020204" pitchFamily="66" charset="0"/>
              </a:rPr>
              <a:t>(10);</a:t>
            </a:r>
            <a:endParaRPr lang="en-US" altLang="zh-CN" sz="2000" b="0" dirty="0">
              <a:solidFill>
                <a:srgbClr val="104E87"/>
              </a:solidFill>
              <a:latin typeface="Comic Sans MS" panose="030F0702030302020204" pitchFamily="66" charset="0"/>
            </a:endParaRPr>
          </a:p>
          <a:p>
            <a:r>
              <a:rPr lang="zh-CN" altLang="en-US" sz="2000" b="0" dirty="0">
                <a:solidFill>
                  <a:srgbClr val="104E87"/>
                </a:solidFill>
                <a:latin typeface="Comic Sans MS" panose="030F0702030302020204" pitchFamily="66" charset="0"/>
              </a:rPr>
              <a:t>ARRAY&lt;int&gt; </a:t>
            </a:r>
            <a:r>
              <a:rPr lang="en-US" altLang="zh-CN" sz="2000" b="0" dirty="0">
                <a:solidFill>
                  <a:srgbClr val="104E87"/>
                </a:solidFill>
                <a:latin typeface="Comic Sans MS" panose="030F0702030302020204" pitchFamily="66" charset="0"/>
              </a:rPr>
              <a:t>b(a)</a:t>
            </a:r>
            <a:endParaRPr lang="zh-CN" altLang="en-US" sz="2000" b="0" dirty="0">
              <a:solidFill>
                <a:srgbClr val="104E87"/>
              </a:solidFill>
              <a:latin typeface="Comic Sans MS" panose="030F0702030302020204" pitchFamily="66" charset="0"/>
            </a:endParaRPr>
          </a:p>
        </p:txBody>
      </p:sp>
      <p:sp>
        <p:nvSpPr>
          <p:cNvPr id="74" name="Text Box 1047">
            <a:extLst>
              <a:ext uri="{FF2B5EF4-FFF2-40B4-BE49-F238E27FC236}">
                <a16:creationId xmlns:a16="http://schemas.microsoft.com/office/drawing/2014/main" id="{2A0EF899-3A3D-4A3E-AAC1-684A5A299F77}"/>
              </a:ext>
            </a:extLst>
          </p:cNvPr>
          <p:cNvSpPr txBox="1">
            <a:spLocks noChangeArrowheads="1"/>
          </p:cNvSpPr>
          <p:nvPr/>
        </p:nvSpPr>
        <p:spPr bwMode="auto">
          <a:xfrm>
            <a:off x="5240922" y="2628657"/>
            <a:ext cx="590550" cy="890588"/>
          </a:xfrm>
          <a:prstGeom prst="rect">
            <a:avLst/>
          </a:prstGeom>
          <a:noFill/>
          <a:ln w="9525">
            <a:solidFill>
              <a:srgbClr val="104E87"/>
            </a:solidFill>
            <a:miter lim="800000"/>
            <a:headEnd/>
            <a:tailEnd/>
          </a:ln>
        </p:spPr>
        <p:txBody>
          <a:bodyPr lIns="0" rIns="0"/>
          <a:lstStyle>
            <a:defPPr>
              <a:defRPr lang="zh-CN"/>
            </a:defPPr>
            <a:lvl1pPr algn="just" eaLnBrk="0" hangingPunct="0">
              <a:defRPr sz="1600">
                <a:ea typeface="宋体" charset="-122"/>
              </a:defRPr>
            </a:lvl1pPr>
          </a:lstStyle>
          <a:p>
            <a:pPr>
              <a:defRPr/>
            </a:pPr>
            <a:r>
              <a:rPr lang="en-US" altLang="zh-CN" sz="2000" dirty="0">
                <a:solidFill>
                  <a:srgbClr val="104E87"/>
                </a:solidFill>
                <a:latin typeface="Comic Sans MS" panose="030F0702030302020204" pitchFamily="66" charset="0"/>
                <a:ea typeface="华光行书_CNKI" panose="02000500000000000000" pitchFamily="2" charset="-122"/>
              </a:rPr>
              <a:t> set</a:t>
            </a:r>
          </a:p>
          <a:p>
            <a:pPr>
              <a:defRPr/>
            </a:pPr>
            <a:r>
              <a:rPr lang="en-US" altLang="zh-CN" sz="2000" dirty="0">
                <a:solidFill>
                  <a:srgbClr val="104E87"/>
                </a:solidFill>
                <a:latin typeface="Comic Sans MS" panose="030F0702030302020204" pitchFamily="66" charset="0"/>
                <a:ea typeface="华光行书_CNKI" panose="02000500000000000000" pitchFamily="2" charset="-122"/>
              </a:rPr>
              <a:t> size</a:t>
            </a:r>
          </a:p>
        </p:txBody>
      </p:sp>
      <p:sp>
        <p:nvSpPr>
          <p:cNvPr id="75" name="Text Box 1048">
            <a:extLst>
              <a:ext uri="{FF2B5EF4-FFF2-40B4-BE49-F238E27FC236}">
                <a16:creationId xmlns:a16="http://schemas.microsoft.com/office/drawing/2014/main" id="{B88DB4D7-E341-4C01-BDC3-0B2BFC1D58DC}"/>
              </a:ext>
            </a:extLst>
          </p:cNvPr>
          <p:cNvSpPr txBox="1">
            <a:spLocks noChangeArrowheads="1"/>
          </p:cNvSpPr>
          <p:nvPr/>
        </p:nvSpPr>
        <p:spPr bwMode="auto">
          <a:xfrm>
            <a:off x="5355222" y="2228607"/>
            <a:ext cx="265112" cy="260350"/>
          </a:xfrm>
          <a:prstGeom prst="rect">
            <a:avLst/>
          </a:prstGeom>
          <a:noFill/>
          <a:ln>
            <a:noFill/>
          </a:ln>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defRPr/>
            </a:pPr>
            <a:r>
              <a:rPr lang="en-US" altLang="zh-CN" sz="2000" dirty="0">
                <a:solidFill>
                  <a:srgbClr val="104E87"/>
                </a:solidFill>
                <a:latin typeface="Comic Sans MS" panose="030F0702030302020204" pitchFamily="66" charset="0"/>
                <a:ea typeface="华光行书_CNKI" panose="02000500000000000000" pitchFamily="2" charset="-122"/>
              </a:rPr>
              <a:t>a</a:t>
            </a:r>
          </a:p>
        </p:txBody>
      </p:sp>
      <p:grpSp>
        <p:nvGrpSpPr>
          <p:cNvPr id="76" name="Group 1049">
            <a:extLst>
              <a:ext uri="{FF2B5EF4-FFF2-40B4-BE49-F238E27FC236}">
                <a16:creationId xmlns:a16="http://schemas.microsoft.com/office/drawing/2014/main" id="{F2DEFA63-6DFC-4524-9A23-D754C698DCCE}"/>
              </a:ext>
            </a:extLst>
          </p:cNvPr>
          <p:cNvGrpSpPr>
            <a:grpSpLocks/>
          </p:cNvGrpSpPr>
          <p:nvPr/>
        </p:nvGrpSpPr>
        <p:grpSpPr bwMode="auto">
          <a:xfrm>
            <a:off x="6307722" y="2874720"/>
            <a:ext cx="960437" cy="1301750"/>
            <a:chOff x="3915" y="8565"/>
            <a:chExt cx="420" cy="2385"/>
          </a:xfrm>
        </p:grpSpPr>
        <p:sp>
          <p:nvSpPr>
            <p:cNvPr id="77" name="Rectangle 1050">
              <a:extLst>
                <a:ext uri="{FF2B5EF4-FFF2-40B4-BE49-F238E27FC236}">
                  <a16:creationId xmlns:a16="http://schemas.microsoft.com/office/drawing/2014/main" id="{8A475693-E656-42DE-9ED1-FF05DD2E1442}"/>
                </a:ext>
              </a:extLst>
            </p:cNvPr>
            <p:cNvSpPr>
              <a:spLocks noChangeArrowheads="1"/>
            </p:cNvSpPr>
            <p:nvPr/>
          </p:nvSpPr>
          <p:spPr bwMode="auto">
            <a:xfrm>
              <a:off x="3915" y="8565"/>
              <a:ext cx="420" cy="2385"/>
            </a:xfrm>
            <a:prstGeom prst="rect">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78" name="Line 1051">
              <a:extLst>
                <a:ext uri="{FF2B5EF4-FFF2-40B4-BE49-F238E27FC236}">
                  <a16:creationId xmlns:a16="http://schemas.microsoft.com/office/drawing/2014/main" id="{4A1CA065-087E-47CC-8B8F-EEAFC11CF86B}"/>
                </a:ext>
              </a:extLst>
            </p:cNvPr>
            <p:cNvSpPr>
              <a:spLocks noChangeShapeType="1"/>
            </p:cNvSpPr>
            <p:nvPr/>
          </p:nvSpPr>
          <p:spPr bwMode="auto">
            <a:xfrm>
              <a:off x="3915" y="880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79" name="Line 1052">
              <a:extLst>
                <a:ext uri="{FF2B5EF4-FFF2-40B4-BE49-F238E27FC236}">
                  <a16:creationId xmlns:a16="http://schemas.microsoft.com/office/drawing/2014/main" id="{3A75967A-1AD7-47EE-A77D-0845587BCDDD}"/>
                </a:ext>
              </a:extLst>
            </p:cNvPr>
            <p:cNvSpPr>
              <a:spLocks noChangeShapeType="1"/>
            </p:cNvSpPr>
            <p:nvPr/>
          </p:nvSpPr>
          <p:spPr bwMode="auto">
            <a:xfrm>
              <a:off x="3915" y="904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80" name="Line 1053">
              <a:extLst>
                <a:ext uri="{FF2B5EF4-FFF2-40B4-BE49-F238E27FC236}">
                  <a16:creationId xmlns:a16="http://schemas.microsoft.com/office/drawing/2014/main" id="{9D3E28CF-1657-4A18-96D9-16FDD4C010E2}"/>
                </a:ext>
              </a:extLst>
            </p:cNvPr>
            <p:cNvSpPr>
              <a:spLocks noChangeShapeType="1"/>
            </p:cNvSpPr>
            <p:nvPr/>
          </p:nvSpPr>
          <p:spPr bwMode="auto">
            <a:xfrm>
              <a:off x="3915" y="928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81" name="Line 1054">
              <a:extLst>
                <a:ext uri="{FF2B5EF4-FFF2-40B4-BE49-F238E27FC236}">
                  <a16:creationId xmlns:a16="http://schemas.microsoft.com/office/drawing/2014/main" id="{A095715B-BCAE-44D2-948E-85412B6175F0}"/>
                </a:ext>
              </a:extLst>
            </p:cNvPr>
            <p:cNvSpPr>
              <a:spLocks noChangeShapeType="1"/>
            </p:cNvSpPr>
            <p:nvPr/>
          </p:nvSpPr>
          <p:spPr bwMode="auto">
            <a:xfrm>
              <a:off x="3915" y="952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82" name="Line 1055">
              <a:extLst>
                <a:ext uri="{FF2B5EF4-FFF2-40B4-BE49-F238E27FC236}">
                  <a16:creationId xmlns:a16="http://schemas.microsoft.com/office/drawing/2014/main" id="{1C5D1964-A8F2-43BF-B787-EB4CE8F949F9}"/>
                </a:ext>
              </a:extLst>
            </p:cNvPr>
            <p:cNvSpPr>
              <a:spLocks noChangeShapeType="1"/>
            </p:cNvSpPr>
            <p:nvPr/>
          </p:nvSpPr>
          <p:spPr bwMode="auto">
            <a:xfrm>
              <a:off x="3915" y="976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83" name="Line 1056">
              <a:extLst>
                <a:ext uri="{FF2B5EF4-FFF2-40B4-BE49-F238E27FC236}">
                  <a16:creationId xmlns:a16="http://schemas.microsoft.com/office/drawing/2014/main" id="{4D1D682A-3993-4454-9CF7-C4889FC773A6}"/>
                </a:ext>
              </a:extLst>
            </p:cNvPr>
            <p:cNvSpPr>
              <a:spLocks noChangeShapeType="1"/>
            </p:cNvSpPr>
            <p:nvPr/>
          </p:nvSpPr>
          <p:spPr bwMode="auto">
            <a:xfrm>
              <a:off x="3915" y="1000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84" name="Line 1057">
              <a:extLst>
                <a:ext uri="{FF2B5EF4-FFF2-40B4-BE49-F238E27FC236}">
                  <a16:creationId xmlns:a16="http://schemas.microsoft.com/office/drawing/2014/main" id="{B5CE8246-E4B1-40C7-A949-2D317DC74173}"/>
                </a:ext>
              </a:extLst>
            </p:cNvPr>
            <p:cNvSpPr>
              <a:spLocks noChangeShapeType="1"/>
            </p:cNvSpPr>
            <p:nvPr/>
          </p:nvSpPr>
          <p:spPr bwMode="auto">
            <a:xfrm>
              <a:off x="3915" y="1024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85" name="Line 1058">
              <a:extLst>
                <a:ext uri="{FF2B5EF4-FFF2-40B4-BE49-F238E27FC236}">
                  <a16:creationId xmlns:a16="http://schemas.microsoft.com/office/drawing/2014/main" id="{ADF7A444-DDE7-494B-94C9-4149504F86DD}"/>
                </a:ext>
              </a:extLst>
            </p:cNvPr>
            <p:cNvSpPr>
              <a:spLocks noChangeShapeType="1"/>
            </p:cNvSpPr>
            <p:nvPr/>
          </p:nvSpPr>
          <p:spPr bwMode="auto">
            <a:xfrm>
              <a:off x="3915" y="10485"/>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86" name="Line 1059">
              <a:extLst>
                <a:ext uri="{FF2B5EF4-FFF2-40B4-BE49-F238E27FC236}">
                  <a16:creationId xmlns:a16="http://schemas.microsoft.com/office/drawing/2014/main" id="{4484F301-C064-44EB-8BF3-1B908328662A}"/>
                </a:ext>
              </a:extLst>
            </p:cNvPr>
            <p:cNvSpPr>
              <a:spLocks noChangeShapeType="1"/>
            </p:cNvSpPr>
            <p:nvPr/>
          </p:nvSpPr>
          <p:spPr bwMode="auto">
            <a:xfrm>
              <a:off x="3915" y="10726"/>
              <a:ext cx="420" cy="0"/>
            </a:xfrm>
            <a:prstGeom prst="line">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grpSp>
      <p:sp>
        <p:nvSpPr>
          <p:cNvPr id="87" name="Text Box 1060">
            <a:extLst>
              <a:ext uri="{FF2B5EF4-FFF2-40B4-BE49-F238E27FC236}">
                <a16:creationId xmlns:a16="http://schemas.microsoft.com/office/drawing/2014/main" id="{7A56D46D-BCCB-439B-AF26-4F9FC7E23C01}"/>
              </a:ext>
            </a:extLst>
          </p:cNvPr>
          <p:cNvSpPr txBox="1">
            <a:spLocks noChangeArrowheads="1"/>
          </p:cNvSpPr>
          <p:nvPr/>
        </p:nvSpPr>
        <p:spPr bwMode="auto">
          <a:xfrm>
            <a:off x="6116428" y="2269883"/>
            <a:ext cx="1343024" cy="547687"/>
          </a:xfrm>
          <a:prstGeom prst="rect">
            <a:avLst/>
          </a:prstGeom>
          <a:noFill/>
          <a:ln>
            <a:noFill/>
          </a:ln>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defRPr/>
            </a:pPr>
            <a:r>
              <a:rPr lang="en-US" altLang="zh-CN" sz="2000" dirty="0">
                <a:solidFill>
                  <a:srgbClr val="104E87"/>
                </a:solidFill>
                <a:latin typeface="Comic Sans MS" panose="030F0702030302020204" pitchFamily="66" charset="0"/>
                <a:ea typeface="华光行书_CNKI" panose="02000500000000000000" pitchFamily="2" charset="-122"/>
              </a:rPr>
              <a:t>a</a:t>
            </a:r>
            <a:r>
              <a:rPr lang="zh-CN" altLang="en-US" sz="2000" dirty="0">
                <a:solidFill>
                  <a:srgbClr val="104E87"/>
                </a:solidFill>
                <a:latin typeface="Comic Sans MS" panose="030F0702030302020204" pitchFamily="66" charset="0"/>
                <a:ea typeface="华光行书_CNKI" panose="02000500000000000000" pitchFamily="2" charset="-122"/>
              </a:rPr>
              <a:t>数组元素</a:t>
            </a:r>
          </a:p>
          <a:p>
            <a:pPr algn="just">
              <a:defRPr/>
            </a:pPr>
            <a:r>
              <a:rPr lang="zh-CN" altLang="en-US" sz="2000" dirty="0">
                <a:solidFill>
                  <a:srgbClr val="104E87"/>
                </a:solidFill>
                <a:latin typeface="Comic Sans MS" panose="030F0702030302020204" pitchFamily="66" charset="0"/>
                <a:ea typeface="华光行书_CNKI" panose="02000500000000000000" pitchFamily="2" charset="-122"/>
              </a:rPr>
              <a:t>占用的内存</a:t>
            </a:r>
          </a:p>
        </p:txBody>
      </p:sp>
      <p:sp>
        <p:nvSpPr>
          <p:cNvPr id="88" name="Line 1061">
            <a:extLst>
              <a:ext uri="{FF2B5EF4-FFF2-40B4-BE49-F238E27FC236}">
                <a16:creationId xmlns:a16="http://schemas.microsoft.com/office/drawing/2014/main" id="{E9551D3D-FFDB-4F66-9C7E-F6BE0B6B7F90}"/>
              </a:ext>
            </a:extLst>
          </p:cNvPr>
          <p:cNvSpPr>
            <a:spLocks noChangeShapeType="1"/>
          </p:cNvSpPr>
          <p:nvPr/>
        </p:nvSpPr>
        <p:spPr bwMode="auto">
          <a:xfrm>
            <a:off x="5831472" y="2887420"/>
            <a:ext cx="476250" cy="0"/>
          </a:xfrm>
          <a:prstGeom prst="line">
            <a:avLst/>
          </a:prstGeom>
          <a:noFill/>
          <a:ln w="9525">
            <a:solidFill>
              <a:srgbClr val="104E87"/>
            </a:solidFill>
            <a:round/>
            <a:headEnd/>
            <a:tailEnd type="triangle" w="sm" len="lg"/>
          </a:ln>
        </p:spPr>
        <p:txBody>
          <a:bodyPr/>
          <a:lstStyle/>
          <a:p>
            <a:pPr>
              <a:defRPr/>
            </a:pPr>
            <a:endParaRPr lang="zh-CN" altLang="en-US">
              <a:solidFill>
                <a:srgbClr val="104E87"/>
              </a:solidFill>
              <a:latin typeface="Comic Sans MS" panose="030F0702030302020204" pitchFamily="66" charset="0"/>
              <a:ea typeface="华光行书_CNKI" panose="02000500000000000000" pitchFamily="2" charset="-122"/>
            </a:endParaRPr>
          </a:p>
        </p:txBody>
      </p:sp>
      <p:sp>
        <p:nvSpPr>
          <p:cNvPr id="89" name="Text Box 1064">
            <a:extLst>
              <a:ext uri="{FF2B5EF4-FFF2-40B4-BE49-F238E27FC236}">
                <a16:creationId xmlns:a16="http://schemas.microsoft.com/office/drawing/2014/main" id="{54949BAB-EAFF-4E0E-9A5D-6952B5539BEB}"/>
              </a:ext>
            </a:extLst>
          </p:cNvPr>
          <p:cNvSpPr txBox="1">
            <a:spLocks noChangeArrowheads="1"/>
          </p:cNvSpPr>
          <p:nvPr/>
        </p:nvSpPr>
        <p:spPr bwMode="auto">
          <a:xfrm>
            <a:off x="5240922" y="4435232"/>
            <a:ext cx="590550" cy="890588"/>
          </a:xfrm>
          <a:prstGeom prst="rect">
            <a:avLst/>
          </a:prstGeom>
          <a:noFill/>
          <a:ln w="9525">
            <a:solidFill>
              <a:srgbClr val="104E87"/>
            </a:solidFill>
            <a:miter lim="800000"/>
            <a:headEnd/>
            <a:tailEnd/>
          </a:ln>
        </p:spPr>
        <p:txBody>
          <a:bodyPr lIns="0" rIns="0"/>
          <a:lstStyle>
            <a:defPPr>
              <a:defRPr lang="zh-CN"/>
            </a:defPPr>
            <a:lvl1pPr algn="just" eaLnBrk="0" hangingPunct="0">
              <a:defRPr sz="1600">
                <a:ea typeface="宋体" charset="-122"/>
              </a:defRPr>
            </a:lvl1pPr>
          </a:lstStyle>
          <a:p>
            <a:pPr>
              <a:defRPr/>
            </a:pPr>
            <a:r>
              <a:rPr lang="en-US" altLang="zh-CN" sz="2000" dirty="0">
                <a:solidFill>
                  <a:srgbClr val="104E87"/>
                </a:solidFill>
                <a:latin typeface="Comic Sans MS" panose="030F0702030302020204" pitchFamily="66" charset="0"/>
                <a:ea typeface="华光行书_CNKI" panose="02000500000000000000" pitchFamily="2" charset="-122"/>
              </a:rPr>
              <a:t> set</a:t>
            </a:r>
          </a:p>
          <a:p>
            <a:pPr>
              <a:defRPr/>
            </a:pPr>
            <a:r>
              <a:rPr lang="en-US" altLang="zh-CN" sz="2000" dirty="0">
                <a:solidFill>
                  <a:srgbClr val="104E87"/>
                </a:solidFill>
                <a:latin typeface="Comic Sans MS" panose="030F0702030302020204" pitchFamily="66" charset="0"/>
                <a:ea typeface="华光行书_CNKI" panose="02000500000000000000" pitchFamily="2" charset="-122"/>
              </a:rPr>
              <a:t> size</a:t>
            </a:r>
          </a:p>
        </p:txBody>
      </p:sp>
      <p:sp>
        <p:nvSpPr>
          <p:cNvPr id="90" name="Text Box 1065">
            <a:extLst>
              <a:ext uri="{FF2B5EF4-FFF2-40B4-BE49-F238E27FC236}">
                <a16:creationId xmlns:a16="http://schemas.microsoft.com/office/drawing/2014/main" id="{36229037-12D7-4EB9-A662-7C2512B5F63D}"/>
              </a:ext>
            </a:extLst>
          </p:cNvPr>
          <p:cNvSpPr txBox="1">
            <a:spLocks noChangeArrowheads="1"/>
          </p:cNvSpPr>
          <p:nvPr/>
        </p:nvSpPr>
        <p:spPr bwMode="auto">
          <a:xfrm>
            <a:off x="5379034" y="3922470"/>
            <a:ext cx="219075" cy="260350"/>
          </a:xfrm>
          <a:prstGeom prst="rect">
            <a:avLst/>
          </a:prstGeom>
          <a:noFill/>
          <a:ln>
            <a:noFill/>
          </a:ln>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defRPr/>
            </a:pPr>
            <a:r>
              <a:rPr lang="en-US" altLang="zh-CN" sz="2000" dirty="0">
                <a:solidFill>
                  <a:srgbClr val="104E87"/>
                </a:solidFill>
                <a:latin typeface="Comic Sans MS" panose="030F0702030302020204" pitchFamily="66" charset="0"/>
                <a:ea typeface="华光行书_CNKI" panose="02000500000000000000" pitchFamily="2" charset="-122"/>
              </a:rPr>
              <a:t>b</a:t>
            </a:r>
          </a:p>
        </p:txBody>
      </p:sp>
      <p:sp>
        <p:nvSpPr>
          <p:cNvPr id="91" name="Line 1079">
            <a:extLst>
              <a:ext uri="{FF2B5EF4-FFF2-40B4-BE49-F238E27FC236}">
                <a16:creationId xmlns:a16="http://schemas.microsoft.com/office/drawing/2014/main" id="{8E1F96F0-49AE-4EE7-9850-05E277406812}"/>
              </a:ext>
            </a:extLst>
          </p:cNvPr>
          <p:cNvSpPr>
            <a:spLocks noChangeShapeType="1"/>
          </p:cNvSpPr>
          <p:nvPr/>
        </p:nvSpPr>
        <p:spPr bwMode="auto">
          <a:xfrm flipV="1">
            <a:off x="5615572" y="2927107"/>
            <a:ext cx="590550" cy="1662113"/>
          </a:xfrm>
          <a:prstGeom prst="line">
            <a:avLst/>
          </a:prstGeom>
          <a:noFill/>
          <a:ln w="9525">
            <a:solidFill>
              <a:srgbClr val="104E87"/>
            </a:solidFill>
            <a:round/>
            <a:headEnd/>
            <a:tailEnd type="triangle" w="sm" len="lg"/>
          </a:ln>
        </p:spPr>
        <p:txBody>
          <a:bodyPr/>
          <a:lstStyle/>
          <a:p>
            <a:pPr>
              <a:defRPr/>
            </a:pPr>
            <a:endParaRPr lang="zh-CN" altLang="en-US">
              <a:solidFill>
                <a:srgbClr val="104E87"/>
              </a:solidFill>
              <a:latin typeface="Comic Sans MS" panose="030F0702030302020204" pitchFamily="66" charset="0"/>
              <a:ea typeface="华光行书_CNKI" panose="02000500000000000000" pitchFamily="2" charset="-122"/>
            </a:endParaRPr>
          </a:p>
        </p:txBody>
      </p:sp>
      <p:sp>
        <p:nvSpPr>
          <p:cNvPr id="92" name="AutoShape 1080">
            <a:extLst>
              <a:ext uri="{FF2B5EF4-FFF2-40B4-BE49-F238E27FC236}">
                <a16:creationId xmlns:a16="http://schemas.microsoft.com/office/drawing/2014/main" id="{8EAFD005-2C8B-4EBA-823F-91F1272EC7A5}"/>
              </a:ext>
            </a:extLst>
          </p:cNvPr>
          <p:cNvSpPr>
            <a:spLocks noChangeArrowheads="1"/>
          </p:cNvSpPr>
          <p:nvPr/>
        </p:nvSpPr>
        <p:spPr bwMode="auto">
          <a:xfrm>
            <a:off x="5820359" y="3495432"/>
            <a:ext cx="219075" cy="1093788"/>
          </a:xfrm>
          <a:prstGeom prst="curvedLeftArrow">
            <a:avLst>
              <a:gd name="adj1" fmla="val 65072"/>
              <a:gd name="adj2" fmla="val 130145"/>
              <a:gd name="adj3" fmla="val 33333"/>
            </a:avLst>
          </a:prstGeom>
          <a:noFill/>
          <a:ln w="9525">
            <a:solidFill>
              <a:srgbClr val="104E87"/>
            </a:solidFill>
            <a:miter lim="800000"/>
            <a:headEnd/>
            <a:tailEnd/>
          </a:ln>
        </p:spPr>
        <p:txBody>
          <a:bodyPr lIns="0" rIns="0"/>
          <a:lstStyle/>
          <a:p>
            <a:pPr algn="just">
              <a:defRPr/>
            </a:pPr>
            <a:endParaRPr lang="zh-CN" altLang="en-US" sz="1600">
              <a:solidFill>
                <a:srgbClr val="104E87"/>
              </a:solidFill>
              <a:latin typeface="Comic Sans MS" panose="030F0702030302020204" pitchFamily="66" charset="0"/>
              <a:ea typeface="华光行书_CNKI" panose="02000500000000000000" pitchFamily="2" charset="-122"/>
            </a:endParaRPr>
          </a:p>
        </p:txBody>
      </p:sp>
      <p:sp>
        <p:nvSpPr>
          <p:cNvPr id="94" name="矩形 93">
            <a:extLst>
              <a:ext uri="{FF2B5EF4-FFF2-40B4-BE49-F238E27FC236}">
                <a16:creationId xmlns:a16="http://schemas.microsoft.com/office/drawing/2014/main" id="{8C8F2791-63A1-40F0-B636-5CCD0D136195}"/>
              </a:ext>
            </a:extLst>
          </p:cNvPr>
          <p:cNvSpPr/>
          <p:nvPr/>
        </p:nvSpPr>
        <p:spPr>
          <a:xfrm>
            <a:off x="8904321" y="903926"/>
            <a:ext cx="2190993" cy="409654"/>
          </a:xfrm>
          <a:prstGeom prst="rect">
            <a:avLst/>
          </a:prstGeom>
          <a:solidFill>
            <a:schemeClr val="accent4">
              <a:lumMod val="40000"/>
              <a:lumOff val="60000"/>
            </a:schemeClr>
          </a:solidFill>
        </p:spPr>
        <p:txBody>
          <a:bodyPr/>
          <a:lstStyle/>
          <a:p>
            <a:pPr algn="ctr">
              <a:lnSpc>
                <a:spcPct val="80000"/>
              </a:lnSpc>
              <a:spcBef>
                <a:spcPct val="0"/>
              </a:spcBef>
            </a:pPr>
            <a:r>
              <a:rPr lang="zh-CN" altLang="en-US" dirty="0">
                <a:solidFill>
                  <a:srgbClr val="104E87"/>
                </a:solidFill>
                <a:latin typeface="Comic Sans MS" panose="030F0702030302020204" pitchFamily="66" charset="0"/>
                <a:ea typeface="华光行书_CNKI" panose="02000500000000000000" pitchFamily="2" charset="-122"/>
                <a:cs typeface="+mj-cs"/>
              </a:rPr>
              <a:t>函数返回引用</a:t>
            </a:r>
          </a:p>
        </p:txBody>
      </p:sp>
      <p:sp>
        <p:nvSpPr>
          <p:cNvPr id="96" name="矩形 58">
            <a:extLst>
              <a:ext uri="{FF2B5EF4-FFF2-40B4-BE49-F238E27FC236}">
                <a16:creationId xmlns:a16="http://schemas.microsoft.com/office/drawing/2014/main" id="{DA4B340E-6C56-478B-AF2D-99DBC97D995C}"/>
              </a:ext>
            </a:extLst>
          </p:cNvPr>
          <p:cNvSpPr>
            <a:spLocks noChangeArrowheads="1"/>
          </p:cNvSpPr>
          <p:nvPr/>
        </p:nvSpPr>
        <p:spPr bwMode="auto">
          <a:xfrm>
            <a:off x="7767638" y="1743789"/>
            <a:ext cx="4140994"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Aft>
                <a:spcPts val="1200"/>
              </a:spcAft>
            </a:pPr>
            <a:r>
              <a:rPr lang="zh-CN" altLang="en-US" b="0" dirty="0">
                <a:solidFill>
                  <a:srgbClr val="104E87"/>
                </a:solidFill>
                <a:latin typeface="华光行书_CNKI" panose="02000500000000000000" pitchFamily="2" charset="-122"/>
                <a:ea typeface="华光行书_CNKI" panose="02000500000000000000" pitchFamily="2" charset="-122"/>
              </a:rPr>
              <a:t>如果函数的返回值是对象的值，就不应成为左值。</a:t>
            </a:r>
            <a:endParaRPr lang="en-US" altLang="zh-CN" b="0" dirty="0">
              <a:solidFill>
                <a:srgbClr val="104E87"/>
              </a:solidFill>
              <a:latin typeface="华光行书_CNKI" panose="02000500000000000000" pitchFamily="2" charset="-122"/>
              <a:ea typeface="华光行书_CNKI" panose="02000500000000000000" pitchFamily="2" charset="-122"/>
            </a:endParaRPr>
          </a:p>
          <a:p>
            <a:pPr eaLnBrk="1" hangingPunct="1">
              <a:spcAft>
                <a:spcPts val="1200"/>
              </a:spcAft>
            </a:pPr>
            <a:r>
              <a:rPr lang="zh-CN" altLang="en-US" b="0" dirty="0">
                <a:solidFill>
                  <a:srgbClr val="104E87"/>
                </a:solidFill>
                <a:latin typeface="华光行书_CNKI" panose="02000500000000000000" pitchFamily="2" charset="-122"/>
                <a:ea typeface="华光行书_CNKI" panose="02000500000000000000" pitchFamily="2" charset="-122"/>
              </a:rPr>
              <a:t>如果函数返回值为对象的引用，由于引用是对象的别名，通过引用当然可以改变对象的值</a:t>
            </a:r>
          </a:p>
        </p:txBody>
      </p:sp>
      <p:pic>
        <p:nvPicPr>
          <p:cNvPr id="97" name="图片 62">
            <a:extLst>
              <a:ext uri="{FF2B5EF4-FFF2-40B4-BE49-F238E27FC236}">
                <a16:creationId xmlns:a16="http://schemas.microsoft.com/office/drawing/2014/main" id="{C9D8F527-7B24-48DC-BEF2-15EEE2667C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97189" y="4540625"/>
            <a:ext cx="4393224" cy="53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 name="文本框 98">
            <a:extLst>
              <a:ext uri="{FF2B5EF4-FFF2-40B4-BE49-F238E27FC236}">
                <a16:creationId xmlns:a16="http://schemas.microsoft.com/office/drawing/2014/main" id="{84016B85-CA5B-4436-A60B-073DB44C8D77}"/>
              </a:ext>
            </a:extLst>
          </p:cNvPr>
          <p:cNvSpPr txBox="1"/>
          <p:nvPr/>
        </p:nvSpPr>
        <p:spPr>
          <a:xfrm>
            <a:off x="2308703" y="904165"/>
            <a:ext cx="3718509" cy="830997"/>
          </a:xfrm>
          <a:prstGeom prst="rect">
            <a:avLst/>
          </a:prstGeom>
          <a:noFill/>
        </p:spPr>
        <p:txBody>
          <a:bodyPr wrap="square">
            <a:spAutoFit/>
          </a:bodyPr>
          <a:lstStyle/>
          <a:p>
            <a:pPr marL="342900" indent="-342900">
              <a:buFont typeface="Wingdings" panose="05000000000000000000" pitchFamily="2" charset="2"/>
              <a:buChar char="l"/>
            </a:pPr>
            <a:r>
              <a:rPr lang="zh-CN" altLang="en-US" sz="2400" dirty="0">
                <a:solidFill>
                  <a:srgbClr val="104E87"/>
                </a:solidFill>
                <a:latin typeface="Comic Sans MS" panose="030F0702030302020204" pitchFamily="66" charset="0"/>
                <a:ea typeface="华光行书_CNKI" panose="02000500000000000000" pitchFamily="2" charset="-122"/>
              </a:rPr>
              <a:t>赋值运算符重载</a:t>
            </a:r>
            <a:endParaRPr lang="en-US" altLang="zh-CN" sz="2400" dirty="0">
              <a:solidFill>
                <a:srgbClr val="104E87"/>
              </a:solidFill>
              <a:latin typeface="Comic Sans MS" panose="030F0702030302020204" pitchFamily="66" charset="0"/>
              <a:ea typeface="华光行书_CNKI" panose="02000500000000000000" pitchFamily="2" charset="-122"/>
            </a:endParaRPr>
          </a:p>
          <a:p>
            <a:pPr marL="342900" indent="-342900">
              <a:buFont typeface="Wingdings" panose="05000000000000000000" pitchFamily="2" charset="2"/>
              <a:buChar char="l"/>
            </a:pPr>
            <a:r>
              <a:rPr lang="zh-CN" altLang="en-US" dirty="0">
                <a:solidFill>
                  <a:srgbClr val="104E87"/>
                </a:solidFill>
                <a:latin typeface="Comic Sans MS" panose="030F0702030302020204" pitchFamily="66" charset="0"/>
                <a:ea typeface="华光行书_CNKI" panose="02000500000000000000" pitchFamily="2" charset="-122"/>
              </a:rPr>
              <a:t>拷贝构造函数</a:t>
            </a:r>
            <a:endParaRPr lang="zh-CN" altLang="en-US" dirty="0"/>
          </a:p>
        </p:txBody>
      </p:sp>
      <p:sp>
        <p:nvSpPr>
          <p:cNvPr id="100" name="标题 1">
            <a:extLst>
              <a:ext uri="{FF2B5EF4-FFF2-40B4-BE49-F238E27FC236}">
                <a16:creationId xmlns:a16="http://schemas.microsoft.com/office/drawing/2014/main" id="{73F52221-004C-4814-A03F-4826A6378193}"/>
              </a:ext>
            </a:extLst>
          </p:cNvPr>
          <p:cNvSpPr txBox="1">
            <a:spLocks noChangeArrowheads="1"/>
          </p:cNvSpPr>
          <p:nvPr/>
        </p:nvSpPr>
        <p:spPr>
          <a:xfrm>
            <a:off x="5474677" y="915702"/>
            <a:ext cx="1935808" cy="277923"/>
          </a:xfrm>
          <a:prstGeom prst="rect">
            <a:avLst/>
          </a:prstGeom>
          <a:solidFill>
            <a:schemeClr val="accent4">
              <a:lumMod val="40000"/>
              <a:lumOff val="60000"/>
            </a:schemeClr>
          </a:solidFill>
        </p:spPr>
        <p:txBody>
          <a:bodyPr/>
          <a:lstStyle>
            <a:lvl1pPr algn="ctr" defTabSz="609600" rtl="0" eaLnBrk="1" latinLnBrk="0" hangingPunct="1">
              <a:spcBef>
                <a:spcPct val="0"/>
              </a:spcBef>
              <a:buNone/>
              <a:defRPr sz="5865" kern="1200">
                <a:solidFill>
                  <a:schemeClr val="tx1"/>
                </a:solidFill>
                <a:latin typeface="+mj-lt"/>
                <a:ea typeface="+mj-ea"/>
                <a:cs typeface="+mj-cs"/>
              </a:defRPr>
            </a:lvl1pPr>
          </a:lstStyle>
          <a:p>
            <a:pPr>
              <a:lnSpc>
                <a:spcPct val="80000"/>
              </a:lnSpc>
            </a:pPr>
            <a:r>
              <a:rPr lang="zh-CN" altLang="en-US" sz="2400" dirty="0">
                <a:solidFill>
                  <a:srgbClr val="104E87"/>
                </a:solidFill>
                <a:latin typeface="Comic Sans MS" panose="030F0702030302020204" pitchFamily="66" charset="0"/>
                <a:ea typeface="华光行书_CNKI" panose="02000500000000000000" pitchFamily="2" charset="-122"/>
              </a:rPr>
              <a:t>浅拷贝</a:t>
            </a:r>
            <a:br>
              <a:rPr lang="en-US" altLang="zh-CN" sz="2400" dirty="0">
                <a:solidFill>
                  <a:srgbClr val="104E87"/>
                </a:solidFill>
                <a:latin typeface="Comic Sans MS" panose="030F0702030302020204" pitchFamily="66" charset="0"/>
                <a:ea typeface="华光行书_CNKI" panose="02000500000000000000" pitchFamily="2" charset="-122"/>
              </a:rPr>
            </a:br>
            <a:endParaRPr kumimoji="1" lang="zh-CN" altLang="en-US" sz="2400" dirty="0">
              <a:solidFill>
                <a:srgbClr val="104E87"/>
              </a:solidFill>
              <a:latin typeface="Comic Sans MS" panose="030F0702030302020204" pitchFamily="66" charset="0"/>
              <a:ea typeface="华光行书_CNKI" panose="02000500000000000000" pitchFamily="2" charset="-122"/>
            </a:endParaRPr>
          </a:p>
        </p:txBody>
      </p:sp>
      <p:sp>
        <p:nvSpPr>
          <p:cNvPr id="93" name="文本框 92">
            <a:extLst>
              <a:ext uri="{FF2B5EF4-FFF2-40B4-BE49-F238E27FC236}">
                <a16:creationId xmlns:a16="http://schemas.microsoft.com/office/drawing/2014/main" id="{BC75C7D5-CE71-4D7F-A2B5-1C2300885D0B}"/>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11.5 </a:t>
            </a:r>
            <a:r>
              <a:rPr lang="zh-CN" altLang="en-US" dirty="0">
                <a:sym typeface="+mn-lt"/>
              </a:rPr>
              <a:t>案例</a:t>
            </a:r>
            <a:r>
              <a:rPr lang="en-US" altLang="zh-CN" dirty="0">
                <a:sym typeface="+mn-lt"/>
              </a:rPr>
              <a:t>——</a:t>
            </a:r>
            <a:r>
              <a:rPr lang="zh-CN" altLang="en-US" dirty="0"/>
              <a:t>动态数组类模板程序</a:t>
            </a:r>
          </a:p>
        </p:txBody>
      </p:sp>
    </p:spTree>
    <p:extLst>
      <p:ext uri="{BB962C8B-B14F-4D97-AF65-F5344CB8AC3E}">
        <p14:creationId xmlns:p14="http://schemas.microsoft.com/office/powerpoint/2010/main" val="3499004409"/>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500" fill="hold"/>
                                        <p:tgtEl>
                                          <p:spTgt spid="73"/>
                                        </p:tgtEl>
                                        <p:attrNameLst>
                                          <p:attrName>ppt_x</p:attrName>
                                        </p:attrNameLst>
                                      </p:cBhvr>
                                      <p:tavLst>
                                        <p:tav tm="0">
                                          <p:val>
                                            <p:strVal val="#ppt_x"/>
                                          </p:val>
                                        </p:tav>
                                        <p:tav tm="100000">
                                          <p:val>
                                            <p:strVal val="#ppt_x"/>
                                          </p:val>
                                        </p:tav>
                                      </p:tavLst>
                                    </p:anim>
                                    <p:anim calcmode="lin" valueType="num">
                                      <p:cBhvr additive="base">
                                        <p:cTn id="8" dur="500" fill="hold"/>
                                        <p:tgtEl>
                                          <p:spTgt spid="7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71"/>
                                        </p:tgtEl>
                                        <p:attrNameLst>
                                          <p:attrName>style.visibility</p:attrName>
                                        </p:attrNameLst>
                                      </p:cBhvr>
                                      <p:to>
                                        <p:strVal val="visible"/>
                                      </p:to>
                                    </p:set>
                                    <p:animEffect transition="in" filter="fade">
                                      <p:cBhvr>
                                        <p:cTn id="13" dur="1000"/>
                                        <p:tgtEl>
                                          <p:spTgt spid="71"/>
                                        </p:tgtEl>
                                      </p:cBhvr>
                                    </p:animEffect>
                                    <p:anim calcmode="lin" valueType="num">
                                      <p:cBhvr>
                                        <p:cTn id="14" dur="1000" fill="hold"/>
                                        <p:tgtEl>
                                          <p:spTgt spid="71"/>
                                        </p:tgtEl>
                                        <p:attrNameLst>
                                          <p:attrName>ppt_x</p:attrName>
                                        </p:attrNameLst>
                                      </p:cBhvr>
                                      <p:tavLst>
                                        <p:tav tm="0">
                                          <p:val>
                                            <p:strVal val="#ppt_x"/>
                                          </p:val>
                                        </p:tav>
                                        <p:tav tm="100000">
                                          <p:val>
                                            <p:strVal val="#ppt_x"/>
                                          </p:val>
                                        </p:tav>
                                      </p:tavLst>
                                    </p:anim>
                                    <p:anim calcmode="lin" valueType="num">
                                      <p:cBhvr>
                                        <p:cTn id="15"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barn(inVertical)">
                                      <p:cBhvr>
                                        <p:cTn id="20" dur="500"/>
                                        <p:tgtEl>
                                          <p:spTgt spid="15"/>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barn(inVertical)">
                                      <p:cBhvr>
                                        <p:cTn id="23" dur="500"/>
                                        <p:tgtEl>
                                          <p:spTgt spid="17"/>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barn(inVertical)">
                                      <p:cBhvr>
                                        <p:cTn id="26" dur="500"/>
                                        <p:tgtEl>
                                          <p:spTgt spid="18"/>
                                        </p:tgtEl>
                                      </p:cBhvr>
                                    </p:animEffect>
                                  </p:childTnLst>
                                </p:cTn>
                              </p:par>
                              <p:par>
                                <p:cTn id="27" presetID="16" presetClass="entr" presetSubtype="21"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barn(inVertical)">
                                      <p:cBhvr>
                                        <p:cTn id="29" dur="500"/>
                                        <p:tgtEl>
                                          <p:spTgt spid="21"/>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barn(inVertical)">
                                      <p:cBhvr>
                                        <p:cTn id="32" dur="500"/>
                                        <p:tgtEl>
                                          <p:spTgt spid="38"/>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barn(inVertical)">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barn(inVertical)">
                                      <p:cBhvr>
                                        <p:cTn id="40" dur="500"/>
                                        <p:tgtEl>
                                          <p:spTgt spid="16"/>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barn(inVertical)">
                                      <p:cBhvr>
                                        <p:cTn id="43" dur="500"/>
                                        <p:tgtEl>
                                          <p:spTgt spid="40"/>
                                        </p:tgtEl>
                                      </p:cBhvr>
                                    </p:animEffect>
                                  </p:childTnLst>
                                </p:cTn>
                              </p:par>
                              <p:par>
                                <p:cTn id="44" presetID="16" presetClass="entr" presetSubtype="21" fill="hold"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barn(inVertical)">
                                      <p:cBhvr>
                                        <p:cTn id="46" dur="500"/>
                                        <p:tgtEl>
                                          <p:spTgt spid="41"/>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52"/>
                                        </p:tgtEl>
                                        <p:attrNameLst>
                                          <p:attrName>style.visibility</p:attrName>
                                        </p:attrNameLst>
                                      </p:cBhvr>
                                      <p:to>
                                        <p:strVal val="visible"/>
                                      </p:to>
                                    </p:set>
                                    <p:animEffect transition="in" filter="barn(inVertical)">
                                      <p:cBhvr>
                                        <p:cTn id="49" dur="500"/>
                                        <p:tgtEl>
                                          <p:spTgt spid="52"/>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barn(inVertical)">
                                      <p:cBhvr>
                                        <p:cTn id="52" dur="500"/>
                                        <p:tgtEl>
                                          <p:spTgt spid="53"/>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barn(inVertical)">
                                      <p:cBhvr>
                                        <p:cTn id="55" dur="500"/>
                                        <p:tgtEl>
                                          <p:spTgt spid="54"/>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55"/>
                                        </p:tgtEl>
                                        <p:attrNameLst>
                                          <p:attrName>style.visibility</p:attrName>
                                        </p:attrNameLst>
                                      </p:cBhvr>
                                      <p:to>
                                        <p:strVal val="visible"/>
                                      </p:to>
                                    </p:set>
                                    <p:animEffect transition="in" filter="barn(inVertical)">
                                      <p:cBhvr>
                                        <p:cTn id="58" dur="500"/>
                                        <p:tgtEl>
                                          <p:spTgt spid="55"/>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56"/>
                                        </p:tgtEl>
                                        <p:attrNameLst>
                                          <p:attrName>style.visibility</p:attrName>
                                        </p:attrNameLst>
                                      </p:cBhvr>
                                      <p:to>
                                        <p:strVal val="visible"/>
                                      </p:to>
                                    </p:set>
                                    <p:animEffect transition="in" filter="barn(inVertical)">
                                      <p:cBhvr>
                                        <p:cTn id="61" dur="500"/>
                                        <p:tgtEl>
                                          <p:spTgt spid="56"/>
                                        </p:tgtEl>
                                      </p:cBhvr>
                                    </p:animEffect>
                                  </p:childTnLst>
                                </p:cTn>
                              </p:par>
                              <p:par>
                                <p:cTn id="62" presetID="16" presetClass="entr" presetSubtype="21" fill="hold" nodeType="withEffect">
                                  <p:stCondLst>
                                    <p:cond delay="0"/>
                                  </p:stCondLst>
                                  <p:childTnLst>
                                    <p:set>
                                      <p:cBhvr>
                                        <p:cTn id="63" dur="1" fill="hold">
                                          <p:stCondLst>
                                            <p:cond delay="0"/>
                                          </p:stCondLst>
                                        </p:cTn>
                                        <p:tgtEl>
                                          <p:spTgt spid="57"/>
                                        </p:tgtEl>
                                        <p:attrNameLst>
                                          <p:attrName>style.visibility</p:attrName>
                                        </p:attrNameLst>
                                      </p:cBhvr>
                                      <p:to>
                                        <p:strVal val="visible"/>
                                      </p:to>
                                    </p:set>
                                    <p:animEffect transition="in" filter="barn(inVertical)">
                                      <p:cBhvr>
                                        <p:cTn id="64" dur="500"/>
                                        <p:tgtEl>
                                          <p:spTgt spid="57"/>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68"/>
                                        </p:tgtEl>
                                        <p:attrNameLst>
                                          <p:attrName>style.visibility</p:attrName>
                                        </p:attrNameLst>
                                      </p:cBhvr>
                                      <p:to>
                                        <p:strVal val="visible"/>
                                      </p:to>
                                    </p:set>
                                    <p:animEffect transition="in" filter="barn(inVertical)">
                                      <p:cBhvr>
                                        <p:cTn id="67" dur="500"/>
                                        <p:tgtEl>
                                          <p:spTgt spid="68"/>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69"/>
                                        </p:tgtEl>
                                        <p:attrNameLst>
                                          <p:attrName>style.visibility</p:attrName>
                                        </p:attrNameLst>
                                      </p:cBhvr>
                                      <p:to>
                                        <p:strVal val="visible"/>
                                      </p:to>
                                    </p:set>
                                    <p:animEffect transition="in" filter="barn(inVertical)">
                                      <p:cBhvr>
                                        <p:cTn id="70" dur="500"/>
                                        <p:tgtEl>
                                          <p:spTgt spid="69"/>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70"/>
                                        </p:tgtEl>
                                        <p:attrNameLst>
                                          <p:attrName>style.visibility</p:attrName>
                                        </p:attrNameLst>
                                      </p:cBhvr>
                                      <p:to>
                                        <p:strVal val="visible"/>
                                      </p:to>
                                    </p:set>
                                    <p:animEffect transition="in" filter="barn(inVertical)">
                                      <p:cBhvr>
                                        <p:cTn id="73" dur="500"/>
                                        <p:tgtEl>
                                          <p:spTgt spid="7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74"/>
                                        </p:tgtEl>
                                        <p:attrNameLst>
                                          <p:attrName>style.visibility</p:attrName>
                                        </p:attrNameLst>
                                      </p:cBhvr>
                                      <p:to>
                                        <p:strVal val="visible"/>
                                      </p:to>
                                    </p:set>
                                    <p:animEffect transition="in" filter="wipe(down)">
                                      <p:cBhvr>
                                        <p:cTn id="78" dur="500"/>
                                        <p:tgtEl>
                                          <p:spTgt spid="74"/>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75"/>
                                        </p:tgtEl>
                                        <p:attrNameLst>
                                          <p:attrName>style.visibility</p:attrName>
                                        </p:attrNameLst>
                                      </p:cBhvr>
                                      <p:to>
                                        <p:strVal val="visible"/>
                                      </p:to>
                                    </p:set>
                                    <p:animEffect transition="in" filter="wipe(down)">
                                      <p:cBhvr>
                                        <p:cTn id="81" dur="500"/>
                                        <p:tgtEl>
                                          <p:spTgt spid="75"/>
                                        </p:tgtEl>
                                      </p:cBhvr>
                                    </p:animEffect>
                                  </p:childTnLst>
                                </p:cTn>
                              </p:par>
                              <p:par>
                                <p:cTn id="82" presetID="22" presetClass="entr" presetSubtype="4" fill="hold" nodeType="withEffect">
                                  <p:stCondLst>
                                    <p:cond delay="0"/>
                                  </p:stCondLst>
                                  <p:childTnLst>
                                    <p:set>
                                      <p:cBhvr>
                                        <p:cTn id="83" dur="1" fill="hold">
                                          <p:stCondLst>
                                            <p:cond delay="0"/>
                                          </p:stCondLst>
                                        </p:cTn>
                                        <p:tgtEl>
                                          <p:spTgt spid="76"/>
                                        </p:tgtEl>
                                        <p:attrNameLst>
                                          <p:attrName>style.visibility</p:attrName>
                                        </p:attrNameLst>
                                      </p:cBhvr>
                                      <p:to>
                                        <p:strVal val="visible"/>
                                      </p:to>
                                    </p:set>
                                    <p:animEffect transition="in" filter="wipe(down)">
                                      <p:cBhvr>
                                        <p:cTn id="84" dur="500"/>
                                        <p:tgtEl>
                                          <p:spTgt spid="76"/>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87"/>
                                        </p:tgtEl>
                                        <p:attrNameLst>
                                          <p:attrName>style.visibility</p:attrName>
                                        </p:attrNameLst>
                                      </p:cBhvr>
                                      <p:to>
                                        <p:strVal val="visible"/>
                                      </p:to>
                                    </p:set>
                                    <p:animEffect transition="in" filter="wipe(down)">
                                      <p:cBhvr>
                                        <p:cTn id="87" dur="500"/>
                                        <p:tgtEl>
                                          <p:spTgt spid="87"/>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88"/>
                                        </p:tgtEl>
                                        <p:attrNameLst>
                                          <p:attrName>style.visibility</p:attrName>
                                        </p:attrNameLst>
                                      </p:cBhvr>
                                      <p:to>
                                        <p:strVal val="visible"/>
                                      </p:to>
                                    </p:set>
                                    <p:animEffect transition="in" filter="wipe(down)">
                                      <p:cBhvr>
                                        <p:cTn id="90" dur="500"/>
                                        <p:tgtEl>
                                          <p:spTgt spid="88"/>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89"/>
                                        </p:tgtEl>
                                        <p:attrNameLst>
                                          <p:attrName>style.visibility</p:attrName>
                                        </p:attrNameLst>
                                      </p:cBhvr>
                                      <p:to>
                                        <p:strVal val="visible"/>
                                      </p:to>
                                    </p:set>
                                    <p:animEffect transition="in" filter="wipe(down)">
                                      <p:cBhvr>
                                        <p:cTn id="93" dur="500"/>
                                        <p:tgtEl>
                                          <p:spTgt spid="89"/>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90"/>
                                        </p:tgtEl>
                                        <p:attrNameLst>
                                          <p:attrName>style.visibility</p:attrName>
                                        </p:attrNameLst>
                                      </p:cBhvr>
                                      <p:to>
                                        <p:strVal val="visible"/>
                                      </p:to>
                                    </p:set>
                                    <p:animEffect transition="in" filter="wipe(down)">
                                      <p:cBhvr>
                                        <p:cTn id="96" dur="500"/>
                                        <p:tgtEl>
                                          <p:spTgt spid="90"/>
                                        </p:tgtEl>
                                      </p:cBhvr>
                                    </p:animEffect>
                                  </p:childTnLst>
                                </p:cTn>
                              </p:par>
                              <p:par>
                                <p:cTn id="97" presetID="22" presetClass="entr" presetSubtype="4" fill="hold" grpId="0" nodeType="withEffect">
                                  <p:stCondLst>
                                    <p:cond delay="0"/>
                                  </p:stCondLst>
                                  <p:childTnLst>
                                    <p:set>
                                      <p:cBhvr>
                                        <p:cTn id="98" dur="1" fill="hold">
                                          <p:stCondLst>
                                            <p:cond delay="0"/>
                                          </p:stCondLst>
                                        </p:cTn>
                                        <p:tgtEl>
                                          <p:spTgt spid="91"/>
                                        </p:tgtEl>
                                        <p:attrNameLst>
                                          <p:attrName>style.visibility</p:attrName>
                                        </p:attrNameLst>
                                      </p:cBhvr>
                                      <p:to>
                                        <p:strVal val="visible"/>
                                      </p:to>
                                    </p:set>
                                    <p:animEffect transition="in" filter="wipe(down)">
                                      <p:cBhvr>
                                        <p:cTn id="99" dur="500"/>
                                        <p:tgtEl>
                                          <p:spTgt spid="91"/>
                                        </p:tgtEl>
                                      </p:cBhvr>
                                    </p:animEffect>
                                  </p:childTnLst>
                                </p:cTn>
                              </p:par>
                              <p:par>
                                <p:cTn id="100" presetID="22" presetClass="entr" presetSubtype="4" fill="hold" grpId="0" nodeType="withEffect">
                                  <p:stCondLst>
                                    <p:cond delay="0"/>
                                  </p:stCondLst>
                                  <p:childTnLst>
                                    <p:set>
                                      <p:cBhvr>
                                        <p:cTn id="101" dur="1" fill="hold">
                                          <p:stCondLst>
                                            <p:cond delay="0"/>
                                          </p:stCondLst>
                                        </p:cTn>
                                        <p:tgtEl>
                                          <p:spTgt spid="92"/>
                                        </p:tgtEl>
                                        <p:attrNameLst>
                                          <p:attrName>style.visibility</p:attrName>
                                        </p:attrNameLst>
                                      </p:cBhvr>
                                      <p:to>
                                        <p:strVal val="visible"/>
                                      </p:to>
                                    </p:set>
                                    <p:animEffect transition="in" filter="wipe(down)">
                                      <p:cBhvr>
                                        <p:cTn id="102" dur="500"/>
                                        <p:tgtEl>
                                          <p:spTgt spid="92"/>
                                        </p:tgtEl>
                                      </p:cBhvr>
                                    </p:animEffect>
                                  </p:childTnLst>
                                </p:cTn>
                              </p:par>
                              <p:par>
                                <p:cTn id="103" presetID="22" presetClass="entr" presetSubtype="4" fill="hold" grpId="0" nodeType="withEffect">
                                  <p:stCondLst>
                                    <p:cond delay="0"/>
                                  </p:stCondLst>
                                  <p:childTnLst>
                                    <p:set>
                                      <p:cBhvr>
                                        <p:cTn id="104" dur="1" fill="hold">
                                          <p:stCondLst>
                                            <p:cond delay="0"/>
                                          </p:stCondLst>
                                        </p:cTn>
                                        <p:tgtEl>
                                          <p:spTgt spid="100"/>
                                        </p:tgtEl>
                                        <p:attrNameLst>
                                          <p:attrName>style.visibility</p:attrName>
                                        </p:attrNameLst>
                                      </p:cBhvr>
                                      <p:to>
                                        <p:strVal val="visible"/>
                                      </p:to>
                                    </p:set>
                                    <p:animEffect transition="in" filter="wipe(down)">
                                      <p:cBhvr>
                                        <p:cTn id="105"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p:bldP spid="38" grpId="0"/>
      <p:bldP spid="39" grpId="0" animBg="1"/>
      <p:bldP spid="40" grpId="0"/>
      <p:bldP spid="52" grpId="0"/>
      <p:bldP spid="53" grpId="0" animBg="1"/>
      <p:bldP spid="54" grpId="0" animBg="1"/>
      <p:bldP spid="55" grpId="0" animBg="1"/>
      <p:bldP spid="56" grpId="0"/>
      <p:bldP spid="68" grpId="0"/>
      <p:bldP spid="69" grpId="0" animBg="1"/>
      <p:bldP spid="70" grpId="0" animBg="1"/>
      <p:bldP spid="73" grpId="0"/>
      <p:bldP spid="74" grpId="0" animBg="1"/>
      <p:bldP spid="75" grpId="0"/>
      <p:bldP spid="87" grpId="0"/>
      <p:bldP spid="88" grpId="0" animBg="1"/>
      <p:bldP spid="89" grpId="0" animBg="1"/>
      <p:bldP spid="90" grpId="0"/>
      <p:bldP spid="91" grpId="0" animBg="1"/>
      <p:bldP spid="92" grpId="0" animBg="1"/>
      <p:bldP spid="10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9" name="直线连接符 6">
            <a:extLst>
              <a:ext uri="{FF2B5EF4-FFF2-40B4-BE49-F238E27FC236}">
                <a16:creationId xmlns:a16="http://schemas.microsoft.com/office/drawing/2014/main" id="{B14F42C0-3508-43EC-B402-C5D5AEE82C67}"/>
              </a:ext>
            </a:extLst>
          </p:cNvPr>
          <p:cNvCxnSpPr/>
          <p:nvPr/>
        </p:nvCxnSpPr>
        <p:spPr>
          <a:xfrm>
            <a:off x="0"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94" name="矩形 93">
            <a:extLst>
              <a:ext uri="{FF2B5EF4-FFF2-40B4-BE49-F238E27FC236}">
                <a16:creationId xmlns:a16="http://schemas.microsoft.com/office/drawing/2014/main" id="{8C8F2791-63A1-40F0-B636-5CCD0D136195}"/>
              </a:ext>
            </a:extLst>
          </p:cNvPr>
          <p:cNvSpPr/>
          <p:nvPr/>
        </p:nvSpPr>
        <p:spPr>
          <a:xfrm>
            <a:off x="545551" y="903926"/>
            <a:ext cx="2190993" cy="409654"/>
          </a:xfrm>
          <a:prstGeom prst="rect">
            <a:avLst/>
          </a:prstGeom>
          <a:solidFill>
            <a:schemeClr val="accent4">
              <a:lumMod val="40000"/>
              <a:lumOff val="60000"/>
            </a:schemeClr>
          </a:solidFill>
        </p:spPr>
        <p:txBody>
          <a:bodyPr/>
          <a:lstStyle/>
          <a:p>
            <a:pPr algn="ctr">
              <a:lnSpc>
                <a:spcPct val="80000"/>
              </a:lnSpc>
              <a:spcBef>
                <a:spcPct val="0"/>
              </a:spcBef>
            </a:pPr>
            <a:r>
              <a:rPr lang="zh-CN" altLang="en-US" dirty="0">
                <a:solidFill>
                  <a:srgbClr val="104E87"/>
                </a:solidFill>
                <a:latin typeface="Comic Sans MS" panose="030F0702030302020204" pitchFamily="66" charset="0"/>
                <a:ea typeface="华光行书_CNKI" panose="02000500000000000000" pitchFamily="2" charset="-122"/>
                <a:cs typeface="+mj-cs"/>
              </a:rPr>
              <a:t>指针类型转换</a:t>
            </a:r>
          </a:p>
        </p:txBody>
      </p:sp>
      <p:sp>
        <p:nvSpPr>
          <p:cNvPr id="93" name="内容占位符 2">
            <a:extLst>
              <a:ext uri="{FF2B5EF4-FFF2-40B4-BE49-F238E27FC236}">
                <a16:creationId xmlns:a16="http://schemas.microsoft.com/office/drawing/2014/main" id="{CCFB0BAB-9EB0-4544-AD30-43DB47AE892F}"/>
              </a:ext>
            </a:extLst>
          </p:cNvPr>
          <p:cNvSpPr txBox="1">
            <a:spLocks noChangeArrowheads="1"/>
          </p:cNvSpPr>
          <p:nvPr/>
        </p:nvSpPr>
        <p:spPr>
          <a:xfrm>
            <a:off x="104049" y="1807849"/>
            <a:ext cx="3721191" cy="3587750"/>
          </a:xfrm>
          <a:prstGeom prst="rect">
            <a:avLst/>
          </a:prstGeom>
        </p:spPr>
        <p:txBody>
          <a:bodyPr/>
          <a:lstStyle>
            <a:lvl1pPr marL="457200" indent="-457200" algn="l" defTabSz="609600" rtl="0" eaLnBrk="1" latinLnBrk="0" hangingPunct="1">
              <a:spcBef>
                <a:spcPct val="20000"/>
              </a:spcBef>
              <a:buFont typeface="Arial" panose="020B0604020202020204"/>
              <a:buChar char="•"/>
              <a:defRPr sz="4265" kern="1200">
                <a:solidFill>
                  <a:schemeClr val="tx1"/>
                </a:solidFill>
                <a:latin typeface="+mn-lt"/>
                <a:ea typeface="+mn-ea"/>
                <a:cs typeface="+mn-cs"/>
              </a:defRPr>
            </a:lvl1pPr>
            <a:lvl2pPr marL="990600" indent="-381000" algn="l" defTabSz="609600" rtl="0" eaLnBrk="1" latinLnBrk="0" hangingPunct="1">
              <a:spcBef>
                <a:spcPct val="20000"/>
              </a:spcBef>
              <a:buFont typeface="Arial" panose="020B0604020202020204"/>
              <a:buChar char="–"/>
              <a:defRPr sz="3735" kern="1200">
                <a:solidFill>
                  <a:schemeClr val="tx1"/>
                </a:solidFill>
                <a:latin typeface="+mn-lt"/>
                <a:ea typeface="+mn-ea"/>
                <a:cs typeface="+mn-cs"/>
              </a:defRPr>
            </a:lvl2pPr>
            <a:lvl3pPr marL="1524000" indent="-304800" algn="l" defTabSz="609600" rtl="0" eaLnBrk="1" latinLnBrk="0" hangingPunct="1">
              <a:spcBef>
                <a:spcPct val="20000"/>
              </a:spcBef>
              <a:buFont typeface="Arial" panose="020B0604020202020204"/>
              <a:buChar char="•"/>
              <a:defRPr sz="3200" kern="1200">
                <a:solidFill>
                  <a:schemeClr val="tx1"/>
                </a:solidFill>
                <a:latin typeface="+mn-lt"/>
                <a:ea typeface="+mn-ea"/>
                <a:cs typeface="+mn-cs"/>
              </a:defRPr>
            </a:lvl3pPr>
            <a:lvl4pPr marL="2133600"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4pPr>
            <a:lvl5pPr marL="27425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5pPr>
            <a:lvl6pPr marL="33521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6pPr>
            <a:lvl7pPr marL="39617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7pPr>
            <a:lvl8pPr marL="45713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8pPr>
            <a:lvl9pPr marL="5180965" indent="-304800" algn="l" defTabSz="609600" rtl="0" eaLnBrk="1" latinLnBrk="0" hangingPunct="1">
              <a:spcBef>
                <a:spcPct val="20000"/>
              </a:spcBef>
              <a:buFont typeface="Arial" panose="020B0604020202020204"/>
              <a:buChar char="•"/>
              <a:defRPr sz="2665" kern="1200">
                <a:solidFill>
                  <a:schemeClr val="tx1"/>
                </a:solidFill>
                <a:latin typeface="+mn-lt"/>
                <a:ea typeface="+mn-ea"/>
                <a:cs typeface="+mn-cs"/>
              </a:defRPr>
            </a:lvl9pPr>
          </a:lstStyle>
          <a:p>
            <a:pPr marL="358775" indent="-250825">
              <a:spcBef>
                <a:spcPct val="0"/>
              </a:spcBef>
              <a:buFont typeface="Wingdings" panose="05000000000000000000" pitchFamily="2" charset="2"/>
              <a:buNone/>
            </a:pPr>
            <a:r>
              <a:rPr lang="en-US" altLang="zh-CN" sz="2000" dirty="0">
                <a:solidFill>
                  <a:srgbClr val="104E87"/>
                </a:solidFill>
                <a:latin typeface="Comic Sans MS" panose="030F0702030302020204" pitchFamily="66" charset="0"/>
              </a:rPr>
              <a:t>#include &lt;iostream&gt;</a:t>
            </a:r>
          </a:p>
          <a:p>
            <a:pPr marL="358775" indent="-250825">
              <a:spcBef>
                <a:spcPct val="0"/>
              </a:spcBef>
              <a:buFont typeface="Wingdings" panose="05000000000000000000" pitchFamily="2" charset="2"/>
              <a:buNone/>
            </a:pPr>
            <a:r>
              <a:rPr lang="en-US" altLang="zh-CN" sz="2000" dirty="0">
                <a:solidFill>
                  <a:srgbClr val="104E87"/>
                </a:solidFill>
                <a:latin typeface="Comic Sans MS" panose="030F0702030302020204" pitchFamily="66" charset="0"/>
              </a:rPr>
              <a:t>using namespace std;</a:t>
            </a:r>
          </a:p>
          <a:p>
            <a:pPr marL="358775" indent="-250825">
              <a:spcBef>
                <a:spcPct val="0"/>
              </a:spcBef>
              <a:buFont typeface="Wingdings" panose="05000000000000000000" pitchFamily="2" charset="2"/>
              <a:buNone/>
            </a:pPr>
            <a:endParaRPr lang="en-US" altLang="zh-CN" sz="2000" dirty="0">
              <a:solidFill>
                <a:srgbClr val="104E87"/>
              </a:solidFill>
              <a:latin typeface="Comic Sans MS" panose="030F0702030302020204" pitchFamily="66" charset="0"/>
            </a:endParaRPr>
          </a:p>
          <a:p>
            <a:pPr marL="358775" indent="-250825">
              <a:spcBef>
                <a:spcPct val="0"/>
              </a:spcBef>
              <a:buFont typeface="Wingdings" panose="05000000000000000000" pitchFamily="2" charset="2"/>
              <a:buNone/>
            </a:pPr>
            <a:r>
              <a:rPr lang="en-US" altLang="zh-CN" sz="2000" dirty="0">
                <a:solidFill>
                  <a:srgbClr val="104E87"/>
                </a:solidFill>
                <a:latin typeface="Comic Sans MS" panose="030F0702030302020204" pitchFamily="66" charset="0"/>
              </a:rPr>
              <a:t>void read(int *p, int n) {</a:t>
            </a:r>
          </a:p>
          <a:p>
            <a:pPr marL="358775" indent="-250825">
              <a:spcBef>
                <a:spcPct val="0"/>
              </a:spcBef>
              <a:buFont typeface="Wingdings" panose="05000000000000000000" pitchFamily="2" charset="2"/>
              <a:buNone/>
            </a:pPr>
            <a:r>
              <a:rPr lang="en-US" altLang="zh-CN" sz="2000" dirty="0">
                <a:solidFill>
                  <a:srgbClr val="104E87"/>
                </a:solidFill>
                <a:latin typeface="Comic Sans MS" panose="030F0702030302020204" pitchFamily="66" charset="0"/>
              </a:rPr>
              <a:t> for (int </a:t>
            </a:r>
            <a:r>
              <a:rPr lang="en-US" altLang="zh-CN" sz="2000" dirty="0" err="1">
                <a:solidFill>
                  <a:srgbClr val="104E87"/>
                </a:solidFill>
                <a:latin typeface="Comic Sans MS" panose="030F0702030302020204" pitchFamily="66" charset="0"/>
              </a:rPr>
              <a:t>i</a:t>
            </a:r>
            <a:r>
              <a:rPr lang="en-US" altLang="zh-CN" sz="2000" dirty="0">
                <a:solidFill>
                  <a:srgbClr val="104E87"/>
                </a:solidFill>
                <a:latin typeface="Comic Sans MS" panose="030F0702030302020204" pitchFamily="66" charset="0"/>
              </a:rPr>
              <a:t> = 0; </a:t>
            </a:r>
            <a:r>
              <a:rPr lang="en-US" altLang="zh-CN" sz="2000" dirty="0" err="1">
                <a:solidFill>
                  <a:srgbClr val="104E87"/>
                </a:solidFill>
                <a:latin typeface="Comic Sans MS" panose="030F0702030302020204" pitchFamily="66" charset="0"/>
              </a:rPr>
              <a:t>i</a:t>
            </a:r>
            <a:r>
              <a:rPr lang="en-US" altLang="zh-CN" sz="2000" dirty="0">
                <a:solidFill>
                  <a:srgbClr val="104E87"/>
                </a:solidFill>
                <a:latin typeface="Comic Sans MS" panose="030F0702030302020204" pitchFamily="66" charset="0"/>
              </a:rPr>
              <a:t> &lt; n; </a:t>
            </a:r>
            <a:r>
              <a:rPr lang="en-US" altLang="zh-CN" sz="2000" dirty="0" err="1">
                <a:solidFill>
                  <a:srgbClr val="104E87"/>
                </a:solidFill>
                <a:latin typeface="Comic Sans MS" panose="030F0702030302020204" pitchFamily="66" charset="0"/>
              </a:rPr>
              <a:t>i</a:t>
            </a:r>
            <a:r>
              <a:rPr lang="en-US" altLang="zh-CN" sz="2000" dirty="0">
                <a:solidFill>
                  <a:srgbClr val="104E87"/>
                </a:solidFill>
                <a:latin typeface="Comic Sans MS" panose="030F0702030302020204" pitchFamily="66" charset="0"/>
              </a:rPr>
              <a:t>++)</a:t>
            </a:r>
          </a:p>
          <a:p>
            <a:pPr marL="358775" indent="-250825">
              <a:spcBef>
                <a:spcPct val="0"/>
              </a:spcBef>
              <a:buFont typeface="Wingdings" panose="05000000000000000000" pitchFamily="2" charset="2"/>
              <a:buNone/>
            </a:pPr>
            <a:r>
              <a:rPr lang="en-US" altLang="zh-CN" sz="2000" dirty="0">
                <a:solidFill>
                  <a:srgbClr val="104E87"/>
                </a:solidFill>
                <a:latin typeface="Comic Sans MS" panose="030F0702030302020204" pitchFamily="66" charset="0"/>
              </a:rPr>
              <a:t>    </a:t>
            </a:r>
            <a:r>
              <a:rPr lang="en-US" altLang="zh-CN" sz="2000" dirty="0" err="1">
                <a:solidFill>
                  <a:srgbClr val="104E87"/>
                </a:solidFill>
                <a:latin typeface="Comic Sans MS" panose="030F0702030302020204" pitchFamily="66" charset="0"/>
              </a:rPr>
              <a:t>cin</a:t>
            </a:r>
            <a:r>
              <a:rPr lang="en-US" altLang="zh-CN" sz="2000" dirty="0">
                <a:solidFill>
                  <a:srgbClr val="104E87"/>
                </a:solidFill>
                <a:latin typeface="Comic Sans MS" panose="030F0702030302020204" pitchFamily="66" charset="0"/>
              </a:rPr>
              <a:t> &gt;&gt; p[</a:t>
            </a:r>
            <a:r>
              <a:rPr lang="en-US" altLang="zh-CN" sz="2000" dirty="0" err="1">
                <a:solidFill>
                  <a:srgbClr val="104E87"/>
                </a:solidFill>
                <a:latin typeface="Comic Sans MS" panose="030F0702030302020204" pitchFamily="66" charset="0"/>
              </a:rPr>
              <a:t>i</a:t>
            </a:r>
            <a:r>
              <a:rPr lang="en-US" altLang="zh-CN" sz="2000" dirty="0">
                <a:solidFill>
                  <a:srgbClr val="104E87"/>
                </a:solidFill>
                <a:latin typeface="Comic Sans MS" panose="030F0702030302020204" pitchFamily="66" charset="0"/>
              </a:rPr>
              <a:t>];</a:t>
            </a:r>
          </a:p>
          <a:p>
            <a:pPr marL="358775" indent="-250825">
              <a:spcBef>
                <a:spcPct val="0"/>
              </a:spcBef>
              <a:buFont typeface="Wingdings" panose="05000000000000000000" pitchFamily="2" charset="2"/>
              <a:buNone/>
            </a:pPr>
            <a:r>
              <a:rPr lang="en-US" altLang="zh-CN" sz="2000" dirty="0">
                <a:solidFill>
                  <a:srgbClr val="104E87"/>
                </a:solidFill>
                <a:latin typeface="Comic Sans MS" panose="030F0702030302020204" pitchFamily="66" charset="0"/>
              </a:rPr>
              <a:t>}</a:t>
            </a:r>
          </a:p>
          <a:p>
            <a:pPr marL="358775" indent="-250825">
              <a:spcBef>
                <a:spcPct val="0"/>
              </a:spcBef>
              <a:buFont typeface="Wingdings" panose="05000000000000000000" pitchFamily="2" charset="2"/>
              <a:buNone/>
            </a:pPr>
            <a:r>
              <a:rPr lang="en-US" altLang="zh-CN" sz="2000" dirty="0">
                <a:solidFill>
                  <a:srgbClr val="104E87"/>
                </a:solidFill>
                <a:latin typeface="Comic Sans MS" panose="030F0702030302020204" pitchFamily="66" charset="0"/>
              </a:rPr>
              <a:t>int main() {</a:t>
            </a:r>
          </a:p>
          <a:p>
            <a:pPr marL="358775" indent="-250825">
              <a:spcBef>
                <a:spcPct val="0"/>
              </a:spcBef>
              <a:buFont typeface="Wingdings" panose="05000000000000000000" pitchFamily="2" charset="2"/>
              <a:buNone/>
            </a:pPr>
            <a:r>
              <a:rPr lang="en-US" altLang="zh-CN" sz="2000" dirty="0">
                <a:solidFill>
                  <a:srgbClr val="104E87"/>
                </a:solidFill>
                <a:latin typeface="Comic Sans MS" panose="030F0702030302020204" pitchFamily="66" charset="0"/>
              </a:rPr>
              <a:t> int a[10];</a:t>
            </a:r>
          </a:p>
          <a:p>
            <a:pPr marL="358775" indent="-250825">
              <a:spcBef>
                <a:spcPct val="0"/>
              </a:spcBef>
              <a:buFont typeface="Wingdings" panose="05000000000000000000" pitchFamily="2" charset="2"/>
              <a:buNone/>
            </a:pPr>
            <a:r>
              <a:rPr lang="en-US" altLang="zh-CN" sz="2000" dirty="0">
                <a:solidFill>
                  <a:srgbClr val="104E87"/>
                </a:solidFill>
                <a:latin typeface="Comic Sans MS" panose="030F0702030302020204" pitchFamily="66" charset="0"/>
              </a:rPr>
              <a:t> read(a, 10);</a:t>
            </a:r>
          </a:p>
          <a:p>
            <a:pPr marL="358775" indent="-250825">
              <a:spcBef>
                <a:spcPct val="0"/>
              </a:spcBef>
              <a:buFont typeface="Wingdings" panose="05000000000000000000" pitchFamily="2" charset="2"/>
              <a:buNone/>
            </a:pPr>
            <a:r>
              <a:rPr lang="en-US" altLang="zh-CN" sz="2000" dirty="0">
                <a:solidFill>
                  <a:srgbClr val="104E87"/>
                </a:solidFill>
                <a:latin typeface="Comic Sans MS" panose="030F0702030302020204" pitchFamily="66" charset="0"/>
              </a:rPr>
              <a:t> return 0;</a:t>
            </a:r>
          </a:p>
          <a:p>
            <a:pPr marL="358775" indent="-250825">
              <a:spcBef>
                <a:spcPct val="0"/>
              </a:spcBef>
              <a:buFont typeface="Wingdings" panose="05000000000000000000" pitchFamily="2" charset="2"/>
              <a:buNone/>
            </a:pPr>
            <a:r>
              <a:rPr lang="en-US" altLang="zh-CN" sz="2000" dirty="0">
                <a:solidFill>
                  <a:srgbClr val="104E87"/>
                </a:solidFill>
                <a:latin typeface="Comic Sans MS" panose="030F0702030302020204" pitchFamily="66" charset="0"/>
              </a:rPr>
              <a:t>}</a:t>
            </a:r>
          </a:p>
        </p:txBody>
      </p:sp>
      <p:sp>
        <p:nvSpPr>
          <p:cNvPr id="95" name="内容占位符 3">
            <a:extLst>
              <a:ext uri="{FF2B5EF4-FFF2-40B4-BE49-F238E27FC236}">
                <a16:creationId xmlns:a16="http://schemas.microsoft.com/office/drawing/2014/main" id="{2DE09C02-1F55-495F-A8F9-38DFD3599BD0}"/>
              </a:ext>
            </a:extLst>
          </p:cNvPr>
          <p:cNvSpPr txBox="1">
            <a:spLocks/>
          </p:cNvSpPr>
          <p:nvPr/>
        </p:nvSpPr>
        <p:spPr>
          <a:xfrm>
            <a:off x="4187480" y="1637128"/>
            <a:ext cx="4213225" cy="4233127"/>
          </a:xfrm>
          <a:prstGeom prst="rect">
            <a:avLst/>
          </a:prstGeom>
        </p:spPr>
        <p:txBody>
          <a:bodyPr/>
          <a:lstStyle>
            <a:defPPr>
              <a:defRPr lang="en-US"/>
            </a:defPPr>
            <a:lvl1pPr marL="358775" indent="-250825">
              <a:spcBef>
                <a:spcPct val="0"/>
              </a:spcBef>
              <a:buFont typeface="Wingdings" panose="05000000000000000000" pitchFamily="2" charset="2"/>
              <a:buNone/>
              <a:defRPr sz="2000">
                <a:solidFill>
                  <a:srgbClr val="104E87"/>
                </a:solidFill>
                <a:latin typeface="Comic Sans MS" panose="030F0702030302020204" pitchFamily="66" charset="0"/>
              </a:defRPr>
            </a:lvl1pPr>
            <a:lvl2pPr marL="990600" indent="-381000">
              <a:spcBef>
                <a:spcPct val="20000"/>
              </a:spcBef>
              <a:buFont typeface="Arial" panose="020B0604020202020204"/>
              <a:buChar char="–"/>
              <a:defRPr sz="3735"/>
            </a:lvl2pPr>
            <a:lvl3pPr marL="1524000" indent="-304800">
              <a:spcBef>
                <a:spcPct val="20000"/>
              </a:spcBef>
              <a:buFont typeface="Arial" panose="020B0604020202020204"/>
              <a:buChar char="•"/>
              <a:defRPr sz="3200"/>
            </a:lvl3pPr>
            <a:lvl4pPr marL="2133600" indent="-304800">
              <a:spcBef>
                <a:spcPct val="20000"/>
              </a:spcBef>
              <a:buFont typeface="Arial" panose="020B0604020202020204"/>
              <a:buChar char="–"/>
              <a:defRPr sz="2665"/>
            </a:lvl4pPr>
            <a:lvl5pPr marL="2742565" indent="-304800">
              <a:spcBef>
                <a:spcPct val="20000"/>
              </a:spcBef>
              <a:buFont typeface="Arial" panose="020B0604020202020204"/>
              <a:buChar char="»"/>
              <a:defRPr sz="2665"/>
            </a:lvl5pPr>
            <a:lvl6pPr marL="3352165" indent="-304800">
              <a:spcBef>
                <a:spcPct val="20000"/>
              </a:spcBef>
              <a:buFont typeface="Arial" panose="020B0604020202020204"/>
              <a:buChar char="•"/>
              <a:defRPr sz="2665"/>
            </a:lvl6pPr>
            <a:lvl7pPr marL="3961765" indent="-304800">
              <a:spcBef>
                <a:spcPct val="20000"/>
              </a:spcBef>
              <a:buFont typeface="Arial" panose="020B0604020202020204"/>
              <a:buChar char="•"/>
              <a:defRPr sz="2665"/>
            </a:lvl7pPr>
            <a:lvl8pPr marL="4571365" indent="-304800">
              <a:spcBef>
                <a:spcPct val="20000"/>
              </a:spcBef>
              <a:buFont typeface="Arial" panose="020B0604020202020204"/>
              <a:buChar char="•"/>
              <a:defRPr sz="2665"/>
            </a:lvl8pPr>
            <a:lvl9pPr marL="5180965" indent="-304800">
              <a:spcBef>
                <a:spcPct val="20000"/>
              </a:spcBef>
              <a:buFont typeface="Arial" panose="020B0604020202020204"/>
              <a:buChar char="•"/>
              <a:defRPr sz="2665"/>
            </a:lvl9pPr>
          </a:lstStyle>
          <a:p>
            <a:r>
              <a:rPr lang="en-US" altLang="zh-CN" dirty="0"/>
              <a:t>#include "</a:t>
            </a:r>
            <a:r>
              <a:rPr lang="en-US" altLang="zh-CN" dirty="0" err="1"/>
              <a:t>Array.h</a:t>
            </a:r>
            <a:r>
              <a:rPr lang="en-US" altLang="zh-CN" dirty="0"/>
              <a:t>"</a:t>
            </a:r>
          </a:p>
          <a:p>
            <a:r>
              <a:rPr lang="en-US" altLang="zh-CN" dirty="0"/>
              <a:t>#include &lt;iostream&gt;</a:t>
            </a:r>
          </a:p>
          <a:p>
            <a:r>
              <a:rPr lang="en-US" altLang="zh-CN" dirty="0"/>
              <a:t>using namespace std;</a:t>
            </a:r>
          </a:p>
          <a:p>
            <a:endParaRPr lang="en-US" altLang="zh-CN" dirty="0"/>
          </a:p>
          <a:p>
            <a:r>
              <a:rPr lang="en-US" altLang="zh-CN" dirty="0"/>
              <a:t>void read(int *p, int n) {</a:t>
            </a:r>
          </a:p>
          <a:p>
            <a:r>
              <a:rPr lang="en-US" altLang="zh-CN" dirty="0"/>
              <a:t> for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a:t>
            </a:r>
          </a:p>
          <a:p>
            <a:r>
              <a:rPr lang="en-US" altLang="zh-CN" dirty="0"/>
              <a:t>   </a:t>
            </a:r>
            <a:r>
              <a:rPr lang="en-US" altLang="zh-CN" dirty="0" err="1"/>
              <a:t>cin</a:t>
            </a:r>
            <a:r>
              <a:rPr lang="en-US" altLang="zh-CN" dirty="0"/>
              <a:t> &gt;&gt; p[</a:t>
            </a:r>
            <a:r>
              <a:rPr lang="en-US" altLang="zh-CN" dirty="0" err="1"/>
              <a:t>i</a:t>
            </a:r>
            <a:r>
              <a:rPr lang="en-US" altLang="zh-CN" dirty="0"/>
              <a:t>];</a:t>
            </a:r>
          </a:p>
          <a:p>
            <a:r>
              <a:rPr lang="en-US" altLang="zh-CN" dirty="0"/>
              <a:t>}</a:t>
            </a:r>
          </a:p>
          <a:p>
            <a:r>
              <a:rPr lang="en-US" altLang="zh-CN" dirty="0"/>
              <a:t>int main() {</a:t>
            </a:r>
          </a:p>
          <a:p>
            <a:r>
              <a:rPr lang="en-US" altLang="zh-CN" dirty="0">
                <a:solidFill>
                  <a:srgbClr val="FF0000"/>
                </a:solidFill>
              </a:rPr>
              <a:t>Array&lt;int&gt; a(10);</a:t>
            </a:r>
          </a:p>
          <a:p>
            <a:r>
              <a:rPr lang="en-US" altLang="zh-CN" dirty="0"/>
              <a:t> read(a, 10);</a:t>
            </a:r>
          </a:p>
          <a:p>
            <a:r>
              <a:rPr lang="en-US" altLang="zh-CN" dirty="0"/>
              <a:t> return 0;</a:t>
            </a:r>
          </a:p>
          <a:p>
            <a:r>
              <a:rPr lang="en-US" altLang="zh-CN" dirty="0"/>
              <a:t>}</a:t>
            </a:r>
          </a:p>
        </p:txBody>
      </p:sp>
      <p:sp>
        <p:nvSpPr>
          <p:cNvPr id="102" name="Line 5">
            <a:extLst>
              <a:ext uri="{FF2B5EF4-FFF2-40B4-BE49-F238E27FC236}">
                <a16:creationId xmlns:a16="http://schemas.microsoft.com/office/drawing/2014/main" id="{A4E7E8C1-9B47-4BC3-A6F6-35706ACDFA31}"/>
              </a:ext>
            </a:extLst>
          </p:cNvPr>
          <p:cNvSpPr>
            <a:spLocks noChangeShapeType="1"/>
          </p:cNvSpPr>
          <p:nvPr/>
        </p:nvSpPr>
        <p:spPr bwMode="auto">
          <a:xfrm>
            <a:off x="12201563" y="2042822"/>
            <a:ext cx="0" cy="3673475"/>
          </a:xfrm>
          <a:prstGeom prst="line">
            <a:avLst/>
          </a:prstGeom>
          <a:noFill/>
          <a:ln w="9525">
            <a:solidFill>
              <a:schemeClr val="tx1"/>
            </a:solidFill>
            <a:prstDash val="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文本框 102">
            <a:extLst>
              <a:ext uri="{FF2B5EF4-FFF2-40B4-BE49-F238E27FC236}">
                <a16:creationId xmlns:a16="http://schemas.microsoft.com/office/drawing/2014/main" id="{FA51D346-29E9-4E02-9794-F7098F7CD077}"/>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11.5 </a:t>
            </a:r>
            <a:r>
              <a:rPr lang="zh-CN" altLang="en-US" dirty="0">
                <a:sym typeface="+mn-lt"/>
              </a:rPr>
              <a:t>案例</a:t>
            </a:r>
            <a:r>
              <a:rPr lang="en-US" altLang="zh-CN" dirty="0">
                <a:sym typeface="+mn-lt"/>
              </a:rPr>
              <a:t>——</a:t>
            </a:r>
            <a:r>
              <a:rPr lang="zh-CN" altLang="en-US" dirty="0"/>
              <a:t>动态数组类模板程序</a:t>
            </a:r>
          </a:p>
        </p:txBody>
      </p:sp>
    </p:spTree>
    <p:extLst>
      <p:ext uri="{BB962C8B-B14F-4D97-AF65-F5344CB8AC3E}">
        <p14:creationId xmlns:p14="http://schemas.microsoft.com/office/powerpoint/2010/main" val="1611998690"/>
      </p:ext>
    </p:extLst>
  </p:cSld>
  <p:clrMapOvr>
    <a:masterClrMapping/>
  </p:clrMapOvr>
  <mc:AlternateContent xmlns:mc="http://schemas.openxmlformats.org/markup-compatibility/2006" xmlns:p14="http://schemas.microsoft.com/office/powerpoint/2010/main">
    <mc:Choice Requires="p14">
      <p:transition spd="slow" p14:dur="1300">
        <p14:pan/>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3AF97C0-3005-4A40-85D6-4A85152721EA}"/>
              </a:ext>
            </a:extLst>
          </p:cNvPr>
          <p:cNvSpPr/>
          <p:nvPr/>
        </p:nvSpPr>
        <p:spPr>
          <a:xfrm>
            <a:off x="794" y="176798"/>
            <a:ext cx="12190413" cy="728917"/>
          </a:xfrm>
          <a:prstGeom prst="rect">
            <a:avLst/>
          </a:prstGeom>
          <a:solidFill>
            <a:srgbClr val="26CC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p>
        </p:txBody>
      </p:sp>
      <p:cxnSp>
        <p:nvCxnSpPr>
          <p:cNvPr id="7" name="直线连接符 6">
            <a:extLst>
              <a:ext uri="{FF2B5EF4-FFF2-40B4-BE49-F238E27FC236}">
                <a16:creationId xmlns:a16="http://schemas.microsoft.com/office/drawing/2014/main" id="{60309972-5B6E-49CF-A34D-D9985B85782A}"/>
              </a:ext>
            </a:extLst>
          </p:cNvPr>
          <p:cNvCxnSpPr/>
          <p:nvPr/>
        </p:nvCxnSpPr>
        <p:spPr>
          <a:xfrm>
            <a:off x="1587" y="905715"/>
            <a:ext cx="12190413" cy="0"/>
          </a:xfrm>
          <a:prstGeom prst="line">
            <a:avLst/>
          </a:prstGeom>
          <a:ln>
            <a:solidFill>
              <a:srgbClr val="104D7E"/>
            </a:solidFill>
          </a:ln>
          <a:effectLst/>
        </p:spPr>
        <p:style>
          <a:lnRef idx="2">
            <a:schemeClr val="accent1"/>
          </a:lnRef>
          <a:fillRef idx="0">
            <a:schemeClr val="accent1"/>
          </a:fillRef>
          <a:effectRef idx="1">
            <a:schemeClr val="accent1"/>
          </a:effectRef>
          <a:fontRef idx="minor">
            <a:schemeClr val="tx1"/>
          </a:fontRef>
        </p:style>
      </p:cxnSp>
      <p:sp>
        <p:nvSpPr>
          <p:cNvPr id="8" name="文本框 7">
            <a:extLst>
              <a:ext uri="{FF2B5EF4-FFF2-40B4-BE49-F238E27FC236}">
                <a16:creationId xmlns:a16="http://schemas.microsoft.com/office/drawing/2014/main" id="{C3465B0A-5BF0-4ADC-89FC-8C721AB17EC1}"/>
              </a:ext>
            </a:extLst>
          </p:cNvPr>
          <p:cNvSpPr txBox="1"/>
          <p:nvPr/>
        </p:nvSpPr>
        <p:spPr>
          <a:xfrm>
            <a:off x="247719" y="224527"/>
            <a:ext cx="7794312" cy="584775"/>
          </a:xfrm>
          <a:prstGeom prst="rect">
            <a:avLst/>
          </a:prstGeom>
          <a:noFill/>
        </p:spPr>
        <p:txBody>
          <a:bodyPr wrap="square" rtlCol="0">
            <a:spAutoFit/>
          </a:bodyPr>
          <a:lstStyle>
            <a:defPPr>
              <a:defRPr lang="en-US"/>
            </a:defPPr>
            <a:lvl1pPr>
              <a:defRPr kumimoji="1" sz="3200" b="1">
                <a:latin typeface="华光胖头鱼_CNKI" panose="02000500000000000000" pitchFamily="2" charset="-122"/>
                <a:ea typeface="华光胖头鱼_CNKI" panose="02000500000000000000" pitchFamily="2" charset="-122"/>
              </a:defRPr>
            </a:lvl1pPr>
          </a:lstStyle>
          <a:p>
            <a:r>
              <a:rPr lang="en-US" altLang="zh-CN" dirty="0">
                <a:sym typeface="+mn-lt"/>
              </a:rPr>
              <a:t>11.6 </a:t>
            </a:r>
            <a:r>
              <a:rPr lang="zh-CN" altLang="en-US" dirty="0">
                <a:sym typeface="+mn-lt"/>
              </a:rPr>
              <a:t>本章作业</a:t>
            </a:r>
          </a:p>
        </p:txBody>
      </p:sp>
      <p:sp>
        <p:nvSpPr>
          <p:cNvPr id="9" name="矩形 5">
            <a:extLst>
              <a:ext uri="{FF2B5EF4-FFF2-40B4-BE49-F238E27FC236}">
                <a16:creationId xmlns:a16="http://schemas.microsoft.com/office/drawing/2014/main" id="{2A36A41C-786B-4330-8317-2D1ABDB73B2A}"/>
              </a:ext>
            </a:extLst>
          </p:cNvPr>
          <p:cNvSpPr>
            <a:spLocks noChangeArrowheads="1"/>
          </p:cNvSpPr>
          <p:nvPr/>
        </p:nvSpPr>
        <p:spPr bwMode="auto">
          <a:xfrm>
            <a:off x="171519" y="1301955"/>
            <a:ext cx="431292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sz="2400" b="1">
                <a:solidFill>
                  <a:schemeClr val="tx1"/>
                </a:solidFill>
                <a:latin typeface="Times New Roman" panose="02020603050405020304" pitchFamily="18" charset="0"/>
                <a:ea typeface="宋体" panose="02010600030101010101" pitchFamily="2" charset="-122"/>
              </a:defRPr>
            </a:lvl1pPr>
            <a:lvl2pPr>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lvl="1">
              <a:spcAft>
                <a:spcPts val="1200"/>
              </a:spcAft>
            </a:pPr>
            <a:r>
              <a:rPr lang="zh-CN" altLang="en-US" b="0" dirty="0">
                <a:solidFill>
                  <a:srgbClr val="104E87"/>
                </a:solidFill>
                <a:latin typeface="华光行书_CNKI" panose="02000500000000000000" pitchFamily="2" charset="-122"/>
                <a:ea typeface="华光行书_CNKI" panose="02000500000000000000" pitchFamily="2" charset="-122"/>
              </a:rPr>
              <a:t>用函数模板实现冒泡排序</a:t>
            </a:r>
            <a:endParaRPr lang="en-US" altLang="zh-CN" b="0" dirty="0">
              <a:solidFill>
                <a:srgbClr val="104E87"/>
              </a:solidFill>
              <a:latin typeface="华光行书_CNKI" panose="02000500000000000000" pitchFamily="2" charset="-122"/>
              <a:ea typeface="华光行书_CNKI" panose="02000500000000000000" pitchFamily="2" charset="-122"/>
            </a:endParaRPr>
          </a:p>
          <a:p>
            <a:pPr marL="0" lvl="1">
              <a:spcAft>
                <a:spcPts val="1200"/>
              </a:spcAft>
            </a:pPr>
            <a:r>
              <a:rPr lang="zh-CN" altLang="en-US" b="0" dirty="0">
                <a:solidFill>
                  <a:srgbClr val="104E87"/>
                </a:solidFill>
                <a:latin typeface="华光行书_CNKI" panose="02000500000000000000" pitchFamily="2" charset="-122"/>
                <a:ea typeface="华光行书_CNKI" panose="02000500000000000000" pitchFamily="2" charset="-122"/>
              </a:rPr>
              <a:t>用函数模板实现选择排序</a:t>
            </a:r>
            <a:endParaRPr lang="en-US" altLang="zh-CN" b="0" dirty="0">
              <a:solidFill>
                <a:srgbClr val="104E87"/>
              </a:solidFill>
              <a:latin typeface="华光行书_CNKI" panose="02000500000000000000" pitchFamily="2" charset="-122"/>
              <a:ea typeface="华光行书_CNKI" panose="02000500000000000000" pitchFamily="2" charset="-122"/>
            </a:endParaRPr>
          </a:p>
          <a:p>
            <a:pPr marL="0" lvl="1">
              <a:spcAft>
                <a:spcPts val="1200"/>
              </a:spcAft>
            </a:pPr>
            <a:r>
              <a:rPr lang="zh-CN" altLang="en-US" b="0" dirty="0">
                <a:solidFill>
                  <a:srgbClr val="104E87"/>
                </a:solidFill>
                <a:latin typeface="华光行书_CNKI" panose="02000500000000000000" pitchFamily="2" charset="-122"/>
                <a:ea typeface="华光行书_CNKI" panose="02000500000000000000" pitchFamily="2" charset="-122"/>
              </a:rPr>
              <a:t>用函数模板实现插入排序</a:t>
            </a:r>
            <a:endParaRPr lang="en-US" altLang="zh-CN" b="0" dirty="0">
              <a:solidFill>
                <a:srgbClr val="104E87"/>
              </a:solidFill>
              <a:latin typeface="华光行书_CNKI" panose="02000500000000000000" pitchFamily="2" charset="-122"/>
              <a:ea typeface="华光行书_CNKI" panose="02000500000000000000" pitchFamily="2" charset="-122"/>
            </a:endParaRPr>
          </a:p>
          <a:p>
            <a:pPr marL="0" lvl="1">
              <a:spcAft>
                <a:spcPts val="1200"/>
              </a:spcAft>
            </a:pPr>
            <a:r>
              <a:rPr lang="zh-CN" altLang="en-US" b="0" dirty="0">
                <a:solidFill>
                  <a:srgbClr val="104E87"/>
                </a:solidFill>
                <a:latin typeface="华光行书_CNKI" panose="02000500000000000000" pitchFamily="2" charset="-122"/>
                <a:ea typeface="华光行书_CNKI" panose="02000500000000000000" pitchFamily="2" charset="-122"/>
              </a:rPr>
              <a:t>用函数模板实现顺序查找</a:t>
            </a:r>
            <a:endParaRPr lang="en-US" altLang="zh-CN" b="0" dirty="0">
              <a:solidFill>
                <a:srgbClr val="104E87"/>
              </a:solidFill>
              <a:latin typeface="华光行书_CNKI" panose="02000500000000000000" pitchFamily="2" charset="-122"/>
              <a:ea typeface="华光行书_CNKI" panose="02000500000000000000" pitchFamily="2" charset="-122"/>
            </a:endParaRPr>
          </a:p>
          <a:p>
            <a:pPr marL="0" lvl="1">
              <a:spcAft>
                <a:spcPts val="1200"/>
              </a:spcAft>
            </a:pPr>
            <a:r>
              <a:rPr lang="zh-CN" altLang="en-US" b="0" dirty="0">
                <a:solidFill>
                  <a:srgbClr val="104E87"/>
                </a:solidFill>
                <a:latin typeface="华光行书_CNKI" panose="02000500000000000000" pitchFamily="2" charset="-122"/>
                <a:ea typeface="华光行书_CNKI" panose="02000500000000000000" pitchFamily="2" charset="-122"/>
              </a:rPr>
              <a:t>用函数模板实现二分查找</a:t>
            </a:r>
          </a:p>
        </p:txBody>
      </p:sp>
    </p:spTree>
    <p:extLst>
      <p:ext uri="{BB962C8B-B14F-4D97-AF65-F5344CB8AC3E}">
        <p14:creationId xmlns:p14="http://schemas.microsoft.com/office/powerpoint/2010/main" val="3853110934"/>
      </p:ext>
    </p:extLst>
  </p:cSld>
  <p:clrMapOvr>
    <a:masterClrMapping/>
  </p:clrMapOvr>
</p:sld>
</file>

<file path=ppt/theme/theme1.xml><?xml version="1.0" encoding="utf-8"?>
<a:theme xmlns:a="http://schemas.openxmlformats.org/drawingml/2006/main" name="www.2ppt.com">
  <a:themeElements>
    <a:clrScheme name="自定义 78">
      <a:dk1>
        <a:srgbClr val="191919"/>
      </a:dk1>
      <a:lt1>
        <a:sysClr val="window" lastClr="FFFFFF"/>
      </a:lt1>
      <a:dk2>
        <a:srgbClr val="EFEFEF"/>
      </a:dk2>
      <a:lt2>
        <a:srgbClr val="2D2D2D"/>
      </a:lt2>
      <a:accent1>
        <a:srgbClr val="104D7E"/>
      </a:accent1>
      <a:accent2>
        <a:srgbClr val="26CCC5"/>
      </a:accent2>
      <a:accent3>
        <a:srgbClr val="1B8DA8"/>
      </a:accent3>
      <a:accent4>
        <a:srgbClr val="104E87"/>
      </a:accent4>
      <a:accent5>
        <a:srgbClr val="4BACC6"/>
      </a:accent5>
      <a:accent6>
        <a:srgbClr val="808684"/>
      </a:accent6>
      <a:hlink>
        <a:srgbClr val="808080"/>
      </a:hlink>
      <a:folHlink>
        <a:srgbClr val="800080"/>
      </a:folHlink>
    </a:clrScheme>
    <a:fontScheme name="Century Gothic">
      <a:majorFont>
        <a:latin typeface="Century Gothic"/>
        <a:ea typeface="微软雅黑"/>
        <a:cs typeface=""/>
      </a:majorFont>
      <a:minorFont>
        <a:latin typeface="Century Gothic"/>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44623</TotalTime>
  <Words>6216</Words>
  <Application>Microsoft Office PowerPoint</Application>
  <PresentationFormat>宽屏</PresentationFormat>
  <Paragraphs>834</Paragraphs>
  <Slides>22</Slides>
  <Notes>21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22</vt:i4>
      </vt:variant>
    </vt:vector>
  </HeadingPairs>
  <TitlesOfParts>
    <vt:vector size="35" baseType="lpstr">
      <vt:lpstr>Helvetica Neue</vt:lpstr>
      <vt:lpstr>华光淡古印_CNKI</vt:lpstr>
      <vt:lpstr>华光隶变_CNKI</vt:lpstr>
      <vt:lpstr>华光胖头鱼_CNKI</vt:lpstr>
      <vt:lpstr>华光行书_CNKI</vt:lpstr>
      <vt:lpstr>华文琥珀</vt:lpstr>
      <vt:lpstr>Arial</vt:lpstr>
      <vt:lpstr>Calibri</vt:lpstr>
      <vt:lpstr>Comic Sans MS</vt:lpstr>
      <vt:lpstr>Times New Roman</vt:lpstr>
      <vt:lpstr>Wingdings</vt:lpstr>
      <vt:lpstr>www.2ppt.com</vt:lpstr>
      <vt:lpstr>BMP 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www.2ppt.com-爱PPT提供资源下载</dc:title>
  <dc:subject>www.2ppt.com-爱PPT提供资源下载</dc:subject>
  <dc:creator>www.2ppt.com-爱PPT提供资源下载</dc:creator>
  <dc:description>www.2ppt.com-爱PPT提供资源下载</dc:description>
  <cp:lastModifiedBy>帅 方</cp:lastModifiedBy>
  <cp:revision>119</cp:revision>
  <dcterms:created xsi:type="dcterms:W3CDTF">2021-06-17T00:48:49Z</dcterms:created>
  <dcterms:modified xsi:type="dcterms:W3CDTF">2024-11-27T13:13:50Z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y fmtid="{D5CDD505-2E9C-101B-9397-08002B2CF9AE}" pid="3" name="ICV">
    <vt:lpwstr>40B5B57ECECA411187AECB4299FD3BFC</vt:lpwstr>
  </property>
  <property fmtid="{D5CDD505-2E9C-101B-9397-08002B2CF9AE}" pid="4" name="KSOProductBuildVer">
    <vt:lpwstr>2052-11.1.0.10577</vt:lpwstr>
  </property>
  <property fmtid="{A09F084E-AD41-489F-8076-AA5BE3082BCA}" pid="100">
    <vt:ui4>5</vt:ui4>
  </property>
  <property fmtid="{64440492-4C8B-11D1-8B70-080036B11A03}" pid="11">
    <vt:lpwstr>www.2ppt.com-爱PPT提供资源下载</vt:lpwstr>
  </property>
</Properties>
</file>