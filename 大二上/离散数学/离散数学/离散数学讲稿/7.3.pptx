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361" r:id="rId2"/>
    <p:sldId id="393" r:id="rId3"/>
    <p:sldId id="394" r:id="rId4"/>
    <p:sldId id="399" r:id="rId5"/>
    <p:sldId id="398" r:id="rId6"/>
    <p:sldId id="396" r:id="rId7"/>
    <p:sldId id="397" r:id="rId8"/>
    <p:sldId id="400" r:id="rId9"/>
    <p:sldId id="401" r:id="rId10"/>
    <p:sldId id="402" r:id="rId11"/>
    <p:sldId id="403" r:id="rId12"/>
    <p:sldId id="404" r:id="rId13"/>
    <p:sldId id="405" r:id="rId14"/>
    <p:sldId id="407" r:id="rId15"/>
    <p:sldId id="408" r:id="rId16"/>
    <p:sldId id="410" r:id="rId17"/>
    <p:sldId id="411" r:id="rId1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66"/>
    <a:srgbClr val="FF00FF"/>
    <a:srgbClr val="0066FF"/>
    <a:srgbClr val="0000FF"/>
    <a:srgbClr val="00CC99"/>
    <a:srgbClr val="FF0066"/>
    <a:srgbClr val="339933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3825" autoAdjust="0"/>
  </p:normalViewPr>
  <p:slideViewPr>
    <p:cSldViewPr>
      <p:cViewPr varScale="1">
        <p:scale>
          <a:sx n="64" d="100"/>
          <a:sy n="64" d="100"/>
        </p:scale>
        <p:origin x="1344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5D44DFA-2A78-1C31-BAF6-22C71D3EB8B4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D2B062FC-5EA7-93B0-5BDB-B194AFA38F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3C09FED0-4B9F-D31A-8872-DB0F9E9A57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F64ED4FD-14F6-EFC0-FA9D-C4142B2B4C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FBE90488-8FBF-1D0D-E5D7-9E5325B408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98CED2B-5B20-1D6F-11E5-F794A9E393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6A84CAF-BC3C-F333-D3D9-2BFE7B1170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49A2F0E9-15CB-DAFD-2F54-3FDCBDC8F9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11F21780-B408-4613-204B-B6578CB28E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2EE5C7DD-2841-F24E-80BF-3C6F936DCDA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2741E92F-819F-E4B1-77F8-A42A5954BC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867F92A1-AAD1-B996-A692-C2A7941059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A3A9B9F8-4DDD-2089-A077-2DAB8D601D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A6011D3-BC1E-4864-AF03-44FE959B7F8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80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C3473E46-682B-187F-C0E8-57584F598F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34456FD-FC2F-5F3F-7A40-B997B859BF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CBBF4D7-C9D3-004B-BC25-4F9AB4E79D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4A1B18-EA50-4DB9-899E-210E162DA5B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3495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885A3A8-57E9-BFD5-154D-778E9355B4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C9A19568-0115-70AF-2676-E760BE3558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8CF5D27C-BAA2-9748-E1EC-3D174E7E10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7E3121-93D5-48D2-9FDF-6941A1016B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8043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1A4AEB43-0E36-5D5B-C3B6-1850FEC6FD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2A7A99A0-A659-3ACB-B2C9-7EE5778AB1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18FCC8B4-44F7-DC64-D660-1487D9088F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562FF3-1D14-4029-909A-526D9FFAB87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3714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E018F002-4748-67A7-CF43-357F396442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89F84268-A3B6-2547-4006-79521B6D90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20F267C8-BD88-EA72-E326-C1A5499353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54F431-DDD8-48D6-A450-0038AC0FF47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2880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E6B1DB9F-9741-7CE4-30D2-AFCF89EF30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380C5CF0-99AD-1381-F126-77AEA28F89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71AB8384-4464-EA9A-22A7-B7208BBAEF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B37F12-6514-4448-A625-2D61A0B77A5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5619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65DEE625-D6E3-C54C-1C3C-499DF8D0DC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989F466C-A371-91B8-5832-5594358770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2C13FD32-54DC-3B4F-3278-80AEDFBAFF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C335F1-3E8B-4543-B27C-51868D125AD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0429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1667AFDC-7F60-6C34-AD7D-C3901ACD17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F0D10AB-81BD-533B-62EE-39618DB465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8243F55-3FF7-58EF-7D57-C0485A63BE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4E879B-11E9-4DE0-836E-504E42660BA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8007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0B516D6-48DD-EE5B-6239-505C38591F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EA48569-C294-6A21-626A-6F9818B479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409571CF-907F-2B63-2705-0D26BB86D0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3C45EE-B6CE-4BD3-ADE2-038E8F65102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3296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55FAFDD-460D-8A13-A298-88BDECA791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595D2DFC-233D-FBCB-FF6B-129F4B8D07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C1405E1-F85F-471F-6775-00CB18F345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ADAFE8-20CB-4398-9039-58D929838EB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065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EE268D2-F1DE-CBCB-F38C-2999AD48FA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14DE19A-6AE4-65D5-F50C-7A223C3313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E1FE80C-68D4-397F-BF40-9394EC5F69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BA8257-8814-4F9A-BFF6-DD986C0F5B5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613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8801572B-DCB3-D90B-FCD2-733604F4AA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0560838-FF59-C5E3-9036-3C1EB4AB7C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1333711A-25BB-2C23-BA97-12249F769C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73766D-D5D1-4713-8471-9C0488AF2F0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2284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D79BAD0-1698-30B1-C130-366E495729D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E8E3EFE-35B4-FC9A-4497-307971E1CEF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0A4B44B-A218-5990-D89A-6924D078F65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97A3579-6379-FD92-3E52-E6FAA4540FB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5C894AF-4B48-2649-586A-328079E4E7D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1D4812F8-7EAC-97BA-27BC-95BBE5B9446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A5616259-392C-FCFB-24BA-7070FD5E8622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C73A2E58-A837-20E8-3633-6201F2FDF4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A8C66B59-FB63-E758-D79D-373B1D5A4D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24C49B7E-1A7C-D5A1-873A-57A67F9424E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56D8A821-284E-160F-BB0D-F9E9ACCBF22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C2788470-F445-08C5-797B-02878087B76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3A3E44A-CF54-47FB-9FC2-AB9E6633520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  <p:sldLayoutId id="2147483869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4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5.tmp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566FF95-A792-137D-5F5D-A8FB355FF2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7.3 </a:t>
            </a:r>
            <a:r>
              <a:rPr lang="zh-CN" altLang="zh-CN" sz="5400"/>
              <a:t>图的</a:t>
            </a:r>
            <a:r>
              <a:rPr lang="zh-CN" altLang="en-US" sz="5400"/>
              <a:t>矩阵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692623-CDF4-5022-C937-1F6B560A9B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3" y="2060575"/>
            <a:ext cx="6872287" cy="4681538"/>
          </a:xfrm>
        </p:spPr>
        <p:txBody>
          <a:bodyPr/>
          <a:lstStyle/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4400"/>
              <a:t>7.3.1 </a:t>
            </a:r>
            <a:r>
              <a:rPr lang="zh-CN" altLang="en-US" sz="4400" b="1"/>
              <a:t>邻接矩阵</a:t>
            </a:r>
            <a:r>
              <a:rPr lang="zh-CN" altLang="en-US" sz="4400"/>
              <a:t> 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4400"/>
              <a:t>7.3.2 </a:t>
            </a:r>
            <a:r>
              <a:rPr lang="zh-CN" altLang="en-US" sz="4400" b="1"/>
              <a:t>关联矩阵</a:t>
            </a:r>
            <a:r>
              <a:rPr lang="zh-CN" altLang="en-US" sz="4400"/>
              <a:t> 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4400"/>
              <a:t>7.3.3 </a:t>
            </a:r>
            <a:r>
              <a:rPr lang="zh-CN" altLang="en-US" sz="4400" b="1"/>
              <a:t>可达矩阵</a:t>
            </a:r>
            <a:endParaRPr lang="zh-CN" altLang="en-US"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id="{E6E6D379-7F37-CC14-1CD1-D490F5AC4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7.3.1 </a:t>
            </a:r>
            <a:r>
              <a:rPr lang="zh-CN" altLang="en-US" b="1"/>
              <a:t>邻接矩阵</a:t>
            </a:r>
            <a:r>
              <a:rPr lang="zh-CN" altLang="en-US"/>
              <a:t> </a:t>
            </a:r>
          </a:p>
        </p:txBody>
      </p:sp>
      <p:sp>
        <p:nvSpPr>
          <p:cNvPr id="4099" name="内容占位符 2">
            <a:extLst>
              <a:ext uri="{FF2B5EF4-FFF2-40B4-BE49-F238E27FC236}">
                <a16:creationId xmlns:a16="http://schemas.microsoft.com/office/drawing/2014/main" id="{9785A5C5-0208-C10A-8F99-4921514C7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zh-CN"/>
              <a:t>设任意图</a:t>
            </a:r>
            <a:r>
              <a:rPr lang="en-US" altLang="zh-CN"/>
              <a:t>G</a:t>
            </a:r>
            <a:r>
              <a:rPr lang="zh-CN" altLang="zh-CN"/>
              <a:t>，其</a:t>
            </a:r>
            <a:r>
              <a:rPr lang="zh-CN" altLang="en-US"/>
              <a:t>结点集</a:t>
            </a:r>
            <a:r>
              <a:rPr lang="en-US" altLang="zh-CN"/>
              <a:t>V</a:t>
            </a:r>
            <a:r>
              <a:rPr lang="zh-CN" altLang="zh-CN"/>
              <a:t>＝</a:t>
            </a:r>
            <a:r>
              <a:rPr lang="en-US" altLang="zh-CN"/>
              <a:t>{x</a:t>
            </a:r>
            <a:r>
              <a:rPr lang="en-US" altLang="zh-CN" baseline="-25000"/>
              <a:t>1</a:t>
            </a:r>
            <a:r>
              <a:rPr lang="en-US" altLang="zh-CN"/>
              <a:t>,x</a:t>
            </a:r>
            <a:r>
              <a:rPr lang="en-US" altLang="zh-CN" baseline="-25000"/>
              <a:t>2</a:t>
            </a:r>
            <a:r>
              <a:rPr lang="en-US" altLang="zh-CN"/>
              <a:t>,…,x</a:t>
            </a:r>
            <a:r>
              <a:rPr lang="en-US" altLang="zh-CN" baseline="-25000"/>
              <a:t>n</a:t>
            </a:r>
            <a:r>
              <a:rPr lang="en-US" altLang="zh-CN"/>
              <a:t>}</a:t>
            </a:r>
            <a:r>
              <a:rPr lang="zh-CN" altLang="zh-CN"/>
              <a:t>，则</a:t>
            </a:r>
            <a:r>
              <a:rPr lang="en-US" altLang="zh-CN"/>
              <a:t>n</a:t>
            </a:r>
            <a:r>
              <a:rPr lang="zh-CN" altLang="zh-CN"/>
              <a:t>阶方阵</a:t>
            </a:r>
            <a:r>
              <a:rPr lang="en-US" altLang="zh-CN"/>
              <a:t>A</a:t>
            </a:r>
            <a:r>
              <a:rPr lang="zh-CN" altLang="zh-CN"/>
              <a:t>＝</a:t>
            </a:r>
            <a:r>
              <a:rPr lang="en-US" altLang="zh-CN"/>
              <a:t>(a</a:t>
            </a:r>
            <a:r>
              <a:rPr lang="en-US" altLang="zh-CN" baseline="-25000"/>
              <a:t>ij</a:t>
            </a:r>
            <a:r>
              <a:rPr lang="en-US" altLang="zh-CN"/>
              <a:t>)</a:t>
            </a:r>
            <a:r>
              <a:rPr lang="zh-CN" altLang="zh-CN"/>
              <a:t>称为</a:t>
            </a:r>
            <a:r>
              <a:rPr lang="en-US" altLang="zh-CN"/>
              <a:t>G</a:t>
            </a:r>
            <a:r>
              <a:rPr lang="zh-CN" altLang="zh-CN"/>
              <a:t>的</a:t>
            </a:r>
            <a:r>
              <a:rPr lang="zh-CN" altLang="zh-CN" b="1">
                <a:solidFill>
                  <a:srgbClr val="FF0000"/>
                </a:solidFill>
              </a:rPr>
              <a:t>邻接矩阵</a:t>
            </a:r>
            <a:r>
              <a:rPr lang="en-US" altLang="zh-CN"/>
              <a:t>(adjacency matrix)</a:t>
            </a:r>
            <a:r>
              <a:rPr lang="zh-CN" altLang="zh-CN"/>
              <a:t>。其中</a:t>
            </a:r>
            <a:r>
              <a:rPr lang="en-US" altLang="zh-CN"/>
              <a:t>a</a:t>
            </a:r>
            <a:r>
              <a:rPr lang="en-US" altLang="zh-CN" baseline="-25000"/>
              <a:t>ij</a:t>
            </a:r>
            <a:r>
              <a:rPr lang="zh-CN" altLang="zh-CN"/>
              <a:t>为图</a:t>
            </a:r>
            <a:r>
              <a:rPr lang="en-US" altLang="zh-CN"/>
              <a:t>G</a:t>
            </a:r>
            <a:r>
              <a:rPr lang="zh-CN" altLang="zh-CN"/>
              <a:t>中以</a:t>
            </a:r>
            <a:r>
              <a:rPr lang="en-US" altLang="zh-CN"/>
              <a:t>x</a:t>
            </a:r>
            <a:r>
              <a:rPr lang="en-US" altLang="zh-CN" baseline="-25000"/>
              <a:t>i</a:t>
            </a:r>
            <a:r>
              <a:rPr lang="zh-CN" altLang="zh-CN"/>
              <a:t>为起点且以</a:t>
            </a:r>
            <a:r>
              <a:rPr lang="en-US" altLang="zh-CN"/>
              <a:t>x</a:t>
            </a:r>
            <a:r>
              <a:rPr lang="en-US" altLang="zh-CN" baseline="-25000"/>
              <a:t>j</a:t>
            </a:r>
            <a:r>
              <a:rPr lang="zh-CN" altLang="zh-CN"/>
              <a:t>为终点的边的数目。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31">
            <a:extLst>
              <a:ext uri="{FF2B5EF4-FFF2-40B4-BE49-F238E27FC236}">
                <a16:creationId xmlns:a16="http://schemas.microsoft.com/office/drawing/2014/main" id="{325B39C5-DB3A-1811-15B1-65B80A338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7.3.1 </a:t>
            </a:r>
            <a:r>
              <a:rPr lang="zh-CN" altLang="en-US" b="1"/>
              <a:t>邻接矩阵</a:t>
            </a:r>
            <a:r>
              <a:rPr lang="zh-CN" altLang="en-US"/>
              <a:t> </a:t>
            </a:r>
          </a:p>
        </p:txBody>
      </p:sp>
      <p:sp>
        <p:nvSpPr>
          <p:cNvPr id="5123" name="内容占位符 2">
            <a:extLst>
              <a:ext uri="{FF2B5EF4-FFF2-40B4-BE49-F238E27FC236}">
                <a16:creationId xmlns:a16="http://schemas.microsoft.com/office/drawing/2014/main" id="{AB03B4B0-97F4-50CB-BD37-AFAB5E692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例如</a:t>
            </a:r>
          </a:p>
        </p:txBody>
      </p:sp>
      <p:sp>
        <p:nvSpPr>
          <p:cNvPr id="5124" name="Rectangle 26">
            <a:extLst>
              <a:ext uri="{FF2B5EF4-FFF2-40B4-BE49-F238E27FC236}">
                <a16:creationId xmlns:a16="http://schemas.microsoft.com/office/drawing/2014/main" id="{283BAB82-1084-8681-AB48-30227A856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25" name="Rectangle 32">
            <a:extLst>
              <a:ext uri="{FF2B5EF4-FFF2-40B4-BE49-F238E27FC236}">
                <a16:creationId xmlns:a16="http://schemas.microsoft.com/office/drawing/2014/main" id="{C1A026B6-107F-ACAF-3CD5-3158D64B2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126" name="对象 33">
            <a:extLst>
              <a:ext uri="{FF2B5EF4-FFF2-40B4-BE49-F238E27FC236}">
                <a16:creationId xmlns:a16="http://schemas.microsoft.com/office/drawing/2014/main" id="{8798556D-832A-036E-E983-FBF13535DF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1863" y="3573463"/>
          <a:ext cx="18542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100" imgH="914400" progId="Equation.DSMT4">
                  <p:embed/>
                </p:oleObj>
              </mc:Choice>
              <mc:Fallback>
                <p:oleObj name="Equation" r:id="rId2" imgW="927100" imgH="914400" progId="Equation.DSMT4">
                  <p:embed/>
                  <p:pic>
                    <p:nvPicPr>
                      <p:cNvPr id="0" name="对象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3573463"/>
                        <a:ext cx="18542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Rectangle 58">
            <a:extLst>
              <a:ext uri="{FF2B5EF4-FFF2-40B4-BE49-F238E27FC236}">
                <a16:creationId xmlns:a16="http://schemas.microsoft.com/office/drawing/2014/main" id="{3F241EBF-6678-2C1F-8FEB-EC6627471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5128" name="Group 33">
            <a:extLst>
              <a:ext uri="{FF2B5EF4-FFF2-40B4-BE49-F238E27FC236}">
                <a16:creationId xmlns:a16="http://schemas.microsoft.com/office/drawing/2014/main" id="{C800F190-E901-2ADD-11AD-ECEF9FA0F33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09663" y="2697163"/>
            <a:ext cx="3101975" cy="3252787"/>
            <a:chOff x="2485" y="5275"/>
            <a:chExt cx="2442" cy="2561"/>
          </a:xfrm>
        </p:grpSpPr>
        <p:sp>
          <p:nvSpPr>
            <p:cNvPr id="5131" name="AutoShape 57">
              <a:extLst>
                <a:ext uri="{FF2B5EF4-FFF2-40B4-BE49-F238E27FC236}">
                  <a16:creationId xmlns:a16="http://schemas.microsoft.com/office/drawing/2014/main" id="{F7D33F1B-1835-AE5D-10EF-9FFEFFF6F01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485" y="5275"/>
              <a:ext cx="2442" cy="2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2" name="Text Box 56">
              <a:extLst>
                <a:ext uri="{FF2B5EF4-FFF2-40B4-BE49-F238E27FC236}">
                  <a16:creationId xmlns:a16="http://schemas.microsoft.com/office/drawing/2014/main" id="{BCAF0C3F-569A-DD30-FFB6-A17EE5ECA4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8" y="7146"/>
              <a:ext cx="59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2800"/>
            </a:p>
          </p:txBody>
        </p:sp>
        <p:sp>
          <p:nvSpPr>
            <p:cNvPr id="5133" name="Text Box 55">
              <a:extLst>
                <a:ext uri="{FF2B5EF4-FFF2-40B4-BE49-F238E27FC236}">
                  <a16:creationId xmlns:a16="http://schemas.microsoft.com/office/drawing/2014/main" id="{AD94FBBD-ADD3-AE31-3686-DD8CAA1E9A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2" y="7186"/>
              <a:ext cx="56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2800"/>
            </a:p>
          </p:txBody>
        </p:sp>
        <p:sp>
          <p:nvSpPr>
            <p:cNvPr id="5134" name="Text Box 54">
              <a:extLst>
                <a:ext uri="{FF2B5EF4-FFF2-40B4-BE49-F238E27FC236}">
                  <a16:creationId xmlns:a16="http://schemas.microsoft.com/office/drawing/2014/main" id="{3CB2DFD7-2F0C-A26C-92CD-F12F808BA2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5" y="5589"/>
              <a:ext cx="614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2800"/>
            </a:p>
          </p:txBody>
        </p:sp>
        <p:sp>
          <p:nvSpPr>
            <p:cNvPr id="5135" name="Text Box 53">
              <a:extLst>
                <a:ext uri="{FF2B5EF4-FFF2-40B4-BE49-F238E27FC236}">
                  <a16:creationId xmlns:a16="http://schemas.microsoft.com/office/drawing/2014/main" id="{8C3FC2BB-ED72-B12F-74FA-D0B9D9FEB6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" y="5584"/>
              <a:ext cx="599" cy="5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2800"/>
            </a:p>
          </p:txBody>
        </p:sp>
        <p:sp>
          <p:nvSpPr>
            <p:cNvPr id="5136" name="Oval 52">
              <a:extLst>
                <a:ext uri="{FF2B5EF4-FFF2-40B4-BE49-F238E27FC236}">
                  <a16:creationId xmlns:a16="http://schemas.microsoft.com/office/drawing/2014/main" id="{8E30F8AD-E37A-75FF-AECA-74884DEE6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1" y="5918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37" name="Oval 51">
              <a:extLst>
                <a:ext uri="{FF2B5EF4-FFF2-40B4-BE49-F238E27FC236}">
                  <a16:creationId xmlns:a16="http://schemas.microsoft.com/office/drawing/2014/main" id="{88559CC9-1C7B-2A6A-AFE6-F4609251F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5918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38" name="Oval 50">
              <a:extLst>
                <a:ext uri="{FF2B5EF4-FFF2-40B4-BE49-F238E27FC236}">
                  <a16:creationId xmlns:a16="http://schemas.microsoft.com/office/drawing/2014/main" id="{288AC9FD-8CEE-0181-36ED-C479A9FD70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2" y="7028"/>
              <a:ext cx="220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39" name="Oval 49">
              <a:extLst>
                <a:ext uri="{FF2B5EF4-FFF2-40B4-BE49-F238E27FC236}">
                  <a16:creationId xmlns:a16="http://schemas.microsoft.com/office/drawing/2014/main" id="{CE0C962F-B443-DE4A-EE83-20C588D8A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7028"/>
              <a:ext cx="220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5140" name="AutoShape 48">
              <a:extLst>
                <a:ext uri="{FF2B5EF4-FFF2-40B4-BE49-F238E27FC236}">
                  <a16:creationId xmlns:a16="http://schemas.microsoft.com/office/drawing/2014/main" id="{E2CAC9D2-AA11-419D-3010-AEBDD8AE6FA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12" y="6139"/>
              <a:ext cx="1" cy="88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41" name="AutoShape 47">
              <a:extLst>
                <a:ext uri="{FF2B5EF4-FFF2-40B4-BE49-F238E27FC236}">
                  <a16:creationId xmlns:a16="http://schemas.microsoft.com/office/drawing/2014/main" id="{B809C86E-319E-21B0-C3E4-05363115CE6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354" y="7138"/>
              <a:ext cx="1013" cy="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42" name="AutoShape 46">
              <a:extLst>
                <a:ext uri="{FF2B5EF4-FFF2-40B4-BE49-F238E27FC236}">
                  <a16:creationId xmlns:a16="http://schemas.microsoft.com/office/drawing/2014/main" id="{3C9DCCAD-EE93-717F-613C-274C5A90852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445" y="6139"/>
              <a:ext cx="1" cy="88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43" name="AutoShape 45">
              <a:extLst>
                <a:ext uri="{FF2B5EF4-FFF2-40B4-BE49-F238E27FC236}">
                  <a16:creationId xmlns:a16="http://schemas.microsoft.com/office/drawing/2014/main" id="{48064D6E-7504-9D71-A395-C1709BDD4D4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322" y="6029"/>
              <a:ext cx="1013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44" name="AutoShape 44">
              <a:extLst>
                <a:ext uri="{FF2B5EF4-FFF2-40B4-BE49-F238E27FC236}">
                  <a16:creationId xmlns:a16="http://schemas.microsoft.com/office/drawing/2014/main" id="{C297EB97-FDA0-5DC9-7D0B-D8C63375322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90" y="6107"/>
              <a:ext cx="1077" cy="95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145" name="Freeform 43">
              <a:extLst>
                <a:ext uri="{FF2B5EF4-FFF2-40B4-BE49-F238E27FC236}">
                  <a16:creationId xmlns:a16="http://schemas.microsoft.com/office/drawing/2014/main" id="{580BFB1C-5258-BDC4-CBBD-CAD0A887E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5" y="5809"/>
              <a:ext cx="1065" cy="156"/>
            </a:xfrm>
            <a:custGeom>
              <a:avLst/>
              <a:gdLst>
                <a:gd name="T0" fmla="*/ 0 w 1065"/>
                <a:gd name="T1" fmla="*/ 141 h 156"/>
                <a:gd name="T2" fmla="*/ 45 w 1065"/>
                <a:gd name="T3" fmla="*/ 111 h 156"/>
                <a:gd name="T4" fmla="*/ 75 w 1065"/>
                <a:gd name="T5" fmla="*/ 66 h 156"/>
                <a:gd name="T6" fmla="*/ 420 w 1065"/>
                <a:gd name="T7" fmla="*/ 6 h 156"/>
                <a:gd name="T8" fmla="*/ 885 w 1065"/>
                <a:gd name="T9" fmla="*/ 21 h 156"/>
                <a:gd name="T10" fmla="*/ 1020 w 1065"/>
                <a:gd name="T11" fmla="*/ 96 h 156"/>
                <a:gd name="T12" fmla="*/ 1065 w 1065"/>
                <a:gd name="T13" fmla="*/ 156 h 1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65" h="156">
                  <a:moveTo>
                    <a:pt x="0" y="141"/>
                  </a:moveTo>
                  <a:cubicBezTo>
                    <a:pt x="15" y="131"/>
                    <a:pt x="32" y="124"/>
                    <a:pt x="45" y="111"/>
                  </a:cubicBezTo>
                  <a:cubicBezTo>
                    <a:pt x="58" y="98"/>
                    <a:pt x="60" y="76"/>
                    <a:pt x="75" y="66"/>
                  </a:cubicBezTo>
                  <a:cubicBezTo>
                    <a:pt x="167" y="9"/>
                    <a:pt x="329" y="13"/>
                    <a:pt x="420" y="6"/>
                  </a:cubicBezTo>
                  <a:cubicBezTo>
                    <a:pt x="575" y="11"/>
                    <a:pt x="731" y="0"/>
                    <a:pt x="885" y="21"/>
                  </a:cubicBezTo>
                  <a:cubicBezTo>
                    <a:pt x="936" y="28"/>
                    <a:pt x="971" y="80"/>
                    <a:pt x="1020" y="96"/>
                  </a:cubicBezTo>
                  <a:cubicBezTo>
                    <a:pt x="1054" y="147"/>
                    <a:pt x="1037" y="128"/>
                    <a:pt x="1065" y="156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6" name="Freeform 42">
              <a:extLst>
                <a:ext uri="{FF2B5EF4-FFF2-40B4-BE49-F238E27FC236}">
                  <a16:creationId xmlns:a16="http://schemas.microsoft.com/office/drawing/2014/main" id="{54C3A652-1CB7-D199-4D3C-3B2B88D78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3" y="6895"/>
              <a:ext cx="702" cy="630"/>
            </a:xfrm>
            <a:custGeom>
              <a:avLst/>
              <a:gdLst>
                <a:gd name="T0" fmla="*/ 702 w 702"/>
                <a:gd name="T1" fmla="*/ 345 h 630"/>
                <a:gd name="T2" fmla="*/ 597 w 702"/>
                <a:gd name="T3" fmla="*/ 510 h 630"/>
                <a:gd name="T4" fmla="*/ 492 w 702"/>
                <a:gd name="T5" fmla="*/ 630 h 630"/>
                <a:gd name="T6" fmla="*/ 42 w 702"/>
                <a:gd name="T7" fmla="*/ 525 h 630"/>
                <a:gd name="T8" fmla="*/ 117 w 702"/>
                <a:gd name="T9" fmla="*/ 195 h 630"/>
                <a:gd name="T10" fmla="*/ 222 w 702"/>
                <a:gd name="T11" fmla="*/ 75 h 630"/>
                <a:gd name="T12" fmla="*/ 252 w 702"/>
                <a:gd name="T13" fmla="*/ 30 h 630"/>
                <a:gd name="T14" fmla="*/ 342 w 702"/>
                <a:gd name="T15" fmla="*/ 0 h 630"/>
                <a:gd name="T16" fmla="*/ 477 w 702"/>
                <a:gd name="T17" fmla="*/ 90 h 630"/>
                <a:gd name="T18" fmla="*/ 567 w 702"/>
                <a:gd name="T19" fmla="*/ 150 h 630"/>
                <a:gd name="T20" fmla="*/ 597 w 702"/>
                <a:gd name="T21" fmla="*/ 195 h 630"/>
                <a:gd name="T22" fmla="*/ 642 w 702"/>
                <a:gd name="T23" fmla="*/ 225 h 63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02" h="630">
                  <a:moveTo>
                    <a:pt x="702" y="345"/>
                  </a:moveTo>
                  <a:cubicBezTo>
                    <a:pt x="672" y="435"/>
                    <a:pt x="677" y="457"/>
                    <a:pt x="597" y="510"/>
                  </a:cubicBezTo>
                  <a:cubicBezTo>
                    <a:pt x="564" y="559"/>
                    <a:pt x="525" y="581"/>
                    <a:pt x="492" y="630"/>
                  </a:cubicBezTo>
                  <a:cubicBezTo>
                    <a:pt x="335" y="620"/>
                    <a:pt x="176" y="614"/>
                    <a:pt x="42" y="525"/>
                  </a:cubicBezTo>
                  <a:cubicBezTo>
                    <a:pt x="0" y="398"/>
                    <a:pt x="7" y="269"/>
                    <a:pt x="117" y="195"/>
                  </a:cubicBezTo>
                  <a:cubicBezTo>
                    <a:pt x="187" y="90"/>
                    <a:pt x="147" y="125"/>
                    <a:pt x="222" y="75"/>
                  </a:cubicBezTo>
                  <a:cubicBezTo>
                    <a:pt x="232" y="60"/>
                    <a:pt x="237" y="40"/>
                    <a:pt x="252" y="30"/>
                  </a:cubicBezTo>
                  <a:cubicBezTo>
                    <a:pt x="279" y="13"/>
                    <a:pt x="342" y="0"/>
                    <a:pt x="342" y="0"/>
                  </a:cubicBezTo>
                  <a:cubicBezTo>
                    <a:pt x="404" y="21"/>
                    <a:pt x="426" y="51"/>
                    <a:pt x="477" y="90"/>
                  </a:cubicBezTo>
                  <a:cubicBezTo>
                    <a:pt x="505" y="112"/>
                    <a:pt x="567" y="150"/>
                    <a:pt x="567" y="150"/>
                  </a:cubicBezTo>
                  <a:cubicBezTo>
                    <a:pt x="577" y="165"/>
                    <a:pt x="584" y="182"/>
                    <a:pt x="597" y="195"/>
                  </a:cubicBezTo>
                  <a:cubicBezTo>
                    <a:pt x="610" y="208"/>
                    <a:pt x="642" y="225"/>
                    <a:pt x="642" y="22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5147" name="AutoShape 41">
              <a:extLst>
                <a:ext uri="{FF2B5EF4-FFF2-40B4-BE49-F238E27FC236}">
                  <a16:creationId xmlns:a16="http://schemas.microsoft.com/office/drawing/2014/main" id="{BA5D8817-8671-73B6-B3CC-5BBFBB7DA07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920" y="6660"/>
              <a:ext cx="45" cy="4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48" name="AutoShape 40">
              <a:extLst>
                <a:ext uri="{FF2B5EF4-FFF2-40B4-BE49-F238E27FC236}">
                  <a16:creationId xmlns:a16="http://schemas.microsoft.com/office/drawing/2014/main" id="{32A9707A-BDAB-B58A-94E4-D87E7FE9295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436" y="6585"/>
              <a:ext cx="0" cy="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49" name="AutoShape 38">
              <a:extLst>
                <a:ext uri="{FF2B5EF4-FFF2-40B4-BE49-F238E27FC236}">
                  <a16:creationId xmlns:a16="http://schemas.microsoft.com/office/drawing/2014/main" id="{27C90342-65D6-548B-53DE-0363358244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212" y="6660"/>
              <a:ext cx="1" cy="4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50" name="AutoShape 37">
              <a:extLst>
                <a:ext uri="{FF2B5EF4-FFF2-40B4-BE49-F238E27FC236}">
                  <a16:creationId xmlns:a16="http://schemas.microsoft.com/office/drawing/2014/main" id="{FCD0AB45-DBFC-4419-BE5D-1E82BEB39D6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780" y="7140"/>
              <a:ext cx="6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51" name="AutoShape 36">
              <a:extLst>
                <a:ext uri="{FF2B5EF4-FFF2-40B4-BE49-F238E27FC236}">
                  <a16:creationId xmlns:a16="http://schemas.microsoft.com/office/drawing/2014/main" id="{40CE1539-49CF-9461-1F39-787E163C41E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735" y="5815"/>
              <a:ext cx="465" cy="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52" name="AutoShape 35">
              <a:extLst>
                <a:ext uri="{FF2B5EF4-FFF2-40B4-BE49-F238E27FC236}">
                  <a16:creationId xmlns:a16="http://schemas.microsoft.com/office/drawing/2014/main" id="{AB1A1D43-1831-2792-F337-9E4E366461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610" y="6950"/>
              <a:ext cx="105" cy="1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53" name="AutoShape 34">
              <a:extLst>
                <a:ext uri="{FF2B5EF4-FFF2-40B4-BE49-F238E27FC236}">
                  <a16:creationId xmlns:a16="http://schemas.microsoft.com/office/drawing/2014/main" id="{00F7350D-DF28-24BB-5F07-8C058DC6863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780" y="6025"/>
              <a:ext cx="150" cy="1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129" name="Text Box 64">
            <a:extLst>
              <a:ext uri="{FF2B5EF4-FFF2-40B4-BE49-F238E27FC236}">
                <a16:creationId xmlns:a16="http://schemas.microsoft.com/office/drawing/2014/main" id="{6BF25544-9C8A-1125-C4AC-C401C82190E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084888" y="2876550"/>
            <a:ext cx="1800225" cy="55245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800">
                <a:latin typeface="Calibri" panose="020F0502020204030204" pitchFamily="34" charset="0"/>
              </a:rPr>
              <a:t>a   b   c   d</a:t>
            </a:r>
            <a:endParaRPr lang="zh-CN" altLang="zh-CN" sz="2800"/>
          </a:p>
        </p:txBody>
      </p:sp>
      <p:sp>
        <p:nvSpPr>
          <p:cNvPr id="5130" name="Text Box 66">
            <a:extLst>
              <a:ext uri="{FF2B5EF4-FFF2-40B4-BE49-F238E27FC236}">
                <a16:creationId xmlns:a16="http://schemas.microsoft.com/office/drawing/2014/main" id="{2F6FD58A-1455-9409-1FD9-997ABD93482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513388" y="3538538"/>
            <a:ext cx="508000" cy="22288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800">
                <a:latin typeface="Calibri" panose="020F0502020204030204" pitchFamily="34" charset="0"/>
              </a:rPr>
              <a:t>a</a:t>
            </a:r>
          </a:p>
          <a:p>
            <a:pPr algn="just" eaLnBrk="1" hangingPunct="1"/>
            <a:r>
              <a:rPr lang="en-US" altLang="zh-CN" sz="2800">
                <a:latin typeface="Calibri" panose="020F0502020204030204" pitchFamily="34" charset="0"/>
              </a:rPr>
              <a:t>b</a:t>
            </a:r>
          </a:p>
          <a:p>
            <a:pPr algn="just" eaLnBrk="1" hangingPunct="1"/>
            <a:r>
              <a:rPr lang="en-US" altLang="zh-CN" sz="2800">
                <a:latin typeface="Calibri" panose="020F0502020204030204" pitchFamily="34" charset="0"/>
              </a:rPr>
              <a:t>c</a:t>
            </a:r>
          </a:p>
          <a:p>
            <a:pPr algn="just" eaLnBrk="1" hangingPunct="1"/>
            <a:r>
              <a:rPr lang="en-US" altLang="zh-CN" sz="2800">
                <a:latin typeface="Calibri" panose="020F0502020204030204" pitchFamily="34" charset="0"/>
              </a:rPr>
              <a:t>d</a:t>
            </a:r>
            <a:endParaRPr lang="zh-CN" altLang="zh-CN"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31">
            <a:extLst>
              <a:ext uri="{FF2B5EF4-FFF2-40B4-BE49-F238E27FC236}">
                <a16:creationId xmlns:a16="http://schemas.microsoft.com/office/drawing/2014/main" id="{A96DDA90-65B1-25B6-C2C8-864C671D9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7.3.1 </a:t>
            </a:r>
            <a:r>
              <a:rPr lang="zh-CN" altLang="en-US" b="1"/>
              <a:t>邻接矩阵</a:t>
            </a:r>
            <a:r>
              <a:rPr lang="zh-CN" altLang="en-US"/>
              <a:t> </a:t>
            </a:r>
          </a:p>
        </p:txBody>
      </p:sp>
      <p:sp>
        <p:nvSpPr>
          <p:cNvPr id="6147" name="内容占位符 2">
            <a:extLst>
              <a:ext uri="{FF2B5EF4-FFF2-40B4-BE49-F238E27FC236}">
                <a16:creationId xmlns:a16="http://schemas.microsoft.com/office/drawing/2014/main" id="{B5476DFA-4B9F-9CA8-C893-E04D2B67B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例如</a:t>
            </a:r>
          </a:p>
        </p:txBody>
      </p:sp>
      <p:sp>
        <p:nvSpPr>
          <p:cNvPr id="6148" name="Rectangle 26">
            <a:extLst>
              <a:ext uri="{FF2B5EF4-FFF2-40B4-BE49-F238E27FC236}">
                <a16:creationId xmlns:a16="http://schemas.microsoft.com/office/drawing/2014/main" id="{4190EA24-C992-5CD8-8F55-54C042386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49" name="Rectangle 32">
            <a:extLst>
              <a:ext uri="{FF2B5EF4-FFF2-40B4-BE49-F238E27FC236}">
                <a16:creationId xmlns:a16="http://schemas.microsoft.com/office/drawing/2014/main" id="{C88DC598-5249-546F-51AD-8C9C7EB3B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50" name="Rectangle 58">
            <a:extLst>
              <a:ext uri="{FF2B5EF4-FFF2-40B4-BE49-F238E27FC236}">
                <a16:creationId xmlns:a16="http://schemas.microsoft.com/office/drawing/2014/main" id="{766DE517-6488-A9EC-0503-84E97B8EC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51" name="Text Box 64">
            <a:extLst>
              <a:ext uri="{FF2B5EF4-FFF2-40B4-BE49-F238E27FC236}">
                <a16:creationId xmlns:a16="http://schemas.microsoft.com/office/drawing/2014/main" id="{F6180BBB-B21E-5854-AFEC-E13246EE8B1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084888" y="2876550"/>
            <a:ext cx="1800225" cy="55245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800">
                <a:latin typeface="Calibri" panose="020F0502020204030204" pitchFamily="34" charset="0"/>
              </a:rPr>
              <a:t>a   b   c   d</a:t>
            </a:r>
            <a:endParaRPr lang="zh-CN" altLang="zh-CN" sz="2800"/>
          </a:p>
        </p:txBody>
      </p:sp>
      <p:sp>
        <p:nvSpPr>
          <p:cNvPr id="6152" name="Text Box 66">
            <a:extLst>
              <a:ext uri="{FF2B5EF4-FFF2-40B4-BE49-F238E27FC236}">
                <a16:creationId xmlns:a16="http://schemas.microsoft.com/office/drawing/2014/main" id="{F6925843-42C6-6288-40E0-02A26E11B11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513388" y="3538538"/>
            <a:ext cx="508000" cy="22288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800">
                <a:latin typeface="Calibri" panose="020F0502020204030204" pitchFamily="34" charset="0"/>
              </a:rPr>
              <a:t>a</a:t>
            </a:r>
          </a:p>
          <a:p>
            <a:pPr algn="just" eaLnBrk="1" hangingPunct="1"/>
            <a:r>
              <a:rPr lang="en-US" altLang="zh-CN" sz="2800">
                <a:latin typeface="Calibri" panose="020F0502020204030204" pitchFamily="34" charset="0"/>
              </a:rPr>
              <a:t>b</a:t>
            </a:r>
          </a:p>
          <a:p>
            <a:pPr algn="just" eaLnBrk="1" hangingPunct="1"/>
            <a:r>
              <a:rPr lang="en-US" altLang="zh-CN" sz="2800">
                <a:latin typeface="Calibri" panose="020F0502020204030204" pitchFamily="34" charset="0"/>
              </a:rPr>
              <a:t>c</a:t>
            </a:r>
          </a:p>
          <a:p>
            <a:pPr algn="just" eaLnBrk="1" hangingPunct="1"/>
            <a:r>
              <a:rPr lang="en-US" altLang="zh-CN" sz="2800">
                <a:latin typeface="Calibri" panose="020F0502020204030204" pitchFamily="34" charset="0"/>
              </a:rPr>
              <a:t>d</a:t>
            </a:r>
            <a:endParaRPr lang="zh-CN" altLang="zh-CN" sz="2800"/>
          </a:p>
        </p:txBody>
      </p:sp>
      <p:sp>
        <p:nvSpPr>
          <p:cNvPr id="6153" name="Rectangle 17">
            <a:extLst>
              <a:ext uri="{FF2B5EF4-FFF2-40B4-BE49-F238E27FC236}">
                <a16:creationId xmlns:a16="http://schemas.microsoft.com/office/drawing/2014/main" id="{572D54E4-D36A-4C06-489E-1F25C75AE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6154" name="Group 1">
            <a:extLst>
              <a:ext uri="{FF2B5EF4-FFF2-40B4-BE49-F238E27FC236}">
                <a16:creationId xmlns:a16="http://schemas.microsoft.com/office/drawing/2014/main" id="{36AB3850-3899-8455-870B-79F73D774B9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-1331913" y="2781300"/>
            <a:ext cx="5484813" cy="3179763"/>
            <a:chOff x="3203" y="5357"/>
            <a:chExt cx="4320" cy="2504"/>
          </a:xfrm>
        </p:grpSpPr>
        <p:sp>
          <p:nvSpPr>
            <p:cNvPr id="6157" name="AutoShape 16">
              <a:extLst>
                <a:ext uri="{FF2B5EF4-FFF2-40B4-BE49-F238E27FC236}">
                  <a16:creationId xmlns:a16="http://schemas.microsoft.com/office/drawing/2014/main" id="{020C3621-693B-4099-7957-F73F2D8EE16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203" y="5357"/>
              <a:ext cx="4226" cy="2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8" name="Text Box 15">
              <a:extLst>
                <a:ext uri="{FF2B5EF4-FFF2-40B4-BE49-F238E27FC236}">
                  <a16:creationId xmlns:a16="http://schemas.microsoft.com/office/drawing/2014/main" id="{030B5076-6E13-7CE1-78E7-1340E55A71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79" y="7141"/>
              <a:ext cx="644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2800"/>
            </a:p>
          </p:txBody>
        </p:sp>
        <p:sp>
          <p:nvSpPr>
            <p:cNvPr id="6159" name="Text Box 14">
              <a:extLst>
                <a:ext uri="{FF2B5EF4-FFF2-40B4-BE49-F238E27FC236}">
                  <a16:creationId xmlns:a16="http://schemas.microsoft.com/office/drawing/2014/main" id="{651033FC-696F-83D8-EA8A-1C0968B2A6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9" y="5557"/>
              <a:ext cx="644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2800"/>
            </a:p>
          </p:txBody>
        </p:sp>
        <p:sp>
          <p:nvSpPr>
            <p:cNvPr id="6160" name="Text Box 13">
              <a:extLst>
                <a:ext uri="{FF2B5EF4-FFF2-40B4-BE49-F238E27FC236}">
                  <a16:creationId xmlns:a16="http://schemas.microsoft.com/office/drawing/2014/main" id="{6E2EF3A1-A151-1AAB-02E9-43774AA6E3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6" y="7211"/>
              <a:ext cx="62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2800"/>
            </a:p>
          </p:txBody>
        </p:sp>
        <p:sp>
          <p:nvSpPr>
            <p:cNvPr id="6161" name="Text Box 12">
              <a:extLst>
                <a:ext uri="{FF2B5EF4-FFF2-40B4-BE49-F238E27FC236}">
                  <a16:creationId xmlns:a16="http://schemas.microsoft.com/office/drawing/2014/main" id="{1353B953-199F-0660-695F-ED6C479F2C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9" y="5557"/>
              <a:ext cx="5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2800"/>
            </a:p>
          </p:txBody>
        </p:sp>
        <p:sp>
          <p:nvSpPr>
            <p:cNvPr id="6162" name="Oval 11">
              <a:extLst>
                <a:ext uri="{FF2B5EF4-FFF2-40B4-BE49-F238E27FC236}">
                  <a16:creationId xmlns:a16="http://schemas.microsoft.com/office/drawing/2014/main" id="{5FE202E9-FAF3-6CFC-C3B0-178ACE076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5" y="5918"/>
              <a:ext cx="222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163" name="Oval 10">
              <a:extLst>
                <a:ext uri="{FF2B5EF4-FFF2-40B4-BE49-F238E27FC236}">
                  <a16:creationId xmlns:a16="http://schemas.microsoft.com/office/drawing/2014/main" id="{29DE2010-ADD1-DEC1-EF6E-1F195366E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5" y="5918"/>
              <a:ext cx="222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164" name="Oval 9">
              <a:extLst>
                <a:ext uri="{FF2B5EF4-FFF2-40B4-BE49-F238E27FC236}">
                  <a16:creationId xmlns:a16="http://schemas.microsoft.com/office/drawing/2014/main" id="{494AF75A-45E0-AD15-EF4D-02C3F8DD8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5" y="7028"/>
              <a:ext cx="220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165" name="Oval 8">
              <a:extLst>
                <a:ext uri="{FF2B5EF4-FFF2-40B4-BE49-F238E27FC236}">
                  <a16:creationId xmlns:a16="http://schemas.microsoft.com/office/drawing/2014/main" id="{C38A62CC-A276-9676-3180-691B06715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6" y="7028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6166" name="AutoShape 7">
              <a:extLst>
                <a:ext uri="{FF2B5EF4-FFF2-40B4-BE49-F238E27FC236}">
                  <a16:creationId xmlns:a16="http://schemas.microsoft.com/office/drawing/2014/main" id="{F7CD1635-D331-713B-A5A7-8C9E9F2AF22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212" y="6705"/>
              <a:ext cx="1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67" name="AutoShape 6">
              <a:extLst>
                <a:ext uri="{FF2B5EF4-FFF2-40B4-BE49-F238E27FC236}">
                  <a16:creationId xmlns:a16="http://schemas.microsoft.com/office/drawing/2014/main" id="{297AB1DF-DB04-78F9-1080-1D9D354CFE6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967" y="6029"/>
              <a:ext cx="948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68" name="AutoShape 5">
              <a:extLst>
                <a:ext uri="{FF2B5EF4-FFF2-40B4-BE49-F238E27FC236}">
                  <a16:creationId xmlns:a16="http://schemas.microsoft.com/office/drawing/2014/main" id="{36A808D3-B9DE-F79B-99AD-3B2FB37D304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026" y="6139"/>
              <a:ext cx="1" cy="88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69" name="AutoShape 4">
              <a:extLst>
                <a:ext uri="{FF2B5EF4-FFF2-40B4-BE49-F238E27FC236}">
                  <a16:creationId xmlns:a16="http://schemas.microsoft.com/office/drawing/2014/main" id="{C7536891-D75F-F830-4FF9-C3CE5760AC7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855" y="6139"/>
              <a:ext cx="1" cy="88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0" name="AutoShape 3">
              <a:extLst>
                <a:ext uri="{FF2B5EF4-FFF2-40B4-BE49-F238E27FC236}">
                  <a16:creationId xmlns:a16="http://schemas.microsoft.com/office/drawing/2014/main" id="{208CA9EE-FE7C-93D9-94F9-C4A08EFB9B2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934" y="6107"/>
              <a:ext cx="1014" cy="95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1" name="AutoShape 2">
              <a:extLst>
                <a:ext uri="{FF2B5EF4-FFF2-40B4-BE49-F238E27FC236}">
                  <a16:creationId xmlns:a16="http://schemas.microsoft.com/office/drawing/2014/main" id="{3543F9AB-AAC7-A935-39FE-DD98B5E6509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933" y="6107"/>
              <a:ext cx="1015" cy="95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155" name="Rectangle 24">
            <a:extLst>
              <a:ext uri="{FF2B5EF4-FFF2-40B4-BE49-F238E27FC236}">
                <a16:creationId xmlns:a16="http://schemas.microsoft.com/office/drawing/2014/main" id="{41D88580-06EC-3CA3-EE83-699157CE0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156" name="对象 21">
            <a:extLst>
              <a:ext uri="{FF2B5EF4-FFF2-40B4-BE49-F238E27FC236}">
                <a16:creationId xmlns:a16="http://schemas.microsoft.com/office/drawing/2014/main" id="{818CFD7E-C20B-E2FE-9E46-3BE28B193F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78525" y="3565525"/>
          <a:ext cx="18288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914400" progId="Equation.DSMT4">
                  <p:embed/>
                </p:oleObj>
              </mc:Choice>
              <mc:Fallback>
                <p:oleObj name="Equation" r:id="rId2" imgW="914400" imgH="914400" progId="Equation.DSMT4">
                  <p:embed/>
                  <p:pic>
                    <p:nvPicPr>
                      <p:cNvPr id="0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8525" y="3565525"/>
                        <a:ext cx="18288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31">
            <a:extLst>
              <a:ext uri="{FF2B5EF4-FFF2-40B4-BE49-F238E27FC236}">
                <a16:creationId xmlns:a16="http://schemas.microsoft.com/office/drawing/2014/main" id="{3AEDDB63-E83D-10DC-A8D1-6F986FB26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7.3.1 </a:t>
            </a:r>
            <a:r>
              <a:rPr lang="zh-CN" altLang="en-US" b="1"/>
              <a:t>邻接矩阵</a:t>
            </a:r>
            <a:r>
              <a:rPr lang="zh-CN" altLang="en-US"/>
              <a:t> </a:t>
            </a:r>
          </a:p>
        </p:txBody>
      </p:sp>
      <p:sp>
        <p:nvSpPr>
          <p:cNvPr id="7171" name="内容占位符 2">
            <a:extLst>
              <a:ext uri="{FF2B5EF4-FFF2-40B4-BE49-F238E27FC236}">
                <a16:creationId xmlns:a16="http://schemas.microsoft.com/office/drawing/2014/main" id="{E8DCE753-DC7E-A865-648A-B0D2B7E61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例如</a:t>
            </a:r>
          </a:p>
        </p:txBody>
      </p:sp>
      <p:sp>
        <p:nvSpPr>
          <p:cNvPr id="7172" name="Rectangle 26">
            <a:extLst>
              <a:ext uri="{FF2B5EF4-FFF2-40B4-BE49-F238E27FC236}">
                <a16:creationId xmlns:a16="http://schemas.microsoft.com/office/drawing/2014/main" id="{89B4ABB3-FD16-04B8-1646-1E5A68580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3" name="Rectangle 32">
            <a:extLst>
              <a:ext uri="{FF2B5EF4-FFF2-40B4-BE49-F238E27FC236}">
                <a16:creationId xmlns:a16="http://schemas.microsoft.com/office/drawing/2014/main" id="{DC1201D5-D3A1-D338-208C-294B2C902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4" name="Rectangle 58">
            <a:extLst>
              <a:ext uri="{FF2B5EF4-FFF2-40B4-BE49-F238E27FC236}">
                <a16:creationId xmlns:a16="http://schemas.microsoft.com/office/drawing/2014/main" id="{309A1DBF-80F7-CDAE-9EF2-858BB8EFB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5" name="Text Box 64">
            <a:extLst>
              <a:ext uri="{FF2B5EF4-FFF2-40B4-BE49-F238E27FC236}">
                <a16:creationId xmlns:a16="http://schemas.microsoft.com/office/drawing/2014/main" id="{AE900D74-6D17-B2B1-7B4B-0883947ACA8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084888" y="2876550"/>
            <a:ext cx="1800225" cy="55245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800">
                <a:latin typeface="Calibri" panose="020F0502020204030204" pitchFamily="34" charset="0"/>
              </a:rPr>
              <a:t>a   b   c   d</a:t>
            </a:r>
            <a:endParaRPr lang="zh-CN" altLang="zh-CN" sz="2800"/>
          </a:p>
        </p:txBody>
      </p:sp>
      <p:sp>
        <p:nvSpPr>
          <p:cNvPr id="7176" name="Text Box 66">
            <a:extLst>
              <a:ext uri="{FF2B5EF4-FFF2-40B4-BE49-F238E27FC236}">
                <a16:creationId xmlns:a16="http://schemas.microsoft.com/office/drawing/2014/main" id="{254B6D4B-F8D8-E8CF-D1C4-D6164A113D3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513388" y="3538538"/>
            <a:ext cx="508000" cy="22288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800">
                <a:latin typeface="Calibri" panose="020F0502020204030204" pitchFamily="34" charset="0"/>
              </a:rPr>
              <a:t>a</a:t>
            </a:r>
          </a:p>
          <a:p>
            <a:pPr algn="just" eaLnBrk="1" hangingPunct="1"/>
            <a:r>
              <a:rPr lang="en-US" altLang="zh-CN" sz="2800">
                <a:latin typeface="Calibri" panose="020F0502020204030204" pitchFamily="34" charset="0"/>
              </a:rPr>
              <a:t>b</a:t>
            </a:r>
          </a:p>
          <a:p>
            <a:pPr algn="just" eaLnBrk="1" hangingPunct="1"/>
            <a:r>
              <a:rPr lang="en-US" altLang="zh-CN" sz="2800">
                <a:latin typeface="Calibri" panose="020F0502020204030204" pitchFamily="34" charset="0"/>
              </a:rPr>
              <a:t>c</a:t>
            </a:r>
          </a:p>
          <a:p>
            <a:pPr algn="just" eaLnBrk="1" hangingPunct="1"/>
            <a:r>
              <a:rPr lang="en-US" altLang="zh-CN" sz="2800">
                <a:latin typeface="Calibri" panose="020F0502020204030204" pitchFamily="34" charset="0"/>
              </a:rPr>
              <a:t>d</a:t>
            </a:r>
            <a:endParaRPr lang="zh-CN" altLang="zh-CN" sz="2800"/>
          </a:p>
        </p:txBody>
      </p:sp>
      <p:sp>
        <p:nvSpPr>
          <p:cNvPr id="7177" name="Rectangle 23">
            <a:extLst>
              <a:ext uri="{FF2B5EF4-FFF2-40B4-BE49-F238E27FC236}">
                <a16:creationId xmlns:a16="http://schemas.microsoft.com/office/drawing/2014/main" id="{D79095DF-F46E-4A70-098F-020BBBE52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7178" name="Group 2">
            <a:extLst>
              <a:ext uri="{FF2B5EF4-FFF2-40B4-BE49-F238E27FC236}">
                <a16:creationId xmlns:a16="http://schemas.microsoft.com/office/drawing/2014/main" id="{F4F64742-899E-C595-2C21-3087942F89D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-4246563" y="3128963"/>
            <a:ext cx="8739188" cy="2770187"/>
            <a:chOff x="3203" y="5612"/>
            <a:chExt cx="6883" cy="2182"/>
          </a:xfrm>
        </p:grpSpPr>
        <p:sp>
          <p:nvSpPr>
            <p:cNvPr id="7181" name="AutoShape 22">
              <a:extLst>
                <a:ext uri="{FF2B5EF4-FFF2-40B4-BE49-F238E27FC236}">
                  <a16:creationId xmlns:a16="http://schemas.microsoft.com/office/drawing/2014/main" id="{BEF754D3-9919-AB11-32BE-C07AED5D9AE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203" y="5612"/>
              <a:ext cx="6871" cy="2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2" name="Text Box 21">
              <a:extLst>
                <a:ext uri="{FF2B5EF4-FFF2-40B4-BE49-F238E27FC236}">
                  <a16:creationId xmlns:a16="http://schemas.microsoft.com/office/drawing/2014/main" id="{7566DF6C-15A3-A8AC-F5D6-B324917F55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57" y="5803"/>
              <a:ext cx="657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2800"/>
            </a:p>
          </p:txBody>
        </p:sp>
        <p:sp>
          <p:nvSpPr>
            <p:cNvPr id="7183" name="Text Box 20">
              <a:extLst>
                <a:ext uri="{FF2B5EF4-FFF2-40B4-BE49-F238E27FC236}">
                  <a16:creationId xmlns:a16="http://schemas.microsoft.com/office/drawing/2014/main" id="{D6CB05A7-C0E8-90E9-C8E3-73E6B58491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03" y="6992"/>
              <a:ext cx="657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2800"/>
            </a:p>
          </p:txBody>
        </p:sp>
        <p:sp>
          <p:nvSpPr>
            <p:cNvPr id="7184" name="Text Box 19">
              <a:extLst>
                <a:ext uri="{FF2B5EF4-FFF2-40B4-BE49-F238E27FC236}">
                  <a16:creationId xmlns:a16="http://schemas.microsoft.com/office/drawing/2014/main" id="{B9288928-1D7A-D665-7289-DD8CEC9FF7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37" y="7144"/>
              <a:ext cx="657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2800"/>
            </a:p>
          </p:txBody>
        </p:sp>
        <p:sp>
          <p:nvSpPr>
            <p:cNvPr id="7185" name="Text Box 18">
              <a:extLst>
                <a:ext uri="{FF2B5EF4-FFF2-40B4-BE49-F238E27FC236}">
                  <a16:creationId xmlns:a16="http://schemas.microsoft.com/office/drawing/2014/main" id="{08F0D39A-F280-824C-84DF-3BABD9572C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29" y="5803"/>
              <a:ext cx="657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2800"/>
            </a:p>
          </p:txBody>
        </p:sp>
        <p:sp>
          <p:nvSpPr>
            <p:cNvPr id="7186" name="Oval 17">
              <a:extLst>
                <a:ext uri="{FF2B5EF4-FFF2-40B4-BE49-F238E27FC236}">
                  <a16:creationId xmlns:a16="http://schemas.microsoft.com/office/drawing/2014/main" id="{CD5FAB6A-DDB4-AF3B-9C88-3236EFC8C6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0" y="5918"/>
              <a:ext cx="220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87" name="Oval 16">
              <a:extLst>
                <a:ext uri="{FF2B5EF4-FFF2-40B4-BE49-F238E27FC236}">
                  <a16:creationId xmlns:a16="http://schemas.microsoft.com/office/drawing/2014/main" id="{3AE58AC0-F082-2DC2-8978-4756BDF20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4" y="5918"/>
              <a:ext cx="221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88" name="Oval 15">
              <a:extLst>
                <a:ext uri="{FF2B5EF4-FFF2-40B4-BE49-F238E27FC236}">
                  <a16:creationId xmlns:a16="http://schemas.microsoft.com/office/drawing/2014/main" id="{0B708610-57DF-F609-2787-D57D21013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4" y="7028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89" name="Oval 14">
              <a:extLst>
                <a:ext uri="{FF2B5EF4-FFF2-40B4-BE49-F238E27FC236}">
                  <a16:creationId xmlns:a16="http://schemas.microsoft.com/office/drawing/2014/main" id="{56BAAB83-F84D-5796-EA16-7C90E4F914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0" y="7028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7190" name="AutoShape 13">
              <a:extLst>
                <a:ext uri="{FF2B5EF4-FFF2-40B4-BE49-F238E27FC236}">
                  <a16:creationId xmlns:a16="http://schemas.microsoft.com/office/drawing/2014/main" id="{4556C75F-35E0-BCAB-DC6E-898C9B6FE33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212" y="6705"/>
              <a:ext cx="1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91" name="AutoShape 12">
              <a:extLst>
                <a:ext uri="{FF2B5EF4-FFF2-40B4-BE49-F238E27FC236}">
                  <a16:creationId xmlns:a16="http://schemas.microsoft.com/office/drawing/2014/main" id="{4B47D058-5D72-AD2F-746F-AE48258D87F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310" y="6028"/>
              <a:ext cx="93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92" name="AutoShape 11">
              <a:extLst>
                <a:ext uri="{FF2B5EF4-FFF2-40B4-BE49-F238E27FC236}">
                  <a16:creationId xmlns:a16="http://schemas.microsoft.com/office/drawing/2014/main" id="{4928C0AC-D839-2089-F73F-7A1F0AED227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200" y="6139"/>
              <a:ext cx="1" cy="88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93" name="AutoShape 10">
              <a:extLst>
                <a:ext uri="{FF2B5EF4-FFF2-40B4-BE49-F238E27FC236}">
                  <a16:creationId xmlns:a16="http://schemas.microsoft.com/office/drawing/2014/main" id="{81C1A11A-6A72-A336-3627-F982F0287DB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355" y="6138"/>
              <a:ext cx="1" cy="8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94" name="AutoShape 9">
              <a:extLst>
                <a:ext uri="{FF2B5EF4-FFF2-40B4-BE49-F238E27FC236}">
                  <a16:creationId xmlns:a16="http://schemas.microsoft.com/office/drawing/2014/main" id="{863FC416-99CF-4763-F19F-711F255882B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11" y="7139"/>
              <a:ext cx="933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95" name="AutoShape 8">
              <a:extLst>
                <a:ext uri="{FF2B5EF4-FFF2-40B4-BE49-F238E27FC236}">
                  <a16:creationId xmlns:a16="http://schemas.microsoft.com/office/drawing/2014/main" id="{AB06B244-730F-DE4D-05A2-5F0A4A910B0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279" y="6106"/>
              <a:ext cx="997" cy="95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96" name="Freeform 7">
              <a:extLst>
                <a:ext uri="{FF2B5EF4-FFF2-40B4-BE49-F238E27FC236}">
                  <a16:creationId xmlns:a16="http://schemas.microsoft.com/office/drawing/2014/main" id="{98605DB7-CF5D-5A81-16D0-1CE227C1F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8" y="6122"/>
              <a:ext cx="197" cy="928"/>
            </a:xfrm>
            <a:custGeom>
              <a:avLst/>
              <a:gdLst>
                <a:gd name="T0" fmla="*/ 197 w 197"/>
                <a:gd name="T1" fmla="*/ 13 h 928"/>
                <a:gd name="T2" fmla="*/ 137 w 197"/>
                <a:gd name="T3" fmla="*/ 73 h 928"/>
                <a:gd name="T4" fmla="*/ 92 w 197"/>
                <a:gd name="T5" fmla="*/ 103 h 928"/>
                <a:gd name="T6" fmla="*/ 32 w 197"/>
                <a:gd name="T7" fmla="*/ 238 h 928"/>
                <a:gd name="T8" fmla="*/ 17 w 197"/>
                <a:gd name="T9" fmla="*/ 283 h 928"/>
                <a:gd name="T10" fmla="*/ 62 w 197"/>
                <a:gd name="T11" fmla="*/ 733 h 928"/>
                <a:gd name="T12" fmla="*/ 182 w 197"/>
                <a:gd name="T13" fmla="*/ 928 h 9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7" h="928">
                  <a:moveTo>
                    <a:pt x="197" y="13"/>
                  </a:moveTo>
                  <a:cubicBezTo>
                    <a:pt x="99" y="46"/>
                    <a:pt x="195" y="0"/>
                    <a:pt x="137" y="73"/>
                  </a:cubicBezTo>
                  <a:cubicBezTo>
                    <a:pt x="126" y="87"/>
                    <a:pt x="107" y="93"/>
                    <a:pt x="92" y="103"/>
                  </a:cubicBezTo>
                  <a:cubicBezTo>
                    <a:pt x="44" y="174"/>
                    <a:pt x="68" y="131"/>
                    <a:pt x="32" y="238"/>
                  </a:cubicBezTo>
                  <a:cubicBezTo>
                    <a:pt x="27" y="253"/>
                    <a:pt x="17" y="283"/>
                    <a:pt x="17" y="283"/>
                  </a:cubicBezTo>
                  <a:cubicBezTo>
                    <a:pt x="18" y="296"/>
                    <a:pt x="0" y="641"/>
                    <a:pt x="62" y="733"/>
                  </a:cubicBezTo>
                  <a:cubicBezTo>
                    <a:pt x="79" y="758"/>
                    <a:pt x="182" y="888"/>
                    <a:pt x="182" y="928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7" name="Freeform 6">
              <a:extLst>
                <a:ext uri="{FF2B5EF4-FFF2-40B4-BE49-F238E27FC236}">
                  <a16:creationId xmlns:a16="http://schemas.microsoft.com/office/drawing/2014/main" id="{3524447F-E5BE-4111-5A21-107B1D328B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" y="7245"/>
              <a:ext cx="1050" cy="210"/>
            </a:xfrm>
            <a:custGeom>
              <a:avLst/>
              <a:gdLst>
                <a:gd name="T0" fmla="*/ 1050 w 1050"/>
                <a:gd name="T1" fmla="*/ 0 h 210"/>
                <a:gd name="T2" fmla="*/ 930 w 1050"/>
                <a:gd name="T3" fmla="*/ 90 h 210"/>
                <a:gd name="T4" fmla="*/ 765 w 1050"/>
                <a:gd name="T5" fmla="*/ 210 h 210"/>
                <a:gd name="T6" fmla="*/ 270 w 1050"/>
                <a:gd name="T7" fmla="*/ 150 h 210"/>
                <a:gd name="T8" fmla="*/ 90 w 1050"/>
                <a:gd name="T9" fmla="*/ 75 h 210"/>
                <a:gd name="T10" fmla="*/ 0 w 1050"/>
                <a:gd name="T11" fmla="*/ 15 h 2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50" h="210">
                  <a:moveTo>
                    <a:pt x="1050" y="0"/>
                  </a:moveTo>
                  <a:cubicBezTo>
                    <a:pt x="982" y="23"/>
                    <a:pt x="991" y="50"/>
                    <a:pt x="930" y="90"/>
                  </a:cubicBezTo>
                  <a:cubicBezTo>
                    <a:pt x="880" y="165"/>
                    <a:pt x="835" y="164"/>
                    <a:pt x="765" y="210"/>
                  </a:cubicBezTo>
                  <a:cubicBezTo>
                    <a:pt x="592" y="201"/>
                    <a:pt x="434" y="199"/>
                    <a:pt x="270" y="150"/>
                  </a:cubicBezTo>
                  <a:cubicBezTo>
                    <a:pt x="207" y="131"/>
                    <a:pt x="146" y="106"/>
                    <a:pt x="90" y="75"/>
                  </a:cubicBezTo>
                  <a:cubicBezTo>
                    <a:pt x="58" y="57"/>
                    <a:pt x="0" y="15"/>
                    <a:pt x="0" y="1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8" name="Freeform 5">
              <a:extLst>
                <a:ext uri="{FF2B5EF4-FFF2-40B4-BE49-F238E27FC236}">
                  <a16:creationId xmlns:a16="http://schemas.microsoft.com/office/drawing/2014/main" id="{7E2343FF-E060-CDF3-4F19-7C4D94414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5" y="6075"/>
              <a:ext cx="1020" cy="180"/>
            </a:xfrm>
            <a:custGeom>
              <a:avLst/>
              <a:gdLst>
                <a:gd name="T0" fmla="*/ 1020 w 1020"/>
                <a:gd name="T1" fmla="*/ 0 h 180"/>
                <a:gd name="T2" fmla="*/ 930 w 1020"/>
                <a:gd name="T3" fmla="*/ 15 h 180"/>
                <a:gd name="T4" fmla="*/ 750 w 1020"/>
                <a:gd name="T5" fmla="*/ 135 h 180"/>
                <a:gd name="T6" fmla="*/ 570 w 1020"/>
                <a:gd name="T7" fmla="*/ 180 h 180"/>
                <a:gd name="T8" fmla="*/ 360 w 1020"/>
                <a:gd name="T9" fmla="*/ 165 h 180"/>
                <a:gd name="T10" fmla="*/ 60 w 1020"/>
                <a:gd name="T11" fmla="*/ 90 h 180"/>
                <a:gd name="T12" fmla="*/ 0 w 1020"/>
                <a:gd name="T13" fmla="*/ 45 h 1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20" h="180">
                  <a:moveTo>
                    <a:pt x="1020" y="0"/>
                  </a:moveTo>
                  <a:cubicBezTo>
                    <a:pt x="990" y="5"/>
                    <a:pt x="958" y="3"/>
                    <a:pt x="930" y="15"/>
                  </a:cubicBezTo>
                  <a:cubicBezTo>
                    <a:pt x="869" y="41"/>
                    <a:pt x="814" y="114"/>
                    <a:pt x="750" y="135"/>
                  </a:cubicBezTo>
                  <a:cubicBezTo>
                    <a:pt x="631" y="175"/>
                    <a:pt x="691" y="160"/>
                    <a:pt x="570" y="180"/>
                  </a:cubicBezTo>
                  <a:cubicBezTo>
                    <a:pt x="500" y="175"/>
                    <a:pt x="430" y="173"/>
                    <a:pt x="360" y="165"/>
                  </a:cubicBezTo>
                  <a:cubicBezTo>
                    <a:pt x="260" y="154"/>
                    <a:pt x="160" y="107"/>
                    <a:pt x="60" y="90"/>
                  </a:cubicBezTo>
                  <a:cubicBezTo>
                    <a:pt x="9" y="56"/>
                    <a:pt x="28" y="73"/>
                    <a:pt x="0" y="4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9" name="Freeform 4">
              <a:extLst>
                <a:ext uri="{FF2B5EF4-FFF2-40B4-BE49-F238E27FC236}">
                  <a16:creationId xmlns:a16="http://schemas.microsoft.com/office/drawing/2014/main" id="{441B00F4-DD72-94E0-CC00-A400AFEBA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0" y="5730"/>
              <a:ext cx="1155" cy="210"/>
            </a:xfrm>
            <a:custGeom>
              <a:avLst/>
              <a:gdLst>
                <a:gd name="T0" fmla="*/ 1155 w 1155"/>
                <a:gd name="T1" fmla="*/ 210 h 210"/>
                <a:gd name="T2" fmla="*/ 915 w 1155"/>
                <a:gd name="T3" fmla="*/ 30 h 210"/>
                <a:gd name="T4" fmla="*/ 870 w 1155"/>
                <a:gd name="T5" fmla="*/ 15 h 210"/>
                <a:gd name="T6" fmla="*/ 825 w 1155"/>
                <a:gd name="T7" fmla="*/ 0 h 210"/>
                <a:gd name="T8" fmla="*/ 285 w 1155"/>
                <a:gd name="T9" fmla="*/ 15 h 210"/>
                <a:gd name="T10" fmla="*/ 105 w 1155"/>
                <a:gd name="T11" fmla="*/ 75 h 210"/>
                <a:gd name="T12" fmla="*/ 15 w 1155"/>
                <a:gd name="T13" fmla="*/ 135 h 210"/>
                <a:gd name="T14" fmla="*/ 0 w 1155"/>
                <a:gd name="T15" fmla="*/ 180 h 21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55" h="210">
                  <a:moveTo>
                    <a:pt x="1155" y="210"/>
                  </a:moveTo>
                  <a:cubicBezTo>
                    <a:pt x="1119" y="102"/>
                    <a:pt x="1015" y="63"/>
                    <a:pt x="915" y="30"/>
                  </a:cubicBezTo>
                  <a:cubicBezTo>
                    <a:pt x="900" y="25"/>
                    <a:pt x="885" y="20"/>
                    <a:pt x="870" y="15"/>
                  </a:cubicBezTo>
                  <a:cubicBezTo>
                    <a:pt x="855" y="10"/>
                    <a:pt x="825" y="0"/>
                    <a:pt x="825" y="0"/>
                  </a:cubicBezTo>
                  <a:cubicBezTo>
                    <a:pt x="645" y="5"/>
                    <a:pt x="465" y="2"/>
                    <a:pt x="285" y="15"/>
                  </a:cubicBezTo>
                  <a:cubicBezTo>
                    <a:pt x="262" y="17"/>
                    <a:pt x="134" y="55"/>
                    <a:pt x="105" y="75"/>
                  </a:cubicBezTo>
                  <a:cubicBezTo>
                    <a:pt x="75" y="95"/>
                    <a:pt x="15" y="135"/>
                    <a:pt x="15" y="135"/>
                  </a:cubicBezTo>
                  <a:cubicBezTo>
                    <a:pt x="10" y="150"/>
                    <a:pt x="0" y="180"/>
                    <a:pt x="0" y="18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0" name="Freeform 3">
              <a:extLst>
                <a:ext uri="{FF2B5EF4-FFF2-40B4-BE49-F238E27FC236}">
                  <a16:creationId xmlns:a16="http://schemas.microsoft.com/office/drawing/2014/main" id="{2586BD74-B36E-61BE-2F26-95D43FB90822}"/>
                </a:ext>
              </a:extLst>
            </p:cNvPr>
            <p:cNvSpPr>
              <a:spLocks/>
            </p:cNvSpPr>
            <p:nvPr/>
          </p:nvSpPr>
          <p:spPr bwMode="auto">
            <a:xfrm>
              <a:off x="9399" y="6615"/>
              <a:ext cx="633" cy="553"/>
            </a:xfrm>
            <a:custGeom>
              <a:avLst/>
              <a:gdLst>
                <a:gd name="T0" fmla="*/ 6 w 633"/>
                <a:gd name="T1" fmla="*/ 405 h 553"/>
                <a:gd name="T2" fmla="*/ 66 w 633"/>
                <a:gd name="T3" fmla="*/ 315 h 553"/>
                <a:gd name="T4" fmla="*/ 246 w 633"/>
                <a:gd name="T5" fmla="*/ 90 h 553"/>
                <a:gd name="T6" fmla="*/ 291 w 633"/>
                <a:gd name="T7" fmla="*/ 75 h 553"/>
                <a:gd name="T8" fmla="*/ 426 w 633"/>
                <a:gd name="T9" fmla="*/ 0 h 553"/>
                <a:gd name="T10" fmla="*/ 561 w 633"/>
                <a:gd name="T11" fmla="*/ 75 h 553"/>
                <a:gd name="T12" fmla="*/ 591 w 633"/>
                <a:gd name="T13" fmla="*/ 315 h 553"/>
                <a:gd name="T14" fmla="*/ 516 w 633"/>
                <a:gd name="T15" fmla="*/ 375 h 553"/>
                <a:gd name="T16" fmla="*/ 336 w 633"/>
                <a:gd name="T17" fmla="*/ 480 h 553"/>
                <a:gd name="T18" fmla="*/ 156 w 633"/>
                <a:gd name="T19" fmla="*/ 540 h 553"/>
                <a:gd name="T20" fmla="*/ 36 w 633"/>
                <a:gd name="T21" fmla="*/ 540 h 5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33" h="553">
                  <a:moveTo>
                    <a:pt x="6" y="405"/>
                  </a:moveTo>
                  <a:cubicBezTo>
                    <a:pt x="35" y="319"/>
                    <a:pt x="0" y="399"/>
                    <a:pt x="66" y="315"/>
                  </a:cubicBezTo>
                  <a:cubicBezTo>
                    <a:pt x="154" y="202"/>
                    <a:pt x="142" y="194"/>
                    <a:pt x="246" y="90"/>
                  </a:cubicBezTo>
                  <a:cubicBezTo>
                    <a:pt x="257" y="79"/>
                    <a:pt x="277" y="82"/>
                    <a:pt x="291" y="75"/>
                  </a:cubicBezTo>
                  <a:cubicBezTo>
                    <a:pt x="336" y="52"/>
                    <a:pt x="384" y="28"/>
                    <a:pt x="426" y="0"/>
                  </a:cubicBezTo>
                  <a:cubicBezTo>
                    <a:pt x="529" y="69"/>
                    <a:pt x="482" y="49"/>
                    <a:pt x="561" y="75"/>
                  </a:cubicBezTo>
                  <a:cubicBezTo>
                    <a:pt x="602" y="197"/>
                    <a:pt x="633" y="134"/>
                    <a:pt x="591" y="315"/>
                  </a:cubicBezTo>
                  <a:cubicBezTo>
                    <a:pt x="577" y="375"/>
                    <a:pt x="556" y="353"/>
                    <a:pt x="516" y="375"/>
                  </a:cubicBezTo>
                  <a:cubicBezTo>
                    <a:pt x="453" y="410"/>
                    <a:pt x="401" y="451"/>
                    <a:pt x="336" y="480"/>
                  </a:cubicBezTo>
                  <a:cubicBezTo>
                    <a:pt x="280" y="505"/>
                    <a:pt x="214" y="521"/>
                    <a:pt x="156" y="540"/>
                  </a:cubicBezTo>
                  <a:cubicBezTo>
                    <a:pt x="118" y="553"/>
                    <a:pt x="76" y="540"/>
                    <a:pt x="36" y="54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79" name="Rectangle 29">
            <a:extLst>
              <a:ext uri="{FF2B5EF4-FFF2-40B4-BE49-F238E27FC236}">
                <a16:creationId xmlns:a16="http://schemas.microsoft.com/office/drawing/2014/main" id="{B5667B98-BB85-C38F-B4E6-82C49506F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180" name="对象 26">
            <a:extLst>
              <a:ext uri="{FF2B5EF4-FFF2-40B4-BE49-F238E27FC236}">
                <a16:creationId xmlns:a16="http://schemas.microsoft.com/office/drawing/2014/main" id="{475578C8-B31C-64A0-0152-0871B57C64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3925" y="3573463"/>
          <a:ext cx="18542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100" imgH="914400" progId="Equation.DSMT4">
                  <p:embed/>
                </p:oleObj>
              </mc:Choice>
              <mc:Fallback>
                <p:oleObj name="Equation" r:id="rId2" imgW="927100" imgH="914400" progId="Equation.DSMT4">
                  <p:embed/>
                  <p:pic>
                    <p:nvPicPr>
                      <p:cNvPr id="0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3925" y="3573463"/>
                        <a:ext cx="18542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34BBF0C7-2FA4-F774-61A7-2303E9A78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7.3.1 </a:t>
            </a:r>
            <a:r>
              <a:rPr lang="zh-CN" altLang="en-US" b="1"/>
              <a:t>邻接矩阵</a:t>
            </a:r>
            <a:r>
              <a:rPr lang="zh-CN" altLang="en-US"/>
              <a:t> </a:t>
            </a: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9AB6E032-199F-A0DC-501F-C9C175F81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zh-CN" sz="3600" b="1">
                <a:solidFill>
                  <a:srgbClr val="FF0000"/>
                </a:solidFill>
              </a:rPr>
              <a:t>定理</a:t>
            </a:r>
            <a:r>
              <a:rPr lang="en-US" altLang="zh-CN" sz="3600" b="1">
                <a:solidFill>
                  <a:srgbClr val="FF0000"/>
                </a:solidFill>
              </a:rPr>
              <a:t>2.5.1  </a:t>
            </a:r>
            <a:r>
              <a:rPr lang="zh-CN" altLang="en-US" sz="3600"/>
              <a:t>设</a:t>
            </a:r>
            <a:r>
              <a:rPr lang="zh-CN" altLang="zh-CN" sz="3600">
                <a:solidFill>
                  <a:srgbClr val="0066FF"/>
                </a:solidFill>
              </a:rPr>
              <a:t>有向图</a:t>
            </a:r>
            <a:r>
              <a:rPr lang="en-US" altLang="zh-CN" sz="3600"/>
              <a:t>G</a:t>
            </a:r>
            <a:r>
              <a:rPr lang="zh-CN" altLang="zh-CN" sz="3600"/>
              <a:t>，</a:t>
            </a:r>
            <a:r>
              <a:rPr lang="zh-CN" altLang="en-US" sz="3600"/>
              <a:t>其结点集</a:t>
            </a:r>
            <a:r>
              <a:rPr lang="en-US" altLang="zh-CN" sz="3600"/>
              <a:t>V</a:t>
            </a:r>
            <a:r>
              <a:rPr lang="zh-CN" altLang="zh-CN" sz="3600"/>
              <a:t>＝</a:t>
            </a:r>
            <a:r>
              <a:rPr lang="en-US" altLang="zh-CN" sz="3600"/>
              <a:t>{x</a:t>
            </a:r>
            <a:r>
              <a:rPr lang="en-US" altLang="zh-CN" sz="3600" baseline="-25000"/>
              <a:t>1</a:t>
            </a:r>
            <a:r>
              <a:rPr lang="en-US" altLang="zh-CN" sz="3600"/>
              <a:t>,x</a:t>
            </a:r>
            <a:r>
              <a:rPr lang="en-US" altLang="zh-CN" sz="3600" baseline="-25000"/>
              <a:t>2</a:t>
            </a:r>
            <a:r>
              <a:rPr lang="en-US" altLang="zh-CN" sz="3600"/>
              <a:t>,…,x</a:t>
            </a:r>
            <a:r>
              <a:rPr lang="en-US" altLang="zh-CN" sz="3600" baseline="-25000"/>
              <a:t>n</a:t>
            </a:r>
            <a:r>
              <a:rPr lang="en-US" altLang="zh-CN" sz="3600"/>
              <a:t>}</a:t>
            </a:r>
            <a:r>
              <a:rPr lang="zh-CN" altLang="zh-CN" sz="3600"/>
              <a:t>，且</a:t>
            </a:r>
            <a:r>
              <a:rPr lang="en-US" altLang="zh-CN" sz="3600"/>
              <a:t>A</a:t>
            </a:r>
            <a:r>
              <a:rPr lang="zh-CN" altLang="zh-CN" sz="3600"/>
              <a:t>＝</a:t>
            </a:r>
            <a:r>
              <a:rPr lang="en-US" altLang="zh-CN" sz="3600"/>
              <a:t>(a</a:t>
            </a:r>
            <a:r>
              <a:rPr lang="en-US" altLang="zh-CN" sz="3600" baseline="-25000"/>
              <a:t>ij</a:t>
            </a:r>
            <a:r>
              <a:rPr lang="en-US" altLang="zh-CN" sz="3600"/>
              <a:t>)</a:t>
            </a:r>
            <a:r>
              <a:rPr lang="en-US" altLang="zh-CN" sz="3600" baseline="-25000"/>
              <a:t>n×n</a:t>
            </a:r>
            <a:r>
              <a:rPr lang="zh-CN" altLang="zh-CN" sz="3600"/>
              <a:t>为</a:t>
            </a:r>
            <a:r>
              <a:rPr lang="en-US" altLang="zh-CN" sz="3600"/>
              <a:t>G</a:t>
            </a:r>
            <a:r>
              <a:rPr lang="zh-CN" altLang="zh-CN" sz="3600"/>
              <a:t>的邻接矩阵，则</a:t>
            </a:r>
            <a:r>
              <a:rPr lang="en-US" altLang="zh-CN" sz="3600"/>
              <a:t>A</a:t>
            </a:r>
            <a:r>
              <a:rPr lang="en-US" altLang="zh-CN" sz="3600" baseline="30000"/>
              <a:t>k</a:t>
            </a:r>
            <a:r>
              <a:rPr lang="zh-CN" altLang="zh-CN" sz="3600"/>
              <a:t>中的</a:t>
            </a:r>
            <a:r>
              <a:rPr lang="en-US" altLang="zh-CN" sz="3600"/>
              <a:t>i</a:t>
            </a:r>
            <a:r>
              <a:rPr lang="zh-CN" altLang="zh-CN" sz="3600"/>
              <a:t>行</a:t>
            </a:r>
            <a:r>
              <a:rPr lang="en-US" altLang="zh-CN" sz="3600"/>
              <a:t>j</a:t>
            </a:r>
            <a:r>
              <a:rPr lang="zh-CN" altLang="zh-CN" sz="3600"/>
              <a:t>列元素是图</a:t>
            </a:r>
            <a:r>
              <a:rPr lang="en-US" altLang="zh-CN" sz="3600"/>
              <a:t>G</a:t>
            </a:r>
            <a:r>
              <a:rPr lang="zh-CN" altLang="zh-CN" sz="3600"/>
              <a:t>中从</a:t>
            </a:r>
            <a:r>
              <a:rPr lang="en-US" altLang="zh-CN" sz="3600"/>
              <a:t>x</a:t>
            </a:r>
            <a:r>
              <a:rPr lang="en-US" altLang="zh-CN" sz="3600" baseline="-25000"/>
              <a:t>i</a:t>
            </a:r>
            <a:r>
              <a:rPr lang="zh-CN" altLang="zh-CN" sz="3600"/>
              <a:t>到</a:t>
            </a:r>
            <a:r>
              <a:rPr lang="en-US" altLang="zh-CN" sz="3600"/>
              <a:t>x</a:t>
            </a:r>
            <a:r>
              <a:rPr lang="en-US" altLang="zh-CN" sz="3600" baseline="-25000"/>
              <a:t>j</a:t>
            </a:r>
            <a:r>
              <a:rPr lang="zh-CN" altLang="zh-CN" sz="3600"/>
              <a:t>且长度为</a:t>
            </a:r>
            <a:r>
              <a:rPr lang="en-US" altLang="zh-CN" sz="3600"/>
              <a:t>k</a:t>
            </a:r>
            <a:r>
              <a:rPr lang="zh-CN" altLang="zh-CN" sz="3600"/>
              <a:t>的</a:t>
            </a:r>
            <a:r>
              <a:rPr lang="zh-CN" altLang="zh-CN" sz="3600">
                <a:solidFill>
                  <a:srgbClr val="FF00FF"/>
                </a:solidFill>
              </a:rPr>
              <a:t>有向链</a:t>
            </a:r>
            <a:r>
              <a:rPr lang="zh-CN" altLang="zh-CN" sz="3600"/>
              <a:t>的数目。</a:t>
            </a:r>
            <a:endParaRPr lang="zh-CN" altLang="en-US" sz="3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E8F252C3-94F7-59FF-35A6-6A1EC8373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7.3.1 </a:t>
            </a:r>
            <a:r>
              <a:rPr lang="zh-CN" altLang="en-US" b="1"/>
              <a:t>邻接矩阵</a:t>
            </a:r>
            <a:r>
              <a:rPr lang="zh-CN" altLang="en-US"/>
              <a:t> </a:t>
            </a:r>
          </a:p>
        </p:txBody>
      </p:sp>
      <p:sp>
        <p:nvSpPr>
          <p:cNvPr id="9219" name="内容占位符 2">
            <a:extLst>
              <a:ext uri="{FF2B5EF4-FFF2-40B4-BE49-F238E27FC236}">
                <a16:creationId xmlns:a16="http://schemas.microsoft.com/office/drawing/2014/main" id="{FC48CA53-28A1-9E2B-27EF-1CF1190E6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/>
              <a:t>例</a:t>
            </a:r>
          </a:p>
        </p:txBody>
      </p:sp>
      <p:sp>
        <p:nvSpPr>
          <p:cNvPr id="9220" name="Rectangle 25">
            <a:extLst>
              <a:ext uri="{FF2B5EF4-FFF2-40B4-BE49-F238E27FC236}">
                <a16:creationId xmlns:a16="http://schemas.microsoft.com/office/drawing/2014/main" id="{D315B806-5598-8B0F-AA22-8C4EDEF52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9221" name="Group 1">
            <a:extLst>
              <a:ext uri="{FF2B5EF4-FFF2-40B4-BE49-F238E27FC236}">
                <a16:creationId xmlns:a16="http://schemas.microsoft.com/office/drawing/2014/main" id="{47CAB747-0189-2D37-3AAC-EAD775BFE58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87450" y="2781300"/>
            <a:ext cx="3786188" cy="3597275"/>
            <a:chOff x="4620" y="7398"/>
            <a:chExt cx="3349" cy="3184"/>
          </a:xfrm>
        </p:grpSpPr>
        <p:sp>
          <p:nvSpPr>
            <p:cNvPr id="9227" name="AutoShape 24">
              <a:extLst>
                <a:ext uri="{FF2B5EF4-FFF2-40B4-BE49-F238E27FC236}">
                  <a16:creationId xmlns:a16="http://schemas.microsoft.com/office/drawing/2014/main" id="{3DE66FF9-3D0B-7B3C-8971-23DBED7BCA0D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620" y="7398"/>
              <a:ext cx="3349" cy="30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8" name="Text Box 23">
              <a:extLst>
                <a:ext uri="{FF2B5EF4-FFF2-40B4-BE49-F238E27FC236}">
                  <a16:creationId xmlns:a16="http://schemas.microsoft.com/office/drawing/2014/main" id="{B1CA2982-1BDE-6927-5AFA-7E878BA568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6" y="9748"/>
              <a:ext cx="5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2800"/>
            </a:p>
          </p:txBody>
        </p:sp>
        <p:sp>
          <p:nvSpPr>
            <p:cNvPr id="9229" name="Text Box 22">
              <a:extLst>
                <a:ext uri="{FF2B5EF4-FFF2-40B4-BE49-F238E27FC236}">
                  <a16:creationId xmlns:a16="http://schemas.microsoft.com/office/drawing/2014/main" id="{FFF334FD-0AE5-0450-E58B-6977A5061D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2" y="7720"/>
              <a:ext cx="5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2800"/>
            </a:p>
          </p:txBody>
        </p:sp>
        <p:sp>
          <p:nvSpPr>
            <p:cNvPr id="9230" name="Text Box 21">
              <a:extLst>
                <a:ext uri="{FF2B5EF4-FFF2-40B4-BE49-F238E27FC236}">
                  <a16:creationId xmlns:a16="http://schemas.microsoft.com/office/drawing/2014/main" id="{DB3C69B5-8B28-0EA3-3289-DC662349BE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25" y="9932"/>
              <a:ext cx="5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2800"/>
            </a:p>
          </p:txBody>
        </p:sp>
        <p:sp>
          <p:nvSpPr>
            <p:cNvPr id="9231" name="Text Box 20">
              <a:extLst>
                <a:ext uri="{FF2B5EF4-FFF2-40B4-BE49-F238E27FC236}">
                  <a16:creationId xmlns:a16="http://schemas.microsoft.com/office/drawing/2014/main" id="{D7431F36-A3D7-C6C4-FAEA-89B593277D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78" y="8728"/>
              <a:ext cx="5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2800"/>
            </a:p>
          </p:txBody>
        </p:sp>
        <p:sp>
          <p:nvSpPr>
            <p:cNvPr id="9232" name="Text Box 19">
              <a:extLst>
                <a:ext uri="{FF2B5EF4-FFF2-40B4-BE49-F238E27FC236}">
                  <a16:creationId xmlns:a16="http://schemas.microsoft.com/office/drawing/2014/main" id="{039EF3C9-7160-ABEA-9EAF-939842A5F4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6" y="7517"/>
              <a:ext cx="5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2800"/>
            </a:p>
          </p:txBody>
        </p:sp>
        <p:sp>
          <p:nvSpPr>
            <p:cNvPr id="9233" name="Oval 18">
              <a:extLst>
                <a:ext uri="{FF2B5EF4-FFF2-40B4-BE49-F238E27FC236}">
                  <a16:creationId xmlns:a16="http://schemas.microsoft.com/office/drawing/2014/main" id="{48912D4C-D9DA-3FD6-6A00-BF0F8FB38A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2" y="8120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34" name="Oval 17">
              <a:extLst>
                <a:ext uri="{FF2B5EF4-FFF2-40B4-BE49-F238E27FC236}">
                  <a16:creationId xmlns:a16="http://schemas.microsoft.com/office/drawing/2014/main" id="{1221DCC2-DAA3-B45D-F301-E9A460235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1" y="9575"/>
              <a:ext cx="222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35" name="Oval 16">
              <a:extLst>
                <a:ext uri="{FF2B5EF4-FFF2-40B4-BE49-F238E27FC236}">
                  <a16:creationId xmlns:a16="http://schemas.microsoft.com/office/drawing/2014/main" id="{C7F91ECA-69F1-2920-5348-3B63391E77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2" y="7679"/>
              <a:ext cx="222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36" name="Oval 15">
              <a:extLst>
                <a:ext uri="{FF2B5EF4-FFF2-40B4-BE49-F238E27FC236}">
                  <a16:creationId xmlns:a16="http://schemas.microsoft.com/office/drawing/2014/main" id="{004446A4-FA02-8311-5B1B-B418D22E4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6" y="8885"/>
              <a:ext cx="222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37" name="Oval 14">
              <a:extLst>
                <a:ext uri="{FF2B5EF4-FFF2-40B4-BE49-F238E27FC236}">
                  <a16:creationId xmlns:a16="http://schemas.microsoft.com/office/drawing/2014/main" id="{EC98AD43-9AF5-4B61-2162-9C4D7C11A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2" y="10085"/>
              <a:ext cx="222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9238" name="AutoShape 13">
              <a:extLst>
                <a:ext uri="{FF2B5EF4-FFF2-40B4-BE49-F238E27FC236}">
                  <a16:creationId xmlns:a16="http://schemas.microsoft.com/office/drawing/2014/main" id="{71670F06-AD3C-9BE7-FDDA-18C3FCF749E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922" y="8341"/>
              <a:ext cx="1" cy="123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39" name="AutoShape 12">
              <a:extLst>
                <a:ext uri="{FF2B5EF4-FFF2-40B4-BE49-F238E27FC236}">
                  <a16:creationId xmlns:a16="http://schemas.microsoft.com/office/drawing/2014/main" id="{16F182FB-6956-C1E4-1BFB-905A9DB7CF7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18" y="7884"/>
              <a:ext cx="816" cy="101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40" name="AutoShape 11">
              <a:extLst>
                <a:ext uri="{FF2B5EF4-FFF2-40B4-BE49-F238E27FC236}">
                  <a16:creationId xmlns:a16="http://schemas.microsoft.com/office/drawing/2014/main" id="{1220D84F-6828-3AF8-BBB2-AEECC0F83DE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481" y="9074"/>
              <a:ext cx="738" cy="104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41" name="AutoShape 10">
              <a:extLst>
                <a:ext uri="{FF2B5EF4-FFF2-40B4-BE49-F238E27FC236}">
                  <a16:creationId xmlns:a16="http://schemas.microsoft.com/office/drawing/2014/main" id="{D57C69E2-38D0-6FA8-3076-A85CBA94FAD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922" y="9074"/>
              <a:ext cx="1" cy="3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42" name="AutoShape 9">
              <a:extLst>
                <a:ext uri="{FF2B5EF4-FFF2-40B4-BE49-F238E27FC236}">
                  <a16:creationId xmlns:a16="http://schemas.microsoft.com/office/drawing/2014/main" id="{2BDDD767-CB40-797D-ADE7-52D19771A87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6900" y="8461"/>
              <a:ext cx="45" cy="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43" name="AutoShape 8">
              <a:extLst>
                <a:ext uri="{FF2B5EF4-FFF2-40B4-BE49-F238E27FC236}">
                  <a16:creationId xmlns:a16="http://schemas.microsoft.com/office/drawing/2014/main" id="{09580756-8671-43AF-12C0-E3E69C3190B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690" y="9706"/>
              <a:ext cx="90" cy="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244" name="Freeform 7">
              <a:extLst>
                <a:ext uri="{FF2B5EF4-FFF2-40B4-BE49-F238E27FC236}">
                  <a16:creationId xmlns:a16="http://schemas.microsoft.com/office/drawing/2014/main" id="{D9D6CCE7-8C2C-A07D-4846-D50A5EDA6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0" y="7891"/>
              <a:ext cx="889" cy="1020"/>
            </a:xfrm>
            <a:custGeom>
              <a:avLst/>
              <a:gdLst>
                <a:gd name="T0" fmla="*/ 0 w 889"/>
                <a:gd name="T1" fmla="*/ 0 h 1020"/>
                <a:gd name="T2" fmla="*/ 105 w 889"/>
                <a:gd name="T3" fmla="*/ 15 h 1020"/>
                <a:gd name="T4" fmla="*/ 195 w 889"/>
                <a:gd name="T5" fmla="*/ 45 h 1020"/>
                <a:gd name="T6" fmla="*/ 270 w 889"/>
                <a:gd name="T7" fmla="*/ 105 h 1020"/>
                <a:gd name="T8" fmla="*/ 405 w 889"/>
                <a:gd name="T9" fmla="*/ 195 h 1020"/>
                <a:gd name="T10" fmla="*/ 450 w 889"/>
                <a:gd name="T11" fmla="*/ 210 h 1020"/>
                <a:gd name="T12" fmla="*/ 540 w 889"/>
                <a:gd name="T13" fmla="*/ 270 h 1020"/>
                <a:gd name="T14" fmla="*/ 630 w 889"/>
                <a:gd name="T15" fmla="*/ 330 h 1020"/>
                <a:gd name="T16" fmla="*/ 675 w 889"/>
                <a:gd name="T17" fmla="*/ 360 h 1020"/>
                <a:gd name="T18" fmla="*/ 795 w 889"/>
                <a:gd name="T19" fmla="*/ 480 h 1020"/>
                <a:gd name="T20" fmla="*/ 870 w 889"/>
                <a:gd name="T21" fmla="*/ 780 h 1020"/>
                <a:gd name="T22" fmla="*/ 885 w 889"/>
                <a:gd name="T23" fmla="*/ 825 h 1020"/>
                <a:gd name="T24" fmla="*/ 885 w 889"/>
                <a:gd name="T25" fmla="*/ 1020 h 102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89" h="1020">
                  <a:moveTo>
                    <a:pt x="0" y="0"/>
                  </a:moveTo>
                  <a:cubicBezTo>
                    <a:pt x="35" y="5"/>
                    <a:pt x="71" y="7"/>
                    <a:pt x="105" y="15"/>
                  </a:cubicBezTo>
                  <a:cubicBezTo>
                    <a:pt x="136" y="22"/>
                    <a:pt x="195" y="45"/>
                    <a:pt x="195" y="45"/>
                  </a:cubicBezTo>
                  <a:cubicBezTo>
                    <a:pt x="250" y="128"/>
                    <a:pt x="193" y="62"/>
                    <a:pt x="270" y="105"/>
                  </a:cubicBezTo>
                  <a:cubicBezTo>
                    <a:pt x="317" y="131"/>
                    <a:pt x="360" y="165"/>
                    <a:pt x="405" y="195"/>
                  </a:cubicBezTo>
                  <a:cubicBezTo>
                    <a:pt x="418" y="204"/>
                    <a:pt x="436" y="202"/>
                    <a:pt x="450" y="210"/>
                  </a:cubicBezTo>
                  <a:cubicBezTo>
                    <a:pt x="482" y="228"/>
                    <a:pt x="510" y="250"/>
                    <a:pt x="540" y="270"/>
                  </a:cubicBezTo>
                  <a:cubicBezTo>
                    <a:pt x="570" y="290"/>
                    <a:pt x="600" y="310"/>
                    <a:pt x="630" y="330"/>
                  </a:cubicBezTo>
                  <a:cubicBezTo>
                    <a:pt x="645" y="340"/>
                    <a:pt x="675" y="360"/>
                    <a:pt x="675" y="360"/>
                  </a:cubicBezTo>
                  <a:cubicBezTo>
                    <a:pt x="709" y="411"/>
                    <a:pt x="752" y="437"/>
                    <a:pt x="795" y="480"/>
                  </a:cubicBezTo>
                  <a:cubicBezTo>
                    <a:pt x="830" y="585"/>
                    <a:pt x="848" y="671"/>
                    <a:pt x="870" y="780"/>
                  </a:cubicBezTo>
                  <a:cubicBezTo>
                    <a:pt x="873" y="796"/>
                    <a:pt x="884" y="809"/>
                    <a:pt x="885" y="825"/>
                  </a:cubicBezTo>
                  <a:cubicBezTo>
                    <a:pt x="889" y="890"/>
                    <a:pt x="885" y="955"/>
                    <a:pt x="885" y="102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5" name="Freeform 6">
              <a:extLst>
                <a:ext uri="{FF2B5EF4-FFF2-40B4-BE49-F238E27FC236}">
                  <a16:creationId xmlns:a16="http://schemas.microsoft.com/office/drawing/2014/main" id="{EC673AE5-508F-A4A9-2DDD-6394D2ED6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5" y="9106"/>
              <a:ext cx="869" cy="1095"/>
            </a:xfrm>
            <a:custGeom>
              <a:avLst/>
              <a:gdLst>
                <a:gd name="T0" fmla="*/ 840 w 869"/>
                <a:gd name="T1" fmla="*/ 0 h 1095"/>
                <a:gd name="T2" fmla="*/ 825 w 869"/>
                <a:gd name="T3" fmla="*/ 255 h 1095"/>
                <a:gd name="T4" fmla="*/ 615 w 869"/>
                <a:gd name="T5" fmla="*/ 780 h 1095"/>
                <a:gd name="T6" fmla="*/ 510 w 869"/>
                <a:gd name="T7" fmla="*/ 900 h 1095"/>
                <a:gd name="T8" fmla="*/ 435 w 869"/>
                <a:gd name="T9" fmla="*/ 975 h 1095"/>
                <a:gd name="T10" fmla="*/ 405 w 869"/>
                <a:gd name="T11" fmla="*/ 1020 h 1095"/>
                <a:gd name="T12" fmla="*/ 240 w 869"/>
                <a:gd name="T13" fmla="*/ 1035 h 1095"/>
                <a:gd name="T14" fmla="*/ 0 w 869"/>
                <a:gd name="T15" fmla="*/ 1095 h 109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9" h="1095">
                  <a:moveTo>
                    <a:pt x="840" y="0"/>
                  </a:moveTo>
                  <a:cubicBezTo>
                    <a:pt x="869" y="86"/>
                    <a:pt x="836" y="168"/>
                    <a:pt x="825" y="255"/>
                  </a:cubicBezTo>
                  <a:cubicBezTo>
                    <a:pt x="802" y="437"/>
                    <a:pt x="783" y="668"/>
                    <a:pt x="615" y="780"/>
                  </a:cubicBezTo>
                  <a:cubicBezTo>
                    <a:pt x="595" y="841"/>
                    <a:pt x="563" y="865"/>
                    <a:pt x="510" y="900"/>
                  </a:cubicBezTo>
                  <a:cubicBezTo>
                    <a:pt x="430" y="1020"/>
                    <a:pt x="535" y="875"/>
                    <a:pt x="435" y="975"/>
                  </a:cubicBezTo>
                  <a:cubicBezTo>
                    <a:pt x="422" y="988"/>
                    <a:pt x="422" y="1015"/>
                    <a:pt x="405" y="1020"/>
                  </a:cubicBezTo>
                  <a:cubicBezTo>
                    <a:pt x="352" y="1036"/>
                    <a:pt x="295" y="1030"/>
                    <a:pt x="240" y="1035"/>
                  </a:cubicBezTo>
                  <a:cubicBezTo>
                    <a:pt x="162" y="1061"/>
                    <a:pt x="84" y="1095"/>
                    <a:pt x="0" y="109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6" name="Freeform 5">
              <a:extLst>
                <a:ext uri="{FF2B5EF4-FFF2-40B4-BE49-F238E27FC236}">
                  <a16:creationId xmlns:a16="http://schemas.microsoft.com/office/drawing/2014/main" id="{2F7A5A6D-EAFA-9DB2-E7F7-264B6D22D7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5" y="8326"/>
              <a:ext cx="181" cy="1284"/>
            </a:xfrm>
            <a:custGeom>
              <a:avLst/>
              <a:gdLst>
                <a:gd name="T0" fmla="*/ 150 w 181"/>
                <a:gd name="T1" fmla="*/ 0 h 1284"/>
                <a:gd name="T2" fmla="*/ 105 w 181"/>
                <a:gd name="T3" fmla="*/ 180 h 1284"/>
                <a:gd name="T4" fmla="*/ 0 w 181"/>
                <a:gd name="T5" fmla="*/ 600 h 1284"/>
                <a:gd name="T6" fmla="*/ 15 w 181"/>
                <a:gd name="T7" fmla="*/ 900 h 1284"/>
                <a:gd name="T8" fmla="*/ 45 w 181"/>
                <a:gd name="T9" fmla="*/ 990 h 1284"/>
                <a:gd name="T10" fmla="*/ 135 w 181"/>
                <a:gd name="T11" fmla="*/ 1215 h 1284"/>
                <a:gd name="T12" fmla="*/ 165 w 181"/>
                <a:gd name="T13" fmla="*/ 1275 h 12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1" h="1284">
                  <a:moveTo>
                    <a:pt x="150" y="0"/>
                  </a:moveTo>
                  <a:cubicBezTo>
                    <a:pt x="181" y="92"/>
                    <a:pt x="123" y="98"/>
                    <a:pt x="105" y="180"/>
                  </a:cubicBezTo>
                  <a:cubicBezTo>
                    <a:pt x="74" y="321"/>
                    <a:pt x="24" y="457"/>
                    <a:pt x="0" y="600"/>
                  </a:cubicBezTo>
                  <a:cubicBezTo>
                    <a:pt x="5" y="700"/>
                    <a:pt x="4" y="801"/>
                    <a:pt x="15" y="900"/>
                  </a:cubicBezTo>
                  <a:cubicBezTo>
                    <a:pt x="19" y="931"/>
                    <a:pt x="35" y="960"/>
                    <a:pt x="45" y="990"/>
                  </a:cubicBezTo>
                  <a:cubicBezTo>
                    <a:pt x="72" y="1070"/>
                    <a:pt x="98" y="1141"/>
                    <a:pt x="135" y="1215"/>
                  </a:cubicBezTo>
                  <a:cubicBezTo>
                    <a:pt x="169" y="1284"/>
                    <a:pt x="131" y="1241"/>
                    <a:pt x="165" y="127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9247" name="AutoShape 4">
              <a:extLst>
                <a:ext uri="{FF2B5EF4-FFF2-40B4-BE49-F238E27FC236}">
                  <a16:creationId xmlns:a16="http://schemas.microsoft.com/office/drawing/2014/main" id="{7FAA46ED-16E3-176E-1817-BB2DA3662C8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85" y="8086"/>
              <a:ext cx="135" cy="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48" name="AutoShape 3">
              <a:extLst>
                <a:ext uri="{FF2B5EF4-FFF2-40B4-BE49-F238E27FC236}">
                  <a16:creationId xmlns:a16="http://schemas.microsoft.com/office/drawing/2014/main" id="{A3E7FB65-14A4-75C8-7A56-9C0E2EC51DD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975" y="9886"/>
              <a:ext cx="105" cy="1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49" name="AutoShape 2">
              <a:extLst>
                <a:ext uri="{FF2B5EF4-FFF2-40B4-BE49-F238E27FC236}">
                  <a16:creationId xmlns:a16="http://schemas.microsoft.com/office/drawing/2014/main" id="{0F7644C9-7354-CAD8-FEAA-004CB413943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10" y="9226"/>
              <a:ext cx="30" cy="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9222" name="Rectangle 32">
            <a:extLst>
              <a:ext uri="{FF2B5EF4-FFF2-40B4-BE49-F238E27FC236}">
                <a16:creationId xmlns:a16="http://schemas.microsoft.com/office/drawing/2014/main" id="{4FC7BB69-70DA-39A6-2B2C-B90AAB6F6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3" name="Rectangle 34">
            <a:extLst>
              <a:ext uri="{FF2B5EF4-FFF2-40B4-BE49-F238E27FC236}">
                <a16:creationId xmlns:a16="http://schemas.microsoft.com/office/drawing/2014/main" id="{C20F74A6-268B-7CDE-B787-F77A4AC13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224" name="对象 31">
            <a:extLst>
              <a:ext uri="{FF2B5EF4-FFF2-40B4-BE49-F238E27FC236}">
                <a16:creationId xmlns:a16="http://schemas.microsoft.com/office/drawing/2014/main" id="{8F45DF18-5A8B-5523-89DD-11DC3AB98C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4437063"/>
          <a:ext cx="30226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11300" imgH="1143000" progId="Equation.DSMT4">
                  <p:embed/>
                </p:oleObj>
              </mc:Choice>
              <mc:Fallback>
                <p:oleObj name="Equation" r:id="rId2" imgW="1511300" imgH="1143000" progId="Equation.DSMT4">
                  <p:embed/>
                  <p:pic>
                    <p:nvPicPr>
                      <p:cNvPr id="0" name="对象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4437063"/>
                        <a:ext cx="3022600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" name="Rectangle 36">
            <a:extLst>
              <a:ext uri="{FF2B5EF4-FFF2-40B4-BE49-F238E27FC236}">
                <a16:creationId xmlns:a16="http://schemas.microsoft.com/office/drawing/2014/main" id="{B61992A2-2BE0-FF9C-B1EF-F13B4252B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226" name="对象 33">
            <a:extLst>
              <a:ext uri="{FF2B5EF4-FFF2-40B4-BE49-F238E27FC236}">
                <a16:creationId xmlns:a16="http://schemas.microsoft.com/office/drawing/2014/main" id="{B7595A8B-4FAF-0E07-8B4F-2966CE1765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24525" y="1935163"/>
          <a:ext cx="27940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7000" imgH="1143000" progId="Equation.DSMT4">
                  <p:embed/>
                </p:oleObj>
              </mc:Choice>
              <mc:Fallback>
                <p:oleObj name="Equation" r:id="rId4" imgW="1397000" imgH="1143000" progId="Equation.DSMT4">
                  <p:embed/>
                  <p:pic>
                    <p:nvPicPr>
                      <p:cNvPr id="0" name="对象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1935163"/>
                        <a:ext cx="2794000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A7A517BE-81A9-3AE1-BC42-6E1D9F49F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7.3.2 </a:t>
            </a:r>
            <a:r>
              <a:rPr lang="zh-CN" altLang="en-US" b="1"/>
              <a:t>关联矩阵</a:t>
            </a:r>
            <a:r>
              <a:rPr lang="zh-CN" altLang="en-US"/>
              <a:t>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4C3CDD-AE20-D369-633E-21FE2DEAC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zh-CN" dirty="0"/>
              <a:t>设</a:t>
            </a:r>
            <a:r>
              <a:rPr lang="zh-CN" altLang="zh-CN" dirty="0">
                <a:solidFill>
                  <a:srgbClr val="FF0000"/>
                </a:solidFill>
              </a:rPr>
              <a:t>有向图</a:t>
            </a:r>
            <a:r>
              <a:rPr lang="en-US" altLang="zh-CN" dirty="0"/>
              <a:t>D</a:t>
            </a:r>
            <a:r>
              <a:rPr lang="zh-CN" altLang="zh-CN" dirty="0"/>
              <a:t>，</a:t>
            </a:r>
            <a:r>
              <a:rPr lang="zh-CN" altLang="en-US" dirty="0"/>
              <a:t>其结点集</a:t>
            </a:r>
            <a:r>
              <a:rPr lang="en-US" altLang="zh-CN" dirty="0"/>
              <a:t>V</a:t>
            </a:r>
            <a:r>
              <a:rPr lang="zh-CN" altLang="zh-CN" dirty="0"/>
              <a:t>＝</a:t>
            </a:r>
            <a:r>
              <a:rPr lang="en-US" altLang="zh-CN" dirty="0"/>
              <a:t>{x</a:t>
            </a:r>
            <a:r>
              <a:rPr lang="en-US" altLang="zh-CN" baseline="-25000" dirty="0"/>
              <a:t>1</a:t>
            </a:r>
            <a:r>
              <a:rPr lang="en-US" altLang="zh-CN" dirty="0"/>
              <a:t>,x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n</a:t>
            </a:r>
            <a:r>
              <a:rPr lang="en-US" altLang="zh-CN" dirty="0"/>
              <a:t>}</a:t>
            </a:r>
            <a:r>
              <a:rPr lang="zh-CN" altLang="zh-CN" dirty="0"/>
              <a:t>，</a:t>
            </a:r>
            <a:r>
              <a:rPr lang="zh-CN" altLang="en-US" dirty="0"/>
              <a:t>边集</a:t>
            </a:r>
            <a:r>
              <a:rPr lang="en-US" altLang="zh-CN" dirty="0"/>
              <a:t>E</a:t>
            </a:r>
            <a:r>
              <a:rPr lang="zh-CN" altLang="zh-CN" dirty="0"/>
              <a:t>＝</a:t>
            </a:r>
            <a:r>
              <a:rPr lang="en-US" altLang="zh-CN" dirty="0"/>
              <a:t>{e</a:t>
            </a:r>
            <a:r>
              <a:rPr lang="en-US" altLang="zh-CN" baseline="-25000" dirty="0"/>
              <a:t>1</a:t>
            </a:r>
            <a:r>
              <a:rPr lang="en-US" altLang="zh-CN" dirty="0"/>
              <a:t>,e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m</a:t>
            </a:r>
            <a:r>
              <a:rPr lang="en-US" altLang="zh-CN" dirty="0"/>
              <a:t>}</a:t>
            </a:r>
            <a:r>
              <a:rPr lang="zh-CN" altLang="zh-CN" dirty="0"/>
              <a:t>，称</a:t>
            </a:r>
            <a:r>
              <a:rPr lang="en-US" altLang="zh-CN" dirty="0" err="1"/>
              <a:t>n×m</a:t>
            </a:r>
            <a:r>
              <a:rPr lang="zh-CN" altLang="zh-CN" dirty="0"/>
              <a:t>阶矩阵</a:t>
            </a:r>
            <a:r>
              <a:rPr lang="en-US" altLang="zh-CN" dirty="0"/>
              <a:t>M</a:t>
            </a:r>
            <a:r>
              <a:rPr lang="zh-CN" altLang="zh-CN" dirty="0"/>
              <a:t>＝</a:t>
            </a:r>
            <a:r>
              <a:rPr lang="en-US" altLang="zh-CN" dirty="0"/>
              <a:t>(</a:t>
            </a:r>
            <a:r>
              <a:rPr lang="en-US" altLang="zh-CN" dirty="0" err="1"/>
              <a:t>m</a:t>
            </a:r>
            <a:r>
              <a:rPr lang="en-US" altLang="zh-CN" baseline="-25000" dirty="0" err="1"/>
              <a:t>ij</a:t>
            </a:r>
            <a:r>
              <a:rPr lang="en-US" altLang="zh-CN" dirty="0"/>
              <a:t>)</a:t>
            </a:r>
            <a:r>
              <a:rPr lang="zh-CN" altLang="zh-CN" dirty="0"/>
              <a:t> </a:t>
            </a:r>
            <a:r>
              <a:rPr lang="zh-CN" altLang="en-US" dirty="0"/>
              <a:t>图</a:t>
            </a:r>
            <a:r>
              <a:rPr lang="en-US" altLang="zh-CN" dirty="0"/>
              <a:t>D</a:t>
            </a:r>
            <a:r>
              <a:rPr lang="zh-CN" altLang="zh-CN" dirty="0"/>
              <a:t>的</a:t>
            </a:r>
            <a:r>
              <a:rPr lang="zh-CN" altLang="zh-CN" b="1" dirty="0">
                <a:solidFill>
                  <a:srgbClr val="FF0000"/>
                </a:solidFill>
              </a:rPr>
              <a:t>关联矩阵</a:t>
            </a:r>
            <a:r>
              <a:rPr lang="en-US" altLang="zh-CN" dirty="0"/>
              <a:t>(incidence </a:t>
            </a:r>
            <a:r>
              <a:rPr lang="en-US" altLang="zh-CN" dirty="0" err="1"/>
              <a:t>martrix</a:t>
            </a:r>
            <a:r>
              <a:rPr lang="en-US" altLang="zh-CN" dirty="0"/>
              <a:t>)</a:t>
            </a:r>
            <a:r>
              <a:rPr lang="zh-CN" altLang="zh-CN" dirty="0"/>
              <a:t>，其中</a:t>
            </a:r>
            <a:endParaRPr lang="en-US" altLang="zh-CN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zh-CN" dirty="0"/>
              <a:t> </a:t>
            </a:r>
            <a:r>
              <a:rPr lang="en-US" altLang="zh-CN" dirty="0" err="1"/>
              <a:t>m</a:t>
            </a:r>
            <a:r>
              <a:rPr lang="en-US" altLang="zh-CN" baseline="-25000" dirty="0" err="1"/>
              <a:t>ij</a:t>
            </a:r>
            <a:r>
              <a:rPr lang="en-US" altLang="zh-CN" baseline="-25000" dirty="0"/>
              <a:t> </a:t>
            </a:r>
            <a:r>
              <a:rPr lang="zh-CN" altLang="zh-CN" dirty="0"/>
              <a:t>＝</a:t>
            </a:r>
            <a:endParaRPr lang="en-US" altLang="zh-CN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407ED8EC-C978-189C-5ADC-2D622F819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0245" name="对象 4">
            <a:extLst>
              <a:ext uri="{FF2B5EF4-FFF2-40B4-BE49-F238E27FC236}">
                <a16:creationId xmlns:a16="http://schemas.microsoft.com/office/drawing/2014/main" id="{B641A49D-3E62-CD49-C1CF-FDF416FF31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4227513"/>
          <a:ext cx="6362700" cy="244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14600" imgH="965200" progId="Equation.DSMT4">
                  <p:embed/>
                </p:oleObj>
              </mc:Choice>
              <mc:Fallback>
                <p:oleObj name="Equation" r:id="rId2" imgW="2514600" imgH="9652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227513"/>
                        <a:ext cx="6362700" cy="244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4F42E279-468B-5CE4-EC06-5C9D36DAD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7.3.2 </a:t>
            </a:r>
            <a:r>
              <a:rPr lang="zh-CN" altLang="en-US" b="1"/>
              <a:t>关联矩阵</a:t>
            </a:r>
            <a:r>
              <a:rPr lang="zh-CN" altLang="en-US"/>
              <a:t> </a:t>
            </a:r>
          </a:p>
        </p:txBody>
      </p:sp>
      <p:sp>
        <p:nvSpPr>
          <p:cNvPr id="11267" name="内容占位符 2">
            <a:extLst>
              <a:ext uri="{FF2B5EF4-FFF2-40B4-BE49-F238E27FC236}">
                <a16:creationId xmlns:a16="http://schemas.microsoft.com/office/drawing/2014/main" id="{08D97ADE-4043-B1DF-7088-B2CA58D97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例如</a:t>
            </a:r>
          </a:p>
        </p:txBody>
      </p:sp>
      <p:sp>
        <p:nvSpPr>
          <p:cNvPr id="11268" name="Rectangle 42">
            <a:extLst>
              <a:ext uri="{FF2B5EF4-FFF2-40B4-BE49-F238E27FC236}">
                <a16:creationId xmlns:a16="http://schemas.microsoft.com/office/drawing/2014/main" id="{E0E4EBF3-4E79-A6A9-3132-6A6068117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1269" name="Group 1">
            <a:extLst>
              <a:ext uri="{FF2B5EF4-FFF2-40B4-BE49-F238E27FC236}">
                <a16:creationId xmlns:a16="http://schemas.microsoft.com/office/drawing/2014/main" id="{B1ACF6B5-D015-8EAF-8E93-4B817D9FD53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9288" y="3106738"/>
            <a:ext cx="3851275" cy="2846387"/>
            <a:chOff x="6143" y="1233"/>
            <a:chExt cx="3837" cy="2837"/>
          </a:xfrm>
        </p:grpSpPr>
        <p:sp>
          <p:nvSpPr>
            <p:cNvPr id="11273" name="AutoShape 41">
              <a:extLst>
                <a:ext uri="{FF2B5EF4-FFF2-40B4-BE49-F238E27FC236}">
                  <a16:creationId xmlns:a16="http://schemas.microsoft.com/office/drawing/2014/main" id="{7A4BFE01-26D6-58DA-BDFE-59FD20A4F32D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6143" y="1233"/>
              <a:ext cx="3837" cy="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4" name="Text Box 40">
              <a:extLst>
                <a:ext uri="{FF2B5EF4-FFF2-40B4-BE49-F238E27FC236}">
                  <a16:creationId xmlns:a16="http://schemas.microsoft.com/office/drawing/2014/main" id="{7CC37C67-BDE2-E735-A8F0-08CDBF96C4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2" y="1241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800"/>
            </a:p>
          </p:txBody>
        </p:sp>
        <p:sp>
          <p:nvSpPr>
            <p:cNvPr id="11275" name="Text Box 39">
              <a:extLst>
                <a:ext uri="{FF2B5EF4-FFF2-40B4-BE49-F238E27FC236}">
                  <a16:creationId xmlns:a16="http://schemas.microsoft.com/office/drawing/2014/main" id="{40E2842D-F3BC-0CDA-2617-15A1E3A8F3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51" y="2496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800"/>
            </a:p>
          </p:txBody>
        </p:sp>
        <p:sp>
          <p:nvSpPr>
            <p:cNvPr id="11276" name="Text Box 38">
              <a:extLst>
                <a:ext uri="{FF2B5EF4-FFF2-40B4-BE49-F238E27FC236}">
                  <a16:creationId xmlns:a16="http://schemas.microsoft.com/office/drawing/2014/main" id="{273F6116-A443-DC71-B5E5-6187352D68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1" y="2217"/>
              <a:ext cx="659" cy="7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800"/>
            </a:p>
          </p:txBody>
        </p:sp>
        <p:sp>
          <p:nvSpPr>
            <p:cNvPr id="11277" name="Text Box 37">
              <a:extLst>
                <a:ext uri="{FF2B5EF4-FFF2-40B4-BE49-F238E27FC236}">
                  <a16:creationId xmlns:a16="http://schemas.microsoft.com/office/drawing/2014/main" id="{E3C93EA8-9CB5-F7AF-7256-20EAA8A0E5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6" y="2846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800"/>
            </a:p>
          </p:txBody>
        </p:sp>
        <p:sp>
          <p:nvSpPr>
            <p:cNvPr id="11278" name="Text Box 36">
              <a:extLst>
                <a:ext uri="{FF2B5EF4-FFF2-40B4-BE49-F238E27FC236}">
                  <a16:creationId xmlns:a16="http://schemas.microsoft.com/office/drawing/2014/main" id="{9DEAE180-9644-8BD1-EBFF-5D7F8C7F17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83" y="2770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800"/>
            </a:p>
          </p:txBody>
        </p:sp>
        <p:sp>
          <p:nvSpPr>
            <p:cNvPr id="11279" name="Text Box 35">
              <a:extLst>
                <a:ext uri="{FF2B5EF4-FFF2-40B4-BE49-F238E27FC236}">
                  <a16:creationId xmlns:a16="http://schemas.microsoft.com/office/drawing/2014/main" id="{8FAC1A23-6FDB-3D85-FD94-B807D60E98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54" y="1327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 sz="2800"/>
            </a:p>
          </p:txBody>
        </p:sp>
        <p:sp>
          <p:nvSpPr>
            <p:cNvPr id="11280" name="Text Box 34">
              <a:extLst>
                <a:ext uri="{FF2B5EF4-FFF2-40B4-BE49-F238E27FC236}">
                  <a16:creationId xmlns:a16="http://schemas.microsoft.com/office/drawing/2014/main" id="{25CC30D5-7AD8-508E-BF63-EB48806BE5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73" y="3348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800"/>
            </a:p>
          </p:txBody>
        </p:sp>
        <p:sp>
          <p:nvSpPr>
            <p:cNvPr id="11281" name="Text Box 33">
              <a:extLst>
                <a:ext uri="{FF2B5EF4-FFF2-40B4-BE49-F238E27FC236}">
                  <a16:creationId xmlns:a16="http://schemas.microsoft.com/office/drawing/2014/main" id="{5C51E00C-E7B0-257D-B167-63159A2C11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91" y="2555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800"/>
            </a:p>
          </p:txBody>
        </p:sp>
        <p:sp>
          <p:nvSpPr>
            <p:cNvPr id="11282" name="Text Box 32">
              <a:extLst>
                <a:ext uri="{FF2B5EF4-FFF2-40B4-BE49-F238E27FC236}">
                  <a16:creationId xmlns:a16="http://schemas.microsoft.com/office/drawing/2014/main" id="{D5455E0E-F7EE-974C-CDB8-343631020E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13" y="2124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altLang="zh-CN" sz="2800"/>
            </a:p>
          </p:txBody>
        </p:sp>
        <p:sp>
          <p:nvSpPr>
            <p:cNvPr id="11283" name="Text Box 31">
              <a:extLst>
                <a:ext uri="{FF2B5EF4-FFF2-40B4-BE49-F238E27FC236}">
                  <a16:creationId xmlns:a16="http://schemas.microsoft.com/office/drawing/2014/main" id="{8AE5E2B4-C844-2AF0-691F-ECE6CD7D26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16" y="3420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800"/>
            </a:p>
          </p:txBody>
        </p:sp>
        <p:sp>
          <p:nvSpPr>
            <p:cNvPr id="11284" name="Text Box 30">
              <a:extLst>
                <a:ext uri="{FF2B5EF4-FFF2-40B4-BE49-F238E27FC236}">
                  <a16:creationId xmlns:a16="http://schemas.microsoft.com/office/drawing/2014/main" id="{34D619C0-582C-61B6-FD4E-26BB415BD3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4" y="3276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800"/>
            </a:p>
          </p:txBody>
        </p:sp>
        <p:sp>
          <p:nvSpPr>
            <p:cNvPr id="11285" name="Text Box 29">
              <a:extLst>
                <a:ext uri="{FF2B5EF4-FFF2-40B4-BE49-F238E27FC236}">
                  <a16:creationId xmlns:a16="http://schemas.microsoft.com/office/drawing/2014/main" id="{8F688E6E-10E9-AF8F-C652-FDC86A82BE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87" y="3420"/>
              <a:ext cx="749" cy="5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800"/>
            </a:p>
          </p:txBody>
        </p:sp>
        <p:sp>
          <p:nvSpPr>
            <p:cNvPr id="11286" name="Text Box 28">
              <a:extLst>
                <a:ext uri="{FF2B5EF4-FFF2-40B4-BE49-F238E27FC236}">
                  <a16:creationId xmlns:a16="http://schemas.microsoft.com/office/drawing/2014/main" id="{10A265F6-BA08-2528-0C83-C6C3607944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23" y="1846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800"/>
            </a:p>
          </p:txBody>
        </p:sp>
        <p:sp>
          <p:nvSpPr>
            <p:cNvPr id="11287" name="Text Box 27">
              <a:extLst>
                <a:ext uri="{FF2B5EF4-FFF2-40B4-BE49-F238E27FC236}">
                  <a16:creationId xmlns:a16="http://schemas.microsoft.com/office/drawing/2014/main" id="{A949AEDC-360B-0156-C292-8A661C2080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2" y="1756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800"/>
            </a:p>
          </p:txBody>
        </p:sp>
        <p:sp>
          <p:nvSpPr>
            <p:cNvPr id="11288" name="Text Box 26">
              <a:extLst>
                <a:ext uri="{FF2B5EF4-FFF2-40B4-BE49-F238E27FC236}">
                  <a16:creationId xmlns:a16="http://schemas.microsoft.com/office/drawing/2014/main" id="{8F43B0C0-B2F7-10EC-015B-9EA4A12652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5" y="1651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800"/>
            </a:p>
          </p:txBody>
        </p:sp>
        <p:sp>
          <p:nvSpPr>
            <p:cNvPr id="11289" name="Oval 25">
              <a:extLst>
                <a:ext uri="{FF2B5EF4-FFF2-40B4-BE49-F238E27FC236}">
                  <a16:creationId xmlns:a16="http://schemas.microsoft.com/office/drawing/2014/main" id="{9EFFE399-7B8B-A8F3-CAE1-E118C040C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1" y="2150"/>
              <a:ext cx="221" cy="21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90" name="Oval 24">
              <a:extLst>
                <a:ext uri="{FF2B5EF4-FFF2-40B4-BE49-F238E27FC236}">
                  <a16:creationId xmlns:a16="http://schemas.microsoft.com/office/drawing/2014/main" id="{DC505883-A3DC-7ABA-1977-E4ED7EE11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1" y="3365"/>
              <a:ext cx="221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91" name="Oval 23">
              <a:extLst>
                <a:ext uri="{FF2B5EF4-FFF2-40B4-BE49-F238E27FC236}">
                  <a16:creationId xmlns:a16="http://schemas.microsoft.com/office/drawing/2014/main" id="{41C4B5BE-62CE-DB41-0E0E-69DAEFC2C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1" y="2147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92" name="Oval 22">
              <a:extLst>
                <a:ext uri="{FF2B5EF4-FFF2-40B4-BE49-F238E27FC236}">
                  <a16:creationId xmlns:a16="http://schemas.microsoft.com/office/drawing/2014/main" id="{D9198C97-6AD9-825D-FF79-D1D8C32DFA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7" y="2150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93" name="Oval 21">
              <a:extLst>
                <a:ext uri="{FF2B5EF4-FFF2-40B4-BE49-F238E27FC236}">
                  <a16:creationId xmlns:a16="http://schemas.microsoft.com/office/drawing/2014/main" id="{D2A55743-0A1E-3482-C53E-2E3C61F359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1" y="3365"/>
              <a:ext cx="221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94" name="Oval 20">
              <a:extLst>
                <a:ext uri="{FF2B5EF4-FFF2-40B4-BE49-F238E27FC236}">
                  <a16:creationId xmlns:a16="http://schemas.microsoft.com/office/drawing/2014/main" id="{06218FA2-D740-F388-533E-5821D9C387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7" y="3365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11295" name="AutoShape 19">
              <a:extLst>
                <a:ext uri="{FF2B5EF4-FFF2-40B4-BE49-F238E27FC236}">
                  <a16:creationId xmlns:a16="http://schemas.microsoft.com/office/drawing/2014/main" id="{9786AE09-57C8-FE97-11E2-61A0FE64617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132" y="2369"/>
              <a:ext cx="1" cy="99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6" name="AutoShape 18">
              <a:extLst>
                <a:ext uri="{FF2B5EF4-FFF2-40B4-BE49-F238E27FC236}">
                  <a16:creationId xmlns:a16="http://schemas.microsoft.com/office/drawing/2014/main" id="{8C245C0C-339F-109B-29B0-7451C7F0A3F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178" y="2372"/>
              <a:ext cx="1" cy="99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7" name="AutoShape 17">
              <a:extLst>
                <a:ext uri="{FF2B5EF4-FFF2-40B4-BE49-F238E27FC236}">
                  <a16:creationId xmlns:a16="http://schemas.microsoft.com/office/drawing/2014/main" id="{7CC10580-C0BE-1325-7A5C-2A317771233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242" y="3475"/>
              <a:ext cx="825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8" name="AutoShape 16">
              <a:extLst>
                <a:ext uri="{FF2B5EF4-FFF2-40B4-BE49-F238E27FC236}">
                  <a16:creationId xmlns:a16="http://schemas.microsoft.com/office/drawing/2014/main" id="{BC203A6B-9F83-963D-D579-54DB35E22B1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242" y="2258"/>
              <a:ext cx="825" cy="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9" name="AutoShape 15">
              <a:extLst>
                <a:ext uri="{FF2B5EF4-FFF2-40B4-BE49-F238E27FC236}">
                  <a16:creationId xmlns:a16="http://schemas.microsoft.com/office/drawing/2014/main" id="{C67131A8-F343-196E-A8C7-F9ACA53286D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932" y="2336"/>
              <a:ext cx="1121" cy="102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00" name="AutoShape 14">
              <a:extLst>
                <a:ext uri="{FF2B5EF4-FFF2-40B4-BE49-F238E27FC236}">
                  <a16:creationId xmlns:a16="http://schemas.microsoft.com/office/drawing/2014/main" id="{411E8CBB-58EA-A291-7DCE-05B0AB43FCC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32" y="2369"/>
              <a:ext cx="1" cy="99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01" name="AutoShape 13">
              <a:extLst>
                <a:ext uri="{FF2B5EF4-FFF2-40B4-BE49-F238E27FC236}">
                  <a16:creationId xmlns:a16="http://schemas.microsoft.com/office/drawing/2014/main" id="{C4522034-71A8-BBF3-3BEA-6ABA06CA61A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445" y="2254"/>
              <a:ext cx="75" cy="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02" name="AutoShape 12">
              <a:extLst>
                <a:ext uri="{FF2B5EF4-FFF2-40B4-BE49-F238E27FC236}">
                  <a16:creationId xmlns:a16="http://schemas.microsoft.com/office/drawing/2014/main" id="{4157FE2D-2CAA-D6FE-0568-E1D1E2C76C3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33" y="2694"/>
              <a:ext cx="0" cy="1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303" name="Freeform 11">
              <a:extLst>
                <a:ext uri="{FF2B5EF4-FFF2-40B4-BE49-F238E27FC236}">
                  <a16:creationId xmlns:a16="http://schemas.microsoft.com/office/drawing/2014/main" id="{463226F4-EB36-AD64-D237-632CCD3AD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5" y="1809"/>
              <a:ext cx="720" cy="555"/>
            </a:xfrm>
            <a:custGeom>
              <a:avLst/>
              <a:gdLst>
                <a:gd name="T0" fmla="*/ 0 w 720"/>
                <a:gd name="T1" fmla="*/ 345 h 555"/>
                <a:gd name="T2" fmla="*/ 120 w 720"/>
                <a:gd name="T3" fmla="*/ 135 h 555"/>
                <a:gd name="T4" fmla="*/ 360 w 720"/>
                <a:gd name="T5" fmla="*/ 0 h 555"/>
                <a:gd name="T6" fmla="*/ 615 w 720"/>
                <a:gd name="T7" fmla="*/ 120 h 555"/>
                <a:gd name="T8" fmla="*/ 660 w 720"/>
                <a:gd name="T9" fmla="*/ 165 h 555"/>
                <a:gd name="T10" fmla="*/ 720 w 720"/>
                <a:gd name="T11" fmla="*/ 255 h 555"/>
                <a:gd name="T12" fmla="*/ 615 w 720"/>
                <a:gd name="T13" fmla="*/ 450 h 555"/>
                <a:gd name="T14" fmla="*/ 585 w 720"/>
                <a:gd name="T15" fmla="*/ 495 h 555"/>
                <a:gd name="T16" fmla="*/ 495 w 720"/>
                <a:gd name="T17" fmla="*/ 525 h 555"/>
                <a:gd name="T18" fmla="*/ 450 w 720"/>
                <a:gd name="T19" fmla="*/ 555 h 555"/>
                <a:gd name="T20" fmla="*/ 210 w 720"/>
                <a:gd name="T21" fmla="*/ 540 h 555"/>
                <a:gd name="T22" fmla="*/ 15 w 720"/>
                <a:gd name="T23" fmla="*/ 510 h 5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20" h="555">
                  <a:moveTo>
                    <a:pt x="0" y="345"/>
                  </a:moveTo>
                  <a:cubicBezTo>
                    <a:pt x="33" y="245"/>
                    <a:pt x="32" y="194"/>
                    <a:pt x="120" y="135"/>
                  </a:cubicBezTo>
                  <a:cubicBezTo>
                    <a:pt x="196" y="21"/>
                    <a:pt x="249" y="37"/>
                    <a:pt x="360" y="0"/>
                  </a:cubicBezTo>
                  <a:cubicBezTo>
                    <a:pt x="526" y="21"/>
                    <a:pt x="495" y="0"/>
                    <a:pt x="615" y="120"/>
                  </a:cubicBezTo>
                  <a:cubicBezTo>
                    <a:pt x="630" y="135"/>
                    <a:pt x="648" y="147"/>
                    <a:pt x="660" y="165"/>
                  </a:cubicBezTo>
                  <a:cubicBezTo>
                    <a:pt x="680" y="195"/>
                    <a:pt x="720" y="255"/>
                    <a:pt x="720" y="255"/>
                  </a:cubicBezTo>
                  <a:cubicBezTo>
                    <a:pt x="705" y="344"/>
                    <a:pt x="710" y="418"/>
                    <a:pt x="615" y="450"/>
                  </a:cubicBezTo>
                  <a:cubicBezTo>
                    <a:pt x="605" y="465"/>
                    <a:pt x="600" y="485"/>
                    <a:pt x="585" y="495"/>
                  </a:cubicBezTo>
                  <a:cubicBezTo>
                    <a:pt x="558" y="512"/>
                    <a:pt x="521" y="507"/>
                    <a:pt x="495" y="525"/>
                  </a:cubicBezTo>
                  <a:cubicBezTo>
                    <a:pt x="480" y="535"/>
                    <a:pt x="465" y="545"/>
                    <a:pt x="450" y="555"/>
                  </a:cubicBezTo>
                  <a:cubicBezTo>
                    <a:pt x="370" y="550"/>
                    <a:pt x="290" y="546"/>
                    <a:pt x="210" y="540"/>
                  </a:cubicBezTo>
                  <a:cubicBezTo>
                    <a:pt x="165" y="536"/>
                    <a:pt x="70" y="510"/>
                    <a:pt x="15" y="51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4" name="Freeform 10">
              <a:extLst>
                <a:ext uri="{FF2B5EF4-FFF2-40B4-BE49-F238E27FC236}">
                  <a16:creationId xmlns:a16="http://schemas.microsoft.com/office/drawing/2014/main" id="{A3EF84AB-7FED-8FDF-317D-BE40BE22B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0" y="1936"/>
              <a:ext cx="1005" cy="210"/>
            </a:xfrm>
            <a:custGeom>
              <a:avLst/>
              <a:gdLst>
                <a:gd name="T0" fmla="*/ 0 w 1005"/>
                <a:gd name="T1" fmla="*/ 195 h 210"/>
                <a:gd name="T2" fmla="*/ 150 w 1005"/>
                <a:gd name="T3" fmla="*/ 45 h 210"/>
                <a:gd name="T4" fmla="*/ 315 w 1005"/>
                <a:gd name="T5" fmla="*/ 0 h 210"/>
                <a:gd name="T6" fmla="*/ 660 w 1005"/>
                <a:gd name="T7" fmla="*/ 30 h 210"/>
                <a:gd name="T8" fmla="*/ 870 w 1005"/>
                <a:gd name="T9" fmla="*/ 90 h 210"/>
                <a:gd name="T10" fmla="*/ 945 w 1005"/>
                <a:gd name="T11" fmla="*/ 165 h 210"/>
                <a:gd name="T12" fmla="*/ 1005 w 1005"/>
                <a:gd name="T13" fmla="*/ 210 h 2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05" h="210">
                  <a:moveTo>
                    <a:pt x="0" y="195"/>
                  </a:moveTo>
                  <a:cubicBezTo>
                    <a:pt x="74" y="146"/>
                    <a:pt x="75" y="83"/>
                    <a:pt x="150" y="45"/>
                  </a:cubicBezTo>
                  <a:cubicBezTo>
                    <a:pt x="201" y="20"/>
                    <a:pt x="315" y="0"/>
                    <a:pt x="315" y="0"/>
                  </a:cubicBezTo>
                  <a:cubicBezTo>
                    <a:pt x="485" y="10"/>
                    <a:pt x="527" y="3"/>
                    <a:pt x="660" y="30"/>
                  </a:cubicBezTo>
                  <a:cubicBezTo>
                    <a:pt x="731" y="44"/>
                    <a:pt x="799" y="72"/>
                    <a:pt x="870" y="90"/>
                  </a:cubicBezTo>
                  <a:cubicBezTo>
                    <a:pt x="990" y="170"/>
                    <a:pt x="845" y="65"/>
                    <a:pt x="945" y="165"/>
                  </a:cubicBezTo>
                  <a:cubicBezTo>
                    <a:pt x="963" y="183"/>
                    <a:pt x="987" y="192"/>
                    <a:pt x="1005" y="21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5" name="Freeform 9">
              <a:extLst>
                <a:ext uri="{FF2B5EF4-FFF2-40B4-BE49-F238E27FC236}">
                  <a16:creationId xmlns:a16="http://schemas.microsoft.com/office/drawing/2014/main" id="{EEA3BCAA-29E6-1F55-BA28-906C563FD7B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5" y="2311"/>
              <a:ext cx="225" cy="1100"/>
            </a:xfrm>
            <a:custGeom>
              <a:avLst/>
              <a:gdLst>
                <a:gd name="T0" fmla="*/ 225 w 225"/>
                <a:gd name="T1" fmla="*/ 0 h 1100"/>
                <a:gd name="T2" fmla="*/ 135 w 225"/>
                <a:gd name="T3" fmla="*/ 120 h 1100"/>
                <a:gd name="T4" fmla="*/ 105 w 225"/>
                <a:gd name="T5" fmla="*/ 210 h 1100"/>
                <a:gd name="T6" fmla="*/ 30 w 225"/>
                <a:gd name="T7" fmla="*/ 345 h 1100"/>
                <a:gd name="T8" fmla="*/ 0 w 225"/>
                <a:gd name="T9" fmla="*/ 525 h 1100"/>
                <a:gd name="T10" fmla="*/ 60 w 225"/>
                <a:gd name="T11" fmla="*/ 780 h 1100"/>
                <a:gd name="T12" fmla="*/ 120 w 225"/>
                <a:gd name="T13" fmla="*/ 915 h 1100"/>
                <a:gd name="T14" fmla="*/ 180 w 225"/>
                <a:gd name="T15" fmla="*/ 1050 h 1100"/>
                <a:gd name="T16" fmla="*/ 210 w 225"/>
                <a:gd name="T17" fmla="*/ 1095 h 1100"/>
                <a:gd name="T18" fmla="*/ 195 w 225"/>
                <a:gd name="T19" fmla="*/ 1095 h 11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5" h="1100">
                  <a:moveTo>
                    <a:pt x="225" y="0"/>
                  </a:moveTo>
                  <a:cubicBezTo>
                    <a:pt x="183" y="63"/>
                    <a:pt x="200" y="77"/>
                    <a:pt x="135" y="120"/>
                  </a:cubicBezTo>
                  <a:cubicBezTo>
                    <a:pt x="125" y="150"/>
                    <a:pt x="115" y="180"/>
                    <a:pt x="105" y="210"/>
                  </a:cubicBezTo>
                  <a:cubicBezTo>
                    <a:pt x="45" y="390"/>
                    <a:pt x="53" y="232"/>
                    <a:pt x="30" y="345"/>
                  </a:cubicBezTo>
                  <a:cubicBezTo>
                    <a:pt x="18" y="405"/>
                    <a:pt x="0" y="525"/>
                    <a:pt x="0" y="525"/>
                  </a:cubicBezTo>
                  <a:cubicBezTo>
                    <a:pt x="10" y="595"/>
                    <a:pt x="19" y="718"/>
                    <a:pt x="60" y="780"/>
                  </a:cubicBezTo>
                  <a:cubicBezTo>
                    <a:pt x="108" y="851"/>
                    <a:pt x="84" y="808"/>
                    <a:pt x="120" y="915"/>
                  </a:cubicBezTo>
                  <a:cubicBezTo>
                    <a:pt x="136" y="962"/>
                    <a:pt x="158" y="1006"/>
                    <a:pt x="180" y="1050"/>
                  </a:cubicBezTo>
                  <a:cubicBezTo>
                    <a:pt x="188" y="1066"/>
                    <a:pt x="204" y="1078"/>
                    <a:pt x="210" y="1095"/>
                  </a:cubicBezTo>
                  <a:cubicBezTo>
                    <a:pt x="212" y="1100"/>
                    <a:pt x="200" y="1095"/>
                    <a:pt x="195" y="109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1306" name="AutoShape 8">
              <a:extLst>
                <a:ext uri="{FF2B5EF4-FFF2-40B4-BE49-F238E27FC236}">
                  <a16:creationId xmlns:a16="http://schemas.microsoft.com/office/drawing/2014/main" id="{1BE43384-554A-43DB-731C-E6F61A4733F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6675" y="3091"/>
              <a:ext cx="60" cy="1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07" name="AutoShape 7">
              <a:extLst>
                <a:ext uri="{FF2B5EF4-FFF2-40B4-BE49-F238E27FC236}">
                  <a16:creationId xmlns:a16="http://schemas.microsoft.com/office/drawing/2014/main" id="{A7BBC116-45F2-F3C9-6BD7-8CF878F190D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790" y="1966"/>
              <a:ext cx="210" cy="6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08" name="AutoShape 6">
              <a:extLst>
                <a:ext uri="{FF2B5EF4-FFF2-40B4-BE49-F238E27FC236}">
                  <a16:creationId xmlns:a16="http://schemas.microsoft.com/office/drawing/2014/main" id="{93564813-FADA-39F6-2F90-BE3733856DA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573" y="1929"/>
              <a:ext cx="105" cy="1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09" name="AutoShape 5">
              <a:extLst>
                <a:ext uri="{FF2B5EF4-FFF2-40B4-BE49-F238E27FC236}">
                  <a16:creationId xmlns:a16="http://schemas.microsoft.com/office/drawing/2014/main" id="{DFC7C270-DA50-6069-E5A5-6205BC6DFBD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442" y="2814"/>
              <a:ext cx="105" cy="8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10" name="AutoShape 4">
              <a:extLst>
                <a:ext uri="{FF2B5EF4-FFF2-40B4-BE49-F238E27FC236}">
                  <a16:creationId xmlns:a16="http://schemas.microsoft.com/office/drawing/2014/main" id="{7980B031-7687-F68C-338A-9A33794776A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130" y="2814"/>
              <a:ext cx="0" cy="8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11" name="AutoShape 3">
              <a:extLst>
                <a:ext uri="{FF2B5EF4-FFF2-40B4-BE49-F238E27FC236}">
                  <a16:creationId xmlns:a16="http://schemas.microsoft.com/office/drawing/2014/main" id="{CDFE5CB2-84A2-1082-DC87-9BC0DBFC515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179" y="2894"/>
              <a:ext cx="0" cy="16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12" name="AutoShape 2">
              <a:extLst>
                <a:ext uri="{FF2B5EF4-FFF2-40B4-BE49-F238E27FC236}">
                  <a16:creationId xmlns:a16="http://schemas.microsoft.com/office/drawing/2014/main" id="{B2D062AE-3FEA-9123-2FAD-04434DDE289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610" y="3476"/>
              <a:ext cx="10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1270" name="Rectangle 59">
            <a:extLst>
              <a:ext uri="{FF2B5EF4-FFF2-40B4-BE49-F238E27FC236}">
                <a16:creationId xmlns:a16="http://schemas.microsoft.com/office/drawing/2014/main" id="{CF0AA1CB-399A-85D0-C2B2-D4582EA5C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FFD5A922-9361-06F6-DBBE-2AC681F509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3686175"/>
          <a:ext cx="4494213" cy="216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44800" imgH="1371600" progId="Equation.DSMT4">
                  <p:embed/>
                </p:oleObj>
              </mc:Choice>
              <mc:Fallback>
                <p:oleObj name="Equation" r:id="rId2" imgW="2844800" imgH="1371600" progId="Equation.DSMT4">
                  <p:embed/>
                  <p:pic>
                    <p:nvPicPr>
                      <p:cNvPr id="0" name="对象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686175"/>
                        <a:ext cx="4494213" cy="216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Box 64">
            <a:extLst>
              <a:ext uri="{FF2B5EF4-FFF2-40B4-BE49-F238E27FC236}">
                <a16:creationId xmlns:a16="http://schemas.microsoft.com/office/drawing/2014/main" id="{A8EFC490-275D-A179-23C7-6F8DB17BA04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32363" y="3163888"/>
            <a:ext cx="4024312" cy="55245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000"/>
              <a:t>e</a:t>
            </a:r>
            <a:r>
              <a:rPr lang="en-US" altLang="zh-CN" sz="2000" baseline="-25000"/>
              <a:t>1    </a:t>
            </a:r>
            <a:r>
              <a:rPr lang="en-US" altLang="zh-CN" sz="2000"/>
              <a:t>e</a:t>
            </a:r>
            <a:r>
              <a:rPr lang="en-US" altLang="zh-CN" sz="2000" baseline="-25000"/>
              <a:t>2    </a:t>
            </a:r>
            <a:r>
              <a:rPr lang="en-US" altLang="zh-CN" sz="2000"/>
              <a:t>e</a:t>
            </a:r>
            <a:r>
              <a:rPr lang="en-US" altLang="zh-CN" sz="2000" baseline="-25000"/>
              <a:t>3    </a:t>
            </a:r>
            <a:r>
              <a:rPr lang="en-US" altLang="zh-CN" sz="2000"/>
              <a:t>e</a:t>
            </a:r>
            <a:r>
              <a:rPr lang="en-US" altLang="zh-CN" sz="2000" baseline="-25000"/>
              <a:t>4     </a:t>
            </a:r>
            <a:r>
              <a:rPr lang="en-US" altLang="zh-CN" sz="2000"/>
              <a:t>e</a:t>
            </a:r>
            <a:r>
              <a:rPr lang="en-US" altLang="zh-CN" sz="2000" baseline="-25000"/>
              <a:t>5 </a:t>
            </a:r>
            <a:r>
              <a:rPr lang="en-US" altLang="zh-CN" sz="2000"/>
              <a:t>  e</a:t>
            </a:r>
            <a:r>
              <a:rPr lang="en-US" altLang="zh-CN" sz="2000" baseline="-25000"/>
              <a:t>6 </a:t>
            </a:r>
            <a:r>
              <a:rPr lang="en-US" altLang="zh-CN" sz="2000"/>
              <a:t>  e</a:t>
            </a:r>
            <a:r>
              <a:rPr lang="en-US" altLang="zh-CN" sz="2000" baseline="-25000"/>
              <a:t>7 </a:t>
            </a:r>
            <a:r>
              <a:rPr lang="en-US" altLang="zh-CN" sz="2000"/>
              <a:t>  e</a:t>
            </a:r>
            <a:r>
              <a:rPr lang="en-US" altLang="zh-CN" sz="2000" baseline="-25000"/>
              <a:t>8     </a:t>
            </a:r>
            <a:r>
              <a:rPr lang="en-US" altLang="zh-CN" sz="2000"/>
              <a:t>e</a:t>
            </a:r>
            <a:r>
              <a:rPr lang="en-US" altLang="zh-CN" sz="2000" baseline="-25000"/>
              <a:t>9</a:t>
            </a:r>
            <a:endParaRPr lang="zh-CN" altLang="zh-CN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C548F9B0-0E0B-1641-7BAA-282C83F57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7.3.2 </a:t>
            </a:r>
            <a:r>
              <a:rPr lang="zh-CN" altLang="en-US" b="1"/>
              <a:t>关联矩阵</a:t>
            </a:r>
            <a:r>
              <a:rPr lang="zh-CN" altLang="en-US"/>
              <a:t>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777EF7-47E4-6D03-D40F-84D815042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zh-CN" dirty="0"/>
              <a:t>设</a:t>
            </a:r>
            <a:r>
              <a:rPr lang="zh-CN" altLang="zh-CN" dirty="0">
                <a:solidFill>
                  <a:srgbClr val="FF0000"/>
                </a:solidFill>
              </a:rPr>
              <a:t>无向图</a:t>
            </a:r>
            <a:r>
              <a:rPr lang="en-US" altLang="zh-CN" dirty="0"/>
              <a:t>G </a:t>
            </a:r>
            <a:r>
              <a:rPr lang="zh-CN" altLang="zh-CN" dirty="0"/>
              <a:t>，且</a:t>
            </a:r>
            <a:r>
              <a:rPr lang="zh-CN" altLang="en-US" dirty="0"/>
              <a:t>结点集</a:t>
            </a:r>
            <a:r>
              <a:rPr lang="en-US" altLang="zh-CN" dirty="0"/>
              <a:t>V</a:t>
            </a:r>
            <a:r>
              <a:rPr lang="zh-CN" altLang="zh-CN" dirty="0"/>
              <a:t>＝</a:t>
            </a:r>
            <a:r>
              <a:rPr lang="en-US" altLang="zh-CN" dirty="0"/>
              <a:t>{x</a:t>
            </a:r>
            <a:r>
              <a:rPr lang="en-US" altLang="zh-CN" baseline="-25000" dirty="0"/>
              <a:t>1</a:t>
            </a:r>
            <a:r>
              <a:rPr lang="en-US" altLang="zh-CN" dirty="0"/>
              <a:t>,x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n</a:t>
            </a:r>
            <a:r>
              <a:rPr lang="en-US" altLang="zh-CN" dirty="0"/>
              <a:t>}</a:t>
            </a:r>
            <a:r>
              <a:rPr lang="zh-CN" altLang="zh-CN" dirty="0"/>
              <a:t>，</a:t>
            </a:r>
            <a:r>
              <a:rPr lang="zh-CN" altLang="en-US" dirty="0"/>
              <a:t>边集</a:t>
            </a:r>
            <a:r>
              <a:rPr lang="en-US" altLang="zh-CN" dirty="0"/>
              <a:t>E</a:t>
            </a:r>
            <a:r>
              <a:rPr lang="zh-CN" altLang="zh-CN" dirty="0"/>
              <a:t>＝</a:t>
            </a:r>
            <a:r>
              <a:rPr lang="en-US" altLang="zh-CN" dirty="0"/>
              <a:t>{e</a:t>
            </a:r>
            <a:r>
              <a:rPr lang="en-US" altLang="zh-CN" baseline="-25000" dirty="0"/>
              <a:t>1</a:t>
            </a:r>
            <a:r>
              <a:rPr lang="en-US" altLang="zh-CN" dirty="0"/>
              <a:t>,e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m</a:t>
            </a:r>
            <a:r>
              <a:rPr lang="en-US" altLang="zh-CN" dirty="0"/>
              <a:t>}</a:t>
            </a:r>
            <a:r>
              <a:rPr lang="zh-CN" altLang="zh-CN" dirty="0"/>
              <a:t>，称</a:t>
            </a:r>
            <a:r>
              <a:rPr lang="en-US" altLang="zh-CN" dirty="0" err="1"/>
              <a:t>n×m</a:t>
            </a:r>
            <a:r>
              <a:rPr lang="zh-CN" altLang="zh-CN" dirty="0"/>
              <a:t>阶矩阵</a:t>
            </a:r>
            <a:r>
              <a:rPr lang="en-US" altLang="zh-CN" dirty="0"/>
              <a:t>M</a:t>
            </a:r>
            <a:r>
              <a:rPr lang="zh-CN" altLang="zh-CN" dirty="0"/>
              <a:t>＝</a:t>
            </a:r>
            <a:r>
              <a:rPr lang="en-US" altLang="zh-CN" dirty="0"/>
              <a:t>(</a:t>
            </a:r>
            <a:r>
              <a:rPr lang="en-US" altLang="zh-CN" dirty="0" err="1"/>
              <a:t>m</a:t>
            </a:r>
            <a:r>
              <a:rPr lang="en-US" altLang="zh-CN" baseline="-25000" dirty="0" err="1"/>
              <a:t>ij</a:t>
            </a:r>
            <a:r>
              <a:rPr lang="en-US" altLang="zh-CN" dirty="0"/>
              <a:t>)</a:t>
            </a:r>
            <a:r>
              <a:rPr lang="zh-CN" altLang="zh-CN" dirty="0"/>
              <a:t>为无向图</a:t>
            </a:r>
            <a:r>
              <a:rPr lang="en-US" altLang="zh-CN" dirty="0"/>
              <a:t>G</a:t>
            </a:r>
            <a:r>
              <a:rPr lang="zh-CN" altLang="zh-CN" dirty="0"/>
              <a:t>的</a:t>
            </a:r>
            <a:r>
              <a:rPr lang="zh-CN" altLang="zh-CN" dirty="0">
                <a:solidFill>
                  <a:srgbClr val="FF0000"/>
                </a:solidFill>
              </a:rPr>
              <a:t>关联矩阵</a:t>
            </a:r>
            <a:r>
              <a:rPr lang="zh-CN" altLang="zh-CN" dirty="0"/>
              <a:t>，其中</a:t>
            </a:r>
            <a:endParaRPr lang="en-US" altLang="zh-CN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zh-CN" altLang="zh-CN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 err="1"/>
              <a:t>m</a:t>
            </a:r>
            <a:r>
              <a:rPr lang="en-US" altLang="zh-CN" baseline="-25000" dirty="0" err="1"/>
              <a:t>ij</a:t>
            </a:r>
            <a:r>
              <a:rPr lang="zh-CN" altLang="zh-CN" dirty="0"/>
              <a:t>＝</a:t>
            </a:r>
            <a:endParaRPr lang="en-US" altLang="zh-CN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sp>
        <p:nvSpPr>
          <p:cNvPr id="12292" name="Rectangle 2">
            <a:extLst>
              <a:ext uri="{FF2B5EF4-FFF2-40B4-BE49-F238E27FC236}">
                <a16:creationId xmlns:a16="http://schemas.microsoft.com/office/drawing/2014/main" id="{6691E608-2BE7-171F-EEE5-FC8CFB891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2293" name="对象 4">
            <a:extLst>
              <a:ext uri="{FF2B5EF4-FFF2-40B4-BE49-F238E27FC236}">
                <a16:creationId xmlns:a16="http://schemas.microsoft.com/office/drawing/2014/main" id="{D72605A5-1A79-33B7-1F88-81948F6777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4365625"/>
          <a:ext cx="5430838" cy="211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92300" imgH="736600" progId="Equation.DSMT4">
                  <p:embed/>
                </p:oleObj>
              </mc:Choice>
              <mc:Fallback>
                <p:oleObj name="Equation" r:id="rId2" imgW="1892300" imgH="7366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365625"/>
                        <a:ext cx="5430838" cy="2112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>
            <a:extLst>
              <a:ext uri="{FF2B5EF4-FFF2-40B4-BE49-F238E27FC236}">
                <a16:creationId xmlns:a16="http://schemas.microsoft.com/office/drawing/2014/main" id="{A46C7BB5-5DC4-0241-AFE5-0A287F967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7.3.2 </a:t>
            </a:r>
            <a:r>
              <a:rPr lang="zh-CN" altLang="en-US" b="1"/>
              <a:t>关联矩阵</a:t>
            </a:r>
            <a:r>
              <a:rPr lang="zh-CN" altLang="en-US"/>
              <a:t> </a:t>
            </a:r>
          </a:p>
        </p:txBody>
      </p:sp>
      <p:sp>
        <p:nvSpPr>
          <p:cNvPr id="13315" name="内容占位符 2">
            <a:extLst>
              <a:ext uri="{FF2B5EF4-FFF2-40B4-BE49-F238E27FC236}">
                <a16:creationId xmlns:a16="http://schemas.microsoft.com/office/drawing/2014/main" id="{C1A62B10-9907-52B1-D2F0-F4ED9BFC7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例如</a:t>
            </a:r>
          </a:p>
        </p:txBody>
      </p:sp>
      <p:sp>
        <p:nvSpPr>
          <p:cNvPr id="13316" name="Rectangle 29">
            <a:extLst>
              <a:ext uri="{FF2B5EF4-FFF2-40B4-BE49-F238E27FC236}">
                <a16:creationId xmlns:a16="http://schemas.microsoft.com/office/drawing/2014/main" id="{110469C9-951F-9DE4-9858-B84324C14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3317" name="Group 1">
            <a:extLst>
              <a:ext uri="{FF2B5EF4-FFF2-40B4-BE49-F238E27FC236}">
                <a16:creationId xmlns:a16="http://schemas.microsoft.com/office/drawing/2014/main" id="{A5C7EACB-EAF7-ED82-4A32-E76FDA5A9FA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11188" y="2603500"/>
            <a:ext cx="4445000" cy="3489325"/>
            <a:chOff x="2385" y="1383"/>
            <a:chExt cx="3501" cy="2748"/>
          </a:xfrm>
        </p:grpSpPr>
        <p:sp>
          <p:nvSpPr>
            <p:cNvPr id="13321" name="AutoShape 28">
              <a:extLst>
                <a:ext uri="{FF2B5EF4-FFF2-40B4-BE49-F238E27FC236}">
                  <a16:creationId xmlns:a16="http://schemas.microsoft.com/office/drawing/2014/main" id="{746081F8-2347-1674-0FCF-2B78C56CA9F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385" y="1383"/>
              <a:ext cx="3501" cy="26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2" name="Text Box 27">
              <a:extLst>
                <a:ext uri="{FF2B5EF4-FFF2-40B4-BE49-F238E27FC236}">
                  <a16:creationId xmlns:a16="http://schemas.microsoft.com/office/drawing/2014/main" id="{05D0D517-A23A-8254-9A2D-C9685182A3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4" y="2547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800"/>
            </a:p>
          </p:txBody>
        </p:sp>
        <p:sp>
          <p:nvSpPr>
            <p:cNvPr id="13323" name="Text Box 26">
              <a:extLst>
                <a:ext uri="{FF2B5EF4-FFF2-40B4-BE49-F238E27FC236}">
                  <a16:creationId xmlns:a16="http://schemas.microsoft.com/office/drawing/2014/main" id="{77BDC530-B07D-6ED6-8699-A5B48F1B83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1" y="2717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800"/>
            </a:p>
          </p:txBody>
        </p:sp>
        <p:sp>
          <p:nvSpPr>
            <p:cNvPr id="13324" name="Text Box 25">
              <a:extLst>
                <a:ext uri="{FF2B5EF4-FFF2-40B4-BE49-F238E27FC236}">
                  <a16:creationId xmlns:a16="http://schemas.microsoft.com/office/drawing/2014/main" id="{2A84C2A9-AC46-CF74-8E5D-E37CCB37C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3" y="2717"/>
              <a:ext cx="624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800"/>
            </a:p>
          </p:txBody>
        </p:sp>
        <p:sp>
          <p:nvSpPr>
            <p:cNvPr id="13325" name="Text Box 24">
              <a:extLst>
                <a:ext uri="{FF2B5EF4-FFF2-40B4-BE49-F238E27FC236}">
                  <a16:creationId xmlns:a16="http://schemas.microsoft.com/office/drawing/2014/main" id="{E0497F59-DE9F-F302-E13E-B87496FF97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7" y="1583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800"/>
            </a:p>
          </p:txBody>
        </p:sp>
        <p:sp>
          <p:nvSpPr>
            <p:cNvPr id="13326" name="Text Box 23">
              <a:extLst>
                <a:ext uri="{FF2B5EF4-FFF2-40B4-BE49-F238E27FC236}">
                  <a16:creationId xmlns:a16="http://schemas.microsoft.com/office/drawing/2014/main" id="{06B8FA2B-D3E6-0F42-962D-FC6C4B96D7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8" y="2150"/>
              <a:ext cx="695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800"/>
            </a:p>
          </p:txBody>
        </p:sp>
        <p:sp>
          <p:nvSpPr>
            <p:cNvPr id="13327" name="Text Box 22">
              <a:extLst>
                <a:ext uri="{FF2B5EF4-FFF2-40B4-BE49-F238E27FC236}">
                  <a16:creationId xmlns:a16="http://schemas.microsoft.com/office/drawing/2014/main" id="{5B57DFA5-8B0B-BA49-3BB8-32A21BB52C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0" y="3360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 sz="2800"/>
            </a:p>
          </p:txBody>
        </p:sp>
        <p:sp>
          <p:nvSpPr>
            <p:cNvPr id="13328" name="Text Box 21">
              <a:extLst>
                <a:ext uri="{FF2B5EF4-FFF2-40B4-BE49-F238E27FC236}">
                  <a16:creationId xmlns:a16="http://schemas.microsoft.com/office/drawing/2014/main" id="{B1AC4153-9098-8859-28D6-1388DAB70F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4" y="1859"/>
              <a:ext cx="650" cy="60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800"/>
            </a:p>
          </p:txBody>
        </p:sp>
        <p:sp>
          <p:nvSpPr>
            <p:cNvPr id="13329" name="Text Box 20">
              <a:extLst>
                <a:ext uri="{FF2B5EF4-FFF2-40B4-BE49-F238E27FC236}">
                  <a16:creationId xmlns:a16="http://schemas.microsoft.com/office/drawing/2014/main" id="{875BBF3F-F600-36B8-AC2E-8A34C6C5E2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8" y="2290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800"/>
            </a:p>
          </p:txBody>
        </p:sp>
        <p:sp>
          <p:nvSpPr>
            <p:cNvPr id="13330" name="Text Box 19">
              <a:extLst>
                <a:ext uri="{FF2B5EF4-FFF2-40B4-BE49-F238E27FC236}">
                  <a16:creationId xmlns:a16="http://schemas.microsoft.com/office/drawing/2014/main" id="{421E83B9-A04A-8BA4-B7FB-B94171EF92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9" y="1754"/>
              <a:ext cx="551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800"/>
            </a:p>
          </p:txBody>
        </p:sp>
        <p:sp>
          <p:nvSpPr>
            <p:cNvPr id="13331" name="Text Box 18">
              <a:extLst>
                <a:ext uri="{FF2B5EF4-FFF2-40B4-BE49-F238E27FC236}">
                  <a16:creationId xmlns:a16="http://schemas.microsoft.com/office/drawing/2014/main" id="{37544597-316F-FEE0-9C0D-6402388232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9" y="1845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800"/>
            </a:p>
          </p:txBody>
        </p:sp>
        <p:sp>
          <p:nvSpPr>
            <p:cNvPr id="13332" name="Text Box 17">
              <a:extLst>
                <a:ext uri="{FF2B5EF4-FFF2-40B4-BE49-F238E27FC236}">
                  <a16:creationId xmlns:a16="http://schemas.microsoft.com/office/drawing/2014/main" id="{A8C10B21-5ED9-0B0E-E2E5-951F0DE4E2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0" y="1837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800"/>
            </a:p>
          </p:txBody>
        </p:sp>
        <p:sp>
          <p:nvSpPr>
            <p:cNvPr id="13333" name="Text Box 16">
              <a:extLst>
                <a:ext uri="{FF2B5EF4-FFF2-40B4-BE49-F238E27FC236}">
                  <a16:creationId xmlns:a16="http://schemas.microsoft.com/office/drawing/2014/main" id="{1B99ED7D-C9A3-5974-C459-CFE910C231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8" y="3424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800"/>
            </a:p>
          </p:txBody>
        </p:sp>
        <p:sp>
          <p:nvSpPr>
            <p:cNvPr id="13334" name="Text Box 15">
              <a:extLst>
                <a:ext uri="{FF2B5EF4-FFF2-40B4-BE49-F238E27FC236}">
                  <a16:creationId xmlns:a16="http://schemas.microsoft.com/office/drawing/2014/main" id="{1BFC87A2-FB2E-E9CF-7F67-851FD69555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5" y="3481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800"/>
            </a:p>
          </p:txBody>
        </p:sp>
        <p:sp>
          <p:nvSpPr>
            <p:cNvPr id="13335" name="Oval 14">
              <a:extLst>
                <a:ext uri="{FF2B5EF4-FFF2-40B4-BE49-F238E27FC236}">
                  <a16:creationId xmlns:a16="http://schemas.microsoft.com/office/drawing/2014/main" id="{9F946A44-77AF-217F-A669-3131360AF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2" y="2152"/>
              <a:ext cx="221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36" name="Oval 13">
              <a:extLst>
                <a:ext uri="{FF2B5EF4-FFF2-40B4-BE49-F238E27FC236}">
                  <a16:creationId xmlns:a16="http://schemas.microsoft.com/office/drawing/2014/main" id="{0F1B0BB2-C254-9D7F-5592-98891F8A7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" y="2144"/>
              <a:ext cx="222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37" name="Oval 12">
              <a:extLst>
                <a:ext uri="{FF2B5EF4-FFF2-40B4-BE49-F238E27FC236}">
                  <a16:creationId xmlns:a16="http://schemas.microsoft.com/office/drawing/2014/main" id="{887B0B55-7364-F2D7-A6C5-308173605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2" y="2152"/>
              <a:ext cx="220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38" name="Oval 11">
              <a:extLst>
                <a:ext uri="{FF2B5EF4-FFF2-40B4-BE49-F238E27FC236}">
                  <a16:creationId xmlns:a16="http://schemas.microsoft.com/office/drawing/2014/main" id="{3940D4A6-49C6-C7A7-4D23-4B95F2E9C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" y="3334"/>
              <a:ext cx="220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39" name="Oval 10">
              <a:extLst>
                <a:ext uri="{FF2B5EF4-FFF2-40B4-BE49-F238E27FC236}">
                  <a16:creationId xmlns:a16="http://schemas.microsoft.com/office/drawing/2014/main" id="{7656B8F4-63E1-62DF-F320-E31653EC6F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0" y="3350"/>
              <a:ext cx="222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13340" name="AutoShape 9">
              <a:extLst>
                <a:ext uri="{FF2B5EF4-FFF2-40B4-BE49-F238E27FC236}">
                  <a16:creationId xmlns:a16="http://schemas.microsoft.com/office/drawing/2014/main" id="{AFD24616-53D9-52FD-741C-7856BFD6DE3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35" y="2254"/>
              <a:ext cx="737" cy="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1" name="AutoShape 8">
              <a:extLst>
                <a:ext uri="{FF2B5EF4-FFF2-40B4-BE49-F238E27FC236}">
                  <a16:creationId xmlns:a16="http://schemas.microsoft.com/office/drawing/2014/main" id="{EBBE17F2-D6C9-B099-B0C7-5950ECF491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081" y="2372"/>
              <a:ext cx="1" cy="97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2" name="AutoShape 7">
              <a:extLst>
                <a:ext uri="{FF2B5EF4-FFF2-40B4-BE49-F238E27FC236}">
                  <a16:creationId xmlns:a16="http://schemas.microsoft.com/office/drawing/2014/main" id="{4DB09A53-E762-31DB-18E1-1983D11E9BF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02" y="2332"/>
              <a:ext cx="801" cy="10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3" name="AutoShape 6">
              <a:extLst>
                <a:ext uri="{FF2B5EF4-FFF2-40B4-BE49-F238E27FC236}">
                  <a16:creationId xmlns:a16="http://schemas.microsoft.com/office/drawing/2014/main" id="{AC93C5F1-D2F2-2A68-EF42-B259D58A90A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123" y="2364"/>
              <a:ext cx="1" cy="97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4" name="AutoShape 5">
              <a:extLst>
                <a:ext uri="{FF2B5EF4-FFF2-40B4-BE49-F238E27FC236}">
                  <a16:creationId xmlns:a16="http://schemas.microsoft.com/office/drawing/2014/main" id="{881D78E6-F0D0-C98C-62E2-F410A2D5B2D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123" y="2254"/>
              <a:ext cx="890" cy="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345" name="Freeform 4">
              <a:extLst>
                <a:ext uri="{FF2B5EF4-FFF2-40B4-BE49-F238E27FC236}">
                  <a16:creationId xmlns:a16="http://schemas.microsoft.com/office/drawing/2014/main" id="{4BF08833-FE55-9FC4-784B-301DB71E1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2304"/>
              <a:ext cx="540" cy="750"/>
            </a:xfrm>
            <a:custGeom>
              <a:avLst/>
              <a:gdLst>
                <a:gd name="T0" fmla="*/ 0 w 540"/>
                <a:gd name="T1" fmla="*/ 75 h 750"/>
                <a:gd name="T2" fmla="*/ 45 w 540"/>
                <a:gd name="T3" fmla="*/ 435 h 750"/>
                <a:gd name="T4" fmla="*/ 90 w 540"/>
                <a:gd name="T5" fmla="*/ 585 h 750"/>
                <a:gd name="T6" fmla="*/ 120 w 540"/>
                <a:gd name="T7" fmla="*/ 675 h 750"/>
                <a:gd name="T8" fmla="*/ 210 w 540"/>
                <a:gd name="T9" fmla="*/ 720 h 750"/>
                <a:gd name="T10" fmla="*/ 300 w 540"/>
                <a:gd name="T11" fmla="*/ 750 h 750"/>
                <a:gd name="T12" fmla="*/ 540 w 540"/>
                <a:gd name="T13" fmla="*/ 435 h 750"/>
                <a:gd name="T14" fmla="*/ 525 w 540"/>
                <a:gd name="T15" fmla="*/ 345 h 750"/>
                <a:gd name="T16" fmla="*/ 405 w 540"/>
                <a:gd name="T17" fmla="*/ 225 h 750"/>
                <a:gd name="T18" fmla="*/ 270 w 540"/>
                <a:gd name="T19" fmla="*/ 105 h 750"/>
                <a:gd name="T20" fmla="*/ 165 w 540"/>
                <a:gd name="T21" fmla="*/ 0 h 7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40" h="750">
                  <a:moveTo>
                    <a:pt x="0" y="75"/>
                  </a:moveTo>
                  <a:cubicBezTo>
                    <a:pt x="40" y="194"/>
                    <a:pt x="32" y="308"/>
                    <a:pt x="45" y="435"/>
                  </a:cubicBezTo>
                  <a:cubicBezTo>
                    <a:pt x="48" y="468"/>
                    <a:pt x="83" y="564"/>
                    <a:pt x="90" y="585"/>
                  </a:cubicBezTo>
                  <a:cubicBezTo>
                    <a:pt x="97" y="606"/>
                    <a:pt x="120" y="675"/>
                    <a:pt x="120" y="675"/>
                  </a:cubicBezTo>
                  <a:cubicBezTo>
                    <a:pt x="284" y="730"/>
                    <a:pt x="36" y="642"/>
                    <a:pt x="210" y="720"/>
                  </a:cubicBezTo>
                  <a:cubicBezTo>
                    <a:pt x="239" y="733"/>
                    <a:pt x="300" y="750"/>
                    <a:pt x="300" y="750"/>
                  </a:cubicBezTo>
                  <a:cubicBezTo>
                    <a:pt x="464" y="695"/>
                    <a:pt x="460" y="555"/>
                    <a:pt x="540" y="435"/>
                  </a:cubicBezTo>
                  <a:cubicBezTo>
                    <a:pt x="535" y="405"/>
                    <a:pt x="535" y="374"/>
                    <a:pt x="525" y="345"/>
                  </a:cubicBezTo>
                  <a:cubicBezTo>
                    <a:pt x="506" y="287"/>
                    <a:pt x="446" y="262"/>
                    <a:pt x="405" y="225"/>
                  </a:cubicBezTo>
                  <a:cubicBezTo>
                    <a:pt x="251" y="88"/>
                    <a:pt x="372" y="173"/>
                    <a:pt x="270" y="105"/>
                  </a:cubicBezTo>
                  <a:cubicBezTo>
                    <a:pt x="240" y="60"/>
                    <a:pt x="214" y="24"/>
                    <a:pt x="165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6" name="Freeform 3">
              <a:extLst>
                <a:ext uri="{FF2B5EF4-FFF2-40B4-BE49-F238E27FC236}">
                  <a16:creationId xmlns:a16="http://schemas.microsoft.com/office/drawing/2014/main" id="{16C30BBC-00C8-587B-AB46-0DB874FFD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1" y="3195"/>
              <a:ext cx="998" cy="444"/>
            </a:xfrm>
            <a:custGeom>
              <a:avLst/>
              <a:gdLst>
                <a:gd name="T0" fmla="*/ 914 w 998"/>
                <a:gd name="T1" fmla="*/ 324 h 444"/>
                <a:gd name="T2" fmla="*/ 824 w 998"/>
                <a:gd name="T3" fmla="*/ 369 h 444"/>
                <a:gd name="T4" fmla="*/ 554 w 998"/>
                <a:gd name="T5" fmla="*/ 444 h 444"/>
                <a:gd name="T6" fmla="*/ 209 w 998"/>
                <a:gd name="T7" fmla="*/ 414 h 444"/>
                <a:gd name="T8" fmla="*/ 59 w 998"/>
                <a:gd name="T9" fmla="*/ 354 h 444"/>
                <a:gd name="T10" fmla="*/ 29 w 998"/>
                <a:gd name="T11" fmla="*/ 264 h 444"/>
                <a:gd name="T12" fmla="*/ 89 w 998"/>
                <a:gd name="T13" fmla="*/ 129 h 444"/>
                <a:gd name="T14" fmla="*/ 179 w 998"/>
                <a:gd name="T15" fmla="*/ 84 h 444"/>
                <a:gd name="T16" fmla="*/ 269 w 998"/>
                <a:gd name="T17" fmla="*/ 39 h 444"/>
                <a:gd name="T18" fmla="*/ 854 w 998"/>
                <a:gd name="T19" fmla="*/ 189 h 44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98" h="444">
                  <a:moveTo>
                    <a:pt x="914" y="324"/>
                  </a:moveTo>
                  <a:cubicBezTo>
                    <a:pt x="750" y="379"/>
                    <a:pt x="998" y="291"/>
                    <a:pt x="824" y="369"/>
                  </a:cubicBezTo>
                  <a:cubicBezTo>
                    <a:pt x="739" y="407"/>
                    <a:pt x="645" y="429"/>
                    <a:pt x="554" y="444"/>
                  </a:cubicBezTo>
                  <a:cubicBezTo>
                    <a:pt x="407" y="436"/>
                    <a:pt x="330" y="444"/>
                    <a:pt x="209" y="414"/>
                  </a:cubicBezTo>
                  <a:cubicBezTo>
                    <a:pt x="153" y="400"/>
                    <a:pt x="116" y="368"/>
                    <a:pt x="59" y="354"/>
                  </a:cubicBezTo>
                  <a:cubicBezTo>
                    <a:pt x="0" y="314"/>
                    <a:pt x="6" y="339"/>
                    <a:pt x="29" y="264"/>
                  </a:cubicBezTo>
                  <a:cubicBezTo>
                    <a:pt x="42" y="222"/>
                    <a:pt x="55" y="163"/>
                    <a:pt x="89" y="129"/>
                  </a:cubicBezTo>
                  <a:cubicBezTo>
                    <a:pt x="132" y="86"/>
                    <a:pt x="130" y="108"/>
                    <a:pt x="179" y="84"/>
                  </a:cubicBezTo>
                  <a:cubicBezTo>
                    <a:pt x="295" y="26"/>
                    <a:pt x="156" y="77"/>
                    <a:pt x="269" y="39"/>
                  </a:cubicBezTo>
                  <a:cubicBezTo>
                    <a:pt x="575" y="52"/>
                    <a:pt x="665" y="0"/>
                    <a:pt x="854" y="189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7" name="Freeform 2">
              <a:extLst>
                <a:ext uri="{FF2B5EF4-FFF2-40B4-BE49-F238E27FC236}">
                  <a16:creationId xmlns:a16="http://schemas.microsoft.com/office/drawing/2014/main" id="{69CA667B-D499-6CAB-A620-81CEB3DAA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0" y="1891"/>
              <a:ext cx="1065" cy="283"/>
            </a:xfrm>
            <a:custGeom>
              <a:avLst/>
              <a:gdLst>
                <a:gd name="T0" fmla="*/ 0 w 1065"/>
                <a:gd name="T1" fmla="*/ 253 h 283"/>
                <a:gd name="T2" fmla="*/ 45 w 1065"/>
                <a:gd name="T3" fmla="*/ 223 h 283"/>
                <a:gd name="T4" fmla="*/ 60 w 1065"/>
                <a:gd name="T5" fmla="*/ 178 h 283"/>
                <a:gd name="T6" fmla="*/ 150 w 1065"/>
                <a:gd name="T7" fmla="*/ 148 h 283"/>
                <a:gd name="T8" fmla="*/ 195 w 1065"/>
                <a:gd name="T9" fmla="*/ 118 h 283"/>
                <a:gd name="T10" fmla="*/ 1065 w 1065"/>
                <a:gd name="T11" fmla="*/ 283 h 2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65" h="283">
                  <a:moveTo>
                    <a:pt x="0" y="253"/>
                  </a:moveTo>
                  <a:cubicBezTo>
                    <a:pt x="15" y="243"/>
                    <a:pt x="34" y="237"/>
                    <a:pt x="45" y="223"/>
                  </a:cubicBezTo>
                  <a:cubicBezTo>
                    <a:pt x="55" y="211"/>
                    <a:pt x="47" y="187"/>
                    <a:pt x="60" y="178"/>
                  </a:cubicBezTo>
                  <a:cubicBezTo>
                    <a:pt x="86" y="160"/>
                    <a:pt x="120" y="158"/>
                    <a:pt x="150" y="148"/>
                  </a:cubicBezTo>
                  <a:cubicBezTo>
                    <a:pt x="167" y="142"/>
                    <a:pt x="180" y="128"/>
                    <a:pt x="195" y="118"/>
                  </a:cubicBezTo>
                  <a:cubicBezTo>
                    <a:pt x="786" y="131"/>
                    <a:pt x="782" y="0"/>
                    <a:pt x="1065" y="283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18" name="Rectangle 44">
            <a:extLst>
              <a:ext uri="{FF2B5EF4-FFF2-40B4-BE49-F238E27FC236}">
                <a16:creationId xmlns:a16="http://schemas.microsoft.com/office/drawing/2014/main" id="{2EA519C6-1760-2A86-10CA-A18E1E314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DEA82D49-763E-E9E7-77CF-1252ABCEE6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3446463"/>
          <a:ext cx="39116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55800" imgH="1143000" progId="Equation.DSMT4">
                  <p:embed/>
                </p:oleObj>
              </mc:Choice>
              <mc:Fallback>
                <p:oleObj name="Equation" r:id="rId2" imgW="1955800" imgH="1143000" progId="Equation.DSMT4">
                  <p:embed/>
                  <p:pic>
                    <p:nvPicPr>
                      <p:cNvPr id="0" name="对象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3446463"/>
                        <a:ext cx="3911600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64">
            <a:extLst>
              <a:ext uri="{FF2B5EF4-FFF2-40B4-BE49-F238E27FC236}">
                <a16:creationId xmlns:a16="http://schemas.microsoft.com/office/drawing/2014/main" id="{90460CE6-48A4-BD0E-7840-403F5963C1C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267325" y="2768600"/>
            <a:ext cx="3743325" cy="55245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000"/>
              <a:t>e</a:t>
            </a:r>
            <a:r>
              <a:rPr lang="en-US" altLang="zh-CN" sz="2000" baseline="-25000"/>
              <a:t>1    </a:t>
            </a:r>
            <a:r>
              <a:rPr lang="en-US" altLang="zh-CN" sz="2000"/>
              <a:t>e</a:t>
            </a:r>
            <a:r>
              <a:rPr lang="en-US" altLang="zh-CN" sz="2000" baseline="-25000"/>
              <a:t>2    </a:t>
            </a:r>
            <a:r>
              <a:rPr lang="en-US" altLang="zh-CN" sz="2000"/>
              <a:t>e</a:t>
            </a:r>
            <a:r>
              <a:rPr lang="en-US" altLang="zh-CN" sz="2000" baseline="-25000"/>
              <a:t>3    </a:t>
            </a:r>
            <a:r>
              <a:rPr lang="en-US" altLang="zh-CN" sz="2000"/>
              <a:t>e</a:t>
            </a:r>
            <a:r>
              <a:rPr lang="en-US" altLang="zh-CN" sz="2000" baseline="-25000"/>
              <a:t>4     </a:t>
            </a:r>
            <a:r>
              <a:rPr lang="en-US" altLang="zh-CN" sz="2000"/>
              <a:t>e</a:t>
            </a:r>
            <a:r>
              <a:rPr lang="en-US" altLang="zh-CN" sz="2000" baseline="-25000"/>
              <a:t>5 </a:t>
            </a:r>
            <a:r>
              <a:rPr lang="en-US" altLang="zh-CN" sz="2000"/>
              <a:t>  e</a:t>
            </a:r>
            <a:r>
              <a:rPr lang="en-US" altLang="zh-CN" sz="2000" baseline="-25000"/>
              <a:t>6 </a:t>
            </a:r>
            <a:r>
              <a:rPr lang="en-US" altLang="zh-CN" sz="2000"/>
              <a:t>  e</a:t>
            </a:r>
            <a:r>
              <a:rPr lang="en-US" altLang="zh-CN" sz="2000" baseline="-25000"/>
              <a:t>7 </a:t>
            </a:r>
            <a:r>
              <a:rPr lang="en-US" altLang="zh-CN" sz="2000"/>
              <a:t>  e</a:t>
            </a:r>
            <a:r>
              <a:rPr lang="en-US" altLang="zh-CN" sz="2000" baseline="-25000"/>
              <a:t>8   </a:t>
            </a:r>
            <a:endParaRPr lang="zh-CN" altLang="zh-CN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>
            <a:extLst>
              <a:ext uri="{FF2B5EF4-FFF2-40B4-BE49-F238E27FC236}">
                <a16:creationId xmlns:a16="http://schemas.microsoft.com/office/drawing/2014/main" id="{B7808EAF-0FBE-0D95-A769-5DE1863B1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7.3.3 </a:t>
            </a:r>
            <a:r>
              <a:rPr lang="zh-CN" altLang="en-US" b="1"/>
              <a:t>可达矩阵</a:t>
            </a:r>
            <a:r>
              <a:rPr lang="zh-CN" altLang="en-US"/>
              <a:t>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DD2920-8B6F-B065-73DB-A8665A6FC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200000"/>
              </a:lnSpc>
              <a:defRPr/>
            </a:pPr>
            <a:r>
              <a:rPr lang="zh-CN" altLang="zh-CN" dirty="0"/>
              <a:t>设</a:t>
            </a:r>
            <a:r>
              <a:rPr lang="zh-CN" altLang="zh-CN" dirty="0">
                <a:solidFill>
                  <a:srgbClr val="FF0000"/>
                </a:solidFill>
              </a:rPr>
              <a:t>无重边有向图</a:t>
            </a:r>
            <a:r>
              <a:rPr lang="en-US" altLang="zh-CN" dirty="0"/>
              <a:t>G</a:t>
            </a:r>
            <a:r>
              <a:rPr lang="zh-CN" altLang="zh-CN" dirty="0"/>
              <a:t>，</a:t>
            </a:r>
            <a:r>
              <a:rPr lang="zh-CN" altLang="en-US" dirty="0"/>
              <a:t>结点集</a:t>
            </a:r>
            <a:r>
              <a:rPr lang="en-US" altLang="zh-CN" dirty="0"/>
              <a:t>V</a:t>
            </a:r>
            <a:r>
              <a:rPr lang="zh-CN" altLang="zh-CN" dirty="0"/>
              <a:t>＝</a:t>
            </a:r>
            <a:r>
              <a:rPr lang="en-US" altLang="zh-CN" dirty="0"/>
              <a:t>{x</a:t>
            </a:r>
            <a:r>
              <a:rPr lang="en-US" altLang="zh-CN" baseline="-25000" dirty="0"/>
              <a:t>1</a:t>
            </a:r>
            <a:r>
              <a:rPr lang="en-US" altLang="zh-CN" dirty="0"/>
              <a:t>,x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n</a:t>
            </a:r>
            <a:r>
              <a:rPr lang="en-US" altLang="zh-CN" dirty="0"/>
              <a:t>}</a:t>
            </a:r>
            <a:r>
              <a:rPr lang="zh-CN" altLang="zh-CN" dirty="0"/>
              <a:t>，称</a:t>
            </a:r>
            <a:r>
              <a:rPr lang="en-US" altLang="zh-CN" dirty="0"/>
              <a:t>n</a:t>
            </a:r>
            <a:r>
              <a:rPr lang="zh-CN" altLang="zh-CN" dirty="0"/>
              <a:t>阶矩阵</a:t>
            </a:r>
            <a:r>
              <a:rPr lang="en-US" altLang="zh-CN" dirty="0"/>
              <a:t>P</a:t>
            </a:r>
            <a:r>
              <a:rPr lang="zh-CN" altLang="zh-CN" dirty="0"/>
              <a:t>＝</a:t>
            </a:r>
            <a:r>
              <a:rPr lang="en-US" altLang="zh-CN" dirty="0"/>
              <a:t>(</a:t>
            </a:r>
            <a:r>
              <a:rPr lang="en-US" altLang="zh-CN" dirty="0" err="1"/>
              <a:t>P</a:t>
            </a:r>
            <a:r>
              <a:rPr lang="en-US" altLang="zh-CN" baseline="-25000" dirty="0" err="1"/>
              <a:t>ij</a:t>
            </a:r>
            <a:r>
              <a:rPr lang="en-US" altLang="zh-CN" dirty="0"/>
              <a:t>) </a:t>
            </a:r>
            <a:r>
              <a:rPr lang="zh-CN" altLang="zh-CN" dirty="0"/>
              <a:t>为</a:t>
            </a:r>
            <a:r>
              <a:rPr lang="en-US" altLang="zh-CN" dirty="0"/>
              <a:t>G</a:t>
            </a:r>
            <a:r>
              <a:rPr lang="zh-CN" altLang="zh-CN" dirty="0"/>
              <a:t>的</a:t>
            </a:r>
            <a:r>
              <a:rPr lang="zh-CN" altLang="zh-CN" b="1" dirty="0">
                <a:solidFill>
                  <a:srgbClr val="FF0000"/>
                </a:solidFill>
              </a:rPr>
              <a:t>可达矩阵</a:t>
            </a:r>
            <a:r>
              <a:rPr lang="en-US" altLang="zh-CN" dirty="0"/>
              <a:t>(accessible matrix)</a:t>
            </a:r>
            <a:r>
              <a:rPr lang="zh-CN" altLang="zh-CN" dirty="0"/>
              <a:t>，其中</a:t>
            </a:r>
            <a:endParaRPr lang="en-US" altLang="zh-CN" dirty="0"/>
          </a:p>
          <a:p>
            <a:pPr marL="0" indent="0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en-US" altLang="zh-CN" dirty="0" err="1"/>
              <a:t>P</a:t>
            </a:r>
            <a:r>
              <a:rPr lang="en-US" altLang="zh-CN" baseline="-25000" dirty="0" err="1"/>
              <a:t>ij</a:t>
            </a:r>
            <a:r>
              <a:rPr lang="zh-CN" altLang="zh-CN" dirty="0"/>
              <a:t>＝</a:t>
            </a:r>
            <a:endParaRPr lang="zh-CN" altLang="en-US" dirty="0"/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747DC60C-8230-0FA2-E799-42CF80AAC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4341" name="对象 4">
            <a:extLst>
              <a:ext uri="{FF2B5EF4-FFF2-40B4-BE49-F238E27FC236}">
                <a16:creationId xmlns:a16="http://schemas.microsoft.com/office/drawing/2014/main" id="{5E65BD2E-50E9-3E5E-FF50-7E61880DDE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4951413"/>
          <a:ext cx="5237163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70100" imgH="508000" progId="Equation.DSMT4">
                  <p:embed/>
                </p:oleObj>
              </mc:Choice>
              <mc:Fallback>
                <p:oleObj name="Equation" r:id="rId2" imgW="2070100" imgH="5080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951413"/>
                        <a:ext cx="5237163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>
            <a:extLst>
              <a:ext uri="{FF2B5EF4-FFF2-40B4-BE49-F238E27FC236}">
                <a16:creationId xmlns:a16="http://schemas.microsoft.com/office/drawing/2014/main" id="{E7E2A2EF-E474-6F0E-7466-96FA83993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7.3.3 </a:t>
            </a:r>
            <a:r>
              <a:rPr lang="zh-CN" altLang="en-US" b="1"/>
              <a:t>可达矩阵</a:t>
            </a:r>
            <a:endParaRPr lang="zh-CN" altLang="en-US"/>
          </a:p>
        </p:txBody>
      </p:sp>
      <p:sp>
        <p:nvSpPr>
          <p:cNvPr id="15363" name="内容占位符 2">
            <a:extLst>
              <a:ext uri="{FF2B5EF4-FFF2-40B4-BE49-F238E27FC236}">
                <a16:creationId xmlns:a16="http://schemas.microsoft.com/office/drawing/2014/main" id="{FD22455A-CE0B-9C34-39E6-F0AF7CAB0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例如</a:t>
            </a:r>
          </a:p>
        </p:txBody>
      </p:sp>
      <p:sp>
        <p:nvSpPr>
          <p:cNvPr id="15364" name="Rectangle 23">
            <a:extLst>
              <a:ext uri="{FF2B5EF4-FFF2-40B4-BE49-F238E27FC236}">
                <a16:creationId xmlns:a16="http://schemas.microsoft.com/office/drawing/2014/main" id="{A99A4D5A-DBFA-0C44-0599-3C9F111B5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5365" name="Group 1">
            <a:extLst>
              <a:ext uri="{FF2B5EF4-FFF2-40B4-BE49-F238E27FC236}">
                <a16:creationId xmlns:a16="http://schemas.microsoft.com/office/drawing/2014/main" id="{4CBD20C2-3330-9093-0632-893601A1318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69925" y="2925763"/>
            <a:ext cx="4333875" cy="3598862"/>
            <a:chOff x="4481" y="2062"/>
            <a:chExt cx="3413" cy="2835"/>
          </a:xfrm>
        </p:grpSpPr>
        <p:sp>
          <p:nvSpPr>
            <p:cNvPr id="15368" name="AutoShape 22">
              <a:extLst>
                <a:ext uri="{FF2B5EF4-FFF2-40B4-BE49-F238E27FC236}">
                  <a16:creationId xmlns:a16="http://schemas.microsoft.com/office/drawing/2014/main" id="{EF9DE977-33FE-ACBD-774B-DB19BAEC273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481" y="2062"/>
              <a:ext cx="3413" cy="27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9" name="Text Box 21">
              <a:extLst>
                <a:ext uri="{FF2B5EF4-FFF2-40B4-BE49-F238E27FC236}">
                  <a16:creationId xmlns:a16="http://schemas.microsoft.com/office/drawing/2014/main" id="{B5932127-5A6B-6D36-E32D-AEA7BCFD9E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0" y="2263"/>
              <a:ext cx="5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3200"/>
            </a:p>
          </p:txBody>
        </p:sp>
        <p:sp>
          <p:nvSpPr>
            <p:cNvPr id="15370" name="Text Box 20">
              <a:extLst>
                <a:ext uri="{FF2B5EF4-FFF2-40B4-BE49-F238E27FC236}">
                  <a16:creationId xmlns:a16="http://schemas.microsoft.com/office/drawing/2014/main" id="{EC26B406-C184-7997-2935-9DB9E764F6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2" y="3186"/>
              <a:ext cx="5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3200"/>
            </a:p>
          </p:txBody>
        </p:sp>
        <p:sp>
          <p:nvSpPr>
            <p:cNvPr id="15371" name="Text Box 19">
              <a:extLst>
                <a:ext uri="{FF2B5EF4-FFF2-40B4-BE49-F238E27FC236}">
                  <a16:creationId xmlns:a16="http://schemas.microsoft.com/office/drawing/2014/main" id="{3CAA1C79-7472-B2C6-A954-27901D23FC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83" y="2232"/>
              <a:ext cx="5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3200"/>
            </a:p>
          </p:txBody>
        </p:sp>
        <p:sp>
          <p:nvSpPr>
            <p:cNvPr id="15372" name="Text Box 18">
              <a:extLst>
                <a:ext uri="{FF2B5EF4-FFF2-40B4-BE49-F238E27FC236}">
                  <a16:creationId xmlns:a16="http://schemas.microsoft.com/office/drawing/2014/main" id="{7A3505C8-A6ED-01E8-CD2E-084B0A8F36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3" y="3040"/>
              <a:ext cx="5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3200"/>
            </a:p>
          </p:txBody>
        </p:sp>
        <p:sp>
          <p:nvSpPr>
            <p:cNvPr id="15373" name="Text Box 17">
              <a:extLst>
                <a:ext uri="{FF2B5EF4-FFF2-40B4-BE49-F238E27FC236}">
                  <a16:creationId xmlns:a16="http://schemas.microsoft.com/office/drawing/2014/main" id="{BB765B1F-9929-AE09-4C65-5C5BC6C514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6" y="4247"/>
              <a:ext cx="5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3200"/>
            </a:p>
          </p:txBody>
        </p:sp>
        <p:sp>
          <p:nvSpPr>
            <p:cNvPr id="15374" name="Oval 16">
              <a:extLst>
                <a:ext uri="{FF2B5EF4-FFF2-40B4-BE49-F238E27FC236}">
                  <a16:creationId xmlns:a16="http://schemas.microsoft.com/office/drawing/2014/main" id="{7DC7188A-27E9-F60C-CD45-72BCD3E7B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2" y="4095"/>
              <a:ext cx="220" cy="21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75" name="Oval 15">
              <a:extLst>
                <a:ext uri="{FF2B5EF4-FFF2-40B4-BE49-F238E27FC236}">
                  <a16:creationId xmlns:a16="http://schemas.microsoft.com/office/drawing/2014/main" id="{735391CD-65F1-A93E-1C63-2ED48A8BF8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7" y="3285"/>
              <a:ext cx="220" cy="21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76" name="Oval 14">
              <a:extLst>
                <a:ext uri="{FF2B5EF4-FFF2-40B4-BE49-F238E27FC236}">
                  <a16:creationId xmlns:a16="http://schemas.microsoft.com/office/drawing/2014/main" id="{1C0B9F7D-5987-9BB7-A70F-9A48DF908F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5" y="3210"/>
              <a:ext cx="218" cy="21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77" name="Oval 13">
              <a:extLst>
                <a:ext uri="{FF2B5EF4-FFF2-40B4-BE49-F238E27FC236}">
                  <a16:creationId xmlns:a16="http://schemas.microsoft.com/office/drawing/2014/main" id="{6FEBE718-FE45-FF60-14A6-9DA065063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3" y="2369"/>
              <a:ext cx="219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78" name="Oval 12">
              <a:extLst>
                <a:ext uri="{FF2B5EF4-FFF2-40B4-BE49-F238E27FC236}">
                  <a16:creationId xmlns:a16="http://schemas.microsoft.com/office/drawing/2014/main" id="{2B4F237E-8651-C1AF-0EB3-18E21DBFD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7" y="2370"/>
              <a:ext cx="221" cy="21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15379" name="AutoShape 11">
              <a:extLst>
                <a:ext uri="{FF2B5EF4-FFF2-40B4-BE49-F238E27FC236}">
                  <a16:creationId xmlns:a16="http://schemas.microsoft.com/office/drawing/2014/main" id="{3C203F8C-D6A4-70DD-D203-F70578CBA05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157" y="3320"/>
              <a:ext cx="1958" cy="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80" name="AutoShape 10">
              <a:extLst>
                <a:ext uri="{FF2B5EF4-FFF2-40B4-BE49-F238E27FC236}">
                  <a16:creationId xmlns:a16="http://schemas.microsoft.com/office/drawing/2014/main" id="{E8DFD173-2872-D45D-8C24-59E8E6464B8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25" y="3472"/>
              <a:ext cx="1079" cy="6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81" name="AutoShape 9">
              <a:extLst>
                <a:ext uri="{FF2B5EF4-FFF2-40B4-BE49-F238E27FC236}">
                  <a16:creationId xmlns:a16="http://schemas.microsoft.com/office/drawing/2014/main" id="{9F266860-4D77-4697-00F9-886E084C037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282" y="3397"/>
              <a:ext cx="865" cy="69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82" name="AutoShape 8">
              <a:extLst>
                <a:ext uri="{FF2B5EF4-FFF2-40B4-BE49-F238E27FC236}">
                  <a16:creationId xmlns:a16="http://schemas.microsoft.com/office/drawing/2014/main" id="{0FC037E1-080D-8CF1-B5D4-626A40224B4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033" y="2589"/>
              <a:ext cx="14" cy="69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83" name="AutoShape 7">
              <a:extLst>
                <a:ext uri="{FF2B5EF4-FFF2-40B4-BE49-F238E27FC236}">
                  <a16:creationId xmlns:a16="http://schemas.microsoft.com/office/drawing/2014/main" id="{440F5444-3260-CC08-C7D7-426A2FCFFE6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037" y="2865"/>
              <a:ext cx="0" cy="6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84" name="AutoShape 6">
              <a:extLst>
                <a:ext uri="{FF2B5EF4-FFF2-40B4-BE49-F238E27FC236}">
                  <a16:creationId xmlns:a16="http://schemas.microsoft.com/office/drawing/2014/main" id="{D0CDFA88-6A52-477F-3195-10B4DC8A5CD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000" y="3355"/>
              <a:ext cx="172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85" name="AutoShape 5">
              <a:extLst>
                <a:ext uri="{FF2B5EF4-FFF2-40B4-BE49-F238E27FC236}">
                  <a16:creationId xmlns:a16="http://schemas.microsoft.com/office/drawing/2014/main" id="{59C13B2F-3FC6-08EF-978E-B0CB7674D43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5730" y="3840"/>
              <a:ext cx="60" cy="4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86" name="AutoShape 4">
              <a:extLst>
                <a:ext uri="{FF2B5EF4-FFF2-40B4-BE49-F238E27FC236}">
                  <a16:creationId xmlns:a16="http://schemas.microsoft.com/office/drawing/2014/main" id="{4097B020-3D79-6C5B-CA6E-86D152508F4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795" y="3600"/>
              <a:ext cx="120" cy="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387" name="Freeform 3">
              <a:extLst>
                <a:ext uri="{FF2B5EF4-FFF2-40B4-BE49-F238E27FC236}">
                  <a16:creationId xmlns:a16="http://schemas.microsoft.com/office/drawing/2014/main" id="{D3CE9F3D-AFD2-C51E-4348-724FD92748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5" y="2235"/>
              <a:ext cx="841" cy="570"/>
            </a:xfrm>
            <a:custGeom>
              <a:avLst/>
              <a:gdLst>
                <a:gd name="T0" fmla="*/ 30 w 841"/>
                <a:gd name="T1" fmla="*/ 150 h 570"/>
                <a:gd name="T2" fmla="*/ 300 w 841"/>
                <a:gd name="T3" fmla="*/ 0 h 570"/>
                <a:gd name="T4" fmla="*/ 630 w 841"/>
                <a:gd name="T5" fmla="*/ 105 h 570"/>
                <a:gd name="T6" fmla="*/ 720 w 841"/>
                <a:gd name="T7" fmla="*/ 165 h 570"/>
                <a:gd name="T8" fmla="*/ 765 w 841"/>
                <a:gd name="T9" fmla="*/ 195 h 570"/>
                <a:gd name="T10" fmla="*/ 810 w 841"/>
                <a:gd name="T11" fmla="*/ 330 h 570"/>
                <a:gd name="T12" fmla="*/ 825 w 841"/>
                <a:gd name="T13" fmla="*/ 375 h 570"/>
                <a:gd name="T14" fmla="*/ 765 w 841"/>
                <a:gd name="T15" fmla="*/ 525 h 570"/>
                <a:gd name="T16" fmla="*/ 675 w 841"/>
                <a:gd name="T17" fmla="*/ 555 h 570"/>
                <a:gd name="T18" fmla="*/ 630 w 841"/>
                <a:gd name="T19" fmla="*/ 570 h 570"/>
                <a:gd name="T20" fmla="*/ 345 w 841"/>
                <a:gd name="T21" fmla="*/ 510 h 570"/>
                <a:gd name="T22" fmla="*/ 165 w 841"/>
                <a:gd name="T23" fmla="*/ 405 h 570"/>
                <a:gd name="T24" fmla="*/ 0 w 841"/>
                <a:gd name="T25" fmla="*/ 345 h 57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41" h="570">
                  <a:moveTo>
                    <a:pt x="30" y="150"/>
                  </a:moveTo>
                  <a:cubicBezTo>
                    <a:pt x="117" y="92"/>
                    <a:pt x="201" y="33"/>
                    <a:pt x="300" y="0"/>
                  </a:cubicBezTo>
                  <a:cubicBezTo>
                    <a:pt x="506" y="17"/>
                    <a:pt x="485" y="4"/>
                    <a:pt x="630" y="105"/>
                  </a:cubicBezTo>
                  <a:cubicBezTo>
                    <a:pt x="660" y="126"/>
                    <a:pt x="690" y="145"/>
                    <a:pt x="720" y="165"/>
                  </a:cubicBezTo>
                  <a:cubicBezTo>
                    <a:pt x="735" y="175"/>
                    <a:pt x="765" y="195"/>
                    <a:pt x="765" y="195"/>
                  </a:cubicBezTo>
                  <a:cubicBezTo>
                    <a:pt x="780" y="240"/>
                    <a:pt x="795" y="285"/>
                    <a:pt x="810" y="330"/>
                  </a:cubicBezTo>
                  <a:cubicBezTo>
                    <a:pt x="815" y="345"/>
                    <a:pt x="825" y="375"/>
                    <a:pt x="825" y="375"/>
                  </a:cubicBezTo>
                  <a:cubicBezTo>
                    <a:pt x="813" y="472"/>
                    <a:pt x="841" y="491"/>
                    <a:pt x="765" y="525"/>
                  </a:cubicBezTo>
                  <a:cubicBezTo>
                    <a:pt x="736" y="538"/>
                    <a:pt x="705" y="545"/>
                    <a:pt x="675" y="555"/>
                  </a:cubicBezTo>
                  <a:cubicBezTo>
                    <a:pt x="660" y="560"/>
                    <a:pt x="630" y="570"/>
                    <a:pt x="630" y="570"/>
                  </a:cubicBezTo>
                  <a:cubicBezTo>
                    <a:pt x="575" y="561"/>
                    <a:pt x="412" y="547"/>
                    <a:pt x="345" y="510"/>
                  </a:cubicBezTo>
                  <a:cubicBezTo>
                    <a:pt x="282" y="475"/>
                    <a:pt x="230" y="434"/>
                    <a:pt x="165" y="405"/>
                  </a:cubicBezTo>
                  <a:cubicBezTo>
                    <a:pt x="111" y="381"/>
                    <a:pt x="53" y="372"/>
                    <a:pt x="0" y="34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5388" name="AutoShape 2">
              <a:extLst>
                <a:ext uri="{FF2B5EF4-FFF2-40B4-BE49-F238E27FC236}">
                  <a16:creationId xmlns:a16="http://schemas.microsoft.com/office/drawing/2014/main" id="{1B296FB3-67B6-A37E-62CE-0A96420E8D8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15" y="2340"/>
              <a:ext cx="90" cy="6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5366" name="Rectangle 30">
            <a:extLst>
              <a:ext uri="{FF2B5EF4-FFF2-40B4-BE49-F238E27FC236}">
                <a16:creationId xmlns:a16="http://schemas.microsoft.com/office/drawing/2014/main" id="{B012507D-3C74-2B59-12E6-82829B577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5367" name="对象 27">
            <a:extLst>
              <a:ext uri="{FF2B5EF4-FFF2-40B4-BE49-F238E27FC236}">
                <a16:creationId xmlns:a16="http://schemas.microsoft.com/office/drawing/2014/main" id="{204D4DD3-6E8C-A313-70B5-887068F162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3068638"/>
          <a:ext cx="3533775" cy="289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7000" imgH="1143000" progId="Equation.DSMT4">
                  <p:embed/>
                </p:oleObj>
              </mc:Choice>
              <mc:Fallback>
                <p:oleObj name="Equation" r:id="rId2" imgW="1397000" imgH="1143000" progId="Equation.DSMT4">
                  <p:embed/>
                  <p:pic>
                    <p:nvPicPr>
                      <p:cNvPr id="0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3068638"/>
                        <a:ext cx="3533775" cy="289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>
            <a:extLst>
              <a:ext uri="{FF2B5EF4-FFF2-40B4-BE49-F238E27FC236}">
                <a16:creationId xmlns:a16="http://schemas.microsoft.com/office/drawing/2014/main" id="{DA1F9AD3-FE45-FB30-FEE0-D70F0D6C3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7.3.3 </a:t>
            </a:r>
            <a:r>
              <a:rPr lang="zh-CN" altLang="en-US" b="1"/>
              <a:t>可达矩阵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D3F7A5-958E-D202-6313-036944581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rgbClr val="FF0000"/>
                </a:solidFill>
              </a:rPr>
              <a:t>例</a:t>
            </a:r>
            <a:r>
              <a:rPr lang="zh-CN" altLang="en-US" dirty="0"/>
              <a:t>如，已知</a:t>
            </a:r>
            <a:r>
              <a:rPr lang="en-US" altLang="zh-CN" dirty="0"/>
              <a:t>V</a:t>
            </a:r>
            <a:r>
              <a:rPr lang="zh-CN" altLang="zh-CN" dirty="0"/>
              <a:t>＝</a:t>
            </a:r>
            <a:r>
              <a:rPr lang="en-US" altLang="zh-CN" dirty="0"/>
              <a:t>{</a:t>
            </a:r>
            <a:r>
              <a:rPr lang="en-US" altLang="zh-CN" dirty="0" err="1"/>
              <a:t>a,b</a:t>
            </a:r>
            <a:r>
              <a:rPr lang="en-US" altLang="zh-CN" dirty="0"/>
              <a:t>,…,e}</a:t>
            </a:r>
            <a:r>
              <a:rPr lang="zh-CN" altLang="zh-CN" dirty="0"/>
              <a:t>，</a:t>
            </a:r>
            <a:r>
              <a:rPr lang="zh-CN" altLang="en-US" dirty="0"/>
              <a:t>且</a:t>
            </a:r>
            <a:r>
              <a:rPr lang="en-US" altLang="zh-CN" dirty="0"/>
              <a:t>V</a:t>
            </a:r>
            <a:r>
              <a:rPr lang="zh-CN" altLang="en-US" dirty="0"/>
              <a:t>上</a:t>
            </a:r>
            <a:r>
              <a:rPr lang="zh-CN" altLang="en-US" dirty="0">
                <a:solidFill>
                  <a:srgbClr val="CC0066"/>
                </a:solidFill>
              </a:rPr>
              <a:t>邻接关系</a:t>
            </a:r>
            <a:r>
              <a:rPr lang="zh-CN" altLang="zh-CN" dirty="0">
                <a:solidFill>
                  <a:srgbClr val="CC0066"/>
                </a:solidFill>
              </a:rPr>
              <a:t> </a:t>
            </a:r>
            <a:endParaRPr lang="en-US" altLang="zh-CN" dirty="0">
              <a:solidFill>
                <a:srgbClr val="CC0066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R</a:t>
            </a:r>
            <a:r>
              <a:rPr lang="zh-CN" altLang="zh-CN" dirty="0"/>
              <a:t>＝</a:t>
            </a:r>
            <a:r>
              <a:rPr lang="en-US" altLang="zh-CN" dirty="0"/>
              <a:t>{</a:t>
            </a:r>
            <a:r>
              <a:rPr lang="en-US" altLang="zh-CN" dirty="0">
                <a:latin typeface="+mn-ea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dirty="0">
                <a:latin typeface="+mn-ea"/>
              </a:rPr>
              <a:t>&gt;</a:t>
            </a:r>
            <a:r>
              <a:rPr lang="zh-CN" altLang="zh-CN" dirty="0"/>
              <a:t>︱</a:t>
            </a:r>
            <a:r>
              <a:rPr lang="en-US" altLang="zh-CN" dirty="0" err="1"/>
              <a:t>x,y</a:t>
            </a:r>
            <a:r>
              <a:rPr lang="zh-CN" altLang="zh-CN" dirty="0"/>
              <a:t>∈</a:t>
            </a:r>
            <a:r>
              <a:rPr lang="en-US" altLang="zh-CN" dirty="0" err="1"/>
              <a:t>A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zh-CN" altLang="en-US" dirty="0"/>
              <a:t>邻接</a:t>
            </a:r>
            <a:r>
              <a:rPr lang="en-US" altLang="zh-CN" dirty="0"/>
              <a:t>y}</a:t>
            </a:r>
            <a:endParaRPr lang="zh-CN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</a:t>
            </a:r>
            <a:r>
              <a:rPr lang="zh-CN" altLang="zh-CN" dirty="0"/>
              <a:t>＝</a:t>
            </a:r>
            <a:r>
              <a:rPr lang="en-US" altLang="zh-CN" dirty="0"/>
              <a:t>{</a:t>
            </a:r>
            <a:r>
              <a:rPr lang="en-US" altLang="zh-CN" dirty="0">
                <a:latin typeface="+mn-ea"/>
              </a:rPr>
              <a:t>&lt;</a:t>
            </a:r>
            <a:r>
              <a:rPr lang="en-US" altLang="zh-CN" dirty="0" err="1"/>
              <a:t>a,b</a:t>
            </a:r>
            <a:r>
              <a:rPr lang="en-US" altLang="zh-CN" dirty="0">
                <a:latin typeface="+mn-ea"/>
              </a:rPr>
              <a:t>&gt;,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&lt;</a:t>
            </a:r>
            <a:r>
              <a:rPr lang="en-US" altLang="zh-CN" dirty="0" err="1">
                <a:solidFill>
                  <a:srgbClr val="000000"/>
                </a:solidFill>
              </a:rPr>
              <a:t>b,a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&gt;,&lt;</a:t>
            </a:r>
            <a:r>
              <a:rPr lang="en-US" altLang="zh-CN" dirty="0" err="1">
                <a:solidFill>
                  <a:srgbClr val="000000"/>
                </a:solidFill>
              </a:rPr>
              <a:t>b,c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&gt;,&lt;</a:t>
            </a:r>
            <a:r>
              <a:rPr lang="en-US" altLang="zh-CN" dirty="0" err="1">
                <a:solidFill>
                  <a:srgbClr val="000000"/>
                </a:solidFill>
              </a:rPr>
              <a:t>c,b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&gt;,&lt;</a:t>
            </a:r>
            <a:r>
              <a:rPr lang="en-US" altLang="zh-CN" dirty="0" err="1">
                <a:solidFill>
                  <a:srgbClr val="000000"/>
                </a:solidFill>
              </a:rPr>
              <a:t>d,e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&gt;,&lt;</a:t>
            </a:r>
            <a:r>
              <a:rPr lang="en-US" altLang="zh-CN" dirty="0" err="1">
                <a:solidFill>
                  <a:srgbClr val="000000"/>
                </a:solidFill>
              </a:rPr>
              <a:t>e,d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&gt;</a:t>
            </a:r>
            <a:r>
              <a:rPr lang="en-US" altLang="zh-CN" dirty="0"/>
              <a:t>}</a:t>
            </a:r>
            <a:r>
              <a:rPr lang="zh-CN" altLang="zh-CN" dirty="0"/>
              <a:t> </a:t>
            </a:r>
            <a:endParaRPr lang="zh-CN" altLang="en-US" dirty="0"/>
          </a:p>
        </p:txBody>
      </p:sp>
      <p:sp>
        <p:nvSpPr>
          <p:cNvPr id="16388" name="Rectangle 25">
            <a:extLst>
              <a:ext uri="{FF2B5EF4-FFF2-40B4-BE49-F238E27FC236}">
                <a16:creationId xmlns:a16="http://schemas.microsoft.com/office/drawing/2014/main" id="{35C454E4-911B-3DE7-C255-AFEB55930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6389" name="Group 1">
            <a:extLst>
              <a:ext uri="{FF2B5EF4-FFF2-40B4-BE49-F238E27FC236}">
                <a16:creationId xmlns:a16="http://schemas.microsoft.com/office/drawing/2014/main" id="{2A3CAF26-C0EA-6E2A-ED41-D3F2F6B984C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16013" y="3432175"/>
            <a:ext cx="3786187" cy="3597275"/>
            <a:chOff x="4620" y="7398"/>
            <a:chExt cx="3349" cy="3184"/>
          </a:xfrm>
        </p:grpSpPr>
        <p:sp>
          <p:nvSpPr>
            <p:cNvPr id="16394" name="AutoShape 24">
              <a:extLst>
                <a:ext uri="{FF2B5EF4-FFF2-40B4-BE49-F238E27FC236}">
                  <a16:creationId xmlns:a16="http://schemas.microsoft.com/office/drawing/2014/main" id="{A9FD0FD9-3079-1F18-3465-D8D10D4C8BD6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620" y="7398"/>
              <a:ext cx="3349" cy="30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5" name="Text Box 23">
              <a:extLst>
                <a:ext uri="{FF2B5EF4-FFF2-40B4-BE49-F238E27FC236}">
                  <a16:creationId xmlns:a16="http://schemas.microsoft.com/office/drawing/2014/main" id="{F85190A9-A682-7C6A-045C-9A778D5EFF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4" y="9756"/>
              <a:ext cx="5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2800"/>
            </a:p>
          </p:txBody>
        </p:sp>
        <p:sp>
          <p:nvSpPr>
            <p:cNvPr id="16396" name="Text Box 22">
              <a:extLst>
                <a:ext uri="{FF2B5EF4-FFF2-40B4-BE49-F238E27FC236}">
                  <a16:creationId xmlns:a16="http://schemas.microsoft.com/office/drawing/2014/main" id="{A33C020B-84DE-740A-FD95-D35C06C787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4" y="7704"/>
              <a:ext cx="5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2800"/>
            </a:p>
          </p:txBody>
        </p:sp>
        <p:sp>
          <p:nvSpPr>
            <p:cNvPr id="16397" name="Text Box 21">
              <a:extLst>
                <a:ext uri="{FF2B5EF4-FFF2-40B4-BE49-F238E27FC236}">
                  <a16:creationId xmlns:a16="http://schemas.microsoft.com/office/drawing/2014/main" id="{329A84BF-306D-62B0-AB5B-A07D4D040B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25" y="9932"/>
              <a:ext cx="5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2800"/>
            </a:p>
          </p:txBody>
        </p:sp>
        <p:sp>
          <p:nvSpPr>
            <p:cNvPr id="16398" name="Text Box 20">
              <a:extLst>
                <a:ext uri="{FF2B5EF4-FFF2-40B4-BE49-F238E27FC236}">
                  <a16:creationId xmlns:a16="http://schemas.microsoft.com/office/drawing/2014/main" id="{F227689F-01C9-F4B1-91BC-AE0854CB2B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78" y="8728"/>
              <a:ext cx="5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2800"/>
            </a:p>
          </p:txBody>
        </p:sp>
        <p:sp>
          <p:nvSpPr>
            <p:cNvPr id="16399" name="Text Box 19">
              <a:extLst>
                <a:ext uri="{FF2B5EF4-FFF2-40B4-BE49-F238E27FC236}">
                  <a16:creationId xmlns:a16="http://schemas.microsoft.com/office/drawing/2014/main" id="{144CF328-830B-C10B-3130-5DE0E23019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6" y="7517"/>
              <a:ext cx="5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2800"/>
            </a:p>
          </p:txBody>
        </p:sp>
        <p:sp>
          <p:nvSpPr>
            <p:cNvPr id="16400" name="Oval 18">
              <a:extLst>
                <a:ext uri="{FF2B5EF4-FFF2-40B4-BE49-F238E27FC236}">
                  <a16:creationId xmlns:a16="http://schemas.microsoft.com/office/drawing/2014/main" id="{D41E2275-85FF-E3C3-EF7E-38D510D7B4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8" y="8120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01" name="Oval 17">
              <a:extLst>
                <a:ext uri="{FF2B5EF4-FFF2-40B4-BE49-F238E27FC236}">
                  <a16:creationId xmlns:a16="http://schemas.microsoft.com/office/drawing/2014/main" id="{344574A7-7C67-EADC-1E7B-C82F05E60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7" y="9575"/>
              <a:ext cx="222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02" name="Oval 16">
              <a:extLst>
                <a:ext uri="{FF2B5EF4-FFF2-40B4-BE49-F238E27FC236}">
                  <a16:creationId xmlns:a16="http://schemas.microsoft.com/office/drawing/2014/main" id="{F7467CE5-306A-408B-5241-065D2D89D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2" y="7679"/>
              <a:ext cx="222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03" name="Oval 15">
              <a:extLst>
                <a:ext uri="{FF2B5EF4-FFF2-40B4-BE49-F238E27FC236}">
                  <a16:creationId xmlns:a16="http://schemas.microsoft.com/office/drawing/2014/main" id="{BDFA9688-FBAE-F252-ED2B-986C80FF0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6" y="8885"/>
              <a:ext cx="222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04" name="Oval 14">
              <a:extLst>
                <a:ext uri="{FF2B5EF4-FFF2-40B4-BE49-F238E27FC236}">
                  <a16:creationId xmlns:a16="http://schemas.microsoft.com/office/drawing/2014/main" id="{746747BC-F00C-DFF9-ED90-2E20DE3CA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2" y="10085"/>
              <a:ext cx="222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16405" name="AutoShape 13">
              <a:extLst>
                <a:ext uri="{FF2B5EF4-FFF2-40B4-BE49-F238E27FC236}">
                  <a16:creationId xmlns:a16="http://schemas.microsoft.com/office/drawing/2014/main" id="{2022A313-A713-AAC9-5DFE-7FD66B32FAA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511" y="8341"/>
              <a:ext cx="1" cy="123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06" name="AutoShape 12">
              <a:extLst>
                <a:ext uri="{FF2B5EF4-FFF2-40B4-BE49-F238E27FC236}">
                  <a16:creationId xmlns:a16="http://schemas.microsoft.com/office/drawing/2014/main" id="{61B9079C-C181-52E3-384E-56F03BCE79F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18" y="7884"/>
              <a:ext cx="816" cy="101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07" name="AutoShape 11">
              <a:extLst>
                <a:ext uri="{FF2B5EF4-FFF2-40B4-BE49-F238E27FC236}">
                  <a16:creationId xmlns:a16="http://schemas.microsoft.com/office/drawing/2014/main" id="{1A20E2A9-A445-9BB6-7C3C-D225DCA1EC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481" y="9074"/>
              <a:ext cx="738" cy="104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08" name="AutoShape 10">
              <a:extLst>
                <a:ext uri="{FF2B5EF4-FFF2-40B4-BE49-F238E27FC236}">
                  <a16:creationId xmlns:a16="http://schemas.microsoft.com/office/drawing/2014/main" id="{66EB886E-1D98-3EA9-033E-60CD6863A2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511" y="9074"/>
              <a:ext cx="1" cy="3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09" name="AutoShape 9">
              <a:extLst>
                <a:ext uri="{FF2B5EF4-FFF2-40B4-BE49-F238E27FC236}">
                  <a16:creationId xmlns:a16="http://schemas.microsoft.com/office/drawing/2014/main" id="{717836DA-63E1-A548-8E5F-10E8A681CAE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6900" y="8461"/>
              <a:ext cx="45" cy="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10" name="AutoShape 8">
              <a:extLst>
                <a:ext uri="{FF2B5EF4-FFF2-40B4-BE49-F238E27FC236}">
                  <a16:creationId xmlns:a16="http://schemas.microsoft.com/office/drawing/2014/main" id="{B2F89CCB-A6DC-6F58-956E-1E5FCEA72AF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690" y="9706"/>
              <a:ext cx="90" cy="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411" name="Freeform 7">
              <a:extLst>
                <a:ext uri="{FF2B5EF4-FFF2-40B4-BE49-F238E27FC236}">
                  <a16:creationId xmlns:a16="http://schemas.microsoft.com/office/drawing/2014/main" id="{0471A67A-4C7C-45D2-5CE0-7FBB03AD73E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0" y="7891"/>
              <a:ext cx="889" cy="1020"/>
            </a:xfrm>
            <a:custGeom>
              <a:avLst/>
              <a:gdLst>
                <a:gd name="T0" fmla="*/ 0 w 889"/>
                <a:gd name="T1" fmla="*/ 0 h 1020"/>
                <a:gd name="T2" fmla="*/ 105 w 889"/>
                <a:gd name="T3" fmla="*/ 15 h 1020"/>
                <a:gd name="T4" fmla="*/ 195 w 889"/>
                <a:gd name="T5" fmla="*/ 45 h 1020"/>
                <a:gd name="T6" fmla="*/ 270 w 889"/>
                <a:gd name="T7" fmla="*/ 105 h 1020"/>
                <a:gd name="T8" fmla="*/ 405 w 889"/>
                <a:gd name="T9" fmla="*/ 195 h 1020"/>
                <a:gd name="T10" fmla="*/ 450 w 889"/>
                <a:gd name="T11" fmla="*/ 210 h 1020"/>
                <a:gd name="T12" fmla="*/ 540 w 889"/>
                <a:gd name="T13" fmla="*/ 270 h 1020"/>
                <a:gd name="T14" fmla="*/ 630 w 889"/>
                <a:gd name="T15" fmla="*/ 330 h 1020"/>
                <a:gd name="T16" fmla="*/ 675 w 889"/>
                <a:gd name="T17" fmla="*/ 360 h 1020"/>
                <a:gd name="T18" fmla="*/ 795 w 889"/>
                <a:gd name="T19" fmla="*/ 480 h 1020"/>
                <a:gd name="T20" fmla="*/ 870 w 889"/>
                <a:gd name="T21" fmla="*/ 780 h 1020"/>
                <a:gd name="T22" fmla="*/ 885 w 889"/>
                <a:gd name="T23" fmla="*/ 825 h 1020"/>
                <a:gd name="T24" fmla="*/ 885 w 889"/>
                <a:gd name="T25" fmla="*/ 1020 h 102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89" h="1020">
                  <a:moveTo>
                    <a:pt x="0" y="0"/>
                  </a:moveTo>
                  <a:cubicBezTo>
                    <a:pt x="35" y="5"/>
                    <a:pt x="71" y="7"/>
                    <a:pt x="105" y="15"/>
                  </a:cubicBezTo>
                  <a:cubicBezTo>
                    <a:pt x="136" y="22"/>
                    <a:pt x="195" y="45"/>
                    <a:pt x="195" y="45"/>
                  </a:cubicBezTo>
                  <a:cubicBezTo>
                    <a:pt x="250" y="128"/>
                    <a:pt x="193" y="62"/>
                    <a:pt x="270" y="105"/>
                  </a:cubicBezTo>
                  <a:cubicBezTo>
                    <a:pt x="317" y="131"/>
                    <a:pt x="360" y="165"/>
                    <a:pt x="405" y="195"/>
                  </a:cubicBezTo>
                  <a:cubicBezTo>
                    <a:pt x="418" y="204"/>
                    <a:pt x="436" y="202"/>
                    <a:pt x="450" y="210"/>
                  </a:cubicBezTo>
                  <a:cubicBezTo>
                    <a:pt x="482" y="228"/>
                    <a:pt x="510" y="250"/>
                    <a:pt x="540" y="270"/>
                  </a:cubicBezTo>
                  <a:cubicBezTo>
                    <a:pt x="570" y="290"/>
                    <a:pt x="600" y="310"/>
                    <a:pt x="630" y="330"/>
                  </a:cubicBezTo>
                  <a:cubicBezTo>
                    <a:pt x="645" y="340"/>
                    <a:pt x="675" y="360"/>
                    <a:pt x="675" y="360"/>
                  </a:cubicBezTo>
                  <a:cubicBezTo>
                    <a:pt x="709" y="411"/>
                    <a:pt x="752" y="437"/>
                    <a:pt x="795" y="480"/>
                  </a:cubicBezTo>
                  <a:cubicBezTo>
                    <a:pt x="830" y="585"/>
                    <a:pt x="848" y="671"/>
                    <a:pt x="870" y="780"/>
                  </a:cubicBezTo>
                  <a:cubicBezTo>
                    <a:pt x="873" y="796"/>
                    <a:pt x="884" y="809"/>
                    <a:pt x="885" y="825"/>
                  </a:cubicBezTo>
                  <a:cubicBezTo>
                    <a:pt x="889" y="890"/>
                    <a:pt x="885" y="955"/>
                    <a:pt x="885" y="102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2" name="Freeform 6">
              <a:extLst>
                <a:ext uri="{FF2B5EF4-FFF2-40B4-BE49-F238E27FC236}">
                  <a16:creationId xmlns:a16="http://schemas.microsoft.com/office/drawing/2014/main" id="{978192A0-538B-7680-B654-FDA8BBEC1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5" y="9106"/>
              <a:ext cx="869" cy="1095"/>
            </a:xfrm>
            <a:custGeom>
              <a:avLst/>
              <a:gdLst>
                <a:gd name="T0" fmla="*/ 840 w 869"/>
                <a:gd name="T1" fmla="*/ 0 h 1095"/>
                <a:gd name="T2" fmla="*/ 825 w 869"/>
                <a:gd name="T3" fmla="*/ 255 h 1095"/>
                <a:gd name="T4" fmla="*/ 615 w 869"/>
                <a:gd name="T5" fmla="*/ 780 h 1095"/>
                <a:gd name="T6" fmla="*/ 510 w 869"/>
                <a:gd name="T7" fmla="*/ 900 h 1095"/>
                <a:gd name="T8" fmla="*/ 435 w 869"/>
                <a:gd name="T9" fmla="*/ 975 h 1095"/>
                <a:gd name="T10" fmla="*/ 405 w 869"/>
                <a:gd name="T11" fmla="*/ 1020 h 1095"/>
                <a:gd name="T12" fmla="*/ 240 w 869"/>
                <a:gd name="T13" fmla="*/ 1035 h 1095"/>
                <a:gd name="T14" fmla="*/ 0 w 869"/>
                <a:gd name="T15" fmla="*/ 1095 h 109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9" h="1095">
                  <a:moveTo>
                    <a:pt x="840" y="0"/>
                  </a:moveTo>
                  <a:cubicBezTo>
                    <a:pt x="869" y="86"/>
                    <a:pt x="836" y="168"/>
                    <a:pt x="825" y="255"/>
                  </a:cubicBezTo>
                  <a:cubicBezTo>
                    <a:pt x="802" y="437"/>
                    <a:pt x="783" y="668"/>
                    <a:pt x="615" y="780"/>
                  </a:cubicBezTo>
                  <a:cubicBezTo>
                    <a:pt x="595" y="841"/>
                    <a:pt x="563" y="865"/>
                    <a:pt x="510" y="900"/>
                  </a:cubicBezTo>
                  <a:cubicBezTo>
                    <a:pt x="430" y="1020"/>
                    <a:pt x="535" y="875"/>
                    <a:pt x="435" y="975"/>
                  </a:cubicBezTo>
                  <a:cubicBezTo>
                    <a:pt x="422" y="988"/>
                    <a:pt x="422" y="1015"/>
                    <a:pt x="405" y="1020"/>
                  </a:cubicBezTo>
                  <a:cubicBezTo>
                    <a:pt x="352" y="1036"/>
                    <a:pt x="295" y="1030"/>
                    <a:pt x="240" y="1035"/>
                  </a:cubicBezTo>
                  <a:cubicBezTo>
                    <a:pt x="162" y="1061"/>
                    <a:pt x="84" y="1095"/>
                    <a:pt x="0" y="109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3" name="Freeform 5">
              <a:extLst>
                <a:ext uri="{FF2B5EF4-FFF2-40B4-BE49-F238E27FC236}">
                  <a16:creationId xmlns:a16="http://schemas.microsoft.com/office/drawing/2014/main" id="{5CE895D0-1C61-8EE9-4370-FB2CEDA64C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1" y="8326"/>
              <a:ext cx="181" cy="1284"/>
            </a:xfrm>
            <a:custGeom>
              <a:avLst/>
              <a:gdLst>
                <a:gd name="T0" fmla="*/ 150 w 181"/>
                <a:gd name="T1" fmla="*/ 0 h 1284"/>
                <a:gd name="T2" fmla="*/ 105 w 181"/>
                <a:gd name="T3" fmla="*/ 180 h 1284"/>
                <a:gd name="T4" fmla="*/ 0 w 181"/>
                <a:gd name="T5" fmla="*/ 600 h 1284"/>
                <a:gd name="T6" fmla="*/ 15 w 181"/>
                <a:gd name="T7" fmla="*/ 900 h 1284"/>
                <a:gd name="T8" fmla="*/ 45 w 181"/>
                <a:gd name="T9" fmla="*/ 990 h 1284"/>
                <a:gd name="T10" fmla="*/ 135 w 181"/>
                <a:gd name="T11" fmla="*/ 1215 h 1284"/>
                <a:gd name="T12" fmla="*/ 165 w 181"/>
                <a:gd name="T13" fmla="*/ 1275 h 12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1" h="1284">
                  <a:moveTo>
                    <a:pt x="150" y="0"/>
                  </a:moveTo>
                  <a:cubicBezTo>
                    <a:pt x="181" y="92"/>
                    <a:pt x="123" y="98"/>
                    <a:pt x="105" y="180"/>
                  </a:cubicBezTo>
                  <a:cubicBezTo>
                    <a:pt x="74" y="321"/>
                    <a:pt x="24" y="457"/>
                    <a:pt x="0" y="600"/>
                  </a:cubicBezTo>
                  <a:cubicBezTo>
                    <a:pt x="5" y="700"/>
                    <a:pt x="4" y="801"/>
                    <a:pt x="15" y="900"/>
                  </a:cubicBezTo>
                  <a:cubicBezTo>
                    <a:pt x="19" y="931"/>
                    <a:pt x="35" y="960"/>
                    <a:pt x="45" y="990"/>
                  </a:cubicBezTo>
                  <a:cubicBezTo>
                    <a:pt x="72" y="1070"/>
                    <a:pt x="98" y="1141"/>
                    <a:pt x="135" y="1215"/>
                  </a:cubicBezTo>
                  <a:cubicBezTo>
                    <a:pt x="169" y="1284"/>
                    <a:pt x="131" y="1241"/>
                    <a:pt x="165" y="127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6414" name="AutoShape 4">
              <a:extLst>
                <a:ext uri="{FF2B5EF4-FFF2-40B4-BE49-F238E27FC236}">
                  <a16:creationId xmlns:a16="http://schemas.microsoft.com/office/drawing/2014/main" id="{8693BCB0-F9C9-50A0-050A-42B5E626DE1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85" y="8086"/>
              <a:ext cx="135" cy="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15" name="AutoShape 3">
              <a:extLst>
                <a:ext uri="{FF2B5EF4-FFF2-40B4-BE49-F238E27FC236}">
                  <a16:creationId xmlns:a16="http://schemas.microsoft.com/office/drawing/2014/main" id="{047B0F31-6296-9DBC-84A2-B615BC2D65D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975" y="9886"/>
              <a:ext cx="105" cy="1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16" name="AutoShape 2">
              <a:extLst>
                <a:ext uri="{FF2B5EF4-FFF2-40B4-BE49-F238E27FC236}">
                  <a16:creationId xmlns:a16="http://schemas.microsoft.com/office/drawing/2014/main" id="{7EB8D533-80EA-8934-658D-B05B1FEBFFF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354" y="9226"/>
              <a:ext cx="30" cy="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6390" name="Rectangle 32">
            <a:extLst>
              <a:ext uri="{FF2B5EF4-FFF2-40B4-BE49-F238E27FC236}">
                <a16:creationId xmlns:a16="http://schemas.microsoft.com/office/drawing/2014/main" id="{CA22B530-B4C7-8DF7-649E-0601475F6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391" name="Rectangle 34">
            <a:extLst>
              <a:ext uri="{FF2B5EF4-FFF2-40B4-BE49-F238E27FC236}">
                <a16:creationId xmlns:a16="http://schemas.microsoft.com/office/drawing/2014/main" id="{FC1E5079-20A3-ADB2-FDAF-F2DE68E03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392" name="Rectangle 36">
            <a:extLst>
              <a:ext uri="{FF2B5EF4-FFF2-40B4-BE49-F238E27FC236}">
                <a16:creationId xmlns:a16="http://schemas.microsoft.com/office/drawing/2014/main" id="{065FD079-85B6-E510-0440-8D45BD444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6393" name="对象 33">
            <a:extLst>
              <a:ext uri="{FF2B5EF4-FFF2-40B4-BE49-F238E27FC236}">
                <a16:creationId xmlns:a16="http://schemas.microsoft.com/office/drawing/2014/main" id="{759E99E3-DF22-DAE4-86FB-E34C55D8C7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8625" y="4022725"/>
          <a:ext cx="27940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7000" imgH="1143000" progId="Equation.DSMT4">
                  <p:embed/>
                </p:oleObj>
              </mc:Choice>
              <mc:Fallback>
                <p:oleObj name="Equation" r:id="rId2" imgW="1397000" imgH="1143000" progId="Equation.DSMT4">
                  <p:embed/>
                  <p:pic>
                    <p:nvPicPr>
                      <p:cNvPr id="0" name="对象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4022725"/>
                        <a:ext cx="2794000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>
            <a:extLst>
              <a:ext uri="{FF2B5EF4-FFF2-40B4-BE49-F238E27FC236}">
                <a16:creationId xmlns:a16="http://schemas.microsoft.com/office/drawing/2014/main" id="{92603D08-B29C-6165-24F2-90C7ECFD1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7.3.3 </a:t>
            </a:r>
            <a:r>
              <a:rPr lang="zh-CN" altLang="en-US" b="1"/>
              <a:t>可达矩阵</a:t>
            </a:r>
            <a:endParaRPr lang="zh-CN" altLang="en-US"/>
          </a:p>
        </p:txBody>
      </p:sp>
      <p:sp>
        <p:nvSpPr>
          <p:cNvPr id="17411" name="内容占位符 2">
            <a:extLst>
              <a:ext uri="{FF2B5EF4-FFF2-40B4-BE49-F238E27FC236}">
                <a16:creationId xmlns:a16="http://schemas.microsoft.com/office/drawing/2014/main" id="{B5B49DAA-165A-EF45-8C0E-3EDEEC02D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关系</a:t>
            </a:r>
            <a:r>
              <a:rPr lang="en-US" altLang="zh-CN" dirty="0"/>
              <a:t>R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传递闭包</a:t>
            </a:r>
            <a:r>
              <a:rPr lang="en-US" altLang="zh-CN" dirty="0"/>
              <a:t>t(R)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C0066"/>
                </a:solidFill>
              </a:rPr>
              <a:t>关系矩阵</a:t>
            </a:r>
          </a:p>
        </p:txBody>
      </p:sp>
      <p:graphicFrame>
        <p:nvGraphicFramePr>
          <p:cNvPr id="17412" name="对象 3">
            <a:extLst>
              <a:ext uri="{FF2B5EF4-FFF2-40B4-BE49-F238E27FC236}">
                <a16:creationId xmlns:a16="http://schemas.microsoft.com/office/drawing/2014/main" id="{A3084023-7C01-8328-ADF4-FD3119916A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6813" y="2565400"/>
          <a:ext cx="22860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3000" imgH="1143000" progId="Equation.DSMT4">
                  <p:embed/>
                </p:oleObj>
              </mc:Choice>
              <mc:Fallback>
                <p:oleObj name="Equation" r:id="rId2" imgW="1143000" imgH="11430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6813" y="2565400"/>
                        <a:ext cx="2286000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对象 4">
            <a:extLst>
              <a:ext uri="{FF2B5EF4-FFF2-40B4-BE49-F238E27FC236}">
                <a16:creationId xmlns:a16="http://schemas.microsoft.com/office/drawing/2014/main" id="{1813B0CE-A33D-0932-2698-E98EE00310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2636838"/>
          <a:ext cx="22860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3000" imgH="1143000" progId="Equation.DSMT4">
                  <p:embed/>
                </p:oleObj>
              </mc:Choice>
              <mc:Fallback>
                <p:oleObj name="Equation" r:id="rId4" imgW="1143000" imgH="11430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636838"/>
                        <a:ext cx="2286000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右箭头 6">
            <a:extLst>
              <a:ext uri="{FF2B5EF4-FFF2-40B4-BE49-F238E27FC236}">
                <a16:creationId xmlns:a16="http://schemas.microsoft.com/office/drawing/2014/main" id="{E83F69B4-ECEF-784A-DD4A-138C0FD19482}"/>
              </a:ext>
            </a:extLst>
          </p:cNvPr>
          <p:cNvSpPr/>
          <p:nvPr/>
        </p:nvSpPr>
        <p:spPr>
          <a:xfrm>
            <a:off x="4284663" y="3357563"/>
            <a:ext cx="1079500" cy="431800"/>
          </a:xfrm>
          <a:prstGeom prst="right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A5966157-05ED-9C8D-BCB0-FE3A2F8EEEBE}"/>
              </a:ext>
            </a:extLst>
          </p:cNvPr>
          <p:cNvGrpSpPr/>
          <p:nvPr/>
        </p:nvGrpSpPr>
        <p:grpSpPr>
          <a:xfrm>
            <a:off x="2700338" y="4508500"/>
            <a:ext cx="3403600" cy="2286000"/>
            <a:chOff x="2700338" y="4508500"/>
            <a:chExt cx="3403600" cy="2286000"/>
          </a:xfrm>
        </p:grpSpPr>
        <p:graphicFrame>
          <p:nvGraphicFramePr>
            <p:cNvPr id="17414" name="对象 5">
              <a:extLst>
                <a:ext uri="{FF2B5EF4-FFF2-40B4-BE49-F238E27FC236}">
                  <a16:creationId xmlns:a16="http://schemas.microsoft.com/office/drawing/2014/main" id="{4EA75191-85C7-A477-35E7-29BE2A9E767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9024062"/>
                </p:ext>
              </p:extLst>
            </p:nvPr>
          </p:nvGraphicFramePr>
          <p:xfrm>
            <a:off x="2700338" y="4508500"/>
            <a:ext cx="3403600" cy="2286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701800" imgH="1143000" progId="Equation.DSMT4">
                    <p:embed/>
                  </p:oleObj>
                </mc:Choice>
                <mc:Fallback>
                  <p:oleObj name="Equation" r:id="rId6" imgW="1701800" imgH="1143000" progId="Equation.DSMT4">
                    <p:embed/>
                    <p:pic>
                      <p:nvPicPr>
                        <p:cNvPr id="0" name="对象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0338" y="4508500"/>
                          <a:ext cx="3403600" cy="2286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D2ACB2AF-A9F1-9F68-196C-00309A57194E}"/>
                </a:ext>
              </a:extLst>
            </p:cNvPr>
            <p:cNvSpPr/>
            <p:nvPr/>
          </p:nvSpPr>
          <p:spPr>
            <a:xfrm>
              <a:off x="5292080" y="5949280"/>
              <a:ext cx="323944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B4870C6F-19C9-1077-7733-AADA643F57CE}"/>
                </a:ext>
              </a:extLst>
            </p:cNvPr>
            <p:cNvSpPr txBox="1"/>
            <p:nvPr/>
          </p:nvSpPr>
          <p:spPr>
            <a:xfrm>
              <a:off x="5244440" y="5877272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1</a:t>
              </a:r>
              <a:endParaRPr lang="zh-CN" altLang="en-US" sz="2000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E7410799-D321-F98B-FABB-4EE8BAC8477B}"/>
                </a:ext>
              </a:extLst>
            </p:cNvPr>
            <p:cNvSpPr/>
            <p:nvPr/>
          </p:nvSpPr>
          <p:spPr>
            <a:xfrm>
              <a:off x="5580112" y="6381328"/>
              <a:ext cx="360040" cy="26235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E9C8557-39A7-454D-C12E-0E8401C2896B}"/>
                </a:ext>
              </a:extLst>
            </p:cNvPr>
            <p:cNvSpPr txBox="1"/>
            <p:nvPr/>
          </p:nvSpPr>
          <p:spPr>
            <a:xfrm>
              <a:off x="5688032" y="6325082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1</a:t>
              </a:r>
              <a:endParaRPr lang="zh-CN" altLang="en-US" sz="2000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>
            <a:extLst>
              <a:ext uri="{FF2B5EF4-FFF2-40B4-BE49-F238E27FC236}">
                <a16:creationId xmlns:a16="http://schemas.microsoft.com/office/drawing/2014/main" id="{45640C73-9FEE-B1E7-8487-EC5A11309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7.3.3 </a:t>
            </a:r>
            <a:r>
              <a:rPr lang="zh-CN" altLang="en-US" b="1"/>
              <a:t>可达矩阵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99CD63-07D9-86A2-FE53-53067D41C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rgbClr val="FF0000"/>
                </a:solidFill>
              </a:rPr>
              <a:t>简单</a:t>
            </a:r>
            <a:r>
              <a:rPr lang="zh-CN" altLang="zh-CN" dirty="0">
                <a:solidFill>
                  <a:srgbClr val="FF0000"/>
                </a:solidFill>
              </a:rPr>
              <a:t>有向图</a:t>
            </a:r>
            <a:r>
              <a:rPr lang="en-US" altLang="zh-CN" dirty="0"/>
              <a:t>G</a:t>
            </a:r>
            <a:r>
              <a:rPr lang="zh-CN" altLang="zh-CN" dirty="0"/>
              <a:t>＝</a:t>
            </a:r>
            <a:r>
              <a:rPr lang="en-US" altLang="zh-CN" dirty="0">
                <a:latin typeface="+mn-ea"/>
              </a:rPr>
              <a:t>&lt;</a:t>
            </a:r>
            <a:r>
              <a:rPr lang="en-US" altLang="zh-CN" dirty="0"/>
              <a:t>V,E</a:t>
            </a:r>
            <a:r>
              <a:rPr lang="en-US" altLang="zh-CN" dirty="0">
                <a:latin typeface="+mn-ea"/>
              </a:rPr>
              <a:t>&gt;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G</a:t>
            </a:r>
            <a:r>
              <a:rPr lang="zh-CN" altLang="en-US" dirty="0"/>
              <a:t>邻接矩阵       </a:t>
            </a:r>
            <a:r>
              <a:rPr lang="en-US" altLang="zh-CN" dirty="0"/>
              <a:t>V</a:t>
            </a:r>
            <a:r>
              <a:rPr lang="zh-CN" altLang="zh-CN" dirty="0"/>
              <a:t>上的关系</a:t>
            </a:r>
            <a:r>
              <a:rPr lang="en-US" altLang="zh-CN" dirty="0"/>
              <a:t>R</a:t>
            </a:r>
            <a:r>
              <a:rPr lang="zh-CN" altLang="zh-CN" dirty="0"/>
              <a:t>＝</a:t>
            </a:r>
            <a:r>
              <a:rPr lang="en-US" altLang="zh-CN" dirty="0"/>
              <a:t>E</a:t>
            </a:r>
            <a:r>
              <a:rPr lang="zh-CN" altLang="zh-CN" dirty="0"/>
              <a:t>的关系矩阵</a:t>
            </a:r>
            <a:r>
              <a:rPr lang="en-US" altLang="zh-CN" dirty="0"/>
              <a:t>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t(R)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C0066"/>
                </a:solidFill>
              </a:rPr>
              <a:t>关系矩阵       </a:t>
            </a:r>
            <a:r>
              <a:rPr lang="en-US" altLang="zh-CN" dirty="0"/>
              <a:t>G</a:t>
            </a:r>
            <a:r>
              <a:rPr lang="zh-CN" altLang="en-US" dirty="0"/>
              <a:t>的可达矩阵</a:t>
            </a:r>
          </a:p>
        </p:txBody>
      </p:sp>
      <p:sp>
        <p:nvSpPr>
          <p:cNvPr id="18436" name="Rectangle 25">
            <a:extLst>
              <a:ext uri="{FF2B5EF4-FFF2-40B4-BE49-F238E27FC236}">
                <a16:creationId xmlns:a16="http://schemas.microsoft.com/office/drawing/2014/main" id="{5B2DA376-43A5-8C9C-1D1A-377130AA6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8437" name="Group 1">
            <a:extLst>
              <a:ext uri="{FF2B5EF4-FFF2-40B4-BE49-F238E27FC236}">
                <a16:creationId xmlns:a16="http://schemas.microsoft.com/office/drawing/2014/main" id="{ED9E1DB7-72BB-CE18-87EF-0B1BE3F30A9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96888" y="3359150"/>
            <a:ext cx="3787775" cy="3598863"/>
            <a:chOff x="4620" y="7398"/>
            <a:chExt cx="3349" cy="3184"/>
          </a:xfrm>
        </p:grpSpPr>
        <p:sp>
          <p:nvSpPr>
            <p:cNvPr id="18444" name="AutoShape 24">
              <a:extLst>
                <a:ext uri="{FF2B5EF4-FFF2-40B4-BE49-F238E27FC236}">
                  <a16:creationId xmlns:a16="http://schemas.microsoft.com/office/drawing/2014/main" id="{83B3FE6B-F474-2628-D936-51AAB0160AA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620" y="7398"/>
              <a:ext cx="3349" cy="30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5" name="Text Box 23">
              <a:extLst>
                <a:ext uri="{FF2B5EF4-FFF2-40B4-BE49-F238E27FC236}">
                  <a16:creationId xmlns:a16="http://schemas.microsoft.com/office/drawing/2014/main" id="{F998E275-3F2B-610E-34C9-78CB841193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4" y="9756"/>
              <a:ext cx="5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2800"/>
            </a:p>
          </p:txBody>
        </p:sp>
        <p:sp>
          <p:nvSpPr>
            <p:cNvPr id="18446" name="Text Box 22">
              <a:extLst>
                <a:ext uri="{FF2B5EF4-FFF2-40B4-BE49-F238E27FC236}">
                  <a16:creationId xmlns:a16="http://schemas.microsoft.com/office/drawing/2014/main" id="{29FFD5FC-792D-0480-A47E-439E24EEED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4" y="7704"/>
              <a:ext cx="5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2800"/>
            </a:p>
          </p:txBody>
        </p:sp>
        <p:sp>
          <p:nvSpPr>
            <p:cNvPr id="18447" name="Text Box 21">
              <a:extLst>
                <a:ext uri="{FF2B5EF4-FFF2-40B4-BE49-F238E27FC236}">
                  <a16:creationId xmlns:a16="http://schemas.microsoft.com/office/drawing/2014/main" id="{168FC6B4-A97B-43CE-4DBD-F3CA08311D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25" y="9932"/>
              <a:ext cx="5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2800"/>
            </a:p>
          </p:txBody>
        </p:sp>
        <p:sp>
          <p:nvSpPr>
            <p:cNvPr id="18448" name="Text Box 20">
              <a:extLst>
                <a:ext uri="{FF2B5EF4-FFF2-40B4-BE49-F238E27FC236}">
                  <a16:creationId xmlns:a16="http://schemas.microsoft.com/office/drawing/2014/main" id="{5C5DAB7C-E355-3DA2-B821-EC8FFA32F3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78" y="8728"/>
              <a:ext cx="5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2800"/>
            </a:p>
          </p:txBody>
        </p:sp>
        <p:sp>
          <p:nvSpPr>
            <p:cNvPr id="18449" name="Text Box 19">
              <a:extLst>
                <a:ext uri="{FF2B5EF4-FFF2-40B4-BE49-F238E27FC236}">
                  <a16:creationId xmlns:a16="http://schemas.microsoft.com/office/drawing/2014/main" id="{3B2469A9-4C9F-4464-9A3D-601AA4F9EC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6" y="7517"/>
              <a:ext cx="583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2800"/>
            </a:p>
          </p:txBody>
        </p:sp>
        <p:sp>
          <p:nvSpPr>
            <p:cNvPr id="18450" name="Oval 18">
              <a:extLst>
                <a:ext uri="{FF2B5EF4-FFF2-40B4-BE49-F238E27FC236}">
                  <a16:creationId xmlns:a16="http://schemas.microsoft.com/office/drawing/2014/main" id="{9B92CC2A-02B6-EF1B-0F95-B438F693F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8" y="8120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51" name="Oval 17">
              <a:extLst>
                <a:ext uri="{FF2B5EF4-FFF2-40B4-BE49-F238E27FC236}">
                  <a16:creationId xmlns:a16="http://schemas.microsoft.com/office/drawing/2014/main" id="{D9E957D3-1403-CE06-AB0A-0824A3AB3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7" y="9575"/>
              <a:ext cx="222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52" name="Oval 16">
              <a:extLst>
                <a:ext uri="{FF2B5EF4-FFF2-40B4-BE49-F238E27FC236}">
                  <a16:creationId xmlns:a16="http://schemas.microsoft.com/office/drawing/2014/main" id="{5B9D683C-6624-57BA-4D1E-E1CA34E65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2" y="7679"/>
              <a:ext cx="222" cy="2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53" name="Oval 15">
              <a:extLst>
                <a:ext uri="{FF2B5EF4-FFF2-40B4-BE49-F238E27FC236}">
                  <a16:creationId xmlns:a16="http://schemas.microsoft.com/office/drawing/2014/main" id="{ADFFEAEC-936F-E15B-D3B4-B269336A58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6" y="8885"/>
              <a:ext cx="222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54" name="Oval 14">
              <a:extLst>
                <a:ext uri="{FF2B5EF4-FFF2-40B4-BE49-F238E27FC236}">
                  <a16:creationId xmlns:a16="http://schemas.microsoft.com/office/drawing/2014/main" id="{79080D1A-47A9-4A00-BB2A-3644FDB04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2" y="10085"/>
              <a:ext cx="222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18455" name="AutoShape 13">
              <a:extLst>
                <a:ext uri="{FF2B5EF4-FFF2-40B4-BE49-F238E27FC236}">
                  <a16:creationId xmlns:a16="http://schemas.microsoft.com/office/drawing/2014/main" id="{5FEF81D2-58BC-D488-14E6-D2343FF20A7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511" y="8341"/>
              <a:ext cx="1" cy="123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6" name="AutoShape 12">
              <a:extLst>
                <a:ext uri="{FF2B5EF4-FFF2-40B4-BE49-F238E27FC236}">
                  <a16:creationId xmlns:a16="http://schemas.microsoft.com/office/drawing/2014/main" id="{82A9931A-04BC-58F9-E7CE-A3B8810A5B7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18" y="7884"/>
              <a:ext cx="816" cy="101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7" name="AutoShape 11">
              <a:extLst>
                <a:ext uri="{FF2B5EF4-FFF2-40B4-BE49-F238E27FC236}">
                  <a16:creationId xmlns:a16="http://schemas.microsoft.com/office/drawing/2014/main" id="{20E1FEBD-501C-73A3-655F-5D0A8D4C77D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481" y="9074"/>
              <a:ext cx="738" cy="104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8" name="AutoShape 10">
              <a:extLst>
                <a:ext uri="{FF2B5EF4-FFF2-40B4-BE49-F238E27FC236}">
                  <a16:creationId xmlns:a16="http://schemas.microsoft.com/office/drawing/2014/main" id="{2EE71353-8C7B-D24F-E5F5-7F52461FF75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511" y="9074"/>
              <a:ext cx="1" cy="3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9" name="AutoShape 9">
              <a:extLst>
                <a:ext uri="{FF2B5EF4-FFF2-40B4-BE49-F238E27FC236}">
                  <a16:creationId xmlns:a16="http://schemas.microsoft.com/office/drawing/2014/main" id="{E432D8FA-F42E-A331-090F-D59A96B6C59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6900" y="8461"/>
              <a:ext cx="45" cy="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60" name="AutoShape 8">
              <a:extLst>
                <a:ext uri="{FF2B5EF4-FFF2-40B4-BE49-F238E27FC236}">
                  <a16:creationId xmlns:a16="http://schemas.microsoft.com/office/drawing/2014/main" id="{FBE44753-BC7E-C8CA-9A56-38A868E0742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701" y="9706"/>
              <a:ext cx="90" cy="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461" name="Freeform 7">
              <a:extLst>
                <a:ext uri="{FF2B5EF4-FFF2-40B4-BE49-F238E27FC236}">
                  <a16:creationId xmlns:a16="http://schemas.microsoft.com/office/drawing/2014/main" id="{28735C59-CFE9-18AB-95C0-2F4230E13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0" y="7891"/>
              <a:ext cx="889" cy="1020"/>
            </a:xfrm>
            <a:custGeom>
              <a:avLst/>
              <a:gdLst>
                <a:gd name="T0" fmla="*/ 0 w 889"/>
                <a:gd name="T1" fmla="*/ 0 h 1020"/>
                <a:gd name="T2" fmla="*/ 105 w 889"/>
                <a:gd name="T3" fmla="*/ 15 h 1020"/>
                <a:gd name="T4" fmla="*/ 195 w 889"/>
                <a:gd name="T5" fmla="*/ 45 h 1020"/>
                <a:gd name="T6" fmla="*/ 270 w 889"/>
                <a:gd name="T7" fmla="*/ 105 h 1020"/>
                <a:gd name="T8" fmla="*/ 405 w 889"/>
                <a:gd name="T9" fmla="*/ 195 h 1020"/>
                <a:gd name="T10" fmla="*/ 450 w 889"/>
                <a:gd name="T11" fmla="*/ 210 h 1020"/>
                <a:gd name="T12" fmla="*/ 540 w 889"/>
                <a:gd name="T13" fmla="*/ 270 h 1020"/>
                <a:gd name="T14" fmla="*/ 630 w 889"/>
                <a:gd name="T15" fmla="*/ 330 h 1020"/>
                <a:gd name="T16" fmla="*/ 675 w 889"/>
                <a:gd name="T17" fmla="*/ 360 h 1020"/>
                <a:gd name="T18" fmla="*/ 795 w 889"/>
                <a:gd name="T19" fmla="*/ 480 h 1020"/>
                <a:gd name="T20" fmla="*/ 870 w 889"/>
                <a:gd name="T21" fmla="*/ 780 h 1020"/>
                <a:gd name="T22" fmla="*/ 885 w 889"/>
                <a:gd name="T23" fmla="*/ 825 h 1020"/>
                <a:gd name="T24" fmla="*/ 885 w 889"/>
                <a:gd name="T25" fmla="*/ 1020 h 102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89" h="1020">
                  <a:moveTo>
                    <a:pt x="0" y="0"/>
                  </a:moveTo>
                  <a:cubicBezTo>
                    <a:pt x="35" y="5"/>
                    <a:pt x="71" y="7"/>
                    <a:pt x="105" y="15"/>
                  </a:cubicBezTo>
                  <a:cubicBezTo>
                    <a:pt x="136" y="22"/>
                    <a:pt x="195" y="45"/>
                    <a:pt x="195" y="45"/>
                  </a:cubicBezTo>
                  <a:cubicBezTo>
                    <a:pt x="250" y="128"/>
                    <a:pt x="193" y="62"/>
                    <a:pt x="270" y="105"/>
                  </a:cubicBezTo>
                  <a:cubicBezTo>
                    <a:pt x="317" y="131"/>
                    <a:pt x="360" y="165"/>
                    <a:pt x="405" y="195"/>
                  </a:cubicBezTo>
                  <a:cubicBezTo>
                    <a:pt x="418" y="204"/>
                    <a:pt x="436" y="202"/>
                    <a:pt x="450" y="210"/>
                  </a:cubicBezTo>
                  <a:cubicBezTo>
                    <a:pt x="482" y="228"/>
                    <a:pt x="510" y="250"/>
                    <a:pt x="540" y="270"/>
                  </a:cubicBezTo>
                  <a:cubicBezTo>
                    <a:pt x="570" y="290"/>
                    <a:pt x="600" y="310"/>
                    <a:pt x="630" y="330"/>
                  </a:cubicBezTo>
                  <a:cubicBezTo>
                    <a:pt x="645" y="340"/>
                    <a:pt x="675" y="360"/>
                    <a:pt x="675" y="360"/>
                  </a:cubicBezTo>
                  <a:cubicBezTo>
                    <a:pt x="709" y="411"/>
                    <a:pt x="752" y="437"/>
                    <a:pt x="795" y="480"/>
                  </a:cubicBezTo>
                  <a:cubicBezTo>
                    <a:pt x="830" y="585"/>
                    <a:pt x="848" y="671"/>
                    <a:pt x="870" y="780"/>
                  </a:cubicBezTo>
                  <a:cubicBezTo>
                    <a:pt x="873" y="796"/>
                    <a:pt x="884" y="809"/>
                    <a:pt x="885" y="825"/>
                  </a:cubicBezTo>
                  <a:cubicBezTo>
                    <a:pt x="889" y="890"/>
                    <a:pt x="885" y="955"/>
                    <a:pt x="885" y="102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2" name="Freeform 6">
              <a:extLst>
                <a:ext uri="{FF2B5EF4-FFF2-40B4-BE49-F238E27FC236}">
                  <a16:creationId xmlns:a16="http://schemas.microsoft.com/office/drawing/2014/main" id="{72B09CA1-FB02-A9E5-BB76-D1FFCF937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5" y="9106"/>
              <a:ext cx="869" cy="1095"/>
            </a:xfrm>
            <a:custGeom>
              <a:avLst/>
              <a:gdLst>
                <a:gd name="T0" fmla="*/ 840 w 869"/>
                <a:gd name="T1" fmla="*/ 0 h 1095"/>
                <a:gd name="T2" fmla="*/ 825 w 869"/>
                <a:gd name="T3" fmla="*/ 255 h 1095"/>
                <a:gd name="T4" fmla="*/ 615 w 869"/>
                <a:gd name="T5" fmla="*/ 780 h 1095"/>
                <a:gd name="T6" fmla="*/ 510 w 869"/>
                <a:gd name="T7" fmla="*/ 900 h 1095"/>
                <a:gd name="T8" fmla="*/ 435 w 869"/>
                <a:gd name="T9" fmla="*/ 975 h 1095"/>
                <a:gd name="T10" fmla="*/ 405 w 869"/>
                <a:gd name="T11" fmla="*/ 1020 h 1095"/>
                <a:gd name="T12" fmla="*/ 240 w 869"/>
                <a:gd name="T13" fmla="*/ 1035 h 1095"/>
                <a:gd name="T14" fmla="*/ 0 w 869"/>
                <a:gd name="T15" fmla="*/ 1095 h 109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9" h="1095">
                  <a:moveTo>
                    <a:pt x="840" y="0"/>
                  </a:moveTo>
                  <a:cubicBezTo>
                    <a:pt x="869" y="86"/>
                    <a:pt x="836" y="168"/>
                    <a:pt x="825" y="255"/>
                  </a:cubicBezTo>
                  <a:cubicBezTo>
                    <a:pt x="802" y="437"/>
                    <a:pt x="783" y="668"/>
                    <a:pt x="615" y="780"/>
                  </a:cubicBezTo>
                  <a:cubicBezTo>
                    <a:pt x="595" y="841"/>
                    <a:pt x="563" y="865"/>
                    <a:pt x="510" y="900"/>
                  </a:cubicBezTo>
                  <a:cubicBezTo>
                    <a:pt x="430" y="1020"/>
                    <a:pt x="535" y="875"/>
                    <a:pt x="435" y="975"/>
                  </a:cubicBezTo>
                  <a:cubicBezTo>
                    <a:pt x="422" y="988"/>
                    <a:pt x="422" y="1015"/>
                    <a:pt x="405" y="1020"/>
                  </a:cubicBezTo>
                  <a:cubicBezTo>
                    <a:pt x="352" y="1036"/>
                    <a:pt x="295" y="1030"/>
                    <a:pt x="240" y="1035"/>
                  </a:cubicBezTo>
                  <a:cubicBezTo>
                    <a:pt x="162" y="1061"/>
                    <a:pt x="84" y="1095"/>
                    <a:pt x="0" y="109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3" name="Freeform 5">
              <a:extLst>
                <a:ext uri="{FF2B5EF4-FFF2-40B4-BE49-F238E27FC236}">
                  <a16:creationId xmlns:a16="http://schemas.microsoft.com/office/drawing/2014/main" id="{278381CA-9AE6-4858-E382-A1CBA7818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1" y="8326"/>
              <a:ext cx="181" cy="1284"/>
            </a:xfrm>
            <a:custGeom>
              <a:avLst/>
              <a:gdLst>
                <a:gd name="T0" fmla="*/ 150 w 181"/>
                <a:gd name="T1" fmla="*/ 0 h 1284"/>
                <a:gd name="T2" fmla="*/ 105 w 181"/>
                <a:gd name="T3" fmla="*/ 180 h 1284"/>
                <a:gd name="T4" fmla="*/ 0 w 181"/>
                <a:gd name="T5" fmla="*/ 600 h 1284"/>
                <a:gd name="T6" fmla="*/ 15 w 181"/>
                <a:gd name="T7" fmla="*/ 900 h 1284"/>
                <a:gd name="T8" fmla="*/ 45 w 181"/>
                <a:gd name="T9" fmla="*/ 990 h 1284"/>
                <a:gd name="T10" fmla="*/ 135 w 181"/>
                <a:gd name="T11" fmla="*/ 1215 h 1284"/>
                <a:gd name="T12" fmla="*/ 165 w 181"/>
                <a:gd name="T13" fmla="*/ 1275 h 12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1" h="1284">
                  <a:moveTo>
                    <a:pt x="150" y="0"/>
                  </a:moveTo>
                  <a:cubicBezTo>
                    <a:pt x="181" y="92"/>
                    <a:pt x="123" y="98"/>
                    <a:pt x="105" y="180"/>
                  </a:cubicBezTo>
                  <a:cubicBezTo>
                    <a:pt x="74" y="321"/>
                    <a:pt x="24" y="457"/>
                    <a:pt x="0" y="600"/>
                  </a:cubicBezTo>
                  <a:cubicBezTo>
                    <a:pt x="5" y="700"/>
                    <a:pt x="4" y="801"/>
                    <a:pt x="15" y="900"/>
                  </a:cubicBezTo>
                  <a:cubicBezTo>
                    <a:pt x="19" y="931"/>
                    <a:pt x="35" y="960"/>
                    <a:pt x="45" y="990"/>
                  </a:cubicBezTo>
                  <a:cubicBezTo>
                    <a:pt x="72" y="1070"/>
                    <a:pt x="98" y="1141"/>
                    <a:pt x="135" y="1215"/>
                  </a:cubicBezTo>
                  <a:cubicBezTo>
                    <a:pt x="169" y="1284"/>
                    <a:pt x="131" y="1241"/>
                    <a:pt x="165" y="127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8464" name="AutoShape 4">
              <a:extLst>
                <a:ext uri="{FF2B5EF4-FFF2-40B4-BE49-F238E27FC236}">
                  <a16:creationId xmlns:a16="http://schemas.microsoft.com/office/drawing/2014/main" id="{61556D6A-71CF-0E6F-8CE8-D1E8581EDC3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85" y="8086"/>
              <a:ext cx="135" cy="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65" name="AutoShape 3">
              <a:extLst>
                <a:ext uri="{FF2B5EF4-FFF2-40B4-BE49-F238E27FC236}">
                  <a16:creationId xmlns:a16="http://schemas.microsoft.com/office/drawing/2014/main" id="{3EE19A03-AB91-DDC9-2F56-705FD2E411E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975" y="9886"/>
              <a:ext cx="105" cy="1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66" name="AutoShape 2">
              <a:extLst>
                <a:ext uri="{FF2B5EF4-FFF2-40B4-BE49-F238E27FC236}">
                  <a16:creationId xmlns:a16="http://schemas.microsoft.com/office/drawing/2014/main" id="{747866E6-9E48-7C2E-4D68-E21936E3A1A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354" y="9226"/>
              <a:ext cx="30" cy="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8438" name="Rectangle 32">
            <a:extLst>
              <a:ext uri="{FF2B5EF4-FFF2-40B4-BE49-F238E27FC236}">
                <a16:creationId xmlns:a16="http://schemas.microsoft.com/office/drawing/2014/main" id="{0F165D73-68AE-9EA1-81A9-269F63921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39" name="Rectangle 34">
            <a:extLst>
              <a:ext uri="{FF2B5EF4-FFF2-40B4-BE49-F238E27FC236}">
                <a16:creationId xmlns:a16="http://schemas.microsoft.com/office/drawing/2014/main" id="{5C41EE3A-61F6-B633-1DD8-8EC645CD6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0" name="Rectangle 36">
            <a:extLst>
              <a:ext uri="{FF2B5EF4-FFF2-40B4-BE49-F238E27FC236}">
                <a16:creationId xmlns:a16="http://schemas.microsoft.com/office/drawing/2014/main" id="{9A59B0A8-ED32-1D58-DADA-2DBA3D604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" name="左右箭头 29">
            <a:extLst>
              <a:ext uri="{FF2B5EF4-FFF2-40B4-BE49-F238E27FC236}">
                <a16:creationId xmlns:a16="http://schemas.microsoft.com/office/drawing/2014/main" id="{CFE84B2A-AFB5-9DC1-7E79-68BBCB53C3DF}"/>
              </a:ext>
            </a:extLst>
          </p:cNvPr>
          <p:cNvSpPr>
            <a:spLocks noChangeAspect="1"/>
          </p:cNvSpPr>
          <p:nvPr/>
        </p:nvSpPr>
        <p:spPr>
          <a:xfrm>
            <a:off x="2916238" y="2590800"/>
            <a:ext cx="752475" cy="287338"/>
          </a:xfrm>
          <a:prstGeom prst="leftRight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9" name="左右箭头 58">
            <a:extLst>
              <a:ext uri="{FF2B5EF4-FFF2-40B4-BE49-F238E27FC236}">
                <a16:creationId xmlns:a16="http://schemas.microsoft.com/office/drawing/2014/main" id="{B9296126-D93E-B5C7-D0EC-12AC23A40AE2}"/>
              </a:ext>
            </a:extLst>
          </p:cNvPr>
          <p:cNvSpPr>
            <a:spLocks noChangeAspect="1"/>
          </p:cNvSpPr>
          <p:nvPr/>
        </p:nvSpPr>
        <p:spPr>
          <a:xfrm>
            <a:off x="3749675" y="3194050"/>
            <a:ext cx="750888" cy="287338"/>
          </a:xfrm>
          <a:prstGeom prst="leftRight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5901175-71FE-5C51-9C1F-F69D8AC3A931}"/>
              </a:ext>
            </a:extLst>
          </p:cNvPr>
          <p:cNvGrpSpPr/>
          <p:nvPr/>
        </p:nvGrpSpPr>
        <p:grpSpPr>
          <a:xfrm>
            <a:off x="4480768" y="3933056"/>
            <a:ext cx="3403600" cy="2286000"/>
            <a:chOff x="2700338" y="4508500"/>
            <a:chExt cx="3403600" cy="2286000"/>
          </a:xfrm>
        </p:grpSpPr>
        <p:graphicFrame>
          <p:nvGraphicFramePr>
            <p:cNvPr id="9" name="对象 5">
              <a:extLst>
                <a:ext uri="{FF2B5EF4-FFF2-40B4-BE49-F238E27FC236}">
                  <a16:creationId xmlns:a16="http://schemas.microsoft.com/office/drawing/2014/main" id="{C698EDE9-B011-FDD7-9405-EB58265702B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3133393"/>
                </p:ext>
              </p:extLst>
            </p:nvPr>
          </p:nvGraphicFramePr>
          <p:xfrm>
            <a:off x="2700338" y="4508500"/>
            <a:ext cx="3403600" cy="2286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701800" imgH="1143000" progId="Equation.DSMT4">
                    <p:embed/>
                  </p:oleObj>
                </mc:Choice>
                <mc:Fallback>
                  <p:oleObj name="Equation" r:id="rId2" imgW="1701800" imgH="1143000" progId="Equation.DSMT4">
                    <p:embed/>
                    <p:pic>
                      <p:nvPicPr>
                        <p:cNvPr id="17414" name="对象 5">
                          <a:extLst>
                            <a:ext uri="{FF2B5EF4-FFF2-40B4-BE49-F238E27FC236}">
                              <a16:creationId xmlns:a16="http://schemas.microsoft.com/office/drawing/2014/main" id="{4EA75191-85C7-A477-35E7-29BE2A9E767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0338" y="4508500"/>
                          <a:ext cx="3403600" cy="2286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3F191B2-2AE7-3442-008F-17E00AF2F3DF}"/>
                </a:ext>
              </a:extLst>
            </p:cNvPr>
            <p:cNvSpPr/>
            <p:nvPr/>
          </p:nvSpPr>
          <p:spPr>
            <a:xfrm>
              <a:off x="5292080" y="5949280"/>
              <a:ext cx="323944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E2812BD-4A7E-90E0-6F13-B6A9D2B3099E}"/>
                </a:ext>
              </a:extLst>
            </p:cNvPr>
            <p:cNvSpPr txBox="1"/>
            <p:nvPr/>
          </p:nvSpPr>
          <p:spPr>
            <a:xfrm>
              <a:off x="5244440" y="5877272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1</a:t>
              </a:r>
              <a:endParaRPr lang="zh-CN" altLang="en-US" sz="2000" dirty="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5705A497-D507-D059-4FB7-CFDF0CEED9BE}"/>
                </a:ext>
              </a:extLst>
            </p:cNvPr>
            <p:cNvSpPr/>
            <p:nvPr/>
          </p:nvSpPr>
          <p:spPr>
            <a:xfrm>
              <a:off x="5580112" y="6381328"/>
              <a:ext cx="360040" cy="26235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813E1846-25AF-A068-143F-5EDC57DDE293}"/>
                </a:ext>
              </a:extLst>
            </p:cNvPr>
            <p:cNvSpPr txBox="1"/>
            <p:nvPr/>
          </p:nvSpPr>
          <p:spPr>
            <a:xfrm>
              <a:off x="5688032" y="6325082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1</a:t>
              </a:r>
              <a:endParaRPr lang="zh-CN" altLang="en-US" sz="2000"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8179A42-6CBB-98E4-CF2B-92E8609F432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09869" y="1484784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习题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7.3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第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题  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B008EBC-EC6E-AA07-B83D-9DAD3BBE504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A7CFE1A-0337-69DD-33DB-BE33DAA3B68F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2F658662-29FC-6AE0-B632-C97DBB00CFF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CCDE19F0-E0B9-0BA5-30A9-C428E153EFAB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5740256E-D0B4-D41B-C08D-FC3A6FA3950D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30FB791A-E39F-E08B-1D24-43A7B56F2C60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513C2B98-C6C1-08E6-2559-EB75F42E1698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32602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3503</TotalTime>
  <Words>551</Words>
  <Application>Microsoft Office PowerPoint</Application>
  <PresentationFormat>全屏显示(4:3)</PresentationFormat>
  <Paragraphs>130</Paragraphs>
  <Slides>17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宋体</vt:lpstr>
      <vt:lpstr>Microsoft Yahei</vt:lpstr>
      <vt:lpstr>Calibri</vt:lpstr>
      <vt:lpstr>Tahoma</vt:lpstr>
      <vt:lpstr>Times New Roman</vt:lpstr>
      <vt:lpstr>Wingdings</vt:lpstr>
      <vt:lpstr>Blends</vt:lpstr>
      <vt:lpstr>Equation</vt:lpstr>
      <vt:lpstr>7.3 图的矩阵</vt:lpstr>
      <vt:lpstr>7.3.1 邻接矩阵 </vt:lpstr>
      <vt:lpstr>7.3.1 邻接矩阵 </vt:lpstr>
      <vt:lpstr>7.3.1 邻接矩阵 </vt:lpstr>
      <vt:lpstr>7.3.1 邻接矩阵 </vt:lpstr>
      <vt:lpstr>7.3.1 邻接矩阵 </vt:lpstr>
      <vt:lpstr>7.3.1 邻接矩阵 </vt:lpstr>
      <vt:lpstr>7.3.2 关联矩阵 </vt:lpstr>
      <vt:lpstr>7.3.2 关联矩阵 </vt:lpstr>
      <vt:lpstr>7.3.2 关联矩阵 </vt:lpstr>
      <vt:lpstr>7.3.2 关联矩阵 </vt:lpstr>
      <vt:lpstr>7.3.3 可达矩阵 </vt:lpstr>
      <vt:lpstr>7.3.3 可达矩阵</vt:lpstr>
      <vt:lpstr>7.3.3 可达矩阵</vt:lpstr>
      <vt:lpstr>7.3.3 可达矩阵</vt:lpstr>
      <vt:lpstr>7.3.3 可达矩阵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Duoduo</cp:lastModifiedBy>
  <cp:revision>117</cp:revision>
  <dcterms:created xsi:type="dcterms:W3CDTF">2010-04-09T13:44:14Z</dcterms:created>
  <dcterms:modified xsi:type="dcterms:W3CDTF">2023-11-22T16:04:52Z</dcterms:modified>
</cp:coreProperties>
</file>