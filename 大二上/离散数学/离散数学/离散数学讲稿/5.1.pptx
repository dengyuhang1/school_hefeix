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304" r:id="rId2"/>
    <p:sldId id="305" r:id="rId3"/>
    <p:sldId id="313" r:id="rId4"/>
    <p:sldId id="314" r:id="rId5"/>
    <p:sldId id="315" r:id="rId6"/>
    <p:sldId id="316" r:id="rId7"/>
    <p:sldId id="317" r:id="rId8"/>
    <p:sldId id="318" r:id="rId9"/>
    <p:sldId id="326" r:id="rId10"/>
    <p:sldId id="369" r:id="rId11"/>
    <p:sldId id="371" r:id="rId12"/>
    <p:sldId id="372" r:id="rId13"/>
    <p:sldId id="321" r:id="rId14"/>
    <p:sldId id="331" r:id="rId15"/>
    <p:sldId id="328" r:id="rId16"/>
    <p:sldId id="356" r:id="rId17"/>
    <p:sldId id="354" r:id="rId18"/>
    <p:sldId id="330" r:id="rId19"/>
    <p:sldId id="336" r:id="rId20"/>
    <p:sldId id="334" r:id="rId21"/>
    <p:sldId id="335" r:id="rId22"/>
    <p:sldId id="338" r:id="rId23"/>
    <p:sldId id="339" r:id="rId24"/>
    <p:sldId id="378" r:id="rId25"/>
    <p:sldId id="373" r:id="rId26"/>
    <p:sldId id="375" r:id="rId27"/>
    <p:sldId id="343" r:id="rId28"/>
    <p:sldId id="360" r:id="rId29"/>
    <p:sldId id="358" r:id="rId30"/>
    <p:sldId id="347" r:id="rId31"/>
    <p:sldId id="348" r:id="rId32"/>
    <p:sldId id="377" r:id="rId33"/>
    <p:sldId id="379" r:id="rId3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8080"/>
    <a:srgbClr val="FF0066"/>
    <a:srgbClr val="0066FF"/>
    <a:srgbClr val="CC0066"/>
    <a:srgbClr val="339933"/>
    <a:srgbClr val="00CC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683" autoAdjust="0"/>
  </p:normalViewPr>
  <p:slideViewPr>
    <p:cSldViewPr>
      <p:cViewPr varScale="1">
        <p:scale>
          <a:sx n="66" d="100"/>
          <a:sy n="66" d="100"/>
        </p:scale>
        <p:origin x="63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EF310BE-15A9-B5A0-D5CD-04170C1D9A2E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72E9E76F-0632-9081-6F68-C8AD6B95A5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95E98AF6-191D-647A-8DC6-662ED74405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AE1A206B-6123-90C6-6C5E-671CF5DE9C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964CAB9F-E660-A626-047B-805D3C9AB1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BF97738-6DC4-EFB0-F1AA-579289738F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DECC7E1-59C7-7713-8E7C-390C93B129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2FA4C76C-9ABC-53AA-4058-314002A5C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F0DCC9D4-898E-B08C-FBA3-710025453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48C5139B-3520-120C-61C8-E31F783FF19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EABCBD99-39ED-E7CE-5FBA-6E011BFF74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8DF624F9-C813-98CF-4AD5-CA2582060A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467CA6B4-25A1-3288-719A-3EDF6B3439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75D05DD-7D1F-42F1-8B24-0EF8F667ED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6748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D18AB11-FC35-E3B7-AE0F-69C5B11DA8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9D34EE2-2086-B74E-8D9C-A8E46619BD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384589A-4171-2B17-0FD2-5E34D4C6C0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CB0B9E-044A-43B9-AB1D-8B4FF56177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0426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F264478-00A8-1892-B03A-ED8B403A7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720EDB2-50BE-2B60-2052-FDD9F99D01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978AAB6-9705-3530-1326-43AA37DC1C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A09A9-4EB4-4854-964B-F2ADB44219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819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96384D8-E721-FDF0-32D3-CFE979239C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5BCB009-A61A-7921-771D-935175EF8E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8EA1E65-3ABE-D11E-2915-2825470D41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317D11-238F-41F2-8198-0CB8C20B3C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4071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4AF08CEE-2530-9E73-67D2-7DCC19F29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6E306CB-8708-23A5-AB2C-70FF3708BE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1073EF84-E031-0966-B43E-72B78D8CA4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2D30F2-7F2D-4237-AD96-B94B95C77D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4203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C44A62E2-E2DE-7472-8999-25DBB92E83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598F6A3E-E771-6747-9A53-E522D3D755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0F3C59BE-E1C0-AB82-145C-19143DD57D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C471FB-67F3-4ED1-9726-41ECFEBC1D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4037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C1E019A1-0907-4C60-E6E8-ECF15EB468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7E13A07A-4A0E-1596-7573-96DD172DAA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329DFD1F-D10F-18E4-1214-712A706DEE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8DA1D5-0D0F-4C44-9B63-049CD23A38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1587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8F326EF5-88B1-23F3-2FA5-72B9F76C5F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DB3D1DF-5CEF-4B2C-9182-C256CD313F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5D18077-D198-92D4-D652-46E7C5684B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E5013F-FDBA-4437-ADF1-AA18B00CEB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6708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716F5F0-AEF6-5EF2-EAAB-3E0F753F9A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B6B4171-3275-F931-F4BC-EF4AB3D76C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B139045-FA39-E9CD-C56A-6D27C6909B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BA8CC6-FF06-4544-B05D-E298E58E8E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008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C6C9557-64BB-423F-DC5E-3CD2CA5975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1E6D450-F8E6-A368-9089-54EA760D51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CEAF287-B33F-E52F-52AB-4DD0B4995C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00673E-3475-4868-AB7B-4752842225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9711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4D45ACF-4E3F-C1A2-D656-96C46C6131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E302953-C5F6-79A0-4290-73C4DAF519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17BC7AF-3535-9018-70DD-D5A93F1DAA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E3A718-00A5-4593-A04A-2C0E10F740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040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501CC17-E281-D04A-D1A8-E1812E030E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8845C51-E976-0BED-EF9E-FEBD6FA9B5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97687F0-99C7-94C6-BF77-E6374533A6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300F0B-FFF0-4A2F-9E74-B121D12E22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84150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364742A3-A3DD-5B17-FDA9-271FE89C4E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AA9FE346-00A8-ED91-1CC8-D1F55710CB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27740B5F-0A2F-AE98-ADF5-2DBCC546FD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CCE3F1-232A-493B-9561-AE3B1112D7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3711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5F9E6BE-94A5-F5EA-AE4B-12BC1988528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1CC3B21-8B5A-205D-0F5F-05DAA59988B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83DE7F9-6D6E-0014-9E94-D5F671C85BF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562CF7-FA39-609F-EC38-5D117071430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88E73F-87A6-0833-0900-34FC7BFD0D0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1546C0C-664C-3E5E-5F66-079001C7A4B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7A03086-9B41-BD79-5C9E-D307AA37D0A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39FE151F-3CC9-47BD-796C-8DC24AA532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02C66898-0B55-2B4D-782A-0464D9027B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6B77A940-D981-3114-C9F8-3CEF0BBA241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99E453C2-EAA1-7191-8875-895A83E75C0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A4F038A1-69A4-CBC1-5FFE-BF9CAA8A544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F80A98D2-4ACE-4A11-8EB0-85ACFDE692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2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2.tmp"/><Relationship Id="rId5" Type="http://schemas.openxmlformats.org/officeDocument/2006/relationships/tags" Target="../tags/tag22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21.xml"/><Relationship Id="rId9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4E50CCC-823E-CF7D-64D5-04C1A0C88C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第三篇   抽象代数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BC220E3-AA0E-EEB8-03E0-3924BBF082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497887" cy="4941887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代数</a:t>
            </a:r>
            <a:r>
              <a:rPr lang="zh-CN" altLang="en-US" dirty="0"/>
              <a:t>   最初</a:t>
            </a:r>
            <a:r>
              <a:rPr lang="zh-CN" altLang="en-US" dirty="0">
                <a:solidFill>
                  <a:srgbClr val="0066FF"/>
                </a:solidFill>
              </a:rPr>
              <a:t>研究对象</a:t>
            </a:r>
            <a:r>
              <a:rPr lang="zh-CN" altLang="en-US" dirty="0"/>
              <a:t>    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    数及由数所衍生出来的对象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       可进行加法、乘法等运算；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       对任意两个数，通过某个运算法则，   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       可唯一求得第三个数。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抽象代数</a:t>
            </a:r>
            <a:r>
              <a:rPr lang="zh-CN" altLang="en-US" dirty="0"/>
              <a:t>  </a:t>
            </a:r>
            <a:r>
              <a:rPr lang="zh-CN" altLang="en-US" dirty="0">
                <a:solidFill>
                  <a:srgbClr val="0066FF"/>
                </a:solidFill>
              </a:rPr>
              <a:t>研究领域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       数及数的运算，抽象对象及其运算</a:t>
            </a:r>
          </a:p>
        </p:txBody>
      </p:sp>
      <p:sp>
        <p:nvSpPr>
          <p:cNvPr id="3076" name="Line 4">
            <a:extLst>
              <a:ext uri="{FF2B5EF4-FFF2-40B4-BE49-F238E27FC236}">
                <a16:creationId xmlns:a16="http://schemas.microsoft.com/office/drawing/2014/main" id="{549C44A0-4417-946E-6269-6EACFF340C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2565400"/>
            <a:ext cx="0" cy="3095625"/>
          </a:xfrm>
          <a:prstGeom prst="line">
            <a:avLst/>
          </a:prstGeom>
          <a:noFill/>
          <a:ln w="50800">
            <a:solidFill>
              <a:srgbClr val="33CC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7" name="Text Box 5">
            <a:extLst>
              <a:ext uri="{FF2B5EF4-FFF2-40B4-BE49-F238E27FC236}">
                <a16:creationId xmlns:a16="http://schemas.microsoft.com/office/drawing/2014/main" id="{FDCFB3E2-B59B-AE7C-B56F-C8BD1BB2A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644900"/>
            <a:ext cx="45243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CC0066"/>
                </a:solidFill>
              </a:rPr>
              <a:t>拓展</a:t>
            </a:r>
          </a:p>
        </p:txBody>
      </p:sp>
      <p:sp>
        <p:nvSpPr>
          <p:cNvPr id="3078" name="Line 7">
            <a:extLst>
              <a:ext uri="{FF2B5EF4-FFF2-40B4-BE49-F238E27FC236}">
                <a16:creationId xmlns:a16="http://schemas.microsoft.com/office/drawing/2014/main" id="{F68CA33D-9D75-15FA-5542-16221D146EF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3213100"/>
            <a:ext cx="0" cy="1223963"/>
          </a:xfrm>
          <a:prstGeom prst="line">
            <a:avLst/>
          </a:prstGeom>
          <a:noFill/>
          <a:ln w="25400">
            <a:solidFill>
              <a:srgbClr val="CC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9" name="Line 8">
            <a:extLst>
              <a:ext uri="{FF2B5EF4-FFF2-40B4-BE49-F238E27FC236}">
                <a16:creationId xmlns:a16="http://schemas.microsoft.com/office/drawing/2014/main" id="{4C2323C7-2FAD-E44B-C632-D8F4A38410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3789363"/>
            <a:ext cx="215900" cy="0"/>
          </a:xfrm>
          <a:prstGeom prst="line">
            <a:avLst/>
          </a:prstGeom>
          <a:noFill/>
          <a:ln w="25400">
            <a:solidFill>
              <a:srgbClr val="00FF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80" name="Line 9">
            <a:extLst>
              <a:ext uri="{FF2B5EF4-FFF2-40B4-BE49-F238E27FC236}">
                <a16:creationId xmlns:a16="http://schemas.microsoft.com/office/drawing/2014/main" id="{EEC92F92-9C0D-8476-01F3-6B5A62C2AC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4437063"/>
            <a:ext cx="215900" cy="0"/>
          </a:xfrm>
          <a:prstGeom prst="line">
            <a:avLst/>
          </a:prstGeom>
          <a:noFill/>
          <a:ln w="25400">
            <a:solidFill>
              <a:srgbClr val="00FF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81" name="Line 10">
            <a:extLst>
              <a:ext uri="{FF2B5EF4-FFF2-40B4-BE49-F238E27FC236}">
                <a16:creationId xmlns:a16="http://schemas.microsoft.com/office/drawing/2014/main" id="{5CE430C4-F5DE-1716-0F59-F2E18BC225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2565400"/>
            <a:ext cx="0" cy="287338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82" name="Line 11">
            <a:extLst>
              <a:ext uri="{FF2B5EF4-FFF2-40B4-BE49-F238E27FC236}">
                <a16:creationId xmlns:a16="http://schemas.microsoft.com/office/drawing/2014/main" id="{74CECCE8-0C82-8FFA-B65D-9CFEC3600C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6092825"/>
            <a:ext cx="0" cy="21590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30F974F-449F-0F29-2F99-34D3CCD95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第三篇     抽象代数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6216947-8BD6-0B6A-5B58-2D2E997219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532812" cy="4941887"/>
          </a:xfrm>
        </p:spPr>
        <p:txBody>
          <a:bodyPr/>
          <a:lstStyle/>
          <a:p>
            <a:pPr eaLnBrk="1" hangingPunct="1">
              <a:lnSpc>
                <a:spcPct val="14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代数结构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由集合上定义若干个</a:t>
            </a:r>
            <a:r>
              <a:rPr lang="zh-CN" altLang="en-US" dirty="0">
                <a:solidFill>
                  <a:schemeClr val="accent1"/>
                </a:solidFill>
              </a:rPr>
              <a:t>代数运算</a:t>
            </a:r>
            <a:r>
              <a:rPr lang="zh-CN" altLang="en-US" dirty="0"/>
              <a:t>而组成的系统</a:t>
            </a:r>
          </a:p>
          <a:p>
            <a:pPr eaLnBrk="1" hangingPunct="1">
              <a:lnSpc>
                <a:spcPct val="14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抽象代数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主要研究各种代数结构，以及在这些代数  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结构中保持运算的映射。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集合是抽象的，运算也是抽象的。</a:t>
            </a:r>
          </a:p>
        </p:txBody>
      </p:sp>
      <p:sp>
        <p:nvSpPr>
          <p:cNvPr id="4100" name="Line 4">
            <a:extLst>
              <a:ext uri="{FF2B5EF4-FFF2-40B4-BE49-F238E27FC236}">
                <a16:creationId xmlns:a16="http://schemas.microsoft.com/office/drawing/2014/main" id="{3514BD0D-21E0-5B14-0836-05D24144A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4365625"/>
            <a:ext cx="0" cy="2087563"/>
          </a:xfrm>
          <a:prstGeom prst="line">
            <a:avLst/>
          </a:prstGeom>
          <a:noFill/>
          <a:ln w="381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1" name="Line 5">
            <a:extLst>
              <a:ext uri="{FF2B5EF4-FFF2-40B4-BE49-F238E27FC236}">
                <a16:creationId xmlns:a16="http://schemas.microsoft.com/office/drawing/2014/main" id="{079AE988-3C9B-0193-4A4F-56EAE33480F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4941888"/>
            <a:ext cx="288925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2" name="Line 6">
            <a:extLst>
              <a:ext uri="{FF2B5EF4-FFF2-40B4-BE49-F238E27FC236}">
                <a16:creationId xmlns:a16="http://schemas.microsoft.com/office/drawing/2014/main" id="{9C237033-7D91-8E7E-40E8-124D41212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6453188"/>
            <a:ext cx="2159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FD95D5D-328E-2597-E274-D82AE2C570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     群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23C78B5-DA68-31CF-C668-A28E277CA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916113"/>
            <a:ext cx="7772400" cy="4868862"/>
          </a:xfrm>
        </p:spPr>
        <p:txBody>
          <a:bodyPr/>
          <a:lstStyle/>
          <a:p>
            <a:pPr marL="609600" indent="-609600" eaLnBrk="1" hangingPunct="1">
              <a:lnSpc>
                <a:spcPct val="105000"/>
              </a:lnSpc>
            </a:pPr>
            <a:r>
              <a:rPr lang="en-US" altLang="zh-CN" dirty="0"/>
              <a:t>5.1 </a:t>
            </a:r>
            <a:r>
              <a:rPr lang="zh-CN" altLang="en-US" dirty="0"/>
              <a:t>运算及其性质 </a:t>
            </a:r>
          </a:p>
          <a:p>
            <a:pPr marL="609600" indent="-609600" eaLnBrk="1" hangingPunct="1">
              <a:lnSpc>
                <a:spcPct val="105000"/>
              </a:lnSpc>
            </a:pPr>
            <a:r>
              <a:rPr lang="en-US" altLang="zh-CN" dirty="0"/>
              <a:t>5.2 </a:t>
            </a:r>
            <a:r>
              <a:rPr lang="zh-CN" altLang="en-US" dirty="0"/>
              <a:t>幺元、零元和逆元</a:t>
            </a:r>
          </a:p>
          <a:p>
            <a:pPr marL="609600" indent="-609600" eaLnBrk="1" hangingPunct="1">
              <a:lnSpc>
                <a:spcPct val="105000"/>
              </a:lnSpc>
            </a:pPr>
            <a:r>
              <a:rPr lang="en-US" altLang="zh-CN" dirty="0"/>
              <a:t>5.3 </a:t>
            </a:r>
            <a:r>
              <a:rPr lang="zh-CN" altLang="en-US" dirty="0"/>
              <a:t>群的基本概念</a:t>
            </a:r>
          </a:p>
          <a:p>
            <a:pPr marL="609600" indent="-609600" eaLnBrk="1" hangingPunct="1">
              <a:lnSpc>
                <a:spcPct val="105000"/>
              </a:lnSpc>
            </a:pPr>
            <a:r>
              <a:rPr lang="en-US" altLang="zh-CN" dirty="0"/>
              <a:t>5.4 </a:t>
            </a:r>
            <a:r>
              <a:rPr lang="zh-CN" altLang="en-US" dirty="0"/>
              <a:t>子群</a:t>
            </a:r>
          </a:p>
          <a:p>
            <a:pPr marL="609600" indent="-609600" eaLnBrk="1" hangingPunct="1">
              <a:lnSpc>
                <a:spcPct val="105000"/>
              </a:lnSpc>
            </a:pPr>
            <a:r>
              <a:rPr lang="en-US" altLang="zh-CN" dirty="0"/>
              <a:t>5.5 </a:t>
            </a:r>
            <a:r>
              <a:rPr lang="zh-CN" altLang="en-US" dirty="0"/>
              <a:t>子群的陪集</a:t>
            </a:r>
          </a:p>
          <a:p>
            <a:pPr marL="609600" indent="-609600" eaLnBrk="1" hangingPunct="1">
              <a:lnSpc>
                <a:spcPct val="105000"/>
              </a:lnSpc>
            </a:pPr>
            <a:r>
              <a:rPr lang="en-US" altLang="zh-CN" dirty="0"/>
              <a:t>5.6 </a:t>
            </a:r>
            <a:r>
              <a:rPr lang="zh-CN" altLang="en-US" dirty="0"/>
              <a:t>同态与同构</a:t>
            </a:r>
          </a:p>
          <a:p>
            <a:pPr marL="609600" indent="-609600" eaLnBrk="1" hangingPunct="1">
              <a:lnSpc>
                <a:spcPct val="105000"/>
              </a:lnSpc>
            </a:pPr>
            <a:r>
              <a:rPr lang="en-US" altLang="zh-CN" dirty="0"/>
              <a:t>5.7 </a:t>
            </a:r>
            <a:r>
              <a:rPr lang="zh-CN" altLang="en-US" dirty="0"/>
              <a:t>阿贝尔群与循环群</a:t>
            </a:r>
          </a:p>
          <a:p>
            <a:pPr marL="609600" indent="-609600" eaLnBrk="1" hangingPunct="1">
              <a:lnSpc>
                <a:spcPct val="105000"/>
              </a:lnSpc>
            </a:pPr>
            <a:r>
              <a:rPr lang="en-US" altLang="zh-CN" dirty="0"/>
              <a:t>5.8 </a:t>
            </a:r>
            <a:r>
              <a:rPr lang="zh-CN" altLang="en-US" dirty="0"/>
              <a:t>置换群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B1A4CFD-AA93-5631-02E3-1B876DB6BE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 </a:t>
            </a:r>
            <a:r>
              <a:rPr lang="zh-CN" altLang="en-US"/>
              <a:t>运算及其性质 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64640AA-481C-93E2-F959-EA0E6A6218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65137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4000"/>
              <a:t>5.1.1 n</a:t>
            </a:r>
            <a:r>
              <a:rPr lang="zh-CN" altLang="en-US" sz="4000"/>
              <a:t>元运算的定义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4000"/>
              <a:t>5.1.2 </a:t>
            </a:r>
            <a:r>
              <a:rPr lang="zh-CN" altLang="en-US" sz="4000"/>
              <a:t>代数系统的概念</a:t>
            </a:r>
            <a:endParaRPr lang="en-US" altLang="zh-CN" sz="4000"/>
          </a:p>
          <a:p>
            <a:pPr eaLnBrk="1" hangingPunct="1">
              <a:lnSpc>
                <a:spcPct val="150000"/>
              </a:lnSpc>
            </a:pPr>
            <a:r>
              <a:rPr lang="en-US" altLang="zh-CN" sz="4000"/>
              <a:t>5.1.3 </a:t>
            </a:r>
            <a:r>
              <a:rPr lang="zh-CN" altLang="en-US" sz="4000"/>
              <a:t>二元运算的性质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4000"/>
              <a:t>5.1.4 </a:t>
            </a:r>
            <a:r>
              <a:rPr lang="zh-CN" altLang="en-US" sz="4000"/>
              <a:t>半群</a:t>
            </a:r>
            <a:r>
              <a:rPr lang="zh-CN" altLang="en-US"/>
              <a:t> 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0816535-70EC-F9B9-ACAE-2F57E75192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5.1.1 n</a:t>
            </a:r>
            <a:r>
              <a:rPr lang="zh-CN" altLang="en-US" sz="5400"/>
              <a:t>元运算的定义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E24C47D-7698-F7B8-4DEB-6E37EC75BA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424862" cy="4840287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5.1.1</a:t>
            </a:r>
            <a:r>
              <a:rPr lang="zh-CN" altLang="en-US" dirty="0"/>
              <a:t>设任意集合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f</a:t>
            </a:r>
            <a:r>
              <a:rPr lang="zh-CN" altLang="en-US" dirty="0"/>
              <a:t>：</a:t>
            </a:r>
            <a:r>
              <a:rPr lang="en-US" altLang="zh-CN" dirty="0" err="1">
                <a:solidFill>
                  <a:srgbClr val="CC0066"/>
                </a:solidFill>
              </a:rPr>
              <a:t>A</a:t>
            </a:r>
            <a:r>
              <a:rPr lang="en-US" altLang="zh-CN" baseline="30000" dirty="0" err="1">
                <a:solidFill>
                  <a:schemeClr val="accent1"/>
                </a:solidFill>
              </a:rPr>
              <a:t>n</a:t>
            </a:r>
            <a:r>
              <a:rPr lang="en-US" altLang="en-US" dirty="0" err="1"/>
              <a:t>→</a:t>
            </a:r>
            <a:r>
              <a:rPr lang="en-US" altLang="zh-CN" dirty="0" err="1"/>
              <a:t>B</a:t>
            </a:r>
            <a:r>
              <a:rPr lang="zh-CN" altLang="en-US" dirty="0"/>
              <a:t>，则称</a:t>
            </a:r>
            <a:r>
              <a:rPr lang="en-US" altLang="zh-CN" dirty="0"/>
              <a:t>f</a:t>
            </a:r>
            <a:r>
              <a:rPr lang="zh-CN" altLang="en-US" dirty="0"/>
              <a:t>为</a:t>
            </a:r>
            <a:r>
              <a:rPr lang="en-US" altLang="zh-CN" dirty="0">
                <a:solidFill>
                  <a:srgbClr val="CC0066"/>
                </a:solidFill>
              </a:rPr>
              <a:t>A</a:t>
            </a:r>
            <a:r>
              <a:rPr lang="zh-CN" altLang="en-US" dirty="0"/>
              <a:t>上的</a:t>
            </a:r>
            <a:r>
              <a:rPr lang="en-US" altLang="zh-CN" dirty="0">
                <a:solidFill>
                  <a:schemeClr val="accent1"/>
                </a:solidFill>
              </a:rPr>
              <a:t>n</a:t>
            </a:r>
            <a:r>
              <a:rPr lang="zh-CN" altLang="en-US" b="1" dirty="0">
                <a:solidFill>
                  <a:schemeClr val="hlink"/>
                </a:solidFill>
              </a:rPr>
              <a:t>元运算</a:t>
            </a:r>
            <a:r>
              <a:rPr lang="zh-CN" altLang="en-US" dirty="0"/>
              <a:t>。其中</a:t>
            </a:r>
            <a:r>
              <a:rPr lang="en-US" altLang="zh-CN" dirty="0"/>
              <a:t>f</a:t>
            </a:r>
            <a:r>
              <a:rPr lang="zh-CN" altLang="en-US" dirty="0"/>
              <a:t>称为</a:t>
            </a:r>
            <a:r>
              <a:rPr lang="zh-CN" altLang="en-US" b="1" dirty="0">
                <a:solidFill>
                  <a:schemeClr val="hlink"/>
                </a:solidFill>
              </a:rPr>
              <a:t>运算符</a:t>
            </a:r>
            <a:r>
              <a:rPr lang="zh-CN" altLang="en-US" dirty="0"/>
              <a:t>。 </a:t>
            </a:r>
            <a:endParaRPr lang="en-US" altLang="zh-CN" dirty="0"/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若</a:t>
            </a:r>
            <a:r>
              <a:rPr lang="en-US" altLang="zh-CN" dirty="0"/>
              <a:t>f(A</a:t>
            </a:r>
            <a:r>
              <a:rPr lang="en-US" altLang="zh-CN" baseline="30000" dirty="0"/>
              <a:t>n</a:t>
            </a:r>
            <a:r>
              <a:rPr lang="en-US" altLang="zh-CN" dirty="0"/>
              <a:t>) </a:t>
            </a:r>
            <a:r>
              <a:rPr lang="en-US" altLang="zh-CN" dirty="0">
                <a:sym typeface="Symbol" pitchFamily="18" charset="2"/>
              </a:rPr>
              <a:t>  </a:t>
            </a:r>
            <a:r>
              <a:rPr lang="en-US" altLang="zh-CN" dirty="0"/>
              <a:t>A</a:t>
            </a:r>
            <a:r>
              <a:rPr lang="zh-CN" altLang="en-US" dirty="0"/>
              <a:t>，则称该</a:t>
            </a:r>
            <a:r>
              <a:rPr lang="en-US" altLang="zh-CN" dirty="0"/>
              <a:t>n</a:t>
            </a:r>
            <a:r>
              <a:rPr lang="zh-CN" altLang="en-US" dirty="0"/>
              <a:t>元运算在</a:t>
            </a:r>
            <a:r>
              <a:rPr lang="en-US" altLang="zh-CN" dirty="0"/>
              <a:t>A</a:t>
            </a:r>
            <a:r>
              <a:rPr lang="zh-CN" altLang="en-US" dirty="0"/>
              <a:t>上</a:t>
            </a:r>
            <a:r>
              <a:rPr lang="zh-CN" altLang="en-US" b="1" dirty="0">
                <a:solidFill>
                  <a:schemeClr val="hlink"/>
                </a:solidFill>
              </a:rPr>
              <a:t>封闭</a:t>
            </a:r>
            <a:r>
              <a:rPr lang="zh-CN" altLang="en-US" dirty="0"/>
              <a:t>或称 </a:t>
            </a:r>
            <a:endParaRPr lang="en-US" altLang="zh-CN" dirty="0"/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该</a:t>
            </a:r>
            <a:r>
              <a:rPr lang="en-US" altLang="zh-CN" dirty="0"/>
              <a:t>n</a:t>
            </a:r>
            <a:r>
              <a:rPr lang="zh-CN" altLang="en-US" dirty="0"/>
              <a:t>元运算是</a:t>
            </a:r>
            <a:r>
              <a:rPr lang="en-US" altLang="zh-CN" dirty="0"/>
              <a:t>A</a:t>
            </a:r>
            <a:r>
              <a:rPr lang="zh-CN" altLang="en-US" dirty="0"/>
              <a:t>上的</a:t>
            </a:r>
            <a:r>
              <a:rPr lang="zh-CN" altLang="en-US" b="1" dirty="0">
                <a:solidFill>
                  <a:schemeClr val="hlink"/>
                </a:solidFill>
              </a:rPr>
              <a:t>代数运算</a:t>
            </a:r>
            <a:r>
              <a:rPr lang="zh-CN" altLang="en-US" b="1" dirty="0"/>
              <a:t>。</a:t>
            </a:r>
            <a:endParaRPr lang="zh-CN" altLang="en-US" dirty="0"/>
          </a:p>
        </p:txBody>
      </p:sp>
      <p:graphicFrame>
        <p:nvGraphicFramePr>
          <p:cNvPr id="7172" name="对象 1">
            <a:extLst>
              <a:ext uri="{FF2B5EF4-FFF2-40B4-BE49-F238E27FC236}">
                <a16:creationId xmlns:a16="http://schemas.microsoft.com/office/drawing/2014/main" id="{EABA0DC5-AB87-87D6-BD84-8404AA98CE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6638" y="4508500"/>
          <a:ext cx="385762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6638" y="4508500"/>
                        <a:ext cx="385762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BC75D05-2F11-F2DC-6257-BAE394D221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5.1.1 n</a:t>
            </a:r>
            <a:r>
              <a:rPr lang="zh-CN" altLang="en-US" sz="5400"/>
              <a:t>元运算的定义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4A57212-682B-4618-E800-A70E3C0C49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497887" cy="484028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5.1.1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zh-CN" altLang="en-US" dirty="0"/>
              <a:t>是实数集，</a:t>
            </a:r>
            <a:r>
              <a:rPr lang="en-US" altLang="zh-CN" dirty="0"/>
              <a:t>I</a:t>
            </a:r>
            <a:r>
              <a:rPr lang="zh-CN" altLang="en-US" dirty="0"/>
              <a:t>是整数集。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en-US" altLang="zh-CN" dirty="0"/>
              <a:t>(1)</a:t>
            </a:r>
            <a:r>
              <a:rPr lang="zh-CN" altLang="en-US" dirty="0"/>
              <a:t>函数</a:t>
            </a:r>
            <a:r>
              <a:rPr lang="en-US" altLang="zh-CN" dirty="0"/>
              <a:t>f</a:t>
            </a:r>
            <a:r>
              <a:rPr lang="zh-CN" altLang="en-US" dirty="0"/>
              <a:t>：</a:t>
            </a:r>
            <a:r>
              <a:rPr lang="en-US" altLang="zh-CN" dirty="0"/>
              <a:t>I→R</a:t>
            </a:r>
            <a:r>
              <a:rPr lang="zh-CN" altLang="en-US" dirty="0"/>
              <a:t>，且</a:t>
            </a:r>
            <a:r>
              <a:rPr lang="en-US" altLang="zh-CN" dirty="0"/>
              <a:t>f(x)</a:t>
            </a:r>
            <a:r>
              <a:rPr lang="zh-CN" altLang="en-US" dirty="0"/>
              <a:t>＝</a:t>
            </a:r>
            <a:r>
              <a:rPr lang="en-US" altLang="zh-CN" dirty="0"/>
              <a:t>x</a:t>
            </a:r>
            <a:r>
              <a:rPr lang="zh-CN" altLang="en-US" dirty="0"/>
              <a:t>＋</a:t>
            </a:r>
            <a:r>
              <a:rPr lang="en-US" altLang="zh-CN" dirty="0"/>
              <a:t>0.1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</a:t>
            </a:r>
            <a:r>
              <a:rPr lang="en-US" altLang="zh-CN" dirty="0"/>
              <a:t>     </a:t>
            </a:r>
            <a:r>
              <a:rPr lang="zh-CN" altLang="en-US" dirty="0"/>
              <a:t>则</a:t>
            </a:r>
            <a:r>
              <a:rPr lang="en-US" altLang="zh-CN" dirty="0"/>
              <a:t>f</a:t>
            </a:r>
            <a:r>
              <a:rPr lang="zh-CN" altLang="en-US" dirty="0"/>
              <a:t>是</a:t>
            </a:r>
            <a:r>
              <a:rPr lang="en-US" altLang="zh-CN" dirty="0"/>
              <a:t>I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FF0000"/>
                </a:solidFill>
              </a:rPr>
              <a:t>一元</a:t>
            </a:r>
            <a:r>
              <a:rPr lang="zh-CN" altLang="en-US" dirty="0"/>
              <a:t>运算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en-US" altLang="zh-CN" dirty="0"/>
              <a:t>(2)</a:t>
            </a:r>
            <a:r>
              <a:rPr lang="zh-CN" altLang="en-US" dirty="0"/>
              <a:t>函数</a:t>
            </a:r>
            <a:r>
              <a:rPr lang="en-US" altLang="zh-CN" dirty="0"/>
              <a:t>g</a:t>
            </a:r>
            <a:r>
              <a:rPr lang="zh-CN" altLang="en-US" dirty="0"/>
              <a:t>：</a:t>
            </a:r>
            <a:r>
              <a:rPr lang="en-US" altLang="zh-CN" dirty="0"/>
              <a:t>I</a:t>
            </a:r>
            <a:r>
              <a:rPr lang="en-US" altLang="zh-CN" baseline="30000" dirty="0"/>
              <a:t>2</a:t>
            </a:r>
            <a:r>
              <a:rPr lang="en-US" altLang="zh-CN" dirty="0"/>
              <a:t>→R</a:t>
            </a:r>
            <a:r>
              <a:rPr lang="zh-CN" altLang="en-US" dirty="0"/>
              <a:t>，且</a:t>
            </a:r>
            <a:r>
              <a:rPr lang="en-US" altLang="zh-CN" dirty="0"/>
              <a:t>g(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dirty="0">
                <a:latin typeface="宋体" panose="02010600030101010101" pitchFamily="2" charset="-122"/>
              </a:rPr>
              <a:t>&gt;</a:t>
            </a:r>
            <a:r>
              <a:rPr lang="en-US" altLang="zh-CN" dirty="0"/>
              <a:t>)</a:t>
            </a:r>
            <a:r>
              <a:rPr lang="zh-CN" altLang="en-US" dirty="0"/>
              <a:t>＝</a:t>
            </a:r>
            <a:r>
              <a:rPr lang="en-US" altLang="zh-CN" dirty="0"/>
              <a:t>x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zh-CN" altLang="en-US" dirty="0"/>
              <a:t>＋</a:t>
            </a:r>
            <a:r>
              <a:rPr lang="en-US" altLang="zh-CN" dirty="0"/>
              <a:t>0.1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则</a:t>
            </a:r>
            <a:r>
              <a:rPr lang="en-US" altLang="zh-CN" dirty="0"/>
              <a:t>g</a:t>
            </a:r>
            <a:r>
              <a:rPr lang="zh-CN" altLang="en-US" dirty="0"/>
              <a:t>是</a:t>
            </a:r>
            <a:r>
              <a:rPr lang="en-US" altLang="zh-CN" dirty="0"/>
              <a:t>I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00B050"/>
                </a:solidFill>
              </a:rPr>
              <a:t>二元</a:t>
            </a:r>
            <a:r>
              <a:rPr lang="zh-CN" altLang="en-US" dirty="0"/>
              <a:t>运算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en-US" altLang="zh-CN" dirty="0"/>
              <a:t>(3)</a:t>
            </a:r>
            <a:r>
              <a:rPr lang="zh-CN" altLang="en-US" dirty="0"/>
              <a:t>函数</a:t>
            </a:r>
            <a:r>
              <a:rPr lang="en-US" altLang="zh-CN" dirty="0"/>
              <a:t>h</a:t>
            </a:r>
            <a:r>
              <a:rPr lang="zh-CN" altLang="en-US" dirty="0"/>
              <a:t>：</a:t>
            </a:r>
            <a:r>
              <a:rPr lang="en-US" altLang="zh-CN" dirty="0"/>
              <a:t>I</a:t>
            </a:r>
            <a:r>
              <a:rPr lang="en-US" altLang="zh-CN" baseline="30000" dirty="0"/>
              <a:t>3</a:t>
            </a:r>
            <a:r>
              <a:rPr lang="en-US" altLang="zh-CN" dirty="0"/>
              <a:t>→R</a:t>
            </a:r>
            <a:r>
              <a:rPr lang="zh-CN" altLang="en-US" dirty="0"/>
              <a:t>，且</a:t>
            </a:r>
            <a:r>
              <a:rPr lang="en-US" altLang="zh-CN" dirty="0"/>
              <a:t>h(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 err="1"/>
              <a:t>x,y,z</a:t>
            </a:r>
            <a:r>
              <a:rPr lang="en-US" altLang="zh-CN" dirty="0">
                <a:latin typeface="宋体" panose="02010600030101010101" pitchFamily="2" charset="-122"/>
              </a:rPr>
              <a:t>&gt;</a:t>
            </a:r>
            <a:r>
              <a:rPr lang="en-US" altLang="zh-CN" dirty="0"/>
              <a:t>)</a:t>
            </a:r>
            <a:r>
              <a:rPr lang="zh-CN" altLang="en-US" dirty="0"/>
              <a:t>＝</a:t>
            </a:r>
            <a:r>
              <a:rPr lang="en-US" altLang="zh-CN" dirty="0"/>
              <a:t>x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zh-CN" altLang="en-US" dirty="0"/>
              <a:t>－</a:t>
            </a:r>
            <a:r>
              <a:rPr lang="en-US" altLang="zh-CN" dirty="0"/>
              <a:t>z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则</a:t>
            </a:r>
            <a:r>
              <a:rPr lang="en-US" altLang="zh-CN" dirty="0"/>
              <a:t>h</a:t>
            </a:r>
            <a:r>
              <a:rPr lang="zh-CN" altLang="en-US" dirty="0"/>
              <a:t>是</a:t>
            </a:r>
            <a:r>
              <a:rPr lang="en-US" altLang="zh-CN" dirty="0"/>
              <a:t>I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FF0000"/>
                </a:solidFill>
              </a:rPr>
              <a:t>三元代数</a:t>
            </a:r>
            <a:r>
              <a:rPr lang="zh-CN" altLang="en-US" dirty="0"/>
              <a:t>运算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7F32532-64EB-25BA-8082-DE76AE132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5.1.1 n</a:t>
            </a:r>
            <a:r>
              <a:rPr lang="zh-CN" altLang="en-US" sz="5400"/>
              <a:t>元运算的定义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66FB0E2-48AE-3F53-A2DF-0FC1263735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532812" cy="494188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注释</a:t>
            </a:r>
            <a:endParaRPr lang="en-US" altLang="zh-CN" b="1" dirty="0">
              <a:solidFill>
                <a:schemeClr val="hlink"/>
              </a:solidFill>
            </a:endParaRPr>
          </a:p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hlink"/>
                </a:solidFill>
              </a:rPr>
              <a:t>   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1</a:t>
            </a:r>
            <a:r>
              <a:rPr lang="en-US" altLang="zh-CN" dirty="0"/>
              <a:t>)</a:t>
            </a:r>
            <a:r>
              <a:rPr lang="zh-CN" altLang="en-US" dirty="0"/>
              <a:t>可用任何符号作运算符。</a:t>
            </a:r>
            <a:endParaRPr lang="zh-CN" altLang="en-US" dirty="0">
              <a:solidFill>
                <a:schemeClr val="hlink"/>
              </a:solidFill>
            </a:endParaRPr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FF"/>
                </a:solidFill>
              </a:rPr>
              <a:t>2</a:t>
            </a:r>
            <a:r>
              <a:rPr lang="en-US" altLang="zh-CN" dirty="0"/>
              <a:t>)</a:t>
            </a:r>
            <a:r>
              <a:rPr lang="zh-CN" altLang="en-US" dirty="0"/>
              <a:t>设集合</a:t>
            </a:r>
            <a:r>
              <a:rPr lang="en-US" altLang="zh-CN" dirty="0">
                <a:solidFill>
                  <a:srgbClr val="CC0066"/>
                </a:solidFill>
              </a:rPr>
              <a:t>A</a:t>
            </a:r>
            <a:r>
              <a:rPr lang="zh-CN" altLang="en-US" dirty="0"/>
              <a:t>上的</a:t>
            </a:r>
            <a:r>
              <a:rPr lang="en-US" altLang="zh-CN" dirty="0">
                <a:solidFill>
                  <a:schemeClr val="accent1"/>
                </a:solidFill>
              </a:rPr>
              <a:t>n</a:t>
            </a:r>
            <a:r>
              <a:rPr lang="zh-CN" altLang="en-US" dirty="0"/>
              <a:t>元运算</a:t>
            </a:r>
            <a:r>
              <a:rPr lang="en-US" altLang="zh-CN" dirty="0">
                <a:solidFill>
                  <a:srgbClr val="0000FF"/>
                </a:solidFill>
              </a:rPr>
              <a:t>f</a:t>
            </a:r>
            <a:r>
              <a:rPr lang="zh-CN" altLang="en-US" dirty="0"/>
              <a:t>：</a:t>
            </a:r>
            <a:r>
              <a:rPr lang="en-US" altLang="zh-CN" dirty="0" err="1">
                <a:solidFill>
                  <a:srgbClr val="CC0066"/>
                </a:solidFill>
              </a:rPr>
              <a:t>A</a:t>
            </a:r>
            <a:r>
              <a:rPr lang="en-US" altLang="zh-CN" baseline="30000" dirty="0" err="1">
                <a:solidFill>
                  <a:schemeClr val="accent1"/>
                </a:solidFill>
              </a:rPr>
              <a:t>n</a:t>
            </a:r>
            <a:r>
              <a:rPr lang="en-US" altLang="zh-CN" dirty="0" err="1"/>
              <a:t>→B</a:t>
            </a:r>
            <a:r>
              <a:rPr lang="zh-CN" altLang="en-US" dirty="0"/>
              <a:t>，</a:t>
            </a:r>
            <a:endParaRPr lang="en-US" altLang="zh-CN" dirty="0"/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函数值</a:t>
            </a:r>
            <a:r>
              <a:rPr lang="en-US" altLang="zh-CN" dirty="0">
                <a:solidFill>
                  <a:srgbClr val="0000FF"/>
                </a:solidFill>
              </a:rPr>
              <a:t>f</a:t>
            </a:r>
            <a:r>
              <a:rPr lang="en-US" altLang="zh-CN" dirty="0"/>
              <a:t>(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,a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,a</a:t>
            </a:r>
            <a:r>
              <a:rPr lang="en-US" altLang="zh-CN" baseline="-25000" dirty="0"/>
              <a:t>n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en-US" altLang="zh-CN" dirty="0"/>
              <a:t>)   </a:t>
            </a:r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A</a:t>
            </a:r>
            <a:r>
              <a:rPr lang="zh-CN" altLang="en-US" dirty="0"/>
              <a:t>中</a:t>
            </a:r>
            <a:r>
              <a:rPr lang="en-US" altLang="zh-CN" dirty="0">
                <a:solidFill>
                  <a:schemeClr val="accent1"/>
                </a:solidFill>
              </a:rPr>
              <a:t>n</a:t>
            </a:r>
            <a:r>
              <a:rPr lang="zh-CN" altLang="en-US" dirty="0"/>
              <a:t>个元素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,a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,a</a:t>
            </a:r>
            <a:r>
              <a:rPr lang="en-US" altLang="zh-CN" baseline="-25000" dirty="0"/>
              <a:t>n</a:t>
            </a:r>
            <a:r>
              <a:rPr lang="zh-CN" altLang="en-US" dirty="0"/>
              <a:t>做一次</a:t>
            </a:r>
            <a:r>
              <a:rPr lang="en-US" altLang="zh-CN" dirty="0">
                <a:solidFill>
                  <a:srgbClr val="0000FF"/>
                </a:solidFill>
              </a:rPr>
              <a:t>f</a:t>
            </a:r>
            <a:r>
              <a:rPr lang="zh-CN" altLang="en-US" dirty="0"/>
              <a:t>运算的结果</a:t>
            </a:r>
            <a:endParaRPr lang="en-US" altLang="zh-CN" dirty="0"/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A536B843-C8F0-7E0C-E028-71F42C305BCD}"/>
              </a:ext>
            </a:extLst>
          </p:cNvPr>
          <p:cNvCxnSpPr/>
          <p:nvPr/>
        </p:nvCxnSpPr>
        <p:spPr>
          <a:xfrm>
            <a:off x="2627313" y="5445125"/>
            <a:ext cx="0" cy="576263"/>
          </a:xfrm>
          <a:prstGeom prst="straightConnector1">
            <a:avLst/>
          </a:prstGeom>
          <a:ln w="381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14F93D9-6426-5715-F131-441E5F7388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5.1.1 n</a:t>
            </a:r>
            <a:r>
              <a:rPr lang="zh-CN" altLang="en-US" sz="5400"/>
              <a:t>元运算的定义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B1A7388-B3F3-D665-DAC9-4CC595124C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844675"/>
            <a:ext cx="8604250" cy="5013325"/>
          </a:xfrm>
        </p:spPr>
        <p:txBody>
          <a:bodyPr/>
          <a:lstStyle/>
          <a:p>
            <a:pPr eaLnBrk="1" hangingPunct="1">
              <a:lnSpc>
                <a:spcPct val="220000"/>
              </a:lnSpc>
              <a:buFont typeface="Wingdings" panose="05000000000000000000" pitchFamily="2" charset="2"/>
              <a:buNone/>
            </a:pPr>
            <a:r>
              <a:rPr lang="en-US" altLang="zh-CN"/>
              <a:t>   (</a:t>
            </a:r>
            <a:r>
              <a:rPr lang="en-US" altLang="zh-CN">
                <a:solidFill>
                  <a:schemeClr val="accent1"/>
                </a:solidFill>
              </a:rPr>
              <a:t>4</a:t>
            </a:r>
            <a:r>
              <a:rPr lang="en-US" altLang="zh-CN"/>
              <a:t>)</a:t>
            </a:r>
            <a:r>
              <a:rPr lang="zh-CN" altLang="en-US"/>
              <a:t>二元运算的</a:t>
            </a:r>
            <a:r>
              <a:rPr lang="zh-CN" altLang="en-US">
                <a:solidFill>
                  <a:srgbClr val="FF0000"/>
                </a:solidFill>
              </a:rPr>
              <a:t>夹中间</a:t>
            </a:r>
            <a:r>
              <a:rPr lang="zh-CN" altLang="en-US"/>
              <a:t>写法：</a:t>
            </a:r>
            <a:endParaRPr lang="en-US" altLang="zh-CN"/>
          </a:p>
          <a:p>
            <a:pPr eaLnBrk="1" hangingPunct="1">
              <a:lnSpc>
                <a:spcPct val="220000"/>
              </a:lnSpc>
              <a:buFont typeface="Wingdings" panose="05000000000000000000" pitchFamily="2" charset="2"/>
              <a:buNone/>
            </a:pPr>
            <a:r>
              <a:rPr lang="zh-CN" altLang="en-US"/>
              <a:t>     设</a:t>
            </a:r>
            <a:r>
              <a:rPr lang="en-US" altLang="zh-CN"/>
              <a:t>f</a:t>
            </a:r>
            <a:r>
              <a:rPr lang="zh-CN" altLang="en-US"/>
              <a:t>是</a:t>
            </a:r>
            <a:r>
              <a:rPr lang="en-US" altLang="zh-CN"/>
              <a:t>A</a:t>
            </a:r>
            <a:r>
              <a:rPr lang="zh-CN" altLang="en-US"/>
              <a:t>上的二元运算，任意</a:t>
            </a:r>
            <a:r>
              <a:rPr lang="en-US" altLang="zh-CN"/>
              <a:t>a,b∈A</a:t>
            </a:r>
            <a:r>
              <a:rPr lang="zh-CN" altLang="en-US"/>
              <a:t>，</a:t>
            </a:r>
            <a:endParaRPr lang="en-US" altLang="zh-CN"/>
          </a:p>
          <a:p>
            <a:pPr eaLnBrk="1" hangingPunct="1">
              <a:lnSpc>
                <a:spcPct val="22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f(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a,b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en-US" altLang="zh-CN"/>
              <a:t>)</a:t>
            </a:r>
            <a:r>
              <a:rPr lang="zh-CN" altLang="en-US"/>
              <a:t>＝</a:t>
            </a:r>
            <a:r>
              <a:rPr lang="en-US" altLang="zh-CN"/>
              <a:t>c</a:t>
            </a:r>
            <a:r>
              <a:rPr lang="zh-CN" altLang="en-US"/>
              <a:t> </a:t>
            </a:r>
            <a:r>
              <a:rPr lang="en-US" altLang="zh-CN">
                <a:solidFill>
                  <a:srgbClr val="CC0066"/>
                </a:solidFill>
                <a:sym typeface="Symbol" panose="05050102010706020507" pitchFamily="18" charset="2"/>
              </a:rPr>
              <a:t></a:t>
            </a:r>
            <a:r>
              <a:rPr lang="zh-CN" altLang="en-US"/>
              <a:t> </a:t>
            </a:r>
            <a:r>
              <a:rPr lang="en-US" altLang="zh-CN"/>
              <a:t>a f b</a:t>
            </a:r>
            <a:r>
              <a:rPr lang="zh-CN" altLang="en-US"/>
              <a:t>＝</a:t>
            </a:r>
            <a:r>
              <a:rPr lang="en-US" altLang="zh-CN"/>
              <a:t>c</a:t>
            </a:r>
            <a:r>
              <a:rPr lang="zh-CN" altLang="en-US"/>
              <a:t>，</a:t>
            </a:r>
            <a:r>
              <a:rPr lang="zh-CN" altLang="en-US">
                <a:solidFill>
                  <a:srgbClr val="CC0066"/>
                </a:solidFill>
              </a:rPr>
              <a:t>读</a:t>
            </a:r>
            <a:r>
              <a:rPr lang="en-US" altLang="zh-CN"/>
              <a:t>a f</a:t>
            </a:r>
            <a:r>
              <a:rPr lang="zh-CN" altLang="en-US"/>
              <a:t>运算</a:t>
            </a:r>
            <a:r>
              <a:rPr lang="en-US" altLang="zh-CN"/>
              <a:t>b</a:t>
            </a:r>
            <a:r>
              <a:rPr lang="zh-CN" altLang="en-US"/>
              <a:t>等于</a:t>
            </a:r>
            <a:r>
              <a:rPr lang="en-US" altLang="zh-CN"/>
              <a:t>c</a:t>
            </a:r>
            <a:r>
              <a:rPr lang="zh-CN" altLang="en-US"/>
              <a:t> </a:t>
            </a:r>
          </a:p>
          <a:p>
            <a:pPr eaLnBrk="1" hangingPunct="1">
              <a:lnSpc>
                <a:spcPct val="220000"/>
              </a:lnSpc>
              <a:buFont typeface="Wingdings" panose="05000000000000000000" pitchFamily="2" charset="2"/>
              <a:buNone/>
            </a:pPr>
            <a:r>
              <a:rPr lang="zh-CN" altLang="en-US"/>
              <a:t>    </a:t>
            </a:r>
            <a:r>
              <a:rPr lang="en-US" altLang="zh-CN"/>
              <a:t>(</a:t>
            </a:r>
            <a:r>
              <a:rPr lang="en-US" altLang="zh-CN">
                <a:solidFill>
                  <a:schemeClr val="accent1"/>
                </a:solidFill>
              </a:rPr>
              <a:t>5</a:t>
            </a:r>
            <a:r>
              <a:rPr lang="en-US" altLang="zh-CN"/>
              <a:t>)</a:t>
            </a:r>
            <a:r>
              <a:rPr lang="zh-CN" altLang="en-US"/>
              <a:t>有限集</a:t>
            </a:r>
            <a:r>
              <a:rPr lang="en-US" altLang="zh-CN"/>
              <a:t>A</a:t>
            </a:r>
            <a:r>
              <a:rPr lang="zh-CN" altLang="en-US"/>
              <a:t>上的二元运算的</a:t>
            </a:r>
            <a:r>
              <a:rPr lang="zh-CN" altLang="en-US">
                <a:solidFill>
                  <a:srgbClr val="FF0000"/>
                </a:solidFill>
              </a:rPr>
              <a:t>运算表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BFCA7F1-0534-42A1-C2EC-5FE23AC196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5.1.1 n</a:t>
            </a:r>
            <a:r>
              <a:rPr lang="zh-CN" altLang="en-US" sz="5400"/>
              <a:t>元运算的定义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1A7C530-7C16-F97C-B395-3AA48221CC4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defTabSz="901700" eaLnBrk="1" hangingPunct="1">
              <a:lnSpc>
                <a:spcPct val="150000"/>
              </a:lnSpc>
              <a:tabLst>
                <a:tab pos="6184900" algn="l"/>
              </a:tabLst>
            </a:pPr>
            <a:r>
              <a:rPr lang="zh-CN" altLang="en-US"/>
              <a:t>例如，设</a:t>
            </a:r>
            <a:r>
              <a:rPr lang="en-US" altLang="zh-CN"/>
              <a:t>A</a:t>
            </a:r>
            <a:r>
              <a:rPr lang="zh-CN" altLang="en-US"/>
              <a:t>＝</a:t>
            </a:r>
            <a:r>
              <a:rPr lang="en-US" altLang="zh-CN"/>
              <a:t>{1,2,3,4}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zh-CN" altLang="en-US"/>
              <a:t>上的二元运算</a:t>
            </a:r>
            <a:r>
              <a:rPr lang="en-US" altLang="zh-CN"/>
              <a:t>﹡</a:t>
            </a:r>
            <a:r>
              <a:rPr lang="zh-CN" altLang="en-US"/>
              <a:t>与△的</a:t>
            </a:r>
            <a:r>
              <a:rPr lang="zh-CN" altLang="en-US">
                <a:solidFill>
                  <a:schemeClr val="hlink"/>
                </a:solidFill>
              </a:rPr>
              <a:t>运算表</a:t>
            </a:r>
            <a:r>
              <a:rPr lang="zh-CN" altLang="en-US"/>
              <a:t>如下：</a:t>
            </a:r>
          </a:p>
          <a:p>
            <a:pPr defTabSz="901700" eaLnBrk="1" hangingPunct="1">
              <a:tabLst>
                <a:tab pos="6184900" algn="l"/>
              </a:tabLst>
            </a:pPr>
            <a:endParaRPr lang="zh-CN" altLang="en-US" sz="2800"/>
          </a:p>
          <a:p>
            <a:pPr defTabSz="901700" eaLnBrk="1" hangingPunct="1">
              <a:tabLst>
                <a:tab pos="6184900" algn="l"/>
              </a:tabLst>
            </a:pPr>
            <a:endParaRPr lang="en-US" altLang="zh-CN" sz="2800"/>
          </a:p>
        </p:txBody>
      </p:sp>
      <p:graphicFrame>
        <p:nvGraphicFramePr>
          <p:cNvPr id="151604" name="Group 52">
            <a:extLst>
              <a:ext uri="{FF2B5EF4-FFF2-40B4-BE49-F238E27FC236}">
                <a16:creationId xmlns:a16="http://schemas.microsoft.com/office/drawing/2014/main" id="{7E090927-1814-F19E-439B-82033BE566E9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1116013" y="3544888"/>
          <a:ext cx="3311525" cy="2914650"/>
        </p:xfrm>
        <a:graphic>
          <a:graphicData uri="http://schemas.openxmlformats.org/drawingml/2006/table">
            <a:tbl>
              <a:tblPr/>
              <a:tblGrid>
                <a:gridCol w="566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4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2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﹡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1   2   3   4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53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1   3   2   4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2   4   1   2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3   3   3   3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4   1   4   1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1622" name="Group 70">
            <a:extLst>
              <a:ext uri="{FF2B5EF4-FFF2-40B4-BE49-F238E27FC236}">
                <a16:creationId xmlns:a16="http://schemas.microsoft.com/office/drawing/2014/main" id="{7E282C3D-EB3D-87F9-C4CE-31086FF193ED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5145088" y="3544888"/>
          <a:ext cx="3243262" cy="2914650"/>
        </p:xfrm>
        <a:graphic>
          <a:graphicData uri="http://schemas.openxmlformats.org/drawingml/2006/table">
            <a:tbl>
              <a:tblPr/>
              <a:tblGrid>
                <a:gridCol w="554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2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△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1   2   3   4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53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5   5   5   5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2   6   2   6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4   3   2   1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4   4   4   4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B725852-5657-DA4A-EE0D-329E76AEA1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5.1.2 </a:t>
            </a:r>
            <a:r>
              <a:rPr lang="zh-CN" altLang="en-US" sz="5400"/>
              <a:t>代数系统的概念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45060DB-EF77-46BF-3774-8CA1EE0610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532812" cy="4941887"/>
          </a:xfrm>
        </p:spPr>
        <p:txBody>
          <a:bodyPr/>
          <a:lstStyle/>
          <a:p>
            <a:pPr eaLnBrk="1" hangingPunct="1">
              <a:lnSpc>
                <a:spcPct val="24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5.1.2</a:t>
            </a:r>
            <a:r>
              <a:rPr lang="en-US" altLang="zh-CN" dirty="0"/>
              <a:t>  </a:t>
            </a:r>
            <a:r>
              <a:rPr lang="zh-CN" altLang="en-US" dirty="0"/>
              <a:t>一个非空集合</a:t>
            </a:r>
            <a:r>
              <a:rPr lang="en-US" altLang="zh-CN" dirty="0"/>
              <a:t>A</a:t>
            </a:r>
            <a:r>
              <a:rPr lang="zh-CN" altLang="en-US" dirty="0"/>
              <a:t>连同若干个定义在</a:t>
            </a:r>
            <a:r>
              <a:rPr lang="en-US" altLang="zh-CN" dirty="0"/>
              <a:t>A</a:t>
            </a:r>
            <a:r>
              <a:rPr lang="zh-CN" altLang="en-US" dirty="0"/>
              <a:t>上的</a:t>
            </a:r>
            <a:r>
              <a:rPr lang="zh-CN" altLang="en-US" b="1" dirty="0">
                <a:solidFill>
                  <a:srgbClr val="00B050"/>
                </a:solidFill>
              </a:rPr>
              <a:t>代数运算</a:t>
            </a:r>
            <a:r>
              <a:rPr lang="en-US" altLang="zh-CN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,f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dirty="0">
                <a:latin typeface="Arial" panose="020B0604020202020204" pitchFamily="34" charset="0"/>
              </a:rPr>
              <a:t>…</a:t>
            </a:r>
            <a:r>
              <a:rPr lang="en-US" altLang="zh-CN" dirty="0"/>
              <a:t>,</a:t>
            </a:r>
            <a:r>
              <a:rPr lang="en-US" altLang="zh-CN" dirty="0" err="1"/>
              <a:t>f</a:t>
            </a:r>
            <a:r>
              <a:rPr lang="en-US" altLang="zh-CN" baseline="-25000" dirty="0" err="1"/>
              <a:t>n</a:t>
            </a:r>
            <a:r>
              <a:rPr lang="zh-CN" altLang="en-US" dirty="0"/>
              <a:t>所组成的整体称为</a:t>
            </a:r>
            <a:r>
              <a:rPr lang="zh-CN" altLang="en-US" b="1" dirty="0">
                <a:solidFill>
                  <a:schemeClr val="hlink"/>
                </a:solidFill>
              </a:rPr>
              <a:t>代数系统</a:t>
            </a:r>
            <a:r>
              <a:rPr lang="en-US" altLang="zh-CN" dirty="0"/>
              <a:t>(algebraic system)</a:t>
            </a:r>
            <a:r>
              <a:rPr lang="zh-CN" altLang="en-US" dirty="0"/>
              <a:t>或</a:t>
            </a:r>
            <a:r>
              <a:rPr lang="zh-CN" altLang="en-US" b="1" dirty="0">
                <a:solidFill>
                  <a:schemeClr val="hlink"/>
                </a:solidFill>
              </a:rPr>
              <a:t>代数结构</a:t>
            </a:r>
            <a:r>
              <a:rPr lang="zh-CN" altLang="en-US" b="1" dirty="0"/>
              <a:t> </a:t>
            </a:r>
            <a:r>
              <a:rPr lang="zh-CN" altLang="en-US" dirty="0"/>
              <a:t>，记作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/>
              <a:t>A,f</a:t>
            </a:r>
            <a:r>
              <a:rPr lang="en-US" altLang="zh-CN" baseline="-25000" dirty="0"/>
              <a:t>1</a:t>
            </a:r>
            <a:r>
              <a:rPr lang="en-US" altLang="zh-CN" dirty="0"/>
              <a:t>,f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dirty="0">
                <a:latin typeface="Arial" panose="020B0604020202020204" pitchFamily="34" charset="0"/>
              </a:rPr>
              <a:t>…</a:t>
            </a:r>
            <a:r>
              <a:rPr lang="en-US" altLang="zh-CN" dirty="0"/>
              <a:t>,</a:t>
            </a:r>
            <a:r>
              <a:rPr lang="en-US" altLang="zh-CN" dirty="0" err="1"/>
              <a:t>f</a:t>
            </a:r>
            <a:r>
              <a:rPr lang="en-US" altLang="zh-CN" baseline="-25000" dirty="0" err="1"/>
              <a:t>n</a:t>
            </a:r>
            <a:r>
              <a:rPr lang="en-US" altLang="zh-CN" dirty="0">
                <a:latin typeface="宋体" panose="02010600030101010101" pitchFamily="2" charset="-122"/>
              </a:rPr>
              <a:t>&gt;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361E5CB-C50B-60AE-D235-6AD7EFC979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5.1.2 </a:t>
            </a:r>
            <a:r>
              <a:rPr lang="zh-CN" altLang="en-US" sz="5400"/>
              <a:t>代数系统的概念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60B182B-4E54-C68C-E15D-4A65BFAF05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chemeClr val="hlink"/>
                </a:solidFill>
              </a:rPr>
              <a:t>代数系统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R,</a:t>
            </a:r>
            <a:r>
              <a:rPr lang="zh-CN" altLang="en-US"/>
              <a:t>＋</a:t>
            </a:r>
            <a:r>
              <a:rPr lang="en-US" altLang="zh-CN"/>
              <a:t>,</a:t>
            </a:r>
            <a:r>
              <a:rPr lang="zh-CN" altLang="en-US"/>
              <a:t>－</a:t>
            </a:r>
            <a:r>
              <a:rPr lang="en-US" altLang="zh-CN"/>
              <a:t>,×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/>
              <a:t>   R</a:t>
            </a:r>
            <a:r>
              <a:rPr lang="zh-CN" altLang="en-US"/>
              <a:t>是实数集， ＋</a:t>
            </a:r>
            <a:r>
              <a:rPr lang="en-US" altLang="zh-CN"/>
              <a:t>,</a:t>
            </a:r>
            <a:r>
              <a:rPr lang="zh-CN" altLang="en-US"/>
              <a:t>－</a:t>
            </a:r>
            <a:r>
              <a:rPr lang="en-US" altLang="zh-CN"/>
              <a:t>,×</a:t>
            </a:r>
            <a:r>
              <a:rPr lang="zh-CN" altLang="en-US"/>
              <a:t>分别是实数的加运算、减运算与乘运算。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chemeClr val="hlink"/>
                </a:solidFill>
              </a:rPr>
              <a:t>代数系统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P(A),∩,∪,</a:t>
            </a:r>
            <a:r>
              <a:rPr lang="zh-CN" altLang="en-US"/>
              <a:t>～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/>
              <a:t>   P(A)</a:t>
            </a:r>
            <a:r>
              <a:rPr lang="zh-CN" altLang="en-US"/>
              <a:t>是有限集</a:t>
            </a:r>
            <a:r>
              <a:rPr lang="en-US" altLang="zh-CN"/>
              <a:t>A</a:t>
            </a:r>
            <a:r>
              <a:rPr lang="zh-CN" altLang="en-US"/>
              <a:t>的幂集，∩</a:t>
            </a:r>
            <a:r>
              <a:rPr lang="en-US" altLang="zh-CN"/>
              <a:t>,∪,</a:t>
            </a:r>
            <a:r>
              <a:rPr lang="zh-CN" altLang="en-US"/>
              <a:t>～分别是集合的交运算、并运算、绝对补运算。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4BC28F53-8793-D0BD-0436-195520560F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5.1.3 </a:t>
            </a:r>
            <a:r>
              <a:rPr lang="zh-CN" altLang="en-US" sz="5400"/>
              <a:t>二元运算的性质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EB6BB8-3456-EC3B-1841-FEDD8CDFD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2017713"/>
            <a:ext cx="8343900" cy="4114800"/>
          </a:xfrm>
        </p:spPr>
        <p:txBody>
          <a:bodyPr/>
          <a:lstStyle/>
          <a:p>
            <a:pPr>
              <a:lnSpc>
                <a:spcPct val="250000"/>
              </a:lnSpc>
              <a:defRPr/>
            </a:pPr>
            <a:r>
              <a:rPr lang="zh-CN" altLang="en-US" sz="3600" b="1" dirty="0">
                <a:solidFill>
                  <a:srgbClr val="FF0000"/>
                </a:solidFill>
              </a:rPr>
              <a:t>注意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lnSpc>
                <a:spcPct val="2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不特别说明</a:t>
            </a:r>
            <a:r>
              <a:rPr lang="en-US" altLang="zh-CN" dirty="0">
                <a:latin typeface="宋体" pitchFamily="2" charset="-122"/>
              </a:rPr>
              <a:t>,</a:t>
            </a:r>
            <a:r>
              <a:rPr lang="zh-CN" altLang="en-US" dirty="0"/>
              <a:t>本教材讨论的都是二元运算。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7F35D96-91CF-4D7F-2FA0-9F6234ED5D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5.1.3 </a:t>
            </a:r>
            <a:r>
              <a:rPr lang="zh-CN" altLang="en-US" sz="5400"/>
              <a:t>二元运算的性质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4E926C7-9B20-E039-37CF-75FA6CC58C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424862" cy="4897438"/>
          </a:xfrm>
        </p:spPr>
        <p:txBody>
          <a:bodyPr/>
          <a:lstStyle/>
          <a:p>
            <a:pPr eaLnBrk="1" hangingPunct="1">
              <a:lnSpc>
                <a:spcPct val="229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5.1.3   </a:t>
            </a:r>
            <a:r>
              <a:rPr lang="zh-CN" altLang="en-US" dirty="0"/>
              <a:t>设</a:t>
            </a:r>
            <a:r>
              <a:rPr lang="en-US" altLang="en-US" dirty="0"/>
              <a:t>＊</a:t>
            </a:r>
            <a:r>
              <a:rPr lang="zh-CN" altLang="en-US" dirty="0"/>
              <a:t>是</a:t>
            </a:r>
            <a:r>
              <a:rPr lang="en-US" altLang="zh-CN" dirty="0"/>
              <a:t>A</a:t>
            </a:r>
            <a:r>
              <a:rPr lang="zh-CN" altLang="en-US" dirty="0"/>
              <a:t>上的二元运算，如果对</a:t>
            </a:r>
            <a:r>
              <a:rPr lang="zh-CN" altLang="en-US" dirty="0">
                <a:solidFill>
                  <a:srgbClr val="008080"/>
                </a:solidFill>
              </a:rPr>
              <a:t>任意</a:t>
            </a:r>
            <a:r>
              <a:rPr lang="en-US" altLang="zh-CN" dirty="0" err="1"/>
              <a:t>x,y∈A</a:t>
            </a:r>
            <a:r>
              <a:rPr lang="zh-CN" altLang="en-US" dirty="0"/>
              <a:t>，都有</a:t>
            </a:r>
            <a:r>
              <a:rPr lang="en-US" altLang="zh-CN" dirty="0" err="1">
                <a:solidFill>
                  <a:schemeClr val="accent1"/>
                </a:solidFill>
              </a:rPr>
              <a:t>x</a:t>
            </a:r>
            <a:r>
              <a:rPr lang="en-US" altLang="en-US" dirty="0" err="1"/>
              <a:t>＊</a:t>
            </a:r>
            <a:r>
              <a:rPr lang="en-US" altLang="zh-CN" dirty="0" err="1">
                <a:solidFill>
                  <a:schemeClr val="accent1"/>
                </a:solidFill>
              </a:rPr>
              <a:t>y∈A</a:t>
            </a:r>
            <a:r>
              <a:rPr lang="en-US" altLang="zh-CN" dirty="0"/>
              <a:t> </a:t>
            </a:r>
            <a:r>
              <a:rPr lang="zh-CN" altLang="en-US" dirty="0"/>
              <a:t>，则称</a:t>
            </a:r>
            <a:r>
              <a:rPr lang="en-US" altLang="en-US" dirty="0"/>
              <a:t>＊</a:t>
            </a:r>
            <a:r>
              <a:rPr lang="zh-CN" altLang="en-US" dirty="0"/>
              <a:t>运算在集合</a:t>
            </a:r>
            <a:r>
              <a:rPr lang="en-US" altLang="zh-CN" dirty="0"/>
              <a:t>A</a:t>
            </a:r>
            <a:r>
              <a:rPr lang="zh-CN" altLang="en-US" dirty="0"/>
              <a:t>上</a:t>
            </a:r>
            <a:r>
              <a:rPr lang="zh-CN" altLang="en-US" b="1" dirty="0">
                <a:solidFill>
                  <a:schemeClr val="hlink"/>
                </a:solidFill>
              </a:rPr>
              <a:t>封闭</a:t>
            </a:r>
            <a:r>
              <a:rPr lang="en-US" altLang="zh-CN" dirty="0"/>
              <a:t>(closed)</a:t>
            </a:r>
            <a:r>
              <a:rPr lang="zh-CN" altLang="en-US" dirty="0"/>
              <a:t>，或称</a:t>
            </a:r>
            <a:r>
              <a:rPr lang="en-US" altLang="en-US" dirty="0"/>
              <a:t>＊</a:t>
            </a:r>
            <a:r>
              <a:rPr lang="zh-CN" altLang="en-US" dirty="0"/>
              <a:t>运算是集合</a:t>
            </a:r>
            <a:r>
              <a:rPr lang="en-US" altLang="zh-CN" dirty="0"/>
              <a:t>A</a:t>
            </a:r>
            <a:r>
              <a:rPr lang="zh-CN" altLang="en-US" dirty="0"/>
              <a:t>上的</a:t>
            </a:r>
            <a:r>
              <a:rPr lang="zh-CN" altLang="en-US" b="1" dirty="0">
                <a:solidFill>
                  <a:schemeClr val="hlink"/>
                </a:solidFill>
              </a:rPr>
              <a:t>代数运算</a:t>
            </a:r>
            <a:r>
              <a:rPr lang="en-US" altLang="zh-CN" dirty="0"/>
              <a:t>(algebraic operation)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0ED6F50-6B11-2105-FDFF-425BBCDD7E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5.1.3 </a:t>
            </a:r>
            <a:r>
              <a:rPr lang="zh-CN" altLang="en-US" sz="5400"/>
              <a:t>二元运算的性质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5E65DB4-A0EF-95DB-0B7D-A36A5499372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defTabSz="901700" eaLnBrk="1" hangingPunct="1">
              <a:lnSpc>
                <a:spcPct val="150000"/>
              </a:lnSpc>
              <a:tabLst>
                <a:tab pos="6184900" algn="l"/>
              </a:tabLst>
            </a:pPr>
            <a:r>
              <a:rPr lang="zh-CN" altLang="en-US"/>
              <a:t>例如，设</a:t>
            </a:r>
            <a:r>
              <a:rPr lang="en-US" altLang="zh-CN"/>
              <a:t>A</a:t>
            </a:r>
            <a:r>
              <a:rPr lang="zh-CN" altLang="en-US"/>
              <a:t>＝</a:t>
            </a:r>
            <a:r>
              <a:rPr lang="en-US" altLang="zh-CN"/>
              <a:t>{1,2,3,4}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zh-CN" altLang="en-US"/>
              <a:t>上的二元运算</a:t>
            </a:r>
            <a:r>
              <a:rPr lang="en-US" altLang="zh-CN"/>
              <a:t>﹡</a:t>
            </a:r>
            <a:r>
              <a:rPr lang="zh-CN" altLang="en-US"/>
              <a:t>与△的</a:t>
            </a:r>
            <a:r>
              <a:rPr lang="zh-CN" altLang="en-US">
                <a:solidFill>
                  <a:schemeClr val="hlink"/>
                </a:solidFill>
              </a:rPr>
              <a:t>运算表</a:t>
            </a:r>
            <a:r>
              <a:rPr lang="zh-CN" altLang="en-US"/>
              <a:t>如下：</a:t>
            </a:r>
          </a:p>
          <a:p>
            <a:pPr defTabSz="901700" eaLnBrk="1" hangingPunct="1">
              <a:tabLst>
                <a:tab pos="6184900" algn="l"/>
              </a:tabLst>
            </a:pPr>
            <a:endParaRPr lang="zh-CN" altLang="en-US" sz="2800"/>
          </a:p>
          <a:p>
            <a:pPr defTabSz="901700" eaLnBrk="1" hangingPunct="1">
              <a:tabLst>
                <a:tab pos="6184900" algn="l"/>
              </a:tabLst>
            </a:pPr>
            <a:endParaRPr lang="en-US" altLang="zh-CN" sz="2800"/>
          </a:p>
        </p:txBody>
      </p:sp>
      <p:graphicFrame>
        <p:nvGraphicFramePr>
          <p:cNvPr id="156676" name="Group 4">
            <a:extLst>
              <a:ext uri="{FF2B5EF4-FFF2-40B4-BE49-F238E27FC236}">
                <a16:creationId xmlns:a16="http://schemas.microsoft.com/office/drawing/2014/main" id="{E53C67CA-7319-824C-217A-9F7653F87D89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1116013" y="3544888"/>
          <a:ext cx="3311525" cy="2914650"/>
        </p:xfrm>
        <a:graphic>
          <a:graphicData uri="http://schemas.openxmlformats.org/drawingml/2006/table">
            <a:tbl>
              <a:tblPr/>
              <a:tblGrid>
                <a:gridCol w="566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4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2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﹡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1   2   3   4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53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1   3   2   4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2   4   1   2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3   3   3   3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3   1   4   1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6691" name="Group 19">
            <a:extLst>
              <a:ext uri="{FF2B5EF4-FFF2-40B4-BE49-F238E27FC236}">
                <a16:creationId xmlns:a16="http://schemas.microsoft.com/office/drawing/2014/main" id="{FF3BE3A6-425D-382C-A2E9-E29E3092F1E1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5145088" y="3544888"/>
          <a:ext cx="3243262" cy="2914650"/>
        </p:xfrm>
        <a:graphic>
          <a:graphicData uri="http://schemas.openxmlformats.org/drawingml/2006/table">
            <a:tbl>
              <a:tblPr/>
              <a:tblGrid>
                <a:gridCol w="554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2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△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1   2   3   4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53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2   5   5   5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2   6   2   6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4   3   2   1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4   4   4   4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AD017C7-6814-31A0-0F65-D738AD190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5.1.3 </a:t>
            </a:r>
            <a:r>
              <a:rPr lang="zh-CN" altLang="en-US" sz="5400"/>
              <a:t>二元运算的性质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AAB20A1-4ED4-948A-9FDD-818924DDFE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424862" cy="4941887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5.1.2</a:t>
            </a:r>
            <a:r>
              <a:rPr lang="zh-CN" altLang="en-US" dirty="0">
                <a:solidFill>
                  <a:schemeClr val="accent1"/>
                </a:solidFill>
              </a:rPr>
              <a:t>模</a:t>
            </a:r>
            <a:r>
              <a:rPr lang="en-US" altLang="zh-CN" dirty="0">
                <a:solidFill>
                  <a:schemeClr val="accent1"/>
                </a:solidFill>
              </a:rPr>
              <a:t>3</a:t>
            </a:r>
            <a:r>
              <a:rPr lang="zh-CN" altLang="en-US" dirty="0">
                <a:solidFill>
                  <a:schemeClr val="accent1"/>
                </a:solidFill>
              </a:rPr>
              <a:t>同余类</a:t>
            </a:r>
            <a:r>
              <a:rPr lang="zh-CN" altLang="en-US" dirty="0"/>
              <a:t>集合</a:t>
            </a:r>
            <a:r>
              <a:rPr lang="en-US" altLang="zh-CN" dirty="0"/>
              <a:t>Z</a:t>
            </a:r>
            <a:r>
              <a:rPr lang="en-US" altLang="zh-CN" baseline="-25000" dirty="0"/>
              <a:t>3</a:t>
            </a:r>
            <a:r>
              <a:rPr lang="zh-CN" altLang="en-US" dirty="0"/>
              <a:t>＝</a:t>
            </a:r>
            <a:r>
              <a:rPr lang="en-US" altLang="zh-CN" dirty="0"/>
              <a:t>{[0],[1],[2]}</a:t>
            </a:r>
            <a:r>
              <a:rPr lang="zh-CN" altLang="en-US" dirty="0"/>
              <a:t>。对任意</a:t>
            </a:r>
            <a:r>
              <a:rPr lang="en-US" altLang="zh-CN" dirty="0"/>
              <a:t>[a],[b]∈Z</a:t>
            </a:r>
            <a:r>
              <a:rPr lang="en-US" altLang="zh-CN" baseline="-25000" dirty="0"/>
              <a:t>3</a:t>
            </a:r>
            <a:r>
              <a:rPr lang="zh-CN" altLang="en-US" dirty="0"/>
              <a:t>，规定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[a]</a:t>
            </a:r>
            <a:r>
              <a:rPr lang="zh-CN" altLang="en-US" dirty="0"/>
              <a:t>＋</a:t>
            </a:r>
            <a:r>
              <a:rPr lang="en-US" altLang="zh-CN" baseline="-25000" dirty="0"/>
              <a:t>3</a:t>
            </a:r>
            <a:r>
              <a:rPr lang="en-US" altLang="zh-CN" dirty="0"/>
              <a:t>[b] </a:t>
            </a:r>
            <a:r>
              <a:rPr lang="zh-CN" altLang="en-US" dirty="0"/>
              <a:t>＝ </a:t>
            </a:r>
            <a:r>
              <a:rPr lang="en-US" altLang="zh-CN" dirty="0"/>
              <a:t>[(a</a:t>
            </a:r>
            <a:r>
              <a:rPr lang="zh-CN" altLang="en-US" dirty="0"/>
              <a:t>＋</a:t>
            </a:r>
            <a:r>
              <a:rPr lang="en-US" altLang="zh-CN" dirty="0"/>
              <a:t>b)mod 3]       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[a]×</a:t>
            </a:r>
            <a:r>
              <a:rPr lang="en-US" altLang="zh-CN" baseline="-25000" dirty="0"/>
              <a:t>3</a:t>
            </a:r>
            <a:r>
              <a:rPr lang="en-US" altLang="zh-CN" dirty="0"/>
              <a:t>[b] </a:t>
            </a:r>
            <a:r>
              <a:rPr lang="zh-CN" altLang="en-US" dirty="0"/>
              <a:t>＝ </a:t>
            </a:r>
            <a:r>
              <a:rPr lang="en-US" altLang="zh-CN" dirty="0"/>
              <a:t>[(</a:t>
            </a:r>
            <a:r>
              <a:rPr lang="en-US" altLang="zh-CN" dirty="0" err="1"/>
              <a:t>a×b</a:t>
            </a:r>
            <a:r>
              <a:rPr lang="en-US" altLang="zh-CN" dirty="0"/>
              <a:t>)mod 3]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F1A7558-5828-BBB9-C750-BAF174F7C3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5.1.3 </a:t>
            </a:r>
            <a:r>
              <a:rPr lang="zh-CN" altLang="en-US" sz="5400"/>
              <a:t>二元运算的性质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94B9886F-77C7-AE51-0E7F-7E4D6FA2B90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2000250"/>
            <a:ext cx="8532812" cy="4840288"/>
          </a:xfrm>
        </p:spPr>
        <p:txBody>
          <a:bodyPr/>
          <a:lstStyle/>
          <a:p>
            <a:pPr defTabSz="901700" eaLnBrk="1" hangingPunct="1">
              <a:lnSpc>
                <a:spcPct val="120000"/>
              </a:lnSpc>
              <a:tabLst>
                <a:tab pos="6184900" algn="l"/>
              </a:tabLst>
            </a:pPr>
            <a:r>
              <a:rPr lang="zh-CN" altLang="en-US">
                <a:solidFill>
                  <a:srgbClr val="FF0000"/>
                </a:solidFill>
              </a:rPr>
              <a:t>则</a:t>
            </a:r>
            <a:r>
              <a:rPr lang="zh-CN" altLang="en-US"/>
              <a:t>＋</a:t>
            </a:r>
            <a:r>
              <a:rPr lang="en-US" altLang="zh-CN" baseline="-25000"/>
              <a:t>3</a:t>
            </a:r>
            <a:r>
              <a:rPr lang="zh-CN" altLang="en-US"/>
              <a:t>与</a:t>
            </a:r>
            <a:r>
              <a:rPr lang="en-US" altLang="zh-CN"/>
              <a:t>×</a:t>
            </a:r>
            <a:r>
              <a:rPr lang="en-US" altLang="zh-CN" baseline="-25000"/>
              <a:t>3</a:t>
            </a:r>
            <a:r>
              <a:rPr lang="zh-CN" altLang="en-US"/>
              <a:t>都是</a:t>
            </a:r>
            <a:r>
              <a:rPr lang="en-US" altLang="zh-CN"/>
              <a:t>Z</a:t>
            </a:r>
            <a:r>
              <a:rPr lang="en-US" altLang="zh-CN" baseline="-25000"/>
              <a:t>3</a:t>
            </a:r>
            <a:r>
              <a:rPr lang="zh-CN" altLang="en-US"/>
              <a:t>上的代数运算</a:t>
            </a:r>
            <a:endParaRPr lang="zh-CN" altLang="en-US" sz="2800"/>
          </a:p>
        </p:txBody>
      </p:sp>
      <p:graphicFrame>
        <p:nvGraphicFramePr>
          <p:cNvPr id="151604" name="Group 52">
            <a:extLst>
              <a:ext uri="{FF2B5EF4-FFF2-40B4-BE49-F238E27FC236}">
                <a16:creationId xmlns:a16="http://schemas.microsoft.com/office/drawing/2014/main" id="{C6FC7FB3-E5CA-90E2-FF14-A9164D7E912E}"/>
              </a:ext>
            </a:extLst>
          </p:cNvPr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197348043"/>
              </p:ext>
            </p:extLst>
          </p:nvPr>
        </p:nvGraphicFramePr>
        <p:xfrm>
          <a:off x="1116013" y="3213100"/>
          <a:ext cx="3311525" cy="3060700"/>
        </p:xfrm>
        <a:graphic>
          <a:graphicData uri="http://schemas.openxmlformats.org/drawingml/2006/table">
            <a:tbl>
              <a:tblPr/>
              <a:tblGrid>
                <a:gridCol w="719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1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zh-CN" altLang="en-US" sz="2800" dirty="0"/>
                        <a:t>＋</a:t>
                      </a:r>
                      <a:r>
                        <a:rPr lang="en-US" altLang="zh-CN" sz="2800" baseline="-25000" dirty="0"/>
                        <a:t>3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39" marB="4573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[0]   [1]   [2]     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14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[0]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[1]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[2]</a:t>
                      </a:r>
                    </a:p>
                  </a:txBody>
                  <a:tcPr marT="45739" marB="4573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[0]   [1]   [2]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[1]   [2]   [0]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[2]   [0]   [1]    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52">
            <a:extLst>
              <a:ext uri="{FF2B5EF4-FFF2-40B4-BE49-F238E27FC236}">
                <a16:creationId xmlns:a16="http://schemas.microsoft.com/office/drawing/2014/main" id="{F9873F31-F077-C0F0-6C0B-B7F7F6D132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5300462"/>
              </p:ext>
            </p:extLst>
          </p:nvPr>
        </p:nvGraphicFramePr>
        <p:xfrm>
          <a:off x="5076825" y="3213100"/>
          <a:ext cx="3311525" cy="2960900"/>
        </p:xfrm>
        <a:graphic>
          <a:graphicData uri="http://schemas.openxmlformats.org/drawingml/2006/table">
            <a:tbl>
              <a:tblPr/>
              <a:tblGrid>
                <a:gridCol w="719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1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800" dirty="0"/>
                        <a:t>×</a:t>
                      </a:r>
                      <a:r>
                        <a:rPr lang="en-US" altLang="zh-CN" sz="2800" baseline="-25000" dirty="0"/>
                        <a:t>3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39" marB="4573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[0]   [1]   [2]     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29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[0]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[1]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[2]</a:t>
                      </a:r>
                    </a:p>
                  </a:txBody>
                  <a:tcPr marT="45739" marB="4573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[0]   [0]   [0]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[0]   [1]   [2]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[0]   [2]   [1]    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253949D-950A-833E-409F-BC83DE494F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5.1.3 </a:t>
            </a:r>
            <a:r>
              <a:rPr lang="zh-CN" altLang="en-US" sz="5400"/>
              <a:t>二元运算的性质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E558AC6-DE92-FBC7-7C04-1A6C4C04C0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532812" cy="494188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一般的，</a:t>
            </a:r>
            <a:r>
              <a:rPr lang="zh-CN" altLang="en-US" dirty="0"/>
              <a:t>设</a:t>
            </a:r>
            <a:r>
              <a:rPr lang="en-US" altLang="zh-CN" dirty="0"/>
              <a:t>m</a:t>
            </a:r>
            <a:r>
              <a:rPr lang="zh-CN" altLang="en-US" dirty="0"/>
              <a:t>是大于</a:t>
            </a:r>
            <a:r>
              <a:rPr lang="en-US" altLang="zh-CN" dirty="0"/>
              <a:t>1</a:t>
            </a:r>
            <a:r>
              <a:rPr lang="zh-CN" altLang="en-US" dirty="0"/>
              <a:t>的正整数，</a:t>
            </a:r>
            <a:r>
              <a:rPr lang="zh-CN" altLang="en-US" dirty="0">
                <a:solidFill>
                  <a:schemeClr val="accent1"/>
                </a:solidFill>
              </a:rPr>
              <a:t>模</a:t>
            </a:r>
            <a:r>
              <a:rPr lang="en-US" altLang="zh-CN" dirty="0">
                <a:solidFill>
                  <a:schemeClr val="accent1"/>
                </a:solidFill>
              </a:rPr>
              <a:t>m</a:t>
            </a:r>
            <a:r>
              <a:rPr lang="zh-CN" altLang="en-US" dirty="0">
                <a:solidFill>
                  <a:schemeClr val="accent1"/>
                </a:solidFill>
              </a:rPr>
              <a:t>同余类</a:t>
            </a:r>
            <a:r>
              <a:rPr lang="zh-CN" altLang="en-US" dirty="0"/>
              <a:t>集合</a:t>
            </a:r>
            <a:r>
              <a:rPr lang="en-US" altLang="zh-CN" dirty="0" err="1"/>
              <a:t>Z</a:t>
            </a:r>
            <a:r>
              <a:rPr lang="en-US" altLang="zh-CN" baseline="-25000" dirty="0" err="1"/>
              <a:t>m</a:t>
            </a:r>
            <a:r>
              <a:rPr lang="zh-CN" altLang="en-US" dirty="0"/>
              <a:t>＝</a:t>
            </a:r>
            <a:r>
              <a:rPr lang="en-US" altLang="zh-CN" dirty="0"/>
              <a:t>{[0],[1],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,[m-1]}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任意</a:t>
            </a:r>
            <a:r>
              <a:rPr lang="en-US" altLang="zh-CN" dirty="0"/>
              <a:t>[a],[b]∈</a:t>
            </a:r>
            <a:r>
              <a:rPr lang="en-US" altLang="zh-CN" dirty="0" err="1"/>
              <a:t>Z</a:t>
            </a:r>
            <a:r>
              <a:rPr lang="en-US" altLang="zh-CN" baseline="-25000" dirty="0" err="1"/>
              <a:t>m</a:t>
            </a:r>
            <a:r>
              <a:rPr lang="zh-CN" altLang="en-US" dirty="0"/>
              <a:t>，规定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</a:t>
            </a:r>
            <a:r>
              <a:rPr lang="en-US" altLang="zh-CN" dirty="0"/>
              <a:t>[a]</a:t>
            </a:r>
            <a:r>
              <a:rPr lang="zh-CN" altLang="en-US" dirty="0"/>
              <a:t>＋</a:t>
            </a:r>
            <a:r>
              <a:rPr lang="en-US" altLang="zh-CN" baseline="-25000" dirty="0"/>
              <a:t>m</a:t>
            </a:r>
            <a:r>
              <a:rPr lang="en-US" altLang="zh-CN" dirty="0"/>
              <a:t>[b] </a:t>
            </a:r>
            <a:r>
              <a:rPr lang="zh-CN" altLang="en-US" dirty="0"/>
              <a:t>＝ </a:t>
            </a:r>
            <a:r>
              <a:rPr lang="en-US" altLang="zh-CN" dirty="0"/>
              <a:t>[(a</a:t>
            </a:r>
            <a:r>
              <a:rPr lang="zh-CN" altLang="en-US" dirty="0"/>
              <a:t>＋</a:t>
            </a:r>
            <a:r>
              <a:rPr lang="en-US" altLang="zh-CN" dirty="0"/>
              <a:t>b)mod m]      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[a]×</a:t>
            </a:r>
            <a:r>
              <a:rPr lang="en-US" altLang="zh-CN" baseline="-25000" dirty="0"/>
              <a:t>m</a:t>
            </a:r>
            <a:r>
              <a:rPr lang="en-US" altLang="zh-CN" dirty="0"/>
              <a:t>[b] </a:t>
            </a:r>
            <a:r>
              <a:rPr lang="zh-CN" altLang="en-US" dirty="0"/>
              <a:t>＝ </a:t>
            </a:r>
            <a:r>
              <a:rPr lang="en-US" altLang="zh-CN" dirty="0"/>
              <a:t>[(</a:t>
            </a:r>
            <a:r>
              <a:rPr lang="en-US" altLang="zh-CN" dirty="0" err="1"/>
              <a:t>a×b</a:t>
            </a:r>
            <a:r>
              <a:rPr lang="en-US" altLang="zh-CN" dirty="0"/>
              <a:t>)mod m]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则＋</a:t>
            </a:r>
            <a:r>
              <a:rPr lang="en-US" altLang="zh-CN" baseline="-25000" dirty="0"/>
              <a:t>m</a:t>
            </a:r>
            <a:r>
              <a:rPr lang="zh-CN" altLang="en-US" dirty="0"/>
              <a:t>与</a:t>
            </a:r>
            <a:r>
              <a:rPr lang="en-US" altLang="zh-CN" dirty="0"/>
              <a:t>×</a:t>
            </a:r>
            <a:r>
              <a:rPr lang="en-US" altLang="zh-CN" baseline="-25000" dirty="0"/>
              <a:t>m</a:t>
            </a:r>
            <a:r>
              <a:rPr lang="zh-CN" altLang="en-US" dirty="0"/>
              <a:t>都是</a:t>
            </a:r>
            <a:r>
              <a:rPr lang="en-US" altLang="zh-CN" dirty="0" err="1"/>
              <a:t>Z</a:t>
            </a:r>
            <a:r>
              <a:rPr lang="en-US" altLang="zh-CN" baseline="-25000" dirty="0" err="1"/>
              <a:t>m</a:t>
            </a:r>
            <a:r>
              <a:rPr lang="zh-CN" altLang="en-US" dirty="0"/>
              <a:t>上的代数运算。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97CAE63-AE49-8D4C-E20B-FBDCE5382F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5.1.3 </a:t>
            </a:r>
            <a:r>
              <a:rPr lang="zh-CN" altLang="en-US" sz="5400"/>
              <a:t>二元运算的性质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9F09709-6CC6-F169-5D50-97E83F4C35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424862" cy="5013325"/>
          </a:xfrm>
        </p:spPr>
        <p:txBody>
          <a:bodyPr/>
          <a:lstStyle/>
          <a:p>
            <a:pPr eaLnBrk="1" hangingPunct="1">
              <a:lnSpc>
                <a:spcPct val="24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5.1.4  </a:t>
            </a:r>
            <a:r>
              <a:rPr lang="zh-CN" altLang="en-US" dirty="0"/>
              <a:t>设</a:t>
            </a:r>
            <a:r>
              <a:rPr lang="en-US" altLang="en-US" dirty="0"/>
              <a:t>＊</a:t>
            </a:r>
            <a:r>
              <a:rPr lang="zh-CN" altLang="en-US" dirty="0"/>
              <a:t>是</a:t>
            </a:r>
            <a:r>
              <a:rPr lang="en-US" altLang="zh-CN" dirty="0"/>
              <a:t>A</a:t>
            </a:r>
            <a:r>
              <a:rPr lang="zh-CN" altLang="en-US" dirty="0"/>
              <a:t>上的二元运算，如果对任意</a:t>
            </a:r>
            <a:r>
              <a:rPr lang="en-US" altLang="zh-CN" dirty="0" err="1"/>
              <a:t>x,y∈A</a:t>
            </a:r>
            <a:r>
              <a:rPr lang="zh-CN" altLang="en-US" dirty="0"/>
              <a:t>，都有</a:t>
            </a:r>
            <a:r>
              <a:rPr lang="en-US" altLang="zh-CN" dirty="0" err="1">
                <a:solidFill>
                  <a:schemeClr val="accent1"/>
                </a:solidFill>
              </a:rPr>
              <a:t>x</a:t>
            </a:r>
            <a:r>
              <a:rPr lang="en-US" altLang="en-US" dirty="0" err="1"/>
              <a:t>＊</a:t>
            </a:r>
            <a:r>
              <a:rPr lang="en-US" altLang="zh-CN" dirty="0" err="1">
                <a:solidFill>
                  <a:schemeClr val="accent1"/>
                </a:solidFill>
              </a:rPr>
              <a:t>y</a:t>
            </a:r>
            <a:r>
              <a:rPr lang="zh-CN" altLang="en-US" dirty="0">
                <a:solidFill>
                  <a:schemeClr val="accent1"/>
                </a:solidFill>
              </a:rPr>
              <a:t>＝</a:t>
            </a:r>
            <a:r>
              <a:rPr lang="en-US" altLang="zh-CN" dirty="0" err="1">
                <a:solidFill>
                  <a:schemeClr val="accent1"/>
                </a:solidFill>
              </a:rPr>
              <a:t>y</a:t>
            </a:r>
            <a:r>
              <a:rPr lang="en-US" altLang="en-US" dirty="0" err="1"/>
              <a:t>＊</a:t>
            </a:r>
            <a:r>
              <a:rPr lang="en-US" altLang="zh-CN" dirty="0" err="1">
                <a:solidFill>
                  <a:schemeClr val="accent1"/>
                </a:solidFill>
              </a:rPr>
              <a:t>x</a:t>
            </a:r>
            <a:r>
              <a:rPr lang="zh-CN" altLang="en-US" dirty="0"/>
              <a:t>，则称</a:t>
            </a:r>
            <a:r>
              <a:rPr lang="en-US" altLang="en-US" dirty="0"/>
              <a:t>＊</a:t>
            </a:r>
            <a:r>
              <a:rPr lang="zh-CN" altLang="en-US" dirty="0"/>
              <a:t>运算在集合</a:t>
            </a:r>
            <a:r>
              <a:rPr lang="en-US" altLang="zh-CN" dirty="0"/>
              <a:t>A</a:t>
            </a:r>
            <a:r>
              <a:rPr lang="zh-CN" altLang="en-US" dirty="0"/>
              <a:t>上</a:t>
            </a:r>
            <a:r>
              <a:rPr lang="zh-CN" altLang="en-US" b="1" dirty="0">
                <a:solidFill>
                  <a:schemeClr val="hlink"/>
                </a:solidFill>
              </a:rPr>
              <a:t>交换</a:t>
            </a:r>
            <a:r>
              <a:rPr lang="zh-CN" altLang="en-US" b="1" dirty="0"/>
              <a:t> </a:t>
            </a:r>
            <a:r>
              <a:rPr lang="zh-CN" altLang="en-US" dirty="0"/>
              <a:t>，或称</a:t>
            </a:r>
            <a:r>
              <a:rPr lang="en-US" altLang="en-US" dirty="0"/>
              <a:t>＊</a:t>
            </a:r>
            <a:r>
              <a:rPr lang="zh-CN" altLang="en-US" dirty="0"/>
              <a:t>运算在集合</a:t>
            </a:r>
            <a:r>
              <a:rPr lang="en-US" altLang="zh-CN" dirty="0"/>
              <a:t>A</a:t>
            </a:r>
            <a:r>
              <a:rPr lang="zh-CN" altLang="en-US" dirty="0"/>
              <a:t>上满足</a:t>
            </a:r>
            <a:r>
              <a:rPr lang="zh-CN" altLang="en-US" b="1" dirty="0">
                <a:solidFill>
                  <a:schemeClr val="hlink"/>
                </a:solidFill>
              </a:rPr>
              <a:t>交换律</a:t>
            </a:r>
            <a:r>
              <a:rPr lang="en-US" altLang="zh-CN" dirty="0"/>
              <a:t>(commutation law)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8A45BB29-E61A-7434-526E-91F4271DD5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5.1.3 </a:t>
            </a:r>
            <a:r>
              <a:rPr lang="zh-CN" altLang="en-US" sz="5400"/>
              <a:t>二元运算的性质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683A345-666E-1E1A-6D79-22D8ADFB153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defTabSz="901700" eaLnBrk="1" hangingPunct="1">
              <a:lnSpc>
                <a:spcPct val="150000"/>
              </a:lnSpc>
              <a:tabLst>
                <a:tab pos="6184900" algn="l"/>
              </a:tabLst>
            </a:pPr>
            <a:r>
              <a:rPr lang="zh-CN" altLang="en-US"/>
              <a:t>例如，设</a:t>
            </a:r>
            <a:r>
              <a:rPr lang="en-US" altLang="zh-CN"/>
              <a:t>A</a:t>
            </a:r>
            <a:r>
              <a:rPr lang="zh-CN" altLang="en-US"/>
              <a:t>＝</a:t>
            </a:r>
            <a:r>
              <a:rPr lang="en-US" altLang="zh-CN"/>
              <a:t>{1,2,3,4}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zh-CN" altLang="en-US"/>
              <a:t>上的二元运算</a:t>
            </a:r>
            <a:r>
              <a:rPr lang="en-US" altLang="zh-CN"/>
              <a:t>﹡</a:t>
            </a:r>
            <a:r>
              <a:rPr lang="zh-CN" altLang="en-US"/>
              <a:t>与△的</a:t>
            </a:r>
            <a:r>
              <a:rPr lang="zh-CN" altLang="en-US">
                <a:solidFill>
                  <a:schemeClr val="hlink"/>
                </a:solidFill>
              </a:rPr>
              <a:t>运算表</a:t>
            </a:r>
            <a:r>
              <a:rPr lang="zh-CN" altLang="en-US"/>
              <a:t>如下：</a:t>
            </a:r>
          </a:p>
          <a:p>
            <a:pPr defTabSz="901700" eaLnBrk="1" hangingPunct="1">
              <a:tabLst>
                <a:tab pos="6184900" algn="l"/>
              </a:tabLst>
            </a:pPr>
            <a:endParaRPr lang="zh-CN" altLang="en-US" sz="2800"/>
          </a:p>
          <a:p>
            <a:pPr defTabSz="901700" eaLnBrk="1" hangingPunct="1">
              <a:tabLst>
                <a:tab pos="6184900" algn="l"/>
              </a:tabLst>
            </a:pPr>
            <a:endParaRPr lang="en-US" altLang="zh-CN" sz="2800"/>
          </a:p>
        </p:txBody>
      </p:sp>
      <p:graphicFrame>
        <p:nvGraphicFramePr>
          <p:cNvPr id="161796" name="Group 4">
            <a:extLst>
              <a:ext uri="{FF2B5EF4-FFF2-40B4-BE49-F238E27FC236}">
                <a16:creationId xmlns:a16="http://schemas.microsoft.com/office/drawing/2014/main" id="{9E3F5BD6-9598-6794-70BA-91384F695494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1116013" y="3544888"/>
          <a:ext cx="3311525" cy="2914650"/>
        </p:xfrm>
        <a:graphic>
          <a:graphicData uri="http://schemas.openxmlformats.org/drawingml/2006/table">
            <a:tbl>
              <a:tblPr/>
              <a:tblGrid>
                <a:gridCol w="566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4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2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﹡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1   2   3   4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53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3   2   4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3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1   2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2   1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4   2   4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1811" name="Group 19">
            <a:extLst>
              <a:ext uri="{FF2B5EF4-FFF2-40B4-BE49-F238E27FC236}">
                <a16:creationId xmlns:a16="http://schemas.microsoft.com/office/drawing/2014/main" id="{F9C1FFE3-3D97-E91A-04C7-DB1FAC33947C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5145088" y="3544888"/>
          <a:ext cx="3243262" cy="2914650"/>
        </p:xfrm>
        <a:graphic>
          <a:graphicData uri="http://schemas.openxmlformats.org/drawingml/2006/table">
            <a:tbl>
              <a:tblPr/>
              <a:tblGrid>
                <a:gridCol w="554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2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△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1   2   3   4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53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5   4   5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5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2   6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4   2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5   6   1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B100D40-1B50-6204-92C9-C75A4D32F9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5.1.3 </a:t>
            </a:r>
            <a:r>
              <a:rPr lang="zh-CN" altLang="en-US" sz="5400"/>
              <a:t>二元运算的性质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79DF4C5-E880-83A8-966B-F7460D538E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424862" cy="4941887"/>
          </a:xfrm>
        </p:spPr>
        <p:txBody>
          <a:bodyPr/>
          <a:lstStyle/>
          <a:p>
            <a:pPr eaLnBrk="1" hangingPunct="1">
              <a:lnSpc>
                <a:spcPct val="25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5.1.5</a:t>
            </a:r>
            <a:r>
              <a:rPr lang="zh-CN" altLang="en-US" dirty="0"/>
              <a:t>设</a:t>
            </a:r>
            <a:r>
              <a:rPr lang="en-US" altLang="en-US" dirty="0"/>
              <a:t>＊</a:t>
            </a:r>
            <a:r>
              <a:rPr lang="zh-CN" altLang="en-US" dirty="0"/>
              <a:t>是</a:t>
            </a:r>
            <a:r>
              <a:rPr lang="en-US" altLang="zh-CN" dirty="0"/>
              <a:t>A</a:t>
            </a:r>
            <a:r>
              <a:rPr lang="zh-CN" altLang="en-US" dirty="0"/>
              <a:t>上的二元运算，若对任意</a:t>
            </a:r>
            <a:r>
              <a:rPr lang="en-US" altLang="zh-CN" dirty="0" err="1"/>
              <a:t>x∈A</a:t>
            </a:r>
            <a:r>
              <a:rPr lang="zh-CN" altLang="en-US" dirty="0"/>
              <a:t>，都有</a:t>
            </a:r>
            <a:r>
              <a:rPr lang="en-US" altLang="zh-CN" dirty="0" err="1">
                <a:solidFill>
                  <a:schemeClr val="accent1"/>
                </a:solidFill>
              </a:rPr>
              <a:t>x</a:t>
            </a:r>
            <a:r>
              <a:rPr lang="en-US" altLang="en-US" dirty="0" err="1"/>
              <a:t>＊</a:t>
            </a:r>
            <a:r>
              <a:rPr lang="en-US" altLang="zh-CN" dirty="0" err="1">
                <a:solidFill>
                  <a:schemeClr val="accent1"/>
                </a:solidFill>
              </a:rPr>
              <a:t>x</a:t>
            </a:r>
            <a:r>
              <a:rPr lang="zh-CN" altLang="en-US" dirty="0">
                <a:solidFill>
                  <a:schemeClr val="accent1"/>
                </a:solidFill>
              </a:rPr>
              <a:t>＝</a:t>
            </a:r>
            <a:r>
              <a:rPr lang="en-US" altLang="zh-CN" dirty="0">
                <a:solidFill>
                  <a:schemeClr val="accent1"/>
                </a:solidFill>
              </a:rPr>
              <a:t>x</a:t>
            </a:r>
            <a:r>
              <a:rPr lang="zh-CN" altLang="en-US" dirty="0"/>
              <a:t>， 则称</a:t>
            </a:r>
            <a:r>
              <a:rPr lang="en-US" altLang="en-US" dirty="0"/>
              <a:t>＊</a:t>
            </a:r>
            <a:r>
              <a:rPr lang="zh-CN" altLang="en-US" dirty="0"/>
              <a:t>运算在</a:t>
            </a:r>
            <a:r>
              <a:rPr lang="en-US" altLang="zh-CN" dirty="0"/>
              <a:t>A</a:t>
            </a:r>
            <a:r>
              <a:rPr lang="zh-CN" altLang="en-US" dirty="0"/>
              <a:t>上满足</a:t>
            </a:r>
            <a:r>
              <a:rPr lang="zh-CN" altLang="en-US" b="1" dirty="0">
                <a:solidFill>
                  <a:schemeClr val="hlink"/>
                </a:solidFill>
              </a:rPr>
              <a:t>幂等律</a:t>
            </a:r>
            <a:r>
              <a:rPr lang="en-US" altLang="zh-CN" dirty="0"/>
              <a:t>(</a:t>
            </a:r>
            <a:r>
              <a:rPr lang="en-US" altLang="zh-CN" dirty="0" err="1"/>
              <a:t>idemopotent</a:t>
            </a:r>
            <a:r>
              <a:rPr lang="en-US" altLang="zh-CN" dirty="0"/>
              <a:t> law)</a:t>
            </a:r>
            <a:r>
              <a:rPr lang="zh-CN" altLang="en-US" dirty="0"/>
              <a:t>，或称</a:t>
            </a:r>
            <a:r>
              <a:rPr lang="en-US" altLang="en-US" dirty="0"/>
              <a:t>＊</a:t>
            </a:r>
            <a:r>
              <a:rPr lang="zh-CN" altLang="en-US" dirty="0"/>
              <a:t>运算在</a:t>
            </a:r>
            <a:r>
              <a:rPr lang="en-US" altLang="zh-CN" dirty="0"/>
              <a:t>A</a:t>
            </a:r>
            <a:r>
              <a:rPr lang="zh-CN" altLang="en-US" dirty="0"/>
              <a:t>上</a:t>
            </a:r>
            <a:r>
              <a:rPr lang="zh-CN" altLang="en-US" b="1" dirty="0">
                <a:solidFill>
                  <a:schemeClr val="hlink"/>
                </a:solidFill>
              </a:rPr>
              <a:t>幂等</a:t>
            </a:r>
            <a:r>
              <a:rPr lang="zh-CN" altLang="en-US" dirty="0"/>
              <a:t>。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6C5B30E-21A2-9D6B-9F69-1064944994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5.1.3 </a:t>
            </a:r>
            <a:r>
              <a:rPr lang="zh-CN" altLang="en-US" sz="5400"/>
              <a:t>二元运算的性质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2B85BFD-A313-C633-0F95-6376A8B49E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353425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5.1.6</a:t>
            </a:r>
            <a:r>
              <a:rPr lang="zh-CN" altLang="en-US" dirty="0"/>
              <a:t>设</a:t>
            </a:r>
            <a:r>
              <a:rPr lang="en-US" altLang="en-US" dirty="0"/>
              <a:t>＊</a:t>
            </a:r>
            <a:r>
              <a:rPr lang="zh-CN" altLang="en-US" dirty="0"/>
              <a:t>与△均是</a:t>
            </a:r>
            <a:r>
              <a:rPr lang="en-US" altLang="zh-CN" dirty="0"/>
              <a:t>A</a:t>
            </a:r>
            <a:r>
              <a:rPr lang="zh-CN" altLang="en-US" dirty="0"/>
              <a:t>上的二元运算，如果对任意</a:t>
            </a:r>
            <a:r>
              <a:rPr lang="en-US" altLang="zh-CN" dirty="0" err="1"/>
              <a:t>x,y,z∈A</a:t>
            </a:r>
            <a:r>
              <a:rPr lang="zh-CN" altLang="en-US" dirty="0"/>
              <a:t>，均有  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r>
              <a:rPr lang="en-US" altLang="zh-CN" dirty="0">
                <a:solidFill>
                  <a:schemeClr val="accent1"/>
                </a:solidFill>
              </a:rPr>
              <a:t>x</a:t>
            </a:r>
            <a:r>
              <a:rPr lang="en-US" altLang="en-US" dirty="0"/>
              <a:t>＊</a:t>
            </a:r>
            <a:r>
              <a:rPr lang="en-US" altLang="zh-CN" dirty="0"/>
              <a:t>(</a:t>
            </a:r>
            <a:r>
              <a:rPr lang="en-US" altLang="zh-CN" dirty="0" err="1"/>
              <a:t>y△z</a:t>
            </a:r>
            <a:r>
              <a:rPr lang="en-US" altLang="zh-CN" dirty="0"/>
              <a:t>)</a:t>
            </a:r>
            <a:r>
              <a:rPr lang="zh-CN" altLang="en-US" dirty="0"/>
              <a:t>＝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chemeClr val="accent1"/>
                </a:solidFill>
              </a:rPr>
              <a:t>x</a:t>
            </a:r>
            <a:r>
              <a:rPr lang="en-US" altLang="en-US" dirty="0" err="1"/>
              <a:t>＊</a:t>
            </a:r>
            <a:r>
              <a:rPr lang="en-US" altLang="zh-CN" dirty="0" err="1"/>
              <a:t>y</a:t>
            </a:r>
            <a:r>
              <a:rPr lang="en-US" altLang="zh-CN" dirty="0"/>
              <a:t>)△(</a:t>
            </a:r>
            <a:r>
              <a:rPr lang="en-US" altLang="zh-CN" dirty="0" err="1">
                <a:solidFill>
                  <a:schemeClr val="accent1"/>
                </a:solidFill>
              </a:rPr>
              <a:t>x</a:t>
            </a:r>
            <a:r>
              <a:rPr lang="en-US" altLang="en-US" dirty="0" err="1"/>
              <a:t>＊</a:t>
            </a:r>
            <a:r>
              <a:rPr lang="en-US" altLang="zh-CN" dirty="0" err="1"/>
              <a:t>z</a:t>
            </a:r>
            <a:r>
              <a:rPr lang="en-US" altLang="zh-CN" dirty="0"/>
              <a:t>)   (</a:t>
            </a:r>
            <a:r>
              <a:rPr lang="zh-CN" altLang="en-US" dirty="0">
                <a:solidFill>
                  <a:srgbClr val="FF00FF"/>
                </a:solidFill>
              </a:rPr>
              <a:t>左</a:t>
            </a:r>
            <a:r>
              <a:rPr lang="zh-CN" altLang="en-US" dirty="0"/>
              <a:t>分配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(</a:t>
            </a:r>
            <a:r>
              <a:rPr lang="en-US" altLang="zh-CN" dirty="0" err="1"/>
              <a:t>y△z</a:t>
            </a:r>
            <a:r>
              <a:rPr lang="en-US" altLang="zh-CN" dirty="0"/>
              <a:t>)</a:t>
            </a:r>
            <a:r>
              <a:rPr lang="en-US" altLang="en-US" dirty="0"/>
              <a:t>＊</a:t>
            </a:r>
            <a:r>
              <a:rPr lang="en-US" altLang="zh-CN" dirty="0">
                <a:solidFill>
                  <a:schemeClr val="accent1"/>
                </a:solidFill>
              </a:rPr>
              <a:t>x</a:t>
            </a:r>
            <a:r>
              <a:rPr lang="zh-CN" altLang="en-US" dirty="0"/>
              <a:t>＝</a:t>
            </a:r>
            <a:r>
              <a:rPr lang="en-US" altLang="zh-CN" dirty="0"/>
              <a:t>(</a:t>
            </a:r>
            <a:r>
              <a:rPr lang="en-US" altLang="zh-CN" dirty="0" err="1"/>
              <a:t>y</a:t>
            </a:r>
            <a:r>
              <a:rPr lang="en-US" altLang="en-US" dirty="0" err="1"/>
              <a:t>＊</a:t>
            </a:r>
            <a:r>
              <a:rPr lang="en-US" altLang="zh-CN" dirty="0" err="1">
                <a:solidFill>
                  <a:schemeClr val="accent1"/>
                </a:solidFill>
              </a:rPr>
              <a:t>x</a:t>
            </a:r>
            <a:r>
              <a:rPr lang="en-US" altLang="zh-CN" dirty="0"/>
              <a:t>)△(</a:t>
            </a:r>
            <a:r>
              <a:rPr lang="en-US" altLang="zh-CN" dirty="0" err="1"/>
              <a:t>z</a:t>
            </a:r>
            <a:r>
              <a:rPr lang="en-US" altLang="en-US" dirty="0" err="1"/>
              <a:t>＊</a:t>
            </a:r>
            <a:r>
              <a:rPr lang="en-US" altLang="zh-CN" dirty="0" err="1">
                <a:solidFill>
                  <a:schemeClr val="accent1"/>
                </a:solidFill>
              </a:rPr>
              <a:t>x</a:t>
            </a:r>
            <a:r>
              <a:rPr lang="en-US" altLang="zh-CN" dirty="0"/>
              <a:t>)   (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右</a:t>
            </a:r>
            <a:r>
              <a:rPr lang="zh-CN" altLang="en-US" dirty="0"/>
              <a:t>分配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则称</a:t>
            </a:r>
            <a:r>
              <a:rPr lang="en-US" altLang="en-US" dirty="0"/>
              <a:t>＊</a:t>
            </a:r>
            <a:r>
              <a:rPr lang="zh-CN" altLang="en-US" dirty="0"/>
              <a:t>运算对△运算在</a:t>
            </a:r>
            <a:r>
              <a:rPr lang="en-US" altLang="zh-CN" dirty="0"/>
              <a:t>A</a:t>
            </a:r>
            <a:r>
              <a:rPr lang="zh-CN" altLang="en-US" dirty="0"/>
              <a:t>上</a:t>
            </a:r>
            <a:r>
              <a:rPr lang="zh-CN" altLang="en-US" b="1" dirty="0">
                <a:solidFill>
                  <a:schemeClr val="hlink"/>
                </a:solidFill>
              </a:rPr>
              <a:t>分配</a:t>
            </a:r>
            <a:r>
              <a:rPr lang="zh-CN" altLang="en-US" dirty="0"/>
              <a:t>，或称</a:t>
            </a:r>
            <a:r>
              <a:rPr lang="en-US" altLang="en-US" dirty="0"/>
              <a:t>＊</a:t>
            </a:r>
            <a:r>
              <a:rPr lang="zh-CN" altLang="en-US" dirty="0"/>
              <a:t>运算对△运算在</a:t>
            </a:r>
            <a:r>
              <a:rPr lang="en-US" altLang="zh-CN" dirty="0"/>
              <a:t>A</a:t>
            </a:r>
            <a:r>
              <a:rPr lang="zh-CN" altLang="en-US" dirty="0"/>
              <a:t>上满足</a:t>
            </a:r>
            <a:r>
              <a:rPr lang="zh-CN" altLang="en-US" b="1" dirty="0">
                <a:solidFill>
                  <a:schemeClr val="hlink"/>
                </a:solidFill>
              </a:rPr>
              <a:t>分配律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210822E-C205-D5DF-B912-91CA2F7C48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5.1.3 </a:t>
            </a:r>
            <a:r>
              <a:rPr lang="zh-CN" altLang="en-US" sz="5400"/>
              <a:t>二元运算的性质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903665AD-6812-E19F-79A2-137E25738D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424862" cy="4840287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5.1.8</a:t>
            </a:r>
            <a:r>
              <a:rPr lang="zh-CN" altLang="en-US" dirty="0"/>
              <a:t>设</a:t>
            </a:r>
            <a:r>
              <a:rPr lang="en-US" altLang="en-US" dirty="0"/>
              <a:t>＊</a:t>
            </a:r>
            <a:r>
              <a:rPr lang="zh-CN" altLang="en-US" dirty="0"/>
              <a:t>是</a:t>
            </a:r>
            <a:r>
              <a:rPr lang="en-US" altLang="zh-CN" dirty="0"/>
              <a:t>A</a:t>
            </a:r>
            <a:r>
              <a:rPr lang="zh-CN" altLang="en-US" dirty="0"/>
              <a:t>上的二元运算，如果对任意</a:t>
            </a:r>
            <a:r>
              <a:rPr lang="en-US" altLang="zh-CN" dirty="0" err="1"/>
              <a:t>x,y,z∈A</a:t>
            </a:r>
            <a:r>
              <a:rPr lang="zh-CN" altLang="en-US" dirty="0"/>
              <a:t>，均有   </a:t>
            </a:r>
            <a:r>
              <a:rPr lang="en-US" altLang="zh-CN" dirty="0">
                <a:solidFill>
                  <a:schemeClr val="accent1"/>
                </a:solidFill>
              </a:rPr>
              <a:t>(</a:t>
            </a:r>
            <a:r>
              <a:rPr lang="en-US" altLang="zh-CN" dirty="0" err="1"/>
              <a:t>x</a:t>
            </a:r>
            <a:r>
              <a:rPr lang="en-US" altLang="en-US" dirty="0" err="1"/>
              <a:t>＊</a:t>
            </a:r>
            <a:r>
              <a:rPr lang="en-US" altLang="zh-CN" dirty="0" err="1"/>
              <a:t>y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  <a:r>
              <a:rPr lang="en-US" altLang="en-US" dirty="0"/>
              <a:t>＊</a:t>
            </a:r>
            <a:r>
              <a:rPr lang="en-US" altLang="zh-CN" dirty="0"/>
              <a:t>z</a:t>
            </a:r>
            <a:r>
              <a:rPr lang="zh-CN" altLang="en-US" dirty="0"/>
              <a:t>＝</a:t>
            </a:r>
            <a:r>
              <a:rPr lang="en-US" altLang="zh-CN" dirty="0"/>
              <a:t>x</a:t>
            </a:r>
            <a:r>
              <a:rPr lang="en-US" altLang="en-US" dirty="0"/>
              <a:t>＊</a:t>
            </a:r>
            <a:r>
              <a:rPr lang="en-US" altLang="zh-CN" dirty="0">
                <a:solidFill>
                  <a:schemeClr val="accent1"/>
                </a:solidFill>
              </a:rPr>
              <a:t>(</a:t>
            </a:r>
            <a:r>
              <a:rPr lang="en-US" altLang="zh-CN" dirty="0" err="1"/>
              <a:t>y</a:t>
            </a:r>
            <a:r>
              <a:rPr lang="en-US" altLang="en-US" dirty="0" err="1"/>
              <a:t>＊</a:t>
            </a:r>
            <a:r>
              <a:rPr lang="en-US" altLang="zh-CN" dirty="0" err="1"/>
              <a:t>z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则称</a:t>
            </a:r>
            <a:r>
              <a:rPr lang="en-US" altLang="en-US" dirty="0"/>
              <a:t>＊</a:t>
            </a:r>
            <a:r>
              <a:rPr lang="zh-CN" altLang="en-US" dirty="0"/>
              <a:t>运算在</a:t>
            </a:r>
            <a:r>
              <a:rPr lang="en-US" altLang="zh-CN" dirty="0"/>
              <a:t>A</a:t>
            </a:r>
            <a:r>
              <a:rPr lang="zh-CN" altLang="en-US" dirty="0"/>
              <a:t>上</a:t>
            </a:r>
            <a:r>
              <a:rPr lang="zh-CN" altLang="en-US" b="1" dirty="0">
                <a:solidFill>
                  <a:schemeClr val="hlink"/>
                </a:solidFill>
              </a:rPr>
              <a:t>结合</a:t>
            </a:r>
            <a:r>
              <a:rPr lang="zh-CN" altLang="en-US" dirty="0"/>
              <a:t>，或称</a:t>
            </a:r>
            <a:r>
              <a:rPr lang="en-US" altLang="en-US" dirty="0"/>
              <a:t>＊</a:t>
            </a:r>
            <a:r>
              <a:rPr lang="zh-CN" altLang="en-US" dirty="0"/>
              <a:t>运算在</a:t>
            </a:r>
            <a:r>
              <a:rPr lang="en-US" altLang="zh-CN" dirty="0"/>
              <a:t>A</a:t>
            </a:r>
            <a:r>
              <a:rPr lang="zh-CN" altLang="en-US" dirty="0"/>
              <a:t>上满足</a:t>
            </a:r>
            <a:r>
              <a:rPr lang="zh-CN" altLang="en-US" b="1" dirty="0">
                <a:solidFill>
                  <a:schemeClr val="hlink"/>
                </a:solidFill>
              </a:rPr>
              <a:t>结合律</a:t>
            </a:r>
            <a:r>
              <a:rPr lang="en-US" altLang="zh-CN" dirty="0"/>
              <a:t>(associative law)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77D0FD4-7822-1F98-8659-ACF4F22726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5.1.3 </a:t>
            </a:r>
            <a:r>
              <a:rPr lang="zh-CN" altLang="en-US" sz="5400"/>
              <a:t>二元运算的性质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7656E5E3-B0FD-C3C5-7CC6-88F90A3D29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424862" cy="5013325"/>
          </a:xfrm>
        </p:spPr>
        <p:txBody>
          <a:bodyPr/>
          <a:lstStyle/>
          <a:p>
            <a:pPr eaLnBrk="1" hangingPunct="1">
              <a:lnSpc>
                <a:spcPct val="18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5.1.3</a:t>
            </a:r>
            <a:r>
              <a:rPr lang="zh-CN" altLang="en-US" dirty="0"/>
              <a:t>设代数系统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/>
              <a:t>A,</a:t>
            </a:r>
            <a:r>
              <a:rPr lang="en-US" altLang="en-US" dirty="0"/>
              <a:t>＊</a:t>
            </a:r>
            <a:r>
              <a:rPr lang="en-US" altLang="zh-CN" dirty="0">
                <a:latin typeface="宋体" panose="02010600030101010101" pitchFamily="2" charset="-122"/>
              </a:rPr>
              <a:t>&gt;</a:t>
            </a:r>
            <a:r>
              <a:rPr lang="zh-CN" altLang="en-US" dirty="0"/>
              <a:t>，若对任意</a:t>
            </a:r>
            <a:r>
              <a:rPr lang="en-US" altLang="zh-CN" dirty="0" err="1"/>
              <a:t>x,y∈A</a:t>
            </a:r>
            <a:r>
              <a:rPr lang="zh-CN" altLang="en-US" dirty="0"/>
              <a:t>，有</a:t>
            </a:r>
            <a:r>
              <a:rPr lang="en-US" altLang="zh-CN" dirty="0" err="1"/>
              <a:t>x</a:t>
            </a:r>
            <a:r>
              <a:rPr lang="en-US" altLang="en-US" dirty="0" err="1"/>
              <a:t>＊</a:t>
            </a:r>
            <a:r>
              <a:rPr lang="en-US" altLang="zh-CN" dirty="0" err="1"/>
              <a:t>y</a:t>
            </a:r>
            <a:r>
              <a:rPr lang="en-US" altLang="zh-CN" dirty="0"/>
              <a:t> </a:t>
            </a:r>
            <a:r>
              <a:rPr lang="zh-CN" altLang="en-US" dirty="0"/>
              <a:t>＝</a:t>
            </a:r>
            <a:r>
              <a:rPr lang="en-US" altLang="zh-CN" dirty="0"/>
              <a:t>x </a:t>
            </a:r>
            <a:r>
              <a:rPr lang="zh-CN" altLang="en-US" dirty="0"/>
              <a:t>，则运算</a:t>
            </a:r>
            <a:r>
              <a:rPr lang="en-US" altLang="en-US" dirty="0"/>
              <a:t>＊</a:t>
            </a:r>
            <a:r>
              <a:rPr lang="zh-CN" altLang="en-US" dirty="0"/>
              <a:t>在集合</a:t>
            </a:r>
            <a:r>
              <a:rPr lang="en-US" altLang="zh-CN" dirty="0"/>
              <a:t>A</a:t>
            </a:r>
            <a:r>
              <a:rPr lang="zh-CN" altLang="en-US" dirty="0"/>
              <a:t>上结合。</a:t>
            </a:r>
            <a:endParaRPr lang="zh-CN" altLang="en-US" b="1" dirty="0"/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   </a:t>
            </a: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 任意</a:t>
            </a:r>
            <a:r>
              <a:rPr lang="en-US" altLang="zh-CN" dirty="0" err="1"/>
              <a:t>x,y,z∈A</a:t>
            </a:r>
            <a:r>
              <a:rPr lang="zh-CN" altLang="en-US" dirty="0"/>
              <a:t>  </a:t>
            </a:r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     </a:t>
            </a:r>
            <a:r>
              <a:rPr lang="en-US" altLang="zh-CN" dirty="0">
                <a:solidFill>
                  <a:schemeClr val="accent1"/>
                </a:solidFill>
              </a:rPr>
              <a:t>(</a:t>
            </a:r>
            <a:r>
              <a:rPr lang="en-US" altLang="zh-CN" dirty="0" err="1"/>
              <a:t>x</a:t>
            </a:r>
            <a:r>
              <a:rPr lang="en-US" altLang="en-US" dirty="0" err="1"/>
              <a:t>＊</a:t>
            </a:r>
            <a:r>
              <a:rPr lang="en-US" altLang="zh-CN" dirty="0" err="1"/>
              <a:t>y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  <a:r>
              <a:rPr lang="en-US" altLang="en-US" dirty="0"/>
              <a:t>＊</a:t>
            </a:r>
            <a:r>
              <a:rPr lang="en-US" altLang="zh-CN" dirty="0"/>
              <a:t>z</a:t>
            </a:r>
            <a:r>
              <a:rPr lang="zh-CN" altLang="en-US" dirty="0"/>
              <a:t>＝</a:t>
            </a:r>
            <a:r>
              <a:rPr lang="en-US" altLang="zh-CN" dirty="0" err="1"/>
              <a:t>x</a:t>
            </a:r>
            <a:r>
              <a:rPr lang="en-US" altLang="en-US" dirty="0" err="1"/>
              <a:t>＊</a:t>
            </a:r>
            <a:r>
              <a:rPr lang="en-US" altLang="zh-CN" dirty="0" err="1"/>
              <a:t>z</a:t>
            </a:r>
            <a:r>
              <a:rPr lang="zh-CN" altLang="en-US" dirty="0"/>
              <a:t>＝</a:t>
            </a:r>
            <a:r>
              <a:rPr lang="en-US" altLang="zh-CN" dirty="0"/>
              <a:t>x </a:t>
            </a:r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 x</a:t>
            </a:r>
            <a:r>
              <a:rPr lang="en-US" altLang="en-US" dirty="0"/>
              <a:t>＊</a:t>
            </a:r>
            <a:r>
              <a:rPr lang="en-US" altLang="zh-CN" dirty="0">
                <a:solidFill>
                  <a:schemeClr val="accent1"/>
                </a:solidFill>
              </a:rPr>
              <a:t>(</a:t>
            </a:r>
            <a:r>
              <a:rPr lang="en-US" altLang="zh-CN" dirty="0" err="1"/>
              <a:t>y</a:t>
            </a:r>
            <a:r>
              <a:rPr lang="en-US" altLang="en-US" dirty="0" err="1"/>
              <a:t>＊</a:t>
            </a:r>
            <a:r>
              <a:rPr lang="en-US" altLang="zh-CN" dirty="0" err="1"/>
              <a:t>z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  <a:r>
              <a:rPr lang="zh-CN" altLang="en-US" dirty="0"/>
              <a:t>＝</a:t>
            </a:r>
            <a:r>
              <a:rPr lang="en-US" altLang="zh-CN" dirty="0" err="1"/>
              <a:t>x</a:t>
            </a:r>
            <a:r>
              <a:rPr lang="en-US" altLang="en-US" dirty="0" err="1"/>
              <a:t>＊</a:t>
            </a:r>
            <a:r>
              <a:rPr lang="en-US" altLang="zh-CN" dirty="0" err="1"/>
              <a:t>y</a:t>
            </a:r>
            <a:r>
              <a:rPr lang="zh-CN" altLang="en-US" dirty="0"/>
              <a:t>＝</a:t>
            </a:r>
            <a:r>
              <a:rPr lang="en-US" altLang="zh-CN" dirty="0"/>
              <a:t>x       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01CF8CC-721E-EA60-6870-A6E6A27144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70981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*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是定义在整数集上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的二元运算，且对任意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a,b∈I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a*b=a+b-9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，则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*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运算在集合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上（    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617160-F135-D905-E76A-73EBF7273DC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封闭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DCA957-244B-8A42-622C-5C537ABC892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交换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6D4949-45B8-DE4A-14D7-CDD245CC63B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结合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2A6508-CF9F-26DE-C40B-090366743A3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幂等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071B24-1797-2E7B-250F-F9CDD6EB302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097A65-1329-FA43-40A7-7C8313A5AC2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20A6BA6-A18C-035A-A040-40B781D4079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6BFE565-3E6E-82D0-D957-FD6442B30EA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FD26B55-8CAD-E176-54B3-0D3CA3596DE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85B1397-6C98-66DE-0DCD-396F21F97C0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77D9D3B2-1E67-2A68-D294-D0414B902A9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F5AD0F25-5BE1-9B46-A89D-65AD2B964C22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0EF62CD1-5258-E852-5D94-311811E6F87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3" name="TipText">
              <a:extLst>
                <a:ext uri="{FF2B5EF4-FFF2-40B4-BE49-F238E27FC236}">
                  <a16:creationId xmlns:a16="http://schemas.microsoft.com/office/drawing/2014/main" id="{F4A12827-5F19-0940-782B-430B3B467A91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C1426A7-AD7A-3D09-A13D-B6D0040181E2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79425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>
            <a:extLst>
              <a:ext uri="{FF2B5EF4-FFF2-40B4-BE49-F238E27FC236}">
                <a16:creationId xmlns:a16="http://schemas.microsoft.com/office/drawing/2014/main" id="{8C6FEA15-183C-E34D-27C2-935A050879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5.1.3 </a:t>
            </a:r>
            <a:r>
              <a:rPr lang="zh-CN" altLang="en-US" sz="5400"/>
              <a:t>二元运算的性质</a:t>
            </a:r>
          </a:p>
        </p:txBody>
      </p:sp>
      <p:sp>
        <p:nvSpPr>
          <p:cNvPr id="28675" name="内容占位符 2">
            <a:extLst>
              <a:ext uri="{FF2B5EF4-FFF2-40B4-BE49-F238E27FC236}">
                <a16:creationId xmlns:a16="http://schemas.microsoft.com/office/drawing/2014/main" id="{5515C41E-2648-CEFB-FA79-56DDEF6AFE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844675"/>
            <a:ext cx="8351837" cy="4897438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zh-CN" altLang="en-US"/>
              <a:t>设代数系统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A,  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en-US" altLang="en-US"/>
              <a:t> </a:t>
            </a:r>
            <a:r>
              <a:rPr lang="zh-CN" altLang="en-US"/>
              <a:t>若</a:t>
            </a:r>
            <a:r>
              <a:rPr lang="en-US" altLang="zh-CN"/>
              <a:t>  </a:t>
            </a:r>
            <a:r>
              <a:rPr lang="zh-CN" altLang="en-US"/>
              <a:t>运算在</a:t>
            </a:r>
            <a:r>
              <a:rPr lang="en-US" altLang="zh-CN"/>
              <a:t>A</a:t>
            </a:r>
            <a:r>
              <a:rPr lang="zh-CN" altLang="en-US"/>
              <a:t>上</a:t>
            </a:r>
            <a:r>
              <a:rPr lang="zh-CN" altLang="en-US" b="1">
                <a:solidFill>
                  <a:schemeClr val="accent1"/>
                </a:solidFill>
              </a:rPr>
              <a:t>结合</a:t>
            </a:r>
            <a:r>
              <a:rPr lang="zh-CN" altLang="en-US"/>
              <a:t>，则对任意</a:t>
            </a:r>
            <a:r>
              <a:rPr lang="en-US" altLang="zh-CN"/>
              <a:t>a∈A</a:t>
            </a:r>
            <a:r>
              <a:rPr lang="zh-CN" altLang="en-US"/>
              <a:t>，定义</a:t>
            </a:r>
            <a:r>
              <a:rPr lang="en-US" altLang="zh-CN">
                <a:solidFill>
                  <a:srgbClr val="FF0000"/>
                </a:solidFill>
              </a:rPr>
              <a:t>a</a:t>
            </a:r>
            <a:r>
              <a:rPr lang="zh-CN" altLang="en-US">
                <a:solidFill>
                  <a:srgbClr val="FF0000"/>
                </a:solidFill>
              </a:rPr>
              <a:t>的</a:t>
            </a:r>
            <a:r>
              <a:rPr lang="en-US" altLang="zh-CN">
                <a:solidFill>
                  <a:srgbClr val="FF0000"/>
                </a:solidFill>
              </a:rPr>
              <a:t>n</a:t>
            </a:r>
            <a:r>
              <a:rPr lang="zh-CN" altLang="en-US">
                <a:solidFill>
                  <a:srgbClr val="FF0000"/>
                </a:solidFill>
              </a:rPr>
              <a:t>次幂</a:t>
            </a:r>
            <a:r>
              <a:rPr lang="en-US" altLang="zh-CN"/>
              <a:t>(n</a:t>
            </a:r>
            <a:r>
              <a:rPr lang="zh-CN" altLang="en-US"/>
              <a:t>为正整数</a:t>
            </a:r>
            <a:r>
              <a:rPr lang="en-US" altLang="zh-CN"/>
              <a:t>)</a:t>
            </a:r>
          </a:p>
        </p:txBody>
      </p:sp>
      <p:graphicFrame>
        <p:nvGraphicFramePr>
          <p:cNvPr id="28676" name="对象 1">
            <a:extLst>
              <a:ext uri="{FF2B5EF4-FFF2-40B4-BE49-F238E27FC236}">
                <a16:creationId xmlns:a16="http://schemas.microsoft.com/office/drawing/2014/main" id="{7563CBAF-F934-8D7E-4129-C456BC7009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4868863"/>
          <a:ext cx="3236912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032" imgH="393529" progId="Equation.DSMT4">
                  <p:embed/>
                </p:oleObj>
              </mc:Choice>
              <mc:Fallback>
                <p:oleObj name="Equation" r:id="rId2" imgW="1079032" imgH="393529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4868863"/>
                        <a:ext cx="3236912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对象 1">
            <a:extLst>
              <a:ext uri="{FF2B5EF4-FFF2-40B4-BE49-F238E27FC236}">
                <a16:creationId xmlns:a16="http://schemas.microsoft.com/office/drawing/2014/main" id="{6D649F20-1472-E7C8-E0A2-2980143223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2503488"/>
          <a:ext cx="32226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201" imgH="139579" progId="Equation.DSMT4">
                  <p:embed/>
                </p:oleObj>
              </mc:Choice>
              <mc:Fallback>
                <p:oleObj name="Equation" r:id="rId4" imgW="114201" imgH="139579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2503488"/>
                        <a:ext cx="32226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对象 2">
            <a:extLst>
              <a:ext uri="{FF2B5EF4-FFF2-40B4-BE49-F238E27FC236}">
                <a16:creationId xmlns:a16="http://schemas.microsoft.com/office/drawing/2014/main" id="{E57C8EB9-3ED3-1637-9325-F5C87A4362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938" y="2505075"/>
          <a:ext cx="322262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201" imgH="139579" progId="Equation.DSMT4">
                  <p:embed/>
                </p:oleObj>
              </mc:Choice>
              <mc:Fallback>
                <p:oleObj name="Equation" r:id="rId6" imgW="114201" imgH="139579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2505075"/>
                        <a:ext cx="322262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1B882AC5-BCDC-DAAE-E799-BDC1C1CA66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5.1.3 </a:t>
            </a:r>
            <a:r>
              <a:rPr lang="zh-CN" altLang="en-US" sz="5400"/>
              <a:t>二元运算的性质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0AC476A-E8D4-54A8-CE30-F1A61E8FB0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zh-CN" altLang="en-US" dirty="0"/>
              <a:t>实数集， ＋</a:t>
            </a:r>
            <a:r>
              <a:rPr lang="en-US" altLang="zh-CN" dirty="0"/>
              <a:t>,×</a:t>
            </a:r>
            <a:r>
              <a:rPr lang="zh-CN" altLang="en-US" dirty="0"/>
              <a:t>实数加运算与乘运算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hlink"/>
                </a:solidFill>
              </a:rPr>
              <a:t>   代数系统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R,</a:t>
            </a:r>
            <a:r>
              <a:rPr lang="zh-CN" altLang="en-US" dirty="0"/>
              <a:t>＋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CC0066"/>
                </a:solidFill>
              </a:rPr>
              <a:t>       2</a:t>
            </a:r>
            <a:r>
              <a:rPr lang="en-US" altLang="zh-CN" baseline="30000" dirty="0">
                <a:solidFill>
                  <a:schemeClr val="accent1"/>
                </a:solidFill>
              </a:rPr>
              <a:t>3</a:t>
            </a:r>
            <a:r>
              <a:rPr lang="zh-CN" altLang="en-US" dirty="0"/>
              <a:t>＝</a:t>
            </a:r>
            <a:r>
              <a:rPr lang="en-US" altLang="zh-CN" dirty="0"/>
              <a:t>2</a:t>
            </a:r>
            <a:r>
              <a:rPr lang="zh-CN" altLang="en-US" dirty="0"/>
              <a:t>＋</a:t>
            </a:r>
            <a:r>
              <a:rPr lang="en-US" altLang="zh-CN" dirty="0"/>
              <a:t>2</a:t>
            </a:r>
            <a:r>
              <a:rPr lang="zh-CN" altLang="en-US" dirty="0"/>
              <a:t>＋</a:t>
            </a:r>
            <a:r>
              <a:rPr lang="en-US" altLang="zh-CN" dirty="0"/>
              <a:t>2</a:t>
            </a:r>
            <a:endParaRPr lang="en-US" altLang="zh-CN" dirty="0">
              <a:latin typeface="宋体" pitchFamily="2" charset="-122"/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hlink"/>
                </a:solidFill>
              </a:rPr>
              <a:t>   代数系统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R,×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CC0066"/>
                </a:solidFill>
              </a:rPr>
              <a:t>       2</a:t>
            </a:r>
            <a:r>
              <a:rPr lang="en-US" altLang="zh-CN" baseline="30000" dirty="0">
                <a:solidFill>
                  <a:schemeClr val="accent1"/>
                </a:solidFill>
              </a:rPr>
              <a:t>3</a:t>
            </a:r>
            <a:r>
              <a:rPr lang="zh-CN" altLang="en-US" dirty="0"/>
              <a:t>＝</a:t>
            </a:r>
            <a:r>
              <a:rPr lang="en-US" altLang="zh-CN" dirty="0"/>
              <a:t>2×2×2</a:t>
            </a:r>
            <a:endParaRPr lang="en-US" altLang="zh-CN" dirty="0">
              <a:latin typeface="宋体" pitchFamily="2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{1,2}</a:t>
            </a:r>
            <a:r>
              <a:rPr lang="zh-CN" altLang="en-US" dirty="0"/>
              <a:t>，幂集</a:t>
            </a:r>
            <a:r>
              <a:rPr lang="en-US" altLang="zh-CN" dirty="0"/>
              <a:t>P(A)</a:t>
            </a:r>
            <a:r>
              <a:rPr lang="zh-CN" altLang="en-US" dirty="0"/>
              <a:t>，∩</a:t>
            </a:r>
            <a:r>
              <a:rPr lang="en-US" altLang="zh-CN" dirty="0"/>
              <a:t>,∪</a:t>
            </a:r>
            <a:r>
              <a:rPr lang="zh-CN" altLang="en-US" dirty="0"/>
              <a:t>集合交与并运算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hlink"/>
                </a:solidFill>
              </a:rPr>
              <a:t>   代数系统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P(A),∩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CC0066"/>
                </a:solidFill>
              </a:rPr>
              <a:t>   {2}</a:t>
            </a:r>
            <a:r>
              <a:rPr lang="en-US" altLang="zh-CN" baseline="30000" dirty="0">
                <a:solidFill>
                  <a:schemeClr val="accent1"/>
                </a:solidFill>
              </a:rPr>
              <a:t>3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CC0066"/>
                </a:solidFill>
              </a:rPr>
              <a:t>{2}</a:t>
            </a:r>
            <a:r>
              <a:rPr lang="zh-CN" altLang="en-US" dirty="0"/>
              <a:t>∩</a:t>
            </a:r>
            <a:r>
              <a:rPr lang="en-US" altLang="zh-CN" dirty="0">
                <a:solidFill>
                  <a:srgbClr val="CC0066"/>
                </a:solidFill>
              </a:rPr>
              <a:t>{2}</a:t>
            </a:r>
            <a:r>
              <a:rPr lang="zh-CN" altLang="en-US" dirty="0"/>
              <a:t>∩</a:t>
            </a:r>
            <a:r>
              <a:rPr lang="en-US" altLang="zh-CN" dirty="0">
                <a:solidFill>
                  <a:srgbClr val="CC0066"/>
                </a:solidFill>
              </a:rPr>
              <a:t>{2}</a:t>
            </a:r>
            <a:endParaRPr lang="en-US" altLang="zh-CN" dirty="0">
              <a:latin typeface="宋体" pitchFamily="2" charset="-122"/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hlink"/>
                </a:solidFill>
              </a:rPr>
              <a:t>   代数系统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P(A),∪</a:t>
            </a:r>
            <a:r>
              <a:rPr lang="en-US" altLang="zh-CN" dirty="0">
                <a:latin typeface="宋体" pitchFamily="2" charset="-122"/>
              </a:rPr>
              <a:t>&gt;  </a:t>
            </a:r>
            <a:r>
              <a:rPr lang="en-US" altLang="zh-CN" dirty="0">
                <a:solidFill>
                  <a:srgbClr val="CC0066"/>
                </a:solidFill>
              </a:rPr>
              <a:t>{2}</a:t>
            </a:r>
            <a:r>
              <a:rPr lang="en-US" altLang="zh-CN" baseline="30000" dirty="0">
                <a:solidFill>
                  <a:schemeClr val="accent1"/>
                </a:solidFill>
              </a:rPr>
              <a:t>3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CC0066"/>
                </a:solidFill>
              </a:rPr>
              <a:t>{2}</a:t>
            </a:r>
            <a:r>
              <a:rPr lang="en-US" altLang="zh-CN" dirty="0"/>
              <a:t>∪</a:t>
            </a:r>
            <a:r>
              <a:rPr lang="en-US" altLang="zh-CN" dirty="0">
                <a:solidFill>
                  <a:srgbClr val="CC0066"/>
                </a:solidFill>
              </a:rPr>
              <a:t>{2}</a:t>
            </a:r>
            <a:r>
              <a:rPr lang="en-US" altLang="zh-CN" dirty="0"/>
              <a:t>∪</a:t>
            </a:r>
            <a:r>
              <a:rPr lang="en-US" altLang="zh-CN" dirty="0">
                <a:solidFill>
                  <a:srgbClr val="CC0066"/>
                </a:solidFill>
              </a:rPr>
              <a:t>{2}</a:t>
            </a:r>
            <a:endParaRPr lang="en-US" altLang="zh-CN" dirty="0">
              <a:latin typeface="宋体" pitchFamily="2" charset="-122"/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CN" dirty="0"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DC3C5CC-96FF-1001-426A-E23E98791C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5.1.4 </a:t>
            </a:r>
            <a:r>
              <a:rPr lang="zh-CN" altLang="en-US" sz="5400"/>
              <a:t>半群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92DE427E-24EF-3D8B-E6CF-E9ED1CABB6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532812" cy="4897438"/>
          </a:xfrm>
        </p:spPr>
        <p:txBody>
          <a:bodyPr/>
          <a:lstStyle/>
          <a:p>
            <a:pPr eaLnBrk="1" hangingPunct="1">
              <a:lnSpc>
                <a:spcPct val="180000"/>
              </a:lnSpc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5.1.9</a:t>
            </a:r>
            <a:r>
              <a:rPr lang="zh-CN" altLang="en-US"/>
              <a:t>设代数系统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A,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/>
              <a:t>，若运算</a:t>
            </a:r>
            <a:r>
              <a:rPr lang="en-US" altLang="en-US"/>
              <a:t>＊</a:t>
            </a:r>
            <a:r>
              <a:rPr lang="zh-CN" altLang="en-US"/>
              <a:t>在</a:t>
            </a:r>
            <a:r>
              <a:rPr lang="en-US" altLang="zh-CN"/>
              <a:t>A</a:t>
            </a:r>
            <a:r>
              <a:rPr lang="zh-CN" altLang="en-US"/>
              <a:t>上结合，则称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A,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/>
              <a:t>是</a:t>
            </a:r>
            <a:r>
              <a:rPr lang="zh-CN" altLang="en-US" b="1">
                <a:solidFill>
                  <a:schemeClr val="hlink"/>
                </a:solidFill>
              </a:rPr>
              <a:t>半群</a:t>
            </a:r>
            <a:r>
              <a:rPr lang="en-US" altLang="zh-CN"/>
              <a:t>(semigroup)</a:t>
            </a:r>
            <a:r>
              <a:rPr lang="zh-CN" altLang="en-US"/>
              <a:t>。</a:t>
            </a:r>
            <a:r>
              <a:rPr lang="en-US" altLang="zh-CN"/>
              <a:t> </a:t>
            </a:r>
          </a:p>
          <a:p>
            <a:pPr eaLnBrk="1" hangingPunct="1">
              <a:lnSpc>
                <a:spcPct val="180000"/>
              </a:lnSpc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5.1.10</a:t>
            </a:r>
            <a:r>
              <a:rPr lang="zh-CN" altLang="en-US"/>
              <a:t>设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A,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/>
              <a:t>是半群，</a:t>
            </a:r>
            <a:r>
              <a:rPr lang="en-US" altLang="zh-CN">
                <a:solidFill>
                  <a:srgbClr val="FF00FF"/>
                </a:solidFill>
              </a:rPr>
              <a:t>B</a:t>
            </a:r>
            <a:r>
              <a:rPr lang="zh-CN" altLang="en-US"/>
              <a:t>是</a:t>
            </a:r>
            <a:r>
              <a:rPr lang="en-US" altLang="zh-CN"/>
              <a:t>A</a:t>
            </a:r>
            <a:r>
              <a:rPr lang="zh-CN" altLang="en-US"/>
              <a:t>的</a:t>
            </a:r>
            <a:r>
              <a:rPr lang="zh-CN" altLang="en-US">
                <a:solidFill>
                  <a:schemeClr val="accent1"/>
                </a:solidFill>
              </a:rPr>
              <a:t>非空子集</a:t>
            </a:r>
            <a:r>
              <a:rPr lang="zh-CN" altLang="en-US"/>
              <a:t>，若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>
                <a:solidFill>
                  <a:srgbClr val="FF00FF"/>
                </a:solidFill>
              </a:rPr>
              <a:t>B</a:t>
            </a:r>
            <a:r>
              <a:rPr lang="en-US" altLang="zh-CN"/>
              <a:t>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/>
              <a:t>也是</a:t>
            </a:r>
            <a:r>
              <a:rPr lang="zh-CN" altLang="en-US">
                <a:solidFill>
                  <a:schemeClr val="accent1"/>
                </a:solidFill>
              </a:rPr>
              <a:t>半群</a:t>
            </a:r>
            <a:r>
              <a:rPr lang="zh-CN" altLang="en-US"/>
              <a:t>，则称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>
                <a:solidFill>
                  <a:srgbClr val="FF00FF"/>
                </a:solidFill>
              </a:rPr>
              <a:t>B</a:t>
            </a:r>
            <a:r>
              <a:rPr lang="en-US" altLang="zh-CN"/>
              <a:t>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/>
              <a:t>是半群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A,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/>
              <a:t>的</a:t>
            </a:r>
            <a:r>
              <a:rPr lang="zh-CN" altLang="en-US" b="1">
                <a:solidFill>
                  <a:schemeClr val="hlink"/>
                </a:solidFill>
              </a:rPr>
              <a:t>子半群</a:t>
            </a:r>
            <a:r>
              <a:rPr lang="en-US" altLang="zh-CN"/>
              <a:t>(subsemigroup)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D4D741F-8C4F-D529-AF20-686DFFF125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5.1.4 </a:t>
            </a:r>
            <a:r>
              <a:rPr lang="zh-CN" altLang="en-US" sz="5400"/>
              <a:t>半群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3657F69-90D0-C9CA-A275-9752BF2706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42486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半群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R,</a:t>
            </a:r>
            <a:r>
              <a:rPr lang="zh-CN" altLang="en-US" dirty="0"/>
              <a:t>＋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en-US" dirty="0">
                <a:latin typeface="宋体" pitchFamily="2" charset="-122"/>
              </a:rPr>
              <a:t>与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I,</a:t>
            </a:r>
            <a:r>
              <a:rPr lang="zh-CN" altLang="en-US" dirty="0"/>
              <a:t>＋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en-US" dirty="0">
                <a:latin typeface="宋体" pitchFamily="2" charset="-122"/>
              </a:rPr>
              <a:t>，</a:t>
            </a:r>
            <a:r>
              <a:rPr lang="en-US" altLang="zh-CN" dirty="0">
                <a:latin typeface="宋体" pitchFamily="2" charset="-122"/>
              </a:rPr>
              <a:t> &lt;</a:t>
            </a:r>
            <a:r>
              <a:rPr lang="en-US" altLang="zh-CN" dirty="0"/>
              <a:t>R,×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en-US" dirty="0">
                <a:latin typeface="宋体" pitchFamily="2" charset="-122"/>
              </a:rPr>
              <a:t>与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I,×</a:t>
            </a:r>
            <a:r>
              <a:rPr lang="en-US" altLang="zh-CN" dirty="0">
                <a:latin typeface="宋体" pitchFamily="2" charset="-122"/>
              </a:rPr>
              <a:t>&gt;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设</a:t>
            </a:r>
            <a:r>
              <a:rPr lang="en-US" altLang="zh-CN" dirty="0"/>
              <a:t>R</a:t>
            </a:r>
            <a:r>
              <a:rPr lang="zh-CN" altLang="en-US" dirty="0"/>
              <a:t>实数集，</a:t>
            </a:r>
            <a:r>
              <a:rPr lang="en-US" altLang="zh-CN" dirty="0"/>
              <a:t>I</a:t>
            </a:r>
            <a:r>
              <a:rPr lang="zh-CN" altLang="en-US" dirty="0"/>
              <a:t>整数集， ＋</a:t>
            </a:r>
            <a:r>
              <a:rPr lang="en-US" altLang="zh-CN" dirty="0"/>
              <a:t>,×</a:t>
            </a:r>
            <a:r>
              <a:rPr lang="zh-CN" altLang="en-US" dirty="0"/>
              <a:t>分别是实数加 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运算与乘运算。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半群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P(A),∩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en-US" dirty="0">
                <a:latin typeface="宋体" pitchFamily="2" charset="-122"/>
              </a:rPr>
              <a:t>与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P(A),∪</a:t>
            </a:r>
            <a:r>
              <a:rPr lang="en-US" altLang="zh-CN" dirty="0">
                <a:latin typeface="宋体" pitchFamily="2" charset="-122"/>
              </a:rPr>
              <a:t>&gt;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P(A)</a:t>
            </a:r>
            <a:r>
              <a:rPr lang="zh-CN" altLang="en-US" dirty="0"/>
              <a:t>是有限集</a:t>
            </a:r>
            <a:r>
              <a:rPr lang="en-US" altLang="zh-CN" dirty="0"/>
              <a:t>A</a:t>
            </a:r>
            <a:r>
              <a:rPr lang="zh-CN" altLang="en-US" dirty="0"/>
              <a:t>的幂集，∩</a:t>
            </a:r>
            <a:r>
              <a:rPr lang="en-US" altLang="zh-CN" dirty="0"/>
              <a:t>,∪</a:t>
            </a:r>
            <a:r>
              <a:rPr lang="zh-CN" altLang="en-US" dirty="0"/>
              <a:t>分别是集合的交运算与并运算。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221084D5-5427-77F4-D824-33B420658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5.1.4 </a:t>
            </a:r>
            <a:r>
              <a:rPr lang="zh-CN" altLang="en-US" sz="5400"/>
              <a:t>半群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A762694E-D0E2-FFC3-FC4A-52C74B928E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53425" cy="4724400"/>
          </a:xfrm>
        </p:spPr>
        <p:txBody>
          <a:bodyPr/>
          <a:lstStyle/>
          <a:p>
            <a:pPr eaLnBrk="1" hangingPunct="1">
              <a:lnSpc>
                <a:spcPct val="30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5.1.1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/>
              <a:t>A,</a:t>
            </a:r>
            <a:r>
              <a:rPr lang="en-US" altLang="en-US" dirty="0"/>
              <a:t>＊</a:t>
            </a:r>
            <a:r>
              <a:rPr lang="en-US" altLang="zh-CN" dirty="0">
                <a:latin typeface="宋体" panose="02010600030101010101" pitchFamily="2" charset="-122"/>
              </a:rPr>
              <a:t>&gt;</a:t>
            </a:r>
            <a:r>
              <a:rPr lang="zh-CN" altLang="en-US" dirty="0"/>
              <a:t>是半群，如果</a:t>
            </a:r>
            <a:r>
              <a:rPr lang="en-US" altLang="zh-CN" dirty="0"/>
              <a:t>A</a:t>
            </a:r>
            <a:r>
              <a:rPr lang="zh-CN" altLang="en-US" dirty="0"/>
              <a:t>是有限集，则必有</a:t>
            </a:r>
            <a:r>
              <a:rPr lang="en-US" altLang="zh-CN" dirty="0" err="1"/>
              <a:t>a∈A</a:t>
            </a:r>
            <a:r>
              <a:rPr lang="zh-CN" altLang="en-US" dirty="0"/>
              <a:t>，使得</a:t>
            </a:r>
            <a:r>
              <a:rPr lang="en-US" altLang="zh-CN" dirty="0" err="1"/>
              <a:t>a</a:t>
            </a:r>
            <a:r>
              <a:rPr lang="en-US" altLang="en-US" dirty="0" err="1"/>
              <a:t>＊</a:t>
            </a:r>
            <a:r>
              <a:rPr lang="en-US" altLang="zh-CN" dirty="0" err="1"/>
              <a:t>a</a:t>
            </a:r>
            <a:r>
              <a:rPr lang="zh-CN" altLang="en-US" dirty="0"/>
              <a:t>＝</a:t>
            </a:r>
            <a:r>
              <a:rPr lang="en-US" altLang="zh-CN" dirty="0"/>
              <a:t>a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A4C880C-73BF-392D-252A-78343B7E6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5.1.4 </a:t>
            </a:r>
            <a:r>
              <a:rPr lang="zh-CN" altLang="en-US" sz="5400"/>
              <a:t>半群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F536E2D2-966B-145D-D547-4D6CEAF064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任意</a:t>
            </a:r>
            <a:r>
              <a:rPr lang="en-US" altLang="zh-CN" dirty="0" err="1"/>
              <a:t>b∈A</a:t>
            </a:r>
            <a:r>
              <a:rPr lang="zh-CN" altLang="en-US" dirty="0"/>
              <a:t>，则</a:t>
            </a:r>
            <a:r>
              <a:rPr lang="en-US" altLang="zh-CN" dirty="0"/>
              <a:t>b</a:t>
            </a:r>
            <a:r>
              <a:rPr lang="en-US" altLang="zh-CN" baseline="30000" dirty="0"/>
              <a:t>2</a:t>
            </a:r>
            <a:r>
              <a:rPr lang="en-US" altLang="zh-CN" dirty="0"/>
              <a:t>,b</a:t>
            </a:r>
            <a:r>
              <a:rPr lang="en-US" altLang="zh-CN" baseline="30000" dirty="0"/>
              <a:t>3</a:t>
            </a:r>
            <a:r>
              <a:rPr lang="en-US" altLang="zh-CN" dirty="0"/>
              <a:t>,b</a:t>
            </a:r>
            <a:r>
              <a:rPr lang="en-US" altLang="zh-CN" baseline="30000" dirty="0"/>
              <a:t>4</a:t>
            </a:r>
            <a:r>
              <a:rPr lang="en-US" altLang="zh-CN" dirty="0"/>
              <a:t>,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∈A</a:t>
            </a:r>
            <a:r>
              <a:rPr lang="zh-CN" altLang="en-US" dirty="0"/>
              <a:t>，</a:t>
            </a:r>
            <a:r>
              <a:rPr lang="zh-CN" altLang="en-US" dirty="0">
                <a:latin typeface="Arial" charset="0"/>
              </a:rPr>
              <a:t>故</a:t>
            </a:r>
            <a:r>
              <a:rPr lang="zh-CN" altLang="en-US" dirty="0"/>
              <a:t>存在正整数</a:t>
            </a:r>
            <a:r>
              <a:rPr lang="en-US" altLang="zh-CN" dirty="0"/>
              <a:t>j</a:t>
            </a:r>
            <a:r>
              <a:rPr lang="zh-CN" altLang="en-US" dirty="0"/>
              <a:t>＞</a:t>
            </a:r>
            <a:r>
              <a:rPr lang="en-US" altLang="zh-CN" dirty="0"/>
              <a:t>i</a:t>
            </a:r>
            <a:r>
              <a:rPr lang="zh-CN" altLang="en-US" dirty="0"/>
              <a:t>，使得</a:t>
            </a:r>
            <a:r>
              <a:rPr lang="en-US" altLang="zh-CN" dirty="0"/>
              <a:t>b</a:t>
            </a:r>
            <a:r>
              <a:rPr lang="en-US" altLang="zh-CN" baseline="30000" dirty="0"/>
              <a:t>i</a:t>
            </a:r>
            <a:r>
              <a:rPr lang="zh-CN" altLang="en-US" dirty="0"/>
              <a:t>＝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j</a:t>
            </a:r>
            <a:r>
              <a:rPr lang="zh-CN" altLang="en-US" dirty="0"/>
              <a:t>。令</a:t>
            </a:r>
            <a:r>
              <a:rPr lang="en-US" altLang="zh-CN" dirty="0"/>
              <a:t>p</a:t>
            </a:r>
            <a:r>
              <a:rPr lang="zh-CN" altLang="en-US" dirty="0"/>
              <a:t>＝</a:t>
            </a:r>
            <a:r>
              <a:rPr lang="en-US" altLang="zh-CN" dirty="0"/>
              <a:t>j</a:t>
            </a:r>
            <a:r>
              <a:rPr lang="zh-CN" altLang="en-US" dirty="0"/>
              <a:t>－</a:t>
            </a:r>
            <a:r>
              <a:rPr lang="en-US" altLang="zh-CN" dirty="0"/>
              <a:t>i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则</a:t>
            </a:r>
            <a:r>
              <a:rPr lang="en-US" altLang="zh-CN" dirty="0"/>
              <a:t>b</a:t>
            </a:r>
            <a:r>
              <a:rPr lang="en-US" altLang="zh-CN" baseline="30000" dirty="0"/>
              <a:t>i</a:t>
            </a:r>
            <a:r>
              <a:rPr lang="zh-CN" altLang="en-US" dirty="0"/>
              <a:t>＝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j</a:t>
            </a:r>
            <a:r>
              <a:rPr lang="zh-CN" altLang="en-US" dirty="0"/>
              <a:t>＝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p</a:t>
            </a:r>
            <a:r>
              <a:rPr lang="en-US" altLang="en-US" dirty="0" err="1"/>
              <a:t>＊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i</a:t>
            </a:r>
            <a:r>
              <a:rPr lang="zh-CN" altLang="en-US" dirty="0">
                <a:latin typeface="宋体" pitchFamily="2" charset="-122"/>
              </a:rPr>
              <a:t>，</a:t>
            </a:r>
            <a:r>
              <a:rPr lang="zh-CN" altLang="en-US" dirty="0"/>
              <a:t>从而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q</a:t>
            </a:r>
            <a:r>
              <a:rPr lang="zh-CN" altLang="en-US" dirty="0"/>
              <a:t>＝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p</a:t>
            </a:r>
            <a:r>
              <a:rPr lang="en-US" altLang="en-US" dirty="0" err="1"/>
              <a:t>＊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q</a:t>
            </a:r>
            <a:r>
              <a:rPr lang="en-US" altLang="zh-CN" dirty="0"/>
              <a:t>(</a:t>
            </a:r>
            <a:r>
              <a:rPr lang="en-US" altLang="zh-CN" dirty="0" err="1"/>
              <a:t>q≥i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又</a:t>
            </a:r>
            <a:r>
              <a:rPr lang="en-US" altLang="zh-CN" dirty="0"/>
              <a:t>p≥1</a:t>
            </a:r>
            <a:r>
              <a:rPr lang="zh-CN" altLang="en-US" dirty="0"/>
              <a:t>，故总可找到</a:t>
            </a:r>
            <a:r>
              <a:rPr lang="en-US" altLang="zh-CN" dirty="0"/>
              <a:t>k≥1</a:t>
            </a:r>
            <a:r>
              <a:rPr lang="zh-CN" altLang="en-US" dirty="0"/>
              <a:t>使</a:t>
            </a:r>
            <a:r>
              <a:rPr lang="en-US" altLang="zh-CN" dirty="0" err="1"/>
              <a:t>kp≥i</a:t>
            </a:r>
            <a:r>
              <a:rPr lang="zh-CN" altLang="en-US" dirty="0"/>
              <a:t>，于是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kp</a:t>
            </a:r>
            <a:r>
              <a:rPr lang="zh-CN" altLang="en-US" dirty="0"/>
              <a:t>＝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p</a:t>
            </a:r>
            <a:r>
              <a:rPr lang="en-US" altLang="en-US" dirty="0" err="1"/>
              <a:t>＊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kp</a:t>
            </a:r>
            <a:r>
              <a:rPr lang="en-US" altLang="zh-CN" dirty="0"/>
              <a:t> </a:t>
            </a:r>
            <a:r>
              <a:rPr lang="zh-CN" altLang="en-US" dirty="0"/>
              <a:t>＝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p</a:t>
            </a:r>
            <a:r>
              <a:rPr lang="en-US" altLang="en-US" dirty="0"/>
              <a:t>＊</a:t>
            </a:r>
            <a:r>
              <a:rPr lang="en-US" altLang="zh-CN" dirty="0"/>
              <a:t>(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p</a:t>
            </a:r>
            <a:r>
              <a:rPr lang="en-US" altLang="en-US" dirty="0" err="1"/>
              <a:t>＊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kp</a:t>
            </a:r>
            <a:r>
              <a:rPr lang="en-US" altLang="zh-CN" dirty="0"/>
              <a:t>) 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＝</a:t>
            </a:r>
            <a:r>
              <a:rPr lang="en-US" altLang="zh-CN" dirty="0"/>
              <a:t>b</a:t>
            </a:r>
            <a:r>
              <a:rPr lang="en-US" altLang="zh-CN" baseline="30000" dirty="0"/>
              <a:t>2p</a:t>
            </a:r>
            <a:r>
              <a:rPr lang="en-US" altLang="en-US" dirty="0"/>
              <a:t>＊</a:t>
            </a:r>
            <a:r>
              <a:rPr lang="en-US" altLang="zh-CN" dirty="0"/>
              <a:t>b</a:t>
            </a:r>
            <a:r>
              <a:rPr lang="en-US" altLang="zh-CN" baseline="30000" dirty="0"/>
              <a:t>kp</a:t>
            </a:r>
            <a:r>
              <a:rPr lang="zh-CN" altLang="en-US" dirty="0"/>
              <a:t>＝</a:t>
            </a:r>
            <a:r>
              <a:rPr lang="en-US" altLang="zh-CN" dirty="0"/>
              <a:t>b</a:t>
            </a:r>
            <a:r>
              <a:rPr lang="en-US" altLang="zh-CN" baseline="30000" dirty="0"/>
              <a:t>2p</a:t>
            </a:r>
            <a:r>
              <a:rPr lang="en-US" altLang="en-US" dirty="0"/>
              <a:t>＊</a:t>
            </a:r>
            <a:r>
              <a:rPr lang="en-US" altLang="zh-CN" dirty="0"/>
              <a:t>(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p</a:t>
            </a:r>
            <a:r>
              <a:rPr lang="en-US" altLang="en-US" dirty="0" err="1"/>
              <a:t>＊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kp</a:t>
            </a:r>
            <a:r>
              <a:rPr lang="en-US" altLang="zh-CN" dirty="0"/>
              <a:t>) 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＝   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     </a:t>
            </a:r>
            <a:r>
              <a:rPr lang="zh-CN" altLang="en-US" dirty="0"/>
              <a:t>＝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kp</a:t>
            </a:r>
            <a:r>
              <a:rPr lang="en-US" altLang="en-US" dirty="0" err="1"/>
              <a:t>＊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kp</a:t>
            </a:r>
            <a:endParaRPr lang="en-US" altLang="zh-CN" sz="2000" dirty="0"/>
          </a:p>
        </p:txBody>
      </p:sp>
      <p:sp>
        <p:nvSpPr>
          <p:cNvPr id="3" name="圆角矩形标注 2">
            <a:extLst>
              <a:ext uri="{FF2B5EF4-FFF2-40B4-BE49-F238E27FC236}">
                <a16:creationId xmlns:a16="http://schemas.microsoft.com/office/drawing/2014/main" id="{3DDCF028-C31C-E914-0056-128418140170}"/>
              </a:ext>
            </a:extLst>
          </p:cNvPr>
          <p:cNvSpPr/>
          <p:nvPr/>
        </p:nvSpPr>
        <p:spPr>
          <a:xfrm>
            <a:off x="6443663" y="5013325"/>
            <a:ext cx="2592387" cy="1728788"/>
          </a:xfrm>
          <a:prstGeom prst="wedgeRoundRectCallout">
            <a:avLst>
              <a:gd name="adj1" fmla="val -42291"/>
              <a:gd name="adj2" fmla="val -122179"/>
              <a:gd name="adj3" fmla="val 1666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800" dirty="0">
                <a:solidFill>
                  <a:srgbClr val="FF0000"/>
                </a:solidFill>
              </a:rPr>
              <a:t>b</a:t>
            </a:r>
            <a:r>
              <a:rPr lang="en-US" altLang="zh-CN" sz="2800" baseline="30000" dirty="0">
                <a:solidFill>
                  <a:srgbClr val="FF0000"/>
                </a:solidFill>
              </a:rPr>
              <a:t>i</a:t>
            </a:r>
            <a:r>
              <a:rPr lang="zh-CN" altLang="en-US" sz="2800" dirty="0">
                <a:solidFill>
                  <a:srgbClr val="FF0000"/>
                </a:solidFill>
              </a:rPr>
              <a:t>＝</a:t>
            </a:r>
            <a:r>
              <a:rPr lang="en-US" altLang="zh-CN" sz="2800" dirty="0" err="1">
                <a:solidFill>
                  <a:srgbClr val="FF0000"/>
                </a:solidFill>
              </a:rPr>
              <a:t>b</a:t>
            </a:r>
            <a:r>
              <a:rPr lang="en-US" altLang="zh-CN" sz="2800" baseline="30000" dirty="0" err="1">
                <a:solidFill>
                  <a:srgbClr val="FF0000"/>
                </a:solidFill>
              </a:rPr>
              <a:t>p</a:t>
            </a:r>
            <a:r>
              <a:rPr lang="en-US" altLang="en-US" sz="2800" dirty="0" err="1">
                <a:solidFill>
                  <a:srgbClr val="FF0000"/>
                </a:solidFill>
              </a:rPr>
              <a:t>＊</a:t>
            </a:r>
            <a:r>
              <a:rPr lang="en-US" altLang="zh-CN" sz="2800" dirty="0" err="1">
                <a:solidFill>
                  <a:srgbClr val="FF0000"/>
                </a:solidFill>
              </a:rPr>
              <a:t>b</a:t>
            </a:r>
            <a:r>
              <a:rPr lang="en-US" altLang="zh-CN" sz="2800" baseline="30000" dirty="0" err="1">
                <a:solidFill>
                  <a:srgbClr val="FF0000"/>
                </a:solidFill>
              </a:rPr>
              <a:t>i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algn="ctr" eaLnBrk="1" hangingPunct="1">
              <a:defRPr/>
            </a:pPr>
            <a:r>
              <a:rPr lang="en-US" altLang="zh-CN" sz="2800" dirty="0">
                <a:solidFill>
                  <a:srgbClr val="FF0000"/>
                </a:solidFill>
              </a:rPr>
              <a:t>b</a:t>
            </a:r>
            <a:r>
              <a:rPr lang="en-US" altLang="zh-CN" sz="2800" baseline="30000" dirty="0">
                <a:solidFill>
                  <a:srgbClr val="FF0000"/>
                </a:solidFill>
              </a:rPr>
              <a:t>i+1</a:t>
            </a:r>
            <a:r>
              <a:rPr lang="zh-CN" altLang="en-US" sz="2800" dirty="0">
                <a:solidFill>
                  <a:srgbClr val="FF0000"/>
                </a:solidFill>
              </a:rPr>
              <a:t>＝</a:t>
            </a:r>
            <a:r>
              <a:rPr lang="en-US" altLang="zh-CN" sz="2800" dirty="0">
                <a:solidFill>
                  <a:srgbClr val="FF0000"/>
                </a:solidFill>
              </a:rPr>
              <a:t>b</a:t>
            </a:r>
            <a:r>
              <a:rPr lang="en-US" altLang="zh-CN" sz="2800" baseline="30000" dirty="0">
                <a:solidFill>
                  <a:srgbClr val="FF0000"/>
                </a:solidFill>
              </a:rPr>
              <a:t>p</a:t>
            </a:r>
            <a:r>
              <a:rPr lang="en-US" altLang="en-US" sz="2800" dirty="0">
                <a:solidFill>
                  <a:srgbClr val="FF0000"/>
                </a:solidFill>
              </a:rPr>
              <a:t>＊</a:t>
            </a:r>
            <a:r>
              <a:rPr lang="en-US" altLang="zh-CN" sz="2800" dirty="0">
                <a:solidFill>
                  <a:srgbClr val="FF0000"/>
                </a:solidFill>
              </a:rPr>
              <a:t>b</a:t>
            </a:r>
            <a:r>
              <a:rPr lang="en-US" altLang="zh-CN" sz="2800" baseline="30000" dirty="0">
                <a:solidFill>
                  <a:srgbClr val="FF0000"/>
                </a:solidFill>
              </a:rPr>
              <a:t>i+1 </a:t>
            </a:r>
          </a:p>
          <a:p>
            <a:pPr algn="ctr" eaLnBrk="1" hangingPunct="1">
              <a:defRPr/>
            </a:pPr>
            <a:r>
              <a:rPr lang="en-US" altLang="zh-CN" sz="2800" dirty="0">
                <a:solidFill>
                  <a:srgbClr val="FF0000"/>
                </a:solidFill>
              </a:rPr>
              <a:t>b</a:t>
            </a:r>
            <a:r>
              <a:rPr lang="en-US" altLang="zh-CN" sz="2800" baseline="30000" dirty="0">
                <a:solidFill>
                  <a:srgbClr val="FF0000"/>
                </a:solidFill>
              </a:rPr>
              <a:t>i+2</a:t>
            </a:r>
            <a:r>
              <a:rPr lang="zh-CN" altLang="en-US" sz="2800" dirty="0">
                <a:solidFill>
                  <a:srgbClr val="FF0000"/>
                </a:solidFill>
              </a:rPr>
              <a:t>＝</a:t>
            </a:r>
            <a:r>
              <a:rPr lang="en-US" altLang="zh-CN" sz="2800" dirty="0">
                <a:solidFill>
                  <a:srgbClr val="FF0000"/>
                </a:solidFill>
              </a:rPr>
              <a:t>b</a:t>
            </a:r>
            <a:r>
              <a:rPr lang="en-US" altLang="zh-CN" sz="2800" baseline="30000" dirty="0">
                <a:solidFill>
                  <a:srgbClr val="FF0000"/>
                </a:solidFill>
              </a:rPr>
              <a:t>p</a:t>
            </a:r>
            <a:r>
              <a:rPr lang="en-US" altLang="en-US" sz="2800" dirty="0">
                <a:solidFill>
                  <a:srgbClr val="FF0000"/>
                </a:solidFill>
              </a:rPr>
              <a:t>＊</a:t>
            </a:r>
            <a:r>
              <a:rPr lang="en-US" altLang="zh-CN" sz="2800" dirty="0">
                <a:solidFill>
                  <a:srgbClr val="FF0000"/>
                </a:solidFill>
              </a:rPr>
              <a:t>b</a:t>
            </a:r>
            <a:r>
              <a:rPr lang="en-US" altLang="zh-CN" sz="2800" baseline="30000" dirty="0">
                <a:solidFill>
                  <a:srgbClr val="FF0000"/>
                </a:solidFill>
              </a:rPr>
              <a:t>i+2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453A63CD-BAF8-B077-3A3B-4120288EAB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5.1.4 </a:t>
            </a:r>
            <a:r>
              <a:rPr lang="zh-CN" altLang="en-US" sz="5400"/>
              <a:t>半群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780466F2-E872-47AC-F654-68BAA4356B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532812" cy="4840287"/>
          </a:xfrm>
        </p:spPr>
        <p:txBody>
          <a:bodyPr/>
          <a:lstStyle/>
          <a:p>
            <a:pPr eaLnBrk="1" hangingPunct="1">
              <a:lnSpc>
                <a:spcPct val="250000"/>
              </a:lnSpc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5.1.11 </a:t>
            </a:r>
            <a:r>
              <a:rPr lang="zh-CN" altLang="en-US">
                <a:solidFill>
                  <a:schemeClr val="hlink"/>
                </a:solidFill>
              </a:rPr>
              <a:t>  </a:t>
            </a:r>
            <a:r>
              <a:rPr lang="zh-CN" altLang="en-US"/>
              <a:t>设代数系统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A,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zh-CN" altLang="en-US"/>
              <a:t>如果存在</a:t>
            </a:r>
            <a:r>
              <a:rPr lang="en-US" altLang="zh-CN"/>
              <a:t>a∈A</a:t>
            </a:r>
            <a:r>
              <a:rPr lang="zh-CN" altLang="en-US"/>
              <a:t>，使</a:t>
            </a:r>
            <a:r>
              <a:rPr lang="en-US" altLang="zh-CN">
                <a:solidFill>
                  <a:schemeClr val="accent1"/>
                </a:solidFill>
              </a:rPr>
              <a:t>a</a:t>
            </a:r>
            <a:r>
              <a:rPr lang="en-US" altLang="en-US"/>
              <a:t>＊</a:t>
            </a:r>
            <a:r>
              <a:rPr lang="en-US" altLang="zh-CN">
                <a:solidFill>
                  <a:schemeClr val="accent1"/>
                </a:solidFill>
              </a:rPr>
              <a:t>a</a:t>
            </a:r>
            <a:r>
              <a:rPr lang="zh-CN" altLang="en-US">
                <a:solidFill>
                  <a:schemeClr val="accent1"/>
                </a:solidFill>
              </a:rPr>
              <a:t>＝</a:t>
            </a:r>
            <a:r>
              <a:rPr lang="en-US" altLang="zh-CN">
                <a:solidFill>
                  <a:schemeClr val="accent1"/>
                </a:solidFill>
              </a:rPr>
              <a:t>a</a:t>
            </a:r>
            <a:r>
              <a:rPr lang="zh-CN" altLang="en-US"/>
              <a:t>，则称</a:t>
            </a:r>
            <a:r>
              <a:rPr lang="en-US" altLang="zh-CN"/>
              <a:t>a</a:t>
            </a:r>
            <a:r>
              <a:rPr lang="zh-CN" altLang="en-US"/>
              <a:t>为</a:t>
            </a:r>
            <a:r>
              <a:rPr lang="en-US" altLang="zh-CN"/>
              <a:t>A</a:t>
            </a:r>
            <a:r>
              <a:rPr lang="zh-CN" altLang="en-US"/>
              <a:t>中关于</a:t>
            </a:r>
            <a:r>
              <a:rPr lang="en-US" altLang="en-US"/>
              <a:t>＊</a:t>
            </a:r>
            <a:r>
              <a:rPr lang="zh-CN" altLang="en-US"/>
              <a:t>运算的</a:t>
            </a:r>
            <a:r>
              <a:rPr lang="zh-CN" altLang="en-US" b="1">
                <a:solidFill>
                  <a:schemeClr val="hlink"/>
                </a:solidFill>
              </a:rPr>
              <a:t>幂等元</a:t>
            </a:r>
            <a:r>
              <a:rPr lang="zh-CN" altLang="en-US" b="1"/>
              <a:t>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>
            <a:extLst>
              <a:ext uri="{FF2B5EF4-FFF2-40B4-BE49-F238E27FC236}">
                <a16:creationId xmlns:a16="http://schemas.microsoft.com/office/drawing/2014/main" id="{48EDC523-6794-3E3A-4AF2-33025A02DB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dirty="0"/>
              <a:t>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689EB4-3844-C9DE-D124-4E52403F6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  <a:defRPr/>
            </a:pPr>
            <a:r>
              <a:rPr lang="en-US" altLang="zh-CN" dirty="0"/>
              <a:t>P130</a:t>
            </a:r>
            <a:r>
              <a:rPr lang="zh-CN" altLang="en-US" dirty="0"/>
              <a:t>  习题</a:t>
            </a:r>
            <a:r>
              <a:rPr lang="en-US" altLang="zh-CN" dirty="0"/>
              <a:t>5.1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99638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966A41D-C431-AEF6-D105-A8B36B56CEC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87624" y="2204864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4400" dirty="0"/>
              <a:t>习题</a:t>
            </a:r>
            <a:r>
              <a:rPr lang="en-US" altLang="zh-CN" sz="4400" dirty="0"/>
              <a:t>5.1   </a:t>
            </a:r>
            <a:r>
              <a:rPr lang="zh-CN" altLang="en-US" sz="4400" dirty="0"/>
              <a:t>第</a:t>
            </a:r>
            <a:r>
              <a:rPr lang="en-US" altLang="zh-CN" sz="4400" dirty="0"/>
              <a:t>2</a:t>
            </a:r>
            <a:r>
              <a:rPr lang="zh-CN" altLang="en-US" sz="4400" dirty="0"/>
              <a:t>题，第</a:t>
            </a:r>
            <a:r>
              <a:rPr lang="en-US" altLang="zh-CN" sz="4400" dirty="0"/>
              <a:t>3</a:t>
            </a:r>
            <a:r>
              <a:rPr lang="zh-CN" altLang="en-US" sz="4400" dirty="0"/>
              <a:t>题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ED62804-D039-185F-B125-D7BDE16E0BE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90B8A011-7531-5BA2-B7D7-6FCD5EFECD36}"/>
              </a:ext>
            </a:extLst>
          </p:cNvPr>
          <p:cNvSpPr txBox="1">
            <a:spLocks noChangeArrowheads="1"/>
          </p:cNvSpPr>
          <p:nvPr/>
        </p:nvSpPr>
        <p:spPr>
          <a:xfrm>
            <a:off x="1096963" y="698500"/>
            <a:ext cx="5075237" cy="146208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sz="5400" kern="0" dirty="0"/>
              <a:t>作业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A883CA3-4411-3B97-C700-3A636DAA2BA6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9DE5CA21-11F0-CE6F-E7D5-A76D3B8C7FA7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A3BD88C3-6564-306B-6331-09DB4F514CA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9442A2B1-74C3-A3C6-D275-5519FD1F6CBA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97C1895E-1B44-043B-B6A0-8C16C1DE545E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F1EC8148-9139-DFAD-D1AC-FBF4231B5768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656988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2447</TotalTime>
  <Words>2152</Words>
  <Application>Microsoft Office PowerPoint</Application>
  <PresentationFormat>全屏显示(4:3)</PresentationFormat>
  <Paragraphs>230</Paragraphs>
  <Slides>33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0" baseType="lpstr">
      <vt:lpstr>宋体</vt:lpstr>
      <vt:lpstr>Microsoft Yahei</vt:lpstr>
      <vt:lpstr>Arial</vt:lpstr>
      <vt:lpstr>Tahoma</vt:lpstr>
      <vt:lpstr>Wingdings</vt:lpstr>
      <vt:lpstr>Blends</vt:lpstr>
      <vt:lpstr>Equation</vt:lpstr>
      <vt:lpstr>第三篇   抽象代数</vt:lpstr>
      <vt:lpstr>第三篇     抽象代数</vt:lpstr>
      <vt:lpstr>第5章       群</vt:lpstr>
      <vt:lpstr>5.1 运算及其性质 </vt:lpstr>
      <vt:lpstr>5.1.1 n元运算的定义</vt:lpstr>
      <vt:lpstr>5.1.1 n元运算的定义</vt:lpstr>
      <vt:lpstr>5.1.1 n元运算的定义</vt:lpstr>
      <vt:lpstr>5.1.1 n元运算的定义</vt:lpstr>
      <vt:lpstr>5.1.1 n元运算的定义</vt:lpstr>
      <vt:lpstr>5.1.2 代数系统的概念</vt:lpstr>
      <vt:lpstr>5.1.2 代数系统的概念</vt:lpstr>
      <vt:lpstr>5.1.3 二元运算的性质</vt:lpstr>
      <vt:lpstr>5.1.3 二元运算的性质</vt:lpstr>
      <vt:lpstr>5.1.3 二元运算的性质</vt:lpstr>
      <vt:lpstr>5.1.3 二元运算的性质</vt:lpstr>
      <vt:lpstr>5.1.3 二元运算的性质</vt:lpstr>
      <vt:lpstr>5.1.3 二元运算的性质</vt:lpstr>
      <vt:lpstr>5.1.3 二元运算的性质</vt:lpstr>
      <vt:lpstr>5.1.3 二元运算的性质</vt:lpstr>
      <vt:lpstr>5.1.3 二元运算的性质</vt:lpstr>
      <vt:lpstr>5.1.3 二元运算的性质</vt:lpstr>
      <vt:lpstr>5.1.3 二元运算的性质</vt:lpstr>
      <vt:lpstr>5.1.3 二元运算的性质</vt:lpstr>
      <vt:lpstr>PowerPoint 演示文稿</vt:lpstr>
      <vt:lpstr>5.1.3 二元运算的性质</vt:lpstr>
      <vt:lpstr>5.1.3 二元运算的性质</vt:lpstr>
      <vt:lpstr>5.1.4 半群</vt:lpstr>
      <vt:lpstr>5.1.4 半群</vt:lpstr>
      <vt:lpstr>5.1.4 半群</vt:lpstr>
      <vt:lpstr>5.1.4 半群</vt:lpstr>
      <vt:lpstr>5.1.4 半群</vt:lpstr>
      <vt:lpstr>习题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LENOVO</cp:lastModifiedBy>
  <cp:revision>91</cp:revision>
  <dcterms:created xsi:type="dcterms:W3CDTF">2010-04-09T13:44:14Z</dcterms:created>
  <dcterms:modified xsi:type="dcterms:W3CDTF">2023-12-21T07:46:17Z</dcterms:modified>
</cp:coreProperties>
</file>