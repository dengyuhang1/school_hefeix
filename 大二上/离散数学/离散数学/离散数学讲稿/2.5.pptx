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50" r:id="rId2"/>
    <p:sldId id="352" r:id="rId3"/>
    <p:sldId id="354" r:id="rId4"/>
    <p:sldId id="321" r:id="rId5"/>
    <p:sldId id="376" r:id="rId6"/>
    <p:sldId id="378" r:id="rId7"/>
    <p:sldId id="326" r:id="rId8"/>
    <p:sldId id="356" r:id="rId9"/>
    <p:sldId id="327" r:id="rId10"/>
    <p:sldId id="328" r:id="rId11"/>
    <p:sldId id="343" r:id="rId12"/>
    <p:sldId id="329" r:id="rId13"/>
    <p:sldId id="330" r:id="rId14"/>
    <p:sldId id="344" r:id="rId15"/>
    <p:sldId id="377" r:id="rId16"/>
    <p:sldId id="379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Char char="n"/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00FF"/>
    <a:srgbClr val="FF0066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64" d="100"/>
          <a:sy n="64" d="100"/>
        </p:scale>
        <p:origin x="73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0F035D-516D-DC42-89B3-183951A9F04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5123C69-422F-61D9-860A-718871D385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40013DE7-4710-8EB9-5CBA-FFEDED35A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AC596AD0-86E8-A5D8-B8F2-AC20662A1A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F740C7D-1AD8-1645-83E8-256D0AD3B8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7BD7089-B701-B8D8-E18C-1200FF941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F6818FE-79C5-28EC-78D7-AF7BF9598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3E0AC2F-5650-D134-46C2-4633C84D5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4295EDD-2FF8-C099-5F6C-CBF73D4CE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A5E53375-E0B9-F986-108E-C568675A60E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CC2C81C-0E2D-6222-ADAD-BF930CE975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E2A4BE58-1087-F560-832E-4CDD5D9930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ABC5D2A-F0CD-75BB-26D6-EB216B8581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C38E5BA-FAB9-4ADC-B189-871B21DADE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529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7BA0498-C8A6-61FE-8B32-5CA7DE8A9D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B957125-3830-44BA-2509-39C7B6780E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539AC2-C41B-C40E-EE08-264D3EE6E3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D70B81-CF8C-4428-9161-6EAF4931A7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49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8F2037B-D248-55E1-AD1A-5B8FD390E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5C11085-AB91-CF78-8665-6ED04C5546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DD07281-06B0-AEA1-DEB1-2B1691F56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13C452-65AA-4D9A-80BA-58DA422D49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52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D371713-B0C4-F323-FDB3-E5D952791E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00AB1B0-C8DC-E3B4-5F29-39DB48FD4C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45931F4-C418-779E-E37A-0F7D41EC1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F9288-25EC-4EB2-BEE3-490DE0C8B5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97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AFCB26C-1E2E-6540-5843-9267EFCA3B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FC2BBB8-41EE-66B3-5BE1-65BE2F43D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1EF84C0-AEB1-89F1-2C57-25494A3EC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63787-FA43-4330-9DB9-36BD9E615E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101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B552081-E25C-4203-86F9-AFBDBC0147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66BFE5-0A0C-196A-D9ED-7126B49B0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AA34DD9-2F6D-DF0C-13A7-AE48CBC39F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8DA3C-10BC-4CDC-8F12-BBEBF72C16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74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F5DCBB9-835C-6B50-A392-25E4DD5966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9C8B260-C516-1A07-91E1-0D02D86360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115FAED-8255-7349-85F1-BD4A6FC8F0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F00888-5068-4170-A8B8-2B2EC9C888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78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A9B58BB-49EE-4F45-E462-3342CF3A9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113D6D7-C7B9-BBC1-D746-8DD97FA213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8D19357-A5D3-041E-4B62-626CF889B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6C6011-142E-48B7-8E66-A612226E29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927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85BB98C-CD8D-EDB2-A76B-A79CAF496D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3130A1B-5099-1FF2-4016-D031092F3C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A6F14B8-420E-CE48-D6BD-D2CDBD45E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5A5BBC-CBA6-4171-B0A3-FAE65EC7A2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393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1927841-AC04-583C-68E1-CAE7A1D3E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0AD0726-B6E3-9D9B-98D0-9C94136A7D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AD8F2F3-97E3-CFA2-39A9-CA7145F32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26A756-8671-4A6D-9B3B-D41CAB244E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335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58606FC-3C17-2B75-1A8D-95DD34BC9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6E728BE-7718-E8B9-A6E3-9EEDE0D0ED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4C4E151-0FEA-26DB-0E6F-55F3F6F33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C8CBD1-51B8-4CE9-93A3-B58FBC278A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9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1A179DA-1356-70FF-D64C-2319E741F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8C2E013-0576-A9E0-3B52-E8A6DEA7F7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BC512F9-9C03-7503-3887-3260B60205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D305F-BD4E-414E-935E-7ACBEF394B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00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E2E81F4-5125-C94C-3494-77EC37261E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C57800-6196-F11C-32C0-7A90A35D11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A41142D-E07E-59EE-48FC-51A4283751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7076F83-4781-C3DB-C161-24F7401C71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2787E9-F829-ADB0-ACCC-C6D2A20EDB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D79E38F-CAE4-C2EF-E48D-C398BE3DF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B9342F8-6B01-D0E1-3C1A-CF9475D2212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A80BDD5-3AB3-06A1-5537-F791FD6E3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6F0C733D-7585-69E4-018F-FA4A52A61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AAF7D72-586F-D81E-641E-3E4A9CEFE2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7C46443D-43DB-8897-87B6-5039408866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8934AE62-498D-29CF-DBBB-125F3C9A2B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fld id="{BE106808-2646-43E0-997A-1C9983FEFBA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9" r:id="rId1"/>
    <p:sldLayoutId id="2147484218" r:id="rId2"/>
    <p:sldLayoutId id="2147484219" r:id="rId3"/>
    <p:sldLayoutId id="2147484220" r:id="rId4"/>
    <p:sldLayoutId id="2147484221" r:id="rId5"/>
    <p:sldLayoutId id="2147484222" r:id="rId6"/>
    <p:sldLayoutId id="2147484223" r:id="rId7"/>
    <p:sldLayoutId id="2147484224" r:id="rId8"/>
    <p:sldLayoutId id="2147484225" r:id="rId9"/>
    <p:sldLayoutId id="2147484226" r:id="rId10"/>
    <p:sldLayoutId id="2147484227" r:id="rId11"/>
    <p:sldLayoutId id="214748422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1.tmp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1.tmp"/><Relationship Id="rId5" Type="http://schemas.openxmlformats.org/officeDocument/2006/relationships/tags" Target="../tags/tag3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1BCA8D-72E2-E49B-8FCD-5C002D00A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F23970A-4790-651D-DDE2-8727307C2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2300" y="1844675"/>
            <a:ext cx="8521700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  <a:sym typeface="Symbol" pitchFamily="18" charset="2"/>
              </a:rPr>
              <a:t>命题推理</a:t>
            </a: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        前提                      有效结论</a:t>
            </a: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  </a:t>
            </a:r>
            <a:r>
              <a:rPr lang="zh-CN" altLang="en-US" dirty="0">
                <a:sym typeface="Symbol" pitchFamily="18" charset="2"/>
              </a:rPr>
              <a:t>前提                       有效结论</a:t>
            </a:r>
            <a:endParaRPr lang="en-US" altLang="zh-CN" b="1" dirty="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谓词推理</a:t>
            </a:r>
            <a:r>
              <a:rPr lang="en-US" altLang="zh-CN" b="1" dirty="0">
                <a:solidFill>
                  <a:srgbClr val="FF0000"/>
                </a:solidFill>
              </a:rPr>
              <a:t>      </a:t>
            </a:r>
            <a:endParaRPr lang="zh-CN" alt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</a:t>
            </a:r>
          </a:p>
        </p:txBody>
      </p:sp>
      <p:cxnSp>
        <p:nvCxnSpPr>
          <p:cNvPr id="76804" name="直接箭头连接符 6">
            <a:extLst>
              <a:ext uri="{FF2B5EF4-FFF2-40B4-BE49-F238E27FC236}">
                <a16:creationId xmlns:a16="http://schemas.microsoft.com/office/drawing/2014/main" id="{94FA53BB-72DE-DE94-644C-8D4D66A1259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059113" y="3357563"/>
            <a:ext cx="2449512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05" name="Text Box 16">
            <a:extLst>
              <a:ext uri="{FF2B5EF4-FFF2-40B4-BE49-F238E27FC236}">
                <a16:creationId xmlns:a16="http://schemas.microsoft.com/office/drawing/2014/main" id="{0D573FB6-9199-590A-BC7F-BFDC108FA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600" y="3421063"/>
            <a:ext cx="16732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B050"/>
                </a:solidFill>
              </a:rPr>
              <a:t>P,T,CP</a:t>
            </a:r>
            <a:r>
              <a:rPr lang="zh-CN" altLang="en-US">
                <a:solidFill>
                  <a:srgbClr val="00B050"/>
                </a:solidFill>
              </a:rPr>
              <a:t>等</a:t>
            </a:r>
          </a:p>
        </p:txBody>
      </p:sp>
      <p:sp>
        <p:nvSpPr>
          <p:cNvPr id="76806" name="Text Box 16">
            <a:extLst>
              <a:ext uri="{FF2B5EF4-FFF2-40B4-BE49-F238E27FC236}">
                <a16:creationId xmlns:a16="http://schemas.microsoft.com/office/drawing/2014/main" id="{5BA55834-AA17-EB83-C404-5F87E3460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4860925"/>
            <a:ext cx="25590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B050"/>
                </a:solidFill>
              </a:rPr>
              <a:t>US,ES,UG,EG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76807" name="Text Box 16">
            <a:extLst>
              <a:ext uri="{FF2B5EF4-FFF2-40B4-BE49-F238E27FC236}">
                <a16:creationId xmlns:a16="http://schemas.microsoft.com/office/drawing/2014/main" id="{4D9FDE03-7C27-4A16-40D7-E3657A471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2771775"/>
            <a:ext cx="1133475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规 则</a:t>
            </a:r>
          </a:p>
        </p:txBody>
      </p:sp>
      <p:sp>
        <p:nvSpPr>
          <p:cNvPr id="76808" name="Text Box 16">
            <a:extLst>
              <a:ext uri="{FF2B5EF4-FFF2-40B4-BE49-F238E27FC236}">
                <a16:creationId xmlns:a16="http://schemas.microsoft.com/office/drawing/2014/main" id="{7EABC740-8777-D203-4C77-955B42529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4078288"/>
            <a:ext cx="5207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>
                <a:solidFill>
                  <a:srgbClr val="FF00FF"/>
                </a:solidFill>
              </a:rPr>
              <a:t>+</a:t>
            </a:r>
            <a:endParaRPr lang="zh-CN" altLang="en-US" sz="3600">
              <a:solidFill>
                <a:srgbClr val="FF00FF"/>
              </a:solidFill>
            </a:endParaRPr>
          </a:p>
        </p:txBody>
      </p:sp>
      <p:cxnSp>
        <p:nvCxnSpPr>
          <p:cNvPr id="76809" name="直接箭头连接符 18">
            <a:extLst>
              <a:ext uri="{FF2B5EF4-FFF2-40B4-BE49-F238E27FC236}">
                <a16:creationId xmlns:a16="http://schemas.microsoft.com/office/drawing/2014/main" id="{C05A913E-C46C-B303-D871-796D1572AE4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32138" y="5445125"/>
            <a:ext cx="2447925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810" name="直接箭头连接符 19">
            <a:extLst>
              <a:ext uri="{FF2B5EF4-FFF2-40B4-BE49-F238E27FC236}">
                <a16:creationId xmlns:a16="http://schemas.microsoft.com/office/drawing/2014/main" id="{4B528EE1-3969-5F79-ACE2-2C820E3DD66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79613" y="4292600"/>
            <a:ext cx="0" cy="17287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48635D4D-52CF-A439-08A5-12119AA97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0E7658A-2ACC-93BB-D8CE-1F4B7299E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844675"/>
            <a:ext cx="8523287" cy="48974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全称指定规则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US</a:t>
            </a:r>
            <a:r>
              <a:rPr lang="zh-CN" altLang="en-US" b="1" dirty="0">
                <a:solidFill>
                  <a:schemeClr val="accent1"/>
                </a:solidFill>
              </a:rPr>
              <a:t>规则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  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P(x)       x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任意</a:t>
            </a:r>
            <a:r>
              <a:rPr lang="zh-CN" altLang="en-US" dirty="0"/>
              <a:t>个体变量</a:t>
            </a:r>
            <a:r>
              <a:rPr lang="en-US" altLang="zh-CN" dirty="0" err="1"/>
              <a:t>a,b,c</a:t>
            </a:r>
            <a:r>
              <a:rPr lang="en-US" altLang="zh-CN" dirty="0"/>
              <a:t>…</a:t>
            </a:r>
            <a:r>
              <a:rPr lang="zh-CN" altLang="en-US" dirty="0"/>
              <a:t>         </a:t>
            </a:r>
            <a:endParaRPr lang="zh-CN" altLang="en-US" b="1" dirty="0"/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存在指定规则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ES</a:t>
            </a:r>
            <a:r>
              <a:rPr lang="zh-CN" altLang="en-US" b="1" dirty="0">
                <a:solidFill>
                  <a:schemeClr val="accent1"/>
                </a:solidFill>
              </a:rPr>
              <a:t>规则</a:t>
            </a:r>
            <a:r>
              <a:rPr lang="en-US" altLang="zh-CN" dirty="0"/>
              <a:t>)</a:t>
            </a:r>
            <a:endParaRPr lang="en-US" altLang="zh-CN" dirty="0">
              <a:sym typeface="Symbol" pitchFamily="18" charset="2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</a:t>
            </a:r>
            <a:r>
              <a:rPr lang="en-US" altLang="zh-CN" dirty="0" err="1"/>
              <a:t>xP</a:t>
            </a:r>
            <a:r>
              <a:rPr lang="en-US" altLang="zh-CN" dirty="0"/>
              <a:t>(x)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P(a)       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CC0066"/>
                </a:solidFill>
              </a:rPr>
              <a:t>特定</a:t>
            </a:r>
            <a:r>
              <a:rPr lang="zh-CN" altLang="en-US" dirty="0"/>
              <a:t>个体常量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注意：</a:t>
            </a:r>
            <a:r>
              <a:rPr lang="en-US" altLang="zh-CN" dirty="0"/>
              <a:t>P(x)</a:t>
            </a:r>
            <a:r>
              <a:rPr lang="zh-CN" altLang="en-US" dirty="0"/>
              <a:t>中无其他自由变元</a:t>
            </a:r>
            <a:endParaRPr lang="en-US" altLang="zh-CN" dirty="0"/>
          </a:p>
          <a:p>
            <a:pPr marL="0" indent="0" eaLnBrk="1" hangingPunct="1">
              <a:lnSpc>
                <a:spcPct val="19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273A332-2820-E228-88FF-046B58AE2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8A1480-ECE0-72EE-93E5-B413F78A3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844675"/>
            <a:ext cx="8523287" cy="48974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全称推广规则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UG</a:t>
            </a:r>
            <a:r>
              <a:rPr lang="zh-CN" altLang="en-US" b="1" dirty="0">
                <a:solidFill>
                  <a:schemeClr val="accent1"/>
                </a:solidFill>
              </a:rPr>
              <a:t>规则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P(x)</a:t>
            </a:r>
            <a:r>
              <a:rPr lang="en-US" altLang="zh-CN" dirty="0">
                <a:sym typeface="Symbol" pitchFamily="18" charset="2"/>
              </a:rPr>
              <a:t></a:t>
            </a:r>
            <a:r>
              <a:rPr lang="en-US" altLang="zh-CN" dirty="0" err="1"/>
              <a:t>xP</a:t>
            </a:r>
            <a:r>
              <a:rPr lang="en-US" altLang="zh-CN" dirty="0"/>
              <a:t>(x)     x</a:t>
            </a:r>
            <a:r>
              <a:rPr lang="zh-CN" altLang="en-US" dirty="0"/>
              <a:t>为个体变量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存在推广规则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EG</a:t>
            </a:r>
            <a:r>
              <a:rPr lang="zh-CN" altLang="en-US" b="1" dirty="0">
                <a:solidFill>
                  <a:schemeClr val="accent1"/>
                </a:solidFill>
              </a:rPr>
              <a:t>规则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P(a)</a:t>
            </a:r>
            <a:r>
              <a:rPr lang="en-US" altLang="zh-CN" dirty="0">
                <a:sym typeface="Symbol" pitchFamily="18" charset="2"/>
              </a:rPr>
              <a:t></a:t>
            </a:r>
            <a:r>
              <a:rPr lang="en-US" altLang="zh-CN" dirty="0" err="1"/>
              <a:t>xP</a:t>
            </a:r>
            <a:r>
              <a:rPr lang="en-US" altLang="zh-CN" dirty="0"/>
              <a:t>(x)      a</a:t>
            </a:r>
            <a:r>
              <a:rPr lang="zh-CN" altLang="en-US" dirty="0"/>
              <a:t>为个体常量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注意：</a:t>
            </a:r>
            <a:r>
              <a:rPr lang="en-US" altLang="zh-CN" dirty="0"/>
              <a:t>x</a:t>
            </a:r>
            <a:r>
              <a:rPr lang="zh-CN" altLang="en-US" dirty="0"/>
              <a:t>未在</a:t>
            </a:r>
            <a:r>
              <a:rPr lang="en-US" altLang="zh-CN" dirty="0"/>
              <a:t>P(a)</a:t>
            </a:r>
            <a:r>
              <a:rPr lang="zh-CN" altLang="en-US" dirty="0"/>
              <a:t>中出现过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CCDCAFEB-BA41-BB40-9DDA-79A8A0F8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67356E5-79F6-DD39-8F8C-B4A9DA323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2.5.0</a:t>
            </a:r>
            <a:r>
              <a:rPr lang="zh-CN" altLang="en-US" dirty="0"/>
              <a:t> 下列推理过程有误吗？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/>
              <a:t>(</a:t>
            </a:r>
            <a:r>
              <a:rPr lang="en-US" altLang="zh-CN" dirty="0" err="1"/>
              <a:t>x+y</a:t>
            </a:r>
            <a:r>
              <a:rPr lang="en-US" altLang="zh-CN" dirty="0"/>
              <a:t>=3)         P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dirty="0" err="1">
                <a:solidFill>
                  <a:srgbClr val="000000"/>
                </a:solidFill>
              </a:rPr>
              <a:t>x+y</a:t>
            </a:r>
            <a:r>
              <a:rPr lang="en-US" altLang="zh-CN" dirty="0">
                <a:solidFill>
                  <a:srgbClr val="000000"/>
                </a:solidFill>
              </a:rPr>
              <a:t>=3)             US(1)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 err="1">
                <a:solidFill>
                  <a:srgbClr val="FF0000"/>
                </a:solidFill>
              </a:rPr>
              <a:t>x+a</a:t>
            </a:r>
            <a:r>
              <a:rPr lang="en-US" altLang="zh-CN" dirty="0">
                <a:solidFill>
                  <a:srgbClr val="FF0000"/>
                </a:solidFill>
              </a:rPr>
              <a:t>=3                   ES(2)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0000"/>
                </a:solidFill>
              </a:rPr>
              <a:t>x(</a:t>
            </a:r>
            <a:r>
              <a:rPr lang="en-US" altLang="zh-CN" dirty="0" err="1">
                <a:solidFill>
                  <a:srgbClr val="000000"/>
                </a:solidFill>
              </a:rPr>
              <a:t>x+a</a:t>
            </a:r>
            <a:r>
              <a:rPr lang="en-US" altLang="zh-CN" dirty="0">
                <a:solidFill>
                  <a:srgbClr val="000000"/>
                </a:solidFill>
              </a:rPr>
              <a:t>=3)</a:t>
            </a:r>
            <a:r>
              <a:rPr lang="en-US" altLang="zh-CN" dirty="0"/>
              <a:t>             UG(3)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0000"/>
                </a:solidFill>
              </a:rPr>
              <a:t>x(</a:t>
            </a:r>
            <a:r>
              <a:rPr lang="en-US" altLang="zh-CN" dirty="0" err="1">
                <a:solidFill>
                  <a:srgbClr val="000000"/>
                </a:solidFill>
              </a:rPr>
              <a:t>x+y</a:t>
            </a:r>
            <a:r>
              <a:rPr lang="en-US" altLang="zh-CN" dirty="0">
                <a:solidFill>
                  <a:srgbClr val="000000"/>
                </a:solidFill>
              </a:rPr>
              <a:t>=3)          </a:t>
            </a:r>
            <a:r>
              <a:rPr lang="en-US" altLang="zh-CN" dirty="0"/>
              <a:t>EG(4)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CCDCAFEB-BA41-BB40-9DDA-79A8A0F8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67356E5-79F6-DD39-8F8C-B4A9DA323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2.5.1</a:t>
            </a:r>
            <a:r>
              <a:rPr lang="zh-CN" altLang="en-US" dirty="0"/>
              <a:t> 下列推理过程中的注意事项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zh-CN" altLang="en-US" sz="28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）┐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(P(x)∧Q(a))         P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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zh-CN" altLang="en-US" sz="2400" dirty="0"/>
              <a:t> ┐</a:t>
            </a:r>
            <a:r>
              <a:rPr lang="en-US" altLang="zh-CN" sz="2400" dirty="0"/>
              <a:t>(P(x)∧Q(a))</a:t>
            </a:r>
            <a:r>
              <a:rPr lang="en-US" altLang="zh-CN" sz="2400" dirty="0">
                <a:solidFill>
                  <a:srgbClr val="000000"/>
                </a:solidFill>
              </a:rPr>
              <a:t>   T(1),E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    （</a:t>
            </a:r>
            <a:r>
              <a:rPr lang="en-US" altLang="zh-CN" sz="2400" dirty="0"/>
              <a:t>3</a:t>
            </a:r>
            <a:r>
              <a:rPr lang="zh-CN" altLang="en-US" sz="2400" dirty="0"/>
              <a:t>） 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/>
              <a:t>P</a:t>
            </a:r>
            <a:r>
              <a:rPr lang="en-US" altLang="zh-CN" sz="2400" dirty="0"/>
              <a:t>(x)                   P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P(b)</a:t>
            </a:r>
            <a:r>
              <a:rPr lang="en-US" altLang="zh-CN" sz="2400" dirty="0">
                <a:solidFill>
                  <a:srgbClr val="FF0000"/>
                </a:solidFill>
              </a:rPr>
              <a:t>                       ES(3)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(5) </a:t>
            </a:r>
            <a:r>
              <a:rPr lang="zh-CN" altLang="en-US" sz="2400" dirty="0">
                <a:solidFill>
                  <a:srgbClr val="FF0000"/>
                </a:solidFill>
              </a:rPr>
              <a:t>┐</a:t>
            </a:r>
            <a:r>
              <a:rPr lang="en-US" altLang="zh-CN" sz="2400" dirty="0">
                <a:solidFill>
                  <a:srgbClr val="FF0000"/>
                </a:solidFill>
              </a:rPr>
              <a:t>(P(b)∧Q(a))            US(2)</a:t>
            </a:r>
            <a:br>
              <a:rPr lang="en-US" altLang="zh-CN" sz="2400" dirty="0">
                <a:solidFill>
                  <a:srgbClr val="FF0000"/>
                </a:solidFill>
              </a:rPr>
            </a:br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 ┐</a:t>
            </a:r>
            <a:r>
              <a:rPr lang="en-US" altLang="zh-CN" sz="2400" dirty="0"/>
              <a:t>P(b) ∨ Q(a)          EG(4)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</a:t>
            </a:r>
            <a:r>
              <a:rPr lang="en-US" altLang="zh-CN" sz="2400" dirty="0"/>
              <a:t> </a:t>
            </a:r>
            <a:r>
              <a:rPr lang="zh-CN" altLang="en-US" sz="2400" dirty="0"/>
              <a:t>┐ </a:t>
            </a:r>
            <a:r>
              <a:rPr lang="en-US" altLang="zh-CN" sz="2400" dirty="0"/>
              <a:t>Q(a)                   T(4)</a:t>
            </a:r>
            <a:r>
              <a:rPr lang="zh-CN" altLang="en-US" sz="2400" dirty="0"/>
              <a:t>合取</a:t>
            </a:r>
            <a:r>
              <a:rPr lang="en-US" altLang="zh-CN" sz="2400" dirty="0"/>
              <a:t>(6),I</a:t>
            </a:r>
          </a:p>
        </p:txBody>
      </p:sp>
    </p:spTree>
    <p:extLst>
      <p:ext uri="{BB962C8B-B14F-4D97-AF65-F5344CB8AC3E}">
        <p14:creationId xmlns:p14="http://schemas.microsoft.com/office/powerpoint/2010/main" val="210337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5EC1333-A541-FD32-1933-6B83B870335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下列蕴含式中，（    ）不成立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D38CE-4B33-7F28-C391-C747ECA9CCD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yP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x,y,z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)=&gt;</a:t>
            </a:r>
            <a:r>
              <a:rPr lang="en-US" altLang="zh-CN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yP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(6,y,z)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24F78C-58EC-D899-1473-010E1419513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yP(x,y,z)=&gt;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yP(6,y,z)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7289D2-65F8-C3A4-72ED-38286BA8982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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yP(x,y,z)=&gt;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yP(x,y,z)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D8112-E37B-AAFA-DB00-2EC9B512D16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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yP(x,y,6)=&gt;</a:t>
            </a:r>
            <a:r>
              <a:rPr lang="zh-CN" altLang="en-US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z</a:t>
            </a:r>
            <a:r>
              <a:rPr lang="zh-CN" altLang="en-US" sz="2400" dirty="0">
                <a:sym typeface="Symbol" panose="05050102010706020507" pitchFamily="18" charset="2"/>
              </a:rPr>
              <a:t>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  </a:t>
            </a:r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yP(x,y,z)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6E389F-C941-65FE-56A5-91DC38B25E6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857640B-6263-F94D-0E0C-2C552FF46F0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4459D3-7F5C-5C11-9B9B-D729C4A6AB2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F817107-467D-3FBB-E09C-0C029299796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051697A-397D-E463-40D2-65C440D06C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80724E1-48AF-B507-1010-1985A73BB33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7D0482D-2AA8-D4BB-4E32-C0856E004A1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C30DAA7-D289-469D-370B-2B5860BCF9B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A2559E7-1EB2-C835-B6E1-9F5ECEBD22B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3ED8B4E-7AEA-C20A-62BC-76599FCF06B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65E4EA4-AA42-3E4E-C67F-807F9C496F6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696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2996DF7-5EF7-BD8F-21CC-698406736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7CD80D7-ACB9-D7C2-C3FC-27436B818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2.5.2</a:t>
            </a:r>
            <a:r>
              <a:rPr lang="en-US" altLang="zh-CN" sz="2800"/>
              <a:t> </a:t>
            </a:r>
            <a:r>
              <a:rPr lang="zh-CN" altLang="en-US" sz="2800"/>
              <a:t>证明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x(P(x)→Q(x)),</a:t>
            </a:r>
            <a:r>
              <a:rPr lang="en-US" altLang="zh-CN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x(Q(x)→R(x))</a:t>
            </a:r>
            <a:r>
              <a:rPr lang="en-US" altLang="zh-CN" sz="2800">
                <a:sym typeface="Symbol" panose="05050102010706020507" pitchFamily="18" charset="2"/>
              </a:rPr>
              <a:t></a:t>
            </a:r>
            <a:r>
              <a:rPr lang="en-US" altLang="zh-CN" sz="2800"/>
              <a:t>x(P(x)→R(x))</a:t>
            </a:r>
            <a:endParaRPr lang="en-US" altLang="zh-CN" sz="2800" b="1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</a:t>
            </a:r>
            <a:r>
              <a:rPr lang="zh-CN" altLang="en-US" sz="2800" b="1">
                <a:solidFill>
                  <a:schemeClr val="hlink"/>
                </a:solidFill>
              </a:rPr>
              <a:t>证明</a:t>
            </a:r>
            <a:endParaRPr lang="zh-CN" altLang="en-US" sz="2800">
              <a:solidFill>
                <a:schemeClr val="hlink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x(P(x)→Q(x))            P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x(Q(x)→R(x))            P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</a:t>
            </a:r>
            <a:r>
              <a:rPr lang="en-US" altLang="zh-CN" sz="2800"/>
              <a:t>P(x)→Q(x)                  US(1)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</a:t>
            </a:r>
            <a:r>
              <a:rPr lang="en-US" altLang="zh-CN" sz="2800"/>
              <a:t>Q(x)→R(x)                  US(2)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（</a:t>
            </a:r>
            <a:r>
              <a:rPr lang="en-US" altLang="zh-CN" sz="2800"/>
              <a:t>5</a:t>
            </a:r>
            <a:r>
              <a:rPr lang="zh-CN" altLang="en-US" sz="2800"/>
              <a:t>）</a:t>
            </a:r>
            <a:r>
              <a:rPr lang="en-US" altLang="zh-CN" sz="2800"/>
              <a:t>P(x)→R(x)                  T(3)</a:t>
            </a:r>
            <a:r>
              <a:rPr lang="zh-CN" altLang="en-US" sz="2800"/>
              <a:t>合取</a:t>
            </a:r>
            <a:r>
              <a:rPr lang="en-US" altLang="zh-CN" sz="2800"/>
              <a:t>(4)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（</a:t>
            </a:r>
            <a:r>
              <a:rPr lang="en-US" altLang="zh-CN" sz="2800"/>
              <a:t>6</a:t>
            </a:r>
            <a:r>
              <a:rPr lang="zh-CN" altLang="en-US" sz="2800"/>
              <a:t>）</a:t>
            </a:r>
            <a:r>
              <a:rPr lang="zh-CN" altLang="en-US" sz="2800">
                <a:sym typeface="Symbol" panose="05050102010706020507" pitchFamily="18" charset="2"/>
              </a:rPr>
              <a:t></a:t>
            </a:r>
            <a:r>
              <a:rPr lang="en-US" altLang="zh-CN" sz="2800"/>
              <a:t>x(P(x)→R(x))            UG(5)</a:t>
            </a:r>
          </a:p>
        </p:txBody>
      </p:sp>
    </p:spTree>
    <p:extLst>
      <p:ext uri="{BB962C8B-B14F-4D97-AF65-F5344CB8AC3E}">
        <p14:creationId xmlns:p14="http://schemas.microsoft.com/office/powerpoint/2010/main" val="124698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C7B33E0-661C-4E35-03E7-28D0B0FA6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9EC6307-163E-DB75-9C40-76BB0ACAE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2.5.1</a:t>
            </a:r>
            <a:r>
              <a:rPr lang="en-US" altLang="zh-CN" sz="2400" dirty="0"/>
              <a:t> </a:t>
            </a:r>
            <a:r>
              <a:rPr lang="zh-CN" altLang="en-US" sz="2400" dirty="0"/>
              <a:t>证明 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x(P(x)→┐Q(x)),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x(Q(x)∨R(x)),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x┐R</a:t>
            </a:r>
            <a:r>
              <a:rPr lang="en-US" altLang="zh-CN" sz="2400" dirty="0"/>
              <a:t>(x)</a:t>
            </a:r>
            <a:r>
              <a:rPr lang="en-US" altLang="zh-CN" sz="2400" dirty="0">
                <a:sym typeface="Symbol" panose="05050102010706020507" pitchFamily="18" charset="2"/>
              </a:rPr>
              <a:t></a:t>
            </a:r>
            <a:r>
              <a:rPr lang="en-US" altLang="zh-CN" sz="2400" dirty="0" err="1"/>
              <a:t>x┐P</a:t>
            </a:r>
            <a:r>
              <a:rPr lang="en-US" altLang="zh-CN" sz="2400" dirty="0"/>
              <a:t>(x)</a:t>
            </a:r>
            <a:endParaRPr lang="en-US" altLang="zh-CN" sz="2400" b="1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   </a:t>
            </a:r>
            <a:r>
              <a:rPr lang="zh-CN" altLang="en-US" sz="2400" dirty="0">
                <a:solidFill>
                  <a:schemeClr val="hlink"/>
                </a:solidFill>
              </a:rPr>
              <a:t>证明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x(P(x)→┐Q(x))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x(Q(x)∨R(x))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x┐R</a:t>
            </a:r>
            <a:r>
              <a:rPr lang="en-US" altLang="zh-CN" sz="2400" dirty="0"/>
              <a:t>(x)       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）┐</a:t>
            </a:r>
            <a:r>
              <a:rPr lang="en-US" altLang="zh-CN" sz="2400" dirty="0"/>
              <a:t>R(a)                              ES(3)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P(a)→┐Q(a)                    US(1)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</a:t>
            </a:r>
            <a:r>
              <a:rPr lang="en-US" altLang="zh-CN" sz="2400" dirty="0"/>
              <a:t>Q(a)∨R(a)                       US(2)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</a:t>
            </a:r>
            <a:r>
              <a:rPr lang="en-US" altLang="zh-CN" sz="2400" dirty="0"/>
              <a:t>Q(a)                                T(4)</a:t>
            </a:r>
            <a:r>
              <a:rPr lang="zh-CN" altLang="en-US" sz="2400" dirty="0"/>
              <a:t>合取</a:t>
            </a:r>
            <a:r>
              <a:rPr lang="en-US" altLang="zh-CN" sz="2400" dirty="0"/>
              <a:t>(6)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）┐</a:t>
            </a:r>
            <a:r>
              <a:rPr lang="en-US" altLang="zh-CN" sz="2400" dirty="0"/>
              <a:t>P(a)                             T(5)</a:t>
            </a:r>
            <a:r>
              <a:rPr lang="zh-CN" altLang="en-US" sz="2400" dirty="0"/>
              <a:t>合取</a:t>
            </a:r>
            <a:r>
              <a:rPr lang="en-US" altLang="zh-CN" sz="2400" dirty="0"/>
              <a:t>(7)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x┐P</a:t>
            </a:r>
            <a:r>
              <a:rPr lang="en-US" altLang="zh-CN" sz="2400" dirty="0"/>
              <a:t>(x)                          EG(8)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F044A09-0D78-6B75-E631-A44491848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888FF3EE-CADA-4B17-79B8-4122868B1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604250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2.5.3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x(P(x)∨Q(x))</a:t>
            </a:r>
            <a:r>
              <a:rPr lang="en-US" altLang="zh-CN" dirty="0">
                <a:sym typeface="Symbol" panose="05050102010706020507" pitchFamily="18" charset="2"/>
              </a:rPr>
              <a:t></a:t>
            </a:r>
            <a:r>
              <a:rPr lang="en-US" altLang="zh-CN" dirty="0" err="1"/>
              <a:t>xP</a:t>
            </a:r>
            <a:r>
              <a:rPr lang="en-US" altLang="zh-CN" dirty="0"/>
              <a:t>(x)∨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xQ</a:t>
            </a:r>
            <a:r>
              <a:rPr lang="en-US" altLang="zh-CN" dirty="0"/>
              <a:t>(x)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可证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x(P(x)∨Q(x))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 err="1">
                <a:solidFill>
                  <a:srgbClr val="FF00FF"/>
                </a:solidFill>
              </a:rPr>
              <a:t>xP</a:t>
            </a:r>
            <a:r>
              <a:rPr lang="en-US" altLang="zh-CN" dirty="0">
                <a:solidFill>
                  <a:srgbClr val="FF00FF"/>
                </a:solidFill>
              </a:rPr>
              <a:t>(x)</a:t>
            </a:r>
            <a:r>
              <a:rPr lang="en-US" altLang="zh-CN" dirty="0"/>
              <a:t>→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chemeClr val="accent1"/>
                </a:solidFill>
              </a:rPr>
              <a:t>xQ</a:t>
            </a:r>
            <a:r>
              <a:rPr lang="en-US" altLang="zh-CN" dirty="0">
                <a:solidFill>
                  <a:schemeClr val="accent1"/>
                </a:solidFill>
              </a:rPr>
              <a:t>(x)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zh-CN" altLang="en-US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 err="1">
                <a:solidFill>
                  <a:srgbClr val="FF00FF"/>
                </a:solidFill>
              </a:rPr>
              <a:t>xP</a:t>
            </a:r>
            <a:r>
              <a:rPr lang="en-US" altLang="zh-CN" dirty="0">
                <a:solidFill>
                  <a:srgbClr val="FF00FF"/>
                </a:solidFill>
              </a:rPr>
              <a:t>(x)</a:t>
            </a:r>
            <a:r>
              <a:rPr lang="en-US" altLang="zh-CN" dirty="0"/>
              <a:t>                     P(</a:t>
            </a:r>
            <a:r>
              <a:rPr lang="zh-CN" altLang="en-US" dirty="0">
                <a:solidFill>
                  <a:srgbClr val="CC0066"/>
                </a:solidFill>
              </a:rPr>
              <a:t>附加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x┐P</a:t>
            </a:r>
            <a:r>
              <a:rPr lang="en-US" altLang="zh-CN" dirty="0"/>
              <a:t>(x)                     T(1)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）┐</a:t>
            </a:r>
            <a:r>
              <a:rPr lang="en-US" altLang="zh-CN" dirty="0"/>
              <a:t>P(a)                         ES(2)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x(P(x)∨Q(x))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P(a)∨Q(a)                  US(4)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Q(a)                           T(3)</a:t>
            </a:r>
            <a:r>
              <a:rPr lang="zh-CN" altLang="en-US" dirty="0"/>
              <a:t>合取</a:t>
            </a:r>
            <a:r>
              <a:rPr lang="en-US" altLang="zh-CN" dirty="0"/>
              <a:t>(5)</a:t>
            </a:r>
            <a:r>
              <a:rPr lang="zh-CN" altLang="en-US" dirty="0"/>
              <a:t>，</a:t>
            </a:r>
            <a:r>
              <a:rPr lang="en-US" altLang="zh-CN" dirty="0"/>
              <a:t>I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1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 err="1">
                <a:solidFill>
                  <a:schemeClr val="accent1"/>
                </a:solidFill>
              </a:rPr>
              <a:t>xQ</a:t>
            </a:r>
            <a:r>
              <a:rPr lang="en-US" altLang="zh-CN" dirty="0">
                <a:solidFill>
                  <a:schemeClr val="accent1"/>
                </a:solidFill>
              </a:rPr>
              <a:t>(x)</a:t>
            </a:r>
            <a:r>
              <a:rPr lang="en-US" altLang="zh-CN" dirty="0"/>
              <a:t>                        EG(6)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E86F0F6E-0B8B-5975-6475-BE958508C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8EE07BB-AA10-45A6-8F80-71D603A69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92313"/>
            <a:ext cx="8343900" cy="4840287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2.5.4</a:t>
            </a:r>
            <a:r>
              <a:rPr lang="en-US" altLang="zh-CN" sz="2400" dirty="0"/>
              <a:t> </a:t>
            </a:r>
            <a:r>
              <a:rPr lang="zh-CN" altLang="en-US" sz="2400" dirty="0"/>
              <a:t>归谬法证 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xP</a:t>
            </a:r>
            <a:r>
              <a:rPr lang="en-US" altLang="zh-CN" sz="2400" dirty="0"/>
              <a:t>(x)→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xQ</a:t>
            </a:r>
            <a:r>
              <a:rPr lang="en-US" altLang="zh-CN" sz="2400" dirty="0"/>
              <a:t>(x)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chemeClr val="accent1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accent1"/>
                </a:solidFill>
              </a:rPr>
              <a:t>x(P(x)→Q(x))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>
                <a:solidFill>
                  <a:schemeClr val="hlink"/>
                </a:solidFill>
              </a:rPr>
              <a:t>证明</a:t>
            </a:r>
            <a:r>
              <a:rPr lang="zh-CN" altLang="en-US" sz="2400" b="1" dirty="0"/>
              <a:t> </a:t>
            </a:r>
            <a:endParaRPr lang="zh-CN" altLang="en-US" sz="24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olidFill>
                  <a:schemeClr val="accent1"/>
                </a:solidFill>
              </a:rPr>
              <a:t>┐</a:t>
            </a:r>
            <a:r>
              <a:rPr lang="zh-CN" altLang="en-US" sz="2400" dirty="0">
                <a:solidFill>
                  <a:schemeClr val="accent1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accent1"/>
                </a:solidFill>
              </a:rPr>
              <a:t>x(P(x)→Q(x))</a:t>
            </a:r>
            <a:r>
              <a:rPr lang="en-US" altLang="zh-CN" sz="2400" dirty="0"/>
              <a:t>           P(</a:t>
            </a:r>
            <a:r>
              <a:rPr lang="zh-CN" altLang="en-US" sz="2400" dirty="0">
                <a:solidFill>
                  <a:srgbClr val="CC0066"/>
                </a:solidFill>
              </a:rPr>
              <a:t>附加</a:t>
            </a:r>
            <a:r>
              <a:rPr lang="en-US" altLang="zh-CN" sz="2400" dirty="0"/>
              <a:t>)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x┐(P(x)→Q(x))            T(1)</a:t>
            </a:r>
            <a:r>
              <a:rPr lang="zh-CN" altLang="en-US" sz="2400" dirty="0"/>
              <a:t>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）┐</a:t>
            </a:r>
            <a:r>
              <a:rPr lang="en-US" altLang="zh-CN" sz="2400" dirty="0"/>
              <a:t>(P(a)→Q(a))               ES(2)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</a:t>
            </a:r>
            <a:r>
              <a:rPr lang="en-US" altLang="zh-CN" sz="2400" dirty="0"/>
              <a:t>P(a)∧┐Q(a)                 T(3)</a:t>
            </a:r>
            <a:r>
              <a:rPr lang="zh-CN" altLang="en-US" sz="2400" dirty="0"/>
              <a:t>，</a:t>
            </a:r>
            <a:r>
              <a:rPr lang="en-US" altLang="zh-CN" sz="2400" dirty="0"/>
              <a:t>E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P(a)                              T(4)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）┐</a:t>
            </a:r>
            <a:r>
              <a:rPr lang="en-US" altLang="zh-CN" sz="2400" dirty="0"/>
              <a:t>Q(a)                          T(4)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xP</a:t>
            </a:r>
            <a:r>
              <a:rPr lang="en-US" altLang="zh-CN" sz="2400" dirty="0"/>
              <a:t>(x)                           EG(5)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xP</a:t>
            </a:r>
            <a:r>
              <a:rPr lang="en-US" altLang="zh-CN" sz="2400" dirty="0"/>
              <a:t>(x)→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xQ</a:t>
            </a:r>
            <a:r>
              <a:rPr lang="en-US" altLang="zh-CN" sz="2400" dirty="0"/>
              <a:t>(x)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 err="1"/>
              <a:t>xQ</a:t>
            </a:r>
            <a:r>
              <a:rPr lang="en-US" altLang="zh-CN" sz="2400" dirty="0"/>
              <a:t>(x)                         T(7)</a:t>
            </a:r>
            <a:r>
              <a:rPr lang="zh-CN" altLang="en-US" sz="2400" dirty="0"/>
              <a:t>合取</a:t>
            </a:r>
            <a:r>
              <a:rPr lang="en-US" altLang="zh-CN" sz="2400" dirty="0"/>
              <a:t>(8)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10</a:t>
            </a:r>
            <a:r>
              <a:rPr lang="zh-CN" altLang="en-US" sz="2400" dirty="0"/>
              <a:t>）</a:t>
            </a:r>
            <a:r>
              <a:rPr lang="en-US" altLang="zh-CN" sz="2400" dirty="0"/>
              <a:t>Q(a)                           US(9)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（</a:t>
            </a:r>
            <a:r>
              <a:rPr lang="en-US" altLang="zh-CN" sz="2400" dirty="0"/>
              <a:t>11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rgbClr val="FF00FF"/>
                </a:solidFill>
              </a:rPr>
              <a:t>0</a:t>
            </a:r>
            <a:r>
              <a:rPr lang="en-US" altLang="zh-CN" sz="2400" dirty="0"/>
              <a:t>                                T(6)</a:t>
            </a:r>
            <a:r>
              <a:rPr lang="zh-CN" altLang="en-US" sz="2400" dirty="0"/>
              <a:t>合取</a:t>
            </a:r>
            <a:r>
              <a:rPr lang="en-US" altLang="zh-CN" sz="2400" dirty="0"/>
              <a:t>(10)</a:t>
            </a:r>
            <a:r>
              <a:rPr lang="zh-CN" altLang="en-US" sz="2400" dirty="0"/>
              <a:t>，</a:t>
            </a:r>
            <a:r>
              <a:rPr lang="en-US" altLang="zh-CN" sz="2400" dirty="0"/>
              <a:t>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02DC672-409A-6629-C08A-4A32EB54C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F837739-D79B-8E25-C516-DD5F03801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2.5.5</a:t>
            </a:r>
            <a:r>
              <a:rPr lang="en-US" altLang="zh-CN" dirty="0"/>
              <a:t> </a:t>
            </a:r>
            <a:r>
              <a:rPr lang="zh-CN" altLang="en-US" dirty="0"/>
              <a:t>翻译命题并推证其结论。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任何人若喜欢步行，他就不喜欢乘汽车；每个人或者喜欢乘汽车或者喜欢骑自行车。有的人不爱骑自行车，因而有的人不爱步行。</a:t>
            </a:r>
            <a:endParaRPr lang="en-US" altLang="zh-CN" dirty="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取论域：人类集合   </a:t>
            </a:r>
            <a:r>
              <a:rPr lang="en-US" altLang="zh-CN" dirty="0"/>
              <a:t>P(x)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喜欢步行。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en-US" altLang="zh-CN" dirty="0"/>
              <a:t>Q(x)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喜欢乘汽车。</a:t>
            </a:r>
            <a:r>
              <a:rPr lang="en-US" altLang="zh-CN" dirty="0"/>
              <a:t>R(x)</a:t>
            </a:r>
            <a:r>
              <a:rPr lang="zh-CN" altLang="en-US" dirty="0"/>
              <a:t>：</a:t>
            </a:r>
            <a:r>
              <a:rPr lang="en-US" altLang="zh-CN" dirty="0"/>
              <a:t>x</a:t>
            </a:r>
            <a:r>
              <a:rPr lang="zh-CN" altLang="en-US" dirty="0"/>
              <a:t>喜欢骑自行车。</a:t>
            </a:r>
            <a:endParaRPr lang="en-US" altLang="zh-CN" dirty="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</a:t>
            </a:r>
            <a:r>
              <a:rPr lang="en-US" altLang="zh-CN" dirty="0"/>
              <a:t>x(P(x)→┐Q(x)),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x(Q(x)∨R(x)),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x┐R</a:t>
            </a:r>
            <a:r>
              <a:rPr lang="en-US" altLang="zh-CN" dirty="0"/>
              <a:t>(x)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</a:t>
            </a:r>
            <a:r>
              <a:rPr lang="en-US" altLang="zh-CN" dirty="0" err="1"/>
              <a:t>x┐P</a:t>
            </a:r>
            <a:r>
              <a:rPr lang="en-US" altLang="zh-CN" dirty="0"/>
              <a:t>(x)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4363AF2-9A3C-05B8-03ED-B55694FE5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C86F2AE-C603-C3AF-4B25-17B27D2DA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424863" cy="50133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hlink"/>
                </a:solidFill>
              </a:rPr>
              <a:t>证</a:t>
            </a:r>
            <a:r>
              <a:rPr lang="zh-CN" altLang="en-US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x(P(x)→┐Q(x)),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x(Q(x)∨R(x)),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x┐R</a:t>
            </a:r>
            <a:r>
              <a:rPr lang="en-US" altLang="zh-CN" sz="2400" dirty="0"/>
              <a:t>(x)</a:t>
            </a:r>
            <a:r>
              <a:rPr lang="en-US" altLang="zh-CN" sz="2400" dirty="0">
                <a:sym typeface="Symbol" panose="05050102010706020507" pitchFamily="18" charset="2"/>
              </a:rPr>
              <a:t></a:t>
            </a:r>
            <a:r>
              <a:rPr lang="en-US" altLang="zh-CN" sz="2400" dirty="0" err="1"/>
              <a:t>x┐P</a:t>
            </a:r>
            <a:r>
              <a:rPr lang="en-US" altLang="zh-CN" sz="2400" dirty="0"/>
              <a:t>(x)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x(P(x)→┐Q(x))                 P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x(Q(x)∨R(x))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x┐R</a:t>
            </a:r>
            <a:r>
              <a:rPr lang="en-US" altLang="zh-CN" sz="2400" dirty="0"/>
              <a:t>(x)                              P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）┐</a:t>
            </a:r>
            <a:r>
              <a:rPr lang="en-US" altLang="zh-CN" sz="2400" dirty="0"/>
              <a:t>R(a)                                 ES(3)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</a:t>
            </a:r>
            <a:r>
              <a:rPr lang="en-US" altLang="zh-CN" sz="2400" dirty="0"/>
              <a:t>P(a)→┐Q(a)                        US(1)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</a:t>
            </a:r>
            <a:r>
              <a:rPr lang="en-US" altLang="zh-CN" sz="2400" dirty="0"/>
              <a:t>Q(a)∨R(a)                           US(2)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7</a:t>
            </a:r>
            <a:r>
              <a:rPr lang="zh-CN" altLang="en-US" sz="2400" dirty="0"/>
              <a:t>）</a:t>
            </a:r>
            <a:r>
              <a:rPr lang="en-US" altLang="zh-CN" sz="2400" dirty="0"/>
              <a:t>Q(a)                                     T(4)</a:t>
            </a:r>
            <a:r>
              <a:rPr lang="zh-CN" altLang="en-US" sz="2400" dirty="0"/>
              <a:t>合取</a:t>
            </a:r>
            <a:r>
              <a:rPr lang="en-US" altLang="zh-CN" sz="2400" dirty="0"/>
              <a:t>(6)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8</a:t>
            </a:r>
            <a:r>
              <a:rPr lang="zh-CN" altLang="en-US" sz="2400" dirty="0"/>
              <a:t>）┐</a:t>
            </a:r>
            <a:r>
              <a:rPr lang="en-US" altLang="zh-CN" sz="2400" dirty="0"/>
              <a:t>P(a)                                  T(5)</a:t>
            </a:r>
            <a:r>
              <a:rPr lang="zh-CN" altLang="en-US" sz="2400" dirty="0"/>
              <a:t>合取</a:t>
            </a:r>
            <a:r>
              <a:rPr lang="en-US" altLang="zh-CN" sz="2400" dirty="0"/>
              <a:t>(7)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br>
              <a:rPr lang="en-US" altLang="zh-CN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9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 err="1"/>
              <a:t>x┐P</a:t>
            </a:r>
            <a:r>
              <a:rPr lang="en-US" altLang="zh-CN" sz="2400" dirty="0"/>
              <a:t>(x)                               EG(8)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66EA721-D030-F951-BDF8-8CCB84A96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</a:t>
            </a:r>
            <a:r>
              <a:rPr lang="zh-CN" altLang="en-US"/>
              <a:t>谓词推理理论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A83CDB50-D131-60E8-04F3-CB4865242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2.5.6</a:t>
            </a:r>
            <a:r>
              <a:rPr lang="en-US" altLang="zh-CN" sz="2800" dirty="0"/>
              <a:t> </a:t>
            </a:r>
            <a:r>
              <a:rPr lang="zh-CN" altLang="en-US" sz="2800" dirty="0"/>
              <a:t>翻译并推证三段论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所有人都要死</a:t>
            </a:r>
            <a:r>
              <a:rPr lang="en-US" altLang="zh-CN" sz="2800" dirty="0"/>
              <a:t>,</a:t>
            </a:r>
            <a:r>
              <a:rPr lang="zh-CN" altLang="en-US" sz="2800" dirty="0"/>
              <a:t>苏格拉底是人</a:t>
            </a:r>
            <a:r>
              <a:rPr lang="en-US" altLang="zh-CN" sz="2800" dirty="0"/>
              <a:t>,</a:t>
            </a:r>
            <a:r>
              <a:rPr lang="zh-CN" altLang="en-US" sz="2800" dirty="0"/>
              <a:t>所以苏格拉底要死。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chemeClr val="hlink"/>
                </a:solidFill>
              </a:rPr>
              <a:t>解</a:t>
            </a:r>
            <a:r>
              <a:rPr lang="zh-CN" altLang="en-US" sz="2800" dirty="0"/>
              <a:t> 设</a:t>
            </a:r>
            <a:r>
              <a:rPr lang="en-US" altLang="zh-CN" sz="2800" dirty="0"/>
              <a:t>P(x)</a:t>
            </a:r>
            <a:r>
              <a:rPr lang="zh-CN" altLang="en-US" sz="2800" dirty="0"/>
              <a:t>：</a:t>
            </a:r>
            <a:r>
              <a:rPr lang="en-US" altLang="zh-CN" sz="2800" dirty="0"/>
              <a:t>x</a:t>
            </a:r>
            <a:r>
              <a:rPr lang="zh-CN" altLang="en-US" sz="2800" dirty="0"/>
              <a:t>是人。</a:t>
            </a:r>
            <a:r>
              <a:rPr lang="en-US" altLang="zh-CN" sz="2800" dirty="0"/>
              <a:t>Q(x)</a:t>
            </a:r>
            <a:r>
              <a:rPr lang="zh-CN" altLang="en-US" sz="2800" dirty="0"/>
              <a:t>：</a:t>
            </a:r>
            <a:r>
              <a:rPr lang="en-US" altLang="zh-CN" sz="2800" dirty="0"/>
              <a:t>x</a:t>
            </a:r>
            <a:r>
              <a:rPr lang="zh-CN" altLang="en-US" sz="2800" dirty="0"/>
              <a:t>是要死的。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        </a:t>
            </a:r>
            <a:r>
              <a:rPr lang="en-US" altLang="zh-CN" sz="2800" dirty="0"/>
              <a:t>a</a:t>
            </a:r>
            <a:r>
              <a:rPr lang="zh-CN" altLang="en-US" sz="2800" dirty="0"/>
              <a:t>：苏格拉底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前提：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x(P(x)→Q(x))</a:t>
            </a:r>
            <a:r>
              <a:rPr lang="zh-CN" altLang="en-US" sz="2800" dirty="0"/>
              <a:t>，</a:t>
            </a:r>
            <a:r>
              <a:rPr lang="en-US" altLang="zh-CN" sz="2800" dirty="0"/>
              <a:t>P(a)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结论：</a:t>
            </a:r>
            <a:r>
              <a:rPr lang="en-US" altLang="zh-CN" sz="2800" dirty="0"/>
              <a:t>Q(a)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①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x(P(x)→Q(x)) 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②P(a)→Q(a)                   US①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③P(a)                             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④Q(a)                            T②③</a:t>
            </a:r>
            <a:r>
              <a:rPr lang="zh-CN" altLang="en-US" sz="2800" dirty="0"/>
              <a:t>合取，</a:t>
            </a:r>
            <a:r>
              <a:rPr lang="en-US" altLang="zh-CN" sz="2800" dirty="0"/>
              <a:t>I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>
            <a:extLst>
              <a:ext uri="{FF2B5EF4-FFF2-40B4-BE49-F238E27FC236}">
                <a16:creationId xmlns:a16="http://schemas.microsoft.com/office/drawing/2014/main" id="{D1A1A614-3AA1-8D3D-4770-A3E5D983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 作  业</a:t>
            </a:r>
          </a:p>
        </p:txBody>
      </p:sp>
      <p:sp>
        <p:nvSpPr>
          <p:cNvPr id="99331" name="内容占位符 2">
            <a:extLst>
              <a:ext uri="{FF2B5EF4-FFF2-40B4-BE49-F238E27FC236}">
                <a16:creationId xmlns:a16="http://schemas.microsoft.com/office/drawing/2014/main" id="{ABDB100F-284F-46E0-867E-66DF2175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dirty="0">
                <a:solidFill>
                  <a:srgbClr val="FF0000"/>
                </a:solidFill>
              </a:rPr>
              <a:t>P53    </a:t>
            </a:r>
            <a:r>
              <a:rPr lang="zh-CN" altLang="en-US" sz="3600" dirty="0"/>
              <a:t>习题</a:t>
            </a:r>
            <a:r>
              <a:rPr lang="en-US" altLang="zh-CN" sz="3600" dirty="0"/>
              <a:t>2.5  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600" dirty="0"/>
              <a:t>8</a:t>
            </a:r>
            <a:r>
              <a:rPr lang="zh-CN" altLang="en-US" sz="3600" dirty="0"/>
              <a:t>，</a:t>
            </a:r>
            <a:r>
              <a:rPr lang="en-US" altLang="zh-CN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7933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A699FC1-FD6C-19A1-AC6B-949ED0321B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29277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2.5    8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73DBBA-BF39-66D5-3B96-68A0306CA00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6E4595-FFF5-3D15-23E8-93F627B9990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799A8989-F4E8-7724-DAAE-DDC49F911F6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171CE89-513B-AD61-C627-38730053A99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937EF0E9-E691-15CE-1EFB-E600377B026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9CC717C-B3B9-06E6-2CEC-BD5CD30AC2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FCC9737-E2B7-5A98-160E-A1EA984BEDA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326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4FC8D8-3AB5-AD60-3B31-0ECB8F0CBB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11560" y="184482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2.5    9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(9)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A0F880-D541-5286-882E-653907D84ED0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4277990-606E-DA30-E7C0-EBD49A8FBF1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93DA77F8-84F6-23DA-9DB9-14F350CD361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84EAA75D-5C60-63B3-E158-3A71F35274F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tabLst/>
              </a:pPr>
              <a:endParaRPr kumimoji="0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103E44CB-FE32-74BD-D368-23D6701D171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BA717A73-4A8D-0625-B676-843F9658099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C398C84-C702-5589-0A7B-1A999422529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06696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n"/>
          <a:tabLst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n"/>
          <a:tabLst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6883</TotalTime>
  <Words>1688</Words>
  <Application>Microsoft Office PowerPoint</Application>
  <PresentationFormat>全屏显示(4:3)</PresentationFormat>
  <Paragraphs>108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Tahoma</vt:lpstr>
      <vt:lpstr>Wingdings</vt:lpstr>
      <vt:lpstr>Blends</vt:lpstr>
      <vt:lpstr>2.5 谓词推理理论</vt:lpstr>
      <vt:lpstr>2.5 谓词推理理论 </vt:lpstr>
      <vt:lpstr>2.5 谓词推理理论 </vt:lpstr>
      <vt:lpstr>2.5 谓词推理理论</vt:lpstr>
      <vt:lpstr>2.5 谓词推理理论</vt:lpstr>
      <vt:lpstr>PowerPoint 演示文稿</vt:lpstr>
      <vt:lpstr>2.5 谓词推理理论</vt:lpstr>
      <vt:lpstr>2.5 谓词推理理论</vt:lpstr>
      <vt:lpstr>2.5 谓词推理理论</vt:lpstr>
      <vt:lpstr>2.5 谓词推理理论</vt:lpstr>
      <vt:lpstr>2.5 谓词推理理论</vt:lpstr>
      <vt:lpstr>2.5 谓词推理理论</vt:lpstr>
      <vt:lpstr>2.5 谓词推理理论</vt:lpstr>
      <vt:lpstr>  作  业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80</cp:revision>
  <dcterms:created xsi:type="dcterms:W3CDTF">2010-04-09T13:44:14Z</dcterms:created>
  <dcterms:modified xsi:type="dcterms:W3CDTF">2023-10-24T01:22:38Z</dcterms:modified>
</cp:coreProperties>
</file>