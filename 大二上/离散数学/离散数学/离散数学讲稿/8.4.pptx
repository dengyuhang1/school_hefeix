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361" r:id="rId2"/>
    <p:sldId id="429" r:id="rId3"/>
    <p:sldId id="455" r:id="rId4"/>
    <p:sldId id="430" r:id="rId5"/>
    <p:sldId id="431" r:id="rId6"/>
    <p:sldId id="441" r:id="rId7"/>
    <p:sldId id="442" r:id="rId8"/>
    <p:sldId id="443" r:id="rId9"/>
    <p:sldId id="444" r:id="rId10"/>
    <p:sldId id="457" r:id="rId11"/>
    <p:sldId id="458" r:id="rId12"/>
    <p:sldId id="459" r:id="rId13"/>
    <p:sldId id="445" r:id="rId14"/>
    <p:sldId id="447" r:id="rId15"/>
    <p:sldId id="448" r:id="rId16"/>
    <p:sldId id="449" r:id="rId17"/>
    <p:sldId id="452" r:id="rId18"/>
    <p:sldId id="451" r:id="rId19"/>
    <p:sldId id="453" r:id="rId20"/>
    <p:sldId id="454" r:id="rId21"/>
    <p:sldId id="456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33"/>
    <a:srgbClr val="FF00FF"/>
    <a:srgbClr val="00CC99"/>
    <a:srgbClr val="FF0066"/>
    <a:srgbClr val="CC0066"/>
    <a:srgbClr val="0066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694CAA2-3E50-DCA3-6576-B77E417DF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D8C045-0F95-57AC-3847-83D968343C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575EFB9-8207-4174-87C5-BF0A914228DF}" type="datetimeFigureOut">
              <a:rPr lang="zh-CN" altLang="en-US"/>
              <a:pPr>
                <a:defRPr/>
              </a:pPr>
              <a:t>2023/11/29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F354EA8-028E-E533-DC3E-C20FCB5D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8249808-48E8-2B23-C9CE-C8A91CE49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E22B47-EF13-DE10-8AF3-D04357BC28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3727F-0D8B-AA4A-3630-78B65B92F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F207B3D-F49C-4219-A301-4F003B84F8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72CA9474-34D0-25BE-3202-BF9A902CA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25BF0EC0-AEE4-030C-6DD8-FCFE7841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B5C375C4-A0A2-12D4-2BB2-6A191D97F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EF64B3-170D-4A7E-BC80-2B1E8A830C82}" type="slidenum">
              <a:rPr lang="zh-CN" altLang="en-US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7401496-6C44-06BA-7E65-1E94AFE34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70ACC86B-FDEB-9237-9A43-DE50A7540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F2118FC5-1C3D-BD23-158F-9F9977D66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534E84-DE09-46C3-9380-755446611711}" type="slidenum">
              <a:rPr lang="zh-CN" altLang="en-US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7099A61F-5232-1997-B973-B5C31D082C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A73551D1-38CA-6847-E904-175CA8AFF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B758A510-F8DE-44C9-BBBD-23A43CE00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3FE1257-45DD-4E12-ACAD-4B74B3F45DBB}" type="slidenum">
              <a:rPr lang="zh-CN" altLang="en-US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105704-97D3-F25A-0E62-852A2782415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3841C41-7AC3-96B7-2E7E-DED363E670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F60F5EE-4ADC-7136-F213-1D7D33C4C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AA4F1546-DF47-0E3C-2772-F6FD5ACEB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5FF379B2-BA3C-E124-5E15-10F87EC3CA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BCB0100-3935-56F0-097A-0CADA1456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3E6B57-094F-C38C-F804-6A079AF6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58AD966B-6A28-DFB5-2A8E-C2BF2FD26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9AF9907-9F07-2B54-1B14-CB1738DA9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84980E3-CA33-D89C-D2A9-CE407E42B9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D656027-A31A-1D36-EA39-404F7E97F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4887892-3207-2C01-E134-79AC79350D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9446B1DD-AE06-0B65-89FD-A917B64424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DEE713A-137F-4E8E-88F9-1BC2A81F74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34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47298CA-DFF8-FA7B-45F0-4579CD8A6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494952F-1C56-FB73-3A11-1359AD4680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D525B9A-506A-0605-7C04-025338B06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DD4CA-7438-48D1-A18F-CDF99D6A9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81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61C58E2-4E2D-3118-CD2E-563A43DD0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0D9A3BE-462D-312D-28C1-7D4DFD2851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34CC79-B9DB-2D84-25C6-69999D74B4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3C319-A25C-4F7C-89BB-E149A1C1BD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72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C80F285-BFCE-BE22-0FCE-3B4DD4A19F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0BA439B-19D9-BEA9-2102-FFF23909F6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F196A43-F89A-0A99-DC5E-5125B3D7D2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5E399-F653-4F45-B5BA-BF71A87AFD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06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F69992A-651E-7038-B264-EAD64B0559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4EB416E-101F-871A-D0C3-4D6966CD9D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48C6823-1DA6-D79E-FE0A-0B580A1D2C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28869-A9A2-4A25-98BF-143AF7E5A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83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27A19AD-843A-E99E-9EA2-C42B281D84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E219921-C5E2-E29C-6CC3-DC84462E89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3F16F08-BE4A-8D04-56F1-BA05D6F61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E7EDF-35C9-4CB9-AF54-3B0C301F56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86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90993B6-C3BD-B00A-23A1-8B7A91CFC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2DDDC9A-02D5-D2D0-1694-C58BE4EE64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748FBD1-74B6-F7BA-7BC8-86B794A24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8408E-E822-4C31-A0C7-516BCFC31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6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9789AB-1974-6E6F-AE08-5B55D958FF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6402132-7293-DF1C-D5D8-C5870FB4C1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6E207D3-1845-702A-5938-24575F4E4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B8D7A-DB09-493E-B71D-3979C6BD9E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877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59B8488-8749-857E-1385-4CA40C0496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7852CD1-C877-DFB4-F969-D249C325AF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298AA60-9FC5-888C-2658-4BEA911479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20C05-B6B3-4081-83D7-6E973F0D2E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813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27364F1-53FC-C0E8-2CDC-FB14826295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8A85671-B6C3-18DE-D9A7-A3F57D6AFD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9E4C58C-2DE5-9BD0-2CFA-D02FF4BFD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BFB2F-01EB-4EAA-B1A2-E156F95A7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16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DCE9BF6-7CD7-5758-0125-D56E6B409D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1DA775D-4658-28D2-AE90-2AA4F820C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DD1B7F7-E800-FA0B-22A4-43A2F41E0F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93C41-7C70-4360-AD39-EB21D11A25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612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9013128-51A2-48E2-853E-06397EA3FB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BBDD32F-70CD-4FEE-E98C-ED32BD194B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CFE3E4-1F31-CCB0-4C4B-4340E37C0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2CF54-3FD4-4D2B-A607-07B2556279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08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0AE6A2-58AF-A4FE-B146-09A57F05E9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243DB57-FA47-219D-02E4-6268BB0623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FB53C6-0119-6E34-3496-1994693860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B9612CD-6D80-AB50-83CF-769D21AB34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CD5ECB2-06D4-DC44-6165-D4C4386E10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4DFD126-8B2B-7043-7629-7301F8A7C7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7EDA72D-A7C9-B89C-98DA-561EB9A080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C0105A08-7DBD-8311-124C-70209ED7C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061E6B2-3E1A-0DB7-F57C-AD32DD686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FC9BC48-D685-01DA-77FE-C60CF8FE70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FF130870-EBF9-A0C0-55A2-D91D2FB4EE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A2F559DB-8E1B-3AAD-F388-E607079742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348B3FF-F182-4A6E-BF98-2BEA97D63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E164E9C-829E-16F5-5F89-A45259362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8.4 </a:t>
            </a:r>
            <a:r>
              <a:rPr lang="zh-CN" altLang="en-US" sz="5400"/>
              <a:t>生成树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4C4AFB2-F17B-BB0E-E536-A2BCF2281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6815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8.4.1 </a:t>
            </a:r>
            <a:r>
              <a:rPr lang="zh-CN" altLang="en-US" sz="4400" b="1" dirty="0"/>
              <a:t>生成树的概念</a:t>
            </a:r>
            <a:r>
              <a:rPr lang="zh-CN" altLang="en-US" sz="4400" dirty="0"/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8.4.3 </a:t>
            </a:r>
            <a:r>
              <a:rPr lang="zh-CN" altLang="en-US" sz="4400" b="1" dirty="0"/>
              <a:t>最小生成树</a:t>
            </a:r>
            <a:endParaRPr lang="en-US" altLang="zh-CN" sz="44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8.4.4 </a:t>
            </a:r>
            <a:r>
              <a:rPr lang="zh-CN" altLang="en-US" sz="4400" b="1" dirty="0"/>
              <a:t>广度优先搜索</a:t>
            </a:r>
            <a:endParaRPr lang="en-US" altLang="zh-CN" sz="44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8.4.5 </a:t>
            </a:r>
            <a:r>
              <a:rPr lang="zh-CN" altLang="en-US" sz="4400" b="1" dirty="0"/>
              <a:t>深度优先搜索</a:t>
            </a:r>
            <a:endParaRPr lang="en-US" altLang="zh-CN" sz="4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endParaRPr lang="zh-CN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1E5037D5-DCF4-D943-9F27-8A8D93604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8.4.1 </a:t>
            </a:r>
            <a:r>
              <a:rPr lang="zh-CN" altLang="en-US" sz="5400"/>
              <a:t>生成树的概念 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2C149267-C307-C409-624F-E9B43E478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8.4.1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/>
              <a:t>若</a:t>
            </a:r>
            <a:r>
              <a:rPr lang="en-US" altLang="zh-CN"/>
              <a:t>T</a:t>
            </a:r>
            <a:r>
              <a:rPr lang="zh-CN" altLang="zh-CN"/>
              <a:t>是图</a:t>
            </a:r>
            <a:r>
              <a:rPr lang="en-US" altLang="zh-CN"/>
              <a:t>G</a:t>
            </a:r>
            <a:r>
              <a:rPr lang="zh-CN" altLang="zh-CN"/>
              <a:t>的生成子图且又是树，则称</a:t>
            </a:r>
            <a:r>
              <a:rPr lang="en-US" altLang="zh-CN"/>
              <a:t>T</a:t>
            </a:r>
            <a:r>
              <a:rPr lang="zh-CN" altLang="zh-CN"/>
              <a:t>是图</a:t>
            </a:r>
            <a:r>
              <a:rPr lang="en-US" altLang="zh-CN"/>
              <a:t>G</a:t>
            </a:r>
            <a:r>
              <a:rPr lang="zh-CN" altLang="zh-CN"/>
              <a:t>的一棵</a:t>
            </a:r>
            <a:r>
              <a:rPr lang="zh-CN" altLang="zh-CN" b="1">
                <a:solidFill>
                  <a:srgbClr val="FF0000"/>
                </a:solidFill>
              </a:rPr>
              <a:t>生成树</a:t>
            </a:r>
            <a:r>
              <a:rPr lang="en-US" altLang="zh-CN"/>
              <a:t>(spanning tree)</a:t>
            </a:r>
            <a:r>
              <a:rPr lang="zh-CN" altLang="zh-CN"/>
              <a:t>。生成树</a:t>
            </a:r>
            <a:r>
              <a:rPr lang="en-US" altLang="zh-CN"/>
              <a:t>T</a:t>
            </a:r>
            <a:r>
              <a:rPr lang="zh-CN" altLang="zh-CN"/>
              <a:t>中的边称为树</a:t>
            </a:r>
            <a:r>
              <a:rPr lang="en-US" altLang="zh-CN"/>
              <a:t>T</a:t>
            </a:r>
            <a:r>
              <a:rPr lang="zh-CN" altLang="zh-CN"/>
              <a:t>的</a:t>
            </a:r>
            <a:r>
              <a:rPr lang="zh-CN" altLang="zh-CN" b="1">
                <a:solidFill>
                  <a:srgbClr val="00B050"/>
                </a:solidFill>
              </a:rPr>
              <a:t>树枝</a:t>
            </a:r>
            <a:r>
              <a:rPr lang="en-US" altLang="zh-CN"/>
              <a:t>(branch)</a:t>
            </a:r>
            <a:r>
              <a:rPr lang="zh-CN" altLang="zh-CN"/>
              <a:t>，不在生成树</a:t>
            </a:r>
            <a:r>
              <a:rPr lang="en-US" altLang="zh-CN"/>
              <a:t>T</a:t>
            </a:r>
            <a:r>
              <a:rPr lang="zh-CN" altLang="zh-CN"/>
              <a:t>中的</a:t>
            </a:r>
            <a:r>
              <a:rPr lang="en-US" altLang="zh-CN"/>
              <a:t>G</a:t>
            </a:r>
            <a:r>
              <a:rPr lang="zh-CN" altLang="zh-CN"/>
              <a:t>的边，称为树</a:t>
            </a:r>
            <a:r>
              <a:rPr lang="en-US" altLang="zh-CN"/>
              <a:t>T</a:t>
            </a:r>
            <a:r>
              <a:rPr lang="zh-CN" altLang="zh-CN"/>
              <a:t>的</a:t>
            </a:r>
            <a:r>
              <a:rPr lang="zh-CN" altLang="zh-CN" b="1">
                <a:solidFill>
                  <a:srgbClr val="FF0000"/>
                </a:solidFill>
              </a:rPr>
              <a:t>弦</a:t>
            </a:r>
            <a:r>
              <a:rPr lang="en-US" altLang="zh-CN"/>
              <a:t>(chord)</a:t>
            </a:r>
            <a:r>
              <a:rPr lang="zh-CN" altLang="zh-CN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9E8D5917-BA0A-8571-0536-DF6D321AE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0FF470E7-994F-4D11-5B35-73A5A086B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844675"/>
            <a:ext cx="8883650" cy="4897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生成树</a:t>
            </a:r>
          </a:p>
        </p:txBody>
      </p:sp>
      <p:sp>
        <p:nvSpPr>
          <p:cNvPr id="6148" name="Rectangle 34">
            <a:extLst>
              <a:ext uri="{FF2B5EF4-FFF2-40B4-BE49-F238E27FC236}">
                <a16:creationId xmlns:a16="http://schemas.microsoft.com/office/drawing/2014/main" id="{A240AF51-EA37-755C-A0DB-3A99CAE7E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6149" name="Group 1">
            <a:extLst>
              <a:ext uri="{FF2B5EF4-FFF2-40B4-BE49-F238E27FC236}">
                <a16:creationId xmlns:a16="http://schemas.microsoft.com/office/drawing/2014/main" id="{8F0FBE53-28EB-777D-ED2C-688E26D74C0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46250" y="1897063"/>
            <a:ext cx="5976938" cy="2252662"/>
            <a:chOff x="2287" y="10475"/>
            <a:chExt cx="6274" cy="2366"/>
          </a:xfrm>
        </p:grpSpPr>
        <p:sp>
          <p:nvSpPr>
            <p:cNvPr id="6180" name="AutoShape 33">
              <a:extLst>
                <a:ext uri="{FF2B5EF4-FFF2-40B4-BE49-F238E27FC236}">
                  <a16:creationId xmlns:a16="http://schemas.microsoft.com/office/drawing/2014/main" id="{57FEF988-D000-FD0E-1E2D-5D57511B51E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87" y="10475"/>
              <a:ext cx="6274" cy="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1" name="Oval 32">
              <a:extLst>
                <a:ext uri="{FF2B5EF4-FFF2-40B4-BE49-F238E27FC236}">
                  <a16:creationId xmlns:a16="http://schemas.microsoft.com/office/drawing/2014/main" id="{E1FF80B7-591F-2A4C-1DBD-A24BD562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148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2" name="Oval 31">
              <a:extLst>
                <a:ext uri="{FF2B5EF4-FFF2-40B4-BE49-F238E27FC236}">
                  <a16:creationId xmlns:a16="http://schemas.microsoft.com/office/drawing/2014/main" id="{460FA8BE-1773-327D-C7B7-DA10D403F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" y="104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3" name="Oval 30">
              <a:extLst>
                <a:ext uri="{FF2B5EF4-FFF2-40B4-BE49-F238E27FC236}">
                  <a16:creationId xmlns:a16="http://schemas.microsoft.com/office/drawing/2014/main" id="{535F26B7-FD55-03C6-D222-3CA5FEB78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147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4" name="Oval 29">
              <a:extLst>
                <a:ext uri="{FF2B5EF4-FFF2-40B4-BE49-F238E27FC236}">
                  <a16:creationId xmlns:a16="http://schemas.microsoft.com/office/drawing/2014/main" id="{2D04EC26-3DFD-B9C5-FDFC-984F366A6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048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5" name="Oval 28">
              <a:extLst>
                <a:ext uri="{FF2B5EF4-FFF2-40B4-BE49-F238E27FC236}">
                  <a16:creationId xmlns:a16="http://schemas.microsoft.com/office/drawing/2014/main" id="{8809972E-EC34-0EC8-AAA3-0AD839028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1146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6" name="Oval 27">
              <a:extLst>
                <a:ext uri="{FF2B5EF4-FFF2-40B4-BE49-F238E27FC236}">
                  <a16:creationId xmlns:a16="http://schemas.microsoft.com/office/drawing/2014/main" id="{99761EDC-63E5-3256-DA7D-FD0B6AFC5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1469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7" name="Oval 26">
              <a:extLst>
                <a:ext uri="{FF2B5EF4-FFF2-40B4-BE49-F238E27FC236}">
                  <a16:creationId xmlns:a16="http://schemas.microsoft.com/office/drawing/2014/main" id="{7896862E-AE45-12F4-7865-4FC41E873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200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8" name="Oval 25">
              <a:extLst>
                <a:ext uri="{FF2B5EF4-FFF2-40B4-BE49-F238E27FC236}">
                  <a16:creationId xmlns:a16="http://schemas.microsoft.com/office/drawing/2014/main" id="{14CC1F68-A9D5-7DA8-3428-6F02A76CB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89" name="Oval 24">
              <a:extLst>
                <a:ext uri="{FF2B5EF4-FFF2-40B4-BE49-F238E27FC236}">
                  <a16:creationId xmlns:a16="http://schemas.microsoft.com/office/drawing/2014/main" id="{8CD4C8F2-56E7-2469-A722-E51C41A1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90" name="Oval 23">
              <a:extLst>
                <a:ext uri="{FF2B5EF4-FFF2-40B4-BE49-F238E27FC236}">
                  <a16:creationId xmlns:a16="http://schemas.microsoft.com/office/drawing/2014/main" id="{8CCB0C7E-CBC5-5183-FBDE-A0985051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203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91" name="Oval 22">
              <a:extLst>
                <a:ext uri="{FF2B5EF4-FFF2-40B4-BE49-F238E27FC236}">
                  <a16:creationId xmlns:a16="http://schemas.microsoft.com/office/drawing/2014/main" id="{1F9585E2-97CC-202C-130C-665391D4B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92" name="Oval 21">
              <a:extLst>
                <a:ext uri="{FF2B5EF4-FFF2-40B4-BE49-F238E27FC236}">
                  <a16:creationId xmlns:a16="http://schemas.microsoft.com/office/drawing/2014/main" id="{70098429-DF86-97B0-5346-B87BDCD7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93" name="Oval 20">
              <a:extLst>
                <a:ext uri="{FF2B5EF4-FFF2-40B4-BE49-F238E27FC236}">
                  <a16:creationId xmlns:a16="http://schemas.microsoft.com/office/drawing/2014/main" id="{09087649-3A6E-B4B2-0B2F-3AA640A9F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94" name="Oval 19">
              <a:extLst>
                <a:ext uri="{FF2B5EF4-FFF2-40B4-BE49-F238E27FC236}">
                  <a16:creationId xmlns:a16="http://schemas.microsoft.com/office/drawing/2014/main" id="{31E51703-653F-735D-0CF5-B375312EE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20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6195" name="AutoShape 18">
              <a:extLst>
                <a:ext uri="{FF2B5EF4-FFF2-40B4-BE49-F238E27FC236}">
                  <a16:creationId xmlns:a16="http://schemas.microsoft.com/office/drawing/2014/main" id="{4498728B-D1A0-778A-6932-4E2F484E90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0" y="10594"/>
              <a:ext cx="70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96" name="AutoShape 17">
              <a:extLst>
                <a:ext uri="{FF2B5EF4-FFF2-40B4-BE49-F238E27FC236}">
                  <a16:creationId xmlns:a16="http://schemas.microsoft.com/office/drawing/2014/main" id="{BCB0EF81-5DF6-7860-BE53-87AABD6D9F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1" y="10705"/>
              <a:ext cx="1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97" name="AutoShape 16">
              <a:extLst>
                <a:ext uri="{FF2B5EF4-FFF2-40B4-BE49-F238E27FC236}">
                  <a16:creationId xmlns:a16="http://schemas.microsoft.com/office/drawing/2014/main" id="{2377686A-4E7E-70C1-5FF9-C66F9CE9C0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46" y="11693"/>
              <a:ext cx="1" cy="9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98" name="AutoShape 15">
              <a:extLst>
                <a:ext uri="{FF2B5EF4-FFF2-40B4-BE49-F238E27FC236}">
                  <a16:creationId xmlns:a16="http://schemas.microsoft.com/office/drawing/2014/main" id="{B34E4F0B-74B1-4BB5-09C1-C0F6AC2266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6" y="11582"/>
              <a:ext cx="750" cy="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99" name="AutoShape 14">
              <a:extLst>
                <a:ext uri="{FF2B5EF4-FFF2-40B4-BE49-F238E27FC236}">
                  <a16:creationId xmlns:a16="http://schemas.microsoft.com/office/drawing/2014/main" id="{DF6649CF-E464-CB48-FDDD-A388BCD9E5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6" y="11706"/>
              <a:ext cx="33" cy="9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0" name="AutoShape 13">
              <a:extLst>
                <a:ext uri="{FF2B5EF4-FFF2-40B4-BE49-F238E27FC236}">
                  <a16:creationId xmlns:a16="http://schemas.microsoft.com/office/drawing/2014/main" id="{0C08A061-F49A-6A78-5E53-FCE4C8CFB0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9" y="12722"/>
              <a:ext cx="717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1" name="AutoShape 12">
              <a:extLst>
                <a:ext uri="{FF2B5EF4-FFF2-40B4-BE49-F238E27FC236}">
                  <a16:creationId xmlns:a16="http://schemas.microsoft.com/office/drawing/2014/main" id="{E29B95B2-D2A4-FA8E-5A55-8E3C854D99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4" y="11673"/>
              <a:ext cx="513" cy="9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2" name="AutoShape 11">
              <a:extLst>
                <a:ext uri="{FF2B5EF4-FFF2-40B4-BE49-F238E27FC236}">
                  <a16:creationId xmlns:a16="http://schemas.microsoft.com/office/drawing/2014/main" id="{D370A42C-1C5F-50D9-1162-E85AA4FD50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11" y="11691"/>
              <a:ext cx="473" cy="9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3" name="AutoShape 10">
              <a:extLst>
                <a:ext uri="{FF2B5EF4-FFF2-40B4-BE49-F238E27FC236}">
                  <a16:creationId xmlns:a16="http://schemas.microsoft.com/office/drawing/2014/main" id="{DA1175B6-7425-EB0F-341A-EDA85DB37D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6" y="11580"/>
              <a:ext cx="78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4" name="AutoShape 9">
              <a:extLst>
                <a:ext uri="{FF2B5EF4-FFF2-40B4-BE49-F238E27FC236}">
                  <a16:creationId xmlns:a16="http://schemas.microsoft.com/office/drawing/2014/main" id="{909EFA47-3443-25BE-8085-BFF9FE6157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24" y="10985"/>
              <a:ext cx="710" cy="5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5" name="AutoShape 8">
              <a:extLst>
                <a:ext uri="{FF2B5EF4-FFF2-40B4-BE49-F238E27FC236}">
                  <a16:creationId xmlns:a16="http://schemas.microsoft.com/office/drawing/2014/main" id="{F771B4D6-9B2D-3308-3415-233F6AE92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24" y="11660"/>
              <a:ext cx="710" cy="4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6" name="AutoShape 7">
              <a:extLst>
                <a:ext uri="{FF2B5EF4-FFF2-40B4-BE49-F238E27FC236}">
                  <a16:creationId xmlns:a16="http://schemas.microsoft.com/office/drawing/2014/main" id="{A66A693C-F46B-159A-3C80-17AB18FB08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3" y="10907"/>
              <a:ext cx="8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7" name="AutoShape 6">
              <a:extLst>
                <a:ext uri="{FF2B5EF4-FFF2-40B4-BE49-F238E27FC236}">
                  <a16:creationId xmlns:a16="http://schemas.microsoft.com/office/drawing/2014/main" id="{852295CD-7711-F70D-937E-B1FA915B9F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23" y="12119"/>
              <a:ext cx="889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8" name="AutoShape 5">
              <a:extLst>
                <a:ext uri="{FF2B5EF4-FFF2-40B4-BE49-F238E27FC236}">
                  <a16:creationId xmlns:a16="http://schemas.microsoft.com/office/drawing/2014/main" id="{ABBAF31B-4551-5452-4393-57D4B2DBB7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13" y="11018"/>
              <a:ext cx="1" cy="101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9" name="AutoShape 4">
              <a:extLst>
                <a:ext uri="{FF2B5EF4-FFF2-40B4-BE49-F238E27FC236}">
                  <a16:creationId xmlns:a16="http://schemas.microsoft.com/office/drawing/2014/main" id="{F61E53AC-5670-6063-DA3F-D0DE994712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3" y="11018"/>
              <a:ext cx="1" cy="9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10" name="AutoShape 3">
              <a:extLst>
                <a:ext uri="{FF2B5EF4-FFF2-40B4-BE49-F238E27FC236}">
                  <a16:creationId xmlns:a16="http://schemas.microsoft.com/office/drawing/2014/main" id="{19A9EF62-71C1-FFB8-742A-54B793F7C9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34" y="12119"/>
              <a:ext cx="798" cy="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11" name="AutoShape 2">
              <a:extLst>
                <a:ext uri="{FF2B5EF4-FFF2-40B4-BE49-F238E27FC236}">
                  <a16:creationId xmlns:a16="http://schemas.microsoft.com/office/drawing/2014/main" id="{FD5B21BE-B58E-2138-DE92-C96E1E0C55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2" y="11580"/>
              <a:ext cx="843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150" name="Rectangle 68">
            <a:extLst>
              <a:ext uri="{FF2B5EF4-FFF2-40B4-BE49-F238E27FC236}">
                <a16:creationId xmlns:a16="http://schemas.microsoft.com/office/drawing/2014/main" id="{C4A85D9E-A728-27A6-9D91-CCC4D11CE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6151" name="Group 35">
            <a:extLst>
              <a:ext uri="{FF2B5EF4-FFF2-40B4-BE49-F238E27FC236}">
                <a16:creationId xmlns:a16="http://schemas.microsoft.com/office/drawing/2014/main" id="{5E22CD57-5ACA-40E6-B19D-6FC58ED2DD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63713" y="4416425"/>
            <a:ext cx="5976937" cy="2252663"/>
            <a:chOff x="2287" y="10475"/>
            <a:chExt cx="6274" cy="2366"/>
          </a:xfrm>
        </p:grpSpPr>
        <p:sp>
          <p:nvSpPr>
            <p:cNvPr id="6152" name="AutoShape 67">
              <a:extLst>
                <a:ext uri="{FF2B5EF4-FFF2-40B4-BE49-F238E27FC236}">
                  <a16:creationId xmlns:a16="http://schemas.microsoft.com/office/drawing/2014/main" id="{1E3C887B-FD38-CEC5-8205-557FA58D68B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87" y="10475"/>
              <a:ext cx="6274" cy="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" name="Oval 66">
              <a:extLst>
                <a:ext uri="{FF2B5EF4-FFF2-40B4-BE49-F238E27FC236}">
                  <a16:creationId xmlns:a16="http://schemas.microsoft.com/office/drawing/2014/main" id="{0EEB8DA4-E118-1802-7B77-68BDD13FD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148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4" name="Oval 65">
              <a:extLst>
                <a:ext uri="{FF2B5EF4-FFF2-40B4-BE49-F238E27FC236}">
                  <a16:creationId xmlns:a16="http://schemas.microsoft.com/office/drawing/2014/main" id="{B2794591-8272-B631-D994-03F9CBF7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" y="104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5" name="Oval 64">
              <a:extLst>
                <a:ext uri="{FF2B5EF4-FFF2-40B4-BE49-F238E27FC236}">
                  <a16:creationId xmlns:a16="http://schemas.microsoft.com/office/drawing/2014/main" id="{74915E70-D582-C11E-C2F4-7D8F99D83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147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6" name="Oval 63">
              <a:extLst>
                <a:ext uri="{FF2B5EF4-FFF2-40B4-BE49-F238E27FC236}">
                  <a16:creationId xmlns:a16="http://schemas.microsoft.com/office/drawing/2014/main" id="{F82DA4EB-158F-6075-0C92-3A578716E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048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7" name="Oval 62">
              <a:extLst>
                <a:ext uri="{FF2B5EF4-FFF2-40B4-BE49-F238E27FC236}">
                  <a16:creationId xmlns:a16="http://schemas.microsoft.com/office/drawing/2014/main" id="{65DDFC4D-E203-09B5-9E80-879D4D3BE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1146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8" name="Oval 61">
              <a:extLst>
                <a:ext uri="{FF2B5EF4-FFF2-40B4-BE49-F238E27FC236}">
                  <a16:creationId xmlns:a16="http://schemas.microsoft.com/office/drawing/2014/main" id="{E546D392-C59C-814B-4534-ABC330EAA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1469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9" name="Oval 60">
              <a:extLst>
                <a:ext uri="{FF2B5EF4-FFF2-40B4-BE49-F238E27FC236}">
                  <a16:creationId xmlns:a16="http://schemas.microsoft.com/office/drawing/2014/main" id="{081A24F2-84B5-F4E0-2FCB-C83B447F3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200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0" name="Oval 59">
              <a:extLst>
                <a:ext uri="{FF2B5EF4-FFF2-40B4-BE49-F238E27FC236}">
                  <a16:creationId xmlns:a16="http://schemas.microsoft.com/office/drawing/2014/main" id="{7E95A466-1FFB-E970-09CB-A271264F6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1" name="Oval 58">
              <a:extLst>
                <a:ext uri="{FF2B5EF4-FFF2-40B4-BE49-F238E27FC236}">
                  <a16:creationId xmlns:a16="http://schemas.microsoft.com/office/drawing/2014/main" id="{5E4835C1-BBB1-B66E-7F28-97BDFC1B2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2" name="Oval 57">
              <a:extLst>
                <a:ext uri="{FF2B5EF4-FFF2-40B4-BE49-F238E27FC236}">
                  <a16:creationId xmlns:a16="http://schemas.microsoft.com/office/drawing/2014/main" id="{0CDD0670-C23D-053C-0D41-5D7A0D092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203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3" name="Oval 56">
              <a:extLst>
                <a:ext uri="{FF2B5EF4-FFF2-40B4-BE49-F238E27FC236}">
                  <a16:creationId xmlns:a16="http://schemas.microsoft.com/office/drawing/2014/main" id="{E53BFA10-312A-1E84-FAD7-31BCEF0ED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4" name="Oval 55">
              <a:extLst>
                <a:ext uri="{FF2B5EF4-FFF2-40B4-BE49-F238E27FC236}">
                  <a16:creationId xmlns:a16="http://schemas.microsoft.com/office/drawing/2014/main" id="{647F4EAC-46EE-7A91-A27C-730EFF5B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5" name="Oval 54">
              <a:extLst>
                <a:ext uri="{FF2B5EF4-FFF2-40B4-BE49-F238E27FC236}">
                  <a16:creationId xmlns:a16="http://schemas.microsoft.com/office/drawing/2014/main" id="{E977B985-8B3A-2453-C08D-2D2BC9372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6" name="Oval 53">
              <a:extLst>
                <a:ext uri="{FF2B5EF4-FFF2-40B4-BE49-F238E27FC236}">
                  <a16:creationId xmlns:a16="http://schemas.microsoft.com/office/drawing/2014/main" id="{1F55CC1F-E6A2-56BE-5FDD-4DEEA43B0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20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6167" name="AutoShape 52">
              <a:extLst>
                <a:ext uri="{FF2B5EF4-FFF2-40B4-BE49-F238E27FC236}">
                  <a16:creationId xmlns:a16="http://schemas.microsoft.com/office/drawing/2014/main" id="{255FD225-5EBB-5FF7-5435-E5DBF43CB3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0" y="10594"/>
              <a:ext cx="70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8" name="AutoShape 51">
              <a:extLst>
                <a:ext uri="{FF2B5EF4-FFF2-40B4-BE49-F238E27FC236}">
                  <a16:creationId xmlns:a16="http://schemas.microsoft.com/office/drawing/2014/main" id="{527691E5-B335-C356-F8D0-ACDDE55CAD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1" y="10705"/>
              <a:ext cx="1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9" name="AutoShape 50">
              <a:extLst>
                <a:ext uri="{FF2B5EF4-FFF2-40B4-BE49-F238E27FC236}">
                  <a16:creationId xmlns:a16="http://schemas.microsoft.com/office/drawing/2014/main" id="{A9994DFC-57A0-736F-F95C-A34C7C06E1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46" y="11693"/>
              <a:ext cx="1" cy="9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0" name="AutoShape 49">
              <a:extLst>
                <a:ext uri="{FF2B5EF4-FFF2-40B4-BE49-F238E27FC236}">
                  <a16:creationId xmlns:a16="http://schemas.microsoft.com/office/drawing/2014/main" id="{C84490D9-B9B9-D204-CAAB-98C3EBB6DA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6" y="11582"/>
              <a:ext cx="750" cy="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1" name="AutoShape 48">
              <a:extLst>
                <a:ext uri="{FF2B5EF4-FFF2-40B4-BE49-F238E27FC236}">
                  <a16:creationId xmlns:a16="http://schemas.microsoft.com/office/drawing/2014/main" id="{9277BECD-79B8-B3DD-C6B8-E348597E2B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6" y="11706"/>
              <a:ext cx="33" cy="9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2" name="AutoShape 45">
              <a:extLst>
                <a:ext uri="{FF2B5EF4-FFF2-40B4-BE49-F238E27FC236}">
                  <a16:creationId xmlns:a16="http://schemas.microsoft.com/office/drawing/2014/main" id="{3E2F627A-D11E-E5E6-AC4E-2BF24FF305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11" y="11691"/>
              <a:ext cx="473" cy="9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3" name="AutoShape 44">
              <a:extLst>
                <a:ext uri="{FF2B5EF4-FFF2-40B4-BE49-F238E27FC236}">
                  <a16:creationId xmlns:a16="http://schemas.microsoft.com/office/drawing/2014/main" id="{5DD599D1-0707-7C16-B8A6-EE87821A4D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6" y="11580"/>
              <a:ext cx="78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4" name="AutoShape 43">
              <a:extLst>
                <a:ext uri="{FF2B5EF4-FFF2-40B4-BE49-F238E27FC236}">
                  <a16:creationId xmlns:a16="http://schemas.microsoft.com/office/drawing/2014/main" id="{D5455BB2-68BA-EF31-DA3E-0F3A846833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24" y="10985"/>
              <a:ext cx="710" cy="5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5" name="AutoShape 42">
              <a:extLst>
                <a:ext uri="{FF2B5EF4-FFF2-40B4-BE49-F238E27FC236}">
                  <a16:creationId xmlns:a16="http://schemas.microsoft.com/office/drawing/2014/main" id="{3E8D70CF-DCA9-BE21-9B71-0C7C417891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24" y="11660"/>
              <a:ext cx="710" cy="4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6" name="AutoShape 41">
              <a:extLst>
                <a:ext uri="{FF2B5EF4-FFF2-40B4-BE49-F238E27FC236}">
                  <a16:creationId xmlns:a16="http://schemas.microsoft.com/office/drawing/2014/main" id="{8442C9F9-F21C-0D55-F5DE-0FADA549D7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3" y="10907"/>
              <a:ext cx="8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7" name="AutoShape 40">
              <a:extLst>
                <a:ext uri="{FF2B5EF4-FFF2-40B4-BE49-F238E27FC236}">
                  <a16:creationId xmlns:a16="http://schemas.microsoft.com/office/drawing/2014/main" id="{26F36C23-A044-C444-A697-71163F95C7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23" y="12119"/>
              <a:ext cx="889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8" name="AutoShape 37">
              <a:extLst>
                <a:ext uri="{FF2B5EF4-FFF2-40B4-BE49-F238E27FC236}">
                  <a16:creationId xmlns:a16="http://schemas.microsoft.com/office/drawing/2014/main" id="{4D32BC25-261A-8BA3-3573-52DCA2F9C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34" y="12119"/>
              <a:ext cx="798" cy="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9" name="AutoShape 36">
              <a:extLst>
                <a:ext uri="{FF2B5EF4-FFF2-40B4-BE49-F238E27FC236}">
                  <a16:creationId xmlns:a16="http://schemas.microsoft.com/office/drawing/2014/main" id="{2DF25B5B-0566-8F53-4CA2-8F2247B2D8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2" y="11580"/>
              <a:ext cx="843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047D877E-8422-9C72-1D14-2C93DDDB4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8.4.1 </a:t>
            </a:r>
            <a:r>
              <a:rPr lang="zh-CN" altLang="en-US" sz="5400">
                <a:solidFill>
                  <a:srgbClr val="333399"/>
                </a:solidFill>
              </a:rPr>
              <a:t>生成树的概念 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DCAC5-BAB0-E12F-B3C8-D12618D6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3" y="1844675"/>
            <a:ext cx="9031287" cy="5013325"/>
          </a:xfrm>
        </p:spPr>
        <p:txBody>
          <a:bodyPr/>
          <a:lstStyle/>
          <a:p>
            <a:pPr>
              <a:lnSpc>
                <a:spcPct val="114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8.4.1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图</a:t>
            </a:r>
            <a:r>
              <a:rPr lang="en-US" altLang="zh-CN" dirty="0"/>
              <a:t>G</a:t>
            </a:r>
            <a:r>
              <a:rPr lang="zh-CN" altLang="zh-CN" dirty="0"/>
              <a:t>有生成树</a:t>
            </a:r>
            <a:r>
              <a:rPr lang="en-US" altLang="zh-CN" dirty="0">
                <a:sym typeface="Symbol"/>
              </a:rPr>
              <a:t></a:t>
            </a:r>
            <a:r>
              <a:rPr lang="zh-CN" altLang="zh-CN" dirty="0"/>
              <a:t>图</a:t>
            </a:r>
            <a:r>
              <a:rPr lang="en-US" altLang="zh-CN" dirty="0"/>
              <a:t>G</a:t>
            </a:r>
            <a:r>
              <a:rPr lang="zh-CN" altLang="zh-CN" dirty="0"/>
              <a:t>为连通图。</a:t>
            </a:r>
          </a:p>
          <a:p>
            <a:pPr>
              <a:lnSpc>
                <a:spcPct val="114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en-US" altLang="zh-CN" dirty="0"/>
              <a:t> (</a:t>
            </a:r>
            <a:r>
              <a:rPr lang="zh-CN" altLang="en-US" dirty="0">
                <a:solidFill>
                  <a:srgbClr val="00B050"/>
                </a:solidFill>
              </a:rPr>
              <a:t>充</a:t>
            </a:r>
            <a:r>
              <a:rPr lang="en-US" altLang="zh-CN" dirty="0"/>
              <a:t>)</a:t>
            </a:r>
            <a:r>
              <a:rPr lang="zh-CN" altLang="zh-CN" dirty="0"/>
              <a:t>如果图</a:t>
            </a:r>
            <a:r>
              <a:rPr lang="en-US" altLang="zh-CN" dirty="0"/>
              <a:t>G</a:t>
            </a:r>
            <a:r>
              <a:rPr lang="zh-CN" altLang="zh-CN" dirty="0"/>
              <a:t>不是连通图，那么它的生成子图都不连通，因而</a:t>
            </a:r>
            <a:r>
              <a:rPr lang="en-US" altLang="zh-CN" dirty="0"/>
              <a:t>G</a:t>
            </a:r>
            <a:r>
              <a:rPr lang="zh-CN" altLang="zh-CN" dirty="0"/>
              <a:t>不能有生成树。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</a:t>
            </a:r>
            <a:r>
              <a:rPr lang="zh-CN" altLang="en-US" dirty="0">
                <a:solidFill>
                  <a:srgbClr val="FF00FF"/>
                </a:solidFill>
              </a:rPr>
              <a:t>必</a:t>
            </a:r>
            <a:r>
              <a:rPr lang="en-US" altLang="zh-CN" dirty="0"/>
              <a:t>)</a:t>
            </a:r>
            <a:r>
              <a:rPr lang="zh-CN" altLang="zh-CN" dirty="0"/>
              <a:t>已知图</a:t>
            </a:r>
            <a:r>
              <a:rPr lang="en-US" altLang="zh-CN" dirty="0"/>
              <a:t>G</a:t>
            </a:r>
            <a:r>
              <a:rPr lang="zh-CN" altLang="zh-CN" dirty="0"/>
              <a:t>为连通图。设</a:t>
            </a:r>
            <a:r>
              <a:rPr lang="en-US" altLang="zh-CN" dirty="0"/>
              <a:t>T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FF"/>
                </a:solidFill>
              </a:rPr>
              <a:t>边数最少</a:t>
            </a:r>
            <a:r>
              <a:rPr lang="zh-CN" altLang="zh-CN" dirty="0"/>
              <a:t>的连</a:t>
            </a:r>
            <a:endParaRPr lang="en-US" altLang="zh-CN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通生成子图。于是对任意边</a:t>
            </a:r>
            <a:r>
              <a:rPr lang="en-US" altLang="zh-CN" dirty="0"/>
              <a:t>e</a:t>
            </a:r>
            <a:r>
              <a:rPr lang="zh-CN" altLang="zh-CN" dirty="0"/>
              <a:t>∈</a:t>
            </a:r>
            <a:r>
              <a:rPr lang="en-US" altLang="zh-CN" dirty="0"/>
              <a:t>E(T)</a:t>
            </a:r>
            <a:r>
              <a:rPr lang="zh-CN" altLang="zh-CN" dirty="0"/>
              <a:t>，</a:t>
            </a:r>
            <a:r>
              <a:rPr lang="en-US" altLang="zh-CN" dirty="0"/>
              <a:t>T</a:t>
            </a:r>
            <a:r>
              <a:rPr lang="zh-CN" altLang="zh-CN" dirty="0"/>
              <a:t>－</a:t>
            </a:r>
            <a:r>
              <a:rPr lang="en-US" altLang="zh-CN" dirty="0"/>
              <a:t>e</a:t>
            </a:r>
            <a:r>
              <a:rPr lang="zh-CN" altLang="zh-CN" dirty="0"/>
              <a:t>不是</a:t>
            </a:r>
            <a:endParaRPr lang="en-US" altLang="zh-CN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连通图，即</a:t>
            </a:r>
            <a:r>
              <a:rPr lang="en-US" altLang="zh-CN" dirty="0"/>
              <a:t>T</a:t>
            </a:r>
            <a:r>
              <a:rPr lang="zh-CN" altLang="zh-CN" dirty="0"/>
              <a:t>的每一边都是割边，因此</a:t>
            </a:r>
            <a:r>
              <a:rPr lang="en-US" altLang="zh-CN" dirty="0"/>
              <a:t>T</a:t>
            </a:r>
            <a:r>
              <a:rPr lang="zh-CN" altLang="zh-CN" dirty="0"/>
              <a:t>是一棵</a:t>
            </a:r>
            <a:endParaRPr lang="en-US" altLang="zh-CN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树，而</a:t>
            </a:r>
            <a:r>
              <a:rPr lang="en-US" altLang="zh-CN" dirty="0"/>
              <a:t>T</a:t>
            </a:r>
            <a:r>
              <a:rPr lang="zh-CN" altLang="zh-CN" dirty="0"/>
              <a:t>又是</a:t>
            </a:r>
            <a:r>
              <a:rPr lang="en-US" altLang="zh-CN" dirty="0"/>
              <a:t>G</a:t>
            </a:r>
            <a:r>
              <a:rPr lang="zh-CN" altLang="zh-CN" dirty="0"/>
              <a:t>的生成子图，因而</a:t>
            </a:r>
            <a:r>
              <a:rPr lang="en-US" altLang="zh-CN" dirty="0"/>
              <a:t>T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的一棵生</a:t>
            </a:r>
            <a:endParaRPr lang="en-US" altLang="zh-CN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成树。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CF4C79D-31CF-6F4F-D63D-39631D47D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8.4.1 </a:t>
            </a:r>
            <a:r>
              <a:rPr lang="zh-CN" altLang="en-US" sz="5400">
                <a:solidFill>
                  <a:srgbClr val="333399"/>
                </a:solidFill>
              </a:rPr>
              <a:t>生成树的概念 </a:t>
            </a:r>
            <a:endParaRPr lang="zh-CN" altLang="en-US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65CC524A-1AF8-61E6-518A-1C17A99542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8.4.1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找出</a:t>
            </a:r>
            <a:r>
              <a:rPr lang="zh-CN" altLang="en-US"/>
              <a:t>左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的生成树。</a:t>
            </a:r>
          </a:p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解</a:t>
            </a:r>
            <a:r>
              <a:rPr lang="zh-CN" altLang="zh-CN"/>
              <a:t> 因图</a:t>
            </a:r>
            <a:r>
              <a:rPr lang="en-US" altLang="zh-CN"/>
              <a:t>G</a:t>
            </a:r>
            <a:r>
              <a:rPr lang="zh-CN" altLang="zh-CN"/>
              <a:t>有</a:t>
            </a:r>
            <a:r>
              <a:rPr lang="en-US" altLang="zh-CN"/>
              <a:t>6</a:t>
            </a:r>
            <a:r>
              <a:rPr lang="zh-CN" altLang="zh-CN"/>
              <a:t>个结点</a:t>
            </a:r>
            <a:r>
              <a:rPr lang="en-US" altLang="zh-CN"/>
              <a:t>7</a:t>
            </a:r>
            <a:r>
              <a:rPr lang="zh-CN" altLang="zh-CN"/>
              <a:t>条边，所以要删除</a:t>
            </a:r>
            <a:r>
              <a:rPr lang="en-US" altLang="zh-CN"/>
              <a:t>2</a:t>
            </a:r>
            <a:r>
              <a:rPr lang="zh-CN" altLang="zh-CN"/>
              <a:t>条边。</a:t>
            </a:r>
            <a:endParaRPr lang="zh-CN" altLang="en-US"/>
          </a:p>
        </p:txBody>
      </p:sp>
      <p:sp>
        <p:nvSpPr>
          <p:cNvPr id="8196" name="Rectangle 56">
            <a:extLst>
              <a:ext uri="{FF2B5EF4-FFF2-40B4-BE49-F238E27FC236}">
                <a16:creationId xmlns:a16="http://schemas.microsoft.com/office/drawing/2014/main" id="{03104078-E176-C639-F4CB-41AD8B7B9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197" name="Rectangle 130">
            <a:extLst>
              <a:ext uri="{FF2B5EF4-FFF2-40B4-BE49-F238E27FC236}">
                <a16:creationId xmlns:a16="http://schemas.microsoft.com/office/drawing/2014/main" id="{E0721CAE-C2AC-920E-5280-FA8B0BFAE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8198" name="Group 75">
            <a:extLst>
              <a:ext uri="{FF2B5EF4-FFF2-40B4-BE49-F238E27FC236}">
                <a16:creationId xmlns:a16="http://schemas.microsoft.com/office/drawing/2014/main" id="{72A64D44-0628-31CE-422E-6E02FC5A62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7838" y="3351213"/>
            <a:ext cx="8774112" cy="3678237"/>
            <a:chOff x="2407" y="6782"/>
            <a:chExt cx="7763" cy="3255"/>
          </a:xfrm>
        </p:grpSpPr>
        <p:sp>
          <p:nvSpPr>
            <p:cNvPr id="8203" name="AutoShape 129">
              <a:extLst>
                <a:ext uri="{FF2B5EF4-FFF2-40B4-BE49-F238E27FC236}">
                  <a16:creationId xmlns:a16="http://schemas.microsoft.com/office/drawing/2014/main" id="{E4210A74-A417-D666-FCFA-E874C1DEB2F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07" y="6782"/>
              <a:ext cx="7763" cy="3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Text Box 128">
              <a:extLst>
                <a:ext uri="{FF2B5EF4-FFF2-40B4-BE49-F238E27FC236}">
                  <a16:creationId xmlns:a16="http://schemas.microsoft.com/office/drawing/2014/main" id="{750DC35A-D5F1-A587-6869-4827DFB2F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4" y="69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8205" name="Text Box 127">
              <a:extLst>
                <a:ext uri="{FF2B5EF4-FFF2-40B4-BE49-F238E27FC236}">
                  <a16:creationId xmlns:a16="http://schemas.microsoft.com/office/drawing/2014/main" id="{CF18FC16-27EF-F7A0-467F-7F92BA434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9" y="69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8206" name="Text Box 126">
              <a:extLst>
                <a:ext uri="{FF2B5EF4-FFF2-40B4-BE49-F238E27FC236}">
                  <a16:creationId xmlns:a16="http://schemas.microsoft.com/office/drawing/2014/main" id="{79C59BFC-5E97-33A3-5CFA-C6B821AD0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7" y="832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8207" name="Text Box 125">
              <a:extLst>
                <a:ext uri="{FF2B5EF4-FFF2-40B4-BE49-F238E27FC236}">
                  <a16:creationId xmlns:a16="http://schemas.microsoft.com/office/drawing/2014/main" id="{356F876D-E949-C770-78E6-102C96B49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0" y="777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/>
            </a:p>
          </p:txBody>
        </p:sp>
        <p:sp>
          <p:nvSpPr>
            <p:cNvPr id="8208" name="Text Box 124">
              <a:extLst>
                <a:ext uri="{FF2B5EF4-FFF2-40B4-BE49-F238E27FC236}">
                  <a16:creationId xmlns:a16="http://schemas.microsoft.com/office/drawing/2014/main" id="{3604E34D-DE8B-8568-FC3C-69188EE26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9" y="920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8209" name="Text Box 123">
              <a:extLst>
                <a:ext uri="{FF2B5EF4-FFF2-40B4-BE49-F238E27FC236}">
                  <a16:creationId xmlns:a16="http://schemas.microsoft.com/office/drawing/2014/main" id="{F690BB07-EE8F-B7DD-7FE6-43621BDCC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0" y="93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8210" name="Text Box 122">
              <a:extLst>
                <a:ext uri="{FF2B5EF4-FFF2-40B4-BE49-F238E27FC236}">
                  <a16:creationId xmlns:a16="http://schemas.microsoft.com/office/drawing/2014/main" id="{744844AE-DF08-334F-B98D-01A157875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8" y="69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8211" name="Text Box 121">
              <a:extLst>
                <a:ext uri="{FF2B5EF4-FFF2-40B4-BE49-F238E27FC236}">
                  <a16:creationId xmlns:a16="http://schemas.microsoft.com/office/drawing/2014/main" id="{824AB57D-6214-C4DA-4828-71D7B1697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7" y="688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8212" name="Text Box 120">
              <a:extLst>
                <a:ext uri="{FF2B5EF4-FFF2-40B4-BE49-F238E27FC236}">
                  <a16:creationId xmlns:a16="http://schemas.microsoft.com/office/drawing/2014/main" id="{936209A1-1C05-19C1-C8A6-D6041A82F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6" y="832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8213" name="Text Box 119">
              <a:extLst>
                <a:ext uri="{FF2B5EF4-FFF2-40B4-BE49-F238E27FC236}">
                  <a16:creationId xmlns:a16="http://schemas.microsoft.com/office/drawing/2014/main" id="{8AF67637-852C-7043-A32F-4FF2CCE84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" y="784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/>
            </a:p>
          </p:txBody>
        </p:sp>
        <p:sp>
          <p:nvSpPr>
            <p:cNvPr id="8214" name="Text Box 118">
              <a:extLst>
                <a:ext uri="{FF2B5EF4-FFF2-40B4-BE49-F238E27FC236}">
                  <a16:creationId xmlns:a16="http://schemas.microsoft.com/office/drawing/2014/main" id="{1DE84DB7-70A4-C4F4-8DD0-ADCCB41B7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7" y="920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8215" name="Text Box 117">
              <a:extLst>
                <a:ext uri="{FF2B5EF4-FFF2-40B4-BE49-F238E27FC236}">
                  <a16:creationId xmlns:a16="http://schemas.microsoft.com/office/drawing/2014/main" id="{758CD1DF-1AEF-30DB-6B26-1A64D8077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" y="93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8216" name="Text Box 116">
              <a:extLst>
                <a:ext uri="{FF2B5EF4-FFF2-40B4-BE49-F238E27FC236}">
                  <a16:creationId xmlns:a16="http://schemas.microsoft.com/office/drawing/2014/main" id="{E804312B-CA00-DE32-2876-219D47C09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5" y="920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8217" name="Text Box 115">
              <a:extLst>
                <a:ext uri="{FF2B5EF4-FFF2-40B4-BE49-F238E27FC236}">
                  <a16:creationId xmlns:a16="http://schemas.microsoft.com/office/drawing/2014/main" id="{4752B6BB-60B6-DBB7-C577-BDC47EB10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" y="93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8218" name="Text Box 114">
              <a:extLst>
                <a:ext uri="{FF2B5EF4-FFF2-40B4-BE49-F238E27FC236}">
                  <a16:creationId xmlns:a16="http://schemas.microsoft.com/office/drawing/2014/main" id="{1DFB0559-A08B-C7CD-8767-F52CB2D46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5" y="830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8219" name="Text Box 113">
              <a:extLst>
                <a:ext uri="{FF2B5EF4-FFF2-40B4-BE49-F238E27FC236}">
                  <a16:creationId xmlns:a16="http://schemas.microsoft.com/office/drawing/2014/main" id="{7FCE6378-76DC-0681-A434-DF0667F86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9" y="784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/>
            </a:p>
          </p:txBody>
        </p:sp>
        <p:sp>
          <p:nvSpPr>
            <p:cNvPr id="8220" name="Text Box 112">
              <a:extLst>
                <a:ext uri="{FF2B5EF4-FFF2-40B4-BE49-F238E27FC236}">
                  <a16:creationId xmlns:a16="http://schemas.microsoft.com/office/drawing/2014/main" id="{E1DC83D6-906B-6CAD-A611-0E276F3FF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5" y="694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8221" name="Text Box 111">
              <a:extLst>
                <a:ext uri="{FF2B5EF4-FFF2-40B4-BE49-F238E27FC236}">
                  <a16:creationId xmlns:a16="http://schemas.microsoft.com/office/drawing/2014/main" id="{50F9AF07-687A-3F1D-FAD8-FAF53FEBF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" y="694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8222" name="Oval 110">
              <a:extLst>
                <a:ext uri="{FF2B5EF4-FFF2-40B4-BE49-F238E27FC236}">
                  <a16:creationId xmlns:a16="http://schemas.microsoft.com/office/drawing/2014/main" id="{B5ACCBA9-B34F-9629-C2B1-D031AC17D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5" y="9124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3" name="Oval 109">
              <a:extLst>
                <a:ext uri="{FF2B5EF4-FFF2-40B4-BE49-F238E27FC236}">
                  <a16:creationId xmlns:a16="http://schemas.microsoft.com/office/drawing/2014/main" id="{345AD110-6D97-DB5E-2002-06B83F569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5" y="9124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4" name="Oval 108">
              <a:extLst>
                <a:ext uri="{FF2B5EF4-FFF2-40B4-BE49-F238E27FC236}">
                  <a16:creationId xmlns:a16="http://schemas.microsoft.com/office/drawing/2014/main" id="{54B95CD6-23D6-A961-F5A7-1D75EE822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834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5" name="Oval 107">
              <a:extLst>
                <a:ext uri="{FF2B5EF4-FFF2-40B4-BE49-F238E27FC236}">
                  <a16:creationId xmlns:a16="http://schemas.microsoft.com/office/drawing/2014/main" id="{CC89ECA7-EF5F-FFE1-B819-016C9227A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9" y="834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6" name="Oval 106">
              <a:extLst>
                <a:ext uri="{FF2B5EF4-FFF2-40B4-BE49-F238E27FC236}">
                  <a16:creationId xmlns:a16="http://schemas.microsoft.com/office/drawing/2014/main" id="{B4A59BA3-8B57-DA10-06FF-9AE39A484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5" y="7339"/>
              <a:ext cx="253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7" name="Oval 105">
              <a:extLst>
                <a:ext uri="{FF2B5EF4-FFF2-40B4-BE49-F238E27FC236}">
                  <a16:creationId xmlns:a16="http://schemas.microsoft.com/office/drawing/2014/main" id="{11A67A9A-0213-2DDC-3BB3-6C857865C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5" y="7339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8" name="Oval 104">
              <a:extLst>
                <a:ext uri="{FF2B5EF4-FFF2-40B4-BE49-F238E27FC236}">
                  <a16:creationId xmlns:a16="http://schemas.microsoft.com/office/drawing/2014/main" id="{F7C9A370-674B-B07E-2C78-5AE410418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5" y="735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29" name="Oval 103">
              <a:extLst>
                <a:ext uri="{FF2B5EF4-FFF2-40B4-BE49-F238E27FC236}">
                  <a16:creationId xmlns:a16="http://schemas.microsoft.com/office/drawing/2014/main" id="{8A94C86E-99E8-D9E4-3F06-60BB9714D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" y="834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0" name="Oval 102">
              <a:extLst>
                <a:ext uri="{FF2B5EF4-FFF2-40B4-BE49-F238E27FC236}">
                  <a16:creationId xmlns:a16="http://schemas.microsoft.com/office/drawing/2014/main" id="{1B458B95-FF3F-DAC6-EE0F-DA8F89897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738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1" name="Oval 101">
              <a:extLst>
                <a:ext uri="{FF2B5EF4-FFF2-40B4-BE49-F238E27FC236}">
                  <a16:creationId xmlns:a16="http://schemas.microsoft.com/office/drawing/2014/main" id="{F727D7C9-1DA5-322A-F3EF-B14AC0881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" y="8333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2" name="Oval 100">
              <a:extLst>
                <a:ext uri="{FF2B5EF4-FFF2-40B4-BE49-F238E27FC236}">
                  <a16:creationId xmlns:a16="http://schemas.microsoft.com/office/drawing/2014/main" id="{5B2E6179-0D13-1DDA-DB0F-839628D3B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5" y="912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3" name="Oval 99">
              <a:extLst>
                <a:ext uri="{FF2B5EF4-FFF2-40B4-BE49-F238E27FC236}">
                  <a16:creationId xmlns:a16="http://schemas.microsoft.com/office/drawing/2014/main" id="{2487F7C1-17EB-D3A7-3183-736C71043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" y="912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4" name="Oval 98">
              <a:extLst>
                <a:ext uri="{FF2B5EF4-FFF2-40B4-BE49-F238E27FC236}">
                  <a16:creationId xmlns:a16="http://schemas.microsoft.com/office/drawing/2014/main" id="{BB0E3A76-6091-3BB9-1081-C9FD8EBE9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912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5" name="Oval 97">
              <a:extLst>
                <a:ext uri="{FF2B5EF4-FFF2-40B4-BE49-F238E27FC236}">
                  <a16:creationId xmlns:a16="http://schemas.microsoft.com/office/drawing/2014/main" id="{835DDDE5-D2F0-3BE4-8447-C135D5FA9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912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6" name="Oval 96">
              <a:extLst>
                <a:ext uri="{FF2B5EF4-FFF2-40B4-BE49-F238E27FC236}">
                  <a16:creationId xmlns:a16="http://schemas.microsoft.com/office/drawing/2014/main" id="{82964DA6-C2D5-6A50-7CDC-78768E17C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" y="8344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7" name="Oval 95">
              <a:extLst>
                <a:ext uri="{FF2B5EF4-FFF2-40B4-BE49-F238E27FC236}">
                  <a16:creationId xmlns:a16="http://schemas.microsoft.com/office/drawing/2014/main" id="{8D98572B-4D80-85E3-3265-590A06E48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7369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8" name="Oval 94">
              <a:extLst>
                <a:ext uri="{FF2B5EF4-FFF2-40B4-BE49-F238E27FC236}">
                  <a16:creationId xmlns:a16="http://schemas.microsoft.com/office/drawing/2014/main" id="{2B34ED83-665B-8BBB-BB79-2A33C7E76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" y="7339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39" name="Oval 93">
              <a:extLst>
                <a:ext uri="{FF2B5EF4-FFF2-40B4-BE49-F238E27FC236}">
                  <a16:creationId xmlns:a16="http://schemas.microsoft.com/office/drawing/2014/main" id="{227EAB33-7F45-91DD-659C-93B55C4AE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4" y="8333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8240" name="AutoShape 92">
              <a:extLst>
                <a:ext uri="{FF2B5EF4-FFF2-40B4-BE49-F238E27FC236}">
                  <a16:creationId xmlns:a16="http://schemas.microsoft.com/office/drawing/2014/main" id="{773B4190-FD97-8ECE-FDBC-E488C34F17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56" y="8601"/>
              <a:ext cx="311" cy="5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1" name="AutoShape 91">
              <a:extLst>
                <a:ext uri="{FF2B5EF4-FFF2-40B4-BE49-F238E27FC236}">
                  <a16:creationId xmlns:a16="http://schemas.microsoft.com/office/drawing/2014/main" id="{B7D5CA4A-0E33-C43D-8A9B-C3B15B30DA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94" y="9253"/>
              <a:ext cx="70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2" name="AutoShape 90">
              <a:extLst>
                <a:ext uri="{FF2B5EF4-FFF2-40B4-BE49-F238E27FC236}">
                  <a16:creationId xmlns:a16="http://schemas.microsoft.com/office/drawing/2014/main" id="{A3DC2D71-239B-8C21-B9DC-0A4B7D773B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27" y="8601"/>
              <a:ext cx="344" cy="5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3" name="AutoShape 89">
              <a:extLst>
                <a:ext uri="{FF2B5EF4-FFF2-40B4-BE49-F238E27FC236}">
                  <a16:creationId xmlns:a16="http://schemas.microsoft.com/office/drawing/2014/main" id="{C050066C-C385-EB06-BDA0-0DD3C3DB43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56" y="7626"/>
              <a:ext cx="311" cy="7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4" name="AutoShape 88">
              <a:extLst>
                <a:ext uri="{FF2B5EF4-FFF2-40B4-BE49-F238E27FC236}">
                  <a16:creationId xmlns:a16="http://schemas.microsoft.com/office/drawing/2014/main" id="{165515AC-0C14-221B-F65B-82AC3FA07A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94" y="7498"/>
              <a:ext cx="721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5" name="AutoShape 87">
              <a:extLst>
                <a:ext uri="{FF2B5EF4-FFF2-40B4-BE49-F238E27FC236}">
                  <a16:creationId xmlns:a16="http://schemas.microsoft.com/office/drawing/2014/main" id="{C48083DB-F06F-EA91-AA6D-0B629D5C2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67" y="7626"/>
              <a:ext cx="1304" cy="7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6" name="AutoShape 86">
              <a:extLst>
                <a:ext uri="{FF2B5EF4-FFF2-40B4-BE49-F238E27FC236}">
                  <a16:creationId xmlns:a16="http://schemas.microsoft.com/office/drawing/2014/main" id="{831824AE-88C1-13D3-A783-3061924507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57" y="8473"/>
              <a:ext cx="1087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7" name="AutoShape 85">
              <a:extLst>
                <a:ext uri="{FF2B5EF4-FFF2-40B4-BE49-F238E27FC236}">
                  <a16:creationId xmlns:a16="http://schemas.microsoft.com/office/drawing/2014/main" id="{8167067D-7658-6C92-8D22-EABB6A014A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88" y="7468"/>
              <a:ext cx="73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8" name="AutoShape 84">
              <a:extLst>
                <a:ext uri="{FF2B5EF4-FFF2-40B4-BE49-F238E27FC236}">
                  <a16:creationId xmlns:a16="http://schemas.microsoft.com/office/drawing/2014/main" id="{289C8E6B-1B86-1C95-3417-2C86B3577F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316" y="7596"/>
              <a:ext cx="346" cy="7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49" name="AutoShape 83">
              <a:extLst>
                <a:ext uri="{FF2B5EF4-FFF2-40B4-BE49-F238E27FC236}">
                  <a16:creationId xmlns:a16="http://schemas.microsoft.com/office/drawing/2014/main" id="{17093176-63D6-D648-6D92-190B136C6D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62" y="7596"/>
              <a:ext cx="1364" cy="7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0" name="AutoShape 82">
              <a:extLst>
                <a:ext uri="{FF2B5EF4-FFF2-40B4-BE49-F238E27FC236}">
                  <a16:creationId xmlns:a16="http://schemas.microsoft.com/office/drawing/2014/main" id="{30E0172F-26B7-6961-14E4-320114E5B9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" y="8601"/>
              <a:ext cx="347" cy="5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1" name="AutoShape 81">
              <a:extLst>
                <a:ext uri="{FF2B5EF4-FFF2-40B4-BE49-F238E27FC236}">
                  <a16:creationId xmlns:a16="http://schemas.microsoft.com/office/drawing/2014/main" id="{B77DACF4-201F-D0E9-F279-D8F92B7596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53" y="8601"/>
              <a:ext cx="373" cy="5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2" name="AutoShape 80">
              <a:extLst>
                <a:ext uri="{FF2B5EF4-FFF2-40B4-BE49-F238E27FC236}">
                  <a16:creationId xmlns:a16="http://schemas.microsoft.com/office/drawing/2014/main" id="{FF1A35D3-3C0B-15B0-2465-B60C97CA1B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44" y="9253"/>
              <a:ext cx="7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3" name="AutoShape 79">
              <a:extLst>
                <a:ext uri="{FF2B5EF4-FFF2-40B4-BE49-F238E27FC236}">
                  <a16:creationId xmlns:a16="http://schemas.microsoft.com/office/drawing/2014/main" id="{FB4CCC28-8F52-BB65-D1E4-C6BB4BF5F4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44" y="7468"/>
              <a:ext cx="721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4" name="AutoShape 78">
              <a:extLst>
                <a:ext uri="{FF2B5EF4-FFF2-40B4-BE49-F238E27FC236}">
                  <a16:creationId xmlns:a16="http://schemas.microsoft.com/office/drawing/2014/main" id="{F758CDBF-3087-67FB-7156-15B6D005A7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031" y="7596"/>
              <a:ext cx="286" cy="7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5" name="AutoShape 77">
              <a:extLst>
                <a:ext uri="{FF2B5EF4-FFF2-40B4-BE49-F238E27FC236}">
                  <a16:creationId xmlns:a16="http://schemas.microsoft.com/office/drawing/2014/main" id="{910F9D52-BD80-CBA1-812E-79936D444C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31" y="8590"/>
              <a:ext cx="286" cy="5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56" name="AutoShape 76">
              <a:extLst>
                <a:ext uri="{FF2B5EF4-FFF2-40B4-BE49-F238E27FC236}">
                  <a16:creationId xmlns:a16="http://schemas.microsoft.com/office/drawing/2014/main" id="{43D596BB-E6F9-D4ED-8651-CD26FD7EAF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07" y="7558"/>
              <a:ext cx="1214" cy="7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088170AE-AA34-2F96-3F36-134EFF26BA45}"/>
              </a:ext>
            </a:extLst>
          </p:cNvPr>
          <p:cNvCxnSpPr>
            <a:stCxn id="8222" idx="7"/>
          </p:cNvCxnSpPr>
          <p:nvPr/>
        </p:nvCxnSpPr>
        <p:spPr>
          <a:xfrm flipV="1">
            <a:off x="4259263" y="5289550"/>
            <a:ext cx="1296987" cy="75088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B81B722F-9351-31FC-F99F-DEEC8D3C1973}"/>
              </a:ext>
            </a:extLst>
          </p:cNvPr>
          <p:cNvCxnSpPr>
            <a:stCxn id="8222" idx="6"/>
            <a:endCxn id="8223" idx="2"/>
          </p:cNvCxnSpPr>
          <p:nvPr/>
        </p:nvCxnSpPr>
        <p:spPr>
          <a:xfrm>
            <a:off x="4302125" y="6142038"/>
            <a:ext cx="830263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894716B-D978-1F04-F624-7976F5CC6D42}"/>
              </a:ext>
            </a:extLst>
          </p:cNvPr>
          <p:cNvCxnSpPr>
            <a:stCxn id="8233" idx="7"/>
            <a:endCxn id="8231" idx="2"/>
          </p:cNvCxnSpPr>
          <p:nvPr/>
        </p:nvCxnSpPr>
        <p:spPr>
          <a:xfrm flipV="1">
            <a:off x="7259638" y="5248275"/>
            <a:ext cx="1228725" cy="7921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F84D5F87-AC6E-DBE3-3EC5-15205AA36A7C}"/>
              </a:ext>
            </a:extLst>
          </p:cNvPr>
          <p:cNvCxnSpPr>
            <a:stCxn id="8231" idx="4"/>
          </p:cNvCxnSpPr>
          <p:nvPr/>
        </p:nvCxnSpPr>
        <p:spPr>
          <a:xfrm flipH="1">
            <a:off x="8259763" y="5394325"/>
            <a:ext cx="371475" cy="60325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6F62E-8CA7-5179-752B-2B8EB832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5400" dirty="0">
                <a:cs typeface="+mn-cs"/>
              </a:rPr>
              <a:t>8.4.3 </a:t>
            </a:r>
            <a:r>
              <a:rPr lang="zh-CN" altLang="en-US" sz="5400" dirty="0">
                <a:cs typeface="+mn-cs"/>
              </a:rPr>
              <a:t>最小生成树</a:t>
            </a:r>
            <a:endParaRPr lang="zh-CN" altLang="en-US" sz="5400" dirty="0"/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DA810986-1EA2-81E5-583B-F71448EE9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916113"/>
            <a:ext cx="8964612" cy="4941887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8.4.3</a:t>
            </a:r>
            <a:r>
              <a:rPr lang="zh-CN" altLang="zh-CN"/>
              <a:t>连通加权图里权和最小的生成树称为</a:t>
            </a:r>
            <a:r>
              <a:rPr lang="zh-CN" altLang="zh-CN" b="1">
                <a:solidFill>
                  <a:schemeClr val="accent1"/>
                </a:solidFill>
              </a:rPr>
              <a:t>最小生成树</a:t>
            </a:r>
            <a:r>
              <a:rPr lang="en-US" altLang="zh-CN"/>
              <a:t>(minimum cost spanning tree)</a:t>
            </a:r>
            <a:r>
              <a:rPr lang="zh-CN" altLang="zh-CN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AEF0FBBA-BCFB-29B0-8AA1-7B3A97531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8.4.3 </a:t>
            </a:r>
            <a:r>
              <a:rPr lang="zh-CN" altLang="en-US" sz="5400"/>
              <a:t>最小生成树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E7753-E715-0188-0531-FFD10CB5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算法</a:t>
            </a:r>
            <a:r>
              <a:rPr lang="en-US" altLang="zh-CN" b="1" dirty="0">
                <a:solidFill>
                  <a:srgbClr val="FF0000"/>
                </a:solidFill>
              </a:rPr>
              <a:t>8.4.1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zh-CN" dirty="0"/>
              <a:t>普林算法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00B050"/>
                </a:solidFill>
              </a:rPr>
              <a:t>procedure</a:t>
            </a:r>
            <a:r>
              <a:rPr lang="en-US" altLang="zh-CN" dirty="0"/>
              <a:t> prim(G:</a:t>
            </a:r>
            <a:r>
              <a:rPr lang="zh-CN" altLang="zh-CN" dirty="0"/>
              <a:t>带</a:t>
            </a:r>
            <a:r>
              <a:rPr lang="en-US" altLang="zh-CN" dirty="0"/>
              <a:t>n</a:t>
            </a:r>
            <a:r>
              <a:rPr lang="zh-CN" altLang="zh-CN" dirty="0"/>
              <a:t>个顶点的连通无向图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T:=</a:t>
            </a:r>
            <a:r>
              <a:rPr lang="zh-CN" altLang="zh-CN" dirty="0"/>
              <a:t>权最小的边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00B050"/>
                </a:solidFill>
              </a:rPr>
              <a:t>for</a:t>
            </a:r>
            <a:r>
              <a:rPr lang="en-US" altLang="zh-CN" dirty="0"/>
              <a:t> i:=1 </a:t>
            </a:r>
            <a:r>
              <a:rPr lang="en-US" altLang="zh-CN" b="1" dirty="0">
                <a:solidFill>
                  <a:srgbClr val="00B050"/>
                </a:solidFill>
              </a:rPr>
              <a:t>to</a:t>
            </a:r>
            <a:r>
              <a:rPr lang="en-US" altLang="zh-CN" dirty="0"/>
              <a:t> n</a:t>
            </a:r>
            <a:r>
              <a:rPr lang="zh-CN" altLang="zh-CN" dirty="0"/>
              <a:t>－</a:t>
            </a:r>
            <a:r>
              <a:rPr lang="en-US" altLang="zh-CN" dirty="0"/>
              <a:t>2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00B050"/>
                </a:solidFill>
              </a:rPr>
              <a:t>begin</a:t>
            </a:r>
            <a:r>
              <a:rPr lang="en-US" altLang="zh-CN" dirty="0"/>
              <a:t>  e:=</a:t>
            </a:r>
            <a:r>
              <a:rPr lang="zh-CN" altLang="zh-CN" dirty="0"/>
              <a:t>与</a:t>
            </a:r>
            <a:r>
              <a:rPr lang="en-US" altLang="zh-CN" dirty="0"/>
              <a:t>T</a:t>
            </a:r>
            <a:r>
              <a:rPr lang="zh-CN" altLang="zh-CN" dirty="0"/>
              <a:t>里顶点相关联的权最小的边，且</a:t>
            </a:r>
            <a:r>
              <a:rPr lang="en-US" altLang="zh-CN" dirty="0"/>
              <a:t>     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</a:t>
            </a:r>
            <a:r>
              <a:rPr lang="zh-CN" altLang="zh-CN" dirty="0"/>
              <a:t>若添加到</a:t>
            </a:r>
            <a:r>
              <a:rPr lang="en-US" altLang="zh-CN" dirty="0"/>
              <a:t>T</a:t>
            </a:r>
            <a:r>
              <a:rPr lang="zh-CN" altLang="zh-CN" dirty="0"/>
              <a:t>里则不形成圈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T:=</a:t>
            </a:r>
            <a:r>
              <a:rPr lang="zh-CN" altLang="zh-CN" dirty="0"/>
              <a:t>添加</a:t>
            </a:r>
            <a:r>
              <a:rPr lang="en-US" altLang="zh-CN" dirty="0"/>
              <a:t>e</a:t>
            </a:r>
            <a:r>
              <a:rPr lang="zh-CN" altLang="zh-CN" dirty="0"/>
              <a:t>之后的</a:t>
            </a:r>
            <a:r>
              <a:rPr lang="en-US" altLang="zh-CN" dirty="0"/>
              <a:t>T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00B050"/>
                </a:solidFill>
              </a:rPr>
              <a:t>end</a:t>
            </a:r>
            <a:r>
              <a:rPr lang="en-US" altLang="zh-CN" dirty="0"/>
              <a:t>{T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的最小生成树</a:t>
            </a: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89608512-276F-738D-68D3-27C1899A9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3FA5241D-8427-070F-9E6D-ADEE0B9DF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8.4.3</a:t>
            </a:r>
            <a:r>
              <a:rPr lang="zh-CN" altLang="zh-CN"/>
              <a:t>用普林算法求</a:t>
            </a:r>
            <a:r>
              <a:rPr lang="zh-CN" altLang="en-US"/>
              <a:t>右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的最小生成树。</a:t>
            </a:r>
            <a:endParaRPr lang="zh-CN" altLang="en-US"/>
          </a:p>
        </p:txBody>
      </p:sp>
      <p:sp>
        <p:nvSpPr>
          <p:cNvPr id="19460" name="Rectangle 67">
            <a:extLst>
              <a:ext uri="{FF2B5EF4-FFF2-40B4-BE49-F238E27FC236}">
                <a16:creationId xmlns:a16="http://schemas.microsoft.com/office/drawing/2014/main" id="{0679A3A0-9405-C2C4-8402-1558034C7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9461" name="Group 1">
            <a:extLst>
              <a:ext uri="{FF2B5EF4-FFF2-40B4-BE49-F238E27FC236}">
                <a16:creationId xmlns:a16="http://schemas.microsoft.com/office/drawing/2014/main" id="{73E6ED6C-9E0D-857B-6D8B-38E8A845C3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5750" y="2708275"/>
            <a:ext cx="8966200" cy="4105275"/>
            <a:chOff x="2215" y="9420"/>
            <a:chExt cx="8405" cy="3847"/>
          </a:xfrm>
        </p:grpSpPr>
        <p:sp>
          <p:nvSpPr>
            <p:cNvPr id="19462" name="AutoShape 66">
              <a:extLst>
                <a:ext uri="{FF2B5EF4-FFF2-40B4-BE49-F238E27FC236}">
                  <a16:creationId xmlns:a16="http://schemas.microsoft.com/office/drawing/2014/main" id="{CBC1CCC8-B621-7264-B054-99E412818A5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15" y="9420"/>
              <a:ext cx="8338" cy="3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Text Box 65">
              <a:extLst>
                <a:ext uri="{FF2B5EF4-FFF2-40B4-BE49-F238E27FC236}">
                  <a16:creationId xmlns:a16="http://schemas.microsoft.com/office/drawing/2014/main" id="{010C8AC3-9F4E-8F72-79AC-7978CE244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4" y="12494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19464" name="Text Box 64">
              <a:extLst>
                <a:ext uri="{FF2B5EF4-FFF2-40B4-BE49-F238E27FC236}">
                  <a16:creationId xmlns:a16="http://schemas.microsoft.com/office/drawing/2014/main" id="{073B5676-82A9-B114-1BA4-AC15169C0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" y="12542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/>
            </a:p>
          </p:txBody>
        </p:sp>
        <p:sp>
          <p:nvSpPr>
            <p:cNvPr id="19465" name="Text Box 63">
              <a:extLst>
                <a:ext uri="{FF2B5EF4-FFF2-40B4-BE49-F238E27FC236}">
                  <a16:creationId xmlns:a16="http://schemas.microsoft.com/office/drawing/2014/main" id="{ABBF8E37-89CF-F964-91C4-94192E1F5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2" y="11088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19466" name="Text Box 62">
              <a:extLst>
                <a:ext uri="{FF2B5EF4-FFF2-40B4-BE49-F238E27FC236}">
                  <a16:creationId xmlns:a16="http://schemas.microsoft.com/office/drawing/2014/main" id="{DDDF872E-C313-C4A3-9CB5-66EE457AE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" y="10764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/>
            </a:p>
          </p:txBody>
        </p:sp>
        <p:sp>
          <p:nvSpPr>
            <p:cNvPr id="19467" name="Text Box 61">
              <a:extLst>
                <a:ext uri="{FF2B5EF4-FFF2-40B4-BE49-F238E27FC236}">
                  <a16:creationId xmlns:a16="http://schemas.microsoft.com/office/drawing/2014/main" id="{8BD86345-21C4-362E-E781-B3B1E4729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7" y="11124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19468" name="Text Box 60">
              <a:extLst>
                <a:ext uri="{FF2B5EF4-FFF2-40B4-BE49-F238E27FC236}">
                  <a16:creationId xmlns:a16="http://schemas.microsoft.com/office/drawing/2014/main" id="{CC527E46-155E-5292-AD6C-82AB5B4A8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" y="9591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19469" name="Text Box 59">
              <a:extLst>
                <a:ext uri="{FF2B5EF4-FFF2-40B4-BE49-F238E27FC236}">
                  <a16:creationId xmlns:a16="http://schemas.microsoft.com/office/drawing/2014/main" id="{87D30C8D-F4D5-D6C8-490B-EF81E8078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3" y="9572"/>
              <a:ext cx="704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19470" name="Text Box 58">
              <a:extLst>
                <a:ext uri="{FF2B5EF4-FFF2-40B4-BE49-F238E27FC236}">
                  <a16:creationId xmlns:a16="http://schemas.microsoft.com/office/drawing/2014/main" id="{38F5AD65-F385-2DC0-94A5-FAA7AC872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0" y="12525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19471" name="Text Box 57">
              <a:extLst>
                <a:ext uri="{FF2B5EF4-FFF2-40B4-BE49-F238E27FC236}">
                  <a16:creationId xmlns:a16="http://schemas.microsoft.com/office/drawing/2014/main" id="{82B09992-9759-25DA-3724-ADE90F45B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2" y="12609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/>
            </a:p>
          </p:txBody>
        </p:sp>
        <p:sp>
          <p:nvSpPr>
            <p:cNvPr id="19472" name="Text Box 56">
              <a:extLst>
                <a:ext uri="{FF2B5EF4-FFF2-40B4-BE49-F238E27FC236}">
                  <a16:creationId xmlns:a16="http://schemas.microsoft.com/office/drawing/2014/main" id="{DECF8CAF-4F1B-DDD7-6DD8-E653F18D8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3" y="11512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19473" name="Text Box 55">
              <a:extLst>
                <a:ext uri="{FF2B5EF4-FFF2-40B4-BE49-F238E27FC236}">
                  <a16:creationId xmlns:a16="http://schemas.microsoft.com/office/drawing/2014/main" id="{967F05D9-5367-29C9-50EE-D551C890F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8" y="11462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/>
            </a:p>
          </p:txBody>
        </p:sp>
        <p:sp>
          <p:nvSpPr>
            <p:cNvPr id="19474" name="Text Box 54">
              <a:extLst>
                <a:ext uri="{FF2B5EF4-FFF2-40B4-BE49-F238E27FC236}">
                  <a16:creationId xmlns:a16="http://schemas.microsoft.com/office/drawing/2014/main" id="{838099BA-A645-31E1-476E-5845E5E70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1" y="9707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19475" name="Text Box 53">
              <a:extLst>
                <a:ext uri="{FF2B5EF4-FFF2-40B4-BE49-F238E27FC236}">
                  <a16:creationId xmlns:a16="http://schemas.microsoft.com/office/drawing/2014/main" id="{F1BA63BB-91A6-7B7F-B822-9C0385518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" y="11192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19476" name="Text Box 52">
              <a:extLst>
                <a:ext uri="{FF2B5EF4-FFF2-40B4-BE49-F238E27FC236}">
                  <a16:creationId xmlns:a16="http://schemas.microsoft.com/office/drawing/2014/main" id="{950A5EF2-0BFA-22F6-F68E-0ACEB594A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2" y="9707"/>
              <a:ext cx="648" cy="6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19477" name="Text Box 51">
              <a:extLst>
                <a:ext uri="{FF2B5EF4-FFF2-40B4-BE49-F238E27FC236}">
                  <a16:creationId xmlns:a16="http://schemas.microsoft.com/office/drawing/2014/main" id="{AB7B7EE5-4FDD-ED08-A23C-157CF6897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" y="1176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19478" name="Text Box 50">
              <a:extLst>
                <a:ext uri="{FF2B5EF4-FFF2-40B4-BE49-F238E27FC236}">
                  <a16:creationId xmlns:a16="http://schemas.microsoft.com/office/drawing/2014/main" id="{8CC0F6A4-9200-BFCF-8B1B-6692F20D8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1" y="1252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19479" name="Text Box 49">
              <a:extLst>
                <a:ext uri="{FF2B5EF4-FFF2-40B4-BE49-F238E27FC236}">
                  <a16:creationId xmlns:a16="http://schemas.microsoft.com/office/drawing/2014/main" id="{DEE62454-0642-9AC4-FF48-85FE9EE05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6" y="1105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19480" name="Text Box 48">
              <a:extLst>
                <a:ext uri="{FF2B5EF4-FFF2-40B4-BE49-F238E27FC236}">
                  <a16:creationId xmlns:a16="http://schemas.microsoft.com/office/drawing/2014/main" id="{11236DD3-78D2-EFC1-2D7F-ACE79F3C5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8" y="1057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19481" name="Text Box 47">
              <a:extLst>
                <a:ext uri="{FF2B5EF4-FFF2-40B4-BE49-F238E27FC236}">
                  <a16:creationId xmlns:a16="http://schemas.microsoft.com/office/drawing/2014/main" id="{A72052C1-3D97-C2BC-4783-4F3E8178F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3" y="1051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19482" name="Text Box 46">
              <a:extLst>
                <a:ext uri="{FF2B5EF4-FFF2-40B4-BE49-F238E27FC236}">
                  <a16:creationId xmlns:a16="http://schemas.microsoft.com/office/drawing/2014/main" id="{0F20FB77-5016-175E-27A8-CE68FAA60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" y="1047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9483" name="Text Box 45">
              <a:extLst>
                <a:ext uri="{FF2B5EF4-FFF2-40B4-BE49-F238E27FC236}">
                  <a16:creationId xmlns:a16="http://schemas.microsoft.com/office/drawing/2014/main" id="{093E49DB-D6D6-6DD6-EDAE-856D428D1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7" y="1097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19484" name="Text Box 44">
              <a:extLst>
                <a:ext uri="{FF2B5EF4-FFF2-40B4-BE49-F238E27FC236}">
                  <a16:creationId xmlns:a16="http://schemas.microsoft.com/office/drawing/2014/main" id="{47C1B916-4607-A312-1BEA-BB2C57C8B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8" y="1158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19485" name="Text Box 43">
              <a:extLst>
                <a:ext uri="{FF2B5EF4-FFF2-40B4-BE49-F238E27FC236}">
                  <a16:creationId xmlns:a16="http://schemas.microsoft.com/office/drawing/2014/main" id="{65E7FE27-4811-09B1-D2DC-47CB74F2F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8" y="1038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19486" name="Text Box 42">
              <a:extLst>
                <a:ext uri="{FF2B5EF4-FFF2-40B4-BE49-F238E27FC236}">
                  <a16:creationId xmlns:a16="http://schemas.microsoft.com/office/drawing/2014/main" id="{3C3E71F5-7D7B-3730-16B9-0D8655A59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970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19487" name="Text Box 41">
              <a:extLst>
                <a:ext uri="{FF2B5EF4-FFF2-40B4-BE49-F238E27FC236}">
                  <a16:creationId xmlns:a16="http://schemas.microsoft.com/office/drawing/2014/main" id="{5E1453A2-DA56-DA0B-92D1-028EE2A3C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4" y="1245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19488" name="Text Box 40">
              <a:extLst>
                <a:ext uri="{FF2B5EF4-FFF2-40B4-BE49-F238E27FC236}">
                  <a16:creationId xmlns:a16="http://schemas.microsoft.com/office/drawing/2014/main" id="{73FBB125-F31E-CFD2-B992-F2EE42942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1174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19489" name="Text Box 39">
              <a:extLst>
                <a:ext uri="{FF2B5EF4-FFF2-40B4-BE49-F238E27FC236}">
                  <a16:creationId xmlns:a16="http://schemas.microsoft.com/office/drawing/2014/main" id="{42648394-54FC-1857-3902-3DE0B4FEF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1035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9490" name="Text Box 38">
              <a:extLst>
                <a:ext uri="{FF2B5EF4-FFF2-40B4-BE49-F238E27FC236}">
                  <a16:creationId xmlns:a16="http://schemas.microsoft.com/office/drawing/2014/main" id="{41752E1A-3D63-ED78-891E-370B56D42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3" y="1104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/>
            </a:p>
          </p:txBody>
        </p:sp>
        <p:sp>
          <p:nvSpPr>
            <p:cNvPr id="19491" name="Text Box 37">
              <a:extLst>
                <a:ext uri="{FF2B5EF4-FFF2-40B4-BE49-F238E27FC236}">
                  <a16:creationId xmlns:a16="http://schemas.microsoft.com/office/drawing/2014/main" id="{274D6A17-DFD3-13D7-823C-2A12EC0D6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" y="1179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/>
            </a:p>
          </p:txBody>
        </p:sp>
        <p:sp>
          <p:nvSpPr>
            <p:cNvPr id="19492" name="Text Box 36">
              <a:extLst>
                <a:ext uri="{FF2B5EF4-FFF2-40B4-BE49-F238E27FC236}">
                  <a16:creationId xmlns:a16="http://schemas.microsoft.com/office/drawing/2014/main" id="{02257048-D4AF-B753-C94D-8716CF822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1024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19493" name="Text Box 35">
              <a:extLst>
                <a:ext uri="{FF2B5EF4-FFF2-40B4-BE49-F238E27FC236}">
                  <a16:creationId xmlns:a16="http://schemas.microsoft.com/office/drawing/2014/main" id="{75C9A481-4278-9A57-D62C-1FAB7BDD5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" y="1183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/>
            </a:p>
          </p:txBody>
        </p:sp>
        <p:sp>
          <p:nvSpPr>
            <p:cNvPr id="19494" name="Text Box 34">
              <a:extLst>
                <a:ext uri="{FF2B5EF4-FFF2-40B4-BE49-F238E27FC236}">
                  <a16:creationId xmlns:a16="http://schemas.microsoft.com/office/drawing/2014/main" id="{BEE86DB1-22A4-5137-A33A-218299114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" y="1030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/>
            </a:p>
          </p:txBody>
        </p:sp>
        <p:sp>
          <p:nvSpPr>
            <p:cNvPr id="19495" name="Oval 33">
              <a:extLst>
                <a:ext uri="{FF2B5EF4-FFF2-40B4-BE49-F238E27FC236}">
                  <a16:creationId xmlns:a16="http://schemas.microsoft.com/office/drawing/2014/main" id="{1B1D29E6-1EED-C4A6-3E23-9FF86BE3D9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91" y="11320"/>
              <a:ext cx="201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96" name="Oval 32">
              <a:extLst>
                <a:ext uri="{FF2B5EF4-FFF2-40B4-BE49-F238E27FC236}">
                  <a16:creationId xmlns:a16="http://schemas.microsoft.com/office/drawing/2014/main" id="{49B8C02B-15A5-88E5-546F-217DFEB8DD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7" y="10056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97" name="Oval 31">
              <a:extLst>
                <a:ext uri="{FF2B5EF4-FFF2-40B4-BE49-F238E27FC236}">
                  <a16:creationId xmlns:a16="http://schemas.microsoft.com/office/drawing/2014/main" id="{FDB76D7D-BE15-AC0D-9950-8098A147FD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8" y="12450"/>
              <a:ext cx="202" cy="20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98" name="Oval 30">
              <a:extLst>
                <a:ext uri="{FF2B5EF4-FFF2-40B4-BE49-F238E27FC236}">
                  <a16:creationId xmlns:a16="http://schemas.microsoft.com/office/drawing/2014/main" id="{933D767F-DAF1-1CC3-DF4D-A301B1DD7F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38" y="10056"/>
              <a:ext cx="202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99" name="Oval 29">
              <a:extLst>
                <a:ext uri="{FF2B5EF4-FFF2-40B4-BE49-F238E27FC236}">
                  <a16:creationId xmlns:a16="http://schemas.microsoft.com/office/drawing/2014/main" id="{54196FC4-5B1D-357C-BC59-50647F7594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38" y="12451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0" name="Oval 28">
              <a:extLst>
                <a:ext uri="{FF2B5EF4-FFF2-40B4-BE49-F238E27FC236}">
                  <a16:creationId xmlns:a16="http://schemas.microsoft.com/office/drawing/2014/main" id="{EE58750E-8A6D-9B3D-6C66-2BFE2B8681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31" y="11319"/>
              <a:ext cx="202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1" name="Oval 27">
              <a:extLst>
                <a:ext uri="{FF2B5EF4-FFF2-40B4-BE49-F238E27FC236}">
                  <a16:creationId xmlns:a16="http://schemas.microsoft.com/office/drawing/2014/main" id="{B544232B-5ECC-F205-1669-7080B1A80E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30" y="11319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2" name="Oval 26">
              <a:extLst>
                <a:ext uri="{FF2B5EF4-FFF2-40B4-BE49-F238E27FC236}">
                  <a16:creationId xmlns:a16="http://schemas.microsoft.com/office/drawing/2014/main" id="{A9794F67-EAAA-0FFD-DE54-7836E3B8A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26" y="10184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3" name="Oval 25">
              <a:extLst>
                <a:ext uri="{FF2B5EF4-FFF2-40B4-BE49-F238E27FC236}">
                  <a16:creationId xmlns:a16="http://schemas.microsoft.com/office/drawing/2014/main" id="{FE770634-5A21-98DC-A180-31454765C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03" y="10184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4" name="Oval 24">
              <a:extLst>
                <a:ext uri="{FF2B5EF4-FFF2-40B4-BE49-F238E27FC236}">
                  <a16:creationId xmlns:a16="http://schemas.microsoft.com/office/drawing/2014/main" id="{E3769519-8A98-F9A3-AC9C-9410F460D8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26" y="12465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5" name="Oval 23">
              <a:extLst>
                <a:ext uri="{FF2B5EF4-FFF2-40B4-BE49-F238E27FC236}">
                  <a16:creationId xmlns:a16="http://schemas.microsoft.com/office/drawing/2014/main" id="{A5452FEF-FE08-2C74-CE0D-32458F9F29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03" y="12495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6" name="Oval 22">
              <a:extLst>
                <a:ext uri="{FF2B5EF4-FFF2-40B4-BE49-F238E27FC236}">
                  <a16:creationId xmlns:a16="http://schemas.microsoft.com/office/drawing/2014/main" id="{13405185-D28B-8EA3-6E9E-6DA2FA1285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43" y="11409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7" name="Oval 21">
              <a:extLst>
                <a:ext uri="{FF2B5EF4-FFF2-40B4-BE49-F238E27FC236}">
                  <a16:creationId xmlns:a16="http://schemas.microsoft.com/office/drawing/2014/main" id="{E2D73570-35AE-40E7-1615-E3353E60FA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51" y="11409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508" name="Oval 20">
              <a:extLst>
                <a:ext uri="{FF2B5EF4-FFF2-40B4-BE49-F238E27FC236}">
                  <a16:creationId xmlns:a16="http://schemas.microsoft.com/office/drawing/2014/main" id="{78EE3942-CF7A-88D8-4D85-7C9440F569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18" y="11409"/>
              <a:ext cx="202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9509" name="AutoShape 19">
              <a:extLst>
                <a:ext uri="{FF2B5EF4-FFF2-40B4-BE49-F238E27FC236}">
                  <a16:creationId xmlns:a16="http://schemas.microsoft.com/office/drawing/2014/main" id="{9D288FB6-70EB-2D8E-3CFB-969719D67C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08" y="10158"/>
              <a:ext cx="193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0" name="AutoShape 18">
              <a:extLst>
                <a:ext uri="{FF2B5EF4-FFF2-40B4-BE49-F238E27FC236}">
                  <a16:creationId xmlns:a16="http://schemas.microsoft.com/office/drawing/2014/main" id="{E2D35186-3469-6C1F-880B-39748B5D1E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60" y="12553"/>
              <a:ext cx="1878" cy="1"/>
            </a:xfrm>
            <a:prstGeom prst="straightConnector1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1" name="AutoShape 17">
              <a:extLst>
                <a:ext uri="{FF2B5EF4-FFF2-40B4-BE49-F238E27FC236}">
                  <a16:creationId xmlns:a16="http://schemas.microsoft.com/office/drawing/2014/main" id="{9C81D3F2-B32F-3A11-54DC-9975173B2C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63" y="10229"/>
              <a:ext cx="773" cy="112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2" name="AutoShape 16">
              <a:extLst>
                <a:ext uri="{FF2B5EF4-FFF2-40B4-BE49-F238E27FC236}">
                  <a16:creationId xmlns:a16="http://schemas.microsoft.com/office/drawing/2014/main" id="{D77BCF5A-C6B6-7D40-A47C-CD2983749D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92" y="11524"/>
              <a:ext cx="896" cy="956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3" name="AutoShape 15">
              <a:extLst>
                <a:ext uri="{FF2B5EF4-FFF2-40B4-BE49-F238E27FC236}">
                  <a16:creationId xmlns:a16="http://schemas.microsoft.com/office/drawing/2014/main" id="{33E050AB-9824-70A1-B49E-A4F4D7C14F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31" y="10259"/>
              <a:ext cx="8" cy="1060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4" name="AutoShape 14">
              <a:extLst>
                <a:ext uri="{FF2B5EF4-FFF2-40B4-BE49-F238E27FC236}">
                  <a16:creationId xmlns:a16="http://schemas.microsoft.com/office/drawing/2014/main" id="{606DBFAC-09E1-5A02-F46C-9B55C102F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31" y="11523"/>
              <a:ext cx="8" cy="9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5" name="AutoShape 13">
              <a:extLst>
                <a:ext uri="{FF2B5EF4-FFF2-40B4-BE49-F238E27FC236}">
                  <a16:creationId xmlns:a16="http://schemas.microsoft.com/office/drawing/2014/main" id="{961DA0BA-DB90-B3A4-ED2D-6A76738E44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08" y="10259"/>
              <a:ext cx="51" cy="21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6" name="AutoShape 12">
              <a:extLst>
                <a:ext uri="{FF2B5EF4-FFF2-40B4-BE49-F238E27FC236}">
                  <a16:creationId xmlns:a16="http://schemas.microsoft.com/office/drawing/2014/main" id="{08382C63-D60B-10FB-10F3-49764F17DE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79" y="10229"/>
              <a:ext cx="682" cy="1120"/>
            </a:xfrm>
            <a:prstGeom prst="straightConnector1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7" name="AutoShape 11">
              <a:extLst>
                <a:ext uri="{FF2B5EF4-FFF2-40B4-BE49-F238E27FC236}">
                  <a16:creationId xmlns:a16="http://schemas.microsoft.com/office/drawing/2014/main" id="{E9B4E081-16FD-2745-4F06-D2B759BC8C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30" y="11522"/>
              <a:ext cx="702" cy="9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8" name="AutoShape 10">
              <a:extLst>
                <a:ext uri="{FF2B5EF4-FFF2-40B4-BE49-F238E27FC236}">
                  <a16:creationId xmlns:a16="http://schemas.microsoft.com/office/drawing/2014/main" id="{32CBBAEB-C97E-8B91-209C-7E85B2AC13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33" y="11421"/>
              <a:ext cx="1097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9" name="AutoShape 9">
              <a:extLst>
                <a:ext uri="{FF2B5EF4-FFF2-40B4-BE49-F238E27FC236}">
                  <a16:creationId xmlns:a16="http://schemas.microsoft.com/office/drawing/2014/main" id="{488CE504-C2AE-360B-B0C9-BE7935152F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892" y="10229"/>
              <a:ext cx="2876" cy="11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0" name="AutoShape 8">
              <a:extLst>
                <a:ext uri="{FF2B5EF4-FFF2-40B4-BE49-F238E27FC236}">
                  <a16:creationId xmlns:a16="http://schemas.microsoft.com/office/drawing/2014/main" id="{40AB940C-9F88-9B9E-6492-901C7F2655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92" y="11422"/>
              <a:ext cx="2876" cy="10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1" name="AutoShape 7">
              <a:extLst>
                <a:ext uri="{FF2B5EF4-FFF2-40B4-BE49-F238E27FC236}">
                  <a16:creationId xmlns:a16="http://schemas.microsoft.com/office/drawing/2014/main" id="{598A7844-E3B4-1CF5-74B7-6B219A42C8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15" y="10388"/>
              <a:ext cx="812" cy="10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2" name="AutoShape 6">
              <a:extLst>
                <a:ext uri="{FF2B5EF4-FFF2-40B4-BE49-F238E27FC236}">
                  <a16:creationId xmlns:a16="http://schemas.microsoft.com/office/drawing/2014/main" id="{BC43BB91-7377-808F-EC7E-277553C907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15" y="11583"/>
              <a:ext cx="741" cy="9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3" name="AutoShape 5">
              <a:extLst>
                <a:ext uri="{FF2B5EF4-FFF2-40B4-BE49-F238E27FC236}">
                  <a16:creationId xmlns:a16="http://schemas.microsoft.com/office/drawing/2014/main" id="{BF4623E3-B0EC-25FB-C549-F82F5DD4A4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27" y="10388"/>
              <a:ext cx="754" cy="10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4" name="AutoShape 4">
              <a:extLst>
                <a:ext uri="{FF2B5EF4-FFF2-40B4-BE49-F238E27FC236}">
                  <a16:creationId xmlns:a16="http://schemas.microsoft.com/office/drawing/2014/main" id="{F4C3D057-EED4-D671-934F-9BB0D297E2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3" y="11511"/>
              <a:ext cx="86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5" name="AutoShape 3">
              <a:extLst>
                <a:ext uri="{FF2B5EF4-FFF2-40B4-BE49-F238E27FC236}">
                  <a16:creationId xmlns:a16="http://schemas.microsoft.com/office/drawing/2014/main" id="{118B7C65-66E2-F0A2-B1D2-A76326BFF6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04" y="10388"/>
              <a:ext cx="15" cy="10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6" name="AutoShape 2">
              <a:extLst>
                <a:ext uri="{FF2B5EF4-FFF2-40B4-BE49-F238E27FC236}">
                  <a16:creationId xmlns:a16="http://schemas.microsoft.com/office/drawing/2014/main" id="{0541D1C7-177B-15E0-2F82-D66E4EAE83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28" y="12567"/>
              <a:ext cx="1675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26BDCBA8-1408-05A7-029A-9520E47C2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438B4-AD25-87CD-5F94-D4DFE451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算法</a:t>
            </a:r>
            <a:r>
              <a:rPr lang="en-US" altLang="zh-CN" b="1" dirty="0">
                <a:solidFill>
                  <a:srgbClr val="FF0000"/>
                </a:solidFill>
              </a:rPr>
              <a:t>8.4.2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克鲁斯卡尔算法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procedure</a:t>
            </a:r>
            <a:r>
              <a:rPr lang="en-US" altLang="zh-CN" dirty="0"/>
              <a:t> </a:t>
            </a:r>
            <a:r>
              <a:rPr lang="en-US" altLang="zh-CN" dirty="0" err="1"/>
              <a:t>Kruskal</a:t>
            </a:r>
            <a:r>
              <a:rPr lang="en-US" altLang="zh-CN" dirty="0"/>
              <a:t>(n</a:t>
            </a:r>
            <a:r>
              <a:rPr lang="zh-CN" altLang="zh-CN" dirty="0"/>
              <a:t>个顶点连通加权无向图</a:t>
            </a:r>
            <a:r>
              <a:rPr lang="en-US" altLang="zh-CN" dirty="0"/>
              <a:t>G)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T:=</a:t>
            </a:r>
            <a:r>
              <a:rPr lang="zh-CN" altLang="zh-CN" dirty="0"/>
              <a:t>空图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for</a:t>
            </a:r>
            <a:r>
              <a:rPr lang="en-US" altLang="zh-CN" dirty="0"/>
              <a:t> i:=1 </a:t>
            </a:r>
            <a:r>
              <a:rPr lang="en-US" altLang="zh-CN" b="1" dirty="0">
                <a:solidFill>
                  <a:schemeClr val="accent1"/>
                </a:solidFill>
              </a:rPr>
              <a:t>to</a:t>
            </a:r>
            <a:r>
              <a:rPr lang="en-US" altLang="zh-CN" dirty="0"/>
              <a:t> n</a:t>
            </a:r>
            <a:r>
              <a:rPr lang="zh-CN" altLang="zh-CN" dirty="0"/>
              <a:t>－</a:t>
            </a:r>
            <a:r>
              <a:rPr lang="en-US" altLang="zh-CN" dirty="0"/>
              <a:t>1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Begin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e:=</a:t>
            </a:r>
            <a:r>
              <a:rPr lang="zh-CN" altLang="zh-CN" dirty="0"/>
              <a:t>当添加到</a:t>
            </a:r>
            <a:r>
              <a:rPr lang="en-US" altLang="zh-CN" dirty="0"/>
              <a:t>T</a:t>
            </a:r>
            <a:r>
              <a:rPr lang="zh-CN" altLang="zh-CN" dirty="0"/>
              <a:t>里时不形成圈的</a:t>
            </a:r>
            <a:r>
              <a:rPr lang="en-US" altLang="zh-CN" dirty="0"/>
              <a:t>G</a:t>
            </a:r>
            <a:r>
              <a:rPr lang="zh-CN" altLang="zh-CN" dirty="0"/>
              <a:t>里权最小的边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T:=</a:t>
            </a:r>
            <a:r>
              <a:rPr lang="zh-CN" altLang="zh-CN" dirty="0"/>
              <a:t>添加</a:t>
            </a:r>
            <a:r>
              <a:rPr lang="en-US" altLang="zh-CN" dirty="0"/>
              <a:t>e</a:t>
            </a:r>
            <a:r>
              <a:rPr lang="zh-CN" altLang="zh-CN" dirty="0"/>
              <a:t>之后的</a:t>
            </a:r>
            <a:r>
              <a:rPr lang="en-US" altLang="zh-CN" dirty="0"/>
              <a:t>T</a:t>
            </a:r>
            <a:endParaRPr lang="zh-CN" altLang="zh-CN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end</a:t>
            </a:r>
            <a:r>
              <a:rPr lang="en-US" altLang="zh-CN" dirty="0"/>
              <a:t>{T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的最小生成树</a:t>
            </a: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0C12B36A-16E5-1B58-25A9-61BDD6C15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45134A97-775F-BA60-2358-08C2E47E2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66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/>
              <a:t>克鲁斯卡尔算法</a:t>
            </a:r>
            <a:endParaRPr lang="zh-CN" altLang="en-US"/>
          </a:p>
        </p:txBody>
      </p:sp>
      <p:sp>
        <p:nvSpPr>
          <p:cNvPr id="21508" name="Rectangle 29">
            <a:extLst>
              <a:ext uri="{FF2B5EF4-FFF2-40B4-BE49-F238E27FC236}">
                <a16:creationId xmlns:a16="http://schemas.microsoft.com/office/drawing/2014/main" id="{DEDE3D04-DB82-0D87-EE37-0AD3A6EDE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21509" name="Group 1">
            <a:extLst>
              <a:ext uri="{FF2B5EF4-FFF2-40B4-BE49-F238E27FC236}">
                <a16:creationId xmlns:a16="http://schemas.microsoft.com/office/drawing/2014/main" id="{2C5267D7-4A4A-01D4-3231-07AAA8CD2A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3141663"/>
            <a:ext cx="3008312" cy="3455987"/>
            <a:chOff x="2242" y="7265"/>
            <a:chExt cx="2821" cy="3240"/>
          </a:xfrm>
        </p:grpSpPr>
        <p:sp>
          <p:nvSpPr>
            <p:cNvPr id="21531" name="AutoShape 28">
              <a:extLst>
                <a:ext uri="{FF2B5EF4-FFF2-40B4-BE49-F238E27FC236}">
                  <a16:creationId xmlns:a16="http://schemas.microsoft.com/office/drawing/2014/main" id="{AF305BA4-C673-1B05-7886-58D25E0F835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Text Box 27">
              <a:extLst>
                <a:ext uri="{FF2B5EF4-FFF2-40B4-BE49-F238E27FC236}">
                  <a16:creationId xmlns:a16="http://schemas.microsoft.com/office/drawing/2014/main" id="{0BC8AC13-917A-011B-8E01-E01294462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1533" name="Text Box 26">
              <a:extLst>
                <a:ext uri="{FF2B5EF4-FFF2-40B4-BE49-F238E27FC236}">
                  <a16:creationId xmlns:a16="http://schemas.microsoft.com/office/drawing/2014/main" id="{BF1FD48B-3BF5-A9EE-80A8-2F6DBFCF1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1534" name="Text Box 25">
              <a:extLst>
                <a:ext uri="{FF2B5EF4-FFF2-40B4-BE49-F238E27FC236}">
                  <a16:creationId xmlns:a16="http://schemas.microsoft.com/office/drawing/2014/main" id="{5759DE06-D3D6-92D8-5639-A53AE285E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9706"/>
              <a:ext cx="57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1535" name="Text Box 24">
              <a:extLst>
                <a:ext uri="{FF2B5EF4-FFF2-40B4-BE49-F238E27FC236}">
                  <a16:creationId xmlns:a16="http://schemas.microsoft.com/office/drawing/2014/main" id="{00C2B502-E576-0EFC-6B25-8CCEC5EAD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1536" name="Text Box 23">
              <a:extLst>
                <a:ext uri="{FF2B5EF4-FFF2-40B4-BE49-F238E27FC236}">
                  <a16:creationId xmlns:a16="http://schemas.microsoft.com/office/drawing/2014/main" id="{51A265EB-6B4B-0EB3-437E-973925E32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1537" name="Text Box 22">
              <a:extLst>
                <a:ext uri="{FF2B5EF4-FFF2-40B4-BE49-F238E27FC236}">
                  <a16:creationId xmlns:a16="http://schemas.microsoft.com/office/drawing/2014/main" id="{89626E6D-5120-B1E7-539B-D2E490AA2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1538" name="Text Box 21">
              <a:extLst>
                <a:ext uri="{FF2B5EF4-FFF2-40B4-BE49-F238E27FC236}">
                  <a16:creationId xmlns:a16="http://schemas.microsoft.com/office/drawing/2014/main" id="{AEBD9B97-0E20-F9D1-47D7-D6D86C5EC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9145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1539" name="Text Box 20">
              <a:extLst>
                <a:ext uri="{FF2B5EF4-FFF2-40B4-BE49-F238E27FC236}">
                  <a16:creationId xmlns:a16="http://schemas.microsoft.com/office/drawing/2014/main" id="{69A13AC8-80D3-398F-E634-E8126647E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1540" name="Text Box 19">
              <a:extLst>
                <a:ext uri="{FF2B5EF4-FFF2-40B4-BE49-F238E27FC236}">
                  <a16:creationId xmlns:a16="http://schemas.microsoft.com/office/drawing/2014/main" id="{FD623F89-5013-511B-B464-6ED90769F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1541" name="Text Box 18">
              <a:extLst>
                <a:ext uri="{FF2B5EF4-FFF2-40B4-BE49-F238E27FC236}">
                  <a16:creationId xmlns:a16="http://schemas.microsoft.com/office/drawing/2014/main" id="{5E4426FB-CD4F-E69E-8738-9EA9339D0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1542" name="Oval 17">
              <a:extLst>
                <a:ext uri="{FF2B5EF4-FFF2-40B4-BE49-F238E27FC236}">
                  <a16:creationId xmlns:a16="http://schemas.microsoft.com/office/drawing/2014/main" id="{AD099930-CAED-3092-E719-965C12D174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543" name="Oval 16">
              <a:extLst>
                <a:ext uri="{FF2B5EF4-FFF2-40B4-BE49-F238E27FC236}">
                  <a16:creationId xmlns:a16="http://schemas.microsoft.com/office/drawing/2014/main" id="{DACBC54F-CC56-E286-7C3F-5D2C0C0408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544" name="Oval 15">
              <a:extLst>
                <a:ext uri="{FF2B5EF4-FFF2-40B4-BE49-F238E27FC236}">
                  <a16:creationId xmlns:a16="http://schemas.microsoft.com/office/drawing/2014/main" id="{3A617EAB-2507-A407-8C12-8F9F9AC894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545" name="Oval 14">
              <a:extLst>
                <a:ext uri="{FF2B5EF4-FFF2-40B4-BE49-F238E27FC236}">
                  <a16:creationId xmlns:a16="http://schemas.microsoft.com/office/drawing/2014/main" id="{E631E81C-1B0B-DC6D-FEA8-ED5F0905E1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546" name="Oval 13">
              <a:extLst>
                <a:ext uri="{FF2B5EF4-FFF2-40B4-BE49-F238E27FC236}">
                  <a16:creationId xmlns:a16="http://schemas.microsoft.com/office/drawing/2014/main" id="{A5B9798D-55FF-381A-09E4-798CC10A91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547" name="Oval 12">
              <a:extLst>
                <a:ext uri="{FF2B5EF4-FFF2-40B4-BE49-F238E27FC236}">
                  <a16:creationId xmlns:a16="http://schemas.microsoft.com/office/drawing/2014/main" id="{E4EC68D7-EAA2-8F5C-9F49-2EFE2F3460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1548" name="AutoShape 11">
              <a:extLst>
                <a:ext uri="{FF2B5EF4-FFF2-40B4-BE49-F238E27FC236}">
                  <a16:creationId xmlns:a16="http://schemas.microsoft.com/office/drawing/2014/main" id="{BAB07A03-7F5F-8C79-3B72-ED2DD967A3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9" name="AutoShape 10">
              <a:extLst>
                <a:ext uri="{FF2B5EF4-FFF2-40B4-BE49-F238E27FC236}">
                  <a16:creationId xmlns:a16="http://schemas.microsoft.com/office/drawing/2014/main" id="{7598F91E-0E9E-DBF5-AC65-6A35044D32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0" name="AutoShape 9">
              <a:extLst>
                <a:ext uri="{FF2B5EF4-FFF2-40B4-BE49-F238E27FC236}">
                  <a16:creationId xmlns:a16="http://schemas.microsoft.com/office/drawing/2014/main" id="{5B4EC291-D96A-5667-C43B-82439243F2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1" name="AutoShape 8">
              <a:extLst>
                <a:ext uri="{FF2B5EF4-FFF2-40B4-BE49-F238E27FC236}">
                  <a16:creationId xmlns:a16="http://schemas.microsoft.com/office/drawing/2014/main" id="{8197B502-9C21-7474-6D74-507B4A1BF7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2" name="AutoShape 7">
              <a:extLst>
                <a:ext uri="{FF2B5EF4-FFF2-40B4-BE49-F238E27FC236}">
                  <a16:creationId xmlns:a16="http://schemas.microsoft.com/office/drawing/2014/main" id="{E409443A-CFE6-4380-0DE0-3A99796B27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3" name="AutoShape 6">
              <a:extLst>
                <a:ext uri="{FF2B5EF4-FFF2-40B4-BE49-F238E27FC236}">
                  <a16:creationId xmlns:a16="http://schemas.microsoft.com/office/drawing/2014/main" id="{2D97CBB8-9BB3-D2BA-B509-EBAE0E9F76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9598"/>
              <a:ext cx="820" cy="6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4" name="AutoShape 5">
              <a:extLst>
                <a:ext uri="{FF2B5EF4-FFF2-40B4-BE49-F238E27FC236}">
                  <a16:creationId xmlns:a16="http://schemas.microsoft.com/office/drawing/2014/main" id="{95ECF089-3B35-8017-0B65-5F3425ECD3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5" name="AutoShape 4">
              <a:extLst>
                <a:ext uri="{FF2B5EF4-FFF2-40B4-BE49-F238E27FC236}">
                  <a16:creationId xmlns:a16="http://schemas.microsoft.com/office/drawing/2014/main" id="{C01621FE-F7DD-A6C6-8531-7EEC67BEA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3">
              <a:extLst>
                <a:ext uri="{FF2B5EF4-FFF2-40B4-BE49-F238E27FC236}">
                  <a16:creationId xmlns:a16="http://schemas.microsoft.com/office/drawing/2014/main" id="{5EC46A67-F69E-8996-5A12-8A38695CFF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2">
              <a:extLst>
                <a:ext uri="{FF2B5EF4-FFF2-40B4-BE49-F238E27FC236}">
                  <a16:creationId xmlns:a16="http://schemas.microsoft.com/office/drawing/2014/main" id="{A2EA116A-A5F9-BCC6-BD66-E9767F902A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8286"/>
              <a:ext cx="805" cy="19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10" name="Rectangle 102">
            <a:extLst>
              <a:ext uri="{FF2B5EF4-FFF2-40B4-BE49-F238E27FC236}">
                <a16:creationId xmlns:a16="http://schemas.microsoft.com/office/drawing/2014/main" id="{BE9C37E5-6F64-62F7-C7A2-50781986E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1" name="Rectangle 136">
            <a:extLst>
              <a:ext uri="{FF2B5EF4-FFF2-40B4-BE49-F238E27FC236}">
                <a16:creationId xmlns:a16="http://schemas.microsoft.com/office/drawing/2014/main" id="{56785D9A-CA7E-6516-3764-A3D9A423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2" name="AutoShape 28">
            <a:extLst>
              <a:ext uri="{FF2B5EF4-FFF2-40B4-BE49-F238E27FC236}">
                <a16:creationId xmlns:a16="http://schemas.microsoft.com/office/drawing/2014/main" id="{996A4EBA-B270-2F27-9E55-8A740ADDFC2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292475" y="3141663"/>
            <a:ext cx="2913063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Text Box 23">
            <a:extLst>
              <a:ext uri="{FF2B5EF4-FFF2-40B4-BE49-F238E27FC236}">
                <a16:creationId xmlns:a16="http://schemas.microsoft.com/office/drawing/2014/main" id="{4B3AF3E1-8282-77BD-341C-63183530C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3198813"/>
            <a:ext cx="684212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1514" name="Oval 17">
            <a:extLst>
              <a:ext uri="{FF2B5EF4-FFF2-40B4-BE49-F238E27FC236}">
                <a16:creationId xmlns:a16="http://schemas.microsoft.com/office/drawing/2014/main" id="{0672037C-EA54-F33B-3675-B09A957B8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8713" y="4014788"/>
            <a:ext cx="214312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5" name="Oval 16">
            <a:extLst>
              <a:ext uri="{FF2B5EF4-FFF2-40B4-BE49-F238E27FC236}">
                <a16:creationId xmlns:a16="http://schemas.microsoft.com/office/drawing/2014/main" id="{B493FBCD-D3D1-07FD-7AA4-0D7EC51C0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8713" y="5445125"/>
            <a:ext cx="214312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6" name="Oval 15">
            <a:extLst>
              <a:ext uri="{FF2B5EF4-FFF2-40B4-BE49-F238E27FC236}">
                <a16:creationId xmlns:a16="http://schemas.microsoft.com/office/drawing/2014/main" id="{899152AE-639D-C094-7654-6DF8795D8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53075" y="4014788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7" name="Oval 14">
            <a:extLst>
              <a:ext uri="{FF2B5EF4-FFF2-40B4-BE49-F238E27FC236}">
                <a16:creationId xmlns:a16="http://schemas.microsoft.com/office/drawing/2014/main" id="{DCCEE120-AD1D-2C1E-1CB7-0045370614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5450" y="5445125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8" name="Oval 13">
            <a:extLst>
              <a:ext uri="{FF2B5EF4-FFF2-40B4-BE49-F238E27FC236}">
                <a16:creationId xmlns:a16="http://schemas.microsoft.com/office/drawing/2014/main" id="{5E579B02-2CED-1D64-9C9F-73C03754C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9625" y="6270625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19" name="Oval 12">
            <a:extLst>
              <a:ext uri="{FF2B5EF4-FFF2-40B4-BE49-F238E27FC236}">
                <a16:creationId xmlns:a16="http://schemas.microsoft.com/office/drawing/2014/main" id="{66F399C9-F2B1-20A2-8012-BCDF2115EA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9625" y="3149600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1520" name="AutoShape 11">
            <a:extLst>
              <a:ext uri="{FF2B5EF4-FFF2-40B4-BE49-F238E27FC236}">
                <a16:creationId xmlns:a16="http://schemas.microsoft.com/office/drawing/2014/main" id="{D1800FED-2015-1F27-5E17-F38433A0AC9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52863" y="3367088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1" name="Text Box 23">
            <a:extLst>
              <a:ext uri="{FF2B5EF4-FFF2-40B4-BE49-F238E27FC236}">
                <a16:creationId xmlns:a16="http://schemas.microsoft.com/office/drawing/2014/main" id="{7681AD00-7488-118B-5624-EB6B768AD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149600"/>
            <a:ext cx="684212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1522" name="Oval 17">
            <a:extLst>
              <a:ext uri="{FF2B5EF4-FFF2-40B4-BE49-F238E27FC236}">
                <a16:creationId xmlns:a16="http://schemas.microsoft.com/office/drawing/2014/main" id="{256B01F9-5B61-AF49-6FD0-8B3C9B59AA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3965575"/>
            <a:ext cx="214312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23" name="Oval 16">
            <a:extLst>
              <a:ext uri="{FF2B5EF4-FFF2-40B4-BE49-F238E27FC236}">
                <a16:creationId xmlns:a16="http://schemas.microsoft.com/office/drawing/2014/main" id="{35620166-8674-EE7E-8132-CD5810FE34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5397500"/>
            <a:ext cx="214312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24" name="Oval 15">
            <a:extLst>
              <a:ext uri="{FF2B5EF4-FFF2-40B4-BE49-F238E27FC236}">
                <a16:creationId xmlns:a16="http://schemas.microsoft.com/office/drawing/2014/main" id="{E86EF356-DA23-2D94-8B7E-5637FCCAE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56600" y="3965575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25" name="Oval 14">
            <a:extLst>
              <a:ext uri="{FF2B5EF4-FFF2-40B4-BE49-F238E27FC236}">
                <a16:creationId xmlns:a16="http://schemas.microsoft.com/office/drawing/2014/main" id="{E0799D4C-A05F-22BF-E501-CEBAE12A9B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8975" y="5397500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26" name="Oval 13">
            <a:extLst>
              <a:ext uri="{FF2B5EF4-FFF2-40B4-BE49-F238E27FC236}">
                <a16:creationId xmlns:a16="http://schemas.microsoft.com/office/drawing/2014/main" id="{D0A58BBB-B419-7A36-467C-1334676707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6223000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27" name="Oval 12">
            <a:extLst>
              <a:ext uri="{FF2B5EF4-FFF2-40B4-BE49-F238E27FC236}">
                <a16:creationId xmlns:a16="http://schemas.microsoft.com/office/drawing/2014/main" id="{77A448DF-3E08-D3FA-F2D0-2A860F5447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3101975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1528" name="AutoShape 11">
            <a:extLst>
              <a:ext uri="{FF2B5EF4-FFF2-40B4-BE49-F238E27FC236}">
                <a16:creationId xmlns:a16="http://schemas.microsoft.com/office/drawing/2014/main" id="{75CEDDA5-92C1-06CB-D316-CFB4E525A8A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56388" y="3319463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9" name="Text Box 24">
            <a:extLst>
              <a:ext uri="{FF2B5EF4-FFF2-40B4-BE49-F238E27FC236}">
                <a16:creationId xmlns:a16="http://schemas.microsoft.com/office/drawing/2014/main" id="{634AC139-CF21-913B-8928-97B212FFC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175" y="4391025"/>
            <a:ext cx="67945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cxnSp>
        <p:nvCxnSpPr>
          <p:cNvPr id="21530" name="AutoShape 9">
            <a:extLst>
              <a:ext uri="{FF2B5EF4-FFF2-40B4-BE49-F238E27FC236}">
                <a16:creationId xmlns:a16="http://schemas.microsoft.com/office/drawing/2014/main" id="{3693A6BD-7A98-8533-3EB8-A6CA020AD8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5425" y="4178300"/>
            <a:ext cx="1588" cy="12144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224CD11D-75CB-7CA5-CAE5-77A476C1D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1D816B6D-FE46-6565-BFB1-573F2FD58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66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/>
              <a:t>克鲁斯卡尔算法</a:t>
            </a:r>
            <a:endParaRPr lang="zh-CN" altLang="en-US"/>
          </a:p>
        </p:txBody>
      </p:sp>
      <p:sp>
        <p:nvSpPr>
          <p:cNvPr id="23556" name="Rectangle 29">
            <a:extLst>
              <a:ext uri="{FF2B5EF4-FFF2-40B4-BE49-F238E27FC236}">
                <a16:creationId xmlns:a16="http://schemas.microsoft.com/office/drawing/2014/main" id="{2EA98388-56A4-0E3B-32CA-45C8B5C28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23557" name="Group 1">
            <a:extLst>
              <a:ext uri="{FF2B5EF4-FFF2-40B4-BE49-F238E27FC236}">
                <a16:creationId xmlns:a16="http://schemas.microsoft.com/office/drawing/2014/main" id="{5F2AE556-4517-5867-888B-F9D95A3F71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3141663"/>
            <a:ext cx="3008312" cy="3455987"/>
            <a:chOff x="2242" y="7265"/>
            <a:chExt cx="2821" cy="3240"/>
          </a:xfrm>
        </p:grpSpPr>
        <p:sp>
          <p:nvSpPr>
            <p:cNvPr id="23587" name="AutoShape 28">
              <a:extLst>
                <a:ext uri="{FF2B5EF4-FFF2-40B4-BE49-F238E27FC236}">
                  <a16:creationId xmlns:a16="http://schemas.microsoft.com/office/drawing/2014/main" id="{4E222D1C-53D4-CDD4-9805-EC59335DE52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Text Box 27">
              <a:extLst>
                <a:ext uri="{FF2B5EF4-FFF2-40B4-BE49-F238E27FC236}">
                  <a16:creationId xmlns:a16="http://schemas.microsoft.com/office/drawing/2014/main" id="{ED5FC78F-2560-58AC-95FA-C1DD283D6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3589" name="Text Box 26">
              <a:extLst>
                <a:ext uri="{FF2B5EF4-FFF2-40B4-BE49-F238E27FC236}">
                  <a16:creationId xmlns:a16="http://schemas.microsoft.com/office/drawing/2014/main" id="{F2A720E8-09A5-196F-13C4-58CA5FDA3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3590" name="Text Box 25">
              <a:extLst>
                <a:ext uri="{FF2B5EF4-FFF2-40B4-BE49-F238E27FC236}">
                  <a16:creationId xmlns:a16="http://schemas.microsoft.com/office/drawing/2014/main" id="{C7351C8E-310B-EE81-E7AE-DAFA01676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9706"/>
              <a:ext cx="57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3591" name="Text Box 24">
              <a:extLst>
                <a:ext uri="{FF2B5EF4-FFF2-40B4-BE49-F238E27FC236}">
                  <a16:creationId xmlns:a16="http://schemas.microsoft.com/office/drawing/2014/main" id="{950C3439-58AE-E423-881C-FD702B6CA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3592" name="Text Box 23">
              <a:extLst>
                <a:ext uri="{FF2B5EF4-FFF2-40B4-BE49-F238E27FC236}">
                  <a16:creationId xmlns:a16="http://schemas.microsoft.com/office/drawing/2014/main" id="{1E5BEB03-0672-BF47-6A34-B24ADC165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3593" name="Text Box 22">
              <a:extLst>
                <a:ext uri="{FF2B5EF4-FFF2-40B4-BE49-F238E27FC236}">
                  <a16:creationId xmlns:a16="http://schemas.microsoft.com/office/drawing/2014/main" id="{24F9181C-EF83-45FE-62A8-4845F393E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3594" name="Text Box 21">
              <a:extLst>
                <a:ext uri="{FF2B5EF4-FFF2-40B4-BE49-F238E27FC236}">
                  <a16:creationId xmlns:a16="http://schemas.microsoft.com/office/drawing/2014/main" id="{DB6A3388-16F6-4CEF-9085-ECFCBB6D4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9145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3595" name="Text Box 20">
              <a:extLst>
                <a:ext uri="{FF2B5EF4-FFF2-40B4-BE49-F238E27FC236}">
                  <a16:creationId xmlns:a16="http://schemas.microsoft.com/office/drawing/2014/main" id="{DFD9999D-A6B8-718F-CC89-7E50ED64D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3596" name="Text Box 19">
              <a:extLst>
                <a:ext uri="{FF2B5EF4-FFF2-40B4-BE49-F238E27FC236}">
                  <a16:creationId xmlns:a16="http://schemas.microsoft.com/office/drawing/2014/main" id="{75013F4B-20ED-4E96-A40D-D3DD0EBA3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3597" name="Text Box 18">
              <a:extLst>
                <a:ext uri="{FF2B5EF4-FFF2-40B4-BE49-F238E27FC236}">
                  <a16:creationId xmlns:a16="http://schemas.microsoft.com/office/drawing/2014/main" id="{E7B96F30-4AAE-E9A5-9E96-0AF6837DE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3598" name="Oval 17">
              <a:extLst>
                <a:ext uri="{FF2B5EF4-FFF2-40B4-BE49-F238E27FC236}">
                  <a16:creationId xmlns:a16="http://schemas.microsoft.com/office/drawing/2014/main" id="{D22D2281-3E62-E96A-61AE-742AC63892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599" name="Oval 16">
              <a:extLst>
                <a:ext uri="{FF2B5EF4-FFF2-40B4-BE49-F238E27FC236}">
                  <a16:creationId xmlns:a16="http://schemas.microsoft.com/office/drawing/2014/main" id="{4DEA90B1-DE02-753E-760C-9D74E6BF5A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600" name="Oval 15">
              <a:extLst>
                <a:ext uri="{FF2B5EF4-FFF2-40B4-BE49-F238E27FC236}">
                  <a16:creationId xmlns:a16="http://schemas.microsoft.com/office/drawing/2014/main" id="{367F96CA-375D-38E6-5BA1-92671F3A09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601" name="Oval 14">
              <a:extLst>
                <a:ext uri="{FF2B5EF4-FFF2-40B4-BE49-F238E27FC236}">
                  <a16:creationId xmlns:a16="http://schemas.microsoft.com/office/drawing/2014/main" id="{42C53B09-7D63-5FCA-205D-56BC923DAD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602" name="Oval 13">
              <a:extLst>
                <a:ext uri="{FF2B5EF4-FFF2-40B4-BE49-F238E27FC236}">
                  <a16:creationId xmlns:a16="http://schemas.microsoft.com/office/drawing/2014/main" id="{20A29369-7B2B-FF58-4E13-FD3EFAE7C8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603" name="Oval 12">
              <a:extLst>
                <a:ext uri="{FF2B5EF4-FFF2-40B4-BE49-F238E27FC236}">
                  <a16:creationId xmlns:a16="http://schemas.microsoft.com/office/drawing/2014/main" id="{1529362A-61B6-309D-EE49-4578352A62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3604" name="AutoShape 11">
              <a:extLst>
                <a:ext uri="{FF2B5EF4-FFF2-40B4-BE49-F238E27FC236}">
                  <a16:creationId xmlns:a16="http://schemas.microsoft.com/office/drawing/2014/main" id="{D9D75F6E-B0FE-2309-7AD3-62882D7140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05" name="AutoShape 10">
              <a:extLst>
                <a:ext uri="{FF2B5EF4-FFF2-40B4-BE49-F238E27FC236}">
                  <a16:creationId xmlns:a16="http://schemas.microsoft.com/office/drawing/2014/main" id="{9775083B-458A-E66D-4713-F6C3F0AD7B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06" name="AutoShape 9">
              <a:extLst>
                <a:ext uri="{FF2B5EF4-FFF2-40B4-BE49-F238E27FC236}">
                  <a16:creationId xmlns:a16="http://schemas.microsoft.com/office/drawing/2014/main" id="{8681E439-1286-5980-A221-29F613799E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07" name="AutoShape 8">
              <a:extLst>
                <a:ext uri="{FF2B5EF4-FFF2-40B4-BE49-F238E27FC236}">
                  <a16:creationId xmlns:a16="http://schemas.microsoft.com/office/drawing/2014/main" id="{8AF6230A-B862-C977-BCFB-469D96EC42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08" name="AutoShape 7">
              <a:extLst>
                <a:ext uri="{FF2B5EF4-FFF2-40B4-BE49-F238E27FC236}">
                  <a16:creationId xmlns:a16="http://schemas.microsoft.com/office/drawing/2014/main" id="{E955515A-02B8-3548-73DA-7903EDB73D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09" name="AutoShape 6">
              <a:extLst>
                <a:ext uri="{FF2B5EF4-FFF2-40B4-BE49-F238E27FC236}">
                  <a16:creationId xmlns:a16="http://schemas.microsoft.com/office/drawing/2014/main" id="{4CADCAD9-AE56-EEB4-AB94-1724EB1782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9598"/>
              <a:ext cx="820" cy="6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10" name="AutoShape 5">
              <a:extLst>
                <a:ext uri="{FF2B5EF4-FFF2-40B4-BE49-F238E27FC236}">
                  <a16:creationId xmlns:a16="http://schemas.microsoft.com/office/drawing/2014/main" id="{95BD7E1E-4D7C-3F5C-6AA1-9798046836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11" name="AutoShape 4">
              <a:extLst>
                <a:ext uri="{FF2B5EF4-FFF2-40B4-BE49-F238E27FC236}">
                  <a16:creationId xmlns:a16="http://schemas.microsoft.com/office/drawing/2014/main" id="{28F3F257-0C42-694E-94F4-8A0BB16DB3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12" name="AutoShape 3">
              <a:extLst>
                <a:ext uri="{FF2B5EF4-FFF2-40B4-BE49-F238E27FC236}">
                  <a16:creationId xmlns:a16="http://schemas.microsoft.com/office/drawing/2014/main" id="{EBAF3569-4409-AE39-E734-E069CFFD51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13" name="AutoShape 2">
              <a:extLst>
                <a:ext uri="{FF2B5EF4-FFF2-40B4-BE49-F238E27FC236}">
                  <a16:creationId xmlns:a16="http://schemas.microsoft.com/office/drawing/2014/main" id="{CF6D1DB3-C2E0-AD66-238A-C662BA89A7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8286"/>
              <a:ext cx="805" cy="19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58" name="Rectangle 102">
            <a:extLst>
              <a:ext uri="{FF2B5EF4-FFF2-40B4-BE49-F238E27FC236}">
                <a16:creationId xmlns:a16="http://schemas.microsoft.com/office/drawing/2014/main" id="{F15B9373-B856-5E27-32FF-4BAD0DEEF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59" name="Rectangle 136">
            <a:extLst>
              <a:ext uri="{FF2B5EF4-FFF2-40B4-BE49-F238E27FC236}">
                <a16:creationId xmlns:a16="http://schemas.microsoft.com/office/drawing/2014/main" id="{638D8E1E-9456-0706-D2E9-FBF20ED7C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0" name="AutoShape 28">
            <a:extLst>
              <a:ext uri="{FF2B5EF4-FFF2-40B4-BE49-F238E27FC236}">
                <a16:creationId xmlns:a16="http://schemas.microsoft.com/office/drawing/2014/main" id="{8222894C-B3C6-765C-4F56-D6DA74E8DBF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292475" y="3141663"/>
            <a:ext cx="2913063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Text Box 23">
            <a:extLst>
              <a:ext uri="{FF2B5EF4-FFF2-40B4-BE49-F238E27FC236}">
                <a16:creationId xmlns:a16="http://schemas.microsoft.com/office/drawing/2014/main" id="{27713B01-6797-EC84-C17A-664DF389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149600"/>
            <a:ext cx="684212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3562" name="Oval 17">
            <a:extLst>
              <a:ext uri="{FF2B5EF4-FFF2-40B4-BE49-F238E27FC236}">
                <a16:creationId xmlns:a16="http://schemas.microsoft.com/office/drawing/2014/main" id="{1DC2C831-C7E9-7B65-FD90-80F705C972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3965575"/>
            <a:ext cx="214312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3" name="Oval 16">
            <a:extLst>
              <a:ext uri="{FF2B5EF4-FFF2-40B4-BE49-F238E27FC236}">
                <a16:creationId xmlns:a16="http://schemas.microsoft.com/office/drawing/2014/main" id="{B844495B-FE3D-AE66-A7F3-6D5D079BD3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5397500"/>
            <a:ext cx="214312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4" name="Oval 15">
            <a:extLst>
              <a:ext uri="{FF2B5EF4-FFF2-40B4-BE49-F238E27FC236}">
                <a16:creationId xmlns:a16="http://schemas.microsoft.com/office/drawing/2014/main" id="{8312BF32-7374-DA09-EEF9-60599AA103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56600" y="3965575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5" name="Oval 14">
            <a:extLst>
              <a:ext uri="{FF2B5EF4-FFF2-40B4-BE49-F238E27FC236}">
                <a16:creationId xmlns:a16="http://schemas.microsoft.com/office/drawing/2014/main" id="{86129D6C-D5B8-FC57-47C0-7FCBF4D8C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8975" y="5397500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6" name="Oval 13">
            <a:extLst>
              <a:ext uri="{FF2B5EF4-FFF2-40B4-BE49-F238E27FC236}">
                <a16:creationId xmlns:a16="http://schemas.microsoft.com/office/drawing/2014/main" id="{854CA65D-C347-6D01-6C99-6042000D4C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6223000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67" name="Oval 12">
            <a:extLst>
              <a:ext uri="{FF2B5EF4-FFF2-40B4-BE49-F238E27FC236}">
                <a16:creationId xmlns:a16="http://schemas.microsoft.com/office/drawing/2014/main" id="{A82604E1-A13A-DC52-8CDF-945CED5029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3101975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3568" name="AutoShape 11">
            <a:extLst>
              <a:ext uri="{FF2B5EF4-FFF2-40B4-BE49-F238E27FC236}">
                <a16:creationId xmlns:a16="http://schemas.microsoft.com/office/drawing/2014/main" id="{F0883731-7CC9-7045-BF08-F3CD950AD7B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56388" y="3319463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9" name="Text Box 24">
            <a:extLst>
              <a:ext uri="{FF2B5EF4-FFF2-40B4-BE49-F238E27FC236}">
                <a16:creationId xmlns:a16="http://schemas.microsoft.com/office/drawing/2014/main" id="{7305E2DD-A70C-2727-2B76-C6E26898A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175" y="4391025"/>
            <a:ext cx="67945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cxnSp>
        <p:nvCxnSpPr>
          <p:cNvPr id="23570" name="AutoShape 9">
            <a:extLst>
              <a:ext uri="{FF2B5EF4-FFF2-40B4-BE49-F238E27FC236}">
                <a16:creationId xmlns:a16="http://schemas.microsoft.com/office/drawing/2014/main" id="{4AFA9E6A-209E-7719-6E9C-C05F51D3AD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5425" y="4178300"/>
            <a:ext cx="1588" cy="12144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1" name="Text Box 23">
            <a:extLst>
              <a:ext uri="{FF2B5EF4-FFF2-40B4-BE49-F238E27FC236}">
                <a16:creationId xmlns:a16="http://schemas.microsoft.com/office/drawing/2014/main" id="{93FBEB31-0497-DAFF-9A6F-200370F7F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5" y="3211513"/>
            <a:ext cx="6826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3572" name="Oval 17">
            <a:extLst>
              <a:ext uri="{FF2B5EF4-FFF2-40B4-BE49-F238E27FC236}">
                <a16:creationId xmlns:a16="http://schemas.microsoft.com/office/drawing/2014/main" id="{7DC5C312-3515-2C52-DFF4-40E1539C8A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8400" y="4027488"/>
            <a:ext cx="214313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73" name="Oval 16">
            <a:extLst>
              <a:ext uri="{FF2B5EF4-FFF2-40B4-BE49-F238E27FC236}">
                <a16:creationId xmlns:a16="http://schemas.microsoft.com/office/drawing/2014/main" id="{10989610-870B-C272-7043-2211B72A3B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8400" y="5459413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74" name="Oval 15">
            <a:extLst>
              <a:ext uri="{FF2B5EF4-FFF2-40B4-BE49-F238E27FC236}">
                <a16:creationId xmlns:a16="http://schemas.microsoft.com/office/drawing/2014/main" id="{81AE38A2-E3E9-746F-03A2-B2F6293843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2763" y="4027488"/>
            <a:ext cx="214312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75" name="Oval 14">
            <a:extLst>
              <a:ext uri="{FF2B5EF4-FFF2-40B4-BE49-F238E27FC236}">
                <a16:creationId xmlns:a16="http://schemas.microsoft.com/office/drawing/2014/main" id="{0CB83E60-5055-B3ED-C2D8-BD2547057A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3550" y="5459413"/>
            <a:ext cx="215900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76" name="Oval 13">
            <a:extLst>
              <a:ext uri="{FF2B5EF4-FFF2-40B4-BE49-F238E27FC236}">
                <a16:creationId xmlns:a16="http://schemas.microsoft.com/office/drawing/2014/main" id="{3FFB59A3-7904-436C-A4F6-7D08B4DC90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59313" y="6284913"/>
            <a:ext cx="212725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77" name="Oval 12">
            <a:extLst>
              <a:ext uri="{FF2B5EF4-FFF2-40B4-BE49-F238E27FC236}">
                <a16:creationId xmlns:a16="http://schemas.microsoft.com/office/drawing/2014/main" id="{FBB7335E-0267-5201-1710-354CCADFD7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59313" y="3163888"/>
            <a:ext cx="212725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3578" name="AutoShape 11">
            <a:extLst>
              <a:ext uri="{FF2B5EF4-FFF2-40B4-BE49-F238E27FC236}">
                <a16:creationId xmlns:a16="http://schemas.microsoft.com/office/drawing/2014/main" id="{FDE2966F-B48B-B277-D0FD-104855E22E3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90963" y="3381375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9" name="Text Box 24">
            <a:extLst>
              <a:ext uri="{FF2B5EF4-FFF2-40B4-BE49-F238E27FC236}">
                <a16:creationId xmlns:a16="http://schemas.microsoft.com/office/drawing/2014/main" id="{68882716-0C43-0898-FE36-B85314013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0" y="4452938"/>
            <a:ext cx="679450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cxnSp>
        <p:nvCxnSpPr>
          <p:cNvPr id="23580" name="AutoShape 9">
            <a:extLst>
              <a:ext uri="{FF2B5EF4-FFF2-40B4-BE49-F238E27FC236}">
                <a16:creationId xmlns:a16="http://schemas.microsoft.com/office/drawing/2014/main" id="{B8EF4D6A-5795-2596-F5CE-1E400CF9BB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4240213"/>
            <a:ext cx="1588" cy="1214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1" name="Text Box 22">
            <a:extLst>
              <a:ext uri="{FF2B5EF4-FFF2-40B4-BE49-F238E27FC236}">
                <a16:creationId xmlns:a16="http://schemas.microsoft.com/office/drawing/2014/main" id="{8E369073-E3EE-4D2B-C569-34C69415B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600" y="3217863"/>
            <a:ext cx="646113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3582" name="AutoShape 10">
            <a:extLst>
              <a:ext uri="{FF2B5EF4-FFF2-40B4-BE49-F238E27FC236}">
                <a16:creationId xmlns:a16="http://schemas.microsoft.com/office/drawing/2014/main" id="{9ECC92EF-5396-F531-4E22-913AA88F90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10125" y="3367088"/>
            <a:ext cx="857250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3" name="Text Box 19">
            <a:extLst>
              <a:ext uri="{FF2B5EF4-FFF2-40B4-BE49-F238E27FC236}">
                <a16:creationId xmlns:a16="http://schemas.microsoft.com/office/drawing/2014/main" id="{4B3BDFE2-092F-2442-0DF3-09F6F7154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4076700"/>
            <a:ext cx="59690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3584" name="AutoShape 4">
            <a:extLst>
              <a:ext uri="{FF2B5EF4-FFF2-40B4-BE49-F238E27FC236}">
                <a16:creationId xmlns:a16="http://schemas.microsoft.com/office/drawing/2014/main" id="{7D5FD8BE-462A-A451-AD3F-B23840E5E5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88138" y="4113213"/>
            <a:ext cx="1684337" cy="127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5" name="Text Box 22">
            <a:extLst>
              <a:ext uri="{FF2B5EF4-FFF2-40B4-BE49-F238E27FC236}">
                <a16:creationId xmlns:a16="http://schemas.microsoft.com/office/drawing/2014/main" id="{94687149-3F3D-781A-DDC0-888E074E3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7800" y="3151188"/>
            <a:ext cx="647700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3586" name="AutoShape 10">
            <a:extLst>
              <a:ext uri="{FF2B5EF4-FFF2-40B4-BE49-F238E27FC236}">
                <a16:creationId xmlns:a16="http://schemas.microsoft.com/office/drawing/2014/main" id="{101D6DE8-B03E-9F31-B82B-7D0B3030ED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53325" y="3300413"/>
            <a:ext cx="857250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E02A3E1B-B706-C0B7-EA43-A6452E2CA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BACFACCD-A9A4-DEC2-0718-9E64E3E13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66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/>
              <a:t>克鲁斯卡尔算法</a:t>
            </a:r>
            <a:endParaRPr lang="zh-CN" altLang="en-US"/>
          </a:p>
        </p:txBody>
      </p:sp>
      <p:sp>
        <p:nvSpPr>
          <p:cNvPr id="25604" name="Rectangle 29">
            <a:extLst>
              <a:ext uri="{FF2B5EF4-FFF2-40B4-BE49-F238E27FC236}">
                <a16:creationId xmlns:a16="http://schemas.microsoft.com/office/drawing/2014/main" id="{EB24C7FC-8D92-79A6-52CB-3E23F19A6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25605" name="Group 1">
            <a:extLst>
              <a:ext uri="{FF2B5EF4-FFF2-40B4-BE49-F238E27FC236}">
                <a16:creationId xmlns:a16="http://schemas.microsoft.com/office/drawing/2014/main" id="{0D35486D-46B4-E7AD-F7E2-8C5B50021A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3141663"/>
            <a:ext cx="3008312" cy="3455987"/>
            <a:chOff x="2242" y="7265"/>
            <a:chExt cx="2821" cy="3240"/>
          </a:xfrm>
        </p:grpSpPr>
        <p:sp>
          <p:nvSpPr>
            <p:cNvPr id="25641" name="AutoShape 28">
              <a:extLst>
                <a:ext uri="{FF2B5EF4-FFF2-40B4-BE49-F238E27FC236}">
                  <a16:creationId xmlns:a16="http://schemas.microsoft.com/office/drawing/2014/main" id="{B491E81A-689F-99B1-6467-D16759BEAE5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Text Box 27">
              <a:extLst>
                <a:ext uri="{FF2B5EF4-FFF2-40B4-BE49-F238E27FC236}">
                  <a16:creationId xmlns:a16="http://schemas.microsoft.com/office/drawing/2014/main" id="{F1C033D6-9E35-198F-2345-158531B88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5643" name="Text Box 26">
              <a:extLst>
                <a:ext uri="{FF2B5EF4-FFF2-40B4-BE49-F238E27FC236}">
                  <a16:creationId xmlns:a16="http://schemas.microsoft.com/office/drawing/2014/main" id="{7E4AD73B-C75D-9A0D-4DAF-7963D6A92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5644" name="Text Box 25">
              <a:extLst>
                <a:ext uri="{FF2B5EF4-FFF2-40B4-BE49-F238E27FC236}">
                  <a16:creationId xmlns:a16="http://schemas.microsoft.com/office/drawing/2014/main" id="{6F940E19-8DF5-80AF-BF57-B57E69679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9706"/>
              <a:ext cx="57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5645" name="Text Box 24">
              <a:extLst>
                <a:ext uri="{FF2B5EF4-FFF2-40B4-BE49-F238E27FC236}">
                  <a16:creationId xmlns:a16="http://schemas.microsoft.com/office/drawing/2014/main" id="{7CB4AE21-CF9F-8F64-7EDF-B0D1EC018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5646" name="Text Box 23">
              <a:extLst>
                <a:ext uri="{FF2B5EF4-FFF2-40B4-BE49-F238E27FC236}">
                  <a16:creationId xmlns:a16="http://schemas.microsoft.com/office/drawing/2014/main" id="{BF1D41B1-8479-A09E-72A0-67294A138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5647" name="Text Box 22">
              <a:extLst>
                <a:ext uri="{FF2B5EF4-FFF2-40B4-BE49-F238E27FC236}">
                  <a16:creationId xmlns:a16="http://schemas.microsoft.com/office/drawing/2014/main" id="{54384C8D-33E2-3801-8BBD-0C6428040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5648" name="Text Box 21">
              <a:extLst>
                <a:ext uri="{FF2B5EF4-FFF2-40B4-BE49-F238E27FC236}">
                  <a16:creationId xmlns:a16="http://schemas.microsoft.com/office/drawing/2014/main" id="{C1EEF15D-75A5-A2E1-D4E2-3C7EE879E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9145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5649" name="Text Box 20">
              <a:extLst>
                <a:ext uri="{FF2B5EF4-FFF2-40B4-BE49-F238E27FC236}">
                  <a16:creationId xmlns:a16="http://schemas.microsoft.com/office/drawing/2014/main" id="{08FBF6C2-FD51-BF09-F810-BBEA528D4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5650" name="Text Box 19">
              <a:extLst>
                <a:ext uri="{FF2B5EF4-FFF2-40B4-BE49-F238E27FC236}">
                  <a16:creationId xmlns:a16="http://schemas.microsoft.com/office/drawing/2014/main" id="{7C607095-CD7D-0895-25EE-C64A6167E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5651" name="Text Box 18">
              <a:extLst>
                <a:ext uri="{FF2B5EF4-FFF2-40B4-BE49-F238E27FC236}">
                  <a16:creationId xmlns:a16="http://schemas.microsoft.com/office/drawing/2014/main" id="{385218E9-7DAA-7FBE-0100-B1A45229E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5652" name="Oval 17">
              <a:extLst>
                <a:ext uri="{FF2B5EF4-FFF2-40B4-BE49-F238E27FC236}">
                  <a16:creationId xmlns:a16="http://schemas.microsoft.com/office/drawing/2014/main" id="{761BADD4-C547-C0ED-ED4D-00B88FC9CE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5653" name="Oval 16">
              <a:extLst>
                <a:ext uri="{FF2B5EF4-FFF2-40B4-BE49-F238E27FC236}">
                  <a16:creationId xmlns:a16="http://schemas.microsoft.com/office/drawing/2014/main" id="{95630CFE-6619-8F54-0638-8EC9944068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5654" name="Oval 15">
              <a:extLst>
                <a:ext uri="{FF2B5EF4-FFF2-40B4-BE49-F238E27FC236}">
                  <a16:creationId xmlns:a16="http://schemas.microsoft.com/office/drawing/2014/main" id="{B526A93E-30FF-1281-332B-006E5A8C80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5655" name="Oval 14">
              <a:extLst>
                <a:ext uri="{FF2B5EF4-FFF2-40B4-BE49-F238E27FC236}">
                  <a16:creationId xmlns:a16="http://schemas.microsoft.com/office/drawing/2014/main" id="{F959E6B6-035A-839A-8E67-AC1935235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5656" name="Oval 13">
              <a:extLst>
                <a:ext uri="{FF2B5EF4-FFF2-40B4-BE49-F238E27FC236}">
                  <a16:creationId xmlns:a16="http://schemas.microsoft.com/office/drawing/2014/main" id="{CC67F95C-8840-6A30-123D-F5D27B74ED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5657" name="Oval 12">
              <a:extLst>
                <a:ext uri="{FF2B5EF4-FFF2-40B4-BE49-F238E27FC236}">
                  <a16:creationId xmlns:a16="http://schemas.microsoft.com/office/drawing/2014/main" id="{4E8F02D4-9495-9A32-866A-B96A5A732D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5658" name="AutoShape 11">
              <a:extLst>
                <a:ext uri="{FF2B5EF4-FFF2-40B4-BE49-F238E27FC236}">
                  <a16:creationId xmlns:a16="http://schemas.microsoft.com/office/drawing/2014/main" id="{F7E74CAF-60A3-CD62-3A64-4FDDB13444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9" name="AutoShape 10">
              <a:extLst>
                <a:ext uri="{FF2B5EF4-FFF2-40B4-BE49-F238E27FC236}">
                  <a16:creationId xmlns:a16="http://schemas.microsoft.com/office/drawing/2014/main" id="{160D31D5-B731-D30B-4C65-1A76EA6381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0" name="AutoShape 9">
              <a:extLst>
                <a:ext uri="{FF2B5EF4-FFF2-40B4-BE49-F238E27FC236}">
                  <a16:creationId xmlns:a16="http://schemas.microsoft.com/office/drawing/2014/main" id="{46B813BA-B83D-C4E3-8491-3BD6041994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1" name="AutoShape 8">
              <a:extLst>
                <a:ext uri="{FF2B5EF4-FFF2-40B4-BE49-F238E27FC236}">
                  <a16:creationId xmlns:a16="http://schemas.microsoft.com/office/drawing/2014/main" id="{D7AC9408-DBB9-EA59-6F71-B2E219FCF8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2" name="AutoShape 7">
              <a:extLst>
                <a:ext uri="{FF2B5EF4-FFF2-40B4-BE49-F238E27FC236}">
                  <a16:creationId xmlns:a16="http://schemas.microsoft.com/office/drawing/2014/main" id="{8475CB1A-971E-159A-526C-8FFF5D6968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3" name="AutoShape 6">
              <a:extLst>
                <a:ext uri="{FF2B5EF4-FFF2-40B4-BE49-F238E27FC236}">
                  <a16:creationId xmlns:a16="http://schemas.microsoft.com/office/drawing/2014/main" id="{09383CAD-CF38-EE6F-72BE-B3C5DA3F35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9598"/>
              <a:ext cx="820" cy="6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4" name="AutoShape 5">
              <a:extLst>
                <a:ext uri="{FF2B5EF4-FFF2-40B4-BE49-F238E27FC236}">
                  <a16:creationId xmlns:a16="http://schemas.microsoft.com/office/drawing/2014/main" id="{7B27ECA1-F629-EA0C-7819-CA0350C737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5" name="AutoShape 4">
              <a:extLst>
                <a:ext uri="{FF2B5EF4-FFF2-40B4-BE49-F238E27FC236}">
                  <a16:creationId xmlns:a16="http://schemas.microsoft.com/office/drawing/2014/main" id="{F36F317F-9F62-10A6-A904-BD3002B01E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6" name="AutoShape 3">
              <a:extLst>
                <a:ext uri="{FF2B5EF4-FFF2-40B4-BE49-F238E27FC236}">
                  <a16:creationId xmlns:a16="http://schemas.microsoft.com/office/drawing/2014/main" id="{88BB80F8-A102-53B4-0C99-575B183958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7" name="AutoShape 2">
              <a:extLst>
                <a:ext uri="{FF2B5EF4-FFF2-40B4-BE49-F238E27FC236}">
                  <a16:creationId xmlns:a16="http://schemas.microsoft.com/office/drawing/2014/main" id="{68C4697C-A7E5-0047-4F6C-DBFFDA4D32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8286"/>
              <a:ext cx="805" cy="19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6" name="Rectangle 102">
            <a:extLst>
              <a:ext uri="{FF2B5EF4-FFF2-40B4-BE49-F238E27FC236}">
                <a16:creationId xmlns:a16="http://schemas.microsoft.com/office/drawing/2014/main" id="{C668626A-6158-8476-3AC9-1E8A635A2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07" name="Rectangle 136">
            <a:extLst>
              <a:ext uri="{FF2B5EF4-FFF2-40B4-BE49-F238E27FC236}">
                <a16:creationId xmlns:a16="http://schemas.microsoft.com/office/drawing/2014/main" id="{CE4DEA21-2DC0-BF26-B5B1-708D9CF74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08" name="AutoShape 28">
            <a:extLst>
              <a:ext uri="{FF2B5EF4-FFF2-40B4-BE49-F238E27FC236}">
                <a16:creationId xmlns:a16="http://schemas.microsoft.com/office/drawing/2014/main" id="{788CD0CB-A37D-9070-4308-01EBE83C010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292475" y="3141663"/>
            <a:ext cx="2913063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9" name="Text Box 23">
            <a:extLst>
              <a:ext uri="{FF2B5EF4-FFF2-40B4-BE49-F238E27FC236}">
                <a16:creationId xmlns:a16="http://schemas.microsoft.com/office/drawing/2014/main" id="{F5762FA3-7752-19A2-55AD-E268F083D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149600"/>
            <a:ext cx="684212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5610" name="Oval 17">
            <a:extLst>
              <a:ext uri="{FF2B5EF4-FFF2-40B4-BE49-F238E27FC236}">
                <a16:creationId xmlns:a16="http://schemas.microsoft.com/office/drawing/2014/main" id="{414DBB0D-5E8E-24DE-778B-60B1ABE0B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3965575"/>
            <a:ext cx="214312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11" name="Oval 16">
            <a:extLst>
              <a:ext uri="{FF2B5EF4-FFF2-40B4-BE49-F238E27FC236}">
                <a16:creationId xmlns:a16="http://schemas.microsoft.com/office/drawing/2014/main" id="{7B3137C2-5545-2A51-01D6-0D266D4C20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5397500"/>
            <a:ext cx="214312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12" name="Oval 15">
            <a:extLst>
              <a:ext uri="{FF2B5EF4-FFF2-40B4-BE49-F238E27FC236}">
                <a16:creationId xmlns:a16="http://schemas.microsoft.com/office/drawing/2014/main" id="{169061EF-69C2-FA2E-997A-22326855B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56600" y="3965575"/>
            <a:ext cx="214313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13" name="Oval 14">
            <a:extLst>
              <a:ext uri="{FF2B5EF4-FFF2-40B4-BE49-F238E27FC236}">
                <a16:creationId xmlns:a16="http://schemas.microsoft.com/office/drawing/2014/main" id="{C96BC2B6-3CD6-7379-F50D-3EC8D6BD9D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8975" y="5397500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14" name="Oval 13">
            <a:extLst>
              <a:ext uri="{FF2B5EF4-FFF2-40B4-BE49-F238E27FC236}">
                <a16:creationId xmlns:a16="http://schemas.microsoft.com/office/drawing/2014/main" id="{5435F02C-2A14-7475-EF03-025A74BE75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6223000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15" name="Oval 12">
            <a:extLst>
              <a:ext uri="{FF2B5EF4-FFF2-40B4-BE49-F238E27FC236}">
                <a16:creationId xmlns:a16="http://schemas.microsoft.com/office/drawing/2014/main" id="{C518F094-9511-FE12-76C4-9C386B72C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4738" y="3101975"/>
            <a:ext cx="212725" cy="217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5616" name="AutoShape 11">
            <a:extLst>
              <a:ext uri="{FF2B5EF4-FFF2-40B4-BE49-F238E27FC236}">
                <a16:creationId xmlns:a16="http://schemas.microsoft.com/office/drawing/2014/main" id="{F90A5D4A-0476-46DC-9860-592BBC44F39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56388" y="3319463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7" name="Text Box 24">
            <a:extLst>
              <a:ext uri="{FF2B5EF4-FFF2-40B4-BE49-F238E27FC236}">
                <a16:creationId xmlns:a16="http://schemas.microsoft.com/office/drawing/2014/main" id="{21B60F8C-C368-90C1-1222-E1FF8B30A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175" y="4391025"/>
            <a:ext cx="67945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cxnSp>
        <p:nvCxnSpPr>
          <p:cNvPr id="25618" name="AutoShape 9">
            <a:extLst>
              <a:ext uri="{FF2B5EF4-FFF2-40B4-BE49-F238E27FC236}">
                <a16:creationId xmlns:a16="http://schemas.microsoft.com/office/drawing/2014/main" id="{8D665A4A-D921-1497-EEF0-85795F88AE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5425" y="4178300"/>
            <a:ext cx="1588" cy="12144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9" name="Text Box 23">
            <a:extLst>
              <a:ext uri="{FF2B5EF4-FFF2-40B4-BE49-F238E27FC236}">
                <a16:creationId xmlns:a16="http://schemas.microsoft.com/office/drawing/2014/main" id="{C2D55CCD-CC15-8DA4-8087-DF3DAF9FC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5" y="3211513"/>
            <a:ext cx="6826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25620" name="Oval 17">
            <a:extLst>
              <a:ext uri="{FF2B5EF4-FFF2-40B4-BE49-F238E27FC236}">
                <a16:creationId xmlns:a16="http://schemas.microsoft.com/office/drawing/2014/main" id="{48F7BF2E-2919-18A7-558E-A152D1F917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8400" y="4027488"/>
            <a:ext cx="214313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21" name="Oval 16">
            <a:extLst>
              <a:ext uri="{FF2B5EF4-FFF2-40B4-BE49-F238E27FC236}">
                <a16:creationId xmlns:a16="http://schemas.microsoft.com/office/drawing/2014/main" id="{0C7C5486-1957-EFDA-9158-B51ABAEBC3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8400" y="5459413"/>
            <a:ext cx="214313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22" name="Oval 15">
            <a:extLst>
              <a:ext uri="{FF2B5EF4-FFF2-40B4-BE49-F238E27FC236}">
                <a16:creationId xmlns:a16="http://schemas.microsoft.com/office/drawing/2014/main" id="{B674000A-43F1-C21A-3598-D03995436B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2763" y="4027488"/>
            <a:ext cx="214312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23" name="Oval 14">
            <a:extLst>
              <a:ext uri="{FF2B5EF4-FFF2-40B4-BE49-F238E27FC236}">
                <a16:creationId xmlns:a16="http://schemas.microsoft.com/office/drawing/2014/main" id="{E9308C1C-D9DC-B457-07B8-1F3D375DB4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3550" y="5459413"/>
            <a:ext cx="215900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24" name="Oval 13">
            <a:extLst>
              <a:ext uri="{FF2B5EF4-FFF2-40B4-BE49-F238E27FC236}">
                <a16:creationId xmlns:a16="http://schemas.microsoft.com/office/drawing/2014/main" id="{40F5B6D7-3197-BD32-B96A-DE08C35110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59313" y="6284913"/>
            <a:ext cx="212725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5625" name="Oval 12">
            <a:extLst>
              <a:ext uri="{FF2B5EF4-FFF2-40B4-BE49-F238E27FC236}">
                <a16:creationId xmlns:a16="http://schemas.microsoft.com/office/drawing/2014/main" id="{8A5BE2F6-7EB7-DB1A-D353-B3D30BF537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59313" y="3163888"/>
            <a:ext cx="212725" cy="2174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5626" name="AutoShape 11">
            <a:extLst>
              <a:ext uri="{FF2B5EF4-FFF2-40B4-BE49-F238E27FC236}">
                <a16:creationId xmlns:a16="http://schemas.microsoft.com/office/drawing/2014/main" id="{64E8469E-3A25-AF50-6F71-5620210821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90963" y="3381375"/>
            <a:ext cx="874712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7" name="Text Box 24">
            <a:extLst>
              <a:ext uri="{FF2B5EF4-FFF2-40B4-BE49-F238E27FC236}">
                <a16:creationId xmlns:a16="http://schemas.microsoft.com/office/drawing/2014/main" id="{596C5E3E-D450-407B-B492-C4002E6B5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0" y="4452938"/>
            <a:ext cx="679450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/>
          </a:p>
        </p:txBody>
      </p:sp>
      <p:cxnSp>
        <p:nvCxnSpPr>
          <p:cNvPr id="25628" name="AutoShape 9">
            <a:extLst>
              <a:ext uri="{FF2B5EF4-FFF2-40B4-BE49-F238E27FC236}">
                <a16:creationId xmlns:a16="http://schemas.microsoft.com/office/drawing/2014/main" id="{8A14DE20-15E4-C148-CBEB-0654200BA0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4240213"/>
            <a:ext cx="1588" cy="1214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9" name="Text Box 22">
            <a:extLst>
              <a:ext uri="{FF2B5EF4-FFF2-40B4-BE49-F238E27FC236}">
                <a16:creationId xmlns:a16="http://schemas.microsoft.com/office/drawing/2014/main" id="{0BFFDE9A-8ABF-B3DB-64C7-CAE0E14A5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600" y="3217863"/>
            <a:ext cx="646113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5630" name="AutoShape 10">
            <a:extLst>
              <a:ext uri="{FF2B5EF4-FFF2-40B4-BE49-F238E27FC236}">
                <a16:creationId xmlns:a16="http://schemas.microsoft.com/office/drawing/2014/main" id="{91A9D806-59BB-C221-2C06-7306511DF6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10125" y="3367088"/>
            <a:ext cx="857250" cy="679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1" name="Text Box 19">
            <a:extLst>
              <a:ext uri="{FF2B5EF4-FFF2-40B4-BE49-F238E27FC236}">
                <a16:creationId xmlns:a16="http://schemas.microsoft.com/office/drawing/2014/main" id="{7F02B355-EF70-7C6C-3435-EEAB94E6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4076700"/>
            <a:ext cx="59690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5632" name="AutoShape 4">
            <a:extLst>
              <a:ext uri="{FF2B5EF4-FFF2-40B4-BE49-F238E27FC236}">
                <a16:creationId xmlns:a16="http://schemas.microsoft.com/office/drawing/2014/main" id="{C6808A6E-62EC-4238-D87B-ACD0C3011F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88138" y="4113213"/>
            <a:ext cx="1684337" cy="127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3" name="Text Box 22">
            <a:extLst>
              <a:ext uri="{FF2B5EF4-FFF2-40B4-BE49-F238E27FC236}">
                <a16:creationId xmlns:a16="http://schemas.microsoft.com/office/drawing/2014/main" id="{7600A127-ECFD-8D2F-44B3-FE9D77A06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8" y="3135313"/>
            <a:ext cx="647700" cy="7794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5634" name="AutoShape 10">
            <a:extLst>
              <a:ext uri="{FF2B5EF4-FFF2-40B4-BE49-F238E27FC236}">
                <a16:creationId xmlns:a16="http://schemas.microsoft.com/office/drawing/2014/main" id="{1D9DB80C-2306-7CF9-B0E3-A3F302D543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88250" y="3286125"/>
            <a:ext cx="857250" cy="6778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5" name="Text Box 20">
            <a:extLst>
              <a:ext uri="{FF2B5EF4-FFF2-40B4-BE49-F238E27FC236}">
                <a16:creationId xmlns:a16="http://schemas.microsoft.com/office/drawing/2014/main" id="{877C8608-F076-46AA-ECAC-E8B4AC554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4899025"/>
            <a:ext cx="682625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5636" name="AutoShape 5">
            <a:extLst>
              <a:ext uri="{FF2B5EF4-FFF2-40B4-BE49-F238E27FC236}">
                <a16:creationId xmlns:a16="http://schemas.microsoft.com/office/drawing/2014/main" id="{A10E49B8-5DC3-CC96-0F7A-B476E4551B0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935413" y="4246563"/>
            <a:ext cx="1731962" cy="12795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7" name="Text Box 19">
            <a:extLst>
              <a:ext uri="{FF2B5EF4-FFF2-40B4-BE49-F238E27FC236}">
                <a16:creationId xmlns:a16="http://schemas.microsoft.com/office/drawing/2014/main" id="{0A079402-2E95-8323-C1AA-D143BDBC5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187825"/>
            <a:ext cx="596900" cy="7794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/>
          </a:p>
        </p:txBody>
      </p:sp>
      <p:cxnSp>
        <p:nvCxnSpPr>
          <p:cNvPr id="25638" name="AutoShape 4">
            <a:extLst>
              <a:ext uri="{FF2B5EF4-FFF2-40B4-BE49-F238E27FC236}">
                <a16:creationId xmlns:a16="http://schemas.microsoft.com/office/drawing/2014/main" id="{356B9AA1-3235-714E-F5A2-07E2D30BAD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87788" y="4225925"/>
            <a:ext cx="1684337" cy="12779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9" name="Text Box 26">
            <a:extLst>
              <a:ext uri="{FF2B5EF4-FFF2-40B4-BE49-F238E27FC236}">
                <a16:creationId xmlns:a16="http://schemas.microsoft.com/office/drawing/2014/main" id="{EFFBD640-5BB9-9288-01C0-D4B54ACE4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5767388"/>
            <a:ext cx="6635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/>
          </a:p>
        </p:txBody>
      </p:sp>
      <p:cxnSp>
        <p:nvCxnSpPr>
          <p:cNvPr id="25640" name="AutoShape 7">
            <a:extLst>
              <a:ext uri="{FF2B5EF4-FFF2-40B4-BE49-F238E27FC236}">
                <a16:creationId xmlns:a16="http://schemas.microsoft.com/office/drawing/2014/main" id="{5D2E2FCC-5F43-EEE0-3203-F61EDC1DDCF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00950" y="5580063"/>
            <a:ext cx="733425" cy="673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8D9FECEE-39CD-A7AC-F642-D67C271BB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19B4B1D5-460B-B835-75CA-F0D90AA60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破圈法</a:t>
            </a:r>
            <a:r>
              <a:rPr lang="en-US" altLang="zh-CN"/>
              <a:t>    </a:t>
            </a:r>
            <a:r>
              <a:rPr lang="zh-CN" altLang="zh-CN"/>
              <a:t>中国</a:t>
            </a:r>
            <a:r>
              <a:rPr lang="en-US" altLang="zh-CN"/>
              <a:t>   </a:t>
            </a:r>
            <a:r>
              <a:rPr lang="zh-CN" altLang="zh-CN"/>
              <a:t>管梅谷</a:t>
            </a:r>
            <a:r>
              <a:rPr lang="en-US" altLang="zh-CN"/>
              <a:t> </a:t>
            </a:r>
            <a:r>
              <a:rPr lang="zh-CN" altLang="zh-CN"/>
              <a:t>教授</a:t>
            </a:r>
            <a:endParaRPr lang="zh-CN" altLang="en-US"/>
          </a:p>
        </p:txBody>
      </p:sp>
      <p:sp>
        <p:nvSpPr>
          <p:cNvPr id="27652" name="Rectangle 29">
            <a:extLst>
              <a:ext uri="{FF2B5EF4-FFF2-40B4-BE49-F238E27FC236}">
                <a16:creationId xmlns:a16="http://schemas.microsoft.com/office/drawing/2014/main" id="{A6B605CD-A315-A912-B7D3-59D278DE3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27653" name="Group 1">
            <a:extLst>
              <a:ext uri="{FF2B5EF4-FFF2-40B4-BE49-F238E27FC236}">
                <a16:creationId xmlns:a16="http://schemas.microsoft.com/office/drawing/2014/main" id="{2BC8F2A4-95BD-EF0D-7170-0E3B382B91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3141663"/>
            <a:ext cx="3008312" cy="3455987"/>
            <a:chOff x="2242" y="7265"/>
            <a:chExt cx="2821" cy="3240"/>
          </a:xfrm>
        </p:grpSpPr>
        <p:sp>
          <p:nvSpPr>
            <p:cNvPr id="27706" name="AutoShape 28">
              <a:extLst>
                <a:ext uri="{FF2B5EF4-FFF2-40B4-BE49-F238E27FC236}">
                  <a16:creationId xmlns:a16="http://schemas.microsoft.com/office/drawing/2014/main" id="{844C7591-E6E7-E40E-BCB3-FD351DAFEF3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7" name="Text Box 27">
              <a:extLst>
                <a:ext uri="{FF2B5EF4-FFF2-40B4-BE49-F238E27FC236}">
                  <a16:creationId xmlns:a16="http://schemas.microsoft.com/office/drawing/2014/main" id="{DA0874C5-3873-B328-4F49-F638C5A24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7708" name="Text Box 26">
              <a:extLst>
                <a:ext uri="{FF2B5EF4-FFF2-40B4-BE49-F238E27FC236}">
                  <a16:creationId xmlns:a16="http://schemas.microsoft.com/office/drawing/2014/main" id="{3B2967CA-363F-52E0-6CD0-DE8AD2D90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7709" name="Text Box 25">
              <a:extLst>
                <a:ext uri="{FF2B5EF4-FFF2-40B4-BE49-F238E27FC236}">
                  <a16:creationId xmlns:a16="http://schemas.microsoft.com/office/drawing/2014/main" id="{A10B3792-D47A-4E20-3376-E7FF5CA94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9706"/>
              <a:ext cx="57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7710" name="Text Box 24">
              <a:extLst>
                <a:ext uri="{FF2B5EF4-FFF2-40B4-BE49-F238E27FC236}">
                  <a16:creationId xmlns:a16="http://schemas.microsoft.com/office/drawing/2014/main" id="{1431B264-3CD2-10A6-F7DA-BD60D400C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711" name="Text Box 23">
              <a:extLst>
                <a:ext uri="{FF2B5EF4-FFF2-40B4-BE49-F238E27FC236}">
                  <a16:creationId xmlns:a16="http://schemas.microsoft.com/office/drawing/2014/main" id="{89027281-ADD8-7E1A-D96E-EEAF40501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712" name="Text Box 22">
              <a:extLst>
                <a:ext uri="{FF2B5EF4-FFF2-40B4-BE49-F238E27FC236}">
                  <a16:creationId xmlns:a16="http://schemas.microsoft.com/office/drawing/2014/main" id="{E7EC2219-8C44-41CE-0316-4AE877C41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713" name="Text Box 21">
              <a:extLst>
                <a:ext uri="{FF2B5EF4-FFF2-40B4-BE49-F238E27FC236}">
                  <a16:creationId xmlns:a16="http://schemas.microsoft.com/office/drawing/2014/main" id="{8258E5BD-9A6C-3BF2-89BA-1F064CD1D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9145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7714" name="Text Box 20">
              <a:extLst>
                <a:ext uri="{FF2B5EF4-FFF2-40B4-BE49-F238E27FC236}">
                  <a16:creationId xmlns:a16="http://schemas.microsoft.com/office/drawing/2014/main" id="{3552F79E-7444-6C6D-D8EB-6D6351B30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715" name="Text Box 19">
              <a:extLst>
                <a:ext uri="{FF2B5EF4-FFF2-40B4-BE49-F238E27FC236}">
                  <a16:creationId xmlns:a16="http://schemas.microsoft.com/office/drawing/2014/main" id="{96223AC3-09B8-8D60-3647-FBA03AF92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716" name="Text Box 18">
              <a:extLst>
                <a:ext uri="{FF2B5EF4-FFF2-40B4-BE49-F238E27FC236}">
                  <a16:creationId xmlns:a16="http://schemas.microsoft.com/office/drawing/2014/main" id="{D26BB4F3-E31B-1BE3-1DA2-900AD4420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7717" name="Oval 17">
              <a:extLst>
                <a:ext uri="{FF2B5EF4-FFF2-40B4-BE49-F238E27FC236}">
                  <a16:creationId xmlns:a16="http://schemas.microsoft.com/office/drawing/2014/main" id="{9A7D63AD-B096-4922-C227-25D287231F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18" name="Oval 16">
              <a:extLst>
                <a:ext uri="{FF2B5EF4-FFF2-40B4-BE49-F238E27FC236}">
                  <a16:creationId xmlns:a16="http://schemas.microsoft.com/office/drawing/2014/main" id="{A831F969-F278-52FF-B7A0-1AE834B5AE5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19" name="Oval 15">
              <a:extLst>
                <a:ext uri="{FF2B5EF4-FFF2-40B4-BE49-F238E27FC236}">
                  <a16:creationId xmlns:a16="http://schemas.microsoft.com/office/drawing/2014/main" id="{917BD3A3-3641-01C7-ABC6-0A0F0784C2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20" name="Oval 14">
              <a:extLst>
                <a:ext uri="{FF2B5EF4-FFF2-40B4-BE49-F238E27FC236}">
                  <a16:creationId xmlns:a16="http://schemas.microsoft.com/office/drawing/2014/main" id="{F33AEC46-3796-9A7C-62C2-8D8FDCAD1D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21" name="Oval 13">
              <a:extLst>
                <a:ext uri="{FF2B5EF4-FFF2-40B4-BE49-F238E27FC236}">
                  <a16:creationId xmlns:a16="http://schemas.microsoft.com/office/drawing/2014/main" id="{1AC13288-9C1D-B569-0A94-BF233A5E67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22" name="Oval 12">
              <a:extLst>
                <a:ext uri="{FF2B5EF4-FFF2-40B4-BE49-F238E27FC236}">
                  <a16:creationId xmlns:a16="http://schemas.microsoft.com/office/drawing/2014/main" id="{C05D3A2E-7D42-223E-0677-0B318A932E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723" name="AutoShape 11">
              <a:extLst>
                <a:ext uri="{FF2B5EF4-FFF2-40B4-BE49-F238E27FC236}">
                  <a16:creationId xmlns:a16="http://schemas.microsoft.com/office/drawing/2014/main" id="{DF91C0C4-B374-3EB8-560A-25DC6E2E2F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4" name="AutoShape 10">
              <a:extLst>
                <a:ext uri="{FF2B5EF4-FFF2-40B4-BE49-F238E27FC236}">
                  <a16:creationId xmlns:a16="http://schemas.microsoft.com/office/drawing/2014/main" id="{90508B1E-3920-DE38-CA29-2D4F684B3D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5" name="AutoShape 9">
              <a:extLst>
                <a:ext uri="{FF2B5EF4-FFF2-40B4-BE49-F238E27FC236}">
                  <a16:creationId xmlns:a16="http://schemas.microsoft.com/office/drawing/2014/main" id="{9E573D14-2B88-910D-523C-CF71440F29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6" name="AutoShape 8">
              <a:extLst>
                <a:ext uri="{FF2B5EF4-FFF2-40B4-BE49-F238E27FC236}">
                  <a16:creationId xmlns:a16="http://schemas.microsoft.com/office/drawing/2014/main" id="{967D9738-4E9D-6A35-C06D-C01C100CBD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7" name="AutoShape 7">
              <a:extLst>
                <a:ext uri="{FF2B5EF4-FFF2-40B4-BE49-F238E27FC236}">
                  <a16:creationId xmlns:a16="http://schemas.microsoft.com/office/drawing/2014/main" id="{0FD91111-CF0A-B093-A16A-5D2F7E0581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8" name="AutoShape 6">
              <a:extLst>
                <a:ext uri="{FF2B5EF4-FFF2-40B4-BE49-F238E27FC236}">
                  <a16:creationId xmlns:a16="http://schemas.microsoft.com/office/drawing/2014/main" id="{554A7090-066F-3E1E-14B2-8FE15131B4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9598"/>
              <a:ext cx="820" cy="6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29" name="AutoShape 5">
              <a:extLst>
                <a:ext uri="{FF2B5EF4-FFF2-40B4-BE49-F238E27FC236}">
                  <a16:creationId xmlns:a16="http://schemas.microsoft.com/office/drawing/2014/main" id="{46175AF7-91F0-567C-1281-7212C9A614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30" name="AutoShape 4">
              <a:extLst>
                <a:ext uri="{FF2B5EF4-FFF2-40B4-BE49-F238E27FC236}">
                  <a16:creationId xmlns:a16="http://schemas.microsoft.com/office/drawing/2014/main" id="{FC46D1E2-A632-CC8C-9BB3-8C0DC36A12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31" name="AutoShape 3">
              <a:extLst>
                <a:ext uri="{FF2B5EF4-FFF2-40B4-BE49-F238E27FC236}">
                  <a16:creationId xmlns:a16="http://schemas.microsoft.com/office/drawing/2014/main" id="{8F5B7C6F-DEFC-A0BD-5802-0705EB8444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32" name="AutoShape 2">
              <a:extLst>
                <a:ext uri="{FF2B5EF4-FFF2-40B4-BE49-F238E27FC236}">
                  <a16:creationId xmlns:a16="http://schemas.microsoft.com/office/drawing/2014/main" id="{DA3CF8C4-2456-6507-A24E-2AA5AB9698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8286"/>
              <a:ext cx="805" cy="19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54" name="Rectangle 102">
            <a:extLst>
              <a:ext uri="{FF2B5EF4-FFF2-40B4-BE49-F238E27FC236}">
                <a16:creationId xmlns:a16="http://schemas.microsoft.com/office/drawing/2014/main" id="{278D755D-622A-0F16-7A5C-1D91EBD9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7655" name="Rectangle 136">
            <a:extLst>
              <a:ext uri="{FF2B5EF4-FFF2-40B4-BE49-F238E27FC236}">
                <a16:creationId xmlns:a16="http://schemas.microsoft.com/office/drawing/2014/main" id="{8E2225EA-73E7-9B1B-451F-1EB78F748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27656" name="Group 1">
            <a:extLst>
              <a:ext uri="{FF2B5EF4-FFF2-40B4-BE49-F238E27FC236}">
                <a16:creationId xmlns:a16="http://schemas.microsoft.com/office/drawing/2014/main" id="{2C19B0C5-161E-84B2-F46C-CB7BF10DD9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92475" y="3141663"/>
            <a:ext cx="3008313" cy="3455987"/>
            <a:chOff x="2242" y="7265"/>
            <a:chExt cx="2821" cy="3240"/>
          </a:xfrm>
        </p:grpSpPr>
        <p:sp>
          <p:nvSpPr>
            <p:cNvPr id="27681" name="AutoShape 28">
              <a:extLst>
                <a:ext uri="{FF2B5EF4-FFF2-40B4-BE49-F238E27FC236}">
                  <a16:creationId xmlns:a16="http://schemas.microsoft.com/office/drawing/2014/main" id="{EE6795FF-4099-739A-9109-9DA02EB50BF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Text Box 27">
              <a:extLst>
                <a:ext uri="{FF2B5EF4-FFF2-40B4-BE49-F238E27FC236}">
                  <a16:creationId xmlns:a16="http://schemas.microsoft.com/office/drawing/2014/main" id="{C9D9491E-BEED-4F4C-EB46-7D6A1F303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7683" name="Text Box 26">
              <a:extLst>
                <a:ext uri="{FF2B5EF4-FFF2-40B4-BE49-F238E27FC236}">
                  <a16:creationId xmlns:a16="http://schemas.microsoft.com/office/drawing/2014/main" id="{F6A9AA64-3A77-7F2E-7F78-7C14E7D1E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7684" name="Text Box 24">
              <a:extLst>
                <a:ext uri="{FF2B5EF4-FFF2-40B4-BE49-F238E27FC236}">
                  <a16:creationId xmlns:a16="http://schemas.microsoft.com/office/drawing/2014/main" id="{209885AC-583F-C5BB-9CFE-FBB7A9B38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685" name="Text Box 23">
              <a:extLst>
                <a:ext uri="{FF2B5EF4-FFF2-40B4-BE49-F238E27FC236}">
                  <a16:creationId xmlns:a16="http://schemas.microsoft.com/office/drawing/2014/main" id="{E7F6E994-7B29-7FE0-69CA-E5E82AE8C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686" name="Text Box 22">
              <a:extLst>
                <a:ext uri="{FF2B5EF4-FFF2-40B4-BE49-F238E27FC236}">
                  <a16:creationId xmlns:a16="http://schemas.microsoft.com/office/drawing/2014/main" id="{E7061D20-A402-81FA-06E7-3C04DF1EB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87" name="Text Box 21">
              <a:extLst>
                <a:ext uri="{FF2B5EF4-FFF2-40B4-BE49-F238E27FC236}">
                  <a16:creationId xmlns:a16="http://schemas.microsoft.com/office/drawing/2014/main" id="{AEE36033-A17F-73F5-99C8-1CB43A8FE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9145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27688" name="Text Box 20">
              <a:extLst>
                <a:ext uri="{FF2B5EF4-FFF2-40B4-BE49-F238E27FC236}">
                  <a16:creationId xmlns:a16="http://schemas.microsoft.com/office/drawing/2014/main" id="{71917A7D-0233-D346-48F2-A204DBB81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89" name="Text Box 19">
              <a:extLst>
                <a:ext uri="{FF2B5EF4-FFF2-40B4-BE49-F238E27FC236}">
                  <a16:creationId xmlns:a16="http://schemas.microsoft.com/office/drawing/2014/main" id="{491EB117-01DF-568D-BE9F-1DA8F80B6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90" name="Text Box 18">
              <a:extLst>
                <a:ext uri="{FF2B5EF4-FFF2-40B4-BE49-F238E27FC236}">
                  <a16:creationId xmlns:a16="http://schemas.microsoft.com/office/drawing/2014/main" id="{B55F812D-856E-179F-7C08-1BDFAF1C1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7691" name="Oval 17">
              <a:extLst>
                <a:ext uri="{FF2B5EF4-FFF2-40B4-BE49-F238E27FC236}">
                  <a16:creationId xmlns:a16="http://schemas.microsoft.com/office/drawing/2014/main" id="{E3D64A7F-54C1-D573-1948-0A08A01164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2" name="Oval 16">
              <a:extLst>
                <a:ext uri="{FF2B5EF4-FFF2-40B4-BE49-F238E27FC236}">
                  <a16:creationId xmlns:a16="http://schemas.microsoft.com/office/drawing/2014/main" id="{45E65ADF-1F06-0E93-66D9-427A75E0A3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3" name="Oval 15">
              <a:extLst>
                <a:ext uri="{FF2B5EF4-FFF2-40B4-BE49-F238E27FC236}">
                  <a16:creationId xmlns:a16="http://schemas.microsoft.com/office/drawing/2014/main" id="{74F3507C-0DE7-B61A-1F9E-F6722CD540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4" name="Oval 14">
              <a:extLst>
                <a:ext uri="{FF2B5EF4-FFF2-40B4-BE49-F238E27FC236}">
                  <a16:creationId xmlns:a16="http://schemas.microsoft.com/office/drawing/2014/main" id="{032E8DB9-5635-03C7-77A3-2054864CDC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5" name="Oval 13">
              <a:extLst>
                <a:ext uri="{FF2B5EF4-FFF2-40B4-BE49-F238E27FC236}">
                  <a16:creationId xmlns:a16="http://schemas.microsoft.com/office/drawing/2014/main" id="{6CE569AF-B80E-993A-53B4-DDF227FBFE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6" name="Oval 12">
              <a:extLst>
                <a:ext uri="{FF2B5EF4-FFF2-40B4-BE49-F238E27FC236}">
                  <a16:creationId xmlns:a16="http://schemas.microsoft.com/office/drawing/2014/main" id="{29DC645F-4B7A-542D-7EE1-CFF5014F34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97" name="AutoShape 11">
              <a:extLst>
                <a:ext uri="{FF2B5EF4-FFF2-40B4-BE49-F238E27FC236}">
                  <a16:creationId xmlns:a16="http://schemas.microsoft.com/office/drawing/2014/main" id="{5C8EE4AA-ADFE-D866-0B50-95ED38AC6E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8" name="AutoShape 10">
              <a:extLst>
                <a:ext uri="{FF2B5EF4-FFF2-40B4-BE49-F238E27FC236}">
                  <a16:creationId xmlns:a16="http://schemas.microsoft.com/office/drawing/2014/main" id="{3D4DACF3-6E6F-EA0C-2BB9-4E5F62CAD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9" name="AutoShape 9">
              <a:extLst>
                <a:ext uri="{FF2B5EF4-FFF2-40B4-BE49-F238E27FC236}">
                  <a16:creationId xmlns:a16="http://schemas.microsoft.com/office/drawing/2014/main" id="{744ED60B-95B5-9021-8579-79DEA6BAFE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0" name="AutoShape 8">
              <a:extLst>
                <a:ext uri="{FF2B5EF4-FFF2-40B4-BE49-F238E27FC236}">
                  <a16:creationId xmlns:a16="http://schemas.microsoft.com/office/drawing/2014/main" id="{DD5A6BF4-A041-62D1-F49C-9C55B34C8B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1" name="AutoShape 7">
              <a:extLst>
                <a:ext uri="{FF2B5EF4-FFF2-40B4-BE49-F238E27FC236}">
                  <a16:creationId xmlns:a16="http://schemas.microsoft.com/office/drawing/2014/main" id="{5EF584E2-3081-3CDB-A1A4-C5D8CC04A5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2" name="AutoShape 5">
              <a:extLst>
                <a:ext uri="{FF2B5EF4-FFF2-40B4-BE49-F238E27FC236}">
                  <a16:creationId xmlns:a16="http://schemas.microsoft.com/office/drawing/2014/main" id="{763008E8-D64A-6CFD-E590-7C574DE0CC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3" name="AutoShape 4">
              <a:extLst>
                <a:ext uri="{FF2B5EF4-FFF2-40B4-BE49-F238E27FC236}">
                  <a16:creationId xmlns:a16="http://schemas.microsoft.com/office/drawing/2014/main" id="{AB24B878-A588-F237-C0B2-5F9AD7F510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4" name="AutoShape 3">
              <a:extLst>
                <a:ext uri="{FF2B5EF4-FFF2-40B4-BE49-F238E27FC236}">
                  <a16:creationId xmlns:a16="http://schemas.microsoft.com/office/drawing/2014/main" id="{EF09C398-99AB-9A28-C2FD-3DC416B21B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5" name="AutoShape 2">
              <a:extLst>
                <a:ext uri="{FF2B5EF4-FFF2-40B4-BE49-F238E27FC236}">
                  <a16:creationId xmlns:a16="http://schemas.microsoft.com/office/drawing/2014/main" id="{BE033486-08A9-B5A3-536B-C165C8FD8A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8286"/>
              <a:ext cx="805" cy="194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57" name="Group 1">
            <a:extLst>
              <a:ext uri="{FF2B5EF4-FFF2-40B4-BE49-F238E27FC236}">
                <a16:creationId xmlns:a16="http://schemas.microsoft.com/office/drawing/2014/main" id="{DADBE024-053A-BE4C-4AD1-433BC39958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00763" y="3141663"/>
            <a:ext cx="3008312" cy="3455987"/>
            <a:chOff x="2242" y="7265"/>
            <a:chExt cx="2821" cy="3240"/>
          </a:xfrm>
        </p:grpSpPr>
        <p:sp>
          <p:nvSpPr>
            <p:cNvPr id="27658" name="AutoShape 28">
              <a:extLst>
                <a:ext uri="{FF2B5EF4-FFF2-40B4-BE49-F238E27FC236}">
                  <a16:creationId xmlns:a16="http://schemas.microsoft.com/office/drawing/2014/main" id="{1F0E8546-E729-FAA8-5D06-F30C412FAB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9" name="Text Box 27">
              <a:extLst>
                <a:ext uri="{FF2B5EF4-FFF2-40B4-BE49-F238E27FC236}">
                  <a16:creationId xmlns:a16="http://schemas.microsoft.com/office/drawing/2014/main" id="{4C327838-DC78-7B04-6884-6945301AC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7660" name="Text Box 26">
              <a:extLst>
                <a:ext uri="{FF2B5EF4-FFF2-40B4-BE49-F238E27FC236}">
                  <a16:creationId xmlns:a16="http://schemas.microsoft.com/office/drawing/2014/main" id="{33F243E5-34CD-839D-AEB9-8313137C6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7661" name="Text Box 24">
              <a:extLst>
                <a:ext uri="{FF2B5EF4-FFF2-40B4-BE49-F238E27FC236}">
                  <a16:creationId xmlns:a16="http://schemas.microsoft.com/office/drawing/2014/main" id="{6A3AF54F-1727-07AE-5E33-51CEA4685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662" name="Text Box 23">
              <a:extLst>
                <a:ext uri="{FF2B5EF4-FFF2-40B4-BE49-F238E27FC236}">
                  <a16:creationId xmlns:a16="http://schemas.microsoft.com/office/drawing/2014/main" id="{565254F5-5653-912E-2C89-6850C76EB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7663" name="Text Box 22">
              <a:extLst>
                <a:ext uri="{FF2B5EF4-FFF2-40B4-BE49-F238E27FC236}">
                  <a16:creationId xmlns:a16="http://schemas.microsoft.com/office/drawing/2014/main" id="{6939EA44-539B-6B1A-76E3-3F55E3F0E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64" name="Text Box 20">
              <a:extLst>
                <a:ext uri="{FF2B5EF4-FFF2-40B4-BE49-F238E27FC236}">
                  <a16:creationId xmlns:a16="http://schemas.microsoft.com/office/drawing/2014/main" id="{9E732C31-B9DD-C792-47C6-2DDECBD12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65" name="Text Box 19">
              <a:extLst>
                <a:ext uri="{FF2B5EF4-FFF2-40B4-BE49-F238E27FC236}">
                  <a16:creationId xmlns:a16="http://schemas.microsoft.com/office/drawing/2014/main" id="{FD694697-79DC-EFD4-21E8-71C890FC8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7666" name="Text Box 18">
              <a:extLst>
                <a:ext uri="{FF2B5EF4-FFF2-40B4-BE49-F238E27FC236}">
                  <a16:creationId xmlns:a16="http://schemas.microsoft.com/office/drawing/2014/main" id="{FD9C239A-6F3C-98DC-E6FD-1866EA961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7755"/>
              <a:ext cx="59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7667" name="Oval 17">
              <a:extLst>
                <a:ext uri="{FF2B5EF4-FFF2-40B4-BE49-F238E27FC236}">
                  <a16:creationId xmlns:a16="http://schemas.microsoft.com/office/drawing/2014/main" id="{A5987974-17F4-53D7-1D43-308E5424FB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68" name="Oval 16">
              <a:extLst>
                <a:ext uri="{FF2B5EF4-FFF2-40B4-BE49-F238E27FC236}">
                  <a16:creationId xmlns:a16="http://schemas.microsoft.com/office/drawing/2014/main" id="{78000E53-9CEA-EC5E-5FD5-20D2E6622C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69" name="Oval 15">
              <a:extLst>
                <a:ext uri="{FF2B5EF4-FFF2-40B4-BE49-F238E27FC236}">
                  <a16:creationId xmlns:a16="http://schemas.microsoft.com/office/drawing/2014/main" id="{74E5BFBF-0FE1-4A13-CAE6-0ED5A0C908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70" name="Oval 14">
              <a:extLst>
                <a:ext uri="{FF2B5EF4-FFF2-40B4-BE49-F238E27FC236}">
                  <a16:creationId xmlns:a16="http://schemas.microsoft.com/office/drawing/2014/main" id="{712BB453-5A2E-2358-8FCF-81BCDE8619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71" name="Oval 13">
              <a:extLst>
                <a:ext uri="{FF2B5EF4-FFF2-40B4-BE49-F238E27FC236}">
                  <a16:creationId xmlns:a16="http://schemas.microsoft.com/office/drawing/2014/main" id="{C38DF006-A06A-E52F-FA6D-484DE07475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72" name="Oval 12">
              <a:extLst>
                <a:ext uri="{FF2B5EF4-FFF2-40B4-BE49-F238E27FC236}">
                  <a16:creationId xmlns:a16="http://schemas.microsoft.com/office/drawing/2014/main" id="{49F3C45C-9DA8-677A-D8CA-473C52E359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73" name="AutoShape 11">
              <a:extLst>
                <a:ext uri="{FF2B5EF4-FFF2-40B4-BE49-F238E27FC236}">
                  <a16:creationId xmlns:a16="http://schemas.microsoft.com/office/drawing/2014/main" id="{7F5A8F27-30CD-81C7-A45C-7595CAF9C5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4" name="AutoShape 10">
              <a:extLst>
                <a:ext uri="{FF2B5EF4-FFF2-40B4-BE49-F238E27FC236}">
                  <a16:creationId xmlns:a16="http://schemas.microsoft.com/office/drawing/2014/main" id="{6433EA67-9DFA-5C96-025C-FC4471AFBB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5" name="AutoShape 9">
              <a:extLst>
                <a:ext uri="{FF2B5EF4-FFF2-40B4-BE49-F238E27FC236}">
                  <a16:creationId xmlns:a16="http://schemas.microsoft.com/office/drawing/2014/main" id="{5D18E10F-27CD-0C52-A976-4B7D43428D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6" name="AutoShape 8">
              <a:extLst>
                <a:ext uri="{FF2B5EF4-FFF2-40B4-BE49-F238E27FC236}">
                  <a16:creationId xmlns:a16="http://schemas.microsoft.com/office/drawing/2014/main" id="{B632651B-F6A5-441E-D8A1-4397307549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7" name="AutoShape 7">
              <a:extLst>
                <a:ext uri="{FF2B5EF4-FFF2-40B4-BE49-F238E27FC236}">
                  <a16:creationId xmlns:a16="http://schemas.microsoft.com/office/drawing/2014/main" id="{1867D3EE-5000-4D5F-1399-F8CE6DD85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8" name="AutoShape 5">
              <a:extLst>
                <a:ext uri="{FF2B5EF4-FFF2-40B4-BE49-F238E27FC236}">
                  <a16:creationId xmlns:a16="http://schemas.microsoft.com/office/drawing/2014/main" id="{D53E7A3E-EE41-4739-1162-839C2A1604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9" name="AutoShape 4">
              <a:extLst>
                <a:ext uri="{FF2B5EF4-FFF2-40B4-BE49-F238E27FC236}">
                  <a16:creationId xmlns:a16="http://schemas.microsoft.com/office/drawing/2014/main" id="{D75505AE-2FCC-5597-BDC6-2875923025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0" name="AutoShape 3">
              <a:extLst>
                <a:ext uri="{FF2B5EF4-FFF2-40B4-BE49-F238E27FC236}">
                  <a16:creationId xmlns:a16="http://schemas.microsoft.com/office/drawing/2014/main" id="{45843162-3016-208D-F29C-ADEDCB99AC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1" cy="272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45DB0D0B-CF88-237A-D549-23A2507C5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8.4.3 </a:t>
            </a:r>
            <a:r>
              <a:rPr lang="zh-CN" altLang="en-US" sz="5400">
                <a:solidFill>
                  <a:srgbClr val="333399"/>
                </a:solidFill>
              </a:rPr>
              <a:t>最小生成树</a:t>
            </a:r>
            <a:endParaRPr lang="zh-CN" altLang="en-US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67B448E7-79D8-F407-3442-65FDACB57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773238"/>
            <a:ext cx="8964612" cy="5084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(3)</a:t>
            </a:r>
            <a:r>
              <a:rPr lang="zh-CN" altLang="zh-CN">
                <a:solidFill>
                  <a:srgbClr val="FF0000"/>
                </a:solidFill>
              </a:rPr>
              <a:t>—（</a:t>
            </a:r>
            <a:r>
              <a:rPr lang="en-US" altLang="zh-CN">
                <a:solidFill>
                  <a:srgbClr val="FF0000"/>
                </a:solidFill>
              </a:rPr>
              <a:t>5)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28676" name="Group 1">
            <a:extLst>
              <a:ext uri="{FF2B5EF4-FFF2-40B4-BE49-F238E27FC236}">
                <a16:creationId xmlns:a16="http://schemas.microsoft.com/office/drawing/2014/main" id="{95B0BF74-1AC0-F0A0-21FE-29EAE850024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88" y="2917825"/>
            <a:ext cx="3008312" cy="3455988"/>
            <a:chOff x="2242" y="7265"/>
            <a:chExt cx="2821" cy="3240"/>
          </a:xfrm>
        </p:grpSpPr>
        <p:sp>
          <p:nvSpPr>
            <p:cNvPr id="28715" name="AutoShape 28">
              <a:extLst>
                <a:ext uri="{FF2B5EF4-FFF2-40B4-BE49-F238E27FC236}">
                  <a16:creationId xmlns:a16="http://schemas.microsoft.com/office/drawing/2014/main" id="{CFFD8F3B-1EF4-CBB9-52A9-0A1562610D4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6" name="Text Box 27">
              <a:extLst>
                <a:ext uri="{FF2B5EF4-FFF2-40B4-BE49-F238E27FC236}">
                  <a16:creationId xmlns:a16="http://schemas.microsoft.com/office/drawing/2014/main" id="{2A377638-FE33-4EAF-0D0B-F44152D0E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8486"/>
              <a:ext cx="663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28717" name="Text Box 26">
              <a:extLst>
                <a:ext uri="{FF2B5EF4-FFF2-40B4-BE49-F238E27FC236}">
                  <a16:creationId xmlns:a16="http://schemas.microsoft.com/office/drawing/2014/main" id="{7A50257D-CD73-0869-97D5-E89E380AD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8718" name="Text Box 24">
              <a:extLst>
                <a:ext uri="{FF2B5EF4-FFF2-40B4-BE49-F238E27FC236}">
                  <a16:creationId xmlns:a16="http://schemas.microsoft.com/office/drawing/2014/main" id="{8B8335AD-536A-2251-D4C6-FD22D5078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719" name="Text Box 23">
              <a:extLst>
                <a:ext uri="{FF2B5EF4-FFF2-40B4-BE49-F238E27FC236}">
                  <a16:creationId xmlns:a16="http://schemas.microsoft.com/office/drawing/2014/main" id="{E01FF6A7-5BA5-1307-7A3F-A33578F81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720" name="Text Box 22">
              <a:extLst>
                <a:ext uri="{FF2B5EF4-FFF2-40B4-BE49-F238E27FC236}">
                  <a16:creationId xmlns:a16="http://schemas.microsoft.com/office/drawing/2014/main" id="{BF1AC68B-8CF8-34A9-AE4F-90BE8EACE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21" name="Text Box 20">
              <a:extLst>
                <a:ext uri="{FF2B5EF4-FFF2-40B4-BE49-F238E27FC236}">
                  <a16:creationId xmlns:a16="http://schemas.microsoft.com/office/drawing/2014/main" id="{60849B26-82DE-84D5-1F7C-F34ED9730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22" name="Text Box 19">
              <a:extLst>
                <a:ext uri="{FF2B5EF4-FFF2-40B4-BE49-F238E27FC236}">
                  <a16:creationId xmlns:a16="http://schemas.microsoft.com/office/drawing/2014/main" id="{835F3E0D-D7A2-ECB8-ACDC-6FD8230B1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23" name="Oval 17">
              <a:extLst>
                <a:ext uri="{FF2B5EF4-FFF2-40B4-BE49-F238E27FC236}">
                  <a16:creationId xmlns:a16="http://schemas.microsoft.com/office/drawing/2014/main" id="{BD2D6ABC-3B57-CDB5-A84B-9A55C58686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24" name="Oval 16">
              <a:extLst>
                <a:ext uri="{FF2B5EF4-FFF2-40B4-BE49-F238E27FC236}">
                  <a16:creationId xmlns:a16="http://schemas.microsoft.com/office/drawing/2014/main" id="{EA5D0663-65B7-2852-6AA6-6B9B108993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25" name="Oval 15">
              <a:extLst>
                <a:ext uri="{FF2B5EF4-FFF2-40B4-BE49-F238E27FC236}">
                  <a16:creationId xmlns:a16="http://schemas.microsoft.com/office/drawing/2014/main" id="{D6384A29-27AA-34A2-B5EB-3FF4730D46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26" name="Oval 14">
              <a:extLst>
                <a:ext uri="{FF2B5EF4-FFF2-40B4-BE49-F238E27FC236}">
                  <a16:creationId xmlns:a16="http://schemas.microsoft.com/office/drawing/2014/main" id="{0A6831FB-ACC3-CEDA-EF72-C284F1EF2D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27" name="Oval 13">
              <a:extLst>
                <a:ext uri="{FF2B5EF4-FFF2-40B4-BE49-F238E27FC236}">
                  <a16:creationId xmlns:a16="http://schemas.microsoft.com/office/drawing/2014/main" id="{0CA54A8B-50F3-66C5-A719-0BDA1D8D9B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28" name="Oval 12">
              <a:extLst>
                <a:ext uri="{FF2B5EF4-FFF2-40B4-BE49-F238E27FC236}">
                  <a16:creationId xmlns:a16="http://schemas.microsoft.com/office/drawing/2014/main" id="{28300250-487E-0618-5E8A-D69E3BF924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729" name="AutoShape 11">
              <a:extLst>
                <a:ext uri="{FF2B5EF4-FFF2-40B4-BE49-F238E27FC236}">
                  <a16:creationId xmlns:a16="http://schemas.microsoft.com/office/drawing/2014/main" id="{27FF4F00-FA34-B23B-82D9-A8E1428ED5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0" name="AutoShape 10">
              <a:extLst>
                <a:ext uri="{FF2B5EF4-FFF2-40B4-BE49-F238E27FC236}">
                  <a16:creationId xmlns:a16="http://schemas.microsoft.com/office/drawing/2014/main" id="{EAF1EFBA-C9AB-E2CF-4A74-180F631DE4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1" name="AutoShape 9">
              <a:extLst>
                <a:ext uri="{FF2B5EF4-FFF2-40B4-BE49-F238E27FC236}">
                  <a16:creationId xmlns:a16="http://schemas.microsoft.com/office/drawing/2014/main" id="{65287954-37C8-EB85-1BD3-D52ED3E1CD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2" name="AutoShape 8">
              <a:extLst>
                <a:ext uri="{FF2B5EF4-FFF2-40B4-BE49-F238E27FC236}">
                  <a16:creationId xmlns:a16="http://schemas.microsoft.com/office/drawing/2014/main" id="{3D07220B-9F47-B4B2-262F-667A7688D1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8" y="8286"/>
              <a:ext cx="45" cy="113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3" name="AutoShape 7">
              <a:extLst>
                <a:ext uri="{FF2B5EF4-FFF2-40B4-BE49-F238E27FC236}">
                  <a16:creationId xmlns:a16="http://schemas.microsoft.com/office/drawing/2014/main" id="{C5813356-AAA3-A296-A1E2-C4255E949D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5">
              <a:extLst>
                <a:ext uri="{FF2B5EF4-FFF2-40B4-BE49-F238E27FC236}">
                  <a16:creationId xmlns:a16="http://schemas.microsoft.com/office/drawing/2014/main" id="{A684ABA4-E4BD-2E61-7D05-BDF966849A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4">
              <a:extLst>
                <a:ext uri="{FF2B5EF4-FFF2-40B4-BE49-F238E27FC236}">
                  <a16:creationId xmlns:a16="http://schemas.microsoft.com/office/drawing/2014/main" id="{DB7C24BD-FFC8-44DE-2344-377DFD6F84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677" name="Group 1">
            <a:extLst>
              <a:ext uri="{FF2B5EF4-FFF2-40B4-BE49-F238E27FC236}">
                <a16:creationId xmlns:a16="http://schemas.microsoft.com/office/drawing/2014/main" id="{0DDD74DC-9F44-D81C-932E-AA1F1B09B4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87725" y="2924175"/>
            <a:ext cx="2913063" cy="3457575"/>
            <a:chOff x="2242" y="7265"/>
            <a:chExt cx="2731" cy="3240"/>
          </a:xfrm>
        </p:grpSpPr>
        <p:sp>
          <p:nvSpPr>
            <p:cNvPr id="28696" name="AutoShape 28">
              <a:extLst>
                <a:ext uri="{FF2B5EF4-FFF2-40B4-BE49-F238E27FC236}">
                  <a16:creationId xmlns:a16="http://schemas.microsoft.com/office/drawing/2014/main" id="{A908B730-7673-31D5-F7D6-984CDBF1515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Text Box 26">
              <a:extLst>
                <a:ext uri="{FF2B5EF4-FFF2-40B4-BE49-F238E27FC236}">
                  <a16:creationId xmlns:a16="http://schemas.microsoft.com/office/drawing/2014/main" id="{31DAF70D-1A86-680A-69D2-E44C94864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8698" name="Text Box 24">
              <a:extLst>
                <a:ext uri="{FF2B5EF4-FFF2-40B4-BE49-F238E27FC236}">
                  <a16:creationId xmlns:a16="http://schemas.microsoft.com/office/drawing/2014/main" id="{823039DF-3C1D-F8C0-9D43-F42E61994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699" name="Text Box 23">
              <a:extLst>
                <a:ext uri="{FF2B5EF4-FFF2-40B4-BE49-F238E27FC236}">
                  <a16:creationId xmlns:a16="http://schemas.microsoft.com/office/drawing/2014/main" id="{60495533-0644-F239-7AD4-D07268DE9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700" name="Text Box 22">
              <a:extLst>
                <a:ext uri="{FF2B5EF4-FFF2-40B4-BE49-F238E27FC236}">
                  <a16:creationId xmlns:a16="http://schemas.microsoft.com/office/drawing/2014/main" id="{A2BB6614-C8E1-0115-D763-4A3EA3593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01" name="Text Box 20">
              <a:extLst>
                <a:ext uri="{FF2B5EF4-FFF2-40B4-BE49-F238E27FC236}">
                  <a16:creationId xmlns:a16="http://schemas.microsoft.com/office/drawing/2014/main" id="{BE1A2F1B-0F63-F8A2-7157-794C1B10D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8867"/>
              <a:ext cx="64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02" name="Text Box 19">
              <a:extLst>
                <a:ext uri="{FF2B5EF4-FFF2-40B4-BE49-F238E27FC236}">
                  <a16:creationId xmlns:a16="http://schemas.microsoft.com/office/drawing/2014/main" id="{CFB938DC-0299-ED28-0B9A-54359EDCF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703" name="Oval 17">
              <a:extLst>
                <a:ext uri="{FF2B5EF4-FFF2-40B4-BE49-F238E27FC236}">
                  <a16:creationId xmlns:a16="http://schemas.microsoft.com/office/drawing/2014/main" id="{42CE4C96-9F47-DC7C-1A3C-8672D3C359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4" name="Oval 16">
              <a:extLst>
                <a:ext uri="{FF2B5EF4-FFF2-40B4-BE49-F238E27FC236}">
                  <a16:creationId xmlns:a16="http://schemas.microsoft.com/office/drawing/2014/main" id="{0A2941FD-1692-DEC9-0549-270E759B2B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5" name="Oval 15">
              <a:extLst>
                <a:ext uri="{FF2B5EF4-FFF2-40B4-BE49-F238E27FC236}">
                  <a16:creationId xmlns:a16="http://schemas.microsoft.com/office/drawing/2014/main" id="{373AB4C3-0C25-67E3-BC00-575ED2E40A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6" name="Oval 14">
              <a:extLst>
                <a:ext uri="{FF2B5EF4-FFF2-40B4-BE49-F238E27FC236}">
                  <a16:creationId xmlns:a16="http://schemas.microsoft.com/office/drawing/2014/main" id="{A32CC911-7CDB-0403-5570-9F46D7B0AD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7" name="Oval 13">
              <a:extLst>
                <a:ext uri="{FF2B5EF4-FFF2-40B4-BE49-F238E27FC236}">
                  <a16:creationId xmlns:a16="http://schemas.microsoft.com/office/drawing/2014/main" id="{0C8B6B08-67D8-274D-77FF-8592CDCA0D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8" name="Oval 12">
              <a:extLst>
                <a:ext uri="{FF2B5EF4-FFF2-40B4-BE49-F238E27FC236}">
                  <a16:creationId xmlns:a16="http://schemas.microsoft.com/office/drawing/2014/main" id="{F7B8EAD3-2301-087B-4B56-801D194844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709" name="AutoShape 11">
              <a:extLst>
                <a:ext uri="{FF2B5EF4-FFF2-40B4-BE49-F238E27FC236}">
                  <a16:creationId xmlns:a16="http://schemas.microsoft.com/office/drawing/2014/main" id="{75839C9A-1AA0-09C6-1D97-403F50ABF9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0" name="AutoShape 10">
              <a:extLst>
                <a:ext uri="{FF2B5EF4-FFF2-40B4-BE49-F238E27FC236}">
                  <a16:creationId xmlns:a16="http://schemas.microsoft.com/office/drawing/2014/main" id="{48076594-9BCA-FF6D-A441-E382E2B4F7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1" name="AutoShape 9">
              <a:extLst>
                <a:ext uri="{FF2B5EF4-FFF2-40B4-BE49-F238E27FC236}">
                  <a16:creationId xmlns:a16="http://schemas.microsoft.com/office/drawing/2014/main" id="{2CB000BC-70F9-ABD9-DF67-1B6ECAE493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2" name="AutoShape 7">
              <a:extLst>
                <a:ext uri="{FF2B5EF4-FFF2-40B4-BE49-F238E27FC236}">
                  <a16:creationId xmlns:a16="http://schemas.microsoft.com/office/drawing/2014/main" id="{648CDC28-4B84-DA04-6BE4-B9E77CE199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3" name="AutoShape 5">
              <a:extLst>
                <a:ext uri="{FF2B5EF4-FFF2-40B4-BE49-F238E27FC236}">
                  <a16:creationId xmlns:a16="http://schemas.microsoft.com/office/drawing/2014/main" id="{979EEB55-DA53-3EE6-2C78-9F29ED4751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8256"/>
              <a:ext cx="1624" cy="1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4" name="AutoShape 4">
              <a:extLst>
                <a:ext uri="{FF2B5EF4-FFF2-40B4-BE49-F238E27FC236}">
                  <a16:creationId xmlns:a16="http://schemas.microsoft.com/office/drawing/2014/main" id="{A1FF14F7-593E-4BC1-1F7A-310BAAE212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678" name="Group 1">
            <a:extLst>
              <a:ext uri="{FF2B5EF4-FFF2-40B4-BE49-F238E27FC236}">
                <a16:creationId xmlns:a16="http://schemas.microsoft.com/office/drawing/2014/main" id="{3A3AEA75-EED5-D30F-A417-F74FBDD47C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96013" y="2924175"/>
            <a:ext cx="2913062" cy="3457575"/>
            <a:chOff x="2242" y="7265"/>
            <a:chExt cx="2731" cy="3240"/>
          </a:xfrm>
        </p:grpSpPr>
        <p:sp>
          <p:nvSpPr>
            <p:cNvPr id="28679" name="AutoShape 28">
              <a:extLst>
                <a:ext uri="{FF2B5EF4-FFF2-40B4-BE49-F238E27FC236}">
                  <a16:creationId xmlns:a16="http://schemas.microsoft.com/office/drawing/2014/main" id="{110EEA38-65F3-6647-B5C9-0B79C856EAE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42" y="7265"/>
              <a:ext cx="2731" cy="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0" name="Text Box 26">
              <a:extLst>
                <a:ext uri="{FF2B5EF4-FFF2-40B4-BE49-F238E27FC236}">
                  <a16:creationId xmlns:a16="http://schemas.microsoft.com/office/drawing/2014/main" id="{E9D5FAE1-B9F0-688A-272A-1A2DB28F8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9774"/>
              <a:ext cx="62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28681" name="Text Box 24">
              <a:extLst>
                <a:ext uri="{FF2B5EF4-FFF2-40B4-BE49-F238E27FC236}">
                  <a16:creationId xmlns:a16="http://schemas.microsoft.com/office/drawing/2014/main" id="{C88FA82B-D9E6-5C35-1E62-BEA3E12C6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8486"/>
              <a:ext cx="63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682" name="Text Box 23">
              <a:extLst>
                <a:ext uri="{FF2B5EF4-FFF2-40B4-BE49-F238E27FC236}">
                  <a16:creationId xmlns:a16="http://schemas.microsoft.com/office/drawing/2014/main" id="{6D1D101B-3E9E-4EB3-D791-2703D759D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7318"/>
              <a:ext cx="641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8683" name="Text Box 22">
              <a:extLst>
                <a:ext uri="{FF2B5EF4-FFF2-40B4-BE49-F238E27FC236}">
                  <a16:creationId xmlns:a16="http://schemas.microsoft.com/office/drawing/2014/main" id="{B64D822A-7855-C5B4-87FF-FB568C3FF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7336"/>
              <a:ext cx="607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684" name="Text Box 19">
              <a:extLst>
                <a:ext uri="{FF2B5EF4-FFF2-40B4-BE49-F238E27FC236}">
                  <a16:creationId xmlns:a16="http://schemas.microsoft.com/office/drawing/2014/main" id="{74FEA481-9647-17B5-170A-634394D54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8221"/>
              <a:ext cx="560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8685" name="Oval 17">
              <a:extLst>
                <a:ext uri="{FF2B5EF4-FFF2-40B4-BE49-F238E27FC236}">
                  <a16:creationId xmlns:a16="http://schemas.microsoft.com/office/drawing/2014/main" id="{351D542F-E467-1732-F466-A7C84B35E7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6" name="Oval 16">
              <a:extLst>
                <a:ext uri="{FF2B5EF4-FFF2-40B4-BE49-F238E27FC236}">
                  <a16:creationId xmlns:a16="http://schemas.microsoft.com/office/drawing/2014/main" id="{A4C9939B-D92C-FD17-CFB4-0266A1FBC1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5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7" name="Oval 15">
              <a:extLst>
                <a:ext uri="{FF2B5EF4-FFF2-40B4-BE49-F238E27FC236}">
                  <a16:creationId xmlns:a16="http://schemas.microsoft.com/office/drawing/2014/main" id="{0691F5CF-E7AA-E803-7763-61BD395E0E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2" y="8083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8" name="Oval 14">
              <a:extLst>
                <a:ext uri="{FF2B5EF4-FFF2-40B4-BE49-F238E27FC236}">
                  <a16:creationId xmlns:a16="http://schemas.microsoft.com/office/drawing/2014/main" id="{842E4BA0-1A17-DA0F-862F-90135A0BE1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7" y="9425"/>
              <a:ext cx="201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9" name="Oval 13">
              <a:extLst>
                <a:ext uri="{FF2B5EF4-FFF2-40B4-BE49-F238E27FC236}">
                  <a16:creationId xmlns:a16="http://schemas.microsoft.com/office/drawing/2014/main" id="{F25DB7C0-1D1E-1EF1-9A13-47E4DF9E5D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10199"/>
              <a:ext cx="200" cy="20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90" name="Oval 12">
              <a:extLst>
                <a:ext uri="{FF2B5EF4-FFF2-40B4-BE49-F238E27FC236}">
                  <a16:creationId xmlns:a16="http://schemas.microsoft.com/office/drawing/2014/main" id="{8C718090-116A-2152-F704-01A2AF9573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7" y="7273"/>
              <a:ext cx="200" cy="2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691" name="AutoShape 11">
              <a:extLst>
                <a:ext uri="{FF2B5EF4-FFF2-40B4-BE49-F238E27FC236}">
                  <a16:creationId xmlns:a16="http://schemas.microsoft.com/office/drawing/2014/main" id="{EBEC1D97-9395-83B8-D9D8-B34BA8D2C4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7" y="7477"/>
              <a:ext cx="820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2" name="AutoShape 10">
              <a:extLst>
                <a:ext uri="{FF2B5EF4-FFF2-40B4-BE49-F238E27FC236}">
                  <a16:creationId xmlns:a16="http://schemas.microsoft.com/office/drawing/2014/main" id="{1906B38F-468F-4994-752F-2002A8B16E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7" y="7477"/>
              <a:ext cx="804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3" name="AutoShape 9">
              <a:extLst>
                <a:ext uri="{FF2B5EF4-FFF2-40B4-BE49-F238E27FC236}">
                  <a16:creationId xmlns:a16="http://schemas.microsoft.com/office/drawing/2014/main" id="{A0779A27-4F57-3B52-9ACD-A5CF36996C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6" y="8286"/>
              <a:ext cx="1" cy="1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4" name="AutoShape 7">
              <a:extLst>
                <a:ext uri="{FF2B5EF4-FFF2-40B4-BE49-F238E27FC236}">
                  <a16:creationId xmlns:a16="http://schemas.microsoft.com/office/drawing/2014/main" id="{D8924D94-B7AF-DC8E-04AF-9ED99A1C5D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58" y="9598"/>
              <a:ext cx="688" cy="6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5" name="AutoShape 4">
              <a:extLst>
                <a:ext uri="{FF2B5EF4-FFF2-40B4-BE49-F238E27FC236}">
                  <a16:creationId xmlns:a16="http://schemas.microsoft.com/office/drawing/2014/main" id="{13A4CE28-5A3E-98FE-D885-1AF8406248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7" y="8256"/>
              <a:ext cx="1579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C29D61B1-EB57-C4C6-F4D6-881C2B3B7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8.4.4 </a:t>
            </a:r>
            <a:r>
              <a:rPr lang="zh-CN" altLang="en-US" sz="5400">
                <a:solidFill>
                  <a:srgbClr val="333399"/>
                </a:solidFill>
              </a:rPr>
              <a:t>广度优先搜索</a:t>
            </a:r>
            <a:endParaRPr lang="zh-CN" altLang="en-US"/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17E36327-C33B-9C09-D62A-A7E4C6ECFA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zh-CN" b="1">
                <a:solidFill>
                  <a:srgbClr val="FF0000"/>
                </a:solidFill>
              </a:rPr>
              <a:t>广度优先搜</a:t>
            </a:r>
            <a:r>
              <a:rPr lang="zh-CN" altLang="zh-CN" b="1"/>
              <a:t>索</a:t>
            </a:r>
            <a:r>
              <a:rPr lang="en-US" altLang="zh-CN"/>
              <a:t>(breadth first search)</a:t>
            </a:r>
            <a:r>
              <a:rPr lang="zh-CN" altLang="zh-CN"/>
              <a:t> </a:t>
            </a:r>
            <a:r>
              <a:rPr lang="zh-CN" altLang="zh-CN">
                <a:solidFill>
                  <a:srgbClr val="00B050"/>
                </a:solidFill>
              </a:rPr>
              <a:t>基本思想</a:t>
            </a:r>
            <a:r>
              <a:rPr lang="zh-CN" altLang="zh-CN"/>
              <a:t>：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zh-CN" altLang="zh-CN"/>
              <a:t>从图</a:t>
            </a:r>
            <a:r>
              <a:rPr lang="en-US" altLang="zh-CN"/>
              <a:t>G</a:t>
            </a:r>
            <a:r>
              <a:rPr lang="zh-CN" altLang="zh-CN"/>
              <a:t>的顶点中任选一个根，然后添加与这个顶点相关联的所有边，在这个阶段添加的新顶点成为生成树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zh-CN"/>
              <a:t>层上的顶点，任意地排序它们。下一步，按顺序访问</a:t>
            </a:r>
            <a:r>
              <a:rPr lang="en-US" altLang="zh-CN"/>
              <a:t>1</a:t>
            </a:r>
            <a:r>
              <a:rPr lang="zh-CN" altLang="zh-CN"/>
              <a:t>层上的每个顶点，只要不产生回路，就添加与这个顶点关联的每条边，这样就产生了生成树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zh-CN"/>
              <a:t>层上的顶点。遵循同样的原则继续下去，经有限步骤后就产生了生成树。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6BF81EE5-8BB0-F02B-6C67-ADB667F56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8.4.4 </a:t>
            </a:r>
            <a:r>
              <a:rPr lang="zh-CN" altLang="en-US" sz="5400"/>
              <a:t>广度优先搜索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A26E3041-16FE-26DA-6006-EE5FB9C7A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8.4.4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用广度优先搜索生成</a:t>
            </a:r>
            <a:r>
              <a:rPr lang="zh-CN" altLang="en-US"/>
              <a:t>右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的生成树。</a:t>
            </a:r>
            <a:endParaRPr lang="zh-CN" altLang="en-US"/>
          </a:p>
        </p:txBody>
      </p:sp>
      <p:sp>
        <p:nvSpPr>
          <p:cNvPr id="30724" name="Rectangle 27">
            <a:extLst>
              <a:ext uri="{FF2B5EF4-FFF2-40B4-BE49-F238E27FC236}">
                <a16:creationId xmlns:a16="http://schemas.microsoft.com/office/drawing/2014/main" id="{8632E54E-DB1E-47D8-549C-152862078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30725" name="画布 39">
            <a:extLst>
              <a:ext uri="{FF2B5EF4-FFF2-40B4-BE49-F238E27FC236}">
                <a16:creationId xmlns:a16="http://schemas.microsoft.com/office/drawing/2014/main" id="{C50FE21D-8361-3F27-288E-F21B7C7AC0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5850" y="3070225"/>
            <a:ext cx="3557588" cy="3382963"/>
            <a:chOff x="5875" y="2615"/>
            <a:chExt cx="3335" cy="3172"/>
          </a:xfrm>
        </p:grpSpPr>
        <p:sp>
          <p:nvSpPr>
            <p:cNvPr id="30748" name="AutoShape 26">
              <a:extLst>
                <a:ext uri="{FF2B5EF4-FFF2-40B4-BE49-F238E27FC236}">
                  <a16:creationId xmlns:a16="http://schemas.microsoft.com/office/drawing/2014/main" id="{16C0CB5A-DCB7-9B78-215B-241547A928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49" name="Text Box 42">
              <a:extLst>
                <a:ext uri="{FF2B5EF4-FFF2-40B4-BE49-F238E27FC236}">
                  <a16:creationId xmlns:a16="http://schemas.microsoft.com/office/drawing/2014/main" id="{48867F8D-4E34-650E-4654-5EF1BA504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0750" name="Text Box 42">
              <a:extLst>
                <a:ext uri="{FF2B5EF4-FFF2-40B4-BE49-F238E27FC236}">
                  <a16:creationId xmlns:a16="http://schemas.microsoft.com/office/drawing/2014/main" id="{F2B7BBBB-BBAD-8597-F795-04E9EA47A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0751" name="Text Box 41">
              <a:extLst>
                <a:ext uri="{FF2B5EF4-FFF2-40B4-BE49-F238E27FC236}">
                  <a16:creationId xmlns:a16="http://schemas.microsoft.com/office/drawing/2014/main" id="{1703019E-B33A-9D61-67A1-440310C70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0752" name="Text Box 42">
              <a:extLst>
                <a:ext uri="{FF2B5EF4-FFF2-40B4-BE49-F238E27FC236}">
                  <a16:creationId xmlns:a16="http://schemas.microsoft.com/office/drawing/2014/main" id="{2BC97A77-7DB8-E380-BD7F-FE1C3B683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0753" name="Text Box 43">
              <a:extLst>
                <a:ext uri="{FF2B5EF4-FFF2-40B4-BE49-F238E27FC236}">
                  <a16:creationId xmlns:a16="http://schemas.microsoft.com/office/drawing/2014/main" id="{3092088D-F5AD-DE8B-5BE2-94D8EDE0D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0754" name="Text Box 44">
              <a:extLst>
                <a:ext uri="{FF2B5EF4-FFF2-40B4-BE49-F238E27FC236}">
                  <a16:creationId xmlns:a16="http://schemas.microsoft.com/office/drawing/2014/main" id="{D81DE3D2-2042-9E29-3101-30932338C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0755" name="Text Box 50">
              <a:extLst>
                <a:ext uri="{FF2B5EF4-FFF2-40B4-BE49-F238E27FC236}">
                  <a16:creationId xmlns:a16="http://schemas.microsoft.com/office/drawing/2014/main" id="{CF173CFC-AA7C-2B05-5CE5-1B22CA6EB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0756" name="Oval 52">
              <a:extLst>
                <a:ext uri="{FF2B5EF4-FFF2-40B4-BE49-F238E27FC236}">
                  <a16:creationId xmlns:a16="http://schemas.microsoft.com/office/drawing/2014/main" id="{2910B02F-F6BB-9696-9799-A4823103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426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57" name="Oval 53">
              <a:extLst>
                <a:ext uri="{FF2B5EF4-FFF2-40B4-BE49-F238E27FC236}">
                  <a16:creationId xmlns:a16="http://schemas.microsoft.com/office/drawing/2014/main" id="{49EF1D48-0D14-585D-C202-81F2269C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2914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58" name="Oval 54">
              <a:extLst>
                <a:ext uri="{FF2B5EF4-FFF2-40B4-BE49-F238E27FC236}">
                  <a16:creationId xmlns:a16="http://schemas.microsoft.com/office/drawing/2014/main" id="{31643730-7C79-0741-96E8-D9E05653A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1" y="426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59" name="Oval 55">
              <a:extLst>
                <a:ext uri="{FF2B5EF4-FFF2-40B4-BE49-F238E27FC236}">
                  <a16:creationId xmlns:a16="http://schemas.microsoft.com/office/drawing/2014/main" id="{FDB2DE2F-311F-040F-ADC2-8FEAA5FAE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60" name="Oval 56">
              <a:extLst>
                <a:ext uri="{FF2B5EF4-FFF2-40B4-BE49-F238E27FC236}">
                  <a16:creationId xmlns:a16="http://schemas.microsoft.com/office/drawing/2014/main" id="{81D55042-B192-34BF-FA08-934739BDA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" y="42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0761" name="AutoShape 13">
              <a:extLst>
                <a:ext uri="{FF2B5EF4-FFF2-40B4-BE49-F238E27FC236}">
                  <a16:creationId xmlns:a16="http://schemas.microsoft.com/office/drawing/2014/main" id="{352E671D-E9D2-FA37-E8F7-6C7909B149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84" y="4363"/>
              <a:ext cx="674" cy="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2" name="AutoShape 12">
              <a:extLst>
                <a:ext uri="{FF2B5EF4-FFF2-40B4-BE49-F238E27FC236}">
                  <a16:creationId xmlns:a16="http://schemas.microsoft.com/office/drawing/2014/main" id="{A536252E-73BF-22F8-2665-44B973AC8F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3" name="AutoShape 11">
              <a:extLst>
                <a:ext uri="{FF2B5EF4-FFF2-40B4-BE49-F238E27FC236}">
                  <a16:creationId xmlns:a16="http://schemas.microsoft.com/office/drawing/2014/main" id="{C1043CE0-0BBB-6584-0CDB-2B0FDADC17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4" name="AutoShape 10">
              <a:extLst>
                <a:ext uri="{FF2B5EF4-FFF2-40B4-BE49-F238E27FC236}">
                  <a16:creationId xmlns:a16="http://schemas.microsoft.com/office/drawing/2014/main" id="{E6E2EA99-8796-CD48-4CF7-D7AEBCAAD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4" y="3135"/>
              <a:ext cx="894" cy="11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5" name="AutoShape 9">
              <a:extLst>
                <a:ext uri="{FF2B5EF4-FFF2-40B4-BE49-F238E27FC236}">
                  <a16:creationId xmlns:a16="http://schemas.microsoft.com/office/drawing/2014/main" id="{529912E8-980E-E86B-92C8-C33C9B6C03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6" name="AutoShape 8">
              <a:extLst>
                <a:ext uri="{FF2B5EF4-FFF2-40B4-BE49-F238E27FC236}">
                  <a16:creationId xmlns:a16="http://schemas.microsoft.com/office/drawing/2014/main" id="{FAD45171-8058-0E5E-7757-2BC86727B1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8" y="3135"/>
              <a:ext cx="1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67" name="Oval 54">
              <a:extLst>
                <a:ext uri="{FF2B5EF4-FFF2-40B4-BE49-F238E27FC236}">
                  <a16:creationId xmlns:a16="http://schemas.microsoft.com/office/drawing/2014/main" id="{FB03DD8C-CBB9-0747-9824-FDE2AD9D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6" y="5307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68" name="Oval 54">
              <a:extLst>
                <a:ext uri="{FF2B5EF4-FFF2-40B4-BE49-F238E27FC236}">
                  <a16:creationId xmlns:a16="http://schemas.microsoft.com/office/drawing/2014/main" id="{D321E9C2-F97F-D301-0536-59580533B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" y="5307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0769" name="AutoShape 5">
              <a:extLst>
                <a:ext uri="{FF2B5EF4-FFF2-40B4-BE49-F238E27FC236}">
                  <a16:creationId xmlns:a16="http://schemas.microsoft.com/office/drawing/2014/main" id="{B0F685AA-F1A9-9DE3-28A3-5C1C182184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70" name="AutoShape 4">
              <a:extLst>
                <a:ext uri="{FF2B5EF4-FFF2-40B4-BE49-F238E27FC236}">
                  <a16:creationId xmlns:a16="http://schemas.microsoft.com/office/drawing/2014/main" id="{34C447EC-2908-8284-00CB-0A4E3004A4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47" y="4485"/>
              <a:ext cx="465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71" name="AutoShape 3">
              <a:extLst>
                <a:ext uri="{FF2B5EF4-FFF2-40B4-BE49-F238E27FC236}">
                  <a16:creationId xmlns:a16="http://schemas.microsoft.com/office/drawing/2014/main" id="{FA65415D-A37F-4798-A59A-95A9CEB43B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9" y="4485"/>
              <a:ext cx="678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72" name="AutoShape 2">
              <a:extLst>
                <a:ext uri="{FF2B5EF4-FFF2-40B4-BE49-F238E27FC236}">
                  <a16:creationId xmlns:a16="http://schemas.microsoft.com/office/drawing/2014/main" id="{0B2159F9-12D0-4C0D-97CA-E3E3528951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8" y="3135"/>
              <a:ext cx="679" cy="2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726" name="画布 39">
            <a:extLst>
              <a:ext uri="{FF2B5EF4-FFF2-40B4-BE49-F238E27FC236}">
                <a16:creationId xmlns:a16="http://schemas.microsoft.com/office/drawing/2014/main" id="{41D7F49D-A31C-08FF-9AE0-F0F95AD4FD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5075" y="3068638"/>
            <a:ext cx="3559175" cy="3382962"/>
            <a:chOff x="5875" y="2615"/>
            <a:chExt cx="3335" cy="3172"/>
          </a:xfrm>
        </p:grpSpPr>
        <p:sp>
          <p:nvSpPr>
            <p:cNvPr id="30727" name="AutoShape 26">
              <a:extLst>
                <a:ext uri="{FF2B5EF4-FFF2-40B4-BE49-F238E27FC236}">
                  <a16:creationId xmlns:a16="http://schemas.microsoft.com/office/drawing/2014/main" id="{FB35C9F2-924A-A347-E98E-9F65FDCB1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28" name="Text Box 42">
              <a:extLst>
                <a:ext uri="{FF2B5EF4-FFF2-40B4-BE49-F238E27FC236}">
                  <a16:creationId xmlns:a16="http://schemas.microsoft.com/office/drawing/2014/main" id="{62CB972A-761F-FA67-F07E-C91BFDD53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0729" name="Text Box 42">
              <a:extLst>
                <a:ext uri="{FF2B5EF4-FFF2-40B4-BE49-F238E27FC236}">
                  <a16:creationId xmlns:a16="http://schemas.microsoft.com/office/drawing/2014/main" id="{E2A73164-35B4-0F5D-C955-E17653AC0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0730" name="Text Box 41">
              <a:extLst>
                <a:ext uri="{FF2B5EF4-FFF2-40B4-BE49-F238E27FC236}">
                  <a16:creationId xmlns:a16="http://schemas.microsoft.com/office/drawing/2014/main" id="{DFFD3729-F719-79D0-7E6D-418AD4D9A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0731" name="Text Box 42">
              <a:extLst>
                <a:ext uri="{FF2B5EF4-FFF2-40B4-BE49-F238E27FC236}">
                  <a16:creationId xmlns:a16="http://schemas.microsoft.com/office/drawing/2014/main" id="{E479958C-DABB-1240-7277-D8E557290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0732" name="Text Box 43">
              <a:extLst>
                <a:ext uri="{FF2B5EF4-FFF2-40B4-BE49-F238E27FC236}">
                  <a16:creationId xmlns:a16="http://schemas.microsoft.com/office/drawing/2014/main" id="{EB47703D-137D-1F56-CC6D-4728A3EF4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0733" name="Text Box 44">
              <a:extLst>
                <a:ext uri="{FF2B5EF4-FFF2-40B4-BE49-F238E27FC236}">
                  <a16:creationId xmlns:a16="http://schemas.microsoft.com/office/drawing/2014/main" id="{D67BCDAD-F517-2EAD-AC2A-5736E598C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0734" name="Text Box 50">
              <a:extLst>
                <a:ext uri="{FF2B5EF4-FFF2-40B4-BE49-F238E27FC236}">
                  <a16:creationId xmlns:a16="http://schemas.microsoft.com/office/drawing/2014/main" id="{81F9AEA5-52D0-F619-EEA4-B3D222355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0735" name="Oval 52">
              <a:extLst>
                <a:ext uri="{FF2B5EF4-FFF2-40B4-BE49-F238E27FC236}">
                  <a16:creationId xmlns:a16="http://schemas.microsoft.com/office/drawing/2014/main" id="{D79CDF5C-7530-B6D2-9125-C635D81FF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4263"/>
              <a:ext cx="221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36" name="Oval 53">
              <a:extLst>
                <a:ext uri="{FF2B5EF4-FFF2-40B4-BE49-F238E27FC236}">
                  <a16:creationId xmlns:a16="http://schemas.microsoft.com/office/drawing/2014/main" id="{FB100963-D854-B3BB-9EDE-366C87754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2914"/>
              <a:ext cx="219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37" name="Oval 54">
              <a:extLst>
                <a:ext uri="{FF2B5EF4-FFF2-40B4-BE49-F238E27FC236}">
                  <a16:creationId xmlns:a16="http://schemas.microsoft.com/office/drawing/2014/main" id="{430E69EC-9DCB-BC13-85B4-2D7C663A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1" y="4263"/>
              <a:ext cx="222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38" name="Oval 55">
              <a:extLst>
                <a:ext uri="{FF2B5EF4-FFF2-40B4-BE49-F238E27FC236}">
                  <a16:creationId xmlns:a16="http://schemas.microsoft.com/office/drawing/2014/main" id="{8F2BC961-B60B-854C-03A3-C515C33C9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39" name="Oval 56">
              <a:extLst>
                <a:ext uri="{FF2B5EF4-FFF2-40B4-BE49-F238E27FC236}">
                  <a16:creationId xmlns:a16="http://schemas.microsoft.com/office/drawing/2014/main" id="{2F243289-A54B-FE19-3BC2-1700D0F5F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" y="4252"/>
              <a:ext cx="221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0740" name="AutoShape 11">
              <a:extLst>
                <a:ext uri="{FF2B5EF4-FFF2-40B4-BE49-F238E27FC236}">
                  <a16:creationId xmlns:a16="http://schemas.microsoft.com/office/drawing/2014/main" id="{5A51640F-9D99-6FEB-5E85-5923BD7EA3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1" name="AutoShape 10">
              <a:extLst>
                <a:ext uri="{FF2B5EF4-FFF2-40B4-BE49-F238E27FC236}">
                  <a16:creationId xmlns:a16="http://schemas.microsoft.com/office/drawing/2014/main" id="{0A11FB84-01EA-A563-70AE-7CC74ADEE6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4" y="3135"/>
              <a:ext cx="894" cy="11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9">
              <a:extLst>
                <a:ext uri="{FF2B5EF4-FFF2-40B4-BE49-F238E27FC236}">
                  <a16:creationId xmlns:a16="http://schemas.microsoft.com/office/drawing/2014/main" id="{072307BB-0F46-B2FE-10A8-BE86E7BE04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3" name="AutoShape 8">
              <a:extLst>
                <a:ext uri="{FF2B5EF4-FFF2-40B4-BE49-F238E27FC236}">
                  <a16:creationId xmlns:a16="http://schemas.microsoft.com/office/drawing/2014/main" id="{45AE6667-B21B-7AE7-ACE7-E0C539413F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8" y="3135"/>
              <a:ext cx="1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44" name="Oval 54">
              <a:extLst>
                <a:ext uri="{FF2B5EF4-FFF2-40B4-BE49-F238E27FC236}">
                  <a16:creationId xmlns:a16="http://schemas.microsoft.com/office/drawing/2014/main" id="{EED314EB-2ED9-266C-F4C4-D8223108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6" y="5307"/>
              <a:ext cx="222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0745" name="Oval 54">
              <a:extLst>
                <a:ext uri="{FF2B5EF4-FFF2-40B4-BE49-F238E27FC236}">
                  <a16:creationId xmlns:a16="http://schemas.microsoft.com/office/drawing/2014/main" id="{800EF625-D55D-F4D6-59D0-DC6E6C6CE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" y="5307"/>
              <a:ext cx="222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0746" name="AutoShape 5">
              <a:extLst>
                <a:ext uri="{FF2B5EF4-FFF2-40B4-BE49-F238E27FC236}">
                  <a16:creationId xmlns:a16="http://schemas.microsoft.com/office/drawing/2014/main" id="{CB0DCC21-A062-C5D8-0975-4F226FEC72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7" name="AutoShape 2">
              <a:extLst>
                <a:ext uri="{FF2B5EF4-FFF2-40B4-BE49-F238E27FC236}">
                  <a16:creationId xmlns:a16="http://schemas.microsoft.com/office/drawing/2014/main" id="{58FE1086-6D4D-3713-614E-CA8145FFB7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8" y="3135"/>
              <a:ext cx="679" cy="2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AA59EC73-BE50-7E53-5830-93DE10D5A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8.4.4 </a:t>
            </a:r>
            <a:r>
              <a:rPr lang="zh-CN" altLang="en-US" sz="5400">
                <a:solidFill>
                  <a:srgbClr val="333399"/>
                </a:solidFill>
              </a:rPr>
              <a:t>广度优先搜索</a:t>
            </a:r>
            <a:endParaRPr lang="zh-CN" altLang="en-US"/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BE1D55B1-AC94-5555-12B5-7BD07451B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8.4.5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用广度优先搜索生成</a:t>
            </a:r>
            <a:r>
              <a:rPr lang="zh-CN" altLang="en-US"/>
              <a:t>左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的生成树。</a:t>
            </a:r>
            <a:endParaRPr lang="zh-CN" altLang="en-US"/>
          </a:p>
        </p:txBody>
      </p:sp>
      <p:sp>
        <p:nvSpPr>
          <p:cNvPr id="31748" name="Rectangle 27">
            <a:extLst>
              <a:ext uri="{FF2B5EF4-FFF2-40B4-BE49-F238E27FC236}">
                <a16:creationId xmlns:a16="http://schemas.microsoft.com/office/drawing/2014/main" id="{12BF9E5C-235C-6633-429C-856A2406A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31749" name="画布 39">
            <a:extLst>
              <a:ext uri="{FF2B5EF4-FFF2-40B4-BE49-F238E27FC236}">
                <a16:creationId xmlns:a16="http://schemas.microsoft.com/office/drawing/2014/main" id="{1A533B0E-2D19-1D0E-96E5-487E71E93A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5850" y="2997200"/>
            <a:ext cx="3557588" cy="3382963"/>
            <a:chOff x="5875" y="2615"/>
            <a:chExt cx="3335" cy="3172"/>
          </a:xfrm>
        </p:grpSpPr>
        <p:sp>
          <p:nvSpPr>
            <p:cNvPr id="31772" name="AutoShape 26">
              <a:extLst>
                <a:ext uri="{FF2B5EF4-FFF2-40B4-BE49-F238E27FC236}">
                  <a16:creationId xmlns:a16="http://schemas.microsoft.com/office/drawing/2014/main" id="{E5393FAD-E390-FFC7-782D-FF3A43415F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73" name="Text Box 42">
              <a:extLst>
                <a:ext uri="{FF2B5EF4-FFF2-40B4-BE49-F238E27FC236}">
                  <a16:creationId xmlns:a16="http://schemas.microsoft.com/office/drawing/2014/main" id="{B9CD304D-17FA-3368-ED56-A4F2FBB7D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1774" name="Text Box 42">
              <a:extLst>
                <a:ext uri="{FF2B5EF4-FFF2-40B4-BE49-F238E27FC236}">
                  <a16:creationId xmlns:a16="http://schemas.microsoft.com/office/drawing/2014/main" id="{A585E0E5-1CC0-A00E-914A-1A9FB12EB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1775" name="Text Box 41">
              <a:extLst>
                <a:ext uri="{FF2B5EF4-FFF2-40B4-BE49-F238E27FC236}">
                  <a16:creationId xmlns:a16="http://schemas.microsoft.com/office/drawing/2014/main" id="{A77CA0B3-954A-D30E-A289-1CFC2E19D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1776" name="Text Box 42">
              <a:extLst>
                <a:ext uri="{FF2B5EF4-FFF2-40B4-BE49-F238E27FC236}">
                  <a16:creationId xmlns:a16="http://schemas.microsoft.com/office/drawing/2014/main" id="{3AA60EC2-FEA2-138F-F94C-ECED633F9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1777" name="Text Box 43">
              <a:extLst>
                <a:ext uri="{FF2B5EF4-FFF2-40B4-BE49-F238E27FC236}">
                  <a16:creationId xmlns:a16="http://schemas.microsoft.com/office/drawing/2014/main" id="{403F3D2A-BC90-72B4-BB19-7C8F3E0C5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1778" name="Text Box 44">
              <a:extLst>
                <a:ext uri="{FF2B5EF4-FFF2-40B4-BE49-F238E27FC236}">
                  <a16:creationId xmlns:a16="http://schemas.microsoft.com/office/drawing/2014/main" id="{53D1DCCF-DBA7-A024-11F3-607C3264A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1779" name="Text Box 50">
              <a:extLst>
                <a:ext uri="{FF2B5EF4-FFF2-40B4-BE49-F238E27FC236}">
                  <a16:creationId xmlns:a16="http://schemas.microsoft.com/office/drawing/2014/main" id="{B589E3BB-F78B-2556-03A2-682BC41B2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1780" name="Oval 52">
              <a:extLst>
                <a:ext uri="{FF2B5EF4-FFF2-40B4-BE49-F238E27FC236}">
                  <a16:creationId xmlns:a16="http://schemas.microsoft.com/office/drawing/2014/main" id="{408BA7EA-832D-8A5B-7842-291A90D32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426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81" name="Oval 53">
              <a:extLst>
                <a:ext uri="{FF2B5EF4-FFF2-40B4-BE49-F238E27FC236}">
                  <a16:creationId xmlns:a16="http://schemas.microsoft.com/office/drawing/2014/main" id="{F136F2E4-1548-C7B6-DE09-AB4EF59A5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2914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82" name="Oval 54">
              <a:extLst>
                <a:ext uri="{FF2B5EF4-FFF2-40B4-BE49-F238E27FC236}">
                  <a16:creationId xmlns:a16="http://schemas.microsoft.com/office/drawing/2014/main" id="{30E5636D-ED6C-FD20-4453-A2B614D52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1" y="426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83" name="Oval 55">
              <a:extLst>
                <a:ext uri="{FF2B5EF4-FFF2-40B4-BE49-F238E27FC236}">
                  <a16:creationId xmlns:a16="http://schemas.microsoft.com/office/drawing/2014/main" id="{4E1D4DB2-337A-79FA-B827-8EA915435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84" name="Oval 56">
              <a:extLst>
                <a:ext uri="{FF2B5EF4-FFF2-40B4-BE49-F238E27FC236}">
                  <a16:creationId xmlns:a16="http://schemas.microsoft.com/office/drawing/2014/main" id="{D851C72F-23CF-A601-06C3-1CC35B4C0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" y="42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1785" name="AutoShape 13">
              <a:extLst>
                <a:ext uri="{FF2B5EF4-FFF2-40B4-BE49-F238E27FC236}">
                  <a16:creationId xmlns:a16="http://schemas.microsoft.com/office/drawing/2014/main" id="{59A2AC02-9B0A-BC88-A9EC-20BCCB075E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84" y="4363"/>
              <a:ext cx="674" cy="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6" name="AutoShape 12">
              <a:extLst>
                <a:ext uri="{FF2B5EF4-FFF2-40B4-BE49-F238E27FC236}">
                  <a16:creationId xmlns:a16="http://schemas.microsoft.com/office/drawing/2014/main" id="{E18746AD-40E7-26BB-8E3A-1F06D4FA6A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7" name="AutoShape 11">
              <a:extLst>
                <a:ext uri="{FF2B5EF4-FFF2-40B4-BE49-F238E27FC236}">
                  <a16:creationId xmlns:a16="http://schemas.microsoft.com/office/drawing/2014/main" id="{1966B29D-1EB6-03B8-0926-FE4D9D1FDB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8" name="AutoShape 10">
              <a:extLst>
                <a:ext uri="{FF2B5EF4-FFF2-40B4-BE49-F238E27FC236}">
                  <a16:creationId xmlns:a16="http://schemas.microsoft.com/office/drawing/2014/main" id="{F366AAB3-04A6-56A7-D2E4-DE408E6A50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4" y="3135"/>
              <a:ext cx="894" cy="11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9" name="AutoShape 9">
              <a:extLst>
                <a:ext uri="{FF2B5EF4-FFF2-40B4-BE49-F238E27FC236}">
                  <a16:creationId xmlns:a16="http://schemas.microsoft.com/office/drawing/2014/main" id="{357A41F9-A7BC-863F-F8C3-4F2EFC12B0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0" name="AutoShape 8">
              <a:extLst>
                <a:ext uri="{FF2B5EF4-FFF2-40B4-BE49-F238E27FC236}">
                  <a16:creationId xmlns:a16="http://schemas.microsoft.com/office/drawing/2014/main" id="{C0BF23AB-4D90-90B0-51CA-6EA876D338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8" y="3135"/>
              <a:ext cx="1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91" name="Oval 54">
              <a:extLst>
                <a:ext uri="{FF2B5EF4-FFF2-40B4-BE49-F238E27FC236}">
                  <a16:creationId xmlns:a16="http://schemas.microsoft.com/office/drawing/2014/main" id="{0149F8C2-F380-74B1-8704-7573F2277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6" y="5307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92" name="Oval 54">
              <a:extLst>
                <a:ext uri="{FF2B5EF4-FFF2-40B4-BE49-F238E27FC236}">
                  <a16:creationId xmlns:a16="http://schemas.microsoft.com/office/drawing/2014/main" id="{633429A1-DD62-8CB1-67E0-1585596C8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" y="5307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1793" name="AutoShape 5">
              <a:extLst>
                <a:ext uri="{FF2B5EF4-FFF2-40B4-BE49-F238E27FC236}">
                  <a16:creationId xmlns:a16="http://schemas.microsoft.com/office/drawing/2014/main" id="{141EB926-2EB6-92BD-36A8-ECBD2459AF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4" name="AutoShape 4">
              <a:extLst>
                <a:ext uri="{FF2B5EF4-FFF2-40B4-BE49-F238E27FC236}">
                  <a16:creationId xmlns:a16="http://schemas.microsoft.com/office/drawing/2014/main" id="{7B5716A7-6038-1169-B14C-163088119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47" y="4485"/>
              <a:ext cx="465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5" name="AutoShape 3">
              <a:extLst>
                <a:ext uri="{FF2B5EF4-FFF2-40B4-BE49-F238E27FC236}">
                  <a16:creationId xmlns:a16="http://schemas.microsoft.com/office/drawing/2014/main" id="{9D086645-1684-9FBB-156E-6C7F8D2636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9" y="4485"/>
              <a:ext cx="678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6" name="AutoShape 2">
              <a:extLst>
                <a:ext uri="{FF2B5EF4-FFF2-40B4-BE49-F238E27FC236}">
                  <a16:creationId xmlns:a16="http://schemas.microsoft.com/office/drawing/2014/main" id="{8A369EC6-F97A-B397-F158-4495B6AB9B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8" y="3135"/>
              <a:ext cx="679" cy="2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750" name="画布 39">
            <a:extLst>
              <a:ext uri="{FF2B5EF4-FFF2-40B4-BE49-F238E27FC236}">
                <a16:creationId xmlns:a16="http://schemas.microsoft.com/office/drawing/2014/main" id="{159690BB-2BE1-3428-A73F-79FC65CAF2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18100" y="2997200"/>
            <a:ext cx="3557588" cy="3382963"/>
            <a:chOff x="5875" y="2615"/>
            <a:chExt cx="3335" cy="3172"/>
          </a:xfrm>
        </p:grpSpPr>
        <p:sp>
          <p:nvSpPr>
            <p:cNvPr id="31751" name="AutoShape 26">
              <a:extLst>
                <a:ext uri="{FF2B5EF4-FFF2-40B4-BE49-F238E27FC236}">
                  <a16:creationId xmlns:a16="http://schemas.microsoft.com/office/drawing/2014/main" id="{2F3A3663-6A3B-EC9E-D1DB-1DDCF3144B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52" name="Text Box 42">
              <a:extLst>
                <a:ext uri="{FF2B5EF4-FFF2-40B4-BE49-F238E27FC236}">
                  <a16:creationId xmlns:a16="http://schemas.microsoft.com/office/drawing/2014/main" id="{E4F0CBC2-01A4-FD02-20B8-FF9765C8F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1753" name="Text Box 42">
              <a:extLst>
                <a:ext uri="{FF2B5EF4-FFF2-40B4-BE49-F238E27FC236}">
                  <a16:creationId xmlns:a16="http://schemas.microsoft.com/office/drawing/2014/main" id="{A4AD5E15-D1B0-8335-4C59-761C12BFB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1754" name="Text Box 41">
              <a:extLst>
                <a:ext uri="{FF2B5EF4-FFF2-40B4-BE49-F238E27FC236}">
                  <a16:creationId xmlns:a16="http://schemas.microsoft.com/office/drawing/2014/main" id="{56140198-CA30-755D-695D-659C04611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1755" name="Text Box 42">
              <a:extLst>
                <a:ext uri="{FF2B5EF4-FFF2-40B4-BE49-F238E27FC236}">
                  <a16:creationId xmlns:a16="http://schemas.microsoft.com/office/drawing/2014/main" id="{B0B7DE4A-270E-4AFE-01E2-8A145D9CF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1756" name="Text Box 43">
              <a:extLst>
                <a:ext uri="{FF2B5EF4-FFF2-40B4-BE49-F238E27FC236}">
                  <a16:creationId xmlns:a16="http://schemas.microsoft.com/office/drawing/2014/main" id="{6ACD1FD6-999F-45B3-3E53-AA929395A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1757" name="Text Box 44">
              <a:extLst>
                <a:ext uri="{FF2B5EF4-FFF2-40B4-BE49-F238E27FC236}">
                  <a16:creationId xmlns:a16="http://schemas.microsoft.com/office/drawing/2014/main" id="{1D6933E9-2D30-9D22-7544-385E02F8F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1758" name="Text Box 50">
              <a:extLst>
                <a:ext uri="{FF2B5EF4-FFF2-40B4-BE49-F238E27FC236}">
                  <a16:creationId xmlns:a16="http://schemas.microsoft.com/office/drawing/2014/main" id="{213BAAB5-4942-7B71-609E-8ACB4F520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1759" name="Oval 52">
              <a:extLst>
                <a:ext uri="{FF2B5EF4-FFF2-40B4-BE49-F238E27FC236}">
                  <a16:creationId xmlns:a16="http://schemas.microsoft.com/office/drawing/2014/main" id="{0A9809C3-B490-BBD5-C6FD-C685916FF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4263"/>
              <a:ext cx="221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0" name="Oval 53">
              <a:extLst>
                <a:ext uri="{FF2B5EF4-FFF2-40B4-BE49-F238E27FC236}">
                  <a16:creationId xmlns:a16="http://schemas.microsoft.com/office/drawing/2014/main" id="{330EACCD-5CA0-3602-A090-7C3A6A9B3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2914"/>
              <a:ext cx="219" cy="22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1" name="Oval 54">
              <a:extLst>
                <a:ext uri="{FF2B5EF4-FFF2-40B4-BE49-F238E27FC236}">
                  <a16:creationId xmlns:a16="http://schemas.microsoft.com/office/drawing/2014/main" id="{5F6252E2-A4BD-2DF0-CEDD-A4C132EB0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1" y="4263"/>
              <a:ext cx="222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2" name="Oval 55">
              <a:extLst>
                <a:ext uri="{FF2B5EF4-FFF2-40B4-BE49-F238E27FC236}">
                  <a16:creationId xmlns:a16="http://schemas.microsoft.com/office/drawing/2014/main" id="{48738EE6-8C68-C934-B8AF-B73EA21E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3" name="Oval 56">
              <a:extLst>
                <a:ext uri="{FF2B5EF4-FFF2-40B4-BE49-F238E27FC236}">
                  <a16:creationId xmlns:a16="http://schemas.microsoft.com/office/drawing/2014/main" id="{54C3D3A0-6479-20DB-C1F2-A94844B53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" y="4252"/>
              <a:ext cx="221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1764" name="AutoShape 13">
              <a:extLst>
                <a:ext uri="{FF2B5EF4-FFF2-40B4-BE49-F238E27FC236}">
                  <a16:creationId xmlns:a16="http://schemas.microsoft.com/office/drawing/2014/main" id="{45A4F095-AFB2-40EE-030E-911E535AD7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84" y="4363"/>
              <a:ext cx="674" cy="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5" name="AutoShape 12">
              <a:extLst>
                <a:ext uri="{FF2B5EF4-FFF2-40B4-BE49-F238E27FC236}">
                  <a16:creationId xmlns:a16="http://schemas.microsoft.com/office/drawing/2014/main" id="{0E57CD0A-A256-41D9-42A1-E4B7806DA4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6" name="AutoShape 11">
              <a:extLst>
                <a:ext uri="{FF2B5EF4-FFF2-40B4-BE49-F238E27FC236}">
                  <a16:creationId xmlns:a16="http://schemas.microsoft.com/office/drawing/2014/main" id="{A679E6CF-2FBB-D233-8487-1D699B55A6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7" name="AutoShape 9">
              <a:extLst>
                <a:ext uri="{FF2B5EF4-FFF2-40B4-BE49-F238E27FC236}">
                  <a16:creationId xmlns:a16="http://schemas.microsoft.com/office/drawing/2014/main" id="{98FFC4D5-94B3-9819-1D8B-23992BDBEC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8" name="Oval 54">
              <a:extLst>
                <a:ext uri="{FF2B5EF4-FFF2-40B4-BE49-F238E27FC236}">
                  <a16:creationId xmlns:a16="http://schemas.microsoft.com/office/drawing/2014/main" id="{488A21C0-ADF4-8B5D-28F9-4A87B7E91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6" y="5307"/>
              <a:ext cx="222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9" name="Oval 54">
              <a:extLst>
                <a:ext uri="{FF2B5EF4-FFF2-40B4-BE49-F238E27FC236}">
                  <a16:creationId xmlns:a16="http://schemas.microsoft.com/office/drawing/2014/main" id="{CDA888E1-76CB-22C3-63E9-8E99D5BC2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" y="5307"/>
              <a:ext cx="222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1770" name="AutoShape 5">
              <a:extLst>
                <a:ext uri="{FF2B5EF4-FFF2-40B4-BE49-F238E27FC236}">
                  <a16:creationId xmlns:a16="http://schemas.microsoft.com/office/drawing/2014/main" id="{0F3FE062-55B4-E27E-CA59-8BBFE66EFB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1" name="AutoShape 4">
              <a:extLst>
                <a:ext uri="{FF2B5EF4-FFF2-40B4-BE49-F238E27FC236}">
                  <a16:creationId xmlns:a16="http://schemas.microsoft.com/office/drawing/2014/main" id="{03332606-FE03-2E1D-271E-D256D88F3C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47" y="4485"/>
              <a:ext cx="465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27ADFBE1-49CC-BBD3-1326-447162106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8.4.5 </a:t>
            </a:r>
            <a:r>
              <a:rPr lang="zh-CN" altLang="en-US" sz="5400">
                <a:solidFill>
                  <a:srgbClr val="333399"/>
                </a:solidFill>
              </a:rPr>
              <a:t>深度优先搜索</a:t>
            </a:r>
            <a:endParaRPr lang="zh-CN" altLang="en-US"/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62A95B6C-E222-F3B7-71DD-33AFFB29E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150" y="1844675"/>
            <a:ext cx="8959850" cy="5013325"/>
          </a:xfrm>
        </p:spPr>
        <p:txBody>
          <a:bodyPr/>
          <a:lstStyle/>
          <a:p>
            <a:r>
              <a:rPr lang="zh-CN" altLang="zh-CN" b="1">
                <a:solidFill>
                  <a:srgbClr val="FF0000"/>
                </a:solidFill>
              </a:rPr>
              <a:t>深度优先搜索</a:t>
            </a:r>
            <a:r>
              <a:rPr lang="en-US" altLang="zh-CN"/>
              <a:t>(depth first search)</a:t>
            </a:r>
            <a:r>
              <a:rPr lang="zh-CN" altLang="zh-CN"/>
              <a:t>基本思想：</a:t>
            </a:r>
            <a:endParaRPr lang="en-US" altLang="zh-CN"/>
          </a:p>
          <a:p>
            <a:r>
              <a:rPr lang="zh-CN" altLang="zh-CN"/>
              <a:t>任选图</a:t>
            </a:r>
            <a:r>
              <a:rPr lang="en-US" altLang="zh-CN"/>
              <a:t>G</a:t>
            </a:r>
            <a:r>
              <a:rPr lang="zh-CN" altLang="zh-CN"/>
              <a:t>的一个结点</a:t>
            </a:r>
            <a:r>
              <a:rPr lang="en-US" altLang="zh-CN"/>
              <a:t>u</a:t>
            </a:r>
            <a:r>
              <a:rPr lang="zh-CN" altLang="zh-CN"/>
              <a:t>作为根，沿着一条从</a:t>
            </a:r>
            <a:r>
              <a:rPr lang="en-US" altLang="zh-CN"/>
              <a:t>u</a:t>
            </a:r>
            <a:r>
              <a:rPr lang="zh-CN" altLang="zh-CN"/>
              <a:t>发散出来的路</a:t>
            </a:r>
            <a:r>
              <a:rPr lang="en-US" altLang="zh-CN"/>
              <a:t>P</a:t>
            </a:r>
            <a:r>
              <a:rPr lang="zh-CN" altLang="zh-CN"/>
              <a:t>尽可能</a:t>
            </a:r>
            <a:r>
              <a:rPr lang="zh-CN" altLang="zh-CN">
                <a:solidFill>
                  <a:srgbClr val="FF0000"/>
                </a:solidFill>
              </a:rPr>
              <a:t>远</a:t>
            </a:r>
            <a:r>
              <a:rPr lang="zh-CN" altLang="zh-CN"/>
              <a:t>地搜索，若</a:t>
            </a:r>
            <a:r>
              <a:rPr lang="en-US" altLang="zh-CN"/>
              <a:t>P</a:t>
            </a:r>
            <a:r>
              <a:rPr lang="zh-CN" altLang="zh-CN"/>
              <a:t>经过图</a:t>
            </a:r>
            <a:r>
              <a:rPr lang="en-US" altLang="zh-CN"/>
              <a:t>G</a:t>
            </a:r>
            <a:r>
              <a:rPr lang="zh-CN" altLang="zh-CN"/>
              <a:t>的所有顶点，则</a:t>
            </a:r>
            <a:r>
              <a:rPr lang="en-US" altLang="zh-CN"/>
              <a:t>P</a:t>
            </a:r>
            <a:r>
              <a:rPr lang="zh-CN" altLang="zh-CN"/>
              <a:t>即为图</a:t>
            </a:r>
            <a:r>
              <a:rPr lang="en-US" altLang="zh-CN"/>
              <a:t>G</a:t>
            </a:r>
            <a:r>
              <a:rPr lang="zh-CN" altLang="zh-CN"/>
              <a:t>的一颗生成树，否则沿</a:t>
            </a:r>
            <a:r>
              <a:rPr lang="en-US" altLang="zh-CN"/>
              <a:t>P</a:t>
            </a:r>
            <a:r>
              <a:rPr lang="zh-CN" altLang="zh-CN"/>
              <a:t>逆向回溯，一旦遇到结点</a:t>
            </a:r>
            <a:r>
              <a:rPr lang="en-US" altLang="zh-CN"/>
              <a:t>v</a:t>
            </a:r>
            <a:r>
              <a:rPr lang="zh-CN" altLang="zh-CN"/>
              <a:t>有未达过的邻接点</a:t>
            </a:r>
            <a:r>
              <a:rPr lang="en-US" altLang="zh-CN"/>
              <a:t>w</a:t>
            </a:r>
            <a:r>
              <a:rPr lang="zh-CN" altLang="zh-CN"/>
              <a:t>，就接着再沿边</a:t>
            </a:r>
            <a:r>
              <a:rPr lang="en-US" altLang="zh-CN"/>
              <a:t>(u,w)</a:t>
            </a:r>
            <a:r>
              <a:rPr lang="zh-CN" altLang="zh-CN"/>
              <a:t>向其余没有到达的结点尽可能</a:t>
            </a:r>
            <a:r>
              <a:rPr lang="zh-CN" altLang="zh-CN">
                <a:solidFill>
                  <a:srgbClr val="FF0000"/>
                </a:solidFill>
              </a:rPr>
              <a:t>远</a:t>
            </a:r>
            <a:r>
              <a:rPr lang="zh-CN" altLang="en-US"/>
              <a:t>地</a:t>
            </a:r>
            <a:r>
              <a:rPr lang="zh-CN" altLang="zh-CN"/>
              <a:t>移动，于是又生成了一个路</a:t>
            </a:r>
            <a:r>
              <a:rPr lang="en-US" altLang="zh-CN"/>
              <a:t>P</a:t>
            </a:r>
            <a:r>
              <a:rPr lang="en-US" altLang="zh-CN" baseline="30000"/>
              <a:t>*</a:t>
            </a:r>
            <a:r>
              <a:rPr lang="zh-CN" altLang="zh-CN"/>
              <a:t>，若路</a:t>
            </a:r>
            <a:r>
              <a:rPr lang="en-US" altLang="zh-CN"/>
              <a:t>P</a:t>
            </a:r>
            <a:r>
              <a:rPr lang="zh-CN" altLang="zh-CN"/>
              <a:t>和路</a:t>
            </a:r>
            <a:r>
              <a:rPr lang="en-US" altLang="zh-CN"/>
              <a:t>P</a:t>
            </a:r>
            <a:r>
              <a:rPr lang="en-US" altLang="zh-CN" baseline="30000"/>
              <a:t>*</a:t>
            </a:r>
            <a:r>
              <a:rPr lang="zh-CN" altLang="zh-CN"/>
              <a:t>没经过图</a:t>
            </a:r>
            <a:r>
              <a:rPr lang="en-US" altLang="zh-CN"/>
              <a:t>G</a:t>
            </a:r>
            <a:r>
              <a:rPr lang="zh-CN" altLang="zh-CN"/>
              <a:t>的所有顶点，则继续上述过程，从所访问的最后一个顶点开始回溯，直到不能添加更多的边形成新的路为止。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4E5E3D8D-93A3-2ED4-A0C0-9EBA2B4F6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8.4.5 </a:t>
            </a:r>
            <a:r>
              <a:rPr lang="zh-CN" altLang="en-US" sz="5400">
                <a:solidFill>
                  <a:srgbClr val="333399"/>
                </a:solidFill>
              </a:rPr>
              <a:t>深度优先搜索</a:t>
            </a:r>
            <a:endParaRPr lang="zh-CN" altLang="en-US"/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3D096844-8A56-D878-BCB0-E327EF4B2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8.4.6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用深度优先搜索生成</a:t>
            </a:r>
            <a:r>
              <a:rPr lang="zh-CN" altLang="en-US"/>
              <a:t>左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的生成树。</a:t>
            </a:r>
            <a:endParaRPr lang="zh-CN" altLang="en-US"/>
          </a:p>
        </p:txBody>
      </p:sp>
      <p:grpSp>
        <p:nvGrpSpPr>
          <p:cNvPr id="33796" name="画布 39">
            <a:extLst>
              <a:ext uri="{FF2B5EF4-FFF2-40B4-BE49-F238E27FC236}">
                <a16:creationId xmlns:a16="http://schemas.microsoft.com/office/drawing/2014/main" id="{3435AB17-E9A5-BF71-BE98-B19D8B2E9D2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5850" y="2997200"/>
            <a:ext cx="3557588" cy="3382963"/>
            <a:chOff x="5875" y="2615"/>
            <a:chExt cx="3335" cy="3172"/>
          </a:xfrm>
        </p:grpSpPr>
        <p:sp>
          <p:nvSpPr>
            <p:cNvPr id="33825" name="AutoShape 26">
              <a:extLst>
                <a:ext uri="{FF2B5EF4-FFF2-40B4-BE49-F238E27FC236}">
                  <a16:creationId xmlns:a16="http://schemas.microsoft.com/office/drawing/2014/main" id="{F4F1BC74-62FD-94F4-E7B8-BAF9BC5B4B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3826" name="Text Box 42">
              <a:extLst>
                <a:ext uri="{FF2B5EF4-FFF2-40B4-BE49-F238E27FC236}">
                  <a16:creationId xmlns:a16="http://schemas.microsoft.com/office/drawing/2014/main" id="{A8BE660F-4820-23FF-3EC2-8D6CCCEC4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3827" name="Text Box 42">
              <a:extLst>
                <a:ext uri="{FF2B5EF4-FFF2-40B4-BE49-F238E27FC236}">
                  <a16:creationId xmlns:a16="http://schemas.microsoft.com/office/drawing/2014/main" id="{5FA9EC1E-EAC7-9BE0-B09C-1D6D0FA8A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3828" name="Text Box 41">
              <a:extLst>
                <a:ext uri="{FF2B5EF4-FFF2-40B4-BE49-F238E27FC236}">
                  <a16:creationId xmlns:a16="http://schemas.microsoft.com/office/drawing/2014/main" id="{93A01872-A508-4179-177D-8A8460DFC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3829" name="Text Box 42">
              <a:extLst>
                <a:ext uri="{FF2B5EF4-FFF2-40B4-BE49-F238E27FC236}">
                  <a16:creationId xmlns:a16="http://schemas.microsoft.com/office/drawing/2014/main" id="{003AF902-7F91-5FCF-904F-E60926347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3830" name="Text Box 43">
              <a:extLst>
                <a:ext uri="{FF2B5EF4-FFF2-40B4-BE49-F238E27FC236}">
                  <a16:creationId xmlns:a16="http://schemas.microsoft.com/office/drawing/2014/main" id="{FB2680CE-9E40-CA26-7115-6307CCC49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3831" name="Text Box 44">
              <a:extLst>
                <a:ext uri="{FF2B5EF4-FFF2-40B4-BE49-F238E27FC236}">
                  <a16:creationId xmlns:a16="http://schemas.microsoft.com/office/drawing/2014/main" id="{D06E0172-7CFF-17FB-4A0E-99D33D0ED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3832" name="Text Box 50">
              <a:extLst>
                <a:ext uri="{FF2B5EF4-FFF2-40B4-BE49-F238E27FC236}">
                  <a16:creationId xmlns:a16="http://schemas.microsoft.com/office/drawing/2014/main" id="{43F878F2-5AD7-F74D-04B1-5460738E1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3833" name="Oval 56">
              <a:extLst>
                <a:ext uri="{FF2B5EF4-FFF2-40B4-BE49-F238E27FC236}">
                  <a16:creationId xmlns:a16="http://schemas.microsoft.com/office/drawing/2014/main" id="{2C857DC3-F389-9D04-CED7-BCD10406B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" y="42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3834" name="AutoShape 13">
              <a:extLst>
                <a:ext uri="{FF2B5EF4-FFF2-40B4-BE49-F238E27FC236}">
                  <a16:creationId xmlns:a16="http://schemas.microsoft.com/office/drawing/2014/main" id="{C3899E0A-8FC9-F95C-FEAA-93C817CECC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84" y="4363"/>
              <a:ext cx="674" cy="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5" name="AutoShape 12">
              <a:extLst>
                <a:ext uri="{FF2B5EF4-FFF2-40B4-BE49-F238E27FC236}">
                  <a16:creationId xmlns:a16="http://schemas.microsoft.com/office/drawing/2014/main" id="{32A4C62C-35F5-3F83-C6FB-1740EE38B2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6" name="AutoShape 11">
              <a:extLst>
                <a:ext uri="{FF2B5EF4-FFF2-40B4-BE49-F238E27FC236}">
                  <a16:creationId xmlns:a16="http://schemas.microsoft.com/office/drawing/2014/main" id="{7232AB12-02EF-919A-2EBF-E6B2165272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7" name="AutoShape 10">
              <a:extLst>
                <a:ext uri="{FF2B5EF4-FFF2-40B4-BE49-F238E27FC236}">
                  <a16:creationId xmlns:a16="http://schemas.microsoft.com/office/drawing/2014/main" id="{387B6756-251B-EF83-B9B5-1D0854D2E0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4" y="3135"/>
              <a:ext cx="894" cy="11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8" name="AutoShape 9">
              <a:extLst>
                <a:ext uri="{FF2B5EF4-FFF2-40B4-BE49-F238E27FC236}">
                  <a16:creationId xmlns:a16="http://schemas.microsoft.com/office/drawing/2014/main" id="{23773910-586F-BF50-625D-DA08559E91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9" name="AutoShape 8">
              <a:extLst>
                <a:ext uri="{FF2B5EF4-FFF2-40B4-BE49-F238E27FC236}">
                  <a16:creationId xmlns:a16="http://schemas.microsoft.com/office/drawing/2014/main" id="{969ADC67-FF6F-E46E-1EE6-0C49020FD5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8" y="3135"/>
              <a:ext cx="1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0" name="AutoShape 5">
              <a:extLst>
                <a:ext uri="{FF2B5EF4-FFF2-40B4-BE49-F238E27FC236}">
                  <a16:creationId xmlns:a16="http://schemas.microsoft.com/office/drawing/2014/main" id="{4E9DB84B-502F-6029-19C9-90C1999389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1" name="AutoShape 4">
              <a:extLst>
                <a:ext uri="{FF2B5EF4-FFF2-40B4-BE49-F238E27FC236}">
                  <a16:creationId xmlns:a16="http://schemas.microsoft.com/office/drawing/2014/main" id="{25D32B44-5B14-50B0-B4A3-6C950616D2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47" y="4485"/>
              <a:ext cx="465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2" name="AutoShape 3">
              <a:extLst>
                <a:ext uri="{FF2B5EF4-FFF2-40B4-BE49-F238E27FC236}">
                  <a16:creationId xmlns:a16="http://schemas.microsoft.com/office/drawing/2014/main" id="{5E523E2C-0B38-2481-DD6C-2F00A5C978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9" y="4485"/>
              <a:ext cx="678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3" name="AutoShape 2">
              <a:extLst>
                <a:ext uri="{FF2B5EF4-FFF2-40B4-BE49-F238E27FC236}">
                  <a16:creationId xmlns:a16="http://schemas.microsoft.com/office/drawing/2014/main" id="{D02CB525-5976-6FE2-4AE2-D41A47A429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8" y="3135"/>
              <a:ext cx="679" cy="2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797" name="画布 39">
            <a:extLst>
              <a:ext uri="{FF2B5EF4-FFF2-40B4-BE49-F238E27FC236}">
                <a16:creationId xmlns:a16="http://schemas.microsoft.com/office/drawing/2014/main" id="{2F6302A1-1355-9004-1858-ACEBE73ED91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5075" y="2997200"/>
            <a:ext cx="3559175" cy="3382963"/>
            <a:chOff x="5875" y="2615"/>
            <a:chExt cx="3335" cy="3172"/>
          </a:xfrm>
        </p:grpSpPr>
        <p:sp>
          <p:nvSpPr>
            <p:cNvPr id="33811" name="AutoShape 26">
              <a:extLst>
                <a:ext uri="{FF2B5EF4-FFF2-40B4-BE49-F238E27FC236}">
                  <a16:creationId xmlns:a16="http://schemas.microsoft.com/office/drawing/2014/main" id="{2A382F1A-884F-F584-30C2-B764F8D06D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75" y="2615"/>
              <a:ext cx="3319" cy="3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3812" name="Text Box 42">
              <a:extLst>
                <a:ext uri="{FF2B5EF4-FFF2-40B4-BE49-F238E27FC236}">
                  <a16:creationId xmlns:a16="http://schemas.microsoft.com/office/drawing/2014/main" id="{3853C6D6-F580-19F5-B240-A2529A9FC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1" y="51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3813" name="Text Box 42">
              <a:extLst>
                <a:ext uri="{FF2B5EF4-FFF2-40B4-BE49-F238E27FC236}">
                  <a16:creationId xmlns:a16="http://schemas.microsoft.com/office/drawing/2014/main" id="{35C0A1FF-D392-3B5D-3523-E601C9095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510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3814" name="Text Box 41">
              <a:extLst>
                <a:ext uri="{FF2B5EF4-FFF2-40B4-BE49-F238E27FC236}">
                  <a16:creationId xmlns:a16="http://schemas.microsoft.com/office/drawing/2014/main" id="{D1C5A637-DA05-C46B-A96B-A44623C0A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3815" name="Text Box 42">
              <a:extLst>
                <a:ext uri="{FF2B5EF4-FFF2-40B4-BE49-F238E27FC236}">
                  <a16:creationId xmlns:a16="http://schemas.microsoft.com/office/drawing/2014/main" id="{C6B74258-4B54-C6E8-E86B-43049331F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" y="40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3816" name="Text Box 43">
              <a:extLst>
                <a:ext uri="{FF2B5EF4-FFF2-40B4-BE49-F238E27FC236}">
                  <a16:creationId xmlns:a16="http://schemas.microsoft.com/office/drawing/2014/main" id="{2408B6EC-44D0-671E-5F57-35E5F40A3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42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3817" name="Text Box 44">
              <a:extLst>
                <a:ext uri="{FF2B5EF4-FFF2-40B4-BE49-F238E27FC236}">
                  <a16:creationId xmlns:a16="http://schemas.microsoft.com/office/drawing/2014/main" id="{73D10B7F-8C8A-504D-96E9-A1EC85F9E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" y="273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3818" name="Text Box 50">
              <a:extLst>
                <a:ext uri="{FF2B5EF4-FFF2-40B4-BE49-F238E27FC236}">
                  <a16:creationId xmlns:a16="http://schemas.microsoft.com/office/drawing/2014/main" id="{58F44974-34AB-B72D-A1C3-40821E1C1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397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cxnSp>
          <p:nvCxnSpPr>
            <p:cNvPr id="33819" name="AutoShape 13">
              <a:extLst>
                <a:ext uri="{FF2B5EF4-FFF2-40B4-BE49-F238E27FC236}">
                  <a16:creationId xmlns:a16="http://schemas.microsoft.com/office/drawing/2014/main" id="{30765C77-FEB9-036E-BF77-2260DBDF4E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84" y="4363"/>
              <a:ext cx="674" cy="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12">
              <a:extLst>
                <a:ext uri="{FF2B5EF4-FFF2-40B4-BE49-F238E27FC236}">
                  <a16:creationId xmlns:a16="http://schemas.microsoft.com/office/drawing/2014/main" id="{D9F27918-58A5-FE71-B47C-8675472E7B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11">
              <a:extLst>
                <a:ext uri="{FF2B5EF4-FFF2-40B4-BE49-F238E27FC236}">
                  <a16:creationId xmlns:a16="http://schemas.microsoft.com/office/drawing/2014/main" id="{59B472FD-B41F-8424-B5DC-3A0003C42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2" name="AutoShape 9">
              <a:extLst>
                <a:ext uri="{FF2B5EF4-FFF2-40B4-BE49-F238E27FC236}">
                  <a16:creationId xmlns:a16="http://schemas.microsoft.com/office/drawing/2014/main" id="{6CB2783A-234E-805E-B44F-237F794C60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14" cy="1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3" name="AutoShape 5">
              <a:extLst>
                <a:ext uri="{FF2B5EF4-FFF2-40B4-BE49-F238E27FC236}">
                  <a16:creationId xmlns:a16="http://schemas.microsoft.com/office/drawing/2014/main" id="{A9A5D428-5688-EE68-4511-8FC3CA69D5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3" y="5418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4" name="AutoShape 3">
              <a:extLst>
                <a:ext uri="{FF2B5EF4-FFF2-40B4-BE49-F238E27FC236}">
                  <a16:creationId xmlns:a16="http://schemas.microsoft.com/office/drawing/2014/main" id="{469BB25A-8257-FF2C-7A66-2648861C57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9" y="4485"/>
              <a:ext cx="678" cy="8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798" name="Oval 53">
            <a:extLst>
              <a:ext uri="{FF2B5EF4-FFF2-40B4-BE49-F238E27FC236}">
                <a16:creationId xmlns:a16="http://schemas.microsoft.com/office/drawing/2014/main" id="{6FFCF507-A0BE-A864-D1D3-48DB76882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317875"/>
            <a:ext cx="233362" cy="234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799" name="Oval 55">
            <a:extLst>
              <a:ext uri="{FF2B5EF4-FFF2-40B4-BE49-F238E27FC236}">
                <a16:creationId xmlns:a16="http://schemas.microsoft.com/office/drawing/2014/main" id="{891730FF-A245-96B9-2FA7-5A7A597A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0" y="3328988"/>
            <a:ext cx="236538" cy="236537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0" name="Oval 55">
            <a:extLst>
              <a:ext uri="{FF2B5EF4-FFF2-40B4-BE49-F238E27FC236}">
                <a16:creationId xmlns:a16="http://schemas.microsoft.com/office/drawing/2014/main" id="{F74685D3-A0A9-E32F-6A9F-1E7C3CD88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0" y="4724400"/>
            <a:ext cx="236538" cy="234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1" name="Oval 54">
            <a:extLst>
              <a:ext uri="{FF2B5EF4-FFF2-40B4-BE49-F238E27FC236}">
                <a16:creationId xmlns:a16="http://schemas.microsoft.com/office/drawing/2014/main" id="{F2CD954A-411E-18A2-06D8-AAE0BB58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754563"/>
            <a:ext cx="236537" cy="236537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2" name="Oval 54">
            <a:extLst>
              <a:ext uri="{FF2B5EF4-FFF2-40B4-BE49-F238E27FC236}">
                <a16:creationId xmlns:a16="http://schemas.microsoft.com/office/drawing/2014/main" id="{6080A789-1F5E-B681-237D-5FD93099A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5832475"/>
            <a:ext cx="236538" cy="236538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3" name="Oval 52">
            <a:extLst>
              <a:ext uri="{FF2B5EF4-FFF2-40B4-BE49-F238E27FC236}">
                <a16:creationId xmlns:a16="http://schemas.microsoft.com/office/drawing/2014/main" id="{0E9F7790-8A7A-0782-5007-D8C410DB8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5" y="4719638"/>
            <a:ext cx="236538" cy="238125"/>
          </a:xfrm>
          <a:prstGeom prst="ellipse">
            <a:avLst/>
          </a:prstGeom>
          <a:solidFill>
            <a:srgbClr val="339933"/>
          </a:solidFill>
          <a:ln w="9525">
            <a:solidFill>
              <a:srgbClr val="339933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4" name="Oval 54">
            <a:extLst>
              <a:ext uri="{FF2B5EF4-FFF2-40B4-BE49-F238E27FC236}">
                <a16:creationId xmlns:a16="http://schemas.microsoft.com/office/drawing/2014/main" id="{4914528A-E8E6-F10B-F787-477A61629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488" y="5868988"/>
            <a:ext cx="236537" cy="236537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5" name="Oval 56">
            <a:extLst>
              <a:ext uri="{FF2B5EF4-FFF2-40B4-BE49-F238E27FC236}">
                <a16:creationId xmlns:a16="http://schemas.microsoft.com/office/drawing/2014/main" id="{D2F7AA47-644C-96AD-2446-B991E080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038" y="4754563"/>
            <a:ext cx="234950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6" name="Oval 56">
            <a:extLst>
              <a:ext uri="{FF2B5EF4-FFF2-40B4-BE49-F238E27FC236}">
                <a16:creationId xmlns:a16="http://schemas.microsoft.com/office/drawing/2014/main" id="{163D3B21-DE0F-2867-29F6-C9446985B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33750"/>
            <a:ext cx="236537" cy="2365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7" name="Oval 56">
            <a:extLst>
              <a:ext uri="{FF2B5EF4-FFF2-40B4-BE49-F238E27FC236}">
                <a16:creationId xmlns:a16="http://schemas.microsoft.com/office/drawing/2014/main" id="{AD0B6A5B-652C-27AF-A8C4-7E9A9A8A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263" y="3333750"/>
            <a:ext cx="234950" cy="2365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8" name="Oval 56">
            <a:extLst>
              <a:ext uri="{FF2B5EF4-FFF2-40B4-BE49-F238E27FC236}">
                <a16:creationId xmlns:a16="http://schemas.microsoft.com/office/drawing/2014/main" id="{9E498238-9D5C-DF4A-6FA1-857CF5383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13" y="4732338"/>
            <a:ext cx="234950" cy="2365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09" name="Oval 56">
            <a:extLst>
              <a:ext uri="{FF2B5EF4-FFF2-40B4-BE49-F238E27FC236}">
                <a16:creationId xmlns:a16="http://schemas.microsoft.com/office/drawing/2014/main" id="{685DA15D-395C-2C3B-6BC0-E3C481BEE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5838825"/>
            <a:ext cx="236538" cy="2365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810" name="Oval 56">
            <a:extLst>
              <a:ext uri="{FF2B5EF4-FFF2-40B4-BE49-F238E27FC236}">
                <a16:creationId xmlns:a16="http://schemas.microsoft.com/office/drawing/2014/main" id="{70FA116E-B753-23AE-9C3E-024C0246F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5835650"/>
            <a:ext cx="234950" cy="2365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E24F46C4-5939-4E69-5FC5-83D1719E5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8.4.5 </a:t>
            </a:r>
            <a:r>
              <a:rPr lang="zh-CN" altLang="en-US" sz="5400">
                <a:solidFill>
                  <a:srgbClr val="333399"/>
                </a:solidFill>
              </a:rPr>
              <a:t>深度优先搜索</a:t>
            </a:r>
            <a:endParaRPr lang="zh-CN" altLang="en-US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D021A423-4338-2007-BC2B-84FC94ED8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r>
              <a:rPr lang="zh-CN" altLang="zh-CN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8.4.7</a:t>
            </a:r>
            <a:r>
              <a:rPr lang="en-US" altLang="zh-CN" sz="2800">
                <a:solidFill>
                  <a:srgbClr val="FF0000"/>
                </a:solidFill>
              </a:rPr>
              <a:t> </a:t>
            </a:r>
            <a:r>
              <a:rPr lang="zh-CN" altLang="zh-CN" sz="2800"/>
              <a:t>用深度优先搜索生成</a:t>
            </a:r>
            <a:r>
              <a:rPr lang="zh-CN" altLang="en-US" sz="2800"/>
              <a:t>上</a:t>
            </a:r>
            <a:r>
              <a:rPr lang="zh-CN" altLang="zh-CN" sz="2800"/>
              <a:t>图</a:t>
            </a:r>
            <a:r>
              <a:rPr lang="en-US" altLang="zh-CN" sz="2800"/>
              <a:t>G</a:t>
            </a:r>
            <a:r>
              <a:rPr lang="zh-CN" altLang="zh-CN" sz="2800"/>
              <a:t>的生成树。</a:t>
            </a:r>
            <a:endParaRPr lang="zh-CN" altLang="en-US" sz="2800"/>
          </a:p>
        </p:txBody>
      </p:sp>
      <p:sp>
        <p:nvSpPr>
          <p:cNvPr id="34820" name="Rectangle 37">
            <a:extLst>
              <a:ext uri="{FF2B5EF4-FFF2-40B4-BE49-F238E27FC236}">
                <a16:creationId xmlns:a16="http://schemas.microsoft.com/office/drawing/2014/main" id="{3B9C5375-5794-C867-FB99-762527334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34821" name="Group 1">
            <a:extLst>
              <a:ext uri="{FF2B5EF4-FFF2-40B4-BE49-F238E27FC236}">
                <a16:creationId xmlns:a16="http://schemas.microsoft.com/office/drawing/2014/main" id="{30770329-D456-83B0-8E23-2DE853A972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89225" y="2278063"/>
            <a:ext cx="6353175" cy="2630487"/>
            <a:chOff x="3427" y="2736"/>
            <a:chExt cx="5956" cy="2703"/>
          </a:xfrm>
        </p:grpSpPr>
        <p:sp>
          <p:nvSpPr>
            <p:cNvPr id="34866" name="AutoShape 36">
              <a:extLst>
                <a:ext uri="{FF2B5EF4-FFF2-40B4-BE49-F238E27FC236}">
                  <a16:creationId xmlns:a16="http://schemas.microsoft.com/office/drawing/2014/main" id="{E44DD5F3-454D-35A6-8E00-936A15B1A14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93" y="2736"/>
              <a:ext cx="5790" cy="2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7" name="Text Box 44">
              <a:extLst>
                <a:ext uri="{FF2B5EF4-FFF2-40B4-BE49-F238E27FC236}">
                  <a16:creationId xmlns:a16="http://schemas.microsoft.com/office/drawing/2014/main" id="{DB00AC8B-9BA2-05D2-DEA8-7B2768B60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8" y="466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34868" name="Text Box 44">
              <a:extLst>
                <a:ext uri="{FF2B5EF4-FFF2-40B4-BE49-F238E27FC236}">
                  <a16:creationId xmlns:a16="http://schemas.microsoft.com/office/drawing/2014/main" id="{55FD5DD2-CC4D-3C34-D159-A8CA2DF6A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466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4869" name="Text Box 44">
              <a:extLst>
                <a:ext uri="{FF2B5EF4-FFF2-40B4-BE49-F238E27FC236}">
                  <a16:creationId xmlns:a16="http://schemas.microsoft.com/office/drawing/2014/main" id="{1CFCAC31-285F-AEAF-18DD-A78AF5B5C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6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800"/>
            </a:p>
          </p:txBody>
        </p:sp>
        <p:sp>
          <p:nvSpPr>
            <p:cNvPr id="34870" name="Text Box 44">
              <a:extLst>
                <a:ext uri="{FF2B5EF4-FFF2-40B4-BE49-F238E27FC236}">
                  <a16:creationId xmlns:a16="http://schemas.microsoft.com/office/drawing/2014/main" id="{82B1F72A-AD5A-A3B9-D64E-CAEA40E6D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4" y="401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34871" name="Text Box 44">
              <a:extLst>
                <a:ext uri="{FF2B5EF4-FFF2-40B4-BE49-F238E27FC236}">
                  <a16:creationId xmlns:a16="http://schemas.microsoft.com/office/drawing/2014/main" id="{03EABD09-E040-364F-12D8-1E45F3D3D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4" y="347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4872" name="Text Box 44">
              <a:extLst>
                <a:ext uri="{FF2B5EF4-FFF2-40B4-BE49-F238E27FC236}">
                  <a16:creationId xmlns:a16="http://schemas.microsoft.com/office/drawing/2014/main" id="{3BCAE69B-5AF3-D18D-10A1-6DB7945D0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2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34873" name="Text Box 44">
              <a:extLst>
                <a:ext uri="{FF2B5EF4-FFF2-40B4-BE49-F238E27FC236}">
                  <a16:creationId xmlns:a16="http://schemas.microsoft.com/office/drawing/2014/main" id="{D357D796-1444-C0DC-95A7-29B15F6FB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0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4874" name="Text Box 44">
              <a:extLst>
                <a:ext uri="{FF2B5EF4-FFF2-40B4-BE49-F238E27FC236}">
                  <a16:creationId xmlns:a16="http://schemas.microsoft.com/office/drawing/2014/main" id="{AD7E90FD-2BDF-464F-0879-83EDEAA7E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8" y="273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2800"/>
            </a:p>
          </p:txBody>
        </p:sp>
        <p:sp>
          <p:nvSpPr>
            <p:cNvPr id="34875" name="Text Box 44">
              <a:extLst>
                <a:ext uri="{FF2B5EF4-FFF2-40B4-BE49-F238E27FC236}">
                  <a16:creationId xmlns:a16="http://schemas.microsoft.com/office/drawing/2014/main" id="{378FF56A-859B-131D-7AC7-F846C94C2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" y="276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34876" name="Text Box 44">
              <a:extLst>
                <a:ext uri="{FF2B5EF4-FFF2-40B4-BE49-F238E27FC236}">
                  <a16:creationId xmlns:a16="http://schemas.microsoft.com/office/drawing/2014/main" id="{BB005246-241C-35C6-F951-264222495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8" y="275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34877" name="Text Box 44">
              <a:extLst>
                <a:ext uri="{FF2B5EF4-FFF2-40B4-BE49-F238E27FC236}">
                  <a16:creationId xmlns:a16="http://schemas.microsoft.com/office/drawing/2014/main" id="{6E8ED6B5-CACB-71C8-8FC3-3C02188C0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75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34878" name="Oval 54">
              <a:extLst>
                <a:ext uri="{FF2B5EF4-FFF2-40B4-BE49-F238E27FC236}">
                  <a16:creationId xmlns:a16="http://schemas.microsoft.com/office/drawing/2014/main" id="{800F7845-75B8-7B79-DB64-097DE3DDD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" y="47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34879" name="AutoShape 13">
              <a:extLst>
                <a:ext uri="{FF2B5EF4-FFF2-40B4-BE49-F238E27FC236}">
                  <a16:creationId xmlns:a16="http://schemas.microsoft.com/office/drawing/2014/main" id="{F82A4A6F-88B6-85A4-5FDA-7D11DB6C2E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68" y="3981"/>
              <a:ext cx="75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0" name="AutoShape 12">
              <a:extLst>
                <a:ext uri="{FF2B5EF4-FFF2-40B4-BE49-F238E27FC236}">
                  <a16:creationId xmlns:a16="http://schemas.microsoft.com/office/drawing/2014/main" id="{0829D113-CA73-E26A-9C44-F461121BDB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43" y="3981"/>
              <a:ext cx="82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1" name="AutoShape 11">
              <a:extLst>
                <a:ext uri="{FF2B5EF4-FFF2-40B4-BE49-F238E27FC236}">
                  <a16:creationId xmlns:a16="http://schemas.microsoft.com/office/drawing/2014/main" id="{D14C0352-5592-98BD-C259-C7B027B909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93" y="3981"/>
              <a:ext cx="82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2" name="AutoShape 10">
              <a:extLst>
                <a:ext uri="{FF2B5EF4-FFF2-40B4-BE49-F238E27FC236}">
                  <a16:creationId xmlns:a16="http://schemas.microsoft.com/office/drawing/2014/main" id="{BEA30A8F-B647-DE7F-E053-EC85B18E50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043" y="3980"/>
              <a:ext cx="753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3" name="AutoShape 9">
              <a:extLst>
                <a:ext uri="{FF2B5EF4-FFF2-40B4-BE49-F238E27FC236}">
                  <a16:creationId xmlns:a16="http://schemas.microsoft.com/office/drawing/2014/main" id="{61F482FF-C896-8C3B-497D-26FCC171D6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33" y="3116"/>
              <a:ext cx="1" cy="7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4" name="AutoShape 8">
              <a:extLst>
                <a:ext uri="{FF2B5EF4-FFF2-40B4-BE49-F238E27FC236}">
                  <a16:creationId xmlns:a16="http://schemas.microsoft.com/office/drawing/2014/main" id="{4E67E178-3CA4-BF1E-051A-A594AEDC13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33" y="3005"/>
              <a:ext cx="813" cy="9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5" name="AutoShape 7">
              <a:extLst>
                <a:ext uri="{FF2B5EF4-FFF2-40B4-BE49-F238E27FC236}">
                  <a16:creationId xmlns:a16="http://schemas.microsoft.com/office/drawing/2014/main" id="{434D0645-94CC-85ED-9DFB-A8419872DA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33" y="3982"/>
              <a:ext cx="813" cy="9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6" name="AutoShape 6">
              <a:extLst>
                <a:ext uri="{FF2B5EF4-FFF2-40B4-BE49-F238E27FC236}">
                  <a16:creationId xmlns:a16="http://schemas.microsoft.com/office/drawing/2014/main" id="{F3ED1057-6AFA-630E-7286-DFF0A220E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34" y="3116"/>
              <a:ext cx="937" cy="8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7" name="AutoShape 5">
              <a:extLst>
                <a:ext uri="{FF2B5EF4-FFF2-40B4-BE49-F238E27FC236}">
                  <a16:creationId xmlns:a16="http://schemas.microsoft.com/office/drawing/2014/main" id="{2A5F66D7-9C3F-967F-1772-75DFDCC73D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2" y="4092"/>
              <a:ext cx="15" cy="6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8" name="AutoShape 4">
              <a:extLst>
                <a:ext uri="{FF2B5EF4-FFF2-40B4-BE49-F238E27FC236}">
                  <a16:creationId xmlns:a16="http://schemas.microsoft.com/office/drawing/2014/main" id="{FB899204-559E-0A90-FDB4-D4214B1002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97" y="3982"/>
              <a:ext cx="924" cy="8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89" name="AutoShape 3">
              <a:extLst>
                <a:ext uri="{FF2B5EF4-FFF2-40B4-BE49-F238E27FC236}">
                  <a16:creationId xmlns:a16="http://schemas.microsoft.com/office/drawing/2014/main" id="{D51797CD-C1FD-8E79-7CF5-E4223C3CC5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17" y="3116"/>
              <a:ext cx="15" cy="7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90" name="AutoShape 2">
              <a:extLst>
                <a:ext uri="{FF2B5EF4-FFF2-40B4-BE49-F238E27FC236}">
                  <a16:creationId xmlns:a16="http://schemas.microsoft.com/office/drawing/2014/main" id="{A8F950EB-20D5-6063-EB98-1995B7CDC0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07" y="3116"/>
              <a:ext cx="1" cy="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822" name="Group 1">
            <a:extLst>
              <a:ext uri="{FF2B5EF4-FFF2-40B4-BE49-F238E27FC236}">
                <a16:creationId xmlns:a16="http://schemas.microsoft.com/office/drawing/2014/main" id="{D405278C-CE67-99C0-9B87-675D22E0689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9750" y="4543425"/>
            <a:ext cx="6353175" cy="2630488"/>
            <a:chOff x="3427" y="2736"/>
            <a:chExt cx="5956" cy="2703"/>
          </a:xfrm>
        </p:grpSpPr>
        <p:sp>
          <p:nvSpPr>
            <p:cNvPr id="34844" name="AutoShape 36">
              <a:extLst>
                <a:ext uri="{FF2B5EF4-FFF2-40B4-BE49-F238E27FC236}">
                  <a16:creationId xmlns:a16="http://schemas.microsoft.com/office/drawing/2014/main" id="{582C1DC7-E29E-5689-3843-75FE43BAFC9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93" y="2736"/>
              <a:ext cx="5790" cy="2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Text Box 44">
              <a:extLst>
                <a:ext uri="{FF2B5EF4-FFF2-40B4-BE49-F238E27FC236}">
                  <a16:creationId xmlns:a16="http://schemas.microsoft.com/office/drawing/2014/main" id="{CA898B74-7587-F440-FC04-D1116C27F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8" y="466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34846" name="Text Box 44">
              <a:extLst>
                <a:ext uri="{FF2B5EF4-FFF2-40B4-BE49-F238E27FC236}">
                  <a16:creationId xmlns:a16="http://schemas.microsoft.com/office/drawing/2014/main" id="{040B7DD1-5890-1A0E-1339-E11E15AD2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466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4847" name="Text Box 44">
              <a:extLst>
                <a:ext uri="{FF2B5EF4-FFF2-40B4-BE49-F238E27FC236}">
                  <a16:creationId xmlns:a16="http://schemas.microsoft.com/office/drawing/2014/main" id="{241B2F1C-D392-223C-8B43-5157CD518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6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800"/>
            </a:p>
          </p:txBody>
        </p:sp>
        <p:sp>
          <p:nvSpPr>
            <p:cNvPr id="34848" name="Text Box 44">
              <a:extLst>
                <a:ext uri="{FF2B5EF4-FFF2-40B4-BE49-F238E27FC236}">
                  <a16:creationId xmlns:a16="http://schemas.microsoft.com/office/drawing/2014/main" id="{70AD2413-6772-50E6-618F-B7162B54B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4" y="401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34849" name="Text Box 44">
              <a:extLst>
                <a:ext uri="{FF2B5EF4-FFF2-40B4-BE49-F238E27FC236}">
                  <a16:creationId xmlns:a16="http://schemas.microsoft.com/office/drawing/2014/main" id="{4C9FB624-1B14-2D4F-CC03-526FE53B9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4" y="347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4850" name="Text Box 44">
              <a:extLst>
                <a:ext uri="{FF2B5EF4-FFF2-40B4-BE49-F238E27FC236}">
                  <a16:creationId xmlns:a16="http://schemas.microsoft.com/office/drawing/2014/main" id="{FCFE750F-8DD9-41B4-F7C5-65FB230D2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2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34851" name="Text Box 44">
              <a:extLst>
                <a:ext uri="{FF2B5EF4-FFF2-40B4-BE49-F238E27FC236}">
                  <a16:creationId xmlns:a16="http://schemas.microsoft.com/office/drawing/2014/main" id="{DAEB44A6-D840-A5A5-6A86-A61B4108E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0" y="40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4852" name="Text Box 44">
              <a:extLst>
                <a:ext uri="{FF2B5EF4-FFF2-40B4-BE49-F238E27FC236}">
                  <a16:creationId xmlns:a16="http://schemas.microsoft.com/office/drawing/2014/main" id="{1850F7BC-AB88-7987-D974-5DAAB63A7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8" y="273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2800"/>
            </a:p>
          </p:txBody>
        </p:sp>
        <p:sp>
          <p:nvSpPr>
            <p:cNvPr id="34853" name="Text Box 44">
              <a:extLst>
                <a:ext uri="{FF2B5EF4-FFF2-40B4-BE49-F238E27FC236}">
                  <a16:creationId xmlns:a16="http://schemas.microsoft.com/office/drawing/2014/main" id="{81927542-F536-D9D3-5D95-AB636D15E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" y="276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34854" name="Text Box 44">
              <a:extLst>
                <a:ext uri="{FF2B5EF4-FFF2-40B4-BE49-F238E27FC236}">
                  <a16:creationId xmlns:a16="http://schemas.microsoft.com/office/drawing/2014/main" id="{B1523238-2C79-792D-7441-EFE480599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8" y="275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34855" name="Text Box 44">
              <a:extLst>
                <a:ext uri="{FF2B5EF4-FFF2-40B4-BE49-F238E27FC236}">
                  <a16:creationId xmlns:a16="http://schemas.microsoft.com/office/drawing/2014/main" id="{8B00DA7C-B551-B3BF-2A35-448D6AC37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75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cxnSp>
          <p:nvCxnSpPr>
            <p:cNvPr id="34856" name="AutoShape 13">
              <a:extLst>
                <a:ext uri="{FF2B5EF4-FFF2-40B4-BE49-F238E27FC236}">
                  <a16:creationId xmlns:a16="http://schemas.microsoft.com/office/drawing/2014/main" id="{41ADEB05-A254-2CD7-F04C-01ACD232E1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68" y="3981"/>
              <a:ext cx="75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7" name="AutoShape 10">
              <a:extLst>
                <a:ext uri="{FF2B5EF4-FFF2-40B4-BE49-F238E27FC236}">
                  <a16:creationId xmlns:a16="http://schemas.microsoft.com/office/drawing/2014/main" id="{4359D086-0CA1-8127-BDBA-0671E9F785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043" y="3980"/>
              <a:ext cx="753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8" name="AutoShape 9">
              <a:extLst>
                <a:ext uri="{FF2B5EF4-FFF2-40B4-BE49-F238E27FC236}">
                  <a16:creationId xmlns:a16="http://schemas.microsoft.com/office/drawing/2014/main" id="{25F53D36-1AB2-DB89-B447-E699963C58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33" y="3116"/>
              <a:ext cx="1" cy="7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9" name="AutoShape 8">
              <a:extLst>
                <a:ext uri="{FF2B5EF4-FFF2-40B4-BE49-F238E27FC236}">
                  <a16:creationId xmlns:a16="http://schemas.microsoft.com/office/drawing/2014/main" id="{0525FAA7-43DE-7A13-450B-E5388C732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33" y="3005"/>
              <a:ext cx="813" cy="9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0" name="AutoShape 7">
              <a:extLst>
                <a:ext uri="{FF2B5EF4-FFF2-40B4-BE49-F238E27FC236}">
                  <a16:creationId xmlns:a16="http://schemas.microsoft.com/office/drawing/2014/main" id="{55AF9162-F020-E9D8-BC98-692B136033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33" y="3982"/>
              <a:ext cx="813" cy="9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1" name="AutoShape 6">
              <a:extLst>
                <a:ext uri="{FF2B5EF4-FFF2-40B4-BE49-F238E27FC236}">
                  <a16:creationId xmlns:a16="http://schemas.microsoft.com/office/drawing/2014/main" id="{A695FDF3-CEA4-7657-6A7A-03280D63D0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34" y="3116"/>
              <a:ext cx="937" cy="8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2" name="AutoShape 5">
              <a:extLst>
                <a:ext uri="{FF2B5EF4-FFF2-40B4-BE49-F238E27FC236}">
                  <a16:creationId xmlns:a16="http://schemas.microsoft.com/office/drawing/2014/main" id="{41BFE702-72DC-4B99-D01E-212AE8A83C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2" y="4092"/>
              <a:ext cx="15" cy="6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3" name="AutoShape 4">
              <a:extLst>
                <a:ext uri="{FF2B5EF4-FFF2-40B4-BE49-F238E27FC236}">
                  <a16:creationId xmlns:a16="http://schemas.microsoft.com/office/drawing/2014/main" id="{B6BF5B22-EFE0-92AB-DE9C-05BC327070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97" y="3982"/>
              <a:ext cx="924" cy="8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4" name="AutoShape 3">
              <a:extLst>
                <a:ext uri="{FF2B5EF4-FFF2-40B4-BE49-F238E27FC236}">
                  <a16:creationId xmlns:a16="http://schemas.microsoft.com/office/drawing/2014/main" id="{AE07AD8A-BCAA-5899-6449-744ED45BCA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17" y="3116"/>
              <a:ext cx="15" cy="7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5" name="AutoShape 2">
              <a:extLst>
                <a:ext uri="{FF2B5EF4-FFF2-40B4-BE49-F238E27FC236}">
                  <a16:creationId xmlns:a16="http://schemas.microsoft.com/office/drawing/2014/main" id="{CAD9D56A-1177-C95E-36A1-78CA9151F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07" y="3116"/>
              <a:ext cx="1" cy="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823" name="Oval 54">
            <a:extLst>
              <a:ext uri="{FF2B5EF4-FFF2-40B4-BE49-F238E27FC236}">
                <a16:creationId xmlns:a16="http://schemas.microsoft.com/office/drawing/2014/main" id="{F093E7DE-2BBB-A8CB-D7E0-00A834402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5662613"/>
            <a:ext cx="236537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4" name="Oval 54">
            <a:extLst>
              <a:ext uri="{FF2B5EF4-FFF2-40B4-BE49-F238E27FC236}">
                <a16:creationId xmlns:a16="http://schemas.microsoft.com/office/drawing/2014/main" id="{27A4209A-E9E2-2DD3-459B-E6A69EA8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616450"/>
            <a:ext cx="236537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5" name="Oval 54">
            <a:extLst>
              <a:ext uri="{FF2B5EF4-FFF2-40B4-BE49-F238E27FC236}">
                <a16:creationId xmlns:a16="http://schemas.microsoft.com/office/drawing/2014/main" id="{FBED66B5-3734-6E8B-FCE2-32875C18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5610225"/>
            <a:ext cx="234950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6" name="Oval 54">
            <a:extLst>
              <a:ext uri="{FF2B5EF4-FFF2-40B4-BE49-F238E27FC236}">
                <a16:creationId xmlns:a16="http://schemas.microsoft.com/office/drawing/2014/main" id="{F0E657BC-CFDE-557E-16E2-A44EF3DB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613" y="4710113"/>
            <a:ext cx="236537" cy="217487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7" name="Oval 54">
            <a:extLst>
              <a:ext uri="{FF2B5EF4-FFF2-40B4-BE49-F238E27FC236}">
                <a16:creationId xmlns:a16="http://schemas.microsoft.com/office/drawing/2014/main" id="{22E2A4B1-5869-0B4D-54FE-B1E2A4A14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5710238"/>
            <a:ext cx="236537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8" name="Oval 54">
            <a:extLst>
              <a:ext uri="{FF2B5EF4-FFF2-40B4-BE49-F238E27FC236}">
                <a16:creationId xmlns:a16="http://schemas.microsoft.com/office/drawing/2014/main" id="{64845F26-3361-B268-BF91-0A33368A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6473825"/>
            <a:ext cx="234950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29" name="Oval 54">
            <a:extLst>
              <a:ext uri="{FF2B5EF4-FFF2-40B4-BE49-F238E27FC236}">
                <a16:creationId xmlns:a16="http://schemas.microsoft.com/office/drawing/2014/main" id="{3A05177B-8B5F-D338-D7F1-86655D373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5630863"/>
            <a:ext cx="234950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0" name="Oval 54">
            <a:extLst>
              <a:ext uri="{FF2B5EF4-FFF2-40B4-BE49-F238E27FC236}">
                <a16:creationId xmlns:a16="http://schemas.microsoft.com/office/drawing/2014/main" id="{53C18FAF-F8AD-D8CD-9828-E6255F5ED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5624513"/>
            <a:ext cx="234950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1" name="Oval 54">
            <a:extLst>
              <a:ext uri="{FF2B5EF4-FFF2-40B4-BE49-F238E27FC236}">
                <a16:creationId xmlns:a16="http://schemas.microsoft.com/office/drawing/2014/main" id="{BEE7691D-C52D-8A1D-9883-AAED2111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25" y="4686300"/>
            <a:ext cx="236538" cy="2159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2" name="Oval 54">
            <a:extLst>
              <a:ext uri="{FF2B5EF4-FFF2-40B4-BE49-F238E27FC236}">
                <a16:creationId xmlns:a16="http://schemas.microsoft.com/office/drawing/2014/main" id="{8F3442E1-B34B-3C74-84EC-4D20EB8D4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4697413"/>
            <a:ext cx="238125" cy="21590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B05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3" name="Oval 54">
            <a:extLst>
              <a:ext uri="{FF2B5EF4-FFF2-40B4-BE49-F238E27FC236}">
                <a16:creationId xmlns:a16="http://schemas.microsoft.com/office/drawing/2014/main" id="{614A1A78-FDEA-5728-AFC7-F831080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6599238"/>
            <a:ext cx="236538" cy="215900"/>
          </a:xfrm>
          <a:prstGeom prst="ellipse">
            <a:avLst/>
          </a:prstGeom>
          <a:solidFill>
            <a:srgbClr val="FFC000"/>
          </a:solidFill>
          <a:ln w="9525">
            <a:solidFill>
              <a:srgbClr val="FFC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4" name="Oval 54">
            <a:extLst>
              <a:ext uri="{FF2B5EF4-FFF2-40B4-BE49-F238E27FC236}">
                <a16:creationId xmlns:a16="http://schemas.microsoft.com/office/drawing/2014/main" id="{D9EE4A9C-6899-6134-402F-F2749DF48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3395663"/>
            <a:ext cx="236538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5" name="Oval 54">
            <a:extLst>
              <a:ext uri="{FF2B5EF4-FFF2-40B4-BE49-F238E27FC236}">
                <a16:creationId xmlns:a16="http://schemas.microsoft.com/office/drawing/2014/main" id="{F915DA45-A45D-097F-B62C-6B04AFCC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3355975"/>
            <a:ext cx="236538" cy="2143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6" name="Oval 54">
            <a:extLst>
              <a:ext uri="{FF2B5EF4-FFF2-40B4-BE49-F238E27FC236}">
                <a16:creationId xmlns:a16="http://schemas.microsoft.com/office/drawing/2014/main" id="{57543C41-6CB6-E606-B199-746F75B95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2473325"/>
            <a:ext cx="236538" cy="2143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7" name="Oval 54">
            <a:extLst>
              <a:ext uri="{FF2B5EF4-FFF2-40B4-BE49-F238E27FC236}">
                <a16:creationId xmlns:a16="http://schemas.microsoft.com/office/drawing/2014/main" id="{2E2D257E-1410-829B-037E-7871393F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3384550"/>
            <a:ext cx="238125" cy="2143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8" name="Oval 54">
            <a:extLst>
              <a:ext uri="{FF2B5EF4-FFF2-40B4-BE49-F238E27FC236}">
                <a16:creationId xmlns:a16="http://schemas.microsoft.com/office/drawing/2014/main" id="{ADEB55FC-A591-6F22-72A3-D200747E9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038" y="4179888"/>
            <a:ext cx="236537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39" name="Oval 54">
            <a:extLst>
              <a:ext uri="{FF2B5EF4-FFF2-40B4-BE49-F238E27FC236}">
                <a16:creationId xmlns:a16="http://schemas.microsoft.com/office/drawing/2014/main" id="{945B4718-93F8-4FEF-C71F-237005B43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3352800"/>
            <a:ext cx="236537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40" name="Oval 54">
            <a:extLst>
              <a:ext uri="{FF2B5EF4-FFF2-40B4-BE49-F238E27FC236}">
                <a16:creationId xmlns:a16="http://schemas.microsoft.com/office/drawing/2014/main" id="{8614FF3F-49AD-BAD6-68D6-3AA80841E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2486025"/>
            <a:ext cx="236538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41" name="Oval 54">
            <a:extLst>
              <a:ext uri="{FF2B5EF4-FFF2-40B4-BE49-F238E27FC236}">
                <a16:creationId xmlns:a16="http://schemas.microsoft.com/office/drawing/2014/main" id="{B9D21D45-9685-DC74-37B2-093E74B24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2430463"/>
            <a:ext cx="236538" cy="215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42" name="Oval 54">
            <a:extLst>
              <a:ext uri="{FF2B5EF4-FFF2-40B4-BE49-F238E27FC236}">
                <a16:creationId xmlns:a16="http://schemas.microsoft.com/office/drawing/2014/main" id="{0D73AEC0-9BB8-BDFD-59B4-89E43C9D0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3" y="3365500"/>
            <a:ext cx="236537" cy="2143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4843" name="Oval 54">
            <a:extLst>
              <a:ext uri="{FF2B5EF4-FFF2-40B4-BE49-F238E27FC236}">
                <a16:creationId xmlns:a16="http://schemas.microsoft.com/office/drawing/2014/main" id="{224FCBBC-D1FF-5964-E382-5055BBD93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638" y="2366963"/>
            <a:ext cx="236537" cy="214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94383127-8DF3-2C12-F12D-D3163B148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8.4.5 </a:t>
            </a:r>
            <a:r>
              <a:rPr lang="zh-CN" altLang="en-US" sz="5400">
                <a:solidFill>
                  <a:srgbClr val="333399"/>
                </a:solidFill>
              </a:rPr>
              <a:t>深度优先搜索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505740-3C42-4572-27C7-0CC3F8DE8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16113"/>
            <a:ext cx="9036050" cy="4941887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zh-CN" altLang="zh-CN" b="1" kern="100" dirty="0">
                <a:solidFill>
                  <a:srgbClr val="FF0000"/>
                </a:solidFill>
                <a:cs typeface="Times New Roman"/>
              </a:rPr>
              <a:t>例</a:t>
            </a:r>
            <a:r>
              <a:rPr lang="en-US" altLang="zh-CN" b="1" kern="100" dirty="0">
                <a:solidFill>
                  <a:srgbClr val="FF0000"/>
                </a:solidFill>
                <a:latin typeface="Times New Roman"/>
              </a:rPr>
              <a:t>8.4.8 </a:t>
            </a:r>
            <a:r>
              <a:rPr lang="en-US" altLang="zh-CN" kern="100" dirty="0">
                <a:solidFill>
                  <a:srgbClr val="FF0000"/>
                </a:solidFill>
                <a:latin typeface="宋体"/>
                <a:cs typeface="Times New Roman"/>
              </a:rPr>
              <a:t> </a:t>
            </a:r>
            <a:r>
              <a:rPr lang="en-US" altLang="zh-CN" b="1" kern="100" dirty="0">
                <a:solidFill>
                  <a:srgbClr val="00B0F0"/>
                </a:solidFill>
                <a:latin typeface="Times New Roman"/>
              </a:rPr>
              <a:t>n</a:t>
            </a:r>
            <a:r>
              <a:rPr lang="zh-CN" altLang="zh-CN" b="1" kern="100" dirty="0">
                <a:solidFill>
                  <a:srgbClr val="00B0F0"/>
                </a:solidFill>
                <a:cs typeface="Times New Roman"/>
              </a:rPr>
              <a:t>皇后问题</a:t>
            </a:r>
            <a:r>
              <a:rPr lang="zh-CN" altLang="zh-CN" kern="100" dirty="0">
                <a:cs typeface="Times New Roman"/>
              </a:rPr>
              <a:t>：要求在</a:t>
            </a:r>
            <a:r>
              <a:rPr lang="en-US" altLang="zh-CN" kern="100" dirty="0">
                <a:latin typeface="Times New Roman"/>
              </a:rPr>
              <a:t>n</a:t>
            </a:r>
            <a:r>
              <a:rPr lang="zh-CN" altLang="zh-CN" kern="100" dirty="0">
                <a:cs typeface="Times New Roman"/>
              </a:rPr>
              <a:t>×</a:t>
            </a:r>
            <a:r>
              <a:rPr lang="en-US" altLang="zh-CN" kern="100" dirty="0">
                <a:latin typeface="Times New Roman"/>
              </a:rPr>
              <a:t>n</a:t>
            </a:r>
            <a:r>
              <a:rPr lang="zh-CN" altLang="zh-CN" kern="100" dirty="0">
                <a:latin typeface="Times New Roman"/>
                <a:cs typeface="Times New Roman"/>
              </a:rPr>
              <a:t>格的棋盘上摆放</a:t>
            </a:r>
            <a:r>
              <a:rPr lang="en-US" altLang="zh-CN" kern="100" dirty="0">
                <a:latin typeface="Times New Roman"/>
              </a:rPr>
              <a:t>n</a:t>
            </a:r>
            <a:r>
              <a:rPr lang="zh-CN" altLang="zh-CN" kern="100" dirty="0">
                <a:latin typeface="Times New Roman"/>
                <a:cs typeface="Times New Roman"/>
              </a:rPr>
              <a:t>个皇后，使其不能互相攻击，即任意两个皇后都不处在同一行、同一列或同一斜线上，问有多少种摆</a:t>
            </a:r>
            <a:r>
              <a:rPr lang="zh-CN" altLang="zh-CN" kern="100">
                <a:latin typeface="Times New Roman"/>
                <a:cs typeface="Times New Roman"/>
              </a:rPr>
              <a:t>法？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6762</TotalTime>
  <Words>1042</Words>
  <Application>Microsoft Office PowerPoint</Application>
  <PresentationFormat>全屏显示(4:3)</PresentationFormat>
  <Paragraphs>280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宋体</vt:lpstr>
      <vt:lpstr>Tahoma</vt:lpstr>
      <vt:lpstr>Times New Roman</vt:lpstr>
      <vt:lpstr>Wingdings</vt:lpstr>
      <vt:lpstr>Blends</vt:lpstr>
      <vt:lpstr>8.4 生成树</vt:lpstr>
      <vt:lpstr>8.4.1 生成树的概念 </vt:lpstr>
      <vt:lpstr>PowerPoint 演示文稿</vt:lpstr>
      <vt:lpstr>8.4.1 生成树的概念 </vt:lpstr>
      <vt:lpstr>8.4.1 生成树的概念 </vt:lpstr>
      <vt:lpstr>8.4.3 最小生成树</vt:lpstr>
      <vt:lpstr>8.4.3 最小生成树</vt:lpstr>
      <vt:lpstr>8.4.3 最小生成树</vt:lpstr>
      <vt:lpstr>8.4.3 最小生成树</vt:lpstr>
      <vt:lpstr>8.4.3 最小生成树</vt:lpstr>
      <vt:lpstr>8.4.3 最小生成树</vt:lpstr>
      <vt:lpstr>8.4.3 最小生成树</vt:lpstr>
      <vt:lpstr>8.4.3 最小生成树</vt:lpstr>
      <vt:lpstr>8.4.3 最小生成树</vt:lpstr>
      <vt:lpstr>8.4.4 广度优先搜索</vt:lpstr>
      <vt:lpstr>8.4.4 广度优先搜索</vt:lpstr>
      <vt:lpstr>8.4.4 广度优先搜索</vt:lpstr>
      <vt:lpstr>8.4.5 深度优先搜索</vt:lpstr>
      <vt:lpstr>8.4.5 深度优先搜索</vt:lpstr>
      <vt:lpstr>8.4.5 深度优先搜索</vt:lpstr>
      <vt:lpstr>8.4.5 深度优先搜索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175</cp:revision>
  <dcterms:created xsi:type="dcterms:W3CDTF">2010-04-09T13:44:14Z</dcterms:created>
  <dcterms:modified xsi:type="dcterms:W3CDTF">2023-11-29T09:46:11Z</dcterms:modified>
</cp:coreProperties>
</file>