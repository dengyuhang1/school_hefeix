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338" r:id="rId2"/>
    <p:sldId id="339" r:id="rId3"/>
    <p:sldId id="305" r:id="rId4"/>
    <p:sldId id="357" r:id="rId5"/>
    <p:sldId id="359" r:id="rId6"/>
    <p:sldId id="361" r:id="rId7"/>
    <p:sldId id="363" r:id="rId8"/>
    <p:sldId id="365" r:id="rId9"/>
    <p:sldId id="371" r:id="rId10"/>
    <p:sldId id="367" r:id="rId11"/>
    <p:sldId id="306" r:id="rId12"/>
    <p:sldId id="310" r:id="rId13"/>
    <p:sldId id="345" r:id="rId14"/>
    <p:sldId id="314" r:id="rId15"/>
    <p:sldId id="372" r:id="rId16"/>
    <p:sldId id="373" r:id="rId17"/>
    <p:sldId id="315" r:id="rId18"/>
    <p:sldId id="369" r:id="rId19"/>
    <p:sldId id="374" r:id="rId20"/>
    <p:sldId id="375" r:id="rId21"/>
    <p:sldId id="318" r:id="rId22"/>
    <p:sldId id="320" r:id="rId23"/>
    <p:sldId id="321" r:id="rId24"/>
    <p:sldId id="324" r:id="rId25"/>
    <p:sldId id="325" r:id="rId26"/>
    <p:sldId id="351" r:id="rId27"/>
    <p:sldId id="353" r:id="rId28"/>
    <p:sldId id="327" r:id="rId29"/>
    <p:sldId id="328" r:id="rId30"/>
    <p:sldId id="329" r:id="rId31"/>
    <p:sldId id="330" r:id="rId32"/>
    <p:sldId id="331" r:id="rId33"/>
    <p:sldId id="376" r:id="rId34"/>
    <p:sldId id="370" r:id="rId35"/>
    <p:sldId id="377" r:id="rId36"/>
    <p:sldId id="378" r:id="rId37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FF0066"/>
    <a:srgbClr val="0066FF"/>
    <a:srgbClr val="CC0066"/>
    <a:srgbClr val="33CC33"/>
    <a:srgbClr val="339933"/>
    <a:srgbClr val="008080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0" autoAdjust="0"/>
    <p:restoredTop sz="99485" autoAdjust="0"/>
  </p:normalViewPr>
  <p:slideViewPr>
    <p:cSldViewPr>
      <p:cViewPr varScale="1">
        <p:scale>
          <a:sx n="70" d="100"/>
          <a:sy n="70" d="100"/>
        </p:scale>
        <p:origin x="51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8017B3F-E64E-26F4-93D3-8E9AC44B5F7A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BBB70C56-95E1-1609-5DDB-B93A0E8B7D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94233800-49D1-6D2C-188A-58E22475EF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FA024E2D-78DE-A21A-1EB2-B531221AD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B01FAFFC-736B-430D-9B31-70D22537D0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B8C6245-64DA-A536-F547-B234D13EB5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B796AEA-A4C4-F43B-3BAA-1D18069A8A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DFC97198-A91B-8C95-43DC-CFA41A13E7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3E2D05C1-E480-13F7-378E-96699333B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DF80C4A6-3A09-17FA-B32B-02F0D0966C9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78964E9E-0097-0E4E-1147-8A7E56BC74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1CD2E1DF-CC7B-54A7-40C0-FA54A4A86D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2F68422D-0745-AB79-6E04-67C8A4B30B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E5F8C67-422D-44AC-904A-57DF389FD4F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6481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A51E922C-B481-D74A-A051-81F38A8A97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6061F4BD-E909-22EA-ABB4-E2D2C6F49C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655C2B01-D4C8-C3B3-245C-9DC0130BE7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AA40D93-115F-4911-8976-FCF6F11BF39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4320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6A1AD86D-812E-F29A-36CF-A587CEF3F2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833880D-9EF4-FD4C-09B3-494766B1BA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A76A9ABD-20AC-09BB-72BC-17E3C6C3E9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C26732-C7A1-4EF9-9A9F-B32FEE61409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3764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2C116A46-81B9-4321-1A2F-AD7C498211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39D58C67-77B4-5CDF-6900-EA50C8D26A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DD35E415-307E-E6B3-632F-18999C9427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DEB9B5-2F5D-4B35-84B3-6FA2EBE0828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4201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F345CB19-1F5E-919A-0194-2B06692444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5D256EAC-C75A-9802-6D27-F23BE1B45E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5C0F597A-1574-19C4-D5DE-8BA8B48F7E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D81DD1-DDE3-4A45-B89D-E8285C43497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0859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F0B3294B-D2CC-7D8D-D28F-6C1B27C165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B8DAD82A-5310-B37A-83C7-F1303AE071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5ACDA806-1666-459F-8AE6-9DAE7638AB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E6CD60-B5BD-436D-941F-B7303455C66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1531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0B1B7A49-B52B-3BE4-CC48-3B5D4F0924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887D4334-CB6A-862C-C96D-60D6057EA3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8A2729BE-6D33-05F0-D21F-99752C3DA1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616E29-2286-4023-98F9-D0B8EFE3ACC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2724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72B32E5C-05A8-818C-BD3C-FBF132F8CC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F66D79D7-0B8C-E02E-048F-F24DC3D304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1DB03A81-19B4-CF3D-C6B6-8F619EE83A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8F7FE7-2318-4DE0-A25C-543D6A9FCF5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9149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0AD6B211-4982-C3CE-421F-F7B11A7E5F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7C538F1C-DE1F-DB10-DB24-7CBCEE126C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69BC59C7-1902-320E-D4DD-DDA7D5FFB1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C7054D-2033-45E3-976D-58F90988163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51438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E2BCCCF-9F6B-0BDC-2EEC-243EA59016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1AC07AB9-4DC4-1552-1772-06B5B81049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EFC9FDAD-9EC2-C922-835E-110A26A871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0244FE-17F1-4A95-99F8-1540D8B57FE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8570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18135FC0-1BE6-B855-9085-7055D3159E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7FA515EC-3C11-410E-CF1F-69CC7AB987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6DBF57EE-2106-31A5-04CD-27636FBD84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C33D35-D4DD-4BC3-B1C7-466BD9033FF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54056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8BA22BB0-7895-AF7C-635B-259A4B1F92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0C16A926-FE91-7FD8-1636-873637C6A3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18E2FCBB-32B1-2D37-7EC0-4E6688DDFD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F9DF25-179E-4A0B-A832-35ADD1E8D13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57999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0B02F514-A258-6F44-E3C8-61C534A861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937BC6E2-DC7E-D51A-3F34-AC7D6771A7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5ABA7881-79D3-964A-A08C-319CC05294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B61E61-EFBE-4742-B6A6-4CED5490E18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6576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410EF8D-262F-D42A-F4E4-31A67DD9A57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CBC50F2-43AC-6922-217B-65BB23D32E5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9E7B11B-2D80-40D4-B7B9-B2EB1BCA7A7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D03C59A-C762-8EA7-D290-324FAFC94E3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28B24CD-75F3-A81F-545F-916AAD6EDA0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1C77EE23-ACE2-5716-7175-1F18D8B51D58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93B8CD06-66D3-C5FE-0580-DBBFB25FE5D6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A0E0B2C0-8CEB-C16C-2394-F51443B09F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24A1C64C-2461-3928-FFEA-D57B35279B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BF89AA33-CFA4-6E7D-9684-EFF1CEA0228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46DFE856-7114-BF4B-DEA8-603F13E0986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12B4F37B-375C-9532-D8B6-5D3B663F207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1C00B25-73B1-408F-8377-A5350284FDD5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7" Type="http://schemas.openxmlformats.org/officeDocument/2006/relationships/oleObject" Target="../embeddings/oleObject4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2.xml"/><Relationship Id="rId4" Type="http://schemas.openxmlformats.org/officeDocument/2006/relationships/oleObject" Target="../embeddings/oleObject6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wmf"/><Relationship Id="rId3" Type="http://schemas.openxmlformats.org/officeDocument/2006/relationships/image" Target="../media/image1.wmf"/><Relationship Id="rId7" Type="http://schemas.openxmlformats.org/officeDocument/2006/relationships/oleObject" Target="../embeddings/oleObject11.bin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0.bin"/><Relationship Id="rId5" Type="http://schemas.openxmlformats.org/officeDocument/2006/relationships/oleObject" Target="../embeddings/oleObject9.bin"/><Relationship Id="rId10" Type="http://schemas.openxmlformats.org/officeDocument/2006/relationships/oleObject" Target="../embeddings/oleObject13.bin"/><Relationship Id="rId4" Type="http://schemas.openxmlformats.org/officeDocument/2006/relationships/oleObject" Target="../embeddings/oleObject8.bin"/><Relationship Id="rId9" Type="http://schemas.openxmlformats.org/officeDocument/2006/relationships/oleObject" Target="../embeddings/oleObject12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image" Target="../media/image1.wmf"/><Relationship Id="rId7" Type="http://schemas.openxmlformats.org/officeDocument/2006/relationships/oleObject" Target="../embeddings/oleObject18.bin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7.bin"/><Relationship Id="rId5" Type="http://schemas.openxmlformats.org/officeDocument/2006/relationships/oleObject" Target="../embeddings/oleObject16.bin"/><Relationship Id="rId4" Type="http://schemas.openxmlformats.org/officeDocument/2006/relationships/oleObject" Target="../embeddings/oleObject15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21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12.xml"/><Relationship Id="rId4" Type="http://schemas.openxmlformats.org/officeDocument/2006/relationships/oleObject" Target="../embeddings/oleObject23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4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12.xml"/><Relationship Id="rId4" Type="http://schemas.openxmlformats.org/officeDocument/2006/relationships/oleObject" Target="../embeddings/oleObject26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7" Type="http://schemas.openxmlformats.org/officeDocument/2006/relationships/image" Target="../media/image5.w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0.bin"/><Relationship Id="rId5" Type="http://schemas.openxmlformats.org/officeDocument/2006/relationships/oleObject" Target="../embeddings/oleObject29.bin"/><Relationship Id="rId4" Type="http://schemas.openxmlformats.org/officeDocument/2006/relationships/oleObject" Target="../embeddings/oleObject28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3" Type="http://schemas.openxmlformats.org/officeDocument/2006/relationships/image" Target="../media/image1.wmf"/><Relationship Id="rId7" Type="http://schemas.openxmlformats.org/officeDocument/2006/relationships/oleObject" Target="../embeddings/oleObject35.bin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4.bin"/><Relationship Id="rId11" Type="http://schemas.openxmlformats.org/officeDocument/2006/relationships/oleObject" Target="../embeddings/oleObject38.bin"/><Relationship Id="rId5" Type="http://schemas.openxmlformats.org/officeDocument/2006/relationships/oleObject" Target="../embeddings/oleObject33.bin"/><Relationship Id="rId10" Type="http://schemas.openxmlformats.org/officeDocument/2006/relationships/image" Target="../media/image2.wmf"/><Relationship Id="rId4" Type="http://schemas.openxmlformats.org/officeDocument/2006/relationships/oleObject" Target="../embeddings/oleObject32.bin"/><Relationship Id="rId9" Type="http://schemas.openxmlformats.org/officeDocument/2006/relationships/oleObject" Target="../embeddings/oleObject37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7" Type="http://schemas.openxmlformats.org/officeDocument/2006/relationships/oleObject" Target="../embeddings/oleObject43.bin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42.bin"/><Relationship Id="rId5" Type="http://schemas.openxmlformats.org/officeDocument/2006/relationships/oleObject" Target="../embeddings/oleObject41.bin"/><Relationship Id="rId4" Type="http://schemas.openxmlformats.org/officeDocument/2006/relationships/oleObject" Target="../embeddings/oleObject40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4.tmp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tags" Target="../tags/tag51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19" Type="http://schemas.openxmlformats.org/officeDocument/2006/relationships/image" Target="../media/image4.tmp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45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47.bin"/><Relationship Id="rId4" Type="http://schemas.openxmlformats.org/officeDocument/2006/relationships/oleObject" Target="../embeddings/oleObject46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48.bin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13" Type="http://schemas.openxmlformats.org/officeDocument/2006/relationships/tags" Target="../tags/tag64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12" Type="http://schemas.openxmlformats.org/officeDocument/2006/relationships/tags" Target="../tags/tag63.xml"/><Relationship Id="rId17" Type="http://schemas.openxmlformats.org/officeDocument/2006/relationships/tags" Target="../tags/tag68.xml"/><Relationship Id="rId2" Type="http://schemas.openxmlformats.org/officeDocument/2006/relationships/tags" Target="../tags/tag53.xml"/><Relationship Id="rId16" Type="http://schemas.openxmlformats.org/officeDocument/2006/relationships/tags" Target="../tags/tag67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tags" Target="../tags/tag62.xml"/><Relationship Id="rId5" Type="http://schemas.openxmlformats.org/officeDocument/2006/relationships/tags" Target="../tags/tag56.xml"/><Relationship Id="rId15" Type="http://schemas.openxmlformats.org/officeDocument/2006/relationships/tags" Target="../tags/tag66.xml"/><Relationship Id="rId10" Type="http://schemas.openxmlformats.org/officeDocument/2006/relationships/tags" Target="../tags/tag61.xml"/><Relationship Id="rId19" Type="http://schemas.openxmlformats.org/officeDocument/2006/relationships/image" Target="../media/image4.tmp"/><Relationship Id="rId4" Type="http://schemas.openxmlformats.org/officeDocument/2006/relationships/tags" Target="../tags/tag55.xml"/><Relationship Id="rId9" Type="http://schemas.openxmlformats.org/officeDocument/2006/relationships/tags" Target="../tags/tag60.xml"/><Relationship Id="rId14" Type="http://schemas.openxmlformats.org/officeDocument/2006/relationships/tags" Target="../tags/tag6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tags" Target="../tags/tag81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tags" Target="../tags/tag80.xml"/><Relationship Id="rId17" Type="http://schemas.openxmlformats.org/officeDocument/2006/relationships/tags" Target="../tags/tag85.xml"/><Relationship Id="rId2" Type="http://schemas.openxmlformats.org/officeDocument/2006/relationships/tags" Target="../tags/tag70.xml"/><Relationship Id="rId16" Type="http://schemas.openxmlformats.org/officeDocument/2006/relationships/tags" Target="../tags/tag84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tags" Target="../tags/tag79.xml"/><Relationship Id="rId5" Type="http://schemas.openxmlformats.org/officeDocument/2006/relationships/tags" Target="../tags/tag73.xml"/><Relationship Id="rId15" Type="http://schemas.openxmlformats.org/officeDocument/2006/relationships/tags" Target="../tags/tag83.xml"/><Relationship Id="rId10" Type="http://schemas.openxmlformats.org/officeDocument/2006/relationships/tags" Target="../tags/tag78.xml"/><Relationship Id="rId19" Type="http://schemas.openxmlformats.org/officeDocument/2006/relationships/image" Target="../media/image4.tmp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tags" Target="../tags/tag8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12.xml"/><Relationship Id="rId5" Type="http://schemas.openxmlformats.org/officeDocument/2006/relationships/oleObject" Target="../embeddings/oleObject51.bin"/><Relationship Id="rId4" Type="http://schemas.openxmlformats.org/officeDocument/2006/relationships/oleObject" Target="../embeddings/oleObject50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5.bin"/><Relationship Id="rId13" Type="http://schemas.openxmlformats.org/officeDocument/2006/relationships/image" Target="../media/image1.wmf"/><Relationship Id="rId3" Type="http://schemas.openxmlformats.org/officeDocument/2006/relationships/image" Target="../media/image6.wmf"/><Relationship Id="rId7" Type="http://schemas.openxmlformats.org/officeDocument/2006/relationships/image" Target="../media/image8.wmf"/><Relationship Id="rId12" Type="http://schemas.openxmlformats.org/officeDocument/2006/relationships/oleObject" Target="../embeddings/oleObject57.bin"/><Relationship Id="rId2" Type="http://schemas.openxmlformats.org/officeDocument/2006/relationships/oleObject" Target="../embeddings/oleObject52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54.bin"/><Relationship Id="rId11" Type="http://schemas.openxmlformats.org/officeDocument/2006/relationships/image" Target="../media/image10.wmf"/><Relationship Id="rId5" Type="http://schemas.openxmlformats.org/officeDocument/2006/relationships/image" Target="../media/image7.wmf"/><Relationship Id="rId10" Type="http://schemas.openxmlformats.org/officeDocument/2006/relationships/oleObject" Target="../embeddings/oleObject56.bin"/><Relationship Id="rId4" Type="http://schemas.openxmlformats.org/officeDocument/2006/relationships/oleObject" Target="../embeddings/oleObject53.bin"/><Relationship Id="rId9" Type="http://schemas.openxmlformats.org/officeDocument/2006/relationships/image" Target="../media/image9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.bin"/><Relationship Id="rId3" Type="http://schemas.openxmlformats.org/officeDocument/2006/relationships/image" Target="../media/image11.wmf"/><Relationship Id="rId7" Type="http://schemas.openxmlformats.org/officeDocument/2006/relationships/image" Target="../media/image5.wmf"/><Relationship Id="rId2" Type="http://schemas.openxmlformats.org/officeDocument/2006/relationships/oleObject" Target="../embeddings/oleObject58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60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59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5.bin"/><Relationship Id="rId3" Type="http://schemas.openxmlformats.org/officeDocument/2006/relationships/image" Target="../media/image13.wmf"/><Relationship Id="rId7" Type="http://schemas.openxmlformats.org/officeDocument/2006/relationships/image" Target="../media/image15.wmf"/><Relationship Id="rId12" Type="http://schemas.openxmlformats.org/officeDocument/2006/relationships/oleObject" Target="../embeddings/oleObject67.bin"/><Relationship Id="rId2" Type="http://schemas.openxmlformats.org/officeDocument/2006/relationships/oleObject" Target="../embeddings/oleObject62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64.bin"/><Relationship Id="rId11" Type="http://schemas.openxmlformats.org/officeDocument/2006/relationships/image" Target="../media/image1.wmf"/><Relationship Id="rId5" Type="http://schemas.openxmlformats.org/officeDocument/2006/relationships/image" Target="../media/image14.wmf"/><Relationship Id="rId10" Type="http://schemas.openxmlformats.org/officeDocument/2006/relationships/oleObject" Target="../embeddings/oleObject66.bin"/><Relationship Id="rId4" Type="http://schemas.openxmlformats.org/officeDocument/2006/relationships/oleObject" Target="../embeddings/oleObject63.bin"/><Relationship Id="rId9" Type="http://schemas.openxmlformats.org/officeDocument/2006/relationships/image" Target="../media/image9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7" Type="http://schemas.openxmlformats.org/officeDocument/2006/relationships/image" Target="../media/image5.wmf"/><Relationship Id="rId2" Type="http://schemas.openxmlformats.org/officeDocument/2006/relationships/oleObject" Target="../embeddings/oleObject68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70.bin"/><Relationship Id="rId5" Type="http://schemas.openxmlformats.org/officeDocument/2006/relationships/image" Target="../media/image17.wmf"/><Relationship Id="rId4" Type="http://schemas.openxmlformats.org/officeDocument/2006/relationships/oleObject" Target="../embeddings/oleObject69.bin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7" Type="http://schemas.openxmlformats.org/officeDocument/2006/relationships/oleObject" Target="../embeddings/oleObject75.bin"/><Relationship Id="rId2" Type="http://schemas.openxmlformats.org/officeDocument/2006/relationships/oleObject" Target="../embeddings/oleObject71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74.bin"/><Relationship Id="rId5" Type="http://schemas.openxmlformats.org/officeDocument/2006/relationships/oleObject" Target="../embeddings/oleObject73.bin"/><Relationship Id="rId4" Type="http://schemas.openxmlformats.org/officeDocument/2006/relationships/oleObject" Target="../embeddings/oleObject72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7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77.bin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78.bin"/><Relationship Id="rId1" Type="http://schemas.openxmlformats.org/officeDocument/2006/relationships/slideLayout" Target="../slideLayouts/slideLayout12.xml"/><Relationship Id="rId4" Type="http://schemas.openxmlformats.org/officeDocument/2006/relationships/oleObject" Target="../embeddings/oleObject79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4.bin"/><Relationship Id="rId3" Type="http://schemas.openxmlformats.org/officeDocument/2006/relationships/image" Target="../media/image1.wmf"/><Relationship Id="rId7" Type="http://schemas.openxmlformats.org/officeDocument/2006/relationships/oleObject" Target="../embeddings/oleObject83.bin"/><Relationship Id="rId2" Type="http://schemas.openxmlformats.org/officeDocument/2006/relationships/oleObject" Target="../embeddings/oleObject77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82.bin"/><Relationship Id="rId5" Type="http://schemas.openxmlformats.org/officeDocument/2006/relationships/oleObject" Target="../embeddings/oleObject81.bin"/><Relationship Id="rId10" Type="http://schemas.openxmlformats.org/officeDocument/2006/relationships/oleObject" Target="../embeddings/oleObject85.bin"/><Relationship Id="rId4" Type="http://schemas.openxmlformats.org/officeDocument/2006/relationships/oleObject" Target="../embeddings/oleObject80.bin"/><Relationship Id="rId9" Type="http://schemas.openxmlformats.org/officeDocument/2006/relationships/image" Target="../media/image5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7" Type="http://schemas.openxmlformats.org/officeDocument/2006/relationships/image" Target="../media/image5.wmf"/><Relationship Id="rId2" Type="http://schemas.openxmlformats.org/officeDocument/2006/relationships/oleObject" Target="../embeddings/oleObject86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89.bin"/><Relationship Id="rId5" Type="http://schemas.openxmlformats.org/officeDocument/2006/relationships/oleObject" Target="../embeddings/oleObject88.bin"/><Relationship Id="rId4" Type="http://schemas.openxmlformats.org/officeDocument/2006/relationships/oleObject" Target="../embeddings/oleObject87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tags" Target="../tags/tag93.xml"/><Relationship Id="rId13" Type="http://schemas.openxmlformats.org/officeDocument/2006/relationships/tags" Target="../tags/tag98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88.xml"/><Relationship Id="rId21" Type="http://schemas.openxmlformats.org/officeDocument/2006/relationships/image" Target="../media/image4.tmp"/><Relationship Id="rId7" Type="http://schemas.openxmlformats.org/officeDocument/2006/relationships/tags" Target="../tags/tag92.xml"/><Relationship Id="rId12" Type="http://schemas.openxmlformats.org/officeDocument/2006/relationships/tags" Target="../tags/tag97.xml"/><Relationship Id="rId17" Type="http://schemas.openxmlformats.org/officeDocument/2006/relationships/tags" Target="../tags/tag102.xml"/><Relationship Id="rId2" Type="http://schemas.openxmlformats.org/officeDocument/2006/relationships/tags" Target="../tags/tag87.xml"/><Relationship Id="rId16" Type="http://schemas.openxmlformats.org/officeDocument/2006/relationships/tags" Target="../tags/tag101.xml"/><Relationship Id="rId20" Type="http://schemas.openxmlformats.org/officeDocument/2006/relationships/image" Target="../media/image1.wmf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11" Type="http://schemas.openxmlformats.org/officeDocument/2006/relationships/tags" Target="../tags/tag96.xml"/><Relationship Id="rId5" Type="http://schemas.openxmlformats.org/officeDocument/2006/relationships/tags" Target="../tags/tag90.xml"/><Relationship Id="rId15" Type="http://schemas.openxmlformats.org/officeDocument/2006/relationships/tags" Target="../tags/tag100.xml"/><Relationship Id="rId10" Type="http://schemas.openxmlformats.org/officeDocument/2006/relationships/tags" Target="../tags/tag95.xml"/><Relationship Id="rId19" Type="http://schemas.openxmlformats.org/officeDocument/2006/relationships/oleObject" Target="../embeddings/oleObject77.bin"/><Relationship Id="rId4" Type="http://schemas.openxmlformats.org/officeDocument/2006/relationships/tags" Target="../tags/tag89.xml"/><Relationship Id="rId9" Type="http://schemas.openxmlformats.org/officeDocument/2006/relationships/tags" Target="../tags/tag94.xml"/><Relationship Id="rId14" Type="http://schemas.openxmlformats.org/officeDocument/2006/relationships/tags" Target="../tags/tag9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tags" Target="../tags/tag110.xml"/><Relationship Id="rId3" Type="http://schemas.openxmlformats.org/officeDocument/2006/relationships/tags" Target="../tags/tag105.xml"/><Relationship Id="rId7" Type="http://schemas.openxmlformats.org/officeDocument/2006/relationships/tags" Target="../tags/tag109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tags" Target="../tags/tag108.xml"/><Relationship Id="rId11" Type="http://schemas.openxmlformats.org/officeDocument/2006/relationships/image" Target="../media/image4.tmp"/><Relationship Id="rId5" Type="http://schemas.openxmlformats.org/officeDocument/2006/relationships/tags" Target="../tags/tag107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106.xml"/><Relationship Id="rId9" Type="http://schemas.openxmlformats.org/officeDocument/2006/relationships/tags" Target="../tags/tag111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tags" Target="../tags/tag119.xml"/><Relationship Id="rId3" Type="http://schemas.openxmlformats.org/officeDocument/2006/relationships/tags" Target="../tags/tag114.xml"/><Relationship Id="rId7" Type="http://schemas.openxmlformats.org/officeDocument/2006/relationships/tags" Target="../tags/tag118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11" Type="http://schemas.openxmlformats.org/officeDocument/2006/relationships/image" Target="../media/image4.tmp"/><Relationship Id="rId5" Type="http://schemas.openxmlformats.org/officeDocument/2006/relationships/tags" Target="../tags/tag116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115.xml"/><Relationship Id="rId9" Type="http://schemas.openxmlformats.org/officeDocument/2006/relationships/tags" Target="../tags/tag1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6C1AAAAA-5BD8-3BAC-29AD-C16B3AEABE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3.9 </a:t>
            </a:r>
            <a:r>
              <a:rPr lang="zh-CN" altLang="en-US"/>
              <a:t>复合关系与逆关系 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BF70392E-8148-F47C-38B2-D25B11FCA09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187450" y="1916113"/>
            <a:ext cx="7705725" cy="475297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600"/>
              <a:t>3.9.1 </a:t>
            </a:r>
            <a:r>
              <a:rPr lang="zh-CN" altLang="en-US" sz="3600" b="1"/>
              <a:t>复合关系的定义</a:t>
            </a:r>
            <a:r>
              <a:rPr lang="zh-CN" altLang="en-US" sz="3600"/>
              <a:t>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600"/>
              <a:t>3.9.2 </a:t>
            </a:r>
            <a:r>
              <a:rPr lang="zh-CN" altLang="en-US" sz="3600" b="1"/>
              <a:t>复合关系的性质</a:t>
            </a:r>
            <a:r>
              <a:rPr lang="zh-CN" altLang="en-US" sz="3600"/>
              <a:t>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600"/>
              <a:t>3.9.3 </a:t>
            </a:r>
            <a:r>
              <a:rPr lang="zh-CN" altLang="en-US" sz="3600" b="1"/>
              <a:t>复合关系的关系矩阵</a:t>
            </a:r>
            <a:r>
              <a:rPr lang="zh-CN" altLang="en-US" sz="3600"/>
              <a:t>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600"/>
              <a:t>3.9.4 </a:t>
            </a:r>
            <a:r>
              <a:rPr lang="zh-CN" altLang="en-US" sz="3600" b="1"/>
              <a:t>逆关系的概念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600"/>
              <a:t>3.9.5 </a:t>
            </a:r>
            <a:r>
              <a:rPr lang="zh-CN" altLang="en-US" sz="3600" b="1"/>
              <a:t>逆关系的性质</a:t>
            </a:r>
            <a:r>
              <a:rPr lang="zh-CN" altLang="en-US" sz="280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DDFC655-4EEA-D20D-11D6-1D71F57537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3.9.1 </a:t>
            </a:r>
            <a:r>
              <a:rPr lang="zh-CN" altLang="en-US" sz="5400"/>
              <a:t>复合关系的定义</a:t>
            </a:r>
          </a:p>
        </p:txBody>
      </p:sp>
      <p:sp>
        <p:nvSpPr>
          <p:cNvPr id="205827" name="Rectangle 3">
            <a:extLst>
              <a:ext uri="{FF2B5EF4-FFF2-40B4-BE49-F238E27FC236}">
                <a16:creationId xmlns:a16="http://schemas.microsoft.com/office/drawing/2014/main" id="{D86B8D39-99DD-CD91-743E-A1AA8AB156E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844675"/>
            <a:ext cx="8748712" cy="5013325"/>
          </a:xfrm>
        </p:spPr>
        <p:txBody>
          <a:bodyPr/>
          <a:lstStyle/>
          <a:p>
            <a:pPr eaLnBrk="1" hangingPunct="1">
              <a:lnSpc>
                <a:spcPct val="300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定义</a:t>
            </a:r>
            <a:r>
              <a:rPr lang="en-US" altLang="zh-CN" dirty="0">
                <a:solidFill>
                  <a:schemeClr val="hlink"/>
                </a:solidFill>
              </a:rPr>
              <a:t>3.9.1</a:t>
            </a:r>
            <a:r>
              <a:rPr lang="zh-CN" altLang="en-US" dirty="0"/>
              <a:t>设</a:t>
            </a:r>
            <a:r>
              <a:rPr lang="en-US" altLang="zh-CN" dirty="0"/>
              <a:t>R</a:t>
            </a:r>
            <a:r>
              <a:rPr lang="zh-CN" altLang="en-US" dirty="0"/>
              <a:t>  </a:t>
            </a:r>
            <a:r>
              <a:rPr lang="en-US" altLang="zh-CN" dirty="0"/>
              <a:t>A×</a:t>
            </a:r>
            <a:r>
              <a:rPr lang="en-US" altLang="zh-CN" dirty="0">
                <a:solidFill>
                  <a:schemeClr val="accent1"/>
                </a:solidFill>
              </a:rPr>
              <a:t>B</a:t>
            </a:r>
            <a:r>
              <a:rPr lang="zh-CN" altLang="en-US" dirty="0"/>
              <a:t>，</a:t>
            </a:r>
            <a:r>
              <a:rPr lang="en-US" altLang="zh-CN" dirty="0"/>
              <a:t>S</a:t>
            </a:r>
            <a:r>
              <a:rPr lang="zh-CN" altLang="en-US" dirty="0"/>
              <a:t>  </a:t>
            </a:r>
            <a:r>
              <a:rPr lang="en-US" altLang="zh-CN" dirty="0">
                <a:solidFill>
                  <a:schemeClr val="accent1"/>
                </a:solidFill>
              </a:rPr>
              <a:t>B</a:t>
            </a:r>
            <a:r>
              <a:rPr lang="en-US" altLang="zh-CN" dirty="0"/>
              <a:t>×D</a:t>
            </a:r>
            <a:r>
              <a:rPr lang="zh-CN" altLang="en-US" dirty="0"/>
              <a:t>，</a:t>
            </a:r>
            <a:r>
              <a:rPr lang="en-US" altLang="zh-CN" dirty="0"/>
              <a:t>R</a:t>
            </a:r>
            <a:r>
              <a:rPr lang="zh-CN" altLang="en-US" dirty="0"/>
              <a:t>与</a:t>
            </a:r>
            <a:r>
              <a:rPr lang="en-US" altLang="zh-CN" dirty="0"/>
              <a:t>S</a:t>
            </a:r>
            <a:r>
              <a:rPr lang="zh-CN" altLang="en-US" dirty="0"/>
              <a:t>的</a:t>
            </a:r>
            <a:r>
              <a:rPr lang="zh-CN" altLang="en-US" b="1" dirty="0">
                <a:solidFill>
                  <a:srgbClr val="FF00FF"/>
                </a:solidFill>
              </a:rPr>
              <a:t>复合关系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00FF"/>
                </a:solidFill>
              </a:rPr>
              <a:t>composite relation</a:t>
            </a:r>
            <a:r>
              <a:rPr lang="en-US" altLang="zh-CN" dirty="0"/>
              <a:t>)</a:t>
            </a:r>
            <a:r>
              <a:rPr lang="zh-CN" altLang="en-US" dirty="0"/>
              <a:t>记作</a:t>
            </a:r>
            <a:r>
              <a:rPr lang="en-US" altLang="zh-CN" dirty="0"/>
              <a:t>R S</a:t>
            </a:r>
            <a:r>
              <a:rPr lang="zh-CN" altLang="en-US" dirty="0"/>
              <a:t>，且</a:t>
            </a:r>
          </a:p>
          <a:p>
            <a:pPr eaLnBrk="1" hangingPunct="1">
              <a:lnSpc>
                <a:spcPct val="30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</a:t>
            </a:r>
            <a:r>
              <a:rPr lang="en-US" altLang="zh-CN" sz="2800" dirty="0">
                <a:solidFill>
                  <a:schemeClr val="accent1"/>
                </a:solidFill>
              </a:rPr>
              <a:t>R S</a:t>
            </a:r>
            <a:r>
              <a:rPr lang="zh-CN" altLang="en-US" sz="2800" dirty="0"/>
              <a:t>＝</a:t>
            </a:r>
            <a:r>
              <a:rPr lang="en-US" altLang="zh-CN" sz="2800" dirty="0">
                <a:solidFill>
                  <a:schemeClr val="hlink"/>
                </a:solidFill>
              </a:rPr>
              <a:t>{</a:t>
            </a:r>
            <a:r>
              <a:rPr lang="en-US" altLang="zh-CN" sz="2800" dirty="0">
                <a:latin typeface="宋体" pitchFamily="2" charset="-122"/>
              </a:rPr>
              <a:t>&lt;</a:t>
            </a:r>
            <a:r>
              <a:rPr lang="en-US" altLang="zh-CN" sz="2800" dirty="0" err="1">
                <a:solidFill>
                  <a:srgbClr val="FF00FF"/>
                </a:solidFill>
              </a:rPr>
              <a:t>a</a:t>
            </a:r>
            <a:r>
              <a:rPr lang="en-US" altLang="zh-CN" sz="2800" dirty="0" err="1"/>
              <a:t>,</a:t>
            </a:r>
            <a:r>
              <a:rPr lang="en-US" altLang="zh-CN" sz="2800" dirty="0" err="1">
                <a:solidFill>
                  <a:srgbClr val="FF00FF"/>
                </a:solidFill>
              </a:rPr>
              <a:t>d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/>
              <a:t>︱</a:t>
            </a:r>
            <a:r>
              <a:rPr lang="en-US" altLang="zh-CN" sz="2800" dirty="0" err="1"/>
              <a:t>a∈A</a:t>
            </a:r>
            <a:r>
              <a:rPr lang="en-US" altLang="zh-CN" sz="2800" dirty="0" err="1">
                <a:latin typeface="+mn-ea"/>
              </a:rPr>
              <a:t>,</a:t>
            </a:r>
            <a:r>
              <a:rPr lang="en-US" altLang="zh-CN" sz="2800" dirty="0" err="1"/>
              <a:t>d∈D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dirty="0"/>
              <a:t>(</a:t>
            </a:r>
            <a:r>
              <a:rPr lang="en-US" altLang="zh-CN" sz="2800" dirty="0">
                <a:sym typeface="Symbol" pitchFamily="18" charset="2"/>
              </a:rPr>
              <a:t></a:t>
            </a:r>
            <a:r>
              <a:rPr lang="en-US" altLang="zh-CN" sz="2800" dirty="0" err="1"/>
              <a:t>b∈B</a:t>
            </a:r>
            <a:r>
              <a:rPr lang="en-US" altLang="zh-CN" sz="2800" dirty="0"/>
              <a:t>)(</a:t>
            </a:r>
            <a:r>
              <a:rPr lang="en-US" altLang="zh-CN" sz="2800" dirty="0" err="1">
                <a:solidFill>
                  <a:srgbClr val="FF00FF"/>
                </a:solidFill>
              </a:rPr>
              <a:t>a</a:t>
            </a:r>
            <a:r>
              <a:rPr lang="en-US" altLang="zh-CN" sz="2800" dirty="0" err="1"/>
              <a:t>R</a:t>
            </a:r>
            <a:r>
              <a:rPr lang="en-US" altLang="zh-CN" sz="2800" dirty="0" err="1">
                <a:solidFill>
                  <a:schemeClr val="accent1"/>
                </a:solidFill>
              </a:rPr>
              <a:t>b</a:t>
            </a:r>
            <a:r>
              <a:rPr lang="en-US" altLang="zh-CN" sz="2800" dirty="0" err="1">
                <a:latin typeface="+mn-ea"/>
              </a:rPr>
              <a:t>,</a:t>
            </a:r>
            <a:r>
              <a:rPr lang="en-US" altLang="zh-CN" sz="2800" dirty="0" err="1">
                <a:solidFill>
                  <a:schemeClr val="accent1"/>
                </a:solidFill>
              </a:rPr>
              <a:t>b</a:t>
            </a:r>
            <a:r>
              <a:rPr lang="en-US" altLang="zh-CN" sz="2800" dirty="0" err="1"/>
              <a:t>S</a:t>
            </a:r>
            <a:r>
              <a:rPr lang="en-US" altLang="zh-CN" sz="2800" dirty="0" err="1">
                <a:solidFill>
                  <a:srgbClr val="FF00FF"/>
                </a:solidFill>
              </a:rPr>
              <a:t>d</a:t>
            </a:r>
            <a:r>
              <a:rPr lang="en-US" altLang="zh-CN" sz="2800" dirty="0"/>
              <a:t>)</a:t>
            </a:r>
            <a:r>
              <a:rPr lang="en-US" altLang="zh-CN" sz="2800" dirty="0">
                <a:solidFill>
                  <a:schemeClr val="hlink"/>
                </a:solidFill>
              </a:rPr>
              <a:t>}</a:t>
            </a:r>
          </a:p>
        </p:txBody>
      </p:sp>
      <p:graphicFrame>
        <p:nvGraphicFramePr>
          <p:cNvPr id="4100" name="Object 5">
            <a:extLst>
              <a:ext uri="{FF2B5EF4-FFF2-40B4-BE49-F238E27FC236}">
                <a16:creationId xmlns:a16="http://schemas.microsoft.com/office/drawing/2014/main" id="{0C8DEE0F-4320-5CC6-258E-AF33345EEB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6950" y="5754688"/>
          <a:ext cx="255588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1468" imgH="114151" progId="Equation.DSMT4">
                  <p:embed/>
                </p:oleObj>
              </mc:Choice>
              <mc:Fallback>
                <p:oleObj name="Equation" r:id="rId2" imgW="101468" imgH="114151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6950" y="5754688"/>
                        <a:ext cx="255588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1" name="Object 6">
            <a:extLst>
              <a:ext uri="{FF2B5EF4-FFF2-40B4-BE49-F238E27FC236}">
                <a16:creationId xmlns:a16="http://schemas.microsoft.com/office/drawing/2014/main" id="{DFE32E25-8A49-EB33-BDC5-784BA4D9E6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40463" y="4221163"/>
          <a:ext cx="255587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1468" imgH="114151" progId="Equation.DSMT4">
                  <p:embed/>
                </p:oleObj>
              </mc:Choice>
              <mc:Fallback>
                <p:oleObj name="Equation" r:id="rId4" imgW="101468" imgH="114151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463" y="4221163"/>
                        <a:ext cx="255587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2" name="对象 1">
            <a:extLst>
              <a:ext uri="{FF2B5EF4-FFF2-40B4-BE49-F238E27FC236}">
                <a16:creationId xmlns:a16="http://schemas.microsoft.com/office/drawing/2014/main" id="{3A69ED49-F55C-C941-4DB9-5B0AE2A568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32363" y="2651125"/>
          <a:ext cx="385762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268" imgH="152268" progId="Equation.DSMT4">
                  <p:embed/>
                </p:oleObj>
              </mc:Choice>
              <mc:Fallback>
                <p:oleObj name="Equation" r:id="rId5" imgW="152268" imgH="152268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2651125"/>
                        <a:ext cx="385762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3" name="对象 2">
            <a:extLst>
              <a:ext uri="{FF2B5EF4-FFF2-40B4-BE49-F238E27FC236}">
                <a16:creationId xmlns:a16="http://schemas.microsoft.com/office/drawing/2014/main" id="{7EBA5297-6B95-B185-EFBB-548CAC56A6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32138" y="2649538"/>
          <a:ext cx="385762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2268" imgH="152268" progId="Equation.DSMT4">
                  <p:embed/>
                </p:oleObj>
              </mc:Choice>
              <mc:Fallback>
                <p:oleObj name="Equation" r:id="rId7" imgW="152268" imgH="152268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2649538"/>
                        <a:ext cx="385762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>
            <a:extLst>
              <a:ext uri="{FF2B5EF4-FFF2-40B4-BE49-F238E27FC236}">
                <a16:creationId xmlns:a16="http://schemas.microsoft.com/office/drawing/2014/main" id="{5CC696C6-BEFF-CB28-0851-809E9DDC22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3.9.1 </a:t>
            </a:r>
            <a:r>
              <a:rPr lang="zh-CN" altLang="en-US" sz="5400"/>
              <a:t>复合关系的定义</a:t>
            </a:r>
          </a:p>
        </p:txBody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165DA38B-8664-F31C-E05A-6AB813D8F32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916113"/>
            <a:ext cx="8748712" cy="4941887"/>
          </a:xfrm>
        </p:spPr>
        <p:txBody>
          <a:bodyPr/>
          <a:lstStyle/>
          <a:p>
            <a:pPr eaLnBrk="1" hangingPunct="1">
              <a:lnSpc>
                <a:spcPct val="125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3.9.1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dirty="0"/>
              <a:t>A</a:t>
            </a:r>
            <a:r>
              <a:rPr lang="zh-CN" altLang="en-US" dirty="0"/>
              <a:t>＝</a:t>
            </a:r>
            <a:r>
              <a:rPr lang="en-US" altLang="zh-CN" dirty="0"/>
              <a:t>{1,2,3,4}</a:t>
            </a:r>
            <a:r>
              <a:rPr lang="zh-CN" altLang="en-US" dirty="0"/>
              <a:t>，</a:t>
            </a:r>
            <a:r>
              <a:rPr lang="en-US" altLang="zh-CN" dirty="0"/>
              <a:t>B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dirty="0" err="1"/>
              <a:t>a,b,c,d</a:t>
            </a:r>
            <a:r>
              <a:rPr lang="en-US" altLang="zh-CN" dirty="0"/>
              <a:t>}</a:t>
            </a:r>
            <a:r>
              <a:rPr lang="zh-CN" altLang="en-US" dirty="0"/>
              <a:t>，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</a:t>
            </a:r>
            <a:r>
              <a:rPr lang="en-US" altLang="zh-CN" dirty="0"/>
              <a:t>S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FF00FF"/>
                </a:solidFill>
              </a:rPr>
              <a:t>1</a:t>
            </a:r>
            <a:r>
              <a:rPr lang="en-US" altLang="zh-CN" dirty="0"/>
              <a:t>,</a:t>
            </a:r>
            <a:r>
              <a:rPr lang="en-US" altLang="zh-CN" dirty="0">
                <a:solidFill>
                  <a:schemeClr val="accent1"/>
                </a:solidFill>
              </a:rPr>
              <a:t>a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chemeClr val="hlink"/>
                </a:solidFill>
              </a:rPr>
              <a:t>2</a:t>
            </a:r>
            <a:r>
              <a:rPr lang="en-US" altLang="zh-CN" dirty="0"/>
              <a:t>,</a:t>
            </a:r>
            <a:r>
              <a:rPr lang="en-US" altLang="zh-CN" dirty="0">
                <a:solidFill>
                  <a:schemeClr val="accent1"/>
                </a:solidFill>
              </a:rPr>
              <a:t>b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3,c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3,d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4,a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4,d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}</a:t>
            </a:r>
            <a:br>
              <a:rPr lang="en-US" altLang="zh-CN" dirty="0"/>
            </a:br>
            <a:r>
              <a:rPr lang="en-US" altLang="zh-CN" dirty="0"/>
              <a:t>H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chemeClr val="accent1"/>
                </a:solidFill>
              </a:rPr>
              <a:t>a</a:t>
            </a:r>
            <a:r>
              <a:rPr lang="en-US" altLang="zh-CN" dirty="0"/>
              <a:t>,</a:t>
            </a:r>
            <a:r>
              <a:rPr lang="en-US" altLang="zh-CN" dirty="0">
                <a:solidFill>
                  <a:srgbClr val="FF00FF"/>
                </a:solidFill>
              </a:rPr>
              <a:t>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chemeClr val="accent1"/>
                </a:solidFill>
              </a:rPr>
              <a:t>b</a:t>
            </a:r>
            <a:r>
              <a:rPr lang="en-US" altLang="zh-CN" dirty="0"/>
              <a:t>,</a:t>
            </a:r>
            <a:r>
              <a:rPr lang="en-US" altLang="zh-CN" dirty="0">
                <a:solidFill>
                  <a:schemeClr val="hlink"/>
                </a:solidFill>
              </a:rPr>
              <a:t>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chemeClr val="accent1"/>
                </a:solidFill>
              </a:rPr>
              <a:t>b</a:t>
            </a:r>
            <a:r>
              <a:rPr lang="en-US" altLang="zh-CN" dirty="0"/>
              <a:t>,</a:t>
            </a:r>
            <a:r>
              <a:rPr lang="en-US" altLang="zh-CN" dirty="0">
                <a:solidFill>
                  <a:srgbClr val="FF00FF"/>
                </a:solidFill>
              </a:rPr>
              <a:t>4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d,1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d,2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d,3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}</a:t>
            </a:r>
            <a:endParaRPr lang="en-US" altLang="zh-CN" b="1" dirty="0"/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   </a:t>
            </a:r>
            <a:r>
              <a:rPr lang="zh-CN" altLang="en-US" b="1" dirty="0"/>
              <a:t>则</a:t>
            </a:r>
            <a:r>
              <a:rPr lang="en-US" altLang="zh-CN" dirty="0">
                <a:solidFill>
                  <a:schemeClr val="hlink"/>
                </a:solidFill>
              </a:rPr>
              <a:t>S H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FF00FF"/>
                </a:solidFill>
              </a:rPr>
              <a:t>1</a:t>
            </a:r>
            <a:r>
              <a:rPr lang="en-US" altLang="zh-CN" dirty="0"/>
              <a:t>,</a:t>
            </a:r>
            <a:r>
              <a:rPr lang="en-US" altLang="zh-CN" dirty="0">
                <a:solidFill>
                  <a:srgbClr val="FF00FF"/>
                </a:solidFill>
              </a:rPr>
              <a:t>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chemeClr val="hlink"/>
                </a:solidFill>
              </a:rPr>
              <a:t>2</a:t>
            </a:r>
            <a:r>
              <a:rPr lang="en-US" altLang="zh-CN" dirty="0"/>
              <a:t>,</a:t>
            </a:r>
            <a:r>
              <a:rPr lang="en-US" altLang="zh-CN" dirty="0">
                <a:solidFill>
                  <a:schemeClr val="hlink"/>
                </a:solidFill>
              </a:rPr>
              <a:t>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chemeClr val="hlink"/>
                </a:solidFill>
              </a:rPr>
              <a:t>2</a:t>
            </a:r>
            <a:r>
              <a:rPr lang="en-US" altLang="zh-CN" dirty="0"/>
              <a:t>,</a:t>
            </a:r>
            <a:r>
              <a:rPr lang="en-US" altLang="zh-CN" dirty="0">
                <a:solidFill>
                  <a:srgbClr val="FF00FF"/>
                </a:solidFill>
              </a:rPr>
              <a:t>4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3,1</a:t>
            </a:r>
            <a:r>
              <a:rPr lang="en-US" altLang="zh-CN" b="1" dirty="0">
                <a:latin typeface="+mn-ea"/>
              </a:rPr>
              <a:t>&gt;</a:t>
            </a:r>
            <a:r>
              <a:rPr lang="en-US" altLang="zh-CN" dirty="0">
                <a:latin typeface="+mn-ea"/>
              </a:rPr>
              <a:t>,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</a:t>
            </a:r>
            <a:r>
              <a:rPr lang="en-US" altLang="zh-CN" b="1" dirty="0">
                <a:solidFill>
                  <a:srgbClr val="CC0066"/>
                </a:solidFill>
              </a:rPr>
              <a:t>≠</a:t>
            </a:r>
            <a:r>
              <a:rPr lang="en-US" altLang="zh-CN" dirty="0"/>
              <a:t>        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3,2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3,3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4,2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4,1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4,3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}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</a:t>
            </a:r>
            <a:r>
              <a:rPr lang="en-US" altLang="zh-CN" dirty="0">
                <a:solidFill>
                  <a:srgbClr val="FF00FF"/>
                </a:solidFill>
              </a:rPr>
              <a:t>H S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a,b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b,a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b,c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b,d</a:t>
            </a:r>
            <a:r>
              <a:rPr lang="en-US" altLang="zh-CN" b="1" dirty="0">
                <a:latin typeface="+mn-ea"/>
              </a:rPr>
              <a:t>&gt;</a:t>
            </a:r>
            <a:r>
              <a:rPr lang="en-US" altLang="zh-CN" dirty="0">
                <a:latin typeface="+mn-ea"/>
              </a:rPr>
              <a:t>,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             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d,a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d,b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d,c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d,d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}</a:t>
            </a:r>
          </a:p>
        </p:txBody>
      </p:sp>
      <p:graphicFrame>
        <p:nvGraphicFramePr>
          <p:cNvPr id="5124" name="Object 10">
            <a:extLst>
              <a:ext uri="{FF2B5EF4-FFF2-40B4-BE49-F238E27FC236}">
                <a16:creationId xmlns:a16="http://schemas.microsoft.com/office/drawing/2014/main" id="{E273EAA0-A8D7-1C2D-F6EB-418CF061E3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4149725"/>
          <a:ext cx="255588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1468" imgH="114151" progId="Equation.DSMT4">
                  <p:embed/>
                </p:oleObj>
              </mc:Choice>
              <mc:Fallback>
                <p:oleObj name="Equation" r:id="rId2" imgW="101468" imgH="114151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4149725"/>
                        <a:ext cx="255588" cy="28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5" name="Object 11">
            <a:extLst>
              <a:ext uri="{FF2B5EF4-FFF2-40B4-BE49-F238E27FC236}">
                <a16:creationId xmlns:a16="http://schemas.microsoft.com/office/drawing/2014/main" id="{31E6C1A5-500F-9141-A634-07B5B5DC73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5614988"/>
          <a:ext cx="255588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1468" imgH="114151" progId="Equation.DSMT4">
                  <p:embed/>
                </p:oleObj>
              </mc:Choice>
              <mc:Fallback>
                <p:oleObj name="Equation" r:id="rId4" imgW="101468" imgH="114151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5614988"/>
                        <a:ext cx="255588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6" name="Line 15">
            <a:extLst>
              <a:ext uri="{FF2B5EF4-FFF2-40B4-BE49-F238E27FC236}">
                <a16:creationId xmlns:a16="http://schemas.microsoft.com/office/drawing/2014/main" id="{B58F92B4-142B-7A6E-43F3-6C824B6AA459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975" y="3213100"/>
            <a:ext cx="0" cy="2159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7" name="Line 16">
            <a:extLst>
              <a:ext uri="{FF2B5EF4-FFF2-40B4-BE49-F238E27FC236}">
                <a16:creationId xmlns:a16="http://schemas.microsoft.com/office/drawing/2014/main" id="{5B14F6A9-5540-39BB-2056-C6059363AE1B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1050" y="3860800"/>
            <a:ext cx="576263" cy="2159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8" name="Line 17">
            <a:extLst>
              <a:ext uri="{FF2B5EF4-FFF2-40B4-BE49-F238E27FC236}">
                <a16:creationId xmlns:a16="http://schemas.microsoft.com/office/drawing/2014/main" id="{F008B939-0F84-FC5B-60FA-489BD17C2FA2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3938" y="3192463"/>
            <a:ext cx="0" cy="215900"/>
          </a:xfrm>
          <a:prstGeom prst="line">
            <a:avLst/>
          </a:prstGeom>
          <a:noFill/>
          <a:ln w="38100">
            <a:solidFill>
              <a:srgbClr val="80008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9" name="Line 18">
            <a:extLst>
              <a:ext uri="{FF2B5EF4-FFF2-40B4-BE49-F238E27FC236}">
                <a16:creationId xmlns:a16="http://schemas.microsoft.com/office/drawing/2014/main" id="{BCC185CF-8B81-FF7A-E1A8-2C084799DBB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3852863"/>
            <a:ext cx="504825" cy="287337"/>
          </a:xfrm>
          <a:prstGeom prst="line">
            <a:avLst/>
          </a:prstGeom>
          <a:noFill/>
          <a:ln w="38100">
            <a:solidFill>
              <a:srgbClr val="80008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30" name="Line 20">
            <a:extLst>
              <a:ext uri="{FF2B5EF4-FFF2-40B4-BE49-F238E27FC236}">
                <a16:creationId xmlns:a16="http://schemas.microsoft.com/office/drawing/2014/main" id="{223AC852-CED1-E6C8-DAEB-9B68B4716F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7538" y="3789363"/>
            <a:ext cx="504825" cy="287337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31" name="Line 21">
            <a:extLst>
              <a:ext uri="{FF2B5EF4-FFF2-40B4-BE49-F238E27FC236}">
                <a16:creationId xmlns:a16="http://schemas.microsoft.com/office/drawing/2014/main" id="{B836A9FB-6374-1F66-218B-231103827CC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7813" y="4687888"/>
            <a:ext cx="0" cy="719137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32" name="Line 22">
            <a:extLst>
              <a:ext uri="{FF2B5EF4-FFF2-40B4-BE49-F238E27FC236}">
                <a16:creationId xmlns:a16="http://schemas.microsoft.com/office/drawing/2014/main" id="{CB0F7208-0092-58CF-0120-9C000BFB14B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8400" y="3208338"/>
            <a:ext cx="576263" cy="215900"/>
          </a:xfrm>
          <a:prstGeom prst="line">
            <a:avLst/>
          </a:prstGeom>
          <a:noFill/>
          <a:ln w="38100">
            <a:solidFill>
              <a:srgbClr val="80008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>
            <a:extLst>
              <a:ext uri="{FF2B5EF4-FFF2-40B4-BE49-F238E27FC236}">
                <a16:creationId xmlns:a16="http://schemas.microsoft.com/office/drawing/2014/main" id="{19C50AB2-B3B7-831A-85F0-DD41C702CD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3.9.1 </a:t>
            </a:r>
            <a:r>
              <a:rPr lang="zh-CN" altLang="en-US" sz="5400"/>
              <a:t>复合关系的性质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13E9F05-8DC3-CF80-2AE5-4C3C1CDA5B3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916113"/>
            <a:ext cx="8532812" cy="4826000"/>
          </a:xfrm>
        </p:spPr>
        <p:txBody>
          <a:bodyPr/>
          <a:lstStyle/>
          <a:p>
            <a:pPr eaLnBrk="1" hangingPunct="1">
              <a:lnSpc>
                <a:spcPct val="30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3.9.1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dirty="0"/>
              <a:t>R   A×</a:t>
            </a:r>
            <a:r>
              <a:rPr lang="en-US" altLang="zh-CN" dirty="0">
                <a:solidFill>
                  <a:srgbClr val="33CC33"/>
                </a:solidFill>
              </a:rPr>
              <a:t>B</a:t>
            </a:r>
            <a:r>
              <a:rPr lang="zh-CN" altLang="en-US" dirty="0"/>
              <a:t>，</a:t>
            </a:r>
            <a:r>
              <a:rPr lang="en-US" altLang="zh-CN" dirty="0"/>
              <a:t>S   </a:t>
            </a:r>
            <a:r>
              <a:rPr lang="en-US" altLang="zh-CN" dirty="0">
                <a:solidFill>
                  <a:srgbClr val="33CC33"/>
                </a:solidFill>
              </a:rPr>
              <a:t>B</a:t>
            </a:r>
            <a:r>
              <a:rPr lang="en-US" altLang="zh-CN" dirty="0"/>
              <a:t>×</a:t>
            </a:r>
            <a:r>
              <a:rPr lang="en-US" altLang="zh-CN" dirty="0">
                <a:solidFill>
                  <a:srgbClr val="CC0066"/>
                </a:solidFill>
              </a:rPr>
              <a:t>D</a:t>
            </a:r>
            <a:r>
              <a:rPr lang="zh-CN" altLang="en-US" dirty="0"/>
              <a:t>，</a:t>
            </a:r>
            <a:r>
              <a:rPr lang="en-US" altLang="zh-CN" dirty="0"/>
              <a:t>H   </a:t>
            </a:r>
            <a:r>
              <a:rPr lang="en-US" altLang="zh-CN" dirty="0">
                <a:solidFill>
                  <a:srgbClr val="CC0066"/>
                </a:solidFill>
              </a:rPr>
              <a:t>D</a:t>
            </a:r>
            <a:r>
              <a:rPr lang="en-US" altLang="zh-CN" dirty="0"/>
              <a:t>×E</a:t>
            </a:r>
            <a:r>
              <a:rPr lang="zh-CN" altLang="en-US" dirty="0"/>
              <a:t>，则   </a:t>
            </a:r>
            <a:r>
              <a:rPr lang="en-US" altLang="zh-CN" dirty="0"/>
              <a:t>(R S) H</a:t>
            </a:r>
            <a:r>
              <a:rPr lang="zh-CN" altLang="en-US" dirty="0"/>
              <a:t>＝</a:t>
            </a:r>
            <a:r>
              <a:rPr lang="en-US" altLang="zh-CN" dirty="0"/>
              <a:t>R (S H)</a:t>
            </a:r>
            <a:endParaRPr lang="en-US" altLang="zh-CN" b="1" dirty="0"/>
          </a:p>
          <a:p>
            <a:pPr eaLnBrk="1" hangingPunct="1">
              <a:lnSpc>
                <a:spcPct val="95000"/>
              </a:lnSpc>
              <a:buFont typeface="Wingdings" panose="05000000000000000000" pitchFamily="2" charset="2"/>
              <a:buNone/>
            </a:pPr>
            <a:r>
              <a:rPr lang="en-US" altLang="zh-CN" sz="2800" b="1" dirty="0"/>
              <a:t>   </a:t>
            </a:r>
            <a:endParaRPr lang="en-US" altLang="zh-CN" sz="2800" dirty="0"/>
          </a:p>
        </p:txBody>
      </p:sp>
      <p:graphicFrame>
        <p:nvGraphicFramePr>
          <p:cNvPr id="6148" name="Object 10">
            <a:extLst>
              <a:ext uri="{FF2B5EF4-FFF2-40B4-BE49-F238E27FC236}">
                <a16:creationId xmlns:a16="http://schemas.microsoft.com/office/drawing/2014/main" id="{111A6CD9-DAC1-D9F5-F833-50D72863AF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11363" y="4292600"/>
          <a:ext cx="257175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1468" imgH="114151" progId="Equation.DSMT4">
                  <p:embed/>
                </p:oleObj>
              </mc:Choice>
              <mc:Fallback>
                <p:oleObj name="Equation" r:id="rId2" imgW="101468" imgH="114151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1363" y="4292600"/>
                        <a:ext cx="257175" cy="28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11">
            <a:extLst>
              <a:ext uri="{FF2B5EF4-FFF2-40B4-BE49-F238E27FC236}">
                <a16:creationId xmlns:a16="http://schemas.microsoft.com/office/drawing/2014/main" id="{4DB8E6BB-5348-2399-C636-D2B51B2420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35375" y="4292600"/>
          <a:ext cx="255588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1468" imgH="114151" progId="Equation.DSMT4">
                  <p:embed/>
                </p:oleObj>
              </mc:Choice>
              <mc:Fallback>
                <p:oleObj name="Equation" r:id="rId4" imgW="101468" imgH="114151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4292600"/>
                        <a:ext cx="255588" cy="28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0" name="Object 12">
            <a:extLst>
              <a:ext uri="{FF2B5EF4-FFF2-40B4-BE49-F238E27FC236}">
                <a16:creationId xmlns:a16="http://schemas.microsoft.com/office/drawing/2014/main" id="{9BB885BE-37AA-CDD9-B7F2-93A5B026B8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5875" y="4292600"/>
          <a:ext cx="255588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1468" imgH="114151" progId="Equation.DSMT4">
                  <p:embed/>
                </p:oleObj>
              </mc:Choice>
              <mc:Fallback>
                <p:oleObj name="Equation" r:id="rId5" imgW="101468" imgH="114151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4292600"/>
                        <a:ext cx="255588" cy="28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1" name="Object 13">
            <a:extLst>
              <a:ext uri="{FF2B5EF4-FFF2-40B4-BE49-F238E27FC236}">
                <a16:creationId xmlns:a16="http://schemas.microsoft.com/office/drawing/2014/main" id="{C9A9A3E5-5400-34E8-4F1E-6269103A79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0200" y="4281488"/>
          <a:ext cx="255588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1468" imgH="114151" progId="Equation.DSMT4">
                  <p:embed/>
                </p:oleObj>
              </mc:Choice>
              <mc:Fallback>
                <p:oleObj name="Equation" r:id="rId6" imgW="101468" imgH="114151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4281488"/>
                        <a:ext cx="255588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2" name="对象 2">
            <a:extLst>
              <a:ext uri="{FF2B5EF4-FFF2-40B4-BE49-F238E27FC236}">
                <a16:creationId xmlns:a16="http://schemas.microsoft.com/office/drawing/2014/main" id="{9BC35978-DF18-40C5-A4EC-1EC47767BF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08850" y="2733675"/>
          <a:ext cx="38576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2268" imgH="152268" progId="Equation.DSMT4">
                  <p:embed/>
                </p:oleObj>
              </mc:Choice>
              <mc:Fallback>
                <p:oleObj name="Equation" r:id="rId7" imgW="152268" imgH="152268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850" y="2733675"/>
                        <a:ext cx="385763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3" name="对象 3">
            <a:extLst>
              <a:ext uri="{FF2B5EF4-FFF2-40B4-BE49-F238E27FC236}">
                <a16:creationId xmlns:a16="http://schemas.microsoft.com/office/drawing/2014/main" id="{D02AAB00-65A2-9599-F87D-8716ACBCA7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2725" y="2743200"/>
          <a:ext cx="38576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2268" imgH="152268" progId="Equation.DSMT4">
                  <p:embed/>
                </p:oleObj>
              </mc:Choice>
              <mc:Fallback>
                <p:oleObj name="Equation" r:id="rId9" imgW="152268" imgH="152268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2743200"/>
                        <a:ext cx="385763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4" name="对象 4">
            <a:extLst>
              <a:ext uri="{FF2B5EF4-FFF2-40B4-BE49-F238E27FC236}">
                <a16:creationId xmlns:a16="http://schemas.microsoft.com/office/drawing/2014/main" id="{0CA30586-E791-3BCA-B060-E6F9A59FF3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9475" y="2720975"/>
          <a:ext cx="38576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2268" imgH="152268" progId="Equation.DSMT4">
                  <p:embed/>
                </p:oleObj>
              </mc:Choice>
              <mc:Fallback>
                <p:oleObj name="Equation" r:id="rId10" imgW="152268" imgH="152268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2720975"/>
                        <a:ext cx="385763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5766903-F47A-C7FF-A669-0FF9F579CE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3.9.1 </a:t>
            </a:r>
            <a:r>
              <a:rPr lang="zh-CN" altLang="en-US" sz="5400"/>
              <a:t>复合关系的性质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5E2797AB-3C24-6E2C-16CE-8C4558E036C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844675"/>
            <a:ext cx="8748712" cy="501332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证明</a:t>
            </a:r>
            <a:r>
              <a:rPr lang="zh-CN" altLang="en-US" sz="2800" dirty="0"/>
              <a:t> 任取</a:t>
            </a:r>
            <a:r>
              <a:rPr lang="en-US" altLang="zh-CN" sz="2800" b="1" dirty="0">
                <a:latin typeface="宋体" panose="02010600030101010101" pitchFamily="2" charset="-122"/>
              </a:rPr>
              <a:t>&lt;</a:t>
            </a:r>
            <a:r>
              <a:rPr lang="en-US" altLang="zh-CN" sz="2800" dirty="0" err="1"/>
              <a:t>a,e</a:t>
            </a:r>
            <a:r>
              <a:rPr lang="en-US" altLang="zh-CN" sz="2800" b="1" dirty="0">
                <a:latin typeface="宋体" panose="02010600030101010101" pitchFamily="2" charset="-122"/>
              </a:rPr>
              <a:t>&gt;</a:t>
            </a:r>
            <a:r>
              <a:rPr lang="en-US" altLang="zh-CN" sz="2800" dirty="0"/>
              <a:t>∈</a:t>
            </a:r>
            <a:r>
              <a:rPr lang="en-US" altLang="zh-CN" sz="2800" dirty="0">
                <a:solidFill>
                  <a:schemeClr val="accent1"/>
                </a:solidFill>
              </a:rPr>
              <a:t>(</a:t>
            </a:r>
            <a:r>
              <a:rPr lang="en-US" altLang="zh-CN" sz="2800" dirty="0">
                <a:solidFill>
                  <a:srgbClr val="FF00FF"/>
                </a:solidFill>
              </a:rPr>
              <a:t>R S</a:t>
            </a:r>
            <a:r>
              <a:rPr lang="en-US" altLang="zh-CN" sz="2800" dirty="0">
                <a:solidFill>
                  <a:schemeClr val="accent1"/>
                </a:solidFill>
              </a:rPr>
              <a:t>)</a:t>
            </a:r>
            <a:r>
              <a:rPr lang="en-US" altLang="zh-CN" sz="2800" dirty="0"/>
              <a:t> H</a:t>
            </a:r>
            <a:endParaRPr lang="en-US" altLang="zh-CN" sz="28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ym typeface="Symbol" panose="05050102010706020507" pitchFamily="18" charset="2"/>
              </a:rPr>
              <a:t></a:t>
            </a:r>
            <a:r>
              <a:rPr lang="en-US" altLang="zh-CN" sz="2800" dirty="0"/>
              <a:t>(</a:t>
            </a:r>
            <a:r>
              <a:rPr lang="en-US" altLang="zh-CN" sz="2800" dirty="0">
                <a:sym typeface="Symbol" panose="05050102010706020507" pitchFamily="18" charset="2"/>
              </a:rPr>
              <a:t></a:t>
            </a:r>
            <a:r>
              <a:rPr lang="en-US" altLang="zh-CN" sz="2800" dirty="0" err="1"/>
              <a:t>d∈D</a:t>
            </a:r>
            <a:r>
              <a:rPr lang="en-US" altLang="zh-CN" sz="2800" dirty="0"/>
              <a:t>)</a:t>
            </a:r>
            <a:r>
              <a:rPr lang="en-US" altLang="zh-CN" sz="2800" dirty="0">
                <a:solidFill>
                  <a:schemeClr val="hlink"/>
                </a:solidFill>
              </a:rPr>
              <a:t>(</a:t>
            </a:r>
            <a:r>
              <a:rPr lang="en-US" altLang="zh-CN" sz="2800" b="1" dirty="0">
                <a:latin typeface="宋体" panose="02010600030101010101" pitchFamily="2" charset="-122"/>
              </a:rPr>
              <a:t>&lt;</a:t>
            </a:r>
            <a:r>
              <a:rPr lang="en-US" altLang="zh-CN" sz="2800" dirty="0" err="1"/>
              <a:t>a,</a:t>
            </a:r>
            <a:r>
              <a:rPr lang="en-US" altLang="zh-CN" sz="2800" dirty="0" err="1">
                <a:solidFill>
                  <a:srgbClr val="00B050"/>
                </a:solidFill>
              </a:rPr>
              <a:t>d</a:t>
            </a:r>
            <a:r>
              <a:rPr lang="en-US" altLang="zh-CN" sz="2800" b="1" dirty="0">
                <a:latin typeface="宋体" panose="02010600030101010101" pitchFamily="2" charset="-122"/>
              </a:rPr>
              <a:t>&gt;</a:t>
            </a:r>
            <a:r>
              <a:rPr lang="en-US" altLang="zh-CN" sz="2800" dirty="0"/>
              <a:t>∈</a:t>
            </a:r>
            <a:r>
              <a:rPr lang="en-US" altLang="zh-CN" sz="2800" dirty="0">
                <a:solidFill>
                  <a:srgbClr val="FF00FF"/>
                </a:solidFill>
              </a:rPr>
              <a:t>R S</a:t>
            </a:r>
            <a:r>
              <a:rPr lang="en-US" altLang="zh-CN" sz="2800" dirty="0"/>
              <a:t>∧</a:t>
            </a:r>
            <a:r>
              <a:rPr lang="en-US" altLang="zh-CN" sz="2800" b="1" dirty="0">
                <a:latin typeface="宋体" panose="02010600030101010101" pitchFamily="2" charset="-122"/>
              </a:rPr>
              <a:t>&lt;</a:t>
            </a:r>
            <a:r>
              <a:rPr lang="en-US" altLang="zh-CN" sz="2800" dirty="0" err="1">
                <a:solidFill>
                  <a:srgbClr val="339933"/>
                </a:solidFill>
              </a:rPr>
              <a:t>d</a:t>
            </a:r>
            <a:r>
              <a:rPr lang="en-US" altLang="zh-CN" sz="2800" dirty="0" err="1"/>
              <a:t>,e</a:t>
            </a:r>
            <a:r>
              <a:rPr lang="en-US" altLang="zh-CN" sz="2800" b="1" dirty="0">
                <a:latin typeface="宋体" panose="02010600030101010101" pitchFamily="2" charset="-122"/>
              </a:rPr>
              <a:t>&gt;</a:t>
            </a:r>
            <a:r>
              <a:rPr lang="en-US" altLang="zh-CN" sz="2800" dirty="0"/>
              <a:t>∈H</a:t>
            </a:r>
            <a:r>
              <a:rPr lang="en-US" altLang="zh-CN" sz="2800" dirty="0">
                <a:solidFill>
                  <a:schemeClr val="hlink"/>
                </a:solidFill>
              </a:rPr>
              <a:t>)</a:t>
            </a:r>
            <a:endParaRPr lang="en-US" altLang="zh-CN" sz="2800" dirty="0">
              <a:solidFill>
                <a:schemeClr val="hlink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ym typeface="Symbol" panose="05050102010706020507" pitchFamily="18" charset="2"/>
              </a:rPr>
              <a:t></a:t>
            </a:r>
            <a:r>
              <a:rPr lang="en-US" altLang="zh-CN" sz="2800" dirty="0"/>
              <a:t>(</a:t>
            </a:r>
            <a:r>
              <a:rPr lang="en-US" altLang="zh-CN" sz="2800" dirty="0">
                <a:sym typeface="Symbol" panose="05050102010706020507" pitchFamily="18" charset="2"/>
              </a:rPr>
              <a:t></a:t>
            </a:r>
            <a:r>
              <a:rPr lang="en-US" altLang="zh-CN" sz="2800" dirty="0" err="1"/>
              <a:t>d∈D</a:t>
            </a:r>
            <a:r>
              <a:rPr lang="en-US" altLang="zh-CN" sz="2800" dirty="0"/>
              <a:t>)</a:t>
            </a:r>
            <a:r>
              <a:rPr lang="en-US" altLang="zh-CN" sz="2800" dirty="0">
                <a:solidFill>
                  <a:schemeClr val="hlink"/>
                </a:solidFill>
              </a:rPr>
              <a:t>(</a:t>
            </a:r>
            <a:r>
              <a:rPr lang="en-US" altLang="zh-CN" sz="2800" dirty="0"/>
              <a:t>(</a:t>
            </a:r>
            <a:r>
              <a:rPr lang="en-US" altLang="zh-CN" sz="2800" dirty="0">
                <a:sym typeface="Symbol" panose="05050102010706020507" pitchFamily="18" charset="2"/>
              </a:rPr>
              <a:t></a:t>
            </a:r>
            <a:r>
              <a:rPr lang="en-US" altLang="zh-CN" sz="2800" dirty="0" err="1"/>
              <a:t>b∈B</a:t>
            </a:r>
            <a:r>
              <a:rPr lang="en-US" altLang="zh-CN" sz="2800" dirty="0"/>
              <a:t>)</a:t>
            </a:r>
            <a:r>
              <a:rPr lang="en-US" altLang="zh-CN" sz="2800" dirty="0">
                <a:solidFill>
                  <a:schemeClr val="accent1"/>
                </a:solidFill>
              </a:rPr>
              <a:t>(</a:t>
            </a:r>
            <a:r>
              <a:rPr lang="en-US" altLang="zh-CN" sz="2800" b="1" dirty="0">
                <a:latin typeface="宋体" panose="02010600030101010101" pitchFamily="2" charset="-122"/>
              </a:rPr>
              <a:t>&lt;</a:t>
            </a:r>
            <a:r>
              <a:rPr lang="en-US" altLang="zh-CN" sz="2800" dirty="0" err="1"/>
              <a:t>a,</a:t>
            </a:r>
            <a:r>
              <a:rPr lang="en-US" altLang="zh-CN" sz="2800" dirty="0" err="1">
                <a:solidFill>
                  <a:srgbClr val="7030A0"/>
                </a:solidFill>
              </a:rPr>
              <a:t>b</a:t>
            </a:r>
            <a:r>
              <a:rPr lang="en-US" altLang="zh-CN" sz="2800" b="1" dirty="0">
                <a:latin typeface="宋体" panose="02010600030101010101" pitchFamily="2" charset="-122"/>
              </a:rPr>
              <a:t>&gt;</a:t>
            </a:r>
            <a:r>
              <a:rPr lang="en-US" altLang="zh-CN" sz="2800" dirty="0"/>
              <a:t>∈R∧</a:t>
            </a:r>
            <a:r>
              <a:rPr lang="en-US" altLang="zh-CN" sz="2800" b="1" dirty="0">
                <a:latin typeface="宋体" panose="02010600030101010101" pitchFamily="2" charset="-122"/>
              </a:rPr>
              <a:t>&lt;</a:t>
            </a:r>
            <a:r>
              <a:rPr lang="en-US" altLang="zh-CN" sz="2800" dirty="0" err="1">
                <a:solidFill>
                  <a:srgbClr val="7030A0"/>
                </a:solidFill>
              </a:rPr>
              <a:t>b</a:t>
            </a:r>
            <a:r>
              <a:rPr lang="en-US" altLang="zh-CN" sz="2800" dirty="0" err="1"/>
              <a:t>,d</a:t>
            </a:r>
            <a:r>
              <a:rPr lang="en-US" altLang="zh-CN" sz="2800" b="1" dirty="0">
                <a:latin typeface="宋体" panose="02010600030101010101" pitchFamily="2" charset="-122"/>
              </a:rPr>
              <a:t>&gt;</a:t>
            </a:r>
            <a:r>
              <a:rPr lang="en-US" altLang="zh-CN" sz="2800" dirty="0"/>
              <a:t>∈S</a:t>
            </a:r>
            <a:r>
              <a:rPr lang="en-US" altLang="zh-CN" sz="2800" dirty="0">
                <a:solidFill>
                  <a:schemeClr val="accent1"/>
                </a:solidFill>
              </a:rPr>
              <a:t>)</a:t>
            </a:r>
            <a:r>
              <a:rPr lang="en-US" altLang="zh-CN" sz="2800" dirty="0"/>
              <a:t>∧</a:t>
            </a:r>
            <a:r>
              <a:rPr lang="en-US" altLang="zh-CN" sz="2800" b="1" dirty="0">
                <a:latin typeface="宋体" panose="02010600030101010101" pitchFamily="2" charset="-122"/>
              </a:rPr>
              <a:t>&lt;</a:t>
            </a:r>
            <a:r>
              <a:rPr lang="en-US" altLang="zh-CN" sz="2800" dirty="0" err="1"/>
              <a:t>d,e</a:t>
            </a:r>
            <a:r>
              <a:rPr lang="en-US" altLang="zh-CN" sz="2800" b="1" dirty="0">
                <a:latin typeface="宋体" panose="02010600030101010101" pitchFamily="2" charset="-122"/>
              </a:rPr>
              <a:t>&gt;</a:t>
            </a:r>
            <a:r>
              <a:rPr lang="en-US" altLang="zh-CN" sz="2800" dirty="0"/>
              <a:t>∈H</a:t>
            </a:r>
            <a:r>
              <a:rPr lang="en-US" altLang="zh-CN" sz="2800" dirty="0">
                <a:solidFill>
                  <a:schemeClr val="hlink"/>
                </a:solidFill>
              </a:rPr>
              <a:t>)</a:t>
            </a:r>
            <a:endParaRPr lang="en-US" altLang="zh-CN" sz="2800" dirty="0">
              <a:solidFill>
                <a:schemeClr val="hlink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ym typeface="Symbol" panose="05050102010706020507" pitchFamily="18" charset="2"/>
              </a:rPr>
              <a:t></a:t>
            </a:r>
            <a:r>
              <a:rPr lang="en-US" altLang="zh-CN" sz="2800" dirty="0"/>
              <a:t>(</a:t>
            </a:r>
            <a:r>
              <a:rPr lang="en-US" altLang="zh-CN" sz="2800" dirty="0">
                <a:sym typeface="Symbol" panose="05050102010706020507" pitchFamily="18" charset="2"/>
              </a:rPr>
              <a:t></a:t>
            </a:r>
            <a:r>
              <a:rPr lang="en-US" altLang="zh-CN" sz="2800" dirty="0" err="1"/>
              <a:t>b∈B</a:t>
            </a:r>
            <a:r>
              <a:rPr lang="en-US" altLang="zh-CN" sz="2800" dirty="0"/>
              <a:t>)(</a:t>
            </a:r>
            <a:r>
              <a:rPr lang="en-US" altLang="zh-CN" sz="2800" dirty="0">
                <a:sym typeface="Symbol" panose="05050102010706020507" pitchFamily="18" charset="2"/>
              </a:rPr>
              <a:t></a:t>
            </a:r>
            <a:r>
              <a:rPr lang="en-US" altLang="zh-CN" sz="2800" dirty="0" err="1"/>
              <a:t>d∈D</a:t>
            </a:r>
            <a:r>
              <a:rPr lang="en-US" altLang="zh-CN" sz="2800" dirty="0"/>
              <a:t>)</a:t>
            </a:r>
            <a:r>
              <a:rPr lang="en-US" altLang="zh-CN" sz="2800" dirty="0">
                <a:solidFill>
                  <a:schemeClr val="hlink"/>
                </a:solidFill>
              </a:rPr>
              <a:t>(</a:t>
            </a:r>
            <a:r>
              <a:rPr lang="en-US" altLang="zh-CN" sz="2800" b="1" dirty="0">
                <a:latin typeface="宋体" panose="02010600030101010101" pitchFamily="2" charset="-122"/>
              </a:rPr>
              <a:t>&lt;</a:t>
            </a:r>
            <a:r>
              <a:rPr lang="en-US" altLang="zh-CN" sz="2800" dirty="0" err="1"/>
              <a:t>a,b</a:t>
            </a:r>
            <a:r>
              <a:rPr lang="en-US" altLang="zh-CN" sz="2800" b="1" dirty="0">
                <a:latin typeface="宋体" panose="02010600030101010101" pitchFamily="2" charset="-122"/>
              </a:rPr>
              <a:t>&gt;</a:t>
            </a:r>
            <a:r>
              <a:rPr lang="en-US" altLang="zh-CN" sz="2800" dirty="0"/>
              <a:t>∈R∧</a:t>
            </a:r>
            <a:r>
              <a:rPr lang="en-US" altLang="zh-CN" sz="2800" dirty="0">
                <a:solidFill>
                  <a:srgbClr val="0066FF"/>
                </a:solidFill>
              </a:rPr>
              <a:t>(</a:t>
            </a:r>
            <a:r>
              <a:rPr lang="en-US" altLang="zh-CN" sz="2800" b="1" dirty="0">
                <a:latin typeface="宋体" panose="02010600030101010101" pitchFamily="2" charset="-122"/>
              </a:rPr>
              <a:t>&lt;</a:t>
            </a:r>
            <a:r>
              <a:rPr lang="en-US" altLang="zh-CN" sz="2800" dirty="0" err="1"/>
              <a:t>b,d</a:t>
            </a:r>
            <a:r>
              <a:rPr lang="en-US" altLang="zh-CN" sz="2800" b="1" dirty="0">
                <a:latin typeface="宋体" panose="02010600030101010101" pitchFamily="2" charset="-122"/>
              </a:rPr>
              <a:t>&gt;</a:t>
            </a:r>
            <a:r>
              <a:rPr lang="en-US" altLang="zh-CN" sz="2800" dirty="0"/>
              <a:t>∈S∧</a:t>
            </a:r>
            <a:r>
              <a:rPr lang="en-US" altLang="zh-CN" sz="2800" b="1" dirty="0">
                <a:latin typeface="宋体" panose="02010600030101010101" pitchFamily="2" charset="-122"/>
              </a:rPr>
              <a:t>&lt;</a:t>
            </a:r>
            <a:r>
              <a:rPr lang="en-US" altLang="zh-CN" sz="2800" dirty="0" err="1"/>
              <a:t>d,e</a:t>
            </a:r>
            <a:r>
              <a:rPr lang="en-US" altLang="zh-CN" sz="2800" b="1" dirty="0">
                <a:latin typeface="宋体" panose="02010600030101010101" pitchFamily="2" charset="-122"/>
              </a:rPr>
              <a:t>&gt;</a:t>
            </a:r>
            <a:r>
              <a:rPr lang="en-US" altLang="zh-CN" sz="2800" dirty="0"/>
              <a:t>∈H</a:t>
            </a:r>
            <a:r>
              <a:rPr lang="en-US" altLang="zh-CN" sz="2800" dirty="0">
                <a:solidFill>
                  <a:srgbClr val="0066FF"/>
                </a:solidFill>
              </a:rPr>
              <a:t>)</a:t>
            </a:r>
            <a:r>
              <a:rPr lang="en-US" altLang="zh-CN" sz="2800" dirty="0">
                <a:solidFill>
                  <a:schemeClr val="hlink"/>
                </a:solidFill>
              </a:rPr>
              <a:t>)</a:t>
            </a:r>
            <a:endParaRPr lang="en-US" altLang="zh-CN" sz="2800" dirty="0">
              <a:solidFill>
                <a:schemeClr val="hlink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ym typeface="Symbol" panose="05050102010706020507" pitchFamily="18" charset="2"/>
              </a:rPr>
              <a:t></a:t>
            </a:r>
            <a:r>
              <a:rPr lang="en-US" altLang="zh-CN" sz="2800" dirty="0"/>
              <a:t>(</a:t>
            </a:r>
            <a:r>
              <a:rPr lang="en-US" altLang="zh-CN" sz="2800" dirty="0">
                <a:sym typeface="Symbol" panose="05050102010706020507" pitchFamily="18" charset="2"/>
              </a:rPr>
              <a:t></a:t>
            </a:r>
            <a:r>
              <a:rPr lang="en-US" altLang="zh-CN" sz="2800" dirty="0" err="1"/>
              <a:t>b∈B</a:t>
            </a:r>
            <a:r>
              <a:rPr lang="en-US" altLang="zh-CN" sz="2800" dirty="0"/>
              <a:t>)</a:t>
            </a:r>
            <a:r>
              <a:rPr lang="en-US" altLang="zh-CN" sz="2800" dirty="0">
                <a:solidFill>
                  <a:schemeClr val="hlink"/>
                </a:solidFill>
              </a:rPr>
              <a:t>(</a:t>
            </a:r>
            <a:r>
              <a:rPr lang="en-US" altLang="zh-CN" sz="2800" b="1" dirty="0">
                <a:latin typeface="宋体" panose="02010600030101010101" pitchFamily="2" charset="-122"/>
              </a:rPr>
              <a:t>&lt;</a:t>
            </a:r>
            <a:r>
              <a:rPr lang="en-US" altLang="zh-CN" sz="2800" dirty="0" err="1"/>
              <a:t>a,b</a:t>
            </a:r>
            <a:r>
              <a:rPr lang="en-US" altLang="zh-CN" sz="2800" b="1" dirty="0">
                <a:latin typeface="宋体" panose="02010600030101010101" pitchFamily="2" charset="-122"/>
              </a:rPr>
              <a:t>&gt;</a:t>
            </a:r>
            <a:r>
              <a:rPr lang="en-US" altLang="zh-CN" sz="2800" dirty="0"/>
              <a:t>∈R∧(</a:t>
            </a:r>
            <a:r>
              <a:rPr lang="en-US" altLang="zh-CN" sz="2800" dirty="0">
                <a:sym typeface="Symbol" panose="05050102010706020507" pitchFamily="18" charset="2"/>
              </a:rPr>
              <a:t></a:t>
            </a:r>
            <a:r>
              <a:rPr lang="en-US" altLang="zh-CN" sz="2800" dirty="0" err="1"/>
              <a:t>d∈D</a:t>
            </a:r>
            <a:r>
              <a:rPr lang="en-US" altLang="zh-CN" sz="2800" dirty="0"/>
              <a:t>)</a:t>
            </a:r>
            <a:r>
              <a:rPr lang="en-US" altLang="zh-CN" sz="2800" dirty="0">
                <a:solidFill>
                  <a:srgbClr val="0066FF"/>
                </a:solidFill>
              </a:rPr>
              <a:t>(</a:t>
            </a:r>
            <a:r>
              <a:rPr lang="en-US" altLang="zh-CN" sz="2800" b="1" dirty="0">
                <a:latin typeface="宋体" panose="02010600030101010101" pitchFamily="2" charset="-122"/>
              </a:rPr>
              <a:t>&lt;</a:t>
            </a:r>
            <a:r>
              <a:rPr lang="en-US" altLang="zh-CN" sz="2800" dirty="0" err="1"/>
              <a:t>b,d</a:t>
            </a:r>
            <a:r>
              <a:rPr lang="en-US" altLang="zh-CN" sz="2800" b="1" dirty="0">
                <a:latin typeface="宋体" panose="02010600030101010101" pitchFamily="2" charset="-122"/>
              </a:rPr>
              <a:t>&gt;</a:t>
            </a:r>
            <a:r>
              <a:rPr lang="en-US" altLang="zh-CN" sz="2800" dirty="0"/>
              <a:t>∈S∧</a:t>
            </a:r>
            <a:r>
              <a:rPr lang="en-US" altLang="zh-CN" sz="2800" b="1" dirty="0">
                <a:latin typeface="宋体" panose="02010600030101010101" pitchFamily="2" charset="-122"/>
              </a:rPr>
              <a:t>&lt;</a:t>
            </a:r>
            <a:r>
              <a:rPr lang="en-US" altLang="zh-CN" sz="2800" dirty="0" err="1"/>
              <a:t>d,e</a:t>
            </a:r>
            <a:r>
              <a:rPr lang="en-US" altLang="zh-CN" sz="2800" b="1" dirty="0">
                <a:latin typeface="宋体" panose="02010600030101010101" pitchFamily="2" charset="-122"/>
              </a:rPr>
              <a:t>&gt;</a:t>
            </a:r>
            <a:r>
              <a:rPr lang="en-US" altLang="zh-CN" sz="2800" dirty="0"/>
              <a:t>∈H</a:t>
            </a:r>
            <a:r>
              <a:rPr lang="en-US" altLang="zh-CN" sz="2800" dirty="0">
                <a:solidFill>
                  <a:srgbClr val="0066FF"/>
                </a:solidFill>
              </a:rPr>
              <a:t>)</a:t>
            </a:r>
            <a:r>
              <a:rPr lang="en-US" altLang="zh-CN" sz="2800" dirty="0">
                <a:solidFill>
                  <a:schemeClr val="hlink"/>
                </a:solidFill>
              </a:rPr>
              <a:t>)</a:t>
            </a:r>
            <a:endParaRPr lang="en-US" altLang="zh-CN" sz="2800" dirty="0">
              <a:solidFill>
                <a:schemeClr val="hlink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ym typeface="Symbol" panose="05050102010706020507" pitchFamily="18" charset="2"/>
              </a:rPr>
              <a:t></a:t>
            </a:r>
            <a:r>
              <a:rPr lang="en-US" altLang="zh-CN" sz="2800" dirty="0"/>
              <a:t>(</a:t>
            </a:r>
            <a:r>
              <a:rPr lang="en-US" altLang="zh-CN" sz="2800" dirty="0">
                <a:sym typeface="Symbol" panose="05050102010706020507" pitchFamily="18" charset="2"/>
              </a:rPr>
              <a:t></a:t>
            </a:r>
            <a:r>
              <a:rPr lang="en-US" altLang="zh-CN" sz="2800" dirty="0" err="1"/>
              <a:t>b∈B</a:t>
            </a:r>
            <a:r>
              <a:rPr lang="en-US" altLang="zh-CN" sz="2800" dirty="0"/>
              <a:t>)(</a:t>
            </a:r>
            <a:r>
              <a:rPr lang="en-US" altLang="zh-CN" sz="2800" b="1" dirty="0">
                <a:latin typeface="宋体" panose="02010600030101010101" pitchFamily="2" charset="-122"/>
              </a:rPr>
              <a:t>&lt;</a:t>
            </a:r>
            <a:r>
              <a:rPr lang="en-US" altLang="zh-CN" sz="2800" dirty="0" err="1"/>
              <a:t>a,b</a:t>
            </a:r>
            <a:r>
              <a:rPr lang="en-US" altLang="zh-CN" sz="2800" b="1" dirty="0">
                <a:latin typeface="宋体" panose="02010600030101010101" pitchFamily="2" charset="-122"/>
              </a:rPr>
              <a:t>&gt;</a:t>
            </a:r>
            <a:r>
              <a:rPr lang="en-US" altLang="zh-CN" sz="2800" dirty="0"/>
              <a:t>∈R∧</a:t>
            </a:r>
            <a:r>
              <a:rPr lang="en-US" altLang="zh-CN" sz="2800" b="1" dirty="0">
                <a:latin typeface="宋体" panose="02010600030101010101" pitchFamily="2" charset="-122"/>
              </a:rPr>
              <a:t>&lt;</a:t>
            </a:r>
            <a:r>
              <a:rPr lang="en-US" altLang="zh-CN" sz="2800" dirty="0" err="1"/>
              <a:t>b,e</a:t>
            </a:r>
            <a:r>
              <a:rPr lang="en-US" altLang="zh-CN" sz="2800" b="1" dirty="0">
                <a:latin typeface="宋体" panose="02010600030101010101" pitchFamily="2" charset="-122"/>
              </a:rPr>
              <a:t>&gt;</a:t>
            </a:r>
            <a:r>
              <a:rPr lang="en-US" altLang="zh-CN" sz="2800" dirty="0"/>
              <a:t>∈</a:t>
            </a:r>
            <a:r>
              <a:rPr lang="en-US" altLang="zh-CN" sz="2800" dirty="0">
                <a:solidFill>
                  <a:srgbClr val="FF00FF"/>
                </a:solidFill>
              </a:rPr>
              <a:t>S H</a:t>
            </a:r>
            <a:r>
              <a:rPr lang="en-US" altLang="zh-CN" sz="2800" dirty="0"/>
              <a:t>)</a:t>
            </a:r>
            <a:endParaRPr lang="en-US" altLang="zh-CN" sz="28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ym typeface="Symbol" panose="05050102010706020507" pitchFamily="18" charset="2"/>
              </a:rPr>
              <a:t></a:t>
            </a:r>
            <a:r>
              <a:rPr lang="en-US" altLang="zh-CN" sz="2800" b="1" dirty="0">
                <a:latin typeface="宋体" panose="02010600030101010101" pitchFamily="2" charset="-122"/>
              </a:rPr>
              <a:t>&lt;</a:t>
            </a:r>
            <a:r>
              <a:rPr lang="en-US" altLang="zh-CN" sz="2800" dirty="0" err="1"/>
              <a:t>a,e</a:t>
            </a:r>
            <a:r>
              <a:rPr lang="en-US" altLang="zh-CN" sz="2800" b="1" dirty="0">
                <a:latin typeface="宋体" panose="02010600030101010101" pitchFamily="2" charset="-122"/>
              </a:rPr>
              <a:t>&gt;</a:t>
            </a:r>
            <a:r>
              <a:rPr lang="en-US" altLang="zh-CN" sz="2800" dirty="0"/>
              <a:t>∈R (</a:t>
            </a:r>
            <a:r>
              <a:rPr lang="en-US" altLang="zh-CN" sz="2800" dirty="0">
                <a:solidFill>
                  <a:srgbClr val="FF00FF"/>
                </a:solidFill>
              </a:rPr>
              <a:t>S H</a:t>
            </a:r>
            <a:r>
              <a:rPr lang="en-US" altLang="zh-CN" sz="2800" dirty="0"/>
              <a:t>)</a:t>
            </a:r>
          </a:p>
        </p:txBody>
      </p:sp>
      <p:graphicFrame>
        <p:nvGraphicFramePr>
          <p:cNvPr id="7172" name="Object 8">
            <a:extLst>
              <a:ext uri="{FF2B5EF4-FFF2-40B4-BE49-F238E27FC236}">
                <a16:creationId xmlns:a16="http://schemas.microsoft.com/office/drawing/2014/main" id="{C3314A8F-B9AC-7A18-7401-74413D9F40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1275" y="2146300"/>
          <a:ext cx="255588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1468" imgH="114151" progId="Equation.DSMT4">
                  <p:embed/>
                </p:oleObj>
              </mc:Choice>
              <mc:Fallback>
                <p:oleObj name="Equation" r:id="rId2" imgW="101468" imgH="114151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2146300"/>
                        <a:ext cx="255588" cy="28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Object 9">
            <a:extLst>
              <a:ext uri="{FF2B5EF4-FFF2-40B4-BE49-F238E27FC236}">
                <a16:creationId xmlns:a16="http://schemas.microsoft.com/office/drawing/2014/main" id="{E371BEB0-B3B7-0AC6-68F7-3BB036CAE7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97363" y="2133600"/>
          <a:ext cx="255587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1468" imgH="114151" progId="Equation.DSMT4">
                  <p:embed/>
                </p:oleObj>
              </mc:Choice>
              <mc:Fallback>
                <p:oleObj name="Equation" r:id="rId4" imgW="101468" imgH="114151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7363" y="2133600"/>
                        <a:ext cx="255587" cy="28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4" name="Object 10">
            <a:extLst>
              <a:ext uri="{FF2B5EF4-FFF2-40B4-BE49-F238E27FC236}">
                <a16:creationId xmlns:a16="http://schemas.microsoft.com/office/drawing/2014/main" id="{76622F57-9094-EEE9-2A32-2976CBE6FF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22675" y="2852738"/>
          <a:ext cx="255588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1468" imgH="114151" progId="Equation.DSMT4">
                  <p:embed/>
                </p:oleObj>
              </mc:Choice>
              <mc:Fallback>
                <p:oleObj name="Equation" r:id="rId5" imgW="101468" imgH="114151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2675" y="2852738"/>
                        <a:ext cx="255588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5" name="Object 11">
            <a:extLst>
              <a:ext uri="{FF2B5EF4-FFF2-40B4-BE49-F238E27FC236}">
                <a16:creationId xmlns:a16="http://schemas.microsoft.com/office/drawing/2014/main" id="{0A9E2CC8-123F-3F5E-7684-735D963BD2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1761695"/>
              </p:ext>
            </p:extLst>
          </p:nvPr>
        </p:nvGraphicFramePr>
        <p:xfrm>
          <a:off x="5220072" y="5751513"/>
          <a:ext cx="255587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1468" imgH="114151" progId="Equation.DSMT4">
                  <p:embed/>
                </p:oleObj>
              </mc:Choice>
              <mc:Fallback>
                <p:oleObj name="Equation" r:id="rId6" imgW="101468" imgH="114151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0072" y="5751513"/>
                        <a:ext cx="255587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6" name="Object 12">
            <a:extLst>
              <a:ext uri="{FF2B5EF4-FFF2-40B4-BE49-F238E27FC236}">
                <a16:creationId xmlns:a16="http://schemas.microsoft.com/office/drawing/2014/main" id="{C26FC5C6-154B-6985-0511-22D49B1EB3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52713" y="6491288"/>
          <a:ext cx="255587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1468" imgH="114151" progId="Equation.DSMT4">
                  <p:embed/>
                </p:oleObj>
              </mc:Choice>
              <mc:Fallback>
                <p:oleObj name="Equation" r:id="rId7" imgW="101468" imgH="114151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2713" y="6491288"/>
                        <a:ext cx="255587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7" name="Object 13">
            <a:extLst>
              <a:ext uri="{FF2B5EF4-FFF2-40B4-BE49-F238E27FC236}">
                <a16:creationId xmlns:a16="http://schemas.microsoft.com/office/drawing/2014/main" id="{8FCB4D39-C333-F2A3-019C-DB12822E75E9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195513" y="6491288"/>
          <a:ext cx="255587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1468" imgH="114151" progId="Equation.DSMT4">
                  <p:embed/>
                </p:oleObj>
              </mc:Choice>
              <mc:Fallback>
                <p:oleObj name="Equation" r:id="rId8" imgW="101468" imgH="114151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6491288"/>
                        <a:ext cx="255587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8">
            <a:extLst>
              <a:ext uri="{FF2B5EF4-FFF2-40B4-BE49-F238E27FC236}">
                <a16:creationId xmlns:a16="http://schemas.microsoft.com/office/drawing/2014/main" id="{C868153A-9EA0-2072-BB39-680C8726EA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3.9.1 </a:t>
            </a:r>
            <a:r>
              <a:rPr lang="zh-CN" altLang="en-US" sz="5400"/>
              <a:t>复合关系的性质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5791344A-79A5-725D-F6E1-3ACE1CE81AD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2060575"/>
            <a:ext cx="8675687" cy="4797425"/>
          </a:xfrm>
        </p:spPr>
        <p:txBody>
          <a:bodyPr/>
          <a:lstStyle/>
          <a:p>
            <a:pPr eaLnBrk="1" hangingPunct="1">
              <a:lnSpc>
                <a:spcPct val="250000"/>
              </a:lnSpc>
            </a:pPr>
            <a:r>
              <a:rPr lang="zh-CN" altLang="en-US" dirty="0"/>
              <a:t>设</a:t>
            </a:r>
            <a:r>
              <a:rPr lang="en-US" altLang="zh-CN" dirty="0"/>
              <a:t>R</a:t>
            </a:r>
            <a:r>
              <a:rPr lang="zh-CN" altLang="en-US" dirty="0"/>
              <a:t>   </a:t>
            </a:r>
            <a:r>
              <a:rPr lang="en-US" altLang="zh-CN" dirty="0"/>
              <a:t>A×A</a:t>
            </a:r>
            <a:r>
              <a:rPr lang="zh-CN" altLang="en-US" dirty="0"/>
              <a:t>，</a:t>
            </a:r>
            <a:r>
              <a:rPr lang="en-US" altLang="zh-CN" dirty="0"/>
              <a:t>n</a:t>
            </a:r>
            <a:r>
              <a:rPr lang="zh-CN" altLang="en-US" dirty="0"/>
              <a:t>为非负整数，定义</a:t>
            </a:r>
            <a:r>
              <a:rPr lang="en-US" altLang="zh-CN" dirty="0">
                <a:solidFill>
                  <a:schemeClr val="hlink"/>
                </a:solidFill>
              </a:rPr>
              <a:t>R</a:t>
            </a:r>
            <a:r>
              <a:rPr lang="zh-CN" altLang="en-US" dirty="0">
                <a:solidFill>
                  <a:schemeClr val="hlink"/>
                </a:solidFill>
              </a:rPr>
              <a:t>的</a:t>
            </a:r>
            <a:r>
              <a:rPr lang="en-US" altLang="zh-CN" dirty="0">
                <a:solidFill>
                  <a:schemeClr val="hlink"/>
                </a:solidFill>
              </a:rPr>
              <a:t>n</a:t>
            </a:r>
            <a:r>
              <a:rPr lang="zh-CN" altLang="en-US" b="1" dirty="0">
                <a:solidFill>
                  <a:schemeClr val="hlink"/>
                </a:solidFill>
              </a:rPr>
              <a:t>次幂</a:t>
            </a:r>
            <a:r>
              <a:rPr lang="zh-CN" altLang="en-US" dirty="0"/>
              <a:t> </a:t>
            </a:r>
          </a:p>
          <a:p>
            <a:pPr eaLnBrk="1" hangingPunct="1">
              <a:lnSpc>
                <a:spcPct val="25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            </a:t>
            </a:r>
            <a:r>
              <a:rPr lang="en-US" altLang="zh-CN" dirty="0">
                <a:solidFill>
                  <a:schemeClr val="accent1"/>
                </a:solidFill>
              </a:rPr>
              <a:t>R</a:t>
            </a:r>
            <a:r>
              <a:rPr lang="en-US" altLang="zh-CN" baseline="30000" dirty="0">
                <a:solidFill>
                  <a:schemeClr val="accent1"/>
                </a:solidFill>
              </a:rPr>
              <a:t>n</a:t>
            </a:r>
            <a:r>
              <a:rPr lang="zh-CN" altLang="en-US" dirty="0"/>
              <a:t>＝</a:t>
            </a:r>
          </a:p>
          <a:p>
            <a:pPr eaLnBrk="1" hangingPunct="1">
              <a:lnSpc>
                <a:spcPct val="25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 约定    </a:t>
            </a:r>
            <a:r>
              <a:rPr lang="en-US" altLang="zh-CN" dirty="0">
                <a:solidFill>
                  <a:srgbClr val="0000FF"/>
                </a:solidFill>
              </a:rPr>
              <a:t>R</a:t>
            </a:r>
            <a:r>
              <a:rPr lang="en-US" altLang="zh-CN" baseline="30000" dirty="0">
                <a:solidFill>
                  <a:srgbClr val="0000FF"/>
                </a:solidFill>
              </a:rPr>
              <a:t>0</a:t>
            </a:r>
            <a:r>
              <a:rPr lang="zh-CN" altLang="en-US" dirty="0"/>
              <a:t>＝</a:t>
            </a:r>
            <a:r>
              <a:rPr lang="en-US" altLang="zh-CN" dirty="0"/>
              <a:t>I</a:t>
            </a:r>
            <a:r>
              <a:rPr lang="en-US" altLang="zh-CN" baseline="-25000" dirty="0"/>
              <a:t>A</a:t>
            </a:r>
            <a:endParaRPr lang="en-US" altLang="zh-CN" b="1" dirty="0"/>
          </a:p>
        </p:txBody>
      </p:sp>
      <p:graphicFrame>
        <p:nvGraphicFramePr>
          <p:cNvPr id="8196" name="Object 4">
            <a:extLst>
              <a:ext uri="{FF2B5EF4-FFF2-40B4-BE49-F238E27FC236}">
                <a16:creationId xmlns:a16="http://schemas.microsoft.com/office/drawing/2014/main" id="{48C4F073-B0E9-6508-E08C-03A29956B272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3276600" y="3789363"/>
          <a:ext cx="1809750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87058" imgH="355446" progId="Equation.DSMT4">
                  <p:embed/>
                </p:oleObj>
              </mc:Choice>
              <mc:Fallback>
                <p:oleObj name="Equation" r:id="rId2" imgW="787058" imgH="355446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789363"/>
                        <a:ext cx="1809750" cy="81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对象 1">
            <a:extLst>
              <a:ext uri="{FF2B5EF4-FFF2-40B4-BE49-F238E27FC236}">
                <a16:creationId xmlns:a16="http://schemas.microsoft.com/office/drawing/2014/main" id="{BBC56A0D-8820-346C-36DD-066FA574C6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2687638"/>
          <a:ext cx="385762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68" imgH="152268" progId="Equation.DSMT4">
                  <p:embed/>
                </p:oleObj>
              </mc:Choice>
              <mc:Fallback>
                <p:oleObj name="Equation" r:id="rId4" imgW="152268" imgH="152268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2687638"/>
                        <a:ext cx="385762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E953A3A4-9687-CF8E-3093-983BE08FC7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3.9.1 </a:t>
            </a:r>
            <a:r>
              <a:rPr lang="zh-CN" altLang="en-US" sz="5400"/>
              <a:t>复合关系的性质</a:t>
            </a:r>
          </a:p>
        </p:txBody>
      </p:sp>
      <p:sp>
        <p:nvSpPr>
          <p:cNvPr id="214019" name="Rectangle 3">
            <a:extLst>
              <a:ext uri="{FF2B5EF4-FFF2-40B4-BE49-F238E27FC236}">
                <a16:creationId xmlns:a16="http://schemas.microsoft.com/office/drawing/2014/main" id="{94F87C0E-3EBD-31CD-1B37-D6767BA5095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844675"/>
            <a:ext cx="8748712" cy="5013325"/>
          </a:xfrm>
        </p:spPr>
        <p:txBody>
          <a:bodyPr/>
          <a:lstStyle/>
          <a:p>
            <a:pPr eaLnBrk="1" hangingPunct="1">
              <a:lnSpc>
                <a:spcPct val="180000"/>
              </a:lnSpc>
              <a:defRPr/>
            </a:pPr>
            <a:r>
              <a:rPr lang="zh-CN" altLang="en-US" b="1" dirty="0">
                <a:solidFill>
                  <a:schemeClr val="hlink"/>
                </a:solidFill>
              </a:rPr>
              <a:t>递归</a:t>
            </a:r>
            <a:r>
              <a:rPr lang="zh-CN" altLang="en-US" dirty="0"/>
              <a:t>定义</a:t>
            </a:r>
            <a:r>
              <a:rPr lang="en-US" altLang="zh-CN" dirty="0">
                <a:solidFill>
                  <a:schemeClr val="accent1"/>
                </a:solidFill>
              </a:rPr>
              <a:t>R</a:t>
            </a:r>
            <a:r>
              <a:rPr lang="zh-CN" altLang="en-US" dirty="0">
                <a:solidFill>
                  <a:schemeClr val="accent1"/>
                </a:solidFill>
              </a:rPr>
              <a:t>的</a:t>
            </a:r>
            <a:r>
              <a:rPr lang="en-US" altLang="zh-CN" dirty="0">
                <a:solidFill>
                  <a:schemeClr val="accent1"/>
                </a:solidFill>
              </a:rPr>
              <a:t>n</a:t>
            </a:r>
            <a:r>
              <a:rPr lang="zh-CN" altLang="en-US" dirty="0">
                <a:solidFill>
                  <a:schemeClr val="accent1"/>
                </a:solidFill>
              </a:rPr>
              <a:t>次幂</a:t>
            </a:r>
            <a:r>
              <a:rPr lang="en-US" altLang="zh-CN" dirty="0"/>
              <a:t>(n</a:t>
            </a:r>
            <a:r>
              <a:rPr lang="zh-CN" altLang="en-US" dirty="0"/>
              <a:t>为非负整数</a:t>
            </a:r>
            <a:r>
              <a:rPr lang="en-US" altLang="zh-CN" dirty="0"/>
              <a:t>)</a:t>
            </a:r>
          </a:p>
          <a:p>
            <a:pPr marL="0" indent="0" eaLnBrk="1" hangingPunct="1">
              <a:lnSpc>
                <a:spcPct val="1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   (1) </a:t>
            </a:r>
            <a:r>
              <a:rPr lang="en-US" altLang="zh-CN" dirty="0">
                <a:solidFill>
                  <a:srgbClr val="0000FF"/>
                </a:solidFill>
              </a:rPr>
              <a:t>R</a:t>
            </a:r>
            <a:r>
              <a:rPr lang="en-US" altLang="zh-CN" baseline="30000" dirty="0">
                <a:solidFill>
                  <a:srgbClr val="0000FF"/>
                </a:solidFill>
              </a:rPr>
              <a:t>0</a:t>
            </a:r>
            <a:r>
              <a:rPr lang="zh-CN" altLang="en-US" dirty="0"/>
              <a:t>＝</a:t>
            </a:r>
            <a:r>
              <a:rPr lang="en-US" altLang="zh-CN" dirty="0"/>
              <a:t>I</a:t>
            </a:r>
            <a:r>
              <a:rPr lang="en-US" altLang="zh-CN" baseline="-25000" dirty="0"/>
              <a:t>A</a:t>
            </a:r>
          </a:p>
          <a:p>
            <a:pPr marL="0" indent="0" eaLnBrk="1" hangingPunct="1">
              <a:lnSpc>
                <a:spcPct val="1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   (2)</a:t>
            </a:r>
            <a:r>
              <a:rPr lang="en-US" altLang="zh-CN" dirty="0">
                <a:solidFill>
                  <a:srgbClr val="FF00FF"/>
                </a:solidFill>
              </a:rPr>
              <a:t> </a:t>
            </a:r>
            <a:r>
              <a:rPr lang="en-US" altLang="zh-CN" dirty="0" err="1">
                <a:solidFill>
                  <a:srgbClr val="FF00FF"/>
                </a:solidFill>
              </a:rPr>
              <a:t>R</a:t>
            </a:r>
            <a:r>
              <a:rPr lang="en-US" altLang="zh-CN" baseline="30000" dirty="0" err="1">
                <a:solidFill>
                  <a:srgbClr val="FF00FF"/>
                </a:solidFill>
              </a:rPr>
              <a:t>n</a:t>
            </a:r>
            <a:r>
              <a:rPr lang="zh-CN" altLang="en-US" dirty="0"/>
              <a:t>＝</a:t>
            </a:r>
            <a:r>
              <a:rPr lang="en-US" altLang="zh-CN" dirty="0"/>
              <a:t>R</a:t>
            </a:r>
            <a:r>
              <a:rPr lang="en-US" altLang="zh-CN" baseline="30000" dirty="0"/>
              <a:t>n-1</a:t>
            </a:r>
            <a:r>
              <a:rPr lang="en-US" altLang="zh-CN" dirty="0"/>
              <a:t>  R </a:t>
            </a:r>
          </a:p>
          <a:p>
            <a:pPr eaLnBrk="1" hangingPunct="1">
              <a:lnSpc>
                <a:spcPct val="180000"/>
              </a:lnSpc>
              <a:defRPr/>
            </a:pPr>
            <a:r>
              <a:rPr lang="zh-CN" altLang="en-US" dirty="0">
                <a:solidFill>
                  <a:srgbClr val="FF0000"/>
                </a:solidFill>
              </a:rPr>
              <a:t>易证</a:t>
            </a:r>
            <a:r>
              <a:rPr lang="zh-CN" altLang="en-US" dirty="0"/>
              <a:t>① </a:t>
            </a:r>
            <a:r>
              <a:rPr lang="en-US" altLang="zh-CN" dirty="0" err="1"/>
              <a:t>R</a:t>
            </a:r>
            <a:r>
              <a:rPr lang="en-US" altLang="zh-CN" baseline="30000" dirty="0" err="1"/>
              <a:t>m</a:t>
            </a:r>
            <a:r>
              <a:rPr lang="en-US" altLang="zh-CN" baseline="30000" dirty="0"/>
              <a:t> </a:t>
            </a:r>
            <a:r>
              <a:rPr lang="en-US" altLang="zh-CN" dirty="0"/>
              <a:t> </a:t>
            </a:r>
            <a:r>
              <a:rPr lang="en-US" altLang="zh-CN" dirty="0" err="1"/>
              <a:t>R</a:t>
            </a:r>
            <a:r>
              <a:rPr lang="en-US" altLang="zh-CN" baseline="30000" dirty="0" err="1"/>
              <a:t>n</a:t>
            </a:r>
            <a:r>
              <a:rPr lang="zh-CN" altLang="en-US" dirty="0"/>
              <a:t>＝</a:t>
            </a:r>
            <a:r>
              <a:rPr lang="en-US" altLang="zh-CN" dirty="0" err="1"/>
              <a:t>R</a:t>
            </a:r>
            <a:r>
              <a:rPr lang="en-US" altLang="zh-CN" baseline="30000" dirty="0" err="1"/>
              <a:t>m+n</a:t>
            </a:r>
            <a:r>
              <a:rPr lang="en-US" altLang="zh-CN" dirty="0"/>
              <a:t>(m</a:t>
            </a:r>
            <a:r>
              <a:rPr lang="zh-CN" altLang="en-US" dirty="0"/>
              <a:t>与</a:t>
            </a:r>
            <a:r>
              <a:rPr lang="en-US" altLang="zh-CN" dirty="0"/>
              <a:t>n</a:t>
            </a:r>
            <a:r>
              <a:rPr lang="zh-CN" altLang="en-US" dirty="0"/>
              <a:t>均为非负整数</a:t>
            </a:r>
            <a:r>
              <a:rPr lang="en-US" altLang="zh-CN" dirty="0"/>
              <a:t>)</a:t>
            </a:r>
          </a:p>
          <a:p>
            <a:pPr eaLnBrk="1" hangingPunct="1">
              <a:lnSpc>
                <a:spcPct val="1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② (</a:t>
            </a:r>
            <a:r>
              <a:rPr lang="en-US" altLang="zh-CN" dirty="0" err="1"/>
              <a:t>R</a:t>
            </a:r>
            <a:r>
              <a:rPr lang="en-US" altLang="zh-CN" baseline="30000" dirty="0" err="1"/>
              <a:t>m</a:t>
            </a:r>
            <a:r>
              <a:rPr lang="en-US" altLang="zh-CN" dirty="0"/>
              <a:t>)</a:t>
            </a:r>
            <a:r>
              <a:rPr lang="en-US" altLang="zh-CN" baseline="30000" dirty="0"/>
              <a:t>n</a:t>
            </a:r>
            <a:r>
              <a:rPr lang="zh-CN" altLang="en-US" dirty="0"/>
              <a:t>＝</a:t>
            </a:r>
            <a:r>
              <a:rPr lang="en-US" altLang="zh-CN" dirty="0" err="1"/>
              <a:t>R</a:t>
            </a:r>
            <a:r>
              <a:rPr lang="en-US" altLang="zh-CN" baseline="30000" dirty="0" err="1"/>
              <a:t>mn</a:t>
            </a:r>
            <a:r>
              <a:rPr lang="en-US" altLang="zh-CN" baseline="30000" dirty="0"/>
              <a:t>    </a:t>
            </a:r>
            <a:r>
              <a:rPr lang="en-US" altLang="zh-CN" dirty="0"/>
              <a:t>(m</a:t>
            </a:r>
            <a:r>
              <a:rPr lang="zh-CN" altLang="en-US" dirty="0"/>
              <a:t>与</a:t>
            </a:r>
            <a:r>
              <a:rPr lang="en-US" altLang="zh-CN" dirty="0"/>
              <a:t>n</a:t>
            </a:r>
            <a:r>
              <a:rPr lang="zh-CN" altLang="en-US" dirty="0"/>
              <a:t>均为非负整数</a:t>
            </a:r>
            <a:r>
              <a:rPr lang="en-US" altLang="zh-CN" dirty="0"/>
              <a:t>)</a:t>
            </a:r>
          </a:p>
        </p:txBody>
      </p:sp>
      <p:graphicFrame>
        <p:nvGraphicFramePr>
          <p:cNvPr id="9220" name="Object 5">
            <a:extLst>
              <a:ext uri="{FF2B5EF4-FFF2-40B4-BE49-F238E27FC236}">
                <a16:creationId xmlns:a16="http://schemas.microsoft.com/office/drawing/2014/main" id="{7A84F9AE-BD53-5EA7-A5F5-07EE941F6208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4381500" y="4267200"/>
          <a:ext cx="255588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1468" imgH="114151" progId="Equation.DSMT4">
                  <p:embed/>
                </p:oleObj>
              </mc:Choice>
              <mc:Fallback>
                <p:oleObj name="Equation" r:id="rId2" imgW="101468" imgH="114151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0" y="4267200"/>
                        <a:ext cx="255588" cy="28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Object 6">
            <a:extLst>
              <a:ext uri="{FF2B5EF4-FFF2-40B4-BE49-F238E27FC236}">
                <a16:creationId xmlns:a16="http://schemas.microsoft.com/office/drawing/2014/main" id="{CD6161BD-AB65-05F6-DEAB-65F84A9238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7313" y="5241925"/>
          <a:ext cx="255587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1468" imgH="114151" progId="Equation.DSMT4">
                  <p:embed/>
                </p:oleObj>
              </mc:Choice>
              <mc:Fallback>
                <p:oleObj name="Equation" r:id="rId4" imgW="101468" imgH="114151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5241925"/>
                        <a:ext cx="255587" cy="28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>
            <a:extLst>
              <a:ext uri="{FF2B5EF4-FFF2-40B4-BE49-F238E27FC236}">
                <a16:creationId xmlns:a16="http://schemas.microsoft.com/office/drawing/2014/main" id="{56A8AD30-446F-0E0E-6FE8-C0ACB56C9E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3.9.1 </a:t>
            </a:r>
            <a:r>
              <a:rPr lang="zh-CN" altLang="en-US" sz="5400"/>
              <a:t>复合关系的性质</a:t>
            </a:r>
          </a:p>
        </p:txBody>
      </p:sp>
      <p:sp>
        <p:nvSpPr>
          <p:cNvPr id="149509" name="Rectangle 5">
            <a:extLst>
              <a:ext uri="{FF2B5EF4-FFF2-40B4-BE49-F238E27FC236}">
                <a16:creationId xmlns:a16="http://schemas.microsoft.com/office/drawing/2014/main" id="{BABE4882-7998-FB26-B222-8112774F002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844675"/>
            <a:ext cx="5113337" cy="5013325"/>
          </a:xfrm>
        </p:spPr>
        <p:txBody>
          <a:bodyPr/>
          <a:lstStyle/>
          <a:p>
            <a:pPr eaLnBrk="1" hangingPunct="1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FF0000"/>
                </a:solidFill>
              </a:rPr>
              <a:t>设</a:t>
            </a:r>
            <a:r>
              <a:rPr lang="zh-CN" altLang="en-US" dirty="0"/>
              <a:t>   </a:t>
            </a:r>
            <a:r>
              <a:rPr lang="en-US" altLang="zh-CN" dirty="0"/>
              <a:t>R</a:t>
            </a:r>
            <a:r>
              <a:rPr lang="zh-CN" altLang="en-US" dirty="0"/>
              <a:t>   </a:t>
            </a:r>
            <a:r>
              <a:rPr lang="en-US" altLang="zh-CN" dirty="0"/>
              <a:t>A×A</a:t>
            </a:r>
            <a:endParaRPr lang="en-US" altLang="zh-CN" dirty="0">
              <a:latin typeface="宋体" pitchFamily="2" charset="-122"/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>
                <a:latin typeface="宋体" pitchFamily="2" charset="-122"/>
              </a:rPr>
              <a:t>  若  </a:t>
            </a:r>
            <a:r>
              <a:rPr lang="en-US" altLang="zh-CN" dirty="0"/>
              <a:t>xRx</a:t>
            </a:r>
            <a:r>
              <a:rPr lang="en-US" altLang="zh-CN" baseline="-25000" dirty="0"/>
              <a:t>1</a:t>
            </a:r>
            <a:r>
              <a:rPr lang="en-US" altLang="zh-CN" dirty="0">
                <a:latin typeface="宋体" pitchFamily="2" charset="-122"/>
              </a:rPr>
              <a:t>,</a:t>
            </a:r>
            <a:r>
              <a:rPr lang="en-US" altLang="zh-CN" dirty="0"/>
              <a:t>x</a:t>
            </a:r>
            <a:r>
              <a:rPr lang="en-US" altLang="zh-CN" baseline="-25000" dirty="0"/>
              <a:t>1</a:t>
            </a:r>
            <a:r>
              <a:rPr lang="en-US" altLang="zh-CN" dirty="0"/>
              <a:t>Rx</a:t>
            </a:r>
            <a:r>
              <a:rPr lang="en-US" altLang="zh-CN" baseline="-25000" dirty="0"/>
              <a:t>2</a:t>
            </a:r>
            <a:r>
              <a:rPr lang="en-US" altLang="zh-CN" dirty="0">
                <a:latin typeface="宋体" pitchFamily="2" charset="-122"/>
              </a:rPr>
              <a:t>,</a:t>
            </a:r>
            <a:r>
              <a:rPr lang="en-US" altLang="zh-CN" dirty="0">
                <a:latin typeface="Arial"/>
              </a:rPr>
              <a:t>…</a:t>
            </a:r>
            <a:r>
              <a:rPr lang="en-US" altLang="zh-CN" dirty="0">
                <a:latin typeface="宋体" pitchFamily="2" charset="-122"/>
              </a:rPr>
              <a:t>,</a:t>
            </a:r>
            <a:r>
              <a:rPr lang="en-US" altLang="zh-CN" dirty="0"/>
              <a:t>x</a:t>
            </a:r>
            <a:r>
              <a:rPr lang="en-US" altLang="zh-CN" baseline="-25000" dirty="0"/>
              <a:t>n-1</a:t>
            </a:r>
            <a:r>
              <a:rPr lang="en-US" altLang="zh-CN" dirty="0"/>
              <a:t>Ry</a:t>
            </a: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则   </a:t>
            </a:r>
            <a:r>
              <a:rPr lang="en-US" altLang="zh-CN" dirty="0" err="1"/>
              <a:t>xR</a:t>
            </a:r>
            <a:r>
              <a:rPr lang="en-US" altLang="zh-CN" baseline="30000" dirty="0" err="1"/>
              <a:t>n</a:t>
            </a:r>
            <a:r>
              <a:rPr lang="en-US" altLang="zh-CN" dirty="0" err="1"/>
              <a:t>y</a:t>
            </a:r>
            <a:endParaRPr lang="zh-CN" altLang="en-US" dirty="0"/>
          </a:p>
          <a:p>
            <a:pPr eaLnBrk="1" hangingPunct="1">
              <a:lnSpc>
                <a:spcPct val="125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3.9.2</a:t>
            </a:r>
            <a:r>
              <a:rPr lang="zh-CN" altLang="en-US" dirty="0"/>
              <a:t>设</a:t>
            </a:r>
            <a:r>
              <a:rPr lang="en-US" altLang="zh-CN" dirty="0"/>
              <a:t>A</a:t>
            </a:r>
            <a:r>
              <a:rPr lang="zh-CN" altLang="en-US" dirty="0"/>
              <a:t>＝</a:t>
            </a:r>
            <a:r>
              <a:rPr lang="en-US" altLang="zh-CN" dirty="0"/>
              <a:t>{1,2,3,4}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R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1,2</a:t>
            </a:r>
            <a:r>
              <a:rPr lang="en-US" altLang="zh-CN" b="1" dirty="0">
                <a:latin typeface="+mn-ea"/>
              </a:rPr>
              <a:t>&gt;</a:t>
            </a:r>
            <a:r>
              <a:rPr lang="en-US" altLang="zh-CN" dirty="0">
                <a:latin typeface="+mn-ea"/>
              </a:rPr>
              <a:t>,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   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>
                <a:latin typeface="宋体" pitchFamily="2" charset="-122"/>
              </a:rPr>
              <a:t>&lt;</a:t>
            </a:r>
            <a:r>
              <a:rPr lang="en-US" altLang="zh-CN" dirty="0"/>
              <a:t>3,4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4,3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}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则</a:t>
            </a:r>
            <a:r>
              <a:rPr lang="en-US" altLang="zh-CN" dirty="0"/>
              <a:t>R</a:t>
            </a:r>
            <a:r>
              <a:rPr lang="en-US" altLang="zh-CN" baseline="30000" dirty="0"/>
              <a:t>5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1,3</a:t>
            </a:r>
            <a:r>
              <a:rPr lang="en-US" altLang="zh-CN" b="1" dirty="0">
                <a:latin typeface="+mn-ea"/>
              </a:rPr>
              <a:t>&gt;</a:t>
            </a:r>
            <a:r>
              <a:rPr lang="en-US" altLang="zh-CN" dirty="0">
                <a:latin typeface="+mn-ea"/>
              </a:rPr>
              <a:t>,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latin typeface="宋体" pitchFamily="2" charset="-122"/>
              </a:rPr>
              <a:t>   &lt;</a:t>
            </a:r>
            <a:r>
              <a:rPr lang="en-US" altLang="zh-CN" dirty="0"/>
              <a:t>1,4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3,4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4,3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}</a:t>
            </a:r>
          </a:p>
        </p:txBody>
      </p:sp>
      <p:sp>
        <p:nvSpPr>
          <p:cNvPr id="10244" name="Rectangle 6">
            <a:extLst>
              <a:ext uri="{FF2B5EF4-FFF2-40B4-BE49-F238E27FC236}">
                <a16:creationId xmlns:a16="http://schemas.microsoft.com/office/drawing/2014/main" id="{FE74228F-9DF4-93C6-8D3B-0336477F558C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5724525" y="2060575"/>
            <a:ext cx="3230563" cy="4681538"/>
          </a:xfrm>
        </p:spPr>
        <p:txBody>
          <a:bodyPr/>
          <a:lstStyle/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</p:txBody>
      </p:sp>
      <p:sp>
        <p:nvSpPr>
          <p:cNvPr id="10245" name="Oval 7">
            <a:extLst>
              <a:ext uri="{FF2B5EF4-FFF2-40B4-BE49-F238E27FC236}">
                <a16:creationId xmlns:a16="http://schemas.microsoft.com/office/drawing/2014/main" id="{3CC6E29E-FC7E-CE4B-0C15-564E03CC9F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2950" y="3141663"/>
            <a:ext cx="111125" cy="1111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246" name="Oval 8">
            <a:extLst>
              <a:ext uri="{FF2B5EF4-FFF2-40B4-BE49-F238E27FC236}">
                <a16:creationId xmlns:a16="http://schemas.microsoft.com/office/drawing/2014/main" id="{0114EF15-35F6-9768-8FFD-290AA271A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388" y="5118100"/>
            <a:ext cx="111125" cy="1111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247" name="Oval 9">
            <a:extLst>
              <a:ext uri="{FF2B5EF4-FFF2-40B4-BE49-F238E27FC236}">
                <a16:creationId xmlns:a16="http://schemas.microsoft.com/office/drawing/2014/main" id="{6CECF7EF-206A-07FC-43F1-6ECF829B4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5788" y="4181475"/>
            <a:ext cx="111125" cy="1111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248" name="Oval 10">
            <a:extLst>
              <a:ext uri="{FF2B5EF4-FFF2-40B4-BE49-F238E27FC236}">
                <a16:creationId xmlns:a16="http://schemas.microsoft.com/office/drawing/2014/main" id="{27110925-793E-1978-1174-94A61E8CD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4110038"/>
            <a:ext cx="111125" cy="1111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249" name="Line 18">
            <a:extLst>
              <a:ext uri="{FF2B5EF4-FFF2-40B4-BE49-F238E27FC236}">
                <a16:creationId xmlns:a16="http://schemas.microsoft.com/office/drawing/2014/main" id="{7D9C8421-2C31-482B-5333-BCB378279BDA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4388" y="3213100"/>
            <a:ext cx="1079500" cy="1008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50" name="Line 20">
            <a:extLst>
              <a:ext uri="{FF2B5EF4-FFF2-40B4-BE49-F238E27FC236}">
                <a16:creationId xmlns:a16="http://schemas.microsoft.com/office/drawing/2014/main" id="{87907AEF-08D6-F7C1-4CA8-A300F05A92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35825" y="4292600"/>
            <a:ext cx="1008063" cy="865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51" name="Freeform 22">
            <a:extLst>
              <a:ext uri="{FF2B5EF4-FFF2-40B4-BE49-F238E27FC236}">
                <a16:creationId xmlns:a16="http://schemas.microsoft.com/office/drawing/2014/main" id="{F3E3BEF8-9226-045E-8AEF-9735E8886EB5}"/>
              </a:ext>
            </a:extLst>
          </p:cNvPr>
          <p:cNvSpPr>
            <a:spLocks/>
          </p:cNvSpPr>
          <p:nvPr/>
        </p:nvSpPr>
        <p:spPr bwMode="auto">
          <a:xfrm>
            <a:off x="6248400" y="4152900"/>
            <a:ext cx="965200" cy="952500"/>
          </a:xfrm>
          <a:custGeom>
            <a:avLst/>
            <a:gdLst>
              <a:gd name="T0" fmla="*/ 2147483647 w 608"/>
              <a:gd name="T1" fmla="*/ 2147483647 h 600"/>
              <a:gd name="T2" fmla="*/ 2147483647 w 608"/>
              <a:gd name="T3" fmla="*/ 2147483647 h 600"/>
              <a:gd name="T4" fmla="*/ 2147483647 w 608"/>
              <a:gd name="T5" fmla="*/ 2147483647 h 600"/>
              <a:gd name="T6" fmla="*/ 2147483647 w 608"/>
              <a:gd name="T7" fmla="*/ 2147483647 h 600"/>
              <a:gd name="T8" fmla="*/ 2147483647 w 608"/>
              <a:gd name="T9" fmla="*/ 2147483647 h 600"/>
              <a:gd name="T10" fmla="*/ 2147483647 w 608"/>
              <a:gd name="T11" fmla="*/ 2147483647 h 600"/>
              <a:gd name="T12" fmla="*/ 2147483647 w 608"/>
              <a:gd name="T13" fmla="*/ 2147483647 h 600"/>
              <a:gd name="T14" fmla="*/ 0 w 608"/>
              <a:gd name="T15" fmla="*/ 0 h 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608" h="600">
                <a:moveTo>
                  <a:pt x="608" y="600"/>
                </a:moveTo>
                <a:cubicBezTo>
                  <a:pt x="605" y="565"/>
                  <a:pt x="604" y="531"/>
                  <a:pt x="600" y="496"/>
                </a:cubicBezTo>
                <a:cubicBezTo>
                  <a:pt x="595" y="450"/>
                  <a:pt x="566" y="411"/>
                  <a:pt x="552" y="368"/>
                </a:cubicBezTo>
                <a:cubicBezTo>
                  <a:pt x="532" y="307"/>
                  <a:pt x="512" y="245"/>
                  <a:pt x="456" y="208"/>
                </a:cubicBezTo>
                <a:cubicBezTo>
                  <a:pt x="429" y="168"/>
                  <a:pt x="448" y="189"/>
                  <a:pt x="392" y="152"/>
                </a:cubicBezTo>
                <a:cubicBezTo>
                  <a:pt x="373" y="139"/>
                  <a:pt x="363" y="117"/>
                  <a:pt x="344" y="104"/>
                </a:cubicBezTo>
                <a:cubicBezTo>
                  <a:pt x="312" y="83"/>
                  <a:pt x="280" y="61"/>
                  <a:pt x="248" y="40"/>
                </a:cubicBezTo>
                <a:cubicBezTo>
                  <a:pt x="189" y="1"/>
                  <a:pt x="62" y="0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52" name="Freeform 24">
            <a:extLst>
              <a:ext uri="{FF2B5EF4-FFF2-40B4-BE49-F238E27FC236}">
                <a16:creationId xmlns:a16="http://schemas.microsoft.com/office/drawing/2014/main" id="{E6F3D100-45BD-FAC7-0335-4E05FF462156}"/>
              </a:ext>
            </a:extLst>
          </p:cNvPr>
          <p:cNvSpPr>
            <a:spLocks/>
          </p:cNvSpPr>
          <p:nvPr/>
        </p:nvSpPr>
        <p:spPr bwMode="auto">
          <a:xfrm>
            <a:off x="6184900" y="4241800"/>
            <a:ext cx="977900" cy="965200"/>
          </a:xfrm>
          <a:custGeom>
            <a:avLst/>
            <a:gdLst>
              <a:gd name="T0" fmla="*/ 2147483647 w 616"/>
              <a:gd name="T1" fmla="*/ 2147483647 h 608"/>
              <a:gd name="T2" fmla="*/ 2147483647 w 616"/>
              <a:gd name="T3" fmla="*/ 2147483647 h 608"/>
              <a:gd name="T4" fmla="*/ 2147483647 w 616"/>
              <a:gd name="T5" fmla="*/ 2147483647 h 608"/>
              <a:gd name="T6" fmla="*/ 2147483647 w 616"/>
              <a:gd name="T7" fmla="*/ 2147483647 h 608"/>
              <a:gd name="T8" fmla="*/ 2147483647 w 616"/>
              <a:gd name="T9" fmla="*/ 2147483647 h 608"/>
              <a:gd name="T10" fmla="*/ 2147483647 w 616"/>
              <a:gd name="T11" fmla="*/ 2147483647 h 608"/>
              <a:gd name="T12" fmla="*/ 2147483647 w 616"/>
              <a:gd name="T13" fmla="*/ 2147483647 h 608"/>
              <a:gd name="T14" fmla="*/ 0 w 616"/>
              <a:gd name="T15" fmla="*/ 0 h 60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616" h="608">
                <a:moveTo>
                  <a:pt x="616" y="608"/>
                </a:moveTo>
                <a:cubicBezTo>
                  <a:pt x="569" y="576"/>
                  <a:pt x="526" y="562"/>
                  <a:pt x="472" y="544"/>
                </a:cubicBezTo>
                <a:cubicBezTo>
                  <a:pt x="445" y="535"/>
                  <a:pt x="424" y="512"/>
                  <a:pt x="400" y="496"/>
                </a:cubicBezTo>
                <a:cubicBezTo>
                  <a:pt x="384" y="485"/>
                  <a:pt x="361" y="489"/>
                  <a:pt x="344" y="480"/>
                </a:cubicBezTo>
                <a:cubicBezTo>
                  <a:pt x="303" y="457"/>
                  <a:pt x="269" y="431"/>
                  <a:pt x="224" y="416"/>
                </a:cubicBezTo>
                <a:cubicBezTo>
                  <a:pt x="200" y="380"/>
                  <a:pt x="172" y="352"/>
                  <a:pt x="136" y="328"/>
                </a:cubicBezTo>
                <a:cubicBezTo>
                  <a:pt x="119" y="303"/>
                  <a:pt x="92" y="292"/>
                  <a:pt x="80" y="264"/>
                </a:cubicBezTo>
                <a:cubicBezTo>
                  <a:pt x="44" y="182"/>
                  <a:pt x="0" y="91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lg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53" name="Freeform 25">
            <a:extLst>
              <a:ext uri="{FF2B5EF4-FFF2-40B4-BE49-F238E27FC236}">
                <a16:creationId xmlns:a16="http://schemas.microsoft.com/office/drawing/2014/main" id="{ACE7AA68-63F6-FE74-1228-8867A3B224AF}"/>
              </a:ext>
            </a:extLst>
          </p:cNvPr>
          <p:cNvSpPr>
            <a:spLocks/>
          </p:cNvSpPr>
          <p:nvPr/>
        </p:nvSpPr>
        <p:spPr bwMode="auto">
          <a:xfrm>
            <a:off x="6443663" y="2282825"/>
            <a:ext cx="1227137" cy="952500"/>
          </a:xfrm>
          <a:custGeom>
            <a:avLst/>
            <a:gdLst>
              <a:gd name="T0" fmla="*/ 2147483647 w 773"/>
              <a:gd name="T1" fmla="*/ 2147483647 h 600"/>
              <a:gd name="T2" fmla="*/ 2147483647 w 773"/>
              <a:gd name="T3" fmla="*/ 2147483647 h 600"/>
              <a:gd name="T4" fmla="*/ 2147483647 w 773"/>
              <a:gd name="T5" fmla="*/ 2147483647 h 600"/>
              <a:gd name="T6" fmla="*/ 2147483647 w 773"/>
              <a:gd name="T7" fmla="*/ 2147483647 h 600"/>
              <a:gd name="T8" fmla="*/ 2147483647 w 773"/>
              <a:gd name="T9" fmla="*/ 2147483647 h 600"/>
              <a:gd name="T10" fmla="*/ 2147483647 w 773"/>
              <a:gd name="T11" fmla="*/ 2147483647 h 600"/>
              <a:gd name="T12" fmla="*/ 2147483647 w 773"/>
              <a:gd name="T13" fmla="*/ 2147483647 h 600"/>
              <a:gd name="T14" fmla="*/ 2147483647 w 773"/>
              <a:gd name="T15" fmla="*/ 2147483647 h 600"/>
              <a:gd name="T16" fmla="*/ 2147483647 w 773"/>
              <a:gd name="T17" fmla="*/ 2147483647 h 600"/>
              <a:gd name="T18" fmla="*/ 2147483647 w 773"/>
              <a:gd name="T19" fmla="*/ 2147483647 h 600"/>
              <a:gd name="T20" fmla="*/ 2147483647 w 773"/>
              <a:gd name="T21" fmla="*/ 2147483647 h 600"/>
              <a:gd name="T22" fmla="*/ 2147483647 w 773"/>
              <a:gd name="T23" fmla="*/ 2147483647 h 6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773" h="600">
                <a:moveTo>
                  <a:pt x="477" y="562"/>
                </a:moveTo>
                <a:cubicBezTo>
                  <a:pt x="580" y="536"/>
                  <a:pt x="687" y="503"/>
                  <a:pt x="749" y="410"/>
                </a:cubicBezTo>
                <a:cubicBezTo>
                  <a:pt x="770" y="304"/>
                  <a:pt x="773" y="319"/>
                  <a:pt x="757" y="154"/>
                </a:cubicBezTo>
                <a:cubicBezTo>
                  <a:pt x="755" y="137"/>
                  <a:pt x="755" y="115"/>
                  <a:pt x="741" y="106"/>
                </a:cubicBezTo>
                <a:cubicBezTo>
                  <a:pt x="701" y="79"/>
                  <a:pt x="663" y="55"/>
                  <a:pt x="621" y="34"/>
                </a:cubicBezTo>
                <a:cubicBezTo>
                  <a:pt x="598" y="22"/>
                  <a:pt x="549" y="2"/>
                  <a:pt x="549" y="2"/>
                </a:cubicBezTo>
                <a:cubicBezTo>
                  <a:pt x="394" y="5"/>
                  <a:pt x="239" y="0"/>
                  <a:pt x="85" y="10"/>
                </a:cubicBezTo>
                <a:cubicBezTo>
                  <a:pt x="50" y="12"/>
                  <a:pt x="45" y="106"/>
                  <a:pt x="45" y="106"/>
                </a:cubicBezTo>
                <a:cubicBezTo>
                  <a:pt x="38" y="193"/>
                  <a:pt x="0" y="360"/>
                  <a:pt x="53" y="426"/>
                </a:cubicBezTo>
                <a:cubicBezTo>
                  <a:pt x="84" y="465"/>
                  <a:pt x="152" y="517"/>
                  <a:pt x="189" y="554"/>
                </a:cubicBezTo>
                <a:cubicBezTo>
                  <a:pt x="206" y="571"/>
                  <a:pt x="237" y="559"/>
                  <a:pt x="261" y="562"/>
                </a:cubicBezTo>
                <a:cubicBezTo>
                  <a:pt x="318" y="600"/>
                  <a:pt x="275" y="578"/>
                  <a:pt x="405" y="57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54" name="Text Box 26">
            <a:extLst>
              <a:ext uri="{FF2B5EF4-FFF2-40B4-BE49-F238E27FC236}">
                <a16:creationId xmlns:a16="http://schemas.microsoft.com/office/drawing/2014/main" id="{42008422-4B7C-1F4F-0368-9AA7F93FD4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8488" y="3209925"/>
            <a:ext cx="322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/>
              <a:t>1</a:t>
            </a:r>
          </a:p>
        </p:txBody>
      </p:sp>
      <p:sp>
        <p:nvSpPr>
          <p:cNvPr id="10255" name="Text Box 27">
            <a:extLst>
              <a:ext uri="{FF2B5EF4-FFF2-40B4-BE49-F238E27FC236}">
                <a16:creationId xmlns:a16="http://schemas.microsoft.com/office/drawing/2014/main" id="{FABC4BDD-A1C1-8E1A-9A71-AFA5307538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69288" y="4040188"/>
            <a:ext cx="322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/>
              <a:t>2</a:t>
            </a:r>
          </a:p>
        </p:txBody>
      </p:sp>
      <p:sp>
        <p:nvSpPr>
          <p:cNvPr id="10256" name="Text Box 28">
            <a:extLst>
              <a:ext uri="{FF2B5EF4-FFF2-40B4-BE49-F238E27FC236}">
                <a16:creationId xmlns:a16="http://schemas.microsoft.com/office/drawing/2014/main" id="{76DD6A45-4FFE-F006-DABD-701A16BE13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2313" y="5167313"/>
            <a:ext cx="322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/>
              <a:t>3</a:t>
            </a:r>
          </a:p>
        </p:txBody>
      </p:sp>
      <p:sp>
        <p:nvSpPr>
          <p:cNvPr id="10257" name="Text Box 29">
            <a:extLst>
              <a:ext uri="{FF2B5EF4-FFF2-40B4-BE49-F238E27FC236}">
                <a16:creationId xmlns:a16="http://schemas.microsoft.com/office/drawing/2014/main" id="{73A53D73-D3ED-A262-B9D7-49E7EDAA2C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3968750"/>
            <a:ext cx="3222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/>
              <a:t>4</a:t>
            </a:r>
          </a:p>
        </p:txBody>
      </p:sp>
      <p:sp>
        <p:nvSpPr>
          <p:cNvPr id="10258" name="Text Box 30">
            <a:extLst>
              <a:ext uri="{FF2B5EF4-FFF2-40B4-BE49-F238E27FC236}">
                <a16:creationId xmlns:a16="http://schemas.microsoft.com/office/drawing/2014/main" id="{A5F9614A-7B39-CAC0-C555-935DBD416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0788" y="5734050"/>
            <a:ext cx="18272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/>
              <a:t>R</a:t>
            </a:r>
            <a:r>
              <a:rPr lang="zh-CN" altLang="en-US" sz="2800"/>
              <a:t>的关系图</a:t>
            </a:r>
          </a:p>
        </p:txBody>
      </p:sp>
      <p:graphicFrame>
        <p:nvGraphicFramePr>
          <p:cNvPr id="10259" name="对象 1">
            <a:extLst>
              <a:ext uri="{FF2B5EF4-FFF2-40B4-BE49-F238E27FC236}">
                <a16:creationId xmlns:a16="http://schemas.microsoft.com/office/drawing/2014/main" id="{AD572ECB-C7D6-1AB5-5C11-E666A6AA08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2275" y="1997075"/>
          <a:ext cx="38576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68" imgH="152268" progId="Equation.DSMT4">
                  <p:embed/>
                </p:oleObj>
              </mc:Choice>
              <mc:Fallback>
                <p:oleObj name="Equation" r:id="rId2" imgW="152268" imgH="152268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1997075"/>
                        <a:ext cx="385763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153A5273-2191-B727-55C6-04F10072539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设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A={1,2,3,4},R={&lt;1,2&gt;,&lt;2,3&gt;,&lt;4,1&gt;,&lt;4,3&gt;},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则下列式子中（     ）正确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2266B4A-FCC0-9AA7-44F3-BBE1FE0E65C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</a:t>
            </a:r>
            <a:r>
              <a:rPr lang="en-US" altLang="zh-CN" sz="2600" baseline="30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=R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29863AE-12F7-D186-B454-99348309C18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</a:t>
            </a:r>
            <a:r>
              <a:rPr lang="en-US" altLang="zh-CN" sz="2600" baseline="30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=R</a:t>
            </a:r>
            <a:r>
              <a:rPr lang="en-US" altLang="zh-CN" sz="2600" baseline="30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endParaRPr lang="zh-CN" altLang="en-US" sz="2600" baseline="30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C3028EB-7B08-61AC-5C7C-BE048767546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</a:t>
            </a:r>
            <a:r>
              <a:rPr lang="en-US" altLang="zh-CN" sz="2600" baseline="30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=R</a:t>
            </a:r>
            <a:r>
              <a:rPr lang="en-US" altLang="zh-CN" sz="2600" baseline="30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endParaRPr lang="zh-CN" altLang="en-US" sz="2600" baseline="30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3103978-09A5-90ED-2741-0A8FE4AA640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763688" y="5350420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</a:t>
            </a:r>
            <a:r>
              <a:rPr lang="en-US" altLang="zh-CN" sz="2600" baseline="30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=Ф</a:t>
            </a:r>
            <a:endParaRPr lang="zh-CN" altLang="en-US" sz="2600" baseline="30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24CA8BD1-9530-617B-E237-56C725A318DB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9172510-3618-374E-1F1C-0EE24CB8BEC5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1A653F7-92FE-F456-77F5-26858E3B9E8B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73CD4B9-58F8-396B-2745-35F2D3001DAE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97DFF21-F58C-B98E-3837-41AA41882A29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7DE99C0C-972E-8B8D-FA91-B031A05DF5B1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7" name="TitleBackground">
              <a:extLst>
                <a:ext uri="{FF2B5EF4-FFF2-40B4-BE49-F238E27FC236}">
                  <a16:creationId xmlns:a16="http://schemas.microsoft.com/office/drawing/2014/main" id="{DEAB92CD-B4E9-EACC-BD3C-4E99BC7959F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ColorBlock">
              <a:extLst>
                <a:ext uri="{FF2B5EF4-FFF2-40B4-BE49-F238E27FC236}">
                  <a16:creationId xmlns:a16="http://schemas.microsoft.com/office/drawing/2014/main" id="{61D42DE2-F86A-829F-ABF2-37773722D00D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TypeText">
              <a:extLst>
                <a:ext uri="{FF2B5EF4-FFF2-40B4-BE49-F238E27FC236}">
                  <a16:creationId xmlns:a16="http://schemas.microsoft.com/office/drawing/2014/main" id="{54329A90-D293-62B6-4C2F-B82AB827287B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20" name="TipText">
              <a:extLst>
                <a:ext uri="{FF2B5EF4-FFF2-40B4-BE49-F238E27FC236}">
                  <a16:creationId xmlns:a16="http://schemas.microsoft.com/office/drawing/2014/main" id="{00CB4AE4-D075-C0D2-43C2-8CC2D74AA02D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8C932CAC-1C7F-9EF1-B19C-5978A9EEACCE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27944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8">
            <a:extLst>
              <a:ext uri="{FF2B5EF4-FFF2-40B4-BE49-F238E27FC236}">
                <a16:creationId xmlns:a16="http://schemas.microsoft.com/office/drawing/2014/main" id="{354CD229-62F7-BC46-1E87-A8311EC86D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3.9.1 </a:t>
            </a:r>
            <a:r>
              <a:rPr lang="zh-CN" altLang="en-US" sz="5400"/>
              <a:t>复合关系的定义</a:t>
            </a:r>
          </a:p>
        </p:txBody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16C4D3FE-4B6A-3FCC-7B32-659D5136930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844675"/>
            <a:ext cx="8532812" cy="501332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3.9.3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dirty="0"/>
              <a:t>A</a:t>
            </a:r>
            <a:r>
              <a:rPr lang="zh-CN" altLang="en-US" dirty="0"/>
              <a:t>＝</a:t>
            </a:r>
            <a:r>
              <a:rPr lang="en-US" altLang="zh-CN" dirty="0"/>
              <a:t>{1,2,3,4}</a:t>
            </a:r>
            <a:endParaRPr lang="zh-CN" altLang="en-US" dirty="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</a:t>
            </a:r>
            <a:r>
              <a:rPr lang="en-US" altLang="zh-CN" dirty="0"/>
              <a:t>I</a:t>
            </a:r>
            <a:r>
              <a:rPr lang="en-US" altLang="zh-CN" baseline="-25000" dirty="0"/>
              <a:t>A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3,3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4,4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}</a:t>
            </a:r>
            <a:br>
              <a:rPr lang="en-US" altLang="zh-CN" dirty="0"/>
            </a:br>
            <a:r>
              <a:rPr lang="en-US" altLang="zh-CN" dirty="0"/>
              <a:t>H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>
                <a:latin typeface="宋体" pitchFamily="2" charset="-122"/>
              </a:rPr>
              <a:t>&lt;</a:t>
            </a:r>
            <a:r>
              <a:rPr lang="en-US" altLang="zh-CN" dirty="0"/>
              <a:t>2,4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4,1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4,2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}</a:t>
            </a:r>
            <a:endParaRPr lang="en-US" altLang="zh-CN" b="1" dirty="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   </a:t>
            </a:r>
            <a:r>
              <a:rPr lang="zh-CN" altLang="en-US" b="1" dirty="0"/>
              <a:t>则</a:t>
            </a:r>
            <a:r>
              <a:rPr lang="en-US" altLang="zh-CN" dirty="0"/>
              <a:t>I</a:t>
            </a:r>
            <a:r>
              <a:rPr lang="en-US" altLang="zh-CN" baseline="-25000" dirty="0"/>
              <a:t>A </a:t>
            </a:r>
            <a:r>
              <a:rPr lang="en-US" altLang="zh-CN" dirty="0"/>
              <a:t> H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>
                <a:latin typeface="宋体" pitchFamily="2" charset="-122"/>
              </a:rPr>
              <a:t>&lt;</a:t>
            </a:r>
            <a:r>
              <a:rPr lang="en-US" altLang="zh-CN" dirty="0"/>
              <a:t>2,4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4,1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4,2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}</a:t>
            </a:r>
            <a:endParaRPr lang="en-US" altLang="zh-CN" b="1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</a:t>
            </a:r>
            <a:r>
              <a:rPr lang="en-US" altLang="zh-CN" b="1" dirty="0"/>
              <a:t>   </a:t>
            </a:r>
            <a:r>
              <a:rPr lang="en-US" altLang="zh-CN" dirty="0"/>
              <a:t> </a:t>
            </a:r>
            <a:r>
              <a:rPr lang="zh-CN" altLang="en-US" dirty="0">
                <a:solidFill>
                  <a:srgbClr val="FF0000"/>
                </a:solidFill>
              </a:rPr>
              <a:t>＝</a:t>
            </a:r>
            <a:r>
              <a:rPr lang="en-US" altLang="zh-CN" dirty="0"/>
              <a:t>H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H  I</a:t>
            </a:r>
            <a:r>
              <a:rPr lang="en-US" altLang="zh-CN" baseline="-25000" dirty="0"/>
              <a:t>A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>
                <a:latin typeface="宋体" pitchFamily="2" charset="-122"/>
              </a:rPr>
              <a:t>&lt;</a:t>
            </a:r>
            <a:r>
              <a:rPr lang="en-US" altLang="zh-CN" dirty="0"/>
              <a:t>2,4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4,1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4,2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}</a:t>
            </a:r>
            <a:endParaRPr lang="en-US" altLang="zh-CN" b="1" dirty="0"/>
          </a:p>
        </p:txBody>
      </p:sp>
      <p:graphicFrame>
        <p:nvGraphicFramePr>
          <p:cNvPr id="11268" name="Object 10">
            <a:extLst>
              <a:ext uri="{FF2B5EF4-FFF2-40B4-BE49-F238E27FC236}">
                <a16:creationId xmlns:a16="http://schemas.microsoft.com/office/drawing/2014/main" id="{8662475C-AD10-FE21-96CE-A3A6D4EAA5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4568825"/>
          <a:ext cx="255587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1468" imgH="114151" progId="Equation.DSMT4">
                  <p:embed/>
                </p:oleObj>
              </mc:Choice>
              <mc:Fallback>
                <p:oleObj name="Equation" r:id="rId2" imgW="101468" imgH="114151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4568825"/>
                        <a:ext cx="255587" cy="28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9" name="Object 11">
            <a:extLst>
              <a:ext uri="{FF2B5EF4-FFF2-40B4-BE49-F238E27FC236}">
                <a16:creationId xmlns:a16="http://schemas.microsoft.com/office/drawing/2014/main" id="{82F80FC8-0D07-9ACC-B830-9FF7972877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6092825"/>
          <a:ext cx="255587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1468" imgH="114151" progId="Equation.DSMT4">
                  <p:embed/>
                </p:oleObj>
              </mc:Choice>
              <mc:Fallback>
                <p:oleObj name="Equation" r:id="rId4" imgW="101468" imgH="114151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6092825"/>
                        <a:ext cx="255587" cy="28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0" name="Line 21">
            <a:extLst>
              <a:ext uri="{FF2B5EF4-FFF2-40B4-BE49-F238E27FC236}">
                <a16:creationId xmlns:a16="http://schemas.microsoft.com/office/drawing/2014/main" id="{C2A54E41-9988-4E2B-7A8B-48FC7D9FD12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7813" y="5084763"/>
            <a:ext cx="0" cy="719137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9">
            <a:extLst>
              <a:ext uri="{FF2B5EF4-FFF2-40B4-BE49-F238E27FC236}">
                <a16:creationId xmlns:a16="http://schemas.microsoft.com/office/drawing/2014/main" id="{91D1623D-52B5-8D74-3EA6-0FCF9B0D43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3.9.1 </a:t>
            </a:r>
            <a:r>
              <a:rPr lang="zh-CN" altLang="en-US" sz="5400"/>
              <a:t>复合关系的定义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38291DBA-73F2-1868-F44D-7CFE5DE4639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844675"/>
            <a:ext cx="8640762" cy="501332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3.9.2</a:t>
            </a:r>
            <a:r>
              <a:rPr lang="zh-CN" altLang="en-US" dirty="0"/>
              <a:t>设</a:t>
            </a:r>
            <a:r>
              <a:rPr lang="en-US" altLang="zh-CN" dirty="0"/>
              <a:t>A</a:t>
            </a:r>
            <a:r>
              <a:rPr lang="zh-CN" altLang="en-US" dirty="0"/>
              <a:t>为任意集合，</a:t>
            </a:r>
            <a:r>
              <a:rPr lang="en-US" altLang="zh-CN" dirty="0"/>
              <a:t>R   A×A</a:t>
            </a:r>
            <a:r>
              <a:rPr lang="zh-CN" altLang="en-US" dirty="0"/>
              <a:t>，则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          </a:t>
            </a:r>
            <a:r>
              <a:rPr lang="en-US" altLang="zh-CN" dirty="0"/>
              <a:t>I</a:t>
            </a:r>
            <a:r>
              <a:rPr lang="en-US" altLang="zh-CN" baseline="-25000" dirty="0"/>
              <a:t>A</a:t>
            </a:r>
            <a:r>
              <a:rPr lang="en-US" altLang="zh-CN" dirty="0"/>
              <a:t>  R</a:t>
            </a:r>
            <a:r>
              <a:rPr lang="zh-CN" altLang="en-US" dirty="0">
                <a:solidFill>
                  <a:srgbClr val="FF0000"/>
                </a:solidFill>
              </a:rPr>
              <a:t>＝</a:t>
            </a:r>
            <a:r>
              <a:rPr lang="en-US" altLang="zh-CN" dirty="0"/>
              <a:t>R</a:t>
            </a:r>
            <a:r>
              <a:rPr lang="zh-CN" altLang="en-US" dirty="0"/>
              <a:t>＝</a:t>
            </a:r>
            <a:r>
              <a:rPr lang="en-US" altLang="zh-CN" dirty="0"/>
              <a:t>I</a:t>
            </a:r>
            <a:r>
              <a:rPr lang="en-US" altLang="zh-CN" baseline="-25000" dirty="0"/>
              <a:t>A</a:t>
            </a:r>
            <a:r>
              <a:rPr lang="en-US" altLang="zh-CN" dirty="0"/>
              <a:t>  R</a:t>
            </a:r>
            <a:endParaRPr lang="en-US" altLang="zh-CN" b="1" dirty="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   </a:t>
            </a:r>
            <a:r>
              <a:rPr lang="zh-CN" altLang="en-US" b="1" dirty="0">
                <a:solidFill>
                  <a:schemeClr val="hlink"/>
                </a:solidFill>
              </a:rPr>
              <a:t>证明</a:t>
            </a:r>
            <a:r>
              <a:rPr lang="zh-CN" altLang="en-US" dirty="0"/>
              <a:t> 任取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a,b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∈I</a:t>
            </a:r>
            <a:r>
              <a:rPr lang="en-US" altLang="zh-CN" baseline="-25000" dirty="0"/>
              <a:t>A</a:t>
            </a:r>
            <a:r>
              <a:rPr lang="en-US" altLang="zh-CN" dirty="0"/>
              <a:t>  R</a:t>
            </a:r>
            <a:endParaRPr lang="en-US" altLang="zh-CN" dirty="0">
              <a:sym typeface="Symbol" pitchFamily="18" charset="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ym typeface="Symbol" pitchFamily="18" charset="2"/>
              </a:rPr>
              <a:t>           </a:t>
            </a:r>
            <a:r>
              <a:rPr lang="en-US" altLang="zh-CN" dirty="0"/>
              <a:t>(</a:t>
            </a:r>
            <a:r>
              <a:rPr lang="en-US" altLang="zh-CN" dirty="0">
                <a:sym typeface="Symbol" pitchFamily="18" charset="2"/>
              </a:rPr>
              <a:t></a:t>
            </a:r>
            <a:r>
              <a:rPr lang="en-US" altLang="zh-CN" dirty="0" err="1"/>
              <a:t>x∈A</a:t>
            </a:r>
            <a:r>
              <a:rPr lang="en-US" altLang="zh-CN" dirty="0"/>
              <a:t>)(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a,</a:t>
            </a:r>
            <a:r>
              <a:rPr lang="en-US" altLang="zh-CN" dirty="0" err="1">
                <a:solidFill>
                  <a:srgbClr val="FF00FF"/>
                </a:solidFill>
              </a:rPr>
              <a:t>x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∈I</a:t>
            </a:r>
            <a:r>
              <a:rPr lang="en-US" altLang="zh-CN" baseline="-25000" dirty="0"/>
              <a:t>A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>
                <a:solidFill>
                  <a:srgbClr val="FF0066"/>
                </a:solidFill>
              </a:rPr>
              <a:t>x</a:t>
            </a:r>
            <a:r>
              <a:rPr lang="en-US" altLang="zh-CN" dirty="0" err="1"/>
              <a:t>,b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∈R)</a:t>
            </a:r>
            <a:endParaRPr lang="en-US" altLang="zh-CN" dirty="0">
              <a:sym typeface="Symbol" pitchFamily="18" charset="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ym typeface="Symbol" pitchFamily="18" charset="2"/>
              </a:rPr>
              <a:t>           </a:t>
            </a:r>
            <a:r>
              <a:rPr lang="en-US" altLang="zh-CN" dirty="0"/>
              <a:t>(</a:t>
            </a:r>
            <a:r>
              <a:rPr lang="en-US" altLang="zh-CN" dirty="0">
                <a:sym typeface="Symbol" pitchFamily="18" charset="2"/>
              </a:rPr>
              <a:t></a:t>
            </a:r>
            <a:r>
              <a:rPr lang="en-US" altLang="zh-CN" dirty="0" err="1"/>
              <a:t>x∈A</a:t>
            </a:r>
            <a:r>
              <a:rPr lang="en-US" altLang="zh-CN" dirty="0"/>
              <a:t>)(a</a:t>
            </a:r>
            <a:r>
              <a:rPr lang="zh-CN" altLang="en-US" dirty="0"/>
              <a:t>＝</a:t>
            </a:r>
            <a:r>
              <a:rPr lang="en-US" altLang="zh-CN" dirty="0"/>
              <a:t>x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x,b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∈R)</a:t>
            </a:r>
            <a:endParaRPr lang="en-US" altLang="zh-CN" dirty="0">
              <a:sym typeface="Symbol" pitchFamily="18" charset="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ym typeface="Symbol" pitchFamily="18" charset="2"/>
              </a:rPr>
              <a:t>           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a,b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∈R </a:t>
            </a:r>
          </a:p>
        </p:txBody>
      </p:sp>
      <p:graphicFrame>
        <p:nvGraphicFramePr>
          <p:cNvPr id="12292" name="Object 10">
            <a:extLst>
              <a:ext uri="{FF2B5EF4-FFF2-40B4-BE49-F238E27FC236}">
                <a16:creationId xmlns:a16="http://schemas.microsoft.com/office/drawing/2014/main" id="{95E4D2A7-EDFA-727B-2A1C-FF2BE4AF39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49575" y="2997200"/>
          <a:ext cx="255588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1468" imgH="114151" progId="Equation.DSMT4">
                  <p:embed/>
                </p:oleObj>
              </mc:Choice>
              <mc:Fallback>
                <p:oleObj name="Equation" r:id="rId2" imgW="101468" imgH="114151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9575" y="2997200"/>
                        <a:ext cx="255588" cy="28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3" name="Object 11">
            <a:extLst>
              <a:ext uri="{FF2B5EF4-FFF2-40B4-BE49-F238E27FC236}">
                <a16:creationId xmlns:a16="http://schemas.microsoft.com/office/drawing/2014/main" id="{D3F2F3B3-C97A-8F7C-DCF0-805FA8D895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97363" y="3860800"/>
          <a:ext cx="255587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1468" imgH="114151" progId="Equation.DSMT4">
                  <p:embed/>
                </p:oleObj>
              </mc:Choice>
              <mc:Fallback>
                <p:oleObj name="Equation" r:id="rId4" imgW="101468" imgH="114151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7363" y="3860800"/>
                        <a:ext cx="255587" cy="28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4" name="Object 12">
            <a:extLst>
              <a:ext uri="{FF2B5EF4-FFF2-40B4-BE49-F238E27FC236}">
                <a16:creationId xmlns:a16="http://schemas.microsoft.com/office/drawing/2014/main" id="{D2EA461B-8331-DCC4-3CB8-1279401F91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21238" y="2997200"/>
          <a:ext cx="255587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1468" imgH="114151" progId="Equation.DSMT4">
                  <p:embed/>
                </p:oleObj>
              </mc:Choice>
              <mc:Fallback>
                <p:oleObj name="Equation" r:id="rId5" imgW="101468" imgH="114151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1238" y="2997200"/>
                        <a:ext cx="255587" cy="28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5" name="Object 21">
            <a:extLst>
              <a:ext uri="{FF2B5EF4-FFF2-40B4-BE49-F238E27FC236}">
                <a16:creationId xmlns:a16="http://schemas.microsoft.com/office/drawing/2014/main" id="{106BB8B8-115E-FC05-C543-35FA6C43B8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67400" y="2111375"/>
          <a:ext cx="385763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2268" imgH="152268" progId="Equation.DSMT4">
                  <p:embed/>
                </p:oleObj>
              </mc:Choice>
              <mc:Fallback>
                <p:oleObj name="Equation" r:id="rId6" imgW="152268" imgH="152268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2111375"/>
                        <a:ext cx="385763" cy="38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8">
            <a:extLst>
              <a:ext uri="{FF2B5EF4-FFF2-40B4-BE49-F238E27FC236}">
                <a16:creationId xmlns:a16="http://schemas.microsoft.com/office/drawing/2014/main" id="{B8FE551B-95EF-FDD9-DA42-2189476AFF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3.9.1 </a:t>
            </a:r>
            <a:r>
              <a:rPr lang="zh-CN" altLang="en-US" sz="5400"/>
              <a:t>复合关系的性质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39FA99C3-F42C-8CA2-782E-F87DD6A7AC7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989138"/>
            <a:ext cx="8675687" cy="4868862"/>
          </a:xfrm>
        </p:spPr>
        <p:txBody>
          <a:bodyPr/>
          <a:lstStyle/>
          <a:p>
            <a:pPr eaLnBrk="1" hangingPunct="1">
              <a:lnSpc>
                <a:spcPct val="250000"/>
              </a:lnSpc>
            </a:pPr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3.9.3</a:t>
            </a:r>
            <a:r>
              <a:rPr lang="en-US" altLang="zh-CN"/>
              <a:t> </a:t>
            </a:r>
            <a:r>
              <a:rPr lang="zh-CN" altLang="en-US"/>
              <a:t>设</a:t>
            </a:r>
            <a:r>
              <a:rPr lang="en-US" altLang="zh-CN"/>
              <a:t>R   A×B</a:t>
            </a:r>
            <a:r>
              <a:rPr lang="zh-CN" altLang="en-US"/>
              <a:t>，</a:t>
            </a:r>
            <a:r>
              <a:rPr lang="en-US" altLang="zh-CN"/>
              <a:t>S,H   B×D</a:t>
            </a:r>
            <a:r>
              <a:rPr lang="zh-CN" altLang="en-US"/>
              <a:t>，则</a:t>
            </a:r>
          </a:p>
          <a:p>
            <a:pPr eaLnBrk="1" hangingPunct="1">
              <a:lnSpc>
                <a:spcPct val="250000"/>
              </a:lnSpc>
              <a:buFont typeface="Wingdings" panose="05000000000000000000" pitchFamily="2" charset="2"/>
              <a:buNone/>
            </a:pPr>
            <a:r>
              <a:rPr lang="zh-CN" altLang="en-US"/>
              <a:t>       </a:t>
            </a:r>
            <a:r>
              <a:rPr lang="en-US" altLang="zh-CN"/>
              <a:t>(1) R (S∪H)</a:t>
            </a:r>
            <a:r>
              <a:rPr lang="zh-CN" altLang="en-US"/>
              <a:t>＝</a:t>
            </a:r>
            <a:r>
              <a:rPr lang="en-US" altLang="zh-CN"/>
              <a:t>(R S)∪(R H)</a:t>
            </a:r>
          </a:p>
          <a:p>
            <a:pPr eaLnBrk="1" hangingPunct="1">
              <a:lnSpc>
                <a:spcPct val="250000"/>
              </a:lnSpc>
              <a:buFont typeface="Wingdings" panose="05000000000000000000" pitchFamily="2" charset="2"/>
              <a:buNone/>
            </a:pPr>
            <a:r>
              <a:rPr lang="en-US" altLang="zh-CN"/>
              <a:t>       (2) R (S∩H)</a:t>
            </a:r>
            <a:r>
              <a:rPr lang="zh-CN" altLang="en-US"/>
              <a:t>＝</a:t>
            </a:r>
            <a:r>
              <a:rPr lang="en-US" altLang="zh-CN"/>
              <a:t>(R S)∩(R H)</a:t>
            </a:r>
            <a:endParaRPr lang="en-US" altLang="zh-CN" b="1"/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</a:t>
            </a:r>
            <a:endParaRPr lang="en-US" altLang="zh-CN" sz="2800"/>
          </a:p>
        </p:txBody>
      </p:sp>
      <p:graphicFrame>
        <p:nvGraphicFramePr>
          <p:cNvPr id="13316" name="Object 10">
            <a:extLst>
              <a:ext uri="{FF2B5EF4-FFF2-40B4-BE49-F238E27FC236}">
                <a16:creationId xmlns:a16="http://schemas.microsoft.com/office/drawing/2014/main" id="{7E81D213-283E-8A39-C2E1-7D1C23A50F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8538" y="4030663"/>
          <a:ext cx="254000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1468" imgH="114151" progId="Equation.DSMT4">
                  <p:embed/>
                </p:oleObj>
              </mc:Choice>
              <mc:Fallback>
                <p:oleObj name="Equation" r:id="rId2" imgW="101468" imgH="114151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4030663"/>
                        <a:ext cx="254000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Object 11">
            <a:extLst>
              <a:ext uri="{FF2B5EF4-FFF2-40B4-BE49-F238E27FC236}">
                <a16:creationId xmlns:a16="http://schemas.microsoft.com/office/drawing/2014/main" id="{AE418A05-5743-C734-58D9-C8BAFD7B87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8538" y="5338763"/>
          <a:ext cx="255587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1468" imgH="114151" progId="Equation.DSMT4">
                  <p:embed/>
                </p:oleObj>
              </mc:Choice>
              <mc:Fallback>
                <p:oleObj name="Equation" r:id="rId4" imgW="101468" imgH="114151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5338763"/>
                        <a:ext cx="255587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" name="Object 18">
            <a:extLst>
              <a:ext uri="{FF2B5EF4-FFF2-40B4-BE49-F238E27FC236}">
                <a16:creationId xmlns:a16="http://schemas.microsoft.com/office/drawing/2014/main" id="{2F56B3F6-18CF-7576-22A4-C09CC9292B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7538" y="4017963"/>
          <a:ext cx="255587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1468" imgH="114151" progId="Equation.DSMT4">
                  <p:embed/>
                </p:oleObj>
              </mc:Choice>
              <mc:Fallback>
                <p:oleObj name="Equation" r:id="rId5" imgW="101468" imgH="114151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4017963"/>
                        <a:ext cx="255587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9" name="Object 19">
            <a:extLst>
              <a:ext uri="{FF2B5EF4-FFF2-40B4-BE49-F238E27FC236}">
                <a16:creationId xmlns:a16="http://schemas.microsoft.com/office/drawing/2014/main" id="{69AB1A87-1FD7-70B7-6B7F-690B23B3C0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9684097"/>
              </p:ext>
            </p:extLst>
          </p:nvPr>
        </p:nvGraphicFramePr>
        <p:xfrm>
          <a:off x="5580112" y="5326063"/>
          <a:ext cx="255588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1468" imgH="114151" progId="Equation.DSMT4">
                  <p:embed/>
                </p:oleObj>
              </mc:Choice>
              <mc:Fallback>
                <p:oleObj name="Equation" r:id="rId6" imgW="101468" imgH="114151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112" y="5326063"/>
                        <a:ext cx="255588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0" name="Object 20">
            <a:extLst>
              <a:ext uri="{FF2B5EF4-FFF2-40B4-BE49-F238E27FC236}">
                <a16:creationId xmlns:a16="http://schemas.microsoft.com/office/drawing/2014/main" id="{592D9587-2766-EBC1-8A0B-98D0A19CC8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5963" y="4017963"/>
          <a:ext cx="255587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1468" imgH="114151" progId="Equation.DSMT4">
                  <p:embed/>
                </p:oleObj>
              </mc:Choice>
              <mc:Fallback>
                <p:oleObj name="Equation" r:id="rId7" imgW="101468" imgH="114151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4017963"/>
                        <a:ext cx="255587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1" name="Object 22">
            <a:extLst>
              <a:ext uri="{FF2B5EF4-FFF2-40B4-BE49-F238E27FC236}">
                <a16:creationId xmlns:a16="http://schemas.microsoft.com/office/drawing/2014/main" id="{10D09A12-9333-E9D2-6402-D423F0D839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3565571"/>
              </p:ext>
            </p:extLst>
          </p:nvPr>
        </p:nvGraphicFramePr>
        <p:xfrm>
          <a:off x="4355976" y="5338763"/>
          <a:ext cx="255587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1468" imgH="114151" progId="Equation.DSMT4">
                  <p:embed/>
                </p:oleObj>
              </mc:Choice>
              <mc:Fallback>
                <p:oleObj name="Equation" r:id="rId8" imgW="101468" imgH="114151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5976" y="5338763"/>
                        <a:ext cx="255587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2" name="对象 1">
            <a:extLst>
              <a:ext uri="{FF2B5EF4-FFF2-40B4-BE49-F238E27FC236}">
                <a16:creationId xmlns:a16="http://schemas.microsoft.com/office/drawing/2014/main" id="{B8704439-BFCB-34E7-1CA9-2BE52B4506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9475" y="2613025"/>
          <a:ext cx="38576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2268" imgH="152268" progId="Equation.DSMT4">
                  <p:embed/>
                </p:oleObj>
              </mc:Choice>
              <mc:Fallback>
                <p:oleObj name="Equation" r:id="rId9" imgW="152268" imgH="152268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2613025"/>
                        <a:ext cx="385763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3" name="对象 2">
            <a:extLst>
              <a:ext uri="{FF2B5EF4-FFF2-40B4-BE49-F238E27FC236}">
                <a16:creationId xmlns:a16="http://schemas.microsoft.com/office/drawing/2014/main" id="{4D367AE6-82F3-7987-A6D7-99CED08406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24525" y="2625725"/>
          <a:ext cx="38576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52268" imgH="152268" progId="Equation.DSMT4">
                  <p:embed/>
                </p:oleObj>
              </mc:Choice>
              <mc:Fallback>
                <p:oleObj name="Equation" r:id="rId11" imgW="152268" imgH="152268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525" y="2625725"/>
                        <a:ext cx="385763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93BB5FE8-63A3-DF61-8D08-C528A014B7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3.9.1 </a:t>
            </a:r>
            <a:r>
              <a:rPr lang="zh-CN" altLang="en-US" sz="5400"/>
              <a:t>复合关系的性质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214212B2-28C4-EC7E-D811-6754C0C6811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79388" y="1844675"/>
            <a:ext cx="8893175" cy="5013325"/>
          </a:xfrm>
        </p:spPr>
        <p:txBody>
          <a:bodyPr/>
          <a:lstStyle/>
          <a:p>
            <a:pPr eaLnBrk="1" hangingPunct="1">
              <a:lnSpc>
                <a:spcPct val="175000"/>
              </a:lnSpc>
            </a:pPr>
            <a:r>
              <a:rPr lang="zh-CN" altLang="en-US" sz="2400" b="1">
                <a:solidFill>
                  <a:schemeClr val="hlink"/>
                </a:solidFill>
              </a:rPr>
              <a:t>证明</a:t>
            </a:r>
            <a:r>
              <a:rPr lang="en-US" altLang="zh-CN" sz="2400"/>
              <a:t>(1)</a:t>
            </a:r>
            <a:r>
              <a:rPr lang="zh-CN" altLang="en-US" sz="2400"/>
              <a:t>任取</a:t>
            </a:r>
            <a:r>
              <a:rPr lang="en-US" altLang="zh-CN" sz="2400" b="1">
                <a:latin typeface="宋体" panose="02010600030101010101" pitchFamily="2" charset="-122"/>
              </a:rPr>
              <a:t>&lt;</a:t>
            </a:r>
            <a:r>
              <a:rPr lang="en-US" altLang="zh-CN" sz="2400"/>
              <a:t>a,d</a:t>
            </a:r>
            <a:r>
              <a:rPr lang="en-US" altLang="zh-CN" sz="2400" b="1">
                <a:latin typeface="宋体" panose="02010600030101010101" pitchFamily="2" charset="-122"/>
              </a:rPr>
              <a:t>&gt;</a:t>
            </a:r>
            <a:r>
              <a:rPr lang="en-US" altLang="zh-CN" sz="2400"/>
              <a:t>∈R  (S∪H)</a:t>
            </a:r>
            <a:endParaRPr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175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</a:t>
            </a:r>
            <a:r>
              <a:rPr lang="en-US" altLang="zh-CN" sz="2400"/>
              <a:t>(</a:t>
            </a:r>
            <a:r>
              <a:rPr lang="en-US" altLang="zh-CN" sz="2400">
                <a:sym typeface="Symbol" panose="05050102010706020507" pitchFamily="18" charset="2"/>
              </a:rPr>
              <a:t></a:t>
            </a:r>
            <a:r>
              <a:rPr lang="en-US" altLang="zh-CN" sz="2400"/>
              <a:t>b∈B)</a:t>
            </a:r>
            <a:r>
              <a:rPr lang="en-US" altLang="zh-CN" sz="2400">
                <a:solidFill>
                  <a:schemeClr val="accent1"/>
                </a:solidFill>
              </a:rPr>
              <a:t>(</a:t>
            </a:r>
            <a:r>
              <a:rPr lang="en-US" altLang="zh-CN" sz="2400" b="1">
                <a:latin typeface="宋体" panose="02010600030101010101" pitchFamily="2" charset="-122"/>
              </a:rPr>
              <a:t>&lt;</a:t>
            </a:r>
            <a:r>
              <a:rPr lang="en-US" altLang="zh-CN" sz="2400"/>
              <a:t>a,</a:t>
            </a:r>
            <a:r>
              <a:rPr lang="en-US" altLang="zh-CN" sz="2400">
                <a:solidFill>
                  <a:srgbClr val="FF00FF"/>
                </a:solidFill>
              </a:rPr>
              <a:t>b</a:t>
            </a:r>
            <a:r>
              <a:rPr lang="en-US" altLang="zh-CN" sz="2400" b="1">
                <a:latin typeface="宋体" panose="02010600030101010101" pitchFamily="2" charset="-122"/>
              </a:rPr>
              <a:t>&gt;</a:t>
            </a:r>
            <a:r>
              <a:rPr lang="en-US" altLang="zh-CN" sz="2400"/>
              <a:t>∈R∧</a:t>
            </a:r>
            <a:r>
              <a:rPr lang="en-US" altLang="zh-CN" sz="2400" b="1">
                <a:latin typeface="宋体" panose="02010600030101010101" pitchFamily="2" charset="-122"/>
              </a:rPr>
              <a:t>&lt;</a:t>
            </a:r>
            <a:r>
              <a:rPr lang="en-US" altLang="zh-CN" sz="2400">
                <a:solidFill>
                  <a:srgbClr val="FF00FF"/>
                </a:solidFill>
              </a:rPr>
              <a:t>b</a:t>
            </a:r>
            <a:r>
              <a:rPr lang="en-US" altLang="zh-CN" sz="2400"/>
              <a:t>,d</a:t>
            </a:r>
            <a:r>
              <a:rPr lang="en-US" altLang="zh-CN" sz="2400" b="1">
                <a:latin typeface="宋体" panose="02010600030101010101" pitchFamily="2" charset="-122"/>
              </a:rPr>
              <a:t>&gt;</a:t>
            </a:r>
            <a:r>
              <a:rPr lang="en-US" altLang="zh-CN" sz="2400"/>
              <a:t>∈S</a:t>
            </a:r>
            <a:r>
              <a:rPr lang="en-US" altLang="zh-CN" sz="2400" b="1">
                <a:solidFill>
                  <a:srgbClr val="3333FF"/>
                </a:solidFill>
              </a:rPr>
              <a:t>∪</a:t>
            </a:r>
            <a:r>
              <a:rPr lang="en-US" altLang="zh-CN" sz="2400"/>
              <a:t>H</a:t>
            </a:r>
            <a:r>
              <a:rPr lang="en-US" altLang="zh-CN" sz="2400">
                <a:solidFill>
                  <a:schemeClr val="accent1"/>
                </a:solidFill>
              </a:rPr>
              <a:t>)</a:t>
            </a:r>
            <a:endParaRPr lang="en-US" altLang="zh-CN" sz="2400">
              <a:solidFill>
                <a:schemeClr val="accent1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175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</a:t>
            </a:r>
            <a:r>
              <a:rPr lang="en-US" altLang="zh-CN" sz="2400"/>
              <a:t>(</a:t>
            </a:r>
            <a:r>
              <a:rPr lang="en-US" altLang="zh-CN" sz="2400">
                <a:sym typeface="Symbol" panose="05050102010706020507" pitchFamily="18" charset="2"/>
              </a:rPr>
              <a:t></a:t>
            </a:r>
            <a:r>
              <a:rPr lang="en-US" altLang="zh-CN" sz="2400"/>
              <a:t>b∈B)</a:t>
            </a:r>
            <a:r>
              <a:rPr lang="en-US" altLang="zh-CN" sz="2400">
                <a:solidFill>
                  <a:schemeClr val="accent1"/>
                </a:solidFill>
              </a:rPr>
              <a:t>(</a:t>
            </a:r>
            <a:r>
              <a:rPr lang="en-US" altLang="zh-CN" sz="2400" b="1">
                <a:latin typeface="宋体" panose="02010600030101010101" pitchFamily="2" charset="-122"/>
              </a:rPr>
              <a:t>&lt;</a:t>
            </a:r>
            <a:r>
              <a:rPr lang="en-US" altLang="zh-CN" sz="2400"/>
              <a:t>a,b</a:t>
            </a:r>
            <a:r>
              <a:rPr lang="en-US" altLang="zh-CN" sz="2400" b="1">
                <a:latin typeface="宋体" panose="02010600030101010101" pitchFamily="2" charset="-122"/>
              </a:rPr>
              <a:t>&gt;</a:t>
            </a:r>
            <a:r>
              <a:rPr lang="en-US" altLang="zh-CN" sz="2400"/>
              <a:t>∈R∧</a:t>
            </a:r>
            <a:r>
              <a:rPr lang="en-US" altLang="zh-CN" sz="2400">
                <a:solidFill>
                  <a:srgbClr val="FF00FF"/>
                </a:solidFill>
              </a:rPr>
              <a:t>(</a:t>
            </a:r>
            <a:r>
              <a:rPr lang="en-US" altLang="zh-CN" sz="2400" b="1">
                <a:latin typeface="宋体" panose="02010600030101010101" pitchFamily="2" charset="-122"/>
              </a:rPr>
              <a:t>&lt;</a:t>
            </a:r>
            <a:r>
              <a:rPr lang="en-US" altLang="zh-CN" sz="2400"/>
              <a:t>b,d</a:t>
            </a:r>
            <a:r>
              <a:rPr lang="en-US" altLang="zh-CN" sz="2400" b="1">
                <a:latin typeface="宋体" panose="02010600030101010101" pitchFamily="2" charset="-122"/>
              </a:rPr>
              <a:t>&gt;</a:t>
            </a:r>
            <a:r>
              <a:rPr lang="en-US" altLang="zh-CN" sz="2400"/>
              <a:t>∈S</a:t>
            </a:r>
            <a:r>
              <a:rPr lang="en-US" altLang="zh-CN" sz="2400" b="1">
                <a:solidFill>
                  <a:srgbClr val="0066FF"/>
                </a:solidFill>
              </a:rPr>
              <a:t>∨</a:t>
            </a:r>
            <a:r>
              <a:rPr lang="en-US" altLang="zh-CN" sz="2400" b="1">
                <a:latin typeface="宋体" panose="02010600030101010101" pitchFamily="2" charset="-122"/>
              </a:rPr>
              <a:t>&lt;</a:t>
            </a:r>
            <a:r>
              <a:rPr lang="en-US" altLang="zh-CN" sz="2400"/>
              <a:t>b,d</a:t>
            </a:r>
            <a:r>
              <a:rPr lang="en-US" altLang="zh-CN" sz="2400" b="1">
                <a:latin typeface="宋体" panose="02010600030101010101" pitchFamily="2" charset="-122"/>
              </a:rPr>
              <a:t>&gt;</a:t>
            </a:r>
            <a:r>
              <a:rPr lang="en-US" altLang="zh-CN" sz="2400"/>
              <a:t>∈H</a:t>
            </a:r>
            <a:r>
              <a:rPr lang="en-US" altLang="zh-CN" sz="2400">
                <a:solidFill>
                  <a:srgbClr val="FF00FF"/>
                </a:solidFill>
              </a:rPr>
              <a:t>)</a:t>
            </a:r>
            <a:r>
              <a:rPr lang="en-US" altLang="zh-CN" sz="2400">
                <a:solidFill>
                  <a:schemeClr val="accent1"/>
                </a:solidFill>
              </a:rPr>
              <a:t>)</a:t>
            </a:r>
            <a:endParaRPr lang="en-US" altLang="zh-CN" sz="2400">
              <a:solidFill>
                <a:schemeClr val="accent1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175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</a:t>
            </a:r>
            <a:r>
              <a:rPr lang="en-US" altLang="zh-CN" sz="2400"/>
              <a:t>(</a:t>
            </a:r>
            <a:r>
              <a:rPr lang="en-US" altLang="zh-CN" sz="2400">
                <a:sym typeface="Symbol" panose="05050102010706020507" pitchFamily="18" charset="2"/>
              </a:rPr>
              <a:t></a:t>
            </a:r>
            <a:r>
              <a:rPr lang="en-US" altLang="zh-CN" sz="2400"/>
              <a:t>b∈B)</a:t>
            </a:r>
            <a:r>
              <a:rPr lang="en-US" altLang="zh-CN" sz="2400">
                <a:solidFill>
                  <a:schemeClr val="accent1"/>
                </a:solidFill>
              </a:rPr>
              <a:t>(</a:t>
            </a:r>
            <a:r>
              <a:rPr lang="en-US" altLang="zh-CN" sz="2400">
                <a:solidFill>
                  <a:srgbClr val="FF00FF"/>
                </a:solidFill>
              </a:rPr>
              <a:t>(</a:t>
            </a:r>
            <a:r>
              <a:rPr lang="en-US" altLang="zh-CN" sz="2400" b="1">
                <a:latin typeface="宋体" panose="02010600030101010101" pitchFamily="2" charset="-122"/>
              </a:rPr>
              <a:t>&lt;</a:t>
            </a:r>
            <a:r>
              <a:rPr lang="en-US" altLang="zh-CN" sz="2400"/>
              <a:t>a,b</a:t>
            </a:r>
            <a:r>
              <a:rPr lang="en-US" altLang="zh-CN" sz="2400">
                <a:latin typeface="宋体" panose="02010600030101010101" pitchFamily="2" charset="-122"/>
              </a:rPr>
              <a:t>&gt;</a:t>
            </a:r>
            <a:r>
              <a:rPr lang="en-US" altLang="zh-CN" sz="2400"/>
              <a:t>∈R∧</a:t>
            </a:r>
            <a:r>
              <a:rPr lang="en-US" altLang="zh-CN" sz="2400">
                <a:latin typeface="宋体" panose="02010600030101010101" pitchFamily="2" charset="-122"/>
              </a:rPr>
              <a:t>&lt;</a:t>
            </a:r>
            <a:r>
              <a:rPr lang="en-US" altLang="zh-CN" sz="2400"/>
              <a:t>b,d</a:t>
            </a:r>
            <a:r>
              <a:rPr lang="en-US" altLang="zh-CN" sz="2400" b="1">
                <a:latin typeface="宋体" panose="02010600030101010101" pitchFamily="2" charset="-122"/>
              </a:rPr>
              <a:t>&gt;</a:t>
            </a:r>
            <a:r>
              <a:rPr lang="en-US" altLang="zh-CN" sz="2400"/>
              <a:t>∈S</a:t>
            </a:r>
            <a:r>
              <a:rPr lang="en-US" altLang="zh-CN" sz="2400">
                <a:solidFill>
                  <a:srgbClr val="FF00FF"/>
                </a:solidFill>
              </a:rPr>
              <a:t>)</a:t>
            </a:r>
            <a:r>
              <a:rPr lang="en-US" altLang="zh-CN" sz="2400" b="1">
                <a:solidFill>
                  <a:srgbClr val="0066FF"/>
                </a:solidFill>
              </a:rPr>
              <a:t>∨</a:t>
            </a:r>
            <a:r>
              <a:rPr lang="en-US" altLang="zh-CN" sz="2400">
                <a:solidFill>
                  <a:srgbClr val="FF00FF"/>
                </a:solidFill>
              </a:rPr>
              <a:t>(</a:t>
            </a:r>
            <a:r>
              <a:rPr lang="en-US" altLang="zh-CN" sz="2400" b="1">
                <a:latin typeface="宋体" panose="02010600030101010101" pitchFamily="2" charset="-122"/>
              </a:rPr>
              <a:t>&lt;</a:t>
            </a:r>
            <a:r>
              <a:rPr lang="en-US" altLang="zh-CN" sz="2400"/>
              <a:t>a,b</a:t>
            </a:r>
            <a:r>
              <a:rPr lang="en-US" altLang="zh-CN" sz="2400" b="1">
                <a:latin typeface="宋体" panose="02010600030101010101" pitchFamily="2" charset="-122"/>
              </a:rPr>
              <a:t>&gt;</a:t>
            </a:r>
            <a:r>
              <a:rPr lang="en-US" altLang="zh-CN" sz="2400"/>
              <a:t>∈R∧</a:t>
            </a:r>
            <a:r>
              <a:rPr lang="en-US" altLang="zh-CN" sz="2400" b="1">
                <a:latin typeface="宋体" panose="02010600030101010101" pitchFamily="2" charset="-122"/>
              </a:rPr>
              <a:t>&lt;</a:t>
            </a:r>
            <a:r>
              <a:rPr lang="en-US" altLang="zh-CN" sz="2400"/>
              <a:t>b,d</a:t>
            </a:r>
            <a:r>
              <a:rPr lang="en-US" altLang="zh-CN" sz="2400" b="1">
                <a:latin typeface="宋体" panose="02010600030101010101" pitchFamily="2" charset="-122"/>
              </a:rPr>
              <a:t>&gt;</a:t>
            </a:r>
            <a:r>
              <a:rPr lang="en-US" altLang="zh-CN" sz="2400"/>
              <a:t>∈H</a:t>
            </a:r>
            <a:r>
              <a:rPr lang="en-US" altLang="zh-CN" sz="2400">
                <a:solidFill>
                  <a:srgbClr val="FF00FF"/>
                </a:solidFill>
              </a:rPr>
              <a:t>)</a:t>
            </a:r>
            <a:r>
              <a:rPr lang="en-US" altLang="zh-CN" sz="2400">
                <a:solidFill>
                  <a:schemeClr val="accent1"/>
                </a:solidFill>
              </a:rPr>
              <a:t>)</a:t>
            </a:r>
            <a:endParaRPr lang="en-US" altLang="zh-CN" sz="2400">
              <a:solidFill>
                <a:schemeClr val="accent1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175000"/>
              </a:lnSpc>
              <a:buFont typeface="Symbol" panose="05050102010706020507" pitchFamily="18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</a:t>
            </a:r>
            <a:r>
              <a:rPr lang="en-US" altLang="zh-CN" sz="2400"/>
              <a:t>(</a:t>
            </a:r>
            <a:r>
              <a:rPr lang="en-US" altLang="zh-CN" sz="2400">
                <a:sym typeface="Symbol" panose="05050102010706020507" pitchFamily="18" charset="2"/>
              </a:rPr>
              <a:t></a:t>
            </a:r>
            <a:r>
              <a:rPr lang="en-US" altLang="zh-CN" sz="2400"/>
              <a:t>b∈B)</a:t>
            </a:r>
            <a:r>
              <a:rPr lang="en-US" altLang="zh-CN" sz="2400">
                <a:solidFill>
                  <a:schemeClr val="hlink"/>
                </a:solidFill>
              </a:rPr>
              <a:t>(</a:t>
            </a:r>
            <a:r>
              <a:rPr lang="en-US" altLang="zh-CN" sz="2400" b="1">
                <a:latin typeface="宋体" panose="02010600030101010101" pitchFamily="2" charset="-122"/>
              </a:rPr>
              <a:t>&lt;</a:t>
            </a:r>
            <a:r>
              <a:rPr lang="en-US" altLang="zh-CN" sz="2400"/>
              <a:t>a,</a:t>
            </a:r>
            <a:r>
              <a:rPr lang="en-US" altLang="zh-CN" sz="2400">
                <a:solidFill>
                  <a:srgbClr val="FF00FF"/>
                </a:solidFill>
              </a:rPr>
              <a:t>b</a:t>
            </a:r>
            <a:r>
              <a:rPr lang="en-US" altLang="zh-CN" sz="2400" b="1">
                <a:latin typeface="宋体" panose="02010600030101010101" pitchFamily="2" charset="-122"/>
              </a:rPr>
              <a:t>&gt;</a:t>
            </a:r>
            <a:r>
              <a:rPr lang="en-US" altLang="zh-CN" sz="2400"/>
              <a:t>∈R∧</a:t>
            </a:r>
            <a:r>
              <a:rPr lang="en-US" altLang="zh-CN" sz="2400" b="1">
                <a:latin typeface="宋体" panose="02010600030101010101" pitchFamily="2" charset="-122"/>
              </a:rPr>
              <a:t>&lt;</a:t>
            </a:r>
            <a:r>
              <a:rPr lang="en-US" altLang="zh-CN" sz="2400">
                <a:solidFill>
                  <a:srgbClr val="FF00FF"/>
                </a:solidFill>
              </a:rPr>
              <a:t>b</a:t>
            </a:r>
            <a:r>
              <a:rPr lang="en-US" altLang="zh-CN" sz="2400"/>
              <a:t>,d</a:t>
            </a:r>
            <a:r>
              <a:rPr lang="en-US" altLang="zh-CN" sz="2400" b="1">
                <a:latin typeface="宋体" panose="02010600030101010101" pitchFamily="2" charset="-122"/>
              </a:rPr>
              <a:t>&gt;</a:t>
            </a:r>
            <a:r>
              <a:rPr lang="en-US" altLang="zh-CN" sz="2400"/>
              <a:t>∈S</a:t>
            </a:r>
            <a:r>
              <a:rPr lang="en-US" altLang="zh-CN" sz="2400">
                <a:solidFill>
                  <a:schemeClr val="hlink"/>
                </a:solidFill>
              </a:rPr>
              <a:t>)</a:t>
            </a:r>
            <a:r>
              <a:rPr lang="en-US" altLang="zh-CN" sz="2400" b="1">
                <a:solidFill>
                  <a:srgbClr val="3333FF"/>
                </a:solidFill>
              </a:rPr>
              <a:t>∨</a:t>
            </a:r>
            <a:r>
              <a:rPr lang="en-US" altLang="zh-CN" sz="2400"/>
              <a:t>(</a:t>
            </a:r>
            <a:r>
              <a:rPr lang="en-US" altLang="zh-CN" sz="2400">
                <a:sym typeface="Symbol" panose="05050102010706020507" pitchFamily="18" charset="2"/>
              </a:rPr>
              <a:t></a:t>
            </a:r>
            <a:r>
              <a:rPr lang="en-US" altLang="zh-CN" sz="2400"/>
              <a:t>b∈B)</a:t>
            </a:r>
            <a:r>
              <a:rPr lang="en-US" altLang="zh-CN" sz="2400">
                <a:solidFill>
                  <a:schemeClr val="hlink"/>
                </a:solidFill>
              </a:rPr>
              <a:t>(</a:t>
            </a:r>
            <a:r>
              <a:rPr lang="en-US" altLang="zh-CN" sz="2400" b="1">
                <a:latin typeface="宋体" panose="02010600030101010101" pitchFamily="2" charset="-122"/>
              </a:rPr>
              <a:t>&lt;</a:t>
            </a:r>
            <a:r>
              <a:rPr lang="en-US" altLang="zh-CN" sz="2400"/>
              <a:t>a,</a:t>
            </a:r>
            <a:r>
              <a:rPr lang="en-US" altLang="zh-CN" sz="2400">
                <a:solidFill>
                  <a:srgbClr val="FF00FF"/>
                </a:solidFill>
              </a:rPr>
              <a:t>b</a:t>
            </a:r>
            <a:r>
              <a:rPr lang="en-US" altLang="zh-CN" sz="2400" b="1">
                <a:latin typeface="宋体" panose="02010600030101010101" pitchFamily="2" charset="-122"/>
              </a:rPr>
              <a:t>&gt;</a:t>
            </a:r>
            <a:r>
              <a:rPr lang="en-US" altLang="zh-CN" sz="2400"/>
              <a:t>∈R∧</a:t>
            </a:r>
            <a:r>
              <a:rPr lang="en-US" altLang="zh-CN" sz="2400" b="1">
                <a:latin typeface="宋体" panose="02010600030101010101" pitchFamily="2" charset="-122"/>
              </a:rPr>
              <a:t>&lt;</a:t>
            </a:r>
            <a:r>
              <a:rPr lang="en-US" altLang="zh-CN" sz="2400">
                <a:solidFill>
                  <a:srgbClr val="FF00FF"/>
                </a:solidFill>
              </a:rPr>
              <a:t>b</a:t>
            </a:r>
            <a:r>
              <a:rPr lang="en-US" altLang="zh-CN" sz="2400"/>
              <a:t>,d</a:t>
            </a:r>
            <a:r>
              <a:rPr lang="en-US" altLang="zh-CN" sz="2400" b="1">
                <a:latin typeface="宋体" panose="02010600030101010101" pitchFamily="2" charset="-122"/>
              </a:rPr>
              <a:t>&gt;</a:t>
            </a:r>
            <a:r>
              <a:rPr lang="en-US" altLang="zh-CN" sz="2400"/>
              <a:t>∈H</a:t>
            </a:r>
            <a:r>
              <a:rPr lang="en-US" altLang="zh-CN" sz="2400">
                <a:solidFill>
                  <a:schemeClr val="hlink"/>
                </a:solidFill>
              </a:rPr>
              <a:t>)</a:t>
            </a:r>
            <a:endParaRPr lang="en-US" altLang="zh-CN" sz="2400">
              <a:solidFill>
                <a:schemeClr val="hlink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175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</a:t>
            </a:r>
            <a:r>
              <a:rPr lang="en-US" altLang="zh-CN" sz="2400" b="1">
                <a:latin typeface="宋体" panose="02010600030101010101" pitchFamily="2" charset="-122"/>
              </a:rPr>
              <a:t>&lt;</a:t>
            </a:r>
            <a:r>
              <a:rPr lang="en-US" altLang="zh-CN" sz="2400"/>
              <a:t>a,d</a:t>
            </a:r>
            <a:r>
              <a:rPr lang="en-US" altLang="zh-CN" sz="2400" b="1">
                <a:latin typeface="宋体" panose="02010600030101010101" pitchFamily="2" charset="-122"/>
              </a:rPr>
              <a:t>&gt;</a:t>
            </a:r>
            <a:r>
              <a:rPr lang="en-US" altLang="zh-CN" sz="2400"/>
              <a:t>∈R  S </a:t>
            </a:r>
            <a:r>
              <a:rPr lang="en-US" altLang="zh-CN" sz="2400" b="1">
                <a:solidFill>
                  <a:srgbClr val="0066FF"/>
                </a:solidFill>
              </a:rPr>
              <a:t>∨</a:t>
            </a:r>
            <a:r>
              <a:rPr lang="en-US" altLang="zh-CN" sz="2400"/>
              <a:t> </a:t>
            </a:r>
            <a:r>
              <a:rPr lang="en-US" altLang="zh-CN" sz="2400" b="1">
                <a:latin typeface="宋体" panose="02010600030101010101" pitchFamily="2" charset="-122"/>
              </a:rPr>
              <a:t>&lt;</a:t>
            </a:r>
            <a:r>
              <a:rPr lang="en-US" altLang="zh-CN" sz="2400"/>
              <a:t>a,d</a:t>
            </a:r>
            <a:r>
              <a:rPr lang="en-US" altLang="zh-CN" sz="2400" b="1">
                <a:latin typeface="宋体" panose="02010600030101010101" pitchFamily="2" charset="-122"/>
              </a:rPr>
              <a:t>&gt;</a:t>
            </a:r>
            <a:r>
              <a:rPr lang="en-US" altLang="zh-CN" sz="2400"/>
              <a:t>∈R  H</a:t>
            </a:r>
            <a:endParaRPr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175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</a:t>
            </a:r>
            <a:r>
              <a:rPr lang="en-US" altLang="zh-CN" sz="2400" b="1">
                <a:latin typeface="宋体" panose="02010600030101010101" pitchFamily="2" charset="-122"/>
              </a:rPr>
              <a:t>&lt;</a:t>
            </a:r>
            <a:r>
              <a:rPr lang="en-US" altLang="zh-CN" sz="2400"/>
              <a:t>a,d</a:t>
            </a:r>
            <a:r>
              <a:rPr lang="en-US" altLang="zh-CN" sz="2400" b="1">
                <a:latin typeface="宋体" panose="02010600030101010101" pitchFamily="2" charset="-122"/>
              </a:rPr>
              <a:t>&gt;</a:t>
            </a:r>
            <a:r>
              <a:rPr lang="en-US" altLang="zh-CN" sz="2400"/>
              <a:t>∈(R  S)</a:t>
            </a:r>
            <a:r>
              <a:rPr lang="en-US" altLang="zh-CN" sz="2400" b="1">
                <a:solidFill>
                  <a:srgbClr val="0066FF"/>
                </a:solidFill>
              </a:rPr>
              <a:t>∪</a:t>
            </a:r>
            <a:r>
              <a:rPr lang="en-US" altLang="zh-CN" sz="2400"/>
              <a:t>(R  H)</a:t>
            </a:r>
          </a:p>
        </p:txBody>
      </p:sp>
      <p:graphicFrame>
        <p:nvGraphicFramePr>
          <p:cNvPr id="14340" name="Object 6">
            <a:extLst>
              <a:ext uri="{FF2B5EF4-FFF2-40B4-BE49-F238E27FC236}">
                <a16:creationId xmlns:a16="http://schemas.microsoft.com/office/drawing/2014/main" id="{D20B34E5-710F-1750-2854-7AD9C95FFF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5732463"/>
          <a:ext cx="255587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1468" imgH="114151" progId="Equation.DSMT4">
                  <p:embed/>
                </p:oleObj>
              </mc:Choice>
              <mc:Fallback>
                <p:oleObj name="Equation" r:id="rId2" imgW="101468" imgH="114151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5732463"/>
                        <a:ext cx="255587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1" name="Object 7">
            <a:extLst>
              <a:ext uri="{FF2B5EF4-FFF2-40B4-BE49-F238E27FC236}">
                <a16:creationId xmlns:a16="http://schemas.microsoft.com/office/drawing/2014/main" id="{F147F11C-2264-E10A-CB16-29DEEED79E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63975" y="5708650"/>
          <a:ext cx="255588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1468" imgH="114151" progId="Equation.DSMT4">
                  <p:embed/>
                </p:oleObj>
              </mc:Choice>
              <mc:Fallback>
                <p:oleObj name="Equation" r:id="rId4" imgW="101468" imgH="114151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3975" y="5708650"/>
                        <a:ext cx="255588" cy="28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2" name="Object 8">
            <a:extLst>
              <a:ext uri="{FF2B5EF4-FFF2-40B4-BE49-F238E27FC236}">
                <a16:creationId xmlns:a16="http://schemas.microsoft.com/office/drawing/2014/main" id="{43FA93E6-D464-207E-B541-9D8043351F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8175" y="6429375"/>
          <a:ext cx="255588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1468" imgH="114151" progId="Equation.DSMT4">
                  <p:embed/>
                </p:oleObj>
              </mc:Choice>
              <mc:Fallback>
                <p:oleObj name="Equation" r:id="rId5" imgW="101468" imgH="114151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6429375"/>
                        <a:ext cx="255588" cy="28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3" name="Object 9">
            <a:extLst>
              <a:ext uri="{FF2B5EF4-FFF2-40B4-BE49-F238E27FC236}">
                <a16:creationId xmlns:a16="http://schemas.microsoft.com/office/drawing/2014/main" id="{D3C38506-70B6-33B8-E126-7432CA8BAA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7675" y="6429375"/>
          <a:ext cx="255588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1468" imgH="114151" progId="Equation.DSMT4">
                  <p:embed/>
                </p:oleObj>
              </mc:Choice>
              <mc:Fallback>
                <p:oleObj name="Equation" r:id="rId6" imgW="101468" imgH="114151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6429375"/>
                        <a:ext cx="255588" cy="28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4" name="Object 14">
            <a:extLst>
              <a:ext uri="{FF2B5EF4-FFF2-40B4-BE49-F238E27FC236}">
                <a16:creationId xmlns:a16="http://schemas.microsoft.com/office/drawing/2014/main" id="{AE3A255D-8278-36DD-E377-AB8555A240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17900" y="2133600"/>
          <a:ext cx="255588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1468" imgH="114151" progId="Equation.DSMT4">
                  <p:embed/>
                </p:oleObj>
              </mc:Choice>
              <mc:Fallback>
                <p:oleObj name="Equation" r:id="rId7" imgW="101468" imgH="114151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7900" y="2133600"/>
                        <a:ext cx="255588" cy="28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5" name="Freeform 18">
            <a:extLst>
              <a:ext uri="{FF2B5EF4-FFF2-40B4-BE49-F238E27FC236}">
                <a16:creationId xmlns:a16="http://schemas.microsoft.com/office/drawing/2014/main" id="{706A278B-CD8B-C167-9587-3C4A1149456C}"/>
              </a:ext>
            </a:extLst>
          </p:cNvPr>
          <p:cNvSpPr>
            <a:spLocks/>
          </p:cNvSpPr>
          <p:nvPr/>
        </p:nvSpPr>
        <p:spPr bwMode="auto">
          <a:xfrm>
            <a:off x="3200400" y="3860800"/>
            <a:ext cx="1803400" cy="130175"/>
          </a:xfrm>
          <a:custGeom>
            <a:avLst/>
            <a:gdLst>
              <a:gd name="T0" fmla="*/ 0 w 1136"/>
              <a:gd name="T1" fmla="*/ 0 h 82"/>
              <a:gd name="T2" fmla="*/ 2147483647 w 1136"/>
              <a:gd name="T3" fmla="*/ 2147483647 h 82"/>
              <a:gd name="T4" fmla="*/ 2147483647 w 1136"/>
              <a:gd name="T5" fmla="*/ 2147483647 h 8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36" h="82">
                <a:moveTo>
                  <a:pt x="0" y="0"/>
                </a:moveTo>
                <a:cubicBezTo>
                  <a:pt x="15" y="62"/>
                  <a:pt x="81" y="80"/>
                  <a:pt x="144" y="80"/>
                </a:cubicBezTo>
                <a:cubicBezTo>
                  <a:pt x="475" y="82"/>
                  <a:pt x="805" y="80"/>
                  <a:pt x="1136" y="80"/>
                </a:cubicBezTo>
              </a:path>
            </a:pathLst>
          </a:custGeom>
          <a:noFill/>
          <a:ln w="25400">
            <a:solidFill>
              <a:srgbClr val="33CCCC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6" name="Freeform 21">
            <a:extLst>
              <a:ext uri="{FF2B5EF4-FFF2-40B4-BE49-F238E27FC236}">
                <a16:creationId xmlns:a16="http://schemas.microsoft.com/office/drawing/2014/main" id="{70FAAB78-5B9F-D502-00A8-7CDEEE32CA1F}"/>
              </a:ext>
            </a:extLst>
          </p:cNvPr>
          <p:cNvSpPr>
            <a:spLocks/>
          </p:cNvSpPr>
          <p:nvPr/>
        </p:nvSpPr>
        <p:spPr bwMode="auto">
          <a:xfrm>
            <a:off x="1116013" y="5280025"/>
            <a:ext cx="3810000" cy="165100"/>
          </a:xfrm>
          <a:custGeom>
            <a:avLst/>
            <a:gdLst>
              <a:gd name="T0" fmla="*/ 0 w 2400"/>
              <a:gd name="T1" fmla="*/ 0 h 104"/>
              <a:gd name="T2" fmla="*/ 2147483647 w 2400"/>
              <a:gd name="T3" fmla="*/ 2147483647 h 104"/>
              <a:gd name="T4" fmla="*/ 2147483647 w 2400"/>
              <a:gd name="T5" fmla="*/ 2147483647 h 104"/>
              <a:gd name="T6" fmla="*/ 2147483647 w 2400"/>
              <a:gd name="T7" fmla="*/ 2147483647 h 10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400" h="104">
                <a:moveTo>
                  <a:pt x="0" y="0"/>
                </a:moveTo>
                <a:cubicBezTo>
                  <a:pt x="65" y="43"/>
                  <a:pt x="42" y="44"/>
                  <a:pt x="128" y="56"/>
                </a:cubicBezTo>
                <a:cubicBezTo>
                  <a:pt x="176" y="104"/>
                  <a:pt x="148" y="87"/>
                  <a:pt x="264" y="88"/>
                </a:cubicBezTo>
                <a:cubicBezTo>
                  <a:pt x="1226" y="97"/>
                  <a:pt x="1611" y="96"/>
                  <a:pt x="2400" y="96"/>
                </a:cubicBezTo>
              </a:path>
            </a:pathLst>
          </a:custGeom>
          <a:noFill/>
          <a:ln w="25400">
            <a:solidFill>
              <a:srgbClr val="00CCFF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5">
            <a:extLst>
              <a:ext uri="{FF2B5EF4-FFF2-40B4-BE49-F238E27FC236}">
                <a16:creationId xmlns:a16="http://schemas.microsoft.com/office/drawing/2014/main" id="{FFE89FE1-C382-24D6-5302-FFE3D6FB74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3.9.1 </a:t>
            </a:r>
            <a:r>
              <a:rPr lang="zh-CN" altLang="en-US" sz="5400"/>
              <a:t>复合关系的性质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11" name="Rectangle 3">
                <a:extLst>
                  <a:ext uri="{FF2B5EF4-FFF2-40B4-BE49-F238E27FC236}">
                    <a16:creationId xmlns:a16="http://schemas.microsoft.com/office/drawing/2014/main" id="{9090FFDE-AB58-5391-0BE9-AA3272351055}"/>
                  </a:ext>
                </a:extLst>
              </p:cNvPr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68313" y="1916113"/>
                <a:ext cx="8675687" cy="4941887"/>
              </a:xfrm>
            </p:spPr>
            <p:txBody>
              <a:bodyPr/>
              <a:lstStyle/>
              <a:p>
                <a:pPr eaLnBrk="1" hangingPunct="1">
                  <a:lnSpc>
                    <a:spcPct val="200000"/>
                  </a:lnSpc>
                </a:pPr>
                <a:r>
                  <a:rPr lang="zh-CN" altLang="en-US" dirty="0">
                    <a:solidFill>
                      <a:schemeClr val="hlink"/>
                    </a:solidFill>
                  </a:rPr>
                  <a:t>定理</a:t>
                </a:r>
                <a:r>
                  <a:rPr lang="en-US" altLang="zh-CN" dirty="0">
                    <a:solidFill>
                      <a:schemeClr val="hlink"/>
                    </a:solidFill>
                  </a:rPr>
                  <a:t>3.9.5</a:t>
                </a:r>
                <a:r>
                  <a:rPr lang="zh-CN" altLang="en-US" dirty="0"/>
                  <a:t>设有限集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，且</a:t>
                </a:r>
                <a:r>
                  <a:rPr lang="en-US" altLang="zh-CN" dirty="0"/>
                  <a:t>|A|</a:t>
                </a:r>
                <a:r>
                  <a:rPr lang="zh-CN" altLang="en-US" dirty="0"/>
                  <a:t>＝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， </a:t>
                </a:r>
                <a:r>
                  <a:rPr lang="en-US" altLang="zh-CN" dirty="0"/>
                  <a:t>R</a:t>
                </a:r>
                <a:r>
                  <a:rPr lang="zh-CN" altLang="en-US" dirty="0"/>
                  <a:t>  </a:t>
                </a:r>
                <a:r>
                  <a:rPr lang="en-US" altLang="zh-CN" dirty="0"/>
                  <a:t> A×A</a:t>
                </a:r>
                <a:r>
                  <a:rPr lang="zh-CN" altLang="en-US" dirty="0"/>
                  <a:t>，则存在非负整数</a:t>
                </a:r>
                <a:r>
                  <a:rPr lang="en-US" altLang="zh-CN" dirty="0"/>
                  <a:t>s</a:t>
                </a:r>
                <a:r>
                  <a:rPr lang="zh-CN" altLang="en-US" dirty="0"/>
                  <a:t>与</a:t>
                </a:r>
                <a:r>
                  <a:rPr lang="en-US" altLang="zh-CN" dirty="0"/>
                  <a:t>t(0≤s</a:t>
                </a:r>
                <a:r>
                  <a:rPr lang="zh-CN" altLang="en-US" dirty="0"/>
                  <a:t>＜</a:t>
                </a:r>
                <a:r>
                  <a:rPr lang="en-US" altLang="zh-CN" dirty="0"/>
                  <a:t>t≤2</a:t>
                </a:r>
                <a:r>
                  <a:rPr lang="en-US" altLang="zh-CN" baseline="30000" dirty="0"/>
                  <a:t>nⅹn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使</a:t>
                </a:r>
                <a:r>
                  <a:rPr lang="en-US" altLang="zh-CN" dirty="0"/>
                  <a:t>R</a:t>
                </a:r>
                <a:r>
                  <a:rPr lang="en-US" altLang="zh-CN" baseline="30000" dirty="0"/>
                  <a:t>s</a:t>
                </a:r>
                <a:r>
                  <a:rPr lang="zh-CN" altLang="en-US" dirty="0"/>
                  <a:t>＝</a:t>
                </a:r>
                <a:r>
                  <a:rPr lang="en-US" altLang="zh-CN" dirty="0"/>
                  <a:t>R</a:t>
                </a:r>
                <a:r>
                  <a:rPr lang="en-US" altLang="zh-CN" baseline="30000" dirty="0"/>
                  <a:t>t</a:t>
                </a:r>
                <a:r>
                  <a:rPr lang="zh-CN" altLang="en-US" dirty="0"/>
                  <a:t> 。</a:t>
                </a:r>
                <a:r>
                  <a:rPr lang="en-US" altLang="zh-CN" baseline="30000" dirty="0"/>
                  <a:t> </a:t>
                </a:r>
                <a:endParaRPr lang="en-US" altLang="zh-CN" b="1" dirty="0"/>
              </a:p>
              <a:p>
                <a:pPr eaLnBrk="1" hangingPunct="1">
                  <a:lnSpc>
                    <a:spcPct val="150000"/>
                  </a:lnSpc>
                  <a:buFont typeface="Wingdings" panose="05000000000000000000" pitchFamily="2" charset="2"/>
                  <a:buNone/>
                </a:pPr>
                <a:r>
                  <a:rPr lang="en-US" altLang="zh-CN" b="1" dirty="0"/>
                  <a:t>   </a:t>
                </a:r>
                <a:r>
                  <a:rPr lang="zh-CN" altLang="en-US" b="1" dirty="0">
                    <a:solidFill>
                      <a:schemeClr val="hlink"/>
                    </a:solidFill>
                  </a:rPr>
                  <a:t>证明</a:t>
                </a:r>
                <a:r>
                  <a:rPr lang="zh-CN" altLang="en-US" dirty="0"/>
                  <a:t>   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上有</a:t>
                </a:r>
                <a:r>
                  <a:rPr lang="en-US" altLang="zh-CN" dirty="0"/>
                  <a:t>2</a:t>
                </a:r>
                <a:r>
                  <a:rPr lang="en-US" altLang="zh-CN" baseline="30000" dirty="0"/>
                  <a:t>nⅹn</a:t>
                </a:r>
                <a:r>
                  <a:rPr lang="zh-CN" altLang="en-US" dirty="0"/>
                  <a:t>个不同关系</a:t>
                </a:r>
                <a:endParaRPr lang="en-US" altLang="zh-CN" dirty="0"/>
              </a:p>
              <a:p>
                <a:pPr eaLnBrk="1" hangingPunct="1">
                  <a:lnSpc>
                    <a:spcPct val="150000"/>
                  </a:lnSpc>
                  <a:buFont typeface="Wingdings" panose="05000000000000000000" pitchFamily="2" charset="2"/>
                  <a:buNone/>
                </a:pPr>
                <a:r>
                  <a:rPr lang="zh-CN" altLang="en-US" dirty="0"/>
                  <a:t>            </a:t>
                </a:r>
                <a:r>
                  <a:rPr lang="en-US" altLang="zh-CN" dirty="0"/>
                  <a:t>I</a:t>
                </a:r>
                <a:r>
                  <a:rPr lang="en-US" altLang="zh-CN" baseline="-25000" dirty="0"/>
                  <a:t>A</a:t>
                </a:r>
                <a:r>
                  <a:rPr lang="zh-CN" altLang="en-US" dirty="0"/>
                  <a:t>＝</a:t>
                </a:r>
                <a:r>
                  <a:rPr lang="en-US" altLang="zh-CN" dirty="0"/>
                  <a:t>R</a:t>
                </a:r>
                <a:r>
                  <a:rPr lang="en-US" altLang="zh-CN" baseline="30000" dirty="0"/>
                  <a:t>0</a:t>
                </a:r>
                <a:r>
                  <a:rPr lang="en-US" altLang="zh-CN" dirty="0">
                    <a:latin typeface="宋体" panose="02010600030101010101" pitchFamily="2" charset="-122"/>
                  </a:rPr>
                  <a:t>,</a:t>
                </a:r>
                <a:r>
                  <a:rPr lang="en-US" altLang="zh-CN" dirty="0"/>
                  <a:t>R</a:t>
                </a:r>
                <a:r>
                  <a:rPr lang="en-US" altLang="zh-CN" baseline="30000" dirty="0"/>
                  <a:t>1</a:t>
                </a:r>
                <a:r>
                  <a:rPr lang="en-US" altLang="zh-CN" dirty="0">
                    <a:latin typeface="宋体" panose="02010600030101010101" pitchFamily="2" charset="-122"/>
                  </a:rPr>
                  <a:t>,</a:t>
                </a:r>
                <a:r>
                  <a:rPr lang="en-US" altLang="zh-CN" dirty="0"/>
                  <a:t>R</a:t>
                </a:r>
                <a:r>
                  <a:rPr lang="en-US" altLang="zh-CN" baseline="30000" dirty="0"/>
                  <a:t>2</a:t>
                </a:r>
                <a:r>
                  <a:rPr lang="en-US" altLang="zh-CN" dirty="0">
                    <a:latin typeface="宋体" panose="02010600030101010101" pitchFamily="2" charset="-122"/>
                  </a:rPr>
                  <a:t>,</a:t>
                </a:r>
                <a:r>
                  <a:rPr lang="en-US" altLang="zh-CN" dirty="0">
                    <a:latin typeface="Arial" panose="020B0604020202020204" pitchFamily="34" charset="0"/>
                  </a:rPr>
                  <a:t>…</a:t>
                </a:r>
                <a:r>
                  <a:rPr lang="en-US" altLang="zh-CN" dirty="0">
                    <a:latin typeface="宋体" panose="02010600030101010101" pitchFamily="2" charset="-122"/>
                  </a:rPr>
                  <a:t>,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sup>
                    </m:sSup>
                  </m:oMath>
                </a14:m>
                <a:endParaRPr lang="en-US" altLang="zh-CN" dirty="0">
                  <a:latin typeface="宋体" panose="02010600030101010101" pitchFamily="2" charset="-122"/>
                </a:endParaRPr>
              </a:p>
              <a:p>
                <a:pPr eaLnBrk="1" hangingPunct="1">
                  <a:lnSpc>
                    <a:spcPct val="150000"/>
                  </a:lnSpc>
                  <a:buFont typeface="Wingdings" panose="05000000000000000000" pitchFamily="2" charset="2"/>
                  <a:buNone/>
                </a:pPr>
                <a:r>
                  <a:rPr lang="zh-CN" altLang="en-US" sz="2800" dirty="0">
                    <a:latin typeface="宋体" panose="02010600030101010101" pitchFamily="2" charset="-122"/>
                  </a:rPr>
                  <a:t>总共有</a:t>
                </a:r>
                <a:r>
                  <a:rPr lang="en-US" altLang="zh-CN" sz="2800" dirty="0"/>
                  <a:t>2</a:t>
                </a:r>
                <a:r>
                  <a:rPr lang="en-US" altLang="zh-CN" sz="2800" baseline="30000" dirty="0"/>
                  <a:t>nⅹn</a:t>
                </a:r>
                <a:r>
                  <a:rPr lang="en-US" altLang="zh-CN" sz="2800" dirty="0"/>
                  <a:t>+1</a:t>
                </a:r>
                <a:r>
                  <a:rPr lang="zh-CN" altLang="en-US" sz="2800" dirty="0"/>
                  <a:t>种幂关系，必然有至少两个幂关系相等</a:t>
                </a:r>
                <a:endParaRPr lang="en-US" altLang="zh-CN" dirty="0">
                  <a:latin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7411" name="Rectangle 3">
                <a:extLst>
                  <a:ext uri="{FF2B5EF4-FFF2-40B4-BE49-F238E27FC236}">
                    <a16:creationId xmlns:a16="http://schemas.microsoft.com/office/drawing/2014/main" id="{9090FFDE-AB58-5391-0BE9-AA32723510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68313" y="1916113"/>
                <a:ext cx="8675687" cy="4941887"/>
              </a:xfrm>
              <a:blipFill>
                <a:blip r:embed="rId2"/>
                <a:stretch>
                  <a:fillRect l="-1476" r="-16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413" name="对象 1">
            <a:extLst>
              <a:ext uri="{FF2B5EF4-FFF2-40B4-BE49-F238E27FC236}">
                <a16:creationId xmlns:a16="http://schemas.microsoft.com/office/drawing/2014/main" id="{564CE9FF-370F-08FA-4269-EA849BD654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08850" y="2362200"/>
          <a:ext cx="38576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2268" imgH="152268" progId="Equation.DSMT4">
                  <p:embed/>
                </p:oleObj>
              </mc:Choice>
              <mc:Fallback>
                <p:oleObj name="Equation" r:id="rId3" imgW="152268" imgH="152268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850" y="2362200"/>
                        <a:ext cx="385763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153A5273-2191-B727-55C6-04F10072539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设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A={1,2,3,4},R={&lt;1,2&gt;,&lt;2,3&gt;,&lt;3,4&gt;,&lt;4,3&gt;},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则下列式子中（     ）正确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2266B4A-FCC0-9AA7-44F3-BBE1FE0E65C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</a:t>
            </a:r>
            <a:r>
              <a:rPr lang="en-US" altLang="zh-CN" sz="2600" baseline="30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=R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29863AE-12F7-D186-B454-99348309C18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</a:t>
            </a:r>
            <a:r>
              <a:rPr lang="en-US" altLang="zh-CN" sz="2600" baseline="30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=R</a:t>
            </a:r>
            <a:r>
              <a:rPr lang="en-US" altLang="zh-CN" sz="2600" baseline="30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endParaRPr lang="zh-CN" altLang="en-US" sz="2600" baseline="30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C3028EB-7B08-61AC-5C7C-BE048767546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</a:t>
            </a:r>
            <a:r>
              <a:rPr lang="en-US" altLang="zh-CN" sz="2600" baseline="30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=R</a:t>
            </a:r>
            <a:r>
              <a:rPr lang="en-US" altLang="zh-CN" sz="2600" baseline="30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endParaRPr lang="zh-CN" altLang="en-US" sz="2600" baseline="30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3103978-09A5-90ED-2741-0A8FE4AA640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763688" y="5350420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</a:t>
            </a:r>
            <a:r>
              <a:rPr lang="en-US" altLang="zh-CN" sz="2600" baseline="30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= R</a:t>
            </a:r>
            <a:r>
              <a:rPr lang="en-US" altLang="zh-CN" sz="2600" baseline="30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</a:t>
            </a:r>
            <a:endParaRPr lang="zh-CN" altLang="en-US" sz="2600" baseline="30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24CA8BD1-9530-617B-E237-56C725A318DB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9172510-3618-374E-1F1C-0EE24CB8BEC5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1A653F7-92FE-F456-77F5-26858E3B9E8B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73CD4B9-58F8-396B-2745-35F2D3001DAE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97DFF21-F58C-B98E-3837-41AA41882A29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7DE99C0C-972E-8B8D-FA91-B031A05DF5B1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7" name="TitleBackground">
              <a:extLst>
                <a:ext uri="{FF2B5EF4-FFF2-40B4-BE49-F238E27FC236}">
                  <a16:creationId xmlns:a16="http://schemas.microsoft.com/office/drawing/2014/main" id="{DEAB92CD-B4E9-EACC-BD3C-4E99BC7959F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ColorBlock">
              <a:extLst>
                <a:ext uri="{FF2B5EF4-FFF2-40B4-BE49-F238E27FC236}">
                  <a16:creationId xmlns:a16="http://schemas.microsoft.com/office/drawing/2014/main" id="{61D42DE2-F86A-829F-ABF2-37773722D00D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TypeText">
              <a:extLst>
                <a:ext uri="{FF2B5EF4-FFF2-40B4-BE49-F238E27FC236}">
                  <a16:creationId xmlns:a16="http://schemas.microsoft.com/office/drawing/2014/main" id="{54329A90-D293-62B6-4C2F-B82AB827287B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20" name="TipText">
              <a:extLst>
                <a:ext uri="{FF2B5EF4-FFF2-40B4-BE49-F238E27FC236}">
                  <a16:creationId xmlns:a16="http://schemas.microsoft.com/office/drawing/2014/main" id="{00CB4AE4-D075-C0D2-43C2-8CC2D74AA02D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8C932CAC-1C7F-9EF1-B19C-5978A9EEACCE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916612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153A5273-2191-B727-55C6-04F10072539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设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A={1,2,3,4},R={&lt;1,2&gt;,&lt;2,3&gt;,&lt;3,4&gt;,&lt;4,1&gt;},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则下列式子中（     ）不正确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2266B4A-FCC0-9AA7-44F3-BBE1FE0E65C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</a:t>
            </a:r>
            <a:r>
              <a:rPr lang="en-US" altLang="zh-CN" sz="2600" baseline="30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= R</a:t>
            </a:r>
            <a:r>
              <a:rPr lang="en-US" altLang="zh-CN" sz="2600" baseline="30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29863AE-12F7-D186-B454-99348309C18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</a:t>
            </a:r>
            <a:r>
              <a:rPr lang="en-US" altLang="zh-CN" sz="2600" baseline="30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=R</a:t>
            </a:r>
            <a:r>
              <a:rPr lang="en-US" altLang="zh-CN" sz="2600" baseline="30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</a:t>
            </a:r>
            <a:endParaRPr lang="zh-CN" altLang="en-US" sz="2600" baseline="30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C3028EB-7B08-61AC-5C7C-BE048767546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</a:t>
            </a:r>
            <a:r>
              <a:rPr lang="en-US" altLang="zh-CN" sz="2600" baseline="30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9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=R</a:t>
            </a:r>
            <a:r>
              <a:rPr lang="en-US" altLang="zh-CN" sz="2600" baseline="30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</a:t>
            </a:r>
            <a:endParaRPr lang="zh-CN" altLang="en-US" sz="2600" baseline="30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3103978-09A5-90ED-2741-0A8FE4AA640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763688" y="5350420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</a:t>
            </a:r>
            <a:r>
              <a:rPr lang="en-US" altLang="zh-CN" sz="2600" baseline="30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= I</a:t>
            </a:r>
            <a:r>
              <a:rPr lang="en-US" altLang="zh-CN" sz="2600" baseline="-25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2600" baseline="-25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24CA8BD1-9530-617B-E237-56C725A318DB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9172510-3618-374E-1F1C-0EE24CB8BEC5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1A653F7-92FE-F456-77F5-26858E3B9E8B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73CD4B9-58F8-396B-2745-35F2D3001DAE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97DFF21-F58C-B98E-3837-41AA41882A29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7DE99C0C-972E-8B8D-FA91-B031A05DF5B1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7" name="TitleBackground">
              <a:extLst>
                <a:ext uri="{FF2B5EF4-FFF2-40B4-BE49-F238E27FC236}">
                  <a16:creationId xmlns:a16="http://schemas.microsoft.com/office/drawing/2014/main" id="{DEAB92CD-B4E9-EACC-BD3C-4E99BC7959F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ColorBlock">
              <a:extLst>
                <a:ext uri="{FF2B5EF4-FFF2-40B4-BE49-F238E27FC236}">
                  <a16:creationId xmlns:a16="http://schemas.microsoft.com/office/drawing/2014/main" id="{61D42DE2-F86A-829F-ABF2-37773722D00D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TypeText">
              <a:extLst>
                <a:ext uri="{FF2B5EF4-FFF2-40B4-BE49-F238E27FC236}">
                  <a16:creationId xmlns:a16="http://schemas.microsoft.com/office/drawing/2014/main" id="{54329A90-D293-62B6-4C2F-B82AB827287B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20" name="TipText">
              <a:extLst>
                <a:ext uri="{FF2B5EF4-FFF2-40B4-BE49-F238E27FC236}">
                  <a16:creationId xmlns:a16="http://schemas.microsoft.com/office/drawing/2014/main" id="{00CB4AE4-D075-C0D2-43C2-8CC2D74AA02D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8C932CAC-1C7F-9EF1-B19C-5978A9EEACCE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0394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8">
            <a:extLst>
              <a:ext uri="{FF2B5EF4-FFF2-40B4-BE49-F238E27FC236}">
                <a16:creationId xmlns:a16="http://schemas.microsoft.com/office/drawing/2014/main" id="{F1380DFD-8117-2C44-3C53-7EAC051BB7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3.9.1 </a:t>
            </a:r>
            <a:r>
              <a:rPr lang="zh-CN" altLang="en-US" sz="5400"/>
              <a:t>复合关系的性质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C73E926A-3313-2741-BC17-2EF4D38701A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916113"/>
            <a:ext cx="8748712" cy="4941887"/>
          </a:xfrm>
        </p:spPr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3.9.6</a:t>
            </a:r>
            <a:r>
              <a:rPr lang="zh-CN" altLang="en-US"/>
              <a:t>设</a:t>
            </a:r>
            <a:r>
              <a:rPr lang="en-US" altLang="zh-CN"/>
              <a:t>A</a:t>
            </a:r>
            <a:r>
              <a:rPr lang="zh-CN" altLang="en-US"/>
              <a:t>为任意集合，</a:t>
            </a:r>
            <a:r>
              <a:rPr lang="en-US" altLang="zh-CN"/>
              <a:t>R</a:t>
            </a:r>
            <a:r>
              <a:rPr lang="zh-CN" altLang="en-US"/>
              <a:t>   </a:t>
            </a:r>
            <a:r>
              <a:rPr lang="en-US" altLang="zh-CN"/>
              <a:t>A×A</a:t>
            </a:r>
            <a:r>
              <a:rPr lang="zh-CN" altLang="en-US"/>
              <a:t>，若存在非负整数</a:t>
            </a:r>
            <a:r>
              <a:rPr lang="en-US" altLang="zh-CN"/>
              <a:t>s</a:t>
            </a:r>
            <a:r>
              <a:rPr lang="zh-CN" altLang="en-US"/>
              <a:t>＜</a:t>
            </a:r>
            <a:r>
              <a:rPr lang="en-US" altLang="zh-CN"/>
              <a:t>t</a:t>
            </a:r>
            <a:r>
              <a:rPr lang="zh-CN" altLang="en-US"/>
              <a:t>使</a:t>
            </a:r>
            <a:r>
              <a:rPr lang="en-US" altLang="zh-CN"/>
              <a:t>R</a:t>
            </a:r>
            <a:r>
              <a:rPr lang="en-US" altLang="zh-CN" baseline="30000"/>
              <a:t>s</a:t>
            </a:r>
            <a:r>
              <a:rPr lang="zh-CN" altLang="en-US"/>
              <a:t>＝</a:t>
            </a:r>
            <a:r>
              <a:rPr lang="en-US" altLang="zh-CN"/>
              <a:t>R</a:t>
            </a:r>
            <a:r>
              <a:rPr lang="en-US" altLang="zh-CN" baseline="30000"/>
              <a:t>t</a:t>
            </a:r>
            <a:r>
              <a:rPr lang="zh-CN" altLang="en-US"/>
              <a:t>，则对任意非负整数</a:t>
            </a:r>
            <a:r>
              <a:rPr lang="en-US" altLang="zh-CN"/>
              <a:t>k</a:t>
            </a:r>
            <a:r>
              <a:rPr lang="zh-CN" altLang="en-US"/>
              <a:t>，有                </a:t>
            </a:r>
            <a:r>
              <a:rPr lang="en-US" altLang="zh-CN"/>
              <a:t>R</a:t>
            </a:r>
            <a:r>
              <a:rPr lang="en-US" altLang="zh-CN" baseline="30000"/>
              <a:t>s+k</a:t>
            </a:r>
            <a:r>
              <a:rPr lang="zh-CN" altLang="en-US"/>
              <a:t>＝</a:t>
            </a:r>
            <a:r>
              <a:rPr lang="en-US" altLang="zh-CN"/>
              <a:t>R</a:t>
            </a:r>
            <a:r>
              <a:rPr lang="en-US" altLang="zh-CN" baseline="30000"/>
              <a:t>t+k</a:t>
            </a:r>
            <a:endParaRPr lang="en-US" altLang="zh-CN"/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chemeClr val="hlink"/>
                </a:solidFill>
              </a:rPr>
              <a:t>   证明  </a:t>
            </a:r>
            <a:r>
              <a:rPr lang="zh-CN" altLang="en-US"/>
              <a:t> </a:t>
            </a:r>
            <a:r>
              <a:rPr lang="en-US" altLang="zh-CN"/>
              <a:t>R</a:t>
            </a:r>
            <a:r>
              <a:rPr lang="en-US" altLang="zh-CN" baseline="30000"/>
              <a:t>t+k</a:t>
            </a:r>
            <a:r>
              <a:rPr lang="zh-CN" altLang="en-US"/>
              <a:t>＝</a:t>
            </a:r>
            <a:r>
              <a:rPr lang="en-US" altLang="zh-CN"/>
              <a:t>R</a:t>
            </a:r>
            <a:r>
              <a:rPr lang="en-US" altLang="zh-CN" baseline="30000"/>
              <a:t>t</a:t>
            </a:r>
            <a:r>
              <a:rPr lang="en-US" altLang="zh-CN"/>
              <a:t>  R</a:t>
            </a:r>
            <a:r>
              <a:rPr lang="en-US" altLang="zh-CN" baseline="30000"/>
              <a:t>k</a:t>
            </a:r>
            <a:r>
              <a:rPr lang="zh-CN" altLang="en-US"/>
              <a:t>＝</a:t>
            </a:r>
            <a:r>
              <a:rPr lang="en-US" altLang="zh-CN"/>
              <a:t>R</a:t>
            </a:r>
            <a:r>
              <a:rPr lang="en-US" altLang="zh-CN" baseline="30000"/>
              <a:t>s</a:t>
            </a:r>
            <a:r>
              <a:rPr lang="en-US" altLang="zh-CN"/>
              <a:t>  R</a:t>
            </a:r>
            <a:r>
              <a:rPr lang="en-US" altLang="zh-CN" baseline="30000"/>
              <a:t>k</a:t>
            </a:r>
            <a:r>
              <a:rPr lang="zh-CN" altLang="en-US"/>
              <a:t>＝</a:t>
            </a:r>
            <a:r>
              <a:rPr lang="en-US" altLang="zh-CN"/>
              <a:t>R</a:t>
            </a:r>
            <a:r>
              <a:rPr lang="en-US" altLang="zh-CN" baseline="30000"/>
              <a:t>s+k</a:t>
            </a:r>
          </a:p>
        </p:txBody>
      </p:sp>
      <p:graphicFrame>
        <p:nvGraphicFramePr>
          <p:cNvPr id="18436" name="Object 10">
            <a:extLst>
              <a:ext uri="{FF2B5EF4-FFF2-40B4-BE49-F238E27FC236}">
                <a16:creationId xmlns:a16="http://schemas.microsoft.com/office/drawing/2014/main" id="{1E7046DF-DD9B-5955-8536-93DC129128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59338" y="5516563"/>
          <a:ext cx="255587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1468" imgH="114151" progId="Equation.DSMT4">
                  <p:embed/>
                </p:oleObj>
              </mc:Choice>
              <mc:Fallback>
                <p:oleObj name="Equation" r:id="rId2" imgW="101468" imgH="114151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5516563"/>
                        <a:ext cx="255587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Object 11">
            <a:extLst>
              <a:ext uri="{FF2B5EF4-FFF2-40B4-BE49-F238E27FC236}">
                <a16:creationId xmlns:a16="http://schemas.microsoft.com/office/drawing/2014/main" id="{074B9FB1-9442-EAED-DDE5-191A762CE7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44875" y="5503863"/>
          <a:ext cx="255588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1468" imgH="114151" progId="Equation.DSMT4">
                  <p:embed/>
                </p:oleObj>
              </mc:Choice>
              <mc:Fallback>
                <p:oleObj name="Equation" r:id="rId4" imgW="101468" imgH="114151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4875" y="5503863"/>
                        <a:ext cx="255588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8" name="对象 1">
            <a:extLst>
              <a:ext uri="{FF2B5EF4-FFF2-40B4-BE49-F238E27FC236}">
                <a16:creationId xmlns:a16="http://schemas.microsoft.com/office/drawing/2014/main" id="{EFF10C67-8F15-2014-C1A1-9005CFFBDB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67400" y="2374900"/>
          <a:ext cx="38576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268" imgH="152268" progId="Equation.DSMT4">
                  <p:embed/>
                </p:oleObj>
              </mc:Choice>
              <mc:Fallback>
                <p:oleObj name="Equation" r:id="rId5" imgW="152268" imgH="152268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2374900"/>
                        <a:ext cx="385763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8">
            <a:extLst>
              <a:ext uri="{FF2B5EF4-FFF2-40B4-BE49-F238E27FC236}">
                <a16:creationId xmlns:a16="http://schemas.microsoft.com/office/drawing/2014/main" id="{141D2DC6-854A-5FA0-6A0A-6145F12F47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3.9.1 </a:t>
            </a:r>
            <a:r>
              <a:rPr lang="zh-CN" altLang="en-US" sz="5400"/>
              <a:t>复合关系的性质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DFB795E2-8381-E199-7E0C-B8C647CB277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23850" y="1844675"/>
            <a:ext cx="8748713" cy="5013325"/>
          </a:xfrm>
        </p:spPr>
        <p:txBody>
          <a:bodyPr/>
          <a:lstStyle/>
          <a:p>
            <a:pPr eaLnBrk="1" hangingPunct="1">
              <a:lnSpc>
                <a:spcPct val="114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3.9.7</a:t>
            </a:r>
            <a:r>
              <a:rPr lang="zh-CN" altLang="en-US" dirty="0"/>
              <a:t>设</a:t>
            </a:r>
            <a:r>
              <a:rPr lang="en-US" altLang="zh-CN" dirty="0"/>
              <a:t>A</a:t>
            </a:r>
            <a:r>
              <a:rPr lang="zh-CN" altLang="en-US" dirty="0"/>
              <a:t>为任意集合，</a:t>
            </a:r>
            <a:r>
              <a:rPr lang="en-US" altLang="zh-CN" dirty="0"/>
              <a:t>R  </a:t>
            </a:r>
            <a:r>
              <a:rPr lang="zh-CN" altLang="en-US" dirty="0"/>
              <a:t> </a:t>
            </a:r>
            <a:r>
              <a:rPr lang="en-US" altLang="zh-CN" dirty="0"/>
              <a:t>A×A</a:t>
            </a:r>
            <a:r>
              <a:rPr lang="zh-CN" altLang="en-US" dirty="0"/>
              <a:t>，若存在非负整数</a:t>
            </a:r>
            <a:r>
              <a:rPr lang="en-US" altLang="zh-CN" dirty="0"/>
              <a:t>s</a:t>
            </a:r>
            <a:r>
              <a:rPr lang="zh-CN" altLang="en-US" dirty="0"/>
              <a:t>＜</a:t>
            </a:r>
            <a:r>
              <a:rPr lang="en-US" altLang="zh-CN" dirty="0"/>
              <a:t>t</a:t>
            </a:r>
            <a:r>
              <a:rPr lang="zh-CN" altLang="en-US" dirty="0"/>
              <a:t>使</a:t>
            </a:r>
            <a:r>
              <a:rPr lang="en-US" altLang="zh-CN" dirty="0" err="1"/>
              <a:t>R</a:t>
            </a:r>
            <a:r>
              <a:rPr lang="en-US" altLang="zh-CN" baseline="30000" dirty="0" err="1"/>
              <a:t>s</a:t>
            </a:r>
            <a:r>
              <a:rPr lang="zh-CN" altLang="en-US" dirty="0"/>
              <a:t>＝</a:t>
            </a:r>
            <a:r>
              <a:rPr lang="en-US" altLang="zh-CN" dirty="0" err="1"/>
              <a:t>R</a:t>
            </a:r>
            <a:r>
              <a:rPr lang="en-US" altLang="zh-CN" baseline="30000" dirty="0" err="1"/>
              <a:t>t</a:t>
            </a:r>
            <a:r>
              <a:rPr lang="zh-CN" altLang="en-US" dirty="0"/>
              <a:t>，则对任意非负整数</a:t>
            </a:r>
            <a:r>
              <a:rPr lang="en-US" altLang="zh-CN" dirty="0"/>
              <a:t>n</a:t>
            </a:r>
            <a:r>
              <a:rPr lang="zh-CN" altLang="en-US" dirty="0"/>
              <a:t>，有  </a:t>
            </a:r>
            <a:r>
              <a:rPr lang="en-US" altLang="zh-CN" dirty="0" err="1"/>
              <a:t>R</a:t>
            </a:r>
            <a:r>
              <a:rPr lang="en-US" altLang="zh-CN" baseline="30000" dirty="0" err="1"/>
              <a:t>n</a:t>
            </a:r>
            <a:r>
              <a:rPr lang="en-US" altLang="zh-CN" dirty="0"/>
              <a:t>∈{R</a:t>
            </a:r>
            <a:r>
              <a:rPr lang="en-US" altLang="zh-CN" baseline="30000" dirty="0"/>
              <a:t>0</a:t>
            </a:r>
            <a:r>
              <a:rPr lang="en-US" altLang="zh-CN" dirty="0"/>
              <a:t>,R</a:t>
            </a:r>
            <a:r>
              <a:rPr lang="en-US" altLang="zh-CN" baseline="30000" dirty="0"/>
              <a:t>1</a:t>
            </a:r>
            <a:r>
              <a:rPr lang="en-US" altLang="zh-CN" dirty="0"/>
              <a:t>,R</a:t>
            </a:r>
            <a:r>
              <a:rPr lang="en-US" altLang="zh-CN" baseline="30000" dirty="0"/>
              <a:t>2</a:t>
            </a:r>
            <a:r>
              <a:rPr lang="en-US" altLang="zh-CN" dirty="0"/>
              <a:t>,</a:t>
            </a:r>
            <a:r>
              <a:rPr lang="en-US" altLang="zh-CN" dirty="0">
                <a:latin typeface="Arial" charset="0"/>
              </a:rPr>
              <a:t>…</a:t>
            </a:r>
            <a:r>
              <a:rPr lang="en-US" altLang="zh-CN" dirty="0"/>
              <a:t>,</a:t>
            </a:r>
            <a:r>
              <a:rPr lang="en-US" altLang="zh-CN" dirty="0" err="1"/>
              <a:t>R</a:t>
            </a:r>
            <a:r>
              <a:rPr lang="en-US" altLang="zh-CN" baseline="30000" dirty="0" err="1"/>
              <a:t>t</a:t>
            </a:r>
            <a:r>
              <a:rPr lang="en-US" altLang="zh-CN" dirty="0"/>
              <a:t>}</a:t>
            </a:r>
          </a:p>
          <a:p>
            <a:pPr eaLnBrk="1" hangingPunct="1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</a:t>
            </a:r>
            <a:r>
              <a:rPr lang="zh-CN" altLang="en-US" dirty="0">
                <a:solidFill>
                  <a:srgbClr val="FF0000"/>
                </a:solidFill>
              </a:rPr>
              <a:t>证明 </a:t>
            </a:r>
            <a:r>
              <a:rPr lang="en-US" altLang="zh-CN" dirty="0"/>
              <a:t>n</a:t>
            </a:r>
            <a:r>
              <a:rPr lang="en-US" altLang="zh-CN" dirty="0">
                <a:solidFill>
                  <a:srgbClr val="FF00FF"/>
                </a:solidFill>
              </a:rPr>
              <a:t>&gt;</a:t>
            </a:r>
            <a:r>
              <a:rPr lang="en-US" altLang="zh-CN" dirty="0"/>
              <a:t>t</a:t>
            </a:r>
            <a:r>
              <a:rPr lang="en-US" altLang="zh-CN" dirty="0">
                <a:latin typeface="+mn-ea"/>
              </a:rPr>
              <a:t>,</a:t>
            </a:r>
            <a:r>
              <a:rPr lang="zh-CN" altLang="en-US" dirty="0">
                <a:latin typeface="+mn-ea"/>
              </a:rPr>
              <a:t>令</a:t>
            </a:r>
            <a:r>
              <a:rPr lang="en-US" altLang="zh-CN" dirty="0"/>
              <a:t>n</a:t>
            </a:r>
            <a:r>
              <a:rPr lang="zh-CN" altLang="en-US" dirty="0"/>
              <a:t>＝</a:t>
            </a:r>
            <a:r>
              <a:rPr lang="en-US" altLang="zh-CN" dirty="0"/>
              <a:t>t</a:t>
            </a:r>
            <a:r>
              <a:rPr lang="zh-CN" altLang="en-US" dirty="0"/>
              <a:t>＋</a:t>
            </a:r>
            <a:r>
              <a:rPr lang="en-US" altLang="zh-CN" dirty="0"/>
              <a:t>md</a:t>
            </a:r>
            <a:r>
              <a:rPr lang="zh-CN" altLang="en-US" dirty="0"/>
              <a:t>＋</a:t>
            </a:r>
            <a:r>
              <a:rPr lang="en-US" altLang="zh-CN" dirty="0"/>
              <a:t>r(d</a:t>
            </a:r>
            <a:r>
              <a:rPr lang="zh-CN" altLang="en-US" dirty="0"/>
              <a:t>＝</a:t>
            </a:r>
            <a:r>
              <a:rPr lang="en-US" altLang="zh-CN" dirty="0"/>
              <a:t>t</a:t>
            </a:r>
            <a:r>
              <a:rPr lang="zh-CN" altLang="en-US" dirty="0"/>
              <a:t>－</a:t>
            </a:r>
            <a:r>
              <a:rPr lang="en-US" altLang="zh-CN" dirty="0"/>
              <a:t>s</a:t>
            </a:r>
            <a:r>
              <a:rPr lang="zh-CN" altLang="en-US" dirty="0"/>
              <a:t>且</a:t>
            </a:r>
            <a:r>
              <a:rPr lang="en-US" altLang="zh-CN" dirty="0"/>
              <a:t>0≤r</a:t>
            </a:r>
            <a:r>
              <a:rPr lang="zh-CN" altLang="en-US" dirty="0"/>
              <a:t>＜</a:t>
            </a:r>
            <a:r>
              <a:rPr lang="en-US" altLang="zh-CN" dirty="0"/>
              <a:t>d)</a:t>
            </a:r>
            <a:endParaRPr lang="zh-CN" altLang="en-US" dirty="0"/>
          </a:p>
          <a:p>
            <a:pPr eaLnBrk="1" hangingPunct="1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</a:t>
            </a:r>
            <a:r>
              <a:rPr lang="en-US" altLang="zh-CN" dirty="0" err="1"/>
              <a:t>R</a:t>
            </a:r>
            <a:r>
              <a:rPr lang="en-US" altLang="zh-CN" baseline="30000" dirty="0" err="1"/>
              <a:t>n</a:t>
            </a:r>
            <a:r>
              <a:rPr lang="zh-CN" altLang="en-US" dirty="0"/>
              <a:t>＝</a:t>
            </a:r>
            <a:r>
              <a:rPr lang="en-US" altLang="zh-CN" dirty="0" err="1"/>
              <a:t>R</a:t>
            </a:r>
            <a:r>
              <a:rPr lang="en-US" altLang="zh-CN" baseline="30000" dirty="0" err="1"/>
              <a:t>t+</a:t>
            </a:r>
            <a:r>
              <a:rPr lang="en-US" altLang="zh-CN" baseline="30000" dirty="0" err="1">
                <a:solidFill>
                  <a:schemeClr val="accent1"/>
                </a:solidFill>
              </a:rPr>
              <a:t>md</a:t>
            </a:r>
            <a:r>
              <a:rPr lang="en-US" altLang="zh-CN" baseline="30000" dirty="0" err="1"/>
              <a:t>+r</a:t>
            </a:r>
            <a:r>
              <a:rPr lang="zh-CN" altLang="en-US" dirty="0"/>
              <a:t>＝</a:t>
            </a:r>
            <a:r>
              <a:rPr lang="en-US" altLang="zh-CN" dirty="0" err="1"/>
              <a:t>R</a:t>
            </a:r>
            <a:r>
              <a:rPr lang="en-US" altLang="zh-CN" baseline="30000" dirty="0" err="1"/>
              <a:t>s+md+r</a:t>
            </a:r>
            <a:r>
              <a:rPr lang="zh-CN" altLang="en-US" dirty="0"/>
              <a:t>＝</a:t>
            </a:r>
            <a:r>
              <a:rPr lang="en-US" altLang="zh-CN" dirty="0" err="1"/>
              <a:t>R</a:t>
            </a:r>
            <a:r>
              <a:rPr lang="en-US" altLang="zh-CN" baseline="30000" dirty="0" err="1"/>
              <a:t>s</a:t>
            </a:r>
            <a:r>
              <a:rPr lang="en-US" altLang="zh-CN" baseline="30000" dirty="0"/>
              <a:t>+(t-s)+(m-1)</a:t>
            </a:r>
            <a:r>
              <a:rPr lang="en-US" altLang="zh-CN" baseline="30000" dirty="0" err="1"/>
              <a:t>d+r</a:t>
            </a:r>
            <a:endParaRPr lang="en-US" altLang="zh-CN" baseline="30000" dirty="0"/>
          </a:p>
          <a:p>
            <a:pPr eaLnBrk="1" hangingPunct="1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</a:t>
            </a:r>
            <a:r>
              <a:rPr lang="zh-CN" altLang="en-US" dirty="0"/>
              <a:t>＝</a:t>
            </a:r>
            <a:r>
              <a:rPr lang="en-US" altLang="zh-CN" dirty="0" err="1"/>
              <a:t>R</a:t>
            </a:r>
            <a:r>
              <a:rPr lang="en-US" altLang="zh-CN" baseline="30000" dirty="0" err="1"/>
              <a:t>t</a:t>
            </a:r>
            <a:r>
              <a:rPr lang="en-US" altLang="zh-CN" baseline="30000" dirty="0"/>
              <a:t>+</a:t>
            </a:r>
            <a:r>
              <a:rPr lang="en-US" altLang="zh-CN" baseline="30000" dirty="0">
                <a:solidFill>
                  <a:srgbClr val="FF0066"/>
                </a:solidFill>
              </a:rPr>
              <a:t>(m-1)</a:t>
            </a:r>
            <a:r>
              <a:rPr lang="en-US" altLang="zh-CN" baseline="30000" dirty="0" err="1">
                <a:solidFill>
                  <a:srgbClr val="FF0066"/>
                </a:solidFill>
              </a:rPr>
              <a:t>d</a:t>
            </a:r>
            <a:r>
              <a:rPr lang="en-US" altLang="zh-CN" baseline="30000" dirty="0" err="1"/>
              <a:t>+r</a:t>
            </a:r>
            <a:r>
              <a:rPr lang="zh-CN" altLang="en-US" dirty="0"/>
              <a:t>＝</a:t>
            </a:r>
            <a:r>
              <a:rPr lang="en-US" altLang="zh-CN" dirty="0" err="1"/>
              <a:t>R</a:t>
            </a:r>
            <a:r>
              <a:rPr lang="en-US" altLang="zh-CN" baseline="30000" dirty="0" err="1"/>
              <a:t>s</a:t>
            </a:r>
            <a:r>
              <a:rPr lang="en-US" altLang="zh-CN" baseline="30000" dirty="0"/>
              <a:t>+(m-1)</a:t>
            </a:r>
            <a:r>
              <a:rPr lang="en-US" altLang="zh-CN" baseline="30000" dirty="0" err="1"/>
              <a:t>d+r</a:t>
            </a:r>
            <a:r>
              <a:rPr lang="zh-CN" altLang="en-US" dirty="0"/>
              <a:t>＝</a:t>
            </a:r>
            <a:r>
              <a:rPr lang="en-US" altLang="zh-CN" dirty="0" err="1"/>
              <a:t>R</a:t>
            </a:r>
            <a:r>
              <a:rPr lang="en-US" altLang="zh-CN" baseline="30000" dirty="0" err="1"/>
              <a:t>s</a:t>
            </a:r>
            <a:r>
              <a:rPr lang="en-US" altLang="zh-CN" baseline="30000" dirty="0"/>
              <a:t>+(t-s)+(m-2)</a:t>
            </a:r>
            <a:r>
              <a:rPr lang="en-US" altLang="zh-CN" baseline="30000" dirty="0" err="1"/>
              <a:t>d+r</a:t>
            </a:r>
            <a:r>
              <a:rPr lang="en-US" altLang="zh-CN" baseline="30000" dirty="0"/>
              <a:t> </a:t>
            </a:r>
          </a:p>
          <a:p>
            <a:pPr eaLnBrk="1" hangingPunct="1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</a:t>
            </a:r>
            <a:r>
              <a:rPr lang="zh-CN" altLang="en-US" dirty="0"/>
              <a:t>＝</a:t>
            </a:r>
            <a:r>
              <a:rPr lang="en-US" altLang="zh-CN" dirty="0" err="1"/>
              <a:t>R</a:t>
            </a:r>
            <a:r>
              <a:rPr lang="en-US" altLang="zh-CN" baseline="30000" dirty="0" err="1"/>
              <a:t>t</a:t>
            </a:r>
            <a:r>
              <a:rPr lang="en-US" altLang="zh-CN" baseline="30000" dirty="0"/>
              <a:t>+</a:t>
            </a:r>
            <a:r>
              <a:rPr lang="en-US" altLang="zh-CN" baseline="30000" dirty="0">
                <a:solidFill>
                  <a:schemeClr val="accent1"/>
                </a:solidFill>
              </a:rPr>
              <a:t>(m-2)</a:t>
            </a:r>
            <a:r>
              <a:rPr lang="en-US" altLang="zh-CN" baseline="30000" dirty="0" err="1">
                <a:solidFill>
                  <a:schemeClr val="accent1"/>
                </a:solidFill>
              </a:rPr>
              <a:t>d</a:t>
            </a:r>
            <a:r>
              <a:rPr lang="en-US" altLang="zh-CN" baseline="30000" dirty="0" err="1"/>
              <a:t>+r</a:t>
            </a:r>
            <a:r>
              <a:rPr lang="zh-CN" altLang="en-US" dirty="0"/>
              <a:t>＝</a:t>
            </a:r>
            <a:r>
              <a:rPr lang="zh-CN" altLang="zh-CN" dirty="0">
                <a:latin typeface="Arial" charset="0"/>
              </a:rPr>
              <a:t>…</a:t>
            </a:r>
            <a:r>
              <a:rPr lang="zh-CN" altLang="en-US" dirty="0"/>
              <a:t>＝</a:t>
            </a:r>
            <a:r>
              <a:rPr lang="en-US" altLang="zh-CN" dirty="0" err="1"/>
              <a:t>R</a:t>
            </a:r>
            <a:r>
              <a:rPr lang="en-US" altLang="zh-CN" baseline="30000" dirty="0" err="1"/>
              <a:t>t+r</a:t>
            </a:r>
            <a:r>
              <a:rPr lang="zh-CN" altLang="en-US" dirty="0"/>
              <a:t>＝</a:t>
            </a:r>
            <a:r>
              <a:rPr lang="en-US" altLang="zh-CN" dirty="0" err="1"/>
              <a:t>R</a:t>
            </a:r>
            <a:r>
              <a:rPr lang="en-US" altLang="zh-CN" baseline="30000" dirty="0" err="1"/>
              <a:t>s+r</a:t>
            </a:r>
            <a:endParaRPr lang="en-US" altLang="zh-CN" dirty="0"/>
          </a:p>
          <a:p>
            <a:pPr eaLnBrk="1" hangingPunct="1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zh-CN" altLang="en-US" dirty="0"/>
              <a:t>而</a:t>
            </a:r>
            <a:r>
              <a:rPr lang="en-US" altLang="zh-CN" dirty="0"/>
              <a:t>s</a:t>
            </a:r>
            <a:r>
              <a:rPr lang="zh-CN" altLang="en-US" dirty="0"/>
              <a:t>＋</a:t>
            </a:r>
            <a:r>
              <a:rPr lang="en-US" altLang="zh-CN" dirty="0"/>
              <a:t>r</a:t>
            </a:r>
            <a:r>
              <a:rPr lang="zh-CN" altLang="en-US" dirty="0"/>
              <a:t>＜</a:t>
            </a:r>
            <a:r>
              <a:rPr lang="en-US" altLang="zh-CN" dirty="0"/>
              <a:t>s</a:t>
            </a:r>
            <a:r>
              <a:rPr lang="zh-CN" altLang="en-US" dirty="0"/>
              <a:t>＋</a:t>
            </a:r>
            <a:r>
              <a:rPr lang="en-US" altLang="zh-CN" dirty="0"/>
              <a:t>d</a:t>
            </a:r>
            <a:r>
              <a:rPr lang="zh-CN" altLang="en-US" dirty="0"/>
              <a:t>＝</a:t>
            </a:r>
            <a:r>
              <a:rPr lang="en-US" altLang="zh-CN" dirty="0"/>
              <a:t>s</a:t>
            </a:r>
            <a:r>
              <a:rPr lang="zh-CN" altLang="en-US" dirty="0"/>
              <a:t>＋</a:t>
            </a:r>
            <a:r>
              <a:rPr lang="en-US" altLang="zh-CN" dirty="0"/>
              <a:t>t</a:t>
            </a:r>
            <a:r>
              <a:rPr lang="zh-CN" altLang="en-US" dirty="0"/>
              <a:t>－</a:t>
            </a:r>
            <a:r>
              <a:rPr lang="en-US" altLang="zh-CN" dirty="0"/>
              <a:t>s</a:t>
            </a:r>
            <a:r>
              <a:rPr lang="zh-CN" altLang="en-US" dirty="0"/>
              <a:t>＝</a:t>
            </a:r>
            <a:r>
              <a:rPr lang="en-US" altLang="zh-CN" dirty="0"/>
              <a:t>t</a:t>
            </a:r>
            <a:endParaRPr lang="en-US" altLang="zh-CN" baseline="30000" dirty="0"/>
          </a:p>
        </p:txBody>
      </p:sp>
      <p:graphicFrame>
        <p:nvGraphicFramePr>
          <p:cNvPr id="19460" name="对象 1">
            <a:extLst>
              <a:ext uri="{FF2B5EF4-FFF2-40B4-BE49-F238E27FC236}">
                <a16:creationId xmlns:a16="http://schemas.microsoft.com/office/drawing/2014/main" id="{1CC5973E-D526-78AB-E50F-1CEFDE8998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5963" y="1989138"/>
          <a:ext cx="385762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68" imgH="152268" progId="Equation.DSMT4">
                  <p:embed/>
                </p:oleObj>
              </mc:Choice>
              <mc:Fallback>
                <p:oleObj name="Equation" r:id="rId2" imgW="152268" imgH="152268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1989138"/>
                        <a:ext cx="385762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153A5273-2191-B727-55C6-04F10072539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设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A={1,2,3,4},R={&lt;1,2&gt;,&lt;2,3&gt;,&lt;3,4&gt;,&lt;1,1&gt;},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则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</a:t>
            </a:r>
            <a:r>
              <a:rPr lang="en-US" altLang="zh-CN" sz="2600" baseline="30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的值等于</a:t>
            </a:r>
            <a:r>
              <a:rPr lang="en-US" altLang="zh-CN" sz="2600" baseline="30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（        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2266B4A-FCC0-9AA7-44F3-BBE1FE0E65C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{&lt;4,3&gt;,&lt;2,3&gt;,&lt;3,4&gt;,&lt;1,1&gt;}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29863AE-12F7-D186-B454-99348309C18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</a:t>
            </a:r>
            <a:endParaRPr lang="zh-CN" altLang="en-US" sz="2600" baseline="30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C3028EB-7B08-61AC-5C7C-BE048767546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{&lt;1,1&gt;,&lt;1,2&gt;,&lt;1,3&gt;,&lt;1,4&gt;}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3103978-09A5-90ED-2741-0A8FE4AA640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763688" y="5350420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不确定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24CA8BD1-9530-617B-E237-56C725A318DB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9172510-3618-374E-1F1C-0EE24CB8BEC5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1A653F7-92FE-F456-77F5-26858E3B9E8B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73CD4B9-58F8-396B-2745-35F2D3001DAE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97DFF21-F58C-B98E-3837-41AA41882A29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7DE99C0C-972E-8B8D-FA91-B031A05DF5B1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7" name="TitleBackground">
              <a:extLst>
                <a:ext uri="{FF2B5EF4-FFF2-40B4-BE49-F238E27FC236}">
                  <a16:creationId xmlns:a16="http://schemas.microsoft.com/office/drawing/2014/main" id="{DEAB92CD-B4E9-EACC-BD3C-4E99BC7959F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ColorBlock">
              <a:extLst>
                <a:ext uri="{FF2B5EF4-FFF2-40B4-BE49-F238E27FC236}">
                  <a16:creationId xmlns:a16="http://schemas.microsoft.com/office/drawing/2014/main" id="{61D42DE2-F86A-829F-ABF2-37773722D00D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TypeText">
              <a:extLst>
                <a:ext uri="{FF2B5EF4-FFF2-40B4-BE49-F238E27FC236}">
                  <a16:creationId xmlns:a16="http://schemas.microsoft.com/office/drawing/2014/main" id="{54329A90-D293-62B6-4C2F-B82AB827287B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20" name="TipText">
              <a:extLst>
                <a:ext uri="{FF2B5EF4-FFF2-40B4-BE49-F238E27FC236}">
                  <a16:creationId xmlns:a16="http://schemas.microsoft.com/office/drawing/2014/main" id="{00CB4AE4-D075-C0D2-43C2-8CC2D74AA02D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8C932CAC-1C7F-9EF1-B19C-5978A9EEACCE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294395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153A5273-2191-B727-55C6-04F10072539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设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A={1,2,3,4},R={&lt;4,3&gt;,&lt;3,4&gt;,&lt;1,1&gt;},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则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</a:t>
            </a:r>
            <a:r>
              <a:rPr lang="en-US" altLang="zh-CN" sz="2600" baseline="30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的值等于</a:t>
            </a:r>
            <a:r>
              <a:rPr lang="en-US" altLang="zh-CN" sz="2600" baseline="30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（        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2266B4A-FCC0-9AA7-44F3-BBE1FE0E65C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{&lt;3,3&gt;,&lt;4,4&gt;,&lt;1,1&gt;}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29863AE-12F7-D186-B454-99348309C18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</a:t>
            </a:r>
            <a:endParaRPr lang="zh-CN" altLang="en-US" sz="2600" baseline="30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C3028EB-7B08-61AC-5C7C-BE048767546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{&lt;1,2&gt;,&lt;2,4&gt;,&lt;1,1&gt;}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3103978-09A5-90ED-2741-0A8FE4AA640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763688" y="5350420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不确定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24CA8BD1-9530-617B-E237-56C725A318DB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9172510-3618-374E-1F1C-0EE24CB8BEC5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1A653F7-92FE-F456-77F5-26858E3B9E8B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73CD4B9-58F8-396B-2745-35F2D3001DAE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97DFF21-F58C-B98E-3837-41AA41882A29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7DE99C0C-972E-8B8D-FA91-B031A05DF5B1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7" name="TitleBackground">
              <a:extLst>
                <a:ext uri="{FF2B5EF4-FFF2-40B4-BE49-F238E27FC236}">
                  <a16:creationId xmlns:a16="http://schemas.microsoft.com/office/drawing/2014/main" id="{DEAB92CD-B4E9-EACC-BD3C-4E99BC7959F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ColorBlock">
              <a:extLst>
                <a:ext uri="{FF2B5EF4-FFF2-40B4-BE49-F238E27FC236}">
                  <a16:creationId xmlns:a16="http://schemas.microsoft.com/office/drawing/2014/main" id="{61D42DE2-F86A-829F-ABF2-37773722D00D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TypeText">
              <a:extLst>
                <a:ext uri="{FF2B5EF4-FFF2-40B4-BE49-F238E27FC236}">
                  <a16:creationId xmlns:a16="http://schemas.microsoft.com/office/drawing/2014/main" id="{54329A90-D293-62B6-4C2F-B82AB827287B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20" name="TipText">
              <a:extLst>
                <a:ext uri="{FF2B5EF4-FFF2-40B4-BE49-F238E27FC236}">
                  <a16:creationId xmlns:a16="http://schemas.microsoft.com/office/drawing/2014/main" id="{00CB4AE4-D075-C0D2-43C2-8CC2D74AA02D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8C932CAC-1C7F-9EF1-B19C-5978A9EEACCE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119844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8">
            <a:extLst>
              <a:ext uri="{FF2B5EF4-FFF2-40B4-BE49-F238E27FC236}">
                <a16:creationId xmlns:a16="http://schemas.microsoft.com/office/drawing/2014/main" id="{FB4600E7-E228-6FDF-63A9-9146D3D66F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3.9.1 </a:t>
            </a:r>
            <a:r>
              <a:rPr lang="zh-CN" altLang="en-US" sz="5400"/>
              <a:t>复合关系的性质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38F7C3B7-C0BD-7E64-111E-3FF8132B0EC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60363" y="1916113"/>
            <a:ext cx="8748712" cy="4941887"/>
          </a:xfrm>
        </p:spPr>
        <p:txBody>
          <a:bodyPr/>
          <a:lstStyle/>
          <a:p>
            <a:pPr eaLnBrk="1" hangingPunct="1">
              <a:lnSpc>
                <a:spcPct val="125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3.9.8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dirty="0"/>
              <a:t>A</a:t>
            </a:r>
            <a:r>
              <a:rPr lang="zh-CN" altLang="en-US" dirty="0"/>
              <a:t>为任意集合，</a:t>
            </a:r>
            <a:r>
              <a:rPr lang="en-US" altLang="zh-CN" dirty="0"/>
              <a:t>R</a:t>
            </a:r>
            <a:r>
              <a:rPr lang="zh-CN" altLang="en-US" dirty="0"/>
              <a:t>   </a:t>
            </a:r>
            <a:r>
              <a:rPr lang="en-US" altLang="zh-CN" dirty="0"/>
              <a:t>A×A</a:t>
            </a:r>
            <a:r>
              <a:rPr lang="zh-CN" altLang="en-US" dirty="0"/>
              <a:t>，则</a:t>
            </a:r>
            <a:endParaRPr lang="en-US" altLang="zh-CN" dirty="0"/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R</a:t>
            </a:r>
            <a:r>
              <a:rPr lang="zh-CN" altLang="en-US" dirty="0"/>
              <a:t>为</a:t>
            </a:r>
            <a:r>
              <a:rPr lang="en-US" altLang="zh-CN" dirty="0"/>
              <a:t>A</a:t>
            </a:r>
            <a:r>
              <a:rPr lang="zh-CN" altLang="en-US" dirty="0"/>
              <a:t>上的传递关系 </a:t>
            </a:r>
            <a:r>
              <a:rPr lang="en-US" altLang="zh-CN" dirty="0">
                <a:solidFill>
                  <a:srgbClr val="FF0000"/>
                </a:solidFill>
                <a:sym typeface="Symbol" pitchFamily="18" charset="2"/>
              </a:rPr>
              <a:t></a:t>
            </a:r>
            <a:r>
              <a:rPr lang="zh-CN" altLang="en-US" dirty="0">
                <a:sym typeface="Symbol" pitchFamily="18" charset="2"/>
              </a:rPr>
              <a:t> </a:t>
            </a:r>
            <a:r>
              <a:rPr lang="en-US" altLang="zh-CN" dirty="0"/>
              <a:t>R</a:t>
            </a:r>
            <a:r>
              <a:rPr lang="en-US" altLang="zh-CN" baseline="30000" dirty="0"/>
              <a:t>2    </a:t>
            </a:r>
            <a:r>
              <a:rPr lang="en-US" altLang="zh-CN" dirty="0"/>
              <a:t>R</a:t>
            </a:r>
            <a:endParaRPr lang="zh-CN" altLang="en-US" b="1" dirty="0"/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en-US" b="1" dirty="0"/>
              <a:t>  </a:t>
            </a:r>
            <a:r>
              <a:rPr lang="zh-CN" altLang="en-US" b="1" dirty="0">
                <a:solidFill>
                  <a:schemeClr val="hlink"/>
                </a:solidFill>
              </a:rPr>
              <a:t>证明</a:t>
            </a:r>
            <a:r>
              <a:rPr lang="en-US" altLang="zh-CN" dirty="0">
                <a:solidFill>
                  <a:schemeClr val="accent1"/>
                </a:solidFill>
              </a:rPr>
              <a:t>(</a:t>
            </a:r>
            <a:r>
              <a:rPr lang="zh-CN" altLang="en-US" dirty="0">
                <a:solidFill>
                  <a:schemeClr val="accent1"/>
                </a:solidFill>
              </a:rPr>
              <a:t>必</a:t>
            </a:r>
            <a:r>
              <a:rPr lang="en-US" altLang="zh-CN" dirty="0">
                <a:solidFill>
                  <a:schemeClr val="accent1"/>
                </a:solidFill>
              </a:rPr>
              <a:t>)</a:t>
            </a:r>
            <a:r>
              <a:rPr lang="zh-CN" altLang="en-US" dirty="0"/>
              <a:t>任取</a:t>
            </a:r>
            <a:r>
              <a:rPr lang="en-US" altLang="zh-CN" b="1" dirty="0">
                <a:latin typeface="宋体" charset="-122"/>
              </a:rPr>
              <a:t>&lt;</a:t>
            </a:r>
            <a:r>
              <a:rPr lang="en-US" altLang="zh-CN" dirty="0" err="1"/>
              <a:t>a,b</a:t>
            </a:r>
            <a:r>
              <a:rPr lang="en-US" altLang="zh-CN" b="1" dirty="0">
                <a:latin typeface="宋体" charset="-122"/>
              </a:rPr>
              <a:t>&gt;</a:t>
            </a:r>
            <a:r>
              <a:rPr lang="en-US" altLang="zh-CN" dirty="0"/>
              <a:t>∈R</a:t>
            </a:r>
            <a:r>
              <a:rPr lang="en-US" altLang="zh-CN" baseline="30000" dirty="0"/>
              <a:t>2</a:t>
            </a:r>
            <a:endParaRPr lang="zh-CN" altLang="en-US" dirty="0"/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       </a:t>
            </a:r>
            <a:r>
              <a:rPr lang="en-US" altLang="zh-CN" dirty="0"/>
              <a:t>(</a:t>
            </a:r>
            <a:r>
              <a:rPr lang="en-US" altLang="zh-CN" dirty="0">
                <a:sym typeface="Symbol" pitchFamily="18" charset="2"/>
              </a:rPr>
              <a:t></a:t>
            </a:r>
            <a:r>
              <a:rPr lang="en-US" altLang="zh-CN" dirty="0" err="1"/>
              <a:t>x∈A</a:t>
            </a:r>
            <a:r>
              <a:rPr lang="en-US" altLang="zh-CN" dirty="0"/>
              <a:t>)(</a:t>
            </a:r>
            <a:r>
              <a:rPr lang="en-US" altLang="zh-CN" b="1" dirty="0">
                <a:latin typeface="宋体" charset="-122"/>
              </a:rPr>
              <a:t>&lt;</a:t>
            </a:r>
            <a:r>
              <a:rPr lang="en-US" altLang="zh-CN" dirty="0" err="1"/>
              <a:t>a,</a:t>
            </a:r>
            <a:r>
              <a:rPr lang="en-US" altLang="zh-CN" dirty="0" err="1">
                <a:solidFill>
                  <a:srgbClr val="FF0000"/>
                </a:solidFill>
              </a:rPr>
              <a:t>x</a:t>
            </a:r>
            <a:r>
              <a:rPr lang="en-US" altLang="zh-CN" b="1" dirty="0">
                <a:latin typeface="宋体" charset="-122"/>
              </a:rPr>
              <a:t>&gt;</a:t>
            </a:r>
            <a:r>
              <a:rPr lang="en-US" altLang="zh-CN" dirty="0"/>
              <a:t>∈R ∧ </a:t>
            </a:r>
            <a:r>
              <a:rPr lang="en-US" altLang="zh-CN" b="1" dirty="0">
                <a:latin typeface="宋体" charset="-122"/>
              </a:rPr>
              <a:t>&lt;</a:t>
            </a:r>
            <a:r>
              <a:rPr lang="en-US" altLang="zh-CN" dirty="0" err="1">
                <a:solidFill>
                  <a:srgbClr val="FF0000"/>
                </a:solidFill>
              </a:rPr>
              <a:t>x</a:t>
            </a:r>
            <a:r>
              <a:rPr lang="en-US" altLang="zh-CN" dirty="0" err="1"/>
              <a:t>,b</a:t>
            </a:r>
            <a:r>
              <a:rPr lang="en-US" altLang="zh-CN" b="1" dirty="0">
                <a:latin typeface="宋体" charset="-122"/>
              </a:rPr>
              <a:t>&gt;</a:t>
            </a:r>
            <a:r>
              <a:rPr lang="en-US" altLang="zh-CN" dirty="0"/>
              <a:t>∈R)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</a:t>
            </a:r>
            <a:r>
              <a:rPr lang="zh-CN" altLang="en-US" dirty="0"/>
              <a:t>            </a:t>
            </a:r>
            <a:r>
              <a:rPr lang="en-US" altLang="zh-CN" b="1" dirty="0">
                <a:latin typeface="宋体" charset="-122"/>
              </a:rPr>
              <a:t>&lt;</a:t>
            </a:r>
            <a:r>
              <a:rPr lang="en-US" altLang="zh-CN" dirty="0" err="1"/>
              <a:t>a,b</a:t>
            </a:r>
            <a:r>
              <a:rPr lang="en-US" altLang="zh-CN" b="1" dirty="0">
                <a:latin typeface="宋体" charset="-122"/>
              </a:rPr>
              <a:t>&gt;</a:t>
            </a:r>
            <a:r>
              <a:rPr lang="en-US" altLang="zh-CN" dirty="0"/>
              <a:t>∈R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</a:t>
            </a:r>
            <a:r>
              <a:rPr lang="en-US" altLang="zh-CN" dirty="0">
                <a:solidFill>
                  <a:schemeClr val="accent1"/>
                </a:solidFill>
              </a:rPr>
              <a:t>(</a:t>
            </a:r>
            <a:r>
              <a:rPr lang="zh-CN" altLang="en-US" dirty="0">
                <a:solidFill>
                  <a:schemeClr val="accent1"/>
                </a:solidFill>
              </a:rPr>
              <a:t>充</a:t>
            </a:r>
            <a:r>
              <a:rPr lang="en-US" altLang="zh-CN" dirty="0">
                <a:solidFill>
                  <a:schemeClr val="accent1"/>
                </a:solidFill>
              </a:rPr>
              <a:t>)</a:t>
            </a:r>
            <a:r>
              <a:rPr lang="zh-CN" altLang="en-US" dirty="0"/>
              <a:t>设</a:t>
            </a:r>
            <a:r>
              <a:rPr lang="en-US" altLang="zh-CN" b="1" dirty="0">
                <a:latin typeface="宋体" charset="-122"/>
              </a:rPr>
              <a:t>&lt;</a:t>
            </a:r>
            <a:r>
              <a:rPr lang="en-US" altLang="zh-CN" dirty="0" err="1"/>
              <a:t>a,x</a:t>
            </a:r>
            <a:r>
              <a:rPr lang="en-US" altLang="zh-CN" b="1" dirty="0">
                <a:latin typeface="宋体" charset="-122"/>
              </a:rPr>
              <a:t>&gt;</a:t>
            </a:r>
            <a:r>
              <a:rPr lang="en-US" altLang="zh-CN" dirty="0"/>
              <a:t>∈R</a:t>
            </a:r>
            <a:r>
              <a:rPr lang="zh-CN" altLang="en-US" dirty="0"/>
              <a:t>且</a:t>
            </a:r>
            <a:r>
              <a:rPr lang="en-US" altLang="zh-CN" b="1" dirty="0">
                <a:latin typeface="宋体" charset="-122"/>
              </a:rPr>
              <a:t>&lt;</a:t>
            </a:r>
            <a:r>
              <a:rPr lang="en-US" altLang="zh-CN" dirty="0" err="1"/>
              <a:t>x,b</a:t>
            </a:r>
            <a:r>
              <a:rPr lang="en-US" altLang="zh-CN" b="1" dirty="0">
                <a:latin typeface="宋体" charset="-122"/>
              </a:rPr>
              <a:t>&gt;</a:t>
            </a:r>
            <a:r>
              <a:rPr lang="en-US" altLang="zh-CN" dirty="0"/>
              <a:t>∈R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        </a:t>
            </a:r>
            <a:r>
              <a:rPr lang="en-US" altLang="zh-CN" b="1" dirty="0">
                <a:latin typeface="宋体" charset="-122"/>
              </a:rPr>
              <a:t>&lt;</a:t>
            </a:r>
            <a:r>
              <a:rPr lang="en-US" altLang="zh-CN" dirty="0" err="1"/>
              <a:t>a,b</a:t>
            </a:r>
            <a:r>
              <a:rPr lang="en-US" altLang="zh-CN" b="1" dirty="0">
                <a:latin typeface="宋体" charset="-122"/>
              </a:rPr>
              <a:t>&gt;</a:t>
            </a:r>
            <a:r>
              <a:rPr lang="en-US" altLang="zh-CN" dirty="0"/>
              <a:t>∈R</a:t>
            </a:r>
            <a:r>
              <a:rPr lang="en-US" altLang="zh-CN" baseline="30000" dirty="0"/>
              <a:t>2</a:t>
            </a:r>
            <a:r>
              <a:rPr lang="zh-CN" altLang="en-US" dirty="0"/>
              <a:t>   </a:t>
            </a:r>
            <a:r>
              <a:rPr lang="en-US" altLang="zh-CN" dirty="0"/>
              <a:t>R</a:t>
            </a:r>
            <a:endParaRPr lang="zh-CN" altLang="en-US" dirty="0"/>
          </a:p>
        </p:txBody>
      </p:sp>
      <p:graphicFrame>
        <p:nvGraphicFramePr>
          <p:cNvPr id="20484" name="Object 10">
            <a:extLst>
              <a:ext uri="{FF2B5EF4-FFF2-40B4-BE49-F238E27FC236}">
                <a16:creationId xmlns:a16="http://schemas.microsoft.com/office/drawing/2014/main" id="{0454CBF1-8647-36F7-A5C5-634C5320A0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73538" y="6334125"/>
          <a:ext cx="385762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68" imgH="152268" progId="Equation.DSMT4">
                  <p:embed/>
                </p:oleObj>
              </mc:Choice>
              <mc:Fallback>
                <p:oleObj name="Equation" r:id="rId2" imgW="152268" imgH="152268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3538" y="6334125"/>
                        <a:ext cx="385762" cy="38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Object 11">
            <a:extLst>
              <a:ext uri="{FF2B5EF4-FFF2-40B4-BE49-F238E27FC236}">
                <a16:creationId xmlns:a16="http://schemas.microsoft.com/office/drawing/2014/main" id="{D17B5437-5212-AEEC-873D-808FAFC9B1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1863" y="2106613"/>
          <a:ext cx="385762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68" imgH="152268" progId="Equation.DSMT4">
                  <p:embed/>
                </p:oleObj>
              </mc:Choice>
              <mc:Fallback>
                <p:oleObj name="Equation" r:id="rId4" imgW="152268" imgH="152268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2106613"/>
                        <a:ext cx="385762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对象 1">
            <a:extLst>
              <a:ext uri="{FF2B5EF4-FFF2-40B4-BE49-F238E27FC236}">
                <a16:creationId xmlns:a16="http://schemas.microsoft.com/office/drawing/2014/main" id="{E6A3BF60-1429-31E5-FDCA-9F4010B570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1863" y="2806700"/>
          <a:ext cx="385762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268" imgH="152268" progId="Equation.DSMT4">
                  <p:embed/>
                </p:oleObj>
              </mc:Choice>
              <mc:Fallback>
                <p:oleObj name="Equation" r:id="rId5" imgW="152268" imgH="152268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2806700"/>
                        <a:ext cx="385762" cy="38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1">
            <a:extLst>
              <a:ext uri="{FF2B5EF4-FFF2-40B4-BE49-F238E27FC236}">
                <a16:creationId xmlns:a16="http://schemas.microsoft.com/office/drawing/2014/main" id="{E4E40919-AF56-E123-0BC3-2534F574A4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3.9.3 </a:t>
            </a:r>
            <a:r>
              <a:rPr lang="zh-CN" altLang="en-US" sz="4800"/>
              <a:t>复合关系的关系矩阵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FFCE6DA5-12B9-4FE1-C574-8C4CEB7B25D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844675"/>
            <a:ext cx="8532812" cy="5013325"/>
          </a:xfrm>
        </p:spPr>
        <p:txBody>
          <a:bodyPr/>
          <a:lstStyle/>
          <a:p>
            <a:pPr eaLnBrk="1" hangingPunct="1">
              <a:lnSpc>
                <a:spcPct val="175000"/>
              </a:lnSpc>
            </a:pPr>
            <a:r>
              <a:rPr lang="zh-CN" altLang="en-US"/>
              <a:t>设关系</a:t>
            </a:r>
            <a:r>
              <a:rPr lang="en-US" altLang="zh-CN"/>
              <a:t>R</a:t>
            </a:r>
            <a:r>
              <a:rPr lang="zh-CN" altLang="en-US"/>
              <a:t>与</a:t>
            </a:r>
            <a:r>
              <a:rPr lang="en-US" altLang="zh-CN"/>
              <a:t>S</a:t>
            </a:r>
            <a:r>
              <a:rPr lang="zh-CN" altLang="en-US"/>
              <a:t>的关系矩阵</a:t>
            </a:r>
          </a:p>
          <a:p>
            <a:pPr eaLnBrk="1" hangingPunct="1">
              <a:lnSpc>
                <a:spcPct val="175000"/>
              </a:lnSpc>
              <a:buFont typeface="Wingdings" panose="05000000000000000000" pitchFamily="2" charset="2"/>
              <a:buNone/>
            </a:pPr>
            <a:r>
              <a:rPr lang="zh-CN" altLang="en-US"/>
              <a:t>       </a:t>
            </a:r>
            <a:r>
              <a:rPr lang="en-US" altLang="zh-CN"/>
              <a:t>M</a:t>
            </a:r>
            <a:r>
              <a:rPr lang="en-US" altLang="zh-CN" baseline="-25000"/>
              <a:t>R</a:t>
            </a:r>
            <a:r>
              <a:rPr lang="zh-CN" altLang="en-US"/>
              <a:t>＝                 </a:t>
            </a:r>
            <a:r>
              <a:rPr lang="en-US" altLang="zh-CN"/>
              <a:t>M</a:t>
            </a:r>
            <a:r>
              <a:rPr lang="en-US" altLang="zh-CN" baseline="-25000"/>
              <a:t>S</a:t>
            </a:r>
            <a:r>
              <a:rPr lang="zh-CN" altLang="en-US"/>
              <a:t>＝      </a:t>
            </a:r>
          </a:p>
          <a:p>
            <a:pPr eaLnBrk="1" hangingPunct="1">
              <a:lnSpc>
                <a:spcPct val="175000"/>
              </a:lnSpc>
              <a:buFont typeface="Wingdings" panose="05000000000000000000" pitchFamily="2" charset="2"/>
              <a:buNone/>
            </a:pPr>
            <a:r>
              <a:rPr lang="zh-CN" altLang="en-US"/>
              <a:t>   则复合关系</a:t>
            </a:r>
            <a:r>
              <a:rPr lang="en-US" altLang="zh-CN">
                <a:solidFill>
                  <a:schemeClr val="accent1"/>
                </a:solidFill>
              </a:rPr>
              <a:t>R S</a:t>
            </a:r>
            <a:r>
              <a:rPr lang="zh-CN" altLang="en-US">
                <a:solidFill>
                  <a:schemeClr val="hlink"/>
                </a:solidFill>
              </a:rPr>
              <a:t>的关系矩阵</a:t>
            </a:r>
          </a:p>
          <a:p>
            <a:pPr eaLnBrk="1" hangingPunct="1">
              <a:lnSpc>
                <a:spcPct val="175000"/>
              </a:lnSpc>
              <a:buFont typeface="Wingdings" panose="05000000000000000000" pitchFamily="2" charset="2"/>
              <a:buNone/>
            </a:pPr>
            <a:r>
              <a:rPr lang="zh-CN" altLang="en-US"/>
              <a:t>               ＝</a:t>
            </a:r>
            <a:r>
              <a:rPr lang="en-US" altLang="zh-CN"/>
              <a:t>M</a:t>
            </a:r>
            <a:r>
              <a:rPr lang="en-US" altLang="zh-CN" baseline="-25000"/>
              <a:t>R</a:t>
            </a:r>
            <a:r>
              <a:rPr lang="en-US" altLang="zh-CN"/>
              <a:t>  M</a:t>
            </a:r>
            <a:r>
              <a:rPr lang="en-US" altLang="zh-CN" baseline="-25000"/>
              <a:t>S</a:t>
            </a:r>
            <a:r>
              <a:rPr lang="zh-CN" altLang="en-US"/>
              <a:t>＝        ，其中</a:t>
            </a:r>
          </a:p>
          <a:p>
            <a:pPr eaLnBrk="1" hangingPunct="1">
              <a:lnSpc>
                <a:spcPct val="175000"/>
              </a:lnSpc>
              <a:buFont typeface="Wingdings" panose="05000000000000000000" pitchFamily="2" charset="2"/>
              <a:buNone/>
            </a:pPr>
            <a:r>
              <a:rPr lang="zh-CN" altLang="en-US"/>
              <a:t>    </a:t>
            </a:r>
            <a:r>
              <a:rPr lang="en-US" altLang="zh-CN"/>
              <a:t>r</a:t>
            </a:r>
            <a:r>
              <a:rPr lang="en-US" altLang="zh-CN" baseline="-25000"/>
              <a:t>ij</a:t>
            </a:r>
            <a:r>
              <a:rPr lang="zh-CN" altLang="en-US"/>
              <a:t>＝</a:t>
            </a:r>
            <a:r>
              <a:rPr lang="en-US" altLang="zh-CN"/>
              <a:t>(x</a:t>
            </a:r>
            <a:r>
              <a:rPr lang="en-US" altLang="zh-CN" baseline="-25000"/>
              <a:t>i1</a:t>
            </a:r>
            <a:r>
              <a:rPr lang="en-US" altLang="zh-CN"/>
              <a:t>∧y</a:t>
            </a:r>
            <a:r>
              <a:rPr lang="en-US" altLang="zh-CN" baseline="-25000"/>
              <a:t>1j</a:t>
            </a:r>
            <a:r>
              <a:rPr lang="en-US" altLang="zh-CN"/>
              <a:t>)∨(x</a:t>
            </a:r>
            <a:r>
              <a:rPr lang="en-US" altLang="zh-CN" baseline="-25000"/>
              <a:t>i2</a:t>
            </a:r>
            <a:r>
              <a:rPr lang="en-US" altLang="zh-CN"/>
              <a:t>∧y</a:t>
            </a:r>
            <a:r>
              <a:rPr lang="en-US" altLang="zh-CN" baseline="-25000"/>
              <a:t>2j</a:t>
            </a:r>
            <a:r>
              <a:rPr lang="en-US" altLang="zh-CN"/>
              <a:t>)∨</a:t>
            </a:r>
            <a:r>
              <a:rPr lang="en-US" altLang="zh-CN">
                <a:latin typeface="Arial" panose="020B0604020202020204" pitchFamily="34" charset="0"/>
              </a:rPr>
              <a:t>…</a:t>
            </a:r>
            <a:r>
              <a:rPr lang="en-US" altLang="zh-CN"/>
              <a:t>∨(x</a:t>
            </a:r>
            <a:r>
              <a:rPr lang="en-US" altLang="zh-CN" baseline="-25000"/>
              <a:t>ip</a:t>
            </a:r>
            <a:r>
              <a:rPr lang="en-US" altLang="zh-CN"/>
              <a:t>∧y</a:t>
            </a:r>
            <a:r>
              <a:rPr lang="en-US" altLang="zh-CN" baseline="-25000"/>
              <a:t>pj</a:t>
            </a:r>
            <a:r>
              <a:rPr lang="en-US" altLang="zh-CN"/>
              <a:t>)</a:t>
            </a:r>
          </a:p>
        </p:txBody>
      </p:sp>
      <p:graphicFrame>
        <p:nvGraphicFramePr>
          <p:cNvPr id="22532" name="Object 17">
            <a:extLst>
              <a:ext uri="{FF2B5EF4-FFF2-40B4-BE49-F238E27FC236}">
                <a16:creationId xmlns:a16="http://schemas.microsoft.com/office/drawing/2014/main" id="{3308F9F4-A244-83AE-AD16-83A4470E9978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3276600" y="5160963"/>
          <a:ext cx="255588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1468" imgH="114151" progId="Equation.DSMT4">
                  <p:embed/>
                </p:oleObj>
              </mc:Choice>
              <mc:Fallback>
                <p:oleObj name="Equation" r:id="rId2" imgW="101468" imgH="114151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160963"/>
                        <a:ext cx="255588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3" name="Object 10">
            <a:extLst>
              <a:ext uri="{FF2B5EF4-FFF2-40B4-BE49-F238E27FC236}">
                <a16:creationId xmlns:a16="http://schemas.microsoft.com/office/drawing/2014/main" id="{B7530D01-37F4-E0B9-F16C-83731E78A6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7538" y="4941888"/>
          <a:ext cx="1025525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6224" imgH="241195" progId="Equation.DSMT4">
                  <p:embed/>
                </p:oleObj>
              </mc:Choice>
              <mc:Fallback>
                <p:oleObj name="Equation" r:id="rId4" imgW="406224" imgH="241195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4941888"/>
                        <a:ext cx="1025525" cy="60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4" name="Object 11">
            <a:extLst>
              <a:ext uri="{FF2B5EF4-FFF2-40B4-BE49-F238E27FC236}">
                <a16:creationId xmlns:a16="http://schemas.microsoft.com/office/drawing/2014/main" id="{50A617A0-F4A0-E28A-3B8C-5CDFBD0946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9975" y="3068638"/>
          <a:ext cx="993775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529" imgH="253890" progId="Equation.DSMT4">
                  <p:embed/>
                </p:oleObj>
              </mc:Choice>
              <mc:Fallback>
                <p:oleObj name="Equation" r:id="rId6" imgW="393529" imgH="25389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3068638"/>
                        <a:ext cx="993775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5" name="Object 12">
            <a:extLst>
              <a:ext uri="{FF2B5EF4-FFF2-40B4-BE49-F238E27FC236}">
                <a16:creationId xmlns:a16="http://schemas.microsoft.com/office/drawing/2014/main" id="{ABD054FC-0E8D-B663-BE4C-5C9070E619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5013325"/>
          <a:ext cx="930275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68300" imgH="190500" progId="Equation.DSMT4">
                  <p:embed/>
                </p:oleObj>
              </mc:Choice>
              <mc:Fallback>
                <p:oleObj name="Equation" r:id="rId8" imgW="368300" imgH="1905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5013325"/>
                        <a:ext cx="930275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6" name="Object 13">
            <a:extLst>
              <a:ext uri="{FF2B5EF4-FFF2-40B4-BE49-F238E27FC236}">
                <a16:creationId xmlns:a16="http://schemas.microsoft.com/office/drawing/2014/main" id="{9938D61F-A0A2-4EA0-6058-005BA80887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2725" y="3068638"/>
          <a:ext cx="1089025" cy="70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31613" imgH="279279" progId="Equation.DSMT4">
                  <p:embed/>
                </p:oleObj>
              </mc:Choice>
              <mc:Fallback>
                <p:oleObj name="Equation" r:id="rId10" imgW="431613" imgH="279279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3068638"/>
                        <a:ext cx="1089025" cy="706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7" name="Object 20">
            <a:extLst>
              <a:ext uri="{FF2B5EF4-FFF2-40B4-BE49-F238E27FC236}">
                <a16:creationId xmlns:a16="http://schemas.microsoft.com/office/drawing/2014/main" id="{83002338-63F1-EDB0-2AF4-B943B09048B2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3059113" y="4149725"/>
          <a:ext cx="255587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1468" imgH="114151" progId="Equation.DSMT4">
                  <p:embed/>
                </p:oleObj>
              </mc:Choice>
              <mc:Fallback>
                <p:oleObj name="Equation" r:id="rId12" imgW="101468" imgH="114151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4149725"/>
                        <a:ext cx="255587" cy="28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8">
            <a:extLst>
              <a:ext uri="{FF2B5EF4-FFF2-40B4-BE49-F238E27FC236}">
                <a16:creationId xmlns:a16="http://schemas.microsoft.com/office/drawing/2014/main" id="{77F889C2-F6F7-ED2A-99A4-1D9B9AE71F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3.9.3 </a:t>
            </a:r>
            <a:r>
              <a:rPr lang="zh-CN" altLang="en-US" sz="4800"/>
              <a:t>复合关系的关系矩阵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018B80BE-8F37-6A86-3D13-10AD0DE9082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989138"/>
            <a:ext cx="8532812" cy="4868862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3.9.4</a:t>
            </a:r>
            <a:r>
              <a:rPr lang="zh-CN" altLang="en-US"/>
              <a:t>设</a:t>
            </a:r>
            <a:r>
              <a:rPr lang="en-US" altLang="zh-CN"/>
              <a:t>A</a:t>
            </a:r>
            <a:r>
              <a:rPr lang="zh-CN" altLang="en-US"/>
              <a:t>＝</a:t>
            </a:r>
            <a:r>
              <a:rPr lang="en-US" altLang="zh-CN"/>
              <a:t>{1,2,3,4,5}</a:t>
            </a:r>
            <a:r>
              <a:rPr lang="zh-CN" altLang="en-US"/>
              <a:t>，</a:t>
            </a:r>
            <a:r>
              <a:rPr lang="en-US" altLang="zh-CN"/>
              <a:t>A</a:t>
            </a:r>
            <a:r>
              <a:rPr lang="zh-CN" altLang="en-US"/>
              <a:t>＝</a:t>
            </a:r>
            <a:r>
              <a:rPr lang="en-US" altLang="zh-CN"/>
              <a:t>{a,b,c,d}</a:t>
            </a:r>
            <a:r>
              <a:rPr lang="zh-CN" altLang="en-US"/>
              <a:t>，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/>
              <a:t>   </a:t>
            </a:r>
            <a:r>
              <a:rPr lang="en-US" altLang="zh-CN"/>
              <a:t>R   A×A</a:t>
            </a:r>
            <a:r>
              <a:rPr lang="zh-CN" altLang="en-US"/>
              <a:t>，</a:t>
            </a:r>
            <a:r>
              <a:rPr lang="en-US" altLang="zh-CN"/>
              <a:t>S   A×B</a:t>
            </a:r>
            <a:r>
              <a:rPr lang="zh-CN" altLang="en-US"/>
              <a:t>，且</a:t>
            </a:r>
            <a:r>
              <a:rPr lang="en-US" altLang="zh-CN"/>
              <a:t>R</a:t>
            </a:r>
            <a:r>
              <a:rPr lang="zh-CN" altLang="en-US"/>
              <a:t>与</a:t>
            </a:r>
            <a:r>
              <a:rPr lang="en-US" altLang="zh-CN"/>
              <a:t>S</a:t>
            </a:r>
            <a:r>
              <a:rPr lang="zh-CN" altLang="en-US"/>
              <a:t>的关系矩阵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endParaRPr lang="zh-CN" altLang="en-US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endParaRPr lang="zh-CN" altLang="en-US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endParaRPr lang="zh-CN" altLang="en-US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/>
              <a:t>                             </a:t>
            </a:r>
          </a:p>
          <a:p>
            <a:pPr eaLnBrk="1" hangingPunct="1"/>
            <a:endParaRPr lang="en-US" altLang="zh-CN"/>
          </a:p>
        </p:txBody>
      </p:sp>
      <p:graphicFrame>
        <p:nvGraphicFramePr>
          <p:cNvPr id="23556" name="Object 4">
            <a:extLst>
              <a:ext uri="{FF2B5EF4-FFF2-40B4-BE49-F238E27FC236}">
                <a16:creationId xmlns:a16="http://schemas.microsoft.com/office/drawing/2014/main" id="{569B13B8-8FC9-CD3A-BC96-6A83A844E7D9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827088" y="3644900"/>
          <a:ext cx="3814762" cy="295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11300" imgH="1168400" progId="Equation.DSMT4">
                  <p:embed/>
                </p:oleObj>
              </mc:Choice>
              <mc:Fallback>
                <p:oleObj name="Equation" r:id="rId2" imgW="1511300" imgH="1168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644900"/>
                        <a:ext cx="3814762" cy="295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7">
            <a:extLst>
              <a:ext uri="{FF2B5EF4-FFF2-40B4-BE49-F238E27FC236}">
                <a16:creationId xmlns:a16="http://schemas.microsoft.com/office/drawing/2014/main" id="{D3691141-984E-F981-69E2-CD25C1134D44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5076825" y="3644900"/>
          <a:ext cx="3306763" cy="295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08100" imgH="1168400" progId="Equation.DSMT4">
                  <p:embed/>
                </p:oleObj>
              </mc:Choice>
              <mc:Fallback>
                <p:oleObj name="Equation" r:id="rId4" imgW="1308100" imgH="1168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3644900"/>
                        <a:ext cx="3306763" cy="295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10">
            <a:extLst>
              <a:ext uri="{FF2B5EF4-FFF2-40B4-BE49-F238E27FC236}">
                <a16:creationId xmlns:a16="http://schemas.microsoft.com/office/drawing/2014/main" id="{CBE22E00-7CF3-59B9-37E6-8D951E8DCF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2781300"/>
          <a:ext cx="385763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2268" imgH="152268" progId="Equation.DSMT4">
                  <p:embed/>
                </p:oleObj>
              </mc:Choice>
              <mc:Fallback>
                <p:oleObj name="Equation" r:id="rId6" imgW="152268" imgH="152268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2781300"/>
                        <a:ext cx="385763" cy="38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9" name="Object 11">
            <a:extLst>
              <a:ext uri="{FF2B5EF4-FFF2-40B4-BE49-F238E27FC236}">
                <a16:creationId xmlns:a16="http://schemas.microsoft.com/office/drawing/2014/main" id="{5F159B1A-AB7B-FEB1-ECED-A4721F8F66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9113" y="2746375"/>
          <a:ext cx="385762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2268" imgH="152268" progId="Equation.DSMT4">
                  <p:embed/>
                </p:oleObj>
              </mc:Choice>
              <mc:Fallback>
                <p:oleObj name="Equation" r:id="rId8" imgW="152268" imgH="152268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2746375"/>
                        <a:ext cx="385762" cy="38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8">
            <a:extLst>
              <a:ext uri="{FF2B5EF4-FFF2-40B4-BE49-F238E27FC236}">
                <a16:creationId xmlns:a16="http://schemas.microsoft.com/office/drawing/2014/main" id="{0C09CD70-0ACD-0069-2ED5-F19A2BB902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3.9.3 </a:t>
            </a:r>
            <a:r>
              <a:rPr lang="zh-CN" altLang="en-US" sz="4800"/>
              <a:t>复合关系的关系矩阵</a:t>
            </a:r>
            <a:r>
              <a:rPr lang="zh-CN" altLang="en-US" sz="4000"/>
              <a:t> 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24182237-B656-0C99-503C-D563D516FC3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989138"/>
            <a:ext cx="8424862" cy="4752975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</a:t>
            </a:r>
            <a:r>
              <a:rPr lang="zh-CN" altLang="en-US"/>
              <a:t>则        ＝</a:t>
            </a:r>
            <a:r>
              <a:rPr lang="en-US" altLang="zh-CN"/>
              <a:t>M</a:t>
            </a:r>
            <a:r>
              <a:rPr lang="en-US" altLang="zh-CN" baseline="-25000"/>
              <a:t>R</a:t>
            </a:r>
            <a:r>
              <a:rPr lang="en-US" altLang="zh-CN"/>
              <a:t>  M</a:t>
            </a:r>
            <a:r>
              <a:rPr lang="en-US" altLang="zh-CN" baseline="-25000"/>
              <a:t>S</a:t>
            </a:r>
            <a:endParaRPr lang="en-US" altLang="zh-CN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/>
              <a:t> 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endParaRPr lang="en-US" altLang="zh-CN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 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 </a:t>
            </a:r>
            <a:r>
              <a:rPr lang="zh-CN" altLang="en-US" sz="2800"/>
              <a:t>＝                                     ＝</a:t>
            </a:r>
          </a:p>
        </p:txBody>
      </p:sp>
      <p:graphicFrame>
        <p:nvGraphicFramePr>
          <p:cNvPr id="24580" name="Object 4">
            <a:extLst>
              <a:ext uri="{FF2B5EF4-FFF2-40B4-BE49-F238E27FC236}">
                <a16:creationId xmlns:a16="http://schemas.microsoft.com/office/drawing/2014/main" id="{81F65570-0703-7CD8-65CA-9EDD7E8BE699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1501775" y="3587750"/>
          <a:ext cx="2133600" cy="230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79500" imgH="1168400" progId="Equation.DSMT4">
                  <p:embed/>
                </p:oleObj>
              </mc:Choice>
              <mc:Fallback>
                <p:oleObj name="Equation" r:id="rId2" imgW="1079500" imgH="1168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1775" y="3587750"/>
                        <a:ext cx="2133600" cy="2309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1" name="Object 7">
            <a:extLst>
              <a:ext uri="{FF2B5EF4-FFF2-40B4-BE49-F238E27FC236}">
                <a16:creationId xmlns:a16="http://schemas.microsoft.com/office/drawing/2014/main" id="{08122EAC-5DA6-4CCB-A34F-C39D93659DC1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3835400" y="3590925"/>
          <a:ext cx="1803400" cy="230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1168400" progId="Equation.DSMT4">
                  <p:embed/>
                </p:oleObj>
              </mc:Choice>
              <mc:Fallback>
                <p:oleObj name="Equation" r:id="rId4" imgW="914400" imgH="1168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5400" y="3590925"/>
                        <a:ext cx="1803400" cy="230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2" name="Object 10">
            <a:extLst>
              <a:ext uri="{FF2B5EF4-FFF2-40B4-BE49-F238E27FC236}">
                <a16:creationId xmlns:a16="http://schemas.microsoft.com/office/drawing/2014/main" id="{1BDAC64D-44F9-8809-234B-2ECAAE96F8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1863" y="3581400"/>
          <a:ext cx="1752600" cy="234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76300" imgH="1168400" progId="Equation.DSMT4">
                  <p:embed/>
                </p:oleObj>
              </mc:Choice>
              <mc:Fallback>
                <p:oleObj name="Equation" r:id="rId6" imgW="876300" imgH="11684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3581400"/>
                        <a:ext cx="1752600" cy="234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3" name="Object 11">
            <a:extLst>
              <a:ext uri="{FF2B5EF4-FFF2-40B4-BE49-F238E27FC236}">
                <a16:creationId xmlns:a16="http://schemas.microsoft.com/office/drawing/2014/main" id="{A497A728-1A16-7E27-8621-32DC4AB99E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14463" y="2014538"/>
          <a:ext cx="925512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68300" imgH="190500" progId="Equation.DSMT4">
                  <p:embed/>
                </p:oleObj>
              </mc:Choice>
              <mc:Fallback>
                <p:oleObj name="Equation" r:id="rId8" imgW="368300" imgH="1905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4463" y="2014538"/>
                        <a:ext cx="925512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4" name="Object 12">
            <a:extLst>
              <a:ext uri="{FF2B5EF4-FFF2-40B4-BE49-F238E27FC236}">
                <a16:creationId xmlns:a16="http://schemas.microsoft.com/office/drawing/2014/main" id="{40207F39-6AE7-EAEF-933B-AD9C03F4F0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3575" y="2179638"/>
          <a:ext cx="255588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1468" imgH="114151" progId="Equation.DSMT4">
                  <p:embed/>
                </p:oleObj>
              </mc:Choice>
              <mc:Fallback>
                <p:oleObj name="Equation" r:id="rId10" imgW="101468" imgH="114151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2179638"/>
                        <a:ext cx="255588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5" name="Object 13">
            <a:extLst>
              <a:ext uri="{FF2B5EF4-FFF2-40B4-BE49-F238E27FC236}">
                <a16:creationId xmlns:a16="http://schemas.microsoft.com/office/drawing/2014/main" id="{B56B6989-D08C-E09F-FCCF-3D2C86DF01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95688" y="4581525"/>
          <a:ext cx="255587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1468" imgH="114151" progId="Equation.DSMT4">
                  <p:embed/>
                </p:oleObj>
              </mc:Choice>
              <mc:Fallback>
                <p:oleObj name="Equation" r:id="rId12" imgW="101468" imgH="114151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5688" y="4581525"/>
                        <a:ext cx="255587" cy="28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6" name="Text Box 14">
            <a:extLst>
              <a:ext uri="{FF2B5EF4-FFF2-40B4-BE49-F238E27FC236}">
                <a16:creationId xmlns:a16="http://schemas.microsoft.com/office/drawing/2014/main" id="{882B9396-511A-25A3-1E81-D9A581662F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5113" y="6165850"/>
            <a:ext cx="53498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  </a:t>
            </a:r>
            <a:r>
              <a:rPr lang="en-US" altLang="zh-CN" sz="2000"/>
              <a:t>(</a:t>
            </a:r>
            <a:r>
              <a:rPr lang="en-US" altLang="zh-CN" sz="2000">
                <a:solidFill>
                  <a:srgbClr val="FF00FF"/>
                </a:solidFill>
              </a:rPr>
              <a:t>1</a:t>
            </a:r>
            <a:r>
              <a:rPr lang="en-US" altLang="zh-CN" sz="2000"/>
              <a:t>∧</a:t>
            </a:r>
            <a:r>
              <a:rPr lang="en-US" altLang="zh-CN" sz="2000">
                <a:solidFill>
                  <a:schemeClr val="accent1"/>
                </a:solidFill>
              </a:rPr>
              <a:t>1</a:t>
            </a:r>
            <a:r>
              <a:rPr lang="en-US" altLang="zh-CN" sz="2000"/>
              <a:t>)∨(</a:t>
            </a:r>
            <a:r>
              <a:rPr lang="en-US" altLang="zh-CN" sz="2000">
                <a:solidFill>
                  <a:srgbClr val="FF00FF"/>
                </a:solidFill>
              </a:rPr>
              <a:t>1</a:t>
            </a:r>
            <a:r>
              <a:rPr lang="en-US" altLang="zh-CN" sz="2000"/>
              <a:t>∧</a:t>
            </a:r>
            <a:r>
              <a:rPr lang="en-US" altLang="zh-CN" sz="2000">
                <a:solidFill>
                  <a:schemeClr val="accent1"/>
                </a:solidFill>
              </a:rPr>
              <a:t>1</a:t>
            </a:r>
            <a:r>
              <a:rPr lang="en-US" altLang="zh-CN" sz="2000"/>
              <a:t>)∨(</a:t>
            </a:r>
            <a:r>
              <a:rPr lang="en-US" altLang="zh-CN" sz="2000">
                <a:solidFill>
                  <a:srgbClr val="FF00FF"/>
                </a:solidFill>
              </a:rPr>
              <a:t>1</a:t>
            </a:r>
            <a:r>
              <a:rPr lang="en-US" altLang="zh-CN" sz="2000"/>
              <a:t>∧</a:t>
            </a:r>
            <a:r>
              <a:rPr lang="en-US" altLang="zh-CN" sz="2000">
                <a:solidFill>
                  <a:schemeClr val="accent1"/>
                </a:solidFill>
              </a:rPr>
              <a:t>0</a:t>
            </a:r>
            <a:r>
              <a:rPr lang="en-US" altLang="zh-CN" sz="2000"/>
              <a:t>)∨(</a:t>
            </a:r>
            <a:r>
              <a:rPr lang="en-US" altLang="zh-CN" sz="2000">
                <a:solidFill>
                  <a:srgbClr val="FF00FF"/>
                </a:solidFill>
              </a:rPr>
              <a:t>1</a:t>
            </a:r>
            <a:r>
              <a:rPr lang="en-US" altLang="zh-CN" sz="2000"/>
              <a:t>∧</a:t>
            </a:r>
            <a:r>
              <a:rPr lang="en-US" altLang="zh-CN" sz="2000">
                <a:solidFill>
                  <a:schemeClr val="accent1"/>
                </a:solidFill>
              </a:rPr>
              <a:t>0</a:t>
            </a:r>
            <a:r>
              <a:rPr lang="en-US" altLang="zh-CN" sz="2000"/>
              <a:t>)∨(</a:t>
            </a:r>
            <a:r>
              <a:rPr lang="en-US" altLang="zh-CN" sz="2000">
                <a:solidFill>
                  <a:srgbClr val="FF00FF"/>
                </a:solidFill>
              </a:rPr>
              <a:t>0</a:t>
            </a:r>
            <a:r>
              <a:rPr lang="en-US" altLang="zh-CN" sz="2000"/>
              <a:t>∧</a:t>
            </a:r>
            <a:r>
              <a:rPr lang="en-US" altLang="zh-CN" sz="2000">
                <a:solidFill>
                  <a:schemeClr val="accent1"/>
                </a:solidFill>
              </a:rPr>
              <a:t>0</a:t>
            </a:r>
            <a:r>
              <a:rPr lang="en-US" altLang="zh-CN" sz="2000"/>
              <a:t>)=</a:t>
            </a:r>
            <a:r>
              <a:rPr lang="en-US" altLang="zh-CN" sz="2000">
                <a:solidFill>
                  <a:srgbClr val="3333FF"/>
                </a:solidFill>
              </a:rPr>
              <a:t>1</a:t>
            </a:r>
          </a:p>
        </p:txBody>
      </p:sp>
      <p:sp>
        <p:nvSpPr>
          <p:cNvPr id="24587" name="Text Box 20">
            <a:extLst>
              <a:ext uri="{FF2B5EF4-FFF2-40B4-BE49-F238E27FC236}">
                <a16:creationId xmlns:a16="http://schemas.microsoft.com/office/drawing/2014/main" id="{37EED0DE-29D6-46F8-5726-0B4EE8F89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75" y="2887663"/>
            <a:ext cx="55451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/>
              <a:t>(</a:t>
            </a:r>
            <a:r>
              <a:rPr lang="en-US" altLang="zh-CN" sz="2000">
                <a:solidFill>
                  <a:schemeClr val="hlink"/>
                </a:solidFill>
              </a:rPr>
              <a:t>0</a:t>
            </a:r>
            <a:r>
              <a:rPr lang="en-US" altLang="zh-CN" sz="2000"/>
              <a:t>∧</a:t>
            </a:r>
            <a:r>
              <a:rPr lang="en-US" altLang="zh-CN" sz="2000">
                <a:solidFill>
                  <a:srgbClr val="3333FF"/>
                </a:solidFill>
              </a:rPr>
              <a:t>1</a:t>
            </a:r>
            <a:r>
              <a:rPr lang="en-US" altLang="zh-CN" sz="2000"/>
              <a:t>)∨(</a:t>
            </a:r>
            <a:r>
              <a:rPr lang="en-US" altLang="zh-CN" sz="2000">
                <a:solidFill>
                  <a:schemeClr val="hlink"/>
                </a:solidFill>
              </a:rPr>
              <a:t>0</a:t>
            </a:r>
            <a:r>
              <a:rPr lang="en-US" altLang="zh-CN" sz="2000"/>
              <a:t>∧</a:t>
            </a:r>
            <a:r>
              <a:rPr lang="en-US" altLang="zh-CN" sz="2000">
                <a:solidFill>
                  <a:srgbClr val="3333FF"/>
                </a:solidFill>
              </a:rPr>
              <a:t>1</a:t>
            </a:r>
            <a:r>
              <a:rPr lang="en-US" altLang="zh-CN" sz="2000"/>
              <a:t>)∨(</a:t>
            </a:r>
            <a:r>
              <a:rPr lang="en-US" altLang="zh-CN" sz="2000">
                <a:solidFill>
                  <a:schemeClr val="hlink"/>
                </a:solidFill>
              </a:rPr>
              <a:t>0</a:t>
            </a:r>
            <a:r>
              <a:rPr lang="en-US" altLang="zh-CN" sz="2000"/>
              <a:t>∧</a:t>
            </a:r>
            <a:r>
              <a:rPr lang="en-US" altLang="zh-CN" sz="2000">
                <a:solidFill>
                  <a:srgbClr val="3333FF"/>
                </a:solidFill>
              </a:rPr>
              <a:t>1</a:t>
            </a:r>
            <a:r>
              <a:rPr lang="en-US" altLang="zh-CN" sz="2000"/>
              <a:t>)∨(</a:t>
            </a:r>
            <a:r>
              <a:rPr lang="en-US" altLang="zh-CN" sz="2000">
                <a:solidFill>
                  <a:schemeClr val="hlink"/>
                </a:solidFill>
              </a:rPr>
              <a:t>1</a:t>
            </a:r>
            <a:r>
              <a:rPr lang="en-US" altLang="zh-CN" sz="2000"/>
              <a:t>∧</a:t>
            </a:r>
            <a:r>
              <a:rPr lang="en-US" altLang="zh-CN" sz="2000">
                <a:solidFill>
                  <a:srgbClr val="3333FF"/>
                </a:solidFill>
              </a:rPr>
              <a:t>0</a:t>
            </a:r>
            <a:r>
              <a:rPr lang="en-US" altLang="zh-CN" sz="2000"/>
              <a:t>)∨(</a:t>
            </a:r>
            <a:r>
              <a:rPr lang="en-US" altLang="zh-CN" sz="2000">
                <a:solidFill>
                  <a:schemeClr val="hlink"/>
                </a:solidFill>
              </a:rPr>
              <a:t>1</a:t>
            </a:r>
            <a:r>
              <a:rPr lang="en-US" altLang="zh-CN" sz="2000"/>
              <a:t>∧</a:t>
            </a:r>
            <a:r>
              <a:rPr lang="en-US" altLang="zh-CN" sz="2000">
                <a:solidFill>
                  <a:srgbClr val="3333FF"/>
                </a:solidFill>
              </a:rPr>
              <a:t>0</a:t>
            </a:r>
            <a:r>
              <a:rPr lang="en-US" altLang="zh-CN" sz="2000"/>
              <a:t>)=</a:t>
            </a:r>
            <a:r>
              <a:rPr lang="en-US" altLang="zh-CN" sz="2000">
                <a:solidFill>
                  <a:schemeClr val="accent1"/>
                </a:solidFill>
              </a:rPr>
              <a:t>0</a:t>
            </a:r>
          </a:p>
        </p:txBody>
      </p:sp>
      <p:sp>
        <p:nvSpPr>
          <p:cNvPr id="24588" name="Line 29">
            <a:extLst>
              <a:ext uri="{FF2B5EF4-FFF2-40B4-BE49-F238E27FC236}">
                <a16:creationId xmlns:a16="http://schemas.microsoft.com/office/drawing/2014/main" id="{D9B8A12A-78A5-ED69-4182-88D9752D182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64388" y="3213100"/>
            <a:ext cx="360362" cy="936625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9" name="Line 31">
            <a:extLst>
              <a:ext uri="{FF2B5EF4-FFF2-40B4-BE49-F238E27FC236}">
                <a16:creationId xmlns:a16="http://schemas.microsoft.com/office/drawing/2014/main" id="{91147BB9-F728-FC04-F251-7722C3F296AD}"/>
              </a:ext>
            </a:extLst>
          </p:cNvPr>
          <p:cNvSpPr>
            <a:spLocks noChangeShapeType="1"/>
          </p:cNvSpPr>
          <p:nvPr/>
        </p:nvSpPr>
        <p:spPr bwMode="auto">
          <a:xfrm>
            <a:off x="6659563" y="5805488"/>
            <a:ext cx="0" cy="431800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8">
            <a:extLst>
              <a:ext uri="{FF2B5EF4-FFF2-40B4-BE49-F238E27FC236}">
                <a16:creationId xmlns:a16="http://schemas.microsoft.com/office/drawing/2014/main" id="{F355A7E6-2C2B-70A9-1F87-1862F88A16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3.9.4 </a:t>
            </a:r>
            <a:r>
              <a:rPr lang="zh-CN" altLang="en-US" sz="5400"/>
              <a:t>逆关系的概念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1DEE75D8-7D15-0320-EDFB-F1A3E79420A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916113"/>
            <a:ext cx="8569325" cy="4968875"/>
          </a:xfrm>
        </p:spPr>
        <p:txBody>
          <a:bodyPr/>
          <a:lstStyle/>
          <a:p>
            <a:pPr eaLnBrk="1" hangingPunct="1">
              <a:lnSpc>
                <a:spcPct val="200000"/>
              </a:lnSpc>
              <a:defRPr/>
            </a:pPr>
            <a:r>
              <a:rPr lang="zh-CN" altLang="en-US" dirty="0"/>
              <a:t>设</a:t>
            </a:r>
            <a:r>
              <a:rPr lang="en-US" altLang="zh-CN" dirty="0"/>
              <a:t>R</a:t>
            </a:r>
            <a:r>
              <a:rPr lang="zh-CN" altLang="en-US" dirty="0"/>
              <a:t>   </a:t>
            </a:r>
            <a:r>
              <a:rPr lang="en-US" altLang="zh-CN" dirty="0"/>
              <a:t>A×B</a:t>
            </a:r>
            <a:r>
              <a:rPr lang="zh-CN" altLang="en-US" dirty="0"/>
              <a:t>，</a:t>
            </a:r>
            <a:r>
              <a:rPr lang="en-US" altLang="zh-CN" dirty="0"/>
              <a:t>R</a:t>
            </a:r>
            <a:r>
              <a:rPr lang="zh-CN" altLang="en-US" dirty="0"/>
              <a:t>的</a:t>
            </a:r>
            <a:r>
              <a:rPr lang="zh-CN" altLang="en-US" b="1" dirty="0">
                <a:solidFill>
                  <a:schemeClr val="hlink"/>
                </a:solidFill>
              </a:rPr>
              <a:t>逆关系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chemeClr val="hlink"/>
                </a:solidFill>
              </a:rPr>
              <a:t>converse relation</a:t>
            </a:r>
            <a:r>
              <a:rPr lang="en-US" altLang="zh-CN" dirty="0"/>
              <a:t>)</a:t>
            </a:r>
          </a:p>
          <a:p>
            <a:pPr marL="0" indent="0"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chemeClr val="accent1"/>
                </a:solidFill>
              </a:rPr>
              <a:t>       R</a:t>
            </a:r>
            <a:r>
              <a:rPr lang="en-US" altLang="zh-CN" baseline="30000" dirty="0">
                <a:solidFill>
                  <a:schemeClr val="accent1"/>
                </a:solidFill>
              </a:rPr>
              <a:t>-1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charset="-122"/>
              </a:rPr>
              <a:t>&lt;</a:t>
            </a:r>
            <a:r>
              <a:rPr lang="en-US" altLang="zh-CN" dirty="0" err="1"/>
              <a:t>y,x</a:t>
            </a:r>
            <a:r>
              <a:rPr lang="en-US" altLang="zh-CN" b="1" dirty="0">
                <a:latin typeface="宋体" charset="-122"/>
              </a:rPr>
              <a:t>&gt;</a:t>
            </a:r>
            <a:r>
              <a:rPr lang="en-US" altLang="zh-CN" dirty="0"/>
              <a:t>︱</a:t>
            </a:r>
            <a:r>
              <a:rPr lang="en-US" altLang="zh-CN" dirty="0" err="1"/>
              <a:t>y∈B</a:t>
            </a:r>
            <a:r>
              <a:rPr lang="en-US" altLang="zh-CN" dirty="0" err="1">
                <a:latin typeface="+mn-ea"/>
              </a:rPr>
              <a:t>,</a:t>
            </a:r>
            <a:r>
              <a:rPr lang="en-US" altLang="zh-CN" dirty="0" err="1"/>
              <a:t>x∈A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charset="-122"/>
              </a:rPr>
              <a:t>&gt;</a:t>
            </a:r>
            <a:r>
              <a:rPr lang="en-US" altLang="zh-CN" dirty="0"/>
              <a:t>∈R}</a:t>
            </a:r>
          </a:p>
          <a:p>
            <a:pPr eaLnBrk="1" hangingPunct="1">
              <a:lnSpc>
                <a:spcPct val="200000"/>
              </a:lnSpc>
              <a:defRPr/>
            </a:pPr>
            <a:r>
              <a:rPr lang="zh-CN" altLang="en-US" dirty="0"/>
              <a:t>逆关系</a:t>
            </a:r>
            <a:r>
              <a:rPr lang="en-US" altLang="zh-CN" dirty="0"/>
              <a:t>R</a:t>
            </a:r>
            <a:r>
              <a:rPr lang="en-US" altLang="zh-CN" baseline="30000" dirty="0"/>
              <a:t>-1</a:t>
            </a:r>
            <a:r>
              <a:rPr lang="zh-CN" altLang="en-US" dirty="0"/>
              <a:t>的</a:t>
            </a:r>
            <a:r>
              <a:rPr lang="zh-CN" altLang="en-US" b="1" dirty="0">
                <a:solidFill>
                  <a:schemeClr val="hlink"/>
                </a:solidFill>
              </a:rPr>
              <a:t>关系矩阵</a:t>
            </a:r>
            <a:endParaRPr lang="zh-CN" altLang="en-US" dirty="0"/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       ＝ </a:t>
            </a:r>
          </a:p>
        </p:txBody>
      </p:sp>
      <p:graphicFrame>
        <p:nvGraphicFramePr>
          <p:cNvPr id="25604" name="Object 7">
            <a:extLst>
              <a:ext uri="{FF2B5EF4-FFF2-40B4-BE49-F238E27FC236}">
                <a16:creationId xmlns:a16="http://schemas.microsoft.com/office/drawing/2014/main" id="{D7A4D715-ACC9-B407-5B36-3F17842436D3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771775" y="5476875"/>
          <a:ext cx="673100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353" imgH="215619" progId="Equation.DSMT4">
                  <p:embed/>
                </p:oleObj>
              </mc:Choice>
              <mc:Fallback>
                <p:oleObj name="Equation" r:id="rId2" imgW="266353" imgH="215619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5476875"/>
                        <a:ext cx="673100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10">
            <a:extLst>
              <a:ext uri="{FF2B5EF4-FFF2-40B4-BE49-F238E27FC236}">
                <a16:creationId xmlns:a16="http://schemas.microsoft.com/office/drawing/2014/main" id="{87BD1E2B-7309-0A5E-87CA-3D51D409F3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5508625"/>
          <a:ext cx="86360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51" imgH="203112" progId="Equation.DSMT4">
                  <p:embed/>
                </p:oleObj>
              </mc:Choice>
              <mc:Fallback>
                <p:oleObj name="Equation" r:id="rId4" imgW="342751" imgH="203112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5508625"/>
                        <a:ext cx="863600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对象 1">
            <a:extLst>
              <a:ext uri="{FF2B5EF4-FFF2-40B4-BE49-F238E27FC236}">
                <a16:creationId xmlns:a16="http://schemas.microsoft.com/office/drawing/2014/main" id="{ED054DF7-E711-109B-ABD3-76D6CEBC93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2413" y="2374900"/>
          <a:ext cx="385762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2268" imgH="152268" progId="Equation.DSMT4">
                  <p:embed/>
                </p:oleObj>
              </mc:Choice>
              <mc:Fallback>
                <p:oleObj name="Equation" r:id="rId6" imgW="152268" imgH="152268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2413" y="2374900"/>
                        <a:ext cx="385762" cy="38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8DBCD3C4-AA63-D40C-F639-66739DE9FE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3.9.4 </a:t>
            </a:r>
            <a:r>
              <a:rPr lang="zh-CN" altLang="en-US" sz="5400"/>
              <a:t>逆关系的概念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EC17BCB8-24BB-7FB7-9EE8-4698AB2E6C8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989138"/>
            <a:ext cx="8640762" cy="4868862"/>
          </a:xfrm>
        </p:spPr>
        <p:txBody>
          <a:bodyPr/>
          <a:lstStyle/>
          <a:p>
            <a:pPr eaLnBrk="1" hangingPunct="1">
              <a:lnSpc>
                <a:spcPct val="175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3.9.5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dirty="0"/>
              <a:t>A</a:t>
            </a:r>
            <a:r>
              <a:rPr lang="zh-CN" altLang="en-US" dirty="0"/>
              <a:t>＝</a:t>
            </a:r>
            <a:r>
              <a:rPr lang="en-US" altLang="zh-CN" dirty="0"/>
              <a:t>{1,2,3,4}</a:t>
            </a:r>
            <a:r>
              <a:rPr lang="zh-CN" altLang="en-US" dirty="0"/>
              <a:t>，</a:t>
            </a:r>
            <a:r>
              <a:rPr lang="en-US" altLang="zh-CN" dirty="0"/>
              <a:t>A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dirty="0" err="1"/>
              <a:t>a,b,c,d</a:t>
            </a:r>
            <a:r>
              <a:rPr lang="en-US" altLang="zh-CN" dirty="0"/>
              <a:t>}</a:t>
            </a:r>
          </a:p>
          <a:p>
            <a:pPr eaLnBrk="1" hangingPunct="1">
              <a:lnSpc>
                <a:spcPct val="17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R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charset="-122"/>
              </a:rPr>
              <a:t>&lt;</a:t>
            </a:r>
            <a:r>
              <a:rPr lang="en-US" altLang="zh-CN" dirty="0"/>
              <a:t>1,1</a:t>
            </a:r>
            <a:r>
              <a:rPr lang="en-US" altLang="zh-CN" b="1" dirty="0">
                <a:latin typeface="宋体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charset="-122"/>
              </a:rPr>
              <a:t>&lt;</a:t>
            </a:r>
            <a:r>
              <a:rPr lang="en-US" altLang="zh-CN" dirty="0"/>
              <a:t>1,2</a:t>
            </a:r>
            <a:r>
              <a:rPr lang="en-US" altLang="zh-CN" b="1" dirty="0">
                <a:latin typeface="宋体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charset="-122"/>
              </a:rPr>
              <a:t>&lt;</a:t>
            </a:r>
            <a:r>
              <a:rPr lang="en-US" altLang="zh-CN" dirty="0"/>
              <a:t>2,1</a:t>
            </a:r>
            <a:r>
              <a:rPr lang="en-US" altLang="zh-CN" b="1" dirty="0">
                <a:latin typeface="宋体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charset="-122"/>
              </a:rPr>
              <a:t>&lt;</a:t>
            </a:r>
            <a:r>
              <a:rPr lang="en-US" altLang="zh-CN" dirty="0"/>
              <a:t>3,4</a:t>
            </a:r>
            <a:r>
              <a:rPr lang="en-US" altLang="zh-CN" b="1" dirty="0">
                <a:latin typeface="宋体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charset="-122"/>
              </a:rPr>
              <a:t>&lt;</a:t>
            </a:r>
            <a:r>
              <a:rPr lang="en-US" altLang="zh-CN" dirty="0"/>
              <a:t>4,1</a:t>
            </a:r>
            <a:r>
              <a:rPr lang="en-US" altLang="zh-CN" b="1" dirty="0">
                <a:latin typeface="宋体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charset="-122"/>
              </a:rPr>
              <a:t>&lt;</a:t>
            </a:r>
            <a:r>
              <a:rPr lang="en-US" altLang="zh-CN" dirty="0"/>
              <a:t>4,3</a:t>
            </a:r>
            <a:r>
              <a:rPr lang="en-US" altLang="zh-CN" b="1" dirty="0">
                <a:latin typeface="宋体" charset="-122"/>
              </a:rPr>
              <a:t>&gt;</a:t>
            </a:r>
            <a:r>
              <a:rPr lang="en-US" altLang="zh-CN" dirty="0"/>
              <a:t>}</a:t>
            </a:r>
          </a:p>
          <a:p>
            <a:pPr eaLnBrk="1" hangingPunct="1">
              <a:lnSpc>
                <a:spcPct val="17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S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charset="-122"/>
              </a:rPr>
              <a:t>&lt;</a:t>
            </a:r>
            <a:r>
              <a:rPr lang="en-US" altLang="zh-CN" dirty="0"/>
              <a:t>1,a</a:t>
            </a:r>
            <a:r>
              <a:rPr lang="en-US" altLang="zh-CN" b="1" dirty="0">
                <a:latin typeface="宋体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charset="-122"/>
              </a:rPr>
              <a:t>&lt;</a:t>
            </a:r>
            <a:r>
              <a:rPr lang="en-US" altLang="zh-CN" dirty="0"/>
              <a:t>1,b</a:t>
            </a:r>
            <a:r>
              <a:rPr lang="en-US" altLang="zh-CN" b="1" dirty="0">
                <a:latin typeface="宋体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charset="-122"/>
              </a:rPr>
              <a:t>&lt;</a:t>
            </a:r>
            <a:r>
              <a:rPr lang="en-US" altLang="zh-CN" dirty="0"/>
              <a:t>2,c</a:t>
            </a:r>
            <a:r>
              <a:rPr lang="en-US" altLang="zh-CN" b="1" dirty="0">
                <a:latin typeface="宋体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charset="-122"/>
              </a:rPr>
              <a:t>&lt;</a:t>
            </a:r>
            <a:r>
              <a:rPr lang="en-US" altLang="zh-CN" dirty="0"/>
              <a:t>3,a</a:t>
            </a:r>
            <a:r>
              <a:rPr lang="en-US" altLang="zh-CN" b="1" dirty="0">
                <a:latin typeface="宋体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charset="-122"/>
              </a:rPr>
              <a:t>&lt;</a:t>
            </a:r>
            <a:r>
              <a:rPr lang="en-US" altLang="zh-CN" dirty="0"/>
              <a:t>3,b</a:t>
            </a:r>
            <a:r>
              <a:rPr lang="en-US" altLang="zh-CN" b="1" dirty="0">
                <a:latin typeface="宋体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charset="-122"/>
              </a:rPr>
              <a:t>&lt;</a:t>
            </a:r>
            <a:r>
              <a:rPr lang="en-US" altLang="zh-CN" dirty="0"/>
              <a:t>4,d</a:t>
            </a:r>
            <a:r>
              <a:rPr lang="en-US" altLang="zh-CN" b="1" dirty="0">
                <a:latin typeface="宋体" charset="-122"/>
              </a:rPr>
              <a:t>&gt;</a:t>
            </a:r>
            <a:r>
              <a:rPr lang="en-US" altLang="zh-CN" dirty="0"/>
              <a:t>}</a:t>
            </a:r>
            <a:endParaRPr lang="en-US" altLang="zh-CN" b="1" dirty="0"/>
          </a:p>
          <a:p>
            <a:pPr eaLnBrk="1" hangingPunct="1">
              <a:lnSpc>
                <a:spcPct val="17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chemeClr val="accent1"/>
                </a:solidFill>
              </a:rPr>
              <a:t> R</a:t>
            </a:r>
            <a:r>
              <a:rPr lang="en-US" altLang="zh-CN" baseline="30000" dirty="0">
                <a:solidFill>
                  <a:schemeClr val="accent1"/>
                </a:solidFill>
              </a:rPr>
              <a:t>-1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charset="-122"/>
              </a:rPr>
              <a:t>&lt;</a:t>
            </a:r>
            <a:r>
              <a:rPr lang="en-US" altLang="zh-CN" dirty="0"/>
              <a:t>1,1</a:t>
            </a:r>
            <a:r>
              <a:rPr lang="en-US" altLang="zh-CN" b="1" dirty="0">
                <a:latin typeface="宋体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charset="-122"/>
              </a:rPr>
              <a:t>&lt;</a:t>
            </a:r>
            <a:r>
              <a:rPr lang="en-US" altLang="zh-CN" dirty="0"/>
              <a:t>2,1</a:t>
            </a:r>
            <a:r>
              <a:rPr lang="en-US" altLang="zh-CN" b="1" dirty="0">
                <a:latin typeface="宋体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charset="-122"/>
              </a:rPr>
              <a:t>&lt;</a:t>
            </a:r>
            <a:r>
              <a:rPr lang="en-US" altLang="zh-CN" dirty="0"/>
              <a:t>1,2</a:t>
            </a:r>
            <a:r>
              <a:rPr lang="en-US" altLang="zh-CN" b="1" dirty="0">
                <a:latin typeface="宋体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charset="-122"/>
              </a:rPr>
              <a:t>&lt;</a:t>
            </a:r>
            <a:r>
              <a:rPr lang="en-US" altLang="zh-CN" dirty="0"/>
              <a:t>4,3</a:t>
            </a:r>
            <a:r>
              <a:rPr lang="en-US" altLang="zh-CN" b="1" dirty="0">
                <a:latin typeface="宋体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charset="-122"/>
              </a:rPr>
              <a:t>&lt;</a:t>
            </a:r>
            <a:r>
              <a:rPr lang="en-US" altLang="zh-CN" dirty="0"/>
              <a:t>1,4</a:t>
            </a:r>
            <a:r>
              <a:rPr lang="en-US" altLang="zh-CN" b="1" dirty="0">
                <a:latin typeface="宋体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charset="-122"/>
              </a:rPr>
              <a:t>&lt;</a:t>
            </a:r>
            <a:r>
              <a:rPr lang="en-US" altLang="zh-CN" dirty="0"/>
              <a:t>3,4</a:t>
            </a:r>
            <a:r>
              <a:rPr lang="en-US" altLang="zh-CN" b="1" dirty="0">
                <a:latin typeface="宋体" charset="-122"/>
              </a:rPr>
              <a:t>&gt;</a:t>
            </a:r>
            <a:r>
              <a:rPr lang="en-US" altLang="zh-CN" dirty="0"/>
              <a:t>}</a:t>
            </a:r>
          </a:p>
          <a:p>
            <a:pPr eaLnBrk="1" hangingPunct="1">
              <a:lnSpc>
                <a:spcPct val="17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00FF"/>
                </a:solidFill>
              </a:rPr>
              <a:t> S</a:t>
            </a:r>
            <a:r>
              <a:rPr lang="en-US" altLang="zh-CN" baseline="30000" dirty="0">
                <a:solidFill>
                  <a:srgbClr val="FF00FF"/>
                </a:solidFill>
              </a:rPr>
              <a:t>-1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charset="-122"/>
              </a:rPr>
              <a:t>&lt;</a:t>
            </a:r>
            <a:r>
              <a:rPr lang="en-US" altLang="zh-CN" dirty="0"/>
              <a:t>a,1</a:t>
            </a:r>
            <a:r>
              <a:rPr lang="en-US" altLang="zh-CN" b="1" dirty="0">
                <a:latin typeface="宋体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charset="-122"/>
              </a:rPr>
              <a:t>&lt;</a:t>
            </a:r>
            <a:r>
              <a:rPr lang="en-US" altLang="zh-CN" dirty="0"/>
              <a:t>b,1</a:t>
            </a:r>
            <a:r>
              <a:rPr lang="en-US" altLang="zh-CN" b="1" dirty="0">
                <a:latin typeface="宋体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charset="-122"/>
              </a:rPr>
              <a:t>&lt;</a:t>
            </a:r>
            <a:r>
              <a:rPr lang="en-US" altLang="zh-CN" dirty="0"/>
              <a:t>c,2</a:t>
            </a:r>
            <a:r>
              <a:rPr lang="en-US" altLang="zh-CN" b="1" dirty="0">
                <a:latin typeface="宋体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charset="-122"/>
              </a:rPr>
              <a:t>&lt;</a:t>
            </a:r>
            <a:r>
              <a:rPr lang="en-US" altLang="zh-CN" dirty="0"/>
              <a:t>a,3</a:t>
            </a:r>
            <a:r>
              <a:rPr lang="en-US" altLang="zh-CN" b="1" dirty="0">
                <a:latin typeface="宋体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charset="-122"/>
              </a:rPr>
              <a:t>&lt;</a:t>
            </a:r>
            <a:r>
              <a:rPr lang="en-US" altLang="zh-CN" dirty="0"/>
              <a:t>b,3</a:t>
            </a:r>
            <a:r>
              <a:rPr lang="en-US" altLang="zh-CN" b="1" dirty="0">
                <a:latin typeface="宋体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charset="-122"/>
              </a:rPr>
              <a:t>&lt;</a:t>
            </a:r>
            <a:r>
              <a:rPr lang="en-US" altLang="zh-CN" dirty="0"/>
              <a:t>d,4</a:t>
            </a:r>
            <a:r>
              <a:rPr lang="en-US" altLang="zh-CN" b="1" dirty="0">
                <a:latin typeface="宋体" charset="-122"/>
              </a:rPr>
              <a:t>&gt;</a:t>
            </a:r>
            <a:r>
              <a:rPr lang="en-US" altLang="zh-CN" dirty="0"/>
              <a:t>}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F8643A09-95C1-9732-B619-9A1FDF6226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3.9.4 </a:t>
            </a:r>
            <a:r>
              <a:rPr lang="zh-CN" altLang="en-US" sz="5400"/>
              <a:t>逆关系的概念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F7BA60A3-5D88-D43A-46B5-42D2F3A251E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844675"/>
            <a:ext cx="8424862" cy="5013325"/>
          </a:xfrm>
        </p:spPr>
        <p:txBody>
          <a:bodyPr/>
          <a:lstStyle/>
          <a:p>
            <a:pPr eaLnBrk="1" hangingPunct="1">
              <a:lnSpc>
                <a:spcPct val="185000"/>
              </a:lnSpc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3.9.6 </a:t>
            </a:r>
            <a:r>
              <a:rPr lang="zh-CN" altLang="en-US"/>
              <a:t>设</a:t>
            </a:r>
            <a:r>
              <a:rPr lang="en-US" altLang="zh-CN"/>
              <a:t>R   A×A</a:t>
            </a:r>
            <a:r>
              <a:rPr lang="zh-CN" altLang="en-US"/>
              <a:t>，</a:t>
            </a:r>
            <a:r>
              <a:rPr lang="en-US" altLang="zh-CN"/>
              <a:t>S   A×A</a:t>
            </a:r>
            <a:r>
              <a:rPr lang="zh-CN" altLang="en-US"/>
              <a:t>，且</a:t>
            </a:r>
            <a:r>
              <a:rPr lang="en-US" altLang="zh-CN"/>
              <a:t>R   S</a:t>
            </a:r>
            <a:r>
              <a:rPr lang="zh-CN" altLang="en-US"/>
              <a:t>，</a:t>
            </a:r>
          </a:p>
          <a:p>
            <a:pPr eaLnBrk="1" hangingPunct="1">
              <a:lnSpc>
                <a:spcPct val="185000"/>
              </a:lnSpc>
              <a:buFont typeface="Wingdings" panose="05000000000000000000" pitchFamily="2" charset="2"/>
              <a:buNone/>
            </a:pPr>
            <a:r>
              <a:rPr lang="zh-CN" altLang="en-US"/>
              <a:t>              则  </a:t>
            </a:r>
            <a:r>
              <a:rPr lang="en-US" altLang="zh-CN"/>
              <a:t>R</a:t>
            </a:r>
            <a:r>
              <a:rPr lang="en-US" altLang="zh-CN" baseline="30000"/>
              <a:t>-1     </a:t>
            </a:r>
            <a:r>
              <a:rPr lang="en-US" altLang="zh-CN"/>
              <a:t>S</a:t>
            </a:r>
            <a:r>
              <a:rPr lang="en-US" altLang="zh-CN" baseline="30000"/>
              <a:t>-1</a:t>
            </a:r>
            <a:r>
              <a:rPr lang="en-US" altLang="zh-CN"/>
              <a:t> </a:t>
            </a:r>
            <a:endParaRPr lang="en-US" altLang="zh-CN" b="1"/>
          </a:p>
          <a:p>
            <a:pPr eaLnBrk="1" hangingPunct="1">
              <a:lnSpc>
                <a:spcPct val="185000"/>
              </a:lnSpc>
              <a:buFont typeface="Wingdings" panose="05000000000000000000" pitchFamily="2" charset="2"/>
              <a:buNone/>
            </a:pPr>
            <a:r>
              <a:rPr lang="en-US" altLang="zh-CN" b="1"/>
              <a:t>   </a:t>
            </a:r>
            <a:r>
              <a:rPr lang="zh-CN" altLang="en-US" b="1">
                <a:solidFill>
                  <a:schemeClr val="hlink"/>
                </a:solidFill>
              </a:rPr>
              <a:t>证明</a:t>
            </a:r>
            <a:r>
              <a:rPr lang="zh-CN" altLang="en-US"/>
              <a:t> 任取</a:t>
            </a:r>
            <a:r>
              <a:rPr lang="en-US" altLang="zh-CN" b="1">
                <a:latin typeface="宋体" panose="02010600030101010101" pitchFamily="2" charset="-122"/>
              </a:rPr>
              <a:t>&lt;</a:t>
            </a:r>
            <a:r>
              <a:rPr lang="en-US" altLang="zh-CN"/>
              <a:t>a,b</a:t>
            </a:r>
            <a:r>
              <a:rPr lang="en-US" altLang="zh-CN" b="1">
                <a:latin typeface="宋体" panose="02010600030101010101" pitchFamily="2" charset="-122"/>
              </a:rPr>
              <a:t>&gt;</a:t>
            </a:r>
            <a:r>
              <a:rPr lang="en-US" altLang="zh-CN"/>
              <a:t>∈R</a:t>
            </a:r>
            <a:r>
              <a:rPr lang="en-US" altLang="zh-CN" baseline="30000"/>
              <a:t>-1</a:t>
            </a:r>
            <a:endParaRPr lang="en-US" altLang="zh-CN"/>
          </a:p>
          <a:p>
            <a:pPr eaLnBrk="1" hangingPunct="1">
              <a:lnSpc>
                <a:spcPct val="185000"/>
              </a:lnSpc>
              <a:buFont typeface="Wingdings" panose="05000000000000000000" pitchFamily="2" charset="2"/>
              <a:buNone/>
            </a:pPr>
            <a:r>
              <a:rPr lang="zh-CN" altLang="en-US"/>
              <a:t>          </a:t>
            </a:r>
            <a:r>
              <a:rPr lang="en-US" altLang="zh-CN" b="1">
                <a:latin typeface="宋体" panose="02010600030101010101" pitchFamily="2" charset="-122"/>
              </a:rPr>
              <a:t>&lt;</a:t>
            </a:r>
            <a:r>
              <a:rPr lang="en-US" altLang="zh-CN"/>
              <a:t>b,a</a:t>
            </a:r>
            <a:r>
              <a:rPr lang="en-US" altLang="zh-CN" b="1">
                <a:latin typeface="宋体" panose="02010600030101010101" pitchFamily="2" charset="-122"/>
              </a:rPr>
              <a:t>&gt;</a:t>
            </a:r>
            <a:r>
              <a:rPr lang="en-US" altLang="zh-CN"/>
              <a:t>∈R</a:t>
            </a:r>
            <a:r>
              <a:rPr lang="zh-CN" altLang="en-US"/>
              <a:t>   </a:t>
            </a:r>
            <a:r>
              <a:rPr lang="en-US" altLang="zh-CN"/>
              <a:t>S</a:t>
            </a:r>
          </a:p>
          <a:p>
            <a:pPr eaLnBrk="1" hangingPunct="1">
              <a:lnSpc>
                <a:spcPct val="185000"/>
              </a:lnSpc>
              <a:buFont typeface="Wingdings" panose="05000000000000000000" pitchFamily="2" charset="2"/>
              <a:buNone/>
            </a:pPr>
            <a:r>
              <a:rPr lang="en-US" altLang="zh-CN" b="1">
                <a:latin typeface="宋体" panose="02010600030101010101" pitchFamily="2" charset="-122"/>
              </a:rPr>
              <a:t>      &lt;</a:t>
            </a:r>
            <a:r>
              <a:rPr lang="en-US" altLang="zh-CN"/>
              <a:t>a,b</a:t>
            </a:r>
            <a:r>
              <a:rPr lang="en-US" altLang="zh-CN" b="1">
                <a:latin typeface="宋体" panose="02010600030101010101" pitchFamily="2" charset="-122"/>
              </a:rPr>
              <a:t>&gt;</a:t>
            </a:r>
            <a:r>
              <a:rPr lang="en-US" altLang="zh-CN"/>
              <a:t>∈S</a:t>
            </a:r>
            <a:r>
              <a:rPr lang="en-US" altLang="zh-CN" baseline="30000"/>
              <a:t>-1</a:t>
            </a:r>
          </a:p>
        </p:txBody>
      </p:sp>
      <p:graphicFrame>
        <p:nvGraphicFramePr>
          <p:cNvPr id="27652" name="Object 4">
            <a:extLst>
              <a:ext uri="{FF2B5EF4-FFF2-40B4-BE49-F238E27FC236}">
                <a16:creationId xmlns:a16="http://schemas.microsoft.com/office/drawing/2014/main" id="{EAF3A59E-D4A2-05F3-1D82-DC9D9729BC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37138" y="2238375"/>
          <a:ext cx="385762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68" imgH="152268" progId="Equation.DSMT4">
                  <p:embed/>
                </p:oleObj>
              </mc:Choice>
              <mc:Fallback>
                <p:oleObj name="Equation" r:id="rId2" imgW="152268" imgH="152268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7138" y="2238375"/>
                        <a:ext cx="385762" cy="38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3" name="Object 5">
            <a:extLst>
              <a:ext uri="{FF2B5EF4-FFF2-40B4-BE49-F238E27FC236}">
                <a16:creationId xmlns:a16="http://schemas.microsoft.com/office/drawing/2014/main" id="{D06DA717-379A-C83B-14BA-B613CE4687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54888" y="2225675"/>
          <a:ext cx="385762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68" imgH="152268" progId="Equation.DSMT4">
                  <p:embed/>
                </p:oleObj>
              </mc:Choice>
              <mc:Fallback>
                <p:oleObj name="Equation" r:id="rId4" imgW="152268" imgH="152268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4888" y="2225675"/>
                        <a:ext cx="385762" cy="38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4" name="Object 6">
            <a:extLst>
              <a:ext uri="{FF2B5EF4-FFF2-40B4-BE49-F238E27FC236}">
                <a16:creationId xmlns:a16="http://schemas.microsoft.com/office/drawing/2014/main" id="{5B2D87FE-E75A-A656-4065-1929EDAA24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43313" y="3238500"/>
          <a:ext cx="385762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268" imgH="152268" progId="Equation.DSMT4">
                  <p:embed/>
                </p:oleObj>
              </mc:Choice>
              <mc:Fallback>
                <p:oleObj name="Equation" r:id="rId5" imgW="152268" imgH="152268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3313" y="3238500"/>
                        <a:ext cx="385762" cy="38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5" name="Object 7">
            <a:extLst>
              <a:ext uri="{FF2B5EF4-FFF2-40B4-BE49-F238E27FC236}">
                <a16:creationId xmlns:a16="http://schemas.microsoft.com/office/drawing/2014/main" id="{31E32FDB-DB92-0941-D7F5-612F0CF41A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52775" y="2238375"/>
          <a:ext cx="385763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2268" imgH="152268" progId="Equation.DSMT4">
                  <p:embed/>
                </p:oleObj>
              </mc:Choice>
              <mc:Fallback>
                <p:oleObj name="Equation" r:id="rId6" imgW="152268" imgH="152268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2775" y="2238375"/>
                        <a:ext cx="385763" cy="38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6" name="对象 1">
            <a:extLst>
              <a:ext uri="{FF2B5EF4-FFF2-40B4-BE49-F238E27FC236}">
                <a16:creationId xmlns:a16="http://schemas.microsoft.com/office/drawing/2014/main" id="{6CB29303-678C-D550-A38F-E09DFF9FDD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89338" y="5216525"/>
          <a:ext cx="385762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2268" imgH="152268" progId="Equation.DSMT4">
                  <p:embed/>
                </p:oleObj>
              </mc:Choice>
              <mc:Fallback>
                <p:oleObj name="Equation" r:id="rId7" imgW="152268" imgH="152268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9338" y="5216525"/>
                        <a:ext cx="385762" cy="38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73B3BB5E-500F-2DA1-1A3D-8EEBA829F9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3.9.4 </a:t>
            </a:r>
            <a:r>
              <a:rPr lang="zh-CN" altLang="en-US" sz="5400"/>
              <a:t>逆关系的性质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03FFD225-B23E-1B76-4BED-099420DAC6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844675"/>
            <a:ext cx="8569325" cy="5040313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3.9.10 </a:t>
            </a:r>
            <a:r>
              <a:rPr lang="zh-CN" altLang="en-US" dirty="0"/>
              <a:t>设</a:t>
            </a:r>
            <a:r>
              <a:rPr lang="en-US" altLang="zh-CN" dirty="0"/>
              <a:t>R,S</a:t>
            </a:r>
            <a:r>
              <a:rPr lang="zh-CN" altLang="en-US" dirty="0"/>
              <a:t>   </a:t>
            </a:r>
            <a:r>
              <a:rPr lang="en-US" altLang="zh-CN" dirty="0"/>
              <a:t>A×B</a:t>
            </a:r>
            <a:r>
              <a:rPr lang="zh-CN" altLang="en-US" dirty="0"/>
              <a:t>，则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       </a:t>
            </a:r>
            <a:r>
              <a:rPr lang="en-US" altLang="zh-CN" sz="2800" dirty="0"/>
              <a:t>(1) (R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)</a:t>
            </a:r>
            <a:r>
              <a:rPr lang="en-US" altLang="zh-CN" sz="2800" baseline="30000" dirty="0"/>
              <a:t>-1</a:t>
            </a:r>
            <a:r>
              <a:rPr lang="zh-CN" altLang="en-US" sz="2800" dirty="0"/>
              <a:t>＝</a:t>
            </a:r>
            <a:r>
              <a:rPr lang="en-US" altLang="zh-CN" sz="2800" dirty="0"/>
              <a:t>R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   (2) (R∩S)</a:t>
            </a:r>
            <a:r>
              <a:rPr lang="en-US" altLang="zh-CN" sz="2800" baseline="30000" dirty="0"/>
              <a:t>-1</a:t>
            </a:r>
            <a:r>
              <a:rPr lang="zh-CN" altLang="en-US" sz="2800" dirty="0"/>
              <a:t>＝</a:t>
            </a:r>
            <a:r>
              <a:rPr lang="en-US" altLang="zh-CN" sz="2800" dirty="0"/>
              <a:t>R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∩S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 </a:t>
            </a:r>
            <a:br>
              <a:rPr lang="en-US" altLang="zh-CN" sz="2800" dirty="0"/>
            </a:br>
            <a:r>
              <a:rPr lang="en-US" altLang="zh-CN" sz="2800" dirty="0"/>
              <a:t>    (3) (R∪S)</a:t>
            </a:r>
            <a:r>
              <a:rPr lang="en-US" altLang="zh-CN" sz="2800" baseline="30000" dirty="0"/>
              <a:t>-1</a:t>
            </a:r>
            <a:r>
              <a:rPr lang="zh-CN" altLang="en-US" sz="2800" dirty="0"/>
              <a:t>＝</a:t>
            </a:r>
            <a:r>
              <a:rPr lang="en-US" altLang="zh-CN" sz="2800" dirty="0"/>
              <a:t>R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∪S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 </a:t>
            </a:r>
            <a:br>
              <a:rPr lang="en-US" altLang="zh-CN" sz="2800" dirty="0"/>
            </a:br>
            <a:r>
              <a:rPr lang="en-US" altLang="zh-CN" sz="2800" dirty="0"/>
              <a:t>    (4) (R</a:t>
            </a:r>
            <a:r>
              <a:rPr lang="zh-CN" altLang="en-US" sz="2800" dirty="0"/>
              <a:t>－</a:t>
            </a:r>
            <a:r>
              <a:rPr lang="en-US" altLang="zh-CN" sz="2800" dirty="0"/>
              <a:t>S)</a:t>
            </a:r>
            <a:r>
              <a:rPr lang="en-US" altLang="zh-CN" sz="2800" baseline="30000" dirty="0"/>
              <a:t>-1</a:t>
            </a:r>
            <a:r>
              <a:rPr lang="zh-CN" altLang="en-US" sz="2800" dirty="0"/>
              <a:t>＝</a:t>
            </a:r>
            <a:r>
              <a:rPr lang="en-US" altLang="zh-CN" sz="2800" dirty="0"/>
              <a:t>R</a:t>
            </a:r>
            <a:r>
              <a:rPr lang="en-US" altLang="zh-CN" sz="2800" baseline="30000" dirty="0"/>
              <a:t>-1</a:t>
            </a:r>
            <a:r>
              <a:rPr lang="zh-CN" altLang="en-US" sz="2800" dirty="0"/>
              <a:t>－</a:t>
            </a:r>
            <a:r>
              <a:rPr lang="en-US" altLang="zh-CN" sz="2800" dirty="0"/>
              <a:t>S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</a:rPr>
              <a:t>       (5) (A×B)</a:t>
            </a:r>
            <a:r>
              <a:rPr lang="en-US" altLang="zh-CN" sz="2800" baseline="30000" dirty="0">
                <a:solidFill>
                  <a:srgbClr val="FF0000"/>
                </a:solidFill>
              </a:rPr>
              <a:t>-1</a:t>
            </a:r>
            <a:r>
              <a:rPr lang="zh-CN" altLang="en-US" sz="2800" dirty="0">
                <a:solidFill>
                  <a:srgbClr val="FF0000"/>
                </a:solidFill>
              </a:rPr>
              <a:t>＝</a:t>
            </a:r>
            <a:r>
              <a:rPr lang="en-US" altLang="zh-CN" sz="2800" dirty="0">
                <a:solidFill>
                  <a:srgbClr val="FF0000"/>
                </a:solidFill>
              </a:rPr>
              <a:t>B×A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</a:rPr>
              <a:t>       (6)</a:t>
            </a:r>
            <a:r>
              <a:rPr lang="en-US" altLang="zh-CN" sz="2800" dirty="0"/>
              <a:t> </a:t>
            </a:r>
            <a:r>
              <a:rPr lang="en-US" altLang="zh-CN" sz="2800" dirty="0">
                <a:solidFill>
                  <a:srgbClr val="FF0000"/>
                </a:solidFill>
              </a:rPr>
              <a:t>(R  S)</a:t>
            </a:r>
            <a:r>
              <a:rPr lang="en-US" altLang="zh-CN" sz="2800" baseline="30000" dirty="0">
                <a:solidFill>
                  <a:srgbClr val="FF0000"/>
                </a:solidFill>
              </a:rPr>
              <a:t>-1</a:t>
            </a:r>
            <a:r>
              <a:rPr lang="zh-CN" altLang="en-US" sz="2800" dirty="0">
                <a:solidFill>
                  <a:srgbClr val="FF0000"/>
                </a:solidFill>
              </a:rPr>
              <a:t>＝ </a:t>
            </a:r>
            <a:r>
              <a:rPr lang="en-US" altLang="zh-CN" sz="2800" dirty="0">
                <a:solidFill>
                  <a:srgbClr val="FF0000"/>
                </a:solidFill>
              </a:rPr>
              <a:t>S</a:t>
            </a:r>
            <a:r>
              <a:rPr lang="en-US" altLang="zh-CN" sz="2800" baseline="30000" dirty="0">
                <a:solidFill>
                  <a:srgbClr val="FF0000"/>
                </a:solidFill>
              </a:rPr>
              <a:t>-1  </a:t>
            </a:r>
            <a:r>
              <a:rPr lang="en-US" altLang="zh-CN" sz="2800" dirty="0">
                <a:solidFill>
                  <a:srgbClr val="FF0000"/>
                </a:solidFill>
              </a:rPr>
              <a:t> R</a:t>
            </a:r>
            <a:r>
              <a:rPr lang="en-US" altLang="zh-CN" sz="2800" baseline="30000" dirty="0">
                <a:solidFill>
                  <a:srgbClr val="FF0000"/>
                </a:solidFill>
              </a:rPr>
              <a:t>-1</a:t>
            </a:r>
            <a:endParaRPr lang="en-US" altLang="zh-CN" sz="2800" dirty="0">
              <a:solidFill>
                <a:srgbClr val="FF0000"/>
              </a:solidFill>
            </a:endParaRPr>
          </a:p>
        </p:txBody>
      </p:sp>
      <p:graphicFrame>
        <p:nvGraphicFramePr>
          <p:cNvPr id="28676" name="对象 1">
            <a:extLst>
              <a:ext uri="{FF2B5EF4-FFF2-40B4-BE49-F238E27FC236}">
                <a16:creationId xmlns:a16="http://schemas.microsoft.com/office/drawing/2014/main" id="{68DBE77A-CF12-C038-9701-84535850AB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41775" y="2133600"/>
          <a:ext cx="385763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68" imgH="152268" progId="Equation.DSMT4">
                  <p:embed/>
                </p:oleObj>
              </mc:Choice>
              <mc:Fallback>
                <p:oleObj name="Equation" r:id="rId2" imgW="152268" imgH="152268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1775" y="2133600"/>
                        <a:ext cx="385763" cy="38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0">
            <a:extLst>
              <a:ext uri="{FF2B5EF4-FFF2-40B4-BE49-F238E27FC236}">
                <a16:creationId xmlns:a16="http://schemas.microsoft.com/office/drawing/2014/main" id="{14E5AA2F-1695-7968-3865-5B62560A59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9635337"/>
              </p:ext>
            </p:extLst>
          </p:nvPr>
        </p:nvGraphicFramePr>
        <p:xfrm>
          <a:off x="2339752" y="6453336"/>
          <a:ext cx="255588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1468" imgH="114151" progId="Equation.DSMT4">
                  <p:embed/>
                </p:oleObj>
              </mc:Choice>
              <mc:Fallback>
                <p:oleObj name="Equation" r:id="rId4" imgW="101468" imgH="114151" progId="Equation.DSMT4">
                  <p:embed/>
                  <p:pic>
                    <p:nvPicPr>
                      <p:cNvPr id="31748" name="Object 10">
                        <a:extLst>
                          <a:ext uri="{FF2B5EF4-FFF2-40B4-BE49-F238E27FC236}">
                            <a16:creationId xmlns:a16="http://schemas.microsoft.com/office/drawing/2014/main" id="{76E869B3-B520-672E-465D-E8FB772C02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6453336"/>
                        <a:ext cx="255588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0">
            <a:extLst>
              <a:ext uri="{FF2B5EF4-FFF2-40B4-BE49-F238E27FC236}">
                <a16:creationId xmlns:a16="http://schemas.microsoft.com/office/drawing/2014/main" id="{BB12B146-F912-261B-4EC8-D15AC074B6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3133074"/>
              </p:ext>
            </p:extLst>
          </p:nvPr>
        </p:nvGraphicFramePr>
        <p:xfrm>
          <a:off x="3979068" y="6425734"/>
          <a:ext cx="255588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1468" imgH="114151" progId="Equation.DSMT4">
                  <p:embed/>
                </p:oleObj>
              </mc:Choice>
              <mc:Fallback>
                <p:oleObj name="Equation" r:id="rId4" imgW="101468" imgH="114151" progId="Equation.DSMT4">
                  <p:embed/>
                  <p:pic>
                    <p:nvPicPr>
                      <p:cNvPr id="31748" name="Object 10">
                        <a:extLst>
                          <a:ext uri="{FF2B5EF4-FFF2-40B4-BE49-F238E27FC236}">
                            <a16:creationId xmlns:a16="http://schemas.microsoft.com/office/drawing/2014/main" id="{76E869B3-B520-672E-465D-E8FB772C02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9068" y="6425734"/>
                        <a:ext cx="255588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E90F6FEB-DBB6-37FC-F30D-7C12AAB895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3.9.4 </a:t>
            </a:r>
            <a:r>
              <a:rPr lang="zh-CN" altLang="en-US" sz="5400"/>
              <a:t>逆关系的性质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69B4DD04-E52C-3C94-02ED-CC7C15811D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844675"/>
            <a:ext cx="8353425" cy="4968875"/>
          </a:xfrm>
        </p:spPr>
        <p:txBody>
          <a:bodyPr/>
          <a:lstStyle/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zh-CN" altLang="en-US" sz="3600">
                <a:solidFill>
                  <a:schemeClr val="hlink"/>
                </a:solidFill>
              </a:rPr>
              <a:t>证明</a:t>
            </a:r>
            <a:r>
              <a:rPr lang="en-US" altLang="zh-CN" sz="3600"/>
              <a:t>(</a:t>
            </a:r>
            <a:r>
              <a:rPr lang="en-US" altLang="zh-CN" sz="3600">
                <a:solidFill>
                  <a:schemeClr val="accent1"/>
                </a:solidFill>
              </a:rPr>
              <a:t>3</a:t>
            </a:r>
            <a:r>
              <a:rPr lang="en-US" altLang="zh-CN" sz="3600"/>
              <a:t>) (R∪S)</a:t>
            </a:r>
            <a:r>
              <a:rPr lang="en-US" altLang="zh-CN" sz="3600" baseline="30000"/>
              <a:t>-1</a:t>
            </a:r>
            <a:r>
              <a:rPr lang="zh-CN" altLang="en-US" sz="3600"/>
              <a:t>＝</a:t>
            </a:r>
            <a:r>
              <a:rPr lang="en-US" altLang="zh-CN" sz="3600"/>
              <a:t>R</a:t>
            </a:r>
            <a:r>
              <a:rPr lang="en-US" altLang="zh-CN" sz="3600" baseline="30000"/>
              <a:t>-1</a:t>
            </a:r>
            <a:r>
              <a:rPr lang="en-US" altLang="zh-CN" sz="3600"/>
              <a:t>∪S</a:t>
            </a:r>
            <a:r>
              <a:rPr lang="en-US" altLang="zh-CN" sz="3600" baseline="30000"/>
              <a:t>-1</a:t>
            </a:r>
            <a:r>
              <a:rPr lang="en-US" altLang="zh-CN" sz="3600"/>
              <a:t> </a:t>
            </a:r>
            <a:br>
              <a:rPr lang="en-US" altLang="zh-CN" sz="3600"/>
            </a:br>
            <a:r>
              <a:rPr lang="en-US" altLang="zh-CN" sz="3600"/>
              <a:t>    </a:t>
            </a:r>
            <a:r>
              <a:rPr lang="zh-CN" altLang="en-US" sz="3600"/>
              <a:t>任取</a:t>
            </a:r>
            <a:r>
              <a:rPr lang="en-US" altLang="zh-CN" sz="3600" b="1">
                <a:latin typeface="宋体" panose="02010600030101010101" pitchFamily="2" charset="-122"/>
              </a:rPr>
              <a:t>&lt;</a:t>
            </a:r>
            <a:r>
              <a:rPr lang="en-US" altLang="zh-CN" sz="3600"/>
              <a:t>a,b</a:t>
            </a:r>
            <a:r>
              <a:rPr lang="en-US" altLang="zh-CN" sz="3600" b="1">
                <a:latin typeface="宋体" panose="02010600030101010101" pitchFamily="2" charset="-122"/>
              </a:rPr>
              <a:t>&gt;</a:t>
            </a:r>
            <a:r>
              <a:rPr lang="en-US" altLang="zh-CN" sz="3600"/>
              <a:t>∈(R∪S)</a:t>
            </a:r>
            <a:r>
              <a:rPr lang="en-US" altLang="zh-CN" sz="3600" baseline="30000"/>
              <a:t>-1</a:t>
            </a:r>
            <a:endParaRPr lang="en-US" altLang="zh-CN" sz="3600">
              <a:sym typeface="Symbol" panose="05050102010706020507" pitchFamily="18" charset="2"/>
            </a:endParaRPr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en-US" altLang="zh-CN" sz="3600">
                <a:sym typeface="Symbol" panose="05050102010706020507" pitchFamily="18" charset="2"/>
              </a:rPr>
              <a:t>        </a:t>
            </a:r>
            <a:r>
              <a:rPr lang="en-US" altLang="zh-CN" sz="3600" b="1">
                <a:latin typeface="宋体" panose="02010600030101010101" pitchFamily="2" charset="-122"/>
              </a:rPr>
              <a:t>&lt;</a:t>
            </a:r>
            <a:r>
              <a:rPr lang="en-US" altLang="zh-CN" sz="3600"/>
              <a:t>b,a</a:t>
            </a:r>
            <a:r>
              <a:rPr lang="en-US" altLang="zh-CN" sz="3600" b="1">
                <a:latin typeface="宋体" panose="02010600030101010101" pitchFamily="2" charset="-122"/>
              </a:rPr>
              <a:t>&gt;</a:t>
            </a:r>
            <a:r>
              <a:rPr lang="en-US" altLang="zh-CN" sz="3600"/>
              <a:t>∈R∪S</a:t>
            </a:r>
            <a:endParaRPr lang="en-US" altLang="zh-CN" sz="3600">
              <a:sym typeface="Symbol" panose="05050102010706020507" pitchFamily="18" charset="2"/>
            </a:endParaRPr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en-US" altLang="zh-CN" sz="3600">
                <a:sym typeface="Symbol" panose="05050102010706020507" pitchFamily="18" charset="2"/>
              </a:rPr>
              <a:t>        </a:t>
            </a:r>
            <a:r>
              <a:rPr lang="en-US" altLang="zh-CN" sz="3600" b="1">
                <a:latin typeface="宋体" panose="02010600030101010101" pitchFamily="2" charset="-122"/>
              </a:rPr>
              <a:t>&lt;</a:t>
            </a:r>
            <a:r>
              <a:rPr lang="en-US" altLang="zh-CN" sz="3600"/>
              <a:t>b,a</a:t>
            </a:r>
            <a:r>
              <a:rPr lang="en-US" altLang="zh-CN" sz="3600" b="1">
                <a:latin typeface="宋体" panose="02010600030101010101" pitchFamily="2" charset="-122"/>
              </a:rPr>
              <a:t>&gt;</a:t>
            </a:r>
            <a:r>
              <a:rPr lang="en-US" altLang="zh-CN" sz="3600"/>
              <a:t>∈R</a:t>
            </a:r>
            <a:r>
              <a:rPr lang="zh-CN" altLang="en-US" sz="3600"/>
              <a:t>或</a:t>
            </a:r>
            <a:r>
              <a:rPr lang="en-US" altLang="zh-CN" sz="3600" b="1">
                <a:latin typeface="宋体" panose="02010600030101010101" pitchFamily="2" charset="-122"/>
              </a:rPr>
              <a:t>&lt;</a:t>
            </a:r>
            <a:r>
              <a:rPr lang="en-US" altLang="zh-CN" sz="3600"/>
              <a:t>b,a</a:t>
            </a:r>
            <a:r>
              <a:rPr lang="en-US" altLang="zh-CN" sz="3600" b="1">
                <a:latin typeface="宋体" panose="02010600030101010101" pitchFamily="2" charset="-122"/>
              </a:rPr>
              <a:t>&gt;</a:t>
            </a:r>
            <a:r>
              <a:rPr lang="en-US" altLang="zh-CN" sz="3600"/>
              <a:t>∈S</a:t>
            </a:r>
            <a:endParaRPr lang="en-US" altLang="zh-CN" sz="3600">
              <a:sym typeface="Symbol" panose="05050102010706020507" pitchFamily="18" charset="2"/>
            </a:endParaRPr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en-US" altLang="zh-CN" sz="3600">
                <a:sym typeface="Symbol" panose="05050102010706020507" pitchFamily="18" charset="2"/>
              </a:rPr>
              <a:t>        </a:t>
            </a:r>
            <a:r>
              <a:rPr lang="en-US" altLang="zh-CN" sz="3600" b="1">
                <a:latin typeface="宋体" panose="02010600030101010101" pitchFamily="2" charset="-122"/>
              </a:rPr>
              <a:t>&lt;</a:t>
            </a:r>
            <a:r>
              <a:rPr lang="en-US" altLang="zh-CN" sz="3600"/>
              <a:t>a,b</a:t>
            </a:r>
            <a:r>
              <a:rPr lang="en-US" altLang="zh-CN" sz="3600" b="1">
                <a:latin typeface="宋体" panose="02010600030101010101" pitchFamily="2" charset="-122"/>
              </a:rPr>
              <a:t>&gt;</a:t>
            </a:r>
            <a:r>
              <a:rPr lang="en-US" altLang="zh-CN" sz="3600"/>
              <a:t>∈R</a:t>
            </a:r>
            <a:r>
              <a:rPr lang="en-US" altLang="zh-CN" sz="3600" baseline="30000"/>
              <a:t>-1</a:t>
            </a:r>
            <a:r>
              <a:rPr lang="zh-CN" altLang="en-US" sz="3600"/>
              <a:t>或</a:t>
            </a:r>
            <a:r>
              <a:rPr lang="en-US" altLang="zh-CN" sz="3600" b="1">
                <a:latin typeface="宋体" panose="02010600030101010101" pitchFamily="2" charset="-122"/>
              </a:rPr>
              <a:t>&lt;</a:t>
            </a:r>
            <a:r>
              <a:rPr lang="en-US" altLang="zh-CN" sz="3600"/>
              <a:t>a,b</a:t>
            </a:r>
            <a:r>
              <a:rPr lang="en-US" altLang="zh-CN" sz="3600" b="1">
                <a:latin typeface="宋体" panose="02010600030101010101" pitchFamily="2" charset="-122"/>
              </a:rPr>
              <a:t>&gt;</a:t>
            </a:r>
            <a:r>
              <a:rPr lang="en-US" altLang="zh-CN" sz="3600"/>
              <a:t>∈S</a:t>
            </a:r>
            <a:r>
              <a:rPr lang="en-US" altLang="zh-CN" sz="3600" baseline="30000"/>
              <a:t>-1</a:t>
            </a:r>
            <a:endParaRPr lang="en-US" altLang="zh-CN" sz="3600">
              <a:sym typeface="Symbol" panose="05050102010706020507" pitchFamily="18" charset="2"/>
            </a:endParaRPr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en-US" altLang="zh-CN" sz="3600">
                <a:sym typeface="Symbol" panose="05050102010706020507" pitchFamily="18" charset="2"/>
              </a:rPr>
              <a:t>        </a:t>
            </a:r>
            <a:r>
              <a:rPr lang="en-US" altLang="zh-CN" sz="3600" b="1">
                <a:latin typeface="宋体" panose="02010600030101010101" pitchFamily="2" charset="-122"/>
              </a:rPr>
              <a:t>&lt;</a:t>
            </a:r>
            <a:r>
              <a:rPr lang="en-US" altLang="zh-CN" sz="3600"/>
              <a:t>a,b</a:t>
            </a:r>
            <a:r>
              <a:rPr lang="en-US" altLang="zh-CN" sz="3600" b="1">
                <a:latin typeface="宋体" panose="02010600030101010101" pitchFamily="2" charset="-122"/>
              </a:rPr>
              <a:t>&gt;</a:t>
            </a:r>
            <a:r>
              <a:rPr lang="en-US" altLang="zh-CN" sz="3600"/>
              <a:t>∈R</a:t>
            </a:r>
            <a:r>
              <a:rPr lang="en-US" altLang="zh-CN" sz="3600" baseline="30000"/>
              <a:t>-1</a:t>
            </a:r>
            <a:r>
              <a:rPr lang="en-US" altLang="zh-CN" sz="3600"/>
              <a:t>∪S</a:t>
            </a:r>
            <a:r>
              <a:rPr lang="en-US" altLang="zh-CN" sz="3600" baseline="30000"/>
              <a:t>-1</a:t>
            </a:r>
            <a:r>
              <a:rPr lang="en-US" altLang="zh-CN"/>
              <a:t>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8">
            <a:extLst>
              <a:ext uri="{FF2B5EF4-FFF2-40B4-BE49-F238E27FC236}">
                <a16:creationId xmlns:a16="http://schemas.microsoft.com/office/drawing/2014/main" id="{06317974-F209-C216-9584-8BDF2EA4B7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3.9.4 </a:t>
            </a:r>
            <a:r>
              <a:rPr lang="zh-CN" altLang="en-US" sz="5400"/>
              <a:t>逆关系的性质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CA5CAC23-4BF7-730C-F6FA-78A41E2F9EC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27088" y="1844675"/>
            <a:ext cx="8281987" cy="4968875"/>
          </a:xfrm>
        </p:spPr>
        <p:txBody>
          <a:bodyPr/>
          <a:lstStyle/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en-US" altLang="zh-CN" sz="3600"/>
              <a:t>   (</a:t>
            </a:r>
            <a:r>
              <a:rPr lang="en-US" altLang="zh-CN" sz="3600">
                <a:solidFill>
                  <a:srgbClr val="FF0000"/>
                </a:solidFill>
              </a:rPr>
              <a:t>4</a:t>
            </a:r>
            <a:r>
              <a:rPr lang="en-US" altLang="zh-CN" sz="3600"/>
              <a:t>) (R</a:t>
            </a:r>
            <a:r>
              <a:rPr lang="zh-CN" altLang="en-US" sz="3600"/>
              <a:t>－</a:t>
            </a:r>
            <a:r>
              <a:rPr lang="en-US" altLang="zh-CN" sz="3600"/>
              <a:t>S)</a:t>
            </a:r>
            <a:r>
              <a:rPr lang="en-US" altLang="zh-CN" sz="3600" baseline="30000"/>
              <a:t>-1</a:t>
            </a:r>
            <a:r>
              <a:rPr lang="zh-CN" altLang="en-US" sz="3600"/>
              <a:t>＝</a:t>
            </a:r>
            <a:r>
              <a:rPr lang="en-US" altLang="zh-CN" sz="3600"/>
              <a:t>R</a:t>
            </a:r>
            <a:r>
              <a:rPr lang="en-US" altLang="zh-CN" sz="3600" baseline="30000"/>
              <a:t>-1</a:t>
            </a:r>
            <a:r>
              <a:rPr lang="zh-CN" altLang="en-US" sz="3600"/>
              <a:t>－</a:t>
            </a:r>
            <a:r>
              <a:rPr lang="en-US" altLang="zh-CN" sz="3600"/>
              <a:t>S</a:t>
            </a:r>
            <a:r>
              <a:rPr lang="en-US" altLang="zh-CN" sz="3600" baseline="30000"/>
              <a:t>-1</a:t>
            </a:r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zh-CN" altLang="en-US" sz="3600"/>
              <a:t>   任取</a:t>
            </a:r>
            <a:r>
              <a:rPr lang="en-US" altLang="zh-CN" sz="3600" b="1">
                <a:latin typeface="宋体" panose="02010600030101010101" pitchFamily="2" charset="-122"/>
              </a:rPr>
              <a:t>&lt;</a:t>
            </a:r>
            <a:r>
              <a:rPr lang="en-US" altLang="zh-CN" sz="3600"/>
              <a:t>a,b</a:t>
            </a:r>
            <a:r>
              <a:rPr lang="en-US" altLang="zh-CN" sz="3600" b="1">
                <a:latin typeface="宋体" panose="02010600030101010101" pitchFamily="2" charset="-122"/>
              </a:rPr>
              <a:t>&gt;</a:t>
            </a:r>
            <a:r>
              <a:rPr lang="en-US" altLang="zh-CN" sz="3600"/>
              <a:t>∈(R</a:t>
            </a:r>
            <a:r>
              <a:rPr lang="zh-CN" altLang="en-US" sz="3600"/>
              <a:t>－</a:t>
            </a:r>
            <a:r>
              <a:rPr lang="en-US" altLang="zh-CN" sz="3600"/>
              <a:t>S)</a:t>
            </a:r>
            <a:r>
              <a:rPr lang="en-US" altLang="zh-CN" sz="3600" baseline="30000"/>
              <a:t>-1</a:t>
            </a:r>
            <a:endParaRPr lang="en-US" altLang="zh-CN" sz="3600">
              <a:sym typeface="Symbol" panose="05050102010706020507" pitchFamily="18" charset="2"/>
            </a:endParaRPr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en-US" altLang="zh-CN" sz="3600">
                <a:sym typeface="Symbol" panose="05050102010706020507" pitchFamily="18" charset="2"/>
              </a:rPr>
              <a:t>       </a:t>
            </a:r>
            <a:r>
              <a:rPr lang="en-US" altLang="zh-CN" sz="3600" b="1">
                <a:latin typeface="宋体" panose="02010600030101010101" pitchFamily="2" charset="-122"/>
              </a:rPr>
              <a:t>&lt;</a:t>
            </a:r>
            <a:r>
              <a:rPr lang="en-US" altLang="zh-CN" sz="3600"/>
              <a:t>b,a</a:t>
            </a:r>
            <a:r>
              <a:rPr lang="en-US" altLang="zh-CN" sz="3600" b="1">
                <a:latin typeface="宋体" panose="02010600030101010101" pitchFamily="2" charset="-122"/>
              </a:rPr>
              <a:t>&gt;</a:t>
            </a:r>
            <a:r>
              <a:rPr lang="en-US" altLang="zh-CN" sz="3600"/>
              <a:t>∈R</a:t>
            </a:r>
            <a:r>
              <a:rPr lang="zh-CN" altLang="en-US" sz="3600"/>
              <a:t>－</a:t>
            </a:r>
            <a:r>
              <a:rPr lang="en-US" altLang="zh-CN" sz="3600"/>
              <a:t>S</a:t>
            </a:r>
            <a:endParaRPr lang="en-US" altLang="zh-CN" sz="3600">
              <a:sym typeface="Symbol" panose="05050102010706020507" pitchFamily="18" charset="2"/>
            </a:endParaRPr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en-US" altLang="zh-CN" sz="3600">
                <a:sym typeface="Symbol" panose="05050102010706020507" pitchFamily="18" charset="2"/>
              </a:rPr>
              <a:t>       </a:t>
            </a:r>
            <a:r>
              <a:rPr lang="en-US" altLang="zh-CN" sz="3600" b="1">
                <a:latin typeface="宋体" panose="02010600030101010101" pitchFamily="2" charset="-122"/>
              </a:rPr>
              <a:t>&lt;</a:t>
            </a:r>
            <a:r>
              <a:rPr lang="en-US" altLang="zh-CN" sz="3600"/>
              <a:t>b,a</a:t>
            </a:r>
            <a:r>
              <a:rPr lang="en-US" altLang="zh-CN" sz="3600" b="1">
                <a:latin typeface="宋体" panose="02010600030101010101" pitchFamily="2" charset="-122"/>
              </a:rPr>
              <a:t>&gt;</a:t>
            </a:r>
            <a:r>
              <a:rPr lang="en-US" altLang="zh-CN" sz="3600"/>
              <a:t>∈R</a:t>
            </a:r>
            <a:r>
              <a:rPr lang="zh-CN" altLang="en-US" sz="3600"/>
              <a:t>且</a:t>
            </a:r>
            <a:r>
              <a:rPr lang="en-US" altLang="zh-CN" sz="3600" b="1">
                <a:latin typeface="宋体" panose="02010600030101010101" pitchFamily="2" charset="-122"/>
              </a:rPr>
              <a:t>&lt;</a:t>
            </a:r>
            <a:r>
              <a:rPr lang="en-US" altLang="zh-CN" sz="3600"/>
              <a:t>b,a</a:t>
            </a:r>
            <a:r>
              <a:rPr lang="en-US" altLang="zh-CN" sz="3600" b="1">
                <a:latin typeface="宋体" panose="02010600030101010101" pitchFamily="2" charset="-122"/>
              </a:rPr>
              <a:t>&gt; </a:t>
            </a:r>
            <a:r>
              <a:rPr lang="en-US" altLang="zh-CN" sz="3600"/>
              <a:t>S</a:t>
            </a:r>
            <a:endParaRPr lang="en-US" altLang="zh-CN" sz="3600">
              <a:sym typeface="Symbol" panose="05050102010706020507" pitchFamily="18" charset="2"/>
            </a:endParaRPr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en-US" altLang="zh-CN" sz="3600">
                <a:sym typeface="Symbol" panose="05050102010706020507" pitchFamily="18" charset="2"/>
              </a:rPr>
              <a:t>       </a:t>
            </a:r>
            <a:r>
              <a:rPr lang="en-US" altLang="zh-CN" sz="3600" b="1">
                <a:latin typeface="宋体" panose="02010600030101010101" pitchFamily="2" charset="-122"/>
              </a:rPr>
              <a:t>&lt;</a:t>
            </a:r>
            <a:r>
              <a:rPr lang="en-US" altLang="zh-CN" sz="3600"/>
              <a:t>a,b</a:t>
            </a:r>
            <a:r>
              <a:rPr lang="en-US" altLang="zh-CN" sz="3600" b="1">
                <a:latin typeface="宋体" panose="02010600030101010101" pitchFamily="2" charset="-122"/>
              </a:rPr>
              <a:t>&gt;</a:t>
            </a:r>
            <a:r>
              <a:rPr lang="en-US" altLang="zh-CN" sz="3600"/>
              <a:t>∈R</a:t>
            </a:r>
            <a:r>
              <a:rPr lang="en-US" altLang="zh-CN" sz="3600" baseline="30000"/>
              <a:t>-1</a:t>
            </a:r>
            <a:r>
              <a:rPr lang="zh-CN" altLang="en-US" sz="3600"/>
              <a:t>且</a:t>
            </a:r>
            <a:r>
              <a:rPr lang="en-US" altLang="zh-CN" sz="3600" b="1">
                <a:latin typeface="宋体" panose="02010600030101010101" pitchFamily="2" charset="-122"/>
              </a:rPr>
              <a:t>&lt;</a:t>
            </a:r>
            <a:r>
              <a:rPr lang="en-US" altLang="zh-CN" sz="3600"/>
              <a:t>a,b</a:t>
            </a:r>
            <a:r>
              <a:rPr lang="en-US" altLang="zh-CN" sz="3600" b="1">
                <a:latin typeface="宋体" panose="02010600030101010101" pitchFamily="2" charset="-122"/>
              </a:rPr>
              <a:t>&gt;</a:t>
            </a:r>
            <a:r>
              <a:rPr lang="en-US" altLang="zh-CN" sz="3600"/>
              <a:t>  S</a:t>
            </a:r>
            <a:r>
              <a:rPr lang="en-US" altLang="zh-CN" sz="3600" baseline="30000"/>
              <a:t>-1</a:t>
            </a:r>
            <a:endParaRPr lang="en-US" altLang="zh-CN" sz="3600">
              <a:sym typeface="Symbol" panose="05050102010706020507" pitchFamily="18" charset="2"/>
            </a:endParaRPr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en-US" altLang="zh-CN" sz="3600">
                <a:sym typeface="Symbol" panose="05050102010706020507" pitchFamily="18" charset="2"/>
              </a:rPr>
              <a:t>       </a:t>
            </a:r>
            <a:r>
              <a:rPr lang="en-US" altLang="zh-CN" sz="3600" b="1">
                <a:latin typeface="宋体" panose="02010600030101010101" pitchFamily="2" charset="-122"/>
              </a:rPr>
              <a:t>&lt;</a:t>
            </a:r>
            <a:r>
              <a:rPr lang="en-US" altLang="zh-CN" sz="3600"/>
              <a:t>a,b</a:t>
            </a:r>
            <a:r>
              <a:rPr lang="en-US" altLang="zh-CN" sz="3600" b="1">
                <a:latin typeface="宋体" panose="02010600030101010101" pitchFamily="2" charset="-122"/>
              </a:rPr>
              <a:t>&gt;</a:t>
            </a:r>
            <a:r>
              <a:rPr lang="en-US" altLang="zh-CN" sz="3600"/>
              <a:t>∈R</a:t>
            </a:r>
            <a:r>
              <a:rPr lang="en-US" altLang="zh-CN" sz="3600" baseline="30000"/>
              <a:t>-1</a:t>
            </a:r>
            <a:r>
              <a:rPr lang="zh-CN" altLang="en-US" sz="3600"/>
              <a:t>－</a:t>
            </a:r>
            <a:r>
              <a:rPr lang="en-US" altLang="zh-CN" sz="3600"/>
              <a:t>S</a:t>
            </a:r>
            <a:r>
              <a:rPr lang="en-US" altLang="zh-CN" sz="3600" baseline="30000"/>
              <a:t>-1</a:t>
            </a:r>
            <a:endParaRPr lang="en-US" altLang="zh-CN" sz="3600"/>
          </a:p>
        </p:txBody>
      </p:sp>
      <p:graphicFrame>
        <p:nvGraphicFramePr>
          <p:cNvPr id="30724" name="Object 4">
            <a:extLst>
              <a:ext uri="{FF2B5EF4-FFF2-40B4-BE49-F238E27FC236}">
                <a16:creationId xmlns:a16="http://schemas.microsoft.com/office/drawing/2014/main" id="{FA4B8401-0972-CEAF-4250-19607C0E450D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5703888" y="4627563"/>
          <a:ext cx="381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6835" imgH="152202" progId="Equation.DSMT4">
                  <p:embed/>
                </p:oleObj>
              </mc:Choice>
              <mc:Fallback>
                <p:oleObj name="Equation" r:id="rId2" imgW="126835" imgH="152202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3888" y="4627563"/>
                        <a:ext cx="381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5" name="Object 7">
            <a:extLst>
              <a:ext uri="{FF2B5EF4-FFF2-40B4-BE49-F238E27FC236}">
                <a16:creationId xmlns:a16="http://schemas.microsoft.com/office/drawing/2014/main" id="{26E921C0-2E9C-6AF1-133D-E244A455DCC6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5991225" y="5492750"/>
          <a:ext cx="381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835" imgH="152202" progId="Equation.DSMT4">
                  <p:embed/>
                </p:oleObj>
              </mc:Choice>
              <mc:Fallback>
                <p:oleObj name="Equation" r:id="rId4" imgW="126835" imgH="152202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1225" y="5492750"/>
                        <a:ext cx="381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8">
            <a:extLst>
              <a:ext uri="{FF2B5EF4-FFF2-40B4-BE49-F238E27FC236}">
                <a16:creationId xmlns:a16="http://schemas.microsoft.com/office/drawing/2014/main" id="{653D8830-38DD-2A45-51F2-605FEBCC6F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3.9.4 </a:t>
            </a:r>
            <a:r>
              <a:rPr lang="zh-CN" altLang="en-US" sz="5400"/>
              <a:t>逆关系的性质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F1D1CF86-3F28-4311-E9D3-0550B952285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9750" y="1989138"/>
            <a:ext cx="8640763" cy="4868862"/>
          </a:xfrm>
        </p:spPr>
        <p:txBody>
          <a:bodyPr/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3.9.11</a:t>
            </a:r>
            <a:r>
              <a:rPr lang="zh-CN" altLang="en-US" dirty="0"/>
              <a:t>设</a:t>
            </a:r>
            <a:r>
              <a:rPr lang="en-US" altLang="zh-CN" dirty="0"/>
              <a:t>R</a:t>
            </a:r>
            <a:r>
              <a:rPr lang="zh-CN" altLang="en-US" dirty="0"/>
              <a:t>   </a:t>
            </a:r>
            <a:r>
              <a:rPr lang="en-US" altLang="zh-CN" dirty="0"/>
              <a:t>A×</a:t>
            </a:r>
            <a:r>
              <a:rPr lang="en-US" altLang="zh-CN" dirty="0">
                <a:solidFill>
                  <a:srgbClr val="FF00FF"/>
                </a:solidFill>
              </a:rPr>
              <a:t>B</a:t>
            </a:r>
            <a:r>
              <a:rPr lang="zh-CN" altLang="en-US" dirty="0"/>
              <a:t>，</a:t>
            </a:r>
            <a:r>
              <a:rPr lang="en-US" altLang="zh-CN" dirty="0"/>
              <a:t>S</a:t>
            </a:r>
            <a:r>
              <a:rPr lang="zh-CN" altLang="en-US" dirty="0"/>
              <a:t>   </a:t>
            </a:r>
            <a:r>
              <a:rPr lang="en-US" altLang="zh-CN" dirty="0">
                <a:solidFill>
                  <a:srgbClr val="FF00FF"/>
                </a:solidFill>
              </a:rPr>
              <a:t>B</a:t>
            </a:r>
            <a:r>
              <a:rPr lang="en-US" altLang="zh-CN" dirty="0"/>
              <a:t>×D</a:t>
            </a:r>
            <a:r>
              <a:rPr lang="zh-CN" altLang="en-US" dirty="0"/>
              <a:t>，则</a:t>
            </a:r>
            <a:endParaRPr lang="en-US" altLang="zh-CN" dirty="0"/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       (R  S)</a:t>
            </a:r>
            <a:r>
              <a:rPr lang="en-US" altLang="zh-CN" baseline="30000" dirty="0"/>
              <a:t>-1</a:t>
            </a:r>
            <a:r>
              <a:rPr lang="zh-CN" altLang="en-US" dirty="0"/>
              <a:t>＝ </a:t>
            </a:r>
            <a:r>
              <a:rPr lang="en-US" altLang="zh-CN" dirty="0"/>
              <a:t>S</a:t>
            </a:r>
            <a:r>
              <a:rPr lang="en-US" altLang="zh-CN" baseline="30000" dirty="0"/>
              <a:t>-1  </a:t>
            </a:r>
            <a:r>
              <a:rPr lang="en-US" altLang="zh-CN" dirty="0"/>
              <a:t> R</a:t>
            </a:r>
            <a:r>
              <a:rPr lang="en-US" altLang="zh-CN" baseline="30000" dirty="0"/>
              <a:t>-1</a:t>
            </a:r>
            <a:endParaRPr lang="en-US" altLang="zh-CN" b="1" dirty="0"/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solidFill>
                  <a:srgbClr val="FF0000"/>
                </a:solidFill>
              </a:rPr>
              <a:t>   证明</a:t>
            </a:r>
            <a:r>
              <a:rPr lang="zh-CN" altLang="en-US" dirty="0"/>
              <a:t>任取</a:t>
            </a:r>
            <a:r>
              <a:rPr lang="en-US" altLang="zh-CN" b="1" dirty="0">
                <a:latin typeface="宋体" charset="-122"/>
              </a:rPr>
              <a:t>&lt;</a:t>
            </a:r>
            <a:r>
              <a:rPr lang="en-US" altLang="zh-CN" dirty="0" err="1"/>
              <a:t>a,d</a:t>
            </a:r>
            <a:r>
              <a:rPr lang="en-US" altLang="zh-CN" b="1" dirty="0">
                <a:latin typeface="宋体" charset="-122"/>
              </a:rPr>
              <a:t>&gt;</a:t>
            </a:r>
            <a:r>
              <a:rPr lang="en-US" altLang="zh-CN" dirty="0"/>
              <a:t>∈ (R  S)</a:t>
            </a:r>
            <a:r>
              <a:rPr lang="en-US" altLang="zh-CN" baseline="30000" dirty="0"/>
              <a:t>-1</a:t>
            </a:r>
            <a:r>
              <a:rPr lang="en-US" altLang="zh-CN" dirty="0"/>
              <a:t> 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ym typeface="Symbol" pitchFamily="18" charset="2"/>
              </a:rPr>
              <a:t>         </a:t>
            </a:r>
            <a:r>
              <a:rPr lang="en-US" altLang="zh-CN" b="1" dirty="0">
                <a:latin typeface="宋体" charset="-122"/>
              </a:rPr>
              <a:t>&lt;</a:t>
            </a:r>
            <a:r>
              <a:rPr lang="en-US" altLang="zh-CN" dirty="0" err="1"/>
              <a:t>d,a</a:t>
            </a:r>
            <a:r>
              <a:rPr lang="en-US" altLang="zh-CN" b="1" dirty="0">
                <a:latin typeface="宋体" charset="-122"/>
              </a:rPr>
              <a:t>&gt;</a:t>
            </a:r>
            <a:r>
              <a:rPr lang="en-US" altLang="zh-CN" dirty="0"/>
              <a:t>∈R  S</a:t>
            </a:r>
            <a:endParaRPr lang="en-US" altLang="zh-CN" dirty="0">
              <a:sym typeface="Symbol" pitchFamily="18" charset="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ym typeface="Symbol" pitchFamily="18" charset="2"/>
              </a:rPr>
              <a:t>         </a:t>
            </a:r>
            <a:r>
              <a:rPr lang="en-US" altLang="zh-CN" dirty="0"/>
              <a:t>(</a:t>
            </a:r>
            <a:r>
              <a:rPr lang="en-US" altLang="zh-CN" dirty="0">
                <a:sym typeface="Symbol" pitchFamily="18" charset="2"/>
              </a:rPr>
              <a:t></a:t>
            </a:r>
            <a:r>
              <a:rPr lang="en-US" altLang="zh-CN" dirty="0" err="1"/>
              <a:t>b∈B</a:t>
            </a:r>
            <a:r>
              <a:rPr lang="en-US" altLang="zh-CN" dirty="0"/>
              <a:t>)(</a:t>
            </a:r>
            <a:r>
              <a:rPr lang="en-US" altLang="zh-CN" b="1" dirty="0">
                <a:latin typeface="宋体" charset="-122"/>
              </a:rPr>
              <a:t>&lt;</a:t>
            </a:r>
            <a:r>
              <a:rPr lang="en-US" altLang="zh-CN" dirty="0" err="1"/>
              <a:t>d,</a:t>
            </a:r>
            <a:r>
              <a:rPr lang="en-US" altLang="zh-CN" dirty="0" err="1">
                <a:solidFill>
                  <a:srgbClr val="FF00FF"/>
                </a:solidFill>
              </a:rPr>
              <a:t>b</a:t>
            </a:r>
            <a:r>
              <a:rPr lang="en-US" altLang="zh-CN" b="1" dirty="0">
                <a:latin typeface="宋体" charset="-122"/>
              </a:rPr>
              <a:t>&gt;</a:t>
            </a:r>
            <a:r>
              <a:rPr lang="en-US" altLang="zh-CN" dirty="0"/>
              <a:t>∈R ∧ </a:t>
            </a:r>
            <a:r>
              <a:rPr lang="en-US" altLang="zh-CN" b="1" dirty="0">
                <a:latin typeface="宋体" charset="-122"/>
              </a:rPr>
              <a:t>&lt;</a:t>
            </a:r>
            <a:r>
              <a:rPr lang="en-US" altLang="zh-CN" dirty="0" err="1">
                <a:solidFill>
                  <a:srgbClr val="FF00FF"/>
                </a:solidFill>
              </a:rPr>
              <a:t>b</a:t>
            </a:r>
            <a:r>
              <a:rPr lang="en-US" altLang="zh-CN" dirty="0" err="1"/>
              <a:t>,a</a:t>
            </a:r>
            <a:r>
              <a:rPr lang="en-US" altLang="zh-CN" b="1" dirty="0">
                <a:latin typeface="宋体" charset="-122"/>
              </a:rPr>
              <a:t>&gt;</a:t>
            </a:r>
            <a:r>
              <a:rPr lang="en-US" altLang="zh-CN" dirty="0"/>
              <a:t>∈S)</a:t>
            </a:r>
            <a:endParaRPr lang="en-US" altLang="zh-CN" dirty="0">
              <a:sym typeface="Symbol" pitchFamily="18" charset="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ym typeface="Symbol" pitchFamily="18" charset="2"/>
              </a:rPr>
              <a:t>         </a:t>
            </a:r>
            <a:r>
              <a:rPr lang="en-US" altLang="zh-CN" dirty="0"/>
              <a:t>(</a:t>
            </a:r>
            <a:r>
              <a:rPr lang="en-US" altLang="zh-CN" dirty="0">
                <a:sym typeface="Symbol" pitchFamily="18" charset="2"/>
              </a:rPr>
              <a:t></a:t>
            </a:r>
            <a:r>
              <a:rPr lang="en-US" altLang="zh-CN" dirty="0" err="1"/>
              <a:t>b∈B</a:t>
            </a:r>
            <a:r>
              <a:rPr lang="en-US" altLang="zh-CN" dirty="0"/>
              <a:t>)(</a:t>
            </a:r>
            <a:r>
              <a:rPr lang="en-US" altLang="zh-CN" b="1" dirty="0">
                <a:latin typeface="宋体" charset="-122"/>
              </a:rPr>
              <a:t>&lt;</a:t>
            </a:r>
            <a:r>
              <a:rPr lang="en-US" altLang="zh-CN" dirty="0" err="1"/>
              <a:t>a,</a:t>
            </a:r>
            <a:r>
              <a:rPr lang="en-US" altLang="zh-CN" dirty="0" err="1">
                <a:solidFill>
                  <a:schemeClr val="accent1"/>
                </a:solidFill>
              </a:rPr>
              <a:t>b</a:t>
            </a:r>
            <a:r>
              <a:rPr lang="en-US" altLang="zh-CN" b="1" dirty="0">
                <a:latin typeface="宋体" charset="-122"/>
              </a:rPr>
              <a:t>&gt;</a:t>
            </a:r>
            <a:r>
              <a:rPr lang="en-US" altLang="zh-CN" dirty="0"/>
              <a:t>∈S</a:t>
            </a:r>
            <a:r>
              <a:rPr lang="en-US" altLang="zh-CN" baseline="30000" dirty="0"/>
              <a:t>-1 </a:t>
            </a:r>
            <a:r>
              <a:rPr lang="en-US" altLang="zh-CN" dirty="0"/>
              <a:t>∧</a:t>
            </a:r>
            <a:r>
              <a:rPr lang="en-US" altLang="zh-CN" b="1" dirty="0">
                <a:latin typeface="宋体" charset="-122"/>
              </a:rPr>
              <a:t>&lt;</a:t>
            </a:r>
            <a:r>
              <a:rPr lang="en-US" altLang="zh-CN" dirty="0" err="1">
                <a:solidFill>
                  <a:schemeClr val="accent1"/>
                </a:solidFill>
              </a:rPr>
              <a:t>b</a:t>
            </a:r>
            <a:r>
              <a:rPr lang="en-US" altLang="zh-CN" dirty="0" err="1"/>
              <a:t>,d</a:t>
            </a:r>
            <a:r>
              <a:rPr lang="en-US" altLang="zh-CN" b="1" dirty="0">
                <a:latin typeface="宋体" charset="-122"/>
              </a:rPr>
              <a:t>&gt;</a:t>
            </a:r>
            <a:r>
              <a:rPr lang="en-US" altLang="zh-CN" dirty="0"/>
              <a:t>∈R</a:t>
            </a:r>
            <a:r>
              <a:rPr lang="en-US" altLang="zh-CN" baseline="30000" dirty="0"/>
              <a:t>-1</a:t>
            </a:r>
            <a:r>
              <a:rPr lang="en-US" altLang="zh-CN" dirty="0"/>
              <a:t>)</a:t>
            </a:r>
            <a:endParaRPr lang="en-US" altLang="zh-CN" dirty="0">
              <a:sym typeface="Symbol" pitchFamily="18" charset="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ym typeface="Symbol" pitchFamily="18" charset="2"/>
              </a:rPr>
              <a:t>         </a:t>
            </a:r>
            <a:r>
              <a:rPr lang="en-US" altLang="zh-CN" dirty="0">
                <a:latin typeface="宋体" charset="-122"/>
              </a:rPr>
              <a:t>&lt;</a:t>
            </a:r>
            <a:r>
              <a:rPr lang="en-US" altLang="zh-CN" dirty="0" err="1"/>
              <a:t>a,d</a:t>
            </a:r>
            <a:r>
              <a:rPr lang="en-US" altLang="zh-CN" dirty="0">
                <a:latin typeface="宋体" charset="-122"/>
              </a:rPr>
              <a:t>&gt;</a:t>
            </a:r>
            <a:r>
              <a:rPr lang="en-US" altLang="zh-CN" dirty="0"/>
              <a:t>∈S</a:t>
            </a:r>
            <a:r>
              <a:rPr lang="en-US" altLang="zh-CN" baseline="30000" dirty="0"/>
              <a:t>-1   </a:t>
            </a:r>
            <a:r>
              <a:rPr lang="en-US" altLang="zh-CN" dirty="0"/>
              <a:t>R</a:t>
            </a:r>
            <a:r>
              <a:rPr lang="en-US" altLang="zh-CN" baseline="30000" dirty="0"/>
              <a:t>-1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endParaRPr lang="en-US" altLang="zh-CN" baseline="30000" dirty="0"/>
          </a:p>
        </p:txBody>
      </p:sp>
      <p:graphicFrame>
        <p:nvGraphicFramePr>
          <p:cNvPr id="31748" name="Object 10">
            <a:extLst>
              <a:ext uri="{FF2B5EF4-FFF2-40B4-BE49-F238E27FC236}">
                <a16:creationId xmlns:a16="http://schemas.microsoft.com/office/drawing/2014/main" id="{76E869B3-B520-672E-465D-E8FB772C02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08350" y="2900363"/>
          <a:ext cx="255588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1468" imgH="114151" progId="Equation.DSMT4">
                  <p:embed/>
                </p:oleObj>
              </mc:Choice>
              <mc:Fallback>
                <p:oleObj name="Equation" r:id="rId2" imgW="101468" imgH="114151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8350" y="2900363"/>
                        <a:ext cx="255588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9" name="Object 11">
            <a:extLst>
              <a:ext uri="{FF2B5EF4-FFF2-40B4-BE49-F238E27FC236}">
                <a16:creationId xmlns:a16="http://schemas.microsoft.com/office/drawing/2014/main" id="{1D3A076B-98A2-53F8-B82F-6F05DC44F5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3038" y="2867025"/>
          <a:ext cx="255587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1468" imgH="114151" progId="Equation.DSMT4">
                  <p:embed/>
                </p:oleObj>
              </mc:Choice>
              <mc:Fallback>
                <p:oleObj name="Equation" r:id="rId4" imgW="101468" imgH="114151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3038" y="2867025"/>
                        <a:ext cx="255587" cy="28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0" name="Object 12">
            <a:extLst>
              <a:ext uri="{FF2B5EF4-FFF2-40B4-BE49-F238E27FC236}">
                <a16:creationId xmlns:a16="http://schemas.microsoft.com/office/drawing/2014/main" id="{9FFFCF85-03E0-5893-C1A2-B746C54A54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3263" y="3578225"/>
          <a:ext cx="255587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1468" imgH="114151" progId="Equation.DSMT4">
                  <p:embed/>
                </p:oleObj>
              </mc:Choice>
              <mc:Fallback>
                <p:oleObj name="Equation" r:id="rId5" imgW="101468" imgH="114151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3263" y="3578225"/>
                        <a:ext cx="255587" cy="28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1" name="Object 13">
            <a:extLst>
              <a:ext uri="{FF2B5EF4-FFF2-40B4-BE49-F238E27FC236}">
                <a16:creationId xmlns:a16="http://schemas.microsoft.com/office/drawing/2014/main" id="{FB78F790-6794-D96B-0B90-6CD77A533F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36988" y="4268788"/>
          <a:ext cx="255587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1468" imgH="114151" progId="Equation.DSMT4">
                  <p:embed/>
                </p:oleObj>
              </mc:Choice>
              <mc:Fallback>
                <p:oleObj name="Equation" r:id="rId6" imgW="101468" imgH="114151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6988" y="4268788"/>
                        <a:ext cx="255587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2" name="Object 14">
            <a:extLst>
              <a:ext uri="{FF2B5EF4-FFF2-40B4-BE49-F238E27FC236}">
                <a16:creationId xmlns:a16="http://schemas.microsoft.com/office/drawing/2014/main" id="{62CDFC2D-5AFD-D53A-294A-C7AD16D4F2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62413" y="6310313"/>
          <a:ext cx="255587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1468" imgH="114151" progId="Equation.DSMT4">
                  <p:embed/>
                </p:oleObj>
              </mc:Choice>
              <mc:Fallback>
                <p:oleObj name="Equation" r:id="rId7" imgW="101468" imgH="114151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2413" y="6310313"/>
                        <a:ext cx="255587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3" name="对象 1">
            <a:extLst>
              <a:ext uri="{FF2B5EF4-FFF2-40B4-BE49-F238E27FC236}">
                <a16:creationId xmlns:a16="http://schemas.microsoft.com/office/drawing/2014/main" id="{17C6E6BB-B88F-E3CB-21D9-21B10EAEAE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1638" y="2154238"/>
          <a:ext cx="385762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2268" imgH="152268" progId="Equation.DSMT4">
                  <p:embed/>
                </p:oleObj>
              </mc:Choice>
              <mc:Fallback>
                <p:oleObj name="Equation" r:id="rId8" imgW="152268" imgH="152268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1638" y="2154238"/>
                        <a:ext cx="385762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4" name="对象 2">
            <a:extLst>
              <a:ext uri="{FF2B5EF4-FFF2-40B4-BE49-F238E27FC236}">
                <a16:creationId xmlns:a16="http://schemas.microsoft.com/office/drawing/2014/main" id="{87659E13-6DC6-9774-97F6-92D1D23275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84575" y="2146300"/>
          <a:ext cx="385763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2268" imgH="152268" progId="Equation.DSMT4">
                  <p:embed/>
                </p:oleObj>
              </mc:Choice>
              <mc:Fallback>
                <p:oleObj name="Equation" r:id="rId10" imgW="152268" imgH="152268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4575" y="2146300"/>
                        <a:ext cx="385763" cy="38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8">
            <a:extLst>
              <a:ext uri="{FF2B5EF4-FFF2-40B4-BE49-F238E27FC236}">
                <a16:creationId xmlns:a16="http://schemas.microsoft.com/office/drawing/2014/main" id="{606EEC78-A463-B820-C785-01732FC291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3.9.4 </a:t>
            </a:r>
            <a:r>
              <a:rPr lang="zh-CN" altLang="en-US" sz="5400"/>
              <a:t>逆关系的性质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4BD1B5E0-156E-17BB-5861-6AC1E7CB989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916113"/>
            <a:ext cx="8497887" cy="4941887"/>
          </a:xfrm>
        </p:spPr>
        <p:txBody>
          <a:bodyPr/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3.9.7 </a:t>
            </a:r>
            <a:r>
              <a:rPr lang="zh-CN" altLang="en-US" dirty="0"/>
              <a:t>设</a:t>
            </a:r>
            <a:r>
              <a:rPr lang="en-US" altLang="zh-CN" dirty="0"/>
              <a:t>R</a:t>
            </a:r>
            <a:r>
              <a:rPr lang="zh-CN" altLang="en-US" dirty="0"/>
              <a:t>   </a:t>
            </a:r>
            <a:r>
              <a:rPr lang="en-US" altLang="zh-CN" dirty="0"/>
              <a:t>A×A</a:t>
            </a:r>
            <a:r>
              <a:rPr lang="zh-CN" altLang="en-US" dirty="0"/>
              <a:t>，</a:t>
            </a:r>
            <a:r>
              <a:rPr lang="en-US" altLang="zh-CN" dirty="0"/>
              <a:t>n</a:t>
            </a:r>
            <a:r>
              <a:rPr lang="zh-CN" altLang="en-US" dirty="0"/>
              <a:t>为正整数，则   </a:t>
            </a:r>
            <a:endParaRPr lang="en-US" altLang="zh-CN" dirty="0"/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    (</a:t>
            </a:r>
            <a:r>
              <a:rPr lang="en-US" altLang="zh-CN" dirty="0" err="1"/>
              <a:t>R</a:t>
            </a:r>
            <a:r>
              <a:rPr lang="en-US" altLang="zh-CN" baseline="30000" dirty="0" err="1"/>
              <a:t>n</a:t>
            </a:r>
            <a:r>
              <a:rPr lang="en-US" altLang="zh-CN" dirty="0"/>
              <a:t>)</a:t>
            </a:r>
            <a:r>
              <a:rPr lang="en-US" altLang="zh-CN" baseline="30000" dirty="0"/>
              <a:t>-1</a:t>
            </a:r>
            <a:r>
              <a:rPr lang="zh-CN" altLang="en-US" dirty="0"/>
              <a:t>＝</a:t>
            </a:r>
            <a:r>
              <a:rPr lang="en-US" altLang="zh-CN" dirty="0"/>
              <a:t>(R</a:t>
            </a:r>
            <a:r>
              <a:rPr lang="en-US" altLang="zh-CN" baseline="30000" dirty="0"/>
              <a:t>-1</a:t>
            </a:r>
            <a:r>
              <a:rPr lang="en-US" altLang="zh-CN" dirty="0"/>
              <a:t>)</a:t>
            </a:r>
            <a:r>
              <a:rPr lang="en-US" altLang="zh-CN" baseline="30000" dirty="0"/>
              <a:t>n</a:t>
            </a:r>
            <a:endParaRPr lang="en-US" altLang="zh-CN" b="1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   </a:t>
            </a:r>
            <a:r>
              <a:rPr lang="zh-CN" altLang="en-US" b="1" dirty="0">
                <a:solidFill>
                  <a:schemeClr val="hlink"/>
                </a:solidFill>
              </a:rPr>
              <a:t>证明</a:t>
            </a:r>
            <a:r>
              <a:rPr lang="zh-CN" altLang="en-US" dirty="0"/>
              <a:t> </a:t>
            </a:r>
            <a:r>
              <a:rPr lang="en-US" altLang="zh-CN" dirty="0"/>
              <a:t>n</a:t>
            </a:r>
            <a:r>
              <a:rPr lang="zh-CN" altLang="en-US" dirty="0"/>
              <a:t>＝</a:t>
            </a:r>
            <a:r>
              <a:rPr lang="en-US" altLang="zh-CN" dirty="0"/>
              <a:t>1</a:t>
            </a:r>
            <a:r>
              <a:rPr lang="zh-CN" altLang="en-US" dirty="0"/>
              <a:t>时，左边＝</a:t>
            </a:r>
            <a:r>
              <a:rPr lang="en-US" altLang="zh-CN" dirty="0"/>
              <a:t>R</a:t>
            </a:r>
            <a:r>
              <a:rPr lang="en-US" altLang="zh-CN" baseline="30000" dirty="0"/>
              <a:t>-1</a:t>
            </a:r>
            <a:r>
              <a:rPr lang="zh-CN" altLang="en-US" dirty="0"/>
              <a:t>＝右边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假设 </a:t>
            </a:r>
            <a:r>
              <a:rPr lang="en-US" altLang="zh-CN" dirty="0"/>
              <a:t>n</a:t>
            </a:r>
            <a:r>
              <a:rPr lang="zh-CN" altLang="en-US" dirty="0"/>
              <a:t>＝</a:t>
            </a:r>
            <a:r>
              <a:rPr lang="en-US" altLang="zh-CN" dirty="0"/>
              <a:t>k</a:t>
            </a:r>
            <a:r>
              <a:rPr lang="zh-CN" altLang="en-US" dirty="0"/>
              <a:t>时，</a:t>
            </a:r>
            <a:r>
              <a:rPr lang="en-US" altLang="zh-CN" dirty="0"/>
              <a:t>(</a:t>
            </a:r>
            <a:r>
              <a:rPr lang="en-US" altLang="zh-CN" dirty="0" err="1"/>
              <a:t>R</a:t>
            </a:r>
            <a:r>
              <a:rPr lang="en-US" altLang="zh-CN" baseline="30000" dirty="0" err="1"/>
              <a:t>k</a:t>
            </a:r>
            <a:r>
              <a:rPr lang="en-US" altLang="zh-CN" dirty="0"/>
              <a:t>)</a:t>
            </a:r>
            <a:r>
              <a:rPr lang="en-US" altLang="zh-CN" baseline="30000" dirty="0"/>
              <a:t>-1</a:t>
            </a:r>
            <a:r>
              <a:rPr lang="zh-CN" altLang="en-US" dirty="0"/>
              <a:t>＝</a:t>
            </a:r>
            <a:r>
              <a:rPr lang="en-US" altLang="zh-CN" dirty="0"/>
              <a:t>(R</a:t>
            </a:r>
            <a:r>
              <a:rPr lang="en-US" altLang="zh-CN" baseline="30000" dirty="0"/>
              <a:t>-1</a:t>
            </a:r>
            <a:r>
              <a:rPr lang="en-US" altLang="zh-CN" dirty="0"/>
              <a:t>)</a:t>
            </a:r>
            <a:r>
              <a:rPr lang="en-US" altLang="zh-CN" baseline="30000" dirty="0"/>
              <a:t>k</a:t>
            </a:r>
            <a:endParaRPr lang="en-US" altLang="zh-CN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zh-CN" altLang="en-US" dirty="0"/>
              <a:t>      </a:t>
            </a:r>
            <a:r>
              <a:rPr lang="en-US" altLang="zh-CN" dirty="0"/>
              <a:t>(R</a:t>
            </a:r>
            <a:r>
              <a:rPr lang="en-US" altLang="zh-CN" baseline="30000" dirty="0"/>
              <a:t>k+1</a:t>
            </a:r>
            <a:r>
              <a:rPr lang="en-US" altLang="zh-CN" dirty="0"/>
              <a:t>)</a:t>
            </a:r>
            <a:r>
              <a:rPr lang="en-US" altLang="zh-CN" baseline="30000" dirty="0"/>
              <a:t>-1</a:t>
            </a:r>
            <a:r>
              <a:rPr lang="zh-CN" altLang="en-US" dirty="0"/>
              <a:t>＝</a:t>
            </a:r>
            <a:r>
              <a:rPr lang="en-US" altLang="zh-CN" dirty="0"/>
              <a:t>(</a:t>
            </a:r>
            <a:r>
              <a:rPr lang="en-US" altLang="zh-CN" dirty="0" err="1"/>
              <a:t>R</a:t>
            </a:r>
            <a:r>
              <a:rPr lang="en-US" altLang="zh-CN" baseline="30000" dirty="0" err="1"/>
              <a:t>k</a:t>
            </a:r>
            <a:r>
              <a:rPr lang="en-US" altLang="zh-CN" dirty="0"/>
              <a:t>  R)</a:t>
            </a:r>
            <a:r>
              <a:rPr lang="en-US" altLang="zh-CN" baseline="30000" dirty="0"/>
              <a:t>-1 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        </a:t>
            </a:r>
            <a:r>
              <a:rPr lang="zh-CN" altLang="en-US" dirty="0"/>
              <a:t>＝</a:t>
            </a:r>
            <a:r>
              <a:rPr lang="en-US" altLang="zh-CN" dirty="0"/>
              <a:t>R</a:t>
            </a:r>
            <a:r>
              <a:rPr lang="en-US" altLang="zh-CN" baseline="30000" dirty="0"/>
              <a:t>-1</a:t>
            </a:r>
            <a:r>
              <a:rPr lang="en-US" altLang="zh-CN" dirty="0"/>
              <a:t>  (</a:t>
            </a:r>
            <a:r>
              <a:rPr lang="en-US" altLang="zh-CN" dirty="0" err="1"/>
              <a:t>R</a:t>
            </a:r>
            <a:r>
              <a:rPr lang="en-US" altLang="zh-CN" baseline="30000" dirty="0" err="1"/>
              <a:t>k</a:t>
            </a:r>
            <a:r>
              <a:rPr lang="en-US" altLang="zh-CN" dirty="0"/>
              <a:t>)</a:t>
            </a:r>
            <a:r>
              <a:rPr lang="en-US" altLang="zh-CN" baseline="30000" dirty="0"/>
              <a:t>-1</a:t>
            </a:r>
            <a:r>
              <a:rPr lang="zh-CN" altLang="en-US" dirty="0"/>
              <a:t>＝</a:t>
            </a:r>
            <a:r>
              <a:rPr lang="en-US" altLang="zh-CN" dirty="0"/>
              <a:t>R</a:t>
            </a:r>
            <a:r>
              <a:rPr lang="en-US" altLang="zh-CN" baseline="30000" dirty="0"/>
              <a:t>-1</a:t>
            </a:r>
            <a:r>
              <a:rPr lang="en-US" altLang="zh-CN" dirty="0"/>
              <a:t>  (R</a:t>
            </a:r>
            <a:r>
              <a:rPr lang="en-US" altLang="zh-CN" baseline="30000" dirty="0"/>
              <a:t>-1</a:t>
            </a:r>
            <a:r>
              <a:rPr lang="en-US" altLang="zh-CN" dirty="0"/>
              <a:t>)</a:t>
            </a:r>
            <a:r>
              <a:rPr lang="en-US" altLang="zh-CN" baseline="30000" dirty="0"/>
              <a:t>k 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        </a:t>
            </a:r>
            <a:r>
              <a:rPr lang="zh-CN" altLang="en-US" dirty="0"/>
              <a:t>＝</a:t>
            </a:r>
            <a:r>
              <a:rPr lang="en-US" altLang="zh-CN" dirty="0"/>
              <a:t>(R</a:t>
            </a:r>
            <a:r>
              <a:rPr lang="en-US" altLang="zh-CN" baseline="30000" dirty="0"/>
              <a:t>-1</a:t>
            </a:r>
            <a:r>
              <a:rPr lang="en-US" altLang="zh-CN" dirty="0"/>
              <a:t>)</a:t>
            </a:r>
            <a:r>
              <a:rPr lang="en-US" altLang="zh-CN" baseline="30000" dirty="0"/>
              <a:t>k+1 </a:t>
            </a:r>
          </a:p>
        </p:txBody>
      </p:sp>
      <p:graphicFrame>
        <p:nvGraphicFramePr>
          <p:cNvPr id="32772" name="Object 10">
            <a:extLst>
              <a:ext uri="{FF2B5EF4-FFF2-40B4-BE49-F238E27FC236}">
                <a16:creationId xmlns:a16="http://schemas.microsoft.com/office/drawing/2014/main" id="{2ADF5C98-7137-3F18-6159-77E0D6657F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03675" y="5589588"/>
          <a:ext cx="255588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1468" imgH="114151" progId="Equation.DSMT4">
                  <p:embed/>
                </p:oleObj>
              </mc:Choice>
              <mc:Fallback>
                <p:oleObj name="Equation" r:id="rId2" imgW="101468" imgH="114151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3675" y="5589588"/>
                        <a:ext cx="255588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3" name="Object 11">
            <a:extLst>
              <a:ext uri="{FF2B5EF4-FFF2-40B4-BE49-F238E27FC236}">
                <a16:creationId xmlns:a16="http://schemas.microsoft.com/office/drawing/2014/main" id="{B3C0766B-F3D1-92E3-DCA0-EE6960DE2A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67175" y="4894263"/>
          <a:ext cx="255588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1468" imgH="114151" progId="Equation.DSMT4">
                  <p:embed/>
                </p:oleObj>
              </mc:Choice>
              <mc:Fallback>
                <p:oleObj name="Equation" r:id="rId4" imgW="101468" imgH="114151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4894263"/>
                        <a:ext cx="255588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4" name="Object 12">
            <a:extLst>
              <a:ext uri="{FF2B5EF4-FFF2-40B4-BE49-F238E27FC236}">
                <a16:creationId xmlns:a16="http://schemas.microsoft.com/office/drawing/2014/main" id="{47D81DF0-23F5-54D4-E284-88F986C811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6638" y="5589588"/>
          <a:ext cx="255587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1468" imgH="114151" progId="Equation.DSMT4">
                  <p:embed/>
                </p:oleObj>
              </mc:Choice>
              <mc:Fallback>
                <p:oleObj name="Equation" r:id="rId5" imgW="101468" imgH="114151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6638" y="5589588"/>
                        <a:ext cx="255587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5" name="对象 1">
            <a:extLst>
              <a:ext uri="{FF2B5EF4-FFF2-40B4-BE49-F238E27FC236}">
                <a16:creationId xmlns:a16="http://schemas.microsoft.com/office/drawing/2014/main" id="{8C5AB2CC-7840-37D1-6172-A2FA15C92B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19438" y="2106613"/>
          <a:ext cx="385762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2268" imgH="152268" progId="Equation.DSMT4">
                  <p:embed/>
                </p:oleObj>
              </mc:Choice>
              <mc:Fallback>
                <p:oleObj name="Equation" r:id="rId6" imgW="152268" imgH="152268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9438" y="2106613"/>
                        <a:ext cx="385762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5DAE90E8-9F7B-B731-766D-E15C157A745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设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与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均为集合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到集合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的关系，则下列各式中（        ）不正确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1ADEBD0-85D8-022F-1604-9C58AF57F9E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dirty="0"/>
              <a:t>(R  S)</a:t>
            </a:r>
            <a:r>
              <a:rPr lang="en-US" altLang="zh-CN" sz="2400" baseline="30000" dirty="0"/>
              <a:t>-1</a:t>
            </a:r>
            <a:r>
              <a:rPr lang="zh-CN" altLang="en-US" sz="2400" dirty="0"/>
              <a:t>＝ </a:t>
            </a:r>
            <a:r>
              <a:rPr lang="en-US" altLang="zh-CN" sz="2400" dirty="0"/>
              <a:t>R</a:t>
            </a:r>
            <a:r>
              <a:rPr lang="en-US" altLang="zh-CN" sz="2400" baseline="30000" dirty="0"/>
              <a:t>-1</a:t>
            </a:r>
            <a:r>
              <a:rPr lang="en-US" altLang="zh-CN" sz="2800" dirty="0"/>
              <a:t>  </a:t>
            </a:r>
            <a:r>
              <a:rPr lang="en-US" altLang="zh-CN" sz="2400" dirty="0"/>
              <a:t>S</a:t>
            </a:r>
            <a:r>
              <a:rPr lang="en-US" altLang="zh-CN" sz="2400" baseline="30000" dirty="0"/>
              <a:t>-1</a:t>
            </a:r>
            <a:endParaRPr lang="zh-CN" altLang="en-US"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9AFE47F-7CA5-7F49-1BF4-AFF7B822389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dirty="0"/>
              <a:t>(R∩S)</a:t>
            </a:r>
            <a:r>
              <a:rPr lang="en-US" altLang="zh-CN" sz="2400" baseline="30000" dirty="0"/>
              <a:t>-1</a:t>
            </a:r>
            <a:r>
              <a:rPr lang="zh-CN" altLang="en-US" sz="2400" dirty="0"/>
              <a:t>＝</a:t>
            </a:r>
            <a:r>
              <a:rPr lang="en-US" altLang="zh-CN" sz="2400" dirty="0"/>
              <a:t>R</a:t>
            </a:r>
            <a:r>
              <a:rPr lang="en-US" altLang="zh-CN" sz="2400" baseline="30000" dirty="0"/>
              <a:t>-1</a:t>
            </a:r>
            <a:r>
              <a:rPr lang="en-US" altLang="zh-CN" sz="2400" dirty="0"/>
              <a:t>∩S</a:t>
            </a:r>
            <a:r>
              <a:rPr lang="en-US" altLang="zh-CN" sz="2400" baseline="30000" dirty="0"/>
              <a:t>-1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FF6D032-44E6-CFCA-2516-FC749F4C6E4F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dirty="0"/>
              <a:t>(R∪S)</a:t>
            </a:r>
            <a:r>
              <a:rPr lang="en-US" altLang="zh-CN" sz="2400" baseline="30000" dirty="0"/>
              <a:t>-1</a:t>
            </a:r>
            <a:r>
              <a:rPr lang="zh-CN" altLang="en-US" sz="2400" dirty="0"/>
              <a:t>＝</a:t>
            </a:r>
            <a:r>
              <a:rPr lang="en-US" altLang="zh-CN" sz="2400" dirty="0"/>
              <a:t>R</a:t>
            </a:r>
            <a:r>
              <a:rPr lang="en-US" altLang="zh-CN" sz="2400" baseline="30000" dirty="0"/>
              <a:t>-1</a:t>
            </a:r>
            <a:r>
              <a:rPr lang="en-US" altLang="zh-CN" sz="2400" dirty="0"/>
              <a:t>∪S</a:t>
            </a:r>
            <a:r>
              <a:rPr lang="en-US" altLang="zh-CN" sz="2400" baseline="30000" dirty="0"/>
              <a:t>-1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E0F21B2-C713-989F-B670-9C5AE372F7B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dirty="0"/>
              <a:t>(R</a:t>
            </a:r>
            <a:r>
              <a:rPr lang="zh-CN" altLang="en-US" sz="2400" dirty="0"/>
              <a:t>－</a:t>
            </a:r>
            <a:r>
              <a:rPr lang="en-US" altLang="zh-CN" sz="2400" dirty="0"/>
              <a:t>S)</a:t>
            </a:r>
            <a:r>
              <a:rPr lang="en-US" altLang="zh-CN" sz="2400" baseline="30000" dirty="0"/>
              <a:t>-1</a:t>
            </a:r>
            <a:r>
              <a:rPr lang="zh-CN" altLang="en-US" sz="2400" dirty="0"/>
              <a:t>＝</a:t>
            </a:r>
            <a:r>
              <a:rPr lang="en-US" altLang="zh-CN" sz="2400" dirty="0"/>
              <a:t>R</a:t>
            </a:r>
            <a:r>
              <a:rPr lang="en-US" altLang="zh-CN" sz="2400" baseline="30000" dirty="0"/>
              <a:t>-1</a:t>
            </a:r>
            <a:r>
              <a:rPr lang="zh-CN" altLang="en-US" sz="2400" dirty="0"/>
              <a:t>－</a:t>
            </a:r>
            <a:r>
              <a:rPr lang="en-US" altLang="zh-CN" sz="2400" dirty="0"/>
              <a:t>S</a:t>
            </a:r>
            <a:r>
              <a:rPr lang="en-US" altLang="zh-CN" sz="2400" baseline="30000" dirty="0"/>
              <a:t>-1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6F84FA05-4C4F-D2BC-9211-87A82A601A44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B643A1D-BEE7-BC56-A7CE-F7AFA774F878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129C6F29-9F5B-7189-C494-9EE63DDBB0EB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177CA707-F91B-182F-1CE3-A26E00CBA83F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509F68F-3408-E776-0B6D-6C4E1C333105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aphicFrame>
        <p:nvGraphicFramePr>
          <p:cNvPr id="24" name="Object 10">
            <a:extLst>
              <a:ext uri="{FF2B5EF4-FFF2-40B4-BE49-F238E27FC236}">
                <a16:creationId xmlns:a16="http://schemas.microsoft.com/office/drawing/2014/main" id="{EDC3A0DB-D80E-91A3-2C4D-81D47A4D6F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0388534"/>
              </p:ext>
            </p:extLst>
          </p:nvPr>
        </p:nvGraphicFramePr>
        <p:xfrm>
          <a:off x="2195736" y="2992437"/>
          <a:ext cx="255588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01468" imgH="114151" progId="Equation.DSMT4">
                  <p:embed/>
                </p:oleObj>
              </mc:Choice>
              <mc:Fallback>
                <p:oleObj name="Equation" r:id="rId19" imgW="101468" imgH="114151" progId="Equation.DSMT4">
                  <p:embed/>
                  <p:pic>
                    <p:nvPicPr>
                      <p:cNvPr id="2" name="Object 10">
                        <a:extLst>
                          <a:ext uri="{FF2B5EF4-FFF2-40B4-BE49-F238E27FC236}">
                            <a16:creationId xmlns:a16="http://schemas.microsoft.com/office/drawing/2014/main" id="{14E5AA2F-1695-7968-3865-5B62560A59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736" y="2992437"/>
                        <a:ext cx="255588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0">
            <a:extLst>
              <a:ext uri="{FF2B5EF4-FFF2-40B4-BE49-F238E27FC236}">
                <a16:creationId xmlns:a16="http://schemas.microsoft.com/office/drawing/2014/main" id="{C4C35451-C4C7-CD3E-6C1E-A4AEB9DDC8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745030"/>
              </p:ext>
            </p:extLst>
          </p:nvPr>
        </p:nvGraphicFramePr>
        <p:xfrm>
          <a:off x="3596332" y="2992437"/>
          <a:ext cx="255588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01468" imgH="114151" progId="Equation.DSMT4">
                  <p:embed/>
                </p:oleObj>
              </mc:Choice>
              <mc:Fallback>
                <p:oleObj name="Equation" r:id="rId19" imgW="101468" imgH="114151" progId="Equation.DSMT4">
                  <p:embed/>
                  <p:pic>
                    <p:nvPicPr>
                      <p:cNvPr id="2" name="Object 10">
                        <a:extLst>
                          <a:ext uri="{FF2B5EF4-FFF2-40B4-BE49-F238E27FC236}">
                            <a16:creationId xmlns:a16="http://schemas.microsoft.com/office/drawing/2014/main" id="{14E5AA2F-1695-7968-3865-5B62560A59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6332" y="2992437"/>
                        <a:ext cx="255588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组合 21">
            <a:extLst>
              <a:ext uri="{FF2B5EF4-FFF2-40B4-BE49-F238E27FC236}">
                <a16:creationId xmlns:a16="http://schemas.microsoft.com/office/drawing/2014/main" id="{BBA1B2F9-8136-85C5-57BD-2ABA8BF1E0A9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8" name="TitleBackground">
              <a:extLst>
                <a:ext uri="{FF2B5EF4-FFF2-40B4-BE49-F238E27FC236}">
                  <a16:creationId xmlns:a16="http://schemas.microsoft.com/office/drawing/2014/main" id="{7B689CDF-894E-E8B6-3273-8BC6543978C5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ColorBlock">
              <a:extLst>
                <a:ext uri="{FF2B5EF4-FFF2-40B4-BE49-F238E27FC236}">
                  <a16:creationId xmlns:a16="http://schemas.microsoft.com/office/drawing/2014/main" id="{3925AAB6-1517-AF96-D500-688B42B26F12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TypeText">
              <a:extLst>
                <a:ext uri="{FF2B5EF4-FFF2-40B4-BE49-F238E27FC236}">
                  <a16:creationId xmlns:a16="http://schemas.microsoft.com/office/drawing/2014/main" id="{88AFDBC0-D398-B340-A413-9DB355393227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21" name="TipText">
              <a:extLst>
                <a:ext uri="{FF2B5EF4-FFF2-40B4-BE49-F238E27FC236}">
                  <a16:creationId xmlns:a16="http://schemas.microsoft.com/office/drawing/2014/main" id="{655BA1AD-50F1-11B4-83B2-9206B9605C94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FA16C4CA-7E12-3708-3E6F-8D063E53ABAB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191328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5">
            <a:extLst>
              <a:ext uri="{FF2B5EF4-FFF2-40B4-BE49-F238E27FC236}">
                <a16:creationId xmlns:a16="http://schemas.microsoft.com/office/drawing/2014/main" id="{914A75A2-0F23-4DDE-7418-2302C7888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作 业</a:t>
            </a:r>
          </a:p>
        </p:txBody>
      </p:sp>
      <p:sp>
        <p:nvSpPr>
          <p:cNvPr id="33795" name="内容占位符 6">
            <a:extLst>
              <a:ext uri="{FF2B5EF4-FFF2-40B4-BE49-F238E27FC236}">
                <a16:creationId xmlns:a16="http://schemas.microsoft.com/office/drawing/2014/main" id="{6B4B0C3B-D48C-75EB-C605-AFAF61A70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300000"/>
              </a:lnSpc>
            </a:pPr>
            <a:r>
              <a:rPr lang="en-US" altLang="zh-CN">
                <a:solidFill>
                  <a:srgbClr val="FF0000"/>
                </a:solidFill>
              </a:rPr>
              <a:t>P95    </a:t>
            </a:r>
            <a:r>
              <a:rPr lang="zh-CN" altLang="en-US"/>
              <a:t>习题</a:t>
            </a:r>
            <a:r>
              <a:rPr lang="en-US" altLang="zh-CN"/>
              <a:t>3.9</a:t>
            </a:r>
            <a:endParaRPr lang="zh-C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D18DE5B-50B0-965E-5CBD-3810A589757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1196752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习题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3.9   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第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题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11CE9E2-80DD-DC36-2CDC-A1A06469FA9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8491E13-970F-F120-C793-4127B7750F2F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5FA614CA-A3F9-9A1A-2512-3D00A4100933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0F83D5AE-C2A1-606C-C3CF-0BE534D32CAC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44A0A1A4-1C93-BE7A-69AA-9EDB75AC15BD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99CBC9E7-3177-9D55-9E43-39133146F47D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F74D4814-138E-93FE-7B18-FE8F07D8C359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079164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D18DE5B-50B0-965E-5CBD-3810A589757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1196752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习题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3.9   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第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题 第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15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题  （课后）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11CE9E2-80DD-DC36-2CDC-A1A06469FA9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8491E13-970F-F120-C793-4127B7750F2F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5FA614CA-A3F9-9A1A-2512-3D00A4100933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0F83D5AE-C2A1-606C-C3CF-0BE534D32CAC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44A0A1A4-1C93-BE7A-69AA-9EDB75AC15BD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99CBC9E7-3177-9D55-9E43-39133146F47D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F74D4814-138E-93FE-7B18-FE8F07D8C359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522608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2292</TotalTime>
  <Words>2638</Words>
  <Application>Microsoft Office PowerPoint</Application>
  <PresentationFormat>全屏显示(4:3)</PresentationFormat>
  <Paragraphs>255</Paragraphs>
  <Slides>36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5" baseType="lpstr">
      <vt:lpstr>宋体</vt:lpstr>
      <vt:lpstr>Microsoft Yahei</vt:lpstr>
      <vt:lpstr>Arial</vt:lpstr>
      <vt:lpstr>Cambria Math</vt:lpstr>
      <vt:lpstr>Symbol</vt:lpstr>
      <vt:lpstr>Tahoma</vt:lpstr>
      <vt:lpstr>Wingdings</vt:lpstr>
      <vt:lpstr>Blends</vt:lpstr>
      <vt:lpstr>Equation</vt:lpstr>
      <vt:lpstr>3.9 复合关系与逆关系 </vt:lpstr>
      <vt:lpstr>3.9.1 复合关系的定义</vt:lpstr>
      <vt:lpstr>3.9.1 复合关系的定义</vt:lpstr>
      <vt:lpstr>3.9.1 复合关系的性质</vt:lpstr>
      <vt:lpstr>3.9.1 复合关系的性质</vt:lpstr>
      <vt:lpstr>3.9.1 复合关系的性质</vt:lpstr>
      <vt:lpstr>3.9.1 复合关系的性质</vt:lpstr>
      <vt:lpstr>3.9.1 复合关系的性质</vt:lpstr>
      <vt:lpstr>PowerPoint 演示文稿</vt:lpstr>
      <vt:lpstr>3.9.1 复合关系的定义</vt:lpstr>
      <vt:lpstr>3.9.1 复合关系的定义</vt:lpstr>
      <vt:lpstr>3.9.1 复合关系的性质</vt:lpstr>
      <vt:lpstr>3.9.1 复合关系的性质</vt:lpstr>
      <vt:lpstr>3.9.1 复合关系的性质</vt:lpstr>
      <vt:lpstr>PowerPoint 演示文稿</vt:lpstr>
      <vt:lpstr>PowerPoint 演示文稿</vt:lpstr>
      <vt:lpstr>3.9.1 复合关系的性质</vt:lpstr>
      <vt:lpstr>3.9.1 复合关系的性质</vt:lpstr>
      <vt:lpstr>PowerPoint 演示文稿</vt:lpstr>
      <vt:lpstr>PowerPoint 演示文稿</vt:lpstr>
      <vt:lpstr>3.9.1 复合关系的性质</vt:lpstr>
      <vt:lpstr>3.9.3 复合关系的关系矩阵</vt:lpstr>
      <vt:lpstr>3.9.3 复合关系的关系矩阵</vt:lpstr>
      <vt:lpstr>3.9.3 复合关系的关系矩阵 </vt:lpstr>
      <vt:lpstr>3.9.4 逆关系的概念</vt:lpstr>
      <vt:lpstr>3.9.4 逆关系的概念</vt:lpstr>
      <vt:lpstr>3.9.4 逆关系的概念</vt:lpstr>
      <vt:lpstr>3.9.4 逆关系的性质</vt:lpstr>
      <vt:lpstr>3.9.4 逆关系的性质</vt:lpstr>
      <vt:lpstr>3.9.4 逆关系的性质</vt:lpstr>
      <vt:lpstr>3.9.4 逆关系的性质</vt:lpstr>
      <vt:lpstr>3.9.4 逆关系的性质</vt:lpstr>
      <vt:lpstr>PowerPoint 演示文稿</vt:lpstr>
      <vt:lpstr>作 业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LENOVO</cp:lastModifiedBy>
  <cp:revision>101</cp:revision>
  <dcterms:created xsi:type="dcterms:W3CDTF">2010-04-09T13:44:14Z</dcterms:created>
  <dcterms:modified xsi:type="dcterms:W3CDTF">2023-12-21T07:45:50Z</dcterms:modified>
</cp:coreProperties>
</file>