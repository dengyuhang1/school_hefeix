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44" r:id="rId2"/>
    <p:sldId id="342" r:id="rId3"/>
    <p:sldId id="345" r:id="rId4"/>
    <p:sldId id="357" r:id="rId5"/>
    <p:sldId id="370" r:id="rId6"/>
    <p:sldId id="347" r:id="rId7"/>
    <p:sldId id="346" r:id="rId8"/>
    <p:sldId id="348" r:id="rId9"/>
    <p:sldId id="321" r:id="rId10"/>
    <p:sldId id="363" r:id="rId11"/>
    <p:sldId id="349" r:id="rId12"/>
    <p:sldId id="322" r:id="rId13"/>
    <p:sldId id="350" r:id="rId14"/>
    <p:sldId id="323" r:id="rId15"/>
    <p:sldId id="351" r:id="rId16"/>
    <p:sldId id="324" r:id="rId17"/>
    <p:sldId id="353" r:id="rId18"/>
    <p:sldId id="355" r:id="rId19"/>
    <p:sldId id="368" r:id="rId20"/>
    <p:sldId id="367" r:id="rId21"/>
    <p:sldId id="369" r:id="rId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oduo" initials="D" lastIdx="1" clrIdx="0">
    <p:extLst>
      <p:ext uri="{19B8F6BF-5375-455C-9EA6-DF929625EA0E}">
        <p15:presenceInfo xmlns:p15="http://schemas.microsoft.com/office/powerpoint/2012/main" userId="Duodu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CC0066"/>
    <a:srgbClr val="FF00FF"/>
    <a:srgbClr val="0066FF"/>
    <a:srgbClr val="008080"/>
    <a:srgbClr val="339933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3" autoAdjust="0"/>
    <p:restoredTop sz="93482" autoAdjust="0"/>
  </p:normalViewPr>
  <p:slideViewPr>
    <p:cSldViewPr>
      <p:cViewPr varScale="1">
        <p:scale>
          <a:sx n="65" d="100"/>
          <a:sy n="65" d="100"/>
        </p:scale>
        <p:origin x="66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CA062C-A0A6-EEAF-12BF-7FACEF9F6F1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63FEBAA-A40A-A52E-50F4-EE9A3B16C7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BCCC97D3-9BBA-2100-56F0-A4852001A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49E4DA89-257B-70F1-EB52-3202D9B0B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43F278B-90BD-0440-5B3B-2A8D408864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6E28B2-32BC-F29C-1D58-016AC1781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01A7F1E-B1EB-9CA0-4436-FDF4AFCA2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CEF5F3E-6417-DF09-7F9E-0697A175E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0ED8C065-E3F4-6CF2-5C71-F466B95DC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1EA55CBB-394D-18F0-5B32-FD54C950E6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0415329-0E1C-0A02-9C64-25812E8252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F1DEE86E-31A5-832D-EE65-A191435B5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694418D-A624-B6FA-7228-B4C236DCAA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9150E1-1610-4BD9-9A69-B1B07751D8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549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D76D27A-5D9D-FF34-7D55-19E4D04181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73FBB1C-80E7-1C85-8360-2ABD7F597E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F48EFD-D5C0-16C7-7731-DE978EC2B9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AC6745-6180-4862-8474-03B1F7388A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837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2200DFA-C300-4CCF-BA45-11BE0FAA02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483A9B1-19A4-AAF4-6975-7BF910B958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BBD4B77-35E6-0568-7B73-551C0B6AD0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9A23B-CA4D-4026-BB03-CD921DCD40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733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E96764-69CC-7A0A-AF1E-5452F75F3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4788EA4-3801-833C-8DA1-6F08B003C8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72150DC-BC73-A199-5566-B5166987E2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88BA4-6C9E-4624-90A0-BEA0BCC7B8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6124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8BC40DA-7CC0-D3F9-80EC-EC1C543EEC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496D5C1-4A2C-B4BB-EBBC-4554298169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103FD75-66D7-9128-2204-681BA2163A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FAB8C-5167-42B2-BDD1-A38B83D75F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04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61FE1CB-4A49-B41A-AB8D-6D2CD08929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6AEEDF1-A7F2-2F52-33ED-DCA55AF4A5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3987E47-2535-928F-63A0-DF4CC099E2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A243F9-9503-4E9D-99B4-19C6D747CCD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68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2757AD31-BE39-A3EB-0E7A-47EFDFB3C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E77B5E6B-6F8A-DB9D-7A06-9E555CA897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30BDD7A-F0AD-F3E7-D27F-0C5457E5D0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0531D5-FAE5-4E64-90EE-149FF2269C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52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3DA5C4E-8477-CFC9-16EF-49977F8D2D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B0BC2B5-F3C4-0412-7288-6667522763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74719F2-A578-509F-218D-3F6970A0F2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976088-20FA-4117-BE73-841A90114F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20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38EC91E-2615-CDD7-9F9E-CCF4174247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E0ECABB-A9BC-451A-8C1C-0548FEDFDF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50A5188-315B-867E-5232-37E792FEC5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F8A841-B9CE-4FEA-AD9A-8276BD1BF3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774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0CC24DB-13D7-AD45-F214-756555E526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57C146A-BE07-57BE-29EF-11233910DD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D8CF629-4ACE-7AEE-9740-0AAAA0218B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1CD571-DD86-4B0B-8DE0-58392F5BD9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3398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CABFDAE-ECAE-F384-27D9-EDB9050E7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972955-13C7-2FDD-6E87-F781AF2AA8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E5CFB3A-959C-9412-1458-FD670A03D0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1CE09E-1D95-4BF6-ADDD-C710AC30DF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80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6F44118-95DA-6867-5F98-57C4A5DF76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E18449D8-0659-4058-F0BE-A442D02159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977F7EE5-35D4-72AB-AFAD-D9941AB12D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228CA7-8FFE-4A36-BDB3-5EA0AFA979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130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D777D3-1FD9-943B-F6A9-E1A04A3889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1DA840-6937-E7A2-0ECE-9ECAB67F3A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BE285EF-F40E-6058-6C3E-5049C77AF2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0E808DD-79FD-60B7-23AA-E949C88B11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976910-2E7C-F42E-DF6B-80AEE24A33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7ED35DF-70A9-6FF3-BE29-C7BF753568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7A79495-0115-225E-91B1-1B8A2BB276A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8438473-C9DC-7D61-CE77-3E99A978D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32ABB25-B5DA-AB98-B8C6-E1DEA50FD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9D716F22-63FD-3211-EFBD-5B63C9A86F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64074148-9A87-5C4F-0411-932243EF5C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830FA00-F192-6890-1C57-0BCF38EFD88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A7D465-22C4-44E4-AC45-86482E082F4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0.wmf"/><Relationship Id="rId3" Type="http://schemas.openxmlformats.org/officeDocument/2006/relationships/image" Target="../media/image7.wmf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4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8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1.bin"/><Relationship Id="rId14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oleObject" Target="../embeddings/oleObject21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6.tmp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3DE8E24-FAA5-4E2F-6CF8-81817A851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A74ABCB3-325B-5882-4A9F-D2A7B8A63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交集   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A∩B</a:t>
            </a:r>
            <a:r>
              <a:rPr lang="zh-CN" altLang="en-US" dirty="0"/>
              <a:t>＝</a:t>
            </a:r>
            <a:r>
              <a:rPr lang="en-US" altLang="zh-CN" dirty="0"/>
              <a:t>{x︱(</a:t>
            </a:r>
            <a:r>
              <a:rPr lang="en-US" altLang="zh-CN" dirty="0" err="1"/>
              <a:t>x∈A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∧</a:t>
            </a:r>
            <a:r>
              <a:rPr lang="en-US" altLang="zh-CN" dirty="0"/>
              <a:t>(</a:t>
            </a:r>
            <a:r>
              <a:rPr lang="en-US" altLang="zh-CN" dirty="0" err="1"/>
              <a:t>x∈B</a:t>
            </a:r>
            <a:r>
              <a:rPr lang="en-US" altLang="zh-CN" dirty="0"/>
              <a:t>)}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并集</a:t>
            </a:r>
            <a:r>
              <a:rPr lang="zh-CN" altLang="en-US" dirty="0"/>
              <a:t>  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A∪B</a:t>
            </a:r>
            <a:r>
              <a:rPr lang="zh-CN" altLang="en-US" dirty="0"/>
              <a:t>＝</a:t>
            </a:r>
            <a:r>
              <a:rPr lang="en-US" altLang="zh-CN" dirty="0"/>
              <a:t>{x︱(</a:t>
            </a:r>
            <a:r>
              <a:rPr lang="en-US" altLang="zh-CN" dirty="0" err="1"/>
              <a:t>x∈A</a:t>
            </a:r>
            <a:r>
              <a:rPr lang="en-US" altLang="zh-CN" dirty="0"/>
              <a:t>)</a:t>
            </a:r>
            <a:r>
              <a:rPr lang="en-US" altLang="zh-CN" dirty="0">
                <a:solidFill>
                  <a:schemeClr val="accent1"/>
                </a:solidFill>
              </a:rPr>
              <a:t>∨</a:t>
            </a:r>
            <a:r>
              <a:rPr lang="en-US" altLang="zh-CN" dirty="0"/>
              <a:t>(</a:t>
            </a:r>
            <a:r>
              <a:rPr lang="en-US" altLang="zh-CN" dirty="0" err="1"/>
              <a:t>x∈B</a:t>
            </a:r>
            <a:r>
              <a:rPr lang="en-US" altLang="zh-CN" dirty="0"/>
              <a:t>)}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B3F745BE-1EE6-7849-268F-BA285DF83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72038" name="Rectangle 6">
            <a:extLst>
              <a:ext uri="{FF2B5EF4-FFF2-40B4-BE49-F238E27FC236}">
                <a16:creationId xmlns:a16="http://schemas.microsoft.com/office/drawing/2014/main" id="{5D4CE38D-8FA7-A292-817B-2FC236297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dirty="0"/>
              <a:t>集合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CC0066"/>
                </a:solidFill>
              </a:rPr>
              <a:t>差</a:t>
            </a:r>
            <a:r>
              <a:rPr lang="zh-CN" altLang="en-US" dirty="0"/>
              <a:t>或</a:t>
            </a:r>
            <a:r>
              <a:rPr lang="en-US" altLang="zh-CN" dirty="0"/>
              <a:t>B</a:t>
            </a:r>
            <a:r>
              <a:rPr lang="zh-CN" altLang="en-US" dirty="0"/>
              <a:t>相对于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补集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rgbClr val="FF00FF"/>
                </a:solidFill>
              </a:rPr>
              <a:t>相对补</a:t>
            </a:r>
            <a:endParaRPr lang="en-US" altLang="zh-CN" dirty="0"/>
          </a:p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A</a:t>
            </a:r>
            <a:r>
              <a:rPr lang="zh-CN" altLang="en-US" dirty="0">
                <a:solidFill>
                  <a:schemeClr val="accent1"/>
                </a:solidFill>
              </a:rPr>
              <a:t>－</a:t>
            </a:r>
            <a:r>
              <a:rPr lang="en-US" altLang="zh-CN" dirty="0">
                <a:solidFill>
                  <a:schemeClr val="accent1"/>
                </a:solidFill>
              </a:rPr>
              <a:t>B</a:t>
            </a:r>
            <a:r>
              <a:rPr lang="zh-CN" altLang="en-US" dirty="0"/>
              <a:t>＝</a:t>
            </a:r>
            <a:r>
              <a:rPr lang="en-US" altLang="zh-CN" dirty="0"/>
              <a:t>{x︱(</a:t>
            </a:r>
            <a:r>
              <a:rPr lang="en-US" altLang="zh-CN" dirty="0" err="1"/>
              <a:t>x∈A</a:t>
            </a:r>
            <a:r>
              <a:rPr lang="en-US" altLang="zh-CN" dirty="0"/>
              <a:t>)∧        }</a:t>
            </a:r>
          </a:p>
          <a:p>
            <a:pPr eaLnBrk="1" hangingPunct="1">
              <a:lnSpc>
                <a:spcPct val="20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绝对补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absolute complement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zh-CN" altLang="en-US" b="1" dirty="0">
                <a:solidFill>
                  <a:schemeClr val="accent1"/>
                </a:solidFill>
              </a:rPr>
              <a:t>绝对差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accent1"/>
                </a:solidFill>
              </a:rPr>
              <a:t>～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zh-CN" altLang="en-US" dirty="0"/>
              <a:t>＝ </a:t>
            </a:r>
            <a:r>
              <a:rPr lang="en-US" altLang="zh-CN" dirty="0"/>
              <a:t>E</a:t>
            </a:r>
            <a:r>
              <a:rPr lang="zh-CN" altLang="en-US" dirty="0"/>
              <a:t>－</a:t>
            </a:r>
            <a:r>
              <a:rPr lang="en-US" altLang="zh-CN" dirty="0"/>
              <a:t>A </a:t>
            </a:r>
            <a:r>
              <a:rPr lang="zh-CN" altLang="en-US" dirty="0"/>
              <a:t>＝</a:t>
            </a:r>
            <a:r>
              <a:rPr lang="en-US" altLang="zh-CN" dirty="0"/>
              <a:t>{x︱(</a:t>
            </a:r>
            <a:r>
              <a:rPr lang="en-US" altLang="zh-CN" dirty="0" err="1"/>
              <a:t>x∈E</a:t>
            </a:r>
            <a:r>
              <a:rPr lang="en-US" altLang="zh-CN" dirty="0"/>
              <a:t>)∧         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accent1"/>
                </a:solidFill>
              </a:rPr>
              <a:t>～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zh-CN" altLang="en-US" dirty="0"/>
              <a:t> ＝ </a:t>
            </a:r>
            <a:r>
              <a:rPr lang="en-US" altLang="zh-CN" dirty="0"/>
              <a:t>{x|┐ (</a:t>
            </a:r>
            <a:r>
              <a:rPr lang="en-US" altLang="zh-CN" dirty="0" err="1"/>
              <a:t>x∈A</a:t>
            </a:r>
            <a:r>
              <a:rPr lang="en-US" altLang="zh-CN" dirty="0"/>
              <a:t>)}</a:t>
            </a:r>
          </a:p>
        </p:txBody>
      </p:sp>
      <p:graphicFrame>
        <p:nvGraphicFramePr>
          <p:cNvPr id="4100" name="Object 7">
            <a:extLst>
              <a:ext uri="{FF2B5EF4-FFF2-40B4-BE49-F238E27FC236}">
                <a16:creationId xmlns:a16="http://schemas.microsoft.com/office/drawing/2014/main" id="{BAD993D4-D081-C839-5FB8-286655058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1538" y="3357563"/>
          <a:ext cx="11144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203112" progId="Equation.DSMT4">
                  <p:embed/>
                </p:oleObj>
              </mc:Choice>
              <mc:Fallback>
                <p:oleObj name="Equation" r:id="rId2" imgW="482391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3357563"/>
                        <a:ext cx="11144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8">
            <a:extLst>
              <a:ext uri="{FF2B5EF4-FFF2-40B4-BE49-F238E27FC236}">
                <a16:creationId xmlns:a16="http://schemas.microsoft.com/office/drawing/2014/main" id="{CA166A23-7796-0EA7-8442-EAEC5F80B7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81667"/>
              </p:ext>
            </p:extLst>
          </p:nvPr>
        </p:nvGraphicFramePr>
        <p:xfrm>
          <a:off x="5580112" y="5157192"/>
          <a:ext cx="11144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203112" progId="Equation.DSMT4">
                  <p:embed/>
                </p:oleObj>
              </mc:Choice>
              <mc:Fallback>
                <p:oleObj name="Equation" r:id="rId4" imgW="482391" imgH="203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157192"/>
                        <a:ext cx="111442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9">
            <a:extLst>
              <a:ext uri="{FF2B5EF4-FFF2-40B4-BE49-F238E27FC236}">
                <a16:creationId xmlns:a16="http://schemas.microsoft.com/office/drawing/2014/main" id="{2219A21F-D1EA-C5C5-19CF-790A327B33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968679"/>
              </p:ext>
            </p:extLst>
          </p:nvPr>
        </p:nvGraphicFramePr>
        <p:xfrm>
          <a:off x="7236296" y="5119340"/>
          <a:ext cx="3524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203024" progId="Equation.DSMT4">
                  <p:embed/>
                </p:oleObj>
              </mc:Choice>
              <mc:Fallback>
                <p:oleObj name="Equation" r:id="rId6" imgW="152268" imgH="203024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6296" y="5119340"/>
                        <a:ext cx="3524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>
            <a:extLst>
              <a:ext uri="{FF2B5EF4-FFF2-40B4-BE49-F238E27FC236}">
                <a16:creationId xmlns:a16="http://schemas.microsoft.com/office/drawing/2014/main" id="{C4BA1DDA-425C-5171-6F7C-7BB9F849A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0830EFF-EF88-E9FB-1EE2-23F0EB4DC1C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2017713"/>
            <a:ext cx="8208962" cy="47244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对称差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symmetric difference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           </a:t>
            </a:r>
            <a:r>
              <a:rPr lang="zh-CN" altLang="en-US" dirty="0"/>
              <a:t>＝</a:t>
            </a:r>
            <a:r>
              <a:rPr lang="en-US" altLang="zh-CN" dirty="0"/>
              <a:t>(A∪B)</a:t>
            </a:r>
            <a:r>
              <a:rPr lang="zh-CN" altLang="en-US" dirty="0"/>
              <a:t>－</a:t>
            </a:r>
            <a:r>
              <a:rPr lang="en-US" altLang="zh-CN" dirty="0"/>
              <a:t>(A∩B)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</a:t>
            </a:r>
            <a:r>
              <a:rPr lang="zh-CN" altLang="en-US" dirty="0"/>
              <a:t>＝</a:t>
            </a:r>
            <a:r>
              <a:rPr lang="en-US" altLang="zh-CN" dirty="0"/>
              <a:t>(A</a:t>
            </a:r>
            <a:r>
              <a:rPr lang="zh-CN" altLang="en-US" dirty="0"/>
              <a:t>－</a:t>
            </a:r>
            <a:r>
              <a:rPr lang="en-US" altLang="zh-CN" dirty="0"/>
              <a:t>B)∪(B</a:t>
            </a:r>
            <a:r>
              <a:rPr lang="zh-CN" altLang="en-US" dirty="0"/>
              <a:t>－</a:t>
            </a:r>
            <a:r>
              <a:rPr lang="en-US" altLang="zh-CN" dirty="0"/>
              <a:t>A)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</a:t>
            </a:r>
            <a:r>
              <a:rPr lang="zh-CN" altLang="en-US" dirty="0"/>
              <a:t>＝</a:t>
            </a:r>
            <a:r>
              <a:rPr lang="en-US" altLang="zh-CN" dirty="0"/>
              <a:t>{x︱(</a:t>
            </a:r>
            <a:r>
              <a:rPr lang="en-US" altLang="zh-CN" dirty="0" err="1"/>
              <a:t>x∈A</a:t>
            </a:r>
            <a:r>
              <a:rPr lang="en-US" altLang="zh-CN" dirty="0"/>
              <a:t>)   (</a:t>
            </a:r>
            <a:r>
              <a:rPr lang="en-US" altLang="zh-CN" dirty="0" err="1"/>
              <a:t>x∈B</a:t>
            </a:r>
            <a:r>
              <a:rPr lang="en-US" altLang="zh-CN" dirty="0"/>
              <a:t>)}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3600" dirty="0"/>
          </a:p>
        </p:txBody>
      </p:sp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3F1A9A24-15AE-591A-79FA-934E35B8E8A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16013" y="3476625"/>
          <a:ext cx="128111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425" imgH="177646" progId="Equation.DSMT4">
                  <p:embed/>
                </p:oleObj>
              </mc:Choice>
              <mc:Fallback>
                <p:oleObj name="Equation" r:id="rId2" imgW="431425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476625"/>
                        <a:ext cx="128111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7">
            <a:extLst>
              <a:ext uri="{FF2B5EF4-FFF2-40B4-BE49-F238E27FC236}">
                <a16:creationId xmlns:a16="http://schemas.microsoft.com/office/drawing/2014/main" id="{1144392E-EA46-136F-A605-BFD20C374F3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43438" y="5661025"/>
          <a:ext cx="457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02" imgH="177569" progId="Equation.DSMT4">
                  <p:embed/>
                </p:oleObj>
              </mc:Choice>
              <mc:Fallback>
                <p:oleObj name="Equation" r:id="rId4" imgW="152202" imgH="17756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661025"/>
                        <a:ext cx="4572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>
            <a:extLst>
              <a:ext uri="{FF2B5EF4-FFF2-40B4-BE49-F238E27FC236}">
                <a16:creationId xmlns:a16="http://schemas.microsoft.com/office/drawing/2014/main" id="{7A895AA7-8873-0334-E6AB-CDDE7DECC7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2123DA15-BD65-8078-9B56-7D209A001E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844675"/>
            <a:ext cx="8208962" cy="4897438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例如</a:t>
            </a:r>
            <a:r>
              <a:rPr lang="zh-CN" altLang="en-US" dirty="0"/>
              <a:t>，设 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{3,4,5,6}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    </a:t>
            </a:r>
            <a:r>
              <a:rPr lang="en-US" altLang="zh-CN" dirty="0"/>
              <a:t>A∩B</a:t>
            </a:r>
            <a:r>
              <a:rPr lang="zh-CN" altLang="en-US" dirty="0"/>
              <a:t>＝</a:t>
            </a:r>
            <a:r>
              <a:rPr lang="en-US" altLang="zh-CN" dirty="0"/>
              <a:t>{3,4}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      </a:t>
            </a:r>
            <a:r>
              <a:rPr lang="en-US" altLang="zh-CN" dirty="0"/>
              <a:t>A∪B</a:t>
            </a:r>
            <a:r>
              <a:rPr lang="zh-CN" altLang="en-US" dirty="0"/>
              <a:t>＝</a:t>
            </a:r>
            <a:r>
              <a:rPr lang="en-US" altLang="zh-CN" dirty="0"/>
              <a:t>{1,2,3,4,5,6}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A</a:t>
            </a:r>
            <a:r>
              <a:rPr lang="zh-CN" altLang="en-US" dirty="0"/>
              <a:t>－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{1,2}</a:t>
            </a:r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B</a:t>
            </a:r>
            <a:r>
              <a:rPr lang="zh-CN" altLang="en-US" dirty="0"/>
              <a:t>－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{5,6}</a:t>
            </a:r>
            <a:r>
              <a:rPr lang="zh-CN" altLang="en-US" dirty="0"/>
              <a:t> </a:t>
            </a:r>
            <a:endParaRPr lang="en-US" altLang="zh-CN" dirty="0"/>
          </a:p>
          <a:p>
            <a:pPr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 </a:t>
            </a:r>
            <a:r>
              <a:rPr lang="zh-CN" altLang="en-US" dirty="0"/>
              <a:t>＝</a:t>
            </a:r>
            <a:r>
              <a:rPr lang="en-US" altLang="zh-CN" dirty="0"/>
              <a:t>{1,2,5,6}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9DB6BCF9-1CEF-9083-15ED-5E09DA871A6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06563" y="6069013"/>
          <a:ext cx="128111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425" imgH="177646" progId="Equation.DSMT4">
                  <p:embed/>
                </p:oleObj>
              </mc:Choice>
              <mc:Fallback>
                <p:oleObj name="Equation" r:id="rId2" imgW="431425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6069013"/>
                        <a:ext cx="128111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4145010-C54E-841B-D639-415529C56F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9592" y="2170589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A-B={1,5,7,8}, B-A={2,10},A∩B={3,6,9}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B=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316094B-169A-FEFD-9067-E0288C08697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3884327-CA39-89FB-1EF1-47AE6679B12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" name="TitleBackground">
              <a:extLst>
                <a:ext uri="{FF2B5EF4-FFF2-40B4-BE49-F238E27FC236}">
                  <a16:creationId xmlns:a16="http://schemas.microsoft.com/office/drawing/2014/main" id="{E04876EB-AD3F-E3BE-BB31-4D8F48816B0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ColorBlock">
              <a:extLst>
                <a:ext uri="{FF2B5EF4-FFF2-40B4-BE49-F238E27FC236}">
                  <a16:creationId xmlns:a16="http://schemas.microsoft.com/office/drawing/2014/main" id="{D6F20B6B-193F-5A33-9540-12119E5977C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TypeText">
              <a:extLst>
                <a:ext uri="{FF2B5EF4-FFF2-40B4-BE49-F238E27FC236}">
                  <a16:creationId xmlns:a16="http://schemas.microsoft.com/office/drawing/2014/main" id="{DB5F6D28-A2E9-75C6-B5CB-49DD00B80B6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3" name="TipText">
              <a:extLst>
                <a:ext uri="{FF2B5EF4-FFF2-40B4-BE49-F238E27FC236}">
                  <a16:creationId xmlns:a16="http://schemas.microsoft.com/office/drawing/2014/main" id="{8C27150A-4763-04E3-8CF9-3B8F92E666C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3169732-3746-065E-A7F2-F2363C3FCD2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4864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>
            <a:extLst>
              <a:ext uri="{FF2B5EF4-FFF2-40B4-BE49-F238E27FC236}">
                <a16:creationId xmlns:a16="http://schemas.microsoft.com/office/drawing/2014/main" id="{E10B3BDD-4F91-A556-1A1D-4BE4EB5DD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A8BB07-1BB3-A5C9-43B9-A8320F378D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353425" cy="472440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 dirty="0"/>
              <a:t>对称差</a:t>
            </a:r>
            <a:r>
              <a:rPr lang="zh-CN" altLang="en-US" dirty="0">
                <a:solidFill>
                  <a:srgbClr val="FF00FF"/>
                </a:solidFill>
              </a:rPr>
              <a:t>性质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</a:t>
            </a:r>
            <a:r>
              <a:rPr lang="en-US" altLang="zh-CN" dirty="0"/>
              <a:t>(1) A    </a:t>
            </a:r>
            <a:r>
              <a:rPr lang="zh-CN" altLang="en-US" dirty="0"/>
              <a:t>＝</a:t>
            </a:r>
            <a:r>
              <a:rPr lang="en-US" altLang="zh-CN" dirty="0"/>
              <a:t>B        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(2) A    </a:t>
            </a:r>
            <a:r>
              <a:rPr lang="zh-CN" altLang="en-US" dirty="0"/>
              <a:t>＝</a:t>
            </a:r>
            <a:br>
              <a:rPr lang="en-US" altLang="zh-CN" dirty="0"/>
            </a:br>
            <a:r>
              <a:rPr lang="en-US" altLang="zh-CN" dirty="0"/>
              <a:t>(3) A     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  <a:r>
              <a:rPr lang="zh-CN" altLang="en-US" dirty="0"/>
              <a:t>         </a:t>
            </a:r>
            <a:endParaRPr lang="en-US" altLang="zh-CN" dirty="0"/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(4) (A  B)   C</a:t>
            </a:r>
            <a:r>
              <a:rPr lang="zh-CN" altLang="en-US" dirty="0"/>
              <a:t>＝</a:t>
            </a:r>
            <a:r>
              <a:rPr lang="en-US" altLang="zh-CN" dirty="0"/>
              <a:t>A   (B   C)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775C4D72-16A8-123E-7C6F-0CEEA2A41F8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33575" y="3159125"/>
          <a:ext cx="6223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353" imgH="177569" progId="Equation.DSMT4">
                  <p:embed/>
                </p:oleObj>
              </mc:Choice>
              <mc:Fallback>
                <p:oleObj name="Equation" r:id="rId2" imgW="266353" imgH="17756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3159125"/>
                        <a:ext cx="6223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0">
            <a:extLst>
              <a:ext uri="{FF2B5EF4-FFF2-40B4-BE49-F238E27FC236}">
                <a16:creationId xmlns:a16="http://schemas.microsoft.com/office/drawing/2014/main" id="{931BA76A-9418-52FF-5D7F-3928FE77E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5150" y="3162300"/>
          <a:ext cx="6159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353" imgH="177569" progId="Equation.DSMT4">
                  <p:embed/>
                </p:oleObj>
              </mc:Choice>
              <mc:Fallback>
                <p:oleObj name="Equation" r:id="rId4" imgW="266353" imgH="17756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3162300"/>
                        <a:ext cx="6159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1">
            <a:extLst>
              <a:ext uri="{FF2B5EF4-FFF2-40B4-BE49-F238E27FC236}">
                <a16:creationId xmlns:a16="http://schemas.microsoft.com/office/drawing/2014/main" id="{6F7C73D3-4D7E-1B02-EF52-D6D245D5F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4213" y="4043363"/>
          <a:ext cx="6159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353" imgH="177569" progId="Equation.DSMT4">
                  <p:embed/>
                </p:oleObj>
              </mc:Choice>
              <mc:Fallback>
                <p:oleObj name="Equation" r:id="rId6" imgW="266353" imgH="17756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4043363"/>
                        <a:ext cx="6159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2">
            <a:extLst>
              <a:ext uri="{FF2B5EF4-FFF2-40B4-BE49-F238E27FC236}">
                <a16:creationId xmlns:a16="http://schemas.microsoft.com/office/drawing/2014/main" id="{D5A84036-3C02-B256-23C9-D7868F8A29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5737225"/>
          <a:ext cx="3317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14" imgH="177492" progId="Equation.DSMT4">
                  <p:embed/>
                </p:oleObj>
              </mc:Choice>
              <mc:Fallback>
                <p:oleObj name="Equation" r:id="rId7" imgW="164814" imgH="17749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737225"/>
                        <a:ext cx="3317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3">
            <a:extLst>
              <a:ext uri="{FF2B5EF4-FFF2-40B4-BE49-F238E27FC236}">
                <a16:creationId xmlns:a16="http://schemas.microsoft.com/office/drawing/2014/main" id="{93E74C30-A65E-8D07-2BBB-AE5FA24C66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7813" y="5772150"/>
          <a:ext cx="3317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14" imgH="177492" progId="Equation.DSMT4">
                  <p:embed/>
                </p:oleObj>
              </mc:Choice>
              <mc:Fallback>
                <p:oleObj name="Equation" r:id="rId9" imgW="164814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5772150"/>
                        <a:ext cx="3317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14">
            <a:extLst>
              <a:ext uri="{FF2B5EF4-FFF2-40B4-BE49-F238E27FC236}">
                <a16:creationId xmlns:a16="http://schemas.microsoft.com/office/drawing/2014/main" id="{66683BCF-52DE-C3B0-5CB9-DEB8CD82A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7500" y="5770563"/>
          <a:ext cx="3317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4814" imgH="177492" progId="Equation.DSMT4">
                  <p:embed/>
                </p:oleObj>
              </mc:Choice>
              <mc:Fallback>
                <p:oleObj name="Equation" r:id="rId10" imgW="164814" imgH="17749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5770563"/>
                        <a:ext cx="3317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6">
            <a:extLst>
              <a:ext uri="{FF2B5EF4-FFF2-40B4-BE49-F238E27FC236}">
                <a16:creationId xmlns:a16="http://schemas.microsoft.com/office/drawing/2014/main" id="{348E2591-969A-14E8-E86D-B131570DC5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5783263"/>
          <a:ext cx="3317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4814" imgH="177492" progId="Equation.DSMT4">
                  <p:embed/>
                </p:oleObj>
              </mc:Choice>
              <mc:Fallback>
                <p:oleObj name="Equation" r:id="rId11" imgW="164814" imgH="17749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783263"/>
                        <a:ext cx="3317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27">
            <a:extLst>
              <a:ext uri="{FF2B5EF4-FFF2-40B4-BE49-F238E27FC236}">
                <a16:creationId xmlns:a16="http://schemas.microsoft.com/office/drawing/2014/main" id="{F5585000-BC88-8338-2DFB-F6402D480F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2463" y="4859338"/>
          <a:ext cx="6731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1847" imgH="177646" progId="Equation.DSMT4">
                  <p:embed/>
                </p:oleObj>
              </mc:Choice>
              <mc:Fallback>
                <p:oleObj name="Equation" r:id="rId12" imgW="291847" imgH="177646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2463" y="4859338"/>
                        <a:ext cx="6731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28">
            <a:extLst>
              <a:ext uri="{FF2B5EF4-FFF2-40B4-BE49-F238E27FC236}">
                <a16:creationId xmlns:a16="http://schemas.microsoft.com/office/drawing/2014/main" id="{87BCB507-F0EE-DA73-36AB-484739456D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9413" y="4046538"/>
          <a:ext cx="3794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14" imgH="177492" progId="Equation.DSMT4">
                  <p:embed/>
                </p:oleObj>
              </mc:Choice>
              <mc:Fallback>
                <p:oleObj name="Equation" r:id="rId14" imgW="164814" imgH="17749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046538"/>
                        <a:ext cx="37941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>
            <a:extLst>
              <a:ext uri="{FF2B5EF4-FFF2-40B4-BE49-F238E27FC236}">
                <a16:creationId xmlns:a16="http://schemas.microsoft.com/office/drawing/2014/main" id="{88DE5F87-4E6A-AAF9-6E44-1B93248E6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17CEF90-41AC-32FF-84C7-ADFFA18BFC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2017713"/>
            <a:ext cx="8532812" cy="48402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>
                <a:solidFill>
                  <a:srgbClr val="FF0000"/>
                </a:solidFill>
              </a:rPr>
              <a:t>二元</a:t>
            </a:r>
            <a:r>
              <a:rPr lang="zh-CN" altLang="en-US" sz="3600"/>
              <a:t>运算∩</a:t>
            </a:r>
            <a:r>
              <a:rPr lang="en-US" altLang="zh-CN" sz="3600"/>
              <a:t>,∪,</a:t>
            </a:r>
            <a:r>
              <a:rPr lang="zh-CN" altLang="en-US" sz="3600"/>
              <a:t>－</a:t>
            </a:r>
            <a:r>
              <a:rPr lang="en-US" altLang="zh-CN" sz="3600"/>
              <a:t>,   </a:t>
            </a:r>
            <a:r>
              <a:rPr lang="zh-CN" altLang="en-US" sz="3600"/>
              <a:t>；</a:t>
            </a:r>
            <a:r>
              <a:rPr lang="zh-CN" altLang="en-US" sz="3600">
                <a:solidFill>
                  <a:srgbClr val="FF0000"/>
                </a:solidFill>
              </a:rPr>
              <a:t>一元</a:t>
            </a:r>
            <a:r>
              <a:rPr lang="zh-CN" altLang="en-US" sz="3600"/>
              <a:t>运算～。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600">
                <a:solidFill>
                  <a:srgbClr val="FF0066"/>
                </a:solidFill>
              </a:rPr>
              <a:t>运算级</a:t>
            </a:r>
            <a:r>
              <a:rPr lang="zh-CN" altLang="en-US" sz="3600"/>
              <a:t>   圆括号   先里后外   最外层圆括号可省。</a:t>
            </a:r>
            <a:endParaRPr lang="en-US" altLang="zh-CN" sz="3600"/>
          </a:p>
          <a:p>
            <a:pPr eaLnBrk="1" hangingPunct="1">
              <a:lnSpc>
                <a:spcPct val="150000"/>
              </a:lnSpc>
            </a:pPr>
            <a:r>
              <a:rPr lang="zh-CN" altLang="en-US" sz="3600"/>
              <a:t>一元运算总是</a:t>
            </a:r>
            <a:r>
              <a:rPr lang="zh-CN" altLang="en-US" sz="3600">
                <a:solidFill>
                  <a:srgbClr val="FF0000"/>
                </a:solidFill>
              </a:rPr>
              <a:t>优先</a:t>
            </a:r>
            <a:r>
              <a:rPr lang="zh-CN" altLang="en-US" sz="3600"/>
              <a:t>于二元运算。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3600">
                <a:solidFill>
                  <a:srgbClr val="FF0000"/>
                </a:solidFill>
              </a:rPr>
              <a:t>{</a:t>
            </a:r>
            <a:r>
              <a:rPr lang="en-US" altLang="zh-CN" sz="3600"/>
              <a:t>∧,∨, ┐,1,0</a:t>
            </a:r>
            <a:r>
              <a:rPr lang="en-US" altLang="zh-CN" sz="3600">
                <a:solidFill>
                  <a:srgbClr val="FF0000"/>
                </a:solidFill>
              </a:rPr>
              <a:t>}</a:t>
            </a:r>
            <a:r>
              <a:rPr lang="en-US" altLang="zh-CN" sz="3600"/>
              <a:t>       </a:t>
            </a:r>
            <a:r>
              <a:rPr lang="en-US" altLang="zh-CN" sz="3600">
                <a:solidFill>
                  <a:schemeClr val="accent1"/>
                </a:solidFill>
              </a:rPr>
              <a:t>{</a:t>
            </a:r>
            <a:r>
              <a:rPr lang="en-US" altLang="zh-CN" sz="3600"/>
              <a:t>∩,∪,</a:t>
            </a:r>
            <a:r>
              <a:rPr lang="zh-CN" altLang="en-US" sz="3600"/>
              <a:t>～</a:t>
            </a:r>
            <a:r>
              <a:rPr lang="en-US" altLang="zh-CN" sz="3600"/>
              <a:t>, E,   </a:t>
            </a:r>
            <a:r>
              <a:rPr lang="en-US" altLang="zh-CN" sz="3600">
                <a:solidFill>
                  <a:schemeClr val="accent1"/>
                </a:solidFill>
              </a:rPr>
              <a:t>}</a:t>
            </a:r>
            <a:endParaRPr lang="zh-CN" altLang="en-US" sz="3600">
              <a:solidFill>
                <a:schemeClr val="accent1"/>
              </a:solidFill>
            </a:endParaRPr>
          </a:p>
        </p:txBody>
      </p:sp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FFD00B08-9C9A-4B75-FC74-4428F5E6B20E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33900" y="2217738"/>
          <a:ext cx="496888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0" y="2217738"/>
                        <a:ext cx="496888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7">
            <a:extLst>
              <a:ext uri="{FF2B5EF4-FFF2-40B4-BE49-F238E27FC236}">
                <a16:creationId xmlns:a16="http://schemas.microsoft.com/office/drawing/2014/main" id="{DF4DD471-146F-12C5-EFB2-F394CFC8D374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570447877"/>
              </p:ext>
            </p:extLst>
          </p:nvPr>
        </p:nvGraphicFramePr>
        <p:xfrm>
          <a:off x="7020272" y="5942013"/>
          <a:ext cx="3810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177480" progId="Equation.DSMT4">
                  <p:embed/>
                </p:oleObj>
              </mc:Choice>
              <mc:Fallback>
                <p:oleObj name="Equation" r:id="rId4" imgW="164880" imgH="177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0272" y="5942013"/>
                        <a:ext cx="3810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62127F1-6E58-A2E4-283E-280A31129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5A8BADA-3F4E-8831-96A1-44009EF4B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对合律</a:t>
            </a:r>
            <a:r>
              <a:rPr lang="zh-CN" altLang="en-US" dirty="0"/>
              <a:t>   ～～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幂等律</a:t>
            </a:r>
            <a:r>
              <a:rPr lang="zh-CN" altLang="en-US" dirty="0"/>
              <a:t>   </a:t>
            </a:r>
            <a:r>
              <a:rPr lang="en-US" altLang="zh-CN" dirty="0"/>
              <a:t>A∩A</a:t>
            </a:r>
            <a:r>
              <a:rPr lang="zh-CN" altLang="en-US" dirty="0"/>
              <a:t>＝</a:t>
            </a:r>
            <a:r>
              <a:rPr lang="en-US" altLang="zh-CN" dirty="0"/>
              <a:t>A           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        A∪A</a:t>
            </a:r>
            <a:r>
              <a:rPr lang="zh-CN" altLang="en-US" dirty="0">
                <a:solidFill>
                  <a:srgbClr val="FF00FF"/>
                </a:solidFill>
              </a:rPr>
              <a:t>＝</a:t>
            </a:r>
            <a:r>
              <a:rPr lang="en-US" altLang="zh-CN" dirty="0">
                <a:solidFill>
                  <a:srgbClr val="FF00FF"/>
                </a:solidFill>
              </a:rPr>
              <a:t>A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结合律</a:t>
            </a:r>
            <a:r>
              <a:rPr lang="zh-CN" altLang="en-US" dirty="0"/>
              <a:t>   </a:t>
            </a:r>
            <a:r>
              <a:rPr lang="en-US" altLang="zh-CN" dirty="0"/>
              <a:t>(A∩B)∩C</a:t>
            </a:r>
            <a:r>
              <a:rPr lang="zh-CN" altLang="en-US" dirty="0"/>
              <a:t>＝</a:t>
            </a:r>
            <a:r>
              <a:rPr lang="en-US" altLang="zh-CN" dirty="0"/>
              <a:t>A∩(B∩C)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(A∪B)∪C</a:t>
            </a:r>
            <a:r>
              <a:rPr lang="zh-CN" altLang="en-US" dirty="0"/>
              <a:t>＝</a:t>
            </a:r>
            <a:r>
              <a:rPr lang="en-US" altLang="zh-CN" dirty="0"/>
              <a:t>A∪(B∪C)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交换律</a:t>
            </a:r>
            <a:r>
              <a:rPr lang="zh-CN" altLang="en-US" dirty="0"/>
              <a:t>   </a:t>
            </a:r>
            <a:r>
              <a:rPr lang="en-US" altLang="zh-CN" dirty="0"/>
              <a:t>A∩B</a:t>
            </a:r>
            <a:r>
              <a:rPr lang="zh-CN" altLang="en-US" dirty="0"/>
              <a:t>＝</a:t>
            </a:r>
            <a:r>
              <a:rPr lang="en-US" altLang="zh-CN" dirty="0"/>
              <a:t>B∩A       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        A∪B</a:t>
            </a:r>
            <a:r>
              <a:rPr lang="zh-CN" altLang="en-US" dirty="0">
                <a:solidFill>
                  <a:srgbClr val="FF00FF"/>
                </a:solidFill>
              </a:rPr>
              <a:t>＝</a:t>
            </a:r>
            <a:r>
              <a:rPr lang="en-US" altLang="zh-CN" dirty="0">
                <a:solidFill>
                  <a:srgbClr val="FF00FF"/>
                </a:solidFill>
              </a:rPr>
              <a:t>B∪A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>
            <a:extLst>
              <a:ext uri="{FF2B5EF4-FFF2-40B4-BE49-F238E27FC236}">
                <a16:creationId xmlns:a16="http://schemas.microsoft.com/office/drawing/2014/main" id="{CCF834D1-117B-D855-2FD2-353E2A694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E718C74-F395-0BAD-A906-CA89043B44B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分配律</a:t>
            </a:r>
            <a:r>
              <a:rPr lang="zh-CN" altLang="en-US"/>
              <a:t>         </a:t>
            </a:r>
            <a:r>
              <a:rPr lang="en-US" altLang="zh-CN"/>
              <a:t>A∩(B∪C)</a:t>
            </a:r>
            <a:r>
              <a:rPr lang="zh-CN" altLang="en-US"/>
              <a:t>＝</a:t>
            </a:r>
            <a:r>
              <a:rPr lang="en-US" altLang="zh-CN"/>
              <a:t>(A∩B)∪(A∩C)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 A∪(B∩C)</a:t>
            </a:r>
            <a:r>
              <a:rPr lang="zh-CN" altLang="en-US"/>
              <a:t>＝</a:t>
            </a:r>
            <a:r>
              <a:rPr lang="en-US" altLang="zh-CN"/>
              <a:t>(A∪B)∩(A∪C)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吸收律</a:t>
            </a:r>
            <a:r>
              <a:rPr lang="zh-CN" altLang="en-US"/>
              <a:t>         </a:t>
            </a:r>
            <a:r>
              <a:rPr lang="en-US" altLang="zh-CN"/>
              <a:t>A∩(A∪B)</a:t>
            </a:r>
            <a:r>
              <a:rPr lang="zh-CN" altLang="en-US"/>
              <a:t>＝</a:t>
            </a:r>
            <a:r>
              <a:rPr lang="en-US" altLang="zh-CN"/>
              <a:t>A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FF"/>
                </a:solidFill>
              </a:rPr>
              <a:t>                     A∪(A∩B)</a:t>
            </a:r>
            <a:r>
              <a:rPr lang="zh-CN" altLang="en-US">
                <a:solidFill>
                  <a:srgbClr val="FF00FF"/>
                </a:solidFill>
              </a:rPr>
              <a:t>＝</a:t>
            </a:r>
            <a:r>
              <a:rPr lang="en-US" altLang="zh-CN">
                <a:solidFill>
                  <a:srgbClr val="FF00FF"/>
                </a:solidFill>
              </a:rPr>
              <a:t>A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solidFill>
                  <a:schemeClr val="hlink"/>
                </a:solidFill>
              </a:rPr>
              <a:t>德</a:t>
            </a: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</a:rPr>
              <a:t>·</a:t>
            </a:r>
            <a:r>
              <a:rPr lang="zh-CN" altLang="en-US">
                <a:solidFill>
                  <a:schemeClr val="hlink"/>
                </a:solidFill>
              </a:rPr>
              <a:t>摩根律</a:t>
            </a:r>
            <a:r>
              <a:rPr lang="zh-CN" altLang="en-US"/>
              <a:t>    ～</a:t>
            </a:r>
            <a:r>
              <a:rPr lang="en-US" altLang="zh-CN"/>
              <a:t>(A∩B)</a:t>
            </a:r>
            <a:r>
              <a:rPr lang="zh-CN" altLang="en-US"/>
              <a:t>＝～</a:t>
            </a:r>
            <a:r>
              <a:rPr lang="en-US" altLang="zh-CN"/>
              <a:t>A∪</a:t>
            </a:r>
            <a:r>
              <a:rPr lang="zh-CN" altLang="en-US"/>
              <a:t>～</a:t>
            </a:r>
            <a:r>
              <a:rPr lang="en-US" altLang="zh-CN"/>
              <a:t>B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  </a:t>
            </a:r>
            <a:r>
              <a:rPr lang="zh-CN" altLang="en-US"/>
              <a:t>～</a:t>
            </a:r>
            <a:r>
              <a:rPr lang="en-US" altLang="zh-CN"/>
              <a:t>(A∪B)</a:t>
            </a:r>
            <a:r>
              <a:rPr lang="zh-CN" altLang="en-US"/>
              <a:t>＝～</a:t>
            </a:r>
            <a:r>
              <a:rPr lang="en-US" altLang="zh-CN"/>
              <a:t>A∩</a:t>
            </a:r>
            <a:r>
              <a:rPr lang="zh-CN" altLang="en-US"/>
              <a:t>～</a:t>
            </a:r>
            <a:r>
              <a:rPr lang="en-US" altLang="zh-CN"/>
              <a:t>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>
            <a:extLst>
              <a:ext uri="{FF2B5EF4-FFF2-40B4-BE49-F238E27FC236}">
                <a16:creationId xmlns:a16="http://schemas.microsoft.com/office/drawing/2014/main" id="{5509F0D9-1175-7DBD-A8D8-27756084F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A165471-AAD9-3E75-73C3-7E2B10B4CE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同一律</a:t>
            </a:r>
            <a:r>
              <a:rPr lang="zh-CN" altLang="en-US" dirty="0"/>
              <a:t>    </a:t>
            </a:r>
            <a:r>
              <a:rPr lang="en-US" altLang="zh-CN" dirty="0"/>
              <a:t>A∩E</a:t>
            </a:r>
            <a:r>
              <a:rPr lang="zh-CN" altLang="en-US" dirty="0"/>
              <a:t>＝</a:t>
            </a:r>
            <a:r>
              <a:rPr lang="en-US" altLang="zh-CN" dirty="0"/>
              <a:t>A         </a:t>
            </a:r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    A∪  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零律</a:t>
            </a:r>
            <a:r>
              <a:rPr lang="zh-CN" altLang="en-US" dirty="0"/>
              <a:t>       </a:t>
            </a:r>
            <a:r>
              <a:rPr lang="en-US" altLang="zh-CN" dirty="0"/>
              <a:t>A∩  </a:t>
            </a:r>
            <a:r>
              <a:rPr lang="zh-CN" altLang="en-US" dirty="0"/>
              <a:t>＝           </a:t>
            </a:r>
            <a:endParaRPr lang="en-US" altLang="zh-CN" dirty="0"/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         </a:t>
            </a:r>
            <a:r>
              <a:rPr lang="en-US" altLang="zh-CN" dirty="0"/>
              <a:t>A∪E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否定律</a:t>
            </a:r>
            <a:r>
              <a:rPr lang="zh-CN" altLang="en-US" dirty="0"/>
              <a:t>    </a:t>
            </a:r>
            <a:r>
              <a:rPr lang="en-US" altLang="zh-CN" dirty="0"/>
              <a:t>A∩</a:t>
            </a:r>
            <a:r>
              <a:rPr lang="zh-CN" altLang="en-US" dirty="0"/>
              <a:t>～</a:t>
            </a:r>
            <a:r>
              <a:rPr lang="en-US" altLang="zh-CN" dirty="0"/>
              <a:t>A</a:t>
            </a:r>
            <a:r>
              <a:rPr lang="zh-CN" altLang="en-US" dirty="0"/>
              <a:t>＝        </a:t>
            </a:r>
            <a:endParaRPr lang="en-US" altLang="zh-CN" dirty="0"/>
          </a:p>
          <a:p>
            <a:pPr marL="0" indent="0" eaLnBrk="1" hangingPunct="1">
              <a:lnSpc>
                <a:spcPct val="14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                </a:t>
            </a:r>
            <a:r>
              <a:rPr lang="en-US" altLang="zh-CN" dirty="0"/>
              <a:t>A∪</a:t>
            </a:r>
            <a:r>
              <a:rPr lang="zh-CN" altLang="en-US" dirty="0"/>
              <a:t>～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E</a:t>
            </a:r>
          </a:p>
        </p:txBody>
      </p:sp>
      <p:graphicFrame>
        <p:nvGraphicFramePr>
          <p:cNvPr id="12292" name="Object 4">
            <a:extLst>
              <a:ext uri="{FF2B5EF4-FFF2-40B4-BE49-F238E27FC236}">
                <a16:creationId xmlns:a16="http://schemas.microsoft.com/office/drawing/2014/main" id="{C7E4FB7E-CAD4-FC0A-5194-98C062EC003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38600" y="3675063"/>
          <a:ext cx="377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177480" progId="Equation.DSMT4">
                  <p:embed/>
                </p:oleObj>
              </mc:Choice>
              <mc:Fallback>
                <p:oleObj name="Equation" r:id="rId2" imgW="164880" imgH="177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675063"/>
                        <a:ext cx="377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7">
            <a:extLst>
              <a:ext uri="{FF2B5EF4-FFF2-40B4-BE49-F238E27FC236}">
                <a16:creationId xmlns:a16="http://schemas.microsoft.com/office/drawing/2014/main" id="{279975A2-E417-D4DE-C361-057EF48182A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89300" y="2863850"/>
          <a:ext cx="377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177480" progId="Equation.DSMT4">
                  <p:embed/>
                </p:oleObj>
              </mc:Choice>
              <mc:Fallback>
                <p:oleObj name="Equation" r:id="rId4" imgW="164880" imgH="177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2863850"/>
                        <a:ext cx="377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对象 1">
            <a:extLst>
              <a:ext uri="{FF2B5EF4-FFF2-40B4-BE49-F238E27FC236}">
                <a16:creationId xmlns:a16="http://schemas.microsoft.com/office/drawing/2014/main" id="{9D1D00E4-BB06-E8A6-8FC0-27A4FDDE7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2000" y="3678238"/>
          <a:ext cx="377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678238"/>
                        <a:ext cx="377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对象 2">
            <a:extLst>
              <a:ext uri="{FF2B5EF4-FFF2-40B4-BE49-F238E27FC236}">
                <a16:creationId xmlns:a16="http://schemas.microsoft.com/office/drawing/2014/main" id="{5A71723F-76C5-C3BF-9A44-352514FF26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87863" y="5300663"/>
          <a:ext cx="377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14" imgH="177492" progId="Equation.DSMT4">
                  <p:embed/>
                </p:oleObj>
              </mc:Choice>
              <mc:Fallback>
                <p:oleObj name="Equation" r:id="rId7" imgW="164814" imgH="17749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863" y="5300663"/>
                        <a:ext cx="377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DF86830-CA75-B9EB-FE6F-0CAFF838F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7E8D9CC-26D3-C820-78BE-BF6C9C7A3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(A∩B)∩C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hlink"/>
                </a:solidFill>
              </a:rPr>
              <a:t>A∩(B∩C)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b="1" dirty="0"/>
              <a:t> </a:t>
            </a:r>
            <a:r>
              <a:rPr lang="zh-CN" altLang="en-US" dirty="0"/>
              <a:t>任取</a:t>
            </a:r>
            <a:r>
              <a:rPr lang="en-US" altLang="zh-CN" dirty="0"/>
              <a:t>x∈(A∩B)∩C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x∈A∩B</a:t>
            </a:r>
            <a:r>
              <a:rPr lang="en-US" altLang="zh-CN" dirty="0"/>
              <a:t>)∧(</a:t>
            </a:r>
            <a:r>
              <a:rPr lang="en-US" altLang="zh-CN" dirty="0" err="1"/>
              <a:t>x∈C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x∈B</a:t>
            </a:r>
            <a:r>
              <a:rPr lang="en-US" altLang="zh-CN" dirty="0"/>
              <a:t>))∧(</a:t>
            </a:r>
            <a:r>
              <a:rPr lang="en-US" altLang="zh-CN" dirty="0" err="1"/>
              <a:t>x∈C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)∧((</a:t>
            </a:r>
            <a:r>
              <a:rPr lang="en-US" altLang="zh-CN" dirty="0" err="1"/>
              <a:t>x∈B</a:t>
            </a:r>
            <a:r>
              <a:rPr lang="en-US" altLang="zh-CN" dirty="0"/>
              <a:t>)∧(</a:t>
            </a:r>
            <a:r>
              <a:rPr lang="en-US" altLang="zh-CN" dirty="0" err="1"/>
              <a:t>x∈C</a:t>
            </a:r>
            <a:r>
              <a:rPr lang="en-US" altLang="zh-CN" dirty="0"/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x∈B∩C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 </a:t>
            </a:r>
            <a:r>
              <a:rPr lang="en-US" altLang="zh-CN" dirty="0" err="1"/>
              <a:t>x∈A</a:t>
            </a:r>
            <a:r>
              <a:rPr lang="en-US" altLang="zh-CN" dirty="0"/>
              <a:t>∩(B∩C)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02916543-7D36-E2FB-0B8F-CB460775E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5363" name="Rectangle 6">
            <a:extLst>
              <a:ext uri="{FF2B5EF4-FFF2-40B4-BE49-F238E27FC236}">
                <a16:creationId xmlns:a16="http://schemas.microsoft.com/office/drawing/2014/main" id="{B50743EE-FB5A-2CCA-644D-0D46AD251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8402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(A∪B)∪C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hlink"/>
                </a:solidFill>
              </a:rPr>
              <a:t>A∪(B∪C)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任取</a:t>
            </a:r>
            <a:r>
              <a:rPr lang="en-US" altLang="zh-CN" dirty="0"/>
              <a:t>x∈(A∪B)∪C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 dirty="0"/>
              <a:t>(</a:t>
            </a:r>
            <a:r>
              <a:rPr lang="en-US" altLang="zh-CN" dirty="0" err="1"/>
              <a:t>x∈A∪B</a:t>
            </a:r>
            <a:r>
              <a:rPr lang="en-US" altLang="zh-CN" dirty="0"/>
              <a:t>)∨(</a:t>
            </a:r>
            <a:r>
              <a:rPr lang="en-US" altLang="zh-CN" dirty="0" err="1"/>
              <a:t>x∈C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 dirty="0"/>
              <a:t>((</a:t>
            </a:r>
            <a:r>
              <a:rPr lang="en-US" altLang="zh-CN" dirty="0" err="1"/>
              <a:t>x∈A</a:t>
            </a:r>
            <a:r>
              <a:rPr lang="en-US" altLang="zh-CN" dirty="0"/>
              <a:t>)∨(</a:t>
            </a:r>
            <a:r>
              <a:rPr lang="en-US" altLang="zh-CN" dirty="0" err="1"/>
              <a:t>x∈B</a:t>
            </a:r>
            <a:r>
              <a:rPr lang="en-US" altLang="zh-CN" dirty="0"/>
              <a:t>))∨(</a:t>
            </a:r>
            <a:r>
              <a:rPr lang="en-US" altLang="zh-CN" dirty="0" err="1"/>
              <a:t>x∈C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)∨((</a:t>
            </a:r>
            <a:r>
              <a:rPr lang="en-US" altLang="zh-CN" dirty="0" err="1"/>
              <a:t>x∈B</a:t>
            </a:r>
            <a:r>
              <a:rPr lang="en-US" altLang="zh-CN" dirty="0"/>
              <a:t>)∨(</a:t>
            </a:r>
            <a:r>
              <a:rPr lang="en-US" altLang="zh-CN" dirty="0" err="1"/>
              <a:t>x∈C</a:t>
            </a:r>
            <a:r>
              <a:rPr lang="en-US" altLang="zh-CN" dirty="0"/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)∨(</a:t>
            </a:r>
            <a:r>
              <a:rPr lang="en-US" altLang="zh-CN" dirty="0" err="1"/>
              <a:t>x∈B∪C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 dirty="0" err="1"/>
              <a:t>x∈A</a:t>
            </a:r>
            <a:r>
              <a:rPr lang="en-US" altLang="zh-CN" dirty="0"/>
              <a:t>∪(B∪C)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CDBA420-2076-0F61-C612-76196C1B0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E925114-2036-2C12-C9AB-33D9EE8CE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A∩(B∪C)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hlink"/>
                </a:solidFill>
              </a:rPr>
              <a:t>(A∩B)∪(A∩C)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任取</a:t>
            </a:r>
            <a:r>
              <a:rPr lang="en-US" altLang="zh-CN" dirty="0" err="1"/>
              <a:t>x∈A</a:t>
            </a:r>
            <a:r>
              <a:rPr lang="en-US" altLang="zh-CN" dirty="0"/>
              <a:t>∩(B∪C)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x∈B∪C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)∧((</a:t>
            </a:r>
            <a:r>
              <a:rPr lang="en-US" altLang="zh-CN" dirty="0" err="1"/>
              <a:t>x∈B</a:t>
            </a:r>
            <a:r>
              <a:rPr lang="en-US" altLang="zh-CN" dirty="0"/>
              <a:t>)∨(</a:t>
            </a:r>
            <a:r>
              <a:rPr lang="en-US" altLang="zh-CN" dirty="0" err="1"/>
              <a:t>x∈C</a:t>
            </a:r>
            <a:r>
              <a:rPr lang="en-US" altLang="zh-CN" dirty="0"/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x∈B</a:t>
            </a:r>
            <a:r>
              <a:rPr lang="en-US" altLang="zh-CN" dirty="0"/>
              <a:t>))∨((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x∈C</a:t>
            </a:r>
            <a:r>
              <a:rPr lang="en-US" altLang="zh-CN" dirty="0"/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</a:t>
            </a:r>
            <a:r>
              <a:rPr lang="en-US" altLang="zh-CN" dirty="0" err="1"/>
              <a:t>x∈A∩B</a:t>
            </a:r>
            <a:r>
              <a:rPr lang="en-US" altLang="zh-CN" dirty="0"/>
              <a:t>)∨(</a:t>
            </a:r>
            <a:r>
              <a:rPr lang="en-US" altLang="zh-CN" dirty="0" err="1"/>
              <a:t>x∈A∩C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x∈(A∩B)∪(A∩C)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E1849CA2-0C91-2F63-F238-9ECF2775A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7411" name="Rectangle 6">
            <a:extLst>
              <a:ext uri="{FF2B5EF4-FFF2-40B4-BE49-F238E27FC236}">
                <a16:creationId xmlns:a16="http://schemas.microsoft.com/office/drawing/2014/main" id="{96486DA8-F0EF-DA0D-0FD9-22A17B343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hlink"/>
                </a:solidFill>
              </a:rPr>
              <a:t>A∪(B∩C)</a:t>
            </a:r>
            <a:r>
              <a:rPr lang="zh-CN" altLang="en-US"/>
              <a:t>＝</a:t>
            </a:r>
            <a:r>
              <a:rPr lang="en-US" altLang="zh-CN">
                <a:solidFill>
                  <a:schemeClr val="hlink"/>
                </a:solidFill>
              </a:rPr>
              <a:t>(A∪B)∩(A∪C)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zh-CN" altLang="en-US"/>
              <a:t> 任取</a:t>
            </a:r>
            <a:r>
              <a:rPr lang="en-US" altLang="zh-CN"/>
              <a:t>x∈A∪(B∩C)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</a:t>
            </a:r>
            <a:r>
              <a:rPr lang="en-US" altLang="zh-CN"/>
              <a:t>(x∈A)∨(x∈B∩C)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</a:t>
            </a:r>
            <a:r>
              <a:rPr lang="en-US" altLang="zh-CN"/>
              <a:t>(x∈A)∨((x∈B)∧(x∈C))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</a:t>
            </a:r>
            <a:r>
              <a:rPr lang="en-US" altLang="zh-CN"/>
              <a:t>((x∈A)∨(x∈B))∧((x∈A)∨(x∈C))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</a:t>
            </a:r>
            <a:r>
              <a:rPr lang="en-US" altLang="zh-CN"/>
              <a:t>(x∈A∪B)∧(x∈A∪C)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</a:t>
            </a:r>
            <a:r>
              <a:rPr lang="en-US" altLang="zh-CN"/>
              <a:t>x∈(A∪B)∩(A∪C)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08141A0-5B58-6077-6875-DCDEE4AE4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B136AA0-64E6-D083-FE83-0483897CC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～</a:t>
            </a:r>
            <a:r>
              <a:rPr lang="en-US" altLang="zh-CN" dirty="0">
                <a:solidFill>
                  <a:schemeClr val="hlink"/>
                </a:solidFill>
              </a:rPr>
              <a:t>(A∩B)</a:t>
            </a:r>
            <a:r>
              <a:rPr lang="zh-CN" altLang="en-US" dirty="0"/>
              <a:t>＝</a:t>
            </a:r>
            <a:r>
              <a:rPr lang="zh-CN" altLang="en-US" dirty="0">
                <a:solidFill>
                  <a:schemeClr val="hlink"/>
                </a:solidFill>
              </a:rPr>
              <a:t>～</a:t>
            </a:r>
            <a:r>
              <a:rPr lang="en-US" altLang="zh-CN" dirty="0">
                <a:solidFill>
                  <a:schemeClr val="hlink"/>
                </a:solidFill>
              </a:rPr>
              <a:t>A∪</a:t>
            </a:r>
            <a:r>
              <a:rPr lang="zh-CN" altLang="en-US" dirty="0">
                <a:solidFill>
                  <a:schemeClr val="hlink"/>
                </a:solidFill>
              </a:rPr>
              <a:t>～</a:t>
            </a:r>
            <a:r>
              <a:rPr lang="en-US" altLang="zh-CN" dirty="0">
                <a:solidFill>
                  <a:schemeClr val="hlink"/>
                </a:solidFill>
              </a:rPr>
              <a:t>B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任取</a:t>
            </a:r>
            <a:r>
              <a:rPr lang="en-US" altLang="zh-CN" dirty="0"/>
              <a:t>x∈</a:t>
            </a:r>
            <a:r>
              <a:rPr lang="zh-CN" altLang="en-US" dirty="0"/>
              <a:t>～</a:t>
            </a:r>
            <a:r>
              <a:rPr lang="en-US" altLang="zh-CN" dirty="0"/>
              <a:t>(A∩B)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┐(</a:t>
            </a:r>
            <a:r>
              <a:rPr lang="en-US" altLang="zh-CN" dirty="0" err="1"/>
              <a:t>x∈A∩B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┐((</a:t>
            </a:r>
            <a:r>
              <a:rPr lang="en-US" altLang="zh-CN" dirty="0" err="1"/>
              <a:t>x∈A</a:t>
            </a:r>
            <a:r>
              <a:rPr lang="en-US" altLang="zh-CN" dirty="0"/>
              <a:t>)∧(</a:t>
            </a:r>
            <a:r>
              <a:rPr lang="en-US" altLang="zh-CN" dirty="0" err="1"/>
              <a:t>x∈B</a:t>
            </a:r>
            <a:r>
              <a:rPr lang="en-US" altLang="zh-CN" dirty="0"/>
              <a:t>))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┐(</a:t>
            </a:r>
            <a:r>
              <a:rPr lang="en-US" altLang="zh-CN" dirty="0" err="1"/>
              <a:t>x∈A</a:t>
            </a:r>
            <a:r>
              <a:rPr lang="en-US" altLang="zh-CN" dirty="0"/>
              <a:t>)∨┐(</a:t>
            </a:r>
            <a:r>
              <a:rPr lang="en-US" altLang="zh-CN" dirty="0" err="1"/>
              <a:t>x∈B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(x∈</a:t>
            </a:r>
            <a:r>
              <a:rPr lang="zh-CN" altLang="en-US" dirty="0"/>
              <a:t>～</a:t>
            </a:r>
            <a:r>
              <a:rPr lang="en-US" altLang="zh-CN" dirty="0"/>
              <a:t>A)∨(x∈</a:t>
            </a:r>
            <a:r>
              <a:rPr lang="zh-CN" altLang="en-US" dirty="0"/>
              <a:t>～</a:t>
            </a:r>
            <a:r>
              <a:rPr lang="en-US" altLang="zh-CN" dirty="0"/>
              <a:t>B)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       </a:t>
            </a:r>
            <a:r>
              <a:rPr lang="en-US" altLang="zh-CN" dirty="0">
                <a:solidFill>
                  <a:schemeClr val="accent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/>
              <a:t>x∈</a:t>
            </a:r>
            <a:r>
              <a:rPr lang="zh-CN" altLang="en-US" dirty="0"/>
              <a:t>～</a:t>
            </a:r>
            <a:r>
              <a:rPr lang="en-US" altLang="zh-CN" dirty="0"/>
              <a:t>A∪</a:t>
            </a:r>
            <a:r>
              <a:rPr lang="zh-CN" altLang="en-US" dirty="0"/>
              <a:t>～</a:t>
            </a:r>
            <a:r>
              <a:rPr lang="en-US" altLang="zh-CN" dirty="0"/>
              <a:t>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4639DE59-3319-2B30-D171-35EDF12FC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2C1270D0-12BC-20EB-D680-A79F78830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82775"/>
            <a:ext cx="8343900" cy="4975225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～</a:t>
            </a:r>
            <a:r>
              <a:rPr lang="en-US" altLang="zh-CN">
                <a:solidFill>
                  <a:schemeClr val="hlink"/>
                </a:solidFill>
              </a:rPr>
              <a:t>(A∪B)</a:t>
            </a:r>
            <a:r>
              <a:rPr lang="zh-CN" altLang="en-US">
                <a:solidFill>
                  <a:schemeClr val="hlink"/>
                </a:solidFill>
              </a:rPr>
              <a:t>＝～</a:t>
            </a:r>
            <a:r>
              <a:rPr lang="en-US" altLang="zh-CN">
                <a:solidFill>
                  <a:schemeClr val="hlink"/>
                </a:solidFill>
              </a:rPr>
              <a:t>A∩</a:t>
            </a:r>
            <a:r>
              <a:rPr lang="zh-CN" altLang="en-US">
                <a:solidFill>
                  <a:schemeClr val="hlink"/>
                </a:solidFill>
              </a:rPr>
              <a:t>～</a:t>
            </a:r>
            <a:r>
              <a:rPr lang="en-US" altLang="zh-CN">
                <a:solidFill>
                  <a:schemeClr val="hlink"/>
                </a:solidFill>
              </a:rPr>
              <a:t>B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zh-CN" altLang="en-US"/>
              <a:t> 任取</a:t>
            </a:r>
            <a:r>
              <a:rPr lang="en-US" altLang="zh-CN"/>
              <a:t>x∈</a:t>
            </a:r>
            <a:r>
              <a:rPr lang="zh-CN" altLang="en-US"/>
              <a:t>～</a:t>
            </a:r>
            <a:r>
              <a:rPr lang="en-US" altLang="zh-CN"/>
              <a:t>(A∪B)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/>
              <a:t>┐(x∈A∪B)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/>
              <a:t>┐((x∈A)∨(x∈B))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/>
              <a:t>┐(x∈A)∧┐(x∈B)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/>
              <a:t>(x∈</a:t>
            </a:r>
            <a:r>
              <a:rPr lang="zh-CN" altLang="en-US"/>
              <a:t>～</a:t>
            </a:r>
            <a:r>
              <a:rPr lang="en-US" altLang="zh-CN"/>
              <a:t>A)∧(x∈</a:t>
            </a:r>
            <a:r>
              <a:rPr lang="zh-CN" altLang="en-US"/>
              <a:t>～</a:t>
            </a:r>
            <a:r>
              <a:rPr lang="en-US" altLang="zh-CN"/>
              <a:t>B)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accent1"/>
                </a:solidFill>
                <a:sym typeface="Symbol" panose="05050102010706020507" pitchFamily="18" charset="2"/>
              </a:rPr>
              <a:t>       </a:t>
            </a:r>
            <a:r>
              <a:rPr lang="en-US" altLang="zh-CN"/>
              <a:t>x∈</a:t>
            </a:r>
            <a:r>
              <a:rPr lang="zh-CN" altLang="en-US"/>
              <a:t>～</a:t>
            </a:r>
            <a:r>
              <a:rPr lang="en-US" altLang="zh-CN"/>
              <a:t>A∩</a:t>
            </a:r>
            <a:r>
              <a:rPr lang="zh-CN" altLang="en-US"/>
              <a:t>～</a:t>
            </a:r>
            <a:r>
              <a:rPr lang="en-US" altLang="zh-CN"/>
              <a:t>B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2272571-9669-3109-AA95-CA7E54B79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97401F6-3236-2916-107D-626D7FE14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3.2.1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A,B</a:t>
            </a:r>
            <a:r>
              <a:rPr lang="zh-CN" altLang="en-US" dirty="0"/>
              <a:t>为任意集合，求证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</a:t>
            </a:r>
            <a:r>
              <a:rPr lang="en-US" altLang="zh-CN" dirty="0"/>
              <a:t>A</a:t>
            </a:r>
            <a:r>
              <a:rPr lang="zh-CN" altLang="en-US" dirty="0"/>
              <a:t>－</a:t>
            </a:r>
            <a:r>
              <a:rPr lang="en-US" altLang="zh-CN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A∩</a:t>
            </a:r>
            <a:r>
              <a:rPr lang="zh-CN" altLang="en-US" dirty="0"/>
              <a:t>～</a:t>
            </a:r>
            <a:r>
              <a:rPr lang="en-US" altLang="zh-CN" dirty="0"/>
              <a:t>B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hlink"/>
                </a:solidFill>
              </a:rPr>
              <a:t>   </a:t>
            </a:r>
            <a:r>
              <a:rPr lang="zh-CN" altLang="en-US" dirty="0">
                <a:solidFill>
                  <a:schemeClr val="hlink"/>
                </a:solidFill>
              </a:rPr>
              <a:t>证明</a:t>
            </a:r>
            <a:r>
              <a:rPr lang="zh-CN" altLang="en-US" b="1" dirty="0"/>
              <a:t> </a:t>
            </a:r>
            <a:r>
              <a:rPr lang="zh-CN" altLang="en-US" dirty="0"/>
              <a:t>任取</a:t>
            </a:r>
            <a:r>
              <a:rPr lang="en-US" altLang="zh-CN" dirty="0" err="1"/>
              <a:t>x∈A</a:t>
            </a:r>
            <a:r>
              <a:rPr lang="zh-CN" altLang="en-US" dirty="0"/>
              <a:t>－</a:t>
            </a:r>
            <a:r>
              <a:rPr lang="en-US" altLang="zh-CN" dirty="0"/>
              <a:t>B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</a:t>
            </a:r>
            <a:r>
              <a:rPr lang="en-US" altLang="zh-CN" dirty="0"/>
              <a:t>(</a:t>
            </a:r>
            <a:r>
              <a:rPr lang="en-US" altLang="zh-CN" dirty="0" err="1"/>
              <a:t>x∈A</a:t>
            </a:r>
            <a:r>
              <a:rPr lang="en-US" altLang="zh-CN" dirty="0"/>
              <a:t>)∧(x∈</a:t>
            </a:r>
            <a:r>
              <a:rPr lang="zh-CN" altLang="en-US" dirty="0"/>
              <a:t>～</a:t>
            </a:r>
            <a:r>
              <a:rPr lang="en-US" altLang="zh-CN" dirty="0"/>
              <a:t>B)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</a:t>
            </a:r>
            <a:r>
              <a:rPr lang="en-US" altLang="zh-CN" dirty="0" err="1"/>
              <a:t>x∈A</a:t>
            </a:r>
            <a:r>
              <a:rPr lang="en-US" altLang="zh-CN" dirty="0"/>
              <a:t>∩</a:t>
            </a:r>
            <a:r>
              <a:rPr lang="zh-CN" altLang="en-US" dirty="0"/>
              <a:t>～</a:t>
            </a:r>
            <a:r>
              <a:rPr lang="en-US" altLang="zh-CN" dirty="0"/>
              <a:t>B </a:t>
            </a:r>
          </a:p>
        </p:txBody>
      </p:sp>
      <p:graphicFrame>
        <p:nvGraphicFramePr>
          <p:cNvPr id="20484" name="对象 1">
            <a:extLst>
              <a:ext uri="{FF2B5EF4-FFF2-40B4-BE49-F238E27FC236}">
                <a16:creationId xmlns:a16="http://schemas.microsoft.com/office/drawing/2014/main" id="{309AA88A-B0C2-166B-FD5A-FF5CAF93FF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4581525"/>
          <a:ext cx="11144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203112" progId="Equation.DSMT4">
                  <p:embed/>
                </p:oleObj>
              </mc:Choice>
              <mc:Fallback>
                <p:oleObj name="Equation" r:id="rId2" imgW="482391" imgH="20311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581525"/>
                        <a:ext cx="11144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96FEEB8-BCFE-CA68-15DB-C20094753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78EE4CF-5AA9-1C00-8291-5553792F7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49879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3.2.2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A,B,C</a:t>
            </a:r>
            <a:r>
              <a:rPr lang="zh-CN" altLang="en-US" dirty="0"/>
              <a:t>为任意集合，证明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</a:t>
            </a:r>
            <a:r>
              <a:rPr lang="en-US" altLang="zh-CN" dirty="0"/>
              <a:t>A∩(B</a:t>
            </a:r>
            <a:r>
              <a:rPr lang="zh-CN" altLang="en-US" dirty="0"/>
              <a:t>－</a:t>
            </a:r>
            <a:r>
              <a:rPr lang="en-US" altLang="zh-CN" dirty="0"/>
              <a:t>C)</a:t>
            </a:r>
            <a:r>
              <a:rPr lang="zh-CN" altLang="en-US" dirty="0"/>
              <a:t>＝</a:t>
            </a:r>
            <a:r>
              <a:rPr lang="en-US" altLang="zh-CN" dirty="0"/>
              <a:t>(A∩B)</a:t>
            </a:r>
            <a:r>
              <a:rPr lang="zh-CN" altLang="en-US" dirty="0"/>
              <a:t>－</a:t>
            </a:r>
            <a:r>
              <a:rPr lang="en-US" altLang="zh-CN" dirty="0"/>
              <a:t>(A∩C)</a:t>
            </a:r>
            <a:endParaRPr lang="en-US" altLang="zh-CN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>
                <a:solidFill>
                  <a:schemeClr val="accent1"/>
                </a:solidFill>
              </a:rPr>
              <a:t>左边</a:t>
            </a:r>
            <a:r>
              <a:rPr lang="zh-CN" altLang="en-US" dirty="0"/>
              <a:t>＝</a:t>
            </a:r>
            <a:r>
              <a:rPr lang="en-US" altLang="zh-CN" dirty="0"/>
              <a:t>A∩(B∩</a:t>
            </a:r>
            <a:r>
              <a:rPr lang="zh-CN" altLang="en-US" dirty="0"/>
              <a:t>～</a:t>
            </a:r>
            <a:r>
              <a:rPr lang="en-US" altLang="zh-CN" dirty="0"/>
              <a:t>C)</a:t>
            </a:r>
            <a:r>
              <a:rPr lang="zh-CN" altLang="en-US" dirty="0"/>
              <a:t>＝</a:t>
            </a:r>
            <a:r>
              <a:rPr lang="en-US" altLang="zh-CN" dirty="0"/>
              <a:t>A∩B∩</a:t>
            </a:r>
            <a:r>
              <a:rPr lang="zh-CN" altLang="en-US" dirty="0"/>
              <a:t>～</a:t>
            </a:r>
            <a:r>
              <a:rPr lang="en-US" altLang="zh-CN" dirty="0"/>
              <a:t>C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zh-CN" altLang="en-US" dirty="0">
                <a:solidFill>
                  <a:srgbClr val="CC0066"/>
                </a:solidFill>
              </a:rPr>
              <a:t>右边</a:t>
            </a:r>
            <a:r>
              <a:rPr lang="zh-CN" altLang="en-US" dirty="0"/>
              <a:t>＝</a:t>
            </a:r>
            <a:r>
              <a:rPr lang="en-US" altLang="zh-CN" dirty="0"/>
              <a:t>(A∩B)∩</a:t>
            </a:r>
            <a:r>
              <a:rPr lang="zh-CN" altLang="en-US" dirty="0"/>
              <a:t>～</a:t>
            </a:r>
            <a:r>
              <a:rPr lang="en-US" altLang="zh-CN" dirty="0"/>
              <a:t>(A∩C)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</a:t>
            </a:r>
            <a:r>
              <a:rPr lang="zh-CN" altLang="en-US" dirty="0"/>
              <a:t>＝</a:t>
            </a:r>
            <a:r>
              <a:rPr lang="en-US" altLang="zh-CN" dirty="0"/>
              <a:t>(A∩B)∩(</a:t>
            </a:r>
            <a:r>
              <a:rPr lang="zh-CN" altLang="en-US" dirty="0"/>
              <a:t>～</a:t>
            </a:r>
            <a:r>
              <a:rPr lang="en-US" altLang="zh-CN" dirty="0"/>
              <a:t>A∪</a:t>
            </a:r>
            <a:r>
              <a:rPr lang="zh-CN" altLang="en-US" dirty="0"/>
              <a:t>～</a:t>
            </a:r>
            <a:r>
              <a:rPr lang="en-US" altLang="zh-CN" dirty="0"/>
              <a:t>C)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</a:t>
            </a:r>
            <a:r>
              <a:rPr lang="zh-CN" altLang="en-US" dirty="0"/>
              <a:t>＝</a:t>
            </a:r>
            <a:r>
              <a:rPr lang="en-US" altLang="zh-CN" dirty="0"/>
              <a:t>(A∩B∩</a:t>
            </a:r>
            <a:r>
              <a:rPr lang="zh-CN" altLang="en-US" dirty="0"/>
              <a:t>～</a:t>
            </a:r>
            <a:r>
              <a:rPr lang="en-US" altLang="zh-CN" dirty="0"/>
              <a:t>A)∪(A∩B∩</a:t>
            </a:r>
            <a:r>
              <a:rPr lang="zh-CN" altLang="en-US" dirty="0"/>
              <a:t>～</a:t>
            </a:r>
            <a:r>
              <a:rPr lang="en-US" altLang="zh-CN" dirty="0"/>
              <a:t>C)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</a:t>
            </a:r>
            <a:r>
              <a:rPr lang="zh-CN" altLang="en-US" dirty="0"/>
              <a:t>＝  ∪</a:t>
            </a:r>
            <a:r>
              <a:rPr lang="en-US" altLang="zh-CN" dirty="0"/>
              <a:t>(A∩B∩</a:t>
            </a:r>
            <a:r>
              <a:rPr lang="zh-CN" altLang="en-US" dirty="0"/>
              <a:t>～</a:t>
            </a:r>
            <a:r>
              <a:rPr lang="en-US" altLang="zh-CN" dirty="0"/>
              <a:t>C)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</a:t>
            </a:r>
            <a:r>
              <a:rPr lang="zh-CN" altLang="en-US" dirty="0"/>
              <a:t>＝</a:t>
            </a:r>
            <a:r>
              <a:rPr lang="en-US" altLang="zh-CN" dirty="0"/>
              <a:t>A∩B∩</a:t>
            </a:r>
            <a:r>
              <a:rPr lang="zh-CN" altLang="en-US" dirty="0"/>
              <a:t>～</a:t>
            </a:r>
            <a:r>
              <a:rPr lang="en-US" altLang="zh-CN" dirty="0"/>
              <a:t>C </a:t>
            </a:r>
          </a:p>
        </p:txBody>
      </p:sp>
      <p:graphicFrame>
        <p:nvGraphicFramePr>
          <p:cNvPr id="21508" name="对象 1">
            <a:extLst>
              <a:ext uri="{FF2B5EF4-FFF2-40B4-BE49-F238E27FC236}">
                <a16:creationId xmlns:a16="http://schemas.microsoft.com/office/drawing/2014/main" id="{655A3F80-187F-B4AE-93CD-BC9824786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3063" y="5670550"/>
          <a:ext cx="4921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063" y="5670550"/>
                        <a:ext cx="4921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96FEEB8-BCFE-CA68-15DB-C20094753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</a:t>
            </a:r>
            <a:r>
              <a:rPr lang="zh-CN" altLang="en-US"/>
              <a:t>集合的运算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78EE4CF-5AA9-1C00-8291-5553792F7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4987925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dirty="0"/>
              <a:t>设</a:t>
            </a:r>
            <a:r>
              <a:rPr lang="en-US" altLang="zh-CN" dirty="0"/>
              <a:t>A,B,C</a:t>
            </a:r>
            <a:r>
              <a:rPr lang="zh-CN" altLang="en-US" dirty="0"/>
              <a:t>为任意集合，证明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(1)  A-(B∩C)</a:t>
            </a:r>
            <a:r>
              <a:rPr lang="zh-CN" altLang="en-US" dirty="0"/>
              <a:t>＝</a:t>
            </a:r>
            <a:r>
              <a:rPr lang="en-US" altLang="zh-CN" dirty="0"/>
              <a:t>(A-B)∪(A-C)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b="1" dirty="0"/>
              <a:t>     (2)</a:t>
            </a:r>
            <a:r>
              <a:rPr lang="en-US" altLang="zh-CN" dirty="0"/>
              <a:t> A-(B∪C)</a:t>
            </a:r>
            <a:r>
              <a:rPr lang="zh-CN" altLang="en-US" dirty="0"/>
              <a:t>＝</a:t>
            </a:r>
            <a:r>
              <a:rPr lang="en-US" altLang="zh-CN" dirty="0"/>
              <a:t>(A-B)∩(A-C)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b="1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b="1" dirty="0"/>
              <a:t>  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1566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2F211A2-1A56-052B-5B62-1F67FBBA0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作  业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46617BA-D992-1008-8841-1B444F3B16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en-US" altLang="zh-CN" sz="3600" dirty="0">
                <a:solidFill>
                  <a:srgbClr val="FF0000"/>
                </a:solidFill>
              </a:rPr>
              <a:t>P64 </a:t>
            </a:r>
            <a:r>
              <a:rPr lang="en-US" altLang="zh-CN" sz="3600" dirty="0"/>
              <a:t>  </a:t>
            </a:r>
            <a:r>
              <a:rPr lang="zh-CN" altLang="en-US" sz="3600" dirty="0"/>
              <a:t>习题</a:t>
            </a:r>
            <a:r>
              <a:rPr lang="en-US" altLang="zh-CN" sz="3600" dirty="0"/>
              <a:t>3.2</a:t>
            </a:r>
            <a:endParaRPr lang="en-US" altLang="zh-CN" sz="36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68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FC951DA-2766-B7FF-7531-CFBBC4BF2B4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55576" y="184482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3.2 12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D65AD2B-7D46-1B29-5B0F-0CC9A0769FE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59328BB-4596-9E68-9E8D-EF83DFE7599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AD553952-AD91-305C-8062-64FD8A48B0C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013A9971-1710-277E-FDE8-80922085062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0D373979-4FA4-330A-2467-69DB9A5A693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861CA49A-F7EC-0C17-B202-34F8949F8C2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AABC3EA-F97A-CBB8-5630-531A382CFB7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25248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true,&quot;Score&quot;:1.0,&quot;answers&quot;:[&quot;1,3,5,6,7,8,9&quot;]},{&quot;num&quot;:2,&quot;caseSensitive&quot;:false,&quot;fuzzyMatch&quot;:true,&quot;Score&quot;:1.0,&quot;answers&quot;:[&quot;2,3,6,9,10&quot;]}]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3636</TotalTime>
  <Words>1470</Words>
  <Application>Microsoft Office PowerPoint</Application>
  <PresentationFormat>全屏显示(4:3)</PresentationFormat>
  <Paragraphs>140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Microsoft Yahei</vt:lpstr>
      <vt:lpstr>Arial</vt:lpstr>
      <vt:lpstr>Tahoma</vt:lpstr>
      <vt:lpstr>Wingdings</vt:lpstr>
      <vt:lpstr>Blends</vt:lpstr>
      <vt:lpstr>Equation</vt:lpstr>
      <vt:lpstr>3.2 集合的运算</vt:lpstr>
      <vt:lpstr>3.2 集合的运算</vt:lpstr>
      <vt:lpstr>3.2 集合的运算</vt:lpstr>
      <vt:lpstr>3.2 集合的运算</vt:lpstr>
      <vt:lpstr>PowerPoint 演示文稿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3.2 集合的运算</vt:lpstr>
      <vt:lpstr>作 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59</cp:revision>
  <dcterms:created xsi:type="dcterms:W3CDTF">2010-04-09T13:44:14Z</dcterms:created>
  <dcterms:modified xsi:type="dcterms:W3CDTF">2023-12-21T07:44:22Z</dcterms:modified>
</cp:coreProperties>
</file>