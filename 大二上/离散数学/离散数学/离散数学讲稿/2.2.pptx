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356" r:id="rId2"/>
    <p:sldId id="359" r:id="rId3"/>
    <p:sldId id="358" r:id="rId4"/>
    <p:sldId id="368" r:id="rId5"/>
    <p:sldId id="347" r:id="rId6"/>
    <p:sldId id="370" r:id="rId7"/>
    <p:sldId id="345" r:id="rId8"/>
    <p:sldId id="346" r:id="rId9"/>
    <p:sldId id="312" r:id="rId10"/>
    <p:sldId id="313" r:id="rId11"/>
    <p:sldId id="371" r:id="rId12"/>
    <p:sldId id="372" r:id="rId13"/>
    <p:sldId id="349" r:id="rId14"/>
    <p:sldId id="352" r:id="rId15"/>
    <p:sldId id="354" r:id="rId16"/>
    <p:sldId id="373" r:id="rId17"/>
    <p:sldId id="374" r:id="rId18"/>
    <p:sldId id="375" r:id="rId1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66"/>
    <a:srgbClr val="339933"/>
    <a:srgbClr val="CC0066"/>
    <a:srgbClr val="FF00FF"/>
    <a:srgbClr val="0066FF"/>
    <a:srgbClr val="008080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0738" autoAdjust="0"/>
  </p:normalViewPr>
  <p:slideViewPr>
    <p:cSldViewPr>
      <p:cViewPr varScale="1">
        <p:scale>
          <a:sx n="63" d="100"/>
          <a:sy n="63" d="100"/>
        </p:scale>
        <p:origin x="72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D2EFA06-F581-2F8A-B0D9-B8B33933F2CC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8C7EA4B6-166E-3FBC-738F-57EEB90A5B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F826B11D-E3C1-C7FA-6146-A9CB41894D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6D02A7F3-FF42-3DAD-8DBF-C5B454B4C6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BCB5B2AB-47CF-961D-93A2-9176878253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7DB7C6A-9A6B-5F51-CA6E-0A196373B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19D9A87-80D2-245E-DEA8-0FADE29385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EEED2C30-A23F-713C-379E-DB2523713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A66478E0-4AD1-D69D-3FB2-DC5BB5917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4061B1A8-9A75-B9D4-FFAB-EA41D43D80E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E16D9A1B-8E72-6AAD-610F-A08C53DFAA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6AC6C01F-0F71-B3B2-1B1D-F690231232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23E98F82-A817-57AA-F335-2A02A49A45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C231C9C-E284-4387-9C78-7074235FCD1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0278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F3200F3-01B9-D002-DAD1-2BAF03C687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204A691-442D-A510-9007-2563EE864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1BD59E6-5AAE-2ADE-D5C7-22EDF367A8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830E8B-CB50-4705-9052-92500B93148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8758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586BA00-8A8F-105E-1248-FFB0CC09C8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A3CE33A-A5FE-6B98-D295-9A5E805402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A0F2FB0-F1CF-EA86-0FDC-284595ECB3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BD8D90-8311-4430-BE3F-DC78B532321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8510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436F05D-5E9F-1B20-653E-D32FED0A16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E70298D-A255-32FA-4D83-13583493A1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6AC68ED-E1EF-8A60-C848-F5844324EF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9EBD53-C31E-4408-A7A8-65D3562487D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714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0D343143-20D8-51B9-1D5A-03E60CAD38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D40941D-8508-973D-4E8C-284F6B92F8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FF43A5A5-2B57-D156-316B-553E15E8ED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C3EB84-612E-4EC3-8D40-1A1A093466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1164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5C9966C4-32CB-E997-96B1-C9A24AAF85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5B5A7B3F-ED8D-7C7E-2AAC-AEBF98B4AA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E106CDD-23E8-A461-2EAD-272C2CAFCC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805BE9-D9A6-419E-8372-BBBCC822DA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1282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637992BB-81A7-1597-C7D0-F0FF6AEE98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E7A9B085-791D-3741-79F1-400AB9CEDC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9C54C6F1-D07E-A4BB-0214-2EF661D4FB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382FF7-3DA8-4BDB-89E2-67810C0264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9766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B05B417-4002-B77E-984F-9EF43652CC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6C8FFD9-ECBD-CF3F-DA97-7C38E3E92C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8DA0CFF-1CBF-5E65-3947-6AF2C0859C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62B113-D780-43DD-9FC8-3AA27F5DA1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474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8D3C285-AAA4-6F58-6ED2-74CFBD61FD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06F97CF-4C26-28BC-290E-E8E38F12CD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47A1FE2-52D1-4819-0691-BBD23E7975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455057-4D11-4FFD-8101-5D318871A3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9247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F351D34-3C20-9096-8601-A6A03F6C7E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5156579-4715-CA0A-3CFD-0C905A4B15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FFEA94F-0CA3-00E4-F00C-57B7807E15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B03099-8A3F-402C-96D4-F9509B2FED9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7121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14A457B-8057-5BB0-C4FE-D4E2836C8F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1592850-D2B1-869C-7924-35C76F1AEF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63B0222-12C2-2183-175E-BC4DBF9298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4CD086-7675-4CBF-AA8D-2CDEFE078FE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5073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F1243E6-942F-4BDF-3B6A-81407447689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915101E-82FD-CEFB-58B2-F7356ED2642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CFEF58C-5246-E77F-FF2D-E7D6B19EBFF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C771E6C-7CD2-AEB1-E450-9FB9DFF3E15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776B9A5-8A52-7029-BE51-DBDB2F646BF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149645AB-074D-8370-B1CF-1DF091EB085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1FF2BA-B089-43A0-C9D7-5641578D5FA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4ABDBE41-1070-DD7A-ECA4-FE740B3EB4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21BFDE87-CFB8-60BC-6DFE-6D17CC13CB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2B839F4B-D1CC-5FA4-9205-DFE171622D2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B937DDA9-8B3C-2ADF-EDFD-46AF3E239F9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1DC4A55A-FF2F-EA16-3FFD-54C108B82EE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1CB5EE0-BEBA-41B2-80B8-BC7AEC855B4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1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1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1.tmp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image" Target="../media/image1.tmp"/><Relationship Id="rId5" Type="http://schemas.openxmlformats.org/officeDocument/2006/relationships/tags" Target="../tags/tag73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72.xml"/><Relationship Id="rId9" Type="http://schemas.openxmlformats.org/officeDocument/2006/relationships/tags" Target="../tags/tag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A1976C4-14EB-3C1B-EC6B-CB98870B2F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 </a:t>
            </a:r>
            <a:r>
              <a:rPr lang="zh-CN" altLang="en-US"/>
              <a:t>命题函数与量词 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A3A72A9-2B14-8F56-0B83-C82512AF5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343900" cy="4941887"/>
          </a:xfrm>
        </p:spPr>
        <p:txBody>
          <a:bodyPr/>
          <a:lstStyle/>
          <a:p>
            <a:pPr eaLnBrk="1" hangingPunct="1">
              <a:lnSpc>
                <a:spcPct val="300000"/>
              </a:lnSpc>
              <a:defRPr/>
            </a:pPr>
            <a:r>
              <a:rPr lang="en-US" altLang="zh-CN" sz="3600" dirty="0"/>
              <a:t> </a:t>
            </a:r>
            <a:r>
              <a:rPr lang="en-US" altLang="zh-CN" sz="3600" dirty="0">
                <a:solidFill>
                  <a:schemeClr val="hlink"/>
                </a:solidFill>
              </a:rPr>
              <a:t>2.2.1 </a:t>
            </a:r>
            <a:r>
              <a:rPr lang="zh-CN" altLang="en-US" sz="3600" dirty="0"/>
              <a:t>命题函数</a:t>
            </a:r>
            <a:endParaRPr lang="en-US" altLang="zh-CN" sz="3600" dirty="0"/>
          </a:p>
          <a:p>
            <a:pPr eaLnBrk="1" hangingPunct="1">
              <a:lnSpc>
                <a:spcPct val="300000"/>
              </a:lnSpc>
              <a:defRPr/>
            </a:pPr>
            <a:r>
              <a:rPr lang="en-US" altLang="zh-CN" sz="3600" dirty="0">
                <a:solidFill>
                  <a:schemeClr val="hlink"/>
                </a:solidFill>
              </a:rPr>
              <a:t>2.2.2 </a:t>
            </a:r>
            <a:r>
              <a:rPr lang="zh-CN" altLang="en-US" sz="3600" dirty="0"/>
              <a:t>量词</a:t>
            </a:r>
            <a:endParaRPr lang="en-US" altLang="zh-CN" sz="3600" dirty="0"/>
          </a:p>
          <a:p>
            <a:pPr marL="0" indent="0" eaLnBrk="1" hangingPunct="1">
              <a:lnSpc>
                <a:spcPct val="125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endParaRPr lang="en-US" altLang="zh-CN" dirty="0">
              <a:solidFill>
                <a:srgbClr val="FF0000"/>
              </a:solidFill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663FFB8-CCFD-EE4F-64BA-C006B54D26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2.2.1 </a:t>
            </a:r>
            <a:r>
              <a:rPr lang="zh-CN" altLang="en-US"/>
              <a:t>命题函数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F5B999B-D6B5-BF03-AC01-058A13AB9B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4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实数函数 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f(x)=2x+1</a:t>
            </a:r>
            <a:r>
              <a:rPr lang="zh-CN" altLang="en-US" dirty="0"/>
              <a:t>，其中</a:t>
            </a:r>
            <a:r>
              <a:rPr lang="en-US" altLang="zh-CN" dirty="0"/>
              <a:t>x</a:t>
            </a:r>
            <a:r>
              <a:rPr lang="zh-CN" altLang="en-US" dirty="0"/>
              <a:t>为实数。</a:t>
            </a:r>
            <a:r>
              <a:rPr lang="en-US" altLang="zh-CN" dirty="0"/>
              <a:t> </a:t>
            </a:r>
          </a:p>
          <a:p>
            <a:pPr marL="0" indent="0"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自变量    定义域</a:t>
            </a:r>
            <a:r>
              <a:rPr lang="en-US" altLang="zh-CN" dirty="0"/>
              <a:t>   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zh-CN" altLang="en-US" dirty="0">
                <a:solidFill>
                  <a:srgbClr val="0000FF"/>
                </a:solidFill>
              </a:rPr>
              <a:t>命题函数</a:t>
            </a:r>
            <a:endParaRPr lang="en-US" altLang="zh-CN" dirty="0">
              <a:solidFill>
                <a:srgbClr val="0000FF"/>
              </a:solidFill>
            </a:endParaRPr>
          </a:p>
          <a:p>
            <a:pPr marL="0" indent="0"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FF"/>
                </a:solidFill>
              </a:rPr>
              <a:t>    </a:t>
            </a:r>
            <a:r>
              <a:rPr lang="en-US" altLang="zh-CN" dirty="0">
                <a:solidFill>
                  <a:srgbClr val="FF00FF"/>
                </a:solidFill>
              </a:rPr>
              <a:t>A(x)</a:t>
            </a:r>
            <a:r>
              <a:rPr lang="zh-CN" altLang="en-US" dirty="0">
                <a:solidFill>
                  <a:srgbClr val="000000"/>
                </a:solidFill>
              </a:rPr>
              <a:t>：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zh-CN" altLang="en-US" dirty="0">
                <a:solidFill>
                  <a:srgbClr val="000000"/>
                </a:solidFill>
              </a:rPr>
              <a:t>是素数，其中</a:t>
            </a:r>
            <a:r>
              <a:rPr lang="en-US" altLang="zh-CN" dirty="0">
                <a:solidFill>
                  <a:srgbClr val="00E4A8"/>
                </a:solidFill>
              </a:rPr>
              <a:t>x</a:t>
            </a:r>
            <a:r>
              <a:rPr lang="en-US" altLang="zh-CN" dirty="0">
                <a:solidFill>
                  <a:srgbClr val="000000"/>
                </a:solidFill>
              </a:rPr>
              <a:t>∈</a:t>
            </a:r>
            <a:r>
              <a:rPr lang="en-US" altLang="zh-CN" dirty="0">
                <a:solidFill>
                  <a:srgbClr val="FF0000"/>
                </a:solidFill>
              </a:rPr>
              <a:t>{</a:t>
            </a:r>
            <a:r>
              <a:rPr lang="en-US" altLang="zh-CN" dirty="0">
                <a:solidFill>
                  <a:srgbClr val="000000"/>
                </a:solidFill>
              </a:rPr>
              <a:t>3,5,7,9</a:t>
            </a:r>
            <a:r>
              <a:rPr lang="en-US" altLang="zh-CN" dirty="0">
                <a:solidFill>
                  <a:srgbClr val="FF0000"/>
                </a:solidFill>
              </a:rPr>
              <a:t>}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indent="0"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000000"/>
                </a:solidFill>
              </a:rPr>
              <a:t>    个体变量   论域（个体域）</a:t>
            </a:r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0984CA3-98DA-2172-CA41-BDE3A31082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2.2.1 </a:t>
            </a:r>
            <a:r>
              <a:rPr lang="zh-CN" altLang="en-US"/>
              <a:t>命题函数 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10E5DB9-64C7-3B5D-098E-2B908BDD08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343900" cy="4941887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en-US" altLang="zh-CN" sz="2400"/>
              <a:t> </a:t>
            </a: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2.2.1</a:t>
            </a:r>
            <a:r>
              <a:rPr lang="en-US" altLang="zh-CN"/>
              <a:t> </a:t>
            </a:r>
            <a:r>
              <a:rPr lang="zh-CN" altLang="en-US"/>
              <a:t>观察下列命题。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/>
              <a:t>    </a:t>
            </a:r>
            <a:r>
              <a:rPr lang="en-US" altLang="zh-CN"/>
              <a:t>(1) 3</a:t>
            </a:r>
            <a:r>
              <a:rPr lang="zh-CN" altLang="en-US"/>
              <a:t>是素数。     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/>
              <a:t>    </a:t>
            </a:r>
            <a:r>
              <a:rPr lang="en-US" altLang="zh-CN"/>
              <a:t>(2) 5</a:t>
            </a:r>
            <a:r>
              <a:rPr lang="zh-CN" altLang="en-US"/>
              <a:t>是素数。  一元简单命题函数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/>
              <a:t>    </a:t>
            </a:r>
            <a:r>
              <a:rPr lang="en-US" altLang="zh-CN"/>
              <a:t>(3) 7</a:t>
            </a:r>
            <a:r>
              <a:rPr lang="zh-CN" altLang="en-US"/>
              <a:t>是素数。     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/>
              <a:t>    </a:t>
            </a:r>
            <a:r>
              <a:rPr lang="en-US" altLang="zh-CN"/>
              <a:t>(4) 9</a:t>
            </a:r>
            <a:r>
              <a:rPr lang="zh-CN" altLang="en-US"/>
              <a:t>是素数。       个体变量     论域    </a:t>
            </a:r>
            <a:endParaRPr lang="zh-CN" altLang="en-US" b="1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 </a:t>
            </a:r>
            <a:r>
              <a:rPr lang="zh-CN" altLang="en-US" b="1">
                <a:solidFill>
                  <a:schemeClr val="hlink"/>
                </a:solidFill>
              </a:rPr>
              <a:t>解</a:t>
            </a:r>
            <a:r>
              <a:rPr lang="en-US" altLang="zh-CN"/>
              <a:t>(1)</a:t>
            </a:r>
            <a:r>
              <a:rPr lang="zh-CN" altLang="en-US"/>
              <a:t>－</a:t>
            </a:r>
            <a:r>
              <a:rPr lang="en-US" altLang="zh-CN"/>
              <a:t>(4)</a:t>
            </a:r>
            <a:r>
              <a:rPr lang="zh-CN" altLang="en-US"/>
              <a:t>可表示为           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</a:t>
            </a:r>
            <a:r>
              <a:rPr lang="en-US" altLang="zh-CN">
                <a:solidFill>
                  <a:srgbClr val="FF00FF"/>
                </a:solidFill>
              </a:rPr>
              <a:t>A(x)</a:t>
            </a:r>
            <a:r>
              <a:rPr lang="zh-CN" altLang="en-US"/>
              <a:t>：</a:t>
            </a:r>
            <a:r>
              <a:rPr lang="en-US" altLang="zh-CN"/>
              <a:t>x</a:t>
            </a:r>
            <a:r>
              <a:rPr lang="zh-CN" altLang="en-US"/>
              <a:t>是素数，其中</a:t>
            </a:r>
            <a:r>
              <a:rPr lang="en-US" altLang="zh-CN">
                <a:solidFill>
                  <a:schemeClr val="accent1"/>
                </a:solidFill>
              </a:rPr>
              <a:t>x</a:t>
            </a:r>
            <a:r>
              <a:rPr lang="en-US" altLang="zh-CN"/>
              <a:t>∈</a:t>
            </a:r>
            <a:r>
              <a:rPr lang="en-US" altLang="zh-CN">
                <a:solidFill>
                  <a:schemeClr val="hlink"/>
                </a:solidFill>
              </a:rPr>
              <a:t>{</a:t>
            </a:r>
            <a:r>
              <a:rPr lang="en-US" altLang="zh-CN"/>
              <a:t>3,5,7,9</a:t>
            </a:r>
            <a:r>
              <a:rPr lang="en-US" altLang="zh-CN">
                <a:solidFill>
                  <a:schemeClr val="hlink"/>
                </a:solidFill>
              </a:rPr>
              <a:t>}</a:t>
            </a:r>
            <a:r>
              <a:rPr lang="zh-CN" altLang="en-US"/>
              <a:t>。</a:t>
            </a:r>
          </a:p>
        </p:txBody>
      </p:sp>
      <p:sp>
        <p:nvSpPr>
          <p:cNvPr id="5124" name="Rectangle 8">
            <a:extLst>
              <a:ext uri="{FF2B5EF4-FFF2-40B4-BE49-F238E27FC236}">
                <a16:creationId xmlns:a16="http://schemas.microsoft.com/office/drawing/2014/main" id="{03529D08-C3F0-4CD4-78C0-CC359088A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3263" y="4881563"/>
            <a:ext cx="1782762" cy="481012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25" name="Rectangle 9">
            <a:extLst>
              <a:ext uri="{FF2B5EF4-FFF2-40B4-BE49-F238E27FC236}">
                <a16:creationId xmlns:a16="http://schemas.microsoft.com/office/drawing/2014/main" id="{BDB45EA6-B4CF-3AF5-691D-777A2ABFD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0" y="4891088"/>
            <a:ext cx="914400" cy="509587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26" name="Rectangle 10">
            <a:extLst>
              <a:ext uri="{FF2B5EF4-FFF2-40B4-BE49-F238E27FC236}">
                <a16:creationId xmlns:a16="http://schemas.microsoft.com/office/drawing/2014/main" id="{D212413B-DFD9-CC6B-5C22-C1B6D7015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8900" y="3436938"/>
            <a:ext cx="3371850" cy="555625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27" name="Line 12">
            <a:extLst>
              <a:ext uri="{FF2B5EF4-FFF2-40B4-BE49-F238E27FC236}">
                <a16:creationId xmlns:a16="http://schemas.microsoft.com/office/drawing/2014/main" id="{C79FB353-DBAF-7B6F-F628-C544877C4B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61000" y="5516563"/>
            <a:ext cx="0" cy="936625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8" name="Line 13">
            <a:extLst>
              <a:ext uri="{FF2B5EF4-FFF2-40B4-BE49-F238E27FC236}">
                <a16:creationId xmlns:a16="http://schemas.microsoft.com/office/drawing/2014/main" id="{9EB8159E-8FCF-4A7F-810A-F1164032B4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7050" y="5589588"/>
            <a:ext cx="287338" cy="7191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9" name="Line 14">
            <a:extLst>
              <a:ext uri="{FF2B5EF4-FFF2-40B4-BE49-F238E27FC236}">
                <a16:creationId xmlns:a16="http://schemas.microsoft.com/office/drawing/2014/main" id="{5629BE55-2468-2E8F-AE83-622041D4E4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4075" y="4149725"/>
            <a:ext cx="2016125" cy="2159000"/>
          </a:xfrm>
          <a:prstGeom prst="line">
            <a:avLst/>
          </a:prstGeom>
          <a:noFill/>
          <a:ln w="25400">
            <a:solidFill>
              <a:srgbClr val="3399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CD586C1-B029-C17A-5465-7C68A391D2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2.2.1 </a:t>
            </a:r>
            <a:r>
              <a:rPr lang="zh-CN" altLang="en-US"/>
              <a:t>命题函数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0361AA6-995E-CDD6-F375-5DC02A108E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343900" cy="4941887"/>
          </a:xfrm>
        </p:spPr>
        <p:txBody>
          <a:bodyPr/>
          <a:lstStyle/>
          <a:p>
            <a:pPr eaLnBrk="1" hangingPunct="1">
              <a:lnSpc>
                <a:spcPct val="180000"/>
              </a:lnSpc>
              <a:buClr>
                <a:srgbClr val="3333CC"/>
              </a:buClr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命题函数</a:t>
            </a:r>
            <a:r>
              <a:rPr lang="en-US" altLang="zh-CN" dirty="0">
                <a:solidFill>
                  <a:srgbClr val="000000"/>
                </a:solidFill>
              </a:rPr>
              <a:t>(statement function)</a:t>
            </a:r>
          </a:p>
          <a:p>
            <a:pPr eaLnBrk="1" hangingPunct="1">
              <a:lnSpc>
                <a:spcPct val="180000"/>
              </a:lnSpc>
              <a:buClr>
                <a:srgbClr val="3333CC"/>
              </a:buClr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                简单命题函数</a:t>
            </a:r>
            <a:endParaRPr lang="en-US" altLang="zh-CN" b="1" dirty="0">
              <a:solidFill>
                <a:schemeClr val="hlink"/>
              </a:solidFill>
            </a:endParaRPr>
          </a:p>
          <a:p>
            <a:pPr marL="0" indent="0" eaLnBrk="1" hangingPunct="1">
              <a:lnSpc>
                <a:spcPct val="18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      含</a:t>
            </a:r>
            <a:r>
              <a:rPr lang="zh-CN" altLang="en-US" b="1" dirty="0">
                <a:solidFill>
                  <a:srgbClr val="0000FF"/>
                </a:solidFill>
              </a:rPr>
              <a:t>一个</a:t>
            </a:r>
            <a:r>
              <a:rPr lang="zh-CN" altLang="en-US" dirty="0"/>
              <a:t>谓词常量或谓词变量</a:t>
            </a:r>
          </a:p>
          <a:p>
            <a:pPr eaLnBrk="1" hangingPunct="1">
              <a:lnSpc>
                <a:spcPct val="18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复合命题函数</a:t>
            </a:r>
            <a:endParaRPr lang="en-US" altLang="zh-CN" b="1" dirty="0">
              <a:solidFill>
                <a:schemeClr val="hlink"/>
              </a:solidFill>
            </a:endParaRPr>
          </a:p>
          <a:p>
            <a:pPr eaLnBrk="1" hangingPunct="1">
              <a:lnSpc>
                <a:spcPct val="18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000000"/>
                </a:solidFill>
              </a:rPr>
              <a:t>   简单命题函数通过</a:t>
            </a:r>
            <a:r>
              <a:rPr lang="zh-CN" altLang="en-US" dirty="0">
                <a:solidFill>
                  <a:srgbClr val="00E4A8"/>
                </a:solidFill>
              </a:rPr>
              <a:t>逻辑运算</a:t>
            </a:r>
            <a:endParaRPr lang="zh-CN" altLang="en-US" dirty="0">
              <a:solidFill>
                <a:srgbClr val="000000"/>
              </a:solidFill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67D8E7D3-0BA7-5D58-B86F-0750A9D17394}"/>
              </a:ext>
            </a:extLst>
          </p:cNvPr>
          <p:cNvCxnSpPr/>
          <p:nvPr/>
        </p:nvCxnSpPr>
        <p:spPr>
          <a:xfrm>
            <a:off x="1692275" y="2708275"/>
            <a:ext cx="0" cy="244951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00FB956-2556-B74F-422F-6B441C20152C}"/>
              </a:ext>
            </a:extLst>
          </p:cNvPr>
          <p:cNvCxnSpPr/>
          <p:nvPr/>
        </p:nvCxnSpPr>
        <p:spPr>
          <a:xfrm>
            <a:off x="1692275" y="2708275"/>
            <a:ext cx="1223963" cy="79216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E51C2D7A-9ADA-B2BE-3346-2F3CB7C7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2.2.1 </a:t>
            </a:r>
            <a:r>
              <a:rPr lang="zh-CN" altLang="en-US"/>
              <a:t>命题函数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8185B2-179D-C733-7B61-1573ECFA0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890713"/>
            <a:ext cx="9001125" cy="4941887"/>
          </a:xfrm>
        </p:spPr>
        <p:txBody>
          <a:bodyPr/>
          <a:lstStyle/>
          <a:p>
            <a:pPr eaLnBrk="1" hangingPunct="1">
              <a:lnSpc>
                <a:spcPts val="47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例 </a:t>
            </a:r>
            <a:r>
              <a:rPr lang="en-US" altLang="zh-CN" dirty="0">
                <a:solidFill>
                  <a:srgbClr val="000000"/>
                </a:solidFill>
              </a:rPr>
              <a:t>1) A(x,y,2):</a:t>
            </a:r>
            <a:r>
              <a:rPr lang="en-US" altLang="zh-CN" dirty="0" err="1">
                <a:solidFill>
                  <a:srgbClr val="000000"/>
                </a:solidFill>
              </a:rPr>
              <a:t>x+y</a:t>
            </a:r>
            <a:r>
              <a:rPr lang="en-US" altLang="zh-CN" dirty="0">
                <a:solidFill>
                  <a:srgbClr val="000000"/>
                </a:solidFill>
              </a:rPr>
              <a:t>=2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zh-CN" altLang="en-US" dirty="0">
                <a:solidFill>
                  <a:srgbClr val="000000"/>
                </a:solidFill>
              </a:rPr>
              <a:t>与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zh-CN" altLang="en-US" dirty="0">
                <a:solidFill>
                  <a:srgbClr val="000000"/>
                </a:solidFill>
              </a:rPr>
              <a:t>均为实数。</a:t>
            </a:r>
            <a:endParaRPr lang="en-US" altLang="zh-CN" dirty="0"/>
          </a:p>
          <a:p>
            <a:pPr eaLnBrk="1" hangingPunct="1">
              <a:lnSpc>
                <a:spcPct val="125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FF"/>
                </a:solidFill>
              </a:rPr>
              <a:t>       </a:t>
            </a:r>
            <a:r>
              <a:rPr lang="en-US" altLang="zh-CN" dirty="0">
                <a:solidFill>
                  <a:srgbClr val="FF0000"/>
                </a:solidFill>
              </a:rPr>
              <a:t>2)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dirty="0"/>
              <a:t>A(x)</a:t>
            </a:r>
            <a:r>
              <a:rPr lang="zh-CN" altLang="en-US" dirty="0">
                <a:solidFill>
                  <a:srgbClr val="000000"/>
                </a:solidFill>
              </a:rPr>
              <a:t>：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zh-CN" altLang="en-US" dirty="0">
                <a:solidFill>
                  <a:srgbClr val="000000"/>
                </a:solidFill>
              </a:rPr>
              <a:t>是素数或合数，其中</a:t>
            </a:r>
            <a:r>
              <a:rPr lang="en-US" altLang="zh-CN" dirty="0">
                <a:solidFill>
                  <a:srgbClr val="00E4A8"/>
                </a:solidFill>
              </a:rPr>
              <a:t>x</a:t>
            </a:r>
            <a:r>
              <a:rPr lang="en-US" altLang="zh-CN" dirty="0">
                <a:solidFill>
                  <a:srgbClr val="000000"/>
                </a:solidFill>
              </a:rPr>
              <a:t>∈</a:t>
            </a:r>
            <a:r>
              <a:rPr lang="en-US" altLang="zh-CN" dirty="0">
                <a:solidFill>
                  <a:srgbClr val="FF0000"/>
                </a:solidFill>
              </a:rPr>
              <a:t>{</a:t>
            </a:r>
            <a:r>
              <a:rPr lang="en-US" altLang="zh-CN" dirty="0">
                <a:solidFill>
                  <a:srgbClr val="000000"/>
                </a:solidFill>
              </a:rPr>
              <a:t>3,5,7,9</a:t>
            </a:r>
            <a:r>
              <a:rPr lang="en-US" altLang="zh-CN" dirty="0">
                <a:solidFill>
                  <a:srgbClr val="FF0000"/>
                </a:solidFill>
              </a:rPr>
              <a:t>}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  <a:endParaRPr lang="en-US" altLang="zh-CN" dirty="0"/>
          </a:p>
          <a:p>
            <a:pPr marL="0" indent="0" eaLnBrk="1" hangingPunct="1">
              <a:lnSpc>
                <a:spcPts val="47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2) </a:t>
            </a:r>
            <a:r>
              <a:rPr lang="en-US" altLang="zh-CN" dirty="0">
                <a:solidFill>
                  <a:schemeClr val="accent1"/>
                </a:solidFill>
              </a:rPr>
              <a:t>B(</a:t>
            </a:r>
            <a:r>
              <a:rPr lang="en-US" altLang="zh-CN" dirty="0" err="1">
                <a:solidFill>
                  <a:schemeClr val="accent1"/>
                </a:solidFill>
              </a:rPr>
              <a:t>x,y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  <a:r>
              <a:rPr lang="en-US" altLang="zh-CN" dirty="0"/>
              <a:t>:x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是好友。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均为中国人。</a:t>
            </a:r>
            <a:endParaRPr lang="en-US" altLang="zh-CN" dirty="0"/>
          </a:p>
          <a:p>
            <a:pPr marL="0" indent="0" eaLnBrk="1" hangingPunct="1">
              <a:lnSpc>
                <a:spcPts val="47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FF"/>
                </a:solidFill>
              </a:rPr>
              <a:t>       </a:t>
            </a:r>
            <a:r>
              <a:rPr lang="en-US" altLang="zh-CN" dirty="0"/>
              <a:t>3) </a:t>
            </a:r>
            <a:r>
              <a:rPr lang="en-US" altLang="zh-CN" dirty="0">
                <a:solidFill>
                  <a:srgbClr val="FF00FF"/>
                </a:solidFill>
              </a:rPr>
              <a:t>C(</a:t>
            </a:r>
            <a:r>
              <a:rPr lang="en-US" altLang="zh-CN" dirty="0" err="1">
                <a:solidFill>
                  <a:srgbClr val="FF00FF"/>
                </a:solidFill>
              </a:rPr>
              <a:t>x,y,z</a:t>
            </a:r>
            <a:r>
              <a:rPr lang="en-US" altLang="zh-CN" dirty="0">
                <a:solidFill>
                  <a:srgbClr val="FF00FF"/>
                </a:solidFill>
              </a:rPr>
              <a:t>)</a:t>
            </a:r>
            <a:r>
              <a:rPr lang="en-US" altLang="zh-CN" dirty="0"/>
              <a:t>:</a:t>
            </a:r>
            <a:r>
              <a:rPr lang="en-US" altLang="zh-CN" sz="2800" dirty="0"/>
              <a:t>x</a:t>
            </a:r>
            <a:r>
              <a:rPr lang="zh-CN" altLang="en-US" sz="2800" dirty="0"/>
              <a:t>与</a:t>
            </a:r>
            <a:r>
              <a:rPr lang="en-US" altLang="zh-CN" sz="2800" dirty="0"/>
              <a:t>y</a:t>
            </a:r>
            <a:r>
              <a:rPr lang="zh-CN" altLang="en-US" sz="2800" dirty="0"/>
              <a:t>都是</a:t>
            </a:r>
            <a:r>
              <a:rPr lang="en-US" altLang="zh-CN" sz="2800" dirty="0"/>
              <a:t>z</a:t>
            </a:r>
            <a:r>
              <a:rPr lang="zh-CN" altLang="en-US" sz="2800" dirty="0"/>
              <a:t>的同学。</a:t>
            </a:r>
            <a:r>
              <a:rPr lang="en-US" altLang="zh-CN" sz="2800" dirty="0" err="1"/>
              <a:t>x,y,z</a:t>
            </a:r>
            <a:r>
              <a:rPr lang="zh-CN" altLang="en-US" sz="2800" dirty="0"/>
              <a:t>均为中国人。</a:t>
            </a:r>
            <a:endParaRPr lang="en-US" altLang="zh-CN" sz="2800" dirty="0"/>
          </a:p>
          <a:p>
            <a:pPr marL="0" indent="0" eaLnBrk="1" hangingPunct="1">
              <a:lnSpc>
                <a:spcPts val="47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4) D(9,7)</a:t>
            </a:r>
            <a:r>
              <a:rPr lang="zh-CN" altLang="en-US" dirty="0"/>
              <a:t>：</a:t>
            </a:r>
            <a:r>
              <a:rPr lang="en-US" altLang="zh-CN" dirty="0"/>
              <a:t>9</a:t>
            </a:r>
            <a:r>
              <a:rPr lang="zh-CN" altLang="en-US" dirty="0"/>
              <a:t>大于</a:t>
            </a:r>
            <a:r>
              <a:rPr lang="en-US" altLang="zh-CN" dirty="0"/>
              <a:t>7</a:t>
            </a:r>
            <a:r>
              <a:rPr lang="zh-CN" altLang="en-US" dirty="0"/>
              <a:t>。</a:t>
            </a:r>
          </a:p>
          <a:p>
            <a:pPr marL="0" indent="0" eaLnBrk="1" hangingPunct="1">
              <a:lnSpc>
                <a:spcPts val="47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CC0066"/>
                </a:solidFill>
              </a:rPr>
              <a:t>       </a:t>
            </a:r>
            <a:r>
              <a:rPr lang="en-US" altLang="zh-CN" dirty="0">
                <a:solidFill>
                  <a:srgbClr val="FF0000"/>
                </a:solidFill>
              </a:rPr>
              <a:t>5) </a:t>
            </a:r>
            <a:r>
              <a:rPr lang="en-US" altLang="zh-CN" dirty="0"/>
              <a:t>┐B(</a:t>
            </a:r>
            <a:r>
              <a:rPr lang="en-US" altLang="zh-CN" dirty="0" err="1"/>
              <a:t>x,y</a:t>
            </a:r>
            <a:r>
              <a:rPr lang="en-US" altLang="zh-CN" dirty="0"/>
              <a:t>)∧C(</a:t>
            </a:r>
            <a:r>
              <a:rPr lang="en-US" altLang="zh-CN" dirty="0" err="1"/>
              <a:t>x,y,z</a:t>
            </a:r>
            <a:r>
              <a:rPr lang="en-US" altLang="zh-CN" dirty="0"/>
              <a:t>): 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不是好友，但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endParaRPr lang="en-US" altLang="zh-CN" dirty="0"/>
          </a:p>
          <a:p>
            <a:pPr marL="0" indent="0" eaLnBrk="1" hangingPunct="1">
              <a:lnSpc>
                <a:spcPts val="47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y</a:t>
            </a:r>
            <a:r>
              <a:rPr lang="zh-CN" altLang="en-US" dirty="0"/>
              <a:t>都是</a:t>
            </a:r>
            <a:r>
              <a:rPr lang="en-US" altLang="zh-CN" dirty="0"/>
              <a:t>z</a:t>
            </a:r>
            <a:r>
              <a:rPr lang="zh-CN" altLang="en-US" dirty="0"/>
              <a:t>的同学。</a:t>
            </a:r>
            <a:r>
              <a:rPr lang="en-US" altLang="zh-CN" dirty="0" err="1"/>
              <a:t>x,y,z</a:t>
            </a:r>
            <a:r>
              <a:rPr lang="zh-CN" altLang="en-US" dirty="0"/>
              <a:t>均为中国人。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03616E7-E67A-5407-CFF8-73DA9CE0B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2.2.1 </a:t>
            </a:r>
            <a:r>
              <a:rPr lang="zh-CN" altLang="en-US"/>
              <a:t>命题函数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ACB5826-7D3B-B6BB-3F2E-CA659EDEEF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8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设</a:t>
            </a:r>
            <a:r>
              <a:rPr lang="en-US" altLang="zh-CN" dirty="0">
                <a:solidFill>
                  <a:srgbClr val="000000"/>
                </a:solidFill>
              </a:rPr>
              <a:t>A(x,y,2):</a:t>
            </a:r>
            <a:r>
              <a:rPr lang="en-US" altLang="zh-CN" dirty="0" err="1">
                <a:solidFill>
                  <a:srgbClr val="000000"/>
                </a:solidFill>
              </a:rPr>
              <a:t>x+y</a:t>
            </a:r>
            <a:r>
              <a:rPr lang="en-US" altLang="zh-CN" dirty="0">
                <a:solidFill>
                  <a:srgbClr val="000000"/>
                </a:solidFill>
              </a:rPr>
              <a:t>=2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  <a:r>
              <a:rPr lang="en-US" altLang="zh-CN" sz="2800" dirty="0">
                <a:solidFill>
                  <a:srgbClr val="000000"/>
                </a:solidFill>
              </a:rPr>
              <a:t>x</a:t>
            </a:r>
            <a:r>
              <a:rPr lang="zh-CN" altLang="en-US" sz="2800" dirty="0">
                <a:solidFill>
                  <a:srgbClr val="000000"/>
                </a:solidFill>
              </a:rPr>
              <a:t>与</a:t>
            </a:r>
            <a:r>
              <a:rPr lang="en-US" altLang="zh-CN" sz="2800" dirty="0">
                <a:solidFill>
                  <a:srgbClr val="000000"/>
                </a:solidFill>
              </a:rPr>
              <a:t>y</a:t>
            </a:r>
            <a:r>
              <a:rPr lang="zh-CN" altLang="en-US" sz="2800" dirty="0">
                <a:solidFill>
                  <a:srgbClr val="000000"/>
                </a:solidFill>
              </a:rPr>
              <a:t>均为实数。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 marL="0" indent="0" eaLnBrk="1" hangingPunct="1">
              <a:lnSpc>
                <a:spcPct val="18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E4A8"/>
                </a:solidFill>
              </a:rPr>
              <a:t>   </a:t>
            </a:r>
            <a:r>
              <a:rPr lang="en-US" altLang="zh-CN" dirty="0">
                <a:solidFill>
                  <a:srgbClr val="000000"/>
                </a:solidFill>
              </a:rPr>
              <a:t>     </a:t>
            </a:r>
            <a:r>
              <a:rPr lang="en-US" altLang="zh-CN" dirty="0">
                <a:solidFill>
                  <a:srgbClr val="00E4A8"/>
                </a:solidFill>
              </a:rPr>
              <a:t>B(</a:t>
            </a:r>
            <a:r>
              <a:rPr lang="en-US" altLang="zh-CN" dirty="0" err="1">
                <a:solidFill>
                  <a:srgbClr val="00E4A8"/>
                </a:solidFill>
              </a:rPr>
              <a:t>x,y</a:t>
            </a:r>
            <a:r>
              <a:rPr lang="en-US" altLang="zh-CN" dirty="0">
                <a:solidFill>
                  <a:srgbClr val="00E4A8"/>
                </a:solidFill>
              </a:rPr>
              <a:t>)</a:t>
            </a:r>
            <a:r>
              <a:rPr lang="en-US" altLang="zh-CN" dirty="0">
                <a:solidFill>
                  <a:srgbClr val="000000"/>
                </a:solidFill>
              </a:rPr>
              <a:t>:x</a:t>
            </a:r>
            <a:r>
              <a:rPr lang="zh-CN" altLang="en-US" dirty="0">
                <a:solidFill>
                  <a:srgbClr val="000000"/>
                </a:solidFill>
              </a:rPr>
              <a:t>与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zh-CN" altLang="en-US" dirty="0">
                <a:solidFill>
                  <a:srgbClr val="000000"/>
                </a:solidFill>
              </a:rPr>
              <a:t>是好友。</a:t>
            </a:r>
            <a:r>
              <a:rPr lang="en-US" altLang="zh-CN" sz="2800" dirty="0">
                <a:solidFill>
                  <a:srgbClr val="000000"/>
                </a:solidFill>
              </a:rPr>
              <a:t>x</a:t>
            </a:r>
            <a:r>
              <a:rPr lang="zh-CN" altLang="en-US" sz="2800" dirty="0">
                <a:solidFill>
                  <a:srgbClr val="000000"/>
                </a:solidFill>
              </a:rPr>
              <a:t>与</a:t>
            </a:r>
            <a:r>
              <a:rPr lang="en-US" altLang="zh-CN" sz="2800" dirty="0">
                <a:solidFill>
                  <a:srgbClr val="000000"/>
                </a:solidFill>
              </a:rPr>
              <a:t>y</a:t>
            </a:r>
            <a:r>
              <a:rPr lang="zh-CN" altLang="en-US" sz="2800" dirty="0">
                <a:solidFill>
                  <a:srgbClr val="000000"/>
                </a:solidFill>
              </a:rPr>
              <a:t>均为中国人。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 marL="0" indent="0" eaLnBrk="1" hangingPunct="1">
              <a:lnSpc>
                <a:spcPct val="18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FF"/>
                </a:solidFill>
              </a:rPr>
              <a:t>      C(</a:t>
            </a:r>
            <a:r>
              <a:rPr lang="en-US" altLang="zh-CN" dirty="0" err="1">
                <a:solidFill>
                  <a:srgbClr val="FF00FF"/>
                </a:solidFill>
              </a:rPr>
              <a:t>x,y,z</a:t>
            </a:r>
            <a:r>
              <a:rPr lang="en-US" altLang="zh-CN" dirty="0">
                <a:solidFill>
                  <a:srgbClr val="FF00FF"/>
                </a:solidFill>
              </a:rPr>
              <a:t>)</a:t>
            </a:r>
            <a:r>
              <a:rPr lang="en-US" altLang="zh-CN" dirty="0">
                <a:solidFill>
                  <a:srgbClr val="000000"/>
                </a:solidFill>
              </a:rPr>
              <a:t>:x</a:t>
            </a:r>
            <a:r>
              <a:rPr lang="zh-CN" altLang="en-US" dirty="0">
                <a:solidFill>
                  <a:srgbClr val="000000"/>
                </a:solidFill>
              </a:rPr>
              <a:t>与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zh-CN" altLang="en-US" dirty="0">
                <a:solidFill>
                  <a:srgbClr val="000000"/>
                </a:solidFill>
              </a:rPr>
              <a:t>都是</a:t>
            </a:r>
            <a:r>
              <a:rPr lang="en-US" altLang="zh-CN" dirty="0">
                <a:solidFill>
                  <a:srgbClr val="000000"/>
                </a:solidFill>
              </a:rPr>
              <a:t>z</a:t>
            </a:r>
            <a:r>
              <a:rPr lang="zh-CN" altLang="en-US" dirty="0">
                <a:solidFill>
                  <a:srgbClr val="000000"/>
                </a:solidFill>
              </a:rPr>
              <a:t>的同学。</a:t>
            </a:r>
            <a:r>
              <a:rPr lang="en-US" altLang="zh-CN" sz="2800" dirty="0" err="1">
                <a:solidFill>
                  <a:srgbClr val="000000"/>
                </a:solidFill>
              </a:rPr>
              <a:t>x,y,z</a:t>
            </a:r>
            <a:r>
              <a:rPr lang="zh-CN" altLang="en-US" sz="2800" dirty="0">
                <a:solidFill>
                  <a:srgbClr val="000000"/>
                </a:solidFill>
              </a:rPr>
              <a:t>均为中国人。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 marL="0" indent="0" eaLnBrk="1" hangingPunct="1">
              <a:lnSpc>
                <a:spcPct val="18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000000"/>
                </a:solidFill>
              </a:rPr>
              <a:t>    </a:t>
            </a:r>
            <a:r>
              <a:rPr lang="zh-CN" altLang="en-US" b="1" dirty="0">
                <a:solidFill>
                  <a:srgbClr val="0000FF"/>
                </a:solidFill>
              </a:rPr>
              <a:t>问</a:t>
            </a:r>
            <a:r>
              <a:rPr lang="zh-CN" altLang="en-US" dirty="0">
                <a:solidFill>
                  <a:srgbClr val="FF0000"/>
                </a:solidFill>
              </a:rPr>
              <a:t>  </a:t>
            </a:r>
            <a:r>
              <a:rPr lang="en-US" altLang="zh-CN" dirty="0">
                <a:solidFill>
                  <a:srgbClr val="000000"/>
                </a:solidFill>
              </a:rPr>
              <a:t>(A(x,y,2)∨┐B(</a:t>
            </a:r>
            <a:r>
              <a:rPr lang="en-US" altLang="zh-CN" dirty="0" err="1">
                <a:solidFill>
                  <a:srgbClr val="000000"/>
                </a:solidFill>
              </a:rPr>
              <a:t>x,y</a:t>
            </a:r>
            <a:r>
              <a:rPr lang="en-US" altLang="zh-CN" dirty="0">
                <a:solidFill>
                  <a:srgbClr val="000000"/>
                </a:solidFill>
              </a:rPr>
              <a:t>))∧C(</a:t>
            </a:r>
            <a:r>
              <a:rPr lang="en-US" altLang="zh-CN" dirty="0" err="1">
                <a:solidFill>
                  <a:srgbClr val="000000"/>
                </a:solidFill>
              </a:rPr>
              <a:t>x,y,z</a:t>
            </a:r>
            <a:r>
              <a:rPr lang="en-US" altLang="zh-CN" dirty="0">
                <a:solidFill>
                  <a:srgbClr val="000000"/>
                </a:solidFill>
              </a:rPr>
              <a:t>) </a:t>
            </a:r>
            <a:r>
              <a:rPr lang="zh-CN" altLang="en-US" dirty="0">
                <a:solidFill>
                  <a:srgbClr val="FF0000"/>
                </a:solidFill>
              </a:rPr>
              <a:t>？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 eaLnBrk="1" hangingPunct="1">
              <a:lnSpc>
                <a:spcPct val="18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    ┐B(</a:t>
            </a:r>
            <a:r>
              <a:rPr lang="en-US" altLang="zh-CN" dirty="0" err="1">
                <a:solidFill>
                  <a:srgbClr val="000000"/>
                </a:solidFill>
              </a:rPr>
              <a:t>x,y</a:t>
            </a:r>
            <a:r>
              <a:rPr lang="en-US" altLang="zh-CN" dirty="0">
                <a:solidFill>
                  <a:srgbClr val="000000"/>
                </a:solidFill>
              </a:rPr>
              <a:t>)∧C(</a:t>
            </a:r>
            <a:r>
              <a:rPr lang="en-US" altLang="zh-CN" dirty="0" err="1">
                <a:solidFill>
                  <a:srgbClr val="000000"/>
                </a:solidFill>
              </a:rPr>
              <a:t>x,y,z</a:t>
            </a:r>
            <a:r>
              <a:rPr lang="en-US" altLang="zh-CN" dirty="0">
                <a:solidFill>
                  <a:srgbClr val="000000"/>
                </a:solidFill>
              </a:rPr>
              <a:t>) </a:t>
            </a:r>
            <a:r>
              <a:rPr lang="zh-CN" altLang="en-US" dirty="0">
                <a:solidFill>
                  <a:srgbClr val="FF0000"/>
                </a:solidFill>
              </a:rPr>
              <a:t>？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 eaLnBrk="1" hangingPunct="1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endParaRPr lang="zh-CN" altLang="en-US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en-US" altLang="zh-CN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4C34CED-2C4F-B005-3E01-2D0D8DE7B2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2.2.1 </a:t>
            </a:r>
            <a:r>
              <a:rPr lang="zh-CN" altLang="en-US"/>
              <a:t>命题函数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579F669-2A77-9224-21A0-AABB177393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844675"/>
            <a:ext cx="8270875" cy="5013325"/>
          </a:xfrm>
        </p:spPr>
        <p:txBody>
          <a:bodyPr/>
          <a:lstStyle/>
          <a:p>
            <a:pPr eaLnBrk="1" hangingPunct="1">
              <a:lnSpc>
                <a:spcPct val="180000"/>
              </a:lnSpc>
              <a:buClr>
                <a:srgbClr val="3333CC"/>
              </a:buClr>
            </a:pPr>
            <a:r>
              <a:rPr lang="zh-CN" altLang="en-US" b="1" dirty="0">
                <a:solidFill>
                  <a:srgbClr val="FF0000"/>
                </a:solidFill>
              </a:rPr>
              <a:t>论域</a:t>
            </a:r>
            <a:r>
              <a:rPr lang="en-US" altLang="zh-CN" dirty="0">
                <a:solidFill>
                  <a:srgbClr val="FF0000"/>
                </a:solidFill>
              </a:rPr>
              <a:t>(universe of discourse)</a:t>
            </a:r>
            <a:r>
              <a:rPr lang="zh-CN" altLang="en-US" dirty="0"/>
              <a:t>或</a:t>
            </a:r>
            <a:r>
              <a:rPr lang="zh-CN" altLang="en-US" b="1" dirty="0">
                <a:solidFill>
                  <a:srgbClr val="FF0000"/>
                </a:solidFill>
              </a:rPr>
              <a:t>个体域</a:t>
            </a:r>
            <a:endParaRPr lang="en-US" altLang="zh-CN" b="1" dirty="0">
              <a:solidFill>
                <a:srgbClr val="FF0000"/>
              </a:solidFill>
            </a:endParaRPr>
          </a:p>
          <a:p>
            <a:pPr eaLnBrk="1" hangingPunct="1">
              <a:lnSpc>
                <a:spcPts val="67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全总个体域</a:t>
            </a:r>
            <a:endParaRPr lang="zh-CN" altLang="en-US" b="1" dirty="0">
              <a:solidFill>
                <a:schemeClr val="hlink"/>
              </a:solidFill>
            </a:endParaRPr>
          </a:p>
          <a:p>
            <a:pPr eaLnBrk="1" hangingPunct="1">
              <a:lnSpc>
                <a:spcPts val="67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命题函数中，全部个体变量的论域的综合</a:t>
            </a:r>
          </a:p>
          <a:p>
            <a:pPr eaLnBrk="1" hangingPunct="1">
              <a:lnSpc>
                <a:spcPts val="6700"/>
              </a:lnSpc>
            </a:pPr>
            <a:r>
              <a:rPr lang="zh-CN" altLang="en-US" dirty="0"/>
              <a:t>不</a:t>
            </a:r>
            <a:r>
              <a:rPr lang="zh-CN" altLang="en-US" dirty="0">
                <a:solidFill>
                  <a:srgbClr val="00B050"/>
                </a:solidFill>
              </a:rPr>
              <a:t>特别说明</a:t>
            </a:r>
            <a:r>
              <a:rPr lang="zh-CN" altLang="en-US" dirty="0"/>
              <a:t>时，全总个体域即为</a:t>
            </a:r>
            <a:r>
              <a:rPr lang="zh-CN" altLang="en-US" dirty="0">
                <a:solidFill>
                  <a:schemeClr val="hlink"/>
                </a:solidFill>
              </a:rPr>
              <a:t>宇宙间万物</a:t>
            </a:r>
            <a:r>
              <a:rPr lang="zh-CN" altLang="en-US" dirty="0"/>
              <a:t>集合。</a:t>
            </a:r>
            <a:r>
              <a:rPr lang="zh-CN" altLang="en-US" dirty="0">
                <a:solidFill>
                  <a:srgbClr val="FF00FF"/>
                </a:solidFill>
              </a:rPr>
              <a:t>且</a:t>
            </a:r>
            <a:r>
              <a:rPr lang="zh-CN" altLang="en-US" dirty="0"/>
              <a:t>命题函数的论域即全总个体域。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6E88341-450C-C9EF-EFD1-501BD6CC6F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2.2.1 </a:t>
            </a:r>
            <a:r>
              <a:rPr lang="zh-CN" altLang="en-US"/>
              <a:t>命题函数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432756D9-E0F1-42F6-C319-9A6E138FD2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42486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2.2.2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FF"/>
                </a:solidFill>
              </a:rPr>
              <a:t>   </a:t>
            </a:r>
            <a:r>
              <a:rPr lang="en-US" altLang="zh-CN" dirty="0"/>
              <a:t>(1) </a:t>
            </a:r>
            <a:r>
              <a:rPr lang="en-US" altLang="zh-CN" dirty="0">
                <a:solidFill>
                  <a:schemeClr val="accent1"/>
                </a:solidFill>
              </a:rPr>
              <a:t>A(</a:t>
            </a:r>
            <a:r>
              <a:rPr lang="en-US" altLang="zh-CN" dirty="0" err="1">
                <a:solidFill>
                  <a:schemeClr val="accent1"/>
                </a:solidFill>
              </a:rPr>
              <a:t>x,y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＋</a:t>
            </a:r>
            <a:r>
              <a:rPr lang="en-US" altLang="zh-CN" dirty="0"/>
              <a:t>y≥0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accent1"/>
                </a:solidFill>
              </a:rPr>
              <a:t>   </a:t>
            </a:r>
            <a:r>
              <a:rPr lang="en-US" altLang="zh-CN" dirty="0"/>
              <a:t>(2) </a:t>
            </a:r>
            <a:r>
              <a:rPr lang="en-US" altLang="zh-CN" dirty="0">
                <a:solidFill>
                  <a:srgbClr val="FF00FF"/>
                </a:solidFill>
              </a:rPr>
              <a:t>B(</a:t>
            </a:r>
            <a:r>
              <a:rPr lang="en-US" altLang="zh-CN" dirty="0" err="1">
                <a:solidFill>
                  <a:srgbClr val="FF00FF"/>
                </a:solidFill>
              </a:rPr>
              <a:t>x,y</a:t>
            </a:r>
            <a:r>
              <a:rPr lang="en-US" altLang="zh-CN" dirty="0">
                <a:solidFill>
                  <a:srgbClr val="FF00FF"/>
                </a:solidFill>
              </a:rPr>
              <a:t>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＋</a:t>
            </a:r>
            <a:r>
              <a:rPr lang="en-US" altLang="zh-CN" dirty="0"/>
              <a:t>y≥0</a:t>
            </a:r>
            <a:r>
              <a:rPr lang="zh-CN" altLang="en-US" dirty="0"/>
              <a:t>，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均为</a:t>
            </a:r>
            <a:r>
              <a:rPr lang="zh-CN" altLang="en-US" dirty="0">
                <a:solidFill>
                  <a:srgbClr val="FF00FF"/>
                </a:solidFill>
              </a:rPr>
              <a:t>实数。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CC0066"/>
                </a:solidFill>
              </a:rPr>
              <a:t>   </a:t>
            </a:r>
            <a:r>
              <a:rPr lang="en-US" altLang="zh-CN" dirty="0"/>
              <a:t>(3) </a:t>
            </a:r>
            <a:r>
              <a:rPr lang="en-US" altLang="zh-CN" dirty="0">
                <a:solidFill>
                  <a:srgbClr val="0066FF"/>
                </a:solidFill>
              </a:rPr>
              <a:t>P(</a:t>
            </a:r>
            <a:r>
              <a:rPr lang="en-US" altLang="zh-CN" dirty="0" err="1">
                <a:solidFill>
                  <a:srgbClr val="0066FF"/>
                </a:solidFill>
              </a:rPr>
              <a:t>x,y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喜爱</a:t>
            </a:r>
            <a:r>
              <a:rPr lang="en-US" altLang="zh-CN" dirty="0"/>
              <a:t>y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B050"/>
                </a:solidFill>
              </a:rPr>
              <a:t>   </a:t>
            </a:r>
            <a:r>
              <a:rPr lang="en-US" altLang="zh-CN" dirty="0">
                <a:solidFill>
                  <a:srgbClr val="00B050"/>
                </a:solidFill>
              </a:rPr>
              <a:t>(4) </a:t>
            </a:r>
            <a:r>
              <a:rPr lang="en-US" altLang="zh-CN" dirty="0">
                <a:solidFill>
                  <a:schemeClr val="hlink"/>
                </a:solidFill>
              </a:rPr>
              <a:t>A(</a:t>
            </a:r>
            <a:r>
              <a:rPr lang="en-US" altLang="zh-CN" dirty="0" err="1">
                <a:solidFill>
                  <a:schemeClr val="hlink"/>
                </a:solidFill>
              </a:rPr>
              <a:t>x,y</a:t>
            </a:r>
            <a:r>
              <a:rPr lang="en-US" altLang="zh-CN" dirty="0">
                <a:solidFill>
                  <a:schemeClr val="hlink"/>
                </a:solidFill>
              </a:rPr>
              <a:t>)→┐P(</a:t>
            </a:r>
            <a:r>
              <a:rPr lang="en-US" altLang="zh-CN" dirty="0" err="1">
                <a:solidFill>
                  <a:schemeClr val="hlink"/>
                </a:solidFill>
              </a:rPr>
              <a:t>x,y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r>
              <a:rPr lang="zh-CN" altLang="en-US" dirty="0"/>
              <a:t>：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如果</a:t>
            </a:r>
            <a:r>
              <a:rPr lang="en-US" altLang="zh-CN" dirty="0"/>
              <a:t>x</a:t>
            </a:r>
            <a:r>
              <a:rPr lang="zh-CN" altLang="en-US" dirty="0"/>
              <a:t>＋</a:t>
            </a:r>
            <a:r>
              <a:rPr lang="en-US" altLang="zh-CN" dirty="0"/>
              <a:t>y≥0</a:t>
            </a:r>
            <a:r>
              <a:rPr lang="zh-CN" altLang="en-US" dirty="0"/>
              <a:t>， 那么</a:t>
            </a:r>
            <a:r>
              <a:rPr lang="en-US" altLang="zh-CN" dirty="0"/>
              <a:t>x</a:t>
            </a:r>
            <a:r>
              <a:rPr lang="zh-CN" altLang="en-US" dirty="0"/>
              <a:t>不喜爱</a:t>
            </a:r>
            <a:r>
              <a:rPr lang="en-US" altLang="zh-CN" dirty="0"/>
              <a:t>y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2516DD0-FC84-0550-BB22-44CDC0CF8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2.2.2 </a:t>
            </a:r>
            <a:r>
              <a:rPr lang="zh-CN" altLang="en-US"/>
              <a:t>量词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2C8C2E7-BFB3-3954-20BE-E6A22A51F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795837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hlink"/>
                </a:solidFill>
              </a:rPr>
              <a:t>量词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quantifier</a:t>
            </a:r>
            <a:r>
              <a:rPr lang="en-US" altLang="zh-CN" dirty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表示个体常量或个体变量间</a:t>
            </a:r>
            <a:r>
              <a:rPr lang="zh-CN" altLang="en-US" dirty="0">
                <a:solidFill>
                  <a:schemeClr val="accent1"/>
                </a:solidFill>
              </a:rPr>
              <a:t>数量关系</a:t>
            </a:r>
            <a:r>
              <a:rPr lang="zh-CN" altLang="en-US" dirty="0"/>
              <a:t>的词</a:t>
            </a:r>
          </a:p>
          <a:p>
            <a:pPr eaLnBrk="1" hangingPunct="1"/>
            <a:r>
              <a:rPr lang="zh-CN" altLang="en-US" b="1" dirty="0">
                <a:solidFill>
                  <a:schemeClr val="accent1"/>
                </a:solidFill>
              </a:rPr>
              <a:t>全称量词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universal quantifier</a:t>
            </a:r>
            <a:r>
              <a:rPr lang="en-US" altLang="zh-CN" dirty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</a:t>
            </a: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，同汉语量词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zh-CN" altLang="en-US" dirty="0"/>
              <a:t>任意</a:t>
            </a:r>
            <a:r>
              <a:rPr lang="en-US" altLang="zh-CN" dirty="0"/>
              <a:t>,</a:t>
            </a:r>
            <a:r>
              <a:rPr lang="zh-CN" altLang="en-US" dirty="0"/>
              <a:t>每一个</a:t>
            </a:r>
            <a:r>
              <a:rPr lang="en-US" altLang="zh-CN" dirty="0"/>
              <a:t>,</a:t>
            </a:r>
            <a:r>
              <a:rPr lang="zh-CN" altLang="en-US" dirty="0"/>
              <a:t>所有</a:t>
            </a:r>
            <a:r>
              <a:rPr lang="zh-CN" altLang="en-US" dirty="0">
                <a:latin typeface="Arial" panose="020B0604020202020204" pitchFamily="34" charset="0"/>
              </a:rPr>
              <a:t>”</a:t>
            </a:r>
            <a:endParaRPr lang="zh-CN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  </a:t>
            </a:r>
            <a:r>
              <a:rPr lang="en-US" altLang="zh-CN" dirty="0" err="1"/>
              <a:t>xP</a:t>
            </a:r>
            <a:r>
              <a:rPr lang="en-US" altLang="zh-CN" dirty="0"/>
              <a:t>(x)</a:t>
            </a:r>
            <a:r>
              <a:rPr lang="zh-CN" altLang="en-US" dirty="0"/>
              <a:t>表示论域里每个个体都具有性质</a:t>
            </a:r>
            <a:r>
              <a:rPr lang="en-US" altLang="zh-CN" dirty="0"/>
              <a:t>P</a:t>
            </a:r>
            <a:r>
              <a:rPr lang="zh-CN" altLang="en-US" dirty="0"/>
              <a:t>。</a:t>
            </a:r>
          </a:p>
          <a:p>
            <a:pPr eaLnBrk="1" hangingPunct="1"/>
            <a:r>
              <a:rPr lang="zh-CN" altLang="en-US" b="1" dirty="0">
                <a:solidFill>
                  <a:schemeClr val="accent1"/>
                </a:solidFill>
              </a:rPr>
              <a:t>存在量词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existential quantifier</a:t>
            </a:r>
            <a:r>
              <a:rPr lang="en-US" altLang="zh-CN" dirty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</a:t>
            </a: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，同汉语量词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zh-CN" altLang="en-US" dirty="0"/>
              <a:t>有些</a:t>
            </a:r>
            <a:r>
              <a:rPr lang="en-US" altLang="zh-CN" dirty="0"/>
              <a:t>,</a:t>
            </a:r>
            <a:r>
              <a:rPr lang="zh-CN" altLang="en-US" dirty="0"/>
              <a:t>存在</a:t>
            </a:r>
            <a:r>
              <a:rPr lang="en-US" altLang="zh-CN" dirty="0"/>
              <a:t>,</a:t>
            </a:r>
            <a:r>
              <a:rPr lang="zh-CN" altLang="en-US" dirty="0"/>
              <a:t>至少有一个</a:t>
            </a:r>
            <a:r>
              <a:rPr lang="zh-CN" altLang="en-US" dirty="0">
                <a:latin typeface="Arial" panose="020B0604020202020204" pitchFamily="34" charset="0"/>
              </a:rPr>
              <a:t>”</a:t>
            </a:r>
            <a:endParaRPr lang="zh-CN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  </a:t>
            </a:r>
            <a:r>
              <a:rPr lang="en-US" altLang="zh-CN" dirty="0" err="1"/>
              <a:t>xP</a:t>
            </a:r>
            <a:r>
              <a:rPr lang="en-US" altLang="zh-CN" dirty="0"/>
              <a:t>(x)</a:t>
            </a:r>
            <a:r>
              <a:rPr lang="zh-CN" altLang="en-US" dirty="0"/>
              <a:t>表示论域里存在个体具有性质</a:t>
            </a:r>
            <a:r>
              <a:rPr lang="en-US" altLang="zh-CN" dirty="0"/>
              <a:t>P</a:t>
            </a:r>
            <a:r>
              <a:rPr lang="zh-CN" altLang="en-US" dirty="0"/>
              <a:t>。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6F850E5-4639-EA66-80B8-0BB105D334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2.2.2 </a:t>
            </a:r>
            <a:r>
              <a:rPr lang="zh-CN" altLang="en-US"/>
              <a:t>量词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2339CE2-7A9C-EE83-C38C-4AF55D5B34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2017713"/>
            <a:ext cx="8415338" cy="4867275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sz="3600" dirty="0">
                <a:solidFill>
                  <a:schemeClr val="hlink"/>
                </a:solidFill>
              </a:rPr>
              <a:t>例</a:t>
            </a:r>
            <a:r>
              <a:rPr lang="en-US" altLang="zh-CN" sz="3600" dirty="0">
                <a:solidFill>
                  <a:schemeClr val="hlink"/>
                </a:solidFill>
              </a:rPr>
              <a:t>2.2.3</a:t>
            </a:r>
            <a:r>
              <a:rPr lang="en-US" altLang="zh-CN" sz="3600" dirty="0"/>
              <a:t> </a:t>
            </a:r>
            <a:r>
              <a:rPr lang="zh-CN" altLang="en-US" sz="3600" dirty="0"/>
              <a:t>翻译命题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3600" dirty="0"/>
              <a:t>   </a:t>
            </a:r>
            <a:r>
              <a:rPr lang="en-US" altLang="zh-CN" sz="3600" dirty="0">
                <a:solidFill>
                  <a:srgbClr val="0000FF"/>
                </a:solidFill>
              </a:rPr>
              <a:t>(1)</a:t>
            </a:r>
            <a:r>
              <a:rPr lang="zh-CN" altLang="en-US" sz="3600" dirty="0"/>
              <a:t>每个人都要呼吸。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3600" dirty="0"/>
              <a:t>   </a:t>
            </a:r>
            <a:r>
              <a:rPr lang="en-US" altLang="zh-CN" sz="3600" dirty="0"/>
              <a:t>(2)</a:t>
            </a:r>
            <a:r>
              <a:rPr lang="zh-CN" altLang="en-US" sz="3600" dirty="0"/>
              <a:t>有的人要呼吸。   特性谓词</a:t>
            </a:r>
            <a:endParaRPr lang="zh-CN" altLang="en-US" sz="3600" b="1" dirty="0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3600" b="1" dirty="0"/>
              <a:t>   </a:t>
            </a:r>
            <a:r>
              <a:rPr lang="zh-CN" altLang="en-US" sz="3600" b="1" dirty="0">
                <a:solidFill>
                  <a:schemeClr val="hlink"/>
                </a:solidFill>
              </a:rPr>
              <a:t>解</a:t>
            </a:r>
            <a:r>
              <a:rPr lang="zh-CN" altLang="en-US" sz="3600" dirty="0"/>
              <a:t> 设</a:t>
            </a:r>
            <a:r>
              <a:rPr lang="en-US" altLang="zh-CN" sz="3600" dirty="0"/>
              <a:t>A(x)</a:t>
            </a:r>
            <a:r>
              <a:rPr lang="zh-CN" altLang="en-US" sz="3600" dirty="0"/>
              <a:t>：</a:t>
            </a:r>
            <a:r>
              <a:rPr lang="en-US" altLang="zh-CN" sz="3600" dirty="0"/>
              <a:t>x</a:t>
            </a:r>
            <a:r>
              <a:rPr lang="zh-CN" altLang="en-US" sz="3600" dirty="0"/>
              <a:t>是人。  </a:t>
            </a:r>
            <a:r>
              <a:rPr lang="en-US" altLang="zh-CN" sz="3600" dirty="0"/>
              <a:t>P(x)</a:t>
            </a:r>
            <a:r>
              <a:rPr lang="zh-CN" altLang="en-US" sz="3600" dirty="0"/>
              <a:t>：</a:t>
            </a:r>
            <a:r>
              <a:rPr lang="en-US" altLang="zh-CN" sz="3600" dirty="0"/>
              <a:t>x</a:t>
            </a:r>
            <a:r>
              <a:rPr lang="zh-CN" altLang="en-US" sz="3600" dirty="0"/>
              <a:t>要呼吸。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3600" dirty="0"/>
              <a:t>   </a:t>
            </a:r>
            <a:r>
              <a:rPr lang="en-US" altLang="zh-CN" sz="3600" dirty="0">
                <a:solidFill>
                  <a:srgbClr val="0000FF"/>
                </a:solidFill>
              </a:rPr>
              <a:t>(1)</a:t>
            </a:r>
            <a:r>
              <a:rPr lang="zh-CN" altLang="en-US" sz="3600" dirty="0"/>
              <a:t>翻译为</a:t>
            </a:r>
            <a:r>
              <a:rPr lang="zh-CN" altLang="en-US" sz="3600" dirty="0">
                <a:solidFill>
                  <a:srgbClr val="FF00FF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3600" dirty="0"/>
              <a:t>x(</a:t>
            </a:r>
            <a:r>
              <a:rPr lang="en-US" altLang="zh-CN" sz="3600" dirty="0">
                <a:solidFill>
                  <a:schemeClr val="accent1"/>
                </a:solidFill>
              </a:rPr>
              <a:t>A(x)</a:t>
            </a:r>
            <a:r>
              <a:rPr lang="en-US" altLang="zh-CN" sz="3600" dirty="0">
                <a:solidFill>
                  <a:srgbClr val="FF00FF"/>
                </a:solidFill>
              </a:rPr>
              <a:t>→</a:t>
            </a:r>
            <a:r>
              <a:rPr lang="en-US" altLang="zh-CN" sz="3600" dirty="0"/>
              <a:t>P(x))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3600" dirty="0"/>
              <a:t>   (2)</a:t>
            </a:r>
            <a:r>
              <a:rPr lang="zh-CN" altLang="en-US" sz="3600" dirty="0"/>
              <a:t>翻译为</a:t>
            </a:r>
            <a:r>
              <a:rPr lang="zh-CN" altLang="en-US" sz="3600" dirty="0">
                <a:solidFill>
                  <a:srgbClr val="FF00FF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3600" dirty="0"/>
              <a:t>x(</a:t>
            </a:r>
            <a:r>
              <a:rPr lang="en-US" altLang="zh-CN" sz="3600" dirty="0">
                <a:solidFill>
                  <a:schemeClr val="accent1"/>
                </a:solidFill>
              </a:rPr>
              <a:t>A(x)</a:t>
            </a:r>
            <a:r>
              <a:rPr lang="en-US" altLang="zh-CN" sz="3600" dirty="0">
                <a:solidFill>
                  <a:srgbClr val="FF00FF"/>
                </a:solidFill>
              </a:rPr>
              <a:t>∧</a:t>
            </a:r>
            <a:r>
              <a:rPr lang="en-US" altLang="zh-CN" sz="3600" dirty="0"/>
              <a:t>P(x))</a:t>
            </a:r>
          </a:p>
        </p:txBody>
      </p:sp>
      <p:sp>
        <p:nvSpPr>
          <p:cNvPr id="13316" name="AutoShape 6">
            <a:extLst>
              <a:ext uri="{FF2B5EF4-FFF2-40B4-BE49-F238E27FC236}">
                <a16:creationId xmlns:a16="http://schemas.microsoft.com/office/drawing/2014/main" id="{518DD691-92C2-515F-06C9-58D58277C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1963738"/>
            <a:ext cx="3600450" cy="1152525"/>
          </a:xfrm>
          <a:prstGeom prst="cloudCallout">
            <a:avLst>
              <a:gd name="adj1" fmla="val -17505"/>
              <a:gd name="adj2" fmla="val 102755"/>
            </a:avLst>
          </a:prstGeom>
          <a:noFill/>
          <a:ln w="254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/>
              <a:t>限定个体变量取值范围</a:t>
            </a:r>
          </a:p>
        </p:txBody>
      </p:sp>
      <p:sp>
        <p:nvSpPr>
          <p:cNvPr id="13317" name="Rectangle 7">
            <a:extLst>
              <a:ext uri="{FF2B5EF4-FFF2-40B4-BE49-F238E27FC236}">
                <a16:creationId xmlns:a16="http://schemas.microsoft.com/office/drawing/2014/main" id="{8790E594-F523-4E8C-B4C9-59D70E9A5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776663"/>
            <a:ext cx="2016125" cy="550862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18" name="Line 8">
            <a:extLst>
              <a:ext uri="{FF2B5EF4-FFF2-40B4-BE49-F238E27FC236}">
                <a16:creationId xmlns:a16="http://schemas.microsoft.com/office/drawing/2014/main" id="{DB002937-DE7E-221A-A391-9A446635ED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4200" y="4424363"/>
            <a:ext cx="1079500" cy="1008062"/>
          </a:xfrm>
          <a:prstGeom prst="line">
            <a:avLst/>
          </a:prstGeom>
          <a:noFill/>
          <a:ln w="38100">
            <a:solidFill>
              <a:srgbClr val="CC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E2725E8-5279-014C-6117-96CE53580FD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1"/>
            <a:ext cx="7315200" cy="16581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A(x)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是奇数。 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P(x)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能被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整除。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所有奇数都不能被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整除，可翻译为（    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298FE2-8CC9-E4FD-50FE-09D0221F07A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 </a:t>
            </a:r>
            <a:r>
              <a:rPr lang="zh-CN" altLang="en-US" sz="2800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x(A(x)→</a:t>
            </a:r>
            <a:r>
              <a:rPr lang="en-US" altLang="zh-CN" sz="3200" dirty="0"/>
              <a:t>┐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P(x))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42B9B7-9035-576E-47DC-74AD219C083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 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x(A(x)→</a:t>
            </a:r>
            <a:r>
              <a:rPr lang="en-US" altLang="zh-CN" sz="3200" dirty="0"/>
              <a:t>┐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P(x))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FD7269-C85C-B5CA-2E11-B1037439CF6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 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x(A(x)</a:t>
            </a:r>
            <a:r>
              <a:rPr lang="en-US" altLang="zh-CN" sz="2800" dirty="0">
                <a:solidFill>
                  <a:srgbClr val="FF00FF"/>
                </a:solidFill>
              </a:rPr>
              <a:t> </a:t>
            </a:r>
            <a:r>
              <a:rPr lang="en-US" altLang="zh-CN" sz="2800" dirty="0"/>
              <a:t>∧ </a:t>
            </a:r>
            <a:r>
              <a:rPr lang="en-US" altLang="zh-CN" sz="3200" dirty="0"/>
              <a:t>┐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P(x))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BE38DA-D9A0-FBD1-A64C-95A67CDE18A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</a:t>
            </a:r>
            <a:r>
              <a:rPr lang="zh-CN" altLang="en-US" sz="2800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x(A(x)</a:t>
            </a:r>
            <a:r>
              <a:rPr lang="en-US" altLang="zh-CN" sz="2400" dirty="0"/>
              <a:t> ∧ </a:t>
            </a:r>
            <a:r>
              <a:rPr lang="en-US" altLang="zh-CN" sz="3200" dirty="0"/>
              <a:t>┐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P(x))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62EE175-00F1-0F5F-104C-4F58217A4645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51CDFB3-2694-1464-26A7-629D7580056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D6B1DF5-C7CB-AB9F-C338-1C4DE634B27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1F03749-EEFA-9FEB-1FD0-4CC5D4C5AA6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9CF3937-A3D5-AF66-691E-99DB86219B2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49ABFE0-8FD7-7018-7296-9711AA31E07D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3DEB4632-B141-B243-69D5-50ACE74870F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7D12E862-2A20-4C42-227D-2F70139BEE6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7AEAB9A7-1C44-3BF9-3DC5-387EA92238F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A1DF8800-E95C-D5F2-1652-473A2EF9EDA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36A819E9-605D-3FEF-B19D-C76537996AC3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67706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E2725E8-5279-014C-6117-96CE53580FD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1"/>
            <a:ext cx="7315200" cy="16581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A(x)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是奇数。 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P(x)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能被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整除。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有的奇数能被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整除，可翻译为（    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298FE2-8CC9-E4FD-50FE-09D0221F07A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 </a:t>
            </a:r>
            <a:r>
              <a:rPr lang="zh-CN" altLang="en-US" sz="2800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x(A(x)→P(x))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42B9B7-9035-576E-47DC-74AD219C083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 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x(A(x)→P(x))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FD7269-C85C-B5CA-2E11-B1037439CF6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 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x(A(x)</a:t>
            </a:r>
            <a:r>
              <a:rPr lang="en-US" altLang="zh-CN" sz="2800" dirty="0">
                <a:solidFill>
                  <a:srgbClr val="FF00FF"/>
                </a:solidFill>
              </a:rPr>
              <a:t> </a:t>
            </a:r>
            <a:r>
              <a:rPr lang="en-US" altLang="zh-CN" sz="2800" dirty="0"/>
              <a:t>∧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P(x))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BE38DA-D9A0-FBD1-A64C-95A67CDE18A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 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x(A(x)</a:t>
            </a:r>
            <a:r>
              <a:rPr lang="en-US" altLang="zh-CN" sz="2400" dirty="0"/>
              <a:t> ∧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P(x))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62EE175-00F1-0F5F-104C-4F58217A4645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51CDFB3-2694-1464-26A7-629D7580056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D6B1DF5-C7CB-AB9F-C338-1C4DE634B27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1F03749-EEFA-9FEB-1FD0-4CC5D4C5AA6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9CF3937-A3D5-AF66-691E-99DB86219B2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49ABFE0-8FD7-7018-7296-9711AA31E07D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3DEB4632-B141-B243-69D5-50ACE74870F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7D12E862-2A20-4C42-227D-2F70139BEE6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7AEAB9A7-1C44-3BF9-3DC5-387EA92238F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A1DF8800-E95C-D5F2-1652-473A2EF9EDA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36A819E9-605D-3FEF-B19D-C76537996AC3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06637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E858DCF-225F-11E1-8720-2027E25D28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2.2.2 </a:t>
            </a:r>
            <a:r>
              <a:rPr lang="zh-CN" altLang="en-US"/>
              <a:t>量词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5B28778-99E0-2849-89E8-48537F910B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844675"/>
            <a:ext cx="8415338" cy="5040313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2.2.4</a:t>
            </a:r>
            <a:r>
              <a:rPr lang="en-US" altLang="zh-CN"/>
              <a:t> </a:t>
            </a:r>
            <a:r>
              <a:rPr lang="zh-CN" altLang="en-US"/>
              <a:t>翻译命题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/>
              <a:t>   每个实数都是有理数。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(1)</a:t>
            </a:r>
            <a:r>
              <a:rPr lang="zh-CN" altLang="en-US"/>
              <a:t>全总个体域   </a:t>
            </a:r>
            <a:r>
              <a:rPr lang="en-US" altLang="zh-CN"/>
              <a:t>(2)</a:t>
            </a:r>
            <a:r>
              <a:rPr lang="zh-CN" altLang="en-US"/>
              <a:t>实数集     </a:t>
            </a:r>
            <a:endParaRPr lang="en-US" altLang="zh-CN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 b="1">
                <a:solidFill>
                  <a:schemeClr val="hlink"/>
                </a:solidFill>
              </a:rPr>
              <a:t>解</a:t>
            </a:r>
            <a:r>
              <a:rPr lang="zh-CN" altLang="en-US"/>
              <a:t> 设</a:t>
            </a:r>
            <a:r>
              <a:rPr lang="en-US" altLang="zh-CN"/>
              <a:t>A(x)</a:t>
            </a:r>
            <a:r>
              <a:rPr lang="zh-CN" altLang="en-US"/>
              <a:t>：</a:t>
            </a:r>
            <a:r>
              <a:rPr lang="en-US" altLang="zh-CN"/>
              <a:t>x</a:t>
            </a:r>
            <a:r>
              <a:rPr lang="zh-CN" altLang="en-US"/>
              <a:t>是实数。           特性谓词</a:t>
            </a:r>
            <a:endParaRPr lang="en-US" altLang="zh-CN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 P(x)</a:t>
            </a:r>
            <a:r>
              <a:rPr lang="zh-CN" altLang="en-US"/>
              <a:t>：</a:t>
            </a:r>
            <a:r>
              <a:rPr lang="en-US" altLang="zh-CN"/>
              <a:t>x</a:t>
            </a:r>
            <a:r>
              <a:rPr lang="zh-CN" altLang="en-US"/>
              <a:t>是有理数。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>
                <a:solidFill>
                  <a:srgbClr val="0000FF"/>
                </a:solidFill>
              </a:rPr>
              <a:t>(1)</a:t>
            </a:r>
            <a:r>
              <a:rPr lang="zh-CN" altLang="en-US"/>
              <a:t>翻译为</a:t>
            </a:r>
            <a:r>
              <a:rPr lang="zh-CN" altLang="en-US">
                <a:solidFill>
                  <a:srgbClr val="FF00FF"/>
                </a:solidFill>
                <a:sym typeface="Symbol" panose="05050102010706020507" pitchFamily="18" charset="2"/>
              </a:rPr>
              <a:t></a:t>
            </a:r>
            <a:r>
              <a:rPr lang="en-US" altLang="zh-CN"/>
              <a:t>x(</a:t>
            </a:r>
            <a:r>
              <a:rPr lang="en-US" altLang="zh-CN">
                <a:solidFill>
                  <a:schemeClr val="accent1"/>
                </a:solidFill>
              </a:rPr>
              <a:t>A(x)</a:t>
            </a:r>
            <a:r>
              <a:rPr lang="en-US" altLang="zh-CN">
                <a:solidFill>
                  <a:srgbClr val="FF00FF"/>
                </a:solidFill>
              </a:rPr>
              <a:t>→</a:t>
            </a:r>
            <a:r>
              <a:rPr lang="en-US" altLang="zh-CN"/>
              <a:t>P(x))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/>
              <a:t>   (2)</a:t>
            </a:r>
            <a:r>
              <a:rPr lang="zh-CN" altLang="en-US"/>
              <a:t>翻译为</a:t>
            </a:r>
            <a:r>
              <a:rPr lang="zh-CN" altLang="en-US">
                <a:solidFill>
                  <a:srgbClr val="FF00FF"/>
                </a:solidFill>
                <a:sym typeface="Symbol" panose="05050102010706020507" pitchFamily="18" charset="2"/>
              </a:rPr>
              <a:t></a:t>
            </a:r>
            <a:r>
              <a:rPr lang="en-US" altLang="zh-CN"/>
              <a:t>xP(x)</a:t>
            </a:r>
          </a:p>
        </p:txBody>
      </p:sp>
      <p:sp>
        <p:nvSpPr>
          <p:cNvPr id="14340" name="AutoShape 6">
            <a:extLst>
              <a:ext uri="{FF2B5EF4-FFF2-40B4-BE49-F238E27FC236}">
                <a16:creationId xmlns:a16="http://schemas.microsoft.com/office/drawing/2014/main" id="{B4E01FED-B81B-BCAB-1B7D-6C4B258A4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205038"/>
            <a:ext cx="3600450" cy="1152525"/>
          </a:xfrm>
          <a:prstGeom prst="cloudCallout">
            <a:avLst>
              <a:gd name="adj1" fmla="val -17505"/>
              <a:gd name="adj2" fmla="val 102755"/>
            </a:avLst>
          </a:prstGeom>
          <a:noFill/>
          <a:ln w="254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/>
              <a:t>限定个体变量取值范围</a:t>
            </a:r>
          </a:p>
        </p:txBody>
      </p:sp>
      <p:sp>
        <p:nvSpPr>
          <p:cNvPr id="14341" name="Rectangle 7">
            <a:extLst>
              <a:ext uri="{FF2B5EF4-FFF2-40B4-BE49-F238E27FC236}">
                <a16:creationId xmlns:a16="http://schemas.microsoft.com/office/drawing/2014/main" id="{81252173-544D-0913-E58D-8783CCCB8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5688" y="4030663"/>
            <a:ext cx="2016125" cy="550862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42" name="Line 8">
            <a:extLst>
              <a:ext uri="{FF2B5EF4-FFF2-40B4-BE49-F238E27FC236}">
                <a16:creationId xmlns:a16="http://schemas.microsoft.com/office/drawing/2014/main" id="{E1756CE1-81FB-003F-4089-5FA42FC7D9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24300" y="4724400"/>
            <a:ext cx="3219450" cy="792163"/>
          </a:xfrm>
          <a:prstGeom prst="line">
            <a:avLst/>
          </a:prstGeom>
          <a:noFill/>
          <a:ln w="38100">
            <a:solidFill>
              <a:srgbClr val="CC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59B2707-7394-E970-4DC7-568D07C922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2.2.2 </a:t>
            </a:r>
            <a:r>
              <a:rPr lang="zh-CN" altLang="en-US"/>
              <a:t>量词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F8AE6F5-42A4-36C0-6F6D-161215158D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424862" cy="5040313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2.2.5</a:t>
            </a:r>
            <a:r>
              <a:rPr lang="en-US" altLang="zh-CN"/>
              <a:t> </a:t>
            </a:r>
            <a:r>
              <a:rPr lang="zh-CN" altLang="en-US"/>
              <a:t>翻译命题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/>
              <a:t>   每个人若喜爱步行，那他就不喜爱乘汽车。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(1)</a:t>
            </a:r>
            <a:r>
              <a:rPr lang="zh-CN" altLang="en-US"/>
              <a:t>全总个体域   </a:t>
            </a:r>
            <a:r>
              <a:rPr lang="en-US" altLang="zh-CN"/>
              <a:t>(2)</a:t>
            </a:r>
            <a:r>
              <a:rPr lang="zh-CN" altLang="en-US"/>
              <a:t>人类集     </a:t>
            </a:r>
            <a:endParaRPr lang="en-US" altLang="zh-CN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 b="1">
                <a:solidFill>
                  <a:schemeClr val="hlink"/>
                </a:solidFill>
              </a:rPr>
              <a:t>解</a:t>
            </a:r>
            <a:r>
              <a:rPr lang="zh-CN" altLang="en-US"/>
              <a:t>设</a:t>
            </a:r>
            <a:r>
              <a:rPr lang="en-US" altLang="zh-CN"/>
              <a:t>P(x)</a:t>
            </a:r>
            <a:r>
              <a:rPr lang="zh-CN" altLang="en-US"/>
              <a:t>：</a:t>
            </a:r>
            <a:r>
              <a:rPr lang="en-US" altLang="zh-CN"/>
              <a:t>x</a:t>
            </a:r>
            <a:r>
              <a:rPr lang="zh-CN" altLang="en-US"/>
              <a:t>是人。       </a:t>
            </a:r>
            <a:endParaRPr lang="en-US" altLang="zh-CN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A(x)</a:t>
            </a:r>
            <a:r>
              <a:rPr lang="zh-CN" altLang="en-US"/>
              <a:t>：</a:t>
            </a:r>
            <a:r>
              <a:rPr lang="en-US" altLang="zh-CN"/>
              <a:t>x</a:t>
            </a:r>
            <a:r>
              <a:rPr lang="zh-CN" altLang="en-US"/>
              <a:t>喜爱步行。</a:t>
            </a:r>
            <a:r>
              <a:rPr lang="en-US" altLang="zh-CN"/>
              <a:t> B(x)</a:t>
            </a:r>
            <a:r>
              <a:rPr lang="zh-CN" altLang="en-US"/>
              <a:t>：</a:t>
            </a:r>
            <a:r>
              <a:rPr lang="en-US" altLang="zh-CN"/>
              <a:t>x</a:t>
            </a:r>
            <a:r>
              <a:rPr lang="zh-CN" altLang="en-US"/>
              <a:t>喜爱乘汽车。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>
                <a:solidFill>
                  <a:srgbClr val="0000FF"/>
                </a:solidFill>
              </a:rPr>
              <a:t>(1)</a:t>
            </a:r>
            <a:r>
              <a:rPr lang="zh-CN" altLang="en-US"/>
              <a:t>翻译为</a:t>
            </a:r>
            <a:r>
              <a:rPr lang="zh-CN" altLang="en-US">
                <a:solidFill>
                  <a:srgbClr val="FF00FF"/>
                </a:solidFill>
                <a:sym typeface="Symbol" panose="05050102010706020507" pitchFamily="18" charset="2"/>
              </a:rPr>
              <a:t></a:t>
            </a:r>
            <a:r>
              <a:rPr lang="en-US" altLang="zh-CN"/>
              <a:t>x(</a:t>
            </a:r>
            <a:r>
              <a:rPr lang="en-US" altLang="zh-CN">
                <a:solidFill>
                  <a:schemeClr val="accent1"/>
                </a:solidFill>
              </a:rPr>
              <a:t>P(x)</a:t>
            </a:r>
            <a:r>
              <a:rPr lang="en-US" altLang="zh-CN">
                <a:solidFill>
                  <a:srgbClr val="FF00FF"/>
                </a:solidFill>
              </a:rPr>
              <a:t>→</a:t>
            </a:r>
            <a:r>
              <a:rPr lang="en-US" altLang="zh-CN">
                <a:solidFill>
                  <a:srgbClr val="339933"/>
                </a:solidFill>
              </a:rPr>
              <a:t>(</a:t>
            </a:r>
            <a:r>
              <a:rPr lang="en-US" altLang="zh-CN"/>
              <a:t>A(x)→┐B(x)</a:t>
            </a:r>
            <a:r>
              <a:rPr lang="en-US" altLang="zh-CN">
                <a:solidFill>
                  <a:srgbClr val="339933"/>
                </a:solidFill>
              </a:rPr>
              <a:t>)</a:t>
            </a:r>
            <a:r>
              <a:rPr lang="en-US" altLang="zh-CN"/>
              <a:t>)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/>
              <a:t>   (2)</a:t>
            </a:r>
            <a:r>
              <a:rPr lang="zh-CN" altLang="en-US"/>
              <a:t>翻译为</a:t>
            </a:r>
            <a:r>
              <a:rPr lang="zh-CN" altLang="en-US">
                <a:solidFill>
                  <a:srgbClr val="FF00FF"/>
                </a:solidFill>
                <a:sym typeface="Symbol" panose="05050102010706020507" pitchFamily="18" charset="2"/>
              </a:rPr>
              <a:t></a:t>
            </a:r>
            <a:r>
              <a:rPr lang="en-US" altLang="zh-CN"/>
              <a:t>x(A(x)→┐B(x))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1FC6549-8E90-E0DA-9F83-6A873EBF7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2.2.2 </a:t>
            </a:r>
            <a:r>
              <a:rPr lang="zh-CN" altLang="en-US"/>
              <a:t>量词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FBEED2F-73EC-2496-2EFC-2EEEEA003A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424862" cy="5040313"/>
          </a:xfrm>
        </p:spPr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2.2.6</a:t>
            </a:r>
            <a:r>
              <a:rPr lang="en-US" altLang="zh-CN"/>
              <a:t> </a:t>
            </a:r>
            <a:r>
              <a:rPr lang="zh-CN" altLang="en-US"/>
              <a:t>翻译命题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/>
              <a:t>   甲村人与乙村人都同姓。</a:t>
            </a:r>
            <a:endParaRPr lang="en-US" altLang="zh-CN"/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hlink"/>
                </a:solidFill>
              </a:rPr>
              <a:t>   解 </a:t>
            </a:r>
            <a:r>
              <a:rPr lang="zh-CN" altLang="en-US"/>
              <a:t>设</a:t>
            </a:r>
            <a:r>
              <a:rPr lang="en-US" altLang="zh-CN"/>
              <a:t>A(x)</a:t>
            </a:r>
            <a:r>
              <a:rPr lang="zh-CN" altLang="en-US"/>
              <a:t>：</a:t>
            </a:r>
            <a:r>
              <a:rPr lang="en-US" altLang="zh-CN"/>
              <a:t>x</a:t>
            </a:r>
            <a:r>
              <a:rPr lang="zh-CN" altLang="en-US"/>
              <a:t>是甲村人。</a:t>
            </a:r>
            <a:r>
              <a:rPr lang="en-US" altLang="zh-CN"/>
              <a:t> B(y)</a:t>
            </a:r>
            <a:r>
              <a:rPr lang="zh-CN" altLang="en-US"/>
              <a:t>：</a:t>
            </a:r>
            <a:r>
              <a:rPr lang="en-US" altLang="zh-CN"/>
              <a:t>y</a:t>
            </a:r>
            <a:r>
              <a:rPr lang="zh-CN" altLang="en-US"/>
              <a:t>是乙村人。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P(x,y)</a:t>
            </a:r>
            <a:r>
              <a:rPr lang="zh-CN" altLang="en-US"/>
              <a:t>：</a:t>
            </a:r>
            <a:r>
              <a:rPr lang="en-US" altLang="zh-CN"/>
              <a:t>x</a:t>
            </a:r>
            <a:r>
              <a:rPr lang="zh-CN" altLang="en-US"/>
              <a:t>与</a:t>
            </a:r>
            <a:r>
              <a:rPr lang="en-US" altLang="zh-CN"/>
              <a:t>y</a:t>
            </a:r>
            <a:r>
              <a:rPr lang="zh-CN" altLang="en-US"/>
              <a:t>同姓。       </a:t>
            </a:r>
            <a:endParaRPr lang="en-US" altLang="zh-CN"/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FF00FF"/>
                </a:solidFill>
                <a:sym typeface="Symbol" panose="05050102010706020507" pitchFamily="18" charset="2"/>
              </a:rPr>
              <a:t>        </a:t>
            </a:r>
            <a:r>
              <a:rPr lang="zh-CN" altLang="en-US">
                <a:sym typeface="Symbol" panose="05050102010706020507" pitchFamily="18" charset="2"/>
              </a:rPr>
              <a:t>翻译为  </a:t>
            </a:r>
            <a:r>
              <a:rPr lang="zh-CN" altLang="en-US">
                <a:solidFill>
                  <a:srgbClr val="FF00FF"/>
                </a:solidFill>
                <a:sym typeface="Symbol" panose="05050102010706020507" pitchFamily="18" charset="2"/>
              </a:rPr>
              <a:t></a:t>
            </a:r>
            <a:r>
              <a:rPr lang="en-US" altLang="zh-CN"/>
              <a:t>x</a:t>
            </a:r>
            <a:r>
              <a:rPr lang="zh-CN" altLang="en-US">
                <a:solidFill>
                  <a:srgbClr val="FF00FF"/>
                </a:solidFill>
                <a:sym typeface="Symbol" panose="05050102010706020507" pitchFamily="18" charset="2"/>
              </a:rPr>
              <a:t></a:t>
            </a:r>
            <a:r>
              <a:rPr lang="en-US" altLang="zh-CN">
                <a:sym typeface="Symbol" panose="05050102010706020507" pitchFamily="18" charset="2"/>
              </a:rPr>
              <a:t>y</a:t>
            </a:r>
            <a:r>
              <a:rPr lang="en-US" altLang="zh-CN"/>
              <a:t>(</a:t>
            </a:r>
            <a:r>
              <a:rPr lang="en-US" altLang="zh-CN">
                <a:solidFill>
                  <a:srgbClr val="339933"/>
                </a:solidFill>
              </a:rPr>
              <a:t>(</a:t>
            </a:r>
            <a:r>
              <a:rPr lang="en-US" altLang="zh-CN"/>
              <a:t>A(x)</a:t>
            </a:r>
            <a:r>
              <a:rPr lang="en-US" altLang="zh-CN">
                <a:solidFill>
                  <a:srgbClr val="FF00FF"/>
                </a:solidFill>
              </a:rPr>
              <a:t>∧</a:t>
            </a:r>
            <a:r>
              <a:rPr lang="en-US" altLang="zh-CN"/>
              <a:t>B(y)</a:t>
            </a:r>
            <a:r>
              <a:rPr lang="en-US" altLang="zh-CN">
                <a:solidFill>
                  <a:srgbClr val="339933"/>
                </a:solidFill>
              </a:rPr>
              <a:t>)</a:t>
            </a:r>
            <a:r>
              <a:rPr lang="en-US" altLang="zh-CN">
                <a:solidFill>
                  <a:srgbClr val="FF00FF"/>
                </a:solidFill>
              </a:rPr>
              <a:t>→</a:t>
            </a:r>
            <a:r>
              <a:rPr lang="en-US" altLang="zh-CN"/>
              <a:t>P(x,y))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C2B53C3-B3ED-6542-0855-015048442BB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P(x)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是人，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Q(x)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是事物。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F(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x,y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过敏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有些人对某些事物过敏，可翻译为（    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FFF61A-96F2-2A26-049E-4015DC3232D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 </a:t>
            </a:r>
            <a:r>
              <a:rPr lang="zh-CN" altLang="en-US" sz="2800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400" dirty="0">
                <a:sym typeface="Symbol" panose="05050102010706020507" pitchFamily="18" charset="2"/>
              </a:rPr>
              <a:t> </a:t>
            </a:r>
            <a:r>
              <a:rPr lang="zh-CN" altLang="en-US" sz="2400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pt-BR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((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(x)</a:t>
            </a:r>
            <a:r>
              <a:rPr lang="en-US" altLang="zh-CN" sz="2400" dirty="0"/>
              <a:t> ∧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Q(y))→F(x,y))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020B6C-C1C7-C88D-B6E1-C1C38866A43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 </a:t>
            </a:r>
            <a:r>
              <a:rPr lang="zh-CN" altLang="en-US" sz="2800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400" dirty="0">
                <a:sym typeface="Symbol" panose="05050102010706020507" pitchFamily="18" charset="2"/>
              </a:rPr>
              <a:t> </a:t>
            </a:r>
            <a:r>
              <a:rPr lang="zh-CN" altLang="en-US" sz="2400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pt-BR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((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(x)</a:t>
            </a:r>
            <a:r>
              <a:rPr lang="en-US" altLang="zh-CN" sz="2400" dirty="0"/>
              <a:t> ∧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Q(y))→F(x,y))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6F3268-0813-06F5-236C-4EA8ED9E91C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 </a:t>
            </a:r>
            <a:r>
              <a:rPr lang="zh-CN" altLang="en-US" sz="2800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400" dirty="0">
                <a:sym typeface="Symbol" panose="05050102010706020507" pitchFamily="18" charset="2"/>
              </a:rPr>
              <a:t> </a:t>
            </a:r>
            <a:r>
              <a:rPr lang="zh-CN" altLang="en-US" sz="2400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pt-BR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(x)</a:t>
            </a:r>
            <a:r>
              <a:rPr lang="en-US" altLang="zh-CN" sz="2400" dirty="0"/>
              <a:t> ∧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Q(y)</a:t>
            </a:r>
            <a:r>
              <a:rPr lang="en-US" altLang="zh-CN" sz="2800" dirty="0"/>
              <a:t> ∧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F(x,y))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19AC9E6-426B-C4A9-0C50-AB3A1CA3935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 </a:t>
            </a:r>
            <a:r>
              <a:rPr lang="zh-CN" altLang="en-US" sz="2800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400" dirty="0">
                <a:sym typeface="Symbol" panose="05050102010706020507" pitchFamily="18" charset="2"/>
              </a:rPr>
              <a:t> </a:t>
            </a:r>
            <a:r>
              <a:rPr lang="zh-CN" altLang="en-US" sz="2400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pt-BR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(x)</a:t>
            </a:r>
            <a:r>
              <a:rPr lang="en-US" altLang="zh-CN" sz="2400" dirty="0"/>
              <a:t> ∧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Q(y)</a:t>
            </a:r>
            <a:r>
              <a:rPr lang="en-US" altLang="zh-CN" sz="2800" dirty="0"/>
              <a:t> ∧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F(x,y))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6A2A3B1-AFBB-411A-5B48-99D131C0928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F33C8E1-5E7C-A1F7-F31A-404ECF0297C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9E72F12-E96C-CA49-B762-63F72550C0C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ECEC0BF-9341-B5C9-EB39-D016996A0CE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FC5AA4E-FF4B-D43F-2BED-D57D6B836616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F278600-3FC5-B34E-5309-FD5BFC80EC8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885560C0-D7B3-3C6C-9959-D20110BE923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6E3C7FE0-72B6-9145-4925-B8643C56339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BFC3F080-F0A5-8F60-6B56-B8C2D6255FD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C20FB055-5697-A547-EC04-B294D1E1860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155C279F-59A2-7041-14CB-9F808DC2D75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01051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C2B53C3-B3ED-6542-0855-015048442BB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P(x)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是实数，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F(x,y,0)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+y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≥0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对任意实数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，均有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+y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≥0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，可翻译为（    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FFF61A-96F2-2A26-049E-4015DC3232D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 </a:t>
            </a:r>
            <a:r>
              <a:rPr lang="zh-CN" altLang="en-US" sz="2800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400" dirty="0">
                <a:sym typeface="Symbol" panose="05050102010706020507" pitchFamily="18" charset="2"/>
              </a:rPr>
              <a:t> </a:t>
            </a:r>
            <a:r>
              <a:rPr lang="zh-CN" altLang="en-US" sz="2400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pt-BR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((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(x)</a:t>
            </a:r>
            <a:r>
              <a:rPr lang="en-US" altLang="zh-CN" sz="2400" dirty="0"/>
              <a:t> ∧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(y))→F(x,y,0))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020B6C-C1C7-C88D-B6E1-C1C38866A43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 </a:t>
            </a:r>
            <a:r>
              <a:rPr lang="zh-CN" altLang="en-US" sz="2800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400" dirty="0">
                <a:sym typeface="Symbol" panose="05050102010706020507" pitchFamily="18" charset="2"/>
              </a:rPr>
              <a:t> </a:t>
            </a:r>
            <a:r>
              <a:rPr lang="zh-CN" altLang="en-US" sz="2400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pt-BR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((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(x)</a:t>
            </a:r>
            <a:r>
              <a:rPr lang="en-US" altLang="zh-CN" sz="2400" dirty="0"/>
              <a:t> ∧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P(y))→F(x,y,0))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6F3268-0813-06F5-236C-4EA8ED9E91C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 </a:t>
            </a:r>
            <a:r>
              <a:rPr lang="zh-CN" altLang="en-US" sz="2800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400" dirty="0">
                <a:sym typeface="Symbol" panose="05050102010706020507" pitchFamily="18" charset="2"/>
              </a:rPr>
              <a:t> </a:t>
            </a:r>
            <a:r>
              <a:rPr lang="zh-CN" altLang="en-US" sz="2400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pt-BR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(x)</a:t>
            </a:r>
            <a:r>
              <a:rPr lang="en-US" altLang="zh-CN" sz="2400" dirty="0"/>
              <a:t> ∧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P(y)</a:t>
            </a:r>
            <a:r>
              <a:rPr lang="en-US" altLang="zh-CN" sz="2800" dirty="0"/>
              <a:t> ∧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F(x,y,0))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19AC9E6-426B-C4A9-0C50-AB3A1CA3935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 </a:t>
            </a:r>
            <a:r>
              <a:rPr lang="zh-CN" altLang="en-US" sz="2800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400" dirty="0">
                <a:sym typeface="Symbol" panose="05050102010706020507" pitchFamily="18" charset="2"/>
              </a:rPr>
              <a:t> </a:t>
            </a:r>
            <a:r>
              <a:rPr lang="zh-CN" altLang="en-US" sz="2400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pt-BR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(x)</a:t>
            </a:r>
            <a:r>
              <a:rPr lang="en-US" altLang="zh-CN" sz="2400" dirty="0"/>
              <a:t> ∧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P(y)</a:t>
            </a:r>
            <a:r>
              <a:rPr lang="en-US" altLang="zh-CN" sz="2800" dirty="0"/>
              <a:t> ∧ 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F(x,y,0))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6A2A3B1-AFBB-411A-5B48-99D131C0928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F33C8E1-5E7C-A1F7-F31A-404ECF0297C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9E72F12-E96C-CA49-B762-63F72550C0C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ECEC0BF-9341-B5C9-EB39-D016996A0CE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FC5AA4E-FF4B-D43F-2BED-D57D6B836616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F278600-3FC5-B34E-5309-FD5BFC80EC8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885560C0-D7B3-3C6C-9959-D20110BE923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6E3C7FE0-72B6-9145-4925-B8643C56339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BFC3F080-F0A5-8F60-6B56-B8C2D6255FD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C20FB055-5697-A547-EC04-B294D1E1860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155C279F-59A2-7041-14CB-9F808DC2D75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8639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7CE0999-B957-CEF3-C49F-C1E8226ACF7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72644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习题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2.2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翻译命题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7.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6D2823A-85F8-8D77-38DA-FEAFC9792B5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7F783B0-D34F-D250-4D63-CE04D9C55934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ED7DC055-5FB6-1141-2BE9-9E1F4C3B80E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B7C36DE3-F19D-9EF1-AD30-348FE43DB6C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A9148453-6A81-EB5D-1F49-7F455F402EAC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39FE9078-3973-B8B8-73EB-A286B02DC701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DF58A4C-570F-328A-7289-DBF2C717DD92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512142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2053</TotalTime>
  <Words>1519</Words>
  <Application>Microsoft Office PowerPoint</Application>
  <PresentationFormat>全屏显示(4:3)</PresentationFormat>
  <Paragraphs>153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Microsoft Yahei</vt:lpstr>
      <vt:lpstr>Arial</vt:lpstr>
      <vt:lpstr>Tahoma</vt:lpstr>
      <vt:lpstr>Wingdings</vt:lpstr>
      <vt:lpstr>Blends</vt:lpstr>
      <vt:lpstr>2.2 命题函数与量词 </vt:lpstr>
      <vt:lpstr>2.2.1 命题函数</vt:lpstr>
      <vt:lpstr>2.2.1 命题函数 </vt:lpstr>
      <vt:lpstr>2.2.1 命题函数</vt:lpstr>
      <vt:lpstr>2.2.1 命题函数</vt:lpstr>
      <vt:lpstr>2.2.1 命题函数</vt:lpstr>
      <vt:lpstr>2.2.1 命题函数</vt:lpstr>
      <vt:lpstr>2.2.1 命题函数</vt:lpstr>
      <vt:lpstr>2.2.2 量词</vt:lpstr>
      <vt:lpstr>2.2.2 量词</vt:lpstr>
      <vt:lpstr>PowerPoint 演示文稿</vt:lpstr>
      <vt:lpstr>PowerPoint 演示文稿</vt:lpstr>
      <vt:lpstr>2.2.2 量词</vt:lpstr>
      <vt:lpstr>2.2.2 量词</vt:lpstr>
      <vt:lpstr>2.2.2 量词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LENOVO</cp:lastModifiedBy>
  <cp:revision>81</cp:revision>
  <dcterms:created xsi:type="dcterms:W3CDTF">2010-04-09T13:44:14Z</dcterms:created>
  <dcterms:modified xsi:type="dcterms:W3CDTF">2023-12-21T07:43:07Z</dcterms:modified>
</cp:coreProperties>
</file>