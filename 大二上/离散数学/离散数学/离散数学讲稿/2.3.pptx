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3"/>
  </p:notesMasterIdLst>
  <p:sldIdLst>
    <p:sldId id="314" r:id="rId2"/>
    <p:sldId id="315" r:id="rId3"/>
    <p:sldId id="316" r:id="rId4"/>
    <p:sldId id="317" r:id="rId5"/>
    <p:sldId id="360" r:id="rId6"/>
    <p:sldId id="318" r:id="rId7"/>
    <p:sldId id="363" r:id="rId8"/>
    <p:sldId id="348" r:id="rId9"/>
    <p:sldId id="361" r:id="rId10"/>
    <p:sldId id="362" r:id="rId11"/>
    <p:sldId id="319" r:id="rId12"/>
    <p:sldId id="349" r:id="rId13"/>
    <p:sldId id="333" r:id="rId14"/>
    <p:sldId id="350" r:id="rId15"/>
    <p:sldId id="322" r:id="rId16"/>
    <p:sldId id="323" r:id="rId17"/>
    <p:sldId id="325" r:id="rId18"/>
    <p:sldId id="326" r:id="rId19"/>
    <p:sldId id="327" r:id="rId20"/>
    <p:sldId id="328" r:id="rId21"/>
    <p:sldId id="364" r:id="rId22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66"/>
    <a:srgbClr val="FF00FF"/>
    <a:srgbClr val="FF0066"/>
    <a:srgbClr val="0066FF"/>
    <a:srgbClr val="008080"/>
    <a:srgbClr val="339933"/>
    <a:srgbClr val="00CC9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0" autoAdjust="0"/>
    <p:restoredTop sz="90738" autoAdjust="0"/>
  </p:normalViewPr>
  <p:slideViewPr>
    <p:cSldViewPr>
      <p:cViewPr varScale="1">
        <p:scale>
          <a:sx n="63" d="100"/>
          <a:sy n="63" d="100"/>
        </p:scale>
        <p:origin x="720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4E466D55-835F-AC34-8153-309A3214DD3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7CD4B61-F71E-FCC3-FF83-42F85E1F50F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A85DE5DF-73A2-4484-83D5-D0F62AB32EB4}" type="datetimeFigureOut">
              <a:rPr lang="zh-CN" altLang="en-US"/>
              <a:pPr>
                <a:defRPr/>
              </a:pPr>
              <a:t>2023/12/21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640A6CD2-5895-B80A-DC6B-0770281522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8C989CEB-30F4-336A-6A12-F0F6D47578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3A16382-CB12-DE88-75B5-F7BCF1C3501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C99AD79-3730-5DC1-2C53-CEED8E2EA2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6CBBCCC-265A-43D8-9A8F-28F614815305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幻灯片图像占位符 1">
            <a:extLst>
              <a:ext uri="{FF2B5EF4-FFF2-40B4-BE49-F238E27FC236}">
                <a16:creationId xmlns:a16="http://schemas.microsoft.com/office/drawing/2014/main" id="{745AD218-3220-46CD-188E-E3953E2723C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备注占位符 2">
            <a:extLst>
              <a:ext uri="{FF2B5EF4-FFF2-40B4-BE49-F238E27FC236}">
                <a16:creationId xmlns:a16="http://schemas.microsoft.com/office/drawing/2014/main" id="{51EE13BC-4827-1FD7-5923-96C5CDD0242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24580" name="灯片编号占位符 3">
            <a:extLst>
              <a:ext uri="{FF2B5EF4-FFF2-40B4-BE49-F238E27FC236}">
                <a16:creationId xmlns:a16="http://schemas.microsoft.com/office/drawing/2014/main" id="{964DDDE3-9A93-8F72-2D21-D05AE2D4BB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5B1D10D-23F9-4AB4-A26C-D5D364524577}" type="slidenum">
              <a:rPr lang="zh-CN" altLang="en-US"/>
              <a:pPr eaLnBrk="1" hangingPunct="1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幻灯片图像占位符 1">
            <a:extLst>
              <a:ext uri="{FF2B5EF4-FFF2-40B4-BE49-F238E27FC236}">
                <a16:creationId xmlns:a16="http://schemas.microsoft.com/office/drawing/2014/main" id="{745AD218-3220-46CD-188E-E3953E2723C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备注占位符 2">
            <a:extLst>
              <a:ext uri="{FF2B5EF4-FFF2-40B4-BE49-F238E27FC236}">
                <a16:creationId xmlns:a16="http://schemas.microsoft.com/office/drawing/2014/main" id="{51EE13BC-4827-1FD7-5923-96C5CDD0242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24580" name="灯片编号占位符 3">
            <a:extLst>
              <a:ext uri="{FF2B5EF4-FFF2-40B4-BE49-F238E27FC236}">
                <a16:creationId xmlns:a16="http://schemas.microsoft.com/office/drawing/2014/main" id="{964DDDE3-9A93-8F72-2D21-D05AE2D4BB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5B1D10D-23F9-4AB4-A26C-D5D364524577}" type="slidenum">
              <a:rPr lang="zh-CN" altLang="en-US"/>
              <a:pPr eaLnBrk="1" hangingPunct="1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45637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E19A424-95E5-F31A-5A88-1786182B5B5E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BA908B51-29AD-28DF-233E-720D7B912A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3557430B-DD41-EEA2-155A-AABA87E533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FF3B15CE-E53C-9DFA-FFDB-AFCCD1CC6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36C603CA-F80A-B6DB-96A1-DFB05CC434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D791357-44BE-638F-6C95-277AFA8CC5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3E6E712-76E3-C584-AB84-74B2FE347E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9C5CA9E9-ED3B-7240-0FC6-01FA5DAC46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E6162383-A75A-7FEB-057F-59F9107968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CB4BB953-36BF-4FAD-CC53-57B409B2B2D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513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F9988394-5DC9-EC88-E25B-6DFE85319D8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6015818F-5F68-8859-A4E3-0137BF7A979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470F1A94-8974-45EB-6679-F5571E796E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2DB9BDF-D80F-42FA-BEF9-45E22EE7E8C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1572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59C34C5C-526B-303E-E460-72C6D975571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6DE7F006-5D31-91FE-A5A9-D6FD25D2115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3616A376-3CD6-6FD3-5649-68FACFCBE3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74B64DE-F30D-48A4-8087-4B5109BC91A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73500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D970D9A2-C56C-A583-C8A7-5C231A05BAD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60ABD683-BBAB-5218-FBB9-4B9ACFD258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926ED7D7-5BE6-A6F3-CFE2-9910BC5677B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1214B3D-CFFC-41FC-B3C0-7B6678E3886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01336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26A7A8DB-02FB-BC91-92BA-C5601F56978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7BBD15F3-8378-5638-267E-8B195D1FFFA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6C3DDDB3-3431-3B9B-480B-0DE38F0FE1A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2FFCB30-C8E2-4B31-8E26-722372D7B2E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62400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AA7A26A9-1370-6153-106A-FCEA81AD86A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8007C475-F394-F719-8717-E020C309BD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E1601FC4-5FDB-3BD1-E8C8-96720CA1339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D4D2FC8-3D86-407F-AC64-31C7C380591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79405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B114F72D-78BC-13EC-6507-2C01EDE0870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F6288127-2549-35FB-6BC3-90F80B273F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03620AEE-AB89-6325-E030-3B696828A1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25B9CFC-F0EE-4393-986D-AF7C0F24C1A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87156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6388D80E-9E13-9407-CAD2-826EF4CC2D0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E4733442-6763-C58C-BC92-86FAE607ED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47CD563C-EF18-5005-9E87-A25C18F25E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FDFEFC-8EE4-452D-948E-8B1E8CCA2E6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35285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6D23CF32-2623-5A69-B8BF-7C728E37818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492EAB16-6B44-BABF-54D5-203CA436ABA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B161EFCC-45E7-0C59-4621-D438B09079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30B4159-7CEE-4A7D-A7AC-B0E3DBFA5F5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76011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C901089C-7D06-FAF6-4AF4-170F898DE7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38CC829B-A65A-6EF1-8F86-9A65E0A8E91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FF5C6077-2F20-2D2A-6EE0-E217A26F6E1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18DFB6-C435-4F62-A72B-5D0BB505DFA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70222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DE01B8AC-6A4F-251F-32DA-8BE0A0CE943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8C8F35D3-7256-0DC9-6D3E-2A24B7FB53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1AEF239B-2BE7-85FC-163A-81214C6406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D436D9-4FDA-4B73-AA8B-8CC2B7E3027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17292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23D508F1-FCBB-B593-FAC4-337AFEB901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DF9C32E1-AEA3-62AB-E54B-B7055B147B3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932616EB-02FF-D0F0-012C-4255B4B7D3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F5BB03A-6796-45D1-9D02-78891156849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60551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9BB68C6-C973-BE2A-17DA-7A9C4A84126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96A4E65-80DB-D5EA-5E5F-453BC0B739A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197037B-10A9-C762-BA47-A9923D6184D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3CE9277-3770-679F-2E29-EDD3D4C9CFF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DA23309-9A2B-A47F-5061-D4D5E7BF965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D8F840A7-98B8-7D59-7CA7-AD7E0C2E47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7C962797-C00E-658C-C158-6E2443BF6A69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741D3F12-3EF2-5A99-42F3-2BDEE093A3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BEFE20BB-6828-75EB-EF37-A78628E45E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7" name="Rectangle 11">
            <a:extLst>
              <a:ext uri="{FF2B5EF4-FFF2-40B4-BE49-F238E27FC236}">
                <a16:creationId xmlns:a16="http://schemas.microsoft.com/office/drawing/2014/main" id="{D5486C44-4BE9-36B0-EAEA-D0D91694888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8" name="Rectangle 12">
            <a:extLst>
              <a:ext uri="{FF2B5EF4-FFF2-40B4-BE49-F238E27FC236}">
                <a16:creationId xmlns:a16="http://schemas.microsoft.com/office/drawing/2014/main" id="{74DCF9FA-448F-7399-8AF7-2A7F0C07C98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9" name="Rectangle 13">
            <a:extLst>
              <a:ext uri="{FF2B5EF4-FFF2-40B4-BE49-F238E27FC236}">
                <a16:creationId xmlns:a16="http://schemas.microsoft.com/office/drawing/2014/main" id="{51D701A2-26DB-A445-EF47-18E03A41E69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67B09E4-54E7-4C09-9DFB-97498EE432D0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1.tmp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19" Type="http://schemas.openxmlformats.org/officeDocument/2006/relationships/image" Target="../media/image1.tmp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17" Type="http://schemas.openxmlformats.org/officeDocument/2006/relationships/tags" Target="../tags/tag51.xml"/><Relationship Id="rId2" Type="http://schemas.openxmlformats.org/officeDocument/2006/relationships/tags" Target="../tags/tag36.xml"/><Relationship Id="rId16" Type="http://schemas.openxmlformats.org/officeDocument/2006/relationships/tags" Target="../tags/tag50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5" Type="http://schemas.openxmlformats.org/officeDocument/2006/relationships/tags" Target="../tags/tag49.xml"/><Relationship Id="rId10" Type="http://schemas.openxmlformats.org/officeDocument/2006/relationships/tags" Target="../tags/tag44.xml"/><Relationship Id="rId19" Type="http://schemas.openxmlformats.org/officeDocument/2006/relationships/image" Target="../media/image1.tmp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tags" Target="../tags/tag4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59.xml"/><Relationship Id="rId3" Type="http://schemas.openxmlformats.org/officeDocument/2006/relationships/tags" Target="../tags/tag54.xml"/><Relationship Id="rId7" Type="http://schemas.openxmlformats.org/officeDocument/2006/relationships/tags" Target="../tags/tag58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11" Type="http://schemas.openxmlformats.org/officeDocument/2006/relationships/image" Target="../media/image1.tmp"/><Relationship Id="rId5" Type="http://schemas.openxmlformats.org/officeDocument/2006/relationships/tags" Target="../tags/tag56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55.xml"/><Relationship Id="rId9" Type="http://schemas.openxmlformats.org/officeDocument/2006/relationships/tags" Target="../tags/tag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D451E218-662C-0AE3-4C44-1DAC75E5D8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2.3 </a:t>
            </a:r>
            <a:r>
              <a:rPr lang="zh-CN" altLang="en-US" b="1"/>
              <a:t>谓词公式与约束变元</a:t>
            </a:r>
            <a:r>
              <a:rPr lang="zh-CN" altLang="en-US"/>
              <a:t> 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96866240-7CEE-4FA5-13F6-DFD2DC0F74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0113" y="1988840"/>
            <a:ext cx="8054975" cy="4840287"/>
          </a:xfrm>
        </p:spPr>
        <p:txBody>
          <a:bodyPr/>
          <a:lstStyle/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sz="4000"/>
              <a:t>2.3.1 </a:t>
            </a:r>
            <a:r>
              <a:rPr lang="zh-CN" altLang="en-US" sz="4000" b="1"/>
              <a:t>谓词公式的概念</a:t>
            </a:r>
            <a:r>
              <a:rPr lang="zh-CN" altLang="en-US" sz="4000"/>
              <a:t> 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sz="4000"/>
              <a:t>2.3.2 </a:t>
            </a:r>
            <a:r>
              <a:rPr lang="zh-CN" altLang="en-US" sz="4000" b="1"/>
              <a:t>约束变元与自由变元</a:t>
            </a:r>
            <a:r>
              <a:rPr lang="zh-CN" altLang="en-US" sz="4000"/>
              <a:t> 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sz="4000"/>
              <a:t>2.3.3 </a:t>
            </a:r>
            <a:r>
              <a:rPr lang="zh-CN" altLang="en-US" sz="4000" b="1"/>
              <a:t>谓词翻译</a:t>
            </a:r>
            <a:r>
              <a:rPr lang="zh-CN" altLang="en-US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7D9F8AF-0170-2D53-B5AA-94327D2939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2.3.1 </a:t>
            </a:r>
            <a:r>
              <a:rPr lang="zh-CN" altLang="en-US" sz="5400"/>
              <a:t>谓词公式的概念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D87B8764-97DE-6BB3-35A2-17FB7B30E5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773238"/>
            <a:ext cx="8343900" cy="5084762"/>
          </a:xfrm>
        </p:spPr>
        <p:txBody>
          <a:bodyPr/>
          <a:lstStyle/>
          <a:p>
            <a:pPr eaLnBrk="1" hangingPunct="1">
              <a:lnSpc>
                <a:spcPct val="115000"/>
              </a:lnSpc>
            </a:pPr>
            <a:r>
              <a:rPr lang="zh-CN" altLang="en-US" sz="2800" b="1">
                <a:solidFill>
                  <a:schemeClr val="hlink"/>
                </a:solidFill>
              </a:rPr>
              <a:t>谓词公式</a:t>
            </a:r>
            <a:r>
              <a:rPr lang="en-US" altLang="zh-CN" sz="2800"/>
              <a:t>(</a:t>
            </a:r>
            <a:r>
              <a:rPr lang="en-US" altLang="zh-CN" sz="2800">
                <a:solidFill>
                  <a:schemeClr val="hlink"/>
                </a:solidFill>
              </a:rPr>
              <a:t>predicate foumula</a:t>
            </a:r>
            <a:r>
              <a:rPr lang="en-US" altLang="zh-CN" sz="2800"/>
              <a:t>)</a:t>
            </a:r>
            <a:r>
              <a:rPr lang="zh-CN" altLang="en-US" sz="2800"/>
              <a:t>规定为</a:t>
            </a:r>
            <a:r>
              <a:rPr lang="en-US" altLang="zh-CN" sz="2800"/>
              <a:t>:</a:t>
            </a:r>
            <a:br>
              <a:rPr lang="en-US" altLang="zh-CN" sz="2800"/>
            </a:br>
            <a:r>
              <a:rPr lang="en-US" altLang="zh-CN" sz="2800"/>
              <a:t> (1)n</a:t>
            </a:r>
            <a:r>
              <a:rPr lang="zh-CN" altLang="en-US" sz="2800"/>
              <a:t>元谓词是谓词公式；</a:t>
            </a:r>
          </a:p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zh-CN" altLang="en-US" sz="2800"/>
              <a:t>    </a:t>
            </a:r>
            <a:r>
              <a:rPr lang="en-US" altLang="zh-CN" sz="2800"/>
              <a:t>(2)</a:t>
            </a:r>
            <a:r>
              <a:rPr lang="zh-CN" altLang="en-US" sz="2800"/>
              <a:t>若</a:t>
            </a:r>
            <a:r>
              <a:rPr lang="en-US" altLang="zh-CN" sz="2800"/>
              <a:t>P</a:t>
            </a:r>
            <a:r>
              <a:rPr lang="zh-CN" altLang="en-US" sz="2800"/>
              <a:t>是谓词公式，那么┐</a:t>
            </a:r>
            <a:r>
              <a:rPr lang="en-US" altLang="zh-CN" sz="2800"/>
              <a:t>P</a:t>
            </a:r>
            <a:r>
              <a:rPr lang="zh-CN" altLang="en-US" sz="2800"/>
              <a:t>是谓词公式；</a:t>
            </a:r>
          </a:p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zh-CN" altLang="en-US" sz="2800"/>
              <a:t>    </a:t>
            </a:r>
            <a:r>
              <a:rPr lang="en-US" altLang="zh-CN" sz="2800"/>
              <a:t>(3)</a:t>
            </a:r>
            <a:r>
              <a:rPr lang="zh-CN" altLang="en-US" sz="2800"/>
              <a:t>若</a:t>
            </a:r>
            <a:r>
              <a:rPr lang="en-US" altLang="zh-CN" sz="2800"/>
              <a:t>P</a:t>
            </a:r>
            <a:r>
              <a:rPr lang="zh-CN" altLang="en-US" sz="2800"/>
              <a:t>与</a:t>
            </a:r>
            <a:r>
              <a:rPr lang="en-US" altLang="zh-CN" sz="2800"/>
              <a:t>Q</a:t>
            </a:r>
            <a:r>
              <a:rPr lang="zh-CN" altLang="en-US" sz="2800"/>
              <a:t>均是谓词公式，则</a:t>
            </a:r>
          </a:p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zh-CN" altLang="en-US" sz="2800"/>
              <a:t>        </a:t>
            </a:r>
            <a:r>
              <a:rPr lang="en-US" altLang="zh-CN" sz="2800"/>
              <a:t>(P∧Q),(P∨Q),(P→Q),(P↔Q)</a:t>
            </a:r>
            <a:r>
              <a:rPr lang="zh-CN" altLang="en-US" sz="2800"/>
              <a:t>等都是谓词公式</a:t>
            </a:r>
          </a:p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zh-CN" altLang="en-US" sz="2800"/>
              <a:t>    </a:t>
            </a:r>
            <a:r>
              <a:rPr lang="en-US" altLang="zh-CN" sz="2800"/>
              <a:t>(4)</a:t>
            </a:r>
            <a:r>
              <a:rPr lang="zh-CN" altLang="en-US" sz="2800"/>
              <a:t>若</a:t>
            </a:r>
            <a:r>
              <a:rPr lang="en-US" altLang="zh-CN" sz="2800"/>
              <a:t>P</a:t>
            </a:r>
            <a:r>
              <a:rPr lang="zh-CN" altLang="en-US" sz="2800"/>
              <a:t>是谓词公式</a:t>
            </a:r>
            <a:r>
              <a:rPr lang="en-US" altLang="zh-CN" sz="2800"/>
              <a:t>,x</a:t>
            </a:r>
            <a:r>
              <a:rPr lang="zh-CN" altLang="en-US" sz="2800"/>
              <a:t>是</a:t>
            </a:r>
            <a:r>
              <a:rPr lang="en-US" altLang="zh-CN" sz="2800"/>
              <a:t>P</a:t>
            </a:r>
            <a:r>
              <a:rPr lang="zh-CN" altLang="en-US" sz="2800"/>
              <a:t>中出现的任意个体变量</a:t>
            </a:r>
            <a:r>
              <a:rPr lang="en-US" altLang="zh-CN" sz="2800"/>
              <a:t>,</a:t>
            </a:r>
          </a:p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     </a:t>
            </a:r>
            <a:r>
              <a:rPr lang="zh-CN" altLang="en-US" sz="2800"/>
              <a:t>则</a:t>
            </a:r>
            <a:r>
              <a:rPr lang="zh-CN" altLang="en-US" sz="2800">
                <a:sym typeface="Symbol" panose="05050102010706020507" pitchFamily="18" charset="2"/>
              </a:rPr>
              <a:t></a:t>
            </a:r>
            <a:r>
              <a:rPr lang="en-US" altLang="zh-CN" sz="2800"/>
              <a:t>xP</a:t>
            </a:r>
            <a:r>
              <a:rPr lang="zh-CN" altLang="en-US" sz="2800"/>
              <a:t>和</a:t>
            </a:r>
            <a:r>
              <a:rPr lang="zh-CN" altLang="en-US" sz="2800">
                <a:sym typeface="Symbol" panose="05050102010706020507" pitchFamily="18" charset="2"/>
              </a:rPr>
              <a:t></a:t>
            </a:r>
            <a:r>
              <a:rPr lang="en-US" altLang="zh-CN" sz="2800"/>
              <a:t>xP</a:t>
            </a:r>
            <a:r>
              <a:rPr lang="zh-CN" altLang="en-US" sz="2800"/>
              <a:t>都是谓词公式</a:t>
            </a:r>
          </a:p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zh-CN" altLang="en-US" sz="2800"/>
              <a:t>    </a:t>
            </a:r>
            <a:r>
              <a:rPr lang="en-US" altLang="zh-CN" sz="2800"/>
              <a:t>(5)</a:t>
            </a:r>
            <a:r>
              <a:rPr lang="zh-CN" altLang="en-US" sz="2800"/>
              <a:t>当且仅当能够有限次地应用</a:t>
            </a:r>
            <a:r>
              <a:rPr lang="en-US" altLang="zh-CN" sz="2800"/>
              <a:t>(1)</a:t>
            </a:r>
            <a:r>
              <a:rPr lang="zh-CN" altLang="en-US" sz="2800"/>
              <a:t>－</a:t>
            </a:r>
            <a:r>
              <a:rPr lang="en-US" altLang="zh-CN" sz="2800"/>
              <a:t>(4)</a:t>
            </a:r>
            <a:r>
              <a:rPr lang="zh-CN" altLang="en-US" sz="2800"/>
              <a:t>所得到的</a:t>
            </a:r>
          </a:p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zh-CN" altLang="en-US" sz="2800"/>
              <a:t>        式子是谓词公式</a:t>
            </a:r>
            <a:endParaRPr lang="zh-CN" altLang="en-US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B352321B-C23D-E12B-00FB-F1407F511B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2.3.2 </a:t>
            </a:r>
            <a:r>
              <a:rPr lang="zh-CN" altLang="en-US" sz="4800"/>
              <a:t>约束变元与自由变元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BA27ADEC-7B76-5661-3866-01BD80D5D0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2017713"/>
            <a:ext cx="8270875" cy="4840287"/>
          </a:xfrm>
        </p:spPr>
        <p:txBody>
          <a:bodyPr/>
          <a:lstStyle/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</a:t>
            </a:r>
            <a:r>
              <a:rPr lang="zh-CN" altLang="en-US" sz="2800"/>
              <a:t>设谓词公式</a:t>
            </a:r>
            <a:r>
              <a:rPr lang="zh-CN" altLang="en-US" sz="2800">
                <a:sym typeface="Symbol" panose="05050102010706020507" pitchFamily="18" charset="2"/>
              </a:rPr>
              <a:t></a:t>
            </a:r>
            <a:r>
              <a:rPr lang="en-US" altLang="zh-CN" sz="2800"/>
              <a:t>xP(x)</a:t>
            </a:r>
            <a:r>
              <a:rPr lang="zh-CN" altLang="en-US" sz="2800"/>
              <a:t>和</a:t>
            </a:r>
            <a:r>
              <a:rPr lang="zh-CN" altLang="en-US" sz="2800">
                <a:sym typeface="Symbol" panose="05050102010706020507" pitchFamily="18" charset="2"/>
              </a:rPr>
              <a:t></a:t>
            </a:r>
            <a:r>
              <a:rPr lang="en-US" altLang="zh-CN" sz="2800"/>
              <a:t>xP(x)</a:t>
            </a:r>
          </a:p>
          <a:p>
            <a:pPr eaLnBrk="1" hangingPunct="1">
              <a:lnSpc>
                <a:spcPct val="105000"/>
              </a:lnSpc>
            </a:pPr>
            <a:r>
              <a:rPr lang="zh-CN" altLang="en-US" sz="2800"/>
              <a:t>量词的</a:t>
            </a:r>
            <a:r>
              <a:rPr lang="zh-CN" altLang="en-US" sz="2800" b="1">
                <a:solidFill>
                  <a:srgbClr val="FF0066"/>
                </a:solidFill>
              </a:rPr>
              <a:t>指导变元</a:t>
            </a:r>
            <a:r>
              <a:rPr lang="zh-CN" altLang="en-US" sz="2800"/>
              <a:t>或</a:t>
            </a:r>
            <a:r>
              <a:rPr lang="zh-CN" altLang="en-US" sz="2800" b="1">
                <a:solidFill>
                  <a:schemeClr val="accent1"/>
                </a:solidFill>
              </a:rPr>
              <a:t>作用变元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zh-CN" altLang="en-US" sz="2800"/>
              <a:t>   量词</a:t>
            </a:r>
            <a:r>
              <a:rPr lang="zh-CN" altLang="en-US" sz="2800">
                <a:sym typeface="Symbol" panose="05050102010706020507" pitchFamily="18" charset="2"/>
              </a:rPr>
              <a:t></a:t>
            </a:r>
            <a:r>
              <a:rPr lang="zh-CN" altLang="en-US" sz="2800"/>
              <a:t>或</a:t>
            </a:r>
            <a:r>
              <a:rPr lang="zh-CN" altLang="en-US" sz="2800">
                <a:sym typeface="Symbol" panose="05050102010706020507" pitchFamily="18" charset="2"/>
              </a:rPr>
              <a:t></a:t>
            </a:r>
            <a:r>
              <a:rPr lang="zh-CN" altLang="en-US" sz="2800"/>
              <a:t>后面所紧跟的个体变量</a:t>
            </a:r>
            <a:r>
              <a:rPr lang="en-US" altLang="zh-CN" sz="2800"/>
              <a:t>x</a:t>
            </a:r>
          </a:p>
          <a:p>
            <a:pPr eaLnBrk="1" hangingPunct="1">
              <a:lnSpc>
                <a:spcPct val="105000"/>
              </a:lnSpc>
            </a:pPr>
            <a:r>
              <a:rPr lang="zh-CN" altLang="en-US" sz="2800"/>
              <a:t>量词的</a:t>
            </a:r>
            <a:r>
              <a:rPr lang="zh-CN" altLang="en-US" sz="2800" b="1">
                <a:solidFill>
                  <a:schemeClr val="hlink"/>
                </a:solidFill>
              </a:rPr>
              <a:t>作用域</a:t>
            </a:r>
            <a:r>
              <a:rPr lang="zh-CN" altLang="en-US" sz="2800"/>
              <a:t>或</a:t>
            </a:r>
            <a:r>
              <a:rPr lang="zh-CN" altLang="en-US" sz="2800" b="1">
                <a:solidFill>
                  <a:schemeClr val="accent1"/>
                </a:solidFill>
              </a:rPr>
              <a:t>辖域</a:t>
            </a:r>
            <a:r>
              <a:rPr lang="en-US" altLang="zh-CN" sz="2800"/>
              <a:t>(</a:t>
            </a:r>
            <a:r>
              <a:rPr lang="en-US" altLang="zh-CN" sz="2800">
                <a:solidFill>
                  <a:schemeClr val="accent1"/>
                </a:solidFill>
              </a:rPr>
              <a:t>scope</a:t>
            </a:r>
            <a:r>
              <a:rPr lang="en-US" altLang="zh-CN" sz="2800"/>
              <a:t>)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</a:t>
            </a:r>
            <a:r>
              <a:rPr lang="zh-CN" altLang="en-US" sz="2800"/>
              <a:t>紧跟在量词后面的最小子公式</a:t>
            </a:r>
            <a:r>
              <a:rPr lang="en-US" altLang="zh-CN" sz="2800"/>
              <a:t>P(x)</a:t>
            </a:r>
          </a:p>
          <a:p>
            <a:pPr eaLnBrk="1" hangingPunct="1">
              <a:lnSpc>
                <a:spcPct val="105000"/>
              </a:lnSpc>
            </a:pPr>
            <a:r>
              <a:rPr lang="zh-CN" altLang="en-US" sz="2800" b="1">
                <a:solidFill>
                  <a:schemeClr val="hlink"/>
                </a:solidFill>
              </a:rPr>
              <a:t>约束出现    </a:t>
            </a:r>
            <a:r>
              <a:rPr lang="zh-CN" altLang="en-US" sz="2800"/>
              <a:t>辖域中指导变元的全部出现</a:t>
            </a:r>
          </a:p>
          <a:p>
            <a:pPr eaLnBrk="1" hangingPunct="1">
              <a:lnSpc>
                <a:spcPct val="105000"/>
              </a:lnSpc>
            </a:pPr>
            <a:r>
              <a:rPr lang="zh-CN" altLang="en-US" sz="2800"/>
              <a:t>量词的</a:t>
            </a:r>
            <a:r>
              <a:rPr lang="zh-CN" altLang="en-US" sz="2800" b="1">
                <a:solidFill>
                  <a:schemeClr val="hlink"/>
                </a:solidFill>
              </a:rPr>
              <a:t>约束变元</a:t>
            </a:r>
            <a:r>
              <a:rPr lang="en-US" altLang="zh-CN" sz="2800"/>
              <a:t>(</a:t>
            </a:r>
            <a:r>
              <a:rPr lang="en-US" altLang="zh-CN" sz="2800">
                <a:solidFill>
                  <a:schemeClr val="hlink"/>
                </a:solidFill>
              </a:rPr>
              <a:t>bound variable</a:t>
            </a:r>
            <a:r>
              <a:rPr lang="en-US" altLang="zh-CN" sz="2800"/>
              <a:t>)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</a:t>
            </a:r>
            <a:r>
              <a:rPr lang="zh-CN" altLang="en-US" sz="2800"/>
              <a:t>约束出现的个体变量</a:t>
            </a:r>
          </a:p>
          <a:p>
            <a:pPr eaLnBrk="1" hangingPunct="1">
              <a:lnSpc>
                <a:spcPct val="105000"/>
              </a:lnSpc>
            </a:pPr>
            <a:r>
              <a:rPr lang="zh-CN" altLang="en-US" sz="2800"/>
              <a:t>量词的</a:t>
            </a:r>
            <a:r>
              <a:rPr lang="zh-CN" altLang="en-US" sz="2800" b="1">
                <a:solidFill>
                  <a:schemeClr val="hlink"/>
                </a:solidFill>
              </a:rPr>
              <a:t>自由变元</a:t>
            </a:r>
            <a:r>
              <a:rPr lang="en-US" altLang="zh-CN" sz="2800"/>
              <a:t>(</a:t>
            </a:r>
            <a:r>
              <a:rPr lang="en-US" altLang="zh-CN" sz="2800">
                <a:solidFill>
                  <a:schemeClr val="hlink"/>
                </a:solidFill>
              </a:rPr>
              <a:t>free variable</a:t>
            </a:r>
            <a:r>
              <a:rPr lang="en-US" altLang="zh-CN" sz="2800"/>
              <a:t>)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8F917F98-56A3-4677-1B23-7B4C8FF867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2.3.2 </a:t>
            </a:r>
            <a:r>
              <a:rPr lang="zh-CN" altLang="en-US" sz="4800"/>
              <a:t>约束变元与自由变元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B20B1358-396E-678F-8FB9-AEB57C1C54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989138"/>
            <a:ext cx="8343900" cy="4868862"/>
          </a:xfrm>
        </p:spPr>
        <p:txBody>
          <a:bodyPr/>
          <a:lstStyle/>
          <a:p>
            <a:pPr eaLnBrk="1" hangingPunct="1">
              <a:lnSpc>
                <a:spcPct val="170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2.3.1</a:t>
            </a:r>
            <a:r>
              <a:rPr lang="zh-CN" altLang="en-US" dirty="0"/>
              <a:t>说明下列各谓词公式中约束情况</a:t>
            </a:r>
          </a:p>
          <a:p>
            <a:pPr eaLnBrk="1" hangingPunct="1">
              <a:lnSpc>
                <a:spcPct val="17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dirty="0">
                <a:solidFill>
                  <a:srgbClr val="FF00FF"/>
                </a:solidFill>
              </a:rPr>
              <a:t>x</a:t>
            </a:r>
            <a:r>
              <a:rPr lang="en-US" altLang="zh-CN" dirty="0">
                <a:solidFill>
                  <a:srgbClr val="0066FF"/>
                </a:solidFill>
              </a:rPr>
              <a:t>(</a:t>
            </a:r>
            <a:r>
              <a:rPr lang="en-US" altLang="zh-CN" dirty="0"/>
              <a:t>P(x)→Q(x)</a:t>
            </a:r>
            <a:r>
              <a:rPr lang="en-US" altLang="zh-CN" dirty="0">
                <a:solidFill>
                  <a:srgbClr val="0000FF"/>
                </a:solidFill>
              </a:rPr>
              <a:t>)</a:t>
            </a:r>
          </a:p>
          <a:p>
            <a:pPr eaLnBrk="1" hangingPunct="1">
              <a:lnSpc>
                <a:spcPct val="17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dirty="0" err="1">
                <a:solidFill>
                  <a:srgbClr val="FF00FF"/>
                </a:solidFill>
              </a:rPr>
              <a:t>x</a:t>
            </a:r>
            <a:r>
              <a:rPr lang="en-US" altLang="zh-CN" dirty="0" err="1">
                <a:solidFill>
                  <a:srgbClr val="0066FF"/>
                </a:solidFill>
              </a:rPr>
              <a:t>P</a:t>
            </a:r>
            <a:r>
              <a:rPr lang="en-US" altLang="zh-CN" dirty="0">
                <a:solidFill>
                  <a:srgbClr val="0066FF"/>
                </a:solidFill>
              </a:rPr>
              <a:t>(x)</a:t>
            </a:r>
            <a:r>
              <a:rPr lang="en-US" altLang="zh-CN" dirty="0"/>
              <a:t>→Q(x)</a:t>
            </a:r>
          </a:p>
          <a:p>
            <a:pPr eaLnBrk="1" hangingPunct="1">
              <a:lnSpc>
                <a:spcPct val="17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dirty="0">
                <a:solidFill>
                  <a:schemeClr val="hlink"/>
                </a:solidFill>
              </a:rPr>
              <a:t>x</a:t>
            </a:r>
            <a:r>
              <a:rPr lang="en-US" altLang="zh-CN" dirty="0">
                <a:solidFill>
                  <a:schemeClr val="accent1"/>
                </a:solidFill>
              </a:rPr>
              <a:t>(</a:t>
            </a:r>
            <a:r>
              <a:rPr lang="en-US" altLang="zh-CN" dirty="0"/>
              <a:t>P(</a:t>
            </a:r>
            <a:r>
              <a:rPr lang="en-US" altLang="zh-CN" dirty="0" err="1"/>
              <a:t>x,y</a:t>
            </a:r>
            <a:r>
              <a:rPr lang="en-US" altLang="zh-CN" dirty="0"/>
              <a:t>)→</a:t>
            </a:r>
            <a:r>
              <a:rPr lang="en-US" altLang="zh-CN" dirty="0">
                <a:sym typeface="Symbol" panose="05050102010706020507" pitchFamily="18" charset="2"/>
              </a:rPr>
              <a:t></a:t>
            </a:r>
            <a:r>
              <a:rPr lang="en-US" altLang="zh-CN" dirty="0" err="1">
                <a:solidFill>
                  <a:srgbClr val="FF00FF"/>
                </a:solidFill>
              </a:rPr>
              <a:t>x</a:t>
            </a:r>
            <a:r>
              <a:rPr lang="en-US" altLang="zh-CN" dirty="0" err="1">
                <a:solidFill>
                  <a:srgbClr val="0066FF"/>
                </a:solidFill>
              </a:rPr>
              <a:t>R</a:t>
            </a:r>
            <a:r>
              <a:rPr lang="en-US" altLang="zh-CN" dirty="0">
                <a:solidFill>
                  <a:srgbClr val="0066FF"/>
                </a:solidFill>
              </a:rPr>
              <a:t>(</a:t>
            </a:r>
            <a:r>
              <a:rPr lang="en-US" altLang="zh-CN" dirty="0" err="1">
                <a:solidFill>
                  <a:srgbClr val="0066FF"/>
                </a:solidFill>
              </a:rPr>
              <a:t>x,y</a:t>
            </a:r>
            <a:r>
              <a:rPr lang="en-US" altLang="zh-CN" dirty="0">
                <a:solidFill>
                  <a:srgbClr val="0066FF"/>
                </a:solidFill>
              </a:rPr>
              <a:t>)</a:t>
            </a:r>
            <a:r>
              <a:rPr lang="en-US" altLang="zh-CN" dirty="0">
                <a:solidFill>
                  <a:schemeClr val="accent1"/>
                </a:solidFill>
              </a:rPr>
              <a:t>)</a:t>
            </a:r>
          </a:p>
          <a:p>
            <a:pPr eaLnBrk="1" hangingPunct="1">
              <a:lnSpc>
                <a:spcPct val="17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dirty="0" err="1"/>
              <a:t>x</a:t>
            </a:r>
            <a:r>
              <a:rPr lang="en-US" altLang="zh-CN" dirty="0" err="1">
                <a:sym typeface="Symbol" panose="05050102010706020507" pitchFamily="18" charset="2"/>
              </a:rPr>
              <a:t></a:t>
            </a:r>
            <a:r>
              <a:rPr lang="en-US" altLang="zh-CN" dirty="0" err="1">
                <a:solidFill>
                  <a:srgbClr val="0000FF"/>
                </a:solidFill>
              </a:rPr>
              <a:t>y</a:t>
            </a:r>
            <a:r>
              <a:rPr lang="en-US" altLang="zh-CN" dirty="0">
                <a:solidFill>
                  <a:schemeClr val="hlink"/>
                </a:solidFill>
              </a:rPr>
              <a:t>(</a:t>
            </a:r>
            <a:r>
              <a:rPr lang="en-US" altLang="zh-CN" dirty="0"/>
              <a:t>P(</a:t>
            </a:r>
            <a:r>
              <a:rPr lang="en-US" altLang="zh-CN" dirty="0" err="1"/>
              <a:t>x,y</a:t>
            </a:r>
            <a:r>
              <a:rPr lang="en-US" altLang="zh-CN" dirty="0"/>
              <a:t>)∧Q(</a:t>
            </a:r>
            <a:r>
              <a:rPr lang="en-US" altLang="zh-CN" dirty="0" err="1"/>
              <a:t>y,z</a:t>
            </a:r>
            <a:r>
              <a:rPr lang="en-US" altLang="zh-CN" dirty="0"/>
              <a:t>)</a:t>
            </a:r>
            <a:r>
              <a:rPr lang="en-US" altLang="zh-CN" dirty="0">
                <a:solidFill>
                  <a:schemeClr val="hlink"/>
                </a:solidFill>
              </a:rPr>
              <a:t>)</a:t>
            </a:r>
            <a:r>
              <a:rPr lang="en-US" altLang="zh-CN" dirty="0"/>
              <a:t>∧</a:t>
            </a:r>
            <a:r>
              <a:rPr lang="en-US" altLang="zh-CN" dirty="0">
                <a:sym typeface="Symbol" panose="05050102010706020507" pitchFamily="18" charset="2"/>
              </a:rPr>
              <a:t></a:t>
            </a:r>
            <a:r>
              <a:rPr lang="en-US" altLang="zh-CN" dirty="0" err="1">
                <a:solidFill>
                  <a:srgbClr val="FF00FF"/>
                </a:solidFill>
              </a:rPr>
              <a:t>x</a:t>
            </a:r>
            <a:r>
              <a:rPr lang="en-US" altLang="zh-CN" dirty="0" err="1">
                <a:solidFill>
                  <a:schemeClr val="accent1"/>
                </a:solidFill>
              </a:rPr>
              <a:t>R</a:t>
            </a:r>
            <a:r>
              <a:rPr lang="en-US" altLang="zh-CN" dirty="0">
                <a:solidFill>
                  <a:schemeClr val="accent1"/>
                </a:solidFill>
              </a:rPr>
              <a:t>(</a:t>
            </a:r>
            <a:r>
              <a:rPr lang="en-US" altLang="zh-CN" dirty="0" err="1">
                <a:solidFill>
                  <a:schemeClr val="accent1"/>
                </a:solidFill>
              </a:rPr>
              <a:t>x,y</a:t>
            </a:r>
            <a:r>
              <a:rPr lang="en-US" altLang="zh-CN" dirty="0">
                <a:solidFill>
                  <a:schemeClr val="accent1"/>
                </a:solidFill>
              </a:rPr>
              <a:t>)</a:t>
            </a:r>
            <a:r>
              <a:rPr lang="en-US" altLang="zh-CN" sz="2400" dirty="0"/>
              <a:t> </a:t>
            </a: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EB7AF8F1-02CB-B974-E824-CD0AE28063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6863" y="4005263"/>
            <a:ext cx="2724150" cy="687387"/>
          </a:xfrm>
          <a:prstGeom prst="rect">
            <a:avLst/>
          </a:prstGeom>
          <a:noFill/>
          <a:ln w="25400">
            <a:solidFill>
              <a:srgbClr val="FF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342900" indent="-342900">
              <a:lnSpc>
                <a:spcPct val="170000"/>
              </a:lnSpc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zh-CN" altLang="en-US" sz="3200" kern="0" dirty="0">
                <a:solidFill>
                  <a:srgbClr val="000000"/>
                </a:solidFill>
                <a:latin typeface="Tahoma"/>
                <a:ea typeface="宋体"/>
                <a:sym typeface="Symbol" pitchFamily="18" charset="2"/>
              </a:rPr>
              <a:t></a:t>
            </a:r>
            <a:r>
              <a:rPr lang="en-US" altLang="zh-CN" sz="3200" kern="0" dirty="0">
                <a:solidFill>
                  <a:srgbClr val="FF00FF"/>
                </a:solidFill>
                <a:latin typeface="Tahoma"/>
                <a:ea typeface="宋体"/>
                <a:sym typeface="Symbol" pitchFamily="18" charset="2"/>
              </a:rPr>
              <a:t>y</a:t>
            </a:r>
            <a:r>
              <a:rPr lang="en-US" altLang="zh-CN" sz="3200" kern="0" dirty="0">
                <a:solidFill>
                  <a:srgbClr val="0066FF"/>
                </a:solidFill>
                <a:latin typeface="Tahoma"/>
                <a:ea typeface="宋体"/>
              </a:rPr>
              <a:t>P(</a:t>
            </a:r>
            <a:r>
              <a:rPr lang="en-US" altLang="zh-CN" sz="3200" kern="0" dirty="0">
                <a:solidFill>
                  <a:srgbClr val="FF0000"/>
                </a:solidFill>
                <a:latin typeface="Tahoma"/>
                <a:ea typeface="宋体"/>
              </a:rPr>
              <a:t>y</a:t>
            </a:r>
            <a:r>
              <a:rPr lang="en-US" altLang="zh-CN" sz="3200" kern="0" dirty="0">
                <a:solidFill>
                  <a:srgbClr val="0066FF"/>
                </a:solidFill>
                <a:latin typeface="Tahoma"/>
                <a:ea typeface="宋体"/>
              </a:rPr>
              <a:t>)</a:t>
            </a:r>
            <a:r>
              <a:rPr lang="en-US" altLang="zh-CN" sz="3200" kern="0" dirty="0">
                <a:solidFill>
                  <a:srgbClr val="000000"/>
                </a:solidFill>
                <a:latin typeface="Tahoma"/>
                <a:ea typeface="宋体"/>
              </a:rPr>
              <a:t>→Q(x)</a:t>
            </a:r>
          </a:p>
          <a:p>
            <a:pPr>
              <a:defRPr/>
            </a:pPr>
            <a:endParaRPr lang="zh-CN" alt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BAD25173-33A8-DB6D-7EC6-1F6359A2248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谓词公式</a:t>
            </a:r>
            <a:r>
              <a:rPr lang="zh-CN" altLang="en-US" sz="2800" dirty="0">
                <a:sym typeface="Symbol" panose="05050102010706020507" pitchFamily="18" charset="2"/>
              </a:rPr>
              <a:t></a:t>
            </a:r>
            <a:r>
              <a:rPr lang="en-US" altLang="zh-CN" sz="2800" dirty="0"/>
              <a:t>x┐(P(x)-&gt;</a:t>
            </a:r>
            <a:r>
              <a:rPr lang="en-US" altLang="zh-CN" sz="2800" dirty="0">
                <a:sym typeface="Symbol" panose="05050102010706020507" pitchFamily="18" charset="2"/>
              </a:rPr>
              <a:t></a:t>
            </a:r>
            <a:r>
              <a:rPr lang="en-US" altLang="zh-CN" sz="2800" dirty="0" err="1">
                <a:sym typeface="Symbol" panose="05050102010706020507" pitchFamily="18" charset="2"/>
              </a:rPr>
              <a:t>xR</a:t>
            </a:r>
            <a:r>
              <a:rPr lang="en-US" altLang="zh-CN" sz="2800" dirty="0">
                <a:sym typeface="Symbol" panose="05050102010706020507" pitchFamily="18" charset="2"/>
              </a:rPr>
              <a:t>(</a:t>
            </a:r>
            <a:r>
              <a:rPr lang="en-US" altLang="zh-CN" sz="2800" dirty="0" err="1">
                <a:sym typeface="Symbol" panose="05050102010706020507" pitchFamily="18" charset="2"/>
              </a:rPr>
              <a:t>x,y</a:t>
            </a:r>
            <a:r>
              <a:rPr lang="en-US" altLang="zh-CN" sz="2800" dirty="0">
                <a:sym typeface="Symbol" panose="05050102010706020507" pitchFamily="18" charset="2"/>
              </a:rPr>
              <a:t>)</a:t>
            </a:r>
            <a:r>
              <a:rPr lang="en-US" altLang="zh-CN" sz="2800" dirty="0"/>
              <a:t>)∧Q(</a:t>
            </a:r>
            <a:r>
              <a:rPr lang="en-US" altLang="zh-CN" sz="2800" dirty="0" err="1"/>
              <a:t>x,y</a:t>
            </a:r>
            <a:r>
              <a:rPr lang="en-US" altLang="zh-CN" sz="2800" dirty="0"/>
              <a:t>)</a:t>
            </a:r>
            <a:r>
              <a:rPr lang="zh-CN" altLang="en-US" sz="2800" dirty="0"/>
              <a:t>中，</a:t>
            </a:r>
            <a:r>
              <a:rPr lang="zh-CN" altLang="en-US" sz="2400" dirty="0">
                <a:sym typeface="Symbol" panose="05050102010706020507" pitchFamily="18" charset="2"/>
              </a:rPr>
              <a:t> </a:t>
            </a:r>
            <a:r>
              <a:rPr lang="en-US" altLang="zh-CN" sz="2400" dirty="0"/>
              <a:t>x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的辖域为（   ）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7F50213-7B3E-E3DC-0498-691327E807D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P(x)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41A5DFD-820E-75EF-AB7D-5B976647E400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dirty="0"/>
              <a:t>P(x)-&gt;</a:t>
            </a:r>
            <a:r>
              <a:rPr lang="en-US" altLang="zh-CN" sz="2400" dirty="0">
                <a:sym typeface="Symbol" panose="05050102010706020507" pitchFamily="18" charset="2"/>
              </a:rPr>
              <a:t></a:t>
            </a:r>
            <a:r>
              <a:rPr lang="en-US" altLang="zh-CN" sz="2400" dirty="0" err="1">
                <a:sym typeface="Symbol" panose="05050102010706020507" pitchFamily="18" charset="2"/>
              </a:rPr>
              <a:t>xR</a:t>
            </a:r>
            <a:r>
              <a:rPr lang="en-US" altLang="zh-CN" sz="2400" dirty="0">
                <a:sym typeface="Symbol" panose="05050102010706020507" pitchFamily="18" charset="2"/>
              </a:rPr>
              <a:t>(</a:t>
            </a:r>
            <a:r>
              <a:rPr lang="en-US" altLang="zh-CN" sz="2400" dirty="0" err="1">
                <a:sym typeface="Symbol" panose="05050102010706020507" pitchFamily="18" charset="2"/>
              </a:rPr>
              <a:t>x,y</a:t>
            </a:r>
            <a:r>
              <a:rPr lang="en-US" altLang="zh-CN" sz="2400" dirty="0">
                <a:sym typeface="Symbol" panose="05050102010706020507" pitchFamily="18" charset="2"/>
              </a:rPr>
              <a:t>)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6B2DEC6-8258-DB6D-41D9-2A32A5B49C0D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dirty="0">
                <a:sym typeface="Symbol" panose="05050102010706020507" pitchFamily="18" charset="2"/>
              </a:rPr>
              <a:t></a:t>
            </a:r>
            <a:r>
              <a:rPr lang="en-US" altLang="zh-CN" sz="2400" dirty="0" err="1">
                <a:sym typeface="Symbol" panose="05050102010706020507" pitchFamily="18" charset="2"/>
              </a:rPr>
              <a:t>xR</a:t>
            </a:r>
            <a:r>
              <a:rPr lang="en-US" altLang="zh-CN" sz="2400" dirty="0">
                <a:sym typeface="Symbol" panose="05050102010706020507" pitchFamily="18" charset="2"/>
              </a:rPr>
              <a:t>(</a:t>
            </a:r>
            <a:r>
              <a:rPr lang="en-US" altLang="zh-CN" sz="2400" dirty="0" err="1">
                <a:sym typeface="Symbol" panose="05050102010706020507" pitchFamily="18" charset="2"/>
              </a:rPr>
              <a:t>x,y</a:t>
            </a:r>
            <a:r>
              <a:rPr lang="en-US" altLang="zh-CN" sz="2400" dirty="0">
                <a:sym typeface="Symbol" panose="05050102010706020507" pitchFamily="18" charset="2"/>
              </a:rPr>
              <a:t>)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EF8752A-1E06-E817-470E-E796A3699176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dirty="0"/>
              <a:t>┐(P(x)-&gt;</a:t>
            </a:r>
            <a:r>
              <a:rPr lang="en-US" altLang="zh-CN" sz="2400" dirty="0">
                <a:sym typeface="Symbol" panose="05050102010706020507" pitchFamily="18" charset="2"/>
              </a:rPr>
              <a:t></a:t>
            </a:r>
            <a:r>
              <a:rPr lang="en-US" altLang="zh-CN" sz="2400" dirty="0" err="1">
                <a:sym typeface="Symbol" panose="05050102010706020507" pitchFamily="18" charset="2"/>
              </a:rPr>
              <a:t>xR</a:t>
            </a:r>
            <a:r>
              <a:rPr lang="en-US" altLang="zh-CN" sz="2400" dirty="0">
                <a:sym typeface="Symbol" panose="05050102010706020507" pitchFamily="18" charset="2"/>
              </a:rPr>
              <a:t>(</a:t>
            </a:r>
            <a:r>
              <a:rPr lang="en-US" altLang="zh-CN" sz="2400" dirty="0" err="1">
                <a:sym typeface="Symbol" panose="05050102010706020507" pitchFamily="18" charset="2"/>
              </a:rPr>
              <a:t>x,y</a:t>
            </a:r>
            <a:r>
              <a:rPr lang="en-US" altLang="zh-CN" sz="2400" dirty="0">
                <a:sym typeface="Symbol" panose="05050102010706020507" pitchFamily="18" charset="2"/>
              </a:rPr>
              <a:t>)</a:t>
            </a:r>
            <a:r>
              <a:rPr lang="en-US" altLang="zh-CN" sz="2400" dirty="0"/>
              <a:t>)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DB5D16F-EBBB-E5A6-2B78-52C6B806B933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FC6A6204-774D-5978-DA4E-B1BC1F294ED6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95D58DD7-64F1-5925-8FEE-1243E117FDBB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D315570E-D296-DB09-A504-6A54A16C719B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A84A5F4-E1CB-C47B-1479-0F9861F19E70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28C9CA0F-C14B-D386-6860-8AAD2E7D68C3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A35B4626-6AB4-B832-200A-9C2ED94D6A81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BDD7B006-21AB-79F5-53B0-14F91EE033CC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715D3B18-957C-89DF-8A43-C1357927A9D7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4AE9750C-ADDF-D482-4E3A-565B508E78C2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BB0BBCC7-190B-AF45-BC79-0BC351DFB98A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50897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90F90394-FA32-17F5-AC23-84B9CFBE8D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2.3.2 </a:t>
            </a:r>
            <a:r>
              <a:rPr lang="zh-CN" altLang="en-US" sz="4800"/>
              <a:t>约束变元与自由变元</a:t>
            </a:r>
          </a:p>
        </p:txBody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6A9B23A6-5338-E7BC-E67B-693E90B293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844675"/>
            <a:ext cx="8532812" cy="5013325"/>
          </a:xfrm>
        </p:spPr>
        <p:txBody>
          <a:bodyPr/>
          <a:lstStyle/>
          <a:p>
            <a:pPr eaLnBrk="1" hangingPunct="1">
              <a:lnSpc>
                <a:spcPct val="180000"/>
              </a:lnSpc>
              <a:defRPr/>
            </a:pPr>
            <a:r>
              <a:rPr lang="zh-CN" altLang="en-US" dirty="0"/>
              <a:t>若约束变元的论域为</a:t>
            </a:r>
            <a:r>
              <a:rPr lang="en-US" altLang="zh-CN" dirty="0"/>
              <a:t>{a</a:t>
            </a:r>
            <a:r>
              <a:rPr lang="en-US" altLang="zh-CN" baseline="-25000" dirty="0"/>
              <a:t>1</a:t>
            </a:r>
            <a:r>
              <a:rPr lang="en-US" altLang="zh-CN" dirty="0"/>
              <a:t>,a</a:t>
            </a:r>
            <a:r>
              <a:rPr lang="en-US" altLang="zh-CN" baseline="-25000" dirty="0"/>
              <a:t>2</a:t>
            </a:r>
            <a:r>
              <a:rPr lang="en-US" altLang="zh-CN" dirty="0"/>
              <a:t>,</a:t>
            </a:r>
            <a:r>
              <a:rPr lang="en-US" altLang="zh-CN" dirty="0">
                <a:latin typeface="Arial"/>
              </a:rPr>
              <a:t>…</a:t>
            </a:r>
            <a:r>
              <a:rPr lang="en-US" altLang="zh-CN" dirty="0"/>
              <a:t>,a</a:t>
            </a:r>
            <a:r>
              <a:rPr lang="en-US" altLang="zh-CN" baseline="-25000" dirty="0"/>
              <a:t>n</a:t>
            </a:r>
            <a:r>
              <a:rPr lang="en-US" altLang="zh-CN" dirty="0"/>
              <a:t>}</a:t>
            </a:r>
            <a:r>
              <a:rPr lang="zh-CN" altLang="en-US" dirty="0"/>
              <a:t>，则 </a:t>
            </a:r>
            <a:endParaRPr lang="en-US" altLang="zh-CN" dirty="0"/>
          </a:p>
          <a:p>
            <a:pPr marL="0" indent="0" eaLnBrk="1" hangingPunct="1">
              <a:lnSpc>
                <a:spcPct val="1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chemeClr val="accent1"/>
                </a:solidFill>
                <a:sym typeface="Symbol" pitchFamily="18" charset="2"/>
              </a:rPr>
              <a:t>    </a:t>
            </a:r>
            <a:r>
              <a:rPr lang="en-US" altLang="zh-CN" dirty="0" err="1"/>
              <a:t>xP</a:t>
            </a:r>
            <a:r>
              <a:rPr lang="en-US" altLang="zh-CN" dirty="0"/>
              <a:t>(x)</a:t>
            </a:r>
            <a:r>
              <a:rPr lang="en-US" altLang="zh-CN" dirty="0">
                <a:sym typeface="Symbol" pitchFamily="18" charset="2"/>
              </a:rPr>
              <a:t></a:t>
            </a:r>
            <a:r>
              <a:rPr lang="en-US" altLang="zh-CN" dirty="0"/>
              <a:t>P(a</a:t>
            </a:r>
            <a:r>
              <a:rPr lang="en-US" altLang="zh-CN" baseline="-25000" dirty="0"/>
              <a:t>1</a:t>
            </a:r>
            <a:r>
              <a:rPr lang="en-US" altLang="zh-CN" dirty="0"/>
              <a:t>)</a:t>
            </a:r>
            <a:r>
              <a:rPr lang="en-US" altLang="zh-CN" dirty="0">
                <a:solidFill>
                  <a:schemeClr val="accent1"/>
                </a:solidFill>
              </a:rPr>
              <a:t>∨</a:t>
            </a:r>
            <a:r>
              <a:rPr lang="en-US" altLang="zh-CN" dirty="0"/>
              <a:t>P(a</a:t>
            </a:r>
            <a:r>
              <a:rPr lang="en-US" altLang="zh-CN" baseline="-25000" dirty="0"/>
              <a:t>2</a:t>
            </a:r>
            <a:r>
              <a:rPr lang="en-US" altLang="zh-CN" dirty="0"/>
              <a:t>)</a:t>
            </a:r>
            <a:r>
              <a:rPr lang="en-US" altLang="zh-CN" dirty="0">
                <a:solidFill>
                  <a:schemeClr val="accent1"/>
                </a:solidFill>
              </a:rPr>
              <a:t>∨</a:t>
            </a:r>
            <a:r>
              <a:rPr lang="en-US" altLang="zh-CN" dirty="0">
                <a:latin typeface="Arial"/>
              </a:rPr>
              <a:t>…</a:t>
            </a:r>
            <a:r>
              <a:rPr lang="en-US" altLang="zh-CN" dirty="0">
                <a:solidFill>
                  <a:schemeClr val="accent1"/>
                </a:solidFill>
              </a:rPr>
              <a:t>∨</a:t>
            </a:r>
            <a:r>
              <a:rPr lang="en-US" altLang="zh-CN" dirty="0"/>
              <a:t>P(a</a:t>
            </a:r>
            <a:r>
              <a:rPr lang="en-US" altLang="zh-CN" baseline="-25000" dirty="0"/>
              <a:t>n</a:t>
            </a:r>
            <a:r>
              <a:rPr lang="en-US" altLang="zh-CN" dirty="0"/>
              <a:t>)</a:t>
            </a:r>
          </a:p>
          <a:p>
            <a:pPr marL="0" indent="0" eaLnBrk="1" hangingPunct="1">
              <a:lnSpc>
                <a:spcPct val="18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chemeClr val="hlink"/>
                </a:solidFill>
                <a:sym typeface="Symbol" pitchFamily="18" charset="2"/>
              </a:rPr>
              <a:t>    </a:t>
            </a:r>
            <a:r>
              <a:rPr lang="en-US" altLang="zh-CN" dirty="0" err="1"/>
              <a:t>xP</a:t>
            </a:r>
            <a:r>
              <a:rPr lang="en-US" altLang="zh-CN" dirty="0"/>
              <a:t>(x)</a:t>
            </a:r>
            <a:r>
              <a:rPr lang="en-US" altLang="zh-CN" dirty="0">
                <a:sym typeface="Symbol" pitchFamily="18" charset="2"/>
              </a:rPr>
              <a:t></a:t>
            </a:r>
            <a:r>
              <a:rPr lang="en-US" altLang="zh-CN" dirty="0"/>
              <a:t>P(a</a:t>
            </a:r>
            <a:r>
              <a:rPr lang="en-US" altLang="zh-CN" baseline="-25000" dirty="0"/>
              <a:t>1</a:t>
            </a:r>
            <a:r>
              <a:rPr lang="en-US" altLang="zh-CN" dirty="0"/>
              <a:t>)</a:t>
            </a:r>
            <a:r>
              <a:rPr lang="en-US" altLang="zh-CN" dirty="0">
                <a:solidFill>
                  <a:schemeClr val="hlink"/>
                </a:solidFill>
              </a:rPr>
              <a:t>∧</a:t>
            </a:r>
            <a:r>
              <a:rPr lang="en-US" altLang="zh-CN" dirty="0"/>
              <a:t>P(a</a:t>
            </a:r>
            <a:r>
              <a:rPr lang="en-US" altLang="zh-CN" baseline="-25000" dirty="0"/>
              <a:t>2</a:t>
            </a:r>
            <a:r>
              <a:rPr lang="en-US" altLang="zh-CN" dirty="0"/>
              <a:t>)</a:t>
            </a:r>
            <a:r>
              <a:rPr lang="en-US" altLang="zh-CN" dirty="0">
                <a:solidFill>
                  <a:srgbClr val="FF0066"/>
                </a:solidFill>
              </a:rPr>
              <a:t>∧</a:t>
            </a:r>
            <a:r>
              <a:rPr lang="en-US" altLang="zh-CN" dirty="0">
                <a:latin typeface="Arial"/>
              </a:rPr>
              <a:t>…</a:t>
            </a:r>
            <a:r>
              <a:rPr lang="en-US" altLang="zh-CN" dirty="0">
                <a:solidFill>
                  <a:schemeClr val="hlink"/>
                </a:solidFill>
              </a:rPr>
              <a:t>∧</a:t>
            </a:r>
            <a:r>
              <a:rPr lang="en-US" altLang="zh-CN" dirty="0"/>
              <a:t>P(a</a:t>
            </a:r>
            <a:r>
              <a:rPr lang="en-US" altLang="zh-CN" baseline="-25000" dirty="0"/>
              <a:t>n</a:t>
            </a:r>
            <a:r>
              <a:rPr lang="en-US" altLang="zh-CN" dirty="0"/>
              <a:t>)   </a:t>
            </a:r>
            <a:endParaRPr lang="en-US" altLang="zh-CN" b="1" dirty="0">
              <a:solidFill>
                <a:srgbClr val="C00000"/>
              </a:solidFill>
            </a:endParaRPr>
          </a:p>
          <a:p>
            <a:pPr marL="0" indent="0" eaLnBrk="1" hangingPunct="1">
              <a:lnSpc>
                <a:spcPct val="1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ym typeface="Symbol" pitchFamily="18" charset="2"/>
              </a:rPr>
              <a:t>        </a:t>
            </a:r>
            <a:r>
              <a:rPr lang="en-US" altLang="zh-CN" dirty="0">
                <a:solidFill>
                  <a:srgbClr val="FF00FF"/>
                </a:solidFill>
                <a:sym typeface="Symbol" pitchFamily="18" charset="2"/>
              </a:rPr>
              <a:t>     </a:t>
            </a:r>
            <a:endParaRPr lang="en-US" altLang="zh-CN" dirty="0">
              <a:sym typeface="Symbol" pitchFamily="18" charset="2"/>
            </a:endParaRPr>
          </a:p>
          <a:p>
            <a:pPr marL="0" indent="0" eaLnBrk="1" hangingPunct="1">
              <a:lnSpc>
                <a:spcPct val="180000"/>
              </a:lnSpc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ym typeface="Symbol" pitchFamily="18" charset="2"/>
              </a:rPr>
              <a:t>       </a:t>
            </a:r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endParaRPr lang="en-US" altLang="zh-CN" dirty="0"/>
          </a:p>
          <a:p>
            <a:pPr eaLnBrk="1" hangingPunct="1">
              <a:lnSpc>
                <a:spcPct val="150000"/>
              </a:lnSpc>
              <a:defRPr/>
            </a:pPr>
            <a:endParaRPr lang="en-US" altLang="zh-CN" sz="3600" dirty="0"/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30B55F03-5FD8-8C24-629F-D258C9A645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6021388"/>
            <a:ext cx="647700" cy="509587"/>
          </a:xfrm>
          <a:prstGeom prst="rect">
            <a:avLst/>
          </a:prstGeom>
          <a:noFill/>
          <a:ln w="25400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0000"/>
                </a:solidFill>
              </a:rPr>
              <a:t>  </a:t>
            </a:r>
            <a:r>
              <a:rPr lang="en-US" altLang="zh-CN" sz="2800">
                <a:solidFill>
                  <a:srgbClr val="000000"/>
                </a:solidFill>
              </a:rPr>
              <a:t>0</a:t>
            </a:r>
            <a:endParaRPr lang="zh-CN" altLang="en-US" sz="2800">
              <a:solidFill>
                <a:srgbClr val="00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2B0C55-966F-A492-EBBE-4CA1D3BC2D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5013325"/>
            <a:ext cx="647700" cy="509588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rgbClr val="000000"/>
                </a:solidFill>
              </a:rPr>
              <a:t> 1</a:t>
            </a:r>
            <a:endParaRPr lang="zh-CN" altLang="en-US" sz="2800">
              <a:solidFill>
                <a:srgbClr val="000000"/>
              </a:solidFill>
            </a:endParaRP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A00B475F-49A3-835B-219E-046A81DAD1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375" y="5013325"/>
            <a:ext cx="3168650" cy="509588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/>
              <a:t>P(a</a:t>
            </a:r>
            <a:r>
              <a:rPr lang="en-US" altLang="zh-CN" sz="2800" baseline="-25000"/>
              <a:t>1</a:t>
            </a:r>
            <a:r>
              <a:rPr lang="en-US" altLang="zh-CN" sz="2800"/>
              <a:t>)</a:t>
            </a:r>
            <a:r>
              <a:rPr lang="en-US" altLang="zh-CN" sz="2800">
                <a:solidFill>
                  <a:schemeClr val="hlink"/>
                </a:solidFill>
              </a:rPr>
              <a:t>,</a:t>
            </a:r>
            <a:r>
              <a:rPr lang="en-US" altLang="zh-CN" sz="2800"/>
              <a:t>P(a</a:t>
            </a:r>
            <a:r>
              <a:rPr lang="en-US" altLang="zh-CN" sz="2800" baseline="-25000"/>
              <a:t>2</a:t>
            </a:r>
            <a:r>
              <a:rPr lang="en-US" altLang="zh-CN" sz="2800"/>
              <a:t>)</a:t>
            </a:r>
            <a:r>
              <a:rPr lang="en-US" altLang="zh-CN" sz="2800">
                <a:solidFill>
                  <a:srgbClr val="FF0066"/>
                </a:solidFill>
              </a:rPr>
              <a:t>,</a:t>
            </a:r>
            <a:r>
              <a:rPr lang="en-US" altLang="zh-CN" sz="2800">
                <a:latin typeface="Arial" panose="020B0604020202020204" pitchFamily="34" charset="0"/>
              </a:rPr>
              <a:t>…</a:t>
            </a:r>
            <a:r>
              <a:rPr lang="en-US" altLang="zh-CN" sz="2800">
                <a:solidFill>
                  <a:schemeClr val="hlink"/>
                </a:solidFill>
              </a:rPr>
              <a:t>,</a:t>
            </a:r>
            <a:r>
              <a:rPr lang="en-US" altLang="zh-CN" sz="2800"/>
              <a:t>P(a</a:t>
            </a:r>
            <a:r>
              <a:rPr lang="en-US" altLang="zh-CN" sz="2800" baseline="-25000"/>
              <a:t>n</a:t>
            </a:r>
            <a:r>
              <a:rPr lang="en-US" altLang="zh-CN" sz="2800"/>
              <a:t>) </a:t>
            </a:r>
            <a:endParaRPr lang="zh-CN" altLang="en-US" sz="2800">
              <a:solidFill>
                <a:srgbClr val="000000"/>
              </a:solidFill>
            </a:endParaRP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2DB57EE7-4378-6D71-B166-C700F71A10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375" y="6021388"/>
            <a:ext cx="3168650" cy="509587"/>
          </a:xfrm>
          <a:prstGeom prst="rect">
            <a:avLst/>
          </a:prstGeom>
          <a:noFill/>
          <a:ln w="25400">
            <a:solidFill>
              <a:srgbClr val="00B0F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/>
              <a:t>P(a</a:t>
            </a:r>
            <a:r>
              <a:rPr lang="en-US" altLang="zh-CN" sz="2800" baseline="-25000"/>
              <a:t>1</a:t>
            </a:r>
            <a:r>
              <a:rPr lang="en-US" altLang="zh-CN" sz="2800"/>
              <a:t>)</a:t>
            </a:r>
            <a:r>
              <a:rPr lang="en-US" altLang="zh-CN" sz="2800">
                <a:solidFill>
                  <a:schemeClr val="hlink"/>
                </a:solidFill>
              </a:rPr>
              <a:t>,</a:t>
            </a:r>
            <a:r>
              <a:rPr lang="en-US" altLang="zh-CN" sz="2800"/>
              <a:t>P(a</a:t>
            </a:r>
            <a:r>
              <a:rPr lang="en-US" altLang="zh-CN" sz="2800" baseline="-25000"/>
              <a:t>2</a:t>
            </a:r>
            <a:r>
              <a:rPr lang="en-US" altLang="zh-CN" sz="2800"/>
              <a:t>)</a:t>
            </a:r>
            <a:r>
              <a:rPr lang="en-US" altLang="zh-CN" sz="2800">
                <a:solidFill>
                  <a:srgbClr val="FF0066"/>
                </a:solidFill>
              </a:rPr>
              <a:t>,</a:t>
            </a:r>
            <a:r>
              <a:rPr lang="en-US" altLang="zh-CN" sz="2800">
                <a:latin typeface="Arial" panose="020B0604020202020204" pitchFamily="34" charset="0"/>
              </a:rPr>
              <a:t>…</a:t>
            </a:r>
            <a:r>
              <a:rPr lang="en-US" altLang="zh-CN" sz="2800">
                <a:solidFill>
                  <a:schemeClr val="hlink"/>
                </a:solidFill>
              </a:rPr>
              <a:t>,</a:t>
            </a:r>
            <a:r>
              <a:rPr lang="en-US" altLang="zh-CN" sz="2800"/>
              <a:t>P(a</a:t>
            </a:r>
            <a:r>
              <a:rPr lang="en-US" altLang="zh-CN" sz="2800" baseline="-25000"/>
              <a:t>n</a:t>
            </a:r>
            <a:r>
              <a:rPr lang="en-US" altLang="zh-CN" sz="2800"/>
              <a:t>) </a:t>
            </a:r>
            <a:endParaRPr lang="zh-CN" altLang="en-US" sz="280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90F90394-FA32-17F5-AC23-84B9CFBE8D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2.3.2 </a:t>
            </a:r>
            <a:r>
              <a:rPr lang="zh-CN" altLang="en-US" sz="4800"/>
              <a:t>约束变元与自由变元</a:t>
            </a:r>
          </a:p>
        </p:txBody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6A9B23A6-5338-E7BC-E67B-693E90B293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844675"/>
            <a:ext cx="8532812" cy="5013325"/>
          </a:xfrm>
        </p:spPr>
        <p:txBody>
          <a:bodyPr/>
          <a:lstStyle/>
          <a:p>
            <a:pPr eaLnBrk="1" hangingPunct="1">
              <a:lnSpc>
                <a:spcPct val="180000"/>
              </a:lnSpc>
              <a:defRPr/>
            </a:pPr>
            <a:r>
              <a:rPr lang="zh-CN" altLang="en-US" dirty="0"/>
              <a:t>在论域</a:t>
            </a:r>
            <a:r>
              <a:rPr lang="en-US" altLang="zh-CN" dirty="0"/>
              <a:t>{2,3}</a:t>
            </a:r>
            <a:r>
              <a:rPr lang="zh-CN" altLang="en-US" dirty="0"/>
              <a:t>中，（     ）与</a:t>
            </a:r>
            <a:r>
              <a:rPr lang="en-US" altLang="zh-CN" dirty="0">
                <a:sym typeface="Symbol" panose="05050102010706020507" pitchFamily="18" charset="2"/>
              </a:rPr>
              <a:t></a:t>
            </a:r>
            <a:r>
              <a:rPr lang="en-US" altLang="zh-CN" dirty="0" err="1"/>
              <a:t>x</a:t>
            </a:r>
            <a:r>
              <a:rPr lang="en-US" altLang="zh-CN" dirty="0" err="1">
                <a:sym typeface="Symbol" panose="05050102010706020507" pitchFamily="18" charset="2"/>
              </a:rPr>
              <a:t></a:t>
            </a:r>
            <a:r>
              <a:rPr lang="en-US" altLang="zh-CN" dirty="0" err="1"/>
              <a:t>yP</a:t>
            </a:r>
            <a:r>
              <a:rPr lang="en-US" altLang="zh-CN" dirty="0"/>
              <a:t>(</a:t>
            </a:r>
            <a:r>
              <a:rPr lang="en-US" altLang="zh-CN" dirty="0" err="1"/>
              <a:t>x,y</a:t>
            </a:r>
            <a:r>
              <a:rPr lang="en-US" altLang="zh-CN" dirty="0"/>
              <a:t>)</a:t>
            </a:r>
            <a:r>
              <a:rPr lang="zh-CN" altLang="en-US" dirty="0"/>
              <a:t>等价</a:t>
            </a:r>
            <a:endParaRPr lang="en-US" altLang="zh-CN" dirty="0"/>
          </a:p>
          <a:p>
            <a:pPr eaLnBrk="1" hangingPunct="1">
              <a:lnSpc>
                <a:spcPct val="180000"/>
              </a:lnSpc>
              <a:defRPr/>
            </a:pPr>
            <a:r>
              <a:rPr lang="en-US" altLang="zh-CN" dirty="0"/>
              <a:t>A. (P(2,2)</a:t>
            </a:r>
            <a:r>
              <a:rPr lang="en-US" altLang="zh-CN" sz="3200" dirty="0"/>
              <a:t> ∧P(2,3))</a:t>
            </a:r>
            <a:r>
              <a:rPr lang="en-US" altLang="zh-CN" dirty="0">
                <a:solidFill>
                  <a:schemeClr val="accent1"/>
                </a:solidFill>
              </a:rPr>
              <a:t> </a:t>
            </a:r>
            <a:r>
              <a:rPr lang="en-US" altLang="zh-CN" dirty="0"/>
              <a:t>∨(P(3,2)</a:t>
            </a:r>
            <a:r>
              <a:rPr lang="en-US" altLang="zh-CN" sz="3200" dirty="0"/>
              <a:t> ∧P(3,3)</a:t>
            </a:r>
            <a:r>
              <a:rPr lang="en-US" altLang="zh-CN" dirty="0"/>
              <a:t>)</a:t>
            </a:r>
          </a:p>
          <a:p>
            <a:pPr eaLnBrk="1" hangingPunct="1">
              <a:lnSpc>
                <a:spcPct val="180000"/>
              </a:lnSpc>
              <a:defRPr/>
            </a:pPr>
            <a:r>
              <a:rPr lang="en-US" altLang="zh-CN" dirty="0"/>
              <a:t>B. (P(2,2)</a:t>
            </a:r>
            <a:r>
              <a:rPr lang="en-US" altLang="zh-CN" sz="3200" dirty="0"/>
              <a:t> </a:t>
            </a:r>
            <a:r>
              <a:rPr lang="en-US" altLang="zh-CN" dirty="0"/>
              <a:t>∨ </a:t>
            </a:r>
            <a:r>
              <a:rPr lang="en-US" altLang="zh-CN" sz="3200" dirty="0"/>
              <a:t>P(2,3))</a:t>
            </a:r>
            <a:r>
              <a:rPr lang="en-US" altLang="zh-CN" dirty="0">
                <a:solidFill>
                  <a:schemeClr val="accent1"/>
                </a:solidFill>
              </a:rPr>
              <a:t> </a:t>
            </a:r>
            <a:r>
              <a:rPr lang="en-US" altLang="zh-CN" sz="3200" dirty="0"/>
              <a:t>∧</a:t>
            </a:r>
            <a:r>
              <a:rPr lang="en-US" altLang="zh-CN" dirty="0"/>
              <a:t>(P(3,2)</a:t>
            </a:r>
            <a:r>
              <a:rPr lang="en-US" altLang="zh-CN" sz="3200" dirty="0"/>
              <a:t> </a:t>
            </a:r>
            <a:r>
              <a:rPr lang="en-US" altLang="zh-CN" dirty="0"/>
              <a:t>∨ </a:t>
            </a:r>
            <a:r>
              <a:rPr lang="en-US" altLang="zh-CN" sz="3200" dirty="0"/>
              <a:t>P(3,3)</a:t>
            </a:r>
            <a:r>
              <a:rPr lang="en-US" altLang="zh-CN" dirty="0"/>
              <a:t>)</a:t>
            </a:r>
          </a:p>
          <a:p>
            <a:pPr eaLnBrk="1" hangingPunct="1">
              <a:lnSpc>
                <a:spcPct val="180000"/>
              </a:lnSpc>
              <a:defRPr/>
            </a:pPr>
            <a:r>
              <a:rPr lang="en-US" altLang="zh-CN" dirty="0"/>
              <a:t>C. P(2,2)</a:t>
            </a:r>
            <a:r>
              <a:rPr lang="en-US" altLang="zh-CN" sz="3200" dirty="0"/>
              <a:t> </a:t>
            </a:r>
            <a:r>
              <a:rPr lang="en-US" altLang="zh-CN" dirty="0"/>
              <a:t>∨ </a:t>
            </a:r>
            <a:r>
              <a:rPr lang="en-US" altLang="zh-CN" sz="3200" dirty="0"/>
              <a:t>P(2,3)</a:t>
            </a:r>
            <a:r>
              <a:rPr lang="en-US" altLang="zh-CN" dirty="0"/>
              <a:t> ∨ P(3,2)</a:t>
            </a:r>
            <a:r>
              <a:rPr lang="en-US" altLang="zh-CN" sz="3200" dirty="0"/>
              <a:t> </a:t>
            </a:r>
            <a:r>
              <a:rPr lang="en-US" altLang="zh-CN" dirty="0"/>
              <a:t>∨ </a:t>
            </a:r>
            <a:r>
              <a:rPr lang="en-US" altLang="zh-CN" sz="3200" dirty="0"/>
              <a:t>P(3,3)</a:t>
            </a:r>
          </a:p>
          <a:p>
            <a:pPr eaLnBrk="1" hangingPunct="1">
              <a:lnSpc>
                <a:spcPct val="180000"/>
              </a:lnSpc>
              <a:defRPr/>
            </a:pPr>
            <a:r>
              <a:rPr lang="en-US" altLang="zh-CN" dirty="0"/>
              <a:t>D. P(2,2)</a:t>
            </a:r>
            <a:r>
              <a:rPr lang="en-US" altLang="zh-CN" sz="3200" dirty="0"/>
              <a:t> ∧P(2,3) ∧ </a:t>
            </a:r>
            <a:r>
              <a:rPr lang="en-US" altLang="zh-CN" dirty="0"/>
              <a:t>P(3,2)</a:t>
            </a:r>
            <a:r>
              <a:rPr lang="en-US" altLang="zh-CN" sz="3200" dirty="0"/>
              <a:t> ∧P(3,3)</a:t>
            </a:r>
            <a:endParaRPr lang="en-US" altLang="zh-CN" dirty="0"/>
          </a:p>
          <a:p>
            <a:pPr eaLnBrk="1" hangingPunct="1">
              <a:lnSpc>
                <a:spcPct val="180000"/>
              </a:lnSpc>
              <a:defRPr/>
            </a:pPr>
            <a:endParaRPr lang="en-US" altLang="zh-CN" dirty="0">
              <a:sym typeface="Symbol" pitchFamily="18" charset="2"/>
            </a:endParaRPr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endParaRPr lang="en-US" altLang="zh-CN" dirty="0"/>
          </a:p>
          <a:p>
            <a:pPr eaLnBrk="1" hangingPunct="1">
              <a:lnSpc>
                <a:spcPct val="150000"/>
              </a:lnSpc>
              <a:defRPr/>
            </a:pPr>
            <a:endParaRPr lang="en-US" altLang="zh-CN" sz="3600" dirty="0"/>
          </a:p>
        </p:txBody>
      </p:sp>
    </p:spTree>
    <p:extLst>
      <p:ext uri="{BB962C8B-B14F-4D97-AF65-F5344CB8AC3E}">
        <p14:creationId xmlns:p14="http://schemas.microsoft.com/office/powerpoint/2010/main" val="2885020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15463F07-4029-AB7B-FABD-4B9E48B930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2.3.2 </a:t>
            </a:r>
            <a:r>
              <a:rPr lang="zh-CN" altLang="en-US" sz="4800"/>
              <a:t>约束变元与自由变元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BDF6ACCE-CE48-559E-3630-25E3C60E43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2017713"/>
            <a:ext cx="8343900" cy="4840287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dirty="0"/>
              <a:t>量词对个体变元的约束，与量词的次序有关，约定</a:t>
            </a:r>
            <a:r>
              <a:rPr lang="zh-CN" altLang="en-US" dirty="0">
                <a:solidFill>
                  <a:schemeClr val="hlink"/>
                </a:solidFill>
              </a:rPr>
              <a:t>从左到右的次序读出</a:t>
            </a:r>
            <a:r>
              <a:rPr lang="zh-CN" altLang="en-US" dirty="0"/>
              <a:t>。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</a:t>
            </a:r>
            <a:r>
              <a:rPr lang="zh-CN" altLang="en-US" dirty="0">
                <a:solidFill>
                  <a:schemeClr val="hlink"/>
                </a:solidFill>
              </a:rPr>
              <a:t>例如</a:t>
            </a:r>
            <a:r>
              <a:rPr lang="zh-CN" altLang="en-US" dirty="0"/>
              <a:t>，设论域为实数集。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</a:t>
            </a:r>
            <a:r>
              <a:rPr lang="en-US" altLang="zh-CN" dirty="0">
                <a:solidFill>
                  <a:schemeClr val="accent1"/>
                </a:solidFill>
              </a:rPr>
              <a:t>(1)</a:t>
            </a:r>
            <a:r>
              <a:rPr lang="en-US" altLang="zh-CN" dirty="0">
                <a:sym typeface="Symbol" panose="05050102010706020507" pitchFamily="18" charset="2"/>
              </a:rPr>
              <a:t></a:t>
            </a:r>
            <a:r>
              <a:rPr lang="en-US" altLang="zh-CN" dirty="0" err="1"/>
              <a:t>x</a:t>
            </a:r>
            <a:r>
              <a:rPr lang="en-US" altLang="zh-CN" dirty="0" err="1">
                <a:sym typeface="Symbol" panose="05050102010706020507" pitchFamily="18" charset="2"/>
              </a:rPr>
              <a:t></a:t>
            </a:r>
            <a:r>
              <a:rPr lang="en-US" altLang="zh-CN" dirty="0" err="1"/>
              <a:t>y</a:t>
            </a:r>
            <a:r>
              <a:rPr lang="en-US" altLang="zh-CN" dirty="0"/>
              <a:t>(x</a:t>
            </a:r>
            <a:r>
              <a:rPr lang="zh-CN" altLang="en-US" dirty="0"/>
              <a:t>＋</a:t>
            </a:r>
            <a:r>
              <a:rPr lang="en-US" altLang="zh-CN" dirty="0"/>
              <a:t>y</a:t>
            </a:r>
            <a:r>
              <a:rPr lang="zh-CN" altLang="en-US" dirty="0"/>
              <a:t>＝</a:t>
            </a:r>
            <a:r>
              <a:rPr lang="en-US" altLang="zh-CN" dirty="0"/>
              <a:t>0)   </a:t>
            </a:r>
            <a:r>
              <a:rPr lang="en-US" altLang="zh-CN" dirty="0">
                <a:solidFill>
                  <a:schemeClr val="hlink"/>
                </a:solidFill>
              </a:rPr>
              <a:t>1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</a:t>
            </a:r>
            <a:r>
              <a:rPr lang="zh-CN" altLang="en-US" dirty="0"/>
              <a:t>对每个实数</a:t>
            </a:r>
            <a:r>
              <a:rPr lang="en-US" altLang="zh-CN" dirty="0"/>
              <a:t>x,</a:t>
            </a:r>
            <a:r>
              <a:rPr lang="zh-CN" altLang="en-US" dirty="0"/>
              <a:t>均存在实数</a:t>
            </a:r>
            <a:r>
              <a:rPr lang="en-US" altLang="zh-CN" dirty="0"/>
              <a:t>y,</a:t>
            </a:r>
            <a:r>
              <a:rPr lang="zh-CN" altLang="en-US" dirty="0"/>
              <a:t>使得</a:t>
            </a:r>
            <a:r>
              <a:rPr lang="en-US" altLang="zh-CN" dirty="0"/>
              <a:t>x</a:t>
            </a:r>
            <a:r>
              <a:rPr lang="zh-CN" altLang="en-US" dirty="0"/>
              <a:t>＋</a:t>
            </a:r>
            <a:r>
              <a:rPr lang="en-US" altLang="zh-CN" dirty="0"/>
              <a:t>y</a:t>
            </a:r>
            <a:r>
              <a:rPr lang="zh-CN" altLang="en-US" dirty="0"/>
              <a:t>＝</a:t>
            </a:r>
            <a:r>
              <a:rPr lang="en-US" altLang="zh-CN" dirty="0"/>
              <a:t>0</a:t>
            </a:r>
            <a:r>
              <a:rPr lang="zh-CN" altLang="en-US" dirty="0"/>
              <a:t>。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</a:t>
            </a:r>
            <a:r>
              <a:rPr lang="en-US" altLang="zh-CN" dirty="0">
                <a:solidFill>
                  <a:srgbClr val="FF00FF"/>
                </a:solidFill>
              </a:rPr>
              <a:t>(2)</a:t>
            </a:r>
            <a:r>
              <a:rPr lang="en-US" altLang="zh-CN" dirty="0">
                <a:sym typeface="Symbol" panose="05050102010706020507" pitchFamily="18" charset="2"/>
              </a:rPr>
              <a:t></a:t>
            </a:r>
            <a:r>
              <a:rPr lang="en-US" altLang="zh-CN" dirty="0" err="1"/>
              <a:t>y</a:t>
            </a:r>
            <a:r>
              <a:rPr lang="en-US" altLang="zh-CN" dirty="0" err="1">
                <a:sym typeface="Symbol" panose="05050102010706020507" pitchFamily="18" charset="2"/>
              </a:rPr>
              <a:t></a:t>
            </a:r>
            <a:r>
              <a:rPr lang="en-US" altLang="zh-CN" dirty="0" err="1"/>
              <a:t>x</a:t>
            </a:r>
            <a:r>
              <a:rPr lang="en-US" altLang="zh-CN" dirty="0"/>
              <a:t>(x</a:t>
            </a:r>
            <a:r>
              <a:rPr lang="zh-CN" altLang="en-US" dirty="0"/>
              <a:t>＋</a:t>
            </a:r>
            <a:r>
              <a:rPr lang="en-US" altLang="zh-CN" dirty="0"/>
              <a:t>y</a:t>
            </a:r>
            <a:r>
              <a:rPr lang="zh-CN" altLang="en-US" dirty="0"/>
              <a:t>＝</a:t>
            </a:r>
            <a:r>
              <a:rPr lang="en-US" altLang="zh-CN" dirty="0"/>
              <a:t>0)   </a:t>
            </a:r>
            <a:r>
              <a:rPr lang="en-US" altLang="zh-CN" dirty="0">
                <a:solidFill>
                  <a:schemeClr val="hlink"/>
                </a:solidFill>
              </a:rPr>
              <a:t>0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</a:t>
            </a:r>
            <a:r>
              <a:rPr lang="zh-CN" altLang="en-US" dirty="0"/>
              <a:t>存在实数</a:t>
            </a:r>
            <a:r>
              <a:rPr lang="en-US" altLang="zh-CN" dirty="0"/>
              <a:t>y,</a:t>
            </a:r>
            <a:r>
              <a:rPr lang="zh-CN" altLang="en-US" dirty="0"/>
              <a:t>对任意实数</a:t>
            </a:r>
            <a:r>
              <a:rPr lang="en-US" altLang="zh-CN" dirty="0"/>
              <a:t>x,</a:t>
            </a:r>
            <a:r>
              <a:rPr lang="zh-CN" altLang="en-US" dirty="0"/>
              <a:t>使得</a:t>
            </a:r>
            <a:r>
              <a:rPr lang="en-US" altLang="zh-CN" dirty="0"/>
              <a:t>x</a:t>
            </a:r>
            <a:r>
              <a:rPr lang="zh-CN" altLang="en-US" dirty="0"/>
              <a:t>＋</a:t>
            </a:r>
            <a:r>
              <a:rPr lang="en-US" altLang="zh-CN" dirty="0"/>
              <a:t>y</a:t>
            </a:r>
            <a:r>
              <a:rPr lang="zh-CN" altLang="en-US" dirty="0"/>
              <a:t>＝</a:t>
            </a:r>
            <a:r>
              <a:rPr lang="en-US" altLang="zh-CN" dirty="0"/>
              <a:t>0</a:t>
            </a:r>
            <a:r>
              <a:rPr lang="zh-CN" altLang="en-US" sz="2800" dirty="0"/>
              <a:t>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1D0884C9-4728-6BEE-B70A-8CB90F49577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设论域为非负整数集，下列谓词公式中，（   ）的真值为真。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94105D1-634F-C4ED-E39E-9DA0BBF7ECE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3200" dirty="0">
                <a:sym typeface="Symbol" panose="05050102010706020507" pitchFamily="18" charset="2"/>
              </a:rPr>
              <a:t></a:t>
            </a:r>
            <a:r>
              <a:rPr lang="en-US" altLang="zh-CN" sz="3200" dirty="0" err="1"/>
              <a:t>x</a:t>
            </a:r>
            <a:r>
              <a:rPr lang="en-US" altLang="zh-CN" sz="3200" dirty="0" err="1">
                <a:sym typeface="Symbol" panose="05050102010706020507" pitchFamily="18" charset="2"/>
              </a:rPr>
              <a:t></a:t>
            </a:r>
            <a:r>
              <a:rPr lang="en-US" altLang="zh-CN" sz="3200" dirty="0" err="1"/>
              <a:t>y</a:t>
            </a:r>
            <a:r>
              <a:rPr lang="en-US" altLang="zh-CN" sz="3200" dirty="0"/>
              <a:t>(</a:t>
            </a:r>
            <a:r>
              <a:rPr lang="en-US" altLang="zh-CN" sz="3200" dirty="0" err="1"/>
              <a:t>xy</a:t>
            </a:r>
            <a:r>
              <a:rPr lang="zh-CN" altLang="en-US" sz="3200" dirty="0"/>
              <a:t>＝</a:t>
            </a:r>
            <a:r>
              <a:rPr lang="en-US" altLang="zh-CN" sz="3200" dirty="0"/>
              <a:t>0)</a:t>
            </a:r>
            <a:endParaRPr lang="zh-CN" altLang="en-US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8ED683A-31DB-1997-BB8B-5E1F35BECC6D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3200" dirty="0">
                <a:sym typeface="Symbol" panose="05050102010706020507" pitchFamily="18" charset="2"/>
              </a:rPr>
              <a:t></a:t>
            </a:r>
            <a:r>
              <a:rPr lang="en-US" altLang="zh-CN" sz="3200" dirty="0" err="1"/>
              <a:t>x</a:t>
            </a:r>
            <a:r>
              <a:rPr lang="en-US" altLang="zh-CN" sz="3200" dirty="0" err="1">
                <a:sym typeface="Symbol" panose="05050102010706020507" pitchFamily="18" charset="2"/>
              </a:rPr>
              <a:t></a:t>
            </a:r>
            <a:r>
              <a:rPr lang="en-US" altLang="zh-CN" sz="3200" dirty="0" err="1"/>
              <a:t>y</a:t>
            </a:r>
            <a:r>
              <a:rPr lang="en-US" altLang="zh-CN" sz="3200" dirty="0"/>
              <a:t>(</a:t>
            </a:r>
            <a:r>
              <a:rPr lang="en-US" altLang="zh-CN" sz="3200" dirty="0" err="1"/>
              <a:t>xy</a:t>
            </a:r>
            <a:r>
              <a:rPr lang="zh-CN" altLang="en-US" sz="3200" dirty="0"/>
              <a:t>＝</a:t>
            </a:r>
            <a:r>
              <a:rPr lang="en-US" altLang="zh-CN" sz="3200" dirty="0"/>
              <a:t>1)</a:t>
            </a:r>
            <a:endParaRPr lang="zh-CN" altLang="en-US" sz="32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B320895-1E25-41D1-2042-F6B481CBFD15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3200" dirty="0">
                <a:sym typeface="Symbol" panose="05050102010706020507" pitchFamily="18" charset="2"/>
              </a:rPr>
              <a:t> </a:t>
            </a:r>
            <a:r>
              <a:rPr lang="en-US" altLang="zh-CN" sz="3200" dirty="0" err="1"/>
              <a:t>x</a:t>
            </a:r>
            <a:r>
              <a:rPr lang="en-US" altLang="zh-CN" sz="3200" dirty="0" err="1">
                <a:sym typeface="Symbol" panose="05050102010706020507" pitchFamily="18" charset="2"/>
              </a:rPr>
              <a:t></a:t>
            </a:r>
            <a:r>
              <a:rPr lang="en-US" altLang="zh-CN" sz="3200" dirty="0" err="1"/>
              <a:t>y</a:t>
            </a:r>
            <a:r>
              <a:rPr lang="en-US" altLang="zh-CN" sz="3200" dirty="0"/>
              <a:t>(</a:t>
            </a:r>
            <a:r>
              <a:rPr lang="en-US" altLang="zh-CN" sz="3200" dirty="0" err="1"/>
              <a:t>xy</a:t>
            </a:r>
            <a:r>
              <a:rPr lang="zh-CN" altLang="en-US" sz="3200" dirty="0"/>
              <a:t>＝</a:t>
            </a:r>
            <a:r>
              <a:rPr lang="en-US" altLang="zh-CN" sz="3200" dirty="0"/>
              <a:t>2)</a:t>
            </a:r>
            <a:endParaRPr lang="zh-CN" altLang="en-US" sz="32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FAC0DBE-737C-58E3-9D80-AAAA9475265C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3200" dirty="0">
                <a:sym typeface="Symbol" panose="05050102010706020507" pitchFamily="18" charset="2"/>
              </a:rPr>
              <a:t></a:t>
            </a:r>
            <a:r>
              <a:rPr lang="en-US" altLang="zh-CN" sz="3200" dirty="0"/>
              <a:t>x</a:t>
            </a:r>
            <a:r>
              <a:rPr lang="en-US" altLang="zh-CN" sz="3200" dirty="0">
                <a:sym typeface="Symbol" panose="05050102010706020507" pitchFamily="18" charset="2"/>
              </a:rPr>
              <a:t>  </a:t>
            </a:r>
            <a:r>
              <a:rPr lang="en-US" altLang="zh-CN" sz="3200" dirty="0"/>
              <a:t>y</a:t>
            </a:r>
            <a:r>
              <a:rPr lang="en-US" altLang="zh-CN" sz="3200" dirty="0">
                <a:sym typeface="Symbol" panose="05050102010706020507" pitchFamily="18" charset="2"/>
              </a:rPr>
              <a:t> z</a:t>
            </a:r>
            <a:r>
              <a:rPr lang="en-US" altLang="zh-CN" sz="3200" dirty="0"/>
              <a:t>(x-y</a:t>
            </a:r>
            <a:r>
              <a:rPr lang="zh-CN" altLang="en-US" sz="3200" dirty="0"/>
              <a:t>＝</a:t>
            </a:r>
            <a:r>
              <a:rPr lang="en-US" altLang="zh-CN" sz="3200" dirty="0"/>
              <a:t>z)</a:t>
            </a:r>
            <a:endParaRPr lang="zh-CN" altLang="en-US" sz="32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496D1D5-10B5-C1AB-C98E-36F7940469C8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624A8DE-77B3-7094-2EE1-19B65154CA0D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A56F76E-D9C3-BFB4-633C-9559E86F8A28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92CD5CF-2B9C-8F49-DB6D-B9CB4DE1ED04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B128BDC-7F76-20AC-E00C-3F1891002614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20C3EA14-CC64-C95C-43B0-288BFEF222EF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7897903F-6E05-220F-6C0D-109FC1451AB5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29FDA77C-AAEE-F251-170A-A9B12017FB91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346B1211-19E0-E4ED-EB1E-D3D298EB2CE6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22" name="TipText">
              <a:extLst>
                <a:ext uri="{FF2B5EF4-FFF2-40B4-BE49-F238E27FC236}">
                  <a16:creationId xmlns:a16="http://schemas.microsoft.com/office/drawing/2014/main" id="{6A3AB0AB-D717-1191-006C-2451795E9427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B2B2F90C-8A64-F84C-19F8-B8D34DB450F8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62466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BF0C98C-D278-2915-BA9C-A9B797A675B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设论域为整数集，下列谓词公式中，（   ）真值为真。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964A89B-0751-36AE-73E8-C951EC69941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3200" dirty="0">
                <a:sym typeface="Symbol" panose="05050102010706020507" pitchFamily="18" charset="2"/>
              </a:rPr>
              <a:t></a:t>
            </a:r>
            <a:r>
              <a:rPr lang="en-US" altLang="zh-CN" sz="3200" dirty="0" err="1"/>
              <a:t>x</a:t>
            </a:r>
            <a:r>
              <a:rPr lang="en-US" altLang="zh-CN" sz="3200" dirty="0" err="1">
                <a:sym typeface="Symbol" panose="05050102010706020507" pitchFamily="18" charset="2"/>
              </a:rPr>
              <a:t></a:t>
            </a:r>
            <a:r>
              <a:rPr lang="en-US" altLang="zh-CN" sz="3200" dirty="0" err="1"/>
              <a:t>y</a:t>
            </a:r>
            <a:r>
              <a:rPr lang="en-US" altLang="zh-CN" sz="3200" dirty="0"/>
              <a:t>(</a:t>
            </a:r>
            <a:r>
              <a:rPr lang="en-US" altLang="zh-CN" sz="3200" dirty="0" err="1"/>
              <a:t>x+y</a:t>
            </a:r>
            <a:r>
              <a:rPr lang="zh-CN" altLang="en-US" sz="3200" dirty="0"/>
              <a:t>＝</a:t>
            </a:r>
            <a:r>
              <a:rPr lang="en-US" altLang="zh-CN" sz="3200" dirty="0"/>
              <a:t>0)</a:t>
            </a:r>
            <a:endParaRPr lang="zh-CN" altLang="en-US" sz="32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9905BD4-5BE3-4659-3777-27F53A74E795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3200" dirty="0">
                <a:sym typeface="Symbol" panose="05050102010706020507" pitchFamily="18" charset="2"/>
              </a:rPr>
              <a:t></a:t>
            </a:r>
            <a:r>
              <a:rPr lang="en-US" altLang="zh-CN" sz="3200" dirty="0"/>
              <a:t>y </a:t>
            </a:r>
            <a:r>
              <a:rPr lang="en-US" altLang="zh-CN" sz="3200" dirty="0">
                <a:sym typeface="Symbol" panose="05050102010706020507" pitchFamily="18" charset="2"/>
              </a:rPr>
              <a:t></a:t>
            </a:r>
            <a:r>
              <a:rPr lang="en-US" altLang="zh-CN" sz="3200" dirty="0"/>
              <a:t>x</a:t>
            </a:r>
            <a:r>
              <a:rPr lang="en-US" altLang="zh-CN" sz="3200" dirty="0">
                <a:sym typeface="Symbol" panose="05050102010706020507" pitchFamily="18" charset="2"/>
              </a:rPr>
              <a:t> </a:t>
            </a:r>
            <a:r>
              <a:rPr lang="en-US" altLang="zh-CN" sz="3200" dirty="0"/>
              <a:t>(</a:t>
            </a:r>
            <a:r>
              <a:rPr lang="en-US" altLang="zh-CN" sz="3200" dirty="0" err="1"/>
              <a:t>x+y</a:t>
            </a:r>
            <a:r>
              <a:rPr lang="zh-CN" altLang="en-US" sz="3200" dirty="0"/>
              <a:t>＝</a:t>
            </a:r>
            <a:r>
              <a:rPr lang="en-US" altLang="zh-CN" sz="3200" dirty="0"/>
              <a:t>0)</a:t>
            </a:r>
            <a:endParaRPr lang="zh-CN" altLang="en-US" sz="32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92C32BC-14D7-46EF-0042-B4966DE8EA7C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3200" dirty="0"/>
              <a:t>┐</a:t>
            </a:r>
            <a:r>
              <a:rPr lang="en-US" altLang="zh-CN" sz="3200" dirty="0">
                <a:sym typeface="Symbol" panose="05050102010706020507" pitchFamily="18" charset="2"/>
              </a:rPr>
              <a:t></a:t>
            </a:r>
            <a:r>
              <a:rPr lang="en-US" altLang="zh-CN" sz="3200" dirty="0" err="1"/>
              <a:t>x</a:t>
            </a:r>
            <a:r>
              <a:rPr lang="en-US" altLang="zh-CN" sz="3200" dirty="0" err="1">
                <a:sym typeface="Symbol" panose="05050102010706020507" pitchFamily="18" charset="2"/>
              </a:rPr>
              <a:t></a:t>
            </a:r>
            <a:r>
              <a:rPr lang="en-US" altLang="zh-CN" sz="3200" dirty="0" err="1"/>
              <a:t>y</a:t>
            </a:r>
            <a:r>
              <a:rPr lang="en-US" altLang="zh-CN" sz="3200" dirty="0"/>
              <a:t>(</a:t>
            </a:r>
            <a:r>
              <a:rPr lang="en-US" altLang="zh-CN" sz="3200" dirty="0" err="1"/>
              <a:t>x+y</a:t>
            </a:r>
            <a:r>
              <a:rPr lang="zh-CN" altLang="en-US" sz="3200" dirty="0"/>
              <a:t>＝</a:t>
            </a:r>
            <a:r>
              <a:rPr lang="en-US" altLang="zh-CN" sz="3200" dirty="0"/>
              <a:t>0)</a:t>
            </a:r>
            <a:endParaRPr lang="zh-CN" altLang="en-US" sz="32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E6F5F5B-3964-9DC3-398A-88AF2A78A173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3200" dirty="0">
                <a:sym typeface="Symbol" panose="05050102010706020507" pitchFamily="18" charset="2"/>
              </a:rPr>
              <a:t></a:t>
            </a:r>
            <a:r>
              <a:rPr lang="en-US" altLang="zh-CN" sz="3200" dirty="0"/>
              <a:t>x</a:t>
            </a:r>
            <a:r>
              <a:rPr lang="en-US" altLang="zh-CN" sz="3200" dirty="0">
                <a:sym typeface="Symbol" panose="05050102010706020507" pitchFamily="18" charset="2"/>
              </a:rPr>
              <a:t>  </a:t>
            </a:r>
            <a:r>
              <a:rPr lang="en-US" altLang="zh-CN" sz="3200" dirty="0"/>
              <a:t>y(</a:t>
            </a:r>
            <a:r>
              <a:rPr lang="en-US" altLang="zh-CN" sz="3200" dirty="0" err="1"/>
              <a:t>x+y</a:t>
            </a:r>
            <a:r>
              <a:rPr lang="zh-CN" altLang="en-US" sz="3200" dirty="0"/>
              <a:t>＝</a:t>
            </a:r>
            <a:r>
              <a:rPr lang="en-US" altLang="zh-CN" sz="3200" dirty="0"/>
              <a:t>0)</a:t>
            </a:r>
            <a:endParaRPr lang="zh-CN" altLang="en-US" sz="32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CF31AC11-E7BA-2719-73C0-02D741C85892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458A3407-F67A-84D6-ED18-AB6E4C2D30A1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2B732839-0257-AA72-EF61-129BE95ACC74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2B095D82-5ED9-5D9C-3550-8928033AB2B6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01728953-A38F-80DD-6B9B-991B66E3FED8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2CE9C86A-6D14-8DAF-84EC-FD67E6DF1341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DBA8E471-13AE-FA82-D88A-6BEA2E14E55F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88F536AB-E4FE-0305-B593-274F1AB32C99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3E776F95-C2A9-F9A5-7705-8D271252EBE1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CB60FC73-2543-C420-DD3E-9B07CA956965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FAF4BA68-CDA9-6479-F809-788AFE3BEF40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355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99FF6862-BFB2-050D-98E4-CEB0901BAD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2.3.3 </a:t>
            </a:r>
            <a:r>
              <a:rPr lang="zh-CN" altLang="en-US" sz="5400"/>
              <a:t>谓词翻译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4D8A0206-A9A8-AE70-92F1-B6E3741EBC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844675"/>
            <a:ext cx="8343900" cy="5013325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>
                <a:solidFill>
                  <a:schemeClr val="hlink"/>
                </a:solidFill>
              </a:rPr>
              <a:t>例</a:t>
            </a:r>
            <a:r>
              <a:rPr lang="en-US" altLang="zh-CN">
                <a:solidFill>
                  <a:schemeClr val="hlink"/>
                </a:solidFill>
              </a:rPr>
              <a:t>2.3.2</a:t>
            </a:r>
            <a:r>
              <a:rPr lang="en-US" altLang="zh-CN"/>
              <a:t> </a:t>
            </a:r>
            <a:r>
              <a:rPr lang="zh-CN" altLang="en-US"/>
              <a:t>翻译下列命题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/>
              <a:t>   对任意的实数</a:t>
            </a:r>
            <a:r>
              <a:rPr lang="en-US" altLang="zh-CN"/>
              <a:t>x</a:t>
            </a:r>
            <a:r>
              <a:rPr lang="zh-CN" altLang="en-US"/>
              <a:t>与</a:t>
            </a:r>
            <a:r>
              <a:rPr lang="en-US" altLang="zh-CN"/>
              <a:t>y</a:t>
            </a:r>
            <a:r>
              <a:rPr lang="zh-CN" altLang="en-US"/>
              <a:t>，均有</a:t>
            </a:r>
            <a:r>
              <a:rPr lang="en-US" altLang="zh-CN"/>
              <a:t>x</a:t>
            </a:r>
            <a:r>
              <a:rPr lang="en-US" altLang="zh-CN" baseline="30000"/>
              <a:t>2</a:t>
            </a:r>
            <a:r>
              <a:rPr lang="zh-CN" altLang="en-US"/>
              <a:t>＋</a:t>
            </a:r>
            <a:r>
              <a:rPr lang="en-US" altLang="zh-CN"/>
              <a:t>y</a:t>
            </a:r>
            <a:r>
              <a:rPr lang="en-US" altLang="zh-CN" baseline="30000"/>
              <a:t>2</a:t>
            </a:r>
            <a:r>
              <a:rPr lang="en-US" altLang="zh-CN"/>
              <a:t>≥0</a:t>
            </a:r>
            <a:r>
              <a:rPr lang="zh-CN" altLang="en-US"/>
              <a:t>。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b="1"/>
              <a:t>   </a:t>
            </a:r>
            <a:r>
              <a:rPr lang="zh-CN" altLang="en-US" b="1">
                <a:solidFill>
                  <a:schemeClr val="hlink"/>
                </a:solidFill>
              </a:rPr>
              <a:t>解</a:t>
            </a:r>
            <a:r>
              <a:rPr lang="zh-CN" altLang="en-US" b="1"/>
              <a:t>  </a:t>
            </a:r>
            <a:r>
              <a:rPr lang="zh-CN" altLang="en-US"/>
              <a:t>设</a:t>
            </a:r>
            <a:r>
              <a:rPr lang="en-US" altLang="zh-CN"/>
              <a:t>A(x)</a:t>
            </a:r>
            <a:r>
              <a:rPr lang="zh-CN" altLang="en-US"/>
              <a:t>：</a:t>
            </a:r>
            <a:r>
              <a:rPr lang="en-US" altLang="zh-CN"/>
              <a:t>x</a:t>
            </a:r>
            <a:r>
              <a:rPr lang="zh-CN" altLang="en-US"/>
              <a:t>是实数。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/>
              <a:t>      </a:t>
            </a:r>
            <a:r>
              <a:rPr lang="en-US" altLang="zh-CN"/>
              <a:t>F(x,y,0)</a:t>
            </a:r>
            <a:r>
              <a:rPr lang="zh-CN" altLang="en-US"/>
              <a:t>：</a:t>
            </a:r>
            <a:r>
              <a:rPr lang="en-US" altLang="zh-CN"/>
              <a:t>x</a:t>
            </a:r>
            <a:r>
              <a:rPr lang="en-US" altLang="zh-CN" baseline="30000"/>
              <a:t>2</a:t>
            </a:r>
            <a:r>
              <a:rPr lang="zh-CN" altLang="en-US"/>
              <a:t>＋</a:t>
            </a:r>
            <a:r>
              <a:rPr lang="en-US" altLang="zh-CN"/>
              <a:t>y</a:t>
            </a:r>
            <a:r>
              <a:rPr lang="en-US" altLang="zh-CN" baseline="30000"/>
              <a:t>2</a:t>
            </a:r>
            <a:r>
              <a:rPr lang="en-US" altLang="zh-CN"/>
              <a:t>≥0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/>
              <a:t>     </a:t>
            </a:r>
            <a:r>
              <a:rPr lang="zh-CN" altLang="en-US"/>
              <a:t>命题翻译为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/>
              <a:t>     </a:t>
            </a:r>
            <a:r>
              <a:rPr lang="zh-CN" altLang="en-US">
                <a:sym typeface="Symbol" panose="05050102010706020507" pitchFamily="18" charset="2"/>
              </a:rPr>
              <a:t></a:t>
            </a:r>
            <a:r>
              <a:rPr lang="en-US" altLang="zh-CN"/>
              <a:t>x</a:t>
            </a:r>
            <a:r>
              <a:rPr lang="en-US" altLang="zh-CN">
                <a:sym typeface="Symbol" panose="05050102010706020507" pitchFamily="18" charset="2"/>
              </a:rPr>
              <a:t></a:t>
            </a:r>
            <a:r>
              <a:rPr lang="en-US" altLang="zh-CN"/>
              <a:t>y</a:t>
            </a:r>
            <a:r>
              <a:rPr lang="en-US" altLang="zh-CN">
                <a:solidFill>
                  <a:srgbClr val="FF0000"/>
                </a:solidFill>
              </a:rPr>
              <a:t>(</a:t>
            </a:r>
            <a:r>
              <a:rPr lang="en-US" altLang="zh-CN"/>
              <a:t>(A(x)∧A(y))→F(x,y,0)</a:t>
            </a:r>
            <a:r>
              <a:rPr lang="en-US" altLang="zh-CN">
                <a:solidFill>
                  <a:srgbClr val="C00000"/>
                </a:solidFill>
              </a:rPr>
              <a:t>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5259C73F-6140-5E17-1765-D24927CD24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2.3.3 </a:t>
            </a:r>
            <a:r>
              <a:rPr lang="zh-CN" altLang="en-US" sz="5400"/>
              <a:t>谓词翻译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F35319C8-30D0-E959-08BF-C9BA861F0E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844675"/>
            <a:ext cx="8343900" cy="5013325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>
                <a:solidFill>
                  <a:schemeClr val="hlink"/>
                </a:solidFill>
              </a:rPr>
              <a:t>例</a:t>
            </a:r>
            <a:r>
              <a:rPr lang="en-US" altLang="zh-CN">
                <a:solidFill>
                  <a:schemeClr val="hlink"/>
                </a:solidFill>
              </a:rPr>
              <a:t>2.3.3</a:t>
            </a:r>
            <a:r>
              <a:rPr lang="en-US" altLang="zh-CN"/>
              <a:t> </a:t>
            </a:r>
            <a:r>
              <a:rPr lang="zh-CN" altLang="en-US"/>
              <a:t>翻译下列命题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/>
              <a:t>   有些人对某些事物过敏。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b="1"/>
              <a:t>    </a:t>
            </a:r>
            <a:r>
              <a:rPr lang="zh-CN" altLang="en-US" b="1">
                <a:solidFill>
                  <a:schemeClr val="hlink"/>
                </a:solidFill>
              </a:rPr>
              <a:t>解 </a:t>
            </a:r>
            <a:r>
              <a:rPr lang="zh-CN" altLang="en-US"/>
              <a:t>设</a:t>
            </a:r>
            <a:r>
              <a:rPr lang="en-US" altLang="zh-CN"/>
              <a:t>P(x)</a:t>
            </a:r>
            <a:r>
              <a:rPr lang="zh-CN" altLang="en-US"/>
              <a:t>：</a:t>
            </a:r>
            <a:r>
              <a:rPr lang="en-US" altLang="zh-CN"/>
              <a:t>x</a:t>
            </a:r>
            <a:r>
              <a:rPr lang="zh-CN" altLang="en-US"/>
              <a:t>是人。   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/>
              <a:t>          </a:t>
            </a:r>
            <a:r>
              <a:rPr lang="en-US" altLang="zh-CN"/>
              <a:t>Q(x)</a:t>
            </a:r>
            <a:r>
              <a:rPr lang="zh-CN" altLang="en-US"/>
              <a:t>：</a:t>
            </a:r>
            <a:r>
              <a:rPr lang="en-US" altLang="zh-CN"/>
              <a:t>x</a:t>
            </a:r>
            <a:r>
              <a:rPr lang="zh-CN" altLang="en-US"/>
              <a:t>是事物。     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/>
              <a:t>        </a:t>
            </a:r>
            <a:r>
              <a:rPr lang="en-US" altLang="zh-CN"/>
              <a:t>F(x,y)</a:t>
            </a:r>
            <a:r>
              <a:rPr lang="zh-CN" altLang="en-US"/>
              <a:t>：</a:t>
            </a:r>
            <a:r>
              <a:rPr lang="en-US" altLang="zh-CN"/>
              <a:t>x</a:t>
            </a:r>
            <a:r>
              <a:rPr lang="zh-CN" altLang="en-US"/>
              <a:t>对</a:t>
            </a:r>
            <a:r>
              <a:rPr lang="en-US" altLang="zh-CN"/>
              <a:t>y</a:t>
            </a:r>
            <a:r>
              <a:rPr lang="zh-CN" altLang="en-US"/>
              <a:t>过敏。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/>
              <a:t>   命题翻译为</a:t>
            </a:r>
            <a:r>
              <a:rPr lang="zh-CN" altLang="en-US">
                <a:sym typeface="Symbol" panose="05050102010706020507" pitchFamily="18" charset="2"/>
              </a:rPr>
              <a:t></a:t>
            </a:r>
            <a:r>
              <a:rPr lang="en-US" altLang="zh-CN"/>
              <a:t>x</a:t>
            </a:r>
            <a:r>
              <a:rPr lang="en-US" altLang="zh-CN">
                <a:sym typeface="Symbol" panose="05050102010706020507" pitchFamily="18" charset="2"/>
              </a:rPr>
              <a:t></a:t>
            </a:r>
            <a:r>
              <a:rPr lang="en-US" altLang="zh-CN"/>
              <a:t>y(P(x)∧Q(y)∧F(x,y))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>
            <a:extLst>
              <a:ext uri="{FF2B5EF4-FFF2-40B4-BE49-F238E27FC236}">
                <a16:creationId xmlns:a16="http://schemas.microsoft.com/office/drawing/2014/main" id="{7BE72E1F-050C-E04D-F2F8-12086FE905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2.3.3 </a:t>
            </a:r>
            <a:r>
              <a:rPr lang="zh-CN" altLang="en-US" sz="5400"/>
              <a:t>谓词翻译</a:t>
            </a:r>
          </a:p>
        </p:txBody>
      </p:sp>
      <p:sp>
        <p:nvSpPr>
          <p:cNvPr id="12291" name="Rectangle 5">
            <a:extLst>
              <a:ext uri="{FF2B5EF4-FFF2-40B4-BE49-F238E27FC236}">
                <a16:creationId xmlns:a16="http://schemas.microsoft.com/office/drawing/2014/main" id="{A3B24F93-35DE-C4C5-F7B8-DE069E6B222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1916113"/>
            <a:ext cx="4392612" cy="4941887"/>
          </a:xfrm>
        </p:spPr>
        <p:txBody>
          <a:bodyPr/>
          <a:lstStyle/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hlink"/>
                </a:solidFill>
              </a:rPr>
              <a:t>例</a:t>
            </a:r>
            <a:r>
              <a:rPr lang="en-US" altLang="zh-CN">
                <a:solidFill>
                  <a:schemeClr val="hlink"/>
                </a:solidFill>
              </a:rPr>
              <a:t>2.3.4</a:t>
            </a:r>
            <a:r>
              <a:rPr lang="en-US" altLang="zh-CN"/>
              <a:t> </a:t>
            </a:r>
            <a:r>
              <a:rPr lang="zh-CN" altLang="en-US"/>
              <a:t>翻译下列命题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/>
              <a:t> </a:t>
            </a:r>
            <a:r>
              <a:rPr lang="en-US" altLang="zh-CN">
                <a:solidFill>
                  <a:schemeClr val="accent1"/>
                </a:solidFill>
              </a:rPr>
              <a:t>(1)</a:t>
            </a:r>
            <a:r>
              <a:rPr lang="zh-CN" altLang="en-US"/>
              <a:t>甲村人与乙村人同姓。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/>
              <a:t> </a:t>
            </a:r>
            <a:r>
              <a:rPr lang="en-US" altLang="zh-CN"/>
              <a:t>(2)</a:t>
            </a:r>
            <a:r>
              <a:rPr lang="zh-CN" altLang="en-US"/>
              <a:t>甲村与乙村有人同姓。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/>
              <a:t> </a:t>
            </a:r>
            <a:r>
              <a:rPr lang="en-US" altLang="zh-CN">
                <a:solidFill>
                  <a:srgbClr val="FF00FF"/>
                </a:solidFill>
              </a:rPr>
              <a:t>(3)</a:t>
            </a:r>
            <a:r>
              <a:rPr lang="zh-CN" altLang="en-US"/>
              <a:t>甲村有人与乙村人同姓。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/>
              <a:t> </a:t>
            </a:r>
            <a:r>
              <a:rPr lang="en-US" altLang="zh-CN"/>
              <a:t>(4)</a:t>
            </a:r>
            <a:r>
              <a:rPr lang="zh-CN" altLang="en-US"/>
              <a:t>乙村有人与甲村人同姓。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>
                <a:solidFill>
                  <a:schemeClr val="hlink"/>
                </a:solidFill>
              </a:rPr>
              <a:t>解</a:t>
            </a:r>
            <a:r>
              <a:rPr lang="zh-CN" altLang="en-US"/>
              <a:t>设</a:t>
            </a:r>
            <a:r>
              <a:rPr lang="en-US" altLang="zh-CN"/>
              <a:t>A(x,y):x</a:t>
            </a:r>
            <a:r>
              <a:rPr lang="zh-CN" altLang="en-US"/>
              <a:t>与</a:t>
            </a:r>
            <a:r>
              <a:rPr lang="en-US" altLang="zh-CN"/>
              <a:t>y</a:t>
            </a:r>
            <a:r>
              <a:rPr lang="zh-CN" altLang="en-US"/>
              <a:t>同姓。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/>
              <a:t>   </a:t>
            </a:r>
            <a:r>
              <a:rPr lang="en-US" altLang="zh-CN"/>
              <a:t>x</a:t>
            </a:r>
            <a:r>
              <a:rPr lang="zh-CN" altLang="en-US"/>
              <a:t>的论域：甲村人集合。</a:t>
            </a:r>
            <a:r>
              <a:rPr lang="en-US" altLang="zh-CN"/>
              <a:t>y</a:t>
            </a:r>
            <a:r>
              <a:rPr lang="zh-CN" altLang="en-US"/>
              <a:t>的论域：乙村人集合。</a:t>
            </a:r>
          </a:p>
        </p:txBody>
      </p:sp>
      <p:sp>
        <p:nvSpPr>
          <p:cNvPr id="12292" name="Rectangle 6">
            <a:extLst>
              <a:ext uri="{FF2B5EF4-FFF2-40B4-BE49-F238E27FC236}">
                <a16:creationId xmlns:a16="http://schemas.microsoft.com/office/drawing/2014/main" id="{6A2D4435-43E8-23D5-9E51-E2BEA47A033E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5076825" y="1844675"/>
            <a:ext cx="4067175" cy="4259263"/>
          </a:xfrm>
        </p:spPr>
        <p:txBody>
          <a:bodyPr/>
          <a:lstStyle/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endParaRPr lang="en-US" altLang="zh-CN"/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/>
              <a:t>  </a:t>
            </a:r>
            <a:r>
              <a:rPr lang="en-US" altLang="zh-CN">
                <a:solidFill>
                  <a:schemeClr val="accent1"/>
                </a:solidFill>
              </a:rPr>
              <a:t>(1)</a:t>
            </a:r>
            <a:r>
              <a:rPr lang="zh-CN" altLang="en-US"/>
              <a:t>翻译为</a:t>
            </a:r>
            <a:r>
              <a:rPr lang="zh-CN" altLang="en-US">
                <a:sym typeface="Symbol" panose="05050102010706020507" pitchFamily="18" charset="2"/>
              </a:rPr>
              <a:t></a:t>
            </a:r>
            <a:r>
              <a:rPr lang="en-US" altLang="zh-CN"/>
              <a:t>x</a:t>
            </a:r>
            <a:r>
              <a:rPr lang="en-US" altLang="zh-CN">
                <a:sym typeface="Symbol" panose="05050102010706020507" pitchFamily="18" charset="2"/>
              </a:rPr>
              <a:t></a:t>
            </a:r>
            <a:r>
              <a:rPr lang="en-US" altLang="zh-CN"/>
              <a:t>yA(x,y)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/>
              <a:t>  (2)</a:t>
            </a:r>
            <a:r>
              <a:rPr lang="zh-CN" altLang="en-US"/>
              <a:t>翻译为</a:t>
            </a:r>
            <a:r>
              <a:rPr lang="zh-CN" altLang="en-US">
                <a:sym typeface="Symbol" panose="05050102010706020507" pitchFamily="18" charset="2"/>
              </a:rPr>
              <a:t></a:t>
            </a:r>
            <a:r>
              <a:rPr lang="en-US" altLang="zh-CN"/>
              <a:t>x</a:t>
            </a:r>
            <a:r>
              <a:rPr lang="en-US" altLang="zh-CN">
                <a:sym typeface="Symbol" panose="05050102010706020507" pitchFamily="18" charset="2"/>
              </a:rPr>
              <a:t></a:t>
            </a:r>
            <a:r>
              <a:rPr lang="en-US" altLang="zh-CN"/>
              <a:t>yA(x,y)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/>
              <a:t>  </a:t>
            </a:r>
            <a:r>
              <a:rPr lang="en-US" altLang="zh-CN">
                <a:solidFill>
                  <a:srgbClr val="FF00FF"/>
                </a:solidFill>
              </a:rPr>
              <a:t>(3)</a:t>
            </a:r>
            <a:r>
              <a:rPr lang="zh-CN" altLang="en-US"/>
              <a:t>翻译为</a:t>
            </a:r>
            <a:r>
              <a:rPr lang="zh-CN" altLang="en-US">
                <a:sym typeface="Symbol" panose="05050102010706020507" pitchFamily="18" charset="2"/>
              </a:rPr>
              <a:t></a:t>
            </a:r>
            <a:r>
              <a:rPr lang="en-US" altLang="zh-CN"/>
              <a:t>x</a:t>
            </a:r>
            <a:r>
              <a:rPr lang="en-US" altLang="zh-CN">
                <a:sym typeface="Symbol" panose="05050102010706020507" pitchFamily="18" charset="2"/>
              </a:rPr>
              <a:t></a:t>
            </a:r>
            <a:r>
              <a:rPr lang="en-US" altLang="zh-CN"/>
              <a:t>yA(x,y)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/>
              <a:t>  (4)</a:t>
            </a:r>
            <a:r>
              <a:rPr lang="zh-CN" altLang="en-US"/>
              <a:t>翻译为</a:t>
            </a:r>
            <a:r>
              <a:rPr lang="zh-CN" altLang="en-US">
                <a:sym typeface="Symbol" panose="05050102010706020507" pitchFamily="18" charset="2"/>
              </a:rPr>
              <a:t></a:t>
            </a:r>
            <a:r>
              <a:rPr lang="en-US" altLang="zh-CN"/>
              <a:t>y</a:t>
            </a:r>
            <a:r>
              <a:rPr lang="en-US" altLang="zh-CN">
                <a:sym typeface="Symbol" panose="05050102010706020507" pitchFamily="18" charset="2"/>
              </a:rPr>
              <a:t></a:t>
            </a:r>
            <a:r>
              <a:rPr lang="en-US" altLang="zh-CN"/>
              <a:t>xA(x,y)</a:t>
            </a:r>
          </a:p>
          <a:p>
            <a:pPr eaLnBrk="1" hangingPunct="1"/>
            <a:endParaRPr lang="en-US" altLang="zh-CN" sz="2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7F76E9B4-71CC-4778-D1C0-9B081393FC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2.3.3 </a:t>
            </a:r>
            <a:r>
              <a:rPr lang="zh-CN" altLang="en-US" sz="5400"/>
              <a:t>谓词翻译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5CD57056-F19A-D70C-792C-5F93D9C5B73E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611188" y="1844675"/>
            <a:ext cx="4537075" cy="5013325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>
                <a:solidFill>
                  <a:schemeClr val="hlink"/>
                </a:solidFill>
              </a:rPr>
              <a:t>例</a:t>
            </a:r>
            <a:r>
              <a:rPr lang="en-US" altLang="zh-CN">
                <a:solidFill>
                  <a:schemeClr val="hlink"/>
                </a:solidFill>
              </a:rPr>
              <a:t>2.3.5</a:t>
            </a:r>
            <a:r>
              <a:rPr lang="zh-CN" altLang="en-US"/>
              <a:t>翻译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/>
              <a:t>   </a:t>
            </a:r>
            <a:r>
              <a:rPr lang="en-US" altLang="zh-CN">
                <a:solidFill>
                  <a:schemeClr val="accent1"/>
                </a:solidFill>
              </a:rPr>
              <a:t>(1)</a:t>
            </a:r>
            <a:r>
              <a:rPr lang="zh-CN" altLang="en-US"/>
              <a:t>兔子都比乌龟跑得快。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/>
              <a:t>   </a:t>
            </a:r>
            <a:r>
              <a:rPr lang="en-US" altLang="zh-CN"/>
              <a:t>(2)</a:t>
            </a:r>
            <a:r>
              <a:rPr lang="zh-CN" altLang="en-US"/>
              <a:t>有的乌龟比某些兔子</a:t>
            </a:r>
            <a:endParaRPr lang="en-US" altLang="zh-CN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/>
              <a:t>        </a:t>
            </a:r>
            <a:r>
              <a:rPr lang="zh-CN" altLang="en-US"/>
              <a:t>跑得快。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/>
              <a:t>   </a:t>
            </a:r>
            <a:r>
              <a:rPr lang="en-US" altLang="zh-CN">
                <a:solidFill>
                  <a:srgbClr val="0066FF"/>
                </a:solidFill>
              </a:rPr>
              <a:t>(3)</a:t>
            </a:r>
            <a:r>
              <a:rPr lang="zh-CN" altLang="en-US"/>
              <a:t>不是所有兔子都比乌</a:t>
            </a:r>
            <a:endParaRPr lang="en-US" altLang="zh-CN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/>
              <a:t>       </a:t>
            </a:r>
            <a:r>
              <a:rPr lang="zh-CN" altLang="en-US"/>
              <a:t>龟跑得快。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/>
              <a:t>   </a:t>
            </a:r>
            <a:r>
              <a:rPr lang="en-US" altLang="zh-CN"/>
              <a:t>(4)</a:t>
            </a:r>
            <a:r>
              <a:rPr lang="zh-CN" altLang="en-US"/>
              <a:t>没有跑得一样快的两</a:t>
            </a:r>
            <a:endParaRPr lang="en-US" altLang="zh-CN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/>
              <a:t>       </a:t>
            </a:r>
            <a:r>
              <a:rPr lang="zh-CN" altLang="en-US"/>
              <a:t>只兔子。</a:t>
            </a:r>
          </a:p>
        </p:txBody>
      </p:sp>
      <p:sp>
        <p:nvSpPr>
          <p:cNvPr id="13316" name="内容占位符 1">
            <a:extLst>
              <a:ext uri="{FF2B5EF4-FFF2-40B4-BE49-F238E27FC236}">
                <a16:creationId xmlns:a16="http://schemas.microsoft.com/office/drawing/2014/main" id="{E2398841-B71F-599B-A7C3-1F32699602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45088" y="1906588"/>
            <a:ext cx="3998912" cy="4951412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zh-CN" sz="2400" dirty="0"/>
              <a:t>A(x)</a:t>
            </a:r>
            <a:r>
              <a:rPr lang="zh-CN" altLang="en-US" sz="2400" dirty="0"/>
              <a:t>：</a:t>
            </a:r>
            <a:r>
              <a:rPr lang="en-US" altLang="zh-CN" sz="2400" dirty="0"/>
              <a:t>x</a:t>
            </a:r>
            <a:r>
              <a:rPr lang="zh-CN" altLang="en-US" sz="2400" dirty="0"/>
              <a:t>是兔子。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   </a:t>
            </a:r>
            <a:r>
              <a:rPr lang="en-US" altLang="zh-CN" sz="2400" dirty="0"/>
              <a:t>B(y)</a:t>
            </a:r>
            <a:r>
              <a:rPr lang="zh-CN" altLang="en-US" sz="2400" dirty="0"/>
              <a:t>：</a:t>
            </a:r>
            <a:r>
              <a:rPr lang="en-US" altLang="zh-CN" sz="2400" dirty="0"/>
              <a:t>y</a:t>
            </a:r>
            <a:r>
              <a:rPr lang="zh-CN" altLang="en-US" sz="2400" dirty="0"/>
              <a:t>是乌龟。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   </a:t>
            </a:r>
            <a:r>
              <a:rPr lang="en-US" altLang="zh-CN" sz="2400" dirty="0"/>
              <a:t>P(</a:t>
            </a:r>
            <a:r>
              <a:rPr lang="en-US" altLang="zh-CN" sz="2400" dirty="0" err="1"/>
              <a:t>x,y</a:t>
            </a:r>
            <a:r>
              <a:rPr lang="en-US" altLang="zh-CN" sz="2400" dirty="0"/>
              <a:t>)</a:t>
            </a:r>
            <a:r>
              <a:rPr lang="zh-CN" altLang="en-US" sz="2400" dirty="0"/>
              <a:t>：</a:t>
            </a:r>
            <a:r>
              <a:rPr lang="en-US" altLang="zh-CN" sz="2400" dirty="0"/>
              <a:t>x</a:t>
            </a:r>
            <a:r>
              <a:rPr lang="zh-CN" altLang="en-US" sz="2400" dirty="0"/>
              <a:t>比</a:t>
            </a:r>
            <a:r>
              <a:rPr lang="en-US" altLang="zh-CN" sz="2400" dirty="0"/>
              <a:t>y</a:t>
            </a:r>
            <a:r>
              <a:rPr lang="zh-CN" altLang="en-US" sz="2400" dirty="0"/>
              <a:t>跑得快。</a:t>
            </a:r>
            <a:endParaRPr lang="en-US" altLang="zh-CN" sz="2400" dirty="0"/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   Q(</a:t>
            </a:r>
            <a:r>
              <a:rPr lang="en-US" altLang="zh-CN" sz="2400" dirty="0" err="1"/>
              <a:t>x,y</a:t>
            </a:r>
            <a:r>
              <a:rPr lang="en-US" altLang="zh-CN" sz="2400" dirty="0"/>
              <a:t>):x</a:t>
            </a:r>
            <a:r>
              <a:rPr lang="zh-CN" altLang="en-US" sz="2400" dirty="0"/>
              <a:t>与</a:t>
            </a:r>
            <a:r>
              <a:rPr lang="en-US" altLang="zh-CN" sz="2400" dirty="0"/>
              <a:t>y</a:t>
            </a:r>
            <a:r>
              <a:rPr lang="zh-CN" altLang="en-US" sz="2400" dirty="0"/>
              <a:t>是两只不同的兔子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   </a:t>
            </a:r>
            <a:r>
              <a:rPr lang="en-US" altLang="zh-CN" sz="2400" dirty="0"/>
              <a:t>R(</a:t>
            </a:r>
            <a:r>
              <a:rPr lang="en-US" altLang="zh-CN" sz="2400" dirty="0" err="1"/>
              <a:t>x,y</a:t>
            </a:r>
            <a:r>
              <a:rPr lang="en-US" altLang="zh-CN" sz="2400" dirty="0"/>
              <a:t>)</a:t>
            </a:r>
            <a:r>
              <a:rPr lang="zh-CN" altLang="en-US" sz="2400" dirty="0"/>
              <a:t>：</a:t>
            </a:r>
            <a:r>
              <a:rPr lang="en-US" altLang="zh-CN" sz="2400" dirty="0"/>
              <a:t>x</a:t>
            </a:r>
            <a:r>
              <a:rPr lang="zh-CN" altLang="en-US" sz="2400" dirty="0"/>
              <a:t>与</a:t>
            </a:r>
            <a:r>
              <a:rPr lang="en-US" altLang="zh-CN" sz="2400" dirty="0"/>
              <a:t>y</a:t>
            </a:r>
            <a:r>
              <a:rPr lang="zh-CN" altLang="en-US" sz="2400" dirty="0"/>
              <a:t>跑同样快。</a:t>
            </a:r>
            <a:endParaRPr lang="en-US" altLang="zh-CN" sz="2400" dirty="0"/>
          </a:p>
          <a:p>
            <a:pPr marL="36000" eaLnBrk="1" hangingPunct="1">
              <a:spcBef>
                <a:spcPts val="800"/>
              </a:spcBef>
              <a:buFont typeface="Wingdings" panose="05000000000000000000" pitchFamily="2" charset="2"/>
              <a:buNone/>
            </a:pPr>
            <a:r>
              <a:rPr lang="en-US" altLang="zh-CN" dirty="0"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solidFill>
                  <a:srgbClr val="FF00FF"/>
                </a:solidFill>
                <a:sym typeface="Symbol" panose="05050102010706020507" pitchFamily="18" charset="2"/>
              </a:rPr>
              <a:t>(1)</a:t>
            </a:r>
            <a:r>
              <a:rPr lang="zh-CN" altLang="en-US" sz="2000" dirty="0">
                <a:sym typeface="Symbol" panose="05050102010706020507" pitchFamily="18" charset="2"/>
              </a:rPr>
              <a:t></a:t>
            </a:r>
            <a:r>
              <a:rPr lang="en-US" altLang="zh-CN" sz="2000" dirty="0" err="1"/>
              <a:t>x</a:t>
            </a:r>
            <a:r>
              <a:rPr lang="en-US" altLang="zh-CN" sz="2000" dirty="0" err="1">
                <a:sym typeface="Symbol" panose="05050102010706020507" pitchFamily="18" charset="2"/>
              </a:rPr>
              <a:t></a:t>
            </a:r>
            <a:r>
              <a:rPr lang="en-US" altLang="zh-CN" sz="2000" dirty="0" err="1"/>
              <a:t>y</a:t>
            </a:r>
            <a:r>
              <a:rPr lang="en-US" altLang="zh-CN" sz="2000" dirty="0">
                <a:solidFill>
                  <a:srgbClr val="FF00FF"/>
                </a:solidFill>
              </a:rPr>
              <a:t>(</a:t>
            </a:r>
            <a:r>
              <a:rPr lang="en-US" altLang="zh-CN" sz="2000" dirty="0"/>
              <a:t>(A(x)∧B(y))→P(</a:t>
            </a:r>
            <a:r>
              <a:rPr lang="en-US" altLang="zh-CN" sz="2000" dirty="0" err="1"/>
              <a:t>x,y</a:t>
            </a:r>
            <a:r>
              <a:rPr lang="en-US" altLang="zh-CN" sz="2000" dirty="0"/>
              <a:t>)</a:t>
            </a:r>
            <a:r>
              <a:rPr lang="en-US" altLang="zh-CN" sz="2000" dirty="0">
                <a:solidFill>
                  <a:srgbClr val="FF00FF"/>
                </a:solidFill>
              </a:rPr>
              <a:t>)</a:t>
            </a:r>
          </a:p>
          <a:p>
            <a:pPr marL="36000" eaLnBrk="1" hangingPunct="1">
              <a:spcBef>
                <a:spcPts val="80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 (2)</a:t>
            </a:r>
            <a:r>
              <a:rPr lang="zh-CN" altLang="en-US" sz="2000" dirty="0">
                <a:sym typeface="Symbol" panose="05050102010706020507" pitchFamily="18" charset="2"/>
              </a:rPr>
              <a:t></a:t>
            </a:r>
            <a:r>
              <a:rPr lang="en-US" altLang="zh-CN" sz="2000" dirty="0" err="1"/>
              <a:t>x</a:t>
            </a:r>
            <a:r>
              <a:rPr lang="en-US" altLang="zh-CN" sz="2000" dirty="0" err="1">
                <a:sym typeface="Symbol" panose="05050102010706020507" pitchFamily="18" charset="2"/>
              </a:rPr>
              <a:t></a:t>
            </a:r>
            <a:r>
              <a:rPr lang="en-US" altLang="zh-CN" sz="2000" dirty="0" err="1"/>
              <a:t>y</a:t>
            </a:r>
            <a:r>
              <a:rPr lang="en-US" altLang="zh-CN" sz="2000" dirty="0">
                <a:solidFill>
                  <a:srgbClr val="FF0000"/>
                </a:solidFill>
              </a:rPr>
              <a:t>(</a:t>
            </a:r>
            <a:r>
              <a:rPr lang="en-US" altLang="zh-CN" sz="2000" dirty="0"/>
              <a:t>A(x)∧B(y)∧P(</a:t>
            </a:r>
            <a:r>
              <a:rPr lang="en-US" altLang="zh-CN" sz="2000" dirty="0" err="1"/>
              <a:t>x,y</a:t>
            </a:r>
            <a:r>
              <a:rPr lang="en-US" altLang="zh-CN" sz="2000" dirty="0"/>
              <a:t>)</a:t>
            </a:r>
            <a:r>
              <a:rPr lang="en-US" altLang="zh-CN" sz="2000" dirty="0">
                <a:solidFill>
                  <a:srgbClr val="FF0000"/>
                </a:solidFill>
              </a:rPr>
              <a:t>)</a:t>
            </a:r>
          </a:p>
          <a:p>
            <a:pPr marL="36000" eaLnBrk="1" hangingPunct="1">
              <a:spcBef>
                <a:spcPts val="80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0000FF"/>
                </a:solidFill>
              </a:rPr>
              <a:t> </a:t>
            </a:r>
            <a:r>
              <a:rPr lang="en-US" altLang="zh-CN" sz="2000" dirty="0">
                <a:solidFill>
                  <a:schemeClr val="accent1"/>
                </a:solidFill>
              </a:rPr>
              <a:t>(3)</a:t>
            </a:r>
            <a:r>
              <a:rPr lang="en-US" altLang="zh-CN" sz="2000" dirty="0">
                <a:solidFill>
                  <a:srgbClr val="0000FF"/>
                </a:solidFill>
              </a:rPr>
              <a:t> </a:t>
            </a:r>
            <a:r>
              <a:rPr lang="zh-CN" altLang="en-US" sz="2000" dirty="0">
                <a:solidFill>
                  <a:srgbClr val="FF00FF"/>
                </a:solidFill>
              </a:rPr>
              <a:t>┐</a:t>
            </a:r>
            <a:r>
              <a:rPr lang="zh-CN" altLang="en-US" sz="2000" dirty="0">
                <a:sym typeface="Symbol" panose="05050102010706020507" pitchFamily="18" charset="2"/>
              </a:rPr>
              <a:t></a:t>
            </a:r>
            <a:r>
              <a:rPr lang="en-US" altLang="zh-CN" sz="2000" dirty="0" err="1"/>
              <a:t>x</a:t>
            </a:r>
            <a:r>
              <a:rPr lang="en-US" altLang="zh-CN" sz="2000" dirty="0" err="1">
                <a:sym typeface="Symbol" panose="05050102010706020507" pitchFamily="18" charset="2"/>
              </a:rPr>
              <a:t></a:t>
            </a:r>
            <a:r>
              <a:rPr lang="en-US" altLang="zh-CN" sz="2000" dirty="0" err="1"/>
              <a:t>y</a:t>
            </a:r>
            <a:r>
              <a:rPr lang="en-US" altLang="zh-CN" sz="2000" dirty="0">
                <a:solidFill>
                  <a:srgbClr val="FF0000"/>
                </a:solidFill>
              </a:rPr>
              <a:t>(</a:t>
            </a:r>
            <a:r>
              <a:rPr lang="en-US" altLang="zh-CN" sz="2000" dirty="0"/>
              <a:t>(A(x)∧B(y))→P(</a:t>
            </a:r>
            <a:r>
              <a:rPr lang="en-US" altLang="zh-CN" sz="2000" dirty="0" err="1"/>
              <a:t>x,y</a:t>
            </a:r>
            <a:r>
              <a:rPr lang="en-US" altLang="zh-CN" sz="2000" dirty="0"/>
              <a:t>)</a:t>
            </a:r>
            <a:r>
              <a:rPr lang="en-US" altLang="zh-CN" sz="2000" dirty="0">
                <a:solidFill>
                  <a:srgbClr val="FF0000"/>
                </a:solidFill>
              </a:rPr>
              <a:t>)</a:t>
            </a:r>
          </a:p>
          <a:p>
            <a:pPr marL="36000" eaLnBrk="1" hangingPunct="1">
              <a:spcBef>
                <a:spcPts val="80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 (4)</a:t>
            </a:r>
            <a:r>
              <a:rPr lang="zh-CN" altLang="en-US" sz="2000" dirty="0">
                <a:solidFill>
                  <a:srgbClr val="FF0000"/>
                </a:solidFill>
              </a:rPr>
              <a:t>┐</a:t>
            </a:r>
            <a:r>
              <a:rPr lang="zh-CN" altLang="en-US" sz="2000" dirty="0">
                <a:sym typeface="Symbol" panose="05050102010706020507" pitchFamily="18" charset="2"/>
              </a:rPr>
              <a:t></a:t>
            </a:r>
            <a:r>
              <a:rPr lang="en-US" altLang="zh-CN" sz="2000" dirty="0" err="1"/>
              <a:t>x</a:t>
            </a:r>
            <a:r>
              <a:rPr lang="en-US" altLang="zh-CN" sz="2000" dirty="0" err="1">
                <a:sym typeface="Symbol" panose="05050102010706020507" pitchFamily="18" charset="2"/>
              </a:rPr>
              <a:t></a:t>
            </a:r>
            <a:r>
              <a:rPr lang="en-US" altLang="zh-CN" sz="2000" dirty="0" err="1"/>
              <a:t>y</a:t>
            </a:r>
            <a:r>
              <a:rPr lang="en-US" altLang="zh-CN" sz="2000" dirty="0">
                <a:solidFill>
                  <a:srgbClr val="FF0000"/>
                </a:solidFill>
              </a:rPr>
              <a:t>(</a:t>
            </a:r>
            <a:r>
              <a:rPr lang="en-US" altLang="zh-CN" sz="2000" dirty="0"/>
              <a:t>A(x)∧A(y)∧Q(</a:t>
            </a:r>
            <a:r>
              <a:rPr lang="en-US" altLang="zh-CN" sz="2000" dirty="0" err="1"/>
              <a:t>x,y</a:t>
            </a:r>
            <a:r>
              <a:rPr lang="en-US" altLang="zh-CN" sz="2000" dirty="0"/>
              <a:t>) ∧R(</a:t>
            </a:r>
            <a:r>
              <a:rPr lang="en-US" altLang="zh-CN" sz="2000" dirty="0" err="1"/>
              <a:t>x,y</a:t>
            </a:r>
            <a:r>
              <a:rPr lang="en-US" altLang="zh-CN" sz="2000" dirty="0"/>
              <a:t>)</a:t>
            </a:r>
            <a:r>
              <a:rPr lang="en-US" altLang="zh-CN" sz="2000" dirty="0">
                <a:solidFill>
                  <a:srgbClr val="FF0000"/>
                </a:solidFill>
              </a:rPr>
              <a:t>)</a:t>
            </a:r>
          </a:p>
          <a:p>
            <a:pPr eaLnBrk="1" hangingPunct="1"/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C6BC6DF-4A9E-9D33-EA63-448637C80A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2.3.3 </a:t>
            </a:r>
            <a:r>
              <a:rPr lang="zh-CN" altLang="en-US" sz="5400"/>
              <a:t>谓词翻译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50B03C78-C951-4191-2E51-99921E7957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989138"/>
            <a:ext cx="8343900" cy="4868862"/>
          </a:xfrm>
        </p:spPr>
        <p:txBody>
          <a:bodyPr/>
          <a:lstStyle/>
          <a:p>
            <a:pPr eaLnBrk="1" hangingPunct="1">
              <a:lnSpc>
                <a:spcPct val="140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2.3.6</a:t>
            </a:r>
            <a:r>
              <a:rPr lang="en-US" altLang="zh-CN" dirty="0"/>
              <a:t> </a:t>
            </a:r>
            <a:r>
              <a:rPr lang="zh-CN" altLang="en-US" dirty="0"/>
              <a:t>翻译下列命题。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</a:t>
            </a:r>
            <a:r>
              <a:rPr lang="en-US" altLang="zh-CN" dirty="0">
                <a:solidFill>
                  <a:schemeClr val="accent1"/>
                </a:solidFill>
              </a:rPr>
              <a:t>(1)</a:t>
            </a:r>
            <a:r>
              <a:rPr lang="zh-CN" altLang="en-US" dirty="0"/>
              <a:t>没有最小的实数。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</a:t>
            </a:r>
            <a:r>
              <a:rPr lang="en-US" altLang="zh-CN" dirty="0"/>
              <a:t>(2)</a:t>
            </a:r>
            <a:r>
              <a:rPr lang="zh-CN" altLang="en-US" dirty="0"/>
              <a:t>每个实数的平方都不小于</a:t>
            </a:r>
            <a:r>
              <a:rPr lang="en-US" altLang="zh-CN" dirty="0"/>
              <a:t>0</a:t>
            </a:r>
            <a:r>
              <a:rPr lang="zh-CN" altLang="en-US" dirty="0"/>
              <a:t>。</a:t>
            </a:r>
            <a:endParaRPr lang="zh-CN" altLang="en-US" b="1" dirty="0"/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b="1" dirty="0"/>
              <a:t>  </a:t>
            </a:r>
            <a:r>
              <a:rPr lang="zh-CN" altLang="en-US" b="1" dirty="0">
                <a:solidFill>
                  <a:schemeClr val="hlink"/>
                </a:solidFill>
              </a:rPr>
              <a:t>解</a:t>
            </a:r>
            <a:r>
              <a:rPr lang="zh-CN" altLang="en-US" dirty="0"/>
              <a:t> 设</a:t>
            </a:r>
            <a:r>
              <a:rPr lang="en-US" altLang="zh-CN" dirty="0"/>
              <a:t>A(x)</a:t>
            </a:r>
            <a:r>
              <a:rPr lang="zh-CN" altLang="en-US" dirty="0"/>
              <a:t>：</a:t>
            </a:r>
            <a:r>
              <a:rPr lang="en-US" altLang="zh-CN" dirty="0"/>
              <a:t>x</a:t>
            </a:r>
            <a:r>
              <a:rPr lang="zh-CN" altLang="en-US" dirty="0"/>
              <a:t>是实数。</a:t>
            </a:r>
            <a:r>
              <a:rPr lang="en-US" altLang="zh-CN" dirty="0"/>
              <a:t>L(</a:t>
            </a:r>
            <a:r>
              <a:rPr lang="en-US" altLang="zh-CN" dirty="0" err="1"/>
              <a:t>x,y</a:t>
            </a:r>
            <a:r>
              <a:rPr lang="en-US" altLang="zh-CN" dirty="0"/>
              <a:t>)</a:t>
            </a:r>
            <a:r>
              <a:rPr lang="zh-CN" altLang="en-US" dirty="0"/>
              <a:t>：</a:t>
            </a:r>
            <a:r>
              <a:rPr lang="en-US" altLang="zh-CN" dirty="0"/>
              <a:t>x</a:t>
            </a:r>
            <a:r>
              <a:rPr lang="zh-CN" altLang="en-US" dirty="0"/>
              <a:t>小于</a:t>
            </a:r>
            <a:r>
              <a:rPr lang="en-US" altLang="zh-CN" dirty="0"/>
              <a:t>y</a:t>
            </a:r>
            <a:r>
              <a:rPr lang="zh-CN" altLang="en-US" dirty="0"/>
              <a:t>。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</a:t>
            </a:r>
            <a:r>
              <a:rPr lang="en-US" altLang="zh-CN" dirty="0">
                <a:solidFill>
                  <a:schemeClr val="accent1"/>
                </a:solidFill>
              </a:rPr>
              <a:t>(1)</a:t>
            </a:r>
            <a:r>
              <a:rPr lang="zh-CN" altLang="en-US" dirty="0"/>
              <a:t>翻译为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dirty="0"/>
              <a:t>x(A(x)→</a:t>
            </a:r>
            <a:r>
              <a:rPr lang="en-US" altLang="zh-CN" dirty="0">
                <a:sym typeface="Symbol" panose="05050102010706020507" pitchFamily="18" charset="2"/>
              </a:rPr>
              <a:t></a:t>
            </a:r>
            <a:r>
              <a:rPr lang="en-US" altLang="zh-CN" dirty="0"/>
              <a:t>y(A(y)∧L(</a:t>
            </a:r>
            <a:r>
              <a:rPr lang="en-US" altLang="zh-CN" dirty="0" err="1"/>
              <a:t>y,x</a:t>
            </a:r>
            <a:r>
              <a:rPr lang="en-US" altLang="zh-CN" dirty="0"/>
              <a:t>)))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(2)</a:t>
            </a:r>
            <a:r>
              <a:rPr lang="zh-CN" altLang="en-US" dirty="0"/>
              <a:t>翻译为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dirty="0"/>
              <a:t>x(A(x)→┐L(x</a:t>
            </a:r>
            <a:r>
              <a:rPr lang="en-US" altLang="zh-CN" baseline="30000" dirty="0"/>
              <a:t>2</a:t>
            </a:r>
            <a:r>
              <a:rPr lang="en-US" altLang="zh-CN" dirty="0"/>
              <a:t>,0))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28DF3BAA-C76F-77E1-A461-A4E9B44284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2.3.3 </a:t>
            </a:r>
            <a:r>
              <a:rPr lang="zh-CN" altLang="en-US" sz="5400"/>
              <a:t>谓词翻译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6FE20B53-C254-F93D-2AB0-5AD62B9275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2017713"/>
            <a:ext cx="8343900" cy="4724400"/>
          </a:xfrm>
        </p:spPr>
        <p:txBody>
          <a:bodyPr/>
          <a:lstStyle/>
          <a:p>
            <a:pPr eaLnBrk="1" hangingPunct="1">
              <a:lnSpc>
                <a:spcPct val="115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2.3.7</a:t>
            </a:r>
            <a:r>
              <a:rPr lang="en-US" altLang="zh-CN" dirty="0"/>
              <a:t> </a:t>
            </a:r>
            <a:r>
              <a:rPr lang="zh-CN" altLang="en-US" dirty="0"/>
              <a:t>翻译下列命题</a:t>
            </a:r>
            <a:r>
              <a:rPr lang="en-US" altLang="zh-CN" dirty="0"/>
              <a:t>.</a:t>
            </a:r>
            <a:r>
              <a:rPr lang="zh-CN" altLang="en-US" dirty="0"/>
              <a:t>。</a:t>
            </a:r>
          </a:p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</a:t>
            </a:r>
            <a:r>
              <a:rPr lang="en-US" altLang="zh-CN" dirty="0">
                <a:solidFill>
                  <a:schemeClr val="accent1"/>
                </a:solidFill>
              </a:rPr>
              <a:t>(1)</a:t>
            </a:r>
            <a:r>
              <a:rPr lang="zh-CN" altLang="en-US" dirty="0"/>
              <a:t>有人诚实，但未必一切人都诚实。</a:t>
            </a:r>
          </a:p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</a:t>
            </a:r>
            <a:r>
              <a:rPr lang="en-US" altLang="zh-CN" dirty="0"/>
              <a:t>(2)</a:t>
            </a:r>
            <a:r>
              <a:rPr lang="zh-CN" altLang="en-US" dirty="0"/>
              <a:t>有人到过月球，没有人到过火星。</a:t>
            </a:r>
            <a:endParaRPr lang="zh-CN" altLang="en-US" b="1" dirty="0"/>
          </a:p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zh-CN" altLang="en-US" b="1" dirty="0"/>
              <a:t>  </a:t>
            </a:r>
            <a:r>
              <a:rPr lang="zh-CN" altLang="en-US" b="1" dirty="0">
                <a:solidFill>
                  <a:schemeClr val="hlink"/>
                </a:solidFill>
              </a:rPr>
              <a:t>解</a:t>
            </a:r>
            <a:r>
              <a:rPr lang="zh-CN" altLang="en-US" dirty="0"/>
              <a:t> </a:t>
            </a:r>
            <a:r>
              <a:rPr lang="en-US" altLang="zh-CN" dirty="0"/>
              <a:t>P(x)</a:t>
            </a:r>
            <a:r>
              <a:rPr lang="zh-CN" altLang="en-US" dirty="0"/>
              <a:t>：</a:t>
            </a:r>
            <a:r>
              <a:rPr lang="en-US" altLang="zh-CN" dirty="0"/>
              <a:t>x</a:t>
            </a:r>
            <a:r>
              <a:rPr lang="zh-CN" altLang="en-US" dirty="0"/>
              <a:t>是人。      </a:t>
            </a:r>
            <a:r>
              <a:rPr lang="en-US" altLang="zh-CN" dirty="0"/>
              <a:t>A(x)</a:t>
            </a:r>
            <a:r>
              <a:rPr lang="zh-CN" altLang="en-US" dirty="0"/>
              <a:t>：</a:t>
            </a:r>
            <a:r>
              <a:rPr lang="en-US" altLang="zh-CN" dirty="0"/>
              <a:t>x</a:t>
            </a:r>
            <a:r>
              <a:rPr lang="zh-CN" altLang="en-US" dirty="0"/>
              <a:t>诚实。</a:t>
            </a:r>
          </a:p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   </a:t>
            </a:r>
            <a:r>
              <a:rPr lang="en-US" altLang="zh-CN" dirty="0"/>
              <a:t>B(x)</a:t>
            </a:r>
            <a:r>
              <a:rPr lang="zh-CN" altLang="en-US" dirty="0"/>
              <a:t>：</a:t>
            </a:r>
            <a:r>
              <a:rPr lang="en-US" altLang="zh-CN" dirty="0"/>
              <a:t>x</a:t>
            </a:r>
            <a:r>
              <a:rPr lang="zh-CN" altLang="en-US" dirty="0"/>
              <a:t>到过月球。</a:t>
            </a:r>
            <a:r>
              <a:rPr lang="en-US" altLang="zh-CN" dirty="0"/>
              <a:t>C(x)</a:t>
            </a:r>
            <a:r>
              <a:rPr lang="zh-CN" altLang="en-US" dirty="0"/>
              <a:t>：</a:t>
            </a:r>
            <a:r>
              <a:rPr lang="en-US" altLang="zh-CN" dirty="0"/>
              <a:t>x</a:t>
            </a:r>
            <a:r>
              <a:rPr lang="zh-CN" altLang="en-US" dirty="0"/>
              <a:t>到过火星。</a:t>
            </a:r>
          </a:p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</a:t>
            </a:r>
            <a:r>
              <a:rPr lang="en-US" altLang="zh-CN" dirty="0">
                <a:solidFill>
                  <a:schemeClr val="accent1"/>
                </a:solidFill>
              </a:rPr>
              <a:t>(1)</a:t>
            </a:r>
            <a:r>
              <a:rPr lang="zh-CN" altLang="en-US" dirty="0"/>
              <a:t>翻译为</a:t>
            </a:r>
            <a:r>
              <a:rPr lang="zh-CN" altLang="en-US" dirty="0">
                <a:sym typeface="Symbol" panose="05050102010706020507" pitchFamily="18" charset="2"/>
              </a:rPr>
              <a:t></a:t>
            </a:r>
            <a:r>
              <a:rPr lang="en-US" altLang="zh-CN" dirty="0"/>
              <a:t>x(P(x)∧A(x))∧┐</a:t>
            </a:r>
            <a:r>
              <a:rPr lang="en-US" altLang="zh-CN" dirty="0">
                <a:sym typeface="Symbol" panose="05050102010706020507" pitchFamily="18" charset="2"/>
              </a:rPr>
              <a:t></a:t>
            </a:r>
            <a:r>
              <a:rPr lang="en-US" altLang="zh-CN" dirty="0"/>
              <a:t>x(P(x)→A(x))</a:t>
            </a:r>
          </a:p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(2)</a:t>
            </a:r>
            <a:r>
              <a:rPr lang="zh-CN" altLang="en-US" dirty="0"/>
              <a:t>翻译为</a:t>
            </a:r>
            <a:r>
              <a:rPr lang="zh-CN" altLang="en-US" dirty="0">
                <a:sym typeface="Symbol" panose="05050102010706020507" pitchFamily="18" charset="2"/>
              </a:rPr>
              <a:t></a:t>
            </a:r>
            <a:r>
              <a:rPr lang="en-US" altLang="zh-CN" dirty="0"/>
              <a:t>x(P(x)∧B(x))∧┐</a:t>
            </a:r>
            <a:r>
              <a:rPr lang="en-US" altLang="zh-CN" dirty="0">
                <a:sym typeface="Symbol" panose="05050102010706020507" pitchFamily="18" charset="2"/>
              </a:rPr>
              <a:t></a:t>
            </a:r>
            <a:r>
              <a:rPr lang="en-US" altLang="zh-CN" dirty="0"/>
              <a:t>x(P(x)∧C(x))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346106AC-271E-5837-4646-F82F642ABC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2.3.3 </a:t>
            </a:r>
            <a:r>
              <a:rPr lang="zh-CN" altLang="en-US" sz="5400"/>
              <a:t>谓词翻译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5B60B865-838B-608B-7EF5-460B9CB31A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844675"/>
            <a:ext cx="8343900" cy="5013325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2.3.10</a:t>
            </a:r>
            <a:r>
              <a:rPr lang="en-US" altLang="zh-CN" dirty="0"/>
              <a:t> </a:t>
            </a:r>
            <a:r>
              <a:rPr lang="zh-CN" altLang="en-US" dirty="0"/>
              <a:t>翻译下列命题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在中国工作的人未必都是中国人。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chemeClr val="hlink"/>
                </a:solidFill>
              </a:rPr>
              <a:t>  解</a:t>
            </a:r>
            <a:r>
              <a:rPr lang="zh-CN" altLang="en-US" dirty="0">
                <a:solidFill>
                  <a:schemeClr val="accent1"/>
                </a:solidFill>
              </a:rPr>
              <a:t>  </a:t>
            </a:r>
            <a:r>
              <a:rPr lang="zh-CN" altLang="en-US" dirty="0"/>
              <a:t>设</a:t>
            </a:r>
            <a:r>
              <a:rPr lang="en-US" altLang="zh-CN" dirty="0"/>
              <a:t>Q(x)</a:t>
            </a:r>
            <a:r>
              <a:rPr lang="zh-CN" altLang="en-US" dirty="0"/>
              <a:t>：</a:t>
            </a:r>
            <a:r>
              <a:rPr lang="en-US" altLang="zh-CN" dirty="0"/>
              <a:t>x</a:t>
            </a:r>
            <a:r>
              <a:rPr lang="zh-CN" altLang="en-US" dirty="0"/>
              <a:t>是中国人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        </a:t>
            </a:r>
            <a:r>
              <a:rPr lang="en-US" altLang="zh-CN" dirty="0"/>
              <a:t>P(x)</a:t>
            </a:r>
            <a:r>
              <a:rPr lang="zh-CN" altLang="en-US" dirty="0"/>
              <a:t>：</a:t>
            </a:r>
            <a:r>
              <a:rPr lang="en-US" altLang="zh-CN" dirty="0"/>
              <a:t>x</a:t>
            </a:r>
            <a:r>
              <a:rPr lang="zh-CN" altLang="en-US" dirty="0"/>
              <a:t>在中国工作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翻译为 ┐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dirty="0"/>
              <a:t>x(P(x)→Q(x))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         </a:t>
            </a:r>
            <a:r>
              <a:rPr lang="en-US" altLang="zh-CN" dirty="0">
                <a:sym typeface="Symbol" panose="05050102010706020507" pitchFamily="18" charset="2"/>
              </a:rPr>
              <a:t></a:t>
            </a:r>
            <a:r>
              <a:rPr lang="en-US" altLang="zh-CN" dirty="0"/>
              <a:t>x(P(x)∧┐Q(x))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EF267469-8929-45D9-2DCC-2A02F66882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2.3.3 </a:t>
            </a:r>
            <a:r>
              <a:rPr lang="zh-CN" altLang="en-US" sz="5400"/>
              <a:t>谓词翻译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7BF07F6A-90CE-C637-1115-BB85BC15BE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916113"/>
            <a:ext cx="8343900" cy="4941887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2.3.11</a:t>
            </a:r>
            <a:r>
              <a:rPr lang="en-US" altLang="zh-CN" dirty="0"/>
              <a:t> </a:t>
            </a:r>
            <a:r>
              <a:rPr lang="zh-CN" altLang="en-US" dirty="0"/>
              <a:t>翻译下列命题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     每个人都不一样高。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chemeClr val="hlink"/>
                </a:solidFill>
              </a:rPr>
              <a:t>   解 </a:t>
            </a:r>
            <a:r>
              <a:rPr lang="zh-CN" altLang="en-US" dirty="0"/>
              <a:t>设</a:t>
            </a:r>
            <a:r>
              <a:rPr lang="en-US" altLang="zh-CN" dirty="0"/>
              <a:t>M(x)</a:t>
            </a:r>
            <a:r>
              <a:rPr lang="zh-CN" altLang="en-US" dirty="0"/>
              <a:t>：</a:t>
            </a:r>
            <a:r>
              <a:rPr lang="en-US" altLang="zh-CN" dirty="0"/>
              <a:t>x</a:t>
            </a:r>
            <a:r>
              <a:rPr lang="zh-CN" altLang="en-US" dirty="0"/>
              <a:t>是人。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     </a:t>
            </a:r>
            <a:r>
              <a:rPr lang="en-US" altLang="zh-CN" dirty="0"/>
              <a:t>H(</a:t>
            </a:r>
            <a:r>
              <a:rPr lang="en-US" altLang="zh-CN" dirty="0" err="1"/>
              <a:t>x,y</a:t>
            </a:r>
            <a:r>
              <a:rPr lang="en-US" altLang="zh-CN" dirty="0"/>
              <a:t>)</a:t>
            </a:r>
            <a:r>
              <a:rPr lang="zh-CN" altLang="en-US" dirty="0"/>
              <a:t>：</a:t>
            </a:r>
            <a:r>
              <a:rPr lang="en-US" altLang="zh-CN" dirty="0" err="1"/>
              <a:t>x≠y</a:t>
            </a:r>
            <a:r>
              <a:rPr lang="zh-CN" altLang="en-US" dirty="0"/>
              <a:t>。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      </a:t>
            </a:r>
            <a:r>
              <a:rPr lang="en-US" altLang="zh-CN" dirty="0"/>
              <a:t>L(</a:t>
            </a:r>
            <a:r>
              <a:rPr lang="en-US" altLang="zh-CN" dirty="0" err="1"/>
              <a:t>x,y</a:t>
            </a:r>
            <a:r>
              <a:rPr lang="en-US" altLang="zh-CN" dirty="0"/>
              <a:t>)</a:t>
            </a:r>
            <a:r>
              <a:rPr lang="zh-CN" altLang="en-US" dirty="0"/>
              <a:t>：</a:t>
            </a:r>
            <a:r>
              <a:rPr lang="en-US" altLang="zh-CN" dirty="0"/>
              <a:t>x</a:t>
            </a:r>
            <a:r>
              <a:rPr lang="zh-CN" altLang="en-US" dirty="0"/>
              <a:t>与</a:t>
            </a:r>
            <a:r>
              <a:rPr lang="en-US" altLang="zh-CN" dirty="0"/>
              <a:t>y</a:t>
            </a:r>
            <a:r>
              <a:rPr lang="zh-CN" altLang="en-US" dirty="0"/>
              <a:t>一样高。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  翻译为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ym typeface="Symbol" panose="05050102010706020507" pitchFamily="18" charset="2"/>
              </a:rPr>
              <a:t>     </a:t>
            </a:r>
            <a:r>
              <a:rPr lang="en-US" altLang="zh-CN" dirty="0" err="1"/>
              <a:t>x</a:t>
            </a:r>
            <a:r>
              <a:rPr lang="en-US" altLang="zh-CN" dirty="0" err="1">
                <a:sym typeface="Symbol" panose="05050102010706020507" pitchFamily="18" charset="2"/>
              </a:rPr>
              <a:t></a:t>
            </a:r>
            <a:r>
              <a:rPr lang="en-US" altLang="zh-CN" dirty="0" err="1"/>
              <a:t>y</a:t>
            </a:r>
            <a:r>
              <a:rPr lang="en-US" altLang="zh-CN" dirty="0"/>
              <a:t>((M(x)∧M(y)∧H(</a:t>
            </a:r>
            <a:r>
              <a:rPr lang="en-US" altLang="zh-CN" dirty="0" err="1"/>
              <a:t>x,y</a:t>
            </a:r>
            <a:r>
              <a:rPr lang="en-US" altLang="zh-CN" dirty="0"/>
              <a:t>))→</a:t>
            </a:r>
            <a:r>
              <a:rPr lang="zh-CN" altLang="en-US" dirty="0"/>
              <a:t>┐</a:t>
            </a:r>
            <a:r>
              <a:rPr lang="en-US" altLang="zh-CN" dirty="0"/>
              <a:t>L(</a:t>
            </a:r>
            <a:r>
              <a:rPr lang="en-US" altLang="zh-CN" dirty="0" err="1"/>
              <a:t>x,y</a:t>
            </a:r>
            <a:r>
              <a:rPr lang="en-US" altLang="zh-CN" dirty="0"/>
              <a:t>))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F83099D2-4264-E240-82A9-3E8B5B7134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2.3.3 </a:t>
            </a:r>
            <a:r>
              <a:rPr lang="zh-CN" altLang="en-US" sz="5400"/>
              <a:t>谓词翻译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C48A83FB-45E6-C203-5BF9-BA098433FF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989138"/>
            <a:ext cx="8343900" cy="4868862"/>
          </a:xfrm>
        </p:spPr>
        <p:txBody>
          <a:bodyPr/>
          <a:lstStyle/>
          <a:p>
            <a:pPr eaLnBrk="1" hangingPunct="1">
              <a:lnSpc>
                <a:spcPct val="165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2.3.12</a:t>
            </a:r>
            <a:r>
              <a:rPr lang="en-US" altLang="zh-CN" dirty="0"/>
              <a:t> </a:t>
            </a:r>
            <a:r>
              <a:rPr lang="zh-CN" altLang="en-US" dirty="0"/>
              <a:t>翻译下列命题</a:t>
            </a:r>
          </a:p>
          <a:p>
            <a:pPr eaLnBrk="1" hangingPunct="1">
              <a:lnSpc>
                <a:spcPct val="165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每个自然数都有后继数。</a:t>
            </a:r>
          </a:p>
          <a:p>
            <a:pPr eaLnBrk="1" hangingPunct="1">
              <a:lnSpc>
                <a:spcPct val="165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</a:t>
            </a:r>
            <a:r>
              <a:rPr lang="zh-CN" altLang="en-US" dirty="0">
                <a:solidFill>
                  <a:schemeClr val="hlink"/>
                </a:solidFill>
              </a:rPr>
              <a:t>解  </a:t>
            </a:r>
            <a:r>
              <a:rPr lang="zh-CN" altLang="en-US" dirty="0"/>
              <a:t>设</a:t>
            </a:r>
            <a:r>
              <a:rPr lang="en-US" altLang="zh-CN" dirty="0"/>
              <a:t>F(x)</a:t>
            </a:r>
            <a:r>
              <a:rPr lang="zh-CN" altLang="en-US" dirty="0"/>
              <a:t>：</a:t>
            </a:r>
            <a:r>
              <a:rPr lang="en-US" altLang="zh-CN" dirty="0"/>
              <a:t>x</a:t>
            </a:r>
            <a:r>
              <a:rPr lang="zh-CN" altLang="en-US" dirty="0"/>
              <a:t>是自然数。</a:t>
            </a:r>
          </a:p>
          <a:p>
            <a:pPr eaLnBrk="1" hangingPunct="1">
              <a:lnSpc>
                <a:spcPct val="165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     </a:t>
            </a:r>
            <a:r>
              <a:rPr lang="en-US" altLang="zh-CN" dirty="0"/>
              <a:t>H(</a:t>
            </a:r>
            <a:r>
              <a:rPr lang="en-US" altLang="zh-CN" dirty="0" err="1"/>
              <a:t>x,y</a:t>
            </a:r>
            <a:r>
              <a:rPr lang="en-US" altLang="zh-CN" dirty="0"/>
              <a:t>)</a:t>
            </a:r>
            <a:r>
              <a:rPr lang="zh-CN" altLang="en-US" dirty="0"/>
              <a:t>：</a:t>
            </a:r>
            <a:r>
              <a:rPr lang="en-US" altLang="zh-CN" dirty="0"/>
              <a:t>y</a:t>
            </a:r>
            <a:r>
              <a:rPr lang="zh-CN" altLang="en-US" dirty="0"/>
              <a:t>是</a:t>
            </a:r>
            <a:r>
              <a:rPr lang="en-US" altLang="zh-CN" dirty="0"/>
              <a:t>x</a:t>
            </a:r>
            <a:r>
              <a:rPr lang="zh-CN" altLang="en-US" dirty="0"/>
              <a:t>的后继。</a:t>
            </a:r>
          </a:p>
          <a:p>
            <a:pPr eaLnBrk="1" hangingPunct="1">
              <a:lnSpc>
                <a:spcPct val="165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 翻译为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dirty="0"/>
              <a:t>x(F(x)→</a:t>
            </a:r>
            <a:r>
              <a:rPr lang="en-US" altLang="zh-CN" dirty="0">
                <a:sym typeface="Symbol" panose="05050102010706020507" pitchFamily="18" charset="2"/>
              </a:rPr>
              <a:t></a:t>
            </a:r>
            <a:r>
              <a:rPr lang="en-US" altLang="zh-CN" dirty="0"/>
              <a:t>y(F(y)∧H(</a:t>
            </a:r>
            <a:r>
              <a:rPr lang="en-US" altLang="zh-CN" dirty="0" err="1"/>
              <a:t>y,x</a:t>
            </a:r>
            <a:r>
              <a:rPr lang="en-US" altLang="zh-CN" dirty="0"/>
              <a:t>))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D771E69E-65BD-5C01-64AA-9279C312A9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2.3.3 </a:t>
            </a:r>
            <a:r>
              <a:rPr lang="zh-CN" altLang="en-US" sz="5400"/>
              <a:t>谓词翻译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A37B62A0-1E3B-31B4-AF1E-6DD22FC774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2017713"/>
            <a:ext cx="8343900" cy="4840287"/>
          </a:xfrm>
        </p:spPr>
        <p:txBody>
          <a:bodyPr/>
          <a:lstStyle/>
          <a:p>
            <a:pPr eaLnBrk="1" hangingPunct="1">
              <a:lnSpc>
                <a:spcPct val="165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2.3.13</a:t>
            </a:r>
            <a:r>
              <a:rPr lang="en-US" altLang="zh-CN" dirty="0"/>
              <a:t> </a:t>
            </a:r>
            <a:r>
              <a:rPr lang="zh-CN" altLang="en-US" dirty="0"/>
              <a:t>翻译下列命题</a:t>
            </a:r>
          </a:p>
          <a:p>
            <a:pPr eaLnBrk="1" hangingPunct="1">
              <a:lnSpc>
                <a:spcPct val="165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有的自然数无先驱数。</a:t>
            </a:r>
          </a:p>
          <a:p>
            <a:pPr eaLnBrk="1" hangingPunct="1">
              <a:lnSpc>
                <a:spcPct val="165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</a:t>
            </a:r>
            <a:r>
              <a:rPr lang="zh-CN" altLang="en-US" dirty="0">
                <a:solidFill>
                  <a:schemeClr val="hlink"/>
                </a:solidFill>
              </a:rPr>
              <a:t>解</a:t>
            </a:r>
            <a:r>
              <a:rPr lang="zh-CN" altLang="en-US" dirty="0"/>
              <a:t> 设</a:t>
            </a:r>
            <a:r>
              <a:rPr lang="en-US" altLang="zh-CN" dirty="0"/>
              <a:t>F(x)</a:t>
            </a:r>
            <a:r>
              <a:rPr lang="zh-CN" altLang="en-US" dirty="0"/>
              <a:t>：</a:t>
            </a:r>
            <a:r>
              <a:rPr lang="en-US" altLang="zh-CN" dirty="0"/>
              <a:t>x</a:t>
            </a:r>
            <a:r>
              <a:rPr lang="zh-CN" altLang="en-US" dirty="0"/>
              <a:t>是自然数。</a:t>
            </a:r>
          </a:p>
          <a:p>
            <a:pPr eaLnBrk="1" hangingPunct="1">
              <a:lnSpc>
                <a:spcPct val="165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    </a:t>
            </a:r>
            <a:r>
              <a:rPr lang="en-US" altLang="zh-CN" dirty="0"/>
              <a:t>L(</a:t>
            </a:r>
            <a:r>
              <a:rPr lang="en-US" altLang="zh-CN" dirty="0" err="1"/>
              <a:t>x,y</a:t>
            </a:r>
            <a:r>
              <a:rPr lang="en-US" altLang="zh-CN" dirty="0"/>
              <a:t>)</a:t>
            </a:r>
            <a:r>
              <a:rPr lang="zh-CN" altLang="en-US" dirty="0"/>
              <a:t>：</a:t>
            </a:r>
            <a:r>
              <a:rPr lang="en-US" altLang="zh-CN" dirty="0"/>
              <a:t>y</a:t>
            </a:r>
            <a:r>
              <a:rPr lang="zh-CN" altLang="en-US" dirty="0"/>
              <a:t>是</a:t>
            </a:r>
            <a:r>
              <a:rPr lang="en-US" altLang="zh-CN" dirty="0"/>
              <a:t>x</a:t>
            </a:r>
            <a:r>
              <a:rPr lang="zh-CN" altLang="en-US" dirty="0"/>
              <a:t>的先驱。</a:t>
            </a:r>
          </a:p>
          <a:p>
            <a:pPr eaLnBrk="1" hangingPunct="1">
              <a:lnSpc>
                <a:spcPct val="165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翻译为</a:t>
            </a:r>
            <a:r>
              <a:rPr lang="zh-CN" altLang="en-US" dirty="0">
                <a:sym typeface="Symbol" panose="05050102010706020507" pitchFamily="18" charset="2"/>
              </a:rPr>
              <a:t></a:t>
            </a:r>
            <a:r>
              <a:rPr lang="en-US" altLang="zh-CN" dirty="0"/>
              <a:t>x(F(x)∧</a:t>
            </a:r>
            <a:r>
              <a:rPr lang="en-US" altLang="zh-CN" dirty="0">
                <a:sym typeface="Symbol" panose="05050102010706020507" pitchFamily="18" charset="2"/>
              </a:rPr>
              <a:t></a:t>
            </a:r>
            <a:r>
              <a:rPr lang="en-US" altLang="zh-CN" dirty="0"/>
              <a:t>y(F(y)→</a:t>
            </a:r>
            <a:r>
              <a:rPr lang="zh-CN" altLang="en-US" dirty="0"/>
              <a:t> ┐</a:t>
            </a:r>
            <a:r>
              <a:rPr lang="en-US" altLang="zh-CN" dirty="0"/>
              <a:t>L(</a:t>
            </a:r>
            <a:r>
              <a:rPr lang="en-US" altLang="zh-CN" dirty="0" err="1"/>
              <a:t>y,x</a:t>
            </a:r>
            <a:r>
              <a:rPr lang="en-US" altLang="zh-CN" dirty="0"/>
              <a:t>)))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D170BE63-3CB7-BAD7-2A19-9DFA3906F9C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06500" y="2276872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3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13 </a:t>
            </a:r>
            <a:r>
              <a:rPr lang="zh-CN" altLang="en-US" sz="3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给定谓词公式</a:t>
            </a:r>
            <a:r>
              <a:rPr lang="zh-CN" altLang="en-US" sz="3200" dirty="0">
                <a:sym typeface="Symbol" panose="05050102010706020507" pitchFamily="18" charset="2"/>
              </a:rPr>
              <a:t></a:t>
            </a:r>
            <a:r>
              <a:rPr lang="en-US" altLang="zh-CN" sz="3200" dirty="0"/>
              <a:t>x(P(x)∨</a:t>
            </a:r>
            <a:r>
              <a:rPr lang="zh-CN" altLang="en-US" sz="3200" dirty="0">
                <a:sym typeface="Symbol" panose="05050102010706020507" pitchFamily="18" charset="2"/>
              </a:rPr>
              <a:t></a:t>
            </a:r>
            <a:r>
              <a:rPr lang="en-US" altLang="zh-CN" sz="3200" dirty="0" err="1">
                <a:sym typeface="Symbol" panose="05050102010706020507" pitchFamily="18" charset="2"/>
              </a:rPr>
              <a:t>y</a:t>
            </a:r>
            <a:r>
              <a:rPr lang="en-US" altLang="zh-CN" sz="3200" dirty="0" err="1"/>
              <a:t>Q</a:t>
            </a:r>
            <a:r>
              <a:rPr lang="en-US" altLang="zh-CN" sz="3200" dirty="0"/>
              <a:t>(y))</a:t>
            </a:r>
            <a:r>
              <a:rPr lang="zh-CN" altLang="en-US" sz="3200" dirty="0"/>
              <a:t>，其中</a:t>
            </a:r>
            <a:r>
              <a:rPr lang="en-US" altLang="zh-CN" sz="3200" dirty="0"/>
              <a:t>P(x):x=1,Q(y):y=2</a:t>
            </a:r>
            <a:r>
              <a:rPr lang="zh-CN" altLang="en-US" sz="3200" dirty="0"/>
              <a:t>，取论域为</a:t>
            </a:r>
            <a:r>
              <a:rPr lang="en-US" altLang="zh-CN" sz="3200" dirty="0"/>
              <a:t>{1</a:t>
            </a:r>
            <a:r>
              <a:rPr lang="zh-CN" altLang="en-US" sz="3200" dirty="0"/>
              <a:t>，</a:t>
            </a:r>
            <a:r>
              <a:rPr lang="en-US" altLang="zh-CN" sz="3200" dirty="0"/>
              <a:t>2}</a:t>
            </a:r>
            <a:r>
              <a:rPr lang="zh-CN" altLang="en-US" sz="3200" dirty="0"/>
              <a:t>，其真值为</a:t>
            </a:r>
            <a:r>
              <a:rPr lang="zh-CN" altLang="en-US" sz="3200" dirty="0">
                <a:solidFill>
                  <a:srgbClr val="639EF4"/>
                </a:solidFill>
              </a:rPr>
              <a:t> </a:t>
            </a:r>
            <a:r>
              <a:rPr lang="en-US" altLang="zh-CN" sz="3200" dirty="0">
                <a:solidFill>
                  <a:srgbClr val="639EF4"/>
                </a:solidFill>
              </a:rPr>
              <a:t>[</a:t>
            </a:r>
            <a:r>
              <a:rPr lang="zh-CN" altLang="en-US" sz="3200" dirty="0">
                <a:solidFill>
                  <a:srgbClr val="639EF4"/>
                </a:solidFill>
              </a:rPr>
              <a:t>填空</a:t>
            </a:r>
            <a:r>
              <a:rPr lang="en-US" altLang="zh-CN" sz="3200" dirty="0">
                <a:solidFill>
                  <a:srgbClr val="639EF4"/>
                </a:solidFill>
              </a:rPr>
              <a:t>1]</a:t>
            </a:r>
            <a:r>
              <a:rPr lang="en-US" altLang="zh-CN" sz="3200" dirty="0">
                <a:solidFill>
                  <a:srgbClr val="000000"/>
                </a:solidFill>
              </a:rPr>
              <a:t> </a:t>
            </a:r>
            <a:r>
              <a:rPr lang="zh-CN" altLang="en-US" sz="3200" dirty="0">
                <a:solidFill>
                  <a:srgbClr val="000000"/>
                </a:solidFill>
              </a:rPr>
              <a:t>，取论域为</a:t>
            </a:r>
            <a:r>
              <a:rPr lang="en-US" altLang="zh-CN" sz="3200" dirty="0">
                <a:solidFill>
                  <a:srgbClr val="000000"/>
                </a:solidFill>
              </a:rPr>
              <a:t>{0</a:t>
            </a:r>
            <a:r>
              <a:rPr lang="zh-CN" altLang="en-US" sz="3200" dirty="0">
                <a:solidFill>
                  <a:srgbClr val="000000"/>
                </a:solidFill>
              </a:rPr>
              <a:t>，</a:t>
            </a:r>
            <a:r>
              <a:rPr lang="en-US" altLang="zh-CN" sz="3200" dirty="0">
                <a:solidFill>
                  <a:srgbClr val="000000"/>
                </a:solidFill>
              </a:rPr>
              <a:t>1</a:t>
            </a:r>
            <a:r>
              <a:rPr lang="zh-CN" altLang="en-US" sz="3200" dirty="0">
                <a:solidFill>
                  <a:srgbClr val="000000"/>
                </a:solidFill>
              </a:rPr>
              <a:t>，</a:t>
            </a:r>
            <a:r>
              <a:rPr lang="en-US" altLang="zh-CN" sz="3200" dirty="0">
                <a:solidFill>
                  <a:srgbClr val="000000"/>
                </a:solidFill>
              </a:rPr>
              <a:t>3}</a:t>
            </a:r>
            <a:r>
              <a:rPr lang="zh-CN" altLang="en-US" sz="3200" dirty="0">
                <a:solidFill>
                  <a:srgbClr val="000000"/>
                </a:solidFill>
              </a:rPr>
              <a:t>，其真值为</a:t>
            </a:r>
            <a:r>
              <a:rPr lang="zh-CN" altLang="en-US" sz="3200" dirty="0">
                <a:solidFill>
                  <a:srgbClr val="639EF4"/>
                </a:solidFill>
              </a:rPr>
              <a:t> </a:t>
            </a:r>
            <a:r>
              <a:rPr lang="en-US" altLang="zh-CN" sz="3200" dirty="0">
                <a:solidFill>
                  <a:srgbClr val="639EF4"/>
                </a:solidFill>
              </a:rPr>
              <a:t>[</a:t>
            </a:r>
            <a:r>
              <a:rPr lang="zh-CN" altLang="en-US" sz="3200" dirty="0">
                <a:solidFill>
                  <a:srgbClr val="639EF4"/>
                </a:solidFill>
              </a:rPr>
              <a:t>填空</a:t>
            </a:r>
            <a:r>
              <a:rPr lang="en-US" altLang="zh-CN" sz="3200" dirty="0">
                <a:solidFill>
                  <a:srgbClr val="639EF4"/>
                </a:solidFill>
              </a:rPr>
              <a:t>2]</a:t>
            </a:r>
            <a:r>
              <a:rPr lang="en-US" altLang="zh-CN" sz="3200" dirty="0">
                <a:solidFill>
                  <a:srgbClr val="000000"/>
                </a:solidFill>
              </a:rPr>
              <a:t> </a:t>
            </a:r>
            <a:endParaRPr lang="zh-CN" altLang="en-US" sz="32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4E7CE2C-56FC-6CAB-4A2C-FFEE1486C67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A20A7C8-5594-D57D-3F78-643710320A2F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8" name="TitleBackground">
              <a:extLst>
                <a:ext uri="{FF2B5EF4-FFF2-40B4-BE49-F238E27FC236}">
                  <a16:creationId xmlns:a16="http://schemas.microsoft.com/office/drawing/2014/main" id="{0CA6B6E9-672C-3183-C296-3EBED2DDBA9F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051EDA34-59F0-FBC2-AC6D-ADE4E555138B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17F3CF17-FCD6-DA03-7C48-FFB20D8C686E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11" name="TipText">
              <a:extLst>
                <a:ext uri="{FF2B5EF4-FFF2-40B4-BE49-F238E27FC236}">
                  <a16:creationId xmlns:a16="http://schemas.microsoft.com/office/drawing/2014/main" id="{846F7F79-7A36-72AC-A6A5-223359AA6EA6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09073258-0A37-8F2F-44E7-3FB15833ABBF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431994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SCORE" val="1.0"/>
  <p:tag name="RAINPROBLEMTYPE" val="MultipleChoiceMA"/>
  <p:tag name="RAINPROBLEM" val="MultipleChoiceMA"/>
  <p:tag name="PROBLEMSCORE_HALF" val="0.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MultipleChoiceMA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Correct"/>
  <p:tag name="RAINPROBLEMTYPE" val="MultipleChoiceMA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MultipleChoiceMA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BLANK" val="[{&quot;num&quot;:1,&quot;caseSensitive&quot;:false,&quot;fuzzyMatch&quot;:false,&quot;Score&quot;:1.0,&quot;answers&quot;:[&quot;1&quot;]},{&quot;num&quot;:2,&quot;caseSensitive&quot;:false,&quot;fuzzyMatch&quot;:false,&quot;Score&quot;:1.0,&quot;answers&quot;:[&quot;0&quot;]}]"/>
  <p:tag name="PROBLEMSCORE" val="2.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1816</TotalTime>
  <Words>2016</Words>
  <Application>Microsoft Office PowerPoint</Application>
  <PresentationFormat>全屏显示(4:3)</PresentationFormat>
  <Paragraphs>183</Paragraphs>
  <Slides>21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7" baseType="lpstr">
      <vt:lpstr>Microsoft Yahei</vt:lpstr>
      <vt:lpstr>Arial</vt:lpstr>
      <vt:lpstr>Calibri</vt:lpstr>
      <vt:lpstr>Tahoma</vt:lpstr>
      <vt:lpstr>Wingdings</vt:lpstr>
      <vt:lpstr>Blends</vt:lpstr>
      <vt:lpstr>2.3 谓词公式与约束变元 </vt:lpstr>
      <vt:lpstr>2.3.1 谓词公式的概念</vt:lpstr>
      <vt:lpstr>2.3.2 约束变元与自由变元</vt:lpstr>
      <vt:lpstr>2.3.2 约束变元与自由变元</vt:lpstr>
      <vt:lpstr>PowerPoint 演示文稿</vt:lpstr>
      <vt:lpstr>2.3.2 约束变元与自由变元</vt:lpstr>
      <vt:lpstr>2.3.2 约束变元与自由变元</vt:lpstr>
      <vt:lpstr>2.3.2 约束变元与自由变元</vt:lpstr>
      <vt:lpstr>PowerPoint 演示文稿</vt:lpstr>
      <vt:lpstr>PowerPoint 演示文稿</vt:lpstr>
      <vt:lpstr>2.3.3 谓词翻译</vt:lpstr>
      <vt:lpstr>2.3.3 谓词翻译</vt:lpstr>
      <vt:lpstr>2.3.3 谓词翻译</vt:lpstr>
      <vt:lpstr>2.3.3 谓词翻译</vt:lpstr>
      <vt:lpstr>2.3.3 谓词翻译</vt:lpstr>
      <vt:lpstr>2.3.3 谓词翻译</vt:lpstr>
      <vt:lpstr>2.3.3 谓词翻译</vt:lpstr>
      <vt:lpstr>2.3.3 谓词翻译</vt:lpstr>
      <vt:lpstr>2.3.3 谓词翻译</vt:lpstr>
      <vt:lpstr>2.3.3 谓词翻译</vt:lpstr>
      <vt:lpstr>PowerPoint 演示文稿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LENOVO</cp:lastModifiedBy>
  <cp:revision>67</cp:revision>
  <dcterms:created xsi:type="dcterms:W3CDTF">2010-04-09T13:44:14Z</dcterms:created>
  <dcterms:modified xsi:type="dcterms:W3CDTF">2023-12-21T07:43:26Z</dcterms:modified>
</cp:coreProperties>
</file>