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7"/>
  </p:notesMasterIdLst>
  <p:sldIdLst>
    <p:sldId id="328" r:id="rId2"/>
    <p:sldId id="329" r:id="rId3"/>
    <p:sldId id="330" r:id="rId4"/>
    <p:sldId id="331" r:id="rId5"/>
    <p:sldId id="357" r:id="rId6"/>
    <p:sldId id="332" r:id="rId7"/>
    <p:sldId id="361" r:id="rId8"/>
    <p:sldId id="363" r:id="rId9"/>
    <p:sldId id="370" r:id="rId10"/>
    <p:sldId id="335" r:id="rId11"/>
    <p:sldId id="336" r:id="rId12"/>
    <p:sldId id="366" r:id="rId13"/>
    <p:sldId id="368" r:id="rId14"/>
    <p:sldId id="373" r:id="rId15"/>
    <p:sldId id="372" r:id="rId1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FF00FF"/>
    <a:srgbClr val="FF0066"/>
    <a:srgbClr val="CC0066"/>
    <a:srgbClr val="0066FF"/>
    <a:srgbClr val="008080"/>
    <a:srgbClr val="00CC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3482" autoAdjust="0"/>
  </p:normalViewPr>
  <p:slideViewPr>
    <p:cSldViewPr>
      <p:cViewPr varScale="1">
        <p:scale>
          <a:sx n="61" d="100"/>
          <a:sy n="61" d="100"/>
        </p:scale>
        <p:origin x="78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3396130-561C-C1D8-555F-1D32ADDE50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2B2EC07-DD96-8A4A-61F5-EDC5DB7A8F8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00EC6EA-8F5F-4613-ADED-3F6DAE498DDD}" type="datetimeFigureOut">
              <a:rPr lang="zh-CN" altLang="en-US"/>
              <a:pPr>
                <a:defRPr/>
              </a:pPr>
              <a:t>2023/12/21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85B40C0-CFC2-2F60-97F1-36E75FD78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84EAED61-0497-B6EF-BCBF-95400EB3B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5A1E44-EC06-C510-8661-6D1B19F352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95A659-7D5B-1051-D008-20A776398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84F9565-1909-4A25-A03C-E5897B82BF2A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DA350DC-DA40-FE8D-B00D-4DBE45ED717D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FABC112-EF68-84F5-E4E0-2A9532184C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484FB405-7C1C-9D49-0580-013A6C51B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586159D8-7D55-9A7F-8903-EC0490C0C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62358676-0024-114C-A3E9-427630F78B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67C1D6-CB80-6BBA-397E-AA77EFF10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0E86EFA-46FC-2142-9362-FA4FA9CBA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3185BE97-9C30-2B98-58B1-B452BB659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A34D79A5-02BD-870C-87F5-E01EAB6DD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F90EEA22-7FA1-60B3-8CC5-255F0A872A6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2C166743-8CF0-F34A-6B90-05E113BE70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ED719C6-67BE-6AD6-845D-788192052E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56CB0B16-6B6E-24B1-6A87-DC051F5534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9D2C177-7713-45BB-86F7-1D21FC8E96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5751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2F71E0D-AFC0-17BC-ECFE-F540ACB69B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89E8B96-C6DB-0336-9AA7-8CC4E939AD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AF25E32-F924-A22E-9F68-9A1CFDCA47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FACBB7-D185-479D-A0B9-4E5D54796E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4093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8F14598-9ACF-168B-6AF7-BDE7B47FE0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B5BA5F2-B3F7-5427-5158-821609ABB2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7A34D99-2768-0BDF-95B6-CADA15A939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96A192-BD9E-410C-8611-0C59B6BE93F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725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81A35CA-6CF4-B30D-6236-E5A42F2448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64137A8-AD27-6F54-7AAA-BC5EF63CD6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E949E15-6D59-AB22-80D3-1D52BCACF6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366E23-9962-433C-ACB5-5608E62C9A5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349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EDA7F8F9-CE72-FA22-1A16-FD7E627959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BB10A6D6-E421-6F84-4EA2-520D368296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DE2AF3FA-6A0C-B2FA-4EA4-449F8CD2D0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FDD66C-FBF9-48F6-A7E7-B419859503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7941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9A1884D4-0813-BFBC-5680-5CB5B429B2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CF63C4CF-783A-3A70-1534-907305A89D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FF00755-176C-8D25-630B-CC9A42A403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84C89A-F30F-4E02-9F8A-4606D704AB8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767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DAEE3416-6F47-9437-AD95-0D17E10CAC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25378BD0-CC0D-F63F-DE21-54DD824375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C46E0BEE-FCE8-E73A-72E5-B8BB1BDFDD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14B5BA-6191-4578-AF41-1340990EE2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1309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9D3293E-5B3D-B830-6D3A-6548F12400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A883328-A2A5-249F-2FC0-9824B51A9B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AAA6345-8BB5-EA5F-AD47-850E532E79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5CA8CF-1FC7-42CE-8751-93291E2C74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4537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812441E-C6E3-31C8-B84D-7701B9586D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1B18882-036A-2497-428F-9CF9F95C94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B8E5B4F-739B-2ABB-C220-99910087CC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A796F6-872E-4F2C-9C29-B7C1AC7976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9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2232D46-4D7B-982C-BEEC-4B21966B33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71E094E-A16F-9716-19B9-1E5725F22B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9C7A358-FB77-0897-9F27-1712ED0B2D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578BC3-1EC1-49BE-90D1-0882806EE70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0190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9BEEA87-5805-45A2-8374-DC849D78DD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B5C000A-28E2-A2DB-DD6D-B1C5BE630C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60FE188-315D-AD07-5DA0-B803946B2A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1CCAFB-08FA-41FF-B2B1-F7C8CE441D3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2725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08C8CF3E-8CA2-7F38-7FC1-BDC4B67938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707C930E-575B-6950-4C50-6348CAECC5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AA54429C-70FD-8F77-977F-22ED6D1E53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061B20-CF12-45FD-82EB-7EAAEC0DAE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2596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4E27637-03CE-27D1-E231-42D26076A8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4D3F963-D4C7-1396-E119-3CC6EE3178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8BC8FDD-F80E-04EE-4D5D-738EC35A18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446F70-61A6-42B2-A688-576AC41F033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001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3C7EC91-D1C4-EEB3-148D-F7CD04FE349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FF36548-10D8-9E17-7CA3-DB48E9150F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7A46617-5EB5-68E1-9586-B2DA0326E26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2DBD534-489F-C806-357E-A20C7DB2405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FB0BA66-B090-2C8C-34AF-EA5612C4795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BAA5AAF-7CF0-7AFF-5DA1-B4B3FEAA8D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C1E9FCE7-9F04-3CEF-19B0-97ADD0CCDC4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3DB3BD7D-2DD3-1C5B-23D9-4E1B6E268B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EEFA2FFD-ACA9-AEA3-EEBE-FD3B4C0BFC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8888E2DE-B9DE-7B9A-36BE-5AC2642E9B6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EC58E3C9-C10D-2ECF-34D4-62B87E6292A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C7163429-B563-F156-4035-13BBF933257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1E5D61F-2978-484A-ACE6-65398DE084E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4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4.wmf"/><Relationship Id="rId7" Type="http://schemas.openxmlformats.org/officeDocument/2006/relationships/oleObject" Target="../embeddings/oleObject15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4.bin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7.tmp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91D7AAB-B825-94C3-4837-FC778CB4ED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 </a:t>
            </a:r>
            <a:r>
              <a:rPr lang="zh-CN" altLang="en-US"/>
              <a:t>序偶与笛卡尔积 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CD0B251-5229-87C7-D7D4-29B383D47F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550" y="2133600"/>
            <a:ext cx="7983538" cy="3998913"/>
          </a:xfrm>
        </p:spPr>
        <p:txBody>
          <a:bodyPr/>
          <a:lstStyle/>
          <a:p>
            <a:pPr eaLnBrk="1" hangingPunct="1">
              <a:lnSpc>
                <a:spcPct val="19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3.3.1 n</a:t>
            </a:r>
            <a:r>
              <a:rPr lang="zh-CN" altLang="en-US" sz="4000"/>
              <a:t>元组 </a:t>
            </a:r>
          </a:p>
          <a:p>
            <a:pPr eaLnBrk="1" hangingPunct="1">
              <a:lnSpc>
                <a:spcPct val="19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3.3.2 </a:t>
            </a:r>
            <a:r>
              <a:rPr lang="zh-CN" altLang="en-US" sz="4000"/>
              <a:t>笛卡尔积的概念 </a:t>
            </a:r>
          </a:p>
          <a:p>
            <a:pPr eaLnBrk="1" hangingPunct="1">
              <a:lnSpc>
                <a:spcPct val="19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3.3.3 </a:t>
            </a:r>
            <a:r>
              <a:rPr lang="zh-CN" altLang="en-US" sz="4000"/>
              <a:t>笛卡尔积的性质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8D60638-B4DA-C446-1023-3E292ABC0E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3.3.1 n</a:t>
            </a:r>
            <a:r>
              <a:rPr lang="zh-CN" altLang="en-US" sz="5400"/>
              <a:t>元组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99B46892-BF36-0458-EF98-4A98E2D823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42486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hlink"/>
                </a:solidFill>
              </a:rPr>
              <a:t>n</a:t>
            </a:r>
            <a:r>
              <a:rPr lang="zh-CN" altLang="en-US" b="1" dirty="0">
                <a:solidFill>
                  <a:schemeClr val="hlink"/>
                </a:solidFill>
              </a:rPr>
              <a:t>元组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n-tuple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</a:t>
            </a:r>
            <a:r>
              <a:rPr lang="zh-CN" altLang="en-US" dirty="0"/>
              <a:t>以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为第一元素，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为第二元素，</a:t>
            </a:r>
            <a:r>
              <a:rPr lang="en-US" altLang="zh-CN" dirty="0">
                <a:latin typeface="Arial"/>
              </a:rPr>
              <a:t>…</a:t>
            </a:r>
            <a:r>
              <a:rPr lang="zh-CN" altLang="en-US" dirty="0"/>
              <a:t>， </a:t>
            </a:r>
            <a:r>
              <a:rPr lang="en-US" altLang="zh-CN" dirty="0"/>
              <a:t>a</a:t>
            </a:r>
            <a:r>
              <a:rPr lang="en-US" altLang="zh-CN" baseline="-25000" dirty="0"/>
              <a:t>n</a:t>
            </a:r>
            <a:r>
              <a:rPr lang="zh-CN" altLang="en-US" dirty="0"/>
              <a:t>为第</a:t>
            </a:r>
            <a:r>
              <a:rPr lang="en-US" altLang="zh-CN" dirty="0"/>
              <a:t>n</a:t>
            </a:r>
            <a:r>
              <a:rPr lang="zh-CN" altLang="en-US" dirty="0"/>
              <a:t>元素组成的</a:t>
            </a:r>
            <a:r>
              <a:rPr lang="zh-CN" altLang="en-US" dirty="0">
                <a:solidFill>
                  <a:srgbClr val="FF00FF"/>
                </a:solidFill>
              </a:rPr>
              <a:t>有序组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,a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Arial"/>
              </a:rPr>
              <a:t>…</a:t>
            </a:r>
            <a:r>
              <a:rPr lang="en-US" altLang="zh-CN" dirty="0"/>
              <a:t>,a</a:t>
            </a:r>
            <a:r>
              <a:rPr lang="en-US" altLang="zh-CN" baseline="-25000" dirty="0"/>
              <a:t>n</a:t>
            </a:r>
            <a:r>
              <a:rPr lang="en-US" altLang="zh-CN" b="1" dirty="0">
                <a:latin typeface="宋体" pitchFamily="2" charset="-122"/>
              </a:rPr>
              <a:t>&gt;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FF00FF"/>
                </a:solidFill>
              </a:rPr>
              <a:t>二元组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,a</a:t>
            </a:r>
            <a:r>
              <a:rPr lang="en-US" altLang="zh-CN" baseline="-25000" dirty="0"/>
              <a:t>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zh-CN" altLang="en-US" dirty="0"/>
              <a:t>特称</a:t>
            </a:r>
            <a:r>
              <a:rPr lang="zh-CN" altLang="en-US" b="1" dirty="0">
                <a:solidFill>
                  <a:schemeClr val="accent1"/>
                </a:solidFill>
              </a:rPr>
              <a:t>序偶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ordered pair</a:t>
            </a:r>
            <a:r>
              <a:rPr lang="en-US" altLang="zh-CN" dirty="0"/>
              <a:t>)</a:t>
            </a:r>
            <a:endParaRPr lang="en-US" altLang="zh-CN" b="1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,a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Arial"/>
              </a:rPr>
              <a:t>…</a:t>
            </a:r>
            <a:r>
              <a:rPr lang="en-US" altLang="zh-CN" dirty="0"/>
              <a:t>,a</a:t>
            </a:r>
            <a:r>
              <a:rPr lang="en-US" altLang="zh-CN" baseline="-25000" dirty="0"/>
              <a:t>n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zh-CN" altLang="en-US" dirty="0">
                <a:solidFill>
                  <a:schemeClr val="hlink"/>
                </a:solidFill>
              </a:rPr>
              <a:t>＝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,b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Arial"/>
              </a:rPr>
              <a:t>…</a:t>
            </a:r>
            <a:r>
              <a:rPr lang="en-US" altLang="zh-CN" dirty="0"/>
              <a:t>,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n</a:t>
            </a:r>
            <a:r>
              <a:rPr lang="en-US" altLang="zh-CN" b="1" dirty="0">
                <a:latin typeface="宋体" pitchFamily="2" charset="-122"/>
              </a:rPr>
              <a:t>&gt;   </a:t>
            </a:r>
            <a:r>
              <a:rPr lang="zh-CN" altLang="en-US" dirty="0">
                <a:solidFill>
                  <a:srgbClr val="FF00FF"/>
                </a:solidFill>
              </a:rPr>
              <a:t>当且仅当</a:t>
            </a:r>
            <a:endParaRPr lang="en-US" altLang="zh-CN" dirty="0">
              <a:solidFill>
                <a:srgbClr val="FF00FF"/>
              </a:solidFill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a</a:t>
            </a:r>
            <a:r>
              <a:rPr lang="en-US" altLang="zh-CN" baseline="-25000" dirty="0"/>
              <a:t>1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>
                <a:latin typeface="Arial"/>
              </a:rPr>
              <a:t>…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en-US" altLang="zh-CN" baseline="-25000" dirty="0"/>
              <a:t>n</a:t>
            </a:r>
            <a:r>
              <a:rPr lang="zh-CN" altLang="en-US" dirty="0"/>
              <a:t>＝ 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n</a:t>
            </a:r>
            <a:r>
              <a:rPr lang="en-US" altLang="zh-CN"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C35FDA0-9218-5583-8478-A6BBAF6CA8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3.3.1 n</a:t>
            </a:r>
            <a:r>
              <a:rPr lang="zh-CN" altLang="en-US" sz="5400"/>
              <a:t>元组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6314A32-3178-FA63-4A31-CDC2A76EA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190000"/>
              </a:lnSpc>
              <a:spcBef>
                <a:spcPct val="0"/>
              </a:spcBef>
            </a:pPr>
            <a:r>
              <a:rPr lang="en-US" altLang="zh-CN"/>
              <a:t>n</a:t>
            </a:r>
            <a:r>
              <a:rPr lang="zh-CN" altLang="en-US"/>
              <a:t>元组</a:t>
            </a:r>
            <a:r>
              <a:rPr lang="zh-CN" altLang="en-US" b="1">
                <a:solidFill>
                  <a:schemeClr val="hlink"/>
                </a:solidFill>
              </a:rPr>
              <a:t>递归</a:t>
            </a:r>
            <a:r>
              <a:rPr lang="zh-CN" altLang="en-US"/>
              <a:t>定义：</a:t>
            </a:r>
          </a:p>
          <a:p>
            <a:pPr eaLnBrk="1" hangingPunct="1">
              <a:lnSpc>
                <a:spcPct val="1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>
                <a:solidFill>
                  <a:schemeClr val="accent1"/>
                </a:solidFill>
              </a:rPr>
              <a:t>(1)</a:t>
            </a:r>
            <a:r>
              <a:rPr lang="zh-CN" altLang="en-US"/>
              <a:t>以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zh-CN" altLang="en-US"/>
              <a:t>为第一元素，</a:t>
            </a:r>
            <a:r>
              <a:rPr lang="en-US" altLang="zh-CN"/>
              <a:t>a</a:t>
            </a:r>
            <a:r>
              <a:rPr lang="en-US" altLang="zh-CN" baseline="-25000"/>
              <a:t>2</a:t>
            </a:r>
            <a:r>
              <a:rPr lang="zh-CN" altLang="en-US"/>
              <a:t>为第二元素组成的有   </a:t>
            </a:r>
            <a:endParaRPr lang="en-US" altLang="zh-CN"/>
          </a:p>
          <a:p>
            <a:pPr eaLnBrk="1" hangingPunct="1">
              <a:lnSpc>
                <a:spcPct val="1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       </a:t>
            </a:r>
            <a:r>
              <a:rPr lang="zh-CN" altLang="en-US"/>
              <a:t>序组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en-US" altLang="zh-CN"/>
              <a:t>,a</a:t>
            </a:r>
            <a:r>
              <a:rPr lang="en-US" altLang="zh-CN" baseline="-25000"/>
              <a:t>2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zh-CN" altLang="en-US"/>
              <a:t>称为二元组或序偶</a:t>
            </a:r>
          </a:p>
          <a:p>
            <a:pPr eaLnBrk="1" hangingPunct="1">
              <a:lnSpc>
                <a:spcPct val="1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>
                <a:solidFill>
                  <a:schemeClr val="accent1"/>
                </a:solidFill>
              </a:rPr>
              <a:t>(2)</a:t>
            </a:r>
            <a:r>
              <a:rPr lang="zh-CN" altLang="en-US"/>
              <a:t>二元组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 b="1">
                <a:solidFill>
                  <a:srgbClr val="FF00FF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en-US" altLang="zh-CN"/>
              <a:t>,a</a:t>
            </a:r>
            <a:r>
              <a:rPr lang="en-US" altLang="zh-CN" baseline="-25000"/>
              <a:t>2</a:t>
            </a:r>
            <a:r>
              <a:rPr lang="en-US" altLang="zh-CN"/>
              <a:t>,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/>
              <a:t>,a</a:t>
            </a:r>
            <a:r>
              <a:rPr lang="en-US" altLang="zh-CN" baseline="-25000"/>
              <a:t>n-1</a:t>
            </a:r>
            <a:r>
              <a:rPr lang="en-US" altLang="zh-CN" b="1">
                <a:solidFill>
                  <a:srgbClr val="FF00FF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/>
              <a:t>,a</a:t>
            </a:r>
            <a:r>
              <a:rPr lang="en-US" altLang="zh-CN" baseline="-25000"/>
              <a:t>n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zh-CN" altLang="en-US"/>
              <a:t>称为</a:t>
            </a:r>
            <a:r>
              <a:rPr lang="en-US" altLang="zh-CN"/>
              <a:t>n</a:t>
            </a:r>
            <a:r>
              <a:rPr lang="zh-CN" altLang="en-US"/>
              <a:t>元组，其</a:t>
            </a:r>
            <a:endParaRPr lang="en-US" altLang="zh-CN"/>
          </a:p>
          <a:p>
            <a:pPr eaLnBrk="1" hangingPunct="1">
              <a:lnSpc>
                <a:spcPct val="1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      </a:t>
            </a:r>
            <a:r>
              <a:rPr lang="zh-CN" altLang="en-US"/>
              <a:t>中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en-US" altLang="zh-CN"/>
              <a:t>,a</a:t>
            </a:r>
            <a:r>
              <a:rPr lang="en-US" altLang="zh-CN" baseline="-25000"/>
              <a:t>2</a:t>
            </a:r>
            <a:r>
              <a:rPr lang="en-US" altLang="zh-CN"/>
              <a:t>,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/>
              <a:t>,a</a:t>
            </a:r>
            <a:r>
              <a:rPr lang="en-US" altLang="zh-CN" baseline="-25000"/>
              <a:t>n-1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zh-CN" altLang="en-US"/>
              <a:t>为</a:t>
            </a:r>
            <a:r>
              <a:rPr lang="en-US" altLang="zh-CN"/>
              <a:t>n</a:t>
            </a:r>
            <a:r>
              <a:rPr lang="zh-CN" altLang="en-US"/>
              <a:t>－</a:t>
            </a:r>
            <a:r>
              <a:rPr lang="en-US" altLang="zh-CN"/>
              <a:t>1</a:t>
            </a:r>
            <a:r>
              <a:rPr lang="zh-CN" altLang="en-US"/>
              <a:t>元组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endParaRPr lang="en-US" alt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>
            <a:extLst>
              <a:ext uri="{FF2B5EF4-FFF2-40B4-BE49-F238E27FC236}">
                <a16:creationId xmlns:a16="http://schemas.microsoft.com/office/drawing/2014/main" id="{7C06AD13-ABE1-B308-0551-48A9A4579C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3.3.2 </a:t>
            </a:r>
            <a:r>
              <a:rPr lang="zh-CN" altLang="en-US" sz="5400"/>
              <a:t>笛卡尔积的概念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CA64824-980E-6AEA-A661-517FB15DF5A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989138"/>
            <a:ext cx="8604250" cy="4679950"/>
          </a:xfrm>
        </p:spPr>
        <p:txBody>
          <a:bodyPr/>
          <a:lstStyle/>
          <a:p>
            <a:pPr eaLnBrk="1" hangingPunct="1">
              <a:lnSpc>
                <a:spcPct val="250000"/>
              </a:lnSpc>
              <a:defRPr/>
            </a:pPr>
            <a:r>
              <a:rPr lang="zh-CN" altLang="en-US" b="1" dirty="0"/>
              <a:t>集合</a:t>
            </a:r>
            <a:r>
              <a:rPr lang="en-US" altLang="zh-CN" dirty="0"/>
              <a:t>A</a:t>
            </a:r>
            <a:r>
              <a:rPr lang="zh-CN" altLang="en-US" b="1" dirty="0"/>
              <a:t>与</a:t>
            </a:r>
            <a:r>
              <a:rPr lang="en-US" altLang="zh-CN" dirty="0"/>
              <a:t>B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hlink"/>
                </a:solidFill>
              </a:rPr>
              <a:t>笛卡尔积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Cartesian product</a:t>
            </a:r>
            <a:r>
              <a:rPr lang="en-US" altLang="zh-CN" dirty="0"/>
              <a:t>)</a:t>
            </a:r>
            <a:endParaRPr lang="en-US" altLang="zh-CN" b="1" dirty="0"/>
          </a:p>
          <a:p>
            <a:pPr eaLnBrk="1" hangingPunct="1">
              <a:lnSpc>
                <a:spcPct val="2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</a:t>
            </a:r>
            <a:r>
              <a:rPr lang="en-US" altLang="zh-CN" dirty="0">
                <a:solidFill>
                  <a:schemeClr val="accent1"/>
                </a:solidFill>
              </a:rPr>
              <a:t>A×B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a,b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a∈A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b∈B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2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>
                <a:solidFill>
                  <a:srgbClr val="FF00FF"/>
                </a:solidFill>
              </a:rPr>
              <a:t>约定</a:t>
            </a:r>
            <a:r>
              <a:rPr lang="zh-CN" altLang="en-US" dirty="0"/>
              <a:t>，若</a:t>
            </a:r>
            <a:r>
              <a:rPr lang="en-US" altLang="zh-CN" dirty="0"/>
              <a:t>A</a:t>
            </a:r>
            <a:r>
              <a:rPr lang="zh-CN" altLang="en-US" dirty="0"/>
              <a:t>＝  或</a:t>
            </a:r>
            <a:r>
              <a:rPr lang="en-US" altLang="zh-CN" dirty="0"/>
              <a:t>B</a:t>
            </a:r>
            <a:r>
              <a:rPr lang="zh-CN" altLang="en-US" dirty="0"/>
              <a:t>＝  ，则</a:t>
            </a:r>
            <a:r>
              <a:rPr lang="en-US" altLang="zh-CN" dirty="0"/>
              <a:t>A×B</a:t>
            </a:r>
            <a:r>
              <a:rPr lang="zh-CN" altLang="en-US" dirty="0"/>
              <a:t>＝</a:t>
            </a:r>
          </a:p>
        </p:txBody>
      </p:sp>
      <p:graphicFrame>
        <p:nvGraphicFramePr>
          <p:cNvPr id="7172" name="Object 10">
            <a:extLst>
              <a:ext uri="{FF2B5EF4-FFF2-40B4-BE49-F238E27FC236}">
                <a16:creationId xmlns:a16="http://schemas.microsoft.com/office/drawing/2014/main" id="{F206B899-D1DB-3C2B-2C88-286109C57F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1513" y="5162550"/>
          <a:ext cx="4953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1513" y="5162550"/>
                        <a:ext cx="4953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11">
            <a:extLst>
              <a:ext uri="{FF2B5EF4-FFF2-40B4-BE49-F238E27FC236}">
                <a16:creationId xmlns:a16="http://schemas.microsoft.com/office/drawing/2014/main" id="{3429A103-8FCF-0C2E-8849-2E860FB704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5788" y="5162550"/>
          <a:ext cx="4953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14" imgH="177492" progId="Equation.DSMT4">
                  <p:embed/>
                </p:oleObj>
              </mc:Choice>
              <mc:Fallback>
                <p:oleObj name="Equation" r:id="rId4" imgW="164814" imgH="177492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788" y="5162550"/>
                        <a:ext cx="4953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对象 1">
            <a:extLst>
              <a:ext uri="{FF2B5EF4-FFF2-40B4-BE49-F238E27FC236}">
                <a16:creationId xmlns:a16="http://schemas.microsoft.com/office/drawing/2014/main" id="{4B9F38E7-02FC-5393-008B-1B5F67C488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4988" y="5157788"/>
          <a:ext cx="4953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14" imgH="177492" progId="Equation.DSMT4">
                  <p:embed/>
                </p:oleObj>
              </mc:Choice>
              <mc:Fallback>
                <p:oleObj name="Equation" r:id="rId6" imgW="164814" imgH="177492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4988" y="5157788"/>
                        <a:ext cx="4953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>
            <a:extLst>
              <a:ext uri="{FF2B5EF4-FFF2-40B4-BE49-F238E27FC236}">
                <a16:creationId xmlns:a16="http://schemas.microsoft.com/office/drawing/2014/main" id="{D5CD99F7-1C3F-58F8-A59A-1EDF4F4C8C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3.3.2 </a:t>
            </a:r>
            <a:r>
              <a:rPr lang="zh-CN" altLang="en-US" sz="5400"/>
              <a:t>笛卡尔积的概念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A81C363-FDD6-8E75-818C-410E33EF5E2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989138"/>
            <a:ext cx="8532812" cy="4868862"/>
          </a:xfrm>
        </p:spPr>
        <p:txBody>
          <a:bodyPr/>
          <a:lstStyle/>
          <a:p>
            <a:pPr eaLnBrk="1" hangingPunct="1">
              <a:lnSpc>
                <a:spcPct val="165000"/>
              </a:lnSpc>
              <a:defRPr/>
            </a:pPr>
            <a:r>
              <a:rPr lang="en-US" altLang="zh-CN" dirty="0">
                <a:solidFill>
                  <a:schemeClr val="hlink"/>
                </a:solidFill>
              </a:rPr>
              <a:t>n</a:t>
            </a:r>
            <a:r>
              <a:rPr lang="zh-CN" altLang="en-US" b="1" dirty="0">
                <a:solidFill>
                  <a:schemeClr val="hlink"/>
                </a:solidFill>
              </a:rPr>
              <a:t>个集合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,A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,A</a:t>
            </a:r>
            <a:r>
              <a:rPr lang="en-US" altLang="zh-CN" baseline="-25000" dirty="0"/>
              <a:t>n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hlink"/>
                </a:solidFill>
              </a:rPr>
              <a:t>笛卡尔积</a:t>
            </a:r>
            <a:endParaRPr lang="zh-CN" altLang="en-US" dirty="0">
              <a:solidFill>
                <a:schemeClr val="hlink"/>
              </a:solidFill>
            </a:endParaRP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>
                <a:solidFill>
                  <a:schemeClr val="accent1"/>
                </a:solidFill>
              </a:rPr>
              <a:t>A</a:t>
            </a:r>
            <a:r>
              <a:rPr lang="en-US" altLang="zh-CN" baseline="-25000" dirty="0">
                <a:solidFill>
                  <a:schemeClr val="accent1"/>
                </a:solidFill>
              </a:rPr>
              <a:t>1</a:t>
            </a:r>
            <a:r>
              <a:rPr lang="en-US" altLang="zh-CN" dirty="0">
                <a:solidFill>
                  <a:schemeClr val="accent1"/>
                </a:solidFill>
              </a:rPr>
              <a:t>×A</a:t>
            </a:r>
            <a:r>
              <a:rPr lang="en-US" altLang="zh-CN" baseline="-25000" dirty="0">
                <a:solidFill>
                  <a:schemeClr val="accent1"/>
                </a:solidFill>
              </a:rPr>
              <a:t>2</a:t>
            </a:r>
            <a:r>
              <a:rPr lang="en-US" altLang="zh-CN" dirty="0">
                <a:solidFill>
                  <a:schemeClr val="accent1"/>
                </a:solidFill>
              </a:rPr>
              <a:t>×</a:t>
            </a:r>
            <a:r>
              <a:rPr lang="en-US" altLang="zh-CN" dirty="0">
                <a:solidFill>
                  <a:schemeClr val="accent1"/>
                </a:solidFill>
                <a:latin typeface="Arial" charset="0"/>
              </a:rPr>
              <a:t>…</a:t>
            </a:r>
            <a:r>
              <a:rPr lang="en-US" altLang="zh-CN" dirty="0">
                <a:solidFill>
                  <a:schemeClr val="accent1"/>
                </a:solidFill>
              </a:rPr>
              <a:t>×A</a:t>
            </a:r>
            <a:r>
              <a:rPr lang="en-US" altLang="zh-CN" baseline="-25000" dirty="0">
                <a:solidFill>
                  <a:schemeClr val="accent1"/>
                </a:solidFill>
              </a:rPr>
              <a:t>n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,a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,a</a:t>
            </a:r>
            <a:r>
              <a:rPr lang="en-US" altLang="zh-CN" baseline="-25000" dirty="0"/>
              <a:t>n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︱a</a:t>
            </a:r>
            <a:r>
              <a:rPr lang="en-US" altLang="zh-CN" baseline="-25000" dirty="0"/>
              <a:t>1</a:t>
            </a:r>
            <a:r>
              <a:rPr lang="en-US" altLang="zh-CN" dirty="0"/>
              <a:t>∈A</a:t>
            </a:r>
            <a:r>
              <a:rPr lang="en-US" altLang="zh-CN" baseline="-25000" dirty="0"/>
              <a:t>1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∈A</a:t>
            </a:r>
            <a:r>
              <a:rPr lang="en-US" altLang="zh-CN" baseline="-25000" dirty="0"/>
              <a:t>2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n</a:t>
            </a:r>
            <a:r>
              <a:rPr lang="en-US" altLang="zh-CN" dirty="0" err="1"/>
              <a:t>∈A</a:t>
            </a:r>
            <a:r>
              <a:rPr lang="en-US" altLang="zh-CN" baseline="-25000" dirty="0" err="1"/>
              <a:t>n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3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zh-CN" altLang="en-US" dirty="0">
                <a:solidFill>
                  <a:srgbClr val="FF00FF"/>
                </a:solidFill>
              </a:rPr>
              <a:t>特别地</a:t>
            </a:r>
            <a:r>
              <a:rPr lang="zh-CN" altLang="en-US" dirty="0"/>
              <a:t>，                    ＝</a:t>
            </a:r>
            <a:r>
              <a:rPr lang="en-US" altLang="zh-CN" dirty="0"/>
              <a:t>A</a:t>
            </a:r>
            <a:r>
              <a:rPr lang="en-US" altLang="zh-CN" baseline="30000" dirty="0"/>
              <a:t>n</a:t>
            </a:r>
            <a:endParaRPr lang="en-US" altLang="zh-CN" dirty="0"/>
          </a:p>
        </p:txBody>
      </p:sp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605619EF-86A8-52AB-0F34-11231E9DED6F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373313" y="5319713"/>
          <a:ext cx="2511425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7836" imgH="355446" progId="Equation.DSMT4">
                  <p:embed/>
                </p:oleObj>
              </mc:Choice>
              <mc:Fallback>
                <p:oleObj name="Equation" r:id="rId2" imgW="837836" imgH="3554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3313" y="5319713"/>
                        <a:ext cx="2511425" cy="106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9E00E71-3B57-B888-1303-554F2AFE23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3.3.2 </a:t>
            </a:r>
            <a:r>
              <a:rPr lang="zh-CN" altLang="en-US" sz="5400"/>
              <a:t>笛卡尔积的概念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0898350C-2EAA-8BA6-BD30-E29DC9972F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30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3.3.1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{1,2,3}</a:t>
            </a:r>
            <a:r>
              <a:rPr lang="zh-CN" altLang="en-US" dirty="0"/>
              <a:t>，则</a:t>
            </a:r>
          </a:p>
          <a:p>
            <a:pPr eaLnBrk="1" hangingPunct="1">
              <a:lnSpc>
                <a:spcPct val="3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    </a:t>
            </a:r>
            <a:r>
              <a:rPr lang="en-US" altLang="zh-CN" dirty="0">
                <a:solidFill>
                  <a:srgbClr val="00E4A8"/>
                </a:solidFill>
              </a:rPr>
              <a:t>A×A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eaLnBrk="1" hangingPunct="1">
              <a:lnSpc>
                <a:spcPct val="3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       &lt;</a:t>
            </a:r>
            <a:r>
              <a:rPr lang="en-US" altLang="zh-CN" dirty="0"/>
              <a:t>2,3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300510A-2650-2F68-399F-78EC7E895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3.3.2 </a:t>
            </a:r>
            <a:r>
              <a:rPr lang="zh-CN" altLang="en-US" sz="5400"/>
              <a:t>笛卡尔积的概念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243351C3-5993-358C-3ACE-8229E564A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229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3.3.2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{1,2,3}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a,b</a:t>
            </a:r>
            <a:r>
              <a:rPr lang="en-US" altLang="zh-CN" dirty="0"/>
              <a:t>}</a:t>
            </a:r>
            <a:r>
              <a:rPr lang="zh-CN" altLang="en-US" dirty="0"/>
              <a:t>，则 </a:t>
            </a:r>
          </a:p>
          <a:p>
            <a:pPr eaLnBrk="1" hangingPunct="1">
              <a:lnSpc>
                <a:spcPct val="229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 </a:t>
            </a:r>
            <a:r>
              <a:rPr lang="en-US" altLang="zh-CN" dirty="0">
                <a:solidFill>
                  <a:schemeClr val="accent1"/>
                </a:solidFill>
              </a:rPr>
              <a:t>A×B</a:t>
            </a:r>
            <a:r>
              <a:rPr lang="zh-CN" altLang="en-US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1,a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1,b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2,a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2,b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3,a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3,b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  <a:p>
            <a:pPr eaLnBrk="1" hangingPunct="1">
              <a:lnSpc>
                <a:spcPct val="229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B×A</a:t>
            </a:r>
            <a:r>
              <a:rPr lang="zh-CN" altLang="en-US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a,1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a,2</a:t>
            </a:r>
            <a:r>
              <a:rPr lang="en-US" altLang="zh-CN" sz="2800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a,3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b,1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b,2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b,3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  <a:p>
            <a:pPr eaLnBrk="1" hangingPunct="1">
              <a:lnSpc>
                <a:spcPct val="229000"/>
              </a:lnSpc>
              <a:defRPr/>
            </a:pPr>
            <a:r>
              <a:rPr lang="en-US" altLang="zh-CN" dirty="0"/>
              <a:t>A×B</a:t>
            </a:r>
            <a:r>
              <a:rPr lang="en-US" altLang="en-US" b="1" dirty="0">
                <a:solidFill>
                  <a:schemeClr val="hlink"/>
                </a:solidFill>
              </a:rPr>
              <a:t>≠</a:t>
            </a:r>
            <a:r>
              <a:rPr lang="en-US" altLang="zh-CN" dirty="0"/>
              <a:t>B×A </a:t>
            </a:r>
            <a:r>
              <a:rPr lang="zh-CN" altLang="en-US" dirty="0"/>
              <a:t>， </a:t>
            </a:r>
            <a:r>
              <a:rPr lang="en-US" altLang="zh-CN" dirty="0"/>
              <a:t>(B×A)×B </a:t>
            </a:r>
            <a:r>
              <a:rPr lang="en-US" altLang="en-US" b="1" dirty="0">
                <a:solidFill>
                  <a:schemeClr val="hlink"/>
                </a:solidFill>
              </a:rPr>
              <a:t>≠</a:t>
            </a:r>
            <a:r>
              <a:rPr lang="en-US" altLang="zh-CN" dirty="0"/>
              <a:t> B×(A×B)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52959A6-8C76-CEBF-47C9-81874E464E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3.3.2 </a:t>
            </a:r>
            <a:r>
              <a:rPr lang="zh-CN" altLang="en-US" sz="5400"/>
              <a:t>笛卡尔积的概念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05977073-93ED-E233-4810-9095BC042C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dirty="0">
                <a:solidFill>
                  <a:schemeClr val="hlink"/>
                </a:solidFill>
              </a:rPr>
              <a:t>例</a:t>
            </a:r>
            <a:r>
              <a:rPr lang="en-US" altLang="zh-CN" sz="2800" dirty="0">
                <a:solidFill>
                  <a:schemeClr val="hlink"/>
                </a:solidFill>
              </a:rPr>
              <a:t>3.3.4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dirty="0"/>
              <a:t>A</a:t>
            </a:r>
            <a:r>
              <a:rPr lang="zh-CN" altLang="en-US" sz="2800" dirty="0"/>
              <a:t>＝</a:t>
            </a:r>
            <a:r>
              <a:rPr lang="en-US" altLang="zh-CN" sz="2800" dirty="0"/>
              <a:t>{1,2}</a:t>
            </a:r>
            <a:r>
              <a:rPr lang="zh-CN" altLang="en-US" sz="2800" dirty="0"/>
              <a:t>，</a:t>
            </a:r>
            <a:r>
              <a:rPr lang="en-US" altLang="zh-CN" sz="2800" dirty="0"/>
              <a:t>B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}</a:t>
            </a:r>
            <a:r>
              <a:rPr lang="zh-CN" altLang="en-US" sz="2800" dirty="0"/>
              <a:t>，则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1"/>
                </a:solidFill>
              </a:rPr>
              <a:t>B×A×B</a:t>
            </a:r>
            <a:r>
              <a:rPr lang="zh-CN" altLang="en-US" sz="2400" dirty="0"/>
              <a:t> ＝</a:t>
            </a:r>
            <a:r>
              <a:rPr lang="en-US" altLang="zh-CN" sz="2400" dirty="0"/>
              <a:t>{</a:t>
            </a:r>
            <a:r>
              <a:rPr lang="en-US" altLang="zh-CN" sz="2400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sz="2400" dirty="0"/>
              <a:t>a,1,a</a:t>
            </a:r>
            <a:r>
              <a:rPr lang="en-US" altLang="zh-CN" sz="2400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a,1,b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a,2,a</a:t>
            </a:r>
            <a:r>
              <a:rPr lang="en-US" altLang="zh-CN" sz="2400" b="1" dirty="0">
                <a:latin typeface="+mn-ea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a,2,b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b,1,a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+mn-ea"/>
              </a:rPr>
              <a:t>                             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b,1,b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b,2,a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dirty="0">
                <a:latin typeface="宋体" pitchFamily="2" charset="-122"/>
              </a:rPr>
              <a:t>&lt;</a:t>
            </a:r>
            <a:r>
              <a:rPr lang="en-US" altLang="zh-CN" sz="2400" dirty="0"/>
              <a:t>b,2,b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/>
              <a:t>}</a:t>
            </a:r>
          </a:p>
          <a:p>
            <a:pPr eaLnBrk="1" hangingPunct="1">
              <a:lnSpc>
                <a:spcPct val="225000"/>
              </a:lnSpc>
              <a:defRPr/>
            </a:pPr>
            <a:endParaRPr lang="en-US" altLang="zh-CN" sz="2400" dirty="0"/>
          </a:p>
          <a:p>
            <a:pPr eaLnBrk="1" hangingPunct="1">
              <a:lnSpc>
                <a:spcPct val="225000"/>
              </a:lnSpc>
              <a:defRPr/>
            </a:pPr>
            <a:endParaRPr lang="en-US" altLang="zh-CN" sz="2400" dirty="0"/>
          </a:p>
          <a:p>
            <a:pPr eaLnBrk="1" hangingPunct="1">
              <a:lnSpc>
                <a:spcPct val="225000"/>
              </a:lnSpc>
              <a:defRPr/>
            </a:pPr>
            <a:endParaRPr lang="en-US" altLang="zh-CN" sz="2400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/>
          </a:p>
        </p:txBody>
      </p:sp>
      <p:sp>
        <p:nvSpPr>
          <p:cNvPr id="12292" name="Oval 16">
            <a:extLst>
              <a:ext uri="{FF2B5EF4-FFF2-40B4-BE49-F238E27FC236}">
                <a16:creationId xmlns:a16="http://schemas.microsoft.com/office/drawing/2014/main" id="{202F5705-52FF-2DA9-6318-B86A20638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627062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3" name="Oval 16">
            <a:extLst>
              <a:ext uri="{FF2B5EF4-FFF2-40B4-BE49-F238E27FC236}">
                <a16:creationId xmlns:a16="http://schemas.microsoft.com/office/drawing/2014/main" id="{B766B639-0862-8219-BDE5-4D935A480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627062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4" name="Oval 16">
            <a:extLst>
              <a:ext uri="{FF2B5EF4-FFF2-40B4-BE49-F238E27FC236}">
                <a16:creationId xmlns:a16="http://schemas.microsoft.com/office/drawing/2014/main" id="{C238BB2D-BE0F-1554-9787-DD57637DC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627062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5" name="Oval 16">
            <a:extLst>
              <a:ext uri="{FF2B5EF4-FFF2-40B4-BE49-F238E27FC236}">
                <a16:creationId xmlns:a16="http://schemas.microsoft.com/office/drawing/2014/main" id="{CB1732C3-6823-68A5-3C42-F60E6D683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627062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6" name="Oval 16">
            <a:extLst>
              <a:ext uri="{FF2B5EF4-FFF2-40B4-BE49-F238E27FC236}">
                <a16:creationId xmlns:a16="http://schemas.microsoft.com/office/drawing/2014/main" id="{9FD9F100-FA12-09BE-CFE4-8BC245AB8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262563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7" name="Oval 16">
            <a:extLst>
              <a:ext uri="{FF2B5EF4-FFF2-40B4-BE49-F238E27FC236}">
                <a16:creationId xmlns:a16="http://schemas.microsoft.com/office/drawing/2014/main" id="{DC5BC52D-94AB-7D90-296F-8C8161A5E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4838" y="522922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8" name="Oval 16">
            <a:extLst>
              <a:ext uri="{FF2B5EF4-FFF2-40B4-BE49-F238E27FC236}">
                <a16:creationId xmlns:a16="http://schemas.microsoft.com/office/drawing/2014/main" id="{1556327E-04C9-2163-EC35-0BFB12315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522922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9" name="Oval 16">
            <a:extLst>
              <a:ext uri="{FF2B5EF4-FFF2-40B4-BE49-F238E27FC236}">
                <a16:creationId xmlns:a16="http://schemas.microsoft.com/office/drawing/2014/main" id="{29B04808-AB88-4F9B-3FF3-C864B5C06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288" y="522922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300" name="Oval 16">
            <a:extLst>
              <a:ext uri="{FF2B5EF4-FFF2-40B4-BE49-F238E27FC236}">
                <a16:creationId xmlns:a16="http://schemas.microsoft.com/office/drawing/2014/main" id="{773FE089-0603-B0BE-9912-48F481098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39737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301" name="Oval 16">
            <a:extLst>
              <a:ext uri="{FF2B5EF4-FFF2-40B4-BE49-F238E27FC236}">
                <a16:creationId xmlns:a16="http://schemas.microsoft.com/office/drawing/2014/main" id="{DD9433DC-76DE-540C-882D-D96025382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088" y="439737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302" name="Oval 16">
            <a:extLst>
              <a:ext uri="{FF2B5EF4-FFF2-40B4-BE49-F238E27FC236}">
                <a16:creationId xmlns:a16="http://schemas.microsoft.com/office/drawing/2014/main" id="{948197A9-5F71-0A63-5CA1-EBA38C32D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627062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303" name="Oval 16">
            <a:extLst>
              <a:ext uri="{FF2B5EF4-FFF2-40B4-BE49-F238E27FC236}">
                <a16:creationId xmlns:a16="http://schemas.microsoft.com/office/drawing/2014/main" id="{E41AA9B8-2565-0B8B-18E9-C29F9552E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627062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304" name="Oval 16">
            <a:extLst>
              <a:ext uri="{FF2B5EF4-FFF2-40B4-BE49-F238E27FC236}">
                <a16:creationId xmlns:a16="http://schemas.microsoft.com/office/drawing/2014/main" id="{C6BDC896-E148-ACC1-6B39-F3CB69FA2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627062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305" name="Oval 16">
            <a:extLst>
              <a:ext uri="{FF2B5EF4-FFF2-40B4-BE49-F238E27FC236}">
                <a16:creationId xmlns:a16="http://schemas.microsoft.com/office/drawing/2014/main" id="{32FADF50-49D6-E01A-5E5E-7B0FD3F7B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463" y="627062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7280FC1-483E-B953-9251-8F80D7DF7E10}"/>
              </a:ext>
            </a:extLst>
          </p:cNvPr>
          <p:cNvCxnSpPr>
            <a:endCxn id="12299" idx="0"/>
          </p:cNvCxnSpPr>
          <p:nvPr/>
        </p:nvCxnSpPr>
        <p:spPr>
          <a:xfrm flipH="1">
            <a:off x="2355850" y="4508500"/>
            <a:ext cx="376238" cy="720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3481D3E-11E4-8A17-B193-14522DB448E8}"/>
              </a:ext>
            </a:extLst>
          </p:cNvPr>
          <p:cNvCxnSpPr>
            <a:stCxn id="12301" idx="5"/>
            <a:endCxn id="12296" idx="1"/>
          </p:cNvCxnSpPr>
          <p:nvPr/>
        </p:nvCxnSpPr>
        <p:spPr>
          <a:xfrm>
            <a:off x="2827338" y="4492625"/>
            <a:ext cx="320675" cy="7858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8" name="直接连接符 12287">
            <a:extLst>
              <a:ext uri="{FF2B5EF4-FFF2-40B4-BE49-F238E27FC236}">
                <a16:creationId xmlns:a16="http://schemas.microsoft.com/office/drawing/2014/main" id="{2D5454FB-63F8-878C-D0CA-3F946B6F6D9E}"/>
              </a:ext>
            </a:extLst>
          </p:cNvPr>
          <p:cNvCxnSpPr/>
          <p:nvPr/>
        </p:nvCxnSpPr>
        <p:spPr>
          <a:xfrm flipH="1">
            <a:off x="5795963" y="4508500"/>
            <a:ext cx="288925" cy="720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91" name="直接连接符 12290">
            <a:extLst>
              <a:ext uri="{FF2B5EF4-FFF2-40B4-BE49-F238E27FC236}">
                <a16:creationId xmlns:a16="http://schemas.microsoft.com/office/drawing/2014/main" id="{0198DC3A-E87C-EC22-7D33-00FCE75BC0FF}"/>
              </a:ext>
            </a:extLst>
          </p:cNvPr>
          <p:cNvCxnSpPr/>
          <p:nvPr/>
        </p:nvCxnSpPr>
        <p:spPr>
          <a:xfrm>
            <a:off x="6084888" y="4508500"/>
            <a:ext cx="376237" cy="720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2292">
            <a:extLst>
              <a:ext uri="{FF2B5EF4-FFF2-40B4-BE49-F238E27FC236}">
                <a16:creationId xmlns:a16="http://schemas.microsoft.com/office/drawing/2014/main" id="{6235D789-DCB8-71A0-5136-376CADC8E472}"/>
              </a:ext>
            </a:extLst>
          </p:cNvPr>
          <p:cNvCxnSpPr/>
          <p:nvPr/>
        </p:nvCxnSpPr>
        <p:spPr>
          <a:xfrm flipH="1">
            <a:off x="1890713" y="5340350"/>
            <a:ext cx="465137" cy="930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12294">
            <a:extLst>
              <a:ext uri="{FF2B5EF4-FFF2-40B4-BE49-F238E27FC236}">
                <a16:creationId xmlns:a16="http://schemas.microsoft.com/office/drawing/2014/main" id="{62FCA03E-20BF-544B-6D23-3256443808E1}"/>
              </a:ext>
            </a:extLst>
          </p:cNvPr>
          <p:cNvCxnSpPr/>
          <p:nvPr/>
        </p:nvCxnSpPr>
        <p:spPr>
          <a:xfrm>
            <a:off x="2355850" y="5373688"/>
            <a:ext cx="79375" cy="912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12296">
            <a:extLst>
              <a:ext uri="{FF2B5EF4-FFF2-40B4-BE49-F238E27FC236}">
                <a16:creationId xmlns:a16="http://schemas.microsoft.com/office/drawing/2014/main" id="{74DE7C40-9FAC-A527-7D44-98F06E11029E}"/>
              </a:ext>
            </a:extLst>
          </p:cNvPr>
          <p:cNvCxnSpPr>
            <a:endCxn id="6" idx="1"/>
          </p:cNvCxnSpPr>
          <p:nvPr/>
        </p:nvCxnSpPr>
        <p:spPr>
          <a:xfrm flipH="1">
            <a:off x="3003550" y="5356225"/>
            <a:ext cx="144463" cy="930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12298">
            <a:extLst>
              <a:ext uri="{FF2B5EF4-FFF2-40B4-BE49-F238E27FC236}">
                <a16:creationId xmlns:a16="http://schemas.microsoft.com/office/drawing/2014/main" id="{A2DC3D7D-9B98-51B9-27BE-1EF6B1A95C9A}"/>
              </a:ext>
            </a:extLst>
          </p:cNvPr>
          <p:cNvCxnSpPr/>
          <p:nvPr/>
        </p:nvCxnSpPr>
        <p:spPr>
          <a:xfrm>
            <a:off x="3187700" y="5373688"/>
            <a:ext cx="360363" cy="896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11" name="直接连接符 12310">
            <a:extLst>
              <a:ext uri="{FF2B5EF4-FFF2-40B4-BE49-F238E27FC236}">
                <a16:creationId xmlns:a16="http://schemas.microsoft.com/office/drawing/2014/main" id="{46149E4B-AC7B-22BE-69AC-E686AB7AEBE0}"/>
              </a:ext>
            </a:extLst>
          </p:cNvPr>
          <p:cNvCxnSpPr>
            <a:stCxn id="12297" idx="4"/>
            <a:endCxn id="12302" idx="0"/>
          </p:cNvCxnSpPr>
          <p:nvPr/>
        </p:nvCxnSpPr>
        <p:spPr>
          <a:xfrm flipH="1">
            <a:off x="5491163" y="5340350"/>
            <a:ext cx="249237" cy="930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15" name="直接连接符 12314">
            <a:extLst>
              <a:ext uri="{FF2B5EF4-FFF2-40B4-BE49-F238E27FC236}">
                <a16:creationId xmlns:a16="http://schemas.microsoft.com/office/drawing/2014/main" id="{E34C6E1A-DF14-C919-FA7F-166AF3A3104C}"/>
              </a:ext>
            </a:extLst>
          </p:cNvPr>
          <p:cNvCxnSpPr>
            <a:stCxn id="12297" idx="5"/>
            <a:endCxn id="12303" idx="0"/>
          </p:cNvCxnSpPr>
          <p:nvPr/>
        </p:nvCxnSpPr>
        <p:spPr>
          <a:xfrm>
            <a:off x="5780088" y="5324475"/>
            <a:ext cx="142875" cy="946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17" name="直接连接符 12316">
            <a:extLst>
              <a:ext uri="{FF2B5EF4-FFF2-40B4-BE49-F238E27FC236}">
                <a16:creationId xmlns:a16="http://schemas.microsoft.com/office/drawing/2014/main" id="{0470EA47-E4F7-2106-51B8-ABC60EC37FFC}"/>
              </a:ext>
            </a:extLst>
          </p:cNvPr>
          <p:cNvCxnSpPr/>
          <p:nvPr/>
        </p:nvCxnSpPr>
        <p:spPr>
          <a:xfrm flipH="1">
            <a:off x="6443663" y="5340350"/>
            <a:ext cx="33337" cy="930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19" name="直接连接符 12318">
            <a:extLst>
              <a:ext uri="{FF2B5EF4-FFF2-40B4-BE49-F238E27FC236}">
                <a16:creationId xmlns:a16="http://schemas.microsoft.com/office/drawing/2014/main" id="{B545CBE0-A908-689B-F8F4-5FEB18B2582D}"/>
              </a:ext>
            </a:extLst>
          </p:cNvPr>
          <p:cNvCxnSpPr/>
          <p:nvPr/>
        </p:nvCxnSpPr>
        <p:spPr>
          <a:xfrm>
            <a:off x="6516688" y="5324475"/>
            <a:ext cx="376237" cy="946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18" name="Text Box 4">
            <a:extLst>
              <a:ext uri="{FF2B5EF4-FFF2-40B4-BE49-F238E27FC236}">
                <a16:creationId xmlns:a16="http://schemas.microsoft.com/office/drawing/2014/main" id="{374B39B0-1BB3-DC20-1DD3-77C5F842A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5091113"/>
            <a:ext cx="3540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/>
              <a:t>2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EE273A2E-CDBE-8240-FC06-676BE9782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388" y="3992563"/>
            <a:ext cx="355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2320" name="Text Box 4">
            <a:extLst>
              <a:ext uri="{FF2B5EF4-FFF2-40B4-BE49-F238E27FC236}">
                <a16:creationId xmlns:a16="http://schemas.microsoft.com/office/drawing/2014/main" id="{E55A2C94-B083-C935-B341-56B0D06AD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738" y="5051425"/>
            <a:ext cx="3524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/>
              <a:t>1</a:t>
            </a:r>
          </a:p>
        </p:txBody>
      </p:sp>
      <p:sp>
        <p:nvSpPr>
          <p:cNvPr id="12321" name="Text Box 4">
            <a:extLst>
              <a:ext uri="{FF2B5EF4-FFF2-40B4-BE49-F238E27FC236}">
                <a16:creationId xmlns:a16="http://schemas.microsoft.com/office/drawing/2014/main" id="{94D39B92-25C5-0088-4841-F1397B111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2550" y="3989388"/>
            <a:ext cx="3460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322" name="Text Box 4">
            <a:extLst>
              <a:ext uri="{FF2B5EF4-FFF2-40B4-BE49-F238E27FC236}">
                <a16:creationId xmlns:a16="http://schemas.microsoft.com/office/drawing/2014/main" id="{404A97FC-ADD3-D0B9-540C-94EB8B8FC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0" y="5046663"/>
            <a:ext cx="3524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/>
              <a:t>2</a:t>
            </a:r>
          </a:p>
        </p:txBody>
      </p:sp>
      <p:sp>
        <p:nvSpPr>
          <p:cNvPr id="12323" name="Text Box 4">
            <a:extLst>
              <a:ext uri="{FF2B5EF4-FFF2-40B4-BE49-F238E27FC236}">
                <a16:creationId xmlns:a16="http://schemas.microsoft.com/office/drawing/2014/main" id="{9AC1664D-395E-F10A-E1FC-39ADD7984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375" y="5051425"/>
            <a:ext cx="3524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/>
              <a:t>1</a:t>
            </a:r>
          </a:p>
        </p:txBody>
      </p:sp>
      <p:sp>
        <p:nvSpPr>
          <p:cNvPr id="12324" name="Text Box 4">
            <a:extLst>
              <a:ext uri="{FF2B5EF4-FFF2-40B4-BE49-F238E27FC236}">
                <a16:creationId xmlns:a16="http://schemas.microsoft.com/office/drawing/2014/main" id="{ABD74470-FF0E-ADCA-CE2B-5869C8F4A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3300" y="6338888"/>
            <a:ext cx="3540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2325" name="Text Box 4">
            <a:extLst>
              <a:ext uri="{FF2B5EF4-FFF2-40B4-BE49-F238E27FC236}">
                <a16:creationId xmlns:a16="http://schemas.microsoft.com/office/drawing/2014/main" id="{59368B19-6034-0003-C901-1CFF7EBEB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5" y="6326188"/>
            <a:ext cx="3540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2326" name="Text Box 4">
            <a:extLst>
              <a:ext uri="{FF2B5EF4-FFF2-40B4-BE49-F238E27FC236}">
                <a16:creationId xmlns:a16="http://schemas.microsoft.com/office/drawing/2014/main" id="{39F8825D-9624-3744-2987-B252CF0D5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2313" y="6308725"/>
            <a:ext cx="3540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2327" name="Text Box 4">
            <a:extLst>
              <a:ext uri="{FF2B5EF4-FFF2-40B4-BE49-F238E27FC236}">
                <a16:creationId xmlns:a16="http://schemas.microsoft.com/office/drawing/2014/main" id="{4AF51814-7222-65CA-E470-E214F2172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75" y="6330950"/>
            <a:ext cx="3540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2328" name="Text Box 4">
            <a:extLst>
              <a:ext uri="{FF2B5EF4-FFF2-40B4-BE49-F238E27FC236}">
                <a16:creationId xmlns:a16="http://schemas.microsoft.com/office/drawing/2014/main" id="{24B3A408-8DEC-36F8-029F-C845FF07B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2688" y="6292850"/>
            <a:ext cx="3460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329" name="Text Box 4">
            <a:extLst>
              <a:ext uri="{FF2B5EF4-FFF2-40B4-BE49-F238E27FC236}">
                <a16:creationId xmlns:a16="http://schemas.microsoft.com/office/drawing/2014/main" id="{40458933-F43B-8DE0-C09E-CBADD632E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6308725"/>
            <a:ext cx="3460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330" name="Text Box 4">
            <a:extLst>
              <a:ext uri="{FF2B5EF4-FFF2-40B4-BE49-F238E27FC236}">
                <a16:creationId xmlns:a16="http://schemas.microsoft.com/office/drawing/2014/main" id="{807468EF-2014-1F9F-8ACA-6E9428EAA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8613" y="6308725"/>
            <a:ext cx="34766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331" name="Text Box 4">
            <a:extLst>
              <a:ext uri="{FF2B5EF4-FFF2-40B4-BE49-F238E27FC236}">
                <a16:creationId xmlns:a16="http://schemas.microsoft.com/office/drawing/2014/main" id="{96621BBF-5586-209B-3FCB-FEF3594C0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5425" y="6296025"/>
            <a:ext cx="3460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325EFB86-14FE-2530-9931-5C4475593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3.3.2 </a:t>
            </a:r>
            <a:r>
              <a:rPr lang="zh-CN" altLang="en-US"/>
              <a:t>笛卡尔积的概念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63B8F2-9206-00C0-A450-C9F8638D7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916113"/>
            <a:ext cx="8343900" cy="4941887"/>
          </a:xfrm>
        </p:spPr>
        <p:txBody>
          <a:bodyPr/>
          <a:lstStyle/>
          <a:p>
            <a:pPr>
              <a:lnSpc>
                <a:spcPct val="160000"/>
              </a:lnSpc>
              <a:defRPr/>
            </a:pPr>
            <a:r>
              <a:rPr lang="zh-CN" altLang="en-US" dirty="0"/>
              <a:t>平面直角坐标系</a:t>
            </a:r>
            <a:endParaRPr lang="en-US" altLang="zh-CN" dirty="0"/>
          </a:p>
          <a:p>
            <a:pPr>
              <a:lnSpc>
                <a:spcPct val="160000"/>
              </a:lnSpc>
              <a:defRPr/>
            </a:pPr>
            <a:endParaRPr lang="en-US" altLang="zh-CN" dirty="0"/>
          </a:p>
          <a:p>
            <a:pPr marL="0" indent="0">
              <a:lnSpc>
                <a:spcPct val="160000"/>
              </a:lnSpc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eaLnBrk="1" hangingPunct="1">
              <a:lnSpc>
                <a:spcPct val="160000"/>
              </a:lnSpc>
              <a:defRPr/>
            </a:pP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为实数集，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>
                <a:solidFill>
                  <a:schemeClr val="hlink"/>
                </a:solidFill>
              </a:rPr>
              <a:t>R×R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a,b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a∈R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a∈R</a:t>
            </a:r>
            <a:r>
              <a:rPr lang="en-US" altLang="zh-CN" dirty="0"/>
              <a:t>}</a:t>
            </a:r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AD144D0-B81E-ACA6-3FF0-371095769B0B}"/>
              </a:ext>
            </a:extLst>
          </p:cNvPr>
          <p:cNvCxnSpPr/>
          <p:nvPr/>
        </p:nvCxnSpPr>
        <p:spPr>
          <a:xfrm>
            <a:off x="4356100" y="3933825"/>
            <a:ext cx="403225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C5E8618-FB3E-AF0C-47E7-C8C1B25B6BC5}"/>
              </a:ext>
            </a:extLst>
          </p:cNvPr>
          <p:cNvCxnSpPr/>
          <p:nvPr/>
        </p:nvCxnSpPr>
        <p:spPr>
          <a:xfrm flipH="1">
            <a:off x="6372225" y="2060575"/>
            <a:ext cx="19050" cy="3240088"/>
          </a:xfrm>
          <a:prstGeom prst="line">
            <a:avLst/>
          </a:prstGeom>
          <a:ln w="2540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8" name="Text Box 30">
            <a:extLst>
              <a:ext uri="{FF2B5EF4-FFF2-40B4-BE49-F238E27FC236}">
                <a16:creationId xmlns:a16="http://schemas.microsoft.com/office/drawing/2014/main" id="{5FECD9C4-DD63-585C-62E3-28008C125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903663"/>
            <a:ext cx="4032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cs typeface="Tahoma" panose="020B0604030504040204" pitchFamily="34" charset="0"/>
              </a:rPr>
              <a:t>O</a:t>
            </a:r>
          </a:p>
        </p:txBody>
      </p:sp>
      <p:sp>
        <p:nvSpPr>
          <p:cNvPr id="13319" name="Text Box 30">
            <a:extLst>
              <a:ext uri="{FF2B5EF4-FFF2-40B4-BE49-F238E27FC236}">
                <a16:creationId xmlns:a16="http://schemas.microsoft.com/office/drawing/2014/main" id="{FCEC85AB-45F4-3976-6C69-F2543A598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4675" y="3903663"/>
            <a:ext cx="338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</a:rPr>
              <a:t>x</a:t>
            </a:r>
          </a:p>
        </p:txBody>
      </p:sp>
      <p:sp>
        <p:nvSpPr>
          <p:cNvPr id="13320" name="Text Box 30">
            <a:extLst>
              <a:ext uri="{FF2B5EF4-FFF2-40B4-BE49-F238E27FC236}">
                <a16:creationId xmlns:a16="http://schemas.microsoft.com/office/drawing/2014/main" id="{FD93834D-EC39-CA7D-1B38-CA9E57FC6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1916113"/>
            <a:ext cx="3381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</a:rPr>
              <a:t>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318AF6-03DE-70FC-99F3-B7E4D8CA85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3.3.3 </a:t>
            </a:r>
            <a:r>
              <a:rPr lang="zh-CN" altLang="en-US"/>
              <a:t>笛卡尔积的性质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5369748-F6C2-7B91-94EB-7025EAD26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651375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3.3.1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为任意集合，则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/>
              <a:t> 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A×(B∩C)</a:t>
            </a:r>
            <a:r>
              <a:rPr lang="zh-CN" altLang="en-US"/>
              <a:t>＝</a:t>
            </a:r>
            <a:r>
              <a:rPr lang="en-US" altLang="zh-CN"/>
              <a:t>(A×B)∩(A×C)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/>
              <a:t> </a:t>
            </a: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(B∩C)×A</a:t>
            </a:r>
            <a:r>
              <a:rPr lang="zh-CN" altLang="en-US"/>
              <a:t>＝</a:t>
            </a:r>
            <a:r>
              <a:rPr lang="en-US" altLang="zh-CN"/>
              <a:t>(B×A)∩(C×A)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/>
              <a:t> </a:t>
            </a: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A×(B∪C)</a:t>
            </a:r>
            <a:r>
              <a:rPr lang="zh-CN" altLang="en-US"/>
              <a:t>＝</a:t>
            </a:r>
            <a:r>
              <a:rPr lang="en-US" altLang="zh-CN"/>
              <a:t>(A×B)∪(A×C)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/>
              <a:t> </a:t>
            </a:r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(B∪C)×A</a:t>
            </a:r>
            <a:r>
              <a:rPr lang="zh-CN" altLang="en-US"/>
              <a:t>＝</a:t>
            </a:r>
            <a:r>
              <a:rPr lang="en-US" altLang="zh-CN"/>
              <a:t>(B×A)∪(C×A)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622B13D-7D4B-0748-B33C-C801C5C8E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3.3.3 </a:t>
            </a:r>
            <a:r>
              <a:rPr lang="zh-CN" altLang="en-US"/>
              <a:t>笛卡尔积的性质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1DEBAEA-3D6F-6979-087B-897DD445BB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916113"/>
            <a:ext cx="8343900" cy="4941887"/>
          </a:xfrm>
        </p:spPr>
        <p:txBody>
          <a:bodyPr/>
          <a:lstStyle/>
          <a:p>
            <a:pPr eaLnBrk="1" hangingPunct="1">
              <a:lnSpc>
                <a:spcPct val="145000"/>
              </a:lnSpc>
            </a:pPr>
            <a:r>
              <a:rPr lang="zh-CN" altLang="en-US" b="1">
                <a:solidFill>
                  <a:schemeClr val="hlink"/>
                </a:solidFill>
              </a:rPr>
              <a:t>证明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）任取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x,y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</a:t>
            </a:r>
            <a:r>
              <a:rPr lang="en-US" altLang="zh-CN">
                <a:solidFill>
                  <a:srgbClr val="FF00FF"/>
                </a:solidFill>
              </a:rPr>
              <a:t>A×(B∩C)</a:t>
            </a:r>
            <a:endParaRPr lang="en-US" altLang="zh-CN">
              <a:solidFill>
                <a:srgbClr val="FF00FF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       </a:t>
            </a:r>
            <a:r>
              <a:rPr lang="en-US" altLang="zh-CN"/>
              <a:t>(x∈A)∧(y∈B∩C)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       </a:t>
            </a:r>
            <a:r>
              <a:rPr lang="en-US" altLang="zh-CN"/>
              <a:t>(x∈A)∧((y∈B)∧(y∈C))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       </a:t>
            </a:r>
            <a:r>
              <a:rPr lang="en-US" altLang="zh-CN"/>
              <a:t>((x∈A)∧(y∈B))∧((x∈A)∧(y∈C))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       </a:t>
            </a:r>
            <a:r>
              <a:rPr lang="en-US" altLang="zh-CN"/>
              <a:t>(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x,y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∈A×B)∧(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x,y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∈A×C)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       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x,y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</a:t>
            </a:r>
            <a:r>
              <a:rPr lang="en-US" altLang="zh-CN">
                <a:solidFill>
                  <a:srgbClr val="FF00FF"/>
                </a:solidFill>
              </a:rPr>
              <a:t>(A×B)∩(A×C)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D436F021-5EE7-14E0-07B9-91E7C2791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3.3.3 </a:t>
            </a:r>
            <a:r>
              <a:rPr lang="zh-CN" altLang="en-US"/>
              <a:t>笛卡尔积的性质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446014-FF1D-4659-A828-5BA9E807F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3130550"/>
            <a:ext cx="3810000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已知</a:t>
            </a:r>
            <a:r>
              <a:rPr lang="en-US" altLang="zh-CN" dirty="0"/>
              <a:t>A   B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</a:t>
            </a:r>
            <a:r>
              <a:rPr lang="zh-CN" altLang="en-US" b="1" dirty="0">
                <a:latin typeface="宋体" pitchFamily="2" charset="-122"/>
              </a:rPr>
              <a:t>任取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∈A×C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(</a:t>
            </a:r>
            <a:r>
              <a:rPr lang="en-US" altLang="zh-CN" dirty="0" err="1"/>
              <a:t>x∈A</a:t>
            </a:r>
            <a:r>
              <a:rPr lang="en-US" altLang="zh-CN" dirty="0"/>
              <a:t>)∧(</a:t>
            </a:r>
            <a:r>
              <a:rPr lang="en-US" altLang="zh-CN" dirty="0" err="1"/>
              <a:t>y∈C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</a:t>
            </a:r>
            <a:r>
              <a:rPr lang="en-US" altLang="zh-CN" dirty="0"/>
              <a:t>(</a:t>
            </a:r>
            <a:r>
              <a:rPr lang="en-US" altLang="zh-CN" dirty="0" err="1"/>
              <a:t>x∈B</a:t>
            </a:r>
            <a:r>
              <a:rPr lang="en-US" altLang="zh-CN" dirty="0"/>
              <a:t>)∧(</a:t>
            </a:r>
            <a:r>
              <a:rPr lang="en-US" altLang="zh-CN" dirty="0" err="1"/>
              <a:t>y∈C</a:t>
            </a:r>
            <a:r>
              <a:rPr lang="en-US" altLang="zh-CN" dirty="0"/>
              <a:t>)</a:t>
            </a:r>
            <a:r>
              <a:rPr lang="en-US" altLang="zh-CN" dirty="0">
                <a:sym typeface="Symbol" pitchFamily="18" charset="2"/>
              </a:rPr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ym typeface="Symbol" panose="05050102010706020507" pitchFamily="18" charset="2"/>
              </a:rPr>
              <a:t> 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∈B×C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16388" name="内容占位符 3">
            <a:extLst>
              <a:ext uri="{FF2B5EF4-FFF2-40B4-BE49-F238E27FC236}">
                <a16:creationId xmlns:a16="http://schemas.microsoft.com/office/drawing/2014/main" id="{DE932E44-9C71-5AEA-E406-38FD76D27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5088" y="3130550"/>
            <a:ext cx="3810000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由于</a:t>
            </a:r>
            <a:r>
              <a:rPr lang="en-US" altLang="zh-CN" dirty="0"/>
              <a:t>C≠ 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任取</a:t>
            </a:r>
            <a:r>
              <a:rPr lang="en-US" altLang="zh-CN" dirty="0" err="1"/>
              <a:t>x∈A</a:t>
            </a:r>
            <a:r>
              <a:rPr lang="en-US" altLang="zh-CN" dirty="0"/>
              <a:t> </a:t>
            </a:r>
            <a:r>
              <a:rPr lang="zh-CN" altLang="en-US" dirty="0"/>
              <a:t>和</a:t>
            </a:r>
            <a:r>
              <a:rPr lang="en-US" altLang="zh-CN" dirty="0" err="1"/>
              <a:t>y∈C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 </a:t>
            </a:r>
            <a:r>
              <a:rPr lang="en-US" altLang="zh-CN" b="1" dirty="0">
                <a:latin typeface="宋体" panose="02010600030101010101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anose="02010600030101010101" pitchFamily="2" charset="-122"/>
              </a:rPr>
              <a:t>&gt;</a:t>
            </a:r>
            <a:r>
              <a:rPr lang="en-US" altLang="zh-CN" dirty="0"/>
              <a:t>∈A×C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</a:t>
            </a:r>
            <a:r>
              <a:rPr lang="en-US" altLang="zh-CN" b="1" dirty="0">
                <a:latin typeface="宋体" panose="02010600030101010101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anose="02010600030101010101" pitchFamily="2" charset="-122"/>
              </a:rPr>
              <a:t>&gt;</a:t>
            </a:r>
            <a:r>
              <a:rPr lang="en-US" altLang="zh-CN" dirty="0"/>
              <a:t>∈B×C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</a:t>
            </a:r>
            <a:r>
              <a:rPr lang="en-US" altLang="zh-CN" dirty="0" err="1"/>
              <a:t>x∈B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6389" name="矩形 4">
            <a:extLst>
              <a:ext uri="{FF2B5EF4-FFF2-40B4-BE49-F238E27FC236}">
                <a16:creationId xmlns:a16="http://schemas.microsoft.com/office/drawing/2014/main" id="{2709DB0E-B4E5-B0DF-6A23-4DF525B14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844675"/>
            <a:ext cx="8208962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chemeClr val="hlink"/>
                </a:solidFill>
              </a:rPr>
              <a:t>定理</a:t>
            </a:r>
            <a:r>
              <a:rPr lang="en-US" altLang="zh-CN" sz="2800" dirty="0">
                <a:solidFill>
                  <a:schemeClr val="hlink"/>
                </a:solidFill>
              </a:rPr>
              <a:t>3.3.2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dirty="0"/>
              <a:t>A</a:t>
            </a:r>
            <a:r>
              <a:rPr lang="zh-CN" altLang="en-US" sz="2800" dirty="0"/>
              <a:t>、</a:t>
            </a:r>
            <a:r>
              <a:rPr lang="en-US" altLang="zh-CN" sz="2800" dirty="0"/>
              <a:t>B</a:t>
            </a:r>
            <a:r>
              <a:rPr lang="zh-CN" altLang="en-US" sz="2800" dirty="0"/>
              <a:t>、</a:t>
            </a:r>
            <a:r>
              <a:rPr lang="en-US" altLang="zh-CN" sz="2800" dirty="0"/>
              <a:t>C</a:t>
            </a:r>
            <a:r>
              <a:rPr lang="zh-CN" altLang="en-US" sz="2800" dirty="0"/>
              <a:t>为任意集合，且</a:t>
            </a:r>
            <a:r>
              <a:rPr lang="en-US" altLang="zh-CN" sz="2800" dirty="0"/>
              <a:t>C≠   </a:t>
            </a:r>
            <a:r>
              <a:rPr lang="zh-CN" altLang="en-US" sz="2800" dirty="0"/>
              <a:t>，则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</a:t>
            </a:r>
            <a:r>
              <a:rPr lang="en-US" altLang="zh-CN" sz="2800" dirty="0"/>
              <a:t>A   B</a:t>
            </a:r>
            <a:r>
              <a:rPr lang="en-US" altLang="zh-CN" sz="2800" b="1" dirty="0">
                <a:solidFill>
                  <a:srgbClr val="00B0F0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A×C   B×C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C×A   C×B</a:t>
            </a:r>
            <a:endParaRPr lang="en-US" altLang="zh-CN" sz="2800" b="1" dirty="0"/>
          </a:p>
        </p:txBody>
      </p:sp>
      <p:graphicFrame>
        <p:nvGraphicFramePr>
          <p:cNvPr id="16390" name="对象 5">
            <a:extLst>
              <a:ext uri="{FF2B5EF4-FFF2-40B4-BE49-F238E27FC236}">
                <a16:creationId xmlns:a16="http://schemas.microsoft.com/office/drawing/2014/main" id="{6FA0E283-CD93-E991-B64C-9619413F39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5950" y="2719388"/>
          <a:ext cx="3492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950" y="2719388"/>
                        <a:ext cx="3492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对象 6">
            <a:extLst>
              <a:ext uri="{FF2B5EF4-FFF2-40B4-BE49-F238E27FC236}">
                <a16:creationId xmlns:a16="http://schemas.microsoft.com/office/drawing/2014/main" id="{44FBE8F3-33EA-45EC-8B8A-A4F9940FB1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8275" y="2708275"/>
          <a:ext cx="3492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5" y="2708275"/>
                        <a:ext cx="3492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对象 7">
            <a:extLst>
              <a:ext uri="{FF2B5EF4-FFF2-40B4-BE49-F238E27FC236}">
                <a16:creationId xmlns:a16="http://schemas.microsoft.com/office/drawing/2014/main" id="{6A8C9E4B-F532-F3EF-9644-2D47B09DE0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08613" y="2708275"/>
          <a:ext cx="3492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52268" progId="Equation.DSMT4">
                  <p:embed/>
                </p:oleObj>
              </mc:Choice>
              <mc:Fallback>
                <p:oleObj name="Equation" r:id="rId5" imgW="152268" imgH="152268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8613" y="2708275"/>
                        <a:ext cx="3492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对象 8">
            <a:extLst>
              <a:ext uri="{FF2B5EF4-FFF2-40B4-BE49-F238E27FC236}">
                <a16:creationId xmlns:a16="http://schemas.microsoft.com/office/drawing/2014/main" id="{A826C61B-03F4-14C3-9B22-6F19733C87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1938" y="3314700"/>
          <a:ext cx="40798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14" imgH="177492" progId="Equation.DSMT4">
                  <p:embed/>
                </p:oleObj>
              </mc:Choice>
              <mc:Fallback>
                <p:oleObj name="Equation" r:id="rId6" imgW="164814" imgH="177492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1938" y="3314700"/>
                        <a:ext cx="407987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对象 9">
            <a:extLst>
              <a:ext uri="{FF2B5EF4-FFF2-40B4-BE49-F238E27FC236}">
                <a16:creationId xmlns:a16="http://schemas.microsoft.com/office/drawing/2014/main" id="{15F36EFB-8030-B0FC-66F5-52990B00A0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1213" y="2032000"/>
          <a:ext cx="411162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814" imgH="177492" progId="Equation.DSMT4">
                  <p:embed/>
                </p:oleObj>
              </mc:Choice>
              <mc:Fallback>
                <p:oleObj name="Equation" r:id="rId8" imgW="164814" imgH="177492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1213" y="2032000"/>
                        <a:ext cx="411162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对象 10">
            <a:extLst>
              <a:ext uri="{FF2B5EF4-FFF2-40B4-BE49-F238E27FC236}">
                <a16:creationId xmlns:a16="http://schemas.microsoft.com/office/drawing/2014/main" id="{2ADBFBF4-3544-4DDD-219F-2605ACC473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8" y="3357563"/>
          <a:ext cx="3492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268" imgH="152268" progId="Equation.DSMT4">
                  <p:embed/>
                </p:oleObj>
              </mc:Choice>
              <mc:Fallback>
                <p:oleObj name="Equation" r:id="rId10" imgW="152268" imgH="152268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3357563"/>
                        <a:ext cx="3492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13056252-7D74-99A6-0B29-4808DAD93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3.3.3 </a:t>
            </a:r>
            <a:r>
              <a:rPr lang="zh-CN" altLang="en-US"/>
              <a:t>笛卡尔积的性质</a:t>
            </a:r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5DD8A95E-53CF-8B49-8657-F873DE683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3130550"/>
            <a:ext cx="4105275" cy="372745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>
                <a:solidFill>
                  <a:schemeClr val="accent1"/>
                </a:solidFill>
              </a:rPr>
              <a:t>已知</a:t>
            </a:r>
            <a:r>
              <a:rPr lang="en-US" altLang="zh-CN" dirty="0"/>
              <a:t>A×B   C×D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任取</a:t>
            </a:r>
            <a:r>
              <a:rPr lang="en-US" altLang="zh-CN" dirty="0" err="1"/>
              <a:t>x∈A</a:t>
            </a:r>
            <a:r>
              <a:rPr lang="zh-CN" altLang="en-US" dirty="0"/>
              <a:t>且</a:t>
            </a:r>
            <a:r>
              <a:rPr lang="en-US" altLang="zh-CN" dirty="0" err="1"/>
              <a:t>y∈B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 </a:t>
            </a:r>
            <a:r>
              <a:rPr lang="en-US" altLang="zh-CN" b="1" dirty="0">
                <a:latin typeface="宋体" panose="02010600030101010101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anose="02010600030101010101" pitchFamily="2" charset="-122"/>
              </a:rPr>
              <a:t>&gt;</a:t>
            </a:r>
            <a:r>
              <a:rPr lang="en-US" altLang="zh-CN" dirty="0"/>
              <a:t>∈A×B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</a:t>
            </a:r>
            <a:r>
              <a:rPr lang="en-US" altLang="zh-CN" b="1" dirty="0">
                <a:latin typeface="宋体" panose="02010600030101010101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anose="02010600030101010101" pitchFamily="2" charset="-122"/>
              </a:rPr>
              <a:t>&gt;</a:t>
            </a:r>
            <a:r>
              <a:rPr lang="en-US" altLang="zh-CN" dirty="0"/>
              <a:t>∈C×D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</a:t>
            </a:r>
            <a:r>
              <a:rPr lang="en-US" altLang="zh-CN" dirty="0" err="1"/>
              <a:t>x∈C</a:t>
            </a:r>
            <a:r>
              <a:rPr lang="en-US" altLang="zh-CN" dirty="0"/>
              <a:t> ∧ </a:t>
            </a:r>
            <a:r>
              <a:rPr lang="en-US" altLang="zh-CN" dirty="0" err="1"/>
              <a:t>y∈D</a:t>
            </a:r>
            <a:endParaRPr lang="en-US" altLang="zh-CN" dirty="0"/>
          </a:p>
        </p:txBody>
      </p:sp>
      <p:sp>
        <p:nvSpPr>
          <p:cNvPr id="17412" name="内容占位符 3">
            <a:extLst>
              <a:ext uri="{FF2B5EF4-FFF2-40B4-BE49-F238E27FC236}">
                <a16:creationId xmlns:a16="http://schemas.microsoft.com/office/drawing/2014/main" id="{9213E3B9-FCCD-76EB-AE60-9598135B0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5088" y="3130550"/>
            <a:ext cx="3810000" cy="372745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zh-CN" altLang="en-US" dirty="0">
                <a:solidFill>
                  <a:schemeClr val="accent1"/>
                </a:solidFill>
              </a:rPr>
              <a:t>已知</a:t>
            </a:r>
            <a:r>
              <a:rPr lang="en-US" altLang="zh-CN" dirty="0"/>
              <a:t>A   C</a:t>
            </a:r>
            <a:r>
              <a:rPr lang="zh-CN" altLang="en-US" dirty="0"/>
              <a:t>，</a:t>
            </a:r>
            <a:r>
              <a:rPr lang="en-US" altLang="zh-CN" dirty="0"/>
              <a:t>B   D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任取</a:t>
            </a:r>
            <a:r>
              <a:rPr lang="en-US" altLang="zh-CN" b="1" dirty="0">
                <a:latin typeface="宋体" panose="02010600030101010101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anose="02010600030101010101" pitchFamily="2" charset="-122"/>
              </a:rPr>
              <a:t>&gt;</a:t>
            </a:r>
            <a:r>
              <a:rPr lang="en-US" altLang="zh-CN" dirty="0"/>
              <a:t>∈A×B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</a:t>
            </a:r>
            <a:r>
              <a:rPr lang="en-US" altLang="zh-CN" sz="2800" dirty="0">
                <a:sym typeface="Symbol" panose="05050102010706020507" pitchFamily="18" charset="2"/>
              </a:rPr>
              <a:t> </a:t>
            </a:r>
            <a:r>
              <a:rPr lang="en-US" altLang="zh-CN" dirty="0" err="1"/>
              <a:t>x∈A</a:t>
            </a:r>
            <a:r>
              <a:rPr lang="en-US" altLang="zh-CN" dirty="0"/>
              <a:t> ∧ </a:t>
            </a:r>
            <a:r>
              <a:rPr lang="en-US" altLang="zh-CN" dirty="0" err="1"/>
              <a:t>y∈B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</a:t>
            </a:r>
            <a:r>
              <a:rPr lang="en-US" altLang="zh-CN" dirty="0" err="1"/>
              <a:t>x∈C</a:t>
            </a:r>
            <a:r>
              <a:rPr lang="en-US" altLang="zh-CN" dirty="0"/>
              <a:t> ∧ </a:t>
            </a:r>
            <a:r>
              <a:rPr lang="en-US" altLang="zh-CN" dirty="0" err="1"/>
              <a:t>y∈D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</a:t>
            </a:r>
            <a:r>
              <a:rPr lang="en-US" altLang="zh-CN" sz="2800" dirty="0">
                <a:sym typeface="Symbol" panose="05050102010706020507" pitchFamily="18" charset="2"/>
              </a:rPr>
              <a:t> </a:t>
            </a:r>
            <a:r>
              <a:rPr lang="en-US" altLang="zh-CN" b="1" dirty="0">
                <a:latin typeface="宋体" panose="02010600030101010101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anose="02010600030101010101" pitchFamily="2" charset="-122"/>
              </a:rPr>
              <a:t>&gt;</a:t>
            </a:r>
            <a:r>
              <a:rPr lang="en-US" altLang="zh-CN" dirty="0"/>
              <a:t>∈C×D</a:t>
            </a:r>
          </a:p>
          <a:p>
            <a:endParaRPr lang="zh-CN" altLang="en-US" dirty="0"/>
          </a:p>
        </p:txBody>
      </p:sp>
      <p:sp>
        <p:nvSpPr>
          <p:cNvPr id="17413" name="矩形 4">
            <a:extLst>
              <a:ext uri="{FF2B5EF4-FFF2-40B4-BE49-F238E27FC236}">
                <a16:creationId xmlns:a16="http://schemas.microsoft.com/office/drawing/2014/main" id="{B97B3174-0826-74F1-DD27-01A94BE62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844675"/>
            <a:ext cx="8208962" cy="114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chemeClr val="hlink"/>
                </a:solidFill>
              </a:rPr>
              <a:t>定理</a:t>
            </a:r>
            <a:r>
              <a:rPr lang="en-US" altLang="zh-CN" sz="2800" dirty="0">
                <a:solidFill>
                  <a:schemeClr val="hlink"/>
                </a:solidFill>
              </a:rPr>
              <a:t>3.3.3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dirty="0"/>
              <a:t>A</a:t>
            </a:r>
            <a:r>
              <a:rPr lang="zh-CN" altLang="en-US" sz="2800" dirty="0"/>
              <a:t>、</a:t>
            </a:r>
            <a:r>
              <a:rPr lang="en-US" altLang="zh-CN" sz="2800" dirty="0"/>
              <a:t>B</a:t>
            </a:r>
            <a:r>
              <a:rPr lang="zh-CN" altLang="en-US" sz="2800" dirty="0"/>
              <a:t>、</a:t>
            </a:r>
            <a:r>
              <a:rPr lang="en-US" altLang="zh-CN" sz="2800" dirty="0"/>
              <a:t>C</a:t>
            </a:r>
            <a:r>
              <a:rPr lang="zh-CN" altLang="en-US" sz="2800" dirty="0"/>
              <a:t>、</a:t>
            </a:r>
            <a:r>
              <a:rPr lang="en-US" altLang="zh-CN" sz="2800" dirty="0"/>
              <a:t>D</a:t>
            </a:r>
            <a:r>
              <a:rPr lang="zh-CN" altLang="en-US" sz="2800" dirty="0"/>
              <a:t>为任意非空集合，则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</a:t>
            </a:r>
            <a:r>
              <a:rPr lang="en-US" altLang="zh-CN" sz="2800" dirty="0"/>
              <a:t>A×B   C×D</a:t>
            </a:r>
            <a:r>
              <a:rPr lang="zh-CN" altLang="en-US" sz="2800" dirty="0"/>
              <a:t>当且仅当</a:t>
            </a:r>
            <a:r>
              <a:rPr lang="en-US" altLang="zh-CN" sz="2800" dirty="0"/>
              <a:t>A   C</a:t>
            </a:r>
            <a:r>
              <a:rPr lang="zh-CN" altLang="en-US" sz="2800" dirty="0"/>
              <a:t>，</a:t>
            </a:r>
            <a:r>
              <a:rPr lang="en-US" altLang="zh-CN" sz="2800" dirty="0"/>
              <a:t>B   D</a:t>
            </a:r>
            <a:r>
              <a:rPr lang="zh-CN" altLang="en-US" sz="2800" dirty="0"/>
              <a:t>。</a:t>
            </a:r>
            <a:endParaRPr lang="zh-CN" altLang="en-US" sz="2800" b="1" dirty="0"/>
          </a:p>
        </p:txBody>
      </p:sp>
      <p:graphicFrame>
        <p:nvGraphicFramePr>
          <p:cNvPr id="17414" name="对象 5">
            <a:extLst>
              <a:ext uri="{FF2B5EF4-FFF2-40B4-BE49-F238E27FC236}">
                <a16:creationId xmlns:a16="http://schemas.microsoft.com/office/drawing/2014/main" id="{8443AE9B-4A31-894C-8A1B-B7C720E673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9013" y="2590800"/>
          <a:ext cx="3492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013" y="2590800"/>
                        <a:ext cx="3492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对象 6">
            <a:extLst>
              <a:ext uri="{FF2B5EF4-FFF2-40B4-BE49-F238E27FC236}">
                <a16:creationId xmlns:a16="http://schemas.microsoft.com/office/drawing/2014/main" id="{767369B4-6542-986B-DBE4-E321DA2F3F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725" y="2565400"/>
          <a:ext cx="3492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2565400"/>
                        <a:ext cx="3492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对象 7">
            <a:extLst>
              <a:ext uri="{FF2B5EF4-FFF2-40B4-BE49-F238E27FC236}">
                <a16:creationId xmlns:a16="http://schemas.microsoft.com/office/drawing/2014/main" id="{7E5FE790-4D2D-8DC8-29DD-B8A9D50806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3913" y="2590800"/>
          <a:ext cx="3492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52268" progId="Equation.DSMT4">
                  <p:embed/>
                </p:oleObj>
              </mc:Choice>
              <mc:Fallback>
                <p:oleObj name="Equation" r:id="rId5" imgW="152268" imgH="152268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3913" y="2590800"/>
                        <a:ext cx="3492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对象 10">
            <a:extLst>
              <a:ext uri="{FF2B5EF4-FFF2-40B4-BE49-F238E27FC236}">
                <a16:creationId xmlns:a16="http://schemas.microsoft.com/office/drawing/2014/main" id="{086A62B1-F9D3-FD47-E21B-616BF3C547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1200" y="3357563"/>
          <a:ext cx="3492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3357563"/>
                        <a:ext cx="3492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对象 11">
            <a:extLst>
              <a:ext uri="{FF2B5EF4-FFF2-40B4-BE49-F238E27FC236}">
                <a16:creationId xmlns:a16="http://schemas.microsoft.com/office/drawing/2014/main" id="{437FB837-4F65-EAF4-967C-B5C54B7BFB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3367088"/>
          <a:ext cx="3492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152268" progId="Equation.DSMT4">
                  <p:embed/>
                </p:oleObj>
              </mc:Choice>
              <mc:Fallback>
                <p:oleObj name="Equation" r:id="rId7" imgW="152268" imgH="152268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367088"/>
                        <a:ext cx="3492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对象 12">
            <a:extLst>
              <a:ext uri="{FF2B5EF4-FFF2-40B4-BE49-F238E27FC236}">
                <a16:creationId xmlns:a16="http://schemas.microsoft.com/office/drawing/2014/main" id="{051CE00A-1B2E-E704-D409-BEE058922F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48413" y="3341688"/>
          <a:ext cx="3492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68" imgH="152268" progId="Equation.DSMT4">
                  <p:embed/>
                </p:oleObj>
              </mc:Choice>
              <mc:Fallback>
                <p:oleObj name="Equation" r:id="rId8" imgW="152268" imgH="152268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8413" y="3341688"/>
                        <a:ext cx="3492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289FC20-C08B-C9BB-8788-0751E82C57B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281906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P68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，习题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3.3   6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42A7778-AC41-0EBE-AE51-AF31A8F81D5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D0D5A20-D3BE-F83C-A494-E3244D2F8050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3E9EDE28-28FC-E8FA-4617-57F73BAF29B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C5F7C0CF-BBFB-73DB-EB72-2165B076D65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44F2BCAE-E6EA-03D6-16C5-E4A6AFDC92DC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B9326C81-436A-842B-61EE-559E4288B2E7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313E0D08-0E06-3CFD-2E92-81529BD1E9E5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93210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3AC2982-0E4B-E8DA-133D-6907140F5D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作  业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57A935B-72FC-5DB3-DEAE-35B24028E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270875" cy="4840287"/>
          </a:xfrm>
        </p:spPr>
        <p:txBody>
          <a:bodyPr/>
          <a:lstStyle/>
          <a:p>
            <a:pPr eaLnBrk="1" hangingPunct="1">
              <a:lnSpc>
                <a:spcPct val="300000"/>
              </a:lnSpc>
            </a:pPr>
            <a:r>
              <a:rPr lang="en-US" altLang="zh-CN" sz="3600">
                <a:solidFill>
                  <a:srgbClr val="FF0000"/>
                </a:solidFill>
              </a:rPr>
              <a:t>P68 </a:t>
            </a:r>
            <a:r>
              <a:rPr lang="en-US" altLang="zh-CN" sz="3600"/>
              <a:t>  </a:t>
            </a:r>
            <a:r>
              <a:rPr lang="zh-CN" altLang="en-US" sz="3600"/>
              <a:t>习题</a:t>
            </a:r>
            <a:r>
              <a:rPr lang="en-US" altLang="zh-CN" sz="3600"/>
              <a:t>3.3</a:t>
            </a:r>
            <a:endParaRPr lang="en-US" altLang="zh-CN" sz="3600" b="1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1799</TotalTime>
  <Words>1084</Words>
  <Application>Microsoft Office PowerPoint</Application>
  <PresentationFormat>全屏显示(4:3)</PresentationFormat>
  <Paragraphs>109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宋体</vt:lpstr>
      <vt:lpstr>Microsoft Yahei</vt:lpstr>
      <vt:lpstr>Arial</vt:lpstr>
      <vt:lpstr>Calibri</vt:lpstr>
      <vt:lpstr>Tahoma</vt:lpstr>
      <vt:lpstr>Wingdings</vt:lpstr>
      <vt:lpstr>Blends</vt:lpstr>
      <vt:lpstr>Equation</vt:lpstr>
      <vt:lpstr>3.3 序偶与笛卡尔积 </vt:lpstr>
      <vt:lpstr>3.3.1 n元组</vt:lpstr>
      <vt:lpstr>3.3.1 n元组</vt:lpstr>
      <vt:lpstr>3.3.2 笛卡尔积的概念</vt:lpstr>
      <vt:lpstr>3.3.2 笛卡尔积的概念</vt:lpstr>
      <vt:lpstr>3.3.2 笛卡尔积的概念</vt:lpstr>
      <vt:lpstr>3.3.2 笛卡尔积的概念</vt:lpstr>
      <vt:lpstr>3.3.2 笛卡尔积的概念</vt:lpstr>
      <vt:lpstr>3.3.2 笛卡尔积的概念</vt:lpstr>
      <vt:lpstr>3.3.3 笛卡尔积的性质</vt:lpstr>
      <vt:lpstr>3.3.3 笛卡尔积的性质</vt:lpstr>
      <vt:lpstr>3.3.3 笛卡尔积的性质</vt:lpstr>
      <vt:lpstr>3.3.3 笛卡尔积的性质</vt:lpstr>
      <vt:lpstr>PowerPoint 演示文稿</vt:lpstr>
      <vt:lpstr>作  业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62</cp:revision>
  <dcterms:created xsi:type="dcterms:W3CDTF">2010-04-09T13:44:14Z</dcterms:created>
  <dcterms:modified xsi:type="dcterms:W3CDTF">2023-12-21T07:44:37Z</dcterms:modified>
</cp:coreProperties>
</file>