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sldIdLst>
    <p:sldId id="339" r:id="rId2"/>
    <p:sldId id="268" r:id="rId3"/>
    <p:sldId id="260" r:id="rId4"/>
    <p:sldId id="345" r:id="rId5"/>
    <p:sldId id="261" r:id="rId6"/>
    <p:sldId id="334" r:id="rId7"/>
    <p:sldId id="347" r:id="rId8"/>
    <p:sldId id="354" r:id="rId9"/>
    <p:sldId id="349" r:id="rId10"/>
    <p:sldId id="351" r:id="rId11"/>
    <p:sldId id="360" r:id="rId12"/>
    <p:sldId id="361" r:id="rId13"/>
    <p:sldId id="264" r:id="rId14"/>
    <p:sldId id="341" r:id="rId15"/>
    <p:sldId id="343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00FF"/>
    <a:srgbClr val="FF0066"/>
    <a:srgbClr val="CC0066"/>
    <a:srgbClr val="008080"/>
    <a:srgbClr val="339933"/>
    <a:srgbClr val="00CC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6" d="100"/>
          <a:sy n="66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E22902B-0F17-2F5B-BB91-D731944217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095250-9817-F2F7-D5AE-DB8969E29D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/>
            </a:lvl1pPr>
          </a:lstStyle>
          <a:p>
            <a:pPr>
              <a:defRPr/>
            </a:pPr>
            <a:fld id="{43E3AAF7-2BFE-47AB-A7B0-1B416893E062}" type="datetimeFigureOut">
              <a:rPr lang="zh-CN" altLang="en-US"/>
              <a:pPr>
                <a:defRPr/>
              </a:pPr>
              <a:t>2023/12/21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4759DCB-81CE-1269-B161-F907453216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C9481DE-83D5-E5FB-CF4B-CE3D4B0D7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687094-5EE3-0EEB-72B6-B2AC913A2E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F8320F-C017-384A-A8A0-9C2CEBA47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/>
            </a:lvl1pPr>
          </a:lstStyle>
          <a:p>
            <a:pPr>
              <a:defRPr/>
            </a:pPr>
            <a:fld id="{4990E70E-9FF0-4C3B-B237-D7055C37D4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3E1CE0-8F98-B34A-BEE6-247B5ADD76B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4090C01-CDF4-C514-99A1-1731FB6B23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9DAA0B40-D8CE-F55E-2C9F-5833EAA016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663FAB78-51DD-5BD7-63FA-3C9540EED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E41AA2E-0DCF-C219-305B-60149DD5FC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EE3651-22E6-884C-F7D6-93C5EFA7A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02C273-7EA6-56C0-E36F-80463C23A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F2BBF4B1-2906-5D28-B769-C4B262604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27B4E142-7B4B-E6CC-39E8-7470E314A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47E5E84-E8E4-756E-E50D-681F629818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3DC2CD4C-38B2-6936-F86C-1FA8C15638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7971C64-A5F7-0CCC-B547-F5F6A012C6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48FD834A-7A1A-FBAA-4231-F5E6C9748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92EBA50-7289-4E5F-95E2-F98B2ADE80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04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B9DF56A-1142-C80E-6F4C-736DA16599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A90E308-47AB-2BCE-75BA-593645B0C0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0C3591A-81A5-FACF-40E7-CF3BC458C0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35064-44BF-426A-AB75-A6C340656E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239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8D78906-365F-5FAE-F2E3-70187279F1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08F613E-ABF3-18DE-0E0B-DBBB88EED1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D51ED6F-AB7E-2DC8-88A9-18C802B709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1F2E8-19E7-45A9-B819-B4E8B0D73E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104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43E4D12-1D12-A288-B43A-583F1B5F15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CD1902E-7BEA-1D02-8A90-71A8996037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DE9D923-84B8-DF94-C562-EB37C3525E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33D75-7854-48D2-B458-62A3B385A8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22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8CC9827-0340-45AA-5E58-A6B1F5A89E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7DFDCAF-0C91-7282-22C8-141F8DF10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C775535-BEC2-370D-75BC-E03666797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02212-81EF-427D-AEA3-2115763614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772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D0F2B0C-3575-9C0C-ABD3-D62F1E79AC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BF89AFD-2FE7-4C0F-4E93-21A2C39FEE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06FF6FA-78BB-7944-E1A1-A2F38FD763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C019C-D9CC-4FF9-8C39-4F4EDBBBDD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77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ABE16D98-A0DA-B3AE-1DAD-BBB972C964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EBADA3FA-3D7D-2D05-8F28-B225B4009B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42FE0BE-E0F9-666E-A5AB-110C32638A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6FE3F-3210-4E56-AFAE-C621F3D546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43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BB31BC5-5D03-F15C-B9AA-C71B86311A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CA595D1-0FA7-EEF6-FF2A-647FAC1BDB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9735362-6A25-B9F7-EEEC-BA28308924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A5C2D-1ED7-42CB-BCF8-F07D64C7A7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60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42AF174-FFFA-DC41-3C27-C63459EF53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F7F6B46-0B93-1403-0339-49EFA4C22D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392C9E3-95A6-6BA2-57D5-DB494907F3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FE6E2-BA86-4BB8-B701-DF6EBC47C3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55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F507BDF-B9CC-3903-49C2-45BF93B842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2E0D43B-D381-41E2-6566-36AC3ABE85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4684549-62E9-4F19-A534-0634AC44E8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A5ED8-8B5D-4F20-B736-874BC93FE4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860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2C42119-507D-326E-5D52-BF59037D40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821E9BF-7C06-7D7A-0CCD-D1D3A36E5C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76A2990-582C-0885-7FA9-0D115C9357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D4287-CB5C-4CDB-8A86-78775A8AAB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657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F56308-5115-5BFA-D48B-68881FF2F4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4F2AF0-06CD-A095-A6BE-15B21ADFB3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4CD0189-D540-5277-49B4-FD5050C9ABB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6FC0FC-D6F6-A764-28F2-392E3F9EAF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1E3C9AF-7079-CFE3-6E2B-10B46A5A3E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709BAAE-8A6D-18DB-3EE1-A681364F24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AE5E287-0BF1-4E91-99DD-3F08999882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786E7C9-68C9-C70D-263C-84E810557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C7EBF0AC-5950-F7A9-8C6D-DE4FF4333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5ECC4BC3-3888-DCEB-963C-4B6AFF088B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684C78E0-0840-697E-F4B2-5773BD8334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5D7CBD1A-1046-96AD-2121-69AECF1BC3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fld id="{FF0B8499-6233-4B47-A6F4-88A4DE9AC8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0C6E178-9B38-11EE-EA17-A4478BFC8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/>
              <a:t>第一篇   数理逻辑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08D0FBB-0A2E-62C1-26A3-4D7BB0290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906588"/>
            <a:ext cx="8343900" cy="494188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数理逻辑</a:t>
            </a:r>
            <a:r>
              <a:rPr lang="en-US" altLang="zh-CN" dirty="0">
                <a:solidFill>
                  <a:schemeClr val="hlink"/>
                </a:solidFill>
              </a:rPr>
              <a:t>(mathematical logic)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数学    逻辑学</a:t>
            </a:r>
          </a:p>
          <a:p>
            <a:pPr eaLnBrk="1" hangingPunct="1">
              <a:lnSpc>
                <a:spcPct val="85000"/>
              </a:lnSpc>
              <a:defRPr/>
            </a:pPr>
            <a:endParaRPr lang="zh-CN" altLang="en-US" b="1" dirty="0"/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   数学思维                     形式推理系统                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(</a:t>
            </a:r>
            <a:r>
              <a:rPr lang="zh-CN" altLang="en-US" b="1" dirty="0"/>
              <a:t>形式  结构  推理</a:t>
            </a:r>
            <a:r>
              <a:rPr lang="en-US" altLang="zh-CN" dirty="0"/>
              <a:t>)                   </a:t>
            </a:r>
          </a:p>
          <a:p>
            <a:pPr eaLnBrk="1" hangingPunct="1">
              <a:lnSpc>
                <a:spcPct val="85000"/>
              </a:lnSpc>
              <a:defRPr/>
            </a:pPr>
            <a:endParaRPr lang="en-US" altLang="zh-CN" dirty="0"/>
          </a:p>
          <a:p>
            <a:pPr eaLnBrk="1" hangingPunct="1">
              <a:lnSpc>
                <a:spcPct val="85000"/>
              </a:lnSpc>
              <a:defRPr/>
            </a:pPr>
            <a:endParaRPr lang="en-US" altLang="zh-CN" dirty="0"/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en-US" b="1" dirty="0"/>
              <a:t>推理规律     简洁逻辑关系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思维规律     符号规律            数学方法</a:t>
            </a:r>
            <a:r>
              <a:rPr lang="zh-CN" altLang="en-US" sz="2000" b="1" dirty="0"/>
              <a:t>                                     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B9774A9-ED76-1D53-6DF2-3E490C4DB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3436938"/>
            <a:ext cx="2520950" cy="758825"/>
          </a:xfrm>
          <a:prstGeom prst="rect">
            <a:avLst/>
          </a:prstGeom>
          <a:noFill/>
          <a:ln w="2540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47DB76BE-2485-BBF5-BBB6-C072CDD79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500438"/>
            <a:ext cx="3455988" cy="1223962"/>
          </a:xfrm>
          <a:prstGeom prst="rect">
            <a:avLst/>
          </a:prstGeom>
          <a:noFill/>
          <a:ln w="25400">
            <a:solidFill>
              <a:srgbClr val="FF99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3D623A9-027F-A813-C533-1E55E65C1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6059488"/>
            <a:ext cx="1871663" cy="647700"/>
          </a:xfrm>
          <a:prstGeom prst="rect">
            <a:avLst/>
          </a:prstGeom>
          <a:noFill/>
          <a:ln w="25400">
            <a:solidFill>
              <a:srgbClr val="CC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9D0C838-9351-DB11-885D-3C42AB227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5683250"/>
            <a:ext cx="1728787" cy="4826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ACF9DB71-0040-E914-0A6A-1CE2E0C4B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683250"/>
            <a:ext cx="2519363" cy="482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CB50DA02-C062-75DC-380A-006376DDD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6237288"/>
            <a:ext cx="1727200" cy="431800"/>
          </a:xfrm>
          <a:prstGeom prst="rect">
            <a:avLst/>
          </a:prstGeom>
          <a:noFill/>
          <a:ln w="25400">
            <a:solidFill>
              <a:srgbClr val="8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7BE7A97D-01D0-EA33-8639-623645CA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438" y="6237288"/>
            <a:ext cx="1728787" cy="431800"/>
          </a:xfrm>
          <a:prstGeom prst="rect">
            <a:avLst/>
          </a:prstGeom>
          <a:noFill/>
          <a:ln w="25400">
            <a:solidFill>
              <a:srgbClr val="33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7" name="AutoShape 11">
            <a:extLst>
              <a:ext uri="{FF2B5EF4-FFF2-40B4-BE49-F238E27FC236}">
                <a16:creationId xmlns:a16="http://schemas.microsoft.com/office/drawing/2014/main" id="{08018AF8-A350-9518-FC02-3F6D673CE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5238" y="4581525"/>
            <a:ext cx="485775" cy="976313"/>
          </a:xfrm>
          <a:prstGeom prst="upArrow">
            <a:avLst>
              <a:gd name="adj1" fmla="val 50000"/>
              <a:gd name="adj2" fmla="val 50245"/>
            </a:avLst>
          </a:prstGeom>
          <a:solidFill>
            <a:srgbClr val="CC99FF"/>
          </a:solidFill>
          <a:ln w="9525">
            <a:solidFill>
              <a:srgbClr val="CC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8" name="AutoShape 12">
            <a:extLst>
              <a:ext uri="{FF2B5EF4-FFF2-40B4-BE49-F238E27FC236}">
                <a16:creationId xmlns:a16="http://schemas.microsoft.com/office/drawing/2014/main" id="{0B072F8A-2DF0-9DCA-E26D-D1770773B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573463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09" name="AutoShape 13">
            <a:extLst>
              <a:ext uri="{FF2B5EF4-FFF2-40B4-BE49-F238E27FC236}">
                <a16:creationId xmlns:a16="http://schemas.microsoft.com/office/drawing/2014/main" id="{3DD3CB5D-B8FF-E3F6-AAD4-9B833F234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797425"/>
            <a:ext cx="341313" cy="684213"/>
          </a:xfrm>
          <a:prstGeom prst="downArrow">
            <a:avLst>
              <a:gd name="adj1" fmla="val 50000"/>
              <a:gd name="adj2" fmla="val 50116"/>
            </a:avLst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10" name="AutoShape 14">
            <a:extLst>
              <a:ext uri="{FF2B5EF4-FFF2-40B4-BE49-F238E27FC236}">
                <a16:creationId xmlns:a16="http://schemas.microsoft.com/office/drawing/2014/main" id="{CE3D0618-D312-6E21-B695-EA58ACC9B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5792788"/>
            <a:ext cx="420688" cy="207962"/>
          </a:xfrm>
          <a:prstGeom prst="rightArrow">
            <a:avLst>
              <a:gd name="adj1" fmla="val 50000"/>
              <a:gd name="adj2" fmla="val 50573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11" name="AutoShape 15">
            <a:extLst>
              <a:ext uri="{FF2B5EF4-FFF2-40B4-BE49-F238E27FC236}">
                <a16:creationId xmlns:a16="http://schemas.microsoft.com/office/drawing/2014/main" id="{6B9648B5-CC73-6B42-F1D9-3EBA19DF4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6305550"/>
            <a:ext cx="420688" cy="207963"/>
          </a:xfrm>
          <a:prstGeom prst="rightArrow">
            <a:avLst>
              <a:gd name="adj1" fmla="val 50000"/>
              <a:gd name="adj2" fmla="val 50572"/>
            </a:avLst>
          </a:prstGeom>
          <a:solidFill>
            <a:srgbClr val="993366"/>
          </a:solidFill>
          <a:ln w="9525">
            <a:solidFill>
              <a:srgbClr val="9933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4112" name="Text Box 16">
            <a:extLst>
              <a:ext uri="{FF2B5EF4-FFF2-40B4-BE49-F238E27FC236}">
                <a16:creationId xmlns:a16="http://schemas.microsoft.com/office/drawing/2014/main" id="{3A1DBCFB-E67F-9CEE-635E-75F3E4BD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4841875"/>
            <a:ext cx="231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00CC99"/>
                </a:solidFill>
              </a:rPr>
              <a:t>引进一套符号</a:t>
            </a:r>
          </a:p>
        </p:txBody>
      </p:sp>
      <p:sp>
        <p:nvSpPr>
          <p:cNvPr id="4113" name="Text Box 17">
            <a:extLst>
              <a:ext uri="{FF2B5EF4-FFF2-40B4-BE49-F238E27FC236}">
                <a16:creationId xmlns:a16="http://schemas.microsoft.com/office/drawing/2014/main" id="{8277E774-FCC9-1A88-E039-74D1A4E1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925" y="318135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00FF"/>
                </a:solidFill>
              </a:rPr>
              <a:t>形式</a:t>
            </a:r>
          </a:p>
        </p:txBody>
      </p:sp>
      <p:sp>
        <p:nvSpPr>
          <p:cNvPr id="4114" name="Text Box 18">
            <a:extLst>
              <a:ext uri="{FF2B5EF4-FFF2-40B4-BE49-F238E27FC236}">
                <a16:creationId xmlns:a16="http://schemas.microsoft.com/office/drawing/2014/main" id="{07DFD820-1C94-4242-97F6-56A071B86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8688" y="3859213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00FF"/>
                </a:solidFill>
              </a:rPr>
              <a:t>语言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60D9981F-1BD5-6FC0-20CA-CCCBB13FC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zh-CN" altLang="en-US" sz="4800"/>
              <a:t>第</a:t>
            </a:r>
            <a:r>
              <a:rPr lang="en-US" altLang="zh-CN" sz="4800"/>
              <a:t>1</a:t>
            </a:r>
            <a:r>
              <a:rPr lang="zh-CN" altLang="en-US" sz="4800"/>
              <a:t>章   命题逻辑</a:t>
            </a:r>
            <a:r>
              <a:rPr lang="zh-CN" altLang="en-US"/>
              <a:t> </a:t>
            </a: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925B2091-CCC3-4A69-7F5B-9B7E5EB8A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2017713"/>
            <a:ext cx="7912100" cy="48402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1.1 </a:t>
            </a:r>
            <a:r>
              <a:rPr lang="zh-CN" altLang="en-US" b="1"/>
              <a:t>命题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1.2 </a:t>
            </a:r>
            <a:r>
              <a:rPr lang="zh-CN" altLang="en-US" b="1"/>
              <a:t>命题联结词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1.3 </a:t>
            </a:r>
            <a:r>
              <a:rPr lang="zh-CN" altLang="en-US" b="1"/>
              <a:t>命题公式及其真值表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1.4 </a:t>
            </a:r>
            <a:r>
              <a:rPr lang="zh-CN" altLang="en-US" b="1"/>
              <a:t>逻辑等价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1.5 </a:t>
            </a:r>
            <a:r>
              <a:rPr lang="zh-CN" altLang="en-US" b="1"/>
              <a:t>联结词的全功能集合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1.6 </a:t>
            </a:r>
            <a:r>
              <a:rPr lang="zh-CN" altLang="en-US" b="1"/>
              <a:t>蕴含与对偶</a:t>
            </a:r>
            <a:endParaRPr lang="en-US" altLang="zh-CN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1.7 </a:t>
            </a:r>
            <a:r>
              <a:rPr lang="zh-CN" altLang="en-US" b="1"/>
              <a:t>命题逻辑的推理理论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1.8 </a:t>
            </a:r>
            <a:r>
              <a:rPr lang="zh-CN" altLang="en-US" b="1"/>
              <a:t>命题公式的范式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AB60F30-222E-A963-00EA-841662E94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en-US" altLang="zh-CN" sz="4800"/>
              <a:t>1.1   </a:t>
            </a:r>
            <a:r>
              <a:rPr lang="zh-CN" altLang="en-US" sz="4800"/>
              <a:t>命题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E7B2F1D-DAB5-7460-C30D-7BD810327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1916113"/>
            <a:ext cx="7912100" cy="4752975"/>
          </a:xfrm>
        </p:spPr>
        <p:txBody>
          <a:bodyPr/>
          <a:lstStyle/>
          <a:p>
            <a:pPr eaLnBrk="1" hangingPunct="1">
              <a:lnSpc>
                <a:spcPct val="24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1.1.1 </a:t>
            </a:r>
            <a:r>
              <a:rPr lang="zh-CN" altLang="en-US" sz="3600" b="1"/>
              <a:t>命题的概念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24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1.1.2 </a:t>
            </a:r>
            <a:r>
              <a:rPr lang="zh-CN" altLang="en-US" sz="3600" b="1"/>
              <a:t>命题的分类</a:t>
            </a:r>
          </a:p>
          <a:p>
            <a:pPr eaLnBrk="1" hangingPunct="1">
              <a:lnSpc>
                <a:spcPct val="24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1.1.3 </a:t>
            </a:r>
            <a:r>
              <a:rPr lang="zh-CN" altLang="en-US" sz="3600" b="1"/>
              <a:t>命题标识符</a:t>
            </a:r>
            <a:r>
              <a:rPr lang="zh-CN" altLang="en-US" sz="36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1FE2C2-C3F6-1162-D2AA-875B57F35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en-US" altLang="zh-CN" sz="4800"/>
              <a:t>1.1.1   </a:t>
            </a:r>
            <a:r>
              <a:rPr lang="zh-CN" altLang="en-US" sz="4800"/>
              <a:t>命题的概念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5476BE8-3199-B738-38C0-14698FE4F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8532812" cy="5084762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 b="1">
                <a:solidFill>
                  <a:schemeClr val="hlink"/>
                </a:solidFill>
              </a:rPr>
              <a:t>什么是命题</a:t>
            </a:r>
            <a:r>
              <a:rPr lang="en-US" altLang="zh-CN">
                <a:solidFill>
                  <a:schemeClr val="hlink"/>
                </a:solidFill>
              </a:rPr>
              <a:t>(statement)</a:t>
            </a:r>
            <a:r>
              <a:rPr lang="zh-CN" altLang="en-US">
                <a:solidFill>
                  <a:schemeClr val="hlink"/>
                </a:solidFill>
              </a:rPr>
              <a:t>？</a:t>
            </a:r>
            <a:endParaRPr lang="en-US" altLang="zh-CN"/>
          </a:p>
          <a:p>
            <a:pPr eaLnBrk="1" hangingPunct="1">
              <a:lnSpc>
                <a:spcPct val="180000"/>
              </a:lnSpc>
            </a:pPr>
            <a:r>
              <a:rPr lang="en-US" altLang="zh-CN"/>
              <a:t>A</a:t>
            </a:r>
            <a:r>
              <a:rPr lang="en-US" altLang="zh-CN" b="1"/>
              <a:t> </a:t>
            </a:r>
            <a:r>
              <a:rPr lang="en-US" altLang="zh-CN">
                <a:solidFill>
                  <a:srgbClr val="00B050"/>
                </a:solidFill>
              </a:rPr>
              <a:t>statement</a:t>
            </a:r>
            <a:r>
              <a:rPr lang="en-US" altLang="zh-CN"/>
              <a:t> is a declarative sentence that is either true or false, but not both.</a:t>
            </a:r>
            <a:endParaRPr lang="zh-CN" altLang="en-US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一个命题是一个或真或假的陈述句，但不能既真又假。</a:t>
            </a:r>
            <a:endParaRPr lang="zh-CN" altLang="en-US" b="1">
              <a:solidFill>
                <a:srgbClr val="00808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02C367F-52EA-0F45-F66F-732FF6A7E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en-US" altLang="zh-CN" sz="4800"/>
              <a:t>1.1.1   </a:t>
            </a:r>
            <a:r>
              <a:rPr lang="zh-CN" altLang="en-US" sz="4800"/>
              <a:t>命题的概念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73A1CD0-6FEA-78FA-6665-ED341F385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133600"/>
            <a:ext cx="8343900" cy="4608513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3600" b="1">
                <a:solidFill>
                  <a:schemeClr val="hlink"/>
                </a:solidFill>
              </a:rPr>
              <a:t>命题</a:t>
            </a:r>
            <a:r>
              <a:rPr lang="en-US" altLang="zh-CN" sz="3600">
                <a:solidFill>
                  <a:schemeClr val="hlink"/>
                </a:solidFill>
              </a:rPr>
              <a:t>(statement)</a:t>
            </a:r>
            <a:endParaRPr lang="zh-CN" altLang="en-US" sz="3600" b="1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600" b="1"/>
              <a:t>   描述客观世界</a:t>
            </a:r>
            <a:r>
              <a:rPr lang="zh-CN" altLang="en-US" sz="3600" b="1">
                <a:solidFill>
                  <a:srgbClr val="CC0066"/>
                </a:solidFill>
              </a:rPr>
              <a:t>可分辨真假</a:t>
            </a:r>
            <a:r>
              <a:rPr lang="zh-CN" altLang="en-US" sz="3600" b="1"/>
              <a:t>且</a:t>
            </a:r>
            <a:r>
              <a:rPr lang="zh-CN" altLang="en-US" sz="3600" b="1">
                <a:solidFill>
                  <a:srgbClr val="008080"/>
                </a:solidFill>
              </a:rPr>
              <a:t>非真即假  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600" b="1">
                <a:solidFill>
                  <a:srgbClr val="008080"/>
                </a:solidFill>
              </a:rPr>
              <a:t>   </a:t>
            </a:r>
            <a:r>
              <a:rPr lang="zh-CN" altLang="en-US" sz="3600" b="1"/>
              <a:t>的</a:t>
            </a:r>
            <a:r>
              <a:rPr lang="zh-CN" altLang="en-US" sz="3600" b="1">
                <a:solidFill>
                  <a:schemeClr val="hlink"/>
                </a:solidFill>
              </a:rPr>
              <a:t>陈述句</a:t>
            </a:r>
            <a:endParaRPr lang="zh-CN" altLang="en-US" sz="36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2E11C4A-4B8B-FA88-7D08-90762A326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1.1.1   </a:t>
            </a:r>
            <a:r>
              <a:rPr lang="zh-CN" altLang="en-US" sz="4800"/>
              <a:t>命题的概念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54B9A1B-8F1D-796C-A74F-5D196AB24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916113"/>
            <a:ext cx="8270875" cy="4826000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 b="1">
                <a:solidFill>
                  <a:srgbClr val="FF0066"/>
                </a:solidFill>
              </a:rPr>
              <a:t>真命题</a:t>
            </a:r>
            <a:r>
              <a:rPr lang="zh-CN" altLang="en-US" b="1"/>
              <a:t>     所表达内容</a:t>
            </a:r>
            <a:r>
              <a:rPr lang="zh-CN" altLang="en-US" b="1">
                <a:solidFill>
                  <a:schemeClr val="accent1"/>
                </a:solidFill>
              </a:rPr>
              <a:t>正确</a:t>
            </a:r>
            <a:r>
              <a:rPr lang="zh-CN" altLang="en-US" b="1"/>
              <a:t>的命题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称命题的</a:t>
            </a:r>
            <a:r>
              <a:rPr lang="zh-CN" altLang="en-US" b="1">
                <a:solidFill>
                  <a:schemeClr val="folHlink"/>
                </a:solidFill>
              </a:rPr>
              <a:t>真值</a:t>
            </a:r>
            <a:r>
              <a:rPr lang="en-US" altLang="zh-CN">
                <a:solidFill>
                  <a:schemeClr val="hlink"/>
                </a:solidFill>
              </a:rPr>
              <a:t>(</a:t>
            </a:r>
            <a:r>
              <a:rPr lang="en-US" altLang="zh-CN"/>
              <a:t>truth value</a:t>
            </a:r>
            <a:r>
              <a:rPr lang="en-US" altLang="zh-CN">
                <a:solidFill>
                  <a:schemeClr val="hlink"/>
                </a:solidFill>
              </a:rPr>
              <a:t>)</a:t>
            </a:r>
            <a:r>
              <a:rPr lang="zh-CN" altLang="en-US" b="1"/>
              <a:t>为</a:t>
            </a:r>
            <a:r>
              <a:rPr lang="zh-CN" altLang="en-US" b="1">
                <a:solidFill>
                  <a:schemeClr val="accent1"/>
                </a:solidFill>
              </a:rPr>
              <a:t>真</a:t>
            </a:r>
            <a:r>
              <a:rPr lang="en-US" altLang="zh-CN">
                <a:solidFill>
                  <a:schemeClr val="accent1"/>
                </a:solidFill>
              </a:rPr>
              <a:t>(</a:t>
            </a:r>
            <a:r>
              <a:rPr lang="en-US" altLang="zh-CN"/>
              <a:t>truth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  <a:r>
              <a:rPr lang="zh-CN" altLang="en-US"/>
              <a:t>，</a:t>
            </a:r>
            <a:r>
              <a:rPr lang="zh-CN" altLang="en-US" b="1"/>
              <a:t>用</a:t>
            </a:r>
            <a:r>
              <a:rPr lang="en-US" altLang="zh-CN">
                <a:solidFill>
                  <a:srgbClr val="FF00FF"/>
                </a:solidFill>
              </a:rPr>
              <a:t>1</a:t>
            </a:r>
            <a:r>
              <a:rPr lang="zh-CN" altLang="en-US" b="1"/>
              <a:t>或</a:t>
            </a:r>
            <a:r>
              <a:rPr lang="en-US" altLang="zh-CN">
                <a:solidFill>
                  <a:srgbClr val="FF00FF"/>
                </a:solidFill>
              </a:rPr>
              <a:t>T</a:t>
            </a:r>
            <a:r>
              <a:rPr lang="zh-CN" altLang="en-US" b="1"/>
              <a:t>表示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b="1">
                <a:solidFill>
                  <a:srgbClr val="FF0066"/>
                </a:solidFill>
              </a:rPr>
              <a:t>假命题</a:t>
            </a:r>
            <a:r>
              <a:rPr lang="zh-CN" altLang="en-US" b="1"/>
              <a:t>      所表达内容</a:t>
            </a:r>
            <a:r>
              <a:rPr lang="zh-CN" altLang="en-US" b="1">
                <a:solidFill>
                  <a:srgbClr val="008080"/>
                </a:solidFill>
              </a:rPr>
              <a:t>错误</a:t>
            </a:r>
            <a:r>
              <a:rPr lang="zh-CN" altLang="en-US" b="1"/>
              <a:t>的命题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称命题的</a:t>
            </a:r>
            <a:r>
              <a:rPr lang="zh-CN" altLang="en-US" b="1">
                <a:solidFill>
                  <a:schemeClr val="folHlink"/>
                </a:solidFill>
              </a:rPr>
              <a:t>真值</a:t>
            </a:r>
            <a:r>
              <a:rPr lang="zh-CN" altLang="en-US" b="1"/>
              <a:t>为</a:t>
            </a:r>
            <a:r>
              <a:rPr lang="zh-CN" altLang="en-US" b="1">
                <a:solidFill>
                  <a:srgbClr val="008080"/>
                </a:solidFill>
              </a:rPr>
              <a:t>假</a:t>
            </a:r>
            <a:r>
              <a:rPr lang="en-US" altLang="zh-CN">
                <a:solidFill>
                  <a:srgbClr val="008080"/>
                </a:solidFill>
              </a:rPr>
              <a:t>(</a:t>
            </a:r>
            <a:r>
              <a:rPr lang="en-US" altLang="zh-CN"/>
              <a:t>false</a:t>
            </a:r>
            <a:r>
              <a:rPr lang="en-US" altLang="zh-CN">
                <a:solidFill>
                  <a:srgbClr val="008080"/>
                </a:solidFill>
              </a:rPr>
              <a:t>)</a:t>
            </a:r>
            <a:r>
              <a:rPr lang="zh-CN" altLang="en-US"/>
              <a:t>，</a:t>
            </a:r>
            <a:r>
              <a:rPr lang="zh-CN" altLang="en-US" b="1"/>
              <a:t>用</a:t>
            </a:r>
            <a:r>
              <a:rPr lang="en-US" altLang="zh-CN">
                <a:solidFill>
                  <a:srgbClr val="FF00FF"/>
                </a:solidFill>
              </a:rPr>
              <a:t>0</a:t>
            </a:r>
            <a:r>
              <a:rPr lang="zh-CN" altLang="en-US" b="1"/>
              <a:t>或</a:t>
            </a:r>
            <a:r>
              <a:rPr lang="en-US" altLang="zh-CN">
                <a:solidFill>
                  <a:srgbClr val="FF00FF"/>
                </a:solidFill>
              </a:rPr>
              <a:t>F</a:t>
            </a:r>
            <a:r>
              <a:rPr lang="zh-CN" altLang="en-US" b="1"/>
              <a:t>表示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9594C0A-9CD8-1654-DC4A-BC847CA49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FF"/>
                </a:solidFill>
              </a:rPr>
              <a:t> </a:t>
            </a:r>
            <a:r>
              <a:rPr lang="en-US" altLang="zh-CN"/>
              <a:t>1.1.1   </a:t>
            </a:r>
            <a:r>
              <a:rPr lang="zh-CN" altLang="en-US"/>
              <a:t>命题的概念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4841FC2-7412-2ADF-713E-C5F41477C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ts val="4900"/>
              </a:lnSpc>
            </a:pP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例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1.1.1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</a:rPr>
              <a:t>判断下列陈述句是否为命题。 </a:t>
            </a:r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en-US" altLang="zh-CN">
                <a:latin typeface="宋体" panose="02010600030101010101" pitchFamily="2" charset="-122"/>
              </a:rPr>
              <a:t>(1)</a:t>
            </a:r>
            <a:r>
              <a:rPr lang="zh-CN" altLang="en-US" b="1">
                <a:latin typeface="宋体" panose="02010600030101010101" pitchFamily="2" charset="-122"/>
              </a:rPr>
              <a:t>北京是中国的首都。</a:t>
            </a: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en-US" altLang="zh-CN"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鸵鸟不是飞机。</a:t>
            </a: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en-US" altLang="zh-CN">
                <a:latin typeface="宋体" panose="02010600030101010101" pitchFamily="2" charset="-122"/>
              </a:rPr>
              <a:t>(3)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上海是大城市。</a:t>
            </a: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  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b="1">
                <a:solidFill>
                  <a:srgbClr val="000000"/>
                </a:solidFill>
              </a:rPr>
              <a:t>姚明是</a:t>
            </a:r>
            <a:r>
              <a:rPr lang="zh-CN" altLang="en-US" b="1">
                <a:solidFill>
                  <a:srgbClr val="0066FF"/>
                </a:solidFill>
              </a:rPr>
              <a:t>高个子</a:t>
            </a:r>
            <a:r>
              <a:rPr lang="zh-CN" altLang="en-US" b="1">
                <a:solidFill>
                  <a:srgbClr val="000000"/>
                </a:solidFill>
              </a:rPr>
              <a:t>。</a:t>
            </a: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  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(5)</a:t>
            </a:r>
            <a:r>
              <a:rPr lang="zh-CN" altLang="en-US" b="1">
                <a:solidFill>
                  <a:srgbClr val="000000"/>
                </a:solidFill>
              </a:rPr>
              <a:t>上海离北京</a:t>
            </a:r>
            <a:r>
              <a:rPr lang="zh-CN" altLang="en-US" b="1">
                <a:solidFill>
                  <a:srgbClr val="00B050"/>
                </a:solidFill>
              </a:rPr>
              <a:t>近</a:t>
            </a:r>
            <a:r>
              <a:rPr lang="zh-CN" altLang="en-US" b="1">
                <a:solidFill>
                  <a:srgbClr val="000000"/>
                </a:solidFill>
              </a:rPr>
              <a:t>。</a:t>
            </a:r>
            <a:endParaRPr lang="en-US" altLang="zh-CN" b="1">
              <a:solidFill>
                <a:srgbClr val="000000"/>
              </a:solidFill>
            </a:endParaRP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(6)</a:t>
            </a:r>
            <a:r>
              <a:rPr lang="zh-CN" altLang="en-US" b="1"/>
              <a:t>我正在</a:t>
            </a:r>
            <a:r>
              <a:rPr lang="zh-CN" altLang="en-US" b="1">
                <a:solidFill>
                  <a:srgbClr val="0066FF"/>
                </a:solidFill>
              </a:rPr>
              <a:t>说谎</a:t>
            </a:r>
            <a:r>
              <a:rPr lang="zh-CN" altLang="en-US" b="1"/>
              <a:t>。</a:t>
            </a:r>
          </a:p>
          <a:p>
            <a:pPr eaLnBrk="1" hangingPunct="1"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zh-CN" altLang="en-US" sz="800"/>
              <a:t>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A5D7253-3899-0140-868C-8B0FFADE8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FF"/>
                </a:solidFill>
              </a:rPr>
              <a:t> </a:t>
            </a:r>
            <a:r>
              <a:rPr lang="en-US" altLang="zh-CN"/>
              <a:t>1.1.1   </a:t>
            </a:r>
            <a:r>
              <a:rPr lang="zh-CN" altLang="en-US"/>
              <a:t>命题的概念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0EF1A13-2EB4-FA35-30B9-30342A8C4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ts val="4900"/>
              </a:lnSpc>
            </a:pP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悖论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zh-CN" altLang="en-US" b="1"/>
              <a:t>我正在</a:t>
            </a:r>
            <a:r>
              <a:rPr lang="zh-CN" altLang="en-US" b="1">
                <a:solidFill>
                  <a:srgbClr val="0066FF"/>
                </a:solidFill>
              </a:rPr>
              <a:t>说谎</a:t>
            </a:r>
            <a:r>
              <a:rPr lang="zh-CN" altLang="en-US" b="1"/>
              <a:t>。</a:t>
            </a:r>
            <a:endParaRPr lang="en-US" altLang="zh-CN" b="1"/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</a:pPr>
            <a:r>
              <a:rPr lang="en-US" altLang="zh-CN" b="1"/>
              <a:t>	</a:t>
            </a:r>
            <a:r>
              <a:rPr lang="zh-CN" altLang="en-US" b="1">
                <a:solidFill>
                  <a:srgbClr val="333333"/>
                </a:solidFill>
                <a:latin typeface="Helvetica Neue"/>
              </a:rPr>
              <a:t>这句话是</a:t>
            </a:r>
            <a:r>
              <a:rPr lang="zh-CN" altLang="en-US" b="1">
                <a:solidFill>
                  <a:srgbClr val="0066FF"/>
                </a:solidFill>
                <a:latin typeface="Helvetica Neue"/>
              </a:rPr>
              <a:t>错的。</a:t>
            </a:r>
            <a:endParaRPr lang="en-US" altLang="zh-CN" b="1">
              <a:solidFill>
                <a:srgbClr val="0066FF"/>
              </a:solidFill>
              <a:latin typeface="Helvetica Neue"/>
            </a:endParaRPr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33"/>
                </a:solidFill>
                <a:latin typeface="Helvetica Neue"/>
              </a:rPr>
              <a:t>  </a:t>
            </a:r>
            <a:r>
              <a:rPr lang="zh-CN" altLang="en-US" sz="2400" b="1"/>
              <a:t>理发师挂出一块招牌：“我只给村里所有那些不给自己理发的人理发。”有人问他：“你给不给自己理发？”</a:t>
            </a:r>
            <a:endParaRPr lang="en-US" altLang="zh-CN" sz="2400" b="1"/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苏格拉底有一句名言：“我只知道一件事，那就是什么都不知道。”</a:t>
            </a:r>
          </a:p>
          <a:p>
            <a:pPr eaLnBrk="1" hangingPunct="1"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zh-CN" altLang="en-US" sz="800"/>
              <a:t>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244423C-8031-F8E2-F584-1AEC0B888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FF"/>
                </a:solidFill>
              </a:rPr>
              <a:t> </a:t>
            </a:r>
            <a:r>
              <a:rPr lang="en-US" altLang="zh-CN"/>
              <a:t>1.1.1   </a:t>
            </a:r>
            <a:r>
              <a:rPr lang="zh-CN" altLang="en-US"/>
              <a:t>命题的概念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5ED85D-701C-4C0C-787A-0AE7FEFDB2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ts val="4900"/>
              </a:lnSpc>
            </a:pP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例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1.1.2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</a:rPr>
              <a:t>判断下列陈述句是否为命题。 </a:t>
            </a: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>
                <a:solidFill>
                  <a:srgbClr val="0066FF"/>
                </a:solidFill>
                <a:latin typeface="宋体" panose="02010600030101010101" pitchFamily="2" charset="-122"/>
              </a:rPr>
              <a:t>今天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是星期三。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(2)</a:t>
            </a:r>
            <a:r>
              <a:rPr lang="zh-CN" altLang="en-US" b="1">
                <a:solidFill>
                  <a:srgbClr val="00B050"/>
                </a:solidFill>
                <a:latin typeface="宋体" panose="02010600030101010101" pitchFamily="2" charset="-122"/>
              </a:rPr>
              <a:t>他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是王菲的朋友。</a:t>
            </a: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李菲在</a:t>
            </a:r>
            <a:r>
              <a:rPr lang="zh-CN" altLang="en-US" b="1">
                <a:solidFill>
                  <a:srgbClr val="0066FF"/>
                </a:solidFill>
                <a:latin typeface="宋体" panose="02010600030101010101" pitchFamily="2" charset="-122"/>
              </a:rPr>
              <a:t>火车站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上班。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(4)</a:t>
            </a:r>
            <a:r>
              <a:rPr lang="en-US" altLang="zh-CN">
                <a:solidFill>
                  <a:srgbClr val="0066FF"/>
                </a:solidFill>
              </a:rPr>
              <a:t>x</a:t>
            </a:r>
            <a:r>
              <a:rPr lang="zh-CN" altLang="en-US">
                <a:solidFill>
                  <a:srgbClr val="000000"/>
                </a:solidFill>
              </a:rPr>
              <a:t>＋</a:t>
            </a:r>
            <a:r>
              <a:rPr lang="en-US" altLang="zh-CN">
                <a:solidFill>
                  <a:srgbClr val="000000"/>
                </a:solidFill>
              </a:rPr>
              <a:t>5</a:t>
            </a:r>
            <a:r>
              <a:rPr lang="zh-CN" altLang="en-US">
                <a:solidFill>
                  <a:srgbClr val="000000"/>
                </a:solidFill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2 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Remark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: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is neither true nor false, since it is true or false depending on the value of  x.</a:t>
            </a: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800"/>
              <a:t>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D4C8B32-F6AF-6EE1-D48D-0E731FD16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FF"/>
                </a:solidFill>
              </a:rPr>
              <a:t> </a:t>
            </a:r>
            <a:r>
              <a:rPr lang="en-US" altLang="zh-CN"/>
              <a:t>1.1.1   </a:t>
            </a:r>
            <a:r>
              <a:rPr lang="zh-CN" altLang="en-US"/>
              <a:t>命题的概念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35BF828-80AF-CA2C-C42E-D3F04B4D6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ts val="4900"/>
              </a:lnSpc>
            </a:pP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例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1.1.3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</a:rPr>
              <a:t>判断下列陈述句是否为命题。 </a:t>
            </a:r>
          </a:p>
          <a:p>
            <a:pPr eaLnBrk="1" hangingPunct="1"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(1)</a:t>
            </a:r>
            <a:r>
              <a:rPr lang="zh-CN" altLang="en-US" b="1">
                <a:solidFill>
                  <a:srgbClr val="000000"/>
                </a:solidFill>
              </a:rPr>
              <a:t>王菲选修英语或汉语。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rgbClr val="000000"/>
                </a:solidFill>
              </a:rPr>
              <a:t>若王菲有时间，那么她去黄山旅游。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(</a:t>
            </a:r>
            <a:r>
              <a:rPr lang="en-US" altLang="zh-CN" b="1">
                <a:latin typeface="宋体" panose="02010600030101010101" pitchFamily="2" charset="-122"/>
              </a:rPr>
              <a:t>3)2200</a:t>
            </a:r>
            <a:r>
              <a:rPr lang="zh-CN" altLang="en-US" b="1">
                <a:latin typeface="宋体" panose="02010600030101010101" pitchFamily="2" charset="-122"/>
              </a:rPr>
              <a:t>年元旦是晴天。</a:t>
            </a: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Remark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: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either true or false, but not both,</a:t>
            </a: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although we would have to wait until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Year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Day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2200 to find out if it is true or false.</a:t>
            </a:r>
          </a:p>
          <a:p>
            <a:pPr eaLnBrk="1" hangingPunct="1"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800"/>
              <a:t>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5">
            <a:extLst>
              <a:ext uri="{FF2B5EF4-FFF2-40B4-BE49-F238E27FC236}">
                <a16:creationId xmlns:a16="http://schemas.microsoft.com/office/drawing/2014/main" id="{F76E8952-4124-5320-35F2-F34A32DC5E8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下列选项哪个</a:t>
            </a:r>
            <a:r>
              <a:rPr lang="zh-CN" altLang="en-US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不是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命题（   ）</a:t>
            </a:r>
          </a:p>
        </p:txBody>
      </p:sp>
      <p:sp>
        <p:nvSpPr>
          <p:cNvPr id="14339" name="文本框 6">
            <a:extLst>
              <a:ext uri="{FF2B5EF4-FFF2-40B4-BE49-F238E27FC236}">
                <a16:creationId xmlns:a16="http://schemas.microsoft.com/office/drawing/2014/main" id="{2B1CF73A-CA24-C933-F9F1-D1CD2CCC3CB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2011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年国庆节是晴天</a:t>
            </a:r>
          </a:p>
        </p:txBody>
      </p:sp>
      <p:sp>
        <p:nvSpPr>
          <p:cNvPr id="14340" name="文本框 7">
            <a:extLst>
              <a:ext uri="{FF2B5EF4-FFF2-40B4-BE49-F238E27FC236}">
                <a16:creationId xmlns:a16="http://schemas.microsoft.com/office/drawing/2014/main" id="{CEF963AA-E944-C6B9-613A-5F915D75E8F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火星上有生物</a:t>
            </a:r>
          </a:p>
        </p:txBody>
      </p:sp>
      <p:sp>
        <p:nvSpPr>
          <p:cNvPr id="14341" name="文本框 8">
            <a:extLst>
              <a:ext uri="{FF2B5EF4-FFF2-40B4-BE49-F238E27FC236}">
                <a16:creationId xmlns:a16="http://schemas.microsoft.com/office/drawing/2014/main" id="{8A7B2E75-BAD2-73CC-8460-B7D45BBCCFB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月球距离地球近</a:t>
            </a:r>
          </a:p>
        </p:txBody>
      </p:sp>
      <p:sp>
        <p:nvSpPr>
          <p:cNvPr id="14342" name="文本框 9">
            <a:extLst>
              <a:ext uri="{FF2B5EF4-FFF2-40B4-BE49-F238E27FC236}">
                <a16:creationId xmlns:a16="http://schemas.microsoft.com/office/drawing/2014/main" id="{C17A78A0-5264-0043-8484-E06E4BE3CA4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上海是大城市</a:t>
            </a:r>
          </a:p>
        </p:txBody>
      </p:sp>
      <p:sp>
        <p:nvSpPr>
          <p:cNvPr id="14343" name="椭圆 10">
            <a:extLst>
              <a:ext uri="{FF2B5EF4-FFF2-40B4-BE49-F238E27FC236}">
                <a16:creationId xmlns:a16="http://schemas.microsoft.com/office/drawing/2014/main" id="{449EBC91-0753-08BE-5A57-E0E6CCCBD6B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344" name="椭圆 11">
            <a:extLst>
              <a:ext uri="{FF2B5EF4-FFF2-40B4-BE49-F238E27FC236}">
                <a16:creationId xmlns:a16="http://schemas.microsoft.com/office/drawing/2014/main" id="{587B9C64-EDA4-990C-CB1D-E8657B9697F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345" name="椭圆 12">
            <a:extLst>
              <a:ext uri="{FF2B5EF4-FFF2-40B4-BE49-F238E27FC236}">
                <a16:creationId xmlns:a16="http://schemas.microsoft.com/office/drawing/2014/main" id="{08A9D54B-E977-0940-4975-D0C2C3A11CE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346" name="椭圆 13">
            <a:extLst>
              <a:ext uri="{FF2B5EF4-FFF2-40B4-BE49-F238E27FC236}">
                <a16:creationId xmlns:a16="http://schemas.microsoft.com/office/drawing/2014/main" id="{ED090239-BA1C-EEB6-43AC-86AF9D87548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347" name="矩形: 圆角 14">
            <a:extLst>
              <a:ext uri="{FF2B5EF4-FFF2-40B4-BE49-F238E27FC236}">
                <a16:creationId xmlns:a16="http://schemas.microsoft.com/office/drawing/2014/main" id="{B645C0D8-2278-4BD7-496F-4D29A7AC4F85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14348" name="组合 19">
            <a:extLst>
              <a:ext uri="{FF2B5EF4-FFF2-40B4-BE49-F238E27FC236}">
                <a16:creationId xmlns:a16="http://schemas.microsoft.com/office/drawing/2014/main" id="{5AAD4C70-3104-6FD9-DAAE-6BBF376D36C8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350" name="TitleBackground">
              <a:extLst>
                <a:ext uri="{FF2B5EF4-FFF2-40B4-BE49-F238E27FC236}">
                  <a16:creationId xmlns:a16="http://schemas.microsoft.com/office/drawing/2014/main" id="{B8915BA7-683B-BF5F-F5B0-E714493B361A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4351" name="ColorBlock">
              <a:extLst>
                <a:ext uri="{FF2B5EF4-FFF2-40B4-BE49-F238E27FC236}">
                  <a16:creationId xmlns:a16="http://schemas.microsoft.com/office/drawing/2014/main" id="{32912563-99B7-93E1-CD16-25B33BA19AAE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4352" name="TypeText">
              <a:extLst>
                <a:ext uri="{FF2B5EF4-FFF2-40B4-BE49-F238E27FC236}">
                  <a16:creationId xmlns:a16="http://schemas.microsoft.com/office/drawing/2014/main" id="{62165413-8C57-9E4A-91F8-42ABA1E826FD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4353" name="TipText">
              <a:extLst>
                <a:ext uri="{FF2B5EF4-FFF2-40B4-BE49-F238E27FC236}">
                  <a16:creationId xmlns:a16="http://schemas.microsoft.com/office/drawing/2014/main" id="{BBB7C595-A6A5-F41A-B81F-F3E0AA9096C6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14349" name="图片 4">
            <a:extLst>
              <a:ext uri="{FF2B5EF4-FFF2-40B4-BE49-F238E27FC236}">
                <a16:creationId xmlns:a16="http://schemas.microsoft.com/office/drawing/2014/main" id="{7E01F492-FB1F-0641-160A-C4F1ABBA1BB8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5">
            <a:extLst>
              <a:ext uri="{FF2B5EF4-FFF2-40B4-BE49-F238E27FC236}">
                <a16:creationId xmlns:a16="http://schemas.microsoft.com/office/drawing/2014/main" id="{D730FC31-4C0C-CC58-553A-6F0BFD4C2E5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下列选项哪个</a:t>
            </a:r>
            <a:r>
              <a:rPr lang="zh-CN" altLang="en-US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命题（   ）</a:t>
            </a:r>
          </a:p>
        </p:txBody>
      </p:sp>
      <p:sp>
        <p:nvSpPr>
          <p:cNvPr id="15363" name="文本框 6">
            <a:extLst>
              <a:ext uri="{FF2B5EF4-FFF2-40B4-BE49-F238E27FC236}">
                <a16:creationId xmlns:a16="http://schemas.microsoft.com/office/drawing/2014/main" id="{3E8671A5-2D0D-9625-AF4E-4D1ABB2501E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x+y&gt;1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364" name="文本框 7">
            <a:extLst>
              <a:ext uri="{FF2B5EF4-FFF2-40B4-BE49-F238E27FC236}">
                <a16:creationId xmlns:a16="http://schemas.microsoft.com/office/drawing/2014/main" id="{2A0FAE27-69F1-BA5C-DB49-1E464D9CB9A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刘亦菲好美啊！</a:t>
            </a:r>
          </a:p>
        </p:txBody>
      </p:sp>
      <p:sp>
        <p:nvSpPr>
          <p:cNvPr id="15365" name="文本框 8">
            <a:extLst>
              <a:ext uri="{FF2B5EF4-FFF2-40B4-BE49-F238E27FC236}">
                <a16:creationId xmlns:a16="http://schemas.microsoft.com/office/drawing/2014/main" id="{FC13210C-7806-A591-DDE8-BF1D723A118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2010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年的国庆节是晴天</a:t>
            </a:r>
          </a:p>
        </p:txBody>
      </p:sp>
      <p:sp>
        <p:nvSpPr>
          <p:cNvPr id="15366" name="文本框 9">
            <a:extLst>
              <a:ext uri="{FF2B5EF4-FFF2-40B4-BE49-F238E27FC236}">
                <a16:creationId xmlns:a16="http://schemas.microsoft.com/office/drawing/2014/main" id="{82F8383D-D7F4-AEB9-1F63-769490D556A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他喜欢玩王者荣耀</a:t>
            </a:r>
          </a:p>
        </p:txBody>
      </p:sp>
      <p:sp>
        <p:nvSpPr>
          <p:cNvPr id="15367" name="椭圆 10">
            <a:extLst>
              <a:ext uri="{FF2B5EF4-FFF2-40B4-BE49-F238E27FC236}">
                <a16:creationId xmlns:a16="http://schemas.microsoft.com/office/drawing/2014/main" id="{EF8AB756-E87B-826F-0575-57E62AF250C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368" name="椭圆 11">
            <a:extLst>
              <a:ext uri="{FF2B5EF4-FFF2-40B4-BE49-F238E27FC236}">
                <a16:creationId xmlns:a16="http://schemas.microsoft.com/office/drawing/2014/main" id="{C3F0DCE8-4CB1-0FD5-3392-35379BE3016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369" name="椭圆 12">
            <a:extLst>
              <a:ext uri="{FF2B5EF4-FFF2-40B4-BE49-F238E27FC236}">
                <a16:creationId xmlns:a16="http://schemas.microsoft.com/office/drawing/2014/main" id="{52BF840A-16DD-983D-C46E-0890CD4B7A9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370" name="椭圆 13">
            <a:extLst>
              <a:ext uri="{FF2B5EF4-FFF2-40B4-BE49-F238E27FC236}">
                <a16:creationId xmlns:a16="http://schemas.microsoft.com/office/drawing/2014/main" id="{E359ED07-BA51-E9FA-8C1E-3CF8DFB7F2A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371" name="矩形: 圆角 14">
            <a:extLst>
              <a:ext uri="{FF2B5EF4-FFF2-40B4-BE49-F238E27FC236}">
                <a16:creationId xmlns:a16="http://schemas.microsoft.com/office/drawing/2014/main" id="{56CB342E-353C-5D44-0027-E62EF439C0A2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15372" name="组合 19">
            <a:extLst>
              <a:ext uri="{FF2B5EF4-FFF2-40B4-BE49-F238E27FC236}">
                <a16:creationId xmlns:a16="http://schemas.microsoft.com/office/drawing/2014/main" id="{E82461C0-2661-BF91-66B8-4988F8535918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374" name="TitleBackground">
              <a:extLst>
                <a:ext uri="{FF2B5EF4-FFF2-40B4-BE49-F238E27FC236}">
                  <a16:creationId xmlns:a16="http://schemas.microsoft.com/office/drawing/2014/main" id="{DEFC778C-E4AF-9527-C434-CC586BE13723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5375" name="ColorBlock">
              <a:extLst>
                <a:ext uri="{FF2B5EF4-FFF2-40B4-BE49-F238E27FC236}">
                  <a16:creationId xmlns:a16="http://schemas.microsoft.com/office/drawing/2014/main" id="{005B18FA-5D39-BA79-DDBC-A454B20C0CDD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5376" name="TypeText">
              <a:extLst>
                <a:ext uri="{FF2B5EF4-FFF2-40B4-BE49-F238E27FC236}">
                  <a16:creationId xmlns:a16="http://schemas.microsoft.com/office/drawing/2014/main" id="{0566EFCB-C44F-97A3-EC15-CDE64C1B12FA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5377" name="TipText">
              <a:extLst>
                <a:ext uri="{FF2B5EF4-FFF2-40B4-BE49-F238E27FC236}">
                  <a16:creationId xmlns:a16="http://schemas.microsoft.com/office/drawing/2014/main" id="{A026C75A-3070-E575-980E-0EA391AC3E53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15373" name="图片 4">
            <a:extLst>
              <a:ext uri="{FF2B5EF4-FFF2-40B4-BE49-F238E27FC236}">
                <a16:creationId xmlns:a16="http://schemas.microsoft.com/office/drawing/2014/main" id="{C3F948D2-FAD5-BB46-2D3C-AB5228A46CE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5F68C3F-E266-13C8-0F67-5587FB1CC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en-US" altLang="zh-CN" sz="4800"/>
              <a:t>1.1.2   </a:t>
            </a:r>
            <a:r>
              <a:rPr lang="zh-CN" altLang="en-US" sz="4800"/>
              <a:t>命题的分类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CBB9920-D676-ADDD-2652-AEF07E610B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82600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3600" b="1">
                <a:solidFill>
                  <a:schemeClr val="hlink"/>
                </a:solidFill>
              </a:rPr>
              <a:t>原子命题</a:t>
            </a:r>
            <a:r>
              <a:rPr lang="en-US" altLang="zh-CN" sz="3600">
                <a:solidFill>
                  <a:schemeClr val="hlink"/>
                </a:solidFill>
              </a:rPr>
              <a:t>(</a:t>
            </a:r>
            <a:r>
              <a:rPr lang="en-US" altLang="zh-CN" sz="3600"/>
              <a:t>atomic statement</a:t>
            </a:r>
            <a:r>
              <a:rPr lang="en-US" altLang="zh-CN" sz="3600">
                <a:solidFill>
                  <a:schemeClr val="hlink"/>
                </a:solidFill>
              </a:rPr>
              <a:t>)</a:t>
            </a:r>
            <a:endParaRPr lang="en-US" altLang="zh-CN" sz="360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3600" b="1"/>
              <a:t>    不能分解成更为简单的陈述句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3600" b="1">
                <a:solidFill>
                  <a:schemeClr val="hlink"/>
                </a:solidFill>
              </a:rPr>
              <a:t>复合命题</a:t>
            </a:r>
            <a:r>
              <a:rPr lang="en-US" altLang="zh-CN" sz="3600">
                <a:solidFill>
                  <a:schemeClr val="hlink"/>
                </a:solidFill>
              </a:rPr>
              <a:t>(</a:t>
            </a:r>
            <a:r>
              <a:rPr lang="en-US" altLang="zh-CN" sz="3600"/>
              <a:t>composite statement</a:t>
            </a:r>
            <a:r>
              <a:rPr lang="en-US" altLang="zh-CN" sz="3600">
                <a:solidFill>
                  <a:schemeClr val="hlink"/>
                </a:solidFill>
              </a:rPr>
              <a:t>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    </a:t>
            </a:r>
            <a:r>
              <a:rPr lang="zh-CN" altLang="en-US" sz="3600" b="1"/>
              <a:t>简单命题通过</a:t>
            </a:r>
            <a:r>
              <a:rPr lang="zh-CN" altLang="en-US" sz="3600" b="1">
                <a:solidFill>
                  <a:schemeClr val="accent1"/>
                </a:solidFill>
              </a:rPr>
              <a:t>联结词</a:t>
            </a:r>
            <a:r>
              <a:rPr lang="zh-CN" altLang="en-US" sz="3600" b="1"/>
              <a:t>联结而成的命题</a:t>
            </a:r>
            <a:endParaRPr lang="zh-CN" altLang="en-US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9DE2756-9068-3730-B9D1-1D6844D2CB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1.1.3 </a:t>
            </a:r>
            <a:r>
              <a:rPr lang="zh-CN" altLang="en-US" sz="4800"/>
              <a:t>命题标识符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5B52745-BF9F-A857-43F0-3B3714DD3F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</a:rPr>
              <a:t>命题标识符   </a:t>
            </a:r>
            <a:r>
              <a:rPr lang="zh-CN" altLang="en-US"/>
              <a:t>表示命题的符号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accent1"/>
                </a:solidFill>
              </a:rPr>
              <a:t>        命题常量</a:t>
            </a:r>
            <a:r>
              <a:rPr lang="en-US" altLang="zh-CN"/>
              <a:t>(</a:t>
            </a:r>
            <a:r>
              <a:rPr lang="en-US" altLang="zh-CN">
                <a:solidFill>
                  <a:schemeClr val="accent1"/>
                </a:solidFill>
              </a:rPr>
              <a:t>statement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       表示确定命题的命题标识符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accent1"/>
                </a:solidFill>
              </a:rPr>
              <a:t>   命题变量</a:t>
            </a:r>
            <a:r>
              <a:rPr lang="en-US" altLang="zh-CN"/>
              <a:t>(</a:t>
            </a:r>
            <a:r>
              <a:rPr lang="en-US" altLang="zh-CN">
                <a:solidFill>
                  <a:schemeClr val="accent1"/>
                </a:solidFill>
              </a:rPr>
              <a:t>statement variable</a:t>
            </a:r>
            <a:r>
              <a:rPr lang="en-US" altLang="zh-CN"/>
              <a:t>)</a:t>
            </a:r>
            <a:r>
              <a:rPr lang="en-US" altLang="zh-CN">
                <a:solidFill>
                  <a:srgbClr val="D60093"/>
                </a:solidFill>
              </a:rPr>
              <a:t>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 表示任意命题</a:t>
            </a:r>
            <a:r>
              <a:rPr lang="zh-CN" altLang="en-US" b="1">
                <a:solidFill>
                  <a:srgbClr val="CC0066"/>
                </a:solidFill>
              </a:rPr>
              <a:t>位置标志</a:t>
            </a:r>
            <a:r>
              <a:rPr lang="zh-CN" altLang="en-US" b="1"/>
              <a:t>的命题标识符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FF00FF"/>
                </a:solidFill>
              </a:rPr>
              <a:t>   原子命题变量     </a:t>
            </a:r>
            <a:r>
              <a:rPr lang="zh-CN" altLang="en-US" b="1"/>
              <a:t>任意</a:t>
            </a:r>
            <a:r>
              <a:rPr lang="zh-CN" altLang="en-US" b="1">
                <a:solidFill>
                  <a:srgbClr val="0000FF"/>
                </a:solidFill>
              </a:rPr>
              <a:t>原子命题</a:t>
            </a:r>
            <a:r>
              <a:rPr lang="zh-CN" altLang="en-US" b="1"/>
              <a:t>位置标志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例如</a:t>
            </a:r>
            <a:r>
              <a:rPr lang="zh-CN" altLang="en-US">
                <a:solidFill>
                  <a:srgbClr val="FF00FF"/>
                </a:solidFill>
              </a:rPr>
              <a:t>  </a:t>
            </a:r>
            <a:r>
              <a:rPr lang="en-US" altLang="zh-CN">
                <a:solidFill>
                  <a:srgbClr val="FF00FF"/>
                </a:solidFill>
              </a:rPr>
              <a:t>P</a:t>
            </a:r>
            <a:r>
              <a:rPr lang="zh-CN" altLang="en-US"/>
              <a:t>：</a:t>
            </a:r>
            <a:r>
              <a:rPr lang="zh-CN" altLang="en-US" b="1"/>
              <a:t>王菲是优秀共产党员。</a:t>
            </a:r>
          </a:p>
        </p:txBody>
      </p:sp>
      <p:sp>
        <p:nvSpPr>
          <p:cNvPr id="17412" name="Line 4">
            <a:extLst>
              <a:ext uri="{FF2B5EF4-FFF2-40B4-BE49-F238E27FC236}">
                <a16:creationId xmlns:a16="http://schemas.microsoft.com/office/drawing/2014/main" id="{F989AAF6-A3E9-37E4-30DD-5509473AF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2565400"/>
            <a:ext cx="360362" cy="431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35E66FBC-C462-14D5-F48A-D89448CA4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2563813"/>
            <a:ext cx="0" cy="15128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4" name="Line 6">
            <a:extLst>
              <a:ext uri="{FF2B5EF4-FFF2-40B4-BE49-F238E27FC236}">
                <a16:creationId xmlns:a16="http://schemas.microsoft.com/office/drawing/2014/main" id="{462D19B4-36BA-AD9C-1D39-B22DB42C75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581525"/>
            <a:ext cx="0" cy="8636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619D6DE-D7C1-5104-87A4-90239534B6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1.1.3 </a:t>
            </a:r>
            <a:r>
              <a:rPr lang="zh-CN" altLang="en-US" sz="4800"/>
              <a:t>命题标识符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237D6EC-8A42-3584-8CEF-1865F925AB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>
                <a:solidFill>
                  <a:schemeClr val="hlink"/>
                </a:solidFill>
              </a:rPr>
              <a:t>实数标识符   </a:t>
            </a:r>
            <a:r>
              <a:rPr lang="zh-CN" altLang="en-US"/>
              <a:t>表示实数的符号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实数</a:t>
            </a:r>
            <a:r>
              <a:rPr lang="zh-CN" altLang="en-US">
                <a:solidFill>
                  <a:schemeClr val="accent1"/>
                </a:solidFill>
              </a:rPr>
              <a:t>常量</a:t>
            </a:r>
            <a:r>
              <a:rPr lang="en-US" altLang="zh-CN">
                <a:solidFill>
                  <a:srgbClr val="D60093"/>
                </a:solidFill>
              </a:rPr>
              <a:t>  </a:t>
            </a:r>
            <a:r>
              <a:rPr lang="zh-CN" altLang="en-US" b="1"/>
              <a:t>表确定实数      </a:t>
            </a:r>
            <a:r>
              <a:rPr lang="en-US" altLang="zh-CN">
                <a:solidFill>
                  <a:srgbClr val="FF00FF"/>
                </a:solidFill>
              </a:rPr>
              <a:t>b</a:t>
            </a:r>
            <a:r>
              <a:rPr lang="zh-CN" altLang="en-US"/>
              <a:t>＝</a:t>
            </a:r>
            <a:r>
              <a:rPr lang="en-US" altLang="zh-CN"/>
              <a:t>2</a:t>
            </a:r>
            <a:r>
              <a:rPr lang="zh-CN" altLang="en-US" b="1"/>
              <a:t>  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实数</a:t>
            </a:r>
            <a:r>
              <a:rPr lang="zh-CN" altLang="en-US">
                <a:solidFill>
                  <a:schemeClr val="accent1"/>
                </a:solidFill>
              </a:rPr>
              <a:t>变量      </a:t>
            </a:r>
            <a:r>
              <a:rPr lang="zh-CN" altLang="en-US" b="1"/>
              <a:t>表不确定实数   </a:t>
            </a:r>
            <a:r>
              <a:rPr lang="en-US" altLang="zh-CN">
                <a:solidFill>
                  <a:srgbClr val="FF00FF"/>
                </a:solidFill>
              </a:rPr>
              <a:t>n</a:t>
            </a:r>
            <a:r>
              <a:rPr lang="zh-CN" altLang="en-US"/>
              <a:t>＝</a:t>
            </a:r>
            <a:r>
              <a:rPr lang="en-US" altLang="zh-CN"/>
              <a:t>1,2,…,100</a:t>
            </a:r>
            <a:endParaRPr lang="zh-CN" altLang="en-US">
              <a:solidFill>
                <a:schemeClr val="accent1"/>
              </a:solidFill>
            </a:endParaRP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   表示任意实数位置标志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/>
              <a:t>例如</a:t>
            </a:r>
            <a:r>
              <a:rPr lang="zh-CN" altLang="en-US">
                <a:solidFill>
                  <a:srgbClr val="FF00FF"/>
                </a:solidFill>
              </a:rPr>
              <a:t>  </a:t>
            </a:r>
            <a:r>
              <a:rPr lang="en-US" altLang="zh-CN">
                <a:solidFill>
                  <a:srgbClr val="FF00FF"/>
                </a:solidFill>
              </a:rPr>
              <a:t>a</a:t>
            </a:r>
            <a:r>
              <a:rPr lang="zh-CN" altLang="en-US"/>
              <a:t>＝</a:t>
            </a:r>
            <a:r>
              <a:rPr lang="en-US" altLang="zh-CN"/>
              <a:t>2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FF"/>
                </a:solidFill>
              </a:rPr>
              <a:t>           x</a:t>
            </a:r>
            <a:r>
              <a:rPr lang="zh-CN" altLang="en-US"/>
              <a:t>＝</a:t>
            </a:r>
            <a:r>
              <a:rPr lang="en-US" altLang="zh-CN"/>
              <a:t>1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FF"/>
                </a:solidFill>
              </a:rPr>
              <a:t>           x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zh-CN" altLang="en-US"/>
              <a:t>＋</a:t>
            </a:r>
            <a:r>
              <a:rPr lang="en-US" altLang="zh-CN"/>
              <a:t>b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</a:t>
            </a:r>
            <a:r>
              <a:rPr lang="en-US" altLang="zh-CN">
                <a:solidFill>
                  <a:srgbClr val="FF00FF"/>
                </a:solidFill>
              </a:rPr>
              <a:t>x</a:t>
            </a:r>
            <a:r>
              <a:rPr lang="zh-CN" altLang="en-US"/>
              <a:t>＝</a:t>
            </a:r>
            <a:r>
              <a:rPr lang="en-US" altLang="zh-CN"/>
              <a:t>3a</a:t>
            </a:r>
            <a:r>
              <a:rPr lang="zh-CN" altLang="en-US"/>
              <a:t>＋</a:t>
            </a:r>
            <a:r>
              <a:rPr lang="en-US" altLang="zh-CN"/>
              <a:t>b</a:t>
            </a:r>
          </a:p>
        </p:txBody>
      </p:sp>
      <p:sp>
        <p:nvSpPr>
          <p:cNvPr id="18436" name="Line 5">
            <a:extLst>
              <a:ext uri="{FF2B5EF4-FFF2-40B4-BE49-F238E27FC236}">
                <a16:creationId xmlns:a16="http://schemas.microsoft.com/office/drawing/2014/main" id="{3FCE55C5-063D-A3D5-BBF6-96063D68D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492375"/>
            <a:ext cx="360363" cy="431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E7F7491A-7F14-183E-32D5-9D2D05BA8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563813"/>
            <a:ext cx="0" cy="6492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2346</TotalTime>
  <Words>746</Words>
  <Application>Microsoft Office PowerPoint</Application>
  <PresentationFormat>全屏显示(4:3)</PresentationFormat>
  <Paragraphs>122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Helvetica Neue</vt:lpstr>
      <vt:lpstr>等线</vt:lpstr>
      <vt:lpstr>宋体</vt:lpstr>
      <vt:lpstr>微软雅黑</vt:lpstr>
      <vt:lpstr>Tahoma</vt:lpstr>
      <vt:lpstr>Times New Roman</vt:lpstr>
      <vt:lpstr>Wingdings</vt:lpstr>
      <vt:lpstr>Blends</vt:lpstr>
      <vt:lpstr>第一篇   数理逻辑</vt:lpstr>
      <vt:lpstr> 第1章   命题逻辑 </vt:lpstr>
      <vt:lpstr> 1.1   命题</vt:lpstr>
      <vt:lpstr> 1.1.1   命题的概念</vt:lpstr>
      <vt:lpstr> 1.1.1   命题的概念</vt:lpstr>
      <vt:lpstr>1.1.1   命题的概念</vt:lpstr>
      <vt:lpstr> 1.1.1   命题的概念</vt:lpstr>
      <vt:lpstr> 1.1.1   命题的概念</vt:lpstr>
      <vt:lpstr> 1.1.1   命题的概念</vt:lpstr>
      <vt:lpstr> 1.1.1   命题的概念</vt:lpstr>
      <vt:lpstr>PowerPoint 演示文稿</vt:lpstr>
      <vt:lpstr>PowerPoint 演示文稿</vt:lpstr>
      <vt:lpstr> 1.1.2   命题的分类</vt:lpstr>
      <vt:lpstr>1.1.3 命题标识符</vt:lpstr>
      <vt:lpstr>1.1.3 命题标识符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108</cp:revision>
  <dcterms:created xsi:type="dcterms:W3CDTF">2010-04-09T13:44:14Z</dcterms:created>
  <dcterms:modified xsi:type="dcterms:W3CDTF">2023-12-21T07:40:47Z</dcterms:modified>
</cp:coreProperties>
</file>