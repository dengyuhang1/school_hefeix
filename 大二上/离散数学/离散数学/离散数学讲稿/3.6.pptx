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sldIdLst>
    <p:sldId id="304" r:id="rId2"/>
    <p:sldId id="376" r:id="rId3"/>
    <p:sldId id="305" r:id="rId4"/>
    <p:sldId id="378" r:id="rId5"/>
    <p:sldId id="352" r:id="rId6"/>
    <p:sldId id="354" r:id="rId7"/>
    <p:sldId id="389" r:id="rId8"/>
    <p:sldId id="356" r:id="rId9"/>
    <p:sldId id="390" r:id="rId10"/>
    <p:sldId id="340" r:id="rId11"/>
    <p:sldId id="357" r:id="rId12"/>
    <p:sldId id="309" r:id="rId13"/>
    <p:sldId id="310" r:id="rId14"/>
    <p:sldId id="342" r:id="rId15"/>
    <p:sldId id="380" r:id="rId16"/>
    <p:sldId id="312" r:id="rId17"/>
    <p:sldId id="343" r:id="rId18"/>
    <p:sldId id="388" r:id="rId19"/>
    <p:sldId id="359" r:id="rId20"/>
    <p:sldId id="314" r:id="rId21"/>
    <p:sldId id="382" r:id="rId22"/>
    <p:sldId id="315" r:id="rId23"/>
    <p:sldId id="384" r:id="rId24"/>
    <p:sldId id="387" r:id="rId25"/>
    <p:sldId id="363" r:id="rId26"/>
    <p:sldId id="368" r:id="rId27"/>
    <p:sldId id="371" r:id="rId28"/>
    <p:sldId id="317" r:id="rId29"/>
    <p:sldId id="373" r:id="rId30"/>
    <p:sldId id="321" r:id="rId31"/>
    <p:sldId id="386" r:id="rId32"/>
    <p:sldId id="391" r:id="rId3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9933"/>
    <a:srgbClr val="CC0066"/>
    <a:srgbClr val="FF0066"/>
    <a:srgbClr val="0066FF"/>
    <a:srgbClr val="008080"/>
    <a:srgbClr val="00CC9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0738" autoAdjust="0"/>
  </p:normalViewPr>
  <p:slideViewPr>
    <p:cSldViewPr>
      <p:cViewPr varScale="1">
        <p:scale>
          <a:sx n="62" d="100"/>
          <a:sy n="62" d="100"/>
        </p:scale>
        <p:origin x="1404" y="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70A4334-8566-7B53-A927-377860EA10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78AC18-0EAF-A086-650B-D01DC995AF3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C8810D8-B4A7-4E97-9FB8-253ED09F80E3}" type="datetimeFigureOut">
              <a:rPr lang="zh-CN" altLang="en-US"/>
              <a:pPr>
                <a:defRPr/>
              </a:pPr>
              <a:t>2023/11/6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139BC42-3CAE-4FDB-630A-A52E64D152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A6A5888-BFAD-9F09-5E3E-6AF6AB09A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D9CA1F-6171-FA1B-9C9C-7234F0F6CBC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CE0412-4406-852B-14D5-BF7BFCF45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4688538-B216-4411-AFEA-35731A738C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>
            <a:extLst>
              <a:ext uri="{FF2B5EF4-FFF2-40B4-BE49-F238E27FC236}">
                <a16:creationId xmlns:a16="http://schemas.microsoft.com/office/drawing/2014/main" id="{89B34576-ADF7-C513-6DCC-C7C82D6BBC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>
            <a:extLst>
              <a:ext uri="{FF2B5EF4-FFF2-40B4-BE49-F238E27FC236}">
                <a16:creationId xmlns:a16="http://schemas.microsoft.com/office/drawing/2014/main" id="{4347BED5-C440-7ECC-F41E-E12169F52D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5364" name="灯片编号占位符 3">
            <a:extLst>
              <a:ext uri="{FF2B5EF4-FFF2-40B4-BE49-F238E27FC236}">
                <a16:creationId xmlns:a16="http://schemas.microsoft.com/office/drawing/2014/main" id="{2084ADD8-B5AA-0A8C-3DAD-7F4187CD3A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E6036E-72A1-4F06-AFA6-1046D34B720D}" type="slidenum">
              <a:rPr lang="zh-CN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13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1093580-85BB-B832-3B31-9B2BA34A745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DC766AD7-E0DB-2A55-82E5-F323498AA5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03BDB434-DD00-C017-6AB8-B693F2062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7663D721-3F0A-D646-26C6-FA6DA3AE0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59B8C62F-15FF-0A03-C7F1-52EB5C2C5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F57ED1A-F8E3-D176-1740-EC741072EC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FACE85E-C7E0-857A-B552-A7FD5A13F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D8B033AC-63E8-7154-0849-A14ECAFE5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296C4A37-7358-AFCD-261A-1B12E94EB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72D7FAE-13EC-1279-643D-898DDD3DA6E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52167CE-025A-20AC-079B-0597A419E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A7A7AA4-D8AC-77E4-056E-CC78CE4A2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0F792C0D-714B-7C61-086F-131CEB3BC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90EA9B83-E3AD-49FB-8F58-A8FE4D6AAC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564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671D2F5-2FA5-2083-EA1F-60D6884D7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2BF8D9-CFAA-8FAB-8E06-5249DB90EC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7061989-76D3-32D9-94FA-76C8425C00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32D86-FFD2-40D6-8E78-E78ACBE04D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813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360218-49B4-737B-F1AE-557E551780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5375C7E-FE3A-5C57-ECDA-51B3F310F7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C06E3BA-82E5-7C9F-D30D-8AED3B2C31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959032-6CFF-40CB-BBEE-034EBE4B5E0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009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ABA8E64-AD16-774E-FE01-B3D09F6483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CEAD94B-073A-7ADA-AD99-A454D803A6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B0676F2-CB3E-4A7A-69DA-8E30C4A6FC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5A22F-398A-445B-912F-C976822EF52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152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86684B3C-3B6F-28B3-3583-9841DCF16D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DB20FD0-4F4F-F715-EEB4-1CB005D2B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7BB78553-34F9-888B-7BB1-260873363B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94ED4E-AC67-48C5-A45B-D6521B0061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65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574D161-23EF-E45E-7D25-BFB99204B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40AE9F1-E18D-A001-2D3C-BA0EDA3AEE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883378-950F-DF57-401E-3E2A894E44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9410F-EF1B-4728-8853-86E8C5F9C4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46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08610D7-A8BA-E5AC-EE8E-007AF6C932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F9B1C9E-CD10-DD7C-5077-8974C0C6BD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C4461650-9F8C-30FB-A2EE-05077AB2D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A6464-31B2-4A39-96CE-B8BE7DFAE9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6602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4C5DDFE-E2D4-C43C-125C-809F5961C1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472F2BC-DE21-8018-A70B-6DE580E0DA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0FE56BC-38CE-539C-86A8-886AE993AB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28A9FB-B2B8-495D-9A60-8402BA9C1F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1079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A29394A-EB08-43E1-BE94-A8B4056ADD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5A68C93-2A17-B9C2-9FB5-4AFC5716F6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6641791-803C-538D-33FF-EF7CB3804B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FDEB1-3484-48C2-AB8C-4ACA261A31D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149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97FB4CC-A5EE-8E37-914F-4E33E99D7A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0FD9A52-93AA-D99C-9B4E-EBB6D7B43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E153235-0D6F-E145-B1B8-E65F619B7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B94AB-171A-494C-B9D1-49D9B9A3F1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4297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DF3D239-0639-3329-2C4D-002FA5B7DB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E712856-F58E-5319-CD06-0B2FA20800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B3FBBB8-35A8-D4E8-F38E-0958D6416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90D98-291C-4076-9CB1-86EE7BCE00A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4262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9D33FD94-D698-DFA1-4463-D4298F33D1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67924838-CF8D-44F6-AED5-27E2E99CA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1E4FBFB-9FDE-99EB-8E6F-40A7CE8C91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52B912-83B3-499F-A7B8-C53570B77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0496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31940225-BAEF-DF63-94D9-47955E70A6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8B7D965-B73C-052C-78C6-E39A94C2A1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9506E85-8E0B-6DC9-D14F-988D7D3FD0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52175-443A-4B39-8A06-BFF72EC7CDC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430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0EF947-F44D-6186-6A12-FDD1C6D8D2F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781EDF-ABBC-A2DD-A025-334BF4D6F2F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2FF5DF4-B2A0-3596-6B38-F2D9451E12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E5F287D-8933-BF0F-CAC4-0359E0837EA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D62DE74-F760-30E3-F231-693106CF71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9583BACD-5CD5-87D1-ACB0-E50056E010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BD98C7F1-06F8-ECDA-E9E6-68F6637CC13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B8C3B13-A470-D7DA-055B-D77413C588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56AE4AE-215F-69E2-8943-86B3451F62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2E7CCF6D-F716-304B-547F-BB59E350C5F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6B56B80E-8342-A346-D8E2-C406CE592A6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C6527EEB-08B3-5692-3262-E6B5C843E6C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B47B57E8-63B6-4692-B68F-5E88F7F96F7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1.tmp"/><Relationship Id="rId5" Type="http://schemas.openxmlformats.org/officeDocument/2006/relationships/tags" Target="../tags/tag3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0.bin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oleObject" Target="../embeddings/oleObject11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7.wmf"/><Relationship Id="rId1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3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oleObject" Target="../embeddings/oleObject18.bin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6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4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6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1.tmp"/><Relationship Id="rId5" Type="http://schemas.openxmlformats.org/officeDocument/2006/relationships/tags" Target="../tags/tag4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7.xml"/><Relationship Id="rId9" Type="http://schemas.openxmlformats.org/officeDocument/2006/relationships/tags" Target="../tags/tag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19DC697-84E3-D36D-00CB-3C53786D7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 </a:t>
            </a:r>
            <a:r>
              <a:rPr lang="zh-CN" altLang="en-US"/>
              <a:t>等价关系与划分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5A3B8C9-25A0-D5F7-BFA1-6E4B5FE00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2017713"/>
            <a:ext cx="8172450" cy="4651375"/>
          </a:xfrm>
        </p:spPr>
        <p:txBody>
          <a:bodyPr/>
          <a:lstStyle/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3.6.1 </a:t>
            </a:r>
            <a:r>
              <a:rPr lang="zh-CN" altLang="en-US" sz="3600" b="1"/>
              <a:t>等价关系的概念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3.6.2 </a:t>
            </a:r>
            <a:r>
              <a:rPr lang="zh-CN" altLang="en-US" sz="3600" b="1"/>
              <a:t>等价类与商集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3.6.3 </a:t>
            </a:r>
            <a:r>
              <a:rPr lang="zh-CN" altLang="en-US" sz="3600" b="1"/>
              <a:t>划分的概念</a:t>
            </a:r>
            <a:r>
              <a:rPr lang="zh-CN" altLang="en-US" sz="3600"/>
              <a:t> 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3600"/>
              <a:t>3.6.4 </a:t>
            </a:r>
            <a:r>
              <a:rPr lang="zh-CN" altLang="en-US" sz="3600" b="1"/>
              <a:t>划分一一对应等价关系</a:t>
            </a:r>
            <a:r>
              <a:rPr lang="zh-CN" altLang="en-US" sz="36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CA481BBC-3F63-B663-8055-387240FE3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</a:t>
            </a:r>
            <a:r>
              <a:rPr lang="en-US" altLang="zh-CN" sz="4800">
                <a:solidFill>
                  <a:srgbClr val="333399"/>
                </a:solidFill>
              </a:rPr>
              <a:t>3.6.1 </a:t>
            </a:r>
            <a:r>
              <a:rPr lang="zh-CN" altLang="en-US" sz="4800">
                <a:solidFill>
                  <a:srgbClr val="333399"/>
                </a:solidFill>
              </a:rPr>
              <a:t>等价关系的概念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F30DAF-3469-AEF2-B2A0-AC0BF812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844675"/>
            <a:ext cx="8559800" cy="5013325"/>
          </a:xfrm>
        </p:spPr>
        <p:txBody>
          <a:bodyPr/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</a:t>
            </a:r>
            <a:r>
              <a:rPr lang="zh-CN" altLang="en-US" dirty="0">
                <a:solidFill>
                  <a:srgbClr val="000000"/>
                </a:solidFill>
              </a:rPr>
              <a:t>：设六同学集合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{1,2,3,4,5,6}</a:t>
            </a:r>
            <a:r>
              <a:rPr lang="zh-CN" altLang="en-US" dirty="0">
                <a:solidFill>
                  <a:srgbClr val="000000"/>
                </a:solidFill>
              </a:rPr>
              <a:t>，这六位同学</a:t>
            </a:r>
            <a:r>
              <a:rPr lang="zh-CN" altLang="en-US" dirty="0">
                <a:solidFill>
                  <a:srgbClr val="00B050"/>
                </a:solidFill>
              </a:rPr>
              <a:t>住宿在</a:t>
            </a:r>
            <a:r>
              <a:rPr lang="zh-CN" altLang="en-US" dirty="0">
                <a:solidFill>
                  <a:srgbClr val="000000"/>
                </a:solidFill>
              </a:rPr>
              <a:t>同一公寓的</a:t>
            </a:r>
            <a:r>
              <a:rPr lang="zh-CN" altLang="en-US" dirty="0">
                <a:solidFill>
                  <a:srgbClr val="00B050"/>
                </a:solidFill>
              </a:rPr>
              <a:t>关系</a:t>
            </a:r>
            <a:r>
              <a:rPr lang="zh-CN" altLang="en-US" dirty="0">
                <a:solidFill>
                  <a:srgbClr val="000000"/>
                </a:solidFill>
              </a:rPr>
              <a:t>显示如下：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R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1,2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3,3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&lt;</a:t>
            </a:r>
            <a:r>
              <a:rPr lang="en-US" altLang="zh-CN" dirty="0"/>
              <a:t>4,4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4,6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&lt;</a:t>
            </a:r>
            <a:r>
              <a:rPr lang="en-US" altLang="zh-CN" dirty="0"/>
              <a:t>5,5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5,6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6,4</a:t>
            </a:r>
            <a:r>
              <a:rPr lang="en-US" altLang="zh-CN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6,5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宋体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6,6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FF0000"/>
                </a:solidFill>
              </a:rPr>
              <a:t>}</a:t>
            </a:r>
            <a:r>
              <a:rPr lang="en-US" altLang="zh-CN" dirty="0"/>
              <a:t> </a:t>
            </a:r>
          </a:p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000000"/>
                </a:solidFill>
              </a:rPr>
              <a:t>这六位同学按</a:t>
            </a:r>
            <a:r>
              <a:rPr lang="zh-CN" altLang="en-US" dirty="0">
                <a:solidFill>
                  <a:srgbClr val="0000FF"/>
                </a:solidFill>
              </a:rPr>
              <a:t>所住公寓</a:t>
            </a:r>
            <a:r>
              <a:rPr lang="zh-CN" altLang="en-US" dirty="0">
                <a:solidFill>
                  <a:srgbClr val="000000"/>
                </a:solidFill>
              </a:rPr>
              <a:t>不同</a:t>
            </a:r>
            <a:r>
              <a:rPr lang="zh-CN" altLang="en-US" dirty="0">
                <a:solidFill>
                  <a:srgbClr val="FF0000"/>
                </a:solidFill>
              </a:rPr>
              <a:t>分类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{1,2}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 {3}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 {4,5,6}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3CABA4D-F4F4-7B33-B51D-EF5609614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3.6.1 </a:t>
            </a:r>
            <a:r>
              <a:rPr lang="zh-CN" altLang="en-US" sz="4800"/>
              <a:t>等价关系的概念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10A0792-3BD9-BC98-1E47-055CDDE96B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16113"/>
            <a:ext cx="8343900" cy="4941887"/>
          </a:xfrm>
        </p:spPr>
        <p:txBody>
          <a:bodyPr/>
          <a:lstStyle/>
          <a:p>
            <a:pPr eaLnBrk="1" hangingPunct="1">
              <a:lnSpc>
                <a:spcPct val="250000"/>
              </a:lnSpc>
            </a:pPr>
            <a:r>
              <a:rPr lang="zh-CN" altLang="en-US">
                <a:solidFill>
                  <a:schemeClr val="hlink"/>
                </a:solidFill>
              </a:rPr>
              <a:t>定义</a:t>
            </a:r>
            <a:r>
              <a:rPr lang="en-US" altLang="zh-CN">
                <a:solidFill>
                  <a:schemeClr val="hlink"/>
                </a:solidFill>
              </a:rPr>
              <a:t>3.6.1</a:t>
            </a:r>
            <a:r>
              <a:rPr lang="zh-CN" altLang="en-US"/>
              <a:t>设</a:t>
            </a:r>
            <a:r>
              <a:rPr lang="en-US" altLang="zh-CN"/>
              <a:t>A</a:t>
            </a:r>
            <a:r>
              <a:rPr lang="zh-CN" altLang="en-US"/>
              <a:t>为任意集合，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>
                <a:solidFill>
                  <a:srgbClr val="FF00FF"/>
                </a:solidFill>
              </a:rPr>
              <a:t>A</a:t>
            </a:r>
            <a:r>
              <a:rPr lang="zh-CN" altLang="en-US">
                <a:solidFill>
                  <a:srgbClr val="FF00FF"/>
                </a:solidFill>
              </a:rPr>
              <a:t>上的</a:t>
            </a:r>
            <a:r>
              <a:rPr lang="zh-CN" altLang="en-US"/>
              <a:t>关系，若</a:t>
            </a:r>
            <a:r>
              <a:rPr lang="en-US" altLang="zh-CN"/>
              <a:t>R</a:t>
            </a:r>
            <a:r>
              <a:rPr lang="zh-CN" altLang="en-US"/>
              <a:t>是</a:t>
            </a:r>
            <a:r>
              <a:rPr lang="zh-CN" altLang="en-US">
                <a:solidFill>
                  <a:schemeClr val="accent1"/>
                </a:solidFill>
              </a:rPr>
              <a:t>自反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FF"/>
                </a:solidFill>
              </a:rPr>
              <a:t>对称</a:t>
            </a:r>
            <a:r>
              <a:rPr lang="zh-CN" altLang="en-US"/>
              <a:t>和</a:t>
            </a:r>
            <a:r>
              <a:rPr lang="zh-CN" altLang="en-US">
                <a:solidFill>
                  <a:schemeClr val="accent1"/>
                </a:solidFill>
              </a:rPr>
              <a:t>传递</a:t>
            </a:r>
            <a:r>
              <a:rPr lang="zh-CN" altLang="en-US"/>
              <a:t>关系，则称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上的</a:t>
            </a:r>
            <a:r>
              <a:rPr lang="zh-CN" altLang="en-US" b="1">
                <a:solidFill>
                  <a:schemeClr val="hlink"/>
                </a:solidFill>
              </a:rPr>
              <a:t>等价关系</a:t>
            </a:r>
            <a:r>
              <a:rPr lang="en-US" altLang="zh-CN"/>
              <a:t>(</a:t>
            </a:r>
            <a:r>
              <a:rPr lang="en-US" altLang="zh-CN">
                <a:solidFill>
                  <a:schemeClr val="hlink"/>
                </a:solidFill>
              </a:rPr>
              <a:t>equivalence relation</a:t>
            </a:r>
            <a:r>
              <a:rPr lang="en-US" altLang="zh-CN"/>
              <a:t>)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>
            <a:extLst>
              <a:ext uri="{FF2B5EF4-FFF2-40B4-BE49-F238E27FC236}">
                <a16:creationId xmlns:a16="http://schemas.microsoft.com/office/drawing/2014/main" id="{BA4E8B14-A021-5DCE-E53C-62A7CCA7D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solidFill>
                  <a:srgbClr val="333399"/>
                </a:solidFill>
              </a:rPr>
              <a:t>3.6.1 </a:t>
            </a:r>
            <a:r>
              <a:rPr lang="zh-CN" altLang="en-US" sz="4800">
                <a:solidFill>
                  <a:srgbClr val="333399"/>
                </a:solidFill>
              </a:rPr>
              <a:t>等价关系的概念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AAF947-AB9A-AA04-0EE0-A29C0306D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844675"/>
            <a:ext cx="8640763" cy="50133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3.6.1</a:t>
            </a:r>
            <a:r>
              <a:rPr lang="en-US" altLang="zh-CN" dirty="0">
                <a:solidFill>
                  <a:srgbClr val="000000"/>
                </a:solidFill>
              </a:rPr>
              <a:t> Let 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{1,2,3,4}</a:t>
            </a:r>
            <a:r>
              <a:rPr lang="zh-CN" altLang="en-US" dirty="0">
                <a:solidFill>
                  <a:srgbClr val="000000"/>
                </a:solidFill>
              </a:rPr>
              <a:t>，则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R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4,3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Q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1,4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</a:p>
          <a:p>
            <a:pPr marL="0" indent="0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    &lt;</a:t>
            </a:r>
            <a:r>
              <a:rPr lang="en-US" altLang="zh-CN" dirty="0">
                <a:solidFill>
                  <a:srgbClr val="000000"/>
                </a:solidFill>
              </a:rPr>
              <a:t>3,2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3,3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 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S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1,3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2,3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</a:p>
          <a:p>
            <a:pPr marL="0" indent="0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    &lt;</a:t>
            </a:r>
            <a:r>
              <a:rPr lang="en-US" altLang="zh-CN" dirty="0">
                <a:solidFill>
                  <a:srgbClr val="000000"/>
                </a:solidFill>
              </a:rPr>
              <a:t>3,1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3,2</a:t>
            </a:r>
            <a:r>
              <a:rPr lang="en-US" altLang="zh-CN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3,3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latin typeface="宋体"/>
              </a:rPr>
              <a:t>,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&lt;</a:t>
            </a:r>
            <a:r>
              <a:rPr lang="en-US" altLang="zh-CN" dirty="0">
                <a:solidFill>
                  <a:srgbClr val="000000"/>
                </a:solidFill>
              </a:rPr>
              <a:t>4,4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</a:rPr>
              <a:t>} </a:t>
            </a:r>
          </a:p>
          <a:p>
            <a:pPr marL="0" indent="0">
              <a:lnSpc>
                <a:spcPct val="125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3">
            <a:extLst>
              <a:ext uri="{FF2B5EF4-FFF2-40B4-BE49-F238E27FC236}">
                <a16:creationId xmlns:a16="http://schemas.microsoft.com/office/drawing/2014/main" id="{15444513-4355-4689-BD27-63F7DB252F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solidFill>
                  <a:srgbClr val="333399"/>
                </a:solidFill>
              </a:rPr>
              <a:t>3.6.1 </a:t>
            </a:r>
            <a:r>
              <a:rPr lang="zh-CN" altLang="en-US" sz="4800">
                <a:solidFill>
                  <a:srgbClr val="333399"/>
                </a:solidFill>
              </a:rPr>
              <a:t>等价关系的概念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F41D1-7C91-069F-4AB6-6A8FE532F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2447925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3.6.2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同学关系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(3)</a:t>
            </a:r>
            <a:r>
              <a:rPr lang="zh-CN" altLang="en-US" dirty="0">
                <a:solidFill>
                  <a:srgbClr val="FF00FF"/>
                </a:solidFill>
              </a:rPr>
              <a:t>朋友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</a:t>
            </a:r>
            <a:r>
              <a:rPr lang="zh-CN" altLang="en-US" dirty="0"/>
              <a:t>同乡关系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(5)</a:t>
            </a:r>
            <a:r>
              <a:rPr lang="zh-CN" altLang="en-US" dirty="0">
                <a:solidFill>
                  <a:schemeClr val="accent1"/>
                </a:solidFill>
              </a:rPr>
              <a:t>师生</a:t>
            </a:r>
            <a:r>
              <a:rPr lang="zh-CN" altLang="en-US" dirty="0"/>
              <a:t>关系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E76CF31-53DD-D022-FA6D-6E7268F8F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3575" y="1844675"/>
            <a:ext cx="5651500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A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50"/>
                </a:solidFill>
              </a:rPr>
              <a:t>人类</a:t>
            </a:r>
            <a:r>
              <a:rPr lang="zh-CN" altLang="en-US" dirty="0"/>
              <a:t>集合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父子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66"/>
                </a:solidFill>
              </a:rPr>
              <a:t>同学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chemeClr val="accent1"/>
                </a:solidFill>
              </a:rPr>
              <a:t>朋友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00"/>
                </a:solidFill>
              </a:rPr>
              <a:t>同乡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x,y∈A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339933"/>
                </a:solidFill>
              </a:rPr>
              <a:t>师生</a:t>
            </a:r>
            <a:r>
              <a:rPr lang="en-US" altLang="zh-CN" dirty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3">
            <a:extLst>
              <a:ext uri="{FF2B5EF4-FFF2-40B4-BE49-F238E27FC236}">
                <a16:creationId xmlns:a16="http://schemas.microsoft.com/office/drawing/2014/main" id="{9F8673B3-27E1-8DEE-2729-892AB9EF09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solidFill>
                  <a:srgbClr val="333399"/>
                </a:solidFill>
              </a:rPr>
              <a:t>3.6.1 </a:t>
            </a:r>
            <a:r>
              <a:rPr lang="zh-CN" altLang="en-US" sz="4800">
                <a:solidFill>
                  <a:srgbClr val="333399"/>
                </a:solidFill>
              </a:rPr>
              <a:t>等价关系的概念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84A4E-E698-A80B-A87A-A68703D7D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5288" y="1844675"/>
            <a:ext cx="3024187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例</a:t>
            </a:r>
            <a:r>
              <a:rPr lang="en-US" altLang="zh-CN" dirty="0">
                <a:solidFill>
                  <a:srgbClr val="FF0000"/>
                </a:solidFill>
              </a:rPr>
              <a:t>3.6.3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(1)</a:t>
            </a:r>
            <a:r>
              <a:rPr lang="zh-CN" altLang="en-US" dirty="0">
                <a:solidFill>
                  <a:schemeClr val="accent1"/>
                </a:solidFill>
              </a:rPr>
              <a:t>等于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大于关系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</a:t>
            </a:r>
            <a:r>
              <a:rPr lang="en-US" altLang="zh-CN" dirty="0"/>
              <a:t>(3)</a:t>
            </a:r>
            <a:r>
              <a:rPr lang="zh-CN" altLang="en-US" dirty="0">
                <a:solidFill>
                  <a:srgbClr val="FF00FF"/>
                </a:solidFill>
              </a:rPr>
              <a:t>小于</a:t>
            </a:r>
            <a:r>
              <a:rPr lang="zh-CN" altLang="en-US" dirty="0"/>
              <a:t>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(4)</a:t>
            </a:r>
            <a:r>
              <a:rPr lang="zh-CN" altLang="en-US" dirty="0"/>
              <a:t>不大于关系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chemeClr val="accent1"/>
                </a:solidFill>
              </a:rPr>
              <a:t>   </a:t>
            </a:r>
            <a:r>
              <a:rPr lang="en-US" altLang="zh-CN" dirty="0"/>
              <a:t>(5)</a:t>
            </a:r>
            <a:r>
              <a:rPr lang="zh-CN" altLang="en-US" dirty="0">
                <a:solidFill>
                  <a:schemeClr val="accent1"/>
                </a:solidFill>
              </a:rPr>
              <a:t>不小于</a:t>
            </a:r>
            <a:r>
              <a:rPr lang="zh-CN" altLang="en-US" dirty="0"/>
              <a:t>关系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DA02811-20E6-7075-F9A8-551A15C59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67175" y="1844675"/>
            <a:ext cx="4751388" cy="5013325"/>
          </a:xfrm>
        </p:spPr>
        <p:txBody>
          <a:bodyPr/>
          <a:lstStyle/>
          <a:p>
            <a:pPr>
              <a:lnSpc>
                <a:spcPct val="17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解</a:t>
            </a:r>
            <a:r>
              <a:rPr lang="zh-CN" altLang="en-US" dirty="0"/>
              <a:t> 设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00B050"/>
                </a:solidFill>
              </a:rPr>
              <a:t>实数</a:t>
            </a:r>
            <a:r>
              <a:rPr lang="zh-CN" altLang="en-US" dirty="0"/>
              <a:t>集</a:t>
            </a:r>
            <a:endParaRPr lang="en-US" altLang="zh-CN" dirty="0"/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A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＝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>
                <a:solidFill>
                  <a:schemeClr val="accent1"/>
                </a:solidFill>
              </a:rPr>
              <a:t>&gt;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>
                <a:solidFill>
                  <a:srgbClr val="FF0066"/>
                </a:solidFill>
              </a:rPr>
              <a:t>&lt;</a:t>
            </a:r>
            <a:r>
              <a:rPr lang="en-US" altLang="zh-CN" dirty="0"/>
              <a:t>y}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Q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en-US" altLang="zh-CN" dirty="0" err="1">
                <a:solidFill>
                  <a:schemeClr val="accent1"/>
                </a:solidFill>
              </a:rPr>
              <a:t>≤</a:t>
            </a:r>
            <a:r>
              <a:rPr lang="en-US" altLang="zh-CN" dirty="0" err="1"/>
              <a:t>y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T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x,y∈R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>
                <a:solidFill>
                  <a:srgbClr val="FF00FF"/>
                </a:solidFill>
              </a:rPr>
              <a:t>≥</a:t>
            </a:r>
            <a:r>
              <a:rPr lang="en-US" altLang="zh-CN" dirty="0"/>
              <a:t>y}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9CC4D19-6F4E-433E-400A-6C262E74EE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是非空集合，则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上的（    ）关系是等价关系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FA6F21-CB15-543A-895B-9B6BBEDD01E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空关系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55548F-9B1B-F37E-BBAC-96199363E05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全域关系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6F9B49-30B1-ACC4-E3DF-0685BD7D17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恒等关系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A75DE6-8408-959F-1F25-3863D8AE7C3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都不是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4E3BCD-0D22-4C23-DDA0-333FAEC269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C188A0-62F7-4CEF-7705-34D42944738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5B453F-BD34-8915-2065-DFD0D7AAC28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532CF5-8CE1-80C8-D646-4B9D619EAFD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D7BC028-0DBB-EAEF-22B8-92D07FE1E77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23FAD66-85A5-1BB3-7FD4-8E93671F385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04D1A341-37F9-3408-57A3-17DD1E06860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E6A036DF-A2FA-E56E-6096-48D299F219F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B036CE97-AEE6-A363-FBA2-4DEFEFF6581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3" name="TipText">
              <a:extLst>
                <a:ext uri="{FF2B5EF4-FFF2-40B4-BE49-F238E27FC236}">
                  <a16:creationId xmlns:a16="http://schemas.microsoft.com/office/drawing/2014/main" id="{73346FB8-D86C-B743-9701-CBD8F50B3048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E157393-8674-4EFD-137F-9249E0C5D4F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7972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3">
            <a:extLst>
              <a:ext uri="{FF2B5EF4-FFF2-40B4-BE49-F238E27FC236}">
                <a16:creationId xmlns:a16="http://schemas.microsoft.com/office/drawing/2014/main" id="{E49D741B-19C2-09FD-2FA3-D9A30F5279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800">
                <a:solidFill>
                  <a:srgbClr val="333399"/>
                </a:solidFill>
              </a:rPr>
              <a:t>3.6.1 </a:t>
            </a:r>
            <a:r>
              <a:rPr lang="zh-CN" altLang="en-US" sz="4800">
                <a:solidFill>
                  <a:srgbClr val="333399"/>
                </a:solidFill>
              </a:rPr>
              <a:t>等价关系的概念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5475A-93D9-01F7-D7A1-F8473F1570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44675"/>
            <a:ext cx="3024187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例</a:t>
            </a:r>
            <a:r>
              <a:rPr lang="en-US" altLang="zh-CN" sz="3200" dirty="0">
                <a:solidFill>
                  <a:srgbClr val="FF0000"/>
                </a:solidFill>
              </a:rPr>
              <a:t>3.6.4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accent1"/>
                </a:solidFill>
              </a:rPr>
              <a:t>   </a:t>
            </a:r>
            <a:r>
              <a:rPr lang="en-US" altLang="zh-CN" sz="3200" dirty="0"/>
              <a:t>(1)</a:t>
            </a:r>
            <a:r>
              <a:rPr lang="zh-CN" altLang="en-US" sz="3200" dirty="0">
                <a:solidFill>
                  <a:schemeClr val="accent1"/>
                </a:solidFill>
              </a:rPr>
              <a:t>全等</a:t>
            </a:r>
            <a:r>
              <a:rPr lang="zh-CN" altLang="en-US" sz="3200" dirty="0"/>
              <a:t>关系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(2)</a:t>
            </a:r>
            <a:r>
              <a:rPr lang="zh-CN" altLang="en-US" sz="3200" dirty="0"/>
              <a:t>相似关系</a:t>
            </a:r>
            <a:endParaRPr lang="en-US" altLang="zh-CN" sz="3200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1F76D10-526D-2118-E476-A731D3EE7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63938" y="1844675"/>
            <a:ext cx="5327650" cy="5013325"/>
          </a:xfrm>
        </p:spPr>
        <p:txBody>
          <a:bodyPr/>
          <a:lstStyle/>
          <a:p>
            <a:pPr>
              <a:lnSpc>
                <a:spcPct val="270000"/>
              </a:lnSpc>
              <a:defRPr/>
            </a:pPr>
            <a:r>
              <a:rPr lang="zh-CN" altLang="en-US" sz="3200" dirty="0">
                <a:solidFill>
                  <a:srgbClr val="FF0000"/>
                </a:solidFill>
              </a:rPr>
              <a:t>解</a:t>
            </a:r>
            <a:r>
              <a:rPr lang="zh-CN" altLang="en-US" sz="3200" dirty="0"/>
              <a:t> 设</a:t>
            </a:r>
            <a:r>
              <a:rPr lang="en-US" altLang="zh-CN" sz="3200" dirty="0"/>
              <a:t>A</a:t>
            </a:r>
            <a:r>
              <a:rPr lang="zh-CN" altLang="en-US" sz="3200" dirty="0"/>
              <a:t>为平面三角形集合</a:t>
            </a:r>
            <a:endParaRPr lang="en-US" altLang="zh-CN" sz="3200" dirty="0"/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R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≌</a:t>
            </a:r>
            <a:r>
              <a:rPr lang="en-US" altLang="zh-CN" sz="3200" dirty="0"/>
              <a:t>y}</a:t>
            </a:r>
          </a:p>
          <a:p>
            <a:pPr marL="0" indent="0">
              <a:lnSpc>
                <a:spcPct val="27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S</a:t>
            </a:r>
            <a:r>
              <a:rPr lang="zh-CN" altLang="en-US" sz="3200" dirty="0"/>
              <a:t>＝</a:t>
            </a:r>
            <a:r>
              <a:rPr lang="en-US" altLang="zh-CN" sz="3200" dirty="0"/>
              <a:t>{</a:t>
            </a:r>
            <a:r>
              <a:rPr lang="en-US" altLang="zh-CN" sz="3200" b="1" dirty="0">
                <a:latin typeface="宋体" pitchFamily="2" charset="-122"/>
              </a:rPr>
              <a:t>&lt;</a:t>
            </a:r>
            <a:r>
              <a:rPr lang="en-US" altLang="zh-CN" sz="3200" dirty="0" err="1"/>
              <a:t>x,y</a:t>
            </a:r>
            <a:r>
              <a:rPr lang="en-US" altLang="zh-CN" sz="3200" b="1" dirty="0">
                <a:latin typeface="宋体" pitchFamily="2" charset="-122"/>
              </a:rPr>
              <a:t>&gt;</a:t>
            </a:r>
            <a:r>
              <a:rPr lang="en-US" altLang="zh-CN" sz="3200" dirty="0"/>
              <a:t>︱</a:t>
            </a:r>
            <a:r>
              <a:rPr lang="en-US" altLang="zh-CN" sz="3200" dirty="0" err="1"/>
              <a:t>x,y∈A</a:t>
            </a:r>
            <a:r>
              <a:rPr lang="en-US" altLang="zh-CN" sz="3200" dirty="0" err="1">
                <a:latin typeface="+mn-ea"/>
              </a:rPr>
              <a:t>,</a:t>
            </a:r>
            <a:r>
              <a:rPr lang="en-US" altLang="zh-CN" sz="3200" dirty="0" err="1"/>
              <a:t>x</a:t>
            </a:r>
            <a:r>
              <a:rPr lang="zh-CN" altLang="zh-CN" sz="3200" dirty="0"/>
              <a:t>∽</a:t>
            </a:r>
            <a:r>
              <a:rPr lang="en-US" altLang="zh-CN" sz="3200" dirty="0"/>
              <a:t>y}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D801670-4681-F00F-643B-FE9364D909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70981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是实数集，下列关系中（     ）是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上的等价关系。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2234D8-8221-9C25-8323-277CBFEE285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&gt;|x,y</a:t>
            </a:r>
            <a:r>
              <a:rPr lang="en-US" altLang="zh-CN" sz="2800" dirty="0"/>
              <a:t>∈R,x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+y</a:t>
            </a:r>
            <a:r>
              <a:rPr lang="en-US" altLang="zh-CN" sz="2800" baseline="30000" dirty="0"/>
              <a:t>2</a:t>
            </a:r>
            <a:r>
              <a:rPr lang="en-US" altLang="zh-CN" sz="2800" dirty="0"/>
              <a:t>=1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6F159E-F24B-4728-F098-F13EB269BCD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&gt;|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x,y∈R,y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=3x}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C297FD-BA32-E271-5720-86CB9763977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&gt;|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x,y∈R,y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=(x+1)</a:t>
            </a:r>
            <a:r>
              <a:rPr lang="en-US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4EC27E-D83F-2062-422E-F5A61E7DD7B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{&lt;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&gt;|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x,y∈R,y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=x}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61857FC-3100-8D2B-F8E6-D6A4A5F099C0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DBCF916-E7D1-8A6C-4002-844B77692F6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4F27F72-B577-7016-E6BB-394A0CE5DA5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55AC7BF-3925-ACCF-41BD-DD5DBEB66715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393DBCF-E1FB-0DC0-57BB-6E12A80BB3F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A349E5C-7F1A-9E00-2914-70E3D7CE6AE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id="{011B6224-FC5A-1F64-9937-80450E5D611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id="{B1612039-B2EC-3650-9F48-1ECD3C52B0B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id="{CFF4290B-B0DC-944A-AF74-BF0B8BD65A3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id="{C2B2A5F8-E8AD-75C5-9D4D-A1775E31E44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BA169C68-E40B-1F5A-54E7-2447F939CE4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5601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2E9EC44-8484-89F9-B7C8-F771135FE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3.6.1 </a:t>
            </a:r>
            <a:r>
              <a:rPr lang="zh-CN" altLang="en-US" sz="4800"/>
              <a:t>等价关系的概念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99AE23B-4EBD-38DF-5FFC-54CF1B31FD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3.6.5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I</a:t>
            </a:r>
            <a:r>
              <a:rPr lang="zh-CN" altLang="en-US" dirty="0"/>
              <a:t>为整数集，</a:t>
            </a: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I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FF0000"/>
                </a:solidFill>
              </a:rPr>
              <a:t>模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同余关系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congruence relation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x,y∈I</a:t>
            </a:r>
            <a:r>
              <a:rPr lang="en-US" altLang="zh-CN" dirty="0"/>
              <a:t>, </a:t>
            </a:r>
            <a:r>
              <a:rPr lang="en-US" altLang="zh-CN" dirty="0" err="1"/>
              <a:t>x≡y</a:t>
            </a:r>
            <a:r>
              <a:rPr lang="en-US" altLang="zh-CN" dirty="0"/>
              <a:t>(mod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en-US" altLang="zh-CN" dirty="0"/>
              <a:t>)}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I</a:t>
            </a:r>
            <a:r>
              <a:rPr lang="zh-CN" altLang="en-US" dirty="0"/>
              <a:t>上的等价关系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 err="1"/>
              <a:t>x≡y</a:t>
            </a:r>
            <a:r>
              <a:rPr lang="en-US" altLang="zh-CN" dirty="0"/>
              <a:t>(mod3)</a:t>
            </a:r>
            <a:r>
              <a:rPr lang="en-US" altLang="zh-CN" dirty="0">
                <a:solidFill>
                  <a:srgbClr val="C00000"/>
                </a:solidFill>
                <a:sym typeface="Symbol" pitchFamily="18" charset="2"/>
              </a:rPr>
              <a:t></a:t>
            </a:r>
            <a:r>
              <a:rPr lang="en-US" altLang="zh-CN" dirty="0"/>
              <a:t>x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  <a:r>
              <a:rPr lang="zh-CN" altLang="en-US" dirty="0"/>
              <a:t>＝</a:t>
            </a:r>
            <a:r>
              <a:rPr lang="en-US" altLang="zh-CN" dirty="0"/>
              <a:t>3k(</a:t>
            </a:r>
            <a:r>
              <a:rPr lang="en-US" altLang="zh-CN" dirty="0" err="1"/>
              <a:t>k∈I</a:t>
            </a:r>
            <a:r>
              <a:rPr lang="en-US" altLang="zh-CN" dirty="0"/>
              <a:t>)</a:t>
            </a:r>
            <a:r>
              <a:rPr lang="zh-CN" altLang="en-US" sz="2800" dirty="0">
                <a:solidFill>
                  <a:srgbClr val="FF00FF"/>
                </a:solidFill>
              </a:rPr>
              <a:t>    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模</a:t>
            </a:r>
            <a:r>
              <a:rPr lang="en-US" altLang="zh-CN" dirty="0"/>
              <a:t>3</a:t>
            </a:r>
            <a:r>
              <a:rPr lang="zh-CN" altLang="en-US" dirty="0"/>
              <a:t>同余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zh-CN" dirty="0"/>
              <a:t>x</a:t>
            </a:r>
            <a:r>
              <a:rPr lang="zh-CN" altLang="en-US" dirty="0"/>
              <a:t>＝</a:t>
            </a:r>
            <a:r>
              <a:rPr lang="en-US" altLang="zh-CN" dirty="0"/>
              <a:t>y(mod3)</a:t>
            </a:r>
            <a:r>
              <a:rPr lang="en-US" altLang="zh-CN" dirty="0">
                <a:solidFill>
                  <a:srgbClr val="C00000"/>
                </a:solidFill>
                <a:sym typeface="Symbol" pitchFamily="18" charset="2"/>
              </a:rPr>
              <a:t></a:t>
            </a:r>
            <a:r>
              <a:rPr lang="en-US" altLang="zh-CN" dirty="0"/>
              <a:t>x</a:t>
            </a:r>
            <a:r>
              <a:rPr lang="zh-CN" altLang="en-US" dirty="0"/>
              <a:t>＝  的余数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FF"/>
                </a:solidFill>
              </a:rPr>
              <a:t>       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模</a:t>
            </a:r>
            <a:r>
              <a:rPr lang="en-US" altLang="zh-CN" dirty="0"/>
              <a:t>3</a:t>
            </a:r>
            <a:r>
              <a:rPr lang="zh-CN" altLang="en-US" dirty="0"/>
              <a:t>互余</a:t>
            </a:r>
            <a:endParaRPr lang="zh-CN" altLang="en-US" sz="2800" dirty="0"/>
          </a:p>
        </p:txBody>
      </p:sp>
      <p:graphicFrame>
        <p:nvGraphicFramePr>
          <p:cNvPr id="11268" name="对象 1">
            <a:extLst>
              <a:ext uri="{FF2B5EF4-FFF2-40B4-BE49-F238E27FC236}">
                <a16:creationId xmlns:a16="http://schemas.microsoft.com/office/drawing/2014/main" id="{DC35803A-5863-64F9-2516-E50E1B9AB6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0" y="6046788"/>
          <a:ext cx="330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957" imgH="393359" progId="Equation.DSMT4">
                  <p:embed/>
                </p:oleObj>
              </mc:Choice>
              <mc:Fallback>
                <p:oleObj name="Equation" r:id="rId2" imgW="164957" imgH="393359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6046788"/>
                        <a:ext cx="3302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3">
            <a:extLst>
              <a:ext uri="{FF2B5EF4-FFF2-40B4-BE49-F238E27FC236}">
                <a16:creationId xmlns:a16="http://schemas.microsoft.com/office/drawing/2014/main" id="{E4C236FD-71D8-1121-CD38-79C25E0644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3.6.1 </a:t>
            </a:r>
            <a:r>
              <a:rPr lang="zh-CN" altLang="en-US"/>
              <a:t>等价关系的概念</a:t>
            </a:r>
          </a:p>
        </p:txBody>
      </p:sp>
      <p:sp>
        <p:nvSpPr>
          <p:cNvPr id="12291" name="内容占位符 4">
            <a:extLst>
              <a:ext uri="{FF2B5EF4-FFF2-40B4-BE49-F238E27FC236}">
                <a16:creationId xmlns:a16="http://schemas.microsoft.com/office/drawing/2014/main" id="{E6D44E8E-2E82-D361-1ABE-652F3F3F7D4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1844675"/>
            <a:ext cx="3529012" cy="501332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>
                <a:solidFill>
                  <a:schemeClr val="hlink"/>
                </a:solidFill>
              </a:rPr>
              <a:t>证明</a:t>
            </a:r>
            <a:r>
              <a:rPr lang="en-US" altLang="zh-CN" sz="3200"/>
              <a:t>(1)</a:t>
            </a:r>
            <a:r>
              <a:rPr lang="zh-CN" altLang="en-US" sz="3200"/>
              <a:t>任取</a:t>
            </a:r>
            <a:r>
              <a:rPr lang="en-US" altLang="zh-CN" sz="3200">
                <a:solidFill>
                  <a:srgbClr val="FF00FF"/>
                </a:solidFill>
              </a:rPr>
              <a:t>a∈I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a</a:t>
            </a:r>
            <a:r>
              <a:rPr lang="zh-CN" altLang="en-US" sz="3200"/>
              <a:t>－</a:t>
            </a:r>
            <a:r>
              <a:rPr lang="en-US" altLang="zh-CN" sz="3200"/>
              <a:t>a</a:t>
            </a:r>
            <a:r>
              <a:rPr lang="zh-CN" altLang="en-US" sz="3200"/>
              <a:t>＝</a:t>
            </a:r>
            <a:r>
              <a:rPr lang="en-US" altLang="zh-CN" sz="3200"/>
              <a:t>0</a:t>
            </a:r>
            <a:r>
              <a:rPr lang="zh-CN" altLang="en-US" sz="3200"/>
              <a:t>＝</a:t>
            </a:r>
            <a:r>
              <a:rPr lang="en-US" altLang="zh-CN" sz="3200"/>
              <a:t>3×0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a≡a(mod3)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</a:t>
            </a:r>
            <a:r>
              <a:rPr lang="en-US" altLang="zh-CN" sz="3200" b="1">
                <a:solidFill>
                  <a:srgbClr val="FF00FF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3200">
                <a:solidFill>
                  <a:srgbClr val="FF00FF"/>
                </a:solidFill>
              </a:rPr>
              <a:t>a,a</a:t>
            </a:r>
            <a:r>
              <a:rPr lang="en-US" altLang="zh-CN" sz="3200" b="1">
                <a:solidFill>
                  <a:srgbClr val="FF00FF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3200">
                <a:solidFill>
                  <a:srgbClr val="FF00FF"/>
                </a:solidFill>
              </a:rPr>
              <a:t>∈R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3200"/>
              <a:t>(2)</a:t>
            </a:r>
            <a:r>
              <a:rPr lang="zh-CN" altLang="en-US" sz="3200"/>
              <a:t>设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&lt;</a:t>
            </a:r>
            <a:r>
              <a:rPr lang="en-US" altLang="zh-CN" sz="3200">
                <a:solidFill>
                  <a:schemeClr val="accent1"/>
                </a:solidFill>
              </a:rPr>
              <a:t>a,b</a:t>
            </a:r>
            <a:r>
              <a:rPr lang="en-US" altLang="zh-CN" sz="3200" b="1">
                <a:solidFill>
                  <a:schemeClr val="accent1"/>
                </a:solidFill>
                <a:latin typeface="宋体" panose="02010600030101010101" pitchFamily="2" charset="-122"/>
              </a:rPr>
              <a:t>&gt;</a:t>
            </a:r>
            <a:r>
              <a:rPr lang="en-US" altLang="zh-CN" sz="3200">
                <a:solidFill>
                  <a:schemeClr val="accent1"/>
                </a:solidFill>
              </a:rPr>
              <a:t>∈R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 a≡b(mod 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 a</a:t>
            </a:r>
            <a:r>
              <a:rPr lang="zh-CN" altLang="en-US" sz="3200"/>
              <a:t>－</a:t>
            </a:r>
            <a:r>
              <a:rPr lang="en-US" altLang="zh-CN" sz="3200"/>
              <a:t>b</a:t>
            </a:r>
            <a:r>
              <a:rPr lang="zh-CN" altLang="en-US" sz="3200"/>
              <a:t>＝</a:t>
            </a:r>
            <a:r>
              <a:rPr lang="en-US" altLang="zh-CN" sz="3200"/>
              <a:t>3k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200"/>
              <a:t>    b</a:t>
            </a:r>
            <a:r>
              <a:rPr lang="zh-CN" altLang="en-US" sz="3200"/>
              <a:t>－</a:t>
            </a:r>
            <a:r>
              <a:rPr lang="en-US" altLang="zh-CN" sz="3200"/>
              <a:t>a</a:t>
            </a:r>
            <a:r>
              <a:rPr lang="zh-CN" altLang="en-US" sz="3200"/>
              <a:t>＝</a:t>
            </a:r>
            <a:r>
              <a:rPr lang="en-US" altLang="zh-CN" sz="3200"/>
              <a:t>3(</a:t>
            </a:r>
            <a:r>
              <a:rPr lang="en-US" altLang="zh-CN" sz="3200">
                <a:latin typeface="Arial" panose="020B0604020202020204" pitchFamily="34" charset="0"/>
              </a:rPr>
              <a:t>—</a:t>
            </a:r>
            <a:r>
              <a:rPr lang="en-US" altLang="zh-CN" sz="3200"/>
              <a:t>k)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13B9A6-FD92-769C-CF41-6ED0F6289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5738" y="1844675"/>
            <a:ext cx="5003800" cy="50133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</a:t>
            </a:r>
            <a:r>
              <a:rPr lang="en-US" altLang="zh-CN" sz="3200" dirty="0" err="1"/>
              <a:t>b≡a</a:t>
            </a:r>
            <a:r>
              <a:rPr lang="en-US" altLang="zh-CN" sz="3200" dirty="0"/>
              <a:t>(mod 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</a:t>
            </a:r>
            <a:r>
              <a:rPr lang="en-US" altLang="zh-CN" sz="3200" b="1" dirty="0">
                <a:solidFill>
                  <a:schemeClr val="accent1"/>
                </a:solidFill>
                <a:latin typeface="宋体" pitchFamily="2" charset="-122"/>
              </a:rPr>
              <a:t>&lt;</a:t>
            </a:r>
            <a:r>
              <a:rPr lang="en-US" altLang="zh-CN" sz="3200" dirty="0" err="1">
                <a:solidFill>
                  <a:schemeClr val="accent1"/>
                </a:solidFill>
              </a:rPr>
              <a:t>b,a</a:t>
            </a:r>
            <a:r>
              <a:rPr lang="en-US" altLang="zh-CN" sz="3200" b="1" dirty="0">
                <a:solidFill>
                  <a:schemeClr val="accent1"/>
                </a:solidFill>
                <a:latin typeface="宋体" pitchFamily="2" charset="-122"/>
              </a:rPr>
              <a:t>&gt;</a:t>
            </a:r>
            <a:r>
              <a:rPr lang="en-US" altLang="zh-CN" sz="3200" dirty="0">
                <a:solidFill>
                  <a:schemeClr val="accent1"/>
                </a:solidFill>
              </a:rPr>
              <a:t>∈R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sz="3200" dirty="0"/>
              <a:t>(3)</a:t>
            </a:r>
            <a:r>
              <a:rPr lang="zh-CN" altLang="en-US" sz="3200" dirty="0"/>
              <a:t>设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sz="3200" dirty="0" err="1">
                <a:solidFill>
                  <a:srgbClr val="FF00FF"/>
                </a:solidFill>
              </a:rPr>
              <a:t>a,b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sz="3200" dirty="0">
                <a:solidFill>
                  <a:srgbClr val="FF00FF"/>
                </a:solidFill>
              </a:rPr>
              <a:t>∈R</a:t>
            </a:r>
            <a:r>
              <a:rPr lang="en-US" altLang="zh-CN" sz="3200" dirty="0">
                <a:latin typeface="+mn-ea"/>
              </a:rPr>
              <a:t>,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sz="3200" dirty="0" err="1">
                <a:solidFill>
                  <a:srgbClr val="FF00FF"/>
                </a:solidFill>
              </a:rPr>
              <a:t>b,c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sz="3200" dirty="0">
                <a:solidFill>
                  <a:srgbClr val="FF00FF"/>
                </a:solidFill>
              </a:rPr>
              <a:t>∈R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</a:t>
            </a:r>
            <a:r>
              <a:rPr lang="en-US" altLang="zh-CN" sz="3200" dirty="0" err="1"/>
              <a:t>a≡b</a:t>
            </a:r>
            <a:r>
              <a:rPr lang="en-US" altLang="zh-CN" sz="3200" dirty="0"/>
              <a:t>(mod3)</a:t>
            </a:r>
            <a:r>
              <a:rPr lang="en-US" altLang="zh-CN" sz="3200" dirty="0">
                <a:latin typeface="+mn-ea"/>
              </a:rPr>
              <a:t>,</a:t>
            </a:r>
            <a:r>
              <a:rPr lang="en-US" altLang="zh-CN" sz="3200" dirty="0" err="1"/>
              <a:t>b≡c</a:t>
            </a:r>
            <a:r>
              <a:rPr lang="en-US" altLang="zh-CN" sz="3200" dirty="0"/>
              <a:t>(mod3)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a</a:t>
            </a:r>
            <a:r>
              <a:rPr lang="zh-CN" altLang="en-US" sz="3200" dirty="0"/>
              <a:t>－</a:t>
            </a:r>
            <a:r>
              <a:rPr lang="en-US" altLang="zh-CN" sz="3200" dirty="0"/>
              <a:t>b</a:t>
            </a:r>
            <a:r>
              <a:rPr lang="zh-CN" altLang="en-US" sz="3200" dirty="0"/>
              <a:t>＝</a:t>
            </a:r>
            <a:r>
              <a:rPr lang="en-US" altLang="zh-CN" sz="3200" dirty="0"/>
              <a:t>3k</a:t>
            </a:r>
            <a:r>
              <a:rPr lang="en-US" altLang="zh-CN" sz="3200" dirty="0">
                <a:latin typeface="+mn-ea"/>
              </a:rPr>
              <a:t>,</a:t>
            </a:r>
            <a:r>
              <a:rPr lang="en-US" altLang="zh-CN" sz="3200" dirty="0"/>
              <a:t>b</a:t>
            </a:r>
            <a:r>
              <a:rPr lang="zh-CN" altLang="en-US" sz="3200" dirty="0"/>
              <a:t>－</a:t>
            </a:r>
            <a:r>
              <a:rPr lang="en-US" altLang="zh-CN" sz="3200" dirty="0"/>
              <a:t>c</a:t>
            </a:r>
            <a:r>
              <a:rPr lang="zh-CN" altLang="en-US" sz="3200" dirty="0"/>
              <a:t>＝</a:t>
            </a:r>
            <a:r>
              <a:rPr lang="en-US" altLang="zh-CN" sz="3200" dirty="0"/>
              <a:t>3t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a</a:t>
            </a:r>
            <a:r>
              <a:rPr lang="zh-CN" altLang="en-US" sz="3200" dirty="0"/>
              <a:t>－</a:t>
            </a:r>
            <a:r>
              <a:rPr lang="en-US" altLang="zh-CN" sz="3200" dirty="0"/>
              <a:t>c</a:t>
            </a:r>
            <a:r>
              <a:rPr lang="zh-CN" altLang="en-US" sz="3200" dirty="0"/>
              <a:t>＝</a:t>
            </a:r>
            <a:r>
              <a:rPr lang="en-US" altLang="zh-CN" sz="3200" dirty="0"/>
              <a:t>3(k</a:t>
            </a:r>
            <a:r>
              <a:rPr lang="zh-CN" altLang="en-US" sz="3200" dirty="0"/>
              <a:t>＋</a:t>
            </a:r>
            <a:r>
              <a:rPr lang="en-US" altLang="zh-CN" sz="3200" dirty="0"/>
              <a:t>t)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</a:t>
            </a:r>
            <a:r>
              <a:rPr lang="en-US" altLang="zh-CN" sz="3200" dirty="0" err="1"/>
              <a:t>a≡c</a:t>
            </a:r>
            <a:r>
              <a:rPr lang="en-US" altLang="zh-CN" sz="3200" dirty="0"/>
              <a:t>(mod3)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&lt;</a:t>
            </a:r>
            <a:r>
              <a:rPr lang="en-US" altLang="zh-CN" sz="3200" dirty="0" err="1">
                <a:solidFill>
                  <a:srgbClr val="FF00FF"/>
                </a:solidFill>
              </a:rPr>
              <a:t>a,c</a:t>
            </a:r>
            <a:r>
              <a:rPr lang="en-US" altLang="zh-CN" sz="3200" b="1" dirty="0">
                <a:solidFill>
                  <a:srgbClr val="FF00FF"/>
                </a:solidFill>
                <a:latin typeface="宋体" pitchFamily="2" charset="-122"/>
              </a:rPr>
              <a:t>&gt;</a:t>
            </a:r>
            <a:r>
              <a:rPr lang="en-US" altLang="zh-CN" sz="3200" dirty="0">
                <a:solidFill>
                  <a:srgbClr val="FF00FF"/>
                </a:solidFill>
              </a:rPr>
              <a:t>∈R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9B9A239-E0EA-8EA2-EB16-B9C9BB41F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ABC0761-3428-94AB-54DF-77B66411A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532812" cy="4797425"/>
          </a:xfrm>
        </p:spPr>
        <p:txBody>
          <a:bodyPr/>
          <a:lstStyle/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3.6.2 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为集合</a:t>
            </a:r>
            <a:r>
              <a:rPr lang="en-US" altLang="zh-CN" dirty="0"/>
              <a:t>A</a:t>
            </a:r>
            <a:r>
              <a:rPr lang="zh-CN" altLang="en-US" dirty="0"/>
              <a:t>上的等价关系</a:t>
            </a:r>
            <a:r>
              <a:rPr lang="zh-CN" altLang="en-US" dirty="0">
                <a:latin typeface="+mn-ea"/>
              </a:rPr>
              <a:t>，</a:t>
            </a:r>
            <a:r>
              <a:rPr lang="en-US" altLang="zh-CN" dirty="0" err="1"/>
              <a:t>a∈A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zh-CN" altLang="en-US" dirty="0"/>
              <a:t>确定的关于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rgbClr val="FF0000"/>
                </a:solidFill>
              </a:rPr>
              <a:t>等价类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equivalence class</a:t>
            </a:r>
            <a:r>
              <a:rPr lang="en-US" altLang="zh-CN" dirty="0"/>
              <a:t>)</a:t>
            </a:r>
            <a:endParaRPr lang="zh-CN" altLang="en-US" dirty="0"/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accent1"/>
                </a:solidFill>
              </a:rPr>
              <a:t>      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en-US" altLang="zh-CN" dirty="0"/>
              <a:t>]</a:t>
            </a:r>
            <a:r>
              <a:rPr lang="en-US" altLang="zh-CN" baseline="-25000" dirty="0">
                <a:solidFill>
                  <a:srgbClr val="FF00FF"/>
                </a:solidFill>
              </a:rPr>
              <a:t>R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</a:t>
            </a:r>
            <a:r>
              <a:rPr lang="en-US" altLang="zh-CN" dirty="0" err="1">
                <a:solidFill>
                  <a:srgbClr val="FF00FF"/>
                </a:solidFill>
              </a:rPr>
              <a:t>a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∈R}   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a,x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</a:t>
            </a:r>
          </a:p>
          <a:p>
            <a:pPr eaLnBrk="1" hangingPunct="1">
              <a:lnSpc>
                <a:spcPct val="175000"/>
              </a:lnSpc>
              <a:defRPr/>
            </a:pPr>
            <a:r>
              <a:rPr lang="zh-CN" altLang="en-US" dirty="0"/>
              <a:t>集合</a:t>
            </a:r>
            <a:r>
              <a:rPr lang="en-US" altLang="zh-CN" dirty="0"/>
              <a:t>A</a:t>
            </a:r>
            <a:r>
              <a:rPr lang="zh-CN" altLang="en-US" dirty="0"/>
              <a:t>关于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商集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quotient set</a:t>
            </a:r>
            <a:r>
              <a:rPr lang="en-US" altLang="zh-CN" dirty="0"/>
              <a:t>)</a:t>
            </a:r>
          </a:p>
          <a:p>
            <a:pPr eaLnBrk="1" hangingPunct="1">
              <a:lnSpc>
                <a:spcPct val="17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zh-CN" altLang="en-US" dirty="0">
                <a:solidFill>
                  <a:schemeClr val="accent1"/>
                </a:solidFill>
              </a:rPr>
              <a:t>／</a:t>
            </a:r>
            <a:r>
              <a:rPr lang="en-US" altLang="zh-CN" dirty="0">
                <a:solidFill>
                  <a:schemeClr val="accent1"/>
                </a:solidFill>
              </a:rPr>
              <a:t>R</a:t>
            </a:r>
            <a:r>
              <a:rPr lang="zh-CN" altLang="en-US" dirty="0"/>
              <a:t>＝</a:t>
            </a:r>
            <a:r>
              <a:rPr lang="en-US" altLang="zh-CN" dirty="0"/>
              <a:t>{[a]</a:t>
            </a:r>
            <a:r>
              <a:rPr lang="en-US" altLang="zh-CN" baseline="-25000" dirty="0" err="1"/>
              <a:t>R</a:t>
            </a:r>
            <a:r>
              <a:rPr lang="en-US" altLang="zh-CN" dirty="0" err="1"/>
              <a:t>︱a∈A</a:t>
            </a:r>
            <a:r>
              <a:rPr lang="en-US" altLang="zh-CN" dirty="0"/>
              <a:t>} </a:t>
            </a:r>
          </a:p>
        </p:txBody>
      </p:sp>
      <p:sp>
        <p:nvSpPr>
          <p:cNvPr id="119816" name="Oval 8">
            <a:extLst>
              <a:ext uri="{FF2B5EF4-FFF2-40B4-BE49-F238E27FC236}">
                <a16:creationId xmlns:a16="http://schemas.microsoft.com/office/drawing/2014/main" id="{7F1041AA-E05A-C79B-23EB-9E24DD861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068763"/>
            <a:ext cx="1873250" cy="698500"/>
          </a:xfrm>
          <a:prstGeom prst="ellipse">
            <a:avLst/>
          </a:prstGeom>
          <a:noFill/>
          <a:ln w="38100">
            <a:solidFill>
              <a:srgbClr val="FF99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B1EA3A54-714F-D7D0-A502-0BF2BA252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1F46FA34-DE75-2948-44E4-C0A944A945E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2997200"/>
            <a:ext cx="4752975" cy="3860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x,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∈R}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＝</a:t>
            </a:r>
            <a:r>
              <a:rPr lang="en-US" altLang="zh-CN" dirty="0"/>
              <a:t>{1}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x,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∈R}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＝</a:t>
            </a:r>
            <a:r>
              <a:rPr lang="en-US" altLang="zh-CN" dirty="0"/>
              <a:t>{2,3}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{2,3}          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4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{4}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324D0D00-D7C0-C6AD-BF7A-17D7EB612EA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148263" y="2997200"/>
            <a:ext cx="3816350" cy="3716338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endParaRPr lang="en-US" altLang="zh-CN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zh-CN" altLang="en-US" dirty="0">
                <a:solidFill>
                  <a:srgbClr val="FF00FF"/>
                </a:solidFill>
              </a:rPr>
              <a:t>／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＝</a:t>
            </a:r>
            <a:r>
              <a:rPr lang="en-US" altLang="zh-CN" dirty="0"/>
              <a:t>{[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4</a:t>
            </a:r>
            <a:r>
              <a:rPr lang="en-US" altLang="zh-CN" dirty="0"/>
              <a:t>]</a:t>
            </a:r>
            <a:r>
              <a:rPr lang="en-US" altLang="zh-CN" baseline="-25000" dirty="0"/>
              <a:t>R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＝</a:t>
            </a:r>
            <a:r>
              <a:rPr lang="en-US" altLang="zh-CN" dirty="0"/>
              <a:t>{{1}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{2,3}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{4}}</a:t>
            </a:r>
          </a:p>
          <a:p>
            <a:pPr eaLnBrk="1" hangingPunct="1">
              <a:lnSpc>
                <a:spcPct val="130000"/>
              </a:lnSpc>
              <a:defRPr/>
            </a:pPr>
            <a:endParaRPr lang="en-US" altLang="zh-CN" sz="20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8202DF-158B-A722-EFB3-72E8A810BB75}"/>
              </a:ext>
            </a:extLst>
          </p:cNvPr>
          <p:cNvSpPr/>
          <p:nvPr/>
        </p:nvSpPr>
        <p:spPr>
          <a:xfrm>
            <a:off x="611188" y="1844675"/>
            <a:ext cx="8245475" cy="12128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3.6.6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zh-CN" altLang="en-US" sz="2800" dirty="0"/>
              <a:t>上的等价关系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z="2800" dirty="0"/>
              <a:t> </a:t>
            </a:r>
            <a:r>
              <a:rPr lang="en-US" altLang="zh-CN" sz="2800" dirty="0"/>
              <a:t>R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</a:t>
            </a:r>
            <a:r>
              <a:rPr lang="en-US" altLang="zh-CN" sz="2800" dirty="0">
                <a:solidFill>
                  <a:schemeClr val="accent1"/>
                </a:solidFill>
              </a:rPr>
              <a:t>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BB3E144-C674-BE03-C9C8-28E2BF002A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3EC2A4ED-90BC-E1E8-146D-D718122E305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2997200"/>
            <a:ext cx="4752975" cy="386080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x,1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∈S}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＝</a:t>
            </a:r>
            <a:r>
              <a:rPr lang="en-US" altLang="zh-CN" dirty="0"/>
              <a:t>{1,2}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x︱x∈A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x,2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∈S}</a:t>
            </a:r>
          </a:p>
          <a:p>
            <a:pPr marL="0" indent="0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 ＝</a:t>
            </a:r>
            <a:r>
              <a:rPr lang="en-US" altLang="zh-CN" dirty="0"/>
              <a:t>{1,2}      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{3}     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altLang="zh-CN" dirty="0"/>
              <a:t>[</a:t>
            </a:r>
            <a:r>
              <a:rPr lang="en-US" altLang="zh-CN" dirty="0">
                <a:solidFill>
                  <a:srgbClr val="339933"/>
                </a:solidFill>
              </a:rPr>
              <a:t>4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{4}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36BAE53-13E7-2A29-5F77-AF70CDE22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9338" y="4859338"/>
            <a:ext cx="4157662" cy="2025650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zh-CN" altLang="en-US" dirty="0">
                <a:solidFill>
                  <a:srgbClr val="FF00FF"/>
                </a:solidFill>
              </a:rPr>
              <a:t>／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＝</a:t>
            </a:r>
            <a:r>
              <a:rPr lang="en-US" altLang="zh-CN" dirty="0"/>
              <a:t>{[1]</a:t>
            </a:r>
            <a:r>
              <a:rPr lang="en-US" altLang="zh-CN" baseline="-25000" dirty="0"/>
              <a:t>S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339933"/>
                </a:solidFill>
              </a:rPr>
              <a:t>4</a:t>
            </a:r>
            <a:r>
              <a:rPr lang="en-US" altLang="zh-CN" dirty="0"/>
              <a:t>]</a:t>
            </a:r>
            <a:r>
              <a:rPr lang="en-US" altLang="zh-CN" baseline="-25000" dirty="0"/>
              <a:t>S</a:t>
            </a:r>
            <a:r>
              <a:rPr lang="en-US" altLang="zh-CN" dirty="0"/>
              <a:t>}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＝</a:t>
            </a:r>
            <a:r>
              <a:rPr lang="en-US" altLang="zh-CN" dirty="0"/>
              <a:t>{{1,2}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{4}}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E9FF68-CEAF-7596-3905-28F67DB41938}"/>
              </a:ext>
            </a:extLst>
          </p:cNvPr>
          <p:cNvSpPr/>
          <p:nvPr/>
        </p:nvSpPr>
        <p:spPr>
          <a:xfrm>
            <a:off x="684213" y="1844675"/>
            <a:ext cx="8172450" cy="12128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2800" dirty="0">
                <a:solidFill>
                  <a:schemeClr val="hlink"/>
                </a:solidFill>
              </a:rPr>
              <a:t>例</a:t>
            </a:r>
            <a:r>
              <a:rPr lang="en-US" altLang="zh-CN" sz="2800" dirty="0">
                <a:solidFill>
                  <a:schemeClr val="hlink"/>
                </a:solidFill>
              </a:rPr>
              <a:t>3.6.7</a:t>
            </a:r>
            <a:r>
              <a:rPr lang="en-US" altLang="zh-CN" sz="2800" b="1" dirty="0"/>
              <a:t> </a:t>
            </a:r>
            <a:r>
              <a:rPr lang="zh-CN" altLang="en-US" sz="2800" dirty="0"/>
              <a:t>设</a:t>
            </a:r>
            <a:r>
              <a:rPr lang="en-US" altLang="zh-CN" sz="2800" dirty="0"/>
              <a:t>A</a:t>
            </a:r>
            <a:r>
              <a:rPr lang="zh-CN" altLang="en-US" sz="2800" dirty="0"/>
              <a:t>＝</a:t>
            </a:r>
            <a:r>
              <a:rPr lang="en-US" altLang="zh-CN" sz="2800" dirty="0"/>
              <a:t>{1,2,3,4}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zh-CN" altLang="en-US" sz="2800" dirty="0"/>
              <a:t>上的等价关系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en-US" altLang="zh-CN" sz="2800" dirty="0"/>
              <a:t>S</a:t>
            </a:r>
            <a:r>
              <a:rPr lang="zh-CN" altLang="en-US" sz="2800" dirty="0"/>
              <a:t>＝</a:t>
            </a:r>
            <a:r>
              <a:rPr lang="en-US" altLang="zh-CN" sz="2800" dirty="0"/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+mn-ea"/>
                <a:ea typeface="+mn-ea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4C5BFF0-2DB1-3149-1A6C-63422C1F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3.6.1 </a:t>
            </a:r>
            <a:r>
              <a:rPr lang="zh-CN" altLang="en-US" sz="4800"/>
              <a:t>等价关系的概念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CB253B3-4926-0B3D-888C-AE287B431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43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3.6.8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I</a:t>
            </a:r>
            <a:r>
              <a:rPr lang="zh-CN" altLang="en-US" dirty="0"/>
              <a:t>为整数集，</a:t>
            </a:r>
            <a:endParaRPr lang="en-US" altLang="zh-CN" dirty="0"/>
          </a:p>
          <a:p>
            <a:pPr marL="0" indent="0" eaLnBrk="1" hangingPunct="1">
              <a:lnSpc>
                <a:spcPct val="143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I</a:t>
            </a:r>
            <a:r>
              <a:rPr lang="zh-CN" altLang="en-US" dirty="0"/>
              <a:t>上的</a:t>
            </a:r>
            <a:r>
              <a:rPr lang="zh-CN" altLang="en-US" b="1" dirty="0">
                <a:solidFill>
                  <a:srgbClr val="FF0000"/>
                </a:solidFill>
              </a:rPr>
              <a:t>模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zh-CN" altLang="en-US" b="1" dirty="0">
                <a:solidFill>
                  <a:srgbClr val="FF0000"/>
                </a:solidFill>
              </a:rPr>
              <a:t>同余关系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congruence relation</a:t>
            </a:r>
            <a:r>
              <a:rPr lang="en-US" altLang="zh-CN" dirty="0"/>
              <a:t>)</a:t>
            </a:r>
          </a:p>
          <a:p>
            <a:pPr marL="0" indent="0" eaLnBrk="1" hangingPunct="1">
              <a:lnSpc>
                <a:spcPct val="143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 err="1"/>
              <a:t>x,y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︱</a:t>
            </a:r>
            <a:r>
              <a:rPr lang="en-US" altLang="zh-CN" dirty="0" err="1"/>
              <a:t>x,y∈I,x≡y</a:t>
            </a:r>
            <a:r>
              <a:rPr lang="en-US" altLang="zh-CN" dirty="0"/>
              <a:t>(mod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en-US" altLang="zh-CN" dirty="0"/>
              <a:t>)}</a:t>
            </a:r>
          </a:p>
          <a:p>
            <a:pPr eaLnBrk="1" hangingPunct="1">
              <a:lnSpc>
                <a:spcPct val="143000"/>
              </a:lnSpc>
              <a:defRPr/>
            </a:pP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en-US" altLang="zh-CN" dirty="0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</a:rPr>
              <a:t>上的等价关系</a:t>
            </a:r>
            <a:endParaRPr lang="en-US" altLang="zh-CN" dirty="0"/>
          </a:p>
          <a:p>
            <a:pPr eaLnBrk="1" hangingPunct="1">
              <a:lnSpc>
                <a:spcPct val="143000"/>
              </a:lnSpc>
              <a:defRPr/>
            </a:pPr>
            <a:r>
              <a:rPr lang="zh-CN" altLang="en-US" dirty="0">
                <a:solidFill>
                  <a:srgbClr val="00E4A8"/>
                </a:solidFill>
              </a:rPr>
              <a:t>等价类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zh-CN" altLang="en-US" b="1" dirty="0">
                <a:solidFill>
                  <a:srgbClr val="FF00FF"/>
                </a:solidFill>
              </a:rPr>
              <a:t>模</a:t>
            </a:r>
            <a:r>
              <a:rPr lang="en-US" altLang="zh-CN" dirty="0">
                <a:solidFill>
                  <a:srgbClr val="FF00FF"/>
                </a:solidFill>
              </a:rPr>
              <a:t>3</a:t>
            </a:r>
            <a:r>
              <a:rPr lang="zh-CN" altLang="en-US" b="1" dirty="0">
                <a:solidFill>
                  <a:srgbClr val="FF00FF"/>
                </a:solidFill>
              </a:rPr>
              <a:t>同余类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 eaLnBrk="1" hangingPunct="1">
              <a:lnSpc>
                <a:spcPct val="143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000000"/>
                </a:solidFill>
                <a:latin typeface="Arial" charset="0"/>
              </a:rPr>
              <a:t>…</a:t>
            </a:r>
            <a:r>
              <a:rPr lang="en-US" altLang="zh-CN" dirty="0">
                <a:solidFill>
                  <a:srgbClr val="000000"/>
                </a:solidFill>
              </a:rPr>
              <a:t>,[</a:t>
            </a:r>
            <a:r>
              <a:rPr lang="zh-CN" altLang="en-US" dirty="0">
                <a:solidFill>
                  <a:srgbClr val="000000"/>
                </a:solidFill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3],[</a:t>
            </a:r>
            <a:r>
              <a:rPr lang="zh-CN" altLang="en-US" dirty="0">
                <a:solidFill>
                  <a:srgbClr val="000000"/>
                </a:solidFill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2],[</a:t>
            </a:r>
            <a:r>
              <a:rPr lang="zh-CN" altLang="en-US" dirty="0">
                <a:solidFill>
                  <a:srgbClr val="000000"/>
                </a:solidFill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1],[0],[1], [2], [3], [4],</a:t>
            </a:r>
            <a:r>
              <a:rPr lang="en-US" altLang="zh-CN" dirty="0">
                <a:solidFill>
                  <a:srgbClr val="000000"/>
                </a:solidFill>
                <a:latin typeface="Arial" charset="0"/>
              </a:rPr>
              <a:t>…</a:t>
            </a:r>
            <a:endParaRPr lang="zh-CN" altLang="en-US" sz="28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zh-CN" alt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4">
            <a:extLst>
              <a:ext uri="{FF2B5EF4-FFF2-40B4-BE49-F238E27FC236}">
                <a16:creationId xmlns:a16="http://schemas.microsoft.com/office/drawing/2014/main" id="{1F4FCA23-33F4-63A1-FA69-F92511DB02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13315" name="Rectangle 5">
            <a:extLst>
              <a:ext uri="{FF2B5EF4-FFF2-40B4-BE49-F238E27FC236}">
                <a16:creationId xmlns:a16="http://schemas.microsoft.com/office/drawing/2014/main" id="{FCA1BE79-6763-0315-2E37-BDF769E3A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567737" cy="5084762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解  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{x︱x∈I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x≡0(mod 3)}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0</a:t>
            </a:r>
            <a:r>
              <a:rPr lang="zh-CN" altLang="en-US" dirty="0"/>
              <a:t>＝</a:t>
            </a:r>
            <a:r>
              <a:rPr lang="en-US" altLang="zh-CN" dirty="0"/>
              <a:t>3k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k∈I}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zh-CN" altLang="en-US" dirty="0"/>
              <a:t>－</a:t>
            </a:r>
            <a:r>
              <a:rPr lang="en-US" altLang="zh-CN" dirty="0"/>
              <a:t>6,</a:t>
            </a:r>
            <a:r>
              <a:rPr lang="zh-CN" altLang="en-US" dirty="0"/>
              <a:t>－</a:t>
            </a:r>
            <a:r>
              <a:rPr lang="en-US" altLang="zh-CN" dirty="0"/>
              <a:t>3,0,3,6,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[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3k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k∈I}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zh-CN" altLang="en-US" dirty="0"/>
              <a:t>－</a:t>
            </a:r>
            <a:r>
              <a:rPr lang="en-US" altLang="zh-CN" dirty="0"/>
              <a:t>5,</a:t>
            </a:r>
            <a:r>
              <a:rPr lang="zh-CN" altLang="en-US" dirty="0"/>
              <a:t>－</a:t>
            </a:r>
            <a:r>
              <a:rPr lang="en-US" altLang="zh-CN" dirty="0"/>
              <a:t>2,1,4,7,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[</a:t>
            </a:r>
            <a:r>
              <a:rPr lang="en-US" altLang="zh-CN" dirty="0">
                <a:solidFill>
                  <a:schemeClr val="accent1"/>
                </a:solidFill>
              </a:rPr>
              <a:t>2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3k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k∈I}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</a:t>
            </a:r>
            <a:r>
              <a:rPr lang="zh-CN" altLang="en-US" dirty="0"/>
              <a:t>－</a:t>
            </a:r>
            <a:r>
              <a:rPr lang="en-US" altLang="zh-CN" dirty="0"/>
              <a:t>4,</a:t>
            </a:r>
            <a:r>
              <a:rPr lang="zh-CN" altLang="en-US" dirty="0"/>
              <a:t>－</a:t>
            </a:r>
            <a:r>
              <a:rPr lang="en-US" altLang="zh-CN" dirty="0"/>
              <a:t>1,2,5,8,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D5234F4-D5CC-1E93-9127-E10D7DED26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BAFB577-70D0-BE83-DAB7-1C180D6FB1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07000"/>
              </a:lnSpc>
              <a:defRPr/>
            </a:pPr>
            <a:r>
              <a:rPr lang="zh-CN" altLang="en-US" dirty="0"/>
              <a:t>同时 </a:t>
            </a:r>
            <a:r>
              <a:rPr lang="en-US" altLang="zh-CN" dirty="0">
                <a:latin typeface="Arial" charset="0"/>
              </a:rPr>
              <a:t>…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6]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3]</a:t>
            </a:r>
            <a:r>
              <a:rPr lang="zh-CN" altLang="en-US" dirty="0"/>
              <a:t>＝</a:t>
            </a:r>
            <a:r>
              <a:rPr lang="en-US" altLang="zh-CN" dirty="0"/>
              <a:t>[0]</a:t>
            </a:r>
            <a:r>
              <a:rPr lang="zh-CN" altLang="en-US" dirty="0"/>
              <a:t>＝</a:t>
            </a:r>
            <a:r>
              <a:rPr lang="en-US" altLang="zh-CN" dirty="0"/>
              <a:t>[3]</a:t>
            </a:r>
            <a:r>
              <a:rPr lang="zh-CN" altLang="en-US" dirty="0"/>
              <a:t>＝</a:t>
            </a:r>
            <a:r>
              <a:rPr lang="en-US" altLang="zh-CN" dirty="0"/>
              <a:t>[6]</a:t>
            </a:r>
            <a:r>
              <a:rPr lang="zh-CN" altLang="en-US" dirty="0"/>
              <a:t>＝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>
                <a:latin typeface="Arial" charset="0"/>
              </a:rPr>
              <a:t>…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5]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2]</a:t>
            </a:r>
            <a:r>
              <a:rPr lang="zh-CN" altLang="en-US" dirty="0"/>
              <a:t>＝</a:t>
            </a:r>
            <a:r>
              <a:rPr lang="en-US" altLang="zh-CN" dirty="0"/>
              <a:t>[1]</a:t>
            </a:r>
            <a:r>
              <a:rPr lang="zh-CN" altLang="en-US" dirty="0"/>
              <a:t>＝</a:t>
            </a:r>
            <a:r>
              <a:rPr lang="en-US" altLang="zh-CN" dirty="0"/>
              <a:t>[4]</a:t>
            </a:r>
            <a:r>
              <a:rPr lang="zh-CN" altLang="en-US" dirty="0"/>
              <a:t>＝</a:t>
            </a:r>
            <a:r>
              <a:rPr lang="en-US" altLang="zh-CN" dirty="0"/>
              <a:t>[7]</a:t>
            </a:r>
            <a:r>
              <a:rPr lang="zh-CN" altLang="en-US" dirty="0"/>
              <a:t>＝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</a:t>
            </a:r>
            <a:r>
              <a:rPr lang="en-US" altLang="zh-CN" dirty="0">
                <a:latin typeface="Arial" charset="0"/>
              </a:rPr>
              <a:t>…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4]</a:t>
            </a:r>
            <a:r>
              <a:rPr lang="zh-CN" altLang="en-US" dirty="0"/>
              <a:t>＝</a:t>
            </a:r>
            <a:r>
              <a:rPr lang="en-US" altLang="zh-CN" dirty="0"/>
              <a:t>[</a:t>
            </a:r>
            <a:r>
              <a:rPr lang="zh-CN" altLang="en-US" dirty="0"/>
              <a:t>－</a:t>
            </a:r>
            <a:r>
              <a:rPr lang="en-US" altLang="zh-CN" dirty="0"/>
              <a:t>1]</a:t>
            </a:r>
            <a:r>
              <a:rPr lang="zh-CN" altLang="en-US" dirty="0"/>
              <a:t>＝</a:t>
            </a:r>
            <a:r>
              <a:rPr lang="en-US" altLang="zh-CN" dirty="0"/>
              <a:t>[2]</a:t>
            </a:r>
            <a:r>
              <a:rPr lang="zh-CN" altLang="en-US" dirty="0"/>
              <a:t>＝</a:t>
            </a:r>
            <a:r>
              <a:rPr lang="en-US" altLang="zh-CN" dirty="0"/>
              <a:t>[5]</a:t>
            </a:r>
            <a:r>
              <a:rPr lang="zh-CN" altLang="en-US" dirty="0"/>
              <a:t>＝</a:t>
            </a:r>
            <a:r>
              <a:rPr lang="en-US" altLang="zh-CN" dirty="0"/>
              <a:t>[8]</a:t>
            </a:r>
            <a:r>
              <a:rPr lang="zh-CN" altLang="en-US" dirty="0"/>
              <a:t>＝</a:t>
            </a:r>
            <a:r>
              <a:rPr lang="en-US" altLang="zh-CN" dirty="0">
                <a:latin typeface="Arial" charset="0"/>
              </a:rPr>
              <a:t>…</a:t>
            </a:r>
            <a:endParaRPr lang="en-US" altLang="zh-CN" dirty="0"/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</a:t>
            </a:r>
            <a:r>
              <a:rPr lang="zh-CN" altLang="en-US" dirty="0"/>
              <a:t>一般地，</a:t>
            </a:r>
            <a:r>
              <a:rPr lang="zh-CN" altLang="en-US" b="1" dirty="0">
                <a:solidFill>
                  <a:schemeClr val="hlink"/>
                </a:solidFill>
              </a:rPr>
              <a:t>模</a:t>
            </a:r>
            <a:r>
              <a:rPr lang="en-US" altLang="zh-CN" dirty="0">
                <a:solidFill>
                  <a:schemeClr val="hlink"/>
                </a:solidFill>
              </a:rPr>
              <a:t>k</a:t>
            </a:r>
            <a:r>
              <a:rPr lang="zh-CN" altLang="en-US" b="1" dirty="0">
                <a:solidFill>
                  <a:schemeClr val="hlink"/>
                </a:solidFill>
              </a:rPr>
              <a:t>同余类</a:t>
            </a:r>
            <a:r>
              <a:rPr lang="zh-CN" altLang="en-US" dirty="0"/>
              <a:t>为</a:t>
            </a:r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FF00FF"/>
                </a:solidFill>
              </a:rPr>
              <a:t>       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FF00FF"/>
                </a:solidFill>
              </a:rPr>
              <a:t>0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0</a:t>
            </a:r>
            <a:r>
              <a:rPr lang="zh-CN" altLang="en-US" dirty="0"/>
              <a:t>＝</a:t>
            </a:r>
            <a:r>
              <a:rPr lang="en-US" altLang="zh-CN" dirty="0" err="1"/>
              <a:t>kn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n∈I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  <a:r>
              <a:rPr lang="zh-CN" altLang="en-US" dirty="0"/>
              <a:t>＝</a:t>
            </a:r>
            <a:r>
              <a:rPr lang="en-US" altLang="zh-CN" dirty="0" err="1"/>
              <a:t>kn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n∈I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</a:t>
            </a:r>
            <a:r>
              <a:rPr lang="en-US" altLang="zh-CN" dirty="0">
                <a:latin typeface="Arial" charset="0"/>
              </a:rPr>
              <a:t>……</a:t>
            </a:r>
            <a:endParaRPr lang="en-US" altLang="zh-CN" dirty="0"/>
          </a:p>
          <a:p>
            <a:pPr eaLnBrk="1" hangingPunct="1">
              <a:lnSpc>
                <a:spcPct val="10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  </a:t>
            </a:r>
            <a:r>
              <a:rPr lang="en-US" altLang="zh-CN" dirty="0"/>
              <a:t>[</a:t>
            </a:r>
            <a:r>
              <a:rPr lang="en-US" altLang="zh-CN" dirty="0">
                <a:solidFill>
                  <a:srgbClr val="FF00FF"/>
                </a:solidFill>
              </a:rPr>
              <a:t>k</a:t>
            </a:r>
            <a:r>
              <a:rPr lang="zh-CN" altLang="en-US" dirty="0">
                <a:solidFill>
                  <a:srgbClr val="FF00FF"/>
                </a:solidFill>
              </a:rPr>
              <a:t>－</a:t>
            </a:r>
            <a:r>
              <a:rPr lang="en-US" altLang="zh-CN" dirty="0">
                <a:solidFill>
                  <a:srgbClr val="FF00FF"/>
                </a:solidFill>
              </a:rPr>
              <a:t>1</a:t>
            </a:r>
            <a:r>
              <a:rPr lang="en-US" altLang="zh-CN" dirty="0"/>
              <a:t>]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 err="1"/>
              <a:t>x︱x∈I</a:t>
            </a:r>
            <a:r>
              <a:rPr lang="en-US" altLang="zh-CN" dirty="0" err="1">
                <a:latin typeface="+mn-ea"/>
              </a:rPr>
              <a:t>,</a:t>
            </a:r>
            <a:r>
              <a:rPr lang="en-US" altLang="zh-CN" dirty="0" err="1"/>
              <a:t>x</a:t>
            </a:r>
            <a:r>
              <a:rPr lang="zh-CN" altLang="en-US" dirty="0"/>
              <a:t>－</a:t>
            </a:r>
            <a:r>
              <a:rPr lang="en-US" altLang="zh-CN" dirty="0"/>
              <a:t>(k</a:t>
            </a:r>
            <a:r>
              <a:rPr lang="zh-CN" altLang="en-US" dirty="0"/>
              <a:t>－</a:t>
            </a:r>
            <a:r>
              <a:rPr lang="en-US" altLang="zh-CN" dirty="0"/>
              <a:t>1)</a:t>
            </a:r>
            <a:r>
              <a:rPr lang="zh-CN" altLang="en-US" dirty="0"/>
              <a:t>＝</a:t>
            </a:r>
            <a:r>
              <a:rPr lang="en-US" altLang="zh-CN" dirty="0" err="1">
                <a:latin typeface="+mn-ea"/>
              </a:rPr>
              <a:t>kn,n</a:t>
            </a:r>
            <a:r>
              <a:rPr lang="en-US" altLang="zh-CN" dirty="0" err="1"/>
              <a:t>∈I</a:t>
            </a:r>
            <a:r>
              <a:rPr lang="en-US" altLang="zh-CN" dirty="0"/>
              <a:t>}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DF5087E-782D-6F1B-CEF1-71A8304077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95344" y="220326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A={1,2,…,10}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上的模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同余关系，则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[0]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={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[2]</a:t>
            </a:r>
            <a:r>
              <a:rPr lang="en-US" altLang="zh-CN" sz="2600" baseline="-25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={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}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A6D6D5B-D589-552E-D0E3-EC3570982B8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121109B-E214-EDF6-5A67-610AF06592B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C476FCFE-3B8C-1EA5-FBAA-0B7C7E857A5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53D3D793-05CE-90DB-19DA-20CEA1C5F76A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6AB42569-A080-12A4-0052-2D238F5FDB5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B566FDE7-3E04-D471-7728-868D268F0DA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BEA984C-D48B-3EA6-5BF7-5156427A3EC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6714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0609406C-9BF0-35A7-F737-1E94D0E34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630499A4-C685-9DF9-62E6-3A98CA89E3E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95288" y="1844675"/>
            <a:ext cx="3960812" cy="5013325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3.6.1</a:t>
            </a:r>
            <a:r>
              <a:rPr lang="zh-CN" altLang="en-US"/>
              <a:t>设</a:t>
            </a:r>
            <a:r>
              <a:rPr lang="en-US" altLang="zh-CN"/>
              <a:t>R</a:t>
            </a:r>
            <a:r>
              <a:rPr lang="zh-CN" altLang="en-US"/>
              <a:t>为</a:t>
            </a:r>
            <a:r>
              <a:rPr lang="en-US" altLang="zh-CN"/>
              <a:t>A</a:t>
            </a:r>
            <a:r>
              <a:rPr lang="zh-CN" altLang="en-US"/>
              <a:t>上的等价关系，对</a:t>
            </a:r>
            <a:r>
              <a:rPr lang="en-US" altLang="zh-CN"/>
              <a:t>a,b∈A</a:t>
            </a:r>
            <a:r>
              <a:rPr lang="zh-CN" altLang="en-US"/>
              <a:t>，</a:t>
            </a:r>
            <a:r>
              <a:rPr lang="en-US" altLang="zh-CN"/>
              <a:t>[a]</a:t>
            </a:r>
            <a:r>
              <a:rPr lang="en-US" altLang="zh-CN" baseline="-25000"/>
              <a:t>R</a:t>
            </a:r>
            <a:r>
              <a:rPr lang="zh-CN" altLang="en-US"/>
              <a:t>＝</a:t>
            </a:r>
            <a:r>
              <a:rPr lang="en-US" altLang="zh-CN"/>
              <a:t>[b]</a:t>
            </a:r>
            <a:r>
              <a:rPr lang="en-US" altLang="zh-CN" baseline="-25000"/>
              <a:t>R</a:t>
            </a:r>
            <a:r>
              <a:rPr lang="zh-CN" altLang="en-US"/>
              <a:t> </a:t>
            </a:r>
            <a:r>
              <a:rPr lang="en-US" altLang="zh-CN" b="1">
                <a:solidFill>
                  <a:srgbClr val="FF0000"/>
                </a:solidFill>
                <a:sym typeface="Symbol" panose="05050102010706020507" pitchFamily="18" charset="2"/>
              </a:rPr>
              <a:t></a:t>
            </a:r>
            <a:r>
              <a:rPr lang="en-US" altLang="zh-CN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/>
              <a:t>aRb</a:t>
            </a:r>
            <a:r>
              <a:rPr lang="zh-CN" altLang="en-US"/>
              <a:t>。</a:t>
            </a:r>
            <a:endParaRPr lang="zh-CN" altLang="en-US" b="1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 b="1"/>
              <a:t>   </a:t>
            </a:r>
            <a:r>
              <a:rPr lang="zh-CN" altLang="en-US" b="1">
                <a:solidFill>
                  <a:schemeClr val="hlink"/>
                </a:solidFill>
              </a:rPr>
              <a:t>证明</a:t>
            </a:r>
            <a:r>
              <a:rPr lang="zh-CN" altLang="en-US"/>
              <a:t> </a:t>
            </a:r>
            <a:r>
              <a:rPr lang="en-US" altLang="zh-CN">
                <a:solidFill>
                  <a:schemeClr val="accent1"/>
                </a:solidFill>
              </a:rPr>
              <a:t>[a]</a:t>
            </a:r>
            <a:r>
              <a:rPr lang="en-US" altLang="zh-CN" baseline="-25000">
                <a:solidFill>
                  <a:schemeClr val="accent1"/>
                </a:solidFill>
              </a:rPr>
              <a:t>R</a:t>
            </a:r>
            <a:r>
              <a:rPr lang="zh-CN" altLang="en-US">
                <a:solidFill>
                  <a:schemeClr val="accent1"/>
                </a:solidFill>
              </a:rPr>
              <a:t>＝</a:t>
            </a:r>
            <a:r>
              <a:rPr lang="en-US" altLang="zh-CN">
                <a:solidFill>
                  <a:schemeClr val="accent1"/>
                </a:solidFill>
              </a:rPr>
              <a:t>[b]</a:t>
            </a:r>
            <a:r>
              <a:rPr lang="en-US" altLang="zh-CN" baseline="-25000">
                <a:solidFill>
                  <a:schemeClr val="accent1"/>
                </a:solidFill>
              </a:rPr>
              <a:t>R</a:t>
            </a:r>
            <a:endParaRPr lang="en-US" altLang="zh-CN">
              <a:solidFill>
                <a:schemeClr val="accent1"/>
              </a:solidFill>
            </a:endParaRP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任取 </a:t>
            </a:r>
            <a:r>
              <a:rPr lang="en-US" altLang="zh-CN"/>
              <a:t>x∈[a]</a:t>
            </a:r>
            <a:r>
              <a:rPr lang="en-US" altLang="zh-CN" baseline="-25000"/>
              <a:t>R</a:t>
            </a:r>
            <a:r>
              <a:rPr lang="zh-CN" altLang="en-US"/>
              <a:t>＝</a:t>
            </a:r>
            <a:r>
              <a:rPr lang="en-US" altLang="zh-CN"/>
              <a:t>[b]</a:t>
            </a:r>
            <a:r>
              <a:rPr lang="en-US" altLang="zh-CN" baseline="-25000"/>
              <a:t>R</a:t>
            </a:r>
            <a:endParaRPr lang="en-US" altLang="zh-CN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则 </a:t>
            </a:r>
            <a:r>
              <a:rPr lang="en-US" altLang="zh-CN"/>
              <a:t>aRx</a:t>
            </a:r>
            <a:r>
              <a:rPr lang="zh-CN" altLang="en-US"/>
              <a:t>且</a:t>
            </a:r>
            <a:r>
              <a:rPr lang="en-US" altLang="zh-CN"/>
              <a:t>xRb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又</a:t>
            </a:r>
            <a:r>
              <a:rPr lang="en-US" altLang="zh-CN"/>
              <a:t>R</a:t>
            </a:r>
            <a:r>
              <a:rPr lang="zh-CN" altLang="en-US"/>
              <a:t>传递关系   </a:t>
            </a:r>
            <a:endParaRPr lang="en-US" altLang="zh-CN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FF"/>
                </a:solidFill>
              </a:rPr>
              <a:t>   </a:t>
            </a:r>
            <a:r>
              <a:rPr lang="en-US" altLang="zh-CN">
                <a:solidFill>
                  <a:schemeClr val="accent1"/>
                </a:solidFill>
              </a:rPr>
              <a:t>aRb</a:t>
            </a:r>
            <a:r>
              <a:rPr lang="en-US" altLang="zh-CN"/>
              <a:t> </a:t>
            </a:r>
          </a:p>
        </p:txBody>
      </p:sp>
      <p:sp>
        <p:nvSpPr>
          <p:cNvPr id="20484" name="内容占位符 1">
            <a:extLst>
              <a:ext uri="{FF2B5EF4-FFF2-40B4-BE49-F238E27FC236}">
                <a16:creationId xmlns:a16="http://schemas.microsoft.com/office/drawing/2014/main" id="{85E4E7ED-E9DD-BA14-3EB5-A740D020605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4787900" y="1773238"/>
            <a:ext cx="4211638" cy="5013325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00FF"/>
                </a:solidFill>
              </a:rPr>
              <a:t>aRb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任取</a:t>
            </a:r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en-US" altLang="zh-CN"/>
              <a:t>∈[a]</a:t>
            </a:r>
            <a:r>
              <a:rPr lang="en-US" altLang="zh-CN" baseline="-25000"/>
              <a:t>R</a:t>
            </a:r>
            <a:r>
              <a:rPr lang="zh-CN" altLang="en-US"/>
              <a:t>，则</a:t>
            </a:r>
            <a:r>
              <a:rPr lang="en-US" altLang="zh-CN"/>
              <a:t>xRa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又</a:t>
            </a:r>
            <a:r>
              <a:rPr lang="en-US" altLang="zh-CN"/>
              <a:t>aRb</a:t>
            </a:r>
            <a:r>
              <a:rPr lang="zh-CN" altLang="en-US"/>
              <a:t>，</a:t>
            </a:r>
            <a:r>
              <a:rPr lang="en-US" altLang="zh-CN"/>
              <a:t>R</a:t>
            </a:r>
            <a:r>
              <a:rPr lang="zh-CN" altLang="en-US"/>
              <a:t>传递关系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所以</a:t>
            </a:r>
            <a:r>
              <a:rPr lang="en-US" altLang="zh-CN"/>
              <a:t>xRb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于是</a:t>
            </a:r>
            <a:r>
              <a:rPr lang="en-US" altLang="zh-CN">
                <a:solidFill>
                  <a:schemeClr val="accent1"/>
                </a:solidFill>
              </a:rPr>
              <a:t>x</a:t>
            </a:r>
            <a:r>
              <a:rPr lang="en-US" altLang="zh-CN"/>
              <a:t>∈[b]</a:t>
            </a:r>
            <a:r>
              <a:rPr lang="en-US" altLang="zh-CN" baseline="-25000"/>
              <a:t>R</a:t>
            </a: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从而</a:t>
            </a:r>
            <a:r>
              <a:rPr lang="en-US" altLang="zh-CN"/>
              <a:t>[a]</a:t>
            </a:r>
            <a:r>
              <a:rPr lang="en-US" altLang="zh-CN" baseline="-25000"/>
              <a:t>R     </a:t>
            </a:r>
            <a:r>
              <a:rPr lang="en-US" altLang="zh-CN"/>
              <a:t>[b]</a:t>
            </a:r>
            <a:r>
              <a:rPr lang="en-US" altLang="zh-CN" baseline="-25000"/>
              <a:t>R</a:t>
            </a: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/>
              <a:t>同理</a:t>
            </a:r>
            <a:r>
              <a:rPr lang="en-US" altLang="zh-CN"/>
              <a:t>[b]</a:t>
            </a:r>
            <a:r>
              <a:rPr lang="en-US" altLang="zh-CN" baseline="-25000"/>
              <a:t>R     </a:t>
            </a:r>
            <a:r>
              <a:rPr lang="en-US" altLang="zh-CN"/>
              <a:t>[a]</a:t>
            </a:r>
            <a:r>
              <a:rPr lang="en-US" altLang="zh-CN" baseline="-25000"/>
              <a:t>R</a:t>
            </a:r>
            <a:endParaRPr lang="en-US" altLang="zh-CN"/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en-US" altLang="zh-CN">
                <a:solidFill>
                  <a:srgbClr val="FF00FF"/>
                </a:solidFill>
              </a:rPr>
              <a:t>[a]</a:t>
            </a:r>
            <a:r>
              <a:rPr lang="en-US" altLang="zh-CN" baseline="-25000">
                <a:solidFill>
                  <a:srgbClr val="FF00FF"/>
                </a:solidFill>
              </a:rPr>
              <a:t>R</a:t>
            </a:r>
            <a:r>
              <a:rPr lang="zh-CN" altLang="en-US">
                <a:solidFill>
                  <a:srgbClr val="FF00FF"/>
                </a:solidFill>
              </a:rPr>
              <a:t>＝</a:t>
            </a:r>
            <a:r>
              <a:rPr lang="en-US" altLang="zh-CN">
                <a:solidFill>
                  <a:srgbClr val="FF00FF"/>
                </a:solidFill>
              </a:rPr>
              <a:t>[b]</a:t>
            </a:r>
            <a:r>
              <a:rPr lang="en-US" altLang="zh-CN" baseline="-25000">
                <a:solidFill>
                  <a:srgbClr val="FF00FF"/>
                </a:solidFill>
              </a:rPr>
              <a:t>R</a:t>
            </a:r>
            <a:r>
              <a:rPr lang="en-US" altLang="zh-CN"/>
              <a:t> </a:t>
            </a:r>
          </a:p>
          <a:p>
            <a:endParaRPr lang="zh-CN" altLang="en-US"/>
          </a:p>
        </p:txBody>
      </p:sp>
      <p:graphicFrame>
        <p:nvGraphicFramePr>
          <p:cNvPr id="20485" name="对象 2">
            <a:extLst>
              <a:ext uri="{FF2B5EF4-FFF2-40B4-BE49-F238E27FC236}">
                <a16:creationId xmlns:a16="http://schemas.microsoft.com/office/drawing/2014/main" id="{C64536DB-6B05-FFE2-F559-487F1FA3B0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511968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68" imgH="152268" progId="Equation.DSMT4">
                  <p:embed/>
                </p:oleObj>
              </mc:Choice>
              <mc:Fallback>
                <p:oleObj name="Equation" r:id="rId2" imgW="152268" imgH="15226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11968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对象 3">
            <a:extLst>
              <a:ext uri="{FF2B5EF4-FFF2-40B4-BE49-F238E27FC236}">
                <a16:creationId xmlns:a16="http://schemas.microsoft.com/office/drawing/2014/main" id="{8DE9BD9E-152F-54B6-DCE3-2708817050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576738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576738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A81B1356-E28A-E4E1-0967-661B0ED23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3.6.2 </a:t>
            </a:r>
            <a:r>
              <a:rPr lang="zh-CN" altLang="en-US" sz="4800" b="1"/>
              <a:t>等价类与商集</a:t>
            </a:r>
          </a:p>
        </p:txBody>
      </p:sp>
      <p:sp>
        <p:nvSpPr>
          <p:cNvPr id="17411" name="Rectangle 5">
            <a:extLst>
              <a:ext uri="{FF2B5EF4-FFF2-40B4-BE49-F238E27FC236}">
                <a16:creationId xmlns:a16="http://schemas.microsoft.com/office/drawing/2014/main" id="{0C7C53CE-3DED-6C8F-21ED-DCEE4149160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68313" y="1844675"/>
            <a:ext cx="4176712" cy="501332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3.6.2</a:t>
            </a:r>
            <a:r>
              <a:rPr lang="zh-CN" altLang="en-US" dirty="0"/>
              <a:t>设</a:t>
            </a:r>
            <a:r>
              <a:rPr lang="en-US" altLang="zh-CN" dirty="0"/>
              <a:t>R</a:t>
            </a:r>
            <a:r>
              <a:rPr lang="zh-CN" altLang="en-US" dirty="0"/>
              <a:t>为</a:t>
            </a:r>
            <a:r>
              <a:rPr lang="en-US" altLang="zh-CN" dirty="0"/>
              <a:t>A</a:t>
            </a:r>
            <a:r>
              <a:rPr lang="zh-CN" altLang="en-US" dirty="0"/>
              <a:t>上的等价关系，对</a:t>
            </a:r>
            <a:r>
              <a:rPr lang="en-US" altLang="zh-CN" dirty="0" err="1"/>
              <a:t>a,b∈A</a:t>
            </a:r>
            <a:r>
              <a:rPr lang="zh-CN" altLang="en-US" dirty="0"/>
              <a:t>，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/>
              <a:t>∩[b]</a:t>
            </a:r>
            <a:r>
              <a:rPr lang="en-US" altLang="zh-CN" baseline="-25000" dirty="0"/>
              <a:t>R</a:t>
            </a:r>
            <a:r>
              <a:rPr lang="zh-CN" altLang="en-US" dirty="0"/>
              <a:t>＝   </a:t>
            </a:r>
            <a:r>
              <a:rPr lang="en-US" altLang="zh-CN" b="1" dirty="0">
                <a:solidFill>
                  <a:srgbClr val="FF0000"/>
                </a:solidFill>
                <a:sym typeface="Symbol" pitchFamily="18" charset="2"/>
              </a:rPr>
              <a:t> </a:t>
            </a:r>
            <a:r>
              <a:rPr lang="en-US" altLang="zh-CN" dirty="0"/>
              <a:t>a   b</a:t>
            </a:r>
            <a:endParaRPr lang="zh-CN" altLang="en-US" b="1" dirty="0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   证明</a:t>
            </a:r>
            <a:r>
              <a:rPr lang="en-US" altLang="zh-CN" dirty="0">
                <a:solidFill>
                  <a:schemeClr val="accent1"/>
                </a:solidFill>
              </a:rPr>
              <a:t>[a]</a:t>
            </a:r>
            <a:r>
              <a:rPr lang="en-US" altLang="zh-CN" baseline="-25000" dirty="0">
                <a:solidFill>
                  <a:schemeClr val="accent1"/>
                </a:solidFill>
              </a:rPr>
              <a:t>R</a:t>
            </a:r>
            <a:r>
              <a:rPr lang="en-US" altLang="zh-CN" dirty="0">
                <a:solidFill>
                  <a:schemeClr val="accent1"/>
                </a:solidFill>
              </a:rPr>
              <a:t>∩[b]</a:t>
            </a:r>
            <a:r>
              <a:rPr lang="en-US" altLang="zh-CN" baseline="-25000" dirty="0">
                <a:solidFill>
                  <a:schemeClr val="accent1"/>
                </a:solidFill>
              </a:rPr>
              <a:t>R</a:t>
            </a:r>
            <a:r>
              <a:rPr lang="zh-CN" altLang="en-US" dirty="0">
                <a:solidFill>
                  <a:schemeClr val="accent1"/>
                </a:solidFill>
              </a:rPr>
              <a:t>＝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假设</a:t>
            </a:r>
            <a:r>
              <a:rPr lang="en-US" altLang="zh-CN" dirty="0" err="1"/>
              <a:t>aRb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/>
              <a:t>则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[b]</a:t>
            </a:r>
            <a:r>
              <a:rPr lang="en-US" altLang="zh-CN" baseline="-25000" dirty="0"/>
              <a:t>R</a:t>
            </a:r>
            <a:endParaRPr lang="en-US" altLang="zh-CN" dirty="0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又</a:t>
            </a:r>
            <a:r>
              <a:rPr lang="en-US" altLang="zh-CN" dirty="0"/>
              <a:t>a∈[a]</a:t>
            </a:r>
            <a:r>
              <a:rPr lang="en-US" altLang="zh-CN" baseline="-25000" dirty="0"/>
              <a:t>R</a:t>
            </a:r>
            <a:r>
              <a:rPr lang="zh-CN" altLang="en-US" dirty="0"/>
              <a:t>且</a:t>
            </a:r>
            <a:r>
              <a:rPr lang="en-US" altLang="zh-CN" dirty="0"/>
              <a:t>b∈[b]</a:t>
            </a:r>
            <a:r>
              <a:rPr lang="en-US" altLang="zh-CN" baseline="-25000" dirty="0"/>
              <a:t>R</a:t>
            </a:r>
            <a:endParaRPr lang="en-US" altLang="zh-CN" dirty="0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r>
              <a:rPr lang="zh-CN" altLang="en-US" dirty="0"/>
              <a:t>故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/>
              <a:t>∩[b]</a:t>
            </a:r>
            <a:r>
              <a:rPr lang="en-US" altLang="zh-CN" baseline="-25000" dirty="0"/>
              <a:t>R</a:t>
            </a:r>
            <a:r>
              <a:rPr lang="en-US" altLang="zh-CN" dirty="0"/>
              <a:t>≠   </a:t>
            </a:r>
            <a:r>
              <a:rPr lang="zh-CN" altLang="en-US" dirty="0">
                <a:solidFill>
                  <a:srgbClr val="FF0000"/>
                </a:solidFill>
              </a:rPr>
              <a:t>矛盾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</a:t>
            </a:r>
            <a:r>
              <a:rPr lang="en-US" altLang="zh-CN" dirty="0">
                <a:solidFill>
                  <a:schemeClr val="accent1"/>
                </a:solidFill>
              </a:rPr>
              <a:t>a   b</a:t>
            </a:r>
            <a:r>
              <a:rPr lang="en-US" altLang="zh-CN" dirty="0"/>
              <a:t> </a:t>
            </a:r>
          </a:p>
        </p:txBody>
      </p:sp>
      <p:sp>
        <p:nvSpPr>
          <p:cNvPr id="21508" name="内容占位符 1">
            <a:extLst>
              <a:ext uri="{FF2B5EF4-FFF2-40B4-BE49-F238E27FC236}">
                <a16:creationId xmlns:a16="http://schemas.microsoft.com/office/drawing/2014/main" id="{DB8A6A6C-E375-B622-DEAD-7126F1BC3D4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003800" y="1800225"/>
            <a:ext cx="3998913" cy="5013325"/>
          </a:xfrm>
        </p:spPr>
        <p:txBody>
          <a:bodyPr/>
          <a:lstStyle/>
          <a:p>
            <a:pPr eaLnBrk="1" hangingPunct="1">
              <a:lnSpc>
                <a:spcPct val="135000"/>
              </a:lnSpc>
            </a:pPr>
            <a:r>
              <a:rPr lang="en-US" altLang="zh-CN">
                <a:solidFill>
                  <a:schemeClr val="accent1"/>
                </a:solidFill>
              </a:rPr>
              <a:t>a   b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假设</a:t>
            </a:r>
            <a:r>
              <a:rPr lang="en-US" altLang="zh-CN"/>
              <a:t>[a]</a:t>
            </a:r>
            <a:r>
              <a:rPr lang="en-US" altLang="zh-CN" baseline="-25000"/>
              <a:t>R</a:t>
            </a:r>
            <a:r>
              <a:rPr lang="en-US" altLang="zh-CN"/>
              <a:t>∩[b]</a:t>
            </a:r>
            <a:r>
              <a:rPr lang="en-US" altLang="zh-CN" baseline="-25000"/>
              <a:t>R</a:t>
            </a:r>
            <a:r>
              <a:rPr lang="en-US" altLang="zh-CN"/>
              <a:t>≠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设</a:t>
            </a:r>
            <a:r>
              <a:rPr lang="en-US" altLang="zh-CN"/>
              <a:t>x∈[a]</a:t>
            </a:r>
            <a:r>
              <a:rPr lang="en-US" altLang="zh-CN" baseline="-25000"/>
              <a:t>R</a:t>
            </a:r>
            <a:r>
              <a:rPr lang="zh-CN" altLang="en-US"/>
              <a:t>且</a:t>
            </a:r>
            <a:r>
              <a:rPr lang="en-US" altLang="zh-CN"/>
              <a:t>x∈[b]</a:t>
            </a:r>
            <a:r>
              <a:rPr lang="en-US" altLang="zh-CN" baseline="-25000"/>
              <a:t>R</a:t>
            </a:r>
            <a:endParaRPr lang="en-US" altLang="zh-CN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则</a:t>
            </a:r>
            <a:r>
              <a:rPr lang="en-US" altLang="zh-CN"/>
              <a:t>aRx</a:t>
            </a:r>
            <a:r>
              <a:rPr lang="zh-CN" altLang="en-US"/>
              <a:t>且</a:t>
            </a:r>
            <a:r>
              <a:rPr lang="en-US" altLang="zh-CN"/>
              <a:t>xRb</a:t>
            </a:r>
            <a:endParaRPr lang="zh-CN" altLang="en-US"/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又</a:t>
            </a:r>
            <a:r>
              <a:rPr lang="en-US" altLang="zh-CN"/>
              <a:t>R</a:t>
            </a:r>
            <a:r>
              <a:rPr lang="zh-CN" altLang="en-US"/>
              <a:t>传递关系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于是</a:t>
            </a:r>
            <a:r>
              <a:rPr lang="en-US" altLang="zh-CN"/>
              <a:t>aRb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FF"/>
                </a:solidFill>
              </a:rPr>
              <a:t>矛盾</a:t>
            </a:r>
          </a:p>
          <a:p>
            <a:pPr eaLnBrk="1" hangingPunct="1">
              <a:lnSpc>
                <a:spcPct val="135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zh-CN" altLang="en-US">
                <a:solidFill>
                  <a:schemeClr val="accent1"/>
                </a:solidFill>
              </a:rPr>
              <a:t>即</a:t>
            </a:r>
            <a:r>
              <a:rPr lang="en-US" altLang="zh-CN">
                <a:solidFill>
                  <a:schemeClr val="accent1"/>
                </a:solidFill>
              </a:rPr>
              <a:t>[a]</a:t>
            </a:r>
            <a:r>
              <a:rPr lang="en-US" altLang="zh-CN" baseline="-25000">
                <a:solidFill>
                  <a:schemeClr val="accent1"/>
                </a:solidFill>
              </a:rPr>
              <a:t>R</a:t>
            </a:r>
            <a:r>
              <a:rPr lang="en-US" altLang="zh-CN">
                <a:solidFill>
                  <a:schemeClr val="accent1"/>
                </a:solidFill>
              </a:rPr>
              <a:t>∩[b]</a:t>
            </a:r>
            <a:r>
              <a:rPr lang="en-US" altLang="zh-CN" baseline="-25000">
                <a:solidFill>
                  <a:schemeClr val="accent1"/>
                </a:solidFill>
              </a:rPr>
              <a:t>R</a:t>
            </a:r>
            <a:r>
              <a:rPr lang="zh-CN" altLang="en-US">
                <a:solidFill>
                  <a:schemeClr val="accent1"/>
                </a:solidFill>
              </a:rPr>
              <a:t>＝ </a:t>
            </a:r>
          </a:p>
        </p:txBody>
      </p:sp>
      <p:graphicFrame>
        <p:nvGraphicFramePr>
          <p:cNvPr id="21509" name="Object 7">
            <a:extLst>
              <a:ext uri="{FF2B5EF4-FFF2-40B4-BE49-F238E27FC236}">
                <a16:creationId xmlns:a16="http://schemas.microsoft.com/office/drawing/2014/main" id="{D1BB9E18-70C0-9E21-D5DB-B9B45B6390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4475" y="3124200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3124200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8">
            <a:extLst>
              <a:ext uri="{FF2B5EF4-FFF2-40B4-BE49-F238E27FC236}">
                <a16:creationId xmlns:a16="http://schemas.microsoft.com/office/drawing/2014/main" id="{9B3FF6E7-02D3-CB57-EF25-64E5D04C5C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71875" y="3784600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784600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10">
            <a:extLst>
              <a:ext uri="{FF2B5EF4-FFF2-40B4-BE49-F238E27FC236}">
                <a16:creationId xmlns:a16="http://schemas.microsoft.com/office/drawing/2014/main" id="{68E68472-3EB5-DCB3-6512-99BC07DC8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5780088"/>
          <a:ext cx="4159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5780088"/>
                        <a:ext cx="4159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2">
            <a:extLst>
              <a:ext uri="{FF2B5EF4-FFF2-40B4-BE49-F238E27FC236}">
                <a16:creationId xmlns:a16="http://schemas.microsoft.com/office/drawing/2014/main" id="{A685B796-EC2A-0D36-C7CE-B19B4EC8E7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2538" y="3097213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334" imgH="190417" progId="Equation.DSMT4">
                  <p:embed/>
                </p:oleObj>
              </mc:Choice>
              <mc:Fallback>
                <p:oleObj name="Equation" r:id="rId8" imgW="152334" imgH="19041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3097213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13">
            <a:extLst>
              <a:ext uri="{FF2B5EF4-FFF2-40B4-BE49-F238E27FC236}">
                <a16:creationId xmlns:a16="http://schemas.microsoft.com/office/drawing/2014/main" id="{52635552-C8FD-D924-3866-D7AA3BEC89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6383338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334" imgH="190417" progId="Equation.DSMT4">
                  <p:embed/>
                </p:oleObj>
              </mc:Choice>
              <mc:Fallback>
                <p:oleObj name="Equation" r:id="rId10" imgW="152334" imgH="190417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383338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对象 2">
            <a:extLst>
              <a:ext uri="{FF2B5EF4-FFF2-40B4-BE49-F238E27FC236}">
                <a16:creationId xmlns:a16="http://schemas.microsoft.com/office/drawing/2014/main" id="{B617E5A7-0EAB-2E8B-9139-296E1D0EC8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57375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334" imgH="190417" progId="Equation.DSMT4">
                  <p:embed/>
                </p:oleObj>
              </mc:Choice>
              <mc:Fallback>
                <p:oleObj name="Equation" r:id="rId12" imgW="152334" imgH="190417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57375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对象 3">
            <a:extLst>
              <a:ext uri="{FF2B5EF4-FFF2-40B4-BE49-F238E27FC236}">
                <a16:creationId xmlns:a16="http://schemas.microsoft.com/office/drawing/2014/main" id="{EECD99D2-9F15-89B4-1810-7551AD3D09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8313" y="2586038"/>
          <a:ext cx="417512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14" imgH="177492" progId="Equation.DSMT4">
                  <p:embed/>
                </p:oleObj>
              </mc:Choice>
              <mc:Fallback>
                <p:oleObj name="Equation" r:id="rId13" imgW="164814" imgH="17749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313" y="2586038"/>
                        <a:ext cx="417512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对象 4">
            <a:extLst>
              <a:ext uri="{FF2B5EF4-FFF2-40B4-BE49-F238E27FC236}">
                <a16:creationId xmlns:a16="http://schemas.microsoft.com/office/drawing/2014/main" id="{30E23B95-50F5-C37B-9EAC-0369E4EA82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2725" y="5899150"/>
          <a:ext cx="4159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14" imgH="177492" progId="Equation.DSMT4">
                  <p:embed/>
                </p:oleObj>
              </mc:Choice>
              <mc:Fallback>
                <p:oleObj name="Equation" r:id="rId15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2725" y="5899150"/>
                        <a:ext cx="4159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3A605BC6-9C26-0793-B121-DDD924388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3.6.3 </a:t>
            </a:r>
            <a:r>
              <a:rPr lang="zh-CN" altLang="en-US" b="1"/>
              <a:t>划分的概念</a:t>
            </a:r>
            <a:r>
              <a:rPr lang="zh-CN" altLang="en-US"/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9CA515-A461-C473-A7C8-7F97B8050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844675"/>
            <a:ext cx="8820150" cy="5013325"/>
          </a:xfrm>
        </p:spPr>
        <p:txBody>
          <a:bodyPr/>
          <a:lstStyle/>
          <a:p>
            <a:pPr>
              <a:lnSpc>
                <a:spcPct val="153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问题</a:t>
            </a:r>
            <a:r>
              <a:rPr lang="zh-CN" altLang="en-US" dirty="0">
                <a:solidFill>
                  <a:srgbClr val="000000"/>
                </a:solidFill>
              </a:rPr>
              <a:t>：设六同学集合</a:t>
            </a:r>
            <a:r>
              <a:rPr lang="en-US" altLang="zh-CN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{1,2,3,4,5,6}</a:t>
            </a:r>
            <a:r>
              <a:rPr lang="zh-CN" altLang="en-US" dirty="0">
                <a:solidFill>
                  <a:srgbClr val="000000"/>
                </a:solidFill>
              </a:rPr>
              <a:t>，这六位同学</a:t>
            </a:r>
            <a:r>
              <a:rPr lang="zh-CN" altLang="en-US" dirty="0">
                <a:solidFill>
                  <a:srgbClr val="00B050"/>
                </a:solidFill>
              </a:rPr>
              <a:t>住宿在</a:t>
            </a:r>
            <a:r>
              <a:rPr lang="zh-CN" altLang="en-US" dirty="0">
                <a:solidFill>
                  <a:srgbClr val="000000"/>
                </a:solidFill>
              </a:rPr>
              <a:t>同一公寓的</a:t>
            </a:r>
            <a:r>
              <a:rPr lang="zh-CN" altLang="en-US" b="1" dirty="0">
                <a:solidFill>
                  <a:srgbClr val="FF00FF"/>
                </a:solidFill>
              </a:rPr>
              <a:t>等价关系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lnSpc>
                <a:spcPct val="153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</a:t>
            </a:r>
            <a:r>
              <a:rPr lang="en-US" altLang="zh-CN" sz="2800" dirty="0">
                <a:solidFill>
                  <a:srgbClr val="000000"/>
                </a:solidFill>
              </a:rPr>
              <a:t>R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FF0000"/>
                </a:solidFill>
              </a:rPr>
              <a:t>{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1,2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2,1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2,2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3,3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4,5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</a:p>
          <a:p>
            <a:pPr marL="0" indent="0">
              <a:lnSpc>
                <a:spcPct val="153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     &lt;</a:t>
            </a:r>
            <a:r>
              <a:rPr lang="en-US" altLang="zh-CN" sz="2800" dirty="0"/>
              <a:t>4,6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5,4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5,5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5,6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6,4</a:t>
            </a:r>
            <a:r>
              <a:rPr lang="en-US" altLang="zh-CN" sz="2800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6,5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latin typeface="宋体"/>
              </a:rPr>
              <a:t>,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/>
              <a:t>6,6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>
                <a:solidFill>
                  <a:srgbClr val="FF0000"/>
                </a:solidFill>
              </a:rPr>
              <a:t>}</a:t>
            </a:r>
            <a:r>
              <a:rPr lang="en-US" altLang="zh-CN" sz="2800" dirty="0"/>
              <a:t> </a:t>
            </a:r>
          </a:p>
          <a:p>
            <a:pPr>
              <a:lnSpc>
                <a:spcPct val="153000"/>
              </a:lnSpc>
              <a:defRPr/>
            </a:pP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1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2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{1,2}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3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{3}</a:t>
            </a:r>
            <a:r>
              <a:rPr lang="zh-CN" altLang="en-US" sz="2800" dirty="0">
                <a:solidFill>
                  <a:srgbClr val="000000"/>
                </a:solidFill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4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5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[</a:t>
            </a:r>
            <a:r>
              <a:rPr lang="en-US" altLang="zh-CN" sz="2800" dirty="0">
                <a:solidFill>
                  <a:srgbClr val="FF0000"/>
                </a:solidFill>
              </a:rPr>
              <a:t>6</a:t>
            </a:r>
            <a:r>
              <a:rPr lang="en-US" altLang="zh-CN" sz="2800" dirty="0">
                <a:solidFill>
                  <a:srgbClr val="000000"/>
                </a:solidFill>
              </a:rPr>
              <a:t>]</a:t>
            </a:r>
            <a:r>
              <a:rPr lang="zh-CN" altLang="en-US" sz="2800" dirty="0">
                <a:solidFill>
                  <a:srgbClr val="000000"/>
                </a:solidFill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</a:rPr>
              <a:t>{4,5,6}.</a:t>
            </a:r>
          </a:p>
          <a:p>
            <a:pPr eaLnBrk="1" hangingPunct="1">
              <a:lnSpc>
                <a:spcPct val="153000"/>
              </a:lnSpc>
              <a:buClr>
                <a:srgbClr val="3333CC"/>
              </a:buClr>
              <a:defRPr/>
            </a:pP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zh-CN" altLang="en-US" dirty="0">
                <a:solidFill>
                  <a:srgbClr val="FF00FF"/>
                </a:solidFill>
              </a:rPr>
              <a:t>／</a:t>
            </a:r>
            <a:r>
              <a:rPr lang="en-US" altLang="zh-CN" dirty="0">
                <a:solidFill>
                  <a:srgbClr val="FF00FF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b="1" dirty="0">
                <a:solidFill>
                  <a:srgbClr val="00B050"/>
                </a:solidFill>
              </a:rPr>
              <a:t>{</a:t>
            </a:r>
            <a:r>
              <a:rPr lang="en-US" altLang="zh-CN" dirty="0">
                <a:solidFill>
                  <a:srgbClr val="000000"/>
                </a:solidFill>
              </a:rPr>
              <a:t>{1,2}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{3}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en-US" altLang="zh-CN" dirty="0">
                <a:solidFill>
                  <a:srgbClr val="000000"/>
                </a:solidFill>
              </a:rPr>
              <a:t>{4,5,6}</a:t>
            </a:r>
            <a:r>
              <a:rPr lang="en-US" altLang="zh-CN" b="1" dirty="0">
                <a:solidFill>
                  <a:srgbClr val="00B050"/>
                </a:solidFill>
              </a:rPr>
              <a:t>}</a:t>
            </a:r>
          </a:p>
          <a:p>
            <a:pPr marL="0" indent="0" eaLnBrk="1" hangingPunct="1">
              <a:lnSpc>
                <a:spcPct val="15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en-US" altLang="zh-CN" dirty="0">
              <a:solidFill>
                <a:srgbClr val="00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E54AD99-898C-247D-1FED-5A4A4FF4F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3.6.3 </a:t>
            </a:r>
            <a:r>
              <a:rPr lang="zh-CN" altLang="en-US" sz="4800"/>
              <a:t>划分的概念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3B02FF78-8635-FB3E-0C97-BC755AA259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989138"/>
            <a:ext cx="8569325" cy="489585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定义</a:t>
            </a:r>
            <a:r>
              <a:rPr lang="en-US" altLang="zh-CN" dirty="0">
                <a:solidFill>
                  <a:schemeClr val="hlink"/>
                </a:solidFill>
              </a:rPr>
              <a:t>3.6.3</a:t>
            </a:r>
            <a:r>
              <a:rPr lang="zh-CN" altLang="en-US" dirty="0"/>
              <a:t>设非空集合</a:t>
            </a:r>
            <a:r>
              <a:rPr lang="en-US" altLang="zh-CN" dirty="0"/>
              <a:t>A</a:t>
            </a:r>
            <a:r>
              <a:rPr lang="zh-CN" altLang="en-US" dirty="0"/>
              <a:t>，若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满足</a:t>
            </a:r>
            <a:r>
              <a:rPr lang="en-US" altLang="zh-CN" dirty="0"/>
              <a:t>:(</a:t>
            </a:r>
            <a:r>
              <a:rPr lang="en-US" altLang="zh-CN" dirty="0">
                <a:solidFill>
                  <a:schemeClr val="accent1"/>
                </a:solidFill>
              </a:rPr>
              <a:t>1</a:t>
            </a:r>
            <a:r>
              <a:rPr lang="en-US" altLang="zh-CN" dirty="0"/>
              <a:t>) S</a:t>
            </a:r>
            <a:r>
              <a:rPr lang="en-US" altLang="zh-CN" baseline="-25000" dirty="0"/>
              <a:t>i    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en-US" altLang="zh-CN" baseline="-25000" dirty="0"/>
              <a:t>i</a:t>
            </a:r>
            <a:r>
              <a:rPr lang="en-US" altLang="zh-CN" dirty="0"/>
              <a:t>≠   (i</a:t>
            </a:r>
            <a:r>
              <a:rPr lang="zh-CN" altLang="en-US" dirty="0"/>
              <a:t>＝</a:t>
            </a:r>
            <a:r>
              <a:rPr lang="en-US" altLang="zh-CN" dirty="0"/>
              <a:t>1,2,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,n)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(</a:t>
            </a:r>
            <a:r>
              <a:rPr lang="en-US" altLang="zh-CN" dirty="0">
                <a:solidFill>
                  <a:srgbClr val="FF00FF"/>
                </a:solidFill>
              </a:rPr>
              <a:t>2</a:t>
            </a:r>
            <a:r>
              <a:rPr lang="en-US" altLang="zh-CN" dirty="0"/>
              <a:t>) 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i</a:t>
            </a:r>
            <a:r>
              <a:rPr lang="en-US" altLang="zh-CN" dirty="0" err="1"/>
              <a:t>∩S</a:t>
            </a:r>
            <a:r>
              <a:rPr lang="en-US" altLang="zh-CN" baseline="-25000" dirty="0" err="1"/>
              <a:t>i</a:t>
            </a:r>
            <a:r>
              <a:rPr lang="zh-CN" altLang="en-US" dirty="0"/>
              <a:t>＝   </a:t>
            </a:r>
            <a:r>
              <a:rPr lang="en-US" altLang="zh-CN" dirty="0"/>
              <a:t>(</a:t>
            </a:r>
            <a:r>
              <a:rPr lang="en-US" altLang="zh-CN" dirty="0" err="1"/>
              <a:t>i≠j</a:t>
            </a:r>
            <a:r>
              <a:rPr lang="zh-CN" altLang="en-US" dirty="0"/>
              <a:t>，</a:t>
            </a:r>
            <a:r>
              <a:rPr lang="en-US" altLang="zh-CN" dirty="0" err="1"/>
              <a:t>i,j</a:t>
            </a:r>
            <a:r>
              <a:rPr lang="zh-CN" altLang="en-US" dirty="0"/>
              <a:t>＝</a:t>
            </a:r>
            <a:r>
              <a:rPr lang="en-US" altLang="zh-CN" dirty="0"/>
              <a:t>1,2,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,n)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(</a:t>
            </a:r>
            <a:r>
              <a:rPr lang="en-US" altLang="zh-CN" dirty="0">
                <a:solidFill>
                  <a:schemeClr val="accent1"/>
                </a:solidFill>
              </a:rPr>
              <a:t>3</a:t>
            </a:r>
            <a:r>
              <a:rPr lang="en-US" altLang="zh-CN" dirty="0"/>
              <a:t>) S</a:t>
            </a:r>
            <a:r>
              <a:rPr lang="en-US" altLang="zh-CN" baseline="-25000" dirty="0"/>
              <a:t>1</a:t>
            </a:r>
            <a:r>
              <a:rPr lang="en-US" altLang="zh-CN" dirty="0"/>
              <a:t>∪S</a:t>
            </a:r>
            <a:r>
              <a:rPr lang="en-US" altLang="zh-CN" baseline="-25000" dirty="0"/>
              <a:t>2</a:t>
            </a:r>
            <a:r>
              <a:rPr lang="en-US" altLang="zh-CN" dirty="0"/>
              <a:t>∪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∪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zh-CN" altLang="en-US" dirty="0"/>
              <a:t>＝</a:t>
            </a:r>
            <a:r>
              <a:rPr lang="en-US" altLang="zh-CN" dirty="0"/>
              <a:t>A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则称集合</a:t>
            </a:r>
            <a:r>
              <a:rPr lang="en-US" altLang="zh-CN" dirty="0"/>
              <a:t>S</a:t>
            </a:r>
            <a:r>
              <a:rPr lang="zh-CN" altLang="en-US" dirty="0"/>
              <a:t>为集合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b="1" dirty="0">
                <a:solidFill>
                  <a:schemeClr val="hlink"/>
                </a:solidFill>
              </a:rPr>
              <a:t>划分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hlink"/>
                </a:solidFill>
              </a:rPr>
              <a:t>partition</a:t>
            </a:r>
            <a:r>
              <a:rPr lang="en-US" altLang="zh-CN" dirty="0"/>
              <a:t>)</a:t>
            </a:r>
            <a:r>
              <a:rPr lang="zh-CN" altLang="en-US" dirty="0"/>
              <a:t>，其中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S</a:t>
            </a:r>
            <a:r>
              <a:rPr lang="en-US" altLang="zh-CN" baseline="-25000" dirty="0"/>
              <a:t>i</a:t>
            </a:r>
            <a:r>
              <a:rPr lang="en-US" altLang="zh-CN" dirty="0"/>
              <a:t>(i</a:t>
            </a:r>
            <a:r>
              <a:rPr lang="zh-CN" altLang="en-US" dirty="0"/>
              <a:t>＝</a:t>
            </a:r>
            <a:r>
              <a:rPr lang="en-US" altLang="zh-CN" dirty="0"/>
              <a:t>1,2,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,n)</a:t>
            </a:r>
            <a:r>
              <a:rPr lang="zh-CN" altLang="en-US" dirty="0"/>
              <a:t>称为该划分的</a:t>
            </a:r>
            <a:r>
              <a:rPr lang="zh-CN" altLang="en-US" b="1" dirty="0">
                <a:solidFill>
                  <a:schemeClr val="accent1"/>
                </a:solidFill>
              </a:rPr>
              <a:t>块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1"/>
                </a:solidFill>
              </a:rPr>
              <a:t>block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defRPr/>
            </a:pP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最大</a:t>
            </a:r>
            <a:r>
              <a:rPr lang="zh-CN" altLang="en-US" dirty="0"/>
              <a:t>划分     </a:t>
            </a:r>
            <a:r>
              <a:rPr lang="en-US" altLang="zh-CN" dirty="0"/>
              <a:t>  </a:t>
            </a:r>
            <a:r>
              <a:rPr lang="zh-CN" altLang="en-US" dirty="0">
                <a:solidFill>
                  <a:srgbClr val="FF0000"/>
                </a:solidFill>
              </a:rPr>
              <a:t>最小</a:t>
            </a:r>
            <a:r>
              <a:rPr lang="zh-CN" altLang="en-US" dirty="0"/>
              <a:t>划分</a:t>
            </a:r>
          </a:p>
        </p:txBody>
      </p:sp>
      <p:graphicFrame>
        <p:nvGraphicFramePr>
          <p:cNvPr id="23556" name="Object 8">
            <a:extLst>
              <a:ext uri="{FF2B5EF4-FFF2-40B4-BE49-F238E27FC236}">
                <a16:creationId xmlns:a16="http://schemas.microsoft.com/office/drawing/2014/main" id="{4E2AF2A5-6F99-DE49-F797-22E66EFA1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0538" y="2765425"/>
          <a:ext cx="4159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538" y="2765425"/>
                        <a:ext cx="4159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9">
            <a:extLst>
              <a:ext uri="{FF2B5EF4-FFF2-40B4-BE49-F238E27FC236}">
                <a16:creationId xmlns:a16="http://schemas.microsoft.com/office/drawing/2014/main" id="{8C8F8F2B-3F45-D99B-AC18-0DB0ECFB0A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81425" y="345122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14" imgH="177492" progId="Equation.DSMT4">
                  <p:embed/>
                </p:oleObj>
              </mc:Choice>
              <mc:Fallback>
                <p:oleObj name="Equation" r:id="rId4" imgW="164814" imgH="17749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1425" y="345122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17">
            <a:extLst>
              <a:ext uri="{FF2B5EF4-FFF2-40B4-BE49-F238E27FC236}">
                <a16:creationId xmlns:a16="http://schemas.microsoft.com/office/drawing/2014/main" id="{A67E583D-777E-539E-F566-CC22365EF1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6375" y="2827338"/>
          <a:ext cx="3857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2827338"/>
                        <a:ext cx="3857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>
            <a:extLst>
              <a:ext uri="{FF2B5EF4-FFF2-40B4-BE49-F238E27FC236}">
                <a16:creationId xmlns:a16="http://schemas.microsoft.com/office/drawing/2014/main" id="{9D9CE2B6-2CA5-90FA-B043-03DE12EF90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800"/>
              <a:t>3.6.3 </a:t>
            </a:r>
            <a:r>
              <a:rPr lang="zh-CN" altLang="en-US" sz="4800" b="1"/>
              <a:t>划分的概念</a:t>
            </a:r>
            <a:r>
              <a:rPr lang="zh-CN" altLang="en-US" sz="4800"/>
              <a:t> </a:t>
            </a:r>
          </a:p>
        </p:txBody>
      </p:sp>
      <p:sp>
        <p:nvSpPr>
          <p:cNvPr id="19459" name="Rectangle 5">
            <a:extLst>
              <a:ext uri="{FF2B5EF4-FFF2-40B4-BE49-F238E27FC236}">
                <a16:creationId xmlns:a16="http://schemas.microsoft.com/office/drawing/2014/main" id="{2FC32B52-CA05-5CFB-7470-2F81C10B4A4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79388" y="1844675"/>
            <a:ext cx="4824412" cy="5013325"/>
          </a:xfrm>
        </p:spPr>
        <p:txBody>
          <a:bodyPr/>
          <a:lstStyle/>
          <a:p>
            <a:pPr eaLnBrk="1" hangingPunct="1">
              <a:lnSpc>
                <a:spcPct val="127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3.6.9 </a:t>
            </a: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{1,2,3,4}</a:t>
            </a:r>
          </a:p>
          <a:p>
            <a:pPr eaLnBrk="1" hangingPunct="1">
              <a:lnSpc>
                <a:spcPct val="127000"/>
              </a:lnSpc>
              <a:defRPr/>
            </a:pP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rgbClr val="FF00FF"/>
                </a:solidFill>
              </a:rPr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1,2,3,4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B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1,2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3,4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            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C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1,3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2,4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D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2,3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           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E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2,3,4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F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2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1,3,4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            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G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1,2,4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</a:t>
            </a:r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0063325-3CB5-5D97-1D24-25EB10860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844675"/>
            <a:ext cx="4356100" cy="5013325"/>
          </a:xfrm>
        </p:spPr>
        <p:txBody>
          <a:bodyPr/>
          <a:lstStyle/>
          <a:p>
            <a:pPr marL="0" indent="0"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H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4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</a:t>
            </a:r>
            <a:r>
              <a:rPr lang="en-US" altLang="zh-CN" dirty="0"/>
              <a:t>1,2,3</a:t>
            </a:r>
            <a:r>
              <a:rPr lang="en-US" altLang="zh-CN" dirty="0">
                <a:solidFill>
                  <a:srgbClr val="FF00FF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I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2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3,4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J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2,4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K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4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2,3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L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2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1,4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 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M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2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4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1,3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N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66"/>
                </a:solidFill>
              </a:rPr>
              <a:t>{</a:t>
            </a:r>
            <a:r>
              <a:rPr lang="en-US" altLang="zh-CN" dirty="0"/>
              <a:t>4</a:t>
            </a:r>
            <a:r>
              <a:rPr lang="en-US" altLang="zh-CN" dirty="0">
                <a:solidFill>
                  <a:srgbClr val="FF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00B050"/>
                </a:solidFill>
              </a:rPr>
              <a:t>{</a:t>
            </a:r>
            <a:r>
              <a:rPr lang="en-US" altLang="zh-CN" dirty="0"/>
              <a:t>1,2</a:t>
            </a:r>
            <a:r>
              <a:rPr lang="en-US" altLang="zh-CN" dirty="0">
                <a:solidFill>
                  <a:srgbClr val="00B050"/>
                </a:solidFill>
              </a:rPr>
              <a:t>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127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FF"/>
                </a:solidFill>
              </a:rPr>
              <a:t>     P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CC0066"/>
                </a:solidFill>
              </a:rPr>
              <a:t>{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rgbClr val="CC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{2}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CC0066"/>
                </a:solidFill>
              </a:rPr>
              <a:t>{</a:t>
            </a:r>
            <a:r>
              <a:rPr lang="en-US" altLang="zh-CN" dirty="0"/>
              <a:t>3</a:t>
            </a:r>
            <a:r>
              <a:rPr lang="en-US" altLang="zh-CN" dirty="0">
                <a:solidFill>
                  <a:srgbClr val="CC0066"/>
                </a:solidFill>
              </a:rPr>
              <a:t>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{4}}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6AF9487C-B003-657D-0B92-B67FF7629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726C5-DFB3-48D0-F715-622B2BA4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916113"/>
            <a:ext cx="7772400" cy="4114800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  <a:defRPr/>
            </a:pPr>
            <a:r>
              <a:rPr lang="zh-CN" altLang="en-US" dirty="0"/>
              <a:t>设</a:t>
            </a:r>
            <a:r>
              <a:rPr lang="en-US" altLang="zh-CN" dirty="0"/>
              <a:t>A</a:t>
            </a:r>
            <a:r>
              <a:rPr lang="zh-CN" altLang="en-US" dirty="0"/>
              <a:t>是非空集合，</a:t>
            </a:r>
            <a:r>
              <a:rPr lang="en-US" altLang="zh-CN" dirty="0"/>
              <a:t>A</a:t>
            </a:r>
            <a:r>
              <a:rPr lang="zh-CN" altLang="en-US" dirty="0"/>
              <a:t>的最大划分确定的</a:t>
            </a:r>
            <a:r>
              <a:rPr lang="en-US" altLang="zh-CN" dirty="0"/>
              <a:t>A</a:t>
            </a:r>
            <a:r>
              <a:rPr lang="zh-CN" altLang="en-US" dirty="0"/>
              <a:t>上的等价关系为</a:t>
            </a:r>
            <a:r>
              <a:rPr lang="en-US" altLang="zh-CN" dirty="0"/>
              <a:t>______, A</a:t>
            </a:r>
            <a:r>
              <a:rPr lang="zh-CN" altLang="en-US" dirty="0"/>
              <a:t>的最小划分确定的</a:t>
            </a:r>
            <a:r>
              <a:rPr lang="en-US" altLang="zh-CN" dirty="0"/>
              <a:t>A</a:t>
            </a:r>
            <a:r>
              <a:rPr lang="zh-CN" altLang="en-US" dirty="0"/>
              <a:t>上的等价关系为</a:t>
            </a:r>
            <a:r>
              <a:rPr lang="en-US" altLang="zh-CN" dirty="0"/>
              <a:t>___________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91734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>
            <a:extLst>
              <a:ext uri="{FF2B5EF4-FFF2-40B4-BE49-F238E27FC236}">
                <a16:creationId xmlns:a16="http://schemas.microsoft.com/office/drawing/2014/main" id="{17A79E73-919E-59E2-6A60-5AC7535A3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</a:p>
        </p:txBody>
      </p:sp>
      <p:sp>
        <p:nvSpPr>
          <p:cNvPr id="22531" name="Rectangle 5">
            <a:extLst>
              <a:ext uri="{FF2B5EF4-FFF2-40B4-BE49-F238E27FC236}">
                <a16:creationId xmlns:a16="http://schemas.microsoft.com/office/drawing/2014/main" id="{828EEC76-7791-3117-E507-B179B2F7C0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844675"/>
            <a:ext cx="8532812" cy="5013325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hlink"/>
                </a:solidFill>
              </a:rPr>
              <a:t>   例</a:t>
            </a:r>
            <a:r>
              <a:rPr lang="en-US" altLang="zh-CN" dirty="0">
                <a:solidFill>
                  <a:schemeClr val="hlink"/>
                </a:solidFill>
              </a:rPr>
              <a:t>3.6.10 </a:t>
            </a:r>
            <a:r>
              <a:rPr lang="zh-CN" altLang="en-US" dirty="0"/>
              <a:t>设</a:t>
            </a:r>
            <a:r>
              <a:rPr lang="en-US" altLang="zh-CN" dirty="0"/>
              <a:t>A </a:t>
            </a:r>
            <a:r>
              <a:rPr lang="zh-CN" altLang="en-US" dirty="0"/>
              <a:t>＝</a:t>
            </a:r>
            <a:r>
              <a:rPr lang="en-US" altLang="zh-CN" dirty="0"/>
              <a:t>{1,2,3,4,5}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accent1"/>
                </a:solidFill>
              </a:rPr>
              <a:t>划分</a:t>
            </a:r>
            <a:r>
              <a:rPr lang="en-US" altLang="zh-CN" dirty="0">
                <a:solidFill>
                  <a:schemeClr val="accent4"/>
                </a:solidFill>
              </a:rPr>
              <a:t>S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dirty="0">
                <a:solidFill>
                  <a:srgbClr val="FF00FF"/>
                </a:solidFill>
              </a:rPr>
              <a:t>{1}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chemeClr val="accent1"/>
                </a:solidFill>
              </a:rPr>
              <a:t>{2,3}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solidFill>
                  <a:srgbClr val="FF00FF"/>
                </a:solidFill>
              </a:rPr>
              <a:t>{4,5}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250000"/>
              </a:lnSpc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等价关系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1,1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2,3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3,2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latin typeface="宋体" pitchFamily="2" charset="-122"/>
              </a:rPr>
              <a:t>           &lt;</a:t>
            </a:r>
            <a:r>
              <a:rPr lang="en-US" altLang="zh-CN" dirty="0"/>
              <a:t>3,3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4,4</a:t>
            </a:r>
            <a:r>
              <a:rPr lang="en-US" altLang="zh-CN" b="1" dirty="0">
                <a:latin typeface="+mn-ea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4,5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5,4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b="1" dirty="0">
                <a:latin typeface="宋体" pitchFamily="2" charset="-122"/>
              </a:rPr>
              <a:t>&lt;</a:t>
            </a:r>
            <a:r>
              <a:rPr lang="en-US" altLang="zh-CN" dirty="0"/>
              <a:t>5,5</a:t>
            </a:r>
            <a:r>
              <a:rPr lang="en-US" altLang="zh-CN" b="1" dirty="0">
                <a:latin typeface="宋体" pitchFamily="2" charset="-122"/>
              </a:rPr>
              <a:t>&gt;</a:t>
            </a:r>
            <a:r>
              <a:rPr lang="en-US" altLang="zh-CN" dirty="0"/>
              <a:t>}</a:t>
            </a:r>
          </a:p>
          <a:p>
            <a:pPr eaLnBrk="1" hangingPunct="1">
              <a:lnSpc>
                <a:spcPct val="250000"/>
              </a:lnSpc>
              <a:defRPr/>
            </a:pPr>
            <a:r>
              <a:rPr lang="en-US" altLang="zh-CN" dirty="0"/>
              <a:t>[1]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{1}</a:t>
            </a:r>
            <a:r>
              <a:rPr lang="en-US" altLang="zh-CN" dirty="0"/>
              <a:t>   [2]</a:t>
            </a:r>
            <a:r>
              <a:rPr lang="zh-CN" altLang="en-US" dirty="0"/>
              <a:t>＝</a:t>
            </a:r>
            <a:r>
              <a:rPr lang="en-US" altLang="zh-CN" dirty="0"/>
              <a:t>[3]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chemeClr val="accent1"/>
                </a:solidFill>
              </a:rPr>
              <a:t>{2,3}   </a:t>
            </a:r>
            <a:r>
              <a:rPr lang="en-US" altLang="zh-CN" dirty="0"/>
              <a:t>[4]</a:t>
            </a:r>
            <a:r>
              <a:rPr lang="zh-CN" altLang="en-US" dirty="0"/>
              <a:t>＝</a:t>
            </a:r>
            <a:r>
              <a:rPr lang="en-US" altLang="zh-CN" dirty="0"/>
              <a:t>[5]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FF00FF"/>
                </a:solidFill>
              </a:rPr>
              <a:t>{4,5}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</a:t>
            </a:r>
          </a:p>
        </p:txBody>
      </p:sp>
      <p:sp>
        <p:nvSpPr>
          <p:cNvPr id="6" name="弧形 5">
            <a:extLst>
              <a:ext uri="{FF2B5EF4-FFF2-40B4-BE49-F238E27FC236}">
                <a16:creationId xmlns:a16="http://schemas.microsoft.com/office/drawing/2014/main" id="{B47B614D-0B20-58BF-B272-8E7501CA5907}"/>
              </a:ext>
            </a:extLst>
          </p:cNvPr>
          <p:cNvSpPr/>
          <p:nvPr/>
        </p:nvSpPr>
        <p:spPr>
          <a:xfrm>
            <a:off x="4668838" y="3136900"/>
            <a:ext cx="2424112" cy="2020888"/>
          </a:xfrm>
          <a:prstGeom prst="arc">
            <a:avLst>
              <a:gd name="adj1" fmla="val 16200000"/>
              <a:gd name="adj2" fmla="val 2130805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E131116C-6526-C3FB-4B97-8C41C9224B06}"/>
              </a:ext>
            </a:extLst>
          </p:cNvPr>
          <p:cNvSpPr/>
          <p:nvPr/>
        </p:nvSpPr>
        <p:spPr>
          <a:xfrm>
            <a:off x="1355725" y="4865688"/>
            <a:ext cx="2424113" cy="2019300"/>
          </a:xfrm>
          <a:prstGeom prst="arc">
            <a:avLst>
              <a:gd name="adj1" fmla="val 11117594"/>
              <a:gd name="adj2" fmla="val 17071599"/>
            </a:avLst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5">
            <a:extLst>
              <a:ext uri="{FF2B5EF4-FFF2-40B4-BE49-F238E27FC236}">
                <a16:creationId xmlns:a16="http://schemas.microsoft.com/office/drawing/2014/main" id="{68B9AA9D-2B18-A0AB-A1E4-68AB35D18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39BFE1E-0ACF-97B2-A7C3-15E407D074C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89138"/>
            <a:ext cx="8532812" cy="4868862"/>
          </a:xfrm>
        </p:spPr>
        <p:txBody>
          <a:bodyPr/>
          <a:lstStyle/>
          <a:p>
            <a:pPr eaLnBrk="1" hangingPunct="1">
              <a:lnSpc>
                <a:spcPct val="25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3.6.3</a:t>
            </a:r>
            <a:r>
              <a:rPr lang="zh-CN" altLang="en-US" dirty="0"/>
              <a:t>集合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chemeClr val="accent1"/>
                </a:solidFill>
              </a:rPr>
              <a:t>划分</a:t>
            </a:r>
            <a:r>
              <a:rPr lang="en-US" altLang="zh-CN" dirty="0"/>
              <a:t>S</a:t>
            </a:r>
            <a:r>
              <a:rPr lang="zh-CN" altLang="en-US" dirty="0"/>
              <a:t>＝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S</a:t>
            </a:r>
            <a:r>
              <a:rPr lang="en-US" altLang="zh-CN" baseline="-25000" dirty="0"/>
              <a:t>2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/>
              <a:t>}</a:t>
            </a:r>
            <a:r>
              <a:rPr lang="zh-CN" altLang="en-US" dirty="0"/>
              <a:t>确定</a:t>
            </a:r>
            <a:r>
              <a:rPr lang="en-US" altLang="zh-CN" dirty="0"/>
              <a:t>A</a:t>
            </a:r>
            <a:r>
              <a:rPr lang="zh-CN" altLang="en-US" dirty="0"/>
              <a:t>上的一个</a:t>
            </a:r>
            <a:r>
              <a:rPr lang="zh-CN" altLang="en-US" dirty="0">
                <a:solidFill>
                  <a:srgbClr val="FF00FF"/>
                </a:solidFill>
              </a:rPr>
              <a:t>等价关系</a:t>
            </a:r>
          </a:p>
          <a:p>
            <a:pPr eaLnBrk="1" hangingPunct="1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(S</a:t>
            </a:r>
            <a:r>
              <a:rPr lang="en-US" altLang="zh-CN" baseline="-25000" dirty="0"/>
              <a:t>1</a:t>
            </a:r>
            <a:r>
              <a:rPr lang="en-US" altLang="zh-CN" dirty="0"/>
              <a:t>×S</a:t>
            </a:r>
            <a:r>
              <a:rPr lang="en-US" altLang="zh-CN" baseline="-25000" dirty="0"/>
              <a:t>1</a:t>
            </a:r>
            <a:r>
              <a:rPr lang="en-US" altLang="zh-CN" dirty="0"/>
              <a:t>)∪(S</a:t>
            </a:r>
            <a:r>
              <a:rPr lang="en-US" altLang="zh-CN" baseline="-25000" dirty="0"/>
              <a:t>2</a:t>
            </a:r>
            <a:r>
              <a:rPr lang="en-US" altLang="zh-CN" dirty="0"/>
              <a:t>×S</a:t>
            </a:r>
            <a:r>
              <a:rPr lang="en-US" altLang="zh-CN" baseline="-25000" dirty="0"/>
              <a:t>2</a:t>
            </a:r>
            <a:r>
              <a:rPr lang="en-US" altLang="zh-CN" dirty="0"/>
              <a:t>)∪</a:t>
            </a:r>
            <a:r>
              <a:rPr lang="en-US" altLang="zh-CN" dirty="0">
                <a:latin typeface="Arial" charset="0"/>
              </a:rPr>
              <a:t>…</a:t>
            </a:r>
            <a:r>
              <a:rPr lang="en-US" altLang="zh-CN" dirty="0"/>
              <a:t>∪(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n</a:t>
            </a:r>
            <a:r>
              <a:rPr lang="en-US" altLang="zh-CN" dirty="0" err="1"/>
              <a:t>×S</a:t>
            </a:r>
            <a:r>
              <a:rPr lang="en-US" altLang="zh-CN" baseline="-25000" dirty="0" err="1"/>
              <a:t>n</a:t>
            </a:r>
            <a:r>
              <a:rPr lang="en-US" altLang="zh-CN" dirty="0"/>
              <a:t>)</a:t>
            </a:r>
            <a:endParaRPr lang="en-US" altLang="zh-CN" b="1" dirty="0"/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   </a:t>
            </a:r>
            <a:r>
              <a:rPr lang="en-US" altLang="zh-CN" dirty="0"/>
              <a:t> 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>
            <a:extLst>
              <a:ext uri="{FF2B5EF4-FFF2-40B4-BE49-F238E27FC236}">
                <a16:creationId xmlns:a16="http://schemas.microsoft.com/office/drawing/2014/main" id="{0C95494E-6838-3E3E-0047-353714B59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221FF-91BD-A76C-E0C3-B76256849762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1844675"/>
            <a:ext cx="3673475" cy="50133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证明</a:t>
            </a:r>
            <a:r>
              <a:rPr lang="en-US" altLang="zh-CN" sz="2800" dirty="0"/>
              <a:t>(1)</a:t>
            </a:r>
            <a:r>
              <a:rPr lang="zh-CN" altLang="en-US" sz="2800" dirty="0"/>
              <a:t>任取</a:t>
            </a:r>
            <a:r>
              <a:rPr lang="en-US" altLang="zh-CN" sz="2800" dirty="0" err="1">
                <a:solidFill>
                  <a:schemeClr val="accent1"/>
                </a:solidFill>
              </a:rPr>
              <a:t>a∈A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S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∪S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∪</a:t>
            </a:r>
            <a:r>
              <a:rPr lang="en-US" altLang="zh-CN" sz="2800" dirty="0">
                <a:latin typeface="Arial" charset="0"/>
              </a:rPr>
              <a:t>…</a:t>
            </a:r>
            <a:r>
              <a:rPr lang="en-US" altLang="zh-CN" sz="2800" dirty="0"/>
              <a:t>∪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n</a:t>
            </a:r>
            <a:r>
              <a:rPr lang="zh-CN" altLang="en-US" sz="2800" dirty="0"/>
              <a:t>＝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ym typeface="Symbol" pitchFamily="18" charset="2"/>
              </a:rPr>
              <a:t>   </a:t>
            </a:r>
            <a:r>
              <a:rPr lang="zh-CN" altLang="en-US" sz="28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   </a:t>
            </a:r>
            <a:r>
              <a:rPr lang="en-US" altLang="zh-CN" sz="2800" dirty="0" err="1"/>
              <a:t>a∈S</a:t>
            </a:r>
            <a:r>
              <a:rPr lang="en-US" altLang="zh-CN" sz="2800" baseline="-25000" dirty="0" err="1"/>
              <a:t>i</a:t>
            </a:r>
            <a:r>
              <a:rPr lang="en-US" altLang="zh-CN" sz="2800" baseline="-25000" dirty="0"/>
              <a:t> 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    R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accent1"/>
                </a:solidFill>
              </a:rPr>
              <a:t>   </a:t>
            </a:r>
            <a:r>
              <a:rPr lang="en-US" altLang="zh-CN" sz="2800" dirty="0" err="1">
                <a:solidFill>
                  <a:schemeClr val="accent1"/>
                </a:solidFill>
              </a:rPr>
              <a:t>aRa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(2)</a:t>
            </a:r>
            <a:r>
              <a:rPr lang="zh-CN" altLang="en-US" sz="2800" dirty="0"/>
              <a:t>设</a:t>
            </a:r>
            <a:r>
              <a:rPr lang="en-US" altLang="zh-CN" sz="2800" dirty="0" err="1">
                <a:solidFill>
                  <a:schemeClr val="accent1"/>
                </a:solidFill>
              </a:rPr>
              <a:t>aRb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zh-CN" altLang="en-US" sz="28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   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i</a:t>
            </a:r>
            <a:r>
              <a:rPr lang="en-US" altLang="zh-CN" sz="2800" baseline="-25000" dirty="0"/>
              <a:t> 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b,a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i</a:t>
            </a:r>
            <a:r>
              <a:rPr lang="en-US" altLang="zh-CN" sz="2800" baseline="-25000" dirty="0"/>
              <a:t> </a:t>
            </a:r>
            <a:r>
              <a:rPr lang="zh-CN" altLang="en-US" sz="2800" dirty="0"/>
              <a:t>   </a:t>
            </a:r>
            <a:r>
              <a:rPr lang="en-US" altLang="zh-CN" sz="2800" dirty="0"/>
              <a:t>R</a:t>
            </a:r>
            <a:endParaRPr lang="zh-CN" altLang="en-US" sz="28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   </a:t>
            </a:r>
            <a:r>
              <a:rPr lang="en-US" altLang="zh-CN" sz="2800" dirty="0" err="1">
                <a:solidFill>
                  <a:schemeClr val="accent1"/>
                </a:solidFill>
              </a:rPr>
              <a:t>bRa</a:t>
            </a:r>
            <a:endParaRPr lang="zh-CN" altLang="en-US" sz="2800" dirty="0"/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F2C11C-C1D9-3D9E-10AC-C7DE3778F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40200" y="1773238"/>
            <a:ext cx="4932363" cy="5084762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(3)</a:t>
            </a:r>
            <a:r>
              <a:rPr lang="zh-CN" altLang="en-US" sz="2800" dirty="0"/>
              <a:t>设</a:t>
            </a:r>
            <a:r>
              <a:rPr lang="en-US" altLang="zh-CN" sz="2800" dirty="0" err="1">
                <a:solidFill>
                  <a:schemeClr val="accent1"/>
                </a:solidFill>
              </a:rPr>
              <a:t>aRb</a:t>
            </a:r>
            <a:r>
              <a:rPr lang="zh-CN" altLang="en-US" sz="2800" dirty="0"/>
              <a:t>且</a:t>
            </a:r>
            <a:r>
              <a:rPr lang="en-US" altLang="zh-CN" sz="2800" dirty="0" err="1">
                <a:solidFill>
                  <a:schemeClr val="accent1"/>
                </a:solidFill>
              </a:rPr>
              <a:t>bRc</a:t>
            </a:r>
            <a:endParaRPr lang="en-US" altLang="zh-CN" sz="28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FF00FF"/>
                </a:solidFill>
                <a:sym typeface="Symbol" pitchFamily="18" charset="2"/>
              </a:rPr>
              <a:t>  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与</a:t>
            </a:r>
            <a:r>
              <a:rPr lang="zh-CN" altLang="en-US" sz="2800" dirty="0">
                <a:solidFill>
                  <a:srgbClr val="FF00FF"/>
                </a:solidFill>
                <a:sym typeface="Symbol" pitchFamily="18" charset="2"/>
              </a:rPr>
              <a:t>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j</a:t>
            </a:r>
            <a:r>
              <a:rPr lang="zh-CN" altLang="en-US" sz="2800" dirty="0"/>
              <a:t>使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宋体" pitchFamily="2" charset="-122"/>
              </a:rPr>
              <a:t> &lt;</a:t>
            </a:r>
            <a:r>
              <a:rPr lang="en-US" altLang="zh-CN" sz="2800" dirty="0" err="1"/>
              <a:t>a,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i</a:t>
            </a:r>
            <a:r>
              <a:rPr lang="zh-CN" altLang="en-US" sz="2800" dirty="0"/>
              <a:t>且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>
                <a:solidFill>
                  <a:srgbClr val="FF0000"/>
                </a:solidFill>
              </a:rPr>
              <a:t>b</a:t>
            </a:r>
            <a:r>
              <a:rPr lang="en-US" altLang="zh-CN" sz="2800" dirty="0" err="1"/>
              <a:t>,c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j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j</a:t>
            </a:r>
            <a:r>
              <a:rPr lang="en-US" altLang="zh-CN" sz="2800" baseline="-25000" dirty="0"/>
              <a:t> 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</a:t>
            </a:r>
            <a:r>
              <a:rPr lang="zh-CN" altLang="en-US" sz="2800" dirty="0"/>
              <a:t>因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∩S</a:t>
            </a:r>
            <a:r>
              <a:rPr lang="en-US" altLang="zh-CN" sz="2800" baseline="-25000" dirty="0" err="1"/>
              <a:t>j</a:t>
            </a:r>
            <a:r>
              <a:rPr lang="zh-CN" altLang="en-US" sz="2800" dirty="0"/>
              <a:t>＝   ，故</a:t>
            </a:r>
            <a:r>
              <a:rPr lang="en-US" altLang="zh-CN" sz="2800" dirty="0"/>
              <a:t>S</a:t>
            </a:r>
            <a:r>
              <a:rPr lang="en-US" altLang="zh-CN" sz="2800" baseline="-25000" dirty="0"/>
              <a:t>i</a:t>
            </a:r>
            <a:r>
              <a:rPr lang="zh-CN" altLang="en-US" sz="2800" dirty="0"/>
              <a:t>＝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j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</a:t>
            </a:r>
            <a:r>
              <a:rPr lang="zh-CN" altLang="en-US" sz="2800" dirty="0"/>
              <a:t>于是</a:t>
            </a:r>
            <a:r>
              <a:rPr lang="en-US" altLang="zh-CN" sz="2800" dirty="0" err="1"/>
              <a:t>a,c∈S</a:t>
            </a:r>
            <a:r>
              <a:rPr lang="en-US" altLang="zh-CN" sz="2800" baseline="-25000" dirty="0" err="1"/>
              <a:t>i</a:t>
            </a:r>
            <a:endParaRPr lang="en-US" altLang="zh-CN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</a:t>
            </a:r>
            <a:r>
              <a:rPr lang="zh-CN" altLang="en-US" sz="2800" dirty="0"/>
              <a:t>从而</a:t>
            </a:r>
            <a:r>
              <a:rPr lang="en-US" altLang="zh-CN" sz="2800" b="1" dirty="0">
                <a:latin typeface="宋体" pitchFamily="2" charset="-122"/>
              </a:rPr>
              <a:t>&lt;</a:t>
            </a:r>
            <a:r>
              <a:rPr lang="en-US" altLang="zh-CN" sz="2800" dirty="0" err="1"/>
              <a:t>a,c</a:t>
            </a:r>
            <a:r>
              <a:rPr lang="en-US" altLang="zh-CN" sz="2800" b="1" dirty="0">
                <a:latin typeface="宋体" pitchFamily="2" charset="-122"/>
              </a:rPr>
              <a:t>&gt;</a:t>
            </a:r>
            <a:r>
              <a:rPr lang="en-US" altLang="zh-CN" sz="2800" dirty="0"/>
              <a:t>∈</a:t>
            </a:r>
            <a:r>
              <a:rPr lang="en-US" altLang="zh-CN" sz="2800" dirty="0" err="1"/>
              <a:t>S</a:t>
            </a:r>
            <a:r>
              <a:rPr lang="en-US" altLang="zh-CN" sz="2800" baseline="-25000" dirty="0" err="1"/>
              <a:t>i</a:t>
            </a:r>
            <a:r>
              <a:rPr lang="en-US" altLang="zh-CN" sz="2800" dirty="0" err="1"/>
              <a:t>×S</a:t>
            </a:r>
            <a:r>
              <a:rPr lang="en-US" altLang="zh-CN" sz="2800" baseline="-25000" dirty="0" err="1"/>
              <a:t>i</a:t>
            </a:r>
            <a:r>
              <a:rPr lang="en-US" altLang="zh-CN" sz="2800" dirty="0"/>
              <a:t>    R  </a:t>
            </a:r>
            <a:endParaRPr lang="zh-CN" altLang="en-US" sz="28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dirty="0"/>
              <a:t>  即</a:t>
            </a:r>
            <a:r>
              <a:rPr lang="en-US" altLang="zh-CN" sz="2800" dirty="0" err="1">
                <a:solidFill>
                  <a:schemeClr val="accent1"/>
                </a:solidFill>
              </a:rPr>
              <a:t>aRc</a:t>
            </a:r>
            <a:endParaRPr lang="zh-CN" altLang="en-US" sz="2800" dirty="0"/>
          </a:p>
        </p:txBody>
      </p:sp>
      <p:graphicFrame>
        <p:nvGraphicFramePr>
          <p:cNvPr id="27653" name="对象 4">
            <a:extLst>
              <a:ext uri="{FF2B5EF4-FFF2-40B4-BE49-F238E27FC236}">
                <a16:creationId xmlns:a16="http://schemas.microsoft.com/office/drawing/2014/main" id="{3E8C917D-F075-2E88-65BE-C385F6FBF8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78525" y="4098925"/>
          <a:ext cx="4175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525" y="4098925"/>
                        <a:ext cx="417513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对象 5">
            <a:extLst>
              <a:ext uri="{FF2B5EF4-FFF2-40B4-BE49-F238E27FC236}">
                <a16:creationId xmlns:a16="http://schemas.microsoft.com/office/drawing/2014/main" id="{660C3C00-E208-AC2C-F9FC-C2A3ED8E91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0838" y="3548063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548063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对象 6">
            <a:extLst>
              <a:ext uri="{FF2B5EF4-FFF2-40B4-BE49-F238E27FC236}">
                <a16:creationId xmlns:a16="http://schemas.microsoft.com/office/drawing/2014/main" id="{97CC9DCB-DE5B-E76A-9683-9A50D123AB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578008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68" imgH="152268" progId="Equation.DSMT4">
                  <p:embed/>
                </p:oleObj>
              </mc:Choice>
              <mc:Fallback>
                <p:oleObj name="Equation" r:id="rId6" imgW="152268" imgH="152268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78008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对象 7">
            <a:extLst>
              <a:ext uri="{FF2B5EF4-FFF2-40B4-BE49-F238E27FC236}">
                <a16:creationId xmlns:a16="http://schemas.microsoft.com/office/drawing/2014/main" id="{0466BA98-EF9F-6541-F14D-197BB02BBE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5576888"/>
          <a:ext cx="457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68" imgH="152268" progId="Equation.DSMT4">
                  <p:embed/>
                </p:oleObj>
              </mc:Choice>
              <mc:Fallback>
                <p:oleObj name="Equation" r:id="rId7" imgW="152268" imgH="152268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576888"/>
                        <a:ext cx="457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7">
            <a:extLst>
              <a:ext uri="{FF2B5EF4-FFF2-40B4-BE49-F238E27FC236}">
                <a16:creationId xmlns:a16="http://schemas.microsoft.com/office/drawing/2014/main" id="{DAB64D2B-7148-F5BC-85E6-FEF2031E0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C68F21E-2ECC-20AA-6871-00651946BF9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989138"/>
            <a:ext cx="8459787" cy="4797425"/>
          </a:xfrm>
        </p:spPr>
        <p:txBody>
          <a:bodyPr/>
          <a:lstStyle/>
          <a:p>
            <a:pPr eaLnBrk="1" hangingPunct="1">
              <a:lnSpc>
                <a:spcPct val="300000"/>
              </a:lnSpc>
            </a:pPr>
            <a:r>
              <a:rPr lang="zh-CN" altLang="en-US">
                <a:solidFill>
                  <a:schemeClr val="hlink"/>
                </a:solidFill>
              </a:rPr>
              <a:t>定理</a:t>
            </a:r>
            <a:r>
              <a:rPr lang="en-US" altLang="zh-CN">
                <a:solidFill>
                  <a:schemeClr val="hlink"/>
                </a:solidFill>
              </a:rPr>
              <a:t>3.6.4</a:t>
            </a:r>
            <a:r>
              <a:rPr lang="en-US" altLang="zh-CN"/>
              <a:t> </a:t>
            </a:r>
            <a:r>
              <a:rPr lang="zh-CN" altLang="en-US"/>
              <a:t>集合</a:t>
            </a:r>
            <a:r>
              <a:rPr lang="en-US" altLang="zh-CN"/>
              <a:t>A</a:t>
            </a:r>
            <a:r>
              <a:rPr lang="zh-CN" altLang="en-US"/>
              <a:t>上的</a:t>
            </a:r>
            <a:r>
              <a:rPr lang="zh-CN" altLang="en-US">
                <a:solidFill>
                  <a:srgbClr val="FF00FF"/>
                </a:solidFill>
              </a:rPr>
              <a:t>等价关系</a:t>
            </a:r>
            <a:r>
              <a:rPr lang="en-US" altLang="zh-CN"/>
              <a:t>R</a:t>
            </a:r>
            <a:r>
              <a:rPr lang="zh-CN" altLang="en-US"/>
              <a:t>确定</a:t>
            </a:r>
            <a:r>
              <a:rPr lang="en-US" altLang="zh-CN"/>
              <a:t>A</a:t>
            </a:r>
            <a:r>
              <a:rPr lang="zh-CN" altLang="en-US"/>
              <a:t>的一个</a:t>
            </a:r>
            <a:r>
              <a:rPr lang="zh-CN" altLang="en-US">
                <a:solidFill>
                  <a:schemeClr val="accent1"/>
                </a:solidFill>
              </a:rPr>
              <a:t>划分</a:t>
            </a:r>
            <a:r>
              <a:rPr lang="en-US" altLang="zh-CN"/>
              <a:t>S</a:t>
            </a:r>
            <a:r>
              <a:rPr lang="zh-CN" altLang="en-US"/>
              <a:t>＝</a:t>
            </a:r>
            <a:r>
              <a:rPr lang="en-US" altLang="zh-CN"/>
              <a:t>A</a:t>
            </a:r>
            <a:r>
              <a:rPr lang="zh-CN" altLang="en-US"/>
              <a:t>／</a:t>
            </a:r>
            <a:r>
              <a:rPr lang="en-US" altLang="zh-CN"/>
              <a:t>R</a:t>
            </a:r>
            <a:r>
              <a:rPr lang="zh-CN" altLang="en-US"/>
              <a:t>。</a:t>
            </a:r>
            <a:endParaRPr lang="zh-CN" altLang="en-US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7">
            <a:extLst>
              <a:ext uri="{FF2B5EF4-FFF2-40B4-BE49-F238E27FC236}">
                <a16:creationId xmlns:a16="http://schemas.microsoft.com/office/drawing/2014/main" id="{CB8700A6-B40B-A547-F661-544F891A69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C4EFFFA-FBB8-2BE5-2BBD-7C1A56B8A5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844675"/>
            <a:ext cx="8459787" cy="501332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b="1" dirty="0">
                <a:solidFill>
                  <a:schemeClr val="hlink"/>
                </a:solidFill>
              </a:rPr>
              <a:t>证明</a:t>
            </a:r>
            <a:r>
              <a:rPr lang="zh-CN" altLang="en-US" dirty="0"/>
              <a:t> 商集</a:t>
            </a:r>
            <a:r>
              <a:rPr lang="en-US" altLang="zh-CN" dirty="0"/>
              <a:t>A</a:t>
            </a:r>
            <a:r>
              <a:rPr lang="zh-CN" altLang="en-US" dirty="0"/>
              <a:t>／</a:t>
            </a:r>
            <a:r>
              <a:rPr lang="en-US" altLang="zh-CN" dirty="0"/>
              <a:t>R</a:t>
            </a:r>
            <a:r>
              <a:rPr lang="zh-CN" altLang="en-US" dirty="0"/>
              <a:t>＝</a:t>
            </a:r>
            <a:r>
              <a:rPr lang="en-US" altLang="zh-CN" dirty="0"/>
              <a:t>{[a]</a:t>
            </a:r>
            <a:r>
              <a:rPr lang="en-US" altLang="zh-CN" baseline="-25000" dirty="0" err="1"/>
              <a:t>R</a:t>
            </a:r>
            <a:r>
              <a:rPr lang="en-US" altLang="zh-CN" dirty="0" err="1"/>
              <a:t>︱a∈A</a:t>
            </a:r>
            <a:r>
              <a:rPr lang="en-US" altLang="zh-CN" dirty="0"/>
              <a:t>}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(1)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/>
              <a:t>∈A</a:t>
            </a:r>
            <a:r>
              <a:rPr lang="zh-CN" altLang="en-US" dirty="0"/>
              <a:t>／</a:t>
            </a:r>
            <a:r>
              <a:rPr lang="en-US" altLang="zh-CN" dirty="0"/>
              <a:t>R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 </a:t>
            </a:r>
            <a:r>
              <a:rPr lang="en-US" altLang="zh-CN" dirty="0"/>
              <a:t>[a]</a:t>
            </a:r>
            <a:r>
              <a:rPr lang="en-US" altLang="zh-CN" baseline="-25000" dirty="0"/>
              <a:t>R     </a:t>
            </a:r>
            <a:r>
              <a:rPr lang="en-US" altLang="zh-CN" dirty="0"/>
              <a:t>A</a:t>
            </a:r>
            <a:r>
              <a:rPr lang="zh-CN" altLang="en-US" dirty="0"/>
              <a:t>       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/>
              <a:t>≠  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(2)</a:t>
            </a:r>
            <a:r>
              <a:rPr lang="zh-CN" altLang="en-US" dirty="0"/>
              <a:t>       ＝</a:t>
            </a:r>
            <a:r>
              <a:rPr lang="en-US" altLang="zh-CN" dirty="0"/>
              <a:t>A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(3)</a:t>
            </a:r>
            <a:r>
              <a:rPr lang="zh-CN" altLang="en-US" dirty="0">
                <a:solidFill>
                  <a:srgbClr val="FF00FF"/>
                </a:solidFill>
                <a:sym typeface="Symbol" pitchFamily="18" charset="2"/>
              </a:rPr>
              <a:t>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>
                <a:latin typeface="+mn-ea"/>
              </a:rPr>
              <a:t>,</a:t>
            </a:r>
            <a:r>
              <a:rPr lang="en-US" altLang="zh-CN" dirty="0"/>
              <a:t>[b]</a:t>
            </a:r>
            <a:r>
              <a:rPr lang="en-US" altLang="zh-CN" baseline="-25000" dirty="0"/>
              <a:t>R</a:t>
            </a:r>
            <a:r>
              <a:rPr lang="en-US" altLang="zh-CN" dirty="0"/>
              <a:t>∈A</a:t>
            </a:r>
            <a:r>
              <a:rPr lang="zh-CN" altLang="en-US" dirty="0"/>
              <a:t>／</a:t>
            </a:r>
            <a:r>
              <a:rPr lang="en-US" altLang="zh-CN" dirty="0"/>
              <a:t>R</a:t>
            </a:r>
            <a:r>
              <a:rPr lang="zh-CN" altLang="en-US" dirty="0"/>
              <a:t>且</a:t>
            </a:r>
            <a:r>
              <a:rPr lang="en-US" altLang="zh-CN" dirty="0"/>
              <a:t>[a]</a:t>
            </a:r>
            <a:r>
              <a:rPr lang="en-US" altLang="zh-CN" baseline="-25000" dirty="0"/>
              <a:t>R</a:t>
            </a:r>
            <a:r>
              <a:rPr lang="en-US" altLang="zh-CN" dirty="0"/>
              <a:t>≠[b]</a:t>
            </a:r>
            <a:r>
              <a:rPr lang="en-US" altLang="zh-CN" baseline="-25000" dirty="0"/>
              <a:t>R</a:t>
            </a:r>
            <a:r>
              <a:rPr lang="en-US" altLang="zh-CN" dirty="0"/>
              <a:t> </a:t>
            </a:r>
          </a:p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[a]</a:t>
            </a:r>
            <a:r>
              <a:rPr lang="en-US" altLang="zh-CN" baseline="-25000" dirty="0"/>
              <a:t>R</a:t>
            </a:r>
            <a:r>
              <a:rPr lang="en-US" altLang="zh-CN" dirty="0"/>
              <a:t>∩[b]</a:t>
            </a:r>
            <a:r>
              <a:rPr lang="en-US" altLang="zh-CN" baseline="-25000" dirty="0"/>
              <a:t>R</a:t>
            </a:r>
            <a:r>
              <a:rPr lang="en-US" altLang="zh-CN" dirty="0"/>
              <a:t> </a:t>
            </a:r>
            <a:r>
              <a:rPr lang="zh-CN" altLang="en-US" dirty="0"/>
              <a:t>＝</a:t>
            </a:r>
          </a:p>
        </p:txBody>
      </p:sp>
      <p:graphicFrame>
        <p:nvGraphicFramePr>
          <p:cNvPr id="29700" name="Object 13">
            <a:extLst>
              <a:ext uri="{FF2B5EF4-FFF2-40B4-BE49-F238E27FC236}">
                <a16:creationId xmlns:a16="http://schemas.microsoft.com/office/drawing/2014/main" id="{8ADDAFDB-8790-C98E-5730-9D03BAAB57FD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787900" y="3741738"/>
          <a:ext cx="4587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741738"/>
                        <a:ext cx="45878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10">
            <a:extLst>
              <a:ext uri="{FF2B5EF4-FFF2-40B4-BE49-F238E27FC236}">
                <a16:creationId xmlns:a16="http://schemas.microsoft.com/office/drawing/2014/main" id="{5C5DE80C-69DB-E2C4-9D32-FC7181F2E3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3763963"/>
          <a:ext cx="38576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152268" progId="Equation.DSMT4">
                  <p:embed/>
                </p:oleObj>
              </mc:Choice>
              <mc:Fallback>
                <p:oleObj name="Equation" r:id="rId4" imgW="152268" imgH="152268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763963"/>
                        <a:ext cx="38576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16">
            <a:extLst>
              <a:ext uri="{FF2B5EF4-FFF2-40B4-BE49-F238E27FC236}">
                <a16:creationId xmlns:a16="http://schemas.microsoft.com/office/drawing/2014/main" id="{4AB5A67E-E86B-5963-603F-FA92971874D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721100" y="6216650"/>
          <a:ext cx="4572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14" imgH="177492" progId="Equation.DSMT4">
                  <p:embed/>
                </p:oleObj>
              </mc:Choice>
              <mc:Fallback>
                <p:oleObj name="Equation" r:id="rId6" imgW="164814" imgH="17749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6216650"/>
                        <a:ext cx="4572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19">
            <a:extLst>
              <a:ext uri="{FF2B5EF4-FFF2-40B4-BE49-F238E27FC236}">
                <a16:creationId xmlns:a16="http://schemas.microsoft.com/office/drawing/2014/main" id="{31878E24-C522-E287-C0B8-A2B1494DC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8613" y="4572000"/>
          <a:ext cx="9064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9" imgH="355446" progId="Equation.DSMT4">
                  <p:embed/>
                </p:oleObj>
              </mc:Choice>
              <mc:Fallback>
                <p:oleObj name="Equation" r:id="rId8" imgW="533169" imgH="355446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572000"/>
                        <a:ext cx="9064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DEA9A73-4147-8B4D-B625-80EB70F0E9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3.6.4 </a:t>
            </a:r>
            <a:r>
              <a:rPr lang="zh-CN" altLang="en-US" b="1"/>
              <a:t>划分一一对应等价关系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43326B0-3468-DC52-E72C-E68D1BFBF4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748712" cy="5013325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 sz="2400">
                <a:solidFill>
                  <a:schemeClr val="hlink"/>
                </a:solidFill>
              </a:rPr>
              <a:t>例</a:t>
            </a:r>
            <a:r>
              <a:rPr lang="en-US" altLang="zh-CN" sz="2400">
                <a:solidFill>
                  <a:schemeClr val="hlink"/>
                </a:solidFill>
              </a:rPr>
              <a:t>3.6.11</a:t>
            </a:r>
            <a:r>
              <a:rPr lang="en-US" altLang="zh-CN" sz="2400" b="1"/>
              <a:t> </a:t>
            </a:r>
            <a:r>
              <a:rPr lang="zh-CN" altLang="en-US" sz="2400"/>
              <a:t>设</a:t>
            </a:r>
            <a:r>
              <a:rPr lang="en-US" altLang="zh-CN" sz="2400"/>
              <a:t>A</a:t>
            </a:r>
            <a:r>
              <a:rPr lang="zh-CN" altLang="en-US" sz="2400"/>
              <a:t>＝</a:t>
            </a:r>
            <a:r>
              <a:rPr lang="en-US" altLang="zh-CN" sz="2400"/>
              <a:t>{1,2,3}</a:t>
            </a:r>
            <a:r>
              <a:rPr lang="zh-CN" altLang="en-US" sz="2400"/>
              <a:t>，确定</a:t>
            </a:r>
            <a:r>
              <a:rPr lang="en-US" altLang="zh-CN" sz="2400"/>
              <a:t>A</a:t>
            </a:r>
            <a:r>
              <a:rPr lang="zh-CN" altLang="en-US" sz="2400"/>
              <a:t>上的全部等价关系。</a:t>
            </a:r>
            <a:endParaRPr lang="zh-CN" altLang="en-US" sz="2400" b="1"/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</a:t>
            </a:r>
            <a:r>
              <a:rPr lang="zh-CN" altLang="en-US" sz="2400" b="1">
                <a:solidFill>
                  <a:schemeClr val="hlink"/>
                </a:solidFill>
              </a:rPr>
              <a:t>解</a:t>
            </a:r>
            <a:r>
              <a:rPr lang="zh-CN" altLang="en-US" sz="2400"/>
              <a:t> </a:t>
            </a:r>
            <a:r>
              <a:rPr lang="zh-CN" altLang="en-US" sz="2400">
                <a:solidFill>
                  <a:schemeClr val="accent1"/>
                </a:solidFill>
              </a:rPr>
              <a:t>划分</a:t>
            </a:r>
            <a:r>
              <a:rPr lang="zh-CN" altLang="en-US" sz="2400"/>
              <a:t>                   </a:t>
            </a:r>
            <a:r>
              <a:rPr lang="zh-CN" altLang="en-US" sz="2400">
                <a:solidFill>
                  <a:schemeClr val="accent1"/>
                </a:solidFill>
              </a:rPr>
              <a:t>等价关系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</a:t>
            </a:r>
            <a:r>
              <a:rPr lang="en-US" altLang="zh-CN" sz="2400"/>
              <a:t>G</a:t>
            </a:r>
            <a:r>
              <a:rPr lang="zh-CN" altLang="en-US" sz="2400"/>
              <a:t>＝</a:t>
            </a:r>
            <a:r>
              <a:rPr lang="en-US" altLang="zh-CN" sz="2400"/>
              <a:t>{{1,2,3}}          P</a:t>
            </a:r>
            <a:r>
              <a:rPr lang="zh-CN" altLang="en-US" sz="2400"/>
              <a:t>＝</a:t>
            </a:r>
            <a:r>
              <a:rPr lang="en-US" altLang="zh-CN" sz="2400"/>
              <a:t>A×A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B</a:t>
            </a:r>
            <a:r>
              <a:rPr lang="zh-CN" altLang="en-US" sz="2400"/>
              <a:t>＝</a:t>
            </a:r>
            <a:r>
              <a:rPr lang="en-US" altLang="zh-CN" sz="2400"/>
              <a:t>{{1},{2,3}}       Q</a:t>
            </a:r>
            <a:r>
              <a:rPr lang="zh-CN" altLang="en-US" sz="2400"/>
              <a:t>＝</a:t>
            </a:r>
            <a:r>
              <a:rPr lang="en-US" altLang="zh-CN" sz="2400"/>
              <a:t>{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1,1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2,2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2,3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3,2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3,3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}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C</a:t>
            </a:r>
            <a:r>
              <a:rPr lang="zh-CN" altLang="en-US" sz="2400"/>
              <a:t>＝</a:t>
            </a:r>
            <a:r>
              <a:rPr lang="en-US" altLang="zh-CN" sz="2400"/>
              <a:t>{{2},{1,3}}       R</a:t>
            </a:r>
            <a:r>
              <a:rPr lang="zh-CN" altLang="en-US" sz="2400"/>
              <a:t>＝</a:t>
            </a:r>
            <a:r>
              <a:rPr lang="en-US" altLang="zh-CN" sz="2400"/>
              <a:t>{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2,2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1,1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1,3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3,1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3,3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}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D</a:t>
            </a:r>
            <a:r>
              <a:rPr lang="zh-CN" altLang="en-US" sz="2400"/>
              <a:t>＝</a:t>
            </a:r>
            <a:r>
              <a:rPr lang="en-US" altLang="zh-CN" sz="2400"/>
              <a:t>{{3},{1,2}}       S</a:t>
            </a:r>
            <a:r>
              <a:rPr lang="zh-CN" altLang="en-US" sz="2400"/>
              <a:t>＝</a:t>
            </a:r>
            <a:r>
              <a:rPr lang="en-US" altLang="zh-CN" sz="2400"/>
              <a:t>{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3,3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1,1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1,2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2,1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,</a:t>
            </a:r>
            <a:r>
              <a:rPr lang="en-US" altLang="zh-CN" sz="2400" b="1">
                <a:latin typeface="宋体" panose="02010600030101010101" pitchFamily="2" charset="-122"/>
              </a:rPr>
              <a:t>&lt;</a:t>
            </a:r>
            <a:r>
              <a:rPr lang="en-US" altLang="zh-CN" sz="2400"/>
              <a:t>2,2</a:t>
            </a:r>
            <a:r>
              <a:rPr lang="en-US" altLang="zh-CN" sz="2400" b="1">
                <a:latin typeface="宋体" panose="02010600030101010101" pitchFamily="2" charset="-122"/>
              </a:rPr>
              <a:t>&gt;</a:t>
            </a:r>
            <a:r>
              <a:rPr lang="en-US" altLang="zh-CN" sz="2400"/>
              <a:t>}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E</a:t>
            </a:r>
            <a:r>
              <a:rPr lang="zh-CN" altLang="en-US" sz="2400"/>
              <a:t>＝</a:t>
            </a:r>
            <a:r>
              <a:rPr lang="en-US" altLang="zh-CN" sz="2400"/>
              <a:t>{{1},{2},{3}}    T</a:t>
            </a:r>
            <a:r>
              <a:rPr lang="zh-CN" altLang="en-US" sz="2400"/>
              <a:t>＝</a:t>
            </a:r>
            <a:r>
              <a:rPr lang="en-US" altLang="zh-CN" sz="2400"/>
              <a:t>I</a:t>
            </a:r>
            <a:r>
              <a:rPr lang="en-US" altLang="zh-CN" sz="2400" baseline="-25000"/>
              <a:t>A</a:t>
            </a:r>
            <a:endParaRPr lang="en-US" altLang="zh-CN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>
            <a:extLst>
              <a:ext uri="{FF2B5EF4-FFF2-40B4-BE49-F238E27FC236}">
                <a16:creationId xmlns:a16="http://schemas.microsoft.com/office/drawing/2014/main" id="{6AF9487C-B003-657D-0B92-B67FF76298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 作  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9726C5-DFB3-48D0-F715-622B2BA4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1916113"/>
            <a:ext cx="7772400" cy="4114800"/>
          </a:xfrm>
        </p:spPr>
        <p:txBody>
          <a:bodyPr/>
          <a:lstStyle/>
          <a:p>
            <a:pPr>
              <a:lnSpc>
                <a:spcPct val="200000"/>
              </a:lnSpc>
              <a:defRPr/>
            </a:pPr>
            <a:r>
              <a:rPr lang="en-US" altLang="zh-CN" sz="3600">
                <a:solidFill>
                  <a:srgbClr val="FF0000"/>
                </a:solidFill>
              </a:rPr>
              <a:t>P79</a:t>
            </a:r>
            <a:r>
              <a:rPr lang="en-US" altLang="zh-CN" sz="3600"/>
              <a:t>   </a:t>
            </a:r>
            <a:r>
              <a:rPr lang="zh-CN" altLang="en-US" sz="3600" dirty="0"/>
              <a:t>习题</a:t>
            </a:r>
            <a:r>
              <a:rPr lang="en-US" altLang="zh-CN" sz="3600" dirty="0"/>
              <a:t>3.6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CN" sz="3600" dirty="0">
                <a:solidFill>
                  <a:srgbClr val="FF0000"/>
                </a:solidFill>
              </a:rPr>
              <a:t>P80</a:t>
            </a:r>
            <a:r>
              <a:rPr lang="en-US" altLang="zh-CN" sz="3600" dirty="0"/>
              <a:t>    </a:t>
            </a:r>
            <a:r>
              <a:rPr lang="zh-CN" altLang="en-US" sz="3600" dirty="0"/>
              <a:t>自学</a:t>
            </a:r>
            <a:r>
              <a:rPr lang="en-US" altLang="zh-CN" sz="3600" dirty="0"/>
              <a:t>3.7</a:t>
            </a:r>
            <a:r>
              <a:rPr lang="zh-CN" altLang="en-US" sz="3600" dirty="0"/>
              <a:t>节</a:t>
            </a:r>
            <a:endParaRPr lang="en-US" altLang="zh-CN" sz="3600" dirty="0"/>
          </a:p>
          <a:p>
            <a:pPr marL="0" indent="0">
              <a:lnSpc>
                <a:spcPct val="2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6174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782C6D8-0C4A-A991-361F-673F425428F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86193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习题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3.6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第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题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64C57A-EAC0-BD52-376D-6A3C8A2784F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61F7553-A979-3C81-E702-EEC161979C7D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90384F48-5A11-D0B8-7BE9-CB83015F48E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ABA5EDB0-0014-C47E-E48F-E8087DAD7FC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2CA19630-FE57-F660-485D-FECF3BDAEB94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C02F2B80-8EC4-B4FF-E435-FB3E6DFF619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6C6CCD5-7B5D-231C-1FD1-6DB7FCBC4CA4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54754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MA"/>
  <p:tag name="RAINPROBLEM" val="MultipleChoiceMA"/>
  <p:tag name="PROBLEMSCORE_HALF" val="0.0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" val="[{&quot;num&quot;:1,&quot;caseSensitive&quot;:false,&quot;fuzzyMatch&quot;:true,&quot;Score&quot;:1.0,&quot;answers&quot;:[&quot;5,10&quot;,&quot;5，10&quot;,&quot;5 10&quot;]},{&quot;num&quot;:2,&quot;caseSensitive&quot;:false,&quot;fuzzyMatch&quot;:true,&quot;Score&quot;:1.0,&quot;answers&quot;:[&quot;2,7&quot;,&quot;2，7&quot;,&quot;2 7&quot;]}]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2835</TotalTime>
  <Words>2861</Words>
  <Application>Microsoft Office PowerPoint</Application>
  <PresentationFormat>全屏显示(4:3)</PresentationFormat>
  <Paragraphs>282</Paragraphs>
  <Slides>32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宋体</vt:lpstr>
      <vt:lpstr>Microsoft Yahei</vt:lpstr>
      <vt:lpstr>Arial</vt:lpstr>
      <vt:lpstr>Calibri</vt:lpstr>
      <vt:lpstr>Tahoma</vt:lpstr>
      <vt:lpstr>Wingdings</vt:lpstr>
      <vt:lpstr>Blends</vt:lpstr>
      <vt:lpstr>Equation</vt:lpstr>
      <vt:lpstr>3.6 等价关系与划分 </vt:lpstr>
      <vt:lpstr> 3.6.1 等价关系的概念</vt:lpstr>
      <vt:lpstr>3.6.1 等价关系的概念</vt:lpstr>
      <vt:lpstr>3.6.1 等价关系的概念</vt:lpstr>
      <vt:lpstr>3.6.1 等价关系的概念</vt:lpstr>
      <vt:lpstr>3.6.1 等价关系的概念</vt:lpstr>
      <vt:lpstr>PowerPoint 演示文稿</vt:lpstr>
      <vt:lpstr>3.6.1 等价关系的概念</vt:lpstr>
      <vt:lpstr>PowerPoint 演示文稿</vt:lpstr>
      <vt:lpstr>3.6.1 等价关系的概念</vt:lpstr>
      <vt:lpstr>3.6.1 等价关系的概念</vt:lpstr>
      <vt:lpstr>3.6.2 等价类与商集</vt:lpstr>
      <vt:lpstr>3.6.2 等价类与商集</vt:lpstr>
      <vt:lpstr>3.6.2 等价类与商集</vt:lpstr>
      <vt:lpstr>3.6.1 等价关系的概念</vt:lpstr>
      <vt:lpstr>3.6.2 等价类与商集</vt:lpstr>
      <vt:lpstr>3.6.2 等价类与商集</vt:lpstr>
      <vt:lpstr>PowerPoint 演示文稿</vt:lpstr>
      <vt:lpstr>3.6.2 等价类与商集</vt:lpstr>
      <vt:lpstr>3.6.2 等价类与商集</vt:lpstr>
      <vt:lpstr>3.6.3 划分的概念 </vt:lpstr>
      <vt:lpstr>3.6.3 划分的概念</vt:lpstr>
      <vt:lpstr>3.6.3 划分的概念 </vt:lpstr>
      <vt:lpstr>习题</vt:lpstr>
      <vt:lpstr>3.6.4 划分一一对应等价关系</vt:lpstr>
      <vt:lpstr>3.6.4 划分一一对应等价关系</vt:lpstr>
      <vt:lpstr>3.6.4 划分一一对应等价关系</vt:lpstr>
      <vt:lpstr>3.6.4 划分一一对应等价关系</vt:lpstr>
      <vt:lpstr>3.6.4 划分一一对应等价关系</vt:lpstr>
      <vt:lpstr>3.6.4 划分一一对应等价关系</vt:lpstr>
      <vt:lpstr> 作  业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Duoduo</cp:lastModifiedBy>
  <cp:revision>71</cp:revision>
  <dcterms:created xsi:type="dcterms:W3CDTF">2010-04-09T13:44:14Z</dcterms:created>
  <dcterms:modified xsi:type="dcterms:W3CDTF">2023-11-06T11:11:22Z</dcterms:modified>
</cp:coreProperties>
</file>