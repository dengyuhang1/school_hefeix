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321" r:id="rId3"/>
    <p:sldId id="304" r:id="rId4"/>
    <p:sldId id="323" r:id="rId5"/>
    <p:sldId id="302" r:id="rId6"/>
    <p:sldId id="298" r:id="rId7"/>
    <p:sldId id="297" r:id="rId8"/>
    <p:sldId id="296" r:id="rId9"/>
    <p:sldId id="295" r:id="rId10"/>
    <p:sldId id="294" r:id="rId11"/>
    <p:sldId id="293" r:id="rId12"/>
    <p:sldId id="292" r:id="rId13"/>
    <p:sldId id="290" r:id="rId14"/>
    <p:sldId id="289" r:id="rId15"/>
    <p:sldId id="288" r:id="rId16"/>
    <p:sldId id="287" r:id="rId17"/>
    <p:sldId id="286" r:id="rId18"/>
    <p:sldId id="285" r:id="rId19"/>
    <p:sldId id="284" r:id="rId20"/>
    <p:sldId id="283" r:id="rId21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0066FF"/>
    <a:srgbClr val="0033CC"/>
    <a:srgbClr val="002060"/>
    <a:srgbClr val="FFFFFF"/>
    <a:srgbClr val="FF0000"/>
    <a:srgbClr val="FFFF00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204" autoAdjust="0"/>
  </p:normalViewPr>
  <p:slideViewPr>
    <p:cSldViewPr>
      <p:cViewPr varScale="1">
        <p:scale>
          <a:sx n="64" d="100"/>
          <a:sy n="64" d="100"/>
        </p:scale>
        <p:origin x="1344" y="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F01E6482-6EDA-BD4A-CA38-EAD9A9378F8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91DB6216-9339-AE1A-7FB6-EF43E67D4AE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4EBC652-BF73-47F5-BFC7-37CB0F9CFEC3}" type="datetimeFigureOut">
              <a:rPr lang="zh-CN" altLang="en-US"/>
              <a:pPr>
                <a:defRPr/>
              </a:pPr>
              <a:t>2023/11/21</a:t>
            </a:fld>
            <a:endParaRPr lang="en-US" altLang="zh-CN"/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204652E6-B007-7F98-26E0-51BA4E860B98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BDDF3FE0-EC3E-C29B-0CCB-DE0DC9397CE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6086" name="Rectangle 6">
            <a:extLst>
              <a:ext uri="{FF2B5EF4-FFF2-40B4-BE49-F238E27FC236}">
                <a16:creationId xmlns:a16="http://schemas.microsoft.com/office/drawing/2014/main" id="{B9E89164-8A68-C235-118B-32E46720824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087" name="Rectangle 7">
            <a:extLst>
              <a:ext uri="{FF2B5EF4-FFF2-40B4-BE49-F238E27FC236}">
                <a16:creationId xmlns:a16="http://schemas.microsoft.com/office/drawing/2014/main" id="{65E46C71-7AEB-E259-0854-7EE465DE99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F8E8AFA-D57B-4245-BA3E-AD33BFADCDC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B481CE-EB25-4FF5-882B-16F7671EC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E5A2F9-EAC9-4E56-84F6-E70C1FB221A8}" type="datetimeFigureOut">
              <a:rPr lang="zh-CN" altLang="en-US"/>
              <a:pPr>
                <a:defRPr/>
              </a:pPr>
              <a:t>2023/11/21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225F84-AB97-9996-9D87-D3E4D77CF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9D4E5C-203A-9F2A-C55A-E08EBA76E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AA391B-99F1-4D14-BB65-883AA6BAD8B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2163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228" y="74293"/>
            <a:ext cx="6840760" cy="762419"/>
          </a:xfrm>
        </p:spPr>
        <p:txBody>
          <a:bodyPr/>
          <a:lstStyle>
            <a:lvl1pPr>
              <a:defRPr>
                <a:solidFill>
                  <a:srgbClr val="002060"/>
                </a:solidFill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47A85F-458C-9CE0-67B2-18EF59306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6F403E-9F55-4854-8333-687AC925360F}" type="datetimeFigureOut">
              <a:rPr lang="zh-CN" altLang="en-US"/>
              <a:pPr>
                <a:defRPr/>
              </a:pPr>
              <a:t>2023/11/21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E5F744-B401-CB75-AD66-42C52FFDE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0F9AE7-D9B7-5DE8-A26B-1FBF71232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2571C0-AAA4-4326-AB08-1E2E50F464A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217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F8F73A-47DC-E030-46C3-71803F181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6E66B8-86A5-45B7-A4D3-09FFAC3259BF}" type="datetimeFigureOut">
              <a:rPr lang="zh-CN" altLang="en-US"/>
              <a:pPr>
                <a:defRPr/>
              </a:pPr>
              <a:t>2023/11/21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E7C753-9B5F-160E-1D96-9AD42EFE2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BFF709-7BE4-4779-C909-4BE670BEF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423D75-C837-44FA-99A1-123D2127D3E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9041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8D13FDBD-06CE-2337-B36C-43C7DAA18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DBDB1C-1E75-418F-9A36-62B248952AB7}" type="datetimeFigureOut">
              <a:rPr lang="zh-CN" altLang="en-US"/>
              <a:pPr>
                <a:defRPr/>
              </a:pPr>
              <a:t>2023/11/21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F35BCFB9-9260-DB74-D8C7-B7835BBD9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37F40365-1C7B-ECBB-BCCB-852201B08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B2C6F6-A6DB-42A9-9701-BC53AC69C922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8390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9C82A81E-80D8-BA43-7F3D-4E5845FA7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DE350E-F83C-479B-B003-A328F7D3A7C2}" type="datetimeFigureOut">
              <a:rPr lang="zh-CN" altLang="en-US"/>
              <a:pPr>
                <a:defRPr/>
              </a:pPr>
              <a:t>2023/11/21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8837E7D6-C533-7943-728B-470429385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B4E8CDC2-CAEC-D962-FABB-7FB4BE919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DED7FA-2C2C-44C8-BF07-7F1AEC766382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6328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B89FF22F-711C-A137-A457-4CA6B4393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A230B7-BAC6-466B-A1D3-886336C75FB8}" type="datetimeFigureOut">
              <a:rPr lang="zh-CN" altLang="en-US"/>
              <a:pPr>
                <a:defRPr/>
              </a:pPr>
              <a:t>2023/11/21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DD86F011-051A-0F04-A70E-6AD9F0BDF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7006D1B1-8143-3DA1-51EB-64E051C4D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AA0C37-39A6-41D8-8792-55D5852675CA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909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E47D4538-3E49-606B-49A7-05B138197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8121B8-F6DE-4B5B-AEFE-6C427B001644}" type="datetimeFigureOut">
              <a:rPr lang="zh-CN" altLang="en-US"/>
              <a:pPr>
                <a:defRPr/>
              </a:pPr>
              <a:t>2023/11/21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2F231F56-7310-4858-46D8-9DEE9A5F9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BDB4BD45-893E-C595-8295-CE9DAA18B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B4AD86-0396-439D-80EE-18B98CE96E2D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1407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BB663B20-145B-58AE-F83C-5A47BE0A8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978D5A-1561-49CB-8385-0D8235BCCDA5}" type="datetimeFigureOut">
              <a:rPr lang="zh-CN" altLang="en-US"/>
              <a:pPr>
                <a:defRPr/>
              </a:pPr>
              <a:t>2023/11/21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0637992D-B393-71E1-2E05-B993E5DA7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DB963320-8F5C-52AB-3202-D8DA94B65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9B2FE8-956B-460B-AED6-E931BE189B5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596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270611F0-890E-FF2B-BB2E-324DB58B7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345AE2-9624-4CB2-B4D0-9E21194287A1}" type="datetimeFigureOut">
              <a:rPr lang="zh-CN" altLang="en-US"/>
              <a:pPr>
                <a:defRPr/>
              </a:pPr>
              <a:t>2023/11/21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8F3704C6-E8F6-C804-6055-EEBF3ABF6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716AF4FE-FE44-682C-7211-FE7729ACF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BAF87C-AFAA-44E9-8605-C497B886B63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3393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0DE9DF-A454-D162-BB08-4804E2F6B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98FF14-6D87-4677-B484-783011EFC156}" type="datetimeFigureOut">
              <a:rPr lang="zh-CN" altLang="en-US"/>
              <a:pPr>
                <a:defRPr/>
              </a:pPr>
              <a:t>2023/11/21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E4DD69-FB26-672C-B8ED-F9B1CA5E2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9853EA-8A3A-984D-A838-BE8D7C9BB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7835A4-92B6-4F27-A635-D7075D58699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2022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6601A6-D4DC-9571-2553-E21B0C9F1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305E4B-7A60-46F0-A5D4-8592F88234F5}" type="datetimeFigureOut">
              <a:rPr lang="zh-CN" altLang="en-US"/>
              <a:pPr>
                <a:defRPr/>
              </a:pPr>
              <a:t>2023/11/21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667110-D2A3-0EB4-C61C-B58A62715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301F9E-6901-562A-70A3-4FB4B8DE8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CCB320-F495-44F9-AF16-73DD8F51BD0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833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E5C00FB2-CC87-B063-17FE-B05822053AF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7950" y="74613"/>
            <a:ext cx="6840538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AB6B391E-46C7-8F16-80C8-F7F6319EE8F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719FBE-B955-C385-2816-D49E09E172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31DCAEB-B451-41B3-9383-83FD38C49A20}" type="datetimeFigureOut">
              <a:rPr lang="zh-CN" altLang="en-US"/>
              <a:pPr>
                <a:defRPr/>
              </a:pPr>
              <a:t>2023/11/21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FCCC1E-EB7D-841A-8E5E-231722749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C7FCE2-8A29-301E-004C-5E067764CC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8C4EFBF0-F873-456E-AE04-EA3CF28B9247}" type="slidenum">
              <a:rPr lang="zh-CN" altLang="en-US"/>
              <a:pPr/>
              <a:t>‹#›</a:t>
            </a:fld>
            <a:endParaRPr lang="zh-CN" altLang="en-US"/>
          </a:p>
        </p:txBody>
      </p:sp>
      <p:pic>
        <p:nvPicPr>
          <p:cNvPr id="1031" name="Picture 1">
            <a:extLst>
              <a:ext uri="{FF2B5EF4-FFF2-40B4-BE49-F238E27FC236}">
                <a16:creationId xmlns:a16="http://schemas.microsoft.com/office/drawing/2014/main" id="{BDF07E09-1A82-1FC6-CDA0-CB1CE42A5BE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78" r="16451"/>
          <a:stretch>
            <a:fillRect/>
          </a:stretch>
        </p:blipFill>
        <p:spPr bwMode="auto">
          <a:xfrm>
            <a:off x="7956550" y="0"/>
            <a:ext cx="1108075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3727758D-44D6-4901-9844-0D341410669C}"/>
              </a:ext>
            </a:extLst>
          </p:cNvPr>
          <p:cNvCxnSpPr/>
          <p:nvPr userDrawn="1"/>
        </p:nvCxnSpPr>
        <p:spPr>
          <a:xfrm>
            <a:off x="0" y="836613"/>
            <a:ext cx="7854950" cy="0"/>
          </a:xfrm>
          <a:prstGeom prst="line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黑体" pitchFamily="2" charset="-122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黑体" pitchFamily="2" charset="-122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黑体" pitchFamily="2" charset="-122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黑体" pitchFamily="2" charset="-122"/>
          <a:ea typeface="黑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黑体" pitchFamily="2" charset="-122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黑体" pitchFamily="2" charset="-122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黑体" pitchFamily="2" charset="-122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黑体" pitchFamily="2" charset="-122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6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>
            <a:extLst>
              <a:ext uri="{FF2B5EF4-FFF2-40B4-BE49-F238E27FC236}">
                <a16:creationId xmlns:a16="http://schemas.microsoft.com/office/drawing/2014/main" id="{087E5BBA-4EF1-517D-61BF-8AE36CCFF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6454775"/>
            <a:ext cx="3384550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合肥工业大学 计算机与信息学院 </a:t>
            </a:r>
          </a:p>
        </p:txBody>
      </p:sp>
      <p:sp>
        <p:nvSpPr>
          <p:cNvPr id="2051" name="标题 12">
            <a:extLst>
              <a:ext uri="{FF2B5EF4-FFF2-40B4-BE49-F238E27FC236}">
                <a16:creationId xmlns:a16="http://schemas.microsoft.com/office/drawing/2014/main" id="{192C19EF-D6F4-C6AB-C2EA-3BCD50455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" y="74613"/>
            <a:ext cx="6761163" cy="762000"/>
          </a:xfrm>
        </p:spPr>
        <p:txBody>
          <a:bodyPr/>
          <a:lstStyle/>
          <a:p>
            <a:pPr eaLnBrk="1" hangingPunct="1"/>
            <a:r>
              <a:rPr lang="en-US" altLang="zh-CN" dirty="0"/>
              <a:t>7.4 </a:t>
            </a:r>
            <a:r>
              <a:rPr lang="zh-CN" altLang="zh-CN" dirty="0"/>
              <a:t>最短路问题</a:t>
            </a:r>
            <a:endParaRPr lang="zh-CN" altLang="en-US" dirty="0"/>
          </a:p>
        </p:txBody>
      </p:sp>
      <p:sp>
        <p:nvSpPr>
          <p:cNvPr id="2052" name="内容占位符 13">
            <a:extLst>
              <a:ext uri="{FF2B5EF4-FFF2-40B4-BE49-F238E27FC236}">
                <a16:creationId xmlns:a16="http://schemas.microsoft.com/office/drawing/2014/main" id="{C671B910-AD8D-86AD-B54A-72AA9BC21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" y="981075"/>
            <a:ext cx="8928100" cy="5473700"/>
          </a:xfrm>
        </p:spPr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en-US" altLang="zh-CN" sz="3600" b="1" dirty="0"/>
              <a:t>7.4.1  </a:t>
            </a:r>
            <a:r>
              <a:rPr lang="zh-CN" altLang="en-US" sz="3600" b="1" dirty="0"/>
              <a:t>问题背景</a:t>
            </a:r>
            <a:endParaRPr lang="en-US" altLang="zh-CN" sz="3600" b="1" dirty="0"/>
          </a:p>
          <a:p>
            <a:pPr eaLnBrk="1" hangingPunct="1">
              <a:lnSpc>
                <a:spcPct val="200000"/>
              </a:lnSpc>
            </a:pPr>
            <a:r>
              <a:rPr lang="en-US" altLang="zh-CN" sz="3600" b="1" dirty="0"/>
              <a:t>7.4.2 </a:t>
            </a:r>
            <a:r>
              <a:rPr lang="zh-CN" altLang="en-US" sz="3600" b="1" dirty="0">
                <a:solidFill>
                  <a:srgbClr val="00B050"/>
                </a:solidFill>
              </a:rPr>
              <a:t>无向</a:t>
            </a:r>
            <a:r>
              <a:rPr lang="zh-CN" altLang="en-US" sz="3600" b="1" dirty="0"/>
              <a:t>图的</a:t>
            </a:r>
            <a:r>
              <a:rPr lang="en-US" altLang="zh-CN" sz="3600" b="1" dirty="0"/>
              <a:t>Dijkstra</a:t>
            </a:r>
            <a:r>
              <a:rPr lang="zh-CN" altLang="zh-CN" sz="3600" b="1" dirty="0"/>
              <a:t>算法</a:t>
            </a:r>
            <a:endParaRPr lang="en-US" altLang="zh-CN" sz="3600" b="1" dirty="0"/>
          </a:p>
          <a:p>
            <a:pPr eaLnBrk="1" hangingPunct="1">
              <a:lnSpc>
                <a:spcPct val="200000"/>
              </a:lnSpc>
            </a:pPr>
            <a:r>
              <a:rPr lang="en-US" altLang="zh-CN" sz="3600" b="1" dirty="0"/>
              <a:t>7.4.3 </a:t>
            </a:r>
            <a:r>
              <a:rPr lang="zh-CN" altLang="en-US" sz="3600" b="1" dirty="0">
                <a:solidFill>
                  <a:srgbClr val="FF00FF"/>
                </a:solidFill>
              </a:rPr>
              <a:t>有向</a:t>
            </a:r>
            <a:r>
              <a:rPr lang="zh-CN" altLang="en-US" sz="3600" b="1" dirty="0"/>
              <a:t>图的</a:t>
            </a:r>
            <a:r>
              <a:rPr lang="en-US" altLang="zh-CN" sz="3600" b="1" dirty="0"/>
              <a:t>Dijkstra</a:t>
            </a:r>
            <a:r>
              <a:rPr lang="zh-CN" altLang="zh-CN" sz="3600" b="1" dirty="0"/>
              <a:t>算法</a:t>
            </a:r>
            <a:endParaRPr lang="en-US" altLang="zh-CN" sz="3600" b="1" dirty="0"/>
          </a:p>
          <a:p>
            <a:pPr eaLnBrk="1" hangingPunct="1">
              <a:lnSpc>
                <a:spcPct val="200000"/>
              </a:lnSpc>
            </a:pPr>
            <a:r>
              <a:rPr lang="en-US" altLang="zh-CN" sz="3600" b="1" dirty="0"/>
              <a:t>7.4.4  </a:t>
            </a:r>
            <a:r>
              <a:rPr lang="zh-CN" altLang="en-US" sz="3600" b="1" dirty="0"/>
              <a:t>任两结点间的最短路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5">
            <a:extLst>
              <a:ext uri="{FF2B5EF4-FFF2-40B4-BE49-F238E27FC236}">
                <a16:creationId xmlns:a16="http://schemas.microsoft.com/office/drawing/2014/main" id="{3A611D30-84E9-4DBE-35D3-02B41D653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6454775"/>
            <a:ext cx="3384550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合肥工业大学 计算机与信息学院 </a:t>
            </a:r>
          </a:p>
        </p:txBody>
      </p:sp>
      <p:sp>
        <p:nvSpPr>
          <p:cNvPr id="3075" name="标题 12">
            <a:extLst>
              <a:ext uri="{FF2B5EF4-FFF2-40B4-BE49-F238E27FC236}">
                <a16:creationId xmlns:a16="http://schemas.microsoft.com/office/drawing/2014/main" id="{5C74EAE0-32B3-616E-FD6F-E53E13064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" y="74613"/>
            <a:ext cx="6761163" cy="762000"/>
          </a:xfrm>
        </p:spPr>
        <p:txBody>
          <a:bodyPr/>
          <a:lstStyle/>
          <a:p>
            <a:pPr eaLnBrk="1" hangingPunct="1"/>
            <a:r>
              <a:rPr lang="en-US" altLang="zh-CN" dirty="0"/>
              <a:t>7.4.1  </a:t>
            </a:r>
            <a:r>
              <a:rPr lang="zh-CN" altLang="en-US" dirty="0"/>
              <a:t>问题背景</a:t>
            </a:r>
          </a:p>
        </p:txBody>
      </p:sp>
      <p:sp>
        <p:nvSpPr>
          <p:cNvPr id="5124" name="内容占位符 13">
            <a:extLst>
              <a:ext uri="{FF2B5EF4-FFF2-40B4-BE49-F238E27FC236}">
                <a16:creationId xmlns:a16="http://schemas.microsoft.com/office/drawing/2014/main" id="{C5359E76-25BD-F7E7-F54A-60BB851A3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" y="981075"/>
            <a:ext cx="8928100" cy="5473700"/>
          </a:xfrm>
        </p:spPr>
        <p:txBody>
          <a:bodyPr/>
          <a:lstStyle/>
          <a:p>
            <a:pPr eaLnBrk="1" hangingPunct="1">
              <a:buFont typeface="Arial" charset="0"/>
              <a:buChar char="•"/>
              <a:defRPr/>
            </a:pPr>
            <a:r>
              <a:rPr lang="zh-CN" altLang="zh-CN" b="1" dirty="0">
                <a:solidFill>
                  <a:srgbClr val="FF0000"/>
                </a:solidFill>
              </a:rPr>
              <a:t>加权图</a:t>
            </a:r>
            <a:r>
              <a:rPr lang="zh-CN" altLang="en-US" b="1" dirty="0">
                <a:solidFill>
                  <a:prstClr val="black"/>
                </a:solidFill>
              </a:rPr>
              <a:t>：</a:t>
            </a:r>
            <a:r>
              <a:rPr lang="zh-CN" altLang="zh-CN" dirty="0">
                <a:solidFill>
                  <a:prstClr val="black"/>
                </a:solidFill>
              </a:rPr>
              <a:t>边上有数的图</a:t>
            </a:r>
            <a:r>
              <a:rPr lang="zh-CN" altLang="en-US" dirty="0">
                <a:solidFill>
                  <a:prstClr val="black"/>
                </a:solidFill>
              </a:rPr>
              <a:t>。</a:t>
            </a:r>
            <a:endParaRPr lang="en-US" altLang="zh-CN" dirty="0">
              <a:solidFill>
                <a:prstClr val="black"/>
              </a:solidFill>
            </a:endParaRPr>
          </a:p>
          <a:p>
            <a:pPr eaLnBrk="1" hangingPunct="1">
              <a:buFont typeface="Arial" charset="0"/>
              <a:buChar char="•"/>
              <a:defRPr/>
            </a:pPr>
            <a:endParaRPr lang="en-US" altLang="zh-CN" b="1" dirty="0">
              <a:solidFill>
                <a:prstClr val="black"/>
              </a:solidFill>
            </a:endParaRPr>
          </a:p>
          <a:p>
            <a:pPr eaLnBrk="1" hangingPunct="1">
              <a:buFont typeface="Arial" charset="0"/>
              <a:buChar char="•"/>
              <a:defRPr/>
            </a:pPr>
            <a:endParaRPr lang="en-US" altLang="zh-CN" b="1" dirty="0">
              <a:solidFill>
                <a:prstClr val="black"/>
              </a:solidFill>
            </a:endParaRPr>
          </a:p>
          <a:p>
            <a:pPr eaLnBrk="1" hangingPunct="1">
              <a:buFont typeface="Arial" charset="0"/>
              <a:buChar char="•"/>
              <a:defRPr/>
            </a:pPr>
            <a:endParaRPr lang="en-US" altLang="zh-CN" b="1" dirty="0">
              <a:solidFill>
                <a:prstClr val="black"/>
              </a:solidFill>
            </a:endParaRPr>
          </a:p>
          <a:p>
            <a:pPr marL="0" indent="0" eaLnBrk="1" hangingPunct="1">
              <a:buFont typeface="Arial" charset="0"/>
              <a:buNone/>
              <a:defRPr/>
            </a:pPr>
            <a:endParaRPr lang="en-US" altLang="zh-CN" b="1" dirty="0">
              <a:solidFill>
                <a:prstClr val="black"/>
              </a:solidFill>
            </a:endParaRPr>
          </a:p>
          <a:p>
            <a:pPr eaLnBrk="1" hangingPunct="1">
              <a:buFont typeface="Arial" charset="0"/>
              <a:buChar char="•"/>
              <a:defRPr/>
            </a:pPr>
            <a:r>
              <a:rPr lang="zh-CN" altLang="zh-CN" dirty="0">
                <a:solidFill>
                  <a:prstClr val="black"/>
                </a:solidFill>
              </a:rPr>
              <a:t>加权图中路的</a:t>
            </a:r>
            <a:r>
              <a:rPr lang="zh-CN" altLang="zh-CN" b="1" dirty="0">
                <a:solidFill>
                  <a:srgbClr val="00B050"/>
                </a:solidFill>
              </a:rPr>
              <a:t>长度</a:t>
            </a:r>
            <a:r>
              <a:rPr lang="zh-CN" altLang="en-US" b="1" dirty="0">
                <a:solidFill>
                  <a:prstClr val="black"/>
                </a:solidFill>
              </a:rPr>
              <a:t>：</a:t>
            </a:r>
            <a:r>
              <a:rPr lang="zh-CN" altLang="zh-CN" dirty="0">
                <a:solidFill>
                  <a:prstClr val="black"/>
                </a:solidFill>
              </a:rPr>
              <a:t>路上的所有边的权值的和</a:t>
            </a:r>
            <a:r>
              <a:rPr lang="zh-CN" altLang="en-US" dirty="0">
                <a:solidFill>
                  <a:prstClr val="black"/>
                </a:solidFill>
              </a:rPr>
              <a:t>。</a:t>
            </a:r>
            <a:endParaRPr lang="en-US" altLang="zh-CN" dirty="0">
              <a:solidFill>
                <a:prstClr val="black"/>
              </a:solidFill>
            </a:endParaRPr>
          </a:p>
          <a:p>
            <a:pPr eaLnBrk="1" hangingPunct="1">
              <a:buFont typeface="Arial" charset="0"/>
              <a:buChar char="•"/>
              <a:defRPr/>
            </a:pPr>
            <a:r>
              <a:rPr lang="zh-CN" altLang="zh-CN" b="1" dirty="0">
                <a:solidFill>
                  <a:srgbClr val="FF00FF"/>
                </a:solidFill>
              </a:rPr>
              <a:t>最短路</a:t>
            </a:r>
            <a:r>
              <a:rPr lang="zh-CN" altLang="en-US" dirty="0">
                <a:solidFill>
                  <a:prstClr val="black"/>
                </a:solidFill>
              </a:rPr>
              <a:t>：</a:t>
            </a:r>
            <a:r>
              <a:rPr lang="zh-CN" altLang="zh-CN" dirty="0">
                <a:solidFill>
                  <a:prstClr val="black"/>
                </a:solidFill>
              </a:rPr>
              <a:t>最小长度的路</a:t>
            </a:r>
            <a:r>
              <a:rPr lang="zh-CN" altLang="en-US" dirty="0">
                <a:solidFill>
                  <a:prstClr val="black"/>
                </a:solidFill>
              </a:rPr>
              <a:t>。</a:t>
            </a:r>
            <a:endParaRPr lang="en-US" altLang="zh-CN" dirty="0">
              <a:solidFill>
                <a:prstClr val="black"/>
              </a:solidFill>
            </a:endParaRPr>
          </a:p>
          <a:p>
            <a:pPr eaLnBrk="1" hangingPunct="1">
              <a:buFont typeface="Arial" charset="0"/>
              <a:buChar char="•"/>
              <a:defRPr/>
            </a:pPr>
            <a:r>
              <a:rPr lang="zh-CN" altLang="zh-CN" b="1" dirty="0">
                <a:solidFill>
                  <a:srgbClr val="0033CC"/>
                </a:solidFill>
              </a:rPr>
              <a:t>最短路问题</a:t>
            </a:r>
            <a:r>
              <a:rPr lang="zh-CN" altLang="en-US" dirty="0">
                <a:solidFill>
                  <a:prstClr val="black"/>
                </a:solidFill>
              </a:rPr>
              <a:t>：找出</a:t>
            </a:r>
            <a:r>
              <a:rPr lang="zh-CN" altLang="zh-CN" dirty="0">
                <a:solidFill>
                  <a:prstClr val="black"/>
                </a:solidFill>
              </a:rPr>
              <a:t>加权图中两个指定结点之间</a:t>
            </a:r>
            <a:endParaRPr lang="en-US" altLang="zh-CN" dirty="0">
              <a:solidFill>
                <a:prstClr val="black"/>
              </a:solidFill>
            </a:endParaRPr>
          </a:p>
          <a:p>
            <a:pPr marL="0" indent="0" eaLnBrk="1" hangingPunct="1">
              <a:buFont typeface="Arial" charset="0"/>
              <a:buNone/>
              <a:defRPr/>
            </a:pPr>
            <a:r>
              <a:rPr lang="en-US" altLang="zh-CN" dirty="0">
                <a:solidFill>
                  <a:prstClr val="black"/>
                </a:solidFill>
              </a:rPr>
              <a:t>                               </a:t>
            </a:r>
            <a:r>
              <a:rPr lang="zh-CN" altLang="zh-CN" dirty="0">
                <a:solidFill>
                  <a:prstClr val="black"/>
                </a:solidFill>
              </a:rPr>
              <a:t>的最短路</a:t>
            </a:r>
            <a:r>
              <a:rPr lang="zh-CN" altLang="en-US" dirty="0">
                <a:solidFill>
                  <a:prstClr val="black"/>
                </a:solidFill>
              </a:rPr>
              <a:t>。</a:t>
            </a:r>
            <a:r>
              <a:rPr lang="en-US" altLang="zh-CN" dirty="0">
                <a:solidFill>
                  <a:prstClr val="black"/>
                </a:solidFill>
              </a:rPr>
              <a:t>  </a:t>
            </a:r>
          </a:p>
          <a:p>
            <a:pPr marL="0" indent="0" eaLnBrk="1" hangingPunct="1">
              <a:buFont typeface="Arial" charset="0"/>
              <a:buNone/>
              <a:defRPr/>
            </a:pPr>
            <a:r>
              <a:rPr lang="en-US" altLang="zh-CN" dirty="0">
                <a:solidFill>
                  <a:prstClr val="black"/>
                </a:solidFill>
              </a:rPr>
              <a:t>                </a:t>
            </a:r>
            <a:endParaRPr lang="zh-CN" altLang="en-US" dirty="0"/>
          </a:p>
        </p:txBody>
      </p:sp>
      <p:sp>
        <p:nvSpPr>
          <p:cNvPr id="3077" name="Rectangle 37">
            <a:extLst>
              <a:ext uri="{FF2B5EF4-FFF2-40B4-BE49-F238E27FC236}">
                <a16:creationId xmlns:a16="http://schemas.microsoft.com/office/drawing/2014/main" id="{3F01438D-A80E-A4C7-17B2-394C6B7DC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</a:endParaRPr>
          </a:p>
        </p:txBody>
      </p:sp>
      <p:grpSp>
        <p:nvGrpSpPr>
          <p:cNvPr id="3078" name="Group 5">
            <a:extLst>
              <a:ext uri="{FF2B5EF4-FFF2-40B4-BE49-F238E27FC236}">
                <a16:creationId xmlns:a16="http://schemas.microsoft.com/office/drawing/2014/main" id="{554993D1-6A59-28C5-2C97-1FAFE23B002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327275" y="1268413"/>
            <a:ext cx="5557838" cy="2759075"/>
            <a:chOff x="2745" y="11237"/>
            <a:chExt cx="5834" cy="2671"/>
          </a:xfrm>
        </p:grpSpPr>
        <p:sp>
          <p:nvSpPr>
            <p:cNvPr id="3079" name="AutoShape 36">
              <a:extLst>
                <a:ext uri="{FF2B5EF4-FFF2-40B4-BE49-F238E27FC236}">
                  <a16:creationId xmlns:a16="http://schemas.microsoft.com/office/drawing/2014/main" id="{4CC809D1-CAE0-06D4-96D2-04368414084C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745" y="11237"/>
              <a:ext cx="5834" cy="2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0" name="Text Box 35">
              <a:extLst>
                <a:ext uri="{FF2B5EF4-FFF2-40B4-BE49-F238E27FC236}">
                  <a16:creationId xmlns:a16="http://schemas.microsoft.com/office/drawing/2014/main" id="{D09C0C53-1584-AB7D-EAE4-4797BA0B9B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6" y="11395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US" altLang="zh-CN" sz="2800">
                <a:solidFill>
                  <a:srgbClr val="000000"/>
                </a:solidFill>
              </a:endParaRPr>
            </a:p>
          </p:txBody>
        </p:sp>
        <p:sp>
          <p:nvSpPr>
            <p:cNvPr id="3081" name="Text Box 34">
              <a:extLst>
                <a:ext uri="{FF2B5EF4-FFF2-40B4-BE49-F238E27FC236}">
                  <a16:creationId xmlns:a16="http://schemas.microsoft.com/office/drawing/2014/main" id="{82BFD60F-B173-6A56-8E2B-4BDC8211FE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0" y="11439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 sz="2800">
                <a:solidFill>
                  <a:srgbClr val="000000"/>
                </a:solidFill>
              </a:endParaRPr>
            </a:p>
          </p:txBody>
        </p:sp>
        <p:sp>
          <p:nvSpPr>
            <p:cNvPr id="3082" name="Text Box 33">
              <a:extLst>
                <a:ext uri="{FF2B5EF4-FFF2-40B4-BE49-F238E27FC236}">
                  <a16:creationId xmlns:a16="http://schemas.microsoft.com/office/drawing/2014/main" id="{404E00A8-FD26-CF77-64A3-76F4A085AD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28" y="12378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altLang="zh-CN" sz="2800">
                <a:solidFill>
                  <a:srgbClr val="000000"/>
                </a:solidFill>
              </a:endParaRPr>
            </a:p>
          </p:txBody>
        </p:sp>
        <p:sp>
          <p:nvSpPr>
            <p:cNvPr id="3083" name="Text Box 32">
              <a:extLst>
                <a:ext uri="{FF2B5EF4-FFF2-40B4-BE49-F238E27FC236}">
                  <a16:creationId xmlns:a16="http://schemas.microsoft.com/office/drawing/2014/main" id="{FFEDA8E4-BE9C-60B5-E786-156BE56001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5" y="13159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sz="2800">
                <a:solidFill>
                  <a:srgbClr val="000000"/>
                </a:solidFill>
              </a:endParaRPr>
            </a:p>
          </p:txBody>
        </p:sp>
        <p:sp>
          <p:nvSpPr>
            <p:cNvPr id="3084" name="Text Box 31">
              <a:extLst>
                <a:ext uri="{FF2B5EF4-FFF2-40B4-BE49-F238E27FC236}">
                  <a16:creationId xmlns:a16="http://schemas.microsoft.com/office/drawing/2014/main" id="{A106637A-2D1E-55D4-D152-8ACD64153A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4" y="12255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2800">
                <a:solidFill>
                  <a:srgbClr val="000000"/>
                </a:solidFill>
              </a:endParaRPr>
            </a:p>
          </p:txBody>
        </p:sp>
        <p:sp>
          <p:nvSpPr>
            <p:cNvPr id="3085" name="Text Box 30">
              <a:extLst>
                <a:ext uri="{FF2B5EF4-FFF2-40B4-BE49-F238E27FC236}">
                  <a16:creationId xmlns:a16="http://schemas.microsoft.com/office/drawing/2014/main" id="{59E2563F-2DBC-8028-9EA0-FA9638FE79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8" y="13127"/>
              <a:ext cx="741" cy="7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altLang="zh-CN" sz="2800">
                <a:solidFill>
                  <a:srgbClr val="000000"/>
                </a:solidFill>
              </a:endParaRPr>
            </a:p>
          </p:txBody>
        </p:sp>
        <p:sp>
          <p:nvSpPr>
            <p:cNvPr id="3086" name="Text Box 29">
              <a:extLst>
                <a:ext uri="{FF2B5EF4-FFF2-40B4-BE49-F238E27FC236}">
                  <a16:creationId xmlns:a16="http://schemas.microsoft.com/office/drawing/2014/main" id="{41605C50-0485-900B-F4AF-57171CD2E9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4" y="11773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2800">
                <a:solidFill>
                  <a:srgbClr val="FF0000"/>
                </a:solidFill>
              </a:endParaRPr>
            </a:p>
          </p:txBody>
        </p:sp>
        <p:sp>
          <p:nvSpPr>
            <p:cNvPr id="3087" name="Text Box 28">
              <a:extLst>
                <a:ext uri="{FF2B5EF4-FFF2-40B4-BE49-F238E27FC236}">
                  <a16:creationId xmlns:a16="http://schemas.microsoft.com/office/drawing/2014/main" id="{21363BEA-28D9-39F6-CA4E-899330B86C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0" y="12769"/>
              <a:ext cx="742" cy="7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800">
                <a:solidFill>
                  <a:srgbClr val="FF0000"/>
                </a:solidFill>
              </a:endParaRPr>
            </a:p>
          </p:txBody>
        </p:sp>
        <p:sp>
          <p:nvSpPr>
            <p:cNvPr id="3088" name="Text Box 27">
              <a:extLst>
                <a:ext uri="{FF2B5EF4-FFF2-40B4-BE49-F238E27FC236}">
                  <a16:creationId xmlns:a16="http://schemas.microsoft.com/office/drawing/2014/main" id="{EF06E78A-399A-3235-FBA1-1753E1D7D2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0" y="12351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800">
                <a:solidFill>
                  <a:srgbClr val="FF0000"/>
                </a:solidFill>
              </a:endParaRPr>
            </a:p>
          </p:txBody>
        </p:sp>
        <p:sp>
          <p:nvSpPr>
            <p:cNvPr id="3089" name="Text Box 26">
              <a:extLst>
                <a:ext uri="{FF2B5EF4-FFF2-40B4-BE49-F238E27FC236}">
                  <a16:creationId xmlns:a16="http://schemas.microsoft.com/office/drawing/2014/main" id="{9656B871-7676-3CB9-6EAE-A85600ACAE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9" y="13068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altLang="zh-CN" sz="2800">
                <a:solidFill>
                  <a:srgbClr val="FF0000"/>
                </a:solidFill>
              </a:endParaRPr>
            </a:p>
          </p:txBody>
        </p:sp>
        <p:sp>
          <p:nvSpPr>
            <p:cNvPr id="3090" name="Text Box 25">
              <a:extLst>
                <a:ext uri="{FF2B5EF4-FFF2-40B4-BE49-F238E27FC236}">
                  <a16:creationId xmlns:a16="http://schemas.microsoft.com/office/drawing/2014/main" id="{22403F15-EAE3-CA41-0C78-FEB85F729A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2" y="12925"/>
              <a:ext cx="742" cy="7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2800">
                <a:solidFill>
                  <a:srgbClr val="FF0000"/>
                </a:solidFill>
              </a:endParaRPr>
            </a:p>
          </p:txBody>
        </p:sp>
        <p:sp>
          <p:nvSpPr>
            <p:cNvPr id="3091" name="Text Box 24">
              <a:extLst>
                <a:ext uri="{FF2B5EF4-FFF2-40B4-BE49-F238E27FC236}">
                  <a16:creationId xmlns:a16="http://schemas.microsoft.com/office/drawing/2014/main" id="{D3839611-85CB-7E5C-E776-6D99401464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1" y="11849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2800">
                <a:solidFill>
                  <a:srgbClr val="FF0000"/>
                </a:solidFill>
              </a:endParaRPr>
            </a:p>
          </p:txBody>
        </p:sp>
        <p:sp>
          <p:nvSpPr>
            <p:cNvPr id="3092" name="Text Box 23">
              <a:extLst>
                <a:ext uri="{FF2B5EF4-FFF2-40B4-BE49-F238E27FC236}">
                  <a16:creationId xmlns:a16="http://schemas.microsoft.com/office/drawing/2014/main" id="{3E042A44-C88F-6094-1837-A222F5B7F9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5" y="11547"/>
              <a:ext cx="741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2800">
                <a:solidFill>
                  <a:srgbClr val="FF0000"/>
                </a:solidFill>
              </a:endParaRPr>
            </a:p>
          </p:txBody>
        </p:sp>
        <p:sp>
          <p:nvSpPr>
            <p:cNvPr id="3093" name="Text Box 22">
              <a:extLst>
                <a:ext uri="{FF2B5EF4-FFF2-40B4-BE49-F238E27FC236}">
                  <a16:creationId xmlns:a16="http://schemas.microsoft.com/office/drawing/2014/main" id="{54E1754B-951D-5132-12EC-CF7E110631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5" y="12130"/>
              <a:ext cx="742" cy="7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altLang="zh-CN" sz="2800">
                <a:solidFill>
                  <a:srgbClr val="FF0000"/>
                </a:solidFill>
              </a:endParaRPr>
            </a:p>
          </p:txBody>
        </p:sp>
        <p:sp>
          <p:nvSpPr>
            <p:cNvPr id="3094" name="Text Box 21">
              <a:extLst>
                <a:ext uri="{FF2B5EF4-FFF2-40B4-BE49-F238E27FC236}">
                  <a16:creationId xmlns:a16="http://schemas.microsoft.com/office/drawing/2014/main" id="{D64ADB42-4FC3-098C-5EE8-F32CE8DB76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09" y="12303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800">
                <a:solidFill>
                  <a:srgbClr val="FF0000"/>
                </a:solidFill>
              </a:endParaRPr>
            </a:p>
          </p:txBody>
        </p:sp>
        <p:sp>
          <p:nvSpPr>
            <p:cNvPr id="3095" name="Oval 20">
              <a:extLst>
                <a:ext uri="{FF2B5EF4-FFF2-40B4-BE49-F238E27FC236}">
                  <a16:creationId xmlns:a16="http://schemas.microsoft.com/office/drawing/2014/main" id="{6D297D95-9B0B-8867-0C51-9354BF1CC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2" y="11874"/>
              <a:ext cx="256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096" name="Oval 19">
              <a:extLst>
                <a:ext uri="{FF2B5EF4-FFF2-40B4-BE49-F238E27FC236}">
                  <a16:creationId xmlns:a16="http://schemas.microsoft.com/office/drawing/2014/main" id="{59E0B456-8FC2-DBBB-8CE6-32378F92EB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0" y="13023"/>
              <a:ext cx="255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097" name="Oval 18">
              <a:extLst>
                <a:ext uri="{FF2B5EF4-FFF2-40B4-BE49-F238E27FC236}">
                  <a16:creationId xmlns:a16="http://schemas.microsoft.com/office/drawing/2014/main" id="{285D868F-6B9D-FC67-4F6C-0602D89FA2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9" y="11875"/>
              <a:ext cx="256" cy="25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098" name="Oval 17">
              <a:extLst>
                <a:ext uri="{FF2B5EF4-FFF2-40B4-BE49-F238E27FC236}">
                  <a16:creationId xmlns:a16="http://schemas.microsoft.com/office/drawing/2014/main" id="{8B32A338-B2F0-38ED-4664-46768A1F43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2" y="12434"/>
              <a:ext cx="256" cy="25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099" name="Oval 16">
              <a:extLst>
                <a:ext uri="{FF2B5EF4-FFF2-40B4-BE49-F238E27FC236}">
                  <a16:creationId xmlns:a16="http://schemas.microsoft.com/office/drawing/2014/main" id="{9641D24B-3DBF-9588-4B68-75E777F189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08" y="12547"/>
              <a:ext cx="255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100" name="Oval 15">
              <a:extLst>
                <a:ext uri="{FF2B5EF4-FFF2-40B4-BE49-F238E27FC236}">
                  <a16:creationId xmlns:a16="http://schemas.microsoft.com/office/drawing/2014/main" id="{69A9C6E4-E124-DC3A-BC82-B01F8EEA1F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9" y="13058"/>
              <a:ext cx="256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cxnSp>
          <p:nvCxnSpPr>
            <p:cNvPr id="3101" name="AutoShape 14">
              <a:extLst>
                <a:ext uri="{FF2B5EF4-FFF2-40B4-BE49-F238E27FC236}">
                  <a16:creationId xmlns:a16="http://schemas.microsoft.com/office/drawing/2014/main" id="{A94B7AEE-923A-E1D9-78C0-F94309F1528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688" y="12002"/>
              <a:ext cx="1451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02" name="AutoShape 13">
              <a:extLst>
                <a:ext uri="{FF2B5EF4-FFF2-40B4-BE49-F238E27FC236}">
                  <a16:creationId xmlns:a16="http://schemas.microsoft.com/office/drawing/2014/main" id="{655F1393-1EC4-6C78-7DC5-C640D80E4EF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705" y="13151"/>
              <a:ext cx="1434" cy="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03" name="AutoShape 12">
              <a:extLst>
                <a:ext uri="{FF2B5EF4-FFF2-40B4-BE49-F238E27FC236}">
                  <a16:creationId xmlns:a16="http://schemas.microsoft.com/office/drawing/2014/main" id="{FDC5D6B8-7051-E3EA-8659-0138475C445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560" y="12130"/>
              <a:ext cx="18" cy="89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04" name="AutoShape 11">
              <a:extLst>
                <a:ext uri="{FF2B5EF4-FFF2-40B4-BE49-F238E27FC236}">
                  <a16:creationId xmlns:a16="http://schemas.microsoft.com/office/drawing/2014/main" id="{F1220882-9069-4857-47AE-79DEC9FCA84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267" y="12130"/>
              <a:ext cx="1" cy="92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05" name="AutoShape 10">
              <a:extLst>
                <a:ext uri="{FF2B5EF4-FFF2-40B4-BE49-F238E27FC236}">
                  <a16:creationId xmlns:a16="http://schemas.microsoft.com/office/drawing/2014/main" id="{DFA42B28-D8EE-FB20-C37F-A00B43BF5F2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358" y="12093"/>
              <a:ext cx="1287" cy="49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06" name="AutoShape 9">
              <a:extLst>
                <a:ext uri="{FF2B5EF4-FFF2-40B4-BE49-F238E27FC236}">
                  <a16:creationId xmlns:a16="http://schemas.microsoft.com/office/drawing/2014/main" id="{F5AABCB2-4264-40E3-1744-072FC4E874E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395" y="12767"/>
              <a:ext cx="1250" cy="41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07" name="AutoShape 8">
              <a:extLst>
                <a:ext uri="{FF2B5EF4-FFF2-40B4-BE49-F238E27FC236}">
                  <a16:creationId xmlns:a16="http://schemas.microsoft.com/office/drawing/2014/main" id="{0C0D1567-E49F-B292-8AAA-CC62CD82DE9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421" y="12002"/>
              <a:ext cx="1011" cy="46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08" name="AutoShape 7">
              <a:extLst>
                <a:ext uri="{FF2B5EF4-FFF2-40B4-BE49-F238E27FC236}">
                  <a16:creationId xmlns:a16="http://schemas.microsoft.com/office/drawing/2014/main" id="{6B195620-0612-4C9A-30B7-E9210149D17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21" y="12652"/>
              <a:ext cx="1029" cy="49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09" name="AutoShape 6">
              <a:extLst>
                <a:ext uri="{FF2B5EF4-FFF2-40B4-BE49-F238E27FC236}">
                  <a16:creationId xmlns:a16="http://schemas.microsoft.com/office/drawing/2014/main" id="{00BE3C1F-3A43-232B-21FE-0794E5C9D60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669" y="12093"/>
              <a:ext cx="1507" cy="96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5">
            <a:extLst>
              <a:ext uri="{FF2B5EF4-FFF2-40B4-BE49-F238E27FC236}">
                <a16:creationId xmlns:a16="http://schemas.microsoft.com/office/drawing/2014/main" id="{7EC0906D-6A1D-B574-35A2-8D3A879111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6454775"/>
            <a:ext cx="3384550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合肥工业大学 计算机与信息学院 </a:t>
            </a:r>
          </a:p>
        </p:txBody>
      </p:sp>
      <p:sp>
        <p:nvSpPr>
          <p:cNvPr id="4099" name="标题 12">
            <a:extLst>
              <a:ext uri="{FF2B5EF4-FFF2-40B4-BE49-F238E27FC236}">
                <a16:creationId xmlns:a16="http://schemas.microsoft.com/office/drawing/2014/main" id="{820AB646-0866-F407-9BAC-8870F253A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" y="74613"/>
            <a:ext cx="6761163" cy="762000"/>
          </a:xfrm>
        </p:spPr>
        <p:txBody>
          <a:bodyPr/>
          <a:lstStyle/>
          <a:p>
            <a:pPr eaLnBrk="1" hangingPunct="1"/>
            <a:r>
              <a:rPr lang="en-US" altLang="zh-CN" dirty="0"/>
              <a:t>7.4.2 </a:t>
            </a:r>
            <a:r>
              <a:rPr lang="zh-CN" altLang="en-US" dirty="0">
                <a:solidFill>
                  <a:srgbClr val="00B050"/>
                </a:solidFill>
              </a:rPr>
              <a:t>无向</a:t>
            </a:r>
            <a:r>
              <a:rPr lang="zh-CN" altLang="en-US" dirty="0"/>
              <a:t>图的</a:t>
            </a:r>
            <a:r>
              <a:rPr lang="en-US" altLang="zh-CN" dirty="0"/>
              <a:t>Dijkstra</a:t>
            </a:r>
            <a:r>
              <a:rPr lang="zh-CN" altLang="zh-CN" dirty="0"/>
              <a:t>算法</a:t>
            </a:r>
            <a:endParaRPr lang="en-US" altLang="zh-CN" dirty="0"/>
          </a:p>
        </p:txBody>
      </p:sp>
      <p:sp>
        <p:nvSpPr>
          <p:cNvPr id="4100" name="内容占位符 13">
            <a:extLst>
              <a:ext uri="{FF2B5EF4-FFF2-40B4-BE49-F238E27FC236}">
                <a16:creationId xmlns:a16="http://schemas.microsoft.com/office/drawing/2014/main" id="{5692B551-CD53-136E-C292-C8DF82B2F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" y="981075"/>
            <a:ext cx="8928100" cy="5473700"/>
          </a:xfrm>
        </p:spPr>
        <p:txBody>
          <a:bodyPr/>
          <a:lstStyle/>
          <a:p>
            <a:pPr>
              <a:lnSpc>
                <a:spcPts val="5200"/>
              </a:lnSpc>
            </a:pPr>
            <a:r>
              <a:rPr lang="en-US" altLang="zh-CN" b="1">
                <a:solidFill>
                  <a:srgbClr val="FF0000"/>
                </a:solidFill>
              </a:rPr>
              <a:t>Dijkstra</a:t>
            </a:r>
            <a:r>
              <a:rPr lang="zh-CN" altLang="zh-CN" b="1">
                <a:solidFill>
                  <a:srgbClr val="FF0000"/>
                </a:solidFill>
              </a:rPr>
              <a:t>算法</a:t>
            </a:r>
            <a:endParaRPr lang="en-US" altLang="zh-CN" b="1">
              <a:solidFill>
                <a:srgbClr val="FF0000"/>
              </a:solidFill>
            </a:endParaRPr>
          </a:p>
          <a:p>
            <a:pPr>
              <a:lnSpc>
                <a:spcPts val="5200"/>
              </a:lnSpc>
            </a:pPr>
            <a:r>
              <a:rPr lang="zh-CN" altLang="zh-CN"/>
              <a:t>连通</a:t>
            </a:r>
            <a:r>
              <a:rPr lang="en-US" altLang="zh-CN"/>
              <a:t> </a:t>
            </a:r>
            <a:r>
              <a:rPr lang="zh-CN" altLang="zh-CN"/>
              <a:t>加权</a:t>
            </a:r>
            <a:r>
              <a:rPr lang="en-US" altLang="zh-CN"/>
              <a:t> </a:t>
            </a:r>
            <a:r>
              <a:rPr lang="zh-CN" altLang="zh-CN"/>
              <a:t>无向</a:t>
            </a:r>
            <a:r>
              <a:rPr lang="en-US" altLang="zh-CN"/>
              <a:t> </a:t>
            </a:r>
            <a:r>
              <a:rPr lang="zh-CN" altLang="zh-CN"/>
              <a:t>简单图</a:t>
            </a:r>
            <a:endParaRPr lang="en-US" altLang="zh-CN"/>
          </a:p>
          <a:p>
            <a:pPr>
              <a:lnSpc>
                <a:spcPts val="5200"/>
              </a:lnSpc>
            </a:pPr>
            <a:r>
              <a:rPr lang="en-US" altLang="zh-CN"/>
              <a:t> </a:t>
            </a:r>
            <a:r>
              <a:rPr lang="zh-CN" altLang="zh-CN"/>
              <a:t>边</a:t>
            </a:r>
            <a:r>
              <a:rPr lang="en-US" altLang="zh-CN"/>
              <a:t>(i,j)</a:t>
            </a:r>
            <a:r>
              <a:rPr lang="zh-CN" altLang="zh-CN"/>
              <a:t>的权ω</a:t>
            </a:r>
            <a:r>
              <a:rPr lang="en-US" altLang="zh-CN"/>
              <a:t>(i,j)</a:t>
            </a:r>
            <a:r>
              <a:rPr lang="zh-CN" altLang="zh-CN"/>
              <a:t>＞</a:t>
            </a:r>
            <a:r>
              <a:rPr lang="en-US" altLang="zh-CN"/>
              <a:t>0</a:t>
            </a:r>
          </a:p>
          <a:p>
            <a:pPr>
              <a:lnSpc>
                <a:spcPts val="5200"/>
              </a:lnSpc>
            </a:pPr>
            <a:r>
              <a:rPr lang="zh-CN" altLang="zh-CN"/>
              <a:t>若</a:t>
            </a:r>
            <a:r>
              <a:rPr lang="en-US" altLang="zh-CN"/>
              <a:t>(i,j)</a:t>
            </a:r>
            <a:r>
              <a:rPr lang="zh-CN" altLang="zh-CN"/>
              <a:t>不是</a:t>
            </a:r>
            <a:r>
              <a:rPr lang="en-US" altLang="zh-CN"/>
              <a:t>G</a:t>
            </a:r>
            <a:r>
              <a:rPr lang="zh-CN" altLang="zh-CN"/>
              <a:t>的边，则ω</a:t>
            </a:r>
            <a:r>
              <a:rPr lang="en-US" altLang="zh-CN"/>
              <a:t>(i,j) </a:t>
            </a:r>
            <a:r>
              <a:rPr lang="zh-CN" altLang="zh-CN"/>
              <a:t>＝∞</a:t>
            </a:r>
            <a:endParaRPr lang="en-US" altLang="zh-CN"/>
          </a:p>
          <a:p>
            <a:pPr>
              <a:lnSpc>
                <a:spcPts val="5200"/>
              </a:lnSpc>
            </a:pPr>
            <a:r>
              <a:rPr lang="zh-CN" altLang="zh-CN"/>
              <a:t>结点</a:t>
            </a:r>
            <a:r>
              <a:rPr lang="en-US" altLang="zh-CN"/>
              <a:t>a</a:t>
            </a:r>
            <a:r>
              <a:rPr lang="zh-CN" altLang="zh-CN"/>
              <a:t>到结点</a:t>
            </a:r>
            <a:r>
              <a:rPr lang="en-US" altLang="zh-CN"/>
              <a:t>z</a:t>
            </a:r>
            <a:r>
              <a:rPr lang="zh-CN" altLang="zh-CN"/>
              <a:t>的最短路</a:t>
            </a:r>
            <a:endParaRPr lang="en-US" altLang="zh-CN"/>
          </a:p>
          <a:p>
            <a:pPr>
              <a:lnSpc>
                <a:spcPts val="5200"/>
              </a:lnSpc>
            </a:pPr>
            <a:r>
              <a:rPr lang="zh-CN" altLang="zh-CN"/>
              <a:t>结点</a:t>
            </a:r>
            <a:r>
              <a:rPr lang="en-US" altLang="zh-CN"/>
              <a:t>x</a:t>
            </a:r>
            <a:r>
              <a:rPr lang="zh-CN" altLang="zh-CN"/>
              <a:t>的标号为</a:t>
            </a:r>
            <a:r>
              <a:rPr lang="en-US" altLang="zh-CN"/>
              <a:t>L(x)</a:t>
            </a:r>
          </a:p>
          <a:p>
            <a:pPr>
              <a:lnSpc>
                <a:spcPts val="5200"/>
              </a:lnSpc>
            </a:pPr>
            <a:r>
              <a:rPr lang="zh-CN" altLang="zh-CN"/>
              <a:t>结束时</a:t>
            </a:r>
            <a:r>
              <a:rPr lang="en-US" altLang="zh-CN"/>
              <a:t>L(z)</a:t>
            </a:r>
            <a:r>
              <a:rPr lang="zh-CN" altLang="zh-CN"/>
              <a:t>是从</a:t>
            </a:r>
            <a:r>
              <a:rPr lang="en-US" altLang="zh-CN"/>
              <a:t>a</a:t>
            </a:r>
            <a:r>
              <a:rPr lang="zh-CN" altLang="zh-CN"/>
              <a:t>到</a:t>
            </a:r>
            <a:r>
              <a:rPr lang="en-US" altLang="zh-CN"/>
              <a:t>z</a:t>
            </a:r>
            <a:r>
              <a:rPr lang="zh-CN" altLang="zh-CN"/>
              <a:t>的最短路的长度</a:t>
            </a:r>
          </a:p>
          <a:p>
            <a:pPr>
              <a:lnSpc>
                <a:spcPts val="5200"/>
              </a:lnSpc>
            </a:pP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5">
            <a:extLst>
              <a:ext uri="{FF2B5EF4-FFF2-40B4-BE49-F238E27FC236}">
                <a16:creationId xmlns:a16="http://schemas.microsoft.com/office/drawing/2014/main" id="{E04558D3-8603-9822-EF6E-59184065B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6454775"/>
            <a:ext cx="3384550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合肥工业大学 计算机与信息学院 </a:t>
            </a:r>
          </a:p>
        </p:txBody>
      </p:sp>
      <p:sp>
        <p:nvSpPr>
          <p:cNvPr id="5123" name="标题 12">
            <a:extLst>
              <a:ext uri="{FF2B5EF4-FFF2-40B4-BE49-F238E27FC236}">
                <a16:creationId xmlns:a16="http://schemas.microsoft.com/office/drawing/2014/main" id="{75237CD3-D4D7-AC00-E9D0-9A27EB04C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" y="74613"/>
            <a:ext cx="6761163" cy="762000"/>
          </a:xfrm>
        </p:spPr>
        <p:txBody>
          <a:bodyPr/>
          <a:lstStyle/>
          <a:p>
            <a:pPr eaLnBrk="1" hangingPunct="1"/>
            <a:r>
              <a:rPr lang="en-US" altLang="zh-CN" dirty="0"/>
              <a:t>7.4.2 </a:t>
            </a:r>
            <a:r>
              <a:rPr lang="zh-CN" altLang="en-US" dirty="0">
                <a:solidFill>
                  <a:srgbClr val="00B050"/>
                </a:solidFill>
              </a:rPr>
              <a:t>无向</a:t>
            </a:r>
            <a:r>
              <a:rPr lang="zh-CN" altLang="en-US" dirty="0"/>
              <a:t>图的</a:t>
            </a:r>
            <a:r>
              <a:rPr lang="en-US" altLang="zh-CN" dirty="0"/>
              <a:t>Dijkstra</a:t>
            </a:r>
            <a:r>
              <a:rPr lang="zh-CN" altLang="zh-CN" dirty="0"/>
              <a:t>算法</a:t>
            </a:r>
            <a:endParaRPr lang="en-US" altLang="zh-CN" dirty="0"/>
          </a:p>
        </p:txBody>
      </p:sp>
      <p:sp>
        <p:nvSpPr>
          <p:cNvPr id="4100" name="内容占位符 13">
            <a:extLst>
              <a:ext uri="{FF2B5EF4-FFF2-40B4-BE49-F238E27FC236}">
                <a16:creationId xmlns:a16="http://schemas.microsoft.com/office/drawing/2014/main" id="{71B10A7A-8F8F-865B-1B5A-DAAD83D59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" y="981075"/>
            <a:ext cx="8928100" cy="5473700"/>
          </a:xfrm>
        </p:spPr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en-US" altLang="zh-CN" b="1" dirty="0">
                <a:solidFill>
                  <a:srgbClr val="FF0000"/>
                </a:solidFill>
              </a:rPr>
              <a:t>procedure</a:t>
            </a:r>
            <a:r>
              <a:rPr lang="en-US" altLang="zh-CN" b="1" dirty="0"/>
              <a:t> </a:t>
            </a:r>
            <a:r>
              <a:rPr lang="en-US" altLang="zh-CN" dirty="0" err="1"/>
              <a:t>Dijkstra</a:t>
            </a:r>
            <a:r>
              <a:rPr lang="en-US" altLang="zh-CN" dirty="0"/>
              <a:t>(</a:t>
            </a:r>
            <a:r>
              <a:rPr lang="zh-CN" altLang="en-US" b="1" dirty="0">
                <a:solidFill>
                  <a:srgbClr val="FF00FF"/>
                </a:solidFill>
              </a:rPr>
              <a:t>无向图</a:t>
            </a:r>
            <a:r>
              <a:rPr lang="en-US" altLang="zh-CN" sz="2800" dirty="0"/>
              <a:t>G</a:t>
            </a:r>
            <a:r>
              <a:rPr lang="zh-CN" altLang="zh-CN" sz="2800" dirty="0"/>
              <a:t>有结点</a:t>
            </a:r>
            <a:r>
              <a:rPr lang="en-US" altLang="zh-CN" sz="2800" dirty="0"/>
              <a:t>a</a:t>
            </a:r>
            <a:r>
              <a:rPr lang="zh-CN" altLang="zh-CN" sz="2800" dirty="0"/>
              <a:t>＝</a:t>
            </a:r>
            <a:r>
              <a:rPr lang="en-US" altLang="zh-CN" sz="2800" dirty="0"/>
              <a:t>v</a:t>
            </a:r>
            <a:r>
              <a:rPr lang="en-US" altLang="zh-CN" sz="2800" baseline="-25000" dirty="0"/>
              <a:t>0</a:t>
            </a:r>
            <a:r>
              <a:rPr lang="en-US" altLang="zh-CN" sz="2800" dirty="0"/>
              <a:t>,v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,</a:t>
            </a:r>
            <a:r>
              <a:rPr lang="zh-CN" altLang="zh-CN" sz="2800" dirty="0"/>
              <a:t>…</a:t>
            </a:r>
            <a:r>
              <a:rPr lang="en-US" altLang="zh-CN" sz="2800" dirty="0"/>
              <a:t>,</a:t>
            </a:r>
            <a:r>
              <a:rPr lang="en-US" altLang="zh-CN" sz="2800" dirty="0" err="1"/>
              <a:t>v</a:t>
            </a:r>
            <a:r>
              <a:rPr lang="en-US" altLang="zh-CN" sz="2800" baseline="-25000" dirty="0" err="1"/>
              <a:t>n</a:t>
            </a:r>
            <a:r>
              <a:rPr lang="zh-CN" altLang="zh-CN" sz="2800" dirty="0"/>
              <a:t>＝</a:t>
            </a:r>
            <a:r>
              <a:rPr lang="en-US" altLang="zh-CN" sz="2800" dirty="0"/>
              <a:t>z</a:t>
            </a:r>
            <a:r>
              <a:rPr lang="en-US" altLang="zh-CN" dirty="0"/>
              <a:t>)</a:t>
            </a:r>
            <a:endParaRPr lang="zh-CN" altLang="zh-CN" dirty="0"/>
          </a:p>
          <a:p>
            <a:pPr marL="0" indent="0">
              <a:buFont typeface="Arial" charset="0"/>
              <a:buNone/>
              <a:defRPr/>
            </a:pPr>
            <a:r>
              <a:rPr lang="en-US" altLang="zh-CN" sz="2400" b="1" dirty="0">
                <a:solidFill>
                  <a:srgbClr val="0033CC"/>
                </a:solidFill>
              </a:rPr>
              <a:t>      for</a:t>
            </a:r>
            <a:r>
              <a:rPr lang="en-US" altLang="zh-CN" sz="2400" dirty="0">
                <a:solidFill>
                  <a:srgbClr val="0033CC"/>
                </a:solidFill>
              </a:rPr>
              <a:t>  </a:t>
            </a:r>
            <a:r>
              <a:rPr lang="en-US" altLang="zh-CN" sz="2400" dirty="0" err="1"/>
              <a:t>i</a:t>
            </a:r>
            <a:r>
              <a:rPr lang="zh-CN" altLang="zh-CN" sz="2400" dirty="0"/>
              <a:t>＝</a:t>
            </a:r>
            <a:r>
              <a:rPr lang="en-US" altLang="zh-CN" sz="2400" dirty="0"/>
              <a:t>1</a:t>
            </a:r>
            <a:r>
              <a:rPr lang="en-US" altLang="zh-CN" sz="2400" dirty="0">
                <a:solidFill>
                  <a:srgbClr val="00B050"/>
                </a:solidFill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</a:rPr>
              <a:t>to</a:t>
            </a:r>
            <a:r>
              <a:rPr lang="en-US" altLang="zh-CN" sz="2400" dirty="0">
                <a:solidFill>
                  <a:srgbClr val="00B050"/>
                </a:solidFill>
              </a:rPr>
              <a:t> </a:t>
            </a:r>
            <a:r>
              <a:rPr lang="en-US" altLang="zh-CN" sz="2400" dirty="0"/>
              <a:t>n</a:t>
            </a:r>
            <a:endParaRPr lang="zh-CN" altLang="zh-CN" sz="2400" dirty="0"/>
          </a:p>
          <a:p>
            <a:pPr marL="0" indent="0">
              <a:buFont typeface="Arial" charset="0"/>
              <a:buNone/>
              <a:defRPr/>
            </a:pPr>
            <a:r>
              <a:rPr lang="en-US" altLang="zh-CN" sz="2400" dirty="0"/>
              <a:t>      L(v</a:t>
            </a:r>
            <a:r>
              <a:rPr lang="en-US" altLang="zh-CN" sz="2400" baseline="-25000" dirty="0"/>
              <a:t>i</a:t>
            </a:r>
            <a:r>
              <a:rPr lang="en-US" altLang="zh-CN" sz="2400" dirty="0"/>
              <a:t>)</a:t>
            </a:r>
            <a:r>
              <a:rPr lang="zh-CN" altLang="zh-CN" sz="2400" dirty="0"/>
              <a:t>＝∞</a:t>
            </a:r>
          </a:p>
          <a:p>
            <a:pPr marL="0" indent="0">
              <a:buFont typeface="Arial" charset="0"/>
              <a:buNone/>
              <a:defRPr/>
            </a:pPr>
            <a:r>
              <a:rPr lang="en-US" altLang="zh-CN" sz="2400" dirty="0"/>
              <a:t>      L(a)</a:t>
            </a:r>
            <a:r>
              <a:rPr lang="zh-CN" altLang="zh-CN" sz="2400" dirty="0"/>
              <a:t>＝</a:t>
            </a:r>
            <a:r>
              <a:rPr lang="en-US" altLang="zh-CN" sz="2400" dirty="0"/>
              <a:t>0</a:t>
            </a:r>
            <a:endParaRPr lang="zh-CN" altLang="zh-CN" sz="2400" dirty="0"/>
          </a:p>
          <a:p>
            <a:pPr marL="0" indent="0">
              <a:buFont typeface="Arial" charset="0"/>
              <a:buNone/>
              <a:defRPr/>
            </a:pPr>
            <a:r>
              <a:rPr lang="en-US" altLang="zh-CN" sz="2400" dirty="0"/>
              <a:t>      T</a:t>
            </a:r>
            <a:r>
              <a:rPr lang="zh-CN" altLang="zh-CN" sz="2400" dirty="0"/>
              <a:t>＝</a:t>
            </a:r>
            <a:r>
              <a:rPr lang="en-US" altLang="zh-CN" sz="2400" dirty="0"/>
              <a:t>{a,v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</a:t>
            </a:r>
            <a:r>
              <a:rPr lang="zh-CN" altLang="zh-CN" sz="2400" dirty="0"/>
              <a:t>…</a:t>
            </a:r>
            <a:r>
              <a:rPr lang="en-US" altLang="zh-CN" sz="2400" dirty="0"/>
              <a:t>,v</a:t>
            </a:r>
            <a:r>
              <a:rPr lang="en-US" altLang="zh-CN" sz="2400" baseline="-25000" dirty="0"/>
              <a:t>n-1</a:t>
            </a:r>
            <a:r>
              <a:rPr lang="en-US" altLang="zh-CN" sz="2400" dirty="0"/>
              <a:t>,z}</a:t>
            </a:r>
            <a:endParaRPr lang="zh-CN" altLang="zh-CN" sz="2400" dirty="0"/>
          </a:p>
          <a:p>
            <a:pPr marL="0" indent="0">
              <a:buFont typeface="Arial" charset="0"/>
              <a:buNone/>
              <a:defRPr/>
            </a:pPr>
            <a:r>
              <a:rPr lang="en-US" altLang="zh-CN" sz="2400" b="1" dirty="0">
                <a:solidFill>
                  <a:srgbClr val="00B0F0"/>
                </a:solidFill>
              </a:rPr>
              <a:t>      while</a:t>
            </a:r>
            <a:r>
              <a:rPr lang="en-US" altLang="zh-CN" sz="2400" dirty="0">
                <a:solidFill>
                  <a:srgbClr val="00B0F0"/>
                </a:solidFill>
              </a:rPr>
              <a:t>  </a:t>
            </a:r>
            <a:r>
              <a:rPr lang="en-US" altLang="zh-CN" sz="2400" dirty="0"/>
              <a:t>z</a:t>
            </a:r>
            <a:r>
              <a:rPr lang="zh-CN" altLang="zh-CN" sz="2400" dirty="0"/>
              <a:t>∈</a:t>
            </a:r>
            <a:r>
              <a:rPr lang="en-US" altLang="zh-CN" sz="2400" dirty="0"/>
              <a:t>T</a:t>
            </a:r>
            <a:endParaRPr lang="zh-CN" altLang="zh-CN" sz="2400" dirty="0"/>
          </a:p>
          <a:p>
            <a:pPr marL="0" indent="0">
              <a:buFont typeface="Arial" charset="0"/>
              <a:buNone/>
              <a:defRPr/>
            </a:pPr>
            <a:r>
              <a:rPr lang="en-US" altLang="zh-CN" sz="2400" b="1" dirty="0"/>
              <a:t>      </a:t>
            </a:r>
            <a:r>
              <a:rPr lang="en-US" altLang="zh-CN" sz="2400" b="1" dirty="0">
                <a:solidFill>
                  <a:srgbClr val="0066FF"/>
                </a:solidFill>
              </a:rPr>
              <a:t>begin</a:t>
            </a:r>
            <a:endParaRPr lang="zh-CN" altLang="zh-CN" sz="2400" dirty="0">
              <a:solidFill>
                <a:srgbClr val="0066FF"/>
              </a:solidFill>
            </a:endParaRPr>
          </a:p>
          <a:p>
            <a:pPr marL="0" indent="0">
              <a:buFont typeface="Arial" charset="0"/>
              <a:buNone/>
              <a:defRPr/>
            </a:pPr>
            <a:r>
              <a:rPr lang="en-US" altLang="zh-CN" sz="2400" dirty="0"/>
              <a:t>      </a:t>
            </a:r>
            <a:r>
              <a:rPr lang="zh-CN" altLang="zh-CN" sz="2400" dirty="0"/>
              <a:t>从</a:t>
            </a:r>
            <a:r>
              <a:rPr lang="en-US" altLang="zh-CN" sz="2400" dirty="0"/>
              <a:t>T</a:t>
            </a:r>
            <a:r>
              <a:rPr lang="zh-CN" altLang="zh-CN" sz="2400" dirty="0"/>
              <a:t>中找到具有最小</a:t>
            </a:r>
            <a:r>
              <a:rPr lang="en-US" altLang="zh-CN" sz="2400" dirty="0"/>
              <a:t>L(u)</a:t>
            </a:r>
            <a:r>
              <a:rPr lang="zh-CN" altLang="zh-CN" sz="2400" dirty="0"/>
              <a:t>的顶点</a:t>
            </a:r>
            <a:r>
              <a:rPr lang="en-US" altLang="zh-CN" sz="2400" dirty="0">
                <a:solidFill>
                  <a:srgbClr val="FF0000"/>
                </a:solidFill>
              </a:rPr>
              <a:t>u</a:t>
            </a:r>
            <a:endParaRPr lang="zh-CN" altLang="zh-CN" sz="2400" dirty="0">
              <a:solidFill>
                <a:srgbClr val="FF0000"/>
              </a:solidFill>
            </a:endParaRPr>
          </a:p>
          <a:p>
            <a:pPr marL="0" indent="0">
              <a:buFont typeface="Arial" charset="0"/>
              <a:buNone/>
              <a:defRPr/>
            </a:pPr>
            <a:r>
              <a:rPr lang="en-US" altLang="zh-CN" sz="2400" dirty="0"/>
              <a:t>      T</a:t>
            </a:r>
            <a:r>
              <a:rPr lang="zh-CN" altLang="zh-CN" sz="2400" dirty="0"/>
              <a:t>＝</a:t>
            </a:r>
            <a:r>
              <a:rPr lang="en-US" altLang="zh-CN" sz="2400" dirty="0"/>
              <a:t>T</a:t>
            </a:r>
            <a:r>
              <a:rPr lang="zh-CN" altLang="zh-CN" sz="2400" dirty="0"/>
              <a:t>－</a:t>
            </a:r>
            <a:r>
              <a:rPr lang="en-US" altLang="zh-CN" sz="2400" dirty="0"/>
              <a:t>{u}</a:t>
            </a:r>
            <a:endParaRPr lang="zh-CN" altLang="zh-CN" sz="2400" dirty="0"/>
          </a:p>
          <a:p>
            <a:pPr marL="0" indent="0">
              <a:buFont typeface="Arial" charset="0"/>
              <a:buNone/>
              <a:defRPr/>
            </a:pPr>
            <a:r>
              <a:rPr lang="en-US" altLang="zh-CN" sz="2400" b="1" dirty="0"/>
              <a:t>      </a:t>
            </a:r>
            <a:r>
              <a:rPr lang="en-US" altLang="zh-CN" sz="2400" b="1" dirty="0">
                <a:solidFill>
                  <a:srgbClr val="0066FF"/>
                </a:solidFill>
              </a:rPr>
              <a:t>for</a:t>
            </a:r>
            <a:r>
              <a:rPr lang="en-US" altLang="zh-CN" sz="2400" dirty="0">
                <a:solidFill>
                  <a:srgbClr val="0066FF"/>
                </a:solidFill>
              </a:rPr>
              <a:t> </a:t>
            </a:r>
            <a:r>
              <a:rPr lang="zh-CN" altLang="zh-CN" sz="2400" dirty="0"/>
              <a:t>所有与</a:t>
            </a:r>
            <a:r>
              <a:rPr lang="en-US" altLang="zh-CN" sz="2400" dirty="0"/>
              <a:t>u</a:t>
            </a:r>
            <a:r>
              <a:rPr lang="zh-CN" altLang="zh-CN" sz="2400" dirty="0"/>
              <a:t>邻接的结点</a:t>
            </a:r>
            <a:r>
              <a:rPr lang="en-US" altLang="zh-CN" sz="2400" dirty="0"/>
              <a:t>x</a:t>
            </a:r>
            <a:r>
              <a:rPr lang="zh-CN" altLang="zh-CN" sz="2400" dirty="0"/>
              <a:t>∈</a:t>
            </a:r>
            <a:r>
              <a:rPr lang="en-US" altLang="zh-CN" sz="2400" dirty="0"/>
              <a:t>T</a:t>
            </a:r>
            <a:endParaRPr lang="zh-CN" altLang="zh-CN" sz="2400" dirty="0"/>
          </a:p>
          <a:p>
            <a:pPr marL="0" indent="0">
              <a:buFont typeface="Arial" charset="0"/>
              <a:buNone/>
              <a:defRPr/>
            </a:pPr>
            <a:r>
              <a:rPr lang="en-US" altLang="zh-CN" sz="2400" dirty="0"/>
              <a:t>       L(x)</a:t>
            </a:r>
            <a:r>
              <a:rPr lang="zh-CN" altLang="zh-CN" sz="2400" dirty="0"/>
              <a:t>＝</a:t>
            </a:r>
            <a:r>
              <a:rPr lang="en-US" altLang="zh-CN" sz="2400" dirty="0"/>
              <a:t>min{L(x)</a:t>
            </a:r>
            <a:r>
              <a:rPr lang="zh-CN" altLang="zh-CN" sz="2400" dirty="0"/>
              <a:t>，</a:t>
            </a:r>
            <a:r>
              <a:rPr lang="en-US" altLang="zh-CN" sz="2400" dirty="0"/>
              <a:t>L(u)</a:t>
            </a:r>
            <a:r>
              <a:rPr lang="zh-CN" altLang="zh-CN" sz="2400" dirty="0"/>
              <a:t>＋ω</a:t>
            </a:r>
            <a:r>
              <a:rPr lang="en-US" altLang="zh-CN" sz="2400" dirty="0"/>
              <a:t>(</a:t>
            </a:r>
            <a:r>
              <a:rPr lang="en-US" altLang="zh-CN" sz="2400" dirty="0" err="1"/>
              <a:t>u,x</a:t>
            </a:r>
            <a:r>
              <a:rPr lang="en-US" altLang="zh-CN" sz="2400" dirty="0"/>
              <a:t>)}</a:t>
            </a:r>
            <a:endParaRPr lang="zh-CN" altLang="zh-CN" sz="2400" dirty="0"/>
          </a:p>
          <a:p>
            <a:pPr marL="0" indent="0">
              <a:buFont typeface="Arial" charset="0"/>
              <a:buNone/>
              <a:defRPr/>
            </a:pPr>
            <a:r>
              <a:rPr lang="en-US" altLang="zh-CN" sz="2400" b="1" dirty="0"/>
              <a:t>      </a:t>
            </a:r>
            <a:r>
              <a:rPr lang="en-US" altLang="zh-CN" sz="2400" b="1" dirty="0">
                <a:solidFill>
                  <a:srgbClr val="0066FF"/>
                </a:solidFill>
              </a:rPr>
              <a:t>end</a:t>
            </a:r>
            <a:r>
              <a:rPr lang="zh-CN" altLang="zh-CN" sz="2400" dirty="0"/>
              <a:t>（</a:t>
            </a:r>
            <a:r>
              <a:rPr lang="en-US" altLang="zh-CN" sz="2400" dirty="0"/>
              <a:t>L(z)</a:t>
            </a:r>
            <a:r>
              <a:rPr lang="zh-CN" altLang="zh-CN" sz="2400" dirty="0"/>
              <a:t>＝从</a:t>
            </a:r>
            <a:r>
              <a:rPr lang="en-US" altLang="zh-CN" sz="2400" dirty="0"/>
              <a:t>a</a:t>
            </a:r>
            <a:r>
              <a:rPr lang="zh-CN" altLang="zh-CN" sz="2400" dirty="0"/>
              <a:t>到</a:t>
            </a:r>
            <a:r>
              <a:rPr lang="en-US" altLang="zh-CN" sz="2400" dirty="0"/>
              <a:t>z</a:t>
            </a:r>
            <a:r>
              <a:rPr lang="zh-CN" altLang="zh-CN" sz="2400" dirty="0"/>
              <a:t>的最短路的</a:t>
            </a:r>
            <a:r>
              <a:rPr lang="zh-CN" altLang="zh-CN" sz="2400" b="1" dirty="0">
                <a:solidFill>
                  <a:srgbClr val="FF00FF"/>
                </a:solidFill>
              </a:rPr>
              <a:t>长度</a:t>
            </a:r>
            <a:r>
              <a:rPr lang="zh-CN" altLang="zh-CN" sz="2400" dirty="0"/>
              <a:t>）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5">
            <a:extLst>
              <a:ext uri="{FF2B5EF4-FFF2-40B4-BE49-F238E27FC236}">
                <a16:creationId xmlns:a16="http://schemas.microsoft.com/office/drawing/2014/main" id="{B0FBC2B8-F6B9-3D0F-B895-14FF2F07AE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6454775"/>
            <a:ext cx="3384550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合肥工业大学 计算机与信息学院 </a:t>
            </a:r>
          </a:p>
        </p:txBody>
      </p:sp>
      <p:sp>
        <p:nvSpPr>
          <p:cNvPr id="6147" name="标题 12">
            <a:extLst>
              <a:ext uri="{FF2B5EF4-FFF2-40B4-BE49-F238E27FC236}">
                <a16:creationId xmlns:a16="http://schemas.microsoft.com/office/drawing/2014/main" id="{F1F19756-AE2F-4DE3-9771-6344FF591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" y="74613"/>
            <a:ext cx="6761163" cy="762000"/>
          </a:xfrm>
        </p:spPr>
        <p:txBody>
          <a:bodyPr/>
          <a:lstStyle/>
          <a:p>
            <a:pPr eaLnBrk="1" hangingPunct="1"/>
            <a:r>
              <a:rPr lang="en-US" altLang="zh-CN" dirty="0"/>
              <a:t>7.4.2 </a:t>
            </a:r>
            <a:r>
              <a:rPr lang="zh-CN" altLang="en-US" dirty="0">
                <a:solidFill>
                  <a:srgbClr val="00B050"/>
                </a:solidFill>
              </a:rPr>
              <a:t>无向</a:t>
            </a:r>
            <a:r>
              <a:rPr lang="zh-CN" altLang="en-US" dirty="0"/>
              <a:t>图的</a:t>
            </a:r>
            <a:r>
              <a:rPr lang="en-US" altLang="zh-CN" dirty="0"/>
              <a:t>Dijkstra</a:t>
            </a:r>
            <a:r>
              <a:rPr lang="zh-CN" altLang="zh-CN" dirty="0"/>
              <a:t>算法</a:t>
            </a:r>
            <a:endParaRPr lang="zh-CN" altLang="en-US" dirty="0"/>
          </a:p>
        </p:txBody>
      </p:sp>
      <p:sp>
        <p:nvSpPr>
          <p:cNvPr id="6148" name="内容占位符 13">
            <a:extLst>
              <a:ext uri="{FF2B5EF4-FFF2-40B4-BE49-F238E27FC236}">
                <a16:creationId xmlns:a16="http://schemas.microsoft.com/office/drawing/2014/main" id="{04444586-BCF4-DFB0-E0AC-F08B71F90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" y="981075"/>
            <a:ext cx="8928100" cy="547370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zh-CN" b="1">
                <a:solidFill>
                  <a:srgbClr val="FF0000"/>
                </a:solidFill>
              </a:rPr>
              <a:t>例</a:t>
            </a:r>
            <a:r>
              <a:rPr lang="en-US" altLang="zh-CN" b="1">
                <a:solidFill>
                  <a:srgbClr val="FF0000"/>
                </a:solidFill>
              </a:rPr>
              <a:t>7.5.1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zh-CN"/>
              <a:t>用</a:t>
            </a:r>
            <a:r>
              <a:rPr lang="en-US" altLang="zh-CN"/>
              <a:t>Dijkstra</a:t>
            </a:r>
            <a:r>
              <a:rPr lang="zh-CN" altLang="zh-CN"/>
              <a:t>算法求</a:t>
            </a:r>
            <a:r>
              <a:rPr lang="zh-CN" altLang="en-US"/>
              <a:t>下</a:t>
            </a:r>
            <a:r>
              <a:rPr lang="zh-CN" altLang="zh-CN"/>
              <a:t>图所示的加权图</a:t>
            </a:r>
            <a:r>
              <a:rPr lang="en-US" altLang="zh-CN"/>
              <a:t>G</a:t>
            </a:r>
            <a:r>
              <a:rPr lang="zh-CN" altLang="zh-CN"/>
              <a:t>中结点</a:t>
            </a:r>
            <a:r>
              <a:rPr lang="en-US" altLang="zh-CN"/>
              <a:t>a</a:t>
            </a:r>
            <a:r>
              <a:rPr lang="zh-CN" altLang="zh-CN"/>
              <a:t>与</a:t>
            </a:r>
            <a:r>
              <a:rPr lang="en-US" altLang="zh-CN"/>
              <a:t>z</a:t>
            </a:r>
            <a:r>
              <a:rPr lang="zh-CN" altLang="zh-CN"/>
              <a:t>之间最短路的长度。</a:t>
            </a:r>
            <a:endParaRPr lang="zh-CN" altLang="en-US"/>
          </a:p>
        </p:txBody>
      </p:sp>
      <p:grpSp>
        <p:nvGrpSpPr>
          <p:cNvPr id="6149" name="Group 5">
            <a:extLst>
              <a:ext uri="{FF2B5EF4-FFF2-40B4-BE49-F238E27FC236}">
                <a16:creationId xmlns:a16="http://schemas.microsoft.com/office/drawing/2014/main" id="{60107FA3-CC35-2B01-7C8D-92ECED1AE49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14425" y="2565400"/>
            <a:ext cx="7058025" cy="3503613"/>
            <a:chOff x="2745" y="11237"/>
            <a:chExt cx="5834" cy="2671"/>
          </a:xfrm>
        </p:grpSpPr>
        <p:sp>
          <p:nvSpPr>
            <p:cNvPr id="6150" name="AutoShape 36">
              <a:extLst>
                <a:ext uri="{FF2B5EF4-FFF2-40B4-BE49-F238E27FC236}">
                  <a16:creationId xmlns:a16="http://schemas.microsoft.com/office/drawing/2014/main" id="{B7DAE278-9779-EF13-EC21-08B5C3CECEB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745" y="11237"/>
              <a:ext cx="5834" cy="2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1" name="Text Box 35">
              <a:extLst>
                <a:ext uri="{FF2B5EF4-FFF2-40B4-BE49-F238E27FC236}">
                  <a16:creationId xmlns:a16="http://schemas.microsoft.com/office/drawing/2014/main" id="{E3F62391-60E6-93D5-E524-77F32582C8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6" y="11395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US" altLang="zh-CN" sz="3200">
                <a:solidFill>
                  <a:srgbClr val="000000"/>
                </a:solidFill>
              </a:endParaRPr>
            </a:p>
          </p:txBody>
        </p:sp>
        <p:sp>
          <p:nvSpPr>
            <p:cNvPr id="6152" name="Text Box 34">
              <a:extLst>
                <a:ext uri="{FF2B5EF4-FFF2-40B4-BE49-F238E27FC236}">
                  <a16:creationId xmlns:a16="http://schemas.microsoft.com/office/drawing/2014/main" id="{142A4BA2-9055-CAF4-1D10-57C59ED96E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0" y="11439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 sz="3200">
                <a:solidFill>
                  <a:srgbClr val="000000"/>
                </a:solidFill>
              </a:endParaRPr>
            </a:p>
          </p:txBody>
        </p:sp>
        <p:sp>
          <p:nvSpPr>
            <p:cNvPr id="6153" name="Text Box 33">
              <a:extLst>
                <a:ext uri="{FF2B5EF4-FFF2-40B4-BE49-F238E27FC236}">
                  <a16:creationId xmlns:a16="http://schemas.microsoft.com/office/drawing/2014/main" id="{A3CC4AD5-E09C-626D-138B-F4F63EBF53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28" y="12378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altLang="zh-CN" sz="3200">
                <a:solidFill>
                  <a:srgbClr val="000000"/>
                </a:solidFill>
              </a:endParaRPr>
            </a:p>
          </p:txBody>
        </p:sp>
        <p:sp>
          <p:nvSpPr>
            <p:cNvPr id="6154" name="Text Box 32">
              <a:extLst>
                <a:ext uri="{FF2B5EF4-FFF2-40B4-BE49-F238E27FC236}">
                  <a16:creationId xmlns:a16="http://schemas.microsoft.com/office/drawing/2014/main" id="{1BE4AF66-8FD7-6E14-8E41-2EAB944B98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5" y="13159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sz="3200">
                <a:solidFill>
                  <a:srgbClr val="000000"/>
                </a:solidFill>
              </a:endParaRPr>
            </a:p>
          </p:txBody>
        </p:sp>
        <p:sp>
          <p:nvSpPr>
            <p:cNvPr id="6155" name="Text Box 31">
              <a:extLst>
                <a:ext uri="{FF2B5EF4-FFF2-40B4-BE49-F238E27FC236}">
                  <a16:creationId xmlns:a16="http://schemas.microsoft.com/office/drawing/2014/main" id="{133D4565-BA38-2EF2-2DB4-5118B6D08B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4" y="12255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3200">
                <a:solidFill>
                  <a:srgbClr val="000000"/>
                </a:solidFill>
              </a:endParaRPr>
            </a:p>
          </p:txBody>
        </p:sp>
        <p:sp>
          <p:nvSpPr>
            <p:cNvPr id="6156" name="Text Box 30">
              <a:extLst>
                <a:ext uri="{FF2B5EF4-FFF2-40B4-BE49-F238E27FC236}">
                  <a16:creationId xmlns:a16="http://schemas.microsoft.com/office/drawing/2014/main" id="{21477303-60DB-C753-656F-8E32D90089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8" y="13127"/>
              <a:ext cx="741" cy="7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altLang="zh-CN" sz="3200">
                <a:solidFill>
                  <a:srgbClr val="000000"/>
                </a:solidFill>
              </a:endParaRPr>
            </a:p>
          </p:txBody>
        </p:sp>
        <p:sp>
          <p:nvSpPr>
            <p:cNvPr id="6157" name="Text Box 29">
              <a:extLst>
                <a:ext uri="{FF2B5EF4-FFF2-40B4-BE49-F238E27FC236}">
                  <a16:creationId xmlns:a16="http://schemas.microsoft.com/office/drawing/2014/main" id="{676EE69E-AF06-F66B-2DF0-ED33CDD649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4" y="11773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3200">
                <a:solidFill>
                  <a:srgbClr val="FF0000"/>
                </a:solidFill>
              </a:endParaRPr>
            </a:p>
          </p:txBody>
        </p:sp>
        <p:sp>
          <p:nvSpPr>
            <p:cNvPr id="6158" name="Text Box 28">
              <a:extLst>
                <a:ext uri="{FF2B5EF4-FFF2-40B4-BE49-F238E27FC236}">
                  <a16:creationId xmlns:a16="http://schemas.microsoft.com/office/drawing/2014/main" id="{8A8CBCDB-DC73-F75C-6123-A5A9E54732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0" y="12769"/>
              <a:ext cx="742" cy="7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3200">
                <a:solidFill>
                  <a:srgbClr val="FF0000"/>
                </a:solidFill>
              </a:endParaRPr>
            </a:p>
          </p:txBody>
        </p:sp>
        <p:sp>
          <p:nvSpPr>
            <p:cNvPr id="6159" name="Text Box 27">
              <a:extLst>
                <a:ext uri="{FF2B5EF4-FFF2-40B4-BE49-F238E27FC236}">
                  <a16:creationId xmlns:a16="http://schemas.microsoft.com/office/drawing/2014/main" id="{6375ADB8-83DA-7D71-77BB-C6504B8369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0" y="12351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3200">
                <a:solidFill>
                  <a:srgbClr val="FF0000"/>
                </a:solidFill>
              </a:endParaRPr>
            </a:p>
          </p:txBody>
        </p:sp>
        <p:sp>
          <p:nvSpPr>
            <p:cNvPr id="6160" name="Text Box 26">
              <a:extLst>
                <a:ext uri="{FF2B5EF4-FFF2-40B4-BE49-F238E27FC236}">
                  <a16:creationId xmlns:a16="http://schemas.microsoft.com/office/drawing/2014/main" id="{907DFE31-F99B-A679-2209-03D7BC6DE2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9" y="13122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altLang="zh-CN" sz="3200">
                <a:solidFill>
                  <a:srgbClr val="FF0000"/>
                </a:solidFill>
              </a:endParaRPr>
            </a:p>
          </p:txBody>
        </p:sp>
        <p:sp>
          <p:nvSpPr>
            <p:cNvPr id="6161" name="Text Box 25">
              <a:extLst>
                <a:ext uri="{FF2B5EF4-FFF2-40B4-BE49-F238E27FC236}">
                  <a16:creationId xmlns:a16="http://schemas.microsoft.com/office/drawing/2014/main" id="{5A851051-F1A6-740C-EE8E-C60ECAC504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82" y="12958"/>
              <a:ext cx="742" cy="7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3200">
                <a:solidFill>
                  <a:srgbClr val="FF0000"/>
                </a:solidFill>
              </a:endParaRPr>
            </a:p>
          </p:txBody>
        </p:sp>
        <p:sp>
          <p:nvSpPr>
            <p:cNvPr id="6162" name="Text Box 24">
              <a:extLst>
                <a:ext uri="{FF2B5EF4-FFF2-40B4-BE49-F238E27FC236}">
                  <a16:creationId xmlns:a16="http://schemas.microsoft.com/office/drawing/2014/main" id="{A48F36B5-F673-6240-157F-0B63C70006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1" y="11849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3200">
                <a:solidFill>
                  <a:srgbClr val="FF0000"/>
                </a:solidFill>
              </a:endParaRPr>
            </a:p>
          </p:txBody>
        </p:sp>
        <p:sp>
          <p:nvSpPr>
            <p:cNvPr id="6163" name="Text Box 23">
              <a:extLst>
                <a:ext uri="{FF2B5EF4-FFF2-40B4-BE49-F238E27FC236}">
                  <a16:creationId xmlns:a16="http://schemas.microsoft.com/office/drawing/2014/main" id="{8580EE19-4CE1-F962-987D-0286422172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5" y="11547"/>
              <a:ext cx="741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3200">
                <a:solidFill>
                  <a:srgbClr val="FF0000"/>
                </a:solidFill>
              </a:endParaRPr>
            </a:p>
          </p:txBody>
        </p:sp>
        <p:sp>
          <p:nvSpPr>
            <p:cNvPr id="6164" name="Text Box 22">
              <a:extLst>
                <a:ext uri="{FF2B5EF4-FFF2-40B4-BE49-F238E27FC236}">
                  <a16:creationId xmlns:a16="http://schemas.microsoft.com/office/drawing/2014/main" id="{6F03572B-5982-6997-0A25-14039E135D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5" y="12245"/>
              <a:ext cx="742" cy="7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altLang="zh-CN" sz="3200">
                <a:solidFill>
                  <a:srgbClr val="FF0000"/>
                </a:solidFill>
              </a:endParaRPr>
            </a:p>
          </p:txBody>
        </p:sp>
        <p:sp>
          <p:nvSpPr>
            <p:cNvPr id="6165" name="Text Box 21">
              <a:extLst>
                <a:ext uri="{FF2B5EF4-FFF2-40B4-BE49-F238E27FC236}">
                  <a16:creationId xmlns:a16="http://schemas.microsoft.com/office/drawing/2014/main" id="{3109F3F2-312C-2A7E-964B-920891632F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09" y="12303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3200">
                <a:solidFill>
                  <a:srgbClr val="FF0000"/>
                </a:solidFill>
              </a:endParaRPr>
            </a:p>
          </p:txBody>
        </p:sp>
        <p:sp>
          <p:nvSpPr>
            <p:cNvPr id="6166" name="Oval 20">
              <a:extLst>
                <a:ext uri="{FF2B5EF4-FFF2-40B4-BE49-F238E27FC236}">
                  <a16:creationId xmlns:a16="http://schemas.microsoft.com/office/drawing/2014/main" id="{729E757C-E2B4-A353-E58F-EEF021EE3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2" y="11874"/>
              <a:ext cx="256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6167" name="Oval 19">
              <a:extLst>
                <a:ext uri="{FF2B5EF4-FFF2-40B4-BE49-F238E27FC236}">
                  <a16:creationId xmlns:a16="http://schemas.microsoft.com/office/drawing/2014/main" id="{8B2F25C5-2D1D-1FFA-228D-559CF5589F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0" y="13023"/>
              <a:ext cx="255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6168" name="Oval 18">
              <a:extLst>
                <a:ext uri="{FF2B5EF4-FFF2-40B4-BE49-F238E27FC236}">
                  <a16:creationId xmlns:a16="http://schemas.microsoft.com/office/drawing/2014/main" id="{6DD7B9AC-80C3-CC76-B933-632E1D7B02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9" y="11875"/>
              <a:ext cx="256" cy="25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6169" name="Oval 17">
              <a:extLst>
                <a:ext uri="{FF2B5EF4-FFF2-40B4-BE49-F238E27FC236}">
                  <a16:creationId xmlns:a16="http://schemas.microsoft.com/office/drawing/2014/main" id="{F9C841D1-FDA5-D1C6-4014-B144E8F94A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2" y="12434"/>
              <a:ext cx="256" cy="25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6170" name="Oval 16">
              <a:extLst>
                <a:ext uri="{FF2B5EF4-FFF2-40B4-BE49-F238E27FC236}">
                  <a16:creationId xmlns:a16="http://schemas.microsoft.com/office/drawing/2014/main" id="{23BBC3A4-3845-AAA0-016D-F24309F34E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08" y="12547"/>
              <a:ext cx="255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6171" name="Oval 15">
              <a:extLst>
                <a:ext uri="{FF2B5EF4-FFF2-40B4-BE49-F238E27FC236}">
                  <a16:creationId xmlns:a16="http://schemas.microsoft.com/office/drawing/2014/main" id="{15E39421-4273-262F-F58F-AFE5D1801A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9" y="13058"/>
              <a:ext cx="256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00"/>
                </a:solidFill>
              </a:endParaRPr>
            </a:p>
          </p:txBody>
        </p:sp>
        <p:cxnSp>
          <p:nvCxnSpPr>
            <p:cNvPr id="6172" name="AutoShape 14">
              <a:extLst>
                <a:ext uri="{FF2B5EF4-FFF2-40B4-BE49-F238E27FC236}">
                  <a16:creationId xmlns:a16="http://schemas.microsoft.com/office/drawing/2014/main" id="{D7ADB3E6-B891-7F0F-305D-7D16C1F1052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688" y="12002"/>
              <a:ext cx="1451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73" name="AutoShape 13">
              <a:extLst>
                <a:ext uri="{FF2B5EF4-FFF2-40B4-BE49-F238E27FC236}">
                  <a16:creationId xmlns:a16="http://schemas.microsoft.com/office/drawing/2014/main" id="{53D417E3-2ACE-A08B-502F-2A65BDC4C6B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705" y="13151"/>
              <a:ext cx="1434" cy="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74" name="AutoShape 12">
              <a:extLst>
                <a:ext uri="{FF2B5EF4-FFF2-40B4-BE49-F238E27FC236}">
                  <a16:creationId xmlns:a16="http://schemas.microsoft.com/office/drawing/2014/main" id="{734B8CFD-8206-DD59-969F-C7E471B5552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560" y="12130"/>
              <a:ext cx="18" cy="89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75" name="AutoShape 11">
              <a:extLst>
                <a:ext uri="{FF2B5EF4-FFF2-40B4-BE49-F238E27FC236}">
                  <a16:creationId xmlns:a16="http://schemas.microsoft.com/office/drawing/2014/main" id="{E449088F-A466-F52A-08D1-48A9EF2B28A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267" y="12130"/>
              <a:ext cx="1" cy="92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76" name="AutoShape 10">
              <a:extLst>
                <a:ext uri="{FF2B5EF4-FFF2-40B4-BE49-F238E27FC236}">
                  <a16:creationId xmlns:a16="http://schemas.microsoft.com/office/drawing/2014/main" id="{3D321D5E-386F-EDA1-D8F6-A06C47F749E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358" y="12093"/>
              <a:ext cx="1287" cy="49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77" name="AutoShape 9">
              <a:extLst>
                <a:ext uri="{FF2B5EF4-FFF2-40B4-BE49-F238E27FC236}">
                  <a16:creationId xmlns:a16="http://schemas.microsoft.com/office/drawing/2014/main" id="{BC84874B-0D2A-61B4-AE2F-4BD1EB26FAC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395" y="12767"/>
              <a:ext cx="1250" cy="41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78" name="AutoShape 8">
              <a:extLst>
                <a:ext uri="{FF2B5EF4-FFF2-40B4-BE49-F238E27FC236}">
                  <a16:creationId xmlns:a16="http://schemas.microsoft.com/office/drawing/2014/main" id="{2AF72FA4-4A19-827C-6E5D-D0BBE033972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421" y="12002"/>
              <a:ext cx="1011" cy="46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79" name="AutoShape 7">
              <a:extLst>
                <a:ext uri="{FF2B5EF4-FFF2-40B4-BE49-F238E27FC236}">
                  <a16:creationId xmlns:a16="http://schemas.microsoft.com/office/drawing/2014/main" id="{3652FF5C-151D-7554-923F-1BE0202DD4C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21" y="12652"/>
              <a:ext cx="1029" cy="49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180" name="AutoShape 6">
              <a:extLst>
                <a:ext uri="{FF2B5EF4-FFF2-40B4-BE49-F238E27FC236}">
                  <a16:creationId xmlns:a16="http://schemas.microsoft.com/office/drawing/2014/main" id="{81A39FA0-5FBF-1EC4-D937-5D2F5C51372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669" y="12093"/>
              <a:ext cx="1507" cy="96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5">
            <a:extLst>
              <a:ext uri="{FF2B5EF4-FFF2-40B4-BE49-F238E27FC236}">
                <a16:creationId xmlns:a16="http://schemas.microsoft.com/office/drawing/2014/main" id="{F1E11E8B-778E-E24C-D3EF-8F8429DB7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6454775"/>
            <a:ext cx="3384550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合肥工业大学 计算机与信息学院 </a:t>
            </a:r>
          </a:p>
        </p:txBody>
      </p:sp>
      <p:sp>
        <p:nvSpPr>
          <p:cNvPr id="7171" name="标题 12">
            <a:extLst>
              <a:ext uri="{FF2B5EF4-FFF2-40B4-BE49-F238E27FC236}">
                <a16:creationId xmlns:a16="http://schemas.microsoft.com/office/drawing/2014/main" id="{FED21583-F69F-121E-EBFF-289B903E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" y="74613"/>
            <a:ext cx="6761163" cy="762000"/>
          </a:xfrm>
        </p:spPr>
        <p:txBody>
          <a:bodyPr/>
          <a:lstStyle/>
          <a:p>
            <a:pPr eaLnBrk="1" hangingPunct="1"/>
            <a:r>
              <a:rPr lang="en-US" altLang="zh-CN" dirty="0"/>
              <a:t>7.4.2 </a:t>
            </a:r>
            <a:r>
              <a:rPr lang="zh-CN" altLang="en-US" dirty="0">
                <a:solidFill>
                  <a:srgbClr val="00B050"/>
                </a:solidFill>
              </a:rPr>
              <a:t>无向</a:t>
            </a:r>
            <a:r>
              <a:rPr lang="zh-CN" altLang="en-US" dirty="0"/>
              <a:t>图的</a:t>
            </a:r>
            <a:r>
              <a:rPr lang="en-US" altLang="zh-CN" dirty="0"/>
              <a:t>Dijkstra</a:t>
            </a:r>
            <a:r>
              <a:rPr lang="zh-CN" altLang="zh-CN" dirty="0"/>
              <a:t>算法</a:t>
            </a:r>
            <a:endParaRPr lang="zh-CN" altLang="en-US" dirty="0"/>
          </a:p>
        </p:txBody>
      </p:sp>
      <p:sp>
        <p:nvSpPr>
          <p:cNvPr id="7172" name="内容占位符 13">
            <a:extLst>
              <a:ext uri="{FF2B5EF4-FFF2-40B4-BE49-F238E27FC236}">
                <a16:creationId xmlns:a16="http://schemas.microsoft.com/office/drawing/2014/main" id="{F180E27D-1D31-BEA0-2EF3-1CB98D7E2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900" y="981075"/>
            <a:ext cx="8928100" cy="5473700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7173" name="对象 1">
            <a:extLst>
              <a:ext uri="{FF2B5EF4-FFF2-40B4-BE49-F238E27FC236}">
                <a16:creationId xmlns:a16="http://schemas.microsoft.com/office/drawing/2014/main" id="{30B2C3D7-03C2-8946-43F7-96185952A5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09663" y="914400"/>
          <a:ext cx="7789862" cy="605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5404901" imgH="4206929" progId="Word.Document.12">
                  <p:embed/>
                </p:oleObj>
              </mc:Choice>
              <mc:Fallback>
                <p:oleObj name="文档" r:id="rId2" imgW="5404901" imgH="4206929" progId="Word.Document.12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9663" y="914400"/>
                        <a:ext cx="7789862" cy="605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5">
            <a:extLst>
              <a:ext uri="{FF2B5EF4-FFF2-40B4-BE49-F238E27FC236}">
                <a16:creationId xmlns:a16="http://schemas.microsoft.com/office/drawing/2014/main" id="{6CEE120D-5E64-804C-F160-672F675F6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6454775"/>
            <a:ext cx="3384550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合肥工业大学 计算机与信息学院 </a:t>
            </a:r>
          </a:p>
        </p:txBody>
      </p:sp>
      <p:sp>
        <p:nvSpPr>
          <p:cNvPr id="8195" name="标题 12">
            <a:extLst>
              <a:ext uri="{FF2B5EF4-FFF2-40B4-BE49-F238E27FC236}">
                <a16:creationId xmlns:a16="http://schemas.microsoft.com/office/drawing/2014/main" id="{06C174E8-C604-92B9-D690-792C175E9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" y="74613"/>
            <a:ext cx="6761163" cy="762000"/>
          </a:xfrm>
        </p:spPr>
        <p:txBody>
          <a:bodyPr/>
          <a:lstStyle/>
          <a:p>
            <a:pPr eaLnBrk="1" hangingPunct="1"/>
            <a:r>
              <a:rPr lang="en-US" altLang="zh-CN" dirty="0"/>
              <a:t>7.4.2 </a:t>
            </a:r>
            <a:r>
              <a:rPr lang="zh-CN" altLang="en-US" dirty="0">
                <a:solidFill>
                  <a:srgbClr val="00B050"/>
                </a:solidFill>
              </a:rPr>
              <a:t>无向</a:t>
            </a:r>
            <a:r>
              <a:rPr lang="zh-CN" altLang="en-US" dirty="0"/>
              <a:t>图的</a:t>
            </a:r>
            <a:r>
              <a:rPr lang="en-US" altLang="zh-CN" dirty="0"/>
              <a:t>Dijkstra</a:t>
            </a:r>
            <a:r>
              <a:rPr lang="zh-CN" altLang="zh-CN" dirty="0"/>
              <a:t>算法</a:t>
            </a:r>
            <a:endParaRPr lang="zh-CN" altLang="en-US" dirty="0"/>
          </a:p>
        </p:txBody>
      </p:sp>
      <p:sp>
        <p:nvSpPr>
          <p:cNvPr id="8196" name="内容占位符 13">
            <a:extLst>
              <a:ext uri="{FF2B5EF4-FFF2-40B4-BE49-F238E27FC236}">
                <a16:creationId xmlns:a16="http://schemas.microsoft.com/office/drawing/2014/main" id="{7CA4BC0A-C6ED-BCB8-2339-02B1689CB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" y="981075"/>
            <a:ext cx="8928100" cy="5473700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</a:rPr>
              <a:t>续</a:t>
            </a:r>
          </a:p>
        </p:txBody>
      </p:sp>
      <p:graphicFrame>
        <p:nvGraphicFramePr>
          <p:cNvPr id="8197" name="对象 1">
            <a:extLst>
              <a:ext uri="{FF2B5EF4-FFF2-40B4-BE49-F238E27FC236}">
                <a16:creationId xmlns:a16="http://schemas.microsoft.com/office/drawing/2014/main" id="{75E67DB8-E9D2-3C79-A996-B73DEE04C1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981075"/>
          <a:ext cx="8137525" cy="583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5404901" imgH="4076655" progId="Word.Document.12">
                  <p:embed/>
                </p:oleObj>
              </mc:Choice>
              <mc:Fallback>
                <p:oleObj name="文档" r:id="rId2" imgW="5404901" imgH="4076655" progId="Word.Document.12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981075"/>
                        <a:ext cx="8137525" cy="583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5">
            <a:extLst>
              <a:ext uri="{FF2B5EF4-FFF2-40B4-BE49-F238E27FC236}">
                <a16:creationId xmlns:a16="http://schemas.microsoft.com/office/drawing/2014/main" id="{988EE61C-F852-DAF1-CD1A-2E395DA3C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6454775"/>
            <a:ext cx="3384550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合肥工业大学 计算机与信息学院 </a:t>
            </a:r>
          </a:p>
        </p:txBody>
      </p:sp>
      <p:sp>
        <p:nvSpPr>
          <p:cNvPr id="9219" name="标题 12">
            <a:extLst>
              <a:ext uri="{FF2B5EF4-FFF2-40B4-BE49-F238E27FC236}">
                <a16:creationId xmlns:a16="http://schemas.microsoft.com/office/drawing/2014/main" id="{3FCD75A6-A346-75DC-6EBE-38173F001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" y="74613"/>
            <a:ext cx="6761163" cy="762000"/>
          </a:xfrm>
        </p:spPr>
        <p:txBody>
          <a:bodyPr/>
          <a:lstStyle/>
          <a:p>
            <a:pPr eaLnBrk="1" hangingPunct="1"/>
            <a:r>
              <a:rPr lang="en-US" altLang="zh-CN" dirty="0"/>
              <a:t>7.4.2 </a:t>
            </a:r>
            <a:r>
              <a:rPr lang="zh-CN" altLang="en-US" dirty="0">
                <a:solidFill>
                  <a:srgbClr val="00B050"/>
                </a:solidFill>
              </a:rPr>
              <a:t>无向</a:t>
            </a:r>
            <a:r>
              <a:rPr lang="zh-CN" altLang="en-US" dirty="0"/>
              <a:t>图的</a:t>
            </a:r>
            <a:r>
              <a:rPr lang="en-US" altLang="zh-CN" dirty="0"/>
              <a:t>Dijkstra</a:t>
            </a:r>
            <a:r>
              <a:rPr lang="zh-CN" altLang="zh-CN" dirty="0"/>
              <a:t>算法</a:t>
            </a:r>
            <a:endParaRPr lang="zh-CN" altLang="en-US" dirty="0"/>
          </a:p>
        </p:txBody>
      </p:sp>
      <p:sp>
        <p:nvSpPr>
          <p:cNvPr id="9220" name="内容占位符 13">
            <a:extLst>
              <a:ext uri="{FF2B5EF4-FFF2-40B4-BE49-F238E27FC236}">
                <a16:creationId xmlns:a16="http://schemas.microsoft.com/office/drawing/2014/main" id="{DDAD71EE-737E-BFA7-D388-C92364F45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" y="981075"/>
            <a:ext cx="8928100" cy="54737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Arial" charset="0"/>
              <a:buChar char="•"/>
              <a:defRPr/>
            </a:pPr>
            <a:r>
              <a:rPr lang="zh-CN" altLang="zh-CN" b="1" dirty="0">
                <a:solidFill>
                  <a:srgbClr val="FF0000"/>
                </a:solidFill>
              </a:rPr>
              <a:t>例</a:t>
            </a:r>
            <a:r>
              <a:rPr lang="en-US" altLang="zh-CN" b="1" dirty="0">
                <a:solidFill>
                  <a:srgbClr val="FF0000"/>
                </a:solidFill>
              </a:rPr>
              <a:t>7.4.2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zh-CN" dirty="0"/>
              <a:t>用</a:t>
            </a:r>
            <a:r>
              <a:rPr lang="en-US" altLang="zh-CN" dirty="0" err="1"/>
              <a:t>Dijkstra</a:t>
            </a:r>
            <a:r>
              <a:rPr lang="zh-CN" altLang="zh-CN" dirty="0"/>
              <a:t>算法求</a:t>
            </a:r>
            <a:r>
              <a:rPr lang="zh-CN" altLang="en-US" dirty="0"/>
              <a:t>下</a:t>
            </a:r>
            <a:r>
              <a:rPr lang="zh-CN" altLang="zh-CN" dirty="0"/>
              <a:t>图所示的加权图</a:t>
            </a:r>
            <a:r>
              <a:rPr lang="en-US" altLang="zh-CN" dirty="0"/>
              <a:t>G</a:t>
            </a:r>
            <a:r>
              <a:rPr lang="zh-CN" altLang="zh-CN" dirty="0"/>
              <a:t>中结点</a:t>
            </a:r>
            <a:r>
              <a:rPr lang="en-US" altLang="zh-CN" dirty="0"/>
              <a:t>a</a:t>
            </a:r>
            <a:r>
              <a:rPr lang="zh-CN" altLang="zh-CN" dirty="0"/>
              <a:t>与</a:t>
            </a:r>
            <a:r>
              <a:rPr lang="en-US" altLang="zh-CN" dirty="0"/>
              <a:t>z</a:t>
            </a:r>
            <a:r>
              <a:rPr lang="zh-CN" altLang="zh-CN" dirty="0"/>
              <a:t>之间的最短路及其长度。</a:t>
            </a:r>
            <a:endParaRPr lang="en-US" altLang="zh-CN" dirty="0"/>
          </a:p>
          <a:p>
            <a:pPr marL="0" indent="0" eaLnBrk="1" hangingPunct="1">
              <a:buFont typeface="Arial" charset="0"/>
              <a:buNone/>
              <a:defRPr/>
            </a:pPr>
            <a:endParaRPr lang="zh-CN" altLang="en-US" dirty="0"/>
          </a:p>
        </p:txBody>
      </p:sp>
      <p:sp>
        <p:nvSpPr>
          <p:cNvPr id="9221" name="Rectangle 47">
            <a:extLst>
              <a:ext uri="{FF2B5EF4-FFF2-40B4-BE49-F238E27FC236}">
                <a16:creationId xmlns:a16="http://schemas.microsoft.com/office/drawing/2014/main" id="{1EE8B5B5-6D3A-640A-EB90-1B14AD7A07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9222" name="Group 5">
            <a:extLst>
              <a:ext uri="{FF2B5EF4-FFF2-40B4-BE49-F238E27FC236}">
                <a16:creationId xmlns:a16="http://schemas.microsoft.com/office/drawing/2014/main" id="{63F4DBA9-8F58-EE0A-53B6-56D6DF5E827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979613" y="2432050"/>
            <a:ext cx="6192837" cy="4237038"/>
            <a:chOff x="2738" y="1821"/>
            <a:chExt cx="5737" cy="3924"/>
          </a:xfrm>
        </p:grpSpPr>
        <p:sp>
          <p:nvSpPr>
            <p:cNvPr id="9223" name="AutoShape 46">
              <a:extLst>
                <a:ext uri="{FF2B5EF4-FFF2-40B4-BE49-F238E27FC236}">
                  <a16:creationId xmlns:a16="http://schemas.microsoft.com/office/drawing/2014/main" id="{38FAE18E-9742-8EFF-8817-FBEFD5245867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738" y="1821"/>
              <a:ext cx="5690" cy="36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4" name="Text Box 45">
              <a:extLst>
                <a:ext uri="{FF2B5EF4-FFF2-40B4-BE49-F238E27FC236}">
                  <a16:creationId xmlns:a16="http://schemas.microsoft.com/office/drawing/2014/main" id="{121E9161-CF19-FC24-9228-F8F14DAE7F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3" y="1889"/>
              <a:ext cx="694" cy="70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98426" tIns="49212" rIns="98426" bIns="49212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3200">
                <a:solidFill>
                  <a:srgbClr val="FF0000"/>
                </a:solidFill>
              </a:endParaRPr>
            </a:p>
          </p:txBody>
        </p:sp>
        <p:sp>
          <p:nvSpPr>
            <p:cNvPr id="9225" name="Text Box 44">
              <a:extLst>
                <a:ext uri="{FF2B5EF4-FFF2-40B4-BE49-F238E27FC236}">
                  <a16:creationId xmlns:a16="http://schemas.microsoft.com/office/drawing/2014/main" id="{2D0C0E1E-2529-2FF1-7120-47C9BD696F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6" y="4739"/>
              <a:ext cx="743" cy="75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316" tIns="52658" rIns="105316" bIns="5265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en-US" altLang="zh-CN" sz="3200"/>
            </a:p>
          </p:txBody>
        </p:sp>
        <p:sp>
          <p:nvSpPr>
            <p:cNvPr id="9226" name="Text Box 43">
              <a:extLst>
                <a:ext uri="{FF2B5EF4-FFF2-40B4-BE49-F238E27FC236}">
                  <a16:creationId xmlns:a16="http://schemas.microsoft.com/office/drawing/2014/main" id="{30CE0B6F-1260-8363-9A8F-0265A6DC81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73" y="4749"/>
              <a:ext cx="743" cy="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316" tIns="52658" rIns="105316" bIns="5265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en-US" altLang="zh-CN" sz="3200"/>
            </a:p>
          </p:txBody>
        </p:sp>
        <p:sp>
          <p:nvSpPr>
            <p:cNvPr id="9227" name="Text Box 42">
              <a:extLst>
                <a:ext uri="{FF2B5EF4-FFF2-40B4-BE49-F238E27FC236}">
                  <a16:creationId xmlns:a16="http://schemas.microsoft.com/office/drawing/2014/main" id="{171B1C42-8E1F-8A1B-939E-9621EAD58E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4" y="4995"/>
              <a:ext cx="743" cy="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316" tIns="52658" rIns="105316" bIns="5265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sz="3200">
                <a:solidFill>
                  <a:srgbClr val="FF0000"/>
                </a:solidFill>
              </a:endParaRPr>
            </a:p>
          </p:txBody>
        </p:sp>
        <p:sp>
          <p:nvSpPr>
            <p:cNvPr id="9228" name="Text Box 41">
              <a:extLst>
                <a:ext uri="{FF2B5EF4-FFF2-40B4-BE49-F238E27FC236}">
                  <a16:creationId xmlns:a16="http://schemas.microsoft.com/office/drawing/2014/main" id="{2DFF6A89-40A2-C556-F135-BE67E6A4E2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8" y="4064"/>
              <a:ext cx="743" cy="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316" tIns="52658" rIns="105316" bIns="5265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3200">
                <a:solidFill>
                  <a:srgbClr val="FF0000"/>
                </a:solidFill>
              </a:endParaRPr>
            </a:p>
          </p:txBody>
        </p:sp>
        <p:sp>
          <p:nvSpPr>
            <p:cNvPr id="9229" name="Text Box 40">
              <a:extLst>
                <a:ext uri="{FF2B5EF4-FFF2-40B4-BE49-F238E27FC236}">
                  <a16:creationId xmlns:a16="http://schemas.microsoft.com/office/drawing/2014/main" id="{A4F5D25E-0654-180D-740B-B9E3D84457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5" y="4061"/>
              <a:ext cx="742" cy="7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316" tIns="52658" rIns="105316" bIns="5265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 sz="3200">
                <a:solidFill>
                  <a:srgbClr val="FF0000"/>
                </a:solidFill>
              </a:endParaRPr>
            </a:p>
          </p:txBody>
        </p:sp>
        <p:sp>
          <p:nvSpPr>
            <p:cNvPr id="9230" name="Text Box 39">
              <a:extLst>
                <a:ext uri="{FF2B5EF4-FFF2-40B4-BE49-F238E27FC236}">
                  <a16:creationId xmlns:a16="http://schemas.microsoft.com/office/drawing/2014/main" id="{4B7E9D16-D581-5C60-05DD-0987D41F00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7" y="4061"/>
              <a:ext cx="744" cy="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316" tIns="52658" rIns="105316" bIns="5265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3200">
                <a:solidFill>
                  <a:srgbClr val="FF0000"/>
                </a:solidFill>
              </a:endParaRPr>
            </a:p>
          </p:txBody>
        </p:sp>
        <p:sp>
          <p:nvSpPr>
            <p:cNvPr id="9231" name="Text Box 38">
              <a:extLst>
                <a:ext uri="{FF2B5EF4-FFF2-40B4-BE49-F238E27FC236}">
                  <a16:creationId xmlns:a16="http://schemas.microsoft.com/office/drawing/2014/main" id="{D091A726-F17F-9C18-2FA6-50E2977553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03" y="1963"/>
              <a:ext cx="744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316" tIns="52658" rIns="105316" bIns="5265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altLang="zh-CN" sz="3200"/>
            </a:p>
          </p:txBody>
        </p:sp>
        <p:sp>
          <p:nvSpPr>
            <p:cNvPr id="9232" name="Text Box 37">
              <a:extLst>
                <a:ext uri="{FF2B5EF4-FFF2-40B4-BE49-F238E27FC236}">
                  <a16:creationId xmlns:a16="http://schemas.microsoft.com/office/drawing/2014/main" id="{5664AEE2-9FD9-AF43-EF2C-3610DB2988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3" y="1949"/>
              <a:ext cx="743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316" tIns="52658" rIns="105316" bIns="5265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 sz="3200"/>
            </a:p>
          </p:txBody>
        </p:sp>
        <p:sp>
          <p:nvSpPr>
            <p:cNvPr id="9233" name="Text Box 36">
              <a:extLst>
                <a:ext uri="{FF2B5EF4-FFF2-40B4-BE49-F238E27FC236}">
                  <a16:creationId xmlns:a16="http://schemas.microsoft.com/office/drawing/2014/main" id="{47206DA6-9F77-FDB5-75F2-ADD6E8B940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32" y="3144"/>
              <a:ext cx="743" cy="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316" tIns="52658" rIns="105316" bIns="5265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en-US" altLang="zh-CN" sz="3200"/>
            </a:p>
          </p:txBody>
        </p:sp>
        <p:sp>
          <p:nvSpPr>
            <p:cNvPr id="9234" name="Text Box 35">
              <a:extLst>
                <a:ext uri="{FF2B5EF4-FFF2-40B4-BE49-F238E27FC236}">
                  <a16:creationId xmlns:a16="http://schemas.microsoft.com/office/drawing/2014/main" id="{18FBA128-F6CF-6A0B-F11B-346DB3218C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73" y="3460"/>
              <a:ext cx="744" cy="75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316" tIns="52658" rIns="105316" bIns="5265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sz="3200"/>
            </a:p>
          </p:txBody>
        </p:sp>
        <p:sp>
          <p:nvSpPr>
            <p:cNvPr id="9235" name="Text Box 34">
              <a:extLst>
                <a:ext uri="{FF2B5EF4-FFF2-40B4-BE49-F238E27FC236}">
                  <a16:creationId xmlns:a16="http://schemas.microsoft.com/office/drawing/2014/main" id="{7F861799-09A9-1FB5-A70B-D444FDF7BA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95" y="3127"/>
              <a:ext cx="743" cy="75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316" tIns="52658" rIns="105316" bIns="5265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3200"/>
            </a:p>
          </p:txBody>
        </p:sp>
        <p:sp>
          <p:nvSpPr>
            <p:cNvPr id="9236" name="Text Box 33">
              <a:extLst>
                <a:ext uri="{FF2B5EF4-FFF2-40B4-BE49-F238E27FC236}">
                  <a16:creationId xmlns:a16="http://schemas.microsoft.com/office/drawing/2014/main" id="{AF7F56AB-6B81-FAB7-9EFD-6021984775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1" y="3395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316" tIns="52658" rIns="105316" bIns="5265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US" altLang="zh-CN" sz="3200"/>
            </a:p>
          </p:txBody>
        </p:sp>
        <p:sp>
          <p:nvSpPr>
            <p:cNvPr id="9237" name="Text Box 32">
              <a:extLst>
                <a:ext uri="{FF2B5EF4-FFF2-40B4-BE49-F238E27FC236}">
                  <a16:creationId xmlns:a16="http://schemas.microsoft.com/office/drawing/2014/main" id="{178F9751-7B69-16FE-64B7-E19B458931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0" y="2595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316" tIns="52658" rIns="105316" bIns="5265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3200">
                <a:solidFill>
                  <a:srgbClr val="FF0000"/>
                </a:solidFill>
              </a:endParaRPr>
            </a:p>
          </p:txBody>
        </p:sp>
        <p:sp>
          <p:nvSpPr>
            <p:cNvPr id="9238" name="Text Box 31">
              <a:extLst>
                <a:ext uri="{FF2B5EF4-FFF2-40B4-BE49-F238E27FC236}">
                  <a16:creationId xmlns:a16="http://schemas.microsoft.com/office/drawing/2014/main" id="{8DD2D867-6942-7598-EDC1-277A892521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5" y="3887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316" tIns="52658" rIns="105316" bIns="5265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3200">
                <a:solidFill>
                  <a:srgbClr val="FF0000"/>
                </a:solidFill>
              </a:endParaRPr>
            </a:p>
          </p:txBody>
        </p:sp>
        <p:sp>
          <p:nvSpPr>
            <p:cNvPr id="9239" name="Text Box 30">
              <a:extLst>
                <a:ext uri="{FF2B5EF4-FFF2-40B4-BE49-F238E27FC236}">
                  <a16:creationId xmlns:a16="http://schemas.microsoft.com/office/drawing/2014/main" id="{A7F21C10-F9C4-02A5-5CA4-BC4AC18639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6" y="2860"/>
              <a:ext cx="744" cy="75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316" tIns="52658" rIns="105316" bIns="5265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3200">
                <a:solidFill>
                  <a:srgbClr val="FF0000"/>
                </a:solidFill>
              </a:endParaRPr>
            </a:p>
          </p:txBody>
        </p:sp>
        <p:sp>
          <p:nvSpPr>
            <p:cNvPr id="9240" name="Text Box 29">
              <a:extLst>
                <a:ext uri="{FF2B5EF4-FFF2-40B4-BE49-F238E27FC236}">
                  <a16:creationId xmlns:a16="http://schemas.microsoft.com/office/drawing/2014/main" id="{EEA54921-57A9-658D-CD60-DCB3C9C660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7" y="3214"/>
              <a:ext cx="744" cy="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316" tIns="52658" rIns="105316" bIns="5265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3200">
                <a:solidFill>
                  <a:srgbClr val="FF0000"/>
                </a:solidFill>
              </a:endParaRPr>
            </a:p>
          </p:txBody>
        </p:sp>
        <p:sp>
          <p:nvSpPr>
            <p:cNvPr id="9241" name="Text Box 28">
              <a:extLst>
                <a:ext uri="{FF2B5EF4-FFF2-40B4-BE49-F238E27FC236}">
                  <a16:creationId xmlns:a16="http://schemas.microsoft.com/office/drawing/2014/main" id="{039CAD14-6066-3D61-146A-565CCCEC31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33" y="2471"/>
              <a:ext cx="743" cy="7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316" tIns="52658" rIns="105316" bIns="5265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3200">
                <a:solidFill>
                  <a:srgbClr val="FF0000"/>
                </a:solidFill>
              </a:endParaRPr>
            </a:p>
          </p:txBody>
        </p:sp>
        <p:sp>
          <p:nvSpPr>
            <p:cNvPr id="9242" name="Text Box 27">
              <a:extLst>
                <a:ext uri="{FF2B5EF4-FFF2-40B4-BE49-F238E27FC236}">
                  <a16:creationId xmlns:a16="http://schemas.microsoft.com/office/drawing/2014/main" id="{D966F05E-994F-9B28-CDFA-DB1F551EB5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3" y="2532"/>
              <a:ext cx="744" cy="7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316" tIns="52658" rIns="105316" bIns="5265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sz="3200">
                <a:solidFill>
                  <a:srgbClr val="FF0000"/>
                </a:solidFill>
              </a:endParaRPr>
            </a:p>
          </p:txBody>
        </p:sp>
        <p:sp>
          <p:nvSpPr>
            <p:cNvPr id="9243" name="Text Box 26">
              <a:extLst>
                <a:ext uri="{FF2B5EF4-FFF2-40B4-BE49-F238E27FC236}">
                  <a16:creationId xmlns:a16="http://schemas.microsoft.com/office/drawing/2014/main" id="{B6FA7B23-3244-5227-3768-40BD371296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8" y="2751"/>
              <a:ext cx="742" cy="75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316" tIns="52658" rIns="105316" bIns="5265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3200">
                <a:solidFill>
                  <a:srgbClr val="FF0000"/>
                </a:solidFill>
              </a:endParaRPr>
            </a:p>
          </p:txBody>
        </p:sp>
        <p:sp>
          <p:nvSpPr>
            <p:cNvPr id="9244" name="Oval 25">
              <a:extLst>
                <a:ext uri="{FF2B5EF4-FFF2-40B4-BE49-F238E27FC236}">
                  <a16:creationId xmlns:a16="http://schemas.microsoft.com/office/drawing/2014/main" id="{5984D135-FCD6-3448-EB75-61756D6B4A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5" y="2305"/>
              <a:ext cx="255" cy="25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45" name="Oval 24">
              <a:extLst>
                <a:ext uri="{FF2B5EF4-FFF2-40B4-BE49-F238E27FC236}">
                  <a16:creationId xmlns:a16="http://schemas.microsoft.com/office/drawing/2014/main" id="{58F54B9D-433F-702A-58F7-099C8A5F58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3" y="3605"/>
              <a:ext cx="255" cy="25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46" name="Oval 23">
              <a:extLst>
                <a:ext uri="{FF2B5EF4-FFF2-40B4-BE49-F238E27FC236}">
                  <a16:creationId xmlns:a16="http://schemas.microsoft.com/office/drawing/2014/main" id="{6F317095-9F05-4558-0598-2B388889FE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53" y="2306"/>
              <a:ext cx="257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47" name="Oval 22">
              <a:extLst>
                <a:ext uri="{FF2B5EF4-FFF2-40B4-BE49-F238E27FC236}">
                  <a16:creationId xmlns:a16="http://schemas.microsoft.com/office/drawing/2014/main" id="{5501DDBD-D9AF-4958-B5A9-A96E279321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3" y="3316"/>
              <a:ext cx="257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48" name="Oval 21">
              <a:extLst>
                <a:ext uri="{FF2B5EF4-FFF2-40B4-BE49-F238E27FC236}">
                  <a16:creationId xmlns:a16="http://schemas.microsoft.com/office/drawing/2014/main" id="{FA718082-39DE-AA63-74D8-F6188248D8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4" y="3353"/>
              <a:ext cx="256" cy="25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49" name="Oval 20">
              <a:extLst>
                <a:ext uri="{FF2B5EF4-FFF2-40B4-BE49-F238E27FC236}">
                  <a16:creationId xmlns:a16="http://schemas.microsoft.com/office/drawing/2014/main" id="{760E6E50-2D74-0CCC-2835-A92F5128FC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53" y="3640"/>
              <a:ext cx="257" cy="25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9250" name="AutoShape 19">
              <a:extLst>
                <a:ext uri="{FF2B5EF4-FFF2-40B4-BE49-F238E27FC236}">
                  <a16:creationId xmlns:a16="http://schemas.microsoft.com/office/drawing/2014/main" id="{5F512FBB-8BB0-BC55-75F6-8E5514EA63F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600" y="2434"/>
              <a:ext cx="1453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51" name="AutoShape 18">
              <a:extLst>
                <a:ext uri="{FF2B5EF4-FFF2-40B4-BE49-F238E27FC236}">
                  <a16:creationId xmlns:a16="http://schemas.microsoft.com/office/drawing/2014/main" id="{ED674F4A-6069-8E36-0775-CF9714C5B8A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618" y="3734"/>
              <a:ext cx="1435" cy="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52" name="AutoShape 17">
              <a:extLst>
                <a:ext uri="{FF2B5EF4-FFF2-40B4-BE49-F238E27FC236}">
                  <a16:creationId xmlns:a16="http://schemas.microsoft.com/office/drawing/2014/main" id="{A4D7581B-F4F8-DF4A-AAF9-5A1672F8188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473" y="2562"/>
              <a:ext cx="18" cy="104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53" name="AutoShape 16">
              <a:extLst>
                <a:ext uri="{FF2B5EF4-FFF2-40B4-BE49-F238E27FC236}">
                  <a16:creationId xmlns:a16="http://schemas.microsoft.com/office/drawing/2014/main" id="{546E8BB5-EF07-71AA-2321-8325936FD01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182" y="2562"/>
              <a:ext cx="1" cy="107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54" name="AutoShape 15">
              <a:extLst>
                <a:ext uri="{FF2B5EF4-FFF2-40B4-BE49-F238E27FC236}">
                  <a16:creationId xmlns:a16="http://schemas.microsoft.com/office/drawing/2014/main" id="{37CD27F7-5C41-38E7-3C6E-A654FE737C7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272" y="2525"/>
              <a:ext cx="1289" cy="86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55" name="AutoShape 14">
              <a:extLst>
                <a:ext uri="{FF2B5EF4-FFF2-40B4-BE49-F238E27FC236}">
                  <a16:creationId xmlns:a16="http://schemas.microsoft.com/office/drawing/2014/main" id="{612FABA6-68FB-3965-D26D-6FFF6A9144E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332" y="2434"/>
              <a:ext cx="1013" cy="91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256" name="Oval 13">
              <a:extLst>
                <a:ext uri="{FF2B5EF4-FFF2-40B4-BE49-F238E27FC236}">
                  <a16:creationId xmlns:a16="http://schemas.microsoft.com/office/drawing/2014/main" id="{AFD8EAD3-792F-E48B-05F6-D4C025B961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5" y="4896"/>
              <a:ext cx="254" cy="25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57" name="Oval 12">
              <a:extLst>
                <a:ext uri="{FF2B5EF4-FFF2-40B4-BE49-F238E27FC236}">
                  <a16:creationId xmlns:a16="http://schemas.microsoft.com/office/drawing/2014/main" id="{3EA9035F-44DD-6C2C-FA8C-6A7B48CF5D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54" y="4933"/>
              <a:ext cx="256" cy="25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9258" name="AutoShape 11">
              <a:extLst>
                <a:ext uri="{FF2B5EF4-FFF2-40B4-BE49-F238E27FC236}">
                  <a16:creationId xmlns:a16="http://schemas.microsoft.com/office/drawing/2014/main" id="{50D8FF5D-2363-9A28-69B1-1C3D642EBF3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563" y="2524"/>
              <a:ext cx="1528" cy="115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59" name="AutoShape 10">
              <a:extLst>
                <a:ext uri="{FF2B5EF4-FFF2-40B4-BE49-F238E27FC236}">
                  <a16:creationId xmlns:a16="http://schemas.microsoft.com/office/drawing/2014/main" id="{1CB1CB6E-A246-D04C-BDA7-7B3362BD73B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472" y="3862"/>
              <a:ext cx="19" cy="103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60" name="AutoShape 9">
              <a:extLst>
                <a:ext uri="{FF2B5EF4-FFF2-40B4-BE49-F238E27FC236}">
                  <a16:creationId xmlns:a16="http://schemas.microsoft.com/office/drawing/2014/main" id="{98D15255-A3B8-F442-D971-8C097E06144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182" y="3897"/>
              <a:ext cx="1" cy="103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61" name="AutoShape 8">
              <a:extLst>
                <a:ext uri="{FF2B5EF4-FFF2-40B4-BE49-F238E27FC236}">
                  <a16:creationId xmlns:a16="http://schemas.microsoft.com/office/drawing/2014/main" id="{9FB104AC-AD46-2B1A-538D-0D1AF526CA1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599" y="5025"/>
              <a:ext cx="1455" cy="3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62" name="AutoShape 7">
              <a:extLst>
                <a:ext uri="{FF2B5EF4-FFF2-40B4-BE49-F238E27FC236}">
                  <a16:creationId xmlns:a16="http://schemas.microsoft.com/office/drawing/2014/main" id="{E8CA0135-59A9-A2F2-352E-9C7B91E3263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242" y="3572"/>
              <a:ext cx="1140" cy="1362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263" name="AutoShape 6">
              <a:extLst>
                <a:ext uri="{FF2B5EF4-FFF2-40B4-BE49-F238E27FC236}">
                  <a16:creationId xmlns:a16="http://schemas.microsoft.com/office/drawing/2014/main" id="{931A152D-59F5-D69A-67FB-C97D43D3A4D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6273" y="3610"/>
              <a:ext cx="1379" cy="136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5">
            <a:extLst>
              <a:ext uri="{FF2B5EF4-FFF2-40B4-BE49-F238E27FC236}">
                <a16:creationId xmlns:a16="http://schemas.microsoft.com/office/drawing/2014/main" id="{01489362-72F5-55ED-90FF-E7021D3F61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6454775"/>
            <a:ext cx="3384550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合肥工业大学 计算机与信息学院 </a:t>
            </a:r>
          </a:p>
        </p:txBody>
      </p:sp>
      <p:sp>
        <p:nvSpPr>
          <p:cNvPr id="10243" name="标题 12">
            <a:extLst>
              <a:ext uri="{FF2B5EF4-FFF2-40B4-BE49-F238E27FC236}">
                <a16:creationId xmlns:a16="http://schemas.microsoft.com/office/drawing/2014/main" id="{37EA7F8D-49C5-1E00-5CFE-2DEAAEE9B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" y="74613"/>
            <a:ext cx="6761163" cy="762000"/>
          </a:xfrm>
        </p:spPr>
        <p:txBody>
          <a:bodyPr/>
          <a:lstStyle/>
          <a:p>
            <a:pPr eaLnBrk="1" hangingPunct="1"/>
            <a:r>
              <a:rPr lang="en-US" altLang="zh-CN" dirty="0"/>
              <a:t>7.4.2 </a:t>
            </a:r>
            <a:r>
              <a:rPr lang="zh-CN" altLang="en-US" dirty="0">
                <a:solidFill>
                  <a:srgbClr val="00B050"/>
                </a:solidFill>
              </a:rPr>
              <a:t>无向</a:t>
            </a:r>
            <a:r>
              <a:rPr lang="zh-CN" altLang="en-US" dirty="0"/>
              <a:t>图的</a:t>
            </a:r>
            <a:r>
              <a:rPr lang="en-US" altLang="zh-CN" dirty="0"/>
              <a:t>Dijkstra</a:t>
            </a:r>
            <a:r>
              <a:rPr lang="zh-CN" altLang="zh-CN" dirty="0"/>
              <a:t>算法</a:t>
            </a:r>
            <a:endParaRPr lang="zh-CN" altLang="en-US" dirty="0"/>
          </a:p>
        </p:txBody>
      </p:sp>
      <p:sp>
        <p:nvSpPr>
          <p:cNvPr id="10244" name="内容占位符 13">
            <a:extLst>
              <a:ext uri="{FF2B5EF4-FFF2-40B4-BE49-F238E27FC236}">
                <a16:creationId xmlns:a16="http://schemas.microsoft.com/office/drawing/2014/main" id="{D8ED0AD7-6FDB-2442-CD74-61D6FB2CA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" y="981075"/>
            <a:ext cx="8928100" cy="5473700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</a:rPr>
              <a:t>解</a:t>
            </a:r>
          </a:p>
        </p:txBody>
      </p:sp>
      <p:graphicFrame>
        <p:nvGraphicFramePr>
          <p:cNvPr id="10245" name="对象 1">
            <a:extLst>
              <a:ext uri="{FF2B5EF4-FFF2-40B4-BE49-F238E27FC236}">
                <a16:creationId xmlns:a16="http://schemas.microsoft.com/office/drawing/2014/main" id="{CAD7DB83-C361-3E71-AC7A-11BCE07D5F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9488" y="979488"/>
          <a:ext cx="7985125" cy="550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5404901" imgH="3740173" progId="Word.Document.12">
                  <p:embed/>
                </p:oleObj>
              </mc:Choice>
              <mc:Fallback>
                <p:oleObj name="文档" r:id="rId2" imgW="5404901" imgH="3740173" progId="Word.Document.12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9488" y="979488"/>
                        <a:ext cx="7985125" cy="550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>
            <a:extLst>
              <a:ext uri="{FF2B5EF4-FFF2-40B4-BE49-F238E27FC236}">
                <a16:creationId xmlns:a16="http://schemas.microsoft.com/office/drawing/2014/main" id="{AC918146-AFA2-E307-E12B-4B794C0E6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6454775"/>
            <a:ext cx="3384550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合肥工业大学 计算机与信息学院 </a:t>
            </a:r>
          </a:p>
        </p:txBody>
      </p:sp>
      <p:sp>
        <p:nvSpPr>
          <p:cNvPr id="11267" name="标题 12">
            <a:extLst>
              <a:ext uri="{FF2B5EF4-FFF2-40B4-BE49-F238E27FC236}">
                <a16:creationId xmlns:a16="http://schemas.microsoft.com/office/drawing/2014/main" id="{029FF21F-1160-2BA1-F8B3-9BF6484E9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" y="74613"/>
            <a:ext cx="6761163" cy="762000"/>
          </a:xfrm>
        </p:spPr>
        <p:txBody>
          <a:bodyPr/>
          <a:lstStyle/>
          <a:p>
            <a:pPr eaLnBrk="1" hangingPunct="1"/>
            <a:r>
              <a:rPr lang="en-US" altLang="zh-CN" dirty="0"/>
              <a:t>7.4.2 </a:t>
            </a:r>
            <a:r>
              <a:rPr lang="zh-CN" altLang="en-US" dirty="0">
                <a:solidFill>
                  <a:srgbClr val="00B050"/>
                </a:solidFill>
              </a:rPr>
              <a:t>无向</a:t>
            </a:r>
            <a:r>
              <a:rPr lang="zh-CN" altLang="en-US" dirty="0"/>
              <a:t>图的</a:t>
            </a:r>
            <a:r>
              <a:rPr lang="en-US" altLang="zh-CN" dirty="0"/>
              <a:t>Dijkstra</a:t>
            </a:r>
            <a:r>
              <a:rPr lang="zh-CN" altLang="zh-CN" dirty="0"/>
              <a:t>算法</a:t>
            </a:r>
            <a:endParaRPr lang="zh-CN" altLang="en-US" dirty="0"/>
          </a:p>
        </p:txBody>
      </p:sp>
      <p:sp>
        <p:nvSpPr>
          <p:cNvPr id="11268" name="内容占位符 13">
            <a:extLst>
              <a:ext uri="{FF2B5EF4-FFF2-40B4-BE49-F238E27FC236}">
                <a16:creationId xmlns:a16="http://schemas.microsoft.com/office/drawing/2014/main" id="{52A832D7-3128-849D-C122-DF65B2294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" y="981075"/>
            <a:ext cx="8928100" cy="5473700"/>
          </a:xfrm>
        </p:spPr>
        <p:txBody>
          <a:bodyPr/>
          <a:lstStyle/>
          <a:p>
            <a:pPr eaLnBrk="1" hangingPunct="1"/>
            <a:r>
              <a:rPr lang="zh-CN" altLang="en-US" b="1">
                <a:solidFill>
                  <a:srgbClr val="FF0000"/>
                </a:solidFill>
              </a:rPr>
              <a:t>续</a:t>
            </a:r>
          </a:p>
        </p:txBody>
      </p:sp>
      <p:graphicFrame>
        <p:nvGraphicFramePr>
          <p:cNvPr id="11269" name="对象 1">
            <a:extLst>
              <a:ext uri="{FF2B5EF4-FFF2-40B4-BE49-F238E27FC236}">
                <a16:creationId xmlns:a16="http://schemas.microsoft.com/office/drawing/2014/main" id="{E09FD5BE-8E89-2210-617F-1A9AD29113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1009650"/>
          <a:ext cx="7921625" cy="562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2" imgW="5404901" imgH="4838149" progId="Word.Document.12">
                  <p:embed/>
                </p:oleObj>
              </mc:Choice>
              <mc:Fallback>
                <p:oleObj name="文档" r:id="rId2" imgW="5404901" imgH="4838149" progId="Word.Document.12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009650"/>
                        <a:ext cx="7921625" cy="562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5">
            <a:extLst>
              <a:ext uri="{FF2B5EF4-FFF2-40B4-BE49-F238E27FC236}">
                <a16:creationId xmlns:a16="http://schemas.microsoft.com/office/drawing/2014/main" id="{A82E6720-54CD-F6C6-3FC8-3CDA4B46A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6454775"/>
            <a:ext cx="3384550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合肥工业大学 计算机与信息学院 </a:t>
            </a:r>
          </a:p>
        </p:txBody>
      </p:sp>
      <p:sp>
        <p:nvSpPr>
          <p:cNvPr id="12291" name="标题 12">
            <a:extLst>
              <a:ext uri="{FF2B5EF4-FFF2-40B4-BE49-F238E27FC236}">
                <a16:creationId xmlns:a16="http://schemas.microsoft.com/office/drawing/2014/main" id="{78E24541-0A7E-DFCF-0367-64903B4E0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" y="74613"/>
            <a:ext cx="6761163" cy="762000"/>
          </a:xfrm>
        </p:spPr>
        <p:txBody>
          <a:bodyPr/>
          <a:lstStyle/>
          <a:p>
            <a:pPr eaLnBrk="1" hangingPunct="1"/>
            <a:r>
              <a:rPr lang="en-US" altLang="zh-CN" dirty="0"/>
              <a:t>7.4.3 </a:t>
            </a:r>
            <a:r>
              <a:rPr lang="zh-CN" altLang="en-US" dirty="0">
                <a:solidFill>
                  <a:srgbClr val="00B050"/>
                </a:solidFill>
              </a:rPr>
              <a:t>有向</a:t>
            </a:r>
            <a:r>
              <a:rPr lang="zh-CN" altLang="en-US" dirty="0"/>
              <a:t>图的</a:t>
            </a:r>
            <a:r>
              <a:rPr lang="en-US" altLang="zh-CN" dirty="0"/>
              <a:t>Dijkstra</a:t>
            </a:r>
            <a:r>
              <a:rPr lang="zh-CN" altLang="zh-CN" dirty="0"/>
              <a:t>算法</a:t>
            </a:r>
            <a:endParaRPr lang="zh-CN" altLang="en-US" dirty="0"/>
          </a:p>
        </p:txBody>
      </p:sp>
      <p:sp>
        <p:nvSpPr>
          <p:cNvPr id="12292" name="内容占位符 13">
            <a:extLst>
              <a:ext uri="{FF2B5EF4-FFF2-40B4-BE49-F238E27FC236}">
                <a16:creationId xmlns:a16="http://schemas.microsoft.com/office/drawing/2014/main" id="{99F67891-B5D3-1EE2-F7A7-343244C9F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6513" y="981075"/>
            <a:ext cx="9180513" cy="5473700"/>
          </a:xfrm>
        </p:spPr>
        <p:txBody>
          <a:bodyPr/>
          <a:lstStyle/>
          <a:p>
            <a:pPr indent="196850" algn="just">
              <a:spcAft>
                <a:spcPts val="0"/>
              </a:spcAft>
              <a:buFont typeface="Arial" charset="0"/>
              <a:buChar char="•"/>
              <a:defRPr/>
            </a:pPr>
            <a:r>
              <a:rPr lang="en-US" altLang="zh-CN" b="1" kern="100" dirty="0" err="1">
                <a:solidFill>
                  <a:srgbClr val="FF0000"/>
                </a:solidFill>
              </a:rPr>
              <a:t>Procedure</a:t>
            </a:r>
            <a:r>
              <a:rPr lang="en-US" altLang="zh-CN" kern="100" dirty="0" err="1"/>
              <a:t>Dijkstra</a:t>
            </a:r>
            <a:r>
              <a:rPr lang="en-US" altLang="zh-CN" sz="2800" kern="100" dirty="0">
                <a:latin typeface="宋体"/>
              </a:rPr>
              <a:t>(</a:t>
            </a:r>
            <a:r>
              <a:rPr lang="zh-CN" altLang="en-US" sz="2800" b="1" kern="100" dirty="0">
                <a:solidFill>
                  <a:srgbClr val="FF00FF"/>
                </a:solidFill>
                <a:latin typeface="Times New Roman"/>
              </a:rPr>
              <a:t>有向图</a:t>
            </a:r>
            <a:r>
              <a:rPr lang="en-US" altLang="zh-CN" sz="2800" kern="100" dirty="0">
                <a:latin typeface="Times New Roman"/>
              </a:rPr>
              <a:t>D</a:t>
            </a:r>
            <a:r>
              <a:rPr lang="zh-CN" altLang="zh-CN" sz="2800" kern="100" dirty="0">
                <a:latin typeface="Times New Roman"/>
              </a:rPr>
              <a:t>有结点</a:t>
            </a:r>
            <a:r>
              <a:rPr lang="en-US" altLang="zh-CN" sz="2800" kern="100" dirty="0">
                <a:latin typeface="Times New Roman"/>
              </a:rPr>
              <a:t>x</a:t>
            </a:r>
            <a:r>
              <a:rPr lang="zh-CN" altLang="zh-CN" sz="2800" kern="100" dirty="0">
                <a:latin typeface="Times New Roman"/>
              </a:rPr>
              <a:t>＝</a:t>
            </a:r>
            <a:r>
              <a:rPr lang="en-US" altLang="zh-CN" sz="2800" kern="100" dirty="0">
                <a:latin typeface="Times New Roman"/>
              </a:rPr>
              <a:t>v</a:t>
            </a:r>
            <a:r>
              <a:rPr lang="en-US" altLang="zh-CN" sz="2800" kern="100" baseline="-25000" dirty="0">
                <a:latin typeface="Times New Roman"/>
              </a:rPr>
              <a:t>0</a:t>
            </a:r>
            <a:r>
              <a:rPr lang="en-US" altLang="zh-CN" sz="2800" kern="100" dirty="0">
                <a:latin typeface="宋体"/>
              </a:rPr>
              <a:t>,</a:t>
            </a:r>
            <a:r>
              <a:rPr lang="en-US" altLang="zh-CN" sz="2800" kern="100" dirty="0">
                <a:latin typeface="Times New Roman"/>
              </a:rPr>
              <a:t>v</a:t>
            </a:r>
            <a:r>
              <a:rPr lang="en-US" altLang="zh-CN" sz="2800" kern="100" baseline="-25000" dirty="0">
                <a:latin typeface="Times New Roman"/>
              </a:rPr>
              <a:t>1</a:t>
            </a:r>
            <a:r>
              <a:rPr lang="en-US" altLang="zh-CN" sz="2800" kern="100" dirty="0">
                <a:latin typeface="宋体"/>
              </a:rPr>
              <a:t>,</a:t>
            </a:r>
            <a:r>
              <a:rPr lang="zh-CN" altLang="zh-CN" sz="2800" kern="100" dirty="0">
                <a:latin typeface="Times New Roman"/>
              </a:rPr>
              <a:t>…</a:t>
            </a:r>
            <a:r>
              <a:rPr lang="en-US" altLang="zh-CN" sz="2800" kern="100" dirty="0">
                <a:latin typeface="Times New Roman"/>
              </a:rPr>
              <a:t>,</a:t>
            </a:r>
            <a:r>
              <a:rPr lang="en-US" altLang="zh-CN" sz="2800" kern="100" dirty="0" err="1">
                <a:latin typeface="Times New Roman"/>
              </a:rPr>
              <a:t>v</a:t>
            </a:r>
            <a:r>
              <a:rPr lang="en-US" altLang="zh-CN" sz="2800" kern="100" baseline="-25000" dirty="0" err="1">
                <a:latin typeface="Times New Roman"/>
              </a:rPr>
              <a:t>n</a:t>
            </a:r>
            <a:r>
              <a:rPr lang="zh-CN" altLang="zh-CN" sz="2800" kern="100" dirty="0">
                <a:latin typeface="Times New Roman"/>
              </a:rPr>
              <a:t>＝</a:t>
            </a:r>
            <a:r>
              <a:rPr lang="en-US" altLang="zh-CN" sz="2800" kern="100" dirty="0">
                <a:latin typeface="Times New Roman"/>
              </a:rPr>
              <a:t>y)</a:t>
            </a:r>
            <a:endParaRPr lang="zh-CN" altLang="zh-CN" sz="2800" kern="100" dirty="0">
              <a:latin typeface="Times New Roman"/>
            </a:endParaRPr>
          </a:p>
          <a:p>
            <a:pPr indent="0" algn="just"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000" kern="100" dirty="0">
                <a:latin typeface="Times New Roman"/>
              </a:rPr>
              <a:t>  W</a:t>
            </a:r>
            <a:r>
              <a:rPr lang="zh-CN" altLang="zh-CN" sz="2000" kern="100" dirty="0">
                <a:latin typeface="Times New Roman"/>
              </a:rPr>
              <a:t>＝</a:t>
            </a:r>
            <a:r>
              <a:rPr lang="en-US" altLang="zh-CN" sz="2000" kern="100" dirty="0">
                <a:latin typeface="Times New Roman"/>
              </a:rPr>
              <a:t>{x}</a:t>
            </a:r>
            <a:endParaRPr lang="zh-CN" altLang="zh-CN" sz="2000" kern="100" dirty="0">
              <a:latin typeface="Times New Roman"/>
            </a:endParaRPr>
          </a:p>
          <a:p>
            <a:pPr indent="0" algn="just"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000" kern="100" dirty="0">
                <a:latin typeface="Times New Roman"/>
              </a:rPr>
              <a:t>  B</a:t>
            </a:r>
            <a:r>
              <a:rPr lang="zh-CN" altLang="zh-CN" sz="2000" kern="100" dirty="0">
                <a:latin typeface="Times New Roman"/>
              </a:rPr>
              <a:t>＝</a:t>
            </a:r>
            <a:r>
              <a:rPr lang="en-US" altLang="zh-CN" sz="2000" kern="100" dirty="0">
                <a:latin typeface="Times New Roman"/>
              </a:rPr>
              <a:t> </a:t>
            </a:r>
            <a:endParaRPr lang="zh-CN" altLang="zh-CN" sz="2000" kern="100" dirty="0">
              <a:latin typeface="Times New Roman"/>
            </a:endParaRPr>
          </a:p>
          <a:p>
            <a:pPr indent="0" algn="just"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000" kern="100" dirty="0">
                <a:latin typeface="Times New Roman"/>
              </a:rPr>
              <a:t>  d</a:t>
            </a:r>
            <a:r>
              <a:rPr lang="en-US" altLang="zh-CN" sz="2000" kern="100" dirty="0">
                <a:latin typeface="宋体"/>
              </a:rPr>
              <a:t>&lt;</a:t>
            </a:r>
            <a:r>
              <a:rPr lang="en-US" altLang="zh-CN" sz="2000" kern="100" dirty="0" err="1">
                <a:latin typeface="Times New Roman"/>
              </a:rPr>
              <a:t>x</a:t>
            </a:r>
            <a:r>
              <a:rPr lang="en-US" altLang="zh-CN" sz="2000" kern="100" dirty="0" err="1">
                <a:latin typeface="宋体"/>
              </a:rPr>
              <a:t>,</a:t>
            </a:r>
            <a:r>
              <a:rPr lang="en-US" altLang="zh-CN" sz="2000" kern="100" dirty="0" err="1">
                <a:latin typeface="Times New Roman"/>
              </a:rPr>
              <a:t>x</a:t>
            </a:r>
            <a:r>
              <a:rPr lang="en-US" altLang="zh-CN" sz="2000" kern="100" dirty="0">
                <a:latin typeface="宋体"/>
              </a:rPr>
              <a:t>&gt;</a:t>
            </a:r>
            <a:r>
              <a:rPr lang="zh-CN" altLang="zh-CN" sz="2000" kern="100" dirty="0">
                <a:latin typeface="Times New Roman"/>
              </a:rPr>
              <a:t>＝</a:t>
            </a:r>
            <a:r>
              <a:rPr lang="en-US" altLang="zh-CN" sz="2000" kern="100" dirty="0">
                <a:latin typeface="Times New Roman"/>
              </a:rPr>
              <a:t>0</a:t>
            </a:r>
            <a:endParaRPr lang="zh-CN" altLang="zh-CN" sz="2000" kern="100" dirty="0">
              <a:latin typeface="Times New Roman"/>
            </a:endParaRPr>
          </a:p>
          <a:p>
            <a:pPr indent="0" algn="just"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000" b="1" kern="100" dirty="0">
                <a:solidFill>
                  <a:srgbClr val="0066FF"/>
                </a:solidFill>
                <a:latin typeface="Times New Roman"/>
              </a:rPr>
              <a:t>  while</a:t>
            </a:r>
            <a:r>
              <a:rPr lang="en-US" altLang="zh-CN" sz="2000" kern="100" dirty="0">
                <a:solidFill>
                  <a:srgbClr val="0066FF"/>
                </a:solidFill>
                <a:latin typeface="Times New Roman"/>
              </a:rPr>
              <a:t>  </a:t>
            </a:r>
            <a:r>
              <a:rPr lang="en-US" altLang="zh-CN" sz="2000" kern="100" dirty="0">
                <a:latin typeface="Times New Roman"/>
              </a:rPr>
              <a:t>y    W</a:t>
            </a:r>
            <a:endParaRPr lang="zh-CN" altLang="zh-CN" sz="2000" kern="100" dirty="0">
              <a:latin typeface="Times New Roman"/>
            </a:endParaRPr>
          </a:p>
          <a:p>
            <a:pPr indent="0" algn="just"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000" b="1" kern="100" dirty="0">
                <a:latin typeface="Times New Roman"/>
              </a:rPr>
              <a:t>  </a:t>
            </a:r>
            <a:r>
              <a:rPr lang="en-US" altLang="zh-CN" sz="2000" b="1" kern="100" dirty="0">
                <a:solidFill>
                  <a:srgbClr val="00B050"/>
                </a:solidFill>
                <a:latin typeface="Times New Roman"/>
              </a:rPr>
              <a:t>begin</a:t>
            </a:r>
            <a:endParaRPr lang="zh-CN" altLang="zh-CN" sz="2000" kern="100" dirty="0">
              <a:solidFill>
                <a:srgbClr val="00B050"/>
              </a:solidFill>
              <a:latin typeface="Times New Roman"/>
            </a:endParaRPr>
          </a:p>
          <a:p>
            <a:pPr indent="0" algn="just"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000" b="1" kern="100" dirty="0">
                <a:solidFill>
                  <a:srgbClr val="00B0F0"/>
                </a:solidFill>
                <a:latin typeface="Times New Roman"/>
              </a:rPr>
              <a:t>  for </a:t>
            </a:r>
            <a:r>
              <a:rPr lang="zh-CN" altLang="zh-CN" sz="2000" kern="100" dirty="0">
                <a:latin typeface="Times New Roman"/>
              </a:rPr>
              <a:t>每个</a:t>
            </a:r>
            <a:r>
              <a:rPr lang="en-US" altLang="zh-CN" sz="2000" kern="100" dirty="0">
                <a:latin typeface="Times New Roman"/>
              </a:rPr>
              <a:t>u</a:t>
            </a:r>
            <a:r>
              <a:rPr lang="zh-CN" altLang="zh-CN" sz="2000" kern="100" dirty="0">
                <a:latin typeface="Times New Roman"/>
              </a:rPr>
              <a:t>∈</a:t>
            </a:r>
            <a:r>
              <a:rPr lang="en-US" altLang="zh-CN" sz="2000" kern="100" dirty="0">
                <a:latin typeface="Times New Roman"/>
              </a:rPr>
              <a:t>W</a:t>
            </a:r>
            <a:r>
              <a:rPr lang="zh-CN" altLang="zh-CN" sz="2000" kern="100" dirty="0">
                <a:latin typeface="Times New Roman"/>
              </a:rPr>
              <a:t>，每个</a:t>
            </a:r>
            <a:r>
              <a:rPr lang="en-US" altLang="zh-CN" sz="2000" kern="100" dirty="0">
                <a:latin typeface="Times New Roman"/>
              </a:rPr>
              <a:t>v    W</a:t>
            </a:r>
            <a:r>
              <a:rPr lang="zh-CN" altLang="zh-CN" sz="2000" kern="100" dirty="0">
                <a:latin typeface="Times New Roman"/>
              </a:rPr>
              <a:t>，且边</a:t>
            </a:r>
            <a:r>
              <a:rPr lang="en-US" altLang="zh-CN" sz="2000" kern="100" dirty="0">
                <a:latin typeface="宋体"/>
              </a:rPr>
              <a:t>&lt;</a:t>
            </a:r>
            <a:r>
              <a:rPr lang="en-US" altLang="zh-CN" sz="2000" kern="100" dirty="0" err="1">
                <a:latin typeface="Times New Roman"/>
              </a:rPr>
              <a:t>u</a:t>
            </a:r>
            <a:r>
              <a:rPr lang="en-US" altLang="zh-CN" sz="2000" kern="100" dirty="0" err="1">
                <a:latin typeface="宋体"/>
              </a:rPr>
              <a:t>,</a:t>
            </a:r>
            <a:r>
              <a:rPr lang="en-US" altLang="zh-CN" sz="2000" kern="100" dirty="0" err="1">
                <a:latin typeface="Times New Roman"/>
              </a:rPr>
              <a:t>v</a:t>
            </a:r>
            <a:r>
              <a:rPr lang="en-US" altLang="zh-CN" sz="2000" kern="100" dirty="0">
                <a:latin typeface="宋体"/>
              </a:rPr>
              <a:t>&gt;</a:t>
            </a:r>
            <a:r>
              <a:rPr lang="zh-CN" altLang="zh-CN" sz="2000" kern="100" dirty="0">
                <a:latin typeface="Times New Roman"/>
              </a:rPr>
              <a:t>∈</a:t>
            </a:r>
            <a:r>
              <a:rPr lang="en-US" altLang="zh-CN" sz="2000" kern="100" dirty="0">
                <a:latin typeface="Times New Roman"/>
              </a:rPr>
              <a:t>E</a:t>
            </a:r>
            <a:r>
              <a:rPr lang="en-US" altLang="zh-CN" sz="2000" kern="100" dirty="0">
                <a:latin typeface="宋体"/>
              </a:rPr>
              <a:t>(</a:t>
            </a:r>
            <a:r>
              <a:rPr lang="en-US" altLang="zh-CN" sz="2000" kern="100" dirty="0">
                <a:latin typeface="Times New Roman"/>
              </a:rPr>
              <a:t>D</a:t>
            </a:r>
            <a:r>
              <a:rPr lang="en-US" altLang="zh-CN" sz="2000" kern="100" dirty="0">
                <a:latin typeface="宋体"/>
              </a:rPr>
              <a:t>)</a:t>
            </a:r>
            <a:endParaRPr lang="zh-CN" altLang="zh-CN" sz="2000" kern="100" dirty="0">
              <a:latin typeface="Times New Roman"/>
            </a:endParaRPr>
          </a:p>
          <a:p>
            <a:pPr indent="0" algn="just"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000" kern="100" dirty="0">
                <a:latin typeface="Times New Roman"/>
              </a:rPr>
              <a:t>  </a:t>
            </a:r>
            <a:r>
              <a:rPr lang="zh-CN" altLang="zh-CN" sz="2000" kern="100" dirty="0">
                <a:latin typeface="Times New Roman"/>
              </a:rPr>
              <a:t>δ</a:t>
            </a:r>
            <a:r>
              <a:rPr lang="en-US" altLang="zh-CN" sz="2000" kern="100" dirty="0">
                <a:latin typeface="宋体"/>
              </a:rPr>
              <a:t>&lt;</a:t>
            </a:r>
            <a:r>
              <a:rPr lang="en-US" altLang="zh-CN" sz="2000" kern="100" dirty="0" err="1">
                <a:latin typeface="Times New Roman"/>
              </a:rPr>
              <a:t>u</a:t>
            </a:r>
            <a:r>
              <a:rPr lang="en-US" altLang="zh-CN" sz="2000" kern="100" dirty="0" err="1">
                <a:latin typeface="宋体"/>
              </a:rPr>
              <a:t>,</a:t>
            </a:r>
            <a:r>
              <a:rPr lang="en-US" altLang="zh-CN" sz="2000" kern="100" dirty="0" err="1">
                <a:latin typeface="Times New Roman"/>
              </a:rPr>
              <a:t>v</a:t>
            </a:r>
            <a:r>
              <a:rPr lang="en-US" altLang="zh-CN" sz="2000" kern="100" dirty="0">
                <a:latin typeface="宋体"/>
              </a:rPr>
              <a:t>&gt;</a:t>
            </a:r>
            <a:r>
              <a:rPr lang="zh-CN" altLang="zh-CN" sz="2000" kern="100" dirty="0">
                <a:latin typeface="Times New Roman"/>
              </a:rPr>
              <a:t>＝</a:t>
            </a:r>
            <a:r>
              <a:rPr lang="en-US" altLang="zh-CN" sz="2000" kern="100" dirty="0">
                <a:latin typeface="Times New Roman"/>
              </a:rPr>
              <a:t>d</a:t>
            </a:r>
            <a:r>
              <a:rPr lang="en-US" altLang="zh-CN" sz="2000" kern="100" dirty="0">
                <a:latin typeface="宋体"/>
              </a:rPr>
              <a:t>&lt;</a:t>
            </a:r>
            <a:r>
              <a:rPr lang="en-US" altLang="zh-CN" sz="2000" kern="100" dirty="0" err="1">
                <a:latin typeface="Times New Roman"/>
              </a:rPr>
              <a:t>x</a:t>
            </a:r>
            <a:r>
              <a:rPr lang="en-US" altLang="zh-CN" sz="2000" kern="100" dirty="0" err="1">
                <a:latin typeface="宋体"/>
              </a:rPr>
              <a:t>,</a:t>
            </a:r>
            <a:r>
              <a:rPr lang="en-US" altLang="zh-CN" sz="2000" kern="100" dirty="0" err="1">
                <a:latin typeface="Times New Roman"/>
              </a:rPr>
              <a:t>u</a:t>
            </a:r>
            <a:r>
              <a:rPr lang="en-US" altLang="zh-CN" sz="2000" kern="100" dirty="0">
                <a:latin typeface="宋体"/>
              </a:rPr>
              <a:t>&gt;</a:t>
            </a:r>
            <a:r>
              <a:rPr lang="zh-CN" altLang="zh-CN" sz="2000" kern="100" dirty="0">
                <a:latin typeface="Times New Roman"/>
              </a:rPr>
              <a:t>＋ω</a:t>
            </a:r>
            <a:r>
              <a:rPr lang="en-US" altLang="zh-CN" sz="2000" kern="100" dirty="0">
                <a:latin typeface="宋体"/>
              </a:rPr>
              <a:t>&lt;</a:t>
            </a:r>
            <a:r>
              <a:rPr lang="en-US" altLang="zh-CN" sz="2000" kern="100" dirty="0" err="1">
                <a:latin typeface="Times New Roman"/>
              </a:rPr>
              <a:t>u</a:t>
            </a:r>
            <a:r>
              <a:rPr lang="en-US" altLang="zh-CN" sz="2000" kern="100" dirty="0" err="1">
                <a:latin typeface="宋体"/>
              </a:rPr>
              <a:t>,</a:t>
            </a:r>
            <a:r>
              <a:rPr lang="en-US" altLang="zh-CN" sz="2000" kern="100" dirty="0" err="1">
                <a:latin typeface="Times New Roman"/>
              </a:rPr>
              <a:t>v</a:t>
            </a:r>
            <a:r>
              <a:rPr lang="en-US" altLang="zh-CN" sz="2000" kern="100" dirty="0">
                <a:latin typeface="宋体"/>
              </a:rPr>
              <a:t>&gt;</a:t>
            </a:r>
            <a:endParaRPr lang="zh-CN" altLang="zh-CN" sz="2000" kern="100" dirty="0">
              <a:latin typeface="Times New Roman"/>
            </a:endParaRPr>
          </a:p>
          <a:p>
            <a:pPr indent="0" algn="just"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000" b="1" kern="100" dirty="0">
                <a:solidFill>
                  <a:srgbClr val="0066FF"/>
                </a:solidFill>
                <a:latin typeface="Times New Roman"/>
              </a:rPr>
              <a:t>  if </a:t>
            </a:r>
            <a:r>
              <a:rPr lang="zh-CN" altLang="zh-CN" sz="2000" kern="100" dirty="0">
                <a:latin typeface="Times New Roman"/>
              </a:rPr>
              <a:t>每个δ</a:t>
            </a:r>
            <a:r>
              <a:rPr lang="en-US" altLang="zh-CN" sz="2000" kern="100" dirty="0">
                <a:latin typeface="宋体"/>
              </a:rPr>
              <a:t>&lt;</a:t>
            </a:r>
            <a:r>
              <a:rPr lang="en-US" altLang="zh-CN" sz="2000" kern="100" dirty="0" err="1">
                <a:latin typeface="Times New Roman"/>
              </a:rPr>
              <a:t>u</a:t>
            </a:r>
            <a:r>
              <a:rPr lang="en-US" altLang="zh-CN" sz="2000" kern="100" dirty="0" err="1">
                <a:latin typeface="宋体"/>
              </a:rPr>
              <a:t>,</a:t>
            </a:r>
            <a:r>
              <a:rPr lang="en-US" altLang="zh-CN" sz="2000" kern="100" dirty="0" err="1">
                <a:latin typeface="Times New Roman"/>
              </a:rPr>
              <a:t>v</a:t>
            </a:r>
            <a:r>
              <a:rPr lang="en-US" altLang="zh-CN" sz="2000" kern="100" dirty="0">
                <a:latin typeface="宋体"/>
              </a:rPr>
              <a:t>&gt;</a:t>
            </a:r>
            <a:r>
              <a:rPr lang="zh-CN" altLang="zh-CN" sz="2000" kern="100" dirty="0">
                <a:latin typeface="Times New Roman"/>
              </a:rPr>
              <a:t>的值均为∞ </a:t>
            </a:r>
            <a:r>
              <a:rPr lang="en-US" altLang="zh-CN" sz="2000" b="1" kern="100" dirty="0">
                <a:solidFill>
                  <a:srgbClr val="0066FF"/>
                </a:solidFill>
                <a:latin typeface="Times New Roman"/>
              </a:rPr>
              <a:t>then</a:t>
            </a:r>
            <a:r>
              <a:rPr lang="en-US" altLang="zh-CN" sz="2000" b="1" kern="100" dirty="0">
                <a:latin typeface="Times New Roman"/>
              </a:rPr>
              <a:t> </a:t>
            </a:r>
            <a:r>
              <a:rPr lang="zh-CN" altLang="zh-CN" sz="2000" kern="100" dirty="0">
                <a:latin typeface="Times New Roman"/>
              </a:rPr>
              <a:t>算法终止，且不存在</a:t>
            </a:r>
            <a:r>
              <a:rPr lang="en-US" altLang="zh-CN" sz="2000" kern="100" dirty="0">
                <a:latin typeface="Times New Roman"/>
              </a:rPr>
              <a:t>x</a:t>
            </a:r>
            <a:r>
              <a:rPr lang="zh-CN" altLang="zh-CN" sz="2000" kern="100" dirty="0">
                <a:latin typeface="Times New Roman"/>
              </a:rPr>
              <a:t>到</a:t>
            </a:r>
            <a:r>
              <a:rPr lang="en-US" altLang="zh-CN" sz="2000" kern="100" dirty="0">
                <a:latin typeface="Times New Roman"/>
              </a:rPr>
              <a:t>y</a:t>
            </a:r>
            <a:r>
              <a:rPr lang="zh-CN" altLang="zh-CN" sz="2000" kern="100" dirty="0">
                <a:latin typeface="Times New Roman"/>
              </a:rPr>
              <a:t>的最短有向路</a:t>
            </a:r>
          </a:p>
          <a:p>
            <a:pPr indent="0" algn="just"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000" kern="100" dirty="0">
                <a:latin typeface="Times New Roman"/>
              </a:rPr>
              <a:t>  </a:t>
            </a:r>
            <a:r>
              <a:rPr lang="zh-CN" altLang="zh-CN" sz="2000" kern="100" dirty="0">
                <a:latin typeface="Times New Roman"/>
              </a:rPr>
              <a:t>找到值最小的δ</a:t>
            </a:r>
            <a:r>
              <a:rPr lang="en-US" altLang="zh-CN" sz="2000" kern="100" dirty="0">
                <a:latin typeface="宋体"/>
              </a:rPr>
              <a:t>&lt;</a:t>
            </a:r>
            <a:r>
              <a:rPr lang="en-US" altLang="zh-CN" sz="2000" kern="100" dirty="0" err="1">
                <a:latin typeface="Times New Roman"/>
              </a:rPr>
              <a:t>u</a:t>
            </a:r>
            <a:r>
              <a:rPr lang="en-US" altLang="zh-CN" sz="2000" kern="100" dirty="0" err="1">
                <a:latin typeface="宋体"/>
              </a:rPr>
              <a:t>,</a:t>
            </a:r>
            <a:r>
              <a:rPr lang="en-US" altLang="zh-CN" sz="2000" kern="100" dirty="0" err="1">
                <a:latin typeface="Times New Roman"/>
              </a:rPr>
              <a:t>v</a:t>
            </a:r>
            <a:r>
              <a:rPr lang="en-US" altLang="zh-CN" sz="2000" kern="100" dirty="0">
                <a:latin typeface="宋体"/>
              </a:rPr>
              <a:t>&gt;</a:t>
            </a:r>
            <a:endParaRPr lang="zh-CN" altLang="zh-CN" sz="2000" kern="100" dirty="0">
              <a:latin typeface="Times New Roman"/>
            </a:endParaRPr>
          </a:p>
          <a:p>
            <a:pPr indent="0" algn="just"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000" kern="100" dirty="0">
                <a:latin typeface="Times New Roman"/>
              </a:rPr>
              <a:t>  W</a:t>
            </a:r>
            <a:r>
              <a:rPr lang="zh-CN" altLang="zh-CN" sz="2000" kern="100" dirty="0">
                <a:latin typeface="Times New Roman"/>
              </a:rPr>
              <a:t>＝</a:t>
            </a:r>
            <a:r>
              <a:rPr lang="en-US" altLang="zh-CN" sz="2000" kern="100" dirty="0">
                <a:latin typeface="Times New Roman"/>
              </a:rPr>
              <a:t>W</a:t>
            </a:r>
            <a:r>
              <a:rPr lang="zh-CN" altLang="zh-CN" sz="2000" kern="100" dirty="0">
                <a:latin typeface="Times New Roman"/>
              </a:rPr>
              <a:t>∪</a:t>
            </a:r>
            <a:r>
              <a:rPr lang="en-US" altLang="zh-CN" sz="2000" kern="100" dirty="0">
                <a:latin typeface="Times New Roman"/>
              </a:rPr>
              <a:t>{</a:t>
            </a:r>
            <a:r>
              <a:rPr lang="en-US" altLang="zh-CN" sz="2000" kern="100" dirty="0">
                <a:solidFill>
                  <a:srgbClr val="FF0000"/>
                </a:solidFill>
                <a:latin typeface="Times New Roman"/>
              </a:rPr>
              <a:t>v</a:t>
            </a:r>
            <a:r>
              <a:rPr lang="en-US" altLang="zh-CN" sz="2000" kern="100" dirty="0">
                <a:latin typeface="Times New Roman"/>
              </a:rPr>
              <a:t>}</a:t>
            </a:r>
            <a:endParaRPr lang="zh-CN" altLang="zh-CN" sz="2000" kern="100" dirty="0">
              <a:latin typeface="Times New Roman"/>
            </a:endParaRPr>
          </a:p>
          <a:p>
            <a:pPr indent="0" algn="just"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000" kern="100" dirty="0">
                <a:latin typeface="Times New Roman"/>
              </a:rPr>
              <a:t>  B</a:t>
            </a:r>
            <a:r>
              <a:rPr lang="zh-CN" altLang="zh-CN" sz="2000" kern="100" dirty="0">
                <a:latin typeface="Times New Roman"/>
              </a:rPr>
              <a:t>＝</a:t>
            </a:r>
            <a:r>
              <a:rPr lang="en-US" altLang="zh-CN" sz="2000" kern="100" dirty="0">
                <a:latin typeface="Times New Roman"/>
              </a:rPr>
              <a:t>B</a:t>
            </a:r>
            <a:r>
              <a:rPr lang="zh-CN" altLang="zh-CN" sz="2000" kern="100" dirty="0">
                <a:latin typeface="Times New Roman"/>
              </a:rPr>
              <a:t>∪</a:t>
            </a:r>
            <a:r>
              <a:rPr lang="en-US" altLang="zh-CN" sz="2000" kern="100" dirty="0">
                <a:latin typeface="Times New Roman"/>
              </a:rPr>
              <a:t>{</a:t>
            </a:r>
            <a:r>
              <a:rPr lang="en-US" altLang="zh-CN" sz="2000" kern="100" dirty="0">
                <a:latin typeface="宋体"/>
              </a:rPr>
              <a:t>&lt;</a:t>
            </a:r>
            <a:r>
              <a:rPr lang="en-US" altLang="zh-CN" sz="2000" kern="100" dirty="0" err="1">
                <a:latin typeface="Times New Roman"/>
              </a:rPr>
              <a:t>u</a:t>
            </a:r>
            <a:r>
              <a:rPr lang="en-US" altLang="zh-CN" sz="2000" kern="100" dirty="0" err="1">
                <a:latin typeface="宋体"/>
              </a:rPr>
              <a:t>,</a:t>
            </a:r>
            <a:r>
              <a:rPr lang="en-US" altLang="zh-CN" sz="2000" kern="100" dirty="0" err="1">
                <a:latin typeface="Times New Roman"/>
              </a:rPr>
              <a:t>v</a:t>
            </a:r>
            <a:r>
              <a:rPr lang="en-US" altLang="zh-CN" sz="2000" kern="100" dirty="0">
                <a:latin typeface="宋体"/>
              </a:rPr>
              <a:t>&gt;</a:t>
            </a:r>
            <a:r>
              <a:rPr lang="en-US" altLang="zh-CN" sz="2000" kern="100" dirty="0">
                <a:latin typeface="Times New Roman"/>
              </a:rPr>
              <a:t>}</a:t>
            </a:r>
            <a:endParaRPr lang="zh-CN" altLang="zh-CN" sz="2000" kern="100" dirty="0">
              <a:latin typeface="Times New Roman"/>
            </a:endParaRPr>
          </a:p>
          <a:p>
            <a:pPr indent="0" algn="just">
              <a:spcAft>
                <a:spcPts val="0"/>
              </a:spcAft>
              <a:buFont typeface="Arial" charset="0"/>
              <a:buNone/>
              <a:defRPr/>
            </a:pPr>
            <a:r>
              <a:rPr lang="en-US" altLang="zh-CN" sz="2000" kern="100" dirty="0">
                <a:latin typeface="Times New Roman"/>
              </a:rPr>
              <a:t>  d</a:t>
            </a:r>
            <a:r>
              <a:rPr lang="en-US" altLang="zh-CN" sz="2000" kern="100" dirty="0">
                <a:latin typeface="宋体"/>
              </a:rPr>
              <a:t>&lt;</a:t>
            </a:r>
            <a:r>
              <a:rPr lang="en-US" altLang="zh-CN" sz="2000" kern="100" dirty="0" err="1">
                <a:latin typeface="Times New Roman"/>
              </a:rPr>
              <a:t>x</a:t>
            </a:r>
            <a:r>
              <a:rPr lang="en-US" altLang="zh-CN" sz="2000" kern="100" dirty="0" err="1">
                <a:latin typeface="宋体"/>
              </a:rPr>
              <a:t>,</a:t>
            </a:r>
            <a:r>
              <a:rPr lang="en-US" altLang="zh-CN" sz="2000" kern="100" dirty="0" err="1">
                <a:latin typeface="Times New Roman"/>
              </a:rPr>
              <a:t>v</a:t>
            </a:r>
            <a:r>
              <a:rPr lang="en-US" altLang="zh-CN" sz="2000" kern="100" dirty="0">
                <a:latin typeface="宋体"/>
              </a:rPr>
              <a:t>&gt;</a:t>
            </a:r>
            <a:r>
              <a:rPr lang="zh-CN" altLang="zh-CN" sz="2000" kern="100" dirty="0">
                <a:latin typeface="Times New Roman"/>
              </a:rPr>
              <a:t>＝δ</a:t>
            </a:r>
            <a:r>
              <a:rPr lang="en-US" altLang="zh-CN" sz="2000" kern="100" dirty="0">
                <a:latin typeface="宋体"/>
              </a:rPr>
              <a:t>&lt;</a:t>
            </a:r>
            <a:r>
              <a:rPr lang="en-US" altLang="zh-CN" sz="2000" kern="100" dirty="0" err="1">
                <a:latin typeface="Times New Roman"/>
              </a:rPr>
              <a:t>u</a:t>
            </a:r>
            <a:r>
              <a:rPr lang="en-US" altLang="zh-CN" sz="2000" kern="100" dirty="0" err="1">
                <a:latin typeface="宋体"/>
              </a:rPr>
              <a:t>,</a:t>
            </a:r>
            <a:r>
              <a:rPr lang="en-US" altLang="zh-CN" sz="2000" kern="100" dirty="0" err="1">
                <a:latin typeface="Times New Roman"/>
              </a:rPr>
              <a:t>v</a:t>
            </a:r>
            <a:r>
              <a:rPr lang="en-US" altLang="zh-CN" sz="2000" kern="100" dirty="0">
                <a:latin typeface="宋体"/>
              </a:rPr>
              <a:t>&gt;</a:t>
            </a:r>
            <a:endParaRPr lang="zh-CN" altLang="zh-CN" sz="2000" kern="100" dirty="0">
              <a:latin typeface="Times New Roman"/>
            </a:endParaRPr>
          </a:p>
          <a:p>
            <a:pPr marL="0" indent="0">
              <a:buFont typeface="Arial" charset="0"/>
              <a:buNone/>
              <a:defRPr/>
            </a:pPr>
            <a:r>
              <a:rPr lang="en-US" altLang="zh-CN" sz="2000" b="1" kern="100" dirty="0">
                <a:latin typeface="Times New Roman"/>
              </a:rPr>
              <a:t>       </a:t>
            </a:r>
            <a:r>
              <a:rPr lang="en-US" altLang="zh-CN" sz="2000" b="1" kern="100" dirty="0">
                <a:solidFill>
                  <a:srgbClr val="00B050"/>
                </a:solidFill>
                <a:latin typeface="Times New Roman"/>
              </a:rPr>
              <a:t>end</a:t>
            </a:r>
            <a:r>
              <a:rPr lang="zh-CN" altLang="zh-CN" sz="2000" kern="100" dirty="0">
                <a:cs typeface="Times New Roman"/>
              </a:rPr>
              <a:t>（</a:t>
            </a:r>
            <a:r>
              <a:rPr lang="en-US" altLang="zh-CN" sz="2000" kern="100" dirty="0">
                <a:latin typeface="Times New Roman"/>
              </a:rPr>
              <a:t>d</a:t>
            </a:r>
            <a:r>
              <a:rPr lang="en-US" altLang="zh-CN" sz="2000" kern="100" dirty="0">
                <a:latin typeface="宋体"/>
                <a:cs typeface="Times New Roman"/>
              </a:rPr>
              <a:t>&lt;</a:t>
            </a:r>
            <a:r>
              <a:rPr lang="en-US" altLang="zh-CN" sz="2000" kern="100" dirty="0" err="1">
                <a:latin typeface="Times New Roman"/>
              </a:rPr>
              <a:t>x</a:t>
            </a:r>
            <a:r>
              <a:rPr lang="en-US" altLang="zh-CN" sz="2000" kern="100" dirty="0" err="1">
                <a:latin typeface="宋体"/>
                <a:cs typeface="Times New Roman"/>
              </a:rPr>
              <a:t>,</a:t>
            </a:r>
            <a:r>
              <a:rPr lang="en-US" altLang="zh-CN" sz="2000" kern="100" dirty="0" err="1">
                <a:latin typeface="Times New Roman"/>
              </a:rPr>
              <a:t>y</a:t>
            </a:r>
            <a:r>
              <a:rPr lang="en-US" altLang="zh-CN" sz="2000" kern="100" dirty="0">
                <a:latin typeface="宋体"/>
                <a:cs typeface="Times New Roman"/>
              </a:rPr>
              <a:t>&gt;</a:t>
            </a:r>
            <a:r>
              <a:rPr lang="zh-CN" altLang="zh-CN" sz="2000" kern="100" dirty="0">
                <a:cs typeface="Times New Roman"/>
              </a:rPr>
              <a:t>＝从</a:t>
            </a:r>
            <a:r>
              <a:rPr lang="en-US" altLang="zh-CN" sz="2000" kern="100" dirty="0">
                <a:latin typeface="Times New Roman"/>
              </a:rPr>
              <a:t>x</a:t>
            </a:r>
            <a:r>
              <a:rPr lang="zh-CN" altLang="zh-CN" sz="2000" kern="100" dirty="0">
                <a:cs typeface="Times New Roman"/>
              </a:rPr>
              <a:t>到</a:t>
            </a:r>
            <a:r>
              <a:rPr lang="en-US" altLang="zh-CN" sz="2000" kern="100" dirty="0">
                <a:latin typeface="Times New Roman"/>
              </a:rPr>
              <a:t>y</a:t>
            </a:r>
            <a:r>
              <a:rPr lang="zh-CN" altLang="zh-CN" sz="2000" kern="100" dirty="0">
                <a:cs typeface="Times New Roman"/>
              </a:rPr>
              <a:t>的最短有向路的</a:t>
            </a:r>
            <a:r>
              <a:rPr lang="zh-CN" altLang="zh-CN" sz="2000" b="1" kern="100" dirty="0">
                <a:solidFill>
                  <a:srgbClr val="FF00FF"/>
                </a:solidFill>
                <a:cs typeface="Times New Roman"/>
              </a:rPr>
              <a:t>长度</a:t>
            </a:r>
            <a:r>
              <a:rPr lang="zh-CN" altLang="zh-CN" sz="2400" kern="100" dirty="0">
                <a:cs typeface="Times New Roman"/>
              </a:rPr>
              <a:t>）</a:t>
            </a:r>
            <a:endParaRPr lang="zh-CN" altLang="en-US" sz="2400" dirty="0"/>
          </a:p>
        </p:txBody>
      </p:sp>
      <p:graphicFrame>
        <p:nvGraphicFramePr>
          <p:cNvPr id="12293" name="对象 1">
            <a:extLst>
              <a:ext uri="{FF2B5EF4-FFF2-40B4-BE49-F238E27FC236}">
                <a16:creationId xmlns:a16="http://schemas.microsoft.com/office/drawing/2014/main" id="{B4B1F25A-D07C-80B6-6C87-1C4A4D47BA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54088" y="1889125"/>
          <a:ext cx="395287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4814" imgH="177492" progId="Equation.DSMT4">
                  <p:embed/>
                </p:oleObj>
              </mc:Choice>
              <mc:Fallback>
                <p:oleObj name="Equation" r:id="rId2" imgW="164814" imgH="177492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4088" y="1889125"/>
                        <a:ext cx="395287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4" name="对象 2">
            <a:extLst>
              <a:ext uri="{FF2B5EF4-FFF2-40B4-BE49-F238E27FC236}">
                <a16:creationId xmlns:a16="http://schemas.microsoft.com/office/drawing/2014/main" id="{4514D87E-0D92-D450-CEBF-055E46AEDD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46200" y="2679700"/>
          <a:ext cx="30480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6835" imgH="152202" progId="Equation.DSMT4">
                  <p:embed/>
                </p:oleObj>
              </mc:Choice>
              <mc:Fallback>
                <p:oleObj name="Equation" r:id="rId4" imgW="126835" imgH="152202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6200" y="2679700"/>
                        <a:ext cx="304800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5" name="对象 3">
            <a:extLst>
              <a:ext uri="{FF2B5EF4-FFF2-40B4-BE49-F238E27FC236}">
                <a16:creationId xmlns:a16="http://schemas.microsoft.com/office/drawing/2014/main" id="{69260162-C0BA-9838-F26C-CE1F1E79BF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89250" y="3398838"/>
          <a:ext cx="30480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6835" imgH="152202" progId="Equation.DSMT4">
                  <p:embed/>
                </p:oleObj>
              </mc:Choice>
              <mc:Fallback>
                <p:oleObj name="Equation" r:id="rId6" imgW="126835" imgH="152202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250" y="3398838"/>
                        <a:ext cx="304800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5">
            <a:extLst>
              <a:ext uri="{FF2B5EF4-FFF2-40B4-BE49-F238E27FC236}">
                <a16:creationId xmlns:a16="http://schemas.microsoft.com/office/drawing/2014/main" id="{9643186B-AA71-C9F8-C793-BCCD62089C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6454775"/>
            <a:ext cx="3384550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合肥工业大学 计算机与信息学院 </a:t>
            </a:r>
          </a:p>
        </p:txBody>
      </p:sp>
      <p:sp>
        <p:nvSpPr>
          <p:cNvPr id="13315" name="标题 12">
            <a:extLst>
              <a:ext uri="{FF2B5EF4-FFF2-40B4-BE49-F238E27FC236}">
                <a16:creationId xmlns:a16="http://schemas.microsoft.com/office/drawing/2014/main" id="{E6236010-4613-A380-6A6D-3EAD54CB8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" y="74613"/>
            <a:ext cx="6761163" cy="762000"/>
          </a:xfrm>
        </p:spPr>
        <p:txBody>
          <a:bodyPr/>
          <a:lstStyle/>
          <a:p>
            <a:pPr eaLnBrk="1" hangingPunct="1"/>
            <a:r>
              <a:rPr lang="en-US" altLang="zh-CN" dirty="0"/>
              <a:t>7.4.3 </a:t>
            </a:r>
            <a:r>
              <a:rPr lang="zh-CN" altLang="en-US" dirty="0">
                <a:solidFill>
                  <a:srgbClr val="00B050"/>
                </a:solidFill>
              </a:rPr>
              <a:t>有向</a:t>
            </a:r>
            <a:r>
              <a:rPr lang="zh-CN" altLang="en-US" dirty="0"/>
              <a:t>图的</a:t>
            </a:r>
            <a:r>
              <a:rPr lang="en-US" altLang="zh-CN" dirty="0"/>
              <a:t>Dijkstra</a:t>
            </a:r>
            <a:r>
              <a:rPr lang="zh-CN" altLang="zh-CN" dirty="0"/>
              <a:t>算法</a:t>
            </a:r>
            <a:endParaRPr lang="zh-CN" altLang="en-US" dirty="0"/>
          </a:p>
        </p:txBody>
      </p:sp>
      <p:sp>
        <p:nvSpPr>
          <p:cNvPr id="13316" name="内容占位符 13">
            <a:extLst>
              <a:ext uri="{FF2B5EF4-FFF2-40B4-BE49-F238E27FC236}">
                <a16:creationId xmlns:a16="http://schemas.microsoft.com/office/drawing/2014/main" id="{9A9D8DE4-059C-7481-3EF9-9DEF798A9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" y="981075"/>
            <a:ext cx="8928100" cy="54737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Arial" charset="0"/>
              <a:buChar char="•"/>
              <a:defRPr/>
            </a:pPr>
            <a:r>
              <a:rPr lang="zh-CN" altLang="zh-CN" b="1" kern="100" dirty="0">
                <a:solidFill>
                  <a:srgbClr val="FF0000"/>
                </a:solidFill>
                <a:cs typeface="Times New Roman"/>
              </a:rPr>
              <a:t>例</a:t>
            </a:r>
            <a:r>
              <a:rPr lang="en-US" altLang="zh-CN" b="1" kern="100" dirty="0">
                <a:solidFill>
                  <a:srgbClr val="FF0000"/>
                </a:solidFill>
                <a:latin typeface="Times New Roman"/>
              </a:rPr>
              <a:t>7.5.3</a:t>
            </a:r>
            <a:r>
              <a:rPr lang="en-US" altLang="zh-CN" kern="100" dirty="0">
                <a:solidFill>
                  <a:srgbClr val="FF0000"/>
                </a:solidFill>
                <a:latin typeface="Times New Roman"/>
              </a:rPr>
              <a:t> </a:t>
            </a:r>
            <a:r>
              <a:rPr lang="zh-CN" altLang="zh-CN" kern="100" dirty="0">
                <a:cs typeface="Times New Roman"/>
              </a:rPr>
              <a:t>用</a:t>
            </a:r>
            <a:r>
              <a:rPr lang="en-US" altLang="zh-CN" kern="100" dirty="0" err="1">
                <a:latin typeface="Times New Roman"/>
              </a:rPr>
              <a:t>Dijkstra</a:t>
            </a:r>
            <a:r>
              <a:rPr lang="zh-CN" altLang="zh-CN" kern="100" dirty="0">
                <a:cs typeface="Times New Roman"/>
              </a:rPr>
              <a:t>算法求</a:t>
            </a:r>
            <a:r>
              <a:rPr lang="zh-CN" altLang="en-US" kern="100" dirty="0">
                <a:cs typeface="Times New Roman"/>
              </a:rPr>
              <a:t>下</a:t>
            </a:r>
            <a:r>
              <a:rPr lang="zh-CN" altLang="zh-CN" kern="100" dirty="0">
                <a:cs typeface="Times New Roman"/>
              </a:rPr>
              <a:t>图所示的加权图</a:t>
            </a:r>
            <a:r>
              <a:rPr lang="en-US" altLang="zh-CN" kern="100" dirty="0">
                <a:latin typeface="Times New Roman"/>
              </a:rPr>
              <a:t>D</a:t>
            </a:r>
            <a:r>
              <a:rPr lang="zh-CN" altLang="zh-CN" kern="100" dirty="0">
                <a:cs typeface="Times New Roman"/>
              </a:rPr>
              <a:t>中结点</a:t>
            </a:r>
            <a:r>
              <a:rPr lang="en-US" altLang="zh-CN" kern="100" dirty="0">
                <a:latin typeface="Times New Roman"/>
              </a:rPr>
              <a:t>x</a:t>
            </a:r>
            <a:r>
              <a:rPr lang="zh-CN" altLang="zh-CN" kern="100" dirty="0">
                <a:cs typeface="Times New Roman"/>
              </a:rPr>
              <a:t>到</a:t>
            </a:r>
            <a:r>
              <a:rPr lang="en-US" altLang="zh-CN" kern="100" dirty="0">
                <a:latin typeface="Times New Roman"/>
              </a:rPr>
              <a:t>y</a:t>
            </a:r>
            <a:r>
              <a:rPr lang="zh-CN" altLang="zh-CN" kern="100" dirty="0">
                <a:cs typeface="Times New Roman"/>
              </a:rPr>
              <a:t>的最短有向路及其长度。</a:t>
            </a:r>
            <a:endParaRPr lang="zh-CN" altLang="en-US" dirty="0"/>
          </a:p>
        </p:txBody>
      </p:sp>
      <p:sp>
        <p:nvSpPr>
          <p:cNvPr id="13317" name="Rectangle 54">
            <a:extLst>
              <a:ext uri="{FF2B5EF4-FFF2-40B4-BE49-F238E27FC236}">
                <a16:creationId xmlns:a16="http://schemas.microsoft.com/office/drawing/2014/main" id="{57E6238D-00B7-1A44-F36B-A57D24EB91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3318" name="Group 5">
            <a:extLst>
              <a:ext uri="{FF2B5EF4-FFF2-40B4-BE49-F238E27FC236}">
                <a16:creationId xmlns:a16="http://schemas.microsoft.com/office/drawing/2014/main" id="{5F212A14-69F9-2D8C-727D-D454A2D0739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06425" y="2205038"/>
            <a:ext cx="8086725" cy="4156075"/>
            <a:chOff x="3825" y="10509"/>
            <a:chExt cx="6367" cy="3271"/>
          </a:xfrm>
        </p:grpSpPr>
        <p:sp>
          <p:nvSpPr>
            <p:cNvPr id="13319" name="AutoShape 53">
              <a:extLst>
                <a:ext uri="{FF2B5EF4-FFF2-40B4-BE49-F238E27FC236}">
                  <a16:creationId xmlns:a16="http://schemas.microsoft.com/office/drawing/2014/main" id="{9AECF0EC-1719-59F1-E5C5-4D7A7304153E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825" y="10509"/>
              <a:ext cx="6232" cy="3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0" name="Text Box 52">
              <a:extLst>
                <a:ext uri="{FF2B5EF4-FFF2-40B4-BE49-F238E27FC236}">
                  <a16:creationId xmlns:a16="http://schemas.microsoft.com/office/drawing/2014/main" id="{DDFB53AD-A446-D926-34F6-1E6031A68C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70" y="11217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3200"/>
            </a:p>
          </p:txBody>
        </p:sp>
        <p:sp>
          <p:nvSpPr>
            <p:cNvPr id="13321" name="Text Box 51">
              <a:extLst>
                <a:ext uri="{FF2B5EF4-FFF2-40B4-BE49-F238E27FC236}">
                  <a16:creationId xmlns:a16="http://schemas.microsoft.com/office/drawing/2014/main" id="{FEAEDBED-230E-B56A-C35A-D9252835EB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70" y="12408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3200"/>
            </a:p>
          </p:txBody>
        </p:sp>
        <p:sp>
          <p:nvSpPr>
            <p:cNvPr id="13322" name="Text Box 50">
              <a:extLst>
                <a:ext uri="{FF2B5EF4-FFF2-40B4-BE49-F238E27FC236}">
                  <a16:creationId xmlns:a16="http://schemas.microsoft.com/office/drawing/2014/main" id="{0D5EB94A-D490-D2CA-83FC-DC6EB24C46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50" y="11683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en-US" altLang="zh-CN" sz="3200"/>
            </a:p>
          </p:txBody>
        </p:sp>
        <p:sp>
          <p:nvSpPr>
            <p:cNvPr id="13323" name="Text Box 49">
              <a:extLst>
                <a:ext uri="{FF2B5EF4-FFF2-40B4-BE49-F238E27FC236}">
                  <a16:creationId xmlns:a16="http://schemas.microsoft.com/office/drawing/2014/main" id="{730119AB-7202-F3DF-CA80-6859D2F44A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36" y="11626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3200"/>
            </a:p>
          </p:txBody>
        </p:sp>
        <p:sp>
          <p:nvSpPr>
            <p:cNvPr id="13324" name="Text Box 48">
              <a:extLst>
                <a:ext uri="{FF2B5EF4-FFF2-40B4-BE49-F238E27FC236}">
                  <a16:creationId xmlns:a16="http://schemas.microsoft.com/office/drawing/2014/main" id="{33F6DBB0-DFB4-6F20-9815-D070FB7D35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02" y="12363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3200"/>
            </a:p>
          </p:txBody>
        </p:sp>
        <p:sp>
          <p:nvSpPr>
            <p:cNvPr id="13325" name="Text Box 47">
              <a:extLst>
                <a:ext uri="{FF2B5EF4-FFF2-40B4-BE49-F238E27FC236}">
                  <a16:creationId xmlns:a16="http://schemas.microsoft.com/office/drawing/2014/main" id="{96E97B00-66E6-9F37-EE7A-46FFC964F8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62" y="11570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3200"/>
            </a:p>
          </p:txBody>
        </p:sp>
        <p:sp>
          <p:nvSpPr>
            <p:cNvPr id="13326" name="Text Box 46">
              <a:extLst>
                <a:ext uri="{FF2B5EF4-FFF2-40B4-BE49-F238E27FC236}">
                  <a16:creationId xmlns:a16="http://schemas.microsoft.com/office/drawing/2014/main" id="{FCCB4CEE-18BA-48FA-50C8-3ADCE308C8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3" y="10877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3200"/>
            </a:p>
          </p:txBody>
        </p:sp>
        <p:sp>
          <p:nvSpPr>
            <p:cNvPr id="13327" name="Text Box 45">
              <a:extLst>
                <a:ext uri="{FF2B5EF4-FFF2-40B4-BE49-F238E27FC236}">
                  <a16:creationId xmlns:a16="http://schemas.microsoft.com/office/drawing/2014/main" id="{85B7A181-92F3-0AF1-85F6-457C9CAA53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8" y="11217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3200"/>
            </a:p>
          </p:txBody>
        </p:sp>
        <p:sp>
          <p:nvSpPr>
            <p:cNvPr id="13328" name="Text Box 44">
              <a:extLst>
                <a:ext uri="{FF2B5EF4-FFF2-40B4-BE49-F238E27FC236}">
                  <a16:creationId xmlns:a16="http://schemas.microsoft.com/office/drawing/2014/main" id="{483B0E0A-006D-4DAB-52BC-9B0BABCD9E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2" y="11784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3200"/>
            </a:p>
          </p:txBody>
        </p:sp>
        <p:sp>
          <p:nvSpPr>
            <p:cNvPr id="13329" name="Text Box 43">
              <a:extLst>
                <a:ext uri="{FF2B5EF4-FFF2-40B4-BE49-F238E27FC236}">
                  <a16:creationId xmlns:a16="http://schemas.microsoft.com/office/drawing/2014/main" id="{5E70E41F-0900-D493-E979-937F93FDEA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35" y="12307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3200"/>
            </a:p>
          </p:txBody>
        </p:sp>
        <p:sp>
          <p:nvSpPr>
            <p:cNvPr id="13330" name="Text Box 42">
              <a:extLst>
                <a:ext uri="{FF2B5EF4-FFF2-40B4-BE49-F238E27FC236}">
                  <a16:creationId xmlns:a16="http://schemas.microsoft.com/office/drawing/2014/main" id="{A55D82B6-28BC-D4EF-6AE1-8352F44433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8" y="11784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3200"/>
            </a:p>
          </p:txBody>
        </p:sp>
        <p:sp>
          <p:nvSpPr>
            <p:cNvPr id="13331" name="Text Box 41">
              <a:extLst>
                <a:ext uri="{FF2B5EF4-FFF2-40B4-BE49-F238E27FC236}">
                  <a16:creationId xmlns:a16="http://schemas.microsoft.com/office/drawing/2014/main" id="{58EF0672-6578-4DD3-FB8A-55BFF7C016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26" y="12861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3200"/>
            </a:p>
          </p:txBody>
        </p:sp>
        <p:sp>
          <p:nvSpPr>
            <p:cNvPr id="13332" name="Text Box 40">
              <a:extLst>
                <a:ext uri="{FF2B5EF4-FFF2-40B4-BE49-F238E27FC236}">
                  <a16:creationId xmlns:a16="http://schemas.microsoft.com/office/drawing/2014/main" id="{E32E0D0D-7899-E777-8B8C-5F1EAD2EC0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28" y="11525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altLang="zh-CN" sz="3200"/>
            </a:p>
          </p:txBody>
        </p:sp>
        <p:sp>
          <p:nvSpPr>
            <p:cNvPr id="13333" name="Text Box 39">
              <a:extLst>
                <a:ext uri="{FF2B5EF4-FFF2-40B4-BE49-F238E27FC236}">
                  <a16:creationId xmlns:a16="http://schemas.microsoft.com/office/drawing/2014/main" id="{E072E0B4-6913-AC9A-55D3-C622479F27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6" y="11728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US" altLang="zh-CN" sz="3200"/>
            </a:p>
          </p:txBody>
        </p:sp>
        <p:sp>
          <p:nvSpPr>
            <p:cNvPr id="13334" name="Text Box 38">
              <a:extLst>
                <a:ext uri="{FF2B5EF4-FFF2-40B4-BE49-F238E27FC236}">
                  <a16:creationId xmlns:a16="http://schemas.microsoft.com/office/drawing/2014/main" id="{AE5ED7B9-87BF-A926-6226-AA9805C572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00" y="13031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US" altLang="zh-CN" sz="3200"/>
            </a:p>
          </p:txBody>
        </p:sp>
        <p:sp>
          <p:nvSpPr>
            <p:cNvPr id="13335" name="Text Box 37">
              <a:extLst>
                <a:ext uri="{FF2B5EF4-FFF2-40B4-BE49-F238E27FC236}">
                  <a16:creationId xmlns:a16="http://schemas.microsoft.com/office/drawing/2014/main" id="{988C120D-5234-74E0-36F2-C8E5127A59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90" y="12930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sz="3200"/>
            </a:p>
          </p:txBody>
        </p:sp>
        <p:sp>
          <p:nvSpPr>
            <p:cNvPr id="13336" name="Text Box 36">
              <a:extLst>
                <a:ext uri="{FF2B5EF4-FFF2-40B4-BE49-F238E27FC236}">
                  <a16:creationId xmlns:a16="http://schemas.microsoft.com/office/drawing/2014/main" id="{B67BC756-6D83-758C-047D-080CC62E2A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33" y="10764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 sz="3200"/>
            </a:p>
          </p:txBody>
        </p:sp>
        <p:sp>
          <p:nvSpPr>
            <p:cNvPr id="13337" name="Text Box 35">
              <a:extLst>
                <a:ext uri="{FF2B5EF4-FFF2-40B4-BE49-F238E27FC236}">
                  <a16:creationId xmlns:a16="http://schemas.microsoft.com/office/drawing/2014/main" id="{5D370851-F80A-F2B9-6E96-787F8E3B64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52" y="10707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3200"/>
            </a:p>
          </p:txBody>
        </p:sp>
        <p:sp>
          <p:nvSpPr>
            <p:cNvPr id="13338" name="Oval 34">
              <a:extLst>
                <a:ext uri="{FF2B5EF4-FFF2-40B4-BE49-F238E27FC236}">
                  <a16:creationId xmlns:a16="http://schemas.microsoft.com/office/drawing/2014/main" id="{6C0B146F-CCFF-9E22-5684-7963263707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1850"/>
              <a:ext cx="254" cy="25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39" name="Oval 33">
              <a:extLst>
                <a:ext uri="{FF2B5EF4-FFF2-40B4-BE49-F238E27FC236}">
                  <a16:creationId xmlns:a16="http://schemas.microsoft.com/office/drawing/2014/main" id="{791631C7-7ED0-898E-D97A-1ED267C972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0" y="11093"/>
              <a:ext cx="255" cy="25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40" name="Oval 32">
              <a:extLst>
                <a:ext uri="{FF2B5EF4-FFF2-40B4-BE49-F238E27FC236}">
                  <a16:creationId xmlns:a16="http://schemas.microsoft.com/office/drawing/2014/main" id="{3ED600C2-E8CA-3BFE-92D9-E0EE902AC7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0" y="12826"/>
              <a:ext cx="255" cy="25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41" name="Oval 31">
              <a:extLst>
                <a:ext uri="{FF2B5EF4-FFF2-40B4-BE49-F238E27FC236}">
                  <a16:creationId xmlns:a16="http://schemas.microsoft.com/office/drawing/2014/main" id="{2E48DC05-BFFE-D38A-2849-651ABBB60D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3" y="12824"/>
              <a:ext cx="255" cy="25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42" name="Oval 30">
              <a:extLst>
                <a:ext uri="{FF2B5EF4-FFF2-40B4-BE49-F238E27FC236}">
                  <a16:creationId xmlns:a16="http://schemas.microsoft.com/office/drawing/2014/main" id="{6CB3AA6B-92E4-82E8-3F30-6D83F1D3E8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3" y="11152"/>
              <a:ext cx="255" cy="25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43" name="Oval 29">
              <a:extLst>
                <a:ext uri="{FF2B5EF4-FFF2-40B4-BE49-F238E27FC236}">
                  <a16:creationId xmlns:a16="http://schemas.microsoft.com/office/drawing/2014/main" id="{E0632D5F-E53C-FF0F-7891-105FA6A54B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3" y="11939"/>
              <a:ext cx="255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13344" name="AutoShape 28">
              <a:extLst>
                <a:ext uri="{FF2B5EF4-FFF2-40B4-BE49-F238E27FC236}">
                  <a16:creationId xmlns:a16="http://schemas.microsoft.com/office/drawing/2014/main" id="{240EEF03-AA3E-A29C-2D31-54B2AF8FD9F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925" y="11220"/>
              <a:ext cx="2148" cy="6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45" name="AutoShape 27">
              <a:extLst>
                <a:ext uri="{FF2B5EF4-FFF2-40B4-BE49-F238E27FC236}">
                  <a16:creationId xmlns:a16="http://schemas.microsoft.com/office/drawing/2014/main" id="{E83416F1-83E3-40BC-BB11-A9609952EFA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798" y="11347"/>
              <a:ext cx="1" cy="147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46" name="AutoShape 26">
              <a:extLst>
                <a:ext uri="{FF2B5EF4-FFF2-40B4-BE49-F238E27FC236}">
                  <a16:creationId xmlns:a16="http://schemas.microsoft.com/office/drawing/2014/main" id="{6E87D2EA-FAA0-FE48-E7BC-27F10FCABDC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201" y="11409"/>
              <a:ext cx="1" cy="141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47" name="AutoShape 25">
              <a:extLst>
                <a:ext uri="{FF2B5EF4-FFF2-40B4-BE49-F238E27FC236}">
                  <a16:creationId xmlns:a16="http://schemas.microsoft.com/office/drawing/2014/main" id="{9ED26F83-BD1A-38B4-E1F2-0132C329AFF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925" y="12953"/>
              <a:ext cx="2148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48" name="AutoShape 24">
              <a:extLst>
                <a:ext uri="{FF2B5EF4-FFF2-40B4-BE49-F238E27FC236}">
                  <a16:creationId xmlns:a16="http://schemas.microsoft.com/office/drawing/2014/main" id="{76A07C26-291B-3D10-4940-58C4CF3BAC7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181" y="11371"/>
              <a:ext cx="929" cy="60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49" name="AutoShape 23">
              <a:extLst>
                <a:ext uri="{FF2B5EF4-FFF2-40B4-BE49-F238E27FC236}">
                  <a16:creationId xmlns:a16="http://schemas.microsoft.com/office/drawing/2014/main" id="{59F0E715-1C54-6969-61AE-2B65E903FB5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888" y="12158"/>
              <a:ext cx="1112" cy="70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50" name="AutoShape 22">
              <a:extLst>
                <a:ext uri="{FF2B5EF4-FFF2-40B4-BE49-F238E27FC236}">
                  <a16:creationId xmlns:a16="http://schemas.microsoft.com/office/drawing/2014/main" id="{F35B55F2-23E3-CDBB-A5E9-51C836363FF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88" y="11310"/>
              <a:ext cx="1112" cy="66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51" name="AutoShape 21">
              <a:extLst>
                <a:ext uri="{FF2B5EF4-FFF2-40B4-BE49-F238E27FC236}">
                  <a16:creationId xmlns:a16="http://schemas.microsoft.com/office/drawing/2014/main" id="{34EC2FAA-2728-1F13-6B08-B98396EFF38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447" y="11310"/>
              <a:ext cx="1260" cy="57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52" name="AutoShape 20">
              <a:extLst>
                <a:ext uri="{FF2B5EF4-FFF2-40B4-BE49-F238E27FC236}">
                  <a16:creationId xmlns:a16="http://schemas.microsoft.com/office/drawing/2014/main" id="{5DF4FFEC-D191-2DD5-B17F-D61F40ED1ED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447" y="12068"/>
              <a:ext cx="1260" cy="79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53" name="AutoShape 19">
              <a:extLst>
                <a:ext uri="{FF2B5EF4-FFF2-40B4-BE49-F238E27FC236}">
                  <a16:creationId xmlns:a16="http://schemas.microsoft.com/office/drawing/2014/main" id="{40BFBC76-D38F-77ED-88F2-0F6D451054B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830" y="11656"/>
              <a:ext cx="105" cy="6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54" name="AutoShape 18">
              <a:extLst>
                <a:ext uri="{FF2B5EF4-FFF2-40B4-BE49-F238E27FC236}">
                  <a16:creationId xmlns:a16="http://schemas.microsoft.com/office/drawing/2014/main" id="{69585900-7D5D-42B5-5CCD-75DCB1027BD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806" y="12301"/>
              <a:ext cx="129" cy="6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55" name="AutoShape 17">
              <a:extLst>
                <a:ext uri="{FF2B5EF4-FFF2-40B4-BE49-F238E27FC236}">
                  <a16:creationId xmlns:a16="http://schemas.microsoft.com/office/drawing/2014/main" id="{244B7B8F-BDC7-17D0-0A9C-42A998145AA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180" y="11491"/>
              <a:ext cx="60" cy="3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56" name="AutoShape 16">
              <a:extLst>
                <a:ext uri="{FF2B5EF4-FFF2-40B4-BE49-F238E27FC236}">
                  <a16:creationId xmlns:a16="http://schemas.microsoft.com/office/drawing/2014/main" id="{FAB44A5A-9FFB-C6F8-6C78-C2CDFF427DB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799" y="11850"/>
              <a:ext cx="0" cy="3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57" name="AutoShape 15">
              <a:extLst>
                <a:ext uri="{FF2B5EF4-FFF2-40B4-BE49-F238E27FC236}">
                  <a16:creationId xmlns:a16="http://schemas.microsoft.com/office/drawing/2014/main" id="{15A8103C-BDFD-7176-92C3-FFBAA19F158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345" y="12496"/>
              <a:ext cx="120" cy="7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58" name="AutoShape 14">
              <a:extLst>
                <a:ext uri="{FF2B5EF4-FFF2-40B4-BE49-F238E27FC236}">
                  <a16:creationId xmlns:a16="http://schemas.microsoft.com/office/drawing/2014/main" id="{2EEA4930-BD77-ED3D-F744-5F154E5EEAC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63" y="11250"/>
              <a:ext cx="117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59" name="AutoShape 13">
              <a:extLst>
                <a:ext uri="{FF2B5EF4-FFF2-40B4-BE49-F238E27FC236}">
                  <a16:creationId xmlns:a16="http://schemas.microsoft.com/office/drawing/2014/main" id="{FCA8215D-7060-65A2-4A15-438E8534276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7368" y="11728"/>
              <a:ext cx="165" cy="13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60" name="AutoShape 12">
              <a:extLst>
                <a:ext uri="{FF2B5EF4-FFF2-40B4-BE49-F238E27FC236}">
                  <a16:creationId xmlns:a16="http://schemas.microsoft.com/office/drawing/2014/main" id="{382CF2FE-902C-AC23-7CE1-9D9B5062600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202" y="12158"/>
              <a:ext cx="0" cy="3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61" name="AutoShape 11">
              <a:extLst>
                <a:ext uri="{FF2B5EF4-FFF2-40B4-BE49-F238E27FC236}">
                  <a16:creationId xmlns:a16="http://schemas.microsoft.com/office/drawing/2014/main" id="{F9C109DE-0F89-532D-59D7-AD91F4A1EE7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63" y="12954"/>
              <a:ext cx="117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362" name="Oval 10">
              <a:extLst>
                <a:ext uri="{FF2B5EF4-FFF2-40B4-BE49-F238E27FC236}">
                  <a16:creationId xmlns:a16="http://schemas.microsoft.com/office/drawing/2014/main" id="{ADA01E38-1265-EC5F-8F17-1CC8B5D8B5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80" y="11875"/>
              <a:ext cx="254" cy="25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13363" name="AutoShape 9">
              <a:extLst>
                <a:ext uri="{FF2B5EF4-FFF2-40B4-BE49-F238E27FC236}">
                  <a16:creationId xmlns:a16="http://schemas.microsoft.com/office/drawing/2014/main" id="{45E50767-8503-7155-E781-1BF302701D8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291" y="11371"/>
              <a:ext cx="926" cy="54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64" name="AutoShape 8">
              <a:extLst>
                <a:ext uri="{FF2B5EF4-FFF2-40B4-BE49-F238E27FC236}">
                  <a16:creationId xmlns:a16="http://schemas.microsoft.com/office/drawing/2014/main" id="{6C5ACCD7-BF2C-4FA6-88E0-13D8E634008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328" y="12093"/>
              <a:ext cx="889" cy="86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65" name="AutoShape 7">
              <a:extLst>
                <a:ext uri="{FF2B5EF4-FFF2-40B4-BE49-F238E27FC236}">
                  <a16:creationId xmlns:a16="http://schemas.microsoft.com/office/drawing/2014/main" id="{BFD2A38D-E91D-F8A8-8655-4BF8BB1B6E6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698" y="12345"/>
              <a:ext cx="267" cy="22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366" name="AutoShape 6">
              <a:extLst>
                <a:ext uri="{FF2B5EF4-FFF2-40B4-BE49-F238E27FC236}">
                  <a16:creationId xmlns:a16="http://schemas.microsoft.com/office/drawing/2014/main" id="{96997EA8-D52C-7958-047B-20E2FA46A7B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710" y="11608"/>
              <a:ext cx="131" cy="9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5">
            <a:extLst>
              <a:ext uri="{FF2B5EF4-FFF2-40B4-BE49-F238E27FC236}">
                <a16:creationId xmlns:a16="http://schemas.microsoft.com/office/drawing/2014/main" id="{228DC104-5464-4620-60F3-40D7EEECA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6454775"/>
            <a:ext cx="3384550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合肥工业大学 计算机与信息学院 </a:t>
            </a:r>
          </a:p>
        </p:txBody>
      </p:sp>
      <p:sp>
        <p:nvSpPr>
          <p:cNvPr id="14339" name="标题 12">
            <a:extLst>
              <a:ext uri="{FF2B5EF4-FFF2-40B4-BE49-F238E27FC236}">
                <a16:creationId xmlns:a16="http://schemas.microsoft.com/office/drawing/2014/main" id="{4B1135B0-233B-F869-6C4C-C2B7E256A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" y="74613"/>
            <a:ext cx="6761163" cy="762000"/>
          </a:xfrm>
        </p:spPr>
        <p:txBody>
          <a:bodyPr/>
          <a:lstStyle/>
          <a:p>
            <a:pPr eaLnBrk="1" hangingPunct="1"/>
            <a:r>
              <a:rPr lang="en-US" altLang="zh-CN" dirty="0"/>
              <a:t>7.4.3 </a:t>
            </a:r>
            <a:r>
              <a:rPr lang="zh-CN" altLang="en-US" dirty="0">
                <a:solidFill>
                  <a:srgbClr val="00B050"/>
                </a:solidFill>
              </a:rPr>
              <a:t>有向</a:t>
            </a:r>
            <a:r>
              <a:rPr lang="zh-CN" altLang="en-US" dirty="0"/>
              <a:t>图的</a:t>
            </a:r>
            <a:r>
              <a:rPr lang="en-US" altLang="zh-CN" dirty="0"/>
              <a:t>Dijkstra</a:t>
            </a:r>
            <a:r>
              <a:rPr lang="zh-CN" altLang="zh-CN" dirty="0"/>
              <a:t>算法</a:t>
            </a:r>
            <a:endParaRPr lang="zh-CN" altLang="en-US" dirty="0"/>
          </a:p>
        </p:txBody>
      </p:sp>
      <p:sp>
        <p:nvSpPr>
          <p:cNvPr id="14340" name="内容占位符 13">
            <a:extLst>
              <a:ext uri="{FF2B5EF4-FFF2-40B4-BE49-F238E27FC236}">
                <a16:creationId xmlns:a16="http://schemas.microsoft.com/office/drawing/2014/main" id="{A2459441-3B91-0B8E-6850-E9A3323CC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" y="981075"/>
            <a:ext cx="8928100" cy="5473700"/>
          </a:xfrm>
        </p:spPr>
        <p:txBody>
          <a:bodyPr/>
          <a:lstStyle/>
          <a:p>
            <a:pPr eaLnBrk="1" hangingPunct="1"/>
            <a:r>
              <a:rPr lang="zh-CN" altLang="zh-CN" b="1">
                <a:solidFill>
                  <a:srgbClr val="FF0000"/>
                </a:solidFill>
              </a:rPr>
              <a:t>解</a:t>
            </a:r>
            <a:endParaRPr lang="en-US" altLang="zh-CN" b="1">
              <a:solidFill>
                <a:srgbClr val="FF0000"/>
              </a:solidFill>
            </a:endParaRPr>
          </a:p>
          <a:p>
            <a:pPr eaLnBrk="1" hangingPunct="1"/>
            <a:endParaRPr lang="zh-CN" altLang="en-US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D6959C6-0FE0-998D-1AD0-9A395E99FA69}"/>
              </a:ext>
            </a:extLst>
          </p:cNvPr>
          <p:cNvGraphicFramePr>
            <a:graphicFrameLocks noGrp="1"/>
          </p:cNvGraphicFramePr>
          <p:nvPr/>
        </p:nvGraphicFramePr>
        <p:xfrm>
          <a:off x="1042988" y="1268413"/>
          <a:ext cx="7777162" cy="5095875"/>
        </p:xfrm>
        <a:graphic>
          <a:graphicData uri="http://schemas.openxmlformats.org/drawingml/2006/table">
            <a:tbl>
              <a:tblPr firstRow="1" firstCol="1" bandRow="1"/>
              <a:tblGrid>
                <a:gridCol w="576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9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29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13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4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迭 代</a:t>
                      </a:r>
                    </a:p>
                  </a:txBody>
                  <a:tcPr marL="68583" marR="685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6675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计算δ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u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v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&gt;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3" marR="685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W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3" marR="685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Times New Roman"/>
                          <a:ea typeface="宋体"/>
                        </a:rPr>
                        <a:t>加入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B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3" marR="685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Times New Roman"/>
                          <a:ea typeface="宋体"/>
                        </a:rPr>
                        <a:t>新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x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v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&gt;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3" marR="685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463">
                <a:tc>
                  <a:txBody>
                    <a:bodyPr/>
                    <a:lstStyle/>
                    <a:p>
                      <a:pPr indent="133350"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0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3" marR="685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6675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无</a:t>
                      </a:r>
                    </a:p>
                  </a:txBody>
                  <a:tcPr marL="68583" marR="685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/>
                          <a:ea typeface="宋体"/>
                        </a:rPr>
                        <a:t>{x}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3" marR="685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Times New Roman"/>
                          <a:ea typeface="宋体"/>
                        </a:rPr>
                        <a:t>—</a:t>
                      </a:r>
                    </a:p>
                  </a:txBody>
                  <a:tcPr marL="68583" marR="685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x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x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>
                          <a:effectLst/>
                          <a:latin typeface="Times New Roman"/>
                          <a:ea typeface="宋体"/>
                        </a:rPr>
                        <a:t>＝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0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3" marR="685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1388">
                <a:tc>
                  <a:txBody>
                    <a:bodyPr/>
                    <a:lstStyle/>
                    <a:p>
                      <a:pPr indent="133350"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  <a:p>
                      <a:pPr indent="133350"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1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3" marR="685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6675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δ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x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a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＝</a:t>
                      </a:r>
                      <a:r>
                        <a:rPr lang="en-US" sz="2000" kern="100" dirty="0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x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x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＋ω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x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a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＝</a:t>
                      </a:r>
                      <a:r>
                        <a:rPr lang="en-US" sz="2000" kern="100" dirty="0">
                          <a:effectLst/>
                          <a:latin typeface="Times New Roman"/>
                          <a:ea typeface="宋体"/>
                        </a:rPr>
                        <a:t>1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  <a:p>
                      <a:pPr indent="66675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δ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x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＝</a:t>
                      </a:r>
                      <a:r>
                        <a:rPr lang="en-US" sz="2000" kern="100" dirty="0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x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x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＋ω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x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＝</a:t>
                      </a:r>
                      <a:r>
                        <a:rPr lang="en-US" sz="2000" kern="100" dirty="0">
                          <a:effectLst/>
                          <a:latin typeface="Times New Roman"/>
                          <a:ea typeface="宋体"/>
                        </a:rPr>
                        <a:t>2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  <a:p>
                      <a:pPr indent="66675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找到值最小的δ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x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a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&gt;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3" marR="685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/>
                          <a:ea typeface="宋体"/>
                        </a:rPr>
                        <a:t>{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x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a</a:t>
                      </a:r>
                      <a:r>
                        <a:rPr lang="en-US" sz="2000" kern="100" dirty="0">
                          <a:effectLst/>
                          <a:latin typeface="Times New Roman"/>
                          <a:ea typeface="宋体"/>
                        </a:rPr>
                        <a:t>}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3" marR="685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x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solidFill>
                            <a:srgbClr val="FF0000"/>
                          </a:solidFill>
                          <a:effectLst/>
                          <a:latin typeface="Times New Roman"/>
                          <a:ea typeface="宋体"/>
                        </a:rPr>
                        <a:t>a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&gt;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3" marR="685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x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a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＝</a:t>
                      </a:r>
                      <a:r>
                        <a:rPr lang="en-US" sz="2000" kern="100" dirty="0">
                          <a:effectLst/>
                          <a:latin typeface="Times New Roman"/>
                          <a:ea typeface="宋体"/>
                        </a:rPr>
                        <a:t>1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3" marR="685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60280">
                <a:tc>
                  <a:txBody>
                    <a:bodyPr/>
                    <a:lstStyle/>
                    <a:p>
                      <a:pPr indent="133350"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  <a:p>
                      <a:pPr indent="133350"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  <a:p>
                      <a:pPr indent="133350"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2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3" marR="685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6675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δ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x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＝</a:t>
                      </a:r>
                      <a:r>
                        <a:rPr lang="en-US" sz="2000" kern="100" dirty="0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x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x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＋ω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x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＝</a:t>
                      </a:r>
                      <a:r>
                        <a:rPr lang="en-US" sz="2000" kern="100" dirty="0">
                          <a:effectLst/>
                          <a:latin typeface="Times New Roman"/>
                          <a:ea typeface="宋体"/>
                        </a:rPr>
                        <a:t>2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  <a:p>
                      <a:pPr indent="66675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δ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a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b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＝</a:t>
                      </a:r>
                      <a:r>
                        <a:rPr lang="en-US" sz="2000" kern="100" dirty="0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x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a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＋ω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a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b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＝</a:t>
                      </a:r>
                      <a:r>
                        <a:rPr lang="en-US" sz="2000" kern="100" dirty="0">
                          <a:effectLst/>
                          <a:latin typeface="Times New Roman"/>
                          <a:ea typeface="宋体"/>
                        </a:rPr>
                        <a:t>3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  <a:p>
                      <a:pPr indent="66675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δ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a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c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＝</a:t>
                      </a:r>
                      <a:r>
                        <a:rPr lang="en-US" sz="2000" kern="100" dirty="0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x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a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＋ω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a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c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＝</a:t>
                      </a:r>
                      <a:r>
                        <a:rPr lang="en-US" sz="2000" kern="100" dirty="0">
                          <a:effectLst/>
                          <a:latin typeface="Times New Roman"/>
                          <a:ea typeface="宋体"/>
                        </a:rPr>
                        <a:t>4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  <a:p>
                      <a:pPr indent="66675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δ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a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＝</a:t>
                      </a:r>
                      <a:r>
                        <a:rPr lang="en-US" sz="2000" kern="100" dirty="0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x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a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＋ω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a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＝</a:t>
                      </a:r>
                      <a:r>
                        <a:rPr lang="en-US" sz="2000" kern="100" dirty="0">
                          <a:effectLst/>
                          <a:latin typeface="Times New Roman"/>
                          <a:ea typeface="宋体"/>
                        </a:rPr>
                        <a:t>2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  <a:p>
                      <a:pPr indent="66675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找到值最小的δ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x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&gt;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3" marR="685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/>
                          <a:ea typeface="宋体"/>
                        </a:rPr>
                        <a:t>{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x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a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 dirty="0">
                          <a:effectLst/>
                          <a:latin typeface="Times New Roman"/>
                          <a:ea typeface="宋体"/>
                        </a:rPr>
                        <a:t>}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3" marR="685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x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&gt;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3" marR="685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x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＝</a:t>
                      </a:r>
                      <a:r>
                        <a:rPr lang="en-US" sz="2000" kern="100" dirty="0">
                          <a:effectLst/>
                          <a:latin typeface="Times New Roman"/>
                          <a:ea typeface="宋体"/>
                        </a:rPr>
                        <a:t>2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3" marR="685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24103">
                <a:tc>
                  <a:txBody>
                    <a:bodyPr/>
                    <a:lstStyle/>
                    <a:p>
                      <a:pPr indent="133350"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  <a:p>
                      <a:pPr indent="133350"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  <a:p>
                      <a:pPr indent="133350"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3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3" marR="685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6675"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Times New Roman"/>
                          <a:ea typeface="宋体"/>
                        </a:rPr>
                        <a:t>δ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a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b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>
                          <a:effectLst/>
                          <a:latin typeface="Times New Roman"/>
                          <a:ea typeface="宋体"/>
                        </a:rPr>
                        <a:t>＝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x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a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>
                          <a:effectLst/>
                          <a:latin typeface="Times New Roman"/>
                          <a:ea typeface="宋体"/>
                        </a:rPr>
                        <a:t>＋ω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a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b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>
                          <a:effectLst/>
                          <a:latin typeface="Times New Roman"/>
                          <a:ea typeface="宋体"/>
                        </a:rPr>
                        <a:t>＝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3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  <a:p>
                      <a:pPr indent="66675"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Times New Roman"/>
                          <a:ea typeface="宋体"/>
                        </a:rPr>
                        <a:t>δ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a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c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>
                          <a:effectLst/>
                          <a:latin typeface="Times New Roman"/>
                          <a:ea typeface="宋体"/>
                        </a:rPr>
                        <a:t>＝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x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a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>
                          <a:effectLst/>
                          <a:latin typeface="Times New Roman"/>
                          <a:ea typeface="宋体"/>
                        </a:rPr>
                        <a:t>＋ω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a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c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>
                          <a:effectLst/>
                          <a:latin typeface="Times New Roman"/>
                          <a:ea typeface="宋体"/>
                        </a:rPr>
                        <a:t>＝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4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  <a:p>
                      <a:pPr indent="66675"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Times New Roman"/>
                          <a:ea typeface="宋体"/>
                        </a:rPr>
                        <a:t>δ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c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>
                          <a:effectLst/>
                          <a:latin typeface="Times New Roman"/>
                          <a:ea typeface="宋体"/>
                        </a:rPr>
                        <a:t>＝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x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>
                          <a:effectLst/>
                          <a:latin typeface="Times New Roman"/>
                          <a:ea typeface="宋体"/>
                        </a:rPr>
                        <a:t>＋ω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c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>
                          <a:effectLst/>
                          <a:latin typeface="Times New Roman"/>
                          <a:ea typeface="宋体"/>
                        </a:rPr>
                        <a:t>＝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3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  <a:p>
                      <a:pPr indent="66675"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Times New Roman"/>
                          <a:ea typeface="宋体"/>
                        </a:rPr>
                        <a:t>δ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e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>
                          <a:effectLst/>
                          <a:latin typeface="Times New Roman"/>
                          <a:ea typeface="宋体"/>
                        </a:rPr>
                        <a:t>＝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x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>
                          <a:effectLst/>
                          <a:latin typeface="Times New Roman"/>
                          <a:ea typeface="宋体"/>
                        </a:rPr>
                        <a:t>＋ω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e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>
                          <a:effectLst/>
                          <a:latin typeface="Times New Roman"/>
                          <a:ea typeface="宋体"/>
                        </a:rPr>
                        <a:t>＝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4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  <a:p>
                      <a:pPr indent="66675"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Times New Roman"/>
                          <a:ea typeface="宋体"/>
                        </a:rPr>
                        <a:t>找到值最小的δ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a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b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&gt;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3" marR="685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/>
                          <a:ea typeface="宋体"/>
                        </a:rPr>
                        <a:t>{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x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a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b</a:t>
                      </a:r>
                      <a:r>
                        <a:rPr lang="en-US" sz="2000" kern="100" dirty="0">
                          <a:effectLst/>
                          <a:latin typeface="Times New Roman"/>
                          <a:ea typeface="宋体"/>
                        </a:rPr>
                        <a:t>}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3" marR="685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a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>
                          <a:solidFill>
                            <a:srgbClr val="FF0000"/>
                          </a:solidFill>
                          <a:effectLst/>
                          <a:latin typeface="Times New Roman"/>
                          <a:ea typeface="宋体"/>
                        </a:rPr>
                        <a:t>b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&gt;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3" marR="685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x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b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＝</a:t>
                      </a:r>
                      <a:r>
                        <a:rPr lang="en-US" sz="2000" kern="100" dirty="0">
                          <a:effectLst/>
                          <a:latin typeface="Times New Roman"/>
                          <a:ea typeface="宋体"/>
                        </a:rPr>
                        <a:t>3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3" marR="6858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5">
            <a:extLst>
              <a:ext uri="{FF2B5EF4-FFF2-40B4-BE49-F238E27FC236}">
                <a16:creationId xmlns:a16="http://schemas.microsoft.com/office/drawing/2014/main" id="{CFF7E922-82A9-C977-FCCE-0DA11A4BA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6454775"/>
            <a:ext cx="3384550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合肥工业大学 计算机与信息学院 </a:t>
            </a:r>
          </a:p>
        </p:txBody>
      </p:sp>
      <p:sp>
        <p:nvSpPr>
          <p:cNvPr id="15363" name="标题 12">
            <a:extLst>
              <a:ext uri="{FF2B5EF4-FFF2-40B4-BE49-F238E27FC236}">
                <a16:creationId xmlns:a16="http://schemas.microsoft.com/office/drawing/2014/main" id="{33976FF1-0C85-F462-F801-B2E9DBF07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" y="74613"/>
            <a:ext cx="6761163" cy="762000"/>
          </a:xfrm>
        </p:spPr>
        <p:txBody>
          <a:bodyPr/>
          <a:lstStyle/>
          <a:p>
            <a:pPr eaLnBrk="1" hangingPunct="1"/>
            <a:r>
              <a:rPr lang="en-US" altLang="zh-CN" dirty="0"/>
              <a:t>7.4.3 </a:t>
            </a:r>
            <a:r>
              <a:rPr lang="zh-CN" altLang="en-US" dirty="0">
                <a:solidFill>
                  <a:srgbClr val="00B050"/>
                </a:solidFill>
              </a:rPr>
              <a:t>有向</a:t>
            </a:r>
            <a:r>
              <a:rPr lang="zh-CN" altLang="en-US" dirty="0"/>
              <a:t>图的</a:t>
            </a:r>
            <a:r>
              <a:rPr lang="en-US" altLang="zh-CN" dirty="0"/>
              <a:t>Dijkstra</a:t>
            </a:r>
            <a:r>
              <a:rPr lang="zh-CN" altLang="zh-CN" dirty="0"/>
              <a:t>算法</a:t>
            </a:r>
            <a:endParaRPr lang="zh-CN" altLang="en-US" dirty="0"/>
          </a:p>
        </p:txBody>
      </p:sp>
      <p:sp>
        <p:nvSpPr>
          <p:cNvPr id="15364" name="内容占位符 13">
            <a:extLst>
              <a:ext uri="{FF2B5EF4-FFF2-40B4-BE49-F238E27FC236}">
                <a16:creationId xmlns:a16="http://schemas.microsoft.com/office/drawing/2014/main" id="{4B04C6D3-CD52-E8F4-3470-4C7782874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" y="979636"/>
            <a:ext cx="8928100" cy="5473700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FF0000"/>
                </a:solidFill>
              </a:rPr>
              <a:t>续</a:t>
            </a:r>
            <a:endParaRPr lang="en-US" altLang="zh-CN">
              <a:solidFill>
                <a:srgbClr val="FF0000"/>
              </a:solidFill>
            </a:endParaRPr>
          </a:p>
          <a:p>
            <a:pPr eaLnBrk="1" hangingPunct="1"/>
            <a:endParaRPr lang="zh-CN" altLang="en-US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8C78D859-B411-A3DF-79C9-67E198E8DA98}"/>
              </a:ext>
            </a:extLst>
          </p:cNvPr>
          <p:cNvGraphicFramePr>
            <a:graphicFrameLocks noGrp="1"/>
          </p:cNvGraphicFramePr>
          <p:nvPr/>
        </p:nvGraphicFramePr>
        <p:xfrm>
          <a:off x="900113" y="1528763"/>
          <a:ext cx="8099425" cy="4852988"/>
        </p:xfrm>
        <a:graphic>
          <a:graphicData uri="http://schemas.openxmlformats.org/drawingml/2006/table">
            <a:tbl>
              <a:tblPr firstRow="1" firstCol="1" bandRow="1"/>
              <a:tblGrid>
                <a:gridCol w="440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9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24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48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658228">
                <a:tc>
                  <a:txBody>
                    <a:bodyPr/>
                    <a:lstStyle/>
                    <a:p>
                      <a:pPr indent="133350"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  <a:p>
                      <a:pPr indent="133350"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  <a:p>
                      <a:pPr indent="133350"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4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6675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δ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a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c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＝</a:t>
                      </a:r>
                      <a:r>
                        <a:rPr lang="en-US" sz="2000" kern="100" dirty="0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x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a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＋ω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a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c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＝</a:t>
                      </a:r>
                      <a:r>
                        <a:rPr lang="en-US" sz="2000" kern="100" dirty="0">
                          <a:effectLst/>
                          <a:latin typeface="Times New Roman"/>
                          <a:ea typeface="宋体"/>
                        </a:rPr>
                        <a:t>4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  <a:p>
                      <a:pPr indent="66675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δ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c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＝</a:t>
                      </a:r>
                      <a:r>
                        <a:rPr lang="en-US" sz="2000" kern="100" dirty="0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x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＋ω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c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＝</a:t>
                      </a:r>
                      <a:r>
                        <a:rPr lang="en-US" sz="2000" kern="100" dirty="0">
                          <a:effectLst/>
                          <a:latin typeface="Times New Roman"/>
                          <a:ea typeface="宋体"/>
                        </a:rPr>
                        <a:t>3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  <a:p>
                      <a:pPr indent="66675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δ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e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＝</a:t>
                      </a:r>
                      <a:r>
                        <a:rPr lang="en-US" sz="2000" kern="100" dirty="0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x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＋ω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e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＝</a:t>
                      </a:r>
                      <a:r>
                        <a:rPr lang="en-US" sz="2000" kern="100" dirty="0">
                          <a:effectLst/>
                          <a:latin typeface="Times New Roman"/>
                          <a:ea typeface="宋体"/>
                        </a:rPr>
                        <a:t>4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  <a:p>
                      <a:pPr indent="66675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δ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b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y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＝</a:t>
                      </a:r>
                      <a:r>
                        <a:rPr lang="en-US" sz="2000" kern="100" dirty="0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x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b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＋ω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b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y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＝</a:t>
                      </a:r>
                      <a:r>
                        <a:rPr lang="en-US" sz="2000" kern="100" dirty="0">
                          <a:effectLst/>
                          <a:latin typeface="Times New Roman"/>
                          <a:ea typeface="宋体"/>
                        </a:rPr>
                        <a:t>5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  <a:p>
                      <a:pPr indent="66675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找到值最小的δ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c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&gt;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{x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a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b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c}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c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&gt;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x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c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＝</a:t>
                      </a:r>
                      <a:r>
                        <a:rPr lang="en-US" sz="2000" kern="100" dirty="0">
                          <a:effectLst/>
                          <a:latin typeface="Times New Roman"/>
                          <a:ea typeface="宋体"/>
                        </a:rPr>
                        <a:t>3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4920">
                <a:tc>
                  <a:txBody>
                    <a:bodyPr/>
                    <a:lstStyle/>
                    <a:p>
                      <a:pPr indent="133350"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  <a:p>
                      <a:pPr indent="133350"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5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6675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δ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e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＝</a:t>
                      </a:r>
                      <a:r>
                        <a:rPr lang="en-US" sz="2000" kern="100" dirty="0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x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＋ω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e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＝</a:t>
                      </a:r>
                      <a:r>
                        <a:rPr lang="en-US" sz="2000" kern="100" dirty="0">
                          <a:effectLst/>
                          <a:latin typeface="Times New Roman"/>
                          <a:ea typeface="宋体"/>
                        </a:rPr>
                        <a:t>4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  <a:p>
                      <a:pPr indent="66675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δ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b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y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＝</a:t>
                      </a:r>
                      <a:r>
                        <a:rPr lang="en-US" sz="2000" kern="100" dirty="0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x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b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＋ω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b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y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＝</a:t>
                      </a:r>
                      <a:r>
                        <a:rPr lang="en-US" sz="2000" kern="100" dirty="0">
                          <a:effectLst/>
                          <a:latin typeface="Times New Roman"/>
                          <a:ea typeface="宋体"/>
                        </a:rPr>
                        <a:t>5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  <a:p>
                      <a:pPr indent="66675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找到值最小的δ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e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&gt;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/>
                          <a:ea typeface="宋体"/>
                        </a:rPr>
                        <a:t>{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x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a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b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c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e</a:t>
                      </a:r>
                      <a:r>
                        <a:rPr lang="en-US" sz="2000" kern="100" dirty="0">
                          <a:effectLst/>
                          <a:latin typeface="Times New Roman"/>
                          <a:ea typeface="宋体"/>
                        </a:rPr>
                        <a:t>}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e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&gt;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x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e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>
                          <a:effectLst/>
                          <a:latin typeface="Times New Roman"/>
                          <a:ea typeface="宋体"/>
                        </a:rPr>
                        <a:t>＝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4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4920">
                <a:tc>
                  <a:txBody>
                    <a:bodyPr/>
                    <a:lstStyle/>
                    <a:p>
                      <a:pPr indent="133350"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  <a:p>
                      <a:pPr indent="133350"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6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66675"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Times New Roman"/>
                          <a:ea typeface="宋体"/>
                        </a:rPr>
                        <a:t>δ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b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y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>
                          <a:effectLst/>
                          <a:latin typeface="Times New Roman"/>
                          <a:ea typeface="宋体"/>
                        </a:rPr>
                        <a:t>＝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x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b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>
                          <a:effectLst/>
                          <a:latin typeface="Times New Roman"/>
                          <a:ea typeface="宋体"/>
                        </a:rPr>
                        <a:t>＋ω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b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y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>
                          <a:effectLst/>
                          <a:latin typeface="Times New Roman"/>
                          <a:ea typeface="宋体"/>
                        </a:rPr>
                        <a:t>＝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5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  <a:p>
                      <a:pPr indent="66675"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Times New Roman"/>
                          <a:ea typeface="宋体"/>
                        </a:rPr>
                        <a:t>δ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e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y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>
                          <a:effectLst/>
                          <a:latin typeface="Times New Roman"/>
                          <a:ea typeface="宋体"/>
                        </a:rPr>
                        <a:t>＝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x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e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>
                          <a:effectLst/>
                          <a:latin typeface="Times New Roman"/>
                          <a:ea typeface="宋体"/>
                        </a:rPr>
                        <a:t>＋ω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e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y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>
                          <a:effectLst/>
                          <a:latin typeface="Times New Roman"/>
                          <a:ea typeface="宋体"/>
                        </a:rPr>
                        <a:t>＝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5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  <a:p>
                      <a:pPr indent="66675"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Times New Roman"/>
                          <a:ea typeface="宋体"/>
                        </a:rPr>
                        <a:t>找到值最小的δ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b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y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&gt;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effectLst/>
                          <a:latin typeface="Times New Roman"/>
                          <a:ea typeface="宋体"/>
                        </a:rPr>
                        <a:t>{</a:t>
                      </a:r>
                      <a:r>
                        <a:rPr lang="en-US" sz="1800" kern="100" dirty="0" err="1">
                          <a:effectLst/>
                          <a:latin typeface="Times New Roman"/>
                          <a:ea typeface="宋体"/>
                        </a:rPr>
                        <a:t>x</a:t>
                      </a:r>
                      <a:r>
                        <a:rPr lang="en-US" sz="18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1800" kern="100" dirty="0" err="1">
                          <a:effectLst/>
                          <a:latin typeface="Times New Roman"/>
                          <a:ea typeface="宋体"/>
                        </a:rPr>
                        <a:t>a</a:t>
                      </a:r>
                      <a:r>
                        <a:rPr lang="en-US" sz="18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1800" kern="100" dirty="0" err="1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18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1800" kern="100" dirty="0" err="1">
                          <a:effectLst/>
                          <a:latin typeface="Times New Roman"/>
                          <a:ea typeface="宋体"/>
                        </a:rPr>
                        <a:t>b</a:t>
                      </a:r>
                      <a:r>
                        <a:rPr lang="en-US" sz="18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1800" kern="100" dirty="0" err="1">
                          <a:effectLst/>
                          <a:latin typeface="Times New Roman"/>
                          <a:ea typeface="宋体"/>
                        </a:rPr>
                        <a:t>c</a:t>
                      </a:r>
                      <a:r>
                        <a:rPr lang="en-US" sz="18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1800" kern="100" dirty="0" err="1">
                          <a:effectLst/>
                          <a:latin typeface="Times New Roman"/>
                          <a:ea typeface="宋体"/>
                        </a:rPr>
                        <a:t>e</a:t>
                      </a:r>
                      <a:r>
                        <a:rPr lang="en-US" sz="18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1800" kern="100" dirty="0" err="1">
                          <a:effectLst/>
                          <a:latin typeface="Times New Roman"/>
                          <a:ea typeface="宋体"/>
                        </a:rPr>
                        <a:t>y</a:t>
                      </a:r>
                      <a:r>
                        <a:rPr lang="en-US" sz="1800" kern="100" dirty="0">
                          <a:effectLst/>
                          <a:latin typeface="Times New Roman"/>
                          <a:ea typeface="宋体"/>
                        </a:rPr>
                        <a:t>}</a:t>
                      </a:r>
                      <a:endParaRPr lang="zh-CN" sz="18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>
                          <a:solidFill>
                            <a:srgbClr val="FF0000"/>
                          </a:solidFill>
                          <a:effectLst/>
                          <a:latin typeface="Times New Roman"/>
                          <a:ea typeface="宋体"/>
                        </a:rPr>
                        <a:t>b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y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&gt;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x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y</a:t>
                      </a: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>
                          <a:effectLst/>
                          <a:latin typeface="Times New Roman"/>
                          <a:ea typeface="宋体"/>
                        </a:rPr>
                        <a:t>＝</a:t>
                      </a:r>
                      <a:r>
                        <a:rPr lang="en-US" sz="2000" kern="100">
                          <a:effectLst/>
                          <a:latin typeface="Times New Roman"/>
                          <a:ea typeface="宋体"/>
                        </a:rPr>
                        <a:t>5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492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宋体"/>
                          <a:ea typeface="宋体"/>
                        </a:rPr>
                        <a:t> </a:t>
                      </a:r>
                      <a:endParaRPr lang="zh-CN" sz="2000" kern="100">
                        <a:effectLst/>
                        <a:latin typeface="Times New Roman"/>
                        <a:ea typeface="宋体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Times New Roman"/>
                          <a:ea typeface="宋体"/>
                        </a:rPr>
                        <a:t>结 束</a:t>
                      </a: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indent="66675" algn="just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  <a:latin typeface="Times New Roman"/>
                          <a:ea typeface="宋体"/>
                        </a:rPr>
                        <a:t>y</a:t>
                      </a: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∈</a:t>
                      </a:r>
                      <a:r>
                        <a:rPr lang="en-US" sz="2000" kern="100" dirty="0">
                          <a:effectLst/>
                          <a:latin typeface="Times New Roman"/>
                          <a:ea typeface="宋体"/>
                        </a:rPr>
                        <a:t>W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  <a:p>
                      <a:pPr indent="66675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从</a:t>
                      </a:r>
                      <a:r>
                        <a:rPr lang="en-US" sz="2000" kern="100" dirty="0">
                          <a:effectLst/>
                          <a:latin typeface="Times New Roman"/>
                          <a:ea typeface="宋体"/>
                        </a:rPr>
                        <a:t>x</a:t>
                      </a: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到</a:t>
                      </a:r>
                      <a:r>
                        <a:rPr lang="en-US" sz="2000" kern="100" dirty="0">
                          <a:effectLst/>
                          <a:latin typeface="Times New Roman"/>
                          <a:ea typeface="宋体"/>
                        </a:rPr>
                        <a:t>y</a:t>
                      </a: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的最短有向路的长度为</a:t>
                      </a:r>
                      <a:r>
                        <a:rPr lang="en-US" sz="2000" kern="100" dirty="0">
                          <a:effectLst/>
                          <a:latin typeface="Times New Roman"/>
                          <a:ea typeface="宋体"/>
                        </a:rPr>
                        <a:t>d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x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y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＝</a:t>
                      </a:r>
                      <a:r>
                        <a:rPr lang="en-US" sz="2000" kern="100" dirty="0">
                          <a:effectLst/>
                          <a:latin typeface="Times New Roman"/>
                          <a:ea typeface="宋体"/>
                        </a:rPr>
                        <a:t>5</a:t>
                      </a: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。</a:t>
                      </a:r>
                    </a:p>
                    <a:p>
                      <a:pPr indent="66675" algn="just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从</a:t>
                      </a:r>
                      <a:r>
                        <a:rPr lang="en-US" sz="2000" kern="100" dirty="0">
                          <a:effectLst/>
                          <a:latin typeface="Times New Roman"/>
                          <a:ea typeface="宋体"/>
                        </a:rPr>
                        <a:t>y</a:t>
                      </a: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开始，回溯</a:t>
                      </a:r>
                      <a:r>
                        <a:rPr lang="en-US" sz="2000" kern="100" dirty="0">
                          <a:effectLst/>
                          <a:latin typeface="Times New Roman"/>
                          <a:ea typeface="宋体"/>
                        </a:rPr>
                        <a:t>B</a:t>
                      </a: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得</a:t>
                      </a:r>
                      <a:r>
                        <a:rPr lang="en-US" sz="2000" kern="100" dirty="0">
                          <a:effectLst/>
                          <a:latin typeface="Times New Roman"/>
                          <a:ea typeface="宋体"/>
                        </a:rPr>
                        <a:t>x</a:t>
                      </a: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到</a:t>
                      </a:r>
                      <a:r>
                        <a:rPr lang="en-US" sz="2000" kern="100" dirty="0">
                          <a:effectLst/>
                          <a:latin typeface="Times New Roman"/>
                          <a:ea typeface="宋体"/>
                        </a:rPr>
                        <a:t>y</a:t>
                      </a: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的最短有向路为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&lt;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x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solidFill>
                            <a:srgbClr val="FF0000"/>
                          </a:solidFill>
                          <a:effectLst/>
                          <a:latin typeface="Times New Roman"/>
                          <a:ea typeface="宋体"/>
                        </a:rPr>
                        <a:t>a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，</a:t>
                      </a:r>
                      <a:r>
                        <a:rPr kumimoji="0" lang="en-US" altLang="zh-CN" sz="2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宋体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a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solidFill>
                            <a:srgbClr val="FF0000"/>
                          </a:solidFill>
                          <a:effectLst/>
                          <a:latin typeface="Times New Roman"/>
                          <a:ea typeface="宋体"/>
                        </a:rPr>
                        <a:t>b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&gt;</a:t>
                      </a:r>
                      <a:r>
                        <a:rPr lang="zh-CN" sz="2000" kern="100" dirty="0">
                          <a:effectLst/>
                          <a:latin typeface="Times New Roman"/>
                          <a:ea typeface="宋体"/>
                        </a:rPr>
                        <a:t>，</a:t>
                      </a:r>
                      <a:r>
                        <a:rPr kumimoji="0" lang="en-US" altLang="zh-CN" sz="20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宋体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2000" kern="100" dirty="0" err="1">
                          <a:solidFill>
                            <a:srgbClr val="FF0000"/>
                          </a:solidFill>
                          <a:effectLst/>
                          <a:latin typeface="Times New Roman"/>
                          <a:ea typeface="宋体"/>
                        </a:rPr>
                        <a:t>b</a:t>
                      </a:r>
                      <a:r>
                        <a:rPr lang="en-US" sz="2000" kern="100" dirty="0" err="1">
                          <a:effectLst/>
                          <a:latin typeface="宋体"/>
                          <a:ea typeface="宋体"/>
                        </a:rPr>
                        <a:t>,</a:t>
                      </a:r>
                      <a:r>
                        <a:rPr lang="en-US" sz="2000" kern="100" dirty="0" err="1">
                          <a:effectLst/>
                          <a:latin typeface="Times New Roman"/>
                          <a:ea typeface="宋体"/>
                        </a:rPr>
                        <a:t>y</a:t>
                      </a:r>
                      <a:r>
                        <a:rPr lang="en-US" sz="2000" kern="100" dirty="0">
                          <a:effectLst/>
                          <a:latin typeface="宋体"/>
                          <a:ea typeface="宋体"/>
                        </a:rPr>
                        <a:t>&gt;</a:t>
                      </a:r>
                      <a:endParaRPr lang="zh-CN" sz="2000" kern="100" dirty="0"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72" marR="6857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>
            <a:extLst>
              <a:ext uri="{FF2B5EF4-FFF2-40B4-BE49-F238E27FC236}">
                <a16:creationId xmlns:a16="http://schemas.microsoft.com/office/drawing/2014/main" id="{AA1EEB43-20D9-A8E3-EE21-ED821686D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6454775"/>
            <a:ext cx="3384550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合肥工业大学 计算机与信息学院 </a:t>
            </a:r>
          </a:p>
        </p:txBody>
      </p:sp>
      <p:sp>
        <p:nvSpPr>
          <p:cNvPr id="16387" name="标题 12">
            <a:extLst>
              <a:ext uri="{FF2B5EF4-FFF2-40B4-BE49-F238E27FC236}">
                <a16:creationId xmlns:a16="http://schemas.microsoft.com/office/drawing/2014/main" id="{46359B2D-F9F8-52E5-A6FA-17C50005A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" y="74613"/>
            <a:ext cx="6761163" cy="762000"/>
          </a:xfrm>
        </p:spPr>
        <p:txBody>
          <a:bodyPr/>
          <a:lstStyle/>
          <a:p>
            <a:pPr eaLnBrk="1" hangingPunct="1"/>
            <a:r>
              <a:rPr lang="en-US" altLang="zh-CN" dirty="0"/>
              <a:t>7.4.4  </a:t>
            </a:r>
            <a:r>
              <a:rPr lang="zh-CN" altLang="en-US" dirty="0"/>
              <a:t>任两结点间的最短路</a:t>
            </a:r>
          </a:p>
        </p:txBody>
      </p:sp>
      <p:sp>
        <p:nvSpPr>
          <p:cNvPr id="17412" name="内容占位符 13">
            <a:extLst>
              <a:ext uri="{FF2B5EF4-FFF2-40B4-BE49-F238E27FC236}">
                <a16:creationId xmlns:a16="http://schemas.microsoft.com/office/drawing/2014/main" id="{518758AB-B95B-40C4-0C15-58C678251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" y="981075"/>
            <a:ext cx="8928100" cy="5473700"/>
          </a:xfrm>
        </p:spPr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en-US" altLang="zh-CN" sz="3600" b="1" dirty="0">
                <a:solidFill>
                  <a:srgbClr val="FF0000"/>
                </a:solidFill>
              </a:rPr>
              <a:t>procedure</a:t>
            </a:r>
            <a:r>
              <a:rPr lang="en-US" altLang="zh-CN" sz="3600" b="1" dirty="0"/>
              <a:t> </a:t>
            </a:r>
            <a:r>
              <a:rPr lang="en-US" altLang="zh-CN" sz="3600" dirty="0" err="1"/>
              <a:t>Warshall</a:t>
            </a:r>
            <a:r>
              <a:rPr lang="en-US" altLang="zh-CN" sz="3600" dirty="0"/>
              <a:t> (G</a:t>
            </a:r>
            <a:r>
              <a:rPr lang="zh-CN" altLang="zh-CN" sz="3600" dirty="0"/>
              <a:t>有结点</a:t>
            </a:r>
            <a:r>
              <a:rPr lang="en-US" altLang="zh-CN" sz="3600" dirty="0"/>
              <a:t>v</a:t>
            </a:r>
            <a:r>
              <a:rPr lang="en-US" altLang="zh-CN" sz="3600" baseline="-25000" dirty="0"/>
              <a:t>1</a:t>
            </a:r>
            <a:r>
              <a:rPr lang="en-US" altLang="zh-CN" sz="3600" dirty="0"/>
              <a:t>,</a:t>
            </a:r>
            <a:r>
              <a:rPr lang="zh-CN" altLang="zh-CN" sz="3600" dirty="0"/>
              <a:t>…</a:t>
            </a:r>
            <a:r>
              <a:rPr lang="en-US" altLang="zh-CN" sz="3600" dirty="0"/>
              <a:t>,</a:t>
            </a:r>
            <a:r>
              <a:rPr lang="en-US" altLang="zh-CN" sz="3600" dirty="0" err="1"/>
              <a:t>v</a:t>
            </a:r>
            <a:r>
              <a:rPr lang="en-US" altLang="zh-CN" sz="3600" baseline="-25000" dirty="0" err="1"/>
              <a:t>n</a:t>
            </a:r>
            <a:r>
              <a:rPr lang="zh-CN" altLang="zh-CN" sz="3600" dirty="0"/>
              <a:t>和权</a:t>
            </a:r>
            <a:r>
              <a:rPr lang="en-US" altLang="zh-CN" sz="3600" dirty="0" err="1"/>
              <a:t>d</a:t>
            </a:r>
            <a:r>
              <a:rPr lang="en-US" altLang="zh-CN" sz="3600" baseline="-25000" dirty="0" err="1"/>
              <a:t>ij</a:t>
            </a:r>
            <a:r>
              <a:rPr lang="en-US" altLang="zh-CN" sz="3600" dirty="0"/>
              <a:t>)</a:t>
            </a:r>
            <a:endParaRPr lang="zh-CN" altLang="zh-CN" sz="3600" dirty="0"/>
          </a:p>
          <a:p>
            <a:pPr marL="0" indent="0">
              <a:buFont typeface="Arial" charset="0"/>
              <a:buNone/>
              <a:defRPr/>
            </a:pPr>
            <a:r>
              <a:rPr lang="en-US" altLang="zh-CN" sz="3600" dirty="0"/>
              <a:t>    </a:t>
            </a:r>
            <a:r>
              <a:rPr lang="zh-CN" altLang="zh-CN" sz="3600" dirty="0"/>
              <a:t>输入图</a:t>
            </a:r>
            <a:r>
              <a:rPr lang="en-US" altLang="zh-CN" sz="3600" dirty="0"/>
              <a:t>G</a:t>
            </a:r>
            <a:r>
              <a:rPr lang="zh-CN" altLang="zh-CN" sz="3600" dirty="0"/>
              <a:t>的边权矩阵</a:t>
            </a:r>
            <a:r>
              <a:rPr lang="en-US" altLang="zh-CN" sz="3600" dirty="0"/>
              <a:t>W</a:t>
            </a:r>
            <a:r>
              <a:rPr lang="zh-CN" altLang="zh-CN" sz="3600" dirty="0"/>
              <a:t>＝</a:t>
            </a:r>
            <a:r>
              <a:rPr lang="en-US" altLang="zh-CN" sz="3600" dirty="0"/>
              <a:t>(</a:t>
            </a:r>
            <a:r>
              <a:rPr lang="en-US" altLang="zh-CN" sz="3600" dirty="0" err="1"/>
              <a:t>d</a:t>
            </a:r>
            <a:r>
              <a:rPr lang="en-US" altLang="zh-CN" sz="3600" baseline="-25000" dirty="0" err="1"/>
              <a:t>ij</a:t>
            </a:r>
            <a:r>
              <a:rPr lang="en-US" altLang="zh-CN" sz="3600" dirty="0"/>
              <a:t>)</a:t>
            </a:r>
            <a:r>
              <a:rPr lang="en-US" altLang="zh-CN" sz="3600" baseline="-25000" dirty="0" err="1"/>
              <a:t>n×n</a:t>
            </a:r>
            <a:endParaRPr lang="zh-CN" altLang="zh-CN" sz="3600" dirty="0"/>
          </a:p>
          <a:p>
            <a:pPr marL="0" indent="0">
              <a:buFont typeface="Arial" charset="0"/>
              <a:buNone/>
              <a:defRPr/>
            </a:pPr>
            <a:r>
              <a:rPr lang="en-US" altLang="zh-CN" sz="3600" b="1" dirty="0"/>
              <a:t>    </a:t>
            </a:r>
            <a:r>
              <a:rPr lang="en-US" altLang="zh-CN" sz="3600" b="1" dirty="0">
                <a:solidFill>
                  <a:srgbClr val="00B050"/>
                </a:solidFill>
              </a:rPr>
              <a:t>begin</a:t>
            </a:r>
            <a:endParaRPr lang="zh-CN" altLang="zh-CN" sz="3600" dirty="0">
              <a:solidFill>
                <a:srgbClr val="00B050"/>
              </a:solidFill>
            </a:endParaRPr>
          </a:p>
          <a:p>
            <a:pPr marL="0" indent="0">
              <a:buFont typeface="Arial" charset="0"/>
              <a:buNone/>
              <a:defRPr/>
            </a:pPr>
            <a:r>
              <a:rPr lang="en-US" altLang="zh-CN" sz="3600" b="1" dirty="0"/>
              <a:t>    </a:t>
            </a:r>
            <a:r>
              <a:rPr lang="en-US" altLang="zh-CN" sz="3600" b="1" dirty="0">
                <a:solidFill>
                  <a:srgbClr val="00B0F0"/>
                </a:solidFill>
              </a:rPr>
              <a:t>for</a:t>
            </a:r>
            <a:r>
              <a:rPr lang="en-US" altLang="zh-CN" sz="3600" dirty="0"/>
              <a:t>  k</a:t>
            </a:r>
            <a:r>
              <a:rPr lang="zh-CN" altLang="zh-CN" sz="3600" dirty="0"/>
              <a:t>＝</a:t>
            </a:r>
            <a:r>
              <a:rPr lang="en-US" altLang="zh-CN" sz="3600" dirty="0"/>
              <a:t>1 </a:t>
            </a:r>
            <a:r>
              <a:rPr lang="en-US" altLang="zh-CN" sz="3600" b="1" dirty="0">
                <a:solidFill>
                  <a:srgbClr val="00B0F0"/>
                </a:solidFill>
              </a:rPr>
              <a:t>to</a:t>
            </a:r>
            <a:r>
              <a:rPr lang="en-US" altLang="zh-CN" sz="3600" dirty="0"/>
              <a:t> n</a:t>
            </a:r>
            <a:endParaRPr lang="zh-CN" altLang="zh-CN" sz="3600" dirty="0"/>
          </a:p>
          <a:p>
            <a:pPr marL="0" indent="0">
              <a:buFont typeface="Arial" charset="0"/>
              <a:buNone/>
              <a:defRPr/>
            </a:pPr>
            <a:r>
              <a:rPr lang="en-US" altLang="zh-CN" sz="3600" b="1" dirty="0"/>
              <a:t>           </a:t>
            </a:r>
            <a:r>
              <a:rPr lang="en-US" altLang="zh-CN" sz="3600" b="1" dirty="0">
                <a:solidFill>
                  <a:srgbClr val="0066FF"/>
                </a:solidFill>
              </a:rPr>
              <a:t>for</a:t>
            </a:r>
            <a:r>
              <a:rPr lang="en-US" altLang="zh-CN" sz="3600" dirty="0"/>
              <a:t>  </a:t>
            </a:r>
            <a:r>
              <a:rPr lang="en-US" altLang="zh-CN" sz="3600" dirty="0" err="1"/>
              <a:t>i</a:t>
            </a:r>
            <a:r>
              <a:rPr lang="zh-CN" altLang="zh-CN" sz="3600" dirty="0"/>
              <a:t>＝</a:t>
            </a:r>
            <a:r>
              <a:rPr lang="en-US" altLang="zh-CN" sz="3600" dirty="0"/>
              <a:t>1 </a:t>
            </a:r>
            <a:r>
              <a:rPr lang="en-US" altLang="zh-CN" sz="3600" b="1" dirty="0">
                <a:solidFill>
                  <a:srgbClr val="0066FF"/>
                </a:solidFill>
              </a:rPr>
              <a:t>to</a:t>
            </a:r>
            <a:r>
              <a:rPr lang="en-US" altLang="zh-CN" sz="3600" dirty="0"/>
              <a:t> n</a:t>
            </a:r>
            <a:endParaRPr lang="zh-CN" altLang="zh-CN" sz="3600" dirty="0"/>
          </a:p>
          <a:p>
            <a:pPr marL="0" indent="0">
              <a:buFont typeface="Arial" charset="0"/>
              <a:buNone/>
              <a:defRPr/>
            </a:pPr>
            <a:r>
              <a:rPr lang="en-US" altLang="zh-CN" sz="3600" b="1" dirty="0">
                <a:solidFill>
                  <a:srgbClr val="7030A0"/>
                </a:solidFill>
              </a:rPr>
              <a:t>                 for</a:t>
            </a:r>
            <a:r>
              <a:rPr lang="en-US" altLang="zh-CN" sz="3600" dirty="0">
                <a:solidFill>
                  <a:srgbClr val="7030A0"/>
                </a:solidFill>
              </a:rPr>
              <a:t>  </a:t>
            </a:r>
            <a:r>
              <a:rPr lang="en-US" altLang="zh-CN" sz="3600" dirty="0"/>
              <a:t>j</a:t>
            </a:r>
            <a:r>
              <a:rPr lang="zh-CN" altLang="zh-CN" sz="3600" dirty="0"/>
              <a:t>＝</a:t>
            </a:r>
            <a:r>
              <a:rPr lang="en-US" altLang="zh-CN" sz="3600" dirty="0"/>
              <a:t>1 </a:t>
            </a:r>
            <a:r>
              <a:rPr lang="en-US" altLang="zh-CN" sz="3600" b="1" dirty="0">
                <a:solidFill>
                  <a:srgbClr val="7030A0"/>
                </a:solidFill>
              </a:rPr>
              <a:t>to</a:t>
            </a:r>
            <a:r>
              <a:rPr lang="en-US" altLang="zh-CN" sz="3600" dirty="0"/>
              <a:t> n</a:t>
            </a:r>
            <a:endParaRPr lang="zh-CN" altLang="zh-CN" sz="3600" dirty="0"/>
          </a:p>
          <a:p>
            <a:pPr marL="0" indent="0">
              <a:buFont typeface="Arial" charset="0"/>
              <a:buNone/>
              <a:defRPr/>
            </a:pPr>
            <a:r>
              <a:rPr lang="en-US" altLang="zh-CN" sz="3600" dirty="0"/>
              <a:t>                 </a:t>
            </a:r>
            <a:r>
              <a:rPr lang="en-US" altLang="zh-CN" sz="3600" dirty="0" err="1"/>
              <a:t>d</a:t>
            </a:r>
            <a:r>
              <a:rPr lang="en-US" altLang="zh-CN" sz="3600" baseline="-25000" dirty="0" err="1"/>
              <a:t>ij</a:t>
            </a:r>
            <a:r>
              <a:rPr lang="zh-CN" altLang="zh-CN" sz="3600" dirty="0"/>
              <a:t>＝</a:t>
            </a:r>
            <a:r>
              <a:rPr lang="en-US" altLang="zh-CN" sz="3600" dirty="0"/>
              <a:t>min(</a:t>
            </a:r>
            <a:r>
              <a:rPr lang="en-US" altLang="zh-CN" sz="3600" dirty="0" err="1"/>
              <a:t>d</a:t>
            </a:r>
            <a:r>
              <a:rPr lang="en-US" altLang="zh-CN" sz="3600" baseline="-25000" dirty="0" err="1"/>
              <a:t>ij</a:t>
            </a:r>
            <a:r>
              <a:rPr lang="en-US" altLang="zh-CN" sz="3600" dirty="0" err="1"/>
              <a:t>,d</a:t>
            </a:r>
            <a:r>
              <a:rPr lang="en-US" altLang="zh-CN" sz="3600" baseline="-25000" dirty="0" err="1"/>
              <a:t>ik</a:t>
            </a:r>
            <a:r>
              <a:rPr lang="zh-CN" altLang="zh-CN" sz="3600" dirty="0"/>
              <a:t>＋</a:t>
            </a:r>
            <a:r>
              <a:rPr lang="en-US" altLang="zh-CN" sz="3600" dirty="0" err="1"/>
              <a:t>d</a:t>
            </a:r>
            <a:r>
              <a:rPr lang="en-US" altLang="zh-CN" sz="3600" baseline="-25000" dirty="0" err="1"/>
              <a:t>kj</a:t>
            </a:r>
            <a:r>
              <a:rPr lang="en-US" altLang="zh-CN" sz="3600" dirty="0"/>
              <a:t>)</a:t>
            </a:r>
            <a:endParaRPr lang="zh-CN" altLang="zh-CN" sz="3600" dirty="0"/>
          </a:p>
          <a:p>
            <a:pPr marL="0" indent="0">
              <a:buFont typeface="Arial" charset="0"/>
              <a:buNone/>
              <a:defRPr/>
            </a:pPr>
            <a:r>
              <a:rPr lang="en-US" altLang="zh-CN" sz="3600" b="1" dirty="0"/>
              <a:t>    </a:t>
            </a:r>
            <a:r>
              <a:rPr lang="en-US" altLang="zh-CN" sz="3600" b="1" dirty="0">
                <a:solidFill>
                  <a:srgbClr val="00B050"/>
                </a:solidFill>
              </a:rPr>
              <a:t>end</a:t>
            </a:r>
            <a:r>
              <a:rPr lang="en-US" altLang="zh-CN" sz="3600" dirty="0"/>
              <a:t>(</a:t>
            </a:r>
            <a:r>
              <a:rPr lang="en-US" altLang="zh-CN" sz="3600" dirty="0" err="1"/>
              <a:t>d</a:t>
            </a:r>
            <a:r>
              <a:rPr lang="en-US" altLang="zh-CN" sz="3600" baseline="-25000" dirty="0" err="1"/>
              <a:t>ij</a:t>
            </a:r>
            <a:r>
              <a:rPr lang="zh-CN" altLang="zh-CN" sz="3600" dirty="0"/>
              <a:t>＝从顶点</a:t>
            </a:r>
            <a:r>
              <a:rPr lang="en-US" altLang="zh-CN" sz="3600" dirty="0"/>
              <a:t>v</a:t>
            </a:r>
            <a:r>
              <a:rPr lang="en-US" altLang="zh-CN" sz="3600" baseline="-25000" dirty="0"/>
              <a:t>i</a:t>
            </a:r>
            <a:r>
              <a:rPr lang="en-US" altLang="zh-CN" sz="3600" dirty="0"/>
              <a:t> </a:t>
            </a:r>
            <a:r>
              <a:rPr lang="zh-CN" altLang="zh-CN" sz="3600" dirty="0"/>
              <a:t>到</a:t>
            </a:r>
            <a:r>
              <a:rPr lang="en-US" altLang="zh-CN" sz="3600" dirty="0" err="1"/>
              <a:t>v</a:t>
            </a:r>
            <a:r>
              <a:rPr lang="en-US" altLang="zh-CN" sz="3600" baseline="-25000" dirty="0" err="1"/>
              <a:t>j</a:t>
            </a:r>
            <a:r>
              <a:rPr lang="zh-CN" altLang="zh-CN" sz="3600" dirty="0"/>
              <a:t>的最短路的长度</a:t>
            </a:r>
            <a:r>
              <a:rPr lang="en-US" altLang="zh-CN" sz="3600" dirty="0"/>
              <a:t>)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5">
            <a:extLst>
              <a:ext uri="{FF2B5EF4-FFF2-40B4-BE49-F238E27FC236}">
                <a16:creationId xmlns:a16="http://schemas.microsoft.com/office/drawing/2014/main" id="{B3878E97-1764-5FC0-2E89-1E800AEF6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6454775"/>
            <a:ext cx="3384550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合肥工业大学 计算机与信息学院 </a:t>
            </a:r>
          </a:p>
        </p:txBody>
      </p:sp>
      <p:sp>
        <p:nvSpPr>
          <p:cNvPr id="17411" name="标题 12">
            <a:extLst>
              <a:ext uri="{FF2B5EF4-FFF2-40B4-BE49-F238E27FC236}">
                <a16:creationId xmlns:a16="http://schemas.microsoft.com/office/drawing/2014/main" id="{D7E71D51-79BF-83BE-F3EB-4A7AA90D2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" y="74613"/>
            <a:ext cx="6761163" cy="762000"/>
          </a:xfrm>
        </p:spPr>
        <p:txBody>
          <a:bodyPr/>
          <a:lstStyle/>
          <a:p>
            <a:pPr eaLnBrk="1" hangingPunct="1"/>
            <a:r>
              <a:rPr lang="en-US" altLang="zh-CN" dirty="0"/>
              <a:t>7.4.4  </a:t>
            </a:r>
            <a:r>
              <a:rPr lang="zh-CN" altLang="en-US" dirty="0"/>
              <a:t>任两结点间的最短路</a:t>
            </a:r>
          </a:p>
        </p:txBody>
      </p:sp>
      <p:sp>
        <p:nvSpPr>
          <p:cNvPr id="17412" name="内容占位符 13">
            <a:extLst>
              <a:ext uri="{FF2B5EF4-FFF2-40B4-BE49-F238E27FC236}">
                <a16:creationId xmlns:a16="http://schemas.microsoft.com/office/drawing/2014/main" id="{A8A40671-5ACC-20D7-1FBE-CBC78F5F9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" y="981075"/>
            <a:ext cx="8928100" cy="547370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zh-CN" b="1" dirty="0">
                <a:solidFill>
                  <a:srgbClr val="FF0000"/>
                </a:solidFill>
              </a:rPr>
              <a:t>例</a:t>
            </a:r>
            <a:r>
              <a:rPr lang="en-US" altLang="zh-CN" b="1" dirty="0">
                <a:solidFill>
                  <a:srgbClr val="FF0000"/>
                </a:solidFill>
              </a:rPr>
              <a:t>7.4.4</a:t>
            </a:r>
            <a:r>
              <a:rPr lang="zh-CN" altLang="zh-CN" dirty="0"/>
              <a:t>求</a:t>
            </a:r>
            <a:r>
              <a:rPr lang="zh-CN" altLang="en-US" dirty="0"/>
              <a:t>下</a:t>
            </a:r>
            <a:r>
              <a:rPr lang="zh-CN" altLang="zh-CN" dirty="0"/>
              <a:t>图所示图</a:t>
            </a:r>
            <a:r>
              <a:rPr lang="en-US" altLang="zh-CN" dirty="0"/>
              <a:t>D</a:t>
            </a:r>
            <a:r>
              <a:rPr lang="zh-CN" altLang="zh-CN" dirty="0"/>
              <a:t>的任意两顶点间最短有向路的长度。</a:t>
            </a:r>
            <a:endParaRPr lang="en-US" altLang="zh-CN" dirty="0"/>
          </a:p>
          <a:p>
            <a:pPr eaLnBrk="1" hangingPunct="1"/>
            <a:endParaRPr lang="zh-CN" altLang="en-US" dirty="0"/>
          </a:p>
        </p:txBody>
      </p:sp>
      <p:sp>
        <p:nvSpPr>
          <p:cNvPr id="17413" name="Rectangle 46">
            <a:extLst>
              <a:ext uri="{FF2B5EF4-FFF2-40B4-BE49-F238E27FC236}">
                <a16:creationId xmlns:a16="http://schemas.microsoft.com/office/drawing/2014/main" id="{8D1C5110-0795-B8E2-A8FB-4233B692B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7414" name="Group 5">
            <a:extLst>
              <a:ext uri="{FF2B5EF4-FFF2-40B4-BE49-F238E27FC236}">
                <a16:creationId xmlns:a16="http://schemas.microsoft.com/office/drawing/2014/main" id="{C12C05B9-B9A6-E67D-87F3-FD4850BD74A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16013" y="2276475"/>
            <a:ext cx="6515100" cy="4059238"/>
            <a:chOff x="3780" y="10509"/>
            <a:chExt cx="5130" cy="3195"/>
          </a:xfrm>
        </p:grpSpPr>
        <p:sp>
          <p:nvSpPr>
            <p:cNvPr id="17415" name="AutoShape 45">
              <a:extLst>
                <a:ext uri="{FF2B5EF4-FFF2-40B4-BE49-F238E27FC236}">
                  <a16:creationId xmlns:a16="http://schemas.microsoft.com/office/drawing/2014/main" id="{E33E4F51-E996-F464-F2E0-BEBC8496ADD1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780" y="10509"/>
              <a:ext cx="5080" cy="3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16" name="Text Box 44">
              <a:extLst>
                <a:ext uri="{FF2B5EF4-FFF2-40B4-BE49-F238E27FC236}">
                  <a16:creationId xmlns:a16="http://schemas.microsoft.com/office/drawing/2014/main" id="{62227F08-F259-52DA-69CD-6B26BEB8BC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0" y="11595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3200"/>
            </a:p>
          </p:txBody>
        </p:sp>
        <p:sp>
          <p:nvSpPr>
            <p:cNvPr id="17417" name="Text Box 43">
              <a:extLst>
                <a:ext uri="{FF2B5EF4-FFF2-40B4-BE49-F238E27FC236}">
                  <a16:creationId xmlns:a16="http://schemas.microsoft.com/office/drawing/2014/main" id="{02DE8A13-15B7-941E-3145-89B40196A7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82" y="12093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3200"/>
            </a:p>
          </p:txBody>
        </p:sp>
        <p:sp>
          <p:nvSpPr>
            <p:cNvPr id="17418" name="Text Box 42">
              <a:extLst>
                <a:ext uri="{FF2B5EF4-FFF2-40B4-BE49-F238E27FC236}">
                  <a16:creationId xmlns:a16="http://schemas.microsoft.com/office/drawing/2014/main" id="{898636B7-592B-68B4-1132-5A78029439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39" y="11356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sz="3200"/>
            </a:p>
          </p:txBody>
        </p:sp>
        <p:sp>
          <p:nvSpPr>
            <p:cNvPr id="17419" name="Text Box 41">
              <a:extLst>
                <a:ext uri="{FF2B5EF4-FFF2-40B4-BE49-F238E27FC236}">
                  <a16:creationId xmlns:a16="http://schemas.microsoft.com/office/drawing/2014/main" id="{D377D05D-F4C4-1F2D-D95F-F5E9328EA5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86" y="10849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 sz="3200"/>
            </a:p>
          </p:txBody>
        </p:sp>
        <p:sp>
          <p:nvSpPr>
            <p:cNvPr id="17420" name="Text Box 40">
              <a:extLst>
                <a:ext uri="{FF2B5EF4-FFF2-40B4-BE49-F238E27FC236}">
                  <a16:creationId xmlns:a16="http://schemas.microsoft.com/office/drawing/2014/main" id="{BA2A6FBB-5E76-C0FD-C4B0-7AB0011D09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8" y="11243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3200"/>
            </a:p>
          </p:txBody>
        </p:sp>
        <p:sp>
          <p:nvSpPr>
            <p:cNvPr id="17421" name="Text Box 39">
              <a:extLst>
                <a:ext uri="{FF2B5EF4-FFF2-40B4-BE49-F238E27FC236}">
                  <a16:creationId xmlns:a16="http://schemas.microsoft.com/office/drawing/2014/main" id="{C665E752-D27B-5F38-1747-BBD504E18C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12" y="11717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3200"/>
            </a:p>
          </p:txBody>
        </p:sp>
        <p:sp>
          <p:nvSpPr>
            <p:cNvPr id="17422" name="Text Box 38">
              <a:extLst>
                <a:ext uri="{FF2B5EF4-FFF2-40B4-BE49-F238E27FC236}">
                  <a16:creationId xmlns:a16="http://schemas.microsoft.com/office/drawing/2014/main" id="{A5C14871-378A-0150-9B48-C94CAC7D25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5" y="12389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3200"/>
            </a:p>
          </p:txBody>
        </p:sp>
        <p:sp>
          <p:nvSpPr>
            <p:cNvPr id="17423" name="Text Box 37">
              <a:extLst>
                <a:ext uri="{FF2B5EF4-FFF2-40B4-BE49-F238E27FC236}">
                  <a16:creationId xmlns:a16="http://schemas.microsoft.com/office/drawing/2014/main" id="{652E965B-A8AD-EEC3-D20E-8DB98A8979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8" y="11822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sz="3200"/>
            </a:p>
          </p:txBody>
        </p:sp>
        <p:sp>
          <p:nvSpPr>
            <p:cNvPr id="17424" name="Text Box 36">
              <a:extLst>
                <a:ext uri="{FF2B5EF4-FFF2-40B4-BE49-F238E27FC236}">
                  <a16:creationId xmlns:a16="http://schemas.microsoft.com/office/drawing/2014/main" id="{4F524359-F5E1-2C16-821F-6F3091D78B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1" y="12887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3200"/>
            </a:p>
          </p:txBody>
        </p:sp>
        <p:sp>
          <p:nvSpPr>
            <p:cNvPr id="17425" name="Text Box 35">
              <a:extLst>
                <a:ext uri="{FF2B5EF4-FFF2-40B4-BE49-F238E27FC236}">
                  <a16:creationId xmlns:a16="http://schemas.microsoft.com/office/drawing/2014/main" id="{9D01A5D9-85CB-AE4C-24D5-1EB9FA42FD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33" y="12129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US" altLang="zh-CN" sz="3200"/>
            </a:p>
          </p:txBody>
        </p:sp>
        <p:sp>
          <p:nvSpPr>
            <p:cNvPr id="17426" name="Text Box 34">
              <a:extLst>
                <a:ext uri="{FF2B5EF4-FFF2-40B4-BE49-F238E27FC236}">
                  <a16:creationId xmlns:a16="http://schemas.microsoft.com/office/drawing/2014/main" id="{73957EFA-7ED3-395E-2132-5857318E62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8" y="11708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3200"/>
            </a:p>
          </p:txBody>
        </p:sp>
        <p:sp>
          <p:nvSpPr>
            <p:cNvPr id="17427" name="Text Box 33">
              <a:extLst>
                <a:ext uri="{FF2B5EF4-FFF2-40B4-BE49-F238E27FC236}">
                  <a16:creationId xmlns:a16="http://schemas.microsoft.com/office/drawing/2014/main" id="{7B11F3C3-AC8B-EC90-0EA3-FADAAA36A4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53" y="12955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altLang="zh-CN" sz="3200"/>
            </a:p>
          </p:txBody>
        </p:sp>
        <p:sp>
          <p:nvSpPr>
            <p:cNvPr id="17428" name="Text Box 32">
              <a:extLst>
                <a:ext uri="{FF2B5EF4-FFF2-40B4-BE49-F238E27FC236}">
                  <a16:creationId xmlns:a16="http://schemas.microsoft.com/office/drawing/2014/main" id="{EB55CB90-AAA7-DC32-3B6D-8B5D7C9FC6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55" y="12943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sz="3200"/>
            </a:p>
          </p:txBody>
        </p:sp>
        <p:sp>
          <p:nvSpPr>
            <p:cNvPr id="17429" name="Text Box 31">
              <a:extLst>
                <a:ext uri="{FF2B5EF4-FFF2-40B4-BE49-F238E27FC236}">
                  <a16:creationId xmlns:a16="http://schemas.microsoft.com/office/drawing/2014/main" id="{37FC7055-434C-6557-5DF8-46CAFE7475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58" y="10765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en-US" altLang="zh-CN" sz="3200"/>
            </a:p>
          </p:txBody>
        </p:sp>
        <p:sp>
          <p:nvSpPr>
            <p:cNvPr id="17430" name="Text Box 30">
              <a:extLst>
                <a:ext uri="{FF2B5EF4-FFF2-40B4-BE49-F238E27FC236}">
                  <a16:creationId xmlns:a16="http://schemas.microsoft.com/office/drawing/2014/main" id="{0CD3A4DF-9D81-BFEF-577C-BE1F1D77D6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27" y="10721"/>
              <a:ext cx="742" cy="7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 sz="3200"/>
            </a:p>
          </p:txBody>
        </p:sp>
        <p:sp>
          <p:nvSpPr>
            <p:cNvPr id="17431" name="Oval 29">
              <a:extLst>
                <a:ext uri="{FF2B5EF4-FFF2-40B4-BE49-F238E27FC236}">
                  <a16:creationId xmlns:a16="http://schemas.microsoft.com/office/drawing/2014/main" id="{A2365AE0-C98C-79A6-98E6-5E631F8FD0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1850"/>
              <a:ext cx="254" cy="25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432" name="Oval 28">
              <a:extLst>
                <a:ext uri="{FF2B5EF4-FFF2-40B4-BE49-F238E27FC236}">
                  <a16:creationId xmlns:a16="http://schemas.microsoft.com/office/drawing/2014/main" id="{A883B111-7EAC-BA09-3499-EB1841E8E7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0" y="11093"/>
              <a:ext cx="255" cy="25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433" name="Oval 27">
              <a:extLst>
                <a:ext uri="{FF2B5EF4-FFF2-40B4-BE49-F238E27FC236}">
                  <a16:creationId xmlns:a16="http://schemas.microsoft.com/office/drawing/2014/main" id="{BA9F3F69-CC98-3DE8-024D-0A7CE0FABC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0" y="12826"/>
              <a:ext cx="255" cy="25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434" name="Oval 26">
              <a:extLst>
                <a:ext uri="{FF2B5EF4-FFF2-40B4-BE49-F238E27FC236}">
                  <a16:creationId xmlns:a16="http://schemas.microsoft.com/office/drawing/2014/main" id="{3B8110FF-55A6-0C11-C9A2-6B83022753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3" y="12824"/>
              <a:ext cx="255" cy="25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435" name="Oval 25">
              <a:extLst>
                <a:ext uri="{FF2B5EF4-FFF2-40B4-BE49-F238E27FC236}">
                  <a16:creationId xmlns:a16="http://schemas.microsoft.com/office/drawing/2014/main" id="{0605D43E-91F5-AC42-5676-64953958D6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73" y="11152"/>
              <a:ext cx="255" cy="257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436" name="Oval 24">
              <a:extLst>
                <a:ext uri="{FF2B5EF4-FFF2-40B4-BE49-F238E27FC236}">
                  <a16:creationId xmlns:a16="http://schemas.microsoft.com/office/drawing/2014/main" id="{9F303276-ADC6-F814-1C0F-33987A7C7B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3" y="11939"/>
              <a:ext cx="255" cy="25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cxnSp>
          <p:nvCxnSpPr>
            <p:cNvPr id="17437" name="AutoShape 23">
              <a:extLst>
                <a:ext uri="{FF2B5EF4-FFF2-40B4-BE49-F238E27FC236}">
                  <a16:creationId xmlns:a16="http://schemas.microsoft.com/office/drawing/2014/main" id="{2E690795-B928-7CAB-F78C-85B4FABA009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925" y="11220"/>
              <a:ext cx="2148" cy="6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38" name="AutoShape 22">
              <a:extLst>
                <a:ext uri="{FF2B5EF4-FFF2-40B4-BE49-F238E27FC236}">
                  <a16:creationId xmlns:a16="http://schemas.microsoft.com/office/drawing/2014/main" id="{5A25FADD-04D4-3267-492A-504BCE7267E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798" y="11347"/>
              <a:ext cx="1" cy="147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39" name="AutoShape 21">
              <a:extLst>
                <a:ext uri="{FF2B5EF4-FFF2-40B4-BE49-F238E27FC236}">
                  <a16:creationId xmlns:a16="http://schemas.microsoft.com/office/drawing/2014/main" id="{A768B3E8-DE29-9AA5-090C-FA354493D30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201" y="11409"/>
              <a:ext cx="1" cy="141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40" name="AutoShape 20">
              <a:extLst>
                <a:ext uri="{FF2B5EF4-FFF2-40B4-BE49-F238E27FC236}">
                  <a16:creationId xmlns:a16="http://schemas.microsoft.com/office/drawing/2014/main" id="{4337D55D-F05E-8207-17A6-089C1F46C14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925" y="12953"/>
              <a:ext cx="2148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41" name="AutoShape 19">
              <a:extLst>
                <a:ext uri="{FF2B5EF4-FFF2-40B4-BE49-F238E27FC236}">
                  <a16:creationId xmlns:a16="http://schemas.microsoft.com/office/drawing/2014/main" id="{4EAEA78D-7519-84DE-23F5-CAEC994A30A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181" y="11371"/>
              <a:ext cx="929" cy="60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42" name="AutoShape 18">
              <a:extLst>
                <a:ext uri="{FF2B5EF4-FFF2-40B4-BE49-F238E27FC236}">
                  <a16:creationId xmlns:a16="http://schemas.microsoft.com/office/drawing/2014/main" id="{EFD1BBF9-8200-3CC7-48CF-50BC15E4247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888" y="12158"/>
              <a:ext cx="1112" cy="70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43" name="AutoShape 17">
              <a:extLst>
                <a:ext uri="{FF2B5EF4-FFF2-40B4-BE49-F238E27FC236}">
                  <a16:creationId xmlns:a16="http://schemas.microsoft.com/office/drawing/2014/main" id="{EA5C5D83-6B09-3B75-C694-2EF691507C6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888" y="11310"/>
              <a:ext cx="1112" cy="66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44" name="AutoShape 16">
              <a:extLst>
                <a:ext uri="{FF2B5EF4-FFF2-40B4-BE49-F238E27FC236}">
                  <a16:creationId xmlns:a16="http://schemas.microsoft.com/office/drawing/2014/main" id="{130FE934-5DB0-AE55-09EF-4D573F5E629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447" y="11310"/>
              <a:ext cx="1260" cy="57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45" name="AutoShape 15">
              <a:extLst>
                <a:ext uri="{FF2B5EF4-FFF2-40B4-BE49-F238E27FC236}">
                  <a16:creationId xmlns:a16="http://schemas.microsoft.com/office/drawing/2014/main" id="{F74C019D-ABD8-C3D4-F921-409588055DD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447" y="12068"/>
              <a:ext cx="1260" cy="79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46" name="AutoShape 14">
              <a:extLst>
                <a:ext uri="{FF2B5EF4-FFF2-40B4-BE49-F238E27FC236}">
                  <a16:creationId xmlns:a16="http://schemas.microsoft.com/office/drawing/2014/main" id="{948AB82D-2D49-D244-5788-A8ABA9DF5E2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830" y="11656"/>
              <a:ext cx="105" cy="6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47" name="AutoShape 13">
              <a:extLst>
                <a:ext uri="{FF2B5EF4-FFF2-40B4-BE49-F238E27FC236}">
                  <a16:creationId xmlns:a16="http://schemas.microsoft.com/office/drawing/2014/main" id="{445FD51D-BCEF-8127-971D-D473F246F20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725" y="12262"/>
              <a:ext cx="198" cy="10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48" name="AutoShape 12">
              <a:extLst>
                <a:ext uri="{FF2B5EF4-FFF2-40B4-BE49-F238E27FC236}">
                  <a16:creationId xmlns:a16="http://schemas.microsoft.com/office/drawing/2014/main" id="{894B211E-AFEB-2BA5-9FA2-D193A5A9D3B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180" y="11491"/>
              <a:ext cx="60" cy="3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49" name="AutoShape 11">
              <a:extLst>
                <a:ext uri="{FF2B5EF4-FFF2-40B4-BE49-F238E27FC236}">
                  <a16:creationId xmlns:a16="http://schemas.microsoft.com/office/drawing/2014/main" id="{3364959A-E7D9-541E-8918-40105B62C96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799" y="11850"/>
              <a:ext cx="0" cy="3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50" name="AutoShape 10">
              <a:extLst>
                <a:ext uri="{FF2B5EF4-FFF2-40B4-BE49-F238E27FC236}">
                  <a16:creationId xmlns:a16="http://schemas.microsoft.com/office/drawing/2014/main" id="{23123C22-BDC2-568E-85F2-F6DDF3D885A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345" y="12496"/>
              <a:ext cx="120" cy="7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51" name="AutoShape 9">
              <a:extLst>
                <a:ext uri="{FF2B5EF4-FFF2-40B4-BE49-F238E27FC236}">
                  <a16:creationId xmlns:a16="http://schemas.microsoft.com/office/drawing/2014/main" id="{639D22F6-5D7D-2D4A-3335-6B5DE57AEF5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63" y="11238"/>
              <a:ext cx="117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52" name="AutoShape 8">
              <a:extLst>
                <a:ext uri="{FF2B5EF4-FFF2-40B4-BE49-F238E27FC236}">
                  <a16:creationId xmlns:a16="http://schemas.microsoft.com/office/drawing/2014/main" id="{58D11D83-DCB1-C746-1139-02840B0ABFC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7368" y="11740"/>
              <a:ext cx="165" cy="13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53" name="AutoShape 7">
              <a:extLst>
                <a:ext uri="{FF2B5EF4-FFF2-40B4-BE49-F238E27FC236}">
                  <a16:creationId xmlns:a16="http://schemas.microsoft.com/office/drawing/2014/main" id="{DDD6D861-5420-BD54-E5A8-44ADE709F93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202" y="12158"/>
              <a:ext cx="0" cy="37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7454" name="AutoShape 6">
              <a:extLst>
                <a:ext uri="{FF2B5EF4-FFF2-40B4-BE49-F238E27FC236}">
                  <a16:creationId xmlns:a16="http://schemas.microsoft.com/office/drawing/2014/main" id="{9C4043F0-147F-4FBF-8C47-864F6B7B45A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963" y="12954"/>
              <a:ext cx="117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5">
            <a:extLst>
              <a:ext uri="{FF2B5EF4-FFF2-40B4-BE49-F238E27FC236}">
                <a16:creationId xmlns:a16="http://schemas.microsoft.com/office/drawing/2014/main" id="{A2C6381A-E9FD-47BD-A1EA-0ACE631D2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6454775"/>
            <a:ext cx="3384550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合肥工业大学 计算机与信息学院 </a:t>
            </a:r>
          </a:p>
        </p:txBody>
      </p:sp>
      <p:sp>
        <p:nvSpPr>
          <p:cNvPr id="18435" name="标题 12">
            <a:extLst>
              <a:ext uri="{FF2B5EF4-FFF2-40B4-BE49-F238E27FC236}">
                <a16:creationId xmlns:a16="http://schemas.microsoft.com/office/drawing/2014/main" id="{84507310-5EA5-02BE-0DD2-C0107963F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" y="74613"/>
            <a:ext cx="6761163" cy="762000"/>
          </a:xfrm>
        </p:spPr>
        <p:txBody>
          <a:bodyPr/>
          <a:lstStyle/>
          <a:p>
            <a:pPr eaLnBrk="1" hangingPunct="1"/>
            <a:r>
              <a:rPr lang="en-US" altLang="zh-CN" dirty="0"/>
              <a:t>7.4.4  </a:t>
            </a:r>
            <a:r>
              <a:rPr lang="zh-CN" altLang="en-US" dirty="0"/>
              <a:t>任两结点间的最短路</a:t>
            </a:r>
          </a:p>
        </p:txBody>
      </p:sp>
      <p:sp>
        <p:nvSpPr>
          <p:cNvPr id="19460" name="内容占位符 13">
            <a:extLst>
              <a:ext uri="{FF2B5EF4-FFF2-40B4-BE49-F238E27FC236}">
                <a16:creationId xmlns:a16="http://schemas.microsoft.com/office/drawing/2014/main" id="{A51C358C-3AAE-D15D-35B9-9BFF73D8A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" y="981075"/>
            <a:ext cx="8928100" cy="54737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Arial" charset="0"/>
              <a:buChar char="•"/>
              <a:defRPr/>
            </a:pPr>
            <a:r>
              <a:rPr lang="zh-CN" altLang="zh-CN" b="1" dirty="0">
                <a:solidFill>
                  <a:srgbClr val="FF0000"/>
                </a:solidFill>
              </a:rPr>
              <a:t>解</a:t>
            </a:r>
            <a:r>
              <a:rPr lang="zh-CN" altLang="zh-CN" dirty="0"/>
              <a:t> 图</a:t>
            </a:r>
            <a:r>
              <a:rPr lang="en-US" altLang="zh-CN" dirty="0"/>
              <a:t>D</a:t>
            </a:r>
            <a:r>
              <a:rPr lang="zh-CN" altLang="zh-CN" dirty="0"/>
              <a:t>的边权矩阵</a:t>
            </a:r>
            <a:r>
              <a:rPr lang="en-US" altLang="zh-CN" dirty="0"/>
              <a:t>W</a:t>
            </a:r>
            <a:r>
              <a:rPr lang="zh-CN" altLang="zh-CN" dirty="0"/>
              <a:t>（结点顺序为</a:t>
            </a:r>
            <a:r>
              <a:rPr lang="en-US" altLang="zh-CN" dirty="0" err="1"/>
              <a:t>a,b,c,d,e,f</a:t>
            </a:r>
            <a:r>
              <a:rPr lang="zh-CN" altLang="zh-CN" dirty="0"/>
              <a:t>）</a:t>
            </a:r>
            <a:endParaRPr lang="en-US" altLang="zh-CN" dirty="0"/>
          </a:p>
          <a:p>
            <a:pPr eaLnBrk="1" hangingPunct="1">
              <a:lnSpc>
                <a:spcPct val="150000"/>
              </a:lnSpc>
              <a:buFont typeface="Arial" charset="0"/>
              <a:buChar char="•"/>
              <a:defRPr/>
            </a:pPr>
            <a:endParaRPr lang="en-US" altLang="zh-CN" dirty="0"/>
          </a:p>
          <a:p>
            <a:pPr marL="0" indent="0" eaLnBrk="1" hangingPunct="1">
              <a:lnSpc>
                <a:spcPct val="150000"/>
              </a:lnSpc>
              <a:buFont typeface="Arial" charset="0"/>
              <a:buNone/>
              <a:defRPr/>
            </a:pPr>
            <a:r>
              <a:rPr lang="en-US" altLang="zh-CN" dirty="0"/>
              <a:t>          </a:t>
            </a:r>
          </a:p>
          <a:p>
            <a:pPr marL="0" indent="0" eaLnBrk="1" hangingPunct="1">
              <a:lnSpc>
                <a:spcPct val="150000"/>
              </a:lnSpc>
              <a:buFont typeface="Arial" charset="0"/>
              <a:buNone/>
              <a:defRPr/>
            </a:pPr>
            <a:r>
              <a:rPr lang="en-US" altLang="zh-CN" dirty="0"/>
              <a:t>           W</a:t>
            </a:r>
            <a:r>
              <a:rPr lang="zh-CN" altLang="zh-CN" dirty="0"/>
              <a:t>＝</a:t>
            </a:r>
            <a:endParaRPr lang="en-US" altLang="zh-CN" dirty="0"/>
          </a:p>
          <a:p>
            <a:pPr eaLnBrk="1" hangingPunct="1">
              <a:buFont typeface="Arial" charset="0"/>
              <a:buChar char="•"/>
              <a:defRPr/>
            </a:pPr>
            <a:endParaRPr lang="zh-CN" altLang="en-US" dirty="0"/>
          </a:p>
        </p:txBody>
      </p:sp>
      <p:sp>
        <p:nvSpPr>
          <p:cNvPr id="18437" name="Rectangle 10">
            <a:extLst>
              <a:ext uri="{FF2B5EF4-FFF2-40B4-BE49-F238E27FC236}">
                <a16:creationId xmlns:a16="http://schemas.microsoft.com/office/drawing/2014/main" id="{F4F00D55-5680-9E8F-171C-F553B3DA8A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8438" name="对象 4">
            <a:extLst>
              <a:ext uri="{FF2B5EF4-FFF2-40B4-BE49-F238E27FC236}">
                <a16:creationId xmlns:a16="http://schemas.microsoft.com/office/drawing/2014/main" id="{80F2F640-5988-C393-E1E1-7ADC0B6EE8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2060575"/>
          <a:ext cx="4321175" cy="3703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00200" imgH="1371600" progId="Equation.DSMT4">
                  <p:embed/>
                </p:oleObj>
              </mc:Choice>
              <mc:Fallback>
                <p:oleObj name="Equation" r:id="rId2" imgW="1600200" imgH="13716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2060575"/>
                        <a:ext cx="4321175" cy="3703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5">
            <a:extLst>
              <a:ext uri="{FF2B5EF4-FFF2-40B4-BE49-F238E27FC236}">
                <a16:creationId xmlns:a16="http://schemas.microsoft.com/office/drawing/2014/main" id="{A20CDBB7-E06A-221F-2A41-B517FE878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6454775"/>
            <a:ext cx="3384550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合肥工业大学 计算机与信息学院 </a:t>
            </a:r>
          </a:p>
        </p:txBody>
      </p:sp>
      <p:sp>
        <p:nvSpPr>
          <p:cNvPr id="19459" name="标题 12">
            <a:extLst>
              <a:ext uri="{FF2B5EF4-FFF2-40B4-BE49-F238E27FC236}">
                <a16:creationId xmlns:a16="http://schemas.microsoft.com/office/drawing/2014/main" id="{B0D09E50-23FE-4B18-7FFB-5742E0BC6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" y="74613"/>
            <a:ext cx="6761163" cy="762000"/>
          </a:xfrm>
        </p:spPr>
        <p:txBody>
          <a:bodyPr/>
          <a:lstStyle/>
          <a:p>
            <a:pPr eaLnBrk="1" hangingPunct="1"/>
            <a:r>
              <a:rPr lang="en-US" altLang="zh-CN" dirty="0"/>
              <a:t>7.4.4  </a:t>
            </a:r>
            <a:r>
              <a:rPr lang="zh-CN" altLang="en-US" dirty="0"/>
              <a:t>任两结点间的最短路</a:t>
            </a:r>
          </a:p>
        </p:txBody>
      </p:sp>
      <p:sp>
        <p:nvSpPr>
          <p:cNvPr id="20484" name="内容占位符 13">
            <a:extLst>
              <a:ext uri="{FF2B5EF4-FFF2-40B4-BE49-F238E27FC236}">
                <a16:creationId xmlns:a16="http://schemas.microsoft.com/office/drawing/2014/main" id="{F77A8BC8-4192-6942-943B-389685375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" y="981075"/>
            <a:ext cx="8928100" cy="54737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Arial" charset="0"/>
              <a:buChar char="•"/>
              <a:defRPr/>
            </a:pPr>
            <a:r>
              <a:rPr lang="en-US" altLang="zh-CN" dirty="0">
                <a:solidFill>
                  <a:srgbClr val="FF0000"/>
                </a:solidFill>
              </a:rPr>
              <a:t>k</a:t>
            </a:r>
            <a:r>
              <a:rPr lang="zh-CN" altLang="zh-CN" dirty="0">
                <a:solidFill>
                  <a:srgbClr val="FF0000"/>
                </a:solidFill>
              </a:rPr>
              <a:t>＝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zh-CN" dirty="0">
                <a:solidFill>
                  <a:srgbClr val="FF0000"/>
                </a:solidFill>
              </a:rPr>
              <a:t>时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buFont typeface="Arial" charset="0"/>
              <a:buChar char="•"/>
              <a:defRPr/>
            </a:pPr>
            <a:endParaRPr lang="en-US" altLang="zh-CN" dirty="0"/>
          </a:p>
          <a:p>
            <a:pPr eaLnBrk="1" hangingPunct="1">
              <a:lnSpc>
                <a:spcPct val="150000"/>
              </a:lnSpc>
              <a:buFont typeface="Arial" charset="0"/>
              <a:buChar char="•"/>
              <a:defRPr/>
            </a:pPr>
            <a:endParaRPr lang="en-US" altLang="zh-CN" dirty="0"/>
          </a:p>
          <a:p>
            <a:pPr marL="0" indent="0" eaLnBrk="1" hangingPunct="1">
              <a:lnSpc>
                <a:spcPct val="150000"/>
              </a:lnSpc>
              <a:buFont typeface="Arial" charset="0"/>
              <a:buNone/>
              <a:defRPr/>
            </a:pPr>
            <a:r>
              <a:rPr lang="en-US" altLang="zh-CN" dirty="0"/>
              <a:t>           W</a:t>
            </a:r>
            <a:r>
              <a:rPr lang="zh-CN" altLang="zh-CN" dirty="0"/>
              <a:t>＝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9461" name="Rectangle 15">
            <a:extLst>
              <a:ext uri="{FF2B5EF4-FFF2-40B4-BE49-F238E27FC236}">
                <a16:creationId xmlns:a16="http://schemas.microsoft.com/office/drawing/2014/main" id="{C7FB5252-672A-E82C-22E8-155B801F41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9462" name="对象 11">
            <a:extLst>
              <a:ext uri="{FF2B5EF4-FFF2-40B4-BE49-F238E27FC236}">
                <a16:creationId xmlns:a16="http://schemas.microsoft.com/office/drawing/2014/main" id="{91CD2EA6-62AC-15DC-05FF-2AF4E08A3A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43100" y="2060575"/>
          <a:ext cx="4183063" cy="3703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49400" imgH="1371600" progId="Equation.DSMT4">
                  <p:embed/>
                </p:oleObj>
              </mc:Choice>
              <mc:Fallback>
                <p:oleObj name="Equation" r:id="rId2" imgW="1549400" imgH="1371600" progId="Equation.DSMT4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3100" y="2060575"/>
                        <a:ext cx="4183063" cy="3703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3" name="Rectangle 17">
            <a:extLst>
              <a:ext uri="{FF2B5EF4-FFF2-40B4-BE49-F238E27FC236}">
                <a16:creationId xmlns:a16="http://schemas.microsoft.com/office/drawing/2014/main" id="{FC4F8606-0665-77FA-3FC2-3AC00AAC5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5">
            <a:extLst>
              <a:ext uri="{FF2B5EF4-FFF2-40B4-BE49-F238E27FC236}">
                <a16:creationId xmlns:a16="http://schemas.microsoft.com/office/drawing/2014/main" id="{76DF662A-184B-C389-2B6D-19CFC7A5F8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6454775"/>
            <a:ext cx="3384550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合肥工业大学 计算机与信息学院 </a:t>
            </a:r>
          </a:p>
        </p:txBody>
      </p:sp>
      <p:sp>
        <p:nvSpPr>
          <p:cNvPr id="20483" name="标题 12">
            <a:extLst>
              <a:ext uri="{FF2B5EF4-FFF2-40B4-BE49-F238E27FC236}">
                <a16:creationId xmlns:a16="http://schemas.microsoft.com/office/drawing/2014/main" id="{5B046D0E-412A-52E1-E5D3-6307495E6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" y="74613"/>
            <a:ext cx="6761163" cy="762000"/>
          </a:xfrm>
        </p:spPr>
        <p:txBody>
          <a:bodyPr/>
          <a:lstStyle/>
          <a:p>
            <a:pPr eaLnBrk="1" hangingPunct="1"/>
            <a:r>
              <a:rPr lang="en-US" altLang="zh-CN" dirty="0"/>
              <a:t>7.4.4  </a:t>
            </a:r>
            <a:r>
              <a:rPr lang="zh-CN" altLang="en-US" dirty="0"/>
              <a:t>任两结点间的最短路</a:t>
            </a:r>
          </a:p>
        </p:txBody>
      </p:sp>
      <p:sp>
        <p:nvSpPr>
          <p:cNvPr id="21508" name="内容占位符 13">
            <a:extLst>
              <a:ext uri="{FF2B5EF4-FFF2-40B4-BE49-F238E27FC236}">
                <a16:creationId xmlns:a16="http://schemas.microsoft.com/office/drawing/2014/main" id="{19618A63-A898-958E-09EE-40447C333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" y="979636"/>
            <a:ext cx="8928100" cy="54737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Arial" charset="0"/>
              <a:buChar char="•"/>
              <a:defRPr/>
            </a:pP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k</a:t>
            </a:r>
            <a:r>
              <a:rPr lang="zh-CN" altLang="zh-CN" dirty="0">
                <a:solidFill>
                  <a:srgbClr val="FF0000"/>
                </a:solidFill>
              </a:rPr>
              <a:t>＝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zh-CN" dirty="0">
                <a:solidFill>
                  <a:srgbClr val="FF0000"/>
                </a:solidFill>
              </a:rPr>
              <a:t>时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buFont typeface="Arial" charset="0"/>
              <a:buChar char="•"/>
              <a:defRPr/>
            </a:pPr>
            <a:endParaRPr lang="en-US" altLang="zh-CN" dirty="0"/>
          </a:p>
          <a:p>
            <a:pPr eaLnBrk="1" hangingPunct="1">
              <a:lnSpc>
                <a:spcPct val="150000"/>
              </a:lnSpc>
              <a:buFont typeface="Arial" charset="0"/>
              <a:buChar char="•"/>
              <a:defRPr/>
            </a:pPr>
            <a:endParaRPr lang="en-US" altLang="zh-CN" dirty="0"/>
          </a:p>
          <a:p>
            <a:pPr marL="0" indent="0" eaLnBrk="1" hangingPunct="1">
              <a:lnSpc>
                <a:spcPct val="150000"/>
              </a:lnSpc>
              <a:buFont typeface="Arial" charset="0"/>
              <a:buNone/>
              <a:defRPr/>
            </a:pPr>
            <a:r>
              <a:rPr lang="en-US" altLang="zh-CN" dirty="0"/>
              <a:t>           W</a:t>
            </a:r>
            <a:r>
              <a:rPr lang="zh-CN" altLang="zh-CN" dirty="0"/>
              <a:t>＝</a:t>
            </a:r>
            <a:endParaRPr lang="zh-CN" altLang="en-US" dirty="0"/>
          </a:p>
        </p:txBody>
      </p:sp>
      <p:sp>
        <p:nvSpPr>
          <p:cNvPr id="20485" name="Rectangle 6">
            <a:extLst>
              <a:ext uri="{FF2B5EF4-FFF2-40B4-BE49-F238E27FC236}">
                <a16:creationId xmlns:a16="http://schemas.microsoft.com/office/drawing/2014/main" id="{57AAE5F7-D3BE-6C7C-B398-E3685C445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0486" name="对象 2">
            <a:extLst>
              <a:ext uri="{FF2B5EF4-FFF2-40B4-BE49-F238E27FC236}">
                <a16:creationId xmlns:a16="http://schemas.microsoft.com/office/drawing/2014/main" id="{718E1E19-36BA-F611-DA84-3887A4EE33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44688" y="2133600"/>
          <a:ext cx="4356100" cy="370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12900" imgH="1371600" progId="Equation.DSMT4">
                  <p:embed/>
                </p:oleObj>
              </mc:Choice>
              <mc:Fallback>
                <p:oleObj name="Equation" r:id="rId2" imgW="1612900" imgH="13716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4688" y="2133600"/>
                        <a:ext cx="4356100" cy="370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5">
            <a:extLst>
              <a:ext uri="{FF2B5EF4-FFF2-40B4-BE49-F238E27FC236}">
                <a16:creationId xmlns:a16="http://schemas.microsoft.com/office/drawing/2014/main" id="{79173BD2-C024-DFF3-6D62-EEDF92D20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6454775"/>
            <a:ext cx="3384550" cy="35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合肥工业大学 计算机与信息学院 </a:t>
            </a:r>
          </a:p>
        </p:txBody>
      </p:sp>
      <p:sp>
        <p:nvSpPr>
          <p:cNvPr id="21507" name="标题 12">
            <a:extLst>
              <a:ext uri="{FF2B5EF4-FFF2-40B4-BE49-F238E27FC236}">
                <a16:creationId xmlns:a16="http://schemas.microsoft.com/office/drawing/2014/main" id="{A12A6E43-2DF4-B508-2AA7-3284F546A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" y="74613"/>
            <a:ext cx="6761163" cy="762000"/>
          </a:xfrm>
        </p:spPr>
        <p:txBody>
          <a:bodyPr/>
          <a:lstStyle/>
          <a:p>
            <a:pPr eaLnBrk="1" hangingPunct="1"/>
            <a:r>
              <a:rPr lang="en-US" altLang="zh-CN" dirty="0"/>
              <a:t>7.4.4  </a:t>
            </a:r>
            <a:r>
              <a:rPr lang="zh-CN" altLang="en-US" dirty="0"/>
              <a:t>任两结点间的最短路</a:t>
            </a:r>
          </a:p>
        </p:txBody>
      </p:sp>
      <p:sp>
        <p:nvSpPr>
          <p:cNvPr id="22532" name="内容占位符 13">
            <a:extLst>
              <a:ext uri="{FF2B5EF4-FFF2-40B4-BE49-F238E27FC236}">
                <a16:creationId xmlns:a16="http://schemas.microsoft.com/office/drawing/2014/main" id="{4CA00F71-183F-BF64-3A6E-CC15DF58A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950" y="981075"/>
            <a:ext cx="8928100" cy="54737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Arial" charset="0"/>
              <a:buChar char="•"/>
              <a:defRPr/>
            </a:pPr>
            <a:r>
              <a:rPr lang="zh-CN" altLang="en-US" b="1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k</a:t>
            </a:r>
            <a:r>
              <a:rPr lang="zh-CN" altLang="zh-CN" dirty="0">
                <a:solidFill>
                  <a:srgbClr val="FF0000"/>
                </a:solidFill>
              </a:rPr>
              <a:t>＝</a:t>
            </a:r>
            <a:r>
              <a:rPr lang="en-US" altLang="zh-CN" dirty="0">
                <a:solidFill>
                  <a:srgbClr val="FF0000"/>
                </a:solidFill>
              </a:rPr>
              <a:t>6</a:t>
            </a:r>
            <a:r>
              <a:rPr lang="zh-CN" altLang="zh-CN" dirty="0">
                <a:solidFill>
                  <a:srgbClr val="FF0000"/>
                </a:solidFill>
              </a:rPr>
              <a:t>时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  <a:buFont typeface="Arial" charset="0"/>
              <a:buChar char="•"/>
              <a:defRPr/>
            </a:pPr>
            <a:endParaRPr lang="en-US" altLang="zh-CN" dirty="0"/>
          </a:p>
          <a:p>
            <a:pPr eaLnBrk="1" hangingPunct="1">
              <a:lnSpc>
                <a:spcPct val="150000"/>
              </a:lnSpc>
              <a:buFont typeface="Arial" charset="0"/>
              <a:buChar char="•"/>
              <a:defRPr/>
            </a:pPr>
            <a:endParaRPr lang="en-US" altLang="zh-CN" dirty="0"/>
          </a:p>
          <a:p>
            <a:pPr marL="0" indent="0" eaLnBrk="1" hangingPunct="1">
              <a:lnSpc>
                <a:spcPct val="150000"/>
              </a:lnSpc>
              <a:buFont typeface="Arial" charset="0"/>
              <a:buNone/>
              <a:defRPr/>
            </a:pPr>
            <a:r>
              <a:rPr lang="en-US" altLang="zh-CN" dirty="0"/>
              <a:t>           W</a:t>
            </a:r>
            <a:r>
              <a:rPr lang="zh-CN" altLang="zh-CN" dirty="0"/>
              <a:t>＝</a:t>
            </a:r>
            <a:endParaRPr lang="en-US" altLang="zh-CN" dirty="0"/>
          </a:p>
          <a:p>
            <a:pPr eaLnBrk="1" hangingPunct="1">
              <a:buFont typeface="Arial" charset="0"/>
              <a:buChar char="•"/>
              <a:defRPr/>
            </a:pPr>
            <a:endParaRPr lang="zh-CN" altLang="en-US" dirty="0"/>
          </a:p>
        </p:txBody>
      </p:sp>
      <p:sp>
        <p:nvSpPr>
          <p:cNvPr id="21509" name="Rectangle 6">
            <a:extLst>
              <a:ext uri="{FF2B5EF4-FFF2-40B4-BE49-F238E27FC236}">
                <a16:creationId xmlns:a16="http://schemas.microsoft.com/office/drawing/2014/main" id="{19A8A325-3774-0096-1AD0-CC9F41A26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1510" name="对象 2">
            <a:extLst>
              <a:ext uri="{FF2B5EF4-FFF2-40B4-BE49-F238E27FC236}">
                <a16:creationId xmlns:a16="http://schemas.microsoft.com/office/drawing/2014/main" id="{BD593C29-8636-A5C2-E27F-E520EFDAE5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8025" y="2133600"/>
          <a:ext cx="4286250" cy="370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87500" imgH="1371600" progId="Equation.DSMT4">
                  <p:embed/>
                </p:oleObj>
              </mc:Choice>
              <mc:Fallback>
                <p:oleObj name="Equation" r:id="rId2" imgW="1587500" imgH="13716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8025" y="2133600"/>
                        <a:ext cx="4286250" cy="370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4384</TotalTime>
  <Words>1758</Words>
  <Application>Microsoft Office PowerPoint</Application>
  <PresentationFormat>全屏显示(4:3)</PresentationFormat>
  <Paragraphs>330</Paragraphs>
  <Slides>20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1" baseType="lpstr">
      <vt:lpstr>Calibri</vt:lpstr>
      <vt:lpstr>宋体</vt:lpstr>
      <vt:lpstr>Arial</vt:lpstr>
      <vt:lpstr>黑体</vt:lpstr>
      <vt:lpstr>楷体</vt:lpstr>
      <vt:lpstr>Wingdings</vt:lpstr>
      <vt:lpstr>华文新魏</vt:lpstr>
      <vt:lpstr>Times New Roman</vt:lpstr>
      <vt:lpstr>Office 主题​​</vt:lpstr>
      <vt:lpstr>Microsoft Word 文档</vt:lpstr>
      <vt:lpstr>MathType 5.0 Equation</vt:lpstr>
      <vt:lpstr>7.4 最短路问题</vt:lpstr>
      <vt:lpstr>7.4.1  问题背景</vt:lpstr>
      <vt:lpstr>7.4.2 无向图的Dijkstra算法</vt:lpstr>
      <vt:lpstr>7.4.2 无向图的Dijkstra算法</vt:lpstr>
      <vt:lpstr>7.4.2 无向图的Dijkstra算法</vt:lpstr>
      <vt:lpstr>7.4.2 无向图的Dijkstra算法</vt:lpstr>
      <vt:lpstr>7.4.2 无向图的Dijkstra算法</vt:lpstr>
      <vt:lpstr>7.4.2 无向图的Dijkstra算法</vt:lpstr>
      <vt:lpstr>7.4.2 无向图的Dijkstra算法</vt:lpstr>
      <vt:lpstr>7.4.2 无向图的Dijkstra算法</vt:lpstr>
      <vt:lpstr>7.4.3 有向图的Dijkstra算法</vt:lpstr>
      <vt:lpstr>7.4.3 有向图的Dijkstra算法</vt:lpstr>
      <vt:lpstr>7.4.3 有向图的Dijkstra算法</vt:lpstr>
      <vt:lpstr>7.4.3 有向图的Dijkstra算法</vt:lpstr>
      <vt:lpstr>7.4.4  任两结点间的最短路</vt:lpstr>
      <vt:lpstr>7.4.4  任两结点间的最短路</vt:lpstr>
      <vt:lpstr>7.4.4  任两结点间的最短路</vt:lpstr>
      <vt:lpstr>7.4.4  任两结点间的最短路</vt:lpstr>
      <vt:lpstr>7.4.4  任两结点间的最短路</vt:lpstr>
      <vt:lpstr>7.4.4  任两结点间的最短路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DYUAN</dc:creator>
  <cp:lastModifiedBy>Duoduo</cp:lastModifiedBy>
  <cp:revision>374</cp:revision>
  <dcterms:created xsi:type="dcterms:W3CDTF">2014-06-17T05:31:10Z</dcterms:created>
  <dcterms:modified xsi:type="dcterms:W3CDTF">2023-11-21T15:15:38Z</dcterms:modified>
</cp:coreProperties>
</file>