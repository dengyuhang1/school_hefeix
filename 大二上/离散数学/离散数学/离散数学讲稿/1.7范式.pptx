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4" r:id="rId2"/>
    <p:sldId id="355" r:id="rId3"/>
    <p:sldId id="322" r:id="rId4"/>
    <p:sldId id="425" r:id="rId5"/>
    <p:sldId id="323" r:id="rId6"/>
    <p:sldId id="426" r:id="rId7"/>
    <p:sldId id="424" r:id="rId8"/>
    <p:sldId id="359" r:id="rId9"/>
    <p:sldId id="361" r:id="rId10"/>
    <p:sldId id="421" r:id="rId11"/>
    <p:sldId id="422" r:id="rId12"/>
    <p:sldId id="423" r:id="rId13"/>
    <p:sldId id="312" r:id="rId14"/>
    <p:sldId id="324" r:id="rId15"/>
    <p:sldId id="363" r:id="rId16"/>
    <p:sldId id="364" r:id="rId17"/>
    <p:sldId id="315" r:id="rId18"/>
    <p:sldId id="366" r:id="rId19"/>
    <p:sldId id="380" r:id="rId20"/>
    <p:sldId id="414" r:id="rId21"/>
    <p:sldId id="377" r:id="rId22"/>
    <p:sldId id="368" r:id="rId23"/>
    <p:sldId id="372" r:id="rId24"/>
    <p:sldId id="416" r:id="rId25"/>
    <p:sldId id="332" r:id="rId26"/>
    <p:sldId id="383" r:id="rId27"/>
    <p:sldId id="427" r:id="rId28"/>
    <p:sldId id="428" r:id="rId29"/>
    <p:sldId id="429" r:id="rId30"/>
    <p:sldId id="430" r:id="rId31"/>
    <p:sldId id="431" r:id="rId32"/>
    <p:sldId id="432" r:id="rId33"/>
    <p:sldId id="417" r:id="rId34"/>
    <p:sldId id="433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CC0066"/>
    <a:srgbClr val="FF0066"/>
    <a:srgbClr val="0066FF"/>
    <a:srgbClr val="008080"/>
    <a:srgbClr val="339933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2796" autoAdjust="0"/>
  </p:normalViewPr>
  <p:slideViewPr>
    <p:cSldViewPr>
      <p:cViewPr varScale="1">
        <p:scale>
          <a:sx n="65" d="100"/>
          <a:sy n="65" d="100"/>
        </p:scale>
        <p:origin x="6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362F04-ECBA-B9A9-953F-58A971ADB27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FEB69172-6E30-D95C-D7F1-0F6434847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C4C76A8-9204-2E22-1608-4ECB3FC79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E09D7B7-3166-2D6D-2C05-F795BC9C6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F196AD6-AFD9-09D1-BB6C-F742A8A2B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E1E1226-04BC-A056-8C57-317FD222F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217AC6-E7B9-C147-4C31-17DE5BCB0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defRPr>
                </a:lvl9pPr>
              </a:lstStyle>
              <a:p>
                <a:pPr eaLnBrk="1" hangingPunct="1">
                  <a:lnSpc>
                    <a:spcPct val="11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A1E1D9F-125A-9D6B-9F4B-B6EB713AA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0B548C5-5773-AA83-67CB-35275136F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7B6E983-2FF2-0AD3-ACEE-FCE50B38FA6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3E98C1D-38FE-EFE1-8165-049515CB95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76CA3D9-83AD-4B39-8900-F733D5D21E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AAB1342E-14C8-C823-8F89-473F110489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0219F45-371A-46D8-918B-A20017FC3B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2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6DC004B-9D81-FE0B-14A4-EAB065F3F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AA56EBE-CBFF-729E-5394-E946453EB4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337831A-B846-31D1-3A43-88CDD8D923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824E9-784B-4E40-9AD4-19AE4A3D02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45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56BA301-35E6-D753-943A-14C2E0AB55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03D75F5-6DE8-DA1E-C959-F4EA9CDE86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07D6A2D-78D4-043D-42B8-F4827EF76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05D2C-C877-48E5-880E-4364EA8CA9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95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0924191-B2A2-0D0C-079F-762CDA5827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3C554DB-46A8-765D-BED1-B355DD0E6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EDA01A1-00AD-DE65-C7BC-00596D5C63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6A815-2AD9-438A-908A-59B7DC2820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66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C4280D2-3BBE-F89D-5066-4E635433C3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980C152-9A5B-14DB-F610-F21F47B92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EEFB5A2-DF21-318B-413E-7285C3112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61885-291A-4656-9FF0-2176BD4FCF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86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445CFAF-999F-8A51-780F-412FB64E2C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8A01107-DFF4-0581-3D92-68DCE36C87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48577CC-57F6-E81A-DC01-D86A265D9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084AA-A33A-485C-99B9-9AE439C4FE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83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4F1C9465-423E-5D0C-2F29-DE955231BD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CCB241D-08C4-E6B0-FE6E-483B50A9B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FDAB038-98FC-B04F-8E84-72B951F3F6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BB6EF-FDCC-4B57-BC07-3F30D5C1D1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341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13CA8A9-EB88-0BD2-C21A-3244465298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5B6B59B-5F9C-3EBD-AF89-D62F487281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EF2A15B-76C9-8706-A3F1-CE223B9041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9B707-70C2-451E-8932-877D9CFFEE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0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D6FD3FA-284E-39A0-AFDB-D300F2353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E5D0C4-8E38-A89D-F449-64CA4EE741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E38E63A-7BF0-392C-F5D5-B07E96BCF8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BE06B-32DE-490B-AAFB-D267063205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44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36E74B5-8288-217E-E55A-6F7A3651AC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F7E1E37-4082-6BDB-3BA7-26F2C1295D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58EA6A5-D7D7-281B-48F8-C1863345DB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DC9E3-0735-45FC-8DEE-036F1377E0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70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98FC716-BC34-AE7E-A2E9-5FB2E81D51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85BE4E4-E6FA-93D4-3679-116F0955EB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EEFEA3E-57E4-2F30-213A-0C23EE5BB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6F013-14CA-47AF-B0B7-A05FD0A98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287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42CC6CF-9719-E45F-6BF0-9D5021E3B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897C78F-2C07-729B-65FA-98A0C6D0D4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5489B4-55D0-3AB5-D97C-9BE1703A20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9DF05-B81F-4D56-B43A-2328F8E7F2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5800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6F7E2DC-CE02-8D14-D00B-DE6F7403FD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615106D-6771-EDFD-5905-F0FB5067DE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CA70D5-F974-DF2A-BA12-AFF17F5F88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035B8-F4F0-4756-80DA-B739E805E7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0190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975E30F-28FC-2CA2-C4B6-E137627A4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347C4DD6-A5EB-4032-1F9A-376D9A27B5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D4BCA916-94B0-CD85-BC1F-A4E0E22BDB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33FF9C-3D4E-4C20-B365-2E56B2A6C9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99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0957FB-2794-EE44-D18E-23BCC1BFD7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FC99E8-F61A-0C26-B64C-78D0687C4F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2D33C0-B838-3B3C-511B-8FBB6EE11F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83A7D6-A88A-8FF6-58B9-70671D6692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D5ECB9-C3D7-7079-7D99-A394B9F250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40C2E44-8FCD-8108-CC25-D21492817D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130C72D-AC84-2191-D6BA-56887967A0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1A7BCDC8-E7F1-2E44-4B92-43A149D9B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148927F3-1128-6FC0-C648-3268E613D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7C3A90A5-3B38-C9FE-5A36-DA70B17604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A717DE60-AE97-C328-0E06-021A1B93EB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4DC2C21-92C2-EC69-7DBD-493EED7639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fld id="{66B72414-2B04-43D1-A52F-6119FD9AFF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1.tmp"/><Relationship Id="rId5" Type="http://schemas.openxmlformats.org/officeDocument/2006/relationships/tags" Target="../tags/tag7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B13792D-CD79-47ED-0F2B-AC01679FA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 </a:t>
            </a:r>
            <a:r>
              <a:rPr lang="zh-CN" altLang="en-US"/>
              <a:t>命题公式的范式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041AD32-1222-3870-F45B-EBC49D7C8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060575"/>
            <a:ext cx="8128000" cy="479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1.7.1 </a:t>
            </a:r>
            <a:r>
              <a:rPr lang="zh-CN" altLang="en-US" sz="4000" b="1"/>
              <a:t>基本积与基本和</a:t>
            </a: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4000"/>
              <a:t>1.7.2 </a:t>
            </a:r>
            <a:r>
              <a:rPr lang="zh-CN" altLang="en-US" sz="4000" b="1">
                <a:solidFill>
                  <a:srgbClr val="000000"/>
                </a:solidFill>
              </a:rPr>
              <a:t>小项与大项</a:t>
            </a:r>
            <a:endParaRPr lang="en-US" altLang="zh-CN" sz="4000" b="1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4000"/>
              <a:t>1.7.3 </a:t>
            </a:r>
            <a:r>
              <a:rPr lang="zh-CN" altLang="en-US" sz="4000" b="1">
                <a:solidFill>
                  <a:srgbClr val="000000"/>
                </a:solidFill>
              </a:rPr>
              <a:t>合取范式与析取范式</a:t>
            </a:r>
            <a:endParaRPr lang="zh-CN" altLang="en-US" sz="40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1.7.4 </a:t>
            </a:r>
            <a:r>
              <a:rPr lang="zh-CN" altLang="en-US" sz="4000" b="1"/>
              <a:t>主合取范式与主析取范式</a:t>
            </a:r>
            <a:r>
              <a:rPr lang="zh-CN" altLang="en-US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C3892C8-6CE6-C2DE-CDDD-561E96CAC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1.7.1 </a:t>
            </a:r>
            <a:r>
              <a:rPr lang="zh-CN" altLang="en-US" b="1"/>
              <a:t>基本积与基本和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D389390-2CAD-04FB-EDEA-064E2F211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基本积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仅由命题</a:t>
            </a:r>
            <a:r>
              <a:rPr lang="zh-CN" altLang="en-US" sz="2800" dirty="0">
                <a:solidFill>
                  <a:srgbClr val="0066FF"/>
                </a:solidFill>
              </a:rPr>
              <a:t>变量</a:t>
            </a:r>
            <a:r>
              <a:rPr lang="zh-CN" altLang="en-US" sz="2800" dirty="0"/>
              <a:t>或其否定构成的</a:t>
            </a:r>
            <a:r>
              <a:rPr lang="zh-CN" altLang="en-US" sz="2800" dirty="0">
                <a:solidFill>
                  <a:srgbClr val="FF00FF"/>
                </a:solidFill>
              </a:rPr>
              <a:t>合取式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zh-CN" altLang="en-US" sz="2800" dirty="0">
                <a:solidFill>
                  <a:srgbClr val="0066FF"/>
                </a:solidFill>
              </a:rPr>
              <a:t>单个</a:t>
            </a:r>
            <a:r>
              <a:rPr lang="zh-CN" altLang="en-US" sz="2800" dirty="0"/>
              <a:t>命题变量或其否定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基本和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仅由命题</a:t>
            </a:r>
            <a:r>
              <a:rPr lang="zh-CN" altLang="en-US" sz="2800" dirty="0">
                <a:solidFill>
                  <a:srgbClr val="0066FF"/>
                </a:solidFill>
              </a:rPr>
              <a:t>变量</a:t>
            </a:r>
            <a:r>
              <a:rPr lang="zh-CN" altLang="en-US" sz="2800" dirty="0"/>
              <a:t>或其否定构成的</a:t>
            </a:r>
            <a:r>
              <a:rPr lang="zh-CN" altLang="en-US" sz="2800" dirty="0">
                <a:solidFill>
                  <a:srgbClr val="FF00FF"/>
                </a:solidFill>
              </a:rPr>
              <a:t>析取式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</a:t>
            </a:r>
            <a:r>
              <a:rPr lang="zh-CN" altLang="en-US" sz="2800" dirty="0">
                <a:solidFill>
                  <a:srgbClr val="0066FF"/>
                </a:solidFill>
              </a:rPr>
              <a:t>单个</a:t>
            </a:r>
            <a:r>
              <a:rPr lang="zh-CN" altLang="en-US" sz="2800" dirty="0"/>
              <a:t>的命题变量或其否定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P</a:t>
            </a:r>
            <a:r>
              <a:rPr lang="en-US" altLang="zh-CN" sz="2800" dirty="0">
                <a:solidFill>
                  <a:schemeClr val="hlink"/>
                </a:solidFill>
              </a:rPr>
              <a:t>∧</a:t>
            </a:r>
            <a:r>
              <a:rPr lang="en-US" altLang="zh-CN" sz="2800" dirty="0"/>
              <a:t>Q</a:t>
            </a:r>
            <a:r>
              <a:rPr lang="en-US" altLang="zh-CN" sz="2800" dirty="0">
                <a:solidFill>
                  <a:schemeClr val="hlink"/>
                </a:solidFill>
              </a:rPr>
              <a:t>∧</a:t>
            </a:r>
            <a:r>
              <a:rPr lang="en-US" altLang="zh-CN" sz="2800" dirty="0"/>
              <a:t>┐R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/>
              <a:t>P</a:t>
            </a:r>
            <a:r>
              <a:rPr lang="en-US" altLang="zh-CN" sz="2800" dirty="0">
                <a:solidFill>
                  <a:schemeClr val="hlink"/>
                </a:solidFill>
              </a:rPr>
              <a:t>∧</a:t>
            </a:r>
            <a:r>
              <a:rPr lang="en-US" altLang="zh-CN" sz="2800" dirty="0"/>
              <a:t>P</a:t>
            </a:r>
            <a:r>
              <a:rPr lang="en-US" altLang="zh-CN" sz="2800" dirty="0">
                <a:solidFill>
                  <a:schemeClr val="hlink"/>
                </a:solidFill>
              </a:rPr>
              <a:t>∧</a:t>
            </a:r>
            <a:r>
              <a:rPr lang="en-US" altLang="zh-CN" sz="2800" dirty="0"/>
              <a:t>┐Q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/>
              <a:t>P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zh-CN" altLang="en-US" sz="2800" dirty="0"/>
              <a:t>┐</a:t>
            </a:r>
            <a:r>
              <a:rPr lang="en-US" altLang="zh-CN" sz="2800" dirty="0"/>
              <a:t>P</a:t>
            </a:r>
            <a:r>
              <a:rPr lang="zh-CN" altLang="en-US" sz="2800" dirty="0"/>
              <a:t>都是基本</a:t>
            </a:r>
            <a:r>
              <a:rPr lang="zh-CN" altLang="en-US" sz="2800" dirty="0">
                <a:solidFill>
                  <a:schemeClr val="hlink"/>
                </a:solidFill>
              </a:rPr>
              <a:t>积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P∨Q∨┐R</a:t>
            </a:r>
            <a:r>
              <a:rPr lang="zh-CN" altLang="en-US" sz="2800" dirty="0"/>
              <a:t>，</a:t>
            </a:r>
            <a:r>
              <a:rPr lang="en-US" altLang="zh-CN" sz="2800" dirty="0"/>
              <a:t>P∨P∨┐Q</a:t>
            </a:r>
            <a:r>
              <a:rPr lang="zh-CN" altLang="en-US" sz="2800" dirty="0"/>
              <a:t>，</a:t>
            </a:r>
            <a:r>
              <a:rPr lang="en-US" altLang="zh-CN" sz="2800" dirty="0"/>
              <a:t>P</a:t>
            </a:r>
            <a:r>
              <a:rPr lang="zh-CN" altLang="en-US" sz="2800" dirty="0"/>
              <a:t>，┐</a:t>
            </a:r>
            <a:r>
              <a:rPr lang="en-US" altLang="zh-CN" sz="2800" dirty="0"/>
              <a:t>P</a:t>
            </a:r>
            <a:r>
              <a:rPr lang="zh-CN" altLang="en-US" sz="2800" dirty="0"/>
              <a:t>都是基本</a:t>
            </a:r>
            <a:r>
              <a:rPr lang="zh-CN" altLang="en-US" sz="2800" dirty="0">
                <a:solidFill>
                  <a:schemeClr val="accent1"/>
                </a:solidFill>
              </a:rPr>
              <a:t>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EB8C68EA-7EF3-41F5-FA32-44BBD5ECF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1.7.2  </a:t>
            </a:r>
            <a:r>
              <a:rPr lang="zh-CN" altLang="en-US" b="1"/>
              <a:t>小项与大项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C734532A-76DC-905B-0577-B0179A230B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3816350" cy="48688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1.7.1</a:t>
            </a:r>
            <a:r>
              <a:rPr lang="en-US" altLang="zh-CN"/>
              <a:t> </a:t>
            </a:r>
            <a:r>
              <a:rPr lang="zh-CN" altLang="en-US"/>
              <a:t>含</a:t>
            </a:r>
            <a:r>
              <a:rPr lang="en-US" altLang="zh-CN"/>
              <a:t>n</a:t>
            </a:r>
            <a:r>
              <a:rPr lang="zh-CN" altLang="en-US"/>
              <a:t>个命题变量的基本积，称作</a:t>
            </a:r>
            <a:r>
              <a:rPr lang="zh-CN" altLang="en-US" b="1">
                <a:solidFill>
                  <a:schemeClr val="hlink"/>
                </a:solidFill>
              </a:rPr>
              <a:t>布尔合取</a:t>
            </a:r>
            <a:r>
              <a:rPr lang="en-US" altLang="zh-CN">
                <a:solidFill>
                  <a:schemeClr val="hlink"/>
                </a:solidFill>
              </a:rPr>
              <a:t>(Boolean conjunction)</a:t>
            </a:r>
            <a:r>
              <a:rPr lang="en-US" altLang="zh-CN" b="1"/>
              <a:t> </a:t>
            </a:r>
            <a:r>
              <a:rPr lang="zh-CN" altLang="en-US"/>
              <a:t>或</a:t>
            </a:r>
            <a:r>
              <a:rPr lang="zh-CN" altLang="en-US" b="1">
                <a:solidFill>
                  <a:srgbClr val="0066FF"/>
                </a:solidFill>
              </a:rPr>
              <a:t>小项</a:t>
            </a:r>
            <a:r>
              <a:rPr lang="en-US" altLang="zh-CN">
                <a:solidFill>
                  <a:srgbClr val="0066FF"/>
                </a:solidFill>
              </a:rPr>
              <a:t>(miniterm)</a:t>
            </a:r>
            <a:r>
              <a:rPr lang="en-US" altLang="zh-CN"/>
              <a:t> </a:t>
            </a:r>
            <a:r>
              <a:rPr lang="zh-CN" altLang="en-US"/>
              <a:t>，当且仅当</a:t>
            </a:r>
            <a:r>
              <a:rPr lang="zh-CN" altLang="en-US">
                <a:solidFill>
                  <a:srgbClr val="CC0066"/>
                </a:solidFill>
              </a:rPr>
              <a:t>每个</a:t>
            </a:r>
            <a:r>
              <a:rPr lang="zh-CN" altLang="en-US"/>
              <a:t>命题变量与其否定不能同时存在，但两者必须出现一个且仅一个。 </a:t>
            </a:r>
          </a:p>
        </p:txBody>
      </p:sp>
      <p:sp>
        <p:nvSpPr>
          <p:cNvPr id="5124" name="Rectangle 6">
            <a:extLst>
              <a:ext uri="{FF2B5EF4-FFF2-40B4-BE49-F238E27FC236}">
                <a16:creationId xmlns:a16="http://schemas.microsoft.com/office/drawing/2014/main" id="{48DE0C72-5997-65DE-09A5-4B910515BA2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989138"/>
            <a:ext cx="4572000" cy="4868862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zh-CN" dirty="0">
                <a:solidFill>
                  <a:srgbClr val="FF00FF"/>
                </a:solidFill>
              </a:rPr>
              <a:t>P,Q,R</a:t>
            </a:r>
            <a:r>
              <a:rPr lang="zh-CN" altLang="en-US" dirty="0">
                <a:solidFill>
                  <a:srgbClr val="FF00FF"/>
                </a:solidFill>
              </a:rPr>
              <a:t>的小项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chemeClr val="hlink"/>
                </a:solidFill>
              </a:rPr>
              <a:t>二进制编码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P∧Q∧R          m</a:t>
            </a:r>
            <a:r>
              <a:rPr lang="en-US" altLang="zh-CN" baseline="-25000" dirty="0"/>
              <a:t>111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P∧┐Q∧┐R       m</a:t>
            </a:r>
            <a:r>
              <a:rPr lang="en-US" altLang="zh-CN" baseline="-25000" dirty="0"/>
              <a:t>100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┐P∧Q∧┐R       m</a:t>
            </a:r>
            <a:r>
              <a:rPr lang="en-US" altLang="zh-CN" baseline="-25000" dirty="0"/>
              <a:t>010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┐P∧┐Q∧R       m</a:t>
            </a:r>
            <a:r>
              <a:rPr lang="en-US" altLang="zh-CN" baseline="-25000" dirty="0"/>
              <a:t>001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┐P∧Q∧R       m</a:t>
            </a:r>
            <a:r>
              <a:rPr lang="en-US" altLang="zh-CN" baseline="-25000" dirty="0"/>
              <a:t>011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P∧┐Q∧R       m</a:t>
            </a:r>
            <a:r>
              <a:rPr lang="en-US" altLang="zh-CN" baseline="-25000" dirty="0"/>
              <a:t>101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P∧Q∧┐R       m</a:t>
            </a:r>
            <a:r>
              <a:rPr lang="en-US" altLang="zh-CN" baseline="-25000" dirty="0"/>
              <a:t>110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/>
              <a:t>┐P∧┐Q∧┐R    m</a:t>
            </a:r>
            <a:r>
              <a:rPr lang="en-US" altLang="zh-CN" baseline="-25000" dirty="0"/>
              <a:t>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EB8C68EA-7EF3-41F5-FA32-44BBD5ECF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1.7.2  </a:t>
            </a:r>
            <a:r>
              <a:rPr lang="zh-CN" altLang="en-US" b="1"/>
              <a:t>小项与大项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C734532A-76DC-905B-0577-B0179A230B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3816350" cy="48688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所有小项的析取为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</a:p>
          <a:p>
            <a:pPr eaLnBrk="1" hangingPunct="1">
              <a:lnSpc>
                <a:spcPct val="120000"/>
              </a:lnSpc>
            </a:pPr>
            <a:endParaRPr lang="en-US" altLang="zh-CN" dirty="0">
              <a:solidFill>
                <a:schemeClr val="hlink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m</a:t>
            </a:r>
            <a:r>
              <a:rPr lang="en-US" altLang="zh-CN" baseline="-25000" dirty="0"/>
              <a:t>000</a:t>
            </a:r>
            <a:r>
              <a:rPr lang="en-US" altLang="zh-CN" dirty="0"/>
              <a:t> ∨ m</a:t>
            </a:r>
            <a:r>
              <a:rPr lang="en-US" altLang="zh-CN" baseline="-25000" dirty="0"/>
              <a:t>001</a:t>
            </a:r>
            <a:r>
              <a:rPr lang="en-US" altLang="zh-CN" dirty="0"/>
              <a:t> ∨ m</a:t>
            </a:r>
            <a:r>
              <a:rPr lang="en-US" altLang="zh-CN" baseline="-25000" dirty="0"/>
              <a:t>010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/>
              <a:t>∨ m</a:t>
            </a:r>
            <a:r>
              <a:rPr lang="en-US" altLang="zh-CN" baseline="-25000" dirty="0"/>
              <a:t>011</a:t>
            </a:r>
            <a:r>
              <a:rPr lang="en-US" altLang="zh-CN" dirty="0"/>
              <a:t> ∨ m</a:t>
            </a:r>
            <a:r>
              <a:rPr lang="en-US" altLang="zh-CN" baseline="-25000" dirty="0"/>
              <a:t>100</a:t>
            </a:r>
            <a:r>
              <a:rPr lang="en-US" altLang="zh-CN" dirty="0"/>
              <a:t> ∨ m</a:t>
            </a:r>
            <a:r>
              <a:rPr lang="en-US" altLang="zh-CN" baseline="-25000" dirty="0"/>
              <a:t>101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/>
              <a:t>∨ m</a:t>
            </a:r>
            <a:r>
              <a:rPr lang="en-US" altLang="zh-CN" baseline="-25000" dirty="0"/>
              <a:t>110</a:t>
            </a:r>
            <a:r>
              <a:rPr lang="en-US" altLang="zh-CN" dirty="0"/>
              <a:t> ∨ m</a:t>
            </a:r>
            <a:r>
              <a:rPr lang="en-US" altLang="zh-CN" baseline="-25000" dirty="0"/>
              <a:t>111</a:t>
            </a:r>
            <a:r>
              <a:rPr lang="en-US" altLang="zh-CN" sz="2800" dirty="0">
                <a:sym typeface="Symbol" panose="05050102010706020507" pitchFamily="18" charset="2"/>
              </a:rPr>
              <a:t> 1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105EBD8-1531-279A-B1CD-94B9030DB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1964818"/>
            <a:ext cx="3816350" cy="486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kern="0" dirty="0">
                <a:solidFill>
                  <a:schemeClr val="hlink"/>
                </a:solidFill>
              </a:rPr>
              <a:t>部分小项的析取等价于另一部分小项析取的否定</a:t>
            </a:r>
            <a:endParaRPr lang="en-US" altLang="zh-CN" kern="0" dirty="0">
              <a:solidFill>
                <a:schemeClr val="hlink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kern="0" dirty="0"/>
              <a:t>(m</a:t>
            </a:r>
            <a:r>
              <a:rPr lang="en-US" altLang="zh-CN" sz="2400" kern="0" baseline="-25000" dirty="0"/>
              <a:t>000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001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010</a:t>
            </a:r>
            <a:r>
              <a:rPr lang="en-US" altLang="zh-CN" sz="2400" kern="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 </a:t>
            </a:r>
            <a:r>
              <a:rPr lang="en-US" altLang="zh-CN" sz="2400" dirty="0"/>
              <a:t>┐</a:t>
            </a:r>
            <a:r>
              <a:rPr lang="en-US" altLang="zh-CN" sz="2400" kern="0" dirty="0"/>
              <a:t>( m</a:t>
            </a:r>
            <a:r>
              <a:rPr lang="en-US" altLang="zh-CN" sz="2400" kern="0" baseline="-25000" dirty="0"/>
              <a:t>011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100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101</a:t>
            </a:r>
            <a:r>
              <a:rPr lang="en-US" altLang="zh-CN" sz="2400" kern="0" dirty="0"/>
              <a:t>∨ m</a:t>
            </a:r>
            <a:r>
              <a:rPr lang="en-US" altLang="zh-CN" sz="2400" kern="0" baseline="-25000" dirty="0"/>
              <a:t>110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111</a:t>
            </a:r>
            <a:r>
              <a:rPr lang="en-US" altLang="zh-CN" sz="2400" kern="0" dirty="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┐</a:t>
            </a:r>
            <a:r>
              <a:rPr lang="en-US" altLang="zh-CN" sz="2400" kern="0" dirty="0"/>
              <a:t>(m</a:t>
            </a:r>
            <a:r>
              <a:rPr lang="en-US" altLang="zh-CN" sz="2400" kern="0" baseline="-25000" dirty="0"/>
              <a:t>000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001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010</a:t>
            </a:r>
            <a:r>
              <a:rPr lang="en-US" altLang="zh-CN" sz="2400" kern="0" dirty="0"/>
              <a:t>)</a:t>
            </a:r>
            <a:r>
              <a:rPr lang="en-US" altLang="zh-CN" sz="3200" dirty="0">
                <a:sym typeface="Symbol" panose="05050102010706020507" pitchFamily="18" charset="2"/>
              </a:rPr>
              <a:t> </a:t>
            </a:r>
            <a:r>
              <a:rPr lang="en-US" altLang="zh-CN" sz="2400" kern="0" dirty="0"/>
              <a:t>( m</a:t>
            </a:r>
            <a:r>
              <a:rPr lang="en-US" altLang="zh-CN" sz="2400" kern="0" baseline="-25000" dirty="0"/>
              <a:t>011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100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101</a:t>
            </a:r>
            <a:r>
              <a:rPr lang="en-US" altLang="zh-CN" sz="2400" kern="0" dirty="0"/>
              <a:t>∨ m</a:t>
            </a:r>
            <a:r>
              <a:rPr lang="en-US" altLang="zh-CN" sz="2400" kern="0" baseline="-25000" dirty="0"/>
              <a:t>110</a:t>
            </a:r>
            <a:r>
              <a:rPr lang="en-US" altLang="zh-CN" sz="2400" kern="0" dirty="0"/>
              <a:t> ∨ m</a:t>
            </a:r>
            <a:r>
              <a:rPr lang="en-US" altLang="zh-CN" sz="2400" kern="0" baseline="-25000" dirty="0"/>
              <a:t>111</a:t>
            </a:r>
            <a:r>
              <a:rPr lang="en-US" altLang="zh-CN" sz="2400" kern="0" dirty="0"/>
              <a:t>)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zh-CN" kern="0" dirty="0">
              <a:solidFill>
                <a:schemeClr val="hlink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en-US" altLang="zh-CN" kern="0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08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EA33BED-3464-DAD4-DDE3-54154EFC2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1.7.2  </a:t>
            </a:r>
            <a:r>
              <a:rPr lang="zh-CN" altLang="en-US" b="1"/>
              <a:t>小项与大项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0E89F0-94F9-917F-185E-AFAB6CA229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3816350" cy="48688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1.7.2</a:t>
            </a:r>
            <a:r>
              <a:rPr lang="en-US" altLang="zh-CN"/>
              <a:t> </a:t>
            </a:r>
            <a:r>
              <a:rPr lang="zh-CN" altLang="en-US"/>
              <a:t>含</a:t>
            </a:r>
            <a:r>
              <a:rPr lang="en-US" altLang="zh-CN"/>
              <a:t>n</a:t>
            </a:r>
            <a:r>
              <a:rPr lang="zh-CN" altLang="en-US"/>
              <a:t>个命题变量的基本和，称作</a:t>
            </a:r>
            <a:r>
              <a:rPr lang="zh-CN" altLang="en-US" b="1">
                <a:solidFill>
                  <a:schemeClr val="hlink"/>
                </a:solidFill>
              </a:rPr>
              <a:t>布尔析取</a:t>
            </a:r>
            <a:r>
              <a:rPr lang="en-US" altLang="zh-CN">
                <a:solidFill>
                  <a:schemeClr val="hlink"/>
                </a:solidFill>
              </a:rPr>
              <a:t>(Boolean disjunction)</a:t>
            </a:r>
            <a:r>
              <a:rPr lang="en-US" altLang="zh-CN" b="1"/>
              <a:t> </a:t>
            </a:r>
            <a:r>
              <a:rPr lang="zh-CN" altLang="en-US"/>
              <a:t>或</a:t>
            </a:r>
            <a:r>
              <a:rPr lang="zh-CN" altLang="en-US" b="1">
                <a:solidFill>
                  <a:srgbClr val="0066FF"/>
                </a:solidFill>
              </a:rPr>
              <a:t>大项</a:t>
            </a:r>
            <a:r>
              <a:rPr lang="en-US" altLang="zh-CN">
                <a:solidFill>
                  <a:srgbClr val="0066FF"/>
                </a:solidFill>
              </a:rPr>
              <a:t>(maxterm)</a:t>
            </a:r>
            <a:r>
              <a:rPr lang="en-US" altLang="zh-CN"/>
              <a:t> </a:t>
            </a:r>
            <a:r>
              <a:rPr lang="zh-CN" altLang="en-US"/>
              <a:t>，当且仅当每个命题变量与其否定不能同时存在，但两者必须出现一个且仅一个。</a:t>
            </a:r>
            <a:r>
              <a:rPr lang="zh-CN" altLang="en-US" sz="2000"/>
              <a:t> 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66D961F-34EE-21AE-F22B-B7F666B005A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989138"/>
            <a:ext cx="4572000" cy="4868862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zh-CN" dirty="0">
                <a:solidFill>
                  <a:srgbClr val="FF00FF"/>
                </a:solidFill>
              </a:rPr>
              <a:t>P,Q,R</a:t>
            </a:r>
            <a:r>
              <a:rPr lang="zh-CN" altLang="en-US" dirty="0">
                <a:solidFill>
                  <a:srgbClr val="FF00FF"/>
                </a:solidFill>
              </a:rPr>
              <a:t>的大项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chemeClr val="hlink"/>
                </a:solidFill>
              </a:rPr>
              <a:t>二进制编码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P∨Q∨R          M</a:t>
            </a:r>
            <a:r>
              <a:rPr lang="en-US" altLang="zh-CN" baseline="-25000" dirty="0"/>
              <a:t>000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P∨┐Q∨┐R       M</a:t>
            </a:r>
            <a:r>
              <a:rPr lang="en-US" altLang="zh-CN" baseline="-25000" dirty="0"/>
              <a:t>011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┐P∨Q∨┐R       M</a:t>
            </a:r>
            <a:r>
              <a:rPr lang="en-US" altLang="zh-CN" baseline="-25000" dirty="0"/>
              <a:t>101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┐P∨┐Q∨R       M</a:t>
            </a:r>
            <a:r>
              <a:rPr lang="en-US" altLang="zh-CN" baseline="-25000" dirty="0"/>
              <a:t>110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┐P∨Q∨R       M</a:t>
            </a:r>
            <a:r>
              <a:rPr lang="en-US" altLang="zh-CN" baseline="-25000" dirty="0"/>
              <a:t>100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P∨┐Q∨R       M</a:t>
            </a:r>
            <a:r>
              <a:rPr lang="en-US" altLang="zh-CN" baseline="-25000" dirty="0"/>
              <a:t>010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P∨Q∨┐R       M</a:t>
            </a:r>
            <a:r>
              <a:rPr lang="en-US" altLang="zh-CN" baseline="-25000" dirty="0"/>
              <a:t>001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/>
              <a:t>┐P∨┐Q∨┐R    M</a:t>
            </a:r>
            <a:r>
              <a:rPr lang="en-US" altLang="zh-CN" baseline="-25000" dirty="0"/>
              <a:t>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EB8C68EA-7EF3-41F5-FA32-44BBD5ECF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1.7.2  </a:t>
            </a:r>
            <a:r>
              <a:rPr lang="zh-CN" altLang="en-US" b="1"/>
              <a:t>小项与大项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C734532A-76DC-905B-0577-B0179A230B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3816350" cy="48688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所有大项的和取为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</a:p>
          <a:p>
            <a:pPr eaLnBrk="1" hangingPunct="1">
              <a:lnSpc>
                <a:spcPct val="120000"/>
              </a:lnSpc>
            </a:pPr>
            <a:endParaRPr lang="en-US" altLang="zh-CN" dirty="0">
              <a:solidFill>
                <a:schemeClr val="hlink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M</a:t>
            </a:r>
            <a:r>
              <a:rPr lang="en-US" altLang="zh-CN" baseline="-25000" dirty="0"/>
              <a:t>000</a:t>
            </a:r>
            <a:r>
              <a:rPr lang="en-US" altLang="zh-CN" dirty="0"/>
              <a:t> ∧ M</a:t>
            </a:r>
            <a:r>
              <a:rPr lang="en-US" altLang="zh-CN" baseline="-25000" dirty="0"/>
              <a:t>001</a:t>
            </a:r>
            <a:r>
              <a:rPr lang="en-US" altLang="zh-CN" dirty="0"/>
              <a:t> ∧ M</a:t>
            </a:r>
            <a:r>
              <a:rPr lang="en-US" altLang="zh-CN" baseline="-25000" dirty="0"/>
              <a:t>010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/>
              <a:t>∧ M</a:t>
            </a:r>
            <a:r>
              <a:rPr lang="en-US" altLang="zh-CN" baseline="-25000" dirty="0"/>
              <a:t>011</a:t>
            </a:r>
            <a:r>
              <a:rPr lang="en-US" altLang="zh-CN" dirty="0"/>
              <a:t> ∧ M</a:t>
            </a:r>
            <a:r>
              <a:rPr lang="en-US" altLang="zh-CN" baseline="-25000" dirty="0"/>
              <a:t>100</a:t>
            </a:r>
            <a:r>
              <a:rPr lang="en-US" altLang="zh-CN" dirty="0"/>
              <a:t> ∧ M</a:t>
            </a:r>
            <a:r>
              <a:rPr lang="en-US" altLang="zh-CN" baseline="-25000" dirty="0"/>
              <a:t>101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/>
              <a:t>∧ M</a:t>
            </a:r>
            <a:r>
              <a:rPr lang="en-US" altLang="zh-CN" baseline="-25000" dirty="0"/>
              <a:t>110</a:t>
            </a:r>
            <a:r>
              <a:rPr lang="en-US" altLang="zh-CN" dirty="0"/>
              <a:t> ∧ M</a:t>
            </a:r>
            <a:r>
              <a:rPr lang="en-US" altLang="zh-CN" baseline="-25000" dirty="0"/>
              <a:t>111</a:t>
            </a:r>
            <a:r>
              <a:rPr lang="en-US" altLang="zh-CN" sz="2800" dirty="0">
                <a:sym typeface="Symbol" panose="05050102010706020507" pitchFamily="18" charset="2"/>
              </a:rPr>
              <a:t> 0</a:t>
            </a:r>
            <a:endParaRPr lang="en-US" altLang="zh-CN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1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0">
            <a:extLst>
              <a:ext uri="{FF2B5EF4-FFF2-40B4-BE49-F238E27FC236}">
                <a16:creationId xmlns:a16="http://schemas.microsoft.com/office/drawing/2014/main" id="{172DE223-3239-D496-165A-F4F64D141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1.7.2  </a:t>
            </a:r>
            <a:r>
              <a:rPr lang="zh-CN" altLang="en-US" b="1"/>
              <a:t>小项与大项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E09BB8D5-B6C2-F7D2-8723-054814F233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353425" cy="4724400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相同</a:t>
            </a:r>
            <a:r>
              <a:rPr lang="zh-CN" altLang="en-US" sz="2800" dirty="0"/>
              <a:t>变元的小项与大项</a:t>
            </a:r>
            <a:r>
              <a:rPr lang="en-US" altLang="zh-CN" sz="2800" dirty="0"/>
              <a:t>,</a:t>
            </a:r>
            <a:r>
              <a:rPr lang="zh-CN" altLang="en-US" sz="2800" dirty="0"/>
              <a:t>有</a:t>
            </a:r>
            <a:r>
              <a:rPr lang="en-US" altLang="zh-CN" sz="2800" dirty="0"/>
              <a:t>m</a:t>
            </a:r>
            <a:r>
              <a:rPr lang="en-US" altLang="zh-CN" sz="2800" baseline="-25000" dirty="0">
                <a:solidFill>
                  <a:schemeClr val="hlink"/>
                </a:solidFill>
              </a:rPr>
              <a:t>i</a:t>
            </a:r>
            <a:r>
              <a:rPr lang="en-US" altLang="zh-CN" sz="2800" dirty="0">
                <a:sym typeface="Symbol" panose="05050102010706020507" pitchFamily="18" charset="2"/>
              </a:rPr>
              <a:t> </a:t>
            </a:r>
            <a:r>
              <a:rPr lang="en-US" altLang="zh-CN" sz="2800" dirty="0"/>
              <a:t>┐M</a:t>
            </a:r>
            <a:r>
              <a:rPr lang="en-US" altLang="zh-CN" sz="2800" baseline="-25000" dirty="0">
                <a:solidFill>
                  <a:schemeClr val="hlink"/>
                </a:solidFill>
              </a:rPr>
              <a:t>i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P∨Q∨R                </a:t>
            </a:r>
            <a:r>
              <a:rPr lang="en-US" altLang="zh-CN" sz="2800" dirty="0">
                <a:solidFill>
                  <a:schemeClr val="hlink"/>
                </a:solidFill>
              </a:rPr>
              <a:t>000</a:t>
            </a:r>
            <a:r>
              <a:rPr lang="en-US" altLang="zh-CN" sz="2800" dirty="0"/>
              <a:t>         ┐P∧┐Q∧┐R   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P∨┐Q∨┐R          </a:t>
            </a:r>
            <a:r>
              <a:rPr lang="en-US" altLang="zh-CN" sz="2800" dirty="0">
                <a:solidFill>
                  <a:schemeClr val="hlink"/>
                </a:solidFill>
              </a:rPr>
              <a:t>011</a:t>
            </a:r>
            <a:r>
              <a:rPr lang="en-US" altLang="zh-CN" sz="2800" dirty="0"/>
              <a:t>         ┐P∧Q∧R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┐P∨Q∨┐R          </a:t>
            </a:r>
            <a:r>
              <a:rPr lang="en-US" altLang="zh-CN" sz="2800" dirty="0">
                <a:solidFill>
                  <a:schemeClr val="hlink"/>
                </a:solidFill>
              </a:rPr>
              <a:t>101</a:t>
            </a:r>
            <a:r>
              <a:rPr lang="en-US" altLang="zh-CN" sz="2800" dirty="0"/>
              <a:t>            P∧┐Q∧R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┐P∨┐Q∨R          </a:t>
            </a:r>
            <a:r>
              <a:rPr lang="en-US" altLang="zh-CN" sz="2800" dirty="0">
                <a:solidFill>
                  <a:schemeClr val="hlink"/>
                </a:solidFill>
              </a:rPr>
              <a:t>110</a:t>
            </a:r>
            <a:r>
              <a:rPr lang="en-US" altLang="zh-CN" sz="2800" dirty="0"/>
              <a:t>            P∧Q∧┐R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┐P∨Q∨R             </a:t>
            </a:r>
            <a:r>
              <a:rPr lang="en-US" altLang="zh-CN" sz="2800" dirty="0">
                <a:solidFill>
                  <a:schemeClr val="hlink"/>
                </a:solidFill>
              </a:rPr>
              <a:t>100</a:t>
            </a:r>
            <a:r>
              <a:rPr lang="en-US" altLang="zh-CN" sz="2800" dirty="0"/>
              <a:t>            P∧┐Q∧┐R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P∨┐Q∨R             </a:t>
            </a:r>
            <a:r>
              <a:rPr lang="en-US" altLang="zh-CN" sz="2800" dirty="0">
                <a:solidFill>
                  <a:schemeClr val="hlink"/>
                </a:solidFill>
              </a:rPr>
              <a:t>010</a:t>
            </a:r>
            <a:r>
              <a:rPr lang="en-US" altLang="zh-CN" sz="2800" dirty="0"/>
              <a:t>         ┐P∧Q∧┐R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P∨Q∨┐R             </a:t>
            </a:r>
            <a:r>
              <a:rPr lang="en-US" altLang="zh-CN" sz="2800" dirty="0">
                <a:solidFill>
                  <a:schemeClr val="hlink"/>
                </a:solidFill>
              </a:rPr>
              <a:t>001</a:t>
            </a:r>
            <a:r>
              <a:rPr lang="en-US" altLang="zh-CN" sz="2800" dirty="0"/>
              <a:t>         ┐P∧┐Q∧R </a:t>
            </a:r>
            <a:endParaRPr lang="en-US" altLang="zh-CN" sz="2800" baseline="-25000" dirty="0"/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/>
              <a:t>    ┐P∨┐Q∨┐R      </a:t>
            </a:r>
            <a:r>
              <a:rPr lang="en-US" altLang="zh-CN" sz="2800" dirty="0">
                <a:solidFill>
                  <a:schemeClr val="hlink"/>
                </a:solidFill>
              </a:rPr>
              <a:t>111</a:t>
            </a:r>
            <a:r>
              <a:rPr lang="en-US" altLang="zh-CN" sz="2800" dirty="0"/>
              <a:t>             P∧Q∧R </a:t>
            </a:r>
          </a:p>
        </p:txBody>
      </p:sp>
    </p:spTree>
    <p:extLst>
      <p:ext uri="{BB962C8B-B14F-4D97-AF65-F5344CB8AC3E}">
        <p14:creationId xmlns:p14="http://schemas.microsoft.com/office/powerpoint/2010/main" val="323458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CA97507-7859-6C30-1F90-7A441FE23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1.7.2  </a:t>
            </a:r>
            <a:r>
              <a:rPr lang="zh-CN" altLang="en-US" b="1"/>
              <a:t>小项与大项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D445803-6BB7-97A7-C1E8-C748017011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353425" cy="48402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ym typeface="Symbol" panose="05050102010706020507" pitchFamily="18" charset="2"/>
              </a:rPr>
              <a:t>每个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小项</a:t>
            </a:r>
            <a:r>
              <a:rPr lang="zh-CN" altLang="en-US">
                <a:sym typeface="Symbol" panose="05050102010706020507" pitchFamily="18" charset="2"/>
              </a:rPr>
              <a:t>当其真值指派与其编码</a:t>
            </a:r>
            <a:r>
              <a:rPr lang="zh-CN" altLang="en-US">
                <a:solidFill>
                  <a:srgbClr val="00CC99"/>
                </a:solidFill>
                <a:sym typeface="Symbol" panose="05050102010706020507" pitchFamily="18" charset="2"/>
              </a:rPr>
              <a:t>相同</a:t>
            </a:r>
            <a:r>
              <a:rPr lang="zh-CN" altLang="en-US">
                <a:sym typeface="Symbol" panose="05050102010706020507" pitchFamily="18" charset="2"/>
              </a:rPr>
              <a:t>时，其真值为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；否则为</a:t>
            </a:r>
            <a:r>
              <a:rPr lang="en-US" altLang="zh-CN">
                <a:sym typeface="Symbol" panose="05050102010706020507" pitchFamily="18" charset="2"/>
              </a:rPr>
              <a:t>0</a:t>
            </a:r>
            <a:r>
              <a:rPr lang="zh-CN" altLang="en-US">
                <a:sym typeface="Symbol" panose="05050102010706020507" pitchFamily="18" charset="2"/>
              </a:rPr>
              <a:t>。</a:t>
            </a:r>
          </a:p>
          <a:p>
            <a:pPr eaLnBrk="1" hangingPunct="1"/>
            <a:endParaRPr lang="en-US" altLang="zh-CN" sz="2800">
              <a:sym typeface="Symbol" panose="05050102010706020507" pitchFamily="18" charset="2"/>
            </a:endParaRPr>
          </a:p>
        </p:txBody>
      </p:sp>
      <p:graphicFrame>
        <p:nvGraphicFramePr>
          <p:cNvPr id="208015" name="Group 143">
            <a:extLst>
              <a:ext uri="{FF2B5EF4-FFF2-40B4-BE49-F238E27FC236}">
                <a16:creationId xmlns:a16="http://schemas.microsoft.com/office/drawing/2014/main" id="{CCBC288F-7B14-0CF6-906B-D6684B9CDB2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331913" y="3744913"/>
          <a:ext cx="6624637" cy="2563813"/>
        </p:xfrm>
        <a:graphic>
          <a:graphicData uri="http://schemas.openxmlformats.org/drawingml/2006/table">
            <a:tbl>
              <a:tblPr/>
              <a:tblGrid>
                <a:gridCol w="74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Q           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P∧┐Q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┐P∧┐Q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0 0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1 1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EA02EDB-C7BE-4DAE-F232-36BB1B984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1.7.2  </a:t>
            </a:r>
            <a:r>
              <a:rPr lang="zh-CN" altLang="en-US" b="1"/>
              <a:t>小项与大项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0040AD7-CADF-DBEA-3F5D-0B652629CA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353425" cy="48402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ym typeface="Symbol" panose="05050102010706020507" pitchFamily="18" charset="2"/>
              </a:rPr>
              <a:t>每个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大项</a:t>
            </a:r>
            <a:r>
              <a:rPr lang="zh-CN" altLang="en-US">
                <a:sym typeface="Symbol" panose="05050102010706020507" pitchFamily="18" charset="2"/>
              </a:rPr>
              <a:t>当其真值指派与其编码</a:t>
            </a:r>
            <a:r>
              <a:rPr lang="zh-CN" altLang="en-US">
                <a:solidFill>
                  <a:srgbClr val="00CC99"/>
                </a:solidFill>
                <a:sym typeface="Symbol" panose="05050102010706020507" pitchFamily="18" charset="2"/>
              </a:rPr>
              <a:t>相同</a:t>
            </a:r>
            <a:r>
              <a:rPr lang="zh-CN" altLang="en-US">
                <a:sym typeface="Symbol" panose="05050102010706020507" pitchFamily="18" charset="2"/>
              </a:rPr>
              <a:t>时，其真值为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0</a:t>
            </a:r>
            <a:r>
              <a:rPr lang="zh-CN" altLang="en-US">
                <a:sym typeface="Symbol" panose="05050102010706020507" pitchFamily="18" charset="2"/>
              </a:rPr>
              <a:t>；否则为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。</a:t>
            </a:r>
          </a:p>
          <a:p>
            <a:pPr eaLnBrk="1" hangingPunct="1"/>
            <a:endParaRPr lang="en-US" altLang="zh-CN" sz="2800">
              <a:sym typeface="Symbol" panose="05050102010706020507" pitchFamily="18" charset="2"/>
            </a:endParaRPr>
          </a:p>
        </p:txBody>
      </p:sp>
      <p:graphicFrame>
        <p:nvGraphicFramePr>
          <p:cNvPr id="216114" name="Group 50">
            <a:extLst>
              <a:ext uri="{FF2B5EF4-FFF2-40B4-BE49-F238E27FC236}">
                <a16:creationId xmlns:a16="http://schemas.microsoft.com/office/drawing/2014/main" id="{E9119192-D5BC-1498-5CCC-3037FCA6F9C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331913" y="3744913"/>
          <a:ext cx="6624637" cy="2563813"/>
        </p:xfrm>
        <a:graphic>
          <a:graphicData uri="http://schemas.openxmlformats.org/drawingml/2006/table">
            <a:tbl>
              <a:tblPr/>
              <a:tblGrid>
                <a:gridCol w="74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Q           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P∨┐Q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┐P∨┐Q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0 0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1 1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E6FA5F6-E18E-BD97-00AD-3EF407AA8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1.7.3  </a:t>
            </a:r>
            <a:r>
              <a:rPr lang="zh-CN" altLang="en-US" b="1"/>
              <a:t>合取范式与析取范式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825557D-984D-FDD0-220F-FF64751EC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84028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合取范式</a:t>
            </a:r>
            <a:r>
              <a:rPr lang="en-US" altLang="zh-CN" dirty="0">
                <a:solidFill>
                  <a:schemeClr val="hlink"/>
                </a:solidFill>
              </a:rPr>
              <a:t>(conjunction normal form)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A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(A</a:t>
            </a:r>
            <a:r>
              <a:rPr lang="en-US" altLang="zh-CN" baseline="-25000" dirty="0"/>
              <a:t>1</a:t>
            </a:r>
            <a:r>
              <a:rPr lang="en-US" altLang="zh-CN" dirty="0"/>
              <a:t>)∧(A</a:t>
            </a:r>
            <a:r>
              <a:rPr lang="en-US" altLang="zh-CN" baseline="-25000" dirty="0"/>
              <a:t>2</a:t>
            </a:r>
            <a:r>
              <a:rPr lang="en-US" altLang="zh-CN" dirty="0"/>
              <a:t>)∧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∧(A</a:t>
            </a:r>
            <a:r>
              <a:rPr lang="en-US" altLang="zh-CN" baseline="-25000" dirty="0"/>
              <a:t>n</a:t>
            </a:r>
            <a:r>
              <a:rPr lang="en-US" altLang="zh-CN" dirty="0"/>
              <a:t>)(n≥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zh-CN" altLang="en-US" dirty="0"/>
              <a:t>＝</a:t>
            </a:r>
            <a:r>
              <a:rPr lang="en-US" altLang="zh-CN" dirty="0"/>
              <a:t>1,2,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,n)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基本和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析取范式</a:t>
            </a:r>
            <a:r>
              <a:rPr lang="en-US" altLang="zh-CN" dirty="0">
                <a:solidFill>
                  <a:schemeClr val="hlink"/>
                </a:solidFill>
              </a:rPr>
              <a:t>(disjunction normal form)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A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(A</a:t>
            </a:r>
            <a:r>
              <a:rPr lang="en-US" altLang="zh-CN" baseline="-25000" dirty="0"/>
              <a:t>1</a:t>
            </a:r>
            <a:r>
              <a:rPr lang="en-US" altLang="zh-CN" dirty="0"/>
              <a:t>)∨(A</a:t>
            </a:r>
            <a:r>
              <a:rPr lang="en-US" altLang="zh-CN" baseline="-25000" dirty="0"/>
              <a:t>2</a:t>
            </a:r>
            <a:r>
              <a:rPr lang="en-US" altLang="zh-CN" dirty="0"/>
              <a:t>)∨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∨(A</a:t>
            </a:r>
            <a:r>
              <a:rPr lang="en-US" altLang="zh-CN" baseline="-25000" dirty="0"/>
              <a:t>n</a:t>
            </a:r>
            <a:r>
              <a:rPr lang="en-US" altLang="zh-CN" dirty="0"/>
              <a:t>)(n≥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zh-CN" altLang="en-US" dirty="0"/>
              <a:t>＝</a:t>
            </a:r>
            <a:r>
              <a:rPr lang="en-US" altLang="zh-CN" dirty="0"/>
              <a:t>1,2,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,n)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基本积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D7D2E6-C63E-2513-436D-9F349540E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1.7.3  </a:t>
            </a:r>
            <a:r>
              <a:rPr lang="zh-CN" altLang="en-US" b="1"/>
              <a:t>合取范式与析取范式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BF77D7D-9A7D-B58F-CA94-EAF6D9095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1.8.1</a:t>
            </a:r>
            <a:r>
              <a:rPr lang="en-US" altLang="zh-CN"/>
              <a:t> </a:t>
            </a:r>
            <a:r>
              <a:rPr lang="zh-CN" altLang="en-US"/>
              <a:t>求</a:t>
            </a:r>
            <a:r>
              <a:rPr lang="en-US" altLang="zh-CN"/>
              <a:t>(P→Q)→R</a:t>
            </a:r>
            <a:r>
              <a:rPr lang="zh-CN" altLang="en-US"/>
              <a:t>的合取范式与析取范式</a:t>
            </a:r>
            <a:endParaRPr lang="zh-CN" altLang="en-US" b="1"/>
          </a:p>
          <a:p>
            <a:pPr eaLnBrk="1" hangingPunct="1">
              <a:lnSpc>
                <a:spcPct val="170000"/>
              </a:lnSpc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zh-CN" altLang="en-US"/>
              <a:t> </a:t>
            </a:r>
            <a:r>
              <a:rPr lang="en-US" altLang="zh-CN"/>
              <a:t>(P→Q)→R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</a:t>
            </a:r>
            <a:r>
              <a:rPr lang="en-US" altLang="zh-CN"/>
              <a:t>┐(┐P∨Q)∨R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</a:t>
            </a:r>
            <a:r>
              <a:rPr lang="en-US" altLang="zh-CN"/>
              <a:t>(P∧┐Q)∨R            </a:t>
            </a:r>
            <a:r>
              <a:rPr lang="zh-CN" altLang="en-US"/>
              <a:t>（析取范式）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     </a:t>
            </a:r>
            <a:r>
              <a:rPr lang="en-US" altLang="zh-CN"/>
              <a:t>(P∨R)∧(┐Q∨R)     </a:t>
            </a:r>
            <a:r>
              <a:rPr lang="zh-CN" altLang="en-US"/>
              <a:t>（合取范式）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A8C21C2-CFF6-D990-6C4A-F7A9638F4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1.7.3  </a:t>
            </a:r>
            <a:r>
              <a:rPr lang="zh-CN" altLang="en-US" b="1"/>
              <a:t>合取范式与析取范式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69A0AD-4893-489F-BA33-13E8B225F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1.7.2</a:t>
            </a:r>
            <a:r>
              <a:rPr lang="zh-CN" altLang="en-US" dirty="0"/>
              <a:t>求</a:t>
            </a:r>
            <a:r>
              <a:rPr lang="en-US" altLang="zh-CN" dirty="0"/>
              <a:t>P→((Q∧R)→S)</a:t>
            </a:r>
            <a:r>
              <a:rPr lang="zh-CN" altLang="en-US" dirty="0"/>
              <a:t>合取范式析取范式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en-US" altLang="zh-CN" dirty="0"/>
              <a:t>P→((Q∧R)→S)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</a:t>
            </a:r>
            <a:r>
              <a:rPr lang="en-US" altLang="zh-CN" dirty="0"/>
              <a:t>┐P∨(┐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Q∧R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∨S)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</a:t>
            </a:r>
            <a:r>
              <a:rPr lang="en-US" altLang="zh-CN" dirty="0"/>
              <a:t>┐P∨(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┐Q∨┐R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∨S)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</a:t>
            </a:r>
            <a:r>
              <a:rPr lang="en-US" altLang="zh-CN" dirty="0"/>
              <a:t>┐P∨┐Q∨┐R∨S   </a:t>
            </a:r>
            <a:r>
              <a:rPr lang="zh-CN" altLang="en-US" dirty="0"/>
              <a:t>（析取范式）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/>
              <a:t>┐P∨┐Q∨┐R∨S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（合取范式）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570BE98-23B0-715A-A581-EB4995865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9916774-AE7C-AB60-705D-DE0DD0D96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532812" cy="4840287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主</a:t>
            </a:r>
            <a:r>
              <a:rPr lang="zh-CN" altLang="en-US" sz="2800" b="1">
                <a:solidFill>
                  <a:srgbClr val="008080"/>
                </a:solidFill>
              </a:rPr>
              <a:t>合取</a:t>
            </a:r>
            <a:r>
              <a:rPr lang="zh-CN" altLang="en-US" sz="2800" b="1">
                <a:solidFill>
                  <a:schemeClr val="hlink"/>
                </a:solidFill>
              </a:rPr>
              <a:t>范式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chemeClr val="hlink"/>
                </a:solidFill>
              </a:rPr>
              <a:t>principle conjunction normal form</a:t>
            </a:r>
            <a:r>
              <a:rPr lang="en-US" altLang="zh-CN" sz="2800"/>
              <a:t>)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A </a:t>
            </a:r>
            <a:r>
              <a:rPr lang="en-US" altLang="zh-CN" sz="2800">
                <a:sym typeface="Symbol" panose="05050102010706020507" pitchFamily="18" charset="2"/>
              </a:rPr>
              <a:t> </a:t>
            </a:r>
            <a:r>
              <a:rPr lang="en-US" altLang="zh-CN" sz="2800"/>
              <a:t>(A</a:t>
            </a:r>
            <a:r>
              <a:rPr lang="en-US" altLang="zh-CN" sz="2800" baseline="-25000"/>
              <a:t>1</a:t>
            </a:r>
            <a:r>
              <a:rPr lang="en-US" altLang="zh-CN" sz="2800"/>
              <a:t>)∧(A</a:t>
            </a:r>
            <a:r>
              <a:rPr lang="en-US" altLang="zh-CN" sz="2800" baseline="-25000"/>
              <a:t>2</a:t>
            </a:r>
            <a:r>
              <a:rPr lang="en-US" altLang="zh-CN" sz="2800"/>
              <a:t>)∧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en-US" altLang="zh-CN" sz="2800"/>
              <a:t>∧(A</a:t>
            </a:r>
            <a:r>
              <a:rPr lang="en-US" altLang="zh-CN" sz="2800" baseline="-25000"/>
              <a:t>n</a:t>
            </a:r>
            <a:r>
              <a:rPr lang="en-US" altLang="zh-CN" sz="2800"/>
              <a:t>)(n≥1)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</a:t>
            </a:r>
            <a:r>
              <a:rPr lang="zh-CN" altLang="en-US" sz="2800"/>
              <a:t>其中</a:t>
            </a:r>
            <a:r>
              <a:rPr lang="en-US" altLang="zh-CN" sz="2800"/>
              <a:t>A</a:t>
            </a:r>
            <a:r>
              <a:rPr lang="en-US" altLang="zh-CN" sz="2800" baseline="-25000"/>
              <a:t>i</a:t>
            </a:r>
            <a:r>
              <a:rPr lang="en-US" altLang="zh-CN" sz="2800"/>
              <a:t>(i</a:t>
            </a:r>
            <a:r>
              <a:rPr lang="zh-CN" altLang="en-US" sz="2800"/>
              <a:t>＝</a:t>
            </a:r>
            <a:r>
              <a:rPr lang="en-US" altLang="zh-CN" sz="2800"/>
              <a:t>1,2,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en-US" altLang="zh-CN" sz="2800"/>
              <a:t>,n)</a:t>
            </a:r>
            <a:r>
              <a:rPr lang="zh-CN" altLang="en-US" sz="2800"/>
              <a:t>为</a:t>
            </a:r>
            <a:r>
              <a:rPr lang="en-US" altLang="zh-CN" sz="2800"/>
              <a:t>A</a:t>
            </a:r>
            <a:r>
              <a:rPr lang="zh-CN" altLang="en-US" sz="2800"/>
              <a:t>中命题变量产生的</a:t>
            </a:r>
            <a:r>
              <a:rPr lang="zh-CN" altLang="en-US" sz="2800">
                <a:solidFill>
                  <a:srgbClr val="0066FF"/>
                </a:solidFill>
              </a:rPr>
              <a:t>大项</a:t>
            </a:r>
            <a:r>
              <a:rPr lang="zh-CN" altLang="en-US" sz="2800"/>
              <a:t> </a:t>
            </a:r>
            <a:endParaRPr lang="zh-CN" altLang="en-US" sz="2800" b="1"/>
          </a:p>
          <a:p>
            <a:pPr eaLnBrk="1" hangingPunct="1">
              <a:lnSpc>
                <a:spcPct val="16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主</a:t>
            </a:r>
            <a:r>
              <a:rPr lang="zh-CN" altLang="en-US" sz="2800" b="1">
                <a:solidFill>
                  <a:srgbClr val="008080"/>
                </a:solidFill>
              </a:rPr>
              <a:t>析取</a:t>
            </a:r>
            <a:r>
              <a:rPr lang="zh-CN" altLang="en-US" sz="2800" b="1">
                <a:solidFill>
                  <a:schemeClr val="hlink"/>
                </a:solidFill>
              </a:rPr>
              <a:t>范式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chemeClr val="hlink"/>
                </a:solidFill>
              </a:rPr>
              <a:t>principle disjunction normal form</a:t>
            </a:r>
            <a:r>
              <a:rPr lang="en-US" altLang="zh-CN" sz="2800"/>
              <a:t>)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A </a:t>
            </a:r>
            <a:r>
              <a:rPr lang="en-US" altLang="zh-CN" sz="2800">
                <a:sym typeface="Symbol" panose="05050102010706020507" pitchFamily="18" charset="2"/>
              </a:rPr>
              <a:t> </a:t>
            </a:r>
            <a:r>
              <a:rPr lang="en-US" altLang="zh-CN" sz="2800"/>
              <a:t>(A</a:t>
            </a:r>
            <a:r>
              <a:rPr lang="en-US" altLang="zh-CN" sz="2800" baseline="-25000"/>
              <a:t>1</a:t>
            </a:r>
            <a:r>
              <a:rPr lang="en-US" altLang="zh-CN" sz="2800"/>
              <a:t>)∨(A</a:t>
            </a:r>
            <a:r>
              <a:rPr lang="en-US" altLang="zh-CN" sz="2800" baseline="-25000"/>
              <a:t>2</a:t>
            </a:r>
            <a:r>
              <a:rPr lang="en-US" altLang="zh-CN" sz="2800"/>
              <a:t>)∨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en-US" altLang="zh-CN" sz="2800"/>
              <a:t>∨(A</a:t>
            </a:r>
            <a:r>
              <a:rPr lang="en-US" altLang="zh-CN" sz="2800" baseline="-25000"/>
              <a:t>n</a:t>
            </a:r>
            <a:r>
              <a:rPr lang="en-US" altLang="zh-CN" sz="2800"/>
              <a:t>)(n≥1)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</a:t>
            </a:r>
            <a:r>
              <a:rPr lang="zh-CN" altLang="en-US" sz="2800"/>
              <a:t>其中</a:t>
            </a:r>
            <a:r>
              <a:rPr lang="en-US" altLang="zh-CN" sz="2800"/>
              <a:t>A</a:t>
            </a:r>
            <a:r>
              <a:rPr lang="en-US" altLang="zh-CN" sz="2800" baseline="-25000"/>
              <a:t>i</a:t>
            </a:r>
            <a:r>
              <a:rPr lang="en-US" altLang="zh-CN" sz="2800"/>
              <a:t>(i</a:t>
            </a:r>
            <a:r>
              <a:rPr lang="zh-CN" altLang="en-US" sz="2800"/>
              <a:t>＝</a:t>
            </a:r>
            <a:r>
              <a:rPr lang="en-US" altLang="zh-CN" sz="2800"/>
              <a:t>1,2,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en-US" altLang="zh-CN" sz="2800"/>
              <a:t>,n)</a:t>
            </a:r>
            <a:r>
              <a:rPr lang="zh-CN" altLang="en-US" sz="2800"/>
              <a:t>为</a:t>
            </a:r>
            <a:r>
              <a:rPr lang="en-US" altLang="zh-CN" sz="2800"/>
              <a:t>A</a:t>
            </a:r>
            <a:r>
              <a:rPr lang="zh-CN" altLang="en-US" sz="2800"/>
              <a:t>中命题变量产生的</a:t>
            </a:r>
            <a:r>
              <a:rPr lang="zh-CN" altLang="en-US" sz="2800">
                <a:solidFill>
                  <a:srgbClr val="0066FF"/>
                </a:solidFill>
              </a:rPr>
              <a:t>小项</a:t>
            </a:r>
            <a:r>
              <a:rPr lang="zh-CN" altLang="en-US" sz="280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279FED7B-72ED-CF61-FF4F-0FC24489A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1E96DF90-E0B3-56F4-024B-31597FE44F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916113"/>
            <a:ext cx="8388350" cy="4826000"/>
          </a:xfrm>
        </p:spPr>
        <p:txBody>
          <a:bodyPr/>
          <a:lstStyle/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1.8.3</a:t>
            </a:r>
            <a:r>
              <a:rPr lang="zh-CN" altLang="en-US"/>
              <a:t>求</a:t>
            </a:r>
            <a:r>
              <a:rPr lang="en-US" altLang="zh-CN"/>
              <a:t>(P→Q)→R</a:t>
            </a:r>
            <a:r>
              <a:rPr lang="zh-CN" altLang="en-US"/>
              <a:t>主合取范式</a:t>
            </a:r>
            <a:endParaRPr lang="zh-CN" altLang="en-US" b="1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解</a:t>
            </a:r>
            <a:r>
              <a:rPr lang="zh-CN" altLang="en-US"/>
              <a:t> </a:t>
            </a:r>
            <a:r>
              <a:rPr lang="en-US" altLang="zh-CN"/>
              <a:t>(P→Q)→R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/>
              <a:t>P∨R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/>
              <a:t>∧(┐Q∨R)(</a:t>
            </a:r>
            <a:r>
              <a:rPr lang="zh-CN" altLang="en-US"/>
              <a:t>合取范式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/>
              <a:t>P∨</a:t>
            </a:r>
            <a:r>
              <a:rPr lang="en-US" altLang="zh-CN">
                <a:solidFill>
                  <a:srgbClr val="FF00FF"/>
                </a:solidFill>
              </a:rPr>
              <a:t>Q</a:t>
            </a:r>
            <a:r>
              <a:rPr lang="en-US" altLang="zh-CN"/>
              <a:t>∨R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/>
              <a:t>∧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/>
              <a:t>P∨</a:t>
            </a:r>
            <a:r>
              <a:rPr lang="en-US" altLang="zh-CN">
                <a:solidFill>
                  <a:srgbClr val="FF00FF"/>
                </a:solidFill>
              </a:rPr>
              <a:t>┐Q</a:t>
            </a:r>
            <a:r>
              <a:rPr lang="en-US" altLang="zh-CN"/>
              <a:t>∨R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/>
              <a:t>∧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 (</a:t>
            </a:r>
            <a:r>
              <a:rPr lang="en-US" altLang="zh-CN">
                <a:solidFill>
                  <a:schemeClr val="accent1"/>
                </a:solidFill>
              </a:rPr>
              <a:t>P</a:t>
            </a:r>
            <a:r>
              <a:rPr lang="en-US" altLang="zh-CN"/>
              <a:t>∨┐Q∨R)∧(</a:t>
            </a:r>
            <a:r>
              <a:rPr lang="en-US" altLang="zh-CN">
                <a:solidFill>
                  <a:schemeClr val="accent1"/>
                </a:solidFill>
              </a:rPr>
              <a:t>┐P</a:t>
            </a:r>
            <a:r>
              <a:rPr lang="en-US" altLang="zh-CN"/>
              <a:t>∨┐Q∨R) </a:t>
            </a:r>
          </a:p>
          <a:p>
            <a:pPr eaLnBrk="1" hangingPunct="1">
              <a:lnSpc>
                <a:spcPct val="135000"/>
              </a:lnSpc>
              <a:buFont typeface="Symbol" panose="05050102010706020507" pitchFamily="18" charset="2"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(P∨Q∨R)∧(P∨┐Q∨R)∧(┐P∨┐Q∨R) </a:t>
            </a:r>
          </a:p>
          <a:p>
            <a:pPr eaLnBrk="1" hangingPunct="1">
              <a:lnSpc>
                <a:spcPct val="135000"/>
              </a:lnSpc>
              <a:buFont typeface="Symbol" panose="05050102010706020507" pitchFamily="18" charset="2"/>
              <a:buNone/>
            </a:pPr>
            <a:r>
              <a:rPr lang="en-US" altLang="zh-CN">
                <a:sym typeface="Symbol" panose="05050102010706020507" pitchFamily="18" charset="2"/>
              </a:rPr>
              <a:t>∏(0,2,6) </a:t>
            </a:r>
            <a:endParaRPr lang="en-US" altLang="zh-CN"/>
          </a:p>
        </p:txBody>
      </p:sp>
      <p:sp>
        <p:nvSpPr>
          <p:cNvPr id="141324" name="Text Box 12">
            <a:extLst>
              <a:ext uri="{FF2B5EF4-FFF2-40B4-BE49-F238E27FC236}">
                <a16:creationId xmlns:a16="http://schemas.microsoft.com/office/drawing/2014/main" id="{DBFA37CB-4C6E-96B7-3AAE-E2413189F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350" y="2060575"/>
            <a:ext cx="30607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66FF"/>
                </a:solidFill>
              </a:rPr>
              <a:t>(</a:t>
            </a:r>
            <a:r>
              <a:rPr lang="en-US" altLang="zh-CN" sz="2000" dirty="0"/>
              <a:t>P∨</a:t>
            </a:r>
            <a:r>
              <a:rPr lang="en-US" altLang="zh-CN" sz="2000" dirty="0">
                <a:solidFill>
                  <a:srgbClr val="FF00FF"/>
                </a:solidFill>
              </a:rPr>
              <a:t>Q</a:t>
            </a:r>
            <a:r>
              <a:rPr lang="en-US" altLang="zh-CN" sz="2000" dirty="0"/>
              <a:t>∨R</a:t>
            </a:r>
            <a:r>
              <a:rPr lang="en-US" altLang="zh-CN" sz="2000" dirty="0">
                <a:solidFill>
                  <a:srgbClr val="0066FF"/>
                </a:solidFill>
              </a:rPr>
              <a:t>)</a:t>
            </a:r>
            <a:r>
              <a:rPr lang="en-US" altLang="zh-CN" sz="2000" dirty="0"/>
              <a:t>∧</a:t>
            </a:r>
            <a:r>
              <a:rPr lang="en-US" altLang="zh-CN" sz="2000" dirty="0">
                <a:solidFill>
                  <a:srgbClr val="0066FF"/>
                </a:solidFill>
              </a:rPr>
              <a:t>(</a:t>
            </a:r>
            <a:r>
              <a:rPr lang="en-US" altLang="zh-CN" sz="2000" dirty="0"/>
              <a:t>P∨</a:t>
            </a:r>
            <a:r>
              <a:rPr lang="en-US" altLang="zh-CN" sz="2000" dirty="0">
                <a:solidFill>
                  <a:srgbClr val="FF00FF"/>
                </a:solidFill>
              </a:rPr>
              <a:t>┐Q</a:t>
            </a:r>
            <a:r>
              <a:rPr lang="en-US" altLang="zh-CN" sz="2000" dirty="0"/>
              <a:t>∨R</a:t>
            </a:r>
            <a:r>
              <a:rPr lang="en-US" altLang="zh-CN" sz="2000" dirty="0">
                <a:solidFill>
                  <a:srgbClr val="0066FF"/>
                </a:solidFill>
              </a:rPr>
              <a:t>)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</a:t>
            </a:r>
            <a:r>
              <a:rPr lang="en-US" altLang="zh-CN" sz="2000" dirty="0">
                <a:solidFill>
                  <a:srgbClr val="0066FF"/>
                </a:solidFill>
              </a:rPr>
              <a:t>(</a:t>
            </a:r>
            <a:r>
              <a:rPr lang="en-US" altLang="zh-CN" sz="2000" dirty="0"/>
              <a:t>P∨R</a:t>
            </a:r>
            <a:r>
              <a:rPr lang="en-US" altLang="zh-CN" sz="2000" dirty="0">
                <a:solidFill>
                  <a:srgbClr val="0066FF"/>
                </a:solidFill>
              </a:rPr>
              <a:t>)</a:t>
            </a:r>
            <a:r>
              <a:rPr lang="en-US" altLang="zh-CN" sz="2000" dirty="0"/>
              <a:t>∨(Q∧┐Q)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</a:t>
            </a:r>
            <a:r>
              <a:rPr lang="en-US" altLang="zh-CN" sz="2000" dirty="0">
                <a:solidFill>
                  <a:srgbClr val="0066FF"/>
                </a:solidFill>
              </a:rPr>
              <a:t>(</a:t>
            </a:r>
            <a:r>
              <a:rPr lang="en-US" altLang="zh-CN" sz="2000" dirty="0"/>
              <a:t>P∨R</a:t>
            </a:r>
            <a:r>
              <a:rPr lang="en-US" altLang="zh-CN" sz="2000" dirty="0">
                <a:solidFill>
                  <a:srgbClr val="0066FF"/>
                </a:solidFill>
              </a:rPr>
              <a:t>)</a:t>
            </a:r>
            <a:r>
              <a:rPr lang="en-US" altLang="zh-CN" sz="2000" dirty="0"/>
              <a:t>∨0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</a:t>
            </a:r>
            <a:r>
              <a:rPr lang="en-US" altLang="zh-CN" sz="2000" dirty="0">
                <a:solidFill>
                  <a:srgbClr val="0066FF"/>
                </a:solidFill>
              </a:rPr>
              <a:t>(</a:t>
            </a:r>
            <a:r>
              <a:rPr lang="en-US" altLang="zh-CN" sz="2000" dirty="0"/>
              <a:t>P∨R</a:t>
            </a:r>
            <a:r>
              <a:rPr lang="en-US" altLang="zh-CN" sz="2000" dirty="0">
                <a:solidFill>
                  <a:srgbClr val="0066FF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575BED-AF6F-6493-954A-7BD7D30CF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6D627A34-03F4-B5FF-4282-57AD103F174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755650" y="1989138"/>
            <a:ext cx="8388350" cy="48688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1.8.4</a:t>
            </a:r>
            <a:r>
              <a:rPr lang="zh-CN" altLang="en-US" dirty="0"/>
              <a:t>求</a:t>
            </a:r>
            <a:r>
              <a:rPr lang="en-US" altLang="zh-CN" dirty="0"/>
              <a:t>(P→Q)→R</a:t>
            </a:r>
            <a:r>
              <a:rPr lang="zh-CN" altLang="en-US" dirty="0"/>
              <a:t>主析取范式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</a:t>
            </a:r>
            <a:r>
              <a:rPr lang="en-US" altLang="zh-CN" dirty="0"/>
              <a:t>(P→Q)→R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dirty="0"/>
              <a:t>P∧┐Q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/>
              <a:t>∨R(</a:t>
            </a:r>
            <a:r>
              <a:rPr lang="zh-CN" altLang="en-US" dirty="0"/>
              <a:t>析取范式</a:t>
            </a:r>
            <a:r>
              <a:rPr lang="en-US" altLang="zh-CN" dirty="0"/>
              <a:t>)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u="sng" dirty="0">
                <a:solidFill>
                  <a:srgbClr val="0066FF"/>
                </a:solidFill>
              </a:rPr>
              <a:t>(</a:t>
            </a:r>
            <a:r>
              <a:rPr lang="en-US" altLang="zh-CN" u="sng" dirty="0"/>
              <a:t>P∧┐Q∧</a:t>
            </a:r>
            <a:r>
              <a:rPr lang="en-US" altLang="zh-CN" u="sng" dirty="0">
                <a:solidFill>
                  <a:srgbClr val="FF00FF"/>
                </a:solidFill>
              </a:rPr>
              <a:t>R</a:t>
            </a:r>
            <a:r>
              <a:rPr lang="en-US" altLang="zh-CN" u="sng" dirty="0">
                <a:solidFill>
                  <a:srgbClr val="0066FF"/>
                </a:solidFill>
              </a:rPr>
              <a:t>)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dirty="0"/>
              <a:t>P∧┐Q∧</a:t>
            </a:r>
            <a:r>
              <a:rPr lang="en-US" altLang="zh-CN" dirty="0">
                <a:solidFill>
                  <a:srgbClr val="FF00FF"/>
                </a:solidFill>
              </a:rPr>
              <a:t>┐R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/>
              <a:t>∨(</a:t>
            </a:r>
            <a:r>
              <a:rPr lang="en-US" altLang="zh-CN" dirty="0">
                <a:solidFill>
                  <a:schemeClr val="hlink"/>
                </a:solidFill>
              </a:rPr>
              <a:t>P</a:t>
            </a:r>
            <a:r>
              <a:rPr lang="en-US" altLang="zh-CN" dirty="0"/>
              <a:t>∧Q∧R)∨</a:t>
            </a: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en-US" altLang="zh-CN" dirty="0"/>
              <a:t>        </a:t>
            </a:r>
            <a:r>
              <a:rPr lang="en-US" altLang="zh-CN" u="sng" dirty="0"/>
              <a:t>(</a:t>
            </a:r>
            <a:r>
              <a:rPr lang="en-US" altLang="zh-CN" u="sng" dirty="0">
                <a:solidFill>
                  <a:schemeClr val="hlink"/>
                </a:solidFill>
              </a:rPr>
              <a:t>P</a:t>
            </a:r>
            <a:r>
              <a:rPr lang="en-US" altLang="zh-CN" u="sng" dirty="0"/>
              <a:t>∧┐Q∧R)</a:t>
            </a:r>
            <a:r>
              <a:rPr lang="en-US" altLang="zh-CN" dirty="0"/>
              <a:t>∨(</a:t>
            </a:r>
            <a:r>
              <a:rPr lang="en-US" altLang="zh-CN" dirty="0">
                <a:solidFill>
                  <a:schemeClr val="accent1"/>
                </a:solidFill>
              </a:rPr>
              <a:t>┐P</a:t>
            </a:r>
            <a:r>
              <a:rPr lang="en-US" altLang="zh-CN" dirty="0"/>
              <a:t>∧Q∧R)∨(</a:t>
            </a:r>
            <a:r>
              <a:rPr lang="en-US" altLang="zh-CN" dirty="0">
                <a:solidFill>
                  <a:schemeClr val="accent1"/>
                </a:solidFill>
              </a:rPr>
              <a:t>┐P</a:t>
            </a:r>
            <a:r>
              <a:rPr lang="en-US" altLang="zh-CN" dirty="0"/>
              <a:t>∧┐Q∧R)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(P∧┐Q∧R)∨(P∧┐Q∧┐R)∨ (P∧Q∧R)∨</a:t>
            </a: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en-US" altLang="zh-CN" dirty="0"/>
              <a:t>        (┐P∧Q∧R)∨(┐P∧┐Q∧R)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∑(1,3,4,5,7) </a:t>
            </a:r>
          </a:p>
        </p:txBody>
      </p:sp>
      <p:sp>
        <p:nvSpPr>
          <p:cNvPr id="218120" name="Text Box 8">
            <a:extLst>
              <a:ext uri="{FF2B5EF4-FFF2-40B4-BE49-F238E27FC236}">
                <a16:creationId xmlns:a16="http://schemas.microsoft.com/office/drawing/2014/main" id="{65EF9508-0D78-BC29-E922-814543AAE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085975"/>
            <a:ext cx="35560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66FF"/>
                </a:solidFill>
              </a:rPr>
              <a:t>(</a:t>
            </a:r>
            <a:r>
              <a:rPr lang="en-US" altLang="zh-CN" sz="2000"/>
              <a:t>P∧┐Q∧</a:t>
            </a:r>
            <a:r>
              <a:rPr lang="en-US" altLang="zh-CN" sz="2000">
                <a:solidFill>
                  <a:srgbClr val="FF00FF"/>
                </a:solidFill>
              </a:rPr>
              <a:t>R</a:t>
            </a:r>
            <a:r>
              <a:rPr lang="en-US" altLang="zh-CN" sz="2000">
                <a:solidFill>
                  <a:srgbClr val="0066FF"/>
                </a:solidFill>
              </a:rPr>
              <a:t>)</a:t>
            </a:r>
            <a:r>
              <a:rPr lang="en-US" altLang="zh-CN" sz="2000"/>
              <a:t>∨</a:t>
            </a:r>
            <a:r>
              <a:rPr lang="en-US" altLang="zh-CN" sz="2000">
                <a:solidFill>
                  <a:srgbClr val="0066FF"/>
                </a:solidFill>
              </a:rPr>
              <a:t>(</a:t>
            </a:r>
            <a:r>
              <a:rPr lang="en-US" altLang="zh-CN" sz="2000"/>
              <a:t>P∧┐Q∧</a:t>
            </a:r>
            <a:r>
              <a:rPr lang="en-US" altLang="zh-CN" sz="2000">
                <a:solidFill>
                  <a:srgbClr val="FF00FF"/>
                </a:solidFill>
              </a:rPr>
              <a:t>┐R</a:t>
            </a:r>
            <a:r>
              <a:rPr lang="en-US" altLang="zh-CN" sz="2000">
                <a:solidFill>
                  <a:srgbClr val="0066FF"/>
                </a:solidFill>
              </a:rPr>
              <a:t>)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</a:t>
            </a:r>
            <a:r>
              <a:rPr lang="en-US" altLang="zh-CN" sz="2000">
                <a:solidFill>
                  <a:srgbClr val="0066FF"/>
                </a:solidFill>
              </a:rPr>
              <a:t>(</a:t>
            </a:r>
            <a:r>
              <a:rPr lang="en-US" altLang="zh-CN" sz="2000"/>
              <a:t>P∧┐Q</a:t>
            </a:r>
            <a:r>
              <a:rPr lang="en-US" altLang="zh-CN" sz="2000">
                <a:solidFill>
                  <a:srgbClr val="0066FF"/>
                </a:solidFill>
              </a:rPr>
              <a:t>)</a:t>
            </a:r>
            <a:r>
              <a:rPr lang="en-US" altLang="zh-CN" sz="2000"/>
              <a:t>∧(R∨┐R)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</a:t>
            </a:r>
            <a:r>
              <a:rPr lang="en-US" altLang="zh-CN" sz="2000">
                <a:solidFill>
                  <a:srgbClr val="0066FF"/>
                </a:solidFill>
              </a:rPr>
              <a:t>(</a:t>
            </a:r>
            <a:r>
              <a:rPr lang="en-US" altLang="zh-CN" sz="2000"/>
              <a:t>P∧┐Q</a:t>
            </a:r>
            <a:r>
              <a:rPr lang="en-US" altLang="zh-CN" sz="2000">
                <a:solidFill>
                  <a:srgbClr val="0066FF"/>
                </a:solidFill>
              </a:rPr>
              <a:t>)</a:t>
            </a:r>
            <a:r>
              <a:rPr lang="en-US" altLang="zh-CN" sz="2000"/>
              <a:t>∧1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</a:t>
            </a:r>
            <a:r>
              <a:rPr lang="en-US" altLang="zh-CN" sz="2000">
                <a:solidFill>
                  <a:srgbClr val="0066FF"/>
                </a:solidFill>
              </a:rPr>
              <a:t>(</a:t>
            </a:r>
            <a:r>
              <a:rPr lang="en-US" altLang="zh-CN" sz="2000"/>
              <a:t>P∧┐Q</a:t>
            </a:r>
            <a:r>
              <a:rPr lang="en-US" altLang="zh-CN" sz="2000">
                <a:solidFill>
                  <a:srgbClr val="0066FF"/>
                </a:solidFill>
              </a:rPr>
              <a:t>)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CF44295-FB20-F3F9-278F-FCEF2228C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8BCA72-300F-CD0D-1170-B5F5E506E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注意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(P→Q)→R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∏(0,2,6)        (</a:t>
            </a:r>
            <a:r>
              <a:rPr lang="zh-CN" altLang="en-US" sz="3600"/>
              <a:t>主合取范式</a:t>
            </a:r>
            <a:r>
              <a:rPr lang="en-US" altLang="zh-CN" sz="3600"/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∑(1,3,4,5,7)  (</a:t>
            </a:r>
            <a:r>
              <a:rPr lang="zh-CN" altLang="en-US" sz="3600"/>
              <a:t>主析取范式</a:t>
            </a:r>
            <a:r>
              <a:rPr lang="en-US" altLang="zh-CN" sz="360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68A3846-9FF5-9E80-7514-E34EF794A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B927B3D-8AEF-9E26-CC65-773071BDD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208962" cy="49418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为什么呢？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/>
              <a:t>(P→Q)→R</a:t>
            </a:r>
            <a:r>
              <a:rPr lang="en-US" altLang="zh-CN" dirty="0">
                <a:sym typeface="Symbol" panose="05050102010706020507" pitchFamily="18" charset="2"/>
              </a:rPr>
              <a:t>∑(</a:t>
            </a:r>
            <a:r>
              <a:rPr lang="en-US" altLang="zh-CN" dirty="0">
                <a:solidFill>
                  <a:srgbClr val="FF00FF"/>
                </a:solidFill>
                <a:sym typeface="Symbol" panose="05050102010706020507" pitchFamily="18" charset="2"/>
              </a:rPr>
              <a:t>1,3,4,5,7</a:t>
            </a:r>
            <a:r>
              <a:rPr lang="en-US" altLang="zh-CN" dirty="0"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则</a:t>
            </a:r>
            <a:r>
              <a:rPr lang="zh-CN" altLang="en-US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(P→Q)→R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∑(0,2,6)m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∨m</a:t>
            </a:r>
            <a:r>
              <a:rPr lang="en-US" altLang="zh-CN" baseline="-25000" dirty="0"/>
              <a:t>2</a:t>
            </a:r>
            <a:r>
              <a:rPr lang="en-US" altLang="zh-CN" dirty="0"/>
              <a:t>∨m</a:t>
            </a:r>
            <a:r>
              <a:rPr lang="en-US" altLang="zh-CN" baseline="-25000" dirty="0"/>
              <a:t>6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于是</a:t>
            </a:r>
            <a:r>
              <a:rPr lang="en-US" altLang="zh-CN" dirty="0"/>
              <a:t>(P→Q)→R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 </a:t>
            </a:r>
            <a:r>
              <a:rPr lang="en-US" altLang="zh-CN" dirty="0"/>
              <a:t>┐┐((P→Q)→R)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 </a:t>
            </a:r>
            <a:r>
              <a:rPr lang="en-US" altLang="zh-CN" dirty="0"/>
              <a:t>┐</a:t>
            </a:r>
            <a:r>
              <a:rPr lang="en-US" altLang="zh-CN" dirty="0">
                <a:sym typeface="Symbol" panose="05050102010706020507" pitchFamily="18" charset="2"/>
              </a:rPr>
              <a:t>(m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∨m</a:t>
            </a:r>
            <a:r>
              <a:rPr lang="en-US" altLang="zh-CN" baseline="-25000" dirty="0"/>
              <a:t>2</a:t>
            </a:r>
            <a:r>
              <a:rPr lang="en-US" altLang="zh-CN" dirty="0"/>
              <a:t>∨m</a:t>
            </a:r>
            <a:r>
              <a:rPr lang="en-US" altLang="zh-CN" baseline="-25000" dirty="0"/>
              <a:t>6 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 </a:t>
            </a:r>
            <a:r>
              <a:rPr lang="en-US" altLang="zh-CN" dirty="0"/>
              <a:t>┐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∧┐m</a:t>
            </a:r>
            <a:r>
              <a:rPr lang="en-US" altLang="zh-CN" baseline="-25000" dirty="0"/>
              <a:t>2</a:t>
            </a:r>
            <a:r>
              <a:rPr lang="en-US" altLang="zh-CN" dirty="0"/>
              <a:t>∧┐m</a:t>
            </a:r>
            <a:r>
              <a:rPr lang="en-US" altLang="zh-CN" baseline="-25000" dirty="0"/>
              <a:t>6 </a:t>
            </a:r>
            <a:endParaRPr lang="en-US" altLang="zh-CN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M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∧M</a:t>
            </a:r>
            <a:r>
              <a:rPr lang="en-US" altLang="zh-CN" baseline="-25000" dirty="0"/>
              <a:t>2</a:t>
            </a:r>
            <a:r>
              <a:rPr lang="en-US" altLang="zh-CN" dirty="0"/>
              <a:t>∧M</a:t>
            </a:r>
            <a:r>
              <a:rPr lang="en-US" altLang="zh-CN" baseline="-25000" dirty="0"/>
              <a:t>6 </a:t>
            </a:r>
            <a:r>
              <a:rPr lang="en-US" altLang="zh-CN" dirty="0">
                <a:sym typeface="Symbol" panose="05050102010706020507" pitchFamily="18" charset="2"/>
              </a:rPr>
              <a:t>∏(</a:t>
            </a:r>
            <a:r>
              <a:rPr lang="en-US" altLang="zh-CN" dirty="0">
                <a:solidFill>
                  <a:srgbClr val="FF00FF"/>
                </a:solidFill>
                <a:sym typeface="Symbol" panose="05050102010706020507" pitchFamily="18" charset="2"/>
              </a:rPr>
              <a:t>0,2,6</a:t>
            </a:r>
            <a:r>
              <a:rPr lang="en-US" altLang="zh-CN" dirty="0">
                <a:sym typeface="Symbol" panose="05050102010706020507" pitchFamily="18" charset="2"/>
              </a:rPr>
              <a:t>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C675E1B-CF6D-5526-DD2D-E4F6F311C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F9090A5-62D0-EC11-8BDF-11381828FDB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20713" y="2017713"/>
            <a:ext cx="3951287" cy="48402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1.7.5</a:t>
            </a:r>
            <a:r>
              <a:rPr lang="zh-CN" altLang="en-US" sz="2800" dirty="0"/>
              <a:t>求</a:t>
            </a:r>
            <a:r>
              <a:rPr lang="en-US" altLang="zh-CN" sz="2800" dirty="0"/>
              <a:t>(P→Q)→R</a:t>
            </a:r>
            <a:r>
              <a:rPr lang="zh-CN" altLang="en-US" sz="2800" dirty="0"/>
              <a:t>主</a:t>
            </a:r>
            <a:r>
              <a:rPr lang="zh-CN" altLang="en-US" sz="2800" dirty="0">
                <a:solidFill>
                  <a:schemeClr val="accent1"/>
                </a:solidFill>
              </a:rPr>
              <a:t>合取</a:t>
            </a:r>
            <a:r>
              <a:rPr lang="zh-CN" altLang="en-US" sz="2800" dirty="0"/>
              <a:t>范式</a:t>
            </a:r>
            <a:r>
              <a:rPr lang="en-US" altLang="zh-CN" sz="2800" dirty="0"/>
              <a:t>(</a:t>
            </a:r>
            <a:r>
              <a:rPr lang="zh-CN" altLang="en-US" sz="2800" dirty="0">
                <a:solidFill>
                  <a:schemeClr val="hlink"/>
                </a:solidFill>
              </a:rPr>
              <a:t>真值表</a:t>
            </a:r>
            <a:r>
              <a:rPr lang="en-US" altLang="zh-CN" sz="2800" dirty="0"/>
              <a:t>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800" dirty="0"/>
              <a:t>看公式为</a:t>
            </a:r>
            <a:r>
              <a:rPr lang="en-US" altLang="zh-CN" sz="2800" dirty="0">
                <a:solidFill>
                  <a:srgbClr val="FF00FF"/>
                </a:solidFill>
              </a:rPr>
              <a:t>0</a:t>
            </a:r>
            <a:r>
              <a:rPr lang="zh-CN" altLang="en-US" sz="2800" dirty="0"/>
              <a:t>的情形，以对应变元的真值指派为</a:t>
            </a:r>
            <a:r>
              <a:rPr lang="zh-CN" altLang="en-US" sz="2800" dirty="0">
                <a:solidFill>
                  <a:srgbClr val="FF00FF"/>
                </a:solidFill>
              </a:rPr>
              <a:t>大项</a:t>
            </a:r>
            <a:r>
              <a:rPr lang="zh-CN" altLang="en-US" sz="2800" dirty="0"/>
              <a:t>的编码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en-US" altLang="zh-CN" sz="2800" dirty="0"/>
              <a:t>(P→Q)→R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 M</a:t>
            </a:r>
            <a:r>
              <a:rPr lang="en-US" altLang="zh-CN" sz="2800" baseline="-25000" dirty="0">
                <a:sym typeface="Symbol" panose="05050102010706020507" pitchFamily="18" charset="2"/>
              </a:rPr>
              <a:t>000</a:t>
            </a:r>
            <a:r>
              <a:rPr lang="en-US" altLang="zh-CN" sz="2800" dirty="0"/>
              <a:t>∧M</a:t>
            </a:r>
            <a:r>
              <a:rPr lang="en-US" altLang="zh-CN" sz="2800" baseline="-25000" dirty="0"/>
              <a:t>010</a:t>
            </a:r>
            <a:r>
              <a:rPr lang="en-US" altLang="zh-CN" sz="2800" dirty="0"/>
              <a:t>∧M</a:t>
            </a:r>
            <a:r>
              <a:rPr lang="en-US" altLang="zh-CN" sz="2800" baseline="-25000" dirty="0"/>
              <a:t>110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∏(0,2,6)</a:t>
            </a:r>
          </a:p>
        </p:txBody>
      </p:sp>
      <p:graphicFrame>
        <p:nvGraphicFramePr>
          <p:cNvPr id="221248" name="Group 64">
            <a:extLst>
              <a:ext uri="{FF2B5EF4-FFF2-40B4-BE49-F238E27FC236}">
                <a16:creationId xmlns:a16="http://schemas.microsoft.com/office/drawing/2014/main" id="{CB88C250-21D9-6D7D-2BC4-CFAA7A62BC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37459010"/>
              </p:ext>
            </p:extLst>
          </p:nvPr>
        </p:nvGraphicFramePr>
        <p:xfrm>
          <a:off x="4643438" y="2349500"/>
          <a:ext cx="4176712" cy="4319589"/>
        </p:xfrm>
        <a:graphic>
          <a:graphicData uri="http://schemas.openxmlformats.org/drawingml/2006/table">
            <a:tbl>
              <a:tblPr/>
              <a:tblGrid>
                <a:gridCol w="110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Q R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(P→Q)→R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2FF58AB-294B-9F65-457E-F706073D7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1.8.4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F8E0784-BD9A-E1AD-4824-FDA007AF634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hlink"/>
                </a:solidFill>
              </a:rPr>
              <a:t>为什么呢？</a:t>
            </a:r>
            <a:r>
              <a:rPr lang="zh-CN" altLang="en-US" sz="2800" dirty="0"/>
              <a:t>即证</a:t>
            </a:r>
            <a:r>
              <a:rPr lang="en-US" altLang="zh-CN" sz="2800" dirty="0"/>
              <a:t>(P→Q)→R</a:t>
            </a:r>
            <a:r>
              <a:rPr lang="en-US" altLang="zh-CN" sz="2800" dirty="0">
                <a:solidFill>
                  <a:srgbClr val="339933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ym typeface="Symbol" panose="05050102010706020507" pitchFamily="18" charset="2"/>
              </a:rPr>
              <a:t>M</a:t>
            </a:r>
            <a:r>
              <a:rPr lang="en-US" altLang="zh-CN" sz="2800" baseline="-25000" dirty="0">
                <a:sym typeface="Symbol" panose="05050102010706020507" pitchFamily="18" charset="2"/>
              </a:rPr>
              <a:t>000</a:t>
            </a:r>
            <a:r>
              <a:rPr lang="en-US" altLang="zh-CN" sz="2800" dirty="0"/>
              <a:t>∧M</a:t>
            </a:r>
            <a:r>
              <a:rPr lang="en-US" altLang="zh-CN" sz="2800" baseline="-25000" dirty="0"/>
              <a:t>010</a:t>
            </a:r>
            <a:r>
              <a:rPr lang="en-US" altLang="zh-CN" sz="2800" dirty="0"/>
              <a:t>∧M</a:t>
            </a:r>
            <a:r>
              <a:rPr lang="en-US" altLang="zh-CN" sz="2800" baseline="-25000" dirty="0"/>
              <a:t>110</a:t>
            </a:r>
            <a:endParaRPr lang="en-US" altLang="zh-CN" sz="2800" dirty="0"/>
          </a:p>
        </p:txBody>
      </p:sp>
      <p:graphicFrame>
        <p:nvGraphicFramePr>
          <p:cNvPr id="235524" name="Group 4">
            <a:extLst>
              <a:ext uri="{FF2B5EF4-FFF2-40B4-BE49-F238E27FC236}">
                <a16:creationId xmlns:a16="http://schemas.microsoft.com/office/drawing/2014/main" id="{BB4C905E-AB1D-AC3E-3142-B9C9B2AC80B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27088" y="2803525"/>
          <a:ext cx="8208962" cy="3794129"/>
        </p:xfrm>
        <a:graphic>
          <a:graphicData uri="http://schemas.openxmlformats.org/drawingml/2006/table">
            <a:tbl>
              <a:tblPr/>
              <a:tblGrid>
                <a:gridCol w="1007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47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Q  R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(P→Q)→R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sym typeface="Symbol" pitchFamily="18" charset="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sym typeface="Symbol" pitchFamily="18" charset="2"/>
                        </a:rPr>
                        <a:t>000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010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800" dirty="0">
                          <a:sym typeface="Symbol" pitchFamily="18" charset="2"/>
                        </a:rPr>
                        <a:t>M</a:t>
                      </a:r>
                      <a:r>
                        <a:rPr lang="en-US" altLang="zh-CN" sz="2800" baseline="-25000" dirty="0">
                          <a:sym typeface="Symbol" pitchFamily="18" charset="2"/>
                        </a:rPr>
                        <a:t>000</a:t>
                      </a:r>
                      <a:r>
                        <a:rPr lang="en-US" altLang="zh-CN" sz="2800" dirty="0"/>
                        <a:t>∧M</a:t>
                      </a:r>
                      <a:r>
                        <a:rPr lang="en-US" altLang="zh-CN" sz="2800" baseline="-25000" dirty="0"/>
                        <a:t>010</a:t>
                      </a:r>
                      <a:r>
                        <a:rPr lang="en-US" altLang="zh-CN" sz="2800" dirty="0"/>
                        <a:t>∧M</a:t>
                      </a:r>
                      <a:r>
                        <a:rPr lang="en-US" altLang="zh-CN" sz="2800" baseline="-25000" dirty="0"/>
                        <a:t>110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0  0  0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     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0  1  0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1  1  0  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0  1  1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1  0  0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1  0  1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0  0  1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1  1  1</a:t>
                      </a:r>
                    </a:p>
                  </a:txBody>
                  <a:tcPr marL="91441" marR="91441"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      1</a:t>
                      </a:r>
                    </a:p>
                  </a:txBody>
                  <a:tcPr marL="91441" marR="91441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EACDEFA-079C-6973-00A6-03E477270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1333BAC-2567-59AE-07E3-995970B18E5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ts val="4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推广一般  </a:t>
            </a:r>
            <a:r>
              <a:rPr lang="zh-CN" altLang="en-US" sz="2800" dirty="0"/>
              <a:t>设命题公式</a:t>
            </a:r>
            <a:r>
              <a:rPr lang="en-US" altLang="zh-CN" sz="2800" dirty="0"/>
              <a:t>A</a:t>
            </a:r>
            <a:r>
              <a:rPr lang="zh-CN" altLang="en-US" sz="2800" dirty="0"/>
              <a:t>，以其</a:t>
            </a:r>
            <a:r>
              <a:rPr lang="zh-CN" altLang="en-US" sz="2800" dirty="0">
                <a:solidFill>
                  <a:srgbClr val="FF00FF"/>
                </a:solidFill>
              </a:rPr>
              <a:t>成假</a:t>
            </a:r>
            <a:r>
              <a:rPr lang="zh-CN" altLang="en-US" sz="2800" dirty="0"/>
              <a:t>指派所对应的二进制数为编码的</a:t>
            </a:r>
            <a:r>
              <a:rPr lang="zh-CN" altLang="en-US" sz="2800" dirty="0">
                <a:solidFill>
                  <a:schemeClr val="accent1"/>
                </a:solidFill>
              </a:rPr>
              <a:t>大项</a:t>
            </a:r>
            <a:r>
              <a:rPr lang="zh-CN" altLang="en-US" sz="2800" dirty="0"/>
              <a:t>为</a:t>
            </a:r>
            <a:r>
              <a:rPr lang="en-US" altLang="zh-CN" sz="2800" dirty="0"/>
              <a:t>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/>
              <a:t>,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，则</a:t>
            </a:r>
            <a:endParaRPr lang="en-US" altLang="zh-CN" sz="2800" dirty="0"/>
          </a:p>
          <a:p>
            <a:pPr marL="0" indent="0" eaLnBrk="1" hangingPunct="1">
              <a:lnSpc>
                <a:spcPts val="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A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FF"/>
                </a:solidFill>
              </a:rPr>
              <a:t>主合取范式</a:t>
            </a:r>
            <a:r>
              <a:rPr lang="en-US" altLang="zh-CN" sz="2800" dirty="0">
                <a:solidFill>
                  <a:srgbClr val="339933"/>
                </a:solidFill>
                <a:sym typeface="Symbol" pitchFamily="18" charset="2"/>
              </a:rPr>
              <a:t></a:t>
            </a:r>
            <a:r>
              <a:rPr lang="en-US" altLang="zh-CN" sz="2800" dirty="0">
                <a:sym typeface="Symbol" pitchFamily="18" charset="2"/>
              </a:rPr>
              <a:t>B</a:t>
            </a:r>
            <a:r>
              <a:rPr lang="en-US" altLang="zh-CN" sz="2800" baseline="-25000" dirty="0">
                <a:sym typeface="Symbol" pitchFamily="18" charset="2"/>
              </a:rPr>
              <a:t>1</a:t>
            </a:r>
            <a:r>
              <a:rPr lang="en-US" altLang="zh-CN" sz="2800" dirty="0"/>
              <a:t>∧B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∧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/>
              <a:t>∧ 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k</a:t>
            </a:r>
            <a:endParaRPr lang="en-US" altLang="zh-CN" sz="2800" dirty="0"/>
          </a:p>
          <a:p>
            <a:pPr eaLnBrk="1" hangingPunct="1">
              <a:defRPr/>
            </a:pPr>
            <a:endParaRPr lang="en-US" altLang="zh-CN" sz="2800" dirty="0"/>
          </a:p>
        </p:txBody>
      </p:sp>
      <p:graphicFrame>
        <p:nvGraphicFramePr>
          <p:cNvPr id="235524" name="Group 4">
            <a:extLst>
              <a:ext uri="{FF2B5EF4-FFF2-40B4-BE49-F238E27FC236}">
                <a16:creationId xmlns:a16="http://schemas.microsoft.com/office/drawing/2014/main" id="{C5829BC3-7E6C-3B2B-D60C-3C680BDF319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908175" y="3613150"/>
          <a:ext cx="5327650" cy="3200400"/>
        </p:xfrm>
        <a:graphic>
          <a:graphicData uri="http://schemas.openxmlformats.org/drawingml/2006/table">
            <a:tbl>
              <a:tblPr/>
              <a:tblGrid>
                <a:gridCol w="1655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真值指派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1" marR="91431"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A</a:t>
                      </a: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ym typeface="Symbol" pitchFamily="18" charset="2"/>
                        </a:rPr>
                        <a:t> B</a:t>
                      </a:r>
                      <a:r>
                        <a:rPr lang="en-US" altLang="zh-CN" sz="2800" baseline="-25000" dirty="0">
                          <a:sym typeface="Symbol" pitchFamily="18" charset="2"/>
                        </a:rPr>
                        <a:t>1</a:t>
                      </a:r>
                      <a:r>
                        <a:rPr lang="en-US" altLang="zh-CN" sz="2800" dirty="0"/>
                        <a:t>∧B</a:t>
                      </a:r>
                      <a:r>
                        <a:rPr lang="en-US" altLang="zh-CN" sz="2800" baseline="-25000" dirty="0"/>
                        <a:t>2</a:t>
                      </a:r>
                      <a:r>
                        <a:rPr lang="en-US" altLang="zh-CN" sz="2800" dirty="0"/>
                        <a:t>∧</a:t>
                      </a:r>
                      <a:r>
                        <a:rPr lang="en-US" altLang="zh-CN" sz="2800" dirty="0">
                          <a:latin typeface="Arial" charset="0"/>
                        </a:rPr>
                        <a:t>…</a:t>
                      </a:r>
                      <a:r>
                        <a:rPr lang="en-US" altLang="zh-CN" sz="2800" dirty="0"/>
                        <a:t>∧</a:t>
                      </a:r>
                      <a:r>
                        <a:rPr lang="en-US" altLang="zh-CN" sz="2800" dirty="0" err="1"/>
                        <a:t>B</a:t>
                      </a:r>
                      <a:r>
                        <a:rPr lang="en-US" altLang="zh-CN" sz="2800" baseline="-25000" dirty="0" err="1"/>
                        <a:t>k</a:t>
                      </a:r>
                      <a:endParaRPr lang="en-US" altLang="zh-CN" sz="2800" dirty="0"/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⁞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k)</a:t>
                      </a:r>
                    </a:p>
                  </a:txBody>
                  <a:tcPr marL="91431" marR="91431"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每种指派，</a:t>
                      </a:r>
                      <a:r>
                        <a:rPr lang="en-US" altLang="zh-CN" sz="2800" dirty="0"/>
                        <a:t>B</a:t>
                      </a:r>
                      <a:r>
                        <a:rPr lang="en-US" altLang="zh-CN" sz="2800" baseline="-25000" dirty="0"/>
                        <a:t>1</a:t>
                      </a:r>
                      <a:r>
                        <a:rPr lang="en-US" altLang="zh-CN" sz="2800" dirty="0"/>
                        <a:t>,B</a:t>
                      </a:r>
                      <a:r>
                        <a:rPr lang="en-US" altLang="zh-CN" sz="2800" baseline="-25000" dirty="0"/>
                        <a:t>2</a:t>
                      </a:r>
                      <a:r>
                        <a:rPr lang="en-US" altLang="zh-CN" sz="2800" dirty="0"/>
                        <a:t>,</a:t>
                      </a:r>
                      <a:r>
                        <a:rPr lang="en-US" altLang="zh-CN" sz="2800" dirty="0">
                          <a:latin typeface="Arial" charset="0"/>
                        </a:rPr>
                        <a:t>…</a:t>
                      </a:r>
                      <a:r>
                        <a:rPr lang="en-US" altLang="zh-CN" sz="2800" dirty="0"/>
                        <a:t>,</a:t>
                      </a:r>
                      <a:r>
                        <a:rPr lang="en-US" altLang="zh-CN" sz="2800" dirty="0" err="1"/>
                        <a:t>B</a:t>
                      </a:r>
                      <a:r>
                        <a:rPr lang="en-US" altLang="zh-CN" sz="2800" baseline="-25000" dirty="0" err="1"/>
                        <a:t>k</a:t>
                      </a:r>
                      <a:r>
                        <a:rPr lang="zh-CN" altLang="en-US" sz="2800" dirty="0"/>
                        <a:t>的真值有且仅有</a:t>
                      </a:r>
                      <a:r>
                        <a:rPr lang="zh-CN" altLang="en-US" sz="2800" dirty="0">
                          <a:solidFill>
                            <a:schemeClr val="accent1"/>
                          </a:solidFill>
                        </a:rPr>
                        <a:t>一个</a:t>
                      </a:r>
                      <a:r>
                        <a:rPr lang="zh-CN" altLang="en-US" sz="2800" dirty="0"/>
                        <a:t>为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K+1)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K+2)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⁞</a:t>
                      </a:r>
                    </a:p>
                  </a:txBody>
                  <a:tcPr marL="91431" marR="91431"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每种指派，</a:t>
                      </a:r>
                      <a:r>
                        <a:rPr lang="en-US" altLang="zh-CN" sz="2400" dirty="0"/>
                        <a:t>B</a:t>
                      </a:r>
                      <a:r>
                        <a:rPr lang="en-US" altLang="zh-CN" sz="2400" baseline="-25000" dirty="0"/>
                        <a:t>1</a:t>
                      </a:r>
                      <a:r>
                        <a:rPr lang="en-US" altLang="zh-CN" sz="2400" dirty="0"/>
                        <a:t>,B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dirty="0"/>
                        <a:t>,</a:t>
                      </a:r>
                      <a:r>
                        <a:rPr lang="en-US" altLang="zh-CN" sz="2400" dirty="0">
                          <a:latin typeface="Arial" charset="0"/>
                        </a:rPr>
                        <a:t>…</a:t>
                      </a:r>
                      <a:r>
                        <a:rPr lang="en-US" altLang="zh-CN" sz="2400" dirty="0"/>
                        <a:t>,</a:t>
                      </a:r>
                      <a:r>
                        <a:rPr lang="en-US" altLang="zh-CN" sz="2400" dirty="0" err="1"/>
                        <a:t>B</a:t>
                      </a:r>
                      <a:r>
                        <a:rPr lang="en-US" altLang="zh-CN" sz="2400" baseline="-25000" dirty="0" err="1"/>
                        <a:t>k</a:t>
                      </a:r>
                      <a:r>
                        <a:rPr lang="zh-CN" altLang="en-US" sz="2400" dirty="0"/>
                        <a:t>的真值均为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0E2A8A4-01CF-3144-1608-344862866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8495313-A63D-E62C-C995-9569DA305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1.7.1</a:t>
            </a:r>
            <a:r>
              <a:rPr lang="en-US" altLang="zh-CN"/>
              <a:t> </a:t>
            </a:r>
            <a:r>
              <a:rPr lang="zh-CN" altLang="en-US"/>
              <a:t>在命题公式</a:t>
            </a:r>
            <a:r>
              <a:rPr lang="en-US" altLang="zh-CN"/>
              <a:t>A</a:t>
            </a:r>
            <a:r>
              <a:rPr lang="zh-CN" altLang="en-US"/>
              <a:t>的真值表中，以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chemeClr val="accent1"/>
                </a:solidFill>
              </a:rPr>
              <a:t>成假</a:t>
            </a:r>
            <a:r>
              <a:rPr lang="zh-CN" altLang="en-US"/>
              <a:t>指派所对应的二进制数为编码的</a:t>
            </a:r>
            <a:r>
              <a:rPr lang="zh-CN" altLang="en-US">
                <a:solidFill>
                  <a:srgbClr val="00B050"/>
                </a:solidFill>
              </a:rPr>
              <a:t>大项</a:t>
            </a:r>
            <a:r>
              <a:rPr lang="zh-CN" altLang="en-US"/>
              <a:t>的合取，即为命题公式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主合取</a:t>
            </a:r>
            <a:r>
              <a:rPr lang="zh-CN" altLang="en-US"/>
              <a:t>范式。</a:t>
            </a:r>
            <a:endParaRPr lang="zh-CN" altLang="en-US" b="1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</a:t>
            </a:r>
            <a:endParaRPr lang="zh-CN" altLang="en-US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A08D697-9ABF-A28F-5AFD-BE0280347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7144C49-A06E-6A9D-2D51-FEC4419D3D9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20713" y="1916113"/>
            <a:ext cx="3951287" cy="4941887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1.7.6</a:t>
            </a:r>
            <a:r>
              <a:rPr lang="zh-CN" altLang="en-US" sz="2800"/>
              <a:t>求</a:t>
            </a:r>
            <a:r>
              <a:rPr lang="en-US" altLang="zh-CN" sz="2800"/>
              <a:t>(P→Q)→R</a:t>
            </a:r>
            <a:r>
              <a:rPr lang="zh-CN" altLang="en-US" sz="2800"/>
              <a:t>主</a:t>
            </a:r>
            <a:r>
              <a:rPr lang="zh-CN" altLang="en-US" sz="2800">
                <a:solidFill>
                  <a:schemeClr val="accent1"/>
                </a:solidFill>
              </a:rPr>
              <a:t>析取</a:t>
            </a:r>
            <a:r>
              <a:rPr lang="zh-CN" altLang="en-US" sz="2800"/>
              <a:t>范式</a:t>
            </a:r>
            <a:r>
              <a:rPr lang="en-US" altLang="zh-CN" sz="2800"/>
              <a:t>(</a:t>
            </a:r>
            <a:r>
              <a:rPr lang="zh-CN" altLang="en-US" sz="2800">
                <a:solidFill>
                  <a:schemeClr val="hlink"/>
                </a:solidFill>
              </a:rPr>
              <a:t>真值表</a:t>
            </a:r>
            <a:r>
              <a:rPr lang="en-US" altLang="zh-CN" sz="2800"/>
              <a:t>)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/>
              <a:t>看公式为</a:t>
            </a:r>
            <a:r>
              <a:rPr lang="en-US" altLang="zh-CN" sz="2800">
                <a:solidFill>
                  <a:srgbClr val="FF00FF"/>
                </a:solidFill>
              </a:rPr>
              <a:t>1</a:t>
            </a:r>
            <a:r>
              <a:rPr lang="zh-CN" altLang="en-US" sz="2800"/>
              <a:t>的情形，以对应变元的真值指派为</a:t>
            </a:r>
            <a:r>
              <a:rPr lang="zh-CN" altLang="en-US" sz="2800">
                <a:solidFill>
                  <a:srgbClr val="FF00FF"/>
                </a:solidFill>
              </a:rPr>
              <a:t>小项</a:t>
            </a:r>
            <a:r>
              <a:rPr lang="zh-CN" altLang="en-US" sz="2800"/>
              <a:t>的编码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</a:t>
            </a:r>
            <a:r>
              <a:rPr lang="en-US" altLang="zh-CN" sz="2800"/>
              <a:t>(P→Q)→R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   m</a:t>
            </a:r>
            <a:r>
              <a:rPr lang="en-US" altLang="zh-CN" sz="2800" baseline="-25000">
                <a:sym typeface="Symbol" panose="05050102010706020507" pitchFamily="18" charset="2"/>
              </a:rPr>
              <a:t>001</a:t>
            </a:r>
            <a:r>
              <a:rPr lang="en-US" altLang="zh-CN" sz="2800"/>
              <a:t>∨m</a:t>
            </a:r>
            <a:r>
              <a:rPr lang="en-US" altLang="zh-CN" sz="2800" baseline="-25000"/>
              <a:t>011</a:t>
            </a:r>
            <a:r>
              <a:rPr lang="en-US" altLang="zh-CN" sz="2800"/>
              <a:t>∨m</a:t>
            </a:r>
            <a:r>
              <a:rPr lang="en-US" altLang="zh-CN" sz="2800" baseline="-25000"/>
              <a:t>100</a:t>
            </a:r>
            <a:r>
              <a:rPr lang="en-US" altLang="zh-CN" sz="2800"/>
              <a:t>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∨m</a:t>
            </a:r>
            <a:r>
              <a:rPr lang="en-US" altLang="zh-CN" sz="2800" baseline="-25000"/>
              <a:t>101</a:t>
            </a:r>
            <a:r>
              <a:rPr lang="en-US" altLang="zh-CN" sz="2800"/>
              <a:t>∨m</a:t>
            </a:r>
            <a:r>
              <a:rPr lang="en-US" altLang="zh-CN" sz="2800" baseline="-25000"/>
              <a:t>111 </a:t>
            </a:r>
            <a:endParaRPr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   ∑(1,3,4,5,7)</a:t>
            </a:r>
          </a:p>
        </p:txBody>
      </p:sp>
      <p:graphicFrame>
        <p:nvGraphicFramePr>
          <p:cNvPr id="223296" name="Group 64">
            <a:extLst>
              <a:ext uri="{FF2B5EF4-FFF2-40B4-BE49-F238E27FC236}">
                <a16:creationId xmlns:a16="http://schemas.microsoft.com/office/drawing/2014/main" id="{8AF7F3AA-569D-63C9-DC9A-212A54B0C1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5592874"/>
              </p:ext>
            </p:extLst>
          </p:nvPr>
        </p:nvGraphicFramePr>
        <p:xfrm>
          <a:off x="4643438" y="2133600"/>
          <a:ext cx="4176712" cy="4464052"/>
        </p:xfrm>
        <a:graphic>
          <a:graphicData uri="http://schemas.openxmlformats.org/drawingml/2006/table">
            <a:tbl>
              <a:tblPr/>
              <a:tblGrid>
                <a:gridCol w="110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Q R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(P→Q)→R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DDE1970-331B-E331-D779-91413F3F5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5A74A86-4A33-857E-FF98-3EC6C9C5CA4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chemeClr val="hlink"/>
                </a:solidFill>
              </a:rPr>
              <a:t>？</a:t>
            </a:r>
            <a:r>
              <a:rPr lang="zh-CN" altLang="en-US" sz="2800"/>
              <a:t>证</a:t>
            </a:r>
            <a:r>
              <a:rPr lang="en-US" altLang="zh-CN" sz="2800"/>
              <a:t>(P→Q)→R</a:t>
            </a:r>
            <a:r>
              <a:rPr lang="en-US" altLang="zh-CN" sz="2800">
                <a:solidFill>
                  <a:srgbClr val="339933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>
                <a:sym typeface="Symbol" panose="05050102010706020507" pitchFamily="18" charset="2"/>
              </a:rPr>
              <a:t>m</a:t>
            </a:r>
            <a:r>
              <a:rPr lang="en-US" altLang="zh-CN" sz="2800" baseline="-25000">
                <a:sym typeface="Symbol" panose="05050102010706020507" pitchFamily="18" charset="2"/>
              </a:rPr>
              <a:t>001</a:t>
            </a:r>
            <a:r>
              <a:rPr lang="en-US" altLang="zh-CN" sz="2800"/>
              <a:t>∨m</a:t>
            </a:r>
            <a:r>
              <a:rPr lang="en-US" altLang="zh-CN" sz="2800" baseline="-25000"/>
              <a:t>011</a:t>
            </a:r>
            <a:r>
              <a:rPr lang="en-US" altLang="zh-CN" sz="2800"/>
              <a:t>∨m</a:t>
            </a:r>
            <a:r>
              <a:rPr lang="en-US" altLang="zh-CN" sz="2800" baseline="-25000"/>
              <a:t>100</a:t>
            </a:r>
            <a:r>
              <a:rPr lang="en-US" altLang="zh-CN" sz="2800"/>
              <a:t>∨m</a:t>
            </a:r>
            <a:r>
              <a:rPr lang="en-US" altLang="zh-CN" sz="2800" baseline="-25000"/>
              <a:t>101</a:t>
            </a:r>
            <a:r>
              <a:rPr lang="en-US" altLang="zh-CN" sz="2800"/>
              <a:t>∨m</a:t>
            </a:r>
            <a:r>
              <a:rPr lang="en-US" altLang="zh-CN" sz="2800" baseline="-25000"/>
              <a:t>111 </a:t>
            </a:r>
          </a:p>
        </p:txBody>
      </p:sp>
      <p:graphicFrame>
        <p:nvGraphicFramePr>
          <p:cNvPr id="227463" name="Group 135">
            <a:extLst>
              <a:ext uri="{FF2B5EF4-FFF2-40B4-BE49-F238E27FC236}">
                <a16:creationId xmlns:a16="http://schemas.microsoft.com/office/drawing/2014/main" id="{0DD21241-F264-CCC6-2F7F-6FBC3396CAE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116013" y="2852738"/>
          <a:ext cx="7343775" cy="3794129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Q  R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(P→Q)→R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sym typeface="Symbol" pitchFamily="18" charset="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sym typeface="Symbol" pitchFamily="18" charset="2"/>
                        </a:rPr>
                        <a:t>001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011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111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0  0  0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     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0  1  0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1  1  0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0  0  1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0  1  1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1  0  0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1  0  1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4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1  1  1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5F72C9D-E703-1E90-AB81-5081585BA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7C67701-4836-9792-866B-251DF15AAB9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ts val="4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推广一般  </a:t>
            </a:r>
            <a:r>
              <a:rPr lang="zh-CN" altLang="en-US" sz="2800" dirty="0"/>
              <a:t>设命题公式</a:t>
            </a:r>
            <a:r>
              <a:rPr lang="en-US" altLang="zh-CN" sz="2800" dirty="0"/>
              <a:t>A</a:t>
            </a:r>
            <a:r>
              <a:rPr lang="zh-CN" altLang="en-US" sz="2800" dirty="0"/>
              <a:t>，以其</a:t>
            </a:r>
            <a:r>
              <a:rPr lang="zh-CN" altLang="en-US" sz="2800" dirty="0">
                <a:solidFill>
                  <a:srgbClr val="FF00FF"/>
                </a:solidFill>
              </a:rPr>
              <a:t>成真</a:t>
            </a:r>
            <a:r>
              <a:rPr lang="zh-CN" altLang="en-US" sz="2800" dirty="0"/>
              <a:t>指派所对应的二进制数为编码的</a:t>
            </a:r>
            <a:r>
              <a:rPr lang="zh-CN" altLang="en-US" sz="2800" dirty="0">
                <a:solidFill>
                  <a:schemeClr val="accent1"/>
                </a:solidFill>
              </a:rPr>
              <a:t>小项</a:t>
            </a:r>
            <a:r>
              <a:rPr lang="zh-CN" altLang="en-US" sz="2800" dirty="0"/>
              <a:t>为</a:t>
            </a:r>
            <a:r>
              <a:rPr lang="en-US" altLang="zh-CN" sz="2800" dirty="0"/>
              <a:t>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/>
              <a:t>,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，则</a:t>
            </a:r>
            <a:endParaRPr lang="en-US" altLang="zh-CN" sz="2800" dirty="0"/>
          </a:p>
          <a:p>
            <a:pPr marL="0" indent="0" eaLnBrk="1" hangingPunct="1">
              <a:lnSpc>
                <a:spcPts val="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A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FF"/>
                </a:solidFill>
              </a:rPr>
              <a:t>主析取范式</a:t>
            </a:r>
            <a:r>
              <a:rPr lang="en-US" altLang="zh-CN" sz="2800" dirty="0">
                <a:solidFill>
                  <a:srgbClr val="339933"/>
                </a:solidFill>
                <a:sym typeface="Symbol" pitchFamily="18" charset="2"/>
              </a:rPr>
              <a:t></a:t>
            </a:r>
            <a:r>
              <a:rPr lang="en-US" altLang="zh-CN" sz="2800" dirty="0">
                <a:sym typeface="Symbol" pitchFamily="18" charset="2"/>
              </a:rPr>
              <a:t>B</a:t>
            </a:r>
            <a:r>
              <a:rPr lang="en-US" altLang="zh-CN" sz="2800" baseline="-25000" dirty="0">
                <a:sym typeface="Symbol" pitchFamily="18" charset="2"/>
              </a:rPr>
              <a:t>1</a:t>
            </a:r>
            <a:r>
              <a:rPr lang="en-US" altLang="zh-CN" sz="2800" dirty="0"/>
              <a:t>∨B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∨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/>
              <a:t>∨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k</a:t>
            </a:r>
            <a:endParaRPr lang="en-US" altLang="zh-CN" sz="2800" dirty="0"/>
          </a:p>
          <a:p>
            <a:pPr eaLnBrk="1" hangingPunct="1">
              <a:defRPr/>
            </a:pPr>
            <a:endParaRPr lang="en-US" altLang="zh-CN" sz="2800" dirty="0"/>
          </a:p>
        </p:txBody>
      </p:sp>
      <p:graphicFrame>
        <p:nvGraphicFramePr>
          <p:cNvPr id="235524" name="Group 4">
            <a:extLst>
              <a:ext uri="{FF2B5EF4-FFF2-40B4-BE49-F238E27FC236}">
                <a16:creationId xmlns:a16="http://schemas.microsoft.com/office/drawing/2014/main" id="{3BDC3697-BF6E-7C61-2D93-C8904363722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908175" y="3613150"/>
          <a:ext cx="5327650" cy="3200400"/>
        </p:xfrm>
        <a:graphic>
          <a:graphicData uri="http://schemas.openxmlformats.org/drawingml/2006/table">
            <a:tbl>
              <a:tblPr/>
              <a:tblGrid>
                <a:gridCol w="1655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真值指派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1" marR="91431"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A</a:t>
                      </a: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ym typeface="Symbol" pitchFamily="18" charset="2"/>
                        </a:rPr>
                        <a:t> B</a:t>
                      </a:r>
                      <a:r>
                        <a:rPr lang="en-US" altLang="zh-CN" sz="2800" baseline="-25000" dirty="0">
                          <a:sym typeface="Symbol" pitchFamily="18" charset="2"/>
                        </a:rPr>
                        <a:t>1</a:t>
                      </a:r>
                      <a:r>
                        <a:rPr lang="en-US" altLang="zh-CN" sz="2800" dirty="0"/>
                        <a:t>∨B</a:t>
                      </a:r>
                      <a:r>
                        <a:rPr lang="en-US" altLang="zh-CN" sz="2800" baseline="-25000" dirty="0"/>
                        <a:t>2</a:t>
                      </a:r>
                      <a:r>
                        <a:rPr lang="en-US" altLang="zh-CN" sz="2800" dirty="0"/>
                        <a:t>∨</a:t>
                      </a:r>
                      <a:r>
                        <a:rPr lang="en-US" altLang="zh-CN" sz="2800" dirty="0">
                          <a:latin typeface="Arial" charset="0"/>
                        </a:rPr>
                        <a:t>…</a:t>
                      </a:r>
                      <a:r>
                        <a:rPr lang="en-US" altLang="zh-CN" sz="2800" dirty="0"/>
                        <a:t>∨</a:t>
                      </a:r>
                      <a:r>
                        <a:rPr lang="en-US" altLang="zh-CN" sz="2800" dirty="0" err="1"/>
                        <a:t>B</a:t>
                      </a:r>
                      <a:r>
                        <a:rPr lang="en-US" altLang="zh-CN" sz="2800" baseline="-25000" dirty="0" err="1"/>
                        <a:t>k</a:t>
                      </a:r>
                      <a:endParaRPr lang="en-US" altLang="zh-CN" sz="2800" dirty="0"/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⁞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k)</a:t>
                      </a:r>
                    </a:p>
                  </a:txBody>
                  <a:tcPr marL="91431" marR="91431"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每种指派，</a:t>
                      </a:r>
                      <a:r>
                        <a:rPr lang="en-US" altLang="zh-CN" sz="2800" dirty="0"/>
                        <a:t>B</a:t>
                      </a:r>
                      <a:r>
                        <a:rPr lang="en-US" altLang="zh-CN" sz="2800" baseline="-25000" dirty="0"/>
                        <a:t>1</a:t>
                      </a:r>
                      <a:r>
                        <a:rPr lang="en-US" altLang="zh-CN" sz="2800" dirty="0"/>
                        <a:t>,B</a:t>
                      </a:r>
                      <a:r>
                        <a:rPr lang="en-US" altLang="zh-CN" sz="2800" baseline="-25000" dirty="0"/>
                        <a:t>2</a:t>
                      </a:r>
                      <a:r>
                        <a:rPr lang="en-US" altLang="zh-CN" sz="2800" dirty="0"/>
                        <a:t>,</a:t>
                      </a:r>
                      <a:r>
                        <a:rPr lang="en-US" altLang="zh-CN" sz="2800" dirty="0">
                          <a:latin typeface="Arial" charset="0"/>
                        </a:rPr>
                        <a:t>…</a:t>
                      </a:r>
                      <a:r>
                        <a:rPr lang="en-US" altLang="zh-CN" sz="2800" dirty="0"/>
                        <a:t>,</a:t>
                      </a:r>
                      <a:r>
                        <a:rPr lang="en-US" altLang="zh-CN" sz="2800" dirty="0" err="1"/>
                        <a:t>B</a:t>
                      </a:r>
                      <a:r>
                        <a:rPr lang="en-US" altLang="zh-CN" sz="2800" baseline="-25000" dirty="0" err="1"/>
                        <a:t>k</a:t>
                      </a:r>
                      <a:r>
                        <a:rPr lang="zh-CN" altLang="en-US" sz="2800" dirty="0"/>
                        <a:t>的真值有且仅有</a:t>
                      </a:r>
                      <a:r>
                        <a:rPr lang="zh-CN" altLang="en-US" sz="2800" dirty="0">
                          <a:solidFill>
                            <a:schemeClr val="accent1"/>
                          </a:solidFill>
                        </a:rPr>
                        <a:t>一个</a:t>
                      </a:r>
                      <a:r>
                        <a:rPr lang="zh-CN" altLang="en-US" sz="2800" dirty="0"/>
                        <a:t>为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K+1)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K+2)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⁞</a:t>
                      </a:r>
                    </a:p>
                  </a:txBody>
                  <a:tcPr marL="91431" marR="91431"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每种指派，</a:t>
                      </a:r>
                      <a:r>
                        <a:rPr lang="en-US" altLang="zh-CN" sz="2400" dirty="0"/>
                        <a:t>B</a:t>
                      </a:r>
                      <a:r>
                        <a:rPr lang="en-US" altLang="zh-CN" sz="2400" baseline="-25000" dirty="0"/>
                        <a:t>1</a:t>
                      </a:r>
                      <a:r>
                        <a:rPr lang="en-US" altLang="zh-CN" sz="2400" dirty="0"/>
                        <a:t>,B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dirty="0"/>
                        <a:t>,</a:t>
                      </a:r>
                      <a:r>
                        <a:rPr lang="en-US" altLang="zh-CN" sz="2400" dirty="0">
                          <a:latin typeface="Arial" charset="0"/>
                        </a:rPr>
                        <a:t>…</a:t>
                      </a:r>
                      <a:r>
                        <a:rPr lang="en-US" altLang="zh-CN" sz="2400" dirty="0"/>
                        <a:t>,</a:t>
                      </a:r>
                      <a:r>
                        <a:rPr lang="en-US" altLang="zh-CN" sz="2400" dirty="0" err="1"/>
                        <a:t>B</a:t>
                      </a:r>
                      <a:r>
                        <a:rPr lang="en-US" altLang="zh-CN" sz="2400" baseline="-25000" dirty="0" err="1"/>
                        <a:t>k</a:t>
                      </a:r>
                      <a:r>
                        <a:rPr lang="zh-CN" altLang="en-US" sz="2400" dirty="0"/>
                        <a:t>的真值均为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1" marR="91431"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30F2FF6-1BB8-6914-D223-B00338AAE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B1C7C22-9F8C-63C4-9983-1BE6037CF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1.7.2</a:t>
            </a:r>
            <a:r>
              <a:rPr lang="en-US" altLang="zh-CN" dirty="0"/>
              <a:t> </a:t>
            </a:r>
            <a:r>
              <a:rPr lang="zh-CN" altLang="en-US" dirty="0"/>
              <a:t>在命题公式</a:t>
            </a:r>
            <a:r>
              <a:rPr lang="en-US" altLang="zh-CN" dirty="0"/>
              <a:t>A</a:t>
            </a:r>
            <a:r>
              <a:rPr lang="zh-CN" altLang="en-US" dirty="0"/>
              <a:t>的真值表中，以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B0F0"/>
                </a:solidFill>
              </a:rPr>
              <a:t>成真</a:t>
            </a:r>
            <a:r>
              <a:rPr lang="zh-CN" altLang="en-US" dirty="0"/>
              <a:t>指派所对应的二进制数为编码的</a:t>
            </a:r>
            <a:r>
              <a:rPr lang="zh-CN" altLang="en-US" dirty="0">
                <a:solidFill>
                  <a:schemeClr val="accent1"/>
                </a:solidFill>
              </a:rPr>
              <a:t>小项</a:t>
            </a:r>
            <a:r>
              <a:rPr lang="zh-CN" altLang="en-US" dirty="0"/>
              <a:t>的析取，即为命题公式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主析取</a:t>
            </a:r>
            <a:r>
              <a:rPr lang="zh-CN" altLang="en-US" dirty="0"/>
              <a:t>范式。</a:t>
            </a:r>
            <a:endParaRPr lang="zh-CN" altLang="en-US" dirty="0">
              <a:solidFill>
                <a:srgbClr val="FF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0EB6980-C85C-7BE5-7E50-86B6CB9B3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1.7.4</a:t>
            </a:r>
            <a:r>
              <a:rPr lang="zh-CN" altLang="en-US" b="1"/>
              <a:t>主合取范式与主析取范式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B48EB5F-6FF7-FF00-A2F4-A4441E84C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重言式</a:t>
            </a:r>
            <a:r>
              <a:rPr lang="zh-CN" altLang="en-US" dirty="0">
                <a:solidFill>
                  <a:srgbClr val="0000FF"/>
                </a:solidFill>
              </a:rPr>
              <a:t>       只有主析取范式</a:t>
            </a:r>
          </a:p>
          <a:p>
            <a:pPr eaLnBrk="1" hangingPunct="1">
              <a:lnSpc>
                <a:spcPct val="2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矛盾式</a:t>
            </a:r>
            <a:r>
              <a:rPr lang="zh-CN" altLang="en-US" dirty="0">
                <a:solidFill>
                  <a:srgbClr val="0000FF"/>
                </a:solidFill>
              </a:rPr>
              <a:t>       只有主合取范式</a:t>
            </a:r>
          </a:p>
          <a:p>
            <a:pPr eaLnBrk="1" hangingPunct="1">
              <a:lnSpc>
                <a:spcPct val="2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可满足式</a:t>
            </a:r>
            <a:r>
              <a:rPr lang="zh-CN" altLang="en-US" dirty="0">
                <a:solidFill>
                  <a:srgbClr val="0000FF"/>
                </a:solidFill>
              </a:rPr>
              <a:t>   既有主合取范式也有主析取范式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53AB186B-6127-231B-CC5C-D079800FD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 作 业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044ED0-04B5-F702-8CA0-164451C93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017713"/>
            <a:ext cx="8343900" cy="484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kern="0" dirty="0"/>
              <a:t>命题公式</a:t>
            </a:r>
            <a:r>
              <a:rPr lang="en-US" altLang="zh-CN" kern="0" dirty="0"/>
              <a:t>(P-&gt;(Q</a:t>
            </a:r>
            <a:r>
              <a:rPr lang="en-US" altLang="zh-CN" sz="3200" dirty="0"/>
              <a:t> ∧R</a:t>
            </a:r>
            <a:r>
              <a:rPr lang="en-US" altLang="zh-CN" kern="0" dirty="0"/>
              <a:t>)</a:t>
            </a:r>
            <a:r>
              <a:rPr lang="en-US" altLang="zh-CN" sz="3200" dirty="0"/>
              <a:t> ∧(</a:t>
            </a:r>
            <a:r>
              <a:rPr lang="en-US" altLang="zh-CN" dirty="0"/>
              <a:t>┐</a:t>
            </a:r>
            <a:r>
              <a:rPr lang="en-US" altLang="zh-CN" sz="3200" dirty="0"/>
              <a:t>P&lt;-&gt;(</a:t>
            </a:r>
            <a:r>
              <a:rPr lang="en-US" altLang="zh-CN" dirty="0"/>
              <a:t>┐</a:t>
            </a:r>
            <a:r>
              <a:rPr lang="en-US" altLang="zh-CN" sz="3200" dirty="0"/>
              <a:t>Q ∧</a:t>
            </a:r>
            <a:r>
              <a:rPr lang="en-US" altLang="zh-CN" dirty="0"/>
              <a:t>┐</a:t>
            </a:r>
            <a:r>
              <a:rPr lang="en-US" altLang="zh-CN" sz="3200" dirty="0"/>
              <a:t>R))</a:t>
            </a:r>
            <a:r>
              <a:rPr lang="zh-CN" altLang="en-US" sz="3200" dirty="0"/>
              <a:t>的主合取范式为（   ）</a:t>
            </a:r>
            <a:endParaRPr lang="en-US" altLang="zh-CN" sz="3200" dirty="0"/>
          </a:p>
          <a:p>
            <a:pPr marL="0" indent="0" eaLnBrk="1" hangingPunct="1">
              <a:buNone/>
            </a:pPr>
            <a:endParaRPr lang="en-US" altLang="zh-CN" kern="0" dirty="0"/>
          </a:p>
          <a:p>
            <a:pPr marL="0" indent="0" eaLnBrk="1" hangingPunct="1">
              <a:buNone/>
            </a:pPr>
            <a:r>
              <a:rPr lang="en-US" altLang="zh-CN" kern="0" dirty="0"/>
              <a:t>A  </a:t>
            </a:r>
            <a:r>
              <a:rPr lang="en-US" altLang="zh-CN" dirty="0">
                <a:sym typeface="Symbol" panose="05050102010706020507" pitchFamily="18" charset="2"/>
              </a:rPr>
              <a:t>∑(0,7)    B ∑(1,2,3,4,5,6) </a:t>
            </a:r>
          </a:p>
          <a:p>
            <a:pPr marL="0" indent="0" eaLnBrk="1" hangingPunct="1">
              <a:buNone/>
            </a:pPr>
            <a:r>
              <a:rPr lang="en-US" altLang="zh-CN" kern="0" dirty="0"/>
              <a:t>C  </a:t>
            </a:r>
            <a:r>
              <a:rPr lang="en-US" altLang="zh-CN" sz="3200" dirty="0">
                <a:sym typeface="Symbol" panose="05050102010706020507" pitchFamily="18" charset="2"/>
              </a:rPr>
              <a:t>∏(0,7)    D ∏(1,2,3,4,5,6)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682485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53AB186B-6127-231B-CC5C-D079800FD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 作 业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044ED0-04B5-F702-8CA0-164451C93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017713"/>
            <a:ext cx="8343900" cy="484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kern="0" dirty="0"/>
              <a:t>命题公式</a:t>
            </a:r>
            <a:r>
              <a:rPr lang="en-US" altLang="zh-CN" kern="0" dirty="0"/>
              <a:t>(P-&gt;(Q</a:t>
            </a:r>
            <a:r>
              <a:rPr lang="en-US" altLang="zh-CN" sz="3200" dirty="0"/>
              <a:t> ∧R</a:t>
            </a:r>
            <a:r>
              <a:rPr lang="en-US" altLang="zh-CN" kern="0" dirty="0"/>
              <a:t>)</a:t>
            </a:r>
            <a:r>
              <a:rPr lang="en-US" altLang="zh-CN" sz="3200" dirty="0"/>
              <a:t> ∧(</a:t>
            </a:r>
            <a:r>
              <a:rPr lang="en-US" altLang="zh-CN" dirty="0"/>
              <a:t>┐</a:t>
            </a:r>
            <a:r>
              <a:rPr lang="en-US" altLang="zh-CN" sz="3200" dirty="0"/>
              <a:t>P&lt;-&gt;(</a:t>
            </a:r>
            <a:r>
              <a:rPr lang="en-US" altLang="zh-CN" dirty="0"/>
              <a:t>┐</a:t>
            </a:r>
            <a:r>
              <a:rPr lang="en-US" altLang="zh-CN" sz="3200" dirty="0"/>
              <a:t>Q ∧</a:t>
            </a:r>
            <a:r>
              <a:rPr lang="en-US" altLang="zh-CN" dirty="0"/>
              <a:t>┐</a:t>
            </a:r>
            <a:r>
              <a:rPr lang="en-US" altLang="zh-CN" sz="3200" dirty="0"/>
              <a:t>R))</a:t>
            </a:r>
            <a:r>
              <a:rPr lang="zh-CN" altLang="en-US" sz="3200" dirty="0"/>
              <a:t>的主</a:t>
            </a:r>
            <a:r>
              <a:rPr lang="zh-CN" altLang="en-US" dirty="0"/>
              <a:t>析</a:t>
            </a:r>
            <a:r>
              <a:rPr lang="zh-CN" altLang="en-US" sz="3200" dirty="0"/>
              <a:t>取范式为（   ）</a:t>
            </a:r>
            <a:endParaRPr lang="en-US" altLang="zh-CN" sz="3200" dirty="0"/>
          </a:p>
          <a:p>
            <a:pPr marL="0" indent="0" eaLnBrk="1" hangingPunct="1">
              <a:buNone/>
            </a:pPr>
            <a:endParaRPr lang="en-US" altLang="zh-CN" kern="0" dirty="0"/>
          </a:p>
          <a:p>
            <a:pPr marL="0" indent="0" eaLnBrk="1" hangingPunct="1">
              <a:buNone/>
            </a:pPr>
            <a:r>
              <a:rPr lang="en-US" altLang="zh-CN" kern="0" dirty="0"/>
              <a:t>A  </a:t>
            </a:r>
            <a:r>
              <a:rPr lang="en-US" altLang="zh-CN" dirty="0">
                <a:sym typeface="Symbol" panose="05050102010706020507" pitchFamily="18" charset="2"/>
              </a:rPr>
              <a:t>∑(0,7)    B ∑(1,2,3,4,5,6) </a:t>
            </a:r>
          </a:p>
          <a:p>
            <a:pPr marL="0" indent="0" eaLnBrk="1" hangingPunct="1">
              <a:buNone/>
            </a:pPr>
            <a:r>
              <a:rPr lang="en-US" altLang="zh-CN" kern="0" dirty="0"/>
              <a:t>C  </a:t>
            </a:r>
            <a:r>
              <a:rPr lang="en-US" altLang="zh-CN" sz="3200" dirty="0">
                <a:sym typeface="Symbol" panose="05050102010706020507" pitchFamily="18" charset="2"/>
              </a:rPr>
              <a:t>∏(0,7)    D ∏(1,2,3,4,5,6)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689930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84195EB-7F82-742B-CA7D-FCE1DF8388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8318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命题公式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400" dirty="0"/>
              <a:t> ∨(┐ P ∧ ┐Q ∧R)</a:t>
            </a:r>
            <a:r>
              <a:rPr lang="en-US" altLang="zh-CN" sz="2800" dirty="0"/>
              <a:t> ∨(P ∧ ┐ R)</a:t>
            </a:r>
            <a:r>
              <a:rPr lang="zh-CN" altLang="en-US" sz="2800" dirty="0"/>
              <a:t>的主合取范式为（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E93152-14B4-F065-0E1C-7DCE2DECDD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∑</a:t>
            </a:r>
            <a:r>
              <a:rPr lang="en-US" altLang="zh-CN" sz="2800" dirty="0"/>
              <a:t>(1,4,5,6,7)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C6B337-1734-F17E-9360-557CB7EE9C1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∑(0,2,3)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AE543A-8E41-E1E3-A5C0-4C47A5D717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∏(1,4,5,6,7)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D958BB-0B5E-E04A-C474-AA77214A8D5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∏(0,2,3)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8FD5361-4195-2CFF-3B84-D068ED3AD76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D59B77C-3108-002F-0830-FC910C5C67B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1E773EE-0AE2-1A6F-7575-AB867B76BEA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6737CBE-6D51-F649-8931-63FF8602F09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DD1CE1-94AA-4EB8-4F06-6B0F0790FC9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5C249F4-87D8-8445-8FA2-F4F0FE57433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9718E6-E210-94BD-02C8-833B42295BC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07B5789-0550-1314-3965-E86A64DD5C2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D8930E0-74CE-9BA5-371D-D889F759B38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BE91628-3CB9-159A-9018-B35FD75271F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BCE2D2F-82DD-0477-1AA8-075362FD554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9787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84195EB-7F82-742B-CA7D-FCE1DF8388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8318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命题公式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400" dirty="0"/>
              <a:t> ∨(┐ P ∧ ┐Q ∧R)</a:t>
            </a:r>
            <a:r>
              <a:rPr lang="en-US" altLang="zh-CN" sz="2800" dirty="0"/>
              <a:t> ∨(P ∧ ┐ R)</a:t>
            </a:r>
            <a:r>
              <a:rPr lang="zh-CN" altLang="en-US" sz="2800" dirty="0"/>
              <a:t>的主析取范式为（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E93152-14B4-F065-0E1C-7DCE2DECDD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∑</a:t>
            </a:r>
            <a:r>
              <a:rPr lang="en-US" altLang="zh-CN" sz="2800" dirty="0"/>
              <a:t>(1,4,5,6,7)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C6B337-1734-F17E-9360-557CB7EE9C1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∑(0,2,3)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AE543A-8E41-E1E3-A5C0-4C47A5D717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∏(1,4,5,6,7)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D958BB-0B5E-E04A-C474-AA77214A8D5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∏(0,2,3)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8FD5361-4195-2CFF-3B84-D068ED3AD76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D59B77C-3108-002F-0830-FC910C5C67B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1E773EE-0AE2-1A6F-7575-AB867B76BEA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6737CBE-6D51-F649-8931-63FF8602F09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DD1CE1-94AA-4EB8-4F06-6B0F0790FC9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5C249F4-87D8-8445-8FA2-F4F0FE57433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9718E6-E210-94BD-02C8-833B42295BC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07B5789-0550-1314-3965-E86A64DD5C2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D8930E0-74CE-9BA5-371D-D889F759B38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BE91628-3CB9-159A-9018-B35FD75271F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BCE2D2F-82DD-0477-1AA8-075362FD554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110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2D05EB7-B14B-2586-73B8-20DF51F0B8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命题公式</a:t>
            </a:r>
            <a:r>
              <a:rPr lang="en-US" altLang="zh-CN" sz="2800" dirty="0"/>
              <a:t>┐P∧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(P</a:t>
            </a:r>
            <a:r>
              <a:rPr lang="en-US" altLang="zh-CN" sz="2800" dirty="0"/>
              <a:t> ∨</a:t>
            </a:r>
            <a:r>
              <a:rPr lang="en-US" altLang="zh-CN" sz="2400" dirty="0"/>
              <a:t> ┐Q ∨R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en-US" altLang="zh-CN" sz="2800" dirty="0"/>
              <a:t> ∧(┐P ∨ ┐Q)</a:t>
            </a:r>
            <a:r>
              <a:rPr lang="zh-CN" altLang="en-US" sz="2800" dirty="0"/>
              <a:t>主合取范式为（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AD9D5-AAB9-915F-810C-FCD38973C8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ym typeface="Symbol" panose="05050102010706020507" pitchFamily="18" charset="2"/>
              </a:rPr>
              <a:t>∑</a:t>
            </a:r>
            <a:r>
              <a:rPr lang="en-US" altLang="zh-CN" sz="2400" dirty="0"/>
              <a:t>(2,4,5,6,7)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CD15D0-8033-56D4-DEF7-7449549119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∑</a:t>
            </a:r>
            <a:r>
              <a:rPr lang="en-US" altLang="zh-CN" sz="2800" dirty="0"/>
              <a:t>(0,1,3)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D07C85-3C94-9C76-B94D-35CB398383D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∏(2,4,5,6,7)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A399E8-AEEF-83CD-67AF-9161C881807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(0,1,3) 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2B3836D-0CC6-862A-A0F3-F19E06267C7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0AC85E-51E6-33B9-480B-B6ECA4A4A9E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34ACFE5-250B-B891-2129-48513E1D800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D0D7A4C-783B-BE77-B50E-2E518041DA5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CB00D5A-9D79-074F-8A85-366EE35AC1D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BDD342D-4B1F-B02C-8805-0786373C53D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51AACCF-2133-8848-30F2-261C7040996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C008FDD-3B45-56D1-4ECC-E4218D1998B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22CDC70-DD7A-BDB7-CAF6-7A8050DD62D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C3D1611-72C5-400B-5A52-051190B0C86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66ACDEB-6823-EF3D-9E8B-F5ADA8F9316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7605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2D05EB7-B14B-2586-73B8-20DF51F0B8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命题公式</a:t>
            </a:r>
            <a:r>
              <a:rPr lang="en-US" altLang="zh-CN" sz="2800" dirty="0"/>
              <a:t>┐P∧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(P</a:t>
            </a:r>
            <a:r>
              <a:rPr lang="en-US" altLang="zh-CN" sz="2800" dirty="0"/>
              <a:t> ∨</a:t>
            </a:r>
            <a:r>
              <a:rPr lang="en-US" altLang="zh-CN" sz="2400" dirty="0"/>
              <a:t> ┐Q ∨R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en-US" altLang="zh-CN" sz="2800" dirty="0"/>
              <a:t> ∧(┐P ∨ ┐Q)</a:t>
            </a:r>
            <a:r>
              <a:rPr lang="zh-CN" altLang="en-US" sz="2800" dirty="0"/>
              <a:t>主析取范式为（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AD9D5-AAB9-915F-810C-FCD38973C8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ym typeface="Symbol" panose="05050102010706020507" pitchFamily="18" charset="2"/>
              </a:rPr>
              <a:t>∑</a:t>
            </a:r>
            <a:r>
              <a:rPr lang="en-US" altLang="zh-CN" sz="2400" dirty="0"/>
              <a:t>(2,4,5,6,7)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CD15D0-8033-56D4-DEF7-7449549119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∑</a:t>
            </a:r>
            <a:r>
              <a:rPr lang="en-US" altLang="zh-CN" sz="2800" dirty="0"/>
              <a:t>(0,1,3)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D07C85-3C94-9C76-B94D-35CB398383D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∏(2,4,5,6,7)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A399E8-AEEF-83CD-67AF-9161C881807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(0,1,3) 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2B3836D-0CC6-862A-A0F3-F19E06267C7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0AC85E-51E6-33B9-480B-B6ECA4A4A9E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34ACFE5-250B-B891-2129-48513E1D800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D0D7A4C-783B-BE77-B50E-2E518041DA5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CB00D5A-9D79-074F-8A85-366EE35AC1D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BDD342D-4B1F-B02C-8805-0786373C53D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51AACCF-2133-8848-30F2-261C7040996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C008FDD-3B45-56D1-4ECC-E4218D1998B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22CDC70-DD7A-BDB7-CAF6-7A8050DD62D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C3D1611-72C5-400B-5A52-051190B0C86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66ACDEB-6823-EF3D-9E8B-F5ADA8F9316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4861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53AB186B-6127-231B-CC5C-D079800FD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 作 业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1992CD95-EB48-1FCB-9F33-DCDE5113CA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30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P28 </a:t>
            </a:r>
            <a:r>
              <a:rPr lang="en-US" altLang="zh-CN" sz="3600" dirty="0"/>
              <a:t>   </a:t>
            </a:r>
            <a:r>
              <a:rPr lang="zh-CN" altLang="en-US" sz="3600" dirty="0">
                <a:solidFill>
                  <a:srgbClr val="0000FF"/>
                </a:solidFill>
              </a:rPr>
              <a:t>习题</a:t>
            </a:r>
            <a:r>
              <a:rPr lang="en-US" altLang="zh-CN" sz="3600" dirty="0">
                <a:solidFill>
                  <a:srgbClr val="0000FF"/>
                </a:solidFill>
              </a:rPr>
              <a:t>1.7   </a:t>
            </a:r>
            <a:r>
              <a:rPr lang="en-US" altLang="zh-CN" sz="3600" dirty="0">
                <a:solidFill>
                  <a:srgbClr val="000000"/>
                </a:solidFill>
              </a:rPr>
              <a:t>12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599F0C7-11BE-AA7B-7DBB-D2FA5D0A31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7584" y="170080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1.7     12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67FCBBA-19C2-58CB-91C7-423AF8FBF0A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FE992D1-806D-FACB-71B2-CBC5CD7AB8B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BFBB745-0CB5-31D7-0933-55CEBA85B5B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3301193-9091-FAA1-A8CD-DEE6072870F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6CBD1F34-415E-BF16-FADE-18B393F4ECF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F082DC99-E745-6375-E55D-F5C715047EF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D91EF72-A1FC-7B59-1A7A-556EA73029C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1278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1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sym typeface="Symbol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1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sym typeface="Symbol" pitchFamily="18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3758</TotalTime>
  <Words>2762</Words>
  <Application>Microsoft Office PowerPoint</Application>
  <PresentationFormat>全屏显示(4:3)</PresentationFormat>
  <Paragraphs>481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宋体</vt:lpstr>
      <vt:lpstr>Microsoft Yahei</vt:lpstr>
      <vt:lpstr>Arial</vt:lpstr>
      <vt:lpstr>Symbol</vt:lpstr>
      <vt:lpstr>Tahoma</vt:lpstr>
      <vt:lpstr>Wingdings</vt:lpstr>
      <vt:lpstr>Blends</vt:lpstr>
      <vt:lpstr>1.7 命题公式的范式</vt:lpstr>
      <vt:lpstr>1.7.1 基本积与基本和</vt:lpstr>
      <vt:lpstr> 1.7.2  小项与大项</vt:lpstr>
      <vt:lpstr> 1.7.2  小项与大项</vt:lpstr>
      <vt:lpstr>1.7.2  小项与大项</vt:lpstr>
      <vt:lpstr> 1.7.2  小项与大项</vt:lpstr>
      <vt:lpstr>1.7.2  小项与大项</vt:lpstr>
      <vt:lpstr>1.7.2  小项与大项</vt:lpstr>
      <vt:lpstr>1.7.2  小项与大项</vt:lpstr>
      <vt:lpstr> 1.7.3  合取范式与析取范式</vt:lpstr>
      <vt:lpstr> 1.7.3  合取范式与析取范式</vt:lpstr>
      <vt:lpstr> 1.7.3  合取范式与析取范式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1.8.4主合取范式与主析取范式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1.7.4主合取范式与主析取范式</vt:lpstr>
      <vt:lpstr>  作 业</vt:lpstr>
      <vt:lpstr>  作 业</vt:lpstr>
      <vt:lpstr>PowerPoint 演示文稿</vt:lpstr>
      <vt:lpstr>PowerPoint 演示文稿</vt:lpstr>
      <vt:lpstr>PowerPoint 演示文稿</vt:lpstr>
      <vt:lpstr>PowerPoint 演示文稿</vt:lpstr>
      <vt:lpstr>  作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99</cp:revision>
  <dcterms:created xsi:type="dcterms:W3CDTF">2010-04-09T13:44:14Z</dcterms:created>
  <dcterms:modified xsi:type="dcterms:W3CDTF">2023-12-21T07:42:28Z</dcterms:modified>
</cp:coreProperties>
</file>