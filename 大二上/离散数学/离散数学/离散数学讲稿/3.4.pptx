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805" r:id="rId2"/>
    <p:sldMasterId id="2147483818" r:id="rId3"/>
  </p:sldMasterIdLst>
  <p:sldIdLst>
    <p:sldId id="354" r:id="rId4"/>
    <p:sldId id="356" r:id="rId5"/>
    <p:sldId id="343" r:id="rId6"/>
    <p:sldId id="345" r:id="rId7"/>
    <p:sldId id="307" r:id="rId8"/>
    <p:sldId id="340" r:id="rId9"/>
    <p:sldId id="308" r:id="rId10"/>
    <p:sldId id="358" r:id="rId11"/>
    <p:sldId id="360" r:id="rId12"/>
    <p:sldId id="362" r:id="rId13"/>
    <p:sldId id="346" r:id="rId14"/>
    <p:sldId id="348" r:id="rId15"/>
    <p:sldId id="311" r:id="rId16"/>
    <p:sldId id="335" r:id="rId17"/>
    <p:sldId id="352" r:id="rId18"/>
    <p:sldId id="312" r:id="rId19"/>
    <p:sldId id="336" r:id="rId20"/>
    <p:sldId id="313" r:id="rId21"/>
    <p:sldId id="341" r:id="rId22"/>
    <p:sldId id="314" r:id="rId23"/>
    <p:sldId id="322" r:id="rId24"/>
    <p:sldId id="364" r:id="rId2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9933"/>
    <a:srgbClr val="FF0066"/>
    <a:srgbClr val="CC0066"/>
    <a:srgbClr val="0066FF"/>
    <a:srgbClr val="008080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3825" autoAdjust="0"/>
  </p:normalViewPr>
  <p:slideViewPr>
    <p:cSldViewPr>
      <p:cViewPr varScale="1">
        <p:scale>
          <a:sx n="65" d="100"/>
          <a:sy n="65" d="100"/>
        </p:scale>
        <p:origin x="66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4D139C-B096-FA5E-9F68-4D08681DF291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6EBB2DC-C449-749B-7DA4-CCEC0C68D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69CC989-8CBA-726D-9EA8-585ED625A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CD4C771-B8D2-46F8-77E3-25EDF39DE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F010FD0-F577-F2B3-4D16-DE65BA4681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AEC37B2-74B3-615D-087C-6378A4FB7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7655B3-4D30-494F-92EF-2E0EB979B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699A9F0-6FD4-E713-2ED9-877A8932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557250F0-FF56-AA89-20CC-75D8C7FC6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1EC3C96-26D2-6D01-66C7-600904F3C9E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DA4F38F-841E-E00D-2127-3954771D61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0843FE5-2EAF-33CC-B1A9-1E6ADA6B1D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4176567-9ACC-B121-9960-C8893B809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787F896-A47D-42DD-845B-DF9568B032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47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B1247CE-1ED8-C1BD-00C4-3BB82D00C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9CFF037-DD49-BC9C-F5B3-F895C825E3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6FBFB5-9848-3BAD-5946-4728524057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ABD746-CCFB-4954-9BEA-9FCB410EDE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620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B6185CC-7BE0-AFB9-6A2A-06E90CAEA7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D677341-4541-F319-C870-ECD6A3D44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A31F919-866C-4532-7E71-1269DAAE6D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D598D7-C039-4FA2-B00E-DA42F7D22B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850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AE64B1E-7DA7-39A4-4804-8F3239415D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69F77C8-8736-5F73-BAD7-80D6293962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2F12F3F-8D06-418B-706E-26A3D8DC7C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1335D1-0DC1-47F6-978D-F58132E45DA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67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FD9E993-E0AD-BF33-2F71-6CCF9A50D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48EA256-88C4-DA22-6769-0266416E58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806460D-F971-46E5-6128-D1C974798E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81BAD-CB2E-43F6-A717-2DA5876FA4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228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7AF5A9C-367F-5230-CA0B-D0126A9A31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D76BB29-C98C-8F4F-D366-A8BE27CC85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245710D-D346-B1E9-640E-6699FD5C8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1DA417-D3DA-4ACF-BD34-9B731E0F74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47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42048A0-8246-D7BA-E7CB-917C45255B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5D62BDA-B15A-18A9-6C26-94ADF5A68E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4CDCB15-4971-4533-D0A7-93B3609785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8DB5B3-D5E1-4414-9A46-A7803310C2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159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12004CA-6B3F-35DC-3287-832B1406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25D6E26-719D-CDFD-A8C3-6F6D055B7E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2E306B4-7BBE-EA26-DB09-15F4C03AE6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67A791-47BB-4EE7-AF2B-54FCEAAE7C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42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32D22E1-4FD6-5178-5024-CB5F7056A8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3BA4D38-5EF7-AB72-E87B-F471A776C1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141C3CA-0952-D067-2641-A8DB6B605C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44598B-04B0-4938-BE26-1EADF98EDD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02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B496D43-8D18-132C-F6FA-B1995B61E1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13738E0-9EAB-A90A-62E2-178C48DE8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8EC5346-467E-D259-66C0-3DD33C1178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48A88A-799C-4150-9AEA-4CF6E79886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865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39C9AD3-99E6-9D9E-5FE3-2B2162E3D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961579A-9F1E-35F7-FED1-55C318A5B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CED597A-5D7E-83D4-4458-49B4E52A1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24C167-A3FD-491E-AFCE-9C079411EA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679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C2D32F3-6403-0DBC-439B-6ADB5BD64B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126C9E3-E6E1-7DC5-0144-AC80916A4F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46CBB58-764F-0598-CB43-965A0B064D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6EBDE-82FA-4599-A689-A3589E25E7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4834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215EFE-D5F9-F4F4-1815-B9C55AE5CE0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6DAD890-9E76-3EEF-562B-968D08030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F62435A-C61E-8FBC-1676-CB660F9412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A095270-C0C3-C915-4691-CBD0F703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D1A1B210-21ED-AAA4-C112-3FF146ABF9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F6492AF-31B3-E40D-962B-D1C3C65E4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54D682F-785E-35FC-F7A5-E7DF261D2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0179996-0F8E-F4E5-F410-9C0506721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87CA1EE-7218-3F54-5318-FB493D1EC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1810F43-142B-B742-DCAE-CD024F0EC3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217568A-B0BF-15FE-E5DC-2E02409B7F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C854DB0-33FE-6928-462F-A991CFAA3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6E45FCA-DA54-F99C-8F7C-B0FDEE7A7C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fld id="{DB66B573-67E1-4773-B605-49FB9B2ADA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273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D81A33F-E160-D80E-1B30-978AAD435A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7C52170-1E8F-C077-1A15-99E2EFEDA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A0DB64A-A696-CD47-D45B-1DC5184818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2E844-9D80-46B0-AF6F-D370B62836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8035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46CE1D0-09CA-9BD4-0260-C4A05F59CF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62776AA-4BD6-448D-3D5B-3D31DE81C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84E38EF-F49E-8B57-1CC8-6FF1C5AFF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0FF782-1A47-49DF-ACF9-F9ACC1BB5E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9689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8FCD30-A597-96FA-149F-AC6F10EF45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30A901D-1E8A-20E9-5F0C-EB5456D515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B70DF37-50F5-F422-68D0-9BBCBED1D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A0371-E595-4EAF-825D-8886B7FCFB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977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8026B46-768B-5B8D-7C3E-FD5A1BAEA1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2BD95E7D-0AFD-5851-65D0-F79D5EE7F3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CFF634B-8086-1F8B-619E-59C2A696B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73702D-D078-47AB-A7A6-807624BBCA9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292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DBFC515-EBB7-CD1A-7CA7-A81A3BBEBF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1ED66E4-2FD8-A980-9D56-8A36E2CFBF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35A2216-4047-9005-5E15-2C6A9381B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023E7D-D43D-4BBA-9924-05EF15000A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5110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1450148-DD9B-AC54-84CA-DFFC9D0355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925BD78-5CFF-6365-1A82-9BED393DE7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1C21EBE-2133-639C-1C9E-B1E197D5DE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3B89D1-3BF1-4971-97DC-6E66013C5A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85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02F2F04-F77B-75FA-D847-78A7104986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84D9532-FBE4-61B5-1BBC-B25F6C58E9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F9D2F25-B0BD-81BE-55C0-E5313FE0DE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BDBDD7-404E-44AB-B691-D4DB2B30F3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98179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8E1DC6B-BD12-1484-2D7F-21DD3B3907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1DB2429-0476-10D2-2880-DD0728D692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CDE6F2-0E58-3BB0-5456-35B1C43A6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633E09-5A16-4049-AD7C-F0AC1D985C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025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94E1311-6C44-9A26-A434-841D60A050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0BBFB8D-0B7F-16F2-4F9C-5266A98F77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FED6680-C3D5-70AE-B4E2-B2C515D43B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6BEB71-5153-4B68-8985-8DEEB76FCA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025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07C8630-8231-B88F-B58F-8B01458B3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3E01438-B18C-EAF5-6C28-313447E5D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024BE0A-7B6F-36A3-1226-FF494F15B3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1B57D-9D93-4D27-8A8D-D47065A62C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24718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354D44-7B31-5427-FC2D-6667FC5011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E5571D7-2462-8718-873E-2A78BD5302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F7C2008-BF8D-95DF-FA63-9155B93B0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A45AE5-B2BB-4BA6-8E88-49066C66EC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02065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1578F8-2BB5-A5AB-8B0E-BCE1810E0E1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D8F398D-EC29-4E4C-0C69-83910634D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D8D0969-CE02-E497-5BB3-2A33B9E00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BBD4EA2-01D4-B7E5-B9A5-BB76E20A6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361A871-A3C9-3563-B6C0-B177DAE43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F877A39-73A1-29F2-E98E-FF49F00A7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8F6BFA-465E-26A3-FAAD-23F76B0FF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42E11787-503F-2684-B5FA-0FEF12C7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2C7BED8-0872-A2F3-7AF1-477A5EADA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0C5415A1-32E4-4D1A-8E0A-E8FCE4CF16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9BF70A25-4B50-BF54-A440-F2A2A6F591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479FD18-8E34-28CA-9EE0-EFAADBC0B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FBDC042-BD3C-A52C-F0EA-0434241C47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rgbClr val="1C1C1C"/>
                </a:solidFill>
              </a:defRPr>
            </a:lvl1pPr>
          </a:lstStyle>
          <a:p>
            <a:fld id="{466DFB59-F7EE-478A-8D0B-7AF5E48266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4810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927AC0F-D971-6D40-4A1B-BE7102E16A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446877C-7C95-1E68-B317-580F38974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F2DF4F5-774C-22C6-EB45-4CE57EEEB6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6ED00F-5683-4AC4-9E5C-B393316E69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06240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2AB7F45-A26E-BC4F-CFE3-E1A590D5F4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8F2C597-EE76-0A03-650C-7DF49661B2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5905D9-CDA2-871A-A814-85E1B8A0D8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1D6F95-B4F6-41D7-979E-4B7385745C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003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E9E6B65-FE35-4926-A9FD-12273CC87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06D950D-E476-6ADA-0F0D-2F3A7C26DA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C2334E2-16DE-AADA-914D-9F29840EB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019122-E3F0-4722-9ADD-C002333D8B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931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BB5AB8E-D801-9C07-F866-6BA4B6B3D1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13D6B80-ABB0-7343-A854-92A11B0089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BD271B14-DE58-0E6F-E6C6-7C76DCE50A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E04752-ED51-47E4-883E-B39933D454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720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7EDCEBD7-B2E1-9EEE-E5A4-9354CB0A22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2423DCC-2AC7-787E-D1CF-E76F1F6721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45DB810-6297-2809-869D-2B3129ACDF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290704-CC50-4E38-997C-0DB11F019C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541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C1AF5FD-CB02-D888-3AFB-978D63302D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7FFC8439-8600-E64C-033D-274A063DD6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277B8643-AB3E-8239-95BF-4D54CD1DA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274045-5ACC-43EC-ADC7-A34DD89F11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237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2C9FC88-250B-1954-71F7-860531F8E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6D6F415-D146-A185-44A9-1BF9E0A0B7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AD53544-91E5-AB67-119A-7F9C9AE812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4152A2-A1A1-412C-BBA0-EA3670983D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70314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61EBC7-3A9C-8093-FDED-E2C5476283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A1C869F-0EA0-D383-9DAB-F33C53AE1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061F8C-7C16-2B51-D6A0-3BF7FB0983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F725B-04A5-46CD-909B-2C05B2C6F2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6152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E14F6D2-4BE4-5658-28C2-78FD823965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39EC6B8-02F2-BB1B-081E-37846F22C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6726B5A-6502-66A7-093D-181F6AF27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81981F-D0D1-4E6A-8DEF-54CF2F69F6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594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FBA14F-3EF9-61C7-768E-5CB5DE876C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7E34280-CB62-2C48-F052-46A85A1ABA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6623AB2-7444-CF23-8AA7-55BB880FCB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3DDDE8-4411-44A1-BB76-04C5844A22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8373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EC94283-F3EB-10F7-F875-B45BE8FFDB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DE750F0-CE77-84AA-0BF5-1A6B8AA6F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05E8B55-8550-282A-CEAB-3F21E749CA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82B7F-3506-450E-B8DE-34C14B829B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620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49D39A-34DE-82BF-8E22-1F5FCB9F5C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7A86AF-2558-7600-65B5-2BFB141674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233968-A941-3A70-B7A0-F1702D9695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31C320-ECAA-A652-2407-6438FB5FD7E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690E901-1421-9F79-46DF-8FDE7A8D083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63DB0C5-0F9E-57AC-4BA4-6C9F7FADA41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9D951D7-4A9C-8AB2-2EAE-11D1FA27F5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2DD55E6-A288-729C-7262-D415757F3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B1D331CA-09DE-B546-68A7-CA96B13DE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A3BD9D83-D0BC-DA50-D74E-63D154402B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FEEC8BD-CFD1-7A51-B4A0-DA0F2AB94B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31127766-10FB-C7D2-BE61-379B5105C1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B6D6FA2-96C7-49DE-B230-15A8E5B6930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  <p:sldLayoutId id="214748415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912A18D-A21B-BEA3-FB42-3B9201F211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4008555-577A-18E1-5596-22CED035D6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4BE5D5F-449A-9D0E-9150-60C1A994C7D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23BFB85-BF89-B584-3F1E-7210303249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1619AC30-C4F6-E2FC-3786-581D3C05AA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8CEF1119-00F6-1E61-F976-4C0FA73678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F70A2CDF-8617-B6BA-E5FE-92B1D0B61D7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5E9FEFF9-C820-9684-CE74-C85A2D99D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56458C17-BCC3-6C2F-E7AA-3E6B92909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DB2217BA-8FCA-422B-924F-3848D256C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3835351B-9A73-D579-E637-906C8F2538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10DCD2C2-395A-FF93-81B3-FCD1C38CAA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0CE259DE-79C5-4F43-9F8D-ED8DC50F455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B713267-6D66-3710-F607-A6F43394EAA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2436C54-40C5-805F-8062-5A30CC8C22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768F498-CA4B-B313-BDEC-5A72A49901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3FE31FB-C257-8025-8858-8807D411175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9AF9895-FCEE-2DBE-1353-08548B9502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056985-3AEF-2D6A-66B3-755A863B85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9B972F64-57C7-1A14-BC04-32C46AF9E2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solidFill>
                <a:srgbClr val="000000"/>
              </a:solidFill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B4F4AE93-9ABF-A397-93E3-5C07D6928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BAD8EC30-770A-2851-7381-9E84A5E13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8A07E3AB-443C-FEF4-A134-B68ED0B5D4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6583FE80-FBC6-2899-74D9-873B2ED053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44ADB7F-0614-F813-3515-B0A43BECD5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68DCE66E-CD1C-45D6-BAC9-022180A8EFC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  <p:sldLayoutId id="21474841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9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0F2B3F62-E06E-54F9-E730-DA245958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333399"/>
                </a:solidFill>
              </a:rPr>
              <a:t>3.4 </a:t>
            </a:r>
            <a:r>
              <a:rPr lang="zh-CN" altLang="en-US">
                <a:solidFill>
                  <a:srgbClr val="333399"/>
                </a:solidFill>
              </a:rPr>
              <a:t>关系及其表示 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365B0-A36C-8422-8A09-93DC8478C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20863"/>
            <a:ext cx="8820150" cy="5013325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问题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r>
              <a:rPr lang="zh-CN" altLang="en-US" sz="2800" kern="100" dirty="0">
                <a:solidFill>
                  <a:srgbClr val="000000"/>
                </a:solidFill>
                <a:latin typeface="Times New Roman"/>
              </a:rPr>
              <a:t>五人集合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＝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{1</a:t>
            </a:r>
            <a:r>
              <a:rPr lang="en-US" altLang="zh-CN" sz="2800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CN" sz="2800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zh-CN" sz="2800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zh-CN" sz="2800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5}</a:t>
            </a:r>
            <a:r>
              <a:rPr lang="zh-CN" altLang="en-US" sz="2800" kern="100" dirty="0">
                <a:solidFill>
                  <a:srgbClr val="000000"/>
                </a:solidFill>
                <a:latin typeface="Times New Roman"/>
              </a:rPr>
              <a:t>，其中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与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、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与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、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与</a:t>
            </a:r>
            <a:r>
              <a:rPr lang="en-US" altLang="zh-CN" sz="2800" kern="1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zh-CN" altLang="zh-CN" sz="2800" kern="100" dirty="0">
                <a:solidFill>
                  <a:srgbClr val="000000"/>
                </a:solidFill>
                <a:latin typeface="Times New Roman"/>
              </a:rPr>
              <a:t>均为父子</a:t>
            </a:r>
            <a:r>
              <a:rPr lang="zh-CN" altLang="en-US" sz="2800" kern="100" dirty="0">
                <a:solidFill>
                  <a:srgbClr val="000000"/>
                </a:solidFill>
                <a:latin typeface="Times New Roman"/>
              </a:rPr>
              <a:t>。</a:t>
            </a:r>
            <a:r>
              <a:rPr lang="zh-CN" altLang="en-US" sz="2800" kern="100" dirty="0">
                <a:solidFill>
                  <a:srgbClr val="0000FF"/>
                </a:solidFill>
                <a:latin typeface="Times New Roman"/>
              </a:rPr>
              <a:t>数学抽象</a:t>
            </a:r>
            <a:r>
              <a:rPr lang="zh-CN" altLang="en-US" sz="2800" kern="100" dirty="0">
                <a:solidFill>
                  <a:srgbClr val="000000"/>
                </a:solidFill>
                <a:latin typeface="Times New Roman"/>
              </a:rPr>
              <a:t>这五人间的</a:t>
            </a:r>
            <a:r>
              <a:rPr lang="zh-CN" altLang="en-US" sz="2800" b="1" kern="100" dirty="0">
                <a:solidFill>
                  <a:srgbClr val="FF00FF"/>
                </a:solidFill>
                <a:latin typeface="Times New Roman"/>
              </a:rPr>
              <a:t>父子关系</a:t>
            </a:r>
            <a:r>
              <a:rPr lang="zh-CN" altLang="en-US" sz="2800" kern="100" dirty="0">
                <a:solidFill>
                  <a:srgbClr val="000000"/>
                </a:solidFill>
                <a:latin typeface="Times New Roman"/>
              </a:rPr>
              <a:t>？</a:t>
            </a:r>
            <a:endParaRPr lang="en-US" altLang="zh-CN" sz="2800" dirty="0">
              <a:solidFill>
                <a:srgbClr val="000000"/>
              </a:solidFill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kern="100" dirty="0">
                <a:solidFill>
                  <a:srgbClr val="FF00FF"/>
                </a:solidFill>
                <a:latin typeface="宋体"/>
              </a:rPr>
              <a:t> (1)</a:t>
            </a:r>
            <a:r>
              <a:rPr lang="en-US" altLang="zh-CN" kern="100" dirty="0">
                <a:solidFill>
                  <a:srgbClr val="00B0F0"/>
                </a:solidFill>
              </a:rPr>
              <a:t>set</a:t>
            </a:r>
            <a:r>
              <a:rPr lang="en-US" altLang="zh-CN" kern="100" dirty="0">
                <a:solidFill>
                  <a:srgbClr val="000000"/>
                </a:solidFill>
              </a:rPr>
              <a:t> of </a:t>
            </a:r>
            <a:r>
              <a:rPr lang="en-US" altLang="zh-CN" dirty="0">
                <a:solidFill>
                  <a:srgbClr val="000000"/>
                </a:solidFill>
              </a:rPr>
              <a:t>ordered pairs: 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{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&lt;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&gt;,&lt;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&gt;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</a:rPr>
              <a:t>}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kern="100" dirty="0">
                <a:solidFill>
                  <a:srgbClr val="00B050"/>
                </a:solidFill>
                <a:latin typeface="宋体"/>
              </a:rPr>
              <a:t> (2)</a:t>
            </a:r>
            <a:r>
              <a:rPr lang="en-US" altLang="zh-CN" dirty="0">
                <a:solidFill>
                  <a:srgbClr val="000000"/>
                </a:solidFill>
              </a:rPr>
              <a:t>zero-one</a:t>
            </a:r>
            <a:r>
              <a:rPr lang="en-US" altLang="zh-CN" b="1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matrix</a:t>
            </a:r>
            <a:r>
              <a:rPr lang="en-US" altLang="zh-CN" kern="100" dirty="0">
                <a:solidFill>
                  <a:srgbClr val="000000"/>
                </a:solidFill>
                <a:latin typeface="宋体"/>
              </a:rPr>
              <a:t> </a:t>
            </a:r>
            <a:r>
              <a:rPr lang="en-US" altLang="zh-CN" b="1" kern="100" dirty="0">
                <a:solidFill>
                  <a:srgbClr val="FF00FF"/>
                </a:solidFill>
                <a:latin typeface="宋体"/>
              </a:rPr>
              <a:t>(3)</a:t>
            </a:r>
            <a:r>
              <a:rPr lang="en-US" altLang="zh-CN" dirty="0">
                <a:solidFill>
                  <a:srgbClr val="000000"/>
                </a:solidFill>
              </a:rPr>
              <a:t>directed </a:t>
            </a:r>
            <a:r>
              <a:rPr lang="en-US" altLang="zh-CN" dirty="0">
                <a:solidFill>
                  <a:srgbClr val="00B0F0"/>
                </a:solidFill>
              </a:rPr>
              <a:t>graph</a:t>
            </a:r>
          </a:p>
        </p:txBody>
      </p:sp>
      <p:graphicFrame>
        <p:nvGraphicFramePr>
          <p:cNvPr id="7172" name="对象 3">
            <a:extLst>
              <a:ext uri="{FF2B5EF4-FFF2-40B4-BE49-F238E27FC236}">
                <a16:creationId xmlns:a16="http://schemas.microsoft.com/office/drawing/2014/main" id="{2848BC69-8077-6C06-7562-F210416EE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3338" y="4332288"/>
          <a:ext cx="2692400" cy="233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1168400" progId="Equation.DSMT4">
                  <p:embed/>
                </p:oleObj>
              </mc:Choice>
              <mc:Fallback>
                <p:oleObj name="Equation" r:id="rId2" imgW="1346200" imgH="1168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4332288"/>
                        <a:ext cx="2692400" cy="233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9">
            <a:extLst>
              <a:ext uri="{FF2B5EF4-FFF2-40B4-BE49-F238E27FC236}">
                <a16:creationId xmlns:a16="http://schemas.microsoft.com/office/drawing/2014/main" id="{8D09BE72-4C53-D8C4-8CF0-2C067177B14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38313" y="4000500"/>
            <a:ext cx="230346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FF"/>
                </a:solidFill>
              </a:rPr>
              <a:t>1   2   3   4   5</a:t>
            </a:r>
          </a:p>
        </p:txBody>
      </p:sp>
      <p:sp>
        <p:nvSpPr>
          <p:cNvPr id="7174" name="Text Box 8">
            <a:extLst>
              <a:ext uri="{FF2B5EF4-FFF2-40B4-BE49-F238E27FC236}">
                <a16:creationId xmlns:a16="http://schemas.microsoft.com/office/drawing/2014/main" id="{A56CE3F5-376F-9929-AACA-68C313987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688" y="4521200"/>
            <a:ext cx="352425" cy="208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60000"/>
              </a:lnSpc>
            </a:pPr>
            <a:r>
              <a:rPr lang="en-US" altLang="zh-CN" sz="2400">
                <a:solidFill>
                  <a:srgbClr val="00B0F0"/>
                </a:solidFill>
              </a:rPr>
              <a:t>1</a:t>
            </a:r>
          </a:p>
          <a:p>
            <a:pPr eaLnBrk="1" hangingPunct="1">
              <a:lnSpc>
                <a:spcPct val="60000"/>
              </a:lnSpc>
            </a:pPr>
            <a:endParaRPr lang="en-US" altLang="zh-CN" sz="2400">
              <a:solidFill>
                <a:srgbClr val="00B0F0"/>
              </a:solidFill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zh-CN" sz="2400">
                <a:solidFill>
                  <a:srgbClr val="00B0F0"/>
                </a:solidFill>
              </a:rPr>
              <a:t>2</a:t>
            </a:r>
          </a:p>
          <a:p>
            <a:pPr eaLnBrk="1" hangingPunct="1">
              <a:lnSpc>
                <a:spcPct val="60000"/>
              </a:lnSpc>
            </a:pPr>
            <a:endParaRPr lang="en-US" altLang="zh-CN" sz="2400">
              <a:solidFill>
                <a:srgbClr val="00B0F0"/>
              </a:solidFill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zh-CN" sz="2400">
                <a:solidFill>
                  <a:srgbClr val="00B0F0"/>
                </a:solidFill>
              </a:rPr>
              <a:t>3</a:t>
            </a:r>
          </a:p>
          <a:p>
            <a:pPr eaLnBrk="1" hangingPunct="1">
              <a:lnSpc>
                <a:spcPct val="60000"/>
              </a:lnSpc>
            </a:pPr>
            <a:endParaRPr lang="en-US" altLang="zh-CN" sz="2400">
              <a:solidFill>
                <a:srgbClr val="00B0F0"/>
              </a:solidFill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zh-CN" sz="2400">
                <a:solidFill>
                  <a:srgbClr val="00B0F0"/>
                </a:solidFill>
              </a:rPr>
              <a:t>4</a:t>
            </a:r>
          </a:p>
          <a:p>
            <a:pPr eaLnBrk="1" hangingPunct="1">
              <a:lnSpc>
                <a:spcPct val="60000"/>
              </a:lnSpc>
            </a:pPr>
            <a:endParaRPr lang="en-US" altLang="zh-CN" sz="2400">
              <a:solidFill>
                <a:srgbClr val="00B0F0"/>
              </a:solidFill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zh-CN" sz="2400">
                <a:solidFill>
                  <a:srgbClr val="00B0F0"/>
                </a:solidFill>
              </a:rPr>
              <a:t>5</a:t>
            </a:r>
          </a:p>
        </p:txBody>
      </p:sp>
      <p:sp>
        <p:nvSpPr>
          <p:cNvPr id="7175" name="Oval 10">
            <a:extLst>
              <a:ext uri="{FF2B5EF4-FFF2-40B4-BE49-F238E27FC236}">
                <a16:creationId xmlns:a16="http://schemas.microsoft.com/office/drawing/2014/main" id="{309DAD1F-761C-4DD9-DAA0-5BCB143F8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537075"/>
            <a:ext cx="163512" cy="1635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76" name="Oval 10">
            <a:extLst>
              <a:ext uri="{FF2B5EF4-FFF2-40B4-BE49-F238E27FC236}">
                <a16:creationId xmlns:a16="http://schemas.microsoft.com/office/drawing/2014/main" id="{103DD590-04CA-F0EE-3C36-9F5242041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4537075"/>
            <a:ext cx="163512" cy="1635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77" name="Oval 10">
            <a:extLst>
              <a:ext uri="{FF2B5EF4-FFF2-40B4-BE49-F238E27FC236}">
                <a16:creationId xmlns:a16="http://schemas.microsoft.com/office/drawing/2014/main" id="{BF882034-61ED-11A1-144B-B9A404DD4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513" y="5949950"/>
            <a:ext cx="161925" cy="161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78" name="Oval 10">
            <a:extLst>
              <a:ext uri="{FF2B5EF4-FFF2-40B4-BE49-F238E27FC236}">
                <a16:creationId xmlns:a16="http://schemas.microsoft.com/office/drawing/2014/main" id="{CCED4186-D677-FB21-2CFC-EC302D50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229225"/>
            <a:ext cx="163512" cy="1635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79" name="Oval 10">
            <a:extLst>
              <a:ext uri="{FF2B5EF4-FFF2-40B4-BE49-F238E27FC236}">
                <a16:creationId xmlns:a16="http://schemas.microsoft.com/office/drawing/2014/main" id="{8C2CC3F6-9F86-28A8-0A22-AE8B8ADB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638" y="5949950"/>
            <a:ext cx="163512" cy="1619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180" name="Text Box 12">
            <a:extLst>
              <a:ext uri="{FF2B5EF4-FFF2-40B4-BE49-F238E27FC236}">
                <a16:creationId xmlns:a16="http://schemas.microsoft.com/office/drawing/2014/main" id="{9F59C4A3-D9FC-1727-9341-F824449BD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638" y="5084763"/>
            <a:ext cx="352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7181" name="Text Box 12">
            <a:extLst>
              <a:ext uri="{FF2B5EF4-FFF2-40B4-BE49-F238E27FC236}">
                <a16:creationId xmlns:a16="http://schemas.microsoft.com/office/drawing/2014/main" id="{FC4EAD7A-F329-E1E5-3DA5-E4003677E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413" y="5802313"/>
            <a:ext cx="3540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7182" name="Text Box 12">
            <a:extLst>
              <a:ext uri="{FF2B5EF4-FFF2-40B4-BE49-F238E27FC236}">
                <a16:creationId xmlns:a16="http://schemas.microsoft.com/office/drawing/2014/main" id="{9AC3F1FD-2A80-B3EE-BFB8-875B2D55F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538" y="4392613"/>
            <a:ext cx="352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183" name="Text Box 12">
            <a:extLst>
              <a:ext uri="{FF2B5EF4-FFF2-40B4-BE49-F238E27FC236}">
                <a16:creationId xmlns:a16="http://schemas.microsoft.com/office/drawing/2014/main" id="{CA2BCD1B-FA1D-F5D6-0AC6-D9B4A4D24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5802313"/>
            <a:ext cx="3524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184" name="Text Box 12">
            <a:extLst>
              <a:ext uri="{FF2B5EF4-FFF2-40B4-BE49-F238E27FC236}">
                <a16:creationId xmlns:a16="http://schemas.microsoft.com/office/drawing/2014/main" id="{6EE928DE-2408-D4F6-4720-DF67E5FD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378325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00"/>
                </a:solidFill>
              </a:rPr>
              <a:t>1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C781452-5CEE-DFA8-4428-6D0E7AF87370}"/>
              </a:ext>
            </a:extLst>
          </p:cNvPr>
          <p:cNvCxnSpPr>
            <a:stCxn id="7175" idx="2"/>
          </p:cNvCxnSpPr>
          <p:nvPr/>
        </p:nvCxnSpPr>
        <p:spPr>
          <a:xfrm flipH="1">
            <a:off x="5959475" y="4618038"/>
            <a:ext cx="1420813" cy="47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62A54A7-E50B-9C42-F5C2-20104B67E860}"/>
              </a:ext>
            </a:extLst>
          </p:cNvPr>
          <p:cNvCxnSpPr>
            <a:stCxn id="7179" idx="0"/>
          </p:cNvCxnSpPr>
          <p:nvPr/>
        </p:nvCxnSpPr>
        <p:spPr>
          <a:xfrm flipV="1">
            <a:off x="7469188" y="4700588"/>
            <a:ext cx="0" cy="12493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115CC6E-5684-77F2-5B0C-2541152046DC}"/>
              </a:ext>
            </a:extLst>
          </p:cNvPr>
          <p:cNvCxnSpPr/>
          <p:nvPr/>
        </p:nvCxnSpPr>
        <p:spPr>
          <a:xfrm flipH="1">
            <a:off x="6040438" y="6032500"/>
            <a:ext cx="1339850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079E20-3A29-B16B-271A-0C71C21B2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 </a:t>
            </a:r>
            <a:r>
              <a:rPr lang="zh-CN" altLang="en-US"/>
              <a:t>关系及其表示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08AAC3-514B-4C6E-59CC-51AB2C3F1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797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3.4.1 </a:t>
            </a:r>
            <a:r>
              <a:rPr lang="zh-CN" altLang="en-US" sz="3600" b="1"/>
              <a:t>关系的概念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3.4.2 </a:t>
            </a:r>
            <a:r>
              <a:rPr lang="zh-CN" altLang="en-US" sz="3600" b="1"/>
              <a:t>关系的前域和值域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3.4.3 </a:t>
            </a:r>
            <a:r>
              <a:rPr lang="zh-CN" altLang="en-US" sz="3600" b="1"/>
              <a:t>集合</a:t>
            </a:r>
            <a:r>
              <a:rPr lang="en-US" altLang="zh-CN" sz="3600"/>
              <a:t>A</a:t>
            </a:r>
            <a:r>
              <a:rPr lang="zh-CN" altLang="en-US" sz="3600" b="1"/>
              <a:t>到</a:t>
            </a:r>
            <a:r>
              <a:rPr lang="en-US" altLang="zh-CN" sz="3600"/>
              <a:t>B</a:t>
            </a:r>
            <a:r>
              <a:rPr lang="zh-CN" altLang="en-US" sz="3600" b="1"/>
              <a:t>的关系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3.4.4 </a:t>
            </a:r>
            <a:r>
              <a:rPr lang="zh-CN" altLang="en-US" sz="3600" b="1"/>
              <a:t>关系矩阵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3.4.5 </a:t>
            </a:r>
            <a:r>
              <a:rPr lang="zh-CN" altLang="en-US" sz="3600" b="1"/>
              <a:t>关系图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237E621-9AEA-B029-2333-933057662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3.4.1 </a:t>
            </a:r>
            <a:r>
              <a:rPr lang="zh-CN" altLang="en-US" sz="4800"/>
              <a:t>关系的概念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F6851B4D-C172-E3AB-C0EA-82EE6A31E6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532812" cy="4868863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en-US" altLang="zh-CN" dirty="0">
                <a:solidFill>
                  <a:schemeClr val="hlink"/>
                </a:solidFill>
              </a:rPr>
              <a:t>n</a:t>
            </a:r>
            <a:r>
              <a:rPr lang="zh-CN" altLang="en-US" b="1" dirty="0">
                <a:solidFill>
                  <a:schemeClr val="hlink"/>
                </a:solidFill>
              </a:rPr>
              <a:t>元关系</a:t>
            </a:r>
            <a:r>
              <a:rPr lang="en-US" altLang="zh-CN" dirty="0"/>
              <a:t>           n</a:t>
            </a:r>
            <a:r>
              <a:rPr lang="zh-CN" altLang="en-US" dirty="0"/>
              <a:t>元组的集合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例如</a:t>
            </a: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1,1,2,3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3,4,2,3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3,4,1,3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3,4,2,3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zh-CN" altLang="en-US" b="1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zh-CN" altLang="en-US" b="1" dirty="0"/>
          </a:p>
          <a:p>
            <a:pPr marL="0" indent="0"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zh-CN" altLang="en-US" dirty="0"/>
              <a:t>东</a:t>
            </a:r>
            <a:r>
              <a:rPr lang="en-US" altLang="zh-CN" dirty="0"/>
              <a:t>,</a:t>
            </a:r>
            <a:r>
              <a:rPr lang="zh-CN" altLang="en-US" dirty="0"/>
              <a:t>西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zh-CN" altLang="en-US" dirty="0"/>
              <a:t>南</a:t>
            </a:r>
            <a:r>
              <a:rPr lang="en-US" altLang="zh-CN" dirty="0"/>
              <a:t>,</a:t>
            </a:r>
            <a:r>
              <a:rPr lang="zh-CN" altLang="en-US" dirty="0"/>
              <a:t>北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zh-CN" altLang="en-US" dirty="0"/>
              <a:t>上</a:t>
            </a:r>
            <a:r>
              <a:rPr lang="en-US" altLang="zh-CN" dirty="0"/>
              <a:t>,</a:t>
            </a:r>
            <a:r>
              <a:rPr lang="zh-CN" altLang="en-US" dirty="0"/>
              <a:t>下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 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3329AAF-B220-F596-B0D3-D0A2C1092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3.4.1 </a:t>
            </a:r>
            <a:r>
              <a:rPr lang="zh-CN" altLang="en-US" sz="4800"/>
              <a:t>关系的概念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825F75C-FEA4-F948-575F-1B31948998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二元关系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binary relation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hlink"/>
                </a:solidFill>
              </a:rPr>
              <a:t>关系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zh-CN" altLang="en-US" dirty="0"/>
              <a:t>       记 </a:t>
            </a:r>
            <a:r>
              <a:rPr lang="en-US" altLang="zh-CN" dirty="0" err="1"/>
              <a:t>aRb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    读</a:t>
            </a:r>
            <a:r>
              <a:rPr lang="zh-CN" altLang="en-US" dirty="0">
                <a:latin typeface="Arial"/>
              </a:rPr>
              <a:t>“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有关系</a:t>
            </a:r>
            <a:r>
              <a:rPr lang="en-US" altLang="zh-CN" dirty="0"/>
              <a:t>R</a:t>
            </a:r>
            <a:r>
              <a:rPr lang="en-US" altLang="zh-CN" dirty="0">
                <a:latin typeface="Arial"/>
              </a:rPr>
              <a:t>”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&lt;</a:t>
            </a:r>
            <a:r>
              <a:rPr lang="en-US" altLang="zh-CN" dirty="0" err="1"/>
              <a:t>a,b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   R</a:t>
            </a:r>
            <a:r>
              <a:rPr lang="zh-CN" altLang="en-US" dirty="0"/>
              <a:t>       记 </a:t>
            </a:r>
            <a:r>
              <a:rPr lang="en-US" altLang="zh-CN" dirty="0"/>
              <a:t>a   b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    读</a:t>
            </a:r>
            <a:r>
              <a:rPr lang="zh-CN" altLang="en-US" dirty="0">
                <a:latin typeface="Arial"/>
              </a:rPr>
              <a:t>“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没关系</a:t>
            </a:r>
            <a:r>
              <a:rPr lang="en-US" altLang="zh-CN" dirty="0"/>
              <a:t>R</a:t>
            </a:r>
            <a:r>
              <a:rPr lang="en-US" altLang="zh-CN" dirty="0">
                <a:latin typeface="Arial"/>
              </a:rPr>
              <a:t>”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zh-CN" altLang="en-US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  <a:r>
              <a:rPr lang="en-US" altLang="zh-CN" dirty="0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lang="en-US" altLang="zh-CN" dirty="0"/>
              <a:t>1Ra        1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/>
              <a:t>有关系</a:t>
            </a:r>
            <a:r>
              <a:rPr lang="en-US" altLang="zh-CN" dirty="0"/>
              <a:t>R</a:t>
            </a:r>
          </a:p>
        </p:txBody>
      </p:sp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98B912FE-41A3-CA8E-F61B-2E51BAE6DB7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356100" y="4089400"/>
          <a:ext cx="3524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190417" progId="Equation.DSMT4">
                  <p:embed/>
                </p:oleObj>
              </mc:Choice>
              <mc:Fallback>
                <p:oleObj name="Equation" r:id="rId2" imgW="152334" imgH="19041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089400"/>
                        <a:ext cx="35242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对象 1">
            <a:extLst>
              <a:ext uri="{FF2B5EF4-FFF2-40B4-BE49-F238E27FC236}">
                <a16:creationId xmlns:a16="http://schemas.microsoft.com/office/drawing/2014/main" id="{36703467-0F0B-703E-D4CB-61ABC520D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4076700"/>
          <a:ext cx="38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52202" progId="Equation.DSMT4">
                  <p:embed/>
                </p:oleObj>
              </mc:Choice>
              <mc:Fallback>
                <p:oleObj name="Equation" r:id="rId4" imgW="126835" imgH="15220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4076700"/>
                        <a:ext cx="38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607E37B9-4B0C-F3F3-852D-81A02767B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3.4.2 </a:t>
            </a:r>
            <a:r>
              <a:rPr lang="zh-CN" altLang="en-US" sz="4800"/>
              <a:t>关系的前域和值域</a:t>
            </a: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10081445-C491-9336-0B2D-C328F6475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/>
              <a:t>关系 </a:t>
            </a:r>
            <a:r>
              <a:rPr lang="en-US" altLang="zh-CN"/>
              <a:t>R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前域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domain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en-US" altLang="zh-CN">
                <a:solidFill>
                  <a:schemeClr val="accent1"/>
                </a:solidFill>
              </a:rPr>
              <a:t>dom(R)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>
                <a:solidFill>
                  <a:srgbClr val="FF00FF"/>
                </a:solidFill>
              </a:rPr>
              <a:t>x</a:t>
            </a:r>
            <a:r>
              <a:rPr lang="en-US" altLang="zh-CN"/>
              <a:t>︱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>
                <a:solidFill>
                  <a:srgbClr val="FF00FF"/>
                </a:solidFill>
              </a:rPr>
              <a:t>x</a:t>
            </a:r>
            <a:r>
              <a:rPr lang="en-US" altLang="zh-CN"/>
              <a:t>,y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∈R}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/>
              <a:t>关系 </a:t>
            </a:r>
            <a:r>
              <a:rPr lang="en-US" altLang="zh-CN"/>
              <a:t>R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值域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range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</a:t>
            </a:r>
            <a:r>
              <a:rPr lang="en-US" altLang="zh-CN">
                <a:solidFill>
                  <a:schemeClr val="accent1"/>
                </a:solidFill>
              </a:rPr>
              <a:t>ran(R)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>
                <a:solidFill>
                  <a:srgbClr val="FF00FF"/>
                </a:solidFill>
              </a:rPr>
              <a:t>y</a:t>
            </a:r>
            <a:r>
              <a:rPr lang="en-US" altLang="zh-CN"/>
              <a:t>︱</a:t>
            </a:r>
            <a:r>
              <a:rPr lang="en-US" altLang="zh-CN" b="1">
                <a:latin typeface="宋体" panose="02010600030101010101" pitchFamily="2" charset="-122"/>
              </a:rPr>
              <a:t>&lt;</a:t>
            </a:r>
            <a:r>
              <a:rPr lang="en-US" altLang="zh-CN"/>
              <a:t>x,</a:t>
            </a:r>
            <a:r>
              <a:rPr lang="en-US" altLang="zh-CN">
                <a:solidFill>
                  <a:srgbClr val="FF00FF"/>
                </a:solidFill>
              </a:rPr>
              <a:t>y</a:t>
            </a:r>
            <a:r>
              <a:rPr lang="en-US" altLang="zh-CN" b="1">
                <a:latin typeface="宋体" panose="02010600030101010101" pitchFamily="2" charset="-122"/>
              </a:rPr>
              <a:t>&gt;</a:t>
            </a:r>
            <a:r>
              <a:rPr lang="en-US" altLang="zh-CN"/>
              <a:t>∈R}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/>
              <a:t>关系 </a:t>
            </a:r>
            <a:r>
              <a:rPr lang="en-US" altLang="zh-CN"/>
              <a:t>R</a:t>
            </a:r>
            <a:r>
              <a:rPr lang="zh-CN" altLang="en-US"/>
              <a:t>的</a:t>
            </a:r>
            <a:r>
              <a:rPr lang="zh-CN" altLang="en-US" b="1">
                <a:solidFill>
                  <a:schemeClr val="hlink"/>
                </a:solidFill>
              </a:rPr>
              <a:t>域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region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en-US" altLang="zh-CN">
                <a:solidFill>
                  <a:schemeClr val="accent1"/>
                </a:solidFill>
              </a:rPr>
              <a:t>FLD(R)</a:t>
            </a:r>
            <a:r>
              <a:rPr lang="zh-CN" altLang="en-US"/>
              <a:t>＝</a:t>
            </a:r>
            <a:r>
              <a:rPr lang="en-US" altLang="zh-CN"/>
              <a:t>dom(R)∪ran(R)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E9910C6-8E21-DD33-C08C-0B859B660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3.4.2 </a:t>
            </a:r>
            <a:r>
              <a:rPr lang="zh-CN" altLang="en-US" sz="4800"/>
              <a:t>关系的前域和值域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1A2E3ECB-9975-63A8-11E2-FF3C0A5A5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7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3.4.1  </a:t>
            </a:r>
            <a:r>
              <a:rPr lang="zh-CN" altLang="en-US" dirty="0"/>
              <a:t>给定二元关系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b="1" dirty="0">
                <a:latin typeface="宋体" pitchFamily="2" charset="-122"/>
              </a:rPr>
              <a:t>{&lt;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en-US" altLang="zh-CN" dirty="0"/>
              <a:t>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en-US" altLang="zh-CN" dirty="0"/>
              <a:t>,3</a:t>
            </a:r>
            <a:r>
              <a:rPr lang="en-US" altLang="zh-CN" b="1" dirty="0">
                <a:latin typeface="宋体" pitchFamily="2" charset="-122"/>
              </a:rPr>
              <a:t>&gt;}</a:t>
            </a:r>
            <a:endParaRPr lang="en-US" altLang="zh-CN" dirty="0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>
                <a:solidFill>
                  <a:schemeClr val="accent1"/>
                </a:solidFill>
              </a:rPr>
              <a:t>则 </a:t>
            </a:r>
            <a:r>
              <a:rPr lang="en-US" altLang="zh-CN" dirty="0" err="1"/>
              <a:t>dom</a:t>
            </a:r>
            <a:r>
              <a:rPr lang="en-US" altLang="zh-CN" dirty="0"/>
              <a:t>(R)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</a:t>
            </a:r>
            <a:r>
              <a:rPr lang="en-US" altLang="zh-CN" dirty="0"/>
              <a:t>ran(R)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</a:t>
            </a:r>
            <a:r>
              <a:rPr lang="en-US" altLang="zh-CN" dirty="0"/>
              <a:t>FLD(R)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B808DA0-EA9E-076E-759E-8370078E7C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D683CE0-5C78-2751-B382-879E61A521F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459787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>
                <a:solidFill>
                  <a:schemeClr val="hlink"/>
                </a:solidFill>
              </a:rPr>
              <a:t>A</a:t>
            </a:r>
            <a:r>
              <a:rPr lang="zh-CN" altLang="en-US" b="1" dirty="0">
                <a:solidFill>
                  <a:schemeClr val="hlink"/>
                </a:solidFill>
              </a:rPr>
              <a:t>到</a:t>
            </a:r>
            <a:r>
              <a:rPr lang="en-US" altLang="zh-CN" dirty="0">
                <a:solidFill>
                  <a:schemeClr val="hlink"/>
                </a:solidFill>
              </a:rPr>
              <a:t>B</a:t>
            </a:r>
            <a:r>
              <a:rPr lang="zh-CN" altLang="en-US" b="1" dirty="0">
                <a:solidFill>
                  <a:schemeClr val="hlink"/>
                </a:solidFill>
              </a:rPr>
              <a:t>的关系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relation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dirty="0"/>
              <a:t>A×B</a:t>
            </a:r>
            <a:r>
              <a:rPr lang="zh-CN" altLang="en-US" dirty="0"/>
              <a:t>的子集</a:t>
            </a: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         </a:t>
            </a:r>
            <a:r>
              <a:rPr lang="en-US" altLang="zh-CN" dirty="0"/>
              <a:t>A</a:t>
            </a:r>
            <a:r>
              <a:rPr lang="zh-CN" altLang="en-US" b="1" dirty="0"/>
              <a:t>到</a:t>
            </a:r>
            <a:r>
              <a:rPr lang="en-US" altLang="zh-CN" dirty="0"/>
              <a:t>B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空关系</a:t>
            </a:r>
            <a:r>
              <a:rPr lang="zh-CN" altLang="en-US" dirty="0"/>
              <a:t>            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         A</a:t>
            </a:r>
            <a:r>
              <a:rPr lang="zh-CN" altLang="en-US" b="1" dirty="0"/>
              <a:t>到</a:t>
            </a:r>
            <a:r>
              <a:rPr lang="en-US" altLang="zh-CN" dirty="0"/>
              <a:t>B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全域关系</a:t>
            </a:r>
            <a:r>
              <a:rPr lang="en-US" altLang="zh-CN" dirty="0"/>
              <a:t> A×B</a:t>
            </a: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zh-CN" altLang="en-US" b="1" dirty="0">
                <a:solidFill>
                  <a:srgbClr val="FF00FF"/>
                </a:solidFill>
              </a:rPr>
              <a:t>上的关系</a:t>
            </a:r>
            <a:r>
              <a:rPr lang="zh-CN" altLang="en-US" b="1" dirty="0"/>
              <a:t>：</a:t>
            </a:r>
            <a:r>
              <a:rPr lang="en-US" altLang="zh-CN" dirty="0"/>
              <a:t>A×A</a:t>
            </a:r>
            <a:r>
              <a:rPr lang="zh-CN" altLang="en-US" dirty="0"/>
              <a:t>的子集</a:t>
            </a:r>
          </a:p>
        </p:txBody>
      </p:sp>
      <p:graphicFrame>
        <p:nvGraphicFramePr>
          <p:cNvPr id="13316" name="Object 10">
            <a:extLst>
              <a:ext uri="{FF2B5EF4-FFF2-40B4-BE49-F238E27FC236}">
                <a16:creationId xmlns:a16="http://schemas.microsoft.com/office/drawing/2014/main" id="{C93C30EC-FAF3-41F1-1042-1903B09CFEB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92950" y="3470275"/>
          <a:ext cx="4968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470275"/>
                        <a:ext cx="49688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对象 1">
            <a:extLst>
              <a:ext uri="{FF2B5EF4-FFF2-40B4-BE49-F238E27FC236}">
                <a16:creationId xmlns:a16="http://schemas.microsoft.com/office/drawing/2014/main" id="{61BB6E98-872F-F1CC-0B6F-830E8546C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3150" y="3565525"/>
          <a:ext cx="1703388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190417" progId="Equation.DSMT4">
                  <p:embed/>
                </p:oleObj>
              </mc:Choice>
              <mc:Fallback>
                <p:oleObj name="Equation" r:id="rId4" imgW="672808" imgH="190417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3565525"/>
                        <a:ext cx="1703388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2">
            <a:extLst>
              <a:ext uri="{FF2B5EF4-FFF2-40B4-BE49-F238E27FC236}">
                <a16:creationId xmlns:a16="http://schemas.microsoft.com/office/drawing/2014/main" id="{F38E1F00-F300-E4AA-7FCF-FC8ED46B7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8075" y="4645025"/>
          <a:ext cx="22161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300" imgH="190500" progId="Equation.DSMT4">
                  <p:embed/>
                </p:oleObj>
              </mc:Choice>
              <mc:Fallback>
                <p:oleObj name="Equation" r:id="rId6" imgW="876300" imgH="1905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4645025"/>
                        <a:ext cx="22161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703D5DD-7A24-37C4-79DA-E755C8524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99"/>
                </a:solidFill>
              </a:rPr>
              <a:t>3.4.3 </a:t>
            </a:r>
            <a:r>
              <a:rPr lang="zh-CN" altLang="en-US">
                <a:solidFill>
                  <a:srgbClr val="333399"/>
                </a:solidFill>
              </a:rPr>
              <a:t>集合</a:t>
            </a:r>
            <a:r>
              <a:rPr lang="en-US" altLang="zh-CN">
                <a:solidFill>
                  <a:srgbClr val="333399"/>
                </a:solidFill>
              </a:rPr>
              <a:t>A</a:t>
            </a:r>
            <a:r>
              <a:rPr lang="zh-CN" altLang="en-US">
                <a:solidFill>
                  <a:srgbClr val="333399"/>
                </a:solidFill>
              </a:rPr>
              <a:t>到</a:t>
            </a:r>
            <a:r>
              <a:rPr lang="en-US" altLang="zh-CN">
                <a:solidFill>
                  <a:srgbClr val="333399"/>
                </a:solidFill>
              </a:rPr>
              <a:t>B</a:t>
            </a:r>
            <a:r>
              <a:rPr lang="zh-CN" altLang="en-US">
                <a:solidFill>
                  <a:srgbClr val="333399"/>
                </a:solidFill>
              </a:rPr>
              <a:t>的关系</a:t>
            </a:r>
            <a:endParaRPr lang="zh-CN" altLang="en-US" sz="480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ED7696C-5690-D501-A1E8-362A5F948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844675"/>
            <a:ext cx="8712200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例</a:t>
            </a:r>
            <a:r>
              <a:rPr lang="en-US" altLang="zh-CN" b="1" dirty="0">
                <a:solidFill>
                  <a:schemeClr val="hlink"/>
                </a:solidFill>
              </a:rPr>
              <a:t>3.4.2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dirty="0" err="1">
                <a:solidFill>
                  <a:srgbClr val="000000"/>
                </a:solidFill>
              </a:rPr>
              <a:t>a,b,c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sz="2800" dirty="0"/>
              <a:t> </a:t>
            </a:r>
            <a:r>
              <a:rPr lang="en-US" altLang="zh-CN" dirty="0"/>
              <a:t>A×B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2,a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+mn-ea"/>
              </a:rPr>
              <a:t>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2,c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3,c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            &lt;</a:t>
            </a:r>
            <a:r>
              <a:rPr lang="en-US" altLang="zh-CN" dirty="0"/>
              <a:t>4,a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1,a</a:t>
            </a:r>
            <a:r>
              <a:rPr lang="en-US" altLang="zh-CN" b="1" dirty="0">
                <a:solidFill>
                  <a:srgbClr val="000000"/>
                </a:solidFill>
                <a:latin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4,b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4,c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chemeClr val="accent1"/>
                </a:solidFill>
              </a:rPr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000000"/>
                </a:solidFill>
              </a:rPr>
              <a:t>Q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2,a</a:t>
            </a:r>
            <a:r>
              <a:rPr lang="en-US" altLang="zh-CN" b="1" dirty="0">
                <a:solidFill>
                  <a:srgbClr val="000000"/>
                </a:solidFill>
                <a:latin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3,b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4,a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4,b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4,c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E4A8"/>
              </a:solidFill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975B650-B0CA-1ED0-292F-6EF04A3AE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99"/>
                </a:solidFill>
              </a:rPr>
              <a:t>3.4.3 </a:t>
            </a:r>
            <a:r>
              <a:rPr lang="zh-CN" altLang="en-US">
                <a:solidFill>
                  <a:srgbClr val="333399"/>
                </a:solidFill>
              </a:rPr>
              <a:t>集合</a:t>
            </a:r>
            <a:r>
              <a:rPr lang="en-US" altLang="zh-CN">
                <a:solidFill>
                  <a:srgbClr val="333399"/>
                </a:solidFill>
              </a:rPr>
              <a:t>A</a:t>
            </a:r>
            <a:r>
              <a:rPr lang="zh-CN" altLang="en-US">
                <a:solidFill>
                  <a:srgbClr val="333399"/>
                </a:solidFill>
              </a:rPr>
              <a:t>到</a:t>
            </a:r>
            <a:r>
              <a:rPr lang="en-US" altLang="zh-CN">
                <a:solidFill>
                  <a:srgbClr val="333399"/>
                </a:solidFill>
              </a:rPr>
              <a:t>B</a:t>
            </a:r>
            <a:r>
              <a:rPr lang="zh-CN" altLang="en-US">
                <a:solidFill>
                  <a:srgbClr val="333399"/>
                </a:solidFill>
              </a:rPr>
              <a:t>的关系</a:t>
            </a:r>
            <a:endParaRPr lang="zh-CN" altLang="en-US" sz="480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CA3593-8C4F-1517-F418-028E35999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820150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例</a:t>
            </a:r>
            <a:r>
              <a:rPr lang="en-US" altLang="zh-CN" b="1" dirty="0">
                <a:solidFill>
                  <a:schemeClr val="hlink"/>
                </a:solidFill>
              </a:rPr>
              <a:t>3.4.3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 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，则</a:t>
            </a:r>
            <a:endParaRPr lang="en-US" altLang="zh-CN" dirty="0"/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dirty="0"/>
              <a:t>A×A</a:t>
            </a:r>
            <a:r>
              <a:rPr lang="zh-CN" altLang="en-US" dirty="0"/>
              <a:t>＝</a:t>
            </a:r>
            <a:r>
              <a:rPr lang="en-US" altLang="zh-CN" sz="2400" dirty="0"/>
              <a:t>{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1,1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1,2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1,3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1,4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dirty="0">
                <a:latin typeface="宋体" pitchFamily="2" charset="-122"/>
              </a:rPr>
              <a:t>&lt;</a:t>
            </a:r>
            <a:r>
              <a:rPr lang="en-US" altLang="zh-CN" sz="2400" dirty="0"/>
              <a:t>2,1</a:t>
            </a:r>
            <a:r>
              <a:rPr lang="en-US" altLang="zh-CN" sz="2400" b="1" dirty="0">
                <a:latin typeface="+mn-ea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2,2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2,3</a:t>
            </a:r>
            <a:r>
              <a:rPr lang="en-US" altLang="zh-CN" sz="2400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latin typeface="宋体" pitchFamily="2" charset="-122"/>
              </a:rPr>
              <a:t>   &lt;</a:t>
            </a:r>
            <a:r>
              <a:rPr lang="en-US" altLang="zh-CN" sz="2400" dirty="0"/>
              <a:t>2,4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3,1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3,2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3,3</a:t>
            </a:r>
            <a:r>
              <a:rPr lang="en-US" altLang="zh-CN" sz="2400" b="1" dirty="0">
                <a:latin typeface="+mn-ea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3,4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4,1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4,2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4,3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400" dirty="0">
                <a:latin typeface="+mn-ea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&lt;</a:t>
            </a:r>
            <a:r>
              <a:rPr lang="en-US" altLang="zh-CN" sz="2400" dirty="0"/>
              <a:t>4,4</a:t>
            </a:r>
            <a:r>
              <a:rPr lang="en-US" altLang="zh-CN" sz="24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2,1</a:t>
            </a:r>
            <a:r>
              <a:rPr lang="en-US" altLang="zh-CN" b="1" dirty="0">
                <a:solidFill>
                  <a:srgbClr val="000000"/>
                </a:solidFill>
                <a:latin typeface="宋体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＝</a:t>
            </a:r>
            <a:r>
              <a:rPr lang="en-US" altLang="zh-CN" dirty="0"/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</a:rPr>
              <a:t>x,y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宋体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＞</a:t>
            </a:r>
            <a:r>
              <a:rPr lang="en-US" altLang="zh-CN" dirty="0"/>
              <a:t>y}</a:t>
            </a:r>
            <a:r>
              <a:rPr lang="en-US" altLang="zh-CN" dirty="0">
                <a:solidFill>
                  <a:schemeClr val="accent1"/>
                </a:solidFill>
              </a:rPr>
              <a:t> 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chemeClr val="accent1"/>
                </a:solidFill>
              </a:rPr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</a:rPr>
              <a:t>x,y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dirty="0" err="1">
                <a:solidFill>
                  <a:srgbClr val="000000"/>
                </a:solidFill>
              </a:rPr>
              <a:t>x</a:t>
            </a:r>
            <a:r>
              <a:rPr lang="zh-CN" altLang="en-US" dirty="0" err="1">
                <a:solidFill>
                  <a:srgbClr val="000000"/>
                </a:solidFill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y=1}</a:t>
            </a:r>
            <a:r>
              <a:rPr lang="en-US" altLang="zh-CN" dirty="0">
                <a:solidFill>
                  <a:srgbClr val="00E4A8"/>
                </a:solidFill>
              </a:rPr>
              <a:t> </a:t>
            </a: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3BFD37D-F18A-BEBA-F61A-F490B3972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99"/>
                </a:solidFill>
              </a:rPr>
              <a:t>3.4.3 </a:t>
            </a:r>
            <a:r>
              <a:rPr lang="zh-CN" altLang="en-US">
                <a:solidFill>
                  <a:srgbClr val="333399"/>
                </a:solidFill>
              </a:rPr>
              <a:t>集合</a:t>
            </a:r>
            <a:r>
              <a:rPr lang="en-US" altLang="zh-CN">
                <a:solidFill>
                  <a:srgbClr val="333399"/>
                </a:solidFill>
              </a:rPr>
              <a:t>A</a:t>
            </a:r>
            <a:r>
              <a:rPr lang="zh-CN" altLang="en-US">
                <a:solidFill>
                  <a:srgbClr val="333399"/>
                </a:solidFill>
              </a:rPr>
              <a:t>到</a:t>
            </a:r>
            <a:r>
              <a:rPr lang="en-US" altLang="zh-CN">
                <a:solidFill>
                  <a:srgbClr val="333399"/>
                </a:solidFill>
              </a:rPr>
              <a:t>B</a:t>
            </a:r>
            <a:r>
              <a:rPr lang="zh-CN" altLang="en-US">
                <a:solidFill>
                  <a:srgbClr val="333399"/>
                </a:solidFill>
              </a:rPr>
              <a:t>的关系</a:t>
            </a:r>
            <a:endParaRPr lang="zh-CN" altLang="en-US" sz="480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7C70BD9-3B1A-7DC1-6F57-BD6728C7F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例</a:t>
            </a:r>
            <a:r>
              <a:rPr lang="en-US" altLang="zh-CN" b="1" dirty="0">
                <a:solidFill>
                  <a:schemeClr val="hlink"/>
                </a:solidFill>
              </a:rPr>
              <a:t>3.4.4</a:t>
            </a:r>
            <a:r>
              <a:rPr lang="en-US" altLang="zh-CN" b="1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</a:t>
            </a:r>
            <a:r>
              <a:rPr lang="zh-CN" altLang="en-US" dirty="0"/>
              <a:t>，考察下列</a:t>
            </a:r>
            <a:r>
              <a:rPr lang="en-US" altLang="zh-CN" dirty="0"/>
              <a:t>A</a:t>
            </a:r>
            <a:r>
              <a:rPr lang="zh-CN" altLang="en-US" dirty="0"/>
              <a:t>上的关系。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/>
              <a:t>(1) 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宋体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 err="1">
                <a:solidFill>
                  <a:srgbClr val="FF0000"/>
                </a:solidFill>
              </a:rPr>
              <a:t>︱</a:t>
            </a:r>
            <a:r>
              <a:rPr lang="en-US" altLang="zh-CN" dirty="0" err="1"/>
              <a:t>y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/>
              <a:t>(2) </a:t>
            </a:r>
            <a:r>
              <a:rPr lang="en-US" altLang="zh-CN" dirty="0">
                <a:solidFill>
                  <a:srgbClr val="00B050"/>
                </a:solidFill>
              </a:rPr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宋体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B050"/>
                </a:solidFill>
              </a:rPr>
              <a:t>≥</a:t>
            </a:r>
            <a:r>
              <a:rPr lang="zh-CN" altLang="en-US" dirty="0"/>
              <a:t> </a:t>
            </a:r>
            <a:r>
              <a:rPr lang="en-US" altLang="zh-CN" dirty="0"/>
              <a:t>y}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/>
              <a:t>(3) </a:t>
            </a:r>
            <a:r>
              <a:rPr lang="en-US" altLang="zh-CN" dirty="0">
                <a:solidFill>
                  <a:srgbClr val="FF0000"/>
                </a:solidFill>
              </a:rPr>
              <a:t>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宋体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≤</a:t>
            </a:r>
            <a:r>
              <a:rPr lang="en-US" altLang="zh-CN" dirty="0"/>
              <a:t> y}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zh-CN" altLang="en-US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</a:rPr>
              <a:t>}</a:t>
            </a: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25000"/>
              </a:lnSpc>
              <a:buClr>
                <a:srgbClr val="3333CC"/>
              </a:buClr>
              <a:defRPr/>
            </a:pPr>
            <a:endParaRPr lang="en-US" altLang="zh-CN" dirty="0">
              <a:solidFill>
                <a:srgbClr val="00E4A8"/>
              </a:solidFill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3">
            <a:extLst>
              <a:ext uri="{FF2B5EF4-FFF2-40B4-BE49-F238E27FC236}">
                <a16:creationId xmlns:a16="http://schemas.microsoft.com/office/drawing/2014/main" id="{E9F26692-DA6D-9DAC-829D-4B882C04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3.4.3 </a:t>
            </a:r>
            <a:r>
              <a:rPr lang="zh-CN" altLang="en-US"/>
              <a:t>集合</a:t>
            </a:r>
            <a:r>
              <a:rPr lang="en-US" altLang="zh-CN"/>
              <a:t>A</a:t>
            </a:r>
            <a:r>
              <a:rPr lang="zh-CN" altLang="en-US"/>
              <a:t>到</a:t>
            </a:r>
            <a:r>
              <a:rPr lang="en-US" altLang="zh-CN"/>
              <a:t>B</a:t>
            </a:r>
            <a:r>
              <a:rPr lang="zh-CN" altLang="en-US"/>
              <a:t>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30724-0B1F-BA4D-9DE1-BDD33E86F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2447925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3.4.5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同学关系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(3)</a:t>
            </a:r>
            <a:r>
              <a:rPr lang="zh-CN" altLang="en-US" dirty="0">
                <a:solidFill>
                  <a:srgbClr val="FF00FF"/>
                </a:solidFill>
              </a:rPr>
              <a:t>朋友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</a:t>
            </a:r>
            <a:r>
              <a:rPr lang="zh-CN" altLang="en-US" dirty="0"/>
              <a:t>同乡关系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(5)</a:t>
            </a:r>
            <a:r>
              <a:rPr lang="zh-CN" altLang="en-US" dirty="0">
                <a:solidFill>
                  <a:schemeClr val="accent1"/>
                </a:solidFill>
              </a:rPr>
              <a:t>师生</a:t>
            </a:r>
            <a:r>
              <a:rPr lang="zh-CN" altLang="en-US" dirty="0"/>
              <a:t>关系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2F37397-8C3F-C2B6-0773-AE96B7F55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3575" y="1836738"/>
            <a:ext cx="5651500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50"/>
                </a:solidFill>
              </a:rPr>
              <a:t>人类</a:t>
            </a:r>
            <a:r>
              <a:rPr lang="zh-CN" altLang="en-US" dirty="0"/>
              <a:t>集合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66"/>
                </a:solidFill>
              </a:rPr>
              <a:t>同学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朋友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同乡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339933"/>
                </a:solidFill>
              </a:rPr>
              <a:t>师生</a:t>
            </a: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3">
            <a:extLst>
              <a:ext uri="{FF2B5EF4-FFF2-40B4-BE49-F238E27FC236}">
                <a16:creationId xmlns:a16="http://schemas.microsoft.com/office/drawing/2014/main" id="{28FC0681-E44B-D204-5341-E4509D93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3.4.3 </a:t>
            </a:r>
            <a:r>
              <a:rPr lang="zh-CN" altLang="en-US"/>
              <a:t>集合</a:t>
            </a:r>
            <a:r>
              <a:rPr lang="en-US" altLang="zh-CN"/>
              <a:t>A</a:t>
            </a:r>
            <a:r>
              <a:rPr lang="zh-CN" altLang="en-US"/>
              <a:t>到</a:t>
            </a:r>
            <a:r>
              <a:rPr lang="en-US" altLang="zh-CN"/>
              <a:t>B</a:t>
            </a:r>
            <a:r>
              <a:rPr lang="zh-CN" altLang="en-US"/>
              <a:t>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EC44C-55C1-8761-52D1-7E393393F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3024187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例</a:t>
            </a:r>
            <a:r>
              <a:rPr lang="en-US" altLang="zh-CN" sz="3200" dirty="0">
                <a:solidFill>
                  <a:srgbClr val="FF0000"/>
                </a:solidFill>
              </a:rPr>
              <a:t>3.4.6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accent1"/>
                </a:solidFill>
              </a:rPr>
              <a:t>   </a:t>
            </a:r>
            <a:r>
              <a:rPr lang="en-US" altLang="zh-CN" sz="3200" dirty="0"/>
              <a:t>(1)</a:t>
            </a:r>
            <a:r>
              <a:rPr lang="zh-CN" altLang="en-US" sz="3200" dirty="0">
                <a:solidFill>
                  <a:schemeClr val="accent1"/>
                </a:solidFill>
              </a:rPr>
              <a:t>全等</a:t>
            </a:r>
            <a:r>
              <a:rPr lang="zh-CN" altLang="en-US" sz="3200" dirty="0"/>
              <a:t>关系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(2)</a:t>
            </a:r>
            <a:r>
              <a:rPr lang="zh-CN" altLang="en-US" sz="3200" dirty="0"/>
              <a:t>相似关系</a:t>
            </a:r>
            <a:endParaRPr lang="en-US" altLang="zh-CN" sz="32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AAF5EFD-76F2-83CE-DF53-E071CC340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2500" y="1844675"/>
            <a:ext cx="5327650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解</a:t>
            </a:r>
            <a:r>
              <a:rPr lang="zh-CN" altLang="en-US" sz="3200" dirty="0"/>
              <a:t> 设</a:t>
            </a:r>
            <a:r>
              <a:rPr lang="en-US" altLang="zh-CN" sz="3200" dirty="0"/>
              <a:t>A</a:t>
            </a:r>
            <a:r>
              <a:rPr lang="zh-CN" altLang="en-US" sz="3200" dirty="0"/>
              <a:t>为平面三角形集合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R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≌</a:t>
            </a:r>
            <a:r>
              <a:rPr lang="en-US" altLang="zh-CN" sz="3200" dirty="0"/>
              <a:t>y}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S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∽</a:t>
            </a:r>
            <a:r>
              <a:rPr lang="en-US" altLang="zh-CN" sz="3200" dirty="0"/>
              <a:t>y}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F6544C-F75A-3C54-4321-285AC48D7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D36E290-EA09-0F58-F8D7-73893ABC1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916113"/>
            <a:ext cx="8604250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3.4.7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(</a:t>
            </a:r>
            <a:r>
              <a:rPr lang="en-US" altLang="zh-CN" dirty="0" err="1"/>
              <a:t>x</a:t>
            </a:r>
            <a:r>
              <a:rPr lang="en-US" altLang="en-US" dirty="0" err="1"/>
              <a:t>－</a:t>
            </a:r>
            <a:r>
              <a:rPr lang="en-US" altLang="zh-CN" dirty="0" err="1"/>
              <a:t>y</a:t>
            </a:r>
            <a:r>
              <a:rPr lang="en-US" altLang="zh-CN" dirty="0"/>
              <a:t>)</a:t>
            </a:r>
            <a:r>
              <a:rPr lang="en-US" altLang="zh-CN" baseline="30000" dirty="0"/>
              <a:t>2</a:t>
            </a:r>
            <a:r>
              <a:rPr lang="en-US" altLang="zh-CN" dirty="0"/>
              <a:t>∈A}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求</a:t>
            </a:r>
            <a:r>
              <a:rPr lang="en-US" altLang="zh-CN" dirty="0" err="1"/>
              <a:t>dom</a:t>
            </a:r>
            <a:r>
              <a:rPr lang="en-US" altLang="zh-CN" dirty="0"/>
              <a:t>(R)</a:t>
            </a:r>
            <a:r>
              <a:rPr lang="zh-CN" altLang="en-US" dirty="0"/>
              <a:t>与</a:t>
            </a:r>
            <a:r>
              <a:rPr lang="en-US" altLang="zh-CN" dirty="0"/>
              <a:t>ran(R)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解 </a:t>
            </a:r>
            <a:r>
              <a:rPr lang="en-US" altLang="zh-CN" dirty="0"/>
              <a:t>R</a:t>
            </a:r>
            <a:r>
              <a:rPr lang="zh-CN" altLang="en-US" dirty="0"/>
              <a:t>＝ 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&lt;</a:t>
            </a:r>
            <a:r>
              <a:rPr lang="en-US" altLang="zh-CN" dirty="0"/>
              <a:t>3,1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 </a:t>
            </a:r>
            <a:r>
              <a:rPr lang="en-US" altLang="zh-CN" dirty="0" err="1"/>
              <a:t>dom</a:t>
            </a:r>
            <a:r>
              <a:rPr lang="en-US" altLang="zh-CN" dirty="0"/>
              <a:t>(R)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ran(R)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44D0A1D-19FF-1ACF-FE25-0A7C5337E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380387C-4DC3-A720-221F-23A1BB969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I</a:t>
            </a:r>
            <a:r>
              <a:rPr lang="zh-CN" altLang="en-US" dirty="0"/>
              <a:t>为整数集，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︱x,y∈I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en-US" altLang="zh-CN" baseline="30000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30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1}</a:t>
            </a:r>
            <a:endParaRPr lang="zh-CN" altLang="en-US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求</a:t>
            </a:r>
            <a:r>
              <a:rPr lang="en-US" altLang="zh-CN" dirty="0" err="1"/>
              <a:t>dom</a:t>
            </a:r>
            <a:r>
              <a:rPr lang="en-US" altLang="zh-CN" dirty="0"/>
              <a:t>(R)</a:t>
            </a:r>
            <a:r>
              <a:rPr lang="zh-CN" altLang="en-US" dirty="0"/>
              <a:t>与</a:t>
            </a:r>
            <a:r>
              <a:rPr lang="en-US" altLang="zh-CN" dirty="0"/>
              <a:t>ran(R)</a:t>
            </a:r>
            <a:endParaRPr lang="zh-CN" altLang="en-US" b="1" dirty="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66"/>
                </a:solidFill>
              </a:rPr>
              <a:t>   </a:t>
            </a: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zh-CN" altLang="en-US" dirty="0"/>
              <a:t>－</a:t>
            </a:r>
            <a:r>
              <a:rPr lang="en-US" altLang="zh-CN" dirty="0"/>
              <a:t>1,0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0,1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0,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1,0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 </a:t>
            </a:r>
            <a:r>
              <a:rPr lang="en-US" altLang="zh-CN" dirty="0" err="1"/>
              <a:t>dom</a:t>
            </a:r>
            <a:r>
              <a:rPr lang="en-US" altLang="zh-CN" dirty="0"/>
              <a:t>(R)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zh-CN" altLang="en-US" dirty="0"/>
              <a:t>－</a:t>
            </a:r>
            <a:r>
              <a:rPr lang="en-US" altLang="zh-CN" dirty="0"/>
              <a:t>1,0,1}   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ran(R)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zh-CN" altLang="en-US" dirty="0"/>
              <a:t>－</a:t>
            </a:r>
            <a:r>
              <a:rPr lang="en-US" altLang="zh-CN" dirty="0"/>
              <a:t>1,0,1}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8EF2AE1A-A9F8-5B13-7ED8-9E98FDCE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F573D7-8E1E-7045-2DD1-4D67616B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>
              <a:lnSpc>
                <a:spcPct val="160000"/>
              </a:lnSpc>
              <a:defRPr/>
            </a:pPr>
            <a:r>
              <a:rPr lang="zh-CN" altLang="en-US" dirty="0"/>
              <a:t>单位圆</a:t>
            </a:r>
            <a:endParaRPr lang="en-US" altLang="zh-CN" dirty="0"/>
          </a:p>
          <a:p>
            <a:pPr>
              <a:lnSpc>
                <a:spcPct val="160000"/>
              </a:lnSpc>
              <a:defRPr/>
            </a:pPr>
            <a:endParaRPr lang="en-US" altLang="zh-CN" dirty="0"/>
          </a:p>
          <a:p>
            <a:pPr marL="0" indent="0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eaLnBrk="1" hangingPunct="1">
              <a:lnSpc>
                <a:spcPct val="160000"/>
              </a:lnSpc>
              <a:defRPr/>
            </a:pP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为实数集，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chemeClr val="hlink"/>
                </a:solidFill>
              </a:rPr>
              <a:t>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︱x,y∈R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en-US" altLang="zh-CN" baseline="30000" dirty="0"/>
              <a:t>2</a:t>
            </a:r>
            <a:r>
              <a:rPr lang="zh-CN" altLang="en-US" dirty="0"/>
              <a:t>＋</a:t>
            </a:r>
            <a:r>
              <a:rPr lang="en-US" altLang="zh-CN" dirty="0"/>
              <a:t>y</a:t>
            </a:r>
            <a:r>
              <a:rPr lang="en-US" altLang="zh-CN" baseline="30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1}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0F9EFB6-F3F7-11AB-7369-08292AA07145}"/>
              </a:ext>
            </a:extLst>
          </p:cNvPr>
          <p:cNvCxnSpPr/>
          <p:nvPr/>
        </p:nvCxnSpPr>
        <p:spPr>
          <a:xfrm>
            <a:off x="3995738" y="3933825"/>
            <a:ext cx="4032250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0AF7CE-EE00-BF2E-6DA8-5E67E2A9AAFD}"/>
              </a:ext>
            </a:extLst>
          </p:cNvPr>
          <p:cNvCxnSpPr/>
          <p:nvPr/>
        </p:nvCxnSpPr>
        <p:spPr>
          <a:xfrm flipH="1">
            <a:off x="6011863" y="2060575"/>
            <a:ext cx="19050" cy="3240088"/>
          </a:xfrm>
          <a:prstGeom prst="line">
            <a:avLst/>
          </a:prstGeom>
          <a:ln w="2540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 Box 30">
            <a:extLst>
              <a:ext uri="{FF2B5EF4-FFF2-40B4-BE49-F238E27FC236}">
                <a16:creationId xmlns:a16="http://schemas.microsoft.com/office/drawing/2014/main" id="{0F9FD59F-364F-DEB1-C974-BFC803FB9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3903663"/>
            <a:ext cx="4032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cs typeface="Tahoma" panose="020B0604030504040204" pitchFamily="34" charset="0"/>
              </a:rPr>
              <a:t>O</a:t>
            </a:r>
          </a:p>
        </p:txBody>
      </p:sp>
      <p:sp>
        <p:nvSpPr>
          <p:cNvPr id="21511" name="Text Box 30">
            <a:extLst>
              <a:ext uri="{FF2B5EF4-FFF2-40B4-BE49-F238E27FC236}">
                <a16:creationId xmlns:a16="http://schemas.microsoft.com/office/drawing/2014/main" id="{CC1C8496-9886-0545-7BBF-D01E19B4A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3573463"/>
            <a:ext cx="39052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宋体" panose="02010600030101010101" pitchFamily="2" charset="-122"/>
              </a:rPr>
              <a:t>x</a:t>
            </a:r>
          </a:p>
        </p:txBody>
      </p:sp>
      <p:sp>
        <p:nvSpPr>
          <p:cNvPr id="21512" name="Text Box 30">
            <a:extLst>
              <a:ext uri="{FF2B5EF4-FFF2-40B4-BE49-F238E27FC236}">
                <a16:creationId xmlns:a16="http://schemas.microsoft.com/office/drawing/2014/main" id="{313C151D-3DD7-23B6-B1B4-ACA26FD18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1836738"/>
            <a:ext cx="388937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latin typeface="宋体" panose="02010600030101010101" pitchFamily="2" charset="-122"/>
              </a:rPr>
              <a:t>y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59E5127-9388-6BEF-7198-0229F06BC197}"/>
              </a:ext>
            </a:extLst>
          </p:cNvPr>
          <p:cNvSpPr>
            <a:spLocks noChangeAspect="1"/>
          </p:cNvSpPr>
          <p:nvPr/>
        </p:nvSpPr>
        <p:spPr>
          <a:xfrm>
            <a:off x="5219700" y="3106738"/>
            <a:ext cx="1646238" cy="164623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514" name="Text Box 30">
            <a:extLst>
              <a:ext uri="{FF2B5EF4-FFF2-40B4-BE49-F238E27FC236}">
                <a16:creationId xmlns:a16="http://schemas.microsoft.com/office/drawing/2014/main" id="{2C526CA2-7A70-B1F9-14A9-900E67EE1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789363"/>
            <a:ext cx="339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1515" name="Text Box 30">
            <a:extLst>
              <a:ext uri="{FF2B5EF4-FFF2-40B4-BE49-F238E27FC236}">
                <a16:creationId xmlns:a16="http://schemas.microsoft.com/office/drawing/2014/main" id="{62F73853-A64F-3BD3-E0D9-A91B7A05B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830638"/>
            <a:ext cx="4921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-1</a:t>
            </a:r>
          </a:p>
        </p:txBody>
      </p:sp>
      <p:sp>
        <p:nvSpPr>
          <p:cNvPr id="21516" name="Text Box 30">
            <a:extLst>
              <a:ext uri="{FF2B5EF4-FFF2-40B4-BE49-F238E27FC236}">
                <a16:creationId xmlns:a16="http://schemas.microsoft.com/office/drawing/2014/main" id="{F40D7EA7-2E5F-49DF-AF44-71E7AE870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7863" y="2695575"/>
            <a:ext cx="3381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1517" name="Text Box 30">
            <a:extLst>
              <a:ext uri="{FF2B5EF4-FFF2-40B4-BE49-F238E27FC236}">
                <a16:creationId xmlns:a16="http://schemas.microsoft.com/office/drawing/2014/main" id="{E3E1A529-A1AF-F075-CA0B-E151C549A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622800"/>
            <a:ext cx="492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</a:rPr>
              <a:t>-1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057FCC0-F793-809E-4D3B-9793C7D1D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CD628B7-90B2-743C-7F5D-10BAA5596A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604250" cy="50133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3.4.9</a:t>
            </a:r>
            <a:r>
              <a:rPr lang="en-US" altLang="zh-CN" sz="2800" dirty="0"/>
              <a:t> </a:t>
            </a:r>
            <a:r>
              <a:rPr lang="zh-CN" altLang="en-US" sz="2800" dirty="0"/>
              <a:t>设集合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 </a:t>
            </a:r>
            <a:r>
              <a:rPr lang="en-US" altLang="zh-CN" sz="2800" dirty="0"/>
              <a:t>H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x,y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︱</a:t>
            </a:r>
            <a:r>
              <a:rPr lang="en-US" altLang="zh-CN" sz="2800" dirty="0" err="1"/>
              <a:t>x,y∈A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(x</a:t>
            </a:r>
            <a:r>
              <a:rPr lang="zh-CN" altLang="en-US" sz="2800" dirty="0"/>
              <a:t>－</a:t>
            </a:r>
            <a:r>
              <a:rPr lang="en-US" altLang="zh-CN" sz="2800" dirty="0"/>
              <a:t>y)/2</a:t>
            </a:r>
            <a:r>
              <a:rPr lang="zh-CN" altLang="en-US" sz="2800" dirty="0"/>
              <a:t>是正整数</a:t>
            </a:r>
            <a:r>
              <a:rPr lang="en-US" altLang="zh-CN" sz="2800" dirty="0"/>
              <a:t>}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 </a:t>
            </a:r>
            <a:r>
              <a:rPr lang="en-US" altLang="zh-CN" sz="2800" dirty="0"/>
              <a:t>S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x,y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︱</a:t>
            </a:r>
            <a:r>
              <a:rPr lang="en-US" altLang="zh-CN" sz="2800" dirty="0" err="1"/>
              <a:t>x,y∈A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(</a:t>
            </a:r>
            <a:r>
              <a:rPr lang="en-US" altLang="zh-CN" sz="2800" dirty="0" err="1"/>
              <a:t>x</a:t>
            </a:r>
            <a:r>
              <a:rPr lang="en-US" altLang="en-US" sz="2800" dirty="0" err="1"/>
              <a:t>－</a:t>
            </a:r>
            <a:r>
              <a:rPr lang="en-US" altLang="zh-CN" sz="2800" dirty="0" err="1"/>
              <a:t>y</a:t>
            </a:r>
            <a:r>
              <a:rPr lang="en-US" altLang="zh-CN" sz="2800" dirty="0"/>
              <a:t>)/3</a:t>
            </a:r>
            <a:r>
              <a:rPr lang="zh-CN" altLang="en-US" sz="2800" dirty="0"/>
              <a:t>是整数</a:t>
            </a:r>
            <a:r>
              <a:rPr lang="en-US" altLang="zh-CN" sz="2800" dirty="0"/>
              <a:t>}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求</a:t>
            </a:r>
            <a:r>
              <a:rPr lang="en-US" altLang="zh-CN" sz="2800" dirty="0"/>
              <a:t>H∪S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H∩S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/>
              <a:t>H</a:t>
            </a:r>
            <a:r>
              <a:rPr lang="zh-CN" altLang="en-US" sz="2800" dirty="0"/>
              <a:t>－</a:t>
            </a:r>
            <a:r>
              <a:rPr lang="en-US" altLang="zh-CN" sz="2800" dirty="0"/>
              <a:t>S</a:t>
            </a:r>
            <a:r>
              <a:rPr lang="en-US" altLang="zh-CN" sz="2800" dirty="0">
                <a:latin typeface="+mn-ea"/>
              </a:rPr>
              <a:t>,</a:t>
            </a:r>
            <a:r>
              <a:rPr lang="zh-CN" altLang="en-US" sz="2800" dirty="0"/>
              <a:t>～</a:t>
            </a:r>
            <a:r>
              <a:rPr lang="en-US" altLang="zh-CN" sz="2800" dirty="0"/>
              <a:t>S</a:t>
            </a:r>
            <a:endParaRPr lang="en-US" altLang="zh-CN" sz="2800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hlink"/>
                </a:solidFill>
              </a:rPr>
              <a:t>    </a:t>
            </a:r>
            <a:r>
              <a:rPr lang="zh-CN" altLang="en-US" sz="2800" b="1" dirty="0">
                <a:solidFill>
                  <a:schemeClr val="hlink"/>
                </a:solidFill>
              </a:rPr>
              <a:t>解</a:t>
            </a:r>
            <a:r>
              <a:rPr lang="en-US" altLang="zh-CN" sz="2800" dirty="0">
                <a:solidFill>
                  <a:schemeClr val="accent1"/>
                </a:solidFill>
              </a:rPr>
              <a:t>E</a:t>
            </a:r>
            <a:r>
              <a:rPr lang="zh-CN" altLang="en-US" sz="2800" dirty="0"/>
              <a:t>＝ </a:t>
            </a:r>
            <a:r>
              <a:rPr lang="en-US" altLang="zh-CN" sz="2800" dirty="0"/>
              <a:t>A×A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2,1</a:t>
            </a:r>
            <a:r>
              <a:rPr lang="en-US" altLang="zh-CN" sz="2800" b="1" dirty="0"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        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              &lt;</a:t>
            </a:r>
            <a:r>
              <a:rPr lang="en-US" altLang="zh-CN" sz="2800" dirty="0"/>
              <a:t>3,4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00FF"/>
                </a:solidFill>
              </a:rPr>
              <a:t>H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4,2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chemeClr val="accent1"/>
                </a:solidFill>
              </a:rPr>
              <a:t>S</a:t>
            </a:r>
            <a:r>
              <a:rPr lang="zh-CN" altLang="en-US" sz="2800" dirty="0"/>
              <a:t>＝ 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EB57C02-C37D-718E-7D86-121E0EAC5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3.4.3 </a:t>
            </a:r>
            <a:r>
              <a:rPr lang="zh-CN" altLang="en-US" sz="4800"/>
              <a:t>集合</a:t>
            </a:r>
            <a:r>
              <a:rPr lang="en-US" altLang="zh-CN" sz="4800"/>
              <a:t>A</a:t>
            </a:r>
            <a:r>
              <a:rPr lang="zh-CN" altLang="en-US" sz="4800"/>
              <a:t>到</a:t>
            </a:r>
            <a:r>
              <a:rPr lang="en-US" altLang="zh-CN" sz="4800"/>
              <a:t>B</a:t>
            </a:r>
            <a:r>
              <a:rPr lang="zh-CN" altLang="en-US" sz="4800"/>
              <a:t>的关系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6EA976F-10AD-FD4E-FBD4-6E12670B8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则</a:t>
            </a:r>
            <a:r>
              <a:rPr lang="en-US" altLang="zh-CN" dirty="0">
                <a:solidFill>
                  <a:srgbClr val="FF0066"/>
                </a:solidFill>
              </a:rPr>
              <a:t>H∪S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CC99"/>
                </a:solidFill>
              </a:rPr>
              <a:t>H∩S</a:t>
            </a:r>
            <a:r>
              <a:rPr lang="zh-CN" altLang="en-US" dirty="0"/>
              <a:t>＝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H</a:t>
            </a:r>
            <a:r>
              <a:rPr lang="zh-CN" altLang="en-US" dirty="0"/>
              <a:t>－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3,1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>
                <a:solidFill>
                  <a:schemeClr val="hlink"/>
                </a:solidFill>
              </a:rPr>
              <a:t>～</a:t>
            </a:r>
            <a:r>
              <a:rPr lang="en-US" altLang="zh-CN" dirty="0">
                <a:solidFill>
                  <a:schemeClr val="hlink"/>
                </a:solidFill>
              </a:rPr>
              <a:t>S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2,4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 &lt;</a:t>
            </a:r>
            <a:r>
              <a:rPr lang="en-US" altLang="zh-CN" dirty="0"/>
              <a:t>3,1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  <a:endParaRPr lang="en-US" altLang="zh-CN" sz="2800" dirty="0"/>
          </a:p>
        </p:txBody>
      </p:sp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DC0195B4-CD10-2F38-5B3D-BD47A7E43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401703"/>
              </p:ext>
            </p:extLst>
          </p:nvPr>
        </p:nvGraphicFramePr>
        <p:xfrm>
          <a:off x="2268538" y="3861048"/>
          <a:ext cx="4968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13316" name="Object 10">
                        <a:extLst>
                          <a:ext uri="{FF2B5EF4-FFF2-40B4-BE49-F238E27FC236}">
                            <a16:creationId xmlns:a16="http://schemas.microsoft.com/office/drawing/2014/main" id="{C93C30EC-FAF3-41F1-1042-1903B09CFE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861048"/>
                        <a:ext cx="49688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D7F577AB-927B-D084-C50F-4590C03F4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3.4.4 </a:t>
            </a:r>
            <a:r>
              <a:rPr lang="zh-CN" altLang="en-US" sz="4800"/>
              <a:t>关系矩阵</a:t>
            </a: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id="{6AD15FEB-9566-4360-B8E8-05C31C965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651375"/>
          </a:xfrm>
        </p:spPr>
        <p:txBody>
          <a:bodyPr/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3.4.10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a,b,c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2,b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            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2,c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宋体" pitchFamily="2" charset="-122"/>
              </a:rPr>
              <a:t>&lt;</a:t>
            </a:r>
            <a:r>
              <a:rPr lang="en-US" altLang="zh-CN" dirty="0"/>
              <a:t>3,a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3,b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>
                <a:solidFill>
                  <a:srgbClr val="FF00FF"/>
                </a:solidFill>
              </a:rPr>
              <a:t>的关系矩阵</a:t>
            </a:r>
            <a:r>
              <a:rPr lang="en-US" altLang="zh-CN" dirty="0"/>
              <a:t>M</a:t>
            </a:r>
            <a:r>
              <a:rPr lang="en-US" altLang="zh-CN" baseline="-25000" dirty="0"/>
              <a:t>R</a:t>
            </a:r>
            <a:r>
              <a:rPr lang="zh-CN" altLang="en-US" dirty="0"/>
              <a:t>为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7EEA60AF-0AEC-2535-C86C-C2013F86840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16463" y="4076700"/>
            <a:ext cx="4427537" cy="2781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/>
          </a:p>
        </p:txBody>
      </p:sp>
      <p:graphicFrame>
        <p:nvGraphicFramePr>
          <p:cNvPr id="24581" name="Object 7">
            <a:extLst>
              <a:ext uri="{FF2B5EF4-FFF2-40B4-BE49-F238E27FC236}">
                <a16:creationId xmlns:a16="http://schemas.microsoft.com/office/drawing/2014/main" id="{5A6ED814-9BF7-828D-ADD9-A55B97892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6825" y="4797425"/>
          <a:ext cx="2565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914400" progId="Equation.DSMT4">
                  <p:embed/>
                </p:oleObj>
              </mc:Choice>
              <mc:Fallback>
                <p:oleObj name="Equation" r:id="rId2" imgW="1282700" imgH="914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4797425"/>
                        <a:ext cx="25654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9">
            <a:extLst>
              <a:ext uri="{FF2B5EF4-FFF2-40B4-BE49-F238E27FC236}">
                <a16:creationId xmlns:a16="http://schemas.microsoft.com/office/drawing/2014/main" id="{5AC8FDF4-0ABF-FD52-5885-F9D258CCE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4843463"/>
            <a:ext cx="309562" cy="172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zh-CN">
                <a:solidFill>
                  <a:schemeClr val="accent1"/>
                </a:solidFill>
              </a:rPr>
              <a:t>1</a:t>
            </a:r>
          </a:p>
          <a:p>
            <a:pPr eaLnBrk="1" hangingPunct="1">
              <a:lnSpc>
                <a:spcPct val="85000"/>
              </a:lnSpc>
            </a:pPr>
            <a:endParaRPr lang="en-US" altLang="zh-CN">
              <a:solidFill>
                <a:schemeClr val="accent1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>
                <a:solidFill>
                  <a:schemeClr val="accent1"/>
                </a:solidFill>
              </a:rPr>
              <a:t>2</a:t>
            </a:r>
          </a:p>
          <a:p>
            <a:pPr eaLnBrk="1" hangingPunct="1">
              <a:lnSpc>
                <a:spcPct val="85000"/>
              </a:lnSpc>
            </a:pPr>
            <a:endParaRPr lang="en-US" altLang="zh-CN">
              <a:solidFill>
                <a:schemeClr val="accent1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>
                <a:solidFill>
                  <a:schemeClr val="accent1"/>
                </a:solidFill>
              </a:rPr>
              <a:t>3</a:t>
            </a:r>
          </a:p>
          <a:p>
            <a:pPr eaLnBrk="1" hangingPunct="1">
              <a:lnSpc>
                <a:spcPct val="85000"/>
              </a:lnSpc>
            </a:pPr>
            <a:endParaRPr lang="en-US" altLang="zh-CN">
              <a:solidFill>
                <a:schemeClr val="accent1"/>
              </a:solidFill>
            </a:endParaRPr>
          </a:p>
          <a:p>
            <a:pPr eaLnBrk="1" hangingPunct="1">
              <a:lnSpc>
                <a:spcPct val="85000"/>
              </a:lnSpc>
            </a:pPr>
            <a:r>
              <a:rPr lang="en-US" altLang="zh-CN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4583" name="Text Box 10">
            <a:extLst>
              <a:ext uri="{FF2B5EF4-FFF2-40B4-BE49-F238E27FC236}">
                <a16:creationId xmlns:a16="http://schemas.microsoft.com/office/drawing/2014/main" id="{873962B8-2410-4547-22BC-DE6319D9C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5" y="4418013"/>
            <a:ext cx="1108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FF"/>
                </a:solidFill>
              </a:rPr>
              <a:t>a    b    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>
            <a:extLst>
              <a:ext uri="{FF2B5EF4-FFF2-40B4-BE49-F238E27FC236}">
                <a16:creationId xmlns:a16="http://schemas.microsoft.com/office/drawing/2014/main" id="{BC9E59AF-B288-F443-25EC-A2FDFC443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3.4.4 </a:t>
            </a:r>
            <a:r>
              <a:rPr lang="zh-CN" altLang="en-US" sz="4800"/>
              <a:t>关系矩阵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6469D57-61F3-2556-A162-B9442C5478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3.4.11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则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  <a:r>
              <a:rPr lang="zh-CN" altLang="en-US" dirty="0">
                <a:solidFill>
                  <a:srgbClr val="FF00FF"/>
                </a:solidFill>
              </a:rPr>
              <a:t>的关系矩阵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s</a:t>
            </a:r>
            <a:r>
              <a:rPr lang="zh-CN" altLang="en-US" dirty="0"/>
              <a:t>为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D8EABFFD-D828-C407-CB0D-91E38920157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195513" y="4941888"/>
          <a:ext cx="2738437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914400" progId="Equation.DSMT4">
                  <p:embed/>
                </p:oleObj>
              </mc:Choice>
              <mc:Fallback>
                <p:oleObj name="Equation" r:id="rId2" imgW="1524000" imgH="91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941888"/>
                        <a:ext cx="2738437" cy="164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8">
            <a:extLst>
              <a:ext uri="{FF2B5EF4-FFF2-40B4-BE49-F238E27FC236}">
                <a16:creationId xmlns:a16="http://schemas.microsoft.com/office/drawing/2014/main" id="{DB129D85-F1B5-2EB2-12E6-97C641C60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5013325"/>
            <a:ext cx="309563" cy="153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5000"/>
              </a:lnSpc>
            </a:pPr>
            <a:r>
              <a:rPr lang="en-US" altLang="zh-CN">
                <a:solidFill>
                  <a:schemeClr val="hlink"/>
                </a:solidFill>
              </a:rPr>
              <a:t>1</a:t>
            </a:r>
          </a:p>
          <a:p>
            <a:pPr eaLnBrk="1" hangingPunct="1">
              <a:lnSpc>
                <a:spcPct val="75000"/>
              </a:lnSpc>
            </a:pPr>
            <a:endParaRPr lang="en-US" altLang="zh-CN">
              <a:solidFill>
                <a:schemeClr val="hlink"/>
              </a:solidFill>
            </a:endParaRPr>
          </a:p>
          <a:p>
            <a:pPr eaLnBrk="1" hangingPunct="1">
              <a:lnSpc>
                <a:spcPct val="75000"/>
              </a:lnSpc>
            </a:pPr>
            <a:r>
              <a:rPr lang="en-US" altLang="zh-CN">
                <a:solidFill>
                  <a:schemeClr val="hlink"/>
                </a:solidFill>
              </a:rPr>
              <a:t>2</a:t>
            </a:r>
          </a:p>
          <a:p>
            <a:pPr eaLnBrk="1" hangingPunct="1">
              <a:lnSpc>
                <a:spcPct val="75000"/>
              </a:lnSpc>
            </a:pPr>
            <a:endParaRPr lang="en-US" altLang="zh-CN">
              <a:solidFill>
                <a:schemeClr val="hlink"/>
              </a:solidFill>
            </a:endParaRPr>
          </a:p>
          <a:p>
            <a:pPr eaLnBrk="1" hangingPunct="1">
              <a:lnSpc>
                <a:spcPct val="75000"/>
              </a:lnSpc>
            </a:pPr>
            <a:r>
              <a:rPr lang="en-US" altLang="zh-CN">
                <a:solidFill>
                  <a:schemeClr val="hlink"/>
                </a:solidFill>
              </a:rPr>
              <a:t>3</a:t>
            </a:r>
          </a:p>
          <a:p>
            <a:pPr eaLnBrk="1" hangingPunct="1">
              <a:lnSpc>
                <a:spcPct val="75000"/>
              </a:lnSpc>
            </a:pPr>
            <a:endParaRPr lang="en-US" altLang="zh-CN">
              <a:solidFill>
                <a:schemeClr val="hlink"/>
              </a:solidFill>
            </a:endParaRPr>
          </a:p>
          <a:p>
            <a:pPr eaLnBrk="1" hangingPunct="1">
              <a:lnSpc>
                <a:spcPct val="75000"/>
              </a:lnSpc>
            </a:pPr>
            <a:r>
              <a:rPr lang="en-US" altLang="zh-CN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5606" name="Text Box 9">
            <a:extLst>
              <a:ext uri="{FF2B5EF4-FFF2-40B4-BE49-F238E27FC236}">
                <a16:creationId xmlns:a16="http://schemas.microsoft.com/office/drawing/2014/main" id="{473305F3-344D-0109-5E68-B64A8F496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0" y="4627563"/>
            <a:ext cx="1543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accent1"/>
                </a:solidFill>
              </a:rPr>
              <a:t>1    2    3    4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9121D4A-C282-C764-7D1B-4A1E30498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3.4.5 </a:t>
            </a:r>
            <a:r>
              <a:rPr lang="zh-CN" altLang="en-US" sz="4800"/>
              <a:t>关系图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43AA4CA-CE90-EDAE-C5C1-6C72E95BB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675687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3.4.12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a,b,c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sz="2800" dirty="0"/>
              <a:t>R</a:t>
            </a:r>
            <a:r>
              <a:rPr lang="zh-CN" altLang="en-US" sz="2800" dirty="0"/>
              <a:t>＝</a:t>
            </a:r>
            <a:r>
              <a:rPr lang="en-US" altLang="zh-CN" sz="2800" b="1" dirty="0">
                <a:latin typeface="宋体" pitchFamily="2" charset="-122"/>
              </a:rPr>
              <a:t>{&lt;</a:t>
            </a:r>
            <a:r>
              <a:rPr lang="en-US" altLang="zh-CN" sz="2800" dirty="0"/>
              <a:t>1,a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1,c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2,c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3,a</a:t>
            </a:r>
            <a:r>
              <a:rPr lang="en-US" altLang="zh-CN" sz="2800" b="1" dirty="0">
                <a:latin typeface="+mn-ea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3,b</a:t>
            </a:r>
            <a:r>
              <a:rPr lang="en-US" altLang="zh-CN" sz="2800" b="1" dirty="0">
                <a:latin typeface="宋体" pitchFamily="2" charset="-122"/>
              </a:rPr>
              <a:t>&gt;}</a:t>
            </a:r>
            <a:r>
              <a:rPr lang="zh-CN" altLang="en-US" sz="2800" b="1" dirty="0">
                <a:latin typeface="宋体" pitchFamily="2" charset="-122"/>
              </a:rPr>
              <a:t>。   </a:t>
            </a:r>
            <a:r>
              <a:rPr lang="zh-CN" altLang="en-US" dirty="0"/>
              <a:t>则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>
                <a:solidFill>
                  <a:srgbClr val="FF00FF"/>
                </a:solidFill>
              </a:rPr>
              <a:t>的关系图</a:t>
            </a:r>
            <a:r>
              <a:rPr lang="zh-CN" altLang="en-US" dirty="0"/>
              <a:t>为</a:t>
            </a:r>
          </a:p>
        </p:txBody>
      </p:sp>
      <p:sp>
        <p:nvSpPr>
          <p:cNvPr id="26628" name="Oval 4">
            <a:extLst>
              <a:ext uri="{FF2B5EF4-FFF2-40B4-BE49-F238E27FC236}">
                <a16:creationId xmlns:a16="http://schemas.microsoft.com/office/drawing/2014/main" id="{D3096FD4-A5DC-741A-DC65-DD5B81214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4437063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29" name="Oval 5">
            <a:extLst>
              <a:ext uri="{FF2B5EF4-FFF2-40B4-BE49-F238E27FC236}">
                <a16:creationId xmlns:a16="http://schemas.microsoft.com/office/drawing/2014/main" id="{67B9CCE6-69BC-4841-80C0-990C3F831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5157788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0" name="Oval 6">
            <a:extLst>
              <a:ext uri="{FF2B5EF4-FFF2-40B4-BE49-F238E27FC236}">
                <a16:creationId xmlns:a16="http://schemas.microsoft.com/office/drawing/2014/main" id="{84DF9F09-B943-0D2B-4F77-5A5A357B3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5818188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1" name="Oval 7">
            <a:extLst>
              <a:ext uri="{FF2B5EF4-FFF2-40B4-BE49-F238E27FC236}">
                <a16:creationId xmlns:a16="http://schemas.microsoft.com/office/drawing/2014/main" id="{F9646AE7-6FD1-1DB3-189A-0D9DB530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64865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2" name="Oval 8">
            <a:extLst>
              <a:ext uri="{FF2B5EF4-FFF2-40B4-BE49-F238E27FC236}">
                <a16:creationId xmlns:a16="http://schemas.microsoft.com/office/drawing/2014/main" id="{4D2FF15A-86F4-9B82-9256-BFE4BC7D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5499100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3" name="Oval 9">
            <a:extLst>
              <a:ext uri="{FF2B5EF4-FFF2-40B4-BE49-F238E27FC236}">
                <a16:creationId xmlns:a16="http://schemas.microsoft.com/office/drawing/2014/main" id="{398CFCD8-80CC-062C-F4F7-E0A25ABA0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6197600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4" name="Oval 10">
            <a:extLst>
              <a:ext uri="{FF2B5EF4-FFF2-40B4-BE49-F238E27FC236}">
                <a16:creationId xmlns:a16="http://schemas.microsoft.com/office/drawing/2014/main" id="{189D2D65-8381-9E4C-9AEF-B38567C06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7974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5" name="Text Box 12">
            <a:extLst>
              <a:ext uri="{FF2B5EF4-FFF2-40B4-BE49-F238E27FC236}">
                <a16:creationId xmlns:a16="http://schemas.microsoft.com/office/drawing/2014/main" id="{E36E3E7C-EAB7-CB69-D12D-20A646D58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4240213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</a:t>
            </a:r>
          </a:p>
        </p:txBody>
      </p:sp>
      <p:sp>
        <p:nvSpPr>
          <p:cNvPr id="26636" name="Text Box 13">
            <a:extLst>
              <a:ext uri="{FF2B5EF4-FFF2-40B4-BE49-F238E27FC236}">
                <a16:creationId xmlns:a16="http://schemas.microsoft.com/office/drawing/2014/main" id="{9FD190BB-B24A-C666-97A6-698DC54FF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994275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2</a:t>
            </a:r>
          </a:p>
        </p:txBody>
      </p:sp>
      <p:sp>
        <p:nvSpPr>
          <p:cNvPr id="26637" name="Text Box 14">
            <a:extLst>
              <a:ext uri="{FF2B5EF4-FFF2-40B4-BE49-F238E27FC236}">
                <a16:creationId xmlns:a16="http://schemas.microsoft.com/office/drawing/2014/main" id="{2C034BAA-1173-7380-2451-1D50F6C9A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8" y="5627688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3</a:t>
            </a:r>
          </a:p>
        </p:txBody>
      </p:sp>
      <p:sp>
        <p:nvSpPr>
          <p:cNvPr id="26638" name="Text Box 15">
            <a:extLst>
              <a:ext uri="{FF2B5EF4-FFF2-40B4-BE49-F238E27FC236}">
                <a16:creationId xmlns:a16="http://schemas.microsoft.com/office/drawing/2014/main" id="{A9F3790B-2F2A-03BA-5519-87077CA9F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38" y="6300788"/>
            <a:ext cx="35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4</a:t>
            </a:r>
          </a:p>
        </p:txBody>
      </p:sp>
      <p:sp>
        <p:nvSpPr>
          <p:cNvPr id="26639" name="Text Box 16">
            <a:extLst>
              <a:ext uri="{FF2B5EF4-FFF2-40B4-BE49-F238E27FC236}">
                <a16:creationId xmlns:a16="http://schemas.microsoft.com/office/drawing/2014/main" id="{7E02E602-C8F8-365E-8630-E67644F81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25" y="4597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</a:t>
            </a:r>
          </a:p>
        </p:txBody>
      </p:sp>
      <p:sp>
        <p:nvSpPr>
          <p:cNvPr id="26640" name="Text Box 17">
            <a:extLst>
              <a:ext uri="{FF2B5EF4-FFF2-40B4-BE49-F238E27FC236}">
                <a16:creationId xmlns:a16="http://schemas.microsoft.com/office/drawing/2014/main" id="{8AD0EE0E-3D81-9114-1ACE-D54125191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0650" y="5300663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b</a:t>
            </a:r>
          </a:p>
        </p:txBody>
      </p:sp>
      <p:sp>
        <p:nvSpPr>
          <p:cNvPr id="26641" name="Text Box 18">
            <a:extLst>
              <a:ext uri="{FF2B5EF4-FFF2-40B4-BE49-F238E27FC236}">
                <a16:creationId xmlns:a16="http://schemas.microsoft.com/office/drawing/2014/main" id="{9DA48405-75ED-27E1-AB0F-4327CF73C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388" y="5961063"/>
            <a:ext cx="325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c</a:t>
            </a:r>
          </a:p>
        </p:txBody>
      </p:sp>
      <p:sp>
        <p:nvSpPr>
          <p:cNvPr id="26642" name="Line 24">
            <a:extLst>
              <a:ext uri="{FF2B5EF4-FFF2-40B4-BE49-F238E27FC236}">
                <a16:creationId xmlns:a16="http://schemas.microsoft.com/office/drawing/2014/main" id="{8F6DA9CB-1A4D-253A-439D-5779B3080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508500"/>
            <a:ext cx="20875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3" name="Line 25">
            <a:extLst>
              <a:ext uri="{FF2B5EF4-FFF2-40B4-BE49-F238E27FC236}">
                <a16:creationId xmlns:a16="http://schemas.microsoft.com/office/drawing/2014/main" id="{1E4D2C70-4878-FCD6-2E8A-77368E6B0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508500"/>
            <a:ext cx="2160587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4" name="Line 27">
            <a:extLst>
              <a:ext uri="{FF2B5EF4-FFF2-40B4-BE49-F238E27FC236}">
                <a16:creationId xmlns:a16="http://schemas.microsoft.com/office/drawing/2014/main" id="{BA0889C9-7434-A6DD-2947-6FDADF6C5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508500"/>
            <a:ext cx="2232025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5" name="Line 28">
            <a:extLst>
              <a:ext uri="{FF2B5EF4-FFF2-40B4-BE49-F238E27FC236}">
                <a16:creationId xmlns:a16="http://schemas.microsoft.com/office/drawing/2014/main" id="{551ABEBC-964F-9EDE-2AEB-7726524C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5229225"/>
            <a:ext cx="2160587" cy="360363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6" name="Line 29">
            <a:extLst>
              <a:ext uri="{FF2B5EF4-FFF2-40B4-BE49-F238E27FC236}">
                <a16:creationId xmlns:a16="http://schemas.microsoft.com/office/drawing/2014/main" id="{C0D4810C-0F42-D5C3-6ACD-C58EFFF81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5229225"/>
            <a:ext cx="2232025" cy="10795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7" name="Line 30">
            <a:extLst>
              <a:ext uri="{FF2B5EF4-FFF2-40B4-BE49-F238E27FC236}">
                <a16:creationId xmlns:a16="http://schemas.microsoft.com/office/drawing/2014/main" id="{70247ECB-727D-35AD-9000-79DA65BB37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6238" y="4941888"/>
            <a:ext cx="2087562" cy="935037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8" name="Line 31">
            <a:extLst>
              <a:ext uri="{FF2B5EF4-FFF2-40B4-BE49-F238E27FC236}">
                <a16:creationId xmlns:a16="http://schemas.microsoft.com/office/drawing/2014/main" id="{38FEB18B-9F96-76FF-9DEC-50F995A97F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16238" y="5661025"/>
            <a:ext cx="2160587" cy="2159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1">
            <a:extLst>
              <a:ext uri="{FF2B5EF4-FFF2-40B4-BE49-F238E27FC236}">
                <a16:creationId xmlns:a16="http://schemas.microsoft.com/office/drawing/2014/main" id="{9F720670-CD65-39C1-1FC4-E37797045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3.4.5 </a:t>
            </a:r>
            <a:r>
              <a:rPr lang="zh-CN" altLang="en-US" sz="4800"/>
              <a:t>关系图</a:t>
            </a: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D928F5C4-5E8A-4B58-673B-087CB8FB94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916113"/>
            <a:ext cx="8748713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3.4.13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︱x,y∈A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</a:t>
            </a:r>
            <a:r>
              <a:rPr lang="en-US" altLang="zh-CN" baseline="30000" dirty="0"/>
              <a:t>2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  <a:r>
              <a:rPr lang="en-US" altLang="zh-CN" baseline="30000" dirty="0"/>
              <a:t>2</a:t>
            </a:r>
            <a:r>
              <a:rPr lang="zh-CN" altLang="en-US" dirty="0"/>
              <a:t>不是质数</a:t>
            </a:r>
            <a:r>
              <a:rPr lang="en-US" altLang="zh-CN" dirty="0"/>
              <a:t>}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则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  <a:r>
              <a:rPr lang="zh-CN" altLang="en-US" dirty="0">
                <a:solidFill>
                  <a:srgbClr val="FF00FF"/>
                </a:solidFill>
              </a:rPr>
              <a:t>的关系图</a:t>
            </a:r>
            <a:r>
              <a:rPr lang="zh-CN" altLang="en-US" dirty="0"/>
              <a:t>为</a:t>
            </a:r>
          </a:p>
        </p:txBody>
      </p:sp>
      <p:sp>
        <p:nvSpPr>
          <p:cNvPr id="27652" name="Oval 14">
            <a:extLst>
              <a:ext uri="{FF2B5EF4-FFF2-40B4-BE49-F238E27FC236}">
                <a16:creationId xmlns:a16="http://schemas.microsoft.com/office/drawing/2014/main" id="{1F53B4DC-2450-6471-A2BA-E0868984C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797425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3" name="Oval 15">
            <a:extLst>
              <a:ext uri="{FF2B5EF4-FFF2-40B4-BE49-F238E27FC236}">
                <a16:creationId xmlns:a16="http://schemas.microsoft.com/office/drawing/2014/main" id="{5E176159-1CC6-7EB5-5F4C-E43BEE761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334000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4" name="Oval 16">
            <a:extLst>
              <a:ext uri="{FF2B5EF4-FFF2-40B4-BE49-F238E27FC236}">
                <a16:creationId xmlns:a16="http://schemas.microsoft.com/office/drawing/2014/main" id="{1726FD39-4DF9-E850-5ED2-EA36A23D4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3763" y="5334000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5" name="Oval 17">
            <a:extLst>
              <a:ext uri="{FF2B5EF4-FFF2-40B4-BE49-F238E27FC236}">
                <a16:creationId xmlns:a16="http://schemas.microsoft.com/office/drawing/2014/main" id="{26EDECC8-5558-85CB-FB22-121959F41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910263"/>
            <a:ext cx="111125" cy="111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6" name="Freeform 28">
            <a:extLst>
              <a:ext uri="{FF2B5EF4-FFF2-40B4-BE49-F238E27FC236}">
                <a16:creationId xmlns:a16="http://schemas.microsoft.com/office/drawing/2014/main" id="{83F69EEB-2071-C775-ED0C-DC4D6A5C5004}"/>
              </a:ext>
            </a:extLst>
          </p:cNvPr>
          <p:cNvSpPr>
            <a:spLocks/>
          </p:cNvSpPr>
          <p:nvPr/>
        </p:nvSpPr>
        <p:spPr bwMode="auto">
          <a:xfrm>
            <a:off x="6032500" y="4991100"/>
            <a:ext cx="725488" cy="982663"/>
          </a:xfrm>
          <a:custGeom>
            <a:avLst/>
            <a:gdLst>
              <a:gd name="T0" fmla="*/ 2147483647 w 457"/>
              <a:gd name="T1" fmla="*/ 2147483647 h 619"/>
              <a:gd name="T2" fmla="*/ 2147483647 w 457"/>
              <a:gd name="T3" fmla="*/ 2147483647 h 619"/>
              <a:gd name="T4" fmla="*/ 2147483647 w 457"/>
              <a:gd name="T5" fmla="*/ 0 h 619"/>
              <a:gd name="T6" fmla="*/ 2147483647 w 457"/>
              <a:gd name="T7" fmla="*/ 2147483647 h 619"/>
              <a:gd name="T8" fmla="*/ 2147483647 w 457"/>
              <a:gd name="T9" fmla="*/ 2147483647 h 619"/>
              <a:gd name="T10" fmla="*/ 2147483647 w 457"/>
              <a:gd name="T11" fmla="*/ 2147483647 h 619"/>
              <a:gd name="T12" fmla="*/ 2147483647 w 457"/>
              <a:gd name="T13" fmla="*/ 2147483647 h 619"/>
              <a:gd name="T14" fmla="*/ 2147483647 w 457"/>
              <a:gd name="T15" fmla="*/ 2147483647 h 619"/>
              <a:gd name="T16" fmla="*/ 2147483647 w 457"/>
              <a:gd name="T17" fmla="*/ 2147483647 h 619"/>
              <a:gd name="T18" fmla="*/ 2147483647 w 457"/>
              <a:gd name="T19" fmla="*/ 2147483647 h 619"/>
              <a:gd name="T20" fmla="*/ 2147483647 w 457"/>
              <a:gd name="T21" fmla="*/ 2147483647 h 619"/>
              <a:gd name="T22" fmla="*/ 2147483647 w 457"/>
              <a:gd name="T23" fmla="*/ 2147483647 h 619"/>
              <a:gd name="T24" fmla="*/ 2147483647 w 457"/>
              <a:gd name="T25" fmla="*/ 2147483647 h 619"/>
              <a:gd name="T26" fmla="*/ 0 w 457"/>
              <a:gd name="T27" fmla="*/ 2147483647 h 61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457" h="619">
                <a:moveTo>
                  <a:pt x="8" y="216"/>
                </a:moveTo>
                <a:cubicBezTo>
                  <a:pt x="21" y="166"/>
                  <a:pt x="16" y="96"/>
                  <a:pt x="56" y="56"/>
                </a:cubicBezTo>
                <a:cubicBezTo>
                  <a:pt x="72" y="40"/>
                  <a:pt x="149" y="9"/>
                  <a:pt x="176" y="0"/>
                </a:cubicBezTo>
                <a:cubicBezTo>
                  <a:pt x="225" y="7"/>
                  <a:pt x="264" y="13"/>
                  <a:pt x="304" y="40"/>
                </a:cubicBezTo>
                <a:cubicBezTo>
                  <a:pt x="315" y="72"/>
                  <a:pt x="329" y="78"/>
                  <a:pt x="360" y="88"/>
                </a:cubicBezTo>
                <a:cubicBezTo>
                  <a:pt x="363" y="96"/>
                  <a:pt x="364" y="104"/>
                  <a:pt x="368" y="112"/>
                </a:cubicBezTo>
                <a:cubicBezTo>
                  <a:pt x="372" y="121"/>
                  <a:pt x="381" y="127"/>
                  <a:pt x="384" y="136"/>
                </a:cubicBezTo>
                <a:cubicBezTo>
                  <a:pt x="403" y="187"/>
                  <a:pt x="395" y="244"/>
                  <a:pt x="456" y="264"/>
                </a:cubicBezTo>
                <a:cubicBezTo>
                  <a:pt x="452" y="317"/>
                  <a:pt x="457" y="497"/>
                  <a:pt x="432" y="528"/>
                </a:cubicBezTo>
                <a:cubicBezTo>
                  <a:pt x="410" y="555"/>
                  <a:pt x="356" y="556"/>
                  <a:pt x="328" y="560"/>
                </a:cubicBezTo>
                <a:cubicBezTo>
                  <a:pt x="158" y="554"/>
                  <a:pt x="102" y="619"/>
                  <a:pt x="64" y="504"/>
                </a:cubicBezTo>
                <a:cubicBezTo>
                  <a:pt x="58" y="442"/>
                  <a:pt x="56" y="424"/>
                  <a:pt x="32" y="376"/>
                </a:cubicBezTo>
                <a:cubicBezTo>
                  <a:pt x="28" y="367"/>
                  <a:pt x="20" y="361"/>
                  <a:pt x="16" y="352"/>
                </a:cubicBezTo>
                <a:cubicBezTo>
                  <a:pt x="9" y="337"/>
                  <a:pt x="0" y="304"/>
                  <a:pt x="0" y="30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7" name="Freeform 29">
            <a:extLst>
              <a:ext uri="{FF2B5EF4-FFF2-40B4-BE49-F238E27FC236}">
                <a16:creationId xmlns:a16="http://schemas.microsoft.com/office/drawing/2014/main" id="{900DAB32-2621-5407-5DE8-95950511B976}"/>
              </a:ext>
            </a:extLst>
          </p:cNvPr>
          <p:cNvSpPr>
            <a:spLocks/>
          </p:cNvSpPr>
          <p:nvPr/>
        </p:nvSpPr>
        <p:spPr bwMode="auto">
          <a:xfrm>
            <a:off x="4530725" y="5803900"/>
            <a:ext cx="812800" cy="669925"/>
          </a:xfrm>
          <a:custGeom>
            <a:avLst/>
            <a:gdLst>
              <a:gd name="T0" fmla="*/ 2147483647 w 512"/>
              <a:gd name="T1" fmla="*/ 2147483647 h 422"/>
              <a:gd name="T2" fmla="*/ 2147483647 w 512"/>
              <a:gd name="T3" fmla="*/ 2147483647 h 422"/>
              <a:gd name="T4" fmla="*/ 2147483647 w 512"/>
              <a:gd name="T5" fmla="*/ 2147483647 h 422"/>
              <a:gd name="T6" fmla="*/ 2147483647 w 512"/>
              <a:gd name="T7" fmla="*/ 2147483647 h 422"/>
              <a:gd name="T8" fmla="*/ 2147483647 w 512"/>
              <a:gd name="T9" fmla="*/ 2147483647 h 422"/>
              <a:gd name="T10" fmla="*/ 2147483647 w 512"/>
              <a:gd name="T11" fmla="*/ 2147483647 h 4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12" h="422">
                <a:moveTo>
                  <a:pt x="458" y="128"/>
                </a:moveTo>
                <a:cubicBezTo>
                  <a:pt x="500" y="192"/>
                  <a:pt x="512" y="353"/>
                  <a:pt x="450" y="384"/>
                </a:cubicBezTo>
                <a:cubicBezTo>
                  <a:pt x="435" y="391"/>
                  <a:pt x="418" y="389"/>
                  <a:pt x="402" y="392"/>
                </a:cubicBezTo>
                <a:cubicBezTo>
                  <a:pt x="108" y="383"/>
                  <a:pt x="195" y="422"/>
                  <a:pt x="42" y="320"/>
                </a:cubicBezTo>
                <a:cubicBezTo>
                  <a:pt x="0" y="257"/>
                  <a:pt x="2" y="146"/>
                  <a:pt x="66" y="104"/>
                </a:cubicBezTo>
                <a:cubicBezTo>
                  <a:pt x="101" y="0"/>
                  <a:pt x="286" y="80"/>
                  <a:pt x="386" y="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8" name="Freeform 30">
            <a:extLst>
              <a:ext uri="{FF2B5EF4-FFF2-40B4-BE49-F238E27FC236}">
                <a16:creationId xmlns:a16="http://schemas.microsoft.com/office/drawing/2014/main" id="{3389B093-AE64-3B08-E85B-EA874D1BF9C9}"/>
              </a:ext>
            </a:extLst>
          </p:cNvPr>
          <p:cNvSpPr>
            <a:spLocks/>
          </p:cNvSpPr>
          <p:nvPr/>
        </p:nvSpPr>
        <p:spPr bwMode="auto">
          <a:xfrm>
            <a:off x="3214688" y="4918075"/>
            <a:ext cx="976312" cy="822325"/>
          </a:xfrm>
          <a:custGeom>
            <a:avLst/>
            <a:gdLst>
              <a:gd name="T0" fmla="*/ 2147483647 w 615"/>
              <a:gd name="T1" fmla="*/ 2147483647 h 518"/>
              <a:gd name="T2" fmla="*/ 2147483647 w 615"/>
              <a:gd name="T3" fmla="*/ 2147483647 h 518"/>
              <a:gd name="T4" fmla="*/ 2147483647 w 615"/>
              <a:gd name="T5" fmla="*/ 2147483647 h 518"/>
              <a:gd name="T6" fmla="*/ 2147483647 w 615"/>
              <a:gd name="T7" fmla="*/ 2147483647 h 518"/>
              <a:gd name="T8" fmla="*/ 2147483647 w 615"/>
              <a:gd name="T9" fmla="*/ 2147483647 h 518"/>
              <a:gd name="T10" fmla="*/ 2147483647 w 615"/>
              <a:gd name="T11" fmla="*/ 2147483647 h 518"/>
              <a:gd name="T12" fmla="*/ 2147483647 w 615"/>
              <a:gd name="T13" fmla="*/ 2147483647 h 518"/>
              <a:gd name="T14" fmla="*/ 2147483647 w 615"/>
              <a:gd name="T15" fmla="*/ 2147483647 h 518"/>
              <a:gd name="T16" fmla="*/ 2147483647 w 615"/>
              <a:gd name="T17" fmla="*/ 2147483647 h 518"/>
              <a:gd name="T18" fmla="*/ 2147483647 w 615"/>
              <a:gd name="T19" fmla="*/ 2147483647 h 518"/>
              <a:gd name="T20" fmla="*/ 2147483647 w 615"/>
              <a:gd name="T21" fmla="*/ 2147483647 h 518"/>
              <a:gd name="T22" fmla="*/ 2147483647 w 615"/>
              <a:gd name="T23" fmla="*/ 2147483647 h 518"/>
              <a:gd name="T24" fmla="*/ 2147483647 w 615"/>
              <a:gd name="T25" fmla="*/ 2147483647 h 518"/>
              <a:gd name="T26" fmla="*/ 2147483647 w 615"/>
              <a:gd name="T27" fmla="*/ 2147483647 h 518"/>
              <a:gd name="T28" fmla="*/ 2147483647 w 615"/>
              <a:gd name="T29" fmla="*/ 2147483647 h 51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15" h="518">
                <a:moveTo>
                  <a:pt x="607" y="262"/>
                </a:moveTo>
                <a:cubicBezTo>
                  <a:pt x="602" y="235"/>
                  <a:pt x="598" y="194"/>
                  <a:pt x="575" y="174"/>
                </a:cubicBezTo>
                <a:cubicBezTo>
                  <a:pt x="561" y="161"/>
                  <a:pt x="527" y="142"/>
                  <a:pt x="527" y="142"/>
                </a:cubicBezTo>
                <a:cubicBezTo>
                  <a:pt x="505" y="110"/>
                  <a:pt x="485" y="71"/>
                  <a:pt x="447" y="54"/>
                </a:cubicBezTo>
                <a:cubicBezTo>
                  <a:pt x="361" y="16"/>
                  <a:pt x="429" y="58"/>
                  <a:pt x="375" y="22"/>
                </a:cubicBezTo>
                <a:cubicBezTo>
                  <a:pt x="314" y="25"/>
                  <a:pt x="239" y="0"/>
                  <a:pt x="191" y="38"/>
                </a:cubicBezTo>
                <a:cubicBezTo>
                  <a:pt x="117" y="97"/>
                  <a:pt x="225" y="28"/>
                  <a:pt x="167" y="86"/>
                </a:cubicBezTo>
                <a:cubicBezTo>
                  <a:pt x="153" y="100"/>
                  <a:pt x="119" y="118"/>
                  <a:pt x="119" y="118"/>
                </a:cubicBezTo>
                <a:cubicBezTo>
                  <a:pt x="96" y="152"/>
                  <a:pt x="69" y="165"/>
                  <a:pt x="55" y="206"/>
                </a:cubicBezTo>
                <a:cubicBezTo>
                  <a:pt x="59" y="355"/>
                  <a:pt x="0" y="489"/>
                  <a:pt x="143" y="518"/>
                </a:cubicBezTo>
                <a:cubicBezTo>
                  <a:pt x="270" y="513"/>
                  <a:pt x="384" y="518"/>
                  <a:pt x="503" y="478"/>
                </a:cubicBezTo>
                <a:cubicBezTo>
                  <a:pt x="543" y="418"/>
                  <a:pt x="484" y="493"/>
                  <a:pt x="567" y="446"/>
                </a:cubicBezTo>
                <a:cubicBezTo>
                  <a:pt x="573" y="443"/>
                  <a:pt x="585" y="378"/>
                  <a:pt x="591" y="366"/>
                </a:cubicBezTo>
                <a:cubicBezTo>
                  <a:pt x="595" y="357"/>
                  <a:pt x="603" y="351"/>
                  <a:pt x="607" y="342"/>
                </a:cubicBezTo>
                <a:cubicBezTo>
                  <a:pt x="611" y="334"/>
                  <a:pt x="615" y="318"/>
                  <a:pt x="615" y="31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Freeform 32">
            <a:extLst>
              <a:ext uri="{FF2B5EF4-FFF2-40B4-BE49-F238E27FC236}">
                <a16:creationId xmlns:a16="http://schemas.microsoft.com/office/drawing/2014/main" id="{B83692C3-C5B4-0FB2-5AAF-245607A29A0C}"/>
              </a:ext>
            </a:extLst>
          </p:cNvPr>
          <p:cNvSpPr>
            <a:spLocks/>
          </p:cNvSpPr>
          <p:nvPr/>
        </p:nvSpPr>
        <p:spPr bwMode="auto">
          <a:xfrm>
            <a:off x="4635500" y="4203700"/>
            <a:ext cx="835025" cy="647700"/>
          </a:xfrm>
          <a:custGeom>
            <a:avLst/>
            <a:gdLst>
              <a:gd name="T0" fmla="*/ 2147483647 w 526"/>
              <a:gd name="T1" fmla="*/ 2147483647 h 408"/>
              <a:gd name="T2" fmla="*/ 2147483647 w 526"/>
              <a:gd name="T3" fmla="*/ 2147483647 h 408"/>
              <a:gd name="T4" fmla="*/ 2147483647 w 526"/>
              <a:gd name="T5" fmla="*/ 2147483647 h 408"/>
              <a:gd name="T6" fmla="*/ 2147483647 w 526"/>
              <a:gd name="T7" fmla="*/ 2147483647 h 408"/>
              <a:gd name="T8" fmla="*/ 2147483647 w 526"/>
              <a:gd name="T9" fmla="*/ 0 h 408"/>
              <a:gd name="T10" fmla="*/ 2147483647 w 526"/>
              <a:gd name="T11" fmla="*/ 2147483647 h 408"/>
              <a:gd name="T12" fmla="*/ 2147483647 w 526"/>
              <a:gd name="T13" fmla="*/ 2147483647 h 408"/>
              <a:gd name="T14" fmla="*/ 2147483647 w 526"/>
              <a:gd name="T15" fmla="*/ 2147483647 h 408"/>
              <a:gd name="T16" fmla="*/ 2147483647 w 526"/>
              <a:gd name="T17" fmla="*/ 2147483647 h 408"/>
              <a:gd name="T18" fmla="*/ 2147483647 w 526"/>
              <a:gd name="T19" fmla="*/ 2147483647 h 408"/>
              <a:gd name="T20" fmla="*/ 2147483647 w 526"/>
              <a:gd name="T21" fmla="*/ 2147483647 h 40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26" h="408">
                <a:moveTo>
                  <a:pt x="232" y="408"/>
                </a:moveTo>
                <a:cubicBezTo>
                  <a:pt x="208" y="400"/>
                  <a:pt x="184" y="392"/>
                  <a:pt x="160" y="384"/>
                </a:cubicBezTo>
                <a:cubicBezTo>
                  <a:pt x="152" y="381"/>
                  <a:pt x="136" y="376"/>
                  <a:pt x="136" y="376"/>
                </a:cubicBezTo>
                <a:cubicBezTo>
                  <a:pt x="109" y="336"/>
                  <a:pt x="96" y="314"/>
                  <a:pt x="56" y="288"/>
                </a:cubicBezTo>
                <a:cubicBezTo>
                  <a:pt x="0" y="204"/>
                  <a:pt x="50" y="34"/>
                  <a:pt x="152" y="0"/>
                </a:cubicBezTo>
                <a:cubicBezTo>
                  <a:pt x="227" y="3"/>
                  <a:pt x="302" y="1"/>
                  <a:pt x="376" y="8"/>
                </a:cubicBezTo>
                <a:cubicBezTo>
                  <a:pt x="393" y="10"/>
                  <a:pt x="412" y="41"/>
                  <a:pt x="424" y="48"/>
                </a:cubicBezTo>
                <a:cubicBezTo>
                  <a:pt x="439" y="56"/>
                  <a:pt x="472" y="64"/>
                  <a:pt x="472" y="64"/>
                </a:cubicBezTo>
                <a:cubicBezTo>
                  <a:pt x="499" y="144"/>
                  <a:pt x="526" y="272"/>
                  <a:pt x="456" y="328"/>
                </a:cubicBezTo>
                <a:cubicBezTo>
                  <a:pt x="442" y="339"/>
                  <a:pt x="423" y="342"/>
                  <a:pt x="408" y="352"/>
                </a:cubicBezTo>
                <a:cubicBezTo>
                  <a:pt x="390" y="406"/>
                  <a:pt x="361" y="392"/>
                  <a:pt x="304" y="39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Line 33">
            <a:extLst>
              <a:ext uri="{FF2B5EF4-FFF2-40B4-BE49-F238E27FC236}">
                <a16:creationId xmlns:a16="http://schemas.microsoft.com/office/drawing/2014/main" id="{5AFA927F-5D8A-2200-968B-757C976023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4338" y="4881563"/>
            <a:ext cx="792162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Line 36">
            <a:extLst>
              <a:ext uri="{FF2B5EF4-FFF2-40B4-BE49-F238E27FC236}">
                <a16:creationId xmlns:a16="http://schemas.microsoft.com/office/drawing/2014/main" id="{D6E04372-9822-7970-957F-A5C6F2BA26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432425"/>
            <a:ext cx="720725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Text Box 37">
            <a:extLst>
              <a:ext uri="{FF2B5EF4-FFF2-40B4-BE49-F238E27FC236}">
                <a16:creationId xmlns:a16="http://schemas.microsoft.com/office/drawing/2014/main" id="{A75228E9-7E86-884F-F6F0-11DDD5952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725" y="5108575"/>
            <a:ext cx="322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2</a:t>
            </a:r>
          </a:p>
        </p:txBody>
      </p:sp>
      <p:sp>
        <p:nvSpPr>
          <p:cNvPr id="27663" name="Text Box 38">
            <a:extLst>
              <a:ext uri="{FF2B5EF4-FFF2-40B4-BE49-F238E27FC236}">
                <a16:creationId xmlns:a16="http://schemas.microsoft.com/office/drawing/2014/main" id="{D0D83DC8-0AF1-6A4C-58DC-99BC8AF39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5764213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4</a:t>
            </a:r>
          </a:p>
        </p:txBody>
      </p:sp>
      <p:sp>
        <p:nvSpPr>
          <p:cNvPr id="27664" name="Text Box 39">
            <a:extLst>
              <a:ext uri="{FF2B5EF4-FFF2-40B4-BE49-F238E27FC236}">
                <a16:creationId xmlns:a16="http://schemas.microsoft.com/office/drawing/2014/main" id="{334DA67D-E747-1FE9-E467-80D3DA7F5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288" y="5299075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3</a:t>
            </a:r>
          </a:p>
        </p:txBody>
      </p:sp>
      <p:sp>
        <p:nvSpPr>
          <p:cNvPr id="27665" name="Text Box 40">
            <a:extLst>
              <a:ext uri="{FF2B5EF4-FFF2-40B4-BE49-F238E27FC236}">
                <a16:creationId xmlns:a16="http://schemas.microsoft.com/office/drawing/2014/main" id="{B687D0D6-CD01-C969-CCE2-46AD06A74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338" y="4845050"/>
            <a:ext cx="322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/>
              <a:t>1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7D2DBA9-1316-9AC3-FE80-15889FE660D3}"/>
              </a:ext>
            </a:extLst>
          </p:cNvPr>
          <p:cNvCxnSpPr/>
          <p:nvPr/>
        </p:nvCxnSpPr>
        <p:spPr>
          <a:xfrm flipH="1" flipV="1">
            <a:off x="5089525" y="4919663"/>
            <a:ext cx="96838" cy="97155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0C7EAB0-4BB1-FBAA-A843-870AF4E379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87050" y="126876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3.4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4BE9813-6772-98E5-DB00-30D08A68C3F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1056CB6-C9EC-4FB2-C7F1-C5B46B127C0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E8B83940-0662-247C-4F2B-432237BA6F9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C651E717-9917-5551-9CE4-AFFCD978C0B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C9E0EA9B-3431-E036-5F85-CCF737A81B3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D7184766-D5A6-43F5-C6CF-F8CC0BED9A0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D47E7D2D-A929-D31E-A8FB-F9129CFD26F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2864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2809</TotalTime>
  <Words>1715</Words>
  <Application>Microsoft Office PowerPoint</Application>
  <PresentationFormat>全屏显示(4:3)</PresentationFormat>
  <Paragraphs>198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宋体</vt:lpstr>
      <vt:lpstr>Microsoft Yahei</vt:lpstr>
      <vt:lpstr>Arial</vt:lpstr>
      <vt:lpstr>Tahoma</vt:lpstr>
      <vt:lpstr>Times New Roman</vt:lpstr>
      <vt:lpstr>Wingdings</vt:lpstr>
      <vt:lpstr>Blends</vt:lpstr>
      <vt:lpstr>1_Blends</vt:lpstr>
      <vt:lpstr>2_Blends</vt:lpstr>
      <vt:lpstr>Equation</vt:lpstr>
      <vt:lpstr>3.4 关系及其表示 </vt:lpstr>
      <vt:lpstr>3.4 关系及其表示 </vt:lpstr>
      <vt:lpstr>3.4.1 关系的概念</vt:lpstr>
      <vt:lpstr>3.4.1 关系的概念</vt:lpstr>
      <vt:lpstr>3.4.2 关系的前域和值域</vt:lpstr>
      <vt:lpstr>3.4.2 关系的前域和值域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3.4.3 集合A到B的关系</vt:lpstr>
      <vt:lpstr>3.4.4 关系矩阵</vt:lpstr>
      <vt:lpstr>3.4.4 关系矩阵</vt:lpstr>
      <vt:lpstr>3.4.5 关系图</vt:lpstr>
      <vt:lpstr>3.4.5 关系图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68</cp:revision>
  <dcterms:created xsi:type="dcterms:W3CDTF">2010-04-09T13:44:14Z</dcterms:created>
  <dcterms:modified xsi:type="dcterms:W3CDTF">2023-12-21T07:44:50Z</dcterms:modified>
</cp:coreProperties>
</file>