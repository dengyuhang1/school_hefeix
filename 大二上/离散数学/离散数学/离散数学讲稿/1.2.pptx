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70" r:id="rId2"/>
    <p:sldId id="271" r:id="rId3"/>
    <p:sldId id="272" r:id="rId4"/>
    <p:sldId id="343" r:id="rId5"/>
    <p:sldId id="273" r:id="rId6"/>
    <p:sldId id="327" r:id="rId7"/>
    <p:sldId id="344" r:id="rId8"/>
    <p:sldId id="275" r:id="rId9"/>
    <p:sldId id="284" r:id="rId10"/>
    <p:sldId id="341" r:id="rId11"/>
    <p:sldId id="276" r:id="rId12"/>
    <p:sldId id="328" r:id="rId13"/>
    <p:sldId id="278" r:id="rId14"/>
    <p:sldId id="335" r:id="rId15"/>
    <p:sldId id="333" r:id="rId16"/>
    <p:sldId id="330" r:id="rId17"/>
    <p:sldId id="332" r:id="rId18"/>
    <p:sldId id="345" r:id="rId1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99"/>
    <a:srgbClr val="FF00FF"/>
    <a:srgbClr val="0066FF"/>
    <a:srgbClr val="FF0066"/>
    <a:srgbClr val="CC0066"/>
    <a:srgbClr val="008080"/>
    <a:srgbClr val="339933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94683" autoAdjust="0"/>
  </p:normalViewPr>
  <p:slideViewPr>
    <p:cSldViewPr>
      <p:cViewPr varScale="1">
        <p:scale>
          <a:sx n="66" d="100"/>
          <a:sy n="66" d="100"/>
        </p:scale>
        <p:origin x="63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012FFE9-F647-E9A6-CD99-3B41CB7DBAB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8CC8E242-2300-6DD2-5C42-6423240CDD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9E1362CC-B56A-6577-8081-754338C68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B1240651-D07C-E7E5-BBF2-075C15CE96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F88B4251-93F5-136F-1C4C-54384F7D67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86590EF-7878-0B5A-1403-5E623CE3A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C1A121A-8E3B-0687-DC6A-882948A84F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85000"/>
                  </a:lnSpc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None/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735D3429-74A0-1E4A-4FBB-784FCF21A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9C51E750-175A-7E10-D87A-34EE8459E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C2C7A59A-878D-8DF6-D3E3-7CF8519BAFBB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3DBB92CC-2951-E6DF-FBA2-7A7A77C4A9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ADBDB45F-D764-C593-3B4F-17D607E613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42FA9A1D-EABA-B13D-9EBF-83F0CE1801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9260CA9-504E-46F6-9119-5F66DD247A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0761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6832F18-6890-BD8D-897E-21A58F52F8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E938DF3-7200-D55B-0A28-45CA5003F6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CA020EDE-F411-C06E-2181-D4F22AED84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BCCEC-49B1-4BB6-AD30-DE745B307C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828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A556E68-3C1D-FB2F-BB7D-44C86AADAB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19EAF26-98CE-2CA1-4312-347F41CFE1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6E508168-2886-DE2B-5D55-A407EB76F5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2FA894-9DE5-4A38-AAEB-3DD3326431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258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55AEEDC-2D5F-12DA-C954-E0FD6DDD88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0592744-589C-ECE3-0033-B4C4073AE7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3346407-ACD6-B319-D607-EBED8EB669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7548E-FD5E-4E5D-A9B0-AF4EE424DE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2049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9AAED990-209D-A30E-7F6B-11E50C6FE2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0928D3E8-826A-322D-C9DF-8F88D5D94C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F946683A-7776-A3C9-01CC-0369CF5915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98EB6-7085-46F8-A2DA-B78E57FB95C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132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2AE9BB1-584C-6FEB-A7EF-0891C3294A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049D13A8-40E1-5C4B-0B67-639B9BD26C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1F31819-3638-5AC6-770B-5C86963B8D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17F0E3-A526-4F0B-A587-3892254D003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4256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8F0054E9-D17D-9A33-9668-8BB8DE4816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C45A9CBE-6C7B-CF91-0721-D075D1E3AB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57922031-25AA-6F69-1B49-C2E86D97BD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324B0-4F3D-4665-803E-18BC7320A43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5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D783F53-F2EC-A221-9DFA-FD9D43ECFD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7AC6D9A-B015-AC81-DA63-1462BAE771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6A3C43B-B483-7576-BA29-0062B79EEA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C752BE-8278-4ACB-BE27-63E4FAD9A5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6097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E366F71-1BCC-3C82-2318-9D21208CD3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D74EA1B-561A-75F2-CB94-1288A7C823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894C3EAB-ED6D-2864-2422-D4A23D8444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E44988-365F-4148-AE04-E568D052F4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049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5177C3B5-4664-1F06-0B65-D4D2BF1204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D2CAE97-2D3D-C831-A83D-B58D5D4C12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771205E-9DB8-EB00-1C80-ECEAA31A16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848D90-E0EE-4024-9C41-6D9901CD9D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09466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56D4F6A-CBC7-A547-27E3-EF833273CD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B2F738D-0F8C-5508-8926-A810589E15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D70AC28-D394-14AA-57FF-C7E091B015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867C87-A630-4DF5-80F7-1FB48D3A88A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93162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A26148C2-8437-5D76-9AD9-2453158F52E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6E1931F-6BAB-E3B4-04C0-D6417A00A0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C8E8FA0-4A82-AA2B-9496-F9D947E0BF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D0DE5-7F66-43B2-85C4-257D605786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99503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D6098D1-4AD6-1F9C-2EFE-B3BC9666AB0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2F3D206-6D35-0064-5BCB-BD04521C4B9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B93283F-E9B2-6528-3C62-7C06F6158AD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A378938-7122-BF62-9F83-F74CF0C2689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AE51B45-FD7A-C4CA-EF1B-C6D1AC41C33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0B002C92-4887-1277-4B36-E49178EED209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005A850C-1F3D-5D00-A770-BE68E6E032D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393CB468-AED3-F82F-9C33-7DD2B5DD0F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70F9279D-55A6-16E1-BFEB-44E7FC6CE6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0F538829-1EC0-1428-214E-E254D86A21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27907669-22C0-0A10-C585-7C2B760EEBB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455D2561-F9CA-9FB5-4725-97B893BB93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pPr>
              <a:defRPr/>
            </a:pPr>
            <a:fld id="{AFB0CE64-66F3-4BAC-9BBC-458D950EAC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.png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3" Type="http://schemas.openxmlformats.org/officeDocument/2006/relationships/tags" Target="../tags/tag18.xml"/><Relationship Id="rId7" Type="http://schemas.openxmlformats.org/officeDocument/2006/relationships/tags" Target="../tags/tag2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image" Target="../media/image1.png"/><Relationship Id="rId5" Type="http://schemas.openxmlformats.org/officeDocument/2006/relationships/tags" Target="../tags/tag20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19.xml"/><Relationship Id="rId9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1.png"/><Relationship Id="rId5" Type="http://schemas.openxmlformats.org/officeDocument/2006/relationships/tags" Target="../tags/tag29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8.xml"/><Relationship Id="rId9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F998017-91DD-6745-EAE8-B0FE0F4E9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1.2   </a:t>
            </a:r>
            <a:r>
              <a:rPr lang="zh-CN" altLang="en-US"/>
              <a:t>命题联结词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EE48A7F8-1D64-4F6A-9120-5D96952F41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2017713"/>
            <a:ext cx="8199438" cy="4651375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800"/>
              <a:t>    </a:t>
            </a:r>
            <a:r>
              <a:rPr lang="en-US" altLang="zh-CN" sz="3600"/>
              <a:t>1.2.1 </a:t>
            </a:r>
            <a:r>
              <a:rPr lang="zh-CN" altLang="en-US" sz="3600" b="1"/>
              <a:t>否定</a:t>
            </a:r>
            <a:endParaRPr lang="zh-CN" altLang="en-US" sz="36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</a:t>
            </a:r>
            <a:r>
              <a:rPr lang="en-US" altLang="zh-CN" sz="3600"/>
              <a:t>1.2.2 </a:t>
            </a:r>
            <a:r>
              <a:rPr lang="zh-CN" altLang="en-US" sz="3600" b="1"/>
              <a:t>合取</a:t>
            </a:r>
            <a:endParaRPr lang="zh-CN" altLang="en-US" sz="36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</a:t>
            </a:r>
            <a:r>
              <a:rPr lang="en-US" altLang="zh-CN" sz="3600"/>
              <a:t>1.2.3 </a:t>
            </a:r>
            <a:r>
              <a:rPr lang="zh-CN" altLang="en-US" sz="3600" b="1"/>
              <a:t>析取</a:t>
            </a:r>
            <a:endParaRPr lang="zh-CN" altLang="en-US" sz="36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</a:t>
            </a:r>
            <a:r>
              <a:rPr lang="en-US" altLang="zh-CN" sz="3600"/>
              <a:t>1.2.4 </a:t>
            </a:r>
            <a:r>
              <a:rPr lang="zh-CN" altLang="en-US" sz="3600" b="1"/>
              <a:t>条件</a:t>
            </a:r>
            <a:endParaRPr lang="zh-CN" altLang="en-US" sz="36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</a:t>
            </a:r>
            <a:r>
              <a:rPr lang="en-US" altLang="zh-CN" sz="3600"/>
              <a:t>1.2.5 </a:t>
            </a:r>
            <a:r>
              <a:rPr lang="zh-CN" altLang="en-US" sz="3600" b="1"/>
              <a:t>双条件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600"/>
              <a:t>   </a:t>
            </a:r>
            <a:r>
              <a:rPr lang="en-US" altLang="zh-CN" sz="3600"/>
              <a:t>1.2.6 </a:t>
            </a:r>
            <a:r>
              <a:rPr lang="zh-CN" altLang="en-US" sz="3600" b="1"/>
              <a:t>混合运算</a:t>
            </a:r>
            <a:endParaRPr lang="zh-CN" altLang="en-US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4D0AAE2-AD74-84E8-7FFD-D1CCB898EC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1.2.1   </a:t>
            </a:r>
            <a:r>
              <a:rPr lang="zh-CN" altLang="en-US" b="1"/>
              <a:t>否定联结词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47FF9DA-65A0-DA6F-BA13-B66A2F7568D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84213" y="2017713"/>
            <a:ext cx="8208962" cy="4506912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D60093"/>
                </a:solidFill>
              </a:rPr>
              <a:t> </a:t>
            </a:r>
            <a:r>
              <a:rPr lang="zh-CN" altLang="en-US" b="1">
                <a:solidFill>
                  <a:schemeClr val="hlink"/>
                </a:solidFill>
              </a:rPr>
              <a:t>否定联结词</a:t>
            </a:r>
            <a:r>
              <a:rPr lang="en-US" altLang="zh-CN">
                <a:solidFill>
                  <a:schemeClr val="hlink"/>
                </a:solidFill>
              </a:rPr>
              <a:t>(negative connective)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</a:t>
            </a:r>
            <a:r>
              <a:rPr lang="en-US" altLang="zh-CN">
                <a:latin typeface="Arial" panose="020B0604020202020204" pitchFamily="34" charset="0"/>
              </a:rPr>
              <a:t>“</a:t>
            </a:r>
            <a:r>
              <a:rPr lang="en-US" altLang="zh-CN"/>
              <a:t>┐</a:t>
            </a:r>
            <a:r>
              <a:rPr lang="en-US" altLang="zh-CN">
                <a:latin typeface="Arial" panose="020B0604020202020204" pitchFamily="34" charset="0"/>
              </a:rPr>
              <a:t>”</a:t>
            </a:r>
            <a:r>
              <a:rPr lang="en-US" altLang="zh-CN"/>
              <a:t>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</a:t>
            </a:r>
            <a:r>
              <a:rPr lang="zh-CN" altLang="en-US" b="1"/>
              <a:t>似汉语联结词</a:t>
            </a:r>
            <a:r>
              <a:rPr lang="zh-CN" altLang="en-US" b="1">
                <a:latin typeface="Arial" panose="020B0604020202020204" pitchFamily="34" charset="0"/>
              </a:rPr>
              <a:t>“</a:t>
            </a:r>
            <a:r>
              <a:rPr lang="zh-CN" altLang="en-US" b="1"/>
              <a:t>非、否、不</a:t>
            </a:r>
            <a:r>
              <a:rPr lang="zh-CN" altLang="en-US" b="1">
                <a:latin typeface="Arial" panose="020B0604020202020204" pitchFamily="34" charset="0"/>
              </a:rPr>
              <a:t>”</a:t>
            </a:r>
            <a:r>
              <a:rPr lang="zh-CN" altLang="en-US" sz="2800"/>
              <a:t> </a:t>
            </a:r>
          </a:p>
          <a:p>
            <a:pPr eaLnBrk="1" hangingPunct="1"/>
            <a:endParaRPr lang="en-US" altLang="zh-CN" sz="2800"/>
          </a:p>
        </p:txBody>
      </p:sp>
      <p:graphicFrame>
        <p:nvGraphicFramePr>
          <p:cNvPr id="63598" name="Group 110">
            <a:extLst>
              <a:ext uri="{FF2B5EF4-FFF2-40B4-BE49-F238E27FC236}">
                <a16:creationId xmlns:a16="http://schemas.microsoft.com/office/drawing/2014/main" id="{207BC81A-1B54-4A2A-691E-6F3F36436CB9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16013" y="4294188"/>
          <a:ext cx="5616575" cy="1655762"/>
        </p:xfrm>
        <a:graphic>
          <a:graphicData uri="http://schemas.openxmlformats.org/drawingml/2006/table">
            <a:tbl>
              <a:tblPr/>
              <a:tblGrid>
                <a:gridCol w="280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13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P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┐P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3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0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112" name="AutoShape 109">
            <a:extLst>
              <a:ext uri="{FF2B5EF4-FFF2-40B4-BE49-F238E27FC236}">
                <a16:creationId xmlns:a16="http://schemas.microsoft.com/office/drawing/2014/main" id="{31F4E09E-B6C5-84AA-ED51-FBDD55CF4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3538538"/>
            <a:ext cx="1512887" cy="538162"/>
          </a:xfrm>
          <a:prstGeom prst="wedgeRoundRectCallout">
            <a:avLst>
              <a:gd name="adj1" fmla="val -113903"/>
              <a:gd name="adj2" fmla="val 136431"/>
              <a:gd name="adj3" fmla="val 16667"/>
            </a:avLst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CC0066"/>
                </a:solidFill>
              </a:rPr>
              <a:t>读</a:t>
            </a:r>
            <a:r>
              <a:rPr lang="zh-CN" altLang="en-US" sz="2400" b="1">
                <a:solidFill>
                  <a:srgbClr val="CC0066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2400" b="1">
                <a:solidFill>
                  <a:srgbClr val="CC0066"/>
                </a:solidFill>
              </a:rPr>
              <a:t>非</a:t>
            </a:r>
            <a:r>
              <a:rPr lang="en-US" altLang="zh-CN" sz="2400" b="1">
                <a:solidFill>
                  <a:srgbClr val="CC0066"/>
                </a:solidFill>
              </a:rPr>
              <a:t>P</a:t>
            </a:r>
            <a:r>
              <a:rPr lang="en-US" altLang="zh-CN" sz="2400" b="1">
                <a:solidFill>
                  <a:srgbClr val="CC0066"/>
                </a:solidFill>
                <a:latin typeface="Arial" panose="020B0604020202020204" pitchFamily="34" charset="0"/>
              </a:rPr>
              <a:t>”</a:t>
            </a:r>
            <a:endParaRPr lang="en-US" altLang="zh-CN" sz="2400" b="1">
              <a:solidFill>
                <a:srgbClr val="CC00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9D3866C-50D3-B3EE-610A-1094C2979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  1.2.1   </a:t>
            </a:r>
            <a:r>
              <a:rPr lang="zh-CN" altLang="en-US" b="1"/>
              <a:t>否定联结词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514967A-6288-2FE7-DDED-0D51D8E4BF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8343900" cy="5084763"/>
          </a:xfrm>
        </p:spPr>
        <p:txBody>
          <a:bodyPr/>
          <a:lstStyle/>
          <a:p>
            <a:pPr eaLnBrk="1" hangingPunct="1">
              <a:lnSpc>
                <a:spcPts val="49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1.2.0</a:t>
            </a:r>
            <a:r>
              <a:rPr lang="en-US" altLang="zh-CN" dirty="0"/>
              <a:t> </a:t>
            </a:r>
            <a:endParaRPr lang="zh-CN" altLang="en-US" b="1" dirty="0"/>
          </a:p>
          <a:p>
            <a:pPr eaLnBrk="1" hangingPunct="1">
              <a:lnSpc>
                <a:spcPts val="49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   </a:t>
            </a:r>
            <a:r>
              <a:rPr lang="en-US" altLang="zh-CN" dirty="0"/>
              <a:t>P:</a:t>
            </a:r>
            <a:r>
              <a:rPr lang="zh-CN" altLang="en-US" b="1" dirty="0"/>
              <a:t>上海是中国的最大城市。</a:t>
            </a:r>
          </a:p>
          <a:p>
            <a:pPr eaLnBrk="1" hangingPunct="1">
              <a:lnSpc>
                <a:spcPts val="4900"/>
              </a:lnSpc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rgbClr val="FF00FF"/>
                </a:solidFill>
              </a:rPr>
              <a:t>┐</a:t>
            </a:r>
            <a:r>
              <a:rPr lang="en-US" altLang="zh-CN" dirty="0">
                <a:solidFill>
                  <a:srgbClr val="FF00FF"/>
                </a:solidFill>
              </a:rPr>
              <a:t>P</a:t>
            </a:r>
            <a:r>
              <a:rPr lang="en-US" altLang="zh-CN" dirty="0"/>
              <a:t>:</a:t>
            </a:r>
            <a:r>
              <a:rPr lang="zh-CN" altLang="en-US" b="1" dirty="0"/>
              <a:t>上海</a:t>
            </a:r>
            <a:r>
              <a:rPr lang="zh-CN" altLang="en-US" b="1" dirty="0">
                <a:solidFill>
                  <a:srgbClr val="00B050"/>
                </a:solidFill>
              </a:rPr>
              <a:t>不</a:t>
            </a:r>
            <a:r>
              <a:rPr lang="zh-CN" altLang="en-US" b="1" dirty="0"/>
              <a:t>是中国的最大城市。</a:t>
            </a:r>
            <a:endParaRPr lang="en-US" altLang="zh-CN" b="1" dirty="0"/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A:</a:t>
            </a:r>
            <a:r>
              <a:rPr lang="zh-CN" altLang="en-US" b="1" dirty="0">
                <a:solidFill>
                  <a:srgbClr val="000000"/>
                </a:solidFill>
              </a:rPr>
              <a:t>今天是星期三。</a:t>
            </a:r>
            <a:endParaRPr lang="zh-CN" altLang="en-US" b="1" dirty="0"/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/>
              <a:t>    </a:t>
            </a:r>
            <a:r>
              <a:rPr lang="zh-CN" altLang="en-US" dirty="0">
                <a:solidFill>
                  <a:srgbClr val="FF00FF"/>
                </a:solidFill>
              </a:rPr>
              <a:t>┐</a:t>
            </a:r>
            <a:r>
              <a:rPr lang="en-US" altLang="zh-CN" dirty="0">
                <a:solidFill>
                  <a:srgbClr val="FF00FF"/>
                </a:solidFill>
              </a:rPr>
              <a:t>A</a:t>
            </a:r>
            <a:r>
              <a:rPr lang="en-US" altLang="zh-CN" dirty="0"/>
              <a:t>:</a:t>
            </a:r>
            <a:r>
              <a:rPr lang="zh-CN" altLang="en-US" b="1" dirty="0">
                <a:solidFill>
                  <a:srgbClr val="000000"/>
                </a:solidFill>
              </a:rPr>
              <a:t>今天</a:t>
            </a:r>
            <a:r>
              <a:rPr lang="zh-CN" altLang="en-US" b="1" dirty="0">
                <a:solidFill>
                  <a:srgbClr val="0066FF"/>
                </a:solidFill>
              </a:rPr>
              <a:t>不</a:t>
            </a:r>
            <a:r>
              <a:rPr lang="zh-CN" altLang="en-US" b="1" dirty="0">
                <a:solidFill>
                  <a:srgbClr val="000000"/>
                </a:solidFill>
              </a:rPr>
              <a:t>是星期三。</a:t>
            </a:r>
            <a:endParaRPr lang="en-US" altLang="zh-CN" b="1" dirty="0">
              <a:solidFill>
                <a:srgbClr val="000000"/>
              </a:solidFill>
            </a:endParaRP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   B:2</a:t>
            </a:r>
            <a:r>
              <a:rPr lang="zh-CN" altLang="zh-CN" kern="100" dirty="0">
                <a:latin typeface="Times New Roman"/>
                <a:cs typeface="Times New Roman"/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3</a:t>
            </a:r>
            <a:r>
              <a:rPr lang="zh-CN" altLang="zh-CN" kern="100" dirty="0">
                <a:latin typeface="Times New Roman"/>
                <a:cs typeface="Times New Roman"/>
              </a:rPr>
              <a:t>＞</a:t>
            </a:r>
            <a:r>
              <a:rPr lang="en-US" altLang="zh-CN" kern="100" dirty="0">
                <a:latin typeface="Times New Roman"/>
                <a:cs typeface="Times New Roman"/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。</a:t>
            </a:r>
            <a:endParaRPr lang="en-US" altLang="zh-CN" dirty="0">
              <a:solidFill>
                <a:srgbClr val="000000"/>
              </a:solidFill>
            </a:endParaRPr>
          </a:p>
          <a:p>
            <a:pPr eaLnBrk="1" hangingPunct="1">
              <a:lnSpc>
                <a:spcPts val="49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000000"/>
                </a:solidFill>
              </a:rPr>
              <a:t>    </a:t>
            </a:r>
            <a:r>
              <a:rPr lang="zh-CN" altLang="en-US" dirty="0">
                <a:solidFill>
                  <a:srgbClr val="FF00FF"/>
                </a:solidFill>
              </a:rPr>
              <a:t>┐</a:t>
            </a:r>
            <a:r>
              <a:rPr lang="en-US" altLang="zh-CN" dirty="0">
                <a:solidFill>
                  <a:srgbClr val="000000"/>
                </a:solidFill>
              </a:rPr>
              <a:t>B:2</a:t>
            </a:r>
            <a:r>
              <a:rPr lang="zh-CN" altLang="zh-CN" kern="100" dirty="0">
                <a:solidFill>
                  <a:srgbClr val="000000"/>
                </a:solidFill>
                <a:latin typeface="Times New Roman"/>
                <a:cs typeface="Times New Roman"/>
              </a:rPr>
              <a:t>＋</a:t>
            </a:r>
            <a:r>
              <a:rPr lang="en-US" altLang="zh-CN" dirty="0">
                <a:solidFill>
                  <a:srgbClr val="000000"/>
                </a:solidFill>
              </a:rPr>
              <a:t>3</a:t>
            </a:r>
            <a:r>
              <a:rPr lang="zh-CN" altLang="zh-CN" kern="100" dirty="0">
                <a:solidFill>
                  <a:srgbClr val="000000"/>
                </a:solidFill>
                <a:latin typeface="Times New Roman"/>
                <a:cs typeface="Times New Roman"/>
              </a:rPr>
              <a:t>≤ 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  <a:cs typeface="Times New Roman"/>
              </a:rPr>
              <a:t>1</a:t>
            </a:r>
            <a:r>
              <a:rPr lang="zh-CN" altLang="en-US" kern="100" dirty="0">
                <a:solidFill>
                  <a:srgbClr val="000000"/>
                </a:solidFill>
                <a:latin typeface="Times New Roman"/>
                <a:cs typeface="Times New Roman"/>
              </a:rPr>
              <a:t>。</a:t>
            </a:r>
            <a:endParaRPr lang="zh-CN" altLang="en-US" dirty="0">
              <a:solidFill>
                <a:srgbClr val="000000"/>
              </a:solidFill>
            </a:endParaRPr>
          </a:p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  <a:defRPr/>
            </a:pP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文本框 5">
            <a:extLst>
              <a:ext uri="{FF2B5EF4-FFF2-40B4-BE49-F238E27FC236}">
                <a16:creationId xmlns:a16="http://schemas.microsoft.com/office/drawing/2014/main" id="{43CC9EB4-3026-E8B2-7C63-45E7634F75BE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71550" y="1071563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65000"/>
              </a:lnSpc>
              <a:buFont typeface="Wingdings" panose="05000000000000000000" pitchFamily="2" charset="2"/>
              <a:buNone/>
            </a:pPr>
            <a:r>
              <a:rPr lang="en-US" altLang="zh-CN"/>
              <a:t>A:</a:t>
            </a:r>
            <a:r>
              <a:rPr lang="zh-CN" altLang="en-US" b="1"/>
              <a:t>我班学生都是男生。那么</a:t>
            </a:r>
            <a:r>
              <a:rPr lang="zh-CN" altLang="en-US">
                <a:solidFill>
                  <a:srgbClr val="FF00FF"/>
                </a:solidFill>
              </a:rPr>
              <a:t>┐</a:t>
            </a:r>
            <a:r>
              <a:rPr lang="en-US" altLang="zh-CN">
                <a:solidFill>
                  <a:srgbClr val="000000"/>
                </a:solidFill>
              </a:rPr>
              <a:t>A</a:t>
            </a:r>
            <a:r>
              <a:rPr lang="zh-CN" altLang="en-US">
                <a:solidFill>
                  <a:srgbClr val="000000"/>
                </a:solidFill>
              </a:rPr>
              <a:t>为</a:t>
            </a:r>
            <a:r>
              <a:rPr lang="en-US" altLang="zh-CN">
                <a:solidFill>
                  <a:srgbClr val="000000"/>
                </a:solidFill>
              </a:rPr>
              <a:t>:</a:t>
            </a:r>
            <a:endParaRPr lang="en-US" altLang="zh-CN" b="1"/>
          </a:p>
        </p:txBody>
      </p:sp>
      <p:sp>
        <p:nvSpPr>
          <p:cNvPr id="6147" name="文本框 6">
            <a:extLst>
              <a:ext uri="{FF2B5EF4-FFF2-40B4-BE49-F238E27FC236}">
                <a16:creationId xmlns:a16="http://schemas.microsoft.com/office/drawing/2014/main" id="{20E133C7-9DB3-ECD4-1C73-47825896F44E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我班学生不都是男生。</a:t>
            </a:r>
          </a:p>
        </p:txBody>
      </p:sp>
      <p:sp>
        <p:nvSpPr>
          <p:cNvPr id="6148" name="文本框 7">
            <a:extLst>
              <a:ext uri="{FF2B5EF4-FFF2-40B4-BE49-F238E27FC236}">
                <a16:creationId xmlns:a16="http://schemas.microsoft.com/office/drawing/2014/main" id="{95BE8A96-DFE1-27B1-B16D-A7C9DE0D2DD1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我班学生都不是男生。</a:t>
            </a:r>
          </a:p>
        </p:txBody>
      </p:sp>
      <p:sp>
        <p:nvSpPr>
          <p:cNvPr id="6149" name="文本框 8">
            <a:extLst>
              <a:ext uri="{FF2B5EF4-FFF2-40B4-BE49-F238E27FC236}">
                <a16:creationId xmlns:a16="http://schemas.microsoft.com/office/drawing/2014/main" id="{83CB165F-A766-BBA2-B59E-9FC396F936CF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我班学生都是男生，不是这样的。</a:t>
            </a:r>
          </a:p>
        </p:txBody>
      </p:sp>
      <p:sp>
        <p:nvSpPr>
          <p:cNvPr id="6150" name="矩形 10">
            <a:extLst>
              <a:ext uri="{FF2B5EF4-FFF2-40B4-BE49-F238E27FC236}">
                <a16:creationId xmlns:a16="http://schemas.microsoft.com/office/drawing/2014/main" id="{33FBB1D2-CD8E-0AB2-A002-EAD7696628DA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849563"/>
            <a:ext cx="514350" cy="514350"/>
          </a:xfrm>
          <a:prstGeom prst="rect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51" name="矩形 11">
            <a:extLst>
              <a:ext uri="{FF2B5EF4-FFF2-40B4-BE49-F238E27FC236}">
                <a16:creationId xmlns:a16="http://schemas.microsoft.com/office/drawing/2014/main" id="{8B110CFE-EE01-EB38-C2E9-44572412300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706813"/>
            <a:ext cx="514350" cy="514350"/>
          </a:xfrm>
          <a:prstGeom prst="rect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52" name="矩形 12">
            <a:extLst>
              <a:ext uri="{FF2B5EF4-FFF2-40B4-BE49-F238E27FC236}">
                <a16:creationId xmlns:a16="http://schemas.microsoft.com/office/drawing/2014/main" id="{0A075EFA-4517-CD52-65D6-E55EFA8F472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564063"/>
            <a:ext cx="514350" cy="514350"/>
          </a:xfrm>
          <a:prstGeom prst="rect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153" name="矩形: 圆角 14">
            <a:extLst>
              <a:ext uri="{FF2B5EF4-FFF2-40B4-BE49-F238E27FC236}">
                <a16:creationId xmlns:a16="http://schemas.microsoft.com/office/drawing/2014/main" id="{CB82573D-3BE4-F564-61B8-AE1EBDA46F7A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</a:p>
        </p:txBody>
      </p:sp>
      <p:grpSp>
        <p:nvGrpSpPr>
          <p:cNvPr id="6154" name="组合 19">
            <a:extLst>
              <a:ext uri="{FF2B5EF4-FFF2-40B4-BE49-F238E27FC236}">
                <a16:creationId xmlns:a16="http://schemas.microsoft.com/office/drawing/2014/main" id="{092A6C83-6864-1942-4ED4-5634DFEB8AED}"/>
              </a:ext>
            </a:extLst>
          </p:cNvPr>
          <p:cNvGrpSpPr>
            <a:grpSpLocks/>
          </p:cNvGrpSpPr>
          <p:nvPr>
            <p:custDataLst>
              <p:tags r:id="rId10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156" name="TitleBackground">
              <a:extLst>
                <a:ext uri="{FF2B5EF4-FFF2-40B4-BE49-F238E27FC236}">
                  <a16:creationId xmlns:a16="http://schemas.microsoft.com/office/drawing/2014/main" id="{6F90525E-6E50-C3AB-E654-803026FAA34B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1800"/>
            </a:p>
          </p:txBody>
        </p:sp>
        <p:sp>
          <p:nvSpPr>
            <p:cNvPr id="6157" name="ColorBlock">
              <a:extLst>
                <a:ext uri="{FF2B5EF4-FFF2-40B4-BE49-F238E27FC236}">
                  <a16:creationId xmlns:a16="http://schemas.microsoft.com/office/drawing/2014/main" id="{F2027307-F975-330D-9174-F96CA9EF75C8}"/>
                </a:ext>
              </a:extLst>
            </p:cNvPr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endParaRPr lang="zh-CN" altLang="en-US" sz="1800"/>
            </a:p>
          </p:txBody>
        </p:sp>
        <p:sp>
          <p:nvSpPr>
            <p:cNvPr id="6158" name="TypeText">
              <a:extLst>
                <a:ext uri="{FF2B5EF4-FFF2-40B4-BE49-F238E27FC236}">
                  <a16:creationId xmlns:a16="http://schemas.microsoft.com/office/drawing/2014/main" id="{9E398C25-B174-6921-321F-6E42BEF67F67}"/>
                </a:ext>
              </a:extLst>
            </p:cNvPr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</a:p>
          </p:txBody>
        </p:sp>
        <p:sp>
          <p:nvSpPr>
            <p:cNvPr id="6159" name="TipText">
              <a:extLst>
                <a:ext uri="{FF2B5EF4-FFF2-40B4-BE49-F238E27FC236}">
                  <a16:creationId xmlns:a16="http://schemas.microsoft.com/office/drawing/2014/main" id="{0C667A0C-2F12-0C7A-38FC-7B0F1F07E6C4}"/>
                </a:ext>
              </a:extLst>
            </p:cNvPr>
            <p:cNvSpPr txBox="1"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6155" name="图片 4">
            <a:extLst>
              <a:ext uri="{FF2B5EF4-FFF2-40B4-BE49-F238E27FC236}">
                <a16:creationId xmlns:a16="http://schemas.microsoft.com/office/drawing/2014/main" id="{F475DBC2-909A-1B3B-E887-B4C9D39144A9}"/>
              </a:ext>
            </a:extLst>
          </p:cNvPr>
          <p:cNvPicPr>
            <a:picLocks noChangeArrowheads="1"/>
          </p:cNvPicPr>
          <p:nvPr>
            <p:custDataLst>
              <p:tags r:id="rId11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610DC14-B49A-403D-4FCD-22C36C7EFF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1.2.2   </a:t>
            </a:r>
            <a:r>
              <a:rPr lang="zh-CN" altLang="en-US" b="1"/>
              <a:t>合取联结词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91380EB-D020-C969-9616-1D66878183B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353425" cy="4840287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D60093"/>
                </a:solidFill>
              </a:rPr>
              <a:t> </a:t>
            </a:r>
            <a:r>
              <a:rPr lang="zh-CN" altLang="en-US" b="1">
                <a:solidFill>
                  <a:schemeClr val="hlink"/>
                </a:solidFill>
              </a:rPr>
              <a:t>合取联结词</a:t>
            </a:r>
            <a:r>
              <a:rPr lang="en-US" altLang="zh-CN">
                <a:solidFill>
                  <a:schemeClr val="hlink"/>
                </a:solidFill>
              </a:rPr>
              <a:t>(conjunctive connective)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en-US" altLang="zh-CN">
                <a:latin typeface="Arial" panose="020B0604020202020204" pitchFamily="34" charset="0"/>
              </a:rPr>
              <a:t>“</a:t>
            </a:r>
            <a:r>
              <a:rPr lang="en-US" altLang="zh-CN"/>
              <a:t>∧</a:t>
            </a:r>
            <a:r>
              <a:rPr lang="en-US" altLang="zh-CN">
                <a:latin typeface="Arial" panose="020B0604020202020204" pitchFamily="34" charset="0"/>
              </a:rPr>
              <a:t>”</a:t>
            </a:r>
            <a:endParaRPr lang="en-US" altLang="zh-CN"/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 b="1"/>
              <a:t>似汉语联结词</a:t>
            </a:r>
            <a:r>
              <a:rPr lang="zh-CN" altLang="en-US" b="1">
                <a:latin typeface="Arial" panose="020B0604020202020204" pitchFamily="34" charset="0"/>
              </a:rPr>
              <a:t>“</a:t>
            </a:r>
            <a:r>
              <a:rPr lang="zh-CN" altLang="en-US" b="1"/>
              <a:t>与、和、且”</a:t>
            </a:r>
            <a:endParaRPr lang="zh-CN" altLang="en-US" sz="2800"/>
          </a:p>
        </p:txBody>
      </p:sp>
      <p:graphicFrame>
        <p:nvGraphicFramePr>
          <p:cNvPr id="65605" name="Group 69">
            <a:extLst>
              <a:ext uri="{FF2B5EF4-FFF2-40B4-BE49-F238E27FC236}">
                <a16:creationId xmlns:a16="http://schemas.microsoft.com/office/drawing/2014/main" id="{C45BFEBD-2A21-B8D6-603C-177229DFA31C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00138" y="4035425"/>
          <a:ext cx="6119812" cy="2590800"/>
        </p:xfrm>
        <a:graphic>
          <a:graphicData uri="http://schemas.openxmlformats.org/drawingml/2006/table">
            <a:tbl>
              <a:tblPr/>
              <a:tblGrid>
                <a:gridCol w="306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P      Q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P∧Q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0      0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0      1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1      0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1      1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 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190" name="AutoShape 73">
            <a:extLst>
              <a:ext uri="{FF2B5EF4-FFF2-40B4-BE49-F238E27FC236}">
                <a16:creationId xmlns:a16="http://schemas.microsoft.com/office/drawing/2014/main" id="{329F81F6-94B3-7980-628B-65571F92B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997200"/>
            <a:ext cx="3024187" cy="1152525"/>
          </a:xfrm>
          <a:prstGeom prst="cloudCallout">
            <a:avLst>
              <a:gd name="adj1" fmla="val -51565"/>
              <a:gd name="adj2" fmla="val 67370"/>
            </a:avLst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CC0066"/>
                </a:solidFill>
              </a:rPr>
              <a:t>读</a:t>
            </a:r>
            <a:r>
              <a:rPr lang="zh-CN" altLang="en-US" sz="2400" b="1">
                <a:solidFill>
                  <a:srgbClr val="CC0066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400" b="1">
                <a:solidFill>
                  <a:srgbClr val="CC0066"/>
                </a:solidFill>
              </a:rPr>
              <a:t>P</a:t>
            </a:r>
            <a:r>
              <a:rPr lang="zh-CN" altLang="en-US" sz="2400" b="1">
                <a:solidFill>
                  <a:srgbClr val="CC0066"/>
                </a:solidFill>
              </a:rPr>
              <a:t>合取</a:t>
            </a:r>
            <a:r>
              <a:rPr lang="en-US" altLang="zh-CN" sz="2400" b="1">
                <a:solidFill>
                  <a:srgbClr val="CC0066"/>
                </a:solidFill>
              </a:rPr>
              <a:t>Q</a:t>
            </a:r>
            <a:r>
              <a:rPr lang="en-US" altLang="zh-CN" sz="2400" b="1">
                <a:solidFill>
                  <a:srgbClr val="CC0066"/>
                </a:solidFill>
                <a:latin typeface="Arial" panose="020B0604020202020204" pitchFamily="34" charset="0"/>
              </a:rPr>
              <a:t>”</a:t>
            </a:r>
            <a:endParaRPr lang="en-US" altLang="zh-CN" sz="2400" b="1">
              <a:solidFill>
                <a:srgbClr val="CC006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71945F8-2C34-D9BB-29AB-4626A61BF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1.2.2   </a:t>
            </a:r>
            <a:r>
              <a:rPr lang="zh-CN" altLang="en-US" b="1"/>
              <a:t>合取联结词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DE44ADA5-ADDC-8520-E06A-ED286C77ED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496300" cy="4795837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1.2.2 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P:</a:t>
            </a:r>
            <a:r>
              <a:rPr lang="zh-CN" altLang="en-US" b="1"/>
              <a:t>外星人曾访问过地球。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</a:t>
            </a:r>
            <a:r>
              <a:rPr lang="en-US" altLang="zh-CN"/>
              <a:t>Q:</a:t>
            </a:r>
            <a:r>
              <a:rPr lang="zh-CN" altLang="en-US" b="1"/>
              <a:t>今天是雨天。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P∧Q:</a:t>
            </a:r>
            <a:r>
              <a:rPr lang="zh-CN" altLang="en-US" b="1"/>
              <a:t>外星人曾访问过地球</a:t>
            </a:r>
            <a:r>
              <a:rPr lang="zh-CN" altLang="en-US" b="1">
                <a:solidFill>
                  <a:srgbClr val="CC0066"/>
                </a:solidFill>
              </a:rPr>
              <a:t>且</a:t>
            </a:r>
            <a:r>
              <a:rPr lang="zh-CN" altLang="en-US" b="1"/>
              <a:t>今天是雨天。 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/>
              <a:t>Q∧P:</a:t>
            </a:r>
            <a:r>
              <a:rPr lang="zh-CN" altLang="en-US" b="1"/>
              <a:t>今天是雨天</a:t>
            </a:r>
            <a:r>
              <a:rPr lang="zh-CN" altLang="en-US" b="1">
                <a:solidFill>
                  <a:srgbClr val="CC0066"/>
                </a:solidFill>
              </a:rPr>
              <a:t>且</a:t>
            </a:r>
            <a:r>
              <a:rPr lang="zh-CN" altLang="en-US" b="1"/>
              <a:t>外星人曾访问过地球。 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文本框 5">
            <a:extLst>
              <a:ext uri="{FF2B5EF4-FFF2-40B4-BE49-F238E27FC236}">
                <a16:creationId xmlns:a16="http://schemas.microsoft.com/office/drawing/2014/main" id="{C3E6A12F-9219-BB5E-B736-F8E35C911A0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1717675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例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1.2.2 </a:t>
            </a:r>
          </a:p>
          <a:p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P: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外星人曾访问过地球。</a:t>
            </a:r>
          </a:p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Q: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今天是雨天。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r>
              <a:rPr lang="zh-CN" altLang="en-US" sz="3200"/>
              <a:t>那么</a:t>
            </a:r>
            <a:r>
              <a:rPr lang="en-US" altLang="zh-CN" sz="3200"/>
              <a:t>Q∧Q</a:t>
            </a:r>
            <a:r>
              <a:rPr lang="zh-CN" altLang="en-US" sz="3200"/>
              <a:t>表示？</a:t>
            </a:r>
            <a:endParaRPr lang="zh-CN" altLang="en-US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219" name="矩形: 圆角 6">
            <a:extLst>
              <a:ext uri="{FF2B5EF4-FFF2-40B4-BE49-F238E27FC236}">
                <a16:creationId xmlns:a16="http://schemas.microsoft.com/office/drawing/2014/main" id="{AB696DF0-B157-49DF-6FD9-EC8EFA07AAC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9220" name="组合 11">
            <a:extLst>
              <a:ext uri="{FF2B5EF4-FFF2-40B4-BE49-F238E27FC236}">
                <a16:creationId xmlns:a16="http://schemas.microsoft.com/office/drawing/2014/main" id="{26965B6D-B0D3-D933-7014-2FBE0F4E3A63}"/>
              </a:ext>
            </a:extLst>
          </p:cNvPr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9222" name="TitleBackground">
              <a:extLst>
                <a:ext uri="{FF2B5EF4-FFF2-40B4-BE49-F238E27FC236}">
                  <a16:creationId xmlns:a16="http://schemas.microsoft.com/office/drawing/2014/main" id="{2EADF9FD-9382-9F96-B4BE-DCF84E946B60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9223" name="ColorBlock">
              <a:extLst>
                <a:ext uri="{FF2B5EF4-FFF2-40B4-BE49-F238E27FC236}">
                  <a16:creationId xmlns:a16="http://schemas.microsoft.com/office/drawing/2014/main" id="{815950E3-023D-66C4-0318-5D31814B7D28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9224" name="TypeText">
              <a:extLst>
                <a:ext uri="{FF2B5EF4-FFF2-40B4-BE49-F238E27FC236}">
                  <a16:creationId xmlns:a16="http://schemas.microsoft.com/office/drawing/2014/main" id="{0CC88DE0-CE76-6ED4-B4F3-01DCD5644C81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9225" name="TipText">
              <a:extLst>
                <a:ext uri="{FF2B5EF4-FFF2-40B4-BE49-F238E27FC236}">
                  <a16:creationId xmlns:a16="http://schemas.microsoft.com/office/drawing/2014/main" id="{22304CAB-708F-8A18-6DFB-2E2F01654B3E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9221" name="图片 4">
            <a:extLst>
              <a:ext uri="{FF2B5EF4-FFF2-40B4-BE49-F238E27FC236}">
                <a16:creationId xmlns:a16="http://schemas.microsoft.com/office/drawing/2014/main" id="{088B8545-2AEB-964B-5D18-3D308D2DB4C9}"/>
              </a:ext>
            </a:extLst>
          </p:cNvPr>
          <p:cNvPicPr>
            <a:picLocks noChangeArrowheads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1746EB4-AE9B-7080-CD0F-C80F7BA77C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1.2.3 </a:t>
            </a:r>
            <a:r>
              <a:rPr lang="zh-CN" altLang="en-US" b="1"/>
              <a:t>析取联结词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3BB1DCB-9115-2ADD-93EA-A167792557C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17713"/>
            <a:ext cx="8281987" cy="4840287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D60093"/>
                </a:solidFill>
              </a:rPr>
              <a:t>   </a:t>
            </a:r>
            <a:r>
              <a:rPr lang="zh-CN" altLang="en-US" b="1">
                <a:solidFill>
                  <a:schemeClr val="hlink"/>
                </a:solidFill>
              </a:rPr>
              <a:t>析取联结词</a:t>
            </a:r>
            <a:r>
              <a:rPr lang="en-US" altLang="zh-CN">
                <a:solidFill>
                  <a:schemeClr val="hlink"/>
                </a:solidFill>
              </a:rPr>
              <a:t>(disjunctive connective)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en-US" altLang="zh-CN">
                <a:latin typeface="Arial" panose="020B0604020202020204" pitchFamily="34" charset="0"/>
              </a:rPr>
              <a:t>“</a:t>
            </a:r>
            <a:r>
              <a:rPr lang="en-US" altLang="zh-CN"/>
              <a:t>∨</a:t>
            </a:r>
            <a:r>
              <a:rPr lang="en-US" altLang="zh-CN">
                <a:latin typeface="Arial" panose="020B0604020202020204" pitchFamily="34" charset="0"/>
              </a:rPr>
              <a:t>”</a:t>
            </a:r>
            <a:r>
              <a:rPr lang="en-US" altLang="zh-CN"/>
              <a:t> 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 </a:t>
            </a:r>
            <a:r>
              <a:rPr lang="zh-CN" altLang="en-US" b="1"/>
              <a:t>似汉语联结词</a:t>
            </a:r>
            <a:r>
              <a:rPr lang="zh-CN" altLang="en-US" b="1">
                <a:latin typeface="Arial" panose="020B0604020202020204" pitchFamily="34" charset="0"/>
              </a:rPr>
              <a:t>“</a:t>
            </a:r>
            <a:r>
              <a:rPr lang="zh-CN" altLang="en-US" b="1">
                <a:solidFill>
                  <a:srgbClr val="FF0000"/>
                </a:solidFill>
              </a:rPr>
              <a:t>同</a:t>
            </a:r>
            <a:r>
              <a:rPr lang="zh-CN" altLang="en-US" b="1"/>
              <a:t>或</a:t>
            </a:r>
            <a:r>
              <a:rPr lang="zh-CN" altLang="en-US" b="1">
                <a:latin typeface="Arial" panose="020B0604020202020204" pitchFamily="34" charset="0"/>
              </a:rPr>
              <a:t>”</a:t>
            </a:r>
            <a:r>
              <a:rPr lang="zh-CN" altLang="en-US" sz="2800"/>
              <a:t> </a:t>
            </a:r>
          </a:p>
        </p:txBody>
      </p:sp>
      <p:graphicFrame>
        <p:nvGraphicFramePr>
          <p:cNvPr id="67642" name="Group 58">
            <a:extLst>
              <a:ext uri="{FF2B5EF4-FFF2-40B4-BE49-F238E27FC236}">
                <a16:creationId xmlns:a16="http://schemas.microsoft.com/office/drawing/2014/main" id="{60EB85E6-4118-F9BC-C250-670A8195FB3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966788" y="4013200"/>
          <a:ext cx="5616575" cy="2590800"/>
        </p:xfrm>
        <a:graphic>
          <a:graphicData uri="http://schemas.openxmlformats.org/drawingml/2006/table">
            <a:tbl>
              <a:tblPr/>
              <a:tblGrid>
                <a:gridCol w="287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0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P      Q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P∨Q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0      0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0      1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1      0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1      1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262" name="AutoShape 60">
            <a:extLst>
              <a:ext uri="{FF2B5EF4-FFF2-40B4-BE49-F238E27FC236}">
                <a16:creationId xmlns:a16="http://schemas.microsoft.com/office/drawing/2014/main" id="{A47F6F28-8166-ADC0-63FD-62517130F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924175"/>
            <a:ext cx="2879725" cy="936625"/>
          </a:xfrm>
          <a:prstGeom prst="cloudCallout">
            <a:avLst>
              <a:gd name="adj1" fmla="val -50773"/>
              <a:gd name="adj2" fmla="val 87796"/>
            </a:avLst>
          </a:prstGeom>
          <a:noFill/>
          <a:ln w="254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CC0066"/>
                </a:solidFill>
              </a:rPr>
              <a:t>读</a:t>
            </a:r>
            <a:r>
              <a:rPr lang="zh-CN" altLang="en-US" sz="2400" b="1">
                <a:solidFill>
                  <a:srgbClr val="CC0066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400" b="1">
                <a:solidFill>
                  <a:srgbClr val="CC0066"/>
                </a:solidFill>
              </a:rPr>
              <a:t>P</a:t>
            </a:r>
            <a:r>
              <a:rPr lang="zh-CN" altLang="en-US" sz="2400" b="1">
                <a:solidFill>
                  <a:srgbClr val="CC0066"/>
                </a:solidFill>
              </a:rPr>
              <a:t>析取</a:t>
            </a:r>
            <a:r>
              <a:rPr lang="en-US" altLang="zh-CN" sz="2400" b="1">
                <a:solidFill>
                  <a:srgbClr val="CC0066"/>
                </a:solidFill>
              </a:rPr>
              <a:t>Q</a:t>
            </a:r>
            <a:r>
              <a:rPr lang="en-US" altLang="zh-CN" sz="2400" b="1">
                <a:solidFill>
                  <a:srgbClr val="CC0066"/>
                </a:solidFill>
                <a:latin typeface="Arial" panose="020B0604020202020204" pitchFamily="34" charset="0"/>
              </a:rPr>
              <a:t>”</a:t>
            </a:r>
            <a:endParaRPr lang="en-US" altLang="zh-CN" sz="2400" b="1">
              <a:solidFill>
                <a:srgbClr val="CC006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E132061-CF39-B029-8A8D-1E88CCFA2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1.2.3 </a:t>
            </a:r>
            <a:r>
              <a:rPr lang="zh-CN" altLang="en-US" b="1"/>
              <a:t>析取联结词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9A2A8E1-9F36-6AB7-41D6-A11F71D180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7244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汉语联结词“或”</a:t>
            </a:r>
            <a:r>
              <a:rPr lang="en-US" altLang="zh-CN" dirty="0"/>
              <a:t> 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/>
              <a:t>(1)</a:t>
            </a:r>
            <a:r>
              <a:rPr lang="zh-CN" altLang="en-US" dirty="0"/>
              <a:t>同或（可兼或）      </a:t>
            </a:r>
            <a:r>
              <a:rPr lang="en-US" altLang="zh-CN" dirty="0">
                <a:solidFill>
                  <a:srgbClr val="000000"/>
                </a:solidFill>
                <a:latin typeface="Arial" charset="0"/>
              </a:rPr>
              <a:t> “</a:t>
            </a:r>
            <a:r>
              <a:rPr lang="en-US" altLang="zh-CN" dirty="0">
                <a:solidFill>
                  <a:srgbClr val="000000"/>
                </a:solidFill>
              </a:rPr>
              <a:t>∨</a:t>
            </a:r>
            <a:r>
              <a:rPr lang="en-US" altLang="zh-CN" dirty="0">
                <a:solidFill>
                  <a:srgbClr val="000000"/>
                </a:solidFill>
                <a:latin typeface="Arial" charset="0"/>
              </a:rPr>
              <a:t>”</a:t>
            </a:r>
            <a:endParaRPr lang="en-US" altLang="zh-CN" dirty="0"/>
          </a:p>
          <a:p>
            <a:pPr marL="0" indent="0" eaLnBrk="1" hangingPunct="1">
              <a:lnSpc>
                <a:spcPct val="11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000000"/>
                </a:solidFill>
              </a:rPr>
              <a:t>       </a:t>
            </a:r>
            <a:r>
              <a:rPr lang="zh-CN" altLang="en-US" b="1" dirty="0">
                <a:solidFill>
                  <a:srgbClr val="000000"/>
                </a:solidFill>
              </a:rPr>
              <a:t>王菲是优秀共产党员</a:t>
            </a:r>
            <a:r>
              <a:rPr lang="zh-CN" altLang="en-US" b="1" dirty="0">
                <a:solidFill>
                  <a:srgbClr val="CC0066"/>
                </a:solidFill>
              </a:rPr>
              <a:t>或</a:t>
            </a:r>
            <a:r>
              <a:rPr lang="zh-CN" altLang="en-US" b="1" dirty="0">
                <a:solidFill>
                  <a:srgbClr val="000000"/>
                </a:solidFill>
              </a:rPr>
              <a:t>三好学生。</a:t>
            </a:r>
            <a:endParaRPr lang="en-US" altLang="zh-CN" b="1" dirty="0">
              <a:solidFill>
                <a:srgbClr val="000000"/>
              </a:solidFill>
            </a:endParaRPr>
          </a:p>
          <a:p>
            <a:pPr eaLnBrk="1" hangingPunct="1">
              <a:lnSpc>
                <a:spcPct val="11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</a:rPr>
              <a:t>       今天是女儿节</a:t>
            </a:r>
            <a:r>
              <a:rPr lang="zh-CN" altLang="en-US" b="1" dirty="0">
                <a:solidFill>
                  <a:srgbClr val="FF00FF"/>
                </a:solidFill>
              </a:rPr>
              <a:t>或</a:t>
            </a:r>
            <a:r>
              <a:rPr lang="zh-CN" altLang="en-US" b="1" dirty="0">
                <a:solidFill>
                  <a:srgbClr val="000000"/>
                </a:solidFill>
              </a:rPr>
              <a:t>星期一。</a:t>
            </a:r>
            <a:endParaRPr lang="zh-CN" altLang="en-US" b="1" dirty="0"/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zh-CN" dirty="0">
                <a:solidFill>
                  <a:srgbClr val="CC0066"/>
                </a:solidFill>
              </a:rPr>
              <a:t>(2)</a:t>
            </a:r>
            <a:r>
              <a:rPr lang="zh-CN" altLang="en-US" dirty="0">
                <a:solidFill>
                  <a:srgbClr val="CC0066"/>
                </a:solidFill>
              </a:rPr>
              <a:t>异或</a:t>
            </a:r>
            <a:endParaRPr lang="en-US" altLang="zh-CN" dirty="0">
              <a:solidFill>
                <a:srgbClr val="CC0066"/>
              </a:solidFill>
            </a:endParaRP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000000"/>
                </a:solidFill>
              </a:rPr>
              <a:t>       今天是星期一</a:t>
            </a:r>
            <a:r>
              <a:rPr lang="zh-CN" altLang="en-US" b="1" dirty="0">
                <a:solidFill>
                  <a:srgbClr val="00B0F0"/>
                </a:solidFill>
              </a:rPr>
              <a:t>或</a:t>
            </a:r>
            <a:r>
              <a:rPr lang="zh-CN" altLang="en-US" b="1" dirty="0">
                <a:solidFill>
                  <a:srgbClr val="000000"/>
                </a:solidFill>
              </a:rPr>
              <a:t>星期二。</a:t>
            </a:r>
          </a:p>
          <a:p>
            <a:pPr eaLnBrk="1" hangingPunct="1">
              <a:lnSpc>
                <a:spcPct val="1100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rgbClr val="000000"/>
                </a:solidFill>
              </a:rPr>
              <a:t>       </a:t>
            </a:r>
            <a:r>
              <a:rPr lang="zh-CN" altLang="en-US" b="1" dirty="0">
                <a:solidFill>
                  <a:srgbClr val="000000"/>
                </a:solidFill>
              </a:rPr>
              <a:t>张三是男孩</a:t>
            </a:r>
            <a:r>
              <a:rPr lang="zh-CN" altLang="en-US" b="1" dirty="0">
                <a:solidFill>
                  <a:srgbClr val="00CC99"/>
                </a:solidFill>
              </a:rPr>
              <a:t>或</a:t>
            </a:r>
            <a:r>
              <a:rPr lang="zh-CN" altLang="en-US" b="1" dirty="0">
                <a:solidFill>
                  <a:srgbClr val="000000"/>
                </a:solidFill>
              </a:rPr>
              <a:t>女孩。</a:t>
            </a:r>
          </a:p>
          <a:p>
            <a:pPr marL="0" indent="0"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zh-CN" altLang="en-US" b="1" dirty="0"/>
          </a:p>
        </p:txBody>
      </p:sp>
      <p:graphicFrame>
        <p:nvGraphicFramePr>
          <p:cNvPr id="11268" name="对象 1">
            <a:extLst>
              <a:ext uri="{FF2B5EF4-FFF2-40B4-BE49-F238E27FC236}">
                <a16:creationId xmlns:a16="http://schemas.microsoft.com/office/drawing/2014/main" id="{CD829746-2578-7B4D-5DA9-D49C7348446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2413" y="4652963"/>
          <a:ext cx="752475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158" imgH="177646" progId="Equation.DSMT4">
                  <p:embed/>
                </p:oleObj>
              </mc:Choice>
              <mc:Fallback>
                <p:oleObj name="Equation" r:id="rId2" imgW="279158" imgH="177646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413" y="4652963"/>
                        <a:ext cx="752475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27D7B74-B595-894A-5D72-DF825632D6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1.2.3 </a:t>
            </a:r>
            <a:r>
              <a:rPr lang="zh-CN" altLang="en-US" b="1"/>
              <a:t>析取联结词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BF249A6-0C0E-7D4E-60EC-A3536EAB6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7244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1.2.3</a:t>
            </a:r>
            <a:r>
              <a:rPr lang="en-US" altLang="zh-CN"/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/>
              <a:t>    P:</a:t>
            </a:r>
            <a:r>
              <a:rPr lang="zh-CN" altLang="en-US" b="1"/>
              <a:t>外星人曾访问过地球。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</a:t>
            </a:r>
            <a:r>
              <a:rPr lang="en-US" altLang="zh-CN"/>
              <a:t>Q:</a:t>
            </a:r>
            <a:r>
              <a:rPr lang="zh-CN" altLang="en-US" b="1"/>
              <a:t>今天是雨天。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>
                <a:solidFill>
                  <a:srgbClr val="FF00FF"/>
                </a:solidFill>
              </a:rPr>
              <a:t>P∨Q</a:t>
            </a:r>
            <a:r>
              <a:rPr lang="en-US" altLang="zh-CN"/>
              <a:t>:</a:t>
            </a:r>
            <a:r>
              <a:rPr lang="zh-CN" altLang="en-US" b="1"/>
              <a:t>外星人曾访问过地球</a:t>
            </a:r>
            <a:r>
              <a:rPr lang="zh-CN" altLang="en-US" b="1">
                <a:solidFill>
                  <a:srgbClr val="CC0066"/>
                </a:solidFill>
              </a:rPr>
              <a:t>或</a:t>
            </a:r>
            <a:r>
              <a:rPr lang="zh-CN" altLang="en-US" b="1"/>
              <a:t>今天是雨天。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/>
              <a:t>    </a:t>
            </a:r>
            <a:r>
              <a:rPr lang="en-US" altLang="zh-CN"/>
              <a:t>P:</a:t>
            </a:r>
            <a:r>
              <a:rPr lang="zh-CN" altLang="en-US" b="1"/>
              <a:t>王菲是优秀共产党员。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</a:t>
            </a:r>
            <a:r>
              <a:rPr lang="en-US" altLang="zh-CN"/>
              <a:t>Q:</a:t>
            </a:r>
            <a:r>
              <a:rPr lang="zh-CN" altLang="en-US" b="1"/>
              <a:t>王菲是三好学生。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>
                <a:solidFill>
                  <a:srgbClr val="CC0066"/>
                </a:solidFill>
              </a:rPr>
              <a:t>P∨Q</a:t>
            </a:r>
            <a:r>
              <a:rPr lang="en-US" altLang="zh-CN"/>
              <a:t>:</a:t>
            </a:r>
            <a:r>
              <a:rPr lang="zh-CN" altLang="en-US" b="1"/>
              <a:t>王菲是优秀共产党员</a:t>
            </a:r>
            <a:r>
              <a:rPr lang="zh-CN" altLang="en-US" b="1">
                <a:solidFill>
                  <a:srgbClr val="CC0066"/>
                </a:solidFill>
              </a:rPr>
              <a:t>或</a:t>
            </a:r>
            <a:r>
              <a:rPr lang="zh-CN" altLang="en-US" b="1"/>
              <a:t>三好学生。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CCC266F-4186-2E97-B2B2-10C400BA2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1.2.4   </a:t>
            </a:r>
            <a:r>
              <a:rPr lang="zh-CN" altLang="en-US" b="1"/>
              <a:t>条件联结词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B0B6AAC-16C6-479C-07E2-A64819DC14C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68313" y="2017713"/>
            <a:ext cx="8567737" cy="4840287"/>
          </a:xfrm>
        </p:spPr>
        <p:txBody>
          <a:bodyPr/>
          <a:lstStyle/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 sz="2800" b="1"/>
              <a:t>  </a:t>
            </a:r>
            <a:r>
              <a:rPr lang="zh-CN" altLang="en-US" b="1">
                <a:solidFill>
                  <a:schemeClr val="hlink"/>
                </a:solidFill>
              </a:rPr>
              <a:t>条件联结词</a:t>
            </a:r>
            <a:r>
              <a:rPr lang="en-US" altLang="zh-CN">
                <a:solidFill>
                  <a:schemeClr val="hlink"/>
                </a:solidFill>
              </a:rPr>
              <a:t>(conditional connective)</a:t>
            </a: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/>
              <a:t>  </a:t>
            </a:r>
            <a:r>
              <a:rPr lang="en-US" altLang="zh-CN">
                <a:latin typeface="Arial" panose="020B0604020202020204" pitchFamily="34" charset="0"/>
              </a:rPr>
              <a:t>“</a:t>
            </a:r>
            <a:r>
              <a:rPr lang="en-US" altLang="zh-CN"/>
              <a:t>→</a:t>
            </a:r>
            <a:r>
              <a:rPr lang="en-US" altLang="zh-CN">
                <a:latin typeface="Arial" panose="020B0604020202020204" pitchFamily="34" charset="0"/>
              </a:rPr>
              <a:t>”</a:t>
            </a:r>
            <a:r>
              <a:rPr lang="en-US" altLang="zh-CN"/>
              <a:t>  </a:t>
            </a:r>
            <a:r>
              <a:rPr lang="zh-CN" altLang="en-US" b="1"/>
              <a:t>似汉语联结词</a:t>
            </a:r>
            <a:r>
              <a:rPr lang="zh-CN" altLang="en-US" b="1">
                <a:latin typeface="Arial" panose="020B0604020202020204" pitchFamily="34" charset="0"/>
              </a:rPr>
              <a:t>“</a:t>
            </a:r>
            <a:r>
              <a:rPr lang="zh-CN" altLang="en-US" b="1"/>
              <a:t>如果</a:t>
            </a:r>
            <a:r>
              <a:rPr lang="en-US" altLang="zh-CN" b="1">
                <a:latin typeface="Arial" panose="020B0604020202020204" pitchFamily="34" charset="0"/>
              </a:rPr>
              <a:t>…</a:t>
            </a:r>
            <a:r>
              <a:rPr lang="en-US" altLang="zh-CN" b="1">
                <a:latin typeface="宋体" panose="02010600030101010101" pitchFamily="2" charset="-122"/>
              </a:rPr>
              <a:t>,</a:t>
            </a:r>
            <a:r>
              <a:rPr lang="zh-CN" altLang="en-US" b="1"/>
              <a:t>那么</a:t>
            </a:r>
            <a:r>
              <a:rPr lang="en-US" altLang="zh-CN" b="1">
                <a:latin typeface="Arial" panose="020B0604020202020204" pitchFamily="34" charset="0"/>
              </a:rPr>
              <a:t>…”</a:t>
            </a:r>
            <a:endParaRPr lang="en-US" altLang="zh-CN">
              <a:solidFill>
                <a:srgbClr val="009900"/>
              </a:solidFill>
            </a:endParaRPr>
          </a:p>
          <a:p>
            <a:pPr eaLnBrk="1" hangingPunct="1">
              <a:lnSpc>
                <a:spcPct val="105000"/>
              </a:lnSpc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0000FF"/>
                </a:solidFill>
              </a:rPr>
              <a:t>                     </a:t>
            </a:r>
            <a:r>
              <a:rPr lang="zh-CN" altLang="en-US">
                <a:solidFill>
                  <a:schemeClr val="accent1"/>
                </a:solidFill>
              </a:rPr>
              <a:t>前件</a:t>
            </a:r>
            <a:r>
              <a:rPr lang="zh-CN" altLang="en-US"/>
              <a:t>    </a:t>
            </a:r>
            <a:r>
              <a:rPr lang="zh-CN" altLang="en-US">
                <a:solidFill>
                  <a:srgbClr val="FF00FF"/>
                </a:solidFill>
              </a:rPr>
              <a:t>后件</a:t>
            </a:r>
          </a:p>
        </p:txBody>
      </p:sp>
      <p:graphicFrame>
        <p:nvGraphicFramePr>
          <p:cNvPr id="68669" name="Group 61">
            <a:extLst>
              <a:ext uri="{FF2B5EF4-FFF2-40B4-BE49-F238E27FC236}">
                <a16:creationId xmlns:a16="http://schemas.microsoft.com/office/drawing/2014/main" id="{20064269-7C15-6497-7D9C-10410145FC9F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912813" y="4022725"/>
          <a:ext cx="5689600" cy="2590800"/>
        </p:xfrm>
        <a:graphic>
          <a:graphicData uri="http://schemas.openxmlformats.org/drawingml/2006/table">
            <a:tbl>
              <a:tblPr/>
              <a:tblGrid>
                <a:gridCol w="2843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6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P      Q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→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FF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0      0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0      1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1      0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1      1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334" name="AutoShape 76">
            <a:extLst>
              <a:ext uri="{FF2B5EF4-FFF2-40B4-BE49-F238E27FC236}">
                <a16:creationId xmlns:a16="http://schemas.microsoft.com/office/drawing/2014/main" id="{0B924B97-9C04-D4EC-0A9F-1992E783D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3149600"/>
            <a:ext cx="3384550" cy="927100"/>
          </a:xfrm>
          <a:prstGeom prst="wedgeEllipseCallout">
            <a:avLst>
              <a:gd name="adj1" fmla="val -51829"/>
              <a:gd name="adj2" fmla="val 78148"/>
            </a:avLst>
          </a:prstGeom>
          <a:noFill/>
          <a:ln w="25400">
            <a:solidFill>
              <a:srgbClr val="00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CC0066"/>
                </a:solidFill>
              </a:rPr>
              <a:t>读</a:t>
            </a:r>
            <a:r>
              <a:rPr lang="zh-CN" altLang="en-US" sz="2400" b="1">
                <a:solidFill>
                  <a:srgbClr val="CC0066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400" b="1">
                <a:solidFill>
                  <a:srgbClr val="CC0066"/>
                </a:solidFill>
              </a:rPr>
              <a:t>P</a:t>
            </a:r>
            <a:r>
              <a:rPr lang="zh-CN" altLang="en-US" sz="2400" b="1">
                <a:solidFill>
                  <a:srgbClr val="CC0066"/>
                </a:solidFill>
              </a:rPr>
              <a:t>到</a:t>
            </a:r>
            <a:r>
              <a:rPr lang="en-US" altLang="zh-CN" sz="2400" b="1">
                <a:solidFill>
                  <a:srgbClr val="CC0066"/>
                </a:solidFill>
              </a:rPr>
              <a:t>Q</a:t>
            </a:r>
            <a:r>
              <a:rPr lang="zh-CN" altLang="en-US" sz="2400" b="1">
                <a:solidFill>
                  <a:srgbClr val="CC0066"/>
                </a:solidFill>
              </a:rPr>
              <a:t>的条件</a:t>
            </a:r>
            <a:r>
              <a:rPr lang="zh-CN" altLang="en-US" sz="1800" b="1">
                <a:solidFill>
                  <a:srgbClr val="CC0066"/>
                </a:solidFill>
                <a:latin typeface="Arial" panose="020B0604020202020204" pitchFamily="34" charset="0"/>
              </a:rPr>
              <a:t>”</a:t>
            </a:r>
            <a:endParaRPr lang="zh-CN" altLang="en-US" sz="1800" b="1">
              <a:solidFill>
                <a:srgbClr val="CC0066"/>
              </a:solidFill>
            </a:endParaRPr>
          </a:p>
        </p:txBody>
      </p:sp>
      <p:sp>
        <p:nvSpPr>
          <p:cNvPr id="13335" name="Freeform 79">
            <a:extLst>
              <a:ext uri="{FF2B5EF4-FFF2-40B4-BE49-F238E27FC236}">
                <a16:creationId xmlns:a16="http://schemas.microsoft.com/office/drawing/2014/main" id="{0F2C6E3B-2709-342D-3BA1-E5D7557B46BE}"/>
              </a:ext>
            </a:extLst>
          </p:cNvPr>
          <p:cNvSpPr>
            <a:spLocks/>
          </p:cNvSpPr>
          <p:nvPr/>
        </p:nvSpPr>
        <p:spPr bwMode="auto">
          <a:xfrm>
            <a:off x="4953000" y="3810000"/>
            <a:ext cx="279400" cy="330200"/>
          </a:xfrm>
          <a:custGeom>
            <a:avLst/>
            <a:gdLst>
              <a:gd name="T0" fmla="*/ 0 w 176"/>
              <a:gd name="T1" fmla="*/ 0 h 208"/>
              <a:gd name="T2" fmla="*/ 2147483646 w 176"/>
              <a:gd name="T3" fmla="*/ 2147483646 h 208"/>
              <a:gd name="T4" fmla="*/ 2147483646 w 176"/>
              <a:gd name="T5" fmla="*/ 2147483646 h 20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76" h="208">
                <a:moveTo>
                  <a:pt x="0" y="0"/>
                </a:moveTo>
                <a:cubicBezTo>
                  <a:pt x="38" y="25"/>
                  <a:pt x="29" y="53"/>
                  <a:pt x="64" y="88"/>
                </a:cubicBezTo>
                <a:cubicBezTo>
                  <a:pt x="97" y="121"/>
                  <a:pt x="176" y="152"/>
                  <a:pt x="176" y="208"/>
                </a:cubicBezTo>
              </a:path>
            </a:pathLst>
          </a:custGeom>
          <a:noFill/>
          <a:ln w="25400">
            <a:solidFill>
              <a:srgbClr val="3366FF"/>
            </a:solidFill>
            <a:round/>
            <a:headEnd type="triangle" w="lg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36" name="Freeform 80">
            <a:extLst>
              <a:ext uri="{FF2B5EF4-FFF2-40B4-BE49-F238E27FC236}">
                <a16:creationId xmlns:a16="http://schemas.microsoft.com/office/drawing/2014/main" id="{997D299C-26E8-E64E-856A-6C0A7E0F3288}"/>
              </a:ext>
            </a:extLst>
          </p:cNvPr>
          <p:cNvSpPr>
            <a:spLocks/>
          </p:cNvSpPr>
          <p:nvPr/>
        </p:nvSpPr>
        <p:spPr bwMode="auto">
          <a:xfrm>
            <a:off x="3670300" y="3771900"/>
            <a:ext cx="901700" cy="520700"/>
          </a:xfrm>
          <a:custGeom>
            <a:avLst/>
            <a:gdLst>
              <a:gd name="T0" fmla="*/ 0 w 568"/>
              <a:gd name="T1" fmla="*/ 0 h 328"/>
              <a:gd name="T2" fmla="*/ 2147483646 w 568"/>
              <a:gd name="T3" fmla="*/ 2147483646 h 328"/>
              <a:gd name="T4" fmla="*/ 2147483646 w 568"/>
              <a:gd name="T5" fmla="*/ 2147483646 h 328"/>
              <a:gd name="T6" fmla="*/ 2147483646 w 568"/>
              <a:gd name="T7" fmla="*/ 2147483646 h 328"/>
              <a:gd name="T8" fmla="*/ 2147483646 w 568"/>
              <a:gd name="T9" fmla="*/ 2147483646 h 328"/>
              <a:gd name="T10" fmla="*/ 2147483646 w 568"/>
              <a:gd name="T11" fmla="*/ 2147483646 h 328"/>
              <a:gd name="T12" fmla="*/ 2147483646 w 568"/>
              <a:gd name="T13" fmla="*/ 2147483646 h 3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68" h="328">
                <a:moveTo>
                  <a:pt x="0" y="0"/>
                </a:moveTo>
                <a:cubicBezTo>
                  <a:pt x="63" y="21"/>
                  <a:pt x="106" y="80"/>
                  <a:pt x="168" y="96"/>
                </a:cubicBezTo>
                <a:cubicBezTo>
                  <a:pt x="199" y="127"/>
                  <a:pt x="235" y="139"/>
                  <a:pt x="272" y="160"/>
                </a:cubicBezTo>
                <a:cubicBezTo>
                  <a:pt x="289" y="169"/>
                  <a:pt x="304" y="181"/>
                  <a:pt x="320" y="192"/>
                </a:cubicBezTo>
                <a:cubicBezTo>
                  <a:pt x="341" y="206"/>
                  <a:pt x="376" y="208"/>
                  <a:pt x="400" y="216"/>
                </a:cubicBezTo>
                <a:cubicBezTo>
                  <a:pt x="433" y="240"/>
                  <a:pt x="476" y="260"/>
                  <a:pt x="504" y="288"/>
                </a:cubicBezTo>
                <a:cubicBezTo>
                  <a:pt x="524" y="308"/>
                  <a:pt x="538" y="328"/>
                  <a:pt x="568" y="328"/>
                </a:cubicBezTo>
              </a:path>
            </a:pathLst>
          </a:custGeom>
          <a:noFill/>
          <a:ln w="25400">
            <a:solidFill>
              <a:srgbClr val="FF99CC"/>
            </a:solidFill>
            <a:round/>
            <a:headEnd type="triangle" w="lg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F1A8A68-4329-BC41-9A04-AF5674DE6B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1.2.4   </a:t>
            </a:r>
            <a:r>
              <a:rPr lang="zh-CN" altLang="en-US" b="1"/>
              <a:t>条件联结词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930D9EAE-6923-70B3-369C-828989A87D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795837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1.2.4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P:</a:t>
            </a:r>
            <a:r>
              <a:rPr lang="zh-CN" altLang="en-US" b="1"/>
              <a:t>今天是星期一。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</a:t>
            </a:r>
            <a:r>
              <a:rPr lang="en-US" altLang="zh-CN"/>
              <a:t>Q:</a:t>
            </a:r>
            <a:r>
              <a:rPr lang="zh-CN" altLang="en-US" b="1"/>
              <a:t>今天是雨天。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/>
              <a:t>P→Q:</a:t>
            </a:r>
            <a:r>
              <a:rPr lang="zh-CN" altLang="en-US" b="1">
                <a:solidFill>
                  <a:srgbClr val="CC0066"/>
                </a:solidFill>
              </a:rPr>
              <a:t>如果</a:t>
            </a:r>
            <a:r>
              <a:rPr lang="zh-CN" altLang="en-US" b="1"/>
              <a:t>今天是星期一，</a:t>
            </a:r>
            <a:r>
              <a:rPr lang="zh-CN" altLang="en-US" b="1">
                <a:solidFill>
                  <a:srgbClr val="CC0066"/>
                </a:solidFill>
              </a:rPr>
              <a:t>那么</a:t>
            </a:r>
            <a:r>
              <a:rPr lang="zh-CN" altLang="en-US" b="1"/>
              <a:t>今天是雨天。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/>
              <a:t>Q→P:</a:t>
            </a:r>
            <a:r>
              <a:rPr lang="zh-CN" altLang="en-US" b="1">
                <a:solidFill>
                  <a:srgbClr val="339933"/>
                </a:solidFill>
              </a:rPr>
              <a:t>如果</a:t>
            </a:r>
            <a:r>
              <a:rPr lang="zh-CN" altLang="en-US" b="1"/>
              <a:t>今天是雨天，</a:t>
            </a:r>
            <a:r>
              <a:rPr lang="zh-CN" altLang="en-US" b="1">
                <a:solidFill>
                  <a:srgbClr val="339933"/>
                </a:solidFill>
              </a:rPr>
              <a:t>那么</a:t>
            </a:r>
            <a:r>
              <a:rPr lang="zh-CN" altLang="en-US" b="1"/>
              <a:t>今天是星期一。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/>
              <a:t>Q→Q:</a:t>
            </a:r>
            <a:r>
              <a:rPr lang="zh-CN" altLang="en-US" b="1">
                <a:solidFill>
                  <a:srgbClr val="CC0066"/>
                </a:solidFill>
              </a:rPr>
              <a:t>如果</a:t>
            </a:r>
            <a:r>
              <a:rPr lang="zh-CN" altLang="en-US" b="1"/>
              <a:t>今天是雨天，</a:t>
            </a:r>
            <a:r>
              <a:rPr lang="zh-CN" altLang="en-US" b="1">
                <a:solidFill>
                  <a:srgbClr val="CC0066"/>
                </a:solidFill>
              </a:rPr>
              <a:t>那么</a:t>
            </a:r>
            <a:r>
              <a:rPr lang="zh-CN" altLang="en-US" b="1"/>
              <a:t>今天是雨天。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2419F95-E730-BD76-C045-8E33897A21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1.2.5   </a:t>
            </a:r>
            <a:r>
              <a:rPr lang="zh-CN" altLang="en-US" b="1"/>
              <a:t>双条件联结词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BC1C89F-08A8-9DDA-97A6-3118AF16118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2060575"/>
            <a:ext cx="8497887" cy="47974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</a:t>
            </a:r>
            <a:r>
              <a:rPr lang="zh-CN" altLang="en-US" sz="2800" b="1">
                <a:solidFill>
                  <a:schemeClr val="hlink"/>
                </a:solidFill>
              </a:rPr>
              <a:t>双条件联结词</a:t>
            </a:r>
            <a:r>
              <a:rPr lang="en-US" altLang="zh-CN" sz="2800">
                <a:solidFill>
                  <a:schemeClr val="hlink"/>
                </a:solidFill>
              </a:rPr>
              <a:t>(bi-conditional connective)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  <a:r>
              <a:rPr lang="en-US" altLang="zh-CN" sz="2800">
                <a:latin typeface="Arial" panose="020B0604020202020204" pitchFamily="34" charset="0"/>
              </a:rPr>
              <a:t>“</a:t>
            </a:r>
            <a:r>
              <a:rPr lang="en-US" altLang="zh-CN" sz="2800"/>
              <a:t>↔</a:t>
            </a:r>
            <a:r>
              <a:rPr lang="en-US" altLang="zh-CN" sz="2800">
                <a:latin typeface="Arial" panose="020B0604020202020204" pitchFamily="34" charset="0"/>
              </a:rPr>
              <a:t>”</a:t>
            </a:r>
            <a:r>
              <a:rPr lang="en-US" altLang="zh-CN" sz="280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 </a:t>
            </a:r>
            <a:r>
              <a:rPr lang="zh-CN" altLang="en-US" sz="2800" b="1"/>
              <a:t>似汉语联结词</a:t>
            </a:r>
            <a:r>
              <a:rPr lang="zh-CN" altLang="en-US" sz="2800" b="1">
                <a:latin typeface="Arial" panose="020B0604020202020204" pitchFamily="34" charset="0"/>
              </a:rPr>
              <a:t>“</a:t>
            </a:r>
            <a:r>
              <a:rPr lang="zh-CN" altLang="en-US" sz="2800" b="1"/>
              <a:t>当且仅当</a:t>
            </a:r>
            <a:r>
              <a:rPr lang="zh-CN" altLang="en-US" sz="2800" b="1">
                <a:latin typeface="Arial" panose="020B0604020202020204" pitchFamily="34" charset="0"/>
              </a:rPr>
              <a:t>”</a:t>
            </a:r>
            <a:r>
              <a:rPr lang="zh-CN" altLang="en-US" sz="2800" b="1"/>
              <a:t> </a:t>
            </a:r>
          </a:p>
        </p:txBody>
      </p:sp>
      <p:graphicFrame>
        <p:nvGraphicFramePr>
          <p:cNvPr id="70725" name="Group 69">
            <a:extLst>
              <a:ext uri="{FF2B5EF4-FFF2-40B4-BE49-F238E27FC236}">
                <a16:creationId xmlns:a16="http://schemas.microsoft.com/office/drawing/2014/main" id="{6AB990B0-EBEF-B33D-57D8-10A36BD9ED7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755650" y="3860800"/>
          <a:ext cx="5400675" cy="2590800"/>
        </p:xfrm>
        <a:graphic>
          <a:graphicData uri="http://schemas.openxmlformats.org/drawingml/2006/table">
            <a:tbl>
              <a:tblPr/>
              <a:tblGrid>
                <a:gridCol w="2624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6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P      Q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P↔Q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0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0      0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0      1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9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1      0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1      1</a:t>
                      </a:r>
                    </a:p>
                  </a:txBody>
                  <a:tcPr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      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382" name="AutoShape 70">
            <a:extLst>
              <a:ext uri="{FF2B5EF4-FFF2-40B4-BE49-F238E27FC236}">
                <a16:creationId xmlns:a16="http://schemas.microsoft.com/office/drawing/2014/main" id="{70589143-0764-CCDB-8A35-2B185F7A1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708275"/>
            <a:ext cx="3889375" cy="1081088"/>
          </a:xfrm>
          <a:prstGeom prst="wedgeEllipseCallout">
            <a:avLst>
              <a:gd name="adj1" fmla="val -52861"/>
              <a:gd name="adj2" fmla="val 84829"/>
            </a:avLst>
          </a:prstGeom>
          <a:noFill/>
          <a:ln w="25400">
            <a:solidFill>
              <a:schemeClr val="accent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1">
                <a:solidFill>
                  <a:srgbClr val="CC0066"/>
                </a:solidFill>
              </a:rPr>
              <a:t>读</a:t>
            </a:r>
            <a:r>
              <a:rPr lang="zh-CN" altLang="en-US" sz="2400" b="1">
                <a:solidFill>
                  <a:srgbClr val="CC0066"/>
                </a:solidFill>
                <a:latin typeface="Arial" panose="020B0604020202020204" pitchFamily="34" charset="0"/>
              </a:rPr>
              <a:t>“</a:t>
            </a:r>
            <a:r>
              <a:rPr lang="en-US" altLang="zh-CN" sz="2400" b="1">
                <a:solidFill>
                  <a:srgbClr val="CC0066"/>
                </a:solidFill>
              </a:rPr>
              <a:t>P</a:t>
            </a:r>
            <a:r>
              <a:rPr lang="zh-CN" altLang="en-US" sz="2400" b="1">
                <a:solidFill>
                  <a:srgbClr val="CC0066"/>
                </a:solidFill>
              </a:rPr>
              <a:t>与</a:t>
            </a:r>
            <a:r>
              <a:rPr lang="en-US" altLang="zh-CN" sz="2400" b="1">
                <a:solidFill>
                  <a:srgbClr val="CC0066"/>
                </a:solidFill>
              </a:rPr>
              <a:t>Q</a:t>
            </a:r>
            <a:r>
              <a:rPr lang="zh-CN" altLang="en-US" sz="2400" b="1">
                <a:solidFill>
                  <a:srgbClr val="CC0066"/>
                </a:solidFill>
              </a:rPr>
              <a:t>的双条件</a:t>
            </a:r>
            <a:r>
              <a:rPr lang="zh-CN" altLang="en-US" sz="1800" b="1">
                <a:solidFill>
                  <a:srgbClr val="CC0066"/>
                </a:solidFill>
                <a:latin typeface="Arial" panose="020B0604020202020204" pitchFamily="34" charset="0"/>
              </a:rPr>
              <a:t>”</a:t>
            </a:r>
            <a:endParaRPr lang="zh-CN" altLang="en-US" sz="1800" b="1">
              <a:solidFill>
                <a:srgbClr val="CC006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219318E-2273-3F94-BBCE-FC08E7908C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1.2.4 </a:t>
            </a:r>
            <a:r>
              <a:rPr lang="zh-CN" altLang="en-US" b="1"/>
              <a:t>双条件联结词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EFE10B7E-6ADA-A217-95E8-442A7629D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8343900" cy="4795837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>
                <a:solidFill>
                  <a:schemeClr val="hlink"/>
                </a:solidFill>
              </a:rPr>
              <a:t>例</a:t>
            </a:r>
            <a:r>
              <a:rPr lang="en-US" altLang="zh-CN">
                <a:solidFill>
                  <a:schemeClr val="hlink"/>
                </a:solidFill>
              </a:rPr>
              <a:t>1.2.5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P:</a:t>
            </a:r>
            <a:r>
              <a:rPr lang="zh-CN" altLang="en-US" b="1"/>
              <a:t>今天是星期一。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</a:t>
            </a:r>
            <a:r>
              <a:rPr lang="en-US" altLang="zh-CN"/>
              <a:t>Q:</a:t>
            </a:r>
            <a:r>
              <a:rPr lang="zh-CN" altLang="en-US" b="1"/>
              <a:t>今天是雨天。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/>
              <a:t>P↔Q:</a:t>
            </a:r>
            <a:r>
              <a:rPr lang="zh-CN" altLang="en-US" b="1"/>
              <a:t>今天是星期一</a:t>
            </a:r>
            <a:r>
              <a:rPr lang="zh-CN" altLang="en-US" b="1">
                <a:solidFill>
                  <a:srgbClr val="CC0066"/>
                </a:solidFill>
              </a:rPr>
              <a:t>当且仅当</a:t>
            </a:r>
            <a:r>
              <a:rPr lang="zh-CN" altLang="en-US" b="1"/>
              <a:t>今天是雨天。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/>
              <a:t>Q↔P:</a:t>
            </a:r>
            <a:r>
              <a:rPr lang="zh-CN" altLang="en-US" b="1"/>
              <a:t>今天是雨天</a:t>
            </a:r>
            <a:r>
              <a:rPr lang="zh-CN" altLang="en-US" b="1">
                <a:solidFill>
                  <a:srgbClr val="339933"/>
                </a:solidFill>
              </a:rPr>
              <a:t>当且仅当</a:t>
            </a:r>
            <a:r>
              <a:rPr lang="zh-CN" altLang="en-US" b="1"/>
              <a:t>今天是星期一。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  <a:r>
              <a:rPr lang="en-US" altLang="zh-CN"/>
              <a:t>Q↔Q:</a:t>
            </a:r>
            <a:r>
              <a:rPr lang="zh-CN" altLang="en-US" b="1"/>
              <a:t>今天是雨天</a:t>
            </a:r>
            <a:r>
              <a:rPr lang="zh-CN" altLang="en-US" b="1">
                <a:solidFill>
                  <a:srgbClr val="FF00FF"/>
                </a:solidFill>
              </a:rPr>
              <a:t>当且仅当</a:t>
            </a:r>
            <a:r>
              <a:rPr lang="zh-CN" altLang="en-US" b="1"/>
              <a:t>今天是雨天。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03C3C79-2533-2645-8045-B1DDC1258A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1.2.6  </a:t>
            </a:r>
            <a:r>
              <a:rPr lang="zh-CN" altLang="en-US" b="1"/>
              <a:t>混合运算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545834F-4969-6A00-FADA-0060D13366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42988" y="1844675"/>
            <a:ext cx="7912100" cy="5013325"/>
          </a:xfrm>
        </p:spPr>
        <p:txBody>
          <a:bodyPr/>
          <a:lstStyle/>
          <a:p>
            <a:pPr eaLnBrk="1" hangingPunct="1">
              <a:lnSpc>
                <a:spcPct val="145000"/>
              </a:lnSpc>
            </a:pPr>
            <a:r>
              <a:rPr lang="en-US" altLang="zh-CN">
                <a:solidFill>
                  <a:schemeClr val="hlink"/>
                </a:solidFill>
              </a:rPr>
              <a:t>┐</a:t>
            </a:r>
            <a:r>
              <a:rPr lang="en-US" altLang="zh-CN"/>
              <a:t>P</a:t>
            </a:r>
          </a:p>
          <a:p>
            <a:pPr eaLnBrk="1" hangingPunct="1">
              <a:lnSpc>
                <a:spcPct val="145000"/>
              </a:lnSpc>
            </a:pPr>
            <a:r>
              <a:rPr lang="en-US" altLang="zh-CN"/>
              <a:t>P</a:t>
            </a:r>
            <a:r>
              <a:rPr lang="en-US" altLang="zh-CN">
                <a:solidFill>
                  <a:schemeClr val="accent1"/>
                </a:solidFill>
              </a:rPr>
              <a:t>∧</a:t>
            </a:r>
            <a:r>
              <a:rPr lang="en-US" altLang="zh-CN"/>
              <a:t>Q</a:t>
            </a:r>
          </a:p>
          <a:p>
            <a:pPr eaLnBrk="1" hangingPunct="1">
              <a:lnSpc>
                <a:spcPct val="145000"/>
              </a:lnSpc>
            </a:pPr>
            <a:r>
              <a:rPr lang="en-US" altLang="zh-CN"/>
              <a:t>P</a:t>
            </a:r>
            <a:r>
              <a:rPr lang="en-US" altLang="zh-CN">
                <a:solidFill>
                  <a:srgbClr val="CC0066"/>
                </a:solidFill>
              </a:rPr>
              <a:t>∨</a:t>
            </a:r>
            <a:r>
              <a:rPr lang="en-US" altLang="zh-CN"/>
              <a:t>Q</a:t>
            </a:r>
          </a:p>
          <a:p>
            <a:pPr eaLnBrk="1" hangingPunct="1">
              <a:lnSpc>
                <a:spcPct val="145000"/>
              </a:lnSpc>
            </a:pPr>
            <a:r>
              <a:rPr lang="en-US" altLang="zh-CN"/>
              <a:t>P</a:t>
            </a:r>
            <a:r>
              <a:rPr lang="en-US" altLang="zh-CN">
                <a:solidFill>
                  <a:schemeClr val="accent1"/>
                </a:solidFill>
              </a:rPr>
              <a:t>→</a:t>
            </a:r>
            <a:r>
              <a:rPr lang="en-US" altLang="zh-CN"/>
              <a:t>Q</a:t>
            </a:r>
          </a:p>
          <a:p>
            <a:pPr eaLnBrk="1" hangingPunct="1">
              <a:lnSpc>
                <a:spcPct val="145000"/>
              </a:lnSpc>
            </a:pPr>
            <a:r>
              <a:rPr lang="en-US" altLang="zh-CN"/>
              <a:t>P</a:t>
            </a:r>
            <a:r>
              <a:rPr lang="en-US" altLang="zh-CN">
                <a:solidFill>
                  <a:srgbClr val="FF00FF"/>
                </a:solidFill>
              </a:rPr>
              <a:t>↔</a:t>
            </a:r>
            <a:r>
              <a:rPr lang="en-US" altLang="zh-CN"/>
              <a:t>Q</a:t>
            </a:r>
            <a:r>
              <a:rPr lang="en-US" altLang="zh-CN">
                <a:solidFill>
                  <a:srgbClr val="FF0000"/>
                </a:solidFill>
              </a:rPr>
              <a:t> </a:t>
            </a:r>
          </a:p>
          <a:p>
            <a:pPr eaLnBrk="1" hangingPunct="1">
              <a:lnSpc>
                <a:spcPct val="145000"/>
              </a:lnSpc>
            </a:pPr>
            <a:r>
              <a:rPr lang="en-US" altLang="zh-CN">
                <a:solidFill>
                  <a:srgbClr val="FF0000"/>
                </a:solidFill>
              </a:rPr>
              <a:t>┐</a:t>
            </a:r>
            <a:r>
              <a:rPr lang="en-US" altLang="zh-CN" b="1">
                <a:solidFill>
                  <a:srgbClr val="00E4A8"/>
                </a:solidFill>
              </a:rPr>
              <a:t>   ∧</a:t>
            </a:r>
            <a:r>
              <a:rPr lang="en-US" altLang="zh-CN" b="1">
                <a:solidFill>
                  <a:srgbClr val="CC0066"/>
                </a:solidFill>
              </a:rPr>
              <a:t>   ∨</a:t>
            </a:r>
            <a:r>
              <a:rPr lang="en-US" altLang="zh-CN" b="1">
                <a:solidFill>
                  <a:srgbClr val="00E4A8"/>
                </a:solidFill>
              </a:rPr>
              <a:t>    →</a:t>
            </a:r>
            <a:r>
              <a:rPr lang="en-US" altLang="zh-CN" b="1">
                <a:solidFill>
                  <a:srgbClr val="FF00FF"/>
                </a:solidFill>
              </a:rPr>
              <a:t>    ↔</a:t>
            </a:r>
            <a:endParaRPr lang="en-US" altLang="zh-CN" b="1"/>
          </a:p>
          <a:p>
            <a:pPr eaLnBrk="1" hangingPunct="1">
              <a:lnSpc>
                <a:spcPct val="170000"/>
              </a:lnSpc>
            </a:pP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E56AB4E-8EB8-B1B7-2538-5CDF4B349B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1.2.6  </a:t>
            </a:r>
            <a:r>
              <a:rPr lang="zh-CN" altLang="en-US" b="1"/>
              <a:t>混合运算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0FB5CB1-8ED9-99E8-7FF5-7877B4C30F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532812" cy="5013325"/>
          </a:xfrm>
        </p:spPr>
        <p:txBody>
          <a:bodyPr/>
          <a:lstStyle/>
          <a:p>
            <a:pPr eaLnBrk="1" hangingPunct="1">
              <a:lnSpc>
                <a:spcPct val="185000"/>
              </a:lnSpc>
              <a:defRPr/>
            </a:pPr>
            <a:r>
              <a:rPr lang="zh-CN" altLang="en-US" dirty="0">
                <a:solidFill>
                  <a:schemeClr val="hlink"/>
                </a:solidFill>
              </a:rPr>
              <a:t>例</a:t>
            </a:r>
            <a:r>
              <a:rPr lang="en-US" altLang="zh-CN" dirty="0">
                <a:solidFill>
                  <a:schemeClr val="hlink"/>
                </a:solidFill>
              </a:rPr>
              <a:t>1.2.6</a:t>
            </a:r>
            <a:r>
              <a:rPr lang="zh-CN" altLang="en-US" dirty="0"/>
              <a:t>设</a:t>
            </a:r>
            <a:r>
              <a:rPr lang="en-US" altLang="zh-CN" dirty="0"/>
              <a:t>P:</a:t>
            </a:r>
            <a:r>
              <a:rPr lang="zh-CN" altLang="en-US" dirty="0"/>
              <a:t>我是你。</a:t>
            </a:r>
            <a:r>
              <a:rPr lang="en-US" altLang="zh-CN" dirty="0"/>
              <a:t>Q:2+3</a:t>
            </a:r>
            <a:r>
              <a:rPr lang="zh-CN" altLang="en-US" dirty="0"/>
              <a:t>＝</a:t>
            </a:r>
            <a:r>
              <a:rPr lang="en-US" altLang="zh-CN" dirty="0"/>
              <a:t>5</a:t>
            </a:r>
            <a:r>
              <a:rPr lang="zh-CN" altLang="en-US" dirty="0"/>
              <a:t>。</a:t>
            </a:r>
            <a:r>
              <a:rPr lang="en-US" altLang="zh-CN" dirty="0"/>
              <a:t>R:3+6</a:t>
            </a:r>
            <a:r>
              <a:rPr lang="zh-CN" altLang="zh-CN" kern="100" dirty="0">
                <a:solidFill>
                  <a:srgbClr val="000000"/>
                </a:solidFill>
                <a:latin typeface="Times New Roman"/>
                <a:cs typeface="Times New Roman"/>
              </a:rPr>
              <a:t>＞</a:t>
            </a:r>
            <a:r>
              <a:rPr lang="en-US" altLang="zh-CN" kern="100" dirty="0">
                <a:solidFill>
                  <a:srgbClr val="000000"/>
                </a:solidFill>
                <a:latin typeface="Times New Roman"/>
                <a:cs typeface="Times New Roman"/>
              </a:rPr>
              <a:t>7</a:t>
            </a:r>
            <a:r>
              <a:rPr lang="zh-CN" altLang="en-US" kern="100" dirty="0">
                <a:solidFill>
                  <a:srgbClr val="000000"/>
                </a:solidFill>
                <a:latin typeface="Times New Roman"/>
                <a:cs typeface="Times New Roman"/>
              </a:rPr>
              <a:t>。</a:t>
            </a:r>
            <a:r>
              <a:rPr lang="zh-CN" altLang="en-US" dirty="0"/>
              <a:t>考察  ① </a:t>
            </a:r>
            <a:r>
              <a:rPr lang="en-US" altLang="zh-CN" dirty="0"/>
              <a:t>(P→Q)→</a:t>
            </a:r>
            <a:r>
              <a:rPr lang="en-US" altLang="zh-CN" dirty="0">
                <a:solidFill>
                  <a:srgbClr val="00CC99"/>
                </a:solidFill>
              </a:rPr>
              <a:t>(</a:t>
            </a:r>
            <a:r>
              <a:rPr lang="en-US" altLang="zh-CN" dirty="0"/>
              <a:t>┐R</a:t>
            </a:r>
            <a:r>
              <a:rPr lang="en-US" altLang="zh-CN" dirty="0">
                <a:solidFill>
                  <a:srgbClr val="00CC99"/>
                </a:solidFill>
              </a:rPr>
              <a:t>)</a:t>
            </a:r>
            <a:r>
              <a:rPr lang="en-US" altLang="zh-CN" dirty="0"/>
              <a:t>         </a:t>
            </a:r>
          </a:p>
          <a:p>
            <a:pPr eaLnBrk="1" hangingPunct="1">
              <a:lnSpc>
                <a:spcPct val="18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② (P→Q)→┐R      </a:t>
            </a:r>
          </a:p>
          <a:p>
            <a:pPr eaLnBrk="1" hangingPunct="1">
              <a:lnSpc>
                <a:spcPct val="18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③ P→(Q→┐R)     </a:t>
            </a:r>
          </a:p>
          <a:p>
            <a:pPr eaLnBrk="1" hangingPunct="1">
              <a:lnSpc>
                <a:spcPct val="185000"/>
              </a:lnSpc>
              <a:buFont typeface="Wingdings" panose="05000000000000000000" pitchFamily="2" charset="2"/>
              <a:buNone/>
              <a:defRPr/>
            </a:pPr>
            <a:r>
              <a:rPr lang="en-US" altLang="zh-CN" dirty="0"/>
              <a:t>           ④ P →Q→┐R</a:t>
            </a:r>
          </a:p>
        </p:txBody>
      </p:sp>
      <p:sp>
        <p:nvSpPr>
          <p:cNvPr id="18436" name="文本框 1">
            <a:extLst>
              <a:ext uri="{FF2B5EF4-FFF2-40B4-BE49-F238E27FC236}">
                <a16:creationId xmlns:a16="http://schemas.microsoft.com/office/drawing/2014/main" id="{14C55E45-BD65-98F4-F50A-AFC9765B5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3141663"/>
            <a:ext cx="379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18437" name="文本框 2">
            <a:extLst>
              <a:ext uri="{FF2B5EF4-FFF2-40B4-BE49-F238E27FC236}">
                <a16:creationId xmlns:a16="http://schemas.microsoft.com/office/drawing/2014/main" id="{F98FF31C-5D3D-D8C8-D912-D1A11E7589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4194175"/>
            <a:ext cx="3794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  <a:endParaRPr lang="zh-CN" altLang="en-US" sz="2800">
              <a:solidFill>
                <a:srgbClr val="FF0000"/>
              </a:solidFill>
            </a:endParaRPr>
          </a:p>
        </p:txBody>
      </p:sp>
      <p:sp>
        <p:nvSpPr>
          <p:cNvPr id="18438" name="文本框 3">
            <a:extLst>
              <a:ext uri="{FF2B5EF4-FFF2-40B4-BE49-F238E27FC236}">
                <a16:creationId xmlns:a16="http://schemas.microsoft.com/office/drawing/2014/main" id="{5F9502E6-0662-D75B-85A1-03E3F58E30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5157788"/>
            <a:ext cx="379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buFont typeface="Wingdings" panose="05000000000000000000" pitchFamily="2" charset="2"/>
              <a:buNone/>
            </a:pPr>
            <a:r>
              <a:rPr lang="en-US" altLang="zh-CN" sz="2800">
                <a:solidFill>
                  <a:srgbClr val="FF0000"/>
                </a:solidFill>
              </a:rPr>
              <a:t>1</a:t>
            </a:r>
            <a:endParaRPr lang="zh-CN" altLang="en-US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E0F5FF4-4896-0F2E-F8F8-34E51A6A3B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1.2.6  </a:t>
            </a:r>
            <a:r>
              <a:rPr lang="zh-CN" altLang="en-US" b="1"/>
              <a:t>混合运算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C2CF00CA-C5A1-B942-04B1-B489536707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343900" cy="5013325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>
                <a:solidFill>
                  <a:schemeClr val="hlink"/>
                </a:solidFill>
              </a:rPr>
              <a:t>注意</a:t>
            </a:r>
            <a:r>
              <a:rPr lang="en-US" altLang="zh-CN">
                <a:solidFill>
                  <a:schemeClr val="accent1"/>
                </a:solidFill>
              </a:rPr>
              <a:t>(1)</a:t>
            </a:r>
            <a:r>
              <a:rPr lang="en-US" altLang="zh-CN"/>
              <a:t>┐,∧,∨,→,↔</a:t>
            </a:r>
            <a:r>
              <a:rPr lang="zh-CN" altLang="en-US"/>
              <a:t>是命题的五种</a:t>
            </a:r>
            <a:r>
              <a:rPr lang="zh-CN" altLang="en-US">
                <a:solidFill>
                  <a:srgbClr val="FF00FF"/>
                </a:solidFill>
              </a:rPr>
              <a:t>运算</a:t>
            </a:r>
            <a:r>
              <a:rPr lang="zh-CN" altLang="en-US"/>
              <a:t>符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>
                <a:solidFill>
                  <a:schemeClr val="accent1"/>
                </a:solidFill>
              </a:rPr>
              <a:t>(2)</a:t>
            </a:r>
            <a:r>
              <a:rPr lang="en-US" altLang="zh-CN"/>
              <a:t>┐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FF"/>
                </a:solidFill>
              </a:rPr>
              <a:t>一元</a:t>
            </a:r>
            <a:r>
              <a:rPr lang="zh-CN" altLang="en-US"/>
              <a:t>运算，∧</a:t>
            </a:r>
            <a:r>
              <a:rPr lang="en-US" altLang="zh-CN"/>
              <a:t>,∨,→,↔</a:t>
            </a:r>
            <a:r>
              <a:rPr lang="zh-CN" altLang="en-US"/>
              <a:t>是</a:t>
            </a:r>
            <a:r>
              <a:rPr lang="zh-CN" altLang="en-US">
                <a:solidFill>
                  <a:srgbClr val="FF00FF"/>
                </a:solidFill>
              </a:rPr>
              <a:t>二元</a:t>
            </a:r>
            <a:r>
              <a:rPr lang="zh-CN" altLang="en-US"/>
              <a:t>运算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>
                <a:solidFill>
                  <a:schemeClr val="accent1"/>
                </a:solidFill>
              </a:rPr>
              <a:t>(3)</a:t>
            </a:r>
            <a:r>
              <a:rPr lang="zh-CN" altLang="en-US" sz="2400">
                <a:solidFill>
                  <a:srgbClr val="FF00FF"/>
                </a:solidFill>
              </a:rPr>
              <a:t>圆括号</a:t>
            </a:r>
            <a:r>
              <a:rPr lang="zh-CN" altLang="en-US" sz="2400"/>
              <a:t>体现┐</a:t>
            </a:r>
            <a:r>
              <a:rPr lang="en-US" altLang="zh-CN" sz="2400"/>
              <a:t>,∧,∨,→,↔</a:t>
            </a:r>
            <a:r>
              <a:rPr lang="zh-CN" altLang="en-US" sz="2400"/>
              <a:t>等运算的</a:t>
            </a:r>
            <a:r>
              <a:rPr lang="zh-CN" altLang="en-US" sz="2400">
                <a:solidFill>
                  <a:srgbClr val="FF00FF"/>
                </a:solidFill>
              </a:rPr>
              <a:t>先后</a:t>
            </a:r>
            <a:r>
              <a:rPr lang="zh-CN" altLang="en-US" sz="2400"/>
              <a:t>次序，且从里到外，最外层括号可省略。一元运算可不加括号，全</a:t>
            </a:r>
            <a:r>
              <a:rPr lang="en-US" altLang="zh-CN" sz="2400"/>
              <a:t>∧,∨</a:t>
            </a:r>
            <a:r>
              <a:rPr lang="zh-CN" altLang="en-US" sz="2400"/>
              <a:t>，可不加括号</a:t>
            </a:r>
          </a:p>
          <a:p>
            <a:pPr eaLnBrk="1" hangingPunct="1">
              <a:lnSpc>
                <a:spcPct val="170000"/>
              </a:lnSpc>
              <a:buFont typeface="Wingdings" panose="05000000000000000000" pitchFamily="2" charset="2"/>
              <a:buNone/>
            </a:pPr>
            <a:r>
              <a:rPr lang="zh-CN" altLang="en-US"/>
              <a:t>   </a:t>
            </a:r>
            <a:r>
              <a:rPr lang="en-US" altLang="zh-CN">
                <a:solidFill>
                  <a:schemeClr val="accent1"/>
                </a:solidFill>
              </a:rPr>
              <a:t>(4)</a:t>
            </a:r>
            <a:r>
              <a:rPr lang="zh-CN" altLang="en-US"/>
              <a:t>一元运算总是</a:t>
            </a:r>
            <a:r>
              <a:rPr lang="zh-CN" altLang="en-US">
                <a:solidFill>
                  <a:srgbClr val="FF00FF"/>
                </a:solidFill>
              </a:rPr>
              <a:t>优先</a:t>
            </a:r>
            <a:r>
              <a:rPr lang="zh-CN" altLang="en-US"/>
              <a:t>于二元运算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文本框 5">
            <a:extLst>
              <a:ext uri="{FF2B5EF4-FFF2-40B4-BE49-F238E27FC236}">
                <a16:creationId xmlns:a16="http://schemas.microsoft.com/office/drawing/2014/main" id="{25CE2E10-9B10-AE7D-2B42-CDF950EC0FC9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709613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“如果我休假，我将去黄山旅游”，否定可表示为：</a:t>
            </a:r>
          </a:p>
        </p:txBody>
      </p:sp>
      <p:sp>
        <p:nvSpPr>
          <p:cNvPr id="20483" name="矩形: 圆角 6">
            <a:extLst>
              <a:ext uri="{FF2B5EF4-FFF2-40B4-BE49-F238E27FC236}">
                <a16:creationId xmlns:a16="http://schemas.microsoft.com/office/drawing/2014/main" id="{74D98674-CF03-72FC-4E0D-449941A734BC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anchor="ctr" anchorCtr="1"/>
          <a:lstStyle>
            <a:lvl1pPr marL="342900" indent="-3429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</a:p>
        </p:txBody>
      </p:sp>
      <p:grpSp>
        <p:nvGrpSpPr>
          <p:cNvPr id="20484" name="组合 11">
            <a:extLst>
              <a:ext uri="{FF2B5EF4-FFF2-40B4-BE49-F238E27FC236}">
                <a16:creationId xmlns:a16="http://schemas.microsoft.com/office/drawing/2014/main" id="{FFB0BA32-2ED5-F4C8-7BC4-A95F7FCAC7FE}"/>
              </a:ext>
            </a:extLst>
          </p:cNvPr>
          <p:cNvGrpSpPr>
            <a:grpSpLocks/>
          </p:cNvGrpSpPr>
          <p:nvPr>
            <p:custDataLst>
              <p:tags r:id="rId4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20486" name="TitleBackground">
              <a:extLst>
                <a:ext uri="{FF2B5EF4-FFF2-40B4-BE49-F238E27FC236}">
                  <a16:creationId xmlns:a16="http://schemas.microsoft.com/office/drawing/2014/main" id="{34DFDEFC-3576-3D34-D912-0726BAA33CFD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20487" name="ColorBlock">
              <a:extLst>
                <a:ext uri="{FF2B5EF4-FFF2-40B4-BE49-F238E27FC236}">
                  <a16:creationId xmlns:a16="http://schemas.microsoft.com/office/drawing/2014/main" id="{E7287158-14A3-5F85-2CEE-1DE41CC18AC5}"/>
                </a:ext>
              </a:extLst>
            </p:cNvPr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85000"/>
                </a:lnSpc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None/>
              </a:pPr>
              <a:endParaRPr lang="zh-CN" altLang="en-US"/>
            </a:p>
          </p:txBody>
        </p:sp>
        <p:sp>
          <p:nvSpPr>
            <p:cNvPr id="20488" name="TypeText">
              <a:extLst>
                <a:ext uri="{FF2B5EF4-FFF2-40B4-BE49-F238E27FC236}">
                  <a16:creationId xmlns:a16="http://schemas.microsoft.com/office/drawing/2014/main" id="{490250D7-A2C9-B88E-7645-6418DE0916ED}"/>
                </a:ext>
              </a:extLst>
            </p:cNvPr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主观题</a:t>
              </a:r>
            </a:p>
          </p:txBody>
        </p:sp>
        <p:sp>
          <p:nvSpPr>
            <p:cNvPr id="20489" name="TipText">
              <a:extLst>
                <a:ext uri="{FF2B5EF4-FFF2-40B4-BE49-F238E27FC236}">
                  <a16:creationId xmlns:a16="http://schemas.microsoft.com/office/drawing/2014/main" id="{5E8B03E1-BB6F-8EFD-8E79-93107A98D64F}"/>
                </a:ext>
              </a:extLst>
            </p:cNvPr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10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</a:p>
          </p:txBody>
        </p:sp>
      </p:grpSp>
      <p:pic>
        <p:nvPicPr>
          <p:cNvPr id="20485" name="图片 4">
            <a:extLst>
              <a:ext uri="{FF2B5EF4-FFF2-40B4-BE49-F238E27FC236}">
                <a16:creationId xmlns:a16="http://schemas.microsoft.com/office/drawing/2014/main" id="{9CB096FD-0FF1-EA3B-E3D2-1AACB70955C5}"/>
              </a:ext>
            </a:extLst>
          </p:cNvPr>
          <p:cNvPicPr>
            <a:picLocks noChangeArrowheads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85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85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itchFamily="2" charset="2"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CDESIGNL</Template>
  <TotalTime>1587</TotalTime>
  <Words>928</Words>
  <Application>Microsoft Office PowerPoint</Application>
  <PresentationFormat>全屏显示(4:3)</PresentationFormat>
  <Paragraphs>164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宋体</vt:lpstr>
      <vt:lpstr>微软雅黑</vt:lpstr>
      <vt:lpstr>Arial</vt:lpstr>
      <vt:lpstr>Tahoma</vt:lpstr>
      <vt:lpstr>Times New Roman</vt:lpstr>
      <vt:lpstr>Wingdings</vt:lpstr>
      <vt:lpstr>Blends</vt:lpstr>
      <vt:lpstr>Equation</vt:lpstr>
      <vt:lpstr> 1.2   命题联结词</vt:lpstr>
      <vt:lpstr> 1.2.1   否定联结词</vt:lpstr>
      <vt:lpstr>   1.2.1   否定联结词</vt:lpstr>
      <vt:lpstr>PowerPoint 演示文稿</vt:lpstr>
      <vt:lpstr>1.2.2   合取联结词</vt:lpstr>
      <vt:lpstr>1.2.2   合取联结词</vt:lpstr>
      <vt:lpstr>PowerPoint 演示文稿</vt:lpstr>
      <vt:lpstr>1.2.3 析取联结词</vt:lpstr>
      <vt:lpstr>1.2.3 析取联结词</vt:lpstr>
      <vt:lpstr>1.2.3 析取联结词</vt:lpstr>
      <vt:lpstr> 1.2.4   条件联结词</vt:lpstr>
      <vt:lpstr>1.2.4   条件联结词</vt:lpstr>
      <vt:lpstr> 1.2.5   双条件联结词</vt:lpstr>
      <vt:lpstr>1.2.4 双条件联结词</vt:lpstr>
      <vt:lpstr>1.2.6  混合运算</vt:lpstr>
      <vt:lpstr>1.2.6  混合运算</vt:lpstr>
      <vt:lpstr>1.2.6  混合运算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LENOVO</cp:lastModifiedBy>
  <cp:revision>60</cp:revision>
  <dcterms:created xsi:type="dcterms:W3CDTF">2010-04-09T13:44:14Z</dcterms:created>
  <dcterms:modified xsi:type="dcterms:W3CDTF">2023-12-21T07:41:01Z</dcterms:modified>
</cp:coreProperties>
</file>