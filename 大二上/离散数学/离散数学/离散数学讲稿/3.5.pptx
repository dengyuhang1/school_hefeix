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sldIdLst>
    <p:sldId id="376" r:id="rId2"/>
    <p:sldId id="375" r:id="rId3"/>
    <p:sldId id="317" r:id="rId4"/>
    <p:sldId id="318" r:id="rId5"/>
    <p:sldId id="319" r:id="rId6"/>
    <p:sldId id="378" r:id="rId7"/>
    <p:sldId id="320" r:id="rId8"/>
    <p:sldId id="321" r:id="rId9"/>
    <p:sldId id="323" r:id="rId10"/>
    <p:sldId id="342" r:id="rId11"/>
    <p:sldId id="324" r:id="rId12"/>
    <p:sldId id="337" r:id="rId13"/>
    <p:sldId id="325" r:id="rId14"/>
    <p:sldId id="388" r:id="rId15"/>
    <p:sldId id="389" r:id="rId16"/>
    <p:sldId id="382" r:id="rId17"/>
    <p:sldId id="386" r:id="rId18"/>
    <p:sldId id="387" r:id="rId19"/>
    <p:sldId id="326" r:id="rId20"/>
    <p:sldId id="344" r:id="rId21"/>
    <p:sldId id="348" r:id="rId22"/>
    <p:sldId id="346" r:id="rId23"/>
    <p:sldId id="351" r:id="rId24"/>
    <p:sldId id="350" r:id="rId25"/>
    <p:sldId id="356" r:id="rId26"/>
    <p:sldId id="368" r:id="rId27"/>
    <p:sldId id="370" r:id="rId28"/>
    <p:sldId id="371" r:id="rId2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0066"/>
    <a:srgbClr val="CC0066"/>
    <a:srgbClr val="0066FF"/>
    <a:srgbClr val="008080"/>
    <a:srgbClr val="339933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3825" autoAdjust="0"/>
  </p:normalViewPr>
  <p:slideViewPr>
    <p:cSldViewPr>
      <p:cViewPr varScale="1">
        <p:scale>
          <a:sx n="65" d="100"/>
          <a:sy n="65" d="100"/>
        </p:scale>
        <p:origin x="66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D5F27B4-8C37-8495-B8DF-6515494235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F29032-EE09-A18A-95D9-A688ECD1DD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7BDCB7C-1BE7-4F97-9DB7-1CB78D69D66C}" type="datetimeFigureOut">
              <a:rPr lang="zh-CN" altLang="en-US"/>
              <a:pPr>
                <a:defRPr/>
              </a:pPr>
              <a:t>2023/12/21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AA76C88-4FBD-4F4D-0FAD-70A057E460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6C7EC12-786F-9ADF-3DF3-0B4F8672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0834D6-0D1E-4BF5-57AF-D6C9680A34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47FE91-2C30-98B7-E780-44BE20EFC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B550FC-EDD2-4612-AB04-2043659D45C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B2988916-B910-4EF9-0859-CA211A7EF5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BEAEEF0E-C9BC-CD0D-DAE2-E77C9369EA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5D653C96-D0B9-B27A-41D2-1DD9B78D9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94D3DA-8C94-4379-B807-DC893FBA8AE5}" type="slidenum">
              <a:rPr lang="zh-CN" altLang="en-US"/>
              <a:pPr eaLnBrk="1" hangingPunct="1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7CF875-FDEB-3A7D-D76C-0E1CB1446DD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DA5C781-7AAB-0525-0E5C-7127305257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2BE902E-224E-9750-75D4-337505A1A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5222B4C-A201-6AEA-AED7-AC3C756A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E99B764-60FF-8A32-0CE7-B0D01C009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30F1A9E-DC93-58C9-837E-C77A21C0E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DF48D4-760E-3560-5C90-07EAA4EB0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94FCD09-D2B2-B5B1-5940-73AE52FEB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0772597-EF8B-477B-AF58-06F455E48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E8483937-3482-2666-F735-010B442292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7FE5EEA-3B60-9665-D6D8-1D5DBF4412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E648F7D-FC22-29EB-7636-7CCB2660F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985660A8-844F-F809-EDCE-E0CEE281E3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521B673-2D33-496B-B696-9B09FD628B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56CDE23-AA52-1DCF-9425-42C7589FE4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132E52D-1762-D03C-698F-BE0653931C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C6A0DBD-CCE8-21CE-BFB7-92ACB2F0A0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8BA5DC-842F-4C0C-8F67-7223CB2C62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16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B9723D-1D81-590E-C3D8-D5C8B981C9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6357945-600E-2597-0913-FF317B8734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FC85F3-D6E4-4889-6FCD-FF01AC9EA4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E8144D-77FC-40AA-8D28-FD97CA5606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0533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FD238F6-B0E2-5F2E-EA93-FA19CB68E0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D73E666-D3A1-497F-D88E-9B0037E17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DFC16D8-FE9D-6EDF-91CD-4AE38917A1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E367A1-44CA-4562-9F5A-C00AC002DA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334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1836169-DB7B-488E-4ACB-3CAD557C55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FBFF9EF-90FD-360F-5C67-4EF8F5289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991DBF5-EC2C-BC82-3DC1-85AFCD8742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5C3D83-7589-4875-A65C-C76B64A359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602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A728DC0-BB74-C2BE-DCC9-4CA47C4315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1E0488A-F3F5-4702-BC5F-7736342882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BD32ACB-8290-F4EA-38BB-F1D9AA821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8907DB-E75D-4B6E-BF5A-55B46EF920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926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810F621D-B5A1-C4A6-244F-2B39DF508F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51AA8A8-C7F4-EC28-5A68-7F107080F4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16C7015-B55C-59F2-CB5F-F0B85221B4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81ECC8-49C4-489E-BD63-F4F68EDF14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113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737C231-2388-AC39-B50D-7B9344BDCB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1A05F2A-C17D-420B-C109-798C327DE8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B717CA9-F28E-DC32-5AE0-6E7F197FF9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A1742-A213-4D51-B358-504D12437F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566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199CC85-55C9-AA91-7CEE-0B40FA2B22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AD6A50D-B7F0-CAD7-4448-51321AFAA4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2F169D0-7527-5C64-830D-025FDB53A1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5577C9-0BAE-40EA-810A-F1CEE85F416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8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9B030D1-764C-6D4B-BB90-3B70CBFE92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B76CD70-30FD-260A-69E6-CD101BD988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ECD22D5-268F-524F-EB00-C20ED8B551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F947BA-EA07-4450-A1B0-B2E9826303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688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08EE47D-E4B3-56AA-BBAD-0F6870169F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A368E28-C4F0-7D53-D255-EEBEC665FA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679731A-102B-902C-8449-BC7CA35AF2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D2429-A250-47CC-8230-282CE4B528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467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36BBB46-4B5F-9FCE-0AE4-1DEA3B9479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6A0C553-6D9C-B6CA-BE16-5ECF4CE88F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B23D39B2-AF52-D911-2215-07EC8ABB92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88CAE6-B2C3-42DF-AE92-78AC3C08D7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183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292EF63-E627-7396-BC04-5A976576A8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9378DF4-C7E2-D3D4-5B7A-0AC3ACF295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BB77C06-7FA4-88B1-2826-B5AB426C52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E07C53-259F-4E8B-B56A-DB4C28AEA6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70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83F3603-D413-BB46-AC3E-311FCE76AF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509BA4A-CDA4-AA77-C0AF-94E6E55820D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0398C2-50D4-5C51-426B-555AECDFAD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17D9D5-05CB-EDA9-2053-9271333558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F5C7EEC-8701-829D-198E-80DF4C8DB3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3B27610-78EA-855C-8EE3-01A021E8C8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6DDF4171-AB5D-986B-5E4D-0BB7AFAE22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2CCED520-9C32-863A-34D7-A2FDB8CC67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CEBD773-E808-1D39-35B0-BF398B315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31423E08-D5CF-6548-FEE7-3763E273F3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A33267D0-116C-1D60-88F0-BD35D9035C6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E641905D-6663-D802-7B9F-19ED9D9C33A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BC43A5-FAC9-4367-9D49-BDB76F11D8B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3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3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.w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5EE5EF2-2B59-B039-465B-D978B5BE3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99"/>
                </a:solidFill>
              </a:rPr>
              <a:t>3.5 </a:t>
            </a:r>
            <a:r>
              <a:rPr lang="zh-CN" altLang="en-US">
                <a:solidFill>
                  <a:srgbClr val="333399"/>
                </a:solidFill>
              </a:rPr>
              <a:t>关系的性质  </a:t>
            </a:r>
            <a:endParaRPr lang="zh-CN" altLang="en-US" sz="4800"/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B6E04E20-5819-6C30-A58A-7871797E7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69325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问题</a:t>
            </a:r>
            <a:r>
              <a:rPr lang="zh-CN" altLang="en-US" dirty="0"/>
              <a:t>：设六同学集合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{1,2,3,4,5,6}</a:t>
            </a:r>
            <a:r>
              <a:rPr lang="zh-CN" altLang="en-US" dirty="0"/>
              <a:t>，这六位同学</a:t>
            </a:r>
            <a:r>
              <a:rPr lang="zh-CN" altLang="en-US" dirty="0">
                <a:solidFill>
                  <a:srgbClr val="00B050"/>
                </a:solidFill>
              </a:rPr>
              <a:t>住宿在</a:t>
            </a:r>
            <a:r>
              <a:rPr lang="zh-CN" altLang="en-US" dirty="0"/>
              <a:t>同一公寓的</a:t>
            </a:r>
            <a:r>
              <a:rPr lang="zh-CN" altLang="en-US" dirty="0">
                <a:solidFill>
                  <a:srgbClr val="00B050"/>
                </a:solidFill>
              </a:rPr>
              <a:t>关系</a:t>
            </a:r>
            <a:r>
              <a:rPr lang="zh-CN" altLang="en-US" dirty="0"/>
              <a:t>显示如下：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1,1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2,2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3,3</a:t>
            </a:r>
            <a:r>
              <a:rPr lang="en-US" altLang="zh-CN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       &lt;</a:t>
            </a:r>
            <a:r>
              <a:rPr lang="en-US" altLang="zh-CN" dirty="0">
                <a:solidFill>
                  <a:srgbClr val="FF00FF"/>
                </a:solidFill>
              </a:rPr>
              <a:t>4,4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4,5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4,6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5,4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5,5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      &lt;</a:t>
            </a:r>
            <a:r>
              <a:rPr lang="en-US" altLang="zh-CN" dirty="0">
                <a:solidFill>
                  <a:srgbClr val="000000"/>
                </a:solidFill>
              </a:rPr>
              <a:t>5,6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6,4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6,5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6,6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3600" dirty="0">
                <a:solidFill>
                  <a:srgbClr val="000000"/>
                </a:solidFill>
              </a:rPr>
              <a:t>自反关系；对称关系；传递关系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E43796-9427-9464-FC0A-C6A89E458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 </a:t>
            </a:r>
            <a:r>
              <a:rPr lang="zh-CN" altLang="en-US"/>
              <a:t>关系的性质 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57078F8-F036-E223-4D29-6917D3E33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1773238"/>
            <a:ext cx="8101012" cy="5084762"/>
          </a:xfrm>
        </p:spPr>
        <p:txBody>
          <a:bodyPr/>
          <a:lstStyle/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3.5.1 </a:t>
            </a:r>
            <a:r>
              <a:rPr lang="zh-CN" altLang="en-US" sz="3600" b="1"/>
              <a:t>恒等关系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3.5.2 </a:t>
            </a:r>
            <a:r>
              <a:rPr lang="zh-CN" altLang="en-US" sz="3600" b="1"/>
              <a:t>自反关系和反自反关系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3.5.3 </a:t>
            </a:r>
            <a:r>
              <a:rPr lang="zh-CN" altLang="en-US" sz="3600" b="1"/>
              <a:t>对称关系和反对称关系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3.5.4 </a:t>
            </a:r>
            <a:r>
              <a:rPr lang="zh-CN" altLang="en-US" sz="3600" b="1"/>
              <a:t>传递关系</a:t>
            </a:r>
            <a:r>
              <a:rPr lang="zh-CN" altLang="en-US"/>
              <a:t> </a:t>
            </a:r>
            <a:endParaRPr lang="en-US" altLang="zh-CN"/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3.5.5</a:t>
            </a:r>
            <a:r>
              <a:rPr lang="en-US" altLang="zh-CN" sz="3600" b="1"/>
              <a:t> </a:t>
            </a:r>
            <a:r>
              <a:rPr lang="zh-CN" altLang="en-US" sz="3600" b="1"/>
              <a:t>举例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71C3D78-F2D5-7943-85BC-4088272D6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3.5.1 </a:t>
            </a:r>
            <a:r>
              <a:rPr lang="zh-CN" altLang="en-US" sz="4800"/>
              <a:t>恒等关系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C36B87B6-D5C5-270B-4127-1BE21167F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65137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集合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chemeClr val="hlink"/>
                </a:solidFill>
              </a:rPr>
              <a:t>恒等关系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identity relation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I</a:t>
            </a:r>
            <a:r>
              <a:rPr lang="en-US" altLang="zh-CN" baseline="-25000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x∈A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例如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，则</a:t>
            </a:r>
            <a:r>
              <a:rPr lang="en-US" altLang="zh-CN" dirty="0"/>
              <a:t>A</a:t>
            </a:r>
            <a:r>
              <a:rPr lang="zh-CN" altLang="en-US" dirty="0"/>
              <a:t>上的恒等关系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en-US" altLang="zh-CN" dirty="0"/>
              <a:t>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>
            <a:extLst>
              <a:ext uri="{FF2B5EF4-FFF2-40B4-BE49-F238E27FC236}">
                <a16:creationId xmlns:a16="http://schemas.microsoft.com/office/drawing/2014/main" id="{955DF36E-FCBE-0EB4-D90B-150151D95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3.5.2 </a:t>
            </a:r>
            <a:r>
              <a:rPr lang="zh-CN" altLang="en-US"/>
              <a:t>自反关系和反自反关系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58C5E67-0AB8-256D-9E23-EE0C5238CC6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844675"/>
            <a:ext cx="8280400" cy="4840288"/>
          </a:xfrm>
        </p:spPr>
        <p:txBody>
          <a:bodyPr/>
          <a:lstStyle/>
          <a:p>
            <a:pPr eaLnBrk="1" hangingPunct="1">
              <a:lnSpc>
                <a:spcPct val="175000"/>
              </a:lnSpc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3.5.1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为任意集合，</a:t>
            </a:r>
            <a:r>
              <a:rPr lang="en-US" altLang="zh-CN"/>
              <a:t>R   A×A</a:t>
            </a:r>
            <a:r>
              <a:rPr lang="zh-CN" altLang="en-US"/>
              <a:t>，若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/>
              <a:t>  </a:t>
            </a:r>
            <a:r>
              <a:rPr lang="en-US" altLang="zh-CN"/>
              <a:t>(1)</a:t>
            </a:r>
            <a:r>
              <a:rPr lang="zh-CN" altLang="en-US"/>
              <a:t>对</a:t>
            </a:r>
            <a:r>
              <a:rPr lang="zh-CN" altLang="en-US">
                <a:solidFill>
                  <a:schemeClr val="accent1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x∈A</a:t>
            </a:r>
            <a:r>
              <a:rPr lang="zh-CN" altLang="en-US"/>
              <a:t>，均有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x,x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>
                <a:solidFill>
                  <a:schemeClr val="accent1"/>
                </a:solidFill>
              </a:rPr>
              <a:t>∈</a:t>
            </a:r>
            <a:r>
              <a:rPr lang="en-US" altLang="zh-CN"/>
              <a:t>R</a:t>
            </a:r>
            <a:r>
              <a:rPr lang="zh-CN" altLang="en-US"/>
              <a:t>，则称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/>
              <a:t>A</a:t>
            </a:r>
            <a:r>
              <a:rPr lang="zh-CN" altLang="en-US"/>
              <a:t>上的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</a:t>
            </a:r>
            <a:r>
              <a:rPr lang="zh-CN" altLang="en-US" b="1">
                <a:solidFill>
                  <a:srgbClr val="FF00FF"/>
                </a:solidFill>
              </a:rPr>
              <a:t>自反关系</a:t>
            </a:r>
            <a:r>
              <a:rPr lang="en-US" altLang="zh-CN"/>
              <a:t>(</a:t>
            </a:r>
            <a:r>
              <a:rPr lang="en-US" altLang="zh-CN">
                <a:solidFill>
                  <a:srgbClr val="FF00FF"/>
                </a:solidFill>
              </a:rPr>
              <a:t>reflexive relation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en-US" altLang="zh-CN"/>
              <a:t>  (2)</a:t>
            </a:r>
            <a:r>
              <a:rPr lang="zh-CN" altLang="en-US"/>
              <a:t>对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</a:t>
            </a:r>
            <a:r>
              <a:rPr lang="en-US" altLang="zh-CN"/>
              <a:t>x∈A</a:t>
            </a:r>
            <a:r>
              <a:rPr lang="zh-CN" altLang="en-US"/>
              <a:t>，均有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x,x</a:t>
            </a:r>
            <a:r>
              <a:rPr lang="en-US" altLang="zh-CN" b="1">
                <a:latin typeface="宋体" panose="02010600030101010101" pitchFamily="2" charset="-122"/>
              </a:rPr>
              <a:t>&gt;  </a:t>
            </a:r>
            <a:r>
              <a:rPr lang="en-US" altLang="zh-CN"/>
              <a:t>R</a:t>
            </a:r>
            <a:r>
              <a:rPr lang="zh-CN" altLang="en-US"/>
              <a:t>，则称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/>
              <a:t>A</a:t>
            </a:r>
            <a:r>
              <a:rPr lang="zh-CN" altLang="en-US"/>
              <a:t>上的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    </a:t>
            </a:r>
            <a:r>
              <a:rPr lang="zh-CN" altLang="en-US" b="1">
                <a:solidFill>
                  <a:schemeClr val="accent1"/>
                </a:solidFill>
              </a:rPr>
              <a:t>反自反关系</a:t>
            </a:r>
            <a:r>
              <a:rPr lang="en-US" altLang="zh-CN"/>
              <a:t>(</a:t>
            </a:r>
            <a:r>
              <a:rPr lang="en-US" altLang="zh-CN">
                <a:solidFill>
                  <a:schemeClr val="accent1"/>
                </a:solidFill>
              </a:rPr>
              <a:t>irreflexive relation</a:t>
            </a:r>
            <a:r>
              <a:rPr lang="en-US" altLang="zh-CN"/>
              <a:t>) </a:t>
            </a:r>
          </a:p>
        </p:txBody>
      </p: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0C75B537-499B-7397-7B13-2716A983CE1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986463" y="2205038"/>
          <a:ext cx="3857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2205038"/>
                        <a:ext cx="3857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7">
            <a:extLst>
              <a:ext uri="{FF2B5EF4-FFF2-40B4-BE49-F238E27FC236}">
                <a16:creationId xmlns:a16="http://schemas.microsoft.com/office/drawing/2014/main" id="{303BB80F-8A58-12CA-DDF1-D5AEA4AA8F7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67313" y="5035550"/>
          <a:ext cx="3413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835" imgH="152202" progId="Equation.DSMT4">
                  <p:embed/>
                </p:oleObj>
              </mc:Choice>
              <mc:Fallback>
                <p:oleObj name="Equation" r:id="rId4" imgW="126835" imgH="15220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5035550"/>
                        <a:ext cx="34131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BB09378-8BA1-0705-A07E-26AD544EB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3.5.2 </a:t>
            </a:r>
            <a:r>
              <a:rPr lang="zh-CN" altLang="en-US"/>
              <a:t>自反关系和反自反关系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F25705F0-CA46-0B81-BA96-D0063AC1E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017713"/>
            <a:ext cx="8532812" cy="465137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3.5.1</a:t>
            </a:r>
            <a:r>
              <a:rPr lang="en-US" altLang="zh-CN" b="1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，则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1,1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2,2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3,3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4,4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 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89D2485-487F-9F94-C325-246BBDE9C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99"/>
                </a:solidFill>
              </a:rPr>
              <a:t>3.5.2 </a:t>
            </a:r>
            <a:r>
              <a:rPr lang="zh-CN" altLang="en-US">
                <a:solidFill>
                  <a:srgbClr val="333399"/>
                </a:solidFill>
              </a:rPr>
              <a:t>自反关系和反自反关系</a:t>
            </a:r>
            <a:endParaRPr lang="zh-CN" altLang="en-US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217FB7CF-4114-9413-C880-413035295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8686800" cy="508476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3.5.2</a:t>
            </a:r>
            <a:r>
              <a:rPr lang="en-US" altLang="zh-CN" b="1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，下列关系是集合</a:t>
            </a:r>
            <a:r>
              <a:rPr lang="en-US" altLang="zh-CN" dirty="0"/>
              <a:t>A</a:t>
            </a:r>
            <a:r>
              <a:rPr lang="zh-CN" altLang="en-US" dirty="0"/>
              <a:t>上的自反关系吗？</a:t>
            </a:r>
            <a:r>
              <a:rPr lang="en-US" altLang="zh-CN" dirty="0">
                <a:solidFill>
                  <a:srgbClr val="000000"/>
                </a:solidFill>
              </a:rPr>
              <a:t> A</a:t>
            </a:r>
            <a:r>
              <a:rPr lang="zh-CN" altLang="en-US" dirty="0">
                <a:solidFill>
                  <a:srgbClr val="000000"/>
                </a:solidFill>
              </a:rPr>
              <a:t>上有多少个自反关系？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I</a:t>
            </a:r>
            <a:r>
              <a:rPr lang="en-US" altLang="zh-CN" baseline="-25000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2,2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4,4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} </a:t>
            </a:r>
            <a:endParaRPr lang="zh-CN" altLang="en-US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1,1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2,2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3,3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4,4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1,1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2,2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3,3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4,4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3,4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  Q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{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1,1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2,2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3,3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FF0000"/>
                </a:solidFill>
              </a:rPr>
              <a:t>4,4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1,2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3,4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4,1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AB8C31EF-E083-D8AD-3C2E-176205469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对称关系和反对称关系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E3D9ECE4-6CBE-BCC0-0EF0-BA65EB2FBA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532812" cy="4840288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3.5.2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为任意集合，</a:t>
            </a:r>
            <a:r>
              <a:rPr lang="en-US" altLang="zh-CN" dirty="0"/>
              <a:t>R   A×A</a:t>
            </a:r>
            <a:r>
              <a:rPr lang="zh-CN" altLang="en-US" dirty="0"/>
              <a:t>，若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</a:t>
            </a:r>
            <a:r>
              <a:rPr lang="en-US" altLang="zh-CN" dirty="0"/>
              <a:t>(1)</a:t>
            </a:r>
            <a:r>
              <a:rPr lang="zh-CN" altLang="en-US" dirty="0"/>
              <a:t>对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x,y∈A</a:t>
            </a:r>
            <a:r>
              <a:rPr lang="zh-CN" altLang="en-US" dirty="0"/>
              <a:t>，若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</a:t>
            </a:r>
            <a:r>
              <a:rPr lang="en-US" altLang="zh-CN" dirty="0" err="1">
                <a:solidFill>
                  <a:schemeClr val="hlink"/>
                </a:solidFill>
              </a:rPr>
              <a:t>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时必有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hlink"/>
                </a:solidFill>
              </a:rPr>
              <a:t>y</a:t>
            </a:r>
            <a:r>
              <a:rPr lang="en-US" altLang="zh-CN" dirty="0" err="1"/>
              <a:t>,x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，  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则称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chemeClr val="accent1"/>
                </a:solidFill>
              </a:rPr>
              <a:t>对称关系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symmetric relation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(2)</a:t>
            </a:r>
            <a:r>
              <a:rPr lang="zh-CN" altLang="en-US" dirty="0"/>
              <a:t>对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x,y∈A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若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</a:t>
            </a:r>
            <a:r>
              <a:rPr lang="en-US" altLang="zh-CN" dirty="0" err="1">
                <a:solidFill>
                  <a:schemeClr val="hlink"/>
                </a:solidFill>
              </a:rPr>
              <a:t>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且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hlink"/>
                </a:solidFill>
              </a:rPr>
              <a:t>y</a:t>
            </a:r>
            <a:r>
              <a:rPr lang="en-US" altLang="zh-CN" dirty="0" err="1"/>
              <a:t>,x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有</a:t>
            </a:r>
            <a:r>
              <a:rPr lang="en-US" altLang="zh-CN" dirty="0">
                <a:solidFill>
                  <a:schemeClr val="hlink"/>
                </a:solidFill>
              </a:rPr>
              <a:t>x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hlink"/>
                </a:solidFill>
              </a:rPr>
              <a:t>y</a:t>
            </a:r>
            <a:r>
              <a:rPr lang="zh-CN" altLang="en-US" dirty="0"/>
              <a:t>，  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则称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rgbClr val="FF00FF"/>
                </a:solidFill>
              </a:rPr>
              <a:t>反对称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FF"/>
                </a:solidFill>
              </a:rPr>
              <a:t>antisymmetric</a:t>
            </a:r>
            <a:r>
              <a:rPr lang="en-US" altLang="zh-CN" dirty="0"/>
              <a:t>)</a:t>
            </a:r>
            <a:r>
              <a:rPr lang="zh-CN" altLang="en-US" b="1" dirty="0">
                <a:solidFill>
                  <a:srgbClr val="FF00FF"/>
                </a:solidFill>
              </a:rPr>
              <a:t>关系</a:t>
            </a:r>
            <a:endParaRPr lang="en-US" altLang="zh-CN" dirty="0"/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6A958908-94D0-F542-2E58-2190F6F810F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011863" y="2184400"/>
          <a:ext cx="38576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2184400"/>
                        <a:ext cx="385762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AAD5584-CC53-C143-294E-8E409A1C3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对称关系和反对称关系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D2B13E5-5321-92B9-D3E9-0B3B96A2E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651375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3.5.4</a:t>
            </a:r>
            <a:r>
              <a:rPr lang="en-US" altLang="zh-CN" b="1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，则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9118D326-EE82-947E-64D3-364322F1A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对称关系和反对称关系</a:t>
            </a:r>
          </a:p>
        </p:txBody>
      </p:sp>
      <p:sp>
        <p:nvSpPr>
          <p:cNvPr id="146437" name="Rectangle 5">
            <a:extLst>
              <a:ext uri="{FF2B5EF4-FFF2-40B4-BE49-F238E27FC236}">
                <a16:creationId xmlns:a16="http://schemas.microsoft.com/office/drawing/2014/main" id="{E616ABFF-E886-F085-310F-EAF82B2DD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424862" cy="4941887"/>
          </a:xfrm>
        </p:spPr>
        <p:txBody>
          <a:bodyPr/>
          <a:lstStyle/>
          <a:p>
            <a:pPr eaLnBrk="1" hangingPunct="1">
              <a:lnSpc>
                <a:spcPct val="127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3.5.5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为实数集，若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(</a:t>
            </a:r>
            <a:r>
              <a:rPr lang="en-US" altLang="zh-CN" dirty="0" err="1"/>
              <a:t>x</a:t>
            </a:r>
            <a:r>
              <a:rPr lang="en-US" altLang="en-US" dirty="0" err="1"/>
              <a:t>－</a:t>
            </a:r>
            <a:r>
              <a:rPr lang="en-US" altLang="zh-CN" dirty="0" err="1"/>
              <a:t>y</a:t>
            </a:r>
            <a:r>
              <a:rPr lang="en-US" altLang="zh-CN" dirty="0"/>
              <a:t>)/2</a:t>
            </a:r>
            <a:r>
              <a:rPr lang="zh-CN" altLang="en-US" dirty="0">
                <a:solidFill>
                  <a:srgbClr val="FF00FF"/>
                </a:solidFill>
              </a:rPr>
              <a:t>是自然数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则</a:t>
            </a:r>
            <a:r>
              <a:rPr lang="en-US" altLang="zh-CN" dirty="0"/>
              <a:t>H</a:t>
            </a:r>
            <a:r>
              <a:rPr lang="zh-CN" altLang="en-US" dirty="0"/>
              <a:t>是反对称关系。</a:t>
            </a:r>
            <a:endParaRPr lang="zh-CN" altLang="en-US" b="1" dirty="0"/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设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dirty="0" err="1"/>
              <a:t>,</a:t>
            </a:r>
            <a:r>
              <a:rPr lang="en-US" altLang="zh-CN" dirty="0" err="1">
                <a:solidFill>
                  <a:schemeClr val="accent1"/>
                </a:solidFill>
              </a:rPr>
              <a:t>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y</a:t>
            </a:r>
            <a:r>
              <a:rPr lang="en-US" altLang="zh-CN" dirty="0" err="1"/>
              <a:t>,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∈H</a:t>
            </a:r>
            <a:endParaRPr lang="zh-CN" altLang="en-US" dirty="0"/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</a:t>
            </a:r>
            <a:r>
              <a:rPr lang="en-US" altLang="zh-CN" dirty="0"/>
              <a:t>(</a:t>
            </a:r>
            <a:r>
              <a:rPr lang="en-US" altLang="zh-CN" dirty="0" err="1"/>
              <a:t>x</a:t>
            </a:r>
            <a:r>
              <a:rPr lang="en-US" altLang="en-US" dirty="0" err="1"/>
              <a:t>－</a:t>
            </a:r>
            <a:r>
              <a:rPr lang="en-US" altLang="zh-CN" dirty="0" err="1"/>
              <a:t>y</a:t>
            </a:r>
            <a:r>
              <a:rPr lang="en-US" altLang="zh-CN" dirty="0"/>
              <a:t>)/2</a:t>
            </a:r>
            <a:r>
              <a:rPr lang="zh-CN" altLang="en-US" dirty="0"/>
              <a:t>与</a:t>
            </a:r>
            <a:r>
              <a:rPr lang="en-US" altLang="zh-CN" dirty="0"/>
              <a:t>(</a:t>
            </a:r>
            <a:r>
              <a:rPr lang="en-US" altLang="zh-CN" dirty="0" err="1"/>
              <a:t>y</a:t>
            </a:r>
            <a:r>
              <a:rPr lang="en-US" altLang="en-US" dirty="0" err="1"/>
              <a:t>－</a:t>
            </a:r>
            <a:r>
              <a:rPr lang="en-US" altLang="zh-CN" dirty="0" err="1"/>
              <a:t>x</a:t>
            </a:r>
            <a:r>
              <a:rPr lang="en-US" altLang="zh-CN" dirty="0"/>
              <a:t>)/2       </a:t>
            </a:r>
            <a:r>
              <a:rPr lang="zh-CN" altLang="en-US" dirty="0">
                <a:solidFill>
                  <a:srgbClr val="FF00FF"/>
                </a:solidFill>
              </a:rPr>
              <a:t>是自然数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</a:t>
            </a:r>
            <a:r>
              <a:rPr lang="en-US" altLang="zh-CN" dirty="0"/>
              <a:t>(</a:t>
            </a:r>
            <a:r>
              <a:rPr lang="en-US" altLang="zh-CN" dirty="0" err="1"/>
              <a:t>x</a:t>
            </a:r>
            <a:r>
              <a:rPr lang="en-US" altLang="en-US" dirty="0" err="1"/>
              <a:t>－</a:t>
            </a:r>
            <a:r>
              <a:rPr lang="en-US" altLang="zh-CN" dirty="0" err="1"/>
              <a:t>y</a:t>
            </a:r>
            <a:r>
              <a:rPr lang="en-US" altLang="zh-CN" dirty="0"/>
              <a:t>)/2</a:t>
            </a:r>
            <a:r>
              <a:rPr lang="zh-CN" altLang="en-US" dirty="0"/>
              <a:t>＝</a:t>
            </a:r>
            <a:r>
              <a:rPr lang="en-US" altLang="zh-CN" dirty="0"/>
              <a:t>0                  </a:t>
            </a:r>
            <a:r>
              <a:rPr lang="zh-CN" altLang="en-US" dirty="0"/>
              <a:t>（正整数）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       </a:t>
            </a:r>
            <a:r>
              <a:rPr lang="en-US" altLang="zh-CN" dirty="0">
                <a:solidFill>
                  <a:schemeClr val="accent1"/>
                </a:solidFill>
              </a:rPr>
              <a:t>x</a:t>
            </a:r>
            <a:r>
              <a:rPr lang="zh-CN" altLang="en-US" dirty="0">
                <a:solidFill>
                  <a:schemeClr val="accent1"/>
                </a:solidFill>
              </a:rPr>
              <a:t>＝</a:t>
            </a:r>
            <a:r>
              <a:rPr lang="en-US" altLang="zh-CN" dirty="0">
                <a:solidFill>
                  <a:schemeClr val="accent1"/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CB47B31-CBE0-51F9-A42A-06DDF924A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对称关系和反对称关系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B12A583B-A3DF-2CAA-BE1A-5CB56968E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3.5.6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为实数集，若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(</a:t>
            </a:r>
            <a:r>
              <a:rPr lang="en-US" altLang="zh-CN" dirty="0" err="1"/>
              <a:t>x</a:t>
            </a:r>
            <a:r>
              <a:rPr lang="en-US" altLang="en-US" dirty="0" err="1"/>
              <a:t>－</a:t>
            </a:r>
            <a:r>
              <a:rPr lang="en-US" altLang="zh-CN" dirty="0" err="1"/>
              <a:t>y</a:t>
            </a:r>
            <a:r>
              <a:rPr lang="en-US" altLang="zh-CN" dirty="0"/>
              <a:t>)/2</a:t>
            </a:r>
            <a:r>
              <a:rPr lang="zh-CN" altLang="en-US" dirty="0">
                <a:solidFill>
                  <a:srgbClr val="FF00FF"/>
                </a:solidFill>
              </a:rPr>
              <a:t>是整数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则</a:t>
            </a:r>
            <a:r>
              <a:rPr lang="en-US" altLang="zh-CN" dirty="0"/>
              <a:t>S</a:t>
            </a:r>
            <a:r>
              <a:rPr lang="zh-CN" altLang="en-US" dirty="0"/>
              <a:t>是对称关系。</a:t>
            </a:r>
            <a:endParaRPr lang="zh-CN" altLang="en-US" b="1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b="1" dirty="0"/>
              <a:t> </a:t>
            </a:r>
            <a:r>
              <a:rPr lang="zh-CN" altLang="en-US" dirty="0"/>
              <a:t>设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dirty="0" err="1"/>
              <a:t>,</a:t>
            </a:r>
            <a:r>
              <a:rPr lang="en-US" altLang="zh-CN" dirty="0" err="1">
                <a:solidFill>
                  <a:schemeClr val="accent1"/>
                </a:solidFill>
              </a:rPr>
              <a:t>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∈S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(</a:t>
            </a:r>
            <a:r>
              <a:rPr lang="en-US" altLang="zh-CN" dirty="0" err="1"/>
              <a:t>x</a:t>
            </a:r>
            <a:r>
              <a:rPr lang="en-US" altLang="en-US" dirty="0" err="1"/>
              <a:t>－</a:t>
            </a:r>
            <a:r>
              <a:rPr lang="en-US" altLang="zh-CN" dirty="0" err="1"/>
              <a:t>y</a:t>
            </a:r>
            <a:r>
              <a:rPr lang="en-US" altLang="zh-CN" dirty="0"/>
              <a:t>)/2</a:t>
            </a:r>
            <a:r>
              <a:rPr lang="zh-CN" altLang="en-US" dirty="0">
                <a:solidFill>
                  <a:srgbClr val="FF00FF"/>
                </a:solidFill>
              </a:rPr>
              <a:t>是整数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</a:t>
            </a:r>
            <a:r>
              <a:rPr lang="en-US" altLang="zh-CN" dirty="0"/>
              <a:t>(</a:t>
            </a:r>
            <a:r>
              <a:rPr lang="en-US" altLang="zh-CN" dirty="0" err="1"/>
              <a:t>y</a:t>
            </a:r>
            <a:r>
              <a:rPr lang="en-US" altLang="en-US" dirty="0" err="1"/>
              <a:t>－</a:t>
            </a:r>
            <a:r>
              <a:rPr lang="en-US" altLang="zh-CN" dirty="0" err="1"/>
              <a:t>x</a:t>
            </a:r>
            <a:r>
              <a:rPr lang="en-US" altLang="zh-CN" dirty="0"/>
              <a:t>)/2</a:t>
            </a:r>
            <a:r>
              <a:rPr lang="zh-CN" altLang="en-US" dirty="0"/>
              <a:t>是整数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&lt;</a:t>
            </a:r>
            <a:r>
              <a:rPr lang="en-US" altLang="zh-CN" dirty="0" err="1">
                <a:solidFill>
                  <a:schemeClr val="accent1"/>
                </a:solidFill>
              </a:rPr>
              <a:t>y</a:t>
            </a:r>
            <a:r>
              <a:rPr lang="en-US" altLang="zh-CN" dirty="0" err="1"/>
              <a:t>,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9599CFBB-B3C6-3E11-C690-90B5DD48C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3.5.4 </a:t>
            </a:r>
            <a:r>
              <a:rPr lang="zh-CN" altLang="en-US" sz="4800"/>
              <a:t>传递关系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54525276-C893-417B-40DF-9CB2904E398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3.5.4</a:t>
            </a:r>
            <a:r>
              <a:rPr lang="zh-CN" altLang="en-US" dirty="0"/>
              <a:t>设任意集合</a:t>
            </a:r>
            <a:r>
              <a:rPr lang="en-US" altLang="zh-CN" dirty="0"/>
              <a:t>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R  A×A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对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 err="1"/>
              <a:t>x,y,z∈A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若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dirty="0" err="1"/>
              <a:t>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且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y,</a:t>
            </a:r>
            <a:r>
              <a:rPr lang="en-US" altLang="zh-CN" dirty="0" err="1">
                <a:solidFill>
                  <a:schemeClr val="accent1"/>
                </a:solidFill>
              </a:rPr>
              <a:t>z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时，必有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</a:t>
            </a:r>
            <a:r>
              <a:rPr lang="en-US" altLang="zh-CN" dirty="0" err="1"/>
              <a:t>,</a:t>
            </a:r>
            <a:r>
              <a:rPr lang="en-US" altLang="zh-CN" dirty="0" err="1">
                <a:solidFill>
                  <a:schemeClr val="accent1"/>
                </a:solidFill>
              </a:rPr>
              <a:t>z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，则称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chemeClr val="hlink"/>
                </a:solidFill>
              </a:rPr>
              <a:t>传递关系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transitive relation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3.5.7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{1,2,3,4}</a:t>
            </a:r>
            <a:r>
              <a:rPr lang="zh-CN" altLang="en-US" dirty="0">
                <a:solidFill>
                  <a:srgbClr val="000000"/>
                </a:solidFill>
              </a:rPr>
              <a:t>，则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P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,2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T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{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2,2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E4A8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E4A8"/>
                </a:solidFill>
              </a:rPr>
              <a:t>2,3</a:t>
            </a:r>
            <a:r>
              <a:rPr lang="en-US" altLang="zh-CN" sz="2800" b="1" dirty="0">
                <a:solidFill>
                  <a:srgbClr val="00E4A8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2,4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3,2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3,3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</a:rPr>
              <a:t>3,4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b="1" dirty="0">
                <a:solidFill>
                  <a:srgbClr val="00E4A8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rgbClr val="00E4A8"/>
                </a:solidFill>
              </a:rPr>
              <a:t>4,2</a:t>
            </a:r>
            <a:r>
              <a:rPr lang="en-US" altLang="zh-CN" sz="2800" b="1" dirty="0">
                <a:solidFill>
                  <a:srgbClr val="00E4A8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  <a:endParaRPr lang="en-US" altLang="zh-CN" dirty="0"/>
          </a:p>
          <a:p>
            <a:pPr eaLnBrk="1" hangingPunct="1">
              <a:lnSpc>
                <a:spcPct val="200000"/>
              </a:lnSpc>
              <a:defRPr/>
            </a:pPr>
            <a:endParaRPr lang="en-US" altLang="zh-CN" b="1" dirty="0"/>
          </a:p>
        </p:txBody>
      </p:sp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5BE3E2E8-A64D-1969-ED71-0EF760A916A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219700" y="2060575"/>
          <a:ext cx="38576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060575"/>
                        <a:ext cx="38576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38FF18F-1F49-85AD-BE6F-87401E14E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3.5.4 </a:t>
            </a:r>
            <a:r>
              <a:rPr lang="zh-CN" altLang="en-US" sz="4800"/>
              <a:t>传递关系</a:t>
            </a:r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1DDEAD8F-B141-B29F-3AC0-53B682EAF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6263" y="1844675"/>
            <a:ext cx="8604250" cy="5013325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3.5.8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，则</a:t>
            </a: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en-US" altLang="zh-CN" dirty="0"/>
              <a:t>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DE7D33F-F8E9-C19A-5106-9D2B391C5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3.5.4 </a:t>
            </a:r>
            <a:r>
              <a:rPr lang="zh-CN" altLang="en-US" sz="4800"/>
              <a:t>传递关系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A9656F2C-A2B7-9C47-3B95-5060F2312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748712" cy="48402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3.5.9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，且传递关系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FF0000"/>
                </a:solidFill>
              </a:rPr>
              <a:t>则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R∪H</a:t>
            </a:r>
            <a:r>
              <a:rPr lang="zh-CN" altLang="en-US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1,2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2,1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dirty="0">
                <a:latin typeface="+mn-ea"/>
              </a:rPr>
              <a:t>&gt;,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                               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sz="2800" dirty="0">
                <a:solidFill>
                  <a:schemeClr val="hlink"/>
                </a:solidFill>
              </a:rPr>
              <a:t>1,4</a:t>
            </a:r>
            <a:r>
              <a:rPr lang="en-US" altLang="zh-CN" sz="2800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－</a:t>
            </a:r>
            <a:r>
              <a:rPr lang="en-US" altLang="zh-CN" dirty="0"/>
              <a:t>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hlink"/>
                </a:solidFill>
              </a:rPr>
              <a:t>1,2</a:t>
            </a:r>
            <a:r>
              <a:rPr lang="en-US" altLang="zh-CN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chemeClr val="hlink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chemeClr val="hlink"/>
                </a:solidFill>
              </a:rPr>
              <a:t>2,1</a:t>
            </a:r>
            <a:r>
              <a:rPr lang="en-US" altLang="zh-CN" b="1" dirty="0">
                <a:solidFill>
                  <a:schemeClr val="hlink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R∩H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D02C56-5160-C4DA-8A01-3C064AEFFC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0981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均是集合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上的传递关系 ，则下列哪个集合是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上的传递关系（            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5B1809-C74F-890C-7DFC-E6EB7EAAD6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R∩S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1CEBA9-36EF-1EEE-BF3D-88B2786B83B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R∪S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CB16F0-6A7A-8F3F-170E-5DF5067FC13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R-S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79B5BE-A528-1BE0-8FBA-6D192E2D838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~R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C613369-4567-8BC2-64E3-C3798295479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59D3181-A860-3909-A8B4-FEC7B6E31EE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A1F6641-FCC2-BF2D-4133-2873C6C78AB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A6E1187-EB7E-5BBF-23B1-7DE116023A4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C61C89F-1C85-9ABC-3D9D-213B551E073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659F2DF-E5CD-262A-6DE1-BBC635B1E74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9E0F585-89C3-69A1-CF02-2EA2016676A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D6AE3FBE-D24A-C67F-53B3-E3AD0E471C8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DCEB255-DF42-B585-26A1-D2B13A7CF1B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1493C5C7-C183-7B40-58DC-701F2C99EB8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5C821EF-3C12-9522-1A54-3CBF69AC01E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9636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32666D0-9629-3075-F41E-77EBD2EB7FC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给定集合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A={1,2,3,4}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，则下列关系中（   ）不是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上的传递关系。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25A71C-41BA-EBF3-4B46-B1CA91A2E0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R1={&lt;1,2&gt;,&lt;1,3&gt;,&lt;2,3&gt;}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660231-DC48-0C55-5EA5-F7B669EE6AE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R2={&lt;3,1&gt;}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7D04CC-9709-F684-55E9-6A8E2798716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R3={&lt;1,2&gt;,&lt;3,2&gt;,&lt;3,4&gt;}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8E86C3-AA93-C735-B690-F40FCF0F735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R4={&lt;2,3&gt;,&lt;3,3&gt;,&lt;3,4&gt;}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354D3B6-C51C-1339-CFDB-D4E379FD425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C21B9D0-17EB-5778-E038-1D6BF672C06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C344FE0-D645-5C23-A2ED-0E3129EA918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17CDF7A-9657-994E-854E-18552EC0513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02294EF-4E60-CC36-167C-2D90A946557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088932-C8AD-C412-4D99-DE0F6C7BF63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66833C8-2DC0-CC24-8F55-738C9FDFE11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1E7832B-F1DF-F7A8-48B2-BF5F3F2B88C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D08BFDB-26BD-E299-D3BB-3BA6435A7AF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EB05B4D8-13AF-A97B-C904-9F8EA360DCC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1F62D8D-207D-FECB-9C6F-53B18F072F0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0470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5054363-29D1-F877-9D35-DD6431D4E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>
                <a:solidFill>
                  <a:srgbClr val="333399"/>
                </a:solidFill>
              </a:rPr>
              <a:t>3.5.5  </a:t>
            </a:r>
            <a:r>
              <a:rPr lang="zh-CN" altLang="en-US" sz="5400">
                <a:solidFill>
                  <a:srgbClr val="333399"/>
                </a:solidFill>
              </a:rPr>
              <a:t>举 例</a:t>
            </a:r>
            <a:endParaRPr lang="zh-CN" altLang="en-US" sz="4800"/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F1918179-B59B-E74F-7493-B3A0CDF9C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kern="1200" dirty="0">
                <a:solidFill>
                  <a:srgbClr val="FF0000"/>
                </a:solidFill>
              </a:rPr>
              <a:t>例</a:t>
            </a:r>
            <a:r>
              <a:rPr lang="en-US" altLang="zh-CN" kern="1200" dirty="0">
                <a:solidFill>
                  <a:srgbClr val="FF0000"/>
                </a:solidFill>
              </a:rPr>
              <a:t>3.5.10</a:t>
            </a:r>
            <a:r>
              <a:rPr lang="zh-CN" altLang="en-US" kern="1200" dirty="0">
                <a:solidFill>
                  <a:srgbClr val="000000"/>
                </a:solidFill>
              </a:rPr>
              <a:t>设</a:t>
            </a:r>
            <a:r>
              <a:rPr lang="en-US" altLang="zh-CN" kern="1200" dirty="0">
                <a:solidFill>
                  <a:srgbClr val="000000"/>
                </a:solidFill>
              </a:rPr>
              <a:t>R</a:t>
            </a:r>
            <a:r>
              <a:rPr lang="zh-CN" altLang="en-US" kern="1200" dirty="0">
                <a:solidFill>
                  <a:srgbClr val="000000"/>
                </a:solidFill>
              </a:rPr>
              <a:t>与</a:t>
            </a:r>
            <a:r>
              <a:rPr lang="en-US" altLang="zh-CN" kern="1200" dirty="0">
                <a:solidFill>
                  <a:srgbClr val="000000"/>
                </a:solidFill>
              </a:rPr>
              <a:t>S</a:t>
            </a:r>
            <a:r>
              <a:rPr lang="zh-CN" altLang="en-US" kern="1200" dirty="0">
                <a:solidFill>
                  <a:srgbClr val="000000"/>
                </a:solidFill>
              </a:rPr>
              <a:t>均是集合</a:t>
            </a:r>
            <a:r>
              <a:rPr lang="en-US" altLang="zh-CN" kern="1200" dirty="0">
                <a:solidFill>
                  <a:srgbClr val="000000"/>
                </a:solidFill>
              </a:rPr>
              <a:t>A</a:t>
            </a:r>
            <a:r>
              <a:rPr lang="zh-CN" altLang="en-US" kern="1200" dirty="0">
                <a:solidFill>
                  <a:srgbClr val="000000"/>
                </a:solidFill>
              </a:rPr>
              <a:t>上的自反关系，问</a:t>
            </a:r>
            <a:r>
              <a:rPr lang="en-US" altLang="zh-CN" kern="1200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kern="1200" dirty="0">
                <a:solidFill>
                  <a:srgbClr val="000000"/>
                </a:solidFill>
              </a:rPr>
              <a:t>S, R∪S, </a:t>
            </a:r>
            <a:r>
              <a:rPr lang="en-US" altLang="zh-CN" kern="1200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－</a:t>
            </a:r>
            <a:r>
              <a:rPr lang="en-US" altLang="zh-CN" kern="1200" dirty="0">
                <a:solidFill>
                  <a:srgbClr val="FF0000"/>
                </a:solidFill>
              </a:rPr>
              <a:t>S</a:t>
            </a:r>
            <a:r>
              <a:rPr lang="zh-CN" altLang="en-US" kern="1200" dirty="0">
                <a:solidFill>
                  <a:srgbClr val="000000"/>
                </a:solidFill>
              </a:rPr>
              <a:t>是</a:t>
            </a:r>
            <a:r>
              <a:rPr lang="en-US" altLang="zh-CN" kern="1200" dirty="0">
                <a:solidFill>
                  <a:srgbClr val="000000"/>
                </a:solidFill>
              </a:rPr>
              <a:t>A</a:t>
            </a:r>
            <a:r>
              <a:rPr lang="zh-CN" altLang="en-US" kern="1200" dirty="0">
                <a:solidFill>
                  <a:srgbClr val="000000"/>
                </a:solidFill>
              </a:rPr>
              <a:t>上的自反关系吗？</a:t>
            </a:r>
            <a:endParaRPr lang="zh-CN" altLang="en-US" b="1" kern="12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7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任取</a:t>
            </a:r>
            <a:r>
              <a:rPr lang="en-US" altLang="zh-CN" dirty="0" err="1">
                <a:solidFill>
                  <a:srgbClr val="00E4A8"/>
                </a:solidFill>
              </a:rPr>
              <a:t>a∈A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7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则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</a:rPr>
              <a:t>a,a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∈R</a:t>
            </a:r>
            <a:r>
              <a:rPr lang="zh-CN" altLang="en-US" dirty="0">
                <a:solidFill>
                  <a:srgbClr val="000000"/>
                </a:solidFill>
              </a:rPr>
              <a:t>且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</a:rPr>
              <a:t>a,a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∈S</a:t>
            </a:r>
          </a:p>
          <a:p>
            <a:pPr marL="0" indent="0" eaLnBrk="1" hangingPunct="1">
              <a:lnSpc>
                <a:spcPct val="17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    于是</a:t>
            </a:r>
            <a:r>
              <a:rPr lang="en-US" altLang="zh-CN" b="1" dirty="0">
                <a:solidFill>
                  <a:srgbClr val="00E4A8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00E4A8"/>
                </a:solidFill>
              </a:rPr>
              <a:t>a,a</a:t>
            </a:r>
            <a:r>
              <a:rPr lang="en-US" altLang="zh-CN" b="1" dirty="0">
                <a:solidFill>
                  <a:srgbClr val="00E4A8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E4A8"/>
                </a:solidFill>
              </a:rPr>
              <a:t>∈R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dirty="0">
                <a:solidFill>
                  <a:srgbClr val="00E4A8"/>
                </a:solidFill>
              </a:rPr>
              <a:t>S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739EFB6-304B-6847-85D4-93174D92A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>
                <a:solidFill>
                  <a:srgbClr val="333399"/>
                </a:solidFill>
              </a:rPr>
              <a:t>3.5.5  </a:t>
            </a:r>
            <a:r>
              <a:rPr lang="zh-CN" altLang="en-US" sz="5400">
                <a:solidFill>
                  <a:srgbClr val="333399"/>
                </a:solidFill>
              </a:rPr>
              <a:t>举 例</a:t>
            </a:r>
            <a:endParaRPr lang="zh-CN" altLang="en-US" sz="4800"/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AB806CFC-8E3A-779A-4C75-458FE2043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64076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kern="1200" dirty="0">
                <a:solidFill>
                  <a:srgbClr val="FF0000"/>
                </a:solidFill>
              </a:rPr>
              <a:t>例</a:t>
            </a:r>
            <a:r>
              <a:rPr lang="en-US" altLang="zh-CN" kern="1200" dirty="0">
                <a:solidFill>
                  <a:srgbClr val="FF0000"/>
                </a:solidFill>
              </a:rPr>
              <a:t>3.5.11</a:t>
            </a:r>
            <a:r>
              <a:rPr lang="zh-CN" altLang="en-US" kern="1200" dirty="0">
                <a:solidFill>
                  <a:srgbClr val="000000"/>
                </a:solidFill>
              </a:rPr>
              <a:t>设</a:t>
            </a:r>
            <a:r>
              <a:rPr lang="en-US" altLang="zh-CN" kern="1200" dirty="0">
                <a:solidFill>
                  <a:srgbClr val="000000"/>
                </a:solidFill>
              </a:rPr>
              <a:t>R</a:t>
            </a:r>
            <a:r>
              <a:rPr lang="zh-CN" altLang="en-US" kern="1200" dirty="0">
                <a:solidFill>
                  <a:srgbClr val="000000"/>
                </a:solidFill>
              </a:rPr>
              <a:t>与</a:t>
            </a:r>
            <a:r>
              <a:rPr lang="en-US" altLang="zh-CN" kern="1200" dirty="0">
                <a:solidFill>
                  <a:srgbClr val="000000"/>
                </a:solidFill>
              </a:rPr>
              <a:t>S</a:t>
            </a:r>
            <a:r>
              <a:rPr lang="zh-CN" altLang="en-US" kern="1200" dirty="0">
                <a:solidFill>
                  <a:srgbClr val="000000"/>
                </a:solidFill>
              </a:rPr>
              <a:t>均是集合</a:t>
            </a:r>
            <a:r>
              <a:rPr lang="en-US" altLang="zh-CN" kern="1200" dirty="0">
                <a:solidFill>
                  <a:srgbClr val="000000"/>
                </a:solidFill>
              </a:rPr>
              <a:t>A</a:t>
            </a:r>
            <a:r>
              <a:rPr lang="zh-CN" altLang="en-US" kern="1200" dirty="0">
                <a:solidFill>
                  <a:srgbClr val="000000"/>
                </a:solidFill>
              </a:rPr>
              <a:t>上的对称关系，问</a:t>
            </a:r>
            <a:r>
              <a:rPr lang="en-US" altLang="zh-CN" kern="1200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kern="1200" dirty="0">
                <a:solidFill>
                  <a:srgbClr val="000000"/>
                </a:solidFill>
              </a:rPr>
              <a:t>S, R∪S, </a:t>
            </a:r>
            <a:r>
              <a:rPr lang="en-US" altLang="zh-CN" kern="1200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－</a:t>
            </a:r>
            <a:r>
              <a:rPr lang="en-US" altLang="zh-CN" kern="1200" dirty="0">
                <a:solidFill>
                  <a:srgbClr val="FF0000"/>
                </a:solidFill>
              </a:rPr>
              <a:t>S</a:t>
            </a:r>
            <a:r>
              <a:rPr lang="en-US" altLang="zh-CN" kern="1200" dirty="0">
                <a:solidFill>
                  <a:srgbClr val="000000"/>
                </a:solidFill>
              </a:rPr>
              <a:t>,</a:t>
            </a:r>
            <a:r>
              <a:rPr lang="zh-CN" altLang="en-US" kern="1200" dirty="0">
                <a:solidFill>
                  <a:srgbClr val="000000"/>
                </a:solidFill>
              </a:rPr>
              <a:t>是</a:t>
            </a:r>
            <a:r>
              <a:rPr lang="en-US" altLang="zh-CN" kern="1200" dirty="0">
                <a:solidFill>
                  <a:srgbClr val="000000"/>
                </a:solidFill>
              </a:rPr>
              <a:t>A</a:t>
            </a:r>
            <a:r>
              <a:rPr lang="zh-CN" altLang="en-US" kern="1200" dirty="0">
                <a:solidFill>
                  <a:srgbClr val="000000"/>
                </a:solidFill>
              </a:rPr>
              <a:t>上的对称关系？</a:t>
            </a:r>
            <a:endParaRPr lang="zh-CN" altLang="en-US" b="1" kern="12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</a:rPr>
              <a:t>  </a:t>
            </a:r>
            <a:r>
              <a:rPr lang="zh-CN" altLang="en-US" dirty="0"/>
              <a:t>任取</a:t>
            </a:r>
            <a:r>
              <a:rPr lang="en-US" altLang="zh-CN" b="1" dirty="0">
                <a:solidFill>
                  <a:srgbClr val="00B0F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00B0F0"/>
                </a:solidFill>
              </a:rPr>
              <a:t>a,b</a:t>
            </a:r>
            <a:r>
              <a:rPr lang="en-US" altLang="zh-CN" b="1" dirty="0">
                <a:solidFill>
                  <a:srgbClr val="00B0F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∈R∪S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</a:t>
            </a:r>
            <a:r>
              <a:rPr lang="zh-CN" altLang="en-US" b="1" dirty="0">
                <a:latin typeface="宋体" pitchFamily="2" charset="-122"/>
              </a:rPr>
              <a:t>则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或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∈S 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</a:t>
            </a:r>
            <a:r>
              <a:rPr lang="zh-CN" altLang="en-US" b="1" dirty="0">
                <a:latin typeface="宋体" pitchFamily="2" charset="-122"/>
              </a:rPr>
              <a:t>于是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b,a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或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 err="1"/>
              <a:t>b,a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∈S 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</a:t>
            </a:r>
            <a:r>
              <a:rPr lang="zh-CN" altLang="en-US" b="1" dirty="0">
                <a:latin typeface="宋体" pitchFamily="2" charset="-122"/>
              </a:rPr>
              <a:t>所以</a:t>
            </a:r>
            <a:r>
              <a:rPr lang="en-US" altLang="zh-CN" b="1" dirty="0">
                <a:solidFill>
                  <a:srgbClr val="00B0F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00B0F0"/>
                </a:solidFill>
              </a:rPr>
              <a:t>b,a</a:t>
            </a:r>
            <a:r>
              <a:rPr lang="en-US" altLang="zh-CN" b="1" dirty="0">
                <a:solidFill>
                  <a:srgbClr val="00B0F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∈R∪S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eaLnBrk="1" hangingPunct="1">
              <a:lnSpc>
                <a:spcPct val="17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4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61509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43D2EC7-D6E2-7E66-0516-3075FC0BD9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103616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均是集合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上的反自反关系 ，则下列哪些集合是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上的反自反关系（          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B861B4-FB16-D3D4-99BB-23B16CB5A35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R∩S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D269C1-6488-453A-0F9A-52DFA9E3DF5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R∪S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79168D-631F-7653-319A-684659093A5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R-S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3B99D5-8956-E81A-39A9-7C4244908C3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~R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218EA8-7AA1-1FEE-1FFF-45B734F3B56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39BA65-922E-F9F6-0887-D65AFE3A30A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E59FF5-46C3-413F-A4E0-7E185A7589E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1985FD-8394-BEFC-C347-FFF2B093A22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894C4B0-D27E-F74F-5DE0-C2F7D1857C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DA33A6-A928-CEBB-1126-9C932DDE1DF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0CCC20C-0F67-3651-21FC-81E24EAF6C5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6864E018-AF1D-6396-289C-F3B6A60AAC0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D7CB9F47-53F1-54AA-216A-03DDB7B95C6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994E0C3E-12E2-9ECA-F02E-89BED8FE380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5D690A0-A4D7-D4C7-D71E-086790243269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1403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0">
            <a:extLst>
              <a:ext uri="{FF2B5EF4-FFF2-40B4-BE49-F238E27FC236}">
                <a16:creationId xmlns:a16="http://schemas.microsoft.com/office/drawing/2014/main" id="{5C92FBAA-7289-CB7C-7582-A93E652A5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3.5.5  </a:t>
            </a:r>
            <a:r>
              <a:rPr lang="zh-CN" altLang="en-US" sz="4800"/>
              <a:t>举 例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BD415DD-D342-FADE-A996-83E4E9A86C0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3.5.12 </a:t>
            </a:r>
            <a:r>
              <a:rPr lang="zh-CN" altLang="en-US" dirty="0"/>
              <a:t>设</a:t>
            </a:r>
            <a:r>
              <a:rPr lang="en-US" altLang="zh-CN" dirty="0"/>
              <a:t>P(A)</a:t>
            </a:r>
            <a:r>
              <a:rPr lang="zh-CN" altLang="en-US" dirty="0"/>
              <a:t>是集合</a:t>
            </a:r>
            <a:r>
              <a:rPr lang="en-US" altLang="zh-CN" dirty="0"/>
              <a:t>A</a:t>
            </a:r>
            <a:r>
              <a:rPr lang="zh-CN" altLang="en-US" dirty="0"/>
              <a:t>的幂集，且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x,y∈P</a:t>
            </a:r>
            <a:r>
              <a:rPr lang="en-US" altLang="zh-CN" dirty="0"/>
              <a:t>(A)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    y}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证明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en-US" altLang="zh-CN" dirty="0"/>
              <a:t>P(A)</a:t>
            </a:r>
            <a:r>
              <a:rPr lang="zh-CN" altLang="en-US" dirty="0"/>
              <a:t>上的自反、反对称和传递关系。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</a:t>
            </a:r>
            <a:endParaRPr lang="zh-CN" altLang="en-US" dirty="0"/>
          </a:p>
        </p:txBody>
      </p:sp>
      <p:graphicFrame>
        <p:nvGraphicFramePr>
          <p:cNvPr id="19460" name="对象 1">
            <a:extLst>
              <a:ext uri="{FF2B5EF4-FFF2-40B4-BE49-F238E27FC236}">
                <a16:creationId xmlns:a16="http://schemas.microsoft.com/office/drawing/2014/main" id="{5FFA4050-B797-675D-0381-32C093E9A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2925" y="3309938"/>
          <a:ext cx="5365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5" y="3309938"/>
                        <a:ext cx="536575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5">
            <a:extLst>
              <a:ext uri="{FF2B5EF4-FFF2-40B4-BE49-F238E27FC236}">
                <a16:creationId xmlns:a16="http://schemas.microsoft.com/office/drawing/2014/main" id="{FB750FF6-7D5B-E336-68C9-5CB3F92C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3.5.5  </a:t>
            </a:r>
            <a:r>
              <a:rPr lang="zh-CN" altLang="en-US"/>
              <a:t>举 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1172BDC-9AC1-3B59-3DA4-D7EC03532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2736850"/>
            <a:ext cx="4392612" cy="4005263"/>
          </a:xfrm>
        </p:spPr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en-US" altLang="zh-CN" dirty="0"/>
              <a:t>(1)</a:t>
            </a:r>
            <a:r>
              <a:rPr lang="en-US" altLang="zh-CN" dirty="0">
                <a:solidFill>
                  <a:schemeClr val="accent1"/>
                </a:solidFill>
                <a:sym typeface="Symbol" pitchFamily="18" charset="2"/>
              </a:rPr>
              <a:t></a:t>
            </a:r>
            <a:r>
              <a:rPr lang="en-US" altLang="zh-CN" dirty="0" err="1">
                <a:solidFill>
                  <a:schemeClr val="accent1"/>
                </a:solidFill>
              </a:rPr>
              <a:t>x∈P</a:t>
            </a:r>
            <a:r>
              <a:rPr lang="en-US" altLang="zh-CN" dirty="0">
                <a:solidFill>
                  <a:schemeClr val="accent1"/>
                </a:solidFill>
              </a:rPr>
              <a:t>(A)</a:t>
            </a:r>
            <a:endParaRPr lang="en-US" altLang="zh-CN" dirty="0"/>
          </a:p>
          <a:p>
            <a:pPr marL="0" indent="0"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因为</a:t>
            </a:r>
            <a:r>
              <a:rPr lang="en-US" altLang="zh-CN" dirty="0"/>
              <a:t>x   </a:t>
            </a:r>
            <a:r>
              <a:rPr lang="en-US" altLang="zh-CN" dirty="0" err="1"/>
              <a:t>x</a:t>
            </a:r>
            <a:endParaRPr lang="en-US" altLang="zh-CN" dirty="0"/>
          </a:p>
          <a:p>
            <a:pPr marL="0" indent="0"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所以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x,x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</a:rPr>
              <a:t>∈R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en-US" altLang="zh-CN" dirty="0"/>
              <a:t>(2)</a:t>
            </a:r>
            <a:r>
              <a:rPr lang="zh-CN" altLang="en-US" dirty="0"/>
              <a:t>设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FF"/>
                </a:solidFill>
              </a:rPr>
              <a:t>x,y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FF"/>
                </a:solidFill>
              </a:rPr>
              <a:t>y,x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FF"/>
                </a:solidFill>
              </a:rPr>
              <a:t>∈R</a:t>
            </a:r>
            <a:endParaRPr lang="en-US" altLang="zh-CN" dirty="0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则</a:t>
            </a:r>
            <a:r>
              <a:rPr lang="en-US" altLang="zh-CN" dirty="0"/>
              <a:t>x   y</a:t>
            </a:r>
            <a:r>
              <a:rPr lang="zh-CN" altLang="en-US" dirty="0"/>
              <a:t>且</a:t>
            </a:r>
            <a:r>
              <a:rPr lang="en-US" altLang="zh-CN" dirty="0"/>
              <a:t>y   x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 </a:t>
            </a:r>
            <a:r>
              <a:rPr lang="zh-CN" altLang="en-US" dirty="0"/>
              <a:t>所以</a:t>
            </a:r>
            <a:r>
              <a:rPr lang="en-US" altLang="zh-CN" dirty="0">
                <a:solidFill>
                  <a:srgbClr val="FF00FF"/>
                </a:solidFill>
              </a:rPr>
              <a:t>x</a:t>
            </a:r>
            <a:r>
              <a:rPr lang="zh-CN" altLang="en-US" dirty="0">
                <a:solidFill>
                  <a:srgbClr val="FF00FF"/>
                </a:solidFill>
              </a:rPr>
              <a:t>＝</a:t>
            </a:r>
            <a:r>
              <a:rPr lang="en-US" altLang="zh-CN" dirty="0">
                <a:solidFill>
                  <a:srgbClr val="FF00FF"/>
                </a:solidFill>
              </a:rPr>
              <a:t>y</a:t>
            </a: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FED6F491-C51F-125F-D1B0-814FDED88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8388" y="2708275"/>
            <a:ext cx="4265612" cy="4114800"/>
          </a:xfrm>
        </p:spPr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en-US" altLang="zh-CN" dirty="0"/>
              <a:t>(3)</a:t>
            </a:r>
            <a:r>
              <a:rPr lang="zh-CN" altLang="en-US" dirty="0"/>
              <a:t>设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x,y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y,z</a:t>
            </a:r>
            <a:r>
              <a:rPr lang="en-US" altLang="zh-CN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</a:rPr>
              <a:t>∈R</a:t>
            </a:r>
          </a:p>
          <a:p>
            <a:pPr marL="0" indent="0"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则</a:t>
            </a:r>
            <a:r>
              <a:rPr lang="en-US" altLang="zh-CN" dirty="0"/>
              <a:t>x   y</a:t>
            </a:r>
            <a:r>
              <a:rPr lang="zh-CN" altLang="en-US" dirty="0"/>
              <a:t>且</a:t>
            </a:r>
            <a:r>
              <a:rPr lang="en-US" altLang="zh-CN" dirty="0"/>
              <a:t>y   z</a:t>
            </a:r>
          </a:p>
          <a:p>
            <a:pPr marL="0" indent="0"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所以</a:t>
            </a:r>
            <a:r>
              <a:rPr lang="en-US" altLang="zh-CN" dirty="0"/>
              <a:t>x   z</a:t>
            </a:r>
          </a:p>
          <a:p>
            <a:pPr marL="0" indent="0"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accent1"/>
                </a:solidFill>
                <a:latin typeface="宋体" pitchFamily="2" charset="-122"/>
              </a:rPr>
              <a:t>     </a:t>
            </a:r>
            <a:r>
              <a:rPr lang="zh-CN" altLang="en-US" b="1" dirty="0">
                <a:latin typeface="宋体" pitchFamily="2" charset="-122"/>
              </a:rPr>
              <a:t>即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x,z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</a:rPr>
              <a:t>∈R</a:t>
            </a:r>
            <a:endParaRPr lang="zh-CN" altLang="en-US" dirty="0"/>
          </a:p>
        </p:txBody>
      </p:sp>
      <p:sp>
        <p:nvSpPr>
          <p:cNvPr id="12" name="内容占位符 6">
            <a:extLst>
              <a:ext uri="{FF2B5EF4-FFF2-40B4-BE49-F238E27FC236}">
                <a16:creationId xmlns:a16="http://schemas.microsoft.com/office/drawing/2014/main" id="{42DD8A9C-5BF7-7FD6-6DE9-F108DB80FF20}"/>
              </a:ext>
            </a:extLst>
          </p:cNvPr>
          <p:cNvSpPr txBox="1">
            <a:spLocks/>
          </p:cNvSpPr>
          <p:nvPr/>
        </p:nvSpPr>
        <p:spPr bwMode="auto">
          <a:xfrm>
            <a:off x="611188" y="1906588"/>
            <a:ext cx="8532812" cy="87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x,y∈P</a:t>
            </a:r>
            <a:r>
              <a:rPr lang="en-US" altLang="zh-CN" dirty="0"/>
              <a:t>(A)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   y}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zh-CN" altLang="en-US" dirty="0"/>
          </a:p>
          <a:p>
            <a:pPr marL="0" indent="0">
              <a:buFont typeface="Wingdings" pitchFamily="2" charset="2"/>
              <a:buNone/>
              <a:defRPr/>
            </a:pPr>
            <a:endParaRPr lang="zh-CN" altLang="en-US" dirty="0"/>
          </a:p>
        </p:txBody>
      </p:sp>
      <p:graphicFrame>
        <p:nvGraphicFramePr>
          <p:cNvPr id="20486" name="对象 12">
            <a:extLst>
              <a:ext uri="{FF2B5EF4-FFF2-40B4-BE49-F238E27FC236}">
                <a16:creationId xmlns:a16="http://schemas.microsoft.com/office/drawing/2014/main" id="{1381F1F0-E93D-B952-8DF5-1843703438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2166938"/>
          <a:ext cx="385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2166938"/>
                        <a:ext cx="385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对象 13">
            <a:extLst>
              <a:ext uri="{FF2B5EF4-FFF2-40B4-BE49-F238E27FC236}">
                <a16:creationId xmlns:a16="http://schemas.microsoft.com/office/drawing/2014/main" id="{F3C43D78-CFAC-055E-C964-175AABD126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9525" y="3560763"/>
          <a:ext cx="385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525" y="3560763"/>
                        <a:ext cx="385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对象 14">
            <a:extLst>
              <a:ext uri="{FF2B5EF4-FFF2-40B4-BE49-F238E27FC236}">
                <a16:creationId xmlns:a16="http://schemas.microsoft.com/office/drawing/2014/main" id="{472A03C4-483A-32EB-E304-2AE6E0344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0" y="3560763"/>
          <a:ext cx="385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68" imgH="152268" progId="Equation.DSMT4">
                  <p:embed/>
                </p:oleObj>
              </mc:Choice>
              <mc:Fallback>
                <p:oleObj name="Equation" r:id="rId5" imgW="152268" imgH="152268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560763"/>
                        <a:ext cx="385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对象 15">
            <a:extLst>
              <a:ext uri="{FF2B5EF4-FFF2-40B4-BE49-F238E27FC236}">
                <a16:creationId xmlns:a16="http://schemas.microsoft.com/office/drawing/2014/main" id="{14DA1CEA-04FA-1751-22EA-EBBD721613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7663" y="4221163"/>
          <a:ext cx="3857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663" y="4221163"/>
                        <a:ext cx="3857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对象 18">
            <a:extLst>
              <a:ext uri="{FF2B5EF4-FFF2-40B4-BE49-F238E27FC236}">
                <a16:creationId xmlns:a16="http://schemas.microsoft.com/office/drawing/2014/main" id="{D5F7219A-B936-2AE7-AF4D-E2ED246F9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3573463"/>
          <a:ext cx="385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573463"/>
                        <a:ext cx="385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对象 19">
            <a:extLst>
              <a:ext uri="{FF2B5EF4-FFF2-40B4-BE49-F238E27FC236}">
                <a16:creationId xmlns:a16="http://schemas.microsoft.com/office/drawing/2014/main" id="{F957082B-9D95-AF71-5F55-DD0B359F61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8675" y="5567363"/>
          <a:ext cx="385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68" imgH="152268" progId="Equation.DSMT4">
                  <p:embed/>
                </p:oleObj>
              </mc:Choice>
              <mc:Fallback>
                <p:oleObj name="Equation" r:id="rId8" imgW="152268" imgH="152268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5567363"/>
                        <a:ext cx="385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对象 20">
            <a:extLst>
              <a:ext uri="{FF2B5EF4-FFF2-40B4-BE49-F238E27FC236}">
                <a16:creationId xmlns:a16="http://schemas.microsoft.com/office/drawing/2014/main" id="{919912A2-32CD-6986-C03F-30AFBA91D5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0075" y="5576888"/>
          <a:ext cx="385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68" imgH="152268" progId="Equation.DSMT4">
                  <p:embed/>
                </p:oleObj>
              </mc:Choice>
              <mc:Fallback>
                <p:oleObj name="Equation" r:id="rId9" imgW="152268" imgH="152268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075" y="5576888"/>
                        <a:ext cx="385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2E8771C-E1D9-2130-37C8-B752F898D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3.5.5  </a:t>
            </a:r>
            <a:r>
              <a:rPr lang="zh-CN" altLang="en-US" sz="4800"/>
              <a:t>举 例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D58B8C6-3BE8-D98C-9E53-A689661FD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459787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3.5.13 </a:t>
            </a:r>
            <a:r>
              <a:rPr lang="zh-CN" altLang="en-US" dirty="0"/>
              <a:t>设</a:t>
            </a:r>
            <a:r>
              <a:rPr lang="en-US" altLang="zh-CN" dirty="0"/>
              <a:t>I</a:t>
            </a:r>
            <a:r>
              <a:rPr lang="en-US" altLang="zh-CN" baseline="-25000" dirty="0"/>
              <a:t>+</a:t>
            </a:r>
            <a:r>
              <a:rPr lang="zh-CN" altLang="en-US" dirty="0"/>
              <a:t>为正整数集，且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x,y∈I</a:t>
            </a:r>
            <a:r>
              <a:rPr lang="en-US" altLang="zh-CN" baseline="-25000" dirty="0"/>
              <a:t>+</a:t>
            </a:r>
            <a:r>
              <a:rPr lang="en-US" altLang="zh-CN" dirty="0"/>
              <a:t> 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 err="1"/>
              <a:t>x︱y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证明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en-US" altLang="zh-CN" dirty="0"/>
              <a:t>I</a:t>
            </a:r>
            <a:r>
              <a:rPr lang="en-US" altLang="zh-CN" baseline="-25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上的自反、反对称和传递关系。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5">
            <a:extLst>
              <a:ext uri="{FF2B5EF4-FFF2-40B4-BE49-F238E27FC236}">
                <a16:creationId xmlns:a16="http://schemas.microsoft.com/office/drawing/2014/main" id="{AB856177-4A11-EAD7-F1B5-96ECFCE7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3.5.4 </a:t>
            </a:r>
            <a:r>
              <a:rPr lang="zh-CN" altLang="en-US"/>
              <a:t>传递关系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98FC8B8-3BE7-23B2-6BAB-3D9B1420F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2565400"/>
            <a:ext cx="4392612" cy="429260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defRPr/>
            </a:pPr>
            <a:r>
              <a:rPr lang="en-US" altLang="zh-CN" dirty="0"/>
              <a:t>(1)</a:t>
            </a:r>
            <a:r>
              <a:rPr lang="en-US" altLang="zh-CN" dirty="0">
                <a:solidFill>
                  <a:schemeClr val="accent1"/>
                </a:solidFill>
                <a:sym typeface="Symbol" pitchFamily="18" charset="2"/>
              </a:rPr>
              <a:t></a:t>
            </a:r>
            <a:r>
              <a:rPr lang="en-US" altLang="zh-CN" dirty="0" err="1">
                <a:solidFill>
                  <a:schemeClr val="accent1"/>
                </a:solidFill>
              </a:rPr>
              <a:t>x∈I</a:t>
            </a:r>
            <a:r>
              <a:rPr lang="en-US" altLang="zh-CN" baseline="-25000" dirty="0">
                <a:solidFill>
                  <a:schemeClr val="accent1"/>
                </a:solidFill>
              </a:rPr>
              <a:t>+</a:t>
            </a:r>
            <a:r>
              <a:rPr lang="en-US" altLang="zh-CN" dirty="0"/>
              <a:t> 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因为</a:t>
            </a:r>
            <a:r>
              <a:rPr lang="en-US" altLang="zh-CN" dirty="0" err="1"/>
              <a:t>x︱x</a:t>
            </a:r>
            <a:endParaRPr lang="en-US" altLang="zh-CN" dirty="0"/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所以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x,x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</a:rPr>
              <a:t>∈R 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lang="en-US" altLang="zh-CN" dirty="0"/>
              <a:t>(2)</a:t>
            </a:r>
            <a:r>
              <a:rPr lang="zh-CN" altLang="en-US" dirty="0"/>
              <a:t>设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x,y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b="1" dirty="0">
                <a:latin typeface="宋体" pitchFamily="2" charset="-122"/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y,z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00"/>
                </a:solidFill>
              </a:rPr>
              <a:t>∈R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x︱y</a:t>
            </a:r>
            <a:r>
              <a:rPr lang="zh-CN" altLang="en-US" dirty="0"/>
              <a:t>且</a:t>
            </a:r>
            <a:r>
              <a:rPr lang="en-US" altLang="zh-CN" dirty="0" err="1"/>
              <a:t>y︱z</a:t>
            </a:r>
            <a:endParaRPr lang="zh-CN" altLang="en-US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 err="1"/>
              <a:t>px</a:t>
            </a:r>
            <a:r>
              <a:rPr lang="zh-CN" altLang="en-US" dirty="0"/>
              <a:t>且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 err="1"/>
              <a:t>qy</a:t>
            </a:r>
            <a:r>
              <a:rPr lang="en-US" altLang="zh-CN" dirty="0"/>
              <a:t>(</a:t>
            </a:r>
            <a:r>
              <a:rPr lang="en-US" altLang="zh-CN" dirty="0" err="1"/>
              <a:t>p,q∈I</a:t>
            </a:r>
            <a:r>
              <a:rPr lang="en-US" altLang="zh-CN" baseline="-25000" dirty="0"/>
              <a:t>+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 err="1"/>
              <a:t>pqx</a:t>
            </a:r>
            <a:r>
              <a:rPr lang="en-US" altLang="zh-CN" dirty="0"/>
              <a:t>(</a:t>
            </a:r>
            <a:r>
              <a:rPr lang="en-US" altLang="zh-CN" dirty="0" err="1"/>
              <a:t>pq∈I</a:t>
            </a:r>
            <a:r>
              <a:rPr lang="en-US" altLang="zh-CN" baseline="-25000" dirty="0"/>
              <a:t>+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 err="1"/>
              <a:t>x︱z</a:t>
            </a:r>
            <a:r>
              <a:rPr lang="zh-CN" altLang="en-US" dirty="0"/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x,z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00"/>
                </a:solidFill>
              </a:rPr>
              <a:t>∈R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 </a:t>
            </a: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5D0BE08-2DA7-1A66-4C26-DF064D28A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7900" y="2565400"/>
            <a:ext cx="4356100" cy="411480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defRPr/>
            </a:pPr>
            <a:r>
              <a:rPr lang="en-US" altLang="zh-CN" dirty="0"/>
              <a:t>(3)</a:t>
            </a:r>
            <a:r>
              <a:rPr lang="zh-CN" altLang="en-US" dirty="0"/>
              <a:t>设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FF"/>
                </a:solidFill>
              </a:rPr>
              <a:t>x,y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b="1" dirty="0">
                <a:latin typeface="宋体" pitchFamily="2" charset="-122"/>
              </a:rPr>
              <a:t>,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FF"/>
                </a:solidFill>
              </a:rPr>
              <a:t>y,x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FF"/>
                </a:solidFill>
              </a:rPr>
              <a:t>∈R</a:t>
            </a:r>
            <a:endParaRPr lang="en-US" altLang="zh-CN" dirty="0"/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 err="1"/>
              <a:t>x︱y</a:t>
            </a:r>
            <a:r>
              <a:rPr lang="zh-CN" altLang="en-US" dirty="0"/>
              <a:t>且</a:t>
            </a:r>
            <a:r>
              <a:rPr lang="en-US" altLang="zh-CN" dirty="0" err="1"/>
              <a:t>y︱x</a:t>
            </a:r>
            <a:endParaRPr lang="zh-CN" altLang="en-US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 err="1"/>
              <a:t>nx</a:t>
            </a:r>
            <a:r>
              <a:rPr lang="zh-CN" altLang="en-US" dirty="0"/>
              <a:t>且</a:t>
            </a: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/>
              <a:t>my(</a:t>
            </a:r>
            <a:r>
              <a:rPr lang="en-US" altLang="zh-CN" dirty="0" err="1"/>
              <a:t>n,m∈I</a:t>
            </a:r>
            <a:r>
              <a:rPr lang="en-US" altLang="zh-CN" baseline="-25000" dirty="0"/>
              <a:t>+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 err="1"/>
              <a:t>nmx</a:t>
            </a:r>
            <a:r>
              <a:rPr lang="en-US" altLang="zh-CN" dirty="0"/>
              <a:t>(</a:t>
            </a:r>
            <a:r>
              <a:rPr lang="en-US" altLang="zh-CN" dirty="0" err="1"/>
              <a:t>nm∈I</a:t>
            </a:r>
            <a:r>
              <a:rPr lang="en-US" altLang="zh-CN" baseline="-25000" dirty="0"/>
              <a:t>+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nm</a:t>
            </a:r>
            <a:r>
              <a:rPr lang="zh-CN" altLang="en-US" dirty="0"/>
              <a:t>＝</a:t>
            </a:r>
            <a:r>
              <a:rPr lang="en-US" altLang="zh-CN" dirty="0"/>
              <a:t>1(</a:t>
            </a:r>
            <a:r>
              <a:rPr lang="en-US" altLang="zh-CN" dirty="0" err="1"/>
              <a:t>nm∈I</a:t>
            </a:r>
            <a:r>
              <a:rPr lang="en-US" altLang="zh-CN" baseline="-25000" dirty="0"/>
              <a:t>+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n</a:t>
            </a:r>
            <a:r>
              <a:rPr lang="zh-CN" altLang="en-US" dirty="0"/>
              <a:t>＝</a:t>
            </a:r>
            <a:r>
              <a:rPr lang="en-US" altLang="zh-CN" dirty="0"/>
              <a:t>m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>
                <a:solidFill>
                  <a:srgbClr val="FF00FF"/>
                </a:solidFill>
              </a:rPr>
              <a:t>x</a:t>
            </a:r>
            <a:r>
              <a:rPr lang="zh-CN" altLang="en-US" dirty="0">
                <a:solidFill>
                  <a:srgbClr val="FF00FF"/>
                </a:solidFill>
              </a:rPr>
              <a:t>＝</a:t>
            </a:r>
            <a:r>
              <a:rPr lang="en-US" altLang="zh-CN" dirty="0">
                <a:solidFill>
                  <a:srgbClr val="FF00FF"/>
                </a:solidFill>
              </a:rPr>
              <a:t>y</a:t>
            </a:r>
            <a:endParaRPr lang="zh-CN" altLang="en-US" dirty="0"/>
          </a:p>
        </p:txBody>
      </p:sp>
      <p:sp>
        <p:nvSpPr>
          <p:cNvPr id="12" name="内容占位符 6">
            <a:extLst>
              <a:ext uri="{FF2B5EF4-FFF2-40B4-BE49-F238E27FC236}">
                <a16:creationId xmlns:a16="http://schemas.microsoft.com/office/drawing/2014/main" id="{0DE52C24-2266-5240-725E-ECA3297C1E14}"/>
              </a:ext>
            </a:extLst>
          </p:cNvPr>
          <p:cNvSpPr txBox="1">
            <a:spLocks/>
          </p:cNvSpPr>
          <p:nvPr/>
        </p:nvSpPr>
        <p:spPr bwMode="auto">
          <a:xfrm>
            <a:off x="611188" y="1906588"/>
            <a:ext cx="853281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en-US" altLang="zh-CN" dirty="0"/>
              <a:t>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x,y∈I</a:t>
            </a:r>
            <a:r>
              <a:rPr lang="en-US" altLang="zh-CN" baseline="-25000" dirty="0"/>
              <a:t>+</a:t>
            </a:r>
            <a:r>
              <a:rPr lang="en-US" altLang="zh-CN" dirty="0"/>
              <a:t> 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 err="1"/>
              <a:t>x︱y</a:t>
            </a:r>
            <a:r>
              <a:rPr lang="en-US" altLang="zh-CN" dirty="0"/>
              <a:t>}</a:t>
            </a:r>
          </a:p>
          <a:p>
            <a:pPr>
              <a:lnSpc>
                <a:spcPct val="150000"/>
              </a:lnSpc>
              <a:defRPr/>
            </a:pP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endParaRPr lang="zh-CN" altLang="en-US" dirty="0"/>
          </a:p>
          <a:p>
            <a:pPr marL="0" indent="0">
              <a:buFont typeface="Wingdings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4">
            <a:extLst>
              <a:ext uri="{FF2B5EF4-FFF2-40B4-BE49-F238E27FC236}">
                <a16:creationId xmlns:a16="http://schemas.microsoft.com/office/drawing/2014/main" id="{C9055D38-EEE5-A6EA-69F7-62E20559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3.5.5  </a:t>
            </a:r>
            <a:r>
              <a:rPr lang="zh-CN" altLang="en-US"/>
              <a:t>举 例</a:t>
            </a:r>
          </a:p>
        </p:txBody>
      </p:sp>
      <p:sp>
        <p:nvSpPr>
          <p:cNvPr id="23555" name="内容占位符 5">
            <a:extLst>
              <a:ext uri="{FF2B5EF4-FFF2-40B4-BE49-F238E27FC236}">
                <a16:creationId xmlns:a16="http://schemas.microsoft.com/office/drawing/2014/main" id="{E2458BE9-1E9B-DF4D-E29B-BFD6C1B5E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2017713"/>
            <a:ext cx="7772400" cy="4114800"/>
          </a:xfrm>
        </p:spPr>
        <p:txBody>
          <a:bodyPr/>
          <a:lstStyle/>
          <a:p>
            <a:pPr>
              <a:lnSpc>
                <a:spcPct val="50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3.5.14</a:t>
            </a:r>
            <a:r>
              <a:rPr lang="en-US" altLang="zh-CN"/>
              <a:t> </a:t>
            </a:r>
            <a:r>
              <a:rPr lang="zh-CN" altLang="en-US"/>
              <a:t>我班同学住同一寝室的关系。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5">
            <a:extLst>
              <a:ext uri="{FF2B5EF4-FFF2-40B4-BE49-F238E27FC236}">
                <a16:creationId xmlns:a16="http://schemas.microsoft.com/office/drawing/2014/main" id="{86BBC4B7-21EA-5F0F-7B7D-4EFC28BF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3.5.5  </a:t>
            </a:r>
            <a:r>
              <a:rPr lang="zh-CN" altLang="en-US"/>
              <a:t>举 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CBB74DE-17B6-7B93-D746-B6E6AD36E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2971800"/>
            <a:ext cx="4392612" cy="3860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(1)</a:t>
            </a:r>
            <a:r>
              <a:rPr lang="en-US" altLang="zh-CN" dirty="0">
                <a:solidFill>
                  <a:schemeClr val="accent1"/>
                </a:solidFill>
                <a:sym typeface="Symbol" pitchFamily="18" charset="2"/>
              </a:rPr>
              <a:t></a:t>
            </a:r>
            <a:r>
              <a:rPr lang="en-US" altLang="zh-CN" dirty="0" err="1">
                <a:solidFill>
                  <a:schemeClr val="accent1"/>
                </a:solidFill>
              </a:rPr>
              <a:t>x∈A</a:t>
            </a:r>
            <a:r>
              <a:rPr lang="en-US" altLang="zh-CN" dirty="0"/>
              <a:t> 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x</a:t>
            </a:r>
            <a:r>
              <a:rPr lang="zh-CN" altLang="en-US" dirty="0"/>
              <a:t>住同一寝室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chemeClr val="accent1"/>
                </a:solidFill>
              </a:rPr>
              <a:t>x,x</a:t>
            </a:r>
            <a:r>
              <a:rPr lang="en-US" altLang="zh-CN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chemeClr val="accent1"/>
                </a:solidFill>
              </a:rPr>
              <a:t>∈R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(2)</a:t>
            </a:r>
            <a:r>
              <a:rPr lang="zh-CN" altLang="en-US" dirty="0"/>
              <a:t>设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x,y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00"/>
                </a:solidFill>
              </a:rPr>
              <a:t>∈R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住同一寝室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y</a:t>
            </a:r>
            <a:r>
              <a:rPr lang="zh-CN" altLang="en-US" dirty="0"/>
              <a:t>与</a:t>
            </a:r>
            <a:r>
              <a:rPr lang="en-US" altLang="zh-CN" dirty="0"/>
              <a:t>x</a:t>
            </a:r>
            <a:r>
              <a:rPr lang="zh-CN" altLang="en-US" dirty="0"/>
              <a:t>住同一寝室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y,x</a:t>
            </a:r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00"/>
                </a:solidFill>
              </a:rPr>
              <a:t>∈R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 </a:t>
            </a: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30B4C5A-DD55-0E2C-E973-AFB2FF6C2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2924175"/>
            <a:ext cx="43561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(3)</a:t>
            </a:r>
            <a:r>
              <a:rPr lang="zh-CN" altLang="en-US" dirty="0"/>
              <a:t>设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FF00FF"/>
                </a:solidFill>
              </a:rPr>
              <a:t>x,y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&gt;,&lt;</a:t>
            </a:r>
            <a:r>
              <a:rPr lang="en-US" altLang="zh-CN" dirty="0" err="1">
                <a:solidFill>
                  <a:srgbClr val="FF00FF"/>
                </a:solidFill>
              </a:rPr>
              <a:t>y,z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FF"/>
                </a:solidFill>
              </a:rPr>
              <a:t>∈R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 err="1"/>
              <a:t>y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y</a:t>
            </a:r>
            <a:r>
              <a:rPr lang="zh-CN" altLang="en-US" dirty="0"/>
              <a:t>与</a:t>
            </a:r>
            <a:r>
              <a:rPr lang="en-US" altLang="zh-CN" dirty="0"/>
              <a:t>z</a:t>
            </a:r>
            <a:r>
              <a:rPr lang="zh-CN" altLang="en-US" dirty="0"/>
              <a:t>住同一寝室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x</a:t>
            </a:r>
            <a:r>
              <a:rPr lang="zh-CN" altLang="en-US" dirty="0"/>
              <a:t>与</a:t>
            </a:r>
            <a:r>
              <a:rPr lang="en-US" altLang="zh-CN" dirty="0"/>
              <a:t>z</a:t>
            </a:r>
            <a:r>
              <a:rPr lang="zh-CN" altLang="en-US" dirty="0"/>
              <a:t>住同一寝室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    &lt;</a:t>
            </a:r>
            <a:r>
              <a:rPr lang="en-US" altLang="zh-CN" dirty="0" err="1">
                <a:solidFill>
                  <a:srgbClr val="FF00FF"/>
                </a:solidFill>
              </a:rPr>
              <a:t>y,z</a:t>
            </a:r>
            <a:r>
              <a:rPr lang="en-US" altLang="zh-CN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FF"/>
                </a:solidFill>
              </a:rPr>
              <a:t>∈R</a:t>
            </a:r>
            <a:endParaRPr lang="en-US" altLang="zh-CN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endParaRPr lang="zh-CN" altLang="en-US" dirty="0"/>
          </a:p>
        </p:txBody>
      </p:sp>
      <p:sp>
        <p:nvSpPr>
          <p:cNvPr id="12" name="内容占位符 6">
            <a:extLst>
              <a:ext uri="{FF2B5EF4-FFF2-40B4-BE49-F238E27FC236}">
                <a16:creationId xmlns:a16="http://schemas.microsoft.com/office/drawing/2014/main" id="{80F2AF43-FA47-B5DC-5482-6A22D6C3F8EB}"/>
              </a:ext>
            </a:extLst>
          </p:cNvPr>
          <p:cNvSpPr txBox="1">
            <a:spLocks/>
          </p:cNvSpPr>
          <p:nvPr/>
        </p:nvSpPr>
        <p:spPr bwMode="auto">
          <a:xfrm>
            <a:off x="611188" y="1844675"/>
            <a:ext cx="8532812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</a:t>
            </a:r>
            <a:r>
              <a:rPr lang="zh-CN" altLang="en-US" dirty="0"/>
              <a:t>是我班同学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  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住同一寝室</a:t>
            </a:r>
            <a:r>
              <a:rPr lang="en-US" altLang="zh-CN" dirty="0"/>
              <a:t>}</a:t>
            </a:r>
          </a:p>
          <a:p>
            <a:pPr>
              <a:lnSpc>
                <a:spcPct val="150000"/>
              </a:lnSpc>
              <a:defRPr/>
            </a:pP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   </a:t>
            </a:r>
            <a:endParaRPr lang="zh-CN" altLang="en-US" dirty="0"/>
          </a:p>
          <a:p>
            <a:pPr marL="0" indent="0">
              <a:buFont typeface="Wingdings" pitchFamily="2" charset="2"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3">
            <a:extLst>
              <a:ext uri="{FF2B5EF4-FFF2-40B4-BE49-F238E27FC236}">
                <a16:creationId xmlns:a16="http://schemas.microsoft.com/office/drawing/2014/main" id="{A0525F17-84BB-E49B-A3E3-683C0B36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3.5.5  </a:t>
            </a:r>
            <a:r>
              <a:rPr lang="zh-CN" altLang="en-US"/>
              <a:t>举 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E0913F-9258-7A51-0C57-4EC1330D1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288" y="1844675"/>
            <a:ext cx="2447925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3.5.15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(1)</a:t>
            </a:r>
            <a:r>
              <a:rPr lang="zh-CN" altLang="en-US" dirty="0">
                <a:solidFill>
                  <a:schemeClr val="accent1"/>
                </a:solidFill>
              </a:rPr>
              <a:t>父子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</a:t>
            </a:r>
            <a:r>
              <a:rPr lang="zh-CN" altLang="en-US" dirty="0"/>
              <a:t>同学关系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</a:t>
            </a:r>
            <a:r>
              <a:rPr lang="en-US" altLang="zh-CN" dirty="0"/>
              <a:t>(3)</a:t>
            </a:r>
            <a:r>
              <a:rPr lang="zh-CN" altLang="en-US" dirty="0">
                <a:solidFill>
                  <a:srgbClr val="FF00FF"/>
                </a:solidFill>
              </a:rPr>
              <a:t>朋友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(4)</a:t>
            </a:r>
            <a:r>
              <a:rPr lang="zh-CN" altLang="en-US" dirty="0"/>
              <a:t>同乡关系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(5)</a:t>
            </a:r>
            <a:r>
              <a:rPr lang="zh-CN" altLang="en-US" dirty="0">
                <a:solidFill>
                  <a:schemeClr val="accent1"/>
                </a:solidFill>
              </a:rPr>
              <a:t>师生</a:t>
            </a:r>
            <a:r>
              <a:rPr lang="zh-CN" altLang="en-US" dirty="0"/>
              <a:t>关系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DCCBAF0-4E0A-4C1E-457D-9692FEF41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3575" y="1844675"/>
            <a:ext cx="5651500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zh-CN" altLang="en-US" dirty="0"/>
              <a:t> 设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B050"/>
                </a:solidFill>
              </a:rPr>
              <a:t>人类</a:t>
            </a:r>
            <a:r>
              <a:rPr lang="zh-CN" altLang="en-US" dirty="0"/>
              <a:t>集合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父子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66"/>
                </a:solidFill>
              </a:rPr>
              <a:t>同学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朋友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同乡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339933"/>
                </a:solidFill>
              </a:rPr>
              <a:t>师生</a:t>
            </a: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3">
            <a:extLst>
              <a:ext uri="{FF2B5EF4-FFF2-40B4-BE49-F238E27FC236}">
                <a16:creationId xmlns:a16="http://schemas.microsoft.com/office/drawing/2014/main" id="{B3758CC1-07AC-29A7-37F5-E68CDF63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3.5.5  </a:t>
            </a:r>
            <a:r>
              <a:rPr lang="zh-CN" altLang="en-US"/>
              <a:t>举 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AF6B24-D9CD-83AD-3186-FCB23CCD8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288" y="1844675"/>
            <a:ext cx="3024187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3.5.16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(1)</a:t>
            </a:r>
            <a:r>
              <a:rPr lang="zh-CN" altLang="en-US" dirty="0">
                <a:solidFill>
                  <a:schemeClr val="accent1"/>
                </a:solidFill>
              </a:rPr>
              <a:t>等于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</a:t>
            </a:r>
            <a:r>
              <a:rPr lang="zh-CN" altLang="en-US" dirty="0"/>
              <a:t>大于关系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</a:t>
            </a:r>
            <a:r>
              <a:rPr lang="en-US" altLang="zh-CN" dirty="0"/>
              <a:t>(3)</a:t>
            </a:r>
            <a:r>
              <a:rPr lang="zh-CN" altLang="en-US" dirty="0">
                <a:solidFill>
                  <a:srgbClr val="FF00FF"/>
                </a:solidFill>
              </a:rPr>
              <a:t>小于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(4)</a:t>
            </a:r>
            <a:r>
              <a:rPr lang="zh-CN" altLang="en-US" dirty="0"/>
              <a:t>不大于关系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(5)</a:t>
            </a:r>
            <a:r>
              <a:rPr lang="zh-CN" altLang="en-US" dirty="0">
                <a:solidFill>
                  <a:schemeClr val="accent1"/>
                </a:solidFill>
              </a:rPr>
              <a:t>不小于</a:t>
            </a:r>
            <a:r>
              <a:rPr lang="zh-CN" altLang="en-US" dirty="0"/>
              <a:t>关系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F7146CA-9E6E-CDE2-D8A2-5665C928A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95738" y="1820863"/>
            <a:ext cx="4751387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zh-CN" altLang="en-US" dirty="0"/>
              <a:t> 设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B050"/>
                </a:solidFill>
              </a:rPr>
              <a:t>实数</a:t>
            </a:r>
            <a:r>
              <a:rPr lang="zh-CN" altLang="en-US" dirty="0"/>
              <a:t>集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＝</a:t>
            </a:r>
            <a:r>
              <a:rPr lang="en-US" altLang="zh-CN" dirty="0"/>
              <a:t>y}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>
                <a:solidFill>
                  <a:schemeClr val="accent1"/>
                </a:solidFill>
              </a:rPr>
              <a:t>&gt;</a:t>
            </a:r>
            <a:r>
              <a:rPr lang="en-US" altLang="zh-CN" dirty="0"/>
              <a:t>y}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>
                <a:solidFill>
                  <a:srgbClr val="FF0066"/>
                </a:solidFill>
              </a:rPr>
              <a:t>&lt;</a:t>
            </a:r>
            <a:r>
              <a:rPr lang="en-US" altLang="zh-CN" dirty="0"/>
              <a:t>y}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 err="1">
                <a:solidFill>
                  <a:schemeClr val="accent1"/>
                </a:solidFill>
              </a:rPr>
              <a:t>≤</a:t>
            </a:r>
            <a:r>
              <a:rPr lang="en-US" altLang="zh-CN" dirty="0" err="1"/>
              <a:t>y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>
                <a:solidFill>
                  <a:srgbClr val="FF00FF"/>
                </a:solidFill>
              </a:rPr>
              <a:t>≥</a:t>
            </a:r>
            <a:r>
              <a:rPr lang="en-US" altLang="zh-CN" dirty="0"/>
              <a:t>y}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3">
            <a:extLst>
              <a:ext uri="{FF2B5EF4-FFF2-40B4-BE49-F238E27FC236}">
                <a16:creationId xmlns:a16="http://schemas.microsoft.com/office/drawing/2014/main" id="{0A0B1CD4-20F1-5EBA-FB27-76009FEA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3.5.5  </a:t>
            </a:r>
            <a:r>
              <a:rPr lang="zh-CN" altLang="en-US"/>
              <a:t>举 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6B6D52-D537-B33E-EAAE-1E959F79E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288" y="1844675"/>
            <a:ext cx="3024187" cy="5013325"/>
          </a:xfrm>
        </p:spPr>
        <p:txBody>
          <a:bodyPr/>
          <a:lstStyle/>
          <a:p>
            <a:pPr>
              <a:lnSpc>
                <a:spcPct val="27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例</a:t>
            </a:r>
            <a:r>
              <a:rPr lang="en-US" altLang="zh-CN" sz="3200" dirty="0">
                <a:solidFill>
                  <a:srgbClr val="FF0000"/>
                </a:solidFill>
              </a:rPr>
              <a:t>3.5.17</a:t>
            </a:r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chemeClr val="accent1"/>
                </a:solidFill>
              </a:rPr>
              <a:t>   </a:t>
            </a:r>
            <a:r>
              <a:rPr lang="en-US" altLang="zh-CN" sz="3200" dirty="0"/>
              <a:t>(1)</a:t>
            </a:r>
            <a:r>
              <a:rPr lang="zh-CN" altLang="en-US" sz="3200" dirty="0">
                <a:solidFill>
                  <a:schemeClr val="accent1"/>
                </a:solidFill>
              </a:rPr>
              <a:t>全等</a:t>
            </a:r>
            <a:r>
              <a:rPr lang="zh-CN" altLang="en-US" sz="3200" dirty="0"/>
              <a:t>关系</a:t>
            </a:r>
            <a:endParaRPr lang="en-US" altLang="zh-CN" sz="3200" dirty="0"/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(2)</a:t>
            </a:r>
            <a:r>
              <a:rPr lang="zh-CN" altLang="en-US" sz="3200" dirty="0"/>
              <a:t>相似关系</a:t>
            </a:r>
            <a:endParaRPr lang="en-US" altLang="zh-CN" sz="32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EF73C38-DCA4-D566-FB0E-3E9D5497C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2500" y="1844675"/>
            <a:ext cx="5327650" cy="5013325"/>
          </a:xfrm>
        </p:spPr>
        <p:txBody>
          <a:bodyPr/>
          <a:lstStyle/>
          <a:p>
            <a:pPr>
              <a:lnSpc>
                <a:spcPct val="27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解</a:t>
            </a:r>
            <a:r>
              <a:rPr lang="zh-CN" altLang="en-US" sz="3200" dirty="0"/>
              <a:t> 设</a:t>
            </a:r>
            <a:r>
              <a:rPr lang="en-US" altLang="zh-CN" sz="3200" dirty="0"/>
              <a:t>A</a:t>
            </a:r>
            <a:r>
              <a:rPr lang="zh-CN" altLang="en-US" sz="3200" dirty="0"/>
              <a:t>为平面三角形集合</a:t>
            </a:r>
            <a:endParaRPr lang="en-US" altLang="zh-CN" sz="3200" dirty="0"/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R</a:t>
            </a:r>
            <a:r>
              <a:rPr lang="zh-CN" altLang="en-US" sz="3200" dirty="0"/>
              <a:t>＝</a:t>
            </a:r>
            <a:r>
              <a:rPr lang="en-US" altLang="zh-CN" sz="3200" dirty="0"/>
              <a:t>{</a:t>
            </a: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 err="1"/>
              <a:t>x,y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en-US" altLang="zh-CN" sz="3200" dirty="0"/>
              <a:t>︱</a:t>
            </a:r>
            <a:r>
              <a:rPr lang="en-US" altLang="zh-CN" sz="3200" dirty="0" err="1"/>
              <a:t>x,y∈A</a:t>
            </a:r>
            <a:r>
              <a:rPr lang="en-US" altLang="zh-CN" sz="3200" dirty="0" err="1">
                <a:latin typeface="+mn-ea"/>
              </a:rPr>
              <a:t>,</a:t>
            </a:r>
            <a:r>
              <a:rPr lang="en-US" altLang="zh-CN" sz="3200" dirty="0" err="1"/>
              <a:t>x</a:t>
            </a:r>
            <a:r>
              <a:rPr lang="zh-CN" altLang="zh-CN" sz="3200" dirty="0"/>
              <a:t>≌</a:t>
            </a:r>
            <a:r>
              <a:rPr lang="en-US" altLang="zh-CN" sz="3200" dirty="0"/>
              <a:t>y}</a:t>
            </a:r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S</a:t>
            </a:r>
            <a:r>
              <a:rPr lang="zh-CN" altLang="en-US" sz="3200" dirty="0"/>
              <a:t>＝</a:t>
            </a:r>
            <a:r>
              <a:rPr lang="en-US" altLang="zh-CN" sz="3200" dirty="0"/>
              <a:t>{</a:t>
            </a: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 err="1"/>
              <a:t>x,y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en-US" altLang="zh-CN" sz="3200" dirty="0"/>
              <a:t>︱</a:t>
            </a:r>
            <a:r>
              <a:rPr lang="en-US" altLang="zh-CN" sz="3200" dirty="0" err="1"/>
              <a:t>x,y∈A</a:t>
            </a:r>
            <a:r>
              <a:rPr lang="en-US" altLang="zh-CN" sz="3200" dirty="0" err="1">
                <a:latin typeface="+mn-ea"/>
              </a:rPr>
              <a:t>,</a:t>
            </a:r>
            <a:r>
              <a:rPr lang="en-US" altLang="zh-CN" sz="3200" dirty="0" err="1"/>
              <a:t>x</a:t>
            </a:r>
            <a:r>
              <a:rPr lang="zh-CN" altLang="zh-CN" sz="3200" dirty="0"/>
              <a:t>∽</a:t>
            </a:r>
            <a:r>
              <a:rPr lang="en-US" altLang="zh-CN" sz="3200" dirty="0"/>
              <a:t>y}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4">
            <a:extLst>
              <a:ext uri="{FF2B5EF4-FFF2-40B4-BE49-F238E27FC236}">
                <a16:creationId xmlns:a16="http://schemas.microsoft.com/office/drawing/2014/main" id="{7833C288-F53B-F993-1A43-3145273D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 作 业</a:t>
            </a:r>
          </a:p>
        </p:txBody>
      </p:sp>
      <p:sp>
        <p:nvSpPr>
          <p:cNvPr id="28675" name="内容占位符 5">
            <a:extLst>
              <a:ext uri="{FF2B5EF4-FFF2-40B4-BE49-F238E27FC236}">
                <a16:creationId xmlns:a16="http://schemas.microsoft.com/office/drawing/2014/main" id="{4B6289BB-AE81-2AA1-166A-607A1C8B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2017713"/>
            <a:ext cx="7772400" cy="4840287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altLang="zh-CN" sz="3600">
                <a:solidFill>
                  <a:srgbClr val="FF0000"/>
                </a:solidFill>
              </a:rPr>
              <a:t>P74</a:t>
            </a:r>
            <a:r>
              <a:rPr lang="en-US" altLang="zh-CN" sz="3600"/>
              <a:t>   </a:t>
            </a:r>
            <a:r>
              <a:rPr lang="zh-CN" altLang="en-US" sz="3600"/>
              <a:t>习题</a:t>
            </a:r>
            <a:r>
              <a:rPr lang="en-US" altLang="zh-CN" sz="3600"/>
              <a:t>3.5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1794</TotalTime>
  <Words>2186</Words>
  <Application>Microsoft Office PowerPoint</Application>
  <PresentationFormat>全屏显示(4:3)</PresentationFormat>
  <Paragraphs>233</Paragraphs>
  <Slides>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宋体</vt:lpstr>
      <vt:lpstr>Microsoft Yahei</vt:lpstr>
      <vt:lpstr>Calibri</vt:lpstr>
      <vt:lpstr>Tahoma</vt:lpstr>
      <vt:lpstr>Wingdings</vt:lpstr>
      <vt:lpstr>Blends</vt:lpstr>
      <vt:lpstr>Equation</vt:lpstr>
      <vt:lpstr>3.5 关系的性质  </vt:lpstr>
      <vt:lpstr>3.5 关系的性质 </vt:lpstr>
      <vt:lpstr>3.5.1 恒等关系</vt:lpstr>
      <vt:lpstr>3.5.2 自反关系和反自反关系</vt:lpstr>
      <vt:lpstr>3.5.2 自反关系和反自反关系</vt:lpstr>
      <vt:lpstr>3.5.2 自反关系和反自反关系</vt:lpstr>
      <vt:lpstr>3.5.3 对称关系和反对称关系</vt:lpstr>
      <vt:lpstr>3.5.3 对称关系和反对称关系</vt:lpstr>
      <vt:lpstr>3.5.3 对称关系和反对称关系</vt:lpstr>
      <vt:lpstr>3.5.3 对称关系和反对称关系</vt:lpstr>
      <vt:lpstr>3.5.4 传递关系</vt:lpstr>
      <vt:lpstr>3.5.4 传递关系</vt:lpstr>
      <vt:lpstr>3.5.4 传递关系</vt:lpstr>
      <vt:lpstr>PowerPoint 演示文稿</vt:lpstr>
      <vt:lpstr>PowerPoint 演示文稿</vt:lpstr>
      <vt:lpstr>3.5.5  举 例</vt:lpstr>
      <vt:lpstr>3.5.5  举 例</vt:lpstr>
      <vt:lpstr>PowerPoint 演示文稿</vt:lpstr>
      <vt:lpstr>3.5.5  举 例</vt:lpstr>
      <vt:lpstr>3.5.5  举 例</vt:lpstr>
      <vt:lpstr>3.5.5  举 例</vt:lpstr>
      <vt:lpstr>3.5.4 传递关系</vt:lpstr>
      <vt:lpstr>3.5.5  举 例</vt:lpstr>
      <vt:lpstr>3.5.5  举 例</vt:lpstr>
      <vt:lpstr>3.5.5  举 例</vt:lpstr>
      <vt:lpstr>3.5.5  举 例</vt:lpstr>
      <vt:lpstr>3.5.5  举 例</vt:lpstr>
      <vt:lpstr>  作 业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77</cp:revision>
  <dcterms:created xsi:type="dcterms:W3CDTF">2010-04-09T13:44:14Z</dcterms:created>
  <dcterms:modified xsi:type="dcterms:W3CDTF">2023-12-21T07:45:04Z</dcterms:modified>
</cp:coreProperties>
</file>