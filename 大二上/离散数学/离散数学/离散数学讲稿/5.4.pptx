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5"/>
  </p:notesMasterIdLst>
  <p:sldIdLst>
    <p:sldId id="379" r:id="rId2"/>
    <p:sldId id="392" r:id="rId3"/>
    <p:sldId id="393" r:id="rId4"/>
    <p:sldId id="384" r:id="rId5"/>
    <p:sldId id="394" r:id="rId6"/>
    <p:sldId id="395" r:id="rId7"/>
    <p:sldId id="396" r:id="rId8"/>
    <p:sldId id="397" r:id="rId9"/>
    <p:sldId id="388" r:id="rId10"/>
    <p:sldId id="398" r:id="rId11"/>
    <p:sldId id="399" r:id="rId12"/>
    <p:sldId id="400" r:id="rId13"/>
    <p:sldId id="402" r:id="rId1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CC0066"/>
    <a:srgbClr val="FF00FF"/>
    <a:srgbClr val="FF0066"/>
    <a:srgbClr val="00CC99"/>
    <a:srgbClr val="0000FF"/>
    <a:srgbClr val="00808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83" autoAdjust="0"/>
  </p:normalViewPr>
  <p:slideViewPr>
    <p:cSldViewPr>
      <p:cViewPr varScale="1">
        <p:scale>
          <a:sx n="64" d="100"/>
          <a:sy n="64" d="100"/>
        </p:scale>
        <p:origin x="13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083E50C-3EC2-6E3A-7372-106430C998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DA3774-084E-C874-54BA-4728FA5E6D8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charset="-122"/>
              </a:defRPr>
            </a:lvl1pPr>
          </a:lstStyle>
          <a:p>
            <a:pPr>
              <a:defRPr/>
            </a:pPr>
            <a:fld id="{0B867014-B16D-4029-82E1-66A0AC71C48E}" type="datetimeFigureOut">
              <a:rPr lang="zh-CN" altLang="en-US"/>
              <a:pPr>
                <a:defRPr/>
              </a:pPr>
              <a:t>2023/12/6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68FCBC6-F7C1-267E-12D0-FCE6CF88B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9A4E5F7C-B5FF-A8C6-C97D-4B3F5ACAA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4D7648-3C7A-8AE4-C6B7-D08FB72B82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9E1FA9-9BA9-DB74-9F8C-BA66CD3AE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52CA998-B028-49AD-B211-EAB73955ECC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AA7100-77E2-2143-4E53-3B33223CE8B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D5064DE-7B00-C66D-1094-BE6A477B7D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4D80E5D7-71EC-DC75-5F13-A33B29111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1F0AE1DD-CA3B-03DA-F410-69302AC3C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67003CA-7F7B-71F3-F1A0-9E9B222EDF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044D4C1-099A-A628-8B72-55A73D9E2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76EA9E-7212-5B67-8797-4A378AE70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45B52F3D-DE82-46EF-14E4-011AB3FFE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0148FB70-9EFA-EAA5-D954-A2377F325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F235E323-E969-EEB5-1E28-4ED59043667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FA85047D-B07A-850D-1FB1-27CDD3B9BE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1574A4E-52D4-5823-16C4-8ACD631240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CD817EA6-1A05-6D69-D084-5CB1687498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CDF77B-D0DF-4984-8E5C-51904371095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00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276150D-7D14-814F-FDE2-C302B05ACA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C847AB3-F510-DA95-85A8-1D75A9071F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5350813-E45E-0F0D-D086-50887525E7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390579-C224-4593-ADB3-B6AC10DA79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36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AA600EF-E966-9F96-6645-60B3B257FC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FB3C342-F4FC-61E1-4AA1-08D81485E5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7111671-42B1-EE6D-A48F-719F2EEAD7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1E819F-6ABB-4F3D-99A3-B4C11DED79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7368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4DDDFDC-DC9C-A8FD-59AF-65295F3877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F5C85FE-2A56-63C6-ED9E-B3EFBCB818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972CF33-CEF9-14E6-4AEA-7486573638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D5AF9C-E88D-4148-ADE4-C0D08EE5C6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28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6D7030D-3250-C54D-599D-879A239B00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E885B9C1-27B9-B106-2B2E-AC53D0CEC4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0E7D590-DCDB-DB1D-1D1B-30E5E34B1E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EDE86D-160E-481E-82A5-AF7CBAA8F2B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560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4FEB639-0648-C9F1-EF2F-3F38FA562B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6EAE542-302C-1014-1A96-D4E9DBF5CD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9389B02-DE8D-5F00-6181-37489B3DDC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D7EF00-3F82-49E1-B32F-4DDFE47C5E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274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78D94C0-FFFB-29EC-73C0-9699758A66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8AAC88DE-BFD6-8822-FB9F-2F724935C8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FDBEF325-A135-73A6-E0AD-6E97F43304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D9E6FA-54BC-4A37-9719-9CE0035CED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46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4E4ADF5-3403-1CBD-915D-747D62DA0B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095FAFC-33CD-DA5F-7E2D-A446EDD400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4AD4A23-0981-A5E1-D283-B4F6B30587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06A767-8BDE-4306-AD86-924082126F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94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1515179-15E6-3ABA-34B2-BCE871953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7A083F4-5FE4-7374-BDB2-E8CAFBFB66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F1E59A4-4C00-C54F-A8B1-225A4A2F51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91BDD6-4339-433A-AEDE-88FBC7370B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947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8933DC6-5D2B-A50D-BB83-A744CCB326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3563BC9-35BC-FA8A-15DB-087D0582D5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C263E16-2628-698F-7B37-76F9259B49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DC293B-4F29-4889-B3A0-CB2F16D8CD6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770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AB8391C-FAC3-ECA3-B270-A6C6B6D57D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230AA1C-8DEB-6EE5-A9A4-3537982830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4F28327-829D-8C6D-30CE-BA9B08B1FC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C6CD87-F9AE-4464-93D2-003D40A7ED2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9701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2F06C242-68AC-BA43-DC7A-896E3535AF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8064E47-5C0F-60B2-0B90-D0B578A01B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0B91882B-A8CB-941A-8BF8-42C88D6AD1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1C74FA-D5D2-4497-98EC-227B133809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8584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DD85A59-46C1-A2C1-5F81-4F8E2D0ACC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7695F80-F7EB-95F1-3604-34E9D8C828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54C41FD-D0E1-8EB6-AB5A-A10D7A08BA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9E784F-929D-4837-A250-69DECA3E75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782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77030E7-895A-7FDB-FC36-0437D02618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258B7B8-88D4-EBA2-9115-066E3F270FF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8137525-A232-B228-4C5C-E9879197D51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6BDB3F1-059B-9499-70DF-428F147E4E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3C2C77-0B89-DB0C-9E6A-49EED64B820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18B5D12-BFC5-2998-BFDF-79E6B31E00F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323D7A9C-C78C-91CE-D3F3-4EE1E2542D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EC60D428-2C92-8F7F-737D-86974F6C5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2B706154-4329-C0EF-814C-2245FEBC9A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DF40008E-EC29-1013-89D4-4A530C8597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59A3235B-E400-17C2-947E-9B25BA92BC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39365B2C-D78D-515E-B314-CDBC3BF0870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06C21B7-2E6E-4D02-8EA8-794101205AC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1.wmf"/><Relationship Id="rId7" Type="http://schemas.openxmlformats.org/officeDocument/2006/relationships/oleObject" Target="../embeddings/oleObject16.bin"/><Relationship Id="rId12" Type="http://schemas.openxmlformats.org/officeDocument/2006/relationships/oleObject" Target="../embeddings/oleObject20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4.bin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7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>
            <a:extLst>
              <a:ext uri="{FF2B5EF4-FFF2-40B4-BE49-F238E27FC236}">
                <a16:creationId xmlns:a16="http://schemas.microsoft.com/office/drawing/2014/main" id="{E0F22C9A-7651-818A-9B95-C2A21943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5.4  </a:t>
            </a:r>
            <a:r>
              <a:rPr lang="zh-CN" altLang="zh-CN" sz="5400"/>
              <a:t>子群</a:t>
            </a:r>
            <a:endParaRPr lang="zh-CN" altLang="en-US" sz="5400"/>
          </a:p>
        </p:txBody>
      </p:sp>
      <p:sp>
        <p:nvSpPr>
          <p:cNvPr id="3075" name="内容占位符 2">
            <a:extLst>
              <a:ext uri="{FF2B5EF4-FFF2-40B4-BE49-F238E27FC236}">
                <a16:creationId xmlns:a16="http://schemas.microsoft.com/office/drawing/2014/main" id="{6A0C41A6-8B2E-802E-CC99-2CDBC06E7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4000"/>
              <a:t>5.4.1 </a:t>
            </a:r>
            <a:r>
              <a:rPr lang="zh-CN" altLang="zh-CN" sz="4000"/>
              <a:t>子群的定义</a:t>
            </a:r>
            <a:endParaRPr lang="en-US" altLang="zh-CN" sz="4000"/>
          </a:p>
          <a:p>
            <a:pPr>
              <a:lnSpc>
                <a:spcPct val="200000"/>
              </a:lnSpc>
            </a:pPr>
            <a:r>
              <a:rPr lang="en-US" altLang="zh-CN" sz="4000"/>
              <a:t>5.4.2 </a:t>
            </a:r>
            <a:r>
              <a:rPr lang="zh-CN" altLang="zh-CN" sz="4000"/>
              <a:t>子群的性质</a:t>
            </a:r>
            <a:endParaRPr lang="en-US" altLang="zh-CN" sz="4000"/>
          </a:p>
          <a:p>
            <a:pPr>
              <a:lnSpc>
                <a:spcPct val="200000"/>
              </a:lnSpc>
            </a:pPr>
            <a:r>
              <a:rPr lang="en-US" altLang="zh-CN" sz="4000"/>
              <a:t>5.4.3 </a:t>
            </a:r>
            <a:r>
              <a:rPr lang="zh-CN" altLang="zh-CN" sz="4000"/>
              <a:t>子群的判定</a:t>
            </a:r>
            <a:endParaRPr lang="zh-CN" altLang="en-US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9711039E-C965-C897-9E5F-D19FA9A0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5400"/>
              <a:t>5.4.1 </a:t>
            </a:r>
            <a:r>
              <a:rPr lang="zh-CN" altLang="zh-CN" sz="5400"/>
              <a:t>子群的定义</a:t>
            </a:r>
            <a:endParaRPr lang="en-US" altLang="zh-CN" sz="5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102C97-A8E8-F289-2600-E86464E9D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16113"/>
            <a:ext cx="8532813" cy="494188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群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endParaRPr lang="en-US" altLang="zh-CN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S   G</a:t>
            </a:r>
            <a:r>
              <a:rPr lang="zh-CN" altLang="en-US" dirty="0"/>
              <a:t>且</a:t>
            </a:r>
            <a:r>
              <a:rPr lang="en-US" altLang="zh-CN" dirty="0"/>
              <a:t>S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/>
              <a:t>≠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宋体" pitchFamily="2" charset="-122"/>
              </a:rPr>
              <a:t>    &lt;</a:t>
            </a:r>
            <a:r>
              <a:rPr lang="en-US" altLang="zh-CN" dirty="0"/>
              <a:t>S,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群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S,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b="1" dirty="0">
                <a:solidFill>
                  <a:schemeClr val="accent1"/>
                </a:solidFill>
              </a:rPr>
              <a:t>子群</a:t>
            </a:r>
            <a:r>
              <a:rPr lang="en-US" altLang="zh-CN" dirty="0"/>
              <a:t>(subgroup)(</a:t>
            </a:r>
            <a:r>
              <a:rPr lang="zh-CN" altLang="zh-CN" dirty="0"/>
              <a:t>简称</a:t>
            </a:r>
            <a:r>
              <a:rPr lang="en-US" altLang="zh-CN" dirty="0"/>
              <a:t>S</a:t>
            </a:r>
            <a:r>
              <a:rPr lang="zh-CN" altLang="zh-CN" dirty="0"/>
              <a:t>是</a:t>
            </a:r>
            <a:r>
              <a:rPr lang="en-US" altLang="zh-CN" dirty="0"/>
              <a:t>G</a:t>
            </a:r>
            <a:r>
              <a:rPr lang="zh-CN" altLang="zh-CN" dirty="0"/>
              <a:t>的子群</a:t>
            </a:r>
            <a:r>
              <a:rPr lang="en-US" altLang="zh-CN" dirty="0"/>
              <a:t>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S   G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S,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b="1" dirty="0">
                <a:solidFill>
                  <a:srgbClr val="FF0000"/>
                </a:solidFill>
              </a:rPr>
              <a:t>真子群</a:t>
            </a:r>
            <a:r>
              <a:rPr lang="en-US" altLang="zh-CN" dirty="0"/>
              <a:t>(proper subgroup)</a:t>
            </a:r>
            <a:endParaRPr lang="zh-CN" altLang="en-US" dirty="0"/>
          </a:p>
        </p:txBody>
      </p:sp>
      <p:graphicFrame>
        <p:nvGraphicFramePr>
          <p:cNvPr id="4100" name="对象 3">
            <a:extLst>
              <a:ext uri="{FF2B5EF4-FFF2-40B4-BE49-F238E27FC236}">
                <a16:creationId xmlns:a16="http://schemas.microsoft.com/office/drawing/2014/main" id="{BFD84512-686E-6DB8-DE71-1851BE2C49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9750" y="2924175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2924175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对象 4">
            <a:extLst>
              <a:ext uri="{FF2B5EF4-FFF2-40B4-BE49-F238E27FC236}">
                <a16:creationId xmlns:a16="http://schemas.microsoft.com/office/drawing/2014/main" id="{FA7B7AB7-2014-F2BE-6C6C-2A6C44ED52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2890838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890838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对象 5">
            <a:extLst>
              <a:ext uri="{FF2B5EF4-FFF2-40B4-BE49-F238E27FC236}">
                <a16:creationId xmlns:a16="http://schemas.microsoft.com/office/drawing/2014/main" id="{685C667D-3DD6-C27D-957F-DC3941ED0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3" y="5300663"/>
          <a:ext cx="352425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02" imgH="126835" progId="Equation.DSMT4">
                  <p:embed/>
                </p:oleObj>
              </mc:Choice>
              <mc:Fallback>
                <p:oleObj name="Equation" r:id="rId6" imgW="152202" imgH="126835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5300663"/>
                        <a:ext cx="352425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C65D662-7A05-BF5E-CA94-773D3A8C083A}"/>
              </a:ext>
            </a:extLst>
          </p:cNvPr>
          <p:cNvCxnSpPr/>
          <p:nvPr/>
        </p:nvCxnSpPr>
        <p:spPr>
          <a:xfrm>
            <a:off x="1403350" y="2636838"/>
            <a:ext cx="0" cy="165576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7260584-E2A1-BCD5-90D5-6EE5C4EE13EF}"/>
              </a:ext>
            </a:extLst>
          </p:cNvPr>
          <p:cNvCxnSpPr/>
          <p:nvPr/>
        </p:nvCxnSpPr>
        <p:spPr>
          <a:xfrm>
            <a:off x="1403350" y="4941888"/>
            <a:ext cx="0" cy="1008062"/>
          </a:xfrm>
          <a:prstGeom prst="straightConnector1">
            <a:avLst/>
          </a:prstGeom>
          <a:ln w="38100">
            <a:solidFill>
              <a:srgbClr val="CC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2E4A9F0D-F030-56AA-F85B-657162D3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5.4.1 </a:t>
            </a:r>
            <a:r>
              <a:rPr lang="zh-CN" altLang="zh-CN" sz="5400"/>
              <a:t>子群的定义</a:t>
            </a:r>
            <a:endParaRPr lang="zh-CN" altLang="en-US" sz="5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04894D-7E24-9C68-24B0-9D84B037C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>
              <a:lnSpc>
                <a:spcPct val="180000"/>
              </a:lnSpc>
              <a:defRPr/>
            </a:pPr>
            <a:r>
              <a:rPr lang="zh-CN" altLang="zh-CN" dirty="0"/>
              <a:t>设</a:t>
            </a:r>
            <a:r>
              <a:rPr lang="en-US" altLang="zh-CN" dirty="0"/>
              <a:t>e</a:t>
            </a:r>
            <a:r>
              <a:rPr lang="zh-CN" altLang="zh-CN" dirty="0"/>
              <a:t>是群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chemeClr val="accent1"/>
                </a:solidFill>
              </a:rPr>
              <a:t>幺元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{e},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endParaRPr lang="en-US" altLang="zh-CN" dirty="0"/>
          </a:p>
          <a:p>
            <a:pPr>
              <a:lnSpc>
                <a:spcPct val="180000"/>
              </a:lnSpc>
              <a:defRPr/>
            </a:pPr>
            <a:r>
              <a:rPr lang="zh-CN" altLang="zh-CN" b="1" dirty="0">
                <a:solidFill>
                  <a:srgbClr val="339933"/>
                </a:solidFill>
              </a:rPr>
              <a:t>平凡子群</a:t>
            </a:r>
            <a:r>
              <a:rPr lang="en-US" altLang="zh-CN" dirty="0"/>
              <a:t>(trivial subgroup)</a:t>
            </a:r>
          </a:p>
          <a:p>
            <a:pPr>
              <a:lnSpc>
                <a:spcPct val="18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非</a:t>
            </a:r>
            <a:r>
              <a:rPr lang="zh-CN" altLang="zh-CN" b="1" dirty="0"/>
              <a:t>平凡子群</a:t>
            </a:r>
            <a:r>
              <a:rPr lang="en-US" altLang="zh-CN" dirty="0"/>
              <a:t>(nontrivial subgroup)</a:t>
            </a:r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D79AB42-6B31-A0E4-1FB7-F94A006EAF95}"/>
              </a:ext>
            </a:extLst>
          </p:cNvPr>
          <p:cNvCxnSpPr/>
          <p:nvPr/>
        </p:nvCxnSpPr>
        <p:spPr>
          <a:xfrm>
            <a:off x="1835150" y="2852738"/>
            <a:ext cx="0" cy="180022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9">
            <a:extLst>
              <a:ext uri="{FF2B5EF4-FFF2-40B4-BE49-F238E27FC236}">
                <a16:creationId xmlns:a16="http://schemas.microsoft.com/office/drawing/2014/main" id="{FFE57C3E-054E-C7DF-F26C-EFEE8C29C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5.4.1 </a:t>
            </a:r>
            <a:r>
              <a:rPr lang="zh-CN" altLang="zh-CN" sz="5400"/>
              <a:t>子群的定义</a:t>
            </a:r>
            <a:endParaRPr lang="zh-CN" altLang="en-US" sz="5400"/>
          </a:p>
        </p:txBody>
      </p:sp>
      <p:graphicFrame>
        <p:nvGraphicFramePr>
          <p:cNvPr id="131094" name="Group 22">
            <a:extLst>
              <a:ext uri="{FF2B5EF4-FFF2-40B4-BE49-F238E27FC236}">
                <a16:creationId xmlns:a16="http://schemas.microsoft.com/office/drawing/2014/main" id="{41C35605-B622-E20B-2D3C-F04CA77C8FF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395288" y="2297113"/>
          <a:ext cx="4752975" cy="4084637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＋</a:t>
                      </a:r>
                      <a:r>
                        <a:rPr kumimoji="0" lang="en-US" altLang="zh-CN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</a:p>
                  </a:txBody>
                  <a:tcPr marL="80631" marR="80631" marT="45724" marB="4572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0   2   4   1   3   5</a:t>
                      </a:r>
                    </a:p>
                  </a:txBody>
                  <a:tcPr marL="80631" marR="8063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4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5</a:t>
                      </a:r>
                    </a:p>
                  </a:txBody>
                  <a:tcPr marL="80631" marR="80631" marT="45724" marB="4572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0   2   4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1   3   5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2   4   0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3   5   1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4   0   2</a:t>
                      </a: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 5   1   3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1   3   5   2   4   0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3   5   1   4   0   2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  5   1   3   0   2   4</a:t>
                      </a:r>
                    </a:p>
                  </a:txBody>
                  <a:tcPr marL="80631" marR="80631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54" name="Rectangle 3">
            <a:extLst>
              <a:ext uri="{FF2B5EF4-FFF2-40B4-BE49-F238E27FC236}">
                <a16:creationId xmlns:a16="http://schemas.microsoft.com/office/drawing/2014/main" id="{8DCB3C86-20C6-2FED-2CDF-2DF1A098B3D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580063" y="1844675"/>
            <a:ext cx="3563937" cy="4608513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宋体" panose="02010600030101010101" pitchFamily="2" charset="-122"/>
              </a:rPr>
              <a:t>群</a:t>
            </a:r>
            <a:r>
              <a:rPr lang="en-US" altLang="zh-CN" sz="3200" dirty="0">
                <a:latin typeface="宋体" panose="02010600030101010101" pitchFamily="2" charset="-122"/>
              </a:rPr>
              <a:t>&lt;</a:t>
            </a:r>
            <a:r>
              <a:rPr lang="en-US" altLang="zh-CN" sz="3200" dirty="0"/>
              <a:t>N</a:t>
            </a:r>
            <a:r>
              <a:rPr lang="en-US" altLang="zh-CN" sz="3200" baseline="-25000" dirty="0"/>
              <a:t>6</a:t>
            </a:r>
            <a:r>
              <a:rPr lang="en-US" altLang="zh-CN" sz="3200" dirty="0"/>
              <a:t>,</a:t>
            </a:r>
            <a:r>
              <a:rPr lang="en-US" altLang="en-US" sz="3200" dirty="0"/>
              <a:t>＋</a:t>
            </a:r>
            <a:r>
              <a:rPr lang="en-US" altLang="zh-CN" sz="3200" baseline="-25000" dirty="0"/>
              <a:t>6</a:t>
            </a:r>
            <a:r>
              <a:rPr lang="en-US" altLang="zh-CN" sz="3200" dirty="0">
                <a:latin typeface="宋体" panose="02010600030101010101" pitchFamily="2" charset="-122"/>
              </a:rPr>
              <a:t>&gt;</a:t>
            </a:r>
          </a:p>
          <a:p>
            <a:pPr>
              <a:lnSpc>
                <a:spcPct val="300000"/>
              </a:lnSpc>
            </a:pPr>
            <a:r>
              <a:rPr lang="zh-CN" altLang="en-US" sz="3200" dirty="0">
                <a:latin typeface="宋体" panose="02010600030101010101" pitchFamily="2" charset="-122"/>
              </a:rPr>
              <a:t>群</a:t>
            </a:r>
            <a:r>
              <a:rPr lang="en-US" altLang="zh-CN" sz="3200" dirty="0">
                <a:latin typeface="宋体" panose="02010600030101010101" pitchFamily="2" charset="-122"/>
              </a:rPr>
              <a:t>&lt;</a:t>
            </a:r>
            <a:r>
              <a:rPr lang="en-US" altLang="zh-CN" sz="3200" dirty="0" err="1"/>
              <a:t>N</a:t>
            </a:r>
            <a:r>
              <a:rPr lang="en-US" altLang="zh-CN" sz="3200" baseline="-25000" dirty="0" err="1"/>
              <a:t>k</a:t>
            </a:r>
            <a:r>
              <a:rPr lang="en-US" altLang="zh-CN" sz="3200" dirty="0"/>
              <a:t>,</a:t>
            </a:r>
            <a:r>
              <a:rPr lang="en-US" altLang="en-US" sz="3200" dirty="0"/>
              <a:t>＋</a:t>
            </a:r>
            <a:r>
              <a:rPr lang="en-US" altLang="zh-CN" sz="3200" baseline="-25000" dirty="0"/>
              <a:t>k</a:t>
            </a:r>
            <a:r>
              <a:rPr lang="en-US" altLang="zh-CN" sz="3200" dirty="0">
                <a:latin typeface="宋体" panose="02010600030101010101" pitchFamily="2" charset="-122"/>
              </a:rPr>
              <a:t>&gt;</a:t>
            </a:r>
            <a:endParaRPr lang="en-US" altLang="zh-CN" sz="3200" dirty="0"/>
          </a:p>
          <a:p>
            <a:pPr>
              <a:lnSpc>
                <a:spcPct val="300000"/>
              </a:lnSpc>
            </a:pPr>
            <a:r>
              <a:rPr lang="zh-CN" altLang="en-US" sz="3200" dirty="0">
                <a:solidFill>
                  <a:srgbClr val="FF0000"/>
                </a:solidFill>
              </a:rPr>
              <a:t>群</a:t>
            </a:r>
            <a:r>
              <a:rPr lang="en-US" altLang="zh-CN" sz="3200" dirty="0">
                <a:latin typeface="宋体" panose="02010600030101010101" pitchFamily="2" charset="-122"/>
              </a:rPr>
              <a:t>&lt;</a:t>
            </a:r>
            <a:r>
              <a:rPr lang="en-US" altLang="zh-CN" sz="3200" dirty="0"/>
              <a:t>{0,2,4} ,</a:t>
            </a:r>
            <a:r>
              <a:rPr lang="en-US" altLang="en-US" sz="3200" dirty="0"/>
              <a:t>＋</a:t>
            </a:r>
            <a:r>
              <a:rPr lang="en-US" altLang="zh-CN" sz="3200" baseline="-25000" dirty="0"/>
              <a:t>6</a:t>
            </a:r>
            <a:r>
              <a:rPr lang="en-US" altLang="zh-CN" sz="3200" dirty="0">
                <a:latin typeface="宋体" panose="02010600030101010101" pitchFamily="2" charset="-122"/>
              </a:rPr>
              <a:t>&gt;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4">
            <a:extLst>
              <a:ext uri="{FF2B5EF4-FFF2-40B4-BE49-F238E27FC236}">
                <a16:creationId xmlns:a16="http://schemas.microsoft.com/office/drawing/2014/main" id="{F8A8EEBF-C141-02FA-42EA-A86354D1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5.4.2 </a:t>
            </a:r>
            <a:r>
              <a:rPr lang="zh-CN" altLang="zh-CN" sz="5400"/>
              <a:t>子群的性质</a:t>
            </a:r>
            <a:endParaRPr lang="zh-CN" altLang="en-US" sz="540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596D94-F006-CE34-A43A-AFE3494C9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850" y="3662363"/>
            <a:ext cx="4176713" cy="3157537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证明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dirty="0"/>
              <a:t>)</a:t>
            </a:r>
            <a:r>
              <a:rPr lang="zh-CN" altLang="zh-CN" dirty="0"/>
              <a:t>设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S,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幺元</a:t>
            </a:r>
            <a:r>
              <a:rPr lang="en-US" altLang="zh-CN" dirty="0"/>
              <a:t>e</a:t>
            </a:r>
            <a:r>
              <a:rPr lang="en-US" altLang="zh-CN" baseline="-25000" dirty="0"/>
              <a:t>1 </a:t>
            </a:r>
            <a:endParaRPr lang="en-US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e</a:t>
            </a:r>
            <a:r>
              <a:rPr lang="en-US" altLang="zh-CN" baseline="-25000" dirty="0"/>
              <a:t>1</a:t>
            </a:r>
            <a:r>
              <a:rPr lang="zh-CN" altLang="zh-CN" dirty="0"/>
              <a:t>∈</a:t>
            </a:r>
            <a:r>
              <a:rPr lang="en-US" altLang="zh-CN" dirty="0"/>
              <a:t>S   G 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FF"/>
                </a:solidFill>
                <a:sym typeface="Symbol" pitchFamily="18" charset="2"/>
              </a:rPr>
              <a:t>     </a:t>
            </a:r>
            <a:r>
              <a:rPr lang="en-US" altLang="zh-CN" dirty="0"/>
              <a:t>x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e</a:t>
            </a:r>
            <a:r>
              <a:rPr lang="en-US" altLang="zh-CN" baseline="-25000" dirty="0"/>
              <a:t>1</a:t>
            </a:r>
            <a:r>
              <a:rPr lang="en-US" altLang="en-US" dirty="0"/>
              <a:t>＊</a:t>
            </a:r>
            <a:r>
              <a:rPr lang="en-US" altLang="zh-CN" dirty="0"/>
              <a:t>x</a:t>
            </a:r>
            <a:r>
              <a:rPr lang="zh-CN" altLang="zh-CN" dirty="0"/>
              <a:t>＝</a:t>
            </a:r>
            <a:r>
              <a:rPr lang="en-US" altLang="zh-CN" dirty="0"/>
              <a:t>x</a:t>
            </a:r>
            <a:r>
              <a:rPr lang="zh-CN" altLang="zh-CN" dirty="0"/>
              <a:t>＝</a:t>
            </a:r>
            <a:r>
              <a:rPr lang="en-US" altLang="zh-CN" dirty="0" err="1"/>
              <a:t>e</a:t>
            </a:r>
            <a:r>
              <a:rPr lang="en-US" altLang="en-US" dirty="0" err="1"/>
              <a:t>＊</a:t>
            </a:r>
            <a:r>
              <a:rPr lang="en-US" altLang="zh-CN" dirty="0" err="1"/>
              <a:t>x</a:t>
            </a:r>
            <a:endParaRPr lang="en-US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e</a:t>
            </a:r>
            <a:r>
              <a:rPr lang="zh-CN" altLang="zh-CN" dirty="0"/>
              <a:t>＝</a:t>
            </a:r>
            <a:r>
              <a:rPr lang="en-US" altLang="zh-CN" dirty="0"/>
              <a:t>e</a:t>
            </a:r>
            <a:r>
              <a:rPr lang="en-US" altLang="zh-CN" baseline="-25000" dirty="0"/>
              <a:t>1 </a:t>
            </a:r>
            <a:endParaRPr lang="zh-CN" altLang="zh-CN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4B3FB4F3-5005-79D2-5AEE-7A75F708B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32363" y="3627438"/>
            <a:ext cx="3810000" cy="3230562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altLang="zh-CN" dirty="0"/>
              <a:t>(2)</a:t>
            </a:r>
            <a:r>
              <a:rPr lang="zh-CN" altLang="zh-CN" dirty="0"/>
              <a:t>任取</a:t>
            </a:r>
            <a:r>
              <a:rPr lang="en-US" altLang="zh-CN" dirty="0"/>
              <a:t>a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a</a:t>
            </a:r>
            <a:r>
              <a:rPr lang="zh-CN" altLang="en-US" dirty="0"/>
              <a:t>在</a:t>
            </a:r>
            <a:r>
              <a:rPr lang="en-US" altLang="zh-CN" dirty="0"/>
              <a:t>G</a:t>
            </a:r>
            <a:r>
              <a:rPr lang="zh-CN" altLang="en-US" dirty="0"/>
              <a:t>中   逆元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endParaRPr lang="en-US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a</a:t>
            </a:r>
            <a:r>
              <a:rPr lang="zh-CN" altLang="zh-CN" dirty="0"/>
              <a:t>在</a:t>
            </a:r>
            <a:r>
              <a:rPr lang="en-US" altLang="zh-CN" dirty="0"/>
              <a:t>S</a:t>
            </a:r>
            <a:r>
              <a:rPr lang="zh-CN" altLang="zh-CN" dirty="0"/>
              <a:t>中</a:t>
            </a:r>
            <a:r>
              <a:rPr lang="en-US" altLang="zh-CN" dirty="0"/>
              <a:t>    </a:t>
            </a:r>
            <a:r>
              <a:rPr lang="zh-CN" altLang="zh-CN" dirty="0"/>
              <a:t>逆元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endParaRPr lang="en-US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a</a:t>
            </a:r>
            <a:r>
              <a:rPr lang="en-US" altLang="zh-CN" baseline="-25000" dirty="0"/>
              <a:t>1</a:t>
            </a:r>
            <a:r>
              <a:rPr lang="en-US" altLang="en-US" dirty="0"/>
              <a:t>＊</a:t>
            </a:r>
            <a:r>
              <a:rPr lang="en-US" altLang="zh-CN" dirty="0"/>
              <a:t>a</a:t>
            </a:r>
            <a:r>
              <a:rPr lang="zh-CN" altLang="zh-CN" dirty="0"/>
              <a:t>＝</a:t>
            </a:r>
            <a:r>
              <a:rPr lang="en-US" altLang="zh-CN" dirty="0"/>
              <a:t>e</a:t>
            </a:r>
            <a:r>
              <a:rPr lang="zh-CN" altLang="zh-CN" dirty="0"/>
              <a:t>＝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en-US" altLang="en-US" dirty="0"/>
              <a:t>＊</a:t>
            </a:r>
            <a:r>
              <a:rPr lang="en-US" altLang="zh-CN" dirty="0"/>
              <a:t>a              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a</a:t>
            </a:r>
            <a:r>
              <a:rPr lang="en-US" altLang="zh-CN" baseline="-25000" dirty="0"/>
              <a:t>1</a:t>
            </a:r>
            <a:r>
              <a:rPr lang="zh-CN" altLang="zh-CN" dirty="0"/>
              <a:t>＝</a:t>
            </a:r>
            <a:r>
              <a:rPr lang="en-US" altLang="zh-CN" dirty="0"/>
              <a:t> a</a:t>
            </a:r>
            <a:r>
              <a:rPr lang="en-US" altLang="zh-CN" baseline="30000" dirty="0"/>
              <a:t>-1</a:t>
            </a:r>
            <a:r>
              <a:rPr lang="zh-CN" altLang="zh-CN" dirty="0"/>
              <a:t> </a:t>
            </a:r>
            <a:endParaRPr lang="zh-CN" altLang="en-US" dirty="0"/>
          </a:p>
        </p:txBody>
      </p:sp>
      <p:sp>
        <p:nvSpPr>
          <p:cNvPr id="7173" name="矩形 7">
            <a:extLst>
              <a:ext uri="{FF2B5EF4-FFF2-40B4-BE49-F238E27FC236}">
                <a16:creationId xmlns:a16="http://schemas.microsoft.com/office/drawing/2014/main" id="{A85A5831-7AE2-8CE4-066E-888A071C9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827213"/>
            <a:ext cx="8604250" cy="177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zh-CN" sz="2800" b="1" dirty="0">
                <a:solidFill>
                  <a:srgbClr val="FF0000"/>
                </a:solidFill>
              </a:rPr>
              <a:t>定理</a:t>
            </a:r>
            <a:r>
              <a:rPr lang="en-US" altLang="zh-CN" sz="2800" dirty="0">
                <a:solidFill>
                  <a:srgbClr val="FF0000"/>
                </a:solidFill>
              </a:rPr>
              <a:t>5.4.1 </a:t>
            </a:r>
            <a:r>
              <a:rPr lang="zh-CN" altLang="zh-CN" sz="2800" dirty="0"/>
              <a:t>设</a:t>
            </a:r>
            <a:r>
              <a:rPr lang="en-US" altLang="zh-CN" sz="2800" dirty="0">
                <a:latin typeface="宋体" panose="02010600030101010101" pitchFamily="2" charset="-122"/>
              </a:rPr>
              <a:t>&lt;</a:t>
            </a:r>
            <a:r>
              <a:rPr lang="en-US" altLang="zh-CN" sz="2800" dirty="0"/>
              <a:t>S,</a:t>
            </a:r>
            <a:r>
              <a:rPr lang="en-US" altLang="en-US" sz="2800" dirty="0"/>
              <a:t>＊</a:t>
            </a:r>
            <a:r>
              <a:rPr lang="en-US" altLang="zh-CN" sz="2800" dirty="0">
                <a:latin typeface="宋体" panose="02010600030101010101" pitchFamily="2" charset="-122"/>
              </a:rPr>
              <a:t>&gt;</a:t>
            </a:r>
            <a:r>
              <a:rPr lang="zh-CN" altLang="zh-CN" sz="2800" dirty="0"/>
              <a:t>是群</a:t>
            </a:r>
            <a:r>
              <a:rPr lang="en-US" altLang="zh-CN" sz="2800" dirty="0">
                <a:latin typeface="宋体" panose="02010600030101010101" pitchFamily="2" charset="-122"/>
              </a:rPr>
              <a:t>&lt;</a:t>
            </a:r>
            <a:r>
              <a:rPr lang="en-US" altLang="zh-CN" sz="2800" dirty="0"/>
              <a:t>G,</a:t>
            </a:r>
            <a:r>
              <a:rPr lang="en-US" altLang="en-US" sz="2800" dirty="0"/>
              <a:t>＊</a:t>
            </a:r>
            <a:r>
              <a:rPr lang="en-US" altLang="zh-CN" sz="2800" dirty="0">
                <a:latin typeface="宋体" panose="02010600030101010101" pitchFamily="2" charset="-122"/>
              </a:rPr>
              <a:t>&gt;</a:t>
            </a:r>
            <a:r>
              <a:rPr lang="zh-CN" altLang="zh-CN" sz="2800" dirty="0"/>
              <a:t>子群，则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dirty="0"/>
              <a:t>  (</a:t>
            </a:r>
            <a:r>
              <a:rPr lang="en-US" altLang="zh-CN" sz="2800" dirty="0">
                <a:solidFill>
                  <a:schemeClr val="accent1"/>
                </a:solidFill>
              </a:rPr>
              <a:t>1</a:t>
            </a:r>
            <a:r>
              <a:rPr lang="en-US" altLang="zh-CN" sz="2800" dirty="0"/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子群</a:t>
            </a:r>
            <a:r>
              <a:rPr lang="en-US" altLang="zh-CN" sz="2800" dirty="0">
                <a:latin typeface="宋体" panose="02010600030101010101" pitchFamily="2" charset="-122"/>
              </a:rPr>
              <a:t>&lt;</a:t>
            </a:r>
            <a:r>
              <a:rPr lang="en-US" altLang="zh-CN" sz="2800" dirty="0"/>
              <a:t>S,</a:t>
            </a:r>
            <a:r>
              <a:rPr lang="en-US" altLang="en-US" sz="2800" dirty="0"/>
              <a:t>＊</a:t>
            </a:r>
            <a:r>
              <a:rPr lang="en-US" altLang="zh-CN" sz="2800" dirty="0">
                <a:latin typeface="宋体" panose="02010600030101010101" pitchFamily="2" charset="-122"/>
              </a:rPr>
              <a:t>&gt;</a:t>
            </a:r>
            <a:r>
              <a:rPr lang="zh-CN" altLang="zh-CN" sz="2800" dirty="0"/>
              <a:t>的幺元</a:t>
            </a:r>
            <a:r>
              <a:rPr lang="zh-CN" altLang="en-US" sz="2800" dirty="0">
                <a:solidFill>
                  <a:schemeClr val="accent1"/>
                </a:solidFill>
              </a:rPr>
              <a:t>就是</a:t>
            </a:r>
            <a:r>
              <a:rPr lang="en-US" altLang="zh-CN" sz="2800" dirty="0">
                <a:latin typeface="宋体" panose="02010600030101010101" pitchFamily="2" charset="-122"/>
              </a:rPr>
              <a:t>&lt;</a:t>
            </a:r>
            <a:r>
              <a:rPr lang="en-US" altLang="zh-CN" sz="2800" dirty="0"/>
              <a:t>G,</a:t>
            </a:r>
            <a:r>
              <a:rPr lang="en-US" altLang="en-US" sz="2800" dirty="0"/>
              <a:t>＊</a:t>
            </a:r>
            <a:r>
              <a:rPr lang="en-US" altLang="zh-CN" sz="2800" dirty="0">
                <a:latin typeface="宋体" panose="02010600030101010101" pitchFamily="2" charset="-122"/>
              </a:rPr>
              <a:t>&gt;</a:t>
            </a:r>
            <a:r>
              <a:rPr lang="zh-CN" altLang="zh-CN" sz="2800" dirty="0"/>
              <a:t>的幺元；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dirty="0"/>
              <a:t>  (2)</a:t>
            </a:r>
            <a:r>
              <a:rPr lang="zh-CN" altLang="zh-CN" sz="2800" dirty="0"/>
              <a:t>对</a:t>
            </a:r>
            <a:r>
              <a:rPr lang="zh-CN" altLang="en-US" sz="2800" dirty="0">
                <a:solidFill>
                  <a:srgbClr val="FF00FF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a</a:t>
            </a:r>
            <a:r>
              <a:rPr lang="zh-CN" altLang="zh-CN" sz="2800" dirty="0"/>
              <a:t>∈</a:t>
            </a:r>
            <a:r>
              <a:rPr lang="en-US" altLang="zh-CN" sz="2800" dirty="0"/>
              <a:t>S</a:t>
            </a:r>
            <a:r>
              <a:rPr lang="zh-CN" altLang="zh-CN" sz="2800" dirty="0"/>
              <a:t>，</a:t>
            </a:r>
            <a:r>
              <a:rPr lang="en-US" altLang="zh-CN" sz="2800" dirty="0"/>
              <a:t>a</a:t>
            </a:r>
            <a:r>
              <a:rPr lang="zh-CN" altLang="zh-CN" sz="2800" dirty="0"/>
              <a:t>在</a:t>
            </a:r>
            <a:r>
              <a:rPr lang="en-US" altLang="zh-CN" sz="2800" dirty="0"/>
              <a:t>S</a:t>
            </a:r>
            <a:r>
              <a:rPr lang="zh-CN" altLang="zh-CN" sz="2800" dirty="0"/>
              <a:t>中的逆元</a:t>
            </a:r>
            <a:r>
              <a:rPr lang="zh-CN" altLang="en-US" sz="2800" dirty="0">
                <a:solidFill>
                  <a:schemeClr val="accent1"/>
                </a:solidFill>
              </a:rPr>
              <a:t>就</a:t>
            </a:r>
            <a:r>
              <a:rPr lang="zh-CN" altLang="zh-CN" sz="2800" dirty="0">
                <a:solidFill>
                  <a:schemeClr val="accent1"/>
                </a:solidFill>
              </a:rPr>
              <a:t>是</a:t>
            </a:r>
            <a:r>
              <a:rPr lang="en-US" altLang="zh-CN" sz="2800" dirty="0"/>
              <a:t>a</a:t>
            </a:r>
            <a:r>
              <a:rPr lang="zh-CN" altLang="zh-CN" sz="2800" dirty="0"/>
              <a:t>在</a:t>
            </a:r>
            <a:r>
              <a:rPr lang="en-US" altLang="zh-CN" sz="2800" dirty="0"/>
              <a:t>G</a:t>
            </a:r>
            <a:r>
              <a:rPr lang="zh-CN" altLang="zh-CN" sz="2800" dirty="0"/>
              <a:t>中的逆元。</a:t>
            </a:r>
          </a:p>
        </p:txBody>
      </p:sp>
      <p:graphicFrame>
        <p:nvGraphicFramePr>
          <p:cNvPr id="7174" name="对象 8">
            <a:extLst>
              <a:ext uri="{FF2B5EF4-FFF2-40B4-BE49-F238E27FC236}">
                <a16:creationId xmlns:a16="http://schemas.microsoft.com/office/drawing/2014/main" id="{9F75BE73-7AFD-5AE5-BFD3-E841F6D63D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4459288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459288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4">
            <a:extLst>
              <a:ext uri="{FF2B5EF4-FFF2-40B4-BE49-F238E27FC236}">
                <a16:creationId xmlns:a16="http://schemas.microsoft.com/office/drawing/2014/main" id="{8F324CD1-919A-30C2-3B26-C9DC8E5A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5.4.3 </a:t>
            </a:r>
            <a:r>
              <a:rPr lang="zh-CN" altLang="zh-CN" sz="5400"/>
              <a:t>子群的判定</a:t>
            </a:r>
            <a:endParaRPr lang="zh-CN" altLang="en-US" sz="540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6CAB4E-0025-FDB7-32CE-58991BBA1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5.4.2 </a:t>
            </a:r>
            <a:r>
              <a:rPr lang="zh-CN" altLang="en-US" dirty="0"/>
              <a:t>设群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/>
              <a:t>S   G</a:t>
            </a:r>
            <a:r>
              <a:rPr lang="zh-CN" altLang="en-US" dirty="0"/>
              <a:t>且</a:t>
            </a:r>
            <a:r>
              <a:rPr lang="en-US" altLang="zh-CN" dirty="0"/>
              <a:t>S≠   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则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S,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是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的子群</a:t>
            </a:r>
            <a:r>
              <a:rPr lang="en-US" altLang="zh-CN" dirty="0"/>
              <a:t>     </a:t>
            </a:r>
            <a:r>
              <a:rPr lang="zh-CN" altLang="zh-CN" dirty="0">
                <a:solidFill>
                  <a:schemeClr val="accent1"/>
                </a:solidFill>
              </a:rPr>
              <a:t>当且仅当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(1)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dirty="0" err="1"/>
              <a:t>a,b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  <a:r>
              <a:rPr lang="zh-CN" altLang="zh-CN" dirty="0"/>
              <a:t>，有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zh-CN" altLang="zh-CN" dirty="0"/>
              <a:t>∈</a:t>
            </a:r>
            <a:r>
              <a:rPr lang="en-US" altLang="zh-CN" dirty="0"/>
              <a:t>S </a:t>
            </a:r>
            <a:r>
              <a:rPr lang="zh-CN" altLang="zh-CN" dirty="0"/>
              <a:t>；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(2)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dirty="0"/>
              <a:t>a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  <a:r>
              <a:rPr lang="zh-CN" altLang="zh-CN" dirty="0"/>
              <a:t>，有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zh-CN" altLang="zh-CN" dirty="0"/>
              <a:t>∈</a:t>
            </a:r>
            <a:r>
              <a:rPr lang="en-US" altLang="zh-CN" dirty="0"/>
              <a:t>S </a:t>
            </a:r>
            <a:r>
              <a:rPr lang="zh-CN" altLang="zh-CN" dirty="0"/>
              <a:t>。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zh-CN" b="1" dirty="0">
                <a:solidFill>
                  <a:srgbClr val="FF0000"/>
                </a:solidFill>
              </a:rPr>
              <a:t>证明</a:t>
            </a:r>
            <a:r>
              <a:rPr lang="en-US" altLang="zh-CN" dirty="0"/>
              <a:t>  </a:t>
            </a:r>
            <a:r>
              <a:rPr lang="zh-CN" altLang="zh-CN" dirty="0"/>
              <a:t>因</a:t>
            </a:r>
            <a:r>
              <a:rPr lang="en-US" altLang="zh-CN" dirty="0"/>
              <a:t>S≠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FF"/>
                </a:solidFill>
                <a:sym typeface="Symbol" pitchFamily="18" charset="2"/>
              </a:rPr>
              <a:t>        </a:t>
            </a:r>
            <a:r>
              <a:rPr lang="en-US" altLang="zh-CN" dirty="0"/>
              <a:t>a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  <a:r>
              <a:rPr lang="zh-CN" altLang="zh-CN" dirty="0"/>
              <a:t>，</a:t>
            </a:r>
            <a:r>
              <a:rPr lang="zh-CN" altLang="en-US" dirty="0"/>
              <a:t>有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e</a:t>
            </a:r>
            <a:r>
              <a:rPr lang="zh-CN" altLang="zh-CN" dirty="0"/>
              <a:t>＝</a:t>
            </a:r>
            <a:r>
              <a:rPr lang="en-US" altLang="zh-CN" dirty="0"/>
              <a:t>a</a:t>
            </a:r>
            <a:r>
              <a:rPr lang="en-US" altLang="en-US" dirty="0"/>
              <a:t>＊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  <a:endParaRPr lang="zh-CN" altLang="en-US" dirty="0"/>
          </a:p>
        </p:txBody>
      </p:sp>
      <p:graphicFrame>
        <p:nvGraphicFramePr>
          <p:cNvPr id="8196" name="对象 6">
            <a:extLst>
              <a:ext uri="{FF2B5EF4-FFF2-40B4-BE49-F238E27FC236}">
                <a16:creationId xmlns:a16="http://schemas.microsoft.com/office/drawing/2014/main" id="{4EC80822-C9F4-0CFA-DB0A-90F5EE6F95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3713" y="4873625"/>
          <a:ext cx="4175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713" y="4873625"/>
                        <a:ext cx="4175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对象 7">
            <a:extLst>
              <a:ext uri="{FF2B5EF4-FFF2-40B4-BE49-F238E27FC236}">
                <a16:creationId xmlns:a16="http://schemas.microsoft.com/office/drawing/2014/main" id="{212A0F10-E634-C6AB-F56E-13F6596C17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7238" y="2060575"/>
          <a:ext cx="4175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7238" y="2060575"/>
                        <a:ext cx="4175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对象 8">
            <a:extLst>
              <a:ext uri="{FF2B5EF4-FFF2-40B4-BE49-F238E27FC236}">
                <a16:creationId xmlns:a16="http://schemas.microsoft.com/office/drawing/2014/main" id="{84BF509E-8A9F-CB21-28AE-353E9E4B82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4663" y="2073275"/>
          <a:ext cx="3857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663" y="2073275"/>
                        <a:ext cx="3857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BB03C72B-C864-4DD3-39A0-D9583838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5.4.3 </a:t>
            </a:r>
            <a:r>
              <a:rPr lang="zh-CN" altLang="zh-CN" sz="5400"/>
              <a:t>子群的判定</a:t>
            </a:r>
            <a:endParaRPr lang="zh-CN" altLang="en-US" sz="5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BAC948-F2C6-4737-A394-61D1FC987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>
              <a:lnSpc>
                <a:spcPct val="114000"/>
              </a:lnSpc>
              <a:defRPr/>
            </a:pPr>
            <a:r>
              <a:rPr lang="zh-CN" altLang="zh-CN" sz="2800" b="1" dirty="0">
                <a:solidFill>
                  <a:srgbClr val="FF0000"/>
                </a:solidFill>
              </a:rPr>
              <a:t>定理</a:t>
            </a:r>
            <a:r>
              <a:rPr lang="en-US" altLang="zh-CN" sz="2800" dirty="0">
                <a:solidFill>
                  <a:srgbClr val="FF0000"/>
                </a:solidFill>
              </a:rPr>
              <a:t>5.4.3</a:t>
            </a:r>
            <a:r>
              <a:rPr lang="zh-CN" altLang="en-US" sz="2800" dirty="0"/>
              <a:t>群</a:t>
            </a:r>
            <a:r>
              <a:rPr lang="en-US" altLang="zh-CN" sz="2800" dirty="0">
                <a:latin typeface="宋体" pitchFamily="2" charset="-122"/>
              </a:rPr>
              <a:t>&lt;</a:t>
            </a:r>
            <a:r>
              <a:rPr lang="en-US" altLang="zh-CN" sz="2800" dirty="0"/>
              <a:t>G,</a:t>
            </a:r>
            <a:r>
              <a:rPr lang="en-US" altLang="en-US" sz="2800" dirty="0"/>
              <a:t>＊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S   G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S</a:t>
            </a:r>
            <a:r>
              <a:rPr lang="zh-CN" altLang="zh-CN" sz="2800" dirty="0"/>
              <a:t>≠</a:t>
            </a:r>
            <a:r>
              <a:rPr lang="zh-CN" altLang="en-US" sz="2800" dirty="0"/>
              <a:t>   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S</a:t>
            </a:r>
            <a:r>
              <a:rPr lang="zh-CN" altLang="zh-CN" sz="2800" dirty="0">
                <a:solidFill>
                  <a:srgbClr val="FF0000"/>
                </a:solidFill>
              </a:rPr>
              <a:t>有限</a:t>
            </a:r>
            <a:r>
              <a:rPr lang="zh-CN" altLang="en-US" sz="2800" dirty="0">
                <a:solidFill>
                  <a:srgbClr val="FF0000"/>
                </a:solidFill>
              </a:rPr>
              <a:t>集</a:t>
            </a:r>
            <a:r>
              <a:rPr lang="en-US" altLang="zh-CN" sz="2800" dirty="0">
                <a:latin typeface="+mn-ea"/>
              </a:rPr>
              <a:t>,</a:t>
            </a:r>
            <a:r>
              <a:rPr lang="zh-CN" altLang="zh-CN" sz="2800" dirty="0">
                <a:solidFill>
                  <a:schemeClr val="accent1"/>
                </a:solidFill>
              </a:rPr>
              <a:t>则</a:t>
            </a:r>
            <a:r>
              <a:rPr lang="en-US" altLang="zh-CN" sz="2800" dirty="0">
                <a:latin typeface="宋体" pitchFamily="2" charset="-122"/>
              </a:rPr>
              <a:t>&lt;</a:t>
            </a:r>
            <a:r>
              <a:rPr lang="en-US" altLang="zh-CN" sz="2800" dirty="0"/>
              <a:t>S,</a:t>
            </a:r>
            <a:r>
              <a:rPr lang="en-US" altLang="en-US" sz="2800" dirty="0"/>
              <a:t>＊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zh-CN" altLang="zh-CN" sz="2800" dirty="0"/>
              <a:t>是</a:t>
            </a:r>
            <a:r>
              <a:rPr lang="en-US" altLang="zh-CN" sz="2800" dirty="0">
                <a:latin typeface="宋体" pitchFamily="2" charset="-122"/>
              </a:rPr>
              <a:t>&lt;</a:t>
            </a:r>
            <a:r>
              <a:rPr lang="en-US" altLang="zh-CN" sz="2800" dirty="0"/>
              <a:t>G,</a:t>
            </a:r>
            <a:r>
              <a:rPr lang="en-US" altLang="en-US" sz="2800" dirty="0"/>
              <a:t>＊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zh-CN" altLang="zh-CN" sz="2800" dirty="0"/>
              <a:t>的子群</a:t>
            </a:r>
            <a:r>
              <a:rPr lang="zh-CN" altLang="zh-CN" sz="2800" dirty="0">
                <a:solidFill>
                  <a:srgbClr val="FF00FF"/>
                </a:solidFill>
              </a:rPr>
              <a:t>当且仅当</a:t>
            </a:r>
            <a:r>
              <a:rPr lang="zh-CN" altLang="en-US" sz="2800" dirty="0"/>
              <a:t>对</a:t>
            </a:r>
            <a:r>
              <a:rPr lang="zh-CN" altLang="en-US" sz="2800" dirty="0">
                <a:sym typeface="Symbol" pitchFamily="18" charset="2"/>
              </a:rPr>
              <a:t></a:t>
            </a:r>
            <a:r>
              <a:rPr lang="en-US" altLang="zh-CN" sz="2800" dirty="0" err="1"/>
              <a:t>a,b</a:t>
            </a:r>
            <a:r>
              <a:rPr lang="zh-CN" altLang="zh-CN" sz="2800" dirty="0"/>
              <a:t>∈</a:t>
            </a:r>
            <a:r>
              <a:rPr lang="en-US" altLang="zh-CN" sz="2800" dirty="0"/>
              <a:t>S</a:t>
            </a:r>
            <a:r>
              <a:rPr lang="zh-CN" altLang="zh-CN" sz="2800" dirty="0"/>
              <a:t>，有</a:t>
            </a:r>
            <a:r>
              <a:rPr lang="en-US" altLang="zh-CN" sz="2800" dirty="0" err="1"/>
              <a:t>a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b</a:t>
            </a:r>
            <a:r>
              <a:rPr lang="zh-CN" altLang="zh-CN" sz="2800" dirty="0"/>
              <a:t>∈</a:t>
            </a:r>
            <a:r>
              <a:rPr lang="en-US" altLang="zh-CN" sz="2800" dirty="0"/>
              <a:t>S </a:t>
            </a:r>
            <a:endParaRPr lang="zh-CN" altLang="zh-CN" sz="2800" dirty="0"/>
          </a:p>
          <a:p>
            <a:pPr>
              <a:lnSpc>
                <a:spcPct val="114000"/>
              </a:lnSpc>
              <a:defRPr/>
            </a:pPr>
            <a:r>
              <a:rPr lang="zh-CN" altLang="zh-CN" sz="2800" b="1" dirty="0">
                <a:solidFill>
                  <a:srgbClr val="FF0000"/>
                </a:solidFill>
              </a:rPr>
              <a:t>证明</a:t>
            </a:r>
            <a:r>
              <a:rPr lang="en-US" altLang="zh-CN" sz="2800" dirty="0"/>
              <a:t>  </a:t>
            </a:r>
            <a:r>
              <a:rPr lang="zh-CN" altLang="zh-CN" sz="2800" dirty="0"/>
              <a:t>任取</a:t>
            </a:r>
            <a:r>
              <a:rPr lang="en-US" altLang="zh-CN" sz="2800" dirty="0"/>
              <a:t>b</a:t>
            </a:r>
            <a:r>
              <a:rPr lang="zh-CN" altLang="zh-CN" sz="2800" dirty="0"/>
              <a:t>∈</a:t>
            </a:r>
            <a:r>
              <a:rPr lang="en-US" altLang="zh-CN" sz="2800" dirty="0"/>
              <a:t>S(e</a:t>
            </a:r>
            <a:r>
              <a:rPr lang="zh-CN" altLang="en-US" sz="2800" dirty="0"/>
              <a:t>为</a:t>
            </a:r>
            <a:r>
              <a:rPr lang="en-US" altLang="zh-CN" sz="2800" dirty="0"/>
              <a:t>G</a:t>
            </a:r>
            <a:r>
              <a:rPr lang="zh-CN" altLang="en-US" sz="2800" dirty="0"/>
              <a:t>的幺元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(1)</a:t>
            </a:r>
            <a:r>
              <a:rPr lang="zh-CN" altLang="zh-CN" sz="2800" dirty="0"/>
              <a:t>若</a:t>
            </a:r>
            <a:r>
              <a:rPr lang="en-US" altLang="zh-CN" sz="2800" dirty="0"/>
              <a:t>b</a:t>
            </a:r>
            <a:r>
              <a:rPr lang="zh-CN" altLang="zh-CN" sz="2800" dirty="0"/>
              <a:t>＝</a:t>
            </a:r>
            <a:r>
              <a:rPr lang="en-US" altLang="zh-CN" sz="2800" dirty="0"/>
              <a:t>e</a:t>
            </a:r>
            <a:r>
              <a:rPr lang="zh-CN" altLang="zh-CN" sz="2800" dirty="0"/>
              <a:t>，则</a:t>
            </a:r>
            <a:r>
              <a:rPr lang="en-US" altLang="zh-CN" sz="2800" dirty="0"/>
              <a:t>b</a:t>
            </a:r>
            <a:r>
              <a:rPr lang="en-US" altLang="zh-CN" sz="2800" baseline="30000" dirty="0"/>
              <a:t>-1</a:t>
            </a:r>
            <a:r>
              <a:rPr lang="zh-CN" altLang="zh-CN" sz="2800" dirty="0"/>
              <a:t>＝</a:t>
            </a:r>
            <a:r>
              <a:rPr lang="en-US" altLang="zh-CN" sz="2800" dirty="0"/>
              <a:t>e</a:t>
            </a:r>
            <a:r>
              <a:rPr lang="en-US" altLang="zh-CN" sz="2800" baseline="30000" dirty="0"/>
              <a:t>-1</a:t>
            </a:r>
            <a:r>
              <a:rPr lang="zh-CN" altLang="zh-CN" sz="2800" dirty="0"/>
              <a:t>＝</a:t>
            </a:r>
            <a:r>
              <a:rPr lang="en-US" altLang="zh-CN" sz="2800" dirty="0"/>
              <a:t>e</a:t>
            </a:r>
            <a:r>
              <a:rPr lang="zh-CN" altLang="zh-CN" sz="2800" dirty="0"/>
              <a:t>∈</a:t>
            </a:r>
            <a:r>
              <a:rPr lang="en-US" altLang="zh-CN" sz="2800" dirty="0"/>
              <a:t>S </a:t>
            </a:r>
            <a:endParaRPr lang="zh-CN" altLang="zh-CN" sz="2800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(2)</a:t>
            </a:r>
            <a:r>
              <a:rPr lang="zh-CN" altLang="zh-CN" sz="2800" dirty="0"/>
              <a:t>若</a:t>
            </a:r>
            <a:r>
              <a:rPr lang="en-US" altLang="zh-CN" sz="2800" dirty="0"/>
              <a:t>b</a:t>
            </a:r>
            <a:r>
              <a:rPr lang="zh-CN" altLang="zh-CN" sz="2800" dirty="0"/>
              <a:t>≠</a:t>
            </a:r>
            <a:r>
              <a:rPr lang="en-US" altLang="zh-CN" sz="2800" dirty="0"/>
              <a:t>e</a:t>
            </a:r>
            <a:r>
              <a:rPr lang="zh-CN" altLang="zh-CN" sz="2800" dirty="0"/>
              <a:t>，由于</a:t>
            </a:r>
            <a:r>
              <a:rPr lang="en-US" altLang="zh-CN" sz="2800" dirty="0"/>
              <a:t>*</a:t>
            </a:r>
            <a:r>
              <a:rPr lang="zh-CN" altLang="zh-CN" sz="2800" dirty="0"/>
              <a:t>在</a:t>
            </a:r>
            <a:r>
              <a:rPr lang="en-US" altLang="zh-CN" sz="2800" dirty="0"/>
              <a:t>S</a:t>
            </a:r>
            <a:r>
              <a:rPr lang="zh-CN" altLang="zh-CN" sz="2800" dirty="0"/>
              <a:t>上封闭，则</a:t>
            </a:r>
            <a:r>
              <a:rPr lang="en-US" altLang="zh-CN" sz="2800" dirty="0"/>
              <a:t>b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b</a:t>
            </a:r>
            <a:r>
              <a:rPr lang="en-US" altLang="zh-CN" sz="2800" baseline="30000" dirty="0"/>
              <a:t>2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b</a:t>
            </a:r>
            <a:r>
              <a:rPr lang="en-US" altLang="zh-CN" sz="2800" baseline="30000" dirty="0"/>
              <a:t>3</a:t>
            </a:r>
            <a:r>
              <a:rPr lang="en-US" altLang="zh-CN" sz="2800" dirty="0">
                <a:latin typeface="+mn-ea"/>
              </a:rPr>
              <a:t>,</a:t>
            </a:r>
            <a:r>
              <a:rPr lang="zh-CN" altLang="zh-CN" sz="2800" dirty="0"/>
              <a:t>… ∈</a:t>
            </a:r>
            <a:r>
              <a:rPr lang="en-US" altLang="zh-CN" sz="2800" dirty="0"/>
              <a:t>S </a:t>
            </a:r>
            <a:endParaRPr lang="zh-CN" altLang="zh-CN" sz="2800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</a:t>
            </a:r>
            <a:r>
              <a:rPr lang="zh-CN" altLang="zh-CN" sz="2800" dirty="0"/>
              <a:t>存在正整数</a:t>
            </a:r>
            <a:r>
              <a:rPr lang="en-US" altLang="zh-CN" sz="2800" dirty="0" err="1"/>
              <a:t>i</a:t>
            </a:r>
            <a:r>
              <a:rPr lang="zh-CN" altLang="zh-CN" sz="2800" dirty="0"/>
              <a:t>和</a:t>
            </a:r>
            <a:r>
              <a:rPr lang="en-US" altLang="zh-CN" sz="2800" dirty="0"/>
              <a:t>j(</a:t>
            </a:r>
            <a:r>
              <a:rPr lang="en-US" altLang="zh-CN" sz="2800" dirty="0" err="1"/>
              <a:t>i</a:t>
            </a:r>
            <a:r>
              <a:rPr lang="zh-CN" altLang="zh-CN" sz="2800" dirty="0"/>
              <a:t>＜</a:t>
            </a:r>
            <a:r>
              <a:rPr lang="en-US" altLang="zh-CN" sz="2800" dirty="0"/>
              <a:t>j)</a:t>
            </a:r>
            <a:r>
              <a:rPr lang="zh-CN" altLang="zh-CN" sz="2800" dirty="0"/>
              <a:t>，使得</a:t>
            </a:r>
            <a:r>
              <a:rPr lang="en-US" altLang="zh-CN" sz="2800" dirty="0"/>
              <a:t>b</a:t>
            </a:r>
            <a:r>
              <a:rPr lang="en-US" altLang="zh-CN" sz="2800" baseline="30000" dirty="0"/>
              <a:t>i</a:t>
            </a:r>
            <a:r>
              <a:rPr lang="en-US" altLang="zh-CN" sz="2800" dirty="0"/>
              <a:t>=</a:t>
            </a:r>
            <a:r>
              <a:rPr lang="en-US" altLang="zh-CN" sz="2800" dirty="0" err="1"/>
              <a:t>b</a:t>
            </a:r>
            <a:r>
              <a:rPr lang="en-US" altLang="zh-CN" sz="2800" baseline="30000" dirty="0" err="1"/>
              <a:t>j</a:t>
            </a:r>
            <a:endParaRPr lang="zh-CN" altLang="zh-CN" sz="2800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b</a:t>
            </a:r>
            <a:r>
              <a:rPr lang="en-US" altLang="zh-CN" sz="2800" baseline="30000" dirty="0"/>
              <a:t>i</a:t>
            </a:r>
            <a:r>
              <a:rPr lang="zh-CN" altLang="zh-CN" sz="2800" dirty="0"/>
              <a:t>＝</a:t>
            </a:r>
            <a:r>
              <a:rPr lang="en-US" altLang="zh-CN" sz="2800" dirty="0" err="1"/>
              <a:t>b</a:t>
            </a:r>
            <a:r>
              <a:rPr lang="en-US" altLang="zh-CN" sz="2800" baseline="30000" dirty="0" err="1"/>
              <a:t>j</a:t>
            </a:r>
            <a:r>
              <a:rPr lang="zh-CN" altLang="zh-CN" sz="2800" dirty="0"/>
              <a:t>＝</a:t>
            </a:r>
            <a:r>
              <a:rPr lang="en-US" altLang="zh-CN" sz="2800" dirty="0" err="1"/>
              <a:t>b</a:t>
            </a:r>
            <a:r>
              <a:rPr lang="en-US" altLang="zh-CN" sz="2800" baseline="30000" dirty="0" err="1"/>
              <a:t>i+j</a:t>
            </a:r>
            <a:r>
              <a:rPr lang="en-US" altLang="zh-CN" sz="2800" baseline="30000" dirty="0"/>
              <a:t>–i</a:t>
            </a:r>
            <a:r>
              <a:rPr lang="zh-CN" altLang="zh-CN" sz="2800" dirty="0"/>
              <a:t>＝</a:t>
            </a:r>
            <a:r>
              <a:rPr lang="en-US" altLang="zh-CN" sz="2800" dirty="0" err="1"/>
              <a:t>b</a:t>
            </a:r>
            <a:r>
              <a:rPr lang="en-US" altLang="zh-CN" sz="2800" baseline="30000" dirty="0" err="1"/>
              <a:t>i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b</a:t>
            </a:r>
            <a:r>
              <a:rPr lang="en-US" altLang="zh-CN" sz="2800" baseline="30000" dirty="0" err="1"/>
              <a:t>j</a:t>
            </a:r>
            <a:r>
              <a:rPr lang="en-US" altLang="zh-CN" sz="2800" baseline="30000" dirty="0"/>
              <a:t>–i</a:t>
            </a:r>
            <a:endParaRPr lang="zh-CN" altLang="zh-CN" sz="2800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e</a:t>
            </a:r>
            <a:r>
              <a:rPr lang="zh-CN" altLang="zh-CN" sz="2800" dirty="0"/>
              <a:t>＝</a:t>
            </a:r>
            <a:r>
              <a:rPr lang="en-US" altLang="zh-CN" sz="2800" dirty="0" err="1"/>
              <a:t>b</a:t>
            </a:r>
            <a:r>
              <a:rPr lang="en-US" altLang="zh-CN" sz="2800" baseline="30000" dirty="0" err="1"/>
              <a:t>j</a:t>
            </a:r>
            <a:r>
              <a:rPr lang="en-US" altLang="zh-CN" sz="2800" baseline="30000" dirty="0"/>
              <a:t>-i</a:t>
            </a:r>
            <a:r>
              <a:rPr lang="en-US" altLang="zh-CN" sz="2800" dirty="0"/>
              <a:t> </a:t>
            </a:r>
            <a:endParaRPr lang="zh-CN" altLang="zh-CN" sz="2800" dirty="0"/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</a:t>
            </a:r>
            <a:r>
              <a:rPr lang="zh-CN" altLang="zh-CN" sz="2800" dirty="0"/>
              <a:t>由</a:t>
            </a:r>
            <a:r>
              <a:rPr lang="en-US" altLang="zh-CN" sz="2800" dirty="0"/>
              <a:t>b</a:t>
            </a:r>
            <a:r>
              <a:rPr lang="zh-CN" altLang="zh-CN" sz="2800" dirty="0"/>
              <a:t>≠</a:t>
            </a:r>
            <a:r>
              <a:rPr lang="en-US" altLang="zh-CN" sz="2800" dirty="0"/>
              <a:t>e</a:t>
            </a:r>
            <a:r>
              <a:rPr lang="zh-CN" altLang="zh-CN" sz="2800" dirty="0"/>
              <a:t>且</a:t>
            </a:r>
            <a:r>
              <a:rPr lang="en-US" altLang="zh-CN" sz="2800" dirty="0"/>
              <a:t>j–i</a:t>
            </a:r>
            <a:r>
              <a:rPr lang="zh-CN" altLang="zh-CN" sz="2800" dirty="0"/>
              <a:t>＞</a:t>
            </a:r>
            <a:r>
              <a:rPr lang="en-US" altLang="zh-CN" sz="2800" dirty="0"/>
              <a:t>1</a:t>
            </a:r>
            <a:r>
              <a:rPr lang="zh-CN" altLang="zh-CN" sz="2800" dirty="0"/>
              <a:t>得</a:t>
            </a:r>
            <a:r>
              <a:rPr lang="en-US" altLang="zh-CN" sz="2800" dirty="0"/>
              <a:t>b</a:t>
            </a:r>
            <a:r>
              <a:rPr lang="en-US" altLang="zh-CN" sz="2800" baseline="30000" dirty="0"/>
              <a:t>-1 </a:t>
            </a:r>
            <a:r>
              <a:rPr lang="zh-CN" altLang="zh-CN" sz="2800" dirty="0"/>
              <a:t>＝</a:t>
            </a:r>
            <a:r>
              <a:rPr lang="en-US" altLang="zh-CN" sz="2800" dirty="0" err="1"/>
              <a:t>b</a:t>
            </a:r>
            <a:r>
              <a:rPr lang="en-US" altLang="zh-CN" sz="2800" baseline="30000" dirty="0" err="1"/>
              <a:t>j</a:t>
            </a:r>
            <a:r>
              <a:rPr lang="en-US" altLang="zh-CN" sz="2800" baseline="30000" dirty="0"/>
              <a:t>–i–1 </a:t>
            </a:r>
            <a:r>
              <a:rPr lang="zh-CN" altLang="zh-CN" sz="2800" dirty="0"/>
              <a:t>∈</a:t>
            </a:r>
            <a:r>
              <a:rPr lang="en-US" altLang="zh-CN" sz="2800" dirty="0"/>
              <a:t>S  </a:t>
            </a:r>
            <a:endParaRPr lang="zh-CN" altLang="en-US" sz="2800" dirty="0"/>
          </a:p>
        </p:txBody>
      </p:sp>
      <p:graphicFrame>
        <p:nvGraphicFramePr>
          <p:cNvPr id="9220" name="对象 3">
            <a:extLst>
              <a:ext uri="{FF2B5EF4-FFF2-40B4-BE49-F238E27FC236}">
                <a16:creationId xmlns:a16="http://schemas.microsoft.com/office/drawing/2014/main" id="{260DE194-0864-5F26-5944-809DA28421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1941513"/>
          <a:ext cx="3857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941513"/>
                        <a:ext cx="3857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对象 4">
            <a:extLst>
              <a:ext uri="{FF2B5EF4-FFF2-40B4-BE49-F238E27FC236}">
                <a16:creationId xmlns:a16="http://schemas.microsoft.com/office/drawing/2014/main" id="{299EBCBA-409D-6BFD-FF20-A88B11720C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1900238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900238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F7AFFC9F-4F2E-3E27-C10B-2A512244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5400"/>
              <a:t>5.4.3 </a:t>
            </a:r>
            <a:r>
              <a:rPr lang="zh-CN" altLang="zh-CN" sz="5400"/>
              <a:t>子群的判定</a:t>
            </a:r>
            <a:endParaRPr lang="zh-CN" altLang="en-US" sz="5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F17AA1-16AE-9AC4-57FD-1B00F8DE1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5.4.4</a:t>
            </a:r>
            <a:r>
              <a:rPr lang="zh-CN" altLang="zh-CN" dirty="0"/>
              <a:t>设</a:t>
            </a:r>
            <a:r>
              <a:rPr lang="zh-CN" altLang="en-US" dirty="0"/>
              <a:t>群</a:t>
            </a:r>
            <a:r>
              <a:rPr lang="en-US" altLang="zh-CN" dirty="0">
                <a:latin typeface="+mn-ea"/>
              </a:rPr>
              <a:t>&lt;</a:t>
            </a:r>
            <a:r>
              <a:rPr lang="en-US" altLang="zh-CN" dirty="0"/>
              <a:t>G,</a:t>
            </a:r>
            <a:r>
              <a:rPr lang="en-US" altLang="en-US" sz="3200" dirty="0"/>
              <a:t>＊</a:t>
            </a:r>
            <a:r>
              <a:rPr lang="en-US" altLang="zh-CN" dirty="0">
                <a:latin typeface="+mn-ea"/>
              </a:rPr>
              <a:t>&gt;</a:t>
            </a:r>
            <a:r>
              <a:rPr lang="zh-CN" altLang="zh-CN" dirty="0"/>
              <a:t>，</a:t>
            </a:r>
            <a:r>
              <a:rPr lang="en-US" altLang="zh-CN" dirty="0"/>
              <a:t>S   G</a:t>
            </a:r>
            <a:r>
              <a:rPr lang="zh-CN" altLang="en-US" dirty="0"/>
              <a:t>且</a:t>
            </a:r>
            <a:r>
              <a:rPr lang="en-US" altLang="zh-CN" dirty="0"/>
              <a:t>S</a:t>
            </a:r>
            <a:r>
              <a:rPr lang="zh-CN" altLang="zh-CN" dirty="0"/>
              <a:t>≠</a:t>
            </a:r>
            <a:r>
              <a:rPr lang="zh-CN" altLang="en-US" dirty="0"/>
              <a:t>   </a:t>
            </a:r>
            <a:r>
              <a:rPr lang="zh-CN" altLang="zh-CN" dirty="0"/>
              <a:t>，</a:t>
            </a:r>
            <a:r>
              <a:rPr lang="zh-CN" altLang="zh-CN" dirty="0">
                <a:solidFill>
                  <a:schemeClr val="accent1"/>
                </a:solidFill>
              </a:rPr>
              <a:t>则</a:t>
            </a:r>
            <a:r>
              <a:rPr lang="en-US" altLang="zh-CN" dirty="0"/>
              <a:t>S</a:t>
            </a:r>
            <a:r>
              <a:rPr lang="zh-CN" altLang="zh-CN" dirty="0"/>
              <a:t>是</a:t>
            </a:r>
            <a:r>
              <a:rPr lang="en-US" altLang="zh-CN" dirty="0"/>
              <a:t>G</a:t>
            </a:r>
            <a:r>
              <a:rPr lang="zh-CN" altLang="zh-CN" dirty="0"/>
              <a:t>的子群</a:t>
            </a:r>
            <a:r>
              <a:rPr lang="zh-CN" altLang="zh-CN" dirty="0">
                <a:solidFill>
                  <a:srgbClr val="00B0F0"/>
                </a:solidFill>
              </a:rPr>
              <a:t>当且仅当</a:t>
            </a:r>
            <a:r>
              <a:rPr lang="zh-CN" altLang="zh-CN" dirty="0"/>
              <a:t>对</a:t>
            </a:r>
            <a:r>
              <a:rPr lang="en-US" altLang="zh-CN" dirty="0" err="1"/>
              <a:t>a,b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  <a:r>
              <a:rPr lang="zh-CN" altLang="zh-CN" dirty="0"/>
              <a:t>，有</a:t>
            </a:r>
            <a:r>
              <a:rPr lang="en-US" altLang="zh-CN" dirty="0"/>
              <a:t>a</a:t>
            </a:r>
            <a:r>
              <a:rPr lang="en-US" altLang="en-US" sz="3200" dirty="0"/>
              <a:t>＊</a:t>
            </a:r>
            <a:r>
              <a:rPr lang="en-US" altLang="zh-CN" dirty="0"/>
              <a:t>b</a:t>
            </a:r>
            <a:r>
              <a:rPr lang="en-US" altLang="zh-CN" baseline="30000" dirty="0"/>
              <a:t>-1 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  <a:r>
              <a:rPr lang="zh-CN" altLang="zh-CN" dirty="0"/>
              <a:t>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   </a:t>
            </a:r>
            <a:r>
              <a:rPr lang="zh-CN" altLang="zh-CN" b="1" dirty="0">
                <a:solidFill>
                  <a:srgbClr val="FF0000"/>
                </a:solidFill>
              </a:rPr>
              <a:t>证明</a:t>
            </a:r>
            <a:r>
              <a:rPr lang="en-US" altLang="zh-CN" dirty="0"/>
              <a:t>(1)</a:t>
            </a:r>
            <a:r>
              <a:rPr lang="zh-CN" altLang="en-US" dirty="0"/>
              <a:t>对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/>
              <a:t>a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  <a:r>
              <a:rPr lang="zh-CN" altLang="en-US" dirty="0"/>
              <a:t>有</a:t>
            </a:r>
            <a:r>
              <a:rPr lang="en-US" altLang="zh-CN" dirty="0"/>
              <a:t>a</a:t>
            </a:r>
            <a:r>
              <a:rPr lang="en-US" altLang="en-US" sz="3200" dirty="0"/>
              <a:t>＊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zh-CN" altLang="zh-CN" dirty="0"/>
              <a:t>＝</a:t>
            </a:r>
            <a:r>
              <a:rPr lang="en-US" altLang="zh-CN" dirty="0"/>
              <a:t>e</a:t>
            </a:r>
            <a:r>
              <a:rPr lang="zh-CN" altLang="zh-CN" dirty="0"/>
              <a:t>∈</a:t>
            </a:r>
            <a:r>
              <a:rPr lang="en-US" altLang="zh-CN" dirty="0"/>
              <a:t>S(e</a:t>
            </a:r>
            <a:r>
              <a:rPr lang="zh-CN" altLang="zh-CN" dirty="0"/>
              <a:t>为</a:t>
            </a:r>
            <a:r>
              <a:rPr lang="en-US" altLang="zh-CN" dirty="0"/>
              <a:t>G</a:t>
            </a:r>
            <a:r>
              <a:rPr lang="zh-CN" altLang="zh-CN" dirty="0"/>
              <a:t>幺元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(2)</a:t>
            </a:r>
            <a:r>
              <a:rPr lang="zh-CN" altLang="zh-CN" dirty="0"/>
              <a:t>对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/>
              <a:t>a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  <a:r>
              <a:rPr lang="zh-CN" altLang="en-US" dirty="0"/>
              <a:t>有</a:t>
            </a:r>
            <a:r>
              <a:rPr lang="en-US" altLang="zh-CN" dirty="0"/>
              <a:t>e</a:t>
            </a:r>
            <a:r>
              <a:rPr lang="en-US" altLang="en-US" sz="3200" dirty="0"/>
              <a:t>＊</a:t>
            </a:r>
            <a:r>
              <a:rPr lang="en-US" altLang="zh-CN" dirty="0"/>
              <a:t>a</a:t>
            </a:r>
            <a:r>
              <a:rPr lang="en-US" altLang="zh-CN" baseline="30000" dirty="0"/>
              <a:t>-1</a:t>
            </a:r>
            <a:r>
              <a:rPr lang="zh-CN" altLang="zh-CN" dirty="0"/>
              <a:t> ＝</a:t>
            </a:r>
            <a:r>
              <a:rPr lang="en-US" altLang="zh-CN" dirty="0"/>
              <a:t> a</a:t>
            </a:r>
            <a:r>
              <a:rPr lang="en-US" altLang="zh-CN" baseline="30000" dirty="0"/>
              <a:t>–1 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(3)</a:t>
            </a:r>
            <a:r>
              <a:rPr lang="zh-CN" altLang="zh-CN" dirty="0"/>
              <a:t>对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 err="1"/>
              <a:t>a,b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  <a:r>
              <a:rPr lang="zh-CN" altLang="en-US" dirty="0"/>
              <a:t>有</a:t>
            </a:r>
            <a:r>
              <a:rPr lang="en-US" altLang="zh-CN" dirty="0"/>
              <a:t>a</a:t>
            </a:r>
            <a:r>
              <a:rPr lang="en-US" altLang="en-US" sz="3200" dirty="0"/>
              <a:t>＊</a:t>
            </a:r>
            <a:r>
              <a:rPr lang="en-US" altLang="zh-CN" dirty="0"/>
              <a:t>(b</a:t>
            </a:r>
            <a:r>
              <a:rPr lang="en-US" altLang="zh-CN" baseline="30000" dirty="0"/>
              <a:t>–1</a:t>
            </a:r>
            <a:r>
              <a:rPr lang="en-US" altLang="zh-CN" dirty="0"/>
              <a:t>)</a:t>
            </a:r>
            <a:r>
              <a:rPr lang="en-US" altLang="zh-CN" baseline="30000" dirty="0"/>
              <a:t>–1</a:t>
            </a:r>
            <a:r>
              <a:rPr lang="zh-CN" altLang="zh-CN" dirty="0"/>
              <a:t>＝</a:t>
            </a:r>
            <a:r>
              <a:rPr lang="en-US" altLang="zh-CN" dirty="0" err="1"/>
              <a:t>a</a:t>
            </a:r>
            <a:r>
              <a:rPr lang="en-US" altLang="en-US" sz="3200" dirty="0" err="1"/>
              <a:t>＊</a:t>
            </a:r>
            <a:r>
              <a:rPr lang="en-US" altLang="zh-CN" dirty="0" err="1"/>
              <a:t>b</a:t>
            </a:r>
            <a:r>
              <a:rPr lang="zh-CN" altLang="zh-CN" dirty="0"/>
              <a:t>∈</a:t>
            </a:r>
            <a:r>
              <a:rPr lang="en-US" altLang="zh-CN" dirty="0"/>
              <a:t>S</a:t>
            </a:r>
            <a:endParaRPr lang="zh-CN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(4)</a:t>
            </a:r>
            <a:r>
              <a:rPr lang="zh-CN" altLang="zh-CN" dirty="0"/>
              <a:t> </a:t>
            </a:r>
            <a:r>
              <a:rPr lang="en-US" altLang="en-US" sz="3200" dirty="0"/>
              <a:t>＊</a:t>
            </a:r>
            <a:r>
              <a:rPr lang="zh-CN" altLang="zh-CN" dirty="0"/>
              <a:t>运算在</a:t>
            </a:r>
            <a:r>
              <a:rPr lang="en-US" altLang="zh-CN" dirty="0"/>
              <a:t>S</a:t>
            </a:r>
            <a:r>
              <a:rPr lang="zh-CN" altLang="zh-CN" dirty="0"/>
              <a:t>上结合</a:t>
            </a:r>
            <a:endParaRPr lang="zh-CN" altLang="en-US" dirty="0"/>
          </a:p>
        </p:txBody>
      </p:sp>
      <p:graphicFrame>
        <p:nvGraphicFramePr>
          <p:cNvPr id="10244" name="对象 3">
            <a:extLst>
              <a:ext uri="{FF2B5EF4-FFF2-40B4-BE49-F238E27FC236}">
                <a16:creationId xmlns:a16="http://schemas.microsoft.com/office/drawing/2014/main" id="{B66112ED-DD18-52E1-AA92-EB6C80FC75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2065338"/>
          <a:ext cx="41751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2065338"/>
                        <a:ext cx="41751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对象 4">
            <a:extLst>
              <a:ext uri="{FF2B5EF4-FFF2-40B4-BE49-F238E27FC236}">
                <a16:creationId xmlns:a16="http://schemas.microsoft.com/office/drawing/2014/main" id="{EF8A35D6-4E67-756C-3DE1-447B0D83E9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2060575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060575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3D1319D7-B9D2-0D04-57DE-E13467150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5400"/>
              <a:t>5.4.3 </a:t>
            </a:r>
            <a:r>
              <a:rPr lang="zh-CN" altLang="zh-CN" sz="5400"/>
              <a:t>子群的判定</a:t>
            </a:r>
            <a:endParaRPr lang="zh-CN" altLang="en-US" sz="5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6A0E3E-C492-FF94-0DF7-CC1C67070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424862" cy="5013325"/>
          </a:xfrm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zh-CN" altLang="zh-CN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5.4.3</a:t>
            </a:r>
            <a:r>
              <a:rPr lang="zh-CN" altLang="en-US" sz="2800" dirty="0"/>
              <a:t>设</a:t>
            </a:r>
            <a:r>
              <a:rPr lang="zh-CN" altLang="zh-CN" sz="2800" dirty="0"/>
              <a:t>群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R</a:t>
            </a:r>
            <a:r>
              <a:rPr lang="zh-CN" altLang="zh-CN" sz="2800" dirty="0"/>
              <a:t>×</a:t>
            </a:r>
            <a:r>
              <a:rPr lang="en-US" altLang="zh-CN" sz="2800" dirty="0"/>
              <a:t>R,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&gt;,</a:t>
            </a:r>
            <a:r>
              <a:rPr lang="zh-CN" altLang="en-US" sz="2800" dirty="0"/>
              <a:t>其中</a:t>
            </a:r>
            <a:r>
              <a:rPr lang="en-US" altLang="zh-CN" sz="2800" dirty="0"/>
              <a:t>R</a:t>
            </a:r>
            <a:r>
              <a:rPr lang="zh-CN" altLang="en-US" sz="2800" dirty="0"/>
              <a:t>为</a:t>
            </a:r>
            <a:r>
              <a:rPr lang="zh-CN" altLang="zh-CN" sz="2800" dirty="0"/>
              <a:t>实数集</a:t>
            </a:r>
            <a:r>
              <a:rPr lang="zh-CN" altLang="en-US" sz="2800" dirty="0"/>
              <a:t>且对任意 </a:t>
            </a:r>
            <a:endParaRPr lang="en-US" altLang="zh-CN" sz="2800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+mn-ea"/>
              </a:rPr>
              <a:t>   &lt;</a:t>
            </a:r>
            <a:r>
              <a:rPr lang="en-US" altLang="zh-CN" sz="2800" dirty="0" err="1"/>
              <a:t>x,y</a:t>
            </a:r>
            <a:r>
              <a:rPr lang="en-US" altLang="zh-CN" sz="2800" dirty="0">
                <a:latin typeface="+mn-ea"/>
              </a:rPr>
              <a:t>&gt;,&lt;</a:t>
            </a:r>
            <a:r>
              <a:rPr lang="en-US" altLang="zh-CN" sz="2800" dirty="0" err="1"/>
              <a:t>z,t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∈</a:t>
            </a:r>
            <a:r>
              <a:rPr lang="en-US" altLang="zh-CN" sz="2800" dirty="0"/>
              <a:t>R</a:t>
            </a:r>
            <a:r>
              <a:rPr lang="zh-CN" altLang="zh-CN" sz="2800" dirty="0"/>
              <a:t>×</a:t>
            </a:r>
            <a:r>
              <a:rPr lang="en-US" altLang="zh-CN" sz="2800" dirty="0"/>
              <a:t>R</a:t>
            </a:r>
            <a:r>
              <a:rPr lang="zh-CN" altLang="en-US" sz="2800" dirty="0"/>
              <a:t>有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x,y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z,t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x</a:t>
            </a:r>
            <a:r>
              <a:rPr lang="zh-CN" altLang="zh-CN" sz="2800" dirty="0"/>
              <a:t>＋</a:t>
            </a:r>
            <a:r>
              <a:rPr lang="en-US" altLang="zh-CN" sz="2800" dirty="0" err="1"/>
              <a:t>z,y</a:t>
            </a:r>
            <a:r>
              <a:rPr lang="zh-CN" altLang="zh-CN" sz="2800" dirty="0"/>
              <a:t>＋</a:t>
            </a:r>
            <a:r>
              <a:rPr lang="en-US" altLang="zh-CN" sz="2800" dirty="0"/>
              <a:t>t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en-US" sz="2800" dirty="0">
                <a:latin typeface="+mn-ea"/>
              </a:rPr>
              <a:t>。</a:t>
            </a:r>
            <a:r>
              <a:rPr lang="en-US" altLang="zh-CN" sz="2800" dirty="0"/>
              <a:t> 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又</a:t>
            </a:r>
            <a:r>
              <a:rPr lang="en-US" altLang="zh-CN" sz="2800" dirty="0"/>
              <a:t>H</a:t>
            </a:r>
            <a:r>
              <a:rPr lang="zh-CN" altLang="zh-CN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x,y</a:t>
            </a:r>
            <a:r>
              <a:rPr lang="en-US" altLang="zh-CN" sz="2800" dirty="0">
                <a:latin typeface="+mn-ea"/>
              </a:rPr>
              <a:t>&gt;</a:t>
            </a:r>
            <a:r>
              <a:rPr lang="en-US" altLang="zh-CN" sz="2800" dirty="0"/>
              <a:t>| </a:t>
            </a:r>
            <a:r>
              <a:rPr lang="en-US" altLang="zh-CN" sz="2800" dirty="0" err="1"/>
              <a:t>x,y</a:t>
            </a:r>
            <a:r>
              <a:rPr lang="zh-CN" altLang="zh-CN" sz="2800" dirty="0"/>
              <a:t>∈</a:t>
            </a:r>
            <a:r>
              <a:rPr lang="en-US" altLang="zh-CN" sz="2800" dirty="0" err="1"/>
              <a:t>R</a:t>
            </a:r>
            <a:r>
              <a:rPr lang="en-US" altLang="zh-CN" sz="2800" dirty="0" err="1">
                <a:latin typeface="+mn-ea"/>
              </a:rPr>
              <a:t>,</a:t>
            </a:r>
            <a:r>
              <a:rPr lang="en-US" altLang="zh-CN" sz="2800" dirty="0" err="1"/>
              <a:t>y</a:t>
            </a:r>
            <a:r>
              <a:rPr lang="zh-CN" altLang="zh-CN" sz="2800" dirty="0"/>
              <a:t>＝</a:t>
            </a:r>
            <a:r>
              <a:rPr lang="en-US" altLang="zh-CN" sz="2800" dirty="0"/>
              <a:t>2x}</a:t>
            </a:r>
            <a:r>
              <a:rPr lang="zh-CN" altLang="en-US" sz="2800" dirty="0"/>
              <a:t>，</a:t>
            </a:r>
            <a:r>
              <a:rPr lang="zh-CN" altLang="zh-CN" sz="2800" dirty="0"/>
              <a:t>求证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H,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是群</a:t>
            </a:r>
            <a:r>
              <a:rPr lang="en-US" altLang="zh-CN" sz="2800" dirty="0"/>
              <a:t> 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+mn-ea"/>
              </a:rPr>
              <a:t>   &lt;</a:t>
            </a:r>
            <a:r>
              <a:rPr lang="en-US" altLang="zh-CN" sz="2800" dirty="0"/>
              <a:t>R</a:t>
            </a:r>
            <a:r>
              <a:rPr lang="zh-CN" altLang="zh-CN" sz="2800" dirty="0"/>
              <a:t>×</a:t>
            </a:r>
            <a:r>
              <a:rPr lang="en-US" altLang="zh-CN" sz="2800" dirty="0"/>
              <a:t>R,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的子群。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</a:rPr>
              <a:t>    </a:t>
            </a:r>
            <a:r>
              <a:rPr lang="zh-CN" altLang="zh-CN" sz="2800" b="1" dirty="0">
                <a:solidFill>
                  <a:srgbClr val="FF0000"/>
                </a:solidFill>
              </a:rPr>
              <a:t>证明</a:t>
            </a:r>
            <a:r>
              <a:rPr lang="zh-CN" altLang="zh-CN" sz="2800" dirty="0"/>
              <a:t>任取</a:t>
            </a:r>
            <a:r>
              <a:rPr lang="en-US" altLang="zh-CN" sz="2800" dirty="0">
                <a:solidFill>
                  <a:srgbClr val="339933"/>
                </a:solidFill>
                <a:latin typeface="+mn-ea"/>
              </a:rPr>
              <a:t>&lt;</a:t>
            </a:r>
            <a:r>
              <a:rPr lang="en-US" altLang="zh-CN" sz="2800" dirty="0" err="1">
                <a:solidFill>
                  <a:srgbClr val="339933"/>
                </a:solidFill>
              </a:rPr>
              <a:t>x,y</a:t>
            </a:r>
            <a:r>
              <a:rPr lang="en-US" altLang="zh-CN" sz="2800" dirty="0">
                <a:solidFill>
                  <a:srgbClr val="339933"/>
                </a:solidFill>
                <a:latin typeface="+mn-ea"/>
              </a:rPr>
              <a:t>&gt;,&lt;</a:t>
            </a:r>
            <a:r>
              <a:rPr lang="en-US" altLang="zh-CN" sz="2800" dirty="0" err="1">
                <a:solidFill>
                  <a:srgbClr val="339933"/>
                </a:solidFill>
              </a:rPr>
              <a:t>z,t</a:t>
            </a:r>
            <a:r>
              <a:rPr lang="en-US" altLang="zh-CN" sz="2800" dirty="0">
                <a:solidFill>
                  <a:srgbClr val="339933"/>
                </a:solidFill>
                <a:latin typeface="+mn-ea"/>
              </a:rPr>
              <a:t>&gt;</a:t>
            </a:r>
            <a:r>
              <a:rPr lang="zh-CN" altLang="zh-CN" sz="2800" dirty="0"/>
              <a:t>∈</a:t>
            </a:r>
            <a:r>
              <a:rPr lang="en-US" altLang="zh-CN" sz="2800" dirty="0"/>
              <a:t>H</a:t>
            </a:r>
            <a:r>
              <a:rPr lang="zh-CN" altLang="zh-CN" sz="2800" dirty="0"/>
              <a:t>，则</a:t>
            </a:r>
            <a:r>
              <a:rPr lang="en-US" altLang="zh-CN" sz="2800" dirty="0"/>
              <a:t>y</a:t>
            </a:r>
            <a:r>
              <a:rPr lang="zh-CN" altLang="zh-CN" sz="2800" dirty="0"/>
              <a:t>＝</a:t>
            </a:r>
            <a:r>
              <a:rPr lang="en-US" altLang="zh-CN" sz="2800" dirty="0"/>
              <a:t>2x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t </a:t>
            </a:r>
            <a:r>
              <a:rPr lang="zh-CN" altLang="zh-CN" sz="2800" dirty="0"/>
              <a:t>＝</a:t>
            </a:r>
            <a:r>
              <a:rPr lang="en-US" altLang="zh-CN" sz="2800" dirty="0"/>
              <a:t>2z</a:t>
            </a:r>
            <a:r>
              <a:rPr lang="zh-CN" altLang="zh-CN" sz="2800" dirty="0"/>
              <a:t>。 </a:t>
            </a:r>
            <a:endParaRPr lang="en-US" altLang="zh-CN" sz="2800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</a:t>
            </a:r>
            <a:r>
              <a:rPr lang="zh-CN" altLang="zh-CN" sz="2800" dirty="0"/>
              <a:t>于是</a:t>
            </a:r>
            <a:r>
              <a:rPr lang="en-US" altLang="zh-CN" sz="2800" dirty="0">
                <a:solidFill>
                  <a:srgbClr val="CC0066"/>
                </a:solidFill>
                <a:latin typeface="+mn-ea"/>
              </a:rPr>
              <a:t>&lt;</a:t>
            </a:r>
            <a:r>
              <a:rPr lang="en-US" altLang="zh-CN" sz="2800" dirty="0" err="1">
                <a:solidFill>
                  <a:srgbClr val="CC0066"/>
                </a:solidFill>
              </a:rPr>
              <a:t>z,t</a:t>
            </a:r>
            <a:r>
              <a:rPr lang="en-US" altLang="zh-CN" sz="2800" dirty="0">
                <a:solidFill>
                  <a:srgbClr val="CC0066"/>
                </a:solidFill>
                <a:latin typeface="+mn-ea"/>
              </a:rPr>
              <a:t>&gt;</a:t>
            </a:r>
            <a:r>
              <a:rPr lang="zh-CN" altLang="zh-CN" sz="2800" dirty="0">
                <a:solidFill>
                  <a:srgbClr val="CC0066"/>
                </a:solidFill>
              </a:rPr>
              <a:t>＋</a:t>
            </a:r>
            <a:r>
              <a:rPr lang="en-US" altLang="zh-CN" sz="2800" dirty="0">
                <a:solidFill>
                  <a:srgbClr val="CC0066"/>
                </a:solidFill>
                <a:latin typeface="+mn-ea"/>
              </a:rPr>
              <a:t>&lt;</a:t>
            </a:r>
            <a:r>
              <a:rPr lang="en-US" altLang="zh-CN" sz="2800" dirty="0" err="1">
                <a:solidFill>
                  <a:srgbClr val="CC0066"/>
                </a:solidFill>
              </a:rPr>
              <a:t>x,y</a:t>
            </a:r>
            <a:r>
              <a:rPr lang="en-US" altLang="zh-CN" sz="2800" dirty="0">
                <a:solidFill>
                  <a:srgbClr val="CC0066"/>
                </a:solidFill>
                <a:latin typeface="+mn-ea"/>
              </a:rPr>
              <a:t>&gt;</a:t>
            </a:r>
            <a:r>
              <a:rPr lang="en-US" altLang="zh-CN" sz="2800" baseline="30000" dirty="0">
                <a:solidFill>
                  <a:srgbClr val="CC0066"/>
                </a:solidFill>
              </a:rPr>
              <a:t>-1 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 err="1"/>
              <a:t>z,t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＋</a:t>
            </a:r>
            <a:r>
              <a:rPr lang="en-US" altLang="zh-CN" sz="2800" dirty="0">
                <a:latin typeface="+mn-ea"/>
              </a:rPr>
              <a:t>&lt;</a:t>
            </a:r>
            <a:r>
              <a:rPr lang="zh-CN" altLang="zh-CN" sz="2800" dirty="0"/>
              <a:t>－</a:t>
            </a:r>
            <a:r>
              <a:rPr lang="en-US" altLang="zh-CN" sz="2800" dirty="0"/>
              <a:t>x,</a:t>
            </a:r>
            <a:r>
              <a:rPr lang="zh-CN" altLang="zh-CN" sz="2800" dirty="0"/>
              <a:t>－</a:t>
            </a:r>
            <a:r>
              <a:rPr lang="en-US" altLang="zh-CN" sz="2800" dirty="0"/>
              <a:t>y</a:t>
            </a:r>
            <a:r>
              <a:rPr lang="en-US" altLang="zh-CN" sz="2800" dirty="0">
                <a:latin typeface="+mn-ea"/>
              </a:rPr>
              <a:t>&gt;</a:t>
            </a:r>
            <a:endParaRPr lang="en-US" altLang="zh-CN" sz="2800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                  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 z</a:t>
            </a:r>
            <a:r>
              <a:rPr lang="zh-CN" altLang="zh-CN" sz="2800" dirty="0"/>
              <a:t>－</a:t>
            </a:r>
            <a:r>
              <a:rPr lang="en-US" altLang="zh-CN" sz="2800" dirty="0" err="1"/>
              <a:t>x,t</a:t>
            </a:r>
            <a:r>
              <a:rPr lang="zh-CN" altLang="zh-CN" sz="2800" dirty="0"/>
              <a:t>－</a:t>
            </a:r>
            <a:r>
              <a:rPr lang="en-US" altLang="zh-CN" sz="2800" dirty="0"/>
              <a:t>y</a:t>
            </a:r>
            <a:r>
              <a:rPr lang="en-US" altLang="zh-CN" sz="2800" dirty="0">
                <a:latin typeface="+mn-ea"/>
              </a:rPr>
              <a:t>&gt;</a:t>
            </a:r>
            <a:r>
              <a:rPr lang="en-US" altLang="zh-CN" sz="2800" dirty="0"/>
              <a:t> 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                  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z</a:t>
            </a:r>
            <a:r>
              <a:rPr lang="zh-CN" altLang="zh-CN" sz="2800" dirty="0"/>
              <a:t>－</a:t>
            </a:r>
            <a:r>
              <a:rPr lang="en-US" altLang="zh-CN" sz="2800" dirty="0"/>
              <a:t>x,2(z</a:t>
            </a:r>
            <a:r>
              <a:rPr lang="zh-CN" altLang="zh-CN" sz="2800" dirty="0"/>
              <a:t>－</a:t>
            </a:r>
            <a:r>
              <a:rPr lang="en-US" altLang="zh-CN" sz="2800" dirty="0"/>
              <a:t>x)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zh-CN" sz="2800" dirty="0"/>
              <a:t>∈</a:t>
            </a:r>
            <a:r>
              <a:rPr lang="en-US" altLang="zh-CN" sz="2800" dirty="0"/>
              <a:t>H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09233E48-278F-D614-0693-8A7E3FBE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5400"/>
              <a:t>5.4.3 </a:t>
            </a:r>
            <a:r>
              <a:rPr lang="zh-CN" altLang="zh-CN" sz="5400"/>
              <a:t>子群的判定</a:t>
            </a:r>
            <a:endParaRPr lang="zh-CN" altLang="en-US" sz="5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684C5-5801-A0ED-1BBE-DBB1C4315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zh-CN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</a:rPr>
              <a:t>5.4.4 </a:t>
            </a:r>
            <a:r>
              <a:rPr lang="zh-CN" altLang="zh-CN" sz="2800" dirty="0"/>
              <a:t>设</a:t>
            </a:r>
            <a:r>
              <a:rPr lang="zh-CN" altLang="en-US" sz="2800" dirty="0"/>
              <a:t>群</a:t>
            </a:r>
            <a:r>
              <a:rPr lang="en-US" altLang="zh-CN" sz="2800" dirty="0">
                <a:latin typeface="宋体" pitchFamily="2" charset="-122"/>
              </a:rPr>
              <a:t>&lt;</a:t>
            </a:r>
            <a:r>
              <a:rPr lang="en-US" altLang="zh-CN" sz="2800" dirty="0"/>
              <a:t>G,</a:t>
            </a:r>
            <a:r>
              <a:rPr lang="en-US" altLang="en-US" sz="2800" dirty="0"/>
              <a:t>＊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zh-CN" altLang="zh-CN" sz="2800" dirty="0"/>
              <a:t>，</a:t>
            </a:r>
            <a:r>
              <a:rPr lang="zh-CN" altLang="en-US" sz="2800" dirty="0"/>
              <a:t>证明</a:t>
            </a:r>
            <a:r>
              <a:rPr lang="en-US" altLang="zh-CN" sz="2800" dirty="0"/>
              <a:t>C</a:t>
            </a:r>
            <a:r>
              <a:rPr lang="zh-CN" altLang="zh-CN" sz="2800" dirty="0"/>
              <a:t>是</a:t>
            </a:r>
            <a:r>
              <a:rPr lang="en-US" altLang="zh-CN" sz="2800" dirty="0"/>
              <a:t>G</a:t>
            </a:r>
            <a:r>
              <a:rPr lang="zh-CN" altLang="zh-CN" sz="2800" dirty="0"/>
              <a:t>的子群</a:t>
            </a:r>
            <a:r>
              <a:rPr lang="zh-CN" altLang="en-US" sz="2800" dirty="0"/>
              <a:t>，其中</a:t>
            </a:r>
            <a:endParaRPr lang="en-US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C </a:t>
            </a:r>
            <a:r>
              <a:rPr lang="zh-CN" altLang="zh-CN" sz="2800" dirty="0"/>
              <a:t>＝ </a:t>
            </a:r>
            <a:r>
              <a:rPr lang="en-US" altLang="zh-CN" sz="2800" dirty="0"/>
              <a:t>{a |a</a:t>
            </a:r>
            <a:r>
              <a:rPr lang="zh-CN" altLang="zh-CN" sz="2800" dirty="0"/>
              <a:t>∈</a:t>
            </a:r>
            <a:r>
              <a:rPr lang="en-US" altLang="zh-CN" sz="2800" dirty="0"/>
              <a:t>G </a:t>
            </a:r>
            <a:r>
              <a:rPr lang="zh-CN" altLang="zh-CN" sz="2800" dirty="0"/>
              <a:t>且</a:t>
            </a:r>
            <a:r>
              <a:rPr lang="en-US" altLang="zh-CN" sz="2800" dirty="0">
                <a:sym typeface="Symbol"/>
              </a:rPr>
              <a:t></a:t>
            </a:r>
            <a:r>
              <a:rPr lang="en-US" altLang="zh-CN" sz="2800" dirty="0"/>
              <a:t>x</a:t>
            </a:r>
            <a:r>
              <a:rPr lang="zh-CN" altLang="zh-CN" sz="2800" dirty="0"/>
              <a:t>∈</a:t>
            </a:r>
            <a:r>
              <a:rPr lang="en-US" altLang="zh-CN" sz="2800" dirty="0"/>
              <a:t>G(</a:t>
            </a:r>
            <a:r>
              <a:rPr lang="en-US" altLang="zh-CN" sz="2800" dirty="0" err="1"/>
              <a:t>a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x</a:t>
            </a:r>
            <a:r>
              <a:rPr lang="zh-CN" altLang="zh-CN" sz="2800" dirty="0"/>
              <a:t>＝</a:t>
            </a:r>
            <a:r>
              <a:rPr lang="en-US" altLang="zh-CN" sz="2800" dirty="0" err="1"/>
              <a:t>x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a</a:t>
            </a:r>
            <a:r>
              <a:rPr lang="en-US" altLang="zh-CN" sz="2800" dirty="0"/>
              <a:t>)}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   </a:t>
            </a:r>
            <a:r>
              <a:rPr lang="zh-CN" altLang="zh-CN" sz="2800" b="1" dirty="0">
                <a:solidFill>
                  <a:srgbClr val="FF0000"/>
                </a:solidFill>
              </a:rPr>
              <a:t>证明</a:t>
            </a:r>
            <a:r>
              <a:rPr lang="zh-CN" altLang="zh-CN" sz="2800" dirty="0"/>
              <a:t>对</a:t>
            </a:r>
            <a:r>
              <a:rPr lang="en-US" altLang="zh-CN" sz="2800" dirty="0">
                <a:sym typeface="Symbol"/>
              </a:rPr>
              <a:t></a:t>
            </a:r>
            <a:r>
              <a:rPr lang="en-US" altLang="zh-CN" sz="2800" dirty="0"/>
              <a:t>x</a:t>
            </a:r>
            <a:r>
              <a:rPr lang="zh-CN" altLang="zh-CN" sz="2800" dirty="0"/>
              <a:t>∈</a:t>
            </a:r>
            <a:r>
              <a:rPr lang="en-US" altLang="zh-CN" sz="2800" dirty="0"/>
              <a:t>G</a:t>
            </a:r>
            <a:r>
              <a:rPr lang="zh-CN" altLang="en-US" sz="2800" dirty="0"/>
              <a:t>有</a:t>
            </a:r>
            <a:r>
              <a:rPr lang="en-US" altLang="zh-CN" sz="2800" dirty="0" err="1"/>
              <a:t>e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x</a:t>
            </a:r>
            <a:r>
              <a:rPr lang="zh-CN" altLang="zh-CN" sz="2800" dirty="0"/>
              <a:t>＝</a:t>
            </a:r>
            <a:r>
              <a:rPr lang="en-US" altLang="zh-CN" sz="2800" dirty="0" err="1"/>
              <a:t>x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e</a:t>
            </a:r>
            <a:r>
              <a:rPr lang="zh-CN" altLang="zh-CN" sz="2800" dirty="0"/>
              <a:t>，从而</a:t>
            </a:r>
            <a:r>
              <a:rPr lang="en-US" altLang="zh-CN" sz="2800" dirty="0"/>
              <a:t>e</a:t>
            </a:r>
            <a:r>
              <a:rPr lang="zh-CN" altLang="zh-CN" sz="2800" dirty="0"/>
              <a:t>∈</a:t>
            </a:r>
            <a:r>
              <a:rPr lang="en-US" altLang="zh-CN" sz="2800" dirty="0"/>
              <a:t>G</a:t>
            </a:r>
            <a:endParaRPr lang="zh-CN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  <a:r>
              <a:rPr lang="zh-CN" altLang="zh-CN" sz="2800" dirty="0"/>
              <a:t>任取</a:t>
            </a:r>
            <a:r>
              <a:rPr lang="en-US" altLang="zh-CN" sz="2800" dirty="0" err="1"/>
              <a:t>a,b</a:t>
            </a:r>
            <a:r>
              <a:rPr lang="zh-CN" altLang="zh-CN" sz="2800" dirty="0"/>
              <a:t>∈</a:t>
            </a:r>
            <a:r>
              <a:rPr lang="en-US" altLang="zh-CN" sz="2800" dirty="0"/>
              <a:t>C</a:t>
            </a:r>
            <a:r>
              <a:rPr lang="zh-CN" altLang="zh-CN" sz="2800" dirty="0"/>
              <a:t>，对</a:t>
            </a:r>
            <a:r>
              <a:rPr lang="en-US" altLang="zh-CN" sz="2800" dirty="0">
                <a:sym typeface="Symbol"/>
              </a:rPr>
              <a:t></a:t>
            </a:r>
            <a:r>
              <a:rPr lang="en-US" altLang="zh-CN" sz="2800" dirty="0"/>
              <a:t>x</a:t>
            </a:r>
            <a:r>
              <a:rPr lang="zh-CN" altLang="zh-CN" sz="2800" dirty="0"/>
              <a:t>∈</a:t>
            </a:r>
            <a:r>
              <a:rPr lang="en-US" altLang="zh-CN" sz="2800" dirty="0"/>
              <a:t>G</a:t>
            </a:r>
            <a:r>
              <a:rPr lang="zh-CN" altLang="zh-CN" sz="2800" dirty="0"/>
              <a:t>有</a:t>
            </a:r>
            <a:r>
              <a:rPr lang="en-US" altLang="zh-CN" sz="2800" dirty="0" err="1"/>
              <a:t>a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x</a:t>
            </a:r>
            <a:r>
              <a:rPr lang="zh-CN" altLang="zh-CN" sz="2800" dirty="0"/>
              <a:t>＝</a:t>
            </a:r>
            <a:r>
              <a:rPr lang="en-US" altLang="zh-CN" sz="2800" dirty="0" err="1"/>
              <a:t>x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a</a:t>
            </a:r>
            <a:endParaRPr lang="zh-CN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(</a:t>
            </a:r>
            <a:r>
              <a:rPr lang="en-US" altLang="zh-CN" sz="2800" dirty="0" err="1"/>
              <a:t>b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x</a:t>
            </a:r>
            <a:r>
              <a:rPr lang="en-US" altLang="zh-CN" sz="2800" dirty="0"/>
              <a:t> </a:t>
            </a:r>
            <a:r>
              <a:rPr lang="zh-CN" altLang="zh-CN" sz="2800" dirty="0"/>
              <a:t>＝ </a:t>
            </a:r>
            <a:r>
              <a:rPr lang="en-US" altLang="zh-CN" sz="2800" dirty="0" err="1"/>
              <a:t>x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b</a:t>
            </a:r>
            <a:r>
              <a:rPr lang="en-US" altLang="zh-CN" sz="2800" dirty="0"/>
              <a:t>) x</a:t>
            </a:r>
            <a:r>
              <a:rPr lang="en-US" altLang="zh-CN" sz="2800" baseline="30000" dirty="0"/>
              <a:t>–1</a:t>
            </a:r>
            <a:r>
              <a:rPr lang="en-US" altLang="en-US" sz="2800" dirty="0"/>
              <a:t>＊</a:t>
            </a:r>
            <a:r>
              <a:rPr lang="en-US" altLang="zh-CN" sz="2800" dirty="0"/>
              <a:t>b</a:t>
            </a:r>
            <a:r>
              <a:rPr lang="en-US" altLang="zh-CN" sz="2800" baseline="30000" dirty="0"/>
              <a:t>–1</a:t>
            </a:r>
            <a:r>
              <a:rPr lang="zh-CN" altLang="zh-CN" sz="2800" dirty="0"/>
              <a:t>＝</a:t>
            </a:r>
            <a:r>
              <a:rPr lang="en-US" altLang="zh-CN" sz="2800" dirty="0"/>
              <a:t>b</a:t>
            </a:r>
            <a:r>
              <a:rPr lang="en-US" altLang="zh-CN" sz="2800" baseline="30000" dirty="0"/>
              <a:t>–1</a:t>
            </a:r>
            <a:r>
              <a:rPr lang="en-US" altLang="en-US" sz="2800" dirty="0"/>
              <a:t>＊</a:t>
            </a:r>
            <a:r>
              <a:rPr lang="en-US" altLang="zh-CN" sz="2800" dirty="0"/>
              <a:t>x</a:t>
            </a:r>
            <a:r>
              <a:rPr lang="en-US" altLang="zh-CN" sz="2800" baseline="30000" dirty="0"/>
              <a:t>–1</a:t>
            </a:r>
            <a:endParaRPr lang="zh-CN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(</a:t>
            </a:r>
            <a:r>
              <a:rPr lang="en-US" altLang="zh-CN" sz="2800" dirty="0" err="1"/>
              <a:t>a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x</a:t>
            </a:r>
            <a:r>
              <a:rPr lang="en-US" altLang="zh-CN" sz="2800" dirty="0"/>
              <a:t>)</a:t>
            </a:r>
            <a:r>
              <a:rPr lang="en-US" altLang="en-US" sz="2800" dirty="0"/>
              <a:t>＊</a:t>
            </a:r>
            <a:r>
              <a:rPr lang="en-US" altLang="zh-CN" sz="2800" dirty="0"/>
              <a:t>(x</a:t>
            </a:r>
            <a:r>
              <a:rPr lang="en-US" altLang="zh-CN" sz="2800" baseline="30000" dirty="0"/>
              <a:t>–1</a:t>
            </a:r>
            <a:r>
              <a:rPr lang="en-US" altLang="en-US" sz="2800" dirty="0"/>
              <a:t>＊</a:t>
            </a:r>
            <a:r>
              <a:rPr lang="en-US" altLang="zh-CN" sz="2800" dirty="0"/>
              <a:t>b</a:t>
            </a:r>
            <a:r>
              <a:rPr lang="en-US" altLang="zh-CN" sz="2800" baseline="30000" dirty="0"/>
              <a:t>–1</a:t>
            </a:r>
            <a:r>
              <a:rPr lang="en-US" altLang="zh-CN" sz="2800" dirty="0"/>
              <a:t>)</a:t>
            </a:r>
            <a:r>
              <a:rPr lang="zh-CN" altLang="zh-CN" sz="2800" dirty="0"/>
              <a:t>＝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a</a:t>
            </a:r>
            <a:r>
              <a:rPr lang="en-US" altLang="zh-CN" sz="2800" dirty="0"/>
              <a:t>)</a:t>
            </a:r>
            <a:r>
              <a:rPr lang="en-US" altLang="en-US" sz="2800" dirty="0"/>
              <a:t>＊</a:t>
            </a:r>
            <a:r>
              <a:rPr lang="en-US" altLang="zh-CN" sz="2800" dirty="0"/>
              <a:t>(b</a:t>
            </a:r>
            <a:r>
              <a:rPr lang="en-US" altLang="zh-CN" sz="2800" baseline="30000" dirty="0"/>
              <a:t>–1</a:t>
            </a:r>
            <a:r>
              <a:rPr lang="en-US" altLang="en-US" sz="2800" dirty="0"/>
              <a:t>＊</a:t>
            </a:r>
            <a:r>
              <a:rPr lang="en-US" altLang="zh-CN" sz="2800" dirty="0"/>
              <a:t>x</a:t>
            </a:r>
            <a:r>
              <a:rPr lang="en-US" altLang="zh-CN" sz="2800" baseline="30000" dirty="0"/>
              <a:t>–1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        </a:t>
            </a:r>
            <a:r>
              <a:rPr lang="en-US" altLang="zh-CN" sz="2800" dirty="0" err="1"/>
              <a:t>a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b</a:t>
            </a:r>
            <a:r>
              <a:rPr lang="en-US" altLang="zh-CN" sz="2800" baseline="30000" dirty="0"/>
              <a:t>–1</a:t>
            </a:r>
            <a:r>
              <a:rPr lang="zh-CN" altLang="zh-CN" sz="2800" dirty="0"/>
              <a:t>＝</a:t>
            </a:r>
            <a:r>
              <a:rPr lang="en-US" altLang="zh-CN" sz="2800" dirty="0" err="1"/>
              <a:t>x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a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b</a:t>
            </a:r>
            <a:r>
              <a:rPr lang="en-US" altLang="zh-CN" sz="2800" baseline="30000" dirty="0"/>
              <a:t>–1</a:t>
            </a:r>
            <a:r>
              <a:rPr lang="en-US" altLang="en-US" sz="2800" dirty="0"/>
              <a:t>＊</a:t>
            </a:r>
            <a:r>
              <a:rPr lang="en-US" altLang="zh-CN" sz="2800" dirty="0"/>
              <a:t>x</a:t>
            </a:r>
            <a:r>
              <a:rPr lang="en-US" altLang="zh-CN" sz="2800" baseline="30000" dirty="0"/>
              <a:t>–1</a:t>
            </a:r>
            <a:endParaRPr lang="zh-CN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 (</a:t>
            </a:r>
            <a:r>
              <a:rPr lang="en-US" altLang="zh-CN" sz="2800" dirty="0" err="1"/>
              <a:t>a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b</a:t>
            </a:r>
            <a:r>
              <a:rPr lang="en-US" altLang="zh-CN" sz="2800" baseline="30000" dirty="0"/>
              <a:t>–1</a:t>
            </a:r>
            <a:r>
              <a:rPr lang="en-US" altLang="zh-CN" sz="2800" dirty="0"/>
              <a:t>)</a:t>
            </a:r>
            <a:r>
              <a:rPr lang="en-US" altLang="en-US" sz="2800" dirty="0"/>
              <a:t>＊</a:t>
            </a:r>
            <a:r>
              <a:rPr lang="en-US" altLang="zh-CN" sz="2800" dirty="0"/>
              <a:t>x</a:t>
            </a:r>
            <a:r>
              <a:rPr lang="zh-CN" altLang="zh-CN" sz="2800" dirty="0"/>
              <a:t>＝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a</a:t>
            </a:r>
            <a:r>
              <a:rPr lang="en-US" altLang="en-US" sz="2800" dirty="0" err="1"/>
              <a:t>＊</a:t>
            </a:r>
            <a:r>
              <a:rPr lang="en-US" altLang="zh-CN" sz="2800" dirty="0" err="1"/>
              <a:t>b</a:t>
            </a:r>
            <a:r>
              <a:rPr lang="en-US" altLang="zh-CN" sz="2800" baseline="30000" dirty="0"/>
              <a:t>–1</a:t>
            </a:r>
            <a:r>
              <a:rPr lang="en-US" altLang="en-US" sz="2800" dirty="0"/>
              <a:t>＊</a:t>
            </a:r>
            <a:r>
              <a:rPr lang="en-US" altLang="zh-CN" sz="2800" dirty="0"/>
              <a:t>x</a:t>
            </a:r>
            <a:r>
              <a:rPr lang="en-US" altLang="zh-CN" sz="2800" baseline="30000" dirty="0"/>
              <a:t>–1</a:t>
            </a:r>
            <a:r>
              <a:rPr lang="en-US" altLang="zh-CN" sz="2800" dirty="0"/>
              <a:t>)</a:t>
            </a:r>
            <a:r>
              <a:rPr lang="en-US" altLang="en-US" sz="2800" dirty="0"/>
              <a:t>＊</a:t>
            </a:r>
            <a:r>
              <a:rPr lang="en-US" altLang="zh-CN" sz="2800" dirty="0"/>
              <a:t>x</a:t>
            </a:r>
            <a:endParaRPr lang="zh-CN" altLang="zh-CN" sz="2800" dirty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 (</a:t>
            </a:r>
            <a:r>
              <a:rPr lang="en-US" altLang="zh-CN" sz="2800" dirty="0" err="1">
                <a:solidFill>
                  <a:srgbClr val="FF0000"/>
                </a:solidFill>
              </a:rPr>
              <a:t>a</a:t>
            </a:r>
            <a:r>
              <a:rPr lang="en-US" altLang="en-US" sz="2800" dirty="0" err="1">
                <a:solidFill>
                  <a:srgbClr val="FF0000"/>
                </a:solidFill>
              </a:rPr>
              <a:t>＊</a:t>
            </a:r>
            <a:r>
              <a:rPr lang="en-US" altLang="zh-CN" sz="2800" dirty="0" err="1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</a:rPr>
              <a:t>–1</a:t>
            </a:r>
            <a:r>
              <a:rPr lang="en-US" altLang="zh-CN" sz="2800" dirty="0"/>
              <a:t>)</a:t>
            </a:r>
            <a:r>
              <a:rPr lang="en-US" altLang="en-US" sz="2800" dirty="0"/>
              <a:t>＊</a:t>
            </a:r>
            <a:r>
              <a:rPr lang="en-US" altLang="zh-CN" sz="2800" dirty="0"/>
              <a:t>x</a:t>
            </a:r>
            <a:r>
              <a:rPr lang="zh-CN" altLang="zh-CN" sz="2800" dirty="0"/>
              <a:t>＝</a:t>
            </a:r>
            <a:r>
              <a:rPr lang="en-US" altLang="zh-CN" sz="2800" dirty="0"/>
              <a:t>x</a:t>
            </a:r>
            <a:r>
              <a:rPr lang="en-US" altLang="en-US" sz="2800" dirty="0"/>
              <a:t>＊(</a:t>
            </a:r>
            <a:r>
              <a:rPr lang="en-US" altLang="zh-CN" sz="2800" dirty="0" err="1">
                <a:solidFill>
                  <a:srgbClr val="FF0000"/>
                </a:solidFill>
              </a:rPr>
              <a:t>a</a:t>
            </a:r>
            <a:r>
              <a:rPr lang="en-US" altLang="en-US" sz="2800" dirty="0" err="1">
                <a:solidFill>
                  <a:srgbClr val="FF0000"/>
                </a:solidFill>
              </a:rPr>
              <a:t>＊</a:t>
            </a:r>
            <a:r>
              <a:rPr lang="en-US" altLang="zh-CN" sz="2800" dirty="0" err="1">
                <a:solidFill>
                  <a:srgbClr val="FF0000"/>
                </a:solidFill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</a:rPr>
              <a:t>–1</a:t>
            </a:r>
            <a:r>
              <a:rPr lang="en-US" altLang="zh-CN" sz="2800" baseline="30000" dirty="0"/>
              <a:t> </a:t>
            </a:r>
            <a:r>
              <a:rPr lang="en-US" altLang="zh-CN" sz="2800" dirty="0"/>
              <a:t>) </a:t>
            </a:r>
            <a:endParaRPr lang="zh-CN" altLang="zh-C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6BD84BCC-2123-EF4F-1517-010EA2B2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5.4.3 </a:t>
            </a:r>
            <a:r>
              <a:rPr lang="zh-CN" altLang="zh-CN" sz="5400"/>
              <a:t>子群的判定</a:t>
            </a:r>
            <a:endParaRPr lang="zh-CN" altLang="en-US" sz="5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832ECD-526B-E93B-B959-27E519E0B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5.4.5</a:t>
            </a:r>
            <a:r>
              <a:rPr lang="zh-CN" altLang="zh-CN" dirty="0"/>
              <a:t>设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H,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与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K,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均是群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的子群，</a:t>
            </a:r>
            <a:r>
              <a:rPr lang="zh-CN" altLang="en-US" dirty="0"/>
              <a:t>则</a:t>
            </a:r>
            <a:r>
              <a:rPr lang="en-US" altLang="zh-CN" dirty="0"/>
              <a:t>H</a:t>
            </a:r>
            <a:r>
              <a:rPr lang="zh-CN" altLang="zh-CN" dirty="0"/>
              <a:t>∩</a:t>
            </a:r>
            <a:r>
              <a:rPr lang="en-US" altLang="zh-CN" dirty="0"/>
              <a:t>K</a:t>
            </a:r>
            <a:r>
              <a:rPr lang="zh-CN" altLang="zh-CN" dirty="0"/>
              <a:t>是</a:t>
            </a:r>
            <a:r>
              <a:rPr lang="en-US" altLang="zh-CN" dirty="0"/>
              <a:t>G</a:t>
            </a:r>
            <a:r>
              <a:rPr lang="zh-CN" altLang="zh-CN" dirty="0"/>
              <a:t>的子群</a:t>
            </a:r>
            <a:r>
              <a:rPr lang="zh-CN" altLang="en-US" dirty="0"/>
              <a:t>。</a:t>
            </a:r>
            <a:endParaRPr lang="zh-CN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zh-CN" b="1" dirty="0">
                <a:solidFill>
                  <a:srgbClr val="FF0000"/>
                </a:solidFill>
              </a:rPr>
              <a:t>证明</a:t>
            </a:r>
            <a:r>
              <a:rPr lang="zh-CN" altLang="zh-CN" dirty="0"/>
              <a:t>设</a:t>
            </a:r>
            <a:r>
              <a:rPr lang="en-US" altLang="zh-CN" dirty="0"/>
              <a:t>e</a:t>
            </a:r>
            <a:r>
              <a:rPr lang="zh-CN" altLang="zh-CN" dirty="0"/>
              <a:t>是</a:t>
            </a:r>
            <a:r>
              <a:rPr lang="en-US" altLang="zh-CN" dirty="0"/>
              <a:t>G</a:t>
            </a:r>
            <a:r>
              <a:rPr lang="zh-CN" altLang="zh-CN" dirty="0"/>
              <a:t>幺元</a:t>
            </a:r>
            <a:r>
              <a:rPr lang="zh-CN" altLang="en-US" dirty="0"/>
              <a:t>，</a:t>
            </a:r>
            <a:r>
              <a:rPr lang="zh-CN" altLang="zh-CN" dirty="0"/>
              <a:t>由</a:t>
            </a:r>
            <a:r>
              <a:rPr lang="en-US" altLang="zh-CN" dirty="0"/>
              <a:t>e</a:t>
            </a:r>
            <a:r>
              <a:rPr lang="zh-CN" altLang="zh-CN" dirty="0"/>
              <a:t>∈</a:t>
            </a:r>
            <a:r>
              <a:rPr lang="en-US" altLang="zh-CN" dirty="0"/>
              <a:t>H</a:t>
            </a:r>
            <a:r>
              <a:rPr lang="zh-CN" altLang="zh-CN" dirty="0"/>
              <a:t>∩</a:t>
            </a:r>
            <a:r>
              <a:rPr lang="en-US" altLang="zh-CN" dirty="0"/>
              <a:t>K</a:t>
            </a:r>
            <a:r>
              <a:rPr lang="zh-CN" altLang="zh-CN" dirty="0"/>
              <a:t>知</a:t>
            </a:r>
            <a:r>
              <a:rPr lang="en-US" altLang="zh-CN" dirty="0"/>
              <a:t>H</a:t>
            </a:r>
            <a:r>
              <a:rPr lang="zh-CN" altLang="zh-CN" dirty="0"/>
              <a:t>∩</a:t>
            </a:r>
            <a:r>
              <a:rPr lang="en-US" altLang="zh-CN" dirty="0"/>
              <a:t>K</a:t>
            </a:r>
            <a:r>
              <a:rPr lang="zh-CN" altLang="zh-CN" dirty="0"/>
              <a:t>非空。</a:t>
            </a:r>
            <a:r>
              <a:rPr lang="en-US" altLang="zh-CN" dirty="0"/>
              <a:t>   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</a:t>
            </a:r>
            <a:r>
              <a:rPr lang="zh-CN" altLang="zh-CN" dirty="0"/>
              <a:t>任取</a:t>
            </a:r>
            <a:r>
              <a:rPr lang="en-US" altLang="zh-CN" dirty="0" err="1"/>
              <a:t>a,b</a:t>
            </a:r>
            <a:r>
              <a:rPr lang="zh-CN" altLang="zh-CN" dirty="0"/>
              <a:t>∈</a:t>
            </a:r>
            <a:r>
              <a:rPr lang="en-US" altLang="zh-CN" dirty="0"/>
              <a:t>H</a:t>
            </a:r>
            <a:r>
              <a:rPr lang="zh-CN" altLang="zh-CN" dirty="0"/>
              <a:t>∩</a:t>
            </a:r>
            <a:r>
              <a:rPr lang="en-US" altLang="zh-CN" dirty="0"/>
              <a:t>K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</a:t>
            </a:r>
            <a:r>
              <a:rPr lang="en-US" altLang="zh-CN" dirty="0" err="1"/>
              <a:t>a,b</a:t>
            </a:r>
            <a:r>
              <a:rPr lang="zh-CN" altLang="zh-CN" dirty="0"/>
              <a:t>∈</a:t>
            </a:r>
            <a:r>
              <a:rPr lang="en-US" altLang="zh-CN" dirty="0"/>
              <a:t>H</a:t>
            </a:r>
            <a:r>
              <a:rPr lang="zh-CN" altLang="zh-CN" dirty="0"/>
              <a:t>且</a:t>
            </a:r>
            <a:r>
              <a:rPr lang="en-US" altLang="zh-CN" dirty="0" err="1"/>
              <a:t>a,b</a:t>
            </a:r>
            <a:r>
              <a:rPr lang="zh-CN" altLang="zh-CN" dirty="0"/>
              <a:t>∈</a:t>
            </a:r>
            <a:r>
              <a:rPr lang="en-US" altLang="zh-CN" dirty="0"/>
              <a:t>K</a:t>
            </a:r>
            <a:endParaRPr lang="zh-CN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30000" dirty="0"/>
              <a:t>–1</a:t>
            </a:r>
            <a:r>
              <a:rPr lang="zh-CN" altLang="zh-CN" dirty="0"/>
              <a:t>∈</a:t>
            </a:r>
            <a:r>
              <a:rPr lang="en-US" altLang="zh-CN" dirty="0"/>
              <a:t>H</a:t>
            </a:r>
            <a:r>
              <a:rPr lang="zh-CN" altLang="zh-CN" dirty="0"/>
              <a:t>且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30000" dirty="0"/>
              <a:t>–1</a:t>
            </a:r>
            <a:r>
              <a:rPr lang="zh-CN" altLang="zh-CN" dirty="0"/>
              <a:t>∈</a:t>
            </a:r>
            <a:r>
              <a:rPr lang="en-US" altLang="zh-CN" dirty="0"/>
              <a:t>K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</a:t>
            </a:r>
            <a:r>
              <a:rPr lang="en-US" altLang="zh-CN" dirty="0" err="1"/>
              <a:t>a</a:t>
            </a:r>
            <a:r>
              <a:rPr lang="en-US" altLang="en-US" dirty="0" err="1"/>
              <a:t>＊</a:t>
            </a:r>
            <a:r>
              <a:rPr lang="en-US" altLang="zh-CN" dirty="0" err="1"/>
              <a:t>b</a:t>
            </a:r>
            <a:r>
              <a:rPr lang="en-US" altLang="zh-CN" baseline="30000" dirty="0"/>
              <a:t>–1</a:t>
            </a:r>
            <a:r>
              <a:rPr lang="zh-CN" altLang="zh-CN" dirty="0"/>
              <a:t>∈</a:t>
            </a:r>
            <a:r>
              <a:rPr lang="en-US" altLang="zh-CN" dirty="0"/>
              <a:t>H</a:t>
            </a:r>
            <a:r>
              <a:rPr lang="zh-CN" altLang="zh-CN" dirty="0"/>
              <a:t>∩</a:t>
            </a:r>
            <a:r>
              <a:rPr lang="en-US" altLang="zh-CN" dirty="0"/>
              <a:t>K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E7AE0E84-5462-3822-377F-816DD6FB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/>
              <a:t>5.4.3 </a:t>
            </a:r>
            <a:r>
              <a:rPr lang="zh-CN" altLang="zh-CN" sz="5400"/>
              <a:t>子群的判定</a:t>
            </a:r>
            <a:endParaRPr lang="zh-CN" altLang="en-US" sz="5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B35FC-3E35-E8CF-6F2E-E525AA46C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5.4.5</a:t>
            </a:r>
            <a:r>
              <a:rPr lang="zh-CN" altLang="zh-CN" dirty="0"/>
              <a:t>设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H,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与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K,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均是群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G,</a:t>
            </a:r>
            <a:r>
              <a:rPr lang="en-US" altLang="en-US" dirty="0"/>
              <a:t>＊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zh-CN" altLang="zh-CN" dirty="0"/>
              <a:t>的子群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则</a:t>
            </a:r>
            <a:r>
              <a:rPr lang="en-US" altLang="zh-CN" dirty="0"/>
              <a:t>H</a:t>
            </a:r>
            <a:r>
              <a:rPr lang="zh-CN" altLang="zh-CN" dirty="0"/>
              <a:t>∪</a:t>
            </a:r>
            <a:r>
              <a:rPr lang="en-US" altLang="zh-CN" dirty="0"/>
              <a:t>K</a:t>
            </a:r>
            <a:r>
              <a:rPr lang="zh-CN" altLang="zh-CN" dirty="0"/>
              <a:t>是</a:t>
            </a:r>
            <a:r>
              <a:rPr lang="en-US" altLang="zh-CN" dirty="0"/>
              <a:t>G</a:t>
            </a:r>
            <a:r>
              <a:rPr lang="zh-CN" altLang="zh-CN" dirty="0"/>
              <a:t>的子群当且仅当</a:t>
            </a:r>
            <a:r>
              <a:rPr lang="en-US" altLang="zh-CN" dirty="0"/>
              <a:t>H  K</a:t>
            </a:r>
            <a:r>
              <a:rPr lang="zh-CN" altLang="zh-CN" dirty="0"/>
              <a:t>或</a:t>
            </a:r>
            <a:r>
              <a:rPr lang="en-US" altLang="zh-CN" dirty="0"/>
              <a:t>K  H</a:t>
            </a:r>
            <a:r>
              <a:rPr lang="zh-CN" altLang="zh-CN" dirty="0"/>
              <a:t>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zh-CN" b="1" dirty="0">
                <a:solidFill>
                  <a:srgbClr val="FF0000"/>
                </a:solidFill>
              </a:rPr>
              <a:t>证明</a:t>
            </a:r>
            <a:r>
              <a:rPr lang="zh-CN" altLang="zh-CN" dirty="0">
                <a:solidFill>
                  <a:schemeClr val="accent1"/>
                </a:solidFill>
              </a:rPr>
              <a:t>假设</a:t>
            </a:r>
            <a:r>
              <a:rPr lang="en-US" altLang="zh-CN" dirty="0"/>
              <a:t>H   K</a:t>
            </a:r>
            <a:r>
              <a:rPr lang="zh-CN" altLang="en-US" dirty="0"/>
              <a:t>或</a:t>
            </a:r>
            <a:r>
              <a:rPr lang="en-US" altLang="zh-CN" dirty="0"/>
              <a:t>K   H</a:t>
            </a:r>
            <a:r>
              <a:rPr lang="zh-CN" altLang="en-US" dirty="0"/>
              <a:t>不成立</a:t>
            </a:r>
            <a:r>
              <a:rPr lang="zh-CN" altLang="zh-CN" dirty="0"/>
              <a:t>，则存在</a:t>
            </a:r>
            <a:r>
              <a:rPr lang="en-US" altLang="zh-CN" dirty="0"/>
              <a:t>h</a:t>
            </a:r>
            <a:r>
              <a:rPr lang="zh-CN" altLang="zh-CN" dirty="0"/>
              <a:t>与</a:t>
            </a:r>
            <a:r>
              <a:rPr lang="en-US" altLang="zh-CN" dirty="0"/>
              <a:t>k</a:t>
            </a:r>
            <a:r>
              <a:rPr lang="zh-CN" altLang="zh-CN" dirty="0"/>
              <a:t>使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h</a:t>
            </a:r>
            <a:r>
              <a:rPr lang="zh-CN" altLang="zh-CN" dirty="0"/>
              <a:t>∈</a:t>
            </a:r>
            <a:r>
              <a:rPr lang="en-US" altLang="zh-CN" dirty="0"/>
              <a:t>H</a:t>
            </a:r>
            <a:r>
              <a:rPr lang="zh-CN" altLang="zh-CN" dirty="0"/>
              <a:t>但</a:t>
            </a:r>
            <a:r>
              <a:rPr lang="en-US" altLang="zh-CN" dirty="0"/>
              <a:t>h  K</a:t>
            </a:r>
            <a:r>
              <a:rPr lang="zh-CN" altLang="zh-CN" dirty="0"/>
              <a:t>，</a:t>
            </a:r>
            <a:r>
              <a:rPr lang="en-US" altLang="zh-CN" dirty="0"/>
              <a:t>k</a:t>
            </a:r>
            <a:r>
              <a:rPr lang="zh-CN" altLang="zh-CN" dirty="0"/>
              <a:t>∈</a:t>
            </a:r>
            <a:r>
              <a:rPr lang="en-US" altLang="zh-CN" dirty="0"/>
              <a:t>K</a:t>
            </a:r>
            <a:r>
              <a:rPr lang="zh-CN" altLang="zh-CN" dirty="0"/>
              <a:t>但</a:t>
            </a:r>
            <a:r>
              <a:rPr lang="en-US" altLang="zh-CN" dirty="0"/>
              <a:t>k  H</a:t>
            </a:r>
            <a:endParaRPr lang="zh-CN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而  </a:t>
            </a:r>
            <a:r>
              <a:rPr lang="en-US" altLang="zh-CN" dirty="0"/>
              <a:t>h</a:t>
            </a:r>
            <a:r>
              <a:rPr lang="en-US" altLang="zh-CN" baseline="30000" dirty="0"/>
              <a:t>–1</a:t>
            </a:r>
            <a:r>
              <a:rPr lang="en-US" altLang="en-US" dirty="0"/>
              <a:t>＊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h</a:t>
            </a:r>
            <a:r>
              <a:rPr lang="en-US" altLang="en-US" dirty="0" err="1">
                <a:solidFill>
                  <a:srgbClr val="FF0000"/>
                </a:solidFill>
              </a:rPr>
              <a:t>＊</a:t>
            </a:r>
            <a:r>
              <a:rPr lang="en-US" altLang="zh-CN" dirty="0" err="1">
                <a:solidFill>
                  <a:srgbClr val="FF0000"/>
                </a:solidFill>
              </a:rPr>
              <a:t>k</a:t>
            </a:r>
            <a:r>
              <a:rPr lang="en-US" altLang="zh-CN" dirty="0"/>
              <a:t>)</a:t>
            </a:r>
            <a:r>
              <a:rPr lang="zh-CN" altLang="zh-CN" dirty="0"/>
              <a:t>＝</a:t>
            </a:r>
            <a:r>
              <a:rPr lang="en-US" altLang="zh-CN" dirty="0"/>
              <a:t>(h</a:t>
            </a:r>
            <a:r>
              <a:rPr lang="en-US" altLang="zh-CN" baseline="30000" dirty="0"/>
              <a:t>–1</a:t>
            </a:r>
            <a:r>
              <a:rPr lang="en-US" altLang="en-US" dirty="0"/>
              <a:t>＊</a:t>
            </a:r>
            <a:r>
              <a:rPr lang="en-US" altLang="zh-CN" dirty="0"/>
              <a:t>h)</a:t>
            </a:r>
            <a:r>
              <a:rPr lang="en-US" altLang="en-US" dirty="0"/>
              <a:t>＊</a:t>
            </a:r>
            <a:r>
              <a:rPr lang="en-US" altLang="zh-CN" dirty="0"/>
              <a:t>k</a:t>
            </a:r>
            <a:r>
              <a:rPr lang="zh-CN" altLang="zh-CN" dirty="0"/>
              <a:t>＝</a:t>
            </a:r>
            <a:r>
              <a:rPr lang="en-US" altLang="zh-CN" dirty="0" err="1"/>
              <a:t>e</a:t>
            </a:r>
            <a:r>
              <a:rPr lang="en-US" altLang="en-US" dirty="0" err="1"/>
              <a:t>＊</a:t>
            </a:r>
            <a:r>
              <a:rPr lang="en-US" altLang="zh-CN" dirty="0" err="1"/>
              <a:t>k</a:t>
            </a:r>
            <a:r>
              <a:rPr lang="zh-CN" altLang="zh-CN" dirty="0"/>
              <a:t>＝</a:t>
            </a:r>
            <a:r>
              <a:rPr lang="en-US" altLang="zh-CN" dirty="0"/>
              <a:t>k  H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于是     </a:t>
            </a:r>
            <a:r>
              <a:rPr lang="en-US" altLang="zh-CN" dirty="0" err="1"/>
              <a:t>h</a:t>
            </a:r>
            <a:r>
              <a:rPr lang="en-US" altLang="en-US" dirty="0" err="1"/>
              <a:t>＊</a:t>
            </a:r>
            <a:r>
              <a:rPr lang="en-US" altLang="zh-CN" dirty="0" err="1"/>
              <a:t>k</a:t>
            </a:r>
            <a:r>
              <a:rPr lang="en-US" altLang="zh-CN" dirty="0"/>
              <a:t>  H</a:t>
            </a:r>
            <a:endParaRPr lang="zh-CN" altLang="zh-CN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同理</a:t>
            </a:r>
            <a:r>
              <a:rPr lang="en-US" altLang="zh-CN" dirty="0"/>
              <a:t>     </a:t>
            </a:r>
            <a:r>
              <a:rPr lang="en-US" altLang="zh-CN" dirty="0" err="1"/>
              <a:t>h</a:t>
            </a:r>
            <a:r>
              <a:rPr lang="en-US" altLang="en-US" dirty="0" err="1"/>
              <a:t>＊</a:t>
            </a:r>
            <a:r>
              <a:rPr lang="en-US" altLang="zh-CN" dirty="0" err="1"/>
              <a:t>k</a:t>
            </a:r>
            <a:r>
              <a:rPr lang="en-US" altLang="zh-CN" dirty="0"/>
              <a:t>  K</a:t>
            </a:r>
            <a:endParaRPr lang="zh-CN" altLang="en-US" dirty="0"/>
          </a:p>
        </p:txBody>
      </p:sp>
      <p:graphicFrame>
        <p:nvGraphicFramePr>
          <p:cNvPr id="14340" name="对象 3">
            <a:extLst>
              <a:ext uri="{FF2B5EF4-FFF2-40B4-BE49-F238E27FC236}">
                <a16:creationId xmlns:a16="http://schemas.microsoft.com/office/drawing/2014/main" id="{AAF40483-673F-5B7B-1408-D892D46163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3392488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3392488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对象 4">
            <a:extLst>
              <a:ext uri="{FF2B5EF4-FFF2-40B4-BE49-F238E27FC236}">
                <a16:creationId xmlns:a16="http://schemas.microsoft.com/office/drawing/2014/main" id="{02B3BBCE-2A79-9F6D-5D13-9EE059DFC4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3405188"/>
          <a:ext cx="3857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405188"/>
                        <a:ext cx="3857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对象 5">
            <a:extLst>
              <a:ext uri="{FF2B5EF4-FFF2-40B4-BE49-F238E27FC236}">
                <a16:creationId xmlns:a16="http://schemas.microsoft.com/office/drawing/2014/main" id="{54B41165-4D6F-EE41-6936-1016964EF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0650" y="2646363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2646363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对象 6">
            <a:extLst>
              <a:ext uri="{FF2B5EF4-FFF2-40B4-BE49-F238E27FC236}">
                <a16:creationId xmlns:a16="http://schemas.microsoft.com/office/drawing/2014/main" id="{B1F225CD-A7AE-4515-6E53-8D338B0FB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684463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684463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对象 7">
            <a:extLst>
              <a:ext uri="{FF2B5EF4-FFF2-40B4-BE49-F238E27FC236}">
                <a16:creationId xmlns:a16="http://schemas.microsoft.com/office/drawing/2014/main" id="{23F7BD4D-22E7-53DB-51DB-CF3AEE3318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6324600"/>
          <a:ext cx="31908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835" imgH="152202" progId="Equation.DSMT4">
                  <p:embed/>
                </p:oleObj>
              </mc:Choice>
              <mc:Fallback>
                <p:oleObj name="Equation" r:id="rId7" imgW="126835" imgH="152202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6324600"/>
                        <a:ext cx="319088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对象 8">
            <a:extLst>
              <a:ext uri="{FF2B5EF4-FFF2-40B4-BE49-F238E27FC236}">
                <a16:creationId xmlns:a16="http://schemas.microsoft.com/office/drawing/2014/main" id="{231271D3-3B07-479B-2D94-5C630700B0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5600700"/>
          <a:ext cx="31908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6835" imgH="152202" progId="Equation.DSMT4">
                  <p:embed/>
                </p:oleObj>
              </mc:Choice>
              <mc:Fallback>
                <p:oleObj name="Equation" r:id="rId9" imgW="126835" imgH="152202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600700"/>
                        <a:ext cx="319088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对象 9">
            <a:extLst>
              <a:ext uri="{FF2B5EF4-FFF2-40B4-BE49-F238E27FC236}">
                <a16:creationId xmlns:a16="http://schemas.microsoft.com/office/drawing/2014/main" id="{61CDEF4C-EB2F-EBB0-38B5-05E8397A93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6550" y="4879975"/>
          <a:ext cx="31908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835" imgH="152202" progId="Equation.DSMT4">
                  <p:embed/>
                </p:oleObj>
              </mc:Choice>
              <mc:Fallback>
                <p:oleObj name="Equation" r:id="rId10" imgW="126835" imgH="152202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4879975"/>
                        <a:ext cx="319088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对象 10">
            <a:extLst>
              <a:ext uri="{FF2B5EF4-FFF2-40B4-BE49-F238E27FC236}">
                <a16:creationId xmlns:a16="http://schemas.microsoft.com/office/drawing/2014/main" id="{35B912CA-FB35-48C3-71C5-C65164403B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125913"/>
          <a:ext cx="31908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835" imgH="152202" progId="Equation.DSMT4">
                  <p:embed/>
                </p:oleObj>
              </mc:Choice>
              <mc:Fallback>
                <p:oleObj name="Equation" r:id="rId11" imgW="126835" imgH="152202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125913"/>
                        <a:ext cx="319087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对象 11">
            <a:extLst>
              <a:ext uri="{FF2B5EF4-FFF2-40B4-BE49-F238E27FC236}">
                <a16:creationId xmlns:a16="http://schemas.microsoft.com/office/drawing/2014/main" id="{34800DEB-BAF4-95BA-AA34-B1A00D06F0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4149725"/>
          <a:ext cx="31908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835" imgH="152202" progId="Equation.DSMT4">
                  <p:embed/>
                </p:oleObj>
              </mc:Choice>
              <mc:Fallback>
                <p:oleObj name="Equation" r:id="rId12" imgW="126835" imgH="152202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149725"/>
                        <a:ext cx="319088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857658C1-E70E-235F-C302-965AC2E9A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/>
              <a:t>作  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E080DF-1FD8-B8C2-4C67-BD576B96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  <a:defRPr/>
            </a:pPr>
            <a:r>
              <a:rPr lang="zh-CN" altLang="en-US" sz="3600" dirty="0"/>
              <a:t>课后作业</a:t>
            </a:r>
            <a:endParaRPr lang="en-US" altLang="zh-CN" sz="3600" dirty="0"/>
          </a:p>
          <a:p>
            <a:pPr marL="0" indent="0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143</a:t>
            </a:r>
            <a:r>
              <a:rPr lang="zh-CN" altLang="en-US" dirty="0"/>
              <a:t>面</a:t>
            </a:r>
            <a:r>
              <a:rPr lang="en-US" altLang="zh-CN" dirty="0"/>
              <a:t>     </a:t>
            </a:r>
            <a:r>
              <a:rPr lang="zh-CN" altLang="en-US" dirty="0"/>
              <a:t>习题</a:t>
            </a:r>
            <a:r>
              <a:rPr lang="en-US" altLang="zh-CN" dirty="0"/>
              <a:t>5.4 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3280</TotalTime>
  <Words>1297</Words>
  <Application>Microsoft Office PowerPoint</Application>
  <PresentationFormat>全屏显示(4:3)</PresentationFormat>
  <Paragraphs>108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Tahoma</vt:lpstr>
      <vt:lpstr>宋体</vt:lpstr>
      <vt:lpstr>Arial</vt:lpstr>
      <vt:lpstr>Wingdings</vt:lpstr>
      <vt:lpstr>Calibri</vt:lpstr>
      <vt:lpstr>Symbol</vt:lpstr>
      <vt:lpstr>Blends</vt:lpstr>
      <vt:lpstr>MathType 5.0 Equation</vt:lpstr>
      <vt:lpstr>5.4  子群</vt:lpstr>
      <vt:lpstr>5.4.1 子群的定义</vt:lpstr>
      <vt:lpstr>5.4.1 子群的定义</vt:lpstr>
      <vt:lpstr>5.4.1 子群的定义</vt:lpstr>
      <vt:lpstr>5.4.2 子群的性质</vt:lpstr>
      <vt:lpstr>5.4.3 子群的判定</vt:lpstr>
      <vt:lpstr>5.4.3 子群的判定</vt:lpstr>
      <vt:lpstr>5.4.3 子群的判定</vt:lpstr>
      <vt:lpstr>5.4.3 子群的判定</vt:lpstr>
      <vt:lpstr>5.4.3 子群的判定</vt:lpstr>
      <vt:lpstr>5.4.3 子群的判定</vt:lpstr>
      <vt:lpstr>5.4.3 子群的判定</vt:lpstr>
      <vt:lpstr>作  业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116</cp:revision>
  <dcterms:created xsi:type="dcterms:W3CDTF">2010-04-09T13:44:14Z</dcterms:created>
  <dcterms:modified xsi:type="dcterms:W3CDTF">2023-12-06T13:43:32Z</dcterms:modified>
</cp:coreProperties>
</file>